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embeddedFontLst>
    <p:embeddedFont>
      <p:font typeface="Liter" charset="-122" pitchFamily="34"/>
      <p:regular r:id="rId24"/>
    </p:embeddedFont>
    <p:embeddedFont>
      <p:font typeface="阿里妈妈数黑体" charset="-122" pitchFamily="34"/>
      <p:regular r:id="rId25"/>
    </p:embeddedFont>
    <p:embeddedFont>
      <p:font typeface="MiSans" charset="-122" pitchFamily="34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e234d6cf6b230a019feb25ed229d99cba9177c60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072753"/>
            <a:ext cx="3771900" cy="419100"/>
          </a:xfrm>
          <a:custGeom>
            <a:avLst/>
            <a:gdLst/>
            <a:ahLst/>
            <a:cxnLst/>
            <a:rect l="l" t="t" r="r" b="b"/>
            <a:pathLst>
              <a:path w="3771900" h="419100">
                <a:moveTo>
                  <a:pt x="0" y="0"/>
                </a:moveTo>
                <a:lnTo>
                  <a:pt x="3771900" y="0"/>
                </a:lnTo>
                <a:lnTo>
                  <a:pt x="37719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072753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1158478"/>
            <a:ext cx="3455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D69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FOUNDATIONS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720453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机器学习通用流程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与核心概念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739753"/>
            <a:ext cx="115728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从理论到实践的系统化指南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4585097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D69E2E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0" name="Shape 7"/>
          <p:cNvSpPr/>
          <p:nvPr/>
        </p:nvSpPr>
        <p:spPr>
          <a:xfrm>
            <a:off x="381000" y="502324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33400" y="517564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12" name="Text 9"/>
          <p:cNvSpPr/>
          <p:nvPr/>
        </p:nvSpPr>
        <p:spPr>
          <a:xfrm>
            <a:off x="1028700" y="5042297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28700" y="5270897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损失函数 · 正则化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872383" y="502324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039070" y="517564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16" name="Text 13"/>
          <p:cNvSpPr/>
          <p:nvPr/>
        </p:nvSpPr>
        <p:spPr>
          <a:xfrm>
            <a:off x="3520083" y="5042297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数据工程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520083" y="5270897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特征处理 · Pipeline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4763" y="502324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5637163" y="517564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20" name="Text 17"/>
          <p:cNvSpPr/>
          <p:nvPr/>
        </p:nvSpPr>
        <p:spPr>
          <a:xfrm>
            <a:off x="6132463" y="5042297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模型评估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132463" y="5270897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指标 · 诊断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81000" y="624840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机器学习课程教学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002789" y="6248400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2025年12月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57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AFC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1143000"/>
            <a:ext cx="11296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系统化的机器学习知识体系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638300"/>
            <a:ext cx="5619750" cy="2343150"/>
          </a:xfrm>
          <a:custGeom>
            <a:avLst/>
            <a:gdLst/>
            <a:ahLst/>
            <a:cxnLst/>
            <a:rect l="l" t="t" r="r" b="b"/>
            <a:pathLst>
              <a:path w="5619750" h="2343150">
                <a:moveTo>
                  <a:pt x="3810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2266951"/>
                </a:lnTo>
                <a:cubicBezTo>
                  <a:pt x="5619750" y="2309034"/>
                  <a:pt x="5585634" y="2343150"/>
                  <a:pt x="5543551" y="2343150"/>
                </a:cubicBezTo>
                <a:lnTo>
                  <a:pt x="38100" y="2343150"/>
                </a:lnTo>
                <a:cubicBezTo>
                  <a:pt x="17058" y="2343150"/>
                  <a:pt x="0" y="2326092"/>
                  <a:pt x="0" y="2305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638300"/>
            <a:ext cx="38100" cy="2343150"/>
          </a:xfrm>
          <a:custGeom>
            <a:avLst/>
            <a:gdLst/>
            <a:ahLst/>
            <a:cxnLst/>
            <a:rect l="l" t="t" r="r" b="b"/>
            <a:pathLst>
              <a:path w="38100" h="2343150">
                <a:moveTo>
                  <a:pt x="38100" y="0"/>
                </a:moveTo>
                <a:lnTo>
                  <a:pt x="38100" y="0"/>
                </a:lnTo>
                <a:lnTo>
                  <a:pt x="38100" y="2343150"/>
                </a:lnTo>
                <a:lnTo>
                  <a:pt x="38100" y="2343150"/>
                </a:lnTo>
                <a:cubicBezTo>
                  <a:pt x="17072" y="2343150"/>
                  <a:pt x="0" y="2326078"/>
                  <a:pt x="0" y="2305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866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8" name="Text 6"/>
          <p:cNvSpPr/>
          <p:nvPr/>
        </p:nvSpPr>
        <p:spPr>
          <a:xfrm>
            <a:off x="804193" y="2000250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09700" y="1866900"/>
            <a:ext cx="449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69E2E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09700" y="2286000"/>
            <a:ext cx="44672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模型在"学"什么？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09700" y="2564606"/>
            <a:ext cx="4457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损失函数 · 最大似然估计 · 正则化 · 无监督学习基础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1250" y="1638300"/>
            <a:ext cx="5619750" cy="2343150"/>
          </a:xfrm>
          <a:custGeom>
            <a:avLst/>
            <a:gdLst/>
            <a:ahLst/>
            <a:cxnLst/>
            <a:rect l="l" t="t" r="r" b="b"/>
            <a:pathLst>
              <a:path w="5619750" h="2343150">
                <a:moveTo>
                  <a:pt x="3810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2266951"/>
                </a:lnTo>
                <a:cubicBezTo>
                  <a:pt x="5619750" y="2309034"/>
                  <a:pt x="5585634" y="2343150"/>
                  <a:pt x="5543551" y="2343150"/>
                </a:cubicBezTo>
                <a:lnTo>
                  <a:pt x="38100" y="2343150"/>
                </a:lnTo>
                <a:cubicBezTo>
                  <a:pt x="17058" y="2343150"/>
                  <a:pt x="0" y="2326092"/>
                  <a:pt x="0" y="2305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191250" y="1638300"/>
            <a:ext cx="38100" cy="2343150"/>
          </a:xfrm>
          <a:custGeom>
            <a:avLst/>
            <a:gdLst/>
            <a:ahLst/>
            <a:cxnLst/>
            <a:rect l="l" t="t" r="r" b="b"/>
            <a:pathLst>
              <a:path w="38100" h="2343150">
                <a:moveTo>
                  <a:pt x="38100" y="0"/>
                </a:moveTo>
                <a:lnTo>
                  <a:pt x="38100" y="0"/>
                </a:lnTo>
                <a:lnTo>
                  <a:pt x="38100" y="2343150"/>
                </a:lnTo>
                <a:lnTo>
                  <a:pt x="38100" y="2343150"/>
                </a:lnTo>
                <a:cubicBezTo>
                  <a:pt x="17072" y="2343150"/>
                  <a:pt x="0" y="2326078"/>
                  <a:pt x="0" y="2305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14" name="Shape 12"/>
          <p:cNvSpPr/>
          <p:nvPr/>
        </p:nvSpPr>
        <p:spPr>
          <a:xfrm>
            <a:off x="6438900" y="1866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15" name="Text 13"/>
          <p:cNvSpPr/>
          <p:nvPr/>
        </p:nvSpPr>
        <p:spPr>
          <a:xfrm>
            <a:off x="6569497" y="200025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00900" y="1866900"/>
            <a:ext cx="449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718096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数据工程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00900" y="2286000"/>
            <a:ext cx="44672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数据决定上限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00900" y="2564606"/>
            <a:ext cx="4457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特征缩放 · 特征编码 · 数据泄漏 · 实战Pipeline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4133850"/>
            <a:ext cx="5619750" cy="2343150"/>
          </a:xfrm>
          <a:custGeom>
            <a:avLst/>
            <a:gdLst/>
            <a:ahLst/>
            <a:cxnLst/>
            <a:rect l="l" t="t" r="r" b="b"/>
            <a:pathLst>
              <a:path w="5619750" h="2343150">
                <a:moveTo>
                  <a:pt x="3810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2266951"/>
                </a:lnTo>
                <a:cubicBezTo>
                  <a:pt x="5619750" y="2309034"/>
                  <a:pt x="5585634" y="2343150"/>
                  <a:pt x="5543551" y="2343150"/>
                </a:cubicBezTo>
                <a:lnTo>
                  <a:pt x="38100" y="2343150"/>
                </a:lnTo>
                <a:cubicBezTo>
                  <a:pt x="17058" y="2343150"/>
                  <a:pt x="0" y="2326092"/>
                  <a:pt x="0" y="2305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00050" y="4133850"/>
            <a:ext cx="38100" cy="2343150"/>
          </a:xfrm>
          <a:custGeom>
            <a:avLst/>
            <a:gdLst/>
            <a:ahLst/>
            <a:cxnLst/>
            <a:rect l="l" t="t" r="r" b="b"/>
            <a:pathLst>
              <a:path w="38100" h="2343150">
                <a:moveTo>
                  <a:pt x="38100" y="0"/>
                </a:moveTo>
                <a:lnTo>
                  <a:pt x="38100" y="0"/>
                </a:lnTo>
                <a:lnTo>
                  <a:pt x="38100" y="2343150"/>
                </a:lnTo>
                <a:lnTo>
                  <a:pt x="38100" y="2343150"/>
                </a:lnTo>
                <a:cubicBezTo>
                  <a:pt x="17072" y="2343150"/>
                  <a:pt x="0" y="2326078"/>
                  <a:pt x="0" y="2305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7700" y="43624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032" y="449580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09700" y="4362450"/>
            <a:ext cx="449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5568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模型评估与诊断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09700" y="4781550"/>
            <a:ext cx="44672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怎么知道模型好不好？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09700" y="5060156"/>
            <a:ext cx="4457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偏差-方差权衡 · 交叉验证 · 评估指标 · ROC/PR曲线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1250" y="4133850"/>
            <a:ext cx="5619750" cy="2343150"/>
          </a:xfrm>
          <a:custGeom>
            <a:avLst/>
            <a:gdLst/>
            <a:ahLst/>
            <a:cxnLst/>
            <a:rect l="l" t="t" r="r" b="b"/>
            <a:pathLst>
              <a:path w="5619750" h="2343150">
                <a:moveTo>
                  <a:pt x="38100" y="0"/>
                </a:moveTo>
                <a:lnTo>
                  <a:pt x="5543551" y="0"/>
                </a:lnTo>
                <a:cubicBezTo>
                  <a:pt x="5585634" y="0"/>
                  <a:pt x="5619750" y="34116"/>
                  <a:pt x="5619750" y="76199"/>
                </a:cubicBezTo>
                <a:lnTo>
                  <a:pt x="5619750" y="2266951"/>
                </a:lnTo>
                <a:cubicBezTo>
                  <a:pt x="5619750" y="2309034"/>
                  <a:pt x="5585634" y="2343150"/>
                  <a:pt x="5543551" y="2343150"/>
                </a:cubicBezTo>
                <a:lnTo>
                  <a:pt x="38100" y="2343150"/>
                </a:lnTo>
                <a:cubicBezTo>
                  <a:pt x="17058" y="2343150"/>
                  <a:pt x="0" y="2326092"/>
                  <a:pt x="0" y="2305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191250" y="4133850"/>
            <a:ext cx="38100" cy="2343150"/>
          </a:xfrm>
          <a:custGeom>
            <a:avLst/>
            <a:gdLst/>
            <a:ahLst/>
            <a:cxnLst/>
            <a:rect l="l" t="t" r="r" b="b"/>
            <a:pathLst>
              <a:path w="38100" h="2343150">
                <a:moveTo>
                  <a:pt x="38100" y="0"/>
                </a:moveTo>
                <a:lnTo>
                  <a:pt x="38100" y="0"/>
                </a:lnTo>
                <a:lnTo>
                  <a:pt x="38100" y="2343150"/>
                </a:lnTo>
                <a:lnTo>
                  <a:pt x="38100" y="2343150"/>
                </a:lnTo>
                <a:cubicBezTo>
                  <a:pt x="17072" y="2343150"/>
                  <a:pt x="0" y="2326078"/>
                  <a:pt x="0" y="2305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28" name="Shape 26"/>
          <p:cNvSpPr/>
          <p:nvPr/>
        </p:nvSpPr>
        <p:spPr>
          <a:xfrm>
            <a:off x="6438900" y="43624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D69E2E"/>
              </a:gs>
              <a:gs pos="100000">
                <a:srgbClr val="718096"/>
              </a:gs>
            </a:gsLst>
            <a:lin ang="270000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6657975" y="45529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0" name="Text 28"/>
          <p:cNvSpPr/>
          <p:nvPr/>
        </p:nvSpPr>
        <p:spPr>
          <a:xfrm>
            <a:off x="7200900" y="4362450"/>
            <a:ext cx="449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69E2E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总结与学习建议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00900" y="4781550"/>
            <a:ext cx="44672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从理论到实践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00900" y="5060156"/>
            <a:ext cx="4457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理论基础 · 数据先行 · 评估为王 · 无监督思维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4c3954b44278c105c4539efc78afcb4311d5b6b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34188" b="3418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1A202C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159669"/>
            <a:ext cx="1219200" cy="876300"/>
          </a:xfrm>
          <a:custGeom>
            <a:avLst/>
            <a:gdLst/>
            <a:ahLst/>
            <a:cxnLst/>
            <a:rect l="l" t="t" r="r" b="b"/>
            <a:pathLst>
              <a:path w="1219200" h="876300">
                <a:moveTo>
                  <a:pt x="0" y="0"/>
                </a:moveTo>
                <a:lnTo>
                  <a:pt x="1219200" y="0"/>
                </a:lnTo>
                <a:lnTo>
                  <a:pt x="12192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159669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6" name="Text 3"/>
          <p:cNvSpPr/>
          <p:nvPr/>
        </p:nvSpPr>
        <p:spPr>
          <a:xfrm>
            <a:off x="723900" y="1188244"/>
            <a:ext cx="878979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D69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340769"/>
            <a:ext cx="42957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502819"/>
            <a:ext cx="41243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7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模型在"学"什么？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4441031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D69E2E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0" name="Shape 7"/>
          <p:cNvSpPr/>
          <p:nvPr/>
        </p:nvSpPr>
        <p:spPr>
          <a:xfrm>
            <a:off x="401241" y="4907756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16700" y="288094"/>
                </a:moveTo>
                <a:cubicBezTo>
                  <a:pt x="106263" y="298531"/>
                  <a:pt x="89297" y="298531"/>
                  <a:pt x="78804" y="288094"/>
                </a:cubicBezTo>
                <a:lnTo>
                  <a:pt x="15683" y="224972"/>
                </a:lnTo>
                <a:cubicBezTo>
                  <a:pt x="5246" y="214536"/>
                  <a:pt x="5246" y="197569"/>
                  <a:pt x="15683" y="187077"/>
                </a:cubicBezTo>
                <a:lnTo>
                  <a:pt x="25171" y="177589"/>
                </a:lnTo>
                <a:lnTo>
                  <a:pt x="66191" y="218610"/>
                </a:lnTo>
                <a:cubicBezTo>
                  <a:pt x="71438" y="223856"/>
                  <a:pt x="79921" y="223856"/>
                  <a:pt x="85111" y="218610"/>
                </a:cubicBezTo>
                <a:cubicBezTo>
                  <a:pt x="90301" y="213364"/>
                  <a:pt x="90357" y="204881"/>
                  <a:pt x="85111" y="199690"/>
                </a:cubicBezTo>
                <a:lnTo>
                  <a:pt x="44090" y="158669"/>
                </a:lnTo>
                <a:lnTo>
                  <a:pt x="63010" y="139750"/>
                </a:lnTo>
                <a:lnTo>
                  <a:pt x="91418" y="168157"/>
                </a:lnTo>
                <a:cubicBezTo>
                  <a:pt x="96664" y="173403"/>
                  <a:pt x="105147" y="173403"/>
                  <a:pt x="110337" y="168157"/>
                </a:cubicBezTo>
                <a:cubicBezTo>
                  <a:pt x="115528" y="162911"/>
                  <a:pt x="115584" y="154428"/>
                  <a:pt x="110337" y="149237"/>
                </a:cubicBezTo>
                <a:lnTo>
                  <a:pt x="81930" y="120830"/>
                </a:lnTo>
                <a:lnTo>
                  <a:pt x="100850" y="101910"/>
                </a:lnTo>
                <a:lnTo>
                  <a:pt x="141870" y="142931"/>
                </a:lnTo>
                <a:cubicBezTo>
                  <a:pt x="147117" y="148177"/>
                  <a:pt x="155600" y="148177"/>
                  <a:pt x="160790" y="142931"/>
                </a:cubicBezTo>
                <a:cubicBezTo>
                  <a:pt x="165981" y="137685"/>
                  <a:pt x="166036" y="129201"/>
                  <a:pt x="160790" y="124011"/>
                </a:cubicBezTo>
                <a:lnTo>
                  <a:pt x="119769" y="82990"/>
                </a:lnTo>
                <a:lnTo>
                  <a:pt x="138689" y="64071"/>
                </a:lnTo>
                <a:lnTo>
                  <a:pt x="167097" y="92478"/>
                </a:lnTo>
                <a:cubicBezTo>
                  <a:pt x="172343" y="97724"/>
                  <a:pt x="180826" y="97724"/>
                  <a:pt x="186017" y="92478"/>
                </a:cubicBezTo>
                <a:cubicBezTo>
                  <a:pt x="191207" y="87232"/>
                  <a:pt x="191263" y="78749"/>
                  <a:pt x="186017" y="73558"/>
                </a:cubicBezTo>
                <a:lnTo>
                  <a:pt x="157609" y="45151"/>
                </a:lnTo>
                <a:lnTo>
                  <a:pt x="176529" y="26231"/>
                </a:lnTo>
                <a:lnTo>
                  <a:pt x="217550" y="67252"/>
                </a:lnTo>
                <a:cubicBezTo>
                  <a:pt x="222796" y="72498"/>
                  <a:pt x="231279" y="72498"/>
                  <a:pt x="236469" y="67252"/>
                </a:cubicBezTo>
                <a:cubicBezTo>
                  <a:pt x="241660" y="62006"/>
                  <a:pt x="241715" y="53522"/>
                  <a:pt x="236469" y="48332"/>
                </a:cubicBezTo>
                <a:lnTo>
                  <a:pt x="195449" y="7311"/>
                </a:lnTo>
                <a:lnTo>
                  <a:pt x="204936" y="-2177"/>
                </a:lnTo>
                <a:cubicBezTo>
                  <a:pt x="215373" y="-12613"/>
                  <a:pt x="232339" y="-12613"/>
                  <a:pt x="242832" y="-2177"/>
                </a:cubicBezTo>
                <a:lnTo>
                  <a:pt x="306121" y="60778"/>
                </a:lnTo>
                <a:cubicBezTo>
                  <a:pt x="316557" y="71214"/>
                  <a:pt x="316557" y="88181"/>
                  <a:pt x="306121" y="98673"/>
                </a:cubicBezTo>
                <a:lnTo>
                  <a:pt x="116700" y="288094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11" name="Text 8"/>
          <p:cNvSpPr/>
          <p:nvPr/>
        </p:nvSpPr>
        <p:spPr>
          <a:xfrm>
            <a:off x="890588" y="4898231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损失函数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490788" y="490775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71438" y="53578"/>
                </a:moveTo>
                <a:cubicBezTo>
                  <a:pt x="71438" y="43700"/>
                  <a:pt x="79418" y="35719"/>
                  <a:pt x="89297" y="35719"/>
                </a:cubicBezTo>
                <a:lnTo>
                  <a:pt x="196453" y="35719"/>
                </a:lnTo>
                <a:cubicBezTo>
                  <a:pt x="206332" y="35719"/>
                  <a:pt x="214313" y="43700"/>
                  <a:pt x="214313" y="53578"/>
                </a:cubicBezTo>
                <a:cubicBezTo>
                  <a:pt x="214313" y="63457"/>
                  <a:pt x="206332" y="71438"/>
                  <a:pt x="196453" y="71438"/>
                </a:cubicBezTo>
                <a:lnTo>
                  <a:pt x="89297" y="71438"/>
                </a:lnTo>
                <a:cubicBezTo>
                  <a:pt x="79418" y="71438"/>
                  <a:pt x="71438" y="63457"/>
                  <a:pt x="71438" y="53578"/>
                </a:cubicBezTo>
                <a:close/>
                <a:moveTo>
                  <a:pt x="89297" y="98227"/>
                </a:moveTo>
                <a:lnTo>
                  <a:pt x="160734" y="98227"/>
                </a:lnTo>
                <a:cubicBezTo>
                  <a:pt x="170613" y="98227"/>
                  <a:pt x="178594" y="106207"/>
                  <a:pt x="178594" y="116086"/>
                </a:cubicBezTo>
                <a:cubicBezTo>
                  <a:pt x="178594" y="125964"/>
                  <a:pt x="170613" y="133945"/>
                  <a:pt x="160734" y="133945"/>
                </a:cubicBezTo>
                <a:lnTo>
                  <a:pt x="89297" y="133945"/>
                </a:lnTo>
                <a:cubicBezTo>
                  <a:pt x="79418" y="133945"/>
                  <a:pt x="71438" y="125964"/>
                  <a:pt x="71438" y="116086"/>
                </a:cubicBezTo>
                <a:cubicBezTo>
                  <a:pt x="71438" y="106207"/>
                  <a:pt x="79418" y="98227"/>
                  <a:pt x="89297" y="98227"/>
                </a:cubicBezTo>
                <a:close/>
                <a:moveTo>
                  <a:pt x="89297" y="160734"/>
                </a:moveTo>
                <a:lnTo>
                  <a:pt x="232172" y="160734"/>
                </a:lnTo>
                <a:cubicBezTo>
                  <a:pt x="242050" y="160734"/>
                  <a:pt x="250031" y="168715"/>
                  <a:pt x="250031" y="178594"/>
                </a:cubicBezTo>
                <a:cubicBezTo>
                  <a:pt x="250031" y="188472"/>
                  <a:pt x="242050" y="196453"/>
                  <a:pt x="232172" y="196453"/>
                </a:cubicBezTo>
                <a:lnTo>
                  <a:pt x="89297" y="196453"/>
                </a:lnTo>
                <a:cubicBezTo>
                  <a:pt x="79418" y="196453"/>
                  <a:pt x="71438" y="188472"/>
                  <a:pt x="71438" y="178594"/>
                </a:cubicBezTo>
                <a:cubicBezTo>
                  <a:pt x="71438" y="168715"/>
                  <a:pt x="79418" y="160734"/>
                  <a:pt x="89297" y="160734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13" name="Text 10"/>
          <p:cNvSpPr/>
          <p:nvPr/>
        </p:nvSpPr>
        <p:spPr>
          <a:xfrm>
            <a:off x="2962275" y="4898231"/>
            <a:ext cx="148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最大似然估计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19100" y="540305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45287" y="3907"/>
                </a:moveTo>
                <a:cubicBezTo>
                  <a:pt x="250534" y="-1339"/>
                  <a:pt x="259017" y="-1339"/>
                  <a:pt x="264207" y="3907"/>
                </a:cubicBezTo>
                <a:lnTo>
                  <a:pt x="282067" y="21766"/>
                </a:lnTo>
                <a:cubicBezTo>
                  <a:pt x="287313" y="27012"/>
                  <a:pt x="287313" y="35496"/>
                  <a:pt x="282067" y="40686"/>
                </a:cubicBezTo>
                <a:lnTo>
                  <a:pt x="233511" y="89241"/>
                </a:lnTo>
                <a:lnTo>
                  <a:pt x="255277" y="111007"/>
                </a:lnTo>
                <a:cubicBezTo>
                  <a:pt x="259128" y="114858"/>
                  <a:pt x="260245" y="120607"/>
                  <a:pt x="258180" y="125630"/>
                </a:cubicBezTo>
                <a:cubicBezTo>
                  <a:pt x="256115" y="130652"/>
                  <a:pt x="251259" y="133945"/>
                  <a:pt x="245845" y="133945"/>
                </a:cubicBezTo>
                <a:lnTo>
                  <a:pt x="165478" y="133945"/>
                </a:lnTo>
                <a:cubicBezTo>
                  <a:pt x="158055" y="133945"/>
                  <a:pt x="152084" y="127974"/>
                  <a:pt x="152084" y="120551"/>
                </a:cubicBezTo>
                <a:lnTo>
                  <a:pt x="152084" y="40184"/>
                </a:lnTo>
                <a:cubicBezTo>
                  <a:pt x="152084" y="34770"/>
                  <a:pt x="155321" y="29859"/>
                  <a:pt x="160344" y="27794"/>
                </a:cubicBezTo>
                <a:cubicBezTo>
                  <a:pt x="165367" y="25729"/>
                  <a:pt x="171115" y="26845"/>
                  <a:pt x="174966" y="30696"/>
                </a:cubicBezTo>
                <a:lnTo>
                  <a:pt x="196732" y="52462"/>
                </a:lnTo>
                <a:lnTo>
                  <a:pt x="245287" y="3907"/>
                </a:lnTo>
                <a:close/>
                <a:moveTo>
                  <a:pt x="40463" y="151805"/>
                </a:moveTo>
                <a:lnTo>
                  <a:pt x="120830" y="151805"/>
                </a:lnTo>
                <a:cubicBezTo>
                  <a:pt x="128253" y="151805"/>
                  <a:pt x="134224" y="157776"/>
                  <a:pt x="134224" y="165199"/>
                </a:cubicBezTo>
                <a:lnTo>
                  <a:pt x="134224" y="245566"/>
                </a:lnTo>
                <a:cubicBezTo>
                  <a:pt x="134224" y="250980"/>
                  <a:pt x="130987" y="255891"/>
                  <a:pt x="125964" y="257956"/>
                </a:cubicBezTo>
                <a:cubicBezTo>
                  <a:pt x="120941" y="260021"/>
                  <a:pt x="115193" y="258905"/>
                  <a:pt x="111342" y="255054"/>
                </a:cubicBezTo>
                <a:lnTo>
                  <a:pt x="89576" y="233288"/>
                </a:lnTo>
                <a:lnTo>
                  <a:pt x="41021" y="281843"/>
                </a:lnTo>
                <a:cubicBezTo>
                  <a:pt x="35775" y="287089"/>
                  <a:pt x="27291" y="287089"/>
                  <a:pt x="22101" y="281843"/>
                </a:cubicBezTo>
                <a:lnTo>
                  <a:pt x="4242" y="263984"/>
                </a:lnTo>
                <a:cubicBezTo>
                  <a:pt x="-1005" y="258738"/>
                  <a:pt x="-1005" y="250254"/>
                  <a:pt x="4242" y="245064"/>
                </a:cubicBezTo>
                <a:lnTo>
                  <a:pt x="52797" y="196509"/>
                </a:lnTo>
                <a:lnTo>
                  <a:pt x="31031" y="174743"/>
                </a:lnTo>
                <a:cubicBezTo>
                  <a:pt x="27180" y="170892"/>
                  <a:pt x="26064" y="165143"/>
                  <a:pt x="28129" y="160120"/>
                </a:cubicBezTo>
                <a:cubicBezTo>
                  <a:pt x="30194" y="155098"/>
                  <a:pt x="35049" y="151805"/>
                  <a:pt x="40463" y="151805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15" name="Text 12"/>
          <p:cNvSpPr/>
          <p:nvPr/>
        </p:nvSpPr>
        <p:spPr>
          <a:xfrm>
            <a:off x="890588" y="5393531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正则化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490788" y="540305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44648"/>
                </a:moveTo>
                <a:cubicBezTo>
                  <a:pt x="0" y="29859"/>
                  <a:pt x="11999" y="17859"/>
                  <a:pt x="26789" y="17859"/>
                </a:cubicBezTo>
                <a:lnTo>
                  <a:pt x="80367" y="17859"/>
                </a:lnTo>
                <a:cubicBezTo>
                  <a:pt x="95157" y="17859"/>
                  <a:pt x="107156" y="29859"/>
                  <a:pt x="107156" y="44648"/>
                </a:cubicBezTo>
                <a:lnTo>
                  <a:pt x="107156" y="53578"/>
                </a:lnTo>
                <a:lnTo>
                  <a:pt x="178594" y="53578"/>
                </a:lnTo>
                <a:lnTo>
                  <a:pt x="178594" y="44648"/>
                </a:lnTo>
                <a:cubicBezTo>
                  <a:pt x="178594" y="29859"/>
                  <a:pt x="190593" y="17859"/>
                  <a:pt x="205383" y="17859"/>
                </a:cubicBezTo>
                <a:lnTo>
                  <a:pt x="258961" y="17859"/>
                </a:lnTo>
                <a:cubicBezTo>
                  <a:pt x="273751" y="17859"/>
                  <a:pt x="285750" y="29859"/>
                  <a:pt x="285750" y="44648"/>
                </a:cubicBezTo>
                <a:lnTo>
                  <a:pt x="285750" y="98227"/>
                </a:lnTo>
                <a:cubicBezTo>
                  <a:pt x="285750" y="113016"/>
                  <a:pt x="273751" y="125016"/>
                  <a:pt x="258961" y="125016"/>
                </a:cubicBezTo>
                <a:lnTo>
                  <a:pt x="205383" y="125016"/>
                </a:lnTo>
                <a:cubicBezTo>
                  <a:pt x="190593" y="125016"/>
                  <a:pt x="178594" y="113016"/>
                  <a:pt x="178594" y="98227"/>
                </a:cubicBezTo>
                <a:lnTo>
                  <a:pt x="178594" y="89297"/>
                </a:lnTo>
                <a:lnTo>
                  <a:pt x="107156" y="89297"/>
                </a:lnTo>
                <a:lnTo>
                  <a:pt x="107156" y="98227"/>
                </a:lnTo>
                <a:cubicBezTo>
                  <a:pt x="107156" y="102301"/>
                  <a:pt x="106207" y="106207"/>
                  <a:pt x="104589" y="109668"/>
                </a:cubicBezTo>
                <a:lnTo>
                  <a:pt x="142875" y="160734"/>
                </a:lnTo>
                <a:lnTo>
                  <a:pt x="187523" y="160734"/>
                </a:lnTo>
                <a:cubicBezTo>
                  <a:pt x="202313" y="160734"/>
                  <a:pt x="214313" y="172734"/>
                  <a:pt x="214313" y="187523"/>
                </a:cubicBezTo>
                <a:lnTo>
                  <a:pt x="214313" y="241102"/>
                </a:lnTo>
                <a:cubicBezTo>
                  <a:pt x="214313" y="255891"/>
                  <a:pt x="202313" y="267891"/>
                  <a:pt x="187523" y="267891"/>
                </a:cubicBezTo>
                <a:lnTo>
                  <a:pt x="133945" y="267891"/>
                </a:lnTo>
                <a:cubicBezTo>
                  <a:pt x="119156" y="267891"/>
                  <a:pt x="107156" y="255891"/>
                  <a:pt x="107156" y="241102"/>
                </a:cubicBezTo>
                <a:lnTo>
                  <a:pt x="107156" y="187523"/>
                </a:lnTo>
                <a:cubicBezTo>
                  <a:pt x="107156" y="183449"/>
                  <a:pt x="108105" y="179543"/>
                  <a:pt x="109724" y="176082"/>
                </a:cubicBezTo>
                <a:lnTo>
                  <a:pt x="71438" y="125016"/>
                </a:lnTo>
                <a:lnTo>
                  <a:pt x="26789" y="125016"/>
                </a:lnTo>
                <a:cubicBezTo>
                  <a:pt x="11999" y="125016"/>
                  <a:pt x="0" y="113016"/>
                  <a:pt x="0" y="98227"/>
                </a:cubicBezTo>
                <a:lnTo>
                  <a:pt x="0" y="44648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17" name="Text 14"/>
          <p:cNvSpPr/>
          <p:nvPr/>
        </p:nvSpPr>
        <p:spPr>
          <a:xfrm>
            <a:off x="2962275" y="5393531"/>
            <a:ext cx="125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无监督学习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D69E2E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损失函数：模型好坏的"量尺"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衡量模型预测值与真实值之间的差距，训练目标是找到使损失最小的参数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14450"/>
            <a:ext cx="5619750" cy="5162550"/>
          </a:xfrm>
          <a:custGeom>
            <a:avLst/>
            <a:gdLst/>
            <a:ahLst/>
            <a:cxnLst/>
            <a:rect l="l" t="t" r="r" b="b"/>
            <a:pathLst>
              <a:path w="5619750" h="51625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5086351"/>
                </a:lnTo>
                <a:cubicBezTo>
                  <a:pt x="5619750" y="5128434"/>
                  <a:pt x="5585634" y="5162550"/>
                  <a:pt x="5543551" y="5162550"/>
                </a:cubicBezTo>
                <a:lnTo>
                  <a:pt x="76199" y="5162550"/>
                </a:lnTo>
                <a:cubicBezTo>
                  <a:pt x="34116" y="5162550"/>
                  <a:pt x="0" y="5128434"/>
                  <a:pt x="0" y="50863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144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7" name="Shape 5"/>
          <p:cNvSpPr/>
          <p:nvPr/>
        </p:nvSpPr>
        <p:spPr>
          <a:xfrm>
            <a:off x="704850" y="1657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600200"/>
            <a:ext cx="2847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回归问题：均方误差 (MSE)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84647" y="2138363"/>
            <a:ext cx="3209925" cy="1447800"/>
          </a:xfrm>
          <a:custGeom>
            <a:avLst/>
            <a:gdLst/>
            <a:ahLst/>
            <a:cxnLst/>
            <a:rect l="l" t="t" r="r" b="b"/>
            <a:pathLst>
              <a:path w="3209925" h="1447800">
                <a:moveTo>
                  <a:pt x="76198" y="0"/>
                </a:moveTo>
                <a:lnTo>
                  <a:pt x="3133727" y="0"/>
                </a:lnTo>
                <a:cubicBezTo>
                  <a:pt x="3175782" y="0"/>
                  <a:pt x="3209925" y="34143"/>
                  <a:pt x="3209925" y="76198"/>
                </a:cubicBezTo>
                <a:lnTo>
                  <a:pt x="3209925" y="1371602"/>
                </a:lnTo>
                <a:cubicBezTo>
                  <a:pt x="3209925" y="1413657"/>
                  <a:pt x="3175782" y="1447800"/>
                  <a:pt x="3133727" y="1447800"/>
                </a:cubicBezTo>
                <a:lnTo>
                  <a:pt x="76198" y="1447800"/>
                </a:lnTo>
                <a:cubicBezTo>
                  <a:pt x="34143" y="1447800"/>
                  <a:pt x="0" y="1413657"/>
                  <a:pt x="0" y="13716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1760860" y="2486025"/>
                <a:ext cx="2857500" cy="7524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F7FAFC"/>
                          </a:solidFill>
                        </a:rPr>
                        <m:t>MSE</m:t>
                      </m:r>
                      <m:r>
                        <a:rPr lang="en-US" sz="1800" dirty="0">
                          <a:solidFill>
                            <a:srgbClr val="F7FAFC"/>
                          </a:solidFill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>
                              <a:solidFill>
                                <a:srgbClr val="F7FAFC"/>
                              </a:solidFill>
                            </a:rPr>
                            <m:t>1</m:t>
                          </m:r>
                        </m:num>
                        <m:den>
                          <m:r>
                            <a:rPr lang="en-US" sz="1300" i="1" dirty="0">
                              <a:solidFill>
                                <a:srgbClr val="F7FAFC"/>
                              </a:solidFill>
                            </a:rPr>
                            <m:t>n</m:t>
                          </m:r>
                        </m:den>
                      </m:f>
                      <m:sSubSup>
                        <m:sSubSupPr>
                          <m:ctrlPr>
                            <a:rPr lang="en-US" sz="1300" dirty="0">
                              <a:solidFill>
                                <a:srgbClr val="F7FAFC"/>
                              </a:solidFill>
                            </a:rPr>
                          </m:ctrlPr>
                        </m:sSubSupPr>
                        <m:e>
                          <m:r>
                            <a:rPr lang="en-US" sz="1300" dirty="0">
                              <a:solidFill>
                                <a:srgbClr val="F7FAFC"/>
                              </a:solidFill>
                            </a:rPr>
                            <m:t>∑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F7FAFC"/>
                              </a:solidFill>
                            </a:rPr>
                            <m:t>i</m:t>
                          </m:r>
                          <m:r>
                            <a:rPr lang="en-US" sz="1300" dirty="0">
                              <a:solidFill>
                                <a:srgbClr val="F7FAFC"/>
                              </a:solidFill>
                            </a:rPr>
                            <m:t>=</m:t>
                          </m:r>
                          <m:r>
                            <a:rPr lang="en-US" sz="1300" dirty="0">
                              <a:solidFill>
                                <a:srgbClr val="F7FAFC"/>
                              </a:solidFill>
                            </a:rPr>
                            <m:t>1</m:t>
                          </m:r>
                        </m:sub>
                        <m:sup>
                          <m:r>
                            <a:rPr lang="en-US" sz="1300" i="1" dirty="0">
                              <a:solidFill>
                                <a:srgbClr val="F7FAFC"/>
                              </a:solidFill>
                            </a:rPr>
                            <m:t>n</m:t>
                          </m:r>
                        </m:sup>
                      </m:sSubSup>
                      <m:r>
                        <a:rPr lang="en-US" sz="1800" dirty="0">
                          <a:solidFill>
                            <a:srgbClr val="F7FAFC"/>
                          </a:solidFill>
                        </a:rPr>
                        <m:t>(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F7FAFC"/>
                              </a:solidFill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F7FAFC"/>
                              </a:solidFill>
                            </a:rPr>
                            <m:t>y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F7FAFC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F7FAFC"/>
                          </a:solidFill>
                        </a:rPr>
                        <m:t>−</m:t>
                      </m:r>
                      <m:sSub>
                        <m:sSubPr>
                          <m:ctrlPr>
                            <a:rPr lang="en-US" sz="1300" dirty="0">
                              <a:solidFill>
                                <a:srgbClr val="F7FAFC"/>
                              </a:solidFill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en-US" sz="1300" dirty="0">
                                  <a:solidFill>
                                    <a:srgbClr val="F7FAFC"/>
                                  </a:solidFill>
                                </a:rPr>
                              </m:ctrlPr>
                            </m:limUppPr>
                            <m:e>
                              <m:r>
                                <a:rPr lang="en-US" sz="1300" i="1" dirty="0">
                                  <a:solidFill>
                                    <a:srgbClr val="F7FAFC"/>
                                  </a:solidFill>
                                </a:rPr>
                                <m:t>y</m:t>
                              </m:r>
                            </m:e>
                            <m:lim>
                              <m:r>
                                <a:rPr lang="en-US" sz="1300" dirty="0">
                                  <a:solidFill>
                                    <a:srgbClr val="F7FAFC"/>
                                  </a:solidFill>
                                </a:rPr>
                                <m:t>^</m:t>
                              </m:r>
                            </m:lim>
                          </m:limUpp>
                        </m:e>
                        <m:sub>
                          <m:r>
                            <a:rPr lang="en-US" sz="1300" i="1" dirty="0">
                              <a:solidFill>
                                <a:srgbClr val="F7FAFC"/>
                              </a:solidFill>
                            </a:rPr>
                            <m:t>i</m:t>
                          </m:r>
                        </m:sub>
                      </m:sSub>
                      <m:sSup>
                        <m:sSupPr>
                          <m:ctrlPr>
                            <a:rPr lang="en-US" sz="1300" dirty="0">
                              <a:solidFill>
                                <a:srgbClr val="F7FAFC"/>
                              </a:solidFill>
                            </a:rPr>
                          </m:ctrlPr>
                        </m:sSupPr>
                        <m:e>
                          <m:r>
                            <a:rPr lang="en-US" sz="1300" dirty="0">
                              <a:solidFill>
                                <a:srgbClr val="F7FAFC"/>
                              </a:solidFill>
                            </a:rPr>
                            <m:t>)</m:t>
                          </m:r>
                        </m:e>
                        <m:sup>
                          <m:r>
                            <a:rPr lang="en-US" sz="1300" dirty="0">
                              <a:solidFill>
                                <a:srgbClr val="F7FAFC"/>
                              </a:solidFill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 8"/>
              <p:cNvSpPr/>
              <p:nvPr/>
            </p:nvSpPr>
            <p:spPr>
              <a:xfrm>
                <a:off x="1760860" y="2486025"/>
                <a:ext cx="2857500" cy="7524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10000"/>
                  </a:lnSpc>
                </a:pPr>
                <a:r>
                  <a:rPr lang="en-US" sz="1800" dirty="0">
                    <a:solidFill>
                      <a:srgbClr val="F7FAFC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(  \text{MSE} = \frac{1}{n} \sum_{i=1}^{n} (y_i - \hat{y}_i)^2  )</a:t>
                </a:r>
                <a:endParaRPr lang="en-US" sz="1600" dirty="0"/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571500" y="3947815"/>
            <a:ext cx="5238750" cy="476250"/>
          </a:xfrm>
          <a:custGeom>
            <a:avLst/>
            <a:gdLst/>
            <a:ahLst/>
            <a:cxnLst/>
            <a:rect l="l" t="t" r="r" b="b"/>
            <a:pathLst>
              <a:path w="5238750" h="476250">
                <a:moveTo>
                  <a:pt x="76200" y="0"/>
                </a:moveTo>
                <a:lnTo>
                  <a:pt x="5162550" y="0"/>
                </a:lnTo>
                <a:cubicBezTo>
                  <a:pt x="5204606" y="0"/>
                  <a:pt x="5238750" y="34144"/>
                  <a:pt x="5238750" y="76200"/>
                </a:cubicBezTo>
                <a:lnTo>
                  <a:pt x="5238750" y="400050"/>
                </a:lnTo>
                <a:cubicBezTo>
                  <a:pt x="5238750" y="442106"/>
                  <a:pt x="5204606" y="476250"/>
                  <a:pt x="5162550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062115"/>
            <a:ext cx="5086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计算方式：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预测点与真实点之间距离的平方和的平均值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4903663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为什么要平方？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5208463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① 消除正负号：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无论是预测高了还是低了，误差都是正的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5513263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② 惩罚大误差：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偏离很远的预测，平方后误差急剧增加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" y="5818063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③ 便于计算：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光滑凸函数，适合梯度下降求导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1250" y="1314450"/>
            <a:ext cx="5619750" cy="5162550"/>
          </a:xfrm>
          <a:custGeom>
            <a:avLst/>
            <a:gdLst/>
            <a:ahLst/>
            <a:cxnLst/>
            <a:rect l="l" t="t" r="r" b="b"/>
            <a:pathLst>
              <a:path w="5619750" h="51625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5086351"/>
                </a:lnTo>
                <a:cubicBezTo>
                  <a:pt x="5619750" y="5128434"/>
                  <a:pt x="5585634" y="5162550"/>
                  <a:pt x="5543551" y="5162550"/>
                </a:cubicBezTo>
                <a:lnTo>
                  <a:pt x="76199" y="5162550"/>
                </a:lnTo>
                <a:cubicBezTo>
                  <a:pt x="34116" y="5162550"/>
                  <a:pt x="0" y="5128434"/>
                  <a:pt x="0" y="50863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191250" y="13144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19" name="Shape 17"/>
          <p:cNvSpPr/>
          <p:nvPr/>
        </p:nvSpPr>
        <p:spPr>
          <a:xfrm>
            <a:off x="638175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20" name="Shape 18"/>
          <p:cNvSpPr/>
          <p:nvPr/>
        </p:nvSpPr>
        <p:spPr>
          <a:xfrm>
            <a:off x="6515100" y="1657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1" name="Text 19"/>
          <p:cNvSpPr/>
          <p:nvPr/>
        </p:nvSpPr>
        <p:spPr>
          <a:xfrm>
            <a:off x="6953250" y="1600200"/>
            <a:ext cx="240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分类问题：交叉熵损失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86513" y="2138363"/>
            <a:ext cx="5229225" cy="933450"/>
          </a:xfrm>
          <a:custGeom>
            <a:avLst/>
            <a:gdLst/>
            <a:ahLst/>
            <a:cxnLst/>
            <a:rect l="l" t="t" r="r" b="b"/>
            <a:pathLst>
              <a:path w="5229225" h="933450">
                <a:moveTo>
                  <a:pt x="76198" y="0"/>
                </a:moveTo>
                <a:lnTo>
                  <a:pt x="5153027" y="0"/>
                </a:lnTo>
                <a:cubicBezTo>
                  <a:pt x="5195110" y="0"/>
                  <a:pt x="5229225" y="34115"/>
                  <a:pt x="5229225" y="76198"/>
                </a:cubicBezTo>
                <a:lnTo>
                  <a:pt x="5229225" y="857252"/>
                </a:lnTo>
                <a:cubicBezTo>
                  <a:pt x="5229225" y="899335"/>
                  <a:pt x="5195110" y="933450"/>
                  <a:pt x="5153027" y="933450"/>
                </a:cubicBezTo>
                <a:lnTo>
                  <a:pt x="76198" y="933450"/>
                </a:lnTo>
                <a:cubicBezTo>
                  <a:pt x="34115" y="933450"/>
                  <a:pt x="0" y="899335"/>
                  <a:pt x="0" y="8572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3675" y="2219325"/>
            <a:ext cx="499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二分类：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/>
              <p:cNvSpPr/>
              <p:nvPr/>
            </p:nvSpPr>
            <p:spPr>
              <a:xfrm>
                <a:off x="6500813" y="2619375"/>
                <a:ext cx="5000625" cy="2000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350" dirty="0">
                          <a:solidFill>
                            <a:srgbClr val="F7FAFC"/>
                          </a:solidFill>
                        </a:rPr>
                        <m:t>ℓ</m:t>
                      </m:r>
                      <m:r>
                        <a:rPr lang="en-US" sz="1350" dirty="0">
                          <a:solidFill>
                            <a:srgbClr val="F7FAFC"/>
                          </a:solidFill>
                        </a:rPr>
                        <m:t>(</m:t>
                      </m:r>
                      <m:sSub>
                        <m:sSubPr>
                          <m:ctrlPr>
                            <a:rPr lang="en-US" sz="900" dirty="0">
                              <a:solidFill>
                                <a:srgbClr val="F7FAFC"/>
                              </a:solidFill>
                            </a:rPr>
                          </m:ctrlPr>
                        </m:sSubPr>
                        <m:e>
                          <m:r>
                            <a:rPr lang="en-US" sz="900" i="1" dirty="0">
                              <a:solidFill>
                                <a:srgbClr val="F7FAFC"/>
                              </a:solidFill>
                            </a:rPr>
                            <m:t>p</m:t>
                          </m:r>
                        </m:e>
                        <m:sub>
                          <m:r>
                            <a:rPr lang="en-US" sz="900" i="1" dirty="0">
                              <a:solidFill>
                                <a:srgbClr val="F7FAFC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lang="en-US" sz="1350" dirty="0">
                          <a:solidFill>
                            <a:srgbClr val="F7FAFC"/>
                          </a:solidFill>
                        </a:rPr>
                        <m:t>,</m:t>
                      </m:r>
                      <m:sSub>
                        <m:sSubPr>
                          <m:ctrlPr>
                            <a:rPr lang="en-US" sz="900" dirty="0">
                              <a:solidFill>
                                <a:srgbClr val="F7FAFC"/>
                              </a:solidFill>
                            </a:rPr>
                          </m:ctrlPr>
                        </m:sSubPr>
                        <m:e>
                          <m:r>
                            <a:rPr lang="en-US" sz="900" i="1" dirty="0">
                              <a:solidFill>
                                <a:srgbClr val="F7FAFC"/>
                              </a:solidFill>
                            </a:rPr>
                            <m:t>y</m:t>
                          </m:r>
                        </m:e>
                        <m:sub>
                          <m:r>
                            <a:rPr lang="en-US" sz="900" i="1" dirty="0">
                              <a:solidFill>
                                <a:srgbClr val="F7FAFC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lang="en-US" sz="1350" dirty="0">
                          <a:solidFill>
                            <a:srgbClr val="F7FAFC"/>
                          </a:solidFill>
                        </a:rPr>
                        <m:t>)</m:t>
                      </m:r>
                      <m:r>
                        <a:rPr lang="en-US" sz="1350" dirty="0">
                          <a:solidFill>
                            <a:srgbClr val="F7FAFC"/>
                          </a:solidFill>
                        </a:rPr>
                        <m:t>=</m:t>
                      </m:r>
                      <m:r>
                        <a:rPr lang="en-US" sz="1350" dirty="0">
                          <a:solidFill>
                            <a:srgbClr val="F7FAFC"/>
                          </a:solidFill>
                        </a:rPr>
                        <m:t>−</m:t>
                      </m:r>
                      <m:r>
                        <a:rPr lang="en-US" sz="1350" dirty="0">
                          <a:solidFill>
                            <a:srgbClr val="F7FAFC"/>
                          </a:solidFill>
                        </a:rPr>
                        <m:t>[</m:t>
                      </m:r>
                      <m:sSub>
                        <m:sSubPr>
                          <m:ctrlPr>
                            <a:rPr lang="en-US" sz="900" dirty="0">
                              <a:solidFill>
                                <a:srgbClr val="F7FAFC"/>
                              </a:solidFill>
                            </a:rPr>
                          </m:ctrlPr>
                        </m:sSubPr>
                        <m:e>
                          <m:r>
                            <a:rPr lang="en-US" sz="900" i="1" dirty="0">
                              <a:solidFill>
                                <a:srgbClr val="F7FAFC"/>
                              </a:solidFill>
                            </a:rPr>
                            <m:t>y</m:t>
                          </m:r>
                        </m:e>
                        <m:sub>
                          <m:r>
                            <a:rPr lang="en-US" sz="900" i="1" dirty="0">
                              <a:solidFill>
                                <a:srgbClr val="F7FAFC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lang="en-US" sz="1350" i="1" dirty="0">
                          <a:solidFill>
                            <a:srgbClr val="F7FAFC"/>
                          </a:solidFill>
                        </a:rPr>
                        <m:t>log</m:t>
                      </m:r>
                      <m:r>
                        <a:rPr lang="en-US" sz="1350" dirty="0">
                          <a:solidFill>
                            <a:srgbClr val="F7FAFC"/>
                          </a:solidFill>
                        </a:rPr>
                        <m:t>⁡</m:t>
                      </m:r>
                      <m:r>
                        <a:rPr lang="en-US" sz="1350" dirty="0">
                          <a:solidFill>
                            <a:srgbClr val="F7FAFC"/>
                          </a:solidFill>
                        </a:rPr>
                        <m:t>(</m:t>
                      </m:r>
                      <m:sSub>
                        <m:sSubPr>
                          <m:ctrlPr>
                            <a:rPr lang="en-US" sz="900" dirty="0">
                              <a:solidFill>
                                <a:srgbClr val="F7FAFC"/>
                              </a:solidFill>
                            </a:rPr>
                          </m:ctrlPr>
                        </m:sSubPr>
                        <m:e>
                          <m:r>
                            <a:rPr lang="en-US" sz="900" i="1" dirty="0">
                              <a:solidFill>
                                <a:srgbClr val="F7FAFC"/>
                              </a:solidFill>
                            </a:rPr>
                            <m:t>p</m:t>
                          </m:r>
                        </m:e>
                        <m:sub>
                          <m:r>
                            <a:rPr lang="en-US" sz="900" i="1" dirty="0">
                              <a:solidFill>
                                <a:srgbClr val="F7FAFC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lang="en-US" sz="1350" dirty="0">
                          <a:solidFill>
                            <a:srgbClr val="F7FAFC"/>
                          </a:solidFill>
                        </a:rPr>
                        <m:t>)</m:t>
                      </m:r>
                      <m:r>
                        <a:rPr lang="en-US" sz="1350" dirty="0">
                          <a:solidFill>
                            <a:srgbClr val="F7FAFC"/>
                          </a:solidFill>
                        </a:rPr>
                        <m:t>+</m:t>
                      </m:r>
                      <m:r>
                        <a:rPr lang="en-US" sz="1350" dirty="0">
                          <a:solidFill>
                            <a:srgbClr val="F7FAFC"/>
                          </a:solidFill>
                        </a:rPr>
                        <m:t>(</m:t>
                      </m:r>
                      <m:r>
                        <a:rPr lang="en-US" sz="1350" dirty="0">
                          <a:solidFill>
                            <a:srgbClr val="F7FAFC"/>
                          </a:solidFill>
                        </a:rPr>
                        <m:t>1</m:t>
                      </m:r>
                      <m:r>
                        <a:rPr lang="en-US" sz="1350" dirty="0">
                          <a:solidFill>
                            <a:srgbClr val="F7FAFC"/>
                          </a:solidFill>
                        </a:rPr>
                        <m:t>−</m:t>
                      </m:r>
                      <m:sSub>
                        <m:sSubPr>
                          <m:ctrlPr>
                            <a:rPr lang="en-US" sz="900" dirty="0">
                              <a:solidFill>
                                <a:srgbClr val="F7FAFC"/>
                              </a:solidFill>
                            </a:rPr>
                          </m:ctrlPr>
                        </m:sSubPr>
                        <m:e>
                          <m:r>
                            <a:rPr lang="en-US" sz="900" i="1" dirty="0">
                              <a:solidFill>
                                <a:srgbClr val="F7FAFC"/>
                              </a:solidFill>
                            </a:rPr>
                            <m:t>y</m:t>
                          </m:r>
                        </m:e>
                        <m:sub>
                          <m:r>
                            <a:rPr lang="en-US" sz="900" i="1" dirty="0">
                              <a:solidFill>
                                <a:srgbClr val="F7FAFC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lang="en-US" sz="1350" dirty="0">
                          <a:solidFill>
                            <a:srgbClr val="F7FAFC"/>
                          </a:solidFill>
                        </a:rPr>
                        <m:t>)</m:t>
                      </m:r>
                      <m:r>
                        <a:rPr lang="en-US" sz="1350" i="1" dirty="0">
                          <a:solidFill>
                            <a:srgbClr val="F7FAFC"/>
                          </a:solidFill>
                        </a:rPr>
                        <m:t>log</m:t>
                      </m:r>
                      <m:r>
                        <a:rPr lang="en-US" sz="1350" dirty="0">
                          <a:solidFill>
                            <a:srgbClr val="F7FAFC"/>
                          </a:solidFill>
                        </a:rPr>
                        <m:t>⁡</m:t>
                      </m:r>
                      <m:r>
                        <a:rPr lang="en-US" sz="1350" dirty="0">
                          <a:solidFill>
                            <a:srgbClr val="F7FAFC"/>
                          </a:solidFill>
                        </a:rPr>
                        <m:t>(</m:t>
                      </m:r>
                      <m:r>
                        <a:rPr lang="en-US" sz="1350" dirty="0">
                          <a:solidFill>
                            <a:srgbClr val="F7FAFC"/>
                          </a:solidFill>
                        </a:rPr>
                        <m:t>1</m:t>
                      </m:r>
                      <m:r>
                        <a:rPr lang="en-US" sz="1350" dirty="0">
                          <a:solidFill>
                            <a:srgbClr val="F7FAFC"/>
                          </a:solidFill>
                        </a:rPr>
                        <m:t>−</m:t>
                      </m:r>
                      <m:sSub>
                        <m:sSubPr>
                          <m:ctrlPr>
                            <a:rPr lang="en-US" sz="900" dirty="0">
                              <a:solidFill>
                                <a:srgbClr val="F7FAFC"/>
                              </a:solidFill>
                            </a:rPr>
                          </m:ctrlPr>
                        </m:sSubPr>
                        <m:e>
                          <m:r>
                            <a:rPr lang="en-US" sz="900" i="1" dirty="0">
                              <a:solidFill>
                                <a:srgbClr val="F7FAFC"/>
                              </a:solidFill>
                            </a:rPr>
                            <m:t>p</m:t>
                          </m:r>
                        </m:e>
                        <m:sub>
                          <m:r>
                            <a:rPr lang="en-US" sz="900" i="1" dirty="0">
                              <a:solidFill>
                                <a:srgbClr val="F7FAFC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lang="en-US" sz="1350" dirty="0">
                          <a:solidFill>
                            <a:srgbClr val="F7FAFC"/>
                          </a:solidFill>
                        </a:rPr>
                        <m:t>)</m:t>
                      </m:r>
                      <m:r>
                        <a:rPr lang="en-US" sz="1350" dirty="0">
                          <a:solidFill>
                            <a:srgbClr val="F7FAFC"/>
                          </a:solidFill>
                        </a:rPr>
                        <m:t>]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 22"/>
              <p:cNvSpPr/>
              <p:nvPr/>
            </p:nvSpPr>
            <p:spPr>
              <a:xfrm>
                <a:off x="6500813" y="2619375"/>
                <a:ext cx="5000625" cy="2000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en-US" sz="1350" dirty="0">
                    <a:solidFill>
                      <a:srgbClr val="F7FAFC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(  \ell(p_i, y_i) = - [ y_i \log(p_i) + (1-y_i)\log(1-p_i) ]  )</a:t>
                </a:r>
                <a:endParaRPr lang="en-US" sz="1600" dirty="0"/>
              </a:p>
            </p:txBody>
          </p:sp>
        </mc:Fallback>
      </mc:AlternateContent>
      <p:sp>
        <p:nvSpPr>
          <p:cNvPr id="25" name="Shape 23"/>
          <p:cNvSpPr/>
          <p:nvPr/>
        </p:nvSpPr>
        <p:spPr>
          <a:xfrm>
            <a:off x="6386513" y="3197275"/>
            <a:ext cx="5229225" cy="1009650"/>
          </a:xfrm>
          <a:custGeom>
            <a:avLst/>
            <a:gdLst/>
            <a:ahLst/>
            <a:cxnLst/>
            <a:rect l="l" t="t" r="r" b="b"/>
            <a:pathLst>
              <a:path w="5229225" h="1009650">
                <a:moveTo>
                  <a:pt x="76198" y="0"/>
                </a:moveTo>
                <a:lnTo>
                  <a:pt x="5153027" y="0"/>
                </a:lnTo>
                <a:cubicBezTo>
                  <a:pt x="5195110" y="0"/>
                  <a:pt x="5229225" y="34115"/>
                  <a:pt x="5229225" y="76198"/>
                </a:cubicBezTo>
                <a:lnTo>
                  <a:pt x="5229225" y="933452"/>
                </a:lnTo>
                <a:cubicBezTo>
                  <a:pt x="5229225" y="975535"/>
                  <a:pt x="5195110" y="1009650"/>
                  <a:pt x="5153027" y="1009650"/>
                </a:cubicBezTo>
                <a:lnTo>
                  <a:pt x="76198" y="1009650"/>
                </a:lnTo>
                <a:cubicBezTo>
                  <a:pt x="34115" y="1009650"/>
                  <a:pt x="0" y="975535"/>
                  <a:pt x="0" y="9334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43675" y="3278237"/>
            <a:ext cx="499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多分类 (Softmax)：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25"/>
              <p:cNvSpPr/>
              <p:nvPr/>
            </p:nvSpPr>
            <p:spPr>
              <a:xfrm>
                <a:off x="6496050" y="3697337"/>
                <a:ext cx="5010150" cy="2381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500" dirty="0">
                          <a:solidFill>
                            <a:srgbClr val="F7FAFC"/>
                          </a:solidFill>
                        </a:rPr>
                        <m:t>ℓ</m:t>
                      </m:r>
                      <m:r>
                        <a:rPr lang="en-US" sz="1500" dirty="0">
                          <a:solidFill>
                            <a:srgbClr val="F7FAFC"/>
                          </a:solidFill>
                        </a:rPr>
                        <m:t>(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F7FAFC"/>
                              </a:solidFill>
                            </a:rPr>
                          </m:ctrlPr>
                        </m:sSubPr>
                        <m:e>
                          <m:r>
                            <a:rPr lang="en-US" sz="1100" b="1" i="1" dirty="0">
                              <a:solidFill>
                                <a:srgbClr val="F7FAFC"/>
                              </a:solidFill>
                            </a:rPr>
                            <m:t>p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F7FAFC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F7FAFC"/>
                          </a:solidFill>
                        </a:rPr>
                        <m:t>,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F7FAFC"/>
                              </a:solidFill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F7FAFC"/>
                              </a:solidFill>
                            </a:rPr>
                            <m:t>y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F7FAFC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F7FAFC"/>
                          </a:solidFill>
                        </a:rPr>
                        <m:t>)</m:t>
                      </m:r>
                      <m:r>
                        <a:rPr lang="en-US" sz="1500" dirty="0">
                          <a:solidFill>
                            <a:srgbClr val="F7FAFC"/>
                          </a:solidFill>
                        </a:rPr>
                        <m:t>=</m:t>
                      </m:r>
                      <m:r>
                        <a:rPr lang="en-US" sz="1500" dirty="0">
                          <a:solidFill>
                            <a:srgbClr val="F7FAFC"/>
                          </a:solidFill>
                        </a:rPr>
                        <m:t>−</m:t>
                      </m:r>
                      <m:r>
                        <a:rPr lang="en-US" sz="1500" i="1" dirty="0">
                          <a:solidFill>
                            <a:srgbClr val="F7FAFC"/>
                          </a:solidFill>
                        </a:rPr>
                        <m:t>log</m:t>
                      </m:r>
                      <m:r>
                        <a:rPr lang="en-US" sz="1500" dirty="0">
                          <a:solidFill>
                            <a:srgbClr val="F7FAFC"/>
                          </a:solidFill>
                        </a:rPr>
                        <m:t>⁡</m:t>
                      </m:r>
                      <m:sSub>
                        <m:sSubPr>
                          <m:ctrlPr>
                            <a:rPr lang="en-US" sz="1100" dirty="0">
                              <a:solidFill>
                                <a:srgbClr val="F7FAFC"/>
                              </a:solidFill>
                            </a:rPr>
                          </m:ctrlPr>
                        </m:sSubPr>
                        <m:e>
                          <m:r>
                            <a:rPr lang="en-US" sz="1100" i="1" dirty="0">
                              <a:solidFill>
                                <a:srgbClr val="F7FAFC"/>
                              </a:solidFill>
                            </a:rPr>
                            <m:t>p</m:t>
                          </m:r>
                        </m:e>
                        <m:sub>
                          <m:r>
                            <a:rPr lang="en-US" sz="1100" i="1" dirty="0">
                              <a:solidFill>
                                <a:srgbClr val="F7FAFC"/>
                              </a:solidFill>
                            </a:rPr>
                            <m:t>i</m:t>
                          </m:r>
                          <m:r>
                            <a:rPr lang="en-US" sz="1100" dirty="0">
                              <a:solidFill>
                                <a:srgbClr val="F7FAFC"/>
                              </a:solidFill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dirty="0">
                                  <a:solidFill>
                                    <a:srgbClr val="F7FAFC"/>
                                  </a:solidFill>
                                </a:rPr>
                              </m:ctrlPr>
                            </m:sSubPr>
                            <m:e>
                              <m:r>
                                <a:rPr lang="en-US" sz="800" i="1" dirty="0">
                                  <a:solidFill>
                                    <a:srgbClr val="F7FAFC"/>
                                  </a:solidFill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800" i="1" dirty="0">
                                  <a:solidFill>
                                    <a:srgbClr val="F7FAFC"/>
                                  </a:solidFill>
                                </a:rPr>
                                <m:t>i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" name="Text 25"/>
              <p:cNvSpPr/>
              <p:nvPr/>
            </p:nvSpPr>
            <p:spPr>
              <a:xfrm>
                <a:off x="6496050" y="3697337"/>
                <a:ext cx="5010150" cy="2381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500" dirty="0">
                    <a:solidFill>
                      <a:srgbClr val="F7FAFC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(  \ell(\mathbf{p}_i, y_i) = -\log p_{i, y_i}  )</a:t>
                </a:r>
                <a:endParaRPr lang="en-US" sz="1600" dirty="0"/>
              </a:p>
            </p:txBody>
          </p:sp>
        </mc:Fallback>
      </mc:AlternateContent>
      <p:sp>
        <p:nvSpPr>
          <p:cNvPr id="28" name="Shape 26"/>
          <p:cNvSpPr/>
          <p:nvPr/>
        </p:nvSpPr>
        <p:spPr>
          <a:xfrm>
            <a:off x="6381750" y="4513064"/>
            <a:ext cx="5238750" cy="476250"/>
          </a:xfrm>
          <a:custGeom>
            <a:avLst/>
            <a:gdLst/>
            <a:ahLst/>
            <a:cxnLst/>
            <a:rect l="l" t="t" r="r" b="b"/>
            <a:pathLst>
              <a:path w="5238750" h="476250">
                <a:moveTo>
                  <a:pt x="76200" y="0"/>
                </a:moveTo>
                <a:lnTo>
                  <a:pt x="5162550" y="0"/>
                </a:lnTo>
                <a:cubicBezTo>
                  <a:pt x="5204606" y="0"/>
                  <a:pt x="5238750" y="34144"/>
                  <a:pt x="5238750" y="76200"/>
                </a:cubicBezTo>
                <a:lnTo>
                  <a:pt x="5238750" y="400050"/>
                </a:lnTo>
                <a:cubicBezTo>
                  <a:pt x="5238750" y="442106"/>
                  <a:pt x="5204606" y="476250"/>
                  <a:pt x="5162550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18096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96050" y="4627364"/>
            <a:ext cx="5086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信息论视角：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衡量用模型预测分布编码真实分布所需的额外比特数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81750" y="5371505"/>
            <a:ext cx="5238750" cy="723900"/>
          </a:xfrm>
          <a:custGeom>
            <a:avLst/>
            <a:gdLst/>
            <a:ahLst/>
            <a:cxnLst/>
            <a:rect l="l" t="t" r="r" b="b"/>
            <a:pathLst>
              <a:path w="5238750" h="723900">
                <a:moveTo>
                  <a:pt x="76198" y="0"/>
                </a:moveTo>
                <a:lnTo>
                  <a:pt x="5162552" y="0"/>
                </a:lnTo>
                <a:cubicBezTo>
                  <a:pt x="5204607" y="0"/>
                  <a:pt x="5238750" y="34143"/>
                  <a:pt x="5238750" y="76198"/>
                </a:cubicBezTo>
                <a:lnTo>
                  <a:pt x="5238750" y="647702"/>
                </a:lnTo>
                <a:cubicBezTo>
                  <a:pt x="5238750" y="689757"/>
                  <a:pt x="5204607" y="723900"/>
                  <a:pt x="51625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718096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96050" y="5485805"/>
            <a:ext cx="5086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惩罚机制：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当真实标签 y=1 时，若预测概率接近0，损失趋向无穷大。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"确信地预测错误"会受到极大惩罚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D69E2E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最大似然估计：模型训练的统计学原理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为什么要用交叉熵？为什么要用最小二乘法？MLE提供了统一的理论解释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7553325" cy="1733550"/>
          </a:xfrm>
          <a:custGeom>
            <a:avLst/>
            <a:gdLst/>
            <a:ahLst/>
            <a:cxnLst/>
            <a:rect l="l" t="t" r="r" b="b"/>
            <a:pathLst>
              <a:path w="7553325" h="1733550">
                <a:moveTo>
                  <a:pt x="38100" y="0"/>
                </a:moveTo>
                <a:lnTo>
                  <a:pt x="7477118" y="0"/>
                </a:lnTo>
                <a:cubicBezTo>
                  <a:pt x="7519206" y="0"/>
                  <a:pt x="7553325" y="34119"/>
                  <a:pt x="7553325" y="76207"/>
                </a:cubicBezTo>
                <a:lnTo>
                  <a:pt x="7553325" y="1657343"/>
                </a:lnTo>
                <a:cubicBezTo>
                  <a:pt x="7553325" y="1699431"/>
                  <a:pt x="7519206" y="1733550"/>
                  <a:pt x="7477118" y="1733550"/>
                </a:cubicBezTo>
                <a:lnTo>
                  <a:pt x="38100" y="1733550"/>
                </a:lnTo>
                <a:cubicBezTo>
                  <a:pt x="17072" y="1733550"/>
                  <a:pt x="0" y="1716478"/>
                  <a:pt x="0" y="1695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1733550"/>
          </a:xfrm>
          <a:custGeom>
            <a:avLst/>
            <a:gdLst/>
            <a:ahLst/>
            <a:cxnLst/>
            <a:rect l="l" t="t" r="r" b="b"/>
            <a:pathLst>
              <a:path w="38100" h="1733550">
                <a:moveTo>
                  <a:pt x="38100" y="0"/>
                </a:moveTo>
                <a:lnTo>
                  <a:pt x="38100" y="0"/>
                </a:lnTo>
                <a:lnTo>
                  <a:pt x="38100" y="1733550"/>
                </a:lnTo>
                <a:lnTo>
                  <a:pt x="38100" y="1733550"/>
                </a:lnTo>
                <a:cubicBezTo>
                  <a:pt x="17072" y="1733550"/>
                  <a:pt x="0" y="1716478"/>
                  <a:pt x="0" y="1695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409700"/>
            <a:ext cx="7324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似然 (Likelihood) vs 概率 (Probability)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6263" y="1795463"/>
            <a:ext cx="3543300" cy="1038225"/>
          </a:xfrm>
          <a:custGeom>
            <a:avLst/>
            <a:gdLst/>
            <a:ahLst/>
            <a:cxnLst/>
            <a:rect l="l" t="t" r="r" b="b"/>
            <a:pathLst>
              <a:path w="3543300" h="1038225">
                <a:moveTo>
                  <a:pt x="76195" y="0"/>
                </a:moveTo>
                <a:lnTo>
                  <a:pt x="3467105" y="0"/>
                </a:lnTo>
                <a:cubicBezTo>
                  <a:pt x="3509186" y="0"/>
                  <a:pt x="3543300" y="34114"/>
                  <a:pt x="3543300" y="76195"/>
                </a:cubicBezTo>
                <a:lnTo>
                  <a:pt x="3543300" y="962030"/>
                </a:lnTo>
                <a:cubicBezTo>
                  <a:pt x="3543300" y="1004111"/>
                  <a:pt x="3509186" y="1038225"/>
                  <a:pt x="3467105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5325" y="1914525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 Probability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5325" y="2219325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已知参数θ，预测数据x发生的可能性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P(x|θ)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6513" y="1795463"/>
            <a:ext cx="3543300" cy="1038225"/>
          </a:xfrm>
          <a:custGeom>
            <a:avLst/>
            <a:gdLst/>
            <a:ahLst/>
            <a:cxnLst/>
            <a:rect l="l" t="t" r="r" b="b"/>
            <a:pathLst>
              <a:path w="3543300" h="1038225">
                <a:moveTo>
                  <a:pt x="76195" y="0"/>
                </a:moveTo>
                <a:lnTo>
                  <a:pt x="3467105" y="0"/>
                </a:lnTo>
                <a:cubicBezTo>
                  <a:pt x="3509186" y="0"/>
                  <a:pt x="3543300" y="34114"/>
                  <a:pt x="3543300" y="76195"/>
                </a:cubicBezTo>
                <a:lnTo>
                  <a:pt x="3543300" y="962030"/>
                </a:lnTo>
                <a:cubicBezTo>
                  <a:pt x="3543300" y="1004111"/>
                  <a:pt x="3509186" y="1038225"/>
                  <a:pt x="3467105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5575" y="1914525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似然 Likelihood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65575" y="2219325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已知数据x，推测参数θ的可能性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L(θ|x)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3143250"/>
            <a:ext cx="7553325" cy="2705100"/>
          </a:xfrm>
          <a:custGeom>
            <a:avLst/>
            <a:gdLst/>
            <a:ahLst/>
            <a:cxnLst/>
            <a:rect l="l" t="t" r="r" b="b"/>
            <a:pathLst>
              <a:path w="7553325" h="2705100">
                <a:moveTo>
                  <a:pt x="38100" y="0"/>
                </a:moveTo>
                <a:lnTo>
                  <a:pt x="7477122" y="0"/>
                </a:lnTo>
                <a:cubicBezTo>
                  <a:pt x="7519208" y="0"/>
                  <a:pt x="7553325" y="34117"/>
                  <a:pt x="7553325" y="76203"/>
                </a:cubicBezTo>
                <a:lnTo>
                  <a:pt x="7553325" y="2628897"/>
                </a:lnTo>
                <a:cubicBezTo>
                  <a:pt x="7553325" y="2670983"/>
                  <a:pt x="7519208" y="2705100"/>
                  <a:pt x="7477122" y="2705100"/>
                </a:cubicBezTo>
                <a:lnTo>
                  <a:pt x="38100" y="2705100"/>
                </a:lnTo>
                <a:cubicBezTo>
                  <a:pt x="17072" y="2705100"/>
                  <a:pt x="0" y="2688028"/>
                  <a:pt x="0" y="2667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3143250"/>
            <a:ext cx="38100" cy="2705100"/>
          </a:xfrm>
          <a:custGeom>
            <a:avLst/>
            <a:gdLst/>
            <a:ahLst/>
            <a:cxnLst/>
            <a:rect l="l" t="t" r="r" b="b"/>
            <a:pathLst>
              <a:path w="38100" h="2705100">
                <a:moveTo>
                  <a:pt x="38100" y="0"/>
                </a:moveTo>
                <a:lnTo>
                  <a:pt x="38100" y="0"/>
                </a:lnTo>
                <a:lnTo>
                  <a:pt x="38100" y="2705100"/>
                </a:lnTo>
                <a:lnTo>
                  <a:pt x="38100" y="2705100"/>
                </a:lnTo>
                <a:cubicBezTo>
                  <a:pt x="17072" y="2705100"/>
                  <a:pt x="0" y="2688028"/>
                  <a:pt x="0" y="2667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" y="3295650"/>
            <a:ext cx="7324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MLE的核心思想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" y="3676650"/>
            <a:ext cx="73056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假设我们观测到了一组数据，我们应该选择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让这组数据出现概率最大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的参数θ。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6263" y="4043363"/>
            <a:ext cx="7219950" cy="1076325"/>
          </a:xfrm>
          <a:custGeom>
            <a:avLst/>
            <a:gdLst/>
            <a:ahLst/>
            <a:cxnLst/>
            <a:rect l="l" t="t" r="r" b="b"/>
            <a:pathLst>
              <a:path w="7219950" h="1076325">
                <a:moveTo>
                  <a:pt x="76204" y="0"/>
                </a:moveTo>
                <a:lnTo>
                  <a:pt x="7143746" y="0"/>
                </a:lnTo>
                <a:cubicBezTo>
                  <a:pt x="7185832" y="0"/>
                  <a:pt x="7219950" y="34118"/>
                  <a:pt x="7219950" y="76204"/>
                </a:cubicBezTo>
                <a:lnTo>
                  <a:pt x="7219950" y="1000121"/>
                </a:lnTo>
                <a:cubicBezTo>
                  <a:pt x="7219950" y="1042207"/>
                  <a:pt x="7185832" y="1076325"/>
                  <a:pt x="7143746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325" y="4162425"/>
            <a:ext cx="7067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【直观案例】抛硬币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5325" y="4505325"/>
            <a:ext cx="7058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抛10次，结果：7次正面，3次反面。正面的概率θ是多少？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直觉告诉你是0.7。为什么？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07338" y="1262063"/>
            <a:ext cx="3695700" cy="2905125"/>
          </a:xfrm>
          <a:custGeom>
            <a:avLst/>
            <a:gdLst/>
            <a:ahLst/>
            <a:cxnLst/>
            <a:rect l="l" t="t" r="r" b="b"/>
            <a:pathLst>
              <a:path w="3695700" h="2905125">
                <a:moveTo>
                  <a:pt x="76201" y="0"/>
                </a:moveTo>
                <a:lnTo>
                  <a:pt x="3619499" y="0"/>
                </a:lnTo>
                <a:cubicBezTo>
                  <a:pt x="3661555" y="0"/>
                  <a:pt x="3695700" y="34145"/>
                  <a:pt x="3695700" y="76201"/>
                </a:cubicBezTo>
                <a:lnTo>
                  <a:pt x="3695700" y="2828924"/>
                </a:lnTo>
                <a:cubicBezTo>
                  <a:pt x="3695700" y="2870980"/>
                  <a:pt x="3661555" y="2905125"/>
                  <a:pt x="3619499" y="2905125"/>
                </a:cubicBezTo>
                <a:lnTo>
                  <a:pt x="76201" y="2905125"/>
                </a:lnTo>
                <a:cubicBezTo>
                  <a:pt x="34145" y="2905125"/>
                  <a:pt x="0" y="2870980"/>
                  <a:pt x="0" y="28289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4500" y="1419225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计算验证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64500" y="1800225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θ = 0.5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64500" y="2066925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 = C₁₀⁷(0.5)⁷(0.5)³ ≈ 0.117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64500" y="2409825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θ = 0.9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64500" y="2676525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 = C₁₀⁷(0.9)⁷(0.1)³ ≈ 0.057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64500" y="3019425"/>
            <a:ext cx="3381375" cy="990600"/>
          </a:xfrm>
          <a:custGeom>
            <a:avLst/>
            <a:gdLst/>
            <a:ahLst/>
            <a:cxnLst/>
            <a:rect l="l" t="t" r="r" b="b"/>
            <a:pathLst>
              <a:path w="3381375" h="990600">
                <a:moveTo>
                  <a:pt x="38098" y="0"/>
                </a:moveTo>
                <a:lnTo>
                  <a:pt x="3343277" y="0"/>
                </a:lnTo>
                <a:cubicBezTo>
                  <a:pt x="3364318" y="0"/>
                  <a:pt x="3381375" y="17057"/>
                  <a:pt x="3381375" y="38098"/>
                </a:cubicBezTo>
                <a:lnTo>
                  <a:pt x="3381375" y="952502"/>
                </a:lnTo>
                <a:cubicBezTo>
                  <a:pt x="3381375" y="973543"/>
                  <a:pt x="3364318" y="990600"/>
                  <a:pt x="3343277" y="990600"/>
                </a:cubicBezTo>
                <a:lnTo>
                  <a:pt x="38098" y="990600"/>
                </a:lnTo>
                <a:cubicBezTo>
                  <a:pt x="17057" y="990600"/>
                  <a:pt x="0" y="973543"/>
                  <a:pt x="0" y="9525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378800" y="3133725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θ = 0.7 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78800" y="3400425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 = C₁₀⁷(0.7)⁷(0.3)³ ≈ 0.266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78800" y="3705225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最大似然估计值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02575" y="4324350"/>
            <a:ext cx="3705225" cy="1524000"/>
          </a:xfrm>
          <a:custGeom>
            <a:avLst/>
            <a:gdLst/>
            <a:ahLst/>
            <a:cxnLst/>
            <a:rect l="l" t="t" r="r" b="b"/>
            <a:pathLst>
              <a:path w="3705225" h="1524000">
                <a:moveTo>
                  <a:pt x="76200" y="0"/>
                </a:moveTo>
                <a:lnTo>
                  <a:pt x="3629025" y="0"/>
                </a:lnTo>
                <a:cubicBezTo>
                  <a:pt x="3671081" y="0"/>
                  <a:pt x="3705225" y="34144"/>
                  <a:pt x="3705225" y="76200"/>
                </a:cubicBezTo>
                <a:lnTo>
                  <a:pt x="3705225" y="1447800"/>
                </a:lnTo>
                <a:cubicBezTo>
                  <a:pt x="3705225" y="1489856"/>
                  <a:pt x="3671081" y="1524000"/>
                  <a:pt x="3629025" y="1524000"/>
                </a:cubicBezTo>
                <a:lnTo>
                  <a:pt x="76200" y="1524000"/>
                </a:lnTo>
                <a:cubicBezTo>
                  <a:pt x="34144" y="1524000"/>
                  <a:pt x="0" y="1489856"/>
                  <a:pt x="0" y="1447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254975" y="4772025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核心结论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54975" y="5153025"/>
            <a:ext cx="34766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最小化损失函数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≡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最大化对数似然函数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5763" y="6005513"/>
            <a:ext cx="3724275" cy="466725"/>
          </a:xfrm>
          <a:custGeom>
            <a:avLst/>
            <a:gdLst/>
            <a:ahLst/>
            <a:cxnLst/>
            <a:rect l="l" t="t" r="r" b="b"/>
            <a:pathLst>
              <a:path w="3724275" h="466725">
                <a:moveTo>
                  <a:pt x="76202" y="0"/>
                </a:moveTo>
                <a:lnTo>
                  <a:pt x="3648073" y="0"/>
                </a:lnTo>
                <a:cubicBezTo>
                  <a:pt x="3690158" y="0"/>
                  <a:pt x="3724275" y="34117"/>
                  <a:pt x="3724275" y="76202"/>
                </a:cubicBezTo>
                <a:lnTo>
                  <a:pt x="3724275" y="390523"/>
                </a:lnTo>
                <a:cubicBezTo>
                  <a:pt x="3724275" y="432608"/>
                  <a:pt x="3690158" y="466725"/>
                  <a:pt x="364807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825" y="6124575"/>
            <a:ext cx="356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回归：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高斯分布 → MSE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233863" y="6005513"/>
            <a:ext cx="3724275" cy="466725"/>
          </a:xfrm>
          <a:custGeom>
            <a:avLst/>
            <a:gdLst/>
            <a:ahLst/>
            <a:cxnLst/>
            <a:rect l="l" t="t" r="r" b="b"/>
            <a:pathLst>
              <a:path w="3724275" h="466725">
                <a:moveTo>
                  <a:pt x="76202" y="0"/>
                </a:moveTo>
                <a:lnTo>
                  <a:pt x="3648073" y="0"/>
                </a:lnTo>
                <a:cubicBezTo>
                  <a:pt x="3690158" y="0"/>
                  <a:pt x="3724275" y="34117"/>
                  <a:pt x="3724275" y="76202"/>
                </a:cubicBezTo>
                <a:lnTo>
                  <a:pt x="3724275" y="390523"/>
                </a:lnTo>
                <a:cubicBezTo>
                  <a:pt x="3724275" y="432608"/>
                  <a:pt x="3690158" y="466725"/>
                  <a:pt x="364807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52925" y="6124575"/>
            <a:ext cx="356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二分类：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伯努利分布 → 交叉熵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081962" y="6005513"/>
            <a:ext cx="3724275" cy="466725"/>
          </a:xfrm>
          <a:custGeom>
            <a:avLst/>
            <a:gdLst/>
            <a:ahLst/>
            <a:cxnLst/>
            <a:rect l="l" t="t" r="r" b="b"/>
            <a:pathLst>
              <a:path w="3724275" h="466725">
                <a:moveTo>
                  <a:pt x="76202" y="0"/>
                </a:moveTo>
                <a:lnTo>
                  <a:pt x="3648073" y="0"/>
                </a:lnTo>
                <a:cubicBezTo>
                  <a:pt x="3690158" y="0"/>
                  <a:pt x="3724275" y="34117"/>
                  <a:pt x="3724275" y="76202"/>
                </a:cubicBezTo>
                <a:lnTo>
                  <a:pt x="3724275" y="390523"/>
                </a:lnTo>
                <a:cubicBezTo>
                  <a:pt x="3724275" y="432608"/>
                  <a:pt x="3690158" y="466725"/>
                  <a:pt x="364807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01025" y="6124575"/>
            <a:ext cx="356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多分类：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类别分布 → Softmax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754" y="377754"/>
            <a:ext cx="11606482" cy="37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7" b="1" dirty="0">
                <a:solidFill>
                  <a:srgbClr val="D69E2E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正则化：奥卡姆剃刀原则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7754" y="831058"/>
            <a:ext cx="11521487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"如无必要，勿增实体"——防止过拟合的核心技术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6641" y="1246587"/>
            <a:ext cx="11417605" cy="887721"/>
          </a:xfrm>
          <a:custGeom>
            <a:avLst/>
            <a:gdLst/>
            <a:ahLst/>
            <a:cxnLst/>
            <a:rect l="l" t="t" r="r" b="b"/>
            <a:pathLst>
              <a:path w="11417605" h="887721">
                <a:moveTo>
                  <a:pt x="37775" y="0"/>
                </a:moveTo>
                <a:lnTo>
                  <a:pt x="11342051" y="0"/>
                </a:lnTo>
                <a:cubicBezTo>
                  <a:pt x="11383778" y="0"/>
                  <a:pt x="11417605" y="33827"/>
                  <a:pt x="11417605" y="75554"/>
                </a:cubicBezTo>
                <a:lnTo>
                  <a:pt x="11417605" y="812167"/>
                </a:lnTo>
                <a:cubicBezTo>
                  <a:pt x="11417605" y="853894"/>
                  <a:pt x="11383778" y="887721"/>
                  <a:pt x="11342051" y="887721"/>
                </a:cubicBezTo>
                <a:lnTo>
                  <a:pt x="37775" y="887721"/>
                </a:lnTo>
                <a:cubicBezTo>
                  <a:pt x="16913" y="887721"/>
                  <a:pt x="0" y="870809"/>
                  <a:pt x="0" y="849946"/>
                </a:cubicBezTo>
                <a:lnTo>
                  <a:pt x="0" y="37775"/>
                </a:lnTo>
                <a:cubicBezTo>
                  <a:pt x="0" y="16927"/>
                  <a:pt x="16927" y="0"/>
                  <a:pt x="37775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96641" y="1246587"/>
            <a:ext cx="37775" cy="887721"/>
          </a:xfrm>
          <a:custGeom>
            <a:avLst/>
            <a:gdLst/>
            <a:ahLst/>
            <a:cxnLst/>
            <a:rect l="l" t="t" r="r" b="b"/>
            <a:pathLst>
              <a:path w="37775" h="887721">
                <a:moveTo>
                  <a:pt x="37775" y="0"/>
                </a:moveTo>
                <a:lnTo>
                  <a:pt x="37775" y="0"/>
                </a:lnTo>
                <a:lnTo>
                  <a:pt x="37775" y="887721"/>
                </a:lnTo>
                <a:lnTo>
                  <a:pt x="37775" y="887721"/>
                </a:lnTo>
                <a:cubicBezTo>
                  <a:pt x="16913" y="887721"/>
                  <a:pt x="0" y="870809"/>
                  <a:pt x="0" y="849946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6" name="Text 4"/>
          <p:cNvSpPr/>
          <p:nvPr/>
        </p:nvSpPr>
        <p:spPr>
          <a:xfrm>
            <a:off x="566631" y="1397689"/>
            <a:ext cx="11190953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7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过拟合问题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631" y="1737667"/>
            <a:ext cx="11172065" cy="245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模型在训练集上表现太好，</a:t>
            </a:r>
            <a:pPr>
              <a:lnSpc>
                <a:spcPct val="140000"/>
              </a:lnSpc>
            </a:pPr>
            <a:r>
              <a:rPr lang="en-US" sz="119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可能是记住了噪声，而非学到普遍规律</a:t>
            </a:r>
            <a:pPr>
              <a:lnSpc>
                <a:spcPct val="140000"/>
              </a:lnSpc>
            </a:pPr>
            <a:r>
              <a:rPr lang="en-US" sz="119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 </a:t>
            </a:r>
            <a:pPr>
              <a:lnSpc>
                <a:spcPct val="140000"/>
              </a:lnSpc>
            </a:pPr>
            <a:r>
              <a:rPr lang="en-US" sz="119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训练误差极低，但测试误差很高。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77754" y="2304297"/>
            <a:ext cx="5637974" cy="3777537"/>
          </a:xfrm>
          <a:custGeom>
            <a:avLst/>
            <a:gdLst/>
            <a:ahLst/>
            <a:cxnLst/>
            <a:rect l="l" t="t" r="r" b="b"/>
            <a:pathLst>
              <a:path w="5637974" h="3777537">
                <a:moveTo>
                  <a:pt x="37775" y="0"/>
                </a:moveTo>
                <a:lnTo>
                  <a:pt x="5600198" y="0"/>
                </a:lnTo>
                <a:cubicBezTo>
                  <a:pt x="5621061" y="0"/>
                  <a:pt x="5637974" y="16913"/>
                  <a:pt x="5637974" y="37775"/>
                </a:cubicBezTo>
                <a:lnTo>
                  <a:pt x="5637974" y="3701986"/>
                </a:lnTo>
                <a:cubicBezTo>
                  <a:pt x="5637974" y="3743712"/>
                  <a:pt x="5604148" y="3777537"/>
                  <a:pt x="5562423" y="3777537"/>
                </a:cubicBezTo>
                <a:lnTo>
                  <a:pt x="75551" y="3777537"/>
                </a:lnTo>
                <a:cubicBezTo>
                  <a:pt x="33825" y="3777537"/>
                  <a:pt x="0" y="3743712"/>
                  <a:pt x="0" y="3701986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77754" y="2304297"/>
            <a:ext cx="5637974" cy="37775"/>
          </a:xfrm>
          <a:custGeom>
            <a:avLst/>
            <a:gdLst/>
            <a:ahLst/>
            <a:cxnLst/>
            <a:rect l="l" t="t" r="r" b="b"/>
            <a:pathLst>
              <a:path w="5637974" h="37775">
                <a:moveTo>
                  <a:pt x="37775" y="0"/>
                </a:moveTo>
                <a:lnTo>
                  <a:pt x="5600198" y="0"/>
                </a:lnTo>
                <a:cubicBezTo>
                  <a:pt x="5621061" y="0"/>
                  <a:pt x="5637974" y="16913"/>
                  <a:pt x="5637974" y="37775"/>
                </a:cubicBezTo>
                <a:lnTo>
                  <a:pt x="5637974" y="37775"/>
                </a:lnTo>
                <a:lnTo>
                  <a:pt x="0" y="37775"/>
                </a:ln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10" name="Shape 8"/>
          <p:cNvSpPr/>
          <p:nvPr/>
        </p:nvSpPr>
        <p:spPr>
          <a:xfrm>
            <a:off x="528855" y="2474287"/>
            <a:ext cx="453304" cy="453304"/>
          </a:xfrm>
          <a:custGeom>
            <a:avLst/>
            <a:gdLst/>
            <a:ahLst/>
            <a:cxnLst/>
            <a:rect l="l" t="t" r="r" b="b"/>
            <a:pathLst>
              <a:path w="453304" h="453304">
                <a:moveTo>
                  <a:pt x="226652" y="0"/>
                </a:moveTo>
                <a:lnTo>
                  <a:pt x="226652" y="0"/>
                </a:lnTo>
                <a:cubicBezTo>
                  <a:pt x="351829" y="0"/>
                  <a:pt x="453304" y="101476"/>
                  <a:pt x="453304" y="226652"/>
                </a:cubicBezTo>
                <a:lnTo>
                  <a:pt x="453304" y="226652"/>
                </a:lnTo>
                <a:cubicBezTo>
                  <a:pt x="453304" y="351829"/>
                  <a:pt x="351829" y="453304"/>
                  <a:pt x="226652" y="453304"/>
                </a:cubicBezTo>
                <a:lnTo>
                  <a:pt x="226652" y="453304"/>
                </a:lnTo>
                <a:cubicBezTo>
                  <a:pt x="101476" y="453304"/>
                  <a:pt x="0" y="351829"/>
                  <a:pt x="0" y="226652"/>
                </a:cubicBezTo>
                <a:lnTo>
                  <a:pt x="0" y="226652"/>
                </a:lnTo>
                <a:cubicBezTo>
                  <a:pt x="0" y="101476"/>
                  <a:pt x="101476" y="0"/>
                  <a:pt x="226652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11" name="Text 9"/>
          <p:cNvSpPr/>
          <p:nvPr/>
        </p:nvSpPr>
        <p:spPr>
          <a:xfrm>
            <a:off x="665496" y="2568725"/>
            <a:ext cx="273871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7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5486" y="2549837"/>
            <a:ext cx="1869881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5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L1 正则化 (Lasso)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577" y="3045639"/>
            <a:ext cx="5326327" cy="1123817"/>
          </a:xfrm>
          <a:custGeom>
            <a:avLst/>
            <a:gdLst/>
            <a:ahLst/>
            <a:cxnLst/>
            <a:rect l="l" t="t" r="r" b="b"/>
            <a:pathLst>
              <a:path w="5326327" h="1123817">
                <a:moveTo>
                  <a:pt x="75554" y="0"/>
                </a:moveTo>
                <a:lnTo>
                  <a:pt x="5250773" y="0"/>
                </a:lnTo>
                <a:cubicBezTo>
                  <a:pt x="5292500" y="0"/>
                  <a:pt x="5326327" y="33827"/>
                  <a:pt x="5326327" y="75554"/>
                </a:cubicBezTo>
                <a:lnTo>
                  <a:pt x="5326327" y="1048263"/>
                </a:lnTo>
                <a:cubicBezTo>
                  <a:pt x="5326327" y="1089990"/>
                  <a:pt x="5292500" y="1123817"/>
                  <a:pt x="5250773" y="1123817"/>
                </a:cubicBezTo>
                <a:lnTo>
                  <a:pt x="75554" y="1123817"/>
                </a:lnTo>
                <a:cubicBezTo>
                  <a:pt x="33827" y="1123817"/>
                  <a:pt x="0" y="1089990"/>
                  <a:pt x="0" y="1048263"/>
                </a:cubicBezTo>
                <a:lnTo>
                  <a:pt x="0" y="75554"/>
                </a:lnTo>
                <a:cubicBezTo>
                  <a:pt x="0" y="33827"/>
                  <a:pt x="33827" y="0"/>
                  <a:pt x="75554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604406" y="3352564"/>
                <a:ext cx="5184669" cy="50996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87" i="1" dirty="0">
                          <a:solidFill>
                            <a:srgbClr val="F7FAFC"/>
                          </a:solidFill>
                        </a:rPr>
                        <m:t>R</m:t>
                      </m:r>
                      <m:r>
                        <a:rPr lang="en-US" sz="1487" dirty="0">
                          <a:solidFill>
                            <a:srgbClr val="F7FAFC"/>
                          </a:solidFill>
                        </a:rPr>
                        <m:t>(</m:t>
                      </m:r>
                      <m:r>
                        <a:rPr lang="en-US" sz="1487" i="1" dirty="0">
                          <a:solidFill>
                            <a:srgbClr val="F7FAFC"/>
                          </a:solidFill>
                        </a:rPr>
                        <m:t>θ</m:t>
                      </m:r>
                      <m:r>
                        <a:rPr lang="en-US" sz="1487" dirty="0">
                          <a:solidFill>
                            <a:srgbClr val="F7FAFC"/>
                          </a:solidFill>
                        </a:rPr>
                        <m:t>)</m:t>
                      </m:r>
                      <m:r>
                        <a:rPr lang="en-US" sz="1487" dirty="0">
                          <a:solidFill>
                            <a:srgbClr val="F7FAFC"/>
                          </a:solidFill>
                        </a:rPr>
                        <m:t>=</m:t>
                      </m:r>
                      <m:sSub>
                        <m:sSubPr>
                          <m:ctrlPr>
                            <a:rPr lang="en-US" sz="1000" dirty="0">
                              <a:solidFill>
                                <a:srgbClr val="F7FAFC"/>
                              </a:solidFill>
                            </a:rPr>
                          </m:ctrlPr>
                        </m:sSubPr>
                        <m:e>
                          <m:r>
                            <a:rPr lang="en-US" sz="1000" dirty="0">
                              <a:solidFill>
                                <a:srgbClr val="F7FAFC"/>
                              </a:solidFill>
                            </a:rPr>
                            <m:t>∑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F7FAFC"/>
                              </a:solidFill>
                            </a:rPr>
                            <m:t>j</m:t>
                          </m:r>
                        </m:sub>
                      </m:sSub>
                      <m:r>
                        <a:rPr lang="en-US" sz="1487" dirty="0">
                          <a:solidFill>
                            <a:srgbClr val="F7FAFC"/>
                          </a:solidFill>
                        </a:rPr>
                        <m:t>∣</m:t>
                      </m:r>
                      <m:sSub>
                        <m:sSubPr>
                          <m:ctrlPr>
                            <a:rPr lang="en-US" sz="1000" dirty="0">
                              <a:solidFill>
                                <a:srgbClr val="F7FAFC"/>
                              </a:solidFill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F7FAFC"/>
                              </a:solidFill>
                            </a:rPr>
                            <m:t>θ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F7FAFC"/>
                              </a:solidFill>
                            </a:rPr>
                            <m:t>j</m:t>
                          </m:r>
                        </m:sub>
                      </m:sSub>
                      <m:r>
                        <a:rPr lang="en-US" sz="1487" dirty="0">
                          <a:solidFill>
                            <a:srgbClr val="F7FAFC"/>
                          </a:solidFill>
                        </a:rPr>
                        <m:t>∣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" name="Text 12"/>
              <p:cNvSpPr/>
              <p:nvPr/>
            </p:nvSpPr>
            <p:spPr>
              <a:xfrm>
                <a:off x="604406" y="3352564"/>
                <a:ext cx="5184669" cy="50996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487" dirty="0">
                    <a:solidFill>
                      <a:srgbClr val="F7FAFC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(  R(\theta) = \sum_j |\theta_j|  )</a:t>
                </a:r>
                <a:endParaRPr lang="en-US" sz="1600" dirty="0"/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528855" y="4283815"/>
            <a:ext cx="5335771" cy="472192"/>
          </a:xfrm>
          <a:custGeom>
            <a:avLst/>
            <a:gdLst/>
            <a:ahLst/>
            <a:cxnLst/>
            <a:rect l="l" t="t" r="r" b="b"/>
            <a:pathLst>
              <a:path w="5335771" h="472192">
                <a:moveTo>
                  <a:pt x="75551" y="0"/>
                </a:moveTo>
                <a:lnTo>
                  <a:pt x="5260220" y="0"/>
                </a:lnTo>
                <a:cubicBezTo>
                  <a:pt x="5301946" y="0"/>
                  <a:pt x="5335771" y="33825"/>
                  <a:pt x="5335771" y="75551"/>
                </a:cubicBezTo>
                <a:lnTo>
                  <a:pt x="5335771" y="396641"/>
                </a:lnTo>
                <a:cubicBezTo>
                  <a:pt x="5335771" y="438367"/>
                  <a:pt x="5301946" y="472192"/>
                  <a:pt x="5260220" y="472192"/>
                </a:cubicBezTo>
                <a:lnTo>
                  <a:pt x="75551" y="472192"/>
                </a:lnTo>
                <a:cubicBezTo>
                  <a:pt x="33853" y="472192"/>
                  <a:pt x="0" y="438339"/>
                  <a:pt x="0" y="396641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2181" y="4397141"/>
            <a:ext cx="5184669" cy="245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作用：</a:t>
            </a:r>
            <a:pPr>
              <a:lnSpc>
                <a:spcPct val="140000"/>
              </a:lnSpc>
            </a:pPr>
            <a:r>
              <a:rPr lang="en-US" sz="1190" dirty="0">
                <a:solidFill>
                  <a:srgbClr val="D69E2E"/>
                </a:solidFill>
                <a:highlight>
                  <a:srgbClr val="D69E2E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特征选择 </a:t>
            </a:r>
            <a:pPr>
              <a:lnSpc>
                <a:spcPct val="140000"/>
              </a:lnSpc>
            </a:pPr>
            <a:r>
              <a:rPr lang="en-US" sz="119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，让不重要的特征权重直接变为0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8855" y="4869333"/>
            <a:ext cx="5335771" cy="472192"/>
          </a:xfrm>
          <a:custGeom>
            <a:avLst/>
            <a:gdLst/>
            <a:ahLst/>
            <a:cxnLst/>
            <a:rect l="l" t="t" r="r" b="b"/>
            <a:pathLst>
              <a:path w="5335771" h="472192">
                <a:moveTo>
                  <a:pt x="75551" y="0"/>
                </a:moveTo>
                <a:lnTo>
                  <a:pt x="5260220" y="0"/>
                </a:lnTo>
                <a:cubicBezTo>
                  <a:pt x="5301946" y="0"/>
                  <a:pt x="5335771" y="33825"/>
                  <a:pt x="5335771" y="75551"/>
                </a:cubicBezTo>
                <a:lnTo>
                  <a:pt x="5335771" y="396641"/>
                </a:lnTo>
                <a:cubicBezTo>
                  <a:pt x="5335771" y="438367"/>
                  <a:pt x="5301946" y="472192"/>
                  <a:pt x="5260220" y="472192"/>
                </a:cubicBezTo>
                <a:lnTo>
                  <a:pt x="75551" y="472192"/>
                </a:lnTo>
                <a:cubicBezTo>
                  <a:pt x="33853" y="472192"/>
                  <a:pt x="0" y="438339"/>
                  <a:pt x="0" y="396641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2181" y="4982660"/>
            <a:ext cx="5184669" cy="245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结果：</a:t>
            </a:r>
            <a:pPr>
              <a:lnSpc>
                <a:spcPct val="140000"/>
              </a:lnSpc>
            </a:pPr>
            <a:r>
              <a:rPr lang="en-US" sz="119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得到稀疏模型，自动进行特征筛选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8855" y="5454852"/>
            <a:ext cx="5335771" cy="472192"/>
          </a:xfrm>
          <a:custGeom>
            <a:avLst/>
            <a:gdLst/>
            <a:ahLst/>
            <a:cxnLst/>
            <a:rect l="l" t="t" r="r" b="b"/>
            <a:pathLst>
              <a:path w="5335771" h="472192">
                <a:moveTo>
                  <a:pt x="75551" y="0"/>
                </a:moveTo>
                <a:lnTo>
                  <a:pt x="5260220" y="0"/>
                </a:lnTo>
                <a:cubicBezTo>
                  <a:pt x="5301946" y="0"/>
                  <a:pt x="5335771" y="33825"/>
                  <a:pt x="5335771" y="75551"/>
                </a:cubicBezTo>
                <a:lnTo>
                  <a:pt x="5335771" y="396641"/>
                </a:lnTo>
                <a:cubicBezTo>
                  <a:pt x="5335771" y="438367"/>
                  <a:pt x="5301946" y="472192"/>
                  <a:pt x="5260220" y="472192"/>
                </a:cubicBezTo>
                <a:lnTo>
                  <a:pt x="75551" y="472192"/>
                </a:lnTo>
                <a:cubicBezTo>
                  <a:pt x="33853" y="472192"/>
                  <a:pt x="0" y="438339"/>
                  <a:pt x="0" y="396641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2181" y="5568178"/>
            <a:ext cx="5184669" cy="245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几何解释：</a:t>
            </a:r>
            <a:pPr>
              <a:lnSpc>
                <a:spcPct val="140000"/>
              </a:lnSpc>
            </a:pPr>
            <a:r>
              <a:rPr lang="en-US" sz="119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解空间是菱形，等高线易与坐标轴相切（出现0权重）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69928" y="2304297"/>
            <a:ext cx="5637974" cy="3777537"/>
          </a:xfrm>
          <a:custGeom>
            <a:avLst/>
            <a:gdLst/>
            <a:ahLst/>
            <a:cxnLst/>
            <a:rect l="l" t="t" r="r" b="b"/>
            <a:pathLst>
              <a:path w="5637974" h="3777537">
                <a:moveTo>
                  <a:pt x="37775" y="0"/>
                </a:moveTo>
                <a:lnTo>
                  <a:pt x="5600198" y="0"/>
                </a:lnTo>
                <a:cubicBezTo>
                  <a:pt x="5621061" y="0"/>
                  <a:pt x="5637974" y="16913"/>
                  <a:pt x="5637974" y="37775"/>
                </a:cubicBezTo>
                <a:lnTo>
                  <a:pt x="5637974" y="3701986"/>
                </a:lnTo>
                <a:cubicBezTo>
                  <a:pt x="5637974" y="3743712"/>
                  <a:pt x="5604148" y="3777537"/>
                  <a:pt x="5562423" y="3777537"/>
                </a:cubicBezTo>
                <a:lnTo>
                  <a:pt x="75551" y="3777537"/>
                </a:lnTo>
                <a:cubicBezTo>
                  <a:pt x="33825" y="3777537"/>
                  <a:pt x="0" y="3743712"/>
                  <a:pt x="0" y="3701986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169928" y="2304297"/>
            <a:ext cx="5637974" cy="37775"/>
          </a:xfrm>
          <a:custGeom>
            <a:avLst/>
            <a:gdLst/>
            <a:ahLst/>
            <a:cxnLst/>
            <a:rect l="l" t="t" r="r" b="b"/>
            <a:pathLst>
              <a:path w="5637974" h="37775">
                <a:moveTo>
                  <a:pt x="37775" y="0"/>
                </a:moveTo>
                <a:lnTo>
                  <a:pt x="5600198" y="0"/>
                </a:lnTo>
                <a:cubicBezTo>
                  <a:pt x="5621061" y="0"/>
                  <a:pt x="5637974" y="16913"/>
                  <a:pt x="5637974" y="37775"/>
                </a:cubicBezTo>
                <a:lnTo>
                  <a:pt x="5637974" y="37775"/>
                </a:lnTo>
                <a:lnTo>
                  <a:pt x="0" y="37775"/>
                </a:ln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23" name="Shape 21"/>
          <p:cNvSpPr/>
          <p:nvPr/>
        </p:nvSpPr>
        <p:spPr>
          <a:xfrm>
            <a:off x="6321029" y="2474287"/>
            <a:ext cx="453304" cy="453304"/>
          </a:xfrm>
          <a:custGeom>
            <a:avLst/>
            <a:gdLst/>
            <a:ahLst/>
            <a:cxnLst/>
            <a:rect l="l" t="t" r="r" b="b"/>
            <a:pathLst>
              <a:path w="453304" h="453304">
                <a:moveTo>
                  <a:pt x="226652" y="0"/>
                </a:moveTo>
                <a:lnTo>
                  <a:pt x="226652" y="0"/>
                </a:lnTo>
                <a:cubicBezTo>
                  <a:pt x="351829" y="0"/>
                  <a:pt x="453304" y="101476"/>
                  <a:pt x="453304" y="226652"/>
                </a:cubicBezTo>
                <a:lnTo>
                  <a:pt x="453304" y="226652"/>
                </a:lnTo>
                <a:cubicBezTo>
                  <a:pt x="453304" y="351829"/>
                  <a:pt x="351829" y="453304"/>
                  <a:pt x="226652" y="453304"/>
                </a:cubicBezTo>
                <a:lnTo>
                  <a:pt x="226652" y="453304"/>
                </a:lnTo>
                <a:cubicBezTo>
                  <a:pt x="101476" y="453304"/>
                  <a:pt x="0" y="351829"/>
                  <a:pt x="0" y="226652"/>
                </a:cubicBezTo>
                <a:lnTo>
                  <a:pt x="0" y="226652"/>
                </a:lnTo>
                <a:cubicBezTo>
                  <a:pt x="0" y="101476"/>
                  <a:pt x="101476" y="0"/>
                  <a:pt x="226652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24" name="Text 22"/>
          <p:cNvSpPr/>
          <p:nvPr/>
        </p:nvSpPr>
        <p:spPr>
          <a:xfrm>
            <a:off x="6441659" y="2568725"/>
            <a:ext cx="302203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7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87660" y="2549837"/>
            <a:ext cx="1907656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5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L2 正则化 (Ridge)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25751" y="3045639"/>
            <a:ext cx="5326327" cy="1123817"/>
          </a:xfrm>
          <a:custGeom>
            <a:avLst/>
            <a:gdLst/>
            <a:ahLst/>
            <a:cxnLst/>
            <a:rect l="l" t="t" r="r" b="b"/>
            <a:pathLst>
              <a:path w="5326327" h="1123817">
                <a:moveTo>
                  <a:pt x="75554" y="0"/>
                </a:moveTo>
                <a:lnTo>
                  <a:pt x="5250773" y="0"/>
                </a:lnTo>
                <a:cubicBezTo>
                  <a:pt x="5292500" y="0"/>
                  <a:pt x="5326327" y="33827"/>
                  <a:pt x="5326327" y="75554"/>
                </a:cubicBezTo>
                <a:lnTo>
                  <a:pt x="5326327" y="1048263"/>
                </a:lnTo>
                <a:cubicBezTo>
                  <a:pt x="5326327" y="1089990"/>
                  <a:pt x="5292500" y="1123817"/>
                  <a:pt x="5250773" y="1123817"/>
                </a:cubicBezTo>
                <a:lnTo>
                  <a:pt x="75554" y="1123817"/>
                </a:lnTo>
                <a:cubicBezTo>
                  <a:pt x="33827" y="1123817"/>
                  <a:pt x="0" y="1089990"/>
                  <a:pt x="0" y="1048263"/>
                </a:cubicBezTo>
                <a:lnTo>
                  <a:pt x="0" y="75554"/>
                </a:lnTo>
                <a:cubicBezTo>
                  <a:pt x="0" y="33827"/>
                  <a:pt x="33827" y="0"/>
                  <a:pt x="75554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25"/>
              <p:cNvSpPr/>
              <p:nvPr/>
            </p:nvSpPr>
            <p:spPr>
              <a:xfrm>
                <a:off x="6396580" y="3352564"/>
                <a:ext cx="5184669" cy="50996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87" i="1" dirty="0">
                          <a:solidFill>
                            <a:srgbClr val="F7FAFC"/>
                          </a:solidFill>
                        </a:rPr>
                        <m:t>R</m:t>
                      </m:r>
                      <m:r>
                        <a:rPr lang="en-US" sz="1487" dirty="0">
                          <a:solidFill>
                            <a:srgbClr val="F7FAFC"/>
                          </a:solidFill>
                        </a:rPr>
                        <m:t>(</m:t>
                      </m:r>
                      <m:r>
                        <a:rPr lang="en-US" sz="1487" i="1" dirty="0">
                          <a:solidFill>
                            <a:srgbClr val="F7FAFC"/>
                          </a:solidFill>
                        </a:rPr>
                        <m:t>θ</m:t>
                      </m:r>
                      <m:r>
                        <a:rPr lang="en-US" sz="1487" dirty="0">
                          <a:solidFill>
                            <a:srgbClr val="F7FAFC"/>
                          </a:solidFill>
                        </a:rPr>
                        <m:t>)</m:t>
                      </m:r>
                      <m:r>
                        <a:rPr lang="en-US" sz="1487" dirty="0">
                          <a:solidFill>
                            <a:srgbClr val="F7FAFC"/>
                          </a:solidFill>
                        </a:rPr>
                        <m:t>=</m:t>
                      </m:r>
                      <m:sSub>
                        <m:sSubPr>
                          <m:ctrlPr>
                            <a:rPr lang="en-US" sz="1000" dirty="0">
                              <a:solidFill>
                                <a:srgbClr val="F7FAFC"/>
                              </a:solidFill>
                            </a:rPr>
                          </m:ctrlPr>
                        </m:sSubPr>
                        <m:e>
                          <m:r>
                            <a:rPr lang="en-US" sz="1000" dirty="0">
                              <a:solidFill>
                                <a:srgbClr val="F7FAFC"/>
                              </a:solidFill>
                            </a:rPr>
                            <m:t>∑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F7FAFC"/>
                              </a:solidFill>
                            </a:rPr>
                            <m:t>j</m:t>
                          </m:r>
                        </m:sub>
                      </m:sSub>
                      <m:sSubSup>
                        <m:sSubSupPr>
                          <m:ctrlPr>
                            <a:rPr lang="en-US" sz="1000" dirty="0">
                              <a:solidFill>
                                <a:srgbClr val="F7FAFC"/>
                              </a:solidFill>
                            </a:rPr>
                          </m:ctrlPr>
                        </m:sSubSupPr>
                        <m:e>
                          <m:r>
                            <a:rPr lang="en-US" sz="1000" i="1" dirty="0">
                              <a:solidFill>
                                <a:srgbClr val="F7FAFC"/>
                              </a:solidFill>
                            </a:rPr>
                            <m:t>θ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F7FAFC"/>
                              </a:solidFill>
                            </a:rPr>
                            <m:t>j</m:t>
                          </m:r>
                        </m:sub>
                        <m:sup>
                          <m:r>
                            <a:rPr lang="en-US" sz="1000" dirty="0">
                              <a:solidFill>
                                <a:srgbClr val="F7FAFC"/>
                              </a:solidFill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" name="Text 25"/>
              <p:cNvSpPr/>
              <p:nvPr/>
            </p:nvSpPr>
            <p:spPr>
              <a:xfrm>
                <a:off x="6396580" y="3352564"/>
                <a:ext cx="5184669" cy="50996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487" dirty="0">
                    <a:solidFill>
                      <a:srgbClr val="F7FAFC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(  R(\theta) = \sum_j \theta_j^2  )</a:t>
                </a:r>
                <a:endParaRPr lang="en-US" sz="1600" dirty="0"/>
              </a:p>
            </p:txBody>
          </p:sp>
        </mc:Fallback>
      </mc:AlternateContent>
      <p:sp>
        <p:nvSpPr>
          <p:cNvPr id="28" name="Shape 26"/>
          <p:cNvSpPr/>
          <p:nvPr/>
        </p:nvSpPr>
        <p:spPr>
          <a:xfrm>
            <a:off x="6321029" y="4283815"/>
            <a:ext cx="5335771" cy="472192"/>
          </a:xfrm>
          <a:custGeom>
            <a:avLst/>
            <a:gdLst/>
            <a:ahLst/>
            <a:cxnLst/>
            <a:rect l="l" t="t" r="r" b="b"/>
            <a:pathLst>
              <a:path w="5335771" h="472192">
                <a:moveTo>
                  <a:pt x="75551" y="0"/>
                </a:moveTo>
                <a:lnTo>
                  <a:pt x="5260220" y="0"/>
                </a:lnTo>
                <a:cubicBezTo>
                  <a:pt x="5301946" y="0"/>
                  <a:pt x="5335771" y="33825"/>
                  <a:pt x="5335771" y="75551"/>
                </a:cubicBezTo>
                <a:lnTo>
                  <a:pt x="5335771" y="396641"/>
                </a:lnTo>
                <a:cubicBezTo>
                  <a:pt x="5335771" y="438367"/>
                  <a:pt x="5301946" y="472192"/>
                  <a:pt x="5260220" y="472192"/>
                </a:cubicBezTo>
                <a:lnTo>
                  <a:pt x="75551" y="472192"/>
                </a:lnTo>
                <a:cubicBezTo>
                  <a:pt x="33853" y="472192"/>
                  <a:pt x="0" y="438339"/>
                  <a:pt x="0" y="396641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718096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34355" y="4397141"/>
            <a:ext cx="5184669" cy="245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作用：</a:t>
            </a:r>
            <a:pPr>
              <a:lnSpc>
                <a:spcPct val="140000"/>
              </a:lnSpc>
            </a:pPr>
            <a:r>
              <a:rPr lang="en-US" sz="1190" dirty="0">
                <a:solidFill>
                  <a:srgbClr val="718096"/>
                </a:solidFill>
                <a:highlight>
                  <a:srgbClr val="718096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权重衰减 </a:t>
            </a:r>
            <a:pPr>
              <a:lnSpc>
                <a:spcPct val="140000"/>
              </a:lnSpc>
            </a:pPr>
            <a:r>
              <a:rPr lang="en-US" sz="119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，让所有特征权重变小但不为0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21029" y="4869333"/>
            <a:ext cx="5335771" cy="472192"/>
          </a:xfrm>
          <a:custGeom>
            <a:avLst/>
            <a:gdLst/>
            <a:ahLst/>
            <a:cxnLst/>
            <a:rect l="l" t="t" r="r" b="b"/>
            <a:pathLst>
              <a:path w="5335771" h="472192">
                <a:moveTo>
                  <a:pt x="75551" y="0"/>
                </a:moveTo>
                <a:lnTo>
                  <a:pt x="5260220" y="0"/>
                </a:lnTo>
                <a:cubicBezTo>
                  <a:pt x="5301946" y="0"/>
                  <a:pt x="5335771" y="33825"/>
                  <a:pt x="5335771" y="75551"/>
                </a:cubicBezTo>
                <a:lnTo>
                  <a:pt x="5335771" y="396641"/>
                </a:lnTo>
                <a:cubicBezTo>
                  <a:pt x="5335771" y="438367"/>
                  <a:pt x="5301946" y="472192"/>
                  <a:pt x="5260220" y="472192"/>
                </a:cubicBezTo>
                <a:lnTo>
                  <a:pt x="75551" y="472192"/>
                </a:lnTo>
                <a:cubicBezTo>
                  <a:pt x="33853" y="472192"/>
                  <a:pt x="0" y="438339"/>
                  <a:pt x="0" y="396641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718096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34355" y="4982660"/>
            <a:ext cx="5184669" cy="245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结果：</a:t>
            </a:r>
            <a:pPr>
              <a:lnSpc>
                <a:spcPct val="140000"/>
              </a:lnSpc>
            </a:pPr>
            <a:r>
              <a:rPr lang="en-US" sz="119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模型更平滑，抗干扰能力更强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21029" y="5454852"/>
            <a:ext cx="5335771" cy="472192"/>
          </a:xfrm>
          <a:custGeom>
            <a:avLst/>
            <a:gdLst/>
            <a:ahLst/>
            <a:cxnLst/>
            <a:rect l="l" t="t" r="r" b="b"/>
            <a:pathLst>
              <a:path w="5335771" h="472192">
                <a:moveTo>
                  <a:pt x="75551" y="0"/>
                </a:moveTo>
                <a:lnTo>
                  <a:pt x="5260220" y="0"/>
                </a:lnTo>
                <a:cubicBezTo>
                  <a:pt x="5301946" y="0"/>
                  <a:pt x="5335771" y="33825"/>
                  <a:pt x="5335771" y="75551"/>
                </a:cubicBezTo>
                <a:lnTo>
                  <a:pt x="5335771" y="396641"/>
                </a:lnTo>
                <a:cubicBezTo>
                  <a:pt x="5335771" y="438367"/>
                  <a:pt x="5301946" y="472192"/>
                  <a:pt x="5260220" y="472192"/>
                </a:cubicBezTo>
                <a:lnTo>
                  <a:pt x="75551" y="472192"/>
                </a:lnTo>
                <a:cubicBezTo>
                  <a:pt x="33853" y="472192"/>
                  <a:pt x="0" y="438339"/>
                  <a:pt x="0" y="396641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718096">
              <a:alpha val="1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34355" y="5568178"/>
            <a:ext cx="5184669" cy="245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几何解释：</a:t>
            </a:r>
            <a:pPr>
              <a:lnSpc>
                <a:spcPct val="140000"/>
              </a:lnSpc>
            </a:pPr>
            <a:r>
              <a:rPr lang="en-US" sz="119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解空间是圆形，等高线易与圆周相切（权重较小但不为0）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2476" y="6233969"/>
            <a:ext cx="11427049" cy="613850"/>
          </a:xfrm>
          <a:custGeom>
            <a:avLst/>
            <a:gdLst/>
            <a:ahLst/>
            <a:cxnLst/>
            <a:rect l="l" t="t" r="r" b="b"/>
            <a:pathLst>
              <a:path w="11427049" h="613850">
                <a:moveTo>
                  <a:pt x="75553" y="0"/>
                </a:moveTo>
                <a:lnTo>
                  <a:pt x="11351496" y="0"/>
                </a:lnTo>
                <a:cubicBezTo>
                  <a:pt x="11393223" y="0"/>
                  <a:pt x="11427049" y="33826"/>
                  <a:pt x="11427049" y="75553"/>
                </a:cubicBezTo>
                <a:lnTo>
                  <a:pt x="11427049" y="538297"/>
                </a:lnTo>
                <a:cubicBezTo>
                  <a:pt x="11427049" y="580024"/>
                  <a:pt x="11393223" y="613850"/>
                  <a:pt x="11351496" y="613850"/>
                </a:cubicBezTo>
                <a:lnTo>
                  <a:pt x="75553" y="613850"/>
                </a:lnTo>
                <a:cubicBezTo>
                  <a:pt x="33826" y="613850"/>
                  <a:pt x="0" y="580024"/>
                  <a:pt x="0" y="538297"/>
                </a:cubicBezTo>
                <a:lnTo>
                  <a:pt x="0" y="75553"/>
                </a:lnTo>
                <a:cubicBezTo>
                  <a:pt x="0" y="33854"/>
                  <a:pt x="33854" y="0"/>
                  <a:pt x="75553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8299" y="6427567"/>
            <a:ext cx="283315" cy="226652"/>
          </a:xfrm>
          <a:custGeom>
            <a:avLst/>
            <a:gdLst/>
            <a:ahLst/>
            <a:cxnLst/>
            <a:rect l="l" t="t" r="r" b="b"/>
            <a:pathLst>
              <a:path w="283315" h="226652">
                <a:moveTo>
                  <a:pt x="169989" y="14166"/>
                </a:moveTo>
                <a:lnTo>
                  <a:pt x="226652" y="14166"/>
                </a:lnTo>
                <a:cubicBezTo>
                  <a:pt x="234488" y="14166"/>
                  <a:pt x="240818" y="20496"/>
                  <a:pt x="240818" y="28332"/>
                </a:cubicBezTo>
                <a:cubicBezTo>
                  <a:pt x="240818" y="36167"/>
                  <a:pt x="234488" y="42497"/>
                  <a:pt x="226652" y="42497"/>
                </a:cubicBezTo>
                <a:lnTo>
                  <a:pt x="176364" y="42497"/>
                </a:lnTo>
                <a:cubicBezTo>
                  <a:pt x="174062" y="53918"/>
                  <a:pt x="166226" y="63348"/>
                  <a:pt x="155823" y="67863"/>
                </a:cubicBezTo>
                <a:lnTo>
                  <a:pt x="155823" y="198321"/>
                </a:lnTo>
                <a:lnTo>
                  <a:pt x="226652" y="198321"/>
                </a:lnTo>
                <a:cubicBezTo>
                  <a:pt x="234488" y="198321"/>
                  <a:pt x="240818" y="204651"/>
                  <a:pt x="240818" y="212486"/>
                </a:cubicBezTo>
                <a:cubicBezTo>
                  <a:pt x="240818" y="220322"/>
                  <a:pt x="234488" y="226652"/>
                  <a:pt x="226652" y="226652"/>
                </a:cubicBezTo>
                <a:lnTo>
                  <a:pt x="56663" y="226652"/>
                </a:lnTo>
                <a:cubicBezTo>
                  <a:pt x="48828" y="226652"/>
                  <a:pt x="42497" y="220322"/>
                  <a:pt x="42497" y="212486"/>
                </a:cubicBezTo>
                <a:cubicBezTo>
                  <a:pt x="42497" y="204651"/>
                  <a:pt x="48828" y="198321"/>
                  <a:pt x="56663" y="198321"/>
                </a:cubicBezTo>
                <a:lnTo>
                  <a:pt x="127492" y="198321"/>
                </a:lnTo>
                <a:lnTo>
                  <a:pt x="127492" y="67863"/>
                </a:lnTo>
                <a:cubicBezTo>
                  <a:pt x="117089" y="63303"/>
                  <a:pt x="109253" y="53874"/>
                  <a:pt x="106952" y="42497"/>
                </a:cubicBezTo>
                <a:lnTo>
                  <a:pt x="56663" y="42497"/>
                </a:lnTo>
                <a:cubicBezTo>
                  <a:pt x="48828" y="42497"/>
                  <a:pt x="42497" y="36167"/>
                  <a:pt x="42497" y="28332"/>
                </a:cubicBezTo>
                <a:cubicBezTo>
                  <a:pt x="42497" y="20496"/>
                  <a:pt x="48828" y="14166"/>
                  <a:pt x="56663" y="14166"/>
                </a:cubicBezTo>
                <a:lnTo>
                  <a:pt x="113326" y="14166"/>
                </a:lnTo>
                <a:cubicBezTo>
                  <a:pt x="119789" y="5578"/>
                  <a:pt x="130059" y="0"/>
                  <a:pt x="141658" y="0"/>
                </a:cubicBezTo>
                <a:cubicBezTo>
                  <a:pt x="153256" y="0"/>
                  <a:pt x="163526" y="5578"/>
                  <a:pt x="169989" y="14166"/>
                </a:cubicBezTo>
                <a:close/>
                <a:moveTo>
                  <a:pt x="194602" y="141658"/>
                </a:moveTo>
                <a:lnTo>
                  <a:pt x="258702" y="141658"/>
                </a:lnTo>
                <a:lnTo>
                  <a:pt x="226652" y="86677"/>
                </a:lnTo>
                <a:lnTo>
                  <a:pt x="194602" y="141658"/>
                </a:lnTo>
                <a:close/>
                <a:moveTo>
                  <a:pt x="226652" y="184155"/>
                </a:moveTo>
                <a:cubicBezTo>
                  <a:pt x="198808" y="184155"/>
                  <a:pt x="175655" y="169104"/>
                  <a:pt x="170875" y="149227"/>
                </a:cubicBezTo>
                <a:cubicBezTo>
                  <a:pt x="169724" y="144358"/>
                  <a:pt x="171317" y="139356"/>
                  <a:pt x="173840" y="135017"/>
                </a:cubicBezTo>
                <a:lnTo>
                  <a:pt x="215984" y="62772"/>
                </a:lnTo>
                <a:cubicBezTo>
                  <a:pt x="218197" y="58965"/>
                  <a:pt x="222270" y="56663"/>
                  <a:pt x="226652" y="56663"/>
                </a:cubicBezTo>
                <a:cubicBezTo>
                  <a:pt x="231035" y="56663"/>
                  <a:pt x="235107" y="59009"/>
                  <a:pt x="237321" y="62772"/>
                </a:cubicBezTo>
                <a:lnTo>
                  <a:pt x="279464" y="135017"/>
                </a:lnTo>
                <a:cubicBezTo>
                  <a:pt x="281987" y="139356"/>
                  <a:pt x="283581" y="144358"/>
                  <a:pt x="282430" y="149227"/>
                </a:cubicBezTo>
                <a:cubicBezTo>
                  <a:pt x="277649" y="169060"/>
                  <a:pt x="254497" y="184155"/>
                  <a:pt x="226652" y="184155"/>
                </a:cubicBezTo>
                <a:close/>
                <a:moveTo>
                  <a:pt x="56132" y="86677"/>
                </a:moveTo>
                <a:lnTo>
                  <a:pt x="24082" y="141658"/>
                </a:lnTo>
                <a:lnTo>
                  <a:pt x="88226" y="141658"/>
                </a:lnTo>
                <a:lnTo>
                  <a:pt x="56132" y="86677"/>
                </a:lnTo>
                <a:close/>
                <a:moveTo>
                  <a:pt x="398" y="149227"/>
                </a:moveTo>
                <a:cubicBezTo>
                  <a:pt x="-753" y="144358"/>
                  <a:pt x="841" y="139356"/>
                  <a:pt x="3364" y="135017"/>
                </a:cubicBezTo>
                <a:lnTo>
                  <a:pt x="45508" y="62772"/>
                </a:lnTo>
                <a:cubicBezTo>
                  <a:pt x="47721" y="58965"/>
                  <a:pt x="51794" y="56663"/>
                  <a:pt x="56176" y="56663"/>
                </a:cubicBezTo>
                <a:cubicBezTo>
                  <a:pt x="60559" y="56663"/>
                  <a:pt x="64631" y="59009"/>
                  <a:pt x="66845" y="62772"/>
                </a:cubicBezTo>
                <a:lnTo>
                  <a:pt x="108988" y="135017"/>
                </a:lnTo>
                <a:cubicBezTo>
                  <a:pt x="111511" y="139356"/>
                  <a:pt x="113105" y="144358"/>
                  <a:pt x="111954" y="149227"/>
                </a:cubicBezTo>
                <a:cubicBezTo>
                  <a:pt x="107173" y="169060"/>
                  <a:pt x="84021" y="184155"/>
                  <a:pt x="56176" y="184155"/>
                </a:cubicBezTo>
                <a:cubicBezTo>
                  <a:pt x="28332" y="184155"/>
                  <a:pt x="5179" y="169104"/>
                  <a:pt x="398" y="149227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36" name="Text 34"/>
          <p:cNvSpPr/>
          <p:nvPr/>
        </p:nvSpPr>
        <p:spPr>
          <a:xfrm>
            <a:off x="934940" y="6432289"/>
            <a:ext cx="934940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统一形式：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985125" y="6380348"/>
            <a:ext cx="6718261" cy="32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5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$J(\theta)_{final} = J(\theta)_{original} + \lambda \cdot R(\theta)$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D69E2E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无监督学习基础：发现数据的内在结构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没有标签，目标是从数据中发现隐藏的模式、结构或分组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76350"/>
            <a:ext cx="5638800" cy="5200650"/>
          </a:xfrm>
          <a:custGeom>
            <a:avLst/>
            <a:gdLst/>
            <a:ahLst/>
            <a:cxnLst/>
            <a:rect l="l" t="t" r="r" b="b"/>
            <a:pathLst>
              <a:path w="5638800" h="520065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5124460"/>
                </a:lnTo>
                <a:cubicBezTo>
                  <a:pt x="5638800" y="5166539"/>
                  <a:pt x="5604689" y="5200650"/>
                  <a:pt x="5562610" y="5200650"/>
                </a:cubicBezTo>
                <a:lnTo>
                  <a:pt x="76190" y="5200650"/>
                </a:lnTo>
                <a:cubicBezTo>
                  <a:pt x="34111" y="5200650"/>
                  <a:pt x="0" y="5166539"/>
                  <a:pt x="0" y="512446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2763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7" name="Shape 5"/>
          <p:cNvSpPr/>
          <p:nvPr/>
        </p:nvSpPr>
        <p:spPr>
          <a:xfrm>
            <a:off x="666750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8" name="Text 6"/>
          <p:cNvSpPr/>
          <p:nvPr/>
        </p:nvSpPr>
        <p:spPr>
          <a:xfrm>
            <a:off x="1104900" y="1524000"/>
            <a:ext cx="2305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聚类分析 (Clustering)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3400" y="2057400"/>
            <a:ext cx="5334000" cy="723900"/>
          </a:xfrm>
          <a:custGeom>
            <a:avLst/>
            <a:gdLst/>
            <a:ahLst/>
            <a:cxnLst/>
            <a:rect l="l" t="t" r="r" b="b"/>
            <a:pathLst>
              <a:path w="5334000" h="723900">
                <a:moveTo>
                  <a:pt x="76198" y="0"/>
                </a:moveTo>
                <a:lnTo>
                  <a:pt x="5257802" y="0"/>
                </a:lnTo>
                <a:cubicBezTo>
                  <a:pt x="5299857" y="0"/>
                  <a:pt x="5334000" y="34143"/>
                  <a:pt x="5334000" y="76198"/>
                </a:cubicBezTo>
                <a:lnTo>
                  <a:pt x="5334000" y="647702"/>
                </a:lnTo>
                <a:cubicBezTo>
                  <a:pt x="5334000" y="689757"/>
                  <a:pt x="5299857" y="723900"/>
                  <a:pt x="52578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7700" y="217170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依据样本间的相似性，将数据自动划分为若干簇，使得同一簇内相似，不同簇间相异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8163" y="2938463"/>
            <a:ext cx="5324475" cy="1419225"/>
          </a:xfrm>
          <a:custGeom>
            <a:avLst/>
            <a:gdLst/>
            <a:ahLst/>
            <a:cxnLst/>
            <a:rect l="l" t="t" r="r" b="b"/>
            <a:pathLst>
              <a:path w="5324475" h="1419225">
                <a:moveTo>
                  <a:pt x="76198" y="0"/>
                </a:moveTo>
                <a:lnTo>
                  <a:pt x="5248277" y="0"/>
                </a:lnTo>
                <a:cubicBezTo>
                  <a:pt x="5290360" y="0"/>
                  <a:pt x="5324475" y="34115"/>
                  <a:pt x="5324475" y="76198"/>
                </a:cubicBezTo>
                <a:lnTo>
                  <a:pt x="5324475" y="1343027"/>
                </a:lnTo>
                <a:cubicBezTo>
                  <a:pt x="5324475" y="1385110"/>
                  <a:pt x="5290360" y="1419225"/>
                  <a:pt x="5248277" y="1419225"/>
                </a:cubicBezTo>
                <a:lnTo>
                  <a:pt x="76198" y="1419225"/>
                </a:lnTo>
                <a:cubicBezTo>
                  <a:pt x="34115" y="1419225"/>
                  <a:pt x="0" y="1385110"/>
                  <a:pt x="0" y="13430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275" y="31146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4534" y="-387"/>
                </a:moveTo>
                <a:cubicBezTo>
                  <a:pt x="79385" y="-3364"/>
                  <a:pt x="73015" y="-3364"/>
                  <a:pt x="67866" y="-387"/>
                </a:cubicBezTo>
                <a:lnTo>
                  <a:pt x="42803" y="14079"/>
                </a:lnTo>
                <a:cubicBezTo>
                  <a:pt x="37654" y="17056"/>
                  <a:pt x="34469" y="22562"/>
                  <a:pt x="34469" y="28515"/>
                </a:cubicBezTo>
                <a:lnTo>
                  <a:pt x="34469" y="58847"/>
                </a:lnTo>
                <a:lnTo>
                  <a:pt x="8186" y="74027"/>
                </a:lnTo>
                <a:cubicBezTo>
                  <a:pt x="3036" y="77004"/>
                  <a:pt x="-149" y="82510"/>
                  <a:pt x="-149" y="88463"/>
                </a:cubicBezTo>
                <a:lnTo>
                  <a:pt x="-149" y="117425"/>
                </a:lnTo>
                <a:cubicBezTo>
                  <a:pt x="-149" y="123379"/>
                  <a:pt x="3036" y="128885"/>
                  <a:pt x="8186" y="131862"/>
                </a:cubicBezTo>
                <a:lnTo>
                  <a:pt x="33278" y="146328"/>
                </a:lnTo>
                <a:cubicBezTo>
                  <a:pt x="38427" y="149304"/>
                  <a:pt x="44797" y="149304"/>
                  <a:pt x="49947" y="146328"/>
                </a:cubicBezTo>
                <a:lnTo>
                  <a:pt x="76230" y="131147"/>
                </a:lnTo>
                <a:lnTo>
                  <a:pt x="102513" y="146328"/>
                </a:lnTo>
                <a:cubicBezTo>
                  <a:pt x="107662" y="149304"/>
                  <a:pt x="114032" y="149304"/>
                  <a:pt x="119182" y="146328"/>
                </a:cubicBezTo>
                <a:lnTo>
                  <a:pt x="144214" y="131862"/>
                </a:lnTo>
                <a:cubicBezTo>
                  <a:pt x="149364" y="128885"/>
                  <a:pt x="152549" y="123379"/>
                  <a:pt x="152549" y="117425"/>
                </a:cubicBezTo>
                <a:lnTo>
                  <a:pt x="152549" y="88463"/>
                </a:lnTo>
                <a:cubicBezTo>
                  <a:pt x="152549" y="82510"/>
                  <a:pt x="149364" y="77004"/>
                  <a:pt x="144214" y="74027"/>
                </a:cubicBezTo>
                <a:lnTo>
                  <a:pt x="117931" y="58847"/>
                </a:lnTo>
                <a:lnTo>
                  <a:pt x="117931" y="28515"/>
                </a:lnTo>
                <a:cubicBezTo>
                  <a:pt x="117931" y="22562"/>
                  <a:pt x="114746" y="17056"/>
                  <a:pt x="109597" y="14079"/>
                </a:cubicBezTo>
                <a:lnTo>
                  <a:pt x="84534" y="-387"/>
                </a:lnTo>
                <a:close/>
                <a:moveTo>
                  <a:pt x="69056" y="87094"/>
                </a:moveTo>
                <a:lnTo>
                  <a:pt x="69056" y="118795"/>
                </a:lnTo>
                <a:lnTo>
                  <a:pt x="42773" y="133975"/>
                </a:lnTo>
                <a:cubicBezTo>
                  <a:pt x="42416" y="134183"/>
                  <a:pt x="41999" y="134303"/>
                  <a:pt x="41583" y="134303"/>
                </a:cubicBezTo>
                <a:lnTo>
                  <a:pt x="41583" y="102959"/>
                </a:lnTo>
                <a:lnTo>
                  <a:pt x="69056" y="87094"/>
                </a:lnTo>
                <a:close/>
                <a:moveTo>
                  <a:pt x="137934" y="87273"/>
                </a:moveTo>
                <a:cubicBezTo>
                  <a:pt x="138142" y="87630"/>
                  <a:pt x="138261" y="88047"/>
                  <a:pt x="138261" y="88463"/>
                </a:cubicBezTo>
                <a:lnTo>
                  <a:pt x="138261" y="117425"/>
                </a:lnTo>
                <a:cubicBezTo>
                  <a:pt x="138261" y="118289"/>
                  <a:pt x="137815" y="119063"/>
                  <a:pt x="137071" y="119479"/>
                </a:cubicBezTo>
                <a:lnTo>
                  <a:pt x="111978" y="133945"/>
                </a:lnTo>
                <a:cubicBezTo>
                  <a:pt x="111621" y="134154"/>
                  <a:pt x="111204" y="134273"/>
                  <a:pt x="110788" y="134273"/>
                </a:cubicBezTo>
                <a:lnTo>
                  <a:pt x="110788" y="102930"/>
                </a:lnTo>
                <a:lnTo>
                  <a:pt x="137934" y="87273"/>
                </a:lnTo>
                <a:close/>
                <a:moveTo>
                  <a:pt x="103674" y="28515"/>
                </a:moveTo>
                <a:lnTo>
                  <a:pt x="103674" y="58847"/>
                </a:lnTo>
                <a:lnTo>
                  <a:pt x="76200" y="74712"/>
                </a:lnTo>
                <a:lnTo>
                  <a:pt x="76200" y="43011"/>
                </a:lnTo>
                <a:lnTo>
                  <a:pt x="103346" y="27355"/>
                </a:lnTo>
                <a:cubicBezTo>
                  <a:pt x="103555" y="27712"/>
                  <a:pt x="103674" y="28129"/>
                  <a:pt x="103674" y="28545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13" name="Text 11"/>
          <p:cNvSpPr/>
          <p:nvPr/>
        </p:nvSpPr>
        <p:spPr>
          <a:xfrm>
            <a:off x="923925" y="3057525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K-Means 算法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225" y="3400425"/>
            <a:ext cx="516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思想：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随机选K个中心点，迭代分配点到最近中心，再重新计算中心位置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7225" y="3724275"/>
            <a:ext cx="516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损失函数：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最小化簇内平方和（WCSS）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7225" y="4048125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💡 比喻：把一堆珠子分成K堆，每堆找中心代表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8163" y="4519613"/>
            <a:ext cx="5324475" cy="1152525"/>
          </a:xfrm>
          <a:custGeom>
            <a:avLst/>
            <a:gdLst/>
            <a:ahLst/>
            <a:cxnLst/>
            <a:rect l="l" t="t" r="r" b="b"/>
            <a:pathLst>
              <a:path w="5324475" h="1152525">
                <a:moveTo>
                  <a:pt x="76205" y="0"/>
                </a:moveTo>
                <a:lnTo>
                  <a:pt x="5248270" y="0"/>
                </a:lnTo>
                <a:cubicBezTo>
                  <a:pt x="5290357" y="0"/>
                  <a:pt x="5324475" y="34118"/>
                  <a:pt x="5324475" y="76205"/>
                </a:cubicBezTo>
                <a:lnTo>
                  <a:pt x="5324475" y="1076320"/>
                </a:lnTo>
                <a:cubicBezTo>
                  <a:pt x="5324475" y="1118407"/>
                  <a:pt x="5290357" y="1152525"/>
                  <a:pt x="5248270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5325" y="46958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23813" y="42863"/>
                </a:moveTo>
                <a:cubicBezTo>
                  <a:pt x="36955" y="42863"/>
                  <a:pt x="47625" y="32192"/>
                  <a:pt x="47625" y="19050"/>
                </a:cubicBezTo>
                <a:cubicBezTo>
                  <a:pt x="47625" y="5908"/>
                  <a:pt x="36955" y="-4762"/>
                  <a:pt x="23813" y="-4762"/>
                </a:cubicBezTo>
                <a:cubicBezTo>
                  <a:pt x="10670" y="-4762"/>
                  <a:pt x="0" y="5908"/>
                  <a:pt x="0" y="19050"/>
                </a:cubicBezTo>
                <a:cubicBezTo>
                  <a:pt x="0" y="32192"/>
                  <a:pt x="10670" y="42863"/>
                  <a:pt x="23812" y="42863"/>
                </a:cubicBezTo>
                <a:close/>
                <a:moveTo>
                  <a:pt x="23813" y="100013"/>
                </a:moveTo>
                <a:cubicBezTo>
                  <a:pt x="36955" y="100013"/>
                  <a:pt x="47625" y="89342"/>
                  <a:pt x="47625" y="76200"/>
                </a:cubicBezTo>
                <a:cubicBezTo>
                  <a:pt x="47625" y="63058"/>
                  <a:pt x="36955" y="52388"/>
                  <a:pt x="23813" y="52388"/>
                </a:cubicBezTo>
                <a:cubicBezTo>
                  <a:pt x="10670" y="52388"/>
                  <a:pt x="0" y="63058"/>
                  <a:pt x="0" y="76200"/>
                </a:cubicBezTo>
                <a:cubicBezTo>
                  <a:pt x="0" y="89342"/>
                  <a:pt x="10670" y="100013"/>
                  <a:pt x="23812" y="100013"/>
                </a:cubicBezTo>
                <a:close/>
                <a:moveTo>
                  <a:pt x="23813" y="140494"/>
                </a:moveTo>
                <a:cubicBezTo>
                  <a:pt x="19854" y="140494"/>
                  <a:pt x="16669" y="137309"/>
                  <a:pt x="16669" y="133350"/>
                </a:cubicBezTo>
                <a:cubicBezTo>
                  <a:pt x="16669" y="129391"/>
                  <a:pt x="19854" y="126206"/>
                  <a:pt x="23813" y="126206"/>
                </a:cubicBezTo>
                <a:cubicBezTo>
                  <a:pt x="27771" y="126206"/>
                  <a:pt x="30956" y="129391"/>
                  <a:pt x="30956" y="133350"/>
                </a:cubicBezTo>
                <a:cubicBezTo>
                  <a:pt x="30956" y="137309"/>
                  <a:pt x="27771" y="140494"/>
                  <a:pt x="23813" y="140494"/>
                </a:cubicBezTo>
                <a:close/>
                <a:moveTo>
                  <a:pt x="23813" y="157163"/>
                </a:moveTo>
                <a:cubicBezTo>
                  <a:pt x="36969" y="157163"/>
                  <a:pt x="47625" y="146506"/>
                  <a:pt x="47625" y="133350"/>
                </a:cubicBezTo>
                <a:cubicBezTo>
                  <a:pt x="47625" y="120194"/>
                  <a:pt x="36969" y="109537"/>
                  <a:pt x="23813" y="109537"/>
                </a:cubicBezTo>
                <a:cubicBezTo>
                  <a:pt x="10656" y="109537"/>
                  <a:pt x="0" y="120194"/>
                  <a:pt x="0" y="133350"/>
                </a:cubicBezTo>
                <a:cubicBezTo>
                  <a:pt x="0" y="146506"/>
                  <a:pt x="10656" y="157163"/>
                  <a:pt x="23813" y="157163"/>
                </a:cubicBezTo>
                <a:close/>
                <a:moveTo>
                  <a:pt x="97631" y="133350"/>
                </a:moveTo>
                <a:cubicBezTo>
                  <a:pt x="97631" y="137309"/>
                  <a:pt x="94446" y="140494"/>
                  <a:pt x="90488" y="140494"/>
                </a:cubicBezTo>
                <a:cubicBezTo>
                  <a:pt x="86529" y="140494"/>
                  <a:pt x="83344" y="137309"/>
                  <a:pt x="83344" y="133350"/>
                </a:cubicBezTo>
                <a:cubicBezTo>
                  <a:pt x="83344" y="129391"/>
                  <a:pt x="86529" y="126206"/>
                  <a:pt x="90488" y="126206"/>
                </a:cubicBezTo>
                <a:cubicBezTo>
                  <a:pt x="94446" y="126206"/>
                  <a:pt x="97631" y="129391"/>
                  <a:pt x="97631" y="133350"/>
                </a:cubicBezTo>
                <a:close/>
                <a:moveTo>
                  <a:pt x="114300" y="133350"/>
                </a:moveTo>
                <a:cubicBezTo>
                  <a:pt x="114300" y="120194"/>
                  <a:pt x="103644" y="109537"/>
                  <a:pt x="90488" y="109537"/>
                </a:cubicBezTo>
                <a:cubicBezTo>
                  <a:pt x="77331" y="109537"/>
                  <a:pt x="66675" y="120194"/>
                  <a:pt x="66675" y="133350"/>
                </a:cubicBezTo>
                <a:cubicBezTo>
                  <a:pt x="66675" y="146506"/>
                  <a:pt x="77331" y="157163"/>
                  <a:pt x="90488" y="157163"/>
                </a:cubicBezTo>
                <a:cubicBezTo>
                  <a:pt x="103644" y="157163"/>
                  <a:pt x="114300" y="146506"/>
                  <a:pt x="114300" y="133350"/>
                </a:cubicBezTo>
                <a:close/>
                <a:moveTo>
                  <a:pt x="90488" y="69056"/>
                </a:moveTo>
                <a:cubicBezTo>
                  <a:pt x="94430" y="69056"/>
                  <a:pt x="97631" y="72257"/>
                  <a:pt x="97631" y="76200"/>
                </a:cubicBezTo>
                <a:cubicBezTo>
                  <a:pt x="97631" y="80143"/>
                  <a:pt x="94430" y="83344"/>
                  <a:pt x="90488" y="83344"/>
                </a:cubicBezTo>
                <a:cubicBezTo>
                  <a:pt x="86545" y="83344"/>
                  <a:pt x="83344" y="80143"/>
                  <a:pt x="83344" y="76200"/>
                </a:cubicBezTo>
                <a:cubicBezTo>
                  <a:pt x="83344" y="72257"/>
                  <a:pt x="86545" y="69056"/>
                  <a:pt x="90488" y="69056"/>
                </a:cubicBezTo>
                <a:close/>
                <a:moveTo>
                  <a:pt x="90488" y="100013"/>
                </a:moveTo>
                <a:cubicBezTo>
                  <a:pt x="103630" y="100013"/>
                  <a:pt x="114300" y="89342"/>
                  <a:pt x="114300" y="76200"/>
                </a:cubicBezTo>
                <a:cubicBezTo>
                  <a:pt x="114300" y="63058"/>
                  <a:pt x="103630" y="52388"/>
                  <a:pt x="90488" y="52388"/>
                </a:cubicBezTo>
                <a:cubicBezTo>
                  <a:pt x="77345" y="52388"/>
                  <a:pt x="66675" y="63058"/>
                  <a:pt x="66675" y="76200"/>
                </a:cubicBezTo>
                <a:cubicBezTo>
                  <a:pt x="66675" y="89342"/>
                  <a:pt x="77345" y="100013"/>
                  <a:pt x="90488" y="100013"/>
                </a:cubicBezTo>
                <a:close/>
                <a:moveTo>
                  <a:pt x="90488" y="42863"/>
                </a:moveTo>
                <a:cubicBezTo>
                  <a:pt x="103630" y="42863"/>
                  <a:pt x="114300" y="32192"/>
                  <a:pt x="114300" y="19050"/>
                </a:cubicBezTo>
                <a:cubicBezTo>
                  <a:pt x="114300" y="5908"/>
                  <a:pt x="103630" y="-4762"/>
                  <a:pt x="90488" y="-4762"/>
                </a:cubicBezTo>
                <a:cubicBezTo>
                  <a:pt x="77345" y="-4762"/>
                  <a:pt x="66675" y="5908"/>
                  <a:pt x="66675" y="19050"/>
                </a:cubicBezTo>
                <a:cubicBezTo>
                  <a:pt x="66675" y="32192"/>
                  <a:pt x="77345" y="42863"/>
                  <a:pt x="90488" y="42863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19" name="Text 17"/>
          <p:cNvSpPr/>
          <p:nvPr/>
        </p:nvSpPr>
        <p:spPr>
          <a:xfrm>
            <a:off x="923925" y="4638675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DBSCAN 算法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7225" y="4981575"/>
            <a:ext cx="516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思想：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基于密度进行聚类，发现任意形状簇，识别噪声点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7225" y="5305425"/>
            <a:ext cx="516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核心概念：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核心点、边界点、噪声点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2200" y="1276350"/>
            <a:ext cx="5638800" cy="5200650"/>
          </a:xfrm>
          <a:custGeom>
            <a:avLst/>
            <a:gdLst/>
            <a:ahLst/>
            <a:cxnLst/>
            <a:rect l="l" t="t" r="r" b="b"/>
            <a:pathLst>
              <a:path w="5638800" h="520065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5124460"/>
                </a:lnTo>
                <a:cubicBezTo>
                  <a:pt x="5638800" y="5166539"/>
                  <a:pt x="5604689" y="5200650"/>
                  <a:pt x="5562610" y="5200650"/>
                </a:cubicBezTo>
                <a:lnTo>
                  <a:pt x="76190" y="5200650"/>
                </a:lnTo>
                <a:cubicBezTo>
                  <a:pt x="34111" y="5200650"/>
                  <a:pt x="0" y="5166539"/>
                  <a:pt x="0" y="512446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72200" y="12763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24" name="Shape 22"/>
          <p:cNvSpPr/>
          <p:nvPr/>
        </p:nvSpPr>
        <p:spPr>
          <a:xfrm>
            <a:off x="63246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25" name="Shape 23"/>
          <p:cNvSpPr/>
          <p:nvPr/>
        </p:nvSpPr>
        <p:spPr>
          <a:xfrm>
            <a:off x="6457950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9664" y="83344"/>
                </a:moveTo>
                <a:lnTo>
                  <a:pt x="116086" y="83344"/>
                </a:lnTo>
                <a:cubicBezTo>
                  <a:pt x="111137" y="83344"/>
                  <a:pt x="107156" y="79363"/>
                  <a:pt x="107156" y="74414"/>
                </a:cubicBezTo>
                <a:lnTo>
                  <a:pt x="107156" y="20836"/>
                </a:lnTo>
                <a:cubicBezTo>
                  <a:pt x="107156" y="17227"/>
                  <a:pt x="109314" y="13953"/>
                  <a:pt x="112663" y="12576"/>
                </a:cubicBezTo>
                <a:cubicBezTo>
                  <a:pt x="116012" y="11199"/>
                  <a:pt x="119844" y="11981"/>
                  <a:pt x="122411" y="14511"/>
                </a:cubicBezTo>
                <a:lnTo>
                  <a:pt x="137294" y="29394"/>
                </a:lnTo>
                <a:lnTo>
                  <a:pt x="164604" y="2084"/>
                </a:lnTo>
                <a:cubicBezTo>
                  <a:pt x="165943" y="744"/>
                  <a:pt x="167767" y="0"/>
                  <a:pt x="169664" y="0"/>
                </a:cubicBezTo>
                <a:cubicBezTo>
                  <a:pt x="171562" y="0"/>
                  <a:pt x="173385" y="744"/>
                  <a:pt x="174761" y="2121"/>
                </a:cubicBezTo>
                <a:lnTo>
                  <a:pt x="188416" y="15776"/>
                </a:lnTo>
                <a:cubicBezTo>
                  <a:pt x="189756" y="17115"/>
                  <a:pt x="190500" y="18938"/>
                  <a:pt x="190500" y="20836"/>
                </a:cubicBezTo>
                <a:cubicBezTo>
                  <a:pt x="190500" y="22733"/>
                  <a:pt x="189756" y="24557"/>
                  <a:pt x="188379" y="25933"/>
                </a:cubicBezTo>
                <a:lnTo>
                  <a:pt x="161106" y="53206"/>
                </a:lnTo>
                <a:lnTo>
                  <a:pt x="175989" y="68089"/>
                </a:lnTo>
                <a:cubicBezTo>
                  <a:pt x="178557" y="70656"/>
                  <a:pt x="179301" y="74488"/>
                  <a:pt x="177924" y="77837"/>
                </a:cubicBezTo>
                <a:cubicBezTo>
                  <a:pt x="176547" y="81186"/>
                  <a:pt x="173273" y="83344"/>
                  <a:pt x="169664" y="83344"/>
                </a:cubicBezTo>
                <a:close/>
                <a:moveTo>
                  <a:pt x="169664" y="107156"/>
                </a:moveTo>
                <a:cubicBezTo>
                  <a:pt x="173273" y="107156"/>
                  <a:pt x="176547" y="109314"/>
                  <a:pt x="177924" y="112663"/>
                </a:cubicBezTo>
                <a:cubicBezTo>
                  <a:pt x="179301" y="116012"/>
                  <a:pt x="178557" y="119844"/>
                  <a:pt x="175989" y="122411"/>
                </a:cubicBezTo>
                <a:lnTo>
                  <a:pt x="161106" y="137294"/>
                </a:lnTo>
                <a:lnTo>
                  <a:pt x="188416" y="164604"/>
                </a:lnTo>
                <a:cubicBezTo>
                  <a:pt x="189756" y="165943"/>
                  <a:pt x="190537" y="167767"/>
                  <a:pt x="190537" y="169701"/>
                </a:cubicBezTo>
                <a:cubicBezTo>
                  <a:pt x="190537" y="171636"/>
                  <a:pt x="189793" y="173422"/>
                  <a:pt x="188416" y="174799"/>
                </a:cubicBezTo>
                <a:lnTo>
                  <a:pt x="174761" y="188454"/>
                </a:lnTo>
                <a:cubicBezTo>
                  <a:pt x="173385" y="189756"/>
                  <a:pt x="171562" y="190500"/>
                  <a:pt x="169664" y="190500"/>
                </a:cubicBezTo>
                <a:cubicBezTo>
                  <a:pt x="167767" y="190500"/>
                  <a:pt x="165943" y="189756"/>
                  <a:pt x="164567" y="188379"/>
                </a:cubicBezTo>
                <a:lnTo>
                  <a:pt x="137294" y="161106"/>
                </a:lnTo>
                <a:lnTo>
                  <a:pt x="122411" y="175989"/>
                </a:lnTo>
                <a:cubicBezTo>
                  <a:pt x="119844" y="178557"/>
                  <a:pt x="116012" y="179301"/>
                  <a:pt x="112663" y="177924"/>
                </a:cubicBezTo>
                <a:cubicBezTo>
                  <a:pt x="109314" y="176547"/>
                  <a:pt x="107156" y="173273"/>
                  <a:pt x="107156" y="169664"/>
                </a:cubicBezTo>
                <a:lnTo>
                  <a:pt x="107156" y="116086"/>
                </a:lnTo>
                <a:cubicBezTo>
                  <a:pt x="107156" y="111137"/>
                  <a:pt x="111137" y="107156"/>
                  <a:pt x="116086" y="107156"/>
                </a:cubicBezTo>
                <a:lnTo>
                  <a:pt x="169664" y="107156"/>
                </a:lnTo>
                <a:close/>
                <a:moveTo>
                  <a:pt x="74414" y="107156"/>
                </a:moveTo>
                <a:cubicBezTo>
                  <a:pt x="79363" y="107156"/>
                  <a:pt x="83344" y="111137"/>
                  <a:pt x="83344" y="116086"/>
                </a:cubicBezTo>
                <a:lnTo>
                  <a:pt x="83344" y="169664"/>
                </a:lnTo>
                <a:cubicBezTo>
                  <a:pt x="83344" y="173273"/>
                  <a:pt x="81186" y="176547"/>
                  <a:pt x="77837" y="177924"/>
                </a:cubicBezTo>
                <a:cubicBezTo>
                  <a:pt x="74488" y="179301"/>
                  <a:pt x="70656" y="178557"/>
                  <a:pt x="68089" y="175989"/>
                </a:cubicBezTo>
                <a:lnTo>
                  <a:pt x="53206" y="161106"/>
                </a:lnTo>
                <a:lnTo>
                  <a:pt x="25896" y="188416"/>
                </a:lnTo>
                <a:cubicBezTo>
                  <a:pt x="24557" y="189756"/>
                  <a:pt x="22733" y="190500"/>
                  <a:pt x="20836" y="190500"/>
                </a:cubicBezTo>
                <a:cubicBezTo>
                  <a:pt x="18938" y="190500"/>
                  <a:pt x="17115" y="189756"/>
                  <a:pt x="15739" y="188379"/>
                </a:cubicBezTo>
                <a:lnTo>
                  <a:pt x="2121" y="174761"/>
                </a:lnTo>
                <a:cubicBezTo>
                  <a:pt x="744" y="173385"/>
                  <a:pt x="0" y="171562"/>
                  <a:pt x="0" y="169664"/>
                </a:cubicBezTo>
                <a:cubicBezTo>
                  <a:pt x="0" y="167767"/>
                  <a:pt x="744" y="165943"/>
                  <a:pt x="2121" y="164567"/>
                </a:cubicBezTo>
                <a:lnTo>
                  <a:pt x="29394" y="137294"/>
                </a:lnTo>
                <a:lnTo>
                  <a:pt x="14511" y="122411"/>
                </a:lnTo>
                <a:cubicBezTo>
                  <a:pt x="11943" y="119844"/>
                  <a:pt x="11199" y="116012"/>
                  <a:pt x="12576" y="112663"/>
                </a:cubicBezTo>
                <a:cubicBezTo>
                  <a:pt x="13953" y="109314"/>
                  <a:pt x="17227" y="107156"/>
                  <a:pt x="20836" y="107156"/>
                </a:cubicBezTo>
                <a:lnTo>
                  <a:pt x="74414" y="107156"/>
                </a:lnTo>
                <a:close/>
                <a:moveTo>
                  <a:pt x="20836" y="83344"/>
                </a:moveTo>
                <a:cubicBezTo>
                  <a:pt x="17227" y="83344"/>
                  <a:pt x="13953" y="81186"/>
                  <a:pt x="12576" y="77837"/>
                </a:cubicBezTo>
                <a:cubicBezTo>
                  <a:pt x="11199" y="74488"/>
                  <a:pt x="11981" y="70656"/>
                  <a:pt x="14511" y="68089"/>
                </a:cubicBezTo>
                <a:lnTo>
                  <a:pt x="29394" y="53206"/>
                </a:lnTo>
                <a:lnTo>
                  <a:pt x="2121" y="25933"/>
                </a:lnTo>
                <a:cubicBezTo>
                  <a:pt x="744" y="24557"/>
                  <a:pt x="0" y="22733"/>
                  <a:pt x="0" y="20836"/>
                </a:cubicBezTo>
                <a:cubicBezTo>
                  <a:pt x="0" y="18938"/>
                  <a:pt x="744" y="17115"/>
                  <a:pt x="2121" y="15739"/>
                </a:cubicBezTo>
                <a:lnTo>
                  <a:pt x="15739" y="2121"/>
                </a:lnTo>
                <a:cubicBezTo>
                  <a:pt x="17115" y="744"/>
                  <a:pt x="18938" y="0"/>
                  <a:pt x="20836" y="0"/>
                </a:cubicBezTo>
                <a:cubicBezTo>
                  <a:pt x="22733" y="0"/>
                  <a:pt x="24557" y="744"/>
                  <a:pt x="25933" y="2121"/>
                </a:cubicBezTo>
                <a:lnTo>
                  <a:pt x="53206" y="29394"/>
                </a:lnTo>
                <a:lnTo>
                  <a:pt x="68089" y="14511"/>
                </a:lnTo>
                <a:cubicBezTo>
                  <a:pt x="70656" y="11943"/>
                  <a:pt x="74488" y="11199"/>
                  <a:pt x="77837" y="12576"/>
                </a:cubicBezTo>
                <a:cubicBezTo>
                  <a:pt x="81186" y="13953"/>
                  <a:pt x="83344" y="17227"/>
                  <a:pt x="83344" y="20836"/>
                </a:cubicBezTo>
                <a:lnTo>
                  <a:pt x="83344" y="74414"/>
                </a:lnTo>
                <a:cubicBezTo>
                  <a:pt x="83344" y="79363"/>
                  <a:pt x="79363" y="83344"/>
                  <a:pt x="74414" y="83344"/>
                </a:cubicBezTo>
                <a:lnTo>
                  <a:pt x="20836" y="83344"/>
                </a:ln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6" name="Text 24"/>
          <p:cNvSpPr/>
          <p:nvPr/>
        </p:nvSpPr>
        <p:spPr>
          <a:xfrm>
            <a:off x="6896100" y="1524000"/>
            <a:ext cx="3438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降维 (Dimensionality Reduction)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24600" y="2057400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76200" y="0"/>
                </a:moveTo>
                <a:lnTo>
                  <a:pt x="5257800" y="0"/>
                </a:lnTo>
                <a:cubicBezTo>
                  <a:pt x="5299856" y="0"/>
                  <a:pt x="5334000" y="34144"/>
                  <a:pt x="5334000" y="76200"/>
                </a:cubicBezTo>
                <a:lnTo>
                  <a:pt x="5334000" y="400050"/>
                </a:lnTo>
                <a:cubicBezTo>
                  <a:pt x="5334000" y="442106"/>
                  <a:pt x="5299856" y="476250"/>
                  <a:pt x="5257800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18096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38900" y="2171700"/>
            <a:ext cx="518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将高维数据映射到低维空间，同时尽可能保留原始数据的重要信息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29363" y="2690813"/>
            <a:ext cx="5324475" cy="1419225"/>
          </a:xfrm>
          <a:custGeom>
            <a:avLst/>
            <a:gdLst/>
            <a:ahLst/>
            <a:cxnLst/>
            <a:rect l="l" t="t" r="r" b="b"/>
            <a:pathLst>
              <a:path w="5324475" h="1419225">
                <a:moveTo>
                  <a:pt x="76198" y="0"/>
                </a:moveTo>
                <a:lnTo>
                  <a:pt x="5248277" y="0"/>
                </a:lnTo>
                <a:cubicBezTo>
                  <a:pt x="5290360" y="0"/>
                  <a:pt x="5324475" y="34115"/>
                  <a:pt x="5324475" y="76198"/>
                </a:cubicBezTo>
                <a:lnTo>
                  <a:pt x="5324475" y="1343027"/>
                </a:lnTo>
                <a:cubicBezTo>
                  <a:pt x="5324475" y="1385110"/>
                  <a:pt x="5290360" y="1419225"/>
                  <a:pt x="5248277" y="1419225"/>
                </a:cubicBezTo>
                <a:lnTo>
                  <a:pt x="76198" y="1419225"/>
                </a:lnTo>
                <a:cubicBezTo>
                  <a:pt x="34115" y="1419225"/>
                  <a:pt x="0" y="1385110"/>
                  <a:pt x="0" y="13430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67475" y="2867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71438" y="28575"/>
                </a:moveTo>
                <a:cubicBezTo>
                  <a:pt x="73432" y="28575"/>
                  <a:pt x="75337" y="29408"/>
                  <a:pt x="76706" y="30897"/>
                </a:cubicBezTo>
                <a:lnTo>
                  <a:pt x="97869" y="53965"/>
                </a:lnTo>
                <a:lnTo>
                  <a:pt x="111621" y="40184"/>
                </a:lnTo>
                <a:cubicBezTo>
                  <a:pt x="114419" y="37386"/>
                  <a:pt x="118943" y="37386"/>
                  <a:pt x="121712" y="40184"/>
                </a:cubicBezTo>
                <a:lnTo>
                  <a:pt x="140762" y="59234"/>
                </a:lnTo>
                <a:cubicBezTo>
                  <a:pt x="142101" y="60573"/>
                  <a:pt x="142845" y="62389"/>
                  <a:pt x="142845" y="64294"/>
                </a:cubicBezTo>
                <a:lnTo>
                  <a:pt x="142845" y="97631"/>
                </a:lnTo>
                <a:cubicBezTo>
                  <a:pt x="142845" y="101590"/>
                  <a:pt x="139660" y="104775"/>
                  <a:pt x="135701" y="104775"/>
                </a:cubicBezTo>
                <a:lnTo>
                  <a:pt x="45214" y="104775"/>
                </a:lnTo>
                <a:cubicBezTo>
                  <a:pt x="41255" y="104775"/>
                  <a:pt x="38070" y="101590"/>
                  <a:pt x="38070" y="97631"/>
                </a:cubicBezTo>
                <a:lnTo>
                  <a:pt x="38070" y="64294"/>
                </a:lnTo>
                <a:cubicBezTo>
                  <a:pt x="38070" y="62508"/>
                  <a:pt x="38755" y="60781"/>
                  <a:pt x="39945" y="59472"/>
                </a:cubicBezTo>
                <a:lnTo>
                  <a:pt x="66139" y="30897"/>
                </a:lnTo>
                <a:cubicBezTo>
                  <a:pt x="67479" y="29408"/>
                  <a:pt x="69413" y="28575"/>
                  <a:pt x="71408" y="28575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31" name="Text 29"/>
          <p:cNvSpPr/>
          <p:nvPr/>
        </p:nvSpPr>
        <p:spPr>
          <a:xfrm>
            <a:off x="6715125" y="2809875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主成分分析 (PCA)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48425" y="3152775"/>
            <a:ext cx="516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思想：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找到数据方差最大的方向（主成分），将数据投影到这些方向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48425" y="3476625"/>
            <a:ext cx="516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数学本质：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求解协方差矩阵的特征值和特征向量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48425" y="3800475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💡 比喻：从不同角度给三维物体拍照，找最佳拍摄角度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29363" y="4271963"/>
            <a:ext cx="5324475" cy="1152525"/>
          </a:xfrm>
          <a:custGeom>
            <a:avLst/>
            <a:gdLst/>
            <a:ahLst/>
            <a:cxnLst/>
            <a:rect l="l" t="t" r="r" b="b"/>
            <a:pathLst>
              <a:path w="5324475" h="1152525">
                <a:moveTo>
                  <a:pt x="76205" y="0"/>
                </a:moveTo>
                <a:lnTo>
                  <a:pt x="5248270" y="0"/>
                </a:lnTo>
                <a:cubicBezTo>
                  <a:pt x="5290357" y="0"/>
                  <a:pt x="5324475" y="34118"/>
                  <a:pt x="5324475" y="76205"/>
                </a:cubicBezTo>
                <a:lnTo>
                  <a:pt x="5324475" y="1076320"/>
                </a:lnTo>
                <a:cubicBezTo>
                  <a:pt x="5324475" y="1118407"/>
                  <a:pt x="5290357" y="1152525"/>
                  <a:pt x="5248270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57950" y="44481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7" name="Text 35"/>
          <p:cNvSpPr/>
          <p:nvPr/>
        </p:nvSpPr>
        <p:spPr>
          <a:xfrm>
            <a:off x="6715125" y="4391025"/>
            <a:ext cx="552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t-SNE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48425" y="4733925"/>
            <a:ext cx="516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思想：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特别适合高维数据的可视化，保持局部结构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48425" y="5057775"/>
            <a:ext cx="5162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手写数字、词向量等高维数据的可视化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40e8bf0b0eb4c40f60a5f66b1b99a268bf43c178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34238" b="3423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1A202C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445294"/>
            <a:ext cx="1323975" cy="876300"/>
          </a:xfrm>
          <a:custGeom>
            <a:avLst/>
            <a:gdLst/>
            <a:ahLst/>
            <a:cxnLst/>
            <a:rect l="l" t="t" r="r" b="b"/>
            <a:pathLst>
              <a:path w="1323975" h="876300">
                <a:moveTo>
                  <a:pt x="0" y="0"/>
                </a:moveTo>
                <a:lnTo>
                  <a:pt x="1323975" y="0"/>
                </a:lnTo>
                <a:lnTo>
                  <a:pt x="1323975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445294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6" name="Text 3"/>
          <p:cNvSpPr/>
          <p:nvPr/>
        </p:nvSpPr>
        <p:spPr>
          <a:xfrm>
            <a:off x="723900" y="473869"/>
            <a:ext cx="982414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626394"/>
            <a:ext cx="76581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数据工程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2788444"/>
            <a:ext cx="74866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7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数据决定上限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3726656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71809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0" name="Shape 7"/>
          <p:cNvSpPr/>
          <p:nvPr/>
        </p:nvSpPr>
        <p:spPr>
          <a:xfrm>
            <a:off x="400050" y="4183856"/>
            <a:ext cx="7296150" cy="1619250"/>
          </a:xfrm>
          <a:custGeom>
            <a:avLst/>
            <a:gdLst/>
            <a:ahLst/>
            <a:cxnLst/>
            <a:rect l="l" t="t" r="r" b="b"/>
            <a:pathLst>
              <a:path w="7296150" h="1619250">
                <a:moveTo>
                  <a:pt x="38100" y="0"/>
                </a:moveTo>
                <a:lnTo>
                  <a:pt x="7219948" y="0"/>
                </a:lnTo>
                <a:cubicBezTo>
                  <a:pt x="7262033" y="0"/>
                  <a:pt x="7296150" y="34117"/>
                  <a:pt x="7296150" y="76202"/>
                </a:cubicBezTo>
                <a:lnTo>
                  <a:pt x="7296150" y="1543048"/>
                </a:lnTo>
                <a:cubicBezTo>
                  <a:pt x="7296150" y="1585133"/>
                  <a:pt x="7262033" y="1619250"/>
                  <a:pt x="7219948" y="1619250"/>
                </a:cubicBezTo>
                <a:lnTo>
                  <a:pt x="38100" y="1619250"/>
                </a:lnTo>
                <a:cubicBezTo>
                  <a:pt x="17072" y="1619250"/>
                  <a:pt x="0" y="1602178"/>
                  <a:pt x="0" y="1581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00050" y="4183856"/>
            <a:ext cx="38100" cy="1619250"/>
          </a:xfrm>
          <a:custGeom>
            <a:avLst/>
            <a:gdLst/>
            <a:ahLst/>
            <a:cxnLst/>
            <a:rect l="l" t="t" r="r" b="b"/>
            <a:pathLst>
              <a:path w="38100" h="1619250">
                <a:moveTo>
                  <a:pt x="38100" y="0"/>
                </a:moveTo>
                <a:lnTo>
                  <a:pt x="38100" y="0"/>
                </a:lnTo>
                <a:lnTo>
                  <a:pt x="38100" y="1619250"/>
                </a:lnTo>
                <a:lnTo>
                  <a:pt x="38100" y="1619250"/>
                </a:lnTo>
                <a:cubicBezTo>
                  <a:pt x="17072" y="1619250"/>
                  <a:pt x="0" y="1602178"/>
                  <a:pt x="0" y="1581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12" name="Text 9"/>
          <p:cNvSpPr/>
          <p:nvPr/>
        </p:nvSpPr>
        <p:spPr>
          <a:xfrm>
            <a:off x="723900" y="4412456"/>
            <a:ext cx="6781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"数据和特征决定了机器学习的上限，而模型和算法只是逼近这个上限。"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8175" y="5307806"/>
            <a:ext cx="6753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—— 业界名言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36959" y="6117431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558" y="246515"/>
                </a:moveTo>
                <a:cubicBezTo>
                  <a:pt x="3070" y="258682"/>
                  <a:pt x="13841" y="267891"/>
                  <a:pt x="26789" y="267891"/>
                </a:cubicBezTo>
                <a:lnTo>
                  <a:pt x="223242" y="267891"/>
                </a:lnTo>
                <a:cubicBezTo>
                  <a:pt x="238032" y="267891"/>
                  <a:pt x="250031" y="255891"/>
                  <a:pt x="250031" y="241102"/>
                </a:cubicBezTo>
                <a:lnTo>
                  <a:pt x="250031" y="187523"/>
                </a:lnTo>
                <a:cubicBezTo>
                  <a:pt x="250031" y="172734"/>
                  <a:pt x="238032" y="160734"/>
                  <a:pt x="223242" y="160734"/>
                </a:cubicBezTo>
                <a:lnTo>
                  <a:pt x="196453" y="160734"/>
                </a:lnTo>
                <a:lnTo>
                  <a:pt x="196453" y="200918"/>
                </a:lnTo>
                <a:cubicBezTo>
                  <a:pt x="196453" y="208341"/>
                  <a:pt x="190481" y="214313"/>
                  <a:pt x="183059" y="214313"/>
                </a:cubicBezTo>
                <a:cubicBezTo>
                  <a:pt x="175636" y="214313"/>
                  <a:pt x="169664" y="208341"/>
                  <a:pt x="169664" y="200918"/>
                </a:cubicBezTo>
                <a:lnTo>
                  <a:pt x="169664" y="160734"/>
                </a:lnTo>
                <a:lnTo>
                  <a:pt x="133945" y="160734"/>
                </a:lnTo>
                <a:lnTo>
                  <a:pt x="133945" y="200918"/>
                </a:lnTo>
                <a:cubicBezTo>
                  <a:pt x="133945" y="208341"/>
                  <a:pt x="127974" y="214313"/>
                  <a:pt x="120551" y="214313"/>
                </a:cubicBezTo>
                <a:cubicBezTo>
                  <a:pt x="113128" y="214313"/>
                  <a:pt x="107156" y="208341"/>
                  <a:pt x="107156" y="200918"/>
                </a:cubicBezTo>
                <a:lnTo>
                  <a:pt x="107156" y="160734"/>
                </a:lnTo>
                <a:lnTo>
                  <a:pt x="66973" y="160734"/>
                </a:lnTo>
                <a:cubicBezTo>
                  <a:pt x="59550" y="160734"/>
                  <a:pt x="53578" y="154763"/>
                  <a:pt x="53578" y="147340"/>
                </a:cubicBezTo>
                <a:cubicBezTo>
                  <a:pt x="53578" y="139917"/>
                  <a:pt x="59550" y="133945"/>
                  <a:pt x="66973" y="133945"/>
                </a:cubicBezTo>
                <a:lnTo>
                  <a:pt x="107156" y="133945"/>
                </a:lnTo>
                <a:lnTo>
                  <a:pt x="107156" y="98227"/>
                </a:lnTo>
                <a:lnTo>
                  <a:pt x="66973" y="98227"/>
                </a:lnTo>
                <a:cubicBezTo>
                  <a:pt x="59550" y="98227"/>
                  <a:pt x="53578" y="92255"/>
                  <a:pt x="53578" y="84832"/>
                </a:cubicBezTo>
                <a:cubicBezTo>
                  <a:pt x="53578" y="77409"/>
                  <a:pt x="59550" y="71438"/>
                  <a:pt x="66973" y="71438"/>
                </a:cubicBezTo>
                <a:lnTo>
                  <a:pt x="107156" y="71438"/>
                </a:lnTo>
                <a:lnTo>
                  <a:pt x="107156" y="44648"/>
                </a:lnTo>
                <a:cubicBezTo>
                  <a:pt x="107156" y="29859"/>
                  <a:pt x="95157" y="17859"/>
                  <a:pt x="80367" y="17859"/>
                </a:cubicBezTo>
                <a:lnTo>
                  <a:pt x="26789" y="17859"/>
                </a:lnTo>
                <a:cubicBezTo>
                  <a:pt x="11999" y="17859"/>
                  <a:pt x="0" y="29859"/>
                  <a:pt x="0" y="44648"/>
                </a:cubicBezTo>
                <a:lnTo>
                  <a:pt x="0" y="241102"/>
                </a:lnTo>
                <a:cubicBezTo>
                  <a:pt x="0" y="242943"/>
                  <a:pt x="167" y="244785"/>
                  <a:pt x="558" y="246515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15" name="Text 12"/>
          <p:cNvSpPr/>
          <p:nvPr/>
        </p:nvSpPr>
        <p:spPr>
          <a:xfrm>
            <a:off x="890588" y="6107906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特征缩放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903116" y="6117431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01364" y="670"/>
                </a:moveTo>
                <a:cubicBezTo>
                  <a:pt x="191877" y="-2065"/>
                  <a:pt x="181998" y="3460"/>
                  <a:pt x="179263" y="12948"/>
                </a:cubicBezTo>
                <a:lnTo>
                  <a:pt x="107826" y="262979"/>
                </a:lnTo>
                <a:cubicBezTo>
                  <a:pt x="105091" y="272467"/>
                  <a:pt x="110617" y="282346"/>
                  <a:pt x="120104" y="285080"/>
                </a:cubicBezTo>
                <a:cubicBezTo>
                  <a:pt x="129592" y="287815"/>
                  <a:pt x="139471" y="282290"/>
                  <a:pt x="142205" y="272802"/>
                </a:cubicBezTo>
                <a:lnTo>
                  <a:pt x="213643" y="22771"/>
                </a:lnTo>
                <a:cubicBezTo>
                  <a:pt x="216377" y="13283"/>
                  <a:pt x="210852" y="3404"/>
                  <a:pt x="201364" y="670"/>
                </a:cubicBezTo>
                <a:close/>
                <a:moveTo>
                  <a:pt x="237418" y="76628"/>
                </a:moveTo>
                <a:cubicBezTo>
                  <a:pt x="230442" y="83604"/>
                  <a:pt x="230442" y="94934"/>
                  <a:pt x="237418" y="101910"/>
                </a:cubicBezTo>
                <a:lnTo>
                  <a:pt x="278383" y="142875"/>
                </a:lnTo>
                <a:lnTo>
                  <a:pt x="237418" y="183840"/>
                </a:lnTo>
                <a:cubicBezTo>
                  <a:pt x="230442" y="190816"/>
                  <a:pt x="230442" y="202146"/>
                  <a:pt x="237418" y="209122"/>
                </a:cubicBezTo>
                <a:cubicBezTo>
                  <a:pt x="244394" y="216098"/>
                  <a:pt x="255724" y="216098"/>
                  <a:pt x="262700" y="209122"/>
                </a:cubicBezTo>
                <a:lnTo>
                  <a:pt x="316278" y="155544"/>
                </a:lnTo>
                <a:cubicBezTo>
                  <a:pt x="323255" y="148568"/>
                  <a:pt x="323255" y="137238"/>
                  <a:pt x="316278" y="130262"/>
                </a:cubicBezTo>
                <a:lnTo>
                  <a:pt x="262700" y="76684"/>
                </a:lnTo>
                <a:cubicBezTo>
                  <a:pt x="255724" y="69707"/>
                  <a:pt x="244394" y="69707"/>
                  <a:pt x="237418" y="76684"/>
                </a:cubicBezTo>
                <a:close/>
                <a:moveTo>
                  <a:pt x="84106" y="76628"/>
                </a:moveTo>
                <a:cubicBezTo>
                  <a:pt x="77130" y="69652"/>
                  <a:pt x="65801" y="69652"/>
                  <a:pt x="58824" y="76628"/>
                </a:cubicBezTo>
                <a:lnTo>
                  <a:pt x="5246" y="130206"/>
                </a:lnTo>
                <a:cubicBezTo>
                  <a:pt x="-1730" y="137182"/>
                  <a:pt x="-1730" y="148512"/>
                  <a:pt x="5246" y="155488"/>
                </a:cubicBezTo>
                <a:lnTo>
                  <a:pt x="58824" y="209066"/>
                </a:lnTo>
                <a:cubicBezTo>
                  <a:pt x="65801" y="216043"/>
                  <a:pt x="77130" y="216043"/>
                  <a:pt x="84106" y="209066"/>
                </a:cubicBezTo>
                <a:cubicBezTo>
                  <a:pt x="91083" y="202090"/>
                  <a:pt x="91083" y="190760"/>
                  <a:pt x="84106" y="183784"/>
                </a:cubicBezTo>
                <a:lnTo>
                  <a:pt x="43142" y="142875"/>
                </a:lnTo>
                <a:lnTo>
                  <a:pt x="84051" y="101910"/>
                </a:lnTo>
                <a:cubicBezTo>
                  <a:pt x="91027" y="94934"/>
                  <a:pt x="91027" y="83604"/>
                  <a:pt x="84051" y="76628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17" name="Text 14"/>
          <p:cNvSpPr/>
          <p:nvPr/>
        </p:nvSpPr>
        <p:spPr>
          <a:xfrm>
            <a:off x="3392463" y="6107906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特征编码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22850" y="611743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25363" y="19199"/>
                </a:moveTo>
                <a:cubicBezTo>
                  <a:pt x="232060" y="16408"/>
                  <a:pt x="239706" y="17971"/>
                  <a:pt x="244841" y="23050"/>
                </a:cubicBezTo>
                <a:lnTo>
                  <a:pt x="280560" y="58769"/>
                </a:lnTo>
                <a:cubicBezTo>
                  <a:pt x="283908" y="62117"/>
                  <a:pt x="285806" y="66638"/>
                  <a:pt x="285806" y="71382"/>
                </a:cubicBezTo>
                <a:cubicBezTo>
                  <a:pt x="285806" y="76126"/>
                  <a:pt x="283908" y="80646"/>
                  <a:pt x="280560" y="83995"/>
                </a:cubicBezTo>
                <a:lnTo>
                  <a:pt x="244841" y="119714"/>
                </a:lnTo>
                <a:cubicBezTo>
                  <a:pt x="239706" y="124848"/>
                  <a:pt x="232060" y="126355"/>
                  <a:pt x="225363" y="123565"/>
                </a:cubicBezTo>
                <a:cubicBezTo>
                  <a:pt x="218666" y="120774"/>
                  <a:pt x="214313" y="114356"/>
                  <a:pt x="214313" y="107156"/>
                </a:cubicBezTo>
                <a:lnTo>
                  <a:pt x="214313" y="89297"/>
                </a:lnTo>
                <a:lnTo>
                  <a:pt x="196453" y="89297"/>
                </a:lnTo>
                <a:cubicBezTo>
                  <a:pt x="190816" y="89297"/>
                  <a:pt x="185514" y="91920"/>
                  <a:pt x="182166" y="96441"/>
                </a:cubicBezTo>
                <a:lnTo>
                  <a:pt x="164083" y="120551"/>
                </a:lnTo>
                <a:lnTo>
                  <a:pt x="141759" y="90804"/>
                </a:lnTo>
                <a:lnTo>
                  <a:pt x="153591" y="75009"/>
                </a:lnTo>
                <a:cubicBezTo>
                  <a:pt x="163692" y="61503"/>
                  <a:pt x="179598" y="53578"/>
                  <a:pt x="196453" y="53578"/>
                </a:cubicBezTo>
                <a:lnTo>
                  <a:pt x="214313" y="53578"/>
                </a:lnTo>
                <a:lnTo>
                  <a:pt x="214313" y="35719"/>
                </a:lnTo>
                <a:cubicBezTo>
                  <a:pt x="214313" y="28519"/>
                  <a:pt x="218666" y="21989"/>
                  <a:pt x="225363" y="19199"/>
                </a:cubicBezTo>
                <a:close/>
                <a:moveTo>
                  <a:pt x="85948" y="165199"/>
                </a:moveTo>
                <a:lnTo>
                  <a:pt x="108272" y="194946"/>
                </a:lnTo>
                <a:lnTo>
                  <a:pt x="96441" y="210741"/>
                </a:lnTo>
                <a:cubicBezTo>
                  <a:pt x="86339" y="224247"/>
                  <a:pt x="70433" y="232172"/>
                  <a:pt x="53578" y="232172"/>
                </a:cubicBezTo>
                <a:lnTo>
                  <a:pt x="17859" y="232172"/>
                </a:lnTo>
                <a:cubicBezTo>
                  <a:pt x="7981" y="232172"/>
                  <a:pt x="0" y="224191"/>
                  <a:pt x="0" y="214313"/>
                </a:cubicBezTo>
                <a:cubicBezTo>
                  <a:pt x="0" y="204434"/>
                  <a:pt x="7981" y="196453"/>
                  <a:pt x="17859" y="196453"/>
                </a:cubicBezTo>
                <a:lnTo>
                  <a:pt x="53578" y="196453"/>
                </a:lnTo>
                <a:cubicBezTo>
                  <a:pt x="59215" y="196453"/>
                  <a:pt x="64517" y="193830"/>
                  <a:pt x="67866" y="189309"/>
                </a:cubicBezTo>
                <a:lnTo>
                  <a:pt x="85948" y="165199"/>
                </a:lnTo>
                <a:close/>
                <a:moveTo>
                  <a:pt x="244785" y="262644"/>
                </a:moveTo>
                <a:cubicBezTo>
                  <a:pt x="239650" y="267779"/>
                  <a:pt x="232004" y="269286"/>
                  <a:pt x="225307" y="266495"/>
                </a:cubicBezTo>
                <a:cubicBezTo>
                  <a:pt x="218610" y="263705"/>
                  <a:pt x="214313" y="257231"/>
                  <a:pt x="214313" y="250031"/>
                </a:cubicBezTo>
                <a:lnTo>
                  <a:pt x="214313" y="232172"/>
                </a:lnTo>
                <a:lnTo>
                  <a:pt x="196453" y="232172"/>
                </a:lnTo>
                <a:cubicBezTo>
                  <a:pt x="179598" y="232172"/>
                  <a:pt x="163692" y="224247"/>
                  <a:pt x="153591" y="210741"/>
                </a:cubicBezTo>
                <a:lnTo>
                  <a:pt x="67866" y="96441"/>
                </a:lnTo>
                <a:cubicBezTo>
                  <a:pt x="64517" y="91920"/>
                  <a:pt x="59215" y="89297"/>
                  <a:pt x="53578" y="89297"/>
                </a:cubicBezTo>
                <a:lnTo>
                  <a:pt x="17859" y="89297"/>
                </a:lnTo>
                <a:cubicBezTo>
                  <a:pt x="7981" y="89297"/>
                  <a:pt x="0" y="81316"/>
                  <a:pt x="0" y="71438"/>
                </a:cubicBezTo>
                <a:cubicBezTo>
                  <a:pt x="0" y="61559"/>
                  <a:pt x="7981" y="53578"/>
                  <a:pt x="17859" y="53578"/>
                </a:cubicBezTo>
                <a:lnTo>
                  <a:pt x="53578" y="53578"/>
                </a:lnTo>
                <a:cubicBezTo>
                  <a:pt x="70433" y="53578"/>
                  <a:pt x="86339" y="61503"/>
                  <a:pt x="96441" y="75009"/>
                </a:cubicBezTo>
                <a:lnTo>
                  <a:pt x="182166" y="189309"/>
                </a:lnTo>
                <a:cubicBezTo>
                  <a:pt x="185514" y="193830"/>
                  <a:pt x="190816" y="196453"/>
                  <a:pt x="196453" y="196453"/>
                </a:cubicBezTo>
                <a:lnTo>
                  <a:pt x="214313" y="196453"/>
                </a:lnTo>
                <a:lnTo>
                  <a:pt x="214313" y="178594"/>
                </a:lnTo>
                <a:cubicBezTo>
                  <a:pt x="214313" y="171394"/>
                  <a:pt x="218666" y="164864"/>
                  <a:pt x="225363" y="162074"/>
                </a:cubicBezTo>
                <a:cubicBezTo>
                  <a:pt x="232060" y="159283"/>
                  <a:pt x="239706" y="160846"/>
                  <a:pt x="244841" y="165925"/>
                </a:cubicBezTo>
                <a:lnTo>
                  <a:pt x="280560" y="201644"/>
                </a:lnTo>
                <a:cubicBezTo>
                  <a:pt x="283908" y="204992"/>
                  <a:pt x="285806" y="209513"/>
                  <a:pt x="285806" y="214257"/>
                </a:cubicBezTo>
                <a:cubicBezTo>
                  <a:pt x="285806" y="219001"/>
                  <a:pt x="283908" y="223521"/>
                  <a:pt x="280560" y="226870"/>
                </a:cubicBezTo>
                <a:lnTo>
                  <a:pt x="244841" y="262589"/>
                </a:ln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19" name="Text 16"/>
          <p:cNvSpPr/>
          <p:nvPr/>
        </p:nvSpPr>
        <p:spPr>
          <a:xfrm>
            <a:off x="5894338" y="6107906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数据划分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D69E2E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特征缩放：为什么需要缩放？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将数值特征统一尺度，提升训练稳定性与模型可比性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5619750" cy="1181100"/>
          </a:xfrm>
          <a:custGeom>
            <a:avLst/>
            <a:gdLst/>
            <a:ahLst/>
            <a:cxnLst/>
            <a:rect l="l" t="t" r="r" b="b"/>
            <a:pathLst>
              <a:path w="5619750" h="1181100">
                <a:moveTo>
                  <a:pt x="38100" y="0"/>
                </a:moveTo>
                <a:lnTo>
                  <a:pt x="5543545" y="0"/>
                </a:lnTo>
                <a:cubicBezTo>
                  <a:pt x="5585604" y="0"/>
                  <a:pt x="5619750" y="34146"/>
                  <a:pt x="5619750" y="76205"/>
                </a:cubicBezTo>
                <a:lnTo>
                  <a:pt x="5619750" y="1104895"/>
                </a:lnTo>
                <a:cubicBezTo>
                  <a:pt x="5619750" y="1146982"/>
                  <a:pt x="5585632" y="1181100"/>
                  <a:pt x="554354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6" name="Shape 4"/>
          <p:cNvSpPr/>
          <p:nvPr/>
        </p:nvSpPr>
        <p:spPr>
          <a:xfrm>
            <a:off x="614363" y="14287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523" y="-14287"/>
                </a:moveTo>
                <a:cubicBezTo>
                  <a:pt x="128323" y="-14287"/>
                  <a:pt x="139526" y="-3084"/>
                  <a:pt x="139526" y="10716"/>
                </a:cubicBezTo>
                <a:cubicBezTo>
                  <a:pt x="139526" y="24515"/>
                  <a:pt x="128323" y="35719"/>
                  <a:pt x="114523" y="35719"/>
                </a:cubicBezTo>
                <a:cubicBezTo>
                  <a:pt x="100724" y="35719"/>
                  <a:pt x="89520" y="24515"/>
                  <a:pt x="89520" y="10716"/>
                </a:cubicBezTo>
                <a:cubicBezTo>
                  <a:pt x="89520" y="-3084"/>
                  <a:pt x="100724" y="-14287"/>
                  <a:pt x="114523" y="-14287"/>
                </a:cubicBezTo>
                <a:close/>
                <a:moveTo>
                  <a:pt x="55185" y="78581"/>
                </a:moveTo>
                <a:cubicBezTo>
                  <a:pt x="53712" y="78581"/>
                  <a:pt x="52417" y="79474"/>
                  <a:pt x="51881" y="80814"/>
                </a:cubicBezTo>
                <a:lnTo>
                  <a:pt x="42059" y="105326"/>
                </a:lnTo>
                <a:cubicBezTo>
                  <a:pt x="39112" y="112648"/>
                  <a:pt x="30807" y="116220"/>
                  <a:pt x="23485" y="113273"/>
                </a:cubicBezTo>
                <a:cubicBezTo>
                  <a:pt x="16163" y="110326"/>
                  <a:pt x="12591" y="102022"/>
                  <a:pt x="15538" y="94699"/>
                </a:cubicBezTo>
                <a:lnTo>
                  <a:pt x="25316" y="70187"/>
                </a:lnTo>
                <a:cubicBezTo>
                  <a:pt x="30227" y="57998"/>
                  <a:pt x="42014" y="50006"/>
                  <a:pt x="55185" y="50006"/>
                </a:cubicBezTo>
                <a:lnTo>
                  <a:pt x="98628" y="50006"/>
                </a:lnTo>
                <a:cubicBezTo>
                  <a:pt x="111353" y="50006"/>
                  <a:pt x="123096" y="56748"/>
                  <a:pt x="129480" y="67732"/>
                </a:cubicBezTo>
                <a:lnTo>
                  <a:pt x="144125" y="92869"/>
                </a:lnTo>
                <a:lnTo>
                  <a:pt x="171629" y="92869"/>
                </a:lnTo>
                <a:cubicBezTo>
                  <a:pt x="179531" y="92869"/>
                  <a:pt x="185916" y="99253"/>
                  <a:pt x="185916" y="107156"/>
                </a:cubicBezTo>
                <a:cubicBezTo>
                  <a:pt x="185916" y="115059"/>
                  <a:pt x="179531" y="121444"/>
                  <a:pt x="171629" y="121444"/>
                </a:cubicBezTo>
                <a:lnTo>
                  <a:pt x="144125" y="121444"/>
                </a:lnTo>
                <a:cubicBezTo>
                  <a:pt x="133945" y="121444"/>
                  <a:pt x="124569" y="116041"/>
                  <a:pt x="119435" y="107246"/>
                </a:cubicBezTo>
                <a:lnTo>
                  <a:pt x="114970" y="99611"/>
                </a:lnTo>
                <a:lnTo>
                  <a:pt x="105728" y="131043"/>
                </a:lnTo>
                <a:lnTo>
                  <a:pt x="139392" y="141134"/>
                </a:lnTo>
                <a:cubicBezTo>
                  <a:pt x="151760" y="144840"/>
                  <a:pt x="158055" y="158547"/>
                  <a:pt x="152832" y="170378"/>
                </a:cubicBezTo>
                <a:lnTo>
                  <a:pt x="127561" y="227261"/>
                </a:lnTo>
                <a:cubicBezTo>
                  <a:pt x="124346" y="234494"/>
                  <a:pt x="115907" y="237708"/>
                  <a:pt x="108719" y="234494"/>
                </a:cubicBezTo>
                <a:cubicBezTo>
                  <a:pt x="101531" y="231279"/>
                  <a:pt x="98271" y="222840"/>
                  <a:pt x="101486" y="215652"/>
                </a:cubicBezTo>
                <a:lnTo>
                  <a:pt x="123453" y="166181"/>
                </a:lnTo>
                <a:lnTo>
                  <a:pt x="80635" y="153323"/>
                </a:lnTo>
                <a:cubicBezTo>
                  <a:pt x="66035" y="148947"/>
                  <a:pt x="57418" y="133811"/>
                  <a:pt x="61124" y="119033"/>
                </a:cubicBezTo>
                <a:lnTo>
                  <a:pt x="71259" y="78581"/>
                </a:lnTo>
                <a:lnTo>
                  <a:pt x="55230" y="78581"/>
                </a:lnTo>
                <a:close/>
                <a:moveTo>
                  <a:pt x="51614" y="159395"/>
                </a:moveTo>
                <a:cubicBezTo>
                  <a:pt x="57552" y="166048"/>
                  <a:pt x="65321" y="171137"/>
                  <a:pt x="74474" y="173861"/>
                </a:cubicBezTo>
                <a:lnTo>
                  <a:pt x="76572" y="174486"/>
                </a:lnTo>
                <a:lnTo>
                  <a:pt x="73491" y="183103"/>
                </a:lnTo>
                <a:cubicBezTo>
                  <a:pt x="70902" y="190381"/>
                  <a:pt x="66348" y="196855"/>
                  <a:pt x="60409" y="201766"/>
                </a:cubicBezTo>
                <a:lnTo>
                  <a:pt x="23619" y="232083"/>
                </a:lnTo>
                <a:cubicBezTo>
                  <a:pt x="17547" y="237083"/>
                  <a:pt x="8528" y="236235"/>
                  <a:pt x="3527" y="230163"/>
                </a:cubicBezTo>
                <a:cubicBezTo>
                  <a:pt x="-1473" y="224091"/>
                  <a:pt x="-625" y="215072"/>
                  <a:pt x="5447" y="210071"/>
                </a:cubicBezTo>
                <a:lnTo>
                  <a:pt x="42237" y="179755"/>
                </a:lnTo>
                <a:cubicBezTo>
                  <a:pt x="44247" y="178103"/>
                  <a:pt x="45720" y="175959"/>
                  <a:pt x="46613" y="173548"/>
                </a:cubicBezTo>
                <a:lnTo>
                  <a:pt x="51614" y="159395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7" name="Text 5"/>
          <p:cNvSpPr/>
          <p:nvPr/>
        </p:nvSpPr>
        <p:spPr>
          <a:xfrm>
            <a:off x="971550" y="140970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加速收敛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179070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对于梯度下降，特征尺度差异大会导致损失函数等高线呈扁长椭圆，梯度下降路线"之"字形震荡，收敛缓慢。缩放后等高线更接近圆形，收敛更快。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1250" y="1257300"/>
            <a:ext cx="5619750" cy="1181100"/>
          </a:xfrm>
          <a:custGeom>
            <a:avLst/>
            <a:gdLst/>
            <a:ahLst/>
            <a:cxnLst/>
            <a:rect l="l" t="t" r="r" b="b"/>
            <a:pathLst>
              <a:path w="5619750" h="1181100">
                <a:moveTo>
                  <a:pt x="38100" y="0"/>
                </a:moveTo>
                <a:lnTo>
                  <a:pt x="5543545" y="0"/>
                </a:lnTo>
                <a:cubicBezTo>
                  <a:pt x="5585604" y="0"/>
                  <a:pt x="5619750" y="34146"/>
                  <a:pt x="5619750" y="76205"/>
                </a:cubicBezTo>
                <a:lnTo>
                  <a:pt x="5619750" y="1104895"/>
                </a:lnTo>
                <a:cubicBezTo>
                  <a:pt x="5619750" y="1146982"/>
                  <a:pt x="5585632" y="1181100"/>
                  <a:pt x="554354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191250" y="12573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11" name="Shape 9"/>
          <p:cNvSpPr/>
          <p:nvPr/>
        </p:nvSpPr>
        <p:spPr>
          <a:xfrm>
            <a:off x="6376988" y="14287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171450"/>
                </a:moveTo>
                <a:cubicBezTo>
                  <a:pt x="9599" y="171450"/>
                  <a:pt x="0" y="161851"/>
                  <a:pt x="0" y="150019"/>
                </a:cubicBezTo>
                <a:lnTo>
                  <a:pt x="0" y="78581"/>
                </a:lnTo>
                <a:cubicBezTo>
                  <a:pt x="0" y="66749"/>
                  <a:pt x="9599" y="57150"/>
                  <a:pt x="21431" y="57150"/>
                </a:cubicBezTo>
                <a:lnTo>
                  <a:pt x="32147" y="57150"/>
                </a:lnTo>
                <a:lnTo>
                  <a:pt x="32147" y="103584"/>
                </a:lnTo>
                <a:cubicBezTo>
                  <a:pt x="32147" y="109523"/>
                  <a:pt x="36924" y="114300"/>
                  <a:pt x="42863" y="114300"/>
                </a:cubicBezTo>
                <a:cubicBezTo>
                  <a:pt x="48801" y="114300"/>
                  <a:pt x="53578" y="109523"/>
                  <a:pt x="53578" y="103584"/>
                </a:cubicBezTo>
                <a:lnTo>
                  <a:pt x="53578" y="57150"/>
                </a:lnTo>
                <a:lnTo>
                  <a:pt x="75009" y="57150"/>
                </a:lnTo>
                <a:lnTo>
                  <a:pt x="75009" y="89297"/>
                </a:lnTo>
                <a:cubicBezTo>
                  <a:pt x="75009" y="95235"/>
                  <a:pt x="79787" y="100013"/>
                  <a:pt x="85725" y="100013"/>
                </a:cubicBezTo>
                <a:cubicBezTo>
                  <a:pt x="91663" y="100013"/>
                  <a:pt x="96441" y="95235"/>
                  <a:pt x="96441" y="89297"/>
                </a:cubicBezTo>
                <a:lnTo>
                  <a:pt x="96441" y="57150"/>
                </a:lnTo>
                <a:lnTo>
                  <a:pt x="117872" y="57150"/>
                </a:lnTo>
                <a:lnTo>
                  <a:pt x="117872" y="103584"/>
                </a:lnTo>
                <a:cubicBezTo>
                  <a:pt x="117872" y="109523"/>
                  <a:pt x="122649" y="114300"/>
                  <a:pt x="128588" y="114300"/>
                </a:cubicBezTo>
                <a:cubicBezTo>
                  <a:pt x="134526" y="114300"/>
                  <a:pt x="139303" y="109523"/>
                  <a:pt x="139303" y="103584"/>
                </a:cubicBezTo>
                <a:lnTo>
                  <a:pt x="139303" y="57150"/>
                </a:lnTo>
                <a:lnTo>
                  <a:pt x="160734" y="57150"/>
                </a:lnTo>
                <a:lnTo>
                  <a:pt x="160734" y="89297"/>
                </a:lnTo>
                <a:cubicBezTo>
                  <a:pt x="160734" y="95235"/>
                  <a:pt x="165512" y="100013"/>
                  <a:pt x="171450" y="100013"/>
                </a:cubicBezTo>
                <a:cubicBezTo>
                  <a:pt x="177388" y="100013"/>
                  <a:pt x="182166" y="95235"/>
                  <a:pt x="182166" y="89297"/>
                </a:cubicBezTo>
                <a:lnTo>
                  <a:pt x="182166" y="57150"/>
                </a:lnTo>
                <a:lnTo>
                  <a:pt x="203597" y="57150"/>
                </a:lnTo>
                <a:lnTo>
                  <a:pt x="203597" y="103584"/>
                </a:lnTo>
                <a:cubicBezTo>
                  <a:pt x="203597" y="109523"/>
                  <a:pt x="208374" y="114300"/>
                  <a:pt x="214313" y="114300"/>
                </a:cubicBezTo>
                <a:cubicBezTo>
                  <a:pt x="220251" y="114300"/>
                  <a:pt x="225028" y="109523"/>
                  <a:pt x="225028" y="103584"/>
                </a:cubicBezTo>
                <a:lnTo>
                  <a:pt x="225028" y="57150"/>
                </a:lnTo>
                <a:lnTo>
                  <a:pt x="235744" y="57150"/>
                </a:lnTo>
                <a:cubicBezTo>
                  <a:pt x="247576" y="57150"/>
                  <a:pt x="257175" y="66749"/>
                  <a:pt x="257175" y="78581"/>
                </a:cubicBezTo>
                <a:lnTo>
                  <a:pt x="257175" y="150019"/>
                </a:lnTo>
                <a:cubicBezTo>
                  <a:pt x="257175" y="161851"/>
                  <a:pt x="247576" y="171450"/>
                  <a:pt x="235744" y="171450"/>
                </a:cubicBezTo>
                <a:lnTo>
                  <a:pt x="21431" y="171450"/>
                </a:ln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12" name="Text 10"/>
          <p:cNvSpPr/>
          <p:nvPr/>
        </p:nvSpPr>
        <p:spPr>
          <a:xfrm>
            <a:off x="6762750" y="140970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距离计算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62700" y="179070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对于KNN、SVM、K-Means等基于距离的算法，大尺度特征会主导距离计算，导致小尺度特征失效。缩放确保所有特征公平参与距离计算。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2590800"/>
          <a:ext cx="11430000" cy="3886200"/>
        </p:xfrm>
        <a:graphic>
          <a:graphicData uri="http://schemas.openxmlformats.org/drawingml/2006/table">
            <a:tbl>
              <a:tblPr/>
              <a:tblGrid>
                <a:gridCol w="2059116"/>
                <a:gridCol w="2859883"/>
                <a:gridCol w="3651118"/>
                <a:gridCol w="2859883"/>
              </a:tblGrid>
              <a:tr h="971550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方法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9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9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9E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缺点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9E2E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                                   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                                   标准化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x′=x−μσ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常用默认选项。转换后均值为0，方差为1。适合多数线性模型、SVM等。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对异常值敏感（μ,σ易被极端值影响），不保证固定边界范围。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>
                        <a:alpha val="20000"/>
                      </a:srgbClr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                                   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                                   归一化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x′=x−xminxmax−xmin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需要严格限制在[0,1]范围的算法（如神经网络输入、图像像素处理）。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非常受异常值影响。若有一个极大值，其他数值都会被压缩到0附近。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>
                        <a:alpha val="10000"/>
                      </a:srgbClr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                                   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                                   鲁棒缩放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x′=x−medianIQR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异常值较多或分布长尾时更稳健（如金融风控、传感器数据）。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结果不一定落在固定范围内，对极端稀疏/离散特征需谨慎处理。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D69E2E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特征编码与数据泄漏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将类别特征转换为数值表示，并严格避免数据泄漏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76350"/>
            <a:ext cx="5638800" cy="5200650"/>
          </a:xfrm>
          <a:custGeom>
            <a:avLst/>
            <a:gdLst/>
            <a:ahLst/>
            <a:cxnLst/>
            <a:rect l="l" t="t" r="r" b="b"/>
            <a:pathLst>
              <a:path w="5638800" h="520065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5124460"/>
                </a:lnTo>
                <a:cubicBezTo>
                  <a:pt x="5638800" y="5166539"/>
                  <a:pt x="5604689" y="5200650"/>
                  <a:pt x="5562610" y="5200650"/>
                </a:cubicBezTo>
                <a:lnTo>
                  <a:pt x="76190" y="5200650"/>
                </a:lnTo>
                <a:cubicBezTo>
                  <a:pt x="34111" y="5200650"/>
                  <a:pt x="0" y="5166539"/>
                  <a:pt x="0" y="512446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2763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7" name="Shape 5"/>
          <p:cNvSpPr/>
          <p:nvPr/>
        </p:nvSpPr>
        <p:spPr>
          <a:xfrm>
            <a:off x="654844" y="1581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8" name="Text 6"/>
          <p:cNvSpPr/>
          <p:nvPr/>
        </p:nvSpPr>
        <p:spPr>
          <a:xfrm>
            <a:off x="1104900" y="15240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特征编码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3400" y="2057400"/>
            <a:ext cx="5410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机器学习模型只能处理数值，不能处理"Red"、"Blue"这样的字符串。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8163" y="2462213"/>
            <a:ext cx="5324475" cy="1457325"/>
          </a:xfrm>
          <a:custGeom>
            <a:avLst/>
            <a:gdLst/>
            <a:ahLst/>
            <a:cxnLst/>
            <a:rect l="l" t="t" r="r" b="b"/>
            <a:pathLst>
              <a:path w="5324475" h="1457325">
                <a:moveTo>
                  <a:pt x="76204" y="0"/>
                </a:moveTo>
                <a:lnTo>
                  <a:pt x="5248271" y="0"/>
                </a:lnTo>
                <a:cubicBezTo>
                  <a:pt x="5290358" y="0"/>
                  <a:pt x="5324475" y="34117"/>
                  <a:pt x="5324475" y="76204"/>
                </a:cubicBezTo>
                <a:lnTo>
                  <a:pt x="5324475" y="1381121"/>
                </a:lnTo>
                <a:cubicBezTo>
                  <a:pt x="5324475" y="1423208"/>
                  <a:pt x="5290358" y="1457325"/>
                  <a:pt x="5248271" y="1457325"/>
                </a:cubicBezTo>
                <a:lnTo>
                  <a:pt x="76204" y="1457325"/>
                </a:lnTo>
                <a:cubicBezTo>
                  <a:pt x="34117" y="1457325"/>
                  <a:pt x="0" y="1423208"/>
                  <a:pt x="0" y="1381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6384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28575"/>
                </a:moveTo>
                <a:cubicBezTo>
                  <a:pt x="0" y="23306"/>
                  <a:pt x="4256" y="19050"/>
                  <a:pt x="9525" y="19050"/>
                </a:cubicBezTo>
                <a:lnTo>
                  <a:pt x="123825" y="19050"/>
                </a:lnTo>
                <a:cubicBezTo>
                  <a:pt x="129094" y="19050"/>
                  <a:pt x="133350" y="23306"/>
                  <a:pt x="133350" y="28575"/>
                </a:cubicBezTo>
                <a:cubicBezTo>
                  <a:pt x="133350" y="33844"/>
                  <a:pt x="129094" y="38100"/>
                  <a:pt x="123825" y="38100"/>
                </a:cubicBezTo>
                <a:lnTo>
                  <a:pt x="9525" y="38100"/>
                </a:lnTo>
                <a:cubicBezTo>
                  <a:pt x="4256" y="38100"/>
                  <a:pt x="0" y="33844"/>
                  <a:pt x="0" y="28575"/>
                </a:cubicBezTo>
                <a:close/>
                <a:moveTo>
                  <a:pt x="0" y="76200"/>
                </a:moveTo>
                <a:cubicBezTo>
                  <a:pt x="0" y="70931"/>
                  <a:pt x="4256" y="66675"/>
                  <a:pt x="9525" y="66675"/>
                </a:cubicBezTo>
                <a:lnTo>
                  <a:pt x="123825" y="66675"/>
                </a:lnTo>
                <a:cubicBezTo>
                  <a:pt x="129094" y="66675"/>
                  <a:pt x="133350" y="70931"/>
                  <a:pt x="133350" y="76200"/>
                </a:cubicBezTo>
                <a:cubicBezTo>
                  <a:pt x="133350" y="81469"/>
                  <a:pt x="129094" y="85725"/>
                  <a:pt x="12382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lose/>
                <a:moveTo>
                  <a:pt x="133350" y="123825"/>
                </a:moveTo>
                <a:cubicBezTo>
                  <a:pt x="133350" y="129094"/>
                  <a:pt x="129094" y="133350"/>
                  <a:pt x="123825" y="133350"/>
                </a:cubicBezTo>
                <a:lnTo>
                  <a:pt x="9525" y="133350"/>
                </a:lnTo>
                <a:cubicBezTo>
                  <a:pt x="4256" y="133350"/>
                  <a:pt x="0" y="129094"/>
                  <a:pt x="0" y="123825"/>
                </a:cubicBezTo>
                <a:cubicBezTo>
                  <a:pt x="0" y="118556"/>
                  <a:pt x="4256" y="114300"/>
                  <a:pt x="9525" y="114300"/>
                </a:cubicBezTo>
                <a:lnTo>
                  <a:pt x="123825" y="114300"/>
                </a:lnTo>
                <a:cubicBezTo>
                  <a:pt x="129094" y="114300"/>
                  <a:pt x="133350" y="118556"/>
                  <a:pt x="133350" y="123825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12" name="Text 10"/>
          <p:cNvSpPr/>
          <p:nvPr/>
        </p:nvSpPr>
        <p:spPr>
          <a:xfrm>
            <a:off x="923925" y="2581275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独热编码 (One-Hot Encoding)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7225" y="29622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无序类别（如性别、颜色）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225" y="32670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原理：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创建N个二进制列。如颜色3种：红=[1,0,0]，黄=[0,1,0]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7225" y="35718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⚠️ 注意：会增加维度，建议配合drop='first'避免多重共线性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8163" y="4081463"/>
            <a:ext cx="5324475" cy="1228725"/>
          </a:xfrm>
          <a:custGeom>
            <a:avLst/>
            <a:gdLst/>
            <a:ahLst/>
            <a:cxnLst/>
            <a:rect l="l" t="t" r="r" b="b"/>
            <a:pathLst>
              <a:path w="5324475" h="1228725">
                <a:moveTo>
                  <a:pt x="76206" y="0"/>
                </a:moveTo>
                <a:lnTo>
                  <a:pt x="5248269" y="0"/>
                </a:lnTo>
                <a:cubicBezTo>
                  <a:pt x="5290357" y="0"/>
                  <a:pt x="5324475" y="34118"/>
                  <a:pt x="5324475" y="76206"/>
                </a:cubicBezTo>
                <a:lnTo>
                  <a:pt x="5324475" y="1152519"/>
                </a:lnTo>
                <a:cubicBezTo>
                  <a:pt x="5324475" y="1194607"/>
                  <a:pt x="5290357" y="1228725"/>
                  <a:pt x="5248269" y="1228725"/>
                </a:cubicBezTo>
                <a:lnTo>
                  <a:pt x="76206" y="1228725"/>
                </a:lnTo>
                <a:cubicBezTo>
                  <a:pt x="34118" y="1228725"/>
                  <a:pt x="0" y="1194607"/>
                  <a:pt x="0" y="115251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6750" y="42576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9420" y="11638"/>
                </a:moveTo>
                <a:lnTo>
                  <a:pt x="163532" y="56376"/>
                </a:lnTo>
                <a:cubicBezTo>
                  <a:pt x="171777" y="64740"/>
                  <a:pt x="171777" y="78135"/>
                  <a:pt x="163532" y="86499"/>
                </a:cubicBezTo>
                <a:lnTo>
                  <a:pt x="116979" y="133618"/>
                </a:lnTo>
                <a:cubicBezTo>
                  <a:pt x="114211" y="136416"/>
                  <a:pt x="109686" y="136446"/>
                  <a:pt x="106888" y="133677"/>
                </a:cubicBezTo>
                <a:cubicBezTo>
                  <a:pt x="104090" y="130909"/>
                  <a:pt x="104061" y="126385"/>
                  <a:pt x="106829" y="123587"/>
                </a:cubicBezTo>
                <a:lnTo>
                  <a:pt x="153382" y="76438"/>
                </a:lnTo>
                <a:cubicBezTo>
                  <a:pt x="156121" y="73670"/>
                  <a:pt x="156121" y="69175"/>
                  <a:pt x="153382" y="66407"/>
                </a:cubicBezTo>
                <a:lnTo>
                  <a:pt x="109240" y="21699"/>
                </a:lnTo>
                <a:cubicBezTo>
                  <a:pt x="106472" y="18901"/>
                  <a:pt x="106501" y="14377"/>
                  <a:pt x="109299" y="11609"/>
                </a:cubicBezTo>
                <a:cubicBezTo>
                  <a:pt x="112097" y="8840"/>
                  <a:pt x="116622" y="8870"/>
                  <a:pt x="119390" y="11668"/>
                </a:cubicBezTo>
                <a:close/>
                <a:moveTo>
                  <a:pt x="9555" y="68312"/>
                </a:moveTo>
                <a:lnTo>
                  <a:pt x="9555" y="28575"/>
                </a:lnTo>
                <a:cubicBezTo>
                  <a:pt x="9555" y="18068"/>
                  <a:pt x="18098" y="9525"/>
                  <a:pt x="28605" y="9525"/>
                </a:cubicBezTo>
                <a:lnTo>
                  <a:pt x="68342" y="9525"/>
                </a:lnTo>
                <a:cubicBezTo>
                  <a:pt x="73402" y="9525"/>
                  <a:pt x="78254" y="11519"/>
                  <a:pt x="81826" y="15091"/>
                </a:cubicBezTo>
                <a:lnTo>
                  <a:pt x="124688" y="57954"/>
                </a:lnTo>
                <a:cubicBezTo>
                  <a:pt x="132130" y="65395"/>
                  <a:pt x="132130" y="77450"/>
                  <a:pt x="124688" y="84892"/>
                </a:cubicBezTo>
                <a:lnTo>
                  <a:pt x="84951" y="124629"/>
                </a:lnTo>
                <a:cubicBezTo>
                  <a:pt x="77510" y="132070"/>
                  <a:pt x="65455" y="132070"/>
                  <a:pt x="58013" y="124629"/>
                </a:cubicBezTo>
                <a:lnTo>
                  <a:pt x="15151" y="81766"/>
                </a:lnTo>
                <a:cubicBezTo>
                  <a:pt x="11579" y="78194"/>
                  <a:pt x="9585" y="73343"/>
                  <a:pt x="9585" y="68282"/>
                </a:cubicBezTo>
                <a:close/>
                <a:moveTo>
                  <a:pt x="52417" y="42863"/>
                </a:moveTo>
                <a:cubicBezTo>
                  <a:pt x="52417" y="37606"/>
                  <a:pt x="48149" y="33338"/>
                  <a:pt x="42892" y="33338"/>
                </a:cubicBezTo>
                <a:cubicBezTo>
                  <a:pt x="37635" y="33338"/>
                  <a:pt x="33367" y="37606"/>
                  <a:pt x="33367" y="42863"/>
                </a:cubicBezTo>
                <a:cubicBezTo>
                  <a:pt x="33367" y="48119"/>
                  <a:pt x="37635" y="52388"/>
                  <a:pt x="42892" y="52388"/>
                </a:cubicBezTo>
                <a:cubicBezTo>
                  <a:pt x="48149" y="52388"/>
                  <a:pt x="52417" y="48119"/>
                  <a:pt x="52417" y="42863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18" name="Text 16"/>
          <p:cNvSpPr/>
          <p:nvPr/>
        </p:nvSpPr>
        <p:spPr>
          <a:xfrm>
            <a:off x="923925" y="4200525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标签编码 (Label Encoding)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7225" y="458152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有序类别（如学历：高中 &lt; 本科 &lt; 硕士 &lt; 博士）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7225" y="488632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原理：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映射为整数（高中=0, 本科=1...），保留大小关系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1276350"/>
            <a:ext cx="5638800" cy="5200650"/>
          </a:xfrm>
          <a:custGeom>
            <a:avLst/>
            <a:gdLst/>
            <a:ahLst/>
            <a:cxnLst/>
            <a:rect l="l" t="t" r="r" b="b"/>
            <a:pathLst>
              <a:path w="5638800" h="520065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5124460"/>
                </a:lnTo>
                <a:cubicBezTo>
                  <a:pt x="5638800" y="5166539"/>
                  <a:pt x="5604689" y="5200650"/>
                  <a:pt x="5562610" y="5200650"/>
                </a:cubicBezTo>
                <a:lnTo>
                  <a:pt x="76190" y="5200650"/>
                </a:lnTo>
                <a:cubicBezTo>
                  <a:pt x="34111" y="5200650"/>
                  <a:pt x="0" y="5166539"/>
                  <a:pt x="0" y="512446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172200" y="12763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23" name="Shape 21"/>
          <p:cNvSpPr/>
          <p:nvPr/>
        </p:nvSpPr>
        <p:spPr>
          <a:xfrm>
            <a:off x="63246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24" name="Shape 22"/>
          <p:cNvSpPr/>
          <p:nvPr/>
        </p:nvSpPr>
        <p:spPr>
          <a:xfrm>
            <a:off x="6457950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5" name="Text 23"/>
          <p:cNvSpPr/>
          <p:nvPr/>
        </p:nvSpPr>
        <p:spPr>
          <a:xfrm>
            <a:off x="6896100" y="1524000"/>
            <a:ext cx="2676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数据泄漏 (Data Leakage)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24600" y="2057400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76200" y="0"/>
                </a:moveTo>
                <a:lnTo>
                  <a:pt x="5257800" y="0"/>
                </a:lnTo>
                <a:cubicBezTo>
                  <a:pt x="5299856" y="0"/>
                  <a:pt x="5334000" y="34144"/>
                  <a:pt x="5334000" y="76200"/>
                </a:cubicBezTo>
                <a:lnTo>
                  <a:pt x="5334000" y="400050"/>
                </a:lnTo>
                <a:cubicBezTo>
                  <a:pt x="5334000" y="442106"/>
                  <a:pt x="5299856" y="476250"/>
                  <a:pt x="5257800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324600" y="2057400"/>
            <a:ext cx="5410200" cy="47625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严重后果：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离线评估虚高，线上效果显著变差。必须严格避免！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29363" y="2652713"/>
            <a:ext cx="5324475" cy="1419225"/>
          </a:xfrm>
          <a:custGeom>
            <a:avLst/>
            <a:gdLst/>
            <a:ahLst/>
            <a:cxnLst/>
            <a:rect l="l" t="t" r="r" b="b"/>
            <a:pathLst>
              <a:path w="5324475" h="1419225">
                <a:moveTo>
                  <a:pt x="76198" y="0"/>
                </a:moveTo>
                <a:lnTo>
                  <a:pt x="5248277" y="0"/>
                </a:lnTo>
                <a:cubicBezTo>
                  <a:pt x="5290360" y="0"/>
                  <a:pt x="5324475" y="34115"/>
                  <a:pt x="5324475" y="76198"/>
                </a:cubicBezTo>
                <a:lnTo>
                  <a:pt x="5324475" y="1343027"/>
                </a:lnTo>
                <a:cubicBezTo>
                  <a:pt x="5324475" y="1385110"/>
                  <a:pt x="5290360" y="1419225"/>
                  <a:pt x="5248277" y="1419225"/>
                </a:cubicBezTo>
                <a:lnTo>
                  <a:pt x="76198" y="1419225"/>
                </a:lnTo>
                <a:cubicBezTo>
                  <a:pt x="34115" y="1419225"/>
                  <a:pt x="0" y="1385110"/>
                  <a:pt x="0" y="13430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8425" y="2771775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常见划分方式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48425" y="31146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随机划分：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样本独立同分布(i.i.d.)，配合分层抽样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48425" y="34194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时间序列划分：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按时间先后切分，避免"用未来预测过去"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48425" y="37242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分组划分：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同用户/设备/实体的样本必须在同一侧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29363" y="4195763"/>
            <a:ext cx="5324475" cy="1114425"/>
          </a:xfrm>
          <a:custGeom>
            <a:avLst/>
            <a:gdLst/>
            <a:ahLst/>
            <a:cxnLst/>
            <a:rect l="l" t="t" r="r" b="b"/>
            <a:pathLst>
              <a:path w="5324475" h="1114425">
                <a:moveTo>
                  <a:pt x="76204" y="0"/>
                </a:moveTo>
                <a:lnTo>
                  <a:pt x="5248271" y="0"/>
                </a:lnTo>
                <a:cubicBezTo>
                  <a:pt x="5290357" y="0"/>
                  <a:pt x="5324475" y="34118"/>
                  <a:pt x="5324475" y="76204"/>
                </a:cubicBezTo>
                <a:lnTo>
                  <a:pt x="5324475" y="1038221"/>
                </a:lnTo>
                <a:cubicBezTo>
                  <a:pt x="5324475" y="1080307"/>
                  <a:pt x="5290357" y="1114425"/>
                  <a:pt x="5248271" y="1114425"/>
                </a:cubicBezTo>
                <a:lnTo>
                  <a:pt x="76204" y="1114425"/>
                </a:lnTo>
                <a:cubicBezTo>
                  <a:pt x="34118" y="1114425"/>
                  <a:pt x="0" y="1080307"/>
                  <a:pt x="0" y="10382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8425" y="4314825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典型泄漏来源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48425" y="465772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❌ 错误：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在全量数据上先做标准化/编码，再划分训练/验证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48425" y="496252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❌ 错误：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特征中包含目标的后验信息（如统计口径跨越预测时点）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24600" y="5429250"/>
            <a:ext cx="5334000" cy="723900"/>
          </a:xfrm>
          <a:custGeom>
            <a:avLst/>
            <a:gdLst/>
            <a:ahLst/>
            <a:cxnLst/>
            <a:rect l="l" t="t" r="r" b="b"/>
            <a:pathLst>
              <a:path w="5334000" h="723900">
                <a:moveTo>
                  <a:pt x="76198" y="0"/>
                </a:moveTo>
                <a:lnTo>
                  <a:pt x="5257802" y="0"/>
                </a:lnTo>
                <a:cubicBezTo>
                  <a:pt x="5299857" y="0"/>
                  <a:pt x="5334000" y="34143"/>
                  <a:pt x="5334000" y="76198"/>
                </a:cubicBezTo>
                <a:lnTo>
                  <a:pt x="5334000" y="647702"/>
                </a:lnTo>
                <a:cubicBezTo>
                  <a:pt x="5334000" y="689757"/>
                  <a:pt x="5299857" y="723900"/>
                  <a:pt x="52578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38900" y="554355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正确做法：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将所有会"从数据学习参数"的步骤放入Pipeline，只在训练折上fit，在验证/测试上transform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69E2E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实战案例：泰坦尼克号生存预测数据处理流水线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62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工业级数据预处理Pipeline的完整实现，展示如何避免数据泄漏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071563"/>
            <a:ext cx="11420475" cy="2266950"/>
          </a:xfrm>
          <a:custGeom>
            <a:avLst/>
            <a:gdLst/>
            <a:ahLst/>
            <a:cxnLst/>
            <a:rect l="l" t="t" r="r" b="b"/>
            <a:pathLst>
              <a:path w="11420475" h="2266950">
                <a:moveTo>
                  <a:pt x="76192" y="0"/>
                </a:moveTo>
                <a:lnTo>
                  <a:pt x="11344283" y="0"/>
                </a:lnTo>
                <a:cubicBezTo>
                  <a:pt x="11386363" y="0"/>
                  <a:pt x="11420475" y="34112"/>
                  <a:pt x="11420475" y="76192"/>
                </a:cubicBezTo>
                <a:lnTo>
                  <a:pt x="11420475" y="2190758"/>
                </a:lnTo>
                <a:cubicBezTo>
                  <a:pt x="11420475" y="2232838"/>
                  <a:pt x="11386363" y="2266950"/>
                  <a:pt x="11344283" y="2266950"/>
                </a:cubicBezTo>
                <a:lnTo>
                  <a:pt x="76192" y="2266950"/>
                </a:lnTo>
                <a:cubicBezTo>
                  <a:pt x="34112" y="2266950"/>
                  <a:pt x="0" y="2232838"/>
                  <a:pt x="0" y="219075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4825" y="1190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6" name="Text 4"/>
          <p:cNvSpPr/>
          <p:nvPr/>
        </p:nvSpPr>
        <p:spPr>
          <a:xfrm>
            <a:off x="661615" y="1247775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0125" y="1247775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定义特征工程函数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4825" y="1657350"/>
            <a:ext cx="5631582" cy="154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自定义转换器：特征工程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feature_engineering(X): X = X.copy() 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构造家庭规模特征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X[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'FamilySize'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 = X[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'SibSp'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 + X[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'Parch'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 + 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提取称谓特征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X[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'Title'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 = X[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'Name'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].apply(lambda x: x.split(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','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)[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].split(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'.'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)[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].strip()) 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构造是否独居特征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X[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'IsAlone'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 = (X[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'FamilySize'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 == 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).astype(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X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3424238"/>
            <a:ext cx="5667375" cy="1724025"/>
          </a:xfrm>
          <a:custGeom>
            <a:avLst/>
            <a:gdLst/>
            <a:ahLst/>
            <a:cxnLst/>
            <a:rect l="l" t="t" r="r" b="b"/>
            <a:pathLst>
              <a:path w="5667375" h="1724025">
                <a:moveTo>
                  <a:pt x="76202" y="0"/>
                </a:moveTo>
                <a:lnTo>
                  <a:pt x="5591173" y="0"/>
                </a:lnTo>
                <a:cubicBezTo>
                  <a:pt x="5633258" y="0"/>
                  <a:pt x="5667375" y="34117"/>
                  <a:pt x="5667375" y="76202"/>
                </a:cubicBezTo>
                <a:lnTo>
                  <a:pt x="5667375" y="1647823"/>
                </a:lnTo>
                <a:cubicBezTo>
                  <a:pt x="5667375" y="1689908"/>
                  <a:pt x="5633258" y="1724025"/>
                  <a:pt x="5591173" y="1724025"/>
                </a:cubicBezTo>
                <a:lnTo>
                  <a:pt x="76202" y="1724025"/>
                </a:lnTo>
                <a:cubicBezTo>
                  <a:pt x="34117" y="1724025"/>
                  <a:pt x="0" y="1689908"/>
                  <a:pt x="0" y="16478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4825" y="3543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11" name="Text 9"/>
          <p:cNvSpPr/>
          <p:nvPr/>
        </p:nvSpPr>
        <p:spPr>
          <a:xfrm>
            <a:off x="614363" y="35814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5825" y="35814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数值型特征处理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4825" y="3933825"/>
            <a:ext cx="3497982" cy="919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步骤：中位数填充 → 标准化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numeric_features = [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'Age'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'Fare'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'FamilySize'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 numeric_transformer = Pipeline(steps=[ (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'imputer'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SimpleImputer(strategy=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'median'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)), (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'scaler'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StandardScaler()) ])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38863" y="3424238"/>
            <a:ext cx="5667375" cy="1724025"/>
          </a:xfrm>
          <a:custGeom>
            <a:avLst/>
            <a:gdLst/>
            <a:ahLst/>
            <a:cxnLst/>
            <a:rect l="l" t="t" r="r" b="b"/>
            <a:pathLst>
              <a:path w="5667375" h="1724025">
                <a:moveTo>
                  <a:pt x="76202" y="0"/>
                </a:moveTo>
                <a:lnTo>
                  <a:pt x="5591173" y="0"/>
                </a:lnTo>
                <a:cubicBezTo>
                  <a:pt x="5633258" y="0"/>
                  <a:pt x="5667375" y="34117"/>
                  <a:pt x="5667375" y="76202"/>
                </a:cubicBezTo>
                <a:lnTo>
                  <a:pt x="5667375" y="1647823"/>
                </a:lnTo>
                <a:cubicBezTo>
                  <a:pt x="5667375" y="1689908"/>
                  <a:pt x="5633258" y="1724025"/>
                  <a:pt x="5591173" y="1724025"/>
                </a:cubicBezTo>
                <a:lnTo>
                  <a:pt x="76202" y="1724025"/>
                </a:lnTo>
                <a:cubicBezTo>
                  <a:pt x="34117" y="1724025"/>
                  <a:pt x="0" y="1689908"/>
                  <a:pt x="0" y="16478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7925" y="3543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16" name="Text 14"/>
          <p:cNvSpPr/>
          <p:nvPr/>
        </p:nvSpPr>
        <p:spPr>
          <a:xfrm>
            <a:off x="6365453" y="35814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38925" y="35814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类别型特征处理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57925" y="3933825"/>
            <a:ext cx="4186089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步骤：众数填充 → 独热编码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categorical_features = [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'Embarked'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'Sex'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'Title'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 categorical_transformer = Pipeline(steps=[ (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'imputer'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SimpleImputer(strategy=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'most_frequent'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)), (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'encoder'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OneHotEncoder(drop=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'first'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handle_unknown=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'ignore'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 ])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763" y="5229225"/>
            <a:ext cx="5667375" cy="1562100"/>
          </a:xfrm>
          <a:custGeom>
            <a:avLst/>
            <a:gdLst/>
            <a:ahLst/>
            <a:cxnLst/>
            <a:rect l="l" t="t" r="r" b="b"/>
            <a:pathLst>
              <a:path w="5667375" h="1562100">
                <a:moveTo>
                  <a:pt x="76199" y="0"/>
                </a:moveTo>
                <a:lnTo>
                  <a:pt x="5591176" y="0"/>
                </a:lnTo>
                <a:cubicBezTo>
                  <a:pt x="5633259" y="0"/>
                  <a:pt x="5667375" y="34116"/>
                  <a:pt x="5667375" y="76199"/>
                </a:cubicBezTo>
                <a:lnTo>
                  <a:pt x="5667375" y="1485901"/>
                </a:lnTo>
                <a:cubicBezTo>
                  <a:pt x="5667375" y="1527984"/>
                  <a:pt x="5633259" y="1562100"/>
                  <a:pt x="5591176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4825" y="53482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21" name="Text 19"/>
          <p:cNvSpPr/>
          <p:nvPr/>
        </p:nvSpPr>
        <p:spPr>
          <a:xfrm>
            <a:off x="612502" y="5386388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5825" y="53863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组合预处理步骤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4825" y="5738813"/>
            <a:ext cx="4323680" cy="919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preprocessor = ColumnTransformer( transformers=[ (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'num'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numeric_transformer, numeric_features), (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'cat'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categorical_transformer, categorical_features) ], remainder=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'drop'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38863" y="5229225"/>
            <a:ext cx="5667375" cy="1562100"/>
          </a:xfrm>
          <a:custGeom>
            <a:avLst/>
            <a:gdLst/>
            <a:ahLst/>
            <a:cxnLst/>
            <a:rect l="l" t="t" r="r" b="b"/>
            <a:pathLst>
              <a:path w="5667375" h="1562100">
                <a:moveTo>
                  <a:pt x="76199" y="0"/>
                </a:moveTo>
                <a:lnTo>
                  <a:pt x="5591176" y="0"/>
                </a:lnTo>
                <a:cubicBezTo>
                  <a:pt x="5633259" y="0"/>
                  <a:pt x="5667375" y="34116"/>
                  <a:pt x="5667375" y="76199"/>
                </a:cubicBezTo>
                <a:lnTo>
                  <a:pt x="5667375" y="1485901"/>
                </a:lnTo>
                <a:cubicBezTo>
                  <a:pt x="5667375" y="1527984"/>
                  <a:pt x="5633259" y="1562100"/>
                  <a:pt x="5591176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7925" y="5495925"/>
            <a:ext cx="550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关键点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57925" y="5800725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所有学习参数的步骤都在Pipeline中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57925" y="6067425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只在训练集上fit，在验证集上transform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57925" y="6334125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避免数据泄漏，确保评估真实可靠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443a5dc47b94bae8d30779408aa862ffe4f5d73c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34238" b="3423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1A202C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731044"/>
            <a:ext cx="1333500" cy="876300"/>
          </a:xfrm>
          <a:custGeom>
            <a:avLst/>
            <a:gdLst/>
            <a:ahLst/>
            <a:cxnLst/>
            <a:rect l="l" t="t" r="r" b="b"/>
            <a:pathLst>
              <a:path w="1333500" h="876300">
                <a:moveTo>
                  <a:pt x="0" y="0"/>
                </a:moveTo>
                <a:lnTo>
                  <a:pt x="1333500" y="0"/>
                </a:lnTo>
                <a:lnTo>
                  <a:pt x="13335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731044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6" name="Text 3"/>
          <p:cNvSpPr/>
          <p:nvPr/>
        </p:nvSpPr>
        <p:spPr>
          <a:xfrm>
            <a:off x="723900" y="759619"/>
            <a:ext cx="987623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912144"/>
            <a:ext cx="46196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模型评估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与诊断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931444"/>
            <a:ext cx="44481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7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怎么知道模型好不好？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4869656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A556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0" name="Shape 7"/>
          <p:cNvSpPr/>
          <p:nvPr/>
        </p:nvSpPr>
        <p:spPr>
          <a:xfrm>
            <a:off x="419100" y="533638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11" name="Text 8"/>
          <p:cNvSpPr/>
          <p:nvPr/>
        </p:nvSpPr>
        <p:spPr>
          <a:xfrm>
            <a:off x="890588" y="5326856"/>
            <a:ext cx="1590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偏差-方差权衡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19100" y="583168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7946" y="107156"/>
                </a:moveTo>
                <a:lnTo>
                  <a:pt x="272355" y="107156"/>
                </a:lnTo>
                <a:cubicBezTo>
                  <a:pt x="279778" y="107156"/>
                  <a:pt x="285750" y="101185"/>
                  <a:pt x="285750" y="93762"/>
                </a:cubicBezTo>
                <a:lnTo>
                  <a:pt x="285750" y="13395"/>
                </a:lnTo>
                <a:cubicBezTo>
                  <a:pt x="285750" y="7981"/>
                  <a:pt x="282513" y="3070"/>
                  <a:pt x="277490" y="1005"/>
                </a:cubicBezTo>
                <a:cubicBezTo>
                  <a:pt x="272467" y="-1060"/>
                  <a:pt x="266719" y="112"/>
                  <a:pt x="262868" y="3907"/>
                </a:cubicBezTo>
                <a:lnTo>
                  <a:pt x="234014" y="32817"/>
                </a:lnTo>
                <a:cubicBezTo>
                  <a:pt x="209290" y="12334"/>
                  <a:pt x="177478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ubicBezTo>
                  <a:pt x="44202" y="75623"/>
                  <a:pt x="88906" y="35719"/>
                  <a:pt x="142875" y="35719"/>
                </a:cubicBezTo>
                <a:cubicBezTo>
                  <a:pt x="167655" y="35719"/>
                  <a:pt x="190426" y="44090"/>
                  <a:pt x="208564" y="58210"/>
                </a:cubicBezTo>
                <a:lnTo>
                  <a:pt x="182500" y="84274"/>
                </a:lnTo>
                <a:cubicBezTo>
                  <a:pt x="178650" y="88125"/>
                  <a:pt x="177533" y="93873"/>
                  <a:pt x="179598" y="98896"/>
                </a:cubicBezTo>
                <a:cubicBezTo>
                  <a:pt x="181663" y="103919"/>
                  <a:pt x="186575" y="107156"/>
                  <a:pt x="191988" y="107156"/>
                </a:cubicBezTo>
                <a:lnTo>
                  <a:pt x="267946" y="107156"/>
                </a:lnTo>
                <a:close/>
                <a:moveTo>
                  <a:pt x="284355" y="163246"/>
                </a:moveTo>
                <a:cubicBezTo>
                  <a:pt x="285750" y="153479"/>
                  <a:pt x="278941" y="144438"/>
                  <a:pt x="269230" y="143042"/>
                </a:cubicBezTo>
                <a:cubicBezTo>
                  <a:pt x="259519" y="141647"/>
                  <a:pt x="250422" y="148456"/>
                  <a:pt x="249027" y="158167"/>
                </a:cubicBezTo>
                <a:cubicBezTo>
                  <a:pt x="241604" y="210071"/>
                  <a:pt x="196900" y="249975"/>
                  <a:pt x="142931" y="249975"/>
                </a:cubicBezTo>
                <a:cubicBezTo>
                  <a:pt x="118151" y="249975"/>
                  <a:pt x="95380" y="241604"/>
                  <a:pt x="77242" y="227484"/>
                </a:cubicBezTo>
                <a:lnTo>
                  <a:pt x="103250" y="201476"/>
                </a:lnTo>
                <a:cubicBezTo>
                  <a:pt x="107100" y="197625"/>
                  <a:pt x="108217" y="191877"/>
                  <a:pt x="106152" y="186854"/>
                </a:cubicBezTo>
                <a:cubicBezTo>
                  <a:pt x="104087" y="181831"/>
                  <a:pt x="99175" y="178594"/>
                  <a:pt x="93762" y="178594"/>
                </a:cubicBezTo>
                <a:lnTo>
                  <a:pt x="13395" y="178594"/>
                </a:lnTo>
                <a:cubicBezTo>
                  <a:pt x="5972" y="178594"/>
                  <a:pt x="0" y="184565"/>
                  <a:pt x="0" y="191988"/>
                </a:cubicBezTo>
                <a:lnTo>
                  <a:pt x="0" y="272355"/>
                </a:lnTo>
                <a:cubicBezTo>
                  <a:pt x="0" y="277769"/>
                  <a:pt x="3237" y="282680"/>
                  <a:pt x="8260" y="284745"/>
                </a:cubicBezTo>
                <a:cubicBezTo>
                  <a:pt x="13283" y="286810"/>
                  <a:pt x="19031" y="285638"/>
                  <a:pt x="22882" y="281843"/>
                </a:cubicBezTo>
                <a:lnTo>
                  <a:pt x="51792" y="252933"/>
                </a:lnTo>
                <a:cubicBezTo>
                  <a:pt x="76460" y="273416"/>
                  <a:pt x="108272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13" name="Text 10"/>
          <p:cNvSpPr/>
          <p:nvPr/>
        </p:nvSpPr>
        <p:spPr>
          <a:xfrm>
            <a:off x="890588" y="5822156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交叉验证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725638" y="5336381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14313" y="53578"/>
                </a:moveTo>
                <a:lnTo>
                  <a:pt x="214313" y="89297"/>
                </a:lnTo>
                <a:lnTo>
                  <a:pt x="178594" y="89297"/>
                </a:lnTo>
                <a:lnTo>
                  <a:pt x="178594" y="53578"/>
                </a:lnTo>
                <a:lnTo>
                  <a:pt x="214313" y="53578"/>
                </a:lnTo>
                <a:close/>
                <a:moveTo>
                  <a:pt x="214313" y="125016"/>
                </a:moveTo>
                <a:lnTo>
                  <a:pt x="214313" y="160734"/>
                </a:lnTo>
                <a:lnTo>
                  <a:pt x="178594" y="160734"/>
                </a:lnTo>
                <a:lnTo>
                  <a:pt x="178594" y="125016"/>
                </a:lnTo>
                <a:lnTo>
                  <a:pt x="214313" y="125016"/>
                </a:lnTo>
                <a:close/>
                <a:moveTo>
                  <a:pt x="214313" y="196453"/>
                </a:moveTo>
                <a:lnTo>
                  <a:pt x="214313" y="232172"/>
                </a:lnTo>
                <a:lnTo>
                  <a:pt x="178594" y="232172"/>
                </a:lnTo>
                <a:lnTo>
                  <a:pt x="178594" y="196453"/>
                </a:lnTo>
                <a:lnTo>
                  <a:pt x="214313" y="196453"/>
                </a:lnTo>
                <a:close/>
                <a:moveTo>
                  <a:pt x="142875" y="160734"/>
                </a:moveTo>
                <a:lnTo>
                  <a:pt x="107156" y="160734"/>
                </a:lnTo>
                <a:lnTo>
                  <a:pt x="107156" y="125016"/>
                </a:lnTo>
                <a:lnTo>
                  <a:pt x="142875" y="125016"/>
                </a:lnTo>
                <a:lnTo>
                  <a:pt x="142875" y="160734"/>
                </a:lnTo>
                <a:close/>
                <a:moveTo>
                  <a:pt x="107156" y="196453"/>
                </a:moveTo>
                <a:lnTo>
                  <a:pt x="142875" y="196453"/>
                </a:lnTo>
                <a:lnTo>
                  <a:pt x="142875" y="232172"/>
                </a:lnTo>
                <a:lnTo>
                  <a:pt x="107156" y="232172"/>
                </a:lnTo>
                <a:lnTo>
                  <a:pt x="107156" y="196453"/>
                </a:lnTo>
                <a:close/>
                <a:moveTo>
                  <a:pt x="71438" y="160734"/>
                </a:moveTo>
                <a:lnTo>
                  <a:pt x="35719" y="160734"/>
                </a:lnTo>
                <a:lnTo>
                  <a:pt x="35719" y="125016"/>
                </a:lnTo>
                <a:lnTo>
                  <a:pt x="71438" y="125016"/>
                </a:lnTo>
                <a:lnTo>
                  <a:pt x="71438" y="160734"/>
                </a:lnTo>
                <a:close/>
                <a:moveTo>
                  <a:pt x="35719" y="196453"/>
                </a:moveTo>
                <a:lnTo>
                  <a:pt x="71438" y="196453"/>
                </a:lnTo>
                <a:lnTo>
                  <a:pt x="71438" y="232172"/>
                </a:lnTo>
                <a:lnTo>
                  <a:pt x="35719" y="232172"/>
                </a:lnTo>
                <a:lnTo>
                  <a:pt x="35719" y="196453"/>
                </a:lnTo>
                <a:close/>
                <a:moveTo>
                  <a:pt x="35719" y="89297"/>
                </a:moveTo>
                <a:lnTo>
                  <a:pt x="35719" y="53578"/>
                </a:lnTo>
                <a:lnTo>
                  <a:pt x="71438" y="53578"/>
                </a:lnTo>
                <a:lnTo>
                  <a:pt x="71438" y="89297"/>
                </a:lnTo>
                <a:lnTo>
                  <a:pt x="35719" y="89297"/>
                </a:lnTo>
                <a:close/>
                <a:moveTo>
                  <a:pt x="107156" y="89297"/>
                </a:moveTo>
                <a:lnTo>
                  <a:pt x="107156" y="53578"/>
                </a:lnTo>
                <a:lnTo>
                  <a:pt x="142875" y="53578"/>
                </a:lnTo>
                <a:lnTo>
                  <a:pt x="142875" y="89297"/>
                </a:lnTo>
                <a:lnTo>
                  <a:pt x="107156" y="89297"/>
                </a:lnTo>
                <a:close/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15" name="Text 12"/>
          <p:cNvSpPr/>
          <p:nvPr/>
        </p:nvSpPr>
        <p:spPr>
          <a:xfrm>
            <a:off x="3179266" y="5326856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混淆矩阵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707779" y="583168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133945" y="53578"/>
                </a:moveTo>
                <a:cubicBezTo>
                  <a:pt x="137685" y="53578"/>
                  <a:pt x="141256" y="55141"/>
                  <a:pt x="143824" y="57931"/>
                </a:cubicBezTo>
                <a:lnTo>
                  <a:pt x="183505" y="101185"/>
                </a:lnTo>
                <a:lnTo>
                  <a:pt x="209290" y="75344"/>
                </a:lnTo>
                <a:cubicBezTo>
                  <a:pt x="214536" y="70098"/>
                  <a:pt x="223019" y="70098"/>
                  <a:pt x="228209" y="75344"/>
                </a:cubicBezTo>
                <a:lnTo>
                  <a:pt x="263928" y="111063"/>
                </a:lnTo>
                <a:cubicBezTo>
                  <a:pt x="266440" y="113574"/>
                  <a:pt x="267835" y="116979"/>
                  <a:pt x="267835" y="120551"/>
                </a:cubicBezTo>
                <a:lnTo>
                  <a:pt x="267835" y="183059"/>
                </a:lnTo>
                <a:cubicBezTo>
                  <a:pt x="267835" y="190481"/>
                  <a:pt x="261863" y="196453"/>
                  <a:pt x="254440" y="196453"/>
                </a:cubicBezTo>
                <a:lnTo>
                  <a:pt x="84776" y="196453"/>
                </a:lnTo>
                <a:cubicBezTo>
                  <a:pt x="77353" y="196453"/>
                  <a:pt x="71382" y="190481"/>
                  <a:pt x="71382" y="183059"/>
                </a:cubicBezTo>
                <a:lnTo>
                  <a:pt x="71382" y="120551"/>
                </a:lnTo>
                <a:cubicBezTo>
                  <a:pt x="71382" y="117202"/>
                  <a:pt x="72665" y="113965"/>
                  <a:pt x="74898" y="111509"/>
                </a:cubicBezTo>
                <a:lnTo>
                  <a:pt x="124011" y="57931"/>
                </a:lnTo>
                <a:cubicBezTo>
                  <a:pt x="126523" y="55141"/>
                  <a:pt x="130150" y="53578"/>
                  <a:pt x="133890" y="53578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17" name="Text 14"/>
          <p:cNvSpPr/>
          <p:nvPr/>
        </p:nvSpPr>
        <p:spPr>
          <a:xfrm>
            <a:off x="3179266" y="5822156"/>
            <a:ext cx="142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ROC/PR曲线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D69E2E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偏差-方差权衡与交叉验证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机器学习中最核心的直觉之一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76350"/>
            <a:ext cx="5638800" cy="5200650"/>
          </a:xfrm>
          <a:custGeom>
            <a:avLst/>
            <a:gdLst/>
            <a:ahLst/>
            <a:cxnLst/>
            <a:rect l="l" t="t" r="r" b="b"/>
            <a:pathLst>
              <a:path w="5638800" h="520065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5124460"/>
                </a:lnTo>
                <a:cubicBezTo>
                  <a:pt x="5638800" y="5166539"/>
                  <a:pt x="5604689" y="5200650"/>
                  <a:pt x="5562610" y="5200650"/>
                </a:cubicBezTo>
                <a:lnTo>
                  <a:pt x="76190" y="5200650"/>
                </a:lnTo>
                <a:cubicBezTo>
                  <a:pt x="34111" y="5200650"/>
                  <a:pt x="0" y="5166539"/>
                  <a:pt x="0" y="512446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2763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7" name="Shape 5"/>
          <p:cNvSpPr/>
          <p:nvPr/>
        </p:nvSpPr>
        <p:spPr>
          <a:xfrm>
            <a:off x="666750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8" name="Text 6"/>
          <p:cNvSpPr/>
          <p:nvPr/>
        </p:nvSpPr>
        <p:spPr>
          <a:xfrm>
            <a:off x="1104900" y="1524000"/>
            <a:ext cx="1590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偏差-方差权衡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3400" y="2057400"/>
            <a:ext cx="5334000" cy="457200"/>
          </a:xfrm>
          <a:custGeom>
            <a:avLst/>
            <a:gdLst/>
            <a:ahLst/>
            <a:cxnLst/>
            <a:rect l="l" t="t" r="r" b="b"/>
            <a:pathLst>
              <a:path w="5334000" h="457200">
                <a:moveTo>
                  <a:pt x="76202" y="0"/>
                </a:moveTo>
                <a:lnTo>
                  <a:pt x="5257798" y="0"/>
                </a:lnTo>
                <a:cubicBezTo>
                  <a:pt x="5299883" y="0"/>
                  <a:pt x="5334000" y="34117"/>
                  <a:pt x="5334000" y="76202"/>
                </a:cubicBezTo>
                <a:lnTo>
                  <a:pt x="5334000" y="380998"/>
                </a:lnTo>
                <a:cubicBezTo>
                  <a:pt x="5334000" y="423083"/>
                  <a:pt x="5299883" y="457200"/>
                  <a:pt x="52577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33400" y="2057400"/>
            <a:ext cx="541020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打靶比喻：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偏差=准不准，方差=稳不稳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8163" y="2633663"/>
            <a:ext cx="5324475" cy="1381125"/>
          </a:xfrm>
          <a:custGeom>
            <a:avLst/>
            <a:gdLst/>
            <a:ahLst/>
            <a:cxnLst/>
            <a:rect l="l" t="t" r="r" b="b"/>
            <a:pathLst>
              <a:path w="5324475" h="1381125">
                <a:moveTo>
                  <a:pt x="76197" y="0"/>
                </a:moveTo>
                <a:lnTo>
                  <a:pt x="5248278" y="0"/>
                </a:lnTo>
                <a:cubicBezTo>
                  <a:pt x="5290361" y="0"/>
                  <a:pt x="5324475" y="34114"/>
                  <a:pt x="5324475" y="76197"/>
                </a:cubicBezTo>
                <a:lnTo>
                  <a:pt x="5324475" y="1304928"/>
                </a:lnTo>
                <a:cubicBezTo>
                  <a:pt x="5324475" y="1347011"/>
                  <a:pt x="5290361" y="1381125"/>
                  <a:pt x="5248278" y="1381125"/>
                </a:cubicBezTo>
                <a:lnTo>
                  <a:pt x="76197" y="1381125"/>
                </a:lnTo>
                <a:cubicBezTo>
                  <a:pt x="34114" y="1381125"/>
                  <a:pt x="0" y="1347011"/>
                  <a:pt x="0" y="130492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6750" y="28098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-4762"/>
                </a:moveTo>
                <a:cubicBezTo>
                  <a:pt x="90994" y="-4762"/>
                  <a:pt x="95250" y="-506"/>
                  <a:pt x="95250" y="4763"/>
                </a:cubicBezTo>
                <a:lnTo>
                  <a:pt x="95250" y="10210"/>
                </a:lnTo>
                <a:cubicBezTo>
                  <a:pt x="124450" y="14377"/>
                  <a:pt x="147548" y="37475"/>
                  <a:pt x="151715" y="66675"/>
                </a:cubicBezTo>
                <a:lnTo>
                  <a:pt x="157163" y="66675"/>
                </a:lnTo>
                <a:cubicBezTo>
                  <a:pt x="162431" y="66675"/>
                  <a:pt x="166688" y="70931"/>
                  <a:pt x="166688" y="76200"/>
                </a:cubicBezTo>
                <a:cubicBezTo>
                  <a:pt x="166688" y="81469"/>
                  <a:pt x="162431" y="85725"/>
                  <a:pt x="157163" y="85725"/>
                </a:cubicBezTo>
                <a:lnTo>
                  <a:pt x="151715" y="85725"/>
                </a:lnTo>
                <a:cubicBezTo>
                  <a:pt x="147548" y="114925"/>
                  <a:pt x="124450" y="138023"/>
                  <a:pt x="95250" y="142190"/>
                </a:cubicBezTo>
                <a:lnTo>
                  <a:pt x="95250" y="147638"/>
                </a:lnTo>
                <a:cubicBezTo>
                  <a:pt x="95250" y="152906"/>
                  <a:pt x="90994" y="157163"/>
                  <a:pt x="85725" y="157163"/>
                </a:cubicBezTo>
                <a:cubicBezTo>
                  <a:pt x="80456" y="157163"/>
                  <a:pt x="76200" y="152906"/>
                  <a:pt x="76200" y="147638"/>
                </a:cubicBezTo>
                <a:lnTo>
                  <a:pt x="76200" y="142190"/>
                </a:lnTo>
                <a:cubicBezTo>
                  <a:pt x="47000" y="138023"/>
                  <a:pt x="23902" y="114925"/>
                  <a:pt x="19735" y="85725"/>
                </a:cubicBezTo>
                <a:lnTo>
                  <a:pt x="14288" y="85725"/>
                </a:lnTo>
                <a:cubicBezTo>
                  <a:pt x="9019" y="85725"/>
                  <a:pt x="4763" y="81469"/>
                  <a:pt x="4763" y="76200"/>
                </a:cubicBezTo>
                <a:cubicBezTo>
                  <a:pt x="4763" y="70931"/>
                  <a:pt x="9019" y="66675"/>
                  <a:pt x="14288" y="66675"/>
                </a:cubicBezTo>
                <a:lnTo>
                  <a:pt x="19735" y="66675"/>
                </a:lnTo>
                <a:cubicBezTo>
                  <a:pt x="23902" y="37475"/>
                  <a:pt x="47000" y="14377"/>
                  <a:pt x="76200" y="10210"/>
                </a:cubicBezTo>
                <a:lnTo>
                  <a:pt x="76200" y="4763"/>
                </a:lnTo>
                <a:cubicBezTo>
                  <a:pt x="76200" y="-506"/>
                  <a:pt x="80456" y="-4762"/>
                  <a:pt x="85725" y="-4762"/>
                </a:cubicBezTo>
                <a:close/>
                <a:moveTo>
                  <a:pt x="39052" y="85725"/>
                </a:moveTo>
                <a:cubicBezTo>
                  <a:pt x="42833" y="104388"/>
                  <a:pt x="57537" y="119092"/>
                  <a:pt x="76200" y="122873"/>
                </a:cubicBezTo>
                <a:lnTo>
                  <a:pt x="76200" y="119062"/>
                </a:lnTo>
                <a:cubicBezTo>
                  <a:pt x="76200" y="113794"/>
                  <a:pt x="80456" y="109537"/>
                  <a:pt x="85725" y="109537"/>
                </a:cubicBezTo>
                <a:cubicBezTo>
                  <a:pt x="90994" y="109537"/>
                  <a:pt x="95250" y="113794"/>
                  <a:pt x="95250" y="119062"/>
                </a:cubicBezTo>
                <a:lnTo>
                  <a:pt x="95250" y="122873"/>
                </a:lnTo>
                <a:cubicBezTo>
                  <a:pt x="113913" y="119092"/>
                  <a:pt x="128617" y="104388"/>
                  <a:pt x="132398" y="85725"/>
                </a:cubicBezTo>
                <a:lnTo>
                  <a:pt x="128588" y="85725"/>
                </a:lnTo>
                <a:cubicBezTo>
                  <a:pt x="123319" y="85725"/>
                  <a:pt x="119062" y="81469"/>
                  <a:pt x="119062" y="76200"/>
                </a:cubicBezTo>
                <a:cubicBezTo>
                  <a:pt x="119062" y="70931"/>
                  <a:pt x="123319" y="66675"/>
                  <a:pt x="128588" y="66675"/>
                </a:cubicBezTo>
                <a:lnTo>
                  <a:pt x="132398" y="66675"/>
                </a:lnTo>
                <a:cubicBezTo>
                  <a:pt x="128617" y="48012"/>
                  <a:pt x="113913" y="33308"/>
                  <a:pt x="95250" y="29527"/>
                </a:cubicBezTo>
                <a:lnTo>
                  <a:pt x="95250" y="33338"/>
                </a:lnTo>
                <a:cubicBezTo>
                  <a:pt x="95250" y="38606"/>
                  <a:pt x="90994" y="42863"/>
                  <a:pt x="85725" y="42863"/>
                </a:cubicBezTo>
                <a:cubicBezTo>
                  <a:pt x="80456" y="42863"/>
                  <a:pt x="76200" y="38606"/>
                  <a:pt x="76200" y="33338"/>
                </a:cubicBezTo>
                <a:lnTo>
                  <a:pt x="76200" y="29527"/>
                </a:lnTo>
                <a:cubicBezTo>
                  <a:pt x="57537" y="33308"/>
                  <a:pt x="42833" y="48012"/>
                  <a:pt x="39052" y="66675"/>
                </a:cubicBezTo>
                <a:lnTo>
                  <a:pt x="42863" y="66675"/>
                </a:lnTo>
                <a:cubicBezTo>
                  <a:pt x="48131" y="66675"/>
                  <a:pt x="52388" y="70931"/>
                  <a:pt x="52388" y="76200"/>
                </a:cubicBezTo>
                <a:cubicBezTo>
                  <a:pt x="52388" y="81469"/>
                  <a:pt x="48131" y="85725"/>
                  <a:pt x="42863" y="85725"/>
                </a:cubicBezTo>
                <a:lnTo>
                  <a:pt x="39052" y="85725"/>
                </a:lnTo>
                <a:close/>
                <a:moveTo>
                  <a:pt x="85725" y="61912"/>
                </a:moveTo>
                <a:cubicBezTo>
                  <a:pt x="93610" y="61912"/>
                  <a:pt x="100013" y="68315"/>
                  <a:pt x="100013" y="76200"/>
                </a:cubicBezTo>
                <a:cubicBezTo>
                  <a:pt x="100013" y="84085"/>
                  <a:pt x="93610" y="90488"/>
                  <a:pt x="85725" y="90488"/>
                </a:cubicBezTo>
                <a:cubicBezTo>
                  <a:pt x="77840" y="90488"/>
                  <a:pt x="71438" y="84085"/>
                  <a:pt x="71438" y="76200"/>
                </a:cubicBezTo>
                <a:cubicBezTo>
                  <a:pt x="71438" y="68315"/>
                  <a:pt x="77840" y="61912"/>
                  <a:pt x="85725" y="61912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13" name="Text 11"/>
          <p:cNvSpPr/>
          <p:nvPr/>
        </p:nvSpPr>
        <p:spPr>
          <a:xfrm>
            <a:off x="923925" y="2752725"/>
            <a:ext cx="90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偏差 (Bias)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225" y="309562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预测值期望与真实值的差距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7225" y="340042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高偏差 = 欠拟合：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模型太简单，训练集都学不好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7225" y="3705225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现象：训练误差高，测试误差也高 | 对策：增加模型复杂度、减小正则化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8163" y="4138613"/>
            <a:ext cx="5324475" cy="1381125"/>
          </a:xfrm>
          <a:custGeom>
            <a:avLst/>
            <a:gdLst/>
            <a:ahLst/>
            <a:cxnLst/>
            <a:rect l="l" t="t" r="r" b="b"/>
            <a:pathLst>
              <a:path w="5324475" h="1381125">
                <a:moveTo>
                  <a:pt x="76197" y="0"/>
                </a:moveTo>
                <a:lnTo>
                  <a:pt x="5248278" y="0"/>
                </a:lnTo>
                <a:cubicBezTo>
                  <a:pt x="5290361" y="0"/>
                  <a:pt x="5324475" y="34114"/>
                  <a:pt x="5324475" y="76197"/>
                </a:cubicBezTo>
                <a:lnTo>
                  <a:pt x="5324475" y="1304928"/>
                </a:lnTo>
                <a:cubicBezTo>
                  <a:pt x="5324475" y="1347011"/>
                  <a:pt x="5290361" y="1381125"/>
                  <a:pt x="5248278" y="1381125"/>
                </a:cubicBezTo>
                <a:lnTo>
                  <a:pt x="76197" y="1381125"/>
                </a:lnTo>
                <a:cubicBezTo>
                  <a:pt x="34114" y="1381125"/>
                  <a:pt x="0" y="1347011"/>
                  <a:pt x="0" y="130492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275" y="4314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19" name="Text 17"/>
          <p:cNvSpPr/>
          <p:nvPr/>
        </p:nvSpPr>
        <p:spPr>
          <a:xfrm>
            <a:off x="923925" y="4257675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方差 (Variance)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7225" y="46005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不同训练集上预测结果的波动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7225" y="49053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高方差 = 过拟合：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模型太复杂，学到了噪声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7225" y="5210175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现象：训练误差极低，测试误差高 | 对策：增加数据、增加正则化、减少特征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2200" y="1276350"/>
            <a:ext cx="5638800" cy="3409950"/>
          </a:xfrm>
          <a:custGeom>
            <a:avLst/>
            <a:gdLst/>
            <a:ahLst/>
            <a:cxnLst/>
            <a:rect l="l" t="t" r="r" b="b"/>
            <a:pathLst>
              <a:path w="5638800" h="340995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333738"/>
                </a:lnTo>
                <a:cubicBezTo>
                  <a:pt x="5638800" y="3375829"/>
                  <a:pt x="5604679" y="3409950"/>
                  <a:pt x="5562588" y="3409950"/>
                </a:cubicBezTo>
                <a:lnTo>
                  <a:pt x="76212" y="3409950"/>
                </a:lnTo>
                <a:cubicBezTo>
                  <a:pt x="34121" y="3409950"/>
                  <a:pt x="0" y="3375829"/>
                  <a:pt x="0" y="33337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172200" y="12763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25" name="Shape 23"/>
          <p:cNvSpPr/>
          <p:nvPr/>
        </p:nvSpPr>
        <p:spPr>
          <a:xfrm>
            <a:off x="63246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26" name="Shape 24"/>
          <p:cNvSpPr/>
          <p:nvPr/>
        </p:nvSpPr>
        <p:spPr>
          <a:xfrm>
            <a:off x="6457950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7" name="Text 25"/>
          <p:cNvSpPr/>
          <p:nvPr/>
        </p:nvSpPr>
        <p:spPr>
          <a:xfrm>
            <a:off x="6896100" y="1524000"/>
            <a:ext cx="1733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K-Fold交叉验证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24600" y="2019300"/>
            <a:ext cx="5410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不要只依赖一次train_test_split。数据随机划分可能导致评估结果具有偶然性。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29363" y="2386013"/>
            <a:ext cx="5324475" cy="1419225"/>
          </a:xfrm>
          <a:custGeom>
            <a:avLst/>
            <a:gdLst/>
            <a:ahLst/>
            <a:cxnLst/>
            <a:rect l="l" t="t" r="r" b="b"/>
            <a:pathLst>
              <a:path w="5324475" h="1419225">
                <a:moveTo>
                  <a:pt x="76198" y="0"/>
                </a:moveTo>
                <a:lnTo>
                  <a:pt x="5248277" y="0"/>
                </a:lnTo>
                <a:cubicBezTo>
                  <a:pt x="5290360" y="0"/>
                  <a:pt x="5324475" y="34115"/>
                  <a:pt x="5324475" y="76198"/>
                </a:cubicBezTo>
                <a:lnTo>
                  <a:pt x="5324475" y="1343027"/>
                </a:lnTo>
                <a:cubicBezTo>
                  <a:pt x="5324475" y="1385110"/>
                  <a:pt x="5290360" y="1419225"/>
                  <a:pt x="5248277" y="1419225"/>
                </a:cubicBezTo>
                <a:lnTo>
                  <a:pt x="76198" y="1419225"/>
                </a:lnTo>
                <a:cubicBezTo>
                  <a:pt x="34115" y="1419225"/>
                  <a:pt x="0" y="1385110"/>
                  <a:pt x="0" y="13430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8425" y="2505075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48425" y="28479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①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将数据随机分为K份（通常K=5或10）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48425" y="31527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②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每次取1份作为验证集，剩余K-1份作为训练集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48425" y="34575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③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重复K次，取K次评估结果的平均值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24600" y="3924300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76200" y="0"/>
                </a:moveTo>
                <a:lnTo>
                  <a:pt x="5257800" y="0"/>
                </a:lnTo>
                <a:cubicBezTo>
                  <a:pt x="5299856" y="0"/>
                  <a:pt x="5334000" y="34144"/>
                  <a:pt x="5334000" y="76200"/>
                </a:cubicBezTo>
                <a:lnTo>
                  <a:pt x="5334000" y="400050"/>
                </a:lnTo>
                <a:cubicBezTo>
                  <a:pt x="5334000" y="442106"/>
                  <a:pt x="5299856" y="476250"/>
                  <a:pt x="5257800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18096">
              <a:alpha val="1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38900" y="4038600"/>
            <a:ext cx="518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优点：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充分利用数据，评估结果更稳健、可信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1250" y="4838700"/>
            <a:ext cx="5619750" cy="1638300"/>
          </a:xfrm>
          <a:custGeom>
            <a:avLst/>
            <a:gdLst/>
            <a:ahLst/>
            <a:cxnLst/>
            <a:rect l="l" t="t" r="r" b="b"/>
            <a:pathLst>
              <a:path w="5619750" h="1638300">
                <a:moveTo>
                  <a:pt x="38100" y="0"/>
                </a:moveTo>
                <a:lnTo>
                  <a:pt x="5543553" y="0"/>
                </a:lnTo>
                <a:cubicBezTo>
                  <a:pt x="5585635" y="0"/>
                  <a:pt x="5619750" y="34115"/>
                  <a:pt x="5619750" y="76197"/>
                </a:cubicBezTo>
                <a:lnTo>
                  <a:pt x="5619750" y="1562103"/>
                </a:lnTo>
                <a:cubicBezTo>
                  <a:pt x="5619750" y="1604185"/>
                  <a:pt x="5585635" y="1638300"/>
                  <a:pt x="5543553" y="1638300"/>
                </a:cubicBez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191250" y="4838700"/>
            <a:ext cx="38100" cy="1638300"/>
          </a:xfrm>
          <a:custGeom>
            <a:avLst/>
            <a:gdLst/>
            <a:ahLst/>
            <a:cxnLst/>
            <a:rect l="l" t="t" r="r" b="b"/>
            <a:pathLst>
              <a:path w="38100" h="1638300">
                <a:moveTo>
                  <a:pt x="3810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38" name="Shape 36"/>
          <p:cNvSpPr/>
          <p:nvPr/>
        </p:nvSpPr>
        <p:spPr>
          <a:xfrm>
            <a:off x="6398419" y="50292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39" name="Text 37"/>
          <p:cNvSpPr/>
          <p:nvPr/>
        </p:nvSpPr>
        <p:spPr>
          <a:xfrm>
            <a:off x="6715125" y="499110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基线与对照实验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62700" y="53721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建立可解释、可复现的基线，用于衡量后续改动是否真正带来收益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62700" y="5676900"/>
            <a:ext cx="536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分类：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多数类预测、逻辑回归、线性SVM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62700" y="5905500"/>
            <a:ext cx="536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回归：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均值预测、线性回归、岭回归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62700" y="6134100"/>
            <a:ext cx="536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原则：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每次只改变一个因素，保持其余条件不变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D69E2E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混淆矩阵与关键指标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对于二分类问题，不要只看准确率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76350"/>
            <a:ext cx="5638800" cy="3219450"/>
          </a:xfrm>
          <a:custGeom>
            <a:avLst/>
            <a:gdLst/>
            <a:ahLst/>
            <a:cxnLst/>
            <a:rect l="l" t="t" r="r" b="b"/>
            <a:pathLst>
              <a:path w="5638800" h="321945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143246"/>
                </a:lnTo>
                <a:cubicBezTo>
                  <a:pt x="5638800" y="3185332"/>
                  <a:pt x="5604682" y="3219450"/>
                  <a:pt x="5562596" y="3219450"/>
                </a:cubicBezTo>
                <a:lnTo>
                  <a:pt x="76204" y="3219450"/>
                </a:lnTo>
                <a:cubicBezTo>
                  <a:pt x="34118" y="3219450"/>
                  <a:pt x="0" y="3185332"/>
                  <a:pt x="0" y="314324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2763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6" name="Text 4"/>
          <p:cNvSpPr/>
          <p:nvPr/>
        </p:nvSpPr>
        <p:spPr>
          <a:xfrm>
            <a:off x="495300" y="1409700"/>
            <a:ext cx="552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混淆矩阵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300" y="1828800"/>
          <a:ext cx="5410200" cy="1676400"/>
        </p:xfrm>
        <a:graphic>
          <a:graphicData uri="http://schemas.openxmlformats.org/drawingml/2006/table">
            <a:tbl>
              <a:tblPr/>
              <a:tblGrid>
                <a:gridCol w="1803400"/>
                <a:gridCol w="1803400"/>
                <a:gridCol w="1803400"/>
              </a:tblGrid>
              <a:tr h="55880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D69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预测为正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9E2E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71809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预测为负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8096">
                        <a:alpha val="30000"/>
                      </a:srgbClr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D69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真实为正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9E2E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D69E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TP真正例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9E2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71809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FN假负例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8096">
                        <a:alpha val="10000"/>
                      </a:srgbClr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71809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真实为负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809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71809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FP假正例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809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TN真负例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A20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95300" y="3619500"/>
            <a:ext cx="2667000" cy="342900"/>
          </a:xfrm>
          <a:custGeom>
            <a:avLst/>
            <a:gdLst/>
            <a:ahLst/>
            <a:cxnLst/>
            <a:rect l="l" t="t" r="r" b="b"/>
            <a:pathLst>
              <a:path w="2667000" h="3429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04800"/>
                </a:lnTo>
                <a:cubicBezTo>
                  <a:pt x="2667000" y="325842"/>
                  <a:pt x="2649942" y="342900"/>
                  <a:pt x="2628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3695700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TP：抓对了好人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38500" y="3619500"/>
            <a:ext cx="2667000" cy="342900"/>
          </a:xfrm>
          <a:custGeom>
            <a:avLst/>
            <a:gdLst/>
            <a:ahLst/>
            <a:cxnLst/>
            <a:rect l="l" t="t" r="r" b="b"/>
            <a:pathLst>
              <a:path w="2667000" h="3429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04800"/>
                </a:lnTo>
                <a:cubicBezTo>
                  <a:pt x="2667000" y="325842"/>
                  <a:pt x="2649942" y="342900"/>
                  <a:pt x="2628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18096">
              <a:alpha val="10196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314700" y="3695700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FN：漏报，放走坏人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95300" y="4038600"/>
            <a:ext cx="2667000" cy="342900"/>
          </a:xfrm>
          <a:custGeom>
            <a:avLst/>
            <a:gdLst/>
            <a:ahLst/>
            <a:cxnLst/>
            <a:rect l="l" t="t" r="r" b="b"/>
            <a:pathLst>
              <a:path w="2667000" h="3429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04800"/>
                </a:lnTo>
                <a:cubicBezTo>
                  <a:pt x="2667000" y="325842"/>
                  <a:pt x="2649942" y="342900"/>
                  <a:pt x="2628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18096">
              <a:alpha val="10196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4114800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FP：误报，冤枉好人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38500" y="4038600"/>
            <a:ext cx="2667000" cy="342900"/>
          </a:xfrm>
          <a:custGeom>
            <a:avLst/>
            <a:gdLst/>
            <a:ahLst/>
            <a:cxnLst/>
            <a:rect l="l" t="t" r="r" b="b"/>
            <a:pathLst>
              <a:path w="2667000" h="3429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04800"/>
                </a:lnTo>
                <a:cubicBezTo>
                  <a:pt x="2667000" y="325842"/>
                  <a:pt x="2649942" y="342900"/>
                  <a:pt x="2628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314700" y="4114800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TN：排除嫌疑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00050" y="4648200"/>
            <a:ext cx="5619750" cy="1828800"/>
          </a:xfrm>
          <a:custGeom>
            <a:avLst/>
            <a:gdLst/>
            <a:ahLst/>
            <a:cxnLst/>
            <a:rect l="l" t="t" r="r" b="b"/>
            <a:pathLst>
              <a:path w="5619750" h="1828800">
                <a:moveTo>
                  <a:pt x="38100" y="0"/>
                </a:moveTo>
                <a:lnTo>
                  <a:pt x="5543544" y="0"/>
                </a:lnTo>
                <a:cubicBezTo>
                  <a:pt x="5585631" y="0"/>
                  <a:pt x="5619750" y="34119"/>
                  <a:pt x="5619750" y="76206"/>
                </a:cubicBezTo>
                <a:lnTo>
                  <a:pt x="5619750" y="1752594"/>
                </a:lnTo>
                <a:cubicBezTo>
                  <a:pt x="5619750" y="1794681"/>
                  <a:pt x="5585631" y="1828800"/>
                  <a:pt x="5543544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00050" y="46482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18" name="Shape 15"/>
          <p:cNvSpPr/>
          <p:nvPr/>
        </p:nvSpPr>
        <p:spPr>
          <a:xfrm>
            <a:off x="552450" y="4819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19" name="Text 16"/>
          <p:cNvSpPr/>
          <p:nvPr/>
        </p:nvSpPr>
        <p:spPr>
          <a:xfrm>
            <a:off x="800100" y="4762500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准确率 (Accuracy)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7"/>
              <p:cNvSpPr/>
              <p:nvPr/>
            </p:nvSpPr>
            <p:spPr>
              <a:xfrm>
                <a:off x="495300" y="5181600"/>
                <a:ext cx="5448300" cy="3714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dirty="0">
                          <a:solidFill>
                            <a:srgbClr val="F7FAFC"/>
                          </a:solidFill>
                        </a:rPr>
                        <m:t>Accuracy</m:t>
                      </m:r>
                      <m:r>
                        <a:rPr lang="en-US" sz="1200" dirty="0">
                          <a:solidFill>
                            <a:srgbClr val="F7FAFC"/>
                          </a:solidFill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T</m:t>
                          </m:r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P</m:t>
                          </m:r>
                          <m:r>
                            <a:rPr lang="en-US" sz="800" dirty="0">
                              <a:solidFill>
                                <a:srgbClr val="F7FAFC"/>
                              </a:solidFill>
                            </a:rPr>
                            <m:t>+</m:t>
                          </m:r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T</m:t>
                          </m:r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N</m:t>
                          </m:r>
                        </m:num>
                        <m:den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T</m:t>
                          </m:r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o</m:t>
                          </m:r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t</m:t>
                          </m:r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a</m:t>
                          </m:r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l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0" name="Text 17"/>
              <p:cNvSpPr/>
              <p:nvPr/>
            </p:nvSpPr>
            <p:spPr>
              <a:xfrm>
                <a:off x="495300" y="5181600"/>
                <a:ext cx="5448300" cy="3714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en-US" sz="1200" dirty="0">
                    <a:solidFill>
                      <a:srgbClr val="F7FAFC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(  \text{Accuracy} = \frac{TP+TN}{Total}  )</a:t>
                </a:r>
                <a:endParaRPr lang="en-US" sz="1600" dirty="0"/>
              </a:p>
            </p:txBody>
          </p:sp>
        </mc:Fallback>
      </mc:AlternateContent>
      <p:sp>
        <p:nvSpPr>
          <p:cNvPr id="21" name="Text 18"/>
          <p:cNvSpPr/>
          <p:nvPr/>
        </p:nvSpPr>
        <p:spPr>
          <a:xfrm>
            <a:off x="533400" y="5702647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总体答对的比例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3400" y="5969347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⚠️ 仅适用于类别平衡的数据！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如果正样本只有1%，全预测为负也有99%准确率。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91250" y="1257300"/>
            <a:ext cx="5619750" cy="1638300"/>
          </a:xfrm>
          <a:custGeom>
            <a:avLst/>
            <a:gdLst/>
            <a:ahLst/>
            <a:cxnLst/>
            <a:rect l="l" t="t" r="r" b="b"/>
            <a:pathLst>
              <a:path w="5619750" h="1638300">
                <a:moveTo>
                  <a:pt x="38100" y="0"/>
                </a:moveTo>
                <a:lnTo>
                  <a:pt x="5543553" y="0"/>
                </a:lnTo>
                <a:cubicBezTo>
                  <a:pt x="5585635" y="0"/>
                  <a:pt x="5619750" y="34115"/>
                  <a:pt x="5619750" y="76197"/>
                </a:cubicBezTo>
                <a:lnTo>
                  <a:pt x="5619750" y="1562103"/>
                </a:lnTo>
                <a:cubicBezTo>
                  <a:pt x="5619750" y="1604185"/>
                  <a:pt x="5585635" y="1638300"/>
                  <a:pt x="5543553" y="1638300"/>
                </a:cubicBez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191250" y="1257300"/>
            <a:ext cx="38100" cy="1638300"/>
          </a:xfrm>
          <a:custGeom>
            <a:avLst/>
            <a:gdLst/>
            <a:ahLst/>
            <a:cxnLst/>
            <a:rect l="l" t="t" r="r" b="b"/>
            <a:pathLst>
              <a:path w="38100" h="1638300">
                <a:moveTo>
                  <a:pt x="3810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25" name="Shape 22"/>
          <p:cNvSpPr/>
          <p:nvPr/>
        </p:nvSpPr>
        <p:spPr>
          <a:xfrm>
            <a:off x="6334125" y="14287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-4762"/>
                </a:moveTo>
                <a:cubicBezTo>
                  <a:pt x="90994" y="-4762"/>
                  <a:pt x="95250" y="-506"/>
                  <a:pt x="95250" y="4763"/>
                </a:cubicBezTo>
                <a:lnTo>
                  <a:pt x="95250" y="10210"/>
                </a:lnTo>
                <a:cubicBezTo>
                  <a:pt x="124450" y="14377"/>
                  <a:pt x="147548" y="37475"/>
                  <a:pt x="151715" y="66675"/>
                </a:cubicBezTo>
                <a:lnTo>
                  <a:pt x="157163" y="66675"/>
                </a:lnTo>
                <a:cubicBezTo>
                  <a:pt x="162431" y="66675"/>
                  <a:pt x="166688" y="70931"/>
                  <a:pt x="166688" y="76200"/>
                </a:cubicBezTo>
                <a:cubicBezTo>
                  <a:pt x="166688" y="81469"/>
                  <a:pt x="162431" y="85725"/>
                  <a:pt x="157163" y="85725"/>
                </a:cubicBezTo>
                <a:lnTo>
                  <a:pt x="151715" y="85725"/>
                </a:lnTo>
                <a:cubicBezTo>
                  <a:pt x="147548" y="114925"/>
                  <a:pt x="124450" y="138023"/>
                  <a:pt x="95250" y="142190"/>
                </a:cubicBezTo>
                <a:lnTo>
                  <a:pt x="95250" y="147638"/>
                </a:lnTo>
                <a:cubicBezTo>
                  <a:pt x="95250" y="152906"/>
                  <a:pt x="90994" y="157163"/>
                  <a:pt x="85725" y="157163"/>
                </a:cubicBezTo>
                <a:cubicBezTo>
                  <a:pt x="80456" y="157163"/>
                  <a:pt x="76200" y="152906"/>
                  <a:pt x="76200" y="147638"/>
                </a:cubicBezTo>
                <a:lnTo>
                  <a:pt x="76200" y="142190"/>
                </a:lnTo>
                <a:cubicBezTo>
                  <a:pt x="47000" y="138023"/>
                  <a:pt x="23902" y="114925"/>
                  <a:pt x="19735" y="85725"/>
                </a:cubicBezTo>
                <a:lnTo>
                  <a:pt x="14288" y="85725"/>
                </a:lnTo>
                <a:cubicBezTo>
                  <a:pt x="9019" y="85725"/>
                  <a:pt x="4763" y="81469"/>
                  <a:pt x="4763" y="76200"/>
                </a:cubicBezTo>
                <a:cubicBezTo>
                  <a:pt x="4763" y="70931"/>
                  <a:pt x="9019" y="66675"/>
                  <a:pt x="14288" y="66675"/>
                </a:cubicBezTo>
                <a:lnTo>
                  <a:pt x="19735" y="66675"/>
                </a:lnTo>
                <a:cubicBezTo>
                  <a:pt x="23902" y="37475"/>
                  <a:pt x="47000" y="14377"/>
                  <a:pt x="76200" y="10210"/>
                </a:cubicBezTo>
                <a:lnTo>
                  <a:pt x="76200" y="4763"/>
                </a:lnTo>
                <a:cubicBezTo>
                  <a:pt x="76200" y="-506"/>
                  <a:pt x="80456" y="-4762"/>
                  <a:pt x="85725" y="-4762"/>
                </a:cubicBezTo>
                <a:close/>
                <a:moveTo>
                  <a:pt x="39052" y="85725"/>
                </a:moveTo>
                <a:cubicBezTo>
                  <a:pt x="42833" y="104388"/>
                  <a:pt x="57537" y="119092"/>
                  <a:pt x="76200" y="122873"/>
                </a:cubicBezTo>
                <a:lnTo>
                  <a:pt x="76200" y="119062"/>
                </a:lnTo>
                <a:cubicBezTo>
                  <a:pt x="76200" y="113794"/>
                  <a:pt x="80456" y="109537"/>
                  <a:pt x="85725" y="109537"/>
                </a:cubicBezTo>
                <a:cubicBezTo>
                  <a:pt x="90994" y="109537"/>
                  <a:pt x="95250" y="113794"/>
                  <a:pt x="95250" y="119062"/>
                </a:cubicBezTo>
                <a:lnTo>
                  <a:pt x="95250" y="122873"/>
                </a:lnTo>
                <a:cubicBezTo>
                  <a:pt x="113913" y="119092"/>
                  <a:pt x="128617" y="104388"/>
                  <a:pt x="132398" y="85725"/>
                </a:cubicBezTo>
                <a:lnTo>
                  <a:pt x="128588" y="85725"/>
                </a:lnTo>
                <a:cubicBezTo>
                  <a:pt x="123319" y="85725"/>
                  <a:pt x="119062" y="81469"/>
                  <a:pt x="119062" y="76200"/>
                </a:cubicBezTo>
                <a:cubicBezTo>
                  <a:pt x="119062" y="70931"/>
                  <a:pt x="123319" y="66675"/>
                  <a:pt x="128588" y="66675"/>
                </a:cubicBezTo>
                <a:lnTo>
                  <a:pt x="132398" y="66675"/>
                </a:lnTo>
                <a:cubicBezTo>
                  <a:pt x="128617" y="48012"/>
                  <a:pt x="113913" y="33308"/>
                  <a:pt x="95250" y="29527"/>
                </a:cubicBezTo>
                <a:lnTo>
                  <a:pt x="95250" y="33338"/>
                </a:lnTo>
                <a:cubicBezTo>
                  <a:pt x="95250" y="38606"/>
                  <a:pt x="90994" y="42863"/>
                  <a:pt x="85725" y="42863"/>
                </a:cubicBezTo>
                <a:cubicBezTo>
                  <a:pt x="80456" y="42863"/>
                  <a:pt x="76200" y="38606"/>
                  <a:pt x="76200" y="33338"/>
                </a:cubicBezTo>
                <a:lnTo>
                  <a:pt x="76200" y="29527"/>
                </a:lnTo>
                <a:cubicBezTo>
                  <a:pt x="57537" y="33308"/>
                  <a:pt x="42833" y="48012"/>
                  <a:pt x="39052" y="66675"/>
                </a:cubicBezTo>
                <a:lnTo>
                  <a:pt x="42863" y="66675"/>
                </a:lnTo>
                <a:cubicBezTo>
                  <a:pt x="48131" y="66675"/>
                  <a:pt x="52388" y="70931"/>
                  <a:pt x="52388" y="76200"/>
                </a:cubicBezTo>
                <a:cubicBezTo>
                  <a:pt x="52388" y="81469"/>
                  <a:pt x="48131" y="85725"/>
                  <a:pt x="42863" y="85725"/>
                </a:cubicBezTo>
                <a:lnTo>
                  <a:pt x="39052" y="85725"/>
                </a:lnTo>
                <a:close/>
                <a:moveTo>
                  <a:pt x="85725" y="61912"/>
                </a:moveTo>
                <a:cubicBezTo>
                  <a:pt x="93610" y="61912"/>
                  <a:pt x="100013" y="68315"/>
                  <a:pt x="100013" y="76200"/>
                </a:cubicBezTo>
                <a:cubicBezTo>
                  <a:pt x="100013" y="84085"/>
                  <a:pt x="93610" y="90488"/>
                  <a:pt x="85725" y="90488"/>
                </a:cubicBezTo>
                <a:cubicBezTo>
                  <a:pt x="77840" y="90488"/>
                  <a:pt x="71438" y="84085"/>
                  <a:pt x="71438" y="76200"/>
                </a:cubicBezTo>
                <a:cubicBezTo>
                  <a:pt x="71438" y="68315"/>
                  <a:pt x="77840" y="61912"/>
                  <a:pt x="85725" y="61912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26" name="Text 23"/>
          <p:cNvSpPr/>
          <p:nvPr/>
        </p:nvSpPr>
        <p:spPr>
          <a:xfrm>
            <a:off x="6591300" y="1371600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精确率 (Precision)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24"/>
              <p:cNvSpPr/>
              <p:nvPr/>
            </p:nvSpPr>
            <p:spPr>
              <a:xfrm>
                <a:off x="6286500" y="1790700"/>
                <a:ext cx="5448300" cy="38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dirty="0">
                          <a:solidFill>
                            <a:srgbClr val="F7FAFC"/>
                          </a:solidFill>
                        </a:rPr>
                        <m:t>Precision</m:t>
                      </m:r>
                      <m:r>
                        <a:rPr lang="en-US" sz="1200" dirty="0">
                          <a:solidFill>
                            <a:srgbClr val="F7FAFC"/>
                          </a:solidFill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T</m:t>
                          </m:r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P</m:t>
                          </m:r>
                        </m:num>
                        <m:den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T</m:t>
                          </m:r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P</m:t>
                          </m:r>
                          <m:r>
                            <a:rPr lang="en-US" sz="800" dirty="0">
                              <a:solidFill>
                                <a:srgbClr val="F7FAFC"/>
                              </a:solidFill>
                            </a:rPr>
                            <m:t>+</m:t>
                          </m:r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F</m:t>
                          </m:r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P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" name="Text 24"/>
              <p:cNvSpPr/>
              <p:nvPr/>
            </p:nvSpPr>
            <p:spPr>
              <a:xfrm>
                <a:off x="6286500" y="1790700"/>
                <a:ext cx="5448300" cy="38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en-US" sz="1200" dirty="0">
                    <a:solidFill>
                      <a:srgbClr val="F7FAFC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(  \text{Precision} = \frac{TP}{TP+FP}  )</a:t>
                </a:r>
                <a:endParaRPr lang="en-US" sz="1600" dirty="0"/>
              </a:p>
            </p:txBody>
          </p:sp>
        </mc:Fallback>
      </mc:AlternateContent>
      <p:sp>
        <p:nvSpPr>
          <p:cNvPr id="28" name="Text 25"/>
          <p:cNvSpPr/>
          <p:nvPr/>
        </p:nvSpPr>
        <p:spPr>
          <a:xfrm>
            <a:off x="6324600" y="2324398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查准率。预测为正的样本中，有多少是真的正？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324600" y="2591098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宁缺毋滥场景。如垃圾邮件拦截、银行风控。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191250" y="3048298"/>
            <a:ext cx="5619750" cy="1638300"/>
          </a:xfrm>
          <a:custGeom>
            <a:avLst/>
            <a:gdLst/>
            <a:ahLst/>
            <a:cxnLst/>
            <a:rect l="l" t="t" r="r" b="b"/>
            <a:pathLst>
              <a:path w="5619750" h="1638300">
                <a:moveTo>
                  <a:pt x="38100" y="0"/>
                </a:moveTo>
                <a:lnTo>
                  <a:pt x="5543553" y="0"/>
                </a:lnTo>
                <a:cubicBezTo>
                  <a:pt x="5585635" y="0"/>
                  <a:pt x="5619750" y="34115"/>
                  <a:pt x="5619750" y="76197"/>
                </a:cubicBezTo>
                <a:lnTo>
                  <a:pt x="5619750" y="1562103"/>
                </a:lnTo>
                <a:cubicBezTo>
                  <a:pt x="5619750" y="1604185"/>
                  <a:pt x="5585635" y="1638300"/>
                  <a:pt x="5543553" y="1638300"/>
                </a:cubicBez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191250" y="3048298"/>
            <a:ext cx="38100" cy="1638300"/>
          </a:xfrm>
          <a:custGeom>
            <a:avLst/>
            <a:gdLst/>
            <a:ahLst/>
            <a:cxnLst/>
            <a:rect l="l" t="t" r="r" b="b"/>
            <a:pathLst>
              <a:path w="38100" h="1638300">
                <a:moveTo>
                  <a:pt x="3810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2" name="Shape 29"/>
          <p:cNvSpPr/>
          <p:nvPr/>
        </p:nvSpPr>
        <p:spPr>
          <a:xfrm>
            <a:off x="6343650" y="321974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3" name="Text 30"/>
          <p:cNvSpPr/>
          <p:nvPr/>
        </p:nvSpPr>
        <p:spPr>
          <a:xfrm>
            <a:off x="6591300" y="3162598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召回率 (Recall)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31"/>
              <p:cNvSpPr/>
              <p:nvPr/>
            </p:nvSpPr>
            <p:spPr>
              <a:xfrm>
                <a:off x="6286500" y="3581698"/>
                <a:ext cx="5448300" cy="38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dirty="0">
                          <a:solidFill>
                            <a:srgbClr val="F7FAFC"/>
                          </a:solidFill>
                        </a:rPr>
                        <m:t>Recall</m:t>
                      </m:r>
                      <m:r>
                        <a:rPr lang="en-US" sz="1200" dirty="0">
                          <a:solidFill>
                            <a:srgbClr val="F7FAFC"/>
                          </a:solidFill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T</m:t>
                          </m:r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P</m:t>
                          </m:r>
                        </m:num>
                        <m:den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T</m:t>
                          </m:r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P</m:t>
                          </m:r>
                          <m:r>
                            <a:rPr lang="en-US" sz="800" dirty="0">
                              <a:solidFill>
                                <a:srgbClr val="F7FAFC"/>
                              </a:solidFill>
                            </a:rPr>
                            <m:t>+</m:t>
                          </m:r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F</m:t>
                          </m:r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4" name="Text 31"/>
              <p:cNvSpPr/>
              <p:nvPr/>
            </p:nvSpPr>
            <p:spPr>
              <a:xfrm>
                <a:off x="6286500" y="3581698"/>
                <a:ext cx="5448300" cy="38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en-US" sz="1200" dirty="0">
                    <a:solidFill>
                      <a:srgbClr val="F7FAFC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(  \text{Recall} = \frac{TP}{TP+FN}  )</a:t>
                </a:r>
                <a:endParaRPr lang="en-US" sz="1600" dirty="0"/>
              </a:p>
            </p:txBody>
          </p:sp>
        </mc:Fallback>
      </mc:AlternateContent>
      <p:sp>
        <p:nvSpPr>
          <p:cNvPr id="35" name="Text 32"/>
          <p:cNvSpPr/>
          <p:nvPr/>
        </p:nvSpPr>
        <p:spPr>
          <a:xfrm>
            <a:off x="6324600" y="4115395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查全率。真实的正样本中，有多少被找出来了？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324600" y="4382095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宁可错杀不可放过场景。如地震预测、癌症筛查。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191250" y="4839295"/>
            <a:ext cx="5619750" cy="1638300"/>
          </a:xfrm>
          <a:custGeom>
            <a:avLst/>
            <a:gdLst/>
            <a:ahLst/>
            <a:cxnLst/>
            <a:rect l="l" t="t" r="r" b="b"/>
            <a:pathLst>
              <a:path w="5619750" h="1638300">
                <a:moveTo>
                  <a:pt x="38100" y="0"/>
                </a:moveTo>
                <a:lnTo>
                  <a:pt x="5543553" y="0"/>
                </a:lnTo>
                <a:cubicBezTo>
                  <a:pt x="5585635" y="0"/>
                  <a:pt x="5619750" y="34115"/>
                  <a:pt x="5619750" y="76197"/>
                </a:cubicBezTo>
                <a:lnTo>
                  <a:pt x="5619750" y="1562103"/>
                </a:lnTo>
                <a:cubicBezTo>
                  <a:pt x="5619750" y="1604185"/>
                  <a:pt x="5585635" y="1638300"/>
                  <a:pt x="5543553" y="1638300"/>
                </a:cubicBez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6191250" y="4839295"/>
            <a:ext cx="38100" cy="1638300"/>
          </a:xfrm>
          <a:custGeom>
            <a:avLst/>
            <a:gdLst/>
            <a:ahLst/>
            <a:cxnLst/>
            <a:rect l="l" t="t" r="r" b="b"/>
            <a:pathLst>
              <a:path w="38100" h="1638300">
                <a:moveTo>
                  <a:pt x="3810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39" name="Shape 36"/>
          <p:cNvSpPr/>
          <p:nvPr/>
        </p:nvSpPr>
        <p:spPr>
          <a:xfrm>
            <a:off x="6324600" y="501074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40" name="Text 37"/>
          <p:cNvSpPr/>
          <p:nvPr/>
        </p:nvSpPr>
        <p:spPr>
          <a:xfrm>
            <a:off x="6591300" y="4953595"/>
            <a:ext cx="75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 Score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38"/>
              <p:cNvSpPr/>
              <p:nvPr/>
            </p:nvSpPr>
            <p:spPr>
              <a:xfrm>
                <a:off x="6286500" y="5372695"/>
                <a:ext cx="5448300" cy="38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i="1" dirty="0">
                          <a:solidFill>
                            <a:srgbClr val="F7FAFC"/>
                          </a:solidFill>
                        </a:rPr>
                        <m:t>F</m:t>
                      </m:r>
                      <m:r>
                        <a:rPr lang="en-US" sz="1200" dirty="0">
                          <a:solidFill>
                            <a:srgbClr val="F7FAFC"/>
                          </a:solidFill>
                        </a:rPr>
                        <m:t>1</m:t>
                      </m:r>
                      <m:r>
                        <a:rPr lang="en-US" sz="1200" dirty="0">
                          <a:solidFill>
                            <a:srgbClr val="F7FAFC"/>
                          </a:solidFill>
                        </a:rPr>
                        <m:t>=</m:t>
                      </m:r>
                      <m:r>
                        <a:rPr lang="en-US" sz="1200" dirty="0">
                          <a:solidFill>
                            <a:srgbClr val="F7FAFC"/>
                          </a:solidFill>
                        </a:rPr>
                        <m:t>2</m:t>
                      </m:r>
                      <m:r>
                        <a:rPr lang="en-US" sz="1200" dirty="0">
                          <a:solidFill>
                            <a:srgbClr val="F7FAFC"/>
                          </a:solidFill>
                        </a:rPr>
                        <m:t>⋅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P</m:t>
                          </m:r>
                          <m:r>
                            <a:rPr lang="en-US" sz="800" dirty="0">
                              <a:solidFill>
                                <a:srgbClr val="F7FAFC"/>
                              </a:solidFill>
                            </a:rPr>
                            <m:t>⋅</m:t>
                          </m:r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R</m:t>
                          </m:r>
                        </m:num>
                        <m:den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P</m:t>
                          </m:r>
                          <m:r>
                            <a:rPr lang="en-US" sz="800" dirty="0">
                              <a:solidFill>
                                <a:srgbClr val="F7FAFC"/>
                              </a:solidFill>
                            </a:rPr>
                            <m:t>+</m:t>
                          </m:r>
                          <m:r>
                            <a:rPr lang="en-US" sz="800" i="1" dirty="0">
                              <a:solidFill>
                                <a:srgbClr val="F7FAFC"/>
                              </a:solidFill>
                            </a:rPr>
                            <m:t>R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 38"/>
              <p:cNvSpPr/>
              <p:nvPr/>
            </p:nvSpPr>
            <p:spPr>
              <a:xfrm>
                <a:off x="6286500" y="5372695"/>
                <a:ext cx="5448300" cy="38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en-US" sz="1200" dirty="0">
                    <a:solidFill>
                      <a:srgbClr val="F7FAFC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(  F1 = 2 \cdot \frac{P \cdot R}{P + R}  )</a:t>
                </a:r>
                <a:endParaRPr lang="en-US" sz="1600" dirty="0"/>
              </a:p>
            </p:txBody>
          </p:sp>
        </mc:Fallback>
      </mc:AlternateContent>
      <p:sp>
        <p:nvSpPr>
          <p:cNvPr id="42" name="Text 39"/>
          <p:cNvSpPr/>
          <p:nvPr/>
        </p:nvSpPr>
        <p:spPr>
          <a:xfrm>
            <a:off x="6324600" y="5906393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Precision和Recall的调和平均数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324600" y="6173093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特点：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调和平均数更重视较小值，只有两者都高，F1才会高。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D69E2E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ROC曲线与AUC、PR曲线与PR-AUC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从阈值变化的角度刻画分类器的整体排序能力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76350"/>
            <a:ext cx="5638800" cy="5219700"/>
          </a:xfrm>
          <a:custGeom>
            <a:avLst/>
            <a:gdLst/>
            <a:ahLst/>
            <a:cxnLst/>
            <a:rect l="l" t="t" r="r" b="b"/>
            <a:pathLst>
              <a:path w="5638800" h="52197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5143492"/>
                </a:lnTo>
                <a:cubicBezTo>
                  <a:pt x="5638800" y="5185581"/>
                  <a:pt x="5604681" y="5219700"/>
                  <a:pt x="5562592" y="5219700"/>
                </a:cubicBezTo>
                <a:lnTo>
                  <a:pt x="76208" y="5219700"/>
                </a:lnTo>
                <a:cubicBezTo>
                  <a:pt x="34119" y="5219700"/>
                  <a:pt x="0" y="5185581"/>
                  <a:pt x="0" y="514349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2763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7" name="Shape 5"/>
          <p:cNvSpPr/>
          <p:nvPr/>
        </p:nvSpPr>
        <p:spPr>
          <a:xfrm>
            <a:off x="666750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89297" y="35719"/>
                </a:moveTo>
                <a:cubicBezTo>
                  <a:pt x="91790" y="35719"/>
                  <a:pt x="94171" y="36761"/>
                  <a:pt x="95883" y="38621"/>
                </a:cubicBezTo>
                <a:lnTo>
                  <a:pt x="122337" y="67456"/>
                </a:lnTo>
                <a:lnTo>
                  <a:pt x="139526" y="50229"/>
                </a:lnTo>
                <a:cubicBezTo>
                  <a:pt x="143024" y="46732"/>
                  <a:pt x="148679" y="46732"/>
                  <a:pt x="152140" y="50229"/>
                </a:cubicBezTo>
                <a:lnTo>
                  <a:pt x="175952" y="74042"/>
                </a:lnTo>
                <a:cubicBezTo>
                  <a:pt x="177626" y="75716"/>
                  <a:pt x="178557" y="77986"/>
                  <a:pt x="178557" y="80367"/>
                </a:cubicBezTo>
                <a:lnTo>
                  <a:pt x="178557" y="122039"/>
                </a:lnTo>
                <a:cubicBezTo>
                  <a:pt x="178557" y="126988"/>
                  <a:pt x="174575" y="130969"/>
                  <a:pt x="169627" y="130969"/>
                </a:cubicBezTo>
                <a:lnTo>
                  <a:pt x="56517" y="130969"/>
                </a:lnTo>
                <a:cubicBezTo>
                  <a:pt x="51569" y="130969"/>
                  <a:pt x="47588" y="126988"/>
                  <a:pt x="47588" y="122039"/>
                </a:cubicBezTo>
                <a:lnTo>
                  <a:pt x="47588" y="80367"/>
                </a:lnTo>
                <a:cubicBezTo>
                  <a:pt x="47588" y="78135"/>
                  <a:pt x="48444" y="75977"/>
                  <a:pt x="49932" y="74340"/>
                </a:cubicBezTo>
                <a:lnTo>
                  <a:pt x="82674" y="38621"/>
                </a:lnTo>
                <a:cubicBezTo>
                  <a:pt x="84348" y="36761"/>
                  <a:pt x="86767" y="35719"/>
                  <a:pt x="89260" y="35719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8" name="Text 6"/>
          <p:cNvSpPr/>
          <p:nvPr/>
        </p:nvSpPr>
        <p:spPr>
          <a:xfrm>
            <a:off x="1104900" y="1524000"/>
            <a:ext cx="1885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ROC 曲线与 AUC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8163" y="2024062"/>
            <a:ext cx="5324475" cy="1152525"/>
          </a:xfrm>
          <a:custGeom>
            <a:avLst/>
            <a:gdLst/>
            <a:ahLst/>
            <a:cxnLst/>
            <a:rect l="l" t="t" r="r" b="b"/>
            <a:pathLst>
              <a:path w="5324475" h="1152525">
                <a:moveTo>
                  <a:pt x="76205" y="0"/>
                </a:moveTo>
                <a:lnTo>
                  <a:pt x="5248270" y="0"/>
                </a:lnTo>
                <a:cubicBezTo>
                  <a:pt x="5290357" y="0"/>
                  <a:pt x="5324475" y="34118"/>
                  <a:pt x="5324475" y="76205"/>
                </a:cubicBezTo>
                <a:lnTo>
                  <a:pt x="5324475" y="1076320"/>
                </a:lnTo>
                <a:cubicBezTo>
                  <a:pt x="5324475" y="1118407"/>
                  <a:pt x="5290357" y="1152525"/>
                  <a:pt x="5248270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7225" y="2143125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坐标轴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7225" y="2486025"/>
            <a:ext cx="2486025" cy="571500"/>
          </a:xfrm>
          <a:custGeom>
            <a:avLst/>
            <a:gdLst/>
            <a:ahLst/>
            <a:cxnLst/>
            <a:rect l="l" t="t" r="r" b="b"/>
            <a:pathLst>
              <a:path w="2486025" h="571500">
                <a:moveTo>
                  <a:pt x="38102" y="0"/>
                </a:moveTo>
                <a:lnTo>
                  <a:pt x="2447923" y="0"/>
                </a:lnTo>
                <a:cubicBezTo>
                  <a:pt x="2468966" y="0"/>
                  <a:pt x="2486025" y="17059"/>
                  <a:pt x="2486025" y="38102"/>
                </a:cubicBezTo>
                <a:lnTo>
                  <a:pt x="2486025" y="533398"/>
                </a:lnTo>
                <a:cubicBezTo>
                  <a:pt x="2486025" y="554441"/>
                  <a:pt x="2468966" y="571500"/>
                  <a:pt x="24479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3425" y="2562225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X轴：FPR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3425" y="2790825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假正例率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57550" y="2486025"/>
            <a:ext cx="2486025" cy="571500"/>
          </a:xfrm>
          <a:custGeom>
            <a:avLst/>
            <a:gdLst/>
            <a:ahLst/>
            <a:cxnLst/>
            <a:rect l="l" t="t" r="r" b="b"/>
            <a:pathLst>
              <a:path w="2486025" h="571500">
                <a:moveTo>
                  <a:pt x="38102" y="0"/>
                </a:moveTo>
                <a:lnTo>
                  <a:pt x="2447923" y="0"/>
                </a:lnTo>
                <a:cubicBezTo>
                  <a:pt x="2468966" y="0"/>
                  <a:pt x="2486025" y="17059"/>
                  <a:pt x="2486025" y="38102"/>
                </a:cubicBezTo>
                <a:lnTo>
                  <a:pt x="2486025" y="533398"/>
                </a:lnTo>
                <a:cubicBezTo>
                  <a:pt x="2486025" y="554441"/>
                  <a:pt x="2468966" y="571500"/>
                  <a:pt x="24479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718096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333750" y="2562225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Y轴：TPR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33750" y="2790825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真正例率/召回率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3257550"/>
            <a:ext cx="5334000" cy="781050"/>
          </a:xfrm>
          <a:custGeom>
            <a:avLst/>
            <a:gdLst/>
            <a:ahLst/>
            <a:cxnLst/>
            <a:rect l="l" t="t" r="r" b="b"/>
            <a:pathLst>
              <a:path w="5334000" h="781050">
                <a:moveTo>
                  <a:pt x="76199" y="0"/>
                </a:moveTo>
                <a:lnTo>
                  <a:pt x="5257801" y="0"/>
                </a:lnTo>
                <a:cubicBezTo>
                  <a:pt x="5299884" y="0"/>
                  <a:pt x="5334000" y="34116"/>
                  <a:pt x="5334000" y="76199"/>
                </a:cubicBezTo>
                <a:lnTo>
                  <a:pt x="5334000" y="704851"/>
                </a:lnTo>
                <a:cubicBezTo>
                  <a:pt x="5334000" y="746934"/>
                  <a:pt x="5299884" y="781050"/>
                  <a:pt x="5257801" y="781050"/>
                </a:cubicBezTo>
                <a:lnTo>
                  <a:pt x="76199" y="781050"/>
                </a:lnTo>
                <a:cubicBezTo>
                  <a:pt x="34116" y="781050"/>
                  <a:pt x="0" y="746934"/>
                  <a:pt x="0" y="7048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7700" y="3371850"/>
            <a:ext cx="518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TPR尽可能高（抓得多），同时FPR尽可能低（误伤少）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700" y="3695700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曲线越靠近左上角越好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8163" y="4119562"/>
            <a:ext cx="5324475" cy="1419225"/>
          </a:xfrm>
          <a:custGeom>
            <a:avLst/>
            <a:gdLst/>
            <a:ahLst/>
            <a:cxnLst/>
            <a:rect l="l" t="t" r="r" b="b"/>
            <a:pathLst>
              <a:path w="5324475" h="1419225">
                <a:moveTo>
                  <a:pt x="76198" y="0"/>
                </a:moveTo>
                <a:lnTo>
                  <a:pt x="5248277" y="0"/>
                </a:lnTo>
                <a:cubicBezTo>
                  <a:pt x="5290360" y="0"/>
                  <a:pt x="5324475" y="34115"/>
                  <a:pt x="5324475" y="76198"/>
                </a:cubicBezTo>
                <a:lnTo>
                  <a:pt x="5324475" y="1343027"/>
                </a:lnTo>
                <a:cubicBezTo>
                  <a:pt x="5324475" y="1385110"/>
                  <a:pt x="5290360" y="1419225"/>
                  <a:pt x="5248277" y="1419225"/>
                </a:cubicBezTo>
                <a:lnTo>
                  <a:pt x="76198" y="1419225"/>
                </a:lnTo>
                <a:cubicBezTo>
                  <a:pt x="34115" y="1419225"/>
                  <a:pt x="0" y="1385110"/>
                  <a:pt x="0" y="13430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7225" y="4238625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AUC (Area Under Curve)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7225" y="458152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ROC曲线下的面积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7225" y="488632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范围：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[0, 1]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7225" y="519112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解释：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1.0=完美排序，0.5=随机排序基线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3400" y="5619750"/>
            <a:ext cx="5334000" cy="723900"/>
          </a:xfrm>
          <a:custGeom>
            <a:avLst/>
            <a:gdLst/>
            <a:ahLst/>
            <a:cxnLst/>
            <a:rect l="l" t="t" r="r" b="b"/>
            <a:pathLst>
              <a:path w="5334000" h="723900">
                <a:moveTo>
                  <a:pt x="76198" y="0"/>
                </a:moveTo>
                <a:lnTo>
                  <a:pt x="5257802" y="0"/>
                </a:lnTo>
                <a:cubicBezTo>
                  <a:pt x="5299857" y="0"/>
                  <a:pt x="5334000" y="34143"/>
                  <a:pt x="5334000" y="76198"/>
                </a:cubicBezTo>
                <a:lnTo>
                  <a:pt x="5334000" y="647702"/>
                </a:lnTo>
                <a:cubicBezTo>
                  <a:pt x="5334000" y="689757"/>
                  <a:pt x="5299857" y="723900"/>
                  <a:pt x="52578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718096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7700" y="573405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很多不平衡场景下比Accuracy更稳健，但在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极端不平衡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时仍建议结合PR曲线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2200" y="1276350"/>
            <a:ext cx="5638800" cy="5219700"/>
          </a:xfrm>
          <a:custGeom>
            <a:avLst/>
            <a:gdLst/>
            <a:ahLst/>
            <a:cxnLst/>
            <a:rect l="l" t="t" r="r" b="b"/>
            <a:pathLst>
              <a:path w="5638800" h="52197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5143492"/>
                </a:lnTo>
                <a:cubicBezTo>
                  <a:pt x="5638800" y="5185581"/>
                  <a:pt x="5604681" y="5219700"/>
                  <a:pt x="5562592" y="5219700"/>
                </a:cubicBezTo>
                <a:lnTo>
                  <a:pt x="76208" y="5219700"/>
                </a:lnTo>
                <a:cubicBezTo>
                  <a:pt x="34119" y="5219700"/>
                  <a:pt x="0" y="5185581"/>
                  <a:pt x="0" y="514349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172200" y="12763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29" name="Shape 27"/>
          <p:cNvSpPr/>
          <p:nvPr/>
        </p:nvSpPr>
        <p:spPr>
          <a:xfrm>
            <a:off x="63246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30" name="Shape 28"/>
          <p:cNvSpPr/>
          <p:nvPr/>
        </p:nvSpPr>
        <p:spPr>
          <a:xfrm>
            <a:off x="6457950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1" name="Text 29"/>
          <p:cNvSpPr/>
          <p:nvPr/>
        </p:nvSpPr>
        <p:spPr>
          <a:xfrm>
            <a:off x="6896100" y="1524000"/>
            <a:ext cx="2076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 曲线与 PR-AUC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29363" y="2024062"/>
            <a:ext cx="5324475" cy="1152525"/>
          </a:xfrm>
          <a:custGeom>
            <a:avLst/>
            <a:gdLst/>
            <a:ahLst/>
            <a:cxnLst/>
            <a:rect l="l" t="t" r="r" b="b"/>
            <a:pathLst>
              <a:path w="5324475" h="1152525">
                <a:moveTo>
                  <a:pt x="76205" y="0"/>
                </a:moveTo>
                <a:lnTo>
                  <a:pt x="5248270" y="0"/>
                </a:lnTo>
                <a:cubicBezTo>
                  <a:pt x="5290357" y="0"/>
                  <a:pt x="5324475" y="34118"/>
                  <a:pt x="5324475" y="76205"/>
                </a:cubicBezTo>
                <a:lnTo>
                  <a:pt x="5324475" y="1076320"/>
                </a:lnTo>
                <a:cubicBezTo>
                  <a:pt x="5324475" y="1118407"/>
                  <a:pt x="5290357" y="1152525"/>
                  <a:pt x="5248270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8425" y="2143125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坐标轴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48425" y="2486025"/>
            <a:ext cx="2486025" cy="571500"/>
          </a:xfrm>
          <a:custGeom>
            <a:avLst/>
            <a:gdLst/>
            <a:ahLst/>
            <a:cxnLst/>
            <a:rect l="l" t="t" r="r" b="b"/>
            <a:pathLst>
              <a:path w="2486025" h="571500">
                <a:moveTo>
                  <a:pt x="38102" y="0"/>
                </a:moveTo>
                <a:lnTo>
                  <a:pt x="2447923" y="0"/>
                </a:lnTo>
                <a:cubicBezTo>
                  <a:pt x="2468966" y="0"/>
                  <a:pt x="2486025" y="17059"/>
                  <a:pt x="2486025" y="38102"/>
                </a:cubicBezTo>
                <a:lnTo>
                  <a:pt x="2486025" y="533398"/>
                </a:lnTo>
                <a:cubicBezTo>
                  <a:pt x="2486025" y="554441"/>
                  <a:pt x="2468966" y="571500"/>
                  <a:pt x="24479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718096">
              <a:alpha val="1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524625" y="2562225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X轴：Recall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24625" y="2790825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召回率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48750" y="2486025"/>
            <a:ext cx="2486025" cy="571500"/>
          </a:xfrm>
          <a:custGeom>
            <a:avLst/>
            <a:gdLst/>
            <a:ahLst/>
            <a:cxnLst/>
            <a:rect l="l" t="t" r="r" b="b"/>
            <a:pathLst>
              <a:path w="2486025" h="571500">
                <a:moveTo>
                  <a:pt x="38102" y="0"/>
                </a:moveTo>
                <a:lnTo>
                  <a:pt x="2447923" y="0"/>
                </a:lnTo>
                <a:cubicBezTo>
                  <a:pt x="2468966" y="0"/>
                  <a:pt x="2486025" y="17059"/>
                  <a:pt x="2486025" y="38102"/>
                </a:cubicBezTo>
                <a:lnTo>
                  <a:pt x="2486025" y="533398"/>
                </a:lnTo>
                <a:cubicBezTo>
                  <a:pt x="2486025" y="554441"/>
                  <a:pt x="2468966" y="571500"/>
                  <a:pt x="24479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124950" y="2562225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Y轴：Precision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24950" y="2790825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精确率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24600" y="3276600"/>
            <a:ext cx="5334000" cy="723900"/>
          </a:xfrm>
          <a:custGeom>
            <a:avLst/>
            <a:gdLst/>
            <a:ahLst/>
            <a:cxnLst/>
            <a:rect l="l" t="t" r="r" b="b"/>
            <a:pathLst>
              <a:path w="5334000" h="723900">
                <a:moveTo>
                  <a:pt x="76198" y="0"/>
                </a:moveTo>
                <a:lnTo>
                  <a:pt x="5257802" y="0"/>
                </a:lnTo>
                <a:cubicBezTo>
                  <a:pt x="5299857" y="0"/>
                  <a:pt x="5334000" y="34143"/>
                  <a:pt x="5334000" y="76198"/>
                </a:cubicBezTo>
                <a:lnTo>
                  <a:pt x="5334000" y="647702"/>
                </a:lnTo>
                <a:cubicBezTo>
                  <a:pt x="5334000" y="689757"/>
                  <a:pt x="5299857" y="723900"/>
                  <a:pt x="52578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718096">
              <a:alpha val="1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38900" y="339090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当正类非常稀少（如欺诈检测、故障预警）时，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PR曲线更能反映模型对正类的识别能力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29363" y="4100513"/>
            <a:ext cx="5324475" cy="1419225"/>
          </a:xfrm>
          <a:custGeom>
            <a:avLst/>
            <a:gdLst/>
            <a:ahLst/>
            <a:cxnLst/>
            <a:rect l="l" t="t" r="r" b="b"/>
            <a:pathLst>
              <a:path w="5324475" h="1419225">
                <a:moveTo>
                  <a:pt x="76198" y="0"/>
                </a:moveTo>
                <a:lnTo>
                  <a:pt x="5248277" y="0"/>
                </a:lnTo>
                <a:cubicBezTo>
                  <a:pt x="5290360" y="0"/>
                  <a:pt x="5324475" y="34115"/>
                  <a:pt x="5324475" y="76198"/>
                </a:cubicBezTo>
                <a:lnTo>
                  <a:pt x="5324475" y="1343027"/>
                </a:lnTo>
                <a:cubicBezTo>
                  <a:pt x="5324475" y="1385110"/>
                  <a:pt x="5290360" y="1419225"/>
                  <a:pt x="5248277" y="1419225"/>
                </a:cubicBezTo>
                <a:lnTo>
                  <a:pt x="76198" y="1419225"/>
                </a:lnTo>
                <a:cubicBezTo>
                  <a:pt x="34115" y="1419225"/>
                  <a:pt x="0" y="1385110"/>
                  <a:pt x="0" y="13430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8425" y="4219575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PR-AUC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48425" y="45624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PR曲线下的面积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48425" y="48672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基线：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与正类比例相关（如正类占5%，基线为0.05）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48425" y="51720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优势：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更适合对比不同模型在稀有事件上的表现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24600" y="5619750"/>
            <a:ext cx="5334000" cy="723900"/>
          </a:xfrm>
          <a:custGeom>
            <a:avLst/>
            <a:gdLst/>
            <a:ahLst/>
            <a:cxnLst/>
            <a:rect l="l" t="t" r="r" b="b"/>
            <a:pathLst>
              <a:path w="5334000" h="723900">
                <a:moveTo>
                  <a:pt x="76198" y="0"/>
                </a:moveTo>
                <a:lnTo>
                  <a:pt x="5257802" y="0"/>
                </a:lnTo>
                <a:cubicBezTo>
                  <a:pt x="5299857" y="0"/>
                  <a:pt x="5334000" y="34143"/>
                  <a:pt x="5334000" y="76198"/>
                </a:cubicBezTo>
                <a:lnTo>
                  <a:pt x="5334000" y="647702"/>
                </a:lnTo>
                <a:cubicBezTo>
                  <a:pt x="5334000" y="689757"/>
                  <a:pt x="5299857" y="723900"/>
                  <a:pt x="52578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438900" y="573405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对比：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ROC曲线关注FP和TP的平衡，PR曲线更关注Precision和Recall在正类上的表现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D69E2E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无监督学习评估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评估无监督学习结果比监督学习更具挑战性，因为没有明确的"正确答案"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76350"/>
            <a:ext cx="5638800" cy="4743450"/>
          </a:xfrm>
          <a:custGeom>
            <a:avLst/>
            <a:gdLst/>
            <a:ahLst/>
            <a:cxnLst/>
            <a:rect l="l" t="t" r="r" b="b"/>
            <a:pathLst>
              <a:path w="5638800" h="474345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4667270"/>
                </a:lnTo>
                <a:cubicBezTo>
                  <a:pt x="5638800" y="4709343"/>
                  <a:pt x="5604693" y="4743450"/>
                  <a:pt x="5562620" y="4743450"/>
                </a:cubicBezTo>
                <a:lnTo>
                  <a:pt x="76180" y="4743450"/>
                </a:lnTo>
                <a:cubicBezTo>
                  <a:pt x="34107" y="4743450"/>
                  <a:pt x="0" y="4709343"/>
                  <a:pt x="0" y="466727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2763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7" name="Shape 5"/>
          <p:cNvSpPr/>
          <p:nvPr/>
        </p:nvSpPr>
        <p:spPr>
          <a:xfrm>
            <a:off x="666750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8" name="Text 6"/>
          <p:cNvSpPr/>
          <p:nvPr/>
        </p:nvSpPr>
        <p:spPr>
          <a:xfrm>
            <a:off x="1104900" y="1524000"/>
            <a:ext cx="148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聚类评估指标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3400" y="2057400"/>
            <a:ext cx="5334000" cy="723900"/>
          </a:xfrm>
          <a:custGeom>
            <a:avLst/>
            <a:gdLst/>
            <a:ahLst/>
            <a:cxnLst/>
            <a:rect l="l" t="t" r="r" b="b"/>
            <a:pathLst>
              <a:path w="5334000" h="723900">
                <a:moveTo>
                  <a:pt x="76198" y="0"/>
                </a:moveTo>
                <a:lnTo>
                  <a:pt x="5257802" y="0"/>
                </a:lnTo>
                <a:cubicBezTo>
                  <a:pt x="5299857" y="0"/>
                  <a:pt x="5334000" y="34143"/>
                  <a:pt x="5334000" y="76198"/>
                </a:cubicBezTo>
                <a:lnTo>
                  <a:pt x="5334000" y="647702"/>
                </a:lnTo>
                <a:cubicBezTo>
                  <a:pt x="5334000" y="689757"/>
                  <a:pt x="5299857" y="723900"/>
                  <a:pt x="52578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33400" y="2057400"/>
            <a:ext cx="5410200" cy="7239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评估思路：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从簇内紧密度与簇间分离度出发，在缺少标签的条件下定量比较聚类质量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8163" y="2938463"/>
            <a:ext cx="5324475" cy="1419225"/>
          </a:xfrm>
          <a:custGeom>
            <a:avLst/>
            <a:gdLst/>
            <a:ahLst/>
            <a:cxnLst/>
            <a:rect l="l" t="t" r="r" b="b"/>
            <a:pathLst>
              <a:path w="5324475" h="1419225">
                <a:moveTo>
                  <a:pt x="76198" y="0"/>
                </a:moveTo>
                <a:lnTo>
                  <a:pt x="5248277" y="0"/>
                </a:lnTo>
                <a:cubicBezTo>
                  <a:pt x="5290360" y="0"/>
                  <a:pt x="5324475" y="34115"/>
                  <a:pt x="5324475" y="76198"/>
                </a:cubicBezTo>
                <a:lnTo>
                  <a:pt x="5324475" y="1343027"/>
                </a:lnTo>
                <a:cubicBezTo>
                  <a:pt x="5324475" y="1385110"/>
                  <a:pt x="5290360" y="1419225"/>
                  <a:pt x="5248277" y="1419225"/>
                </a:cubicBezTo>
                <a:lnTo>
                  <a:pt x="76198" y="1419225"/>
                </a:lnTo>
                <a:cubicBezTo>
                  <a:pt x="34115" y="1419225"/>
                  <a:pt x="0" y="1385110"/>
                  <a:pt x="0" y="13430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275" y="31146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13" name="Text 11"/>
          <p:cNvSpPr/>
          <p:nvPr/>
        </p:nvSpPr>
        <p:spPr>
          <a:xfrm>
            <a:off x="923925" y="3057525"/>
            <a:ext cx="221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轮廓系数 (Silhouette Score)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225" y="340042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思想：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衡量样本与其所属簇的相似度（紧密度）和与其他簇的分离度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7225" y="370522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值范围：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[-1, 1]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7225" y="401002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越大越好！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8163" y="4519613"/>
            <a:ext cx="5324475" cy="1114425"/>
          </a:xfrm>
          <a:custGeom>
            <a:avLst/>
            <a:gdLst/>
            <a:ahLst/>
            <a:cxnLst/>
            <a:rect l="l" t="t" r="r" b="b"/>
            <a:pathLst>
              <a:path w="5324475" h="1114425">
                <a:moveTo>
                  <a:pt x="76204" y="0"/>
                </a:moveTo>
                <a:lnTo>
                  <a:pt x="5248271" y="0"/>
                </a:lnTo>
                <a:cubicBezTo>
                  <a:pt x="5290357" y="0"/>
                  <a:pt x="5324475" y="34118"/>
                  <a:pt x="5324475" y="76204"/>
                </a:cubicBezTo>
                <a:lnTo>
                  <a:pt x="5324475" y="1038221"/>
                </a:lnTo>
                <a:cubicBezTo>
                  <a:pt x="5324475" y="1080307"/>
                  <a:pt x="5290357" y="1114425"/>
                  <a:pt x="5248271" y="1114425"/>
                </a:cubicBezTo>
                <a:lnTo>
                  <a:pt x="76204" y="1114425"/>
                </a:lnTo>
                <a:cubicBezTo>
                  <a:pt x="34118" y="1114425"/>
                  <a:pt x="0" y="1080307"/>
                  <a:pt x="0" y="10382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275" y="4695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19" name="Text 17"/>
          <p:cNvSpPr/>
          <p:nvPr/>
        </p:nvSpPr>
        <p:spPr>
          <a:xfrm>
            <a:off x="923925" y="4638675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Calinski-Harabasz 指数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7225" y="49815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思想：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计算簇间离散度与簇内离散度的比值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7225" y="52863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解释：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值越大表示聚类效果越好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2200" y="1276350"/>
            <a:ext cx="5638800" cy="4743450"/>
          </a:xfrm>
          <a:custGeom>
            <a:avLst/>
            <a:gdLst/>
            <a:ahLst/>
            <a:cxnLst/>
            <a:rect l="l" t="t" r="r" b="b"/>
            <a:pathLst>
              <a:path w="5638800" h="474345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4667270"/>
                </a:lnTo>
                <a:cubicBezTo>
                  <a:pt x="5638800" y="4709343"/>
                  <a:pt x="5604693" y="4743450"/>
                  <a:pt x="5562620" y="4743450"/>
                </a:cubicBezTo>
                <a:lnTo>
                  <a:pt x="76180" y="4743450"/>
                </a:lnTo>
                <a:cubicBezTo>
                  <a:pt x="34107" y="4743450"/>
                  <a:pt x="0" y="4709343"/>
                  <a:pt x="0" y="466727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72200" y="12763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24" name="Shape 22"/>
          <p:cNvSpPr/>
          <p:nvPr/>
        </p:nvSpPr>
        <p:spPr>
          <a:xfrm>
            <a:off x="63246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25" name="Shape 23"/>
          <p:cNvSpPr/>
          <p:nvPr/>
        </p:nvSpPr>
        <p:spPr>
          <a:xfrm>
            <a:off x="6457950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9664" y="83344"/>
                </a:moveTo>
                <a:lnTo>
                  <a:pt x="116086" y="83344"/>
                </a:lnTo>
                <a:cubicBezTo>
                  <a:pt x="111137" y="83344"/>
                  <a:pt x="107156" y="79363"/>
                  <a:pt x="107156" y="74414"/>
                </a:cubicBezTo>
                <a:lnTo>
                  <a:pt x="107156" y="20836"/>
                </a:lnTo>
                <a:cubicBezTo>
                  <a:pt x="107156" y="17227"/>
                  <a:pt x="109314" y="13953"/>
                  <a:pt x="112663" y="12576"/>
                </a:cubicBezTo>
                <a:cubicBezTo>
                  <a:pt x="116012" y="11199"/>
                  <a:pt x="119844" y="11981"/>
                  <a:pt x="122411" y="14511"/>
                </a:cubicBezTo>
                <a:lnTo>
                  <a:pt x="137294" y="29394"/>
                </a:lnTo>
                <a:lnTo>
                  <a:pt x="164604" y="2084"/>
                </a:lnTo>
                <a:cubicBezTo>
                  <a:pt x="165943" y="744"/>
                  <a:pt x="167767" y="0"/>
                  <a:pt x="169664" y="0"/>
                </a:cubicBezTo>
                <a:cubicBezTo>
                  <a:pt x="171562" y="0"/>
                  <a:pt x="173385" y="744"/>
                  <a:pt x="174761" y="2121"/>
                </a:cubicBezTo>
                <a:lnTo>
                  <a:pt x="188416" y="15776"/>
                </a:lnTo>
                <a:cubicBezTo>
                  <a:pt x="189756" y="17115"/>
                  <a:pt x="190500" y="18938"/>
                  <a:pt x="190500" y="20836"/>
                </a:cubicBezTo>
                <a:cubicBezTo>
                  <a:pt x="190500" y="22733"/>
                  <a:pt x="189756" y="24557"/>
                  <a:pt x="188379" y="25933"/>
                </a:cubicBezTo>
                <a:lnTo>
                  <a:pt x="161106" y="53206"/>
                </a:lnTo>
                <a:lnTo>
                  <a:pt x="175989" y="68089"/>
                </a:lnTo>
                <a:cubicBezTo>
                  <a:pt x="178557" y="70656"/>
                  <a:pt x="179301" y="74488"/>
                  <a:pt x="177924" y="77837"/>
                </a:cubicBezTo>
                <a:cubicBezTo>
                  <a:pt x="176547" y="81186"/>
                  <a:pt x="173273" y="83344"/>
                  <a:pt x="169664" y="83344"/>
                </a:cubicBezTo>
                <a:close/>
                <a:moveTo>
                  <a:pt x="169664" y="107156"/>
                </a:moveTo>
                <a:cubicBezTo>
                  <a:pt x="173273" y="107156"/>
                  <a:pt x="176547" y="109314"/>
                  <a:pt x="177924" y="112663"/>
                </a:cubicBezTo>
                <a:cubicBezTo>
                  <a:pt x="179301" y="116012"/>
                  <a:pt x="178557" y="119844"/>
                  <a:pt x="175989" y="122411"/>
                </a:cubicBezTo>
                <a:lnTo>
                  <a:pt x="161106" y="137294"/>
                </a:lnTo>
                <a:lnTo>
                  <a:pt x="188416" y="164604"/>
                </a:lnTo>
                <a:cubicBezTo>
                  <a:pt x="189756" y="165943"/>
                  <a:pt x="190537" y="167767"/>
                  <a:pt x="190537" y="169701"/>
                </a:cubicBezTo>
                <a:cubicBezTo>
                  <a:pt x="190537" y="171636"/>
                  <a:pt x="189793" y="173422"/>
                  <a:pt x="188416" y="174799"/>
                </a:cubicBezTo>
                <a:lnTo>
                  <a:pt x="174761" y="188454"/>
                </a:lnTo>
                <a:cubicBezTo>
                  <a:pt x="173385" y="189756"/>
                  <a:pt x="171562" y="190500"/>
                  <a:pt x="169664" y="190500"/>
                </a:cubicBezTo>
                <a:cubicBezTo>
                  <a:pt x="167767" y="190500"/>
                  <a:pt x="165943" y="189756"/>
                  <a:pt x="164567" y="188379"/>
                </a:cubicBezTo>
                <a:lnTo>
                  <a:pt x="137294" y="161106"/>
                </a:lnTo>
                <a:lnTo>
                  <a:pt x="122411" y="175989"/>
                </a:lnTo>
                <a:cubicBezTo>
                  <a:pt x="119844" y="178557"/>
                  <a:pt x="116012" y="179301"/>
                  <a:pt x="112663" y="177924"/>
                </a:cubicBezTo>
                <a:cubicBezTo>
                  <a:pt x="109314" y="176547"/>
                  <a:pt x="107156" y="173273"/>
                  <a:pt x="107156" y="169664"/>
                </a:cubicBezTo>
                <a:lnTo>
                  <a:pt x="107156" y="116086"/>
                </a:lnTo>
                <a:cubicBezTo>
                  <a:pt x="107156" y="111137"/>
                  <a:pt x="111137" y="107156"/>
                  <a:pt x="116086" y="107156"/>
                </a:cubicBezTo>
                <a:lnTo>
                  <a:pt x="169664" y="107156"/>
                </a:lnTo>
                <a:close/>
                <a:moveTo>
                  <a:pt x="74414" y="107156"/>
                </a:moveTo>
                <a:cubicBezTo>
                  <a:pt x="79363" y="107156"/>
                  <a:pt x="83344" y="111137"/>
                  <a:pt x="83344" y="116086"/>
                </a:cubicBezTo>
                <a:lnTo>
                  <a:pt x="83344" y="169664"/>
                </a:lnTo>
                <a:cubicBezTo>
                  <a:pt x="83344" y="173273"/>
                  <a:pt x="81186" y="176547"/>
                  <a:pt x="77837" y="177924"/>
                </a:cubicBezTo>
                <a:cubicBezTo>
                  <a:pt x="74488" y="179301"/>
                  <a:pt x="70656" y="178557"/>
                  <a:pt x="68089" y="175989"/>
                </a:cubicBezTo>
                <a:lnTo>
                  <a:pt x="53206" y="161106"/>
                </a:lnTo>
                <a:lnTo>
                  <a:pt x="25896" y="188416"/>
                </a:lnTo>
                <a:cubicBezTo>
                  <a:pt x="24557" y="189756"/>
                  <a:pt x="22733" y="190500"/>
                  <a:pt x="20836" y="190500"/>
                </a:cubicBezTo>
                <a:cubicBezTo>
                  <a:pt x="18938" y="190500"/>
                  <a:pt x="17115" y="189756"/>
                  <a:pt x="15739" y="188379"/>
                </a:cubicBezTo>
                <a:lnTo>
                  <a:pt x="2121" y="174761"/>
                </a:lnTo>
                <a:cubicBezTo>
                  <a:pt x="744" y="173385"/>
                  <a:pt x="0" y="171562"/>
                  <a:pt x="0" y="169664"/>
                </a:cubicBezTo>
                <a:cubicBezTo>
                  <a:pt x="0" y="167767"/>
                  <a:pt x="744" y="165943"/>
                  <a:pt x="2121" y="164567"/>
                </a:cubicBezTo>
                <a:lnTo>
                  <a:pt x="29394" y="137294"/>
                </a:lnTo>
                <a:lnTo>
                  <a:pt x="14511" y="122411"/>
                </a:lnTo>
                <a:cubicBezTo>
                  <a:pt x="11943" y="119844"/>
                  <a:pt x="11199" y="116012"/>
                  <a:pt x="12576" y="112663"/>
                </a:cubicBezTo>
                <a:cubicBezTo>
                  <a:pt x="13953" y="109314"/>
                  <a:pt x="17227" y="107156"/>
                  <a:pt x="20836" y="107156"/>
                </a:cubicBezTo>
                <a:lnTo>
                  <a:pt x="74414" y="107156"/>
                </a:lnTo>
                <a:close/>
                <a:moveTo>
                  <a:pt x="20836" y="83344"/>
                </a:moveTo>
                <a:cubicBezTo>
                  <a:pt x="17227" y="83344"/>
                  <a:pt x="13953" y="81186"/>
                  <a:pt x="12576" y="77837"/>
                </a:cubicBezTo>
                <a:cubicBezTo>
                  <a:pt x="11199" y="74488"/>
                  <a:pt x="11981" y="70656"/>
                  <a:pt x="14511" y="68089"/>
                </a:cubicBezTo>
                <a:lnTo>
                  <a:pt x="29394" y="53206"/>
                </a:lnTo>
                <a:lnTo>
                  <a:pt x="2121" y="25933"/>
                </a:lnTo>
                <a:cubicBezTo>
                  <a:pt x="744" y="24557"/>
                  <a:pt x="0" y="22733"/>
                  <a:pt x="0" y="20836"/>
                </a:cubicBezTo>
                <a:cubicBezTo>
                  <a:pt x="0" y="18938"/>
                  <a:pt x="744" y="17115"/>
                  <a:pt x="2121" y="15739"/>
                </a:cubicBezTo>
                <a:lnTo>
                  <a:pt x="15739" y="2121"/>
                </a:lnTo>
                <a:cubicBezTo>
                  <a:pt x="17115" y="744"/>
                  <a:pt x="18938" y="0"/>
                  <a:pt x="20836" y="0"/>
                </a:cubicBezTo>
                <a:cubicBezTo>
                  <a:pt x="22733" y="0"/>
                  <a:pt x="24557" y="744"/>
                  <a:pt x="25933" y="2121"/>
                </a:cubicBezTo>
                <a:lnTo>
                  <a:pt x="53206" y="29394"/>
                </a:lnTo>
                <a:lnTo>
                  <a:pt x="68089" y="14511"/>
                </a:lnTo>
                <a:cubicBezTo>
                  <a:pt x="70656" y="11943"/>
                  <a:pt x="74488" y="11199"/>
                  <a:pt x="77837" y="12576"/>
                </a:cubicBezTo>
                <a:cubicBezTo>
                  <a:pt x="81186" y="13953"/>
                  <a:pt x="83344" y="17227"/>
                  <a:pt x="83344" y="20836"/>
                </a:cubicBezTo>
                <a:lnTo>
                  <a:pt x="83344" y="74414"/>
                </a:lnTo>
                <a:cubicBezTo>
                  <a:pt x="83344" y="79363"/>
                  <a:pt x="79363" y="83344"/>
                  <a:pt x="74414" y="83344"/>
                </a:cubicBezTo>
                <a:lnTo>
                  <a:pt x="20836" y="83344"/>
                </a:ln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6" name="Text 24"/>
          <p:cNvSpPr/>
          <p:nvPr/>
        </p:nvSpPr>
        <p:spPr>
          <a:xfrm>
            <a:off x="6896100" y="15240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降维评估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24600" y="2057400"/>
            <a:ext cx="5334000" cy="723900"/>
          </a:xfrm>
          <a:custGeom>
            <a:avLst/>
            <a:gdLst/>
            <a:ahLst/>
            <a:cxnLst/>
            <a:rect l="l" t="t" r="r" b="b"/>
            <a:pathLst>
              <a:path w="5334000" h="723900">
                <a:moveTo>
                  <a:pt x="76198" y="0"/>
                </a:moveTo>
                <a:lnTo>
                  <a:pt x="5257802" y="0"/>
                </a:lnTo>
                <a:cubicBezTo>
                  <a:pt x="5299857" y="0"/>
                  <a:pt x="5334000" y="34143"/>
                  <a:pt x="5334000" y="76198"/>
                </a:cubicBezTo>
                <a:lnTo>
                  <a:pt x="5334000" y="647702"/>
                </a:lnTo>
                <a:cubicBezTo>
                  <a:pt x="5334000" y="689757"/>
                  <a:pt x="5299857" y="723900"/>
                  <a:pt x="52578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718096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24600" y="2057400"/>
            <a:ext cx="5410200" cy="7239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评估思路：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关注低维表示对原始信息的保真度，以及对可视化与下游任务的支持程度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29363" y="2938463"/>
            <a:ext cx="5324475" cy="1381125"/>
          </a:xfrm>
          <a:custGeom>
            <a:avLst/>
            <a:gdLst/>
            <a:ahLst/>
            <a:cxnLst/>
            <a:rect l="l" t="t" r="r" b="b"/>
            <a:pathLst>
              <a:path w="5324475" h="1381125">
                <a:moveTo>
                  <a:pt x="76197" y="0"/>
                </a:moveTo>
                <a:lnTo>
                  <a:pt x="5248278" y="0"/>
                </a:lnTo>
                <a:cubicBezTo>
                  <a:pt x="5290361" y="0"/>
                  <a:pt x="5324475" y="34114"/>
                  <a:pt x="5324475" y="76197"/>
                </a:cubicBezTo>
                <a:lnTo>
                  <a:pt x="5324475" y="1304928"/>
                </a:lnTo>
                <a:cubicBezTo>
                  <a:pt x="5324475" y="1347011"/>
                  <a:pt x="5290361" y="1381125"/>
                  <a:pt x="5248278" y="1381125"/>
                </a:cubicBezTo>
                <a:lnTo>
                  <a:pt x="76197" y="1381125"/>
                </a:lnTo>
                <a:cubicBezTo>
                  <a:pt x="34114" y="1381125"/>
                  <a:pt x="0" y="1347011"/>
                  <a:pt x="0" y="130492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86525" y="31146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28575" y="19050"/>
                </a:moveTo>
                <a:lnTo>
                  <a:pt x="85725" y="19050"/>
                </a:lnTo>
                <a:cubicBezTo>
                  <a:pt x="90994" y="19050"/>
                  <a:pt x="95250" y="23306"/>
                  <a:pt x="95250" y="28575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28575" y="47625"/>
                </a:lnTo>
                <a:cubicBezTo>
                  <a:pt x="23306" y="47625"/>
                  <a:pt x="19050" y="43369"/>
                  <a:pt x="19050" y="38100"/>
                </a:cubicBezTo>
                <a:lnTo>
                  <a:pt x="19050" y="28575"/>
                </a:lnTo>
                <a:cubicBezTo>
                  <a:pt x="19050" y="23306"/>
                  <a:pt x="23306" y="19050"/>
                  <a:pt x="28575" y="19050"/>
                </a:cubicBezTo>
                <a:close/>
                <a:moveTo>
                  <a:pt x="33338" y="69056"/>
                </a:moveTo>
                <a:cubicBezTo>
                  <a:pt x="33338" y="72999"/>
                  <a:pt x="30136" y="76200"/>
                  <a:pt x="26194" y="76200"/>
                </a:cubicBezTo>
                <a:cubicBezTo>
                  <a:pt x="22251" y="76200"/>
                  <a:pt x="19050" y="72999"/>
                  <a:pt x="19050" y="69056"/>
                </a:cubicBezTo>
                <a:cubicBezTo>
                  <a:pt x="19050" y="65114"/>
                  <a:pt x="22251" y="61912"/>
                  <a:pt x="26194" y="61912"/>
                </a:cubicBezTo>
                <a:cubicBezTo>
                  <a:pt x="30136" y="61912"/>
                  <a:pt x="33338" y="65114"/>
                  <a:pt x="33338" y="69056"/>
                </a:cubicBezTo>
                <a:close/>
                <a:moveTo>
                  <a:pt x="57150" y="76200"/>
                </a:moveTo>
                <a:cubicBezTo>
                  <a:pt x="53207" y="76200"/>
                  <a:pt x="50006" y="72999"/>
                  <a:pt x="50006" y="69056"/>
                </a:cubicBezTo>
                <a:cubicBezTo>
                  <a:pt x="50006" y="65114"/>
                  <a:pt x="53207" y="61912"/>
                  <a:pt x="57150" y="61912"/>
                </a:cubicBezTo>
                <a:cubicBezTo>
                  <a:pt x="61093" y="61912"/>
                  <a:pt x="64294" y="65114"/>
                  <a:pt x="64294" y="69056"/>
                </a:cubicBezTo>
                <a:cubicBezTo>
                  <a:pt x="64294" y="72999"/>
                  <a:pt x="61093" y="76200"/>
                  <a:pt x="57150" y="76200"/>
                </a:cubicBezTo>
                <a:close/>
                <a:moveTo>
                  <a:pt x="95250" y="69056"/>
                </a:moveTo>
                <a:cubicBezTo>
                  <a:pt x="95250" y="72999"/>
                  <a:pt x="92049" y="76200"/>
                  <a:pt x="88106" y="76200"/>
                </a:cubicBezTo>
                <a:cubicBezTo>
                  <a:pt x="84164" y="76200"/>
                  <a:pt x="80962" y="72999"/>
                  <a:pt x="80962" y="69056"/>
                </a:cubicBezTo>
                <a:cubicBezTo>
                  <a:pt x="80962" y="65114"/>
                  <a:pt x="84164" y="61912"/>
                  <a:pt x="88106" y="61912"/>
                </a:cubicBezTo>
                <a:cubicBezTo>
                  <a:pt x="92049" y="61912"/>
                  <a:pt x="95250" y="65114"/>
                  <a:pt x="95250" y="69056"/>
                </a:cubicBezTo>
                <a:close/>
                <a:moveTo>
                  <a:pt x="26194" y="104775"/>
                </a:moveTo>
                <a:cubicBezTo>
                  <a:pt x="22251" y="104775"/>
                  <a:pt x="19050" y="101574"/>
                  <a:pt x="19050" y="97631"/>
                </a:cubicBezTo>
                <a:cubicBezTo>
                  <a:pt x="19050" y="93689"/>
                  <a:pt x="22251" y="90488"/>
                  <a:pt x="26194" y="90488"/>
                </a:cubicBezTo>
                <a:cubicBezTo>
                  <a:pt x="30136" y="90488"/>
                  <a:pt x="33338" y="93689"/>
                  <a:pt x="33338" y="97631"/>
                </a:cubicBezTo>
                <a:cubicBezTo>
                  <a:pt x="33338" y="101574"/>
                  <a:pt x="30136" y="104775"/>
                  <a:pt x="26194" y="104775"/>
                </a:cubicBezTo>
                <a:close/>
                <a:moveTo>
                  <a:pt x="64294" y="97631"/>
                </a:moveTo>
                <a:cubicBezTo>
                  <a:pt x="64294" y="101574"/>
                  <a:pt x="61093" y="104775"/>
                  <a:pt x="57150" y="104775"/>
                </a:cubicBezTo>
                <a:cubicBezTo>
                  <a:pt x="53207" y="104775"/>
                  <a:pt x="50006" y="101574"/>
                  <a:pt x="50006" y="97631"/>
                </a:cubicBezTo>
                <a:cubicBezTo>
                  <a:pt x="50006" y="93689"/>
                  <a:pt x="53207" y="90488"/>
                  <a:pt x="57150" y="90488"/>
                </a:cubicBezTo>
                <a:cubicBezTo>
                  <a:pt x="61093" y="90488"/>
                  <a:pt x="64294" y="93689"/>
                  <a:pt x="64294" y="97631"/>
                </a:cubicBezTo>
                <a:close/>
                <a:moveTo>
                  <a:pt x="88106" y="104775"/>
                </a:moveTo>
                <a:cubicBezTo>
                  <a:pt x="84164" y="104775"/>
                  <a:pt x="80962" y="101574"/>
                  <a:pt x="80962" y="97631"/>
                </a:cubicBezTo>
                <a:cubicBezTo>
                  <a:pt x="80962" y="93689"/>
                  <a:pt x="84164" y="90488"/>
                  <a:pt x="88106" y="90488"/>
                </a:cubicBezTo>
                <a:cubicBezTo>
                  <a:pt x="92049" y="90488"/>
                  <a:pt x="95250" y="93689"/>
                  <a:pt x="95250" y="97631"/>
                </a:cubicBezTo>
                <a:cubicBezTo>
                  <a:pt x="95250" y="101574"/>
                  <a:pt x="92049" y="104775"/>
                  <a:pt x="88106" y="104775"/>
                </a:cubicBezTo>
                <a:close/>
                <a:moveTo>
                  <a:pt x="19050" y="126206"/>
                </a:moveTo>
                <a:cubicBezTo>
                  <a:pt x="19050" y="122247"/>
                  <a:pt x="22235" y="119062"/>
                  <a:pt x="26194" y="119062"/>
                </a:cubicBezTo>
                <a:lnTo>
                  <a:pt x="59531" y="119062"/>
                </a:lnTo>
                <a:cubicBezTo>
                  <a:pt x="63490" y="119062"/>
                  <a:pt x="66675" y="122247"/>
                  <a:pt x="66675" y="126206"/>
                </a:cubicBezTo>
                <a:cubicBezTo>
                  <a:pt x="66675" y="130165"/>
                  <a:pt x="63490" y="133350"/>
                  <a:pt x="59531" y="133350"/>
                </a:cubicBezTo>
                <a:lnTo>
                  <a:pt x="26194" y="133350"/>
                </a:lnTo>
                <a:cubicBezTo>
                  <a:pt x="22235" y="133350"/>
                  <a:pt x="19050" y="130165"/>
                  <a:pt x="19050" y="126206"/>
                </a:cubicBezTo>
                <a:close/>
                <a:moveTo>
                  <a:pt x="88106" y="119062"/>
                </a:moveTo>
                <a:cubicBezTo>
                  <a:pt x="92065" y="119062"/>
                  <a:pt x="95250" y="122247"/>
                  <a:pt x="95250" y="126206"/>
                </a:cubicBezTo>
                <a:cubicBezTo>
                  <a:pt x="95250" y="130165"/>
                  <a:pt x="92065" y="133350"/>
                  <a:pt x="88106" y="133350"/>
                </a:cubicBezTo>
                <a:cubicBezTo>
                  <a:pt x="84147" y="133350"/>
                  <a:pt x="80962" y="130165"/>
                  <a:pt x="80962" y="126206"/>
                </a:cubicBezTo>
                <a:cubicBezTo>
                  <a:pt x="80962" y="122247"/>
                  <a:pt x="84147" y="119062"/>
                  <a:pt x="88106" y="119062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31" name="Text 29"/>
          <p:cNvSpPr/>
          <p:nvPr/>
        </p:nvSpPr>
        <p:spPr>
          <a:xfrm>
            <a:off x="6715125" y="305752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重建误差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48425" y="340042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自编码器等可逆的降维方法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48425" y="370522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原始数据与重建数据之间的误差（如MSE）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48425" y="4010025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💡 误差越小，说明降维过程信息损失越少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29363" y="4481513"/>
            <a:ext cx="5324475" cy="1381125"/>
          </a:xfrm>
          <a:custGeom>
            <a:avLst/>
            <a:gdLst/>
            <a:ahLst/>
            <a:cxnLst/>
            <a:rect l="l" t="t" r="r" b="b"/>
            <a:pathLst>
              <a:path w="5324475" h="1381125">
                <a:moveTo>
                  <a:pt x="76197" y="0"/>
                </a:moveTo>
                <a:lnTo>
                  <a:pt x="5248278" y="0"/>
                </a:lnTo>
                <a:cubicBezTo>
                  <a:pt x="5290361" y="0"/>
                  <a:pt x="5324475" y="34114"/>
                  <a:pt x="5324475" y="76197"/>
                </a:cubicBezTo>
                <a:lnTo>
                  <a:pt x="5324475" y="1304928"/>
                </a:lnTo>
                <a:cubicBezTo>
                  <a:pt x="5324475" y="1347011"/>
                  <a:pt x="5290361" y="1381125"/>
                  <a:pt x="5248278" y="1381125"/>
                </a:cubicBezTo>
                <a:lnTo>
                  <a:pt x="76197" y="1381125"/>
                </a:lnTo>
                <a:cubicBezTo>
                  <a:pt x="34114" y="1381125"/>
                  <a:pt x="0" y="1347011"/>
                  <a:pt x="0" y="130492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57950" y="46577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7" name="Text 35"/>
          <p:cNvSpPr/>
          <p:nvPr/>
        </p:nvSpPr>
        <p:spPr>
          <a:xfrm>
            <a:off x="6715125" y="4600575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可视化检查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48425" y="49434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t-SNE等可视化方法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48425" y="52482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方式：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通过人工观察降维后的分布是否合理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48425" y="5553075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例如：观察t-SNE图中同类样本是否聚集，不同类样本是否分离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5763" y="6176963"/>
            <a:ext cx="11420475" cy="581025"/>
          </a:xfrm>
          <a:custGeom>
            <a:avLst/>
            <a:gdLst/>
            <a:ahLst/>
            <a:cxnLst/>
            <a:rect l="l" t="t" r="r" b="b"/>
            <a:pathLst>
              <a:path w="11420475" h="581025">
                <a:moveTo>
                  <a:pt x="76201" y="0"/>
                </a:moveTo>
                <a:lnTo>
                  <a:pt x="11344274" y="0"/>
                </a:lnTo>
                <a:cubicBezTo>
                  <a:pt x="11386330" y="0"/>
                  <a:pt x="11420475" y="34145"/>
                  <a:pt x="11420475" y="76201"/>
                </a:cubicBezTo>
                <a:lnTo>
                  <a:pt x="11420475" y="504824"/>
                </a:lnTo>
                <a:cubicBezTo>
                  <a:pt x="11420475" y="546880"/>
                  <a:pt x="11386330" y="581025"/>
                  <a:pt x="113442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202C"/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1500" y="6353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43" name="Text 41"/>
          <p:cNvSpPr/>
          <p:nvPr/>
        </p:nvSpPr>
        <p:spPr>
          <a:xfrm>
            <a:off x="942975" y="6334125"/>
            <a:ext cx="842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核心挑战：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无监督学习没有"正确答案"，评估往往需要结合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定量指标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定性检视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，并结合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业务理解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进行综合判断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f42a642f9ee9448096b1e7827d82cf621c322d0b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33105" b="33105"/>
          <a:stretch/>
        </p:blipFill>
        <p:spPr>
          <a:xfrm>
            <a:off x="0" y="0"/>
            <a:ext cx="12192000" cy="7209329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209329"/>
          </a:xfrm>
          <a:custGeom>
            <a:avLst/>
            <a:gdLst/>
            <a:ahLst/>
            <a:cxnLst/>
            <a:rect l="l" t="t" r="r" b="b"/>
            <a:pathLst>
              <a:path w="12192000" h="7209329">
                <a:moveTo>
                  <a:pt x="0" y="0"/>
                </a:moveTo>
                <a:lnTo>
                  <a:pt x="12192000" y="0"/>
                </a:lnTo>
                <a:lnTo>
                  <a:pt x="12192000" y="7209329"/>
                </a:lnTo>
                <a:lnTo>
                  <a:pt x="0" y="7209329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1A202C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52904" y="336099"/>
            <a:ext cx="3562652" cy="436929"/>
          </a:xfrm>
          <a:custGeom>
            <a:avLst/>
            <a:gdLst/>
            <a:ahLst/>
            <a:cxnLst/>
            <a:rect l="l" t="t" r="r" b="b"/>
            <a:pathLst>
              <a:path w="3562652" h="436929">
                <a:moveTo>
                  <a:pt x="0" y="0"/>
                </a:moveTo>
                <a:lnTo>
                  <a:pt x="3562652" y="0"/>
                </a:lnTo>
                <a:lnTo>
                  <a:pt x="3562652" y="436929"/>
                </a:lnTo>
                <a:lnTo>
                  <a:pt x="0" y="436929"/>
                </a:lnTo>
                <a:lnTo>
                  <a:pt x="0" y="0"/>
                </a:ln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52904" y="336099"/>
            <a:ext cx="33610" cy="436929"/>
          </a:xfrm>
          <a:custGeom>
            <a:avLst/>
            <a:gdLst/>
            <a:ahLst/>
            <a:cxnLst/>
            <a:rect l="l" t="t" r="r" b="b"/>
            <a:pathLst>
              <a:path w="33610" h="436929">
                <a:moveTo>
                  <a:pt x="0" y="0"/>
                </a:moveTo>
                <a:lnTo>
                  <a:pt x="33610" y="0"/>
                </a:lnTo>
                <a:lnTo>
                  <a:pt x="33610" y="436929"/>
                </a:lnTo>
                <a:lnTo>
                  <a:pt x="0" y="436929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6" name="Text 3"/>
          <p:cNvSpPr/>
          <p:nvPr/>
        </p:nvSpPr>
        <p:spPr>
          <a:xfrm>
            <a:off x="571369" y="432728"/>
            <a:ext cx="3225240" cy="239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spc="132" kern="0" dirty="0">
                <a:solidFill>
                  <a:srgbClr val="D69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&amp; RECOMMENDATIONS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36099" y="907468"/>
            <a:ext cx="11721461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76" b="1" dirty="0">
                <a:solidFill>
                  <a:srgbClr val="F7FAFC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总结与学习建议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36099" y="1378007"/>
            <a:ext cx="11603826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从理论到实践，构建完整的机器学习思维体系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52904" y="1747716"/>
            <a:ext cx="5671675" cy="1588069"/>
          </a:xfrm>
          <a:custGeom>
            <a:avLst/>
            <a:gdLst/>
            <a:ahLst/>
            <a:cxnLst/>
            <a:rect l="l" t="t" r="r" b="b"/>
            <a:pathLst>
              <a:path w="5671675" h="1588069">
                <a:moveTo>
                  <a:pt x="33610" y="0"/>
                </a:moveTo>
                <a:lnTo>
                  <a:pt x="5604452" y="0"/>
                </a:lnTo>
                <a:cubicBezTo>
                  <a:pt x="5641578" y="0"/>
                  <a:pt x="5671675" y="30097"/>
                  <a:pt x="5671675" y="67223"/>
                </a:cubicBezTo>
                <a:lnTo>
                  <a:pt x="5671675" y="1520846"/>
                </a:lnTo>
                <a:cubicBezTo>
                  <a:pt x="5671675" y="1557972"/>
                  <a:pt x="5641578" y="1588069"/>
                  <a:pt x="5604452" y="1588069"/>
                </a:cubicBezTo>
                <a:lnTo>
                  <a:pt x="33610" y="1588069"/>
                </a:lnTo>
                <a:cubicBezTo>
                  <a:pt x="15048" y="1588069"/>
                  <a:pt x="0" y="1573021"/>
                  <a:pt x="0" y="1554459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52904" y="1747716"/>
            <a:ext cx="33610" cy="1588069"/>
          </a:xfrm>
          <a:custGeom>
            <a:avLst/>
            <a:gdLst/>
            <a:ahLst/>
            <a:cxnLst/>
            <a:rect l="l" t="t" r="r" b="b"/>
            <a:pathLst>
              <a:path w="33610" h="1588069">
                <a:moveTo>
                  <a:pt x="33610" y="0"/>
                </a:moveTo>
                <a:lnTo>
                  <a:pt x="33610" y="0"/>
                </a:lnTo>
                <a:lnTo>
                  <a:pt x="33610" y="1588069"/>
                </a:lnTo>
                <a:lnTo>
                  <a:pt x="33610" y="1588069"/>
                </a:lnTo>
                <a:cubicBezTo>
                  <a:pt x="15048" y="1588069"/>
                  <a:pt x="0" y="1573021"/>
                  <a:pt x="0" y="1554459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11" name="Shape 8"/>
          <p:cNvSpPr/>
          <p:nvPr/>
        </p:nvSpPr>
        <p:spPr>
          <a:xfrm>
            <a:off x="537759" y="1915766"/>
            <a:ext cx="403319" cy="403319"/>
          </a:xfrm>
          <a:custGeom>
            <a:avLst/>
            <a:gdLst/>
            <a:ahLst/>
            <a:cxnLst/>
            <a:rect l="l" t="t" r="r" b="b"/>
            <a:pathLst>
              <a:path w="403319" h="403319">
                <a:moveTo>
                  <a:pt x="201660" y="0"/>
                </a:moveTo>
                <a:lnTo>
                  <a:pt x="201660" y="0"/>
                </a:lnTo>
                <a:cubicBezTo>
                  <a:pt x="312958" y="0"/>
                  <a:pt x="403319" y="90361"/>
                  <a:pt x="403319" y="201660"/>
                </a:cubicBezTo>
                <a:lnTo>
                  <a:pt x="403319" y="201660"/>
                </a:lnTo>
                <a:cubicBezTo>
                  <a:pt x="403319" y="312958"/>
                  <a:pt x="312958" y="403319"/>
                  <a:pt x="201660" y="403319"/>
                </a:cubicBezTo>
                <a:lnTo>
                  <a:pt x="201660" y="403319"/>
                </a:lnTo>
                <a:cubicBezTo>
                  <a:pt x="90361" y="403319"/>
                  <a:pt x="0" y="312958"/>
                  <a:pt x="0" y="201660"/>
                </a:cubicBezTo>
                <a:lnTo>
                  <a:pt x="0" y="201660"/>
                </a:lnTo>
                <a:cubicBezTo>
                  <a:pt x="0" y="90361"/>
                  <a:pt x="90361" y="0"/>
                  <a:pt x="20166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12" name="Text 9"/>
          <p:cNvSpPr/>
          <p:nvPr/>
        </p:nvSpPr>
        <p:spPr>
          <a:xfrm>
            <a:off x="634716" y="1982986"/>
            <a:ext cx="310892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41908" y="1982986"/>
            <a:ext cx="907468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理论基础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7759" y="2419915"/>
            <a:ext cx="5394393" cy="495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在学习任何新算法时，先问自己：它的</a:t>
            </a:r>
            <a:pPr>
              <a:lnSpc>
                <a:spcPct val="140000"/>
              </a:lnSpc>
            </a:pPr>
            <a:r>
              <a:rPr lang="en-US" sz="1191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损失函数</a:t>
            </a:r>
            <a:pPr>
              <a:lnSpc>
                <a:spcPct val="140000"/>
              </a:lnSpc>
            </a:pPr>
            <a:r>
              <a:rPr lang="en-US" sz="119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是什么？它是如何通过</a:t>
            </a:r>
            <a:pPr>
              <a:lnSpc>
                <a:spcPct val="140000"/>
              </a:lnSpc>
            </a:pPr>
            <a:r>
              <a:rPr lang="en-US" sz="1191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正则化</a:t>
            </a:r>
            <a:pPr>
              <a:lnSpc>
                <a:spcPct val="140000"/>
              </a:lnSpc>
            </a:pPr>
            <a:r>
              <a:rPr lang="en-US" sz="119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防止过拟合的？理解这些核心概念，就能抓住算法的本质。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78581" y="1747716"/>
            <a:ext cx="5671675" cy="1588069"/>
          </a:xfrm>
          <a:custGeom>
            <a:avLst/>
            <a:gdLst/>
            <a:ahLst/>
            <a:cxnLst/>
            <a:rect l="l" t="t" r="r" b="b"/>
            <a:pathLst>
              <a:path w="5671675" h="1588069">
                <a:moveTo>
                  <a:pt x="33610" y="0"/>
                </a:moveTo>
                <a:lnTo>
                  <a:pt x="5604452" y="0"/>
                </a:lnTo>
                <a:cubicBezTo>
                  <a:pt x="5641578" y="0"/>
                  <a:pt x="5671675" y="30097"/>
                  <a:pt x="5671675" y="67223"/>
                </a:cubicBezTo>
                <a:lnTo>
                  <a:pt x="5671675" y="1520846"/>
                </a:lnTo>
                <a:cubicBezTo>
                  <a:pt x="5671675" y="1557972"/>
                  <a:pt x="5641578" y="1588069"/>
                  <a:pt x="5604452" y="1588069"/>
                </a:cubicBezTo>
                <a:lnTo>
                  <a:pt x="33610" y="1588069"/>
                </a:lnTo>
                <a:cubicBezTo>
                  <a:pt x="15048" y="1588069"/>
                  <a:pt x="0" y="1573021"/>
                  <a:pt x="0" y="1554459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178581" y="1747716"/>
            <a:ext cx="33610" cy="1588069"/>
          </a:xfrm>
          <a:custGeom>
            <a:avLst/>
            <a:gdLst/>
            <a:ahLst/>
            <a:cxnLst/>
            <a:rect l="l" t="t" r="r" b="b"/>
            <a:pathLst>
              <a:path w="33610" h="1588069">
                <a:moveTo>
                  <a:pt x="33610" y="0"/>
                </a:moveTo>
                <a:lnTo>
                  <a:pt x="33610" y="0"/>
                </a:lnTo>
                <a:lnTo>
                  <a:pt x="33610" y="1588069"/>
                </a:lnTo>
                <a:lnTo>
                  <a:pt x="33610" y="1588069"/>
                </a:lnTo>
                <a:cubicBezTo>
                  <a:pt x="15048" y="1588069"/>
                  <a:pt x="0" y="1573021"/>
                  <a:pt x="0" y="1554459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17" name="Shape 14"/>
          <p:cNvSpPr/>
          <p:nvPr/>
        </p:nvSpPr>
        <p:spPr>
          <a:xfrm>
            <a:off x="6363435" y="1915766"/>
            <a:ext cx="403319" cy="403319"/>
          </a:xfrm>
          <a:custGeom>
            <a:avLst/>
            <a:gdLst/>
            <a:ahLst/>
            <a:cxnLst/>
            <a:rect l="l" t="t" r="r" b="b"/>
            <a:pathLst>
              <a:path w="403319" h="403319">
                <a:moveTo>
                  <a:pt x="201660" y="0"/>
                </a:moveTo>
                <a:lnTo>
                  <a:pt x="201660" y="0"/>
                </a:lnTo>
                <a:cubicBezTo>
                  <a:pt x="312958" y="0"/>
                  <a:pt x="403319" y="90361"/>
                  <a:pt x="403319" y="201660"/>
                </a:cubicBezTo>
                <a:lnTo>
                  <a:pt x="403319" y="201660"/>
                </a:lnTo>
                <a:cubicBezTo>
                  <a:pt x="403319" y="312958"/>
                  <a:pt x="312958" y="403319"/>
                  <a:pt x="201660" y="403319"/>
                </a:cubicBezTo>
                <a:lnTo>
                  <a:pt x="201660" y="403319"/>
                </a:lnTo>
                <a:cubicBezTo>
                  <a:pt x="90361" y="403319"/>
                  <a:pt x="0" y="312958"/>
                  <a:pt x="0" y="201660"/>
                </a:cubicBezTo>
                <a:lnTo>
                  <a:pt x="0" y="201660"/>
                </a:lnTo>
                <a:cubicBezTo>
                  <a:pt x="0" y="90361"/>
                  <a:pt x="90361" y="0"/>
                  <a:pt x="201660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18" name="Text 15"/>
          <p:cNvSpPr/>
          <p:nvPr/>
        </p:nvSpPr>
        <p:spPr>
          <a:xfrm>
            <a:off x="6442143" y="1982986"/>
            <a:ext cx="344502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867584" y="1982986"/>
            <a:ext cx="907468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数据先行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63435" y="2419915"/>
            <a:ext cx="5394393" cy="495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动手写代码前，先花时间做</a:t>
            </a:r>
            <a:pPr>
              <a:lnSpc>
                <a:spcPct val="140000"/>
              </a:lnSpc>
            </a:pPr>
            <a:r>
              <a:rPr lang="en-US" sz="1191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EDA（数据探索）</a:t>
            </a:r>
            <a:pPr>
              <a:lnSpc>
                <a:spcPct val="140000"/>
              </a:lnSpc>
            </a:pPr>
            <a:r>
              <a:rPr lang="en-US" sz="119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。检查缺失值、异常值和分布情况。记住，</a:t>
            </a:r>
            <a:pPr>
              <a:lnSpc>
                <a:spcPct val="140000"/>
              </a:lnSpc>
            </a:pPr>
            <a:r>
              <a:rPr lang="en-US" sz="1191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"Garbage In, Garbage Out"</a:t>
            </a:r>
            <a:pPr>
              <a:lnSpc>
                <a:spcPct val="140000"/>
              </a:lnSpc>
            </a:pPr>
            <a:r>
              <a:rPr lang="en-US" sz="119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。数据质量决定了模型的上限。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52904" y="3469896"/>
            <a:ext cx="5671675" cy="1588069"/>
          </a:xfrm>
          <a:custGeom>
            <a:avLst/>
            <a:gdLst/>
            <a:ahLst/>
            <a:cxnLst/>
            <a:rect l="l" t="t" r="r" b="b"/>
            <a:pathLst>
              <a:path w="5671675" h="1588069">
                <a:moveTo>
                  <a:pt x="33610" y="0"/>
                </a:moveTo>
                <a:lnTo>
                  <a:pt x="5604452" y="0"/>
                </a:lnTo>
                <a:cubicBezTo>
                  <a:pt x="5641578" y="0"/>
                  <a:pt x="5671675" y="30097"/>
                  <a:pt x="5671675" y="67223"/>
                </a:cubicBezTo>
                <a:lnTo>
                  <a:pt x="5671675" y="1520846"/>
                </a:lnTo>
                <a:cubicBezTo>
                  <a:pt x="5671675" y="1557972"/>
                  <a:pt x="5641578" y="1588069"/>
                  <a:pt x="5604452" y="1588069"/>
                </a:cubicBezTo>
                <a:lnTo>
                  <a:pt x="33610" y="1588069"/>
                </a:lnTo>
                <a:cubicBezTo>
                  <a:pt x="15048" y="1588069"/>
                  <a:pt x="0" y="1573021"/>
                  <a:pt x="0" y="1554459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352904" y="3469896"/>
            <a:ext cx="33610" cy="1588069"/>
          </a:xfrm>
          <a:custGeom>
            <a:avLst/>
            <a:gdLst/>
            <a:ahLst/>
            <a:cxnLst/>
            <a:rect l="l" t="t" r="r" b="b"/>
            <a:pathLst>
              <a:path w="33610" h="1588069">
                <a:moveTo>
                  <a:pt x="33610" y="0"/>
                </a:moveTo>
                <a:lnTo>
                  <a:pt x="33610" y="0"/>
                </a:lnTo>
                <a:lnTo>
                  <a:pt x="33610" y="1588069"/>
                </a:lnTo>
                <a:lnTo>
                  <a:pt x="33610" y="1588069"/>
                </a:lnTo>
                <a:cubicBezTo>
                  <a:pt x="15048" y="1588069"/>
                  <a:pt x="0" y="1573021"/>
                  <a:pt x="0" y="1554459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23" name="Shape 20"/>
          <p:cNvSpPr/>
          <p:nvPr/>
        </p:nvSpPr>
        <p:spPr>
          <a:xfrm>
            <a:off x="537759" y="3637946"/>
            <a:ext cx="403319" cy="403319"/>
          </a:xfrm>
          <a:custGeom>
            <a:avLst/>
            <a:gdLst/>
            <a:ahLst/>
            <a:cxnLst/>
            <a:rect l="l" t="t" r="r" b="b"/>
            <a:pathLst>
              <a:path w="403319" h="403319">
                <a:moveTo>
                  <a:pt x="201660" y="0"/>
                </a:moveTo>
                <a:lnTo>
                  <a:pt x="201660" y="0"/>
                </a:lnTo>
                <a:cubicBezTo>
                  <a:pt x="312958" y="0"/>
                  <a:pt x="403319" y="90361"/>
                  <a:pt x="403319" y="201660"/>
                </a:cubicBezTo>
                <a:lnTo>
                  <a:pt x="403319" y="201660"/>
                </a:lnTo>
                <a:cubicBezTo>
                  <a:pt x="403319" y="312958"/>
                  <a:pt x="312958" y="403319"/>
                  <a:pt x="201660" y="403319"/>
                </a:cubicBezTo>
                <a:lnTo>
                  <a:pt x="201660" y="403319"/>
                </a:lnTo>
                <a:cubicBezTo>
                  <a:pt x="90361" y="403319"/>
                  <a:pt x="0" y="312958"/>
                  <a:pt x="0" y="201660"/>
                </a:cubicBezTo>
                <a:lnTo>
                  <a:pt x="0" y="201660"/>
                </a:lnTo>
                <a:cubicBezTo>
                  <a:pt x="0" y="90361"/>
                  <a:pt x="90361" y="0"/>
                  <a:pt x="20166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24" name="Text 21"/>
          <p:cNvSpPr/>
          <p:nvPr/>
        </p:nvSpPr>
        <p:spPr>
          <a:xfrm>
            <a:off x="615547" y="3705166"/>
            <a:ext cx="344502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41908" y="3705166"/>
            <a:ext cx="907468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评估为王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37759" y="4142095"/>
            <a:ext cx="5394393" cy="495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不要盲目追求高准确率。根据</a:t>
            </a:r>
            <a:pPr>
              <a:lnSpc>
                <a:spcPct val="140000"/>
              </a:lnSpc>
            </a:pPr>
            <a:r>
              <a:rPr lang="en-US" sz="1191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业务背景</a:t>
            </a:r>
            <a:pPr>
              <a:lnSpc>
                <a:spcPct val="140000"/>
              </a:lnSpc>
            </a:pPr>
            <a:r>
              <a:rPr lang="en-US" sz="119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（是怕误报还是怕漏报？）选择合适的评估指标（</a:t>
            </a:r>
            <a:pPr>
              <a:lnSpc>
                <a:spcPct val="140000"/>
              </a:lnSpc>
            </a:pPr>
            <a:r>
              <a:rPr lang="en-US" sz="1191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Precision/Recall/AUC</a:t>
            </a:r>
            <a:pPr>
              <a:lnSpc>
                <a:spcPct val="140000"/>
              </a:lnSpc>
            </a:pPr>
            <a:r>
              <a:rPr lang="en-US" sz="119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）。建立基线，进行对照实验。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178581" y="3469896"/>
            <a:ext cx="5671675" cy="1588069"/>
          </a:xfrm>
          <a:custGeom>
            <a:avLst/>
            <a:gdLst/>
            <a:ahLst/>
            <a:cxnLst/>
            <a:rect l="l" t="t" r="r" b="b"/>
            <a:pathLst>
              <a:path w="5671675" h="1588069">
                <a:moveTo>
                  <a:pt x="33610" y="0"/>
                </a:moveTo>
                <a:lnTo>
                  <a:pt x="5604452" y="0"/>
                </a:lnTo>
                <a:cubicBezTo>
                  <a:pt x="5641578" y="0"/>
                  <a:pt x="5671675" y="30097"/>
                  <a:pt x="5671675" y="67223"/>
                </a:cubicBezTo>
                <a:lnTo>
                  <a:pt x="5671675" y="1520846"/>
                </a:lnTo>
                <a:cubicBezTo>
                  <a:pt x="5671675" y="1557972"/>
                  <a:pt x="5641578" y="1588069"/>
                  <a:pt x="5604452" y="1588069"/>
                </a:cubicBezTo>
                <a:lnTo>
                  <a:pt x="33610" y="1588069"/>
                </a:lnTo>
                <a:cubicBezTo>
                  <a:pt x="15048" y="1588069"/>
                  <a:pt x="0" y="1573021"/>
                  <a:pt x="0" y="1554459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178581" y="3469896"/>
            <a:ext cx="33610" cy="1588069"/>
          </a:xfrm>
          <a:custGeom>
            <a:avLst/>
            <a:gdLst/>
            <a:ahLst/>
            <a:cxnLst/>
            <a:rect l="l" t="t" r="r" b="b"/>
            <a:pathLst>
              <a:path w="33610" h="1588069">
                <a:moveTo>
                  <a:pt x="33610" y="0"/>
                </a:moveTo>
                <a:lnTo>
                  <a:pt x="33610" y="0"/>
                </a:lnTo>
                <a:lnTo>
                  <a:pt x="33610" y="1588069"/>
                </a:lnTo>
                <a:lnTo>
                  <a:pt x="33610" y="1588069"/>
                </a:lnTo>
                <a:cubicBezTo>
                  <a:pt x="15048" y="1588069"/>
                  <a:pt x="0" y="1573021"/>
                  <a:pt x="0" y="1554459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29" name="Shape 26"/>
          <p:cNvSpPr/>
          <p:nvPr/>
        </p:nvSpPr>
        <p:spPr>
          <a:xfrm>
            <a:off x="6363435" y="3637946"/>
            <a:ext cx="403319" cy="403319"/>
          </a:xfrm>
          <a:custGeom>
            <a:avLst/>
            <a:gdLst/>
            <a:ahLst/>
            <a:cxnLst/>
            <a:rect l="l" t="t" r="r" b="b"/>
            <a:pathLst>
              <a:path w="403319" h="403319">
                <a:moveTo>
                  <a:pt x="201660" y="0"/>
                </a:moveTo>
                <a:lnTo>
                  <a:pt x="201660" y="0"/>
                </a:lnTo>
                <a:cubicBezTo>
                  <a:pt x="312958" y="0"/>
                  <a:pt x="403319" y="90361"/>
                  <a:pt x="403319" y="201660"/>
                </a:cubicBezTo>
                <a:lnTo>
                  <a:pt x="403319" y="201660"/>
                </a:lnTo>
                <a:cubicBezTo>
                  <a:pt x="403319" y="312958"/>
                  <a:pt x="312958" y="403319"/>
                  <a:pt x="201660" y="403319"/>
                </a:cubicBezTo>
                <a:lnTo>
                  <a:pt x="201660" y="403319"/>
                </a:lnTo>
                <a:cubicBezTo>
                  <a:pt x="90361" y="403319"/>
                  <a:pt x="0" y="312958"/>
                  <a:pt x="0" y="201660"/>
                </a:cubicBezTo>
                <a:lnTo>
                  <a:pt x="0" y="201660"/>
                </a:lnTo>
                <a:cubicBezTo>
                  <a:pt x="0" y="90361"/>
                  <a:pt x="90361" y="0"/>
                  <a:pt x="201660" y="0"/>
                </a:cubicBezTo>
                <a:close/>
              </a:path>
            </a:pathLst>
          </a:custGeom>
          <a:gradFill rotWithShape="1" flip="none">
            <a:gsLst>
              <a:gs pos="0">
                <a:srgbClr val="D69E2E"/>
              </a:gs>
              <a:gs pos="100000">
                <a:srgbClr val="718096"/>
              </a:gs>
            </a:gsLst>
            <a:lin ang="2700000" scaled="1"/>
          </a:gradFill>
          <a:ln/>
        </p:spPr>
      </p:sp>
      <p:sp>
        <p:nvSpPr>
          <p:cNvPr id="30" name="Shape 27"/>
          <p:cNvSpPr/>
          <p:nvPr/>
        </p:nvSpPr>
        <p:spPr>
          <a:xfrm>
            <a:off x="6489472" y="3738776"/>
            <a:ext cx="151245" cy="201660"/>
          </a:xfrm>
          <a:custGeom>
            <a:avLst/>
            <a:gdLst/>
            <a:ahLst/>
            <a:cxnLst/>
            <a:rect l="l" t="t" r="r" b="b"/>
            <a:pathLst>
              <a:path w="151245" h="201660">
                <a:moveTo>
                  <a:pt x="115363" y="151245"/>
                </a:moveTo>
                <a:cubicBezTo>
                  <a:pt x="118239" y="142461"/>
                  <a:pt x="123989" y="134505"/>
                  <a:pt x="130488" y="127652"/>
                </a:cubicBezTo>
                <a:cubicBezTo>
                  <a:pt x="143367" y="114103"/>
                  <a:pt x="151245" y="95788"/>
                  <a:pt x="151245" y="75622"/>
                </a:cubicBezTo>
                <a:cubicBezTo>
                  <a:pt x="151245" y="33873"/>
                  <a:pt x="117372" y="0"/>
                  <a:pt x="75622" y="0"/>
                </a:cubicBezTo>
                <a:cubicBezTo>
                  <a:pt x="33873" y="0"/>
                  <a:pt x="0" y="33873"/>
                  <a:pt x="0" y="75622"/>
                </a:cubicBezTo>
                <a:cubicBezTo>
                  <a:pt x="0" y="95788"/>
                  <a:pt x="7877" y="114103"/>
                  <a:pt x="20757" y="127652"/>
                </a:cubicBezTo>
                <a:cubicBezTo>
                  <a:pt x="27256" y="134505"/>
                  <a:pt x="33045" y="142461"/>
                  <a:pt x="35881" y="151245"/>
                </a:cubicBezTo>
                <a:lnTo>
                  <a:pt x="115324" y="151245"/>
                </a:lnTo>
                <a:close/>
                <a:moveTo>
                  <a:pt x="113433" y="170150"/>
                </a:moveTo>
                <a:lnTo>
                  <a:pt x="37811" y="170150"/>
                </a:lnTo>
                <a:lnTo>
                  <a:pt x="37811" y="176452"/>
                </a:lnTo>
                <a:cubicBezTo>
                  <a:pt x="37811" y="193861"/>
                  <a:pt x="51912" y="207961"/>
                  <a:pt x="69320" y="207961"/>
                </a:cubicBezTo>
                <a:lnTo>
                  <a:pt x="81924" y="207961"/>
                </a:lnTo>
                <a:cubicBezTo>
                  <a:pt x="99333" y="207961"/>
                  <a:pt x="113433" y="193861"/>
                  <a:pt x="113433" y="176452"/>
                </a:cubicBezTo>
                <a:lnTo>
                  <a:pt x="113433" y="170150"/>
                </a:lnTo>
                <a:close/>
                <a:moveTo>
                  <a:pt x="72471" y="44113"/>
                </a:moveTo>
                <a:cubicBezTo>
                  <a:pt x="56796" y="44113"/>
                  <a:pt x="44113" y="56796"/>
                  <a:pt x="44113" y="72471"/>
                </a:cubicBezTo>
                <a:cubicBezTo>
                  <a:pt x="44113" y="77710"/>
                  <a:pt x="39899" y="81924"/>
                  <a:pt x="34660" y="81924"/>
                </a:cubicBezTo>
                <a:cubicBezTo>
                  <a:pt x="29422" y="81924"/>
                  <a:pt x="25207" y="77710"/>
                  <a:pt x="25207" y="72471"/>
                </a:cubicBezTo>
                <a:cubicBezTo>
                  <a:pt x="25207" y="46358"/>
                  <a:pt x="46358" y="25207"/>
                  <a:pt x="72471" y="25207"/>
                </a:cubicBezTo>
                <a:cubicBezTo>
                  <a:pt x="77710" y="25207"/>
                  <a:pt x="81924" y="29422"/>
                  <a:pt x="81924" y="34660"/>
                </a:cubicBezTo>
                <a:cubicBezTo>
                  <a:pt x="81924" y="39899"/>
                  <a:pt x="77710" y="44113"/>
                  <a:pt x="72471" y="44113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1" name="Text 28"/>
          <p:cNvSpPr/>
          <p:nvPr/>
        </p:nvSpPr>
        <p:spPr>
          <a:xfrm>
            <a:off x="6867584" y="3705166"/>
            <a:ext cx="1109127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无监督思维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363435" y="4142095"/>
            <a:ext cx="5394393" cy="495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即使处理有标签数据，也可以先用</a:t>
            </a:r>
            <a:pPr>
              <a:lnSpc>
                <a:spcPct val="140000"/>
              </a:lnSpc>
            </a:pPr>
            <a:r>
              <a:rPr lang="en-US" sz="1191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无监督方法</a:t>
            </a:r>
            <a:pPr>
              <a:lnSpc>
                <a:spcPct val="140000"/>
              </a:lnSpc>
            </a:pPr>
            <a:r>
              <a:rPr lang="en-US" sz="119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（如聚类）探索数据内在结构，可能会发现意想不到的洞察。数据本身会说话。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36099" y="5192142"/>
            <a:ext cx="11519802" cy="1680496"/>
          </a:xfrm>
          <a:custGeom>
            <a:avLst/>
            <a:gdLst/>
            <a:ahLst/>
            <a:cxnLst/>
            <a:rect l="l" t="t" r="r" b="b"/>
            <a:pathLst>
              <a:path w="11519802" h="1680496">
                <a:moveTo>
                  <a:pt x="67220" y="0"/>
                </a:moveTo>
                <a:lnTo>
                  <a:pt x="11452582" y="0"/>
                </a:lnTo>
                <a:cubicBezTo>
                  <a:pt x="11489706" y="0"/>
                  <a:pt x="11519802" y="30095"/>
                  <a:pt x="11519802" y="67220"/>
                </a:cubicBezTo>
                <a:lnTo>
                  <a:pt x="11519802" y="1613276"/>
                </a:lnTo>
                <a:cubicBezTo>
                  <a:pt x="11519802" y="1650401"/>
                  <a:pt x="11489706" y="1680496"/>
                  <a:pt x="11452582" y="1680496"/>
                </a:cubicBezTo>
                <a:lnTo>
                  <a:pt x="67220" y="1680496"/>
                </a:lnTo>
                <a:cubicBezTo>
                  <a:pt x="30095" y="1680496"/>
                  <a:pt x="0" y="1650401"/>
                  <a:pt x="0" y="1613276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502048" y="5360192"/>
            <a:ext cx="147043" cy="168050"/>
          </a:xfrm>
          <a:custGeom>
            <a:avLst/>
            <a:gdLst/>
            <a:ahLst/>
            <a:cxnLst/>
            <a:rect l="l" t="t" r="r" b="b"/>
            <a:pathLst>
              <a:path w="147043" h="168050">
                <a:moveTo>
                  <a:pt x="126037" y="168050"/>
                </a:moveTo>
                <a:lnTo>
                  <a:pt x="31509" y="168050"/>
                </a:lnTo>
                <a:cubicBezTo>
                  <a:pt x="14114" y="168050"/>
                  <a:pt x="0" y="153936"/>
                  <a:pt x="0" y="136540"/>
                </a:cubicBezTo>
                <a:lnTo>
                  <a:pt x="0" y="31509"/>
                </a:lnTo>
                <a:cubicBezTo>
                  <a:pt x="0" y="14114"/>
                  <a:pt x="14114" y="0"/>
                  <a:pt x="31509" y="0"/>
                </a:cubicBezTo>
                <a:lnTo>
                  <a:pt x="131289" y="0"/>
                </a:lnTo>
                <a:cubicBezTo>
                  <a:pt x="139987" y="0"/>
                  <a:pt x="147043" y="7057"/>
                  <a:pt x="147043" y="15755"/>
                </a:cubicBezTo>
                <a:lnTo>
                  <a:pt x="147043" y="110283"/>
                </a:lnTo>
                <a:cubicBezTo>
                  <a:pt x="147043" y="117142"/>
                  <a:pt x="142645" y="122985"/>
                  <a:pt x="136540" y="125151"/>
                </a:cubicBezTo>
                <a:lnTo>
                  <a:pt x="136540" y="147043"/>
                </a:lnTo>
                <a:cubicBezTo>
                  <a:pt x="142350" y="147043"/>
                  <a:pt x="147043" y="151737"/>
                  <a:pt x="147043" y="157547"/>
                </a:cubicBezTo>
                <a:cubicBezTo>
                  <a:pt x="147043" y="163356"/>
                  <a:pt x="142350" y="168050"/>
                  <a:pt x="136540" y="168050"/>
                </a:cubicBezTo>
                <a:lnTo>
                  <a:pt x="126037" y="168050"/>
                </a:lnTo>
                <a:close/>
                <a:moveTo>
                  <a:pt x="31509" y="126037"/>
                </a:moveTo>
                <a:cubicBezTo>
                  <a:pt x="25700" y="126037"/>
                  <a:pt x="21006" y="130731"/>
                  <a:pt x="21006" y="136540"/>
                </a:cubicBezTo>
                <a:cubicBezTo>
                  <a:pt x="21006" y="142350"/>
                  <a:pt x="25700" y="147043"/>
                  <a:pt x="31509" y="147043"/>
                </a:cubicBezTo>
                <a:lnTo>
                  <a:pt x="115534" y="147043"/>
                </a:lnTo>
                <a:lnTo>
                  <a:pt x="115534" y="126037"/>
                </a:lnTo>
                <a:lnTo>
                  <a:pt x="31509" y="126037"/>
                </a:lnTo>
                <a:close/>
                <a:moveTo>
                  <a:pt x="42012" y="49890"/>
                </a:moveTo>
                <a:cubicBezTo>
                  <a:pt x="42012" y="54255"/>
                  <a:pt x="45524" y="57767"/>
                  <a:pt x="49890" y="57767"/>
                </a:cubicBezTo>
                <a:lnTo>
                  <a:pt x="107657" y="57767"/>
                </a:lnTo>
                <a:cubicBezTo>
                  <a:pt x="112022" y="57767"/>
                  <a:pt x="115534" y="54255"/>
                  <a:pt x="115534" y="49890"/>
                </a:cubicBezTo>
                <a:cubicBezTo>
                  <a:pt x="115534" y="45524"/>
                  <a:pt x="112022" y="42012"/>
                  <a:pt x="107657" y="42012"/>
                </a:cubicBezTo>
                <a:lnTo>
                  <a:pt x="49890" y="42012"/>
                </a:lnTo>
                <a:cubicBezTo>
                  <a:pt x="45524" y="42012"/>
                  <a:pt x="42012" y="45524"/>
                  <a:pt x="42012" y="49890"/>
                </a:cubicBezTo>
                <a:close/>
                <a:moveTo>
                  <a:pt x="49890" y="73522"/>
                </a:moveTo>
                <a:cubicBezTo>
                  <a:pt x="45524" y="73522"/>
                  <a:pt x="42012" y="77034"/>
                  <a:pt x="42012" y="81399"/>
                </a:cubicBezTo>
                <a:cubicBezTo>
                  <a:pt x="42012" y="85764"/>
                  <a:pt x="45524" y="89276"/>
                  <a:pt x="49890" y="89276"/>
                </a:cubicBezTo>
                <a:lnTo>
                  <a:pt x="107657" y="89276"/>
                </a:lnTo>
                <a:cubicBezTo>
                  <a:pt x="112022" y="89276"/>
                  <a:pt x="115534" y="85764"/>
                  <a:pt x="115534" y="81399"/>
                </a:cubicBezTo>
                <a:cubicBezTo>
                  <a:pt x="115534" y="77034"/>
                  <a:pt x="112022" y="73522"/>
                  <a:pt x="107657" y="73522"/>
                </a:cubicBezTo>
                <a:lnTo>
                  <a:pt x="49890" y="73522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35" name="Text 32"/>
          <p:cNvSpPr/>
          <p:nvPr/>
        </p:nvSpPr>
        <p:spPr>
          <a:xfrm>
            <a:off x="680601" y="5326582"/>
            <a:ext cx="11124885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参考资料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70539" y="5662681"/>
            <a:ext cx="3680287" cy="571369"/>
          </a:xfrm>
          <a:custGeom>
            <a:avLst/>
            <a:gdLst/>
            <a:ahLst/>
            <a:cxnLst/>
            <a:rect l="l" t="t" r="r" b="b"/>
            <a:pathLst>
              <a:path w="3680287" h="571369">
                <a:moveTo>
                  <a:pt x="33608" y="0"/>
                </a:moveTo>
                <a:lnTo>
                  <a:pt x="3646679" y="0"/>
                </a:lnTo>
                <a:cubicBezTo>
                  <a:pt x="3665240" y="0"/>
                  <a:pt x="3680287" y="15047"/>
                  <a:pt x="3680287" y="33608"/>
                </a:cubicBezTo>
                <a:lnTo>
                  <a:pt x="3680287" y="537761"/>
                </a:lnTo>
                <a:cubicBezTo>
                  <a:pt x="3680287" y="556322"/>
                  <a:pt x="3665240" y="571369"/>
                  <a:pt x="3646679" y="571369"/>
                </a:cubicBezTo>
                <a:lnTo>
                  <a:pt x="33608" y="571369"/>
                </a:lnTo>
                <a:cubicBezTo>
                  <a:pt x="15047" y="571369"/>
                  <a:pt x="0" y="556322"/>
                  <a:pt x="0" y="537761"/>
                </a:cubicBezTo>
                <a:lnTo>
                  <a:pt x="0" y="33608"/>
                </a:lnTo>
                <a:cubicBezTo>
                  <a:pt x="0" y="15047"/>
                  <a:pt x="15047" y="0"/>
                  <a:pt x="3360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571369" y="5763511"/>
            <a:ext cx="3537445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经典教材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71369" y="5965171"/>
            <a:ext cx="3537445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Elements of Statistical Learning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253493" y="5662681"/>
            <a:ext cx="3680287" cy="571369"/>
          </a:xfrm>
          <a:custGeom>
            <a:avLst/>
            <a:gdLst/>
            <a:ahLst/>
            <a:cxnLst/>
            <a:rect l="l" t="t" r="r" b="b"/>
            <a:pathLst>
              <a:path w="3680287" h="571369">
                <a:moveTo>
                  <a:pt x="33608" y="0"/>
                </a:moveTo>
                <a:lnTo>
                  <a:pt x="3646679" y="0"/>
                </a:lnTo>
                <a:cubicBezTo>
                  <a:pt x="3665240" y="0"/>
                  <a:pt x="3680287" y="15047"/>
                  <a:pt x="3680287" y="33608"/>
                </a:cubicBezTo>
                <a:lnTo>
                  <a:pt x="3680287" y="537761"/>
                </a:lnTo>
                <a:cubicBezTo>
                  <a:pt x="3680287" y="556322"/>
                  <a:pt x="3665240" y="571369"/>
                  <a:pt x="3646679" y="571369"/>
                </a:cubicBezTo>
                <a:lnTo>
                  <a:pt x="33608" y="571369"/>
                </a:lnTo>
                <a:cubicBezTo>
                  <a:pt x="15047" y="571369"/>
                  <a:pt x="0" y="556322"/>
                  <a:pt x="0" y="537761"/>
                </a:cubicBezTo>
                <a:lnTo>
                  <a:pt x="0" y="33608"/>
                </a:lnTo>
                <a:cubicBezTo>
                  <a:pt x="0" y="15047"/>
                  <a:pt x="15047" y="0"/>
                  <a:pt x="3360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4354323" y="5763511"/>
            <a:ext cx="3537445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模式识别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4354323" y="5965171"/>
            <a:ext cx="3537445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Pattern Recognition and Machine Learning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036448" y="5662681"/>
            <a:ext cx="3680287" cy="571369"/>
          </a:xfrm>
          <a:custGeom>
            <a:avLst/>
            <a:gdLst/>
            <a:ahLst/>
            <a:cxnLst/>
            <a:rect l="l" t="t" r="r" b="b"/>
            <a:pathLst>
              <a:path w="3680287" h="571369">
                <a:moveTo>
                  <a:pt x="33608" y="0"/>
                </a:moveTo>
                <a:lnTo>
                  <a:pt x="3646679" y="0"/>
                </a:lnTo>
                <a:cubicBezTo>
                  <a:pt x="3665240" y="0"/>
                  <a:pt x="3680287" y="15047"/>
                  <a:pt x="3680287" y="33608"/>
                </a:cubicBezTo>
                <a:lnTo>
                  <a:pt x="3680287" y="537761"/>
                </a:lnTo>
                <a:cubicBezTo>
                  <a:pt x="3680287" y="556322"/>
                  <a:pt x="3665240" y="571369"/>
                  <a:pt x="3646679" y="571369"/>
                </a:cubicBezTo>
                <a:lnTo>
                  <a:pt x="33608" y="571369"/>
                </a:lnTo>
                <a:cubicBezTo>
                  <a:pt x="15047" y="571369"/>
                  <a:pt x="0" y="556322"/>
                  <a:pt x="0" y="537761"/>
                </a:cubicBezTo>
                <a:lnTo>
                  <a:pt x="0" y="33608"/>
                </a:lnTo>
                <a:cubicBezTo>
                  <a:pt x="0" y="15047"/>
                  <a:pt x="15047" y="0"/>
                  <a:pt x="3360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8137278" y="5763511"/>
            <a:ext cx="3537445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深度学习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137278" y="5965171"/>
            <a:ext cx="3537445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 (Goodfellow)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470539" y="6334880"/>
            <a:ext cx="11250922" cy="403319"/>
          </a:xfrm>
          <a:custGeom>
            <a:avLst/>
            <a:gdLst/>
            <a:ahLst/>
            <a:cxnLst/>
            <a:rect l="l" t="t" r="r" b="b"/>
            <a:pathLst>
              <a:path w="11250922" h="403319">
                <a:moveTo>
                  <a:pt x="33609" y="0"/>
                </a:moveTo>
                <a:lnTo>
                  <a:pt x="11217314" y="0"/>
                </a:lnTo>
                <a:cubicBezTo>
                  <a:pt x="11235875" y="0"/>
                  <a:pt x="11250922" y="15047"/>
                  <a:pt x="11250922" y="33609"/>
                </a:cubicBezTo>
                <a:lnTo>
                  <a:pt x="11250922" y="369711"/>
                </a:lnTo>
                <a:cubicBezTo>
                  <a:pt x="11250922" y="388272"/>
                  <a:pt x="11235875" y="403319"/>
                  <a:pt x="11217314" y="403319"/>
                </a:cubicBezTo>
                <a:lnTo>
                  <a:pt x="33609" y="403319"/>
                </a:lnTo>
                <a:cubicBezTo>
                  <a:pt x="15047" y="403319"/>
                  <a:pt x="0" y="388272"/>
                  <a:pt x="0" y="369711"/>
                </a:cubicBezTo>
                <a:lnTo>
                  <a:pt x="0" y="33609"/>
                </a:lnTo>
                <a:cubicBezTo>
                  <a:pt x="0" y="15047"/>
                  <a:pt x="15047" y="0"/>
                  <a:pt x="33609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579771" y="6473521"/>
            <a:ext cx="151245" cy="134440"/>
          </a:xfrm>
          <a:custGeom>
            <a:avLst/>
            <a:gdLst/>
            <a:ahLst/>
            <a:cxnLst/>
            <a:rect l="l" t="t" r="r" b="b"/>
            <a:pathLst>
              <a:path w="151245" h="134440">
                <a:moveTo>
                  <a:pt x="110151" y="25207"/>
                </a:moveTo>
                <a:cubicBezTo>
                  <a:pt x="105792" y="25207"/>
                  <a:pt x="101565" y="26389"/>
                  <a:pt x="97863" y="28542"/>
                </a:cubicBezTo>
                <a:cubicBezTo>
                  <a:pt x="93714" y="24341"/>
                  <a:pt x="88882" y="20822"/>
                  <a:pt x="83552" y="18170"/>
                </a:cubicBezTo>
                <a:cubicBezTo>
                  <a:pt x="90957" y="11869"/>
                  <a:pt x="100383" y="8402"/>
                  <a:pt x="110151" y="8402"/>
                </a:cubicBezTo>
                <a:cubicBezTo>
                  <a:pt x="132838" y="8402"/>
                  <a:pt x="151245" y="26783"/>
                  <a:pt x="151245" y="49496"/>
                </a:cubicBezTo>
                <a:cubicBezTo>
                  <a:pt x="151245" y="60393"/>
                  <a:pt x="146912" y="70843"/>
                  <a:pt x="139219" y="78537"/>
                </a:cubicBezTo>
                <a:lnTo>
                  <a:pt x="120549" y="97206"/>
                </a:lnTo>
                <a:cubicBezTo>
                  <a:pt x="112856" y="104900"/>
                  <a:pt x="102405" y="109232"/>
                  <a:pt x="91508" y="109232"/>
                </a:cubicBezTo>
                <a:cubicBezTo>
                  <a:pt x="68822" y="109232"/>
                  <a:pt x="50415" y="90852"/>
                  <a:pt x="50415" y="68139"/>
                </a:cubicBezTo>
                <a:cubicBezTo>
                  <a:pt x="50415" y="67745"/>
                  <a:pt x="50415" y="67351"/>
                  <a:pt x="50441" y="66957"/>
                </a:cubicBezTo>
                <a:cubicBezTo>
                  <a:pt x="50572" y="62310"/>
                  <a:pt x="54432" y="58660"/>
                  <a:pt x="59080" y="58791"/>
                </a:cubicBezTo>
                <a:cubicBezTo>
                  <a:pt x="63728" y="58922"/>
                  <a:pt x="67377" y="62782"/>
                  <a:pt x="67246" y="67430"/>
                </a:cubicBezTo>
                <a:cubicBezTo>
                  <a:pt x="67246" y="67666"/>
                  <a:pt x="67246" y="67903"/>
                  <a:pt x="67246" y="68113"/>
                </a:cubicBezTo>
                <a:cubicBezTo>
                  <a:pt x="67246" y="81530"/>
                  <a:pt x="78117" y="92401"/>
                  <a:pt x="91535" y="92401"/>
                </a:cubicBezTo>
                <a:cubicBezTo>
                  <a:pt x="97968" y="92401"/>
                  <a:pt x="104138" y="89854"/>
                  <a:pt x="108707" y="85285"/>
                </a:cubicBezTo>
                <a:lnTo>
                  <a:pt x="127376" y="66616"/>
                </a:lnTo>
                <a:cubicBezTo>
                  <a:pt x="131919" y="62073"/>
                  <a:pt x="134492" y="55876"/>
                  <a:pt x="134492" y="49443"/>
                </a:cubicBezTo>
                <a:cubicBezTo>
                  <a:pt x="134492" y="36026"/>
                  <a:pt x="123622" y="25155"/>
                  <a:pt x="110204" y="25155"/>
                </a:cubicBezTo>
                <a:close/>
                <a:moveTo>
                  <a:pt x="72261" y="45505"/>
                </a:moveTo>
                <a:cubicBezTo>
                  <a:pt x="71762" y="45295"/>
                  <a:pt x="71264" y="45006"/>
                  <a:pt x="70817" y="44691"/>
                </a:cubicBezTo>
                <a:cubicBezTo>
                  <a:pt x="67509" y="42984"/>
                  <a:pt x="63728" y="42012"/>
                  <a:pt x="59763" y="42012"/>
                </a:cubicBezTo>
                <a:cubicBezTo>
                  <a:pt x="53329" y="42012"/>
                  <a:pt x="47159" y="44559"/>
                  <a:pt x="42590" y="49128"/>
                </a:cubicBezTo>
                <a:lnTo>
                  <a:pt x="23921" y="67798"/>
                </a:lnTo>
                <a:cubicBezTo>
                  <a:pt x="19378" y="72340"/>
                  <a:pt x="16805" y="78537"/>
                  <a:pt x="16805" y="84970"/>
                </a:cubicBezTo>
                <a:cubicBezTo>
                  <a:pt x="16805" y="98388"/>
                  <a:pt x="27676" y="109259"/>
                  <a:pt x="41093" y="109259"/>
                </a:cubicBezTo>
                <a:cubicBezTo>
                  <a:pt x="45426" y="109259"/>
                  <a:pt x="49653" y="108103"/>
                  <a:pt x="53356" y="105950"/>
                </a:cubicBezTo>
                <a:cubicBezTo>
                  <a:pt x="57504" y="110151"/>
                  <a:pt x="62336" y="113670"/>
                  <a:pt x="67692" y="116322"/>
                </a:cubicBezTo>
                <a:cubicBezTo>
                  <a:pt x="60288" y="122597"/>
                  <a:pt x="50888" y="126090"/>
                  <a:pt x="41093" y="126090"/>
                </a:cubicBezTo>
                <a:cubicBezTo>
                  <a:pt x="18407" y="126090"/>
                  <a:pt x="0" y="107709"/>
                  <a:pt x="0" y="84996"/>
                </a:cubicBezTo>
                <a:cubicBezTo>
                  <a:pt x="0" y="74099"/>
                  <a:pt x="4333" y="63649"/>
                  <a:pt x="12026" y="55955"/>
                </a:cubicBezTo>
                <a:lnTo>
                  <a:pt x="30695" y="37286"/>
                </a:lnTo>
                <a:cubicBezTo>
                  <a:pt x="38389" y="29592"/>
                  <a:pt x="48839" y="25260"/>
                  <a:pt x="59736" y="25260"/>
                </a:cubicBezTo>
                <a:cubicBezTo>
                  <a:pt x="82476" y="25260"/>
                  <a:pt x="100830" y="43798"/>
                  <a:pt x="100830" y="66458"/>
                </a:cubicBezTo>
                <a:cubicBezTo>
                  <a:pt x="100830" y="66800"/>
                  <a:pt x="100830" y="67141"/>
                  <a:pt x="100830" y="67482"/>
                </a:cubicBezTo>
                <a:cubicBezTo>
                  <a:pt x="100725" y="72130"/>
                  <a:pt x="96865" y="75780"/>
                  <a:pt x="92217" y="75675"/>
                </a:cubicBezTo>
                <a:cubicBezTo>
                  <a:pt x="87570" y="75570"/>
                  <a:pt x="83920" y="71710"/>
                  <a:pt x="84025" y="67062"/>
                </a:cubicBezTo>
                <a:cubicBezTo>
                  <a:pt x="84025" y="66852"/>
                  <a:pt x="84025" y="66668"/>
                  <a:pt x="84025" y="66458"/>
                </a:cubicBezTo>
                <a:cubicBezTo>
                  <a:pt x="84025" y="57610"/>
                  <a:pt x="79298" y="49837"/>
                  <a:pt x="72261" y="45557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47" name="Text 44"/>
          <p:cNvSpPr/>
          <p:nvPr/>
        </p:nvSpPr>
        <p:spPr>
          <a:xfrm>
            <a:off x="845500" y="6448313"/>
            <a:ext cx="1420938" cy="176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scikit-learn官方文档：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2238080" y="6448313"/>
            <a:ext cx="2493502" cy="176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https://scikit-learn.org/stable/modules/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机器学习通用流程与核心概念</dc:title>
  <dc:subject>机器学习通用流程与核心概念</dc:subject>
  <dc:creator>Kimi</dc:creator>
  <cp:lastModifiedBy>Kimi</cp:lastModifiedBy>
  <cp:revision>1</cp:revision>
  <dcterms:created xsi:type="dcterms:W3CDTF">2026-01-07T07:44:44Z</dcterms:created>
  <dcterms:modified xsi:type="dcterms:W3CDTF">2026-01-07T07:44:44Z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机器学习通用流程与核心概念","ContentProducer":"001191110108MACG2KBH8F10000","ProduceID":"19b97666-5442-8c17-8000-0000e0906536","ReservedCode1":"","ContentPropagator":"001191110108MACG2KBH8F20000","PropagateID":"19b97666-5442-8c17-8000-0000e0906536","ReservedCode2":""}</vt:lpwstr>
  </property>
</Properties>
</file>