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6256000" cy="9144000"/>
  <p:notesSz cx="9144000" cy="16256000"/>
  <p:embeddedFontLst>
    <p:embeddedFont>
      <p:font typeface="KaiTi" panose="02010609060101010101" pitchFamily="49" charset="-122"/>
      <p:regular r:id="rId34"/>
    </p:embeddedFont>
    <p:embeddedFont>
      <p:font typeface="Liter" panose="02000503030000020004" pitchFamily="2" charset="0"/>
      <p:regular r:id="rId35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48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676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easy-peasy.ai/9aa955130cdb72f6d4fa54c3b01962e0a8090947.png"/>
          <p:cNvPicPr>
            <a:picLocks noChangeAspect="1"/>
          </p:cNvPicPr>
          <p:nvPr/>
        </p:nvPicPr>
        <p:blipFill>
          <a:blip r:embed="rId3">
            <a:alphaModFix amt="50000"/>
          </a:blip>
          <a:srcRect t="21875" b="21875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>
                  <a:alpha val="95000"/>
                </a:srgbClr>
              </a:gs>
              <a:gs pos="50000">
                <a:srgbClr val="1A1D24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14350" y="2279650"/>
            <a:ext cx="4076700" cy="520700"/>
          </a:xfrm>
          <a:custGeom>
            <a:avLst/>
            <a:gdLst/>
            <a:ahLst/>
            <a:cxnLst/>
            <a:rect l="l" t="t" r="r" b="b"/>
            <a:pathLst>
              <a:path w="4076700" h="520700">
                <a:moveTo>
                  <a:pt x="101599" y="0"/>
                </a:moveTo>
                <a:lnTo>
                  <a:pt x="3975101" y="0"/>
                </a:lnTo>
                <a:cubicBezTo>
                  <a:pt x="4031213" y="0"/>
                  <a:pt x="4076700" y="45487"/>
                  <a:pt x="4076700" y="101599"/>
                </a:cubicBezTo>
                <a:lnTo>
                  <a:pt x="4076700" y="419101"/>
                </a:lnTo>
                <a:cubicBezTo>
                  <a:pt x="4076700" y="475213"/>
                  <a:pt x="4031213" y="520700"/>
                  <a:pt x="3975101" y="520700"/>
                </a:cubicBezTo>
                <a:lnTo>
                  <a:pt x="101599" y="520700"/>
                </a:lnTo>
                <a:cubicBezTo>
                  <a:pt x="45487" y="520700"/>
                  <a:pt x="0" y="475213"/>
                  <a:pt x="0" y="4191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 w="12700">
            <a:solidFill>
              <a:srgbClr val="6ED3CF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23900" y="2406650"/>
            <a:ext cx="37628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kern="0" spc="80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ARTIFICIAL INTELLIGENCE COURSE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111500"/>
            <a:ext cx="1569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人工智能与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机器学习概述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56007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kern="0" spc="90" dirty="0">
                <a:solidFill>
                  <a:srgbClr val="5F87A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&amp; Machine Learning Overview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748" y="512748"/>
            <a:ext cx="2506766" cy="417794"/>
          </a:xfrm>
          <a:custGeom>
            <a:avLst/>
            <a:gdLst/>
            <a:ahLst/>
            <a:cxnLst/>
            <a:rect l="l" t="t" r="r" b="b"/>
            <a:pathLst>
              <a:path w="2506766" h="417794">
                <a:moveTo>
                  <a:pt x="50641" y="0"/>
                </a:moveTo>
                <a:lnTo>
                  <a:pt x="2456125" y="0"/>
                </a:lnTo>
                <a:cubicBezTo>
                  <a:pt x="2484094" y="0"/>
                  <a:pt x="2506766" y="22673"/>
                  <a:pt x="2506766" y="50641"/>
                </a:cubicBezTo>
                <a:lnTo>
                  <a:pt x="2506766" y="367154"/>
                </a:lnTo>
                <a:cubicBezTo>
                  <a:pt x="2506766" y="395122"/>
                  <a:pt x="2484094" y="417794"/>
                  <a:pt x="2456125" y="417794"/>
                </a:cubicBezTo>
                <a:lnTo>
                  <a:pt x="50641" y="417794"/>
                </a:lnTo>
                <a:cubicBezTo>
                  <a:pt x="22691" y="417794"/>
                  <a:pt x="0" y="395103"/>
                  <a:pt x="0" y="367154"/>
                </a:cubicBezTo>
                <a:lnTo>
                  <a:pt x="0" y="50641"/>
                </a:lnTo>
                <a:cubicBezTo>
                  <a:pt x="0" y="22673"/>
                  <a:pt x="22673" y="0"/>
                  <a:pt x="50641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 w="12700">
            <a:solidFill>
              <a:srgbClr val="5F87A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1003" y="588710"/>
            <a:ext cx="2296188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5" kern="0" spc="80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COURSE STRUCTURE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6417" y="1088798"/>
            <a:ext cx="15547016" cy="607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785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课程概览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2748" y="2107963"/>
            <a:ext cx="7482318" cy="2164935"/>
          </a:xfrm>
          <a:custGeom>
            <a:avLst/>
            <a:gdLst/>
            <a:ahLst/>
            <a:cxnLst/>
            <a:rect l="l" t="t" r="r" b="b"/>
            <a:pathLst>
              <a:path w="7482318" h="2164935">
                <a:moveTo>
                  <a:pt x="151935" y="0"/>
                </a:moveTo>
                <a:lnTo>
                  <a:pt x="7330383" y="0"/>
                </a:lnTo>
                <a:cubicBezTo>
                  <a:pt x="7414294" y="0"/>
                  <a:pt x="7482318" y="68024"/>
                  <a:pt x="7482318" y="151935"/>
                </a:cubicBezTo>
                <a:lnTo>
                  <a:pt x="7482318" y="2012999"/>
                </a:lnTo>
                <a:cubicBezTo>
                  <a:pt x="7482318" y="2096911"/>
                  <a:pt x="7414294" y="2164935"/>
                  <a:pt x="7330383" y="2164935"/>
                </a:cubicBezTo>
                <a:lnTo>
                  <a:pt x="151935" y="2164935"/>
                </a:lnTo>
                <a:cubicBezTo>
                  <a:pt x="68024" y="2164935"/>
                  <a:pt x="0" y="2096911"/>
                  <a:pt x="0" y="2012999"/>
                </a:cubicBezTo>
                <a:lnTo>
                  <a:pt x="0" y="151935"/>
                </a:lnTo>
                <a:cubicBezTo>
                  <a:pt x="0" y="68024"/>
                  <a:pt x="68024" y="0"/>
                  <a:pt x="151935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22928" y="2418143"/>
            <a:ext cx="708984" cy="708984"/>
          </a:xfrm>
          <a:custGeom>
            <a:avLst/>
            <a:gdLst/>
            <a:ahLst/>
            <a:cxnLst/>
            <a:rect l="l" t="t" r="r" b="b"/>
            <a:pathLst>
              <a:path w="708984" h="708984">
                <a:moveTo>
                  <a:pt x="101286" y="0"/>
                </a:moveTo>
                <a:lnTo>
                  <a:pt x="607699" y="0"/>
                </a:lnTo>
                <a:cubicBezTo>
                  <a:pt x="663637" y="0"/>
                  <a:pt x="708984" y="45347"/>
                  <a:pt x="708984" y="101286"/>
                </a:cubicBezTo>
                <a:lnTo>
                  <a:pt x="708984" y="607699"/>
                </a:lnTo>
                <a:cubicBezTo>
                  <a:pt x="708984" y="663637"/>
                  <a:pt x="663637" y="708984"/>
                  <a:pt x="607699" y="708984"/>
                </a:cubicBezTo>
                <a:lnTo>
                  <a:pt x="101286" y="708984"/>
                </a:lnTo>
                <a:cubicBezTo>
                  <a:pt x="45347" y="708984"/>
                  <a:pt x="0" y="663637"/>
                  <a:pt x="0" y="607699"/>
                </a:cubicBezTo>
                <a:lnTo>
                  <a:pt x="0" y="101286"/>
                </a:lnTo>
                <a:cubicBezTo>
                  <a:pt x="0" y="45385"/>
                  <a:pt x="45385" y="0"/>
                  <a:pt x="101286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46966" y="2418143"/>
            <a:ext cx="860910" cy="708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393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34480" y="2418143"/>
            <a:ext cx="6102330" cy="405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9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课程导引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4480" y="2924561"/>
            <a:ext cx="6051688" cy="329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5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教学目标、知识架构与章节安排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28" y="3608224"/>
            <a:ext cx="1012835" cy="354492"/>
          </a:xfrm>
          <a:custGeom>
            <a:avLst/>
            <a:gdLst/>
            <a:ahLst/>
            <a:cxnLst/>
            <a:rect l="l" t="t" r="r" b="b"/>
            <a:pathLst>
              <a:path w="1012835" h="354492">
                <a:moveTo>
                  <a:pt x="177246" y="0"/>
                </a:moveTo>
                <a:lnTo>
                  <a:pt x="835589" y="0"/>
                </a:lnTo>
                <a:cubicBezTo>
                  <a:pt x="933479" y="0"/>
                  <a:pt x="1012835" y="79356"/>
                  <a:pt x="1012835" y="177246"/>
                </a:cubicBezTo>
                <a:lnTo>
                  <a:pt x="1012835" y="177246"/>
                </a:lnTo>
                <a:cubicBezTo>
                  <a:pt x="1012835" y="275136"/>
                  <a:pt x="933479" y="354492"/>
                  <a:pt x="835589" y="354492"/>
                </a:cubicBezTo>
                <a:lnTo>
                  <a:pt x="177246" y="354492"/>
                </a:lnTo>
                <a:cubicBezTo>
                  <a:pt x="79421" y="354492"/>
                  <a:pt x="0" y="275071"/>
                  <a:pt x="0" y="177246"/>
                </a:cubicBezTo>
                <a:lnTo>
                  <a:pt x="0" y="177246"/>
                </a:lnTo>
                <a:cubicBezTo>
                  <a:pt x="0" y="79421"/>
                  <a:pt x="79421" y="0"/>
                  <a:pt x="177246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22928" y="3608224"/>
            <a:ext cx="1101458" cy="354492"/>
          </a:xfrm>
          <a:prstGeom prst="rect">
            <a:avLst/>
          </a:prstGeom>
          <a:noFill/>
          <a:ln/>
        </p:spPr>
        <p:txBody>
          <a:bodyPr wrap="square" lIns="151925" tIns="50642" rIns="151925" bIns="50642" rtlCol="0" anchor="ctr"/>
          <a:lstStyle/>
          <a:p>
            <a:pPr>
              <a:lnSpc>
                <a:spcPct val="120000"/>
              </a:lnSpc>
            </a:pPr>
            <a:r>
              <a:rPr lang="en-US" sz="1396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课程介绍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937047" y="3608224"/>
            <a:ext cx="1012835" cy="354492"/>
          </a:xfrm>
          <a:custGeom>
            <a:avLst/>
            <a:gdLst/>
            <a:ahLst/>
            <a:cxnLst/>
            <a:rect l="l" t="t" r="r" b="b"/>
            <a:pathLst>
              <a:path w="1012835" h="354492">
                <a:moveTo>
                  <a:pt x="177246" y="0"/>
                </a:moveTo>
                <a:lnTo>
                  <a:pt x="835589" y="0"/>
                </a:lnTo>
                <a:cubicBezTo>
                  <a:pt x="933479" y="0"/>
                  <a:pt x="1012835" y="79356"/>
                  <a:pt x="1012835" y="177246"/>
                </a:cubicBezTo>
                <a:lnTo>
                  <a:pt x="1012835" y="177246"/>
                </a:lnTo>
                <a:cubicBezTo>
                  <a:pt x="1012835" y="275136"/>
                  <a:pt x="933479" y="354492"/>
                  <a:pt x="835589" y="354492"/>
                </a:cubicBezTo>
                <a:lnTo>
                  <a:pt x="177246" y="354492"/>
                </a:lnTo>
                <a:cubicBezTo>
                  <a:pt x="79421" y="354492"/>
                  <a:pt x="0" y="275071"/>
                  <a:pt x="0" y="177246"/>
                </a:cubicBezTo>
                <a:lnTo>
                  <a:pt x="0" y="177246"/>
                </a:lnTo>
                <a:cubicBezTo>
                  <a:pt x="0" y="79421"/>
                  <a:pt x="79421" y="0"/>
                  <a:pt x="177246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937047" y="3608224"/>
            <a:ext cx="1101458" cy="354492"/>
          </a:xfrm>
          <a:prstGeom prst="rect">
            <a:avLst/>
          </a:prstGeom>
          <a:noFill/>
          <a:ln/>
        </p:spPr>
        <p:txBody>
          <a:bodyPr wrap="square" lIns="151925" tIns="50642" rIns="151925" bIns="50642" rtlCol="0" anchor="ctr"/>
          <a:lstStyle/>
          <a:p>
            <a:pPr>
              <a:lnSpc>
                <a:spcPct val="120000"/>
              </a:lnSpc>
            </a:pPr>
            <a:r>
              <a:rPr lang="en-US" sz="1396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知识体系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58066" y="2107963"/>
            <a:ext cx="7482318" cy="2164935"/>
          </a:xfrm>
          <a:custGeom>
            <a:avLst/>
            <a:gdLst/>
            <a:ahLst/>
            <a:cxnLst/>
            <a:rect l="l" t="t" r="r" b="b"/>
            <a:pathLst>
              <a:path w="7482318" h="2164935">
                <a:moveTo>
                  <a:pt x="151935" y="0"/>
                </a:moveTo>
                <a:lnTo>
                  <a:pt x="7330383" y="0"/>
                </a:lnTo>
                <a:cubicBezTo>
                  <a:pt x="7414294" y="0"/>
                  <a:pt x="7482318" y="68024"/>
                  <a:pt x="7482318" y="151935"/>
                </a:cubicBezTo>
                <a:lnTo>
                  <a:pt x="7482318" y="2012999"/>
                </a:lnTo>
                <a:cubicBezTo>
                  <a:pt x="7482318" y="2096911"/>
                  <a:pt x="7414294" y="2164935"/>
                  <a:pt x="7330383" y="2164935"/>
                </a:cubicBezTo>
                <a:lnTo>
                  <a:pt x="151935" y="2164935"/>
                </a:lnTo>
                <a:cubicBezTo>
                  <a:pt x="68024" y="2164935"/>
                  <a:pt x="0" y="2096911"/>
                  <a:pt x="0" y="2012999"/>
                </a:cubicBezTo>
                <a:lnTo>
                  <a:pt x="0" y="151935"/>
                </a:lnTo>
                <a:cubicBezTo>
                  <a:pt x="0" y="68024"/>
                  <a:pt x="68024" y="0"/>
                  <a:pt x="151935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6ED3CF">
                  <a:alpha val="5000"/>
                </a:srgbClr>
              </a:gs>
            </a:gsLst>
            <a:lin ang="2700000" scaled="1"/>
          </a:gradFill>
          <a:ln w="12700">
            <a:solidFill>
              <a:srgbClr val="6ED3C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568247" y="2418143"/>
            <a:ext cx="708984" cy="708984"/>
          </a:xfrm>
          <a:custGeom>
            <a:avLst/>
            <a:gdLst/>
            <a:ahLst/>
            <a:cxnLst/>
            <a:rect l="l" t="t" r="r" b="b"/>
            <a:pathLst>
              <a:path w="708984" h="708984">
                <a:moveTo>
                  <a:pt x="101286" y="0"/>
                </a:moveTo>
                <a:lnTo>
                  <a:pt x="607699" y="0"/>
                </a:lnTo>
                <a:cubicBezTo>
                  <a:pt x="663637" y="0"/>
                  <a:pt x="708984" y="45347"/>
                  <a:pt x="708984" y="101286"/>
                </a:cubicBezTo>
                <a:lnTo>
                  <a:pt x="708984" y="607699"/>
                </a:lnTo>
                <a:cubicBezTo>
                  <a:pt x="708984" y="663637"/>
                  <a:pt x="663637" y="708984"/>
                  <a:pt x="607699" y="708984"/>
                </a:cubicBezTo>
                <a:lnTo>
                  <a:pt x="101286" y="708984"/>
                </a:lnTo>
                <a:cubicBezTo>
                  <a:pt x="45347" y="708984"/>
                  <a:pt x="0" y="663637"/>
                  <a:pt x="0" y="607699"/>
                </a:cubicBezTo>
                <a:lnTo>
                  <a:pt x="0" y="101286"/>
                </a:lnTo>
                <a:cubicBezTo>
                  <a:pt x="0" y="45385"/>
                  <a:pt x="45385" y="0"/>
                  <a:pt x="101286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492284" y="2418143"/>
            <a:ext cx="860910" cy="708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393" dirty="0">
                <a:solidFill>
                  <a:srgbClr val="1A1D2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479798" y="2418143"/>
            <a:ext cx="6102330" cy="405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9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人工智能基础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479798" y="2924561"/>
            <a:ext cx="6051688" cy="329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5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定义、三大流派与发展历程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568247" y="3608224"/>
            <a:ext cx="1012835" cy="354492"/>
          </a:xfrm>
          <a:custGeom>
            <a:avLst/>
            <a:gdLst/>
            <a:ahLst/>
            <a:cxnLst/>
            <a:rect l="l" t="t" r="r" b="b"/>
            <a:pathLst>
              <a:path w="1012835" h="354492">
                <a:moveTo>
                  <a:pt x="177246" y="0"/>
                </a:moveTo>
                <a:lnTo>
                  <a:pt x="835589" y="0"/>
                </a:lnTo>
                <a:cubicBezTo>
                  <a:pt x="933479" y="0"/>
                  <a:pt x="1012835" y="79356"/>
                  <a:pt x="1012835" y="177246"/>
                </a:cubicBezTo>
                <a:lnTo>
                  <a:pt x="1012835" y="177246"/>
                </a:lnTo>
                <a:cubicBezTo>
                  <a:pt x="1012835" y="275136"/>
                  <a:pt x="933479" y="354492"/>
                  <a:pt x="835589" y="354492"/>
                </a:cubicBezTo>
                <a:lnTo>
                  <a:pt x="177246" y="354492"/>
                </a:lnTo>
                <a:cubicBezTo>
                  <a:pt x="79421" y="354492"/>
                  <a:pt x="0" y="275071"/>
                  <a:pt x="0" y="177246"/>
                </a:cubicBezTo>
                <a:lnTo>
                  <a:pt x="0" y="177246"/>
                </a:lnTo>
                <a:cubicBezTo>
                  <a:pt x="0" y="79421"/>
                  <a:pt x="79421" y="0"/>
                  <a:pt x="177246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568247" y="3608224"/>
            <a:ext cx="1101458" cy="354492"/>
          </a:xfrm>
          <a:prstGeom prst="rect">
            <a:avLst/>
          </a:prstGeom>
          <a:noFill/>
          <a:ln/>
        </p:spPr>
        <p:txBody>
          <a:bodyPr wrap="square" lIns="151925" tIns="50642" rIns="151925" bIns="50642" rtlCol="0" anchor="ctr"/>
          <a:lstStyle/>
          <a:p>
            <a:pPr>
              <a:lnSpc>
                <a:spcPct val="120000"/>
              </a:lnSpc>
            </a:pPr>
            <a:r>
              <a:rPr lang="en-US" sz="1396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符号主义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682365" y="3608224"/>
            <a:ext cx="1012835" cy="354492"/>
          </a:xfrm>
          <a:custGeom>
            <a:avLst/>
            <a:gdLst/>
            <a:ahLst/>
            <a:cxnLst/>
            <a:rect l="l" t="t" r="r" b="b"/>
            <a:pathLst>
              <a:path w="1012835" h="354492">
                <a:moveTo>
                  <a:pt x="177246" y="0"/>
                </a:moveTo>
                <a:lnTo>
                  <a:pt x="835589" y="0"/>
                </a:lnTo>
                <a:cubicBezTo>
                  <a:pt x="933479" y="0"/>
                  <a:pt x="1012835" y="79356"/>
                  <a:pt x="1012835" y="177246"/>
                </a:cubicBezTo>
                <a:lnTo>
                  <a:pt x="1012835" y="177246"/>
                </a:lnTo>
                <a:cubicBezTo>
                  <a:pt x="1012835" y="275136"/>
                  <a:pt x="933479" y="354492"/>
                  <a:pt x="835589" y="354492"/>
                </a:cubicBezTo>
                <a:lnTo>
                  <a:pt x="177246" y="354492"/>
                </a:lnTo>
                <a:cubicBezTo>
                  <a:pt x="79421" y="354492"/>
                  <a:pt x="0" y="275071"/>
                  <a:pt x="0" y="177246"/>
                </a:cubicBezTo>
                <a:lnTo>
                  <a:pt x="0" y="177246"/>
                </a:lnTo>
                <a:cubicBezTo>
                  <a:pt x="0" y="79421"/>
                  <a:pt x="79421" y="0"/>
                  <a:pt x="177246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9682365" y="3608224"/>
            <a:ext cx="1101458" cy="354492"/>
          </a:xfrm>
          <a:prstGeom prst="rect">
            <a:avLst/>
          </a:prstGeom>
          <a:noFill/>
          <a:ln/>
        </p:spPr>
        <p:txBody>
          <a:bodyPr wrap="square" lIns="151925" tIns="50642" rIns="151925" bIns="50642" rtlCol="0" anchor="ctr"/>
          <a:lstStyle/>
          <a:p>
            <a:pPr>
              <a:lnSpc>
                <a:spcPct val="120000"/>
              </a:lnSpc>
            </a:pPr>
            <a:r>
              <a:rPr lang="en-US" sz="1396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连接主义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796484" y="3608224"/>
            <a:ext cx="1012835" cy="354492"/>
          </a:xfrm>
          <a:custGeom>
            <a:avLst/>
            <a:gdLst/>
            <a:ahLst/>
            <a:cxnLst/>
            <a:rect l="l" t="t" r="r" b="b"/>
            <a:pathLst>
              <a:path w="1012835" h="354492">
                <a:moveTo>
                  <a:pt x="177246" y="0"/>
                </a:moveTo>
                <a:lnTo>
                  <a:pt x="835589" y="0"/>
                </a:lnTo>
                <a:cubicBezTo>
                  <a:pt x="933479" y="0"/>
                  <a:pt x="1012835" y="79356"/>
                  <a:pt x="1012835" y="177246"/>
                </a:cubicBezTo>
                <a:lnTo>
                  <a:pt x="1012835" y="177246"/>
                </a:lnTo>
                <a:cubicBezTo>
                  <a:pt x="1012835" y="275136"/>
                  <a:pt x="933479" y="354492"/>
                  <a:pt x="835589" y="354492"/>
                </a:cubicBezTo>
                <a:lnTo>
                  <a:pt x="177246" y="354492"/>
                </a:lnTo>
                <a:cubicBezTo>
                  <a:pt x="79421" y="354492"/>
                  <a:pt x="0" y="275071"/>
                  <a:pt x="0" y="177246"/>
                </a:cubicBezTo>
                <a:lnTo>
                  <a:pt x="0" y="177246"/>
                </a:lnTo>
                <a:cubicBezTo>
                  <a:pt x="0" y="79421"/>
                  <a:pt x="79421" y="0"/>
                  <a:pt x="177246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0796484" y="3608224"/>
            <a:ext cx="1101458" cy="354492"/>
          </a:xfrm>
          <a:prstGeom prst="rect">
            <a:avLst/>
          </a:prstGeom>
          <a:noFill/>
          <a:ln/>
        </p:spPr>
        <p:txBody>
          <a:bodyPr wrap="square" lIns="151925" tIns="50642" rIns="151925" bIns="50642" rtlCol="0" anchor="ctr"/>
          <a:lstStyle/>
          <a:p>
            <a:pPr>
              <a:lnSpc>
                <a:spcPct val="120000"/>
              </a:lnSpc>
            </a:pPr>
            <a:r>
              <a:rPr lang="en-US" sz="1396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行为主义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2748" y="4538766"/>
            <a:ext cx="7482318" cy="2164935"/>
          </a:xfrm>
          <a:custGeom>
            <a:avLst/>
            <a:gdLst/>
            <a:ahLst/>
            <a:cxnLst/>
            <a:rect l="l" t="t" r="r" b="b"/>
            <a:pathLst>
              <a:path w="7482318" h="2164935">
                <a:moveTo>
                  <a:pt x="151935" y="0"/>
                </a:moveTo>
                <a:lnTo>
                  <a:pt x="7330383" y="0"/>
                </a:lnTo>
                <a:cubicBezTo>
                  <a:pt x="7414294" y="0"/>
                  <a:pt x="7482318" y="68024"/>
                  <a:pt x="7482318" y="151935"/>
                </a:cubicBezTo>
                <a:lnTo>
                  <a:pt x="7482318" y="2012999"/>
                </a:lnTo>
                <a:cubicBezTo>
                  <a:pt x="7482318" y="2096911"/>
                  <a:pt x="7414294" y="2164935"/>
                  <a:pt x="7330383" y="2164935"/>
                </a:cubicBezTo>
                <a:lnTo>
                  <a:pt x="151935" y="2164935"/>
                </a:lnTo>
                <a:cubicBezTo>
                  <a:pt x="68024" y="2164935"/>
                  <a:pt x="0" y="2096911"/>
                  <a:pt x="0" y="2012999"/>
                </a:cubicBezTo>
                <a:lnTo>
                  <a:pt x="0" y="151935"/>
                </a:lnTo>
                <a:cubicBezTo>
                  <a:pt x="0" y="68024"/>
                  <a:pt x="68024" y="0"/>
                  <a:pt x="151935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22928" y="4848947"/>
            <a:ext cx="708984" cy="708984"/>
          </a:xfrm>
          <a:custGeom>
            <a:avLst/>
            <a:gdLst/>
            <a:ahLst/>
            <a:cxnLst/>
            <a:rect l="l" t="t" r="r" b="b"/>
            <a:pathLst>
              <a:path w="708984" h="708984">
                <a:moveTo>
                  <a:pt x="101286" y="0"/>
                </a:moveTo>
                <a:lnTo>
                  <a:pt x="607699" y="0"/>
                </a:lnTo>
                <a:cubicBezTo>
                  <a:pt x="663637" y="0"/>
                  <a:pt x="708984" y="45347"/>
                  <a:pt x="708984" y="101286"/>
                </a:cubicBezTo>
                <a:lnTo>
                  <a:pt x="708984" y="607699"/>
                </a:lnTo>
                <a:cubicBezTo>
                  <a:pt x="708984" y="663637"/>
                  <a:pt x="663637" y="708984"/>
                  <a:pt x="607699" y="708984"/>
                </a:cubicBezTo>
                <a:lnTo>
                  <a:pt x="101286" y="708984"/>
                </a:lnTo>
                <a:cubicBezTo>
                  <a:pt x="45347" y="708984"/>
                  <a:pt x="0" y="663637"/>
                  <a:pt x="0" y="607699"/>
                </a:cubicBezTo>
                <a:lnTo>
                  <a:pt x="0" y="101286"/>
                </a:lnTo>
                <a:cubicBezTo>
                  <a:pt x="0" y="45385"/>
                  <a:pt x="45385" y="0"/>
                  <a:pt x="101286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746966" y="4848947"/>
            <a:ext cx="860910" cy="708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393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734480" y="4848947"/>
            <a:ext cx="6102330" cy="405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9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AI工作流程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734480" y="5355364"/>
            <a:ext cx="6051688" cy="329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5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从数据到模型的完整路径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2928" y="6039028"/>
            <a:ext cx="1012835" cy="354492"/>
          </a:xfrm>
          <a:custGeom>
            <a:avLst/>
            <a:gdLst/>
            <a:ahLst/>
            <a:cxnLst/>
            <a:rect l="l" t="t" r="r" b="b"/>
            <a:pathLst>
              <a:path w="1012835" h="354492">
                <a:moveTo>
                  <a:pt x="177246" y="0"/>
                </a:moveTo>
                <a:lnTo>
                  <a:pt x="835589" y="0"/>
                </a:lnTo>
                <a:cubicBezTo>
                  <a:pt x="933479" y="0"/>
                  <a:pt x="1012835" y="79356"/>
                  <a:pt x="1012835" y="177246"/>
                </a:cubicBezTo>
                <a:lnTo>
                  <a:pt x="1012835" y="177246"/>
                </a:lnTo>
                <a:cubicBezTo>
                  <a:pt x="1012835" y="275136"/>
                  <a:pt x="933479" y="354492"/>
                  <a:pt x="835589" y="354492"/>
                </a:cubicBezTo>
                <a:lnTo>
                  <a:pt x="177246" y="354492"/>
                </a:lnTo>
                <a:cubicBezTo>
                  <a:pt x="79421" y="354492"/>
                  <a:pt x="0" y="275071"/>
                  <a:pt x="0" y="177246"/>
                </a:cubicBezTo>
                <a:lnTo>
                  <a:pt x="0" y="177246"/>
                </a:lnTo>
                <a:cubicBezTo>
                  <a:pt x="0" y="79421"/>
                  <a:pt x="79421" y="0"/>
                  <a:pt x="177246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22928" y="6039028"/>
            <a:ext cx="1101458" cy="354492"/>
          </a:xfrm>
          <a:prstGeom prst="rect">
            <a:avLst/>
          </a:prstGeom>
          <a:noFill/>
          <a:ln/>
        </p:spPr>
        <p:txBody>
          <a:bodyPr wrap="square" lIns="151925" tIns="50642" rIns="151925" bIns="50642" rtlCol="0" anchor="ctr"/>
          <a:lstStyle/>
          <a:p>
            <a:pPr>
              <a:lnSpc>
                <a:spcPct val="120000"/>
              </a:lnSpc>
            </a:pPr>
            <a:r>
              <a:rPr lang="en-US" sz="1396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数据准备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937047" y="6039028"/>
            <a:ext cx="1012835" cy="354492"/>
          </a:xfrm>
          <a:custGeom>
            <a:avLst/>
            <a:gdLst/>
            <a:ahLst/>
            <a:cxnLst/>
            <a:rect l="l" t="t" r="r" b="b"/>
            <a:pathLst>
              <a:path w="1012835" h="354492">
                <a:moveTo>
                  <a:pt x="177246" y="0"/>
                </a:moveTo>
                <a:lnTo>
                  <a:pt x="835589" y="0"/>
                </a:lnTo>
                <a:cubicBezTo>
                  <a:pt x="933479" y="0"/>
                  <a:pt x="1012835" y="79356"/>
                  <a:pt x="1012835" y="177246"/>
                </a:cubicBezTo>
                <a:lnTo>
                  <a:pt x="1012835" y="177246"/>
                </a:lnTo>
                <a:cubicBezTo>
                  <a:pt x="1012835" y="275136"/>
                  <a:pt x="933479" y="354492"/>
                  <a:pt x="835589" y="354492"/>
                </a:cubicBezTo>
                <a:lnTo>
                  <a:pt x="177246" y="354492"/>
                </a:lnTo>
                <a:cubicBezTo>
                  <a:pt x="79421" y="354492"/>
                  <a:pt x="0" y="275071"/>
                  <a:pt x="0" y="177246"/>
                </a:cubicBezTo>
                <a:lnTo>
                  <a:pt x="0" y="177246"/>
                </a:lnTo>
                <a:cubicBezTo>
                  <a:pt x="0" y="79421"/>
                  <a:pt x="79421" y="0"/>
                  <a:pt x="177246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937047" y="6039028"/>
            <a:ext cx="1101458" cy="354492"/>
          </a:xfrm>
          <a:prstGeom prst="rect">
            <a:avLst/>
          </a:prstGeom>
          <a:noFill/>
          <a:ln/>
        </p:spPr>
        <p:txBody>
          <a:bodyPr wrap="square" lIns="151925" tIns="50642" rIns="151925" bIns="50642" rtlCol="0" anchor="ctr"/>
          <a:lstStyle/>
          <a:p>
            <a:pPr>
              <a:lnSpc>
                <a:spcPct val="120000"/>
              </a:lnSpc>
            </a:pPr>
            <a:r>
              <a:rPr lang="en-US" sz="1396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特征工程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051165" y="6039028"/>
            <a:ext cx="1012835" cy="354492"/>
          </a:xfrm>
          <a:custGeom>
            <a:avLst/>
            <a:gdLst/>
            <a:ahLst/>
            <a:cxnLst/>
            <a:rect l="l" t="t" r="r" b="b"/>
            <a:pathLst>
              <a:path w="1012835" h="354492">
                <a:moveTo>
                  <a:pt x="177246" y="0"/>
                </a:moveTo>
                <a:lnTo>
                  <a:pt x="835589" y="0"/>
                </a:lnTo>
                <a:cubicBezTo>
                  <a:pt x="933479" y="0"/>
                  <a:pt x="1012835" y="79356"/>
                  <a:pt x="1012835" y="177246"/>
                </a:cubicBezTo>
                <a:lnTo>
                  <a:pt x="1012835" y="177246"/>
                </a:lnTo>
                <a:cubicBezTo>
                  <a:pt x="1012835" y="275136"/>
                  <a:pt x="933479" y="354492"/>
                  <a:pt x="835589" y="354492"/>
                </a:cubicBezTo>
                <a:lnTo>
                  <a:pt x="177246" y="354492"/>
                </a:lnTo>
                <a:cubicBezTo>
                  <a:pt x="79421" y="354492"/>
                  <a:pt x="0" y="275071"/>
                  <a:pt x="0" y="177246"/>
                </a:cubicBezTo>
                <a:lnTo>
                  <a:pt x="0" y="177246"/>
                </a:lnTo>
                <a:cubicBezTo>
                  <a:pt x="0" y="79421"/>
                  <a:pt x="79421" y="0"/>
                  <a:pt x="177246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3051165" y="6039028"/>
            <a:ext cx="1101458" cy="354492"/>
          </a:xfrm>
          <a:prstGeom prst="rect">
            <a:avLst/>
          </a:prstGeom>
          <a:noFill/>
          <a:ln/>
        </p:spPr>
        <p:txBody>
          <a:bodyPr wrap="square" lIns="151925" tIns="50642" rIns="151925" bIns="50642" rtlCol="0" anchor="ctr"/>
          <a:lstStyle/>
          <a:p>
            <a:pPr>
              <a:lnSpc>
                <a:spcPct val="120000"/>
              </a:lnSpc>
            </a:pPr>
            <a:r>
              <a:rPr lang="en-US" sz="1396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模型训练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58066" y="4538766"/>
            <a:ext cx="7482318" cy="2164935"/>
          </a:xfrm>
          <a:custGeom>
            <a:avLst/>
            <a:gdLst/>
            <a:ahLst/>
            <a:cxnLst/>
            <a:rect l="l" t="t" r="r" b="b"/>
            <a:pathLst>
              <a:path w="7482318" h="2164935">
                <a:moveTo>
                  <a:pt x="151935" y="0"/>
                </a:moveTo>
                <a:lnTo>
                  <a:pt x="7330383" y="0"/>
                </a:lnTo>
                <a:cubicBezTo>
                  <a:pt x="7414294" y="0"/>
                  <a:pt x="7482318" y="68024"/>
                  <a:pt x="7482318" y="151935"/>
                </a:cubicBezTo>
                <a:lnTo>
                  <a:pt x="7482318" y="2012999"/>
                </a:lnTo>
                <a:cubicBezTo>
                  <a:pt x="7482318" y="2096911"/>
                  <a:pt x="7414294" y="2164935"/>
                  <a:pt x="7330383" y="2164935"/>
                </a:cubicBezTo>
                <a:lnTo>
                  <a:pt x="151935" y="2164935"/>
                </a:lnTo>
                <a:cubicBezTo>
                  <a:pt x="68024" y="2164935"/>
                  <a:pt x="0" y="2096911"/>
                  <a:pt x="0" y="2012999"/>
                </a:cubicBezTo>
                <a:lnTo>
                  <a:pt x="0" y="151935"/>
                </a:lnTo>
                <a:cubicBezTo>
                  <a:pt x="0" y="68024"/>
                  <a:pt x="68024" y="0"/>
                  <a:pt x="151935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6ED3CF">
                  <a:alpha val="5000"/>
                </a:srgbClr>
              </a:gs>
            </a:gsLst>
            <a:lin ang="2700000" scaled="1"/>
          </a:gradFill>
          <a:ln w="12700">
            <a:solidFill>
              <a:srgbClr val="6ED3C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568247" y="4848947"/>
            <a:ext cx="708984" cy="708984"/>
          </a:xfrm>
          <a:custGeom>
            <a:avLst/>
            <a:gdLst/>
            <a:ahLst/>
            <a:cxnLst/>
            <a:rect l="l" t="t" r="r" b="b"/>
            <a:pathLst>
              <a:path w="708984" h="708984">
                <a:moveTo>
                  <a:pt x="101286" y="0"/>
                </a:moveTo>
                <a:lnTo>
                  <a:pt x="607699" y="0"/>
                </a:lnTo>
                <a:cubicBezTo>
                  <a:pt x="663637" y="0"/>
                  <a:pt x="708984" y="45347"/>
                  <a:pt x="708984" y="101286"/>
                </a:cubicBezTo>
                <a:lnTo>
                  <a:pt x="708984" y="607699"/>
                </a:lnTo>
                <a:cubicBezTo>
                  <a:pt x="708984" y="663637"/>
                  <a:pt x="663637" y="708984"/>
                  <a:pt x="607699" y="708984"/>
                </a:cubicBezTo>
                <a:lnTo>
                  <a:pt x="101286" y="708984"/>
                </a:lnTo>
                <a:cubicBezTo>
                  <a:pt x="45347" y="708984"/>
                  <a:pt x="0" y="663637"/>
                  <a:pt x="0" y="607699"/>
                </a:cubicBezTo>
                <a:lnTo>
                  <a:pt x="0" y="101286"/>
                </a:lnTo>
                <a:cubicBezTo>
                  <a:pt x="0" y="45385"/>
                  <a:pt x="45385" y="0"/>
                  <a:pt x="101286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492284" y="4848947"/>
            <a:ext cx="860910" cy="708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393" dirty="0">
                <a:solidFill>
                  <a:srgbClr val="1A1D2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479798" y="4848947"/>
            <a:ext cx="6102330" cy="405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9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技术方案全景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479798" y="5355364"/>
            <a:ext cx="6051688" cy="329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5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监督、无监督与概率模型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568247" y="6039028"/>
            <a:ext cx="1012835" cy="354492"/>
          </a:xfrm>
          <a:custGeom>
            <a:avLst/>
            <a:gdLst/>
            <a:ahLst/>
            <a:cxnLst/>
            <a:rect l="l" t="t" r="r" b="b"/>
            <a:pathLst>
              <a:path w="1012835" h="354492">
                <a:moveTo>
                  <a:pt x="177246" y="0"/>
                </a:moveTo>
                <a:lnTo>
                  <a:pt x="835589" y="0"/>
                </a:lnTo>
                <a:cubicBezTo>
                  <a:pt x="933479" y="0"/>
                  <a:pt x="1012835" y="79356"/>
                  <a:pt x="1012835" y="177246"/>
                </a:cubicBezTo>
                <a:lnTo>
                  <a:pt x="1012835" y="177246"/>
                </a:lnTo>
                <a:cubicBezTo>
                  <a:pt x="1012835" y="275136"/>
                  <a:pt x="933479" y="354492"/>
                  <a:pt x="835589" y="354492"/>
                </a:cubicBezTo>
                <a:lnTo>
                  <a:pt x="177246" y="354492"/>
                </a:lnTo>
                <a:cubicBezTo>
                  <a:pt x="79421" y="354492"/>
                  <a:pt x="0" y="275071"/>
                  <a:pt x="0" y="177246"/>
                </a:cubicBezTo>
                <a:lnTo>
                  <a:pt x="0" y="177246"/>
                </a:lnTo>
                <a:cubicBezTo>
                  <a:pt x="0" y="79421"/>
                  <a:pt x="79421" y="0"/>
                  <a:pt x="177246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8568247" y="6039028"/>
            <a:ext cx="1101458" cy="354492"/>
          </a:xfrm>
          <a:prstGeom prst="rect">
            <a:avLst/>
          </a:prstGeom>
          <a:noFill/>
          <a:ln/>
        </p:spPr>
        <p:txBody>
          <a:bodyPr wrap="square" lIns="151925" tIns="50642" rIns="151925" bIns="50642" rtlCol="0" anchor="ctr"/>
          <a:lstStyle/>
          <a:p>
            <a:pPr>
              <a:lnSpc>
                <a:spcPct val="120000"/>
              </a:lnSpc>
            </a:pPr>
            <a:r>
              <a:rPr lang="en-US" sz="1396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监督学习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682365" y="6039028"/>
            <a:ext cx="1190081" cy="354492"/>
          </a:xfrm>
          <a:custGeom>
            <a:avLst/>
            <a:gdLst/>
            <a:ahLst/>
            <a:cxnLst/>
            <a:rect l="l" t="t" r="r" b="b"/>
            <a:pathLst>
              <a:path w="1190081" h="354492">
                <a:moveTo>
                  <a:pt x="177246" y="0"/>
                </a:moveTo>
                <a:lnTo>
                  <a:pt x="1012835" y="0"/>
                </a:lnTo>
                <a:cubicBezTo>
                  <a:pt x="1110725" y="0"/>
                  <a:pt x="1190081" y="79356"/>
                  <a:pt x="1190081" y="177246"/>
                </a:cubicBezTo>
                <a:lnTo>
                  <a:pt x="1190081" y="177246"/>
                </a:lnTo>
                <a:cubicBezTo>
                  <a:pt x="1190081" y="275136"/>
                  <a:pt x="1110725" y="354492"/>
                  <a:pt x="1012835" y="354492"/>
                </a:cubicBezTo>
                <a:lnTo>
                  <a:pt x="177246" y="354492"/>
                </a:lnTo>
                <a:cubicBezTo>
                  <a:pt x="79421" y="354492"/>
                  <a:pt x="0" y="275071"/>
                  <a:pt x="0" y="177246"/>
                </a:cubicBezTo>
                <a:lnTo>
                  <a:pt x="0" y="177246"/>
                </a:lnTo>
                <a:cubicBezTo>
                  <a:pt x="0" y="79421"/>
                  <a:pt x="79421" y="0"/>
                  <a:pt x="177246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9682365" y="6039028"/>
            <a:ext cx="1278704" cy="354492"/>
          </a:xfrm>
          <a:prstGeom prst="rect">
            <a:avLst/>
          </a:prstGeom>
          <a:noFill/>
          <a:ln/>
        </p:spPr>
        <p:txBody>
          <a:bodyPr wrap="square" lIns="151925" tIns="50642" rIns="151925" bIns="50642" rtlCol="0" anchor="ctr"/>
          <a:lstStyle/>
          <a:p>
            <a:pPr>
              <a:lnSpc>
                <a:spcPct val="120000"/>
              </a:lnSpc>
            </a:pPr>
            <a:r>
              <a:rPr lang="en-US" sz="1396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无监督学习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0973730" y="6039028"/>
            <a:ext cx="1190081" cy="354492"/>
          </a:xfrm>
          <a:custGeom>
            <a:avLst/>
            <a:gdLst/>
            <a:ahLst/>
            <a:cxnLst/>
            <a:rect l="l" t="t" r="r" b="b"/>
            <a:pathLst>
              <a:path w="1190081" h="354492">
                <a:moveTo>
                  <a:pt x="177246" y="0"/>
                </a:moveTo>
                <a:lnTo>
                  <a:pt x="1012835" y="0"/>
                </a:lnTo>
                <a:cubicBezTo>
                  <a:pt x="1110725" y="0"/>
                  <a:pt x="1190081" y="79356"/>
                  <a:pt x="1190081" y="177246"/>
                </a:cubicBezTo>
                <a:lnTo>
                  <a:pt x="1190081" y="177246"/>
                </a:lnTo>
                <a:cubicBezTo>
                  <a:pt x="1190081" y="275136"/>
                  <a:pt x="1110725" y="354492"/>
                  <a:pt x="1012835" y="354492"/>
                </a:cubicBezTo>
                <a:lnTo>
                  <a:pt x="177246" y="354492"/>
                </a:lnTo>
                <a:cubicBezTo>
                  <a:pt x="79421" y="354492"/>
                  <a:pt x="0" y="275071"/>
                  <a:pt x="0" y="177246"/>
                </a:cubicBezTo>
                <a:lnTo>
                  <a:pt x="0" y="177246"/>
                </a:lnTo>
                <a:cubicBezTo>
                  <a:pt x="0" y="79421"/>
                  <a:pt x="79421" y="0"/>
                  <a:pt x="177246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0973730" y="6039028"/>
            <a:ext cx="1278704" cy="354492"/>
          </a:xfrm>
          <a:prstGeom prst="rect">
            <a:avLst/>
          </a:prstGeom>
          <a:noFill/>
          <a:ln/>
        </p:spPr>
        <p:txBody>
          <a:bodyPr wrap="square" lIns="151925" tIns="50642" rIns="151925" bIns="50642" rtlCol="0" anchor="ctr"/>
          <a:lstStyle/>
          <a:p>
            <a:pPr>
              <a:lnSpc>
                <a:spcPct val="120000"/>
              </a:lnSpc>
            </a:pPr>
            <a:r>
              <a:rPr lang="en-US" sz="1396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概率图模型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12748" y="6969570"/>
            <a:ext cx="7482318" cy="2164935"/>
          </a:xfrm>
          <a:custGeom>
            <a:avLst/>
            <a:gdLst/>
            <a:ahLst/>
            <a:cxnLst/>
            <a:rect l="l" t="t" r="r" b="b"/>
            <a:pathLst>
              <a:path w="7482318" h="2164935">
                <a:moveTo>
                  <a:pt x="151935" y="0"/>
                </a:moveTo>
                <a:lnTo>
                  <a:pt x="7330383" y="0"/>
                </a:lnTo>
                <a:cubicBezTo>
                  <a:pt x="7414294" y="0"/>
                  <a:pt x="7482318" y="68024"/>
                  <a:pt x="7482318" y="151935"/>
                </a:cubicBezTo>
                <a:lnTo>
                  <a:pt x="7482318" y="2012999"/>
                </a:lnTo>
                <a:cubicBezTo>
                  <a:pt x="7482318" y="2096911"/>
                  <a:pt x="7414294" y="2164935"/>
                  <a:pt x="7330383" y="2164935"/>
                </a:cubicBezTo>
                <a:lnTo>
                  <a:pt x="151935" y="2164935"/>
                </a:lnTo>
                <a:cubicBezTo>
                  <a:pt x="68024" y="2164935"/>
                  <a:pt x="0" y="2096911"/>
                  <a:pt x="0" y="2012999"/>
                </a:cubicBezTo>
                <a:lnTo>
                  <a:pt x="0" y="151935"/>
                </a:lnTo>
                <a:cubicBezTo>
                  <a:pt x="0" y="68024"/>
                  <a:pt x="68024" y="0"/>
                  <a:pt x="151935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822928" y="7279751"/>
            <a:ext cx="708984" cy="708984"/>
          </a:xfrm>
          <a:custGeom>
            <a:avLst/>
            <a:gdLst/>
            <a:ahLst/>
            <a:cxnLst/>
            <a:rect l="l" t="t" r="r" b="b"/>
            <a:pathLst>
              <a:path w="708984" h="708984">
                <a:moveTo>
                  <a:pt x="101286" y="0"/>
                </a:moveTo>
                <a:lnTo>
                  <a:pt x="607699" y="0"/>
                </a:lnTo>
                <a:cubicBezTo>
                  <a:pt x="663637" y="0"/>
                  <a:pt x="708984" y="45347"/>
                  <a:pt x="708984" y="101286"/>
                </a:cubicBezTo>
                <a:lnTo>
                  <a:pt x="708984" y="607699"/>
                </a:lnTo>
                <a:cubicBezTo>
                  <a:pt x="708984" y="663637"/>
                  <a:pt x="663637" y="708984"/>
                  <a:pt x="607699" y="708984"/>
                </a:cubicBezTo>
                <a:lnTo>
                  <a:pt x="101286" y="708984"/>
                </a:lnTo>
                <a:cubicBezTo>
                  <a:pt x="45347" y="708984"/>
                  <a:pt x="0" y="663637"/>
                  <a:pt x="0" y="607699"/>
                </a:cubicBezTo>
                <a:lnTo>
                  <a:pt x="0" y="101286"/>
                </a:lnTo>
                <a:cubicBezTo>
                  <a:pt x="0" y="45385"/>
                  <a:pt x="45385" y="0"/>
                  <a:pt x="101286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746966" y="7279751"/>
            <a:ext cx="860910" cy="708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393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734480" y="7279751"/>
            <a:ext cx="6102330" cy="405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9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734480" y="7786168"/>
            <a:ext cx="6051688" cy="329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5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AI技术的商业化落地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22928" y="8469832"/>
            <a:ext cx="1190081" cy="354492"/>
          </a:xfrm>
          <a:custGeom>
            <a:avLst/>
            <a:gdLst/>
            <a:ahLst/>
            <a:cxnLst/>
            <a:rect l="l" t="t" r="r" b="b"/>
            <a:pathLst>
              <a:path w="1190081" h="354492">
                <a:moveTo>
                  <a:pt x="177246" y="0"/>
                </a:moveTo>
                <a:lnTo>
                  <a:pt x="1012835" y="0"/>
                </a:lnTo>
                <a:cubicBezTo>
                  <a:pt x="1110725" y="0"/>
                  <a:pt x="1190081" y="79356"/>
                  <a:pt x="1190081" y="177246"/>
                </a:cubicBezTo>
                <a:lnTo>
                  <a:pt x="1190081" y="177246"/>
                </a:lnTo>
                <a:cubicBezTo>
                  <a:pt x="1190081" y="275136"/>
                  <a:pt x="1110725" y="354492"/>
                  <a:pt x="1012835" y="354492"/>
                </a:cubicBezTo>
                <a:lnTo>
                  <a:pt x="177246" y="354492"/>
                </a:lnTo>
                <a:cubicBezTo>
                  <a:pt x="79421" y="354492"/>
                  <a:pt x="0" y="275071"/>
                  <a:pt x="0" y="177246"/>
                </a:cubicBezTo>
                <a:lnTo>
                  <a:pt x="0" y="177246"/>
                </a:lnTo>
                <a:cubicBezTo>
                  <a:pt x="0" y="79421"/>
                  <a:pt x="79421" y="0"/>
                  <a:pt x="177246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822928" y="8469832"/>
            <a:ext cx="1278704" cy="354492"/>
          </a:xfrm>
          <a:prstGeom prst="rect">
            <a:avLst/>
          </a:prstGeom>
          <a:noFill/>
          <a:ln/>
        </p:spPr>
        <p:txBody>
          <a:bodyPr wrap="square" lIns="151925" tIns="50642" rIns="151925" bIns="50642" rtlCol="0" anchor="ctr"/>
          <a:lstStyle/>
          <a:p>
            <a:pPr>
              <a:lnSpc>
                <a:spcPct val="120000"/>
              </a:lnSpc>
            </a:pPr>
            <a:r>
              <a:rPr lang="en-US" sz="1396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计算机视觉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2114293" y="8469832"/>
            <a:ext cx="1367327" cy="354492"/>
          </a:xfrm>
          <a:custGeom>
            <a:avLst/>
            <a:gdLst/>
            <a:ahLst/>
            <a:cxnLst/>
            <a:rect l="l" t="t" r="r" b="b"/>
            <a:pathLst>
              <a:path w="1367327" h="354492">
                <a:moveTo>
                  <a:pt x="177246" y="0"/>
                </a:moveTo>
                <a:lnTo>
                  <a:pt x="1190081" y="0"/>
                </a:lnTo>
                <a:cubicBezTo>
                  <a:pt x="1287971" y="0"/>
                  <a:pt x="1367327" y="79356"/>
                  <a:pt x="1367327" y="177246"/>
                </a:cubicBezTo>
                <a:lnTo>
                  <a:pt x="1367327" y="177246"/>
                </a:lnTo>
                <a:cubicBezTo>
                  <a:pt x="1367327" y="275136"/>
                  <a:pt x="1287971" y="354492"/>
                  <a:pt x="1190081" y="354492"/>
                </a:cubicBezTo>
                <a:lnTo>
                  <a:pt x="177246" y="354492"/>
                </a:lnTo>
                <a:cubicBezTo>
                  <a:pt x="79421" y="354492"/>
                  <a:pt x="0" y="275071"/>
                  <a:pt x="0" y="177246"/>
                </a:cubicBezTo>
                <a:lnTo>
                  <a:pt x="0" y="177246"/>
                </a:lnTo>
                <a:cubicBezTo>
                  <a:pt x="0" y="79421"/>
                  <a:pt x="79421" y="0"/>
                  <a:pt x="177246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2114293" y="8469832"/>
            <a:ext cx="1455950" cy="354492"/>
          </a:xfrm>
          <a:prstGeom prst="rect">
            <a:avLst/>
          </a:prstGeom>
          <a:noFill/>
          <a:ln/>
        </p:spPr>
        <p:txBody>
          <a:bodyPr wrap="square" lIns="151925" tIns="50642" rIns="151925" bIns="50642" rtlCol="0" anchor="ctr"/>
          <a:lstStyle/>
          <a:p>
            <a:pPr>
              <a:lnSpc>
                <a:spcPct val="120000"/>
              </a:lnSpc>
            </a:pPr>
            <a:r>
              <a:rPr lang="en-US" sz="1396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自然语言处理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582903" y="8469832"/>
            <a:ext cx="1012835" cy="354492"/>
          </a:xfrm>
          <a:custGeom>
            <a:avLst/>
            <a:gdLst/>
            <a:ahLst/>
            <a:cxnLst/>
            <a:rect l="l" t="t" r="r" b="b"/>
            <a:pathLst>
              <a:path w="1012835" h="354492">
                <a:moveTo>
                  <a:pt x="177246" y="0"/>
                </a:moveTo>
                <a:lnTo>
                  <a:pt x="835589" y="0"/>
                </a:lnTo>
                <a:cubicBezTo>
                  <a:pt x="933479" y="0"/>
                  <a:pt x="1012835" y="79356"/>
                  <a:pt x="1012835" y="177246"/>
                </a:cubicBezTo>
                <a:lnTo>
                  <a:pt x="1012835" y="177246"/>
                </a:lnTo>
                <a:cubicBezTo>
                  <a:pt x="1012835" y="275136"/>
                  <a:pt x="933479" y="354492"/>
                  <a:pt x="835589" y="354492"/>
                </a:cubicBezTo>
                <a:lnTo>
                  <a:pt x="177246" y="354492"/>
                </a:lnTo>
                <a:cubicBezTo>
                  <a:pt x="79421" y="354492"/>
                  <a:pt x="0" y="275071"/>
                  <a:pt x="0" y="177246"/>
                </a:cubicBezTo>
                <a:lnTo>
                  <a:pt x="0" y="177246"/>
                </a:lnTo>
                <a:cubicBezTo>
                  <a:pt x="0" y="79421"/>
                  <a:pt x="79421" y="0"/>
                  <a:pt x="177246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3582903" y="8469832"/>
            <a:ext cx="1101458" cy="354492"/>
          </a:xfrm>
          <a:prstGeom prst="rect">
            <a:avLst/>
          </a:prstGeom>
          <a:noFill/>
          <a:ln/>
        </p:spPr>
        <p:txBody>
          <a:bodyPr wrap="square" lIns="151925" tIns="50642" rIns="151925" bIns="50642" rtlCol="0" anchor="ctr"/>
          <a:lstStyle/>
          <a:p>
            <a:pPr>
              <a:lnSpc>
                <a:spcPct val="120000"/>
              </a:lnSpc>
            </a:pPr>
            <a:r>
              <a:rPr lang="en-US" sz="1396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推荐系统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58066" y="6969570"/>
            <a:ext cx="7482318" cy="2164935"/>
          </a:xfrm>
          <a:custGeom>
            <a:avLst/>
            <a:gdLst/>
            <a:ahLst/>
            <a:cxnLst/>
            <a:rect l="l" t="t" r="r" b="b"/>
            <a:pathLst>
              <a:path w="7482318" h="2164935">
                <a:moveTo>
                  <a:pt x="151935" y="0"/>
                </a:moveTo>
                <a:lnTo>
                  <a:pt x="7330383" y="0"/>
                </a:lnTo>
                <a:cubicBezTo>
                  <a:pt x="7414294" y="0"/>
                  <a:pt x="7482318" y="68024"/>
                  <a:pt x="7482318" y="151935"/>
                </a:cubicBezTo>
                <a:lnTo>
                  <a:pt x="7482318" y="2012999"/>
                </a:lnTo>
                <a:cubicBezTo>
                  <a:pt x="7482318" y="2096911"/>
                  <a:pt x="7414294" y="2164935"/>
                  <a:pt x="7330383" y="2164935"/>
                </a:cubicBezTo>
                <a:lnTo>
                  <a:pt x="151935" y="2164935"/>
                </a:lnTo>
                <a:cubicBezTo>
                  <a:pt x="68024" y="2164935"/>
                  <a:pt x="0" y="2096911"/>
                  <a:pt x="0" y="2012999"/>
                </a:cubicBezTo>
                <a:lnTo>
                  <a:pt x="0" y="151935"/>
                </a:lnTo>
                <a:cubicBezTo>
                  <a:pt x="0" y="68024"/>
                  <a:pt x="68024" y="0"/>
                  <a:pt x="151935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6ED3CF">
                  <a:alpha val="5000"/>
                </a:srgbClr>
              </a:gs>
            </a:gsLst>
            <a:lin ang="2700000" scaled="1"/>
          </a:gradFill>
          <a:ln w="12700">
            <a:solidFill>
              <a:srgbClr val="6ED3C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8568247" y="7279751"/>
            <a:ext cx="708984" cy="708984"/>
          </a:xfrm>
          <a:custGeom>
            <a:avLst/>
            <a:gdLst/>
            <a:ahLst/>
            <a:cxnLst/>
            <a:rect l="l" t="t" r="r" b="b"/>
            <a:pathLst>
              <a:path w="708984" h="708984">
                <a:moveTo>
                  <a:pt x="101286" y="0"/>
                </a:moveTo>
                <a:lnTo>
                  <a:pt x="607699" y="0"/>
                </a:lnTo>
                <a:cubicBezTo>
                  <a:pt x="663637" y="0"/>
                  <a:pt x="708984" y="45347"/>
                  <a:pt x="708984" y="101286"/>
                </a:cubicBezTo>
                <a:lnTo>
                  <a:pt x="708984" y="607699"/>
                </a:lnTo>
                <a:cubicBezTo>
                  <a:pt x="708984" y="663637"/>
                  <a:pt x="663637" y="708984"/>
                  <a:pt x="607699" y="708984"/>
                </a:cubicBezTo>
                <a:lnTo>
                  <a:pt x="101286" y="708984"/>
                </a:lnTo>
                <a:cubicBezTo>
                  <a:pt x="45347" y="708984"/>
                  <a:pt x="0" y="663637"/>
                  <a:pt x="0" y="607699"/>
                </a:cubicBezTo>
                <a:lnTo>
                  <a:pt x="0" y="101286"/>
                </a:lnTo>
                <a:cubicBezTo>
                  <a:pt x="0" y="45385"/>
                  <a:pt x="45385" y="0"/>
                  <a:pt x="101286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8492284" y="7279751"/>
            <a:ext cx="860910" cy="708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393" dirty="0">
                <a:solidFill>
                  <a:srgbClr val="1A1D2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479798" y="7279751"/>
            <a:ext cx="6102330" cy="405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9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大模型时代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479798" y="7786168"/>
            <a:ext cx="6051688" cy="329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5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传统AI与大语言模型的关系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568247" y="8469832"/>
            <a:ext cx="835589" cy="354492"/>
          </a:xfrm>
          <a:custGeom>
            <a:avLst/>
            <a:gdLst/>
            <a:ahLst/>
            <a:cxnLst/>
            <a:rect l="l" t="t" r="r" b="b"/>
            <a:pathLst>
              <a:path w="835589" h="354492">
                <a:moveTo>
                  <a:pt x="177246" y="0"/>
                </a:moveTo>
                <a:lnTo>
                  <a:pt x="658343" y="0"/>
                </a:lnTo>
                <a:cubicBezTo>
                  <a:pt x="756233" y="0"/>
                  <a:pt x="835589" y="79356"/>
                  <a:pt x="835589" y="177246"/>
                </a:cubicBezTo>
                <a:lnTo>
                  <a:pt x="835589" y="177246"/>
                </a:lnTo>
                <a:cubicBezTo>
                  <a:pt x="835589" y="275136"/>
                  <a:pt x="756233" y="354492"/>
                  <a:pt x="658343" y="354492"/>
                </a:cubicBezTo>
                <a:lnTo>
                  <a:pt x="177246" y="354492"/>
                </a:lnTo>
                <a:cubicBezTo>
                  <a:pt x="79421" y="354492"/>
                  <a:pt x="0" y="275071"/>
                  <a:pt x="0" y="177246"/>
                </a:cubicBezTo>
                <a:lnTo>
                  <a:pt x="0" y="177246"/>
                </a:lnTo>
                <a:cubicBezTo>
                  <a:pt x="0" y="79421"/>
                  <a:pt x="79421" y="0"/>
                  <a:pt x="177246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8568247" y="8469832"/>
            <a:ext cx="924212" cy="354492"/>
          </a:xfrm>
          <a:prstGeom prst="rect">
            <a:avLst/>
          </a:prstGeom>
          <a:noFill/>
          <a:ln/>
        </p:spPr>
        <p:txBody>
          <a:bodyPr wrap="square" lIns="151925" tIns="50642" rIns="151925" bIns="50642" rtlCol="0" anchor="ctr"/>
          <a:lstStyle/>
          <a:p>
            <a:pPr>
              <a:lnSpc>
                <a:spcPct val="120000"/>
              </a:lnSpc>
            </a:pPr>
            <a:r>
              <a:rPr lang="en-US" sz="1396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GPT-4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9502646" y="8469832"/>
            <a:ext cx="873570" cy="354492"/>
          </a:xfrm>
          <a:custGeom>
            <a:avLst/>
            <a:gdLst/>
            <a:ahLst/>
            <a:cxnLst/>
            <a:rect l="l" t="t" r="r" b="b"/>
            <a:pathLst>
              <a:path w="873570" h="354492">
                <a:moveTo>
                  <a:pt x="177246" y="0"/>
                </a:moveTo>
                <a:lnTo>
                  <a:pt x="696324" y="0"/>
                </a:lnTo>
                <a:cubicBezTo>
                  <a:pt x="794214" y="0"/>
                  <a:pt x="873570" y="79356"/>
                  <a:pt x="873570" y="177246"/>
                </a:cubicBezTo>
                <a:lnTo>
                  <a:pt x="873570" y="177246"/>
                </a:lnTo>
                <a:cubicBezTo>
                  <a:pt x="873570" y="275136"/>
                  <a:pt x="794214" y="354492"/>
                  <a:pt x="696324" y="354492"/>
                </a:cubicBezTo>
                <a:lnTo>
                  <a:pt x="177246" y="354492"/>
                </a:lnTo>
                <a:cubicBezTo>
                  <a:pt x="79421" y="354492"/>
                  <a:pt x="0" y="275071"/>
                  <a:pt x="0" y="177246"/>
                </a:cubicBezTo>
                <a:lnTo>
                  <a:pt x="0" y="177246"/>
                </a:lnTo>
                <a:cubicBezTo>
                  <a:pt x="0" y="79421"/>
                  <a:pt x="79421" y="0"/>
                  <a:pt x="177246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9502646" y="8469832"/>
            <a:ext cx="962193" cy="354492"/>
          </a:xfrm>
          <a:prstGeom prst="rect">
            <a:avLst/>
          </a:prstGeom>
          <a:noFill/>
          <a:ln/>
        </p:spPr>
        <p:txBody>
          <a:bodyPr wrap="square" lIns="151925" tIns="50642" rIns="151925" bIns="50642" rtlCol="0" anchor="ctr"/>
          <a:lstStyle/>
          <a:p>
            <a:pPr>
              <a:lnSpc>
                <a:spcPct val="120000"/>
              </a:lnSpc>
            </a:pPr>
            <a:r>
              <a:rPr lang="en-US" sz="1396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LLaMA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10472555" y="8469832"/>
            <a:ext cx="873570" cy="354492"/>
          </a:xfrm>
          <a:custGeom>
            <a:avLst/>
            <a:gdLst/>
            <a:ahLst/>
            <a:cxnLst/>
            <a:rect l="l" t="t" r="r" b="b"/>
            <a:pathLst>
              <a:path w="873570" h="354492">
                <a:moveTo>
                  <a:pt x="177246" y="0"/>
                </a:moveTo>
                <a:lnTo>
                  <a:pt x="696324" y="0"/>
                </a:lnTo>
                <a:cubicBezTo>
                  <a:pt x="794214" y="0"/>
                  <a:pt x="873570" y="79356"/>
                  <a:pt x="873570" y="177246"/>
                </a:cubicBezTo>
                <a:lnTo>
                  <a:pt x="873570" y="177246"/>
                </a:lnTo>
                <a:cubicBezTo>
                  <a:pt x="873570" y="275136"/>
                  <a:pt x="794214" y="354492"/>
                  <a:pt x="696324" y="354492"/>
                </a:cubicBezTo>
                <a:lnTo>
                  <a:pt x="177246" y="354492"/>
                </a:lnTo>
                <a:cubicBezTo>
                  <a:pt x="79421" y="354492"/>
                  <a:pt x="0" y="275071"/>
                  <a:pt x="0" y="177246"/>
                </a:cubicBezTo>
                <a:lnTo>
                  <a:pt x="0" y="177246"/>
                </a:lnTo>
                <a:cubicBezTo>
                  <a:pt x="0" y="79421"/>
                  <a:pt x="79421" y="0"/>
                  <a:pt x="177246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10472555" y="8469832"/>
            <a:ext cx="962193" cy="354492"/>
          </a:xfrm>
          <a:prstGeom prst="rect">
            <a:avLst/>
          </a:prstGeom>
          <a:noFill/>
          <a:ln/>
        </p:spPr>
        <p:txBody>
          <a:bodyPr wrap="square" lIns="151925" tIns="50642" rIns="151925" bIns="50642" rtlCol="0" anchor="ctr"/>
          <a:lstStyle/>
          <a:p>
            <a:pPr>
              <a:lnSpc>
                <a:spcPct val="120000"/>
              </a:lnSpc>
            </a:pPr>
            <a:r>
              <a:rPr lang="en-US" sz="1396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Claude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e234d6cf6b230a019feb25ed229d99cba9177c60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21875" b="21875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/>
              </a:gs>
              <a:gs pos="50000">
                <a:srgbClr val="1A1D24">
                  <a:alpha val="90000"/>
                </a:srgbClr>
              </a:gs>
              <a:gs pos="100000">
                <a:srgbClr val="1A1D24">
                  <a:alpha val="6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14350" y="2139950"/>
            <a:ext cx="2247900" cy="571500"/>
          </a:xfrm>
          <a:custGeom>
            <a:avLst/>
            <a:gdLst/>
            <a:ahLst/>
            <a:cxnLst/>
            <a:rect l="l" t="t" r="r" b="b"/>
            <a:pathLst>
              <a:path w="2247900" h="571500">
                <a:moveTo>
                  <a:pt x="101601" y="0"/>
                </a:moveTo>
                <a:lnTo>
                  <a:pt x="2146299" y="0"/>
                </a:lnTo>
                <a:cubicBezTo>
                  <a:pt x="2202412" y="0"/>
                  <a:pt x="2247900" y="45488"/>
                  <a:pt x="2247900" y="101601"/>
                </a:cubicBezTo>
                <a:lnTo>
                  <a:pt x="2247900" y="469899"/>
                </a:lnTo>
                <a:cubicBezTo>
                  <a:pt x="2247900" y="526012"/>
                  <a:pt x="2202412" y="571500"/>
                  <a:pt x="2146299" y="571500"/>
                </a:cubicBezTo>
                <a:lnTo>
                  <a:pt x="101601" y="571500"/>
                </a:lnTo>
                <a:cubicBezTo>
                  <a:pt x="45488" y="571500"/>
                  <a:pt x="0" y="526012"/>
                  <a:pt x="0" y="4698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 w="12700">
            <a:solidFill>
              <a:srgbClr val="6ED3CF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74700" y="2254250"/>
            <a:ext cx="185807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kern="0" spc="200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12420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课程导引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4572000"/>
            <a:ext cx="3848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5F87A7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教学目标与知识架构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6642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812800" y="5537200"/>
            <a:ext cx="292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理解课程整体定位与目标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8000" y="62230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812800" y="6096000"/>
            <a:ext cx="266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掌握完整知识体系架构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8000" y="67818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812800" y="6654800"/>
            <a:ext cx="292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明确章节安排与学习路径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8465" y="478465"/>
            <a:ext cx="2693581" cy="389860"/>
          </a:xfrm>
          <a:custGeom>
            <a:avLst/>
            <a:gdLst/>
            <a:ahLst/>
            <a:cxnLst/>
            <a:rect l="l" t="t" r="r" b="b"/>
            <a:pathLst>
              <a:path w="2693581" h="389860">
                <a:moveTo>
                  <a:pt x="47255" y="0"/>
                </a:moveTo>
                <a:lnTo>
                  <a:pt x="2646326" y="0"/>
                </a:lnTo>
                <a:cubicBezTo>
                  <a:pt x="2672425" y="0"/>
                  <a:pt x="2693581" y="21157"/>
                  <a:pt x="2693581" y="47255"/>
                </a:cubicBezTo>
                <a:lnTo>
                  <a:pt x="2693581" y="342605"/>
                </a:lnTo>
                <a:cubicBezTo>
                  <a:pt x="2693581" y="368686"/>
                  <a:pt x="2672407" y="389860"/>
                  <a:pt x="2646326" y="389860"/>
                </a:cubicBezTo>
                <a:lnTo>
                  <a:pt x="47255" y="389860"/>
                </a:lnTo>
                <a:cubicBezTo>
                  <a:pt x="21157" y="389860"/>
                  <a:pt x="0" y="368704"/>
                  <a:pt x="0" y="342605"/>
                </a:cubicBezTo>
                <a:lnTo>
                  <a:pt x="0" y="47255"/>
                </a:lnTo>
                <a:cubicBezTo>
                  <a:pt x="0" y="21157"/>
                  <a:pt x="21157" y="0"/>
                  <a:pt x="47255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 w="12700">
            <a:solidFill>
              <a:srgbClr val="5F87A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26140" y="549349"/>
            <a:ext cx="2494221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8" kern="0" spc="74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COURSE INTRODUCTION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2558" y="968744"/>
            <a:ext cx="15523535" cy="472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49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课程介绍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2558" y="1535814"/>
            <a:ext cx="15405395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8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为学员提供人工智能与机器学习的全面概览，作为后续课程的导引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465" y="2108791"/>
            <a:ext cx="10112744" cy="2729023"/>
          </a:xfrm>
          <a:custGeom>
            <a:avLst/>
            <a:gdLst/>
            <a:ahLst/>
            <a:cxnLst/>
            <a:rect l="l" t="t" r="r" b="b"/>
            <a:pathLst>
              <a:path w="10112744" h="2729023">
                <a:moveTo>
                  <a:pt x="141773" y="0"/>
                </a:moveTo>
                <a:lnTo>
                  <a:pt x="9970971" y="0"/>
                </a:lnTo>
                <a:cubicBezTo>
                  <a:pt x="10049270" y="0"/>
                  <a:pt x="10112744" y="63474"/>
                  <a:pt x="10112744" y="141773"/>
                </a:cubicBezTo>
                <a:lnTo>
                  <a:pt x="10112744" y="2587250"/>
                </a:lnTo>
                <a:cubicBezTo>
                  <a:pt x="10112744" y="2665549"/>
                  <a:pt x="10049270" y="2729023"/>
                  <a:pt x="9970971" y="2729023"/>
                </a:cubicBezTo>
                <a:lnTo>
                  <a:pt x="141773" y="2729023"/>
                </a:lnTo>
                <a:cubicBezTo>
                  <a:pt x="63474" y="2729023"/>
                  <a:pt x="0" y="2665549"/>
                  <a:pt x="0" y="2587250"/>
                </a:cubicBezTo>
                <a:lnTo>
                  <a:pt x="0" y="141773"/>
                </a:lnTo>
                <a:cubicBezTo>
                  <a:pt x="0" y="63474"/>
                  <a:pt x="63474" y="0"/>
                  <a:pt x="141773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67907" y="2398233"/>
            <a:ext cx="567070" cy="567070"/>
          </a:xfrm>
          <a:custGeom>
            <a:avLst/>
            <a:gdLst/>
            <a:ahLst/>
            <a:cxnLst/>
            <a:rect l="l" t="t" r="r" b="b"/>
            <a:pathLst>
              <a:path w="567070" h="567070">
                <a:moveTo>
                  <a:pt x="94514" y="0"/>
                </a:moveTo>
                <a:lnTo>
                  <a:pt x="472556" y="0"/>
                </a:lnTo>
                <a:cubicBezTo>
                  <a:pt x="524720" y="0"/>
                  <a:pt x="567070" y="42350"/>
                  <a:pt x="567070" y="94514"/>
                </a:cubicBezTo>
                <a:lnTo>
                  <a:pt x="567070" y="472556"/>
                </a:lnTo>
                <a:cubicBezTo>
                  <a:pt x="567070" y="524755"/>
                  <a:pt x="524755" y="567070"/>
                  <a:pt x="472556" y="567070"/>
                </a:cubicBezTo>
                <a:lnTo>
                  <a:pt x="94514" y="567070"/>
                </a:lnTo>
                <a:cubicBezTo>
                  <a:pt x="42350" y="567070"/>
                  <a:pt x="0" y="524720"/>
                  <a:pt x="0" y="472556"/>
                </a:cubicBezTo>
                <a:lnTo>
                  <a:pt x="0" y="94514"/>
                </a:lnTo>
                <a:cubicBezTo>
                  <a:pt x="0" y="42315"/>
                  <a:pt x="42315" y="0"/>
                  <a:pt x="94514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33302" y="2563628"/>
            <a:ext cx="236279" cy="236279"/>
          </a:xfrm>
          <a:custGeom>
            <a:avLst/>
            <a:gdLst/>
            <a:ahLst/>
            <a:cxnLst/>
            <a:rect l="l" t="t" r="r" b="b"/>
            <a:pathLst>
              <a:path w="236279" h="236279">
                <a:moveTo>
                  <a:pt x="118140" y="65207"/>
                </a:moveTo>
                <a:lnTo>
                  <a:pt x="118140" y="207944"/>
                </a:lnTo>
                <a:lnTo>
                  <a:pt x="118370" y="207852"/>
                </a:lnTo>
                <a:cubicBezTo>
                  <a:pt x="143567" y="197376"/>
                  <a:pt x="170610" y="191977"/>
                  <a:pt x="197884" y="191977"/>
                </a:cubicBezTo>
                <a:lnTo>
                  <a:pt x="206744" y="191977"/>
                </a:lnTo>
                <a:lnTo>
                  <a:pt x="206744" y="44302"/>
                </a:lnTo>
                <a:lnTo>
                  <a:pt x="197884" y="44302"/>
                </a:lnTo>
                <a:cubicBezTo>
                  <a:pt x="178409" y="44302"/>
                  <a:pt x="159073" y="48179"/>
                  <a:pt x="141075" y="55655"/>
                </a:cubicBezTo>
                <a:cubicBezTo>
                  <a:pt x="133322" y="58885"/>
                  <a:pt x="125662" y="62069"/>
                  <a:pt x="118140" y="65207"/>
                </a:cubicBezTo>
                <a:close/>
                <a:moveTo>
                  <a:pt x="106556" y="28381"/>
                </a:moveTo>
                <a:lnTo>
                  <a:pt x="118140" y="33227"/>
                </a:lnTo>
                <a:lnTo>
                  <a:pt x="129723" y="28381"/>
                </a:lnTo>
                <a:cubicBezTo>
                  <a:pt x="151320" y="19382"/>
                  <a:pt x="174487" y="14767"/>
                  <a:pt x="197884" y="14767"/>
                </a:cubicBezTo>
                <a:lnTo>
                  <a:pt x="214128" y="14767"/>
                </a:lnTo>
                <a:cubicBezTo>
                  <a:pt x="226357" y="14767"/>
                  <a:pt x="236279" y="24689"/>
                  <a:pt x="236279" y="36919"/>
                </a:cubicBezTo>
                <a:lnTo>
                  <a:pt x="236279" y="199360"/>
                </a:lnTo>
                <a:cubicBezTo>
                  <a:pt x="236279" y="211590"/>
                  <a:pt x="226357" y="221512"/>
                  <a:pt x="214128" y="221512"/>
                </a:cubicBezTo>
                <a:lnTo>
                  <a:pt x="197884" y="221512"/>
                </a:lnTo>
                <a:cubicBezTo>
                  <a:pt x="174487" y="221512"/>
                  <a:pt x="151320" y="226126"/>
                  <a:pt x="129723" y="235125"/>
                </a:cubicBezTo>
                <a:lnTo>
                  <a:pt x="123816" y="237571"/>
                </a:lnTo>
                <a:cubicBezTo>
                  <a:pt x="120170" y="239094"/>
                  <a:pt x="116109" y="239094"/>
                  <a:pt x="112463" y="237571"/>
                </a:cubicBezTo>
                <a:lnTo>
                  <a:pt x="106556" y="235125"/>
                </a:lnTo>
                <a:cubicBezTo>
                  <a:pt x="84959" y="226126"/>
                  <a:pt x="61793" y="221512"/>
                  <a:pt x="38395" y="221512"/>
                </a:cubicBezTo>
                <a:lnTo>
                  <a:pt x="22151" y="221512"/>
                </a:lnTo>
                <a:cubicBezTo>
                  <a:pt x="9922" y="221512"/>
                  <a:pt x="0" y="211590"/>
                  <a:pt x="0" y="199360"/>
                </a:cubicBezTo>
                <a:lnTo>
                  <a:pt x="0" y="36919"/>
                </a:lnTo>
                <a:cubicBezTo>
                  <a:pt x="0" y="24689"/>
                  <a:pt x="9922" y="14767"/>
                  <a:pt x="22151" y="14767"/>
                </a:cubicBezTo>
                <a:lnTo>
                  <a:pt x="38395" y="14767"/>
                </a:lnTo>
                <a:cubicBezTo>
                  <a:pt x="61793" y="14767"/>
                  <a:pt x="84959" y="19382"/>
                  <a:pt x="106556" y="2838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476744" y="2492744"/>
            <a:ext cx="1275907" cy="378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33" dirty="0" err="1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本章内容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7907" y="3154326"/>
            <a:ext cx="9628372" cy="92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88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本教案旨在为学员提供</a:t>
            </a:r>
            <a:r>
              <a:rPr lang="en-US" sz="1488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人工智能（</a:t>
            </a:r>
            <a:r>
              <a:rPr lang="en-US" sz="1488" dirty="0">
                <a:solidFill>
                  <a:srgbClr val="6ED3CF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AI</a:t>
            </a:r>
            <a:r>
              <a:rPr lang="en-US" sz="1488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）与机器学习（</a:t>
            </a:r>
            <a:r>
              <a:rPr lang="en-US" sz="1488" dirty="0">
                <a:solidFill>
                  <a:srgbClr val="6ED3CF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ML</a:t>
            </a:r>
            <a:r>
              <a:rPr lang="en-US" sz="1488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）</a:t>
            </a:r>
            <a:r>
              <a:rPr lang="en-US" sz="1488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的全面概览，并作为后续课程的导引。课程将涵盖AI的核心概念、工作流程、主流技术方案、典型应用场景，并深入探讨当前大语言模型（LLMs）在AI版图中的位置及其带来的变革。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8465" y="5038651"/>
            <a:ext cx="10112744" cy="2658140"/>
          </a:xfrm>
          <a:custGeom>
            <a:avLst/>
            <a:gdLst/>
            <a:ahLst/>
            <a:cxnLst/>
            <a:rect l="l" t="t" r="r" b="b"/>
            <a:pathLst>
              <a:path w="10112744" h="2658140">
                <a:moveTo>
                  <a:pt x="141759" y="0"/>
                </a:moveTo>
                <a:lnTo>
                  <a:pt x="9970986" y="0"/>
                </a:lnTo>
                <a:cubicBezTo>
                  <a:pt x="10049277" y="0"/>
                  <a:pt x="10112744" y="63467"/>
                  <a:pt x="10112744" y="141759"/>
                </a:cubicBezTo>
                <a:lnTo>
                  <a:pt x="10112744" y="2516381"/>
                </a:lnTo>
                <a:cubicBezTo>
                  <a:pt x="10112744" y="2594672"/>
                  <a:pt x="10049277" y="2658140"/>
                  <a:pt x="9970986" y="2658140"/>
                </a:cubicBezTo>
                <a:lnTo>
                  <a:pt x="141759" y="2658140"/>
                </a:lnTo>
                <a:cubicBezTo>
                  <a:pt x="63467" y="2658140"/>
                  <a:pt x="0" y="2594672"/>
                  <a:pt x="0" y="2516381"/>
                </a:cubicBezTo>
                <a:lnTo>
                  <a:pt x="0" y="141759"/>
                </a:lnTo>
                <a:cubicBezTo>
                  <a:pt x="0" y="63520"/>
                  <a:pt x="63520" y="0"/>
                  <a:pt x="141759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6ED3CF">
                  <a:alpha val="5000"/>
                </a:srgbClr>
              </a:gs>
            </a:gsLst>
            <a:lin ang="2700000" scaled="1"/>
          </a:gradFill>
          <a:ln w="12700">
            <a:solidFill>
              <a:srgbClr val="6ED3C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767907" y="5328093"/>
            <a:ext cx="567070" cy="567070"/>
          </a:xfrm>
          <a:custGeom>
            <a:avLst/>
            <a:gdLst/>
            <a:ahLst/>
            <a:cxnLst/>
            <a:rect l="l" t="t" r="r" b="b"/>
            <a:pathLst>
              <a:path w="567070" h="567070">
                <a:moveTo>
                  <a:pt x="94514" y="0"/>
                </a:moveTo>
                <a:lnTo>
                  <a:pt x="472556" y="0"/>
                </a:lnTo>
                <a:cubicBezTo>
                  <a:pt x="524720" y="0"/>
                  <a:pt x="567070" y="42350"/>
                  <a:pt x="567070" y="94514"/>
                </a:cubicBezTo>
                <a:lnTo>
                  <a:pt x="567070" y="472556"/>
                </a:lnTo>
                <a:cubicBezTo>
                  <a:pt x="567070" y="524755"/>
                  <a:pt x="524755" y="567070"/>
                  <a:pt x="472556" y="567070"/>
                </a:cubicBezTo>
                <a:lnTo>
                  <a:pt x="94514" y="567070"/>
                </a:lnTo>
                <a:cubicBezTo>
                  <a:pt x="42350" y="567070"/>
                  <a:pt x="0" y="524720"/>
                  <a:pt x="0" y="472556"/>
                </a:cubicBezTo>
                <a:lnTo>
                  <a:pt x="0" y="94514"/>
                </a:lnTo>
                <a:cubicBezTo>
                  <a:pt x="0" y="42315"/>
                  <a:pt x="42315" y="0"/>
                  <a:pt x="94514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933302" y="5493488"/>
            <a:ext cx="236279" cy="236279"/>
          </a:xfrm>
          <a:custGeom>
            <a:avLst/>
            <a:gdLst/>
            <a:ahLst/>
            <a:cxnLst/>
            <a:rect l="l" t="t" r="r" b="b"/>
            <a:pathLst>
              <a:path w="236279" h="236279">
                <a:moveTo>
                  <a:pt x="206744" y="118140"/>
                </a:moveTo>
                <a:cubicBezTo>
                  <a:pt x="206744" y="69237"/>
                  <a:pt x="167042" y="29535"/>
                  <a:pt x="118140" y="29535"/>
                </a:cubicBezTo>
                <a:cubicBezTo>
                  <a:pt x="69237" y="29535"/>
                  <a:pt x="29535" y="69237"/>
                  <a:pt x="29535" y="118140"/>
                </a:cubicBezTo>
                <a:cubicBezTo>
                  <a:pt x="29535" y="167042"/>
                  <a:pt x="69237" y="206744"/>
                  <a:pt x="118140" y="206744"/>
                </a:cubicBezTo>
                <a:cubicBezTo>
                  <a:pt x="167042" y="206744"/>
                  <a:pt x="206744" y="167042"/>
                  <a:pt x="206744" y="118140"/>
                </a:cubicBezTo>
                <a:close/>
                <a:moveTo>
                  <a:pt x="0" y="118140"/>
                </a:moveTo>
                <a:cubicBezTo>
                  <a:pt x="0" y="52937"/>
                  <a:pt x="52937" y="0"/>
                  <a:pt x="118140" y="0"/>
                </a:cubicBezTo>
                <a:cubicBezTo>
                  <a:pt x="183343" y="0"/>
                  <a:pt x="236279" y="52937"/>
                  <a:pt x="236279" y="118140"/>
                </a:cubicBezTo>
                <a:cubicBezTo>
                  <a:pt x="236279" y="183343"/>
                  <a:pt x="183343" y="236279"/>
                  <a:pt x="118140" y="236279"/>
                </a:cubicBezTo>
                <a:cubicBezTo>
                  <a:pt x="52937" y="236279"/>
                  <a:pt x="0" y="183343"/>
                  <a:pt x="0" y="118140"/>
                </a:cubicBezTo>
                <a:close/>
                <a:moveTo>
                  <a:pt x="118140" y="155058"/>
                </a:moveTo>
                <a:cubicBezTo>
                  <a:pt x="138515" y="155058"/>
                  <a:pt x="155058" y="138515"/>
                  <a:pt x="155058" y="118140"/>
                </a:cubicBezTo>
                <a:cubicBezTo>
                  <a:pt x="155058" y="97764"/>
                  <a:pt x="138515" y="81221"/>
                  <a:pt x="118140" y="81221"/>
                </a:cubicBezTo>
                <a:cubicBezTo>
                  <a:pt x="97764" y="81221"/>
                  <a:pt x="81221" y="97764"/>
                  <a:pt x="81221" y="118140"/>
                </a:cubicBezTo>
                <a:cubicBezTo>
                  <a:pt x="81221" y="138515"/>
                  <a:pt x="97764" y="155058"/>
                  <a:pt x="118140" y="155058"/>
                </a:cubicBezTo>
                <a:close/>
                <a:moveTo>
                  <a:pt x="118140" y="51686"/>
                </a:moveTo>
                <a:cubicBezTo>
                  <a:pt x="154816" y="51686"/>
                  <a:pt x="184593" y="81463"/>
                  <a:pt x="184593" y="118140"/>
                </a:cubicBezTo>
                <a:cubicBezTo>
                  <a:pt x="184593" y="154816"/>
                  <a:pt x="154816" y="184593"/>
                  <a:pt x="118140" y="184593"/>
                </a:cubicBezTo>
                <a:cubicBezTo>
                  <a:pt x="81463" y="184593"/>
                  <a:pt x="51686" y="154816"/>
                  <a:pt x="51686" y="118140"/>
                </a:cubicBezTo>
                <a:cubicBezTo>
                  <a:pt x="51686" y="81463"/>
                  <a:pt x="81463" y="51686"/>
                  <a:pt x="118140" y="51686"/>
                </a:cubicBezTo>
                <a:close/>
                <a:moveTo>
                  <a:pt x="103372" y="118140"/>
                </a:moveTo>
                <a:cubicBezTo>
                  <a:pt x="103372" y="109989"/>
                  <a:pt x="109989" y="103372"/>
                  <a:pt x="118140" y="103372"/>
                </a:cubicBezTo>
                <a:cubicBezTo>
                  <a:pt x="126290" y="103372"/>
                  <a:pt x="132907" y="109989"/>
                  <a:pt x="132907" y="118140"/>
                </a:cubicBezTo>
                <a:cubicBezTo>
                  <a:pt x="132907" y="126290"/>
                  <a:pt x="126290" y="132907"/>
                  <a:pt x="118140" y="132907"/>
                </a:cubicBezTo>
                <a:cubicBezTo>
                  <a:pt x="109989" y="132907"/>
                  <a:pt x="103372" y="126290"/>
                  <a:pt x="103372" y="118140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476744" y="5422605"/>
            <a:ext cx="1842977" cy="378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核心教学目标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7907" y="6084186"/>
            <a:ext cx="378047" cy="378047"/>
          </a:xfrm>
          <a:custGeom>
            <a:avLst/>
            <a:gdLst/>
            <a:ahLst/>
            <a:cxnLst/>
            <a:rect l="l" t="t" r="r" b="b"/>
            <a:pathLst>
              <a:path w="378047" h="378047">
                <a:moveTo>
                  <a:pt x="94512" y="0"/>
                </a:moveTo>
                <a:lnTo>
                  <a:pt x="283535" y="0"/>
                </a:lnTo>
                <a:cubicBezTo>
                  <a:pt x="335732" y="0"/>
                  <a:pt x="378047" y="42314"/>
                  <a:pt x="378047" y="94512"/>
                </a:cubicBezTo>
                <a:lnTo>
                  <a:pt x="378047" y="283535"/>
                </a:lnTo>
                <a:cubicBezTo>
                  <a:pt x="378047" y="335732"/>
                  <a:pt x="335732" y="378047"/>
                  <a:pt x="283535" y="378047"/>
                </a:cubicBezTo>
                <a:lnTo>
                  <a:pt x="94512" y="378047"/>
                </a:lnTo>
                <a:cubicBezTo>
                  <a:pt x="42314" y="378047"/>
                  <a:pt x="0" y="335732"/>
                  <a:pt x="0" y="283535"/>
                </a:cubicBezTo>
                <a:lnTo>
                  <a:pt x="0" y="94512"/>
                </a:lnTo>
                <a:cubicBezTo>
                  <a:pt x="0" y="42314"/>
                  <a:pt x="42314" y="0"/>
                  <a:pt x="94512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19735" y="6131442"/>
            <a:ext cx="165395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8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7721" y="6084186"/>
            <a:ext cx="3567814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8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理解AI基本概念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7721" y="6414977"/>
            <a:ext cx="3556000" cy="23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2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掌握人工智能的基本定义、三大流派及发展历程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31287" y="6084186"/>
            <a:ext cx="378047" cy="378047"/>
          </a:xfrm>
          <a:custGeom>
            <a:avLst/>
            <a:gdLst/>
            <a:ahLst/>
            <a:cxnLst/>
            <a:rect l="l" t="t" r="r" b="b"/>
            <a:pathLst>
              <a:path w="378047" h="378047">
                <a:moveTo>
                  <a:pt x="94512" y="0"/>
                </a:moveTo>
                <a:lnTo>
                  <a:pt x="283535" y="0"/>
                </a:lnTo>
                <a:cubicBezTo>
                  <a:pt x="335732" y="0"/>
                  <a:pt x="378047" y="42314"/>
                  <a:pt x="378047" y="94512"/>
                </a:cubicBezTo>
                <a:lnTo>
                  <a:pt x="378047" y="283535"/>
                </a:lnTo>
                <a:cubicBezTo>
                  <a:pt x="378047" y="335732"/>
                  <a:pt x="335732" y="378047"/>
                  <a:pt x="283535" y="378047"/>
                </a:cubicBezTo>
                <a:lnTo>
                  <a:pt x="94512" y="378047"/>
                </a:lnTo>
                <a:cubicBezTo>
                  <a:pt x="42314" y="378047"/>
                  <a:pt x="0" y="335732"/>
                  <a:pt x="0" y="283535"/>
                </a:cubicBezTo>
                <a:lnTo>
                  <a:pt x="0" y="94512"/>
                </a:lnTo>
                <a:cubicBezTo>
                  <a:pt x="0" y="42314"/>
                  <a:pt x="42314" y="0"/>
                  <a:pt x="94512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767148" y="6131442"/>
            <a:ext cx="200837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8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51101" y="6084186"/>
            <a:ext cx="3567814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8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掌握ML工作流程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51101" y="6414977"/>
            <a:ext cx="3556000" cy="23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2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熟悉数据准备→特征工程→模型训练→评估调优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7907" y="6840279"/>
            <a:ext cx="378047" cy="378047"/>
          </a:xfrm>
          <a:custGeom>
            <a:avLst/>
            <a:gdLst/>
            <a:ahLst/>
            <a:cxnLst/>
            <a:rect l="l" t="t" r="r" b="b"/>
            <a:pathLst>
              <a:path w="378047" h="378047">
                <a:moveTo>
                  <a:pt x="94512" y="0"/>
                </a:moveTo>
                <a:lnTo>
                  <a:pt x="283535" y="0"/>
                </a:lnTo>
                <a:cubicBezTo>
                  <a:pt x="335732" y="0"/>
                  <a:pt x="378047" y="42314"/>
                  <a:pt x="378047" y="94512"/>
                </a:cubicBezTo>
                <a:lnTo>
                  <a:pt x="378047" y="283535"/>
                </a:lnTo>
                <a:cubicBezTo>
                  <a:pt x="378047" y="335732"/>
                  <a:pt x="335732" y="378047"/>
                  <a:pt x="283535" y="378047"/>
                </a:cubicBezTo>
                <a:lnTo>
                  <a:pt x="94512" y="378047"/>
                </a:lnTo>
                <a:cubicBezTo>
                  <a:pt x="42314" y="378047"/>
                  <a:pt x="0" y="335732"/>
                  <a:pt x="0" y="283535"/>
                </a:cubicBezTo>
                <a:lnTo>
                  <a:pt x="0" y="94512"/>
                </a:lnTo>
                <a:cubicBezTo>
                  <a:pt x="0" y="42314"/>
                  <a:pt x="42314" y="0"/>
                  <a:pt x="94512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901275" y="6887535"/>
            <a:ext cx="200837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8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87721" y="6840279"/>
            <a:ext cx="3237023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8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熟悉主流技术栈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87721" y="7171070"/>
            <a:ext cx="3225209" cy="23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2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了解监督学习、无监督学习、概率图模型等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631287" y="6840279"/>
            <a:ext cx="378047" cy="378047"/>
          </a:xfrm>
          <a:custGeom>
            <a:avLst/>
            <a:gdLst/>
            <a:ahLst/>
            <a:cxnLst/>
            <a:rect l="l" t="t" r="r" b="b"/>
            <a:pathLst>
              <a:path w="378047" h="378047">
                <a:moveTo>
                  <a:pt x="94512" y="0"/>
                </a:moveTo>
                <a:lnTo>
                  <a:pt x="283535" y="0"/>
                </a:lnTo>
                <a:cubicBezTo>
                  <a:pt x="335732" y="0"/>
                  <a:pt x="378047" y="42314"/>
                  <a:pt x="378047" y="94512"/>
                </a:cubicBezTo>
                <a:lnTo>
                  <a:pt x="378047" y="283535"/>
                </a:lnTo>
                <a:cubicBezTo>
                  <a:pt x="378047" y="335732"/>
                  <a:pt x="335732" y="378047"/>
                  <a:pt x="283535" y="378047"/>
                </a:cubicBezTo>
                <a:lnTo>
                  <a:pt x="94512" y="378047"/>
                </a:lnTo>
                <a:cubicBezTo>
                  <a:pt x="42314" y="378047"/>
                  <a:pt x="0" y="335732"/>
                  <a:pt x="0" y="283535"/>
                </a:cubicBezTo>
                <a:lnTo>
                  <a:pt x="0" y="94512"/>
                </a:lnTo>
                <a:cubicBezTo>
                  <a:pt x="0" y="42314"/>
                  <a:pt x="42314" y="0"/>
                  <a:pt x="94512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5764840" y="6887535"/>
            <a:ext cx="200837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8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151101" y="6840279"/>
            <a:ext cx="3059814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8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了解大模型范式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151101" y="7171070"/>
            <a:ext cx="3048000" cy="23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2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理解大模型与传统AI的关系及新范式变革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843179" y="2108791"/>
            <a:ext cx="4938233" cy="3473302"/>
          </a:xfrm>
          <a:custGeom>
            <a:avLst/>
            <a:gdLst/>
            <a:ahLst/>
            <a:cxnLst/>
            <a:rect l="l" t="t" r="r" b="b"/>
            <a:pathLst>
              <a:path w="4938233" h="3473302">
                <a:moveTo>
                  <a:pt x="141780" y="0"/>
                </a:moveTo>
                <a:lnTo>
                  <a:pt x="4796452" y="0"/>
                </a:lnTo>
                <a:cubicBezTo>
                  <a:pt x="4874755" y="0"/>
                  <a:pt x="4938233" y="63477"/>
                  <a:pt x="4938233" y="141780"/>
                </a:cubicBezTo>
                <a:lnTo>
                  <a:pt x="4938233" y="3331522"/>
                </a:lnTo>
                <a:cubicBezTo>
                  <a:pt x="4938233" y="3409825"/>
                  <a:pt x="4874755" y="3473302"/>
                  <a:pt x="4796452" y="3473302"/>
                </a:cubicBezTo>
                <a:lnTo>
                  <a:pt x="141780" y="3473302"/>
                </a:lnTo>
                <a:cubicBezTo>
                  <a:pt x="63477" y="3473302"/>
                  <a:pt x="0" y="3409825"/>
                  <a:pt x="0" y="3331522"/>
                </a:cubicBezTo>
                <a:lnTo>
                  <a:pt x="0" y="141780"/>
                </a:lnTo>
                <a:cubicBezTo>
                  <a:pt x="0" y="63530"/>
                  <a:pt x="63530" y="0"/>
                  <a:pt x="141780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11144435" y="2398233"/>
            <a:ext cx="177209" cy="236279"/>
          </a:xfrm>
          <a:custGeom>
            <a:avLst/>
            <a:gdLst/>
            <a:ahLst/>
            <a:cxnLst/>
            <a:rect l="l" t="t" r="r" b="b"/>
            <a:pathLst>
              <a:path w="177209" h="236279">
                <a:moveTo>
                  <a:pt x="135168" y="177209"/>
                </a:moveTo>
                <a:cubicBezTo>
                  <a:pt x="138537" y="166918"/>
                  <a:pt x="145275" y="157596"/>
                  <a:pt x="152889" y="149566"/>
                </a:cubicBezTo>
                <a:cubicBezTo>
                  <a:pt x="167980" y="133691"/>
                  <a:pt x="177209" y="112233"/>
                  <a:pt x="177209" y="88605"/>
                </a:cubicBezTo>
                <a:cubicBezTo>
                  <a:pt x="177209" y="39688"/>
                  <a:pt x="137522" y="0"/>
                  <a:pt x="88605" y="0"/>
                </a:cubicBezTo>
                <a:cubicBezTo>
                  <a:pt x="39687" y="0"/>
                  <a:pt x="0" y="39688"/>
                  <a:pt x="0" y="88605"/>
                </a:cubicBezTo>
                <a:cubicBezTo>
                  <a:pt x="0" y="112233"/>
                  <a:pt x="9230" y="133691"/>
                  <a:pt x="24320" y="149566"/>
                </a:cubicBezTo>
                <a:cubicBezTo>
                  <a:pt x="31935" y="157596"/>
                  <a:pt x="38718" y="166918"/>
                  <a:pt x="42041" y="177209"/>
                </a:cubicBezTo>
                <a:lnTo>
                  <a:pt x="135122" y="177209"/>
                </a:lnTo>
                <a:close/>
                <a:moveTo>
                  <a:pt x="132907" y="199360"/>
                </a:moveTo>
                <a:lnTo>
                  <a:pt x="44302" y="199360"/>
                </a:lnTo>
                <a:lnTo>
                  <a:pt x="44302" y="206744"/>
                </a:lnTo>
                <a:cubicBezTo>
                  <a:pt x="44302" y="227142"/>
                  <a:pt x="60823" y="243663"/>
                  <a:pt x="81221" y="243663"/>
                </a:cubicBezTo>
                <a:lnTo>
                  <a:pt x="95988" y="243663"/>
                </a:lnTo>
                <a:cubicBezTo>
                  <a:pt x="116386" y="243663"/>
                  <a:pt x="132907" y="227142"/>
                  <a:pt x="132907" y="206744"/>
                </a:cubicBezTo>
                <a:lnTo>
                  <a:pt x="132907" y="199360"/>
                </a:lnTo>
                <a:close/>
                <a:moveTo>
                  <a:pt x="84913" y="51686"/>
                </a:moveTo>
                <a:cubicBezTo>
                  <a:pt x="66546" y="51686"/>
                  <a:pt x="51686" y="66546"/>
                  <a:pt x="51686" y="84913"/>
                </a:cubicBezTo>
                <a:cubicBezTo>
                  <a:pt x="51686" y="91051"/>
                  <a:pt x="46748" y="95988"/>
                  <a:pt x="40610" y="95988"/>
                </a:cubicBezTo>
                <a:cubicBezTo>
                  <a:pt x="34473" y="95988"/>
                  <a:pt x="29535" y="91051"/>
                  <a:pt x="29535" y="84913"/>
                </a:cubicBezTo>
                <a:cubicBezTo>
                  <a:pt x="29535" y="54316"/>
                  <a:pt x="54316" y="29535"/>
                  <a:pt x="84913" y="29535"/>
                </a:cubicBezTo>
                <a:cubicBezTo>
                  <a:pt x="91051" y="29535"/>
                  <a:pt x="95988" y="34473"/>
                  <a:pt x="95988" y="40610"/>
                </a:cubicBezTo>
                <a:cubicBezTo>
                  <a:pt x="95988" y="46748"/>
                  <a:pt x="91051" y="51686"/>
                  <a:pt x="84913" y="51686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1380714" y="2350977"/>
            <a:ext cx="4276651" cy="330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6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课程核心价值</a:t>
            </a:r>
            <a:endParaRPr lang="en-US" sz="1600" dirty="0"/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DEEC2BB4-0DC5-F7AA-49B6-14DD51E25CF3}"/>
              </a:ext>
            </a:extLst>
          </p:cNvPr>
          <p:cNvGrpSpPr/>
          <p:nvPr/>
        </p:nvGrpSpPr>
        <p:grpSpPr>
          <a:xfrm>
            <a:off x="10999637" y="2870791"/>
            <a:ext cx="4692170" cy="614326"/>
            <a:chOff x="11085365" y="2870791"/>
            <a:chExt cx="4692170" cy="614326"/>
          </a:xfrm>
        </p:grpSpPr>
        <p:sp>
          <p:nvSpPr>
            <p:cNvPr id="38" name="Shape 36"/>
            <p:cNvSpPr/>
            <p:nvPr/>
          </p:nvSpPr>
          <p:spPr>
            <a:xfrm>
              <a:off x="11085365" y="3083443"/>
              <a:ext cx="189023" cy="189023"/>
            </a:xfrm>
            <a:custGeom>
              <a:avLst/>
              <a:gdLst/>
              <a:ahLst/>
              <a:cxnLst/>
              <a:rect l="l" t="t" r="r" b="b"/>
              <a:pathLst>
                <a:path w="189023" h="189023">
                  <a:moveTo>
                    <a:pt x="94512" y="189023"/>
                  </a:moveTo>
                  <a:cubicBezTo>
                    <a:pt x="146674" y="189023"/>
                    <a:pt x="189023" y="146674"/>
                    <a:pt x="189023" y="94512"/>
                  </a:cubicBezTo>
                  <a:cubicBezTo>
                    <a:pt x="189023" y="42349"/>
                    <a:pt x="146674" y="0"/>
                    <a:pt x="94512" y="0"/>
                  </a:cubicBezTo>
                  <a:cubicBezTo>
                    <a:pt x="42349" y="0"/>
                    <a:pt x="0" y="42349"/>
                    <a:pt x="0" y="94512"/>
                  </a:cubicBezTo>
                  <a:cubicBezTo>
                    <a:pt x="0" y="146674"/>
                    <a:pt x="42349" y="189023"/>
                    <a:pt x="94512" y="189023"/>
                  </a:cubicBezTo>
                  <a:close/>
                  <a:moveTo>
                    <a:pt x="125671" y="78526"/>
                  </a:moveTo>
                  <a:lnTo>
                    <a:pt x="96136" y="125782"/>
                  </a:lnTo>
                  <a:cubicBezTo>
                    <a:pt x="94585" y="128255"/>
                    <a:pt x="91927" y="129806"/>
                    <a:pt x="89011" y="129953"/>
                  </a:cubicBezTo>
                  <a:cubicBezTo>
                    <a:pt x="86094" y="130101"/>
                    <a:pt x="83288" y="128772"/>
                    <a:pt x="81553" y="126409"/>
                  </a:cubicBezTo>
                  <a:lnTo>
                    <a:pt x="63832" y="102781"/>
                  </a:lnTo>
                  <a:cubicBezTo>
                    <a:pt x="60879" y="98868"/>
                    <a:pt x="61691" y="93330"/>
                    <a:pt x="65604" y="90377"/>
                  </a:cubicBezTo>
                  <a:cubicBezTo>
                    <a:pt x="69518" y="87423"/>
                    <a:pt x="75056" y="88235"/>
                    <a:pt x="78009" y="92149"/>
                  </a:cubicBezTo>
                  <a:lnTo>
                    <a:pt x="87977" y="105440"/>
                  </a:lnTo>
                  <a:lnTo>
                    <a:pt x="110645" y="69149"/>
                  </a:lnTo>
                  <a:cubicBezTo>
                    <a:pt x="113229" y="65014"/>
                    <a:pt x="118693" y="63722"/>
                    <a:pt x="122865" y="66343"/>
                  </a:cubicBezTo>
                  <a:cubicBezTo>
                    <a:pt x="127037" y="68964"/>
                    <a:pt x="128292" y="74391"/>
                    <a:pt x="125671" y="78563"/>
                  </a:cubicBezTo>
                  <a:close/>
                </a:path>
              </a:pathLst>
            </a:custGeom>
            <a:solidFill>
              <a:srgbClr val="6ED3CF"/>
            </a:solidFill>
            <a:ln/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39" name="Text 37"/>
            <p:cNvSpPr/>
            <p:nvPr/>
          </p:nvSpPr>
          <p:spPr>
            <a:xfrm>
              <a:off x="11416156" y="2870791"/>
              <a:ext cx="4361379" cy="6143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488" dirty="0">
                  <a:solidFill>
                    <a:srgbClr val="6ED3CF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系统性学习路径</a:t>
              </a:r>
              <a:r>
                <a:rPr lang="en-US" sz="1488" dirty="0">
                  <a:solidFill>
                    <a:srgbClr val="E1E8ED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：从基础概念到高级应用，覆盖完整AI知识体系</a:t>
              </a:r>
              <a:endParaRPr lang="en-US" sz="1600" dirty="0"/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81DE3ED7-1CA3-A761-1DA7-3A0391D94BF5}"/>
              </a:ext>
            </a:extLst>
          </p:cNvPr>
          <p:cNvGrpSpPr/>
          <p:nvPr/>
        </p:nvGrpSpPr>
        <p:grpSpPr>
          <a:xfrm>
            <a:off x="10999637" y="3721396"/>
            <a:ext cx="4792587" cy="330791"/>
            <a:chOff x="11085365" y="3697768"/>
            <a:chExt cx="4792587" cy="330791"/>
          </a:xfrm>
        </p:grpSpPr>
        <p:sp>
          <p:nvSpPr>
            <p:cNvPr id="40" name="Shape 38"/>
            <p:cNvSpPr/>
            <p:nvPr/>
          </p:nvSpPr>
          <p:spPr>
            <a:xfrm>
              <a:off x="11085365" y="3768652"/>
              <a:ext cx="189023" cy="189023"/>
            </a:xfrm>
            <a:custGeom>
              <a:avLst/>
              <a:gdLst/>
              <a:ahLst/>
              <a:cxnLst/>
              <a:rect l="l" t="t" r="r" b="b"/>
              <a:pathLst>
                <a:path w="189023" h="189023">
                  <a:moveTo>
                    <a:pt x="94512" y="189023"/>
                  </a:moveTo>
                  <a:cubicBezTo>
                    <a:pt x="146674" y="189023"/>
                    <a:pt x="189023" y="146674"/>
                    <a:pt x="189023" y="94512"/>
                  </a:cubicBezTo>
                  <a:cubicBezTo>
                    <a:pt x="189023" y="42349"/>
                    <a:pt x="146674" y="0"/>
                    <a:pt x="94512" y="0"/>
                  </a:cubicBezTo>
                  <a:cubicBezTo>
                    <a:pt x="42349" y="0"/>
                    <a:pt x="0" y="42349"/>
                    <a:pt x="0" y="94512"/>
                  </a:cubicBezTo>
                  <a:cubicBezTo>
                    <a:pt x="0" y="146674"/>
                    <a:pt x="42349" y="189023"/>
                    <a:pt x="94512" y="189023"/>
                  </a:cubicBezTo>
                  <a:close/>
                  <a:moveTo>
                    <a:pt x="125671" y="78526"/>
                  </a:moveTo>
                  <a:lnTo>
                    <a:pt x="96136" y="125782"/>
                  </a:lnTo>
                  <a:cubicBezTo>
                    <a:pt x="94585" y="128255"/>
                    <a:pt x="91927" y="129806"/>
                    <a:pt x="89011" y="129953"/>
                  </a:cubicBezTo>
                  <a:cubicBezTo>
                    <a:pt x="86094" y="130101"/>
                    <a:pt x="83288" y="128772"/>
                    <a:pt x="81553" y="126409"/>
                  </a:cubicBezTo>
                  <a:lnTo>
                    <a:pt x="63832" y="102781"/>
                  </a:lnTo>
                  <a:cubicBezTo>
                    <a:pt x="60879" y="98868"/>
                    <a:pt x="61691" y="93330"/>
                    <a:pt x="65604" y="90377"/>
                  </a:cubicBezTo>
                  <a:cubicBezTo>
                    <a:pt x="69518" y="87423"/>
                    <a:pt x="75056" y="88235"/>
                    <a:pt x="78009" y="92149"/>
                  </a:cubicBezTo>
                  <a:lnTo>
                    <a:pt x="87977" y="105440"/>
                  </a:lnTo>
                  <a:lnTo>
                    <a:pt x="110645" y="69149"/>
                  </a:lnTo>
                  <a:cubicBezTo>
                    <a:pt x="113229" y="65014"/>
                    <a:pt x="118693" y="63722"/>
                    <a:pt x="122865" y="66343"/>
                  </a:cubicBezTo>
                  <a:cubicBezTo>
                    <a:pt x="127037" y="68964"/>
                    <a:pt x="128292" y="74391"/>
                    <a:pt x="125671" y="78563"/>
                  </a:cubicBezTo>
                  <a:close/>
                </a:path>
              </a:pathLst>
            </a:custGeom>
            <a:solidFill>
              <a:srgbClr val="6ED3CF"/>
            </a:solidFill>
            <a:ln/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41" name="Text 39"/>
            <p:cNvSpPr/>
            <p:nvPr/>
          </p:nvSpPr>
          <p:spPr>
            <a:xfrm>
              <a:off x="11449198" y="3697768"/>
              <a:ext cx="4428754" cy="3307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488" dirty="0">
                  <a:solidFill>
                    <a:srgbClr val="6ED3CF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理论与实践结合</a:t>
              </a:r>
              <a:r>
                <a:rPr lang="en-US" sz="1488" dirty="0">
                  <a:solidFill>
                    <a:srgbClr val="E1E8ED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：每个章节配套代码示例与实战项目</a:t>
              </a:r>
              <a:endParaRPr lang="en-US" sz="1600" dirty="0"/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F61E8A18-78C8-4C79-0A5A-F5BB77622638}"/>
              </a:ext>
            </a:extLst>
          </p:cNvPr>
          <p:cNvGrpSpPr/>
          <p:nvPr/>
        </p:nvGrpSpPr>
        <p:grpSpPr>
          <a:xfrm>
            <a:off x="10999637" y="4288466"/>
            <a:ext cx="4545141" cy="614326"/>
            <a:chOff x="11085365" y="4288466"/>
            <a:chExt cx="4545141" cy="614326"/>
          </a:xfrm>
        </p:grpSpPr>
        <p:sp>
          <p:nvSpPr>
            <p:cNvPr id="42" name="Shape 40"/>
            <p:cNvSpPr/>
            <p:nvPr/>
          </p:nvSpPr>
          <p:spPr>
            <a:xfrm>
              <a:off x="11085365" y="4501118"/>
              <a:ext cx="189023" cy="189023"/>
            </a:xfrm>
            <a:custGeom>
              <a:avLst/>
              <a:gdLst/>
              <a:ahLst/>
              <a:cxnLst/>
              <a:rect l="l" t="t" r="r" b="b"/>
              <a:pathLst>
                <a:path w="189023" h="189023">
                  <a:moveTo>
                    <a:pt x="94512" y="189023"/>
                  </a:moveTo>
                  <a:cubicBezTo>
                    <a:pt x="146674" y="189023"/>
                    <a:pt x="189023" y="146674"/>
                    <a:pt x="189023" y="94512"/>
                  </a:cubicBezTo>
                  <a:cubicBezTo>
                    <a:pt x="189023" y="42349"/>
                    <a:pt x="146674" y="0"/>
                    <a:pt x="94512" y="0"/>
                  </a:cubicBezTo>
                  <a:cubicBezTo>
                    <a:pt x="42349" y="0"/>
                    <a:pt x="0" y="42349"/>
                    <a:pt x="0" y="94512"/>
                  </a:cubicBezTo>
                  <a:cubicBezTo>
                    <a:pt x="0" y="146674"/>
                    <a:pt x="42349" y="189023"/>
                    <a:pt x="94512" y="189023"/>
                  </a:cubicBezTo>
                  <a:close/>
                  <a:moveTo>
                    <a:pt x="125671" y="78526"/>
                  </a:moveTo>
                  <a:lnTo>
                    <a:pt x="96136" y="125782"/>
                  </a:lnTo>
                  <a:cubicBezTo>
                    <a:pt x="94585" y="128255"/>
                    <a:pt x="91927" y="129806"/>
                    <a:pt x="89011" y="129953"/>
                  </a:cubicBezTo>
                  <a:cubicBezTo>
                    <a:pt x="86094" y="130101"/>
                    <a:pt x="83288" y="128772"/>
                    <a:pt x="81553" y="126409"/>
                  </a:cubicBezTo>
                  <a:lnTo>
                    <a:pt x="63832" y="102781"/>
                  </a:lnTo>
                  <a:cubicBezTo>
                    <a:pt x="60879" y="98868"/>
                    <a:pt x="61691" y="93330"/>
                    <a:pt x="65604" y="90377"/>
                  </a:cubicBezTo>
                  <a:cubicBezTo>
                    <a:pt x="69518" y="87423"/>
                    <a:pt x="75056" y="88235"/>
                    <a:pt x="78009" y="92149"/>
                  </a:cubicBezTo>
                  <a:lnTo>
                    <a:pt x="87977" y="105440"/>
                  </a:lnTo>
                  <a:lnTo>
                    <a:pt x="110645" y="69149"/>
                  </a:lnTo>
                  <a:cubicBezTo>
                    <a:pt x="113229" y="65014"/>
                    <a:pt x="118693" y="63722"/>
                    <a:pt x="122865" y="66343"/>
                  </a:cubicBezTo>
                  <a:cubicBezTo>
                    <a:pt x="127037" y="68964"/>
                    <a:pt x="128292" y="74391"/>
                    <a:pt x="125671" y="78563"/>
                  </a:cubicBezTo>
                  <a:close/>
                </a:path>
              </a:pathLst>
            </a:custGeom>
            <a:solidFill>
              <a:srgbClr val="6ED3CF"/>
            </a:solidFill>
            <a:ln/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43" name="Text 41"/>
            <p:cNvSpPr/>
            <p:nvPr/>
          </p:nvSpPr>
          <p:spPr>
            <a:xfrm>
              <a:off x="11424739" y="4288466"/>
              <a:ext cx="4205767" cy="6143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488" dirty="0">
                  <a:solidFill>
                    <a:srgbClr val="6ED3CF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前沿技术覆盖</a:t>
              </a:r>
              <a:r>
                <a:rPr lang="en-US" sz="1488" dirty="0">
                  <a:solidFill>
                    <a:srgbClr val="E1E8ED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：既涵盖经典算法，也探讨大模型等最新进展</a:t>
              </a:r>
              <a:endParaRPr lang="en-US" sz="1600" dirty="0"/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29110089-8A66-A0B8-5E4B-D911F7F2E71B}"/>
              </a:ext>
            </a:extLst>
          </p:cNvPr>
          <p:cNvGrpSpPr/>
          <p:nvPr/>
        </p:nvGrpSpPr>
        <p:grpSpPr>
          <a:xfrm>
            <a:off x="10999637" y="5139070"/>
            <a:ext cx="4792587" cy="283535"/>
            <a:chOff x="11085365" y="5139070"/>
            <a:chExt cx="4792587" cy="283535"/>
          </a:xfrm>
        </p:grpSpPr>
        <p:sp>
          <p:nvSpPr>
            <p:cNvPr id="44" name="Shape 42"/>
            <p:cNvSpPr/>
            <p:nvPr/>
          </p:nvSpPr>
          <p:spPr>
            <a:xfrm>
              <a:off x="11085365" y="5186326"/>
              <a:ext cx="189023" cy="189023"/>
            </a:xfrm>
            <a:custGeom>
              <a:avLst/>
              <a:gdLst/>
              <a:ahLst/>
              <a:cxnLst/>
              <a:rect l="l" t="t" r="r" b="b"/>
              <a:pathLst>
                <a:path w="189023" h="189023">
                  <a:moveTo>
                    <a:pt x="94512" y="189023"/>
                  </a:moveTo>
                  <a:cubicBezTo>
                    <a:pt x="146674" y="189023"/>
                    <a:pt x="189023" y="146674"/>
                    <a:pt x="189023" y="94512"/>
                  </a:cubicBezTo>
                  <a:cubicBezTo>
                    <a:pt x="189023" y="42349"/>
                    <a:pt x="146674" y="0"/>
                    <a:pt x="94512" y="0"/>
                  </a:cubicBezTo>
                  <a:cubicBezTo>
                    <a:pt x="42349" y="0"/>
                    <a:pt x="0" y="42349"/>
                    <a:pt x="0" y="94512"/>
                  </a:cubicBezTo>
                  <a:cubicBezTo>
                    <a:pt x="0" y="146674"/>
                    <a:pt x="42349" y="189023"/>
                    <a:pt x="94512" y="189023"/>
                  </a:cubicBezTo>
                  <a:close/>
                  <a:moveTo>
                    <a:pt x="125671" y="78526"/>
                  </a:moveTo>
                  <a:lnTo>
                    <a:pt x="96136" y="125782"/>
                  </a:lnTo>
                  <a:cubicBezTo>
                    <a:pt x="94585" y="128255"/>
                    <a:pt x="91927" y="129806"/>
                    <a:pt x="89011" y="129953"/>
                  </a:cubicBezTo>
                  <a:cubicBezTo>
                    <a:pt x="86094" y="130101"/>
                    <a:pt x="83288" y="128772"/>
                    <a:pt x="81553" y="126409"/>
                  </a:cubicBezTo>
                  <a:lnTo>
                    <a:pt x="63832" y="102781"/>
                  </a:lnTo>
                  <a:cubicBezTo>
                    <a:pt x="60879" y="98868"/>
                    <a:pt x="61691" y="93330"/>
                    <a:pt x="65604" y="90377"/>
                  </a:cubicBezTo>
                  <a:cubicBezTo>
                    <a:pt x="69518" y="87423"/>
                    <a:pt x="75056" y="88235"/>
                    <a:pt x="78009" y="92149"/>
                  </a:cubicBezTo>
                  <a:lnTo>
                    <a:pt x="87977" y="105440"/>
                  </a:lnTo>
                  <a:lnTo>
                    <a:pt x="110645" y="69149"/>
                  </a:lnTo>
                  <a:cubicBezTo>
                    <a:pt x="113229" y="65014"/>
                    <a:pt x="118693" y="63722"/>
                    <a:pt x="122865" y="66343"/>
                  </a:cubicBezTo>
                  <a:cubicBezTo>
                    <a:pt x="127037" y="68964"/>
                    <a:pt x="128292" y="74391"/>
                    <a:pt x="125671" y="78563"/>
                  </a:cubicBezTo>
                  <a:close/>
                </a:path>
              </a:pathLst>
            </a:custGeom>
            <a:solidFill>
              <a:srgbClr val="6ED3CF"/>
            </a:solidFill>
            <a:ln/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45" name="Text 43"/>
            <p:cNvSpPr/>
            <p:nvPr/>
          </p:nvSpPr>
          <p:spPr>
            <a:xfrm>
              <a:off x="11446797" y="5139070"/>
              <a:ext cx="4431155" cy="2835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488" dirty="0">
                  <a:solidFill>
                    <a:srgbClr val="6ED3CF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应用场景丰富</a:t>
              </a:r>
              <a:r>
                <a:rPr lang="en-US" sz="1488" dirty="0">
                  <a:solidFill>
                    <a:srgbClr val="E1E8ED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：CV、NLP、推荐系统等典型商业案例</a:t>
              </a:r>
              <a:endParaRPr lang="en-US" sz="1600" dirty="0"/>
            </a:p>
          </p:txBody>
        </p:sp>
      </p:grpSp>
      <p:sp>
        <p:nvSpPr>
          <p:cNvPr id="46" name="Shape 44"/>
          <p:cNvSpPr/>
          <p:nvPr/>
        </p:nvSpPr>
        <p:spPr>
          <a:xfrm>
            <a:off x="10843179" y="5779884"/>
            <a:ext cx="4938233" cy="3473302"/>
          </a:xfrm>
          <a:custGeom>
            <a:avLst/>
            <a:gdLst/>
            <a:ahLst/>
            <a:cxnLst/>
            <a:rect l="l" t="t" r="r" b="b"/>
            <a:pathLst>
              <a:path w="4938233" h="3473302">
                <a:moveTo>
                  <a:pt x="141780" y="0"/>
                </a:moveTo>
                <a:lnTo>
                  <a:pt x="4796452" y="0"/>
                </a:lnTo>
                <a:cubicBezTo>
                  <a:pt x="4874755" y="0"/>
                  <a:pt x="4938233" y="63477"/>
                  <a:pt x="4938233" y="141780"/>
                </a:cubicBezTo>
                <a:lnTo>
                  <a:pt x="4938233" y="3331522"/>
                </a:lnTo>
                <a:cubicBezTo>
                  <a:pt x="4938233" y="3409825"/>
                  <a:pt x="4874755" y="3473302"/>
                  <a:pt x="4796452" y="3473302"/>
                </a:cubicBezTo>
                <a:lnTo>
                  <a:pt x="141780" y="3473302"/>
                </a:lnTo>
                <a:cubicBezTo>
                  <a:pt x="63477" y="3473302"/>
                  <a:pt x="0" y="3409825"/>
                  <a:pt x="0" y="3331522"/>
                </a:cubicBezTo>
                <a:lnTo>
                  <a:pt x="0" y="141780"/>
                </a:lnTo>
                <a:cubicBezTo>
                  <a:pt x="0" y="63530"/>
                  <a:pt x="63530" y="0"/>
                  <a:pt x="141780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6ED3CF">
                  <a:alpha val="5000"/>
                </a:srgbClr>
              </a:gs>
            </a:gsLst>
            <a:lin ang="2700000" scaled="1"/>
          </a:gradFill>
          <a:ln w="12700">
            <a:solidFill>
              <a:srgbClr val="6ED3C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11114900" y="6069326"/>
            <a:ext cx="236279" cy="236279"/>
          </a:xfrm>
          <a:custGeom>
            <a:avLst/>
            <a:gdLst/>
            <a:ahLst/>
            <a:cxnLst/>
            <a:rect l="l" t="t" r="r" b="b"/>
            <a:pathLst>
              <a:path w="236279" h="236279">
                <a:moveTo>
                  <a:pt x="236279" y="44302"/>
                </a:moveTo>
                <a:cubicBezTo>
                  <a:pt x="236279" y="67469"/>
                  <a:pt x="209005" y="102034"/>
                  <a:pt x="197238" y="115832"/>
                </a:cubicBezTo>
                <a:cubicBezTo>
                  <a:pt x="195484" y="117863"/>
                  <a:pt x="192900" y="118647"/>
                  <a:pt x="190546" y="118140"/>
                </a:cubicBezTo>
                <a:lnTo>
                  <a:pt x="147674" y="118140"/>
                </a:lnTo>
                <a:cubicBezTo>
                  <a:pt x="139506" y="118140"/>
                  <a:pt x="132907" y="124739"/>
                  <a:pt x="132907" y="132907"/>
                </a:cubicBezTo>
                <a:cubicBezTo>
                  <a:pt x="132907" y="141075"/>
                  <a:pt x="139506" y="147674"/>
                  <a:pt x="147674" y="147674"/>
                </a:cubicBezTo>
                <a:lnTo>
                  <a:pt x="191977" y="147674"/>
                </a:lnTo>
                <a:cubicBezTo>
                  <a:pt x="216435" y="147674"/>
                  <a:pt x="236279" y="167518"/>
                  <a:pt x="236279" y="191977"/>
                </a:cubicBezTo>
                <a:cubicBezTo>
                  <a:pt x="236279" y="216435"/>
                  <a:pt x="216435" y="236279"/>
                  <a:pt x="191977" y="236279"/>
                </a:cubicBezTo>
                <a:lnTo>
                  <a:pt x="64423" y="236279"/>
                </a:lnTo>
                <a:cubicBezTo>
                  <a:pt x="68438" y="231710"/>
                  <a:pt x="73330" y="225850"/>
                  <a:pt x="78267" y="219297"/>
                </a:cubicBezTo>
                <a:cubicBezTo>
                  <a:pt x="81175" y="215420"/>
                  <a:pt x="84174" y="211174"/>
                  <a:pt x="87036" y="206744"/>
                </a:cubicBezTo>
                <a:lnTo>
                  <a:pt x="191977" y="206744"/>
                </a:lnTo>
                <a:cubicBezTo>
                  <a:pt x="200145" y="206744"/>
                  <a:pt x="206744" y="200145"/>
                  <a:pt x="206744" y="191977"/>
                </a:cubicBezTo>
                <a:cubicBezTo>
                  <a:pt x="206744" y="183809"/>
                  <a:pt x="200145" y="177209"/>
                  <a:pt x="191977" y="177209"/>
                </a:cubicBezTo>
                <a:lnTo>
                  <a:pt x="147674" y="177209"/>
                </a:lnTo>
                <a:cubicBezTo>
                  <a:pt x="123216" y="177209"/>
                  <a:pt x="103372" y="157366"/>
                  <a:pt x="103372" y="132907"/>
                </a:cubicBezTo>
                <a:cubicBezTo>
                  <a:pt x="103372" y="108448"/>
                  <a:pt x="123216" y="88605"/>
                  <a:pt x="147674" y="88605"/>
                </a:cubicBezTo>
                <a:lnTo>
                  <a:pt x="166041" y="88605"/>
                </a:lnTo>
                <a:cubicBezTo>
                  <a:pt x="156350" y="74068"/>
                  <a:pt x="147674" y="57362"/>
                  <a:pt x="147674" y="44302"/>
                </a:cubicBezTo>
                <a:cubicBezTo>
                  <a:pt x="147674" y="19844"/>
                  <a:pt x="167518" y="0"/>
                  <a:pt x="191977" y="0"/>
                </a:cubicBezTo>
                <a:cubicBezTo>
                  <a:pt x="216435" y="0"/>
                  <a:pt x="236279" y="19844"/>
                  <a:pt x="236279" y="44302"/>
                </a:cubicBezTo>
                <a:close/>
                <a:moveTo>
                  <a:pt x="54040" y="225711"/>
                </a:moveTo>
                <a:cubicBezTo>
                  <a:pt x="52286" y="227695"/>
                  <a:pt x="50717" y="229449"/>
                  <a:pt x="49379" y="230926"/>
                </a:cubicBezTo>
                <a:lnTo>
                  <a:pt x="48548" y="231849"/>
                </a:lnTo>
                <a:lnTo>
                  <a:pt x="48456" y="231757"/>
                </a:lnTo>
                <a:cubicBezTo>
                  <a:pt x="45687" y="233879"/>
                  <a:pt x="41718" y="233602"/>
                  <a:pt x="39226" y="230926"/>
                </a:cubicBezTo>
                <a:cubicBezTo>
                  <a:pt x="27597" y="218281"/>
                  <a:pt x="0" y="185747"/>
                  <a:pt x="0" y="162442"/>
                </a:cubicBezTo>
                <a:cubicBezTo>
                  <a:pt x="0" y="137983"/>
                  <a:pt x="19844" y="118140"/>
                  <a:pt x="44302" y="118140"/>
                </a:cubicBezTo>
                <a:cubicBezTo>
                  <a:pt x="68761" y="118140"/>
                  <a:pt x="88605" y="137983"/>
                  <a:pt x="88605" y="162442"/>
                </a:cubicBezTo>
                <a:cubicBezTo>
                  <a:pt x="88605" y="176286"/>
                  <a:pt x="78867" y="193361"/>
                  <a:pt x="68530" y="207621"/>
                </a:cubicBezTo>
                <a:cubicBezTo>
                  <a:pt x="63592" y="214405"/>
                  <a:pt x="58516" y="220543"/>
                  <a:pt x="54316" y="225388"/>
                </a:cubicBezTo>
                <a:lnTo>
                  <a:pt x="54040" y="225711"/>
                </a:lnTo>
                <a:close/>
                <a:moveTo>
                  <a:pt x="59070" y="162442"/>
                </a:moveTo>
                <a:cubicBezTo>
                  <a:pt x="59070" y="154291"/>
                  <a:pt x="52453" y="147674"/>
                  <a:pt x="44302" y="147674"/>
                </a:cubicBezTo>
                <a:cubicBezTo>
                  <a:pt x="36152" y="147674"/>
                  <a:pt x="29535" y="154291"/>
                  <a:pt x="29535" y="162442"/>
                </a:cubicBezTo>
                <a:cubicBezTo>
                  <a:pt x="29535" y="170592"/>
                  <a:pt x="36152" y="177209"/>
                  <a:pt x="44302" y="177209"/>
                </a:cubicBezTo>
                <a:cubicBezTo>
                  <a:pt x="52453" y="177209"/>
                  <a:pt x="59070" y="170592"/>
                  <a:pt x="59070" y="162442"/>
                </a:cubicBezTo>
                <a:close/>
                <a:moveTo>
                  <a:pt x="191977" y="59070"/>
                </a:moveTo>
                <a:cubicBezTo>
                  <a:pt x="200127" y="59070"/>
                  <a:pt x="206744" y="52453"/>
                  <a:pt x="206744" y="44302"/>
                </a:cubicBezTo>
                <a:cubicBezTo>
                  <a:pt x="206744" y="36152"/>
                  <a:pt x="200127" y="29535"/>
                  <a:pt x="191977" y="29535"/>
                </a:cubicBezTo>
                <a:cubicBezTo>
                  <a:pt x="183826" y="29535"/>
                  <a:pt x="177209" y="36152"/>
                  <a:pt x="177209" y="44302"/>
                </a:cubicBezTo>
                <a:cubicBezTo>
                  <a:pt x="177209" y="52453"/>
                  <a:pt x="183826" y="59070"/>
                  <a:pt x="191977" y="5907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1380714" y="6022070"/>
            <a:ext cx="4276651" cy="330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6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学习路径建议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1085365" y="6541884"/>
            <a:ext cx="378047" cy="378047"/>
          </a:xfrm>
          <a:custGeom>
            <a:avLst/>
            <a:gdLst/>
            <a:ahLst/>
            <a:cxnLst/>
            <a:rect l="l" t="t" r="r" b="b"/>
            <a:pathLst>
              <a:path w="378047" h="378047">
                <a:moveTo>
                  <a:pt x="189023" y="0"/>
                </a:moveTo>
                <a:lnTo>
                  <a:pt x="189023" y="0"/>
                </a:lnTo>
                <a:cubicBezTo>
                  <a:pt x="293418" y="0"/>
                  <a:pt x="378047" y="84629"/>
                  <a:pt x="378047" y="189023"/>
                </a:cubicBezTo>
                <a:lnTo>
                  <a:pt x="378047" y="189023"/>
                </a:lnTo>
                <a:cubicBezTo>
                  <a:pt x="378047" y="293418"/>
                  <a:pt x="293418" y="378047"/>
                  <a:pt x="189023" y="378047"/>
                </a:cubicBezTo>
                <a:lnTo>
                  <a:pt x="189023" y="378047"/>
                </a:lnTo>
                <a:cubicBezTo>
                  <a:pt x="84629" y="378047"/>
                  <a:pt x="0" y="293418"/>
                  <a:pt x="0" y="189023"/>
                </a:cubicBezTo>
                <a:lnTo>
                  <a:pt x="0" y="189023"/>
                </a:lnTo>
                <a:cubicBezTo>
                  <a:pt x="0" y="84629"/>
                  <a:pt x="84629" y="0"/>
                  <a:pt x="189023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1241807" y="6612768"/>
            <a:ext cx="153581" cy="23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2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605179" y="6589140"/>
            <a:ext cx="3307907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8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按章节顺序学习，建立系统性知识体系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1085365" y="7061698"/>
            <a:ext cx="378047" cy="378047"/>
          </a:xfrm>
          <a:custGeom>
            <a:avLst/>
            <a:gdLst/>
            <a:ahLst/>
            <a:cxnLst/>
            <a:rect l="l" t="t" r="r" b="b"/>
            <a:pathLst>
              <a:path w="378047" h="378047">
                <a:moveTo>
                  <a:pt x="189023" y="0"/>
                </a:moveTo>
                <a:lnTo>
                  <a:pt x="189023" y="0"/>
                </a:lnTo>
                <a:cubicBezTo>
                  <a:pt x="293418" y="0"/>
                  <a:pt x="378047" y="84629"/>
                  <a:pt x="378047" y="189023"/>
                </a:cubicBezTo>
                <a:lnTo>
                  <a:pt x="378047" y="189023"/>
                </a:lnTo>
                <a:cubicBezTo>
                  <a:pt x="378047" y="293418"/>
                  <a:pt x="293418" y="378047"/>
                  <a:pt x="189023" y="378047"/>
                </a:cubicBezTo>
                <a:lnTo>
                  <a:pt x="189023" y="378047"/>
                </a:lnTo>
                <a:cubicBezTo>
                  <a:pt x="84629" y="378047"/>
                  <a:pt x="0" y="293418"/>
                  <a:pt x="0" y="189023"/>
                </a:cubicBezTo>
                <a:lnTo>
                  <a:pt x="0" y="189023"/>
                </a:lnTo>
                <a:cubicBezTo>
                  <a:pt x="0" y="84629"/>
                  <a:pt x="84629" y="0"/>
                  <a:pt x="189023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11227871" y="7132582"/>
            <a:ext cx="177209" cy="23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2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605179" y="7108954"/>
            <a:ext cx="3118884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8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每学完一章，动手实践配套代码示例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1085365" y="7581512"/>
            <a:ext cx="378047" cy="378047"/>
          </a:xfrm>
          <a:custGeom>
            <a:avLst/>
            <a:gdLst/>
            <a:ahLst/>
            <a:cxnLst/>
            <a:rect l="l" t="t" r="r" b="b"/>
            <a:pathLst>
              <a:path w="378047" h="378047">
                <a:moveTo>
                  <a:pt x="189023" y="0"/>
                </a:moveTo>
                <a:lnTo>
                  <a:pt x="189023" y="0"/>
                </a:lnTo>
                <a:cubicBezTo>
                  <a:pt x="293418" y="0"/>
                  <a:pt x="378047" y="84629"/>
                  <a:pt x="378047" y="189023"/>
                </a:cubicBezTo>
                <a:lnTo>
                  <a:pt x="378047" y="189023"/>
                </a:lnTo>
                <a:cubicBezTo>
                  <a:pt x="378047" y="293418"/>
                  <a:pt x="293418" y="378047"/>
                  <a:pt x="189023" y="378047"/>
                </a:cubicBezTo>
                <a:lnTo>
                  <a:pt x="189023" y="378047"/>
                </a:lnTo>
                <a:cubicBezTo>
                  <a:pt x="84629" y="378047"/>
                  <a:pt x="0" y="293418"/>
                  <a:pt x="0" y="189023"/>
                </a:cubicBezTo>
                <a:lnTo>
                  <a:pt x="0" y="189023"/>
                </a:lnTo>
                <a:cubicBezTo>
                  <a:pt x="0" y="84629"/>
                  <a:pt x="84629" y="0"/>
                  <a:pt x="189023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11225748" y="7652396"/>
            <a:ext cx="177209" cy="23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2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1605179" y="7628768"/>
            <a:ext cx="3307907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8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结合实际项目，加深对算法原理的理解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1085365" y="8101326"/>
            <a:ext cx="378047" cy="378047"/>
          </a:xfrm>
          <a:custGeom>
            <a:avLst/>
            <a:gdLst/>
            <a:ahLst/>
            <a:cxnLst/>
            <a:rect l="l" t="t" r="r" b="b"/>
            <a:pathLst>
              <a:path w="378047" h="378047">
                <a:moveTo>
                  <a:pt x="189023" y="0"/>
                </a:moveTo>
                <a:lnTo>
                  <a:pt x="189023" y="0"/>
                </a:lnTo>
                <a:cubicBezTo>
                  <a:pt x="293418" y="0"/>
                  <a:pt x="378047" y="84629"/>
                  <a:pt x="378047" y="189023"/>
                </a:cubicBezTo>
                <a:lnTo>
                  <a:pt x="378047" y="189023"/>
                </a:lnTo>
                <a:cubicBezTo>
                  <a:pt x="378047" y="293418"/>
                  <a:pt x="293418" y="378047"/>
                  <a:pt x="189023" y="378047"/>
                </a:cubicBezTo>
                <a:lnTo>
                  <a:pt x="189023" y="378047"/>
                </a:lnTo>
                <a:cubicBezTo>
                  <a:pt x="84629" y="378047"/>
                  <a:pt x="0" y="293418"/>
                  <a:pt x="0" y="189023"/>
                </a:cubicBezTo>
                <a:lnTo>
                  <a:pt x="0" y="189023"/>
                </a:lnTo>
                <a:cubicBezTo>
                  <a:pt x="0" y="84629"/>
                  <a:pt x="84629" y="0"/>
                  <a:pt x="189023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11225840" y="8172210"/>
            <a:ext cx="177209" cy="23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2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1605179" y="8148582"/>
            <a:ext cx="3307907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8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关注前沿技术动态，持续学习更新知识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514350"/>
            <a:ext cx="2616200" cy="419100"/>
          </a:xfrm>
          <a:custGeom>
            <a:avLst/>
            <a:gdLst/>
            <a:ahLst/>
            <a:cxnLst/>
            <a:rect l="l" t="t" r="r" b="b"/>
            <a:pathLst>
              <a:path w="2616200" h="419100">
                <a:moveTo>
                  <a:pt x="50799" y="0"/>
                </a:moveTo>
                <a:lnTo>
                  <a:pt x="2565401" y="0"/>
                </a:lnTo>
                <a:cubicBezTo>
                  <a:pt x="2593456" y="0"/>
                  <a:pt x="2616200" y="22744"/>
                  <a:pt x="2616200" y="50799"/>
                </a:cubicBezTo>
                <a:lnTo>
                  <a:pt x="2616200" y="368301"/>
                </a:lnTo>
                <a:cubicBezTo>
                  <a:pt x="2616200" y="396356"/>
                  <a:pt x="2593456" y="419100"/>
                  <a:pt x="2565401" y="419100"/>
                </a:cubicBezTo>
                <a:lnTo>
                  <a:pt x="50799" y="419100"/>
                </a:lnTo>
                <a:cubicBezTo>
                  <a:pt x="22744" y="419100"/>
                  <a:pt x="0" y="396356"/>
                  <a:pt x="0" y="3683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 w="12700">
            <a:solidFill>
              <a:srgbClr val="5F87A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3100" y="590550"/>
            <a:ext cx="23968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kern="0" spc="80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KNOWLEDGE SYSTEM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041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课程知识体系预览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651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系统涵盖机器学习的各个方面，从数据处理到高级算法应用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4350" y="2216150"/>
            <a:ext cx="15227300" cy="5956300"/>
          </a:xfrm>
          <a:custGeom>
            <a:avLst/>
            <a:gdLst/>
            <a:ahLst/>
            <a:cxnLst/>
            <a:rect l="l" t="t" r="r" b="b"/>
            <a:pathLst>
              <a:path w="15227300" h="5956300">
                <a:moveTo>
                  <a:pt x="152422" y="0"/>
                </a:moveTo>
                <a:lnTo>
                  <a:pt x="15074878" y="0"/>
                </a:lnTo>
                <a:cubicBezTo>
                  <a:pt x="15159058" y="0"/>
                  <a:pt x="15227300" y="68242"/>
                  <a:pt x="15227300" y="152422"/>
                </a:cubicBezTo>
                <a:lnTo>
                  <a:pt x="15227300" y="5803878"/>
                </a:lnTo>
                <a:cubicBezTo>
                  <a:pt x="15227300" y="5888058"/>
                  <a:pt x="15159058" y="5956300"/>
                  <a:pt x="15074878" y="5956300"/>
                </a:cubicBezTo>
                <a:lnTo>
                  <a:pt x="152422" y="5956300"/>
                </a:lnTo>
                <a:cubicBezTo>
                  <a:pt x="68242" y="5956300"/>
                  <a:pt x="0" y="5888058"/>
                  <a:pt x="0" y="5803878"/>
                </a:cubicBezTo>
                <a:lnTo>
                  <a:pt x="0" y="152422"/>
                </a:lnTo>
                <a:cubicBezTo>
                  <a:pt x="0" y="68298"/>
                  <a:pt x="68298" y="0"/>
                  <a:pt x="152422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729760"/>
              </p:ext>
            </p:extLst>
          </p:nvPr>
        </p:nvGraphicFramePr>
        <p:xfrm>
          <a:off x="520700" y="2222501"/>
          <a:ext cx="15214600" cy="5949945"/>
        </p:xfrm>
        <a:graphic>
          <a:graphicData uri="http://schemas.openxmlformats.org/drawingml/2006/table">
            <a:tbl>
              <a:tblPr firstRow="1" firstCol="1"/>
              <a:tblGrid>
                <a:gridCol w="2796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1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5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91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6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 b="1" dirty="0">
                          <a:solidFill>
                            <a:schemeClr val="bg1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模块</a:t>
                      </a:r>
                      <a:endParaRPr lang="zh-CN" altLang="en-US" sz="1800" dirty="0">
                        <a:solidFill>
                          <a:schemeClr val="bg1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F87A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 b="1">
                          <a:solidFill>
                            <a:schemeClr val="bg1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章节</a:t>
                      </a:r>
                      <a:endParaRPr lang="zh-CN" altLang="en-US" sz="1800">
                        <a:solidFill>
                          <a:schemeClr val="bg1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F87A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 b="1">
                          <a:solidFill>
                            <a:schemeClr val="bg1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核心主题</a:t>
                      </a:r>
                      <a:endParaRPr lang="zh-CN" altLang="en-US" sz="1800">
                        <a:solidFill>
                          <a:schemeClr val="bg1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F87A7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 b="1" dirty="0">
                          <a:solidFill>
                            <a:schemeClr val="bg1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关键技术点</a:t>
                      </a:r>
                      <a:endParaRPr lang="zh-CN" altLang="en-US" sz="1800" dirty="0">
                        <a:solidFill>
                          <a:schemeClr val="bg1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F87A7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663">
                <a:tc rowSpan="5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i="0" kern="1200" dirty="0">
                          <a:solidFill>
                            <a:srgbClr val="6ED3CF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基础与数据篇</a:t>
                      </a: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solidFill>
                      <a:srgbClr val="5F87A7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Ch-01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KaiTi" panose="02010609060101010101" pitchFamily="49" charset="-122"/>
                        <a:cs typeface="Calibri" panose="020F0502020204030204" pitchFamily="34" charset="0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AI </a:t>
                      </a:r>
                      <a:r>
                        <a:rPr lang="zh-CN" altLang="en-US" sz="1800" b="1" dirty="0">
                          <a:solidFill>
                            <a:schemeClr val="bg1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概述</a:t>
                      </a:r>
                      <a:endParaRPr lang="zh-CN" altLang="en-US" sz="1800" dirty="0">
                        <a:solidFill>
                          <a:schemeClr val="bg1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概念、流派、历史、大模型关系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663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100" dirty="0">
                        <a:solidFill>
                          <a:schemeClr val="bg1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Ch-02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KaiTi" panose="02010609060101010101" pitchFamily="49" charset="-122"/>
                        <a:cs typeface="Calibri" panose="020F0502020204030204" pitchFamily="34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 b="1">
                          <a:solidFill>
                            <a:schemeClr val="bg1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数据准备</a:t>
                      </a:r>
                      <a:endParaRPr lang="zh-CN" altLang="en-US" sz="1800">
                        <a:solidFill>
                          <a:schemeClr val="bg1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数据清洗、标注、预处理</a:t>
                      </a: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663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100" dirty="0">
                        <a:solidFill>
                          <a:schemeClr val="bg1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Ch-07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KaiTi" panose="02010609060101010101" pitchFamily="49" charset="-122"/>
                        <a:cs typeface="Calibri" panose="020F0502020204030204" pitchFamily="34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 b="1">
                          <a:solidFill>
                            <a:schemeClr val="bg1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特征工程</a:t>
                      </a:r>
                      <a:endParaRPr lang="zh-CN" altLang="en-US" sz="1800">
                        <a:solidFill>
                          <a:schemeClr val="bg1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RFM</a:t>
                      </a: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 </a:t>
                      </a:r>
                      <a:r>
                        <a:rPr lang="zh-CN" alt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模型、时间序列处理、词袋模型</a:t>
                      </a: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663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100" dirty="0">
                        <a:solidFill>
                          <a:schemeClr val="bg1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Ch-10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KaiTi" panose="02010609060101010101" pitchFamily="49" charset="-122"/>
                        <a:cs typeface="Calibri" panose="020F0502020204030204" pitchFamily="34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 b="1">
                          <a:solidFill>
                            <a:schemeClr val="bg1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特征选择</a:t>
                      </a:r>
                      <a:endParaRPr lang="zh-CN" altLang="en-US" sz="1800">
                        <a:solidFill>
                          <a:schemeClr val="bg1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Filter/Wrapper/Embedded </a:t>
                      </a:r>
                      <a:r>
                        <a:rPr lang="zh-CN" alt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方法</a:t>
                      </a: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663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100" dirty="0">
                        <a:solidFill>
                          <a:schemeClr val="bg1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Ch-11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KaiTi" panose="02010609060101010101" pitchFamily="49" charset="-122"/>
                        <a:cs typeface="Calibri" panose="020F0502020204030204" pitchFamily="34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 b="1">
                          <a:solidFill>
                            <a:schemeClr val="bg1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降维</a:t>
                      </a:r>
                      <a:endParaRPr lang="zh-CN" altLang="en-US" sz="1800">
                        <a:solidFill>
                          <a:schemeClr val="bg1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PCA</a:t>
                      </a: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 (</a:t>
                      </a:r>
                      <a:r>
                        <a:rPr lang="zh-CN" alt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主成分分析</a:t>
                      </a:r>
                      <a:r>
                        <a:rPr lang="en-US" altLang="zh-CN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)</a:t>
                      </a:r>
                      <a:r>
                        <a:rPr lang="zh-CN" alt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、</a:t>
                      </a: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LDA</a:t>
                      </a: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 (</a:t>
                      </a:r>
                      <a:r>
                        <a:rPr lang="zh-CN" alt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线性判别分析</a:t>
                      </a:r>
                      <a:r>
                        <a:rPr lang="en-US" altLang="zh-CN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)</a:t>
                      </a: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663">
                <a:tc row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i="0" kern="1200" dirty="0">
                          <a:solidFill>
                            <a:srgbClr val="6ED3CF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监督学习篇</a:t>
                      </a: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6ED3C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Ch-03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KaiTi" panose="02010609060101010101" pitchFamily="49" charset="-122"/>
                        <a:cs typeface="Calibri" panose="020F0502020204030204" pitchFamily="34" charset="0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 b="1">
                          <a:solidFill>
                            <a:schemeClr val="bg1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基础算法</a:t>
                      </a:r>
                      <a:endParaRPr lang="zh-CN" altLang="en-US" sz="1800">
                        <a:solidFill>
                          <a:schemeClr val="bg1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KNN</a:t>
                      </a: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、</a:t>
                      </a:r>
                      <a:r>
                        <a:rPr lang="zh-CN" alt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决策树、线性</a:t>
                      </a:r>
                      <a:r>
                        <a:rPr lang="en-US" altLang="zh-CN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/</a:t>
                      </a:r>
                      <a:r>
                        <a:rPr lang="zh-CN" alt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逻辑回归、朴素贝叶斯、</a:t>
                      </a: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SVM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663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100" dirty="0">
                        <a:solidFill>
                          <a:schemeClr val="bg1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Ch-04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KaiTi" panose="02010609060101010101" pitchFamily="49" charset="-122"/>
                        <a:cs typeface="Calibri" panose="020F0502020204030204" pitchFamily="34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 b="1">
                          <a:solidFill>
                            <a:schemeClr val="bg1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集成学习</a:t>
                      </a:r>
                      <a:endParaRPr lang="zh-CN" altLang="en-US" sz="1800">
                        <a:solidFill>
                          <a:schemeClr val="bg1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Random Forest </a:t>
                      </a: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(</a:t>
                      </a:r>
                      <a:r>
                        <a:rPr lang="zh-CN" alt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随机森林</a:t>
                      </a:r>
                      <a:r>
                        <a:rPr lang="en-US" altLang="zh-CN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)</a:t>
                      </a:r>
                      <a:r>
                        <a:rPr lang="zh-CN" alt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、</a:t>
                      </a:r>
                      <a:r>
                        <a:rPr lang="en-US" sz="1800" b="0" i="0" kern="1200" dirty="0" err="1">
                          <a:solidFill>
                            <a:srgbClr val="8899A6"/>
                          </a:solidFill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Adaboost、GBDT、Stacking</a:t>
                      </a:r>
                      <a:endParaRPr lang="en-US" sz="1800" b="0" i="0" kern="1200" dirty="0">
                        <a:solidFill>
                          <a:srgbClr val="8899A6"/>
                        </a:solidFill>
                        <a:latin typeface="Calibri" panose="020F0502020204030204" pitchFamily="34" charset="0"/>
                        <a:ea typeface="KaiTi" panose="02010609060101010101" pitchFamily="49" charset="-122"/>
                        <a:cs typeface="Calibri" panose="020F0502020204030204" pitchFamily="34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663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100" dirty="0">
                        <a:solidFill>
                          <a:schemeClr val="bg1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Ch-14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KaiTi" panose="02010609060101010101" pitchFamily="49" charset="-122"/>
                        <a:cs typeface="Calibri" panose="020F0502020204030204" pitchFamily="34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 b="1">
                          <a:solidFill>
                            <a:schemeClr val="bg1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深度学习</a:t>
                      </a:r>
                      <a:endParaRPr lang="zh-CN" altLang="en-US" sz="1800">
                        <a:solidFill>
                          <a:schemeClr val="bg1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神经网络 </a:t>
                      </a:r>
                      <a:r>
                        <a:rPr lang="en-US" altLang="zh-CN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(</a:t>
                      </a: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NN</a:t>
                      </a: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)、</a:t>
                      </a: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CNN</a:t>
                      </a: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、</a:t>
                      </a: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RNN</a:t>
                      </a: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、</a:t>
                      </a:r>
                      <a:r>
                        <a:rPr lang="zh-CN" alt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深度学习概述</a:t>
                      </a: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663">
                <a:tc row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i="0" kern="1200" dirty="0">
                          <a:solidFill>
                            <a:srgbClr val="6ED3CF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无监督与概率篇</a:t>
                      </a: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5F87A7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Ch-05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KaiTi" panose="02010609060101010101" pitchFamily="49" charset="-122"/>
                        <a:cs typeface="Calibri" panose="020F0502020204030204" pitchFamily="34" charset="0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 b="1">
                          <a:solidFill>
                            <a:schemeClr val="bg1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聚类算法</a:t>
                      </a:r>
                      <a:endParaRPr lang="zh-CN" altLang="en-US" sz="1800">
                        <a:solidFill>
                          <a:schemeClr val="bg1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K-Means</a:t>
                      </a: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、</a:t>
                      </a:r>
                      <a:r>
                        <a:rPr lang="zh-CN" alt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层次聚类、</a:t>
                      </a: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DBSCAN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6663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100" dirty="0">
                        <a:solidFill>
                          <a:schemeClr val="bg1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Ch-06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KaiTi" panose="02010609060101010101" pitchFamily="49" charset="-122"/>
                        <a:cs typeface="Calibri" panose="020F0502020204030204" pitchFamily="34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EM </a:t>
                      </a:r>
                      <a:r>
                        <a:rPr lang="zh-CN" altLang="en-US" sz="1800" b="1">
                          <a:solidFill>
                            <a:schemeClr val="bg1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算法</a:t>
                      </a:r>
                      <a:endParaRPr lang="zh-CN" altLang="en-US" sz="1800">
                        <a:solidFill>
                          <a:schemeClr val="bg1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极大似然估计 </a:t>
                      </a:r>
                      <a:r>
                        <a:rPr lang="en-US" altLang="zh-CN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(</a:t>
                      </a: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MLE</a:t>
                      </a: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)、</a:t>
                      </a:r>
                      <a:r>
                        <a:rPr lang="zh-CN" alt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高斯混合模型 </a:t>
                      </a:r>
                      <a:r>
                        <a:rPr lang="en-US" altLang="zh-CN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(</a:t>
                      </a: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GMM</a:t>
                      </a: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)</a:t>
                      </a: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6663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100" dirty="0">
                        <a:solidFill>
                          <a:schemeClr val="bg1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Ch-13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KaiTi" panose="02010609060101010101" pitchFamily="49" charset="-122"/>
                        <a:cs typeface="Calibri" panose="020F0502020204030204" pitchFamily="34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 b="1">
                          <a:solidFill>
                            <a:schemeClr val="bg1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概率图模型</a:t>
                      </a:r>
                      <a:endParaRPr lang="zh-CN" altLang="en-US" sz="1800">
                        <a:solidFill>
                          <a:schemeClr val="bg1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隐马尔可夫模型 </a:t>
                      </a:r>
                      <a:r>
                        <a:rPr lang="en-US" altLang="zh-CN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(</a:t>
                      </a: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HMM</a:t>
                      </a: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)、</a:t>
                      </a:r>
                      <a:r>
                        <a:rPr lang="zh-CN" alt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贝叶斯网络</a:t>
                      </a: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6663">
                <a:tc row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i="0" kern="1200" dirty="0">
                          <a:solidFill>
                            <a:srgbClr val="6ED3CF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进阶与应用篇</a:t>
                      </a: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6ED3C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Ch-08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KaiTi" panose="02010609060101010101" pitchFamily="49" charset="-122"/>
                        <a:cs typeface="Calibri" panose="020F0502020204030204" pitchFamily="34" charset="0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 b="1">
                          <a:solidFill>
                            <a:schemeClr val="bg1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模型评估</a:t>
                      </a:r>
                      <a:endParaRPr lang="zh-CN" altLang="en-US" sz="1800">
                        <a:solidFill>
                          <a:schemeClr val="bg1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ROC</a:t>
                      </a: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 </a:t>
                      </a:r>
                      <a:r>
                        <a:rPr lang="zh-CN" alt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曲线、</a:t>
                      </a: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AUC</a:t>
                      </a: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、</a:t>
                      </a:r>
                      <a:r>
                        <a:rPr lang="zh-CN" alt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混淆矩阵、评估准则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6663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100" dirty="0">
                        <a:solidFill>
                          <a:schemeClr val="bg1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Ch-09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KaiTi" panose="02010609060101010101" pitchFamily="49" charset="-122"/>
                        <a:cs typeface="Calibri" panose="020F0502020204030204" pitchFamily="34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 b="1">
                          <a:solidFill>
                            <a:schemeClr val="bg1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模型调优</a:t>
                      </a:r>
                      <a:endParaRPr lang="zh-CN" altLang="en-US" sz="1800">
                        <a:solidFill>
                          <a:schemeClr val="bg1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 kern="1200" dirty="0" err="1">
                          <a:solidFill>
                            <a:srgbClr val="8899A6"/>
                          </a:solidFill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GridSearchCV</a:t>
                      </a: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、</a:t>
                      </a:r>
                      <a:r>
                        <a:rPr lang="zh-CN" alt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正则化 </a:t>
                      </a:r>
                      <a:r>
                        <a:rPr lang="en-US" altLang="zh-CN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(</a:t>
                      </a: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L1/L2</a:t>
                      </a: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)、</a:t>
                      </a: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SMOTE</a:t>
                      </a: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 (</a:t>
                      </a:r>
                      <a:r>
                        <a:rPr lang="zh-CN" alt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不平衡处理</a:t>
                      </a:r>
                      <a:r>
                        <a:rPr lang="en-US" altLang="zh-CN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)</a:t>
                      </a: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96663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100" dirty="0">
                        <a:solidFill>
                          <a:schemeClr val="bg1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Ch-12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KaiTi" panose="02010609060101010101" pitchFamily="49" charset="-122"/>
                        <a:cs typeface="Calibri" panose="020F0502020204030204" pitchFamily="34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 b="1" dirty="0">
                          <a:solidFill>
                            <a:schemeClr val="bg1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推荐算法</a:t>
                      </a:r>
                      <a:endParaRPr lang="zh-CN" altLang="en-US" sz="1800" dirty="0">
                        <a:solidFill>
                          <a:schemeClr val="bg1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协同过滤 </a:t>
                      </a:r>
                      <a:r>
                        <a:rPr lang="en-US" altLang="zh-CN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(</a:t>
                      </a: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User-CF</a:t>
                      </a: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)、</a:t>
                      </a:r>
                      <a:r>
                        <a:rPr lang="zh-CN" alt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矩阵分解 </a:t>
                      </a:r>
                      <a:r>
                        <a:rPr lang="en-US" altLang="zh-CN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(</a:t>
                      </a: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SVD</a:t>
                      </a:r>
                      <a:r>
                        <a:rPr lang="en-US" sz="1800" b="0" i="0" kern="1200" dirty="0">
                          <a:solidFill>
                            <a:srgbClr val="8899A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MiSans" pitchFamily="34" charset="-120"/>
                        </a:rPr>
                        <a:t>)、</a:t>
                      </a:r>
                      <a:r>
                        <a:rPr lang="en-US" sz="1800" b="0" i="0" kern="1200" dirty="0" err="1">
                          <a:solidFill>
                            <a:srgbClr val="8899A6"/>
                          </a:solidFill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Apriori、Embedding</a:t>
                      </a:r>
                      <a:endParaRPr lang="en-US" sz="1800" b="0" i="0" kern="1200" dirty="0">
                        <a:solidFill>
                          <a:srgbClr val="8899A6"/>
                        </a:solidFill>
                        <a:latin typeface="Calibri" panose="020F0502020204030204" pitchFamily="34" charset="0"/>
                        <a:ea typeface="KaiTi" panose="02010609060101010101" pitchFamily="49" charset="-122"/>
                        <a:cs typeface="Calibri" panose="020F0502020204030204" pitchFamily="34" charset="0"/>
                      </a:endParaRPr>
                    </a:p>
                  </a:txBody>
                  <a:tcPr marL="95250" marR="952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33400" y="84201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77788" y="55563"/>
                </a:moveTo>
                <a:cubicBezTo>
                  <a:pt x="77788" y="49429"/>
                  <a:pt x="82767" y="44450"/>
                  <a:pt x="88900" y="44450"/>
                </a:cubicBezTo>
                <a:cubicBezTo>
                  <a:pt x="95033" y="44450"/>
                  <a:pt x="100013" y="49429"/>
                  <a:pt x="100013" y="55563"/>
                </a:cubicBezTo>
                <a:cubicBezTo>
                  <a:pt x="100013" y="61696"/>
                  <a:pt x="95033" y="66675"/>
                  <a:pt x="88900" y="66675"/>
                </a:cubicBezTo>
                <a:cubicBezTo>
                  <a:pt x="82767" y="66675"/>
                  <a:pt x="77788" y="61696"/>
                  <a:pt x="77788" y="55563"/>
                </a:cubicBezTo>
                <a:close/>
                <a:moveTo>
                  <a:pt x="75009" y="77788"/>
                </a:moveTo>
                <a:lnTo>
                  <a:pt x="91678" y="77788"/>
                </a:lnTo>
                <a:cubicBezTo>
                  <a:pt x="96297" y="77788"/>
                  <a:pt x="100013" y="81503"/>
                  <a:pt x="100013" y="86122"/>
                </a:cubicBezTo>
                <a:lnTo>
                  <a:pt x="100013" y="116681"/>
                </a:lnTo>
                <a:lnTo>
                  <a:pt x="102791" y="116681"/>
                </a:lnTo>
                <a:cubicBezTo>
                  <a:pt x="107409" y="116681"/>
                  <a:pt x="111125" y="120397"/>
                  <a:pt x="111125" y="125016"/>
                </a:cubicBezTo>
                <a:cubicBezTo>
                  <a:pt x="111125" y="129634"/>
                  <a:pt x="107409" y="133350"/>
                  <a:pt x="102791" y="133350"/>
                </a:cubicBezTo>
                <a:lnTo>
                  <a:pt x="75009" y="133350"/>
                </a:lnTo>
                <a:cubicBezTo>
                  <a:pt x="70391" y="133350"/>
                  <a:pt x="66675" y="129634"/>
                  <a:pt x="66675" y="125016"/>
                </a:cubicBezTo>
                <a:cubicBezTo>
                  <a:pt x="66675" y="120397"/>
                  <a:pt x="70391" y="116681"/>
                  <a:pt x="75009" y="116681"/>
                </a:cubicBezTo>
                <a:lnTo>
                  <a:pt x="83344" y="116681"/>
                </a:lnTo>
                <a:lnTo>
                  <a:pt x="83344" y="94456"/>
                </a:lnTo>
                <a:lnTo>
                  <a:pt x="75009" y="94456"/>
                </a:lnTo>
                <a:cubicBezTo>
                  <a:pt x="70391" y="94456"/>
                  <a:pt x="66675" y="90741"/>
                  <a:pt x="66675" y="86122"/>
                </a:cubicBezTo>
                <a:cubicBezTo>
                  <a:pt x="66675" y="81503"/>
                  <a:pt x="70391" y="77788"/>
                  <a:pt x="75009" y="77788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831850" y="8382000"/>
            <a:ext cx="7378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本课程体系涵盖从基础理论到高级应用的完整机器学习知识链，共计</a:t>
            </a:r>
            <a:r>
              <a:rPr lang="en-US" sz="14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14个章节</a:t>
            </a:r>
            <a:r>
              <a:rPr lang="en-US" sz="14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，分为</a:t>
            </a:r>
            <a:r>
              <a:rPr lang="en-US" sz="14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四大模块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citechdaily.com/3f8e19b8b28971eba86f4d5df2a55f76133d20c7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12500" b="1250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/>
              </a:gs>
              <a:gs pos="50000">
                <a:srgbClr val="1A1D24">
                  <a:alpha val="90000"/>
                </a:srgbClr>
              </a:gs>
              <a:gs pos="100000">
                <a:srgbClr val="1A1D24">
                  <a:alpha val="6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14350" y="2139950"/>
            <a:ext cx="2298700" cy="571500"/>
          </a:xfrm>
          <a:custGeom>
            <a:avLst/>
            <a:gdLst/>
            <a:ahLst/>
            <a:cxnLst/>
            <a:rect l="l" t="t" r="r" b="b"/>
            <a:pathLst>
              <a:path w="2298700" h="571500">
                <a:moveTo>
                  <a:pt x="101601" y="0"/>
                </a:moveTo>
                <a:lnTo>
                  <a:pt x="2197099" y="0"/>
                </a:lnTo>
                <a:cubicBezTo>
                  <a:pt x="2253212" y="0"/>
                  <a:pt x="2298700" y="45488"/>
                  <a:pt x="2298700" y="101601"/>
                </a:cubicBezTo>
                <a:lnTo>
                  <a:pt x="2298700" y="469899"/>
                </a:lnTo>
                <a:cubicBezTo>
                  <a:pt x="2298700" y="526012"/>
                  <a:pt x="2253212" y="571500"/>
                  <a:pt x="2197099" y="571500"/>
                </a:cubicBezTo>
                <a:lnTo>
                  <a:pt x="101601" y="571500"/>
                </a:lnTo>
                <a:cubicBezTo>
                  <a:pt x="45488" y="571500"/>
                  <a:pt x="0" y="526012"/>
                  <a:pt x="0" y="4698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 w="12700">
            <a:solidFill>
              <a:srgbClr val="6ED3CF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74700" y="2254250"/>
            <a:ext cx="1901031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kern="0" spc="200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124200"/>
            <a:ext cx="594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人工智能基础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4572000"/>
            <a:ext cx="5676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5F87A7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定义、流派与发展历程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6642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812800" y="5537200"/>
            <a:ext cx="289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理解</a:t>
            </a:r>
            <a:r>
              <a:rPr lang="en-US" sz="2000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AI</a:t>
            </a:r>
            <a:r>
              <a:rPr lang="en-US" sz="2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的基本定义与内涵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8000" y="62230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812800" y="6096000"/>
            <a:ext cx="292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掌握三大流派的核心思想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8000" y="67818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812800" y="6654800"/>
            <a:ext cx="264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梳理</a:t>
            </a:r>
            <a:r>
              <a:rPr lang="en-US" sz="2000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AI</a:t>
            </a:r>
            <a:r>
              <a:rPr lang="en-US" sz="2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发展的三次浪潮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5934" y="455934"/>
            <a:ext cx="1598582" cy="371501"/>
          </a:xfrm>
          <a:custGeom>
            <a:avLst/>
            <a:gdLst/>
            <a:ahLst/>
            <a:cxnLst/>
            <a:rect l="l" t="t" r="r" b="b"/>
            <a:pathLst>
              <a:path w="1598582" h="371501">
                <a:moveTo>
                  <a:pt x="45030" y="0"/>
                </a:moveTo>
                <a:lnTo>
                  <a:pt x="1553552" y="0"/>
                </a:lnTo>
                <a:cubicBezTo>
                  <a:pt x="1578421" y="0"/>
                  <a:pt x="1598582" y="20160"/>
                  <a:pt x="1598582" y="45030"/>
                </a:cubicBezTo>
                <a:lnTo>
                  <a:pt x="1598582" y="326472"/>
                </a:lnTo>
                <a:cubicBezTo>
                  <a:pt x="1598582" y="351341"/>
                  <a:pt x="1578421" y="371501"/>
                  <a:pt x="1553552" y="371501"/>
                </a:cubicBezTo>
                <a:lnTo>
                  <a:pt x="45030" y="371501"/>
                </a:lnTo>
                <a:cubicBezTo>
                  <a:pt x="20177" y="371501"/>
                  <a:pt x="0" y="351324"/>
                  <a:pt x="0" y="326472"/>
                </a:cubicBezTo>
                <a:lnTo>
                  <a:pt x="0" y="45030"/>
                </a:lnTo>
                <a:cubicBezTo>
                  <a:pt x="0" y="20177"/>
                  <a:pt x="20177" y="0"/>
                  <a:pt x="45030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 w="12700">
            <a:solidFill>
              <a:srgbClr val="5F87A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96654" y="523479"/>
            <a:ext cx="1402277" cy="236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8" kern="0" spc="71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AI DEFINITION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0305" y="923125"/>
            <a:ext cx="15558028" cy="450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191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人工智能的定义与内涵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0305" y="1463490"/>
            <a:ext cx="15445452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8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从不同维度理解人工智能的本质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5934" y="1964454"/>
            <a:ext cx="7553861" cy="2803147"/>
          </a:xfrm>
          <a:custGeom>
            <a:avLst/>
            <a:gdLst/>
            <a:ahLst/>
            <a:cxnLst/>
            <a:rect l="l" t="t" r="r" b="b"/>
            <a:pathLst>
              <a:path w="7553861" h="2803147">
                <a:moveTo>
                  <a:pt x="135084" y="0"/>
                </a:moveTo>
                <a:lnTo>
                  <a:pt x="7418778" y="0"/>
                </a:lnTo>
                <a:cubicBezTo>
                  <a:pt x="7493382" y="0"/>
                  <a:pt x="7553861" y="60479"/>
                  <a:pt x="7553861" y="135084"/>
                </a:cubicBezTo>
                <a:lnTo>
                  <a:pt x="7553861" y="2668063"/>
                </a:lnTo>
                <a:cubicBezTo>
                  <a:pt x="7553861" y="2742668"/>
                  <a:pt x="7493382" y="2803147"/>
                  <a:pt x="7418778" y="2803147"/>
                </a:cubicBezTo>
                <a:lnTo>
                  <a:pt x="135084" y="2803147"/>
                </a:lnTo>
                <a:cubicBezTo>
                  <a:pt x="60529" y="2803147"/>
                  <a:pt x="0" y="2742618"/>
                  <a:pt x="0" y="2668063"/>
                </a:cubicBezTo>
                <a:lnTo>
                  <a:pt x="0" y="135084"/>
                </a:lnTo>
                <a:cubicBezTo>
                  <a:pt x="0" y="60529"/>
                  <a:pt x="60529" y="0"/>
                  <a:pt x="135084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31745" y="2240266"/>
            <a:ext cx="540366" cy="540366"/>
          </a:xfrm>
          <a:custGeom>
            <a:avLst/>
            <a:gdLst/>
            <a:ahLst/>
            <a:cxnLst/>
            <a:rect l="l" t="t" r="r" b="b"/>
            <a:pathLst>
              <a:path w="540366" h="540366">
                <a:moveTo>
                  <a:pt x="90063" y="0"/>
                </a:moveTo>
                <a:lnTo>
                  <a:pt x="450303" y="0"/>
                </a:lnTo>
                <a:cubicBezTo>
                  <a:pt x="500043" y="0"/>
                  <a:pt x="540366" y="40322"/>
                  <a:pt x="540366" y="90063"/>
                </a:cubicBezTo>
                <a:lnTo>
                  <a:pt x="540366" y="450303"/>
                </a:lnTo>
                <a:cubicBezTo>
                  <a:pt x="540366" y="500043"/>
                  <a:pt x="500043" y="540366"/>
                  <a:pt x="450303" y="540366"/>
                </a:cubicBezTo>
                <a:lnTo>
                  <a:pt x="90063" y="540366"/>
                </a:lnTo>
                <a:cubicBezTo>
                  <a:pt x="40322" y="540366"/>
                  <a:pt x="0" y="500043"/>
                  <a:pt x="0" y="450303"/>
                </a:cubicBezTo>
                <a:lnTo>
                  <a:pt x="0" y="90063"/>
                </a:lnTo>
                <a:cubicBezTo>
                  <a:pt x="0" y="40356"/>
                  <a:pt x="40356" y="0"/>
                  <a:pt x="90063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89352" y="2397873"/>
            <a:ext cx="225152" cy="225152"/>
          </a:xfrm>
          <a:custGeom>
            <a:avLst/>
            <a:gdLst/>
            <a:ahLst/>
            <a:cxnLst/>
            <a:rect l="l" t="t" r="r" b="b"/>
            <a:pathLst>
              <a:path w="225152" h="225152">
                <a:moveTo>
                  <a:pt x="52770" y="24626"/>
                </a:moveTo>
                <a:cubicBezTo>
                  <a:pt x="52770" y="11038"/>
                  <a:pt x="63808" y="0"/>
                  <a:pt x="77396" y="0"/>
                </a:cubicBezTo>
                <a:lnTo>
                  <a:pt x="87950" y="0"/>
                </a:lnTo>
                <a:cubicBezTo>
                  <a:pt x="95734" y="0"/>
                  <a:pt x="102022" y="6288"/>
                  <a:pt x="102022" y="14072"/>
                </a:cubicBezTo>
                <a:lnTo>
                  <a:pt x="102022" y="211080"/>
                </a:lnTo>
                <a:cubicBezTo>
                  <a:pt x="102022" y="218864"/>
                  <a:pt x="95734" y="225152"/>
                  <a:pt x="87950" y="225152"/>
                </a:cubicBezTo>
                <a:lnTo>
                  <a:pt x="73878" y="225152"/>
                </a:lnTo>
                <a:cubicBezTo>
                  <a:pt x="60774" y="225152"/>
                  <a:pt x="49736" y="216181"/>
                  <a:pt x="46614" y="204044"/>
                </a:cubicBezTo>
                <a:cubicBezTo>
                  <a:pt x="46306" y="204044"/>
                  <a:pt x="46042" y="204044"/>
                  <a:pt x="45734" y="204044"/>
                </a:cubicBezTo>
                <a:cubicBezTo>
                  <a:pt x="26297" y="204044"/>
                  <a:pt x="10554" y="188301"/>
                  <a:pt x="10554" y="168864"/>
                </a:cubicBezTo>
                <a:cubicBezTo>
                  <a:pt x="10554" y="160949"/>
                  <a:pt x="13193" y="153649"/>
                  <a:pt x="17590" y="147756"/>
                </a:cubicBezTo>
                <a:cubicBezTo>
                  <a:pt x="9059" y="141336"/>
                  <a:pt x="3518" y="131134"/>
                  <a:pt x="3518" y="119612"/>
                </a:cubicBezTo>
                <a:cubicBezTo>
                  <a:pt x="3518" y="106024"/>
                  <a:pt x="11258" y="94195"/>
                  <a:pt x="22515" y="88346"/>
                </a:cubicBezTo>
                <a:cubicBezTo>
                  <a:pt x="19393" y="83069"/>
                  <a:pt x="17590" y="76912"/>
                  <a:pt x="17590" y="70360"/>
                </a:cubicBezTo>
                <a:cubicBezTo>
                  <a:pt x="17590" y="50923"/>
                  <a:pt x="33333" y="35180"/>
                  <a:pt x="52770" y="35180"/>
                </a:cubicBezTo>
                <a:lnTo>
                  <a:pt x="52770" y="24626"/>
                </a:lnTo>
                <a:close/>
                <a:moveTo>
                  <a:pt x="172382" y="24626"/>
                </a:moveTo>
                <a:lnTo>
                  <a:pt x="172382" y="35180"/>
                </a:lnTo>
                <a:cubicBezTo>
                  <a:pt x="191819" y="35180"/>
                  <a:pt x="207562" y="50923"/>
                  <a:pt x="207562" y="70360"/>
                </a:cubicBezTo>
                <a:cubicBezTo>
                  <a:pt x="207562" y="76956"/>
                  <a:pt x="205759" y="83113"/>
                  <a:pt x="202637" y="88346"/>
                </a:cubicBezTo>
                <a:cubicBezTo>
                  <a:pt x="213939" y="94195"/>
                  <a:pt x="221634" y="105980"/>
                  <a:pt x="221634" y="119612"/>
                </a:cubicBezTo>
                <a:cubicBezTo>
                  <a:pt x="221634" y="131134"/>
                  <a:pt x="216093" y="141336"/>
                  <a:pt x="207562" y="147756"/>
                </a:cubicBezTo>
                <a:cubicBezTo>
                  <a:pt x="211960" y="153649"/>
                  <a:pt x="214598" y="160949"/>
                  <a:pt x="214598" y="168864"/>
                </a:cubicBezTo>
                <a:cubicBezTo>
                  <a:pt x="214598" y="188301"/>
                  <a:pt x="198855" y="204044"/>
                  <a:pt x="179418" y="204044"/>
                </a:cubicBezTo>
                <a:cubicBezTo>
                  <a:pt x="179110" y="204044"/>
                  <a:pt x="178847" y="204044"/>
                  <a:pt x="178539" y="204044"/>
                </a:cubicBezTo>
                <a:cubicBezTo>
                  <a:pt x="175417" y="216181"/>
                  <a:pt x="164379" y="225152"/>
                  <a:pt x="151274" y="225152"/>
                </a:cubicBezTo>
                <a:lnTo>
                  <a:pt x="137202" y="225152"/>
                </a:lnTo>
                <a:cubicBezTo>
                  <a:pt x="129419" y="225152"/>
                  <a:pt x="123130" y="218864"/>
                  <a:pt x="123130" y="211080"/>
                </a:cubicBezTo>
                <a:lnTo>
                  <a:pt x="123130" y="14072"/>
                </a:lnTo>
                <a:cubicBezTo>
                  <a:pt x="123130" y="6288"/>
                  <a:pt x="129419" y="0"/>
                  <a:pt x="137202" y="0"/>
                </a:cubicBezTo>
                <a:lnTo>
                  <a:pt x="147756" y="0"/>
                </a:lnTo>
                <a:cubicBezTo>
                  <a:pt x="161345" y="0"/>
                  <a:pt x="172382" y="11038"/>
                  <a:pt x="172382" y="2462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407202" y="2330327"/>
            <a:ext cx="1215823" cy="360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2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通俗定义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745" y="2960753"/>
            <a:ext cx="7092299" cy="292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18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人工智能（AI）是计算机科学的一个分支，致力于创造能够</a:t>
            </a:r>
            <a:r>
              <a:rPr lang="en-US" sz="1418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模仿人类智能行为</a:t>
            </a:r>
            <a:r>
              <a:rPr lang="en-US" sz="1418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的机器。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54260" y="3433573"/>
            <a:ext cx="6979723" cy="652942"/>
          </a:xfrm>
          <a:custGeom>
            <a:avLst/>
            <a:gdLst/>
            <a:ahLst/>
            <a:cxnLst/>
            <a:rect l="l" t="t" r="r" b="b"/>
            <a:pathLst>
              <a:path w="6979723" h="652942">
                <a:moveTo>
                  <a:pt x="45030" y="0"/>
                </a:moveTo>
                <a:lnTo>
                  <a:pt x="6889663" y="0"/>
                </a:lnTo>
                <a:cubicBezTo>
                  <a:pt x="6939402" y="0"/>
                  <a:pt x="6979723" y="40321"/>
                  <a:pt x="6979723" y="90060"/>
                </a:cubicBezTo>
                <a:lnTo>
                  <a:pt x="6979723" y="562882"/>
                </a:lnTo>
                <a:cubicBezTo>
                  <a:pt x="6979723" y="612620"/>
                  <a:pt x="6939402" y="652942"/>
                  <a:pt x="6889663" y="652942"/>
                </a:cubicBezTo>
                <a:lnTo>
                  <a:pt x="45030" y="652942"/>
                </a:lnTo>
                <a:cubicBezTo>
                  <a:pt x="20161" y="652942"/>
                  <a:pt x="0" y="632781"/>
                  <a:pt x="0" y="607911"/>
                </a:cubicBezTo>
                <a:lnTo>
                  <a:pt x="0" y="45030"/>
                </a:lnTo>
                <a:cubicBezTo>
                  <a:pt x="0" y="20177"/>
                  <a:pt x="20177" y="0"/>
                  <a:pt x="4503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54260" y="3433573"/>
            <a:ext cx="45030" cy="652942"/>
          </a:xfrm>
          <a:custGeom>
            <a:avLst/>
            <a:gdLst/>
            <a:ahLst/>
            <a:cxnLst/>
            <a:rect l="l" t="t" r="r" b="b"/>
            <a:pathLst>
              <a:path w="45030" h="652942">
                <a:moveTo>
                  <a:pt x="45030" y="0"/>
                </a:moveTo>
                <a:lnTo>
                  <a:pt x="45030" y="0"/>
                </a:lnTo>
                <a:lnTo>
                  <a:pt x="45030" y="652942"/>
                </a:lnTo>
                <a:lnTo>
                  <a:pt x="45030" y="652942"/>
                </a:lnTo>
                <a:cubicBezTo>
                  <a:pt x="20161" y="652942"/>
                  <a:pt x="0" y="632781"/>
                  <a:pt x="0" y="607911"/>
                </a:cubicBezTo>
                <a:lnTo>
                  <a:pt x="0" y="45030"/>
                </a:lnTo>
                <a:cubicBezTo>
                  <a:pt x="0" y="20177"/>
                  <a:pt x="20177" y="0"/>
                  <a:pt x="4503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56898" y="3613695"/>
            <a:ext cx="6687025" cy="292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18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"通过普通计算机程序来呈现人类智能的技术。"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6776" y="4311668"/>
            <a:ext cx="135091" cy="180122"/>
          </a:xfrm>
          <a:custGeom>
            <a:avLst/>
            <a:gdLst/>
            <a:ahLst/>
            <a:cxnLst/>
            <a:rect l="l" t="t" r="r" b="b"/>
            <a:pathLst>
              <a:path w="135091" h="180122">
                <a:moveTo>
                  <a:pt x="103042" y="135091"/>
                </a:moveTo>
                <a:cubicBezTo>
                  <a:pt x="105611" y="127246"/>
                  <a:pt x="110747" y="120140"/>
                  <a:pt x="116552" y="114019"/>
                </a:cubicBezTo>
                <a:cubicBezTo>
                  <a:pt x="128055" y="101917"/>
                  <a:pt x="135091" y="85558"/>
                  <a:pt x="135091" y="67546"/>
                </a:cubicBezTo>
                <a:cubicBezTo>
                  <a:pt x="135091" y="30255"/>
                  <a:pt x="104837" y="0"/>
                  <a:pt x="67546" y="0"/>
                </a:cubicBezTo>
                <a:cubicBezTo>
                  <a:pt x="30255" y="0"/>
                  <a:pt x="0" y="30255"/>
                  <a:pt x="0" y="67546"/>
                </a:cubicBezTo>
                <a:cubicBezTo>
                  <a:pt x="0" y="85558"/>
                  <a:pt x="7036" y="101917"/>
                  <a:pt x="18540" y="114019"/>
                </a:cubicBezTo>
                <a:cubicBezTo>
                  <a:pt x="24345" y="120140"/>
                  <a:pt x="29516" y="127246"/>
                  <a:pt x="32049" y="135091"/>
                </a:cubicBezTo>
                <a:lnTo>
                  <a:pt x="103007" y="135091"/>
                </a:lnTo>
                <a:close/>
                <a:moveTo>
                  <a:pt x="101319" y="151978"/>
                </a:moveTo>
                <a:lnTo>
                  <a:pt x="33773" y="151978"/>
                </a:lnTo>
                <a:lnTo>
                  <a:pt x="33773" y="157607"/>
                </a:lnTo>
                <a:cubicBezTo>
                  <a:pt x="33773" y="173156"/>
                  <a:pt x="46367" y="185751"/>
                  <a:pt x="61917" y="185751"/>
                </a:cubicBezTo>
                <a:lnTo>
                  <a:pt x="73175" y="185751"/>
                </a:lnTo>
                <a:cubicBezTo>
                  <a:pt x="88724" y="185751"/>
                  <a:pt x="101319" y="173156"/>
                  <a:pt x="101319" y="157607"/>
                </a:cubicBezTo>
                <a:lnTo>
                  <a:pt x="101319" y="151978"/>
                </a:lnTo>
                <a:close/>
                <a:moveTo>
                  <a:pt x="64731" y="39402"/>
                </a:moveTo>
                <a:cubicBezTo>
                  <a:pt x="50730" y="39402"/>
                  <a:pt x="39402" y="50730"/>
                  <a:pt x="39402" y="64731"/>
                </a:cubicBezTo>
                <a:cubicBezTo>
                  <a:pt x="39402" y="69410"/>
                  <a:pt x="35637" y="73175"/>
                  <a:pt x="30958" y="73175"/>
                </a:cubicBezTo>
                <a:cubicBezTo>
                  <a:pt x="26280" y="73175"/>
                  <a:pt x="22515" y="69410"/>
                  <a:pt x="22515" y="64731"/>
                </a:cubicBezTo>
                <a:cubicBezTo>
                  <a:pt x="22515" y="41407"/>
                  <a:pt x="41407" y="22515"/>
                  <a:pt x="64731" y="22515"/>
                </a:cubicBezTo>
                <a:cubicBezTo>
                  <a:pt x="69410" y="22515"/>
                  <a:pt x="73175" y="26280"/>
                  <a:pt x="73175" y="30958"/>
                </a:cubicBezTo>
                <a:cubicBezTo>
                  <a:pt x="73175" y="35637"/>
                  <a:pt x="69410" y="39402"/>
                  <a:pt x="64731" y="39402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046958" y="4266637"/>
            <a:ext cx="4649396" cy="22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1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核心关注点：</a:t>
            </a:r>
            <a:r>
              <a:rPr lang="en-US" sz="1241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模拟人类智能行为</a:t>
            </a:r>
            <a:r>
              <a:rPr lang="en-US" sz="1241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，包括学习、推理、感知、规划等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5934" y="4958981"/>
            <a:ext cx="7553861" cy="3883878"/>
          </a:xfrm>
          <a:custGeom>
            <a:avLst/>
            <a:gdLst/>
            <a:ahLst/>
            <a:cxnLst/>
            <a:rect l="l" t="t" r="r" b="b"/>
            <a:pathLst>
              <a:path w="7553861" h="3883878">
                <a:moveTo>
                  <a:pt x="135081" y="0"/>
                </a:moveTo>
                <a:lnTo>
                  <a:pt x="7418780" y="0"/>
                </a:lnTo>
                <a:cubicBezTo>
                  <a:pt x="7493384" y="0"/>
                  <a:pt x="7553861" y="60478"/>
                  <a:pt x="7553861" y="135081"/>
                </a:cubicBezTo>
                <a:lnTo>
                  <a:pt x="7553861" y="3748797"/>
                </a:lnTo>
                <a:cubicBezTo>
                  <a:pt x="7553861" y="3823400"/>
                  <a:pt x="7493384" y="3883878"/>
                  <a:pt x="7418780" y="3883878"/>
                </a:cubicBezTo>
                <a:lnTo>
                  <a:pt x="135081" y="3883878"/>
                </a:lnTo>
                <a:cubicBezTo>
                  <a:pt x="60478" y="3883878"/>
                  <a:pt x="0" y="3823400"/>
                  <a:pt x="0" y="3748797"/>
                </a:cubicBezTo>
                <a:lnTo>
                  <a:pt x="0" y="135081"/>
                </a:lnTo>
                <a:cubicBezTo>
                  <a:pt x="0" y="60528"/>
                  <a:pt x="60528" y="0"/>
                  <a:pt x="135081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6ED3CF">
                  <a:alpha val="5000"/>
                </a:srgbClr>
              </a:gs>
            </a:gsLst>
            <a:lin ang="2700000" scaled="1"/>
          </a:gradFill>
          <a:ln w="12700">
            <a:solidFill>
              <a:srgbClr val="6ED3C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731745" y="5234792"/>
            <a:ext cx="540366" cy="540366"/>
          </a:xfrm>
          <a:custGeom>
            <a:avLst/>
            <a:gdLst/>
            <a:ahLst/>
            <a:cxnLst/>
            <a:rect l="l" t="t" r="r" b="b"/>
            <a:pathLst>
              <a:path w="540366" h="540366">
                <a:moveTo>
                  <a:pt x="90063" y="0"/>
                </a:moveTo>
                <a:lnTo>
                  <a:pt x="450303" y="0"/>
                </a:lnTo>
                <a:cubicBezTo>
                  <a:pt x="500043" y="0"/>
                  <a:pt x="540366" y="40322"/>
                  <a:pt x="540366" y="90063"/>
                </a:cubicBezTo>
                <a:lnTo>
                  <a:pt x="540366" y="450303"/>
                </a:lnTo>
                <a:cubicBezTo>
                  <a:pt x="540366" y="500043"/>
                  <a:pt x="500043" y="540366"/>
                  <a:pt x="450303" y="540366"/>
                </a:cubicBezTo>
                <a:lnTo>
                  <a:pt x="90063" y="540366"/>
                </a:lnTo>
                <a:cubicBezTo>
                  <a:pt x="40322" y="540366"/>
                  <a:pt x="0" y="500043"/>
                  <a:pt x="0" y="450303"/>
                </a:cubicBezTo>
                <a:lnTo>
                  <a:pt x="0" y="90063"/>
                </a:lnTo>
                <a:cubicBezTo>
                  <a:pt x="0" y="40356"/>
                  <a:pt x="40356" y="0"/>
                  <a:pt x="9006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75280" y="5392399"/>
            <a:ext cx="253296" cy="225152"/>
          </a:xfrm>
          <a:custGeom>
            <a:avLst/>
            <a:gdLst/>
            <a:ahLst/>
            <a:cxnLst/>
            <a:rect l="l" t="t" r="r" b="b"/>
            <a:pathLst>
              <a:path w="253296" h="225152">
                <a:moveTo>
                  <a:pt x="21108" y="86103"/>
                </a:moveTo>
                <a:lnTo>
                  <a:pt x="113104" y="123966"/>
                </a:lnTo>
                <a:cubicBezTo>
                  <a:pt x="117413" y="125725"/>
                  <a:pt x="121987" y="126648"/>
                  <a:pt x="126648" y="126648"/>
                </a:cubicBezTo>
                <a:cubicBezTo>
                  <a:pt x="131310" y="126648"/>
                  <a:pt x="135883" y="125725"/>
                  <a:pt x="140193" y="123966"/>
                </a:cubicBezTo>
                <a:lnTo>
                  <a:pt x="246788" y="80079"/>
                </a:lnTo>
                <a:cubicBezTo>
                  <a:pt x="250746" y="78452"/>
                  <a:pt x="253296" y="74626"/>
                  <a:pt x="253296" y="70360"/>
                </a:cubicBezTo>
                <a:cubicBezTo>
                  <a:pt x="253296" y="66095"/>
                  <a:pt x="250746" y="62269"/>
                  <a:pt x="246788" y="60642"/>
                </a:cubicBezTo>
                <a:lnTo>
                  <a:pt x="140193" y="16755"/>
                </a:lnTo>
                <a:cubicBezTo>
                  <a:pt x="135883" y="14995"/>
                  <a:pt x="131310" y="14072"/>
                  <a:pt x="126648" y="14072"/>
                </a:cubicBezTo>
                <a:cubicBezTo>
                  <a:pt x="121987" y="14072"/>
                  <a:pt x="117413" y="14995"/>
                  <a:pt x="113104" y="16755"/>
                </a:cubicBezTo>
                <a:lnTo>
                  <a:pt x="6508" y="60642"/>
                </a:lnTo>
                <a:cubicBezTo>
                  <a:pt x="2551" y="62269"/>
                  <a:pt x="0" y="66095"/>
                  <a:pt x="0" y="70360"/>
                </a:cubicBezTo>
                <a:lnTo>
                  <a:pt x="0" y="200526"/>
                </a:lnTo>
                <a:cubicBezTo>
                  <a:pt x="0" y="206375"/>
                  <a:pt x="4705" y="211080"/>
                  <a:pt x="10554" y="211080"/>
                </a:cubicBezTo>
                <a:cubicBezTo>
                  <a:pt x="16403" y="211080"/>
                  <a:pt x="21108" y="206375"/>
                  <a:pt x="21108" y="200526"/>
                </a:cubicBezTo>
                <a:lnTo>
                  <a:pt x="21108" y="86103"/>
                </a:lnTo>
                <a:close/>
                <a:moveTo>
                  <a:pt x="42216" y="117633"/>
                </a:moveTo>
                <a:lnTo>
                  <a:pt x="42216" y="168864"/>
                </a:lnTo>
                <a:cubicBezTo>
                  <a:pt x="42216" y="192171"/>
                  <a:pt x="80035" y="211080"/>
                  <a:pt x="126648" y="211080"/>
                </a:cubicBezTo>
                <a:cubicBezTo>
                  <a:pt x="173262" y="211080"/>
                  <a:pt x="211080" y="192171"/>
                  <a:pt x="211080" y="168864"/>
                </a:cubicBezTo>
                <a:lnTo>
                  <a:pt x="211080" y="117589"/>
                </a:lnTo>
                <a:lnTo>
                  <a:pt x="148240" y="143491"/>
                </a:lnTo>
                <a:cubicBezTo>
                  <a:pt x="141380" y="146305"/>
                  <a:pt x="134080" y="147756"/>
                  <a:pt x="126648" y="147756"/>
                </a:cubicBezTo>
                <a:cubicBezTo>
                  <a:pt x="119216" y="147756"/>
                  <a:pt x="111917" y="146305"/>
                  <a:pt x="105056" y="143491"/>
                </a:cubicBezTo>
                <a:lnTo>
                  <a:pt x="42216" y="117589"/>
                </a:ln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407202" y="5324853"/>
            <a:ext cx="1215823" cy="360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2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学科定位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745" y="5955280"/>
            <a:ext cx="7092299" cy="585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18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人工智能是</a:t>
            </a:r>
            <a:r>
              <a:rPr lang="en-US" sz="1418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计算机科学的核心分支</a:t>
            </a:r>
            <a:r>
              <a:rPr lang="en-US" sz="1418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，与数学、逻辑学、认知科学、哲学等多个学科交叉融合。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1745" y="6720798"/>
            <a:ext cx="3433573" cy="855579"/>
          </a:xfrm>
          <a:custGeom>
            <a:avLst/>
            <a:gdLst/>
            <a:ahLst/>
            <a:cxnLst/>
            <a:rect l="l" t="t" r="r" b="b"/>
            <a:pathLst>
              <a:path w="3433573" h="855579">
                <a:moveTo>
                  <a:pt x="90058" y="0"/>
                </a:moveTo>
                <a:lnTo>
                  <a:pt x="3343515" y="0"/>
                </a:lnTo>
                <a:cubicBezTo>
                  <a:pt x="3393253" y="0"/>
                  <a:pt x="3433573" y="40320"/>
                  <a:pt x="3433573" y="90058"/>
                </a:cubicBezTo>
                <a:lnTo>
                  <a:pt x="3433573" y="765521"/>
                </a:lnTo>
                <a:cubicBezTo>
                  <a:pt x="3433573" y="815258"/>
                  <a:pt x="3393253" y="855579"/>
                  <a:pt x="3343515" y="855579"/>
                </a:cubicBezTo>
                <a:lnTo>
                  <a:pt x="90058" y="855579"/>
                </a:lnTo>
                <a:cubicBezTo>
                  <a:pt x="40320" y="855579"/>
                  <a:pt x="0" y="815258"/>
                  <a:pt x="0" y="765521"/>
                </a:cubicBezTo>
                <a:lnTo>
                  <a:pt x="0" y="90058"/>
                </a:lnTo>
                <a:cubicBezTo>
                  <a:pt x="0" y="40354"/>
                  <a:pt x="40354" y="0"/>
                  <a:pt x="9005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2278964" y="6855889"/>
            <a:ext cx="337729" cy="270183"/>
          </a:xfrm>
          <a:custGeom>
            <a:avLst/>
            <a:gdLst/>
            <a:ahLst/>
            <a:cxnLst/>
            <a:rect l="l" t="t" r="r" b="b"/>
            <a:pathLst>
              <a:path w="337729" h="270183">
                <a:moveTo>
                  <a:pt x="33773" y="50659"/>
                </a:moveTo>
                <a:cubicBezTo>
                  <a:pt x="33773" y="32031"/>
                  <a:pt x="48918" y="16886"/>
                  <a:pt x="67546" y="16886"/>
                </a:cubicBezTo>
                <a:lnTo>
                  <a:pt x="270183" y="16886"/>
                </a:lnTo>
                <a:cubicBezTo>
                  <a:pt x="288811" y="16886"/>
                  <a:pt x="303956" y="32031"/>
                  <a:pt x="303956" y="50659"/>
                </a:cubicBezTo>
                <a:lnTo>
                  <a:pt x="303956" y="177307"/>
                </a:lnTo>
                <a:lnTo>
                  <a:pt x="270183" y="177307"/>
                </a:lnTo>
                <a:lnTo>
                  <a:pt x="270183" y="50659"/>
                </a:lnTo>
                <a:lnTo>
                  <a:pt x="67546" y="50659"/>
                </a:lnTo>
                <a:lnTo>
                  <a:pt x="67546" y="177307"/>
                </a:lnTo>
                <a:lnTo>
                  <a:pt x="33773" y="177307"/>
                </a:lnTo>
                <a:lnTo>
                  <a:pt x="33773" y="50659"/>
                </a:lnTo>
                <a:close/>
                <a:moveTo>
                  <a:pt x="0" y="212769"/>
                </a:moveTo>
                <a:cubicBezTo>
                  <a:pt x="0" y="207175"/>
                  <a:pt x="4538" y="202637"/>
                  <a:pt x="10132" y="202637"/>
                </a:cubicBezTo>
                <a:lnTo>
                  <a:pt x="327597" y="202637"/>
                </a:lnTo>
                <a:cubicBezTo>
                  <a:pt x="333190" y="202637"/>
                  <a:pt x="337729" y="207175"/>
                  <a:pt x="337729" y="212769"/>
                </a:cubicBezTo>
                <a:cubicBezTo>
                  <a:pt x="337729" y="235143"/>
                  <a:pt x="319576" y="253296"/>
                  <a:pt x="297201" y="253296"/>
                </a:cubicBezTo>
                <a:lnTo>
                  <a:pt x="40527" y="253296"/>
                </a:lnTo>
                <a:cubicBezTo>
                  <a:pt x="18153" y="253296"/>
                  <a:pt x="0" y="235143"/>
                  <a:pt x="0" y="212769"/>
                </a:cubicBezTo>
                <a:close/>
                <a:moveTo>
                  <a:pt x="148284" y="110289"/>
                </a:moveTo>
                <a:lnTo>
                  <a:pt x="131925" y="126648"/>
                </a:lnTo>
                <a:lnTo>
                  <a:pt x="148284" y="143007"/>
                </a:lnTo>
                <a:cubicBezTo>
                  <a:pt x="153244" y="147967"/>
                  <a:pt x="153244" y="155988"/>
                  <a:pt x="148284" y="160896"/>
                </a:cubicBezTo>
                <a:cubicBezTo>
                  <a:pt x="143324" y="165804"/>
                  <a:pt x="135302" y="165856"/>
                  <a:pt x="130395" y="160896"/>
                </a:cubicBezTo>
                <a:lnTo>
                  <a:pt x="105065" y="135566"/>
                </a:lnTo>
                <a:cubicBezTo>
                  <a:pt x="100105" y="130606"/>
                  <a:pt x="100105" y="122585"/>
                  <a:pt x="105065" y="117677"/>
                </a:cubicBezTo>
                <a:lnTo>
                  <a:pt x="130395" y="92348"/>
                </a:lnTo>
                <a:cubicBezTo>
                  <a:pt x="135355" y="87387"/>
                  <a:pt x="143376" y="87387"/>
                  <a:pt x="148284" y="92348"/>
                </a:cubicBezTo>
                <a:cubicBezTo>
                  <a:pt x="153192" y="97308"/>
                  <a:pt x="153244" y="105329"/>
                  <a:pt x="148284" y="110237"/>
                </a:cubicBezTo>
                <a:close/>
                <a:moveTo>
                  <a:pt x="207386" y="92348"/>
                </a:moveTo>
                <a:lnTo>
                  <a:pt x="232716" y="117677"/>
                </a:lnTo>
                <a:cubicBezTo>
                  <a:pt x="237676" y="122638"/>
                  <a:pt x="237676" y="130659"/>
                  <a:pt x="232716" y="135566"/>
                </a:cubicBezTo>
                <a:lnTo>
                  <a:pt x="207386" y="160896"/>
                </a:lnTo>
                <a:cubicBezTo>
                  <a:pt x="202426" y="165856"/>
                  <a:pt x="194405" y="165856"/>
                  <a:pt x="189497" y="160896"/>
                </a:cubicBezTo>
                <a:cubicBezTo>
                  <a:pt x="184590" y="155936"/>
                  <a:pt x="184537" y="147915"/>
                  <a:pt x="189497" y="143007"/>
                </a:cubicBezTo>
                <a:lnTo>
                  <a:pt x="205856" y="126648"/>
                </a:lnTo>
                <a:lnTo>
                  <a:pt x="189497" y="110289"/>
                </a:lnTo>
                <a:cubicBezTo>
                  <a:pt x="184537" y="105329"/>
                  <a:pt x="184537" y="97308"/>
                  <a:pt x="189497" y="92400"/>
                </a:cubicBezTo>
                <a:cubicBezTo>
                  <a:pt x="194458" y="87493"/>
                  <a:pt x="202479" y="87440"/>
                  <a:pt x="207386" y="9240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27435" y="7216133"/>
            <a:ext cx="3242194" cy="22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41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计算机科学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99091" y="6720798"/>
            <a:ext cx="3433573" cy="855579"/>
          </a:xfrm>
          <a:custGeom>
            <a:avLst/>
            <a:gdLst/>
            <a:ahLst/>
            <a:cxnLst/>
            <a:rect l="l" t="t" r="r" b="b"/>
            <a:pathLst>
              <a:path w="3433573" h="855579">
                <a:moveTo>
                  <a:pt x="90058" y="0"/>
                </a:moveTo>
                <a:lnTo>
                  <a:pt x="3343515" y="0"/>
                </a:lnTo>
                <a:cubicBezTo>
                  <a:pt x="3393253" y="0"/>
                  <a:pt x="3433573" y="40320"/>
                  <a:pt x="3433573" y="90058"/>
                </a:cubicBezTo>
                <a:lnTo>
                  <a:pt x="3433573" y="765521"/>
                </a:lnTo>
                <a:cubicBezTo>
                  <a:pt x="3433573" y="815258"/>
                  <a:pt x="3393253" y="855579"/>
                  <a:pt x="3343515" y="855579"/>
                </a:cubicBezTo>
                <a:lnTo>
                  <a:pt x="90058" y="855579"/>
                </a:lnTo>
                <a:cubicBezTo>
                  <a:pt x="40320" y="855579"/>
                  <a:pt x="0" y="815258"/>
                  <a:pt x="0" y="765521"/>
                </a:cubicBezTo>
                <a:lnTo>
                  <a:pt x="0" y="90058"/>
                </a:lnTo>
                <a:cubicBezTo>
                  <a:pt x="0" y="40354"/>
                  <a:pt x="40354" y="0"/>
                  <a:pt x="9005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5880170" y="6855889"/>
            <a:ext cx="270183" cy="270183"/>
          </a:xfrm>
          <a:custGeom>
            <a:avLst/>
            <a:gdLst/>
            <a:ahLst/>
            <a:cxnLst/>
            <a:rect l="l" t="t" r="r" b="b"/>
            <a:pathLst>
              <a:path w="270183" h="270183">
                <a:moveTo>
                  <a:pt x="63324" y="29551"/>
                </a:moveTo>
                <a:cubicBezTo>
                  <a:pt x="63324" y="13245"/>
                  <a:pt x="76569" y="0"/>
                  <a:pt x="92875" y="0"/>
                </a:cubicBezTo>
                <a:lnTo>
                  <a:pt x="105540" y="0"/>
                </a:lnTo>
                <a:cubicBezTo>
                  <a:pt x="114880" y="0"/>
                  <a:pt x="122427" y="7546"/>
                  <a:pt x="122427" y="16886"/>
                </a:cubicBezTo>
                <a:lnTo>
                  <a:pt x="122427" y="253296"/>
                </a:lnTo>
                <a:cubicBezTo>
                  <a:pt x="122427" y="262637"/>
                  <a:pt x="114880" y="270183"/>
                  <a:pt x="105540" y="270183"/>
                </a:cubicBezTo>
                <a:lnTo>
                  <a:pt x="88654" y="270183"/>
                </a:lnTo>
                <a:cubicBezTo>
                  <a:pt x="72928" y="270183"/>
                  <a:pt x="59683" y="259418"/>
                  <a:pt x="55936" y="244853"/>
                </a:cubicBezTo>
                <a:cubicBezTo>
                  <a:pt x="55567" y="244853"/>
                  <a:pt x="55250" y="244853"/>
                  <a:pt x="54881" y="244853"/>
                </a:cubicBezTo>
                <a:cubicBezTo>
                  <a:pt x="31557" y="244853"/>
                  <a:pt x="12665" y="225961"/>
                  <a:pt x="12665" y="202637"/>
                </a:cubicBezTo>
                <a:cubicBezTo>
                  <a:pt x="12665" y="193139"/>
                  <a:pt x="15831" y="184379"/>
                  <a:pt x="21108" y="177307"/>
                </a:cubicBezTo>
                <a:cubicBezTo>
                  <a:pt x="10871" y="169603"/>
                  <a:pt x="4222" y="157360"/>
                  <a:pt x="4222" y="143535"/>
                </a:cubicBezTo>
                <a:cubicBezTo>
                  <a:pt x="4222" y="127229"/>
                  <a:pt x="13509" y="113034"/>
                  <a:pt x="27018" y="106015"/>
                </a:cubicBezTo>
                <a:cubicBezTo>
                  <a:pt x="23272" y="99683"/>
                  <a:pt x="21108" y="92295"/>
                  <a:pt x="21108" y="84432"/>
                </a:cubicBezTo>
                <a:cubicBezTo>
                  <a:pt x="21108" y="61108"/>
                  <a:pt x="40000" y="42216"/>
                  <a:pt x="63324" y="42216"/>
                </a:cubicBezTo>
                <a:lnTo>
                  <a:pt x="63324" y="29551"/>
                </a:lnTo>
                <a:close/>
                <a:moveTo>
                  <a:pt x="206859" y="29551"/>
                </a:moveTo>
                <a:lnTo>
                  <a:pt x="206859" y="42216"/>
                </a:lnTo>
                <a:cubicBezTo>
                  <a:pt x="230183" y="42216"/>
                  <a:pt x="249075" y="61108"/>
                  <a:pt x="249075" y="84432"/>
                </a:cubicBezTo>
                <a:cubicBezTo>
                  <a:pt x="249075" y="92348"/>
                  <a:pt x="246911" y="99735"/>
                  <a:pt x="243165" y="106015"/>
                </a:cubicBezTo>
                <a:cubicBezTo>
                  <a:pt x="256726" y="113034"/>
                  <a:pt x="265961" y="127176"/>
                  <a:pt x="265961" y="143535"/>
                </a:cubicBezTo>
                <a:cubicBezTo>
                  <a:pt x="265961" y="157360"/>
                  <a:pt x="259312" y="169603"/>
                  <a:pt x="249075" y="177307"/>
                </a:cubicBezTo>
                <a:cubicBezTo>
                  <a:pt x="254352" y="184379"/>
                  <a:pt x="257518" y="193139"/>
                  <a:pt x="257518" y="202637"/>
                </a:cubicBezTo>
                <a:cubicBezTo>
                  <a:pt x="257518" y="225961"/>
                  <a:pt x="238626" y="244853"/>
                  <a:pt x="215302" y="244853"/>
                </a:cubicBezTo>
                <a:cubicBezTo>
                  <a:pt x="214933" y="244853"/>
                  <a:pt x="214616" y="244853"/>
                  <a:pt x="214247" y="244853"/>
                </a:cubicBezTo>
                <a:cubicBezTo>
                  <a:pt x="210500" y="259418"/>
                  <a:pt x="197255" y="270183"/>
                  <a:pt x="181529" y="270183"/>
                </a:cubicBezTo>
                <a:lnTo>
                  <a:pt x="164643" y="270183"/>
                </a:lnTo>
                <a:cubicBezTo>
                  <a:pt x="155302" y="270183"/>
                  <a:pt x="147756" y="262637"/>
                  <a:pt x="147756" y="253296"/>
                </a:cubicBezTo>
                <a:lnTo>
                  <a:pt x="147756" y="16886"/>
                </a:lnTo>
                <a:cubicBezTo>
                  <a:pt x="147756" y="7546"/>
                  <a:pt x="155302" y="0"/>
                  <a:pt x="164643" y="0"/>
                </a:cubicBezTo>
                <a:lnTo>
                  <a:pt x="177307" y="0"/>
                </a:lnTo>
                <a:cubicBezTo>
                  <a:pt x="193613" y="0"/>
                  <a:pt x="206859" y="13245"/>
                  <a:pt x="206859" y="29551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394780" y="7216133"/>
            <a:ext cx="3242194" cy="22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41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认知科学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31745" y="7711468"/>
            <a:ext cx="3433573" cy="855579"/>
          </a:xfrm>
          <a:custGeom>
            <a:avLst/>
            <a:gdLst/>
            <a:ahLst/>
            <a:cxnLst/>
            <a:rect l="l" t="t" r="r" b="b"/>
            <a:pathLst>
              <a:path w="3433573" h="855579">
                <a:moveTo>
                  <a:pt x="90058" y="0"/>
                </a:moveTo>
                <a:lnTo>
                  <a:pt x="3343515" y="0"/>
                </a:lnTo>
                <a:cubicBezTo>
                  <a:pt x="3393253" y="0"/>
                  <a:pt x="3433573" y="40320"/>
                  <a:pt x="3433573" y="90058"/>
                </a:cubicBezTo>
                <a:lnTo>
                  <a:pt x="3433573" y="765521"/>
                </a:lnTo>
                <a:cubicBezTo>
                  <a:pt x="3433573" y="815258"/>
                  <a:pt x="3393253" y="855579"/>
                  <a:pt x="3343515" y="855579"/>
                </a:cubicBezTo>
                <a:lnTo>
                  <a:pt x="90058" y="855579"/>
                </a:lnTo>
                <a:cubicBezTo>
                  <a:pt x="40320" y="855579"/>
                  <a:pt x="0" y="815258"/>
                  <a:pt x="0" y="765521"/>
                </a:cubicBezTo>
                <a:lnTo>
                  <a:pt x="0" y="90058"/>
                </a:lnTo>
                <a:cubicBezTo>
                  <a:pt x="0" y="40354"/>
                  <a:pt x="40354" y="0"/>
                  <a:pt x="9005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2295850" y="7846560"/>
            <a:ext cx="303956" cy="270183"/>
          </a:xfrm>
          <a:custGeom>
            <a:avLst/>
            <a:gdLst/>
            <a:ahLst/>
            <a:cxnLst/>
            <a:rect l="l" t="t" r="r" b="b"/>
            <a:pathLst>
              <a:path w="303956" h="270183">
                <a:moveTo>
                  <a:pt x="149128" y="41213"/>
                </a:moveTo>
                <a:cubicBezTo>
                  <a:pt x="153350" y="26807"/>
                  <a:pt x="166542" y="16886"/>
                  <a:pt x="181529" y="16886"/>
                </a:cubicBezTo>
                <a:lnTo>
                  <a:pt x="287069" y="16886"/>
                </a:lnTo>
                <a:cubicBezTo>
                  <a:pt x="296410" y="16886"/>
                  <a:pt x="303956" y="24433"/>
                  <a:pt x="303956" y="33773"/>
                </a:cubicBezTo>
                <a:cubicBezTo>
                  <a:pt x="303956" y="43113"/>
                  <a:pt x="296410" y="50659"/>
                  <a:pt x="287069" y="50659"/>
                </a:cubicBezTo>
                <a:lnTo>
                  <a:pt x="181529" y="50659"/>
                </a:lnTo>
                <a:lnTo>
                  <a:pt x="125962" y="241159"/>
                </a:lnTo>
                <a:cubicBezTo>
                  <a:pt x="124062" y="247650"/>
                  <a:pt x="118522" y="252347"/>
                  <a:pt x="111820" y="253191"/>
                </a:cubicBezTo>
                <a:cubicBezTo>
                  <a:pt x="105118" y="254035"/>
                  <a:pt x="98575" y="250763"/>
                  <a:pt x="95197" y="244959"/>
                </a:cubicBezTo>
                <a:lnTo>
                  <a:pt x="40950" y="151978"/>
                </a:lnTo>
                <a:lnTo>
                  <a:pt x="16886" y="151978"/>
                </a:lnTo>
                <a:cubicBezTo>
                  <a:pt x="7546" y="151978"/>
                  <a:pt x="0" y="144432"/>
                  <a:pt x="0" y="135091"/>
                </a:cubicBezTo>
                <a:cubicBezTo>
                  <a:pt x="0" y="125751"/>
                  <a:pt x="7546" y="118205"/>
                  <a:pt x="16886" y="118205"/>
                </a:cubicBezTo>
                <a:lnTo>
                  <a:pt x="40950" y="118205"/>
                </a:lnTo>
                <a:cubicBezTo>
                  <a:pt x="52981" y="118205"/>
                  <a:pt x="64063" y="124590"/>
                  <a:pt x="70131" y="134986"/>
                </a:cubicBezTo>
                <a:lnTo>
                  <a:pt x="104538" y="193983"/>
                </a:lnTo>
                <a:lnTo>
                  <a:pt x="149075" y="41213"/>
                </a:lnTo>
                <a:close/>
                <a:moveTo>
                  <a:pt x="207598" y="123165"/>
                </a:moveTo>
                <a:cubicBezTo>
                  <a:pt x="214194" y="116569"/>
                  <a:pt x="224906" y="116569"/>
                  <a:pt x="231502" y="123165"/>
                </a:cubicBezTo>
                <a:lnTo>
                  <a:pt x="253349" y="145012"/>
                </a:lnTo>
                <a:lnTo>
                  <a:pt x="275196" y="123165"/>
                </a:lnTo>
                <a:cubicBezTo>
                  <a:pt x="281792" y="116569"/>
                  <a:pt x="292505" y="116569"/>
                  <a:pt x="299101" y="123165"/>
                </a:cubicBezTo>
                <a:cubicBezTo>
                  <a:pt x="305697" y="129762"/>
                  <a:pt x="305697" y="140474"/>
                  <a:pt x="299101" y="147070"/>
                </a:cubicBezTo>
                <a:lnTo>
                  <a:pt x="277254" y="168917"/>
                </a:lnTo>
                <a:lnTo>
                  <a:pt x="299101" y="190764"/>
                </a:lnTo>
                <a:cubicBezTo>
                  <a:pt x="305697" y="197360"/>
                  <a:pt x="305697" y="208072"/>
                  <a:pt x="299101" y="214669"/>
                </a:cubicBezTo>
                <a:cubicBezTo>
                  <a:pt x="292505" y="221265"/>
                  <a:pt x="281792" y="221265"/>
                  <a:pt x="275196" y="214669"/>
                </a:cubicBezTo>
                <a:lnTo>
                  <a:pt x="253349" y="192822"/>
                </a:lnTo>
                <a:lnTo>
                  <a:pt x="231502" y="214669"/>
                </a:lnTo>
                <a:cubicBezTo>
                  <a:pt x="224906" y="221265"/>
                  <a:pt x="214194" y="221265"/>
                  <a:pt x="207598" y="214669"/>
                </a:cubicBezTo>
                <a:cubicBezTo>
                  <a:pt x="201001" y="208072"/>
                  <a:pt x="201001" y="197360"/>
                  <a:pt x="207598" y="190764"/>
                </a:cubicBezTo>
                <a:lnTo>
                  <a:pt x="229444" y="168917"/>
                </a:lnTo>
                <a:lnTo>
                  <a:pt x="207598" y="147070"/>
                </a:lnTo>
                <a:cubicBezTo>
                  <a:pt x="201001" y="140474"/>
                  <a:pt x="201001" y="129762"/>
                  <a:pt x="207598" y="123165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27435" y="8206803"/>
            <a:ext cx="3242194" cy="22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41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数学逻辑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299091" y="7711468"/>
            <a:ext cx="3433573" cy="855579"/>
          </a:xfrm>
          <a:custGeom>
            <a:avLst/>
            <a:gdLst/>
            <a:ahLst/>
            <a:cxnLst/>
            <a:rect l="l" t="t" r="r" b="b"/>
            <a:pathLst>
              <a:path w="3433573" h="855579">
                <a:moveTo>
                  <a:pt x="90058" y="0"/>
                </a:moveTo>
                <a:lnTo>
                  <a:pt x="3343515" y="0"/>
                </a:lnTo>
                <a:cubicBezTo>
                  <a:pt x="3393253" y="0"/>
                  <a:pt x="3433573" y="40320"/>
                  <a:pt x="3433573" y="90058"/>
                </a:cubicBezTo>
                <a:lnTo>
                  <a:pt x="3433573" y="765521"/>
                </a:lnTo>
                <a:cubicBezTo>
                  <a:pt x="3433573" y="815258"/>
                  <a:pt x="3393253" y="855579"/>
                  <a:pt x="3343515" y="855579"/>
                </a:cubicBezTo>
                <a:lnTo>
                  <a:pt x="90058" y="855579"/>
                </a:lnTo>
                <a:cubicBezTo>
                  <a:pt x="40320" y="855579"/>
                  <a:pt x="0" y="815258"/>
                  <a:pt x="0" y="765521"/>
                </a:cubicBezTo>
                <a:lnTo>
                  <a:pt x="0" y="90058"/>
                </a:lnTo>
                <a:cubicBezTo>
                  <a:pt x="0" y="40354"/>
                  <a:pt x="40354" y="0"/>
                  <a:pt x="9005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5846398" y="7846560"/>
            <a:ext cx="337729" cy="270183"/>
          </a:xfrm>
          <a:custGeom>
            <a:avLst/>
            <a:gdLst/>
            <a:ahLst/>
            <a:cxnLst/>
            <a:rect l="l" t="t" r="r" b="b"/>
            <a:pathLst>
              <a:path w="337729" h="270183">
                <a:moveTo>
                  <a:pt x="185751" y="0"/>
                </a:moveTo>
                <a:cubicBezTo>
                  <a:pt x="185751" y="-9340"/>
                  <a:pt x="178205" y="-16886"/>
                  <a:pt x="168864" y="-16886"/>
                </a:cubicBezTo>
                <a:cubicBezTo>
                  <a:pt x="159524" y="-16886"/>
                  <a:pt x="151978" y="-9340"/>
                  <a:pt x="151978" y="0"/>
                </a:cubicBezTo>
                <a:lnTo>
                  <a:pt x="151978" y="33773"/>
                </a:lnTo>
                <a:lnTo>
                  <a:pt x="101319" y="33773"/>
                </a:lnTo>
                <a:cubicBezTo>
                  <a:pt x="73350" y="33773"/>
                  <a:pt x="50659" y="56464"/>
                  <a:pt x="50659" y="84432"/>
                </a:cubicBezTo>
                <a:lnTo>
                  <a:pt x="50659" y="202637"/>
                </a:lnTo>
                <a:cubicBezTo>
                  <a:pt x="50659" y="230605"/>
                  <a:pt x="73350" y="253296"/>
                  <a:pt x="101319" y="253296"/>
                </a:cubicBezTo>
                <a:lnTo>
                  <a:pt x="236410" y="253296"/>
                </a:lnTo>
                <a:cubicBezTo>
                  <a:pt x="264378" y="253296"/>
                  <a:pt x="287069" y="230605"/>
                  <a:pt x="287069" y="202637"/>
                </a:cubicBezTo>
                <a:lnTo>
                  <a:pt x="287069" y="84432"/>
                </a:lnTo>
                <a:cubicBezTo>
                  <a:pt x="287069" y="56464"/>
                  <a:pt x="264378" y="33773"/>
                  <a:pt x="236410" y="33773"/>
                </a:cubicBezTo>
                <a:lnTo>
                  <a:pt x="185751" y="33773"/>
                </a:lnTo>
                <a:lnTo>
                  <a:pt x="185751" y="0"/>
                </a:lnTo>
                <a:close/>
                <a:moveTo>
                  <a:pt x="84432" y="194194"/>
                </a:moveTo>
                <a:cubicBezTo>
                  <a:pt x="84432" y="187175"/>
                  <a:pt x="90079" y="181529"/>
                  <a:pt x="97097" y="181529"/>
                </a:cubicBezTo>
                <a:lnTo>
                  <a:pt x="113983" y="181529"/>
                </a:lnTo>
                <a:cubicBezTo>
                  <a:pt x="121002" y="181529"/>
                  <a:pt x="126648" y="187175"/>
                  <a:pt x="126648" y="194194"/>
                </a:cubicBezTo>
                <a:cubicBezTo>
                  <a:pt x="126648" y="201212"/>
                  <a:pt x="121002" y="206859"/>
                  <a:pt x="113983" y="206859"/>
                </a:cubicBezTo>
                <a:lnTo>
                  <a:pt x="97097" y="206859"/>
                </a:lnTo>
                <a:cubicBezTo>
                  <a:pt x="90079" y="206859"/>
                  <a:pt x="84432" y="201212"/>
                  <a:pt x="84432" y="194194"/>
                </a:cubicBezTo>
                <a:close/>
                <a:moveTo>
                  <a:pt x="147756" y="194194"/>
                </a:moveTo>
                <a:cubicBezTo>
                  <a:pt x="147756" y="187175"/>
                  <a:pt x="153403" y="181529"/>
                  <a:pt x="160421" y="181529"/>
                </a:cubicBezTo>
                <a:lnTo>
                  <a:pt x="177307" y="181529"/>
                </a:lnTo>
                <a:cubicBezTo>
                  <a:pt x="184326" y="181529"/>
                  <a:pt x="189972" y="187175"/>
                  <a:pt x="189972" y="194194"/>
                </a:cubicBezTo>
                <a:cubicBezTo>
                  <a:pt x="189972" y="201212"/>
                  <a:pt x="184326" y="206859"/>
                  <a:pt x="177307" y="206859"/>
                </a:cubicBezTo>
                <a:lnTo>
                  <a:pt x="160421" y="206859"/>
                </a:lnTo>
                <a:cubicBezTo>
                  <a:pt x="153403" y="206859"/>
                  <a:pt x="147756" y="201212"/>
                  <a:pt x="147756" y="194194"/>
                </a:cubicBezTo>
                <a:close/>
                <a:moveTo>
                  <a:pt x="211080" y="194194"/>
                </a:moveTo>
                <a:cubicBezTo>
                  <a:pt x="211080" y="187175"/>
                  <a:pt x="216727" y="181529"/>
                  <a:pt x="223745" y="181529"/>
                </a:cubicBezTo>
                <a:lnTo>
                  <a:pt x="240632" y="181529"/>
                </a:lnTo>
                <a:cubicBezTo>
                  <a:pt x="247650" y="181529"/>
                  <a:pt x="253296" y="187175"/>
                  <a:pt x="253296" y="194194"/>
                </a:cubicBezTo>
                <a:cubicBezTo>
                  <a:pt x="253296" y="201212"/>
                  <a:pt x="247650" y="206859"/>
                  <a:pt x="240632" y="206859"/>
                </a:cubicBezTo>
                <a:lnTo>
                  <a:pt x="223745" y="206859"/>
                </a:lnTo>
                <a:cubicBezTo>
                  <a:pt x="216727" y="206859"/>
                  <a:pt x="211080" y="201212"/>
                  <a:pt x="211080" y="194194"/>
                </a:cubicBezTo>
                <a:close/>
                <a:moveTo>
                  <a:pt x="118205" y="92875"/>
                </a:moveTo>
                <a:cubicBezTo>
                  <a:pt x="132185" y="92875"/>
                  <a:pt x="143535" y="104225"/>
                  <a:pt x="143535" y="118205"/>
                </a:cubicBezTo>
                <a:cubicBezTo>
                  <a:pt x="143535" y="132185"/>
                  <a:pt x="132185" y="143535"/>
                  <a:pt x="118205" y="143535"/>
                </a:cubicBezTo>
                <a:cubicBezTo>
                  <a:pt x="104225" y="143535"/>
                  <a:pt x="92875" y="132185"/>
                  <a:pt x="92875" y="118205"/>
                </a:cubicBezTo>
                <a:cubicBezTo>
                  <a:pt x="92875" y="104225"/>
                  <a:pt x="104225" y="92875"/>
                  <a:pt x="118205" y="92875"/>
                </a:cubicBezTo>
                <a:close/>
                <a:moveTo>
                  <a:pt x="194194" y="118205"/>
                </a:moveTo>
                <a:cubicBezTo>
                  <a:pt x="194194" y="104225"/>
                  <a:pt x="205544" y="92875"/>
                  <a:pt x="219524" y="92875"/>
                </a:cubicBezTo>
                <a:cubicBezTo>
                  <a:pt x="233503" y="92875"/>
                  <a:pt x="244853" y="104225"/>
                  <a:pt x="244853" y="118205"/>
                </a:cubicBezTo>
                <a:cubicBezTo>
                  <a:pt x="244853" y="132185"/>
                  <a:pt x="233503" y="143535"/>
                  <a:pt x="219524" y="143535"/>
                </a:cubicBezTo>
                <a:cubicBezTo>
                  <a:pt x="205544" y="143535"/>
                  <a:pt x="194194" y="132185"/>
                  <a:pt x="194194" y="118205"/>
                </a:cubicBezTo>
                <a:close/>
                <a:moveTo>
                  <a:pt x="33773" y="118205"/>
                </a:moveTo>
                <a:cubicBezTo>
                  <a:pt x="33773" y="108865"/>
                  <a:pt x="26227" y="101319"/>
                  <a:pt x="16886" y="101319"/>
                </a:cubicBezTo>
                <a:cubicBezTo>
                  <a:pt x="7546" y="101319"/>
                  <a:pt x="0" y="108865"/>
                  <a:pt x="0" y="118205"/>
                </a:cubicBezTo>
                <a:lnTo>
                  <a:pt x="0" y="168864"/>
                </a:lnTo>
                <a:cubicBezTo>
                  <a:pt x="0" y="178205"/>
                  <a:pt x="7546" y="185751"/>
                  <a:pt x="16886" y="185751"/>
                </a:cubicBezTo>
                <a:cubicBezTo>
                  <a:pt x="26227" y="185751"/>
                  <a:pt x="33773" y="178205"/>
                  <a:pt x="33773" y="168864"/>
                </a:cubicBezTo>
                <a:lnTo>
                  <a:pt x="33773" y="118205"/>
                </a:lnTo>
                <a:close/>
                <a:moveTo>
                  <a:pt x="320842" y="101319"/>
                </a:moveTo>
                <a:cubicBezTo>
                  <a:pt x="311502" y="101319"/>
                  <a:pt x="303956" y="108865"/>
                  <a:pt x="303956" y="118205"/>
                </a:cubicBezTo>
                <a:lnTo>
                  <a:pt x="303956" y="168864"/>
                </a:lnTo>
                <a:cubicBezTo>
                  <a:pt x="303956" y="178205"/>
                  <a:pt x="311502" y="185751"/>
                  <a:pt x="320842" y="185751"/>
                </a:cubicBezTo>
                <a:cubicBezTo>
                  <a:pt x="330182" y="185751"/>
                  <a:pt x="337729" y="178205"/>
                  <a:pt x="337729" y="168864"/>
                </a:cubicBezTo>
                <a:lnTo>
                  <a:pt x="337729" y="118205"/>
                </a:lnTo>
                <a:cubicBezTo>
                  <a:pt x="337729" y="108865"/>
                  <a:pt x="330182" y="101319"/>
                  <a:pt x="320842" y="101319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4394780" y="8206803"/>
            <a:ext cx="3242194" cy="22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41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自动化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43654" y="1964454"/>
            <a:ext cx="7553861" cy="6878405"/>
          </a:xfrm>
          <a:custGeom>
            <a:avLst/>
            <a:gdLst/>
            <a:ahLst/>
            <a:cxnLst/>
            <a:rect l="l" t="t" r="r" b="b"/>
            <a:pathLst>
              <a:path w="7553861" h="7553861">
                <a:moveTo>
                  <a:pt x="135063" y="0"/>
                </a:moveTo>
                <a:lnTo>
                  <a:pt x="7418798" y="0"/>
                </a:lnTo>
                <a:cubicBezTo>
                  <a:pt x="7493342" y="0"/>
                  <a:pt x="7553861" y="60520"/>
                  <a:pt x="7553861" y="135063"/>
                </a:cubicBezTo>
                <a:lnTo>
                  <a:pt x="7553861" y="7418798"/>
                </a:lnTo>
                <a:cubicBezTo>
                  <a:pt x="7553861" y="7493392"/>
                  <a:pt x="7493392" y="7553861"/>
                  <a:pt x="7418798" y="7553861"/>
                </a:cubicBezTo>
                <a:lnTo>
                  <a:pt x="135063" y="7553861"/>
                </a:lnTo>
                <a:cubicBezTo>
                  <a:pt x="60520" y="7553861"/>
                  <a:pt x="0" y="7493342"/>
                  <a:pt x="0" y="7418798"/>
                </a:cubicBezTo>
                <a:lnTo>
                  <a:pt x="0" y="135063"/>
                </a:lnTo>
                <a:cubicBezTo>
                  <a:pt x="0" y="60470"/>
                  <a:pt x="60470" y="0"/>
                  <a:pt x="135063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6ED3CF">
                  <a:alpha val="5000"/>
                </a:srgbClr>
              </a:gs>
            </a:gsLst>
            <a:lin ang="2700000" scaled="1"/>
          </a:gradFill>
          <a:ln w="12700">
            <a:solidFill>
              <a:srgbClr val="6ED3C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519466" y="2240266"/>
            <a:ext cx="540366" cy="540366"/>
          </a:xfrm>
          <a:custGeom>
            <a:avLst/>
            <a:gdLst/>
            <a:ahLst/>
            <a:cxnLst/>
            <a:rect l="l" t="t" r="r" b="b"/>
            <a:pathLst>
              <a:path w="540366" h="540366">
                <a:moveTo>
                  <a:pt x="90063" y="0"/>
                </a:moveTo>
                <a:lnTo>
                  <a:pt x="450303" y="0"/>
                </a:lnTo>
                <a:cubicBezTo>
                  <a:pt x="500043" y="0"/>
                  <a:pt x="540366" y="40322"/>
                  <a:pt x="540366" y="90063"/>
                </a:cubicBezTo>
                <a:lnTo>
                  <a:pt x="540366" y="450303"/>
                </a:lnTo>
                <a:cubicBezTo>
                  <a:pt x="540366" y="500043"/>
                  <a:pt x="500043" y="540366"/>
                  <a:pt x="450303" y="540366"/>
                </a:cubicBezTo>
                <a:lnTo>
                  <a:pt x="90063" y="540366"/>
                </a:lnTo>
                <a:cubicBezTo>
                  <a:pt x="40322" y="540366"/>
                  <a:pt x="0" y="500043"/>
                  <a:pt x="0" y="450303"/>
                </a:cubicBezTo>
                <a:lnTo>
                  <a:pt x="0" y="90063"/>
                </a:lnTo>
                <a:cubicBezTo>
                  <a:pt x="0" y="40356"/>
                  <a:pt x="40356" y="0"/>
                  <a:pt x="9006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691145" y="2397873"/>
            <a:ext cx="197008" cy="225152"/>
          </a:xfrm>
          <a:custGeom>
            <a:avLst/>
            <a:gdLst/>
            <a:ahLst/>
            <a:cxnLst/>
            <a:rect l="l" t="t" r="r" b="b"/>
            <a:pathLst>
              <a:path w="197008" h="225152">
                <a:moveTo>
                  <a:pt x="168864" y="225152"/>
                </a:moveTo>
                <a:lnTo>
                  <a:pt x="42216" y="225152"/>
                </a:lnTo>
                <a:cubicBezTo>
                  <a:pt x="18909" y="225152"/>
                  <a:pt x="0" y="206243"/>
                  <a:pt x="0" y="182936"/>
                </a:cubicBezTo>
                <a:lnTo>
                  <a:pt x="0" y="42216"/>
                </a:lnTo>
                <a:cubicBezTo>
                  <a:pt x="0" y="18909"/>
                  <a:pt x="18909" y="0"/>
                  <a:pt x="42216" y="0"/>
                </a:cubicBezTo>
                <a:lnTo>
                  <a:pt x="175900" y="0"/>
                </a:lnTo>
                <a:cubicBezTo>
                  <a:pt x="187554" y="0"/>
                  <a:pt x="197008" y="9455"/>
                  <a:pt x="197008" y="21108"/>
                </a:cubicBezTo>
                <a:lnTo>
                  <a:pt x="197008" y="147756"/>
                </a:lnTo>
                <a:cubicBezTo>
                  <a:pt x="197008" y="156947"/>
                  <a:pt x="191116" y="164775"/>
                  <a:pt x="182936" y="167677"/>
                </a:cubicBezTo>
                <a:lnTo>
                  <a:pt x="182936" y="197008"/>
                </a:lnTo>
                <a:cubicBezTo>
                  <a:pt x="190720" y="197008"/>
                  <a:pt x="197008" y="203297"/>
                  <a:pt x="197008" y="211080"/>
                </a:cubicBezTo>
                <a:cubicBezTo>
                  <a:pt x="197008" y="218864"/>
                  <a:pt x="190720" y="225152"/>
                  <a:pt x="182936" y="225152"/>
                </a:cubicBezTo>
                <a:lnTo>
                  <a:pt x="168864" y="225152"/>
                </a:lnTo>
                <a:close/>
                <a:moveTo>
                  <a:pt x="42216" y="168864"/>
                </a:moveTo>
                <a:cubicBezTo>
                  <a:pt x="34432" y="168864"/>
                  <a:pt x="28144" y="175153"/>
                  <a:pt x="28144" y="182936"/>
                </a:cubicBezTo>
                <a:cubicBezTo>
                  <a:pt x="28144" y="190720"/>
                  <a:pt x="34432" y="197008"/>
                  <a:pt x="42216" y="197008"/>
                </a:cubicBezTo>
                <a:lnTo>
                  <a:pt x="154792" y="197008"/>
                </a:lnTo>
                <a:lnTo>
                  <a:pt x="154792" y="168864"/>
                </a:lnTo>
                <a:lnTo>
                  <a:pt x="42216" y="168864"/>
                </a:lnTo>
                <a:close/>
                <a:moveTo>
                  <a:pt x="56288" y="66842"/>
                </a:moveTo>
                <a:cubicBezTo>
                  <a:pt x="56288" y="72691"/>
                  <a:pt x="60993" y="77396"/>
                  <a:pt x="66842" y="77396"/>
                </a:cubicBezTo>
                <a:lnTo>
                  <a:pt x="144238" y="77396"/>
                </a:lnTo>
                <a:cubicBezTo>
                  <a:pt x="150087" y="77396"/>
                  <a:pt x="154792" y="72691"/>
                  <a:pt x="154792" y="66842"/>
                </a:cubicBezTo>
                <a:cubicBezTo>
                  <a:pt x="154792" y="60993"/>
                  <a:pt x="150087" y="56288"/>
                  <a:pt x="144238" y="56288"/>
                </a:cubicBezTo>
                <a:lnTo>
                  <a:pt x="66842" y="56288"/>
                </a:lnTo>
                <a:cubicBezTo>
                  <a:pt x="60993" y="56288"/>
                  <a:pt x="56288" y="60993"/>
                  <a:pt x="56288" y="66842"/>
                </a:cubicBezTo>
                <a:close/>
                <a:moveTo>
                  <a:pt x="66842" y="98504"/>
                </a:moveTo>
                <a:cubicBezTo>
                  <a:pt x="60993" y="98504"/>
                  <a:pt x="56288" y="103209"/>
                  <a:pt x="56288" y="109058"/>
                </a:cubicBezTo>
                <a:cubicBezTo>
                  <a:pt x="56288" y="114907"/>
                  <a:pt x="60993" y="119612"/>
                  <a:pt x="66842" y="119612"/>
                </a:cubicBezTo>
                <a:lnTo>
                  <a:pt x="144238" y="119612"/>
                </a:lnTo>
                <a:cubicBezTo>
                  <a:pt x="150087" y="119612"/>
                  <a:pt x="154792" y="114907"/>
                  <a:pt x="154792" y="109058"/>
                </a:cubicBezTo>
                <a:cubicBezTo>
                  <a:pt x="154792" y="103209"/>
                  <a:pt x="150087" y="98504"/>
                  <a:pt x="144238" y="98504"/>
                </a:cubicBezTo>
                <a:lnTo>
                  <a:pt x="66842" y="98504"/>
                </a:ln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9194923" y="2330327"/>
            <a:ext cx="3906393" cy="360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2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机器学习定义（</a:t>
            </a:r>
            <a:r>
              <a:rPr lang="en-US" sz="212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Tom Mitchell</a:t>
            </a:r>
            <a:r>
              <a:rPr lang="en-US" sz="212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）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519466" y="2960753"/>
            <a:ext cx="7092299" cy="292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18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来自卡内基梅隆大学</a:t>
            </a:r>
            <a:r>
              <a:rPr lang="en-US" sz="1418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Tom Mitchell</a:t>
            </a:r>
            <a:r>
              <a:rPr lang="en-US" sz="1418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教授在《机器学习》经典教材中的正式定义：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541981" y="3433573"/>
            <a:ext cx="6979723" cy="1035701"/>
          </a:xfrm>
          <a:custGeom>
            <a:avLst/>
            <a:gdLst/>
            <a:ahLst/>
            <a:cxnLst/>
            <a:rect l="l" t="t" r="r" b="b"/>
            <a:pathLst>
              <a:path w="6979723" h="1035701">
                <a:moveTo>
                  <a:pt x="45030" y="0"/>
                </a:moveTo>
                <a:lnTo>
                  <a:pt x="6889658" y="0"/>
                </a:lnTo>
                <a:cubicBezTo>
                  <a:pt x="6939400" y="0"/>
                  <a:pt x="6979723" y="40323"/>
                  <a:pt x="6979723" y="90065"/>
                </a:cubicBezTo>
                <a:lnTo>
                  <a:pt x="6979723" y="945636"/>
                </a:lnTo>
                <a:cubicBezTo>
                  <a:pt x="6979723" y="995378"/>
                  <a:pt x="6939400" y="1035701"/>
                  <a:pt x="6889658" y="1035701"/>
                </a:cubicBezTo>
                <a:lnTo>
                  <a:pt x="45030" y="1035701"/>
                </a:lnTo>
                <a:cubicBezTo>
                  <a:pt x="20161" y="1035701"/>
                  <a:pt x="0" y="1015540"/>
                  <a:pt x="0" y="990670"/>
                </a:cubicBezTo>
                <a:lnTo>
                  <a:pt x="0" y="45030"/>
                </a:lnTo>
                <a:cubicBezTo>
                  <a:pt x="0" y="20177"/>
                  <a:pt x="20177" y="0"/>
                  <a:pt x="4503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8541981" y="3433573"/>
            <a:ext cx="45030" cy="1035701"/>
          </a:xfrm>
          <a:custGeom>
            <a:avLst/>
            <a:gdLst/>
            <a:ahLst/>
            <a:cxnLst/>
            <a:rect l="l" t="t" r="r" b="b"/>
            <a:pathLst>
              <a:path w="45030" h="1035701">
                <a:moveTo>
                  <a:pt x="45030" y="0"/>
                </a:moveTo>
                <a:lnTo>
                  <a:pt x="45030" y="0"/>
                </a:lnTo>
                <a:lnTo>
                  <a:pt x="45030" y="1035701"/>
                </a:lnTo>
                <a:lnTo>
                  <a:pt x="45030" y="1035701"/>
                </a:lnTo>
                <a:cubicBezTo>
                  <a:pt x="20161" y="1035701"/>
                  <a:pt x="0" y="1015540"/>
                  <a:pt x="0" y="990670"/>
                </a:cubicBezTo>
                <a:lnTo>
                  <a:pt x="0" y="45030"/>
                </a:lnTo>
                <a:cubicBezTo>
                  <a:pt x="0" y="20177"/>
                  <a:pt x="20177" y="0"/>
                  <a:pt x="4503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789649" y="3658726"/>
            <a:ext cx="6596964" cy="585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18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假设用</a:t>
            </a:r>
            <a:r>
              <a:rPr lang="en-US" sz="1418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P</a:t>
            </a:r>
            <a:r>
              <a:rPr lang="en-US" sz="1418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来评估计算机程序在某任务类</a:t>
            </a:r>
            <a:r>
              <a:rPr lang="en-US" sz="1418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T</a:t>
            </a:r>
            <a:r>
              <a:rPr lang="en-US" sz="1418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上的性能，若一个程序通过利用经验</a:t>
            </a:r>
            <a:r>
              <a:rPr lang="en-US" sz="1418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E</a:t>
            </a:r>
            <a:r>
              <a:rPr lang="en-US" sz="1418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在T中任务上获得了性能改善，则我们就说关于T和P，该程序对E进行了</a:t>
            </a:r>
            <a:r>
              <a:rPr lang="en-US" sz="1418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学习</a:t>
            </a:r>
            <a:r>
              <a:rPr lang="en-US" sz="1418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519466" y="4649396"/>
            <a:ext cx="2240266" cy="1260853"/>
          </a:xfrm>
          <a:custGeom>
            <a:avLst/>
            <a:gdLst/>
            <a:ahLst/>
            <a:cxnLst/>
            <a:rect l="l" t="t" r="r" b="b"/>
            <a:pathLst>
              <a:path w="2240266" h="1260853">
                <a:moveTo>
                  <a:pt x="90063" y="0"/>
                </a:moveTo>
                <a:lnTo>
                  <a:pt x="2150203" y="0"/>
                </a:lnTo>
                <a:cubicBezTo>
                  <a:pt x="2199943" y="0"/>
                  <a:pt x="2240266" y="40322"/>
                  <a:pt x="2240266" y="90063"/>
                </a:cubicBezTo>
                <a:lnTo>
                  <a:pt x="2240266" y="1170790"/>
                </a:lnTo>
                <a:cubicBezTo>
                  <a:pt x="2240266" y="1220531"/>
                  <a:pt x="2199943" y="1260853"/>
                  <a:pt x="2150203" y="1260853"/>
                </a:cubicBezTo>
                <a:lnTo>
                  <a:pt x="90063" y="1260853"/>
                </a:lnTo>
                <a:cubicBezTo>
                  <a:pt x="40322" y="1260853"/>
                  <a:pt x="0" y="1220531"/>
                  <a:pt x="0" y="1170790"/>
                </a:cubicBezTo>
                <a:lnTo>
                  <a:pt x="0" y="90063"/>
                </a:lnTo>
                <a:cubicBezTo>
                  <a:pt x="0" y="40356"/>
                  <a:pt x="40356" y="0"/>
                  <a:pt x="90063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9415854" y="4784488"/>
            <a:ext cx="450305" cy="450305"/>
          </a:xfrm>
          <a:custGeom>
            <a:avLst/>
            <a:gdLst/>
            <a:ahLst/>
            <a:cxnLst/>
            <a:rect l="l" t="t" r="r" b="b"/>
            <a:pathLst>
              <a:path w="450305" h="450305">
                <a:moveTo>
                  <a:pt x="225152" y="0"/>
                </a:moveTo>
                <a:lnTo>
                  <a:pt x="225152" y="0"/>
                </a:lnTo>
                <a:cubicBezTo>
                  <a:pt x="349417" y="0"/>
                  <a:pt x="450305" y="100887"/>
                  <a:pt x="450305" y="225152"/>
                </a:cubicBezTo>
                <a:lnTo>
                  <a:pt x="450305" y="225152"/>
                </a:lnTo>
                <a:cubicBezTo>
                  <a:pt x="450305" y="349417"/>
                  <a:pt x="349417" y="450305"/>
                  <a:pt x="225152" y="450305"/>
                </a:cubicBezTo>
                <a:lnTo>
                  <a:pt x="225152" y="450305"/>
                </a:lnTo>
                <a:cubicBezTo>
                  <a:pt x="100887" y="450305"/>
                  <a:pt x="0" y="349417"/>
                  <a:pt x="0" y="225152"/>
                </a:cubicBezTo>
                <a:lnTo>
                  <a:pt x="0" y="225152"/>
                </a:lnTo>
                <a:cubicBezTo>
                  <a:pt x="0" y="100887"/>
                  <a:pt x="100887" y="0"/>
                  <a:pt x="225152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9529573" y="4852033"/>
            <a:ext cx="225152" cy="315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96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615156" y="5324853"/>
            <a:ext cx="2048886" cy="22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41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Task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8620785" y="5595036"/>
            <a:ext cx="2037629" cy="180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64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任务类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0897726" y="4649396"/>
            <a:ext cx="2240266" cy="1260853"/>
          </a:xfrm>
          <a:custGeom>
            <a:avLst/>
            <a:gdLst/>
            <a:ahLst/>
            <a:cxnLst/>
            <a:rect l="l" t="t" r="r" b="b"/>
            <a:pathLst>
              <a:path w="2240266" h="1260853">
                <a:moveTo>
                  <a:pt x="90063" y="0"/>
                </a:moveTo>
                <a:lnTo>
                  <a:pt x="2150203" y="0"/>
                </a:lnTo>
                <a:cubicBezTo>
                  <a:pt x="2199943" y="0"/>
                  <a:pt x="2240266" y="40322"/>
                  <a:pt x="2240266" y="90063"/>
                </a:cubicBezTo>
                <a:lnTo>
                  <a:pt x="2240266" y="1170790"/>
                </a:lnTo>
                <a:cubicBezTo>
                  <a:pt x="2240266" y="1220531"/>
                  <a:pt x="2199943" y="1260853"/>
                  <a:pt x="2150203" y="1260853"/>
                </a:cubicBezTo>
                <a:lnTo>
                  <a:pt x="90063" y="1260853"/>
                </a:lnTo>
                <a:cubicBezTo>
                  <a:pt x="40322" y="1260853"/>
                  <a:pt x="0" y="1220531"/>
                  <a:pt x="0" y="1170790"/>
                </a:cubicBezTo>
                <a:lnTo>
                  <a:pt x="0" y="90063"/>
                </a:lnTo>
                <a:cubicBezTo>
                  <a:pt x="0" y="40356"/>
                  <a:pt x="40356" y="0"/>
                  <a:pt x="90063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11794114" y="4784488"/>
            <a:ext cx="450305" cy="450305"/>
          </a:xfrm>
          <a:custGeom>
            <a:avLst/>
            <a:gdLst/>
            <a:ahLst/>
            <a:cxnLst/>
            <a:rect l="l" t="t" r="r" b="b"/>
            <a:pathLst>
              <a:path w="450305" h="450305">
                <a:moveTo>
                  <a:pt x="225152" y="0"/>
                </a:moveTo>
                <a:lnTo>
                  <a:pt x="225152" y="0"/>
                </a:lnTo>
                <a:cubicBezTo>
                  <a:pt x="349417" y="0"/>
                  <a:pt x="450305" y="100887"/>
                  <a:pt x="450305" y="225152"/>
                </a:cubicBezTo>
                <a:lnTo>
                  <a:pt x="450305" y="225152"/>
                </a:lnTo>
                <a:cubicBezTo>
                  <a:pt x="450305" y="349417"/>
                  <a:pt x="349417" y="450305"/>
                  <a:pt x="225152" y="450305"/>
                </a:cubicBezTo>
                <a:lnTo>
                  <a:pt x="225152" y="450305"/>
                </a:lnTo>
                <a:cubicBezTo>
                  <a:pt x="100887" y="450305"/>
                  <a:pt x="0" y="349417"/>
                  <a:pt x="0" y="225152"/>
                </a:cubicBezTo>
                <a:lnTo>
                  <a:pt x="0" y="225152"/>
                </a:lnTo>
                <a:cubicBezTo>
                  <a:pt x="0" y="100887"/>
                  <a:pt x="100887" y="0"/>
                  <a:pt x="225152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1905986" y="4852033"/>
            <a:ext cx="225152" cy="315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96" dirty="0">
                <a:solidFill>
                  <a:srgbClr val="1A1D2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P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993416" y="5324853"/>
            <a:ext cx="2048886" cy="22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41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Performance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0999044" y="5595036"/>
            <a:ext cx="2037629" cy="180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64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性能评估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3275985" y="4649396"/>
            <a:ext cx="2240266" cy="1260853"/>
          </a:xfrm>
          <a:custGeom>
            <a:avLst/>
            <a:gdLst/>
            <a:ahLst/>
            <a:cxnLst/>
            <a:rect l="l" t="t" r="r" b="b"/>
            <a:pathLst>
              <a:path w="2240266" h="1260853">
                <a:moveTo>
                  <a:pt x="90063" y="0"/>
                </a:moveTo>
                <a:lnTo>
                  <a:pt x="2150203" y="0"/>
                </a:lnTo>
                <a:cubicBezTo>
                  <a:pt x="2199943" y="0"/>
                  <a:pt x="2240266" y="40322"/>
                  <a:pt x="2240266" y="90063"/>
                </a:cubicBezTo>
                <a:lnTo>
                  <a:pt x="2240266" y="1170790"/>
                </a:lnTo>
                <a:cubicBezTo>
                  <a:pt x="2240266" y="1220531"/>
                  <a:pt x="2199943" y="1260853"/>
                  <a:pt x="2150203" y="1260853"/>
                </a:cubicBezTo>
                <a:lnTo>
                  <a:pt x="90063" y="1260853"/>
                </a:lnTo>
                <a:cubicBezTo>
                  <a:pt x="40322" y="1260853"/>
                  <a:pt x="0" y="1220531"/>
                  <a:pt x="0" y="1170790"/>
                </a:cubicBezTo>
                <a:lnTo>
                  <a:pt x="0" y="90063"/>
                </a:lnTo>
                <a:cubicBezTo>
                  <a:pt x="0" y="40356"/>
                  <a:pt x="40356" y="0"/>
                  <a:pt x="90063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14172461" y="4784488"/>
            <a:ext cx="450305" cy="450305"/>
          </a:xfrm>
          <a:custGeom>
            <a:avLst/>
            <a:gdLst/>
            <a:ahLst/>
            <a:cxnLst/>
            <a:rect l="l" t="t" r="r" b="b"/>
            <a:pathLst>
              <a:path w="450305" h="450305">
                <a:moveTo>
                  <a:pt x="225152" y="0"/>
                </a:moveTo>
                <a:lnTo>
                  <a:pt x="225152" y="0"/>
                </a:lnTo>
                <a:cubicBezTo>
                  <a:pt x="349417" y="0"/>
                  <a:pt x="450305" y="100887"/>
                  <a:pt x="450305" y="225152"/>
                </a:cubicBezTo>
                <a:lnTo>
                  <a:pt x="450305" y="225152"/>
                </a:lnTo>
                <a:cubicBezTo>
                  <a:pt x="450305" y="349417"/>
                  <a:pt x="349417" y="450305"/>
                  <a:pt x="225152" y="450305"/>
                </a:cubicBezTo>
                <a:lnTo>
                  <a:pt x="225152" y="450305"/>
                </a:lnTo>
                <a:cubicBezTo>
                  <a:pt x="100887" y="450305"/>
                  <a:pt x="0" y="349417"/>
                  <a:pt x="0" y="225152"/>
                </a:cubicBezTo>
                <a:lnTo>
                  <a:pt x="0" y="225152"/>
                </a:lnTo>
                <a:cubicBezTo>
                  <a:pt x="0" y="100887"/>
                  <a:pt x="100887" y="0"/>
                  <a:pt x="225152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14286972" y="4852033"/>
            <a:ext cx="225152" cy="315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96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3371675" y="5324853"/>
            <a:ext cx="2048886" cy="22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41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Experience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13377304" y="5595036"/>
            <a:ext cx="2037629" cy="180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64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经验数据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553239" y="6090371"/>
            <a:ext cx="157607" cy="180122"/>
          </a:xfrm>
          <a:custGeom>
            <a:avLst/>
            <a:gdLst/>
            <a:ahLst/>
            <a:cxnLst/>
            <a:rect l="l" t="t" r="r" b="b"/>
            <a:pathLst>
              <a:path w="157607" h="180122">
                <a:moveTo>
                  <a:pt x="0" y="75989"/>
                </a:moveTo>
                <a:cubicBezTo>
                  <a:pt x="0" y="52665"/>
                  <a:pt x="18892" y="33773"/>
                  <a:pt x="42216" y="33773"/>
                </a:cubicBezTo>
                <a:lnTo>
                  <a:pt x="45030" y="33773"/>
                </a:lnTo>
                <a:cubicBezTo>
                  <a:pt x="51257" y="33773"/>
                  <a:pt x="56288" y="38804"/>
                  <a:pt x="56288" y="45030"/>
                </a:cubicBezTo>
                <a:cubicBezTo>
                  <a:pt x="56288" y="51257"/>
                  <a:pt x="51257" y="56288"/>
                  <a:pt x="45030" y="56288"/>
                </a:cubicBezTo>
                <a:lnTo>
                  <a:pt x="42216" y="56288"/>
                </a:lnTo>
                <a:cubicBezTo>
                  <a:pt x="31345" y="56288"/>
                  <a:pt x="22515" y="65118"/>
                  <a:pt x="22515" y="75989"/>
                </a:cubicBezTo>
                <a:lnTo>
                  <a:pt x="22515" y="78803"/>
                </a:lnTo>
                <a:lnTo>
                  <a:pt x="45030" y="78803"/>
                </a:lnTo>
                <a:cubicBezTo>
                  <a:pt x="57449" y="78803"/>
                  <a:pt x="67546" y="88900"/>
                  <a:pt x="67546" y="101319"/>
                </a:cubicBezTo>
                <a:lnTo>
                  <a:pt x="67546" y="123834"/>
                </a:lnTo>
                <a:cubicBezTo>
                  <a:pt x="67546" y="136252"/>
                  <a:pt x="57449" y="146349"/>
                  <a:pt x="45030" y="146349"/>
                </a:cubicBezTo>
                <a:lnTo>
                  <a:pt x="22515" y="146349"/>
                </a:lnTo>
                <a:cubicBezTo>
                  <a:pt x="10097" y="146349"/>
                  <a:pt x="0" y="136252"/>
                  <a:pt x="0" y="123834"/>
                </a:cubicBezTo>
                <a:lnTo>
                  <a:pt x="0" y="75989"/>
                </a:lnTo>
                <a:close/>
                <a:moveTo>
                  <a:pt x="90061" y="75989"/>
                </a:moveTo>
                <a:cubicBezTo>
                  <a:pt x="90061" y="52665"/>
                  <a:pt x="108953" y="33773"/>
                  <a:pt x="132277" y="33773"/>
                </a:cubicBezTo>
                <a:lnTo>
                  <a:pt x="135091" y="33773"/>
                </a:lnTo>
                <a:cubicBezTo>
                  <a:pt x="141318" y="33773"/>
                  <a:pt x="146349" y="38804"/>
                  <a:pt x="146349" y="45030"/>
                </a:cubicBezTo>
                <a:cubicBezTo>
                  <a:pt x="146349" y="51257"/>
                  <a:pt x="141318" y="56288"/>
                  <a:pt x="135091" y="56288"/>
                </a:cubicBezTo>
                <a:lnTo>
                  <a:pt x="132277" y="56288"/>
                </a:lnTo>
                <a:cubicBezTo>
                  <a:pt x="121406" y="56288"/>
                  <a:pt x="112576" y="65118"/>
                  <a:pt x="112576" y="75989"/>
                </a:cubicBezTo>
                <a:lnTo>
                  <a:pt x="112576" y="78803"/>
                </a:lnTo>
                <a:lnTo>
                  <a:pt x="135091" y="78803"/>
                </a:lnTo>
                <a:cubicBezTo>
                  <a:pt x="147510" y="78803"/>
                  <a:pt x="157607" y="88900"/>
                  <a:pt x="157607" y="101319"/>
                </a:cubicBezTo>
                <a:lnTo>
                  <a:pt x="157607" y="123834"/>
                </a:lnTo>
                <a:cubicBezTo>
                  <a:pt x="157607" y="136252"/>
                  <a:pt x="147510" y="146349"/>
                  <a:pt x="135091" y="146349"/>
                </a:cubicBezTo>
                <a:lnTo>
                  <a:pt x="112576" y="146349"/>
                </a:lnTo>
                <a:cubicBezTo>
                  <a:pt x="100158" y="146349"/>
                  <a:pt x="90061" y="136252"/>
                  <a:pt x="90061" y="123834"/>
                </a:cubicBezTo>
                <a:lnTo>
                  <a:pt x="90061" y="75989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8834679" y="6090371"/>
            <a:ext cx="2285296" cy="22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1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参考：《机器学习》，周志华著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428625"/>
            <a:ext cx="1756833" cy="349250"/>
          </a:xfrm>
          <a:custGeom>
            <a:avLst/>
            <a:gdLst/>
            <a:ahLst/>
            <a:cxnLst/>
            <a:rect l="l" t="t" r="r" b="b"/>
            <a:pathLst>
              <a:path w="1756833" h="349250">
                <a:moveTo>
                  <a:pt x="42333" y="0"/>
                </a:moveTo>
                <a:lnTo>
                  <a:pt x="1714501" y="0"/>
                </a:lnTo>
                <a:cubicBezTo>
                  <a:pt x="1737880" y="0"/>
                  <a:pt x="1756833" y="18953"/>
                  <a:pt x="1756833" y="42333"/>
                </a:cubicBezTo>
                <a:lnTo>
                  <a:pt x="1756833" y="306917"/>
                </a:lnTo>
                <a:cubicBezTo>
                  <a:pt x="1756833" y="330297"/>
                  <a:pt x="1737880" y="349250"/>
                  <a:pt x="1714501" y="349250"/>
                </a:cubicBezTo>
                <a:lnTo>
                  <a:pt x="42333" y="349250"/>
                </a:lnTo>
                <a:cubicBezTo>
                  <a:pt x="18953" y="349250"/>
                  <a:pt x="0" y="330297"/>
                  <a:pt x="0" y="30691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 w="12700">
            <a:solidFill>
              <a:srgbClr val="5F87A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60917" y="492125"/>
            <a:ext cx="15748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kern="0" spc="67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THREE SCHOOLS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333" y="867833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人工智能的三大流派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1375833"/>
            <a:ext cx="1549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在AI发展史上形成的三个主要学派及其核心理念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8625" y="1846792"/>
            <a:ext cx="4984750" cy="7097183"/>
          </a:xfrm>
          <a:custGeom>
            <a:avLst/>
            <a:gdLst/>
            <a:ahLst/>
            <a:cxnLst/>
            <a:rect l="l" t="t" r="r" b="b"/>
            <a:pathLst>
              <a:path w="4984750" h="8445500">
                <a:moveTo>
                  <a:pt x="127011" y="0"/>
                </a:moveTo>
                <a:lnTo>
                  <a:pt x="4857739" y="0"/>
                </a:lnTo>
                <a:cubicBezTo>
                  <a:pt x="4927885" y="0"/>
                  <a:pt x="4984750" y="56865"/>
                  <a:pt x="4984750" y="127011"/>
                </a:cubicBezTo>
                <a:lnTo>
                  <a:pt x="4984750" y="8318489"/>
                </a:lnTo>
                <a:cubicBezTo>
                  <a:pt x="4984750" y="8388635"/>
                  <a:pt x="4927885" y="8445500"/>
                  <a:pt x="4857739" y="8445500"/>
                </a:cubicBezTo>
                <a:lnTo>
                  <a:pt x="127011" y="8445500"/>
                </a:lnTo>
                <a:cubicBezTo>
                  <a:pt x="56865" y="8445500"/>
                  <a:pt x="0" y="8388635"/>
                  <a:pt x="0" y="8318489"/>
                </a:cubicBezTo>
                <a:lnTo>
                  <a:pt x="0" y="127011"/>
                </a:lnTo>
                <a:cubicBezTo>
                  <a:pt x="0" y="56912"/>
                  <a:pt x="56912" y="0"/>
                  <a:pt x="127011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87917" y="2106083"/>
            <a:ext cx="592667" cy="592667"/>
          </a:xfrm>
          <a:custGeom>
            <a:avLst/>
            <a:gdLst/>
            <a:ahLst/>
            <a:cxnLst/>
            <a:rect l="l" t="t" r="r" b="b"/>
            <a:pathLst>
              <a:path w="592667" h="592667">
                <a:moveTo>
                  <a:pt x="84668" y="0"/>
                </a:moveTo>
                <a:lnTo>
                  <a:pt x="507998" y="0"/>
                </a:lnTo>
                <a:cubicBezTo>
                  <a:pt x="554759" y="0"/>
                  <a:pt x="592667" y="37907"/>
                  <a:pt x="592667" y="84668"/>
                </a:cubicBezTo>
                <a:lnTo>
                  <a:pt x="592667" y="507998"/>
                </a:lnTo>
                <a:cubicBezTo>
                  <a:pt x="592667" y="554759"/>
                  <a:pt x="554759" y="592667"/>
                  <a:pt x="507998" y="592667"/>
                </a:cubicBezTo>
                <a:lnTo>
                  <a:pt x="84668" y="592667"/>
                </a:lnTo>
                <a:cubicBezTo>
                  <a:pt x="37907" y="592667"/>
                  <a:pt x="0" y="554759"/>
                  <a:pt x="0" y="507998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54687" y="2233083"/>
            <a:ext cx="381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07583" y="2127250"/>
            <a:ext cx="160866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符号主义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07583" y="2465917"/>
            <a:ext cx="1555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Symbolism / 逻辑主义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7917" y="2868083"/>
            <a:ext cx="4466167" cy="1227667"/>
          </a:xfrm>
          <a:custGeom>
            <a:avLst/>
            <a:gdLst/>
            <a:ahLst/>
            <a:cxnLst/>
            <a:rect l="l" t="t" r="r" b="b"/>
            <a:pathLst>
              <a:path w="4466167" h="1227667">
                <a:moveTo>
                  <a:pt x="84672" y="0"/>
                </a:moveTo>
                <a:lnTo>
                  <a:pt x="4381494" y="0"/>
                </a:lnTo>
                <a:cubicBezTo>
                  <a:pt x="4428258" y="0"/>
                  <a:pt x="4466167" y="37909"/>
                  <a:pt x="4466167" y="84672"/>
                </a:cubicBezTo>
                <a:lnTo>
                  <a:pt x="4466167" y="1142994"/>
                </a:lnTo>
                <a:cubicBezTo>
                  <a:pt x="4466167" y="1189758"/>
                  <a:pt x="4428258" y="1227667"/>
                  <a:pt x="4381494" y="1227667"/>
                </a:cubicBezTo>
                <a:lnTo>
                  <a:pt x="84672" y="1227667"/>
                </a:lnTo>
                <a:cubicBezTo>
                  <a:pt x="37909" y="1227667"/>
                  <a:pt x="0" y="1189758"/>
                  <a:pt x="0" y="1142994"/>
                </a:cubicBezTo>
                <a:lnTo>
                  <a:pt x="0" y="84672"/>
                </a:lnTo>
                <a:cubicBezTo>
                  <a:pt x="0" y="37940"/>
                  <a:pt x="37940" y="0"/>
                  <a:pt x="8467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57250" y="3037417"/>
            <a:ext cx="4212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核心观点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7250" y="3376083"/>
            <a:ext cx="4212167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认为人工智能源于</a:t>
            </a: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数学逻辑</a:t>
            </a: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，通过符号操作和逻辑推理来模拟智能。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7917" y="4222750"/>
            <a:ext cx="4466167" cy="1608667"/>
          </a:xfrm>
          <a:custGeom>
            <a:avLst/>
            <a:gdLst/>
            <a:ahLst/>
            <a:cxnLst/>
            <a:rect l="l" t="t" r="r" b="b"/>
            <a:pathLst>
              <a:path w="4466167" h="1608667">
                <a:moveTo>
                  <a:pt x="84664" y="0"/>
                </a:moveTo>
                <a:lnTo>
                  <a:pt x="4381503" y="0"/>
                </a:lnTo>
                <a:cubicBezTo>
                  <a:pt x="4428261" y="0"/>
                  <a:pt x="4466167" y="37905"/>
                  <a:pt x="4466167" y="84664"/>
                </a:cubicBezTo>
                <a:lnTo>
                  <a:pt x="4466167" y="1524003"/>
                </a:lnTo>
                <a:cubicBezTo>
                  <a:pt x="4466167" y="1570761"/>
                  <a:pt x="4428261" y="1608667"/>
                  <a:pt x="4381503" y="1608667"/>
                </a:cubicBezTo>
                <a:lnTo>
                  <a:pt x="84664" y="1608667"/>
                </a:lnTo>
                <a:cubicBezTo>
                  <a:pt x="37905" y="1608667"/>
                  <a:pt x="0" y="1570761"/>
                  <a:pt x="0" y="1524003"/>
                </a:cubicBezTo>
                <a:lnTo>
                  <a:pt x="0" y="84664"/>
                </a:lnTo>
                <a:cubicBezTo>
                  <a:pt x="0" y="37937"/>
                  <a:pt x="37937" y="0"/>
                  <a:pt x="8466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57250" y="4392083"/>
            <a:ext cx="4212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代表成果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78417" y="4783667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74083" y="148167"/>
                </a:moveTo>
                <a:cubicBezTo>
                  <a:pt x="114971" y="148167"/>
                  <a:pt x="148167" y="114971"/>
                  <a:pt x="148167" y="74083"/>
                </a:cubicBezTo>
                <a:cubicBezTo>
                  <a:pt x="148167" y="33196"/>
                  <a:pt x="114971" y="0"/>
                  <a:pt x="74083" y="0"/>
                </a:cubicBezTo>
                <a:cubicBezTo>
                  <a:pt x="33196" y="0"/>
                  <a:pt x="0" y="33196"/>
                  <a:pt x="0" y="74083"/>
                </a:cubicBezTo>
                <a:cubicBezTo>
                  <a:pt x="0" y="114971"/>
                  <a:pt x="33196" y="148167"/>
                  <a:pt x="74083" y="148167"/>
                </a:cubicBezTo>
                <a:close/>
                <a:moveTo>
                  <a:pt x="98508" y="61553"/>
                </a:moveTo>
                <a:lnTo>
                  <a:pt x="75357" y="98594"/>
                </a:lnTo>
                <a:cubicBezTo>
                  <a:pt x="74141" y="100533"/>
                  <a:pt x="72058" y="101749"/>
                  <a:pt x="69771" y="101865"/>
                </a:cubicBezTo>
                <a:cubicBezTo>
                  <a:pt x="67485" y="101980"/>
                  <a:pt x="65286" y="100939"/>
                  <a:pt x="63926" y="99086"/>
                </a:cubicBezTo>
                <a:lnTo>
                  <a:pt x="50035" y="80566"/>
                </a:lnTo>
                <a:cubicBezTo>
                  <a:pt x="47720" y="77498"/>
                  <a:pt x="48357" y="73157"/>
                  <a:pt x="51424" y="70842"/>
                </a:cubicBezTo>
                <a:cubicBezTo>
                  <a:pt x="54492" y="68527"/>
                  <a:pt x="58833" y="69164"/>
                  <a:pt x="61148" y="72231"/>
                </a:cubicBezTo>
                <a:lnTo>
                  <a:pt x="68961" y="82649"/>
                </a:lnTo>
                <a:lnTo>
                  <a:pt x="86730" y="54202"/>
                </a:lnTo>
                <a:cubicBezTo>
                  <a:pt x="88755" y="50961"/>
                  <a:pt x="93038" y="49948"/>
                  <a:pt x="96308" y="52003"/>
                </a:cubicBezTo>
                <a:cubicBezTo>
                  <a:pt x="99578" y="54058"/>
                  <a:pt x="100562" y="58312"/>
                  <a:pt x="98508" y="61582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127125" y="473075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专家系统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78417" y="5122333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74083" y="148167"/>
                </a:moveTo>
                <a:cubicBezTo>
                  <a:pt x="114971" y="148167"/>
                  <a:pt x="148167" y="114971"/>
                  <a:pt x="148167" y="74083"/>
                </a:cubicBezTo>
                <a:cubicBezTo>
                  <a:pt x="148167" y="33196"/>
                  <a:pt x="114971" y="0"/>
                  <a:pt x="74083" y="0"/>
                </a:cubicBezTo>
                <a:cubicBezTo>
                  <a:pt x="33196" y="0"/>
                  <a:pt x="0" y="33196"/>
                  <a:pt x="0" y="74083"/>
                </a:cubicBezTo>
                <a:cubicBezTo>
                  <a:pt x="0" y="114971"/>
                  <a:pt x="33196" y="148167"/>
                  <a:pt x="74083" y="148167"/>
                </a:cubicBezTo>
                <a:close/>
                <a:moveTo>
                  <a:pt x="98508" y="61553"/>
                </a:moveTo>
                <a:lnTo>
                  <a:pt x="75357" y="98594"/>
                </a:lnTo>
                <a:cubicBezTo>
                  <a:pt x="74141" y="100533"/>
                  <a:pt x="72058" y="101749"/>
                  <a:pt x="69771" y="101865"/>
                </a:cubicBezTo>
                <a:cubicBezTo>
                  <a:pt x="67485" y="101980"/>
                  <a:pt x="65286" y="100939"/>
                  <a:pt x="63926" y="99086"/>
                </a:cubicBezTo>
                <a:lnTo>
                  <a:pt x="50035" y="80566"/>
                </a:lnTo>
                <a:cubicBezTo>
                  <a:pt x="47720" y="77498"/>
                  <a:pt x="48357" y="73157"/>
                  <a:pt x="51424" y="70842"/>
                </a:cubicBezTo>
                <a:cubicBezTo>
                  <a:pt x="54492" y="68527"/>
                  <a:pt x="58833" y="69164"/>
                  <a:pt x="61148" y="72231"/>
                </a:cubicBezTo>
                <a:lnTo>
                  <a:pt x="68961" y="82649"/>
                </a:lnTo>
                <a:lnTo>
                  <a:pt x="86730" y="54202"/>
                </a:lnTo>
                <a:cubicBezTo>
                  <a:pt x="88755" y="50961"/>
                  <a:pt x="93038" y="49948"/>
                  <a:pt x="96308" y="52003"/>
                </a:cubicBezTo>
                <a:cubicBezTo>
                  <a:pt x="99578" y="54058"/>
                  <a:pt x="100562" y="58312"/>
                  <a:pt x="98508" y="61582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127125" y="5069417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知识图谱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78417" y="5461000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74083" y="148167"/>
                </a:moveTo>
                <a:cubicBezTo>
                  <a:pt x="114971" y="148167"/>
                  <a:pt x="148167" y="114971"/>
                  <a:pt x="148167" y="74083"/>
                </a:cubicBezTo>
                <a:cubicBezTo>
                  <a:pt x="148167" y="33196"/>
                  <a:pt x="114971" y="0"/>
                  <a:pt x="74083" y="0"/>
                </a:cubicBezTo>
                <a:cubicBezTo>
                  <a:pt x="33196" y="0"/>
                  <a:pt x="0" y="33196"/>
                  <a:pt x="0" y="74083"/>
                </a:cubicBezTo>
                <a:cubicBezTo>
                  <a:pt x="0" y="114971"/>
                  <a:pt x="33196" y="148167"/>
                  <a:pt x="74083" y="148167"/>
                </a:cubicBezTo>
                <a:close/>
                <a:moveTo>
                  <a:pt x="98508" y="61553"/>
                </a:moveTo>
                <a:lnTo>
                  <a:pt x="75357" y="98594"/>
                </a:lnTo>
                <a:cubicBezTo>
                  <a:pt x="74141" y="100533"/>
                  <a:pt x="72058" y="101749"/>
                  <a:pt x="69771" y="101865"/>
                </a:cubicBezTo>
                <a:cubicBezTo>
                  <a:pt x="67485" y="101980"/>
                  <a:pt x="65286" y="100939"/>
                  <a:pt x="63926" y="99086"/>
                </a:cubicBezTo>
                <a:lnTo>
                  <a:pt x="50035" y="80566"/>
                </a:lnTo>
                <a:cubicBezTo>
                  <a:pt x="47720" y="77498"/>
                  <a:pt x="48357" y="73157"/>
                  <a:pt x="51424" y="70842"/>
                </a:cubicBezTo>
                <a:cubicBezTo>
                  <a:pt x="54492" y="68527"/>
                  <a:pt x="58833" y="69164"/>
                  <a:pt x="61148" y="72231"/>
                </a:cubicBezTo>
                <a:lnTo>
                  <a:pt x="68961" y="82649"/>
                </a:lnTo>
                <a:lnTo>
                  <a:pt x="86730" y="54202"/>
                </a:lnTo>
                <a:cubicBezTo>
                  <a:pt x="88755" y="50961"/>
                  <a:pt x="93038" y="49948"/>
                  <a:pt x="96308" y="52003"/>
                </a:cubicBezTo>
                <a:cubicBezTo>
                  <a:pt x="99578" y="54058"/>
                  <a:pt x="100562" y="58312"/>
                  <a:pt x="98508" y="61582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127125" y="5408083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定理证明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7917" y="5958417"/>
            <a:ext cx="4466167" cy="1164167"/>
          </a:xfrm>
          <a:custGeom>
            <a:avLst/>
            <a:gdLst/>
            <a:ahLst/>
            <a:cxnLst/>
            <a:rect l="l" t="t" r="r" b="b"/>
            <a:pathLst>
              <a:path w="4466167" h="1164167">
                <a:moveTo>
                  <a:pt x="84670" y="0"/>
                </a:moveTo>
                <a:lnTo>
                  <a:pt x="4381497" y="0"/>
                </a:lnTo>
                <a:cubicBezTo>
                  <a:pt x="4428259" y="0"/>
                  <a:pt x="4466167" y="37908"/>
                  <a:pt x="4466167" y="84670"/>
                </a:cubicBezTo>
                <a:lnTo>
                  <a:pt x="4466167" y="1079497"/>
                </a:lnTo>
                <a:cubicBezTo>
                  <a:pt x="4466167" y="1126259"/>
                  <a:pt x="4428259" y="1164167"/>
                  <a:pt x="4381497" y="1164167"/>
                </a:cubicBezTo>
                <a:lnTo>
                  <a:pt x="84670" y="1164167"/>
                </a:lnTo>
                <a:cubicBezTo>
                  <a:pt x="37908" y="1164167"/>
                  <a:pt x="0" y="1126259"/>
                  <a:pt x="0" y="1079497"/>
                </a:cubicBezTo>
                <a:lnTo>
                  <a:pt x="0" y="84670"/>
                </a:lnTo>
                <a:cubicBezTo>
                  <a:pt x="0" y="37939"/>
                  <a:pt x="37939" y="0"/>
                  <a:pt x="8467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57250" y="6127750"/>
            <a:ext cx="4212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优势与局限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7250" y="6466417"/>
            <a:ext cx="4201583" cy="486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优势：</a:t>
            </a: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可解释性强，适合结构化知识处理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局限：</a:t>
            </a: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依赖人工规则，难以处理模糊信息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35625" y="1846792"/>
            <a:ext cx="4984750" cy="7097183"/>
          </a:xfrm>
          <a:custGeom>
            <a:avLst/>
            <a:gdLst/>
            <a:ahLst/>
            <a:cxnLst/>
            <a:rect l="l" t="t" r="r" b="b"/>
            <a:pathLst>
              <a:path w="4984750" h="8445500">
                <a:moveTo>
                  <a:pt x="127011" y="0"/>
                </a:moveTo>
                <a:lnTo>
                  <a:pt x="4857739" y="0"/>
                </a:lnTo>
                <a:cubicBezTo>
                  <a:pt x="4927885" y="0"/>
                  <a:pt x="4984750" y="56865"/>
                  <a:pt x="4984750" y="127011"/>
                </a:cubicBezTo>
                <a:lnTo>
                  <a:pt x="4984750" y="8318489"/>
                </a:lnTo>
                <a:cubicBezTo>
                  <a:pt x="4984750" y="8388635"/>
                  <a:pt x="4927885" y="8445500"/>
                  <a:pt x="4857739" y="8445500"/>
                </a:cubicBezTo>
                <a:lnTo>
                  <a:pt x="127011" y="8445500"/>
                </a:lnTo>
                <a:cubicBezTo>
                  <a:pt x="56865" y="8445500"/>
                  <a:pt x="0" y="8388635"/>
                  <a:pt x="0" y="8318489"/>
                </a:cubicBezTo>
                <a:lnTo>
                  <a:pt x="0" y="127011"/>
                </a:lnTo>
                <a:cubicBezTo>
                  <a:pt x="0" y="56912"/>
                  <a:pt x="56912" y="0"/>
                  <a:pt x="127011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6ED3CF">
                  <a:alpha val="5000"/>
                </a:srgbClr>
              </a:gs>
            </a:gsLst>
            <a:lin ang="2700000" scaled="1"/>
          </a:gradFill>
          <a:ln w="12700">
            <a:solidFill>
              <a:srgbClr val="6ED3C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5894917" y="2106083"/>
            <a:ext cx="592667" cy="592667"/>
          </a:xfrm>
          <a:custGeom>
            <a:avLst/>
            <a:gdLst/>
            <a:ahLst/>
            <a:cxnLst/>
            <a:rect l="l" t="t" r="r" b="b"/>
            <a:pathLst>
              <a:path w="592667" h="592667">
                <a:moveTo>
                  <a:pt x="84668" y="0"/>
                </a:moveTo>
                <a:lnTo>
                  <a:pt x="507998" y="0"/>
                </a:lnTo>
                <a:cubicBezTo>
                  <a:pt x="554759" y="0"/>
                  <a:pt x="592667" y="37907"/>
                  <a:pt x="592667" y="84668"/>
                </a:cubicBezTo>
                <a:lnTo>
                  <a:pt x="592667" y="507998"/>
                </a:lnTo>
                <a:cubicBezTo>
                  <a:pt x="592667" y="554759"/>
                  <a:pt x="554759" y="592667"/>
                  <a:pt x="507998" y="592667"/>
                </a:cubicBezTo>
                <a:lnTo>
                  <a:pt x="84668" y="592667"/>
                </a:lnTo>
                <a:cubicBezTo>
                  <a:pt x="37907" y="592667"/>
                  <a:pt x="0" y="554759"/>
                  <a:pt x="0" y="507998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040189" y="2233083"/>
            <a:ext cx="43391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1A1D2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14583" y="2127250"/>
            <a:ext cx="187325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连接主义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14583" y="2465917"/>
            <a:ext cx="18203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Connectionism / 仿生学派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894917" y="2868083"/>
            <a:ext cx="4466167" cy="1227667"/>
          </a:xfrm>
          <a:custGeom>
            <a:avLst/>
            <a:gdLst/>
            <a:ahLst/>
            <a:cxnLst/>
            <a:rect l="l" t="t" r="r" b="b"/>
            <a:pathLst>
              <a:path w="4466167" h="1227667">
                <a:moveTo>
                  <a:pt x="84672" y="0"/>
                </a:moveTo>
                <a:lnTo>
                  <a:pt x="4381494" y="0"/>
                </a:lnTo>
                <a:cubicBezTo>
                  <a:pt x="4428258" y="0"/>
                  <a:pt x="4466167" y="37909"/>
                  <a:pt x="4466167" y="84672"/>
                </a:cubicBezTo>
                <a:lnTo>
                  <a:pt x="4466167" y="1142994"/>
                </a:lnTo>
                <a:cubicBezTo>
                  <a:pt x="4466167" y="1189758"/>
                  <a:pt x="4428258" y="1227667"/>
                  <a:pt x="4381494" y="1227667"/>
                </a:cubicBezTo>
                <a:lnTo>
                  <a:pt x="84672" y="1227667"/>
                </a:lnTo>
                <a:cubicBezTo>
                  <a:pt x="37909" y="1227667"/>
                  <a:pt x="0" y="1189758"/>
                  <a:pt x="0" y="1142994"/>
                </a:cubicBezTo>
                <a:lnTo>
                  <a:pt x="0" y="84672"/>
                </a:lnTo>
                <a:cubicBezTo>
                  <a:pt x="0" y="37940"/>
                  <a:pt x="37940" y="0"/>
                  <a:pt x="8467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064250" y="3037417"/>
            <a:ext cx="4212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核心观点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064250" y="3376083"/>
            <a:ext cx="4212167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认为人工智能源于</a:t>
            </a: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仿生学</a:t>
            </a: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，特别是对人脑神经元网络的模拟。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894917" y="4222750"/>
            <a:ext cx="4466167" cy="1608667"/>
          </a:xfrm>
          <a:custGeom>
            <a:avLst/>
            <a:gdLst/>
            <a:ahLst/>
            <a:cxnLst/>
            <a:rect l="l" t="t" r="r" b="b"/>
            <a:pathLst>
              <a:path w="4466167" h="1608667">
                <a:moveTo>
                  <a:pt x="84664" y="0"/>
                </a:moveTo>
                <a:lnTo>
                  <a:pt x="4381503" y="0"/>
                </a:lnTo>
                <a:cubicBezTo>
                  <a:pt x="4428261" y="0"/>
                  <a:pt x="4466167" y="37905"/>
                  <a:pt x="4466167" y="84664"/>
                </a:cubicBezTo>
                <a:lnTo>
                  <a:pt x="4466167" y="1524003"/>
                </a:lnTo>
                <a:cubicBezTo>
                  <a:pt x="4466167" y="1570761"/>
                  <a:pt x="4428261" y="1608667"/>
                  <a:pt x="4381503" y="1608667"/>
                </a:cubicBezTo>
                <a:lnTo>
                  <a:pt x="84664" y="1608667"/>
                </a:lnTo>
                <a:cubicBezTo>
                  <a:pt x="37905" y="1608667"/>
                  <a:pt x="0" y="1570761"/>
                  <a:pt x="0" y="1524003"/>
                </a:cubicBezTo>
                <a:lnTo>
                  <a:pt x="0" y="84664"/>
                </a:lnTo>
                <a:cubicBezTo>
                  <a:pt x="0" y="37937"/>
                  <a:pt x="37937" y="0"/>
                  <a:pt x="8466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064250" y="4392083"/>
            <a:ext cx="4212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代表成果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076156" y="4783667"/>
            <a:ext cx="166688" cy="148167"/>
          </a:xfrm>
          <a:custGeom>
            <a:avLst/>
            <a:gdLst/>
            <a:ahLst/>
            <a:cxnLst/>
            <a:rect l="l" t="t" r="r" b="b"/>
            <a:pathLst>
              <a:path w="166688" h="148167">
                <a:moveTo>
                  <a:pt x="89566" y="-5469"/>
                </a:moveTo>
                <a:cubicBezTo>
                  <a:pt x="88379" y="-7785"/>
                  <a:pt x="85977" y="-9260"/>
                  <a:pt x="83373" y="-9260"/>
                </a:cubicBezTo>
                <a:cubicBezTo>
                  <a:pt x="80768" y="-9260"/>
                  <a:pt x="78366" y="-7785"/>
                  <a:pt x="77180" y="-5469"/>
                </a:cubicBezTo>
                <a:lnTo>
                  <a:pt x="55881" y="36260"/>
                </a:lnTo>
                <a:lnTo>
                  <a:pt x="9608" y="43611"/>
                </a:lnTo>
                <a:cubicBezTo>
                  <a:pt x="7032" y="44016"/>
                  <a:pt x="4891" y="45839"/>
                  <a:pt x="4080" y="48328"/>
                </a:cubicBezTo>
                <a:cubicBezTo>
                  <a:pt x="3270" y="50817"/>
                  <a:pt x="3936" y="53537"/>
                  <a:pt x="5759" y="55389"/>
                </a:cubicBezTo>
                <a:lnTo>
                  <a:pt x="38865" y="88524"/>
                </a:lnTo>
                <a:lnTo>
                  <a:pt x="31572" y="134797"/>
                </a:lnTo>
                <a:cubicBezTo>
                  <a:pt x="31167" y="137372"/>
                  <a:pt x="32238" y="139977"/>
                  <a:pt x="34350" y="141511"/>
                </a:cubicBezTo>
                <a:cubicBezTo>
                  <a:pt x="36463" y="143044"/>
                  <a:pt x="39241" y="143276"/>
                  <a:pt x="41585" y="142090"/>
                </a:cubicBezTo>
                <a:lnTo>
                  <a:pt x="83373" y="120848"/>
                </a:lnTo>
                <a:lnTo>
                  <a:pt x="125131" y="142090"/>
                </a:lnTo>
                <a:cubicBezTo>
                  <a:pt x="127446" y="143276"/>
                  <a:pt x="130254" y="143044"/>
                  <a:pt x="132366" y="141511"/>
                </a:cubicBezTo>
                <a:cubicBezTo>
                  <a:pt x="134479" y="139977"/>
                  <a:pt x="135549" y="137401"/>
                  <a:pt x="135144" y="134797"/>
                </a:cubicBezTo>
                <a:lnTo>
                  <a:pt x="127823" y="88524"/>
                </a:lnTo>
                <a:lnTo>
                  <a:pt x="160929" y="55389"/>
                </a:lnTo>
                <a:cubicBezTo>
                  <a:pt x="162781" y="53537"/>
                  <a:pt x="163417" y="50817"/>
                  <a:pt x="162607" y="48328"/>
                </a:cubicBezTo>
                <a:cubicBezTo>
                  <a:pt x="161797" y="45839"/>
                  <a:pt x="159684" y="44016"/>
                  <a:pt x="157080" y="43611"/>
                </a:cubicBezTo>
                <a:lnTo>
                  <a:pt x="110836" y="36260"/>
                </a:lnTo>
                <a:lnTo>
                  <a:pt x="89566" y="-5469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334125" y="4730750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神经网络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076156" y="5122333"/>
            <a:ext cx="166688" cy="148167"/>
          </a:xfrm>
          <a:custGeom>
            <a:avLst/>
            <a:gdLst/>
            <a:ahLst/>
            <a:cxnLst/>
            <a:rect l="l" t="t" r="r" b="b"/>
            <a:pathLst>
              <a:path w="166688" h="148167">
                <a:moveTo>
                  <a:pt x="89566" y="-5469"/>
                </a:moveTo>
                <a:cubicBezTo>
                  <a:pt x="88379" y="-7785"/>
                  <a:pt x="85977" y="-9260"/>
                  <a:pt x="83373" y="-9260"/>
                </a:cubicBezTo>
                <a:cubicBezTo>
                  <a:pt x="80768" y="-9260"/>
                  <a:pt x="78366" y="-7785"/>
                  <a:pt x="77180" y="-5469"/>
                </a:cubicBezTo>
                <a:lnTo>
                  <a:pt x="55881" y="36260"/>
                </a:lnTo>
                <a:lnTo>
                  <a:pt x="9608" y="43611"/>
                </a:lnTo>
                <a:cubicBezTo>
                  <a:pt x="7032" y="44016"/>
                  <a:pt x="4891" y="45839"/>
                  <a:pt x="4080" y="48328"/>
                </a:cubicBezTo>
                <a:cubicBezTo>
                  <a:pt x="3270" y="50817"/>
                  <a:pt x="3936" y="53537"/>
                  <a:pt x="5759" y="55389"/>
                </a:cubicBezTo>
                <a:lnTo>
                  <a:pt x="38865" y="88524"/>
                </a:lnTo>
                <a:lnTo>
                  <a:pt x="31572" y="134797"/>
                </a:lnTo>
                <a:cubicBezTo>
                  <a:pt x="31167" y="137372"/>
                  <a:pt x="32238" y="139977"/>
                  <a:pt x="34350" y="141511"/>
                </a:cubicBezTo>
                <a:cubicBezTo>
                  <a:pt x="36463" y="143044"/>
                  <a:pt x="39241" y="143276"/>
                  <a:pt x="41585" y="142090"/>
                </a:cubicBezTo>
                <a:lnTo>
                  <a:pt x="83373" y="120848"/>
                </a:lnTo>
                <a:lnTo>
                  <a:pt x="125131" y="142090"/>
                </a:lnTo>
                <a:cubicBezTo>
                  <a:pt x="127446" y="143276"/>
                  <a:pt x="130254" y="143044"/>
                  <a:pt x="132366" y="141511"/>
                </a:cubicBezTo>
                <a:cubicBezTo>
                  <a:pt x="134479" y="139977"/>
                  <a:pt x="135549" y="137401"/>
                  <a:pt x="135144" y="134797"/>
                </a:cubicBezTo>
                <a:lnTo>
                  <a:pt x="127823" y="88524"/>
                </a:lnTo>
                <a:lnTo>
                  <a:pt x="160929" y="55389"/>
                </a:lnTo>
                <a:cubicBezTo>
                  <a:pt x="162781" y="53537"/>
                  <a:pt x="163417" y="50817"/>
                  <a:pt x="162607" y="48328"/>
                </a:cubicBezTo>
                <a:cubicBezTo>
                  <a:pt x="161797" y="45839"/>
                  <a:pt x="159684" y="44016"/>
                  <a:pt x="157080" y="43611"/>
                </a:cubicBezTo>
                <a:lnTo>
                  <a:pt x="110836" y="36260"/>
                </a:lnTo>
                <a:lnTo>
                  <a:pt x="89566" y="-5469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334125" y="5069417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深度学习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076156" y="5461000"/>
            <a:ext cx="166688" cy="148167"/>
          </a:xfrm>
          <a:custGeom>
            <a:avLst/>
            <a:gdLst/>
            <a:ahLst/>
            <a:cxnLst/>
            <a:rect l="l" t="t" r="r" b="b"/>
            <a:pathLst>
              <a:path w="166688" h="148167">
                <a:moveTo>
                  <a:pt x="89566" y="-5469"/>
                </a:moveTo>
                <a:cubicBezTo>
                  <a:pt x="88379" y="-7785"/>
                  <a:pt x="85977" y="-9260"/>
                  <a:pt x="83373" y="-9260"/>
                </a:cubicBezTo>
                <a:cubicBezTo>
                  <a:pt x="80768" y="-9260"/>
                  <a:pt x="78366" y="-7785"/>
                  <a:pt x="77180" y="-5469"/>
                </a:cubicBezTo>
                <a:lnTo>
                  <a:pt x="55881" y="36260"/>
                </a:lnTo>
                <a:lnTo>
                  <a:pt x="9608" y="43611"/>
                </a:lnTo>
                <a:cubicBezTo>
                  <a:pt x="7032" y="44016"/>
                  <a:pt x="4891" y="45839"/>
                  <a:pt x="4080" y="48328"/>
                </a:cubicBezTo>
                <a:cubicBezTo>
                  <a:pt x="3270" y="50817"/>
                  <a:pt x="3936" y="53537"/>
                  <a:pt x="5759" y="55389"/>
                </a:cubicBezTo>
                <a:lnTo>
                  <a:pt x="38865" y="88524"/>
                </a:lnTo>
                <a:lnTo>
                  <a:pt x="31572" y="134797"/>
                </a:lnTo>
                <a:cubicBezTo>
                  <a:pt x="31167" y="137372"/>
                  <a:pt x="32238" y="139977"/>
                  <a:pt x="34350" y="141511"/>
                </a:cubicBezTo>
                <a:cubicBezTo>
                  <a:pt x="36463" y="143044"/>
                  <a:pt x="39241" y="143276"/>
                  <a:pt x="41585" y="142090"/>
                </a:cubicBezTo>
                <a:lnTo>
                  <a:pt x="83373" y="120848"/>
                </a:lnTo>
                <a:lnTo>
                  <a:pt x="125131" y="142090"/>
                </a:lnTo>
                <a:cubicBezTo>
                  <a:pt x="127446" y="143276"/>
                  <a:pt x="130254" y="143044"/>
                  <a:pt x="132366" y="141511"/>
                </a:cubicBezTo>
                <a:cubicBezTo>
                  <a:pt x="134479" y="139977"/>
                  <a:pt x="135549" y="137401"/>
                  <a:pt x="135144" y="134797"/>
                </a:cubicBezTo>
                <a:lnTo>
                  <a:pt x="127823" y="88524"/>
                </a:lnTo>
                <a:lnTo>
                  <a:pt x="160929" y="55389"/>
                </a:lnTo>
                <a:cubicBezTo>
                  <a:pt x="162781" y="53537"/>
                  <a:pt x="163417" y="50817"/>
                  <a:pt x="162607" y="48328"/>
                </a:cubicBezTo>
                <a:cubicBezTo>
                  <a:pt x="161797" y="45839"/>
                  <a:pt x="159684" y="44016"/>
                  <a:pt x="157080" y="43611"/>
                </a:cubicBezTo>
                <a:lnTo>
                  <a:pt x="110836" y="36260"/>
                </a:lnTo>
                <a:lnTo>
                  <a:pt x="89566" y="-5469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334125" y="5408083"/>
            <a:ext cx="867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CNN/RNN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900208" y="5963708"/>
            <a:ext cx="4455583" cy="1174750"/>
          </a:xfrm>
          <a:custGeom>
            <a:avLst/>
            <a:gdLst/>
            <a:ahLst/>
            <a:cxnLst/>
            <a:rect l="l" t="t" r="r" b="b"/>
            <a:pathLst>
              <a:path w="4455583" h="1174750">
                <a:moveTo>
                  <a:pt x="84664" y="0"/>
                </a:moveTo>
                <a:lnTo>
                  <a:pt x="4370919" y="0"/>
                </a:lnTo>
                <a:cubicBezTo>
                  <a:pt x="4417678" y="0"/>
                  <a:pt x="4455583" y="37905"/>
                  <a:pt x="4455583" y="84664"/>
                </a:cubicBezTo>
                <a:lnTo>
                  <a:pt x="4455583" y="1090086"/>
                </a:lnTo>
                <a:cubicBezTo>
                  <a:pt x="4455583" y="1136845"/>
                  <a:pt x="4417678" y="1174750"/>
                  <a:pt x="4370919" y="1174750"/>
                </a:cubicBezTo>
                <a:lnTo>
                  <a:pt x="84664" y="1174750"/>
                </a:lnTo>
                <a:cubicBezTo>
                  <a:pt x="37905" y="1174750"/>
                  <a:pt x="0" y="1136845"/>
                  <a:pt x="0" y="1090086"/>
                </a:cubicBezTo>
                <a:lnTo>
                  <a:pt x="0" y="84664"/>
                </a:lnTo>
                <a:cubicBezTo>
                  <a:pt x="0" y="37905"/>
                  <a:pt x="37905" y="0"/>
                  <a:pt x="84664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30000"/>
                </a:srgbClr>
              </a:gs>
              <a:gs pos="100000">
                <a:srgbClr val="6ED3CF">
                  <a:alpha val="10000"/>
                </a:srgbClr>
              </a:gs>
            </a:gsLst>
            <a:lin ang="0" scaled="1"/>
          </a:gradFill>
          <a:ln w="12700">
            <a:solidFill>
              <a:srgbClr val="6ED3CF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6096000" y="6180667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42333" y="105833"/>
                </a:moveTo>
                <a:lnTo>
                  <a:pt x="8103" y="105833"/>
                </a:lnTo>
                <a:cubicBezTo>
                  <a:pt x="-132" y="105833"/>
                  <a:pt x="-5192" y="96871"/>
                  <a:pt x="-959" y="89793"/>
                </a:cubicBezTo>
                <a:lnTo>
                  <a:pt x="16536" y="60623"/>
                </a:lnTo>
                <a:cubicBezTo>
                  <a:pt x="19414" y="55827"/>
                  <a:pt x="24573" y="52917"/>
                  <a:pt x="30163" y="52917"/>
                </a:cubicBezTo>
                <a:lnTo>
                  <a:pt x="61582" y="52917"/>
                </a:lnTo>
                <a:cubicBezTo>
                  <a:pt x="86750" y="10286"/>
                  <a:pt x="124288" y="8136"/>
                  <a:pt x="149390" y="11807"/>
                </a:cubicBezTo>
                <a:cubicBezTo>
                  <a:pt x="153624" y="12435"/>
                  <a:pt x="156931" y="15743"/>
                  <a:pt x="157526" y="19943"/>
                </a:cubicBezTo>
                <a:cubicBezTo>
                  <a:pt x="161197" y="45045"/>
                  <a:pt x="159048" y="82583"/>
                  <a:pt x="116417" y="107752"/>
                </a:cubicBezTo>
                <a:lnTo>
                  <a:pt x="116417" y="139171"/>
                </a:lnTo>
                <a:cubicBezTo>
                  <a:pt x="116417" y="144760"/>
                  <a:pt x="113506" y="149920"/>
                  <a:pt x="108711" y="152797"/>
                </a:cubicBezTo>
                <a:lnTo>
                  <a:pt x="79540" y="170292"/>
                </a:lnTo>
                <a:cubicBezTo>
                  <a:pt x="72496" y="174526"/>
                  <a:pt x="63500" y="169433"/>
                  <a:pt x="63500" y="161230"/>
                </a:cubicBezTo>
                <a:lnTo>
                  <a:pt x="63500" y="127000"/>
                </a:lnTo>
                <a:cubicBezTo>
                  <a:pt x="63500" y="115325"/>
                  <a:pt x="54008" y="105833"/>
                  <a:pt x="42333" y="105833"/>
                </a:cubicBezTo>
                <a:lnTo>
                  <a:pt x="42300" y="105833"/>
                </a:lnTo>
                <a:close/>
                <a:moveTo>
                  <a:pt x="132292" y="52917"/>
                </a:moveTo>
                <a:cubicBezTo>
                  <a:pt x="132292" y="44155"/>
                  <a:pt x="125178" y="37042"/>
                  <a:pt x="116417" y="37042"/>
                </a:cubicBezTo>
                <a:cubicBezTo>
                  <a:pt x="107655" y="37042"/>
                  <a:pt x="100542" y="44155"/>
                  <a:pt x="100542" y="52917"/>
                </a:cubicBezTo>
                <a:cubicBezTo>
                  <a:pt x="100542" y="61678"/>
                  <a:pt x="107655" y="68792"/>
                  <a:pt x="116417" y="68792"/>
                </a:cubicBezTo>
                <a:cubicBezTo>
                  <a:pt x="125178" y="68792"/>
                  <a:pt x="132292" y="61678"/>
                  <a:pt x="132292" y="52917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6371167" y="6138333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当前主流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074833" y="6477000"/>
            <a:ext cx="4180417" cy="486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连接主义是</a:t>
            </a:r>
            <a:r>
              <a:rPr lang="en-US" sz="1167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当前AI发展的主流方向</a:t>
            </a: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，对应课程章节</a:t>
            </a:r>
            <a:r>
              <a:rPr lang="en-US" sz="1167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Ch-14</a:t>
            </a: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深度学习。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894917" y="7265458"/>
            <a:ext cx="4466167" cy="1397000"/>
          </a:xfrm>
          <a:custGeom>
            <a:avLst/>
            <a:gdLst/>
            <a:ahLst/>
            <a:cxnLst/>
            <a:rect l="l" t="t" r="r" b="b"/>
            <a:pathLst>
              <a:path w="4466167" h="1397000">
                <a:moveTo>
                  <a:pt x="84672" y="0"/>
                </a:moveTo>
                <a:lnTo>
                  <a:pt x="4381494" y="0"/>
                </a:lnTo>
                <a:cubicBezTo>
                  <a:pt x="4428258" y="0"/>
                  <a:pt x="4466167" y="37909"/>
                  <a:pt x="4466167" y="84672"/>
                </a:cubicBezTo>
                <a:lnTo>
                  <a:pt x="4466167" y="1312328"/>
                </a:lnTo>
                <a:cubicBezTo>
                  <a:pt x="4466167" y="1359091"/>
                  <a:pt x="4428258" y="1397000"/>
                  <a:pt x="4381494" y="1397000"/>
                </a:cubicBezTo>
                <a:lnTo>
                  <a:pt x="84672" y="1397000"/>
                </a:lnTo>
                <a:cubicBezTo>
                  <a:pt x="37909" y="1397000"/>
                  <a:pt x="0" y="1359091"/>
                  <a:pt x="0" y="1312328"/>
                </a:cubicBezTo>
                <a:lnTo>
                  <a:pt x="0" y="84672"/>
                </a:lnTo>
                <a:cubicBezTo>
                  <a:pt x="0" y="37940"/>
                  <a:pt x="37940" y="0"/>
                  <a:pt x="8467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6064250" y="7434792"/>
            <a:ext cx="4212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优势与局限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064250" y="7773458"/>
            <a:ext cx="4201583" cy="719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优势：</a:t>
            </a: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强大的特征学习能力，适用于图像、语音等非结构化数据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局限：</a:t>
            </a: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需要大量数据，模型解释性较差（黑盒问题）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0842625" y="1846792"/>
            <a:ext cx="4984750" cy="7097183"/>
          </a:xfrm>
          <a:custGeom>
            <a:avLst/>
            <a:gdLst/>
            <a:ahLst/>
            <a:cxnLst/>
            <a:rect l="l" t="t" r="r" b="b"/>
            <a:pathLst>
              <a:path w="4984750" h="8445500">
                <a:moveTo>
                  <a:pt x="127011" y="0"/>
                </a:moveTo>
                <a:lnTo>
                  <a:pt x="4857739" y="0"/>
                </a:lnTo>
                <a:cubicBezTo>
                  <a:pt x="4927885" y="0"/>
                  <a:pt x="4984750" y="56865"/>
                  <a:pt x="4984750" y="127011"/>
                </a:cubicBezTo>
                <a:lnTo>
                  <a:pt x="4984750" y="8318489"/>
                </a:lnTo>
                <a:cubicBezTo>
                  <a:pt x="4984750" y="8388635"/>
                  <a:pt x="4927885" y="8445500"/>
                  <a:pt x="4857739" y="8445500"/>
                </a:cubicBezTo>
                <a:lnTo>
                  <a:pt x="127011" y="8445500"/>
                </a:lnTo>
                <a:cubicBezTo>
                  <a:pt x="56865" y="8445500"/>
                  <a:pt x="0" y="8388635"/>
                  <a:pt x="0" y="8318489"/>
                </a:cubicBezTo>
                <a:lnTo>
                  <a:pt x="0" y="127011"/>
                </a:lnTo>
                <a:cubicBezTo>
                  <a:pt x="0" y="56912"/>
                  <a:pt x="56912" y="0"/>
                  <a:pt x="127011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11101917" y="2106083"/>
            <a:ext cx="592667" cy="592667"/>
          </a:xfrm>
          <a:custGeom>
            <a:avLst/>
            <a:gdLst/>
            <a:ahLst/>
            <a:cxnLst/>
            <a:rect l="l" t="t" r="r" b="b"/>
            <a:pathLst>
              <a:path w="592667" h="592667">
                <a:moveTo>
                  <a:pt x="84668" y="0"/>
                </a:moveTo>
                <a:lnTo>
                  <a:pt x="507998" y="0"/>
                </a:lnTo>
                <a:cubicBezTo>
                  <a:pt x="554759" y="0"/>
                  <a:pt x="592667" y="37907"/>
                  <a:pt x="592667" y="84668"/>
                </a:cubicBezTo>
                <a:lnTo>
                  <a:pt x="592667" y="507998"/>
                </a:lnTo>
                <a:cubicBezTo>
                  <a:pt x="592667" y="554759"/>
                  <a:pt x="554759" y="592667"/>
                  <a:pt x="507998" y="592667"/>
                </a:cubicBezTo>
                <a:lnTo>
                  <a:pt x="84668" y="592667"/>
                </a:lnTo>
                <a:cubicBezTo>
                  <a:pt x="37907" y="592667"/>
                  <a:pt x="0" y="554759"/>
                  <a:pt x="0" y="507998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1243882" y="2233083"/>
            <a:ext cx="43391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821583" y="2127250"/>
            <a:ext cx="168275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行为主义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821583" y="2465917"/>
            <a:ext cx="1629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Actionism / 控制论学派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1101917" y="2868083"/>
            <a:ext cx="4466167" cy="952500"/>
          </a:xfrm>
          <a:custGeom>
            <a:avLst/>
            <a:gdLst/>
            <a:ahLst/>
            <a:cxnLst/>
            <a:rect l="l" t="t" r="r" b="b"/>
            <a:pathLst>
              <a:path w="4466167" h="952500">
                <a:moveTo>
                  <a:pt x="84668" y="0"/>
                </a:moveTo>
                <a:lnTo>
                  <a:pt x="4381499" y="0"/>
                </a:lnTo>
                <a:cubicBezTo>
                  <a:pt x="4428260" y="0"/>
                  <a:pt x="4466167" y="37907"/>
                  <a:pt x="4466167" y="84668"/>
                </a:cubicBezTo>
                <a:lnTo>
                  <a:pt x="4466167" y="867832"/>
                </a:lnTo>
                <a:cubicBezTo>
                  <a:pt x="4466167" y="914593"/>
                  <a:pt x="4428260" y="952500"/>
                  <a:pt x="4381499" y="952500"/>
                </a:cubicBezTo>
                <a:lnTo>
                  <a:pt x="84668" y="952500"/>
                </a:lnTo>
                <a:cubicBezTo>
                  <a:pt x="37907" y="952500"/>
                  <a:pt x="0" y="914593"/>
                  <a:pt x="0" y="867832"/>
                </a:cubicBezTo>
                <a:lnTo>
                  <a:pt x="0" y="84668"/>
                </a:lnTo>
                <a:cubicBezTo>
                  <a:pt x="0" y="37938"/>
                  <a:pt x="37938" y="0"/>
                  <a:pt x="8466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11271250" y="3037417"/>
            <a:ext cx="4212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核心观点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1271250" y="3376083"/>
            <a:ext cx="4212167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认为人工智能源于</a:t>
            </a: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控制论</a:t>
            </a: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，智能取决于感知和行动。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1101917" y="3947583"/>
            <a:ext cx="4466167" cy="1206500"/>
          </a:xfrm>
          <a:custGeom>
            <a:avLst/>
            <a:gdLst/>
            <a:ahLst/>
            <a:cxnLst/>
            <a:rect l="l" t="t" r="r" b="b"/>
            <a:pathLst>
              <a:path w="4466167" h="1206500">
                <a:moveTo>
                  <a:pt x="84672" y="0"/>
                </a:moveTo>
                <a:lnTo>
                  <a:pt x="4381494" y="0"/>
                </a:lnTo>
                <a:cubicBezTo>
                  <a:pt x="4428258" y="0"/>
                  <a:pt x="4466167" y="37909"/>
                  <a:pt x="4466167" y="84672"/>
                </a:cubicBezTo>
                <a:lnTo>
                  <a:pt x="4466167" y="1121828"/>
                </a:lnTo>
                <a:cubicBezTo>
                  <a:pt x="4466167" y="1168591"/>
                  <a:pt x="4428258" y="1206500"/>
                  <a:pt x="4381494" y="1206500"/>
                </a:cubicBezTo>
                <a:lnTo>
                  <a:pt x="84672" y="1206500"/>
                </a:lnTo>
                <a:cubicBezTo>
                  <a:pt x="37909" y="1206500"/>
                  <a:pt x="0" y="1168591"/>
                  <a:pt x="0" y="1121828"/>
                </a:cubicBezTo>
                <a:lnTo>
                  <a:pt x="0" y="84672"/>
                </a:lnTo>
                <a:cubicBezTo>
                  <a:pt x="0" y="37940"/>
                  <a:pt x="37940" y="0"/>
                  <a:pt x="8467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11271250" y="4116917"/>
            <a:ext cx="4212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核心理念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1292417" y="4455583"/>
            <a:ext cx="4106333" cy="529167"/>
          </a:xfrm>
          <a:custGeom>
            <a:avLst/>
            <a:gdLst/>
            <a:ahLst/>
            <a:cxnLst/>
            <a:rect l="l" t="t" r="r" b="b"/>
            <a:pathLst>
              <a:path w="4106333" h="529167">
                <a:moveTo>
                  <a:pt x="42333" y="0"/>
                </a:moveTo>
                <a:lnTo>
                  <a:pt x="4021667" y="0"/>
                </a:lnTo>
                <a:cubicBezTo>
                  <a:pt x="4068427" y="0"/>
                  <a:pt x="4106333" y="37907"/>
                  <a:pt x="4106333" y="84667"/>
                </a:cubicBezTo>
                <a:lnTo>
                  <a:pt x="4106333" y="444500"/>
                </a:lnTo>
                <a:cubicBezTo>
                  <a:pt x="4106333" y="491260"/>
                  <a:pt x="4068427" y="529167"/>
                  <a:pt x="4021667" y="529167"/>
                </a:cubicBezTo>
                <a:lnTo>
                  <a:pt x="42333" y="529167"/>
                </a:lnTo>
                <a:cubicBezTo>
                  <a:pt x="18953" y="529167"/>
                  <a:pt x="0" y="510213"/>
                  <a:pt x="0" y="486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11292417" y="4455583"/>
            <a:ext cx="42333" cy="529167"/>
          </a:xfrm>
          <a:custGeom>
            <a:avLst/>
            <a:gdLst/>
            <a:ahLst/>
            <a:cxnLst/>
            <a:rect l="l" t="t" r="r" b="b"/>
            <a:pathLst>
              <a:path w="42333" h="529167">
                <a:moveTo>
                  <a:pt x="42333" y="0"/>
                </a:moveTo>
                <a:lnTo>
                  <a:pt x="42333" y="0"/>
                </a:lnTo>
                <a:lnTo>
                  <a:pt x="42333" y="529167"/>
                </a:lnTo>
                <a:lnTo>
                  <a:pt x="42333" y="529167"/>
                </a:lnTo>
                <a:cubicBezTo>
                  <a:pt x="18953" y="529167"/>
                  <a:pt x="0" y="510213"/>
                  <a:pt x="0" y="486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11440583" y="4582583"/>
            <a:ext cx="39158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"智能是在与环境交互中表现出来的"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1101917" y="5281083"/>
            <a:ext cx="4466167" cy="1608667"/>
          </a:xfrm>
          <a:custGeom>
            <a:avLst/>
            <a:gdLst/>
            <a:ahLst/>
            <a:cxnLst/>
            <a:rect l="l" t="t" r="r" b="b"/>
            <a:pathLst>
              <a:path w="4466167" h="1608667">
                <a:moveTo>
                  <a:pt x="84664" y="0"/>
                </a:moveTo>
                <a:lnTo>
                  <a:pt x="4381503" y="0"/>
                </a:lnTo>
                <a:cubicBezTo>
                  <a:pt x="4428261" y="0"/>
                  <a:pt x="4466167" y="37905"/>
                  <a:pt x="4466167" y="84664"/>
                </a:cubicBezTo>
                <a:lnTo>
                  <a:pt x="4466167" y="1524003"/>
                </a:lnTo>
                <a:cubicBezTo>
                  <a:pt x="4466167" y="1570761"/>
                  <a:pt x="4428261" y="1608667"/>
                  <a:pt x="4381503" y="1608667"/>
                </a:cubicBezTo>
                <a:lnTo>
                  <a:pt x="84664" y="1608667"/>
                </a:lnTo>
                <a:cubicBezTo>
                  <a:pt x="37905" y="1608667"/>
                  <a:pt x="0" y="1570761"/>
                  <a:pt x="0" y="1524003"/>
                </a:cubicBezTo>
                <a:lnTo>
                  <a:pt x="0" y="84664"/>
                </a:lnTo>
                <a:cubicBezTo>
                  <a:pt x="0" y="37937"/>
                  <a:pt x="37937" y="0"/>
                  <a:pt x="8466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11271250" y="5450417"/>
            <a:ext cx="4212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代表成果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11292417" y="5842000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74083" y="148167"/>
                </a:moveTo>
                <a:cubicBezTo>
                  <a:pt x="114971" y="148167"/>
                  <a:pt x="148167" y="114971"/>
                  <a:pt x="148167" y="74083"/>
                </a:cubicBezTo>
                <a:cubicBezTo>
                  <a:pt x="148167" y="33196"/>
                  <a:pt x="114971" y="0"/>
                  <a:pt x="74083" y="0"/>
                </a:cubicBezTo>
                <a:cubicBezTo>
                  <a:pt x="33196" y="0"/>
                  <a:pt x="0" y="33196"/>
                  <a:pt x="0" y="74083"/>
                </a:cubicBezTo>
                <a:cubicBezTo>
                  <a:pt x="0" y="114971"/>
                  <a:pt x="33196" y="148167"/>
                  <a:pt x="74083" y="148167"/>
                </a:cubicBezTo>
                <a:close/>
                <a:moveTo>
                  <a:pt x="98508" y="61553"/>
                </a:moveTo>
                <a:lnTo>
                  <a:pt x="75357" y="98594"/>
                </a:lnTo>
                <a:cubicBezTo>
                  <a:pt x="74141" y="100533"/>
                  <a:pt x="72058" y="101749"/>
                  <a:pt x="69771" y="101865"/>
                </a:cubicBezTo>
                <a:cubicBezTo>
                  <a:pt x="67485" y="101980"/>
                  <a:pt x="65286" y="100939"/>
                  <a:pt x="63926" y="99086"/>
                </a:cubicBezTo>
                <a:lnTo>
                  <a:pt x="50035" y="80566"/>
                </a:lnTo>
                <a:cubicBezTo>
                  <a:pt x="47720" y="77498"/>
                  <a:pt x="48357" y="73157"/>
                  <a:pt x="51424" y="70842"/>
                </a:cubicBezTo>
                <a:cubicBezTo>
                  <a:pt x="54492" y="68527"/>
                  <a:pt x="58833" y="69164"/>
                  <a:pt x="61148" y="72231"/>
                </a:cubicBezTo>
                <a:lnTo>
                  <a:pt x="68961" y="82649"/>
                </a:lnTo>
                <a:lnTo>
                  <a:pt x="86730" y="54202"/>
                </a:lnTo>
                <a:cubicBezTo>
                  <a:pt x="88755" y="50961"/>
                  <a:pt x="93038" y="49948"/>
                  <a:pt x="96308" y="52003"/>
                </a:cubicBezTo>
                <a:cubicBezTo>
                  <a:pt x="99578" y="54058"/>
                  <a:pt x="100562" y="58312"/>
                  <a:pt x="98508" y="61582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11541125" y="5789083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强化学习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1292417" y="6180667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74083" y="148167"/>
                </a:moveTo>
                <a:cubicBezTo>
                  <a:pt x="114971" y="148167"/>
                  <a:pt x="148167" y="114971"/>
                  <a:pt x="148167" y="74083"/>
                </a:cubicBezTo>
                <a:cubicBezTo>
                  <a:pt x="148167" y="33196"/>
                  <a:pt x="114971" y="0"/>
                  <a:pt x="74083" y="0"/>
                </a:cubicBezTo>
                <a:cubicBezTo>
                  <a:pt x="33196" y="0"/>
                  <a:pt x="0" y="33196"/>
                  <a:pt x="0" y="74083"/>
                </a:cubicBezTo>
                <a:cubicBezTo>
                  <a:pt x="0" y="114971"/>
                  <a:pt x="33196" y="148167"/>
                  <a:pt x="74083" y="148167"/>
                </a:cubicBezTo>
                <a:close/>
                <a:moveTo>
                  <a:pt x="98508" y="61553"/>
                </a:moveTo>
                <a:lnTo>
                  <a:pt x="75357" y="98594"/>
                </a:lnTo>
                <a:cubicBezTo>
                  <a:pt x="74141" y="100533"/>
                  <a:pt x="72058" y="101749"/>
                  <a:pt x="69771" y="101865"/>
                </a:cubicBezTo>
                <a:cubicBezTo>
                  <a:pt x="67485" y="101980"/>
                  <a:pt x="65286" y="100939"/>
                  <a:pt x="63926" y="99086"/>
                </a:cubicBezTo>
                <a:lnTo>
                  <a:pt x="50035" y="80566"/>
                </a:lnTo>
                <a:cubicBezTo>
                  <a:pt x="47720" y="77498"/>
                  <a:pt x="48357" y="73157"/>
                  <a:pt x="51424" y="70842"/>
                </a:cubicBezTo>
                <a:cubicBezTo>
                  <a:pt x="54492" y="68527"/>
                  <a:pt x="58833" y="69164"/>
                  <a:pt x="61148" y="72231"/>
                </a:cubicBezTo>
                <a:lnTo>
                  <a:pt x="68961" y="82649"/>
                </a:lnTo>
                <a:lnTo>
                  <a:pt x="86730" y="54202"/>
                </a:lnTo>
                <a:cubicBezTo>
                  <a:pt x="88755" y="50961"/>
                  <a:pt x="93038" y="49948"/>
                  <a:pt x="96308" y="52003"/>
                </a:cubicBezTo>
                <a:cubicBezTo>
                  <a:pt x="99578" y="54058"/>
                  <a:pt x="100562" y="58312"/>
                  <a:pt x="98508" y="61582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11541125" y="6127750"/>
            <a:ext cx="931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机器人控制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11292417" y="6519333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74083" y="148167"/>
                </a:moveTo>
                <a:cubicBezTo>
                  <a:pt x="114971" y="148167"/>
                  <a:pt x="148167" y="114971"/>
                  <a:pt x="148167" y="74083"/>
                </a:cubicBezTo>
                <a:cubicBezTo>
                  <a:pt x="148167" y="33196"/>
                  <a:pt x="114971" y="0"/>
                  <a:pt x="74083" y="0"/>
                </a:cubicBezTo>
                <a:cubicBezTo>
                  <a:pt x="33196" y="0"/>
                  <a:pt x="0" y="33196"/>
                  <a:pt x="0" y="74083"/>
                </a:cubicBezTo>
                <a:cubicBezTo>
                  <a:pt x="0" y="114971"/>
                  <a:pt x="33196" y="148167"/>
                  <a:pt x="74083" y="148167"/>
                </a:cubicBezTo>
                <a:close/>
                <a:moveTo>
                  <a:pt x="98508" y="61553"/>
                </a:moveTo>
                <a:lnTo>
                  <a:pt x="75357" y="98594"/>
                </a:lnTo>
                <a:cubicBezTo>
                  <a:pt x="74141" y="100533"/>
                  <a:pt x="72058" y="101749"/>
                  <a:pt x="69771" y="101865"/>
                </a:cubicBezTo>
                <a:cubicBezTo>
                  <a:pt x="67485" y="101980"/>
                  <a:pt x="65286" y="100939"/>
                  <a:pt x="63926" y="99086"/>
                </a:cubicBezTo>
                <a:lnTo>
                  <a:pt x="50035" y="80566"/>
                </a:lnTo>
                <a:cubicBezTo>
                  <a:pt x="47720" y="77498"/>
                  <a:pt x="48357" y="73157"/>
                  <a:pt x="51424" y="70842"/>
                </a:cubicBezTo>
                <a:cubicBezTo>
                  <a:pt x="54492" y="68527"/>
                  <a:pt x="58833" y="69164"/>
                  <a:pt x="61148" y="72231"/>
                </a:cubicBezTo>
                <a:lnTo>
                  <a:pt x="68961" y="82649"/>
                </a:lnTo>
                <a:lnTo>
                  <a:pt x="86730" y="54202"/>
                </a:lnTo>
                <a:cubicBezTo>
                  <a:pt x="88755" y="50961"/>
                  <a:pt x="93038" y="49948"/>
                  <a:pt x="96308" y="52003"/>
                </a:cubicBezTo>
                <a:cubicBezTo>
                  <a:pt x="99578" y="54058"/>
                  <a:pt x="100562" y="58312"/>
                  <a:pt x="98508" y="61582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11541125" y="6466417"/>
            <a:ext cx="931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自适应系统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11101917" y="7016750"/>
            <a:ext cx="4466167" cy="1164167"/>
          </a:xfrm>
          <a:custGeom>
            <a:avLst/>
            <a:gdLst/>
            <a:ahLst/>
            <a:cxnLst/>
            <a:rect l="l" t="t" r="r" b="b"/>
            <a:pathLst>
              <a:path w="4466167" h="1164167">
                <a:moveTo>
                  <a:pt x="84670" y="0"/>
                </a:moveTo>
                <a:lnTo>
                  <a:pt x="4381497" y="0"/>
                </a:lnTo>
                <a:cubicBezTo>
                  <a:pt x="4428259" y="0"/>
                  <a:pt x="4466167" y="37908"/>
                  <a:pt x="4466167" y="84670"/>
                </a:cubicBezTo>
                <a:lnTo>
                  <a:pt x="4466167" y="1079497"/>
                </a:lnTo>
                <a:cubicBezTo>
                  <a:pt x="4466167" y="1126259"/>
                  <a:pt x="4428259" y="1164167"/>
                  <a:pt x="4381497" y="1164167"/>
                </a:cubicBezTo>
                <a:lnTo>
                  <a:pt x="84670" y="1164167"/>
                </a:lnTo>
                <a:cubicBezTo>
                  <a:pt x="37908" y="1164167"/>
                  <a:pt x="0" y="1126259"/>
                  <a:pt x="0" y="1079497"/>
                </a:cubicBezTo>
                <a:lnTo>
                  <a:pt x="0" y="84670"/>
                </a:lnTo>
                <a:cubicBezTo>
                  <a:pt x="0" y="37939"/>
                  <a:pt x="37939" y="0"/>
                  <a:pt x="8467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/>
          <p:nvPr/>
        </p:nvSpPr>
        <p:spPr>
          <a:xfrm>
            <a:off x="11271250" y="7186083"/>
            <a:ext cx="4212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优势与局限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1271250" y="7524750"/>
            <a:ext cx="4201583" cy="486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优势：</a:t>
            </a: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适合动态环境决策，实现实时交互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局限：</a:t>
            </a: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训练过程复杂，需要大量交互样本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514350"/>
            <a:ext cx="2908300" cy="419100"/>
          </a:xfrm>
          <a:custGeom>
            <a:avLst/>
            <a:gdLst/>
            <a:ahLst/>
            <a:cxnLst/>
            <a:rect l="l" t="t" r="r" b="b"/>
            <a:pathLst>
              <a:path w="2908300" h="419100">
                <a:moveTo>
                  <a:pt x="50799" y="0"/>
                </a:moveTo>
                <a:lnTo>
                  <a:pt x="2857501" y="0"/>
                </a:lnTo>
                <a:cubicBezTo>
                  <a:pt x="2885556" y="0"/>
                  <a:pt x="2908300" y="22744"/>
                  <a:pt x="2908300" y="50799"/>
                </a:cubicBezTo>
                <a:lnTo>
                  <a:pt x="2908300" y="368301"/>
                </a:lnTo>
                <a:cubicBezTo>
                  <a:pt x="2908300" y="396356"/>
                  <a:pt x="2885556" y="419100"/>
                  <a:pt x="2857501" y="419100"/>
                </a:cubicBezTo>
                <a:lnTo>
                  <a:pt x="50799" y="419100"/>
                </a:lnTo>
                <a:cubicBezTo>
                  <a:pt x="22744" y="419100"/>
                  <a:pt x="0" y="396356"/>
                  <a:pt x="0" y="3683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 w="12700">
            <a:solidFill>
              <a:srgbClr val="5F87A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3100" y="590550"/>
            <a:ext cx="26922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kern="0" spc="80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DEVELOPMENT HISTORY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041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AI发展历程：三次浪潮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651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从1950年代至今的人工智能发展重要节点</a:t>
            </a:r>
            <a:endParaRPr lang="en-US" sz="1600" dirty="0"/>
          </a:p>
        </p:txBody>
      </p:sp>
      <p:pic>
        <p:nvPicPr>
          <p:cNvPr id="6" name="Image 0" descr="https://kimi-img.moonshot.cn/pub/slides/25-12-31-15:52:13-d5adcb9e3tpp44q99v9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8000" y="2044696"/>
            <a:ext cx="15240000" cy="3556000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514350" y="5708646"/>
            <a:ext cx="4927600" cy="3314700"/>
          </a:xfrm>
          <a:custGeom>
            <a:avLst/>
            <a:gdLst/>
            <a:ahLst/>
            <a:cxnLst/>
            <a:rect l="l" t="t" r="r" b="b"/>
            <a:pathLst>
              <a:path w="4927600" h="3314700">
                <a:moveTo>
                  <a:pt x="152410" y="0"/>
                </a:moveTo>
                <a:lnTo>
                  <a:pt x="4775190" y="0"/>
                </a:lnTo>
                <a:cubicBezTo>
                  <a:pt x="4859364" y="0"/>
                  <a:pt x="4927600" y="68236"/>
                  <a:pt x="4927600" y="152410"/>
                </a:cubicBezTo>
                <a:lnTo>
                  <a:pt x="4927600" y="3162290"/>
                </a:lnTo>
                <a:cubicBezTo>
                  <a:pt x="4927600" y="3246464"/>
                  <a:pt x="4859364" y="3314700"/>
                  <a:pt x="4775190" y="3314700"/>
                </a:cubicBezTo>
                <a:lnTo>
                  <a:pt x="152410" y="3314700"/>
                </a:lnTo>
                <a:cubicBezTo>
                  <a:pt x="68236" y="3314700"/>
                  <a:pt x="0" y="3246464"/>
                  <a:pt x="0" y="316229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723900" y="591819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978694" y="6045196"/>
            <a:ext cx="228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85900" y="5918196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第一次浪潮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85900" y="6273796"/>
            <a:ext cx="135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1950s - 1970s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49300" y="6730996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1079500" y="6680196"/>
            <a:ext cx="3746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图灵测试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79500" y="6984996"/>
            <a:ext cx="3733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1950年，Alan Turing提出判断机器智能的标准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49300" y="7391396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1079500" y="7340596"/>
            <a:ext cx="398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感知机（Perceptron）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79500" y="7645396"/>
            <a:ext cx="397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1957年，Frank Rosenblatt发明，神经网络的雏形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49300" y="8051796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1079500" y="8000996"/>
            <a:ext cx="276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符号主义兴起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79500" y="8305796"/>
            <a:ext cx="2755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逻辑推理、专家系统成为研究热点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662017" y="5708646"/>
            <a:ext cx="4927600" cy="3314700"/>
          </a:xfrm>
          <a:custGeom>
            <a:avLst/>
            <a:gdLst/>
            <a:ahLst/>
            <a:cxnLst/>
            <a:rect l="l" t="t" r="r" b="b"/>
            <a:pathLst>
              <a:path w="4927600" h="3314700">
                <a:moveTo>
                  <a:pt x="152410" y="0"/>
                </a:moveTo>
                <a:lnTo>
                  <a:pt x="4775190" y="0"/>
                </a:lnTo>
                <a:cubicBezTo>
                  <a:pt x="4859364" y="0"/>
                  <a:pt x="4927600" y="68236"/>
                  <a:pt x="4927600" y="152410"/>
                </a:cubicBezTo>
                <a:lnTo>
                  <a:pt x="4927600" y="3162290"/>
                </a:lnTo>
                <a:cubicBezTo>
                  <a:pt x="4927600" y="3246464"/>
                  <a:pt x="4859364" y="3314700"/>
                  <a:pt x="4775190" y="3314700"/>
                </a:cubicBezTo>
                <a:lnTo>
                  <a:pt x="152410" y="3314700"/>
                </a:lnTo>
                <a:cubicBezTo>
                  <a:pt x="68236" y="3314700"/>
                  <a:pt x="0" y="3246464"/>
                  <a:pt x="0" y="316229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6ED3CF">
                  <a:alpha val="5000"/>
                </a:srgbClr>
              </a:gs>
            </a:gsLst>
            <a:lin ang="2700000" scaled="1"/>
          </a:gradFill>
          <a:ln w="12700">
            <a:solidFill>
              <a:srgbClr val="6ED3C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9"/>
          <p:cNvSpPr/>
          <p:nvPr/>
        </p:nvSpPr>
        <p:spPr>
          <a:xfrm>
            <a:off x="5871567" y="591819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0"/>
          <p:cNvSpPr/>
          <p:nvPr/>
        </p:nvSpPr>
        <p:spPr>
          <a:xfrm>
            <a:off x="6104930" y="6045196"/>
            <a:ext cx="266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1A1D2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633567" y="5918196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第二次浪潮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633567" y="6273796"/>
            <a:ext cx="135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1980s - 1990s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896967" y="6730996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/>
        </p:nvSpPr>
        <p:spPr>
          <a:xfrm>
            <a:off x="6227167" y="6680196"/>
            <a:ext cx="4051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BP算法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227167" y="6984996"/>
            <a:ext cx="403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1986年，反向传播算法解决多层神经网络训练问题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896967" y="7391396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/>
          <p:cNvSpPr/>
          <p:nvPr/>
        </p:nvSpPr>
        <p:spPr>
          <a:xfrm>
            <a:off x="6227167" y="7340596"/>
            <a:ext cx="347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专家系统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227167" y="7645396"/>
            <a:ext cx="346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商业化应用，如医疗诊断、地质勘探等领域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896967" y="8051796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0"/>
          <p:cNvSpPr/>
          <p:nvPr/>
        </p:nvSpPr>
        <p:spPr>
          <a:xfrm>
            <a:off x="6227167" y="8000996"/>
            <a:ext cx="350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机器学习兴起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227167" y="8305796"/>
            <a:ext cx="349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统计学习方法，如SVM、决策树等算法发展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10809784" y="5708646"/>
            <a:ext cx="4927600" cy="3314700"/>
          </a:xfrm>
          <a:custGeom>
            <a:avLst/>
            <a:gdLst/>
            <a:ahLst/>
            <a:cxnLst/>
            <a:rect l="l" t="t" r="r" b="b"/>
            <a:pathLst>
              <a:path w="4927600" h="3314700">
                <a:moveTo>
                  <a:pt x="152410" y="0"/>
                </a:moveTo>
                <a:lnTo>
                  <a:pt x="4775190" y="0"/>
                </a:lnTo>
                <a:cubicBezTo>
                  <a:pt x="4859364" y="0"/>
                  <a:pt x="4927600" y="68236"/>
                  <a:pt x="4927600" y="152410"/>
                </a:cubicBezTo>
                <a:lnTo>
                  <a:pt x="4927600" y="3162290"/>
                </a:lnTo>
                <a:cubicBezTo>
                  <a:pt x="4927600" y="3246464"/>
                  <a:pt x="4859364" y="3314700"/>
                  <a:pt x="4775190" y="3314700"/>
                </a:cubicBezTo>
                <a:lnTo>
                  <a:pt x="152410" y="3314700"/>
                </a:lnTo>
                <a:cubicBezTo>
                  <a:pt x="68236" y="3314700"/>
                  <a:pt x="0" y="3246464"/>
                  <a:pt x="0" y="316229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3"/>
          <p:cNvSpPr/>
          <p:nvPr/>
        </p:nvSpPr>
        <p:spPr>
          <a:xfrm>
            <a:off x="11019334" y="591819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4"/>
          <p:cNvSpPr/>
          <p:nvPr/>
        </p:nvSpPr>
        <p:spPr>
          <a:xfrm>
            <a:off x="11249422" y="6045196"/>
            <a:ext cx="279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11781334" y="5918196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第三次浪潮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11781334" y="6273796"/>
            <a:ext cx="135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2006s - 至今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11038384" y="6730996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50800" y="127000"/>
                </a:moveTo>
                <a:lnTo>
                  <a:pt x="9723" y="127000"/>
                </a:lnTo>
                <a:cubicBezTo>
                  <a:pt x="-159" y="127000"/>
                  <a:pt x="-6231" y="116245"/>
                  <a:pt x="-1151" y="107752"/>
                </a:cubicBezTo>
                <a:lnTo>
                  <a:pt x="19844" y="72747"/>
                </a:lnTo>
                <a:cubicBezTo>
                  <a:pt x="23297" y="66993"/>
                  <a:pt x="29488" y="63500"/>
                  <a:pt x="36195" y="63500"/>
                </a:cubicBezTo>
                <a:lnTo>
                  <a:pt x="73898" y="63500"/>
                </a:lnTo>
                <a:cubicBezTo>
                  <a:pt x="104100" y="12343"/>
                  <a:pt x="149146" y="9763"/>
                  <a:pt x="179268" y="14168"/>
                </a:cubicBezTo>
                <a:cubicBezTo>
                  <a:pt x="184348" y="14923"/>
                  <a:pt x="188317" y="18891"/>
                  <a:pt x="189032" y="23932"/>
                </a:cubicBezTo>
                <a:cubicBezTo>
                  <a:pt x="193437" y="54054"/>
                  <a:pt x="190857" y="99100"/>
                  <a:pt x="139700" y="129302"/>
                </a:cubicBezTo>
                <a:lnTo>
                  <a:pt x="139700" y="167005"/>
                </a:lnTo>
                <a:cubicBezTo>
                  <a:pt x="139700" y="173712"/>
                  <a:pt x="136208" y="179903"/>
                  <a:pt x="130453" y="183356"/>
                </a:cubicBezTo>
                <a:lnTo>
                  <a:pt x="95448" y="204351"/>
                </a:lnTo>
                <a:cubicBezTo>
                  <a:pt x="86995" y="209431"/>
                  <a:pt x="76200" y="203319"/>
                  <a:pt x="76200" y="193477"/>
                </a:cubicBezTo>
                <a:lnTo>
                  <a:pt x="76200" y="152400"/>
                </a:lnTo>
                <a:cubicBezTo>
                  <a:pt x="76200" y="138390"/>
                  <a:pt x="64810" y="127000"/>
                  <a:pt x="50800" y="127000"/>
                </a:cubicBezTo>
                <a:lnTo>
                  <a:pt x="50760" y="127000"/>
                </a:lnTo>
                <a:close/>
                <a:moveTo>
                  <a:pt x="158750" y="63500"/>
                </a:moveTo>
                <a:cubicBezTo>
                  <a:pt x="158750" y="52986"/>
                  <a:pt x="150214" y="44450"/>
                  <a:pt x="139700" y="44450"/>
                </a:cubicBezTo>
                <a:cubicBezTo>
                  <a:pt x="129186" y="44450"/>
                  <a:pt x="120650" y="52986"/>
                  <a:pt x="120650" y="63500"/>
                </a:cubicBezTo>
                <a:cubicBezTo>
                  <a:pt x="120650" y="74014"/>
                  <a:pt x="129186" y="82550"/>
                  <a:pt x="139700" y="82550"/>
                </a:cubicBezTo>
                <a:cubicBezTo>
                  <a:pt x="150214" y="82550"/>
                  <a:pt x="158750" y="74014"/>
                  <a:pt x="158750" y="6350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8"/>
          <p:cNvSpPr/>
          <p:nvPr/>
        </p:nvSpPr>
        <p:spPr>
          <a:xfrm>
            <a:off x="11364416" y="6680196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深度学习革命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11364416" y="6984996"/>
            <a:ext cx="4254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2006年，Hinton提出深度信念网络，开启深度学习时代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11044734" y="7645396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50800" y="127000"/>
                </a:moveTo>
                <a:lnTo>
                  <a:pt x="9723" y="127000"/>
                </a:lnTo>
                <a:cubicBezTo>
                  <a:pt x="-159" y="127000"/>
                  <a:pt x="-6231" y="116245"/>
                  <a:pt x="-1151" y="107752"/>
                </a:cubicBezTo>
                <a:lnTo>
                  <a:pt x="19844" y="72747"/>
                </a:lnTo>
                <a:cubicBezTo>
                  <a:pt x="23297" y="66993"/>
                  <a:pt x="29488" y="63500"/>
                  <a:pt x="36195" y="63500"/>
                </a:cubicBezTo>
                <a:lnTo>
                  <a:pt x="73898" y="63500"/>
                </a:lnTo>
                <a:cubicBezTo>
                  <a:pt x="104100" y="12343"/>
                  <a:pt x="149146" y="9763"/>
                  <a:pt x="179268" y="14168"/>
                </a:cubicBezTo>
                <a:cubicBezTo>
                  <a:pt x="184348" y="14923"/>
                  <a:pt x="188317" y="18891"/>
                  <a:pt x="189032" y="23932"/>
                </a:cubicBezTo>
                <a:cubicBezTo>
                  <a:pt x="193437" y="54054"/>
                  <a:pt x="190857" y="99100"/>
                  <a:pt x="139700" y="129302"/>
                </a:cubicBezTo>
                <a:lnTo>
                  <a:pt x="139700" y="167005"/>
                </a:lnTo>
                <a:cubicBezTo>
                  <a:pt x="139700" y="173712"/>
                  <a:pt x="136208" y="179903"/>
                  <a:pt x="130453" y="183356"/>
                </a:cubicBezTo>
                <a:lnTo>
                  <a:pt x="95448" y="204351"/>
                </a:lnTo>
                <a:cubicBezTo>
                  <a:pt x="86995" y="209431"/>
                  <a:pt x="76200" y="203319"/>
                  <a:pt x="76200" y="193477"/>
                </a:cubicBezTo>
                <a:lnTo>
                  <a:pt x="76200" y="152400"/>
                </a:lnTo>
                <a:cubicBezTo>
                  <a:pt x="76200" y="138390"/>
                  <a:pt x="64810" y="127000"/>
                  <a:pt x="50800" y="127000"/>
                </a:cubicBezTo>
                <a:lnTo>
                  <a:pt x="50760" y="127000"/>
                </a:lnTo>
                <a:close/>
                <a:moveTo>
                  <a:pt x="158750" y="63500"/>
                </a:moveTo>
                <a:cubicBezTo>
                  <a:pt x="158750" y="52986"/>
                  <a:pt x="150214" y="44450"/>
                  <a:pt x="139700" y="44450"/>
                </a:cubicBezTo>
                <a:cubicBezTo>
                  <a:pt x="129186" y="44450"/>
                  <a:pt x="120650" y="52986"/>
                  <a:pt x="120650" y="63500"/>
                </a:cubicBezTo>
                <a:cubicBezTo>
                  <a:pt x="120650" y="74014"/>
                  <a:pt x="129186" y="82550"/>
                  <a:pt x="139700" y="82550"/>
                </a:cubicBezTo>
                <a:cubicBezTo>
                  <a:pt x="150214" y="82550"/>
                  <a:pt x="158750" y="74014"/>
                  <a:pt x="158750" y="6350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1"/>
          <p:cNvSpPr/>
          <p:nvPr/>
        </p:nvSpPr>
        <p:spPr>
          <a:xfrm>
            <a:off x="11374934" y="7594596"/>
            <a:ext cx="422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大模型时代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11374934" y="7899396"/>
            <a:ext cx="421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2017年Transformer架构，GPT、BERT等大语言模型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11044734" y="8305796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50800" y="127000"/>
                </a:moveTo>
                <a:lnTo>
                  <a:pt x="9723" y="127000"/>
                </a:lnTo>
                <a:cubicBezTo>
                  <a:pt x="-159" y="127000"/>
                  <a:pt x="-6231" y="116245"/>
                  <a:pt x="-1151" y="107752"/>
                </a:cubicBezTo>
                <a:lnTo>
                  <a:pt x="19844" y="72747"/>
                </a:lnTo>
                <a:cubicBezTo>
                  <a:pt x="23297" y="66993"/>
                  <a:pt x="29488" y="63500"/>
                  <a:pt x="36195" y="63500"/>
                </a:cubicBezTo>
                <a:lnTo>
                  <a:pt x="73898" y="63500"/>
                </a:lnTo>
                <a:cubicBezTo>
                  <a:pt x="104100" y="12343"/>
                  <a:pt x="149146" y="9763"/>
                  <a:pt x="179268" y="14168"/>
                </a:cubicBezTo>
                <a:cubicBezTo>
                  <a:pt x="184348" y="14923"/>
                  <a:pt x="188317" y="18891"/>
                  <a:pt x="189032" y="23932"/>
                </a:cubicBezTo>
                <a:cubicBezTo>
                  <a:pt x="193437" y="54054"/>
                  <a:pt x="190857" y="99100"/>
                  <a:pt x="139700" y="129302"/>
                </a:cubicBezTo>
                <a:lnTo>
                  <a:pt x="139700" y="167005"/>
                </a:lnTo>
                <a:cubicBezTo>
                  <a:pt x="139700" y="173712"/>
                  <a:pt x="136208" y="179903"/>
                  <a:pt x="130453" y="183356"/>
                </a:cubicBezTo>
                <a:lnTo>
                  <a:pt x="95448" y="204351"/>
                </a:lnTo>
                <a:cubicBezTo>
                  <a:pt x="86995" y="209431"/>
                  <a:pt x="76200" y="203319"/>
                  <a:pt x="76200" y="193477"/>
                </a:cubicBezTo>
                <a:lnTo>
                  <a:pt x="76200" y="152400"/>
                </a:lnTo>
                <a:cubicBezTo>
                  <a:pt x="76200" y="138390"/>
                  <a:pt x="64810" y="127000"/>
                  <a:pt x="50800" y="127000"/>
                </a:cubicBezTo>
                <a:lnTo>
                  <a:pt x="50760" y="127000"/>
                </a:lnTo>
                <a:close/>
                <a:moveTo>
                  <a:pt x="158750" y="63500"/>
                </a:moveTo>
                <a:cubicBezTo>
                  <a:pt x="158750" y="52986"/>
                  <a:pt x="150214" y="44450"/>
                  <a:pt x="139700" y="44450"/>
                </a:cubicBezTo>
                <a:cubicBezTo>
                  <a:pt x="129186" y="44450"/>
                  <a:pt x="120650" y="52986"/>
                  <a:pt x="120650" y="63500"/>
                </a:cubicBezTo>
                <a:cubicBezTo>
                  <a:pt x="120650" y="74014"/>
                  <a:pt x="129186" y="82550"/>
                  <a:pt x="139700" y="82550"/>
                </a:cubicBezTo>
                <a:cubicBezTo>
                  <a:pt x="150214" y="82550"/>
                  <a:pt x="158750" y="74014"/>
                  <a:pt x="158750" y="6350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4"/>
          <p:cNvSpPr/>
          <p:nvPr/>
        </p:nvSpPr>
        <p:spPr>
          <a:xfrm>
            <a:off x="11374934" y="8254996"/>
            <a:ext cx="382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产业化应用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11374934" y="8559796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计算机视觉、NLP、自动驾驶等领域大规模落地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eb34d45b67658ac99d2f2d7018966a5c6dac087d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21875" b="21875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/>
              </a:gs>
              <a:gs pos="50000">
                <a:srgbClr val="1A1D24">
                  <a:alpha val="90000"/>
                </a:srgbClr>
              </a:gs>
              <a:gs pos="100000">
                <a:srgbClr val="1A1D24">
                  <a:alpha val="6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14350" y="2139950"/>
            <a:ext cx="2298700" cy="571500"/>
          </a:xfrm>
          <a:custGeom>
            <a:avLst/>
            <a:gdLst/>
            <a:ahLst/>
            <a:cxnLst/>
            <a:rect l="l" t="t" r="r" b="b"/>
            <a:pathLst>
              <a:path w="2298700" h="571500">
                <a:moveTo>
                  <a:pt x="101601" y="0"/>
                </a:moveTo>
                <a:lnTo>
                  <a:pt x="2197099" y="0"/>
                </a:lnTo>
                <a:cubicBezTo>
                  <a:pt x="2253212" y="0"/>
                  <a:pt x="2298700" y="45488"/>
                  <a:pt x="2298700" y="101601"/>
                </a:cubicBezTo>
                <a:lnTo>
                  <a:pt x="2298700" y="469899"/>
                </a:lnTo>
                <a:cubicBezTo>
                  <a:pt x="2298700" y="526012"/>
                  <a:pt x="2253212" y="571500"/>
                  <a:pt x="2197099" y="571500"/>
                </a:cubicBezTo>
                <a:lnTo>
                  <a:pt x="101601" y="571500"/>
                </a:lnTo>
                <a:cubicBezTo>
                  <a:pt x="45488" y="571500"/>
                  <a:pt x="0" y="526012"/>
                  <a:pt x="0" y="4698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 w="12700">
            <a:solidFill>
              <a:srgbClr val="6ED3CF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74700" y="2254250"/>
            <a:ext cx="190758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kern="0" spc="200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124200"/>
            <a:ext cx="492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AI</a:t>
            </a:r>
            <a:r>
              <a:rPr lang="en-US" sz="72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工作流程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4572000"/>
            <a:ext cx="4660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5F87A7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从数据到模型的完整路径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6642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812800" y="5537200"/>
            <a:ext cx="2387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数据准备</a:t>
            </a:r>
            <a:r>
              <a:rPr lang="en-US" sz="2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：</a:t>
            </a:r>
            <a:r>
              <a:rPr lang="en-US" sz="2000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AI</a:t>
            </a:r>
            <a:r>
              <a:rPr lang="en-US" sz="2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的燃料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8000" y="62230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812800" y="6096000"/>
            <a:ext cx="342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特征工程</a:t>
            </a:r>
            <a:r>
              <a:rPr lang="en-US" sz="2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：决定机器学习上限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8000" y="67818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812800" y="6654800"/>
            <a:ext cx="241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模型训练与评估调优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514350"/>
            <a:ext cx="2616200" cy="419100"/>
          </a:xfrm>
          <a:custGeom>
            <a:avLst/>
            <a:gdLst/>
            <a:ahLst/>
            <a:cxnLst/>
            <a:rect l="l" t="t" r="r" b="b"/>
            <a:pathLst>
              <a:path w="2616200" h="419100">
                <a:moveTo>
                  <a:pt x="50799" y="0"/>
                </a:moveTo>
                <a:lnTo>
                  <a:pt x="2565401" y="0"/>
                </a:lnTo>
                <a:cubicBezTo>
                  <a:pt x="2593456" y="0"/>
                  <a:pt x="2616200" y="22744"/>
                  <a:pt x="2616200" y="50799"/>
                </a:cubicBezTo>
                <a:lnTo>
                  <a:pt x="2616200" y="368301"/>
                </a:lnTo>
                <a:cubicBezTo>
                  <a:pt x="2616200" y="396356"/>
                  <a:pt x="2593456" y="419100"/>
                  <a:pt x="2565401" y="419100"/>
                </a:cubicBezTo>
                <a:lnTo>
                  <a:pt x="50799" y="419100"/>
                </a:lnTo>
                <a:cubicBezTo>
                  <a:pt x="22744" y="419100"/>
                  <a:pt x="0" y="396356"/>
                  <a:pt x="0" y="3683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 w="12700">
            <a:solidFill>
              <a:srgbClr val="5F87A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3100" y="590550"/>
            <a:ext cx="24065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kern="0" spc="80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CRISP-DM STANDARD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041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AI</a:t>
            </a:r>
            <a:r>
              <a:rPr lang="en-US" sz="36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工作流程概览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651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遵循</a:t>
            </a:r>
            <a:r>
              <a:rPr lang="en-US" sz="1600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CRISP-DM</a:t>
            </a:r>
            <a:r>
              <a:rPr lang="en-US" sz="16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标准的完整AI项目流程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4350" y="2216150"/>
            <a:ext cx="15227300" cy="1333500"/>
          </a:xfrm>
          <a:custGeom>
            <a:avLst/>
            <a:gdLst/>
            <a:ahLst/>
            <a:cxnLst/>
            <a:rect l="l" t="t" r="r" b="b"/>
            <a:pathLst>
              <a:path w="15227300" h="1333500">
                <a:moveTo>
                  <a:pt x="152406" y="0"/>
                </a:moveTo>
                <a:lnTo>
                  <a:pt x="15074894" y="0"/>
                </a:lnTo>
                <a:cubicBezTo>
                  <a:pt x="15159009" y="0"/>
                  <a:pt x="15227300" y="68291"/>
                  <a:pt x="15227300" y="152406"/>
                </a:cubicBezTo>
                <a:lnTo>
                  <a:pt x="15227300" y="1181094"/>
                </a:lnTo>
                <a:cubicBezTo>
                  <a:pt x="15227300" y="1265209"/>
                  <a:pt x="15159009" y="1333500"/>
                  <a:pt x="15074894" y="1333500"/>
                </a:cubicBezTo>
                <a:lnTo>
                  <a:pt x="152406" y="1333500"/>
                </a:lnTo>
                <a:cubicBezTo>
                  <a:pt x="68291" y="1333500"/>
                  <a:pt x="0" y="1265209"/>
                  <a:pt x="0" y="11810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25500" y="2578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003300" y="27559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39688"/>
                </a:moveTo>
                <a:cubicBezTo>
                  <a:pt x="0" y="26541"/>
                  <a:pt x="10666" y="15875"/>
                  <a:pt x="23812" y="15875"/>
                </a:cubicBezTo>
                <a:lnTo>
                  <a:pt x="71438" y="15875"/>
                </a:lnTo>
                <a:cubicBezTo>
                  <a:pt x="84584" y="15875"/>
                  <a:pt x="95250" y="26541"/>
                  <a:pt x="95250" y="39688"/>
                </a:cubicBezTo>
                <a:lnTo>
                  <a:pt x="95250" y="47625"/>
                </a:lnTo>
                <a:lnTo>
                  <a:pt x="158750" y="47625"/>
                </a:lnTo>
                <a:lnTo>
                  <a:pt x="158750" y="39688"/>
                </a:lnTo>
                <a:cubicBezTo>
                  <a:pt x="158750" y="26541"/>
                  <a:pt x="169416" y="15875"/>
                  <a:pt x="182563" y="15875"/>
                </a:cubicBezTo>
                <a:lnTo>
                  <a:pt x="230188" y="15875"/>
                </a:lnTo>
                <a:cubicBezTo>
                  <a:pt x="243334" y="15875"/>
                  <a:pt x="254000" y="26541"/>
                  <a:pt x="254000" y="39688"/>
                </a:cubicBezTo>
                <a:lnTo>
                  <a:pt x="254000" y="87313"/>
                </a:lnTo>
                <a:cubicBezTo>
                  <a:pt x="254000" y="100459"/>
                  <a:pt x="243334" y="111125"/>
                  <a:pt x="230188" y="111125"/>
                </a:cubicBezTo>
                <a:lnTo>
                  <a:pt x="182563" y="111125"/>
                </a:lnTo>
                <a:cubicBezTo>
                  <a:pt x="169416" y="111125"/>
                  <a:pt x="158750" y="100459"/>
                  <a:pt x="158750" y="87313"/>
                </a:cubicBezTo>
                <a:lnTo>
                  <a:pt x="158750" y="79375"/>
                </a:lnTo>
                <a:lnTo>
                  <a:pt x="95250" y="79375"/>
                </a:lnTo>
                <a:lnTo>
                  <a:pt x="95250" y="87313"/>
                </a:lnTo>
                <a:cubicBezTo>
                  <a:pt x="95250" y="90934"/>
                  <a:pt x="94407" y="94407"/>
                  <a:pt x="92968" y="97482"/>
                </a:cubicBezTo>
                <a:lnTo>
                  <a:pt x="127000" y="142875"/>
                </a:lnTo>
                <a:lnTo>
                  <a:pt x="166688" y="142875"/>
                </a:lnTo>
                <a:cubicBezTo>
                  <a:pt x="179834" y="142875"/>
                  <a:pt x="190500" y="153541"/>
                  <a:pt x="190500" y="166688"/>
                </a:cubicBezTo>
                <a:lnTo>
                  <a:pt x="190500" y="214313"/>
                </a:lnTo>
                <a:cubicBezTo>
                  <a:pt x="190500" y="227459"/>
                  <a:pt x="179834" y="238125"/>
                  <a:pt x="166688" y="238125"/>
                </a:cubicBezTo>
                <a:lnTo>
                  <a:pt x="119063" y="238125"/>
                </a:lnTo>
                <a:cubicBezTo>
                  <a:pt x="105916" y="238125"/>
                  <a:pt x="95250" y="227459"/>
                  <a:pt x="95250" y="214313"/>
                </a:cubicBezTo>
                <a:lnTo>
                  <a:pt x="95250" y="166688"/>
                </a:lnTo>
                <a:cubicBezTo>
                  <a:pt x="95250" y="163066"/>
                  <a:pt x="96093" y="159593"/>
                  <a:pt x="97532" y="156518"/>
                </a:cubicBezTo>
                <a:lnTo>
                  <a:pt x="63500" y="111125"/>
                </a:lnTo>
                <a:lnTo>
                  <a:pt x="23812" y="111125"/>
                </a:lnTo>
                <a:cubicBezTo>
                  <a:pt x="10666" y="111125"/>
                  <a:pt x="0" y="100459"/>
                  <a:pt x="0" y="87313"/>
                </a:cubicBezTo>
                <a:lnTo>
                  <a:pt x="0" y="39688"/>
                </a:ln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587500" y="2527300"/>
            <a:ext cx="2387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CRISP-DM</a:t>
            </a:r>
            <a:r>
              <a:rPr lang="en-US" sz="24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标准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87500" y="2933700"/>
            <a:ext cx="233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跨行业数据挖掘标准流程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439900" y="2603500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6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6个阶段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452600" y="2908300"/>
            <a:ext cx="97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迭代式流程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4350" y="3511550"/>
            <a:ext cx="2870200" cy="3670300"/>
          </a:xfrm>
          <a:custGeom>
            <a:avLst/>
            <a:gdLst/>
            <a:ahLst/>
            <a:cxnLst/>
            <a:rect l="l" t="t" r="r" b="b"/>
            <a:pathLst>
              <a:path w="2870200" h="3670300">
                <a:moveTo>
                  <a:pt x="152408" y="0"/>
                </a:moveTo>
                <a:lnTo>
                  <a:pt x="2717792" y="0"/>
                </a:lnTo>
                <a:cubicBezTo>
                  <a:pt x="2801965" y="0"/>
                  <a:pt x="2870200" y="68235"/>
                  <a:pt x="2870200" y="152408"/>
                </a:cubicBezTo>
                <a:lnTo>
                  <a:pt x="2870200" y="3517892"/>
                </a:lnTo>
                <a:cubicBezTo>
                  <a:pt x="2870200" y="3602065"/>
                  <a:pt x="2801965" y="3670300"/>
                  <a:pt x="2717792" y="3670300"/>
                </a:cubicBezTo>
                <a:lnTo>
                  <a:pt x="152408" y="3670300"/>
                </a:lnTo>
                <a:cubicBezTo>
                  <a:pt x="68235" y="3670300"/>
                  <a:pt x="0" y="3602065"/>
                  <a:pt x="0" y="351789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30000"/>
                </a:srgbClr>
              </a:gs>
              <a:gs pos="100000">
                <a:srgbClr val="5F87A7">
                  <a:alpha val="10000"/>
                </a:srgbClr>
              </a:gs>
            </a:gsLst>
            <a:lin ang="2700000" scaled="1"/>
          </a:gradFill>
          <a:ln w="12700">
            <a:solidFill>
              <a:srgbClr val="5F87A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595041" y="37719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1817291" y="39751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379141" y="46355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数据准备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14239" y="5092700"/>
            <a:ext cx="147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Data Preparation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47093" y="5499100"/>
            <a:ext cx="120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数据收集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47093" y="5803900"/>
            <a:ext cx="120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数据清洗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47093" y="6108700"/>
            <a:ext cx="120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数据集划分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576388" y="6515100"/>
            <a:ext cx="749300" cy="406400"/>
          </a:xfrm>
          <a:custGeom>
            <a:avLst/>
            <a:gdLst/>
            <a:ahLst/>
            <a:cxnLst/>
            <a:rect l="l" t="t" r="r" b="b"/>
            <a:pathLst>
              <a:path w="749300" h="406400">
                <a:moveTo>
                  <a:pt x="203200" y="0"/>
                </a:moveTo>
                <a:lnTo>
                  <a:pt x="546100" y="0"/>
                </a:lnTo>
                <a:cubicBezTo>
                  <a:pt x="658249" y="0"/>
                  <a:pt x="749300" y="91051"/>
                  <a:pt x="749300" y="203200"/>
                </a:cubicBezTo>
                <a:lnTo>
                  <a:pt x="749300" y="203200"/>
                </a:lnTo>
                <a:cubicBezTo>
                  <a:pt x="749300" y="315349"/>
                  <a:pt x="658249" y="406400"/>
                  <a:pt x="5461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728788" y="6635750"/>
            <a:ext cx="52000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Ch-02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02930" y="3511550"/>
            <a:ext cx="2870200" cy="3670300"/>
          </a:xfrm>
          <a:custGeom>
            <a:avLst/>
            <a:gdLst/>
            <a:ahLst/>
            <a:cxnLst/>
            <a:rect l="l" t="t" r="r" b="b"/>
            <a:pathLst>
              <a:path w="2870200" h="3670300">
                <a:moveTo>
                  <a:pt x="152408" y="0"/>
                </a:moveTo>
                <a:lnTo>
                  <a:pt x="2717792" y="0"/>
                </a:lnTo>
                <a:cubicBezTo>
                  <a:pt x="2801965" y="0"/>
                  <a:pt x="2870200" y="68235"/>
                  <a:pt x="2870200" y="152408"/>
                </a:cubicBezTo>
                <a:lnTo>
                  <a:pt x="2870200" y="3517892"/>
                </a:lnTo>
                <a:cubicBezTo>
                  <a:pt x="2870200" y="3602065"/>
                  <a:pt x="2801965" y="3670300"/>
                  <a:pt x="2717792" y="3670300"/>
                </a:cubicBezTo>
                <a:lnTo>
                  <a:pt x="152408" y="3670300"/>
                </a:lnTo>
                <a:cubicBezTo>
                  <a:pt x="68235" y="3670300"/>
                  <a:pt x="0" y="3602065"/>
                  <a:pt x="0" y="351789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30000"/>
                </a:srgbClr>
              </a:gs>
              <a:gs pos="100000">
                <a:srgbClr val="6ED3CF">
                  <a:alpha val="10000"/>
                </a:srgbClr>
              </a:gs>
            </a:gsLst>
            <a:lin ang="2700000" scaled="1"/>
          </a:gradFill>
          <a:ln w="12700">
            <a:solidFill>
              <a:srgbClr val="6ED3CF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4683720" y="37719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4848820" y="39751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47590" y="125313"/>
                </a:moveTo>
                <a:cubicBezTo>
                  <a:pt x="254853" y="123349"/>
                  <a:pt x="262473" y="126802"/>
                  <a:pt x="265747" y="133529"/>
                </a:cubicBezTo>
                <a:lnTo>
                  <a:pt x="276820" y="155912"/>
                </a:lnTo>
                <a:cubicBezTo>
                  <a:pt x="282952" y="156746"/>
                  <a:pt x="288965" y="158413"/>
                  <a:pt x="294620" y="160734"/>
                </a:cubicBezTo>
                <a:lnTo>
                  <a:pt x="315456" y="146864"/>
                </a:lnTo>
                <a:cubicBezTo>
                  <a:pt x="321707" y="142696"/>
                  <a:pt x="329982" y="143530"/>
                  <a:pt x="335280" y="148828"/>
                </a:cubicBezTo>
                <a:lnTo>
                  <a:pt x="346710" y="160258"/>
                </a:lnTo>
                <a:cubicBezTo>
                  <a:pt x="352008" y="165556"/>
                  <a:pt x="352842" y="173891"/>
                  <a:pt x="348675" y="180082"/>
                </a:cubicBezTo>
                <a:lnTo>
                  <a:pt x="334804" y="200858"/>
                </a:lnTo>
                <a:cubicBezTo>
                  <a:pt x="335935" y="203656"/>
                  <a:pt x="336947" y="206573"/>
                  <a:pt x="337780" y="209610"/>
                </a:cubicBezTo>
                <a:cubicBezTo>
                  <a:pt x="338614" y="212646"/>
                  <a:pt x="339150" y="215622"/>
                  <a:pt x="339566" y="218658"/>
                </a:cubicBezTo>
                <a:lnTo>
                  <a:pt x="362010" y="229731"/>
                </a:lnTo>
                <a:cubicBezTo>
                  <a:pt x="368737" y="233065"/>
                  <a:pt x="372189" y="240685"/>
                  <a:pt x="370225" y="247888"/>
                </a:cubicBezTo>
                <a:lnTo>
                  <a:pt x="366058" y="263485"/>
                </a:lnTo>
                <a:cubicBezTo>
                  <a:pt x="364093" y="270689"/>
                  <a:pt x="357366" y="275570"/>
                  <a:pt x="349865" y="275094"/>
                </a:cubicBezTo>
                <a:lnTo>
                  <a:pt x="324862" y="273487"/>
                </a:lnTo>
                <a:cubicBezTo>
                  <a:pt x="321112" y="278309"/>
                  <a:pt x="316766" y="282773"/>
                  <a:pt x="311825" y="286583"/>
                </a:cubicBezTo>
                <a:lnTo>
                  <a:pt x="313432" y="311527"/>
                </a:lnTo>
                <a:cubicBezTo>
                  <a:pt x="313908" y="319028"/>
                  <a:pt x="309027" y="325815"/>
                  <a:pt x="301823" y="327720"/>
                </a:cubicBezTo>
                <a:lnTo>
                  <a:pt x="286226" y="331887"/>
                </a:lnTo>
                <a:cubicBezTo>
                  <a:pt x="278963" y="333851"/>
                  <a:pt x="271403" y="330398"/>
                  <a:pt x="268069" y="323671"/>
                </a:cubicBezTo>
                <a:lnTo>
                  <a:pt x="256996" y="301288"/>
                </a:lnTo>
                <a:cubicBezTo>
                  <a:pt x="250865" y="300454"/>
                  <a:pt x="244852" y="298787"/>
                  <a:pt x="239197" y="296466"/>
                </a:cubicBezTo>
                <a:lnTo>
                  <a:pt x="218361" y="310336"/>
                </a:lnTo>
                <a:cubicBezTo>
                  <a:pt x="212110" y="314504"/>
                  <a:pt x="203835" y="313670"/>
                  <a:pt x="198537" y="308372"/>
                </a:cubicBezTo>
                <a:lnTo>
                  <a:pt x="187107" y="296942"/>
                </a:lnTo>
                <a:cubicBezTo>
                  <a:pt x="181808" y="291644"/>
                  <a:pt x="180975" y="283369"/>
                  <a:pt x="185142" y="277118"/>
                </a:cubicBezTo>
                <a:lnTo>
                  <a:pt x="199013" y="256282"/>
                </a:lnTo>
                <a:cubicBezTo>
                  <a:pt x="197882" y="253484"/>
                  <a:pt x="196870" y="250567"/>
                  <a:pt x="196036" y="247531"/>
                </a:cubicBezTo>
                <a:cubicBezTo>
                  <a:pt x="195203" y="244495"/>
                  <a:pt x="194667" y="241459"/>
                  <a:pt x="194250" y="238482"/>
                </a:cubicBezTo>
                <a:lnTo>
                  <a:pt x="171807" y="227409"/>
                </a:lnTo>
                <a:cubicBezTo>
                  <a:pt x="165080" y="224076"/>
                  <a:pt x="161687" y="216456"/>
                  <a:pt x="163592" y="209252"/>
                </a:cubicBezTo>
                <a:lnTo>
                  <a:pt x="167759" y="193655"/>
                </a:lnTo>
                <a:cubicBezTo>
                  <a:pt x="169724" y="186452"/>
                  <a:pt x="176451" y="181570"/>
                  <a:pt x="183952" y="182047"/>
                </a:cubicBezTo>
                <a:lnTo>
                  <a:pt x="208895" y="183654"/>
                </a:lnTo>
                <a:cubicBezTo>
                  <a:pt x="212646" y="178832"/>
                  <a:pt x="216991" y="174367"/>
                  <a:pt x="221932" y="170557"/>
                </a:cubicBezTo>
                <a:lnTo>
                  <a:pt x="220325" y="145673"/>
                </a:lnTo>
                <a:cubicBezTo>
                  <a:pt x="219849" y="138172"/>
                  <a:pt x="224730" y="131385"/>
                  <a:pt x="231934" y="129480"/>
                </a:cubicBezTo>
                <a:lnTo>
                  <a:pt x="247531" y="125313"/>
                </a:lnTo>
                <a:close/>
                <a:moveTo>
                  <a:pt x="266938" y="202406"/>
                </a:moveTo>
                <a:cubicBezTo>
                  <a:pt x="252481" y="202423"/>
                  <a:pt x="240758" y="214173"/>
                  <a:pt x="240774" y="228630"/>
                </a:cubicBezTo>
                <a:cubicBezTo>
                  <a:pt x="240791" y="243086"/>
                  <a:pt x="252541" y="254810"/>
                  <a:pt x="266998" y="254794"/>
                </a:cubicBezTo>
                <a:cubicBezTo>
                  <a:pt x="281454" y="254777"/>
                  <a:pt x="293178" y="243027"/>
                  <a:pt x="293162" y="228570"/>
                </a:cubicBezTo>
                <a:cubicBezTo>
                  <a:pt x="293145" y="214114"/>
                  <a:pt x="281395" y="202390"/>
                  <a:pt x="266938" y="202406"/>
                </a:cubicBezTo>
                <a:close/>
                <a:moveTo>
                  <a:pt x="133886" y="-27087"/>
                </a:moveTo>
                <a:lnTo>
                  <a:pt x="149483" y="-22920"/>
                </a:lnTo>
                <a:cubicBezTo>
                  <a:pt x="156686" y="-20955"/>
                  <a:pt x="161568" y="-14168"/>
                  <a:pt x="161092" y="-6727"/>
                </a:cubicBezTo>
                <a:lnTo>
                  <a:pt x="159484" y="18157"/>
                </a:lnTo>
                <a:cubicBezTo>
                  <a:pt x="164425" y="21967"/>
                  <a:pt x="168771" y="26372"/>
                  <a:pt x="172522" y="31254"/>
                </a:cubicBezTo>
                <a:lnTo>
                  <a:pt x="197525" y="29647"/>
                </a:lnTo>
                <a:cubicBezTo>
                  <a:pt x="204966" y="29170"/>
                  <a:pt x="211753" y="34052"/>
                  <a:pt x="213717" y="41255"/>
                </a:cubicBezTo>
                <a:lnTo>
                  <a:pt x="217884" y="56852"/>
                </a:lnTo>
                <a:cubicBezTo>
                  <a:pt x="219789" y="64056"/>
                  <a:pt x="216396" y="71676"/>
                  <a:pt x="209669" y="75009"/>
                </a:cubicBezTo>
                <a:lnTo>
                  <a:pt x="187226" y="86082"/>
                </a:lnTo>
                <a:cubicBezTo>
                  <a:pt x="186809" y="89118"/>
                  <a:pt x="186214" y="92154"/>
                  <a:pt x="185440" y="95131"/>
                </a:cubicBezTo>
                <a:cubicBezTo>
                  <a:pt x="184666" y="98108"/>
                  <a:pt x="183594" y="101084"/>
                  <a:pt x="182463" y="103882"/>
                </a:cubicBezTo>
                <a:lnTo>
                  <a:pt x="196334" y="124718"/>
                </a:lnTo>
                <a:cubicBezTo>
                  <a:pt x="200501" y="130969"/>
                  <a:pt x="199668" y="139244"/>
                  <a:pt x="194370" y="144542"/>
                </a:cubicBezTo>
                <a:lnTo>
                  <a:pt x="182940" y="155972"/>
                </a:lnTo>
                <a:cubicBezTo>
                  <a:pt x="177641" y="161270"/>
                  <a:pt x="169366" y="162104"/>
                  <a:pt x="163116" y="157936"/>
                </a:cubicBezTo>
                <a:lnTo>
                  <a:pt x="142280" y="144066"/>
                </a:lnTo>
                <a:cubicBezTo>
                  <a:pt x="136624" y="146387"/>
                  <a:pt x="130612" y="148054"/>
                  <a:pt x="124480" y="148888"/>
                </a:cubicBezTo>
                <a:lnTo>
                  <a:pt x="113407" y="171271"/>
                </a:lnTo>
                <a:cubicBezTo>
                  <a:pt x="110073" y="177998"/>
                  <a:pt x="102453" y="181392"/>
                  <a:pt x="95250" y="179487"/>
                </a:cubicBezTo>
                <a:lnTo>
                  <a:pt x="79653" y="175320"/>
                </a:lnTo>
                <a:cubicBezTo>
                  <a:pt x="72390" y="173355"/>
                  <a:pt x="67568" y="166568"/>
                  <a:pt x="68044" y="159127"/>
                </a:cubicBezTo>
                <a:lnTo>
                  <a:pt x="69652" y="134183"/>
                </a:lnTo>
                <a:cubicBezTo>
                  <a:pt x="64710" y="130373"/>
                  <a:pt x="60365" y="125968"/>
                  <a:pt x="56614" y="121087"/>
                </a:cubicBezTo>
                <a:lnTo>
                  <a:pt x="31611" y="122694"/>
                </a:lnTo>
                <a:cubicBezTo>
                  <a:pt x="24170" y="123170"/>
                  <a:pt x="17383" y="118289"/>
                  <a:pt x="15419" y="111085"/>
                </a:cubicBezTo>
                <a:lnTo>
                  <a:pt x="11251" y="95488"/>
                </a:lnTo>
                <a:cubicBezTo>
                  <a:pt x="9346" y="88285"/>
                  <a:pt x="12740" y="80665"/>
                  <a:pt x="19467" y="77331"/>
                </a:cubicBezTo>
                <a:lnTo>
                  <a:pt x="41910" y="66258"/>
                </a:lnTo>
                <a:cubicBezTo>
                  <a:pt x="42327" y="63222"/>
                  <a:pt x="42922" y="60246"/>
                  <a:pt x="43696" y="57210"/>
                </a:cubicBezTo>
                <a:cubicBezTo>
                  <a:pt x="44529" y="54173"/>
                  <a:pt x="45482" y="51256"/>
                  <a:pt x="46673" y="48458"/>
                </a:cubicBezTo>
                <a:lnTo>
                  <a:pt x="32802" y="27682"/>
                </a:lnTo>
                <a:cubicBezTo>
                  <a:pt x="28635" y="21431"/>
                  <a:pt x="29468" y="13156"/>
                  <a:pt x="34766" y="7858"/>
                </a:cubicBezTo>
                <a:lnTo>
                  <a:pt x="46196" y="-3572"/>
                </a:lnTo>
                <a:cubicBezTo>
                  <a:pt x="51495" y="-8870"/>
                  <a:pt x="59769" y="-9704"/>
                  <a:pt x="66020" y="-5536"/>
                </a:cubicBezTo>
                <a:lnTo>
                  <a:pt x="86856" y="8334"/>
                </a:lnTo>
                <a:cubicBezTo>
                  <a:pt x="92512" y="6013"/>
                  <a:pt x="98524" y="4346"/>
                  <a:pt x="104656" y="3512"/>
                </a:cubicBezTo>
                <a:lnTo>
                  <a:pt x="115729" y="-18871"/>
                </a:lnTo>
                <a:cubicBezTo>
                  <a:pt x="119062" y="-25598"/>
                  <a:pt x="126623" y="-28992"/>
                  <a:pt x="133886" y="-27087"/>
                </a:cubicBezTo>
                <a:close/>
                <a:moveTo>
                  <a:pt x="114538" y="50006"/>
                </a:moveTo>
                <a:cubicBezTo>
                  <a:pt x="100081" y="50006"/>
                  <a:pt x="88344" y="61743"/>
                  <a:pt x="88344" y="76200"/>
                </a:cubicBezTo>
                <a:cubicBezTo>
                  <a:pt x="88344" y="90657"/>
                  <a:pt x="100081" y="102394"/>
                  <a:pt x="114538" y="102394"/>
                </a:cubicBezTo>
                <a:cubicBezTo>
                  <a:pt x="128995" y="102394"/>
                  <a:pt x="140732" y="90657"/>
                  <a:pt x="140732" y="76200"/>
                </a:cubicBezTo>
                <a:cubicBezTo>
                  <a:pt x="140732" y="61743"/>
                  <a:pt x="128995" y="50006"/>
                  <a:pt x="114538" y="50006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467820" y="46355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特征工程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168080" y="5092700"/>
            <a:ext cx="173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Feature Engineering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24673" y="5499100"/>
            <a:ext cx="1028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特征提取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24673" y="5803900"/>
            <a:ext cx="1028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特征选择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24673" y="6108700"/>
            <a:ext cx="1028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降维处理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014093" y="6515100"/>
            <a:ext cx="635000" cy="406400"/>
          </a:xfrm>
          <a:custGeom>
            <a:avLst/>
            <a:gdLst/>
            <a:ahLst/>
            <a:cxnLst/>
            <a:rect l="l" t="t" r="r" b="b"/>
            <a:pathLst>
              <a:path w="635000" h="406400">
                <a:moveTo>
                  <a:pt x="203200" y="0"/>
                </a:moveTo>
                <a:lnTo>
                  <a:pt x="431800" y="0"/>
                </a:lnTo>
                <a:cubicBezTo>
                  <a:pt x="543949" y="0"/>
                  <a:pt x="635000" y="91051"/>
                  <a:pt x="635000" y="203200"/>
                </a:cubicBezTo>
                <a:lnTo>
                  <a:pt x="635000" y="203200"/>
                </a:lnTo>
                <a:cubicBezTo>
                  <a:pt x="635000" y="315349"/>
                  <a:pt x="543949" y="406400"/>
                  <a:pt x="4318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4115693" y="6635750"/>
            <a:ext cx="51335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Ch-07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756051" y="6515100"/>
            <a:ext cx="622300" cy="406400"/>
          </a:xfrm>
          <a:custGeom>
            <a:avLst/>
            <a:gdLst/>
            <a:ahLst/>
            <a:cxnLst/>
            <a:rect l="l" t="t" r="r" b="b"/>
            <a:pathLst>
              <a:path w="622300" h="406400">
                <a:moveTo>
                  <a:pt x="203200" y="0"/>
                </a:moveTo>
                <a:lnTo>
                  <a:pt x="419100" y="0"/>
                </a:lnTo>
                <a:cubicBezTo>
                  <a:pt x="531249" y="0"/>
                  <a:pt x="622300" y="91051"/>
                  <a:pt x="622300" y="203200"/>
                </a:cubicBezTo>
                <a:lnTo>
                  <a:pt x="622300" y="203200"/>
                </a:lnTo>
                <a:cubicBezTo>
                  <a:pt x="622300" y="315349"/>
                  <a:pt x="531249" y="406400"/>
                  <a:pt x="4191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4857651" y="6635750"/>
            <a:ext cx="49430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Ch-10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478959" y="6515100"/>
            <a:ext cx="584200" cy="406400"/>
          </a:xfrm>
          <a:custGeom>
            <a:avLst/>
            <a:gdLst/>
            <a:ahLst/>
            <a:cxnLst/>
            <a:rect l="l" t="t" r="r" b="b"/>
            <a:pathLst>
              <a:path w="584200" h="406400">
                <a:moveTo>
                  <a:pt x="203200" y="0"/>
                </a:moveTo>
                <a:lnTo>
                  <a:pt x="381000" y="0"/>
                </a:lnTo>
                <a:cubicBezTo>
                  <a:pt x="493149" y="0"/>
                  <a:pt x="584200" y="91051"/>
                  <a:pt x="584200" y="203200"/>
                </a:cubicBezTo>
                <a:lnTo>
                  <a:pt x="584200" y="203200"/>
                </a:lnTo>
                <a:cubicBezTo>
                  <a:pt x="584200" y="315349"/>
                  <a:pt x="493149" y="406400"/>
                  <a:pt x="3810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5580559" y="6635750"/>
            <a:ext cx="45858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Ch-11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691610" y="3511550"/>
            <a:ext cx="2870200" cy="3670300"/>
          </a:xfrm>
          <a:custGeom>
            <a:avLst/>
            <a:gdLst/>
            <a:ahLst/>
            <a:cxnLst/>
            <a:rect l="l" t="t" r="r" b="b"/>
            <a:pathLst>
              <a:path w="2870200" h="3670300">
                <a:moveTo>
                  <a:pt x="152408" y="0"/>
                </a:moveTo>
                <a:lnTo>
                  <a:pt x="2717792" y="0"/>
                </a:lnTo>
                <a:cubicBezTo>
                  <a:pt x="2801965" y="0"/>
                  <a:pt x="2870200" y="68235"/>
                  <a:pt x="2870200" y="152408"/>
                </a:cubicBezTo>
                <a:lnTo>
                  <a:pt x="2870200" y="3517892"/>
                </a:lnTo>
                <a:cubicBezTo>
                  <a:pt x="2870200" y="3602065"/>
                  <a:pt x="2801965" y="3670300"/>
                  <a:pt x="2717792" y="3670300"/>
                </a:cubicBezTo>
                <a:lnTo>
                  <a:pt x="152408" y="3670300"/>
                </a:lnTo>
                <a:cubicBezTo>
                  <a:pt x="68235" y="3670300"/>
                  <a:pt x="0" y="3602065"/>
                  <a:pt x="0" y="351789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30000"/>
                </a:srgbClr>
              </a:gs>
              <a:gs pos="100000">
                <a:srgbClr val="5F87A7">
                  <a:alpha val="10000"/>
                </a:srgbClr>
              </a:gs>
            </a:gsLst>
            <a:lin ang="2700000" scaled="1"/>
          </a:gradFill>
          <a:ln w="12700">
            <a:solidFill>
              <a:srgbClr val="5F87A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7772301" y="37719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7975501" y="3975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1438" y="33338"/>
                </a:moveTo>
                <a:cubicBezTo>
                  <a:pt x="71438" y="14942"/>
                  <a:pt x="86380" y="0"/>
                  <a:pt x="104775" y="0"/>
                </a:cubicBezTo>
                <a:lnTo>
                  <a:pt x="119062" y="0"/>
                </a:lnTo>
                <a:cubicBezTo>
                  <a:pt x="129600" y="0"/>
                  <a:pt x="138113" y="8513"/>
                  <a:pt x="138113" y="19050"/>
                </a:cubicBezTo>
                <a:lnTo>
                  <a:pt x="138113" y="285750"/>
                </a:lnTo>
                <a:cubicBezTo>
                  <a:pt x="138113" y="296287"/>
                  <a:pt x="129600" y="304800"/>
                  <a:pt x="119062" y="304800"/>
                </a:cubicBezTo>
                <a:lnTo>
                  <a:pt x="100013" y="304800"/>
                </a:lnTo>
                <a:cubicBezTo>
                  <a:pt x="82272" y="304800"/>
                  <a:pt x="67330" y="292656"/>
                  <a:pt x="63103" y="276225"/>
                </a:cubicBezTo>
                <a:cubicBezTo>
                  <a:pt x="62686" y="276225"/>
                  <a:pt x="62329" y="276225"/>
                  <a:pt x="61912" y="276225"/>
                </a:cubicBezTo>
                <a:cubicBezTo>
                  <a:pt x="35600" y="276225"/>
                  <a:pt x="14288" y="254913"/>
                  <a:pt x="14288" y="228600"/>
                </a:cubicBezTo>
                <a:cubicBezTo>
                  <a:pt x="14288" y="217884"/>
                  <a:pt x="17859" y="208002"/>
                  <a:pt x="23813" y="200025"/>
                </a:cubicBezTo>
                <a:cubicBezTo>
                  <a:pt x="12263" y="191333"/>
                  <a:pt x="4763" y="177522"/>
                  <a:pt x="4763" y="161925"/>
                </a:cubicBezTo>
                <a:cubicBezTo>
                  <a:pt x="4763" y="143530"/>
                  <a:pt x="15240" y="127516"/>
                  <a:pt x="30480" y="119598"/>
                </a:cubicBezTo>
                <a:cubicBezTo>
                  <a:pt x="26253" y="112455"/>
                  <a:pt x="23813" y="104120"/>
                  <a:pt x="23813" y="95250"/>
                </a:cubicBezTo>
                <a:cubicBezTo>
                  <a:pt x="23813" y="68937"/>
                  <a:pt x="45125" y="47625"/>
                  <a:pt x="71438" y="47625"/>
                </a:cubicBezTo>
                <a:lnTo>
                  <a:pt x="71438" y="33338"/>
                </a:lnTo>
                <a:close/>
                <a:moveTo>
                  <a:pt x="233363" y="33338"/>
                </a:moveTo>
                <a:lnTo>
                  <a:pt x="233363" y="47625"/>
                </a:lnTo>
                <a:cubicBezTo>
                  <a:pt x="259675" y="47625"/>
                  <a:pt x="280987" y="68937"/>
                  <a:pt x="280987" y="95250"/>
                </a:cubicBezTo>
                <a:cubicBezTo>
                  <a:pt x="280987" y="104180"/>
                  <a:pt x="278547" y="112514"/>
                  <a:pt x="274320" y="119598"/>
                </a:cubicBezTo>
                <a:cubicBezTo>
                  <a:pt x="289620" y="127516"/>
                  <a:pt x="300038" y="143470"/>
                  <a:pt x="300038" y="161925"/>
                </a:cubicBezTo>
                <a:cubicBezTo>
                  <a:pt x="300038" y="177522"/>
                  <a:pt x="292537" y="191333"/>
                  <a:pt x="280987" y="200025"/>
                </a:cubicBezTo>
                <a:cubicBezTo>
                  <a:pt x="286941" y="208002"/>
                  <a:pt x="290513" y="217884"/>
                  <a:pt x="290513" y="228600"/>
                </a:cubicBezTo>
                <a:cubicBezTo>
                  <a:pt x="290513" y="254913"/>
                  <a:pt x="269200" y="276225"/>
                  <a:pt x="242888" y="276225"/>
                </a:cubicBezTo>
                <a:cubicBezTo>
                  <a:pt x="242471" y="276225"/>
                  <a:pt x="242114" y="276225"/>
                  <a:pt x="241697" y="276225"/>
                </a:cubicBezTo>
                <a:cubicBezTo>
                  <a:pt x="237470" y="292656"/>
                  <a:pt x="222528" y="304800"/>
                  <a:pt x="204787" y="304800"/>
                </a:cubicBezTo>
                <a:lnTo>
                  <a:pt x="185738" y="304800"/>
                </a:lnTo>
                <a:cubicBezTo>
                  <a:pt x="175200" y="304800"/>
                  <a:pt x="166688" y="296287"/>
                  <a:pt x="166688" y="285750"/>
                </a:cubicBezTo>
                <a:lnTo>
                  <a:pt x="166688" y="19050"/>
                </a:lnTo>
                <a:cubicBezTo>
                  <a:pt x="166688" y="8513"/>
                  <a:pt x="175200" y="0"/>
                  <a:pt x="185738" y="0"/>
                </a:cubicBezTo>
                <a:lnTo>
                  <a:pt x="200025" y="0"/>
                </a:lnTo>
                <a:cubicBezTo>
                  <a:pt x="218420" y="0"/>
                  <a:pt x="233363" y="14942"/>
                  <a:pt x="233363" y="3333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7556401" y="46355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模型训练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472065" y="5092700"/>
            <a:ext cx="1308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Model Training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613253" y="5499100"/>
            <a:ext cx="1028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算法选择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613253" y="5803900"/>
            <a:ext cx="1028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模型拟合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613253" y="6108700"/>
            <a:ext cx="1028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参数学习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618512" y="6515100"/>
            <a:ext cx="1016000" cy="406400"/>
          </a:xfrm>
          <a:custGeom>
            <a:avLst/>
            <a:gdLst/>
            <a:ahLst/>
            <a:cxnLst/>
            <a:rect l="l" t="t" r="r" b="b"/>
            <a:pathLst>
              <a:path w="1016000" h="406400">
                <a:moveTo>
                  <a:pt x="203200" y="0"/>
                </a:moveTo>
                <a:lnTo>
                  <a:pt x="812800" y="0"/>
                </a:lnTo>
                <a:cubicBezTo>
                  <a:pt x="924949" y="0"/>
                  <a:pt x="1016000" y="91051"/>
                  <a:pt x="1016000" y="203200"/>
                </a:cubicBezTo>
                <a:lnTo>
                  <a:pt x="1016000" y="203200"/>
                </a:lnTo>
                <a:cubicBezTo>
                  <a:pt x="1016000" y="315349"/>
                  <a:pt x="924949" y="406400"/>
                  <a:pt x="8128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7770912" y="6635750"/>
            <a:ext cx="79027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Ch-03~06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780191" y="3511550"/>
            <a:ext cx="2870200" cy="3670300"/>
          </a:xfrm>
          <a:custGeom>
            <a:avLst/>
            <a:gdLst/>
            <a:ahLst/>
            <a:cxnLst/>
            <a:rect l="l" t="t" r="r" b="b"/>
            <a:pathLst>
              <a:path w="2870200" h="3670300">
                <a:moveTo>
                  <a:pt x="152408" y="0"/>
                </a:moveTo>
                <a:lnTo>
                  <a:pt x="2717792" y="0"/>
                </a:lnTo>
                <a:cubicBezTo>
                  <a:pt x="2801965" y="0"/>
                  <a:pt x="2870200" y="68235"/>
                  <a:pt x="2870200" y="152408"/>
                </a:cubicBezTo>
                <a:lnTo>
                  <a:pt x="2870200" y="3517892"/>
                </a:lnTo>
                <a:cubicBezTo>
                  <a:pt x="2870200" y="3602065"/>
                  <a:pt x="2801965" y="3670300"/>
                  <a:pt x="2717792" y="3670300"/>
                </a:cubicBezTo>
                <a:lnTo>
                  <a:pt x="152408" y="3670300"/>
                </a:lnTo>
                <a:cubicBezTo>
                  <a:pt x="68235" y="3670300"/>
                  <a:pt x="0" y="3602065"/>
                  <a:pt x="0" y="351789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30000"/>
                </a:srgbClr>
              </a:gs>
              <a:gs pos="100000">
                <a:srgbClr val="6ED3CF">
                  <a:alpha val="10000"/>
                </a:srgbClr>
              </a:gs>
            </a:gsLst>
            <a:lin ang="2700000" scaled="1"/>
          </a:gradFill>
          <a:ln w="12700">
            <a:solidFill>
              <a:srgbClr val="6ED3CF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10860980" y="37719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11064180" y="3975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0645080" y="46355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模型评估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473035" y="5092700"/>
            <a:ext cx="1485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Model Evaluation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0701933" y="5499100"/>
            <a:ext cx="1028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性能评估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701933" y="5803900"/>
            <a:ext cx="1028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指标分析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701933" y="6108700"/>
            <a:ext cx="1028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结果验证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0837565" y="6515100"/>
            <a:ext cx="762000" cy="406400"/>
          </a:xfrm>
          <a:custGeom>
            <a:avLst/>
            <a:gdLst/>
            <a:ahLst/>
            <a:cxnLst/>
            <a:rect l="l" t="t" r="r" b="b"/>
            <a:pathLst>
              <a:path w="762000" h="406400">
                <a:moveTo>
                  <a:pt x="203200" y="0"/>
                </a:moveTo>
                <a:lnTo>
                  <a:pt x="558800" y="0"/>
                </a:lnTo>
                <a:cubicBezTo>
                  <a:pt x="670949" y="0"/>
                  <a:pt x="762000" y="91051"/>
                  <a:pt x="762000" y="203200"/>
                </a:cubicBezTo>
                <a:lnTo>
                  <a:pt x="762000" y="203200"/>
                </a:lnTo>
                <a:cubicBezTo>
                  <a:pt x="762000" y="315349"/>
                  <a:pt x="670949" y="406400"/>
                  <a:pt x="5588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10989965" y="6635750"/>
            <a:ext cx="52933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Ch-08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2868870" y="3511550"/>
            <a:ext cx="2870200" cy="3670300"/>
          </a:xfrm>
          <a:custGeom>
            <a:avLst/>
            <a:gdLst/>
            <a:ahLst/>
            <a:cxnLst/>
            <a:rect l="l" t="t" r="r" b="b"/>
            <a:pathLst>
              <a:path w="2870200" h="3670300">
                <a:moveTo>
                  <a:pt x="152408" y="0"/>
                </a:moveTo>
                <a:lnTo>
                  <a:pt x="2717792" y="0"/>
                </a:lnTo>
                <a:cubicBezTo>
                  <a:pt x="2801965" y="0"/>
                  <a:pt x="2870200" y="68235"/>
                  <a:pt x="2870200" y="152408"/>
                </a:cubicBezTo>
                <a:lnTo>
                  <a:pt x="2870200" y="3517892"/>
                </a:lnTo>
                <a:cubicBezTo>
                  <a:pt x="2870200" y="3602065"/>
                  <a:pt x="2801965" y="3670300"/>
                  <a:pt x="2717792" y="3670300"/>
                </a:cubicBezTo>
                <a:lnTo>
                  <a:pt x="152408" y="3670300"/>
                </a:lnTo>
                <a:cubicBezTo>
                  <a:pt x="68235" y="3670300"/>
                  <a:pt x="0" y="3602065"/>
                  <a:pt x="0" y="351789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30000"/>
                </a:srgbClr>
              </a:gs>
              <a:gs pos="100000">
                <a:srgbClr val="5F87A7">
                  <a:alpha val="10000"/>
                </a:srgbClr>
              </a:gs>
            </a:gsLst>
            <a:lin ang="2700000" scaled="1"/>
          </a:gradFill>
          <a:ln w="12700">
            <a:solidFill>
              <a:srgbClr val="5F87A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13949561" y="37719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14152761" y="3975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38100"/>
                </a:moveTo>
                <a:cubicBezTo>
                  <a:pt x="8513" y="38100"/>
                  <a:pt x="0" y="46613"/>
                  <a:pt x="0" y="57150"/>
                </a:cubicBezTo>
                <a:cubicBezTo>
                  <a:pt x="0" y="67687"/>
                  <a:pt x="8513" y="76200"/>
                  <a:pt x="19050" y="76200"/>
                </a:cubicBezTo>
                <a:lnTo>
                  <a:pt x="70664" y="76200"/>
                </a:lnTo>
                <a:cubicBezTo>
                  <a:pt x="77986" y="93047"/>
                  <a:pt x="94774" y="104775"/>
                  <a:pt x="114300" y="104775"/>
                </a:cubicBezTo>
                <a:cubicBezTo>
                  <a:pt x="133826" y="104775"/>
                  <a:pt x="150614" y="93047"/>
                  <a:pt x="157936" y="76200"/>
                </a:cubicBezTo>
                <a:lnTo>
                  <a:pt x="285750" y="76200"/>
                </a:lnTo>
                <a:cubicBezTo>
                  <a:pt x="296287" y="76200"/>
                  <a:pt x="304800" y="67687"/>
                  <a:pt x="304800" y="57150"/>
                </a:cubicBezTo>
                <a:cubicBezTo>
                  <a:pt x="304800" y="46613"/>
                  <a:pt x="296287" y="38100"/>
                  <a:pt x="285750" y="38100"/>
                </a:cubicBezTo>
                <a:lnTo>
                  <a:pt x="157936" y="38100"/>
                </a:lnTo>
                <a:cubicBezTo>
                  <a:pt x="150614" y="21253"/>
                  <a:pt x="133826" y="9525"/>
                  <a:pt x="114300" y="9525"/>
                </a:cubicBezTo>
                <a:cubicBezTo>
                  <a:pt x="94774" y="9525"/>
                  <a:pt x="77986" y="21253"/>
                  <a:pt x="70664" y="38100"/>
                </a:cubicBezTo>
                <a:lnTo>
                  <a:pt x="19050" y="38100"/>
                </a:lnTo>
                <a:close/>
                <a:moveTo>
                  <a:pt x="19050" y="133350"/>
                </a:move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165914" y="171450"/>
                </a:lnTo>
                <a:cubicBezTo>
                  <a:pt x="173236" y="188297"/>
                  <a:pt x="190024" y="200025"/>
                  <a:pt x="209550" y="200025"/>
                </a:cubicBezTo>
                <a:cubicBezTo>
                  <a:pt x="229076" y="200025"/>
                  <a:pt x="245864" y="188297"/>
                  <a:pt x="253186" y="171450"/>
                </a:cubicBezTo>
                <a:lnTo>
                  <a:pt x="285750" y="171450"/>
                </a:lnTo>
                <a:cubicBezTo>
                  <a:pt x="296287" y="171450"/>
                  <a:pt x="304800" y="162937"/>
                  <a:pt x="304800" y="152400"/>
                </a:cubicBezTo>
                <a:cubicBezTo>
                  <a:pt x="304800" y="141863"/>
                  <a:pt x="296287" y="133350"/>
                  <a:pt x="285750" y="133350"/>
                </a:cubicBezTo>
                <a:lnTo>
                  <a:pt x="253186" y="133350"/>
                </a:lnTo>
                <a:cubicBezTo>
                  <a:pt x="245864" y="116503"/>
                  <a:pt x="229076" y="104775"/>
                  <a:pt x="209550" y="104775"/>
                </a:cubicBezTo>
                <a:cubicBezTo>
                  <a:pt x="190024" y="104775"/>
                  <a:pt x="173236" y="116503"/>
                  <a:pt x="165914" y="133350"/>
                </a:cubicBezTo>
                <a:lnTo>
                  <a:pt x="19050" y="133350"/>
                </a:lnTo>
                <a:close/>
                <a:moveTo>
                  <a:pt x="19050" y="228600"/>
                </a:moveTo>
                <a:cubicBezTo>
                  <a:pt x="8513" y="228600"/>
                  <a:pt x="0" y="237113"/>
                  <a:pt x="0" y="247650"/>
                </a:cubicBezTo>
                <a:cubicBezTo>
                  <a:pt x="0" y="258187"/>
                  <a:pt x="8513" y="266700"/>
                  <a:pt x="19050" y="266700"/>
                </a:cubicBezTo>
                <a:lnTo>
                  <a:pt x="51614" y="266700"/>
                </a:lnTo>
                <a:cubicBezTo>
                  <a:pt x="58936" y="283547"/>
                  <a:pt x="75724" y="295275"/>
                  <a:pt x="95250" y="295275"/>
                </a:cubicBezTo>
                <a:cubicBezTo>
                  <a:pt x="114776" y="295275"/>
                  <a:pt x="131564" y="283547"/>
                  <a:pt x="138886" y="266700"/>
                </a:cubicBezTo>
                <a:lnTo>
                  <a:pt x="285750" y="266700"/>
                </a:lnTo>
                <a:cubicBezTo>
                  <a:pt x="296287" y="266700"/>
                  <a:pt x="304800" y="258187"/>
                  <a:pt x="304800" y="247650"/>
                </a:cubicBezTo>
                <a:cubicBezTo>
                  <a:pt x="304800" y="237113"/>
                  <a:pt x="296287" y="228600"/>
                  <a:pt x="285750" y="228600"/>
                </a:cubicBezTo>
                <a:lnTo>
                  <a:pt x="138886" y="228600"/>
                </a:lnTo>
                <a:cubicBezTo>
                  <a:pt x="131564" y="211753"/>
                  <a:pt x="114776" y="200025"/>
                  <a:pt x="95250" y="200025"/>
                </a:cubicBezTo>
                <a:cubicBezTo>
                  <a:pt x="75724" y="200025"/>
                  <a:pt x="58936" y="211753"/>
                  <a:pt x="51614" y="228600"/>
                </a:cubicBezTo>
                <a:lnTo>
                  <a:pt x="19050" y="2286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13733661" y="46355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模型调优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3700423" y="5092700"/>
            <a:ext cx="120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Model Tuning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13701613" y="5499100"/>
            <a:ext cx="120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超参数搜索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3701613" y="5803900"/>
            <a:ext cx="120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正则化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3701613" y="6108700"/>
            <a:ext cx="120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不平衡处理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3928328" y="6515100"/>
            <a:ext cx="749300" cy="406400"/>
          </a:xfrm>
          <a:custGeom>
            <a:avLst/>
            <a:gdLst/>
            <a:ahLst/>
            <a:cxnLst/>
            <a:rect l="l" t="t" r="r" b="b"/>
            <a:pathLst>
              <a:path w="749300" h="406400">
                <a:moveTo>
                  <a:pt x="203200" y="0"/>
                </a:moveTo>
                <a:lnTo>
                  <a:pt x="546100" y="0"/>
                </a:lnTo>
                <a:cubicBezTo>
                  <a:pt x="658249" y="0"/>
                  <a:pt x="749300" y="91051"/>
                  <a:pt x="749300" y="203200"/>
                </a:cubicBezTo>
                <a:lnTo>
                  <a:pt x="749300" y="203200"/>
                </a:lnTo>
                <a:cubicBezTo>
                  <a:pt x="749300" y="315349"/>
                  <a:pt x="658249" y="406400"/>
                  <a:pt x="5461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14080728" y="6635750"/>
            <a:ext cx="52506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Ch-09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514350" y="7092950"/>
            <a:ext cx="7505700" cy="1536700"/>
          </a:xfrm>
          <a:custGeom>
            <a:avLst/>
            <a:gdLst/>
            <a:ahLst/>
            <a:cxnLst/>
            <a:rect l="l" t="t" r="r" b="b"/>
            <a:pathLst>
              <a:path w="7505700" h="1536700">
                <a:moveTo>
                  <a:pt x="101607" y="0"/>
                </a:moveTo>
                <a:lnTo>
                  <a:pt x="7404093" y="0"/>
                </a:lnTo>
                <a:cubicBezTo>
                  <a:pt x="7460209" y="0"/>
                  <a:pt x="7505700" y="45491"/>
                  <a:pt x="7505700" y="101607"/>
                </a:cubicBezTo>
                <a:lnTo>
                  <a:pt x="7505700" y="1435093"/>
                </a:lnTo>
                <a:cubicBezTo>
                  <a:pt x="7505700" y="1491209"/>
                  <a:pt x="7460209" y="1536700"/>
                  <a:pt x="7404093" y="1536700"/>
                </a:cubicBezTo>
                <a:lnTo>
                  <a:pt x="101607" y="1536700"/>
                </a:lnTo>
                <a:cubicBezTo>
                  <a:pt x="45491" y="1536700"/>
                  <a:pt x="0" y="1491209"/>
                  <a:pt x="0" y="14350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6ED3CF">
                  <a:alpha val="5000"/>
                </a:srgbClr>
              </a:gs>
            </a:gsLst>
            <a:lin ang="2700000" scaled="1"/>
          </a:gradFill>
          <a:ln w="12700">
            <a:solidFill>
              <a:srgbClr val="6ED3C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Shape 66"/>
          <p:cNvSpPr/>
          <p:nvPr/>
        </p:nvSpPr>
        <p:spPr>
          <a:xfrm>
            <a:off x="755650" y="73533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38175" y="95250"/>
                </a:moveTo>
                <a:lnTo>
                  <a:pt x="242094" y="95250"/>
                </a:lnTo>
                <a:cubicBezTo>
                  <a:pt x="248692" y="95250"/>
                  <a:pt x="254000" y="89942"/>
                  <a:pt x="254000" y="83344"/>
                </a:cubicBezTo>
                <a:lnTo>
                  <a:pt x="254000" y="11906"/>
                </a:lnTo>
                <a:cubicBezTo>
                  <a:pt x="254000" y="7094"/>
                  <a:pt x="251123" y="2729"/>
                  <a:pt x="246658" y="893"/>
                </a:cubicBezTo>
                <a:cubicBezTo>
                  <a:pt x="242193" y="-943"/>
                  <a:pt x="237083" y="99"/>
                  <a:pt x="233660" y="3473"/>
                </a:cubicBezTo>
                <a:lnTo>
                  <a:pt x="208012" y="29170"/>
                </a:lnTo>
                <a:cubicBezTo>
                  <a:pt x="186035" y="10964"/>
                  <a:pt x="157758" y="0"/>
                  <a:pt x="127000" y="0"/>
                </a:cubicBezTo>
                <a:cubicBezTo>
                  <a:pt x="63004" y="0"/>
                  <a:pt x="10071" y="47327"/>
                  <a:pt x="1290" y="108893"/>
                </a:cubicBezTo>
                <a:cubicBezTo>
                  <a:pt x="50" y="117574"/>
                  <a:pt x="6052" y="125611"/>
                  <a:pt x="14734" y="126851"/>
                </a:cubicBezTo>
                <a:cubicBezTo>
                  <a:pt x="23416" y="128091"/>
                  <a:pt x="31452" y="122039"/>
                  <a:pt x="32693" y="113407"/>
                </a:cubicBezTo>
                <a:cubicBezTo>
                  <a:pt x="39291" y="67221"/>
                  <a:pt x="79028" y="31750"/>
                  <a:pt x="127000" y="31750"/>
                </a:cubicBezTo>
                <a:cubicBezTo>
                  <a:pt x="149027" y="31750"/>
                  <a:pt x="169267" y="39191"/>
                  <a:pt x="185390" y="51743"/>
                </a:cubicBezTo>
                <a:lnTo>
                  <a:pt x="162223" y="74910"/>
                </a:lnTo>
                <a:cubicBezTo>
                  <a:pt x="158800" y="78333"/>
                  <a:pt x="157807" y="83443"/>
                  <a:pt x="159643" y="87908"/>
                </a:cubicBezTo>
                <a:cubicBezTo>
                  <a:pt x="161479" y="92373"/>
                  <a:pt x="165844" y="95250"/>
                  <a:pt x="170656" y="95250"/>
                </a:cubicBezTo>
                <a:lnTo>
                  <a:pt x="238175" y="95250"/>
                </a:lnTo>
                <a:close/>
                <a:moveTo>
                  <a:pt x="252760" y="145107"/>
                </a:moveTo>
                <a:cubicBezTo>
                  <a:pt x="254000" y="136426"/>
                  <a:pt x="247948" y="128389"/>
                  <a:pt x="239316" y="127149"/>
                </a:cubicBezTo>
                <a:cubicBezTo>
                  <a:pt x="230684" y="125909"/>
                  <a:pt x="222597" y="131961"/>
                  <a:pt x="221357" y="140593"/>
                </a:cubicBezTo>
                <a:cubicBezTo>
                  <a:pt x="214759" y="186730"/>
                  <a:pt x="175022" y="222200"/>
                  <a:pt x="127050" y="222200"/>
                </a:cubicBezTo>
                <a:cubicBezTo>
                  <a:pt x="105023" y="222200"/>
                  <a:pt x="84782" y="214759"/>
                  <a:pt x="68659" y="202208"/>
                </a:cubicBezTo>
                <a:lnTo>
                  <a:pt x="91777" y="179090"/>
                </a:lnTo>
                <a:cubicBezTo>
                  <a:pt x="95200" y="175667"/>
                  <a:pt x="96193" y="170557"/>
                  <a:pt x="94357" y="166092"/>
                </a:cubicBezTo>
                <a:cubicBezTo>
                  <a:pt x="92521" y="161627"/>
                  <a:pt x="88156" y="158750"/>
                  <a:pt x="83344" y="158750"/>
                </a:cubicBezTo>
                <a:lnTo>
                  <a:pt x="11906" y="158750"/>
                </a:lnTo>
                <a:cubicBezTo>
                  <a:pt x="5308" y="158750"/>
                  <a:pt x="0" y="164058"/>
                  <a:pt x="0" y="170656"/>
                </a:cubicBezTo>
                <a:lnTo>
                  <a:pt x="0" y="242094"/>
                </a:lnTo>
                <a:cubicBezTo>
                  <a:pt x="0" y="246906"/>
                  <a:pt x="2877" y="251271"/>
                  <a:pt x="7342" y="253107"/>
                </a:cubicBezTo>
                <a:cubicBezTo>
                  <a:pt x="11807" y="254943"/>
                  <a:pt x="16917" y="253901"/>
                  <a:pt x="20340" y="250527"/>
                </a:cubicBezTo>
                <a:lnTo>
                  <a:pt x="46037" y="224830"/>
                </a:lnTo>
                <a:cubicBezTo>
                  <a:pt x="67965" y="243036"/>
                  <a:pt x="96242" y="254000"/>
                  <a:pt x="127000" y="254000"/>
                </a:cubicBezTo>
                <a:cubicBezTo>
                  <a:pt x="190996" y="254000"/>
                  <a:pt x="243929" y="206673"/>
                  <a:pt x="252710" y="145107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7"/>
          <p:cNvSpPr/>
          <p:nvPr/>
        </p:nvSpPr>
        <p:spPr>
          <a:xfrm>
            <a:off x="1193800" y="7302500"/>
            <a:ext cx="125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迭代式流程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723900" y="7759700"/>
            <a:ext cx="7188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AI</a:t>
            </a:r>
            <a:r>
              <a:rPr lang="en-US" sz="16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项目是一个</a:t>
            </a:r>
            <a:r>
              <a:rPr lang="en-US" sz="16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迭代循环</a:t>
            </a:r>
            <a:r>
              <a:rPr lang="en-US" sz="16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的过程，每个阶段的结果都可能反馈到前面的阶段进行优化调整，直至达到满意的性能。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235950" y="7092950"/>
            <a:ext cx="7505700" cy="1536700"/>
          </a:xfrm>
          <a:custGeom>
            <a:avLst/>
            <a:gdLst/>
            <a:ahLst/>
            <a:cxnLst/>
            <a:rect l="l" t="t" r="r" b="b"/>
            <a:pathLst>
              <a:path w="7505700" h="1536700">
                <a:moveTo>
                  <a:pt x="101607" y="0"/>
                </a:moveTo>
                <a:lnTo>
                  <a:pt x="7404093" y="0"/>
                </a:lnTo>
                <a:cubicBezTo>
                  <a:pt x="7460209" y="0"/>
                  <a:pt x="7505700" y="45491"/>
                  <a:pt x="7505700" y="101607"/>
                </a:cubicBezTo>
                <a:lnTo>
                  <a:pt x="7505700" y="1435093"/>
                </a:lnTo>
                <a:cubicBezTo>
                  <a:pt x="7505700" y="1491209"/>
                  <a:pt x="7460209" y="1536700"/>
                  <a:pt x="7404093" y="1536700"/>
                </a:cubicBezTo>
                <a:lnTo>
                  <a:pt x="101607" y="1536700"/>
                </a:lnTo>
                <a:cubicBezTo>
                  <a:pt x="45491" y="1536700"/>
                  <a:pt x="0" y="1491209"/>
                  <a:pt x="0" y="14350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Shape 70"/>
          <p:cNvSpPr/>
          <p:nvPr/>
        </p:nvSpPr>
        <p:spPr>
          <a:xfrm>
            <a:off x="8461375" y="73533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208111" y="47625"/>
                </a:moveTo>
                <a:cubicBezTo>
                  <a:pt x="199876" y="47625"/>
                  <a:pt x="191889" y="49857"/>
                  <a:pt x="184894" y="53925"/>
                </a:cubicBezTo>
                <a:cubicBezTo>
                  <a:pt x="177056" y="45988"/>
                  <a:pt x="167928" y="39340"/>
                  <a:pt x="157857" y="34330"/>
                </a:cubicBezTo>
                <a:cubicBezTo>
                  <a:pt x="171847" y="22423"/>
                  <a:pt x="189657" y="15875"/>
                  <a:pt x="208111" y="15875"/>
                </a:cubicBezTo>
                <a:cubicBezTo>
                  <a:pt x="250974" y="15875"/>
                  <a:pt x="285750" y="50602"/>
                  <a:pt x="285750" y="93514"/>
                </a:cubicBezTo>
                <a:cubicBezTo>
                  <a:pt x="285750" y="114102"/>
                  <a:pt x="277564" y="133846"/>
                  <a:pt x="263029" y="148382"/>
                </a:cubicBezTo>
                <a:lnTo>
                  <a:pt x="227757" y="183654"/>
                </a:lnTo>
                <a:cubicBezTo>
                  <a:pt x="213221" y="198189"/>
                  <a:pt x="193477" y="206375"/>
                  <a:pt x="172889" y="206375"/>
                </a:cubicBezTo>
                <a:cubicBezTo>
                  <a:pt x="130026" y="206375"/>
                  <a:pt x="95250" y="171648"/>
                  <a:pt x="95250" y="128736"/>
                </a:cubicBezTo>
                <a:cubicBezTo>
                  <a:pt x="95250" y="127992"/>
                  <a:pt x="95250" y="127248"/>
                  <a:pt x="95300" y="126504"/>
                </a:cubicBezTo>
                <a:cubicBezTo>
                  <a:pt x="95548" y="117723"/>
                  <a:pt x="102840" y="110827"/>
                  <a:pt x="111621" y="111075"/>
                </a:cubicBezTo>
                <a:cubicBezTo>
                  <a:pt x="120402" y="111323"/>
                  <a:pt x="127298" y="118616"/>
                  <a:pt x="127050" y="127397"/>
                </a:cubicBezTo>
                <a:cubicBezTo>
                  <a:pt x="127050" y="127843"/>
                  <a:pt x="127050" y="128290"/>
                  <a:pt x="127050" y="128687"/>
                </a:cubicBezTo>
                <a:cubicBezTo>
                  <a:pt x="127050" y="154037"/>
                  <a:pt x="147588" y="174575"/>
                  <a:pt x="172938" y="174575"/>
                </a:cubicBezTo>
                <a:cubicBezTo>
                  <a:pt x="185093" y="174575"/>
                  <a:pt x="196751" y="169763"/>
                  <a:pt x="205383" y="161131"/>
                </a:cubicBezTo>
                <a:lnTo>
                  <a:pt x="240655" y="125859"/>
                </a:lnTo>
                <a:cubicBezTo>
                  <a:pt x="249237" y="117277"/>
                  <a:pt x="254099" y="105569"/>
                  <a:pt x="254099" y="93414"/>
                </a:cubicBezTo>
                <a:cubicBezTo>
                  <a:pt x="254099" y="68064"/>
                  <a:pt x="233561" y="47526"/>
                  <a:pt x="208211" y="47526"/>
                </a:cubicBezTo>
                <a:close/>
                <a:moveTo>
                  <a:pt x="136525" y="85973"/>
                </a:moveTo>
                <a:cubicBezTo>
                  <a:pt x="135582" y="85576"/>
                  <a:pt x="134640" y="85030"/>
                  <a:pt x="133796" y="84435"/>
                </a:cubicBezTo>
                <a:cubicBezTo>
                  <a:pt x="127546" y="81211"/>
                  <a:pt x="120402" y="79375"/>
                  <a:pt x="112911" y="79375"/>
                </a:cubicBezTo>
                <a:cubicBezTo>
                  <a:pt x="100757" y="79375"/>
                  <a:pt x="89098" y="84187"/>
                  <a:pt x="80466" y="92819"/>
                </a:cubicBezTo>
                <a:lnTo>
                  <a:pt x="45194" y="128091"/>
                </a:lnTo>
                <a:cubicBezTo>
                  <a:pt x="36612" y="136674"/>
                  <a:pt x="31750" y="148382"/>
                  <a:pt x="31750" y="160536"/>
                </a:cubicBezTo>
                <a:cubicBezTo>
                  <a:pt x="31750" y="185886"/>
                  <a:pt x="52288" y="206425"/>
                  <a:pt x="77639" y="206425"/>
                </a:cubicBezTo>
                <a:cubicBezTo>
                  <a:pt x="85824" y="206425"/>
                  <a:pt x="93811" y="204242"/>
                  <a:pt x="100806" y="200174"/>
                </a:cubicBezTo>
                <a:cubicBezTo>
                  <a:pt x="108645" y="208111"/>
                  <a:pt x="117773" y="214759"/>
                  <a:pt x="127893" y="219770"/>
                </a:cubicBezTo>
                <a:cubicBezTo>
                  <a:pt x="113903" y="231626"/>
                  <a:pt x="96143" y="238224"/>
                  <a:pt x="77639" y="238224"/>
                </a:cubicBezTo>
                <a:cubicBezTo>
                  <a:pt x="34776" y="238224"/>
                  <a:pt x="0" y="203498"/>
                  <a:pt x="0" y="160586"/>
                </a:cubicBezTo>
                <a:cubicBezTo>
                  <a:pt x="0" y="139998"/>
                  <a:pt x="8186" y="120253"/>
                  <a:pt x="22721" y="105718"/>
                </a:cubicBezTo>
                <a:lnTo>
                  <a:pt x="57993" y="70445"/>
                </a:lnTo>
                <a:cubicBezTo>
                  <a:pt x="72529" y="55910"/>
                  <a:pt x="92273" y="47724"/>
                  <a:pt x="112861" y="47724"/>
                </a:cubicBezTo>
                <a:cubicBezTo>
                  <a:pt x="155823" y="47724"/>
                  <a:pt x="190500" y="82748"/>
                  <a:pt x="190500" y="125561"/>
                </a:cubicBezTo>
                <a:cubicBezTo>
                  <a:pt x="190500" y="126206"/>
                  <a:pt x="190500" y="126851"/>
                  <a:pt x="190500" y="127496"/>
                </a:cubicBezTo>
                <a:cubicBezTo>
                  <a:pt x="190302" y="136277"/>
                  <a:pt x="183009" y="143173"/>
                  <a:pt x="174228" y="142974"/>
                </a:cubicBezTo>
                <a:cubicBezTo>
                  <a:pt x="165447" y="142776"/>
                  <a:pt x="158552" y="135483"/>
                  <a:pt x="158750" y="126702"/>
                </a:cubicBezTo>
                <a:cubicBezTo>
                  <a:pt x="158750" y="126305"/>
                  <a:pt x="158750" y="125958"/>
                  <a:pt x="158750" y="125561"/>
                </a:cubicBezTo>
                <a:cubicBezTo>
                  <a:pt x="158750" y="108843"/>
                  <a:pt x="149820" y="94159"/>
                  <a:pt x="136525" y="86072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3" name="Text 71"/>
          <p:cNvSpPr/>
          <p:nvPr/>
        </p:nvSpPr>
        <p:spPr>
          <a:xfrm>
            <a:off x="8915400" y="7302500"/>
            <a:ext cx="1485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章节对应关系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8445500" y="7759700"/>
            <a:ext cx="7188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本课程的章节设置</a:t>
            </a:r>
            <a:r>
              <a:rPr lang="en-US" sz="16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对应</a:t>
            </a:r>
            <a:r>
              <a:rPr lang="en-US" sz="1600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CRISP-DM</a:t>
            </a:r>
            <a:r>
              <a:rPr lang="en-US" sz="16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流程</a:t>
            </a:r>
            <a:r>
              <a:rPr lang="en-US" sz="16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，帮助学员掌握从数据准备到模型部署的全链路技能。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4671" y="474671"/>
            <a:ext cx="2262010" cy="386769"/>
          </a:xfrm>
          <a:custGeom>
            <a:avLst/>
            <a:gdLst/>
            <a:ahLst/>
            <a:cxnLst/>
            <a:rect l="l" t="t" r="r" b="b"/>
            <a:pathLst>
              <a:path w="2262010" h="386769">
                <a:moveTo>
                  <a:pt x="46880" y="0"/>
                </a:moveTo>
                <a:lnTo>
                  <a:pt x="2215130" y="0"/>
                </a:lnTo>
                <a:cubicBezTo>
                  <a:pt x="2241021" y="0"/>
                  <a:pt x="2262010" y="20989"/>
                  <a:pt x="2262010" y="46880"/>
                </a:cubicBezTo>
                <a:lnTo>
                  <a:pt x="2262010" y="339888"/>
                </a:lnTo>
                <a:cubicBezTo>
                  <a:pt x="2262010" y="365780"/>
                  <a:pt x="2241021" y="386769"/>
                  <a:pt x="2215130" y="386769"/>
                </a:cubicBezTo>
                <a:lnTo>
                  <a:pt x="46880" y="386769"/>
                </a:lnTo>
                <a:cubicBezTo>
                  <a:pt x="21006" y="386769"/>
                  <a:pt x="0" y="365762"/>
                  <a:pt x="0" y="339888"/>
                </a:cubicBezTo>
                <a:lnTo>
                  <a:pt x="0" y="46880"/>
                </a:lnTo>
                <a:cubicBezTo>
                  <a:pt x="0" y="21006"/>
                  <a:pt x="21006" y="0"/>
                  <a:pt x="46880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 w="12700">
            <a:solidFill>
              <a:srgbClr val="5F87A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21174" y="544992"/>
            <a:ext cx="2061301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7" kern="0" spc="74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DATA PREPARATION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8810" y="961061"/>
            <a:ext cx="15529344" cy="468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22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数据准备：AI的燃料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68810" y="1523634"/>
            <a:ext cx="15412141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高质量数据是AI项目成功的关键基础（对应章节：Ch-02）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4671" y="2045185"/>
            <a:ext cx="4934229" cy="5465487"/>
          </a:xfrm>
          <a:custGeom>
            <a:avLst/>
            <a:gdLst/>
            <a:ahLst/>
            <a:cxnLst/>
            <a:rect l="l" t="t" r="r" b="b"/>
            <a:pathLst>
              <a:path w="4934229" h="5813249">
                <a:moveTo>
                  <a:pt x="140626" y="0"/>
                </a:moveTo>
                <a:lnTo>
                  <a:pt x="4793604" y="0"/>
                </a:lnTo>
                <a:cubicBezTo>
                  <a:pt x="4871217" y="0"/>
                  <a:pt x="4934229" y="63012"/>
                  <a:pt x="4934229" y="140626"/>
                </a:cubicBezTo>
                <a:lnTo>
                  <a:pt x="4934229" y="5672623"/>
                </a:lnTo>
                <a:cubicBezTo>
                  <a:pt x="4934229" y="5750289"/>
                  <a:pt x="4871269" y="5813249"/>
                  <a:pt x="4793604" y="5813249"/>
                </a:cubicBezTo>
                <a:lnTo>
                  <a:pt x="140626" y="5813249"/>
                </a:lnTo>
                <a:cubicBezTo>
                  <a:pt x="63012" y="5813249"/>
                  <a:pt x="0" y="5750237"/>
                  <a:pt x="0" y="5672623"/>
                </a:cubicBezTo>
                <a:lnTo>
                  <a:pt x="0" y="140626"/>
                </a:lnTo>
                <a:cubicBezTo>
                  <a:pt x="0" y="63012"/>
                  <a:pt x="63012" y="0"/>
                  <a:pt x="140626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61817" y="2332332"/>
            <a:ext cx="562572" cy="562572"/>
          </a:xfrm>
          <a:custGeom>
            <a:avLst/>
            <a:gdLst/>
            <a:ahLst/>
            <a:cxnLst/>
            <a:rect l="l" t="t" r="r" b="b"/>
            <a:pathLst>
              <a:path w="562572" h="562572">
                <a:moveTo>
                  <a:pt x="93764" y="0"/>
                </a:moveTo>
                <a:lnTo>
                  <a:pt x="468809" y="0"/>
                </a:lnTo>
                <a:cubicBezTo>
                  <a:pt x="520593" y="0"/>
                  <a:pt x="562572" y="41980"/>
                  <a:pt x="562572" y="93764"/>
                </a:cubicBezTo>
                <a:lnTo>
                  <a:pt x="562572" y="468809"/>
                </a:lnTo>
                <a:cubicBezTo>
                  <a:pt x="562572" y="520593"/>
                  <a:pt x="520593" y="562572"/>
                  <a:pt x="468809" y="562572"/>
                </a:cubicBezTo>
                <a:lnTo>
                  <a:pt x="93764" y="562572"/>
                </a:lnTo>
                <a:cubicBezTo>
                  <a:pt x="41980" y="562572"/>
                  <a:pt x="0" y="520593"/>
                  <a:pt x="0" y="468809"/>
                </a:cubicBezTo>
                <a:lnTo>
                  <a:pt x="0" y="93764"/>
                </a:lnTo>
                <a:cubicBezTo>
                  <a:pt x="0" y="41980"/>
                  <a:pt x="41980" y="0"/>
                  <a:pt x="93764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40551" y="2496415"/>
            <a:ext cx="205105" cy="234405"/>
          </a:xfrm>
          <a:custGeom>
            <a:avLst/>
            <a:gdLst/>
            <a:ahLst/>
            <a:cxnLst/>
            <a:rect l="l" t="t" r="r" b="b"/>
            <a:pathLst>
              <a:path w="205105" h="234405">
                <a:moveTo>
                  <a:pt x="117203" y="14650"/>
                </a:moveTo>
                <a:cubicBezTo>
                  <a:pt x="117203" y="6547"/>
                  <a:pt x="110656" y="0"/>
                  <a:pt x="102552" y="0"/>
                </a:cubicBezTo>
                <a:cubicBezTo>
                  <a:pt x="94449" y="0"/>
                  <a:pt x="87902" y="6547"/>
                  <a:pt x="87902" y="14650"/>
                </a:cubicBezTo>
                <a:lnTo>
                  <a:pt x="87902" y="111114"/>
                </a:lnTo>
                <a:lnTo>
                  <a:pt x="68948" y="92160"/>
                </a:lnTo>
                <a:cubicBezTo>
                  <a:pt x="63225" y="86437"/>
                  <a:pt x="53932" y="86437"/>
                  <a:pt x="48209" y="92160"/>
                </a:cubicBezTo>
                <a:cubicBezTo>
                  <a:pt x="42486" y="97882"/>
                  <a:pt x="42486" y="107176"/>
                  <a:pt x="48209" y="112899"/>
                </a:cubicBezTo>
                <a:lnTo>
                  <a:pt x="92160" y="156850"/>
                </a:lnTo>
                <a:cubicBezTo>
                  <a:pt x="97882" y="162573"/>
                  <a:pt x="107176" y="162573"/>
                  <a:pt x="112899" y="156850"/>
                </a:cubicBezTo>
                <a:lnTo>
                  <a:pt x="156850" y="112899"/>
                </a:lnTo>
                <a:cubicBezTo>
                  <a:pt x="162573" y="107176"/>
                  <a:pt x="162573" y="97882"/>
                  <a:pt x="156850" y="92160"/>
                </a:cubicBezTo>
                <a:cubicBezTo>
                  <a:pt x="151127" y="86437"/>
                  <a:pt x="141833" y="86437"/>
                  <a:pt x="136111" y="92160"/>
                </a:cubicBezTo>
                <a:lnTo>
                  <a:pt x="117203" y="111114"/>
                </a:lnTo>
                <a:lnTo>
                  <a:pt x="117203" y="14650"/>
                </a:lnTo>
                <a:close/>
                <a:moveTo>
                  <a:pt x="29301" y="146503"/>
                </a:moveTo>
                <a:cubicBezTo>
                  <a:pt x="13140" y="146503"/>
                  <a:pt x="0" y="159643"/>
                  <a:pt x="0" y="175804"/>
                </a:cubicBezTo>
                <a:lnTo>
                  <a:pt x="0" y="190454"/>
                </a:lnTo>
                <a:cubicBezTo>
                  <a:pt x="0" y="206615"/>
                  <a:pt x="13140" y="219755"/>
                  <a:pt x="29301" y="219755"/>
                </a:cubicBezTo>
                <a:lnTo>
                  <a:pt x="175804" y="219755"/>
                </a:lnTo>
                <a:cubicBezTo>
                  <a:pt x="191965" y="219755"/>
                  <a:pt x="205105" y="206615"/>
                  <a:pt x="205105" y="190454"/>
                </a:cubicBezTo>
                <a:lnTo>
                  <a:pt x="205105" y="175804"/>
                </a:lnTo>
                <a:cubicBezTo>
                  <a:pt x="205105" y="159643"/>
                  <a:pt x="191965" y="146503"/>
                  <a:pt x="175804" y="146503"/>
                </a:cubicBezTo>
                <a:lnTo>
                  <a:pt x="154332" y="146503"/>
                </a:lnTo>
                <a:lnTo>
                  <a:pt x="128419" y="172416"/>
                </a:lnTo>
                <a:cubicBezTo>
                  <a:pt x="114135" y="186700"/>
                  <a:pt x="90924" y="186700"/>
                  <a:pt x="76640" y="172416"/>
                </a:cubicBezTo>
                <a:lnTo>
                  <a:pt x="50773" y="146503"/>
                </a:lnTo>
                <a:lnTo>
                  <a:pt x="29301" y="146503"/>
                </a:lnTo>
                <a:close/>
                <a:moveTo>
                  <a:pt x="168479" y="172141"/>
                </a:moveTo>
                <a:cubicBezTo>
                  <a:pt x="174543" y="172141"/>
                  <a:pt x="179466" y="177065"/>
                  <a:pt x="179466" y="183129"/>
                </a:cubicBezTo>
                <a:cubicBezTo>
                  <a:pt x="179466" y="189193"/>
                  <a:pt x="174543" y="194117"/>
                  <a:pt x="168479" y="194117"/>
                </a:cubicBezTo>
                <a:cubicBezTo>
                  <a:pt x="162414" y="194117"/>
                  <a:pt x="157491" y="189193"/>
                  <a:pt x="157491" y="183129"/>
                </a:cubicBezTo>
                <a:cubicBezTo>
                  <a:pt x="157491" y="177065"/>
                  <a:pt x="162414" y="172141"/>
                  <a:pt x="168479" y="17214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465032" y="2426094"/>
            <a:ext cx="1265788" cy="375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15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数据收集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1817" y="3082428"/>
            <a:ext cx="4453699" cy="609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7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获取原始数据的过程，数据来源多样化决定了模型的泛化能力。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1817" y="3879406"/>
            <a:ext cx="4359937" cy="1734598"/>
          </a:xfrm>
          <a:custGeom>
            <a:avLst/>
            <a:gdLst/>
            <a:ahLst/>
            <a:cxnLst/>
            <a:rect l="l" t="t" r="r" b="b"/>
            <a:pathLst>
              <a:path w="4359937" h="1734598">
                <a:moveTo>
                  <a:pt x="93755" y="0"/>
                </a:moveTo>
                <a:lnTo>
                  <a:pt x="4266182" y="0"/>
                </a:lnTo>
                <a:cubicBezTo>
                  <a:pt x="4317961" y="0"/>
                  <a:pt x="4359937" y="41976"/>
                  <a:pt x="4359937" y="93755"/>
                </a:cubicBezTo>
                <a:lnTo>
                  <a:pt x="4359937" y="1640843"/>
                </a:lnTo>
                <a:cubicBezTo>
                  <a:pt x="4359937" y="1692623"/>
                  <a:pt x="4317961" y="1734598"/>
                  <a:pt x="4266182" y="1734598"/>
                </a:cubicBezTo>
                <a:lnTo>
                  <a:pt x="93755" y="1734598"/>
                </a:lnTo>
                <a:cubicBezTo>
                  <a:pt x="41976" y="1734598"/>
                  <a:pt x="0" y="1692623"/>
                  <a:pt x="0" y="1640843"/>
                </a:cubicBezTo>
                <a:lnTo>
                  <a:pt x="0" y="93755"/>
                </a:lnTo>
                <a:cubicBezTo>
                  <a:pt x="0" y="42010"/>
                  <a:pt x="42010" y="0"/>
                  <a:pt x="9375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02460" y="4020049"/>
            <a:ext cx="4172412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7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数据来源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02460" y="4395097"/>
            <a:ext cx="4160692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公开数据集（</a:t>
            </a:r>
            <a:r>
              <a:rPr lang="en-US" sz="1292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UCI、Kaggle</a:t>
            </a:r>
            <a:r>
              <a:rPr lang="en-US" sz="1292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等）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02460" y="4676384"/>
            <a:ext cx="4160692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企业内部数据（业务数据、日志）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2460" y="4957670"/>
            <a:ext cx="4160692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网络爬取（网页、</a:t>
            </a:r>
            <a:r>
              <a:rPr lang="en-US" sz="1292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API</a:t>
            </a:r>
            <a:r>
              <a:rPr lang="en-US" sz="1292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接口）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2460" y="5238956"/>
            <a:ext cx="4160692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传感器采集（</a:t>
            </a:r>
            <a:r>
              <a:rPr lang="en-US" sz="1292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IoT</a:t>
            </a:r>
            <a:r>
              <a:rPr lang="en-US" sz="1292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设备、摄像头）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1817" y="5754647"/>
            <a:ext cx="4359937" cy="1453312"/>
          </a:xfrm>
          <a:custGeom>
            <a:avLst/>
            <a:gdLst/>
            <a:ahLst/>
            <a:cxnLst/>
            <a:rect l="l" t="t" r="r" b="b"/>
            <a:pathLst>
              <a:path w="4359937" h="1453312">
                <a:moveTo>
                  <a:pt x="93768" y="0"/>
                </a:moveTo>
                <a:lnTo>
                  <a:pt x="4266169" y="0"/>
                </a:lnTo>
                <a:cubicBezTo>
                  <a:pt x="4317955" y="0"/>
                  <a:pt x="4359937" y="41981"/>
                  <a:pt x="4359937" y="93768"/>
                </a:cubicBezTo>
                <a:lnTo>
                  <a:pt x="4359937" y="1359544"/>
                </a:lnTo>
                <a:cubicBezTo>
                  <a:pt x="4359937" y="1411331"/>
                  <a:pt x="4317955" y="1453312"/>
                  <a:pt x="4266169" y="1453312"/>
                </a:cubicBezTo>
                <a:lnTo>
                  <a:pt x="93768" y="1453312"/>
                </a:lnTo>
                <a:cubicBezTo>
                  <a:pt x="41981" y="1453312"/>
                  <a:pt x="0" y="1411331"/>
                  <a:pt x="0" y="1359544"/>
                </a:cubicBezTo>
                <a:lnTo>
                  <a:pt x="0" y="93768"/>
                </a:lnTo>
                <a:cubicBezTo>
                  <a:pt x="0" y="42016"/>
                  <a:pt x="42016" y="0"/>
                  <a:pt x="9376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02460" y="5895291"/>
            <a:ext cx="4172412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7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注意事项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2460" y="6270339"/>
            <a:ext cx="4160692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数据质量与完整性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2460" y="6551625"/>
            <a:ext cx="4160692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样本代表性与均衡性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2460" y="6832911"/>
            <a:ext cx="4160692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数据采集的合规性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57589" y="2045185"/>
            <a:ext cx="4934229" cy="5465487"/>
          </a:xfrm>
          <a:custGeom>
            <a:avLst/>
            <a:gdLst/>
            <a:ahLst/>
            <a:cxnLst/>
            <a:rect l="l" t="t" r="r" b="b"/>
            <a:pathLst>
              <a:path w="4934229" h="5813249">
                <a:moveTo>
                  <a:pt x="140626" y="0"/>
                </a:moveTo>
                <a:lnTo>
                  <a:pt x="4793604" y="0"/>
                </a:lnTo>
                <a:cubicBezTo>
                  <a:pt x="4871217" y="0"/>
                  <a:pt x="4934229" y="63012"/>
                  <a:pt x="4934229" y="140626"/>
                </a:cubicBezTo>
                <a:lnTo>
                  <a:pt x="4934229" y="5672623"/>
                </a:lnTo>
                <a:cubicBezTo>
                  <a:pt x="4934229" y="5750289"/>
                  <a:pt x="4871269" y="5813249"/>
                  <a:pt x="4793604" y="5813249"/>
                </a:cubicBezTo>
                <a:lnTo>
                  <a:pt x="140626" y="5813249"/>
                </a:lnTo>
                <a:cubicBezTo>
                  <a:pt x="63012" y="5813249"/>
                  <a:pt x="0" y="5750237"/>
                  <a:pt x="0" y="5672623"/>
                </a:cubicBezTo>
                <a:lnTo>
                  <a:pt x="0" y="140626"/>
                </a:lnTo>
                <a:cubicBezTo>
                  <a:pt x="0" y="63012"/>
                  <a:pt x="63012" y="0"/>
                  <a:pt x="140626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6ED3CF">
                  <a:alpha val="5000"/>
                </a:srgbClr>
              </a:gs>
            </a:gsLst>
            <a:lin ang="2700000" scaled="1"/>
          </a:gradFill>
          <a:ln w="12700">
            <a:solidFill>
              <a:srgbClr val="6ED3C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5944735" y="2332332"/>
            <a:ext cx="562572" cy="562572"/>
          </a:xfrm>
          <a:custGeom>
            <a:avLst/>
            <a:gdLst/>
            <a:ahLst/>
            <a:cxnLst/>
            <a:rect l="l" t="t" r="r" b="b"/>
            <a:pathLst>
              <a:path w="562572" h="562572">
                <a:moveTo>
                  <a:pt x="93764" y="0"/>
                </a:moveTo>
                <a:lnTo>
                  <a:pt x="468809" y="0"/>
                </a:lnTo>
                <a:cubicBezTo>
                  <a:pt x="520593" y="0"/>
                  <a:pt x="562572" y="41980"/>
                  <a:pt x="562572" y="93764"/>
                </a:cubicBezTo>
                <a:lnTo>
                  <a:pt x="562572" y="468809"/>
                </a:lnTo>
                <a:cubicBezTo>
                  <a:pt x="562572" y="520593"/>
                  <a:pt x="520593" y="562572"/>
                  <a:pt x="468809" y="562572"/>
                </a:cubicBezTo>
                <a:lnTo>
                  <a:pt x="93764" y="562572"/>
                </a:lnTo>
                <a:cubicBezTo>
                  <a:pt x="41980" y="562572"/>
                  <a:pt x="0" y="520593"/>
                  <a:pt x="0" y="468809"/>
                </a:cubicBezTo>
                <a:lnTo>
                  <a:pt x="0" y="93764"/>
                </a:lnTo>
                <a:cubicBezTo>
                  <a:pt x="0" y="41980"/>
                  <a:pt x="41980" y="0"/>
                  <a:pt x="93764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094169" y="2496415"/>
            <a:ext cx="263706" cy="234405"/>
          </a:xfrm>
          <a:custGeom>
            <a:avLst/>
            <a:gdLst/>
            <a:ahLst/>
            <a:cxnLst/>
            <a:rect l="l" t="t" r="r" b="b"/>
            <a:pathLst>
              <a:path w="263706" h="234405">
                <a:moveTo>
                  <a:pt x="259402" y="24997"/>
                </a:moveTo>
                <a:cubicBezTo>
                  <a:pt x="265125" y="19274"/>
                  <a:pt x="265125" y="9981"/>
                  <a:pt x="259402" y="4258"/>
                </a:cubicBezTo>
                <a:cubicBezTo>
                  <a:pt x="253680" y="-1465"/>
                  <a:pt x="244386" y="-1465"/>
                  <a:pt x="238663" y="4258"/>
                </a:cubicBezTo>
                <a:lnTo>
                  <a:pt x="150761" y="92160"/>
                </a:lnTo>
                <a:lnTo>
                  <a:pt x="134875" y="76273"/>
                </a:lnTo>
                <a:cubicBezTo>
                  <a:pt x="132952" y="74350"/>
                  <a:pt x="130296" y="73252"/>
                  <a:pt x="127549" y="73252"/>
                </a:cubicBezTo>
                <a:cubicBezTo>
                  <a:pt x="121827" y="73252"/>
                  <a:pt x="117203" y="77876"/>
                  <a:pt x="117203" y="83598"/>
                </a:cubicBezTo>
                <a:lnTo>
                  <a:pt x="117203" y="96921"/>
                </a:lnTo>
                <a:lnTo>
                  <a:pt x="166785" y="146503"/>
                </a:lnTo>
                <a:lnTo>
                  <a:pt x="180107" y="146503"/>
                </a:lnTo>
                <a:cubicBezTo>
                  <a:pt x="185830" y="146503"/>
                  <a:pt x="190454" y="141879"/>
                  <a:pt x="190454" y="136156"/>
                </a:cubicBezTo>
                <a:cubicBezTo>
                  <a:pt x="190454" y="133410"/>
                  <a:pt x="189355" y="130754"/>
                  <a:pt x="187433" y="128831"/>
                </a:cubicBezTo>
                <a:lnTo>
                  <a:pt x="171546" y="112945"/>
                </a:lnTo>
                <a:lnTo>
                  <a:pt x="259448" y="25043"/>
                </a:lnTo>
                <a:close/>
                <a:moveTo>
                  <a:pt x="156163" y="161795"/>
                </a:moveTo>
                <a:lnTo>
                  <a:pt x="101911" y="107543"/>
                </a:lnTo>
                <a:cubicBezTo>
                  <a:pt x="82362" y="105849"/>
                  <a:pt x="62905" y="112899"/>
                  <a:pt x="48895" y="126908"/>
                </a:cubicBezTo>
                <a:lnTo>
                  <a:pt x="45233" y="130571"/>
                </a:lnTo>
                <a:cubicBezTo>
                  <a:pt x="35023" y="140780"/>
                  <a:pt x="29301" y="154607"/>
                  <a:pt x="29301" y="169028"/>
                </a:cubicBezTo>
                <a:cubicBezTo>
                  <a:pt x="29301" y="172141"/>
                  <a:pt x="32551" y="174156"/>
                  <a:pt x="35344" y="172782"/>
                </a:cubicBezTo>
                <a:lnTo>
                  <a:pt x="58739" y="161108"/>
                </a:lnTo>
                <a:cubicBezTo>
                  <a:pt x="61028" y="159963"/>
                  <a:pt x="63088" y="162985"/>
                  <a:pt x="61211" y="164725"/>
                </a:cubicBezTo>
                <a:lnTo>
                  <a:pt x="3342" y="216733"/>
                </a:lnTo>
                <a:cubicBezTo>
                  <a:pt x="1236" y="218656"/>
                  <a:pt x="0" y="221403"/>
                  <a:pt x="0" y="224287"/>
                </a:cubicBezTo>
                <a:cubicBezTo>
                  <a:pt x="0" y="229873"/>
                  <a:pt x="4532" y="234405"/>
                  <a:pt x="10118" y="234405"/>
                </a:cubicBezTo>
                <a:lnTo>
                  <a:pt x="89459" y="234405"/>
                </a:lnTo>
                <a:cubicBezTo>
                  <a:pt x="107222" y="234405"/>
                  <a:pt x="124207" y="227355"/>
                  <a:pt x="136797" y="214810"/>
                </a:cubicBezTo>
                <a:cubicBezTo>
                  <a:pt x="150807" y="200801"/>
                  <a:pt x="157811" y="181344"/>
                  <a:pt x="156163" y="161795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647951" y="2426094"/>
            <a:ext cx="1265788" cy="375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15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数据清洗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44735" y="3082428"/>
            <a:ext cx="4453699" cy="609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7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处理数据中的缺失值、异常值、重复值等问题，提升数据质量。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944735" y="3879406"/>
            <a:ext cx="4359937" cy="1734598"/>
          </a:xfrm>
          <a:custGeom>
            <a:avLst/>
            <a:gdLst/>
            <a:ahLst/>
            <a:cxnLst/>
            <a:rect l="l" t="t" r="r" b="b"/>
            <a:pathLst>
              <a:path w="4359937" h="1734598">
                <a:moveTo>
                  <a:pt x="93755" y="0"/>
                </a:moveTo>
                <a:lnTo>
                  <a:pt x="4266182" y="0"/>
                </a:lnTo>
                <a:cubicBezTo>
                  <a:pt x="4317961" y="0"/>
                  <a:pt x="4359937" y="41976"/>
                  <a:pt x="4359937" y="93755"/>
                </a:cubicBezTo>
                <a:lnTo>
                  <a:pt x="4359937" y="1640843"/>
                </a:lnTo>
                <a:cubicBezTo>
                  <a:pt x="4359937" y="1692623"/>
                  <a:pt x="4317961" y="1734598"/>
                  <a:pt x="4266182" y="1734598"/>
                </a:cubicBezTo>
                <a:lnTo>
                  <a:pt x="93755" y="1734598"/>
                </a:lnTo>
                <a:cubicBezTo>
                  <a:pt x="41976" y="1734598"/>
                  <a:pt x="0" y="1692623"/>
                  <a:pt x="0" y="1640843"/>
                </a:cubicBezTo>
                <a:lnTo>
                  <a:pt x="0" y="93755"/>
                </a:lnTo>
                <a:cubicBezTo>
                  <a:pt x="0" y="42010"/>
                  <a:pt x="42010" y="0"/>
                  <a:pt x="9375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085379" y="4020049"/>
            <a:ext cx="4172412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7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常见问题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85379" y="4395097"/>
            <a:ext cx="4160692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缺失值：数据不完整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85379" y="4676384"/>
            <a:ext cx="4160692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异常值：离群点、错误数据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85379" y="4957670"/>
            <a:ext cx="4160692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重复值：相同样本重复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085379" y="5238956"/>
            <a:ext cx="4160692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不一致：格式不统一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944735" y="5754647"/>
            <a:ext cx="4359937" cy="1453312"/>
          </a:xfrm>
          <a:custGeom>
            <a:avLst/>
            <a:gdLst/>
            <a:ahLst/>
            <a:cxnLst/>
            <a:rect l="l" t="t" r="r" b="b"/>
            <a:pathLst>
              <a:path w="4359937" h="1453312">
                <a:moveTo>
                  <a:pt x="93768" y="0"/>
                </a:moveTo>
                <a:lnTo>
                  <a:pt x="4266169" y="0"/>
                </a:lnTo>
                <a:cubicBezTo>
                  <a:pt x="4317955" y="0"/>
                  <a:pt x="4359937" y="41981"/>
                  <a:pt x="4359937" y="93768"/>
                </a:cubicBezTo>
                <a:lnTo>
                  <a:pt x="4359937" y="1359544"/>
                </a:lnTo>
                <a:cubicBezTo>
                  <a:pt x="4359937" y="1411331"/>
                  <a:pt x="4317955" y="1453312"/>
                  <a:pt x="4266169" y="1453312"/>
                </a:cubicBezTo>
                <a:lnTo>
                  <a:pt x="93768" y="1453312"/>
                </a:lnTo>
                <a:cubicBezTo>
                  <a:pt x="41981" y="1453312"/>
                  <a:pt x="0" y="1411331"/>
                  <a:pt x="0" y="1359544"/>
                </a:cubicBezTo>
                <a:lnTo>
                  <a:pt x="0" y="93768"/>
                </a:lnTo>
                <a:cubicBezTo>
                  <a:pt x="0" y="42016"/>
                  <a:pt x="42016" y="0"/>
                  <a:pt x="9376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085379" y="5895291"/>
            <a:ext cx="4172412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7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处理方法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085379" y="6270339"/>
            <a:ext cx="4160692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删除、均值/中位数填充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085379" y="6551625"/>
            <a:ext cx="4160692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3σ原则、箱线图检测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085379" y="6832911"/>
            <a:ext cx="4160692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去重、数据标准化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840508" y="2045185"/>
            <a:ext cx="4934229" cy="5465487"/>
          </a:xfrm>
          <a:custGeom>
            <a:avLst/>
            <a:gdLst/>
            <a:ahLst/>
            <a:cxnLst/>
            <a:rect l="l" t="t" r="r" b="b"/>
            <a:pathLst>
              <a:path w="4934229" h="5813249">
                <a:moveTo>
                  <a:pt x="140626" y="0"/>
                </a:moveTo>
                <a:lnTo>
                  <a:pt x="4793604" y="0"/>
                </a:lnTo>
                <a:cubicBezTo>
                  <a:pt x="4871217" y="0"/>
                  <a:pt x="4934229" y="63012"/>
                  <a:pt x="4934229" y="140626"/>
                </a:cubicBezTo>
                <a:lnTo>
                  <a:pt x="4934229" y="5672623"/>
                </a:lnTo>
                <a:cubicBezTo>
                  <a:pt x="4934229" y="5750289"/>
                  <a:pt x="4871269" y="5813249"/>
                  <a:pt x="4793604" y="5813249"/>
                </a:cubicBezTo>
                <a:lnTo>
                  <a:pt x="140626" y="5813249"/>
                </a:lnTo>
                <a:cubicBezTo>
                  <a:pt x="63012" y="5813249"/>
                  <a:pt x="0" y="5750237"/>
                  <a:pt x="0" y="5672623"/>
                </a:cubicBezTo>
                <a:lnTo>
                  <a:pt x="0" y="140626"/>
                </a:lnTo>
                <a:cubicBezTo>
                  <a:pt x="0" y="63012"/>
                  <a:pt x="63012" y="0"/>
                  <a:pt x="140626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11127654" y="2332332"/>
            <a:ext cx="562572" cy="562572"/>
          </a:xfrm>
          <a:custGeom>
            <a:avLst/>
            <a:gdLst/>
            <a:ahLst/>
            <a:cxnLst/>
            <a:rect l="l" t="t" r="r" b="b"/>
            <a:pathLst>
              <a:path w="562572" h="562572">
                <a:moveTo>
                  <a:pt x="93764" y="0"/>
                </a:moveTo>
                <a:lnTo>
                  <a:pt x="468809" y="0"/>
                </a:lnTo>
                <a:cubicBezTo>
                  <a:pt x="520593" y="0"/>
                  <a:pt x="562572" y="41980"/>
                  <a:pt x="562572" y="93764"/>
                </a:cubicBezTo>
                <a:lnTo>
                  <a:pt x="562572" y="468809"/>
                </a:lnTo>
                <a:cubicBezTo>
                  <a:pt x="562572" y="520593"/>
                  <a:pt x="520593" y="562572"/>
                  <a:pt x="468809" y="562572"/>
                </a:cubicBezTo>
                <a:lnTo>
                  <a:pt x="93764" y="562572"/>
                </a:lnTo>
                <a:cubicBezTo>
                  <a:pt x="41980" y="562572"/>
                  <a:pt x="0" y="520593"/>
                  <a:pt x="0" y="468809"/>
                </a:cubicBezTo>
                <a:lnTo>
                  <a:pt x="0" y="93764"/>
                </a:lnTo>
                <a:cubicBezTo>
                  <a:pt x="0" y="41980"/>
                  <a:pt x="41980" y="0"/>
                  <a:pt x="93764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11291738" y="2496415"/>
            <a:ext cx="234405" cy="234405"/>
          </a:xfrm>
          <a:custGeom>
            <a:avLst/>
            <a:gdLst/>
            <a:ahLst/>
            <a:cxnLst/>
            <a:rect l="l" t="t" r="r" b="b"/>
            <a:pathLst>
              <a:path w="234405" h="234405">
                <a:moveTo>
                  <a:pt x="87902" y="117203"/>
                </a:moveTo>
                <a:lnTo>
                  <a:pt x="69818" y="135287"/>
                </a:lnTo>
                <a:cubicBezTo>
                  <a:pt x="64049" y="133043"/>
                  <a:pt x="57823" y="131853"/>
                  <a:pt x="51276" y="131853"/>
                </a:cubicBezTo>
                <a:cubicBezTo>
                  <a:pt x="22937" y="131853"/>
                  <a:pt x="0" y="154790"/>
                  <a:pt x="0" y="183129"/>
                </a:cubicBezTo>
                <a:cubicBezTo>
                  <a:pt x="0" y="211468"/>
                  <a:pt x="22937" y="234405"/>
                  <a:pt x="51276" y="234405"/>
                </a:cubicBezTo>
                <a:cubicBezTo>
                  <a:pt x="79615" y="234405"/>
                  <a:pt x="102552" y="211468"/>
                  <a:pt x="102552" y="183129"/>
                </a:cubicBezTo>
                <a:cubicBezTo>
                  <a:pt x="102552" y="176582"/>
                  <a:pt x="101316" y="170356"/>
                  <a:pt x="99119" y="164587"/>
                </a:cubicBezTo>
                <a:lnTo>
                  <a:pt x="228545" y="35161"/>
                </a:lnTo>
                <a:cubicBezTo>
                  <a:pt x="231796" y="31910"/>
                  <a:pt x="231796" y="26691"/>
                  <a:pt x="228545" y="23441"/>
                </a:cubicBezTo>
                <a:cubicBezTo>
                  <a:pt x="215589" y="10484"/>
                  <a:pt x="194620" y="10484"/>
                  <a:pt x="181664" y="23441"/>
                </a:cubicBezTo>
                <a:lnTo>
                  <a:pt x="117203" y="87902"/>
                </a:lnTo>
                <a:lnTo>
                  <a:pt x="99119" y="69818"/>
                </a:lnTo>
                <a:cubicBezTo>
                  <a:pt x="101362" y="64049"/>
                  <a:pt x="102552" y="57823"/>
                  <a:pt x="102552" y="51276"/>
                </a:cubicBezTo>
                <a:cubicBezTo>
                  <a:pt x="102552" y="22937"/>
                  <a:pt x="79615" y="0"/>
                  <a:pt x="51276" y="0"/>
                </a:cubicBezTo>
                <a:cubicBezTo>
                  <a:pt x="22937" y="0"/>
                  <a:pt x="0" y="22937"/>
                  <a:pt x="0" y="51276"/>
                </a:cubicBezTo>
                <a:cubicBezTo>
                  <a:pt x="0" y="79615"/>
                  <a:pt x="22937" y="102552"/>
                  <a:pt x="51276" y="102552"/>
                </a:cubicBezTo>
                <a:cubicBezTo>
                  <a:pt x="57823" y="102552"/>
                  <a:pt x="64049" y="101316"/>
                  <a:pt x="69818" y="99119"/>
                </a:cubicBezTo>
                <a:lnTo>
                  <a:pt x="87902" y="117203"/>
                </a:lnTo>
                <a:close/>
                <a:moveTo>
                  <a:pt x="132723" y="162023"/>
                </a:moveTo>
                <a:lnTo>
                  <a:pt x="181664" y="210965"/>
                </a:lnTo>
                <a:cubicBezTo>
                  <a:pt x="194620" y="223921"/>
                  <a:pt x="215589" y="223921"/>
                  <a:pt x="228545" y="210965"/>
                </a:cubicBezTo>
                <a:cubicBezTo>
                  <a:pt x="231796" y="207714"/>
                  <a:pt x="231796" y="202495"/>
                  <a:pt x="228545" y="199244"/>
                </a:cubicBezTo>
                <a:lnTo>
                  <a:pt x="162023" y="132723"/>
                </a:lnTo>
                <a:lnTo>
                  <a:pt x="132723" y="162023"/>
                </a:lnTo>
                <a:close/>
                <a:moveTo>
                  <a:pt x="29301" y="51276"/>
                </a:moveTo>
                <a:cubicBezTo>
                  <a:pt x="29301" y="39148"/>
                  <a:pt x="39148" y="29301"/>
                  <a:pt x="51276" y="29301"/>
                </a:cubicBezTo>
                <a:cubicBezTo>
                  <a:pt x="63405" y="29301"/>
                  <a:pt x="73252" y="39148"/>
                  <a:pt x="73252" y="51276"/>
                </a:cubicBezTo>
                <a:cubicBezTo>
                  <a:pt x="73252" y="63405"/>
                  <a:pt x="63405" y="73252"/>
                  <a:pt x="51276" y="73252"/>
                </a:cubicBezTo>
                <a:cubicBezTo>
                  <a:pt x="39148" y="73252"/>
                  <a:pt x="29301" y="63405"/>
                  <a:pt x="29301" y="51276"/>
                </a:cubicBezTo>
                <a:close/>
                <a:moveTo>
                  <a:pt x="51276" y="161154"/>
                </a:moveTo>
                <a:cubicBezTo>
                  <a:pt x="63405" y="161154"/>
                  <a:pt x="73252" y="171000"/>
                  <a:pt x="73252" y="183129"/>
                </a:cubicBezTo>
                <a:cubicBezTo>
                  <a:pt x="73252" y="195258"/>
                  <a:pt x="63405" y="205105"/>
                  <a:pt x="51276" y="205105"/>
                </a:cubicBezTo>
                <a:cubicBezTo>
                  <a:pt x="39148" y="205105"/>
                  <a:pt x="29301" y="195258"/>
                  <a:pt x="29301" y="183129"/>
                </a:cubicBezTo>
                <a:cubicBezTo>
                  <a:pt x="29301" y="171000"/>
                  <a:pt x="39148" y="161154"/>
                  <a:pt x="51276" y="161154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1830870" y="2426094"/>
            <a:ext cx="1547074" cy="375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15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数据集划分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127654" y="3082428"/>
            <a:ext cx="4453699" cy="609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7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将数据划分为训练集、验证集、测试集，确保模型评估的客观性。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1127654" y="3879406"/>
            <a:ext cx="4359937" cy="1828360"/>
          </a:xfrm>
          <a:custGeom>
            <a:avLst/>
            <a:gdLst/>
            <a:ahLst/>
            <a:cxnLst/>
            <a:rect l="l" t="t" r="r" b="b"/>
            <a:pathLst>
              <a:path w="4359937" h="1828360">
                <a:moveTo>
                  <a:pt x="93758" y="0"/>
                </a:moveTo>
                <a:lnTo>
                  <a:pt x="4266178" y="0"/>
                </a:lnTo>
                <a:cubicBezTo>
                  <a:pt x="4317960" y="0"/>
                  <a:pt x="4359937" y="41977"/>
                  <a:pt x="4359937" y="93758"/>
                </a:cubicBezTo>
                <a:lnTo>
                  <a:pt x="4359937" y="1734602"/>
                </a:lnTo>
                <a:cubicBezTo>
                  <a:pt x="4359937" y="1786383"/>
                  <a:pt x="4317960" y="1828360"/>
                  <a:pt x="4266178" y="1828360"/>
                </a:cubicBezTo>
                <a:lnTo>
                  <a:pt x="93758" y="1828360"/>
                </a:lnTo>
                <a:cubicBezTo>
                  <a:pt x="41977" y="1828360"/>
                  <a:pt x="0" y="1786383"/>
                  <a:pt x="0" y="1734602"/>
                </a:cubicBezTo>
                <a:lnTo>
                  <a:pt x="0" y="93758"/>
                </a:lnTo>
                <a:cubicBezTo>
                  <a:pt x="0" y="42012"/>
                  <a:pt x="42012" y="0"/>
                  <a:pt x="9375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1268297" y="4020049"/>
            <a:ext cx="4172412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7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划分策略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1268297" y="4395097"/>
            <a:ext cx="4078650" cy="328167"/>
          </a:xfrm>
          <a:custGeom>
            <a:avLst/>
            <a:gdLst/>
            <a:ahLst/>
            <a:cxnLst/>
            <a:rect l="l" t="t" r="r" b="b"/>
            <a:pathLst>
              <a:path w="4078650" h="328167">
                <a:moveTo>
                  <a:pt x="46882" y="0"/>
                </a:moveTo>
                <a:lnTo>
                  <a:pt x="4031768" y="0"/>
                </a:lnTo>
                <a:cubicBezTo>
                  <a:pt x="4057661" y="0"/>
                  <a:pt x="4078650" y="20990"/>
                  <a:pt x="4078650" y="46882"/>
                </a:cubicBezTo>
                <a:lnTo>
                  <a:pt x="4078650" y="281285"/>
                </a:lnTo>
                <a:cubicBezTo>
                  <a:pt x="4078650" y="307177"/>
                  <a:pt x="4057661" y="328167"/>
                  <a:pt x="4031768" y="328167"/>
                </a:cubicBezTo>
                <a:lnTo>
                  <a:pt x="46882" y="328167"/>
                </a:lnTo>
                <a:cubicBezTo>
                  <a:pt x="20990" y="328167"/>
                  <a:pt x="0" y="307177"/>
                  <a:pt x="0" y="281285"/>
                </a:cubicBezTo>
                <a:lnTo>
                  <a:pt x="0" y="46882"/>
                </a:lnTo>
                <a:cubicBezTo>
                  <a:pt x="0" y="20990"/>
                  <a:pt x="20990" y="0"/>
                  <a:pt x="46882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1362059" y="4441978"/>
            <a:ext cx="574293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训练集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4640893" y="4441978"/>
            <a:ext cx="691495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60-80%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1268297" y="4817027"/>
            <a:ext cx="4078650" cy="328167"/>
          </a:xfrm>
          <a:custGeom>
            <a:avLst/>
            <a:gdLst/>
            <a:ahLst/>
            <a:cxnLst/>
            <a:rect l="l" t="t" r="r" b="b"/>
            <a:pathLst>
              <a:path w="4078650" h="328167">
                <a:moveTo>
                  <a:pt x="46882" y="0"/>
                </a:moveTo>
                <a:lnTo>
                  <a:pt x="4031768" y="0"/>
                </a:lnTo>
                <a:cubicBezTo>
                  <a:pt x="4057661" y="0"/>
                  <a:pt x="4078650" y="20990"/>
                  <a:pt x="4078650" y="46882"/>
                </a:cubicBezTo>
                <a:lnTo>
                  <a:pt x="4078650" y="281285"/>
                </a:lnTo>
                <a:cubicBezTo>
                  <a:pt x="4078650" y="307177"/>
                  <a:pt x="4057661" y="328167"/>
                  <a:pt x="4031768" y="328167"/>
                </a:cubicBezTo>
                <a:lnTo>
                  <a:pt x="46882" y="328167"/>
                </a:lnTo>
                <a:cubicBezTo>
                  <a:pt x="20990" y="328167"/>
                  <a:pt x="0" y="307177"/>
                  <a:pt x="0" y="281285"/>
                </a:cubicBezTo>
                <a:lnTo>
                  <a:pt x="0" y="46882"/>
                </a:lnTo>
                <a:cubicBezTo>
                  <a:pt x="0" y="20990"/>
                  <a:pt x="20990" y="0"/>
                  <a:pt x="46882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1362059" y="4863908"/>
            <a:ext cx="574293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验证集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4685027" y="4863908"/>
            <a:ext cx="656335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10-20%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1268297" y="5238956"/>
            <a:ext cx="4078650" cy="328167"/>
          </a:xfrm>
          <a:custGeom>
            <a:avLst/>
            <a:gdLst/>
            <a:ahLst/>
            <a:cxnLst/>
            <a:rect l="l" t="t" r="r" b="b"/>
            <a:pathLst>
              <a:path w="4078650" h="328167">
                <a:moveTo>
                  <a:pt x="46882" y="0"/>
                </a:moveTo>
                <a:lnTo>
                  <a:pt x="4031768" y="0"/>
                </a:lnTo>
                <a:cubicBezTo>
                  <a:pt x="4057661" y="0"/>
                  <a:pt x="4078650" y="20990"/>
                  <a:pt x="4078650" y="46882"/>
                </a:cubicBezTo>
                <a:lnTo>
                  <a:pt x="4078650" y="281285"/>
                </a:lnTo>
                <a:cubicBezTo>
                  <a:pt x="4078650" y="307177"/>
                  <a:pt x="4057661" y="328167"/>
                  <a:pt x="4031768" y="328167"/>
                </a:cubicBezTo>
                <a:lnTo>
                  <a:pt x="46882" y="328167"/>
                </a:lnTo>
                <a:cubicBezTo>
                  <a:pt x="20990" y="328167"/>
                  <a:pt x="0" y="307177"/>
                  <a:pt x="0" y="281285"/>
                </a:cubicBezTo>
                <a:lnTo>
                  <a:pt x="0" y="46882"/>
                </a:lnTo>
                <a:cubicBezTo>
                  <a:pt x="0" y="20990"/>
                  <a:pt x="20990" y="0"/>
                  <a:pt x="46882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1362059" y="5285837"/>
            <a:ext cx="574293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测试集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4685027" y="5285837"/>
            <a:ext cx="656335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10-20%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1127654" y="5848410"/>
            <a:ext cx="4359937" cy="1453312"/>
          </a:xfrm>
          <a:custGeom>
            <a:avLst/>
            <a:gdLst/>
            <a:ahLst/>
            <a:cxnLst/>
            <a:rect l="l" t="t" r="r" b="b"/>
            <a:pathLst>
              <a:path w="4359937" h="1453312">
                <a:moveTo>
                  <a:pt x="93768" y="0"/>
                </a:moveTo>
                <a:lnTo>
                  <a:pt x="4266169" y="0"/>
                </a:lnTo>
                <a:cubicBezTo>
                  <a:pt x="4317955" y="0"/>
                  <a:pt x="4359937" y="41981"/>
                  <a:pt x="4359937" y="93768"/>
                </a:cubicBezTo>
                <a:lnTo>
                  <a:pt x="4359937" y="1359544"/>
                </a:lnTo>
                <a:cubicBezTo>
                  <a:pt x="4359937" y="1411331"/>
                  <a:pt x="4317955" y="1453312"/>
                  <a:pt x="4266169" y="1453312"/>
                </a:cubicBezTo>
                <a:lnTo>
                  <a:pt x="93768" y="1453312"/>
                </a:lnTo>
                <a:cubicBezTo>
                  <a:pt x="41981" y="1453312"/>
                  <a:pt x="0" y="1411331"/>
                  <a:pt x="0" y="1359544"/>
                </a:cubicBezTo>
                <a:lnTo>
                  <a:pt x="0" y="93768"/>
                </a:lnTo>
                <a:cubicBezTo>
                  <a:pt x="0" y="42016"/>
                  <a:pt x="42016" y="0"/>
                  <a:pt x="9376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11268297" y="5989053"/>
            <a:ext cx="4172412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7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作用说明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268297" y="6364101"/>
            <a:ext cx="4160692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训练集：模型学习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1268297" y="6645387"/>
            <a:ext cx="4160692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验证集：调参选择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268297" y="6926673"/>
            <a:ext cx="4160692" cy="23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测试集：最终评估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92251" y="7664038"/>
            <a:ext cx="15294939" cy="1054823"/>
          </a:xfrm>
          <a:custGeom>
            <a:avLst/>
            <a:gdLst/>
            <a:ahLst/>
            <a:cxnLst/>
            <a:rect l="l" t="t" r="r" b="b"/>
            <a:pathLst>
              <a:path w="15294939" h="1054823">
                <a:moveTo>
                  <a:pt x="46881" y="0"/>
                </a:moveTo>
                <a:lnTo>
                  <a:pt x="15201175" y="0"/>
                </a:lnTo>
                <a:cubicBezTo>
                  <a:pt x="15252959" y="0"/>
                  <a:pt x="15294939" y="41979"/>
                  <a:pt x="15294939" y="93763"/>
                </a:cubicBezTo>
                <a:lnTo>
                  <a:pt x="15294939" y="961060"/>
                </a:lnTo>
                <a:cubicBezTo>
                  <a:pt x="15294939" y="1012844"/>
                  <a:pt x="15252959" y="1054823"/>
                  <a:pt x="15201175" y="1054823"/>
                </a:cubicBezTo>
                <a:lnTo>
                  <a:pt x="46881" y="1054823"/>
                </a:lnTo>
                <a:cubicBezTo>
                  <a:pt x="21007" y="1054823"/>
                  <a:pt x="0" y="1033817"/>
                  <a:pt x="0" y="1007942"/>
                </a:cubicBezTo>
                <a:lnTo>
                  <a:pt x="0" y="46881"/>
                </a:lnTo>
                <a:cubicBezTo>
                  <a:pt x="0" y="21007"/>
                  <a:pt x="21007" y="0"/>
                  <a:pt x="46881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492251" y="7664038"/>
            <a:ext cx="46881" cy="1054823"/>
          </a:xfrm>
          <a:custGeom>
            <a:avLst/>
            <a:gdLst/>
            <a:ahLst/>
            <a:cxnLst/>
            <a:rect l="l" t="t" r="r" b="b"/>
            <a:pathLst>
              <a:path w="46881" h="1054823">
                <a:moveTo>
                  <a:pt x="46881" y="0"/>
                </a:moveTo>
                <a:lnTo>
                  <a:pt x="46881" y="0"/>
                </a:lnTo>
                <a:lnTo>
                  <a:pt x="46881" y="1054823"/>
                </a:lnTo>
                <a:lnTo>
                  <a:pt x="46881" y="1054823"/>
                </a:lnTo>
                <a:cubicBezTo>
                  <a:pt x="21007" y="1054823"/>
                  <a:pt x="0" y="1033817"/>
                  <a:pt x="0" y="1007942"/>
                </a:cubicBezTo>
                <a:lnTo>
                  <a:pt x="0" y="46881"/>
                </a:lnTo>
                <a:cubicBezTo>
                  <a:pt x="0" y="21007"/>
                  <a:pt x="21007" y="0"/>
                  <a:pt x="46881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755957" y="7851562"/>
            <a:ext cx="246125" cy="281286"/>
          </a:xfrm>
          <a:custGeom>
            <a:avLst/>
            <a:gdLst/>
            <a:ahLst/>
            <a:cxnLst/>
            <a:rect l="l" t="t" r="r" b="b"/>
            <a:pathLst>
              <a:path w="246125" h="281286">
                <a:moveTo>
                  <a:pt x="0" y="118668"/>
                </a:moveTo>
                <a:cubicBezTo>
                  <a:pt x="0" y="82243"/>
                  <a:pt x="29502" y="52741"/>
                  <a:pt x="65926" y="52741"/>
                </a:cubicBezTo>
                <a:lnTo>
                  <a:pt x="70322" y="52741"/>
                </a:lnTo>
                <a:cubicBezTo>
                  <a:pt x="80046" y="52741"/>
                  <a:pt x="87902" y="60597"/>
                  <a:pt x="87902" y="70322"/>
                </a:cubicBezTo>
                <a:cubicBezTo>
                  <a:pt x="87902" y="80046"/>
                  <a:pt x="80046" y="87902"/>
                  <a:pt x="70322" y="87902"/>
                </a:cubicBezTo>
                <a:lnTo>
                  <a:pt x="65926" y="87902"/>
                </a:lnTo>
                <a:cubicBezTo>
                  <a:pt x="48950" y="87902"/>
                  <a:pt x="35161" y="101692"/>
                  <a:pt x="35161" y="118668"/>
                </a:cubicBezTo>
                <a:lnTo>
                  <a:pt x="35161" y="123063"/>
                </a:lnTo>
                <a:lnTo>
                  <a:pt x="70322" y="123063"/>
                </a:lnTo>
                <a:cubicBezTo>
                  <a:pt x="89715" y="123063"/>
                  <a:pt x="105482" y="138830"/>
                  <a:pt x="105482" y="158224"/>
                </a:cubicBezTo>
                <a:lnTo>
                  <a:pt x="105482" y="193384"/>
                </a:lnTo>
                <a:cubicBezTo>
                  <a:pt x="105482" y="212778"/>
                  <a:pt x="89715" y="228545"/>
                  <a:pt x="70322" y="228545"/>
                </a:cubicBezTo>
                <a:lnTo>
                  <a:pt x="35161" y="228545"/>
                </a:lnTo>
                <a:cubicBezTo>
                  <a:pt x="15767" y="228545"/>
                  <a:pt x="0" y="212778"/>
                  <a:pt x="0" y="193384"/>
                </a:cubicBezTo>
                <a:lnTo>
                  <a:pt x="0" y="118668"/>
                </a:lnTo>
                <a:close/>
                <a:moveTo>
                  <a:pt x="140643" y="118668"/>
                </a:moveTo>
                <a:cubicBezTo>
                  <a:pt x="140643" y="82243"/>
                  <a:pt x="170145" y="52741"/>
                  <a:pt x="206570" y="52741"/>
                </a:cubicBezTo>
                <a:lnTo>
                  <a:pt x="210965" y="52741"/>
                </a:lnTo>
                <a:cubicBezTo>
                  <a:pt x="220689" y="52741"/>
                  <a:pt x="228545" y="60597"/>
                  <a:pt x="228545" y="70322"/>
                </a:cubicBezTo>
                <a:cubicBezTo>
                  <a:pt x="228545" y="80046"/>
                  <a:pt x="220689" y="87902"/>
                  <a:pt x="210965" y="87902"/>
                </a:cubicBezTo>
                <a:lnTo>
                  <a:pt x="206570" y="87902"/>
                </a:lnTo>
                <a:cubicBezTo>
                  <a:pt x="189594" y="87902"/>
                  <a:pt x="175804" y="101692"/>
                  <a:pt x="175804" y="118668"/>
                </a:cubicBezTo>
                <a:lnTo>
                  <a:pt x="175804" y="123063"/>
                </a:lnTo>
                <a:lnTo>
                  <a:pt x="210965" y="123063"/>
                </a:lnTo>
                <a:cubicBezTo>
                  <a:pt x="230358" y="123063"/>
                  <a:pt x="246125" y="138830"/>
                  <a:pt x="246125" y="158224"/>
                </a:cubicBezTo>
                <a:lnTo>
                  <a:pt x="246125" y="193384"/>
                </a:lnTo>
                <a:cubicBezTo>
                  <a:pt x="246125" y="212778"/>
                  <a:pt x="230358" y="228545"/>
                  <a:pt x="210965" y="228545"/>
                </a:cubicBezTo>
                <a:lnTo>
                  <a:pt x="175804" y="228545"/>
                </a:lnTo>
                <a:cubicBezTo>
                  <a:pt x="156411" y="228545"/>
                  <a:pt x="140643" y="212778"/>
                  <a:pt x="140643" y="193384"/>
                </a:cubicBezTo>
                <a:lnTo>
                  <a:pt x="140643" y="118668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1195466" y="7851562"/>
            <a:ext cx="13595501" cy="328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61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数据质量决定模型上限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195466" y="8226610"/>
            <a:ext cx="13583781" cy="30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7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"数据和特征决定了机器学习的上限，而模型和算法只是逼近这个上限。" 数据准备阶段的质量直接影响最终模型的性能，投入时间进行数据清洗和预处理是值得的。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1556" y="451556"/>
            <a:ext cx="2441745" cy="367934"/>
          </a:xfrm>
          <a:custGeom>
            <a:avLst/>
            <a:gdLst/>
            <a:ahLst/>
            <a:cxnLst/>
            <a:rect l="l" t="t" r="r" b="b"/>
            <a:pathLst>
              <a:path w="2441745" h="367934">
                <a:moveTo>
                  <a:pt x="44597" y="0"/>
                </a:moveTo>
                <a:lnTo>
                  <a:pt x="2397148" y="0"/>
                </a:lnTo>
                <a:cubicBezTo>
                  <a:pt x="2421778" y="0"/>
                  <a:pt x="2441745" y="19967"/>
                  <a:pt x="2441745" y="44597"/>
                </a:cubicBezTo>
                <a:lnTo>
                  <a:pt x="2441745" y="323337"/>
                </a:lnTo>
                <a:cubicBezTo>
                  <a:pt x="2441745" y="347967"/>
                  <a:pt x="2421778" y="367934"/>
                  <a:pt x="2397148" y="367934"/>
                </a:cubicBezTo>
                <a:lnTo>
                  <a:pt x="44597" y="367934"/>
                </a:lnTo>
                <a:cubicBezTo>
                  <a:pt x="19967" y="367934"/>
                  <a:pt x="0" y="347967"/>
                  <a:pt x="0" y="323337"/>
                </a:cubicBezTo>
                <a:lnTo>
                  <a:pt x="0" y="44597"/>
                </a:lnTo>
                <a:cubicBezTo>
                  <a:pt x="0" y="19967"/>
                  <a:pt x="19967" y="0"/>
                  <a:pt x="44597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 w="12700">
            <a:solidFill>
              <a:srgbClr val="5F87A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90925" y="518453"/>
            <a:ext cx="2249938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kern="0" spc="70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45981" y="914261"/>
            <a:ext cx="15564730" cy="445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16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特征工程：决定机器学习上限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45981" y="1449438"/>
            <a:ext cx="15453235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数据和特征决定了机器学习的上限（对应章节：Ch-07、Ch-10、Ch-11）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1556" y="1945591"/>
            <a:ext cx="4961536" cy="5627982"/>
          </a:xfrm>
          <a:custGeom>
            <a:avLst/>
            <a:gdLst/>
            <a:ahLst/>
            <a:cxnLst/>
            <a:rect l="l" t="t" r="r" b="b"/>
            <a:pathLst>
              <a:path w="4961536" h="6500170">
                <a:moveTo>
                  <a:pt x="133813" y="0"/>
                </a:moveTo>
                <a:lnTo>
                  <a:pt x="4827724" y="0"/>
                </a:lnTo>
                <a:cubicBezTo>
                  <a:pt x="4901626" y="0"/>
                  <a:pt x="4961536" y="59910"/>
                  <a:pt x="4961536" y="133813"/>
                </a:cubicBezTo>
                <a:lnTo>
                  <a:pt x="4961536" y="6366357"/>
                </a:lnTo>
                <a:cubicBezTo>
                  <a:pt x="4961536" y="6440260"/>
                  <a:pt x="4901626" y="6500170"/>
                  <a:pt x="4827724" y="6500170"/>
                </a:cubicBezTo>
                <a:lnTo>
                  <a:pt x="133813" y="6500170"/>
                </a:lnTo>
                <a:cubicBezTo>
                  <a:pt x="59910" y="6500170"/>
                  <a:pt x="0" y="6440260"/>
                  <a:pt x="0" y="6366357"/>
                </a:cubicBezTo>
                <a:lnTo>
                  <a:pt x="0" y="133813"/>
                </a:lnTo>
                <a:cubicBezTo>
                  <a:pt x="0" y="59959"/>
                  <a:pt x="59959" y="0"/>
                  <a:pt x="133813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24719" y="2241053"/>
            <a:ext cx="535177" cy="535177"/>
          </a:xfrm>
          <a:custGeom>
            <a:avLst/>
            <a:gdLst/>
            <a:ahLst/>
            <a:cxnLst/>
            <a:rect l="l" t="t" r="r" b="b"/>
            <a:pathLst>
              <a:path w="535177" h="535177">
                <a:moveTo>
                  <a:pt x="89198" y="0"/>
                </a:moveTo>
                <a:lnTo>
                  <a:pt x="445979" y="0"/>
                </a:lnTo>
                <a:cubicBezTo>
                  <a:pt x="495242" y="0"/>
                  <a:pt x="535177" y="39935"/>
                  <a:pt x="535177" y="89198"/>
                </a:cubicBezTo>
                <a:lnTo>
                  <a:pt x="535177" y="445979"/>
                </a:lnTo>
                <a:cubicBezTo>
                  <a:pt x="535177" y="495242"/>
                  <a:pt x="495242" y="535177"/>
                  <a:pt x="445979" y="535177"/>
                </a:cubicBezTo>
                <a:lnTo>
                  <a:pt x="89198" y="535177"/>
                </a:lnTo>
                <a:cubicBezTo>
                  <a:pt x="39935" y="535177"/>
                  <a:pt x="0" y="495242"/>
                  <a:pt x="0" y="445979"/>
                </a:cubicBezTo>
                <a:lnTo>
                  <a:pt x="0" y="89198"/>
                </a:lnTo>
                <a:cubicBezTo>
                  <a:pt x="0" y="39968"/>
                  <a:pt x="39968" y="0"/>
                  <a:pt x="89198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80812" y="2397147"/>
            <a:ext cx="222990" cy="222990"/>
          </a:xfrm>
          <a:custGeom>
            <a:avLst/>
            <a:gdLst/>
            <a:ahLst/>
            <a:cxnLst/>
            <a:rect l="l" t="t" r="r" b="b"/>
            <a:pathLst>
              <a:path w="222990" h="222990">
                <a:moveTo>
                  <a:pt x="101260" y="2265"/>
                </a:moveTo>
                <a:cubicBezTo>
                  <a:pt x="107750" y="-740"/>
                  <a:pt x="115241" y="-740"/>
                  <a:pt x="121730" y="2265"/>
                </a:cubicBezTo>
                <a:lnTo>
                  <a:pt x="216937" y="46253"/>
                </a:lnTo>
                <a:cubicBezTo>
                  <a:pt x="220639" y="47952"/>
                  <a:pt x="222990" y="51654"/>
                  <a:pt x="222990" y="55748"/>
                </a:cubicBezTo>
                <a:cubicBezTo>
                  <a:pt x="222990" y="59842"/>
                  <a:pt x="220639" y="63544"/>
                  <a:pt x="216937" y="65242"/>
                </a:cubicBezTo>
                <a:lnTo>
                  <a:pt x="121730" y="109230"/>
                </a:lnTo>
                <a:cubicBezTo>
                  <a:pt x="115241" y="112236"/>
                  <a:pt x="107750" y="112236"/>
                  <a:pt x="101260" y="109230"/>
                </a:cubicBezTo>
                <a:lnTo>
                  <a:pt x="6054" y="65242"/>
                </a:lnTo>
                <a:cubicBezTo>
                  <a:pt x="2352" y="63500"/>
                  <a:pt x="0" y="59798"/>
                  <a:pt x="0" y="55748"/>
                </a:cubicBezTo>
                <a:cubicBezTo>
                  <a:pt x="0" y="51697"/>
                  <a:pt x="2352" y="47952"/>
                  <a:pt x="6054" y="46253"/>
                </a:cubicBezTo>
                <a:lnTo>
                  <a:pt x="101260" y="2265"/>
                </a:lnTo>
                <a:close/>
                <a:moveTo>
                  <a:pt x="20949" y="95119"/>
                </a:moveTo>
                <a:lnTo>
                  <a:pt x="92506" y="128176"/>
                </a:lnTo>
                <a:cubicBezTo>
                  <a:pt x="104570" y="133751"/>
                  <a:pt x="118464" y="133751"/>
                  <a:pt x="130528" y="128176"/>
                </a:cubicBezTo>
                <a:lnTo>
                  <a:pt x="202085" y="95119"/>
                </a:lnTo>
                <a:lnTo>
                  <a:pt x="216937" y="102001"/>
                </a:lnTo>
                <a:cubicBezTo>
                  <a:pt x="220639" y="103699"/>
                  <a:pt x="222990" y="107401"/>
                  <a:pt x="222990" y="111495"/>
                </a:cubicBezTo>
                <a:cubicBezTo>
                  <a:pt x="222990" y="115589"/>
                  <a:pt x="220639" y="119291"/>
                  <a:pt x="216937" y="120990"/>
                </a:cubicBezTo>
                <a:lnTo>
                  <a:pt x="121730" y="164978"/>
                </a:lnTo>
                <a:cubicBezTo>
                  <a:pt x="115241" y="167983"/>
                  <a:pt x="107750" y="167983"/>
                  <a:pt x="101260" y="164978"/>
                </a:cubicBezTo>
                <a:lnTo>
                  <a:pt x="6054" y="120990"/>
                </a:lnTo>
                <a:cubicBezTo>
                  <a:pt x="2352" y="119248"/>
                  <a:pt x="0" y="115546"/>
                  <a:pt x="0" y="111495"/>
                </a:cubicBezTo>
                <a:cubicBezTo>
                  <a:pt x="0" y="107445"/>
                  <a:pt x="2352" y="103699"/>
                  <a:pt x="6054" y="102001"/>
                </a:cubicBezTo>
                <a:lnTo>
                  <a:pt x="20905" y="95119"/>
                </a:lnTo>
                <a:close/>
                <a:moveTo>
                  <a:pt x="6054" y="157748"/>
                </a:moveTo>
                <a:lnTo>
                  <a:pt x="20905" y="150867"/>
                </a:lnTo>
                <a:lnTo>
                  <a:pt x="92463" y="183924"/>
                </a:lnTo>
                <a:cubicBezTo>
                  <a:pt x="104527" y="189498"/>
                  <a:pt x="118420" y="189498"/>
                  <a:pt x="130484" y="183924"/>
                </a:cubicBezTo>
                <a:lnTo>
                  <a:pt x="202041" y="150867"/>
                </a:lnTo>
                <a:lnTo>
                  <a:pt x="216893" y="157748"/>
                </a:lnTo>
                <a:cubicBezTo>
                  <a:pt x="220595" y="159447"/>
                  <a:pt x="222947" y="163149"/>
                  <a:pt x="222947" y="167243"/>
                </a:cubicBezTo>
                <a:cubicBezTo>
                  <a:pt x="222947" y="171337"/>
                  <a:pt x="220595" y="175039"/>
                  <a:pt x="216893" y="176737"/>
                </a:cubicBezTo>
                <a:lnTo>
                  <a:pt x="121687" y="220726"/>
                </a:lnTo>
                <a:cubicBezTo>
                  <a:pt x="115197" y="223731"/>
                  <a:pt x="107706" y="223731"/>
                  <a:pt x="101217" y="220726"/>
                </a:cubicBezTo>
                <a:lnTo>
                  <a:pt x="6054" y="176737"/>
                </a:lnTo>
                <a:cubicBezTo>
                  <a:pt x="2352" y="174995"/>
                  <a:pt x="0" y="171293"/>
                  <a:pt x="0" y="167243"/>
                </a:cubicBezTo>
                <a:cubicBezTo>
                  <a:pt x="0" y="163192"/>
                  <a:pt x="2352" y="159447"/>
                  <a:pt x="6054" y="15774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393690" y="2218754"/>
            <a:ext cx="1248746" cy="356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0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特征提取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93690" y="2575539"/>
            <a:ext cx="1192999" cy="22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9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Ch-07 特征工程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4719" y="2976922"/>
            <a:ext cx="4504406" cy="579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5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从原始数据中提取有意义的数值特征，将非结构化数据转换为机器学习算法可以处理的格式。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4719" y="3735089"/>
            <a:ext cx="4415210" cy="2274502"/>
          </a:xfrm>
          <a:custGeom>
            <a:avLst/>
            <a:gdLst/>
            <a:ahLst/>
            <a:cxnLst/>
            <a:rect l="l" t="t" r="r" b="b"/>
            <a:pathLst>
              <a:path w="4415210" h="2274502">
                <a:moveTo>
                  <a:pt x="89206" y="0"/>
                </a:moveTo>
                <a:lnTo>
                  <a:pt x="4326004" y="0"/>
                </a:lnTo>
                <a:cubicBezTo>
                  <a:pt x="4375271" y="0"/>
                  <a:pt x="4415210" y="39939"/>
                  <a:pt x="4415210" y="89206"/>
                </a:cubicBezTo>
                <a:lnTo>
                  <a:pt x="4415210" y="2185296"/>
                </a:lnTo>
                <a:cubicBezTo>
                  <a:pt x="4415210" y="2234563"/>
                  <a:pt x="4375271" y="2274502"/>
                  <a:pt x="4326004" y="2274502"/>
                </a:cubicBezTo>
                <a:lnTo>
                  <a:pt x="89206" y="2274502"/>
                </a:lnTo>
                <a:cubicBezTo>
                  <a:pt x="39939" y="2274502"/>
                  <a:pt x="0" y="2234563"/>
                  <a:pt x="0" y="2185296"/>
                </a:cubicBezTo>
                <a:lnTo>
                  <a:pt x="0" y="89206"/>
                </a:lnTo>
                <a:cubicBezTo>
                  <a:pt x="0" y="39972"/>
                  <a:pt x="39972" y="0"/>
                  <a:pt x="8920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58513" y="3868883"/>
            <a:ext cx="4236818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典型方法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80812" y="4270266"/>
            <a:ext cx="156093" cy="156093"/>
          </a:xfrm>
          <a:custGeom>
            <a:avLst/>
            <a:gdLst/>
            <a:ahLst/>
            <a:cxnLst/>
            <a:rect l="l" t="t" r="r" b="b"/>
            <a:pathLst>
              <a:path w="156093" h="156093">
                <a:moveTo>
                  <a:pt x="86918" y="15457"/>
                </a:moveTo>
                <a:cubicBezTo>
                  <a:pt x="85333" y="11981"/>
                  <a:pt x="81858" y="9756"/>
                  <a:pt x="78047" y="9756"/>
                </a:cubicBezTo>
                <a:cubicBezTo>
                  <a:pt x="74236" y="9756"/>
                  <a:pt x="70760" y="11981"/>
                  <a:pt x="69175" y="15457"/>
                </a:cubicBezTo>
                <a:lnTo>
                  <a:pt x="18140" y="126826"/>
                </a:lnTo>
                <a:lnTo>
                  <a:pt x="14634" y="126826"/>
                </a:lnTo>
                <a:cubicBezTo>
                  <a:pt x="9238" y="126826"/>
                  <a:pt x="4878" y="131185"/>
                  <a:pt x="4878" y="136582"/>
                </a:cubicBezTo>
                <a:cubicBezTo>
                  <a:pt x="4878" y="141978"/>
                  <a:pt x="9238" y="146337"/>
                  <a:pt x="14634" y="146337"/>
                </a:cubicBezTo>
                <a:lnTo>
                  <a:pt x="41462" y="146337"/>
                </a:lnTo>
                <a:cubicBezTo>
                  <a:pt x="46858" y="146337"/>
                  <a:pt x="51218" y="141978"/>
                  <a:pt x="51218" y="136582"/>
                </a:cubicBezTo>
                <a:cubicBezTo>
                  <a:pt x="51218" y="131185"/>
                  <a:pt x="46858" y="126826"/>
                  <a:pt x="41462" y="126826"/>
                </a:cubicBezTo>
                <a:lnTo>
                  <a:pt x="39603" y="126826"/>
                </a:lnTo>
                <a:lnTo>
                  <a:pt x="46310" y="112192"/>
                </a:lnTo>
                <a:lnTo>
                  <a:pt x="109814" y="112192"/>
                </a:lnTo>
                <a:lnTo>
                  <a:pt x="116521" y="126826"/>
                </a:lnTo>
                <a:lnTo>
                  <a:pt x="114661" y="126826"/>
                </a:lnTo>
                <a:cubicBezTo>
                  <a:pt x="109265" y="126826"/>
                  <a:pt x="104906" y="131185"/>
                  <a:pt x="104906" y="136582"/>
                </a:cubicBezTo>
                <a:cubicBezTo>
                  <a:pt x="104906" y="141978"/>
                  <a:pt x="109265" y="146337"/>
                  <a:pt x="114661" y="146337"/>
                </a:cubicBezTo>
                <a:lnTo>
                  <a:pt x="141490" y="146337"/>
                </a:lnTo>
                <a:cubicBezTo>
                  <a:pt x="146886" y="146337"/>
                  <a:pt x="151246" y="141978"/>
                  <a:pt x="151246" y="136582"/>
                </a:cubicBezTo>
                <a:cubicBezTo>
                  <a:pt x="151246" y="131185"/>
                  <a:pt x="146886" y="126826"/>
                  <a:pt x="141490" y="126826"/>
                </a:cubicBezTo>
                <a:lnTo>
                  <a:pt x="137984" y="126826"/>
                </a:lnTo>
                <a:lnTo>
                  <a:pt x="86949" y="15457"/>
                </a:lnTo>
                <a:close/>
                <a:moveTo>
                  <a:pt x="100851" y="92680"/>
                </a:moveTo>
                <a:lnTo>
                  <a:pt x="55242" y="92680"/>
                </a:lnTo>
                <a:lnTo>
                  <a:pt x="78047" y="42926"/>
                </a:lnTo>
                <a:lnTo>
                  <a:pt x="100851" y="92680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142826" y="4225668"/>
            <a:ext cx="2709333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文本特征提取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2826" y="4493257"/>
            <a:ext cx="2698184" cy="22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9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词袋模型(BoW)、TF-IDF、Word2Vec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80812" y="4850041"/>
            <a:ext cx="156093" cy="156093"/>
          </a:xfrm>
          <a:custGeom>
            <a:avLst/>
            <a:gdLst/>
            <a:ahLst/>
            <a:cxnLst/>
            <a:rect l="l" t="t" r="r" b="b"/>
            <a:pathLst>
              <a:path w="156093" h="156093">
                <a:moveTo>
                  <a:pt x="78047" y="0"/>
                </a:moveTo>
                <a:cubicBezTo>
                  <a:pt x="121122" y="0"/>
                  <a:pt x="156093" y="34972"/>
                  <a:pt x="156093" y="78047"/>
                </a:cubicBezTo>
                <a:cubicBezTo>
                  <a:pt x="156093" y="121122"/>
                  <a:pt x="121122" y="156093"/>
                  <a:pt x="78047" y="156093"/>
                </a:cubicBezTo>
                <a:cubicBezTo>
                  <a:pt x="34972" y="156093"/>
                  <a:pt x="0" y="121122"/>
                  <a:pt x="0" y="78047"/>
                </a:cubicBezTo>
                <a:cubicBezTo>
                  <a:pt x="0" y="34972"/>
                  <a:pt x="34972" y="0"/>
                  <a:pt x="78047" y="0"/>
                </a:cubicBezTo>
                <a:close/>
                <a:moveTo>
                  <a:pt x="70730" y="36584"/>
                </a:moveTo>
                <a:lnTo>
                  <a:pt x="70730" y="78047"/>
                </a:lnTo>
                <a:cubicBezTo>
                  <a:pt x="70730" y="80486"/>
                  <a:pt x="71949" y="82772"/>
                  <a:pt x="73992" y="84144"/>
                </a:cubicBezTo>
                <a:lnTo>
                  <a:pt x="103259" y="103656"/>
                </a:lnTo>
                <a:cubicBezTo>
                  <a:pt x="106613" y="105912"/>
                  <a:pt x="111155" y="104997"/>
                  <a:pt x="113412" y="101613"/>
                </a:cubicBezTo>
                <a:cubicBezTo>
                  <a:pt x="115668" y="98229"/>
                  <a:pt x="114753" y="93717"/>
                  <a:pt x="111369" y="91461"/>
                </a:cubicBezTo>
                <a:lnTo>
                  <a:pt x="85364" y="74144"/>
                </a:lnTo>
                <a:lnTo>
                  <a:pt x="85364" y="36584"/>
                </a:lnTo>
                <a:cubicBezTo>
                  <a:pt x="85364" y="32530"/>
                  <a:pt x="82101" y="29267"/>
                  <a:pt x="78047" y="29267"/>
                </a:cubicBezTo>
                <a:cubicBezTo>
                  <a:pt x="73992" y="29267"/>
                  <a:pt x="70730" y="32530"/>
                  <a:pt x="70730" y="36584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142826" y="4805443"/>
            <a:ext cx="2430595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时间序列特征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2826" y="5073032"/>
            <a:ext cx="2419446" cy="22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9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滑动窗口、趋势特征、周期性特征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61300" y="5429816"/>
            <a:ext cx="195117" cy="156093"/>
          </a:xfrm>
          <a:custGeom>
            <a:avLst/>
            <a:gdLst/>
            <a:ahLst/>
            <a:cxnLst/>
            <a:rect l="l" t="t" r="r" b="b"/>
            <a:pathLst>
              <a:path w="195117" h="156093">
                <a:moveTo>
                  <a:pt x="78077" y="2439"/>
                </a:moveTo>
                <a:cubicBezTo>
                  <a:pt x="98269" y="2439"/>
                  <a:pt x="114661" y="18832"/>
                  <a:pt x="114661" y="39023"/>
                </a:cubicBezTo>
                <a:cubicBezTo>
                  <a:pt x="114661" y="59215"/>
                  <a:pt x="98269" y="75608"/>
                  <a:pt x="78077" y="75608"/>
                </a:cubicBezTo>
                <a:cubicBezTo>
                  <a:pt x="57886" y="75608"/>
                  <a:pt x="41493" y="59215"/>
                  <a:pt x="41493" y="39023"/>
                </a:cubicBezTo>
                <a:cubicBezTo>
                  <a:pt x="41493" y="18832"/>
                  <a:pt x="57886" y="2439"/>
                  <a:pt x="78077" y="2439"/>
                </a:cubicBezTo>
                <a:close/>
                <a:moveTo>
                  <a:pt x="69022" y="92680"/>
                </a:moveTo>
                <a:lnTo>
                  <a:pt x="87132" y="92680"/>
                </a:lnTo>
                <a:cubicBezTo>
                  <a:pt x="89174" y="92680"/>
                  <a:pt x="91156" y="92802"/>
                  <a:pt x="93138" y="93016"/>
                </a:cubicBezTo>
                <a:cubicBezTo>
                  <a:pt x="92863" y="94510"/>
                  <a:pt x="92711" y="96034"/>
                  <a:pt x="92711" y="97589"/>
                </a:cubicBezTo>
                <a:lnTo>
                  <a:pt x="92711" y="125667"/>
                </a:lnTo>
                <a:cubicBezTo>
                  <a:pt x="92711" y="133441"/>
                  <a:pt x="95790" y="140880"/>
                  <a:pt x="101278" y="146368"/>
                </a:cubicBezTo>
                <a:lnTo>
                  <a:pt x="111003" y="156093"/>
                </a:lnTo>
                <a:lnTo>
                  <a:pt x="23719" y="156093"/>
                </a:lnTo>
                <a:cubicBezTo>
                  <a:pt x="18719" y="156093"/>
                  <a:pt x="14664" y="152039"/>
                  <a:pt x="14664" y="147039"/>
                </a:cubicBezTo>
                <a:cubicBezTo>
                  <a:pt x="14664" y="117009"/>
                  <a:pt x="38993" y="92680"/>
                  <a:pt x="69022" y="92680"/>
                </a:cubicBezTo>
                <a:close/>
                <a:moveTo>
                  <a:pt x="107345" y="125667"/>
                </a:moveTo>
                <a:lnTo>
                  <a:pt x="107345" y="97589"/>
                </a:lnTo>
                <a:cubicBezTo>
                  <a:pt x="107345" y="92193"/>
                  <a:pt x="111704" y="87833"/>
                  <a:pt x="117100" y="87833"/>
                </a:cubicBezTo>
                <a:lnTo>
                  <a:pt x="145179" y="87833"/>
                </a:lnTo>
                <a:cubicBezTo>
                  <a:pt x="149051" y="87833"/>
                  <a:pt x="152770" y="89388"/>
                  <a:pt x="155514" y="92132"/>
                </a:cubicBezTo>
                <a:lnTo>
                  <a:pt x="184782" y="121399"/>
                </a:lnTo>
                <a:cubicBezTo>
                  <a:pt x="190483" y="127100"/>
                  <a:pt x="190483" y="136368"/>
                  <a:pt x="184782" y="142100"/>
                </a:cubicBezTo>
                <a:lnTo>
                  <a:pt x="161581" y="165300"/>
                </a:lnTo>
                <a:cubicBezTo>
                  <a:pt x="155880" y="171001"/>
                  <a:pt x="146612" y="171001"/>
                  <a:pt x="140880" y="165300"/>
                </a:cubicBezTo>
                <a:lnTo>
                  <a:pt x="111613" y="136033"/>
                </a:lnTo>
                <a:cubicBezTo>
                  <a:pt x="108869" y="133289"/>
                  <a:pt x="107314" y="129570"/>
                  <a:pt x="107314" y="125698"/>
                </a:cubicBezTo>
                <a:close/>
                <a:moveTo>
                  <a:pt x="139051" y="112192"/>
                </a:moveTo>
                <a:cubicBezTo>
                  <a:pt x="139051" y="108154"/>
                  <a:pt x="135772" y="104875"/>
                  <a:pt x="131734" y="104875"/>
                </a:cubicBezTo>
                <a:cubicBezTo>
                  <a:pt x="127696" y="104875"/>
                  <a:pt x="124417" y="108154"/>
                  <a:pt x="124417" y="112192"/>
                </a:cubicBezTo>
                <a:cubicBezTo>
                  <a:pt x="124417" y="116230"/>
                  <a:pt x="127696" y="119509"/>
                  <a:pt x="131734" y="119509"/>
                </a:cubicBezTo>
                <a:cubicBezTo>
                  <a:pt x="135772" y="119509"/>
                  <a:pt x="139051" y="116230"/>
                  <a:pt x="139051" y="112192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142826" y="5385218"/>
            <a:ext cx="2441745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RFM</a:t>
            </a:r>
            <a:r>
              <a:rPr lang="en-US" sz="1405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模型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2826" y="5652807"/>
            <a:ext cx="2430595" cy="22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9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Recency、Frequency、Monetary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47018" y="6143385"/>
            <a:ext cx="4392911" cy="524027"/>
          </a:xfrm>
          <a:custGeom>
            <a:avLst/>
            <a:gdLst/>
            <a:ahLst/>
            <a:cxnLst/>
            <a:rect l="l" t="t" r="r" b="b"/>
            <a:pathLst>
              <a:path w="4392911" h="524027">
                <a:moveTo>
                  <a:pt x="44598" y="0"/>
                </a:moveTo>
                <a:lnTo>
                  <a:pt x="4303716" y="0"/>
                </a:lnTo>
                <a:cubicBezTo>
                  <a:pt x="4352977" y="0"/>
                  <a:pt x="4392911" y="39934"/>
                  <a:pt x="4392911" y="89195"/>
                </a:cubicBezTo>
                <a:lnTo>
                  <a:pt x="4392911" y="434833"/>
                </a:lnTo>
                <a:cubicBezTo>
                  <a:pt x="4392911" y="484094"/>
                  <a:pt x="4352977" y="524027"/>
                  <a:pt x="4303716" y="524027"/>
                </a:cubicBezTo>
                <a:lnTo>
                  <a:pt x="44598" y="524027"/>
                </a:lnTo>
                <a:cubicBezTo>
                  <a:pt x="19967" y="524027"/>
                  <a:pt x="0" y="504060"/>
                  <a:pt x="0" y="479429"/>
                </a:cubicBezTo>
                <a:lnTo>
                  <a:pt x="0" y="44598"/>
                </a:lnTo>
                <a:cubicBezTo>
                  <a:pt x="0" y="19984"/>
                  <a:pt x="19984" y="0"/>
                  <a:pt x="44598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747018" y="6143385"/>
            <a:ext cx="44598" cy="524027"/>
          </a:xfrm>
          <a:custGeom>
            <a:avLst/>
            <a:gdLst/>
            <a:ahLst/>
            <a:cxnLst/>
            <a:rect l="l" t="t" r="r" b="b"/>
            <a:pathLst>
              <a:path w="44598" h="524027">
                <a:moveTo>
                  <a:pt x="44598" y="0"/>
                </a:moveTo>
                <a:lnTo>
                  <a:pt x="44598" y="0"/>
                </a:lnTo>
                <a:lnTo>
                  <a:pt x="44598" y="524027"/>
                </a:lnTo>
                <a:lnTo>
                  <a:pt x="44598" y="524027"/>
                </a:lnTo>
                <a:cubicBezTo>
                  <a:pt x="19967" y="524027"/>
                  <a:pt x="0" y="504060"/>
                  <a:pt x="0" y="479429"/>
                </a:cubicBezTo>
                <a:lnTo>
                  <a:pt x="0" y="44598"/>
                </a:lnTo>
                <a:cubicBezTo>
                  <a:pt x="0" y="19984"/>
                  <a:pt x="19984" y="0"/>
                  <a:pt x="44598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03111" y="6277180"/>
            <a:ext cx="4181070" cy="256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29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目标：</a:t>
            </a:r>
            <a:r>
              <a:rPr lang="en-US" sz="1229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将原始数据转换为数值特征向量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46361" y="1945591"/>
            <a:ext cx="4961536" cy="5627982"/>
          </a:xfrm>
          <a:custGeom>
            <a:avLst/>
            <a:gdLst/>
            <a:ahLst/>
            <a:cxnLst/>
            <a:rect l="l" t="t" r="r" b="b"/>
            <a:pathLst>
              <a:path w="4961536" h="6500170">
                <a:moveTo>
                  <a:pt x="133813" y="0"/>
                </a:moveTo>
                <a:lnTo>
                  <a:pt x="4827724" y="0"/>
                </a:lnTo>
                <a:cubicBezTo>
                  <a:pt x="4901626" y="0"/>
                  <a:pt x="4961536" y="59910"/>
                  <a:pt x="4961536" y="133813"/>
                </a:cubicBezTo>
                <a:lnTo>
                  <a:pt x="4961536" y="6366357"/>
                </a:lnTo>
                <a:cubicBezTo>
                  <a:pt x="4961536" y="6440260"/>
                  <a:pt x="4901626" y="6500170"/>
                  <a:pt x="4827724" y="6500170"/>
                </a:cubicBezTo>
                <a:lnTo>
                  <a:pt x="133813" y="6500170"/>
                </a:lnTo>
                <a:cubicBezTo>
                  <a:pt x="59910" y="6500170"/>
                  <a:pt x="0" y="6440260"/>
                  <a:pt x="0" y="6366357"/>
                </a:cubicBezTo>
                <a:lnTo>
                  <a:pt x="0" y="133813"/>
                </a:lnTo>
                <a:cubicBezTo>
                  <a:pt x="0" y="59959"/>
                  <a:pt x="59959" y="0"/>
                  <a:pt x="133813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6ED3CF">
                  <a:alpha val="5000"/>
                </a:srgbClr>
              </a:gs>
            </a:gsLst>
            <a:lin ang="2700000" scaled="1"/>
          </a:gradFill>
          <a:ln w="12700">
            <a:solidFill>
              <a:srgbClr val="6ED3C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5919524" y="2241053"/>
            <a:ext cx="535177" cy="535177"/>
          </a:xfrm>
          <a:custGeom>
            <a:avLst/>
            <a:gdLst/>
            <a:ahLst/>
            <a:cxnLst/>
            <a:rect l="l" t="t" r="r" b="b"/>
            <a:pathLst>
              <a:path w="535177" h="535177">
                <a:moveTo>
                  <a:pt x="89198" y="0"/>
                </a:moveTo>
                <a:lnTo>
                  <a:pt x="445979" y="0"/>
                </a:lnTo>
                <a:cubicBezTo>
                  <a:pt x="495242" y="0"/>
                  <a:pt x="535177" y="39935"/>
                  <a:pt x="535177" y="89198"/>
                </a:cubicBezTo>
                <a:lnTo>
                  <a:pt x="535177" y="445979"/>
                </a:lnTo>
                <a:cubicBezTo>
                  <a:pt x="535177" y="495242"/>
                  <a:pt x="495242" y="535177"/>
                  <a:pt x="445979" y="535177"/>
                </a:cubicBezTo>
                <a:lnTo>
                  <a:pt x="89198" y="535177"/>
                </a:lnTo>
                <a:cubicBezTo>
                  <a:pt x="39935" y="535177"/>
                  <a:pt x="0" y="495242"/>
                  <a:pt x="0" y="445979"/>
                </a:cubicBezTo>
                <a:lnTo>
                  <a:pt x="0" y="89198"/>
                </a:lnTo>
                <a:cubicBezTo>
                  <a:pt x="0" y="39968"/>
                  <a:pt x="39968" y="0"/>
                  <a:pt x="89198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075617" y="2397147"/>
            <a:ext cx="222990" cy="222990"/>
          </a:xfrm>
          <a:custGeom>
            <a:avLst/>
            <a:gdLst/>
            <a:ahLst/>
            <a:cxnLst/>
            <a:rect l="l" t="t" r="r" b="b"/>
            <a:pathLst>
              <a:path w="222990" h="222990">
                <a:moveTo>
                  <a:pt x="13937" y="27874"/>
                </a:moveTo>
                <a:cubicBezTo>
                  <a:pt x="8319" y="27874"/>
                  <a:pt x="3223" y="31271"/>
                  <a:pt x="1045" y="36497"/>
                </a:cubicBezTo>
                <a:cubicBezTo>
                  <a:pt x="-1132" y="41724"/>
                  <a:pt x="87" y="47690"/>
                  <a:pt x="4094" y="51654"/>
                </a:cubicBezTo>
                <a:lnTo>
                  <a:pt x="83621" y="131225"/>
                </a:lnTo>
                <a:lnTo>
                  <a:pt x="83621" y="181180"/>
                </a:lnTo>
                <a:cubicBezTo>
                  <a:pt x="83621" y="184882"/>
                  <a:pt x="85102" y="188409"/>
                  <a:pt x="87715" y="191023"/>
                </a:cubicBezTo>
                <a:lnTo>
                  <a:pt x="115589" y="218896"/>
                </a:lnTo>
                <a:cubicBezTo>
                  <a:pt x="119596" y="222903"/>
                  <a:pt x="125563" y="224079"/>
                  <a:pt x="130789" y="221902"/>
                </a:cubicBezTo>
                <a:cubicBezTo>
                  <a:pt x="136015" y="219724"/>
                  <a:pt x="139369" y="214672"/>
                  <a:pt x="139369" y="209053"/>
                </a:cubicBezTo>
                <a:lnTo>
                  <a:pt x="139369" y="131225"/>
                </a:lnTo>
                <a:lnTo>
                  <a:pt x="218896" y="51697"/>
                </a:lnTo>
                <a:cubicBezTo>
                  <a:pt x="222903" y="47690"/>
                  <a:pt x="224079" y="41724"/>
                  <a:pt x="221902" y="36497"/>
                </a:cubicBezTo>
                <a:cubicBezTo>
                  <a:pt x="219724" y="31271"/>
                  <a:pt x="214672" y="27874"/>
                  <a:pt x="209053" y="27874"/>
                </a:cubicBezTo>
                <a:lnTo>
                  <a:pt x="13937" y="27874"/>
                </a:ln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588495" y="2218754"/>
            <a:ext cx="1226447" cy="356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0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特征选择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88495" y="2575539"/>
            <a:ext cx="1170700" cy="22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9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Ch-10 特征选择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919524" y="2976922"/>
            <a:ext cx="4504406" cy="579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5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从众多特征中挑选出对模型最有价值的特征，剔除冗余和无关特征，提升模型性能。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919524" y="3735089"/>
            <a:ext cx="4415210" cy="2943473"/>
          </a:xfrm>
          <a:custGeom>
            <a:avLst/>
            <a:gdLst/>
            <a:ahLst/>
            <a:cxnLst/>
            <a:rect l="l" t="t" r="r" b="b"/>
            <a:pathLst>
              <a:path w="4415210" h="2943473">
                <a:moveTo>
                  <a:pt x="89187" y="0"/>
                </a:moveTo>
                <a:lnTo>
                  <a:pt x="4326023" y="0"/>
                </a:lnTo>
                <a:cubicBezTo>
                  <a:pt x="4375279" y="0"/>
                  <a:pt x="4415210" y="39930"/>
                  <a:pt x="4415210" y="89187"/>
                </a:cubicBezTo>
                <a:lnTo>
                  <a:pt x="4415210" y="2854286"/>
                </a:lnTo>
                <a:cubicBezTo>
                  <a:pt x="4415210" y="2903543"/>
                  <a:pt x="4375279" y="2943473"/>
                  <a:pt x="4326023" y="2943473"/>
                </a:cubicBezTo>
                <a:lnTo>
                  <a:pt x="89187" y="2943473"/>
                </a:lnTo>
                <a:cubicBezTo>
                  <a:pt x="39930" y="2943473"/>
                  <a:pt x="0" y="2903543"/>
                  <a:pt x="0" y="2854286"/>
                </a:cubicBezTo>
                <a:lnTo>
                  <a:pt x="0" y="89187"/>
                </a:lnTo>
                <a:cubicBezTo>
                  <a:pt x="0" y="39930"/>
                  <a:pt x="39930" y="0"/>
                  <a:pt x="8918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053318" y="3868883"/>
            <a:ext cx="4236818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三大方法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053318" y="4225668"/>
            <a:ext cx="4147621" cy="713569"/>
          </a:xfrm>
          <a:custGeom>
            <a:avLst/>
            <a:gdLst/>
            <a:ahLst/>
            <a:cxnLst/>
            <a:rect l="l" t="t" r="r" b="b"/>
            <a:pathLst>
              <a:path w="4147621" h="713569">
                <a:moveTo>
                  <a:pt x="89196" y="0"/>
                </a:moveTo>
                <a:lnTo>
                  <a:pt x="4058425" y="0"/>
                </a:lnTo>
                <a:cubicBezTo>
                  <a:pt x="4107687" y="0"/>
                  <a:pt x="4147621" y="39934"/>
                  <a:pt x="4147621" y="89196"/>
                </a:cubicBezTo>
                <a:lnTo>
                  <a:pt x="4147621" y="624373"/>
                </a:lnTo>
                <a:cubicBezTo>
                  <a:pt x="4147621" y="673635"/>
                  <a:pt x="4107687" y="713569"/>
                  <a:pt x="4058425" y="713569"/>
                </a:cubicBezTo>
                <a:lnTo>
                  <a:pt x="89196" y="713569"/>
                </a:lnTo>
                <a:cubicBezTo>
                  <a:pt x="39934" y="713569"/>
                  <a:pt x="0" y="673635"/>
                  <a:pt x="0" y="624373"/>
                </a:cubicBezTo>
                <a:lnTo>
                  <a:pt x="0" y="89196"/>
                </a:lnTo>
                <a:cubicBezTo>
                  <a:pt x="0" y="39967"/>
                  <a:pt x="39967" y="0"/>
                  <a:pt x="89196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142514" y="4314864"/>
            <a:ext cx="4058425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Filter方法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142514" y="4627051"/>
            <a:ext cx="4047276" cy="22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9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基于统计指标（方差、卡方检验、互信息）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053318" y="5028433"/>
            <a:ext cx="4147621" cy="713569"/>
          </a:xfrm>
          <a:custGeom>
            <a:avLst/>
            <a:gdLst/>
            <a:ahLst/>
            <a:cxnLst/>
            <a:rect l="l" t="t" r="r" b="b"/>
            <a:pathLst>
              <a:path w="4147621" h="713569">
                <a:moveTo>
                  <a:pt x="89196" y="0"/>
                </a:moveTo>
                <a:lnTo>
                  <a:pt x="4058425" y="0"/>
                </a:lnTo>
                <a:cubicBezTo>
                  <a:pt x="4107687" y="0"/>
                  <a:pt x="4147621" y="39934"/>
                  <a:pt x="4147621" y="89196"/>
                </a:cubicBezTo>
                <a:lnTo>
                  <a:pt x="4147621" y="624373"/>
                </a:lnTo>
                <a:cubicBezTo>
                  <a:pt x="4147621" y="673635"/>
                  <a:pt x="4107687" y="713569"/>
                  <a:pt x="4058425" y="713569"/>
                </a:cubicBezTo>
                <a:lnTo>
                  <a:pt x="89196" y="713569"/>
                </a:lnTo>
                <a:cubicBezTo>
                  <a:pt x="39934" y="713569"/>
                  <a:pt x="0" y="673635"/>
                  <a:pt x="0" y="624373"/>
                </a:cubicBezTo>
                <a:lnTo>
                  <a:pt x="0" y="89196"/>
                </a:lnTo>
                <a:cubicBezTo>
                  <a:pt x="0" y="39967"/>
                  <a:pt x="39967" y="0"/>
                  <a:pt x="89196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142514" y="5117630"/>
            <a:ext cx="4058425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Wrapper方法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142514" y="5429816"/>
            <a:ext cx="4047276" cy="22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9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基于模型性能（递归特征消除RFE）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053318" y="5831199"/>
            <a:ext cx="4147621" cy="713569"/>
          </a:xfrm>
          <a:custGeom>
            <a:avLst/>
            <a:gdLst/>
            <a:ahLst/>
            <a:cxnLst/>
            <a:rect l="l" t="t" r="r" b="b"/>
            <a:pathLst>
              <a:path w="4147621" h="713569">
                <a:moveTo>
                  <a:pt x="89196" y="0"/>
                </a:moveTo>
                <a:lnTo>
                  <a:pt x="4058425" y="0"/>
                </a:lnTo>
                <a:cubicBezTo>
                  <a:pt x="4107687" y="0"/>
                  <a:pt x="4147621" y="39934"/>
                  <a:pt x="4147621" y="89196"/>
                </a:cubicBezTo>
                <a:lnTo>
                  <a:pt x="4147621" y="624373"/>
                </a:lnTo>
                <a:cubicBezTo>
                  <a:pt x="4147621" y="673635"/>
                  <a:pt x="4107687" y="713569"/>
                  <a:pt x="4058425" y="713569"/>
                </a:cubicBezTo>
                <a:lnTo>
                  <a:pt x="89196" y="713569"/>
                </a:lnTo>
                <a:cubicBezTo>
                  <a:pt x="39934" y="713569"/>
                  <a:pt x="0" y="673635"/>
                  <a:pt x="0" y="624373"/>
                </a:cubicBezTo>
                <a:lnTo>
                  <a:pt x="0" y="89196"/>
                </a:lnTo>
                <a:cubicBezTo>
                  <a:pt x="0" y="39967"/>
                  <a:pt x="39967" y="0"/>
                  <a:pt x="89196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142514" y="5920395"/>
            <a:ext cx="4058425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Embedded方法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142514" y="6232582"/>
            <a:ext cx="4047276" cy="22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9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模型内置特征选择（L1/L2正则化）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941823" y="6812357"/>
            <a:ext cx="4392911" cy="524027"/>
          </a:xfrm>
          <a:custGeom>
            <a:avLst/>
            <a:gdLst/>
            <a:ahLst/>
            <a:cxnLst/>
            <a:rect l="l" t="t" r="r" b="b"/>
            <a:pathLst>
              <a:path w="4392911" h="524027">
                <a:moveTo>
                  <a:pt x="44598" y="0"/>
                </a:moveTo>
                <a:lnTo>
                  <a:pt x="4303716" y="0"/>
                </a:lnTo>
                <a:cubicBezTo>
                  <a:pt x="4352977" y="0"/>
                  <a:pt x="4392911" y="39934"/>
                  <a:pt x="4392911" y="89195"/>
                </a:cubicBezTo>
                <a:lnTo>
                  <a:pt x="4392911" y="434833"/>
                </a:lnTo>
                <a:cubicBezTo>
                  <a:pt x="4392911" y="484094"/>
                  <a:pt x="4352977" y="524027"/>
                  <a:pt x="4303716" y="524027"/>
                </a:cubicBezTo>
                <a:lnTo>
                  <a:pt x="44598" y="524027"/>
                </a:lnTo>
                <a:cubicBezTo>
                  <a:pt x="19967" y="524027"/>
                  <a:pt x="0" y="504060"/>
                  <a:pt x="0" y="479429"/>
                </a:cubicBezTo>
                <a:lnTo>
                  <a:pt x="0" y="44598"/>
                </a:lnTo>
                <a:cubicBezTo>
                  <a:pt x="0" y="19984"/>
                  <a:pt x="19984" y="0"/>
                  <a:pt x="44598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5941823" y="6812357"/>
            <a:ext cx="44598" cy="524027"/>
          </a:xfrm>
          <a:custGeom>
            <a:avLst/>
            <a:gdLst/>
            <a:ahLst/>
            <a:cxnLst/>
            <a:rect l="l" t="t" r="r" b="b"/>
            <a:pathLst>
              <a:path w="44598" h="524027">
                <a:moveTo>
                  <a:pt x="44598" y="0"/>
                </a:moveTo>
                <a:lnTo>
                  <a:pt x="44598" y="0"/>
                </a:lnTo>
                <a:lnTo>
                  <a:pt x="44598" y="524027"/>
                </a:lnTo>
                <a:lnTo>
                  <a:pt x="44598" y="524027"/>
                </a:lnTo>
                <a:cubicBezTo>
                  <a:pt x="19967" y="524027"/>
                  <a:pt x="0" y="504060"/>
                  <a:pt x="0" y="479429"/>
                </a:cubicBezTo>
                <a:lnTo>
                  <a:pt x="0" y="44598"/>
                </a:lnTo>
                <a:cubicBezTo>
                  <a:pt x="0" y="19984"/>
                  <a:pt x="19984" y="0"/>
                  <a:pt x="44598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6097916" y="6946151"/>
            <a:ext cx="4181070" cy="256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29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目标：</a:t>
            </a:r>
            <a:r>
              <a:rPr lang="en-US" sz="1229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降低维度灾难风险，提升模型解释性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0841166" y="1945591"/>
            <a:ext cx="4961536" cy="5627982"/>
          </a:xfrm>
          <a:custGeom>
            <a:avLst/>
            <a:gdLst/>
            <a:ahLst/>
            <a:cxnLst/>
            <a:rect l="l" t="t" r="r" b="b"/>
            <a:pathLst>
              <a:path w="4961536" h="6500170">
                <a:moveTo>
                  <a:pt x="133813" y="0"/>
                </a:moveTo>
                <a:lnTo>
                  <a:pt x="4827724" y="0"/>
                </a:lnTo>
                <a:cubicBezTo>
                  <a:pt x="4901626" y="0"/>
                  <a:pt x="4961536" y="59910"/>
                  <a:pt x="4961536" y="133813"/>
                </a:cubicBezTo>
                <a:lnTo>
                  <a:pt x="4961536" y="6366357"/>
                </a:lnTo>
                <a:cubicBezTo>
                  <a:pt x="4961536" y="6440260"/>
                  <a:pt x="4901626" y="6500170"/>
                  <a:pt x="4827724" y="6500170"/>
                </a:cubicBezTo>
                <a:lnTo>
                  <a:pt x="133813" y="6500170"/>
                </a:lnTo>
                <a:cubicBezTo>
                  <a:pt x="59910" y="6500170"/>
                  <a:pt x="0" y="6440260"/>
                  <a:pt x="0" y="6366357"/>
                </a:cubicBezTo>
                <a:lnTo>
                  <a:pt x="0" y="133813"/>
                </a:lnTo>
                <a:cubicBezTo>
                  <a:pt x="0" y="59959"/>
                  <a:pt x="59959" y="0"/>
                  <a:pt x="133813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11114329" y="2241053"/>
            <a:ext cx="535177" cy="535177"/>
          </a:xfrm>
          <a:custGeom>
            <a:avLst/>
            <a:gdLst/>
            <a:ahLst/>
            <a:cxnLst/>
            <a:rect l="l" t="t" r="r" b="b"/>
            <a:pathLst>
              <a:path w="535177" h="535177">
                <a:moveTo>
                  <a:pt x="89198" y="0"/>
                </a:moveTo>
                <a:lnTo>
                  <a:pt x="445979" y="0"/>
                </a:lnTo>
                <a:cubicBezTo>
                  <a:pt x="495242" y="0"/>
                  <a:pt x="535177" y="39935"/>
                  <a:pt x="535177" y="89198"/>
                </a:cubicBezTo>
                <a:lnTo>
                  <a:pt x="535177" y="445979"/>
                </a:lnTo>
                <a:cubicBezTo>
                  <a:pt x="535177" y="495242"/>
                  <a:pt x="495242" y="535177"/>
                  <a:pt x="445979" y="535177"/>
                </a:cubicBezTo>
                <a:lnTo>
                  <a:pt x="89198" y="535177"/>
                </a:lnTo>
                <a:cubicBezTo>
                  <a:pt x="39935" y="535177"/>
                  <a:pt x="0" y="495242"/>
                  <a:pt x="0" y="445979"/>
                </a:cubicBezTo>
                <a:lnTo>
                  <a:pt x="0" y="89198"/>
                </a:lnTo>
                <a:cubicBezTo>
                  <a:pt x="0" y="39968"/>
                  <a:pt x="39968" y="0"/>
                  <a:pt x="89198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11270422" y="2397147"/>
            <a:ext cx="222990" cy="222990"/>
          </a:xfrm>
          <a:custGeom>
            <a:avLst/>
            <a:gdLst/>
            <a:ahLst/>
            <a:cxnLst/>
            <a:rect l="l" t="t" r="r" b="b"/>
            <a:pathLst>
              <a:path w="222990" h="222990">
                <a:moveTo>
                  <a:pt x="191415" y="3049"/>
                </a:moveTo>
                <a:cubicBezTo>
                  <a:pt x="195509" y="-1045"/>
                  <a:pt x="202129" y="-1045"/>
                  <a:pt x="206179" y="3049"/>
                </a:cubicBezTo>
                <a:lnTo>
                  <a:pt x="220116" y="16986"/>
                </a:lnTo>
                <a:cubicBezTo>
                  <a:pt x="224210" y="21080"/>
                  <a:pt x="224210" y="27700"/>
                  <a:pt x="220116" y="31750"/>
                </a:cubicBezTo>
                <a:lnTo>
                  <a:pt x="182225" y="69641"/>
                </a:lnTo>
                <a:lnTo>
                  <a:pt x="199211" y="86627"/>
                </a:lnTo>
                <a:cubicBezTo>
                  <a:pt x="202216" y="89632"/>
                  <a:pt x="203087" y="94118"/>
                  <a:pt x="201475" y="98037"/>
                </a:cubicBezTo>
                <a:cubicBezTo>
                  <a:pt x="199864" y="101957"/>
                  <a:pt x="196075" y="104527"/>
                  <a:pt x="191850" y="104527"/>
                </a:cubicBezTo>
                <a:lnTo>
                  <a:pt x="129134" y="104527"/>
                </a:lnTo>
                <a:cubicBezTo>
                  <a:pt x="123342" y="104527"/>
                  <a:pt x="118681" y="99867"/>
                  <a:pt x="118681" y="94074"/>
                </a:cubicBezTo>
                <a:lnTo>
                  <a:pt x="118681" y="31358"/>
                </a:lnTo>
                <a:cubicBezTo>
                  <a:pt x="118681" y="27133"/>
                  <a:pt x="121207" y="23301"/>
                  <a:pt x="125127" y="21689"/>
                </a:cubicBezTo>
                <a:cubicBezTo>
                  <a:pt x="129047" y="20078"/>
                  <a:pt x="133533" y="20949"/>
                  <a:pt x="136538" y="23954"/>
                </a:cubicBezTo>
                <a:lnTo>
                  <a:pt x="153524" y="40940"/>
                </a:lnTo>
                <a:lnTo>
                  <a:pt x="191415" y="3049"/>
                </a:lnTo>
                <a:close/>
                <a:moveTo>
                  <a:pt x="31576" y="118464"/>
                </a:moveTo>
                <a:lnTo>
                  <a:pt x="94292" y="118464"/>
                </a:lnTo>
                <a:cubicBezTo>
                  <a:pt x="100084" y="118464"/>
                  <a:pt x="104745" y="123124"/>
                  <a:pt x="104745" y="128916"/>
                </a:cubicBezTo>
                <a:lnTo>
                  <a:pt x="104745" y="191632"/>
                </a:lnTo>
                <a:cubicBezTo>
                  <a:pt x="104745" y="195857"/>
                  <a:pt x="102218" y="199690"/>
                  <a:pt x="98299" y="201301"/>
                </a:cubicBezTo>
                <a:cubicBezTo>
                  <a:pt x="94379" y="202913"/>
                  <a:pt x="89893" y="202041"/>
                  <a:pt x="86888" y="199036"/>
                </a:cubicBezTo>
                <a:lnTo>
                  <a:pt x="69902" y="182051"/>
                </a:lnTo>
                <a:lnTo>
                  <a:pt x="32011" y="219942"/>
                </a:lnTo>
                <a:cubicBezTo>
                  <a:pt x="27917" y="224036"/>
                  <a:pt x="21297" y="224036"/>
                  <a:pt x="17247" y="219942"/>
                </a:cubicBezTo>
                <a:lnTo>
                  <a:pt x="3310" y="206005"/>
                </a:lnTo>
                <a:cubicBezTo>
                  <a:pt x="-784" y="201911"/>
                  <a:pt x="-784" y="195291"/>
                  <a:pt x="3310" y="191240"/>
                </a:cubicBezTo>
                <a:lnTo>
                  <a:pt x="41201" y="153349"/>
                </a:lnTo>
                <a:lnTo>
                  <a:pt x="24215" y="136364"/>
                </a:lnTo>
                <a:cubicBezTo>
                  <a:pt x="21210" y="133359"/>
                  <a:pt x="20339" y="128873"/>
                  <a:pt x="21951" y="124953"/>
                </a:cubicBezTo>
                <a:cubicBezTo>
                  <a:pt x="23562" y="121033"/>
                  <a:pt x="27351" y="118464"/>
                  <a:pt x="31576" y="118464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1783300" y="2218754"/>
            <a:ext cx="880812" cy="356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0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降维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783300" y="2575539"/>
            <a:ext cx="825064" cy="22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9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Ch-11 降维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114329" y="2976922"/>
            <a:ext cx="4504406" cy="579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5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当特征维度过高时，通过线性或非线性方法将数据投影到低维空间，减少计算复杂度。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1114329" y="3735089"/>
            <a:ext cx="4415210" cy="2140708"/>
          </a:xfrm>
          <a:custGeom>
            <a:avLst/>
            <a:gdLst/>
            <a:ahLst/>
            <a:cxnLst/>
            <a:rect l="l" t="t" r="r" b="b"/>
            <a:pathLst>
              <a:path w="4415210" h="2140708">
                <a:moveTo>
                  <a:pt x="89203" y="0"/>
                </a:moveTo>
                <a:lnTo>
                  <a:pt x="4326007" y="0"/>
                </a:lnTo>
                <a:cubicBezTo>
                  <a:pt x="4375272" y="0"/>
                  <a:pt x="4415210" y="39938"/>
                  <a:pt x="4415210" y="89203"/>
                </a:cubicBezTo>
                <a:lnTo>
                  <a:pt x="4415210" y="2051505"/>
                </a:lnTo>
                <a:cubicBezTo>
                  <a:pt x="4415210" y="2100770"/>
                  <a:pt x="4375272" y="2140708"/>
                  <a:pt x="4326007" y="2140708"/>
                </a:cubicBezTo>
                <a:lnTo>
                  <a:pt x="89203" y="2140708"/>
                </a:lnTo>
                <a:cubicBezTo>
                  <a:pt x="39938" y="2140708"/>
                  <a:pt x="0" y="2100770"/>
                  <a:pt x="0" y="2051505"/>
                </a:cubicBezTo>
                <a:lnTo>
                  <a:pt x="0" y="89203"/>
                </a:lnTo>
                <a:cubicBezTo>
                  <a:pt x="0" y="39938"/>
                  <a:pt x="39938" y="0"/>
                  <a:pt x="8920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11248123" y="3868883"/>
            <a:ext cx="4236818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核心算法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1248123" y="4225668"/>
            <a:ext cx="4147621" cy="713569"/>
          </a:xfrm>
          <a:custGeom>
            <a:avLst/>
            <a:gdLst/>
            <a:ahLst/>
            <a:cxnLst/>
            <a:rect l="l" t="t" r="r" b="b"/>
            <a:pathLst>
              <a:path w="4147621" h="713569">
                <a:moveTo>
                  <a:pt x="89196" y="0"/>
                </a:moveTo>
                <a:lnTo>
                  <a:pt x="4058425" y="0"/>
                </a:lnTo>
                <a:cubicBezTo>
                  <a:pt x="4107687" y="0"/>
                  <a:pt x="4147621" y="39934"/>
                  <a:pt x="4147621" y="89196"/>
                </a:cubicBezTo>
                <a:lnTo>
                  <a:pt x="4147621" y="624373"/>
                </a:lnTo>
                <a:cubicBezTo>
                  <a:pt x="4147621" y="673635"/>
                  <a:pt x="4107687" y="713569"/>
                  <a:pt x="4058425" y="713569"/>
                </a:cubicBezTo>
                <a:lnTo>
                  <a:pt x="89196" y="713569"/>
                </a:lnTo>
                <a:cubicBezTo>
                  <a:pt x="39934" y="713569"/>
                  <a:pt x="0" y="673635"/>
                  <a:pt x="0" y="624373"/>
                </a:cubicBezTo>
                <a:lnTo>
                  <a:pt x="0" y="89196"/>
                </a:lnTo>
                <a:cubicBezTo>
                  <a:pt x="0" y="39967"/>
                  <a:pt x="39967" y="0"/>
                  <a:pt x="89196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11337320" y="4314864"/>
            <a:ext cx="4058425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PCA主成分分析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337320" y="4627051"/>
            <a:ext cx="4047276" cy="22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9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寻找数据方差最大的投影方向，无监督降维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1248123" y="5028433"/>
            <a:ext cx="4147621" cy="713569"/>
          </a:xfrm>
          <a:custGeom>
            <a:avLst/>
            <a:gdLst/>
            <a:ahLst/>
            <a:cxnLst/>
            <a:rect l="l" t="t" r="r" b="b"/>
            <a:pathLst>
              <a:path w="4147621" h="713569">
                <a:moveTo>
                  <a:pt x="89196" y="0"/>
                </a:moveTo>
                <a:lnTo>
                  <a:pt x="4058425" y="0"/>
                </a:lnTo>
                <a:cubicBezTo>
                  <a:pt x="4107687" y="0"/>
                  <a:pt x="4147621" y="39934"/>
                  <a:pt x="4147621" y="89196"/>
                </a:cubicBezTo>
                <a:lnTo>
                  <a:pt x="4147621" y="624373"/>
                </a:lnTo>
                <a:cubicBezTo>
                  <a:pt x="4147621" y="673635"/>
                  <a:pt x="4107687" y="713569"/>
                  <a:pt x="4058425" y="713569"/>
                </a:cubicBezTo>
                <a:lnTo>
                  <a:pt x="89196" y="713569"/>
                </a:lnTo>
                <a:cubicBezTo>
                  <a:pt x="39934" y="713569"/>
                  <a:pt x="0" y="673635"/>
                  <a:pt x="0" y="624373"/>
                </a:cubicBezTo>
                <a:lnTo>
                  <a:pt x="0" y="89196"/>
                </a:lnTo>
                <a:cubicBezTo>
                  <a:pt x="0" y="39967"/>
                  <a:pt x="39967" y="0"/>
                  <a:pt x="89196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11337320" y="5117630"/>
            <a:ext cx="4058425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LDA线性判别分析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337320" y="5429816"/>
            <a:ext cx="4047276" cy="22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9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寻找类别间距离最大的投影方向，有监督降维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1114329" y="6009591"/>
            <a:ext cx="4415210" cy="1382540"/>
          </a:xfrm>
          <a:custGeom>
            <a:avLst/>
            <a:gdLst/>
            <a:ahLst/>
            <a:cxnLst/>
            <a:rect l="l" t="t" r="r" b="b"/>
            <a:pathLst>
              <a:path w="4415210" h="1382540">
                <a:moveTo>
                  <a:pt x="89202" y="0"/>
                </a:moveTo>
                <a:lnTo>
                  <a:pt x="4326008" y="0"/>
                </a:lnTo>
                <a:cubicBezTo>
                  <a:pt x="4375273" y="0"/>
                  <a:pt x="4415210" y="39937"/>
                  <a:pt x="4415210" y="89202"/>
                </a:cubicBezTo>
                <a:lnTo>
                  <a:pt x="4415210" y="1293339"/>
                </a:lnTo>
                <a:cubicBezTo>
                  <a:pt x="4415210" y="1342604"/>
                  <a:pt x="4375273" y="1382540"/>
                  <a:pt x="4326008" y="1382540"/>
                </a:cubicBezTo>
                <a:lnTo>
                  <a:pt x="89202" y="1382540"/>
                </a:lnTo>
                <a:cubicBezTo>
                  <a:pt x="39937" y="1382540"/>
                  <a:pt x="0" y="1342604"/>
                  <a:pt x="0" y="1293339"/>
                </a:cubicBezTo>
                <a:lnTo>
                  <a:pt x="0" y="89202"/>
                </a:lnTo>
                <a:cubicBezTo>
                  <a:pt x="0" y="39937"/>
                  <a:pt x="39937" y="0"/>
                  <a:pt x="8920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11248123" y="6143385"/>
            <a:ext cx="4236818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1248123" y="6500170"/>
            <a:ext cx="4225668" cy="22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9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数据可视化（高维→2D/3D）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1248123" y="6767759"/>
            <a:ext cx="4225668" cy="22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9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减少存储和计算成本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1248123" y="7035347"/>
            <a:ext cx="4225668" cy="22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9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去除噪声和冗余特征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68280" y="7718375"/>
            <a:ext cx="15341739" cy="1003457"/>
          </a:xfrm>
          <a:custGeom>
            <a:avLst/>
            <a:gdLst/>
            <a:ahLst/>
            <a:cxnLst/>
            <a:rect l="l" t="t" r="r" b="b"/>
            <a:pathLst>
              <a:path w="15341739" h="1003457">
                <a:moveTo>
                  <a:pt x="44598" y="0"/>
                </a:moveTo>
                <a:lnTo>
                  <a:pt x="15252542" y="0"/>
                </a:lnTo>
                <a:cubicBezTo>
                  <a:pt x="15301804" y="0"/>
                  <a:pt x="15341739" y="39935"/>
                  <a:pt x="15341739" y="89197"/>
                </a:cubicBezTo>
                <a:lnTo>
                  <a:pt x="15341739" y="914260"/>
                </a:lnTo>
                <a:cubicBezTo>
                  <a:pt x="15341739" y="963522"/>
                  <a:pt x="15301804" y="1003457"/>
                  <a:pt x="15252542" y="1003457"/>
                </a:cubicBezTo>
                <a:lnTo>
                  <a:pt x="44598" y="1003457"/>
                </a:lnTo>
                <a:cubicBezTo>
                  <a:pt x="19967" y="1003457"/>
                  <a:pt x="0" y="983490"/>
                  <a:pt x="0" y="958859"/>
                </a:cubicBezTo>
                <a:lnTo>
                  <a:pt x="0" y="44598"/>
                </a:lnTo>
                <a:cubicBezTo>
                  <a:pt x="0" y="19984"/>
                  <a:pt x="19984" y="0"/>
                  <a:pt x="44598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Shape 64"/>
          <p:cNvSpPr/>
          <p:nvPr/>
        </p:nvSpPr>
        <p:spPr>
          <a:xfrm>
            <a:off x="468280" y="7718375"/>
            <a:ext cx="44598" cy="1003457"/>
          </a:xfrm>
          <a:custGeom>
            <a:avLst/>
            <a:gdLst/>
            <a:ahLst/>
            <a:cxnLst/>
            <a:rect l="l" t="t" r="r" b="b"/>
            <a:pathLst>
              <a:path w="44598" h="1003457">
                <a:moveTo>
                  <a:pt x="44598" y="0"/>
                </a:moveTo>
                <a:lnTo>
                  <a:pt x="44598" y="0"/>
                </a:lnTo>
                <a:lnTo>
                  <a:pt x="44598" y="1003457"/>
                </a:lnTo>
                <a:lnTo>
                  <a:pt x="44598" y="1003457"/>
                </a:lnTo>
                <a:cubicBezTo>
                  <a:pt x="19967" y="1003457"/>
                  <a:pt x="0" y="983490"/>
                  <a:pt x="0" y="958859"/>
                </a:cubicBezTo>
                <a:lnTo>
                  <a:pt x="0" y="44598"/>
                </a:lnTo>
                <a:cubicBezTo>
                  <a:pt x="0" y="19984"/>
                  <a:pt x="19984" y="0"/>
                  <a:pt x="44598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719144" y="7896767"/>
            <a:ext cx="234140" cy="267588"/>
          </a:xfrm>
          <a:custGeom>
            <a:avLst/>
            <a:gdLst/>
            <a:ahLst/>
            <a:cxnLst/>
            <a:rect l="l" t="t" r="r" b="b"/>
            <a:pathLst>
              <a:path w="234140" h="267588">
                <a:moveTo>
                  <a:pt x="0" y="112889"/>
                </a:moveTo>
                <a:cubicBezTo>
                  <a:pt x="0" y="78238"/>
                  <a:pt x="28065" y="50173"/>
                  <a:pt x="62716" y="50173"/>
                </a:cubicBezTo>
                <a:lnTo>
                  <a:pt x="66897" y="50173"/>
                </a:lnTo>
                <a:cubicBezTo>
                  <a:pt x="76148" y="50173"/>
                  <a:pt x="83621" y="57647"/>
                  <a:pt x="83621" y="66897"/>
                </a:cubicBezTo>
                <a:cubicBezTo>
                  <a:pt x="83621" y="76148"/>
                  <a:pt x="76148" y="83621"/>
                  <a:pt x="66897" y="83621"/>
                </a:cubicBezTo>
                <a:lnTo>
                  <a:pt x="62716" y="83621"/>
                </a:lnTo>
                <a:cubicBezTo>
                  <a:pt x="46567" y="83621"/>
                  <a:pt x="33449" y="96740"/>
                  <a:pt x="33449" y="112889"/>
                </a:cubicBezTo>
                <a:lnTo>
                  <a:pt x="33449" y="117070"/>
                </a:lnTo>
                <a:lnTo>
                  <a:pt x="66897" y="117070"/>
                </a:lnTo>
                <a:cubicBezTo>
                  <a:pt x="85346" y="117070"/>
                  <a:pt x="100346" y="132070"/>
                  <a:pt x="100346" y="150519"/>
                </a:cubicBezTo>
                <a:lnTo>
                  <a:pt x="100346" y="183967"/>
                </a:lnTo>
                <a:cubicBezTo>
                  <a:pt x="100346" y="202416"/>
                  <a:pt x="85346" y="217416"/>
                  <a:pt x="66897" y="217416"/>
                </a:cubicBezTo>
                <a:lnTo>
                  <a:pt x="33449" y="217416"/>
                </a:lnTo>
                <a:cubicBezTo>
                  <a:pt x="15000" y="217416"/>
                  <a:pt x="0" y="202416"/>
                  <a:pt x="0" y="183967"/>
                </a:cubicBezTo>
                <a:lnTo>
                  <a:pt x="0" y="112889"/>
                </a:lnTo>
                <a:close/>
                <a:moveTo>
                  <a:pt x="133794" y="112889"/>
                </a:moveTo>
                <a:cubicBezTo>
                  <a:pt x="133794" y="78238"/>
                  <a:pt x="161860" y="50173"/>
                  <a:pt x="196510" y="50173"/>
                </a:cubicBezTo>
                <a:lnTo>
                  <a:pt x="200691" y="50173"/>
                </a:lnTo>
                <a:cubicBezTo>
                  <a:pt x="209942" y="50173"/>
                  <a:pt x="217416" y="57647"/>
                  <a:pt x="217416" y="66897"/>
                </a:cubicBezTo>
                <a:cubicBezTo>
                  <a:pt x="217416" y="76148"/>
                  <a:pt x="209942" y="83621"/>
                  <a:pt x="200691" y="83621"/>
                </a:cubicBezTo>
                <a:lnTo>
                  <a:pt x="196510" y="83621"/>
                </a:lnTo>
                <a:cubicBezTo>
                  <a:pt x="180361" y="83621"/>
                  <a:pt x="167243" y="96740"/>
                  <a:pt x="167243" y="112889"/>
                </a:cubicBezTo>
                <a:lnTo>
                  <a:pt x="167243" y="117070"/>
                </a:lnTo>
                <a:lnTo>
                  <a:pt x="200691" y="117070"/>
                </a:lnTo>
                <a:cubicBezTo>
                  <a:pt x="219140" y="117070"/>
                  <a:pt x="234140" y="132070"/>
                  <a:pt x="234140" y="150519"/>
                </a:cubicBezTo>
                <a:lnTo>
                  <a:pt x="234140" y="183967"/>
                </a:lnTo>
                <a:cubicBezTo>
                  <a:pt x="234140" y="202416"/>
                  <a:pt x="219140" y="217416"/>
                  <a:pt x="200691" y="217416"/>
                </a:cubicBezTo>
                <a:lnTo>
                  <a:pt x="167243" y="217416"/>
                </a:lnTo>
                <a:cubicBezTo>
                  <a:pt x="148794" y="217416"/>
                  <a:pt x="133794" y="202416"/>
                  <a:pt x="133794" y="183967"/>
                </a:cubicBezTo>
                <a:lnTo>
                  <a:pt x="133794" y="112889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1137251" y="7896767"/>
            <a:ext cx="13479770" cy="312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特征工程的重要性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137251" y="8253552"/>
            <a:ext cx="13468620" cy="2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5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优秀的特征工程能够</a:t>
            </a:r>
            <a:r>
              <a:rPr lang="en-US" sz="1405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显著提升模型性能</a:t>
            </a:r>
            <a:r>
              <a:rPr lang="en-US" sz="1405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，甚至比更换更复杂的算法效果更好。特征工程需要结合领域知识，理解数据背后的业务含义，才能提取出真正有预测能力的特征。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428625"/>
            <a:ext cx="1799167" cy="349250"/>
          </a:xfrm>
          <a:custGeom>
            <a:avLst/>
            <a:gdLst/>
            <a:ahLst/>
            <a:cxnLst/>
            <a:rect l="l" t="t" r="r" b="b"/>
            <a:pathLst>
              <a:path w="1799167" h="349250">
                <a:moveTo>
                  <a:pt x="42333" y="0"/>
                </a:moveTo>
                <a:lnTo>
                  <a:pt x="1756834" y="0"/>
                </a:lnTo>
                <a:cubicBezTo>
                  <a:pt x="1780214" y="0"/>
                  <a:pt x="1799167" y="18953"/>
                  <a:pt x="1799167" y="42333"/>
                </a:cubicBezTo>
                <a:lnTo>
                  <a:pt x="1799167" y="306917"/>
                </a:lnTo>
                <a:cubicBezTo>
                  <a:pt x="1799167" y="330297"/>
                  <a:pt x="1780214" y="349250"/>
                  <a:pt x="1756834" y="349250"/>
                </a:cubicBezTo>
                <a:lnTo>
                  <a:pt x="42333" y="349250"/>
                </a:lnTo>
                <a:cubicBezTo>
                  <a:pt x="18953" y="349250"/>
                  <a:pt x="0" y="330297"/>
                  <a:pt x="0" y="30691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 w="12700">
            <a:solidFill>
              <a:srgbClr val="5F87A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60917" y="492125"/>
            <a:ext cx="1623301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kern="0" spc="67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MODEL TRAINING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333" y="867833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模型训练：算法选择与实践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1375833"/>
            <a:ext cx="1549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根据任务类型选择合适的算法进行训练（对应章节：Ch-03~06、Ch-12~14）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8625" y="1846792"/>
            <a:ext cx="7588250" cy="3206750"/>
          </a:xfrm>
          <a:custGeom>
            <a:avLst/>
            <a:gdLst/>
            <a:ahLst/>
            <a:cxnLst/>
            <a:rect l="l" t="t" r="r" b="b"/>
            <a:pathLst>
              <a:path w="7588250" h="3206750">
                <a:moveTo>
                  <a:pt x="126987" y="0"/>
                </a:moveTo>
                <a:lnTo>
                  <a:pt x="7461263" y="0"/>
                </a:lnTo>
                <a:cubicBezTo>
                  <a:pt x="7531396" y="0"/>
                  <a:pt x="7588250" y="56854"/>
                  <a:pt x="7588250" y="126987"/>
                </a:cubicBezTo>
                <a:lnTo>
                  <a:pt x="7588250" y="3079763"/>
                </a:lnTo>
                <a:cubicBezTo>
                  <a:pt x="7588250" y="3149896"/>
                  <a:pt x="7531396" y="3206750"/>
                  <a:pt x="7461263" y="3206750"/>
                </a:cubicBezTo>
                <a:lnTo>
                  <a:pt x="126987" y="3206750"/>
                </a:lnTo>
                <a:cubicBezTo>
                  <a:pt x="56854" y="3206750"/>
                  <a:pt x="0" y="3149896"/>
                  <a:pt x="0" y="3079763"/>
                </a:cubicBezTo>
                <a:lnTo>
                  <a:pt x="0" y="126987"/>
                </a:lnTo>
                <a:cubicBezTo>
                  <a:pt x="0" y="56901"/>
                  <a:pt x="56901" y="0"/>
                  <a:pt x="126987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87917" y="210608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22854" y="2254250"/>
            <a:ext cx="238125" cy="211667"/>
          </a:xfrm>
          <a:custGeom>
            <a:avLst/>
            <a:gdLst/>
            <a:ahLst/>
            <a:cxnLst/>
            <a:rect l="l" t="t" r="r" b="b"/>
            <a:pathLst>
              <a:path w="238125" h="211667">
                <a:moveTo>
                  <a:pt x="165861" y="16164"/>
                </a:moveTo>
                <a:lnTo>
                  <a:pt x="227128" y="78300"/>
                </a:lnTo>
                <a:cubicBezTo>
                  <a:pt x="238580" y="89917"/>
                  <a:pt x="238580" y="108521"/>
                  <a:pt x="227128" y="120137"/>
                </a:cubicBezTo>
                <a:lnTo>
                  <a:pt x="162471" y="185580"/>
                </a:lnTo>
                <a:cubicBezTo>
                  <a:pt x="158626" y="189466"/>
                  <a:pt x="152342" y="189508"/>
                  <a:pt x="148456" y="185663"/>
                </a:cubicBezTo>
                <a:cubicBezTo>
                  <a:pt x="144570" y="181818"/>
                  <a:pt x="144529" y="175535"/>
                  <a:pt x="148373" y="171648"/>
                </a:cubicBezTo>
                <a:lnTo>
                  <a:pt x="213031" y="106164"/>
                </a:lnTo>
                <a:cubicBezTo>
                  <a:pt x="216834" y="102319"/>
                  <a:pt x="216834" y="96077"/>
                  <a:pt x="213031" y="92232"/>
                </a:cubicBezTo>
                <a:lnTo>
                  <a:pt x="151722" y="30138"/>
                </a:lnTo>
                <a:cubicBezTo>
                  <a:pt x="147877" y="26252"/>
                  <a:pt x="147919" y="19968"/>
                  <a:pt x="151805" y="16123"/>
                </a:cubicBezTo>
                <a:cubicBezTo>
                  <a:pt x="155691" y="12278"/>
                  <a:pt x="161975" y="12320"/>
                  <a:pt x="165819" y="16206"/>
                </a:cubicBezTo>
                <a:close/>
                <a:moveTo>
                  <a:pt x="13271" y="94878"/>
                </a:moveTo>
                <a:lnTo>
                  <a:pt x="13271" y="39688"/>
                </a:lnTo>
                <a:cubicBezTo>
                  <a:pt x="13271" y="25094"/>
                  <a:pt x="25135" y="13229"/>
                  <a:pt x="39729" y="13229"/>
                </a:cubicBezTo>
                <a:lnTo>
                  <a:pt x="94919" y="13229"/>
                </a:lnTo>
                <a:cubicBezTo>
                  <a:pt x="101947" y="13229"/>
                  <a:pt x="108686" y="15999"/>
                  <a:pt x="113647" y="20960"/>
                </a:cubicBezTo>
                <a:lnTo>
                  <a:pt x="173178" y="80491"/>
                </a:lnTo>
                <a:cubicBezTo>
                  <a:pt x="183513" y="90826"/>
                  <a:pt x="183513" y="107570"/>
                  <a:pt x="173178" y="117905"/>
                </a:cubicBezTo>
                <a:lnTo>
                  <a:pt x="117988" y="173095"/>
                </a:lnTo>
                <a:cubicBezTo>
                  <a:pt x="107652" y="183431"/>
                  <a:pt x="90909" y="183431"/>
                  <a:pt x="80574" y="173095"/>
                </a:cubicBezTo>
                <a:lnTo>
                  <a:pt x="21043" y="113564"/>
                </a:lnTo>
                <a:cubicBezTo>
                  <a:pt x="16082" y="108603"/>
                  <a:pt x="13312" y="101865"/>
                  <a:pt x="13312" y="94837"/>
                </a:cubicBezTo>
                <a:close/>
                <a:moveTo>
                  <a:pt x="72802" y="59531"/>
                </a:moveTo>
                <a:cubicBezTo>
                  <a:pt x="72802" y="52230"/>
                  <a:pt x="66874" y="46302"/>
                  <a:pt x="59573" y="46302"/>
                </a:cubicBezTo>
                <a:cubicBezTo>
                  <a:pt x="52271" y="46302"/>
                  <a:pt x="46343" y="52230"/>
                  <a:pt x="46343" y="59531"/>
                </a:cubicBezTo>
                <a:cubicBezTo>
                  <a:pt x="46343" y="66833"/>
                  <a:pt x="52271" y="72760"/>
                  <a:pt x="59573" y="72760"/>
                </a:cubicBezTo>
                <a:cubicBezTo>
                  <a:pt x="66874" y="72760"/>
                  <a:pt x="72802" y="66833"/>
                  <a:pt x="72802" y="5953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322917" y="2190750"/>
            <a:ext cx="1143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监督学习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7917" y="2783417"/>
            <a:ext cx="71543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使用</a:t>
            </a: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带标签数据</a:t>
            </a: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训练模型，学习输入与输出的映射关系。适用于预测任务。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7917" y="3227917"/>
            <a:ext cx="3471333" cy="1566333"/>
          </a:xfrm>
          <a:custGeom>
            <a:avLst/>
            <a:gdLst/>
            <a:ahLst/>
            <a:cxnLst/>
            <a:rect l="l" t="t" r="r" b="b"/>
            <a:pathLst>
              <a:path w="3471333" h="1566333">
                <a:moveTo>
                  <a:pt x="84660" y="0"/>
                </a:moveTo>
                <a:lnTo>
                  <a:pt x="3386673" y="0"/>
                </a:lnTo>
                <a:cubicBezTo>
                  <a:pt x="3433430" y="0"/>
                  <a:pt x="3471333" y="37904"/>
                  <a:pt x="3471333" y="84660"/>
                </a:cubicBezTo>
                <a:lnTo>
                  <a:pt x="3471333" y="1481673"/>
                </a:lnTo>
                <a:cubicBezTo>
                  <a:pt x="3471333" y="1528430"/>
                  <a:pt x="3433430" y="1566333"/>
                  <a:pt x="3386673" y="1566333"/>
                </a:cubicBezTo>
                <a:lnTo>
                  <a:pt x="84660" y="1566333"/>
                </a:lnTo>
                <a:cubicBezTo>
                  <a:pt x="37904" y="1566333"/>
                  <a:pt x="0" y="1528430"/>
                  <a:pt x="0" y="1481673"/>
                </a:cubicBezTo>
                <a:lnTo>
                  <a:pt x="0" y="84660"/>
                </a:lnTo>
                <a:cubicBezTo>
                  <a:pt x="0" y="37935"/>
                  <a:pt x="37935" y="0"/>
                  <a:pt x="8466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14917" y="3354917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分类任务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4917" y="3693583"/>
            <a:ext cx="3291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</a:t>
            </a:r>
            <a:r>
              <a:rPr lang="en-US" sz="1167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KNN</a:t>
            </a: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、决策树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4917" y="3947583"/>
            <a:ext cx="3291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逻辑回归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4917" y="4201583"/>
            <a:ext cx="3291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朴素贝叶斯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4917" y="4455583"/>
            <a:ext cx="3291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</a:t>
            </a:r>
            <a:r>
              <a:rPr lang="en-US" sz="1167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SVM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286250" y="3227917"/>
            <a:ext cx="3471333" cy="1566333"/>
          </a:xfrm>
          <a:custGeom>
            <a:avLst/>
            <a:gdLst/>
            <a:ahLst/>
            <a:cxnLst/>
            <a:rect l="l" t="t" r="r" b="b"/>
            <a:pathLst>
              <a:path w="3471333" h="1566333">
                <a:moveTo>
                  <a:pt x="84660" y="0"/>
                </a:moveTo>
                <a:lnTo>
                  <a:pt x="3386673" y="0"/>
                </a:lnTo>
                <a:cubicBezTo>
                  <a:pt x="3433430" y="0"/>
                  <a:pt x="3471333" y="37904"/>
                  <a:pt x="3471333" y="84660"/>
                </a:cubicBezTo>
                <a:lnTo>
                  <a:pt x="3471333" y="1481673"/>
                </a:lnTo>
                <a:cubicBezTo>
                  <a:pt x="3471333" y="1528430"/>
                  <a:pt x="3433430" y="1566333"/>
                  <a:pt x="3386673" y="1566333"/>
                </a:cubicBezTo>
                <a:lnTo>
                  <a:pt x="84660" y="1566333"/>
                </a:lnTo>
                <a:cubicBezTo>
                  <a:pt x="37904" y="1566333"/>
                  <a:pt x="0" y="1528430"/>
                  <a:pt x="0" y="1481673"/>
                </a:cubicBezTo>
                <a:lnTo>
                  <a:pt x="0" y="84660"/>
                </a:lnTo>
                <a:cubicBezTo>
                  <a:pt x="0" y="37935"/>
                  <a:pt x="37935" y="0"/>
                  <a:pt x="8466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413250" y="3354917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回归任务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13250" y="3693583"/>
            <a:ext cx="3291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线性回归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13250" y="3947583"/>
            <a:ext cx="3291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岭回归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13250" y="4201583"/>
            <a:ext cx="3291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套索回归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13250" y="4455583"/>
            <a:ext cx="3291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弹性网络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8625" y="5233458"/>
            <a:ext cx="7588250" cy="3206750"/>
          </a:xfrm>
          <a:custGeom>
            <a:avLst/>
            <a:gdLst/>
            <a:ahLst/>
            <a:cxnLst/>
            <a:rect l="l" t="t" r="r" b="b"/>
            <a:pathLst>
              <a:path w="7588250" h="3206750">
                <a:moveTo>
                  <a:pt x="126987" y="0"/>
                </a:moveTo>
                <a:lnTo>
                  <a:pt x="7461263" y="0"/>
                </a:lnTo>
                <a:cubicBezTo>
                  <a:pt x="7531396" y="0"/>
                  <a:pt x="7588250" y="56854"/>
                  <a:pt x="7588250" y="126987"/>
                </a:cubicBezTo>
                <a:lnTo>
                  <a:pt x="7588250" y="3079763"/>
                </a:lnTo>
                <a:cubicBezTo>
                  <a:pt x="7588250" y="3149896"/>
                  <a:pt x="7531396" y="3206750"/>
                  <a:pt x="7461263" y="3206750"/>
                </a:cubicBezTo>
                <a:lnTo>
                  <a:pt x="126987" y="3206750"/>
                </a:lnTo>
                <a:cubicBezTo>
                  <a:pt x="56854" y="3206750"/>
                  <a:pt x="0" y="3149896"/>
                  <a:pt x="0" y="3079763"/>
                </a:cubicBezTo>
                <a:lnTo>
                  <a:pt x="0" y="126987"/>
                </a:lnTo>
                <a:cubicBezTo>
                  <a:pt x="0" y="56901"/>
                  <a:pt x="56901" y="0"/>
                  <a:pt x="126987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6ED3CF">
                  <a:alpha val="5000"/>
                </a:srgbClr>
              </a:gs>
            </a:gsLst>
            <a:lin ang="2700000" scaled="1"/>
          </a:gradFill>
          <a:ln w="12700">
            <a:solidFill>
              <a:srgbClr val="6ED3C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87917" y="549275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36083" y="5640917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0" y="33073"/>
                </a:moveTo>
                <a:cubicBezTo>
                  <a:pt x="0" y="22118"/>
                  <a:pt x="8888" y="13229"/>
                  <a:pt x="19844" y="13229"/>
                </a:cubicBezTo>
                <a:lnTo>
                  <a:pt x="59531" y="13229"/>
                </a:lnTo>
                <a:cubicBezTo>
                  <a:pt x="70487" y="13229"/>
                  <a:pt x="79375" y="22118"/>
                  <a:pt x="79375" y="33073"/>
                </a:cubicBezTo>
                <a:lnTo>
                  <a:pt x="79375" y="39688"/>
                </a:lnTo>
                <a:lnTo>
                  <a:pt x="132292" y="39688"/>
                </a:lnTo>
                <a:lnTo>
                  <a:pt x="132292" y="33073"/>
                </a:lnTo>
                <a:cubicBezTo>
                  <a:pt x="132292" y="22118"/>
                  <a:pt x="141180" y="13229"/>
                  <a:pt x="152135" y="13229"/>
                </a:cubicBezTo>
                <a:lnTo>
                  <a:pt x="191823" y="13229"/>
                </a:lnTo>
                <a:cubicBezTo>
                  <a:pt x="202778" y="13229"/>
                  <a:pt x="211667" y="22118"/>
                  <a:pt x="211667" y="33073"/>
                </a:cubicBezTo>
                <a:lnTo>
                  <a:pt x="211667" y="72760"/>
                </a:lnTo>
                <a:cubicBezTo>
                  <a:pt x="211667" y="83716"/>
                  <a:pt x="202778" y="92604"/>
                  <a:pt x="191823" y="92604"/>
                </a:cubicBezTo>
                <a:lnTo>
                  <a:pt x="152135" y="92604"/>
                </a:lnTo>
                <a:cubicBezTo>
                  <a:pt x="141180" y="92604"/>
                  <a:pt x="132292" y="83716"/>
                  <a:pt x="132292" y="72760"/>
                </a:cubicBezTo>
                <a:lnTo>
                  <a:pt x="132292" y="66146"/>
                </a:lnTo>
                <a:lnTo>
                  <a:pt x="79375" y="66146"/>
                </a:lnTo>
                <a:lnTo>
                  <a:pt x="79375" y="72760"/>
                </a:lnTo>
                <a:cubicBezTo>
                  <a:pt x="79375" y="75778"/>
                  <a:pt x="78672" y="78672"/>
                  <a:pt x="77473" y="81235"/>
                </a:cubicBezTo>
                <a:lnTo>
                  <a:pt x="105833" y="119063"/>
                </a:lnTo>
                <a:lnTo>
                  <a:pt x="138906" y="119063"/>
                </a:lnTo>
                <a:cubicBezTo>
                  <a:pt x="149862" y="119063"/>
                  <a:pt x="158750" y="127951"/>
                  <a:pt x="158750" y="138906"/>
                </a:cubicBezTo>
                <a:lnTo>
                  <a:pt x="158750" y="178594"/>
                </a:lnTo>
                <a:cubicBezTo>
                  <a:pt x="158750" y="189549"/>
                  <a:pt x="149862" y="198438"/>
                  <a:pt x="138906" y="198438"/>
                </a:cubicBezTo>
                <a:lnTo>
                  <a:pt x="99219" y="198438"/>
                </a:lnTo>
                <a:cubicBezTo>
                  <a:pt x="88263" y="198438"/>
                  <a:pt x="79375" y="189549"/>
                  <a:pt x="79375" y="178594"/>
                </a:cubicBezTo>
                <a:lnTo>
                  <a:pt x="79375" y="138906"/>
                </a:lnTo>
                <a:cubicBezTo>
                  <a:pt x="79375" y="135888"/>
                  <a:pt x="80078" y="132994"/>
                  <a:pt x="81277" y="130431"/>
                </a:cubicBezTo>
                <a:lnTo>
                  <a:pt x="52917" y="92604"/>
                </a:lnTo>
                <a:lnTo>
                  <a:pt x="19844" y="92604"/>
                </a:lnTo>
                <a:cubicBezTo>
                  <a:pt x="8888" y="92604"/>
                  <a:pt x="0" y="83716"/>
                  <a:pt x="0" y="72760"/>
                </a:cubicBezTo>
                <a:lnTo>
                  <a:pt x="0" y="33073"/>
                </a:ln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322917" y="5577417"/>
            <a:ext cx="1397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无监督学习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7917" y="6170083"/>
            <a:ext cx="71543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使用</a:t>
            </a: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无标签数据</a:t>
            </a: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发现数据内在结构和模式。适用于探索性分析。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87917" y="6614583"/>
            <a:ext cx="3471333" cy="1566333"/>
          </a:xfrm>
          <a:custGeom>
            <a:avLst/>
            <a:gdLst/>
            <a:ahLst/>
            <a:cxnLst/>
            <a:rect l="l" t="t" r="r" b="b"/>
            <a:pathLst>
              <a:path w="3471333" h="1566333">
                <a:moveTo>
                  <a:pt x="84660" y="0"/>
                </a:moveTo>
                <a:lnTo>
                  <a:pt x="3386673" y="0"/>
                </a:lnTo>
                <a:cubicBezTo>
                  <a:pt x="3433430" y="0"/>
                  <a:pt x="3471333" y="37904"/>
                  <a:pt x="3471333" y="84660"/>
                </a:cubicBezTo>
                <a:lnTo>
                  <a:pt x="3471333" y="1481673"/>
                </a:lnTo>
                <a:cubicBezTo>
                  <a:pt x="3471333" y="1528430"/>
                  <a:pt x="3433430" y="1566333"/>
                  <a:pt x="3386673" y="1566333"/>
                </a:cubicBezTo>
                <a:lnTo>
                  <a:pt x="84660" y="1566333"/>
                </a:lnTo>
                <a:cubicBezTo>
                  <a:pt x="37904" y="1566333"/>
                  <a:pt x="0" y="1528430"/>
                  <a:pt x="0" y="1481673"/>
                </a:cubicBezTo>
                <a:lnTo>
                  <a:pt x="0" y="84660"/>
                </a:lnTo>
                <a:cubicBezTo>
                  <a:pt x="0" y="37935"/>
                  <a:pt x="37935" y="0"/>
                  <a:pt x="8466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14917" y="6741583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聚类算法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14917" y="7080250"/>
            <a:ext cx="3291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• K-Means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14917" y="7334250"/>
            <a:ext cx="3291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</a:t>
            </a:r>
            <a:r>
              <a:rPr lang="en-US" sz="1167" dirty="0" err="1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层次聚类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14917" y="7588250"/>
            <a:ext cx="3291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• DBSCAN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14917" y="7842250"/>
            <a:ext cx="3291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• GMM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286250" y="6614583"/>
            <a:ext cx="3471333" cy="1566333"/>
          </a:xfrm>
          <a:custGeom>
            <a:avLst/>
            <a:gdLst/>
            <a:ahLst/>
            <a:cxnLst/>
            <a:rect l="l" t="t" r="r" b="b"/>
            <a:pathLst>
              <a:path w="3471333" h="1566333">
                <a:moveTo>
                  <a:pt x="84660" y="0"/>
                </a:moveTo>
                <a:lnTo>
                  <a:pt x="3386673" y="0"/>
                </a:lnTo>
                <a:cubicBezTo>
                  <a:pt x="3433430" y="0"/>
                  <a:pt x="3471333" y="37904"/>
                  <a:pt x="3471333" y="84660"/>
                </a:cubicBezTo>
                <a:lnTo>
                  <a:pt x="3471333" y="1481673"/>
                </a:lnTo>
                <a:cubicBezTo>
                  <a:pt x="3471333" y="1528430"/>
                  <a:pt x="3433430" y="1566333"/>
                  <a:pt x="3386673" y="1566333"/>
                </a:cubicBezTo>
                <a:lnTo>
                  <a:pt x="84660" y="1566333"/>
                </a:lnTo>
                <a:cubicBezTo>
                  <a:pt x="37904" y="1566333"/>
                  <a:pt x="0" y="1528430"/>
                  <a:pt x="0" y="1481673"/>
                </a:cubicBezTo>
                <a:lnTo>
                  <a:pt x="0" y="84660"/>
                </a:lnTo>
                <a:cubicBezTo>
                  <a:pt x="0" y="37935"/>
                  <a:pt x="37935" y="0"/>
                  <a:pt x="8466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4413250" y="6741583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降维算法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13250" y="7080250"/>
            <a:ext cx="3291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• PCA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413250" y="7334250"/>
            <a:ext cx="3291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• LDA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413250" y="7588250"/>
            <a:ext cx="3291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• t-SNE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413250" y="7842250"/>
            <a:ext cx="3291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• Autoencoder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239125" y="1846792"/>
            <a:ext cx="7588250" cy="2783417"/>
          </a:xfrm>
          <a:custGeom>
            <a:avLst/>
            <a:gdLst/>
            <a:ahLst/>
            <a:cxnLst/>
            <a:rect l="l" t="t" r="r" b="b"/>
            <a:pathLst>
              <a:path w="7588250" h="2783417">
                <a:moveTo>
                  <a:pt x="127007" y="0"/>
                </a:moveTo>
                <a:lnTo>
                  <a:pt x="7461243" y="0"/>
                </a:lnTo>
                <a:cubicBezTo>
                  <a:pt x="7531387" y="0"/>
                  <a:pt x="7588250" y="56863"/>
                  <a:pt x="7588250" y="127007"/>
                </a:cubicBezTo>
                <a:lnTo>
                  <a:pt x="7588250" y="2656409"/>
                </a:lnTo>
                <a:cubicBezTo>
                  <a:pt x="7588250" y="2726554"/>
                  <a:pt x="7531387" y="2783417"/>
                  <a:pt x="7461243" y="2783417"/>
                </a:cubicBezTo>
                <a:lnTo>
                  <a:pt x="127007" y="2783417"/>
                </a:lnTo>
                <a:cubicBezTo>
                  <a:pt x="56863" y="2783417"/>
                  <a:pt x="0" y="2726554"/>
                  <a:pt x="0" y="2656409"/>
                </a:cubicBezTo>
                <a:lnTo>
                  <a:pt x="0" y="127007"/>
                </a:lnTo>
                <a:cubicBezTo>
                  <a:pt x="0" y="56910"/>
                  <a:pt x="56910" y="0"/>
                  <a:pt x="127007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8498417" y="210608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8620125" y="2254250"/>
            <a:ext cx="264583" cy="211667"/>
          </a:xfrm>
          <a:custGeom>
            <a:avLst/>
            <a:gdLst/>
            <a:ahLst/>
            <a:cxnLst/>
            <a:rect l="l" t="t" r="r" b="b"/>
            <a:pathLst>
              <a:path w="264583" h="211667">
                <a:moveTo>
                  <a:pt x="145521" y="0"/>
                </a:moveTo>
                <a:cubicBezTo>
                  <a:pt x="145521" y="-7317"/>
                  <a:pt x="139609" y="-13229"/>
                  <a:pt x="132292" y="-13229"/>
                </a:cubicBezTo>
                <a:cubicBezTo>
                  <a:pt x="124974" y="-13229"/>
                  <a:pt x="119063" y="-7317"/>
                  <a:pt x="119063" y="0"/>
                </a:cubicBezTo>
                <a:lnTo>
                  <a:pt x="119063" y="26458"/>
                </a:lnTo>
                <a:lnTo>
                  <a:pt x="79375" y="26458"/>
                </a:lnTo>
                <a:cubicBezTo>
                  <a:pt x="57464" y="26458"/>
                  <a:pt x="39688" y="44235"/>
                  <a:pt x="39688" y="66146"/>
                </a:cubicBezTo>
                <a:lnTo>
                  <a:pt x="39688" y="158750"/>
                </a:lnTo>
                <a:cubicBezTo>
                  <a:pt x="39688" y="180661"/>
                  <a:pt x="57464" y="198438"/>
                  <a:pt x="79375" y="198438"/>
                </a:cubicBezTo>
                <a:lnTo>
                  <a:pt x="185208" y="198438"/>
                </a:lnTo>
                <a:cubicBezTo>
                  <a:pt x="207119" y="198438"/>
                  <a:pt x="224896" y="180661"/>
                  <a:pt x="224896" y="158750"/>
                </a:cubicBezTo>
                <a:lnTo>
                  <a:pt x="224896" y="66146"/>
                </a:lnTo>
                <a:cubicBezTo>
                  <a:pt x="224896" y="44235"/>
                  <a:pt x="207119" y="26458"/>
                  <a:pt x="185208" y="26458"/>
                </a:cubicBezTo>
                <a:lnTo>
                  <a:pt x="145521" y="26458"/>
                </a:lnTo>
                <a:lnTo>
                  <a:pt x="145521" y="0"/>
                </a:lnTo>
                <a:close/>
                <a:moveTo>
                  <a:pt x="66146" y="152135"/>
                </a:moveTo>
                <a:cubicBezTo>
                  <a:pt x="66146" y="146637"/>
                  <a:pt x="70569" y="142214"/>
                  <a:pt x="76068" y="142214"/>
                </a:cubicBezTo>
                <a:lnTo>
                  <a:pt x="89297" y="142214"/>
                </a:lnTo>
                <a:cubicBezTo>
                  <a:pt x="94795" y="142214"/>
                  <a:pt x="99219" y="146637"/>
                  <a:pt x="99219" y="152135"/>
                </a:cubicBezTo>
                <a:cubicBezTo>
                  <a:pt x="99219" y="157634"/>
                  <a:pt x="94795" y="162057"/>
                  <a:pt x="89297" y="162057"/>
                </a:cubicBezTo>
                <a:lnTo>
                  <a:pt x="76068" y="162057"/>
                </a:lnTo>
                <a:cubicBezTo>
                  <a:pt x="70569" y="162057"/>
                  <a:pt x="66146" y="157634"/>
                  <a:pt x="66146" y="152135"/>
                </a:cubicBezTo>
                <a:close/>
                <a:moveTo>
                  <a:pt x="115755" y="152135"/>
                </a:moveTo>
                <a:cubicBezTo>
                  <a:pt x="115755" y="146637"/>
                  <a:pt x="120179" y="142214"/>
                  <a:pt x="125677" y="142214"/>
                </a:cubicBezTo>
                <a:lnTo>
                  <a:pt x="138906" y="142214"/>
                </a:lnTo>
                <a:cubicBezTo>
                  <a:pt x="144405" y="142214"/>
                  <a:pt x="148828" y="146637"/>
                  <a:pt x="148828" y="152135"/>
                </a:cubicBezTo>
                <a:cubicBezTo>
                  <a:pt x="148828" y="157634"/>
                  <a:pt x="144405" y="162057"/>
                  <a:pt x="138906" y="162057"/>
                </a:cubicBezTo>
                <a:lnTo>
                  <a:pt x="125677" y="162057"/>
                </a:lnTo>
                <a:cubicBezTo>
                  <a:pt x="120179" y="162057"/>
                  <a:pt x="115755" y="157634"/>
                  <a:pt x="115755" y="152135"/>
                </a:cubicBezTo>
                <a:close/>
                <a:moveTo>
                  <a:pt x="165365" y="152135"/>
                </a:moveTo>
                <a:cubicBezTo>
                  <a:pt x="165365" y="146637"/>
                  <a:pt x="169788" y="142214"/>
                  <a:pt x="175286" y="142214"/>
                </a:cubicBezTo>
                <a:lnTo>
                  <a:pt x="188516" y="142214"/>
                </a:lnTo>
                <a:cubicBezTo>
                  <a:pt x="194014" y="142214"/>
                  <a:pt x="198438" y="146637"/>
                  <a:pt x="198438" y="152135"/>
                </a:cubicBezTo>
                <a:cubicBezTo>
                  <a:pt x="198438" y="157634"/>
                  <a:pt x="194014" y="162057"/>
                  <a:pt x="188516" y="162057"/>
                </a:cubicBezTo>
                <a:lnTo>
                  <a:pt x="175286" y="162057"/>
                </a:lnTo>
                <a:cubicBezTo>
                  <a:pt x="169788" y="162057"/>
                  <a:pt x="165365" y="157634"/>
                  <a:pt x="165365" y="152135"/>
                </a:cubicBezTo>
                <a:close/>
                <a:moveTo>
                  <a:pt x="92604" y="72760"/>
                </a:moveTo>
                <a:cubicBezTo>
                  <a:pt x="103556" y="72760"/>
                  <a:pt x="112448" y="81652"/>
                  <a:pt x="112448" y="92604"/>
                </a:cubicBezTo>
                <a:cubicBezTo>
                  <a:pt x="112448" y="103556"/>
                  <a:pt x="103556" y="112448"/>
                  <a:pt x="92604" y="112448"/>
                </a:cubicBezTo>
                <a:cubicBezTo>
                  <a:pt x="81652" y="112448"/>
                  <a:pt x="72760" y="103556"/>
                  <a:pt x="72760" y="92604"/>
                </a:cubicBezTo>
                <a:cubicBezTo>
                  <a:pt x="72760" y="81652"/>
                  <a:pt x="81652" y="72760"/>
                  <a:pt x="92604" y="72760"/>
                </a:cubicBezTo>
                <a:close/>
                <a:moveTo>
                  <a:pt x="152135" y="92604"/>
                </a:moveTo>
                <a:cubicBezTo>
                  <a:pt x="152135" y="81652"/>
                  <a:pt x="161027" y="72760"/>
                  <a:pt x="171979" y="72760"/>
                </a:cubicBezTo>
                <a:cubicBezTo>
                  <a:pt x="182931" y="72760"/>
                  <a:pt x="191823" y="81652"/>
                  <a:pt x="191823" y="92604"/>
                </a:cubicBezTo>
                <a:cubicBezTo>
                  <a:pt x="191823" y="103556"/>
                  <a:pt x="182931" y="112448"/>
                  <a:pt x="171979" y="112448"/>
                </a:cubicBezTo>
                <a:cubicBezTo>
                  <a:pt x="161027" y="112448"/>
                  <a:pt x="152135" y="103556"/>
                  <a:pt x="152135" y="92604"/>
                </a:cubicBezTo>
                <a:close/>
                <a:moveTo>
                  <a:pt x="26458" y="92604"/>
                </a:moveTo>
                <a:cubicBezTo>
                  <a:pt x="26458" y="85287"/>
                  <a:pt x="20547" y="79375"/>
                  <a:pt x="13229" y="79375"/>
                </a:cubicBezTo>
                <a:cubicBezTo>
                  <a:pt x="5912" y="79375"/>
                  <a:pt x="0" y="85287"/>
                  <a:pt x="0" y="92604"/>
                </a:cubicBezTo>
                <a:lnTo>
                  <a:pt x="0" y="132292"/>
                </a:lnTo>
                <a:cubicBezTo>
                  <a:pt x="0" y="139609"/>
                  <a:pt x="5912" y="145521"/>
                  <a:pt x="13229" y="145521"/>
                </a:cubicBezTo>
                <a:cubicBezTo>
                  <a:pt x="20547" y="145521"/>
                  <a:pt x="26458" y="139609"/>
                  <a:pt x="26458" y="132292"/>
                </a:cubicBezTo>
                <a:lnTo>
                  <a:pt x="26458" y="92604"/>
                </a:lnTo>
                <a:close/>
                <a:moveTo>
                  <a:pt x="251354" y="79375"/>
                </a:moveTo>
                <a:cubicBezTo>
                  <a:pt x="244037" y="79375"/>
                  <a:pt x="238125" y="85287"/>
                  <a:pt x="238125" y="92604"/>
                </a:cubicBezTo>
                <a:lnTo>
                  <a:pt x="238125" y="132292"/>
                </a:lnTo>
                <a:cubicBezTo>
                  <a:pt x="238125" y="139609"/>
                  <a:pt x="244037" y="145521"/>
                  <a:pt x="251354" y="145521"/>
                </a:cubicBezTo>
                <a:cubicBezTo>
                  <a:pt x="258672" y="145521"/>
                  <a:pt x="264583" y="139609"/>
                  <a:pt x="264583" y="132292"/>
                </a:cubicBezTo>
                <a:lnTo>
                  <a:pt x="264583" y="92604"/>
                </a:lnTo>
                <a:cubicBezTo>
                  <a:pt x="264583" y="85287"/>
                  <a:pt x="258672" y="79375"/>
                  <a:pt x="251354" y="7937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9133417" y="2190750"/>
            <a:ext cx="1143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强化学习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498417" y="2783417"/>
            <a:ext cx="71543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通过与环境交互，学习</a:t>
            </a: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最优策略</a:t>
            </a: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以获得最大化累积奖励。适用于决策优化。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498417" y="3227917"/>
            <a:ext cx="7069667" cy="1143000"/>
          </a:xfrm>
          <a:custGeom>
            <a:avLst/>
            <a:gdLst/>
            <a:ahLst/>
            <a:cxnLst/>
            <a:rect l="l" t="t" r="r" b="b"/>
            <a:pathLst>
              <a:path w="7069667" h="1143000">
                <a:moveTo>
                  <a:pt x="84662" y="0"/>
                </a:moveTo>
                <a:lnTo>
                  <a:pt x="6985005" y="0"/>
                </a:lnTo>
                <a:cubicBezTo>
                  <a:pt x="7031762" y="0"/>
                  <a:pt x="7069667" y="37904"/>
                  <a:pt x="7069667" y="84662"/>
                </a:cubicBezTo>
                <a:lnTo>
                  <a:pt x="7069667" y="1058338"/>
                </a:lnTo>
                <a:cubicBezTo>
                  <a:pt x="7069667" y="1105096"/>
                  <a:pt x="7031762" y="1143000"/>
                  <a:pt x="6985005" y="1143000"/>
                </a:cubicBezTo>
                <a:lnTo>
                  <a:pt x="84662" y="1143000"/>
                </a:lnTo>
                <a:cubicBezTo>
                  <a:pt x="37904" y="1143000"/>
                  <a:pt x="0" y="1105096"/>
                  <a:pt x="0" y="1058338"/>
                </a:cubicBezTo>
                <a:lnTo>
                  <a:pt x="0" y="84662"/>
                </a:lnTo>
                <a:cubicBezTo>
                  <a:pt x="0" y="37936"/>
                  <a:pt x="37936" y="0"/>
                  <a:pt x="8466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8625417" y="3354917"/>
            <a:ext cx="6900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核心要素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625417" y="3693583"/>
            <a:ext cx="1640417" cy="550333"/>
          </a:xfrm>
          <a:custGeom>
            <a:avLst/>
            <a:gdLst/>
            <a:ahLst/>
            <a:cxnLst/>
            <a:rect l="l" t="t" r="r" b="b"/>
            <a:pathLst>
              <a:path w="1640417" h="550333">
                <a:moveTo>
                  <a:pt x="42332" y="0"/>
                </a:moveTo>
                <a:lnTo>
                  <a:pt x="1598085" y="0"/>
                </a:lnTo>
                <a:cubicBezTo>
                  <a:pt x="1621464" y="0"/>
                  <a:pt x="1640417" y="18953"/>
                  <a:pt x="1640417" y="42332"/>
                </a:cubicBezTo>
                <a:lnTo>
                  <a:pt x="1640417" y="508002"/>
                </a:lnTo>
                <a:cubicBezTo>
                  <a:pt x="1640417" y="531381"/>
                  <a:pt x="1621464" y="550333"/>
                  <a:pt x="1598085" y="550333"/>
                </a:cubicBezTo>
                <a:lnTo>
                  <a:pt x="42332" y="550333"/>
                </a:lnTo>
                <a:cubicBezTo>
                  <a:pt x="18953" y="550333"/>
                  <a:pt x="0" y="531381"/>
                  <a:pt x="0" y="508002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673042" y="3778250"/>
            <a:ext cx="15451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Agent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8678333" y="3989917"/>
            <a:ext cx="15345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智能体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350500" y="3693583"/>
            <a:ext cx="1640417" cy="550333"/>
          </a:xfrm>
          <a:custGeom>
            <a:avLst/>
            <a:gdLst/>
            <a:ahLst/>
            <a:cxnLst/>
            <a:rect l="l" t="t" r="r" b="b"/>
            <a:pathLst>
              <a:path w="1640417" h="550333">
                <a:moveTo>
                  <a:pt x="42332" y="0"/>
                </a:moveTo>
                <a:lnTo>
                  <a:pt x="1598085" y="0"/>
                </a:lnTo>
                <a:cubicBezTo>
                  <a:pt x="1621464" y="0"/>
                  <a:pt x="1640417" y="18953"/>
                  <a:pt x="1640417" y="42332"/>
                </a:cubicBezTo>
                <a:lnTo>
                  <a:pt x="1640417" y="508002"/>
                </a:lnTo>
                <a:cubicBezTo>
                  <a:pt x="1640417" y="531381"/>
                  <a:pt x="1621464" y="550333"/>
                  <a:pt x="1598085" y="550333"/>
                </a:cubicBezTo>
                <a:lnTo>
                  <a:pt x="42332" y="550333"/>
                </a:lnTo>
                <a:cubicBezTo>
                  <a:pt x="18953" y="550333"/>
                  <a:pt x="0" y="531381"/>
                  <a:pt x="0" y="508002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10398125" y="3778250"/>
            <a:ext cx="15451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Environment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0403417" y="3989917"/>
            <a:ext cx="15345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环境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2075583" y="3693583"/>
            <a:ext cx="1640417" cy="550333"/>
          </a:xfrm>
          <a:custGeom>
            <a:avLst/>
            <a:gdLst/>
            <a:ahLst/>
            <a:cxnLst/>
            <a:rect l="l" t="t" r="r" b="b"/>
            <a:pathLst>
              <a:path w="1640417" h="550333">
                <a:moveTo>
                  <a:pt x="42332" y="0"/>
                </a:moveTo>
                <a:lnTo>
                  <a:pt x="1598085" y="0"/>
                </a:lnTo>
                <a:cubicBezTo>
                  <a:pt x="1621464" y="0"/>
                  <a:pt x="1640417" y="18953"/>
                  <a:pt x="1640417" y="42332"/>
                </a:cubicBezTo>
                <a:lnTo>
                  <a:pt x="1640417" y="508002"/>
                </a:lnTo>
                <a:cubicBezTo>
                  <a:pt x="1640417" y="531381"/>
                  <a:pt x="1621464" y="550333"/>
                  <a:pt x="1598085" y="550333"/>
                </a:cubicBezTo>
                <a:lnTo>
                  <a:pt x="42332" y="550333"/>
                </a:lnTo>
                <a:cubicBezTo>
                  <a:pt x="18953" y="550333"/>
                  <a:pt x="0" y="531381"/>
                  <a:pt x="0" y="508002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12123208" y="3778250"/>
            <a:ext cx="15451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Action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12128500" y="3989917"/>
            <a:ext cx="15345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动作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3800667" y="3693583"/>
            <a:ext cx="1640417" cy="550333"/>
          </a:xfrm>
          <a:custGeom>
            <a:avLst/>
            <a:gdLst/>
            <a:ahLst/>
            <a:cxnLst/>
            <a:rect l="l" t="t" r="r" b="b"/>
            <a:pathLst>
              <a:path w="1640417" h="550333">
                <a:moveTo>
                  <a:pt x="42332" y="0"/>
                </a:moveTo>
                <a:lnTo>
                  <a:pt x="1598085" y="0"/>
                </a:lnTo>
                <a:cubicBezTo>
                  <a:pt x="1621464" y="0"/>
                  <a:pt x="1640417" y="18953"/>
                  <a:pt x="1640417" y="42332"/>
                </a:cubicBezTo>
                <a:lnTo>
                  <a:pt x="1640417" y="508002"/>
                </a:lnTo>
                <a:cubicBezTo>
                  <a:pt x="1640417" y="531381"/>
                  <a:pt x="1621464" y="550333"/>
                  <a:pt x="1598085" y="550333"/>
                </a:cubicBezTo>
                <a:lnTo>
                  <a:pt x="42332" y="550333"/>
                </a:lnTo>
                <a:cubicBezTo>
                  <a:pt x="18953" y="550333"/>
                  <a:pt x="0" y="531381"/>
                  <a:pt x="0" y="508002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13848292" y="3778250"/>
            <a:ext cx="15451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Reward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13853583" y="3989917"/>
            <a:ext cx="15345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奖励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239125" y="4810125"/>
            <a:ext cx="7588250" cy="2455333"/>
          </a:xfrm>
          <a:custGeom>
            <a:avLst/>
            <a:gdLst/>
            <a:ahLst/>
            <a:cxnLst/>
            <a:rect l="l" t="t" r="r" b="b"/>
            <a:pathLst>
              <a:path w="7588250" h="2455333">
                <a:moveTo>
                  <a:pt x="126990" y="0"/>
                </a:moveTo>
                <a:lnTo>
                  <a:pt x="7461260" y="0"/>
                </a:lnTo>
                <a:cubicBezTo>
                  <a:pt x="7531395" y="0"/>
                  <a:pt x="7588250" y="56855"/>
                  <a:pt x="7588250" y="126990"/>
                </a:cubicBezTo>
                <a:lnTo>
                  <a:pt x="7588250" y="2328343"/>
                </a:lnTo>
                <a:cubicBezTo>
                  <a:pt x="7588250" y="2398478"/>
                  <a:pt x="7531395" y="2455333"/>
                  <a:pt x="7461260" y="2455333"/>
                </a:cubicBezTo>
                <a:lnTo>
                  <a:pt x="126990" y="2455333"/>
                </a:lnTo>
                <a:cubicBezTo>
                  <a:pt x="56855" y="2455333"/>
                  <a:pt x="0" y="2398478"/>
                  <a:pt x="0" y="2328343"/>
                </a:cubicBezTo>
                <a:lnTo>
                  <a:pt x="0" y="126990"/>
                </a:lnTo>
                <a:cubicBezTo>
                  <a:pt x="0" y="56902"/>
                  <a:pt x="56902" y="0"/>
                  <a:pt x="126990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6ED3CF">
                  <a:alpha val="5000"/>
                </a:srgbClr>
              </a:gs>
            </a:gsLst>
            <a:lin ang="2700000" scaled="1"/>
          </a:gradFill>
          <a:ln w="12700">
            <a:solidFill>
              <a:srgbClr val="6ED3C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8498417" y="506941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8646583" y="5217583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96118" y="2150"/>
                </a:moveTo>
                <a:cubicBezTo>
                  <a:pt x="102278" y="-703"/>
                  <a:pt x="109389" y="-703"/>
                  <a:pt x="115549" y="2150"/>
                </a:cubicBezTo>
                <a:lnTo>
                  <a:pt x="205920" y="43904"/>
                </a:lnTo>
                <a:cubicBezTo>
                  <a:pt x="209434" y="45517"/>
                  <a:pt x="211667" y="49031"/>
                  <a:pt x="211667" y="52917"/>
                </a:cubicBezTo>
                <a:cubicBezTo>
                  <a:pt x="211667" y="56803"/>
                  <a:pt x="209434" y="60317"/>
                  <a:pt x="205920" y="61929"/>
                </a:cubicBezTo>
                <a:lnTo>
                  <a:pt x="115549" y="103684"/>
                </a:lnTo>
                <a:cubicBezTo>
                  <a:pt x="109389" y="106536"/>
                  <a:pt x="102278" y="106536"/>
                  <a:pt x="96118" y="103684"/>
                </a:cubicBezTo>
                <a:lnTo>
                  <a:pt x="5746" y="61929"/>
                </a:lnTo>
                <a:cubicBezTo>
                  <a:pt x="2232" y="60275"/>
                  <a:pt x="0" y="56761"/>
                  <a:pt x="0" y="52917"/>
                </a:cubicBezTo>
                <a:cubicBezTo>
                  <a:pt x="0" y="49072"/>
                  <a:pt x="2232" y="45517"/>
                  <a:pt x="5746" y="43904"/>
                </a:cubicBezTo>
                <a:lnTo>
                  <a:pt x="96118" y="2150"/>
                </a:lnTo>
                <a:close/>
                <a:moveTo>
                  <a:pt x="19885" y="90289"/>
                </a:moveTo>
                <a:lnTo>
                  <a:pt x="87809" y="121667"/>
                </a:lnTo>
                <a:cubicBezTo>
                  <a:pt x="99260" y="126959"/>
                  <a:pt x="112448" y="126959"/>
                  <a:pt x="123899" y="121667"/>
                </a:cubicBezTo>
                <a:lnTo>
                  <a:pt x="191823" y="90289"/>
                </a:lnTo>
                <a:lnTo>
                  <a:pt x="205920" y="96821"/>
                </a:lnTo>
                <a:cubicBezTo>
                  <a:pt x="209434" y="98433"/>
                  <a:pt x="211667" y="101947"/>
                  <a:pt x="211667" y="105833"/>
                </a:cubicBezTo>
                <a:cubicBezTo>
                  <a:pt x="211667" y="109719"/>
                  <a:pt x="209434" y="113233"/>
                  <a:pt x="205920" y="114846"/>
                </a:cubicBezTo>
                <a:lnTo>
                  <a:pt x="115549" y="156600"/>
                </a:lnTo>
                <a:cubicBezTo>
                  <a:pt x="109389" y="159453"/>
                  <a:pt x="102278" y="159453"/>
                  <a:pt x="96118" y="156600"/>
                </a:cubicBezTo>
                <a:lnTo>
                  <a:pt x="5746" y="114846"/>
                </a:lnTo>
                <a:cubicBezTo>
                  <a:pt x="2232" y="113192"/>
                  <a:pt x="0" y="109678"/>
                  <a:pt x="0" y="105833"/>
                </a:cubicBezTo>
                <a:cubicBezTo>
                  <a:pt x="0" y="101989"/>
                  <a:pt x="2232" y="98433"/>
                  <a:pt x="5746" y="96821"/>
                </a:cubicBezTo>
                <a:lnTo>
                  <a:pt x="19844" y="90289"/>
                </a:lnTo>
                <a:close/>
                <a:moveTo>
                  <a:pt x="5746" y="149738"/>
                </a:moveTo>
                <a:lnTo>
                  <a:pt x="19844" y="143206"/>
                </a:lnTo>
                <a:lnTo>
                  <a:pt x="87767" y="174584"/>
                </a:lnTo>
                <a:cubicBezTo>
                  <a:pt x="99219" y="179875"/>
                  <a:pt x="112407" y="179875"/>
                  <a:pt x="123858" y="174584"/>
                </a:cubicBezTo>
                <a:lnTo>
                  <a:pt x="191782" y="143206"/>
                </a:lnTo>
                <a:lnTo>
                  <a:pt x="205879" y="149738"/>
                </a:lnTo>
                <a:cubicBezTo>
                  <a:pt x="209393" y="151350"/>
                  <a:pt x="211625" y="154864"/>
                  <a:pt x="211625" y="158750"/>
                </a:cubicBezTo>
                <a:cubicBezTo>
                  <a:pt x="211625" y="162636"/>
                  <a:pt x="209393" y="166150"/>
                  <a:pt x="205879" y="167762"/>
                </a:cubicBezTo>
                <a:lnTo>
                  <a:pt x="115507" y="209517"/>
                </a:lnTo>
                <a:cubicBezTo>
                  <a:pt x="109347" y="212369"/>
                  <a:pt x="102237" y="212369"/>
                  <a:pt x="96077" y="209517"/>
                </a:cubicBezTo>
                <a:lnTo>
                  <a:pt x="5746" y="167762"/>
                </a:lnTo>
                <a:cubicBezTo>
                  <a:pt x="2232" y="166109"/>
                  <a:pt x="0" y="162595"/>
                  <a:pt x="0" y="158750"/>
                </a:cubicBezTo>
                <a:cubicBezTo>
                  <a:pt x="0" y="154905"/>
                  <a:pt x="2232" y="151350"/>
                  <a:pt x="5746" y="149738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9133417" y="5154083"/>
            <a:ext cx="1143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深度学习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498417" y="5746750"/>
            <a:ext cx="71543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使用</a:t>
            </a: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深层神经网络</a:t>
            </a: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学习数据的高级抽象表示，适合复杂非线性问题。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498417" y="6191250"/>
            <a:ext cx="2296583" cy="814917"/>
          </a:xfrm>
          <a:custGeom>
            <a:avLst/>
            <a:gdLst/>
            <a:ahLst/>
            <a:cxnLst/>
            <a:rect l="l" t="t" r="r" b="b"/>
            <a:pathLst>
              <a:path w="2296583" h="814917">
                <a:moveTo>
                  <a:pt x="84670" y="0"/>
                </a:moveTo>
                <a:lnTo>
                  <a:pt x="2211913" y="0"/>
                </a:lnTo>
                <a:cubicBezTo>
                  <a:pt x="2258675" y="0"/>
                  <a:pt x="2296583" y="37908"/>
                  <a:pt x="2296583" y="84670"/>
                </a:cubicBezTo>
                <a:lnTo>
                  <a:pt x="2296583" y="730247"/>
                </a:lnTo>
                <a:cubicBezTo>
                  <a:pt x="2296583" y="777009"/>
                  <a:pt x="2258675" y="814917"/>
                  <a:pt x="2211913" y="814917"/>
                </a:cubicBezTo>
                <a:lnTo>
                  <a:pt x="84670" y="814917"/>
                </a:lnTo>
                <a:cubicBezTo>
                  <a:pt x="37908" y="814917"/>
                  <a:pt x="0" y="777009"/>
                  <a:pt x="0" y="730247"/>
                </a:cubicBezTo>
                <a:lnTo>
                  <a:pt x="0" y="84670"/>
                </a:lnTo>
                <a:cubicBezTo>
                  <a:pt x="0" y="37939"/>
                  <a:pt x="37939" y="0"/>
                  <a:pt x="8467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9567747" y="63023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47625" y="41672"/>
                </a:moveTo>
                <a:cubicBezTo>
                  <a:pt x="57482" y="41672"/>
                  <a:pt x="65484" y="49674"/>
                  <a:pt x="65484" y="59531"/>
                </a:cubicBezTo>
                <a:cubicBezTo>
                  <a:pt x="65484" y="69388"/>
                  <a:pt x="57482" y="77391"/>
                  <a:pt x="47625" y="77391"/>
                </a:cubicBezTo>
                <a:cubicBezTo>
                  <a:pt x="37768" y="77391"/>
                  <a:pt x="29766" y="69388"/>
                  <a:pt x="29766" y="59531"/>
                </a:cubicBezTo>
                <a:cubicBezTo>
                  <a:pt x="29766" y="49674"/>
                  <a:pt x="37768" y="41672"/>
                  <a:pt x="47625" y="41672"/>
                </a:cubicBezTo>
                <a:close/>
                <a:moveTo>
                  <a:pt x="101203" y="83344"/>
                </a:moveTo>
                <a:cubicBezTo>
                  <a:pt x="104329" y="83344"/>
                  <a:pt x="107193" y="84981"/>
                  <a:pt x="108831" y="87623"/>
                </a:cubicBezTo>
                <a:lnTo>
                  <a:pt x="141573" y="141201"/>
                </a:lnTo>
                <a:cubicBezTo>
                  <a:pt x="143247" y="143954"/>
                  <a:pt x="143321" y="147414"/>
                  <a:pt x="141759" y="150242"/>
                </a:cubicBezTo>
                <a:cubicBezTo>
                  <a:pt x="140196" y="153070"/>
                  <a:pt x="137182" y="154781"/>
                  <a:pt x="133945" y="154781"/>
                </a:cubicBezTo>
                <a:lnTo>
                  <a:pt x="32742" y="154781"/>
                </a:lnTo>
                <a:cubicBezTo>
                  <a:pt x="29431" y="154781"/>
                  <a:pt x="26343" y="152921"/>
                  <a:pt x="24817" y="149982"/>
                </a:cubicBezTo>
                <a:cubicBezTo>
                  <a:pt x="23292" y="147042"/>
                  <a:pt x="23515" y="143470"/>
                  <a:pt x="25412" y="140754"/>
                </a:cubicBezTo>
                <a:lnTo>
                  <a:pt x="46248" y="110989"/>
                </a:lnTo>
                <a:cubicBezTo>
                  <a:pt x="47923" y="108607"/>
                  <a:pt x="50639" y="107193"/>
                  <a:pt x="53578" y="107193"/>
                </a:cubicBezTo>
                <a:cubicBezTo>
                  <a:pt x="56517" y="107193"/>
                  <a:pt x="59234" y="108607"/>
                  <a:pt x="60908" y="110989"/>
                </a:cubicBezTo>
                <a:lnTo>
                  <a:pt x="70731" y="125053"/>
                </a:lnTo>
                <a:lnTo>
                  <a:pt x="93576" y="87660"/>
                </a:lnTo>
                <a:cubicBezTo>
                  <a:pt x="95213" y="85018"/>
                  <a:pt x="98078" y="83381"/>
                  <a:pt x="101203" y="83381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8546042" y="6535208"/>
            <a:ext cx="22013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CNN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8551333" y="6746875"/>
            <a:ext cx="219075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图像处理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10883139" y="6191250"/>
            <a:ext cx="2296583" cy="814917"/>
          </a:xfrm>
          <a:custGeom>
            <a:avLst/>
            <a:gdLst/>
            <a:ahLst/>
            <a:cxnLst/>
            <a:rect l="l" t="t" r="r" b="b"/>
            <a:pathLst>
              <a:path w="2296583" h="814917">
                <a:moveTo>
                  <a:pt x="84670" y="0"/>
                </a:moveTo>
                <a:lnTo>
                  <a:pt x="2211913" y="0"/>
                </a:lnTo>
                <a:cubicBezTo>
                  <a:pt x="2258675" y="0"/>
                  <a:pt x="2296583" y="37908"/>
                  <a:pt x="2296583" y="84670"/>
                </a:cubicBezTo>
                <a:lnTo>
                  <a:pt x="2296583" y="730247"/>
                </a:lnTo>
                <a:cubicBezTo>
                  <a:pt x="2296583" y="777009"/>
                  <a:pt x="2258675" y="814917"/>
                  <a:pt x="2211913" y="814917"/>
                </a:cubicBezTo>
                <a:lnTo>
                  <a:pt x="84670" y="814917"/>
                </a:lnTo>
                <a:cubicBezTo>
                  <a:pt x="37908" y="814917"/>
                  <a:pt x="0" y="777009"/>
                  <a:pt x="0" y="730247"/>
                </a:cubicBezTo>
                <a:lnTo>
                  <a:pt x="0" y="84670"/>
                </a:lnTo>
                <a:cubicBezTo>
                  <a:pt x="0" y="37939"/>
                  <a:pt x="37939" y="0"/>
                  <a:pt x="8467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67"/>
          <p:cNvSpPr/>
          <p:nvPr/>
        </p:nvSpPr>
        <p:spPr>
          <a:xfrm>
            <a:off x="11940563" y="63023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35719"/>
                </a:moveTo>
                <a:cubicBezTo>
                  <a:pt x="23812" y="29133"/>
                  <a:pt x="29133" y="23812"/>
                  <a:pt x="35719" y="23812"/>
                </a:cubicBezTo>
                <a:lnTo>
                  <a:pt x="95250" y="23812"/>
                </a:lnTo>
                <a:cubicBezTo>
                  <a:pt x="101836" y="23812"/>
                  <a:pt x="107156" y="29133"/>
                  <a:pt x="107156" y="35719"/>
                </a:cubicBezTo>
                <a:lnTo>
                  <a:pt x="107156" y="142875"/>
                </a:lnTo>
                <a:lnTo>
                  <a:pt x="142875" y="142875"/>
                </a:lnTo>
                <a:lnTo>
                  <a:pt x="142875" y="95250"/>
                </a:lnTo>
                <a:cubicBezTo>
                  <a:pt x="142875" y="88664"/>
                  <a:pt x="148196" y="83344"/>
                  <a:pt x="154781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166688" y="107156"/>
                </a:lnTo>
                <a:lnTo>
                  <a:pt x="166688" y="154781"/>
                </a:lnTo>
                <a:cubicBezTo>
                  <a:pt x="166688" y="161367"/>
                  <a:pt x="161367" y="166688"/>
                  <a:pt x="154781" y="166688"/>
                </a:cubicBezTo>
                <a:lnTo>
                  <a:pt x="95250" y="166688"/>
                </a:lnTo>
                <a:cubicBezTo>
                  <a:pt x="88664" y="166688"/>
                  <a:pt x="83344" y="161367"/>
                  <a:pt x="83344" y="154781"/>
                </a:cubicBezTo>
                <a:lnTo>
                  <a:pt x="83344" y="47625"/>
                </a:lnTo>
                <a:lnTo>
                  <a:pt x="47625" y="47625"/>
                </a:lnTo>
                <a:lnTo>
                  <a:pt x="47625" y="95250"/>
                </a:lnTo>
                <a:cubicBezTo>
                  <a:pt x="47625" y="101836"/>
                  <a:pt x="42304" y="107156"/>
                  <a:pt x="35719" y="107156"/>
                </a:cubicBezTo>
                <a:lnTo>
                  <a:pt x="11906" y="107156"/>
                </a:lnTo>
                <a:cubicBezTo>
                  <a:pt x="5321" y="107156"/>
                  <a:pt x="0" y="101836"/>
                  <a:pt x="0" y="95250"/>
                </a:cubicBezTo>
                <a:cubicBezTo>
                  <a:pt x="0" y="88664"/>
                  <a:pt x="5321" y="83344"/>
                  <a:pt x="11906" y="83344"/>
                </a:cubicBezTo>
                <a:lnTo>
                  <a:pt x="23812" y="83344"/>
                </a:lnTo>
                <a:lnTo>
                  <a:pt x="23812" y="35719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/>
          <p:nvPr/>
        </p:nvSpPr>
        <p:spPr>
          <a:xfrm>
            <a:off x="10930764" y="6535208"/>
            <a:ext cx="22013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RNN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10936056" y="6746875"/>
            <a:ext cx="219075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序列数据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13267945" y="6191250"/>
            <a:ext cx="2296583" cy="814917"/>
          </a:xfrm>
          <a:custGeom>
            <a:avLst/>
            <a:gdLst/>
            <a:ahLst/>
            <a:cxnLst/>
            <a:rect l="l" t="t" r="r" b="b"/>
            <a:pathLst>
              <a:path w="2296583" h="814917">
                <a:moveTo>
                  <a:pt x="84670" y="0"/>
                </a:moveTo>
                <a:lnTo>
                  <a:pt x="2211913" y="0"/>
                </a:lnTo>
                <a:cubicBezTo>
                  <a:pt x="2258675" y="0"/>
                  <a:pt x="2296583" y="37908"/>
                  <a:pt x="2296583" y="84670"/>
                </a:cubicBezTo>
                <a:lnTo>
                  <a:pt x="2296583" y="730247"/>
                </a:lnTo>
                <a:cubicBezTo>
                  <a:pt x="2296583" y="777009"/>
                  <a:pt x="2258675" y="814917"/>
                  <a:pt x="2211913" y="814917"/>
                </a:cubicBezTo>
                <a:lnTo>
                  <a:pt x="84670" y="814917"/>
                </a:lnTo>
                <a:cubicBezTo>
                  <a:pt x="37908" y="814917"/>
                  <a:pt x="0" y="777009"/>
                  <a:pt x="0" y="730247"/>
                </a:cubicBezTo>
                <a:lnTo>
                  <a:pt x="0" y="84670"/>
                </a:lnTo>
                <a:cubicBezTo>
                  <a:pt x="0" y="37939"/>
                  <a:pt x="37939" y="0"/>
                  <a:pt x="8467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3" name="Shape 71"/>
          <p:cNvSpPr/>
          <p:nvPr/>
        </p:nvSpPr>
        <p:spPr>
          <a:xfrm>
            <a:off x="14325368" y="63023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4" name="Text 72"/>
          <p:cNvSpPr/>
          <p:nvPr/>
        </p:nvSpPr>
        <p:spPr>
          <a:xfrm>
            <a:off x="13315570" y="6535208"/>
            <a:ext cx="22013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Transformer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13320861" y="6746875"/>
            <a:ext cx="219075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注意力机制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428625" y="10177942"/>
            <a:ext cx="5016500" cy="1280583"/>
          </a:xfrm>
          <a:custGeom>
            <a:avLst/>
            <a:gdLst/>
            <a:ahLst/>
            <a:cxnLst/>
            <a:rect l="l" t="t" r="r" b="b"/>
            <a:pathLst>
              <a:path w="5016500" h="1280583">
                <a:moveTo>
                  <a:pt x="84672" y="0"/>
                </a:moveTo>
                <a:lnTo>
                  <a:pt x="4931828" y="0"/>
                </a:lnTo>
                <a:cubicBezTo>
                  <a:pt x="4978591" y="0"/>
                  <a:pt x="5016500" y="37909"/>
                  <a:pt x="5016500" y="84672"/>
                </a:cubicBezTo>
                <a:lnTo>
                  <a:pt x="5016500" y="1195911"/>
                </a:lnTo>
                <a:cubicBezTo>
                  <a:pt x="5016500" y="1242674"/>
                  <a:pt x="4978591" y="1280583"/>
                  <a:pt x="4931828" y="1280583"/>
                </a:cubicBezTo>
                <a:lnTo>
                  <a:pt x="84672" y="1280583"/>
                </a:lnTo>
                <a:cubicBezTo>
                  <a:pt x="37909" y="1280583"/>
                  <a:pt x="0" y="1242674"/>
                  <a:pt x="0" y="1195911"/>
                </a:cubicBezTo>
                <a:lnTo>
                  <a:pt x="0" y="84672"/>
                </a:lnTo>
                <a:cubicBezTo>
                  <a:pt x="0" y="37940"/>
                  <a:pt x="37940" y="0"/>
                  <a:pt x="84672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Shape 75"/>
          <p:cNvSpPr/>
          <p:nvPr/>
        </p:nvSpPr>
        <p:spPr>
          <a:xfrm>
            <a:off x="617802" y="10405484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8" name="Text 76"/>
          <p:cNvSpPr/>
          <p:nvPr/>
        </p:nvSpPr>
        <p:spPr>
          <a:xfrm>
            <a:off x="846667" y="10352567"/>
            <a:ext cx="4519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算法选择原则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603250" y="10733567"/>
            <a:ext cx="4751917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根据</a:t>
            </a: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任务类型、数据规模、可解释性需求</a:t>
            </a: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等因素综合考虑。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5621486" y="10177942"/>
            <a:ext cx="5016500" cy="1280583"/>
          </a:xfrm>
          <a:custGeom>
            <a:avLst/>
            <a:gdLst/>
            <a:ahLst/>
            <a:cxnLst/>
            <a:rect l="l" t="t" r="r" b="b"/>
            <a:pathLst>
              <a:path w="5016500" h="1280583">
                <a:moveTo>
                  <a:pt x="84672" y="0"/>
                </a:moveTo>
                <a:lnTo>
                  <a:pt x="4931828" y="0"/>
                </a:lnTo>
                <a:cubicBezTo>
                  <a:pt x="4978591" y="0"/>
                  <a:pt x="5016500" y="37909"/>
                  <a:pt x="5016500" y="84672"/>
                </a:cubicBezTo>
                <a:lnTo>
                  <a:pt x="5016500" y="1195911"/>
                </a:lnTo>
                <a:cubicBezTo>
                  <a:pt x="5016500" y="1242674"/>
                  <a:pt x="4978591" y="1280583"/>
                  <a:pt x="4931828" y="1280583"/>
                </a:cubicBezTo>
                <a:lnTo>
                  <a:pt x="84672" y="1280583"/>
                </a:lnTo>
                <a:cubicBezTo>
                  <a:pt x="37909" y="1280583"/>
                  <a:pt x="0" y="1242674"/>
                  <a:pt x="0" y="1195911"/>
                </a:cubicBezTo>
                <a:lnTo>
                  <a:pt x="0" y="84672"/>
                </a:lnTo>
                <a:cubicBezTo>
                  <a:pt x="0" y="37940"/>
                  <a:pt x="37940" y="0"/>
                  <a:pt x="84672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6ED3CF">
                  <a:alpha val="5000"/>
                </a:srgbClr>
              </a:gs>
            </a:gsLst>
            <a:lin ang="2700000" scaled="1"/>
          </a:gradFill>
          <a:ln w="12700">
            <a:solidFill>
              <a:srgbClr val="6ED3C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Shape 79"/>
          <p:cNvSpPr/>
          <p:nvPr/>
        </p:nvSpPr>
        <p:spPr>
          <a:xfrm>
            <a:off x="5798757" y="10405484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2" name="Text 80"/>
          <p:cNvSpPr/>
          <p:nvPr/>
        </p:nvSpPr>
        <p:spPr>
          <a:xfrm>
            <a:off x="6039528" y="10352567"/>
            <a:ext cx="4519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偏差-方差权衡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5796111" y="10733567"/>
            <a:ext cx="4751917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在模型复杂度与泛化能力之间寻找平衡，避免</a:t>
            </a: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过拟合</a:t>
            </a: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和</a:t>
            </a: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欠拟合</a:t>
            </a: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10814348" y="10177942"/>
            <a:ext cx="5016500" cy="1280583"/>
          </a:xfrm>
          <a:custGeom>
            <a:avLst/>
            <a:gdLst/>
            <a:ahLst/>
            <a:cxnLst/>
            <a:rect l="l" t="t" r="r" b="b"/>
            <a:pathLst>
              <a:path w="5016500" h="1280583">
                <a:moveTo>
                  <a:pt x="84672" y="0"/>
                </a:moveTo>
                <a:lnTo>
                  <a:pt x="4931828" y="0"/>
                </a:lnTo>
                <a:cubicBezTo>
                  <a:pt x="4978591" y="0"/>
                  <a:pt x="5016500" y="37909"/>
                  <a:pt x="5016500" y="84672"/>
                </a:cubicBezTo>
                <a:lnTo>
                  <a:pt x="5016500" y="1195911"/>
                </a:lnTo>
                <a:cubicBezTo>
                  <a:pt x="5016500" y="1242674"/>
                  <a:pt x="4978591" y="1280583"/>
                  <a:pt x="4931828" y="1280583"/>
                </a:cubicBezTo>
                <a:lnTo>
                  <a:pt x="84672" y="1280583"/>
                </a:lnTo>
                <a:cubicBezTo>
                  <a:pt x="37909" y="1280583"/>
                  <a:pt x="0" y="1242674"/>
                  <a:pt x="0" y="1195911"/>
                </a:cubicBezTo>
                <a:lnTo>
                  <a:pt x="0" y="84672"/>
                </a:lnTo>
                <a:cubicBezTo>
                  <a:pt x="0" y="37940"/>
                  <a:pt x="37940" y="0"/>
                  <a:pt x="84672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Shape 83"/>
          <p:cNvSpPr/>
          <p:nvPr/>
        </p:nvSpPr>
        <p:spPr>
          <a:xfrm>
            <a:off x="11003525" y="10405484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6" name="Text 84"/>
          <p:cNvSpPr/>
          <p:nvPr/>
        </p:nvSpPr>
        <p:spPr>
          <a:xfrm>
            <a:off x="11232389" y="10352567"/>
            <a:ext cx="4519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实践建议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10988973" y="10733567"/>
            <a:ext cx="4751917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从简单算法开始，建立</a:t>
            </a: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baseline</a:t>
            </a: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，再逐步尝试复杂模型。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428625"/>
            <a:ext cx="2317750" cy="349250"/>
          </a:xfrm>
          <a:custGeom>
            <a:avLst/>
            <a:gdLst/>
            <a:ahLst/>
            <a:cxnLst/>
            <a:rect l="l" t="t" r="r" b="b"/>
            <a:pathLst>
              <a:path w="2317750" h="349250">
                <a:moveTo>
                  <a:pt x="42333" y="0"/>
                </a:moveTo>
                <a:lnTo>
                  <a:pt x="2275417" y="0"/>
                </a:lnTo>
                <a:cubicBezTo>
                  <a:pt x="2298797" y="0"/>
                  <a:pt x="2317750" y="18953"/>
                  <a:pt x="2317750" y="42333"/>
                </a:cubicBezTo>
                <a:lnTo>
                  <a:pt x="2317750" y="306917"/>
                </a:lnTo>
                <a:cubicBezTo>
                  <a:pt x="2317750" y="330297"/>
                  <a:pt x="2298797" y="349250"/>
                  <a:pt x="2275417" y="349250"/>
                </a:cubicBezTo>
                <a:lnTo>
                  <a:pt x="42333" y="349250"/>
                </a:lnTo>
                <a:cubicBezTo>
                  <a:pt x="18953" y="349250"/>
                  <a:pt x="0" y="330297"/>
                  <a:pt x="0" y="30691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 w="12700">
            <a:solidFill>
              <a:srgbClr val="5F87A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60917" y="492125"/>
            <a:ext cx="213783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kern="0" spc="67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EVALUATION &amp; TUNING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333" y="867833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模型评估与调优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1375833"/>
            <a:ext cx="1549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科学评估模型性能并进行精细化调优（对应章节：Ch-08、Ch-09）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8625" y="1846792"/>
            <a:ext cx="7588250" cy="5953125"/>
          </a:xfrm>
          <a:custGeom>
            <a:avLst/>
            <a:gdLst/>
            <a:ahLst/>
            <a:cxnLst/>
            <a:rect l="l" t="t" r="r" b="b"/>
            <a:pathLst>
              <a:path w="7588250" h="8244417">
                <a:moveTo>
                  <a:pt x="127027" y="0"/>
                </a:moveTo>
                <a:lnTo>
                  <a:pt x="7461223" y="0"/>
                </a:lnTo>
                <a:cubicBezTo>
                  <a:pt x="7531378" y="0"/>
                  <a:pt x="7588250" y="56872"/>
                  <a:pt x="7588250" y="127027"/>
                </a:cubicBezTo>
                <a:lnTo>
                  <a:pt x="7588250" y="8117389"/>
                </a:lnTo>
                <a:cubicBezTo>
                  <a:pt x="7588250" y="8187545"/>
                  <a:pt x="7531378" y="8244417"/>
                  <a:pt x="7461223" y="8244417"/>
                </a:cubicBezTo>
                <a:lnTo>
                  <a:pt x="127027" y="8244417"/>
                </a:lnTo>
                <a:cubicBezTo>
                  <a:pt x="56872" y="8244417"/>
                  <a:pt x="0" y="8187545"/>
                  <a:pt x="0" y="8117389"/>
                </a:cubicBezTo>
                <a:lnTo>
                  <a:pt x="0" y="127027"/>
                </a:lnTo>
                <a:cubicBezTo>
                  <a:pt x="0" y="56919"/>
                  <a:pt x="56919" y="0"/>
                  <a:pt x="127027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87917" y="210608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36083" y="2254250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3229" y="13229"/>
                </a:moveTo>
                <a:cubicBezTo>
                  <a:pt x="20547" y="13229"/>
                  <a:pt x="26458" y="19141"/>
                  <a:pt x="26458" y="26458"/>
                </a:cubicBezTo>
                <a:lnTo>
                  <a:pt x="26458" y="165365"/>
                </a:lnTo>
                <a:cubicBezTo>
                  <a:pt x="26458" y="169003"/>
                  <a:pt x="29435" y="171979"/>
                  <a:pt x="33073" y="171979"/>
                </a:cubicBezTo>
                <a:lnTo>
                  <a:pt x="198438" y="171979"/>
                </a:lnTo>
                <a:cubicBezTo>
                  <a:pt x="205755" y="171979"/>
                  <a:pt x="211667" y="177891"/>
                  <a:pt x="211667" y="185208"/>
                </a:cubicBezTo>
                <a:cubicBezTo>
                  <a:pt x="211667" y="192526"/>
                  <a:pt x="205755" y="198438"/>
                  <a:pt x="198438" y="198438"/>
                </a:cubicBezTo>
                <a:lnTo>
                  <a:pt x="33073" y="198438"/>
                </a:lnTo>
                <a:cubicBezTo>
                  <a:pt x="14800" y="198438"/>
                  <a:pt x="0" y="183637"/>
                  <a:pt x="0" y="165365"/>
                </a:cubicBezTo>
                <a:lnTo>
                  <a:pt x="0" y="26458"/>
                </a:lnTo>
                <a:cubicBezTo>
                  <a:pt x="0" y="19141"/>
                  <a:pt x="5912" y="13229"/>
                  <a:pt x="13229" y="13229"/>
                </a:cubicBezTo>
                <a:close/>
                <a:moveTo>
                  <a:pt x="52917" y="39688"/>
                </a:moveTo>
                <a:cubicBezTo>
                  <a:pt x="52917" y="32370"/>
                  <a:pt x="58828" y="26458"/>
                  <a:pt x="66146" y="26458"/>
                </a:cubicBezTo>
                <a:lnTo>
                  <a:pt x="145521" y="26458"/>
                </a:lnTo>
                <a:cubicBezTo>
                  <a:pt x="152838" y="26458"/>
                  <a:pt x="158750" y="32370"/>
                  <a:pt x="158750" y="39688"/>
                </a:cubicBezTo>
                <a:cubicBezTo>
                  <a:pt x="158750" y="47005"/>
                  <a:pt x="152838" y="52917"/>
                  <a:pt x="145521" y="52917"/>
                </a:cubicBezTo>
                <a:lnTo>
                  <a:pt x="66146" y="52917"/>
                </a:lnTo>
                <a:cubicBezTo>
                  <a:pt x="58828" y="52917"/>
                  <a:pt x="52917" y="47005"/>
                  <a:pt x="52917" y="39688"/>
                </a:cubicBezTo>
                <a:close/>
                <a:moveTo>
                  <a:pt x="66146" y="72760"/>
                </a:moveTo>
                <a:lnTo>
                  <a:pt x="119063" y="72760"/>
                </a:lnTo>
                <a:cubicBezTo>
                  <a:pt x="126380" y="72760"/>
                  <a:pt x="132292" y="78672"/>
                  <a:pt x="132292" y="85990"/>
                </a:cubicBezTo>
                <a:cubicBezTo>
                  <a:pt x="132292" y="93307"/>
                  <a:pt x="126380" y="99219"/>
                  <a:pt x="119063" y="99219"/>
                </a:cubicBezTo>
                <a:lnTo>
                  <a:pt x="66146" y="99219"/>
                </a:lnTo>
                <a:cubicBezTo>
                  <a:pt x="58828" y="99219"/>
                  <a:pt x="52917" y="93307"/>
                  <a:pt x="52917" y="85990"/>
                </a:cubicBezTo>
                <a:cubicBezTo>
                  <a:pt x="52917" y="78672"/>
                  <a:pt x="58828" y="72760"/>
                  <a:pt x="66146" y="72760"/>
                </a:cubicBezTo>
                <a:close/>
                <a:moveTo>
                  <a:pt x="66146" y="119063"/>
                </a:moveTo>
                <a:lnTo>
                  <a:pt x="171979" y="119063"/>
                </a:lnTo>
                <a:cubicBezTo>
                  <a:pt x="179297" y="119063"/>
                  <a:pt x="185208" y="124974"/>
                  <a:pt x="185208" y="132292"/>
                </a:cubicBezTo>
                <a:cubicBezTo>
                  <a:pt x="185208" y="139609"/>
                  <a:pt x="179297" y="145521"/>
                  <a:pt x="171979" y="145521"/>
                </a:cubicBezTo>
                <a:lnTo>
                  <a:pt x="66146" y="145521"/>
                </a:lnTo>
                <a:cubicBezTo>
                  <a:pt x="58828" y="145521"/>
                  <a:pt x="52917" y="139609"/>
                  <a:pt x="52917" y="132292"/>
                </a:cubicBezTo>
                <a:cubicBezTo>
                  <a:pt x="52917" y="124974"/>
                  <a:pt x="58828" y="119063"/>
                  <a:pt x="66146" y="11906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322917" y="2190750"/>
            <a:ext cx="1143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模型评估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25973" y="2190750"/>
            <a:ext cx="635000" cy="338667"/>
          </a:xfrm>
          <a:custGeom>
            <a:avLst/>
            <a:gdLst/>
            <a:ahLst/>
            <a:cxnLst/>
            <a:rect l="l" t="t" r="r" b="b"/>
            <a:pathLst>
              <a:path w="635000" h="338667">
                <a:moveTo>
                  <a:pt x="169333" y="0"/>
                </a:moveTo>
                <a:lnTo>
                  <a:pt x="465667" y="0"/>
                </a:lnTo>
                <a:cubicBezTo>
                  <a:pt x="559187" y="0"/>
                  <a:pt x="635000" y="75813"/>
                  <a:pt x="635000" y="169333"/>
                </a:cubicBezTo>
                <a:lnTo>
                  <a:pt x="635000" y="169333"/>
                </a:lnTo>
                <a:cubicBezTo>
                  <a:pt x="635000" y="262854"/>
                  <a:pt x="559187" y="338667"/>
                  <a:pt x="465667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252973" y="2291292"/>
            <a:ext cx="44111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Ch-08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917" y="2783417"/>
            <a:ext cx="71543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使用科学的评估指标量化模型性能，确保评估结果客观可靠。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7917" y="3227917"/>
            <a:ext cx="7069667" cy="2243667"/>
          </a:xfrm>
          <a:custGeom>
            <a:avLst/>
            <a:gdLst/>
            <a:ahLst/>
            <a:cxnLst/>
            <a:rect l="l" t="t" r="r" b="b"/>
            <a:pathLst>
              <a:path w="7069667" h="2243667">
                <a:moveTo>
                  <a:pt x="84676" y="0"/>
                </a:moveTo>
                <a:lnTo>
                  <a:pt x="6984991" y="0"/>
                </a:lnTo>
                <a:cubicBezTo>
                  <a:pt x="7031756" y="0"/>
                  <a:pt x="7069667" y="37911"/>
                  <a:pt x="7069667" y="84676"/>
                </a:cubicBezTo>
                <a:lnTo>
                  <a:pt x="7069667" y="2158991"/>
                </a:lnTo>
                <a:cubicBezTo>
                  <a:pt x="7069667" y="2205756"/>
                  <a:pt x="7031756" y="2243667"/>
                  <a:pt x="6984991" y="2243667"/>
                </a:cubicBezTo>
                <a:lnTo>
                  <a:pt x="84676" y="2243667"/>
                </a:lnTo>
                <a:cubicBezTo>
                  <a:pt x="37911" y="2243667"/>
                  <a:pt x="0" y="2205756"/>
                  <a:pt x="0" y="2158991"/>
                </a:cubicBezTo>
                <a:lnTo>
                  <a:pt x="0" y="84676"/>
                </a:lnTo>
                <a:cubicBezTo>
                  <a:pt x="0" y="37942"/>
                  <a:pt x="37942" y="0"/>
                  <a:pt x="8467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57250" y="3397250"/>
            <a:ext cx="6815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核心评估指标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57250" y="3778250"/>
            <a:ext cx="3302000" cy="1524000"/>
          </a:xfrm>
          <a:custGeom>
            <a:avLst/>
            <a:gdLst/>
            <a:ahLst/>
            <a:cxnLst/>
            <a:rect l="l" t="t" r="r" b="b"/>
            <a:pathLst>
              <a:path w="3302000" h="1524000">
                <a:moveTo>
                  <a:pt x="84673" y="0"/>
                </a:moveTo>
                <a:lnTo>
                  <a:pt x="3217327" y="0"/>
                </a:lnTo>
                <a:cubicBezTo>
                  <a:pt x="3264090" y="0"/>
                  <a:pt x="3302000" y="37910"/>
                  <a:pt x="3302000" y="84673"/>
                </a:cubicBezTo>
                <a:lnTo>
                  <a:pt x="3302000" y="1439327"/>
                </a:lnTo>
                <a:cubicBezTo>
                  <a:pt x="3302000" y="1486090"/>
                  <a:pt x="3264090" y="1524000"/>
                  <a:pt x="3217327" y="1524000"/>
                </a:cubicBezTo>
                <a:lnTo>
                  <a:pt x="84673" y="1524000"/>
                </a:lnTo>
                <a:cubicBezTo>
                  <a:pt x="37910" y="1524000"/>
                  <a:pt x="0" y="1486090"/>
                  <a:pt x="0" y="1439327"/>
                </a:cubicBezTo>
                <a:lnTo>
                  <a:pt x="0" y="84673"/>
                </a:lnTo>
                <a:cubicBezTo>
                  <a:pt x="0" y="37910"/>
                  <a:pt x="37910" y="0"/>
                  <a:pt x="84673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84250" y="3905250"/>
            <a:ext cx="3132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分类指标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84250" y="4201583"/>
            <a:ext cx="3122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准确率 Accuracy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84250" y="4455583"/>
            <a:ext cx="3122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精确率 Precision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84250" y="4709583"/>
            <a:ext cx="3122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召回率 Recall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84250" y="4963583"/>
            <a:ext cx="3122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F1-Score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86250" y="3778250"/>
            <a:ext cx="3302000" cy="1524000"/>
          </a:xfrm>
          <a:custGeom>
            <a:avLst/>
            <a:gdLst/>
            <a:ahLst/>
            <a:cxnLst/>
            <a:rect l="l" t="t" r="r" b="b"/>
            <a:pathLst>
              <a:path w="3302000" h="1524000">
                <a:moveTo>
                  <a:pt x="84673" y="0"/>
                </a:moveTo>
                <a:lnTo>
                  <a:pt x="3217327" y="0"/>
                </a:lnTo>
                <a:cubicBezTo>
                  <a:pt x="3264090" y="0"/>
                  <a:pt x="3302000" y="37910"/>
                  <a:pt x="3302000" y="84673"/>
                </a:cubicBezTo>
                <a:lnTo>
                  <a:pt x="3302000" y="1439327"/>
                </a:lnTo>
                <a:cubicBezTo>
                  <a:pt x="3302000" y="1486090"/>
                  <a:pt x="3264090" y="1524000"/>
                  <a:pt x="3217327" y="1524000"/>
                </a:cubicBezTo>
                <a:lnTo>
                  <a:pt x="84673" y="1524000"/>
                </a:lnTo>
                <a:cubicBezTo>
                  <a:pt x="37910" y="1524000"/>
                  <a:pt x="0" y="1486090"/>
                  <a:pt x="0" y="1439327"/>
                </a:cubicBezTo>
                <a:lnTo>
                  <a:pt x="0" y="84673"/>
                </a:lnTo>
                <a:cubicBezTo>
                  <a:pt x="0" y="37910"/>
                  <a:pt x="37910" y="0"/>
                  <a:pt x="84673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413250" y="3905250"/>
            <a:ext cx="3132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回归指标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13250" y="4201583"/>
            <a:ext cx="3122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MAE 平均绝对误差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13250" y="4455583"/>
            <a:ext cx="3122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MSE 均方误差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13250" y="4709583"/>
            <a:ext cx="3122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RMSE 均方根误差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13250" y="4963583"/>
            <a:ext cx="3122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R² 决定系数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7917" y="5598583"/>
            <a:ext cx="7069667" cy="2032000"/>
          </a:xfrm>
          <a:custGeom>
            <a:avLst/>
            <a:gdLst/>
            <a:ahLst/>
            <a:cxnLst/>
            <a:rect l="l" t="t" r="r" b="b"/>
            <a:pathLst>
              <a:path w="7069667" h="2032000">
                <a:moveTo>
                  <a:pt x="84673" y="0"/>
                </a:moveTo>
                <a:lnTo>
                  <a:pt x="6984993" y="0"/>
                </a:lnTo>
                <a:cubicBezTo>
                  <a:pt x="7031757" y="0"/>
                  <a:pt x="7069667" y="37910"/>
                  <a:pt x="7069667" y="84673"/>
                </a:cubicBezTo>
                <a:lnTo>
                  <a:pt x="7069667" y="1947327"/>
                </a:lnTo>
                <a:cubicBezTo>
                  <a:pt x="7069667" y="1994090"/>
                  <a:pt x="7031757" y="2032000"/>
                  <a:pt x="6984993" y="2032000"/>
                </a:cubicBezTo>
                <a:lnTo>
                  <a:pt x="84673" y="2032000"/>
                </a:lnTo>
                <a:cubicBezTo>
                  <a:pt x="37910" y="2032000"/>
                  <a:pt x="0" y="1994090"/>
                  <a:pt x="0" y="1947327"/>
                </a:cubicBezTo>
                <a:lnTo>
                  <a:pt x="0" y="84673"/>
                </a:lnTo>
                <a:cubicBezTo>
                  <a:pt x="0" y="37910"/>
                  <a:pt x="37910" y="0"/>
                  <a:pt x="8467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57250" y="5767917"/>
            <a:ext cx="6815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高级评估方法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87677" y="6191250"/>
            <a:ext cx="129646" cy="148167"/>
          </a:xfrm>
          <a:custGeom>
            <a:avLst/>
            <a:gdLst/>
            <a:ahLst/>
            <a:cxnLst/>
            <a:rect l="l" t="t" r="r" b="b"/>
            <a:pathLst>
              <a:path w="129646" h="148167">
                <a:moveTo>
                  <a:pt x="111125" y="27781"/>
                </a:moveTo>
                <a:lnTo>
                  <a:pt x="111125" y="46302"/>
                </a:lnTo>
                <a:lnTo>
                  <a:pt x="92604" y="46302"/>
                </a:lnTo>
                <a:lnTo>
                  <a:pt x="92604" y="27781"/>
                </a:lnTo>
                <a:lnTo>
                  <a:pt x="111125" y="27781"/>
                </a:lnTo>
                <a:close/>
                <a:moveTo>
                  <a:pt x="111125" y="64823"/>
                </a:moveTo>
                <a:lnTo>
                  <a:pt x="111125" y="83344"/>
                </a:lnTo>
                <a:lnTo>
                  <a:pt x="92604" y="83344"/>
                </a:lnTo>
                <a:lnTo>
                  <a:pt x="92604" y="64823"/>
                </a:lnTo>
                <a:lnTo>
                  <a:pt x="111125" y="64823"/>
                </a:lnTo>
                <a:close/>
                <a:moveTo>
                  <a:pt x="111125" y="101865"/>
                </a:moveTo>
                <a:lnTo>
                  <a:pt x="111125" y="120385"/>
                </a:lnTo>
                <a:lnTo>
                  <a:pt x="92604" y="120385"/>
                </a:lnTo>
                <a:lnTo>
                  <a:pt x="92604" y="101865"/>
                </a:lnTo>
                <a:lnTo>
                  <a:pt x="111125" y="101865"/>
                </a:lnTo>
                <a:close/>
                <a:moveTo>
                  <a:pt x="74083" y="83344"/>
                </a:moveTo>
                <a:lnTo>
                  <a:pt x="55562" y="83344"/>
                </a:lnTo>
                <a:lnTo>
                  <a:pt x="55562" y="64823"/>
                </a:lnTo>
                <a:lnTo>
                  <a:pt x="74083" y="64823"/>
                </a:lnTo>
                <a:lnTo>
                  <a:pt x="74083" y="83344"/>
                </a:lnTo>
                <a:close/>
                <a:moveTo>
                  <a:pt x="55562" y="101865"/>
                </a:moveTo>
                <a:lnTo>
                  <a:pt x="74083" y="101865"/>
                </a:lnTo>
                <a:lnTo>
                  <a:pt x="74083" y="120385"/>
                </a:lnTo>
                <a:lnTo>
                  <a:pt x="55562" y="120385"/>
                </a:lnTo>
                <a:lnTo>
                  <a:pt x="55562" y="101865"/>
                </a:lnTo>
                <a:close/>
                <a:moveTo>
                  <a:pt x="37042" y="83344"/>
                </a:moveTo>
                <a:lnTo>
                  <a:pt x="18521" y="83344"/>
                </a:lnTo>
                <a:lnTo>
                  <a:pt x="18521" y="64823"/>
                </a:lnTo>
                <a:lnTo>
                  <a:pt x="37042" y="64823"/>
                </a:lnTo>
                <a:lnTo>
                  <a:pt x="37042" y="83344"/>
                </a:lnTo>
                <a:close/>
                <a:moveTo>
                  <a:pt x="18521" y="101865"/>
                </a:moveTo>
                <a:lnTo>
                  <a:pt x="37042" y="101865"/>
                </a:lnTo>
                <a:lnTo>
                  <a:pt x="37042" y="120385"/>
                </a:lnTo>
                <a:lnTo>
                  <a:pt x="18521" y="120385"/>
                </a:lnTo>
                <a:lnTo>
                  <a:pt x="18521" y="101865"/>
                </a:lnTo>
                <a:close/>
                <a:moveTo>
                  <a:pt x="18521" y="46302"/>
                </a:moveTo>
                <a:lnTo>
                  <a:pt x="18521" y="27781"/>
                </a:lnTo>
                <a:lnTo>
                  <a:pt x="37042" y="27781"/>
                </a:lnTo>
                <a:lnTo>
                  <a:pt x="37042" y="46302"/>
                </a:lnTo>
                <a:lnTo>
                  <a:pt x="18521" y="46302"/>
                </a:lnTo>
                <a:close/>
                <a:moveTo>
                  <a:pt x="55562" y="46302"/>
                </a:moveTo>
                <a:lnTo>
                  <a:pt x="55562" y="27781"/>
                </a:lnTo>
                <a:lnTo>
                  <a:pt x="74083" y="27781"/>
                </a:lnTo>
                <a:lnTo>
                  <a:pt x="74083" y="46302"/>
                </a:lnTo>
                <a:lnTo>
                  <a:pt x="55562" y="46302"/>
                </a:lnTo>
                <a:close/>
                <a:moveTo>
                  <a:pt x="18521" y="9260"/>
                </a:moveTo>
                <a:cubicBezTo>
                  <a:pt x="8305" y="9260"/>
                  <a:pt x="0" y="17566"/>
                  <a:pt x="0" y="27781"/>
                </a:cubicBezTo>
                <a:lnTo>
                  <a:pt x="0" y="120385"/>
                </a:lnTo>
                <a:cubicBezTo>
                  <a:pt x="0" y="130601"/>
                  <a:pt x="8305" y="138906"/>
                  <a:pt x="18521" y="138906"/>
                </a:cubicBezTo>
                <a:lnTo>
                  <a:pt x="111125" y="138906"/>
                </a:lnTo>
                <a:cubicBezTo>
                  <a:pt x="121340" y="138906"/>
                  <a:pt x="129646" y="130601"/>
                  <a:pt x="129646" y="120385"/>
                </a:cubicBezTo>
                <a:lnTo>
                  <a:pt x="129646" y="27781"/>
                </a:lnTo>
                <a:cubicBezTo>
                  <a:pt x="129646" y="17566"/>
                  <a:pt x="121340" y="9260"/>
                  <a:pt x="111125" y="9260"/>
                </a:cubicBezTo>
                <a:lnTo>
                  <a:pt x="18521" y="9260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127125" y="6148917"/>
            <a:ext cx="1725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混淆矩阵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27125" y="6360583"/>
            <a:ext cx="17145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展示分类模型的详细预测结果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78417" y="6656917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18521" y="18521"/>
                </a:moveTo>
                <a:cubicBezTo>
                  <a:pt x="18521" y="13399"/>
                  <a:pt x="14383" y="9260"/>
                  <a:pt x="9260" y="9260"/>
                </a:cubicBezTo>
                <a:cubicBezTo>
                  <a:pt x="4138" y="9260"/>
                  <a:pt x="0" y="13399"/>
                  <a:pt x="0" y="18521"/>
                </a:cubicBezTo>
                <a:lnTo>
                  <a:pt x="0" y="115755"/>
                </a:lnTo>
                <a:cubicBezTo>
                  <a:pt x="0" y="128546"/>
                  <a:pt x="10360" y="138906"/>
                  <a:pt x="23151" y="138906"/>
                </a:cubicBezTo>
                <a:lnTo>
                  <a:pt x="138906" y="138906"/>
                </a:lnTo>
                <a:cubicBezTo>
                  <a:pt x="144028" y="138906"/>
                  <a:pt x="148167" y="134768"/>
                  <a:pt x="148167" y="129646"/>
                </a:cubicBezTo>
                <a:cubicBezTo>
                  <a:pt x="148167" y="124524"/>
                  <a:pt x="144028" y="120385"/>
                  <a:pt x="138906" y="120385"/>
                </a:cubicBezTo>
                <a:lnTo>
                  <a:pt x="23151" y="120385"/>
                </a:lnTo>
                <a:cubicBezTo>
                  <a:pt x="20604" y="120385"/>
                  <a:pt x="18521" y="118302"/>
                  <a:pt x="18521" y="115755"/>
                </a:cubicBezTo>
                <a:lnTo>
                  <a:pt x="18521" y="18521"/>
                </a:lnTo>
                <a:close/>
                <a:moveTo>
                  <a:pt x="136186" y="43582"/>
                </a:moveTo>
                <a:cubicBezTo>
                  <a:pt x="139803" y="39964"/>
                  <a:pt x="139803" y="34090"/>
                  <a:pt x="136186" y="30473"/>
                </a:cubicBezTo>
                <a:cubicBezTo>
                  <a:pt x="132569" y="26855"/>
                  <a:pt x="126694" y="26855"/>
                  <a:pt x="123077" y="30473"/>
                </a:cubicBezTo>
                <a:lnTo>
                  <a:pt x="92604" y="60974"/>
                </a:lnTo>
                <a:lnTo>
                  <a:pt x="75993" y="44392"/>
                </a:lnTo>
                <a:cubicBezTo>
                  <a:pt x="72376" y="40775"/>
                  <a:pt x="66501" y="40775"/>
                  <a:pt x="62884" y="44392"/>
                </a:cubicBezTo>
                <a:lnTo>
                  <a:pt x="35103" y="72173"/>
                </a:lnTo>
                <a:cubicBezTo>
                  <a:pt x="31485" y="75791"/>
                  <a:pt x="31485" y="81665"/>
                  <a:pt x="35103" y="85283"/>
                </a:cubicBezTo>
                <a:cubicBezTo>
                  <a:pt x="38720" y="88900"/>
                  <a:pt x="44595" y="88900"/>
                  <a:pt x="48212" y="85283"/>
                </a:cubicBezTo>
                <a:lnTo>
                  <a:pt x="69453" y="64042"/>
                </a:lnTo>
                <a:lnTo>
                  <a:pt x="86064" y="80652"/>
                </a:lnTo>
                <a:cubicBezTo>
                  <a:pt x="89681" y="84270"/>
                  <a:pt x="95556" y="84270"/>
                  <a:pt x="99173" y="80652"/>
                </a:cubicBezTo>
                <a:lnTo>
                  <a:pt x="136215" y="43611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127125" y="6614583"/>
            <a:ext cx="1852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ROC曲线与AUC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27125" y="6826250"/>
            <a:ext cx="18415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评估二分类模型性能的黄金标准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78417" y="7122583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138935" y="55562"/>
                </a:moveTo>
                <a:lnTo>
                  <a:pt x="141221" y="55562"/>
                </a:lnTo>
                <a:cubicBezTo>
                  <a:pt x="145070" y="55562"/>
                  <a:pt x="148167" y="52466"/>
                  <a:pt x="148167" y="48617"/>
                </a:cubicBezTo>
                <a:lnTo>
                  <a:pt x="148167" y="6945"/>
                </a:lnTo>
                <a:cubicBezTo>
                  <a:pt x="148167" y="4138"/>
                  <a:pt x="146488" y="1592"/>
                  <a:pt x="143884" y="521"/>
                </a:cubicBezTo>
                <a:cubicBezTo>
                  <a:pt x="141279" y="-550"/>
                  <a:pt x="138299" y="58"/>
                  <a:pt x="136302" y="2026"/>
                </a:cubicBezTo>
                <a:lnTo>
                  <a:pt x="121340" y="17016"/>
                </a:lnTo>
                <a:cubicBezTo>
                  <a:pt x="108521" y="6395"/>
                  <a:pt x="92025" y="0"/>
                  <a:pt x="74083" y="0"/>
                </a:cubicBezTo>
                <a:cubicBezTo>
                  <a:pt x="36752" y="0"/>
                  <a:pt x="5875" y="27608"/>
                  <a:pt x="752" y="63521"/>
                </a:cubicBezTo>
                <a:cubicBezTo>
                  <a:pt x="29" y="68585"/>
                  <a:pt x="3531" y="73273"/>
                  <a:pt x="8595" y="73997"/>
                </a:cubicBezTo>
                <a:cubicBezTo>
                  <a:pt x="13659" y="74720"/>
                  <a:pt x="18347" y="71189"/>
                  <a:pt x="19071" y="66154"/>
                </a:cubicBezTo>
                <a:cubicBezTo>
                  <a:pt x="22920" y="39212"/>
                  <a:pt x="46100" y="18521"/>
                  <a:pt x="74083" y="18521"/>
                </a:cubicBezTo>
                <a:cubicBezTo>
                  <a:pt x="86932" y="18521"/>
                  <a:pt x="98739" y="22862"/>
                  <a:pt x="108144" y="30183"/>
                </a:cubicBezTo>
                <a:lnTo>
                  <a:pt x="94630" y="43698"/>
                </a:lnTo>
                <a:cubicBezTo>
                  <a:pt x="92633" y="45694"/>
                  <a:pt x="92054" y="48675"/>
                  <a:pt x="93125" y="51280"/>
                </a:cubicBezTo>
                <a:cubicBezTo>
                  <a:pt x="94196" y="53884"/>
                  <a:pt x="96742" y="55562"/>
                  <a:pt x="99549" y="55562"/>
                </a:cubicBezTo>
                <a:lnTo>
                  <a:pt x="138935" y="55562"/>
                </a:lnTo>
                <a:close/>
                <a:moveTo>
                  <a:pt x="147443" y="84646"/>
                </a:moveTo>
                <a:cubicBezTo>
                  <a:pt x="148167" y="79582"/>
                  <a:pt x="144636" y="74894"/>
                  <a:pt x="139601" y="74170"/>
                </a:cubicBezTo>
                <a:cubicBezTo>
                  <a:pt x="134565" y="73447"/>
                  <a:pt x="129848" y="76977"/>
                  <a:pt x="129125" y="82013"/>
                </a:cubicBezTo>
                <a:cubicBezTo>
                  <a:pt x="125276" y="108926"/>
                  <a:pt x="102096" y="129617"/>
                  <a:pt x="74112" y="129617"/>
                </a:cubicBezTo>
                <a:cubicBezTo>
                  <a:pt x="61263" y="129617"/>
                  <a:pt x="49456" y="125276"/>
                  <a:pt x="40051" y="117955"/>
                </a:cubicBezTo>
                <a:lnTo>
                  <a:pt x="53537" y="104469"/>
                </a:lnTo>
                <a:cubicBezTo>
                  <a:pt x="55534" y="102472"/>
                  <a:pt x="56112" y="99492"/>
                  <a:pt x="55042" y="96887"/>
                </a:cubicBezTo>
                <a:cubicBezTo>
                  <a:pt x="53971" y="94283"/>
                  <a:pt x="51424" y="92604"/>
                  <a:pt x="48617" y="92604"/>
                </a:cubicBezTo>
                <a:lnTo>
                  <a:pt x="6945" y="92604"/>
                </a:lnTo>
                <a:cubicBezTo>
                  <a:pt x="3096" y="92604"/>
                  <a:pt x="0" y="95701"/>
                  <a:pt x="0" y="99549"/>
                </a:cubicBezTo>
                <a:lnTo>
                  <a:pt x="0" y="141221"/>
                </a:lnTo>
                <a:cubicBezTo>
                  <a:pt x="0" y="144028"/>
                  <a:pt x="1678" y="146575"/>
                  <a:pt x="4283" y="147646"/>
                </a:cubicBezTo>
                <a:cubicBezTo>
                  <a:pt x="6887" y="148717"/>
                  <a:pt x="9868" y="148109"/>
                  <a:pt x="11865" y="146141"/>
                </a:cubicBezTo>
                <a:lnTo>
                  <a:pt x="26855" y="131151"/>
                </a:lnTo>
                <a:cubicBezTo>
                  <a:pt x="39646" y="141771"/>
                  <a:pt x="56141" y="148167"/>
                  <a:pt x="74083" y="148167"/>
                </a:cubicBezTo>
                <a:cubicBezTo>
                  <a:pt x="111414" y="148167"/>
                  <a:pt x="142292" y="120559"/>
                  <a:pt x="147414" y="84646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127125" y="7080250"/>
            <a:ext cx="1809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交叉验证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27125" y="7291917"/>
            <a:ext cx="1799167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K折交叉验证、留一法交叉验证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196792" y="1148294"/>
            <a:ext cx="7588250" cy="6651623"/>
          </a:xfrm>
          <a:custGeom>
            <a:avLst/>
            <a:gdLst/>
            <a:ahLst/>
            <a:cxnLst/>
            <a:rect l="l" t="t" r="r" b="b"/>
            <a:pathLst>
              <a:path w="7588250" h="8244417">
                <a:moveTo>
                  <a:pt x="127027" y="0"/>
                </a:moveTo>
                <a:lnTo>
                  <a:pt x="7461223" y="0"/>
                </a:lnTo>
                <a:cubicBezTo>
                  <a:pt x="7531378" y="0"/>
                  <a:pt x="7588250" y="56872"/>
                  <a:pt x="7588250" y="127027"/>
                </a:cubicBezTo>
                <a:lnTo>
                  <a:pt x="7588250" y="8117389"/>
                </a:lnTo>
                <a:cubicBezTo>
                  <a:pt x="7588250" y="8187545"/>
                  <a:pt x="7531378" y="8244417"/>
                  <a:pt x="7461223" y="8244417"/>
                </a:cubicBezTo>
                <a:lnTo>
                  <a:pt x="127027" y="8244417"/>
                </a:lnTo>
                <a:cubicBezTo>
                  <a:pt x="56872" y="8244417"/>
                  <a:pt x="0" y="8187545"/>
                  <a:pt x="0" y="8117389"/>
                </a:cubicBezTo>
                <a:lnTo>
                  <a:pt x="0" y="127027"/>
                </a:lnTo>
                <a:cubicBezTo>
                  <a:pt x="0" y="56919"/>
                  <a:pt x="56919" y="0"/>
                  <a:pt x="127027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6ED3CF">
                  <a:alpha val="5000"/>
                </a:srgbClr>
              </a:gs>
            </a:gsLst>
            <a:lin ang="2700000" scaled="1"/>
          </a:gradFill>
          <a:ln w="12700">
            <a:solidFill>
              <a:srgbClr val="6ED3C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8456084" y="1407585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8604250" y="1555752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3229" y="26458"/>
                </a:moveTo>
                <a:cubicBezTo>
                  <a:pt x="5912" y="26458"/>
                  <a:pt x="0" y="32370"/>
                  <a:pt x="0" y="39688"/>
                </a:cubicBezTo>
                <a:cubicBezTo>
                  <a:pt x="0" y="47005"/>
                  <a:pt x="5912" y="52917"/>
                  <a:pt x="13229" y="52917"/>
                </a:cubicBezTo>
                <a:lnTo>
                  <a:pt x="49072" y="52917"/>
                </a:lnTo>
                <a:cubicBezTo>
                  <a:pt x="54157" y="64616"/>
                  <a:pt x="65815" y="72760"/>
                  <a:pt x="79375" y="72760"/>
                </a:cubicBezTo>
                <a:cubicBezTo>
                  <a:pt x="92935" y="72760"/>
                  <a:pt x="104593" y="64616"/>
                  <a:pt x="109678" y="52917"/>
                </a:cubicBezTo>
                <a:lnTo>
                  <a:pt x="198438" y="52917"/>
                </a:lnTo>
                <a:cubicBezTo>
                  <a:pt x="205755" y="52917"/>
                  <a:pt x="211667" y="47005"/>
                  <a:pt x="211667" y="39688"/>
                </a:cubicBezTo>
                <a:cubicBezTo>
                  <a:pt x="211667" y="32370"/>
                  <a:pt x="205755" y="26458"/>
                  <a:pt x="198438" y="26458"/>
                </a:cubicBezTo>
                <a:lnTo>
                  <a:pt x="109678" y="26458"/>
                </a:lnTo>
                <a:cubicBezTo>
                  <a:pt x="104593" y="14759"/>
                  <a:pt x="92935" y="6615"/>
                  <a:pt x="79375" y="6615"/>
                </a:cubicBezTo>
                <a:cubicBezTo>
                  <a:pt x="65815" y="6615"/>
                  <a:pt x="54157" y="14759"/>
                  <a:pt x="49072" y="26458"/>
                </a:cubicBezTo>
                <a:lnTo>
                  <a:pt x="13229" y="26458"/>
                </a:lnTo>
                <a:close/>
                <a:moveTo>
                  <a:pt x="13229" y="92604"/>
                </a:moveTo>
                <a:cubicBezTo>
                  <a:pt x="5912" y="92604"/>
                  <a:pt x="0" y="98516"/>
                  <a:pt x="0" y="105833"/>
                </a:cubicBezTo>
                <a:cubicBezTo>
                  <a:pt x="0" y="113151"/>
                  <a:pt x="5912" y="119063"/>
                  <a:pt x="13229" y="119063"/>
                </a:cubicBezTo>
                <a:lnTo>
                  <a:pt x="115218" y="119063"/>
                </a:lnTo>
                <a:cubicBezTo>
                  <a:pt x="120303" y="130762"/>
                  <a:pt x="131961" y="138906"/>
                  <a:pt x="145521" y="138906"/>
                </a:cubicBezTo>
                <a:cubicBezTo>
                  <a:pt x="159081" y="138906"/>
                  <a:pt x="170739" y="130762"/>
                  <a:pt x="175824" y="119063"/>
                </a:cubicBezTo>
                <a:lnTo>
                  <a:pt x="198438" y="119063"/>
                </a:lnTo>
                <a:cubicBezTo>
                  <a:pt x="205755" y="119063"/>
                  <a:pt x="211667" y="113151"/>
                  <a:pt x="211667" y="105833"/>
                </a:cubicBezTo>
                <a:cubicBezTo>
                  <a:pt x="211667" y="98516"/>
                  <a:pt x="205755" y="92604"/>
                  <a:pt x="198438" y="92604"/>
                </a:cubicBezTo>
                <a:lnTo>
                  <a:pt x="175824" y="92604"/>
                </a:lnTo>
                <a:cubicBezTo>
                  <a:pt x="170739" y="80905"/>
                  <a:pt x="159081" y="72760"/>
                  <a:pt x="145521" y="72760"/>
                </a:cubicBezTo>
                <a:cubicBezTo>
                  <a:pt x="131961" y="72760"/>
                  <a:pt x="120303" y="80905"/>
                  <a:pt x="115218" y="92604"/>
                </a:cubicBezTo>
                <a:lnTo>
                  <a:pt x="13229" y="92604"/>
                </a:lnTo>
                <a:close/>
                <a:moveTo>
                  <a:pt x="13229" y="158750"/>
                </a:moveTo>
                <a:cubicBezTo>
                  <a:pt x="5912" y="158750"/>
                  <a:pt x="0" y="164662"/>
                  <a:pt x="0" y="171979"/>
                </a:cubicBezTo>
                <a:cubicBezTo>
                  <a:pt x="0" y="179297"/>
                  <a:pt x="5912" y="185208"/>
                  <a:pt x="13229" y="185208"/>
                </a:cubicBezTo>
                <a:lnTo>
                  <a:pt x="35843" y="185208"/>
                </a:lnTo>
                <a:cubicBezTo>
                  <a:pt x="40928" y="196908"/>
                  <a:pt x="52586" y="205052"/>
                  <a:pt x="66146" y="205052"/>
                </a:cubicBezTo>
                <a:cubicBezTo>
                  <a:pt x="79706" y="205052"/>
                  <a:pt x="91364" y="196908"/>
                  <a:pt x="96449" y="185208"/>
                </a:cubicBezTo>
                <a:lnTo>
                  <a:pt x="198438" y="185208"/>
                </a:lnTo>
                <a:cubicBezTo>
                  <a:pt x="205755" y="185208"/>
                  <a:pt x="211667" y="179297"/>
                  <a:pt x="211667" y="171979"/>
                </a:cubicBezTo>
                <a:cubicBezTo>
                  <a:pt x="211667" y="164662"/>
                  <a:pt x="205755" y="158750"/>
                  <a:pt x="198438" y="158750"/>
                </a:cubicBezTo>
                <a:lnTo>
                  <a:pt x="96449" y="158750"/>
                </a:lnTo>
                <a:cubicBezTo>
                  <a:pt x="91364" y="147050"/>
                  <a:pt x="79706" y="138906"/>
                  <a:pt x="66146" y="138906"/>
                </a:cubicBezTo>
                <a:cubicBezTo>
                  <a:pt x="52586" y="138906"/>
                  <a:pt x="40928" y="147050"/>
                  <a:pt x="35843" y="158750"/>
                </a:cubicBezTo>
                <a:lnTo>
                  <a:pt x="13229" y="158750"/>
                </a:ln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9091084" y="1492252"/>
            <a:ext cx="1143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模型调优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4897696" y="1492252"/>
            <a:ext cx="624417" cy="338667"/>
          </a:xfrm>
          <a:custGeom>
            <a:avLst/>
            <a:gdLst/>
            <a:ahLst/>
            <a:cxnLst/>
            <a:rect l="l" t="t" r="r" b="b"/>
            <a:pathLst>
              <a:path w="624417" h="338667">
                <a:moveTo>
                  <a:pt x="169333" y="0"/>
                </a:moveTo>
                <a:lnTo>
                  <a:pt x="455083" y="0"/>
                </a:lnTo>
                <a:cubicBezTo>
                  <a:pt x="548604" y="0"/>
                  <a:pt x="624417" y="75813"/>
                  <a:pt x="624417" y="169333"/>
                </a:cubicBezTo>
                <a:lnTo>
                  <a:pt x="624417" y="169333"/>
                </a:lnTo>
                <a:cubicBezTo>
                  <a:pt x="624417" y="262854"/>
                  <a:pt x="548604" y="338667"/>
                  <a:pt x="45508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5024696" y="1592794"/>
            <a:ext cx="437555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Ch-09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456084" y="2084919"/>
            <a:ext cx="71543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通过优化超参数、防止过拟合等手段，提升模型的泛化能力。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456084" y="2529419"/>
            <a:ext cx="7069667" cy="2921000"/>
          </a:xfrm>
          <a:custGeom>
            <a:avLst/>
            <a:gdLst/>
            <a:ahLst/>
            <a:cxnLst/>
            <a:rect l="l" t="t" r="r" b="b"/>
            <a:pathLst>
              <a:path w="7069667" h="2921000">
                <a:moveTo>
                  <a:pt x="84680" y="0"/>
                </a:moveTo>
                <a:lnTo>
                  <a:pt x="6984987" y="0"/>
                </a:lnTo>
                <a:cubicBezTo>
                  <a:pt x="7031754" y="0"/>
                  <a:pt x="7069667" y="37912"/>
                  <a:pt x="7069667" y="84680"/>
                </a:cubicBezTo>
                <a:lnTo>
                  <a:pt x="7069667" y="2836320"/>
                </a:lnTo>
                <a:cubicBezTo>
                  <a:pt x="7069667" y="2883088"/>
                  <a:pt x="7031754" y="2921000"/>
                  <a:pt x="6984987" y="2921000"/>
                </a:cubicBezTo>
                <a:lnTo>
                  <a:pt x="84680" y="2921000"/>
                </a:lnTo>
                <a:cubicBezTo>
                  <a:pt x="37912" y="2921000"/>
                  <a:pt x="0" y="2883088"/>
                  <a:pt x="0" y="2836320"/>
                </a:cubicBezTo>
                <a:lnTo>
                  <a:pt x="0" y="84680"/>
                </a:lnTo>
                <a:cubicBezTo>
                  <a:pt x="0" y="37944"/>
                  <a:pt x="37944" y="0"/>
                  <a:pt x="8468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8625417" y="2698752"/>
            <a:ext cx="6815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超参数搜索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625417" y="3079752"/>
            <a:ext cx="6731000" cy="677333"/>
          </a:xfrm>
          <a:custGeom>
            <a:avLst/>
            <a:gdLst/>
            <a:ahLst/>
            <a:cxnLst/>
            <a:rect l="l" t="t" r="r" b="b"/>
            <a:pathLst>
              <a:path w="6731000" h="677333">
                <a:moveTo>
                  <a:pt x="84667" y="0"/>
                </a:moveTo>
                <a:lnTo>
                  <a:pt x="6646333" y="0"/>
                </a:lnTo>
                <a:cubicBezTo>
                  <a:pt x="6693093" y="0"/>
                  <a:pt x="6731000" y="37907"/>
                  <a:pt x="6731000" y="84667"/>
                </a:cubicBezTo>
                <a:lnTo>
                  <a:pt x="6731000" y="592667"/>
                </a:lnTo>
                <a:cubicBezTo>
                  <a:pt x="6731000" y="639427"/>
                  <a:pt x="6693093" y="677333"/>
                  <a:pt x="6646333" y="677333"/>
                </a:cubicBezTo>
                <a:lnTo>
                  <a:pt x="84667" y="677333"/>
                </a:lnTo>
                <a:cubicBezTo>
                  <a:pt x="37907" y="677333"/>
                  <a:pt x="0" y="639427"/>
                  <a:pt x="0" y="592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752417" y="3206752"/>
            <a:ext cx="6551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GridSearchCV 网格搜索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752417" y="3460752"/>
            <a:ext cx="65405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穷举所有参数组合，找到最优参数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625417" y="3841752"/>
            <a:ext cx="6731000" cy="677333"/>
          </a:xfrm>
          <a:custGeom>
            <a:avLst/>
            <a:gdLst/>
            <a:ahLst/>
            <a:cxnLst/>
            <a:rect l="l" t="t" r="r" b="b"/>
            <a:pathLst>
              <a:path w="6731000" h="677333">
                <a:moveTo>
                  <a:pt x="84667" y="0"/>
                </a:moveTo>
                <a:lnTo>
                  <a:pt x="6646333" y="0"/>
                </a:lnTo>
                <a:cubicBezTo>
                  <a:pt x="6693093" y="0"/>
                  <a:pt x="6731000" y="37907"/>
                  <a:pt x="6731000" y="84667"/>
                </a:cubicBezTo>
                <a:lnTo>
                  <a:pt x="6731000" y="592667"/>
                </a:lnTo>
                <a:cubicBezTo>
                  <a:pt x="6731000" y="639427"/>
                  <a:pt x="6693093" y="677333"/>
                  <a:pt x="6646333" y="677333"/>
                </a:cubicBezTo>
                <a:lnTo>
                  <a:pt x="84667" y="677333"/>
                </a:lnTo>
                <a:cubicBezTo>
                  <a:pt x="37907" y="677333"/>
                  <a:pt x="0" y="639427"/>
                  <a:pt x="0" y="592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8752417" y="3968752"/>
            <a:ext cx="6551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RandomizedSearchCV 随机搜索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752417" y="4222752"/>
            <a:ext cx="65405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在参数空间中随机采样，效率更高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625417" y="4603752"/>
            <a:ext cx="6731000" cy="677333"/>
          </a:xfrm>
          <a:custGeom>
            <a:avLst/>
            <a:gdLst/>
            <a:ahLst/>
            <a:cxnLst/>
            <a:rect l="l" t="t" r="r" b="b"/>
            <a:pathLst>
              <a:path w="6731000" h="677333">
                <a:moveTo>
                  <a:pt x="84667" y="0"/>
                </a:moveTo>
                <a:lnTo>
                  <a:pt x="6646333" y="0"/>
                </a:lnTo>
                <a:cubicBezTo>
                  <a:pt x="6693093" y="0"/>
                  <a:pt x="6731000" y="37907"/>
                  <a:pt x="6731000" y="84667"/>
                </a:cubicBezTo>
                <a:lnTo>
                  <a:pt x="6731000" y="592667"/>
                </a:lnTo>
                <a:cubicBezTo>
                  <a:pt x="6731000" y="639427"/>
                  <a:pt x="6693093" y="677333"/>
                  <a:pt x="6646333" y="677333"/>
                </a:cubicBezTo>
                <a:lnTo>
                  <a:pt x="84667" y="677333"/>
                </a:lnTo>
                <a:cubicBezTo>
                  <a:pt x="37907" y="677333"/>
                  <a:pt x="0" y="639427"/>
                  <a:pt x="0" y="592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8752417" y="4730752"/>
            <a:ext cx="6551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贝叶斯优化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752417" y="4984752"/>
            <a:ext cx="65405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基于历史评估结果构建概率模型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456084" y="5577419"/>
            <a:ext cx="7069667" cy="2032000"/>
          </a:xfrm>
          <a:custGeom>
            <a:avLst/>
            <a:gdLst/>
            <a:ahLst/>
            <a:cxnLst/>
            <a:rect l="l" t="t" r="r" b="b"/>
            <a:pathLst>
              <a:path w="7069667" h="2032000">
                <a:moveTo>
                  <a:pt x="84673" y="0"/>
                </a:moveTo>
                <a:lnTo>
                  <a:pt x="6984993" y="0"/>
                </a:lnTo>
                <a:cubicBezTo>
                  <a:pt x="7031757" y="0"/>
                  <a:pt x="7069667" y="37910"/>
                  <a:pt x="7069667" y="84673"/>
                </a:cubicBezTo>
                <a:lnTo>
                  <a:pt x="7069667" y="1947327"/>
                </a:lnTo>
                <a:cubicBezTo>
                  <a:pt x="7069667" y="1994090"/>
                  <a:pt x="7031757" y="2032000"/>
                  <a:pt x="6984993" y="2032000"/>
                </a:cubicBezTo>
                <a:lnTo>
                  <a:pt x="84673" y="2032000"/>
                </a:lnTo>
                <a:cubicBezTo>
                  <a:pt x="37910" y="2032000"/>
                  <a:pt x="0" y="1994090"/>
                  <a:pt x="0" y="1947327"/>
                </a:cubicBezTo>
                <a:lnTo>
                  <a:pt x="0" y="84673"/>
                </a:lnTo>
                <a:cubicBezTo>
                  <a:pt x="0" y="37910"/>
                  <a:pt x="37910" y="0"/>
                  <a:pt x="8467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8625417" y="5746752"/>
            <a:ext cx="6815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防止过拟合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646584" y="6170085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74083" y="0"/>
                </a:moveTo>
                <a:cubicBezTo>
                  <a:pt x="75415" y="0"/>
                  <a:pt x="76746" y="289"/>
                  <a:pt x="77961" y="839"/>
                </a:cubicBezTo>
                <a:lnTo>
                  <a:pt x="132482" y="23961"/>
                </a:lnTo>
                <a:cubicBezTo>
                  <a:pt x="138848" y="26653"/>
                  <a:pt x="143594" y="32932"/>
                  <a:pt x="143565" y="40514"/>
                </a:cubicBezTo>
                <a:cubicBezTo>
                  <a:pt x="143421" y="69222"/>
                  <a:pt x="131614" y="121746"/>
                  <a:pt x="81752" y="145620"/>
                </a:cubicBezTo>
                <a:cubicBezTo>
                  <a:pt x="76919" y="147935"/>
                  <a:pt x="71305" y="147935"/>
                  <a:pt x="66472" y="145620"/>
                </a:cubicBezTo>
                <a:cubicBezTo>
                  <a:pt x="16582" y="121746"/>
                  <a:pt x="4804" y="69222"/>
                  <a:pt x="4659" y="40514"/>
                </a:cubicBezTo>
                <a:cubicBezTo>
                  <a:pt x="4630" y="32932"/>
                  <a:pt x="9376" y="26653"/>
                  <a:pt x="15743" y="23961"/>
                </a:cubicBezTo>
                <a:lnTo>
                  <a:pt x="70234" y="839"/>
                </a:lnTo>
                <a:cubicBezTo>
                  <a:pt x="71450" y="289"/>
                  <a:pt x="72752" y="0"/>
                  <a:pt x="74083" y="0"/>
                </a:cubicBezTo>
                <a:close/>
                <a:moveTo>
                  <a:pt x="74083" y="19331"/>
                </a:moveTo>
                <a:lnTo>
                  <a:pt x="74083" y="128749"/>
                </a:lnTo>
                <a:cubicBezTo>
                  <a:pt x="114019" y="109418"/>
                  <a:pt x="124755" y="66588"/>
                  <a:pt x="125016" y="40948"/>
                </a:cubicBezTo>
                <a:lnTo>
                  <a:pt x="74083" y="19360"/>
                </a:lnTo>
                <a:lnTo>
                  <a:pt x="74083" y="19360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8895292" y="6127752"/>
            <a:ext cx="1471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正则化（L1/L2）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895292" y="6339419"/>
            <a:ext cx="14605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在损失函数中添加惩罚项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628063" y="6635752"/>
            <a:ext cx="185208" cy="148167"/>
          </a:xfrm>
          <a:custGeom>
            <a:avLst/>
            <a:gdLst/>
            <a:ahLst/>
            <a:cxnLst/>
            <a:rect l="l" t="t" r="r" b="b"/>
            <a:pathLst>
              <a:path w="185208" h="148167">
                <a:moveTo>
                  <a:pt x="111125" y="9260"/>
                </a:moveTo>
                <a:lnTo>
                  <a:pt x="148167" y="9260"/>
                </a:lnTo>
                <a:cubicBezTo>
                  <a:pt x="153289" y="9260"/>
                  <a:pt x="157427" y="13399"/>
                  <a:pt x="157427" y="18521"/>
                </a:cubicBezTo>
                <a:cubicBezTo>
                  <a:pt x="157427" y="23643"/>
                  <a:pt x="153289" y="27781"/>
                  <a:pt x="148167" y="27781"/>
                </a:cubicBezTo>
                <a:lnTo>
                  <a:pt x="115292" y="27781"/>
                </a:lnTo>
                <a:cubicBezTo>
                  <a:pt x="113787" y="35247"/>
                  <a:pt x="108665" y="41411"/>
                  <a:pt x="101865" y="44363"/>
                </a:cubicBezTo>
                <a:lnTo>
                  <a:pt x="101865" y="129646"/>
                </a:lnTo>
                <a:lnTo>
                  <a:pt x="148167" y="129646"/>
                </a:lnTo>
                <a:cubicBezTo>
                  <a:pt x="153289" y="129646"/>
                  <a:pt x="157427" y="133784"/>
                  <a:pt x="157427" y="138906"/>
                </a:cubicBezTo>
                <a:cubicBezTo>
                  <a:pt x="157427" y="144028"/>
                  <a:pt x="153289" y="148167"/>
                  <a:pt x="148167" y="148167"/>
                </a:cubicBezTo>
                <a:lnTo>
                  <a:pt x="37042" y="148167"/>
                </a:lnTo>
                <a:cubicBezTo>
                  <a:pt x="31919" y="148167"/>
                  <a:pt x="27781" y="144028"/>
                  <a:pt x="27781" y="138906"/>
                </a:cubicBezTo>
                <a:cubicBezTo>
                  <a:pt x="27781" y="133784"/>
                  <a:pt x="31919" y="129646"/>
                  <a:pt x="37042" y="129646"/>
                </a:cubicBezTo>
                <a:lnTo>
                  <a:pt x="83344" y="129646"/>
                </a:lnTo>
                <a:lnTo>
                  <a:pt x="83344" y="44363"/>
                </a:lnTo>
                <a:cubicBezTo>
                  <a:pt x="76543" y="41382"/>
                  <a:pt x="71421" y="35219"/>
                  <a:pt x="69916" y="27781"/>
                </a:cubicBezTo>
                <a:lnTo>
                  <a:pt x="37042" y="27781"/>
                </a:lnTo>
                <a:cubicBezTo>
                  <a:pt x="31919" y="27781"/>
                  <a:pt x="27781" y="23643"/>
                  <a:pt x="27781" y="18521"/>
                </a:cubicBezTo>
                <a:cubicBezTo>
                  <a:pt x="27781" y="13399"/>
                  <a:pt x="31919" y="9260"/>
                  <a:pt x="37042" y="9260"/>
                </a:cubicBezTo>
                <a:lnTo>
                  <a:pt x="74083" y="9260"/>
                </a:lnTo>
                <a:cubicBezTo>
                  <a:pt x="78308" y="3646"/>
                  <a:pt x="85022" y="0"/>
                  <a:pt x="92604" y="0"/>
                </a:cubicBezTo>
                <a:cubicBezTo>
                  <a:pt x="100186" y="0"/>
                  <a:pt x="106900" y="3646"/>
                  <a:pt x="111125" y="9260"/>
                </a:cubicBezTo>
                <a:close/>
                <a:moveTo>
                  <a:pt x="127215" y="92604"/>
                </a:moveTo>
                <a:lnTo>
                  <a:pt x="169118" y="92604"/>
                </a:lnTo>
                <a:lnTo>
                  <a:pt x="148167" y="56662"/>
                </a:lnTo>
                <a:lnTo>
                  <a:pt x="127215" y="92604"/>
                </a:lnTo>
                <a:close/>
                <a:moveTo>
                  <a:pt x="148167" y="120385"/>
                </a:moveTo>
                <a:cubicBezTo>
                  <a:pt x="129964" y="120385"/>
                  <a:pt x="114829" y="110546"/>
                  <a:pt x="111704" y="97553"/>
                </a:cubicBezTo>
                <a:cubicBezTo>
                  <a:pt x="110951" y="94369"/>
                  <a:pt x="111993" y="91099"/>
                  <a:pt x="113643" y="88263"/>
                </a:cubicBezTo>
                <a:lnTo>
                  <a:pt x="141192" y="41035"/>
                </a:lnTo>
                <a:cubicBezTo>
                  <a:pt x="142639" y="38546"/>
                  <a:pt x="145302" y="37042"/>
                  <a:pt x="148167" y="37042"/>
                </a:cubicBezTo>
                <a:cubicBezTo>
                  <a:pt x="151032" y="37042"/>
                  <a:pt x="153694" y="38575"/>
                  <a:pt x="155141" y="41035"/>
                </a:cubicBezTo>
                <a:lnTo>
                  <a:pt x="182691" y="88263"/>
                </a:lnTo>
                <a:cubicBezTo>
                  <a:pt x="184340" y="91099"/>
                  <a:pt x="185382" y="94369"/>
                  <a:pt x="184630" y="97553"/>
                </a:cubicBezTo>
                <a:cubicBezTo>
                  <a:pt x="181504" y="110517"/>
                  <a:pt x="166369" y="120385"/>
                  <a:pt x="148167" y="120385"/>
                </a:cubicBezTo>
                <a:close/>
                <a:moveTo>
                  <a:pt x="36694" y="56662"/>
                </a:moveTo>
                <a:lnTo>
                  <a:pt x="15743" y="92604"/>
                </a:lnTo>
                <a:lnTo>
                  <a:pt x="57675" y="92604"/>
                </a:lnTo>
                <a:lnTo>
                  <a:pt x="36694" y="56662"/>
                </a:lnTo>
                <a:close/>
                <a:moveTo>
                  <a:pt x="260" y="97553"/>
                </a:moveTo>
                <a:cubicBezTo>
                  <a:pt x="-492" y="94369"/>
                  <a:pt x="550" y="91099"/>
                  <a:pt x="2199" y="88263"/>
                </a:cubicBezTo>
                <a:lnTo>
                  <a:pt x="29749" y="41035"/>
                </a:lnTo>
                <a:cubicBezTo>
                  <a:pt x="31196" y="38546"/>
                  <a:pt x="33858" y="37042"/>
                  <a:pt x="36723" y="37042"/>
                </a:cubicBezTo>
                <a:cubicBezTo>
                  <a:pt x="39588" y="37042"/>
                  <a:pt x="42251" y="38575"/>
                  <a:pt x="43698" y="41035"/>
                </a:cubicBezTo>
                <a:lnTo>
                  <a:pt x="71247" y="88263"/>
                </a:lnTo>
                <a:cubicBezTo>
                  <a:pt x="72897" y="91099"/>
                  <a:pt x="73939" y="94369"/>
                  <a:pt x="73186" y="97553"/>
                </a:cubicBezTo>
                <a:cubicBezTo>
                  <a:pt x="70061" y="110517"/>
                  <a:pt x="54926" y="120385"/>
                  <a:pt x="36723" y="120385"/>
                </a:cubicBezTo>
                <a:cubicBezTo>
                  <a:pt x="18521" y="120385"/>
                  <a:pt x="3386" y="110546"/>
                  <a:pt x="260" y="97553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8895292" y="6593419"/>
            <a:ext cx="16510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样本不平衡处理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895292" y="6805085"/>
            <a:ext cx="1640417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SMOTE算法、类别权重调整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646584" y="7101419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136389" y="1939"/>
                </a:moveTo>
                <a:cubicBezTo>
                  <a:pt x="138241" y="174"/>
                  <a:pt x="140932" y="-463"/>
                  <a:pt x="143421" y="347"/>
                </a:cubicBezTo>
                <a:cubicBezTo>
                  <a:pt x="146257" y="1302"/>
                  <a:pt x="148167" y="3965"/>
                  <a:pt x="148167" y="6945"/>
                </a:cubicBezTo>
                <a:lnTo>
                  <a:pt x="148167" y="61032"/>
                </a:lnTo>
                <a:cubicBezTo>
                  <a:pt x="148167" y="99000"/>
                  <a:pt x="116884" y="129646"/>
                  <a:pt x="79061" y="129646"/>
                </a:cubicBezTo>
                <a:cubicBezTo>
                  <a:pt x="56778" y="129646"/>
                  <a:pt x="37563" y="115321"/>
                  <a:pt x="30588" y="95295"/>
                </a:cubicBezTo>
                <a:cubicBezTo>
                  <a:pt x="20344" y="104209"/>
                  <a:pt x="13891" y="117318"/>
                  <a:pt x="13891" y="131961"/>
                </a:cubicBezTo>
                <a:cubicBezTo>
                  <a:pt x="13891" y="135810"/>
                  <a:pt x="10794" y="138906"/>
                  <a:pt x="6945" y="138906"/>
                </a:cubicBezTo>
                <a:cubicBezTo>
                  <a:pt x="3096" y="138906"/>
                  <a:pt x="0" y="135810"/>
                  <a:pt x="0" y="131961"/>
                </a:cubicBezTo>
                <a:cubicBezTo>
                  <a:pt x="0" y="110286"/>
                  <a:pt x="11055" y="91186"/>
                  <a:pt x="27810" y="79958"/>
                </a:cubicBezTo>
                <a:cubicBezTo>
                  <a:pt x="38026" y="73128"/>
                  <a:pt x="50209" y="69453"/>
                  <a:pt x="62508" y="69453"/>
                </a:cubicBezTo>
                <a:lnTo>
                  <a:pt x="85659" y="69453"/>
                </a:lnTo>
                <a:cubicBezTo>
                  <a:pt x="89508" y="69453"/>
                  <a:pt x="92604" y="66357"/>
                  <a:pt x="92604" y="62508"/>
                </a:cubicBezTo>
                <a:cubicBezTo>
                  <a:pt x="92604" y="58659"/>
                  <a:pt x="89508" y="55562"/>
                  <a:pt x="85659" y="55562"/>
                </a:cubicBezTo>
                <a:lnTo>
                  <a:pt x="62508" y="55562"/>
                </a:lnTo>
                <a:cubicBezTo>
                  <a:pt x="51019" y="55562"/>
                  <a:pt x="40138" y="58109"/>
                  <a:pt x="30386" y="62653"/>
                </a:cubicBezTo>
                <a:cubicBezTo>
                  <a:pt x="37128" y="42395"/>
                  <a:pt x="56199" y="27781"/>
                  <a:pt x="78714" y="27781"/>
                </a:cubicBezTo>
                <a:cubicBezTo>
                  <a:pt x="97929" y="27781"/>
                  <a:pt x="112225" y="21386"/>
                  <a:pt x="121746" y="15048"/>
                </a:cubicBezTo>
                <a:cubicBezTo>
                  <a:pt x="127302" y="11344"/>
                  <a:pt x="132019" y="6916"/>
                  <a:pt x="136418" y="1939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8895292" y="7059085"/>
            <a:ext cx="1979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Early Stopping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895292" y="7270752"/>
            <a:ext cx="19685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在验证集性能下降时提前停止训练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444500" y="7936964"/>
            <a:ext cx="7598833" cy="994833"/>
          </a:xfrm>
          <a:custGeom>
            <a:avLst/>
            <a:gdLst/>
            <a:ahLst/>
            <a:cxnLst/>
            <a:rect l="l" t="t" r="r" b="b"/>
            <a:pathLst>
              <a:path w="7598833" h="994833">
                <a:moveTo>
                  <a:pt x="42333" y="0"/>
                </a:moveTo>
                <a:lnTo>
                  <a:pt x="7514163" y="0"/>
                </a:lnTo>
                <a:cubicBezTo>
                  <a:pt x="7560925" y="0"/>
                  <a:pt x="7598833" y="37908"/>
                  <a:pt x="7598833" y="84670"/>
                </a:cubicBezTo>
                <a:lnTo>
                  <a:pt x="7598833" y="910163"/>
                </a:lnTo>
                <a:cubicBezTo>
                  <a:pt x="7598833" y="956925"/>
                  <a:pt x="7560925" y="994833"/>
                  <a:pt x="7514163" y="994833"/>
                </a:cubicBezTo>
                <a:lnTo>
                  <a:pt x="42333" y="994833"/>
                </a:lnTo>
                <a:cubicBezTo>
                  <a:pt x="18953" y="994833"/>
                  <a:pt x="0" y="975880"/>
                  <a:pt x="0" y="952500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Shape 66"/>
          <p:cNvSpPr/>
          <p:nvPr/>
        </p:nvSpPr>
        <p:spPr>
          <a:xfrm>
            <a:off x="444500" y="7936964"/>
            <a:ext cx="42333" cy="994833"/>
          </a:xfrm>
          <a:custGeom>
            <a:avLst/>
            <a:gdLst/>
            <a:ahLst/>
            <a:cxnLst/>
            <a:rect l="l" t="t" r="r" b="b"/>
            <a:pathLst>
              <a:path w="42333" h="994833">
                <a:moveTo>
                  <a:pt x="42333" y="0"/>
                </a:moveTo>
                <a:lnTo>
                  <a:pt x="42333" y="0"/>
                </a:lnTo>
                <a:lnTo>
                  <a:pt x="42333" y="994833"/>
                </a:lnTo>
                <a:lnTo>
                  <a:pt x="42333" y="994833"/>
                </a:lnTo>
                <a:cubicBezTo>
                  <a:pt x="18953" y="994833"/>
                  <a:pt x="0" y="975880"/>
                  <a:pt x="0" y="9525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67"/>
          <p:cNvSpPr/>
          <p:nvPr/>
        </p:nvSpPr>
        <p:spPr>
          <a:xfrm>
            <a:off x="656167" y="8169798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0"/>
                </a:moveTo>
                <a:cubicBezTo>
                  <a:pt x="89528" y="0"/>
                  <a:pt x="93993" y="2679"/>
                  <a:pt x="96308" y="6945"/>
                </a:cubicBezTo>
                <a:lnTo>
                  <a:pt x="167746" y="139237"/>
                </a:lnTo>
                <a:cubicBezTo>
                  <a:pt x="169962" y="143338"/>
                  <a:pt x="169863" y="148299"/>
                  <a:pt x="167481" y="152301"/>
                </a:cubicBezTo>
                <a:cubicBezTo>
                  <a:pt x="165100" y="156303"/>
                  <a:pt x="160767" y="158750"/>
                  <a:pt x="156104" y="158750"/>
                </a:cubicBezTo>
                <a:lnTo>
                  <a:pt x="13229" y="158750"/>
                </a:lnTo>
                <a:cubicBezTo>
                  <a:pt x="8566" y="158750"/>
                  <a:pt x="4266" y="156303"/>
                  <a:pt x="1852" y="152301"/>
                </a:cubicBezTo>
                <a:cubicBezTo>
                  <a:pt x="-562" y="148299"/>
                  <a:pt x="-628" y="143338"/>
                  <a:pt x="1588" y="139237"/>
                </a:cubicBezTo>
                <a:lnTo>
                  <a:pt x="73025" y="6945"/>
                </a:lnTo>
                <a:cubicBezTo>
                  <a:pt x="75340" y="2679"/>
                  <a:pt x="79805" y="0"/>
                  <a:pt x="84667" y="0"/>
                </a:cubicBezTo>
                <a:close/>
                <a:moveTo>
                  <a:pt x="84667" y="55563"/>
                </a:moveTo>
                <a:cubicBezTo>
                  <a:pt x="80268" y="55563"/>
                  <a:pt x="76729" y="59101"/>
                  <a:pt x="76729" y="63500"/>
                </a:cubicBezTo>
                <a:lnTo>
                  <a:pt x="76729" y="100542"/>
                </a:lnTo>
                <a:cubicBezTo>
                  <a:pt x="76729" y="104940"/>
                  <a:pt x="80268" y="108479"/>
                  <a:pt x="84667" y="108479"/>
                </a:cubicBezTo>
                <a:cubicBezTo>
                  <a:pt x="89065" y="108479"/>
                  <a:pt x="92604" y="104940"/>
                  <a:pt x="92604" y="100542"/>
                </a:cubicBezTo>
                <a:lnTo>
                  <a:pt x="92604" y="63500"/>
                </a:lnTo>
                <a:cubicBezTo>
                  <a:pt x="92604" y="59101"/>
                  <a:pt x="89065" y="55563"/>
                  <a:pt x="84667" y="55563"/>
                </a:cubicBezTo>
                <a:close/>
                <a:moveTo>
                  <a:pt x="93497" y="127000"/>
                </a:moveTo>
                <a:cubicBezTo>
                  <a:pt x="93698" y="123722"/>
                  <a:pt x="92063" y="120604"/>
                  <a:pt x="89254" y="118904"/>
                </a:cubicBezTo>
                <a:cubicBezTo>
                  <a:pt x="86444" y="117204"/>
                  <a:pt x="82923" y="117204"/>
                  <a:pt x="80113" y="118904"/>
                </a:cubicBezTo>
                <a:cubicBezTo>
                  <a:pt x="77303" y="120604"/>
                  <a:pt x="75668" y="123722"/>
                  <a:pt x="75869" y="127000"/>
                </a:cubicBezTo>
                <a:cubicBezTo>
                  <a:pt x="75668" y="130278"/>
                  <a:pt x="77303" y="133396"/>
                  <a:pt x="80113" y="135096"/>
                </a:cubicBezTo>
                <a:cubicBezTo>
                  <a:pt x="82923" y="136796"/>
                  <a:pt x="86444" y="136796"/>
                  <a:pt x="89254" y="135096"/>
                </a:cubicBezTo>
                <a:cubicBezTo>
                  <a:pt x="92063" y="133396"/>
                  <a:pt x="93698" y="130278"/>
                  <a:pt x="93497" y="12700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/>
          <p:nvPr/>
        </p:nvSpPr>
        <p:spPr>
          <a:xfrm>
            <a:off x="931333" y="8106298"/>
            <a:ext cx="1238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避免数据泄露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35000" y="8487298"/>
            <a:ext cx="7323667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在划分数据集后再进行特征工程，确保</a:t>
            </a: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测试集信息不泄露到训练过程</a:t>
            </a: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中。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233833" y="7936964"/>
            <a:ext cx="7598833" cy="994833"/>
          </a:xfrm>
          <a:custGeom>
            <a:avLst/>
            <a:gdLst/>
            <a:ahLst/>
            <a:cxnLst/>
            <a:rect l="l" t="t" r="r" b="b"/>
            <a:pathLst>
              <a:path w="7598833" h="994833">
                <a:moveTo>
                  <a:pt x="42333" y="0"/>
                </a:moveTo>
                <a:lnTo>
                  <a:pt x="7514163" y="0"/>
                </a:lnTo>
                <a:cubicBezTo>
                  <a:pt x="7560925" y="0"/>
                  <a:pt x="7598833" y="37908"/>
                  <a:pt x="7598833" y="84670"/>
                </a:cubicBezTo>
                <a:lnTo>
                  <a:pt x="7598833" y="910163"/>
                </a:lnTo>
                <a:cubicBezTo>
                  <a:pt x="7598833" y="956925"/>
                  <a:pt x="7560925" y="994833"/>
                  <a:pt x="7514163" y="994833"/>
                </a:cubicBezTo>
                <a:lnTo>
                  <a:pt x="42333" y="994833"/>
                </a:lnTo>
                <a:cubicBezTo>
                  <a:pt x="18953" y="994833"/>
                  <a:pt x="0" y="975880"/>
                  <a:pt x="0" y="952500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3" name="Shape 71"/>
          <p:cNvSpPr/>
          <p:nvPr/>
        </p:nvSpPr>
        <p:spPr>
          <a:xfrm>
            <a:off x="8233833" y="7936964"/>
            <a:ext cx="42333" cy="994833"/>
          </a:xfrm>
          <a:custGeom>
            <a:avLst/>
            <a:gdLst/>
            <a:ahLst/>
            <a:cxnLst/>
            <a:rect l="l" t="t" r="r" b="b"/>
            <a:pathLst>
              <a:path w="42333" h="994833">
                <a:moveTo>
                  <a:pt x="42333" y="0"/>
                </a:moveTo>
                <a:lnTo>
                  <a:pt x="42333" y="0"/>
                </a:lnTo>
                <a:lnTo>
                  <a:pt x="42333" y="994833"/>
                </a:lnTo>
                <a:lnTo>
                  <a:pt x="42333" y="994833"/>
                </a:lnTo>
                <a:cubicBezTo>
                  <a:pt x="18953" y="994833"/>
                  <a:pt x="0" y="975880"/>
                  <a:pt x="0" y="9525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4" name="Shape 72"/>
          <p:cNvSpPr/>
          <p:nvPr/>
        </p:nvSpPr>
        <p:spPr>
          <a:xfrm>
            <a:off x="8445500" y="8169798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58783" y="63500"/>
                </a:moveTo>
                <a:lnTo>
                  <a:pt x="161396" y="63500"/>
                </a:lnTo>
                <a:cubicBezTo>
                  <a:pt x="165795" y="63500"/>
                  <a:pt x="169333" y="59961"/>
                  <a:pt x="169333" y="55563"/>
                </a:cubicBezTo>
                <a:lnTo>
                  <a:pt x="169333" y="7938"/>
                </a:lnTo>
                <a:cubicBezTo>
                  <a:pt x="169333" y="4729"/>
                  <a:pt x="167415" y="1819"/>
                  <a:pt x="164439" y="595"/>
                </a:cubicBezTo>
                <a:cubicBezTo>
                  <a:pt x="161462" y="-628"/>
                  <a:pt x="158055" y="66"/>
                  <a:pt x="155773" y="2315"/>
                </a:cubicBezTo>
                <a:lnTo>
                  <a:pt x="138675" y="19447"/>
                </a:lnTo>
                <a:cubicBezTo>
                  <a:pt x="124023" y="7309"/>
                  <a:pt x="105172" y="0"/>
                  <a:pt x="84667" y="0"/>
                </a:cubicBezTo>
                <a:cubicBezTo>
                  <a:pt x="42003" y="0"/>
                  <a:pt x="6714" y="31552"/>
                  <a:pt x="860" y="72595"/>
                </a:cubicBezTo>
                <a:cubicBezTo>
                  <a:pt x="33" y="78383"/>
                  <a:pt x="4035" y="83741"/>
                  <a:pt x="9823" y="84567"/>
                </a:cubicBezTo>
                <a:cubicBezTo>
                  <a:pt x="15610" y="85394"/>
                  <a:pt x="20968" y="81359"/>
                  <a:pt x="21795" y="75605"/>
                </a:cubicBezTo>
                <a:cubicBezTo>
                  <a:pt x="26194" y="44814"/>
                  <a:pt x="52685" y="21167"/>
                  <a:pt x="84667" y="21167"/>
                </a:cubicBezTo>
                <a:cubicBezTo>
                  <a:pt x="99351" y="21167"/>
                  <a:pt x="112845" y="26128"/>
                  <a:pt x="123593" y="34495"/>
                </a:cubicBezTo>
                <a:lnTo>
                  <a:pt x="108148" y="49940"/>
                </a:lnTo>
                <a:cubicBezTo>
                  <a:pt x="105866" y="52222"/>
                  <a:pt x="105205" y="55629"/>
                  <a:pt x="106429" y="58605"/>
                </a:cubicBezTo>
                <a:cubicBezTo>
                  <a:pt x="107652" y="61582"/>
                  <a:pt x="110563" y="63500"/>
                  <a:pt x="113771" y="63500"/>
                </a:cubicBezTo>
                <a:lnTo>
                  <a:pt x="158783" y="63500"/>
                </a:lnTo>
                <a:close/>
                <a:moveTo>
                  <a:pt x="168507" y="96738"/>
                </a:moveTo>
                <a:cubicBezTo>
                  <a:pt x="169333" y="90951"/>
                  <a:pt x="165298" y="85593"/>
                  <a:pt x="159544" y="84766"/>
                </a:cubicBezTo>
                <a:cubicBezTo>
                  <a:pt x="153789" y="83939"/>
                  <a:pt x="148398" y="87974"/>
                  <a:pt x="147571" y="93729"/>
                </a:cubicBezTo>
                <a:cubicBezTo>
                  <a:pt x="143173" y="124486"/>
                  <a:pt x="116681" y="148134"/>
                  <a:pt x="84700" y="148134"/>
                </a:cubicBezTo>
                <a:cubicBezTo>
                  <a:pt x="70015" y="148134"/>
                  <a:pt x="56522" y="143173"/>
                  <a:pt x="45773" y="134805"/>
                </a:cubicBezTo>
                <a:lnTo>
                  <a:pt x="61185" y="119393"/>
                </a:lnTo>
                <a:cubicBezTo>
                  <a:pt x="63467" y="117111"/>
                  <a:pt x="64128" y="113705"/>
                  <a:pt x="62905" y="110728"/>
                </a:cubicBezTo>
                <a:cubicBezTo>
                  <a:pt x="61681" y="107752"/>
                  <a:pt x="58771" y="105833"/>
                  <a:pt x="55563" y="105833"/>
                </a:cubicBezTo>
                <a:lnTo>
                  <a:pt x="7938" y="105833"/>
                </a:lnTo>
                <a:cubicBezTo>
                  <a:pt x="3539" y="105833"/>
                  <a:pt x="0" y="109372"/>
                  <a:pt x="0" y="113771"/>
                </a:cubicBezTo>
                <a:lnTo>
                  <a:pt x="0" y="161396"/>
                </a:lnTo>
                <a:cubicBezTo>
                  <a:pt x="0" y="164604"/>
                  <a:pt x="1918" y="167514"/>
                  <a:pt x="4895" y="168738"/>
                </a:cubicBezTo>
                <a:cubicBezTo>
                  <a:pt x="7871" y="169962"/>
                  <a:pt x="11278" y="169267"/>
                  <a:pt x="13560" y="167018"/>
                </a:cubicBezTo>
                <a:lnTo>
                  <a:pt x="30692" y="149886"/>
                </a:lnTo>
                <a:cubicBezTo>
                  <a:pt x="45310" y="162024"/>
                  <a:pt x="64161" y="169333"/>
                  <a:pt x="84667" y="169333"/>
                </a:cubicBezTo>
                <a:cubicBezTo>
                  <a:pt x="127331" y="169333"/>
                  <a:pt x="162620" y="137782"/>
                  <a:pt x="168473" y="96738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5" name="Text 73"/>
          <p:cNvSpPr/>
          <p:nvPr/>
        </p:nvSpPr>
        <p:spPr>
          <a:xfrm>
            <a:off x="8720667" y="8106298"/>
            <a:ext cx="857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迭代优化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8424333" y="8487298"/>
            <a:ext cx="7323667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模型评估与调优是</a:t>
            </a: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迭代循环</a:t>
            </a: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的过程，需要反复尝试直至达到满意性能。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428625"/>
            <a:ext cx="1703917" cy="349250"/>
          </a:xfrm>
          <a:custGeom>
            <a:avLst/>
            <a:gdLst/>
            <a:ahLst/>
            <a:cxnLst/>
            <a:rect l="l" t="t" r="r" b="b"/>
            <a:pathLst>
              <a:path w="1703917" h="349250">
                <a:moveTo>
                  <a:pt x="42333" y="0"/>
                </a:moveTo>
                <a:lnTo>
                  <a:pt x="1661584" y="0"/>
                </a:lnTo>
                <a:cubicBezTo>
                  <a:pt x="1684964" y="0"/>
                  <a:pt x="1703917" y="18953"/>
                  <a:pt x="1703917" y="42333"/>
                </a:cubicBezTo>
                <a:lnTo>
                  <a:pt x="1703917" y="306917"/>
                </a:lnTo>
                <a:cubicBezTo>
                  <a:pt x="1703917" y="330297"/>
                  <a:pt x="1684964" y="349250"/>
                  <a:pt x="1661584" y="349250"/>
                </a:cubicBezTo>
                <a:lnTo>
                  <a:pt x="42333" y="349250"/>
                </a:lnTo>
                <a:cubicBezTo>
                  <a:pt x="18953" y="349250"/>
                  <a:pt x="0" y="330297"/>
                  <a:pt x="0" y="30691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 w="12700">
            <a:solidFill>
              <a:srgbClr val="5F87A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60917" y="492125"/>
            <a:ext cx="1519949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kern="0" spc="67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CODE PRACTICE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333" y="867833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代码实战：逻辑回归完整示例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1375833"/>
            <a:ext cx="1549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对应Ch-03监督学习基础算法的完整实现流程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8625" y="1846793"/>
            <a:ext cx="9154583" cy="6044606"/>
          </a:xfrm>
          <a:custGeom>
            <a:avLst/>
            <a:gdLst/>
            <a:ahLst/>
            <a:cxnLst/>
            <a:rect l="l" t="t" r="r" b="b"/>
            <a:pathLst>
              <a:path w="9154583" h="9958917">
                <a:moveTo>
                  <a:pt x="126974" y="0"/>
                </a:moveTo>
                <a:lnTo>
                  <a:pt x="9027609" y="0"/>
                </a:lnTo>
                <a:cubicBezTo>
                  <a:pt x="9097735" y="0"/>
                  <a:pt x="9154583" y="56848"/>
                  <a:pt x="9154583" y="126974"/>
                </a:cubicBezTo>
                <a:lnTo>
                  <a:pt x="9154583" y="9831943"/>
                </a:lnTo>
                <a:cubicBezTo>
                  <a:pt x="9154583" y="9902068"/>
                  <a:pt x="9097735" y="9958917"/>
                  <a:pt x="9027609" y="9958917"/>
                </a:cubicBezTo>
                <a:lnTo>
                  <a:pt x="126974" y="9958917"/>
                </a:lnTo>
                <a:cubicBezTo>
                  <a:pt x="56848" y="9958917"/>
                  <a:pt x="0" y="9902068"/>
                  <a:pt x="0" y="9831943"/>
                </a:cubicBezTo>
                <a:lnTo>
                  <a:pt x="0" y="126974"/>
                </a:lnTo>
                <a:cubicBezTo>
                  <a:pt x="0" y="56895"/>
                  <a:pt x="56895" y="0"/>
                  <a:pt x="126974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58813" y="2106083"/>
            <a:ext cx="238125" cy="211667"/>
          </a:xfrm>
          <a:custGeom>
            <a:avLst/>
            <a:gdLst/>
            <a:ahLst/>
            <a:cxnLst/>
            <a:rect l="l" t="t" r="r" b="b"/>
            <a:pathLst>
              <a:path w="238125" h="211667">
                <a:moveTo>
                  <a:pt x="149159" y="496"/>
                </a:moveTo>
                <a:cubicBezTo>
                  <a:pt x="142131" y="-1530"/>
                  <a:pt x="134813" y="2563"/>
                  <a:pt x="132788" y="9591"/>
                </a:cubicBezTo>
                <a:lnTo>
                  <a:pt x="79871" y="194799"/>
                </a:lnTo>
                <a:cubicBezTo>
                  <a:pt x="77845" y="201827"/>
                  <a:pt x="81938" y="209145"/>
                  <a:pt x="88966" y="211171"/>
                </a:cubicBezTo>
                <a:cubicBezTo>
                  <a:pt x="95994" y="213196"/>
                  <a:pt x="103312" y="209104"/>
                  <a:pt x="105337" y="202076"/>
                </a:cubicBezTo>
                <a:lnTo>
                  <a:pt x="158254" y="16867"/>
                </a:lnTo>
                <a:cubicBezTo>
                  <a:pt x="160280" y="9839"/>
                  <a:pt x="156187" y="2522"/>
                  <a:pt x="149159" y="496"/>
                </a:cubicBezTo>
                <a:close/>
                <a:moveTo>
                  <a:pt x="175865" y="56761"/>
                </a:moveTo>
                <a:cubicBezTo>
                  <a:pt x="170698" y="61929"/>
                  <a:pt x="170698" y="70321"/>
                  <a:pt x="175865" y="75489"/>
                </a:cubicBezTo>
                <a:lnTo>
                  <a:pt x="206210" y="105833"/>
                </a:lnTo>
                <a:lnTo>
                  <a:pt x="175865" y="136178"/>
                </a:lnTo>
                <a:cubicBezTo>
                  <a:pt x="170698" y="141345"/>
                  <a:pt x="170698" y="149738"/>
                  <a:pt x="175865" y="154905"/>
                </a:cubicBezTo>
                <a:cubicBezTo>
                  <a:pt x="181033" y="160073"/>
                  <a:pt x="189425" y="160073"/>
                  <a:pt x="194593" y="154905"/>
                </a:cubicBezTo>
                <a:lnTo>
                  <a:pt x="234280" y="115218"/>
                </a:lnTo>
                <a:cubicBezTo>
                  <a:pt x="239448" y="110050"/>
                  <a:pt x="239448" y="101658"/>
                  <a:pt x="234280" y="96490"/>
                </a:cubicBezTo>
                <a:lnTo>
                  <a:pt x="194593" y="56803"/>
                </a:lnTo>
                <a:cubicBezTo>
                  <a:pt x="189425" y="51635"/>
                  <a:pt x="181033" y="51635"/>
                  <a:pt x="175865" y="56803"/>
                </a:cubicBezTo>
                <a:close/>
                <a:moveTo>
                  <a:pt x="62301" y="56761"/>
                </a:moveTo>
                <a:cubicBezTo>
                  <a:pt x="57133" y="51594"/>
                  <a:pt x="48741" y="51594"/>
                  <a:pt x="43574" y="56761"/>
                </a:cubicBezTo>
                <a:lnTo>
                  <a:pt x="3886" y="96449"/>
                </a:lnTo>
                <a:cubicBezTo>
                  <a:pt x="-1282" y="101617"/>
                  <a:pt x="-1282" y="110009"/>
                  <a:pt x="3886" y="115176"/>
                </a:cubicBezTo>
                <a:lnTo>
                  <a:pt x="43574" y="154864"/>
                </a:lnTo>
                <a:cubicBezTo>
                  <a:pt x="48741" y="160032"/>
                  <a:pt x="57133" y="160032"/>
                  <a:pt x="62301" y="154864"/>
                </a:cubicBezTo>
                <a:cubicBezTo>
                  <a:pt x="67469" y="149696"/>
                  <a:pt x="67469" y="141304"/>
                  <a:pt x="62301" y="136136"/>
                </a:cubicBezTo>
                <a:lnTo>
                  <a:pt x="31957" y="105833"/>
                </a:lnTo>
                <a:lnTo>
                  <a:pt x="62260" y="75489"/>
                </a:lnTo>
                <a:cubicBezTo>
                  <a:pt x="67427" y="70321"/>
                  <a:pt x="67427" y="61929"/>
                  <a:pt x="62260" y="56761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10167" y="2063750"/>
            <a:ext cx="85619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完整代码实现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5583" y="2487082"/>
            <a:ext cx="8720667" cy="3666599"/>
          </a:xfrm>
          <a:custGeom>
            <a:avLst/>
            <a:gdLst/>
            <a:ahLst/>
            <a:cxnLst/>
            <a:rect l="l" t="t" r="r" b="b"/>
            <a:pathLst>
              <a:path w="8720667" h="9525000">
                <a:moveTo>
                  <a:pt x="84678" y="0"/>
                </a:moveTo>
                <a:lnTo>
                  <a:pt x="8635989" y="0"/>
                </a:lnTo>
                <a:cubicBezTo>
                  <a:pt x="8682755" y="0"/>
                  <a:pt x="8720667" y="37911"/>
                  <a:pt x="8720667" y="84678"/>
                </a:cubicBezTo>
                <a:lnTo>
                  <a:pt x="8720667" y="9440322"/>
                </a:lnTo>
                <a:cubicBezTo>
                  <a:pt x="8720667" y="9487089"/>
                  <a:pt x="8682755" y="9525000"/>
                  <a:pt x="8635989" y="9525000"/>
                </a:cubicBezTo>
                <a:lnTo>
                  <a:pt x="84678" y="9525000"/>
                </a:lnTo>
                <a:cubicBezTo>
                  <a:pt x="37911" y="9525000"/>
                  <a:pt x="0" y="9487089"/>
                  <a:pt x="0" y="9440322"/>
                </a:cubicBezTo>
                <a:lnTo>
                  <a:pt x="0" y="84678"/>
                </a:lnTo>
                <a:cubicBezTo>
                  <a:pt x="0" y="37943"/>
                  <a:pt x="37943" y="0"/>
                  <a:pt x="84678" y="0"/>
                </a:cubicBezTo>
                <a:close/>
              </a:path>
            </a:pathLst>
          </a:custGeom>
          <a:solidFill>
            <a:srgbClr val="1A1D24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14917" y="2656418"/>
            <a:ext cx="8456083" cy="3451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67" dirty="0">
                <a:solidFill>
                  <a:srgbClr val="6ED3CF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 1. 导入必要的库</a:t>
            </a:r>
            <a:r>
              <a:rPr lang="en-US" sz="1167" dirty="0">
                <a:solidFill>
                  <a:srgbClr val="5F87A7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from</a:t>
            </a: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 sklearn.model_selection </a:t>
            </a:r>
            <a:r>
              <a:rPr lang="en-US" sz="1167" dirty="0">
                <a:solidFill>
                  <a:srgbClr val="5F87A7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import</a:t>
            </a: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 train_test_split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167" dirty="0">
                <a:solidFill>
                  <a:srgbClr val="5F87A7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from</a:t>
            </a: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 sklearn.linear_model </a:t>
            </a:r>
            <a:r>
              <a:rPr lang="en-US" sz="1167" dirty="0">
                <a:solidFill>
                  <a:srgbClr val="5F87A7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import</a:t>
            </a: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 LogisticRegression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167" dirty="0">
                <a:solidFill>
                  <a:srgbClr val="5F87A7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from</a:t>
            </a: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 sklearn.metrics </a:t>
            </a:r>
            <a:r>
              <a:rPr lang="en-US" sz="1167" dirty="0">
                <a:solidFill>
                  <a:srgbClr val="5F87A7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import</a:t>
            </a: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 accuracy_score, classification_report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167" dirty="0">
                <a:solidFill>
                  <a:srgbClr val="5F87A7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import</a:t>
            </a: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 numpy </a:t>
            </a:r>
            <a:r>
              <a:rPr lang="en-US" sz="1167" dirty="0">
                <a:solidFill>
                  <a:srgbClr val="5F87A7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as</a:t>
            </a: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 np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167" dirty="0">
                <a:solidFill>
                  <a:srgbClr val="6ED3CF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 2. 准备数据</a:t>
            </a:r>
            <a:r>
              <a:rPr lang="en-US" sz="1167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 生成1000个样本，每个样本10个特征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X = np.random.rand(1000, 10)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y = np.random.randint(0, 2, 1000)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167" dirty="0">
                <a:solidFill>
                  <a:srgbClr val="6ED3CF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 3. 数据划分</a:t>
            </a:r>
            <a:r>
              <a:rPr lang="en-US" sz="1167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 将数据分为训练集(80%)和测试集(20%)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X_train, X_test, y_train, y_test = train_test_split(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    X, y, test_size=0.2, random_state=42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167" dirty="0">
                <a:solidFill>
                  <a:srgbClr val="6ED3CF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 4. 模型训练</a:t>
            </a:r>
            <a:r>
              <a:rPr lang="en-US" sz="1167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 创建逻辑回归模型并拟合训练数据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model = LogisticRegression()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model.fit(X_train, y_train)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167" dirty="0">
                <a:solidFill>
                  <a:srgbClr val="6ED3CF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 5. 模型预测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predictions = model.predict(X_test)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167" dirty="0">
                <a:solidFill>
                  <a:srgbClr val="6ED3CF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 6. 模型评估</a:t>
            </a:r>
            <a:r>
              <a:rPr lang="en-US" sz="1167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 输出分类报告</a:t>
            </a:r>
            <a:r>
              <a:rPr lang="en-US" sz="1167" dirty="0">
                <a:solidFill>
                  <a:srgbClr val="5F87A7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print</a:t>
            </a: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("Accuracy:", accuracy_score(y_test, predictions))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167" dirty="0">
                <a:solidFill>
                  <a:srgbClr val="5F87A7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print</a:t>
            </a: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(classification_report(y_test, predictions))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752542" y="1881724"/>
            <a:ext cx="6021917" cy="2418291"/>
          </a:xfrm>
          <a:custGeom>
            <a:avLst/>
            <a:gdLst/>
            <a:ahLst/>
            <a:cxnLst/>
            <a:rect l="l" t="t" r="r" b="b"/>
            <a:pathLst>
              <a:path w="6021917" h="3471333">
                <a:moveTo>
                  <a:pt x="127016" y="0"/>
                </a:moveTo>
                <a:lnTo>
                  <a:pt x="5894901" y="0"/>
                </a:lnTo>
                <a:cubicBezTo>
                  <a:pt x="5965050" y="0"/>
                  <a:pt x="6021917" y="56867"/>
                  <a:pt x="6021917" y="127016"/>
                </a:cubicBezTo>
                <a:lnTo>
                  <a:pt x="6021917" y="3344317"/>
                </a:lnTo>
                <a:cubicBezTo>
                  <a:pt x="6021917" y="3414466"/>
                  <a:pt x="5965050" y="3471333"/>
                  <a:pt x="5894901" y="3471333"/>
                </a:cubicBezTo>
                <a:lnTo>
                  <a:pt x="127016" y="3471333"/>
                </a:lnTo>
                <a:cubicBezTo>
                  <a:pt x="56867" y="3471333"/>
                  <a:pt x="0" y="3414466"/>
                  <a:pt x="0" y="3344317"/>
                </a:cubicBezTo>
                <a:lnTo>
                  <a:pt x="0" y="127016"/>
                </a:lnTo>
                <a:cubicBezTo>
                  <a:pt x="0" y="56914"/>
                  <a:pt x="56914" y="0"/>
                  <a:pt x="127016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6ED3CF">
                  <a:alpha val="5000"/>
                </a:srgbClr>
              </a:gs>
            </a:gsLst>
            <a:lin ang="2700000" scaled="1"/>
          </a:gradFill>
          <a:ln w="12700">
            <a:solidFill>
              <a:srgbClr val="6ED3C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9995959" y="2141015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3886" y="49031"/>
                </a:moveTo>
                <a:cubicBezTo>
                  <a:pt x="-1282" y="43863"/>
                  <a:pt x="-1282" y="35471"/>
                  <a:pt x="3886" y="30303"/>
                </a:cubicBezTo>
                <a:cubicBezTo>
                  <a:pt x="9054" y="25135"/>
                  <a:pt x="17446" y="25135"/>
                  <a:pt x="22614" y="30303"/>
                </a:cubicBezTo>
                <a:lnTo>
                  <a:pt x="88759" y="96449"/>
                </a:lnTo>
                <a:cubicBezTo>
                  <a:pt x="93927" y="101617"/>
                  <a:pt x="93927" y="110009"/>
                  <a:pt x="88759" y="115176"/>
                </a:cubicBezTo>
                <a:lnTo>
                  <a:pt x="22614" y="181322"/>
                </a:lnTo>
                <a:cubicBezTo>
                  <a:pt x="17446" y="186490"/>
                  <a:pt x="9054" y="186490"/>
                  <a:pt x="3886" y="181322"/>
                </a:cubicBezTo>
                <a:cubicBezTo>
                  <a:pt x="-1282" y="176155"/>
                  <a:pt x="-1282" y="167762"/>
                  <a:pt x="3886" y="162595"/>
                </a:cubicBezTo>
                <a:lnTo>
                  <a:pt x="60647" y="105833"/>
                </a:lnTo>
                <a:lnTo>
                  <a:pt x="3886" y="49031"/>
                </a:lnTo>
                <a:close/>
                <a:moveTo>
                  <a:pt x="92604" y="158750"/>
                </a:moveTo>
                <a:lnTo>
                  <a:pt x="198438" y="158750"/>
                </a:lnTo>
                <a:cubicBezTo>
                  <a:pt x="205755" y="158750"/>
                  <a:pt x="211667" y="164662"/>
                  <a:pt x="211667" y="171979"/>
                </a:cubicBezTo>
                <a:cubicBezTo>
                  <a:pt x="211667" y="179297"/>
                  <a:pt x="205755" y="185208"/>
                  <a:pt x="198438" y="185208"/>
                </a:cubicBezTo>
                <a:lnTo>
                  <a:pt x="92604" y="185208"/>
                </a:lnTo>
                <a:cubicBezTo>
                  <a:pt x="85287" y="185208"/>
                  <a:pt x="79375" y="179297"/>
                  <a:pt x="79375" y="171979"/>
                </a:cubicBezTo>
                <a:cubicBezTo>
                  <a:pt x="79375" y="164662"/>
                  <a:pt x="85287" y="158750"/>
                  <a:pt x="92604" y="15875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234084" y="2098682"/>
            <a:ext cx="5429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运行结果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969500" y="2522016"/>
            <a:ext cx="5588000" cy="1657816"/>
          </a:xfrm>
          <a:custGeom>
            <a:avLst/>
            <a:gdLst/>
            <a:ahLst/>
            <a:cxnLst/>
            <a:rect l="l" t="t" r="r" b="b"/>
            <a:pathLst>
              <a:path w="5588000" h="2614083">
                <a:moveTo>
                  <a:pt x="84670" y="0"/>
                </a:moveTo>
                <a:lnTo>
                  <a:pt x="5503330" y="0"/>
                </a:lnTo>
                <a:cubicBezTo>
                  <a:pt x="5550092" y="0"/>
                  <a:pt x="5588000" y="37908"/>
                  <a:pt x="5588000" y="84670"/>
                </a:cubicBezTo>
                <a:lnTo>
                  <a:pt x="5588000" y="2529413"/>
                </a:lnTo>
                <a:cubicBezTo>
                  <a:pt x="5588000" y="2576175"/>
                  <a:pt x="5550092" y="2614083"/>
                  <a:pt x="5503330" y="2614083"/>
                </a:cubicBezTo>
                <a:lnTo>
                  <a:pt x="84670" y="2614083"/>
                </a:lnTo>
                <a:cubicBezTo>
                  <a:pt x="37908" y="2614083"/>
                  <a:pt x="0" y="2576175"/>
                  <a:pt x="0" y="2529413"/>
                </a:cubicBezTo>
                <a:lnTo>
                  <a:pt x="0" y="84670"/>
                </a:lnTo>
                <a:cubicBezTo>
                  <a:pt x="0" y="37939"/>
                  <a:pt x="37939" y="0"/>
                  <a:pt x="84670" y="0"/>
                </a:cubicBezTo>
                <a:close/>
              </a:path>
            </a:pathLst>
          </a:custGeom>
          <a:solidFill>
            <a:srgbClr val="1A1D24">
              <a:alpha val="8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0138834" y="2691349"/>
            <a:ext cx="5312833" cy="1423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Accuracy: 0.75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Classification Report: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              precision    recall  f1-score   support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           0       0.77      0.73      0.75       102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           1       0.73      0.77      0.75        98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    accuracy                           0.75       200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   macro avg       0.75      0.75      0.75       200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weighted avg       0.75      0.75      0.75       200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752542" y="4370390"/>
            <a:ext cx="6021917" cy="3524250"/>
          </a:xfrm>
          <a:custGeom>
            <a:avLst/>
            <a:gdLst/>
            <a:ahLst/>
            <a:cxnLst/>
            <a:rect l="l" t="t" r="r" b="b"/>
            <a:pathLst>
              <a:path w="6021917" h="3524250">
                <a:moveTo>
                  <a:pt x="127014" y="0"/>
                </a:moveTo>
                <a:lnTo>
                  <a:pt x="5894903" y="0"/>
                </a:lnTo>
                <a:cubicBezTo>
                  <a:pt x="5965051" y="0"/>
                  <a:pt x="6021917" y="56866"/>
                  <a:pt x="6021917" y="127014"/>
                </a:cubicBezTo>
                <a:lnTo>
                  <a:pt x="6021917" y="3397236"/>
                </a:lnTo>
                <a:cubicBezTo>
                  <a:pt x="6021917" y="3467384"/>
                  <a:pt x="5965051" y="3524250"/>
                  <a:pt x="5894903" y="3524250"/>
                </a:cubicBezTo>
                <a:lnTo>
                  <a:pt x="127014" y="3524250"/>
                </a:lnTo>
                <a:cubicBezTo>
                  <a:pt x="56866" y="3524250"/>
                  <a:pt x="0" y="3467384"/>
                  <a:pt x="0" y="3397236"/>
                </a:cubicBezTo>
                <a:lnTo>
                  <a:pt x="0" y="127014"/>
                </a:lnTo>
                <a:cubicBezTo>
                  <a:pt x="0" y="56913"/>
                  <a:pt x="56913" y="0"/>
                  <a:pt x="127014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9995959" y="4629682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0" y="29766"/>
                </a:moveTo>
                <a:cubicBezTo>
                  <a:pt x="0" y="24309"/>
                  <a:pt x="4424" y="19844"/>
                  <a:pt x="9922" y="19844"/>
                </a:cubicBezTo>
                <a:lnTo>
                  <a:pt x="29766" y="19844"/>
                </a:lnTo>
                <a:cubicBezTo>
                  <a:pt x="35264" y="19844"/>
                  <a:pt x="39688" y="24267"/>
                  <a:pt x="39688" y="29766"/>
                </a:cubicBezTo>
                <a:lnTo>
                  <a:pt x="39688" y="72760"/>
                </a:lnTo>
                <a:lnTo>
                  <a:pt x="49609" y="72760"/>
                </a:lnTo>
                <a:cubicBezTo>
                  <a:pt x="55108" y="72760"/>
                  <a:pt x="59531" y="77184"/>
                  <a:pt x="59531" y="82682"/>
                </a:cubicBezTo>
                <a:cubicBezTo>
                  <a:pt x="59531" y="88181"/>
                  <a:pt x="55108" y="92604"/>
                  <a:pt x="49609" y="92604"/>
                </a:cubicBezTo>
                <a:lnTo>
                  <a:pt x="9922" y="92604"/>
                </a:lnTo>
                <a:cubicBezTo>
                  <a:pt x="4424" y="92604"/>
                  <a:pt x="0" y="88181"/>
                  <a:pt x="0" y="82682"/>
                </a:cubicBezTo>
                <a:cubicBezTo>
                  <a:pt x="0" y="77184"/>
                  <a:pt x="4424" y="72760"/>
                  <a:pt x="9922" y="72760"/>
                </a:cubicBezTo>
                <a:lnTo>
                  <a:pt x="19844" y="72760"/>
                </a:lnTo>
                <a:lnTo>
                  <a:pt x="19844" y="39688"/>
                </a:lnTo>
                <a:lnTo>
                  <a:pt x="9922" y="39688"/>
                </a:lnTo>
                <a:cubicBezTo>
                  <a:pt x="4424" y="39688"/>
                  <a:pt x="0" y="35264"/>
                  <a:pt x="0" y="29766"/>
                </a:cubicBezTo>
                <a:close/>
                <a:moveTo>
                  <a:pt x="12568" y="124520"/>
                </a:moveTo>
                <a:cubicBezTo>
                  <a:pt x="17281" y="120964"/>
                  <a:pt x="23027" y="119063"/>
                  <a:pt x="28939" y="119063"/>
                </a:cubicBezTo>
                <a:lnTo>
                  <a:pt x="30965" y="119063"/>
                </a:lnTo>
                <a:cubicBezTo>
                  <a:pt x="44896" y="119063"/>
                  <a:pt x="56224" y="130390"/>
                  <a:pt x="56224" y="144322"/>
                </a:cubicBezTo>
                <a:cubicBezTo>
                  <a:pt x="56224" y="152425"/>
                  <a:pt x="52338" y="159990"/>
                  <a:pt x="45806" y="164744"/>
                </a:cubicBezTo>
                <a:lnTo>
                  <a:pt x="35884" y="171979"/>
                </a:lnTo>
                <a:lnTo>
                  <a:pt x="49609" y="171979"/>
                </a:lnTo>
                <a:cubicBezTo>
                  <a:pt x="55108" y="171979"/>
                  <a:pt x="59531" y="176403"/>
                  <a:pt x="59531" y="181901"/>
                </a:cubicBezTo>
                <a:cubicBezTo>
                  <a:pt x="59531" y="187399"/>
                  <a:pt x="55108" y="191823"/>
                  <a:pt x="49609" y="191823"/>
                </a:cubicBezTo>
                <a:lnTo>
                  <a:pt x="12113" y="191823"/>
                </a:lnTo>
                <a:cubicBezTo>
                  <a:pt x="5416" y="191823"/>
                  <a:pt x="0" y="186407"/>
                  <a:pt x="0" y="179710"/>
                </a:cubicBezTo>
                <a:cubicBezTo>
                  <a:pt x="0" y="175824"/>
                  <a:pt x="1860" y="172186"/>
                  <a:pt x="5002" y="169912"/>
                </a:cubicBezTo>
                <a:lnTo>
                  <a:pt x="34148" y="148704"/>
                </a:lnTo>
                <a:cubicBezTo>
                  <a:pt x="35553" y="147671"/>
                  <a:pt x="36380" y="146058"/>
                  <a:pt x="36380" y="144322"/>
                </a:cubicBezTo>
                <a:cubicBezTo>
                  <a:pt x="36380" y="141345"/>
                  <a:pt x="33941" y="138906"/>
                  <a:pt x="30965" y="138906"/>
                </a:cubicBezTo>
                <a:lnTo>
                  <a:pt x="28939" y="138906"/>
                </a:lnTo>
                <a:cubicBezTo>
                  <a:pt x="27326" y="138906"/>
                  <a:pt x="25756" y="139444"/>
                  <a:pt x="24474" y="140395"/>
                </a:cubicBezTo>
                <a:lnTo>
                  <a:pt x="15875" y="146844"/>
                </a:lnTo>
                <a:cubicBezTo>
                  <a:pt x="11493" y="150151"/>
                  <a:pt x="5292" y="149242"/>
                  <a:pt x="1984" y="144859"/>
                </a:cubicBezTo>
                <a:cubicBezTo>
                  <a:pt x="-1323" y="140477"/>
                  <a:pt x="-413" y="134276"/>
                  <a:pt x="3969" y="130969"/>
                </a:cubicBezTo>
                <a:lnTo>
                  <a:pt x="12568" y="124520"/>
                </a:lnTo>
                <a:close/>
                <a:moveTo>
                  <a:pt x="92604" y="26458"/>
                </a:moveTo>
                <a:lnTo>
                  <a:pt x="198438" y="26458"/>
                </a:lnTo>
                <a:cubicBezTo>
                  <a:pt x="205755" y="26458"/>
                  <a:pt x="211667" y="32370"/>
                  <a:pt x="211667" y="39688"/>
                </a:cubicBezTo>
                <a:cubicBezTo>
                  <a:pt x="211667" y="47005"/>
                  <a:pt x="205755" y="52917"/>
                  <a:pt x="198438" y="52917"/>
                </a:cubicBezTo>
                <a:lnTo>
                  <a:pt x="92604" y="52917"/>
                </a:lnTo>
                <a:cubicBezTo>
                  <a:pt x="85287" y="52917"/>
                  <a:pt x="79375" y="47005"/>
                  <a:pt x="79375" y="39688"/>
                </a:cubicBezTo>
                <a:cubicBezTo>
                  <a:pt x="79375" y="32370"/>
                  <a:pt x="85287" y="26458"/>
                  <a:pt x="92604" y="26458"/>
                </a:cubicBezTo>
                <a:close/>
                <a:moveTo>
                  <a:pt x="92604" y="92604"/>
                </a:moveTo>
                <a:lnTo>
                  <a:pt x="198438" y="92604"/>
                </a:lnTo>
                <a:cubicBezTo>
                  <a:pt x="205755" y="92604"/>
                  <a:pt x="211667" y="98516"/>
                  <a:pt x="211667" y="105833"/>
                </a:cubicBezTo>
                <a:cubicBezTo>
                  <a:pt x="211667" y="113151"/>
                  <a:pt x="205755" y="119063"/>
                  <a:pt x="198438" y="119063"/>
                </a:cubicBezTo>
                <a:lnTo>
                  <a:pt x="92604" y="119063"/>
                </a:lnTo>
                <a:cubicBezTo>
                  <a:pt x="85287" y="119063"/>
                  <a:pt x="79375" y="113151"/>
                  <a:pt x="79375" y="105833"/>
                </a:cubicBezTo>
                <a:cubicBezTo>
                  <a:pt x="79375" y="98516"/>
                  <a:pt x="85287" y="92604"/>
                  <a:pt x="92604" y="92604"/>
                </a:cubicBezTo>
                <a:close/>
                <a:moveTo>
                  <a:pt x="92604" y="158750"/>
                </a:moveTo>
                <a:lnTo>
                  <a:pt x="198438" y="158750"/>
                </a:lnTo>
                <a:cubicBezTo>
                  <a:pt x="205755" y="158750"/>
                  <a:pt x="211667" y="164662"/>
                  <a:pt x="211667" y="171979"/>
                </a:cubicBezTo>
                <a:cubicBezTo>
                  <a:pt x="211667" y="179297"/>
                  <a:pt x="205755" y="185208"/>
                  <a:pt x="198438" y="185208"/>
                </a:cubicBezTo>
                <a:lnTo>
                  <a:pt x="92604" y="185208"/>
                </a:lnTo>
                <a:cubicBezTo>
                  <a:pt x="85287" y="185208"/>
                  <a:pt x="79375" y="179297"/>
                  <a:pt x="79375" y="171979"/>
                </a:cubicBezTo>
                <a:cubicBezTo>
                  <a:pt x="79375" y="164662"/>
                  <a:pt x="85287" y="158750"/>
                  <a:pt x="92604" y="15875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0234084" y="4587348"/>
            <a:ext cx="5429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关键步骤说明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969500" y="5010682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0071530" y="5053015"/>
            <a:ext cx="116417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308167" y="5010682"/>
            <a:ext cx="234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导入库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308167" y="5264682"/>
            <a:ext cx="2338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导入sklearn中的模型、评估指标等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969500" y="556101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0060781" y="5603348"/>
            <a:ext cx="1375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308167" y="5561015"/>
            <a:ext cx="1883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准备数据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308167" y="5815015"/>
            <a:ext cx="1873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生成特征矩阵X和标签向量y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969500" y="611134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0059128" y="6153682"/>
            <a:ext cx="1375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308167" y="6111348"/>
            <a:ext cx="2402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数据划分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308167" y="6365348"/>
            <a:ext cx="26077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train_test_split</a:t>
            </a: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划分训练集和测试集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969500" y="6661682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0059210" y="6704015"/>
            <a:ext cx="1375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308167" y="6661682"/>
            <a:ext cx="2243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模型训练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308167" y="6915682"/>
            <a:ext cx="2402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创建模型实例并调用fit()方法训练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969500" y="721201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0058549" y="7254348"/>
            <a:ext cx="1375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308167" y="7212015"/>
            <a:ext cx="21695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模型评估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308167" y="7466015"/>
            <a:ext cx="21590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使用accuracy_score等指标评估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28625" y="8047506"/>
            <a:ext cx="5037667" cy="846667"/>
          </a:xfrm>
          <a:custGeom>
            <a:avLst/>
            <a:gdLst/>
            <a:ahLst/>
            <a:cxnLst/>
            <a:rect l="l" t="t" r="r" b="b"/>
            <a:pathLst>
              <a:path w="5037667" h="846667">
                <a:moveTo>
                  <a:pt x="84667" y="0"/>
                </a:moveTo>
                <a:lnTo>
                  <a:pt x="4953000" y="0"/>
                </a:lnTo>
                <a:cubicBezTo>
                  <a:pt x="4999760" y="0"/>
                  <a:pt x="5037667" y="37907"/>
                  <a:pt x="5037667" y="84667"/>
                </a:cubicBezTo>
                <a:lnTo>
                  <a:pt x="5037667" y="762000"/>
                </a:lnTo>
                <a:cubicBezTo>
                  <a:pt x="5037667" y="808760"/>
                  <a:pt x="4999760" y="846667"/>
                  <a:pt x="4953000" y="846667"/>
                </a:cubicBezTo>
                <a:lnTo>
                  <a:pt x="84667" y="846667"/>
                </a:lnTo>
                <a:cubicBezTo>
                  <a:pt x="37907" y="846667"/>
                  <a:pt x="0" y="808760"/>
                  <a:pt x="0" y="762000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603250" y="8222131"/>
            <a:ext cx="127000" cy="169333"/>
          </a:xfrm>
          <a:custGeom>
            <a:avLst/>
            <a:gdLst/>
            <a:ahLst/>
            <a:cxnLst/>
            <a:rect l="l" t="t" r="r" b="b"/>
            <a:pathLst>
              <a:path w="127000" h="169333">
                <a:moveTo>
                  <a:pt x="96871" y="127000"/>
                </a:moveTo>
                <a:cubicBezTo>
                  <a:pt x="99285" y="119625"/>
                  <a:pt x="104114" y="112944"/>
                  <a:pt x="109571" y="107189"/>
                </a:cubicBezTo>
                <a:cubicBezTo>
                  <a:pt x="120385" y="95812"/>
                  <a:pt x="127000" y="80433"/>
                  <a:pt x="127000" y="63500"/>
                </a:cubicBezTo>
                <a:cubicBezTo>
                  <a:pt x="127000" y="28443"/>
                  <a:pt x="98557" y="0"/>
                  <a:pt x="63500" y="0"/>
                </a:cubicBezTo>
                <a:cubicBezTo>
                  <a:pt x="28443" y="0"/>
                  <a:pt x="0" y="28443"/>
                  <a:pt x="0" y="63500"/>
                </a:cubicBezTo>
                <a:cubicBezTo>
                  <a:pt x="0" y="80433"/>
                  <a:pt x="6615" y="95812"/>
                  <a:pt x="17429" y="107189"/>
                </a:cubicBezTo>
                <a:cubicBezTo>
                  <a:pt x="22886" y="112944"/>
                  <a:pt x="27748" y="119625"/>
                  <a:pt x="30129" y="127000"/>
                </a:cubicBezTo>
                <a:lnTo>
                  <a:pt x="96838" y="127000"/>
                </a:lnTo>
                <a:close/>
                <a:moveTo>
                  <a:pt x="95250" y="142875"/>
                </a:moveTo>
                <a:lnTo>
                  <a:pt x="31750" y="142875"/>
                </a:lnTo>
                <a:lnTo>
                  <a:pt x="31750" y="148167"/>
                </a:lnTo>
                <a:cubicBezTo>
                  <a:pt x="31750" y="162785"/>
                  <a:pt x="43590" y="174625"/>
                  <a:pt x="58208" y="174625"/>
                </a:cubicBezTo>
                <a:lnTo>
                  <a:pt x="68792" y="174625"/>
                </a:lnTo>
                <a:cubicBezTo>
                  <a:pt x="83410" y="174625"/>
                  <a:pt x="95250" y="162785"/>
                  <a:pt x="95250" y="148167"/>
                </a:cubicBezTo>
                <a:lnTo>
                  <a:pt x="95250" y="142875"/>
                </a:lnTo>
                <a:close/>
                <a:moveTo>
                  <a:pt x="60854" y="37042"/>
                </a:moveTo>
                <a:cubicBezTo>
                  <a:pt x="47691" y="37042"/>
                  <a:pt x="37042" y="47691"/>
                  <a:pt x="37042" y="60854"/>
                </a:cubicBezTo>
                <a:cubicBezTo>
                  <a:pt x="37042" y="65253"/>
                  <a:pt x="33503" y="68792"/>
                  <a:pt x="29104" y="68792"/>
                </a:cubicBezTo>
                <a:cubicBezTo>
                  <a:pt x="24705" y="68792"/>
                  <a:pt x="21167" y="65253"/>
                  <a:pt x="21167" y="60854"/>
                </a:cubicBezTo>
                <a:cubicBezTo>
                  <a:pt x="21167" y="38927"/>
                  <a:pt x="38927" y="21167"/>
                  <a:pt x="60854" y="21167"/>
                </a:cubicBezTo>
                <a:cubicBezTo>
                  <a:pt x="65253" y="21167"/>
                  <a:pt x="68792" y="24705"/>
                  <a:pt x="68792" y="29104"/>
                </a:cubicBezTo>
                <a:cubicBezTo>
                  <a:pt x="68792" y="33503"/>
                  <a:pt x="65253" y="37042"/>
                  <a:pt x="60854" y="37042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57250" y="8179797"/>
            <a:ext cx="1100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逻辑回归特点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60917" y="8518464"/>
            <a:ext cx="484716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经典的</a:t>
            </a: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线性分类器</a:t>
            </a: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，输出概率，可解释性强。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607348" y="8047506"/>
            <a:ext cx="5037667" cy="846667"/>
          </a:xfrm>
          <a:custGeom>
            <a:avLst/>
            <a:gdLst/>
            <a:ahLst/>
            <a:cxnLst/>
            <a:rect l="l" t="t" r="r" b="b"/>
            <a:pathLst>
              <a:path w="5037667" h="846667">
                <a:moveTo>
                  <a:pt x="84667" y="0"/>
                </a:moveTo>
                <a:lnTo>
                  <a:pt x="4953000" y="0"/>
                </a:lnTo>
                <a:cubicBezTo>
                  <a:pt x="4999760" y="0"/>
                  <a:pt x="5037667" y="37907"/>
                  <a:pt x="5037667" y="84667"/>
                </a:cubicBezTo>
                <a:lnTo>
                  <a:pt x="5037667" y="762000"/>
                </a:lnTo>
                <a:cubicBezTo>
                  <a:pt x="5037667" y="808760"/>
                  <a:pt x="4999760" y="846667"/>
                  <a:pt x="4953000" y="846667"/>
                </a:cubicBezTo>
                <a:lnTo>
                  <a:pt x="84667" y="846667"/>
                </a:lnTo>
                <a:cubicBezTo>
                  <a:pt x="37907" y="846667"/>
                  <a:pt x="0" y="808760"/>
                  <a:pt x="0" y="762000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6ED3CF">
                  <a:alpha val="5000"/>
                </a:srgbClr>
              </a:gs>
            </a:gsLst>
            <a:lin ang="2700000" scaled="1"/>
          </a:gradFill>
          <a:ln w="12700">
            <a:solidFill>
              <a:srgbClr val="6ED3C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5739639" y="8222131"/>
            <a:ext cx="211667" cy="169333"/>
          </a:xfrm>
          <a:custGeom>
            <a:avLst/>
            <a:gdLst/>
            <a:ahLst/>
            <a:cxnLst/>
            <a:rect l="l" t="t" r="r" b="b"/>
            <a:pathLst>
              <a:path w="211667" h="169333">
                <a:moveTo>
                  <a:pt x="137550" y="69618"/>
                </a:moveTo>
                <a:cubicBezTo>
                  <a:pt x="141585" y="68527"/>
                  <a:pt x="145818" y="70445"/>
                  <a:pt x="147637" y="74183"/>
                </a:cubicBezTo>
                <a:lnTo>
                  <a:pt x="153789" y="86618"/>
                </a:lnTo>
                <a:cubicBezTo>
                  <a:pt x="157196" y="87081"/>
                  <a:pt x="160536" y="88007"/>
                  <a:pt x="163678" y="89297"/>
                </a:cubicBezTo>
                <a:lnTo>
                  <a:pt x="175253" y="81591"/>
                </a:lnTo>
                <a:cubicBezTo>
                  <a:pt x="178726" y="79276"/>
                  <a:pt x="183323" y="79739"/>
                  <a:pt x="186267" y="82682"/>
                </a:cubicBezTo>
                <a:lnTo>
                  <a:pt x="192617" y="89032"/>
                </a:lnTo>
                <a:cubicBezTo>
                  <a:pt x="195560" y="91976"/>
                  <a:pt x="196023" y="96606"/>
                  <a:pt x="193708" y="100046"/>
                </a:cubicBezTo>
                <a:lnTo>
                  <a:pt x="186002" y="111588"/>
                </a:lnTo>
                <a:cubicBezTo>
                  <a:pt x="186630" y="113142"/>
                  <a:pt x="187193" y="114763"/>
                  <a:pt x="187656" y="116450"/>
                </a:cubicBezTo>
                <a:cubicBezTo>
                  <a:pt x="188119" y="118136"/>
                  <a:pt x="188416" y="119790"/>
                  <a:pt x="188648" y="121477"/>
                </a:cubicBezTo>
                <a:lnTo>
                  <a:pt x="201116" y="127628"/>
                </a:lnTo>
                <a:cubicBezTo>
                  <a:pt x="204854" y="129480"/>
                  <a:pt x="206772" y="133714"/>
                  <a:pt x="205680" y="137716"/>
                </a:cubicBezTo>
                <a:lnTo>
                  <a:pt x="203365" y="146381"/>
                </a:lnTo>
                <a:cubicBezTo>
                  <a:pt x="202274" y="150383"/>
                  <a:pt x="198537" y="153095"/>
                  <a:pt x="194370" y="152830"/>
                </a:cubicBezTo>
                <a:lnTo>
                  <a:pt x="180479" y="151937"/>
                </a:lnTo>
                <a:cubicBezTo>
                  <a:pt x="178395" y="154616"/>
                  <a:pt x="175981" y="157096"/>
                  <a:pt x="173236" y="159213"/>
                </a:cubicBezTo>
                <a:lnTo>
                  <a:pt x="174129" y="173071"/>
                </a:lnTo>
                <a:cubicBezTo>
                  <a:pt x="174393" y="177238"/>
                  <a:pt x="171682" y="181008"/>
                  <a:pt x="167680" y="182066"/>
                </a:cubicBezTo>
                <a:lnTo>
                  <a:pt x="159015" y="184382"/>
                </a:lnTo>
                <a:cubicBezTo>
                  <a:pt x="154980" y="185473"/>
                  <a:pt x="150779" y="183555"/>
                  <a:pt x="148927" y="179817"/>
                </a:cubicBezTo>
                <a:lnTo>
                  <a:pt x="142776" y="167382"/>
                </a:lnTo>
                <a:cubicBezTo>
                  <a:pt x="139369" y="166919"/>
                  <a:pt x="136029" y="165993"/>
                  <a:pt x="132887" y="164703"/>
                </a:cubicBezTo>
                <a:lnTo>
                  <a:pt x="121311" y="172409"/>
                </a:lnTo>
                <a:cubicBezTo>
                  <a:pt x="117839" y="174724"/>
                  <a:pt x="113242" y="174261"/>
                  <a:pt x="110298" y="171318"/>
                </a:cubicBezTo>
                <a:lnTo>
                  <a:pt x="103948" y="164968"/>
                </a:lnTo>
                <a:cubicBezTo>
                  <a:pt x="101005" y="162024"/>
                  <a:pt x="100542" y="157427"/>
                  <a:pt x="102857" y="153954"/>
                </a:cubicBezTo>
                <a:lnTo>
                  <a:pt x="110563" y="142379"/>
                </a:lnTo>
                <a:cubicBezTo>
                  <a:pt x="109934" y="140824"/>
                  <a:pt x="109372" y="139204"/>
                  <a:pt x="108909" y="137517"/>
                </a:cubicBezTo>
                <a:cubicBezTo>
                  <a:pt x="108446" y="135830"/>
                  <a:pt x="108148" y="134144"/>
                  <a:pt x="107917" y="132490"/>
                </a:cubicBezTo>
                <a:lnTo>
                  <a:pt x="95448" y="126339"/>
                </a:lnTo>
                <a:cubicBezTo>
                  <a:pt x="91711" y="124486"/>
                  <a:pt x="89826" y="120253"/>
                  <a:pt x="90884" y="116251"/>
                </a:cubicBezTo>
                <a:lnTo>
                  <a:pt x="93199" y="107586"/>
                </a:lnTo>
                <a:cubicBezTo>
                  <a:pt x="94291" y="103584"/>
                  <a:pt x="98028" y="100872"/>
                  <a:pt x="102195" y="101137"/>
                </a:cubicBezTo>
                <a:lnTo>
                  <a:pt x="116053" y="102030"/>
                </a:lnTo>
                <a:cubicBezTo>
                  <a:pt x="118136" y="99351"/>
                  <a:pt x="120551" y="96871"/>
                  <a:pt x="123296" y="94754"/>
                </a:cubicBezTo>
                <a:lnTo>
                  <a:pt x="122403" y="80929"/>
                </a:lnTo>
                <a:cubicBezTo>
                  <a:pt x="122138" y="76762"/>
                  <a:pt x="124850" y="72992"/>
                  <a:pt x="128852" y="71934"/>
                </a:cubicBezTo>
                <a:lnTo>
                  <a:pt x="137517" y="69618"/>
                </a:lnTo>
                <a:close/>
                <a:moveTo>
                  <a:pt x="148299" y="112448"/>
                </a:moveTo>
                <a:cubicBezTo>
                  <a:pt x="140267" y="112457"/>
                  <a:pt x="133754" y="118985"/>
                  <a:pt x="133763" y="127017"/>
                </a:cubicBezTo>
                <a:cubicBezTo>
                  <a:pt x="133773" y="135048"/>
                  <a:pt x="140301" y="141561"/>
                  <a:pt x="148332" y="141552"/>
                </a:cubicBezTo>
                <a:cubicBezTo>
                  <a:pt x="156364" y="141543"/>
                  <a:pt x="162877" y="135015"/>
                  <a:pt x="162868" y="126983"/>
                </a:cubicBezTo>
                <a:cubicBezTo>
                  <a:pt x="162858" y="118952"/>
                  <a:pt x="156330" y="112439"/>
                  <a:pt x="148299" y="112448"/>
                </a:cubicBezTo>
                <a:close/>
                <a:moveTo>
                  <a:pt x="74381" y="-15048"/>
                </a:moveTo>
                <a:lnTo>
                  <a:pt x="83046" y="-12733"/>
                </a:lnTo>
                <a:cubicBezTo>
                  <a:pt x="87048" y="-11642"/>
                  <a:pt x="89760" y="-7871"/>
                  <a:pt x="89495" y="-3737"/>
                </a:cubicBezTo>
                <a:lnTo>
                  <a:pt x="88602" y="10087"/>
                </a:lnTo>
                <a:cubicBezTo>
                  <a:pt x="91347" y="12204"/>
                  <a:pt x="93762" y="14651"/>
                  <a:pt x="95845" y="17363"/>
                </a:cubicBezTo>
                <a:lnTo>
                  <a:pt x="109736" y="16470"/>
                </a:lnTo>
                <a:cubicBezTo>
                  <a:pt x="113870" y="16206"/>
                  <a:pt x="117640" y="18918"/>
                  <a:pt x="118732" y="22920"/>
                </a:cubicBezTo>
                <a:lnTo>
                  <a:pt x="121047" y="31585"/>
                </a:lnTo>
                <a:cubicBezTo>
                  <a:pt x="122105" y="35586"/>
                  <a:pt x="120220" y="39820"/>
                  <a:pt x="116483" y="41672"/>
                </a:cubicBezTo>
                <a:lnTo>
                  <a:pt x="104014" y="47823"/>
                </a:lnTo>
                <a:cubicBezTo>
                  <a:pt x="103783" y="49510"/>
                  <a:pt x="103452" y="51197"/>
                  <a:pt x="103022" y="52851"/>
                </a:cubicBezTo>
                <a:cubicBezTo>
                  <a:pt x="102592" y="54504"/>
                  <a:pt x="101997" y="56158"/>
                  <a:pt x="101368" y="57712"/>
                </a:cubicBezTo>
                <a:lnTo>
                  <a:pt x="109074" y="69288"/>
                </a:lnTo>
                <a:cubicBezTo>
                  <a:pt x="111390" y="72760"/>
                  <a:pt x="110927" y="77358"/>
                  <a:pt x="107983" y="80301"/>
                </a:cubicBezTo>
                <a:lnTo>
                  <a:pt x="101633" y="86651"/>
                </a:lnTo>
                <a:cubicBezTo>
                  <a:pt x="98690" y="89595"/>
                  <a:pt x="94092" y="90058"/>
                  <a:pt x="90620" y="87742"/>
                </a:cubicBezTo>
                <a:lnTo>
                  <a:pt x="79044" y="80036"/>
                </a:lnTo>
                <a:cubicBezTo>
                  <a:pt x="75902" y="81326"/>
                  <a:pt x="72562" y="82252"/>
                  <a:pt x="69155" y="82715"/>
                </a:cubicBezTo>
                <a:lnTo>
                  <a:pt x="63004" y="95151"/>
                </a:lnTo>
                <a:cubicBezTo>
                  <a:pt x="61152" y="98888"/>
                  <a:pt x="56918" y="100773"/>
                  <a:pt x="52917" y="99715"/>
                </a:cubicBezTo>
                <a:lnTo>
                  <a:pt x="44252" y="97400"/>
                </a:lnTo>
                <a:cubicBezTo>
                  <a:pt x="40217" y="96308"/>
                  <a:pt x="37538" y="92538"/>
                  <a:pt x="37802" y="88404"/>
                </a:cubicBezTo>
                <a:lnTo>
                  <a:pt x="38695" y="74546"/>
                </a:lnTo>
                <a:cubicBezTo>
                  <a:pt x="35950" y="72430"/>
                  <a:pt x="33536" y="69982"/>
                  <a:pt x="31452" y="67270"/>
                </a:cubicBezTo>
                <a:lnTo>
                  <a:pt x="17562" y="68163"/>
                </a:lnTo>
                <a:cubicBezTo>
                  <a:pt x="13428" y="68428"/>
                  <a:pt x="9657" y="65716"/>
                  <a:pt x="8566" y="61714"/>
                </a:cubicBezTo>
                <a:lnTo>
                  <a:pt x="6251" y="53049"/>
                </a:lnTo>
                <a:cubicBezTo>
                  <a:pt x="5192" y="49047"/>
                  <a:pt x="7078" y="44814"/>
                  <a:pt x="10815" y="42962"/>
                </a:cubicBezTo>
                <a:lnTo>
                  <a:pt x="23283" y="36810"/>
                </a:lnTo>
                <a:cubicBezTo>
                  <a:pt x="23515" y="35123"/>
                  <a:pt x="23846" y="33470"/>
                  <a:pt x="24276" y="31783"/>
                </a:cubicBezTo>
                <a:cubicBezTo>
                  <a:pt x="24739" y="30096"/>
                  <a:pt x="25268" y="28476"/>
                  <a:pt x="25929" y="26921"/>
                </a:cubicBezTo>
                <a:lnTo>
                  <a:pt x="18223" y="15379"/>
                </a:lnTo>
                <a:cubicBezTo>
                  <a:pt x="15908" y="11906"/>
                  <a:pt x="16371" y="7309"/>
                  <a:pt x="19315" y="4366"/>
                </a:cubicBezTo>
                <a:lnTo>
                  <a:pt x="25665" y="-1984"/>
                </a:lnTo>
                <a:cubicBezTo>
                  <a:pt x="28608" y="-4928"/>
                  <a:pt x="33205" y="-5391"/>
                  <a:pt x="36678" y="-3076"/>
                </a:cubicBezTo>
                <a:lnTo>
                  <a:pt x="48253" y="4630"/>
                </a:lnTo>
                <a:cubicBezTo>
                  <a:pt x="51395" y="3340"/>
                  <a:pt x="54736" y="2414"/>
                  <a:pt x="58142" y="1951"/>
                </a:cubicBezTo>
                <a:lnTo>
                  <a:pt x="64294" y="-10484"/>
                </a:lnTo>
                <a:cubicBezTo>
                  <a:pt x="66146" y="-14221"/>
                  <a:pt x="70346" y="-16107"/>
                  <a:pt x="74381" y="-15048"/>
                </a:cubicBezTo>
                <a:close/>
                <a:moveTo>
                  <a:pt x="63632" y="27781"/>
                </a:moveTo>
                <a:cubicBezTo>
                  <a:pt x="55601" y="27781"/>
                  <a:pt x="49080" y="34302"/>
                  <a:pt x="49080" y="42333"/>
                </a:cubicBezTo>
                <a:cubicBezTo>
                  <a:pt x="49080" y="50365"/>
                  <a:pt x="55601" y="56885"/>
                  <a:pt x="63632" y="56885"/>
                </a:cubicBezTo>
                <a:cubicBezTo>
                  <a:pt x="71664" y="56885"/>
                  <a:pt x="78184" y="50365"/>
                  <a:pt x="78184" y="42333"/>
                </a:cubicBezTo>
                <a:cubicBezTo>
                  <a:pt x="78184" y="34302"/>
                  <a:pt x="71664" y="27781"/>
                  <a:pt x="63632" y="27781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6035973" y="8179797"/>
            <a:ext cx="973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sklearn</a:t>
            </a: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优势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739639" y="8518464"/>
            <a:ext cx="484716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提供</a:t>
            </a: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统一API</a:t>
            </a: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，简洁高效。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0786153" y="8047506"/>
            <a:ext cx="5037667" cy="846667"/>
          </a:xfrm>
          <a:custGeom>
            <a:avLst/>
            <a:gdLst/>
            <a:ahLst/>
            <a:cxnLst/>
            <a:rect l="l" t="t" r="r" b="b"/>
            <a:pathLst>
              <a:path w="5037667" h="846667">
                <a:moveTo>
                  <a:pt x="84667" y="0"/>
                </a:moveTo>
                <a:lnTo>
                  <a:pt x="4953000" y="0"/>
                </a:lnTo>
                <a:cubicBezTo>
                  <a:pt x="4999760" y="0"/>
                  <a:pt x="5037667" y="37907"/>
                  <a:pt x="5037667" y="84667"/>
                </a:cubicBezTo>
                <a:lnTo>
                  <a:pt x="5037667" y="762000"/>
                </a:lnTo>
                <a:cubicBezTo>
                  <a:pt x="5037667" y="808760"/>
                  <a:pt x="4999760" y="846667"/>
                  <a:pt x="4953000" y="846667"/>
                </a:cubicBezTo>
                <a:lnTo>
                  <a:pt x="84667" y="846667"/>
                </a:lnTo>
                <a:cubicBezTo>
                  <a:pt x="37907" y="846667"/>
                  <a:pt x="0" y="808760"/>
                  <a:pt x="0" y="762000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10939611" y="8222131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42333" y="105833"/>
                </a:moveTo>
                <a:lnTo>
                  <a:pt x="8103" y="105833"/>
                </a:lnTo>
                <a:cubicBezTo>
                  <a:pt x="-132" y="105833"/>
                  <a:pt x="-5192" y="96871"/>
                  <a:pt x="-959" y="89793"/>
                </a:cubicBezTo>
                <a:lnTo>
                  <a:pt x="16536" y="60623"/>
                </a:lnTo>
                <a:cubicBezTo>
                  <a:pt x="19414" y="55827"/>
                  <a:pt x="24573" y="52917"/>
                  <a:pt x="30163" y="52917"/>
                </a:cubicBezTo>
                <a:lnTo>
                  <a:pt x="61582" y="52917"/>
                </a:lnTo>
                <a:cubicBezTo>
                  <a:pt x="86750" y="10286"/>
                  <a:pt x="124288" y="8136"/>
                  <a:pt x="149390" y="11807"/>
                </a:cubicBezTo>
                <a:cubicBezTo>
                  <a:pt x="153624" y="12435"/>
                  <a:pt x="156931" y="15743"/>
                  <a:pt x="157526" y="19943"/>
                </a:cubicBezTo>
                <a:cubicBezTo>
                  <a:pt x="161197" y="45045"/>
                  <a:pt x="159048" y="82583"/>
                  <a:pt x="116417" y="107752"/>
                </a:cubicBezTo>
                <a:lnTo>
                  <a:pt x="116417" y="139171"/>
                </a:lnTo>
                <a:cubicBezTo>
                  <a:pt x="116417" y="144760"/>
                  <a:pt x="113506" y="149920"/>
                  <a:pt x="108711" y="152797"/>
                </a:cubicBezTo>
                <a:lnTo>
                  <a:pt x="79540" y="170292"/>
                </a:lnTo>
                <a:cubicBezTo>
                  <a:pt x="72496" y="174526"/>
                  <a:pt x="63500" y="169433"/>
                  <a:pt x="63500" y="161230"/>
                </a:cubicBezTo>
                <a:lnTo>
                  <a:pt x="63500" y="127000"/>
                </a:lnTo>
                <a:cubicBezTo>
                  <a:pt x="63500" y="115325"/>
                  <a:pt x="54008" y="105833"/>
                  <a:pt x="42333" y="105833"/>
                </a:cubicBezTo>
                <a:lnTo>
                  <a:pt x="42300" y="105833"/>
                </a:lnTo>
                <a:close/>
                <a:moveTo>
                  <a:pt x="132292" y="52917"/>
                </a:moveTo>
                <a:cubicBezTo>
                  <a:pt x="132292" y="44155"/>
                  <a:pt x="125178" y="37042"/>
                  <a:pt x="116417" y="37042"/>
                </a:cubicBezTo>
                <a:cubicBezTo>
                  <a:pt x="107655" y="37042"/>
                  <a:pt x="100542" y="44155"/>
                  <a:pt x="100542" y="52917"/>
                </a:cubicBezTo>
                <a:cubicBezTo>
                  <a:pt x="100542" y="61678"/>
                  <a:pt x="107655" y="68792"/>
                  <a:pt x="116417" y="68792"/>
                </a:cubicBezTo>
                <a:cubicBezTo>
                  <a:pt x="125178" y="68792"/>
                  <a:pt x="132292" y="61678"/>
                  <a:pt x="132292" y="52917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1214778" y="8179797"/>
            <a:ext cx="931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下一步扩展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918445" y="8518464"/>
            <a:ext cx="484716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可扩展至</a:t>
            </a: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特征工程、超参数调优</a:t>
            </a: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等。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easy-peasy.ai/05c5d69d5ef07d16aef7c659863a74ce109aa6e2.png"/>
          <p:cNvPicPr>
            <a:picLocks noChangeAspect="1"/>
          </p:cNvPicPr>
          <p:nvPr/>
        </p:nvPicPr>
        <p:blipFill>
          <a:blip r:embed="rId3">
            <a:alphaModFix amt="40000"/>
          </a:blip>
          <a:srcRect t="21875" b="21875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/>
              </a:gs>
              <a:gs pos="50000">
                <a:srgbClr val="1A1D24">
                  <a:alpha val="90000"/>
                </a:srgbClr>
              </a:gs>
              <a:gs pos="100000">
                <a:srgbClr val="1A1D24">
                  <a:alpha val="6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14350" y="2139950"/>
            <a:ext cx="2298700" cy="571500"/>
          </a:xfrm>
          <a:custGeom>
            <a:avLst/>
            <a:gdLst/>
            <a:ahLst/>
            <a:cxnLst/>
            <a:rect l="l" t="t" r="r" b="b"/>
            <a:pathLst>
              <a:path w="2298700" h="571500">
                <a:moveTo>
                  <a:pt x="101601" y="0"/>
                </a:moveTo>
                <a:lnTo>
                  <a:pt x="2197099" y="0"/>
                </a:lnTo>
                <a:cubicBezTo>
                  <a:pt x="2253212" y="0"/>
                  <a:pt x="2298700" y="45488"/>
                  <a:pt x="2298700" y="101601"/>
                </a:cubicBezTo>
                <a:lnTo>
                  <a:pt x="2298700" y="469899"/>
                </a:lnTo>
                <a:cubicBezTo>
                  <a:pt x="2298700" y="526012"/>
                  <a:pt x="2253212" y="571500"/>
                  <a:pt x="2197099" y="571500"/>
                </a:cubicBezTo>
                <a:lnTo>
                  <a:pt x="101601" y="571500"/>
                </a:lnTo>
                <a:cubicBezTo>
                  <a:pt x="45488" y="571500"/>
                  <a:pt x="0" y="526012"/>
                  <a:pt x="0" y="4698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 w="12700">
            <a:solidFill>
              <a:srgbClr val="6ED3CF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74700" y="2254250"/>
            <a:ext cx="1907084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kern="0" spc="200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124200"/>
            <a:ext cx="6172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技术方案全景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4572000"/>
            <a:ext cx="5905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5F87A7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监督学习、无监督学习与概率模型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6642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812800" y="5537200"/>
            <a:ext cx="495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监督学习：基础算法、集成学习、深度学习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8000" y="62230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812800" y="6096000"/>
            <a:ext cx="393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无监督学习：聚类算法与概率模型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8000" y="67818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812800" y="6654800"/>
            <a:ext cx="266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概率图模型与推荐系统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428625"/>
            <a:ext cx="2307167" cy="349250"/>
          </a:xfrm>
          <a:custGeom>
            <a:avLst/>
            <a:gdLst/>
            <a:ahLst/>
            <a:cxnLst/>
            <a:rect l="l" t="t" r="r" b="b"/>
            <a:pathLst>
              <a:path w="2307167" h="349250">
                <a:moveTo>
                  <a:pt x="42333" y="0"/>
                </a:moveTo>
                <a:lnTo>
                  <a:pt x="2264834" y="0"/>
                </a:lnTo>
                <a:cubicBezTo>
                  <a:pt x="2288214" y="0"/>
                  <a:pt x="2307167" y="18953"/>
                  <a:pt x="2307167" y="42333"/>
                </a:cubicBezTo>
                <a:lnTo>
                  <a:pt x="2307167" y="306917"/>
                </a:lnTo>
                <a:cubicBezTo>
                  <a:pt x="2307167" y="330297"/>
                  <a:pt x="2288214" y="349250"/>
                  <a:pt x="2264834" y="349250"/>
                </a:cubicBezTo>
                <a:lnTo>
                  <a:pt x="42333" y="349250"/>
                </a:lnTo>
                <a:cubicBezTo>
                  <a:pt x="18953" y="349250"/>
                  <a:pt x="0" y="330297"/>
                  <a:pt x="0" y="30691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 w="12700">
            <a:solidFill>
              <a:srgbClr val="5F87A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60917" y="492125"/>
            <a:ext cx="2130061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kern="0" spc="67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SUPERVISED LEARNING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333" y="867833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监督学习：基础算法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26428" y="917318"/>
            <a:ext cx="6763280" cy="318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经典监督学习算法及其适用场景（对应章节：Ch-03）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8625" y="1332434"/>
            <a:ext cx="7588250" cy="6582833"/>
          </a:xfrm>
          <a:custGeom>
            <a:avLst/>
            <a:gdLst/>
            <a:ahLst/>
            <a:cxnLst/>
            <a:rect l="l" t="t" r="r" b="b"/>
            <a:pathLst>
              <a:path w="7588250" h="8138583">
                <a:moveTo>
                  <a:pt x="127027" y="0"/>
                </a:moveTo>
                <a:lnTo>
                  <a:pt x="7461223" y="0"/>
                </a:lnTo>
                <a:cubicBezTo>
                  <a:pt x="7531378" y="0"/>
                  <a:pt x="7588250" y="56872"/>
                  <a:pt x="7588250" y="127027"/>
                </a:cubicBezTo>
                <a:lnTo>
                  <a:pt x="7588250" y="8011556"/>
                </a:lnTo>
                <a:cubicBezTo>
                  <a:pt x="7588250" y="8081711"/>
                  <a:pt x="7531378" y="8138583"/>
                  <a:pt x="7461223" y="8138583"/>
                </a:cubicBezTo>
                <a:lnTo>
                  <a:pt x="127027" y="8138583"/>
                </a:lnTo>
                <a:cubicBezTo>
                  <a:pt x="56872" y="8138583"/>
                  <a:pt x="0" y="8081711"/>
                  <a:pt x="0" y="8011556"/>
                </a:cubicBezTo>
                <a:lnTo>
                  <a:pt x="0" y="127027"/>
                </a:lnTo>
                <a:cubicBezTo>
                  <a:pt x="0" y="56919"/>
                  <a:pt x="56919" y="0"/>
                  <a:pt x="127027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87917" y="1591725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22854" y="1739892"/>
            <a:ext cx="238125" cy="211667"/>
          </a:xfrm>
          <a:custGeom>
            <a:avLst/>
            <a:gdLst/>
            <a:ahLst/>
            <a:cxnLst/>
            <a:rect l="l" t="t" r="r" b="b"/>
            <a:pathLst>
              <a:path w="238125" h="211667">
                <a:moveTo>
                  <a:pt x="165861" y="16164"/>
                </a:moveTo>
                <a:lnTo>
                  <a:pt x="227128" y="78300"/>
                </a:lnTo>
                <a:cubicBezTo>
                  <a:pt x="238580" y="89917"/>
                  <a:pt x="238580" y="108521"/>
                  <a:pt x="227128" y="120137"/>
                </a:cubicBezTo>
                <a:lnTo>
                  <a:pt x="162471" y="185580"/>
                </a:lnTo>
                <a:cubicBezTo>
                  <a:pt x="158626" y="189466"/>
                  <a:pt x="152342" y="189508"/>
                  <a:pt x="148456" y="185663"/>
                </a:cubicBezTo>
                <a:cubicBezTo>
                  <a:pt x="144570" y="181818"/>
                  <a:pt x="144529" y="175535"/>
                  <a:pt x="148373" y="171648"/>
                </a:cubicBezTo>
                <a:lnTo>
                  <a:pt x="213031" y="106164"/>
                </a:lnTo>
                <a:cubicBezTo>
                  <a:pt x="216834" y="102319"/>
                  <a:pt x="216834" y="96077"/>
                  <a:pt x="213031" y="92232"/>
                </a:cubicBezTo>
                <a:lnTo>
                  <a:pt x="151722" y="30138"/>
                </a:lnTo>
                <a:cubicBezTo>
                  <a:pt x="147877" y="26252"/>
                  <a:pt x="147919" y="19968"/>
                  <a:pt x="151805" y="16123"/>
                </a:cubicBezTo>
                <a:cubicBezTo>
                  <a:pt x="155691" y="12278"/>
                  <a:pt x="161975" y="12320"/>
                  <a:pt x="165819" y="16206"/>
                </a:cubicBezTo>
                <a:close/>
                <a:moveTo>
                  <a:pt x="13271" y="94878"/>
                </a:moveTo>
                <a:lnTo>
                  <a:pt x="13271" y="39688"/>
                </a:lnTo>
                <a:cubicBezTo>
                  <a:pt x="13271" y="25094"/>
                  <a:pt x="25135" y="13229"/>
                  <a:pt x="39729" y="13229"/>
                </a:cubicBezTo>
                <a:lnTo>
                  <a:pt x="94919" y="13229"/>
                </a:lnTo>
                <a:cubicBezTo>
                  <a:pt x="101947" y="13229"/>
                  <a:pt x="108686" y="15999"/>
                  <a:pt x="113647" y="20960"/>
                </a:cubicBezTo>
                <a:lnTo>
                  <a:pt x="173178" y="80491"/>
                </a:lnTo>
                <a:cubicBezTo>
                  <a:pt x="183513" y="90826"/>
                  <a:pt x="183513" y="107570"/>
                  <a:pt x="173178" y="117905"/>
                </a:cubicBezTo>
                <a:lnTo>
                  <a:pt x="117988" y="173095"/>
                </a:lnTo>
                <a:cubicBezTo>
                  <a:pt x="107652" y="183431"/>
                  <a:pt x="90909" y="183431"/>
                  <a:pt x="80574" y="173095"/>
                </a:cubicBezTo>
                <a:lnTo>
                  <a:pt x="21043" y="113564"/>
                </a:lnTo>
                <a:cubicBezTo>
                  <a:pt x="16082" y="108603"/>
                  <a:pt x="13312" y="101865"/>
                  <a:pt x="13312" y="94837"/>
                </a:cubicBezTo>
                <a:close/>
                <a:moveTo>
                  <a:pt x="72802" y="59531"/>
                </a:moveTo>
                <a:cubicBezTo>
                  <a:pt x="72802" y="52230"/>
                  <a:pt x="66874" y="46302"/>
                  <a:pt x="59573" y="46302"/>
                </a:cubicBezTo>
                <a:cubicBezTo>
                  <a:pt x="52271" y="46302"/>
                  <a:pt x="46343" y="52230"/>
                  <a:pt x="46343" y="59531"/>
                </a:cubicBezTo>
                <a:cubicBezTo>
                  <a:pt x="46343" y="66833"/>
                  <a:pt x="52271" y="72760"/>
                  <a:pt x="59573" y="72760"/>
                </a:cubicBezTo>
                <a:cubicBezTo>
                  <a:pt x="66874" y="72760"/>
                  <a:pt x="72802" y="66833"/>
                  <a:pt x="72802" y="5953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322917" y="1676392"/>
            <a:ext cx="1143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分类算法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09083" y="2269059"/>
            <a:ext cx="7048500" cy="1174750"/>
          </a:xfrm>
          <a:custGeom>
            <a:avLst/>
            <a:gdLst/>
            <a:ahLst/>
            <a:cxnLst/>
            <a:rect l="l" t="t" r="r" b="b"/>
            <a:pathLst>
              <a:path w="7048500" h="1174750">
                <a:moveTo>
                  <a:pt x="42333" y="0"/>
                </a:moveTo>
                <a:lnTo>
                  <a:pt x="6963836" y="0"/>
                </a:lnTo>
                <a:cubicBezTo>
                  <a:pt x="7010595" y="0"/>
                  <a:pt x="7048500" y="37905"/>
                  <a:pt x="7048500" y="84664"/>
                </a:cubicBezTo>
                <a:lnTo>
                  <a:pt x="7048500" y="1090086"/>
                </a:lnTo>
                <a:cubicBezTo>
                  <a:pt x="7048500" y="1136845"/>
                  <a:pt x="7010595" y="1174750"/>
                  <a:pt x="6963836" y="1174750"/>
                </a:cubicBezTo>
                <a:lnTo>
                  <a:pt x="42333" y="1174750"/>
                </a:lnTo>
                <a:cubicBezTo>
                  <a:pt x="18953" y="1174750"/>
                  <a:pt x="0" y="1155797"/>
                  <a:pt x="0" y="113241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709083" y="2269059"/>
            <a:ext cx="42333" cy="1174750"/>
          </a:xfrm>
          <a:custGeom>
            <a:avLst/>
            <a:gdLst/>
            <a:ahLst/>
            <a:cxnLst/>
            <a:rect l="l" t="t" r="r" b="b"/>
            <a:pathLst>
              <a:path w="42333" h="1174750">
                <a:moveTo>
                  <a:pt x="42333" y="0"/>
                </a:moveTo>
                <a:lnTo>
                  <a:pt x="42333" y="0"/>
                </a:lnTo>
                <a:lnTo>
                  <a:pt x="42333" y="1174750"/>
                </a:lnTo>
                <a:lnTo>
                  <a:pt x="42333" y="1174750"/>
                </a:lnTo>
                <a:cubicBezTo>
                  <a:pt x="18953" y="1174750"/>
                  <a:pt x="0" y="1155797"/>
                  <a:pt x="0" y="113241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57250" y="2396059"/>
            <a:ext cx="1037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KNN</a:t>
            </a: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(K近邻)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953250" y="2396059"/>
            <a:ext cx="677333" cy="254000"/>
          </a:xfrm>
          <a:custGeom>
            <a:avLst/>
            <a:gdLst/>
            <a:ahLst/>
            <a:cxnLst/>
            <a:rect l="l" t="t" r="r" b="b"/>
            <a:pathLst>
              <a:path w="677333" h="254000">
                <a:moveTo>
                  <a:pt x="42334" y="0"/>
                </a:moveTo>
                <a:lnTo>
                  <a:pt x="634999" y="0"/>
                </a:lnTo>
                <a:cubicBezTo>
                  <a:pt x="658380" y="0"/>
                  <a:pt x="677333" y="18954"/>
                  <a:pt x="677333" y="42334"/>
                </a:cubicBezTo>
                <a:lnTo>
                  <a:pt x="677333" y="211666"/>
                </a:lnTo>
                <a:cubicBezTo>
                  <a:pt x="677333" y="235046"/>
                  <a:pt x="658380" y="254000"/>
                  <a:pt x="634999" y="254000"/>
                </a:cubicBezTo>
                <a:lnTo>
                  <a:pt x="42334" y="254000"/>
                </a:lnTo>
                <a:cubicBezTo>
                  <a:pt x="18954" y="254000"/>
                  <a:pt x="0" y="235046"/>
                  <a:pt x="0" y="211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953250" y="2396059"/>
            <a:ext cx="740833" cy="254000"/>
          </a:xfrm>
          <a:prstGeom prst="rect">
            <a:avLst/>
          </a:prstGeom>
          <a:noFill/>
          <a:ln/>
        </p:spPr>
        <p:txBody>
          <a:bodyPr wrap="square" lIns="84667" tIns="42333" rIns="84667" bIns="42333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惰性学习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7250" y="2734725"/>
            <a:ext cx="68474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基于实例的学习方法，通过计算新样本与训练样本的距离进行分类。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57250" y="3060163"/>
            <a:ext cx="677333" cy="254000"/>
          </a:xfrm>
          <a:custGeom>
            <a:avLst/>
            <a:gdLst/>
            <a:ahLst/>
            <a:cxnLst/>
            <a:rect l="l" t="t" r="r" b="b"/>
            <a:pathLst>
              <a:path w="677333" h="254000">
                <a:moveTo>
                  <a:pt x="127000" y="0"/>
                </a:moveTo>
                <a:lnTo>
                  <a:pt x="550333" y="0"/>
                </a:lnTo>
                <a:cubicBezTo>
                  <a:pt x="620427" y="0"/>
                  <a:pt x="677333" y="56907"/>
                  <a:pt x="677333" y="127000"/>
                </a:cubicBezTo>
                <a:lnTo>
                  <a:pt x="677333" y="127000"/>
                </a:lnTo>
                <a:cubicBezTo>
                  <a:pt x="677333" y="197093"/>
                  <a:pt x="620427" y="254000"/>
                  <a:pt x="550333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57250" y="3060163"/>
            <a:ext cx="740833" cy="254000"/>
          </a:xfrm>
          <a:prstGeom prst="rect">
            <a:avLst/>
          </a:prstGeom>
          <a:noFill/>
          <a:ln/>
        </p:spPr>
        <p:txBody>
          <a:bodyPr wrap="square" lIns="84667" tIns="42333" rIns="84667" bIns="42333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简单直观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619250" y="3060163"/>
            <a:ext cx="804333" cy="254000"/>
          </a:xfrm>
          <a:custGeom>
            <a:avLst/>
            <a:gdLst/>
            <a:ahLst/>
            <a:cxnLst/>
            <a:rect l="l" t="t" r="r" b="b"/>
            <a:pathLst>
              <a:path w="804333" h="254000">
                <a:moveTo>
                  <a:pt x="127000" y="0"/>
                </a:moveTo>
                <a:lnTo>
                  <a:pt x="677333" y="0"/>
                </a:lnTo>
                <a:cubicBezTo>
                  <a:pt x="747427" y="0"/>
                  <a:pt x="804333" y="56907"/>
                  <a:pt x="804333" y="127000"/>
                </a:cubicBezTo>
                <a:lnTo>
                  <a:pt x="804333" y="127000"/>
                </a:lnTo>
                <a:cubicBezTo>
                  <a:pt x="804333" y="197093"/>
                  <a:pt x="747427" y="254000"/>
                  <a:pt x="677333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619250" y="3060163"/>
            <a:ext cx="867833" cy="254000"/>
          </a:xfrm>
          <a:prstGeom prst="rect">
            <a:avLst/>
          </a:prstGeom>
          <a:noFill/>
          <a:ln/>
        </p:spPr>
        <p:txBody>
          <a:bodyPr wrap="square" lIns="84667" tIns="42333" rIns="84667" bIns="42333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适合多分类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09083" y="3568163"/>
            <a:ext cx="7048500" cy="1174750"/>
          </a:xfrm>
          <a:custGeom>
            <a:avLst/>
            <a:gdLst/>
            <a:ahLst/>
            <a:cxnLst/>
            <a:rect l="l" t="t" r="r" b="b"/>
            <a:pathLst>
              <a:path w="7048500" h="1174750">
                <a:moveTo>
                  <a:pt x="42333" y="0"/>
                </a:moveTo>
                <a:lnTo>
                  <a:pt x="6963836" y="0"/>
                </a:lnTo>
                <a:cubicBezTo>
                  <a:pt x="7010595" y="0"/>
                  <a:pt x="7048500" y="37905"/>
                  <a:pt x="7048500" y="84664"/>
                </a:cubicBezTo>
                <a:lnTo>
                  <a:pt x="7048500" y="1090086"/>
                </a:lnTo>
                <a:cubicBezTo>
                  <a:pt x="7048500" y="1136845"/>
                  <a:pt x="7010595" y="1174750"/>
                  <a:pt x="6963836" y="1174750"/>
                </a:cubicBezTo>
                <a:lnTo>
                  <a:pt x="42333" y="1174750"/>
                </a:lnTo>
                <a:cubicBezTo>
                  <a:pt x="18953" y="1174750"/>
                  <a:pt x="0" y="1155797"/>
                  <a:pt x="0" y="113241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709083" y="3568163"/>
            <a:ext cx="42333" cy="1174750"/>
          </a:xfrm>
          <a:custGeom>
            <a:avLst/>
            <a:gdLst/>
            <a:ahLst/>
            <a:cxnLst/>
            <a:rect l="l" t="t" r="r" b="b"/>
            <a:pathLst>
              <a:path w="42333" h="1174750">
                <a:moveTo>
                  <a:pt x="42333" y="0"/>
                </a:moveTo>
                <a:lnTo>
                  <a:pt x="42333" y="0"/>
                </a:lnTo>
                <a:lnTo>
                  <a:pt x="42333" y="1174750"/>
                </a:lnTo>
                <a:lnTo>
                  <a:pt x="42333" y="1174750"/>
                </a:lnTo>
                <a:cubicBezTo>
                  <a:pt x="18953" y="1174750"/>
                  <a:pt x="0" y="1155797"/>
                  <a:pt x="0" y="113241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57250" y="3695163"/>
            <a:ext cx="592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决策树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953250" y="3695163"/>
            <a:ext cx="677333" cy="254000"/>
          </a:xfrm>
          <a:custGeom>
            <a:avLst/>
            <a:gdLst/>
            <a:ahLst/>
            <a:cxnLst/>
            <a:rect l="l" t="t" r="r" b="b"/>
            <a:pathLst>
              <a:path w="677333" h="254000">
                <a:moveTo>
                  <a:pt x="42334" y="0"/>
                </a:moveTo>
                <a:lnTo>
                  <a:pt x="634999" y="0"/>
                </a:lnTo>
                <a:cubicBezTo>
                  <a:pt x="658380" y="0"/>
                  <a:pt x="677333" y="18954"/>
                  <a:pt x="677333" y="42334"/>
                </a:cubicBezTo>
                <a:lnTo>
                  <a:pt x="677333" y="211666"/>
                </a:lnTo>
                <a:cubicBezTo>
                  <a:pt x="677333" y="235046"/>
                  <a:pt x="658380" y="254000"/>
                  <a:pt x="634999" y="254000"/>
                </a:cubicBezTo>
                <a:lnTo>
                  <a:pt x="42334" y="254000"/>
                </a:lnTo>
                <a:cubicBezTo>
                  <a:pt x="18954" y="254000"/>
                  <a:pt x="0" y="235046"/>
                  <a:pt x="0" y="211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953250" y="3695163"/>
            <a:ext cx="740833" cy="254000"/>
          </a:xfrm>
          <a:prstGeom prst="rect">
            <a:avLst/>
          </a:prstGeom>
          <a:noFill/>
          <a:ln/>
        </p:spPr>
        <p:txBody>
          <a:bodyPr wrap="square" lIns="84667" tIns="42333" rIns="84667" bIns="42333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规则学习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7250" y="4033830"/>
            <a:ext cx="68474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通过树形结构进行决策，每个节点代表一个特征判断。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57250" y="4359267"/>
            <a:ext cx="804333" cy="254000"/>
          </a:xfrm>
          <a:custGeom>
            <a:avLst/>
            <a:gdLst/>
            <a:ahLst/>
            <a:cxnLst/>
            <a:rect l="l" t="t" r="r" b="b"/>
            <a:pathLst>
              <a:path w="804333" h="254000">
                <a:moveTo>
                  <a:pt x="127000" y="0"/>
                </a:moveTo>
                <a:lnTo>
                  <a:pt x="677333" y="0"/>
                </a:lnTo>
                <a:cubicBezTo>
                  <a:pt x="747427" y="0"/>
                  <a:pt x="804333" y="56907"/>
                  <a:pt x="804333" y="127000"/>
                </a:cubicBezTo>
                <a:lnTo>
                  <a:pt x="804333" y="127000"/>
                </a:lnTo>
                <a:cubicBezTo>
                  <a:pt x="804333" y="197093"/>
                  <a:pt x="747427" y="254000"/>
                  <a:pt x="677333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57250" y="4359267"/>
            <a:ext cx="867833" cy="254000"/>
          </a:xfrm>
          <a:prstGeom prst="rect">
            <a:avLst/>
          </a:prstGeom>
          <a:noFill/>
          <a:ln/>
        </p:spPr>
        <p:txBody>
          <a:bodyPr wrap="square" lIns="84667" tIns="42333" rIns="84667" bIns="42333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可解释性强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746250" y="4359267"/>
            <a:ext cx="931333" cy="254000"/>
          </a:xfrm>
          <a:custGeom>
            <a:avLst/>
            <a:gdLst/>
            <a:ahLst/>
            <a:cxnLst/>
            <a:rect l="l" t="t" r="r" b="b"/>
            <a:pathLst>
              <a:path w="931333" h="254000">
                <a:moveTo>
                  <a:pt x="127000" y="0"/>
                </a:moveTo>
                <a:lnTo>
                  <a:pt x="804333" y="0"/>
                </a:lnTo>
                <a:cubicBezTo>
                  <a:pt x="874427" y="0"/>
                  <a:pt x="931333" y="56907"/>
                  <a:pt x="931333" y="127000"/>
                </a:cubicBezTo>
                <a:lnTo>
                  <a:pt x="931333" y="127000"/>
                </a:lnTo>
                <a:cubicBezTo>
                  <a:pt x="931333" y="197093"/>
                  <a:pt x="874427" y="254000"/>
                  <a:pt x="804333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746250" y="4359267"/>
            <a:ext cx="994833" cy="254000"/>
          </a:xfrm>
          <a:prstGeom prst="rect">
            <a:avLst/>
          </a:prstGeom>
          <a:noFill/>
          <a:ln/>
        </p:spPr>
        <p:txBody>
          <a:bodyPr wrap="square" lIns="84667" tIns="42333" rIns="84667" bIns="42333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无需特征缩放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09083" y="4867267"/>
            <a:ext cx="7048500" cy="1174750"/>
          </a:xfrm>
          <a:custGeom>
            <a:avLst/>
            <a:gdLst/>
            <a:ahLst/>
            <a:cxnLst/>
            <a:rect l="l" t="t" r="r" b="b"/>
            <a:pathLst>
              <a:path w="7048500" h="1174750">
                <a:moveTo>
                  <a:pt x="42333" y="0"/>
                </a:moveTo>
                <a:lnTo>
                  <a:pt x="6963836" y="0"/>
                </a:lnTo>
                <a:cubicBezTo>
                  <a:pt x="7010595" y="0"/>
                  <a:pt x="7048500" y="37905"/>
                  <a:pt x="7048500" y="84664"/>
                </a:cubicBezTo>
                <a:lnTo>
                  <a:pt x="7048500" y="1090086"/>
                </a:lnTo>
                <a:cubicBezTo>
                  <a:pt x="7048500" y="1136845"/>
                  <a:pt x="7010595" y="1174750"/>
                  <a:pt x="6963836" y="1174750"/>
                </a:cubicBezTo>
                <a:lnTo>
                  <a:pt x="42333" y="1174750"/>
                </a:lnTo>
                <a:cubicBezTo>
                  <a:pt x="18953" y="1174750"/>
                  <a:pt x="0" y="1155797"/>
                  <a:pt x="0" y="113241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709083" y="4867267"/>
            <a:ext cx="42333" cy="1174750"/>
          </a:xfrm>
          <a:custGeom>
            <a:avLst/>
            <a:gdLst/>
            <a:ahLst/>
            <a:cxnLst/>
            <a:rect l="l" t="t" r="r" b="b"/>
            <a:pathLst>
              <a:path w="42333" h="1174750">
                <a:moveTo>
                  <a:pt x="42333" y="0"/>
                </a:moveTo>
                <a:lnTo>
                  <a:pt x="42333" y="0"/>
                </a:lnTo>
                <a:lnTo>
                  <a:pt x="42333" y="1174750"/>
                </a:lnTo>
                <a:lnTo>
                  <a:pt x="42333" y="1174750"/>
                </a:lnTo>
                <a:cubicBezTo>
                  <a:pt x="18953" y="1174750"/>
                  <a:pt x="0" y="1155797"/>
                  <a:pt x="0" y="113241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57250" y="4994267"/>
            <a:ext cx="76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逻辑回归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953250" y="4994267"/>
            <a:ext cx="677333" cy="254000"/>
          </a:xfrm>
          <a:custGeom>
            <a:avLst/>
            <a:gdLst/>
            <a:ahLst/>
            <a:cxnLst/>
            <a:rect l="l" t="t" r="r" b="b"/>
            <a:pathLst>
              <a:path w="677333" h="254000">
                <a:moveTo>
                  <a:pt x="42334" y="0"/>
                </a:moveTo>
                <a:lnTo>
                  <a:pt x="634999" y="0"/>
                </a:lnTo>
                <a:cubicBezTo>
                  <a:pt x="658380" y="0"/>
                  <a:pt x="677333" y="18954"/>
                  <a:pt x="677333" y="42334"/>
                </a:cubicBezTo>
                <a:lnTo>
                  <a:pt x="677333" y="211666"/>
                </a:lnTo>
                <a:cubicBezTo>
                  <a:pt x="677333" y="235046"/>
                  <a:pt x="658380" y="254000"/>
                  <a:pt x="634999" y="254000"/>
                </a:cubicBezTo>
                <a:lnTo>
                  <a:pt x="42334" y="254000"/>
                </a:lnTo>
                <a:cubicBezTo>
                  <a:pt x="18954" y="254000"/>
                  <a:pt x="0" y="235046"/>
                  <a:pt x="0" y="211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953250" y="4994267"/>
            <a:ext cx="740833" cy="254000"/>
          </a:xfrm>
          <a:prstGeom prst="rect">
            <a:avLst/>
          </a:prstGeom>
          <a:noFill/>
          <a:ln/>
        </p:spPr>
        <p:txBody>
          <a:bodyPr wrap="square" lIns="84667" tIns="42333" rIns="84667" bIns="42333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线性分类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7250" y="5332934"/>
            <a:ext cx="68474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使用Sigmoid函数将线性输出映射到[0,1]概率区间。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57250" y="5658371"/>
            <a:ext cx="677333" cy="254000"/>
          </a:xfrm>
          <a:custGeom>
            <a:avLst/>
            <a:gdLst/>
            <a:ahLst/>
            <a:cxnLst/>
            <a:rect l="l" t="t" r="r" b="b"/>
            <a:pathLst>
              <a:path w="677333" h="254000">
                <a:moveTo>
                  <a:pt x="127000" y="0"/>
                </a:moveTo>
                <a:lnTo>
                  <a:pt x="550333" y="0"/>
                </a:lnTo>
                <a:cubicBezTo>
                  <a:pt x="620427" y="0"/>
                  <a:pt x="677333" y="56907"/>
                  <a:pt x="677333" y="127000"/>
                </a:cubicBezTo>
                <a:lnTo>
                  <a:pt x="677333" y="127000"/>
                </a:lnTo>
                <a:cubicBezTo>
                  <a:pt x="677333" y="197093"/>
                  <a:pt x="620427" y="254000"/>
                  <a:pt x="550333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57250" y="5658371"/>
            <a:ext cx="740833" cy="254000"/>
          </a:xfrm>
          <a:prstGeom prst="rect">
            <a:avLst/>
          </a:prstGeom>
          <a:noFill/>
          <a:ln/>
        </p:spPr>
        <p:txBody>
          <a:bodyPr wrap="square" lIns="84667" tIns="42333" rIns="84667" bIns="42333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概率输出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619250" y="5658371"/>
            <a:ext cx="677333" cy="254000"/>
          </a:xfrm>
          <a:custGeom>
            <a:avLst/>
            <a:gdLst/>
            <a:ahLst/>
            <a:cxnLst/>
            <a:rect l="l" t="t" r="r" b="b"/>
            <a:pathLst>
              <a:path w="677333" h="254000">
                <a:moveTo>
                  <a:pt x="127000" y="0"/>
                </a:moveTo>
                <a:lnTo>
                  <a:pt x="550333" y="0"/>
                </a:lnTo>
                <a:cubicBezTo>
                  <a:pt x="620427" y="0"/>
                  <a:pt x="677333" y="56907"/>
                  <a:pt x="677333" y="127000"/>
                </a:cubicBezTo>
                <a:lnTo>
                  <a:pt x="677333" y="127000"/>
                </a:lnTo>
                <a:cubicBezTo>
                  <a:pt x="677333" y="197093"/>
                  <a:pt x="620427" y="254000"/>
                  <a:pt x="550333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619250" y="5658371"/>
            <a:ext cx="740833" cy="254000"/>
          </a:xfrm>
          <a:prstGeom prst="rect">
            <a:avLst/>
          </a:prstGeom>
          <a:noFill/>
          <a:ln/>
        </p:spPr>
        <p:txBody>
          <a:bodyPr wrap="square" lIns="84667" tIns="42333" rIns="84667" bIns="42333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计算高效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09083" y="6166371"/>
            <a:ext cx="7048500" cy="1174750"/>
          </a:xfrm>
          <a:custGeom>
            <a:avLst/>
            <a:gdLst/>
            <a:ahLst/>
            <a:cxnLst/>
            <a:rect l="l" t="t" r="r" b="b"/>
            <a:pathLst>
              <a:path w="7048500" h="1174750">
                <a:moveTo>
                  <a:pt x="42333" y="0"/>
                </a:moveTo>
                <a:lnTo>
                  <a:pt x="6963836" y="0"/>
                </a:lnTo>
                <a:cubicBezTo>
                  <a:pt x="7010595" y="0"/>
                  <a:pt x="7048500" y="37905"/>
                  <a:pt x="7048500" y="84664"/>
                </a:cubicBezTo>
                <a:lnTo>
                  <a:pt x="7048500" y="1090086"/>
                </a:lnTo>
                <a:cubicBezTo>
                  <a:pt x="7048500" y="1136845"/>
                  <a:pt x="7010595" y="1174750"/>
                  <a:pt x="6963836" y="1174750"/>
                </a:cubicBezTo>
                <a:lnTo>
                  <a:pt x="42333" y="1174750"/>
                </a:lnTo>
                <a:cubicBezTo>
                  <a:pt x="18953" y="1174750"/>
                  <a:pt x="0" y="1155797"/>
                  <a:pt x="0" y="113241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709083" y="6166371"/>
            <a:ext cx="42333" cy="1174750"/>
          </a:xfrm>
          <a:custGeom>
            <a:avLst/>
            <a:gdLst/>
            <a:ahLst/>
            <a:cxnLst/>
            <a:rect l="l" t="t" r="r" b="b"/>
            <a:pathLst>
              <a:path w="42333" h="1174750">
                <a:moveTo>
                  <a:pt x="42333" y="0"/>
                </a:moveTo>
                <a:lnTo>
                  <a:pt x="42333" y="0"/>
                </a:lnTo>
                <a:lnTo>
                  <a:pt x="42333" y="1174750"/>
                </a:lnTo>
                <a:lnTo>
                  <a:pt x="42333" y="1174750"/>
                </a:lnTo>
                <a:cubicBezTo>
                  <a:pt x="18953" y="1174750"/>
                  <a:pt x="0" y="1155797"/>
                  <a:pt x="0" y="113241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857250" y="6293371"/>
            <a:ext cx="1439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SVM</a:t>
            </a: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(支持向量机)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953250" y="6293371"/>
            <a:ext cx="677333" cy="254000"/>
          </a:xfrm>
          <a:custGeom>
            <a:avLst/>
            <a:gdLst/>
            <a:ahLst/>
            <a:cxnLst/>
            <a:rect l="l" t="t" r="r" b="b"/>
            <a:pathLst>
              <a:path w="677333" h="254000">
                <a:moveTo>
                  <a:pt x="42334" y="0"/>
                </a:moveTo>
                <a:lnTo>
                  <a:pt x="634999" y="0"/>
                </a:lnTo>
                <a:cubicBezTo>
                  <a:pt x="658380" y="0"/>
                  <a:pt x="677333" y="18954"/>
                  <a:pt x="677333" y="42334"/>
                </a:cubicBezTo>
                <a:lnTo>
                  <a:pt x="677333" y="211666"/>
                </a:lnTo>
                <a:cubicBezTo>
                  <a:pt x="677333" y="235046"/>
                  <a:pt x="658380" y="254000"/>
                  <a:pt x="634999" y="254000"/>
                </a:cubicBezTo>
                <a:lnTo>
                  <a:pt x="42334" y="254000"/>
                </a:lnTo>
                <a:cubicBezTo>
                  <a:pt x="18954" y="254000"/>
                  <a:pt x="0" y="235046"/>
                  <a:pt x="0" y="211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953250" y="6293371"/>
            <a:ext cx="740833" cy="254000"/>
          </a:xfrm>
          <a:prstGeom prst="rect">
            <a:avLst/>
          </a:prstGeom>
          <a:noFill/>
          <a:ln/>
        </p:spPr>
        <p:txBody>
          <a:bodyPr wrap="square" lIns="84667" tIns="42333" rIns="84667" bIns="42333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最大间隔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57250" y="6632038"/>
            <a:ext cx="68474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寻找最大化分类间隔的超平面，支持核技巧处理非线性问题。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57250" y="6957475"/>
            <a:ext cx="804333" cy="254000"/>
          </a:xfrm>
          <a:custGeom>
            <a:avLst/>
            <a:gdLst/>
            <a:ahLst/>
            <a:cxnLst/>
            <a:rect l="l" t="t" r="r" b="b"/>
            <a:pathLst>
              <a:path w="804333" h="254000">
                <a:moveTo>
                  <a:pt x="127000" y="0"/>
                </a:moveTo>
                <a:lnTo>
                  <a:pt x="677333" y="0"/>
                </a:lnTo>
                <a:cubicBezTo>
                  <a:pt x="747427" y="0"/>
                  <a:pt x="804333" y="56907"/>
                  <a:pt x="804333" y="127000"/>
                </a:cubicBezTo>
                <a:lnTo>
                  <a:pt x="804333" y="127000"/>
                </a:lnTo>
                <a:cubicBezTo>
                  <a:pt x="804333" y="197093"/>
                  <a:pt x="747427" y="254000"/>
                  <a:pt x="677333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57250" y="6957475"/>
            <a:ext cx="867833" cy="254000"/>
          </a:xfrm>
          <a:prstGeom prst="rect">
            <a:avLst/>
          </a:prstGeom>
          <a:noFill/>
          <a:ln/>
        </p:spPr>
        <p:txBody>
          <a:bodyPr wrap="square" lIns="84667" tIns="42333" rIns="84667" bIns="42333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泛化能力强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746250" y="6957475"/>
            <a:ext cx="677333" cy="254000"/>
          </a:xfrm>
          <a:custGeom>
            <a:avLst/>
            <a:gdLst/>
            <a:ahLst/>
            <a:cxnLst/>
            <a:rect l="l" t="t" r="r" b="b"/>
            <a:pathLst>
              <a:path w="677333" h="254000">
                <a:moveTo>
                  <a:pt x="127000" y="0"/>
                </a:moveTo>
                <a:lnTo>
                  <a:pt x="550333" y="0"/>
                </a:lnTo>
                <a:cubicBezTo>
                  <a:pt x="620427" y="0"/>
                  <a:pt x="677333" y="56907"/>
                  <a:pt x="677333" y="127000"/>
                </a:cubicBezTo>
                <a:lnTo>
                  <a:pt x="677333" y="127000"/>
                </a:lnTo>
                <a:cubicBezTo>
                  <a:pt x="677333" y="197093"/>
                  <a:pt x="620427" y="254000"/>
                  <a:pt x="550333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746250" y="6957475"/>
            <a:ext cx="740833" cy="254000"/>
          </a:xfrm>
          <a:prstGeom prst="rect">
            <a:avLst/>
          </a:prstGeom>
          <a:noFill/>
          <a:ln/>
        </p:spPr>
        <p:txBody>
          <a:bodyPr wrap="square" lIns="84667" tIns="42333" rIns="84667" bIns="42333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高维友好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39125" y="1332434"/>
            <a:ext cx="7588250" cy="6582833"/>
          </a:xfrm>
          <a:custGeom>
            <a:avLst/>
            <a:gdLst/>
            <a:ahLst/>
            <a:cxnLst/>
            <a:rect l="l" t="t" r="r" b="b"/>
            <a:pathLst>
              <a:path w="7588250" h="8138583">
                <a:moveTo>
                  <a:pt x="127027" y="0"/>
                </a:moveTo>
                <a:lnTo>
                  <a:pt x="7461223" y="0"/>
                </a:lnTo>
                <a:cubicBezTo>
                  <a:pt x="7531378" y="0"/>
                  <a:pt x="7588250" y="56872"/>
                  <a:pt x="7588250" y="127027"/>
                </a:cubicBezTo>
                <a:lnTo>
                  <a:pt x="7588250" y="8011556"/>
                </a:lnTo>
                <a:cubicBezTo>
                  <a:pt x="7588250" y="8081711"/>
                  <a:pt x="7531378" y="8138583"/>
                  <a:pt x="7461223" y="8138583"/>
                </a:cubicBezTo>
                <a:lnTo>
                  <a:pt x="127027" y="8138583"/>
                </a:lnTo>
                <a:cubicBezTo>
                  <a:pt x="56872" y="8138583"/>
                  <a:pt x="0" y="8081711"/>
                  <a:pt x="0" y="8011556"/>
                </a:cubicBezTo>
                <a:lnTo>
                  <a:pt x="0" y="127027"/>
                </a:lnTo>
                <a:cubicBezTo>
                  <a:pt x="0" y="56919"/>
                  <a:pt x="56919" y="0"/>
                  <a:pt x="127027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6ED3CF">
                  <a:alpha val="5000"/>
                </a:srgbClr>
              </a:gs>
            </a:gsLst>
            <a:lin ang="2700000" scaled="1"/>
          </a:gradFill>
          <a:ln w="12700">
            <a:solidFill>
              <a:srgbClr val="6ED3C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8498417" y="1591725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8646583" y="1739892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26458" y="26458"/>
                </a:moveTo>
                <a:cubicBezTo>
                  <a:pt x="26458" y="19141"/>
                  <a:pt x="20547" y="13229"/>
                  <a:pt x="13229" y="13229"/>
                </a:cubicBezTo>
                <a:cubicBezTo>
                  <a:pt x="5912" y="13229"/>
                  <a:pt x="0" y="19141"/>
                  <a:pt x="0" y="26458"/>
                </a:cubicBezTo>
                <a:lnTo>
                  <a:pt x="0" y="165365"/>
                </a:lnTo>
                <a:cubicBezTo>
                  <a:pt x="0" y="183637"/>
                  <a:pt x="14800" y="198438"/>
                  <a:pt x="33073" y="198438"/>
                </a:cubicBezTo>
                <a:lnTo>
                  <a:pt x="198438" y="198438"/>
                </a:lnTo>
                <a:cubicBezTo>
                  <a:pt x="205755" y="198438"/>
                  <a:pt x="211667" y="192526"/>
                  <a:pt x="211667" y="185208"/>
                </a:cubicBezTo>
                <a:cubicBezTo>
                  <a:pt x="211667" y="177891"/>
                  <a:pt x="205755" y="171979"/>
                  <a:pt x="198438" y="171979"/>
                </a:cubicBezTo>
                <a:lnTo>
                  <a:pt x="33073" y="171979"/>
                </a:lnTo>
                <a:cubicBezTo>
                  <a:pt x="29435" y="171979"/>
                  <a:pt x="26458" y="169003"/>
                  <a:pt x="26458" y="165365"/>
                </a:cubicBezTo>
                <a:lnTo>
                  <a:pt x="26458" y="26458"/>
                </a:lnTo>
                <a:close/>
                <a:moveTo>
                  <a:pt x="194551" y="62260"/>
                </a:moveTo>
                <a:cubicBezTo>
                  <a:pt x="199719" y="57092"/>
                  <a:pt x="199719" y="48700"/>
                  <a:pt x="194551" y="43532"/>
                </a:cubicBezTo>
                <a:cubicBezTo>
                  <a:pt x="189384" y="38365"/>
                  <a:pt x="180992" y="38365"/>
                  <a:pt x="175824" y="43532"/>
                </a:cubicBezTo>
                <a:lnTo>
                  <a:pt x="132292" y="87106"/>
                </a:lnTo>
                <a:lnTo>
                  <a:pt x="108562" y="63417"/>
                </a:lnTo>
                <a:cubicBezTo>
                  <a:pt x="103394" y="58250"/>
                  <a:pt x="95002" y="58250"/>
                  <a:pt x="89834" y="63417"/>
                </a:cubicBezTo>
                <a:lnTo>
                  <a:pt x="50147" y="103105"/>
                </a:lnTo>
                <a:cubicBezTo>
                  <a:pt x="44979" y="108272"/>
                  <a:pt x="44979" y="116665"/>
                  <a:pt x="50147" y="121832"/>
                </a:cubicBezTo>
                <a:cubicBezTo>
                  <a:pt x="55314" y="127000"/>
                  <a:pt x="63707" y="127000"/>
                  <a:pt x="68874" y="121832"/>
                </a:cubicBezTo>
                <a:lnTo>
                  <a:pt x="99219" y="91488"/>
                </a:lnTo>
                <a:lnTo>
                  <a:pt x="122949" y="115218"/>
                </a:lnTo>
                <a:cubicBezTo>
                  <a:pt x="128116" y="120385"/>
                  <a:pt x="136508" y="120385"/>
                  <a:pt x="141676" y="115218"/>
                </a:cubicBezTo>
                <a:lnTo>
                  <a:pt x="194593" y="62301"/>
                </a:ln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9133417" y="1676392"/>
            <a:ext cx="1143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回归算法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519583" y="2269059"/>
            <a:ext cx="7048500" cy="2434167"/>
          </a:xfrm>
          <a:custGeom>
            <a:avLst/>
            <a:gdLst/>
            <a:ahLst/>
            <a:cxnLst/>
            <a:rect l="l" t="t" r="r" b="b"/>
            <a:pathLst>
              <a:path w="7048500" h="2434167">
                <a:moveTo>
                  <a:pt x="42333" y="0"/>
                </a:moveTo>
                <a:lnTo>
                  <a:pt x="6963840" y="0"/>
                </a:lnTo>
                <a:cubicBezTo>
                  <a:pt x="7010596" y="0"/>
                  <a:pt x="7048500" y="37904"/>
                  <a:pt x="7048500" y="84660"/>
                </a:cubicBezTo>
                <a:lnTo>
                  <a:pt x="7048500" y="2349506"/>
                </a:lnTo>
                <a:cubicBezTo>
                  <a:pt x="7048500" y="2396263"/>
                  <a:pt x="7010596" y="2434167"/>
                  <a:pt x="6963840" y="2434167"/>
                </a:cubicBezTo>
                <a:lnTo>
                  <a:pt x="42333" y="2434167"/>
                </a:lnTo>
                <a:cubicBezTo>
                  <a:pt x="18953" y="2434167"/>
                  <a:pt x="0" y="2415213"/>
                  <a:pt x="0" y="2391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8519583" y="2269059"/>
            <a:ext cx="42333" cy="2434167"/>
          </a:xfrm>
          <a:custGeom>
            <a:avLst/>
            <a:gdLst/>
            <a:ahLst/>
            <a:cxnLst/>
            <a:rect l="l" t="t" r="r" b="b"/>
            <a:pathLst>
              <a:path w="42333" h="2434167">
                <a:moveTo>
                  <a:pt x="42333" y="0"/>
                </a:moveTo>
                <a:lnTo>
                  <a:pt x="42333" y="0"/>
                </a:lnTo>
                <a:lnTo>
                  <a:pt x="42333" y="2434167"/>
                </a:lnTo>
                <a:lnTo>
                  <a:pt x="42333" y="2434167"/>
                </a:lnTo>
                <a:cubicBezTo>
                  <a:pt x="18953" y="2434167"/>
                  <a:pt x="0" y="2415213"/>
                  <a:pt x="0" y="2391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8710083" y="2438392"/>
            <a:ext cx="67839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线性回归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710083" y="2861725"/>
            <a:ext cx="67733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建立特征与连续目标变量之间的线性关系模型，是最基础的回归算法。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710083" y="3263892"/>
            <a:ext cx="6688667" cy="1270000"/>
          </a:xfrm>
          <a:custGeom>
            <a:avLst/>
            <a:gdLst/>
            <a:ahLst/>
            <a:cxnLst/>
            <a:rect l="l" t="t" r="r" b="b"/>
            <a:pathLst>
              <a:path w="6688667" h="1270000">
                <a:moveTo>
                  <a:pt x="84671" y="0"/>
                </a:moveTo>
                <a:lnTo>
                  <a:pt x="6603996" y="0"/>
                </a:lnTo>
                <a:cubicBezTo>
                  <a:pt x="6650758" y="0"/>
                  <a:pt x="6688667" y="37908"/>
                  <a:pt x="6688667" y="84671"/>
                </a:cubicBezTo>
                <a:lnTo>
                  <a:pt x="6688667" y="1185329"/>
                </a:lnTo>
                <a:cubicBezTo>
                  <a:pt x="6688667" y="1232092"/>
                  <a:pt x="6650758" y="1270000"/>
                  <a:pt x="6603996" y="1270000"/>
                </a:cubicBezTo>
                <a:lnTo>
                  <a:pt x="84671" y="1270000"/>
                </a:lnTo>
                <a:cubicBezTo>
                  <a:pt x="37908" y="1270000"/>
                  <a:pt x="0" y="1232092"/>
                  <a:pt x="0" y="1185329"/>
                </a:cubicBezTo>
                <a:lnTo>
                  <a:pt x="0" y="84671"/>
                </a:lnTo>
                <a:cubicBezTo>
                  <a:pt x="0" y="37940"/>
                  <a:pt x="37940" y="0"/>
                  <a:pt x="84671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8837083" y="3390892"/>
            <a:ext cx="6508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837083" y="3687225"/>
            <a:ext cx="6508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房价预测、股票价格预测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837083" y="3941225"/>
            <a:ext cx="6508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销售预测、需求预测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837083" y="4195225"/>
            <a:ext cx="6508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需要解释性的场景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498417" y="4830225"/>
            <a:ext cx="7069667" cy="2032000"/>
          </a:xfrm>
          <a:custGeom>
            <a:avLst/>
            <a:gdLst/>
            <a:ahLst/>
            <a:cxnLst/>
            <a:rect l="l" t="t" r="r" b="b"/>
            <a:pathLst>
              <a:path w="7069667" h="2032000">
                <a:moveTo>
                  <a:pt x="84673" y="0"/>
                </a:moveTo>
                <a:lnTo>
                  <a:pt x="6984993" y="0"/>
                </a:lnTo>
                <a:cubicBezTo>
                  <a:pt x="7031757" y="0"/>
                  <a:pt x="7069667" y="37910"/>
                  <a:pt x="7069667" y="84673"/>
                </a:cubicBezTo>
                <a:lnTo>
                  <a:pt x="7069667" y="1947327"/>
                </a:lnTo>
                <a:cubicBezTo>
                  <a:pt x="7069667" y="1994090"/>
                  <a:pt x="7031757" y="2032000"/>
                  <a:pt x="6984993" y="2032000"/>
                </a:cubicBezTo>
                <a:lnTo>
                  <a:pt x="84673" y="2032000"/>
                </a:lnTo>
                <a:cubicBezTo>
                  <a:pt x="37910" y="2032000"/>
                  <a:pt x="0" y="1994090"/>
                  <a:pt x="0" y="1947327"/>
                </a:cubicBezTo>
                <a:lnTo>
                  <a:pt x="0" y="84673"/>
                </a:lnTo>
                <a:cubicBezTo>
                  <a:pt x="0" y="37910"/>
                  <a:pt x="37910" y="0"/>
                  <a:pt x="8467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8667750" y="4999559"/>
            <a:ext cx="6815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线性回归变体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688917" y="5422892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74083" y="0"/>
                </a:moveTo>
                <a:cubicBezTo>
                  <a:pt x="75415" y="0"/>
                  <a:pt x="76746" y="289"/>
                  <a:pt x="77961" y="839"/>
                </a:cubicBezTo>
                <a:lnTo>
                  <a:pt x="132482" y="23961"/>
                </a:lnTo>
                <a:cubicBezTo>
                  <a:pt x="138848" y="26653"/>
                  <a:pt x="143594" y="32932"/>
                  <a:pt x="143565" y="40514"/>
                </a:cubicBezTo>
                <a:cubicBezTo>
                  <a:pt x="143421" y="69222"/>
                  <a:pt x="131614" y="121746"/>
                  <a:pt x="81752" y="145620"/>
                </a:cubicBezTo>
                <a:cubicBezTo>
                  <a:pt x="76919" y="147935"/>
                  <a:pt x="71305" y="147935"/>
                  <a:pt x="66472" y="145620"/>
                </a:cubicBezTo>
                <a:cubicBezTo>
                  <a:pt x="16582" y="121746"/>
                  <a:pt x="4804" y="69222"/>
                  <a:pt x="4659" y="40514"/>
                </a:cubicBezTo>
                <a:cubicBezTo>
                  <a:pt x="4630" y="32932"/>
                  <a:pt x="9376" y="26653"/>
                  <a:pt x="15743" y="23961"/>
                </a:cubicBezTo>
                <a:lnTo>
                  <a:pt x="70234" y="839"/>
                </a:lnTo>
                <a:cubicBezTo>
                  <a:pt x="71450" y="289"/>
                  <a:pt x="72752" y="0"/>
                  <a:pt x="74083" y="0"/>
                </a:cubicBezTo>
                <a:close/>
                <a:moveTo>
                  <a:pt x="74083" y="19331"/>
                </a:moveTo>
                <a:lnTo>
                  <a:pt x="74083" y="128749"/>
                </a:lnTo>
                <a:cubicBezTo>
                  <a:pt x="114019" y="109418"/>
                  <a:pt x="124755" y="66588"/>
                  <a:pt x="125016" y="40948"/>
                </a:cubicBezTo>
                <a:lnTo>
                  <a:pt x="74083" y="19360"/>
                </a:lnTo>
                <a:lnTo>
                  <a:pt x="74083" y="19360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8937625" y="5380559"/>
            <a:ext cx="1862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岭回归 (</a:t>
            </a: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Ridge</a:t>
            </a: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937625" y="5592225"/>
            <a:ext cx="18520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L2正则化，处理多重共线性问题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688917" y="5888559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127186" y="2026"/>
                </a:moveTo>
                <a:cubicBezTo>
                  <a:pt x="129906" y="-695"/>
                  <a:pt x="134305" y="-695"/>
                  <a:pt x="136996" y="2026"/>
                </a:cubicBezTo>
                <a:lnTo>
                  <a:pt x="146257" y="11286"/>
                </a:lnTo>
                <a:cubicBezTo>
                  <a:pt x="148977" y="14006"/>
                  <a:pt x="148977" y="18405"/>
                  <a:pt x="146257" y="21096"/>
                </a:cubicBezTo>
                <a:lnTo>
                  <a:pt x="121080" y="46273"/>
                </a:lnTo>
                <a:lnTo>
                  <a:pt x="132366" y="57559"/>
                </a:lnTo>
                <a:cubicBezTo>
                  <a:pt x="134363" y="59556"/>
                  <a:pt x="134942" y="62537"/>
                  <a:pt x="133871" y="65141"/>
                </a:cubicBezTo>
                <a:cubicBezTo>
                  <a:pt x="132800" y="67746"/>
                  <a:pt x="130282" y="69453"/>
                  <a:pt x="127475" y="69453"/>
                </a:cubicBezTo>
                <a:lnTo>
                  <a:pt x="85804" y="69453"/>
                </a:lnTo>
                <a:cubicBezTo>
                  <a:pt x="81955" y="69453"/>
                  <a:pt x="78858" y="66357"/>
                  <a:pt x="78858" y="62508"/>
                </a:cubicBezTo>
                <a:lnTo>
                  <a:pt x="78858" y="20836"/>
                </a:lnTo>
                <a:cubicBezTo>
                  <a:pt x="78858" y="18029"/>
                  <a:pt x="80537" y="15482"/>
                  <a:pt x="83141" y="14412"/>
                </a:cubicBezTo>
                <a:cubicBezTo>
                  <a:pt x="85746" y="13341"/>
                  <a:pt x="88726" y="13920"/>
                  <a:pt x="90723" y="15916"/>
                </a:cubicBezTo>
                <a:lnTo>
                  <a:pt x="102009" y="27202"/>
                </a:lnTo>
                <a:lnTo>
                  <a:pt x="127186" y="2026"/>
                </a:lnTo>
                <a:close/>
                <a:moveTo>
                  <a:pt x="20981" y="78714"/>
                </a:moveTo>
                <a:lnTo>
                  <a:pt x="62653" y="78714"/>
                </a:lnTo>
                <a:cubicBezTo>
                  <a:pt x="66501" y="78714"/>
                  <a:pt x="69598" y="81810"/>
                  <a:pt x="69598" y="85659"/>
                </a:cubicBezTo>
                <a:lnTo>
                  <a:pt x="69598" y="127331"/>
                </a:lnTo>
                <a:cubicBezTo>
                  <a:pt x="69598" y="130138"/>
                  <a:pt x="67919" y="132684"/>
                  <a:pt x="65315" y="133755"/>
                </a:cubicBezTo>
                <a:cubicBezTo>
                  <a:pt x="62710" y="134826"/>
                  <a:pt x="59730" y="134247"/>
                  <a:pt x="57733" y="132250"/>
                </a:cubicBezTo>
                <a:lnTo>
                  <a:pt x="46447" y="120964"/>
                </a:lnTo>
                <a:lnTo>
                  <a:pt x="21270" y="146141"/>
                </a:lnTo>
                <a:cubicBezTo>
                  <a:pt x="18550" y="148861"/>
                  <a:pt x="14151" y="148861"/>
                  <a:pt x="11460" y="146141"/>
                </a:cubicBezTo>
                <a:lnTo>
                  <a:pt x="2199" y="136881"/>
                </a:lnTo>
                <a:cubicBezTo>
                  <a:pt x="-521" y="134160"/>
                  <a:pt x="-521" y="129762"/>
                  <a:pt x="2199" y="127070"/>
                </a:cubicBezTo>
                <a:lnTo>
                  <a:pt x="27376" y="101894"/>
                </a:lnTo>
                <a:lnTo>
                  <a:pt x="16090" y="90607"/>
                </a:lnTo>
                <a:cubicBezTo>
                  <a:pt x="14093" y="88611"/>
                  <a:pt x="13514" y="85630"/>
                  <a:pt x="14585" y="83025"/>
                </a:cubicBezTo>
                <a:cubicBezTo>
                  <a:pt x="15656" y="80421"/>
                  <a:pt x="18174" y="78714"/>
                  <a:pt x="20981" y="78714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7"/>
          <p:cNvSpPr/>
          <p:nvPr/>
        </p:nvSpPr>
        <p:spPr>
          <a:xfrm>
            <a:off x="8937625" y="5846225"/>
            <a:ext cx="1714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套索回归 (</a:t>
            </a: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Lasso</a:t>
            </a: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937625" y="6057892"/>
            <a:ext cx="1703917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L1正则化，自动进行特征选择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670396" y="6354225"/>
            <a:ext cx="185208" cy="148167"/>
          </a:xfrm>
          <a:custGeom>
            <a:avLst/>
            <a:gdLst/>
            <a:ahLst/>
            <a:cxnLst/>
            <a:rect l="l" t="t" r="r" b="b"/>
            <a:pathLst>
              <a:path w="185208" h="148167">
                <a:moveTo>
                  <a:pt x="111125" y="9260"/>
                </a:moveTo>
                <a:lnTo>
                  <a:pt x="148167" y="9260"/>
                </a:lnTo>
                <a:cubicBezTo>
                  <a:pt x="153289" y="9260"/>
                  <a:pt x="157427" y="13399"/>
                  <a:pt x="157427" y="18521"/>
                </a:cubicBezTo>
                <a:cubicBezTo>
                  <a:pt x="157427" y="23643"/>
                  <a:pt x="153289" y="27781"/>
                  <a:pt x="148167" y="27781"/>
                </a:cubicBezTo>
                <a:lnTo>
                  <a:pt x="115292" y="27781"/>
                </a:lnTo>
                <a:cubicBezTo>
                  <a:pt x="113787" y="35247"/>
                  <a:pt x="108665" y="41411"/>
                  <a:pt x="101865" y="44363"/>
                </a:cubicBezTo>
                <a:lnTo>
                  <a:pt x="101865" y="129646"/>
                </a:lnTo>
                <a:lnTo>
                  <a:pt x="148167" y="129646"/>
                </a:lnTo>
                <a:cubicBezTo>
                  <a:pt x="153289" y="129646"/>
                  <a:pt x="157427" y="133784"/>
                  <a:pt x="157427" y="138906"/>
                </a:cubicBezTo>
                <a:cubicBezTo>
                  <a:pt x="157427" y="144028"/>
                  <a:pt x="153289" y="148167"/>
                  <a:pt x="148167" y="148167"/>
                </a:cubicBezTo>
                <a:lnTo>
                  <a:pt x="37042" y="148167"/>
                </a:lnTo>
                <a:cubicBezTo>
                  <a:pt x="31919" y="148167"/>
                  <a:pt x="27781" y="144028"/>
                  <a:pt x="27781" y="138906"/>
                </a:cubicBezTo>
                <a:cubicBezTo>
                  <a:pt x="27781" y="133784"/>
                  <a:pt x="31919" y="129646"/>
                  <a:pt x="37042" y="129646"/>
                </a:cubicBezTo>
                <a:lnTo>
                  <a:pt x="83344" y="129646"/>
                </a:lnTo>
                <a:lnTo>
                  <a:pt x="83344" y="44363"/>
                </a:lnTo>
                <a:cubicBezTo>
                  <a:pt x="76543" y="41382"/>
                  <a:pt x="71421" y="35219"/>
                  <a:pt x="69916" y="27781"/>
                </a:cubicBezTo>
                <a:lnTo>
                  <a:pt x="37042" y="27781"/>
                </a:lnTo>
                <a:cubicBezTo>
                  <a:pt x="31919" y="27781"/>
                  <a:pt x="27781" y="23643"/>
                  <a:pt x="27781" y="18521"/>
                </a:cubicBezTo>
                <a:cubicBezTo>
                  <a:pt x="27781" y="13399"/>
                  <a:pt x="31919" y="9260"/>
                  <a:pt x="37042" y="9260"/>
                </a:cubicBezTo>
                <a:lnTo>
                  <a:pt x="74083" y="9260"/>
                </a:lnTo>
                <a:cubicBezTo>
                  <a:pt x="78308" y="3646"/>
                  <a:pt x="85022" y="0"/>
                  <a:pt x="92604" y="0"/>
                </a:cubicBezTo>
                <a:cubicBezTo>
                  <a:pt x="100186" y="0"/>
                  <a:pt x="106900" y="3646"/>
                  <a:pt x="111125" y="9260"/>
                </a:cubicBezTo>
                <a:close/>
                <a:moveTo>
                  <a:pt x="127215" y="92604"/>
                </a:moveTo>
                <a:lnTo>
                  <a:pt x="169118" y="92604"/>
                </a:lnTo>
                <a:lnTo>
                  <a:pt x="148167" y="56662"/>
                </a:lnTo>
                <a:lnTo>
                  <a:pt x="127215" y="92604"/>
                </a:lnTo>
                <a:close/>
                <a:moveTo>
                  <a:pt x="148167" y="120385"/>
                </a:moveTo>
                <a:cubicBezTo>
                  <a:pt x="129964" y="120385"/>
                  <a:pt x="114829" y="110546"/>
                  <a:pt x="111704" y="97553"/>
                </a:cubicBezTo>
                <a:cubicBezTo>
                  <a:pt x="110951" y="94369"/>
                  <a:pt x="111993" y="91099"/>
                  <a:pt x="113643" y="88263"/>
                </a:cubicBezTo>
                <a:lnTo>
                  <a:pt x="141192" y="41035"/>
                </a:lnTo>
                <a:cubicBezTo>
                  <a:pt x="142639" y="38546"/>
                  <a:pt x="145302" y="37042"/>
                  <a:pt x="148167" y="37042"/>
                </a:cubicBezTo>
                <a:cubicBezTo>
                  <a:pt x="151032" y="37042"/>
                  <a:pt x="153694" y="38575"/>
                  <a:pt x="155141" y="41035"/>
                </a:cubicBezTo>
                <a:lnTo>
                  <a:pt x="182691" y="88263"/>
                </a:lnTo>
                <a:cubicBezTo>
                  <a:pt x="184340" y="91099"/>
                  <a:pt x="185382" y="94369"/>
                  <a:pt x="184630" y="97553"/>
                </a:cubicBezTo>
                <a:cubicBezTo>
                  <a:pt x="181504" y="110517"/>
                  <a:pt x="166369" y="120385"/>
                  <a:pt x="148167" y="120385"/>
                </a:cubicBezTo>
                <a:close/>
                <a:moveTo>
                  <a:pt x="36694" y="56662"/>
                </a:moveTo>
                <a:lnTo>
                  <a:pt x="15743" y="92604"/>
                </a:lnTo>
                <a:lnTo>
                  <a:pt x="57675" y="92604"/>
                </a:lnTo>
                <a:lnTo>
                  <a:pt x="36694" y="56662"/>
                </a:lnTo>
                <a:close/>
                <a:moveTo>
                  <a:pt x="260" y="97553"/>
                </a:moveTo>
                <a:cubicBezTo>
                  <a:pt x="-492" y="94369"/>
                  <a:pt x="550" y="91099"/>
                  <a:pt x="2199" y="88263"/>
                </a:cubicBezTo>
                <a:lnTo>
                  <a:pt x="29749" y="41035"/>
                </a:lnTo>
                <a:cubicBezTo>
                  <a:pt x="31196" y="38546"/>
                  <a:pt x="33858" y="37042"/>
                  <a:pt x="36723" y="37042"/>
                </a:cubicBezTo>
                <a:cubicBezTo>
                  <a:pt x="39588" y="37042"/>
                  <a:pt x="42251" y="38575"/>
                  <a:pt x="43698" y="41035"/>
                </a:cubicBezTo>
                <a:lnTo>
                  <a:pt x="71247" y="88263"/>
                </a:lnTo>
                <a:cubicBezTo>
                  <a:pt x="72897" y="91099"/>
                  <a:pt x="73939" y="94369"/>
                  <a:pt x="73186" y="97553"/>
                </a:cubicBezTo>
                <a:cubicBezTo>
                  <a:pt x="70061" y="110517"/>
                  <a:pt x="54926" y="120385"/>
                  <a:pt x="36723" y="120385"/>
                </a:cubicBezTo>
                <a:cubicBezTo>
                  <a:pt x="18521" y="120385"/>
                  <a:pt x="3386" y="110546"/>
                  <a:pt x="260" y="97553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2" name="Text 70"/>
          <p:cNvSpPr/>
          <p:nvPr/>
        </p:nvSpPr>
        <p:spPr>
          <a:xfrm>
            <a:off x="8937624" y="6311892"/>
            <a:ext cx="1714499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弹性网络 (</a:t>
            </a: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Elastic Net</a:t>
            </a: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937625" y="6523559"/>
            <a:ext cx="1513417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结合L1和L2正则化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8519583" y="6989225"/>
            <a:ext cx="7048500" cy="719667"/>
          </a:xfrm>
          <a:custGeom>
            <a:avLst/>
            <a:gdLst/>
            <a:ahLst/>
            <a:cxnLst/>
            <a:rect l="l" t="t" r="r" b="b"/>
            <a:pathLst>
              <a:path w="7048500" h="719667">
                <a:moveTo>
                  <a:pt x="42333" y="0"/>
                </a:moveTo>
                <a:lnTo>
                  <a:pt x="6963831" y="0"/>
                </a:lnTo>
                <a:cubicBezTo>
                  <a:pt x="7010592" y="0"/>
                  <a:pt x="7048500" y="37908"/>
                  <a:pt x="7048500" y="84669"/>
                </a:cubicBezTo>
                <a:lnTo>
                  <a:pt x="7048500" y="634998"/>
                </a:lnTo>
                <a:cubicBezTo>
                  <a:pt x="7048500" y="681728"/>
                  <a:pt x="7010561" y="719667"/>
                  <a:pt x="6963831" y="719667"/>
                </a:cubicBezTo>
                <a:lnTo>
                  <a:pt x="42333" y="719667"/>
                </a:lnTo>
                <a:cubicBezTo>
                  <a:pt x="18953" y="719667"/>
                  <a:pt x="0" y="700713"/>
                  <a:pt x="0" y="677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5" name="Shape 73"/>
          <p:cNvSpPr/>
          <p:nvPr/>
        </p:nvSpPr>
        <p:spPr>
          <a:xfrm>
            <a:off x="8519583" y="6989225"/>
            <a:ext cx="42333" cy="719667"/>
          </a:xfrm>
          <a:custGeom>
            <a:avLst/>
            <a:gdLst/>
            <a:ahLst/>
            <a:cxnLst/>
            <a:rect l="l" t="t" r="r" b="b"/>
            <a:pathLst>
              <a:path w="42333" h="719667">
                <a:moveTo>
                  <a:pt x="42333" y="0"/>
                </a:moveTo>
                <a:lnTo>
                  <a:pt x="42333" y="0"/>
                </a:lnTo>
                <a:lnTo>
                  <a:pt x="42333" y="719667"/>
                </a:lnTo>
                <a:lnTo>
                  <a:pt x="42333" y="719667"/>
                </a:lnTo>
                <a:cubicBezTo>
                  <a:pt x="18953" y="719667"/>
                  <a:pt x="0" y="700713"/>
                  <a:pt x="0" y="677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6" name="Text 74"/>
          <p:cNvSpPr/>
          <p:nvPr/>
        </p:nvSpPr>
        <p:spPr>
          <a:xfrm>
            <a:off x="8667750" y="7116225"/>
            <a:ext cx="6847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朴素贝叶斯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8667750" y="7370225"/>
            <a:ext cx="6836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基于贝叶斯定理和特征条件独立假设的概率分类器，适合文本分类、垃圾邮件识别等NLP任务。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444500" y="8041135"/>
            <a:ext cx="15388167" cy="952500"/>
          </a:xfrm>
          <a:custGeom>
            <a:avLst/>
            <a:gdLst/>
            <a:ahLst/>
            <a:cxnLst/>
            <a:rect l="l" t="t" r="r" b="b"/>
            <a:pathLst>
              <a:path w="15388167" h="952500">
                <a:moveTo>
                  <a:pt x="42333" y="0"/>
                </a:moveTo>
                <a:lnTo>
                  <a:pt x="15303499" y="0"/>
                </a:lnTo>
                <a:cubicBezTo>
                  <a:pt x="15350260" y="0"/>
                  <a:pt x="15388167" y="37907"/>
                  <a:pt x="15388167" y="84668"/>
                </a:cubicBezTo>
                <a:lnTo>
                  <a:pt x="15388167" y="867832"/>
                </a:lnTo>
                <a:cubicBezTo>
                  <a:pt x="15388167" y="914593"/>
                  <a:pt x="15350260" y="952500"/>
                  <a:pt x="15303499" y="952500"/>
                </a:cubicBezTo>
                <a:lnTo>
                  <a:pt x="42333" y="952500"/>
                </a:lnTo>
                <a:cubicBezTo>
                  <a:pt x="18953" y="952500"/>
                  <a:pt x="0" y="933547"/>
                  <a:pt x="0" y="9101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9" name="Shape 77"/>
          <p:cNvSpPr/>
          <p:nvPr/>
        </p:nvSpPr>
        <p:spPr>
          <a:xfrm>
            <a:off x="444500" y="8041135"/>
            <a:ext cx="42333" cy="952500"/>
          </a:xfrm>
          <a:custGeom>
            <a:avLst/>
            <a:gdLst/>
            <a:ahLst/>
            <a:cxnLst/>
            <a:rect l="l" t="t" r="r" b="b"/>
            <a:pathLst>
              <a:path w="42333" h="952500">
                <a:moveTo>
                  <a:pt x="42333" y="0"/>
                </a:moveTo>
                <a:lnTo>
                  <a:pt x="42333" y="0"/>
                </a:lnTo>
                <a:lnTo>
                  <a:pt x="42333" y="952500"/>
                </a:lnTo>
                <a:lnTo>
                  <a:pt x="42333" y="952500"/>
                </a:lnTo>
                <a:cubicBezTo>
                  <a:pt x="18953" y="952500"/>
                  <a:pt x="0" y="933547"/>
                  <a:pt x="0" y="9101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0" name="Shape 78"/>
          <p:cNvSpPr/>
          <p:nvPr/>
        </p:nvSpPr>
        <p:spPr>
          <a:xfrm>
            <a:off x="687917" y="8210468"/>
            <a:ext cx="158750" cy="211667"/>
          </a:xfrm>
          <a:custGeom>
            <a:avLst/>
            <a:gdLst/>
            <a:ahLst/>
            <a:cxnLst/>
            <a:rect l="l" t="t" r="r" b="b"/>
            <a:pathLst>
              <a:path w="158750" h="211667">
                <a:moveTo>
                  <a:pt x="121088" y="158750"/>
                </a:moveTo>
                <a:cubicBezTo>
                  <a:pt x="124106" y="149531"/>
                  <a:pt x="130142" y="141180"/>
                  <a:pt x="136963" y="133987"/>
                </a:cubicBezTo>
                <a:cubicBezTo>
                  <a:pt x="150482" y="119765"/>
                  <a:pt x="158750" y="100542"/>
                  <a:pt x="158750" y="79375"/>
                </a:cubicBezTo>
                <a:cubicBezTo>
                  <a:pt x="158750" y="35553"/>
                  <a:pt x="123197" y="0"/>
                  <a:pt x="79375" y="0"/>
                </a:cubicBezTo>
                <a:cubicBezTo>
                  <a:pt x="35553" y="0"/>
                  <a:pt x="0" y="35553"/>
                  <a:pt x="0" y="79375"/>
                </a:cubicBezTo>
                <a:cubicBezTo>
                  <a:pt x="0" y="100542"/>
                  <a:pt x="8268" y="119765"/>
                  <a:pt x="21787" y="133987"/>
                </a:cubicBezTo>
                <a:cubicBezTo>
                  <a:pt x="28608" y="141180"/>
                  <a:pt x="34685" y="149531"/>
                  <a:pt x="37662" y="158750"/>
                </a:cubicBezTo>
                <a:lnTo>
                  <a:pt x="121047" y="158750"/>
                </a:lnTo>
                <a:close/>
                <a:moveTo>
                  <a:pt x="119063" y="178594"/>
                </a:moveTo>
                <a:lnTo>
                  <a:pt x="39688" y="178594"/>
                </a:lnTo>
                <a:lnTo>
                  <a:pt x="39688" y="185208"/>
                </a:lnTo>
                <a:cubicBezTo>
                  <a:pt x="39688" y="203481"/>
                  <a:pt x="54488" y="218281"/>
                  <a:pt x="72760" y="218281"/>
                </a:cubicBezTo>
                <a:lnTo>
                  <a:pt x="85990" y="218281"/>
                </a:lnTo>
                <a:cubicBezTo>
                  <a:pt x="104262" y="218281"/>
                  <a:pt x="119063" y="203481"/>
                  <a:pt x="119063" y="185208"/>
                </a:cubicBezTo>
                <a:lnTo>
                  <a:pt x="119063" y="178594"/>
                </a:lnTo>
                <a:close/>
                <a:moveTo>
                  <a:pt x="76068" y="46302"/>
                </a:moveTo>
                <a:cubicBezTo>
                  <a:pt x="59614" y="46302"/>
                  <a:pt x="46302" y="59614"/>
                  <a:pt x="46302" y="76068"/>
                </a:cubicBezTo>
                <a:cubicBezTo>
                  <a:pt x="46302" y="81566"/>
                  <a:pt x="41879" y="85990"/>
                  <a:pt x="36380" y="85990"/>
                </a:cubicBezTo>
                <a:cubicBezTo>
                  <a:pt x="30882" y="85990"/>
                  <a:pt x="26458" y="81566"/>
                  <a:pt x="26458" y="76068"/>
                </a:cubicBezTo>
                <a:cubicBezTo>
                  <a:pt x="26458" y="48659"/>
                  <a:pt x="48659" y="26458"/>
                  <a:pt x="76068" y="26458"/>
                </a:cubicBezTo>
                <a:cubicBezTo>
                  <a:pt x="81566" y="26458"/>
                  <a:pt x="85990" y="30882"/>
                  <a:pt x="85990" y="36380"/>
                </a:cubicBezTo>
                <a:cubicBezTo>
                  <a:pt x="85990" y="41879"/>
                  <a:pt x="81566" y="46302"/>
                  <a:pt x="76068" y="46302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1" name="Text 79"/>
          <p:cNvSpPr/>
          <p:nvPr/>
        </p:nvSpPr>
        <p:spPr>
          <a:xfrm>
            <a:off x="1026583" y="8210468"/>
            <a:ext cx="139488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算法选择建议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1026583" y="8549135"/>
            <a:ext cx="13938250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在实际应用中，建议</a:t>
            </a: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从简单算法开始</a:t>
            </a: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（如逻辑回归、决策树），建立baseline，再逐步尝试复杂算法。不同算法各有优势，需要根据数据特点、任务需求、可解释性要求等因素综合考虑。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428625"/>
            <a:ext cx="2159000" cy="349250"/>
          </a:xfrm>
          <a:custGeom>
            <a:avLst/>
            <a:gdLst/>
            <a:ahLst/>
            <a:cxnLst/>
            <a:rect l="l" t="t" r="r" b="b"/>
            <a:pathLst>
              <a:path w="2159000" h="349250">
                <a:moveTo>
                  <a:pt x="42333" y="0"/>
                </a:moveTo>
                <a:lnTo>
                  <a:pt x="2116667" y="0"/>
                </a:lnTo>
                <a:cubicBezTo>
                  <a:pt x="2140047" y="0"/>
                  <a:pt x="2159000" y="18953"/>
                  <a:pt x="2159000" y="42333"/>
                </a:cubicBezTo>
                <a:lnTo>
                  <a:pt x="2159000" y="306917"/>
                </a:lnTo>
                <a:cubicBezTo>
                  <a:pt x="2159000" y="330297"/>
                  <a:pt x="2140047" y="349250"/>
                  <a:pt x="2116667" y="349250"/>
                </a:cubicBezTo>
                <a:lnTo>
                  <a:pt x="42333" y="349250"/>
                </a:lnTo>
                <a:cubicBezTo>
                  <a:pt x="18953" y="349250"/>
                  <a:pt x="0" y="330297"/>
                  <a:pt x="0" y="30691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 w="12700">
            <a:solidFill>
              <a:srgbClr val="5F87A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60917" y="492125"/>
            <a:ext cx="198255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kern="0" spc="67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ENSEMBLE LEARNING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333" y="867833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监督学习：集成学习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25180" y="947208"/>
            <a:ext cx="6050112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通过组合多个弱学习器构建强学习器（对应章节：Ch-04）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8625" y="1289572"/>
            <a:ext cx="15398750" cy="1428750"/>
          </a:xfrm>
          <a:custGeom>
            <a:avLst/>
            <a:gdLst/>
            <a:ahLst/>
            <a:cxnLst/>
            <a:rect l="l" t="t" r="r" b="b"/>
            <a:pathLst>
              <a:path w="15398750" h="1428750">
                <a:moveTo>
                  <a:pt x="127002" y="0"/>
                </a:moveTo>
                <a:lnTo>
                  <a:pt x="15271748" y="0"/>
                </a:lnTo>
                <a:cubicBezTo>
                  <a:pt x="15341889" y="0"/>
                  <a:pt x="15398750" y="56861"/>
                  <a:pt x="15398750" y="127002"/>
                </a:cubicBezTo>
                <a:lnTo>
                  <a:pt x="15398750" y="1301748"/>
                </a:lnTo>
                <a:cubicBezTo>
                  <a:pt x="15398750" y="1371889"/>
                  <a:pt x="15341889" y="1428750"/>
                  <a:pt x="15271748" y="1428750"/>
                </a:cubicBezTo>
                <a:lnTo>
                  <a:pt x="127002" y="1428750"/>
                </a:lnTo>
                <a:cubicBezTo>
                  <a:pt x="56861" y="1428750"/>
                  <a:pt x="0" y="1371889"/>
                  <a:pt x="0" y="1301748"/>
                </a:cubicBezTo>
                <a:lnTo>
                  <a:pt x="0" y="127002"/>
                </a:lnTo>
                <a:cubicBezTo>
                  <a:pt x="0" y="56908"/>
                  <a:pt x="56908" y="0"/>
                  <a:pt x="127002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6ED3CF">
                  <a:alpha val="5000"/>
                </a:srgbClr>
              </a:gs>
            </a:gsLst>
            <a:lin ang="2700000" scaled="1"/>
          </a:gradFill>
          <a:ln w="12700">
            <a:solidFill>
              <a:srgbClr val="6ED3C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45583" y="154886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93750" y="1697030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79375" y="26458"/>
                </a:moveTo>
                <a:cubicBezTo>
                  <a:pt x="79375" y="19141"/>
                  <a:pt x="85287" y="13229"/>
                  <a:pt x="92604" y="13229"/>
                </a:cubicBezTo>
                <a:lnTo>
                  <a:pt x="119063" y="13229"/>
                </a:lnTo>
                <a:cubicBezTo>
                  <a:pt x="126380" y="13229"/>
                  <a:pt x="132292" y="19141"/>
                  <a:pt x="132292" y="26458"/>
                </a:cubicBezTo>
                <a:lnTo>
                  <a:pt x="132292" y="52917"/>
                </a:lnTo>
                <a:cubicBezTo>
                  <a:pt x="132292" y="60234"/>
                  <a:pt x="126380" y="66146"/>
                  <a:pt x="119063" y="66146"/>
                </a:cubicBezTo>
                <a:lnTo>
                  <a:pt x="115755" y="66146"/>
                </a:lnTo>
                <a:lnTo>
                  <a:pt x="115755" y="92604"/>
                </a:lnTo>
                <a:lnTo>
                  <a:pt x="165365" y="92604"/>
                </a:lnTo>
                <a:cubicBezTo>
                  <a:pt x="181818" y="92604"/>
                  <a:pt x="195130" y="105916"/>
                  <a:pt x="195130" y="122370"/>
                </a:cubicBezTo>
                <a:lnTo>
                  <a:pt x="195130" y="145521"/>
                </a:lnTo>
                <a:lnTo>
                  <a:pt x="198438" y="145521"/>
                </a:lnTo>
                <a:cubicBezTo>
                  <a:pt x="205755" y="145521"/>
                  <a:pt x="211667" y="151433"/>
                  <a:pt x="211667" y="158750"/>
                </a:cubicBezTo>
                <a:lnTo>
                  <a:pt x="211667" y="185208"/>
                </a:lnTo>
                <a:cubicBezTo>
                  <a:pt x="211667" y="192526"/>
                  <a:pt x="205755" y="198438"/>
                  <a:pt x="198438" y="198438"/>
                </a:cubicBezTo>
                <a:lnTo>
                  <a:pt x="171979" y="198438"/>
                </a:lnTo>
                <a:cubicBezTo>
                  <a:pt x="164662" y="198438"/>
                  <a:pt x="158750" y="192526"/>
                  <a:pt x="158750" y="185208"/>
                </a:cubicBezTo>
                <a:lnTo>
                  <a:pt x="158750" y="158750"/>
                </a:lnTo>
                <a:cubicBezTo>
                  <a:pt x="158750" y="151433"/>
                  <a:pt x="164662" y="145521"/>
                  <a:pt x="171979" y="145521"/>
                </a:cubicBezTo>
                <a:lnTo>
                  <a:pt x="175286" y="145521"/>
                </a:lnTo>
                <a:lnTo>
                  <a:pt x="175286" y="122370"/>
                </a:lnTo>
                <a:cubicBezTo>
                  <a:pt x="175286" y="116871"/>
                  <a:pt x="170863" y="112448"/>
                  <a:pt x="165365" y="112448"/>
                </a:cubicBezTo>
                <a:lnTo>
                  <a:pt x="115755" y="112448"/>
                </a:lnTo>
                <a:lnTo>
                  <a:pt x="115755" y="145521"/>
                </a:lnTo>
                <a:lnTo>
                  <a:pt x="119063" y="145521"/>
                </a:lnTo>
                <a:cubicBezTo>
                  <a:pt x="126380" y="145521"/>
                  <a:pt x="132292" y="151433"/>
                  <a:pt x="132292" y="158750"/>
                </a:cubicBezTo>
                <a:lnTo>
                  <a:pt x="132292" y="185208"/>
                </a:lnTo>
                <a:cubicBezTo>
                  <a:pt x="132292" y="192526"/>
                  <a:pt x="126380" y="198438"/>
                  <a:pt x="119063" y="198438"/>
                </a:cubicBezTo>
                <a:lnTo>
                  <a:pt x="92604" y="198438"/>
                </a:lnTo>
                <a:cubicBezTo>
                  <a:pt x="85287" y="198438"/>
                  <a:pt x="79375" y="192526"/>
                  <a:pt x="79375" y="185208"/>
                </a:cubicBezTo>
                <a:lnTo>
                  <a:pt x="79375" y="158750"/>
                </a:lnTo>
                <a:cubicBezTo>
                  <a:pt x="79375" y="151433"/>
                  <a:pt x="85287" y="145521"/>
                  <a:pt x="92604" y="145521"/>
                </a:cubicBezTo>
                <a:lnTo>
                  <a:pt x="95911" y="145521"/>
                </a:lnTo>
                <a:lnTo>
                  <a:pt x="95911" y="112448"/>
                </a:lnTo>
                <a:lnTo>
                  <a:pt x="46302" y="112448"/>
                </a:lnTo>
                <a:cubicBezTo>
                  <a:pt x="40804" y="112448"/>
                  <a:pt x="36380" y="116871"/>
                  <a:pt x="36380" y="122370"/>
                </a:cubicBezTo>
                <a:lnTo>
                  <a:pt x="36380" y="145521"/>
                </a:lnTo>
                <a:lnTo>
                  <a:pt x="39688" y="145521"/>
                </a:lnTo>
                <a:cubicBezTo>
                  <a:pt x="47005" y="145521"/>
                  <a:pt x="52917" y="151433"/>
                  <a:pt x="52917" y="158750"/>
                </a:cubicBezTo>
                <a:lnTo>
                  <a:pt x="52917" y="185208"/>
                </a:lnTo>
                <a:cubicBezTo>
                  <a:pt x="52917" y="192526"/>
                  <a:pt x="47005" y="198438"/>
                  <a:pt x="39688" y="198438"/>
                </a:cubicBezTo>
                <a:lnTo>
                  <a:pt x="13229" y="198438"/>
                </a:lnTo>
                <a:cubicBezTo>
                  <a:pt x="5912" y="198438"/>
                  <a:pt x="0" y="192526"/>
                  <a:pt x="0" y="185208"/>
                </a:cubicBezTo>
                <a:lnTo>
                  <a:pt x="0" y="158750"/>
                </a:lnTo>
                <a:cubicBezTo>
                  <a:pt x="0" y="151433"/>
                  <a:pt x="5912" y="145521"/>
                  <a:pt x="13229" y="145521"/>
                </a:cubicBezTo>
                <a:lnTo>
                  <a:pt x="16536" y="145521"/>
                </a:lnTo>
                <a:lnTo>
                  <a:pt x="16536" y="122370"/>
                </a:lnTo>
                <a:cubicBezTo>
                  <a:pt x="16536" y="105916"/>
                  <a:pt x="29848" y="92604"/>
                  <a:pt x="46302" y="92604"/>
                </a:cubicBezTo>
                <a:lnTo>
                  <a:pt x="95911" y="92604"/>
                </a:lnTo>
                <a:lnTo>
                  <a:pt x="95911" y="66146"/>
                </a:lnTo>
                <a:lnTo>
                  <a:pt x="92604" y="66146"/>
                </a:lnTo>
                <a:cubicBezTo>
                  <a:pt x="85287" y="66146"/>
                  <a:pt x="79375" y="60234"/>
                  <a:pt x="79375" y="52917"/>
                </a:cubicBezTo>
                <a:lnTo>
                  <a:pt x="79375" y="26458"/>
                </a:ln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280583" y="1506530"/>
            <a:ext cx="3556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集成学习核心理念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583" y="1845196"/>
            <a:ext cx="3852334" cy="312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"三个臭皮匠，顶个诸葛亮" — 集体智慧的力量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5583" y="2226197"/>
            <a:ext cx="15049500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集成学习通过构建并结合多个学习器来完成学习任务。假设个体学习器之间存在</a:t>
            </a: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差异性</a:t>
            </a: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，通过适当的结合策略，可以显著提升学习系统的泛化能力。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8625" y="2769647"/>
            <a:ext cx="5016500" cy="4974167"/>
          </a:xfrm>
          <a:custGeom>
            <a:avLst/>
            <a:gdLst/>
            <a:ahLst/>
            <a:cxnLst/>
            <a:rect l="l" t="t" r="r" b="b"/>
            <a:pathLst>
              <a:path w="5016500" h="6783917">
                <a:moveTo>
                  <a:pt x="127018" y="0"/>
                </a:moveTo>
                <a:lnTo>
                  <a:pt x="4889482" y="0"/>
                </a:lnTo>
                <a:cubicBezTo>
                  <a:pt x="4959632" y="0"/>
                  <a:pt x="5016500" y="56868"/>
                  <a:pt x="5016500" y="127018"/>
                </a:cubicBezTo>
                <a:lnTo>
                  <a:pt x="5016500" y="6656899"/>
                </a:lnTo>
                <a:cubicBezTo>
                  <a:pt x="5016500" y="6727049"/>
                  <a:pt x="4959632" y="6783917"/>
                  <a:pt x="4889482" y="6783917"/>
                </a:cubicBezTo>
                <a:lnTo>
                  <a:pt x="127018" y="6783917"/>
                </a:lnTo>
                <a:cubicBezTo>
                  <a:pt x="56868" y="6783917"/>
                  <a:pt x="0" y="6727049"/>
                  <a:pt x="0" y="6656899"/>
                </a:cubicBezTo>
                <a:lnTo>
                  <a:pt x="0" y="127018"/>
                </a:lnTo>
                <a:cubicBezTo>
                  <a:pt x="0" y="56868"/>
                  <a:pt x="56868" y="0"/>
                  <a:pt x="127018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45583" y="2986606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57911" y="3092439"/>
            <a:ext cx="1905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583" y="3071272"/>
            <a:ext cx="109008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Bagging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5583" y="3663939"/>
            <a:ext cx="4667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并行式集成学习方法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5583" y="4044939"/>
            <a:ext cx="4582583" cy="1164167"/>
          </a:xfrm>
          <a:custGeom>
            <a:avLst/>
            <a:gdLst/>
            <a:ahLst/>
            <a:cxnLst/>
            <a:rect l="l" t="t" r="r" b="b"/>
            <a:pathLst>
              <a:path w="4582583" h="1164167">
                <a:moveTo>
                  <a:pt x="84670" y="0"/>
                </a:moveTo>
                <a:lnTo>
                  <a:pt x="4497913" y="0"/>
                </a:lnTo>
                <a:cubicBezTo>
                  <a:pt x="4544675" y="0"/>
                  <a:pt x="4582583" y="37908"/>
                  <a:pt x="4582583" y="84670"/>
                </a:cubicBezTo>
                <a:lnTo>
                  <a:pt x="4582583" y="1079497"/>
                </a:lnTo>
                <a:cubicBezTo>
                  <a:pt x="4582583" y="1126259"/>
                  <a:pt x="4544675" y="1164167"/>
                  <a:pt x="4497913" y="1164167"/>
                </a:cubicBezTo>
                <a:lnTo>
                  <a:pt x="84670" y="1164167"/>
                </a:lnTo>
                <a:cubicBezTo>
                  <a:pt x="37908" y="1164167"/>
                  <a:pt x="0" y="1126259"/>
                  <a:pt x="0" y="1079497"/>
                </a:cubicBezTo>
                <a:lnTo>
                  <a:pt x="0" y="84670"/>
                </a:lnTo>
                <a:cubicBezTo>
                  <a:pt x="0" y="37939"/>
                  <a:pt x="37939" y="0"/>
                  <a:pt x="8467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14917" y="4214272"/>
            <a:ext cx="43285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核心思想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4917" y="4552939"/>
            <a:ext cx="4318000" cy="486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通过</a:t>
            </a:r>
            <a:r>
              <a:rPr lang="en-US" sz="1167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自助采样法</a:t>
            </a: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获得多个训练集，分别训练基学习器，然后通过投票或平均进行结合。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66750" y="5330814"/>
            <a:ext cx="4561417" cy="1227667"/>
          </a:xfrm>
          <a:custGeom>
            <a:avLst/>
            <a:gdLst/>
            <a:ahLst/>
            <a:cxnLst/>
            <a:rect l="l" t="t" r="r" b="b"/>
            <a:pathLst>
              <a:path w="4561417" h="1227667">
                <a:moveTo>
                  <a:pt x="42333" y="0"/>
                </a:moveTo>
                <a:lnTo>
                  <a:pt x="4476744" y="0"/>
                </a:lnTo>
                <a:cubicBezTo>
                  <a:pt x="4523508" y="0"/>
                  <a:pt x="4561417" y="37909"/>
                  <a:pt x="4561417" y="84672"/>
                </a:cubicBezTo>
                <a:lnTo>
                  <a:pt x="4561417" y="1142994"/>
                </a:lnTo>
                <a:cubicBezTo>
                  <a:pt x="4561417" y="1189758"/>
                  <a:pt x="4523508" y="1227667"/>
                  <a:pt x="4476744" y="1227667"/>
                </a:cubicBezTo>
                <a:lnTo>
                  <a:pt x="42333" y="1227667"/>
                </a:lnTo>
                <a:cubicBezTo>
                  <a:pt x="18953" y="1227667"/>
                  <a:pt x="0" y="1208713"/>
                  <a:pt x="0" y="1185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66750" y="5330814"/>
            <a:ext cx="42333" cy="1227667"/>
          </a:xfrm>
          <a:custGeom>
            <a:avLst/>
            <a:gdLst/>
            <a:ahLst/>
            <a:cxnLst/>
            <a:rect l="l" t="t" r="r" b="b"/>
            <a:pathLst>
              <a:path w="42333" h="1227667">
                <a:moveTo>
                  <a:pt x="42333" y="0"/>
                </a:moveTo>
                <a:lnTo>
                  <a:pt x="42333" y="0"/>
                </a:lnTo>
                <a:lnTo>
                  <a:pt x="42333" y="1227667"/>
                </a:lnTo>
                <a:lnTo>
                  <a:pt x="42333" y="1227667"/>
                </a:lnTo>
                <a:cubicBezTo>
                  <a:pt x="18953" y="1227667"/>
                  <a:pt x="0" y="1208713"/>
                  <a:pt x="0" y="1185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57250" y="5500147"/>
            <a:ext cx="4286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代表算法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7250" y="5838814"/>
            <a:ext cx="42968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随机森林 (</a:t>
            </a:r>
            <a:r>
              <a:rPr lang="en-US" sz="1500" dirty="0">
                <a:solidFill>
                  <a:srgbClr val="6ED3CF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Random Forest</a:t>
            </a:r>
            <a:r>
              <a:rPr lang="en-US" sz="1500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7250" y="6177481"/>
            <a:ext cx="4275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Bagging</a:t>
            </a: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+ 决策树 + 随机特征选择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5583" y="6685481"/>
            <a:ext cx="4656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降低方差，防止过拟合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5583" y="6939481"/>
            <a:ext cx="4656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并行训练，效率高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5583" y="7193481"/>
            <a:ext cx="4656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适合高维数据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621486" y="2769648"/>
            <a:ext cx="5016500" cy="4974166"/>
          </a:xfrm>
          <a:custGeom>
            <a:avLst/>
            <a:gdLst/>
            <a:ahLst/>
            <a:cxnLst/>
            <a:rect l="l" t="t" r="r" b="b"/>
            <a:pathLst>
              <a:path w="5016500" h="6783917">
                <a:moveTo>
                  <a:pt x="127018" y="0"/>
                </a:moveTo>
                <a:lnTo>
                  <a:pt x="4889482" y="0"/>
                </a:lnTo>
                <a:cubicBezTo>
                  <a:pt x="4959632" y="0"/>
                  <a:pt x="5016500" y="56868"/>
                  <a:pt x="5016500" y="127018"/>
                </a:cubicBezTo>
                <a:lnTo>
                  <a:pt x="5016500" y="6656899"/>
                </a:lnTo>
                <a:cubicBezTo>
                  <a:pt x="5016500" y="6727049"/>
                  <a:pt x="4959632" y="6783917"/>
                  <a:pt x="4889482" y="6783917"/>
                </a:cubicBezTo>
                <a:lnTo>
                  <a:pt x="127018" y="6783917"/>
                </a:lnTo>
                <a:cubicBezTo>
                  <a:pt x="56868" y="6783917"/>
                  <a:pt x="0" y="6727049"/>
                  <a:pt x="0" y="6656899"/>
                </a:cubicBezTo>
                <a:lnTo>
                  <a:pt x="0" y="127018"/>
                </a:lnTo>
                <a:cubicBezTo>
                  <a:pt x="0" y="56868"/>
                  <a:pt x="56868" y="0"/>
                  <a:pt x="127018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6ED3CF">
                  <a:alpha val="5000"/>
                </a:srgbClr>
              </a:gs>
            </a:gsLst>
            <a:lin ang="2700000" scaled="1"/>
          </a:gradFill>
          <a:ln w="12700">
            <a:solidFill>
              <a:srgbClr val="6ED3C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5838445" y="2986606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032913" y="3092439"/>
            <a:ext cx="222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1A1D24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73445" y="3071272"/>
            <a:ext cx="115358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Boosting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838445" y="3663939"/>
            <a:ext cx="4667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串行式集成学习方法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838445" y="4044939"/>
            <a:ext cx="4582583" cy="1164167"/>
          </a:xfrm>
          <a:custGeom>
            <a:avLst/>
            <a:gdLst/>
            <a:ahLst/>
            <a:cxnLst/>
            <a:rect l="l" t="t" r="r" b="b"/>
            <a:pathLst>
              <a:path w="4582583" h="1164167">
                <a:moveTo>
                  <a:pt x="84670" y="0"/>
                </a:moveTo>
                <a:lnTo>
                  <a:pt x="4497913" y="0"/>
                </a:lnTo>
                <a:cubicBezTo>
                  <a:pt x="4544675" y="0"/>
                  <a:pt x="4582583" y="37908"/>
                  <a:pt x="4582583" y="84670"/>
                </a:cubicBezTo>
                <a:lnTo>
                  <a:pt x="4582583" y="1079497"/>
                </a:lnTo>
                <a:cubicBezTo>
                  <a:pt x="4582583" y="1126259"/>
                  <a:pt x="4544675" y="1164167"/>
                  <a:pt x="4497913" y="1164167"/>
                </a:cubicBezTo>
                <a:lnTo>
                  <a:pt x="84670" y="1164167"/>
                </a:lnTo>
                <a:cubicBezTo>
                  <a:pt x="37908" y="1164167"/>
                  <a:pt x="0" y="1126259"/>
                  <a:pt x="0" y="1079497"/>
                </a:cubicBezTo>
                <a:lnTo>
                  <a:pt x="0" y="84670"/>
                </a:lnTo>
                <a:cubicBezTo>
                  <a:pt x="0" y="37939"/>
                  <a:pt x="37939" y="0"/>
                  <a:pt x="8467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007778" y="4214272"/>
            <a:ext cx="43285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核心思想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007778" y="4552939"/>
            <a:ext cx="4318000" cy="486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通过</a:t>
            </a:r>
            <a:r>
              <a:rPr lang="en-US" sz="1167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加权</a:t>
            </a: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的方式，关注前一个学习器的错误样本，串行训练多个学习器。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838445" y="5330814"/>
            <a:ext cx="4582583" cy="677333"/>
          </a:xfrm>
          <a:custGeom>
            <a:avLst/>
            <a:gdLst/>
            <a:ahLst/>
            <a:cxnLst/>
            <a:rect l="l" t="t" r="r" b="b"/>
            <a:pathLst>
              <a:path w="4582583" h="677333">
                <a:moveTo>
                  <a:pt x="84667" y="0"/>
                </a:moveTo>
                <a:lnTo>
                  <a:pt x="4497917" y="0"/>
                </a:lnTo>
                <a:cubicBezTo>
                  <a:pt x="4544677" y="0"/>
                  <a:pt x="4582583" y="37907"/>
                  <a:pt x="4582583" y="84667"/>
                </a:cubicBezTo>
                <a:lnTo>
                  <a:pt x="4582583" y="592667"/>
                </a:lnTo>
                <a:cubicBezTo>
                  <a:pt x="4582583" y="639427"/>
                  <a:pt x="4544677" y="677333"/>
                  <a:pt x="4497917" y="677333"/>
                </a:cubicBezTo>
                <a:lnTo>
                  <a:pt x="84667" y="677333"/>
                </a:lnTo>
                <a:cubicBezTo>
                  <a:pt x="37907" y="677333"/>
                  <a:pt x="0" y="639427"/>
                  <a:pt x="0" y="592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5965445" y="5457814"/>
            <a:ext cx="4402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AdaBoost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965445" y="5711814"/>
            <a:ext cx="43920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自适应提升，调整样本权重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38445" y="6092814"/>
            <a:ext cx="4582583" cy="677333"/>
          </a:xfrm>
          <a:custGeom>
            <a:avLst/>
            <a:gdLst/>
            <a:ahLst/>
            <a:cxnLst/>
            <a:rect l="l" t="t" r="r" b="b"/>
            <a:pathLst>
              <a:path w="4582583" h="677333">
                <a:moveTo>
                  <a:pt x="84667" y="0"/>
                </a:moveTo>
                <a:lnTo>
                  <a:pt x="4497917" y="0"/>
                </a:lnTo>
                <a:cubicBezTo>
                  <a:pt x="4544677" y="0"/>
                  <a:pt x="4582583" y="37907"/>
                  <a:pt x="4582583" y="84667"/>
                </a:cubicBezTo>
                <a:lnTo>
                  <a:pt x="4582583" y="592667"/>
                </a:lnTo>
                <a:cubicBezTo>
                  <a:pt x="4582583" y="639427"/>
                  <a:pt x="4544677" y="677333"/>
                  <a:pt x="4497917" y="677333"/>
                </a:cubicBezTo>
                <a:lnTo>
                  <a:pt x="84667" y="677333"/>
                </a:lnTo>
                <a:cubicBezTo>
                  <a:pt x="37907" y="677333"/>
                  <a:pt x="0" y="639427"/>
                  <a:pt x="0" y="592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5965445" y="6219814"/>
            <a:ext cx="4402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GBDT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965445" y="6473814"/>
            <a:ext cx="439208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梯度提升决策树，拟合残差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838445" y="6897147"/>
            <a:ext cx="4656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降低偏差，精度高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838445" y="7151147"/>
            <a:ext cx="4656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串行训练，效率较低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838445" y="7405147"/>
            <a:ext cx="4656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容易过拟合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0814348" y="2769647"/>
            <a:ext cx="5016500" cy="4974167"/>
          </a:xfrm>
          <a:custGeom>
            <a:avLst/>
            <a:gdLst/>
            <a:ahLst/>
            <a:cxnLst/>
            <a:rect l="l" t="t" r="r" b="b"/>
            <a:pathLst>
              <a:path w="5016500" h="6783917">
                <a:moveTo>
                  <a:pt x="127018" y="0"/>
                </a:moveTo>
                <a:lnTo>
                  <a:pt x="4889482" y="0"/>
                </a:lnTo>
                <a:cubicBezTo>
                  <a:pt x="4959632" y="0"/>
                  <a:pt x="5016500" y="56868"/>
                  <a:pt x="5016500" y="127018"/>
                </a:cubicBezTo>
                <a:lnTo>
                  <a:pt x="5016500" y="6656899"/>
                </a:lnTo>
                <a:cubicBezTo>
                  <a:pt x="5016500" y="6727049"/>
                  <a:pt x="4959632" y="6783917"/>
                  <a:pt x="4889482" y="6783917"/>
                </a:cubicBezTo>
                <a:lnTo>
                  <a:pt x="127018" y="6783917"/>
                </a:lnTo>
                <a:cubicBezTo>
                  <a:pt x="56868" y="6783917"/>
                  <a:pt x="0" y="6727049"/>
                  <a:pt x="0" y="6656899"/>
                </a:cubicBezTo>
                <a:lnTo>
                  <a:pt x="0" y="127018"/>
                </a:lnTo>
                <a:cubicBezTo>
                  <a:pt x="0" y="56868"/>
                  <a:pt x="56868" y="0"/>
                  <a:pt x="127018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11031306" y="2986606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11223046" y="3092439"/>
            <a:ext cx="2328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666306" y="3071272"/>
            <a:ext cx="11218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Stacking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11031306" y="3663939"/>
            <a:ext cx="4667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模型堆叠方法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1031306" y="4044939"/>
            <a:ext cx="4582583" cy="1164167"/>
          </a:xfrm>
          <a:custGeom>
            <a:avLst/>
            <a:gdLst/>
            <a:ahLst/>
            <a:cxnLst/>
            <a:rect l="l" t="t" r="r" b="b"/>
            <a:pathLst>
              <a:path w="4582583" h="1164167">
                <a:moveTo>
                  <a:pt x="84670" y="0"/>
                </a:moveTo>
                <a:lnTo>
                  <a:pt x="4497913" y="0"/>
                </a:lnTo>
                <a:cubicBezTo>
                  <a:pt x="4544675" y="0"/>
                  <a:pt x="4582583" y="37908"/>
                  <a:pt x="4582583" y="84670"/>
                </a:cubicBezTo>
                <a:lnTo>
                  <a:pt x="4582583" y="1079497"/>
                </a:lnTo>
                <a:cubicBezTo>
                  <a:pt x="4582583" y="1126259"/>
                  <a:pt x="4544675" y="1164167"/>
                  <a:pt x="4497913" y="1164167"/>
                </a:cubicBezTo>
                <a:lnTo>
                  <a:pt x="84670" y="1164167"/>
                </a:lnTo>
                <a:cubicBezTo>
                  <a:pt x="37908" y="1164167"/>
                  <a:pt x="0" y="1126259"/>
                  <a:pt x="0" y="1079497"/>
                </a:cubicBezTo>
                <a:lnTo>
                  <a:pt x="0" y="84670"/>
                </a:lnTo>
                <a:cubicBezTo>
                  <a:pt x="0" y="37939"/>
                  <a:pt x="37939" y="0"/>
                  <a:pt x="8467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11200639" y="4214272"/>
            <a:ext cx="43285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核心思想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200639" y="4552939"/>
            <a:ext cx="4318000" cy="486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使用一个</a:t>
            </a:r>
            <a:r>
              <a:rPr lang="en-US" sz="1167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元模型</a:t>
            </a: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来组合多个基础模型的预测结果，形成层次化的集成结构。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1031306" y="5330814"/>
            <a:ext cx="4582583" cy="1566333"/>
          </a:xfrm>
          <a:custGeom>
            <a:avLst/>
            <a:gdLst/>
            <a:ahLst/>
            <a:cxnLst/>
            <a:rect l="l" t="t" r="r" b="b"/>
            <a:pathLst>
              <a:path w="4582583" h="1566333">
                <a:moveTo>
                  <a:pt x="84660" y="0"/>
                </a:moveTo>
                <a:lnTo>
                  <a:pt x="4497923" y="0"/>
                </a:lnTo>
                <a:cubicBezTo>
                  <a:pt x="4544680" y="0"/>
                  <a:pt x="4582583" y="37904"/>
                  <a:pt x="4582583" y="84660"/>
                </a:cubicBezTo>
                <a:lnTo>
                  <a:pt x="4582583" y="1481673"/>
                </a:lnTo>
                <a:cubicBezTo>
                  <a:pt x="4582583" y="1528430"/>
                  <a:pt x="4544680" y="1566333"/>
                  <a:pt x="4497923" y="1566333"/>
                </a:cubicBezTo>
                <a:lnTo>
                  <a:pt x="84660" y="1566333"/>
                </a:lnTo>
                <a:cubicBezTo>
                  <a:pt x="37904" y="1566333"/>
                  <a:pt x="0" y="1528430"/>
                  <a:pt x="0" y="1481673"/>
                </a:cubicBezTo>
                <a:lnTo>
                  <a:pt x="0" y="84660"/>
                </a:lnTo>
                <a:cubicBezTo>
                  <a:pt x="0" y="37935"/>
                  <a:pt x="37935" y="0"/>
                  <a:pt x="8466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11158306" y="5457814"/>
            <a:ext cx="4413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实现步骤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1158306" y="5796481"/>
            <a:ext cx="4402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1. 训练多个不同类型的基础模型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158306" y="6050481"/>
            <a:ext cx="4402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2. 使用验证集生成预测结果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1158306" y="6304481"/>
            <a:ext cx="4402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3. 将预测结果作为新特征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158306" y="6558481"/>
            <a:ext cx="4402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4. 训练元模型进行最终预测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031306" y="7024147"/>
            <a:ext cx="4656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组合异构模型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1031306" y="7278147"/>
            <a:ext cx="4656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灵活性强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1031306" y="7532147"/>
            <a:ext cx="4656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容易过拟合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44500" y="7842230"/>
            <a:ext cx="15388167" cy="1227667"/>
          </a:xfrm>
          <a:custGeom>
            <a:avLst/>
            <a:gdLst/>
            <a:ahLst/>
            <a:cxnLst/>
            <a:rect l="l" t="t" r="r" b="b"/>
            <a:pathLst>
              <a:path w="15388167" h="1227667">
                <a:moveTo>
                  <a:pt x="42333" y="0"/>
                </a:moveTo>
                <a:lnTo>
                  <a:pt x="15303494" y="0"/>
                </a:lnTo>
                <a:cubicBezTo>
                  <a:pt x="15350258" y="0"/>
                  <a:pt x="15388167" y="37909"/>
                  <a:pt x="15388167" y="84672"/>
                </a:cubicBezTo>
                <a:lnTo>
                  <a:pt x="15388167" y="1142994"/>
                </a:lnTo>
                <a:cubicBezTo>
                  <a:pt x="15388167" y="1189758"/>
                  <a:pt x="15350258" y="1227667"/>
                  <a:pt x="15303494" y="1227667"/>
                </a:cubicBezTo>
                <a:lnTo>
                  <a:pt x="42333" y="1227667"/>
                </a:lnTo>
                <a:cubicBezTo>
                  <a:pt x="18953" y="1227667"/>
                  <a:pt x="0" y="1208713"/>
                  <a:pt x="0" y="1185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444500" y="7842230"/>
            <a:ext cx="42333" cy="1227667"/>
          </a:xfrm>
          <a:custGeom>
            <a:avLst/>
            <a:gdLst/>
            <a:ahLst/>
            <a:cxnLst/>
            <a:rect l="l" t="t" r="r" b="b"/>
            <a:pathLst>
              <a:path w="42333" h="1227667">
                <a:moveTo>
                  <a:pt x="42333" y="0"/>
                </a:moveTo>
                <a:lnTo>
                  <a:pt x="42333" y="0"/>
                </a:lnTo>
                <a:lnTo>
                  <a:pt x="42333" y="1227667"/>
                </a:lnTo>
                <a:lnTo>
                  <a:pt x="42333" y="1227667"/>
                </a:lnTo>
                <a:cubicBezTo>
                  <a:pt x="18953" y="1227667"/>
                  <a:pt x="0" y="1208713"/>
                  <a:pt x="0" y="1185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650875" y="8011563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59655" y="0"/>
                </a:moveTo>
                <a:lnTo>
                  <a:pt x="152259" y="0"/>
                </a:lnTo>
                <a:cubicBezTo>
                  <a:pt x="163215" y="0"/>
                  <a:pt x="172145" y="9012"/>
                  <a:pt x="171731" y="19926"/>
                </a:cubicBezTo>
                <a:cubicBezTo>
                  <a:pt x="171648" y="22118"/>
                  <a:pt x="171566" y="24309"/>
                  <a:pt x="171442" y="26458"/>
                </a:cubicBezTo>
                <a:lnTo>
                  <a:pt x="191947" y="26458"/>
                </a:lnTo>
                <a:cubicBezTo>
                  <a:pt x="202737" y="26458"/>
                  <a:pt x="212245" y="35388"/>
                  <a:pt x="211419" y="47046"/>
                </a:cubicBezTo>
                <a:cubicBezTo>
                  <a:pt x="208318" y="89917"/>
                  <a:pt x="186407" y="113481"/>
                  <a:pt x="162636" y="125801"/>
                </a:cubicBezTo>
                <a:cubicBezTo>
                  <a:pt x="156104" y="129191"/>
                  <a:pt x="149448" y="131713"/>
                  <a:pt x="143123" y="133573"/>
                </a:cubicBezTo>
                <a:cubicBezTo>
                  <a:pt x="134772" y="145397"/>
                  <a:pt x="126090" y="151639"/>
                  <a:pt x="119187" y="154988"/>
                </a:cubicBezTo>
                <a:lnTo>
                  <a:pt x="119187" y="185208"/>
                </a:lnTo>
                <a:lnTo>
                  <a:pt x="145645" y="185208"/>
                </a:lnTo>
                <a:cubicBezTo>
                  <a:pt x="152962" y="185208"/>
                  <a:pt x="158874" y="191120"/>
                  <a:pt x="158874" y="198438"/>
                </a:cubicBezTo>
                <a:cubicBezTo>
                  <a:pt x="158874" y="205755"/>
                  <a:pt x="152962" y="211667"/>
                  <a:pt x="145645" y="211667"/>
                </a:cubicBezTo>
                <a:lnTo>
                  <a:pt x="66270" y="211667"/>
                </a:lnTo>
                <a:cubicBezTo>
                  <a:pt x="58952" y="211667"/>
                  <a:pt x="53041" y="205755"/>
                  <a:pt x="53041" y="198438"/>
                </a:cubicBezTo>
                <a:cubicBezTo>
                  <a:pt x="53041" y="191120"/>
                  <a:pt x="58952" y="185208"/>
                  <a:pt x="66270" y="185208"/>
                </a:cubicBezTo>
                <a:lnTo>
                  <a:pt x="92728" y="185208"/>
                </a:lnTo>
                <a:lnTo>
                  <a:pt x="92728" y="154988"/>
                </a:lnTo>
                <a:cubicBezTo>
                  <a:pt x="86114" y="151805"/>
                  <a:pt x="77887" y="145893"/>
                  <a:pt x="69867" y="135020"/>
                </a:cubicBezTo>
                <a:cubicBezTo>
                  <a:pt x="62260" y="133036"/>
                  <a:pt x="53992" y="130018"/>
                  <a:pt x="45930" y="125470"/>
                </a:cubicBezTo>
                <a:cubicBezTo>
                  <a:pt x="23564" y="112944"/>
                  <a:pt x="3390" y="89338"/>
                  <a:pt x="496" y="46964"/>
                </a:cubicBezTo>
                <a:cubicBezTo>
                  <a:pt x="-289" y="35347"/>
                  <a:pt x="9178" y="26417"/>
                  <a:pt x="19968" y="26417"/>
                </a:cubicBezTo>
                <a:lnTo>
                  <a:pt x="40473" y="26417"/>
                </a:lnTo>
                <a:cubicBezTo>
                  <a:pt x="40349" y="24267"/>
                  <a:pt x="40266" y="22118"/>
                  <a:pt x="40184" y="19885"/>
                </a:cubicBezTo>
                <a:cubicBezTo>
                  <a:pt x="39770" y="8930"/>
                  <a:pt x="48700" y="-41"/>
                  <a:pt x="59655" y="-41"/>
                </a:cubicBezTo>
                <a:close/>
                <a:moveTo>
                  <a:pt x="41961" y="46302"/>
                </a:moveTo>
                <a:lnTo>
                  <a:pt x="20299" y="46302"/>
                </a:lnTo>
                <a:cubicBezTo>
                  <a:pt x="22862" y="81318"/>
                  <a:pt x="38943" y="98847"/>
                  <a:pt x="55521" y="108148"/>
                </a:cubicBezTo>
                <a:cubicBezTo>
                  <a:pt x="49568" y="92728"/>
                  <a:pt x="44648" y="72595"/>
                  <a:pt x="41961" y="46302"/>
                </a:cubicBezTo>
                <a:close/>
                <a:moveTo>
                  <a:pt x="157096" y="106164"/>
                </a:moveTo>
                <a:cubicBezTo>
                  <a:pt x="173840" y="96325"/>
                  <a:pt x="188970" y="78838"/>
                  <a:pt x="191534" y="46302"/>
                </a:cubicBezTo>
                <a:lnTo>
                  <a:pt x="169912" y="46302"/>
                </a:lnTo>
                <a:cubicBezTo>
                  <a:pt x="167349" y="71479"/>
                  <a:pt x="162719" y="91033"/>
                  <a:pt x="157096" y="106164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1008145" y="8011563"/>
            <a:ext cx="14753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集成学习的实战建议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008145" y="8350230"/>
            <a:ext cx="14742583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在实际应用中，</a:t>
            </a: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随机森林</a:t>
            </a: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是通用性最强的算法之一，适合作为baseline；</a:t>
            </a: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GBDT及其变体</a:t>
            </a: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（如XGBoost、LightGBM）在结构化数据竞赛中表现优异；</a:t>
            </a: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Stacking</a:t>
            </a: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适合在竞赛中追求极致性能，但需要注意防止过拟合。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428625"/>
            <a:ext cx="1682750" cy="349250"/>
          </a:xfrm>
          <a:custGeom>
            <a:avLst/>
            <a:gdLst/>
            <a:ahLst/>
            <a:cxnLst/>
            <a:rect l="l" t="t" r="r" b="b"/>
            <a:pathLst>
              <a:path w="1682750" h="349250">
                <a:moveTo>
                  <a:pt x="42333" y="0"/>
                </a:moveTo>
                <a:lnTo>
                  <a:pt x="1640417" y="0"/>
                </a:lnTo>
                <a:cubicBezTo>
                  <a:pt x="1663797" y="0"/>
                  <a:pt x="1682750" y="18953"/>
                  <a:pt x="1682750" y="42333"/>
                </a:cubicBezTo>
                <a:lnTo>
                  <a:pt x="1682750" y="306917"/>
                </a:lnTo>
                <a:cubicBezTo>
                  <a:pt x="1682750" y="330297"/>
                  <a:pt x="1663797" y="349250"/>
                  <a:pt x="1640417" y="349250"/>
                </a:cubicBezTo>
                <a:lnTo>
                  <a:pt x="42333" y="349250"/>
                </a:lnTo>
                <a:cubicBezTo>
                  <a:pt x="18953" y="349250"/>
                  <a:pt x="0" y="330297"/>
                  <a:pt x="0" y="30691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 w="12700">
            <a:solidFill>
              <a:srgbClr val="5F87A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60917" y="492125"/>
            <a:ext cx="149861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kern="0" spc="67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333" y="867833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监督学习：深度学习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935264" y="890587"/>
            <a:ext cx="5198153" cy="35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使用深层神经网络学习数据的高级抽象表示（对应章节：Ch-14）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8625" y="1246712"/>
            <a:ext cx="7588250" cy="4426479"/>
          </a:xfrm>
          <a:custGeom>
            <a:avLst/>
            <a:gdLst/>
            <a:ahLst/>
            <a:cxnLst/>
            <a:rect l="l" t="t" r="r" b="b"/>
            <a:pathLst>
              <a:path w="7588250" h="4508500">
                <a:moveTo>
                  <a:pt x="127004" y="0"/>
                </a:moveTo>
                <a:lnTo>
                  <a:pt x="7461246" y="0"/>
                </a:lnTo>
                <a:cubicBezTo>
                  <a:pt x="7531388" y="0"/>
                  <a:pt x="7588250" y="56862"/>
                  <a:pt x="7588250" y="127004"/>
                </a:cubicBezTo>
                <a:lnTo>
                  <a:pt x="7588250" y="4381496"/>
                </a:lnTo>
                <a:cubicBezTo>
                  <a:pt x="7588250" y="4451638"/>
                  <a:pt x="7531388" y="4508500"/>
                  <a:pt x="7461246" y="4508500"/>
                </a:cubicBezTo>
                <a:lnTo>
                  <a:pt x="127004" y="4508500"/>
                </a:lnTo>
                <a:cubicBezTo>
                  <a:pt x="56862" y="4508500"/>
                  <a:pt x="0" y="4451638"/>
                  <a:pt x="0" y="4381496"/>
                </a:cubicBezTo>
                <a:lnTo>
                  <a:pt x="0" y="127004"/>
                </a:lnTo>
                <a:cubicBezTo>
                  <a:pt x="0" y="56909"/>
                  <a:pt x="56909" y="0"/>
                  <a:pt x="127004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87917" y="150600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36083" y="1654170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49609" y="23151"/>
                </a:moveTo>
                <a:cubicBezTo>
                  <a:pt x="49609" y="10377"/>
                  <a:pt x="59986" y="0"/>
                  <a:pt x="72760" y="0"/>
                </a:cubicBezTo>
                <a:lnTo>
                  <a:pt x="82682" y="0"/>
                </a:lnTo>
                <a:cubicBezTo>
                  <a:pt x="90000" y="0"/>
                  <a:pt x="95911" y="5912"/>
                  <a:pt x="95911" y="13229"/>
                </a:cubicBezTo>
                <a:lnTo>
                  <a:pt x="95911" y="198438"/>
                </a:lnTo>
                <a:cubicBezTo>
                  <a:pt x="95911" y="205755"/>
                  <a:pt x="90000" y="211667"/>
                  <a:pt x="82682" y="211667"/>
                </a:cubicBezTo>
                <a:lnTo>
                  <a:pt x="69453" y="211667"/>
                </a:lnTo>
                <a:cubicBezTo>
                  <a:pt x="57133" y="211667"/>
                  <a:pt x="46757" y="203233"/>
                  <a:pt x="43822" y="191823"/>
                </a:cubicBezTo>
                <a:cubicBezTo>
                  <a:pt x="43532" y="191823"/>
                  <a:pt x="43284" y="191823"/>
                  <a:pt x="42995" y="191823"/>
                </a:cubicBezTo>
                <a:cubicBezTo>
                  <a:pt x="24722" y="191823"/>
                  <a:pt x="9922" y="177023"/>
                  <a:pt x="9922" y="158750"/>
                </a:cubicBezTo>
                <a:cubicBezTo>
                  <a:pt x="9922" y="151309"/>
                  <a:pt x="12402" y="144446"/>
                  <a:pt x="16536" y="138906"/>
                </a:cubicBezTo>
                <a:cubicBezTo>
                  <a:pt x="8516" y="132870"/>
                  <a:pt x="3307" y="123279"/>
                  <a:pt x="3307" y="112448"/>
                </a:cubicBezTo>
                <a:cubicBezTo>
                  <a:pt x="3307" y="99674"/>
                  <a:pt x="10583" y="88553"/>
                  <a:pt x="21167" y="83054"/>
                </a:cubicBezTo>
                <a:cubicBezTo>
                  <a:pt x="18231" y="78093"/>
                  <a:pt x="16536" y="72306"/>
                  <a:pt x="16536" y="66146"/>
                </a:cubicBezTo>
                <a:cubicBezTo>
                  <a:pt x="16536" y="47873"/>
                  <a:pt x="31337" y="33073"/>
                  <a:pt x="49609" y="33073"/>
                </a:cubicBezTo>
                <a:lnTo>
                  <a:pt x="49609" y="23151"/>
                </a:lnTo>
                <a:close/>
                <a:moveTo>
                  <a:pt x="162057" y="23151"/>
                </a:moveTo>
                <a:lnTo>
                  <a:pt x="162057" y="33073"/>
                </a:lnTo>
                <a:cubicBezTo>
                  <a:pt x="180330" y="33073"/>
                  <a:pt x="195130" y="47873"/>
                  <a:pt x="195130" y="66146"/>
                </a:cubicBezTo>
                <a:cubicBezTo>
                  <a:pt x="195130" y="72347"/>
                  <a:pt x="193435" y="78135"/>
                  <a:pt x="190500" y="83054"/>
                </a:cubicBezTo>
                <a:cubicBezTo>
                  <a:pt x="201125" y="88553"/>
                  <a:pt x="208359" y="99632"/>
                  <a:pt x="208359" y="112448"/>
                </a:cubicBezTo>
                <a:cubicBezTo>
                  <a:pt x="208359" y="123279"/>
                  <a:pt x="203150" y="132870"/>
                  <a:pt x="195130" y="138906"/>
                </a:cubicBezTo>
                <a:cubicBezTo>
                  <a:pt x="199264" y="144446"/>
                  <a:pt x="201745" y="151309"/>
                  <a:pt x="201745" y="158750"/>
                </a:cubicBezTo>
                <a:cubicBezTo>
                  <a:pt x="201745" y="177023"/>
                  <a:pt x="186945" y="191823"/>
                  <a:pt x="168672" y="191823"/>
                </a:cubicBezTo>
                <a:cubicBezTo>
                  <a:pt x="168382" y="191823"/>
                  <a:pt x="168134" y="191823"/>
                  <a:pt x="167845" y="191823"/>
                </a:cubicBezTo>
                <a:cubicBezTo>
                  <a:pt x="164910" y="203233"/>
                  <a:pt x="154533" y="211667"/>
                  <a:pt x="142214" y="211667"/>
                </a:cubicBezTo>
                <a:lnTo>
                  <a:pt x="128984" y="211667"/>
                </a:lnTo>
                <a:cubicBezTo>
                  <a:pt x="121667" y="211667"/>
                  <a:pt x="115755" y="205755"/>
                  <a:pt x="115755" y="198438"/>
                </a:cubicBezTo>
                <a:lnTo>
                  <a:pt x="115755" y="13229"/>
                </a:lnTo>
                <a:cubicBezTo>
                  <a:pt x="115755" y="5912"/>
                  <a:pt x="121667" y="0"/>
                  <a:pt x="128984" y="0"/>
                </a:cubicBezTo>
                <a:lnTo>
                  <a:pt x="138906" y="0"/>
                </a:lnTo>
                <a:cubicBezTo>
                  <a:pt x="151681" y="0"/>
                  <a:pt x="162057" y="10377"/>
                  <a:pt x="162057" y="2315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322917" y="1590670"/>
            <a:ext cx="1651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神经网络基础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7917" y="2183337"/>
            <a:ext cx="71543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深度学习源于对</a:t>
            </a: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人脑神经元网络</a:t>
            </a: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的模拟，通过多层非线性变换学习数据的层次化特征表示。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7917" y="2627837"/>
            <a:ext cx="7069667" cy="1905000"/>
          </a:xfrm>
          <a:custGeom>
            <a:avLst/>
            <a:gdLst/>
            <a:ahLst/>
            <a:cxnLst/>
            <a:rect l="l" t="t" r="r" b="b"/>
            <a:pathLst>
              <a:path w="7069667" h="1905000">
                <a:moveTo>
                  <a:pt x="84658" y="0"/>
                </a:moveTo>
                <a:lnTo>
                  <a:pt x="6985008" y="0"/>
                </a:lnTo>
                <a:cubicBezTo>
                  <a:pt x="7031764" y="0"/>
                  <a:pt x="7069667" y="37903"/>
                  <a:pt x="7069667" y="84658"/>
                </a:cubicBezTo>
                <a:lnTo>
                  <a:pt x="7069667" y="1820342"/>
                </a:lnTo>
                <a:cubicBezTo>
                  <a:pt x="7069667" y="1867097"/>
                  <a:pt x="7031764" y="1905000"/>
                  <a:pt x="6985008" y="1905000"/>
                </a:cubicBezTo>
                <a:lnTo>
                  <a:pt x="84658" y="1905000"/>
                </a:lnTo>
                <a:cubicBezTo>
                  <a:pt x="37903" y="1905000"/>
                  <a:pt x="0" y="1867097"/>
                  <a:pt x="0" y="1820342"/>
                </a:cubicBezTo>
                <a:lnTo>
                  <a:pt x="0" y="84658"/>
                </a:lnTo>
                <a:cubicBezTo>
                  <a:pt x="0" y="37903"/>
                  <a:pt x="37903" y="0"/>
                  <a:pt x="84658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14917" y="2754837"/>
            <a:ext cx="6900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核心组件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0792" y="313583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0" y="63500"/>
                </a:moveTo>
                <a:cubicBezTo>
                  <a:pt x="0" y="28453"/>
                  <a:pt x="28453" y="0"/>
                  <a:pt x="63500" y="0"/>
                </a:cubicBez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058333" y="3093503"/>
            <a:ext cx="1598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感知机 (</a:t>
            </a: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Perceptron</a:t>
            </a: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8333" y="3305170"/>
            <a:ext cx="15875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单层神经网络，线性分类器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0792" y="360150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0" y="63500"/>
                </a:moveTo>
                <a:cubicBezTo>
                  <a:pt x="0" y="28453"/>
                  <a:pt x="28453" y="0"/>
                  <a:pt x="63500" y="0"/>
                </a:cubicBez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058333" y="3559170"/>
            <a:ext cx="12488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多层感知机 (</a:t>
            </a: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MLP</a:t>
            </a: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8333" y="3770837"/>
            <a:ext cx="123825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含隐藏层的神经网络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0792" y="406717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0" y="63500"/>
                </a:moveTo>
                <a:cubicBezTo>
                  <a:pt x="0" y="28453"/>
                  <a:pt x="28453" y="0"/>
                  <a:pt x="63500" y="0"/>
                </a:cubicBez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058333" y="4024837"/>
            <a:ext cx="1534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激活函数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8333" y="4236503"/>
            <a:ext cx="15240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Sigmoid、ReLU、Tanh</a:t>
            </a: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等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7917" y="4659837"/>
            <a:ext cx="7069667" cy="836083"/>
          </a:xfrm>
          <a:custGeom>
            <a:avLst/>
            <a:gdLst/>
            <a:ahLst/>
            <a:cxnLst/>
            <a:rect l="l" t="t" r="r" b="b"/>
            <a:pathLst>
              <a:path w="7069667" h="836083">
                <a:moveTo>
                  <a:pt x="84670" y="0"/>
                </a:moveTo>
                <a:lnTo>
                  <a:pt x="6984997" y="0"/>
                </a:lnTo>
                <a:cubicBezTo>
                  <a:pt x="7031759" y="0"/>
                  <a:pt x="7069667" y="37908"/>
                  <a:pt x="7069667" y="84670"/>
                </a:cubicBezTo>
                <a:lnTo>
                  <a:pt x="7069667" y="751413"/>
                </a:lnTo>
                <a:cubicBezTo>
                  <a:pt x="7069667" y="798175"/>
                  <a:pt x="7031759" y="836083"/>
                  <a:pt x="6984997" y="836083"/>
                </a:cubicBezTo>
                <a:lnTo>
                  <a:pt x="84670" y="836083"/>
                </a:lnTo>
                <a:cubicBezTo>
                  <a:pt x="37908" y="836083"/>
                  <a:pt x="0" y="798175"/>
                  <a:pt x="0" y="751413"/>
                </a:cubicBezTo>
                <a:lnTo>
                  <a:pt x="0" y="84670"/>
                </a:lnTo>
                <a:cubicBezTo>
                  <a:pt x="0" y="37908"/>
                  <a:pt x="37908" y="0"/>
                  <a:pt x="8467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14917" y="4786837"/>
            <a:ext cx="6900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反向传播算法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14917" y="5125503"/>
            <a:ext cx="6889750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通过链式法则计算梯度，从输出层向输入层逐层更新权重参数。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8625" y="5761030"/>
            <a:ext cx="7588250" cy="3280828"/>
          </a:xfrm>
          <a:custGeom>
            <a:avLst/>
            <a:gdLst/>
            <a:ahLst/>
            <a:cxnLst/>
            <a:rect l="l" t="t" r="r" b="b"/>
            <a:pathLst>
              <a:path w="7588250" h="3302000">
                <a:moveTo>
                  <a:pt x="126995" y="0"/>
                </a:moveTo>
                <a:lnTo>
                  <a:pt x="7461255" y="0"/>
                </a:lnTo>
                <a:cubicBezTo>
                  <a:pt x="7531392" y="0"/>
                  <a:pt x="7588250" y="56858"/>
                  <a:pt x="7588250" y="126995"/>
                </a:cubicBezTo>
                <a:lnTo>
                  <a:pt x="7588250" y="3175005"/>
                </a:lnTo>
                <a:cubicBezTo>
                  <a:pt x="7588250" y="3245142"/>
                  <a:pt x="7531392" y="3302000"/>
                  <a:pt x="7461255" y="3302000"/>
                </a:cubicBezTo>
                <a:lnTo>
                  <a:pt x="126995" y="3302000"/>
                </a:lnTo>
                <a:cubicBezTo>
                  <a:pt x="56858" y="3302000"/>
                  <a:pt x="0" y="3245142"/>
                  <a:pt x="0" y="3175005"/>
                </a:cubicBezTo>
                <a:lnTo>
                  <a:pt x="0" y="126995"/>
                </a:lnTo>
                <a:cubicBezTo>
                  <a:pt x="0" y="56905"/>
                  <a:pt x="56905" y="0"/>
                  <a:pt x="126995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6ED3CF">
                  <a:alpha val="5000"/>
                </a:srgbClr>
              </a:gs>
            </a:gsLst>
            <a:lin ang="2700000" scaled="1"/>
          </a:gradFill>
          <a:ln w="12700">
            <a:solidFill>
              <a:srgbClr val="6ED3C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87917" y="6020321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49313" y="6168488"/>
            <a:ext cx="185208" cy="211667"/>
          </a:xfrm>
          <a:custGeom>
            <a:avLst/>
            <a:gdLst/>
            <a:ahLst/>
            <a:cxnLst/>
            <a:rect l="l" t="t" r="r" b="b"/>
            <a:pathLst>
              <a:path w="185208" h="211667">
                <a:moveTo>
                  <a:pt x="26458" y="13229"/>
                </a:moveTo>
                <a:cubicBezTo>
                  <a:pt x="11865" y="13229"/>
                  <a:pt x="0" y="25094"/>
                  <a:pt x="0" y="39688"/>
                </a:cubicBezTo>
                <a:lnTo>
                  <a:pt x="0" y="171979"/>
                </a:lnTo>
                <a:cubicBezTo>
                  <a:pt x="0" y="186573"/>
                  <a:pt x="11865" y="198438"/>
                  <a:pt x="26458" y="198438"/>
                </a:cubicBezTo>
                <a:lnTo>
                  <a:pt x="158750" y="198438"/>
                </a:lnTo>
                <a:cubicBezTo>
                  <a:pt x="173343" y="198438"/>
                  <a:pt x="185208" y="186573"/>
                  <a:pt x="185208" y="171979"/>
                </a:cubicBezTo>
                <a:lnTo>
                  <a:pt x="185208" y="39688"/>
                </a:lnTo>
                <a:cubicBezTo>
                  <a:pt x="185208" y="25094"/>
                  <a:pt x="173343" y="13229"/>
                  <a:pt x="158750" y="13229"/>
                </a:cubicBezTo>
                <a:lnTo>
                  <a:pt x="26458" y="13229"/>
                </a:lnTo>
                <a:close/>
                <a:moveTo>
                  <a:pt x="52917" y="46302"/>
                </a:moveTo>
                <a:cubicBezTo>
                  <a:pt x="63869" y="46302"/>
                  <a:pt x="72760" y="55194"/>
                  <a:pt x="72760" y="66146"/>
                </a:cubicBezTo>
                <a:cubicBezTo>
                  <a:pt x="72760" y="77098"/>
                  <a:pt x="63869" y="85990"/>
                  <a:pt x="52917" y="85990"/>
                </a:cubicBezTo>
                <a:cubicBezTo>
                  <a:pt x="41965" y="85990"/>
                  <a:pt x="33073" y="77098"/>
                  <a:pt x="33073" y="66146"/>
                </a:cubicBezTo>
                <a:cubicBezTo>
                  <a:pt x="33073" y="55194"/>
                  <a:pt x="41965" y="46302"/>
                  <a:pt x="52917" y="46302"/>
                </a:cubicBezTo>
                <a:close/>
                <a:moveTo>
                  <a:pt x="112448" y="92604"/>
                </a:moveTo>
                <a:cubicBezTo>
                  <a:pt x="115921" y="92604"/>
                  <a:pt x="119104" y="94423"/>
                  <a:pt x="120923" y="97358"/>
                </a:cubicBezTo>
                <a:lnTo>
                  <a:pt x="157303" y="156890"/>
                </a:lnTo>
                <a:cubicBezTo>
                  <a:pt x="159163" y="159949"/>
                  <a:pt x="159246" y="163794"/>
                  <a:pt x="157510" y="166936"/>
                </a:cubicBezTo>
                <a:cubicBezTo>
                  <a:pt x="155773" y="170077"/>
                  <a:pt x="152425" y="171979"/>
                  <a:pt x="148828" y="171979"/>
                </a:cubicBezTo>
                <a:lnTo>
                  <a:pt x="36380" y="171979"/>
                </a:lnTo>
                <a:cubicBezTo>
                  <a:pt x="32701" y="171979"/>
                  <a:pt x="29270" y="169912"/>
                  <a:pt x="27575" y="166646"/>
                </a:cubicBezTo>
                <a:cubicBezTo>
                  <a:pt x="25880" y="163380"/>
                  <a:pt x="26128" y="159411"/>
                  <a:pt x="28236" y="156394"/>
                </a:cubicBezTo>
                <a:lnTo>
                  <a:pt x="51387" y="123321"/>
                </a:lnTo>
                <a:cubicBezTo>
                  <a:pt x="53247" y="120675"/>
                  <a:pt x="56265" y="119104"/>
                  <a:pt x="59531" y="119104"/>
                </a:cubicBezTo>
                <a:cubicBezTo>
                  <a:pt x="62797" y="119104"/>
                  <a:pt x="65815" y="120675"/>
                  <a:pt x="67675" y="123321"/>
                </a:cubicBezTo>
                <a:lnTo>
                  <a:pt x="78590" y="138948"/>
                </a:lnTo>
                <a:lnTo>
                  <a:pt x="103973" y="97400"/>
                </a:lnTo>
                <a:cubicBezTo>
                  <a:pt x="105792" y="94465"/>
                  <a:pt x="108975" y="92646"/>
                  <a:pt x="112448" y="92646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322917" y="6104988"/>
            <a:ext cx="227541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CNN</a:t>
            </a:r>
            <a:r>
              <a:rPr lang="en-US" sz="2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卷积神经网络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7917" y="6697655"/>
            <a:ext cx="71543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专为</a:t>
            </a: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图像处理</a:t>
            </a: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设计的神经网络，通过卷积层、池化层提取空间层次特征。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87917" y="7099821"/>
            <a:ext cx="3492500" cy="814917"/>
          </a:xfrm>
          <a:custGeom>
            <a:avLst/>
            <a:gdLst/>
            <a:ahLst/>
            <a:cxnLst/>
            <a:rect l="l" t="t" r="r" b="b"/>
            <a:pathLst>
              <a:path w="3492500" h="814917">
                <a:moveTo>
                  <a:pt x="84670" y="0"/>
                </a:moveTo>
                <a:lnTo>
                  <a:pt x="3407830" y="0"/>
                </a:lnTo>
                <a:cubicBezTo>
                  <a:pt x="3454592" y="0"/>
                  <a:pt x="3492500" y="37908"/>
                  <a:pt x="3492500" y="84670"/>
                </a:cubicBezTo>
                <a:lnTo>
                  <a:pt x="3492500" y="730247"/>
                </a:lnTo>
                <a:cubicBezTo>
                  <a:pt x="3492500" y="777009"/>
                  <a:pt x="3454592" y="814917"/>
                  <a:pt x="3407830" y="814917"/>
                </a:cubicBezTo>
                <a:lnTo>
                  <a:pt x="84670" y="814917"/>
                </a:lnTo>
                <a:cubicBezTo>
                  <a:pt x="37908" y="814917"/>
                  <a:pt x="0" y="777009"/>
                  <a:pt x="0" y="730247"/>
                </a:cubicBezTo>
                <a:lnTo>
                  <a:pt x="0" y="84670"/>
                </a:lnTo>
                <a:cubicBezTo>
                  <a:pt x="0" y="37939"/>
                  <a:pt x="37939" y="0"/>
                  <a:pt x="8467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2341563" y="721094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735542" y="7443780"/>
            <a:ext cx="3397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卷积层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40833" y="7655446"/>
            <a:ext cx="3386667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特征提取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265083" y="7099821"/>
            <a:ext cx="3492500" cy="814917"/>
          </a:xfrm>
          <a:custGeom>
            <a:avLst/>
            <a:gdLst/>
            <a:ahLst/>
            <a:cxnLst/>
            <a:rect l="l" t="t" r="r" b="b"/>
            <a:pathLst>
              <a:path w="3492500" h="814917">
                <a:moveTo>
                  <a:pt x="84670" y="0"/>
                </a:moveTo>
                <a:lnTo>
                  <a:pt x="3407830" y="0"/>
                </a:lnTo>
                <a:cubicBezTo>
                  <a:pt x="3454592" y="0"/>
                  <a:pt x="3492500" y="37908"/>
                  <a:pt x="3492500" y="84670"/>
                </a:cubicBezTo>
                <a:lnTo>
                  <a:pt x="3492500" y="730247"/>
                </a:lnTo>
                <a:cubicBezTo>
                  <a:pt x="3492500" y="777009"/>
                  <a:pt x="3454592" y="814917"/>
                  <a:pt x="3407830" y="814917"/>
                </a:cubicBezTo>
                <a:lnTo>
                  <a:pt x="84670" y="814917"/>
                </a:lnTo>
                <a:cubicBezTo>
                  <a:pt x="37908" y="814917"/>
                  <a:pt x="0" y="777009"/>
                  <a:pt x="0" y="730247"/>
                </a:cubicBezTo>
                <a:lnTo>
                  <a:pt x="0" y="84670"/>
                </a:lnTo>
                <a:cubicBezTo>
                  <a:pt x="0" y="37939"/>
                  <a:pt x="37939" y="0"/>
                  <a:pt x="8467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5918729" y="721094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3525" y="2604"/>
                </a:moveTo>
                <a:cubicBezTo>
                  <a:pt x="167022" y="-893"/>
                  <a:pt x="172678" y="-893"/>
                  <a:pt x="176138" y="2604"/>
                </a:cubicBezTo>
                <a:lnTo>
                  <a:pt x="188044" y="14511"/>
                </a:lnTo>
                <a:cubicBezTo>
                  <a:pt x="191542" y="18008"/>
                  <a:pt x="191542" y="23664"/>
                  <a:pt x="188044" y="27124"/>
                </a:cubicBezTo>
                <a:lnTo>
                  <a:pt x="155674" y="59494"/>
                </a:lnTo>
                <a:lnTo>
                  <a:pt x="170185" y="74005"/>
                </a:lnTo>
                <a:cubicBezTo>
                  <a:pt x="172752" y="76572"/>
                  <a:pt x="173496" y="80404"/>
                  <a:pt x="172120" y="83753"/>
                </a:cubicBezTo>
                <a:cubicBezTo>
                  <a:pt x="170743" y="87102"/>
                  <a:pt x="167506" y="89297"/>
                  <a:pt x="163897" y="89297"/>
                </a:cubicBezTo>
                <a:lnTo>
                  <a:pt x="110319" y="89297"/>
                </a:lnTo>
                <a:cubicBezTo>
                  <a:pt x="105370" y="89297"/>
                  <a:pt x="101389" y="85316"/>
                  <a:pt x="101389" y="80367"/>
                </a:cubicBezTo>
                <a:lnTo>
                  <a:pt x="101389" y="26789"/>
                </a:lnTo>
                <a:cubicBezTo>
                  <a:pt x="101389" y="23180"/>
                  <a:pt x="103547" y="19906"/>
                  <a:pt x="106896" y="18529"/>
                </a:cubicBezTo>
                <a:cubicBezTo>
                  <a:pt x="110244" y="17152"/>
                  <a:pt x="114077" y="17897"/>
                  <a:pt x="116644" y="20464"/>
                </a:cubicBezTo>
                <a:lnTo>
                  <a:pt x="131155" y="34975"/>
                </a:lnTo>
                <a:lnTo>
                  <a:pt x="163525" y="2604"/>
                </a:lnTo>
                <a:close/>
                <a:moveTo>
                  <a:pt x="26975" y="101203"/>
                </a:moveTo>
                <a:lnTo>
                  <a:pt x="80553" y="101203"/>
                </a:lnTo>
                <a:cubicBezTo>
                  <a:pt x="85502" y="101203"/>
                  <a:pt x="89483" y="105184"/>
                  <a:pt x="89483" y="110133"/>
                </a:cubicBezTo>
                <a:lnTo>
                  <a:pt x="89483" y="163711"/>
                </a:lnTo>
                <a:cubicBezTo>
                  <a:pt x="89483" y="167320"/>
                  <a:pt x="87325" y="170594"/>
                  <a:pt x="83976" y="171971"/>
                </a:cubicBezTo>
                <a:cubicBezTo>
                  <a:pt x="80628" y="173348"/>
                  <a:pt x="76795" y="172603"/>
                  <a:pt x="74228" y="170036"/>
                </a:cubicBezTo>
                <a:lnTo>
                  <a:pt x="59717" y="155525"/>
                </a:lnTo>
                <a:lnTo>
                  <a:pt x="27347" y="187896"/>
                </a:lnTo>
                <a:cubicBezTo>
                  <a:pt x="23850" y="191393"/>
                  <a:pt x="18194" y="191393"/>
                  <a:pt x="14734" y="187896"/>
                </a:cubicBezTo>
                <a:lnTo>
                  <a:pt x="2828" y="175989"/>
                </a:lnTo>
                <a:cubicBezTo>
                  <a:pt x="-670" y="172492"/>
                  <a:pt x="-670" y="166836"/>
                  <a:pt x="2828" y="163376"/>
                </a:cubicBezTo>
                <a:lnTo>
                  <a:pt x="35198" y="131006"/>
                </a:lnTo>
                <a:lnTo>
                  <a:pt x="20687" y="116495"/>
                </a:lnTo>
                <a:cubicBezTo>
                  <a:pt x="18120" y="113928"/>
                  <a:pt x="17376" y="110096"/>
                  <a:pt x="18752" y="106747"/>
                </a:cubicBezTo>
                <a:cubicBezTo>
                  <a:pt x="20129" y="103398"/>
                  <a:pt x="23366" y="101203"/>
                  <a:pt x="26975" y="101203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4312708" y="7443780"/>
            <a:ext cx="3397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池化层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318000" y="7655446"/>
            <a:ext cx="3386667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降采样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87917" y="7994113"/>
            <a:ext cx="3492500" cy="814917"/>
          </a:xfrm>
          <a:custGeom>
            <a:avLst/>
            <a:gdLst/>
            <a:ahLst/>
            <a:cxnLst/>
            <a:rect l="l" t="t" r="r" b="b"/>
            <a:pathLst>
              <a:path w="3492500" h="814917">
                <a:moveTo>
                  <a:pt x="84670" y="0"/>
                </a:moveTo>
                <a:lnTo>
                  <a:pt x="3407830" y="0"/>
                </a:lnTo>
                <a:cubicBezTo>
                  <a:pt x="3454592" y="0"/>
                  <a:pt x="3492500" y="37908"/>
                  <a:pt x="3492500" y="84670"/>
                </a:cubicBezTo>
                <a:lnTo>
                  <a:pt x="3492500" y="730247"/>
                </a:lnTo>
                <a:cubicBezTo>
                  <a:pt x="3492500" y="777009"/>
                  <a:pt x="3454592" y="814917"/>
                  <a:pt x="3407830" y="814917"/>
                </a:cubicBezTo>
                <a:lnTo>
                  <a:pt x="84670" y="814917"/>
                </a:lnTo>
                <a:cubicBezTo>
                  <a:pt x="37908" y="814917"/>
                  <a:pt x="0" y="777009"/>
                  <a:pt x="0" y="730247"/>
                </a:cubicBezTo>
                <a:lnTo>
                  <a:pt x="0" y="84670"/>
                </a:lnTo>
                <a:cubicBezTo>
                  <a:pt x="0" y="37939"/>
                  <a:pt x="37939" y="0"/>
                  <a:pt x="8467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2341563" y="810523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735542" y="8338071"/>
            <a:ext cx="3397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全连接层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40833" y="8549738"/>
            <a:ext cx="3386667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分类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265083" y="7994113"/>
            <a:ext cx="3492500" cy="814917"/>
          </a:xfrm>
          <a:custGeom>
            <a:avLst/>
            <a:gdLst/>
            <a:ahLst/>
            <a:cxnLst/>
            <a:rect l="l" t="t" r="r" b="b"/>
            <a:pathLst>
              <a:path w="3492500" h="814917">
                <a:moveTo>
                  <a:pt x="84670" y="0"/>
                </a:moveTo>
                <a:lnTo>
                  <a:pt x="3407830" y="0"/>
                </a:lnTo>
                <a:cubicBezTo>
                  <a:pt x="3454592" y="0"/>
                  <a:pt x="3492500" y="37908"/>
                  <a:pt x="3492500" y="84670"/>
                </a:cubicBezTo>
                <a:lnTo>
                  <a:pt x="3492500" y="730247"/>
                </a:lnTo>
                <a:cubicBezTo>
                  <a:pt x="3492500" y="777009"/>
                  <a:pt x="3454592" y="814917"/>
                  <a:pt x="3407830" y="814917"/>
                </a:cubicBezTo>
                <a:lnTo>
                  <a:pt x="84670" y="814917"/>
                </a:lnTo>
                <a:cubicBezTo>
                  <a:pt x="37908" y="814917"/>
                  <a:pt x="0" y="777009"/>
                  <a:pt x="0" y="730247"/>
                </a:cubicBezTo>
                <a:lnTo>
                  <a:pt x="0" y="84670"/>
                </a:lnTo>
                <a:cubicBezTo>
                  <a:pt x="0" y="37939"/>
                  <a:pt x="37939" y="0"/>
                  <a:pt x="8467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5930635" y="810523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59717" y="-9823"/>
                </a:moveTo>
                <a:cubicBezTo>
                  <a:pt x="63178" y="-12725"/>
                  <a:pt x="68275" y="-12613"/>
                  <a:pt x="71586" y="-9488"/>
                </a:cubicBezTo>
                <a:cubicBezTo>
                  <a:pt x="76163" y="-5172"/>
                  <a:pt x="80256" y="-409"/>
                  <a:pt x="84200" y="4428"/>
                </a:cubicBezTo>
                <a:cubicBezTo>
                  <a:pt x="89222" y="10567"/>
                  <a:pt x="95250" y="18678"/>
                  <a:pt x="101054" y="28315"/>
                </a:cubicBezTo>
                <a:cubicBezTo>
                  <a:pt x="102989" y="25784"/>
                  <a:pt x="104775" y="23552"/>
                  <a:pt x="106338" y="21654"/>
                </a:cubicBezTo>
                <a:cubicBezTo>
                  <a:pt x="106747" y="21171"/>
                  <a:pt x="107156" y="20650"/>
                  <a:pt x="107566" y="20129"/>
                </a:cubicBezTo>
                <a:cubicBezTo>
                  <a:pt x="110505" y="16483"/>
                  <a:pt x="114151" y="11906"/>
                  <a:pt x="119025" y="11906"/>
                </a:cubicBezTo>
                <a:cubicBezTo>
                  <a:pt x="124011" y="11906"/>
                  <a:pt x="127508" y="16334"/>
                  <a:pt x="130485" y="20129"/>
                </a:cubicBezTo>
                <a:cubicBezTo>
                  <a:pt x="130969" y="20762"/>
                  <a:pt x="131452" y="21357"/>
                  <a:pt x="131936" y="21915"/>
                </a:cubicBezTo>
                <a:cubicBezTo>
                  <a:pt x="135768" y="26529"/>
                  <a:pt x="140866" y="33189"/>
                  <a:pt x="145963" y="41411"/>
                </a:cubicBezTo>
                <a:cubicBezTo>
                  <a:pt x="156083" y="57745"/>
                  <a:pt x="166650" y="81000"/>
                  <a:pt x="166650" y="107119"/>
                </a:cubicBezTo>
                <a:cubicBezTo>
                  <a:pt x="166650" y="153144"/>
                  <a:pt x="129332" y="190463"/>
                  <a:pt x="83307" y="190463"/>
                </a:cubicBezTo>
                <a:cubicBezTo>
                  <a:pt x="37281" y="190463"/>
                  <a:pt x="0" y="153181"/>
                  <a:pt x="0" y="107156"/>
                </a:cubicBezTo>
                <a:cubicBezTo>
                  <a:pt x="0" y="73261"/>
                  <a:pt x="15292" y="43904"/>
                  <a:pt x="29952" y="23440"/>
                </a:cubicBezTo>
                <a:cubicBezTo>
                  <a:pt x="37356" y="13134"/>
                  <a:pt x="44723" y="4874"/>
                  <a:pt x="50267" y="-781"/>
                </a:cubicBezTo>
                <a:cubicBezTo>
                  <a:pt x="53318" y="-3907"/>
                  <a:pt x="56406" y="-6995"/>
                  <a:pt x="59754" y="-9785"/>
                </a:cubicBezTo>
                <a:close/>
                <a:moveTo>
                  <a:pt x="83976" y="154781"/>
                </a:moveTo>
                <a:cubicBezTo>
                  <a:pt x="93390" y="154781"/>
                  <a:pt x="101724" y="152177"/>
                  <a:pt x="109575" y="146968"/>
                </a:cubicBezTo>
                <a:cubicBezTo>
                  <a:pt x="125239" y="136029"/>
                  <a:pt x="129443" y="114151"/>
                  <a:pt x="120030" y="96962"/>
                </a:cubicBezTo>
                <a:cubicBezTo>
                  <a:pt x="118356" y="93613"/>
                  <a:pt x="114077" y="93390"/>
                  <a:pt x="111658" y="96217"/>
                </a:cubicBezTo>
                <a:lnTo>
                  <a:pt x="102282" y="107119"/>
                </a:lnTo>
                <a:cubicBezTo>
                  <a:pt x="99826" y="109947"/>
                  <a:pt x="95399" y="109872"/>
                  <a:pt x="93092" y="106933"/>
                </a:cubicBezTo>
                <a:cubicBezTo>
                  <a:pt x="86655" y="98710"/>
                  <a:pt x="74823" y="83716"/>
                  <a:pt x="68796" y="76051"/>
                </a:cubicBezTo>
                <a:cubicBezTo>
                  <a:pt x="66787" y="73484"/>
                  <a:pt x="63140" y="73075"/>
                  <a:pt x="60796" y="75344"/>
                </a:cubicBezTo>
                <a:cubicBezTo>
                  <a:pt x="53987" y="81967"/>
                  <a:pt x="41635" y="96478"/>
                  <a:pt x="41635" y="114151"/>
                </a:cubicBezTo>
                <a:cubicBezTo>
                  <a:pt x="41635" y="139675"/>
                  <a:pt x="60461" y="154781"/>
                  <a:pt x="83939" y="154781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4312708" y="8338071"/>
            <a:ext cx="3397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激活函数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318000" y="8549738"/>
            <a:ext cx="3386667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非线性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39125" y="1246712"/>
            <a:ext cx="7588250" cy="4392083"/>
          </a:xfrm>
          <a:custGeom>
            <a:avLst/>
            <a:gdLst/>
            <a:ahLst/>
            <a:cxnLst/>
            <a:rect l="l" t="t" r="r" b="b"/>
            <a:pathLst>
              <a:path w="7588250" h="4392083">
                <a:moveTo>
                  <a:pt x="127019" y="0"/>
                </a:moveTo>
                <a:lnTo>
                  <a:pt x="7461231" y="0"/>
                </a:lnTo>
                <a:cubicBezTo>
                  <a:pt x="7531382" y="0"/>
                  <a:pt x="7588250" y="56868"/>
                  <a:pt x="7588250" y="127019"/>
                </a:cubicBezTo>
                <a:lnTo>
                  <a:pt x="7588250" y="4265064"/>
                </a:lnTo>
                <a:cubicBezTo>
                  <a:pt x="7588250" y="4335215"/>
                  <a:pt x="7531382" y="4392083"/>
                  <a:pt x="7461231" y="4392083"/>
                </a:cubicBezTo>
                <a:lnTo>
                  <a:pt x="127019" y="4392083"/>
                </a:lnTo>
                <a:cubicBezTo>
                  <a:pt x="56868" y="4392083"/>
                  <a:pt x="0" y="4335215"/>
                  <a:pt x="0" y="4265064"/>
                </a:cubicBezTo>
                <a:lnTo>
                  <a:pt x="0" y="127019"/>
                </a:lnTo>
                <a:cubicBezTo>
                  <a:pt x="0" y="56915"/>
                  <a:pt x="56915" y="0"/>
                  <a:pt x="127019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8498417" y="150600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8646583" y="1654170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26458" y="39688"/>
                </a:moveTo>
                <a:cubicBezTo>
                  <a:pt x="26458" y="32370"/>
                  <a:pt x="32370" y="26458"/>
                  <a:pt x="39688" y="26458"/>
                </a:cubicBezTo>
                <a:lnTo>
                  <a:pt x="105833" y="26458"/>
                </a:lnTo>
                <a:cubicBezTo>
                  <a:pt x="113151" y="26458"/>
                  <a:pt x="119063" y="32370"/>
                  <a:pt x="119063" y="39688"/>
                </a:cubicBezTo>
                <a:lnTo>
                  <a:pt x="119063" y="158750"/>
                </a:lnTo>
                <a:lnTo>
                  <a:pt x="158750" y="158750"/>
                </a:lnTo>
                <a:lnTo>
                  <a:pt x="158750" y="105833"/>
                </a:lnTo>
                <a:cubicBezTo>
                  <a:pt x="158750" y="98516"/>
                  <a:pt x="164662" y="92604"/>
                  <a:pt x="171979" y="92604"/>
                </a:cubicBezTo>
                <a:lnTo>
                  <a:pt x="198438" y="92604"/>
                </a:lnTo>
                <a:cubicBezTo>
                  <a:pt x="205755" y="92604"/>
                  <a:pt x="211667" y="98516"/>
                  <a:pt x="211667" y="105833"/>
                </a:cubicBezTo>
                <a:cubicBezTo>
                  <a:pt x="211667" y="113151"/>
                  <a:pt x="205755" y="119063"/>
                  <a:pt x="198438" y="119063"/>
                </a:cubicBezTo>
                <a:lnTo>
                  <a:pt x="185208" y="119063"/>
                </a:lnTo>
                <a:lnTo>
                  <a:pt x="185208" y="171979"/>
                </a:lnTo>
                <a:cubicBezTo>
                  <a:pt x="185208" y="179297"/>
                  <a:pt x="179297" y="185208"/>
                  <a:pt x="171979" y="185208"/>
                </a:cubicBezTo>
                <a:lnTo>
                  <a:pt x="105833" y="185208"/>
                </a:lnTo>
                <a:cubicBezTo>
                  <a:pt x="98516" y="185208"/>
                  <a:pt x="92604" y="179297"/>
                  <a:pt x="92604" y="171979"/>
                </a:cubicBezTo>
                <a:lnTo>
                  <a:pt x="92604" y="52917"/>
                </a:lnTo>
                <a:lnTo>
                  <a:pt x="52917" y="52917"/>
                </a:lnTo>
                <a:lnTo>
                  <a:pt x="52917" y="105833"/>
                </a:lnTo>
                <a:cubicBezTo>
                  <a:pt x="52917" y="113151"/>
                  <a:pt x="47005" y="119063"/>
                  <a:pt x="39688" y="119063"/>
                </a:cubicBezTo>
                <a:lnTo>
                  <a:pt x="13229" y="119063"/>
                </a:lnTo>
                <a:cubicBezTo>
                  <a:pt x="5912" y="119063"/>
                  <a:pt x="0" y="113151"/>
                  <a:pt x="0" y="105833"/>
                </a:cubicBezTo>
                <a:cubicBezTo>
                  <a:pt x="0" y="98516"/>
                  <a:pt x="5912" y="92604"/>
                  <a:pt x="13229" y="92604"/>
                </a:cubicBezTo>
                <a:lnTo>
                  <a:pt x="26458" y="92604"/>
                </a:lnTo>
                <a:lnTo>
                  <a:pt x="26458" y="3968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9133417" y="1590670"/>
            <a:ext cx="225425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RNN</a:t>
            </a:r>
            <a:r>
              <a:rPr lang="en-US" sz="2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循环神经网络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498417" y="2183337"/>
            <a:ext cx="71543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专为</a:t>
            </a: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序列数据</a:t>
            </a: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设计，具有记忆能力，能够处理变长序列。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498417" y="2627837"/>
            <a:ext cx="7069667" cy="1312333"/>
          </a:xfrm>
          <a:custGeom>
            <a:avLst/>
            <a:gdLst/>
            <a:ahLst/>
            <a:cxnLst/>
            <a:rect l="l" t="t" r="r" b="b"/>
            <a:pathLst>
              <a:path w="7069667" h="1312333">
                <a:moveTo>
                  <a:pt x="84672" y="0"/>
                </a:moveTo>
                <a:lnTo>
                  <a:pt x="6984995" y="0"/>
                </a:lnTo>
                <a:cubicBezTo>
                  <a:pt x="7031758" y="0"/>
                  <a:pt x="7069667" y="37909"/>
                  <a:pt x="7069667" y="84672"/>
                </a:cubicBezTo>
                <a:lnTo>
                  <a:pt x="7069667" y="1227662"/>
                </a:lnTo>
                <a:cubicBezTo>
                  <a:pt x="7069667" y="1274425"/>
                  <a:pt x="7031758" y="1312333"/>
                  <a:pt x="6984995" y="1312333"/>
                </a:cubicBezTo>
                <a:lnTo>
                  <a:pt x="84672" y="1312333"/>
                </a:lnTo>
                <a:cubicBezTo>
                  <a:pt x="37909" y="1312333"/>
                  <a:pt x="0" y="1274425"/>
                  <a:pt x="0" y="1227662"/>
                </a:cubicBezTo>
                <a:lnTo>
                  <a:pt x="0" y="84672"/>
                </a:lnTo>
                <a:cubicBezTo>
                  <a:pt x="0" y="37909"/>
                  <a:pt x="37909" y="0"/>
                  <a:pt x="8467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8625417" y="2754837"/>
            <a:ext cx="6900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核心特性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625417" y="3093503"/>
            <a:ext cx="6889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隐状态保存历史信息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625417" y="3347503"/>
            <a:ext cx="6889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参数共享，处理变长序列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625417" y="3601503"/>
            <a:ext cx="6889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适用于时间序列数据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498417" y="4067170"/>
            <a:ext cx="7069667" cy="1312333"/>
          </a:xfrm>
          <a:custGeom>
            <a:avLst/>
            <a:gdLst/>
            <a:ahLst/>
            <a:cxnLst/>
            <a:rect l="l" t="t" r="r" b="b"/>
            <a:pathLst>
              <a:path w="7069667" h="1312333">
                <a:moveTo>
                  <a:pt x="84672" y="0"/>
                </a:moveTo>
                <a:lnTo>
                  <a:pt x="6984995" y="0"/>
                </a:lnTo>
                <a:cubicBezTo>
                  <a:pt x="7031758" y="0"/>
                  <a:pt x="7069667" y="37909"/>
                  <a:pt x="7069667" y="84672"/>
                </a:cubicBezTo>
                <a:lnTo>
                  <a:pt x="7069667" y="1227662"/>
                </a:lnTo>
                <a:cubicBezTo>
                  <a:pt x="7069667" y="1274425"/>
                  <a:pt x="7031758" y="1312333"/>
                  <a:pt x="6984995" y="1312333"/>
                </a:cubicBezTo>
                <a:lnTo>
                  <a:pt x="84672" y="1312333"/>
                </a:lnTo>
                <a:cubicBezTo>
                  <a:pt x="37909" y="1312333"/>
                  <a:pt x="0" y="1274425"/>
                  <a:pt x="0" y="1227662"/>
                </a:cubicBezTo>
                <a:lnTo>
                  <a:pt x="0" y="84672"/>
                </a:lnTo>
                <a:cubicBezTo>
                  <a:pt x="0" y="37909"/>
                  <a:pt x="37909" y="0"/>
                  <a:pt x="8467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8625417" y="4194170"/>
            <a:ext cx="6900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变体结构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625417" y="4532837"/>
            <a:ext cx="6889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</a:t>
            </a:r>
            <a:r>
              <a:rPr lang="en-US" sz="1167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LSTM</a:t>
            </a: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：长短期记忆网络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625417" y="4786837"/>
            <a:ext cx="6889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</a:t>
            </a:r>
            <a:r>
              <a:rPr lang="en-US" sz="1167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GRU</a:t>
            </a: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：门控循环单元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625417" y="5040837"/>
            <a:ext cx="6889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</a:t>
            </a:r>
            <a:r>
              <a:rPr lang="en-US" sz="1167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Bi-RNN</a:t>
            </a: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：双向</a:t>
            </a:r>
            <a:r>
              <a:rPr lang="en-US" sz="1167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RNN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8239125" y="5761030"/>
            <a:ext cx="7588250" cy="3280833"/>
          </a:xfrm>
          <a:custGeom>
            <a:avLst/>
            <a:gdLst/>
            <a:ahLst/>
            <a:cxnLst/>
            <a:rect l="l" t="t" r="r" b="b"/>
            <a:pathLst>
              <a:path w="7588250" h="3280833">
                <a:moveTo>
                  <a:pt x="127001" y="0"/>
                </a:moveTo>
                <a:lnTo>
                  <a:pt x="7461249" y="0"/>
                </a:lnTo>
                <a:cubicBezTo>
                  <a:pt x="7531390" y="0"/>
                  <a:pt x="7588250" y="56860"/>
                  <a:pt x="7588250" y="127001"/>
                </a:cubicBezTo>
                <a:lnTo>
                  <a:pt x="7588250" y="3153832"/>
                </a:lnTo>
                <a:cubicBezTo>
                  <a:pt x="7588250" y="3223973"/>
                  <a:pt x="7531390" y="3280833"/>
                  <a:pt x="7461249" y="3280833"/>
                </a:cubicBezTo>
                <a:lnTo>
                  <a:pt x="127001" y="3280833"/>
                </a:lnTo>
                <a:cubicBezTo>
                  <a:pt x="56860" y="3280833"/>
                  <a:pt x="0" y="3223973"/>
                  <a:pt x="0" y="3153832"/>
                </a:cubicBezTo>
                <a:lnTo>
                  <a:pt x="0" y="127001"/>
                </a:lnTo>
                <a:cubicBezTo>
                  <a:pt x="0" y="56860"/>
                  <a:pt x="56860" y="0"/>
                  <a:pt x="127001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6ED3CF">
                  <a:alpha val="5000"/>
                </a:srgbClr>
              </a:gs>
            </a:gsLst>
            <a:lin ang="2700000" scaled="1"/>
          </a:gradFill>
          <a:ln w="12700">
            <a:solidFill>
              <a:srgbClr val="6ED3C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8498417" y="6020321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8673042" y="6168488"/>
            <a:ext cx="158750" cy="211667"/>
          </a:xfrm>
          <a:custGeom>
            <a:avLst/>
            <a:gdLst/>
            <a:ahLst/>
            <a:cxnLst/>
            <a:rect l="l" t="t" r="r" b="b"/>
            <a:pathLst>
              <a:path w="158750" h="211667">
                <a:moveTo>
                  <a:pt x="121088" y="158750"/>
                </a:moveTo>
                <a:cubicBezTo>
                  <a:pt x="124106" y="149531"/>
                  <a:pt x="130142" y="141180"/>
                  <a:pt x="136963" y="133987"/>
                </a:cubicBezTo>
                <a:cubicBezTo>
                  <a:pt x="150482" y="119765"/>
                  <a:pt x="158750" y="100542"/>
                  <a:pt x="158750" y="79375"/>
                </a:cubicBezTo>
                <a:cubicBezTo>
                  <a:pt x="158750" y="35553"/>
                  <a:pt x="123197" y="0"/>
                  <a:pt x="79375" y="0"/>
                </a:cubicBezTo>
                <a:cubicBezTo>
                  <a:pt x="35553" y="0"/>
                  <a:pt x="0" y="35553"/>
                  <a:pt x="0" y="79375"/>
                </a:cubicBezTo>
                <a:cubicBezTo>
                  <a:pt x="0" y="100542"/>
                  <a:pt x="8268" y="119765"/>
                  <a:pt x="21787" y="133987"/>
                </a:cubicBezTo>
                <a:cubicBezTo>
                  <a:pt x="28608" y="141180"/>
                  <a:pt x="34685" y="149531"/>
                  <a:pt x="37662" y="158750"/>
                </a:cubicBezTo>
                <a:lnTo>
                  <a:pt x="121047" y="158750"/>
                </a:lnTo>
                <a:close/>
                <a:moveTo>
                  <a:pt x="119063" y="178594"/>
                </a:moveTo>
                <a:lnTo>
                  <a:pt x="39688" y="178594"/>
                </a:lnTo>
                <a:lnTo>
                  <a:pt x="39688" y="185208"/>
                </a:lnTo>
                <a:cubicBezTo>
                  <a:pt x="39688" y="203481"/>
                  <a:pt x="54488" y="218281"/>
                  <a:pt x="72760" y="218281"/>
                </a:cubicBezTo>
                <a:lnTo>
                  <a:pt x="85990" y="218281"/>
                </a:lnTo>
                <a:cubicBezTo>
                  <a:pt x="104262" y="218281"/>
                  <a:pt x="119063" y="203481"/>
                  <a:pt x="119063" y="185208"/>
                </a:cubicBezTo>
                <a:lnTo>
                  <a:pt x="119063" y="178594"/>
                </a:lnTo>
                <a:close/>
                <a:moveTo>
                  <a:pt x="76068" y="46302"/>
                </a:moveTo>
                <a:cubicBezTo>
                  <a:pt x="59614" y="46302"/>
                  <a:pt x="46302" y="59614"/>
                  <a:pt x="46302" y="76068"/>
                </a:cubicBezTo>
                <a:cubicBezTo>
                  <a:pt x="46302" y="81566"/>
                  <a:pt x="41879" y="85990"/>
                  <a:pt x="36380" y="85990"/>
                </a:cubicBezTo>
                <a:cubicBezTo>
                  <a:pt x="30882" y="85990"/>
                  <a:pt x="26458" y="81566"/>
                  <a:pt x="26458" y="76068"/>
                </a:cubicBezTo>
                <a:cubicBezTo>
                  <a:pt x="26458" y="48659"/>
                  <a:pt x="48659" y="26458"/>
                  <a:pt x="76068" y="26458"/>
                </a:cubicBezTo>
                <a:cubicBezTo>
                  <a:pt x="81566" y="26458"/>
                  <a:pt x="85990" y="30882"/>
                  <a:pt x="85990" y="36380"/>
                </a:cubicBezTo>
                <a:cubicBezTo>
                  <a:pt x="85990" y="41879"/>
                  <a:pt x="81566" y="46302"/>
                  <a:pt x="76068" y="46302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9133417" y="6104988"/>
            <a:ext cx="15663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Transformer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8498417" y="6697655"/>
            <a:ext cx="71543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基于</a:t>
            </a: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自注意力机制</a:t>
            </a: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的革命性架构，克服了</a:t>
            </a:r>
            <a:r>
              <a:rPr lang="en-US" sz="1333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RNN</a:t>
            </a: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的顺序计算限制，支持并行化训练。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498417" y="7142155"/>
            <a:ext cx="7069667" cy="836083"/>
          </a:xfrm>
          <a:custGeom>
            <a:avLst/>
            <a:gdLst/>
            <a:ahLst/>
            <a:cxnLst/>
            <a:rect l="l" t="t" r="r" b="b"/>
            <a:pathLst>
              <a:path w="7069667" h="836083">
                <a:moveTo>
                  <a:pt x="84670" y="0"/>
                </a:moveTo>
                <a:lnTo>
                  <a:pt x="6984997" y="0"/>
                </a:lnTo>
                <a:cubicBezTo>
                  <a:pt x="7031759" y="0"/>
                  <a:pt x="7069667" y="37908"/>
                  <a:pt x="7069667" y="84670"/>
                </a:cubicBezTo>
                <a:lnTo>
                  <a:pt x="7069667" y="751413"/>
                </a:lnTo>
                <a:cubicBezTo>
                  <a:pt x="7069667" y="798175"/>
                  <a:pt x="7031759" y="836083"/>
                  <a:pt x="6984997" y="836083"/>
                </a:cubicBezTo>
                <a:lnTo>
                  <a:pt x="84670" y="836083"/>
                </a:lnTo>
                <a:cubicBezTo>
                  <a:pt x="37908" y="836083"/>
                  <a:pt x="0" y="798175"/>
                  <a:pt x="0" y="751413"/>
                </a:cubicBezTo>
                <a:lnTo>
                  <a:pt x="0" y="84670"/>
                </a:lnTo>
                <a:cubicBezTo>
                  <a:pt x="0" y="37908"/>
                  <a:pt x="37908" y="0"/>
                  <a:pt x="8467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8625417" y="7269155"/>
            <a:ext cx="6900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核心创新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625417" y="7607821"/>
            <a:ext cx="6889750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自注意力机制能够直接建模序列中任意两个位置之间的依赖关系，不受距离限制。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519583" y="8102592"/>
            <a:ext cx="7048500" cy="677333"/>
          </a:xfrm>
          <a:custGeom>
            <a:avLst/>
            <a:gdLst/>
            <a:ahLst/>
            <a:cxnLst/>
            <a:rect l="l" t="t" r="r" b="b"/>
            <a:pathLst>
              <a:path w="7048500" h="677333">
                <a:moveTo>
                  <a:pt x="42333" y="0"/>
                </a:moveTo>
                <a:lnTo>
                  <a:pt x="6963833" y="0"/>
                </a:lnTo>
                <a:cubicBezTo>
                  <a:pt x="7010593" y="0"/>
                  <a:pt x="7048500" y="37907"/>
                  <a:pt x="7048500" y="84667"/>
                </a:cubicBezTo>
                <a:lnTo>
                  <a:pt x="7048500" y="592667"/>
                </a:lnTo>
                <a:cubicBezTo>
                  <a:pt x="7048500" y="639427"/>
                  <a:pt x="7010593" y="677333"/>
                  <a:pt x="6963833" y="677333"/>
                </a:cubicBezTo>
                <a:lnTo>
                  <a:pt x="42333" y="677333"/>
                </a:lnTo>
                <a:cubicBezTo>
                  <a:pt x="18953" y="677333"/>
                  <a:pt x="0" y="658380"/>
                  <a:pt x="0" y="635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Shape 68"/>
          <p:cNvSpPr/>
          <p:nvPr/>
        </p:nvSpPr>
        <p:spPr>
          <a:xfrm>
            <a:off x="8519583" y="8102592"/>
            <a:ext cx="42333" cy="677333"/>
          </a:xfrm>
          <a:custGeom>
            <a:avLst/>
            <a:gdLst/>
            <a:ahLst/>
            <a:cxnLst/>
            <a:rect l="l" t="t" r="r" b="b"/>
            <a:pathLst>
              <a:path w="42333" h="677333">
                <a:moveTo>
                  <a:pt x="42333" y="0"/>
                </a:moveTo>
                <a:lnTo>
                  <a:pt x="42333" y="0"/>
                </a:lnTo>
                <a:lnTo>
                  <a:pt x="42333" y="677333"/>
                </a:lnTo>
                <a:lnTo>
                  <a:pt x="42333" y="677333"/>
                </a:lnTo>
                <a:cubicBezTo>
                  <a:pt x="18953" y="677333"/>
                  <a:pt x="0" y="658380"/>
                  <a:pt x="0" y="635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1" name="Text 69"/>
          <p:cNvSpPr/>
          <p:nvPr/>
        </p:nvSpPr>
        <p:spPr>
          <a:xfrm>
            <a:off x="8667750" y="8229592"/>
            <a:ext cx="6847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大模型基础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667750" y="8483592"/>
            <a:ext cx="68368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GPT、BERT等大语言模型的基础架构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428625" y="11799342"/>
            <a:ext cx="5016500" cy="1005417"/>
          </a:xfrm>
          <a:custGeom>
            <a:avLst/>
            <a:gdLst/>
            <a:ahLst/>
            <a:cxnLst/>
            <a:rect l="l" t="t" r="r" b="b"/>
            <a:pathLst>
              <a:path w="5016500" h="1005417">
                <a:moveTo>
                  <a:pt x="84666" y="0"/>
                </a:moveTo>
                <a:lnTo>
                  <a:pt x="4931834" y="0"/>
                </a:lnTo>
                <a:cubicBezTo>
                  <a:pt x="4978594" y="0"/>
                  <a:pt x="5016500" y="37906"/>
                  <a:pt x="5016500" y="84666"/>
                </a:cubicBezTo>
                <a:lnTo>
                  <a:pt x="5016500" y="920751"/>
                </a:lnTo>
                <a:cubicBezTo>
                  <a:pt x="5016500" y="967510"/>
                  <a:pt x="4978594" y="1005417"/>
                  <a:pt x="4931834" y="1005417"/>
                </a:cubicBezTo>
                <a:lnTo>
                  <a:pt x="84666" y="1005417"/>
                </a:lnTo>
                <a:cubicBezTo>
                  <a:pt x="37906" y="1005417"/>
                  <a:pt x="0" y="967510"/>
                  <a:pt x="0" y="920751"/>
                </a:cubicBezTo>
                <a:lnTo>
                  <a:pt x="0" y="84666"/>
                </a:lnTo>
                <a:cubicBezTo>
                  <a:pt x="0" y="37938"/>
                  <a:pt x="37938" y="0"/>
                  <a:pt x="84666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Shape 72"/>
          <p:cNvSpPr/>
          <p:nvPr/>
        </p:nvSpPr>
        <p:spPr>
          <a:xfrm>
            <a:off x="641615" y="1202688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5" name="Text 73"/>
          <p:cNvSpPr/>
          <p:nvPr/>
        </p:nvSpPr>
        <p:spPr>
          <a:xfrm>
            <a:off x="846667" y="11973967"/>
            <a:ext cx="4519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数据需求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603250" y="12354967"/>
            <a:ext cx="4751917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深度学习需要</a:t>
            </a: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大量标注数据</a:t>
            </a: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，数据量越大，模型性能越好。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5621486" y="11799342"/>
            <a:ext cx="5016500" cy="1005417"/>
          </a:xfrm>
          <a:custGeom>
            <a:avLst/>
            <a:gdLst/>
            <a:ahLst/>
            <a:cxnLst/>
            <a:rect l="l" t="t" r="r" b="b"/>
            <a:pathLst>
              <a:path w="5016500" h="1005417">
                <a:moveTo>
                  <a:pt x="84666" y="0"/>
                </a:moveTo>
                <a:lnTo>
                  <a:pt x="4931834" y="0"/>
                </a:lnTo>
                <a:cubicBezTo>
                  <a:pt x="4978594" y="0"/>
                  <a:pt x="5016500" y="37906"/>
                  <a:pt x="5016500" y="84666"/>
                </a:cubicBezTo>
                <a:lnTo>
                  <a:pt x="5016500" y="920751"/>
                </a:lnTo>
                <a:cubicBezTo>
                  <a:pt x="5016500" y="967510"/>
                  <a:pt x="4978594" y="1005417"/>
                  <a:pt x="4931834" y="1005417"/>
                </a:cubicBezTo>
                <a:lnTo>
                  <a:pt x="84666" y="1005417"/>
                </a:lnTo>
                <a:cubicBezTo>
                  <a:pt x="37906" y="1005417"/>
                  <a:pt x="0" y="967510"/>
                  <a:pt x="0" y="920751"/>
                </a:cubicBezTo>
                <a:lnTo>
                  <a:pt x="0" y="84666"/>
                </a:lnTo>
                <a:cubicBezTo>
                  <a:pt x="0" y="37938"/>
                  <a:pt x="37938" y="0"/>
                  <a:pt x="84666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6ED3CF">
                  <a:alpha val="5000"/>
                </a:srgbClr>
              </a:gs>
            </a:gsLst>
            <a:lin ang="2700000" scaled="1"/>
          </a:gradFill>
          <a:ln w="12700">
            <a:solidFill>
              <a:srgbClr val="6ED3C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Shape 76"/>
          <p:cNvSpPr/>
          <p:nvPr/>
        </p:nvSpPr>
        <p:spPr>
          <a:xfrm>
            <a:off x="5822570" y="1202688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5484" y="8930"/>
                </a:moveTo>
                <a:cubicBezTo>
                  <a:pt x="65484" y="3981"/>
                  <a:pt x="61503" y="0"/>
                  <a:pt x="56555" y="0"/>
                </a:cubicBezTo>
                <a:cubicBezTo>
                  <a:pt x="51606" y="0"/>
                  <a:pt x="47625" y="3981"/>
                  <a:pt x="47625" y="8930"/>
                </a:cubicBezTo>
                <a:lnTo>
                  <a:pt x="47625" y="23812"/>
                </a:lnTo>
                <a:cubicBezTo>
                  <a:pt x="34491" y="23812"/>
                  <a:pt x="23812" y="34491"/>
                  <a:pt x="23812" y="47625"/>
                </a:cubicBezTo>
                <a:lnTo>
                  <a:pt x="8930" y="47625"/>
                </a:lnTo>
                <a:cubicBezTo>
                  <a:pt x="3981" y="47625"/>
                  <a:pt x="0" y="51606"/>
                  <a:pt x="0" y="56555"/>
                </a:cubicBezTo>
                <a:cubicBezTo>
                  <a:pt x="0" y="61503"/>
                  <a:pt x="3981" y="65484"/>
                  <a:pt x="8930" y="65484"/>
                </a:cubicBezTo>
                <a:lnTo>
                  <a:pt x="23812" y="65484"/>
                </a:lnTo>
                <a:lnTo>
                  <a:pt x="23812" y="86320"/>
                </a:lnTo>
                <a:lnTo>
                  <a:pt x="8930" y="86320"/>
                </a:lnTo>
                <a:cubicBezTo>
                  <a:pt x="3981" y="86320"/>
                  <a:pt x="0" y="90301"/>
                  <a:pt x="0" y="95250"/>
                </a:cubicBezTo>
                <a:cubicBezTo>
                  <a:pt x="0" y="100199"/>
                  <a:pt x="3981" y="104180"/>
                  <a:pt x="8930" y="104180"/>
                </a:cubicBezTo>
                <a:lnTo>
                  <a:pt x="23812" y="104180"/>
                </a:lnTo>
                <a:lnTo>
                  <a:pt x="23812" y="125016"/>
                </a:lnTo>
                <a:lnTo>
                  <a:pt x="8930" y="125016"/>
                </a:lnTo>
                <a:cubicBezTo>
                  <a:pt x="3981" y="125016"/>
                  <a:pt x="0" y="128997"/>
                  <a:pt x="0" y="133945"/>
                </a:cubicBezTo>
                <a:cubicBezTo>
                  <a:pt x="0" y="138894"/>
                  <a:pt x="3981" y="142875"/>
                  <a:pt x="8930" y="142875"/>
                </a:cubicBezTo>
                <a:lnTo>
                  <a:pt x="23812" y="142875"/>
                </a:lnTo>
                <a:cubicBezTo>
                  <a:pt x="23812" y="156009"/>
                  <a:pt x="34491" y="166688"/>
                  <a:pt x="47625" y="166688"/>
                </a:cubicBezTo>
                <a:lnTo>
                  <a:pt x="47625" y="181570"/>
                </a:lnTo>
                <a:cubicBezTo>
                  <a:pt x="47625" y="186519"/>
                  <a:pt x="51606" y="190500"/>
                  <a:pt x="56555" y="190500"/>
                </a:cubicBezTo>
                <a:cubicBezTo>
                  <a:pt x="61503" y="190500"/>
                  <a:pt x="65484" y="186519"/>
                  <a:pt x="65484" y="181570"/>
                </a:cubicBezTo>
                <a:lnTo>
                  <a:pt x="65484" y="166688"/>
                </a:lnTo>
                <a:lnTo>
                  <a:pt x="86320" y="166688"/>
                </a:lnTo>
                <a:lnTo>
                  <a:pt x="86320" y="181570"/>
                </a:lnTo>
                <a:cubicBezTo>
                  <a:pt x="86320" y="186519"/>
                  <a:pt x="90301" y="190500"/>
                  <a:pt x="95250" y="190500"/>
                </a:cubicBezTo>
                <a:cubicBezTo>
                  <a:pt x="100199" y="190500"/>
                  <a:pt x="104180" y="186519"/>
                  <a:pt x="104180" y="181570"/>
                </a:cubicBezTo>
                <a:lnTo>
                  <a:pt x="104180" y="166688"/>
                </a:lnTo>
                <a:lnTo>
                  <a:pt x="125016" y="166688"/>
                </a:lnTo>
                <a:lnTo>
                  <a:pt x="125016" y="181570"/>
                </a:lnTo>
                <a:cubicBezTo>
                  <a:pt x="125016" y="186519"/>
                  <a:pt x="128997" y="190500"/>
                  <a:pt x="133945" y="190500"/>
                </a:cubicBezTo>
                <a:cubicBezTo>
                  <a:pt x="138894" y="190500"/>
                  <a:pt x="142875" y="186519"/>
                  <a:pt x="142875" y="181570"/>
                </a:cubicBezTo>
                <a:lnTo>
                  <a:pt x="142875" y="166688"/>
                </a:lnTo>
                <a:cubicBezTo>
                  <a:pt x="156009" y="166688"/>
                  <a:pt x="166688" y="156009"/>
                  <a:pt x="166688" y="142875"/>
                </a:cubicBezTo>
                <a:lnTo>
                  <a:pt x="181570" y="142875"/>
                </a:lnTo>
                <a:cubicBezTo>
                  <a:pt x="186519" y="142875"/>
                  <a:pt x="190500" y="138894"/>
                  <a:pt x="190500" y="133945"/>
                </a:cubicBezTo>
                <a:cubicBezTo>
                  <a:pt x="190500" y="128997"/>
                  <a:pt x="186519" y="125016"/>
                  <a:pt x="181570" y="125016"/>
                </a:cubicBezTo>
                <a:lnTo>
                  <a:pt x="166688" y="125016"/>
                </a:lnTo>
                <a:lnTo>
                  <a:pt x="166688" y="104180"/>
                </a:lnTo>
                <a:lnTo>
                  <a:pt x="181570" y="104180"/>
                </a:lnTo>
                <a:cubicBezTo>
                  <a:pt x="186519" y="104180"/>
                  <a:pt x="190500" y="100199"/>
                  <a:pt x="190500" y="95250"/>
                </a:cubicBezTo>
                <a:cubicBezTo>
                  <a:pt x="190500" y="90301"/>
                  <a:pt x="186519" y="86320"/>
                  <a:pt x="181570" y="86320"/>
                </a:cubicBezTo>
                <a:lnTo>
                  <a:pt x="166688" y="86320"/>
                </a:lnTo>
                <a:lnTo>
                  <a:pt x="166688" y="65484"/>
                </a:lnTo>
                <a:lnTo>
                  <a:pt x="181570" y="65484"/>
                </a:lnTo>
                <a:cubicBezTo>
                  <a:pt x="186519" y="65484"/>
                  <a:pt x="190500" y="61503"/>
                  <a:pt x="190500" y="56555"/>
                </a:cubicBezTo>
                <a:cubicBezTo>
                  <a:pt x="190500" y="51606"/>
                  <a:pt x="186519" y="47625"/>
                  <a:pt x="181570" y="47625"/>
                </a:cubicBez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42875" y="8930"/>
                </a:lnTo>
                <a:cubicBezTo>
                  <a:pt x="142875" y="3981"/>
                  <a:pt x="138894" y="0"/>
                  <a:pt x="133945" y="0"/>
                </a:cubicBezTo>
                <a:cubicBezTo>
                  <a:pt x="128997" y="0"/>
                  <a:pt x="125016" y="3981"/>
                  <a:pt x="125016" y="8930"/>
                </a:cubicBezTo>
                <a:lnTo>
                  <a:pt x="125016" y="23812"/>
                </a:lnTo>
                <a:lnTo>
                  <a:pt x="104180" y="23812"/>
                </a:lnTo>
                <a:lnTo>
                  <a:pt x="104180" y="8930"/>
                </a:lnTo>
                <a:cubicBezTo>
                  <a:pt x="104180" y="3981"/>
                  <a:pt x="100199" y="0"/>
                  <a:pt x="95250" y="0"/>
                </a:cubicBezTo>
                <a:cubicBezTo>
                  <a:pt x="90301" y="0"/>
                  <a:pt x="86320" y="3981"/>
                  <a:pt x="86320" y="8930"/>
                </a:cubicBezTo>
                <a:lnTo>
                  <a:pt x="86320" y="23812"/>
                </a:lnTo>
                <a:lnTo>
                  <a:pt x="65484" y="23812"/>
                </a:lnTo>
                <a:lnTo>
                  <a:pt x="65484" y="8930"/>
                </a:lnTo>
                <a:close/>
                <a:moveTo>
                  <a:pt x="59531" y="47625"/>
                </a:moveTo>
                <a:lnTo>
                  <a:pt x="130969" y="47625"/>
                </a:lnTo>
                <a:cubicBezTo>
                  <a:pt x="137554" y="47625"/>
                  <a:pt x="142875" y="52946"/>
                  <a:pt x="142875" y="59531"/>
                </a:cubicBezTo>
                <a:lnTo>
                  <a:pt x="142875" y="130969"/>
                </a:lnTo>
                <a:cubicBezTo>
                  <a:pt x="142875" y="137554"/>
                  <a:pt x="137554" y="142875"/>
                  <a:pt x="130969" y="142875"/>
                </a:cubicBezTo>
                <a:lnTo>
                  <a:pt x="59531" y="142875"/>
                </a:lnTo>
                <a:cubicBezTo>
                  <a:pt x="52946" y="142875"/>
                  <a:pt x="47625" y="137554"/>
                  <a:pt x="47625" y="130969"/>
                </a:cubicBezTo>
                <a:lnTo>
                  <a:pt x="47625" y="59531"/>
                </a:lnTo>
                <a:cubicBezTo>
                  <a:pt x="47625" y="52946"/>
                  <a:pt x="52946" y="47625"/>
                  <a:pt x="59531" y="47625"/>
                </a:cubicBezTo>
                <a:close/>
                <a:moveTo>
                  <a:pt x="65484" y="65484"/>
                </a:moveTo>
                <a:lnTo>
                  <a:pt x="65484" y="125016"/>
                </a:lnTo>
                <a:lnTo>
                  <a:pt x="125016" y="125016"/>
                </a:lnTo>
                <a:lnTo>
                  <a:pt x="125016" y="65484"/>
                </a:lnTo>
                <a:lnTo>
                  <a:pt x="65484" y="65484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9" name="Text 77"/>
          <p:cNvSpPr/>
          <p:nvPr/>
        </p:nvSpPr>
        <p:spPr>
          <a:xfrm>
            <a:off x="6039528" y="11973967"/>
            <a:ext cx="4519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计算资源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5796111" y="12354967"/>
            <a:ext cx="4751917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需要</a:t>
            </a: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GPU/TPU</a:t>
            </a: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加速训练，计算成本较高。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10814348" y="11799342"/>
            <a:ext cx="5016500" cy="1005417"/>
          </a:xfrm>
          <a:custGeom>
            <a:avLst/>
            <a:gdLst/>
            <a:ahLst/>
            <a:cxnLst/>
            <a:rect l="l" t="t" r="r" b="b"/>
            <a:pathLst>
              <a:path w="5016500" h="1005417">
                <a:moveTo>
                  <a:pt x="84666" y="0"/>
                </a:moveTo>
                <a:lnTo>
                  <a:pt x="4931834" y="0"/>
                </a:lnTo>
                <a:cubicBezTo>
                  <a:pt x="4978594" y="0"/>
                  <a:pt x="5016500" y="37906"/>
                  <a:pt x="5016500" y="84666"/>
                </a:cubicBezTo>
                <a:lnTo>
                  <a:pt x="5016500" y="920751"/>
                </a:lnTo>
                <a:cubicBezTo>
                  <a:pt x="5016500" y="967510"/>
                  <a:pt x="4978594" y="1005417"/>
                  <a:pt x="4931834" y="1005417"/>
                </a:cubicBezTo>
                <a:lnTo>
                  <a:pt x="84666" y="1005417"/>
                </a:lnTo>
                <a:cubicBezTo>
                  <a:pt x="37906" y="1005417"/>
                  <a:pt x="0" y="967510"/>
                  <a:pt x="0" y="920751"/>
                </a:cubicBezTo>
                <a:lnTo>
                  <a:pt x="0" y="84666"/>
                </a:lnTo>
                <a:cubicBezTo>
                  <a:pt x="0" y="37938"/>
                  <a:pt x="37938" y="0"/>
                  <a:pt x="84666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Shape 80"/>
          <p:cNvSpPr/>
          <p:nvPr/>
        </p:nvSpPr>
        <p:spPr>
          <a:xfrm>
            <a:off x="11015431" y="1202688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3" name="Text 81"/>
          <p:cNvSpPr/>
          <p:nvPr/>
        </p:nvSpPr>
        <p:spPr>
          <a:xfrm>
            <a:off x="11232389" y="11973967"/>
            <a:ext cx="4519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特征学习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10988973" y="12354967"/>
            <a:ext cx="4751917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能够</a:t>
            </a: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自动学习特征表示</a:t>
            </a: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，减少手工特征工程。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3966" y="463966"/>
            <a:ext cx="2783797" cy="378047"/>
          </a:xfrm>
          <a:custGeom>
            <a:avLst/>
            <a:gdLst/>
            <a:ahLst/>
            <a:cxnLst/>
            <a:rect l="l" t="t" r="r" b="b"/>
            <a:pathLst>
              <a:path w="2783797" h="378047">
                <a:moveTo>
                  <a:pt x="45823" y="0"/>
                </a:moveTo>
                <a:lnTo>
                  <a:pt x="2737974" y="0"/>
                </a:lnTo>
                <a:cubicBezTo>
                  <a:pt x="2763281" y="0"/>
                  <a:pt x="2783797" y="20516"/>
                  <a:pt x="2783797" y="45823"/>
                </a:cubicBezTo>
                <a:lnTo>
                  <a:pt x="2783797" y="332223"/>
                </a:lnTo>
                <a:cubicBezTo>
                  <a:pt x="2783797" y="357531"/>
                  <a:pt x="2763281" y="378047"/>
                  <a:pt x="2737974" y="378047"/>
                </a:cubicBezTo>
                <a:lnTo>
                  <a:pt x="45823" y="378047"/>
                </a:lnTo>
                <a:cubicBezTo>
                  <a:pt x="20516" y="378047"/>
                  <a:pt x="0" y="357531"/>
                  <a:pt x="0" y="332223"/>
                </a:cubicBezTo>
                <a:lnTo>
                  <a:pt x="0" y="45823"/>
                </a:lnTo>
                <a:cubicBezTo>
                  <a:pt x="0" y="20533"/>
                  <a:pt x="20533" y="0"/>
                  <a:pt x="45823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 w="12700">
            <a:solidFill>
              <a:srgbClr val="5F87A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07166" y="532702"/>
            <a:ext cx="2585824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3" kern="0" spc="72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UNSUPERVISED LEARNING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8238" y="939388"/>
            <a:ext cx="15545731" cy="458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4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无监督学习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8238" y="1489274"/>
            <a:ext cx="15431171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从未标注数据中发现隐藏模式与结构（对应章节：Ch-05、Ch-06）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3966" y="1999064"/>
            <a:ext cx="7538018" cy="7030636"/>
          </a:xfrm>
          <a:custGeom>
            <a:avLst/>
            <a:gdLst/>
            <a:ahLst/>
            <a:cxnLst/>
            <a:rect l="l" t="t" r="r" b="b"/>
            <a:pathLst>
              <a:path w="7538018" h="7664034">
                <a:moveTo>
                  <a:pt x="137493" y="0"/>
                </a:moveTo>
                <a:lnTo>
                  <a:pt x="7400525" y="0"/>
                </a:lnTo>
                <a:cubicBezTo>
                  <a:pt x="7476460" y="0"/>
                  <a:pt x="7538018" y="61558"/>
                  <a:pt x="7538018" y="137493"/>
                </a:cubicBezTo>
                <a:lnTo>
                  <a:pt x="7538018" y="7526540"/>
                </a:lnTo>
                <a:cubicBezTo>
                  <a:pt x="7538018" y="7602476"/>
                  <a:pt x="7476460" y="7664034"/>
                  <a:pt x="7400525" y="7664034"/>
                </a:cubicBezTo>
                <a:lnTo>
                  <a:pt x="137493" y="7664034"/>
                </a:lnTo>
                <a:cubicBezTo>
                  <a:pt x="61558" y="7664034"/>
                  <a:pt x="0" y="7602476"/>
                  <a:pt x="0" y="7526540"/>
                </a:cubicBezTo>
                <a:lnTo>
                  <a:pt x="0" y="137493"/>
                </a:lnTo>
                <a:cubicBezTo>
                  <a:pt x="0" y="61609"/>
                  <a:pt x="61609" y="0"/>
                  <a:pt x="137493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44637" y="2302647"/>
            <a:ext cx="549886" cy="549886"/>
          </a:xfrm>
          <a:custGeom>
            <a:avLst/>
            <a:gdLst/>
            <a:ahLst/>
            <a:cxnLst/>
            <a:rect l="l" t="t" r="r" b="b"/>
            <a:pathLst>
              <a:path w="549886" h="549886">
                <a:moveTo>
                  <a:pt x="91649" y="0"/>
                </a:moveTo>
                <a:lnTo>
                  <a:pt x="458236" y="0"/>
                </a:lnTo>
                <a:cubicBezTo>
                  <a:pt x="508853" y="0"/>
                  <a:pt x="549886" y="41033"/>
                  <a:pt x="549886" y="91649"/>
                </a:cubicBezTo>
                <a:lnTo>
                  <a:pt x="549886" y="458236"/>
                </a:lnTo>
                <a:cubicBezTo>
                  <a:pt x="549886" y="508853"/>
                  <a:pt x="508853" y="549886"/>
                  <a:pt x="458236" y="549886"/>
                </a:cubicBezTo>
                <a:lnTo>
                  <a:pt x="91649" y="549886"/>
                </a:lnTo>
                <a:cubicBezTo>
                  <a:pt x="41033" y="549886"/>
                  <a:pt x="0" y="508853"/>
                  <a:pt x="0" y="458236"/>
                </a:cubicBezTo>
                <a:lnTo>
                  <a:pt x="0" y="91649"/>
                </a:lnTo>
                <a:cubicBezTo>
                  <a:pt x="0" y="41067"/>
                  <a:pt x="41067" y="0"/>
                  <a:pt x="91649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05020" y="2463030"/>
            <a:ext cx="229119" cy="229119"/>
          </a:xfrm>
          <a:custGeom>
            <a:avLst/>
            <a:gdLst/>
            <a:ahLst/>
            <a:cxnLst/>
            <a:rect l="l" t="t" r="r" b="b"/>
            <a:pathLst>
              <a:path w="229119" h="229119">
                <a:moveTo>
                  <a:pt x="0" y="35800"/>
                </a:moveTo>
                <a:cubicBezTo>
                  <a:pt x="0" y="23941"/>
                  <a:pt x="9621" y="14320"/>
                  <a:pt x="21480" y="14320"/>
                </a:cubicBezTo>
                <a:lnTo>
                  <a:pt x="64440" y="14320"/>
                </a:lnTo>
                <a:cubicBezTo>
                  <a:pt x="76298" y="14320"/>
                  <a:pt x="85920" y="23941"/>
                  <a:pt x="85920" y="35800"/>
                </a:cubicBezTo>
                <a:lnTo>
                  <a:pt x="85920" y="42960"/>
                </a:lnTo>
                <a:lnTo>
                  <a:pt x="143199" y="42960"/>
                </a:lnTo>
                <a:lnTo>
                  <a:pt x="143199" y="35800"/>
                </a:lnTo>
                <a:cubicBezTo>
                  <a:pt x="143199" y="23941"/>
                  <a:pt x="152821" y="14320"/>
                  <a:pt x="164679" y="14320"/>
                </a:cubicBezTo>
                <a:lnTo>
                  <a:pt x="207639" y="14320"/>
                </a:lnTo>
                <a:cubicBezTo>
                  <a:pt x="219498" y="14320"/>
                  <a:pt x="229119" y="23941"/>
                  <a:pt x="229119" y="35800"/>
                </a:cubicBezTo>
                <a:lnTo>
                  <a:pt x="229119" y="78760"/>
                </a:lnTo>
                <a:cubicBezTo>
                  <a:pt x="229119" y="90618"/>
                  <a:pt x="219498" y="100240"/>
                  <a:pt x="207639" y="100240"/>
                </a:cubicBezTo>
                <a:lnTo>
                  <a:pt x="164679" y="100240"/>
                </a:lnTo>
                <a:cubicBezTo>
                  <a:pt x="152821" y="100240"/>
                  <a:pt x="143199" y="90618"/>
                  <a:pt x="143199" y="78760"/>
                </a:cubicBezTo>
                <a:lnTo>
                  <a:pt x="143199" y="71600"/>
                </a:lnTo>
                <a:lnTo>
                  <a:pt x="85920" y="71600"/>
                </a:lnTo>
                <a:lnTo>
                  <a:pt x="85920" y="78760"/>
                </a:lnTo>
                <a:cubicBezTo>
                  <a:pt x="85920" y="82026"/>
                  <a:pt x="85159" y="85159"/>
                  <a:pt x="83861" y="87933"/>
                </a:cubicBezTo>
                <a:lnTo>
                  <a:pt x="114560" y="128879"/>
                </a:lnTo>
                <a:lnTo>
                  <a:pt x="150359" y="128879"/>
                </a:lnTo>
                <a:cubicBezTo>
                  <a:pt x="162218" y="128879"/>
                  <a:pt x="171839" y="138501"/>
                  <a:pt x="171839" y="150359"/>
                </a:cubicBezTo>
                <a:lnTo>
                  <a:pt x="171839" y="193319"/>
                </a:lnTo>
                <a:cubicBezTo>
                  <a:pt x="171839" y="205178"/>
                  <a:pt x="162218" y="214799"/>
                  <a:pt x="150359" y="214799"/>
                </a:cubicBezTo>
                <a:lnTo>
                  <a:pt x="107400" y="214799"/>
                </a:lnTo>
                <a:cubicBezTo>
                  <a:pt x="95541" y="214799"/>
                  <a:pt x="85920" y="205178"/>
                  <a:pt x="85920" y="193319"/>
                </a:cubicBezTo>
                <a:lnTo>
                  <a:pt x="85920" y="150359"/>
                </a:lnTo>
                <a:cubicBezTo>
                  <a:pt x="85920" y="147093"/>
                  <a:pt x="86680" y="143960"/>
                  <a:pt x="87978" y="141186"/>
                </a:cubicBezTo>
                <a:lnTo>
                  <a:pt x="57280" y="100240"/>
                </a:lnTo>
                <a:lnTo>
                  <a:pt x="21480" y="100240"/>
                </a:lnTo>
                <a:cubicBezTo>
                  <a:pt x="9621" y="100240"/>
                  <a:pt x="0" y="90618"/>
                  <a:pt x="0" y="78760"/>
                </a:cubicBezTo>
                <a:lnTo>
                  <a:pt x="0" y="358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431994" y="2279735"/>
            <a:ext cx="1294523" cy="366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65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聚类算法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1994" y="2646326"/>
            <a:ext cx="1237243" cy="229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Ch-05 聚类算法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4637" y="3058740"/>
            <a:ext cx="7068324" cy="2978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4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将相似样本划分为同一簇，不同簇间差异最大化，发现数据的自然分组。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7549" y="3539890"/>
            <a:ext cx="6953765" cy="1913144"/>
          </a:xfrm>
          <a:custGeom>
            <a:avLst/>
            <a:gdLst/>
            <a:ahLst/>
            <a:cxnLst/>
            <a:rect l="l" t="t" r="r" b="b"/>
            <a:pathLst>
              <a:path w="6953765" h="1913144">
                <a:moveTo>
                  <a:pt x="45824" y="0"/>
                </a:moveTo>
                <a:lnTo>
                  <a:pt x="6862125" y="0"/>
                </a:lnTo>
                <a:cubicBezTo>
                  <a:pt x="6912736" y="0"/>
                  <a:pt x="6953765" y="41028"/>
                  <a:pt x="6953765" y="91640"/>
                </a:cubicBezTo>
                <a:lnTo>
                  <a:pt x="6953765" y="1821505"/>
                </a:lnTo>
                <a:cubicBezTo>
                  <a:pt x="6953765" y="1872116"/>
                  <a:pt x="6912736" y="1913144"/>
                  <a:pt x="6862125" y="1913144"/>
                </a:cubicBezTo>
                <a:lnTo>
                  <a:pt x="45824" y="1913144"/>
                </a:lnTo>
                <a:cubicBezTo>
                  <a:pt x="20516" y="1913144"/>
                  <a:pt x="0" y="1892628"/>
                  <a:pt x="0" y="1867321"/>
                </a:cubicBezTo>
                <a:lnTo>
                  <a:pt x="0" y="45824"/>
                </a:lnTo>
                <a:cubicBezTo>
                  <a:pt x="0" y="20533"/>
                  <a:pt x="20533" y="0"/>
                  <a:pt x="4582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767549" y="3539890"/>
            <a:ext cx="45824" cy="1913144"/>
          </a:xfrm>
          <a:custGeom>
            <a:avLst/>
            <a:gdLst/>
            <a:ahLst/>
            <a:cxnLst/>
            <a:rect l="l" t="t" r="r" b="b"/>
            <a:pathLst>
              <a:path w="45824" h="1913144">
                <a:moveTo>
                  <a:pt x="45824" y="0"/>
                </a:moveTo>
                <a:lnTo>
                  <a:pt x="45824" y="0"/>
                </a:lnTo>
                <a:lnTo>
                  <a:pt x="45824" y="1913144"/>
                </a:lnTo>
                <a:lnTo>
                  <a:pt x="45824" y="1913144"/>
                </a:lnTo>
                <a:cubicBezTo>
                  <a:pt x="20516" y="1913144"/>
                  <a:pt x="0" y="1892628"/>
                  <a:pt x="0" y="1867321"/>
                </a:cubicBezTo>
                <a:lnTo>
                  <a:pt x="0" y="45824"/>
                </a:lnTo>
                <a:cubicBezTo>
                  <a:pt x="0" y="20533"/>
                  <a:pt x="20533" y="0"/>
                  <a:pt x="45824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73756" y="3723185"/>
            <a:ext cx="950844" cy="320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24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K-Means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808596" y="3746097"/>
            <a:ext cx="733181" cy="274943"/>
          </a:xfrm>
          <a:custGeom>
            <a:avLst/>
            <a:gdLst/>
            <a:ahLst/>
            <a:cxnLst/>
            <a:rect l="l" t="t" r="r" b="b"/>
            <a:pathLst>
              <a:path w="733181" h="274943">
                <a:moveTo>
                  <a:pt x="45825" y="0"/>
                </a:moveTo>
                <a:lnTo>
                  <a:pt x="687356" y="0"/>
                </a:lnTo>
                <a:cubicBezTo>
                  <a:pt x="712665" y="0"/>
                  <a:pt x="733181" y="20516"/>
                  <a:pt x="733181" y="45825"/>
                </a:cubicBezTo>
                <a:lnTo>
                  <a:pt x="733181" y="229118"/>
                </a:lnTo>
                <a:cubicBezTo>
                  <a:pt x="733181" y="254426"/>
                  <a:pt x="712665" y="274943"/>
                  <a:pt x="687356" y="274943"/>
                </a:cubicBezTo>
                <a:lnTo>
                  <a:pt x="45825" y="274943"/>
                </a:lnTo>
                <a:cubicBezTo>
                  <a:pt x="20516" y="274943"/>
                  <a:pt x="0" y="254426"/>
                  <a:pt x="0" y="229118"/>
                </a:cubicBezTo>
                <a:lnTo>
                  <a:pt x="0" y="45825"/>
                </a:lnTo>
                <a:cubicBezTo>
                  <a:pt x="0" y="20533"/>
                  <a:pt x="20533" y="0"/>
                  <a:pt x="45825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808596" y="3746097"/>
            <a:ext cx="801917" cy="274943"/>
          </a:xfrm>
          <a:prstGeom prst="rect">
            <a:avLst/>
          </a:prstGeom>
          <a:noFill/>
          <a:ln/>
        </p:spPr>
        <p:txBody>
          <a:bodyPr wrap="square" lIns="91648" tIns="45824" rIns="91648" bIns="45824" rtlCol="0" anchor="ctr"/>
          <a:lstStyle/>
          <a:p>
            <a:pPr>
              <a:lnSpc>
                <a:spcPct val="110000"/>
              </a:lnSpc>
            </a:pPr>
            <a:r>
              <a:rPr lang="en-US" sz="1082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基于质心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73756" y="4135600"/>
            <a:ext cx="6644454" cy="263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预先指定聚类数量K，迭代更新簇质心直至收敛。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73756" y="4487870"/>
            <a:ext cx="6644454" cy="229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简单高效，适合大规模数据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73756" y="4762813"/>
            <a:ext cx="6644454" cy="229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对初始值敏感，可能陷入局部最优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73756" y="5037756"/>
            <a:ext cx="6644454" cy="229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假设簇为球形，对非凸簇效果差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4637" y="5587642"/>
            <a:ext cx="6976677" cy="1924600"/>
          </a:xfrm>
          <a:custGeom>
            <a:avLst/>
            <a:gdLst/>
            <a:ahLst/>
            <a:cxnLst/>
            <a:rect l="l" t="t" r="r" b="b"/>
            <a:pathLst>
              <a:path w="6976677" h="1924600">
                <a:moveTo>
                  <a:pt x="91649" y="0"/>
                </a:moveTo>
                <a:lnTo>
                  <a:pt x="6885027" y="0"/>
                </a:lnTo>
                <a:cubicBezTo>
                  <a:pt x="6935644" y="0"/>
                  <a:pt x="6976677" y="41033"/>
                  <a:pt x="6976677" y="91649"/>
                </a:cubicBezTo>
                <a:lnTo>
                  <a:pt x="6976677" y="1832951"/>
                </a:lnTo>
                <a:cubicBezTo>
                  <a:pt x="6976677" y="1883568"/>
                  <a:pt x="6935644" y="1924600"/>
                  <a:pt x="6885027" y="1924600"/>
                </a:cubicBezTo>
                <a:lnTo>
                  <a:pt x="91649" y="1924600"/>
                </a:lnTo>
                <a:cubicBezTo>
                  <a:pt x="41033" y="1924600"/>
                  <a:pt x="0" y="1883568"/>
                  <a:pt x="0" y="1832951"/>
                </a:cubicBezTo>
                <a:lnTo>
                  <a:pt x="0" y="91649"/>
                </a:lnTo>
                <a:cubicBezTo>
                  <a:pt x="0" y="41067"/>
                  <a:pt x="41067" y="0"/>
                  <a:pt x="9164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82109" y="5725113"/>
            <a:ext cx="6793381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其他聚类方法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82109" y="6091704"/>
            <a:ext cx="6701734" cy="595710"/>
          </a:xfrm>
          <a:custGeom>
            <a:avLst/>
            <a:gdLst/>
            <a:ahLst/>
            <a:cxnLst/>
            <a:rect l="l" t="t" r="r" b="b"/>
            <a:pathLst>
              <a:path w="6701734" h="595710">
                <a:moveTo>
                  <a:pt x="91650" y="0"/>
                </a:moveTo>
                <a:lnTo>
                  <a:pt x="6610084" y="0"/>
                </a:lnTo>
                <a:cubicBezTo>
                  <a:pt x="6660701" y="0"/>
                  <a:pt x="6701734" y="41033"/>
                  <a:pt x="6701734" y="91650"/>
                </a:cubicBezTo>
                <a:lnTo>
                  <a:pt x="6701734" y="504060"/>
                </a:lnTo>
                <a:cubicBezTo>
                  <a:pt x="6701734" y="554677"/>
                  <a:pt x="6660701" y="595710"/>
                  <a:pt x="6610084" y="595710"/>
                </a:cubicBezTo>
                <a:lnTo>
                  <a:pt x="91650" y="595710"/>
                </a:lnTo>
                <a:cubicBezTo>
                  <a:pt x="41033" y="595710"/>
                  <a:pt x="0" y="554677"/>
                  <a:pt x="0" y="504060"/>
                </a:cubicBezTo>
                <a:lnTo>
                  <a:pt x="0" y="91650"/>
                </a:lnTo>
                <a:cubicBezTo>
                  <a:pt x="0" y="41067"/>
                  <a:pt x="41067" y="0"/>
                  <a:pt x="91650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973756" y="6183352"/>
            <a:ext cx="6598630" cy="229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层次聚类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73756" y="6412471"/>
            <a:ext cx="6587174" cy="18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2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构建聚类树，无需预设K值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82109" y="6779061"/>
            <a:ext cx="6701734" cy="595710"/>
          </a:xfrm>
          <a:custGeom>
            <a:avLst/>
            <a:gdLst/>
            <a:ahLst/>
            <a:cxnLst/>
            <a:rect l="l" t="t" r="r" b="b"/>
            <a:pathLst>
              <a:path w="6701734" h="595710">
                <a:moveTo>
                  <a:pt x="91650" y="0"/>
                </a:moveTo>
                <a:lnTo>
                  <a:pt x="6610084" y="0"/>
                </a:lnTo>
                <a:cubicBezTo>
                  <a:pt x="6660701" y="0"/>
                  <a:pt x="6701734" y="41033"/>
                  <a:pt x="6701734" y="91650"/>
                </a:cubicBezTo>
                <a:lnTo>
                  <a:pt x="6701734" y="504060"/>
                </a:lnTo>
                <a:cubicBezTo>
                  <a:pt x="6701734" y="554677"/>
                  <a:pt x="6660701" y="595710"/>
                  <a:pt x="6610084" y="595710"/>
                </a:cubicBezTo>
                <a:lnTo>
                  <a:pt x="91650" y="595710"/>
                </a:lnTo>
                <a:cubicBezTo>
                  <a:pt x="41033" y="595710"/>
                  <a:pt x="0" y="554677"/>
                  <a:pt x="0" y="504060"/>
                </a:cubicBezTo>
                <a:lnTo>
                  <a:pt x="0" y="91650"/>
                </a:lnTo>
                <a:cubicBezTo>
                  <a:pt x="0" y="41067"/>
                  <a:pt x="41067" y="0"/>
                  <a:pt x="91650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973756" y="6870709"/>
            <a:ext cx="6598630" cy="229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3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DBSCAN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73756" y="7099828"/>
            <a:ext cx="6587174" cy="18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2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基于密度的聚类，发现任意形状簇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46319" y="1999064"/>
            <a:ext cx="7538018" cy="4593838"/>
          </a:xfrm>
          <a:custGeom>
            <a:avLst/>
            <a:gdLst/>
            <a:ahLst/>
            <a:cxnLst/>
            <a:rect l="l" t="t" r="r" b="b"/>
            <a:pathLst>
              <a:path w="7538018" h="4593838">
                <a:moveTo>
                  <a:pt x="137494" y="0"/>
                </a:moveTo>
                <a:lnTo>
                  <a:pt x="7400525" y="0"/>
                </a:lnTo>
                <a:cubicBezTo>
                  <a:pt x="7476460" y="0"/>
                  <a:pt x="7538018" y="61558"/>
                  <a:pt x="7538018" y="137494"/>
                </a:cubicBezTo>
                <a:lnTo>
                  <a:pt x="7538018" y="4456344"/>
                </a:lnTo>
                <a:cubicBezTo>
                  <a:pt x="7538018" y="4532280"/>
                  <a:pt x="7476460" y="4593838"/>
                  <a:pt x="7400525" y="4593838"/>
                </a:cubicBezTo>
                <a:lnTo>
                  <a:pt x="137494" y="4593838"/>
                </a:lnTo>
                <a:cubicBezTo>
                  <a:pt x="61558" y="4593838"/>
                  <a:pt x="0" y="4532280"/>
                  <a:pt x="0" y="4456344"/>
                </a:cubicBezTo>
                <a:lnTo>
                  <a:pt x="0" y="137494"/>
                </a:lnTo>
                <a:cubicBezTo>
                  <a:pt x="0" y="61609"/>
                  <a:pt x="61609" y="0"/>
                  <a:pt x="137494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6ED3CF">
                  <a:alpha val="5000"/>
                </a:srgbClr>
              </a:gs>
            </a:gsLst>
            <a:lin ang="2700000" scaled="1"/>
          </a:gradFill>
          <a:ln w="12700">
            <a:solidFill>
              <a:srgbClr val="6ED3C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526989" y="2302647"/>
            <a:ext cx="549886" cy="549886"/>
          </a:xfrm>
          <a:custGeom>
            <a:avLst/>
            <a:gdLst/>
            <a:ahLst/>
            <a:cxnLst/>
            <a:rect l="l" t="t" r="r" b="b"/>
            <a:pathLst>
              <a:path w="549886" h="549886">
                <a:moveTo>
                  <a:pt x="91649" y="0"/>
                </a:moveTo>
                <a:lnTo>
                  <a:pt x="458236" y="0"/>
                </a:lnTo>
                <a:cubicBezTo>
                  <a:pt x="508853" y="0"/>
                  <a:pt x="549886" y="41033"/>
                  <a:pt x="549886" y="91649"/>
                </a:cubicBezTo>
                <a:lnTo>
                  <a:pt x="549886" y="458236"/>
                </a:lnTo>
                <a:cubicBezTo>
                  <a:pt x="549886" y="508853"/>
                  <a:pt x="508853" y="549886"/>
                  <a:pt x="458236" y="549886"/>
                </a:cubicBezTo>
                <a:lnTo>
                  <a:pt x="91649" y="549886"/>
                </a:lnTo>
                <a:cubicBezTo>
                  <a:pt x="41033" y="549886"/>
                  <a:pt x="0" y="508853"/>
                  <a:pt x="0" y="458236"/>
                </a:cubicBezTo>
                <a:lnTo>
                  <a:pt x="0" y="91649"/>
                </a:lnTo>
                <a:cubicBezTo>
                  <a:pt x="0" y="41067"/>
                  <a:pt x="41067" y="0"/>
                  <a:pt x="91649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673053" y="2463030"/>
            <a:ext cx="257759" cy="229119"/>
          </a:xfrm>
          <a:custGeom>
            <a:avLst/>
            <a:gdLst/>
            <a:ahLst/>
            <a:cxnLst/>
            <a:rect l="l" t="t" r="r" b="b"/>
            <a:pathLst>
              <a:path w="257759" h="229119">
                <a:moveTo>
                  <a:pt x="229298" y="107400"/>
                </a:moveTo>
                <a:lnTo>
                  <a:pt x="150538" y="107400"/>
                </a:lnTo>
                <a:cubicBezTo>
                  <a:pt x="142618" y="107400"/>
                  <a:pt x="136218" y="101000"/>
                  <a:pt x="136218" y="93080"/>
                </a:cubicBezTo>
                <a:lnTo>
                  <a:pt x="136218" y="14320"/>
                </a:lnTo>
                <a:cubicBezTo>
                  <a:pt x="136218" y="6399"/>
                  <a:pt x="142662" y="-89"/>
                  <a:pt x="150494" y="940"/>
                </a:cubicBezTo>
                <a:cubicBezTo>
                  <a:pt x="198376" y="7294"/>
                  <a:pt x="236324" y="45242"/>
                  <a:pt x="242678" y="93124"/>
                </a:cubicBezTo>
                <a:cubicBezTo>
                  <a:pt x="243708" y="100956"/>
                  <a:pt x="237219" y="107400"/>
                  <a:pt x="229298" y="107400"/>
                </a:cubicBezTo>
                <a:close/>
                <a:moveTo>
                  <a:pt x="99613" y="16647"/>
                </a:moveTo>
                <a:cubicBezTo>
                  <a:pt x="107713" y="14946"/>
                  <a:pt x="114739" y="21569"/>
                  <a:pt x="114739" y="29848"/>
                </a:cubicBezTo>
                <a:lnTo>
                  <a:pt x="114739" y="118140"/>
                </a:lnTo>
                <a:cubicBezTo>
                  <a:pt x="114739" y="120646"/>
                  <a:pt x="115634" y="123062"/>
                  <a:pt x="117200" y="124986"/>
                </a:cubicBezTo>
                <a:lnTo>
                  <a:pt x="176314" y="196317"/>
                </a:lnTo>
                <a:cubicBezTo>
                  <a:pt x="181550" y="202627"/>
                  <a:pt x="180431" y="212159"/>
                  <a:pt x="173227" y="216052"/>
                </a:cubicBezTo>
                <a:cubicBezTo>
                  <a:pt x="157967" y="224376"/>
                  <a:pt x="140470" y="229119"/>
                  <a:pt x="121899" y="229119"/>
                </a:cubicBezTo>
                <a:cubicBezTo>
                  <a:pt x="62605" y="229119"/>
                  <a:pt x="14499" y="181013"/>
                  <a:pt x="14499" y="121720"/>
                </a:cubicBezTo>
                <a:cubicBezTo>
                  <a:pt x="14499" y="70033"/>
                  <a:pt x="50970" y="26895"/>
                  <a:pt x="99613" y="16647"/>
                </a:cubicBezTo>
                <a:close/>
                <a:moveTo>
                  <a:pt x="213815" y="128879"/>
                </a:moveTo>
                <a:lnTo>
                  <a:pt x="242455" y="128879"/>
                </a:lnTo>
                <a:cubicBezTo>
                  <a:pt x="250733" y="128879"/>
                  <a:pt x="257356" y="135905"/>
                  <a:pt x="255656" y="144005"/>
                </a:cubicBezTo>
                <a:cubicBezTo>
                  <a:pt x="251091" y="165664"/>
                  <a:pt x="239993" y="184906"/>
                  <a:pt x="224510" y="199584"/>
                </a:cubicBezTo>
                <a:cubicBezTo>
                  <a:pt x="219006" y="204820"/>
                  <a:pt x="210369" y="203701"/>
                  <a:pt x="205536" y="197839"/>
                </a:cubicBezTo>
                <a:lnTo>
                  <a:pt x="167767" y="152328"/>
                </a:lnTo>
                <a:cubicBezTo>
                  <a:pt x="160025" y="142976"/>
                  <a:pt x="166693" y="128879"/>
                  <a:pt x="178776" y="128879"/>
                </a:cubicBezTo>
                <a:lnTo>
                  <a:pt x="213770" y="128879"/>
                </a:ln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9214347" y="2279735"/>
            <a:ext cx="1237243" cy="366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65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概率模型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214347" y="2646326"/>
            <a:ext cx="1179963" cy="229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Ch-06 EM算法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26989" y="3058740"/>
            <a:ext cx="7068324" cy="2978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4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使用概率分布对数据进行建模，发现数据的统计规律。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549901" y="3539890"/>
            <a:ext cx="6953765" cy="1638202"/>
          </a:xfrm>
          <a:custGeom>
            <a:avLst/>
            <a:gdLst/>
            <a:ahLst/>
            <a:cxnLst/>
            <a:rect l="l" t="t" r="r" b="b"/>
            <a:pathLst>
              <a:path w="6953765" h="1638202">
                <a:moveTo>
                  <a:pt x="45824" y="0"/>
                </a:moveTo>
                <a:lnTo>
                  <a:pt x="6862124" y="0"/>
                </a:lnTo>
                <a:cubicBezTo>
                  <a:pt x="6912736" y="0"/>
                  <a:pt x="6953765" y="41029"/>
                  <a:pt x="6953765" y="91641"/>
                </a:cubicBezTo>
                <a:lnTo>
                  <a:pt x="6953765" y="1546561"/>
                </a:lnTo>
                <a:cubicBezTo>
                  <a:pt x="6953765" y="1597172"/>
                  <a:pt x="6912736" y="1638202"/>
                  <a:pt x="6862124" y="1638202"/>
                </a:cubicBezTo>
                <a:lnTo>
                  <a:pt x="45824" y="1638202"/>
                </a:lnTo>
                <a:cubicBezTo>
                  <a:pt x="20516" y="1638202"/>
                  <a:pt x="0" y="1617686"/>
                  <a:pt x="0" y="1592378"/>
                </a:cubicBezTo>
                <a:lnTo>
                  <a:pt x="0" y="45824"/>
                </a:lnTo>
                <a:cubicBezTo>
                  <a:pt x="0" y="20533"/>
                  <a:pt x="20533" y="0"/>
                  <a:pt x="4582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549901" y="3539890"/>
            <a:ext cx="45824" cy="1638202"/>
          </a:xfrm>
          <a:custGeom>
            <a:avLst/>
            <a:gdLst/>
            <a:ahLst/>
            <a:cxnLst/>
            <a:rect l="l" t="t" r="r" b="b"/>
            <a:pathLst>
              <a:path w="45824" h="1638202">
                <a:moveTo>
                  <a:pt x="45824" y="0"/>
                </a:moveTo>
                <a:lnTo>
                  <a:pt x="45824" y="0"/>
                </a:lnTo>
                <a:lnTo>
                  <a:pt x="45824" y="1638202"/>
                </a:lnTo>
                <a:lnTo>
                  <a:pt x="45824" y="1638202"/>
                </a:lnTo>
                <a:cubicBezTo>
                  <a:pt x="20516" y="1638202"/>
                  <a:pt x="0" y="1617686"/>
                  <a:pt x="0" y="1592378"/>
                </a:cubicBezTo>
                <a:lnTo>
                  <a:pt x="0" y="45824"/>
                </a:lnTo>
                <a:cubicBezTo>
                  <a:pt x="0" y="20533"/>
                  <a:pt x="20533" y="0"/>
                  <a:pt x="45824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756109" y="3723185"/>
            <a:ext cx="6667366" cy="320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24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EM</a:t>
            </a:r>
            <a:r>
              <a:rPr lang="en-US" sz="1624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算法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756109" y="4135600"/>
            <a:ext cx="6644454" cy="263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期望最大化算法，用于含有隐变量的概率模型参数估计。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756109" y="4487870"/>
            <a:ext cx="6644454" cy="229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</a:t>
            </a:r>
            <a:r>
              <a:rPr lang="en-US" sz="1263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</a:t>
            </a:r>
            <a:r>
              <a:rPr lang="en-US" sz="126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步：计算期望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756109" y="4762813"/>
            <a:ext cx="6644454" cy="229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M步：最大化似然函数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549901" y="5312699"/>
            <a:ext cx="6953765" cy="996668"/>
          </a:xfrm>
          <a:custGeom>
            <a:avLst/>
            <a:gdLst/>
            <a:ahLst/>
            <a:cxnLst/>
            <a:rect l="l" t="t" r="r" b="b"/>
            <a:pathLst>
              <a:path w="6953765" h="996668">
                <a:moveTo>
                  <a:pt x="45824" y="0"/>
                </a:moveTo>
                <a:lnTo>
                  <a:pt x="6862121" y="0"/>
                </a:lnTo>
                <a:cubicBezTo>
                  <a:pt x="6912734" y="0"/>
                  <a:pt x="6953765" y="41030"/>
                  <a:pt x="6953765" y="91644"/>
                </a:cubicBezTo>
                <a:lnTo>
                  <a:pt x="6953765" y="905024"/>
                </a:lnTo>
                <a:cubicBezTo>
                  <a:pt x="6953765" y="955638"/>
                  <a:pt x="6912734" y="996668"/>
                  <a:pt x="6862121" y="996668"/>
                </a:cubicBezTo>
                <a:lnTo>
                  <a:pt x="45824" y="996668"/>
                </a:lnTo>
                <a:cubicBezTo>
                  <a:pt x="20516" y="996668"/>
                  <a:pt x="0" y="976152"/>
                  <a:pt x="0" y="950844"/>
                </a:cubicBezTo>
                <a:lnTo>
                  <a:pt x="0" y="45824"/>
                </a:lnTo>
                <a:cubicBezTo>
                  <a:pt x="0" y="20533"/>
                  <a:pt x="20533" y="0"/>
                  <a:pt x="45824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8549901" y="5312699"/>
            <a:ext cx="45824" cy="996668"/>
          </a:xfrm>
          <a:custGeom>
            <a:avLst/>
            <a:gdLst/>
            <a:ahLst/>
            <a:cxnLst/>
            <a:rect l="l" t="t" r="r" b="b"/>
            <a:pathLst>
              <a:path w="45824" h="996668">
                <a:moveTo>
                  <a:pt x="45824" y="0"/>
                </a:moveTo>
                <a:lnTo>
                  <a:pt x="45824" y="0"/>
                </a:lnTo>
                <a:lnTo>
                  <a:pt x="45824" y="996668"/>
                </a:lnTo>
                <a:lnTo>
                  <a:pt x="45824" y="996668"/>
                </a:lnTo>
                <a:cubicBezTo>
                  <a:pt x="20516" y="996668"/>
                  <a:pt x="0" y="976152"/>
                  <a:pt x="0" y="950844"/>
                </a:cubicBezTo>
                <a:lnTo>
                  <a:pt x="0" y="45824"/>
                </a:lnTo>
                <a:cubicBezTo>
                  <a:pt x="0" y="20533"/>
                  <a:pt x="20533" y="0"/>
                  <a:pt x="45824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756109" y="5495994"/>
            <a:ext cx="6655910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3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GMM</a:t>
            </a:r>
            <a:r>
              <a:rPr lang="en-US" sz="144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高斯混合模型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756109" y="5862585"/>
            <a:ext cx="6644454" cy="263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假设数据由多个高斯分布混合而成，使用</a:t>
            </a:r>
            <a:r>
              <a:rPr lang="en-US" sz="1263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EM</a:t>
            </a:r>
            <a:r>
              <a:rPr lang="en-US" sz="126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算法估计参数。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46319" y="6781925"/>
            <a:ext cx="7538018" cy="2247775"/>
          </a:xfrm>
          <a:custGeom>
            <a:avLst/>
            <a:gdLst/>
            <a:ahLst/>
            <a:cxnLst/>
            <a:rect l="l" t="t" r="r" b="b"/>
            <a:pathLst>
              <a:path w="7538018" h="2348471">
                <a:moveTo>
                  <a:pt x="137479" y="0"/>
                </a:moveTo>
                <a:lnTo>
                  <a:pt x="7400539" y="0"/>
                </a:lnTo>
                <a:cubicBezTo>
                  <a:pt x="7476467" y="0"/>
                  <a:pt x="7538018" y="61552"/>
                  <a:pt x="7538018" y="137479"/>
                </a:cubicBezTo>
                <a:lnTo>
                  <a:pt x="7538018" y="2210991"/>
                </a:lnTo>
                <a:cubicBezTo>
                  <a:pt x="7538018" y="2286919"/>
                  <a:pt x="7476467" y="2348471"/>
                  <a:pt x="7400539" y="2348471"/>
                </a:cubicBezTo>
                <a:lnTo>
                  <a:pt x="137479" y="2348471"/>
                </a:lnTo>
                <a:cubicBezTo>
                  <a:pt x="61552" y="2348471"/>
                  <a:pt x="0" y="2286919"/>
                  <a:pt x="0" y="2210991"/>
                </a:cubicBezTo>
                <a:lnTo>
                  <a:pt x="0" y="137479"/>
                </a:lnTo>
                <a:cubicBezTo>
                  <a:pt x="0" y="61552"/>
                  <a:pt x="61552" y="0"/>
                  <a:pt x="137479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8535581" y="7074052"/>
            <a:ext cx="154655" cy="206207"/>
          </a:xfrm>
          <a:custGeom>
            <a:avLst/>
            <a:gdLst/>
            <a:ahLst/>
            <a:cxnLst/>
            <a:rect l="l" t="t" r="r" b="b"/>
            <a:pathLst>
              <a:path w="154655" h="206207">
                <a:moveTo>
                  <a:pt x="117965" y="154655"/>
                </a:moveTo>
                <a:cubicBezTo>
                  <a:pt x="120905" y="145674"/>
                  <a:pt x="126785" y="137539"/>
                  <a:pt x="133431" y="130531"/>
                </a:cubicBezTo>
                <a:cubicBezTo>
                  <a:pt x="146600" y="116676"/>
                  <a:pt x="154655" y="97948"/>
                  <a:pt x="154655" y="77328"/>
                </a:cubicBezTo>
                <a:cubicBezTo>
                  <a:pt x="154655" y="34636"/>
                  <a:pt x="120019" y="0"/>
                  <a:pt x="77328" y="0"/>
                </a:cubicBezTo>
                <a:cubicBezTo>
                  <a:pt x="34636" y="0"/>
                  <a:pt x="0" y="34636"/>
                  <a:pt x="0" y="77328"/>
                </a:cubicBezTo>
                <a:cubicBezTo>
                  <a:pt x="0" y="97948"/>
                  <a:pt x="8055" y="116676"/>
                  <a:pt x="21225" y="130531"/>
                </a:cubicBezTo>
                <a:cubicBezTo>
                  <a:pt x="27870" y="137539"/>
                  <a:pt x="33791" y="145674"/>
                  <a:pt x="36690" y="154655"/>
                </a:cubicBezTo>
                <a:lnTo>
                  <a:pt x="117925" y="154655"/>
                </a:lnTo>
                <a:close/>
                <a:moveTo>
                  <a:pt x="115992" y="173987"/>
                </a:moveTo>
                <a:lnTo>
                  <a:pt x="38664" y="173987"/>
                </a:lnTo>
                <a:lnTo>
                  <a:pt x="38664" y="180431"/>
                </a:lnTo>
                <a:cubicBezTo>
                  <a:pt x="38664" y="198233"/>
                  <a:pt x="53082" y="212651"/>
                  <a:pt x="70884" y="212651"/>
                </a:cubicBezTo>
                <a:lnTo>
                  <a:pt x="83772" y="212651"/>
                </a:lnTo>
                <a:cubicBezTo>
                  <a:pt x="101573" y="212651"/>
                  <a:pt x="115992" y="198233"/>
                  <a:pt x="115992" y="180431"/>
                </a:cubicBezTo>
                <a:lnTo>
                  <a:pt x="115992" y="173987"/>
                </a:lnTo>
                <a:close/>
                <a:moveTo>
                  <a:pt x="74106" y="45108"/>
                </a:moveTo>
                <a:cubicBezTo>
                  <a:pt x="58076" y="45108"/>
                  <a:pt x="45108" y="58076"/>
                  <a:pt x="45108" y="74106"/>
                </a:cubicBezTo>
                <a:cubicBezTo>
                  <a:pt x="45108" y="79462"/>
                  <a:pt x="40798" y="83772"/>
                  <a:pt x="35442" y="83772"/>
                </a:cubicBezTo>
                <a:cubicBezTo>
                  <a:pt x="30085" y="83772"/>
                  <a:pt x="25776" y="79462"/>
                  <a:pt x="25776" y="74106"/>
                </a:cubicBezTo>
                <a:cubicBezTo>
                  <a:pt x="25776" y="47403"/>
                  <a:pt x="47403" y="25776"/>
                  <a:pt x="74106" y="25776"/>
                </a:cubicBezTo>
                <a:cubicBezTo>
                  <a:pt x="79462" y="25776"/>
                  <a:pt x="83772" y="30085"/>
                  <a:pt x="83772" y="35442"/>
                </a:cubicBezTo>
                <a:cubicBezTo>
                  <a:pt x="83772" y="40798"/>
                  <a:pt x="79462" y="45108"/>
                  <a:pt x="74106" y="45108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744653" y="7016772"/>
            <a:ext cx="6907941" cy="320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24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无监督学习应用场景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484030" y="7520834"/>
            <a:ext cx="200479" cy="160383"/>
          </a:xfrm>
          <a:custGeom>
            <a:avLst/>
            <a:gdLst/>
            <a:ahLst/>
            <a:cxnLst/>
            <a:rect l="l" t="t" r="r" b="b"/>
            <a:pathLst>
              <a:path w="200479" h="160383">
                <a:moveTo>
                  <a:pt x="100240" y="5012"/>
                </a:moveTo>
                <a:cubicBezTo>
                  <a:pt x="118220" y="5012"/>
                  <a:pt x="132817" y="19610"/>
                  <a:pt x="132817" y="37590"/>
                </a:cubicBezTo>
                <a:cubicBezTo>
                  <a:pt x="132817" y="55570"/>
                  <a:pt x="118220" y="70168"/>
                  <a:pt x="100240" y="70168"/>
                </a:cubicBezTo>
                <a:cubicBezTo>
                  <a:pt x="82259" y="70168"/>
                  <a:pt x="67662" y="55570"/>
                  <a:pt x="67662" y="37590"/>
                </a:cubicBezTo>
                <a:cubicBezTo>
                  <a:pt x="67662" y="19610"/>
                  <a:pt x="82259" y="5012"/>
                  <a:pt x="100240" y="5012"/>
                </a:cubicBezTo>
                <a:close/>
                <a:moveTo>
                  <a:pt x="30072" y="27566"/>
                </a:moveTo>
                <a:cubicBezTo>
                  <a:pt x="42520" y="27566"/>
                  <a:pt x="52626" y="37672"/>
                  <a:pt x="52626" y="50120"/>
                </a:cubicBezTo>
                <a:cubicBezTo>
                  <a:pt x="52626" y="62568"/>
                  <a:pt x="42520" y="72674"/>
                  <a:pt x="30072" y="72674"/>
                </a:cubicBezTo>
                <a:cubicBezTo>
                  <a:pt x="17624" y="72674"/>
                  <a:pt x="7518" y="62568"/>
                  <a:pt x="7518" y="50120"/>
                </a:cubicBezTo>
                <a:cubicBezTo>
                  <a:pt x="7518" y="37672"/>
                  <a:pt x="17624" y="27566"/>
                  <a:pt x="30072" y="27566"/>
                </a:cubicBezTo>
                <a:close/>
                <a:moveTo>
                  <a:pt x="0" y="130311"/>
                </a:moveTo>
                <a:cubicBezTo>
                  <a:pt x="0" y="108165"/>
                  <a:pt x="17949" y="90216"/>
                  <a:pt x="40096" y="90216"/>
                </a:cubicBezTo>
                <a:cubicBezTo>
                  <a:pt x="44105" y="90216"/>
                  <a:pt x="47990" y="90811"/>
                  <a:pt x="51655" y="91907"/>
                </a:cubicBezTo>
                <a:cubicBezTo>
                  <a:pt x="41349" y="103435"/>
                  <a:pt x="35084" y="118659"/>
                  <a:pt x="35084" y="135323"/>
                </a:cubicBezTo>
                <a:lnTo>
                  <a:pt x="35084" y="140335"/>
                </a:lnTo>
                <a:cubicBezTo>
                  <a:pt x="35084" y="143906"/>
                  <a:pt x="35836" y="147290"/>
                  <a:pt x="37183" y="150359"/>
                </a:cubicBezTo>
                <a:lnTo>
                  <a:pt x="10024" y="150359"/>
                </a:lnTo>
                <a:cubicBezTo>
                  <a:pt x="4479" y="150359"/>
                  <a:pt x="0" y="145880"/>
                  <a:pt x="0" y="140335"/>
                </a:cubicBezTo>
                <a:lnTo>
                  <a:pt x="0" y="130311"/>
                </a:lnTo>
                <a:close/>
                <a:moveTo>
                  <a:pt x="163297" y="150359"/>
                </a:moveTo>
                <a:cubicBezTo>
                  <a:pt x="164644" y="147290"/>
                  <a:pt x="165395" y="143906"/>
                  <a:pt x="165395" y="140335"/>
                </a:cubicBezTo>
                <a:lnTo>
                  <a:pt x="165395" y="135323"/>
                </a:lnTo>
                <a:cubicBezTo>
                  <a:pt x="165395" y="118659"/>
                  <a:pt x="159130" y="103435"/>
                  <a:pt x="148824" y="91907"/>
                </a:cubicBezTo>
                <a:cubicBezTo>
                  <a:pt x="152489" y="90811"/>
                  <a:pt x="156374" y="90216"/>
                  <a:pt x="160383" y="90216"/>
                </a:cubicBezTo>
                <a:cubicBezTo>
                  <a:pt x="182530" y="90216"/>
                  <a:pt x="200479" y="108165"/>
                  <a:pt x="200479" y="130311"/>
                </a:cubicBezTo>
                <a:lnTo>
                  <a:pt x="200479" y="140335"/>
                </a:lnTo>
                <a:cubicBezTo>
                  <a:pt x="200479" y="145880"/>
                  <a:pt x="196000" y="150359"/>
                  <a:pt x="190455" y="150359"/>
                </a:cubicBezTo>
                <a:lnTo>
                  <a:pt x="163297" y="150359"/>
                </a:lnTo>
                <a:close/>
                <a:moveTo>
                  <a:pt x="147853" y="50120"/>
                </a:moveTo>
                <a:cubicBezTo>
                  <a:pt x="147853" y="37672"/>
                  <a:pt x="157959" y="27566"/>
                  <a:pt x="170407" y="27566"/>
                </a:cubicBezTo>
                <a:cubicBezTo>
                  <a:pt x="182855" y="27566"/>
                  <a:pt x="192961" y="37672"/>
                  <a:pt x="192961" y="50120"/>
                </a:cubicBezTo>
                <a:cubicBezTo>
                  <a:pt x="192961" y="62568"/>
                  <a:pt x="182855" y="72674"/>
                  <a:pt x="170407" y="72674"/>
                </a:cubicBezTo>
                <a:cubicBezTo>
                  <a:pt x="157959" y="72674"/>
                  <a:pt x="147853" y="62568"/>
                  <a:pt x="147853" y="50120"/>
                </a:cubicBezTo>
                <a:close/>
                <a:moveTo>
                  <a:pt x="50120" y="135323"/>
                </a:moveTo>
                <a:cubicBezTo>
                  <a:pt x="50120" y="107632"/>
                  <a:pt x="72548" y="85204"/>
                  <a:pt x="100240" y="85204"/>
                </a:cubicBezTo>
                <a:cubicBezTo>
                  <a:pt x="127931" y="85204"/>
                  <a:pt x="150359" y="107632"/>
                  <a:pt x="150359" y="135323"/>
                </a:cubicBezTo>
                <a:lnTo>
                  <a:pt x="150359" y="140335"/>
                </a:lnTo>
                <a:cubicBezTo>
                  <a:pt x="150359" y="145880"/>
                  <a:pt x="145880" y="150359"/>
                  <a:pt x="140335" y="150359"/>
                </a:cubicBezTo>
                <a:lnTo>
                  <a:pt x="60144" y="150359"/>
                </a:lnTo>
                <a:cubicBezTo>
                  <a:pt x="54599" y="150359"/>
                  <a:pt x="50120" y="145880"/>
                  <a:pt x="50120" y="140335"/>
                </a:cubicBezTo>
                <a:lnTo>
                  <a:pt x="50120" y="135323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8773292" y="7475011"/>
            <a:ext cx="1729849" cy="229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用户画像与分群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773292" y="7704130"/>
            <a:ext cx="1718393" cy="18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2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基于行为特征进行用户细分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504078" y="8024896"/>
            <a:ext cx="160383" cy="160383"/>
          </a:xfrm>
          <a:custGeom>
            <a:avLst/>
            <a:gdLst/>
            <a:ahLst/>
            <a:cxnLst/>
            <a:rect l="l" t="t" r="r" b="b"/>
            <a:pathLst>
              <a:path w="160383" h="160383">
                <a:moveTo>
                  <a:pt x="80192" y="0"/>
                </a:moveTo>
                <a:cubicBezTo>
                  <a:pt x="84796" y="0"/>
                  <a:pt x="89025" y="2537"/>
                  <a:pt x="91218" y="6578"/>
                </a:cubicBezTo>
                <a:lnTo>
                  <a:pt x="158880" y="131878"/>
                </a:lnTo>
                <a:cubicBezTo>
                  <a:pt x="160979" y="135762"/>
                  <a:pt x="160885" y="140461"/>
                  <a:pt x="158629" y="144251"/>
                </a:cubicBezTo>
                <a:cubicBezTo>
                  <a:pt x="156374" y="148041"/>
                  <a:pt x="152270" y="150359"/>
                  <a:pt x="147853" y="150359"/>
                </a:cubicBezTo>
                <a:lnTo>
                  <a:pt x="12530" y="150359"/>
                </a:lnTo>
                <a:cubicBezTo>
                  <a:pt x="8113" y="150359"/>
                  <a:pt x="4041" y="148041"/>
                  <a:pt x="1754" y="144251"/>
                </a:cubicBezTo>
                <a:cubicBezTo>
                  <a:pt x="-533" y="140461"/>
                  <a:pt x="-595" y="135762"/>
                  <a:pt x="1504" y="131878"/>
                </a:cubicBezTo>
                <a:lnTo>
                  <a:pt x="69165" y="6578"/>
                </a:lnTo>
                <a:cubicBezTo>
                  <a:pt x="71358" y="2537"/>
                  <a:pt x="75587" y="0"/>
                  <a:pt x="80192" y="0"/>
                </a:cubicBezTo>
                <a:close/>
                <a:moveTo>
                  <a:pt x="80192" y="52626"/>
                </a:moveTo>
                <a:cubicBezTo>
                  <a:pt x="76025" y="52626"/>
                  <a:pt x="72674" y="55978"/>
                  <a:pt x="72674" y="60144"/>
                </a:cubicBezTo>
                <a:lnTo>
                  <a:pt x="72674" y="95228"/>
                </a:lnTo>
                <a:cubicBezTo>
                  <a:pt x="72674" y="99394"/>
                  <a:pt x="76025" y="102746"/>
                  <a:pt x="80192" y="102746"/>
                </a:cubicBezTo>
                <a:cubicBezTo>
                  <a:pt x="84358" y="102746"/>
                  <a:pt x="87710" y="99394"/>
                  <a:pt x="87710" y="95228"/>
                </a:cubicBezTo>
                <a:lnTo>
                  <a:pt x="87710" y="60144"/>
                </a:lnTo>
                <a:cubicBezTo>
                  <a:pt x="87710" y="55978"/>
                  <a:pt x="84358" y="52626"/>
                  <a:pt x="80192" y="52626"/>
                </a:cubicBezTo>
                <a:close/>
                <a:moveTo>
                  <a:pt x="88555" y="120288"/>
                </a:moveTo>
                <a:cubicBezTo>
                  <a:pt x="88746" y="117183"/>
                  <a:pt x="87197" y="114229"/>
                  <a:pt x="84536" y="112620"/>
                </a:cubicBezTo>
                <a:cubicBezTo>
                  <a:pt x="81875" y="111010"/>
                  <a:pt x="78540" y="111010"/>
                  <a:pt x="75879" y="112620"/>
                </a:cubicBezTo>
                <a:cubicBezTo>
                  <a:pt x="73217" y="114229"/>
                  <a:pt x="71669" y="117183"/>
                  <a:pt x="71859" y="120288"/>
                </a:cubicBezTo>
                <a:cubicBezTo>
                  <a:pt x="71669" y="123392"/>
                  <a:pt x="73217" y="126346"/>
                  <a:pt x="75879" y="127956"/>
                </a:cubicBezTo>
                <a:cubicBezTo>
                  <a:pt x="78540" y="129565"/>
                  <a:pt x="81875" y="129565"/>
                  <a:pt x="84536" y="127956"/>
                </a:cubicBezTo>
                <a:cubicBezTo>
                  <a:pt x="87197" y="126346"/>
                  <a:pt x="88746" y="123392"/>
                  <a:pt x="88555" y="120288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8773292" y="7979073"/>
            <a:ext cx="1592378" cy="229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异常检测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773292" y="8208192"/>
            <a:ext cx="1580922" cy="18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2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发现金融欺诈、网络入侵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514101" y="8528958"/>
            <a:ext cx="140335" cy="160383"/>
          </a:xfrm>
          <a:custGeom>
            <a:avLst/>
            <a:gdLst/>
            <a:ahLst/>
            <a:cxnLst/>
            <a:rect l="l" t="t" r="r" b="b"/>
            <a:pathLst>
              <a:path w="140335" h="160383">
                <a:moveTo>
                  <a:pt x="50120" y="20048"/>
                </a:moveTo>
                <a:cubicBezTo>
                  <a:pt x="50120" y="14503"/>
                  <a:pt x="45640" y="10024"/>
                  <a:pt x="40096" y="10024"/>
                </a:cubicBezTo>
                <a:cubicBezTo>
                  <a:pt x="34551" y="10024"/>
                  <a:pt x="30072" y="14503"/>
                  <a:pt x="30072" y="20048"/>
                </a:cubicBezTo>
                <a:lnTo>
                  <a:pt x="30072" y="40096"/>
                </a:lnTo>
                <a:lnTo>
                  <a:pt x="10024" y="40096"/>
                </a:lnTo>
                <a:cubicBezTo>
                  <a:pt x="4479" y="40096"/>
                  <a:pt x="0" y="44575"/>
                  <a:pt x="0" y="50120"/>
                </a:cubicBezTo>
                <a:cubicBezTo>
                  <a:pt x="0" y="55664"/>
                  <a:pt x="4479" y="60144"/>
                  <a:pt x="10024" y="60144"/>
                </a:cubicBezTo>
                <a:lnTo>
                  <a:pt x="40096" y="60144"/>
                </a:lnTo>
                <a:cubicBezTo>
                  <a:pt x="45640" y="60144"/>
                  <a:pt x="50120" y="55664"/>
                  <a:pt x="50120" y="50120"/>
                </a:cubicBezTo>
                <a:lnTo>
                  <a:pt x="50120" y="20048"/>
                </a:lnTo>
                <a:close/>
                <a:moveTo>
                  <a:pt x="10024" y="100240"/>
                </a:moveTo>
                <a:cubicBezTo>
                  <a:pt x="4479" y="100240"/>
                  <a:pt x="0" y="104719"/>
                  <a:pt x="0" y="110264"/>
                </a:cubicBezTo>
                <a:cubicBezTo>
                  <a:pt x="0" y="115808"/>
                  <a:pt x="4479" y="120288"/>
                  <a:pt x="10024" y="120288"/>
                </a:cubicBezTo>
                <a:lnTo>
                  <a:pt x="30072" y="120288"/>
                </a:lnTo>
                <a:lnTo>
                  <a:pt x="30072" y="140335"/>
                </a:lnTo>
                <a:cubicBezTo>
                  <a:pt x="30072" y="145880"/>
                  <a:pt x="34551" y="150359"/>
                  <a:pt x="40096" y="150359"/>
                </a:cubicBezTo>
                <a:cubicBezTo>
                  <a:pt x="45640" y="150359"/>
                  <a:pt x="50120" y="145880"/>
                  <a:pt x="50120" y="140335"/>
                </a:cubicBezTo>
                <a:lnTo>
                  <a:pt x="50120" y="110264"/>
                </a:lnTo>
                <a:cubicBezTo>
                  <a:pt x="50120" y="104719"/>
                  <a:pt x="45640" y="100240"/>
                  <a:pt x="40096" y="100240"/>
                </a:cubicBezTo>
                <a:lnTo>
                  <a:pt x="10024" y="100240"/>
                </a:lnTo>
                <a:close/>
                <a:moveTo>
                  <a:pt x="110264" y="20048"/>
                </a:moveTo>
                <a:cubicBezTo>
                  <a:pt x="110264" y="14503"/>
                  <a:pt x="105784" y="10024"/>
                  <a:pt x="100240" y="10024"/>
                </a:cubicBezTo>
                <a:cubicBezTo>
                  <a:pt x="94695" y="10024"/>
                  <a:pt x="90216" y="14503"/>
                  <a:pt x="90216" y="20048"/>
                </a:cubicBezTo>
                <a:lnTo>
                  <a:pt x="90216" y="50120"/>
                </a:lnTo>
                <a:cubicBezTo>
                  <a:pt x="90216" y="55664"/>
                  <a:pt x="94695" y="60144"/>
                  <a:pt x="100240" y="60144"/>
                </a:cubicBezTo>
                <a:lnTo>
                  <a:pt x="130311" y="60144"/>
                </a:lnTo>
                <a:cubicBezTo>
                  <a:pt x="135856" y="60144"/>
                  <a:pt x="140335" y="55664"/>
                  <a:pt x="140335" y="50120"/>
                </a:cubicBezTo>
                <a:cubicBezTo>
                  <a:pt x="140335" y="44575"/>
                  <a:pt x="135856" y="40096"/>
                  <a:pt x="130311" y="40096"/>
                </a:cubicBezTo>
                <a:lnTo>
                  <a:pt x="110264" y="40096"/>
                </a:lnTo>
                <a:lnTo>
                  <a:pt x="110264" y="20048"/>
                </a:lnTo>
                <a:close/>
                <a:moveTo>
                  <a:pt x="100240" y="100240"/>
                </a:moveTo>
                <a:cubicBezTo>
                  <a:pt x="94695" y="100240"/>
                  <a:pt x="90216" y="104719"/>
                  <a:pt x="90216" y="110264"/>
                </a:cubicBezTo>
                <a:lnTo>
                  <a:pt x="90216" y="140335"/>
                </a:lnTo>
                <a:cubicBezTo>
                  <a:pt x="90216" y="145880"/>
                  <a:pt x="94695" y="150359"/>
                  <a:pt x="100240" y="150359"/>
                </a:cubicBezTo>
                <a:cubicBezTo>
                  <a:pt x="105784" y="150359"/>
                  <a:pt x="110264" y="145880"/>
                  <a:pt x="110264" y="140335"/>
                </a:cubicBezTo>
                <a:lnTo>
                  <a:pt x="110264" y="120288"/>
                </a:lnTo>
                <a:lnTo>
                  <a:pt x="130311" y="120288"/>
                </a:lnTo>
                <a:cubicBezTo>
                  <a:pt x="135856" y="120288"/>
                  <a:pt x="140335" y="115808"/>
                  <a:pt x="140335" y="110264"/>
                </a:cubicBezTo>
                <a:cubicBezTo>
                  <a:pt x="140335" y="104719"/>
                  <a:pt x="135856" y="100240"/>
                  <a:pt x="130311" y="100240"/>
                </a:cubicBezTo>
                <a:lnTo>
                  <a:pt x="100240" y="100240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8773292" y="8483135"/>
            <a:ext cx="1363259" cy="229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数据降维与可视化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773292" y="8712254"/>
            <a:ext cx="1351803" cy="18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82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高维数据探索性分析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428625"/>
            <a:ext cx="2402417" cy="349250"/>
          </a:xfrm>
          <a:custGeom>
            <a:avLst/>
            <a:gdLst/>
            <a:ahLst/>
            <a:cxnLst/>
            <a:rect l="l" t="t" r="r" b="b"/>
            <a:pathLst>
              <a:path w="2402417" h="349250">
                <a:moveTo>
                  <a:pt x="42333" y="0"/>
                </a:moveTo>
                <a:lnTo>
                  <a:pt x="2360084" y="0"/>
                </a:lnTo>
                <a:cubicBezTo>
                  <a:pt x="2383464" y="0"/>
                  <a:pt x="2402417" y="18953"/>
                  <a:pt x="2402417" y="42333"/>
                </a:cubicBezTo>
                <a:lnTo>
                  <a:pt x="2402417" y="306917"/>
                </a:lnTo>
                <a:cubicBezTo>
                  <a:pt x="2402417" y="330297"/>
                  <a:pt x="2383464" y="349250"/>
                  <a:pt x="2360084" y="349250"/>
                </a:cubicBezTo>
                <a:lnTo>
                  <a:pt x="42333" y="349250"/>
                </a:lnTo>
                <a:cubicBezTo>
                  <a:pt x="18953" y="349250"/>
                  <a:pt x="0" y="330297"/>
                  <a:pt x="0" y="30691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 w="12700">
            <a:solidFill>
              <a:srgbClr val="5F87A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60917" y="492125"/>
            <a:ext cx="2220681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kern="0" spc="67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PROBABILISTIC MODELS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333" y="867833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概率图模型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1375833"/>
            <a:ext cx="1549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用图结构表示变量间的概率依赖关系（对应章节：Ch-13）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8625" y="1846792"/>
            <a:ext cx="7588250" cy="6990291"/>
          </a:xfrm>
          <a:custGeom>
            <a:avLst/>
            <a:gdLst/>
            <a:ahLst/>
            <a:cxnLst/>
            <a:rect l="l" t="t" r="r" b="b"/>
            <a:pathLst>
              <a:path w="7588250" h="9207500">
                <a:moveTo>
                  <a:pt x="127027" y="0"/>
                </a:moveTo>
                <a:lnTo>
                  <a:pt x="7461223" y="0"/>
                </a:lnTo>
                <a:cubicBezTo>
                  <a:pt x="7531378" y="0"/>
                  <a:pt x="7588250" y="56872"/>
                  <a:pt x="7588250" y="127027"/>
                </a:cubicBezTo>
                <a:lnTo>
                  <a:pt x="7588250" y="9080473"/>
                </a:lnTo>
                <a:cubicBezTo>
                  <a:pt x="7588250" y="9150628"/>
                  <a:pt x="7531378" y="9207500"/>
                  <a:pt x="7461223" y="9207500"/>
                </a:cubicBezTo>
                <a:lnTo>
                  <a:pt x="127027" y="9207500"/>
                </a:lnTo>
                <a:cubicBezTo>
                  <a:pt x="56872" y="9207500"/>
                  <a:pt x="0" y="9150628"/>
                  <a:pt x="0" y="9080473"/>
                </a:cubicBezTo>
                <a:lnTo>
                  <a:pt x="0" y="127027"/>
                </a:lnTo>
                <a:cubicBezTo>
                  <a:pt x="0" y="56919"/>
                  <a:pt x="56919" y="0"/>
                  <a:pt x="127027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87917" y="210608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36083" y="2254250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26458" y="39688"/>
                </a:moveTo>
                <a:cubicBezTo>
                  <a:pt x="26458" y="32370"/>
                  <a:pt x="32370" y="26458"/>
                  <a:pt x="39688" y="26458"/>
                </a:cubicBezTo>
                <a:lnTo>
                  <a:pt x="105833" y="26458"/>
                </a:lnTo>
                <a:cubicBezTo>
                  <a:pt x="113151" y="26458"/>
                  <a:pt x="119063" y="32370"/>
                  <a:pt x="119063" y="39688"/>
                </a:cubicBezTo>
                <a:lnTo>
                  <a:pt x="119063" y="158750"/>
                </a:lnTo>
                <a:lnTo>
                  <a:pt x="158750" y="158750"/>
                </a:lnTo>
                <a:lnTo>
                  <a:pt x="158750" y="105833"/>
                </a:lnTo>
                <a:cubicBezTo>
                  <a:pt x="158750" y="98516"/>
                  <a:pt x="164662" y="92604"/>
                  <a:pt x="171979" y="92604"/>
                </a:cubicBezTo>
                <a:lnTo>
                  <a:pt x="198438" y="92604"/>
                </a:lnTo>
                <a:cubicBezTo>
                  <a:pt x="205755" y="92604"/>
                  <a:pt x="211667" y="98516"/>
                  <a:pt x="211667" y="105833"/>
                </a:cubicBezTo>
                <a:cubicBezTo>
                  <a:pt x="211667" y="113151"/>
                  <a:pt x="205755" y="119063"/>
                  <a:pt x="198438" y="119063"/>
                </a:cubicBezTo>
                <a:lnTo>
                  <a:pt x="185208" y="119063"/>
                </a:lnTo>
                <a:lnTo>
                  <a:pt x="185208" y="171979"/>
                </a:lnTo>
                <a:cubicBezTo>
                  <a:pt x="185208" y="179297"/>
                  <a:pt x="179297" y="185208"/>
                  <a:pt x="171979" y="185208"/>
                </a:cubicBezTo>
                <a:lnTo>
                  <a:pt x="105833" y="185208"/>
                </a:lnTo>
                <a:cubicBezTo>
                  <a:pt x="98516" y="185208"/>
                  <a:pt x="92604" y="179297"/>
                  <a:pt x="92604" y="171979"/>
                </a:cubicBezTo>
                <a:lnTo>
                  <a:pt x="92604" y="52917"/>
                </a:lnTo>
                <a:lnTo>
                  <a:pt x="52917" y="52917"/>
                </a:lnTo>
                <a:lnTo>
                  <a:pt x="52917" y="105833"/>
                </a:lnTo>
                <a:cubicBezTo>
                  <a:pt x="52917" y="113151"/>
                  <a:pt x="47005" y="119063"/>
                  <a:pt x="39688" y="119063"/>
                </a:cubicBezTo>
                <a:lnTo>
                  <a:pt x="13229" y="119063"/>
                </a:lnTo>
                <a:cubicBezTo>
                  <a:pt x="5912" y="119063"/>
                  <a:pt x="0" y="113151"/>
                  <a:pt x="0" y="105833"/>
                </a:cubicBezTo>
                <a:cubicBezTo>
                  <a:pt x="0" y="98516"/>
                  <a:pt x="5912" y="92604"/>
                  <a:pt x="13229" y="92604"/>
                </a:cubicBezTo>
                <a:lnTo>
                  <a:pt x="26458" y="92604"/>
                </a:lnTo>
                <a:lnTo>
                  <a:pt x="26458" y="3968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322917" y="2190750"/>
            <a:ext cx="26035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HMM</a:t>
            </a:r>
            <a:r>
              <a:rPr lang="en-US" sz="2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隐马尔可夫模型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7917" y="2783417"/>
            <a:ext cx="71543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用于</a:t>
            </a: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时序数据建模</a:t>
            </a: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的概率图模型，描述观测序列与隐藏状态序列之间的关系。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7917" y="3227917"/>
            <a:ext cx="7069667" cy="1312333"/>
          </a:xfrm>
          <a:custGeom>
            <a:avLst/>
            <a:gdLst/>
            <a:ahLst/>
            <a:cxnLst/>
            <a:rect l="l" t="t" r="r" b="b"/>
            <a:pathLst>
              <a:path w="7069667" h="1312333">
                <a:moveTo>
                  <a:pt x="84672" y="0"/>
                </a:moveTo>
                <a:lnTo>
                  <a:pt x="6984995" y="0"/>
                </a:lnTo>
                <a:cubicBezTo>
                  <a:pt x="7031758" y="0"/>
                  <a:pt x="7069667" y="37909"/>
                  <a:pt x="7069667" y="84672"/>
                </a:cubicBezTo>
                <a:lnTo>
                  <a:pt x="7069667" y="1227662"/>
                </a:lnTo>
                <a:cubicBezTo>
                  <a:pt x="7069667" y="1274425"/>
                  <a:pt x="7031758" y="1312333"/>
                  <a:pt x="6984995" y="1312333"/>
                </a:cubicBezTo>
                <a:lnTo>
                  <a:pt x="84672" y="1312333"/>
                </a:lnTo>
                <a:cubicBezTo>
                  <a:pt x="37909" y="1312333"/>
                  <a:pt x="0" y="1274425"/>
                  <a:pt x="0" y="1227662"/>
                </a:cubicBezTo>
                <a:lnTo>
                  <a:pt x="0" y="84672"/>
                </a:lnTo>
                <a:cubicBezTo>
                  <a:pt x="0" y="37909"/>
                  <a:pt x="37909" y="0"/>
                  <a:pt x="8467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57250" y="3397250"/>
            <a:ext cx="6815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核心要素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57250" y="3778250"/>
            <a:ext cx="2190750" cy="592667"/>
          </a:xfrm>
          <a:custGeom>
            <a:avLst/>
            <a:gdLst/>
            <a:ahLst/>
            <a:cxnLst/>
            <a:rect l="l" t="t" r="r" b="b"/>
            <a:pathLst>
              <a:path w="2190750" h="592667">
                <a:moveTo>
                  <a:pt x="84668" y="0"/>
                </a:moveTo>
                <a:lnTo>
                  <a:pt x="2106082" y="0"/>
                </a:lnTo>
                <a:cubicBezTo>
                  <a:pt x="2152843" y="0"/>
                  <a:pt x="2190750" y="37907"/>
                  <a:pt x="2190750" y="84668"/>
                </a:cubicBezTo>
                <a:lnTo>
                  <a:pt x="2190750" y="507998"/>
                </a:lnTo>
                <a:cubicBezTo>
                  <a:pt x="2190750" y="554759"/>
                  <a:pt x="2152843" y="592667"/>
                  <a:pt x="2106082" y="592667"/>
                </a:cubicBezTo>
                <a:lnTo>
                  <a:pt x="84668" y="592667"/>
                </a:lnTo>
                <a:cubicBezTo>
                  <a:pt x="37907" y="592667"/>
                  <a:pt x="0" y="554759"/>
                  <a:pt x="0" y="507998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04875" y="3862917"/>
            <a:ext cx="2095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状态转移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0167" y="4116917"/>
            <a:ext cx="2084917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</a:t>
            </a: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矩阵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129111" y="3778250"/>
            <a:ext cx="2190750" cy="592667"/>
          </a:xfrm>
          <a:custGeom>
            <a:avLst/>
            <a:gdLst/>
            <a:ahLst/>
            <a:cxnLst/>
            <a:rect l="l" t="t" r="r" b="b"/>
            <a:pathLst>
              <a:path w="2190750" h="592667">
                <a:moveTo>
                  <a:pt x="84668" y="0"/>
                </a:moveTo>
                <a:lnTo>
                  <a:pt x="2106082" y="0"/>
                </a:lnTo>
                <a:cubicBezTo>
                  <a:pt x="2152843" y="0"/>
                  <a:pt x="2190750" y="37907"/>
                  <a:pt x="2190750" y="84668"/>
                </a:cubicBezTo>
                <a:lnTo>
                  <a:pt x="2190750" y="507998"/>
                </a:lnTo>
                <a:cubicBezTo>
                  <a:pt x="2190750" y="554759"/>
                  <a:pt x="2152843" y="592667"/>
                  <a:pt x="2106082" y="592667"/>
                </a:cubicBezTo>
                <a:lnTo>
                  <a:pt x="84668" y="592667"/>
                </a:lnTo>
                <a:cubicBezTo>
                  <a:pt x="37907" y="592667"/>
                  <a:pt x="0" y="554759"/>
                  <a:pt x="0" y="507998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3176736" y="3862917"/>
            <a:ext cx="2095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观测概率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182028" y="4116917"/>
            <a:ext cx="2084917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</a:t>
            </a: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矩阵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00973" y="3778250"/>
            <a:ext cx="2190750" cy="592667"/>
          </a:xfrm>
          <a:custGeom>
            <a:avLst/>
            <a:gdLst/>
            <a:ahLst/>
            <a:cxnLst/>
            <a:rect l="l" t="t" r="r" b="b"/>
            <a:pathLst>
              <a:path w="2190750" h="592667">
                <a:moveTo>
                  <a:pt x="84668" y="0"/>
                </a:moveTo>
                <a:lnTo>
                  <a:pt x="2106082" y="0"/>
                </a:lnTo>
                <a:cubicBezTo>
                  <a:pt x="2152843" y="0"/>
                  <a:pt x="2190750" y="37907"/>
                  <a:pt x="2190750" y="84668"/>
                </a:cubicBezTo>
                <a:lnTo>
                  <a:pt x="2190750" y="507998"/>
                </a:lnTo>
                <a:cubicBezTo>
                  <a:pt x="2190750" y="554759"/>
                  <a:pt x="2152843" y="592667"/>
                  <a:pt x="2106082" y="592667"/>
                </a:cubicBezTo>
                <a:lnTo>
                  <a:pt x="84668" y="592667"/>
                </a:lnTo>
                <a:cubicBezTo>
                  <a:pt x="37907" y="592667"/>
                  <a:pt x="0" y="554759"/>
                  <a:pt x="0" y="507998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448598" y="3862917"/>
            <a:ext cx="2095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初始状态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53889" y="4116917"/>
            <a:ext cx="2084917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π</a:t>
            </a: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向量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7917" y="4667250"/>
            <a:ext cx="7069667" cy="2032000"/>
          </a:xfrm>
          <a:custGeom>
            <a:avLst/>
            <a:gdLst/>
            <a:ahLst/>
            <a:cxnLst/>
            <a:rect l="l" t="t" r="r" b="b"/>
            <a:pathLst>
              <a:path w="7069667" h="2032000">
                <a:moveTo>
                  <a:pt x="84673" y="0"/>
                </a:moveTo>
                <a:lnTo>
                  <a:pt x="6984993" y="0"/>
                </a:lnTo>
                <a:cubicBezTo>
                  <a:pt x="7031757" y="0"/>
                  <a:pt x="7069667" y="37910"/>
                  <a:pt x="7069667" y="84673"/>
                </a:cubicBezTo>
                <a:lnTo>
                  <a:pt x="7069667" y="1947327"/>
                </a:lnTo>
                <a:cubicBezTo>
                  <a:pt x="7069667" y="1994090"/>
                  <a:pt x="7031757" y="2032000"/>
                  <a:pt x="6984993" y="2032000"/>
                </a:cubicBezTo>
                <a:lnTo>
                  <a:pt x="84673" y="2032000"/>
                </a:lnTo>
                <a:cubicBezTo>
                  <a:pt x="37910" y="2032000"/>
                  <a:pt x="0" y="1994090"/>
                  <a:pt x="0" y="1947327"/>
                </a:cubicBezTo>
                <a:lnTo>
                  <a:pt x="0" y="84673"/>
                </a:lnTo>
                <a:cubicBezTo>
                  <a:pt x="0" y="37910"/>
                  <a:pt x="37910" y="0"/>
                  <a:pt x="8467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57250" y="4836583"/>
            <a:ext cx="6815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经典算法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69156" y="5259917"/>
            <a:ext cx="166688" cy="148167"/>
          </a:xfrm>
          <a:custGeom>
            <a:avLst/>
            <a:gdLst/>
            <a:ahLst/>
            <a:cxnLst/>
            <a:rect l="l" t="t" r="r" b="b"/>
            <a:pathLst>
              <a:path w="166688" h="148167">
                <a:moveTo>
                  <a:pt x="107566" y="12473"/>
                </a:moveTo>
                <a:cubicBezTo>
                  <a:pt x="104209" y="9260"/>
                  <a:pt x="99260" y="8363"/>
                  <a:pt x="95006" y="10186"/>
                </a:cubicBezTo>
                <a:cubicBezTo>
                  <a:pt x="90752" y="12010"/>
                  <a:pt x="87974" y="16206"/>
                  <a:pt x="87974" y="20836"/>
                </a:cubicBezTo>
                <a:lnTo>
                  <a:pt x="87974" y="60280"/>
                </a:lnTo>
                <a:lnTo>
                  <a:pt x="38112" y="12502"/>
                </a:lnTo>
                <a:cubicBezTo>
                  <a:pt x="34756" y="9260"/>
                  <a:pt x="29807" y="8363"/>
                  <a:pt x="25553" y="10186"/>
                </a:cubicBezTo>
                <a:cubicBezTo>
                  <a:pt x="21299" y="12010"/>
                  <a:pt x="18521" y="16206"/>
                  <a:pt x="18521" y="20836"/>
                </a:cubicBezTo>
                <a:lnTo>
                  <a:pt x="18521" y="127331"/>
                </a:lnTo>
                <a:cubicBezTo>
                  <a:pt x="18521" y="131961"/>
                  <a:pt x="21299" y="136157"/>
                  <a:pt x="25553" y="137980"/>
                </a:cubicBezTo>
                <a:cubicBezTo>
                  <a:pt x="29807" y="139803"/>
                  <a:pt x="34756" y="138906"/>
                  <a:pt x="38112" y="135694"/>
                </a:cubicBezTo>
                <a:lnTo>
                  <a:pt x="87974" y="87887"/>
                </a:lnTo>
                <a:lnTo>
                  <a:pt x="87974" y="127331"/>
                </a:lnTo>
                <a:cubicBezTo>
                  <a:pt x="87974" y="131961"/>
                  <a:pt x="90752" y="136157"/>
                  <a:pt x="95006" y="137980"/>
                </a:cubicBezTo>
                <a:cubicBezTo>
                  <a:pt x="99260" y="139803"/>
                  <a:pt x="104209" y="138906"/>
                  <a:pt x="107566" y="135694"/>
                </a:cubicBezTo>
                <a:lnTo>
                  <a:pt x="163128" y="82447"/>
                </a:lnTo>
                <a:cubicBezTo>
                  <a:pt x="165414" y="80276"/>
                  <a:pt x="166688" y="77238"/>
                  <a:pt x="166688" y="74083"/>
                </a:cubicBezTo>
                <a:cubicBezTo>
                  <a:pt x="166688" y="70929"/>
                  <a:pt x="165385" y="67919"/>
                  <a:pt x="163128" y="65720"/>
                </a:cubicBezTo>
                <a:lnTo>
                  <a:pt x="107566" y="12473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127125" y="5217583"/>
            <a:ext cx="1090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前向算法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27125" y="5429250"/>
            <a:ext cx="10795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计算观测序列概率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69156" y="5725583"/>
            <a:ext cx="166688" cy="148167"/>
          </a:xfrm>
          <a:custGeom>
            <a:avLst/>
            <a:gdLst/>
            <a:ahLst/>
            <a:cxnLst/>
            <a:rect l="l" t="t" r="r" b="b"/>
            <a:pathLst>
              <a:path w="166688" h="148167">
                <a:moveTo>
                  <a:pt x="59122" y="12473"/>
                </a:moveTo>
                <a:cubicBezTo>
                  <a:pt x="62479" y="9260"/>
                  <a:pt x="67427" y="8363"/>
                  <a:pt x="71681" y="10186"/>
                </a:cubicBezTo>
                <a:cubicBezTo>
                  <a:pt x="75935" y="12010"/>
                  <a:pt x="78714" y="16206"/>
                  <a:pt x="78714" y="20836"/>
                </a:cubicBezTo>
                <a:lnTo>
                  <a:pt x="78714" y="60280"/>
                </a:lnTo>
                <a:lnTo>
                  <a:pt x="128575" y="12502"/>
                </a:lnTo>
                <a:cubicBezTo>
                  <a:pt x="131932" y="9260"/>
                  <a:pt x="136881" y="8363"/>
                  <a:pt x="141135" y="10186"/>
                </a:cubicBezTo>
                <a:cubicBezTo>
                  <a:pt x="145389" y="12010"/>
                  <a:pt x="148167" y="16206"/>
                  <a:pt x="148167" y="20836"/>
                </a:cubicBezTo>
                <a:lnTo>
                  <a:pt x="148167" y="127331"/>
                </a:lnTo>
                <a:cubicBezTo>
                  <a:pt x="148167" y="131961"/>
                  <a:pt x="145389" y="136157"/>
                  <a:pt x="141135" y="137980"/>
                </a:cubicBezTo>
                <a:cubicBezTo>
                  <a:pt x="136881" y="139803"/>
                  <a:pt x="131932" y="138906"/>
                  <a:pt x="128575" y="135694"/>
                </a:cubicBezTo>
                <a:lnTo>
                  <a:pt x="78714" y="87887"/>
                </a:lnTo>
                <a:lnTo>
                  <a:pt x="78714" y="127331"/>
                </a:lnTo>
                <a:cubicBezTo>
                  <a:pt x="78714" y="131961"/>
                  <a:pt x="75935" y="136157"/>
                  <a:pt x="71681" y="137980"/>
                </a:cubicBezTo>
                <a:cubicBezTo>
                  <a:pt x="67427" y="139803"/>
                  <a:pt x="62479" y="138906"/>
                  <a:pt x="59122" y="135694"/>
                </a:cubicBezTo>
                <a:lnTo>
                  <a:pt x="3559" y="82447"/>
                </a:lnTo>
                <a:cubicBezTo>
                  <a:pt x="1302" y="80247"/>
                  <a:pt x="0" y="77238"/>
                  <a:pt x="0" y="74083"/>
                </a:cubicBezTo>
                <a:cubicBezTo>
                  <a:pt x="0" y="70929"/>
                  <a:pt x="1302" y="67919"/>
                  <a:pt x="3559" y="65720"/>
                </a:cubicBezTo>
                <a:lnTo>
                  <a:pt x="59122" y="12473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127125" y="5683250"/>
            <a:ext cx="963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后向算法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27125" y="5894917"/>
            <a:ext cx="9525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与前向算法配合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78417" y="6191250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148167" y="27781"/>
                </a:moveTo>
                <a:cubicBezTo>
                  <a:pt x="148167" y="42309"/>
                  <a:pt x="131064" y="63984"/>
                  <a:pt x="123684" y="72636"/>
                </a:cubicBezTo>
                <a:cubicBezTo>
                  <a:pt x="122585" y="73910"/>
                  <a:pt x="120964" y="74402"/>
                  <a:pt x="119488" y="74083"/>
                </a:cubicBezTo>
                <a:lnTo>
                  <a:pt x="92604" y="74083"/>
                </a:lnTo>
                <a:cubicBezTo>
                  <a:pt x="87482" y="74083"/>
                  <a:pt x="83344" y="78222"/>
                  <a:pt x="83344" y="83344"/>
                </a:cubicBezTo>
                <a:cubicBezTo>
                  <a:pt x="83344" y="88466"/>
                  <a:pt x="87482" y="92604"/>
                  <a:pt x="92604" y="92604"/>
                </a:cubicBezTo>
                <a:lnTo>
                  <a:pt x="120385" y="92604"/>
                </a:lnTo>
                <a:cubicBezTo>
                  <a:pt x="135723" y="92604"/>
                  <a:pt x="148167" y="105048"/>
                  <a:pt x="148167" y="120385"/>
                </a:cubicBezTo>
                <a:cubicBezTo>
                  <a:pt x="148167" y="135723"/>
                  <a:pt x="135723" y="148167"/>
                  <a:pt x="120385" y="148167"/>
                </a:cubicBezTo>
                <a:lnTo>
                  <a:pt x="40399" y="148167"/>
                </a:lnTo>
                <a:cubicBezTo>
                  <a:pt x="42916" y="145302"/>
                  <a:pt x="45984" y="141626"/>
                  <a:pt x="49080" y="137517"/>
                </a:cubicBezTo>
                <a:cubicBezTo>
                  <a:pt x="50903" y="135086"/>
                  <a:pt x="52784" y="132424"/>
                  <a:pt x="54579" y="129646"/>
                </a:cubicBezTo>
                <a:lnTo>
                  <a:pt x="120385" y="129646"/>
                </a:lnTo>
                <a:cubicBezTo>
                  <a:pt x="125508" y="129646"/>
                  <a:pt x="129646" y="125508"/>
                  <a:pt x="129646" y="120385"/>
                </a:cubicBezTo>
                <a:cubicBezTo>
                  <a:pt x="129646" y="115263"/>
                  <a:pt x="125508" y="111125"/>
                  <a:pt x="120385" y="111125"/>
                </a:cubicBezTo>
                <a:lnTo>
                  <a:pt x="92604" y="111125"/>
                </a:lnTo>
                <a:cubicBezTo>
                  <a:pt x="77267" y="111125"/>
                  <a:pt x="64823" y="98681"/>
                  <a:pt x="64823" y="83344"/>
                </a:cubicBezTo>
                <a:cubicBezTo>
                  <a:pt x="64823" y="68006"/>
                  <a:pt x="77267" y="55562"/>
                  <a:pt x="92604" y="55562"/>
                </a:cubicBezTo>
                <a:lnTo>
                  <a:pt x="104122" y="55562"/>
                </a:lnTo>
                <a:cubicBezTo>
                  <a:pt x="98045" y="46447"/>
                  <a:pt x="92604" y="35971"/>
                  <a:pt x="92604" y="27781"/>
                </a:cubicBezTo>
                <a:cubicBezTo>
                  <a:pt x="92604" y="12444"/>
                  <a:pt x="105048" y="0"/>
                  <a:pt x="120385" y="0"/>
                </a:cubicBezTo>
                <a:cubicBezTo>
                  <a:pt x="135723" y="0"/>
                  <a:pt x="148167" y="12444"/>
                  <a:pt x="148167" y="27781"/>
                </a:cubicBezTo>
                <a:close/>
                <a:moveTo>
                  <a:pt x="33887" y="141540"/>
                </a:moveTo>
                <a:cubicBezTo>
                  <a:pt x="32788" y="142784"/>
                  <a:pt x="31804" y="143884"/>
                  <a:pt x="30965" y="144810"/>
                </a:cubicBezTo>
                <a:lnTo>
                  <a:pt x="30444" y="145389"/>
                </a:lnTo>
                <a:lnTo>
                  <a:pt x="30386" y="145331"/>
                </a:lnTo>
                <a:cubicBezTo>
                  <a:pt x="28649" y="146662"/>
                  <a:pt x="26161" y="146488"/>
                  <a:pt x="24598" y="144810"/>
                </a:cubicBezTo>
                <a:cubicBezTo>
                  <a:pt x="17305" y="136881"/>
                  <a:pt x="0" y="116479"/>
                  <a:pt x="0" y="101865"/>
                </a:cubicBezTo>
                <a:cubicBezTo>
                  <a:pt x="0" y="86527"/>
                  <a:pt x="12444" y="74083"/>
                  <a:pt x="27781" y="74083"/>
                </a:cubicBezTo>
                <a:cubicBezTo>
                  <a:pt x="43119" y="74083"/>
                  <a:pt x="55562" y="86527"/>
                  <a:pt x="55562" y="101865"/>
                </a:cubicBezTo>
                <a:cubicBezTo>
                  <a:pt x="55562" y="110546"/>
                  <a:pt x="49456" y="121254"/>
                  <a:pt x="42974" y="130196"/>
                </a:cubicBezTo>
                <a:cubicBezTo>
                  <a:pt x="39878" y="134450"/>
                  <a:pt x="36694" y="138299"/>
                  <a:pt x="34061" y="141337"/>
                </a:cubicBezTo>
                <a:lnTo>
                  <a:pt x="33887" y="141540"/>
                </a:lnTo>
                <a:close/>
                <a:moveTo>
                  <a:pt x="37042" y="101865"/>
                </a:moveTo>
                <a:cubicBezTo>
                  <a:pt x="37042" y="96754"/>
                  <a:pt x="32892" y="92604"/>
                  <a:pt x="27781" y="92604"/>
                </a:cubicBezTo>
                <a:cubicBezTo>
                  <a:pt x="22670" y="92604"/>
                  <a:pt x="18521" y="96754"/>
                  <a:pt x="18521" y="101865"/>
                </a:cubicBezTo>
                <a:cubicBezTo>
                  <a:pt x="18521" y="106976"/>
                  <a:pt x="22670" y="111125"/>
                  <a:pt x="27781" y="111125"/>
                </a:cubicBezTo>
                <a:cubicBezTo>
                  <a:pt x="32892" y="111125"/>
                  <a:pt x="37042" y="106976"/>
                  <a:pt x="37042" y="101865"/>
                </a:cubicBezTo>
                <a:close/>
                <a:moveTo>
                  <a:pt x="120385" y="37042"/>
                </a:moveTo>
                <a:cubicBezTo>
                  <a:pt x="125496" y="37042"/>
                  <a:pt x="129646" y="32892"/>
                  <a:pt x="129646" y="27781"/>
                </a:cubicBezTo>
                <a:cubicBezTo>
                  <a:pt x="129646" y="22670"/>
                  <a:pt x="125496" y="18521"/>
                  <a:pt x="120385" y="18521"/>
                </a:cubicBezTo>
                <a:cubicBezTo>
                  <a:pt x="115274" y="18521"/>
                  <a:pt x="111125" y="22670"/>
                  <a:pt x="111125" y="27781"/>
                </a:cubicBezTo>
                <a:cubicBezTo>
                  <a:pt x="111125" y="32892"/>
                  <a:pt x="115274" y="37042"/>
                  <a:pt x="120385" y="37042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127125" y="6148917"/>
            <a:ext cx="1344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Viterbi算法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27125" y="6360583"/>
            <a:ext cx="13335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寻找最可能的状态序列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09083" y="6826250"/>
            <a:ext cx="7048500" cy="1312333"/>
          </a:xfrm>
          <a:custGeom>
            <a:avLst/>
            <a:gdLst/>
            <a:ahLst/>
            <a:cxnLst/>
            <a:rect l="l" t="t" r="r" b="b"/>
            <a:pathLst>
              <a:path w="7048500" h="1312333">
                <a:moveTo>
                  <a:pt x="42333" y="0"/>
                </a:moveTo>
                <a:lnTo>
                  <a:pt x="6963828" y="0"/>
                </a:lnTo>
                <a:cubicBezTo>
                  <a:pt x="7010591" y="0"/>
                  <a:pt x="7048500" y="37909"/>
                  <a:pt x="7048500" y="84672"/>
                </a:cubicBezTo>
                <a:lnTo>
                  <a:pt x="7048500" y="1227662"/>
                </a:lnTo>
                <a:cubicBezTo>
                  <a:pt x="7048500" y="1274425"/>
                  <a:pt x="7010591" y="1312333"/>
                  <a:pt x="6963828" y="1312333"/>
                </a:cubicBezTo>
                <a:lnTo>
                  <a:pt x="42333" y="1312333"/>
                </a:lnTo>
                <a:cubicBezTo>
                  <a:pt x="18953" y="1312333"/>
                  <a:pt x="0" y="1293380"/>
                  <a:pt x="0" y="1270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709083" y="6826250"/>
            <a:ext cx="42333" cy="1312333"/>
          </a:xfrm>
          <a:custGeom>
            <a:avLst/>
            <a:gdLst/>
            <a:ahLst/>
            <a:cxnLst/>
            <a:rect l="l" t="t" r="r" b="b"/>
            <a:pathLst>
              <a:path w="42333" h="1312333">
                <a:moveTo>
                  <a:pt x="42333" y="0"/>
                </a:moveTo>
                <a:lnTo>
                  <a:pt x="42333" y="0"/>
                </a:lnTo>
                <a:lnTo>
                  <a:pt x="42333" y="1312333"/>
                </a:lnTo>
                <a:lnTo>
                  <a:pt x="42333" y="1312333"/>
                </a:lnTo>
                <a:cubicBezTo>
                  <a:pt x="18953" y="1312333"/>
                  <a:pt x="0" y="1293380"/>
                  <a:pt x="0" y="1270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57250" y="6953250"/>
            <a:ext cx="685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典型应用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7250" y="7291917"/>
            <a:ext cx="6847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语音识别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57250" y="7545917"/>
            <a:ext cx="6847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中文分词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57250" y="7799917"/>
            <a:ext cx="6847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生物信息学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39125" y="1118129"/>
            <a:ext cx="7588250" cy="5577417"/>
          </a:xfrm>
          <a:custGeom>
            <a:avLst/>
            <a:gdLst/>
            <a:ahLst/>
            <a:cxnLst/>
            <a:rect l="l" t="t" r="r" b="b"/>
            <a:pathLst>
              <a:path w="7588250" h="5577417">
                <a:moveTo>
                  <a:pt x="126998" y="0"/>
                </a:moveTo>
                <a:lnTo>
                  <a:pt x="7461252" y="0"/>
                </a:lnTo>
                <a:cubicBezTo>
                  <a:pt x="7531391" y="0"/>
                  <a:pt x="7588250" y="56859"/>
                  <a:pt x="7588250" y="126998"/>
                </a:cubicBezTo>
                <a:lnTo>
                  <a:pt x="7588250" y="5450419"/>
                </a:lnTo>
                <a:cubicBezTo>
                  <a:pt x="7588250" y="5520558"/>
                  <a:pt x="7531391" y="5577417"/>
                  <a:pt x="7461252" y="5577417"/>
                </a:cubicBezTo>
                <a:lnTo>
                  <a:pt x="126998" y="5577417"/>
                </a:lnTo>
                <a:cubicBezTo>
                  <a:pt x="56859" y="5577417"/>
                  <a:pt x="0" y="5520558"/>
                  <a:pt x="0" y="5450419"/>
                </a:cubicBezTo>
                <a:lnTo>
                  <a:pt x="0" y="126998"/>
                </a:lnTo>
                <a:cubicBezTo>
                  <a:pt x="0" y="56906"/>
                  <a:pt x="56906" y="0"/>
                  <a:pt x="126998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6ED3CF">
                  <a:alpha val="5000"/>
                </a:srgbClr>
              </a:gs>
            </a:gsLst>
            <a:lin ang="2700000" scaled="1"/>
          </a:gradFill>
          <a:ln w="12700">
            <a:solidFill>
              <a:srgbClr val="6ED3C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8498417" y="137742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8646583" y="1525587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0" y="33073"/>
                </a:moveTo>
                <a:cubicBezTo>
                  <a:pt x="0" y="22118"/>
                  <a:pt x="8888" y="13229"/>
                  <a:pt x="19844" y="13229"/>
                </a:cubicBezTo>
                <a:lnTo>
                  <a:pt x="59531" y="13229"/>
                </a:lnTo>
                <a:cubicBezTo>
                  <a:pt x="70487" y="13229"/>
                  <a:pt x="79375" y="22118"/>
                  <a:pt x="79375" y="33073"/>
                </a:cubicBezTo>
                <a:lnTo>
                  <a:pt x="79375" y="39688"/>
                </a:lnTo>
                <a:lnTo>
                  <a:pt x="132292" y="39688"/>
                </a:lnTo>
                <a:lnTo>
                  <a:pt x="132292" y="33073"/>
                </a:lnTo>
                <a:cubicBezTo>
                  <a:pt x="132292" y="22118"/>
                  <a:pt x="141180" y="13229"/>
                  <a:pt x="152135" y="13229"/>
                </a:cubicBezTo>
                <a:lnTo>
                  <a:pt x="191823" y="13229"/>
                </a:lnTo>
                <a:cubicBezTo>
                  <a:pt x="202778" y="13229"/>
                  <a:pt x="211667" y="22118"/>
                  <a:pt x="211667" y="33073"/>
                </a:cubicBezTo>
                <a:lnTo>
                  <a:pt x="211667" y="72760"/>
                </a:lnTo>
                <a:cubicBezTo>
                  <a:pt x="211667" y="83716"/>
                  <a:pt x="202778" y="92604"/>
                  <a:pt x="191823" y="92604"/>
                </a:cubicBezTo>
                <a:lnTo>
                  <a:pt x="152135" y="92604"/>
                </a:lnTo>
                <a:cubicBezTo>
                  <a:pt x="141180" y="92604"/>
                  <a:pt x="132292" y="83716"/>
                  <a:pt x="132292" y="72760"/>
                </a:cubicBezTo>
                <a:lnTo>
                  <a:pt x="132292" y="66146"/>
                </a:lnTo>
                <a:lnTo>
                  <a:pt x="79375" y="66146"/>
                </a:lnTo>
                <a:lnTo>
                  <a:pt x="79375" y="72760"/>
                </a:lnTo>
                <a:cubicBezTo>
                  <a:pt x="79375" y="75778"/>
                  <a:pt x="78672" y="78672"/>
                  <a:pt x="77473" y="81235"/>
                </a:cubicBezTo>
                <a:lnTo>
                  <a:pt x="105833" y="119063"/>
                </a:lnTo>
                <a:lnTo>
                  <a:pt x="138906" y="119063"/>
                </a:lnTo>
                <a:cubicBezTo>
                  <a:pt x="149862" y="119063"/>
                  <a:pt x="158750" y="127951"/>
                  <a:pt x="158750" y="138906"/>
                </a:cubicBezTo>
                <a:lnTo>
                  <a:pt x="158750" y="178594"/>
                </a:lnTo>
                <a:cubicBezTo>
                  <a:pt x="158750" y="189549"/>
                  <a:pt x="149862" y="198438"/>
                  <a:pt x="138906" y="198438"/>
                </a:cubicBezTo>
                <a:lnTo>
                  <a:pt x="99219" y="198438"/>
                </a:lnTo>
                <a:cubicBezTo>
                  <a:pt x="88263" y="198438"/>
                  <a:pt x="79375" y="189549"/>
                  <a:pt x="79375" y="178594"/>
                </a:cubicBezTo>
                <a:lnTo>
                  <a:pt x="79375" y="138906"/>
                </a:lnTo>
                <a:cubicBezTo>
                  <a:pt x="79375" y="135888"/>
                  <a:pt x="80078" y="132994"/>
                  <a:pt x="81277" y="130431"/>
                </a:cubicBezTo>
                <a:lnTo>
                  <a:pt x="52917" y="92604"/>
                </a:lnTo>
                <a:lnTo>
                  <a:pt x="19844" y="92604"/>
                </a:lnTo>
                <a:cubicBezTo>
                  <a:pt x="8888" y="92604"/>
                  <a:pt x="0" y="83716"/>
                  <a:pt x="0" y="72760"/>
                </a:cubicBezTo>
                <a:lnTo>
                  <a:pt x="0" y="33073"/>
                </a:ln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9133417" y="1462087"/>
            <a:ext cx="1397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贝叶斯网络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498417" y="2054754"/>
            <a:ext cx="71543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使用</a:t>
            </a: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有向无环图</a:t>
            </a: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表示变量间的概率依赖关系，进行不确定性推理。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498417" y="2499254"/>
            <a:ext cx="7069667" cy="2497667"/>
          </a:xfrm>
          <a:custGeom>
            <a:avLst/>
            <a:gdLst/>
            <a:ahLst/>
            <a:cxnLst/>
            <a:rect l="l" t="t" r="r" b="b"/>
            <a:pathLst>
              <a:path w="7069667" h="2497667">
                <a:moveTo>
                  <a:pt x="84671" y="0"/>
                </a:moveTo>
                <a:lnTo>
                  <a:pt x="6984996" y="0"/>
                </a:lnTo>
                <a:cubicBezTo>
                  <a:pt x="7031758" y="0"/>
                  <a:pt x="7069667" y="37908"/>
                  <a:pt x="7069667" y="84671"/>
                </a:cubicBezTo>
                <a:lnTo>
                  <a:pt x="7069667" y="2412996"/>
                </a:lnTo>
                <a:cubicBezTo>
                  <a:pt x="7069667" y="2459758"/>
                  <a:pt x="7031758" y="2497667"/>
                  <a:pt x="6984996" y="2497667"/>
                </a:cubicBezTo>
                <a:lnTo>
                  <a:pt x="84671" y="2497667"/>
                </a:lnTo>
                <a:cubicBezTo>
                  <a:pt x="37908" y="2497667"/>
                  <a:pt x="0" y="2459758"/>
                  <a:pt x="0" y="2412996"/>
                </a:cubicBezTo>
                <a:lnTo>
                  <a:pt x="0" y="84671"/>
                </a:lnTo>
                <a:cubicBezTo>
                  <a:pt x="0" y="37940"/>
                  <a:pt x="37940" y="0"/>
                  <a:pt x="84671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8667750" y="2668587"/>
            <a:ext cx="6815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核心概念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667750" y="3007254"/>
            <a:ext cx="6731000" cy="550333"/>
          </a:xfrm>
          <a:custGeom>
            <a:avLst/>
            <a:gdLst/>
            <a:ahLst/>
            <a:cxnLst/>
            <a:rect l="l" t="t" r="r" b="b"/>
            <a:pathLst>
              <a:path w="6731000" h="550333">
                <a:moveTo>
                  <a:pt x="84669" y="0"/>
                </a:moveTo>
                <a:lnTo>
                  <a:pt x="6646331" y="0"/>
                </a:lnTo>
                <a:cubicBezTo>
                  <a:pt x="6693092" y="0"/>
                  <a:pt x="6731000" y="37908"/>
                  <a:pt x="6731000" y="84669"/>
                </a:cubicBezTo>
                <a:lnTo>
                  <a:pt x="6731000" y="465665"/>
                </a:lnTo>
                <a:cubicBezTo>
                  <a:pt x="6731000" y="512426"/>
                  <a:pt x="6693092" y="550333"/>
                  <a:pt x="6646331" y="550333"/>
                </a:cubicBezTo>
                <a:lnTo>
                  <a:pt x="84669" y="550333"/>
                </a:lnTo>
                <a:cubicBezTo>
                  <a:pt x="37908" y="550333"/>
                  <a:pt x="0" y="512426"/>
                  <a:pt x="0" y="465665"/>
                </a:cubicBezTo>
                <a:lnTo>
                  <a:pt x="0" y="84669"/>
                </a:lnTo>
                <a:cubicBezTo>
                  <a:pt x="0" y="37939"/>
                  <a:pt x="37939" y="0"/>
                  <a:pt x="84669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752417" y="3091920"/>
            <a:ext cx="6635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节点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752417" y="3303587"/>
            <a:ext cx="6625167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随机变量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667750" y="3642254"/>
            <a:ext cx="6731000" cy="550333"/>
          </a:xfrm>
          <a:custGeom>
            <a:avLst/>
            <a:gdLst/>
            <a:ahLst/>
            <a:cxnLst/>
            <a:rect l="l" t="t" r="r" b="b"/>
            <a:pathLst>
              <a:path w="6731000" h="550333">
                <a:moveTo>
                  <a:pt x="84669" y="0"/>
                </a:moveTo>
                <a:lnTo>
                  <a:pt x="6646331" y="0"/>
                </a:lnTo>
                <a:cubicBezTo>
                  <a:pt x="6693092" y="0"/>
                  <a:pt x="6731000" y="37908"/>
                  <a:pt x="6731000" y="84669"/>
                </a:cubicBezTo>
                <a:lnTo>
                  <a:pt x="6731000" y="465665"/>
                </a:lnTo>
                <a:cubicBezTo>
                  <a:pt x="6731000" y="512426"/>
                  <a:pt x="6693092" y="550333"/>
                  <a:pt x="6646331" y="550333"/>
                </a:cubicBezTo>
                <a:lnTo>
                  <a:pt x="84669" y="550333"/>
                </a:lnTo>
                <a:cubicBezTo>
                  <a:pt x="37908" y="550333"/>
                  <a:pt x="0" y="512426"/>
                  <a:pt x="0" y="465665"/>
                </a:cubicBezTo>
                <a:lnTo>
                  <a:pt x="0" y="84669"/>
                </a:lnTo>
                <a:cubicBezTo>
                  <a:pt x="0" y="37939"/>
                  <a:pt x="37939" y="0"/>
                  <a:pt x="84669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8752417" y="3726920"/>
            <a:ext cx="6635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边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752417" y="3938587"/>
            <a:ext cx="6625167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概率依赖关系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667750" y="4277254"/>
            <a:ext cx="6731000" cy="550333"/>
          </a:xfrm>
          <a:custGeom>
            <a:avLst/>
            <a:gdLst/>
            <a:ahLst/>
            <a:cxnLst/>
            <a:rect l="l" t="t" r="r" b="b"/>
            <a:pathLst>
              <a:path w="6731000" h="550333">
                <a:moveTo>
                  <a:pt x="84669" y="0"/>
                </a:moveTo>
                <a:lnTo>
                  <a:pt x="6646331" y="0"/>
                </a:lnTo>
                <a:cubicBezTo>
                  <a:pt x="6693092" y="0"/>
                  <a:pt x="6731000" y="37908"/>
                  <a:pt x="6731000" y="84669"/>
                </a:cubicBezTo>
                <a:lnTo>
                  <a:pt x="6731000" y="465665"/>
                </a:lnTo>
                <a:cubicBezTo>
                  <a:pt x="6731000" y="512426"/>
                  <a:pt x="6693092" y="550333"/>
                  <a:pt x="6646331" y="550333"/>
                </a:cubicBezTo>
                <a:lnTo>
                  <a:pt x="84669" y="550333"/>
                </a:lnTo>
                <a:cubicBezTo>
                  <a:pt x="37908" y="550333"/>
                  <a:pt x="0" y="512426"/>
                  <a:pt x="0" y="465665"/>
                </a:cubicBezTo>
                <a:lnTo>
                  <a:pt x="0" y="84669"/>
                </a:lnTo>
                <a:cubicBezTo>
                  <a:pt x="0" y="37939"/>
                  <a:pt x="37939" y="0"/>
                  <a:pt x="84669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8752417" y="4361920"/>
            <a:ext cx="6635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条件概率表 (</a:t>
            </a: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CPT</a:t>
            </a: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752417" y="4573587"/>
            <a:ext cx="6625167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量化依赖关系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498417" y="5123920"/>
            <a:ext cx="7069667" cy="1312333"/>
          </a:xfrm>
          <a:custGeom>
            <a:avLst/>
            <a:gdLst/>
            <a:ahLst/>
            <a:cxnLst/>
            <a:rect l="l" t="t" r="r" b="b"/>
            <a:pathLst>
              <a:path w="7069667" h="1312333">
                <a:moveTo>
                  <a:pt x="84672" y="0"/>
                </a:moveTo>
                <a:lnTo>
                  <a:pt x="6984995" y="0"/>
                </a:lnTo>
                <a:cubicBezTo>
                  <a:pt x="7031758" y="0"/>
                  <a:pt x="7069667" y="37909"/>
                  <a:pt x="7069667" y="84672"/>
                </a:cubicBezTo>
                <a:lnTo>
                  <a:pt x="7069667" y="1227662"/>
                </a:lnTo>
                <a:cubicBezTo>
                  <a:pt x="7069667" y="1274425"/>
                  <a:pt x="7031758" y="1312333"/>
                  <a:pt x="6984995" y="1312333"/>
                </a:cubicBezTo>
                <a:lnTo>
                  <a:pt x="84672" y="1312333"/>
                </a:lnTo>
                <a:cubicBezTo>
                  <a:pt x="37909" y="1312333"/>
                  <a:pt x="0" y="1274425"/>
                  <a:pt x="0" y="1227662"/>
                </a:cubicBezTo>
                <a:lnTo>
                  <a:pt x="0" y="84672"/>
                </a:lnTo>
                <a:cubicBezTo>
                  <a:pt x="0" y="37909"/>
                  <a:pt x="37909" y="0"/>
                  <a:pt x="8467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8625417" y="5250920"/>
            <a:ext cx="6900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推理任务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625417" y="5589587"/>
            <a:ext cx="6889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因果推理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625417" y="5843587"/>
            <a:ext cx="6889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诊断推理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625417" y="6097587"/>
            <a:ext cx="6889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预测推理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239125" y="6875462"/>
            <a:ext cx="7588250" cy="1957917"/>
          </a:xfrm>
          <a:custGeom>
            <a:avLst/>
            <a:gdLst/>
            <a:ahLst/>
            <a:cxnLst/>
            <a:rect l="l" t="t" r="r" b="b"/>
            <a:pathLst>
              <a:path w="7588250" h="1957917">
                <a:moveTo>
                  <a:pt x="126990" y="0"/>
                </a:moveTo>
                <a:lnTo>
                  <a:pt x="7461260" y="0"/>
                </a:lnTo>
                <a:cubicBezTo>
                  <a:pt x="7531394" y="0"/>
                  <a:pt x="7588250" y="56856"/>
                  <a:pt x="7588250" y="126990"/>
                </a:cubicBezTo>
                <a:lnTo>
                  <a:pt x="7588250" y="1830926"/>
                </a:lnTo>
                <a:cubicBezTo>
                  <a:pt x="7588250" y="1901061"/>
                  <a:pt x="7531394" y="1957917"/>
                  <a:pt x="7461260" y="1957917"/>
                </a:cubicBezTo>
                <a:lnTo>
                  <a:pt x="126990" y="1957917"/>
                </a:lnTo>
                <a:cubicBezTo>
                  <a:pt x="56856" y="1957917"/>
                  <a:pt x="0" y="1901061"/>
                  <a:pt x="0" y="1830926"/>
                </a:cubicBezTo>
                <a:lnTo>
                  <a:pt x="0" y="126990"/>
                </a:lnTo>
                <a:cubicBezTo>
                  <a:pt x="0" y="56903"/>
                  <a:pt x="56903" y="0"/>
                  <a:pt x="126990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8506354" y="7145337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8699500" y="7092420"/>
            <a:ext cx="7006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概率图模型的优势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477250" y="7558087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74083" y="148167"/>
                </a:moveTo>
                <a:cubicBezTo>
                  <a:pt x="114971" y="148167"/>
                  <a:pt x="148167" y="114971"/>
                  <a:pt x="148167" y="74083"/>
                </a:cubicBezTo>
                <a:cubicBezTo>
                  <a:pt x="148167" y="33196"/>
                  <a:pt x="114971" y="0"/>
                  <a:pt x="74083" y="0"/>
                </a:cubicBezTo>
                <a:cubicBezTo>
                  <a:pt x="33196" y="0"/>
                  <a:pt x="0" y="33196"/>
                  <a:pt x="0" y="74083"/>
                </a:cubicBezTo>
                <a:cubicBezTo>
                  <a:pt x="0" y="114971"/>
                  <a:pt x="33196" y="148167"/>
                  <a:pt x="74083" y="148167"/>
                </a:cubicBezTo>
                <a:close/>
                <a:moveTo>
                  <a:pt x="98508" y="61553"/>
                </a:moveTo>
                <a:lnTo>
                  <a:pt x="75357" y="98594"/>
                </a:lnTo>
                <a:cubicBezTo>
                  <a:pt x="74141" y="100533"/>
                  <a:pt x="72058" y="101749"/>
                  <a:pt x="69771" y="101865"/>
                </a:cubicBezTo>
                <a:cubicBezTo>
                  <a:pt x="67485" y="101980"/>
                  <a:pt x="65286" y="100939"/>
                  <a:pt x="63926" y="99086"/>
                </a:cubicBezTo>
                <a:lnTo>
                  <a:pt x="50035" y="80566"/>
                </a:lnTo>
                <a:cubicBezTo>
                  <a:pt x="47720" y="77498"/>
                  <a:pt x="48357" y="73157"/>
                  <a:pt x="51424" y="70842"/>
                </a:cubicBezTo>
                <a:cubicBezTo>
                  <a:pt x="54492" y="68527"/>
                  <a:pt x="58833" y="69164"/>
                  <a:pt x="61148" y="72231"/>
                </a:cubicBezTo>
                <a:lnTo>
                  <a:pt x="68961" y="82649"/>
                </a:lnTo>
                <a:lnTo>
                  <a:pt x="86730" y="54202"/>
                </a:lnTo>
                <a:cubicBezTo>
                  <a:pt x="88755" y="50961"/>
                  <a:pt x="93038" y="49948"/>
                  <a:pt x="96308" y="52003"/>
                </a:cubicBezTo>
                <a:cubicBezTo>
                  <a:pt x="99578" y="54058"/>
                  <a:pt x="100562" y="58312"/>
                  <a:pt x="98508" y="61582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8725958" y="7515754"/>
            <a:ext cx="1407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直观表示变量间关系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477250" y="7854420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74083" y="148167"/>
                </a:moveTo>
                <a:cubicBezTo>
                  <a:pt x="114971" y="148167"/>
                  <a:pt x="148167" y="114971"/>
                  <a:pt x="148167" y="74083"/>
                </a:cubicBezTo>
                <a:cubicBezTo>
                  <a:pt x="148167" y="33196"/>
                  <a:pt x="114971" y="0"/>
                  <a:pt x="74083" y="0"/>
                </a:cubicBezTo>
                <a:cubicBezTo>
                  <a:pt x="33196" y="0"/>
                  <a:pt x="0" y="33196"/>
                  <a:pt x="0" y="74083"/>
                </a:cubicBezTo>
                <a:cubicBezTo>
                  <a:pt x="0" y="114971"/>
                  <a:pt x="33196" y="148167"/>
                  <a:pt x="74083" y="148167"/>
                </a:cubicBezTo>
                <a:close/>
                <a:moveTo>
                  <a:pt x="98508" y="61553"/>
                </a:moveTo>
                <a:lnTo>
                  <a:pt x="75357" y="98594"/>
                </a:lnTo>
                <a:cubicBezTo>
                  <a:pt x="74141" y="100533"/>
                  <a:pt x="72058" y="101749"/>
                  <a:pt x="69771" y="101865"/>
                </a:cubicBezTo>
                <a:cubicBezTo>
                  <a:pt x="67485" y="101980"/>
                  <a:pt x="65286" y="100939"/>
                  <a:pt x="63926" y="99086"/>
                </a:cubicBezTo>
                <a:lnTo>
                  <a:pt x="50035" y="80566"/>
                </a:lnTo>
                <a:cubicBezTo>
                  <a:pt x="47720" y="77498"/>
                  <a:pt x="48357" y="73157"/>
                  <a:pt x="51424" y="70842"/>
                </a:cubicBezTo>
                <a:cubicBezTo>
                  <a:pt x="54492" y="68527"/>
                  <a:pt x="58833" y="69164"/>
                  <a:pt x="61148" y="72231"/>
                </a:cubicBezTo>
                <a:lnTo>
                  <a:pt x="68961" y="82649"/>
                </a:lnTo>
                <a:lnTo>
                  <a:pt x="86730" y="54202"/>
                </a:lnTo>
                <a:cubicBezTo>
                  <a:pt x="88755" y="50961"/>
                  <a:pt x="93038" y="49948"/>
                  <a:pt x="96308" y="52003"/>
                </a:cubicBezTo>
                <a:cubicBezTo>
                  <a:pt x="99578" y="54058"/>
                  <a:pt x="100562" y="58312"/>
                  <a:pt x="98508" y="61582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8725958" y="7812087"/>
            <a:ext cx="1259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支持不确定性推理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477250" y="8150754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74083" y="148167"/>
                </a:moveTo>
                <a:cubicBezTo>
                  <a:pt x="114971" y="148167"/>
                  <a:pt x="148167" y="114971"/>
                  <a:pt x="148167" y="74083"/>
                </a:cubicBezTo>
                <a:cubicBezTo>
                  <a:pt x="148167" y="33196"/>
                  <a:pt x="114971" y="0"/>
                  <a:pt x="74083" y="0"/>
                </a:cubicBezTo>
                <a:cubicBezTo>
                  <a:pt x="33196" y="0"/>
                  <a:pt x="0" y="33196"/>
                  <a:pt x="0" y="74083"/>
                </a:cubicBezTo>
                <a:cubicBezTo>
                  <a:pt x="0" y="114971"/>
                  <a:pt x="33196" y="148167"/>
                  <a:pt x="74083" y="148167"/>
                </a:cubicBezTo>
                <a:close/>
                <a:moveTo>
                  <a:pt x="98508" y="61553"/>
                </a:moveTo>
                <a:lnTo>
                  <a:pt x="75357" y="98594"/>
                </a:lnTo>
                <a:cubicBezTo>
                  <a:pt x="74141" y="100533"/>
                  <a:pt x="72058" y="101749"/>
                  <a:pt x="69771" y="101865"/>
                </a:cubicBezTo>
                <a:cubicBezTo>
                  <a:pt x="67485" y="101980"/>
                  <a:pt x="65286" y="100939"/>
                  <a:pt x="63926" y="99086"/>
                </a:cubicBezTo>
                <a:lnTo>
                  <a:pt x="50035" y="80566"/>
                </a:lnTo>
                <a:cubicBezTo>
                  <a:pt x="47720" y="77498"/>
                  <a:pt x="48357" y="73157"/>
                  <a:pt x="51424" y="70842"/>
                </a:cubicBezTo>
                <a:cubicBezTo>
                  <a:pt x="54492" y="68527"/>
                  <a:pt x="58833" y="69164"/>
                  <a:pt x="61148" y="72231"/>
                </a:cubicBezTo>
                <a:lnTo>
                  <a:pt x="68961" y="82649"/>
                </a:lnTo>
                <a:lnTo>
                  <a:pt x="86730" y="54202"/>
                </a:lnTo>
                <a:cubicBezTo>
                  <a:pt x="88755" y="50961"/>
                  <a:pt x="93038" y="49948"/>
                  <a:pt x="96308" y="52003"/>
                </a:cubicBezTo>
                <a:cubicBezTo>
                  <a:pt x="99578" y="54058"/>
                  <a:pt x="100562" y="58312"/>
                  <a:pt x="98508" y="61582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8725958" y="8108420"/>
            <a:ext cx="963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结合领域知识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477250" y="8447087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74083" y="148167"/>
                </a:moveTo>
                <a:cubicBezTo>
                  <a:pt x="114971" y="148167"/>
                  <a:pt x="148167" y="114971"/>
                  <a:pt x="148167" y="74083"/>
                </a:cubicBezTo>
                <a:cubicBezTo>
                  <a:pt x="148167" y="33196"/>
                  <a:pt x="114971" y="0"/>
                  <a:pt x="74083" y="0"/>
                </a:cubicBezTo>
                <a:cubicBezTo>
                  <a:pt x="33196" y="0"/>
                  <a:pt x="0" y="33196"/>
                  <a:pt x="0" y="74083"/>
                </a:cubicBezTo>
                <a:cubicBezTo>
                  <a:pt x="0" y="114971"/>
                  <a:pt x="33196" y="148167"/>
                  <a:pt x="74083" y="148167"/>
                </a:cubicBezTo>
                <a:close/>
                <a:moveTo>
                  <a:pt x="98508" y="61553"/>
                </a:moveTo>
                <a:lnTo>
                  <a:pt x="75357" y="98594"/>
                </a:lnTo>
                <a:cubicBezTo>
                  <a:pt x="74141" y="100533"/>
                  <a:pt x="72058" y="101749"/>
                  <a:pt x="69771" y="101865"/>
                </a:cubicBezTo>
                <a:cubicBezTo>
                  <a:pt x="67485" y="101980"/>
                  <a:pt x="65286" y="100939"/>
                  <a:pt x="63926" y="99086"/>
                </a:cubicBezTo>
                <a:lnTo>
                  <a:pt x="50035" y="80566"/>
                </a:lnTo>
                <a:cubicBezTo>
                  <a:pt x="47720" y="77498"/>
                  <a:pt x="48357" y="73157"/>
                  <a:pt x="51424" y="70842"/>
                </a:cubicBezTo>
                <a:cubicBezTo>
                  <a:pt x="54492" y="68527"/>
                  <a:pt x="58833" y="69164"/>
                  <a:pt x="61148" y="72231"/>
                </a:cubicBezTo>
                <a:lnTo>
                  <a:pt x="68961" y="82649"/>
                </a:lnTo>
                <a:lnTo>
                  <a:pt x="86730" y="54202"/>
                </a:lnTo>
                <a:cubicBezTo>
                  <a:pt x="88755" y="50961"/>
                  <a:pt x="93038" y="49948"/>
                  <a:pt x="96308" y="52003"/>
                </a:cubicBezTo>
                <a:cubicBezTo>
                  <a:pt x="99578" y="54058"/>
                  <a:pt x="100562" y="58312"/>
                  <a:pt x="98508" y="61582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/>
          <p:nvPr/>
        </p:nvSpPr>
        <p:spPr>
          <a:xfrm>
            <a:off x="8725958" y="8404754"/>
            <a:ext cx="814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可解释性强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1265" y="441265"/>
            <a:ext cx="2614906" cy="359550"/>
          </a:xfrm>
          <a:custGeom>
            <a:avLst/>
            <a:gdLst/>
            <a:ahLst/>
            <a:cxnLst/>
            <a:rect l="l" t="t" r="r" b="b"/>
            <a:pathLst>
              <a:path w="2614906" h="359550">
                <a:moveTo>
                  <a:pt x="43581" y="0"/>
                </a:moveTo>
                <a:lnTo>
                  <a:pt x="2571325" y="0"/>
                </a:lnTo>
                <a:cubicBezTo>
                  <a:pt x="2595394" y="0"/>
                  <a:pt x="2614906" y="19512"/>
                  <a:pt x="2614906" y="43581"/>
                </a:cubicBezTo>
                <a:lnTo>
                  <a:pt x="2614906" y="315969"/>
                </a:lnTo>
                <a:cubicBezTo>
                  <a:pt x="2614906" y="340038"/>
                  <a:pt x="2595394" y="359550"/>
                  <a:pt x="2571325" y="359550"/>
                </a:cubicBezTo>
                <a:lnTo>
                  <a:pt x="43581" y="359550"/>
                </a:lnTo>
                <a:cubicBezTo>
                  <a:pt x="19512" y="359550"/>
                  <a:pt x="0" y="340038"/>
                  <a:pt x="0" y="315969"/>
                </a:cubicBezTo>
                <a:lnTo>
                  <a:pt x="0" y="43581"/>
                </a:lnTo>
                <a:cubicBezTo>
                  <a:pt x="0" y="19528"/>
                  <a:pt x="19528" y="0"/>
                  <a:pt x="43581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 w="12700">
            <a:solidFill>
              <a:srgbClr val="5F87A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77458" y="506638"/>
            <a:ext cx="2432237" cy="228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3" kern="0" spc="69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RECOMMENDER SYSTEMS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35818" y="893426"/>
            <a:ext cx="15580483" cy="435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88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推荐系统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5818" y="1416408"/>
            <a:ext cx="15471528" cy="26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个性化推荐的核心算法与技术（对应章节：Ch-12）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1265" y="1815527"/>
            <a:ext cx="7572332" cy="4935635"/>
          </a:xfrm>
          <a:custGeom>
            <a:avLst/>
            <a:gdLst/>
            <a:ahLst/>
            <a:cxnLst/>
            <a:rect l="l" t="t" r="r" b="b"/>
            <a:pathLst>
              <a:path w="7572332" h="4935635">
                <a:moveTo>
                  <a:pt x="130745" y="0"/>
                </a:moveTo>
                <a:lnTo>
                  <a:pt x="7441587" y="0"/>
                </a:lnTo>
                <a:cubicBezTo>
                  <a:pt x="7513796" y="0"/>
                  <a:pt x="7572332" y="58537"/>
                  <a:pt x="7572332" y="130745"/>
                </a:cubicBezTo>
                <a:lnTo>
                  <a:pt x="7572332" y="4804890"/>
                </a:lnTo>
                <a:cubicBezTo>
                  <a:pt x="7572332" y="4877099"/>
                  <a:pt x="7513796" y="4935635"/>
                  <a:pt x="7441587" y="4935635"/>
                </a:cubicBezTo>
                <a:lnTo>
                  <a:pt x="130745" y="4935635"/>
                </a:lnTo>
                <a:cubicBezTo>
                  <a:pt x="58537" y="4935635"/>
                  <a:pt x="0" y="4877099"/>
                  <a:pt x="0" y="4804890"/>
                </a:cubicBezTo>
                <a:lnTo>
                  <a:pt x="0" y="130745"/>
                </a:lnTo>
                <a:cubicBezTo>
                  <a:pt x="0" y="58585"/>
                  <a:pt x="58585" y="0"/>
                  <a:pt x="130745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08204" y="2082465"/>
            <a:ext cx="522981" cy="522981"/>
          </a:xfrm>
          <a:custGeom>
            <a:avLst/>
            <a:gdLst/>
            <a:ahLst/>
            <a:cxnLst/>
            <a:rect l="l" t="t" r="r" b="b"/>
            <a:pathLst>
              <a:path w="522981" h="522981">
                <a:moveTo>
                  <a:pt x="87165" y="0"/>
                </a:moveTo>
                <a:lnTo>
                  <a:pt x="435816" y="0"/>
                </a:lnTo>
                <a:cubicBezTo>
                  <a:pt x="483924" y="0"/>
                  <a:pt x="522981" y="39057"/>
                  <a:pt x="522981" y="87165"/>
                </a:cubicBezTo>
                <a:lnTo>
                  <a:pt x="522981" y="435816"/>
                </a:lnTo>
                <a:cubicBezTo>
                  <a:pt x="522981" y="483956"/>
                  <a:pt x="483956" y="522981"/>
                  <a:pt x="435816" y="522981"/>
                </a:cubicBezTo>
                <a:lnTo>
                  <a:pt x="87165" y="522981"/>
                </a:lnTo>
                <a:cubicBezTo>
                  <a:pt x="39025" y="522981"/>
                  <a:pt x="0" y="483956"/>
                  <a:pt x="0" y="435816"/>
                </a:cubicBezTo>
                <a:lnTo>
                  <a:pt x="0" y="87165"/>
                </a:lnTo>
                <a:cubicBezTo>
                  <a:pt x="0" y="39057"/>
                  <a:pt x="39057" y="0"/>
                  <a:pt x="87165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33501" y="2235001"/>
            <a:ext cx="272386" cy="217909"/>
          </a:xfrm>
          <a:custGeom>
            <a:avLst/>
            <a:gdLst/>
            <a:ahLst/>
            <a:cxnLst/>
            <a:rect l="l" t="t" r="r" b="b"/>
            <a:pathLst>
              <a:path w="272386" h="217909">
                <a:moveTo>
                  <a:pt x="136193" y="6810"/>
                </a:moveTo>
                <a:cubicBezTo>
                  <a:pt x="160622" y="6810"/>
                  <a:pt x="180456" y="26643"/>
                  <a:pt x="180456" y="51072"/>
                </a:cubicBezTo>
                <a:cubicBezTo>
                  <a:pt x="180456" y="75502"/>
                  <a:pt x="160622" y="95335"/>
                  <a:pt x="136193" y="95335"/>
                </a:cubicBezTo>
                <a:cubicBezTo>
                  <a:pt x="111764" y="95335"/>
                  <a:pt x="91930" y="75502"/>
                  <a:pt x="91930" y="51072"/>
                </a:cubicBezTo>
                <a:cubicBezTo>
                  <a:pt x="91930" y="26643"/>
                  <a:pt x="111764" y="6810"/>
                  <a:pt x="136193" y="6810"/>
                </a:cubicBezTo>
                <a:close/>
                <a:moveTo>
                  <a:pt x="40858" y="37453"/>
                </a:moveTo>
                <a:cubicBezTo>
                  <a:pt x="57770" y="37453"/>
                  <a:pt x="71501" y="51184"/>
                  <a:pt x="71501" y="68097"/>
                </a:cubicBezTo>
                <a:cubicBezTo>
                  <a:pt x="71501" y="85009"/>
                  <a:pt x="57770" y="98740"/>
                  <a:pt x="40858" y="98740"/>
                </a:cubicBezTo>
                <a:cubicBezTo>
                  <a:pt x="23945" y="98740"/>
                  <a:pt x="10214" y="85009"/>
                  <a:pt x="10214" y="68097"/>
                </a:cubicBezTo>
                <a:cubicBezTo>
                  <a:pt x="10214" y="51184"/>
                  <a:pt x="23945" y="37453"/>
                  <a:pt x="40858" y="37453"/>
                </a:cubicBezTo>
                <a:close/>
                <a:moveTo>
                  <a:pt x="0" y="177051"/>
                </a:moveTo>
                <a:cubicBezTo>
                  <a:pt x="0" y="146961"/>
                  <a:pt x="24387" y="122574"/>
                  <a:pt x="54477" y="122574"/>
                </a:cubicBezTo>
                <a:cubicBezTo>
                  <a:pt x="59925" y="122574"/>
                  <a:pt x="65202" y="123382"/>
                  <a:pt x="70182" y="124872"/>
                </a:cubicBezTo>
                <a:cubicBezTo>
                  <a:pt x="56180" y="140534"/>
                  <a:pt x="47668" y="161218"/>
                  <a:pt x="47668" y="183861"/>
                </a:cubicBezTo>
                <a:lnTo>
                  <a:pt x="47668" y="190670"/>
                </a:lnTo>
                <a:cubicBezTo>
                  <a:pt x="47668" y="195522"/>
                  <a:pt x="48689" y="200119"/>
                  <a:pt x="50519" y="204290"/>
                </a:cubicBezTo>
                <a:lnTo>
                  <a:pt x="13619" y="204290"/>
                </a:lnTo>
                <a:cubicBezTo>
                  <a:pt x="6086" y="204290"/>
                  <a:pt x="0" y="198203"/>
                  <a:pt x="0" y="190670"/>
                </a:cubicBezTo>
                <a:lnTo>
                  <a:pt x="0" y="177051"/>
                </a:lnTo>
                <a:close/>
                <a:moveTo>
                  <a:pt x="221867" y="204290"/>
                </a:moveTo>
                <a:cubicBezTo>
                  <a:pt x="223697" y="200119"/>
                  <a:pt x="224718" y="195522"/>
                  <a:pt x="224718" y="190670"/>
                </a:cubicBezTo>
                <a:lnTo>
                  <a:pt x="224718" y="183861"/>
                </a:lnTo>
                <a:cubicBezTo>
                  <a:pt x="224718" y="161218"/>
                  <a:pt x="216206" y="140534"/>
                  <a:pt x="202204" y="124872"/>
                </a:cubicBezTo>
                <a:cubicBezTo>
                  <a:pt x="207184" y="123382"/>
                  <a:pt x="212461" y="122574"/>
                  <a:pt x="217909" y="122574"/>
                </a:cubicBezTo>
                <a:cubicBezTo>
                  <a:pt x="247999" y="122574"/>
                  <a:pt x="272386" y="146961"/>
                  <a:pt x="272386" y="177051"/>
                </a:cubicBezTo>
                <a:lnTo>
                  <a:pt x="272386" y="190670"/>
                </a:lnTo>
                <a:cubicBezTo>
                  <a:pt x="272386" y="198203"/>
                  <a:pt x="266300" y="204290"/>
                  <a:pt x="258767" y="204290"/>
                </a:cubicBezTo>
                <a:lnTo>
                  <a:pt x="221867" y="204290"/>
                </a:lnTo>
                <a:close/>
                <a:moveTo>
                  <a:pt x="200885" y="68097"/>
                </a:moveTo>
                <a:cubicBezTo>
                  <a:pt x="200885" y="51184"/>
                  <a:pt x="214616" y="37453"/>
                  <a:pt x="231528" y="37453"/>
                </a:cubicBezTo>
                <a:cubicBezTo>
                  <a:pt x="248441" y="37453"/>
                  <a:pt x="262172" y="51184"/>
                  <a:pt x="262172" y="68097"/>
                </a:cubicBezTo>
                <a:cubicBezTo>
                  <a:pt x="262172" y="85009"/>
                  <a:pt x="248441" y="98740"/>
                  <a:pt x="231528" y="98740"/>
                </a:cubicBezTo>
                <a:cubicBezTo>
                  <a:pt x="214616" y="98740"/>
                  <a:pt x="200885" y="85009"/>
                  <a:pt x="200885" y="68097"/>
                </a:cubicBezTo>
                <a:close/>
                <a:moveTo>
                  <a:pt x="68097" y="183861"/>
                </a:moveTo>
                <a:cubicBezTo>
                  <a:pt x="68097" y="146237"/>
                  <a:pt x="98570" y="115764"/>
                  <a:pt x="136193" y="115764"/>
                </a:cubicBezTo>
                <a:cubicBezTo>
                  <a:pt x="173816" y="115764"/>
                  <a:pt x="204290" y="146237"/>
                  <a:pt x="204290" y="183861"/>
                </a:cubicBezTo>
                <a:lnTo>
                  <a:pt x="204290" y="190670"/>
                </a:lnTo>
                <a:cubicBezTo>
                  <a:pt x="204290" y="198203"/>
                  <a:pt x="198203" y="204290"/>
                  <a:pt x="190670" y="204290"/>
                </a:cubicBezTo>
                <a:lnTo>
                  <a:pt x="81716" y="204290"/>
                </a:lnTo>
                <a:cubicBezTo>
                  <a:pt x="74183" y="204290"/>
                  <a:pt x="68097" y="198203"/>
                  <a:pt x="68097" y="190670"/>
                </a:cubicBezTo>
                <a:lnTo>
                  <a:pt x="68097" y="183861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361930" y="2169629"/>
            <a:ext cx="1176708" cy="348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59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协同过滤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8204" y="2779773"/>
            <a:ext cx="7125619" cy="283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基于</a:t>
            </a:r>
            <a:r>
              <a:rPr lang="en-US" sz="137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用户行为数据</a:t>
            </a:r>
            <a:r>
              <a:rPr lang="en-US" sz="137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进行推荐，假设相似用户喜欢相似物品。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29995" y="3237382"/>
            <a:ext cx="7016665" cy="1558048"/>
          </a:xfrm>
          <a:custGeom>
            <a:avLst/>
            <a:gdLst/>
            <a:ahLst/>
            <a:cxnLst/>
            <a:rect l="l" t="t" r="r" b="b"/>
            <a:pathLst>
              <a:path w="7016665" h="1558048">
                <a:moveTo>
                  <a:pt x="43582" y="0"/>
                </a:moveTo>
                <a:lnTo>
                  <a:pt x="6929508" y="0"/>
                </a:lnTo>
                <a:cubicBezTo>
                  <a:pt x="6977643" y="0"/>
                  <a:pt x="7016665" y="39022"/>
                  <a:pt x="7016665" y="87157"/>
                </a:cubicBezTo>
                <a:lnTo>
                  <a:pt x="7016665" y="1470891"/>
                </a:lnTo>
                <a:cubicBezTo>
                  <a:pt x="7016665" y="1519027"/>
                  <a:pt x="6977643" y="1558048"/>
                  <a:pt x="6929508" y="1558048"/>
                </a:cubicBezTo>
                <a:lnTo>
                  <a:pt x="43582" y="1558048"/>
                </a:lnTo>
                <a:cubicBezTo>
                  <a:pt x="19512" y="1558048"/>
                  <a:pt x="0" y="1538536"/>
                  <a:pt x="0" y="1514466"/>
                </a:cubicBezTo>
                <a:lnTo>
                  <a:pt x="0" y="43582"/>
                </a:lnTo>
                <a:cubicBezTo>
                  <a:pt x="0" y="19528"/>
                  <a:pt x="19528" y="0"/>
                  <a:pt x="4358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29995" y="3237382"/>
            <a:ext cx="43582" cy="1558048"/>
          </a:xfrm>
          <a:custGeom>
            <a:avLst/>
            <a:gdLst/>
            <a:ahLst/>
            <a:cxnLst/>
            <a:rect l="l" t="t" r="r" b="b"/>
            <a:pathLst>
              <a:path w="43582" h="1558048">
                <a:moveTo>
                  <a:pt x="43582" y="0"/>
                </a:moveTo>
                <a:lnTo>
                  <a:pt x="43582" y="0"/>
                </a:lnTo>
                <a:lnTo>
                  <a:pt x="43582" y="1558048"/>
                </a:lnTo>
                <a:lnTo>
                  <a:pt x="43582" y="1558048"/>
                </a:lnTo>
                <a:cubicBezTo>
                  <a:pt x="19512" y="1558048"/>
                  <a:pt x="0" y="1538536"/>
                  <a:pt x="0" y="1514466"/>
                </a:cubicBezTo>
                <a:lnTo>
                  <a:pt x="0" y="43582"/>
                </a:lnTo>
                <a:cubicBezTo>
                  <a:pt x="0" y="19528"/>
                  <a:pt x="19528" y="0"/>
                  <a:pt x="43582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26113" y="3411709"/>
            <a:ext cx="6744279" cy="3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4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User-CF</a:t>
            </a:r>
            <a:r>
              <a:rPr lang="en-US" sz="1544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(基于用户)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6113" y="3803945"/>
            <a:ext cx="6722488" cy="250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1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找到与目标用户相似的用户群体，推荐他们喜欢的物品。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6113" y="4138980"/>
            <a:ext cx="6722488" cy="21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1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适合用户量较少的场景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6113" y="4400470"/>
            <a:ext cx="6722488" cy="21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1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冷启动问题：新用户难以推荐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9995" y="4923452"/>
            <a:ext cx="7016665" cy="1558048"/>
          </a:xfrm>
          <a:custGeom>
            <a:avLst/>
            <a:gdLst/>
            <a:ahLst/>
            <a:cxnLst/>
            <a:rect l="l" t="t" r="r" b="b"/>
            <a:pathLst>
              <a:path w="7016665" h="1558048">
                <a:moveTo>
                  <a:pt x="43582" y="0"/>
                </a:moveTo>
                <a:lnTo>
                  <a:pt x="6929508" y="0"/>
                </a:lnTo>
                <a:cubicBezTo>
                  <a:pt x="6977643" y="0"/>
                  <a:pt x="7016665" y="39022"/>
                  <a:pt x="7016665" y="87157"/>
                </a:cubicBezTo>
                <a:lnTo>
                  <a:pt x="7016665" y="1470891"/>
                </a:lnTo>
                <a:cubicBezTo>
                  <a:pt x="7016665" y="1519027"/>
                  <a:pt x="6977643" y="1558048"/>
                  <a:pt x="6929508" y="1558048"/>
                </a:cubicBezTo>
                <a:lnTo>
                  <a:pt x="43582" y="1558048"/>
                </a:lnTo>
                <a:cubicBezTo>
                  <a:pt x="19512" y="1558048"/>
                  <a:pt x="0" y="1538536"/>
                  <a:pt x="0" y="1514466"/>
                </a:cubicBezTo>
                <a:lnTo>
                  <a:pt x="0" y="43582"/>
                </a:lnTo>
                <a:cubicBezTo>
                  <a:pt x="0" y="19528"/>
                  <a:pt x="19528" y="0"/>
                  <a:pt x="4358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729995" y="4923452"/>
            <a:ext cx="43582" cy="1558048"/>
          </a:xfrm>
          <a:custGeom>
            <a:avLst/>
            <a:gdLst/>
            <a:ahLst/>
            <a:cxnLst/>
            <a:rect l="l" t="t" r="r" b="b"/>
            <a:pathLst>
              <a:path w="43582" h="1558048">
                <a:moveTo>
                  <a:pt x="43582" y="0"/>
                </a:moveTo>
                <a:lnTo>
                  <a:pt x="43582" y="0"/>
                </a:lnTo>
                <a:lnTo>
                  <a:pt x="43582" y="1558048"/>
                </a:lnTo>
                <a:lnTo>
                  <a:pt x="43582" y="1558048"/>
                </a:lnTo>
                <a:cubicBezTo>
                  <a:pt x="19512" y="1558048"/>
                  <a:pt x="0" y="1538536"/>
                  <a:pt x="0" y="1514466"/>
                </a:cubicBezTo>
                <a:lnTo>
                  <a:pt x="0" y="43582"/>
                </a:lnTo>
                <a:cubicBezTo>
                  <a:pt x="0" y="19528"/>
                  <a:pt x="19528" y="0"/>
                  <a:pt x="43582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26113" y="5097779"/>
            <a:ext cx="6744279" cy="3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4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Item-CF</a:t>
            </a:r>
            <a:r>
              <a:rPr lang="en-US" sz="1544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(基于物品)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6113" y="5490015"/>
            <a:ext cx="6722488" cy="250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1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计算物品间的相似度，推荐与用户历史偏好相似的物品。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6113" y="5825049"/>
            <a:ext cx="6722488" cy="21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1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适合物品量较少的场景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6113" y="6086540"/>
            <a:ext cx="6722488" cy="21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1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可解释性强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1265" y="6930937"/>
            <a:ext cx="7572332" cy="2102820"/>
          </a:xfrm>
          <a:custGeom>
            <a:avLst/>
            <a:gdLst/>
            <a:ahLst/>
            <a:cxnLst/>
            <a:rect l="l" t="t" r="r" b="b"/>
            <a:pathLst>
              <a:path w="7572332" h="2102820">
                <a:moveTo>
                  <a:pt x="130753" y="0"/>
                </a:moveTo>
                <a:lnTo>
                  <a:pt x="7441579" y="0"/>
                </a:lnTo>
                <a:cubicBezTo>
                  <a:pt x="7513792" y="0"/>
                  <a:pt x="7572332" y="58540"/>
                  <a:pt x="7572332" y="130753"/>
                </a:cubicBezTo>
                <a:lnTo>
                  <a:pt x="7572332" y="1972067"/>
                </a:lnTo>
                <a:cubicBezTo>
                  <a:pt x="7572332" y="2044280"/>
                  <a:pt x="7513792" y="2102820"/>
                  <a:pt x="7441579" y="2102820"/>
                </a:cubicBezTo>
                <a:lnTo>
                  <a:pt x="130753" y="2102820"/>
                </a:lnTo>
                <a:cubicBezTo>
                  <a:pt x="58540" y="2102820"/>
                  <a:pt x="0" y="2044280"/>
                  <a:pt x="0" y="1972067"/>
                </a:cubicBezTo>
                <a:lnTo>
                  <a:pt x="0" y="130753"/>
                </a:lnTo>
                <a:cubicBezTo>
                  <a:pt x="0" y="58540"/>
                  <a:pt x="58540" y="0"/>
                  <a:pt x="130753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6ED3CF">
                  <a:alpha val="5000"/>
                </a:srgbClr>
              </a:gs>
            </a:gsLst>
            <a:lin ang="2700000" scaled="1"/>
          </a:gradFill>
          <a:ln w="12700">
            <a:solidFill>
              <a:srgbClr val="6ED3C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91861" y="7208771"/>
            <a:ext cx="196118" cy="196118"/>
          </a:xfrm>
          <a:custGeom>
            <a:avLst/>
            <a:gdLst/>
            <a:ahLst/>
            <a:cxnLst/>
            <a:rect l="l" t="t" r="r" b="b"/>
            <a:pathLst>
              <a:path w="196118" h="196118">
                <a:moveTo>
                  <a:pt x="12257" y="12257"/>
                </a:moveTo>
                <a:cubicBezTo>
                  <a:pt x="19037" y="12257"/>
                  <a:pt x="24515" y="17735"/>
                  <a:pt x="24515" y="24515"/>
                </a:cubicBezTo>
                <a:lnTo>
                  <a:pt x="24515" y="153217"/>
                </a:lnTo>
                <a:cubicBezTo>
                  <a:pt x="24515" y="156588"/>
                  <a:pt x="27273" y="159346"/>
                  <a:pt x="30643" y="159346"/>
                </a:cubicBezTo>
                <a:lnTo>
                  <a:pt x="183861" y="159346"/>
                </a:lnTo>
                <a:cubicBezTo>
                  <a:pt x="190640" y="159346"/>
                  <a:pt x="196118" y="164823"/>
                  <a:pt x="196118" y="171603"/>
                </a:cubicBezTo>
                <a:cubicBezTo>
                  <a:pt x="196118" y="178383"/>
                  <a:pt x="190640" y="183861"/>
                  <a:pt x="183861" y="183861"/>
                </a:cubicBezTo>
                <a:lnTo>
                  <a:pt x="30643" y="183861"/>
                </a:lnTo>
                <a:cubicBezTo>
                  <a:pt x="13713" y="183861"/>
                  <a:pt x="0" y="170148"/>
                  <a:pt x="0" y="153217"/>
                </a:cubicBezTo>
                <a:lnTo>
                  <a:pt x="0" y="24515"/>
                </a:lnTo>
                <a:cubicBezTo>
                  <a:pt x="0" y="17735"/>
                  <a:pt x="5478" y="12257"/>
                  <a:pt x="12257" y="12257"/>
                </a:cubicBezTo>
                <a:close/>
                <a:moveTo>
                  <a:pt x="49029" y="36772"/>
                </a:moveTo>
                <a:cubicBezTo>
                  <a:pt x="49029" y="29992"/>
                  <a:pt x="54507" y="24515"/>
                  <a:pt x="61287" y="24515"/>
                </a:cubicBezTo>
                <a:lnTo>
                  <a:pt x="134831" y="24515"/>
                </a:lnTo>
                <a:cubicBezTo>
                  <a:pt x="141611" y="24515"/>
                  <a:pt x="147088" y="29992"/>
                  <a:pt x="147088" y="36772"/>
                </a:cubicBezTo>
                <a:cubicBezTo>
                  <a:pt x="147088" y="43552"/>
                  <a:pt x="141611" y="49029"/>
                  <a:pt x="134831" y="49029"/>
                </a:cubicBezTo>
                <a:lnTo>
                  <a:pt x="61287" y="49029"/>
                </a:lnTo>
                <a:cubicBezTo>
                  <a:pt x="54507" y="49029"/>
                  <a:pt x="49029" y="43552"/>
                  <a:pt x="49029" y="36772"/>
                </a:cubicBezTo>
                <a:close/>
                <a:moveTo>
                  <a:pt x="61287" y="67416"/>
                </a:moveTo>
                <a:lnTo>
                  <a:pt x="110316" y="67416"/>
                </a:lnTo>
                <a:cubicBezTo>
                  <a:pt x="117096" y="67416"/>
                  <a:pt x="122574" y="72893"/>
                  <a:pt x="122574" y="79673"/>
                </a:cubicBezTo>
                <a:cubicBezTo>
                  <a:pt x="122574" y="86453"/>
                  <a:pt x="117096" y="91930"/>
                  <a:pt x="110316" y="91930"/>
                </a:cubicBezTo>
                <a:lnTo>
                  <a:pt x="61287" y="91930"/>
                </a:lnTo>
                <a:cubicBezTo>
                  <a:pt x="54507" y="91930"/>
                  <a:pt x="49029" y="86453"/>
                  <a:pt x="49029" y="79673"/>
                </a:cubicBezTo>
                <a:cubicBezTo>
                  <a:pt x="49029" y="72893"/>
                  <a:pt x="54507" y="67416"/>
                  <a:pt x="61287" y="67416"/>
                </a:cubicBezTo>
                <a:close/>
                <a:moveTo>
                  <a:pt x="61287" y="110316"/>
                </a:moveTo>
                <a:lnTo>
                  <a:pt x="159346" y="110316"/>
                </a:lnTo>
                <a:cubicBezTo>
                  <a:pt x="166126" y="110316"/>
                  <a:pt x="171603" y="115794"/>
                  <a:pt x="171603" y="122574"/>
                </a:cubicBezTo>
                <a:cubicBezTo>
                  <a:pt x="171603" y="129354"/>
                  <a:pt x="166126" y="134831"/>
                  <a:pt x="159346" y="134831"/>
                </a:cubicBezTo>
                <a:lnTo>
                  <a:pt x="61287" y="134831"/>
                </a:lnTo>
                <a:cubicBezTo>
                  <a:pt x="54507" y="134831"/>
                  <a:pt x="49029" y="129354"/>
                  <a:pt x="49029" y="122574"/>
                </a:cubicBezTo>
                <a:cubicBezTo>
                  <a:pt x="49029" y="115794"/>
                  <a:pt x="54507" y="110316"/>
                  <a:pt x="61287" y="110316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15217" y="7154293"/>
            <a:ext cx="6973083" cy="3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4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评估指标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64622" y="7590111"/>
            <a:ext cx="3519228" cy="566563"/>
          </a:xfrm>
          <a:custGeom>
            <a:avLst/>
            <a:gdLst/>
            <a:ahLst/>
            <a:cxnLst/>
            <a:rect l="l" t="t" r="r" b="b"/>
            <a:pathLst>
              <a:path w="3519228" h="566563">
                <a:moveTo>
                  <a:pt x="87166" y="0"/>
                </a:moveTo>
                <a:lnTo>
                  <a:pt x="3432062" y="0"/>
                </a:lnTo>
                <a:cubicBezTo>
                  <a:pt x="3480202" y="0"/>
                  <a:pt x="3519228" y="39025"/>
                  <a:pt x="3519228" y="87166"/>
                </a:cubicBezTo>
                <a:lnTo>
                  <a:pt x="3519228" y="479397"/>
                </a:lnTo>
                <a:cubicBezTo>
                  <a:pt x="3519228" y="527538"/>
                  <a:pt x="3480202" y="566563"/>
                  <a:pt x="3432062" y="566563"/>
                </a:cubicBezTo>
                <a:lnTo>
                  <a:pt x="87166" y="566563"/>
                </a:lnTo>
                <a:cubicBezTo>
                  <a:pt x="39025" y="566563"/>
                  <a:pt x="0" y="527538"/>
                  <a:pt x="0" y="479397"/>
                </a:cubicBezTo>
                <a:lnTo>
                  <a:pt x="0" y="87166"/>
                </a:lnTo>
                <a:cubicBezTo>
                  <a:pt x="0" y="39058"/>
                  <a:pt x="39058" y="0"/>
                  <a:pt x="8716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713651" y="7677275"/>
            <a:ext cx="3421169" cy="21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1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Precision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19099" y="7895184"/>
            <a:ext cx="3410273" cy="174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29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精确率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69737" y="7590111"/>
            <a:ext cx="3519228" cy="566563"/>
          </a:xfrm>
          <a:custGeom>
            <a:avLst/>
            <a:gdLst/>
            <a:ahLst/>
            <a:cxnLst/>
            <a:rect l="l" t="t" r="r" b="b"/>
            <a:pathLst>
              <a:path w="3519228" h="566563">
                <a:moveTo>
                  <a:pt x="87166" y="0"/>
                </a:moveTo>
                <a:lnTo>
                  <a:pt x="3432062" y="0"/>
                </a:lnTo>
                <a:cubicBezTo>
                  <a:pt x="3480202" y="0"/>
                  <a:pt x="3519228" y="39025"/>
                  <a:pt x="3519228" y="87166"/>
                </a:cubicBezTo>
                <a:lnTo>
                  <a:pt x="3519228" y="479397"/>
                </a:lnTo>
                <a:cubicBezTo>
                  <a:pt x="3519228" y="527538"/>
                  <a:pt x="3480202" y="566563"/>
                  <a:pt x="3432062" y="566563"/>
                </a:cubicBezTo>
                <a:lnTo>
                  <a:pt x="87166" y="566563"/>
                </a:lnTo>
                <a:cubicBezTo>
                  <a:pt x="39025" y="566563"/>
                  <a:pt x="0" y="527538"/>
                  <a:pt x="0" y="479397"/>
                </a:cubicBezTo>
                <a:lnTo>
                  <a:pt x="0" y="87166"/>
                </a:lnTo>
                <a:cubicBezTo>
                  <a:pt x="0" y="39058"/>
                  <a:pt x="39058" y="0"/>
                  <a:pt x="8716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318766" y="7677275"/>
            <a:ext cx="3421169" cy="21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1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Recall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324214" y="7895184"/>
            <a:ext cx="3410273" cy="174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29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召回率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64622" y="8243838"/>
            <a:ext cx="3519228" cy="566563"/>
          </a:xfrm>
          <a:custGeom>
            <a:avLst/>
            <a:gdLst/>
            <a:ahLst/>
            <a:cxnLst/>
            <a:rect l="l" t="t" r="r" b="b"/>
            <a:pathLst>
              <a:path w="3519228" h="566563">
                <a:moveTo>
                  <a:pt x="87166" y="0"/>
                </a:moveTo>
                <a:lnTo>
                  <a:pt x="3432062" y="0"/>
                </a:lnTo>
                <a:cubicBezTo>
                  <a:pt x="3480202" y="0"/>
                  <a:pt x="3519228" y="39025"/>
                  <a:pt x="3519228" y="87166"/>
                </a:cubicBezTo>
                <a:lnTo>
                  <a:pt x="3519228" y="479397"/>
                </a:lnTo>
                <a:cubicBezTo>
                  <a:pt x="3519228" y="527538"/>
                  <a:pt x="3480202" y="566563"/>
                  <a:pt x="3432062" y="566563"/>
                </a:cubicBezTo>
                <a:lnTo>
                  <a:pt x="87166" y="566563"/>
                </a:lnTo>
                <a:cubicBezTo>
                  <a:pt x="39025" y="566563"/>
                  <a:pt x="0" y="527538"/>
                  <a:pt x="0" y="479397"/>
                </a:cubicBezTo>
                <a:lnTo>
                  <a:pt x="0" y="87166"/>
                </a:lnTo>
                <a:cubicBezTo>
                  <a:pt x="0" y="39058"/>
                  <a:pt x="39058" y="0"/>
                  <a:pt x="8716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713651" y="8331001"/>
            <a:ext cx="3421169" cy="21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1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Coverage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19099" y="8548910"/>
            <a:ext cx="3410273" cy="174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29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覆盖率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269737" y="8243838"/>
            <a:ext cx="3519228" cy="566563"/>
          </a:xfrm>
          <a:custGeom>
            <a:avLst/>
            <a:gdLst/>
            <a:ahLst/>
            <a:cxnLst/>
            <a:rect l="l" t="t" r="r" b="b"/>
            <a:pathLst>
              <a:path w="3519228" h="566563">
                <a:moveTo>
                  <a:pt x="87166" y="0"/>
                </a:moveTo>
                <a:lnTo>
                  <a:pt x="3432062" y="0"/>
                </a:lnTo>
                <a:cubicBezTo>
                  <a:pt x="3480202" y="0"/>
                  <a:pt x="3519228" y="39025"/>
                  <a:pt x="3519228" y="87166"/>
                </a:cubicBezTo>
                <a:lnTo>
                  <a:pt x="3519228" y="479397"/>
                </a:lnTo>
                <a:cubicBezTo>
                  <a:pt x="3519228" y="527538"/>
                  <a:pt x="3480202" y="566563"/>
                  <a:pt x="3432062" y="566563"/>
                </a:cubicBezTo>
                <a:lnTo>
                  <a:pt x="87166" y="566563"/>
                </a:lnTo>
                <a:cubicBezTo>
                  <a:pt x="39025" y="566563"/>
                  <a:pt x="0" y="527538"/>
                  <a:pt x="0" y="479397"/>
                </a:cubicBezTo>
                <a:lnTo>
                  <a:pt x="0" y="87166"/>
                </a:lnTo>
                <a:cubicBezTo>
                  <a:pt x="0" y="39058"/>
                  <a:pt x="39058" y="0"/>
                  <a:pt x="8716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4318766" y="8331001"/>
            <a:ext cx="3421169" cy="21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1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Diversity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324214" y="8548910"/>
            <a:ext cx="3410273" cy="174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29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多样性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39934" y="1815527"/>
            <a:ext cx="7572332" cy="4597877"/>
          </a:xfrm>
          <a:custGeom>
            <a:avLst/>
            <a:gdLst/>
            <a:ahLst/>
            <a:cxnLst/>
            <a:rect l="l" t="t" r="r" b="b"/>
            <a:pathLst>
              <a:path w="7572332" h="4597877">
                <a:moveTo>
                  <a:pt x="130764" y="0"/>
                </a:moveTo>
                <a:lnTo>
                  <a:pt x="7441569" y="0"/>
                </a:lnTo>
                <a:cubicBezTo>
                  <a:pt x="7513788" y="0"/>
                  <a:pt x="7572332" y="58545"/>
                  <a:pt x="7572332" y="130764"/>
                </a:cubicBezTo>
                <a:lnTo>
                  <a:pt x="7572332" y="4467113"/>
                </a:lnTo>
                <a:cubicBezTo>
                  <a:pt x="7572332" y="4539332"/>
                  <a:pt x="7513788" y="4597877"/>
                  <a:pt x="7441569" y="4597877"/>
                </a:cubicBezTo>
                <a:lnTo>
                  <a:pt x="130764" y="4597877"/>
                </a:lnTo>
                <a:cubicBezTo>
                  <a:pt x="58545" y="4597877"/>
                  <a:pt x="0" y="4539332"/>
                  <a:pt x="0" y="4467113"/>
                </a:cubicBezTo>
                <a:lnTo>
                  <a:pt x="0" y="130764"/>
                </a:lnTo>
                <a:cubicBezTo>
                  <a:pt x="0" y="58545"/>
                  <a:pt x="58545" y="0"/>
                  <a:pt x="130764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8506872" y="2082465"/>
            <a:ext cx="522981" cy="522981"/>
          </a:xfrm>
          <a:custGeom>
            <a:avLst/>
            <a:gdLst/>
            <a:ahLst/>
            <a:cxnLst/>
            <a:rect l="l" t="t" r="r" b="b"/>
            <a:pathLst>
              <a:path w="522981" h="522981">
                <a:moveTo>
                  <a:pt x="87165" y="0"/>
                </a:moveTo>
                <a:lnTo>
                  <a:pt x="435816" y="0"/>
                </a:lnTo>
                <a:cubicBezTo>
                  <a:pt x="483924" y="0"/>
                  <a:pt x="522981" y="39057"/>
                  <a:pt x="522981" y="87165"/>
                </a:cubicBezTo>
                <a:lnTo>
                  <a:pt x="522981" y="435816"/>
                </a:lnTo>
                <a:cubicBezTo>
                  <a:pt x="522981" y="483956"/>
                  <a:pt x="483956" y="522981"/>
                  <a:pt x="435816" y="522981"/>
                </a:cubicBezTo>
                <a:lnTo>
                  <a:pt x="87165" y="522981"/>
                </a:lnTo>
                <a:cubicBezTo>
                  <a:pt x="39025" y="522981"/>
                  <a:pt x="0" y="483956"/>
                  <a:pt x="0" y="435816"/>
                </a:cubicBezTo>
                <a:lnTo>
                  <a:pt x="0" y="87165"/>
                </a:lnTo>
                <a:cubicBezTo>
                  <a:pt x="0" y="39057"/>
                  <a:pt x="39057" y="0"/>
                  <a:pt x="87165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8673027" y="2235001"/>
            <a:ext cx="190670" cy="217909"/>
          </a:xfrm>
          <a:custGeom>
            <a:avLst/>
            <a:gdLst/>
            <a:ahLst/>
            <a:cxnLst/>
            <a:rect l="l" t="t" r="r" b="b"/>
            <a:pathLst>
              <a:path w="190670" h="217909">
                <a:moveTo>
                  <a:pt x="163432" y="40858"/>
                </a:moveTo>
                <a:lnTo>
                  <a:pt x="163432" y="68097"/>
                </a:lnTo>
                <a:lnTo>
                  <a:pt x="136193" y="68097"/>
                </a:lnTo>
                <a:lnTo>
                  <a:pt x="136193" y="40858"/>
                </a:lnTo>
                <a:lnTo>
                  <a:pt x="163432" y="40858"/>
                </a:lnTo>
                <a:close/>
                <a:moveTo>
                  <a:pt x="163432" y="95335"/>
                </a:moveTo>
                <a:lnTo>
                  <a:pt x="163432" y="122574"/>
                </a:lnTo>
                <a:lnTo>
                  <a:pt x="136193" y="122574"/>
                </a:lnTo>
                <a:lnTo>
                  <a:pt x="136193" y="95335"/>
                </a:lnTo>
                <a:lnTo>
                  <a:pt x="163432" y="95335"/>
                </a:lnTo>
                <a:close/>
                <a:moveTo>
                  <a:pt x="163432" y="149812"/>
                </a:moveTo>
                <a:lnTo>
                  <a:pt x="163432" y="177051"/>
                </a:lnTo>
                <a:lnTo>
                  <a:pt x="136193" y="177051"/>
                </a:lnTo>
                <a:lnTo>
                  <a:pt x="136193" y="149812"/>
                </a:lnTo>
                <a:lnTo>
                  <a:pt x="163432" y="149812"/>
                </a:lnTo>
                <a:close/>
                <a:moveTo>
                  <a:pt x="108954" y="122574"/>
                </a:moveTo>
                <a:lnTo>
                  <a:pt x="81716" y="122574"/>
                </a:lnTo>
                <a:lnTo>
                  <a:pt x="81716" y="95335"/>
                </a:lnTo>
                <a:lnTo>
                  <a:pt x="108954" y="95335"/>
                </a:lnTo>
                <a:lnTo>
                  <a:pt x="108954" y="122574"/>
                </a:lnTo>
                <a:close/>
                <a:moveTo>
                  <a:pt x="81716" y="149812"/>
                </a:moveTo>
                <a:lnTo>
                  <a:pt x="108954" y="149812"/>
                </a:lnTo>
                <a:lnTo>
                  <a:pt x="108954" y="177051"/>
                </a:lnTo>
                <a:lnTo>
                  <a:pt x="81716" y="177051"/>
                </a:lnTo>
                <a:lnTo>
                  <a:pt x="81716" y="149812"/>
                </a:lnTo>
                <a:close/>
                <a:moveTo>
                  <a:pt x="54477" y="122574"/>
                </a:moveTo>
                <a:lnTo>
                  <a:pt x="27239" y="122574"/>
                </a:lnTo>
                <a:lnTo>
                  <a:pt x="27239" y="95335"/>
                </a:lnTo>
                <a:lnTo>
                  <a:pt x="54477" y="95335"/>
                </a:lnTo>
                <a:lnTo>
                  <a:pt x="54477" y="122574"/>
                </a:lnTo>
                <a:close/>
                <a:moveTo>
                  <a:pt x="27239" y="149812"/>
                </a:moveTo>
                <a:lnTo>
                  <a:pt x="54477" y="149812"/>
                </a:lnTo>
                <a:lnTo>
                  <a:pt x="54477" y="177051"/>
                </a:lnTo>
                <a:lnTo>
                  <a:pt x="27239" y="177051"/>
                </a:lnTo>
                <a:lnTo>
                  <a:pt x="27239" y="149812"/>
                </a:lnTo>
                <a:close/>
                <a:moveTo>
                  <a:pt x="27239" y="68097"/>
                </a:moveTo>
                <a:lnTo>
                  <a:pt x="27239" y="40858"/>
                </a:lnTo>
                <a:lnTo>
                  <a:pt x="54477" y="40858"/>
                </a:lnTo>
                <a:lnTo>
                  <a:pt x="54477" y="68097"/>
                </a:lnTo>
                <a:lnTo>
                  <a:pt x="27239" y="68097"/>
                </a:lnTo>
                <a:close/>
                <a:moveTo>
                  <a:pt x="81716" y="68097"/>
                </a:moveTo>
                <a:lnTo>
                  <a:pt x="81716" y="40858"/>
                </a:lnTo>
                <a:lnTo>
                  <a:pt x="108954" y="40858"/>
                </a:lnTo>
                <a:lnTo>
                  <a:pt x="108954" y="68097"/>
                </a:lnTo>
                <a:lnTo>
                  <a:pt x="81716" y="68097"/>
                </a:lnTo>
                <a:close/>
                <a:moveTo>
                  <a:pt x="27239" y="13619"/>
                </a:moveTo>
                <a:cubicBezTo>
                  <a:pt x="12215" y="13619"/>
                  <a:pt x="0" y="25834"/>
                  <a:pt x="0" y="40858"/>
                </a:cubicBezTo>
                <a:lnTo>
                  <a:pt x="0" y="177051"/>
                </a:lnTo>
                <a:cubicBezTo>
                  <a:pt x="0" y="192075"/>
                  <a:pt x="12215" y="204290"/>
                  <a:pt x="27239" y="204290"/>
                </a:cubicBezTo>
                <a:lnTo>
                  <a:pt x="163432" y="204290"/>
                </a:lnTo>
                <a:cubicBezTo>
                  <a:pt x="178455" y="204290"/>
                  <a:pt x="190670" y="192075"/>
                  <a:pt x="190670" y="177051"/>
                </a:cubicBezTo>
                <a:lnTo>
                  <a:pt x="190670" y="40858"/>
                </a:lnTo>
                <a:cubicBezTo>
                  <a:pt x="190670" y="25834"/>
                  <a:pt x="178455" y="13619"/>
                  <a:pt x="163432" y="13619"/>
                </a:cubicBezTo>
                <a:lnTo>
                  <a:pt x="27239" y="13619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9160599" y="2169629"/>
            <a:ext cx="1176708" cy="348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59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矩阵分解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506872" y="2779773"/>
            <a:ext cx="7125619" cy="283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将用户-物品评分矩阵分解为低维隐向量，捕捉用户和物品的潜在特征。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528663" y="3237382"/>
            <a:ext cx="7016665" cy="1427303"/>
          </a:xfrm>
          <a:custGeom>
            <a:avLst/>
            <a:gdLst/>
            <a:ahLst/>
            <a:cxnLst/>
            <a:rect l="l" t="t" r="r" b="b"/>
            <a:pathLst>
              <a:path w="7016665" h="1427303">
                <a:moveTo>
                  <a:pt x="43582" y="0"/>
                </a:moveTo>
                <a:lnTo>
                  <a:pt x="6929499" y="0"/>
                </a:lnTo>
                <a:cubicBezTo>
                  <a:pt x="6977640" y="0"/>
                  <a:pt x="7016665" y="39025"/>
                  <a:pt x="7016665" y="87165"/>
                </a:cubicBezTo>
                <a:lnTo>
                  <a:pt x="7016665" y="1340138"/>
                </a:lnTo>
                <a:cubicBezTo>
                  <a:pt x="7016665" y="1388278"/>
                  <a:pt x="6977640" y="1427303"/>
                  <a:pt x="6929499" y="1427303"/>
                </a:cubicBezTo>
                <a:lnTo>
                  <a:pt x="43582" y="1427303"/>
                </a:lnTo>
                <a:cubicBezTo>
                  <a:pt x="19512" y="1427303"/>
                  <a:pt x="0" y="1407791"/>
                  <a:pt x="0" y="1383721"/>
                </a:cubicBezTo>
                <a:lnTo>
                  <a:pt x="0" y="43582"/>
                </a:lnTo>
                <a:cubicBezTo>
                  <a:pt x="0" y="19528"/>
                  <a:pt x="19528" y="0"/>
                  <a:pt x="4358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8528663" y="3237382"/>
            <a:ext cx="43582" cy="1427303"/>
          </a:xfrm>
          <a:custGeom>
            <a:avLst/>
            <a:gdLst/>
            <a:ahLst/>
            <a:cxnLst/>
            <a:rect l="l" t="t" r="r" b="b"/>
            <a:pathLst>
              <a:path w="43582" h="1427303">
                <a:moveTo>
                  <a:pt x="43582" y="0"/>
                </a:moveTo>
                <a:lnTo>
                  <a:pt x="43582" y="0"/>
                </a:lnTo>
                <a:lnTo>
                  <a:pt x="43582" y="1427303"/>
                </a:lnTo>
                <a:lnTo>
                  <a:pt x="43582" y="1427303"/>
                </a:lnTo>
                <a:cubicBezTo>
                  <a:pt x="19512" y="1427303"/>
                  <a:pt x="0" y="1407791"/>
                  <a:pt x="0" y="1383721"/>
                </a:cubicBezTo>
                <a:lnTo>
                  <a:pt x="0" y="43582"/>
                </a:lnTo>
                <a:cubicBezTo>
                  <a:pt x="0" y="19528"/>
                  <a:pt x="19528" y="0"/>
                  <a:pt x="43582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8724781" y="3411709"/>
            <a:ext cx="6744279" cy="3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4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SVD</a:t>
            </a:r>
            <a:r>
              <a:rPr lang="en-US" sz="1544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奇异值分解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724781" y="3803945"/>
            <a:ext cx="6722488" cy="250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1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将稀疏的评分矩阵分解为三个矩阵的乘积。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724781" y="4138980"/>
            <a:ext cx="6646220" cy="348654"/>
          </a:xfrm>
          <a:custGeom>
            <a:avLst/>
            <a:gdLst/>
            <a:ahLst/>
            <a:cxnLst/>
            <a:rect l="l" t="t" r="r" b="b"/>
            <a:pathLst>
              <a:path w="6646220" h="348654">
                <a:moveTo>
                  <a:pt x="87164" y="0"/>
                </a:moveTo>
                <a:lnTo>
                  <a:pt x="6559056" y="0"/>
                </a:lnTo>
                <a:cubicBezTo>
                  <a:pt x="6607195" y="0"/>
                  <a:pt x="6646220" y="39024"/>
                  <a:pt x="6646220" y="87164"/>
                </a:cubicBezTo>
                <a:lnTo>
                  <a:pt x="6646220" y="261491"/>
                </a:lnTo>
                <a:cubicBezTo>
                  <a:pt x="6646220" y="309630"/>
                  <a:pt x="6607195" y="348654"/>
                  <a:pt x="6559056" y="348654"/>
                </a:cubicBezTo>
                <a:lnTo>
                  <a:pt x="87164" y="348654"/>
                </a:lnTo>
                <a:cubicBezTo>
                  <a:pt x="39024" y="348654"/>
                  <a:pt x="0" y="309630"/>
                  <a:pt x="0" y="261491"/>
                </a:cubicBezTo>
                <a:lnTo>
                  <a:pt x="0" y="87164"/>
                </a:lnTo>
                <a:cubicBezTo>
                  <a:pt x="0" y="39057"/>
                  <a:pt x="39057" y="0"/>
                  <a:pt x="87164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811944" y="4226143"/>
            <a:ext cx="6537265" cy="174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 ≈ U × Σ × Vᵀ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8506872" y="4792706"/>
            <a:ext cx="7038456" cy="1351035"/>
          </a:xfrm>
          <a:custGeom>
            <a:avLst/>
            <a:gdLst/>
            <a:ahLst/>
            <a:cxnLst/>
            <a:rect l="l" t="t" r="r" b="b"/>
            <a:pathLst>
              <a:path w="7038456" h="1351035">
                <a:moveTo>
                  <a:pt x="87169" y="0"/>
                </a:moveTo>
                <a:lnTo>
                  <a:pt x="6951287" y="0"/>
                </a:lnTo>
                <a:cubicBezTo>
                  <a:pt x="6999429" y="0"/>
                  <a:pt x="7038456" y="39027"/>
                  <a:pt x="7038456" y="87169"/>
                </a:cubicBezTo>
                <a:lnTo>
                  <a:pt x="7038456" y="1263866"/>
                </a:lnTo>
                <a:cubicBezTo>
                  <a:pt x="7038456" y="1312008"/>
                  <a:pt x="6999429" y="1351035"/>
                  <a:pt x="6951287" y="1351035"/>
                </a:cubicBezTo>
                <a:lnTo>
                  <a:pt x="87169" y="1351035"/>
                </a:lnTo>
                <a:cubicBezTo>
                  <a:pt x="39027" y="1351035"/>
                  <a:pt x="0" y="1312008"/>
                  <a:pt x="0" y="1263866"/>
                </a:cubicBezTo>
                <a:lnTo>
                  <a:pt x="0" y="87169"/>
                </a:lnTo>
                <a:cubicBezTo>
                  <a:pt x="0" y="39059"/>
                  <a:pt x="39059" y="0"/>
                  <a:pt x="8716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8637617" y="4923452"/>
            <a:ext cx="6864129" cy="26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优势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637617" y="5272106"/>
            <a:ext cx="6853233" cy="21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1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缓解数据稀疏性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637617" y="5533596"/>
            <a:ext cx="6853233" cy="21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1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发现隐藏因子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637617" y="5795087"/>
            <a:ext cx="6853233" cy="21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1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可扩展性强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39934" y="6595902"/>
            <a:ext cx="7572332" cy="2451475"/>
          </a:xfrm>
          <a:custGeom>
            <a:avLst/>
            <a:gdLst/>
            <a:ahLst/>
            <a:cxnLst/>
            <a:rect l="l" t="t" r="r" b="b"/>
            <a:pathLst>
              <a:path w="7572332" h="2451475">
                <a:moveTo>
                  <a:pt x="130737" y="0"/>
                </a:moveTo>
                <a:lnTo>
                  <a:pt x="7441595" y="0"/>
                </a:lnTo>
                <a:cubicBezTo>
                  <a:pt x="7513799" y="0"/>
                  <a:pt x="7572332" y="58533"/>
                  <a:pt x="7572332" y="130737"/>
                </a:cubicBezTo>
                <a:lnTo>
                  <a:pt x="7572332" y="2320737"/>
                </a:lnTo>
                <a:cubicBezTo>
                  <a:pt x="7572332" y="2392942"/>
                  <a:pt x="7513799" y="2451475"/>
                  <a:pt x="7441595" y="2451475"/>
                </a:cubicBezTo>
                <a:lnTo>
                  <a:pt x="130737" y="2451475"/>
                </a:lnTo>
                <a:cubicBezTo>
                  <a:pt x="58533" y="2451475"/>
                  <a:pt x="0" y="2392942"/>
                  <a:pt x="0" y="2320737"/>
                </a:cubicBezTo>
                <a:lnTo>
                  <a:pt x="0" y="130737"/>
                </a:lnTo>
                <a:cubicBezTo>
                  <a:pt x="0" y="58533"/>
                  <a:pt x="58533" y="0"/>
                  <a:pt x="130737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6ED3CF">
                  <a:alpha val="5000"/>
                </a:srgbClr>
              </a:gs>
            </a:gsLst>
            <a:lin ang="2700000" scaled="1"/>
          </a:gradFill>
          <a:ln w="12700">
            <a:solidFill>
              <a:srgbClr val="6ED3C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8476910" y="6862840"/>
            <a:ext cx="245147" cy="217909"/>
          </a:xfrm>
          <a:custGeom>
            <a:avLst/>
            <a:gdLst/>
            <a:ahLst/>
            <a:cxnLst/>
            <a:rect l="l" t="t" r="r" b="b"/>
            <a:pathLst>
              <a:path w="245147" h="217909">
                <a:moveTo>
                  <a:pt x="178541" y="40858"/>
                </a:moveTo>
                <a:cubicBezTo>
                  <a:pt x="171476" y="40858"/>
                  <a:pt x="164623" y="42773"/>
                  <a:pt x="158622" y="46263"/>
                </a:cubicBezTo>
                <a:cubicBezTo>
                  <a:pt x="151898" y="39453"/>
                  <a:pt x="144067" y="33750"/>
                  <a:pt x="135427" y="29452"/>
                </a:cubicBezTo>
                <a:cubicBezTo>
                  <a:pt x="147429" y="19237"/>
                  <a:pt x="162708" y="13619"/>
                  <a:pt x="178541" y="13619"/>
                </a:cubicBezTo>
                <a:cubicBezTo>
                  <a:pt x="215313" y="13619"/>
                  <a:pt x="245147" y="43412"/>
                  <a:pt x="245147" y="80226"/>
                </a:cubicBezTo>
                <a:cubicBezTo>
                  <a:pt x="245147" y="97889"/>
                  <a:pt x="238125" y="114828"/>
                  <a:pt x="225655" y="127298"/>
                </a:cubicBezTo>
                <a:lnTo>
                  <a:pt x="195394" y="157558"/>
                </a:lnTo>
                <a:cubicBezTo>
                  <a:pt x="182924" y="170028"/>
                  <a:pt x="165985" y="177051"/>
                  <a:pt x="148323" y="177051"/>
                </a:cubicBezTo>
                <a:cubicBezTo>
                  <a:pt x="111551" y="177051"/>
                  <a:pt x="81716" y="147259"/>
                  <a:pt x="81716" y="110444"/>
                </a:cubicBezTo>
                <a:cubicBezTo>
                  <a:pt x="81716" y="109806"/>
                  <a:pt x="81716" y="109167"/>
                  <a:pt x="81758" y="108529"/>
                </a:cubicBezTo>
                <a:cubicBezTo>
                  <a:pt x="81971" y="100996"/>
                  <a:pt x="88228" y="95080"/>
                  <a:pt x="95761" y="95293"/>
                </a:cubicBezTo>
                <a:cubicBezTo>
                  <a:pt x="103294" y="95505"/>
                  <a:pt x="109210" y="101762"/>
                  <a:pt x="108997" y="109295"/>
                </a:cubicBezTo>
                <a:cubicBezTo>
                  <a:pt x="108997" y="109678"/>
                  <a:pt x="108997" y="110061"/>
                  <a:pt x="108997" y="110401"/>
                </a:cubicBezTo>
                <a:cubicBezTo>
                  <a:pt x="108997" y="132150"/>
                  <a:pt x="126617" y="149770"/>
                  <a:pt x="148365" y="149770"/>
                </a:cubicBezTo>
                <a:cubicBezTo>
                  <a:pt x="158793" y="149770"/>
                  <a:pt x="168794" y="145641"/>
                  <a:pt x="176200" y="138236"/>
                </a:cubicBezTo>
                <a:lnTo>
                  <a:pt x="206460" y="107976"/>
                </a:lnTo>
                <a:cubicBezTo>
                  <a:pt x="213823" y="100613"/>
                  <a:pt x="217994" y="90568"/>
                  <a:pt x="217994" y="80141"/>
                </a:cubicBezTo>
                <a:cubicBezTo>
                  <a:pt x="217994" y="58393"/>
                  <a:pt x="200374" y="40773"/>
                  <a:pt x="178626" y="40773"/>
                </a:cubicBezTo>
                <a:close/>
                <a:moveTo>
                  <a:pt x="117126" y="73757"/>
                </a:moveTo>
                <a:cubicBezTo>
                  <a:pt x="116317" y="73417"/>
                  <a:pt x="115509" y="72948"/>
                  <a:pt x="114785" y="72438"/>
                </a:cubicBezTo>
                <a:cubicBezTo>
                  <a:pt x="109423" y="69671"/>
                  <a:pt x="103294" y="68097"/>
                  <a:pt x="96867" y="68097"/>
                </a:cubicBezTo>
                <a:cubicBezTo>
                  <a:pt x="86440" y="68097"/>
                  <a:pt x="76438" y="72225"/>
                  <a:pt x="69033" y="79630"/>
                </a:cubicBezTo>
                <a:lnTo>
                  <a:pt x="38772" y="109891"/>
                </a:lnTo>
                <a:cubicBezTo>
                  <a:pt x="31410" y="117254"/>
                  <a:pt x="27239" y="127298"/>
                  <a:pt x="27239" y="137725"/>
                </a:cubicBezTo>
                <a:cubicBezTo>
                  <a:pt x="27239" y="159474"/>
                  <a:pt x="44859" y="177093"/>
                  <a:pt x="66607" y="177093"/>
                </a:cubicBezTo>
                <a:cubicBezTo>
                  <a:pt x="73629" y="177093"/>
                  <a:pt x="80482" y="175221"/>
                  <a:pt x="86483" y="171731"/>
                </a:cubicBezTo>
                <a:cubicBezTo>
                  <a:pt x="93207" y="178541"/>
                  <a:pt x="101038" y="184244"/>
                  <a:pt x="109721" y="188542"/>
                </a:cubicBezTo>
                <a:cubicBezTo>
                  <a:pt x="97718" y="198714"/>
                  <a:pt x="82482" y="204375"/>
                  <a:pt x="66607" y="204375"/>
                </a:cubicBezTo>
                <a:cubicBezTo>
                  <a:pt x="29835" y="204375"/>
                  <a:pt x="0" y="174582"/>
                  <a:pt x="0" y="137768"/>
                </a:cubicBezTo>
                <a:cubicBezTo>
                  <a:pt x="0" y="120105"/>
                  <a:pt x="7022" y="103166"/>
                  <a:pt x="19493" y="90696"/>
                </a:cubicBezTo>
                <a:lnTo>
                  <a:pt x="49753" y="60436"/>
                </a:lnTo>
                <a:cubicBezTo>
                  <a:pt x="62223" y="47965"/>
                  <a:pt x="79162" y="40943"/>
                  <a:pt x="96825" y="40943"/>
                </a:cubicBezTo>
                <a:cubicBezTo>
                  <a:pt x="133682" y="40943"/>
                  <a:pt x="163432" y="70991"/>
                  <a:pt x="163432" y="107720"/>
                </a:cubicBezTo>
                <a:cubicBezTo>
                  <a:pt x="163432" y="108273"/>
                  <a:pt x="163432" y="108827"/>
                  <a:pt x="163432" y="109380"/>
                </a:cubicBezTo>
                <a:cubicBezTo>
                  <a:pt x="163261" y="116913"/>
                  <a:pt x="157005" y="122829"/>
                  <a:pt x="149472" y="122659"/>
                </a:cubicBezTo>
                <a:cubicBezTo>
                  <a:pt x="141939" y="122489"/>
                  <a:pt x="136023" y="116232"/>
                  <a:pt x="136193" y="108699"/>
                </a:cubicBezTo>
                <a:cubicBezTo>
                  <a:pt x="136193" y="108359"/>
                  <a:pt x="136193" y="108061"/>
                  <a:pt x="136193" y="107720"/>
                </a:cubicBezTo>
                <a:cubicBezTo>
                  <a:pt x="136193" y="93377"/>
                  <a:pt x="128532" y="80779"/>
                  <a:pt x="117126" y="73842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8735676" y="6819259"/>
            <a:ext cx="6962188" cy="3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16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其他推荐算法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463290" y="7255076"/>
            <a:ext cx="7125619" cy="740890"/>
          </a:xfrm>
          <a:custGeom>
            <a:avLst/>
            <a:gdLst/>
            <a:ahLst/>
            <a:cxnLst/>
            <a:rect l="l" t="t" r="r" b="b"/>
            <a:pathLst>
              <a:path w="7125619" h="740890">
                <a:moveTo>
                  <a:pt x="87166" y="0"/>
                </a:moveTo>
                <a:lnTo>
                  <a:pt x="7038454" y="0"/>
                </a:lnTo>
                <a:cubicBezTo>
                  <a:pt x="7086594" y="0"/>
                  <a:pt x="7125619" y="39025"/>
                  <a:pt x="7125619" y="87166"/>
                </a:cubicBezTo>
                <a:lnTo>
                  <a:pt x="7125619" y="653724"/>
                </a:lnTo>
                <a:cubicBezTo>
                  <a:pt x="7125619" y="701865"/>
                  <a:pt x="7086594" y="740890"/>
                  <a:pt x="7038454" y="740890"/>
                </a:cubicBezTo>
                <a:lnTo>
                  <a:pt x="87166" y="740890"/>
                </a:lnTo>
                <a:cubicBezTo>
                  <a:pt x="39025" y="740890"/>
                  <a:pt x="0" y="701865"/>
                  <a:pt x="0" y="653724"/>
                </a:cubicBezTo>
                <a:lnTo>
                  <a:pt x="0" y="87166"/>
                </a:lnTo>
                <a:cubicBezTo>
                  <a:pt x="0" y="39058"/>
                  <a:pt x="39058" y="0"/>
                  <a:pt x="8716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8594036" y="7407612"/>
            <a:ext cx="1578664" cy="26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1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关联分析 (</a:t>
            </a:r>
            <a:r>
              <a:rPr lang="en-US" sz="1201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Apriori</a:t>
            </a:r>
            <a:r>
              <a:rPr lang="en-US" sz="1201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4758473" y="7385822"/>
            <a:ext cx="697308" cy="261491"/>
          </a:xfrm>
          <a:custGeom>
            <a:avLst/>
            <a:gdLst/>
            <a:ahLst/>
            <a:cxnLst/>
            <a:rect l="l" t="t" r="r" b="b"/>
            <a:pathLst>
              <a:path w="697308" h="261491">
                <a:moveTo>
                  <a:pt x="43583" y="0"/>
                </a:moveTo>
                <a:lnTo>
                  <a:pt x="653726" y="0"/>
                </a:lnTo>
                <a:cubicBezTo>
                  <a:pt x="677780" y="0"/>
                  <a:pt x="697308" y="19529"/>
                  <a:pt x="697308" y="43583"/>
                </a:cubicBezTo>
                <a:lnTo>
                  <a:pt x="697308" y="217908"/>
                </a:lnTo>
                <a:cubicBezTo>
                  <a:pt x="697308" y="241978"/>
                  <a:pt x="677796" y="261491"/>
                  <a:pt x="653726" y="261491"/>
                </a:cubicBezTo>
                <a:lnTo>
                  <a:pt x="43583" y="261491"/>
                </a:lnTo>
                <a:cubicBezTo>
                  <a:pt x="19513" y="261491"/>
                  <a:pt x="0" y="241978"/>
                  <a:pt x="0" y="217908"/>
                </a:cubicBezTo>
                <a:lnTo>
                  <a:pt x="0" y="43583"/>
                </a:lnTo>
                <a:cubicBezTo>
                  <a:pt x="0" y="19529"/>
                  <a:pt x="19529" y="0"/>
                  <a:pt x="43583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14758473" y="7385822"/>
            <a:ext cx="762681" cy="261491"/>
          </a:xfrm>
          <a:prstGeom prst="rect">
            <a:avLst/>
          </a:prstGeom>
          <a:noFill/>
          <a:ln/>
        </p:spPr>
        <p:txBody>
          <a:bodyPr wrap="square" lIns="87164" tIns="43582" rIns="87164" bIns="43582" rtlCol="0" anchor="ctr"/>
          <a:lstStyle/>
          <a:p>
            <a:pPr>
              <a:lnSpc>
                <a:spcPct val="110000"/>
              </a:lnSpc>
            </a:pPr>
            <a:r>
              <a:rPr lang="en-US" sz="1029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频繁项集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594036" y="7690894"/>
            <a:ext cx="6929501" cy="174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29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挖掘用户行为的关联规则，如"购买了A的用户也购买了B"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463290" y="8083130"/>
            <a:ext cx="7125619" cy="740890"/>
          </a:xfrm>
          <a:custGeom>
            <a:avLst/>
            <a:gdLst/>
            <a:ahLst/>
            <a:cxnLst/>
            <a:rect l="l" t="t" r="r" b="b"/>
            <a:pathLst>
              <a:path w="7125619" h="740890">
                <a:moveTo>
                  <a:pt x="87166" y="0"/>
                </a:moveTo>
                <a:lnTo>
                  <a:pt x="7038454" y="0"/>
                </a:lnTo>
                <a:cubicBezTo>
                  <a:pt x="7086594" y="0"/>
                  <a:pt x="7125619" y="39025"/>
                  <a:pt x="7125619" y="87166"/>
                </a:cubicBezTo>
                <a:lnTo>
                  <a:pt x="7125619" y="653724"/>
                </a:lnTo>
                <a:cubicBezTo>
                  <a:pt x="7125619" y="701865"/>
                  <a:pt x="7086594" y="740890"/>
                  <a:pt x="7038454" y="740890"/>
                </a:cubicBezTo>
                <a:lnTo>
                  <a:pt x="87166" y="740890"/>
                </a:lnTo>
                <a:cubicBezTo>
                  <a:pt x="39025" y="740890"/>
                  <a:pt x="0" y="701865"/>
                  <a:pt x="0" y="653724"/>
                </a:cubicBezTo>
                <a:lnTo>
                  <a:pt x="0" y="87166"/>
                </a:lnTo>
                <a:cubicBezTo>
                  <a:pt x="0" y="39058"/>
                  <a:pt x="39058" y="0"/>
                  <a:pt x="87166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8594036" y="8235666"/>
            <a:ext cx="871635" cy="21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1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Embedding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14889218" y="8213875"/>
            <a:ext cx="566563" cy="261491"/>
          </a:xfrm>
          <a:custGeom>
            <a:avLst/>
            <a:gdLst/>
            <a:ahLst/>
            <a:cxnLst/>
            <a:rect l="l" t="t" r="r" b="b"/>
            <a:pathLst>
              <a:path w="566563" h="261491">
                <a:moveTo>
                  <a:pt x="43583" y="0"/>
                </a:moveTo>
                <a:lnTo>
                  <a:pt x="522980" y="0"/>
                </a:lnTo>
                <a:cubicBezTo>
                  <a:pt x="547034" y="0"/>
                  <a:pt x="566563" y="19529"/>
                  <a:pt x="566563" y="43583"/>
                </a:cubicBezTo>
                <a:lnTo>
                  <a:pt x="566563" y="217908"/>
                </a:lnTo>
                <a:cubicBezTo>
                  <a:pt x="566563" y="241978"/>
                  <a:pt x="547050" y="261491"/>
                  <a:pt x="522980" y="261491"/>
                </a:cubicBezTo>
                <a:lnTo>
                  <a:pt x="43583" y="261491"/>
                </a:lnTo>
                <a:cubicBezTo>
                  <a:pt x="19513" y="261491"/>
                  <a:pt x="0" y="241978"/>
                  <a:pt x="0" y="217908"/>
                </a:cubicBezTo>
                <a:lnTo>
                  <a:pt x="0" y="43583"/>
                </a:lnTo>
                <a:cubicBezTo>
                  <a:pt x="0" y="19529"/>
                  <a:pt x="19529" y="0"/>
                  <a:pt x="43583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14889218" y="8213875"/>
            <a:ext cx="631936" cy="261491"/>
          </a:xfrm>
          <a:prstGeom prst="rect">
            <a:avLst/>
          </a:prstGeom>
          <a:noFill/>
          <a:ln/>
        </p:spPr>
        <p:txBody>
          <a:bodyPr wrap="square" lIns="87164" tIns="43582" rIns="87164" bIns="43582" rtlCol="0" anchor="ctr"/>
          <a:lstStyle/>
          <a:p>
            <a:pPr>
              <a:lnSpc>
                <a:spcPct val="110000"/>
              </a:lnSpc>
            </a:pPr>
            <a:r>
              <a:rPr lang="en-US" sz="1029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向量化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594036" y="8518948"/>
            <a:ext cx="6929501" cy="174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29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将用户和物品映射到低维向量空间，捕捉语义关系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iro.medium.com/0f673886676ae844453dcddc2642995f69855360.jpeg"/>
          <p:cNvPicPr>
            <a:picLocks noChangeAspect="1"/>
          </p:cNvPicPr>
          <p:nvPr/>
        </p:nvPicPr>
        <p:blipFill>
          <a:blip r:embed="rId3">
            <a:alphaModFix amt="40000"/>
          </a:blip>
          <a:srcRect t="32" b="32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/>
              </a:gs>
              <a:gs pos="50000">
                <a:srgbClr val="1A1D24">
                  <a:alpha val="90000"/>
                </a:srgbClr>
              </a:gs>
              <a:gs pos="100000">
                <a:srgbClr val="1A1D24">
                  <a:alpha val="6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14350" y="2139950"/>
            <a:ext cx="2298700" cy="571500"/>
          </a:xfrm>
          <a:custGeom>
            <a:avLst/>
            <a:gdLst/>
            <a:ahLst/>
            <a:cxnLst/>
            <a:rect l="l" t="t" r="r" b="b"/>
            <a:pathLst>
              <a:path w="2298700" h="571500">
                <a:moveTo>
                  <a:pt x="101601" y="0"/>
                </a:moveTo>
                <a:lnTo>
                  <a:pt x="2197099" y="0"/>
                </a:lnTo>
                <a:cubicBezTo>
                  <a:pt x="2253212" y="0"/>
                  <a:pt x="2298700" y="45488"/>
                  <a:pt x="2298700" y="101601"/>
                </a:cubicBezTo>
                <a:lnTo>
                  <a:pt x="2298700" y="469899"/>
                </a:lnTo>
                <a:cubicBezTo>
                  <a:pt x="2298700" y="526012"/>
                  <a:pt x="2253212" y="571500"/>
                  <a:pt x="2197099" y="571500"/>
                </a:cubicBezTo>
                <a:lnTo>
                  <a:pt x="101601" y="571500"/>
                </a:lnTo>
                <a:cubicBezTo>
                  <a:pt x="45488" y="571500"/>
                  <a:pt x="0" y="526012"/>
                  <a:pt x="0" y="4698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 w="12700">
            <a:solidFill>
              <a:srgbClr val="6ED3CF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74700" y="2254250"/>
            <a:ext cx="1909862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kern="0" spc="200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1242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4572000"/>
            <a:ext cx="4051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5F87A7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AI</a:t>
            </a:r>
            <a:r>
              <a:rPr lang="en-US" sz="3000" dirty="0">
                <a:solidFill>
                  <a:srgbClr val="5F87A7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技术的商业化落地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6642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812800" y="5537200"/>
            <a:ext cx="342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计算机视觉：让机器看懂世界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8000" y="62230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812800" y="6096000"/>
            <a:ext cx="368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自然语言处理：让机器理解语言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8000" y="67818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812800" y="6654800"/>
            <a:ext cx="317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推荐系统：个性化内容分发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428625"/>
            <a:ext cx="1915583" cy="349250"/>
          </a:xfrm>
          <a:custGeom>
            <a:avLst/>
            <a:gdLst/>
            <a:ahLst/>
            <a:cxnLst/>
            <a:rect l="l" t="t" r="r" b="b"/>
            <a:pathLst>
              <a:path w="1915583" h="349250">
                <a:moveTo>
                  <a:pt x="42333" y="0"/>
                </a:moveTo>
                <a:lnTo>
                  <a:pt x="1873251" y="0"/>
                </a:lnTo>
                <a:cubicBezTo>
                  <a:pt x="1896630" y="0"/>
                  <a:pt x="1915583" y="18953"/>
                  <a:pt x="1915583" y="42333"/>
                </a:cubicBezTo>
                <a:lnTo>
                  <a:pt x="1915583" y="306917"/>
                </a:lnTo>
                <a:cubicBezTo>
                  <a:pt x="1915583" y="330297"/>
                  <a:pt x="1896630" y="349250"/>
                  <a:pt x="1873251" y="349250"/>
                </a:cubicBezTo>
                <a:lnTo>
                  <a:pt x="42333" y="349250"/>
                </a:lnTo>
                <a:cubicBezTo>
                  <a:pt x="18953" y="349250"/>
                  <a:pt x="0" y="330297"/>
                  <a:pt x="0" y="30691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 w="12700">
            <a:solidFill>
              <a:srgbClr val="5F87A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60917" y="492125"/>
            <a:ext cx="1738891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kern="0" spc="67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COMPUTER VISION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333" y="867833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计算机视觉（</a:t>
            </a:r>
            <a:r>
              <a:rPr lang="en-US" sz="3000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CV</a:t>
            </a:r>
            <a:r>
              <a:rPr lang="en-US" sz="3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1375833"/>
            <a:ext cx="1549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让机器具备"看"的能力，理解和分析图像与视频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99583" y="2995083"/>
            <a:ext cx="67839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CNN 卷积神经网络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7250" y="4794250"/>
            <a:ext cx="6815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深度学习在CV中的应用</a:t>
            </a:r>
            <a:endParaRPr lang="en-US" sz="1600" dirty="0"/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02C60919-04F2-78BE-A06D-EC4AE121B616}"/>
              </a:ext>
            </a:extLst>
          </p:cNvPr>
          <p:cNvGrpSpPr/>
          <p:nvPr/>
        </p:nvGrpSpPr>
        <p:grpSpPr>
          <a:xfrm>
            <a:off x="271457" y="1846792"/>
            <a:ext cx="6643689" cy="4857750"/>
            <a:chOff x="428625" y="1846792"/>
            <a:chExt cx="6643689" cy="4857750"/>
          </a:xfrm>
        </p:grpSpPr>
        <p:sp>
          <p:nvSpPr>
            <p:cNvPr id="6" name="Shape 4"/>
            <p:cNvSpPr/>
            <p:nvPr/>
          </p:nvSpPr>
          <p:spPr>
            <a:xfrm>
              <a:off x="428625" y="1846792"/>
              <a:ext cx="6643689" cy="4857750"/>
            </a:xfrm>
            <a:custGeom>
              <a:avLst/>
              <a:gdLst/>
              <a:ahLst/>
              <a:cxnLst/>
              <a:rect l="l" t="t" r="r" b="b"/>
              <a:pathLst>
                <a:path w="7588250" h="4857750">
                  <a:moveTo>
                    <a:pt x="126982" y="0"/>
                  </a:moveTo>
                  <a:lnTo>
                    <a:pt x="7461268" y="0"/>
                  </a:lnTo>
                  <a:cubicBezTo>
                    <a:pt x="7531398" y="0"/>
                    <a:pt x="7588250" y="56852"/>
                    <a:pt x="7588250" y="126982"/>
                  </a:cubicBezTo>
                  <a:lnTo>
                    <a:pt x="7588250" y="4730768"/>
                  </a:lnTo>
                  <a:cubicBezTo>
                    <a:pt x="7588250" y="4800898"/>
                    <a:pt x="7531398" y="4857750"/>
                    <a:pt x="7461268" y="4857750"/>
                  </a:cubicBezTo>
                  <a:lnTo>
                    <a:pt x="126982" y="4857750"/>
                  </a:lnTo>
                  <a:cubicBezTo>
                    <a:pt x="56852" y="4857750"/>
                    <a:pt x="0" y="4800898"/>
                    <a:pt x="0" y="4730768"/>
                  </a:cubicBezTo>
                  <a:lnTo>
                    <a:pt x="0" y="126982"/>
                  </a:lnTo>
                  <a:cubicBezTo>
                    <a:pt x="0" y="56852"/>
                    <a:pt x="56852" y="0"/>
                    <a:pt x="12698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5F87A7">
                    <a:alpha val="20000"/>
                  </a:srgbClr>
                </a:gs>
                <a:gs pos="100000">
                  <a:srgbClr val="5F87A7">
                    <a:alpha val="5000"/>
                  </a:srgbClr>
                </a:gs>
              </a:gsLst>
              <a:lin ang="2700000" scaled="1"/>
            </a:gradFill>
            <a:ln w="12700">
              <a:solidFill>
                <a:srgbClr val="5F87A7">
                  <a:alpha val="30196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687917" y="212725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84668" y="0"/>
                  </a:moveTo>
                  <a:lnTo>
                    <a:pt x="423332" y="0"/>
                  </a:lnTo>
                  <a:cubicBezTo>
                    <a:pt x="470093" y="0"/>
                    <a:pt x="508000" y="37907"/>
                    <a:pt x="508000" y="84668"/>
                  </a:cubicBezTo>
                  <a:lnTo>
                    <a:pt x="508000" y="423332"/>
                  </a:lnTo>
                  <a:cubicBezTo>
                    <a:pt x="508000" y="470093"/>
                    <a:pt x="470093" y="508000"/>
                    <a:pt x="423332" y="508000"/>
                  </a:cubicBezTo>
                  <a:lnTo>
                    <a:pt x="84668" y="508000"/>
                  </a:lnTo>
                  <a:cubicBezTo>
                    <a:pt x="37907" y="508000"/>
                    <a:pt x="0" y="470093"/>
                    <a:pt x="0" y="423332"/>
                  </a:cubicBezTo>
                  <a:lnTo>
                    <a:pt x="0" y="84668"/>
                  </a:lnTo>
                  <a:cubicBezTo>
                    <a:pt x="0" y="37939"/>
                    <a:pt x="37939" y="0"/>
                    <a:pt x="84668" y="0"/>
                  </a:cubicBezTo>
                  <a:close/>
                </a:path>
              </a:pathLst>
            </a:custGeom>
            <a:solidFill>
              <a:srgbClr val="5F87A7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836083" y="2275417"/>
              <a:ext cx="211667" cy="211667"/>
            </a:xfrm>
            <a:custGeom>
              <a:avLst/>
              <a:gdLst/>
              <a:ahLst/>
              <a:cxnLst/>
              <a:rect l="l" t="t" r="r" b="b"/>
              <a:pathLst>
                <a:path w="211667" h="211667">
                  <a:moveTo>
                    <a:pt x="72760" y="9922"/>
                  </a:moveTo>
                  <a:cubicBezTo>
                    <a:pt x="72760" y="4424"/>
                    <a:pt x="68337" y="0"/>
                    <a:pt x="62839" y="0"/>
                  </a:cubicBezTo>
                  <a:cubicBezTo>
                    <a:pt x="57340" y="0"/>
                    <a:pt x="52917" y="4424"/>
                    <a:pt x="52917" y="9922"/>
                  </a:cubicBezTo>
                  <a:lnTo>
                    <a:pt x="52917" y="26458"/>
                  </a:lnTo>
                  <a:cubicBezTo>
                    <a:pt x="38323" y="26458"/>
                    <a:pt x="26458" y="38323"/>
                    <a:pt x="26458" y="52917"/>
                  </a:cubicBezTo>
                  <a:lnTo>
                    <a:pt x="9922" y="52917"/>
                  </a:lnTo>
                  <a:cubicBezTo>
                    <a:pt x="4424" y="52917"/>
                    <a:pt x="0" y="57340"/>
                    <a:pt x="0" y="62839"/>
                  </a:cubicBezTo>
                  <a:cubicBezTo>
                    <a:pt x="0" y="68337"/>
                    <a:pt x="4424" y="72760"/>
                    <a:pt x="9922" y="72760"/>
                  </a:cubicBezTo>
                  <a:lnTo>
                    <a:pt x="26458" y="72760"/>
                  </a:lnTo>
                  <a:lnTo>
                    <a:pt x="26458" y="95911"/>
                  </a:lnTo>
                  <a:lnTo>
                    <a:pt x="9922" y="95911"/>
                  </a:lnTo>
                  <a:cubicBezTo>
                    <a:pt x="4424" y="95911"/>
                    <a:pt x="0" y="100335"/>
                    <a:pt x="0" y="105833"/>
                  </a:cubicBezTo>
                  <a:cubicBezTo>
                    <a:pt x="0" y="111332"/>
                    <a:pt x="4424" y="115755"/>
                    <a:pt x="9922" y="115755"/>
                  </a:cubicBezTo>
                  <a:lnTo>
                    <a:pt x="26458" y="115755"/>
                  </a:lnTo>
                  <a:lnTo>
                    <a:pt x="26458" y="138906"/>
                  </a:lnTo>
                  <a:lnTo>
                    <a:pt x="9922" y="138906"/>
                  </a:lnTo>
                  <a:cubicBezTo>
                    <a:pt x="4424" y="138906"/>
                    <a:pt x="0" y="143330"/>
                    <a:pt x="0" y="148828"/>
                  </a:cubicBezTo>
                  <a:cubicBezTo>
                    <a:pt x="0" y="154326"/>
                    <a:pt x="4424" y="158750"/>
                    <a:pt x="9922" y="158750"/>
                  </a:cubicBezTo>
                  <a:lnTo>
                    <a:pt x="26458" y="158750"/>
                  </a:lnTo>
                  <a:cubicBezTo>
                    <a:pt x="26458" y="173343"/>
                    <a:pt x="38323" y="185208"/>
                    <a:pt x="52917" y="185208"/>
                  </a:cubicBezTo>
                  <a:lnTo>
                    <a:pt x="52917" y="201745"/>
                  </a:lnTo>
                  <a:cubicBezTo>
                    <a:pt x="52917" y="207243"/>
                    <a:pt x="57340" y="211667"/>
                    <a:pt x="62839" y="211667"/>
                  </a:cubicBezTo>
                  <a:cubicBezTo>
                    <a:pt x="68337" y="211667"/>
                    <a:pt x="72760" y="207243"/>
                    <a:pt x="72760" y="201745"/>
                  </a:cubicBezTo>
                  <a:lnTo>
                    <a:pt x="72760" y="185208"/>
                  </a:lnTo>
                  <a:lnTo>
                    <a:pt x="95911" y="185208"/>
                  </a:lnTo>
                  <a:lnTo>
                    <a:pt x="95911" y="201745"/>
                  </a:lnTo>
                  <a:cubicBezTo>
                    <a:pt x="95911" y="207243"/>
                    <a:pt x="100335" y="211667"/>
                    <a:pt x="105833" y="211667"/>
                  </a:cubicBezTo>
                  <a:cubicBezTo>
                    <a:pt x="111332" y="211667"/>
                    <a:pt x="115755" y="207243"/>
                    <a:pt x="115755" y="201745"/>
                  </a:cubicBezTo>
                  <a:lnTo>
                    <a:pt x="115755" y="185208"/>
                  </a:lnTo>
                  <a:lnTo>
                    <a:pt x="138906" y="185208"/>
                  </a:lnTo>
                  <a:lnTo>
                    <a:pt x="138906" y="201745"/>
                  </a:lnTo>
                  <a:cubicBezTo>
                    <a:pt x="138906" y="207243"/>
                    <a:pt x="143330" y="211667"/>
                    <a:pt x="148828" y="211667"/>
                  </a:cubicBezTo>
                  <a:cubicBezTo>
                    <a:pt x="154326" y="211667"/>
                    <a:pt x="158750" y="207243"/>
                    <a:pt x="158750" y="201745"/>
                  </a:cubicBezTo>
                  <a:lnTo>
                    <a:pt x="158750" y="185208"/>
                  </a:lnTo>
                  <a:cubicBezTo>
                    <a:pt x="173343" y="185208"/>
                    <a:pt x="185208" y="173343"/>
                    <a:pt x="185208" y="158750"/>
                  </a:cubicBezTo>
                  <a:lnTo>
                    <a:pt x="201745" y="158750"/>
                  </a:lnTo>
                  <a:cubicBezTo>
                    <a:pt x="207243" y="158750"/>
                    <a:pt x="211667" y="154326"/>
                    <a:pt x="211667" y="148828"/>
                  </a:cubicBezTo>
                  <a:cubicBezTo>
                    <a:pt x="211667" y="143330"/>
                    <a:pt x="207243" y="138906"/>
                    <a:pt x="201745" y="138906"/>
                  </a:cubicBezTo>
                  <a:lnTo>
                    <a:pt x="185208" y="138906"/>
                  </a:lnTo>
                  <a:lnTo>
                    <a:pt x="185208" y="115755"/>
                  </a:lnTo>
                  <a:lnTo>
                    <a:pt x="201745" y="115755"/>
                  </a:lnTo>
                  <a:cubicBezTo>
                    <a:pt x="207243" y="115755"/>
                    <a:pt x="211667" y="111332"/>
                    <a:pt x="211667" y="105833"/>
                  </a:cubicBezTo>
                  <a:cubicBezTo>
                    <a:pt x="211667" y="100335"/>
                    <a:pt x="207243" y="95911"/>
                    <a:pt x="201745" y="95911"/>
                  </a:cubicBezTo>
                  <a:lnTo>
                    <a:pt x="185208" y="95911"/>
                  </a:lnTo>
                  <a:lnTo>
                    <a:pt x="185208" y="72760"/>
                  </a:lnTo>
                  <a:lnTo>
                    <a:pt x="201745" y="72760"/>
                  </a:lnTo>
                  <a:cubicBezTo>
                    <a:pt x="207243" y="72760"/>
                    <a:pt x="211667" y="68337"/>
                    <a:pt x="211667" y="62839"/>
                  </a:cubicBezTo>
                  <a:cubicBezTo>
                    <a:pt x="211667" y="57340"/>
                    <a:pt x="207243" y="52917"/>
                    <a:pt x="201745" y="52917"/>
                  </a:cubicBezTo>
                  <a:lnTo>
                    <a:pt x="185208" y="52917"/>
                  </a:lnTo>
                  <a:cubicBezTo>
                    <a:pt x="185208" y="38323"/>
                    <a:pt x="173343" y="26458"/>
                    <a:pt x="158750" y="26458"/>
                  </a:cubicBezTo>
                  <a:lnTo>
                    <a:pt x="158750" y="9922"/>
                  </a:lnTo>
                  <a:cubicBezTo>
                    <a:pt x="158750" y="4424"/>
                    <a:pt x="154326" y="0"/>
                    <a:pt x="148828" y="0"/>
                  </a:cubicBezTo>
                  <a:cubicBezTo>
                    <a:pt x="143330" y="0"/>
                    <a:pt x="138906" y="4424"/>
                    <a:pt x="138906" y="9922"/>
                  </a:cubicBezTo>
                  <a:lnTo>
                    <a:pt x="138906" y="26458"/>
                  </a:lnTo>
                  <a:lnTo>
                    <a:pt x="115755" y="26458"/>
                  </a:lnTo>
                  <a:lnTo>
                    <a:pt x="115755" y="9922"/>
                  </a:lnTo>
                  <a:cubicBezTo>
                    <a:pt x="115755" y="4424"/>
                    <a:pt x="111332" y="0"/>
                    <a:pt x="105833" y="0"/>
                  </a:cubicBezTo>
                  <a:cubicBezTo>
                    <a:pt x="100335" y="0"/>
                    <a:pt x="95911" y="4424"/>
                    <a:pt x="95911" y="9922"/>
                  </a:cubicBezTo>
                  <a:lnTo>
                    <a:pt x="95911" y="26458"/>
                  </a:lnTo>
                  <a:lnTo>
                    <a:pt x="72760" y="26458"/>
                  </a:lnTo>
                  <a:lnTo>
                    <a:pt x="72760" y="9922"/>
                  </a:lnTo>
                  <a:close/>
                  <a:moveTo>
                    <a:pt x="66146" y="52917"/>
                  </a:moveTo>
                  <a:lnTo>
                    <a:pt x="145521" y="52917"/>
                  </a:lnTo>
                  <a:cubicBezTo>
                    <a:pt x="152838" y="52917"/>
                    <a:pt x="158750" y="58828"/>
                    <a:pt x="158750" y="66146"/>
                  </a:cubicBezTo>
                  <a:lnTo>
                    <a:pt x="158750" y="145521"/>
                  </a:lnTo>
                  <a:cubicBezTo>
                    <a:pt x="158750" y="152838"/>
                    <a:pt x="152838" y="158750"/>
                    <a:pt x="145521" y="158750"/>
                  </a:cubicBezTo>
                  <a:lnTo>
                    <a:pt x="66146" y="158750"/>
                  </a:lnTo>
                  <a:cubicBezTo>
                    <a:pt x="58828" y="158750"/>
                    <a:pt x="52917" y="152838"/>
                    <a:pt x="52917" y="145521"/>
                  </a:cubicBezTo>
                  <a:lnTo>
                    <a:pt x="52917" y="66146"/>
                  </a:lnTo>
                  <a:cubicBezTo>
                    <a:pt x="52917" y="58828"/>
                    <a:pt x="58828" y="52917"/>
                    <a:pt x="66146" y="52917"/>
                  </a:cubicBezTo>
                  <a:close/>
                  <a:moveTo>
                    <a:pt x="72760" y="72760"/>
                  </a:moveTo>
                  <a:lnTo>
                    <a:pt x="72760" y="138906"/>
                  </a:lnTo>
                  <a:lnTo>
                    <a:pt x="138906" y="138906"/>
                  </a:lnTo>
                  <a:lnTo>
                    <a:pt x="138906" y="72760"/>
                  </a:lnTo>
                  <a:lnTo>
                    <a:pt x="72760" y="72760"/>
                  </a:lnTo>
                  <a:close/>
                </a:path>
              </a:pathLst>
            </a:custGeom>
            <a:solidFill>
              <a:srgbClr val="FFFFFF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 7"/>
            <p:cNvSpPr/>
            <p:nvPr/>
          </p:nvSpPr>
          <p:spPr>
            <a:xfrm>
              <a:off x="1322917" y="2106083"/>
              <a:ext cx="1143000" cy="338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2000" dirty="0">
                  <a:solidFill>
                    <a:srgbClr val="E1E8ED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技术支撑</a:t>
              </a:r>
              <a:endParaRPr lang="en-US" sz="16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322917" y="2444750"/>
              <a:ext cx="1090083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8899A6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核心技术架构</a:t>
              </a:r>
              <a:endParaRPr lang="en-US" sz="16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709083" y="2825750"/>
              <a:ext cx="6363231" cy="1672167"/>
            </a:xfrm>
            <a:custGeom>
              <a:avLst/>
              <a:gdLst/>
              <a:ahLst/>
              <a:cxnLst/>
              <a:rect l="l" t="t" r="r" b="b"/>
              <a:pathLst>
                <a:path w="7048500" h="1672167">
                  <a:moveTo>
                    <a:pt x="42333" y="0"/>
                  </a:moveTo>
                  <a:lnTo>
                    <a:pt x="6963838" y="0"/>
                  </a:lnTo>
                  <a:cubicBezTo>
                    <a:pt x="7010596" y="0"/>
                    <a:pt x="7048500" y="37904"/>
                    <a:pt x="7048500" y="84662"/>
                  </a:cubicBezTo>
                  <a:lnTo>
                    <a:pt x="7048500" y="1587505"/>
                  </a:lnTo>
                  <a:cubicBezTo>
                    <a:pt x="7048500" y="1634262"/>
                    <a:pt x="7010596" y="1672167"/>
                    <a:pt x="6963838" y="1672167"/>
                  </a:cubicBezTo>
                  <a:lnTo>
                    <a:pt x="42333" y="1672167"/>
                  </a:lnTo>
                  <a:cubicBezTo>
                    <a:pt x="18953" y="1672167"/>
                    <a:pt x="0" y="1653213"/>
                    <a:pt x="0" y="1629833"/>
                  </a:cubicBezTo>
                  <a:lnTo>
                    <a:pt x="0" y="42333"/>
                  </a:lnTo>
                  <a:cubicBezTo>
                    <a:pt x="0" y="18969"/>
                    <a:pt x="18969" y="0"/>
                    <a:pt x="4233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6ED3CF">
                    <a:alpha val="3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 scaled="1"/>
            </a:gra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Shape 10"/>
            <p:cNvSpPr/>
            <p:nvPr/>
          </p:nvSpPr>
          <p:spPr>
            <a:xfrm>
              <a:off x="709083" y="2825750"/>
              <a:ext cx="42333" cy="1672167"/>
            </a:xfrm>
            <a:custGeom>
              <a:avLst/>
              <a:gdLst/>
              <a:ahLst/>
              <a:cxnLst/>
              <a:rect l="l" t="t" r="r" b="b"/>
              <a:pathLst>
                <a:path w="42333" h="1672167">
                  <a:moveTo>
                    <a:pt x="42333" y="0"/>
                  </a:moveTo>
                  <a:lnTo>
                    <a:pt x="42333" y="0"/>
                  </a:lnTo>
                  <a:lnTo>
                    <a:pt x="42333" y="1672167"/>
                  </a:lnTo>
                  <a:lnTo>
                    <a:pt x="42333" y="1672167"/>
                  </a:lnTo>
                  <a:cubicBezTo>
                    <a:pt x="18953" y="1672167"/>
                    <a:pt x="0" y="1653213"/>
                    <a:pt x="0" y="1629833"/>
                  </a:cubicBezTo>
                  <a:lnTo>
                    <a:pt x="0" y="42333"/>
                  </a:lnTo>
                  <a:cubicBezTo>
                    <a:pt x="0" y="18953"/>
                    <a:pt x="18953" y="0"/>
                    <a:pt x="42333" y="0"/>
                  </a:cubicBezTo>
                  <a:close/>
                </a:path>
              </a:pathLst>
            </a:custGeom>
            <a:solidFill>
              <a:srgbClr val="6ED3CF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899584" y="3376083"/>
              <a:ext cx="6172730" cy="338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333" dirty="0">
                  <a:solidFill>
                    <a:srgbClr val="8899A6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计算机视觉的核心技术，通过卷积层、池化层等结构提取图像的空间层次特征。</a:t>
              </a:r>
              <a:endParaRPr lang="en-US" sz="16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899583" y="3778250"/>
              <a:ext cx="2857500" cy="550333"/>
            </a:xfrm>
            <a:custGeom>
              <a:avLst/>
              <a:gdLst/>
              <a:ahLst/>
              <a:cxnLst/>
              <a:rect l="l" t="t" r="r" b="b"/>
              <a:pathLst>
                <a:path w="3302000" h="550333">
                  <a:moveTo>
                    <a:pt x="42332" y="0"/>
                  </a:moveTo>
                  <a:lnTo>
                    <a:pt x="3259668" y="0"/>
                  </a:lnTo>
                  <a:cubicBezTo>
                    <a:pt x="3283047" y="0"/>
                    <a:pt x="3302000" y="18953"/>
                    <a:pt x="3302000" y="42332"/>
                  </a:cubicBezTo>
                  <a:lnTo>
                    <a:pt x="3302000" y="508002"/>
                  </a:lnTo>
                  <a:cubicBezTo>
                    <a:pt x="3302000" y="531381"/>
                    <a:pt x="3283047" y="550333"/>
                    <a:pt x="3259668" y="550333"/>
                  </a:cubicBezTo>
                  <a:lnTo>
                    <a:pt x="42332" y="550333"/>
                  </a:lnTo>
                  <a:cubicBezTo>
                    <a:pt x="18953" y="550333"/>
                    <a:pt x="0" y="531381"/>
                    <a:pt x="0" y="508002"/>
                  </a:cubicBezTo>
                  <a:lnTo>
                    <a:pt x="0" y="42332"/>
                  </a:lnTo>
                  <a:cubicBezTo>
                    <a:pt x="0" y="18968"/>
                    <a:pt x="18968" y="0"/>
                    <a:pt x="42332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984250" y="3862917"/>
              <a:ext cx="3206750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1E8ED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经典架构</a:t>
              </a:r>
              <a:endParaRPr lang="en-US" sz="16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984251" y="4074583"/>
              <a:ext cx="2679696" cy="1799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000" dirty="0">
                  <a:solidFill>
                    <a:srgbClr val="8899A6"/>
                  </a:solidFill>
                  <a:latin typeface="Calibri" panose="020F0502020204030204" pitchFamily="34" charset="0"/>
                  <a:ea typeface="KaiTi" panose="02010609060101010101" pitchFamily="49" charset="-122"/>
                  <a:cs typeface="Calibri" panose="020F0502020204030204" pitchFamily="34" charset="0"/>
                </a:rPr>
                <a:t>LeNet-5, AlexNet, VGG, ResNet</a:t>
              </a:r>
              <a:endParaRPr 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3886196" y="3778250"/>
              <a:ext cx="2857500" cy="550333"/>
            </a:xfrm>
            <a:custGeom>
              <a:avLst/>
              <a:gdLst/>
              <a:ahLst/>
              <a:cxnLst/>
              <a:rect l="l" t="t" r="r" b="b"/>
              <a:pathLst>
                <a:path w="3302000" h="550333">
                  <a:moveTo>
                    <a:pt x="42332" y="0"/>
                  </a:moveTo>
                  <a:lnTo>
                    <a:pt x="3259668" y="0"/>
                  </a:lnTo>
                  <a:cubicBezTo>
                    <a:pt x="3283047" y="0"/>
                    <a:pt x="3302000" y="18953"/>
                    <a:pt x="3302000" y="42332"/>
                  </a:cubicBezTo>
                  <a:lnTo>
                    <a:pt x="3302000" y="508002"/>
                  </a:lnTo>
                  <a:cubicBezTo>
                    <a:pt x="3302000" y="531381"/>
                    <a:pt x="3283047" y="550333"/>
                    <a:pt x="3259668" y="550333"/>
                  </a:cubicBezTo>
                  <a:lnTo>
                    <a:pt x="42332" y="550333"/>
                  </a:lnTo>
                  <a:cubicBezTo>
                    <a:pt x="18953" y="550333"/>
                    <a:pt x="0" y="531381"/>
                    <a:pt x="0" y="508002"/>
                  </a:cubicBezTo>
                  <a:lnTo>
                    <a:pt x="0" y="42332"/>
                  </a:lnTo>
                  <a:cubicBezTo>
                    <a:pt x="0" y="18968"/>
                    <a:pt x="18968" y="0"/>
                    <a:pt x="42332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3970863" y="3862917"/>
              <a:ext cx="2775072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1E8ED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核心能力</a:t>
              </a: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3970864" y="4074583"/>
              <a:ext cx="2765914" cy="1693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000" dirty="0">
                  <a:solidFill>
                    <a:srgbClr val="8899A6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特征提取, 模式识别</a:t>
              </a:r>
              <a:endParaRPr lang="en-US" sz="16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687917" y="4624917"/>
              <a:ext cx="6384397" cy="1820333"/>
            </a:xfrm>
            <a:custGeom>
              <a:avLst/>
              <a:gdLst/>
              <a:ahLst/>
              <a:cxnLst/>
              <a:rect l="l" t="t" r="r" b="b"/>
              <a:pathLst>
                <a:path w="7069667" h="1820333">
                  <a:moveTo>
                    <a:pt x="84664" y="0"/>
                  </a:moveTo>
                  <a:lnTo>
                    <a:pt x="6985003" y="0"/>
                  </a:lnTo>
                  <a:cubicBezTo>
                    <a:pt x="7031761" y="0"/>
                    <a:pt x="7069667" y="37905"/>
                    <a:pt x="7069667" y="84664"/>
                  </a:cubicBezTo>
                  <a:lnTo>
                    <a:pt x="7069667" y="1735670"/>
                  </a:lnTo>
                  <a:cubicBezTo>
                    <a:pt x="7069667" y="1782428"/>
                    <a:pt x="7031761" y="1820333"/>
                    <a:pt x="6985003" y="1820333"/>
                  </a:cubicBezTo>
                  <a:lnTo>
                    <a:pt x="84664" y="1820333"/>
                  </a:lnTo>
                  <a:cubicBezTo>
                    <a:pt x="37905" y="1820333"/>
                    <a:pt x="0" y="1782428"/>
                    <a:pt x="0" y="1735670"/>
                  </a:cubicBezTo>
                  <a:lnTo>
                    <a:pt x="0" y="84664"/>
                  </a:lnTo>
                  <a:cubicBezTo>
                    <a:pt x="0" y="37905"/>
                    <a:pt x="37905" y="0"/>
                    <a:pt x="84664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Shape 21"/>
            <p:cNvSpPr/>
            <p:nvPr/>
          </p:nvSpPr>
          <p:spPr>
            <a:xfrm>
              <a:off x="878417" y="5217583"/>
              <a:ext cx="148167" cy="148167"/>
            </a:xfrm>
            <a:custGeom>
              <a:avLst/>
              <a:gdLst/>
              <a:ahLst/>
              <a:cxnLst/>
              <a:rect l="l" t="t" r="r" b="b"/>
              <a:pathLst>
                <a:path w="148167" h="148167">
                  <a:moveTo>
                    <a:pt x="74083" y="148167"/>
                  </a:moveTo>
                  <a:cubicBezTo>
                    <a:pt x="114971" y="148167"/>
                    <a:pt x="148167" y="114971"/>
                    <a:pt x="148167" y="74083"/>
                  </a:cubicBezTo>
                  <a:cubicBezTo>
                    <a:pt x="148167" y="33196"/>
                    <a:pt x="114971" y="0"/>
                    <a:pt x="74083" y="0"/>
                  </a:cubicBezTo>
                  <a:cubicBezTo>
                    <a:pt x="33196" y="0"/>
                    <a:pt x="0" y="33196"/>
                    <a:pt x="0" y="74083"/>
                  </a:cubicBezTo>
                  <a:cubicBezTo>
                    <a:pt x="0" y="114971"/>
                    <a:pt x="33196" y="148167"/>
                    <a:pt x="74083" y="148167"/>
                  </a:cubicBezTo>
                  <a:close/>
                  <a:moveTo>
                    <a:pt x="98508" y="61553"/>
                  </a:moveTo>
                  <a:lnTo>
                    <a:pt x="75357" y="98594"/>
                  </a:lnTo>
                  <a:cubicBezTo>
                    <a:pt x="74141" y="100533"/>
                    <a:pt x="72058" y="101749"/>
                    <a:pt x="69771" y="101865"/>
                  </a:cubicBezTo>
                  <a:cubicBezTo>
                    <a:pt x="67485" y="101980"/>
                    <a:pt x="65286" y="100939"/>
                    <a:pt x="63926" y="99086"/>
                  </a:cubicBezTo>
                  <a:lnTo>
                    <a:pt x="50035" y="80566"/>
                  </a:lnTo>
                  <a:cubicBezTo>
                    <a:pt x="47720" y="77498"/>
                    <a:pt x="48357" y="73157"/>
                    <a:pt x="51424" y="70842"/>
                  </a:cubicBezTo>
                  <a:cubicBezTo>
                    <a:pt x="54492" y="68527"/>
                    <a:pt x="58833" y="69164"/>
                    <a:pt x="61148" y="72231"/>
                  </a:cubicBezTo>
                  <a:lnTo>
                    <a:pt x="68961" y="82649"/>
                  </a:lnTo>
                  <a:lnTo>
                    <a:pt x="86730" y="54202"/>
                  </a:lnTo>
                  <a:cubicBezTo>
                    <a:pt x="88755" y="50961"/>
                    <a:pt x="93038" y="49948"/>
                    <a:pt x="96308" y="52003"/>
                  </a:cubicBezTo>
                  <a:cubicBezTo>
                    <a:pt x="99578" y="54058"/>
                    <a:pt x="100562" y="58312"/>
                    <a:pt x="98508" y="61582"/>
                  </a:cubicBezTo>
                  <a:close/>
                </a:path>
              </a:pathLst>
            </a:custGeom>
            <a:solidFill>
              <a:srgbClr val="6ED3CF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1127125" y="5175250"/>
              <a:ext cx="2296583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1E8ED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图像分类：识别图像中的主要物体</a:t>
              </a:r>
              <a:endParaRPr lang="en-US" sz="16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878417" y="5513917"/>
              <a:ext cx="148167" cy="148167"/>
            </a:xfrm>
            <a:custGeom>
              <a:avLst/>
              <a:gdLst/>
              <a:ahLst/>
              <a:cxnLst/>
              <a:rect l="l" t="t" r="r" b="b"/>
              <a:pathLst>
                <a:path w="148167" h="148167">
                  <a:moveTo>
                    <a:pt x="74083" y="148167"/>
                  </a:moveTo>
                  <a:cubicBezTo>
                    <a:pt x="114971" y="148167"/>
                    <a:pt x="148167" y="114971"/>
                    <a:pt x="148167" y="74083"/>
                  </a:cubicBezTo>
                  <a:cubicBezTo>
                    <a:pt x="148167" y="33196"/>
                    <a:pt x="114971" y="0"/>
                    <a:pt x="74083" y="0"/>
                  </a:cubicBezTo>
                  <a:cubicBezTo>
                    <a:pt x="33196" y="0"/>
                    <a:pt x="0" y="33196"/>
                    <a:pt x="0" y="74083"/>
                  </a:cubicBezTo>
                  <a:cubicBezTo>
                    <a:pt x="0" y="114971"/>
                    <a:pt x="33196" y="148167"/>
                    <a:pt x="74083" y="148167"/>
                  </a:cubicBezTo>
                  <a:close/>
                  <a:moveTo>
                    <a:pt x="98508" y="61553"/>
                  </a:moveTo>
                  <a:lnTo>
                    <a:pt x="75357" y="98594"/>
                  </a:lnTo>
                  <a:cubicBezTo>
                    <a:pt x="74141" y="100533"/>
                    <a:pt x="72058" y="101749"/>
                    <a:pt x="69771" y="101865"/>
                  </a:cubicBezTo>
                  <a:cubicBezTo>
                    <a:pt x="67485" y="101980"/>
                    <a:pt x="65286" y="100939"/>
                    <a:pt x="63926" y="99086"/>
                  </a:cubicBezTo>
                  <a:lnTo>
                    <a:pt x="50035" y="80566"/>
                  </a:lnTo>
                  <a:cubicBezTo>
                    <a:pt x="47720" y="77498"/>
                    <a:pt x="48357" y="73157"/>
                    <a:pt x="51424" y="70842"/>
                  </a:cubicBezTo>
                  <a:cubicBezTo>
                    <a:pt x="54492" y="68527"/>
                    <a:pt x="58833" y="69164"/>
                    <a:pt x="61148" y="72231"/>
                  </a:cubicBezTo>
                  <a:lnTo>
                    <a:pt x="68961" y="82649"/>
                  </a:lnTo>
                  <a:lnTo>
                    <a:pt x="86730" y="54202"/>
                  </a:lnTo>
                  <a:cubicBezTo>
                    <a:pt x="88755" y="50961"/>
                    <a:pt x="93038" y="49948"/>
                    <a:pt x="96308" y="52003"/>
                  </a:cubicBezTo>
                  <a:cubicBezTo>
                    <a:pt x="99578" y="54058"/>
                    <a:pt x="100562" y="58312"/>
                    <a:pt x="98508" y="61582"/>
                  </a:cubicBezTo>
                  <a:close/>
                </a:path>
              </a:pathLst>
            </a:custGeom>
            <a:solidFill>
              <a:srgbClr val="6ED3CF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 24"/>
            <p:cNvSpPr/>
            <p:nvPr/>
          </p:nvSpPr>
          <p:spPr>
            <a:xfrm>
              <a:off x="1127125" y="5471583"/>
              <a:ext cx="2148417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1E8ED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目标检测：定位并识别多个物体</a:t>
              </a:r>
              <a:endParaRPr lang="en-US" sz="16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878417" y="5810250"/>
              <a:ext cx="148167" cy="148167"/>
            </a:xfrm>
            <a:custGeom>
              <a:avLst/>
              <a:gdLst/>
              <a:ahLst/>
              <a:cxnLst/>
              <a:rect l="l" t="t" r="r" b="b"/>
              <a:pathLst>
                <a:path w="148167" h="148167">
                  <a:moveTo>
                    <a:pt x="74083" y="148167"/>
                  </a:moveTo>
                  <a:cubicBezTo>
                    <a:pt x="114971" y="148167"/>
                    <a:pt x="148167" y="114971"/>
                    <a:pt x="148167" y="74083"/>
                  </a:cubicBezTo>
                  <a:cubicBezTo>
                    <a:pt x="148167" y="33196"/>
                    <a:pt x="114971" y="0"/>
                    <a:pt x="74083" y="0"/>
                  </a:cubicBezTo>
                  <a:cubicBezTo>
                    <a:pt x="33196" y="0"/>
                    <a:pt x="0" y="33196"/>
                    <a:pt x="0" y="74083"/>
                  </a:cubicBezTo>
                  <a:cubicBezTo>
                    <a:pt x="0" y="114971"/>
                    <a:pt x="33196" y="148167"/>
                    <a:pt x="74083" y="148167"/>
                  </a:cubicBezTo>
                  <a:close/>
                  <a:moveTo>
                    <a:pt x="98508" y="61553"/>
                  </a:moveTo>
                  <a:lnTo>
                    <a:pt x="75357" y="98594"/>
                  </a:lnTo>
                  <a:cubicBezTo>
                    <a:pt x="74141" y="100533"/>
                    <a:pt x="72058" y="101749"/>
                    <a:pt x="69771" y="101865"/>
                  </a:cubicBezTo>
                  <a:cubicBezTo>
                    <a:pt x="67485" y="101980"/>
                    <a:pt x="65286" y="100939"/>
                    <a:pt x="63926" y="99086"/>
                  </a:cubicBezTo>
                  <a:lnTo>
                    <a:pt x="50035" y="80566"/>
                  </a:lnTo>
                  <a:cubicBezTo>
                    <a:pt x="47720" y="77498"/>
                    <a:pt x="48357" y="73157"/>
                    <a:pt x="51424" y="70842"/>
                  </a:cubicBezTo>
                  <a:cubicBezTo>
                    <a:pt x="54492" y="68527"/>
                    <a:pt x="58833" y="69164"/>
                    <a:pt x="61148" y="72231"/>
                  </a:cubicBezTo>
                  <a:lnTo>
                    <a:pt x="68961" y="82649"/>
                  </a:lnTo>
                  <a:lnTo>
                    <a:pt x="86730" y="54202"/>
                  </a:lnTo>
                  <a:cubicBezTo>
                    <a:pt x="88755" y="50961"/>
                    <a:pt x="93038" y="49948"/>
                    <a:pt x="96308" y="52003"/>
                  </a:cubicBezTo>
                  <a:cubicBezTo>
                    <a:pt x="99578" y="54058"/>
                    <a:pt x="100562" y="58312"/>
                    <a:pt x="98508" y="61582"/>
                  </a:cubicBezTo>
                  <a:close/>
                </a:path>
              </a:pathLst>
            </a:custGeom>
            <a:solidFill>
              <a:srgbClr val="6ED3CF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 26"/>
            <p:cNvSpPr/>
            <p:nvPr/>
          </p:nvSpPr>
          <p:spPr>
            <a:xfrm>
              <a:off x="1127125" y="5767917"/>
              <a:ext cx="1852083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1E8ED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语义分割：像素级别的分类</a:t>
              </a:r>
              <a:endParaRPr lang="en-US" sz="16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878417" y="6106583"/>
              <a:ext cx="148167" cy="148167"/>
            </a:xfrm>
            <a:custGeom>
              <a:avLst/>
              <a:gdLst/>
              <a:ahLst/>
              <a:cxnLst/>
              <a:rect l="l" t="t" r="r" b="b"/>
              <a:pathLst>
                <a:path w="148167" h="148167">
                  <a:moveTo>
                    <a:pt x="74083" y="148167"/>
                  </a:moveTo>
                  <a:cubicBezTo>
                    <a:pt x="114971" y="148167"/>
                    <a:pt x="148167" y="114971"/>
                    <a:pt x="148167" y="74083"/>
                  </a:cubicBezTo>
                  <a:cubicBezTo>
                    <a:pt x="148167" y="33196"/>
                    <a:pt x="114971" y="0"/>
                    <a:pt x="74083" y="0"/>
                  </a:cubicBezTo>
                  <a:cubicBezTo>
                    <a:pt x="33196" y="0"/>
                    <a:pt x="0" y="33196"/>
                    <a:pt x="0" y="74083"/>
                  </a:cubicBezTo>
                  <a:cubicBezTo>
                    <a:pt x="0" y="114971"/>
                    <a:pt x="33196" y="148167"/>
                    <a:pt x="74083" y="148167"/>
                  </a:cubicBezTo>
                  <a:close/>
                  <a:moveTo>
                    <a:pt x="98508" y="61553"/>
                  </a:moveTo>
                  <a:lnTo>
                    <a:pt x="75357" y="98594"/>
                  </a:lnTo>
                  <a:cubicBezTo>
                    <a:pt x="74141" y="100533"/>
                    <a:pt x="72058" y="101749"/>
                    <a:pt x="69771" y="101865"/>
                  </a:cubicBezTo>
                  <a:cubicBezTo>
                    <a:pt x="67485" y="101980"/>
                    <a:pt x="65286" y="100939"/>
                    <a:pt x="63926" y="99086"/>
                  </a:cubicBezTo>
                  <a:lnTo>
                    <a:pt x="50035" y="80566"/>
                  </a:lnTo>
                  <a:cubicBezTo>
                    <a:pt x="47720" y="77498"/>
                    <a:pt x="48357" y="73157"/>
                    <a:pt x="51424" y="70842"/>
                  </a:cubicBezTo>
                  <a:cubicBezTo>
                    <a:pt x="54492" y="68527"/>
                    <a:pt x="58833" y="69164"/>
                    <a:pt x="61148" y="72231"/>
                  </a:cubicBezTo>
                  <a:lnTo>
                    <a:pt x="68961" y="82649"/>
                  </a:lnTo>
                  <a:lnTo>
                    <a:pt x="86730" y="54202"/>
                  </a:lnTo>
                  <a:cubicBezTo>
                    <a:pt x="88755" y="50961"/>
                    <a:pt x="93038" y="49948"/>
                    <a:pt x="96308" y="52003"/>
                  </a:cubicBezTo>
                  <a:cubicBezTo>
                    <a:pt x="99578" y="54058"/>
                    <a:pt x="100562" y="58312"/>
                    <a:pt x="98508" y="61582"/>
                  </a:cubicBezTo>
                  <a:close/>
                </a:path>
              </a:pathLst>
            </a:custGeom>
            <a:solidFill>
              <a:srgbClr val="6ED3CF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 28"/>
            <p:cNvSpPr/>
            <p:nvPr/>
          </p:nvSpPr>
          <p:spPr>
            <a:xfrm>
              <a:off x="1127125" y="6064250"/>
              <a:ext cx="2444750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1E8ED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实例分割：区分同一类别的不同实例</a:t>
              </a:r>
              <a:endParaRPr lang="en-US" sz="1600" dirty="0"/>
            </a:p>
          </p:txBody>
        </p: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28B9A7CF-B75D-E419-24CD-AE4CD5C3F318}"/>
              </a:ext>
            </a:extLst>
          </p:cNvPr>
          <p:cNvGrpSpPr/>
          <p:nvPr/>
        </p:nvGrpSpPr>
        <p:grpSpPr>
          <a:xfrm>
            <a:off x="7238728" y="1846792"/>
            <a:ext cx="3890963" cy="5810250"/>
            <a:chOff x="7724771" y="1846792"/>
            <a:chExt cx="3890963" cy="5810250"/>
          </a:xfrm>
        </p:grpSpPr>
        <p:sp>
          <p:nvSpPr>
            <p:cNvPr id="31" name="Shape 29"/>
            <p:cNvSpPr/>
            <p:nvPr/>
          </p:nvSpPr>
          <p:spPr>
            <a:xfrm>
              <a:off x="7724771" y="1846792"/>
              <a:ext cx="3890963" cy="5810250"/>
            </a:xfrm>
            <a:custGeom>
              <a:avLst/>
              <a:gdLst/>
              <a:ahLst/>
              <a:cxnLst/>
              <a:rect l="l" t="t" r="r" b="b"/>
              <a:pathLst>
                <a:path w="7588250" h="5810250">
                  <a:moveTo>
                    <a:pt x="127012" y="0"/>
                  </a:moveTo>
                  <a:lnTo>
                    <a:pt x="7461238" y="0"/>
                  </a:lnTo>
                  <a:cubicBezTo>
                    <a:pt x="7531385" y="0"/>
                    <a:pt x="7588250" y="56865"/>
                    <a:pt x="7588250" y="127012"/>
                  </a:cubicBezTo>
                  <a:lnTo>
                    <a:pt x="7588250" y="5683238"/>
                  </a:lnTo>
                  <a:cubicBezTo>
                    <a:pt x="7588250" y="5753385"/>
                    <a:pt x="7531385" y="5810250"/>
                    <a:pt x="7461238" y="5810250"/>
                  </a:cubicBezTo>
                  <a:lnTo>
                    <a:pt x="127012" y="5810250"/>
                  </a:lnTo>
                  <a:cubicBezTo>
                    <a:pt x="56865" y="5810250"/>
                    <a:pt x="0" y="5753385"/>
                    <a:pt x="0" y="5683238"/>
                  </a:cubicBezTo>
                  <a:lnTo>
                    <a:pt x="0" y="127012"/>
                  </a:lnTo>
                  <a:cubicBezTo>
                    <a:pt x="0" y="56912"/>
                    <a:pt x="56912" y="0"/>
                    <a:pt x="12701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6ED3CF">
                    <a:alpha val="20000"/>
                  </a:srgbClr>
                </a:gs>
                <a:gs pos="100000">
                  <a:srgbClr val="6ED3CF">
                    <a:alpha val="5000"/>
                  </a:srgbClr>
                </a:gs>
              </a:gsLst>
              <a:lin ang="2700000" scaled="1"/>
            </a:gradFill>
            <a:ln w="12700">
              <a:solidFill>
                <a:srgbClr val="6ED3CF">
                  <a:alpha val="30196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Shape 30"/>
            <p:cNvSpPr/>
            <p:nvPr/>
          </p:nvSpPr>
          <p:spPr>
            <a:xfrm>
              <a:off x="7984063" y="212725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84668" y="0"/>
                  </a:moveTo>
                  <a:lnTo>
                    <a:pt x="423332" y="0"/>
                  </a:lnTo>
                  <a:cubicBezTo>
                    <a:pt x="470093" y="0"/>
                    <a:pt x="508000" y="37907"/>
                    <a:pt x="508000" y="84668"/>
                  </a:cubicBezTo>
                  <a:lnTo>
                    <a:pt x="508000" y="423332"/>
                  </a:lnTo>
                  <a:cubicBezTo>
                    <a:pt x="508000" y="470093"/>
                    <a:pt x="470093" y="508000"/>
                    <a:pt x="423332" y="508000"/>
                  </a:cubicBezTo>
                  <a:lnTo>
                    <a:pt x="84668" y="508000"/>
                  </a:lnTo>
                  <a:cubicBezTo>
                    <a:pt x="37907" y="508000"/>
                    <a:pt x="0" y="470093"/>
                    <a:pt x="0" y="423332"/>
                  </a:cubicBezTo>
                  <a:lnTo>
                    <a:pt x="0" y="84668"/>
                  </a:lnTo>
                  <a:cubicBezTo>
                    <a:pt x="0" y="37939"/>
                    <a:pt x="37939" y="0"/>
                    <a:pt x="84668" y="0"/>
                  </a:cubicBezTo>
                  <a:close/>
                </a:path>
              </a:pathLst>
            </a:custGeom>
            <a:solidFill>
              <a:srgbClr val="6ED3CF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Shape 31"/>
            <p:cNvSpPr/>
            <p:nvPr/>
          </p:nvSpPr>
          <p:spPr>
            <a:xfrm>
              <a:off x="8132229" y="2275417"/>
              <a:ext cx="211667" cy="211667"/>
            </a:xfrm>
            <a:custGeom>
              <a:avLst/>
              <a:gdLst/>
              <a:ahLst/>
              <a:cxnLst/>
              <a:rect l="l" t="t" r="r" b="b"/>
              <a:pathLst>
                <a:path w="211667" h="211667">
                  <a:moveTo>
                    <a:pt x="105833" y="0"/>
                  </a:moveTo>
                  <a:cubicBezTo>
                    <a:pt x="107735" y="0"/>
                    <a:pt x="109637" y="413"/>
                    <a:pt x="111373" y="1199"/>
                  </a:cubicBezTo>
                  <a:lnTo>
                    <a:pt x="189260" y="34230"/>
                  </a:lnTo>
                  <a:cubicBezTo>
                    <a:pt x="198355" y="38075"/>
                    <a:pt x="205135" y="47046"/>
                    <a:pt x="205093" y="57878"/>
                  </a:cubicBezTo>
                  <a:cubicBezTo>
                    <a:pt x="204887" y="98888"/>
                    <a:pt x="188020" y="173922"/>
                    <a:pt x="116789" y="208029"/>
                  </a:cubicBezTo>
                  <a:cubicBezTo>
                    <a:pt x="109885" y="211336"/>
                    <a:pt x="101865" y="211336"/>
                    <a:pt x="94961" y="208029"/>
                  </a:cubicBezTo>
                  <a:cubicBezTo>
                    <a:pt x="23688" y="173922"/>
                    <a:pt x="6863" y="98888"/>
                    <a:pt x="6656" y="57878"/>
                  </a:cubicBezTo>
                  <a:cubicBezTo>
                    <a:pt x="6615" y="47046"/>
                    <a:pt x="13395" y="38075"/>
                    <a:pt x="22490" y="34230"/>
                  </a:cubicBezTo>
                  <a:lnTo>
                    <a:pt x="100335" y="1199"/>
                  </a:lnTo>
                  <a:cubicBezTo>
                    <a:pt x="102071" y="413"/>
                    <a:pt x="103932" y="0"/>
                    <a:pt x="105833" y="0"/>
                  </a:cubicBezTo>
                  <a:close/>
                  <a:moveTo>
                    <a:pt x="105833" y="27616"/>
                  </a:moveTo>
                  <a:lnTo>
                    <a:pt x="105833" y="183927"/>
                  </a:lnTo>
                  <a:cubicBezTo>
                    <a:pt x="162884" y="156311"/>
                    <a:pt x="178222" y="95126"/>
                    <a:pt x="178594" y="58498"/>
                  </a:cubicBezTo>
                  <a:lnTo>
                    <a:pt x="105833" y="27657"/>
                  </a:lnTo>
                  <a:lnTo>
                    <a:pt x="105833" y="27657"/>
                  </a:lnTo>
                  <a:close/>
                </a:path>
              </a:pathLst>
            </a:custGeom>
            <a:solidFill>
              <a:srgbClr val="1A1D24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Text 32"/>
            <p:cNvSpPr/>
            <p:nvPr/>
          </p:nvSpPr>
          <p:spPr>
            <a:xfrm>
              <a:off x="8619063" y="2106083"/>
              <a:ext cx="1164167" cy="338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2000" dirty="0">
                  <a:solidFill>
                    <a:srgbClr val="E1E8ED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典型应用</a:t>
              </a:r>
              <a:endParaRPr lang="en-US" sz="16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8619063" y="2444750"/>
              <a:ext cx="1111250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8899A6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商业化落地场景</a:t>
              </a:r>
              <a:endParaRPr lang="en-US" sz="16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8005229" y="2825750"/>
              <a:ext cx="3324755" cy="1439333"/>
            </a:xfrm>
            <a:custGeom>
              <a:avLst/>
              <a:gdLst/>
              <a:ahLst/>
              <a:cxnLst/>
              <a:rect l="l" t="t" r="r" b="b"/>
              <a:pathLst>
                <a:path w="7048500" h="1439333">
                  <a:moveTo>
                    <a:pt x="42333" y="0"/>
                  </a:moveTo>
                  <a:lnTo>
                    <a:pt x="6963838" y="0"/>
                  </a:lnTo>
                  <a:cubicBezTo>
                    <a:pt x="7010596" y="0"/>
                    <a:pt x="7048500" y="37904"/>
                    <a:pt x="7048500" y="84662"/>
                  </a:cubicBezTo>
                  <a:lnTo>
                    <a:pt x="7048500" y="1354672"/>
                  </a:lnTo>
                  <a:cubicBezTo>
                    <a:pt x="7048500" y="1401429"/>
                    <a:pt x="7010596" y="1439333"/>
                    <a:pt x="6963838" y="1439333"/>
                  </a:cubicBezTo>
                  <a:lnTo>
                    <a:pt x="42333" y="1439333"/>
                  </a:lnTo>
                  <a:cubicBezTo>
                    <a:pt x="18953" y="1439333"/>
                    <a:pt x="0" y="1420380"/>
                    <a:pt x="0" y="1397000"/>
                  </a:cubicBezTo>
                  <a:lnTo>
                    <a:pt x="0" y="42333"/>
                  </a:lnTo>
                  <a:cubicBezTo>
                    <a:pt x="0" y="18953"/>
                    <a:pt x="18953" y="0"/>
                    <a:pt x="42333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Shape 35"/>
            <p:cNvSpPr/>
            <p:nvPr/>
          </p:nvSpPr>
          <p:spPr>
            <a:xfrm>
              <a:off x="8005229" y="2825750"/>
              <a:ext cx="42333" cy="1439333"/>
            </a:xfrm>
            <a:custGeom>
              <a:avLst/>
              <a:gdLst/>
              <a:ahLst/>
              <a:cxnLst/>
              <a:rect l="l" t="t" r="r" b="b"/>
              <a:pathLst>
                <a:path w="42333" h="1439333">
                  <a:moveTo>
                    <a:pt x="42333" y="0"/>
                  </a:moveTo>
                  <a:lnTo>
                    <a:pt x="42333" y="0"/>
                  </a:lnTo>
                  <a:lnTo>
                    <a:pt x="42333" y="1439333"/>
                  </a:lnTo>
                  <a:lnTo>
                    <a:pt x="42333" y="1439333"/>
                  </a:lnTo>
                  <a:cubicBezTo>
                    <a:pt x="18953" y="1439333"/>
                    <a:pt x="0" y="1420380"/>
                    <a:pt x="0" y="1397000"/>
                  </a:cubicBezTo>
                  <a:lnTo>
                    <a:pt x="0" y="42333"/>
                  </a:lnTo>
                  <a:cubicBezTo>
                    <a:pt x="0" y="18953"/>
                    <a:pt x="18953" y="0"/>
                    <a:pt x="42333" y="0"/>
                  </a:cubicBezTo>
                  <a:close/>
                </a:path>
              </a:pathLst>
            </a:custGeom>
            <a:solidFill>
              <a:srgbClr val="6ED3CF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Shape 36"/>
            <p:cNvSpPr/>
            <p:nvPr/>
          </p:nvSpPr>
          <p:spPr>
            <a:xfrm>
              <a:off x="8206313" y="3058583"/>
              <a:ext cx="190500" cy="169333"/>
            </a:xfrm>
            <a:custGeom>
              <a:avLst/>
              <a:gdLst/>
              <a:ahLst/>
              <a:cxnLst/>
              <a:rect l="l" t="t" r="r" b="b"/>
              <a:pathLst>
                <a:path w="190500" h="169333">
                  <a:moveTo>
                    <a:pt x="31750" y="21167"/>
                  </a:moveTo>
                  <a:cubicBezTo>
                    <a:pt x="20075" y="21167"/>
                    <a:pt x="10583" y="30659"/>
                    <a:pt x="10583" y="42333"/>
                  </a:cubicBezTo>
                  <a:lnTo>
                    <a:pt x="10583" y="127000"/>
                  </a:lnTo>
                  <a:cubicBezTo>
                    <a:pt x="10583" y="138675"/>
                    <a:pt x="20075" y="148167"/>
                    <a:pt x="31750" y="148167"/>
                  </a:cubicBezTo>
                  <a:lnTo>
                    <a:pt x="116417" y="148167"/>
                  </a:lnTo>
                  <a:cubicBezTo>
                    <a:pt x="128091" y="148167"/>
                    <a:pt x="137583" y="138675"/>
                    <a:pt x="137583" y="127000"/>
                  </a:cubicBezTo>
                  <a:lnTo>
                    <a:pt x="137583" y="42333"/>
                  </a:lnTo>
                  <a:cubicBezTo>
                    <a:pt x="137583" y="30659"/>
                    <a:pt x="128091" y="21167"/>
                    <a:pt x="116417" y="21167"/>
                  </a:cubicBezTo>
                  <a:lnTo>
                    <a:pt x="31750" y="21167"/>
                  </a:lnTo>
                  <a:close/>
                  <a:moveTo>
                    <a:pt x="153458" y="111125"/>
                  </a:moveTo>
                  <a:lnTo>
                    <a:pt x="177767" y="130572"/>
                  </a:lnTo>
                  <a:cubicBezTo>
                    <a:pt x="179156" y="131696"/>
                    <a:pt x="180876" y="132292"/>
                    <a:pt x="182662" y="132292"/>
                  </a:cubicBezTo>
                  <a:cubicBezTo>
                    <a:pt x="186994" y="132292"/>
                    <a:pt x="190500" y="128786"/>
                    <a:pt x="190500" y="124453"/>
                  </a:cubicBezTo>
                  <a:lnTo>
                    <a:pt x="190500" y="44880"/>
                  </a:lnTo>
                  <a:cubicBezTo>
                    <a:pt x="190500" y="40547"/>
                    <a:pt x="186994" y="37042"/>
                    <a:pt x="182662" y="37042"/>
                  </a:cubicBezTo>
                  <a:cubicBezTo>
                    <a:pt x="180876" y="37042"/>
                    <a:pt x="179156" y="37637"/>
                    <a:pt x="177767" y="38761"/>
                  </a:cubicBezTo>
                  <a:lnTo>
                    <a:pt x="153458" y="58208"/>
                  </a:lnTo>
                  <a:lnTo>
                    <a:pt x="153458" y="111125"/>
                  </a:lnTo>
                  <a:close/>
                </a:path>
              </a:pathLst>
            </a:custGeom>
            <a:solidFill>
              <a:srgbClr val="6ED3CF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 37"/>
            <p:cNvSpPr/>
            <p:nvPr/>
          </p:nvSpPr>
          <p:spPr>
            <a:xfrm>
              <a:off x="8492063" y="2995083"/>
              <a:ext cx="857250" cy="2963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00" dirty="0">
                  <a:solidFill>
                    <a:srgbClr val="E1E8ED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安防监控</a:t>
              </a:r>
              <a:endParaRPr lang="en-US" sz="16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8195729" y="3376083"/>
              <a:ext cx="3189968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1E8ED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• 人脸识别与门禁系统</a:t>
              </a:r>
              <a:endParaRPr lang="en-US" sz="16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8195729" y="3630083"/>
              <a:ext cx="3189968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1E8ED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• 行为检测与异常报警</a:t>
              </a:r>
              <a:endParaRPr lang="en-US" sz="16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8195729" y="3884083"/>
              <a:ext cx="3189968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1E8ED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• 车辆识别与违章检测</a:t>
              </a:r>
              <a:endParaRPr lang="en-US" sz="160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8005229" y="4392083"/>
              <a:ext cx="3324755" cy="1439333"/>
            </a:xfrm>
            <a:custGeom>
              <a:avLst/>
              <a:gdLst/>
              <a:ahLst/>
              <a:cxnLst/>
              <a:rect l="l" t="t" r="r" b="b"/>
              <a:pathLst>
                <a:path w="7048500" h="1439333">
                  <a:moveTo>
                    <a:pt x="42333" y="0"/>
                  </a:moveTo>
                  <a:lnTo>
                    <a:pt x="6963838" y="0"/>
                  </a:lnTo>
                  <a:cubicBezTo>
                    <a:pt x="7010596" y="0"/>
                    <a:pt x="7048500" y="37904"/>
                    <a:pt x="7048500" y="84662"/>
                  </a:cubicBezTo>
                  <a:lnTo>
                    <a:pt x="7048500" y="1354672"/>
                  </a:lnTo>
                  <a:cubicBezTo>
                    <a:pt x="7048500" y="1401429"/>
                    <a:pt x="7010596" y="1439333"/>
                    <a:pt x="6963838" y="1439333"/>
                  </a:cubicBezTo>
                  <a:lnTo>
                    <a:pt x="42333" y="1439333"/>
                  </a:lnTo>
                  <a:cubicBezTo>
                    <a:pt x="18953" y="1439333"/>
                    <a:pt x="0" y="1420380"/>
                    <a:pt x="0" y="1397000"/>
                  </a:cubicBezTo>
                  <a:lnTo>
                    <a:pt x="0" y="42333"/>
                  </a:lnTo>
                  <a:cubicBezTo>
                    <a:pt x="0" y="18953"/>
                    <a:pt x="18953" y="0"/>
                    <a:pt x="42333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Shape 42"/>
            <p:cNvSpPr/>
            <p:nvPr/>
          </p:nvSpPr>
          <p:spPr>
            <a:xfrm>
              <a:off x="8005229" y="4392083"/>
              <a:ext cx="42333" cy="1439333"/>
            </a:xfrm>
            <a:custGeom>
              <a:avLst/>
              <a:gdLst/>
              <a:ahLst/>
              <a:cxnLst/>
              <a:rect l="l" t="t" r="r" b="b"/>
              <a:pathLst>
                <a:path w="42333" h="1439333">
                  <a:moveTo>
                    <a:pt x="42333" y="0"/>
                  </a:moveTo>
                  <a:lnTo>
                    <a:pt x="42333" y="0"/>
                  </a:lnTo>
                  <a:lnTo>
                    <a:pt x="42333" y="1439333"/>
                  </a:lnTo>
                  <a:lnTo>
                    <a:pt x="42333" y="1439333"/>
                  </a:lnTo>
                  <a:cubicBezTo>
                    <a:pt x="18953" y="1439333"/>
                    <a:pt x="0" y="1420380"/>
                    <a:pt x="0" y="1397000"/>
                  </a:cubicBezTo>
                  <a:lnTo>
                    <a:pt x="0" y="42333"/>
                  </a:lnTo>
                  <a:cubicBezTo>
                    <a:pt x="0" y="18953"/>
                    <a:pt x="18953" y="0"/>
                    <a:pt x="42333" y="0"/>
                  </a:cubicBezTo>
                  <a:close/>
                </a:path>
              </a:pathLst>
            </a:custGeom>
            <a:solidFill>
              <a:srgbClr val="6ED3CF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Shape 43"/>
            <p:cNvSpPr/>
            <p:nvPr/>
          </p:nvSpPr>
          <p:spPr>
            <a:xfrm>
              <a:off x="8216896" y="4624917"/>
              <a:ext cx="169333" cy="169333"/>
            </a:xfrm>
            <a:custGeom>
              <a:avLst/>
              <a:gdLst/>
              <a:ahLst/>
              <a:cxnLst/>
              <a:rect l="l" t="t" r="r" b="b"/>
              <a:pathLst>
                <a:path w="169333" h="169333">
                  <a:moveTo>
                    <a:pt x="84667" y="35686"/>
                  </a:moveTo>
                  <a:lnTo>
                    <a:pt x="79706" y="28807"/>
                  </a:lnTo>
                  <a:cubicBezTo>
                    <a:pt x="71438" y="17363"/>
                    <a:pt x="58175" y="10583"/>
                    <a:pt x="44020" y="10583"/>
                  </a:cubicBezTo>
                  <a:cubicBezTo>
                    <a:pt x="19711" y="10583"/>
                    <a:pt x="0" y="30295"/>
                    <a:pt x="0" y="54603"/>
                  </a:cubicBezTo>
                  <a:lnTo>
                    <a:pt x="0" y="55463"/>
                  </a:lnTo>
                  <a:cubicBezTo>
                    <a:pt x="0" y="63268"/>
                    <a:pt x="2051" y="71338"/>
                    <a:pt x="5490" y="79375"/>
                  </a:cubicBezTo>
                  <a:lnTo>
                    <a:pt x="40547" y="79375"/>
                  </a:lnTo>
                  <a:cubicBezTo>
                    <a:pt x="41606" y="79375"/>
                    <a:pt x="42565" y="78747"/>
                    <a:pt x="42995" y="77754"/>
                  </a:cubicBezTo>
                  <a:lnTo>
                    <a:pt x="53512" y="52520"/>
                  </a:lnTo>
                  <a:cubicBezTo>
                    <a:pt x="54736" y="49609"/>
                    <a:pt x="57580" y="47691"/>
                    <a:pt x="60722" y="47625"/>
                  </a:cubicBezTo>
                  <a:cubicBezTo>
                    <a:pt x="63864" y="47559"/>
                    <a:pt x="66774" y="49411"/>
                    <a:pt x="68064" y="52288"/>
                  </a:cubicBezTo>
                  <a:lnTo>
                    <a:pt x="85030" y="89958"/>
                  </a:lnTo>
                  <a:lnTo>
                    <a:pt x="98723" y="62574"/>
                  </a:lnTo>
                  <a:cubicBezTo>
                    <a:pt x="100079" y="59895"/>
                    <a:pt x="102824" y="58175"/>
                    <a:pt x="105833" y="58175"/>
                  </a:cubicBezTo>
                  <a:cubicBezTo>
                    <a:pt x="108843" y="58175"/>
                    <a:pt x="111588" y="59862"/>
                    <a:pt x="112944" y="62574"/>
                  </a:cubicBezTo>
                  <a:lnTo>
                    <a:pt x="120617" y="77887"/>
                  </a:lnTo>
                  <a:cubicBezTo>
                    <a:pt x="121080" y="78780"/>
                    <a:pt x="121973" y="79342"/>
                    <a:pt x="122998" y="79342"/>
                  </a:cubicBezTo>
                  <a:lnTo>
                    <a:pt x="163876" y="79342"/>
                  </a:lnTo>
                  <a:cubicBezTo>
                    <a:pt x="167349" y="71305"/>
                    <a:pt x="169366" y="63235"/>
                    <a:pt x="169366" y="55430"/>
                  </a:cubicBezTo>
                  <a:lnTo>
                    <a:pt x="169366" y="54570"/>
                  </a:lnTo>
                  <a:cubicBezTo>
                    <a:pt x="169333" y="30295"/>
                    <a:pt x="149622" y="10583"/>
                    <a:pt x="125313" y="10583"/>
                  </a:cubicBezTo>
                  <a:cubicBezTo>
                    <a:pt x="111191" y="10583"/>
                    <a:pt x="97896" y="17363"/>
                    <a:pt x="89628" y="28807"/>
                  </a:cubicBezTo>
                  <a:lnTo>
                    <a:pt x="84667" y="35653"/>
                  </a:lnTo>
                  <a:close/>
                  <a:moveTo>
                    <a:pt x="155310" y="95250"/>
                  </a:moveTo>
                  <a:lnTo>
                    <a:pt x="122965" y="95250"/>
                  </a:lnTo>
                  <a:cubicBezTo>
                    <a:pt x="115954" y="95250"/>
                    <a:pt x="109537" y="91281"/>
                    <a:pt x="106396" y="84997"/>
                  </a:cubicBezTo>
                  <a:lnTo>
                    <a:pt x="105833" y="83873"/>
                  </a:lnTo>
                  <a:lnTo>
                    <a:pt x="91777" y="112018"/>
                  </a:lnTo>
                  <a:cubicBezTo>
                    <a:pt x="90421" y="114763"/>
                    <a:pt x="87577" y="116483"/>
                    <a:pt x="84501" y="116417"/>
                  </a:cubicBezTo>
                  <a:cubicBezTo>
                    <a:pt x="81426" y="116351"/>
                    <a:pt x="78680" y="114532"/>
                    <a:pt x="77424" y="111753"/>
                  </a:cubicBezTo>
                  <a:lnTo>
                    <a:pt x="61119" y="75539"/>
                  </a:lnTo>
                  <a:lnTo>
                    <a:pt x="57646" y="83873"/>
                  </a:lnTo>
                  <a:cubicBezTo>
                    <a:pt x="54769" y="90785"/>
                    <a:pt x="48022" y="95283"/>
                    <a:pt x="40547" y="95283"/>
                  </a:cubicBezTo>
                  <a:lnTo>
                    <a:pt x="14023" y="95283"/>
                  </a:lnTo>
                  <a:cubicBezTo>
                    <a:pt x="29633" y="119691"/>
                    <a:pt x="54703" y="142147"/>
                    <a:pt x="70379" y="154120"/>
                  </a:cubicBezTo>
                  <a:cubicBezTo>
                    <a:pt x="74480" y="157229"/>
                    <a:pt x="79507" y="158783"/>
                    <a:pt x="84634" y="158783"/>
                  </a:cubicBezTo>
                  <a:cubicBezTo>
                    <a:pt x="89760" y="158783"/>
                    <a:pt x="94820" y="157262"/>
                    <a:pt x="98888" y="154120"/>
                  </a:cubicBezTo>
                  <a:cubicBezTo>
                    <a:pt x="114631" y="142114"/>
                    <a:pt x="139700" y="119658"/>
                    <a:pt x="155310" y="95250"/>
                  </a:cubicBezTo>
                  <a:close/>
                </a:path>
              </a:pathLst>
            </a:custGeom>
            <a:solidFill>
              <a:srgbClr val="6ED3CF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Text 44"/>
            <p:cNvSpPr/>
            <p:nvPr/>
          </p:nvSpPr>
          <p:spPr>
            <a:xfrm>
              <a:off x="8492063" y="4561417"/>
              <a:ext cx="1238250" cy="2963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00" dirty="0">
                  <a:solidFill>
                    <a:srgbClr val="E1E8ED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医疗影像分析</a:t>
              </a:r>
              <a:endParaRPr lang="en-US" sz="16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8195729" y="4942417"/>
              <a:ext cx="3189968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1E8ED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• 病灶检测与定位</a:t>
              </a:r>
              <a:endParaRPr lang="en-US" sz="160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8195729" y="5196417"/>
              <a:ext cx="3189968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1E8ED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• 影像诊断辅助</a:t>
              </a:r>
              <a:endParaRPr lang="en-US" sz="160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8195729" y="5450417"/>
              <a:ext cx="3189968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1E8ED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• 病理切片分析</a:t>
              </a:r>
              <a:endParaRPr lang="en-US" sz="1600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8005229" y="5958417"/>
              <a:ext cx="3324755" cy="1439333"/>
            </a:xfrm>
            <a:custGeom>
              <a:avLst/>
              <a:gdLst/>
              <a:ahLst/>
              <a:cxnLst/>
              <a:rect l="l" t="t" r="r" b="b"/>
              <a:pathLst>
                <a:path w="7048500" h="1439333">
                  <a:moveTo>
                    <a:pt x="42333" y="0"/>
                  </a:moveTo>
                  <a:lnTo>
                    <a:pt x="6963838" y="0"/>
                  </a:lnTo>
                  <a:cubicBezTo>
                    <a:pt x="7010596" y="0"/>
                    <a:pt x="7048500" y="37904"/>
                    <a:pt x="7048500" y="84662"/>
                  </a:cubicBezTo>
                  <a:lnTo>
                    <a:pt x="7048500" y="1354672"/>
                  </a:lnTo>
                  <a:cubicBezTo>
                    <a:pt x="7048500" y="1401429"/>
                    <a:pt x="7010596" y="1439333"/>
                    <a:pt x="6963838" y="1439333"/>
                  </a:cubicBezTo>
                  <a:lnTo>
                    <a:pt x="42333" y="1439333"/>
                  </a:lnTo>
                  <a:cubicBezTo>
                    <a:pt x="18953" y="1439333"/>
                    <a:pt x="0" y="1420380"/>
                    <a:pt x="0" y="1397000"/>
                  </a:cubicBezTo>
                  <a:lnTo>
                    <a:pt x="0" y="42333"/>
                  </a:lnTo>
                  <a:cubicBezTo>
                    <a:pt x="0" y="18953"/>
                    <a:pt x="18953" y="0"/>
                    <a:pt x="42333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Shape 49"/>
            <p:cNvSpPr/>
            <p:nvPr/>
          </p:nvSpPr>
          <p:spPr>
            <a:xfrm>
              <a:off x="8005229" y="5958417"/>
              <a:ext cx="42333" cy="1439333"/>
            </a:xfrm>
            <a:custGeom>
              <a:avLst/>
              <a:gdLst/>
              <a:ahLst/>
              <a:cxnLst/>
              <a:rect l="l" t="t" r="r" b="b"/>
              <a:pathLst>
                <a:path w="42333" h="1439333">
                  <a:moveTo>
                    <a:pt x="42333" y="0"/>
                  </a:moveTo>
                  <a:lnTo>
                    <a:pt x="42333" y="0"/>
                  </a:lnTo>
                  <a:lnTo>
                    <a:pt x="42333" y="1439333"/>
                  </a:lnTo>
                  <a:lnTo>
                    <a:pt x="42333" y="1439333"/>
                  </a:lnTo>
                  <a:cubicBezTo>
                    <a:pt x="18953" y="1439333"/>
                    <a:pt x="0" y="1420380"/>
                    <a:pt x="0" y="1397000"/>
                  </a:cubicBezTo>
                  <a:lnTo>
                    <a:pt x="0" y="42333"/>
                  </a:lnTo>
                  <a:cubicBezTo>
                    <a:pt x="0" y="18953"/>
                    <a:pt x="18953" y="0"/>
                    <a:pt x="42333" y="0"/>
                  </a:cubicBezTo>
                  <a:close/>
                </a:path>
              </a:pathLst>
            </a:custGeom>
            <a:solidFill>
              <a:srgbClr val="6ED3CF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Shape 50"/>
            <p:cNvSpPr/>
            <p:nvPr/>
          </p:nvSpPr>
          <p:spPr>
            <a:xfrm>
              <a:off x="8216896" y="6191250"/>
              <a:ext cx="169333" cy="169333"/>
            </a:xfrm>
            <a:custGeom>
              <a:avLst/>
              <a:gdLst/>
              <a:ahLst/>
              <a:cxnLst/>
              <a:rect l="l" t="t" r="r" b="b"/>
              <a:pathLst>
                <a:path w="169333" h="169333">
                  <a:moveTo>
                    <a:pt x="44715" y="38828"/>
                  </a:moveTo>
                  <a:lnTo>
                    <a:pt x="36083" y="63500"/>
                  </a:lnTo>
                  <a:lnTo>
                    <a:pt x="133251" y="63500"/>
                  </a:lnTo>
                  <a:lnTo>
                    <a:pt x="124619" y="38828"/>
                  </a:lnTo>
                  <a:cubicBezTo>
                    <a:pt x="123130" y="34594"/>
                    <a:pt x="119129" y="31750"/>
                    <a:pt x="114631" y="31750"/>
                  </a:cubicBezTo>
                  <a:lnTo>
                    <a:pt x="54703" y="31750"/>
                  </a:lnTo>
                  <a:cubicBezTo>
                    <a:pt x="50205" y="31750"/>
                    <a:pt x="46203" y="34594"/>
                    <a:pt x="44715" y="38828"/>
                  </a:cubicBezTo>
                  <a:close/>
                  <a:moveTo>
                    <a:pt x="13097" y="65088"/>
                  </a:moveTo>
                  <a:lnTo>
                    <a:pt x="24739" y="31849"/>
                  </a:lnTo>
                  <a:cubicBezTo>
                    <a:pt x="29203" y="19116"/>
                    <a:pt x="41209" y="10583"/>
                    <a:pt x="54703" y="10583"/>
                  </a:cubicBezTo>
                  <a:lnTo>
                    <a:pt x="114631" y="10583"/>
                  </a:lnTo>
                  <a:cubicBezTo>
                    <a:pt x="128124" y="10583"/>
                    <a:pt x="140130" y="19116"/>
                    <a:pt x="144595" y="31849"/>
                  </a:cubicBezTo>
                  <a:lnTo>
                    <a:pt x="156236" y="65088"/>
                  </a:lnTo>
                  <a:cubicBezTo>
                    <a:pt x="163909" y="68263"/>
                    <a:pt x="169333" y="75836"/>
                    <a:pt x="169333" y="84667"/>
                  </a:cubicBezTo>
                  <a:lnTo>
                    <a:pt x="169333" y="148167"/>
                  </a:lnTo>
                  <a:cubicBezTo>
                    <a:pt x="169333" y="154021"/>
                    <a:pt x="164604" y="158750"/>
                    <a:pt x="158750" y="158750"/>
                  </a:cubicBezTo>
                  <a:lnTo>
                    <a:pt x="148167" y="158750"/>
                  </a:lnTo>
                  <a:cubicBezTo>
                    <a:pt x="142313" y="158750"/>
                    <a:pt x="137583" y="154021"/>
                    <a:pt x="137583" y="148167"/>
                  </a:cubicBezTo>
                  <a:lnTo>
                    <a:pt x="137583" y="137583"/>
                  </a:lnTo>
                  <a:lnTo>
                    <a:pt x="31750" y="137583"/>
                  </a:lnTo>
                  <a:lnTo>
                    <a:pt x="31750" y="148167"/>
                  </a:lnTo>
                  <a:cubicBezTo>
                    <a:pt x="31750" y="154021"/>
                    <a:pt x="27021" y="158750"/>
                    <a:pt x="21167" y="158750"/>
                  </a:cubicBezTo>
                  <a:lnTo>
                    <a:pt x="10583" y="158750"/>
                  </a:lnTo>
                  <a:cubicBezTo>
                    <a:pt x="4729" y="158750"/>
                    <a:pt x="0" y="154021"/>
                    <a:pt x="0" y="148167"/>
                  </a:cubicBezTo>
                  <a:lnTo>
                    <a:pt x="0" y="84667"/>
                  </a:lnTo>
                  <a:cubicBezTo>
                    <a:pt x="0" y="75836"/>
                    <a:pt x="5424" y="68263"/>
                    <a:pt x="13097" y="65088"/>
                  </a:cubicBezTo>
                  <a:close/>
                  <a:moveTo>
                    <a:pt x="42333" y="100542"/>
                  </a:moveTo>
                  <a:cubicBezTo>
                    <a:pt x="42333" y="94701"/>
                    <a:pt x="37591" y="89958"/>
                    <a:pt x="31750" y="89958"/>
                  </a:cubicBezTo>
                  <a:cubicBezTo>
                    <a:pt x="25909" y="89958"/>
                    <a:pt x="21167" y="94701"/>
                    <a:pt x="21167" y="100542"/>
                  </a:cubicBezTo>
                  <a:cubicBezTo>
                    <a:pt x="21167" y="106383"/>
                    <a:pt x="25909" y="111125"/>
                    <a:pt x="31750" y="111125"/>
                  </a:cubicBezTo>
                  <a:cubicBezTo>
                    <a:pt x="37591" y="111125"/>
                    <a:pt x="42333" y="106383"/>
                    <a:pt x="42333" y="100542"/>
                  </a:cubicBezTo>
                  <a:close/>
                  <a:moveTo>
                    <a:pt x="137583" y="111125"/>
                  </a:moveTo>
                  <a:cubicBezTo>
                    <a:pt x="143424" y="111125"/>
                    <a:pt x="148167" y="106383"/>
                    <a:pt x="148167" y="100542"/>
                  </a:cubicBezTo>
                  <a:cubicBezTo>
                    <a:pt x="148167" y="94701"/>
                    <a:pt x="143424" y="89958"/>
                    <a:pt x="137583" y="89958"/>
                  </a:cubicBezTo>
                  <a:cubicBezTo>
                    <a:pt x="131742" y="89958"/>
                    <a:pt x="127000" y="94701"/>
                    <a:pt x="127000" y="100542"/>
                  </a:cubicBezTo>
                  <a:cubicBezTo>
                    <a:pt x="127000" y="106383"/>
                    <a:pt x="131742" y="111125"/>
                    <a:pt x="137583" y="111125"/>
                  </a:cubicBezTo>
                  <a:close/>
                </a:path>
              </a:pathLst>
            </a:custGeom>
            <a:solidFill>
              <a:srgbClr val="6ED3CF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Text 51"/>
            <p:cNvSpPr/>
            <p:nvPr/>
          </p:nvSpPr>
          <p:spPr>
            <a:xfrm>
              <a:off x="8492063" y="6127750"/>
              <a:ext cx="857250" cy="2963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500" dirty="0">
                  <a:solidFill>
                    <a:srgbClr val="E1E8ED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自动驾驶</a:t>
              </a:r>
              <a:endParaRPr lang="en-US" sz="16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8195729" y="6508750"/>
              <a:ext cx="3189968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1E8ED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• 目标检测与跟踪</a:t>
              </a:r>
              <a:endParaRPr lang="en-US" sz="1600" dirty="0"/>
            </a:p>
          </p:txBody>
        </p:sp>
        <p:sp>
          <p:nvSpPr>
            <p:cNvPr id="55" name="Text 53"/>
            <p:cNvSpPr/>
            <p:nvPr/>
          </p:nvSpPr>
          <p:spPr>
            <a:xfrm>
              <a:off x="8195729" y="6762750"/>
              <a:ext cx="3189968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1E8ED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• 场景分割与理解</a:t>
              </a:r>
              <a:endParaRPr lang="en-US" sz="16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8195729" y="7016750"/>
              <a:ext cx="3189968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1E8ED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• 路径规划与决策</a:t>
              </a:r>
              <a:endParaRPr lang="en-US" sz="1600" dirty="0"/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B1A293E3-4731-4AF7-0652-F046C908E2AD}"/>
              </a:ext>
            </a:extLst>
          </p:cNvPr>
          <p:cNvGrpSpPr/>
          <p:nvPr/>
        </p:nvGrpSpPr>
        <p:grpSpPr>
          <a:xfrm>
            <a:off x="11453274" y="1861608"/>
            <a:ext cx="4528078" cy="2222500"/>
            <a:chOff x="428625" y="6789208"/>
            <a:chExt cx="4528078" cy="2222500"/>
          </a:xfrm>
        </p:grpSpPr>
        <p:sp>
          <p:nvSpPr>
            <p:cNvPr id="57" name="Shape 55"/>
            <p:cNvSpPr/>
            <p:nvPr/>
          </p:nvSpPr>
          <p:spPr>
            <a:xfrm>
              <a:off x="428625" y="6789208"/>
              <a:ext cx="4528078" cy="2222500"/>
            </a:xfrm>
            <a:custGeom>
              <a:avLst/>
              <a:gdLst/>
              <a:ahLst/>
              <a:cxnLst/>
              <a:rect l="l" t="t" r="r" b="b"/>
              <a:pathLst>
                <a:path w="7588250" h="2222500">
                  <a:moveTo>
                    <a:pt x="126994" y="0"/>
                  </a:moveTo>
                  <a:lnTo>
                    <a:pt x="7461256" y="0"/>
                  </a:lnTo>
                  <a:cubicBezTo>
                    <a:pt x="7531393" y="0"/>
                    <a:pt x="7588250" y="56857"/>
                    <a:pt x="7588250" y="126994"/>
                  </a:cubicBezTo>
                  <a:lnTo>
                    <a:pt x="7588250" y="2095506"/>
                  </a:lnTo>
                  <a:cubicBezTo>
                    <a:pt x="7588250" y="2165643"/>
                    <a:pt x="7531393" y="2222500"/>
                    <a:pt x="7461256" y="2222500"/>
                  </a:cubicBezTo>
                  <a:lnTo>
                    <a:pt x="126994" y="2222500"/>
                  </a:lnTo>
                  <a:cubicBezTo>
                    <a:pt x="56857" y="2222500"/>
                    <a:pt x="0" y="2165643"/>
                    <a:pt x="0" y="2095506"/>
                  </a:cubicBezTo>
                  <a:lnTo>
                    <a:pt x="0" y="126994"/>
                  </a:lnTo>
                  <a:cubicBezTo>
                    <a:pt x="0" y="56857"/>
                    <a:pt x="56857" y="0"/>
                    <a:pt x="12699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5F87A7">
                    <a:alpha val="20000"/>
                  </a:srgbClr>
                </a:gs>
                <a:gs pos="100000">
                  <a:srgbClr val="5F87A7">
                    <a:alpha val="5000"/>
                  </a:srgbClr>
                </a:gs>
              </a:gsLst>
              <a:lin ang="2700000" scaled="1"/>
            </a:gradFill>
            <a:ln w="12700">
              <a:solidFill>
                <a:srgbClr val="5F87A7">
                  <a:alpha val="30196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Shape 56"/>
            <p:cNvSpPr/>
            <p:nvPr/>
          </p:nvSpPr>
          <p:spPr>
            <a:xfrm>
              <a:off x="672042" y="7059842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47625" y="119063"/>
                  </a:moveTo>
                  <a:lnTo>
                    <a:pt x="9116" y="119063"/>
                  </a:lnTo>
                  <a:cubicBezTo>
                    <a:pt x="-149" y="119063"/>
                    <a:pt x="-5842" y="108979"/>
                    <a:pt x="-1079" y="101017"/>
                  </a:cubicBezTo>
                  <a:lnTo>
                    <a:pt x="18604" y="68200"/>
                  </a:lnTo>
                  <a:cubicBezTo>
                    <a:pt x="21841" y="62805"/>
                    <a:pt x="27645" y="59531"/>
                    <a:pt x="33933" y="59531"/>
                  </a:cubicBezTo>
                  <a:lnTo>
                    <a:pt x="69279" y="59531"/>
                  </a:lnTo>
                  <a:cubicBezTo>
                    <a:pt x="97594" y="11571"/>
                    <a:pt x="139824" y="9153"/>
                    <a:pt x="168064" y="13283"/>
                  </a:cubicBezTo>
                  <a:cubicBezTo>
                    <a:pt x="172827" y="13990"/>
                    <a:pt x="176547" y="17711"/>
                    <a:pt x="177217" y="22436"/>
                  </a:cubicBezTo>
                  <a:cubicBezTo>
                    <a:pt x="181347" y="50676"/>
                    <a:pt x="178929" y="92906"/>
                    <a:pt x="130969" y="121221"/>
                  </a:cubicBezTo>
                  <a:lnTo>
                    <a:pt x="130969" y="156567"/>
                  </a:lnTo>
                  <a:cubicBezTo>
                    <a:pt x="130969" y="162855"/>
                    <a:pt x="127695" y="168659"/>
                    <a:pt x="122300" y="171896"/>
                  </a:cubicBezTo>
                  <a:lnTo>
                    <a:pt x="89483" y="191579"/>
                  </a:lnTo>
                  <a:cubicBezTo>
                    <a:pt x="81558" y="196342"/>
                    <a:pt x="71438" y="190612"/>
                    <a:pt x="71438" y="181384"/>
                  </a:cubicBezTo>
                  <a:lnTo>
                    <a:pt x="71438" y="142875"/>
                  </a:lnTo>
                  <a:cubicBezTo>
                    <a:pt x="71438" y="129741"/>
                    <a:pt x="60759" y="119063"/>
                    <a:pt x="47625" y="119063"/>
                  </a:cubicBezTo>
                  <a:lnTo>
                    <a:pt x="47588" y="119063"/>
                  </a:lnTo>
                  <a:close/>
                  <a:moveTo>
                    <a:pt x="148828" y="59531"/>
                  </a:moveTo>
                  <a:cubicBezTo>
                    <a:pt x="148828" y="49674"/>
                    <a:pt x="140826" y="41672"/>
                    <a:pt x="130969" y="41672"/>
                  </a:cubicBezTo>
                  <a:cubicBezTo>
                    <a:pt x="121112" y="41672"/>
                    <a:pt x="113109" y="49674"/>
                    <a:pt x="113109" y="59531"/>
                  </a:cubicBezTo>
                  <a:cubicBezTo>
                    <a:pt x="113109" y="69388"/>
                    <a:pt x="121112" y="77391"/>
                    <a:pt x="130969" y="77391"/>
                  </a:cubicBezTo>
                  <a:cubicBezTo>
                    <a:pt x="140826" y="77391"/>
                    <a:pt x="148828" y="69388"/>
                    <a:pt x="148828" y="59531"/>
                  </a:cubicBezTo>
                  <a:close/>
                </a:path>
              </a:pathLst>
            </a:custGeom>
            <a:solidFill>
              <a:srgbClr val="6ED3CF"/>
            </a:solidFill>
            <a:ln/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59" name="Text 57"/>
            <p:cNvSpPr/>
            <p:nvPr/>
          </p:nvSpPr>
          <p:spPr>
            <a:xfrm>
              <a:off x="889001" y="7018269"/>
              <a:ext cx="2534708" cy="2736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500" dirty="0">
                  <a:solidFill>
                    <a:srgbClr val="E1E8ED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其他应用场景</a:t>
              </a:r>
              <a:endParaRPr lang="en-US" sz="1600" dirty="0"/>
            </a:p>
          </p:txBody>
        </p:sp>
        <p:sp>
          <p:nvSpPr>
            <p:cNvPr id="60" name="Shape 58"/>
            <p:cNvSpPr/>
            <p:nvPr/>
          </p:nvSpPr>
          <p:spPr>
            <a:xfrm>
              <a:off x="645583" y="7429500"/>
              <a:ext cx="1997605" cy="645583"/>
            </a:xfrm>
            <a:custGeom>
              <a:avLst/>
              <a:gdLst/>
              <a:ahLst/>
              <a:cxnLst/>
              <a:rect l="l" t="t" r="r" b="b"/>
              <a:pathLst>
                <a:path w="3534833" h="645583">
                  <a:moveTo>
                    <a:pt x="42331" y="0"/>
                  </a:moveTo>
                  <a:lnTo>
                    <a:pt x="3492502" y="0"/>
                  </a:lnTo>
                  <a:cubicBezTo>
                    <a:pt x="3515881" y="0"/>
                    <a:pt x="3534833" y="18952"/>
                    <a:pt x="3534833" y="42331"/>
                  </a:cubicBezTo>
                  <a:lnTo>
                    <a:pt x="3534833" y="603252"/>
                  </a:lnTo>
                  <a:cubicBezTo>
                    <a:pt x="3534833" y="626631"/>
                    <a:pt x="3515881" y="645583"/>
                    <a:pt x="3492502" y="645583"/>
                  </a:cubicBezTo>
                  <a:lnTo>
                    <a:pt x="42331" y="645583"/>
                  </a:lnTo>
                  <a:cubicBezTo>
                    <a:pt x="18952" y="645583"/>
                    <a:pt x="0" y="626631"/>
                    <a:pt x="0" y="603252"/>
                  </a:cubicBezTo>
                  <a:lnTo>
                    <a:pt x="0" y="42331"/>
                  </a:lnTo>
                  <a:cubicBezTo>
                    <a:pt x="0" y="18952"/>
                    <a:pt x="18952" y="0"/>
                    <a:pt x="42331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Shape 59"/>
            <p:cNvSpPr/>
            <p:nvPr/>
          </p:nvSpPr>
          <p:spPr>
            <a:xfrm>
              <a:off x="1561041" y="7540625"/>
              <a:ext cx="166688" cy="190500"/>
            </a:xfrm>
            <a:custGeom>
              <a:avLst/>
              <a:gdLst/>
              <a:ahLst/>
              <a:cxnLst/>
              <a:rect l="l" t="t" r="r" b="b"/>
              <a:pathLst>
                <a:path w="166688" h="190500">
                  <a:moveTo>
                    <a:pt x="59531" y="29766"/>
                  </a:moveTo>
                  <a:cubicBezTo>
                    <a:pt x="59531" y="16632"/>
                    <a:pt x="70210" y="5953"/>
                    <a:pt x="83344" y="5953"/>
                  </a:cubicBezTo>
                  <a:cubicBezTo>
                    <a:pt x="96478" y="5953"/>
                    <a:pt x="107156" y="16632"/>
                    <a:pt x="107156" y="29766"/>
                  </a:cubicBezTo>
                  <a:lnTo>
                    <a:pt x="107156" y="47625"/>
                  </a:lnTo>
                  <a:lnTo>
                    <a:pt x="59531" y="47625"/>
                  </a:lnTo>
                  <a:lnTo>
                    <a:pt x="59531" y="29766"/>
                  </a:lnTo>
                  <a:close/>
                  <a:moveTo>
                    <a:pt x="41672" y="47625"/>
                  </a:moveTo>
                  <a:lnTo>
                    <a:pt x="17859" y="47625"/>
                  </a:lnTo>
                  <a:cubicBezTo>
                    <a:pt x="8000" y="47625"/>
                    <a:pt x="0" y="55625"/>
                    <a:pt x="0" y="65484"/>
                  </a:cubicBezTo>
                  <a:lnTo>
                    <a:pt x="0" y="142875"/>
                  </a:lnTo>
                  <a:cubicBezTo>
                    <a:pt x="0" y="162595"/>
                    <a:pt x="15999" y="178594"/>
                    <a:pt x="35719" y="178594"/>
                  </a:cubicBezTo>
                  <a:lnTo>
                    <a:pt x="130969" y="178594"/>
                  </a:lnTo>
                  <a:cubicBezTo>
                    <a:pt x="150688" y="178594"/>
                    <a:pt x="166688" y="162595"/>
                    <a:pt x="166688" y="142875"/>
                  </a:cubicBezTo>
                  <a:lnTo>
                    <a:pt x="166688" y="65484"/>
                  </a:lnTo>
                  <a:cubicBezTo>
                    <a:pt x="166688" y="55625"/>
                    <a:pt x="158688" y="47625"/>
                    <a:pt x="148828" y="47625"/>
                  </a:cubicBezTo>
                  <a:lnTo>
                    <a:pt x="125016" y="47625"/>
                  </a:lnTo>
                  <a:lnTo>
                    <a:pt x="125016" y="29766"/>
                  </a:lnTo>
                  <a:cubicBezTo>
                    <a:pt x="125016" y="6734"/>
                    <a:pt x="106375" y="-11906"/>
                    <a:pt x="83344" y="-11906"/>
                  </a:cubicBezTo>
                  <a:cubicBezTo>
                    <a:pt x="60313" y="-11906"/>
                    <a:pt x="41672" y="6734"/>
                    <a:pt x="41672" y="29766"/>
                  </a:cubicBezTo>
                  <a:lnTo>
                    <a:pt x="41672" y="47625"/>
                  </a:lnTo>
                  <a:close/>
                  <a:moveTo>
                    <a:pt x="50602" y="65484"/>
                  </a:moveTo>
                  <a:cubicBezTo>
                    <a:pt x="55530" y="65484"/>
                    <a:pt x="59531" y="69486"/>
                    <a:pt x="59531" y="74414"/>
                  </a:cubicBezTo>
                  <a:cubicBezTo>
                    <a:pt x="59531" y="79342"/>
                    <a:pt x="55530" y="83344"/>
                    <a:pt x="50602" y="83344"/>
                  </a:cubicBezTo>
                  <a:cubicBezTo>
                    <a:pt x="45673" y="83344"/>
                    <a:pt x="41672" y="79342"/>
                    <a:pt x="41672" y="74414"/>
                  </a:cubicBezTo>
                  <a:cubicBezTo>
                    <a:pt x="41672" y="69486"/>
                    <a:pt x="45673" y="65484"/>
                    <a:pt x="50602" y="65484"/>
                  </a:cubicBezTo>
                  <a:close/>
                  <a:moveTo>
                    <a:pt x="107156" y="74414"/>
                  </a:moveTo>
                  <a:cubicBezTo>
                    <a:pt x="107156" y="69486"/>
                    <a:pt x="111158" y="65484"/>
                    <a:pt x="116086" y="65484"/>
                  </a:cubicBezTo>
                  <a:cubicBezTo>
                    <a:pt x="121014" y="65484"/>
                    <a:pt x="125016" y="69486"/>
                    <a:pt x="125016" y="74414"/>
                  </a:cubicBezTo>
                  <a:cubicBezTo>
                    <a:pt x="125016" y="79342"/>
                    <a:pt x="121014" y="83344"/>
                    <a:pt x="116086" y="83344"/>
                  </a:cubicBezTo>
                  <a:cubicBezTo>
                    <a:pt x="111158" y="83344"/>
                    <a:pt x="107156" y="79342"/>
                    <a:pt x="107156" y="74414"/>
                  </a:cubicBezTo>
                  <a:close/>
                </a:path>
              </a:pathLst>
            </a:custGeom>
            <a:solidFill>
              <a:srgbClr val="6ED3CF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Text 60"/>
            <p:cNvSpPr/>
            <p:nvPr/>
          </p:nvSpPr>
          <p:spPr>
            <a:xfrm>
              <a:off x="729588" y="7780162"/>
              <a:ext cx="1829595" cy="1982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167" dirty="0">
                  <a:solidFill>
                    <a:srgbClr val="E1E8ED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电商</a:t>
              </a:r>
              <a:endParaRPr lang="en-US" sz="1600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2874421" y="7429500"/>
              <a:ext cx="1997605" cy="645583"/>
            </a:xfrm>
            <a:custGeom>
              <a:avLst/>
              <a:gdLst/>
              <a:ahLst/>
              <a:cxnLst/>
              <a:rect l="l" t="t" r="r" b="b"/>
              <a:pathLst>
                <a:path w="3534833" h="645583">
                  <a:moveTo>
                    <a:pt x="42331" y="0"/>
                  </a:moveTo>
                  <a:lnTo>
                    <a:pt x="3492502" y="0"/>
                  </a:lnTo>
                  <a:cubicBezTo>
                    <a:pt x="3515881" y="0"/>
                    <a:pt x="3534833" y="18952"/>
                    <a:pt x="3534833" y="42331"/>
                  </a:cubicBezTo>
                  <a:lnTo>
                    <a:pt x="3534833" y="603252"/>
                  </a:lnTo>
                  <a:cubicBezTo>
                    <a:pt x="3534833" y="626631"/>
                    <a:pt x="3515881" y="645583"/>
                    <a:pt x="3492502" y="645583"/>
                  </a:cubicBezTo>
                  <a:lnTo>
                    <a:pt x="42331" y="645583"/>
                  </a:lnTo>
                  <a:cubicBezTo>
                    <a:pt x="18952" y="645583"/>
                    <a:pt x="0" y="626631"/>
                    <a:pt x="0" y="603252"/>
                  </a:cubicBezTo>
                  <a:lnTo>
                    <a:pt x="0" y="42331"/>
                  </a:lnTo>
                  <a:cubicBezTo>
                    <a:pt x="0" y="18952"/>
                    <a:pt x="18952" y="0"/>
                    <a:pt x="42331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Shape 62"/>
            <p:cNvSpPr/>
            <p:nvPr/>
          </p:nvSpPr>
          <p:spPr>
            <a:xfrm>
              <a:off x="3777973" y="754062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55476" y="24110"/>
                  </a:moveTo>
                  <a:lnTo>
                    <a:pt x="51606" y="35719"/>
                  </a:lnTo>
                  <a:lnTo>
                    <a:pt x="23812" y="35719"/>
                  </a:lnTo>
                  <a:cubicBezTo>
                    <a:pt x="10678" y="35719"/>
                    <a:pt x="0" y="46397"/>
                    <a:pt x="0" y="59531"/>
                  </a:cubicBezTo>
                  <a:lnTo>
                    <a:pt x="0" y="154781"/>
                  </a:lnTo>
                  <a:cubicBezTo>
                    <a:pt x="0" y="167915"/>
                    <a:pt x="10678" y="178594"/>
                    <a:pt x="23812" y="178594"/>
                  </a:cubicBezTo>
                  <a:lnTo>
                    <a:pt x="166688" y="178594"/>
                  </a:lnTo>
                  <a:cubicBezTo>
                    <a:pt x="179822" y="178594"/>
                    <a:pt x="190500" y="167915"/>
                    <a:pt x="190500" y="154781"/>
                  </a:cubicBezTo>
                  <a:lnTo>
                    <a:pt x="190500" y="59531"/>
                  </a:lnTo>
                  <a:cubicBezTo>
                    <a:pt x="190500" y="46397"/>
                    <a:pt x="179822" y="35719"/>
                    <a:pt x="166688" y="35719"/>
                  </a:cubicBezTo>
                  <a:lnTo>
                    <a:pt x="138894" y="35719"/>
                  </a:lnTo>
                  <a:lnTo>
                    <a:pt x="135024" y="24110"/>
                  </a:lnTo>
                  <a:cubicBezTo>
                    <a:pt x="132606" y="16818"/>
                    <a:pt x="125797" y="11906"/>
                    <a:pt x="118095" y="11906"/>
                  </a:cubicBezTo>
                  <a:lnTo>
                    <a:pt x="72405" y="11906"/>
                  </a:lnTo>
                  <a:cubicBezTo>
                    <a:pt x="64703" y="11906"/>
                    <a:pt x="57894" y="16818"/>
                    <a:pt x="55476" y="24110"/>
                  </a:cubicBezTo>
                  <a:close/>
                  <a:moveTo>
                    <a:pt x="95250" y="71438"/>
                  </a:moveTo>
                  <a:cubicBezTo>
                    <a:pt x="114964" y="71438"/>
                    <a:pt x="130969" y="87443"/>
                    <a:pt x="130969" y="107156"/>
                  </a:cubicBezTo>
                  <a:cubicBezTo>
                    <a:pt x="130969" y="126870"/>
                    <a:pt x="114964" y="142875"/>
                    <a:pt x="95250" y="142875"/>
                  </a:cubicBezTo>
                  <a:cubicBezTo>
                    <a:pt x="75536" y="142875"/>
                    <a:pt x="59531" y="126870"/>
                    <a:pt x="59531" y="107156"/>
                  </a:cubicBezTo>
                  <a:cubicBezTo>
                    <a:pt x="59531" y="87443"/>
                    <a:pt x="75536" y="71438"/>
                    <a:pt x="95250" y="71438"/>
                  </a:cubicBezTo>
                  <a:close/>
                </a:path>
              </a:pathLst>
            </a:custGeom>
            <a:solidFill>
              <a:srgbClr val="6ED3CF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Text 63"/>
            <p:cNvSpPr/>
            <p:nvPr/>
          </p:nvSpPr>
          <p:spPr>
            <a:xfrm>
              <a:off x="2874420" y="7780162"/>
              <a:ext cx="1997606" cy="1982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167" dirty="0">
                  <a:solidFill>
                    <a:srgbClr val="E1E8ED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社交</a:t>
              </a:r>
              <a:endParaRPr lang="en-US" sz="1600" dirty="0"/>
            </a:p>
          </p:txBody>
        </p:sp>
        <p:sp>
          <p:nvSpPr>
            <p:cNvPr id="66" name="Shape 64"/>
            <p:cNvSpPr/>
            <p:nvPr/>
          </p:nvSpPr>
          <p:spPr>
            <a:xfrm>
              <a:off x="645583" y="8154458"/>
              <a:ext cx="1997605" cy="645583"/>
            </a:xfrm>
            <a:custGeom>
              <a:avLst/>
              <a:gdLst/>
              <a:ahLst/>
              <a:cxnLst/>
              <a:rect l="l" t="t" r="r" b="b"/>
              <a:pathLst>
                <a:path w="3534833" h="645583">
                  <a:moveTo>
                    <a:pt x="42331" y="0"/>
                  </a:moveTo>
                  <a:lnTo>
                    <a:pt x="3492502" y="0"/>
                  </a:lnTo>
                  <a:cubicBezTo>
                    <a:pt x="3515881" y="0"/>
                    <a:pt x="3534833" y="18952"/>
                    <a:pt x="3534833" y="42331"/>
                  </a:cubicBezTo>
                  <a:lnTo>
                    <a:pt x="3534833" y="603252"/>
                  </a:lnTo>
                  <a:cubicBezTo>
                    <a:pt x="3534833" y="626631"/>
                    <a:pt x="3515881" y="645583"/>
                    <a:pt x="3492502" y="645583"/>
                  </a:cubicBezTo>
                  <a:lnTo>
                    <a:pt x="42331" y="645583"/>
                  </a:lnTo>
                  <a:cubicBezTo>
                    <a:pt x="18952" y="645583"/>
                    <a:pt x="0" y="626631"/>
                    <a:pt x="0" y="603252"/>
                  </a:cubicBezTo>
                  <a:lnTo>
                    <a:pt x="0" y="42331"/>
                  </a:lnTo>
                  <a:cubicBezTo>
                    <a:pt x="0" y="18952"/>
                    <a:pt x="18952" y="0"/>
                    <a:pt x="42331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Shape 65"/>
            <p:cNvSpPr/>
            <p:nvPr/>
          </p:nvSpPr>
          <p:spPr>
            <a:xfrm>
              <a:off x="1537229" y="8265583"/>
              <a:ext cx="214313" cy="190500"/>
            </a:xfrm>
            <a:custGeom>
              <a:avLst/>
              <a:gdLst/>
              <a:ahLst/>
              <a:cxnLst/>
              <a:rect l="l" t="t" r="r" b="b"/>
              <a:pathLst>
                <a:path w="214313" h="190500">
                  <a:moveTo>
                    <a:pt x="17859" y="72851"/>
                  </a:moveTo>
                  <a:lnTo>
                    <a:pt x="95696" y="104887"/>
                  </a:lnTo>
                  <a:cubicBezTo>
                    <a:pt x="99343" y="106375"/>
                    <a:pt x="103212" y="107156"/>
                    <a:pt x="107156" y="107156"/>
                  </a:cubicBezTo>
                  <a:cubicBezTo>
                    <a:pt x="111100" y="107156"/>
                    <a:pt x="114970" y="106375"/>
                    <a:pt x="118616" y="104887"/>
                  </a:cubicBezTo>
                  <a:lnTo>
                    <a:pt x="208806" y="67754"/>
                  </a:lnTo>
                  <a:cubicBezTo>
                    <a:pt x="212154" y="66377"/>
                    <a:pt x="214313" y="63140"/>
                    <a:pt x="214313" y="59531"/>
                  </a:cubicBezTo>
                  <a:cubicBezTo>
                    <a:pt x="214313" y="55922"/>
                    <a:pt x="212154" y="52685"/>
                    <a:pt x="208806" y="51308"/>
                  </a:cubicBezTo>
                  <a:lnTo>
                    <a:pt x="118616" y="14176"/>
                  </a:lnTo>
                  <a:cubicBezTo>
                    <a:pt x="114970" y="12688"/>
                    <a:pt x="111100" y="11906"/>
                    <a:pt x="107156" y="11906"/>
                  </a:cubicBezTo>
                  <a:cubicBezTo>
                    <a:pt x="103212" y="11906"/>
                    <a:pt x="99343" y="12688"/>
                    <a:pt x="95696" y="14176"/>
                  </a:cubicBezTo>
                  <a:lnTo>
                    <a:pt x="5507" y="51308"/>
                  </a:lnTo>
                  <a:cubicBezTo>
                    <a:pt x="2158" y="52685"/>
                    <a:pt x="0" y="55922"/>
                    <a:pt x="0" y="59531"/>
                  </a:cubicBezTo>
                  <a:lnTo>
                    <a:pt x="0" y="169664"/>
                  </a:lnTo>
                  <a:cubicBezTo>
                    <a:pt x="0" y="174613"/>
                    <a:pt x="3981" y="178594"/>
                    <a:pt x="8930" y="178594"/>
                  </a:cubicBezTo>
                  <a:cubicBezTo>
                    <a:pt x="13878" y="178594"/>
                    <a:pt x="17859" y="174613"/>
                    <a:pt x="17859" y="169664"/>
                  </a:cubicBezTo>
                  <a:lnTo>
                    <a:pt x="17859" y="72851"/>
                  </a:lnTo>
                  <a:close/>
                  <a:moveTo>
                    <a:pt x="35719" y="99529"/>
                  </a:moveTo>
                  <a:lnTo>
                    <a:pt x="35719" y="142875"/>
                  </a:lnTo>
                  <a:cubicBezTo>
                    <a:pt x="35719" y="162595"/>
                    <a:pt x="67717" y="178594"/>
                    <a:pt x="107156" y="178594"/>
                  </a:cubicBezTo>
                  <a:cubicBezTo>
                    <a:pt x="146596" y="178594"/>
                    <a:pt x="178594" y="162595"/>
                    <a:pt x="178594" y="142875"/>
                  </a:cubicBezTo>
                  <a:lnTo>
                    <a:pt x="178594" y="99492"/>
                  </a:lnTo>
                  <a:lnTo>
                    <a:pt x="125425" y="121407"/>
                  </a:lnTo>
                  <a:cubicBezTo>
                    <a:pt x="119621" y="123788"/>
                    <a:pt x="113444" y="125016"/>
                    <a:pt x="107156" y="125016"/>
                  </a:cubicBezTo>
                  <a:cubicBezTo>
                    <a:pt x="100868" y="125016"/>
                    <a:pt x="94692" y="123788"/>
                    <a:pt x="88888" y="121407"/>
                  </a:cubicBezTo>
                  <a:lnTo>
                    <a:pt x="35719" y="99492"/>
                  </a:lnTo>
                  <a:close/>
                </a:path>
              </a:pathLst>
            </a:custGeom>
            <a:solidFill>
              <a:srgbClr val="6ED3CF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Text 66"/>
            <p:cNvSpPr/>
            <p:nvPr/>
          </p:nvSpPr>
          <p:spPr>
            <a:xfrm>
              <a:off x="711398" y="8505121"/>
              <a:ext cx="1865975" cy="1982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167" dirty="0">
                  <a:solidFill>
                    <a:srgbClr val="E1E8ED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教育</a:t>
              </a:r>
              <a:endParaRPr lang="en-US" sz="1600" dirty="0"/>
            </a:p>
          </p:txBody>
        </p:sp>
        <p:sp>
          <p:nvSpPr>
            <p:cNvPr id="69" name="Shape 67"/>
            <p:cNvSpPr/>
            <p:nvPr/>
          </p:nvSpPr>
          <p:spPr>
            <a:xfrm>
              <a:off x="2874421" y="8154458"/>
              <a:ext cx="1997605" cy="645583"/>
            </a:xfrm>
            <a:custGeom>
              <a:avLst/>
              <a:gdLst/>
              <a:ahLst/>
              <a:cxnLst/>
              <a:rect l="l" t="t" r="r" b="b"/>
              <a:pathLst>
                <a:path w="3534833" h="645583">
                  <a:moveTo>
                    <a:pt x="42331" y="0"/>
                  </a:moveTo>
                  <a:lnTo>
                    <a:pt x="3492502" y="0"/>
                  </a:lnTo>
                  <a:cubicBezTo>
                    <a:pt x="3515881" y="0"/>
                    <a:pt x="3534833" y="18952"/>
                    <a:pt x="3534833" y="42331"/>
                  </a:cubicBezTo>
                  <a:lnTo>
                    <a:pt x="3534833" y="603252"/>
                  </a:lnTo>
                  <a:cubicBezTo>
                    <a:pt x="3534833" y="626631"/>
                    <a:pt x="3515881" y="645583"/>
                    <a:pt x="3492502" y="645583"/>
                  </a:cubicBezTo>
                  <a:lnTo>
                    <a:pt x="42331" y="645583"/>
                  </a:lnTo>
                  <a:cubicBezTo>
                    <a:pt x="18952" y="645583"/>
                    <a:pt x="0" y="626631"/>
                    <a:pt x="0" y="603252"/>
                  </a:cubicBezTo>
                  <a:lnTo>
                    <a:pt x="0" y="42331"/>
                  </a:lnTo>
                  <a:cubicBezTo>
                    <a:pt x="0" y="18952"/>
                    <a:pt x="18952" y="0"/>
                    <a:pt x="42331" y="0"/>
                  </a:cubicBezTo>
                  <a:close/>
                </a:path>
              </a:pathLst>
            </a:custGeom>
            <a:solidFill>
              <a:srgbClr val="1A1D24">
                <a:alpha val="50196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Shape 68"/>
            <p:cNvSpPr/>
            <p:nvPr/>
          </p:nvSpPr>
          <p:spPr>
            <a:xfrm>
              <a:off x="3739886" y="8265583"/>
              <a:ext cx="238125" cy="190500"/>
            </a:xfrm>
            <a:custGeom>
              <a:avLst/>
              <a:gdLst/>
              <a:ahLst/>
              <a:cxnLst/>
              <a:rect l="l" t="t" r="r" b="b"/>
              <a:pathLst>
                <a:path w="238125" h="190500">
                  <a:moveTo>
                    <a:pt x="166688" y="23812"/>
                  </a:moveTo>
                  <a:cubicBezTo>
                    <a:pt x="206127" y="23812"/>
                    <a:pt x="238125" y="55811"/>
                    <a:pt x="238125" y="95250"/>
                  </a:cubicBezTo>
                  <a:cubicBezTo>
                    <a:pt x="238125" y="134689"/>
                    <a:pt x="206127" y="166688"/>
                    <a:pt x="166688" y="166688"/>
                  </a:cubicBezTo>
                  <a:lnTo>
                    <a:pt x="71438" y="166688"/>
                  </a:lnTo>
                  <a:cubicBezTo>
                    <a:pt x="31998" y="166688"/>
                    <a:pt x="0" y="134689"/>
                    <a:pt x="0" y="95250"/>
                  </a:cubicBezTo>
                  <a:cubicBezTo>
                    <a:pt x="0" y="55811"/>
                    <a:pt x="31998" y="23812"/>
                    <a:pt x="71438" y="23812"/>
                  </a:cubicBezTo>
                  <a:lnTo>
                    <a:pt x="166688" y="23812"/>
                  </a:lnTo>
                  <a:close/>
                  <a:moveTo>
                    <a:pt x="71438" y="65484"/>
                  </a:moveTo>
                  <a:cubicBezTo>
                    <a:pt x="66489" y="65484"/>
                    <a:pt x="62508" y="69466"/>
                    <a:pt x="62508" y="74414"/>
                  </a:cubicBezTo>
                  <a:lnTo>
                    <a:pt x="62508" y="86320"/>
                  </a:lnTo>
                  <a:lnTo>
                    <a:pt x="50602" y="86320"/>
                  </a:lnTo>
                  <a:cubicBezTo>
                    <a:pt x="45653" y="86320"/>
                    <a:pt x="41672" y="90301"/>
                    <a:pt x="41672" y="95250"/>
                  </a:cubicBezTo>
                  <a:cubicBezTo>
                    <a:pt x="41672" y="100199"/>
                    <a:pt x="45653" y="104180"/>
                    <a:pt x="50602" y="104180"/>
                  </a:cubicBezTo>
                  <a:lnTo>
                    <a:pt x="62508" y="104180"/>
                  </a:lnTo>
                  <a:lnTo>
                    <a:pt x="62508" y="116086"/>
                  </a:lnTo>
                  <a:cubicBezTo>
                    <a:pt x="62508" y="121034"/>
                    <a:pt x="66489" y="125016"/>
                    <a:pt x="71438" y="125016"/>
                  </a:cubicBezTo>
                  <a:cubicBezTo>
                    <a:pt x="76386" y="125016"/>
                    <a:pt x="80367" y="121034"/>
                    <a:pt x="80367" y="116086"/>
                  </a:cubicBezTo>
                  <a:lnTo>
                    <a:pt x="80367" y="104180"/>
                  </a:lnTo>
                  <a:lnTo>
                    <a:pt x="92273" y="104180"/>
                  </a:lnTo>
                  <a:cubicBezTo>
                    <a:pt x="97222" y="104180"/>
                    <a:pt x="101203" y="100199"/>
                    <a:pt x="101203" y="95250"/>
                  </a:cubicBezTo>
                  <a:cubicBezTo>
                    <a:pt x="101203" y="90301"/>
                    <a:pt x="97222" y="86320"/>
                    <a:pt x="92273" y="86320"/>
                  </a:cubicBezTo>
                  <a:lnTo>
                    <a:pt x="80367" y="86320"/>
                  </a:lnTo>
                  <a:lnTo>
                    <a:pt x="80367" y="74414"/>
                  </a:lnTo>
                  <a:cubicBezTo>
                    <a:pt x="80367" y="69466"/>
                    <a:pt x="76386" y="65484"/>
                    <a:pt x="71438" y="65484"/>
                  </a:cubicBezTo>
                  <a:close/>
                  <a:moveTo>
                    <a:pt x="160734" y="101203"/>
                  </a:moveTo>
                  <a:cubicBezTo>
                    <a:pt x="154163" y="101203"/>
                    <a:pt x="148828" y="106538"/>
                    <a:pt x="148828" y="113109"/>
                  </a:cubicBezTo>
                  <a:cubicBezTo>
                    <a:pt x="148828" y="119681"/>
                    <a:pt x="154163" y="125016"/>
                    <a:pt x="160734" y="125016"/>
                  </a:cubicBezTo>
                  <a:cubicBezTo>
                    <a:pt x="167306" y="125016"/>
                    <a:pt x="172641" y="119681"/>
                    <a:pt x="172641" y="113109"/>
                  </a:cubicBezTo>
                  <a:cubicBezTo>
                    <a:pt x="172641" y="106538"/>
                    <a:pt x="167306" y="101203"/>
                    <a:pt x="160734" y="101203"/>
                  </a:cubicBezTo>
                  <a:close/>
                  <a:moveTo>
                    <a:pt x="184547" y="65484"/>
                  </a:moveTo>
                  <a:cubicBezTo>
                    <a:pt x="177976" y="65484"/>
                    <a:pt x="172641" y="70819"/>
                    <a:pt x="172641" y="77391"/>
                  </a:cubicBezTo>
                  <a:cubicBezTo>
                    <a:pt x="172641" y="83962"/>
                    <a:pt x="177976" y="89297"/>
                    <a:pt x="184547" y="89297"/>
                  </a:cubicBezTo>
                  <a:cubicBezTo>
                    <a:pt x="191118" y="89297"/>
                    <a:pt x="196453" y="83962"/>
                    <a:pt x="196453" y="77391"/>
                  </a:cubicBezTo>
                  <a:cubicBezTo>
                    <a:pt x="196453" y="70819"/>
                    <a:pt x="191118" y="65484"/>
                    <a:pt x="184547" y="65484"/>
                  </a:cubicBezTo>
                  <a:close/>
                </a:path>
              </a:pathLst>
            </a:custGeom>
            <a:solidFill>
              <a:srgbClr val="6ED3CF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Text 69"/>
            <p:cNvSpPr/>
            <p:nvPr/>
          </p:nvSpPr>
          <p:spPr>
            <a:xfrm>
              <a:off x="2874421" y="8505121"/>
              <a:ext cx="1997605" cy="1982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167" dirty="0">
                  <a:solidFill>
                    <a:srgbClr val="E1E8ED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娱乐</a:t>
              </a:r>
              <a:endParaRPr lang="en-US" sz="1600" dirty="0"/>
            </a:p>
          </p:txBody>
        </p:sp>
      </p:grp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428625"/>
            <a:ext cx="3323167" cy="349250"/>
          </a:xfrm>
          <a:custGeom>
            <a:avLst/>
            <a:gdLst/>
            <a:ahLst/>
            <a:cxnLst/>
            <a:rect l="l" t="t" r="r" b="b"/>
            <a:pathLst>
              <a:path w="3323167" h="349250">
                <a:moveTo>
                  <a:pt x="42333" y="0"/>
                </a:moveTo>
                <a:lnTo>
                  <a:pt x="3280834" y="0"/>
                </a:lnTo>
                <a:cubicBezTo>
                  <a:pt x="3304214" y="0"/>
                  <a:pt x="3323167" y="18953"/>
                  <a:pt x="3323167" y="42333"/>
                </a:cubicBezTo>
                <a:lnTo>
                  <a:pt x="3323167" y="306917"/>
                </a:lnTo>
                <a:cubicBezTo>
                  <a:pt x="3323167" y="330297"/>
                  <a:pt x="3304214" y="349250"/>
                  <a:pt x="3280834" y="349250"/>
                </a:cubicBezTo>
                <a:lnTo>
                  <a:pt x="42333" y="349250"/>
                </a:lnTo>
                <a:cubicBezTo>
                  <a:pt x="18953" y="349250"/>
                  <a:pt x="0" y="330297"/>
                  <a:pt x="0" y="30691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 w="12700">
            <a:solidFill>
              <a:srgbClr val="5F87A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60917" y="492125"/>
            <a:ext cx="3140521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kern="0" spc="67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NATURAL LANGUAGE PROCESSING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333" y="867833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自然语言处理（</a:t>
            </a:r>
            <a:r>
              <a:rPr lang="en-US" sz="3000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NLP</a:t>
            </a:r>
            <a:r>
              <a:rPr lang="en-US" sz="3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1375833"/>
            <a:ext cx="1549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让机器理解、生成和处理人类语言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8625" y="1846792"/>
            <a:ext cx="7588250" cy="4942417"/>
          </a:xfrm>
          <a:custGeom>
            <a:avLst/>
            <a:gdLst/>
            <a:ahLst/>
            <a:cxnLst/>
            <a:rect l="l" t="t" r="r" b="b"/>
            <a:pathLst>
              <a:path w="7588250" h="4942417">
                <a:moveTo>
                  <a:pt x="127020" y="0"/>
                </a:moveTo>
                <a:lnTo>
                  <a:pt x="7461230" y="0"/>
                </a:lnTo>
                <a:cubicBezTo>
                  <a:pt x="7531381" y="0"/>
                  <a:pt x="7588250" y="56869"/>
                  <a:pt x="7588250" y="127020"/>
                </a:cubicBezTo>
                <a:lnTo>
                  <a:pt x="7588250" y="4815397"/>
                </a:lnTo>
                <a:cubicBezTo>
                  <a:pt x="7588250" y="4885548"/>
                  <a:pt x="7531381" y="4942417"/>
                  <a:pt x="7461230" y="4942417"/>
                </a:cubicBezTo>
                <a:lnTo>
                  <a:pt x="127020" y="4942417"/>
                </a:lnTo>
                <a:cubicBezTo>
                  <a:pt x="56869" y="4942417"/>
                  <a:pt x="0" y="4885548"/>
                  <a:pt x="0" y="4815397"/>
                </a:cubicBezTo>
                <a:lnTo>
                  <a:pt x="0" y="127020"/>
                </a:lnTo>
                <a:cubicBezTo>
                  <a:pt x="0" y="56916"/>
                  <a:pt x="56916" y="0"/>
                  <a:pt x="127020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87917" y="212725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36083" y="2275417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72760" y="9922"/>
                </a:moveTo>
                <a:cubicBezTo>
                  <a:pt x="72760" y="4424"/>
                  <a:pt x="68337" y="0"/>
                  <a:pt x="62839" y="0"/>
                </a:cubicBezTo>
                <a:cubicBezTo>
                  <a:pt x="57340" y="0"/>
                  <a:pt x="52917" y="4424"/>
                  <a:pt x="52917" y="9922"/>
                </a:cubicBezTo>
                <a:lnTo>
                  <a:pt x="52917" y="26458"/>
                </a:lnTo>
                <a:cubicBezTo>
                  <a:pt x="38323" y="26458"/>
                  <a:pt x="26458" y="38323"/>
                  <a:pt x="26458" y="52917"/>
                </a:cubicBezTo>
                <a:lnTo>
                  <a:pt x="9922" y="52917"/>
                </a:lnTo>
                <a:cubicBezTo>
                  <a:pt x="4424" y="52917"/>
                  <a:pt x="0" y="57340"/>
                  <a:pt x="0" y="62839"/>
                </a:cubicBezTo>
                <a:cubicBezTo>
                  <a:pt x="0" y="68337"/>
                  <a:pt x="4424" y="72760"/>
                  <a:pt x="9922" y="72760"/>
                </a:cubicBezTo>
                <a:lnTo>
                  <a:pt x="26458" y="72760"/>
                </a:lnTo>
                <a:lnTo>
                  <a:pt x="26458" y="95911"/>
                </a:lnTo>
                <a:lnTo>
                  <a:pt x="9922" y="95911"/>
                </a:lnTo>
                <a:cubicBezTo>
                  <a:pt x="4424" y="95911"/>
                  <a:pt x="0" y="100335"/>
                  <a:pt x="0" y="105833"/>
                </a:cubicBezTo>
                <a:cubicBezTo>
                  <a:pt x="0" y="111332"/>
                  <a:pt x="4424" y="115755"/>
                  <a:pt x="9922" y="115755"/>
                </a:cubicBezTo>
                <a:lnTo>
                  <a:pt x="26458" y="115755"/>
                </a:lnTo>
                <a:lnTo>
                  <a:pt x="26458" y="138906"/>
                </a:lnTo>
                <a:lnTo>
                  <a:pt x="9922" y="138906"/>
                </a:lnTo>
                <a:cubicBezTo>
                  <a:pt x="4424" y="138906"/>
                  <a:pt x="0" y="143330"/>
                  <a:pt x="0" y="148828"/>
                </a:cubicBezTo>
                <a:cubicBezTo>
                  <a:pt x="0" y="154326"/>
                  <a:pt x="4424" y="158750"/>
                  <a:pt x="9922" y="158750"/>
                </a:cubicBezTo>
                <a:lnTo>
                  <a:pt x="26458" y="158750"/>
                </a:lnTo>
                <a:cubicBezTo>
                  <a:pt x="26458" y="173343"/>
                  <a:pt x="38323" y="185208"/>
                  <a:pt x="52917" y="185208"/>
                </a:cubicBezTo>
                <a:lnTo>
                  <a:pt x="52917" y="201745"/>
                </a:lnTo>
                <a:cubicBezTo>
                  <a:pt x="52917" y="207243"/>
                  <a:pt x="57340" y="211667"/>
                  <a:pt x="62839" y="211667"/>
                </a:cubicBezTo>
                <a:cubicBezTo>
                  <a:pt x="68337" y="211667"/>
                  <a:pt x="72760" y="207243"/>
                  <a:pt x="72760" y="201745"/>
                </a:cubicBezTo>
                <a:lnTo>
                  <a:pt x="72760" y="185208"/>
                </a:lnTo>
                <a:lnTo>
                  <a:pt x="95911" y="185208"/>
                </a:lnTo>
                <a:lnTo>
                  <a:pt x="95911" y="201745"/>
                </a:lnTo>
                <a:cubicBezTo>
                  <a:pt x="95911" y="207243"/>
                  <a:pt x="100335" y="211667"/>
                  <a:pt x="105833" y="211667"/>
                </a:cubicBezTo>
                <a:cubicBezTo>
                  <a:pt x="111332" y="211667"/>
                  <a:pt x="115755" y="207243"/>
                  <a:pt x="115755" y="201745"/>
                </a:cubicBezTo>
                <a:lnTo>
                  <a:pt x="115755" y="185208"/>
                </a:lnTo>
                <a:lnTo>
                  <a:pt x="138906" y="185208"/>
                </a:lnTo>
                <a:lnTo>
                  <a:pt x="138906" y="201745"/>
                </a:lnTo>
                <a:cubicBezTo>
                  <a:pt x="138906" y="207243"/>
                  <a:pt x="143330" y="211667"/>
                  <a:pt x="148828" y="211667"/>
                </a:cubicBezTo>
                <a:cubicBezTo>
                  <a:pt x="154326" y="211667"/>
                  <a:pt x="158750" y="207243"/>
                  <a:pt x="158750" y="201745"/>
                </a:cubicBezTo>
                <a:lnTo>
                  <a:pt x="158750" y="185208"/>
                </a:lnTo>
                <a:cubicBezTo>
                  <a:pt x="173343" y="185208"/>
                  <a:pt x="185208" y="173343"/>
                  <a:pt x="185208" y="158750"/>
                </a:cubicBezTo>
                <a:lnTo>
                  <a:pt x="201745" y="158750"/>
                </a:lnTo>
                <a:cubicBezTo>
                  <a:pt x="207243" y="158750"/>
                  <a:pt x="211667" y="154326"/>
                  <a:pt x="211667" y="148828"/>
                </a:cubicBezTo>
                <a:cubicBezTo>
                  <a:pt x="211667" y="143330"/>
                  <a:pt x="207243" y="138906"/>
                  <a:pt x="201745" y="138906"/>
                </a:cubicBezTo>
                <a:lnTo>
                  <a:pt x="185208" y="138906"/>
                </a:lnTo>
                <a:lnTo>
                  <a:pt x="185208" y="115755"/>
                </a:lnTo>
                <a:lnTo>
                  <a:pt x="201745" y="115755"/>
                </a:lnTo>
                <a:cubicBezTo>
                  <a:pt x="207243" y="115755"/>
                  <a:pt x="211667" y="111332"/>
                  <a:pt x="211667" y="105833"/>
                </a:cubicBezTo>
                <a:cubicBezTo>
                  <a:pt x="211667" y="100335"/>
                  <a:pt x="207243" y="95911"/>
                  <a:pt x="201745" y="95911"/>
                </a:cubicBezTo>
                <a:lnTo>
                  <a:pt x="185208" y="95911"/>
                </a:lnTo>
                <a:lnTo>
                  <a:pt x="185208" y="72760"/>
                </a:lnTo>
                <a:lnTo>
                  <a:pt x="201745" y="72760"/>
                </a:lnTo>
                <a:cubicBezTo>
                  <a:pt x="207243" y="72760"/>
                  <a:pt x="211667" y="68337"/>
                  <a:pt x="211667" y="62839"/>
                </a:cubicBezTo>
                <a:cubicBezTo>
                  <a:pt x="211667" y="57340"/>
                  <a:pt x="207243" y="52917"/>
                  <a:pt x="201745" y="52917"/>
                </a:cubicBezTo>
                <a:lnTo>
                  <a:pt x="185208" y="52917"/>
                </a:lnTo>
                <a:cubicBezTo>
                  <a:pt x="185208" y="38323"/>
                  <a:pt x="173343" y="26458"/>
                  <a:pt x="158750" y="26458"/>
                </a:cubicBezTo>
                <a:lnTo>
                  <a:pt x="158750" y="9922"/>
                </a:lnTo>
                <a:cubicBezTo>
                  <a:pt x="158750" y="4424"/>
                  <a:pt x="154326" y="0"/>
                  <a:pt x="148828" y="0"/>
                </a:cubicBezTo>
                <a:cubicBezTo>
                  <a:pt x="143330" y="0"/>
                  <a:pt x="138906" y="4424"/>
                  <a:pt x="138906" y="9922"/>
                </a:cubicBezTo>
                <a:lnTo>
                  <a:pt x="138906" y="26458"/>
                </a:lnTo>
                <a:lnTo>
                  <a:pt x="115755" y="26458"/>
                </a:lnTo>
                <a:lnTo>
                  <a:pt x="115755" y="9922"/>
                </a:lnTo>
                <a:cubicBezTo>
                  <a:pt x="115755" y="4424"/>
                  <a:pt x="111332" y="0"/>
                  <a:pt x="105833" y="0"/>
                </a:cubicBezTo>
                <a:cubicBezTo>
                  <a:pt x="100335" y="0"/>
                  <a:pt x="95911" y="4424"/>
                  <a:pt x="95911" y="9922"/>
                </a:cubicBezTo>
                <a:lnTo>
                  <a:pt x="95911" y="26458"/>
                </a:lnTo>
                <a:lnTo>
                  <a:pt x="72760" y="26458"/>
                </a:lnTo>
                <a:lnTo>
                  <a:pt x="72760" y="9922"/>
                </a:lnTo>
                <a:close/>
                <a:moveTo>
                  <a:pt x="66146" y="52917"/>
                </a:moveTo>
                <a:lnTo>
                  <a:pt x="145521" y="52917"/>
                </a:lnTo>
                <a:cubicBezTo>
                  <a:pt x="152838" y="52917"/>
                  <a:pt x="158750" y="58828"/>
                  <a:pt x="158750" y="66146"/>
                </a:cubicBezTo>
                <a:lnTo>
                  <a:pt x="158750" y="145521"/>
                </a:lnTo>
                <a:cubicBezTo>
                  <a:pt x="158750" y="152838"/>
                  <a:pt x="152838" y="158750"/>
                  <a:pt x="145521" y="158750"/>
                </a:cubicBezTo>
                <a:lnTo>
                  <a:pt x="66146" y="158750"/>
                </a:lnTo>
                <a:cubicBezTo>
                  <a:pt x="58828" y="158750"/>
                  <a:pt x="52917" y="152838"/>
                  <a:pt x="52917" y="145521"/>
                </a:cubicBezTo>
                <a:lnTo>
                  <a:pt x="52917" y="66146"/>
                </a:lnTo>
                <a:cubicBezTo>
                  <a:pt x="52917" y="58828"/>
                  <a:pt x="58828" y="52917"/>
                  <a:pt x="66146" y="52917"/>
                </a:cubicBezTo>
                <a:close/>
                <a:moveTo>
                  <a:pt x="72760" y="72760"/>
                </a:moveTo>
                <a:lnTo>
                  <a:pt x="72760" y="138906"/>
                </a:lnTo>
                <a:lnTo>
                  <a:pt x="138906" y="138906"/>
                </a:lnTo>
                <a:lnTo>
                  <a:pt x="138906" y="72760"/>
                </a:lnTo>
                <a:lnTo>
                  <a:pt x="72760" y="7276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322917" y="2106083"/>
            <a:ext cx="1143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技术支撑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2917" y="2444750"/>
            <a:ext cx="1090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核心技术体系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09083" y="2825750"/>
            <a:ext cx="7048500" cy="1545167"/>
          </a:xfrm>
          <a:custGeom>
            <a:avLst/>
            <a:gdLst/>
            <a:ahLst/>
            <a:cxnLst/>
            <a:rect l="l" t="t" r="r" b="b"/>
            <a:pathLst>
              <a:path w="7048500" h="1545167">
                <a:moveTo>
                  <a:pt x="42333" y="0"/>
                </a:moveTo>
                <a:lnTo>
                  <a:pt x="6963840" y="0"/>
                </a:lnTo>
                <a:cubicBezTo>
                  <a:pt x="7010597" y="0"/>
                  <a:pt x="7048500" y="37903"/>
                  <a:pt x="7048500" y="84660"/>
                </a:cubicBezTo>
                <a:lnTo>
                  <a:pt x="7048500" y="1460507"/>
                </a:lnTo>
                <a:cubicBezTo>
                  <a:pt x="7048500" y="1507263"/>
                  <a:pt x="7010597" y="1545167"/>
                  <a:pt x="6963840" y="1545167"/>
                </a:cubicBezTo>
                <a:lnTo>
                  <a:pt x="42333" y="1545167"/>
                </a:lnTo>
                <a:cubicBezTo>
                  <a:pt x="18953" y="1545167"/>
                  <a:pt x="0" y="1526213"/>
                  <a:pt x="0" y="1502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09083" y="2825750"/>
            <a:ext cx="42333" cy="1545167"/>
          </a:xfrm>
          <a:custGeom>
            <a:avLst/>
            <a:gdLst/>
            <a:ahLst/>
            <a:cxnLst/>
            <a:rect l="l" t="t" r="r" b="b"/>
            <a:pathLst>
              <a:path w="42333" h="1545167">
                <a:moveTo>
                  <a:pt x="42333" y="0"/>
                </a:moveTo>
                <a:lnTo>
                  <a:pt x="42333" y="0"/>
                </a:lnTo>
                <a:lnTo>
                  <a:pt x="42333" y="1545167"/>
                </a:lnTo>
                <a:lnTo>
                  <a:pt x="42333" y="1545167"/>
                </a:lnTo>
                <a:cubicBezTo>
                  <a:pt x="18953" y="1545167"/>
                  <a:pt x="0" y="1526213"/>
                  <a:pt x="0" y="1502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99583" y="2995083"/>
            <a:ext cx="67839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Transformer</a:t>
            </a:r>
            <a:r>
              <a:rPr lang="en-US" sz="15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架构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9583" y="3376083"/>
            <a:ext cx="67733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基于自注意力机制的革命性架构，是当前NLP领域的主流技术。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9583" y="3735917"/>
            <a:ext cx="6762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</a:t>
            </a: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BERT</a:t>
            </a: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：双向编码器，适合理解任务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99583" y="3989917"/>
            <a:ext cx="6762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</a:t>
            </a: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GPT</a:t>
            </a: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：生成式预训练，适合生成任务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7917" y="4497917"/>
            <a:ext cx="7069667" cy="2032000"/>
          </a:xfrm>
          <a:custGeom>
            <a:avLst/>
            <a:gdLst/>
            <a:ahLst/>
            <a:cxnLst/>
            <a:rect l="l" t="t" r="r" b="b"/>
            <a:pathLst>
              <a:path w="7069667" h="2032000">
                <a:moveTo>
                  <a:pt x="84673" y="0"/>
                </a:moveTo>
                <a:lnTo>
                  <a:pt x="6984993" y="0"/>
                </a:lnTo>
                <a:cubicBezTo>
                  <a:pt x="7031757" y="0"/>
                  <a:pt x="7069667" y="37910"/>
                  <a:pt x="7069667" y="84673"/>
                </a:cubicBezTo>
                <a:lnTo>
                  <a:pt x="7069667" y="1947327"/>
                </a:lnTo>
                <a:cubicBezTo>
                  <a:pt x="7069667" y="1994090"/>
                  <a:pt x="7031757" y="2032000"/>
                  <a:pt x="6984993" y="2032000"/>
                </a:cubicBezTo>
                <a:lnTo>
                  <a:pt x="84673" y="2032000"/>
                </a:lnTo>
                <a:cubicBezTo>
                  <a:pt x="37910" y="2032000"/>
                  <a:pt x="0" y="1994090"/>
                  <a:pt x="0" y="1947327"/>
                </a:cubicBezTo>
                <a:lnTo>
                  <a:pt x="0" y="84673"/>
                </a:lnTo>
                <a:cubicBezTo>
                  <a:pt x="0" y="37910"/>
                  <a:pt x="37910" y="0"/>
                  <a:pt x="8467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57250" y="4667250"/>
            <a:ext cx="6815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传统技术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73125" y="509058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0" y="63500"/>
                </a:moveTo>
                <a:cubicBezTo>
                  <a:pt x="0" y="28453"/>
                  <a:pt x="28453" y="0"/>
                  <a:pt x="63500" y="0"/>
                </a:cubicBez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100667" y="5048250"/>
            <a:ext cx="1725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RNN/LSTM/GRU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00667" y="5259917"/>
            <a:ext cx="17145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循环神经网络，处理序列数据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73125" y="55562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0" y="63500"/>
                </a:moveTo>
                <a:cubicBezTo>
                  <a:pt x="0" y="28453"/>
                  <a:pt x="28453" y="0"/>
                  <a:pt x="63500" y="0"/>
                </a:cubicBez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100667" y="5513917"/>
            <a:ext cx="2106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HMM</a:t>
            </a: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隐马尔可夫模型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00667" y="5725583"/>
            <a:ext cx="20955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用于分词、词性标注等序列标注任务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73125" y="602191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0" y="63500"/>
                </a:moveTo>
                <a:cubicBezTo>
                  <a:pt x="0" y="28453"/>
                  <a:pt x="28453" y="0"/>
                  <a:pt x="63500" y="0"/>
                </a:cubicBez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100667" y="5979583"/>
            <a:ext cx="1471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词袋模型 (</a:t>
            </a: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BoW</a:t>
            </a: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00667" y="6191250"/>
            <a:ext cx="14605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文本特征提取的基础方法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39125" y="1846792"/>
            <a:ext cx="7588250" cy="5810250"/>
          </a:xfrm>
          <a:custGeom>
            <a:avLst/>
            <a:gdLst/>
            <a:ahLst/>
            <a:cxnLst/>
            <a:rect l="l" t="t" r="r" b="b"/>
            <a:pathLst>
              <a:path w="7588250" h="5810250">
                <a:moveTo>
                  <a:pt x="127012" y="0"/>
                </a:moveTo>
                <a:lnTo>
                  <a:pt x="7461238" y="0"/>
                </a:lnTo>
                <a:cubicBezTo>
                  <a:pt x="7531385" y="0"/>
                  <a:pt x="7588250" y="56865"/>
                  <a:pt x="7588250" y="127012"/>
                </a:cubicBezTo>
                <a:lnTo>
                  <a:pt x="7588250" y="5683238"/>
                </a:lnTo>
                <a:cubicBezTo>
                  <a:pt x="7588250" y="5753385"/>
                  <a:pt x="7531385" y="5810250"/>
                  <a:pt x="7461238" y="5810250"/>
                </a:cubicBezTo>
                <a:lnTo>
                  <a:pt x="127012" y="5810250"/>
                </a:lnTo>
                <a:cubicBezTo>
                  <a:pt x="56865" y="5810250"/>
                  <a:pt x="0" y="5753385"/>
                  <a:pt x="0" y="5683238"/>
                </a:cubicBezTo>
                <a:lnTo>
                  <a:pt x="0" y="127012"/>
                </a:lnTo>
                <a:cubicBezTo>
                  <a:pt x="0" y="56912"/>
                  <a:pt x="56912" y="0"/>
                  <a:pt x="127012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6ED3CF">
                  <a:alpha val="5000"/>
                </a:srgbClr>
              </a:gs>
            </a:gsLst>
            <a:lin ang="2700000" scaled="1"/>
          </a:gradFill>
          <a:ln w="12700">
            <a:solidFill>
              <a:srgbClr val="6ED3C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498417" y="212725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633354" y="2275417"/>
            <a:ext cx="238125" cy="211667"/>
          </a:xfrm>
          <a:custGeom>
            <a:avLst/>
            <a:gdLst/>
            <a:ahLst/>
            <a:cxnLst/>
            <a:rect l="l" t="t" r="r" b="b"/>
            <a:pathLst>
              <a:path w="238125" h="211667">
                <a:moveTo>
                  <a:pt x="158750" y="59531"/>
                </a:moveTo>
                <a:cubicBezTo>
                  <a:pt x="158750" y="99715"/>
                  <a:pt x="123197" y="132292"/>
                  <a:pt x="79375" y="132292"/>
                </a:cubicBezTo>
                <a:cubicBezTo>
                  <a:pt x="68337" y="132292"/>
                  <a:pt x="57836" y="130225"/>
                  <a:pt x="48286" y="126504"/>
                </a:cubicBezTo>
                <a:lnTo>
                  <a:pt x="14552" y="144363"/>
                </a:lnTo>
                <a:cubicBezTo>
                  <a:pt x="10707" y="146389"/>
                  <a:pt x="5994" y="145686"/>
                  <a:pt x="2894" y="142627"/>
                </a:cubicBezTo>
                <a:cubicBezTo>
                  <a:pt x="-207" y="139568"/>
                  <a:pt x="-910" y="134813"/>
                  <a:pt x="1158" y="130969"/>
                </a:cubicBezTo>
                <a:lnTo>
                  <a:pt x="15875" y="103188"/>
                </a:lnTo>
                <a:cubicBezTo>
                  <a:pt x="5912" y="91033"/>
                  <a:pt x="0" y="75902"/>
                  <a:pt x="0" y="59531"/>
                </a:cubicBezTo>
                <a:cubicBezTo>
                  <a:pt x="0" y="19348"/>
                  <a:pt x="35553" y="-13229"/>
                  <a:pt x="79375" y="-13229"/>
                </a:cubicBezTo>
                <a:cubicBezTo>
                  <a:pt x="123197" y="-13229"/>
                  <a:pt x="158750" y="19348"/>
                  <a:pt x="158750" y="59531"/>
                </a:cubicBezTo>
                <a:close/>
                <a:moveTo>
                  <a:pt x="158750" y="211667"/>
                </a:moveTo>
                <a:cubicBezTo>
                  <a:pt x="119848" y="211667"/>
                  <a:pt x="87478" y="185994"/>
                  <a:pt x="80698" y="152135"/>
                </a:cubicBezTo>
                <a:cubicBezTo>
                  <a:pt x="130307" y="151515"/>
                  <a:pt x="173426" y="116210"/>
                  <a:pt x="178180" y="68337"/>
                </a:cubicBezTo>
                <a:cubicBezTo>
                  <a:pt x="212618" y="76274"/>
                  <a:pt x="238125" y="104841"/>
                  <a:pt x="238125" y="138906"/>
                </a:cubicBezTo>
                <a:cubicBezTo>
                  <a:pt x="238125" y="155277"/>
                  <a:pt x="232213" y="170408"/>
                  <a:pt x="222250" y="182563"/>
                </a:cubicBezTo>
                <a:lnTo>
                  <a:pt x="236967" y="210344"/>
                </a:lnTo>
                <a:cubicBezTo>
                  <a:pt x="238993" y="214188"/>
                  <a:pt x="238290" y="218901"/>
                  <a:pt x="235231" y="222002"/>
                </a:cubicBezTo>
                <a:cubicBezTo>
                  <a:pt x="232172" y="225103"/>
                  <a:pt x="227418" y="225805"/>
                  <a:pt x="223573" y="223738"/>
                </a:cubicBezTo>
                <a:lnTo>
                  <a:pt x="189839" y="205879"/>
                </a:lnTo>
                <a:cubicBezTo>
                  <a:pt x="180289" y="209600"/>
                  <a:pt x="169788" y="211667"/>
                  <a:pt x="158750" y="211667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9133417" y="2106083"/>
            <a:ext cx="116416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典型应用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33417" y="2444750"/>
            <a:ext cx="1111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商业化落地场景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519583" y="2825750"/>
            <a:ext cx="7048500" cy="1439333"/>
          </a:xfrm>
          <a:custGeom>
            <a:avLst/>
            <a:gdLst/>
            <a:ahLst/>
            <a:cxnLst/>
            <a:rect l="l" t="t" r="r" b="b"/>
            <a:pathLst>
              <a:path w="7048500" h="1439333">
                <a:moveTo>
                  <a:pt x="42333" y="0"/>
                </a:moveTo>
                <a:lnTo>
                  <a:pt x="6963838" y="0"/>
                </a:lnTo>
                <a:cubicBezTo>
                  <a:pt x="7010596" y="0"/>
                  <a:pt x="7048500" y="37904"/>
                  <a:pt x="7048500" y="84662"/>
                </a:cubicBezTo>
                <a:lnTo>
                  <a:pt x="7048500" y="1354672"/>
                </a:lnTo>
                <a:cubicBezTo>
                  <a:pt x="7048500" y="1401429"/>
                  <a:pt x="7010596" y="1439333"/>
                  <a:pt x="6963838" y="1439333"/>
                </a:cubicBezTo>
                <a:lnTo>
                  <a:pt x="42333" y="1439333"/>
                </a:lnTo>
                <a:cubicBezTo>
                  <a:pt x="18953" y="1439333"/>
                  <a:pt x="0" y="1420380"/>
                  <a:pt x="0" y="1397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519583" y="2825750"/>
            <a:ext cx="42333" cy="1439333"/>
          </a:xfrm>
          <a:custGeom>
            <a:avLst/>
            <a:gdLst/>
            <a:ahLst/>
            <a:cxnLst/>
            <a:rect l="l" t="t" r="r" b="b"/>
            <a:pathLst>
              <a:path w="42333" h="1439333">
                <a:moveTo>
                  <a:pt x="42333" y="0"/>
                </a:moveTo>
                <a:lnTo>
                  <a:pt x="42333" y="0"/>
                </a:lnTo>
                <a:lnTo>
                  <a:pt x="42333" y="1439333"/>
                </a:lnTo>
                <a:lnTo>
                  <a:pt x="42333" y="1439333"/>
                </a:lnTo>
                <a:cubicBezTo>
                  <a:pt x="18953" y="1439333"/>
                  <a:pt x="0" y="1420380"/>
                  <a:pt x="0" y="1397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720667" y="3058583"/>
            <a:ext cx="190500" cy="169333"/>
          </a:xfrm>
          <a:custGeom>
            <a:avLst/>
            <a:gdLst/>
            <a:ahLst/>
            <a:cxnLst/>
            <a:rect l="l" t="t" r="r" b="b"/>
            <a:pathLst>
              <a:path w="190500" h="169333">
                <a:moveTo>
                  <a:pt x="52917" y="0"/>
                </a:moveTo>
                <a:cubicBezTo>
                  <a:pt x="58771" y="0"/>
                  <a:pt x="63500" y="4729"/>
                  <a:pt x="63500" y="10583"/>
                </a:cubicBezTo>
                <a:lnTo>
                  <a:pt x="63500" y="21167"/>
                </a:lnTo>
                <a:lnTo>
                  <a:pt x="105833" y="21167"/>
                </a:lnTo>
                <a:cubicBezTo>
                  <a:pt x="111687" y="21167"/>
                  <a:pt x="116417" y="25896"/>
                  <a:pt x="116417" y="31750"/>
                </a:cubicBezTo>
                <a:cubicBezTo>
                  <a:pt x="116417" y="37604"/>
                  <a:pt x="111687" y="42333"/>
                  <a:pt x="105833" y="42333"/>
                </a:cubicBezTo>
                <a:lnTo>
                  <a:pt x="102658" y="42333"/>
                </a:lnTo>
                <a:lnTo>
                  <a:pt x="99880" y="49973"/>
                </a:lnTo>
                <a:cubicBezTo>
                  <a:pt x="94456" y="64922"/>
                  <a:pt x="86287" y="78581"/>
                  <a:pt x="76002" y="90322"/>
                </a:cubicBezTo>
                <a:cubicBezTo>
                  <a:pt x="80698" y="93233"/>
                  <a:pt x="85593" y="95812"/>
                  <a:pt x="90686" y="98094"/>
                </a:cubicBezTo>
                <a:lnTo>
                  <a:pt x="107355" y="105503"/>
                </a:lnTo>
                <a:lnTo>
                  <a:pt x="127926" y="59201"/>
                </a:lnTo>
                <a:cubicBezTo>
                  <a:pt x="129613" y="55364"/>
                  <a:pt x="133416" y="52917"/>
                  <a:pt x="137583" y="52917"/>
                </a:cubicBezTo>
                <a:cubicBezTo>
                  <a:pt x="141751" y="52917"/>
                  <a:pt x="145554" y="55364"/>
                  <a:pt x="147241" y="59201"/>
                </a:cubicBezTo>
                <a:lnTo>
                  <a:pt x="189574" y="154451"/>
                </a:lnTo>
                <a:cubicBezTo>
                  <a:pt x="191955" y="159808"/>
                  <a:pt x="189541" y="166059"/>
                  <a:pt x="184216" y="168407"/>
                </a:cubicBezTo>
                <a:cubicBezTo>
                  <a:pt x="178891" y="170755"/>
                  <a:pt x="172608" y="168374"/>
                  <a:pt x="170259" y="163049"/>
                </a:cubicBezTo>
                <a:lnTo>
                  <a:pt x="163645" y="148167"/>
                </a:lnTo>
                <a:lnTo>
                  <a:pt x="111555" y="148167"/>
                </a:lnTo>
                <a:lnTo>
                  <a:pt x="104940" y="163049"/>
                </a:lnTo>
                <a:cubicBezTo>
                  <a:pt x="102559" y="168407"/>
                  <a:pt x="96308" y="170789"/>
                  <a:pt x="90984" y="168407"/>
                </a:cubicBezTo>
                <a:cubicBezTo>
                  <a:pt x="85659" y="166026"/>
                  <a:pt x="83245" y="159775"/>
                  <a:pt x="85626" y="154451"/>
                </a:cubicBezTo>
                <a:lnTo>
                  <a:pt x="98789" y="124850"/>
                </a:lnTo>
                <a:lnTo>
                  <a:pt x="82120" y="117442"/>
                </a:lnTo>
                <a:cubicBezTo>
                  <a:pt x="74513" y="114068"/>
                  <a:pt x="67237" y="110034"/>
                  <a:pt x="60358" y="105403"/>
                </a:cubicBezTo>
                <a:cubicBezTo>
                  <a:pt x="53314" y="111092"/>
                  <a:pt x="45608" y="116053"/>
                  <a:pt x="37372" y="120187"/>
                </a:cubicBezTo>
                <a:lnTo>
                  <a:pt x="25896" y="125876"/>
                </a:lnTo>
                <a:cubicBezTo>
                  <a:pt x="20671" y="128488"/>
                  <a:pt x="14321" y="126372"/>
                  <a:pt x="11708" y="121146"/>
                </a:cubicBezTo>
                <a:cubicBezTo>
                  <a:pt x="9095" y="115921"/>
                  <a:pt x="11212" y="109571"/>
                  <a:pt x="16437" y="106958"/>
                </a:cubicBezTo>
                <a:lnTo>
                  <a:pt x="27847" y="101236"/>
                </a:lnTo>
                <a:cubicBezTo>
                  <a:pt x="33238" y="98524"/>
                  <a:pt x="38365" y="95382"/>
                  <a:pt x="43193" y="91877"/>
                </a:cubicBezTo>
                <a:cubicBezTo>
                  <a:pt x="38629" y="87676"/>
                  <a:pt x="34330" y="83145"/>
                  <a:pt x="30328" y="78350"/>
                </a:cubicBezTo>
                <a:lnTo>
                  <a:pt x="26988" y="74315"/>
                </a:lnTo>
                <a:cubicBezTo>
                  <a:pt x="23250" y="69817"/>
                  <a:pt x="23846" y="63136"/>
                  <a:pt x="28343" y="59399"/>
                </a:cubicBezTo>
                <a:cubicBezTo>
                  <a:pt x="32841" y="55662"/>
                  <a:pt x="39522" y="56257"/>
                  <a:pt x="43259" y="60755"/>
                </a:cubicBezTo>
                <a:lnTo>
                  <a:pt x="46633" y="64790"/>
                </a:lnTo>
                <a:cubicBezTo>
                  <a:pt x="50436" y="69387"/>
                  <a:pt x="54603" y="73653"/>
                  <a:pt x="59002" y="77589"/>
                </a:cubicBezTo>
                <a:cubicBezTo>
                  <a:pt x="68097" y="67535"/>
                  <a:pt x="75274" y="55728"/>
                  <a:pt x="80003" y="42730"/>
                </a:cubicBezTo>
                <a:lnTo>
                  <a:pt x="80169" y="42333"/>
                </a:lnTo>
                <a:lnTo>
                  <a:pt x="10616" y="42333"/>
                </a:lnTo>
                <a:cubicBezTo>
                  <a:pt x="4729" y="42333"/>
                  <a:pt x="0" y="37604"/>
                  <a:pt x="0" y="31750"/>
                </a:cubicBezTo>
                <a:cubicBezTo>
                  <a:pt x="0" y="25896"/>
                  <a:pt x="4729" y="21167"/>
                  <a:pt x="10583" y="21167"/>
                </a:cubicBezTo>
                <a:lnTo>
                  <a:pt x="42333" y="21167"/>
                </a:lnTo>
                <a:lnTo>
                  <a:pt x="42333" y="10583"/>
                </a:lnTo>
                <a:cubicBezTo>
                  <a:pt x="42333" y="4729"/>
                  <a:pt x="47063" y="0"/>
                  <a:pt x="52917" y="0"/>
                </a:cubicBezTo>
                <a:close/>
                <a:moveTo>
                  <a:pt x="137583" y="89561"/>
                </a:moveTo>
                <a:lnTo>
                  <a:pt x="120948" y="127000"/>
                </a:lnTo>
                <a:lnTo>
                  <a:pt x="154219" y="127000"/>
                </a:lnTo>
                <a:lnTo>
                  <a:pt x="137583" y="89561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9006417" y="2995083"/>
            <a:ext cx="857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机器翻译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710083" y="3376083"/>
            <a:ext cx="6762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• Google Translate、DeepL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710083" y="3630083"/>
            <a:ext cx="6762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跨语言信息检索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710083" y="3884083"/>
            <a:ext cx="6762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多语言内容处理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519583" y="4392083"/>
            <a:ext cx="7048500" cy="1439333"/>
          </a:xfrm>
          <a:custGeom>
            <a:avLst/>
            <a:gdLst/>
            <a:ahLst/>
            <a:cxnLst/>
            <a:rect l="l" t="t" r="r" b="b"/>
            <a:pathLst>
              <a:path w="7048500" h="1439333">
                <a:moveTo>
                  <a:pt x="42333" y="0"/>
                </a:moveTo>
                <a:lnTo>
                  <a:pt x="6963838" y="0"/>
                </a:lnTo>
                <a:cubicBezTo>
                  <a:pt x="7010596" y="0"/>
                  <a:pt x="7048500" y="37904"/>
                  <a:pt x="7048500" y="84662"/>
                </a:cubicBezTo>
                <a:lnTo>
                  <a:pt x="7048500" y="1354672"/>
                </a:lnTo>
                <a:cubicBezTo>
                  <a:pt x="7048500" y="1401429"/>
                  <a:pt x="7010596" y="1439333"/>
                  <a:pt x="6963838" y="1439333"/>
                </a:cubicBezTo>
                <a:lnTo>
                  <a:pt x="42333" y="1439333"/>
                </a:lnTo>
                <a:cubicBezTo>
                  <a:pt x="18953" y="1439333"/>
                  <a:pt x="0" y="1420380"/>
                  <a:pt x="0" y="1397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8519583" y="4392083"/>
            <a:ext cx="42333" cy="1439333"/>
          </a:xfrm>
          <a:custGeom>
            <a:avLst/>
            <a:gdLst/>
            <a:ahLst/>
            <a:cxnLst/>
            <a:rect l="l" t="t" r="r" b="b"/>
            <a:pathLst>
              <a:path w="42333" h="1439333">
                <a:moveTo>
                  <a:pt x="42333" y="0"/>
                </a:moveTo>
                <a:lnTo>
                  <a:pt x="42333" y="0"/>
                </a:lnTo>
                <a:lnTo>
                  <a:pt x="42333" y="1439333"/>
                </a:lnTo>
                <a:lnTo>
                  <a:pt x="42333" y="1439333"/>
                </a:lnTo>
                <a:cubicBezTo>
                  <a:pt x="18953" y="1439333"/>
                  <a:pt x="0" y="1420380"/>
                  <a:pt x="0" y="1397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8710083" y="4624917"/>
            <a:ext cx="211667" cy="169333"/>
          </a:xfrm>
          <a:custGeom>
            <a:avLst/>
            <a:gdLst/>
            <a:ahLst/>
            <a:cxnLst/>
            <a:rect l="l" t="t" r="r" b="b"/>
            <a:pathLst>
              <a:path w="211667" h="169333">
                <a:moveTo>
                  <a:pt x="116417" y="0"/>
                </a:moveTo>
                <a:cubicBezTo>
                  <a:pt x="116417" y="-5854"/>
                  <a:pt x="111687" y="-10583"/>
                  <a:pt x="105833" y="-10583"/>
                </a:cubicBezTo>
                <a:cubicBezTo>
                  <a:pt x="99979" y="-10583"/>
                  <a:pt x="95250" y="-5854"/>
                  <a:pt x="95250" y="0"/>
                </a:cubicBezTo>
                <a:lnTo>
                  <a:pt x="95250" y="21167"/>
                </a:lnTo>
                <a:lnTo>
                  <a:pt x="63500" y="21167"/>
                </a:lnTo>
                <a:cubicBezTo>
                  <a:pt x="45971" y="21167"/>
                  <a:pt x="31750" y="35388"/>
                  <a:pt x="31750" y="52917"/>
                </a:cubicBezTo>
                <a:lnTo>
                  <a:pt x="31750" y="127000"/>
                </a:lnTo>
                <a:cubicBezTo>
                  <a:pt x="31750" y="144529"/>
                  <a:pt x="45971" y="158750"/>
                  <a:pt x="63500" y="158750"/>
                </a:cubicBezTo>
                <a:lnTo>
                  <a:pt x="148167" y="158750"/>
                </a:lnTo>
                <a:cubicBezTo>
                  <a:pt x="165695" y="158750"/>
                  <a:pt x="179917" y="144529"/>
                  <a:pt x="179917" y="127000"/>
                </a:cubicBezTo>
                <a:lnTo>
                  <a:pt x="179917" y="52917"/>
                </a:lnTo>
                <a:cubicBezTo>
                  <a:pt x="179917" y="35388"/>
                  <a:pt x="165695" y="21167"/>
                  <a:pt x="148167" y="21167"/>
                </a:cubicBezTo>
                <a:lnTo>
                  <a:pt x="116417" y="21167"/>
                </a:lnTo>
                <a:lnTo>
                  <a:pt x="116417" y="0"/>
                </a:lnTo>
                <a:close/>
                <a:moveTo>
                  <a:pt x="52917" y="121708"/>
                </a:moveTo>
                <a:cubicBezTo>
                  <a:pt x="52917" y="117310"/>
                  <a:pt x="56455" y="113771"/>
                  <a:pt x="60854" y="113771"/>
                </a:cubicBezTo>
                <a:lnTo>
                  <a:pt x="71438" y="113771"/>
                </a:lnTo>
                <a:cubicBezTo>
                  <a:pt x="75836" y="113771"/>
                  <a:pt x="79375" y="117310"/>
                  <a:pt x="79375" y="121708"/>
                </a:cubicBezTo>
                <a:cubicBezTo>
                  <a:pt x="79375" y="126107"/>
                  <a:pt x="75836" y="129646"/>
                  <a:pt x="71438" y="129646"/>
                </a:cubicBezTo>
                <a:lnTo>
                  <a:pt x="60854" y="129646"/>
                </a:lnTo>
                <a:cubicBezTo>
                  <a:pt x="56455" y="129646"/>
                  <a:pt x="52917" y="126107"/>
                  <a:pt x="52917" y="121708"/>
                </a:cubicBezTo>
                <a:close/>
                <a:moveTo>
                  <a:pt x="92604" y="121708"/>
                </a:moveTo>
                <a:cubicBezTo>
                  <a:pt x="92604" y="117310"/>
                  <a:pt x="96143" y="113771"/>
                  <a:pt x="100542" y="113771"/>
                </a:cubicBezTo>
                <a:lnTo>
                  <a:pt x="111125" y="113771"/>
                </a:lnTo>
                <a:cubicBezTo>
                  <a:pt x="115524" y="113771"/>
                  <a:pt x="119063" y="117310"/>
                  <a:pt x="119063" y="121708"/>
                </a:cubicBezTo>
                <a:cubicBezTo>
                  <a:pt x="119063" y="126107"/>
                  <a:pt x="115524" y="129646"/>
                  <a:pt x="111125" y="129646"/>
                </a:cubicBezTo>
                <a:lnTo>
                  <a:pt x="100542" y="129646"/>
                </a:lnTo>
                <a:cubicBezTo>
                  <a:pt x="96143" y="129646"/>
                  <a:pt x="92604" y="126107"/>
                  <a:pt x="92604" y="121708"/>
                </a:cubicBezTo>
                <a:close/>
                <a:moveTo>
                  <a:pt x="132292" y="121708"/>
                </a:moveTo>
                <a:cubicBezTo>
                  <a:pt x="132292" y="117310"/>
                  <a:pt x="135830" y="113771"/>
                  <a:pt x="140229" y="113771"/>
                </a:cubicBezTo>
                <a:lnTo>
                  <a:pt x="150813" y="113771"/>
                </a:lnTo>
                <a:cubicBezTo>
                  <a:pt x="155211" y="113771"/>
                  <a:pt x="158750" y="117310"/>
                  <a:pt x="158750" y="121708"/>
                </a:cubicBezTo>
                <a:cubicBezTo>
                  <a:pt x="158750" y="126107"/>
                  <a:pt x="155211" y="129646"/>
                  <a:pt x="150813" y="129646"/>
                </a:cubicBezTo>
                <a:lnTo>
                  <a:pt x="140229" y="129646"/>
                </a:lnTo>
                <a:cubicBezTo>
                  <a:pt x="135830" y="129646"/>
                  <a:pt x="132292" y="126107"/>
                  <a:pt x="132292" y="121708"/>
                </a:cubicBezTo>
                <a:close/>
                <a:moveTo>
                  <a:pt x="74083" y="58208"/>
                </a:moveTo>
                <a:cubicBezTo>
                  <a:pt x="82845" y="58208"/>
                  <a:pt x="89958" y="65322"/>
                  <a:pt x="89958" y="74083"/>
                </a:cubicBezTo>
                <a:cubicBezTo>
                  <a:pt x="89958" y="82845"/>
                  <a:pt x="82845" y="89958"/>
                  <a:pt x="74083" y="89958"/>
                </a:cubicBezTo>
                <a:cubicBezTo>
                  <a:pt x="65322" y="89958"/>
                  <a:pt x="58208" y="82845"/>
                  <a:pt x="58208" y="74083"/>
                </a:cubicBezTo>
                <a:cubicBezTo>
                  <a:pt x="58208" y="65322"/>
                  <a:pt x="65322" y="58208"/>
                  <a:pt x="74083" y="58208"/>
                </a:cubicBezTo>
                <a:close/>
                <a:moveTo>
                  <a:pt x="121708" y="74083"/>
                </a:moveTo>
                <a:cubicBezTo>
                  <a:pt x="121708" y="65322"/>
                  <a:pt x="128822" y="58208"/>
                  <a:pt x="137583" y="58208"/>
                </a:cubicBezTo>
                <a:cubicBezTo>
                  <a:pt x="146345" y="58208"/>
                  <a:pt x="153458" y="65322"/>
                  <a:pt x="153458" y="74083"/>
                </a:cubicBezTo>
                <a:cubicBezTo>
                  <a:pt x="153458" y="82845"/>
                  <a:pt x="146345" y="89958"/>
                  <a:pt x="137583" y="89958"/>
                </a:cubicBezTo>
                <a:cubicBezTo>
                  <a:pt x="128822" y="89958"/>
                  <a:pt x="121708" y="82845"/>
                  <a:pt x="121708" y="74083"/>
                </a:cubicBezTo>
                <a:close/>
                <a:moveTo>
                  <a:pt x="21167" y="74083"/>
                </a:moveTo>
                <a:cubicBezTo>
                  <a:pt x="21167" y="68229"/>
                  <a:pt x="16437" y="63500"/>
                  <a:pt x="10583" y="63500"/>
                </a:cubicBezTo>
                <a:cubicBezTo>
                  <a:pt x="4729" y="63500"/>
                  <a:pt x="0" y="68229"/>
                  <a:pt x="0" y="74083"/>
                </a:cubicBezTo>
                <a:lnTo>
                  <a:pt x="0" y="105833"/>
                </a:lnTo>
                <a:cubicBezTo>
                  <a:pt x="0" y="111687"/>
                  <a:pt x="4729" y="116417"/>
                  <a:pt x="10583" y="116417"/>
                </a:cubicBezTo>
                <a:cubicBezTo>
                  <a:pt x="16437" y="116417"/>
                  <a:pt x="21167" y="111687"/>
                  <a:pt x="21167" y="105833"/>
                </a:cubicBezTo>
                <a:lnTo>
                  <a:pt x="21167" y="74083"/>
                </a:lnTo>
                <a:close/>
                <a:moveTo>
                  <a:pt x="201083" y="63500"/>
                </a:moveTo>
                <a:cubicBezTo>
                  <a:pt x="195229" y="63500"/>
                  <a:pt x="190500" y="68229"/>
                  <a:pt x="190500" y="74083"/>
                </a:cubicBezTo>
                <a:lnTo>
                  <a:pt x="190500" y="105833"/>
                </a:lnTo>
                <a:cubicBezTo>
                  <a:pt x="190500" y="111687"/>
                  <a:pt x="195229" y="116417"/>
                  <a:pt x="201083" y="116417"/>
                </a:cubicBezTo>
                <a:cubicBezTo>
                  <a:pt x="206937" y="116417"/>
                  <a:pt x="211667" y="111687"/>
                  <a:pt x="211667" y="105833"/>
                </a:cubicBezTo>
                <a:lnTo>
                  <a:pt x="211667" y="74083"/>
                </a:lnTo>
                <a:cubicBezTo>
                  <a:pt x="211667" y="68229"/>
                  <a:pt x="206937" y="63500"/>
                  <a:pt x="201083" y="6350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9006417" y="4561417"/>
            <a:ext cx="857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智能客服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710083" y="4942417"/>
            <a:ext cx="6762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对话机器人 (</a:t>
            </a: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Chatbot</a:t>
            </a: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710083" y="5196417"/>
            <a:ext cx="6762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意图识别与槽位填充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710083" y="5450417"/>
            <a:ext cx="6762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情感分析与回复生成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519583" y="5958417"/>
            <a:ext cx="7048500" cy="1439333"/>
          </a:xfrm>
          <a:custGeom>
            <a:avLst/>
            <a:gdLst/>
            <a:ahLst/>
            <a:cxnLst/>
            <a:rect l="l" t="t" r="r" b="b"/>
            <a:pathLst>
              <a:path w="7048500" h="1439333">
                <a:moveTo>
                  <a:pt x="42333" y="0"/>
                </a:moveTo>
                <a:lnTo>
                  <a:pt x="6963838" y="0"/>
                </a:lnTo>
                <a:cubicBezTo>
                  <a:pt x="7010596" y="0"/>
                  <a:pt x="7048500" y="37904"/>
                  <a:pt x="7048500" y="84662"/>
                </a:cubicBezTo>
                <a:lnTo>
                  <a:pt x="7048500" y="1354672"/>
                </a:lnTo>
                <a:cubicBezTo>
                  <a:pt x="7048500" y="1401429"/>
                  <a:pt x="7010596" y="1439333"/>
                  <a:pt x="6963838" y="1439333"/>
                </a:cubicBezTo>
                <a:lnTo>
                  <a:pt x="42333" y="1439333"/>
                </a:lnTo>
                <a:cubicBezTo>
                  <a:pt x="18953" y="1439333"/>
                  <a:pt x="0" y="1420380"/>
                  <a:pt x="0" y="1397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8519583" y="5958417"/>
            <a:ext cx="42333" cy="1439333"/>
          </a:xfrm>
          <a:custGeom>
            <a:avLst/>
            <a:gdLst/>
            <a:ahLst/>
            <a:cxnLst/>
            <a:rect l="l" t="t" r="r" b="b"/>
            <a:pathLst>
              <a:path w="42333" h="1439333">
                <a:moveTo>
                  <a:pt x="42333" y="0"/>
                </a:moveTo>
                <a:lnTo>
                  <a:pt x="42333" y="0"/>
                </a:lnTo>
                <a:lnTo>
                  <a:pt x="42333" y="1439333"/>
                </a:lnTo>
                <a:lnTo>
                  <a:pt x="42333" y="1439333"/>
                </a:lnTo>
                <a:cubicBezTo>
                  <a:pt x="18953" y="1439333"/>
                  <a:pt x="0" y="1420380"/>
                  <a:pt x="0" y="1397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8731250" y="6191250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21167" y="21167"/>
                </a:moveTo>
                <a:cubicBezTo>
                  <a:pt x="21167" y="15313"/>
                  <a:pt x="16437" y="10583"/>
                  <a:pt x="10583" y="10583"/>
                </a:cubicBezTo>
                <a:cubicBezTo>
                  <a:pt x="4729" y="10583"/>
                  <a:pt x="0" y="15313"/>
                  <a:pt x="0" y="21167"/>
                </a:cubicBezTo>
                <a:lnTo>
                  <a:pt x="0" y="132292"/>
                </a:lnTo>
                <a:cubicBezTo>
                  <a:pt x="0" y="146910"/>
                  <a:pt x="11840" y="158750"/>
                  <a:pt x="26458" y="158750"/>
                </a:cubicBezTo>
                <a:lnTo>
                  <a:pt x="158750" y="158750"/>
                </a:lnTo>
                <a:cubicBezTo>
                  <a:pt x="164604" y="158750"/>
                  <a:pt x="169333" y="154021"/>
                  <a:pt x="169333" y="148167"/>
                </a:cubicBezTo>
                <a:cubicBezTo>
                  <a:pt x="169333" y="142313"/>
                  <a:pt x="164604" y="137583"/>
                  <a:pt x="158750" y="137583"/>
                </a:cubicBezTo>
                <a:lnTo>
                  <a:pt x="26458" y="137583"/>
                </a:lnTo>
                <a:cubicBezTo>
                  <a:pt x="23548" y="137583"/>
                  <a:pt x="21167" y="135202"/>
                  <a:pt x="21167" y="132292"/>
                </a:cubicBezTo>
                <a:lnTo>
                  <a:pt x="21167" y="21167"/>
                </a:lnTo>
                <a:close/>
                <a:moveTo>
                  <a:pt x="155641" y="49808"/>
                </a:moveTo>
                <a:cubicBezTo>
                  <a:pt x="159775" y="45674"/>
                  <a:pt x="159775" y="38960"/>
                  <a:pt x="155641" y="34826"/>
                </a:cubicBezTo>
                <a:cubicBezTo>
                  <a:pt x="151507" y="30692"/>
                  <a:pt x="144793" y="30692"/>
                  <a:pt x="140659" y="34826"/>
                </a:cubicBezTo>
                <a:lnTo>
                  <a:pt x="105833" y="69685"/>
                </a:lnTo>
                <a:lnTo>
                  <a:pt x="86849" y="50734"/>
                </a:lnTo>
                <a:cubicBezTo>
                  <a:pt x="82715" y="46600"/>
                  <a:pt x="76002" y="46600"/>
                  <a:pt x="71867" y="50734"/>
                </a:cubicBezTo>
                <a:lnTo>
                  <a:pt x="40117" y="82484"/>
                </a:lnTo>
                <a:cubicBezTo>
                  <a:pt x="35983" y="86618"/>
                  <a:pt x="35983" y="93332"/>
                  <a:pt x="40117" y="97466"/>
                </a:cubicBezTo>
                <a:cubicBezTo>
                  <a:pt x="44252" y="101600"/>
                  <a:pt x="50965" y="101600"/>
                  <a:pt x="55099" y="97466"/>
                </a:cubicBezTo>
                <a:lnTo>
                  <a:pt x="79375" y="73190"/>
                </a:lnTo>
                <a:lnTo>
                  <a:pt x="98359" y="92174"/>
                </a:lnTo>
                <a:cubicBezTo>
                  <a:pt x="102493" y="96308"/>
                  <a:pt x="109207" y="96308"/>
                  <a:pt x="113341" y="92174"/>
                </a:cubicBezTo>
                <a:lnTo>
                  <a:pt x="155674" y="49841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9006417" y="6127750"/>
            <a:ext cx="857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舆情分析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710083" y="6508750"/>
            <a:ext cx="6762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情感分类（正面/负面/中性）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710083" y="6762750"/>
            <a:ext cx="6762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话题检测与追踪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710083" y="7016750"/>
            <a:ext cx="6762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实体识别与关系抽取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23333" y="6868583"/>
            <a:ext cx="7588250" cy="2169583"/>
          </a:xfrm>
          <a:custGeom>
            <a:avLst/>
            <a:gdLst/>
            <a:ahLst/>
            <a:cxnLst/>
            <a:rect l="l" t="t" r="r" b="b"/>
            <a:pathLst>
              <a:path w="7588250" h="2169583">
                <a:moveTo>
                  <a:pt x="127007" y="0"/>
                </a:moveTo>
                <a:lnTo>
                  <a:pt x="7461243" y="0"/>
                </a:lnTo>
                <a:cubicBezTo>
                  <a:pt x="7531387" y="0"/>
                  <a:pt x="7588250" y="56863"/>
                  <a:pt x="7588250" y="127007"/>
                </a:cubicBezTo>
                <a:lnTo>
                  <a:pt x="7588250" y="2042576"/>
                </a:lnTo>
                <a:cubicBezTo>
                  <a:pt x="7588250" y="2112720"/>
                  <a:pt x="7531387" y="2169583"/>
                  <a:pt x="7461243" y="2169583"/>
                </a:cubicBezTo>
                <a:lnTo>
                  <a:pt x="127007" y="2169583"/>
                </a:lnTo>
                <a:cubicBezTo>
                  <a:pt x="56863" y="2169583"/>
                  <a:pt x="0" y="2112720"/>
                  <a:pt x="0" y="2042576"/>
                </a:cubicBezTo>
                <a:lnTo>
                  <a:pt x="0" y="127007"/>
                </a:lnTo>
                <a:cubicBezTo>
                  <a:pt x="0" y="56863"/>
                  <a:pt x="56863" y="0"/>
                  <a:pt x="127007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666750" y="713845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883708" y="7085542"/>
            <a:ext cx="7006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NLP</a:t>
            </a:r>
            <a:r>
              <a:rPr lang="en-US" sz="15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核心技术任务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40291" y="7508875"/>
            <a:ext cx="3534833" cy="381000"/>
          </a:xfrm>
          <a:custGeom>
            <a:avLst/>
            <a:gdLst/>
            <a:ahLst/>
            <a:cxnLst/>
            <a:rect l="l" t="t" r="r" b="b"/>
            <a:pathLst>
              <a:path w="3534833" h="381000">
                <a:moveTo>
                  <a:pt x="42333" y="0"/>
                </a:moveTo>
                <a:lnTo>
                  <a:pt x="3492500" y="0"/>
                </a:lnTo>
                <a:cubicBezTo>
                  <a:pt x="3515880" y="0"/>
                  <a:pt x="3534833" y="18953"/>
                  <a:pt x="3534833" y="42333"/>
                </a:cubicBezTo>
                <a:lnTo>
                  <a:pt x="3534833" y="338667"/>
                </a:lnTo>
                <a:cubicBezTo>
                  <a:pt x="3534833" y="362047"/>
                  <a:pt x="3515880" y="381000"/>
                  <a:pt x="3492500" y="381000"/>
                </a:cubicBezTo>
                <a:lnTo>
                  <a:pt x="42333" y="381000"/>
                </a:lnTo>
                <a:cubicBezTo>
                  <a:pt x="18953" y="381000"/>
                  <a:pt x="0" y="362047"/>
                  <a:pt x="0" y="33866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724958" y="7593542"/>
            <a:ext cx="3439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分词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259791" y="7508875"/>
            <a:ext cx="3534833" cy="381000"/>
          </a:xfrm>
          <a:custGeom>
            <a:avLst/>
            <a:gdLst/>
            <a:ahLst/>
            <a:cxnLst/>
            <a:rect l="l" t="t" r="r" b="b"/>
            <a:pathLst>
              <a:path w="3534833" h="381000">
                <a:moveTo>
                  <a:pt x="42333" y="0"/>
                </a:moveTo>
                <a:lnTo>
                  <a:pt x="3492500" y="0"/>
                </a:lnTo>
                <a:cubicBezTo>
                  <a:pt x="3515880" y="0"/>
                  <a:pt x="3534833" y="18953"/>
                  <a:pt x="3534833" y="42333"/>
                </a:cubicBezTo>
                <a:lnTo>
                  <a:pt x="3534833" y="338667"/>
                </a:lnTo>
                <a:cubicBezTo>
                  <a:pt x="3534833" y="362047"/>
                  <a:pt x="3515880" y="381000"/>
                  <a:pt x="3492500" y="381000"/>
                </a:cubicBezTo>
                <a:lnTo>
                  <a:pt x="42333" y="381000"/>
                </a:lnTo>
                <a:cubicBezTo>
                  <a:pt x="18953" y="381000"/>
                  <a:pt x="0" y="362047"/>
                  <a:pt x="0" y="33866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4344458" y="7593542"/>
            <a:ext cx="3439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词性标注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40291" y="7974542"/>
            <a:ext cx="3534833" cy="381000"/>
          </a:xfrm>
          <a:custGeom>
            <a:avLst/>
            <a:gdLst/>
            <a:ahLst/>
            <a:cxnLst/>
            <a:rect l="l" t="t" r="r" b="b"/>
            <a:pathLst>
              <a:path w="3534833" h="381000">
                <a:moveTo>
                  <a:pt x="42333" y="0"/>
                </a:moveTo>
                <a:lnTo>
                  <a:pt x="3492500" y="0"/>
                </a:lnTo>
                <a:cubicBezTo>
                  <a:pt x="3515880" y="0"/>
                  <a:pt x="3534833" y="18953"/>
                  <a:pt x="3534833" y="42333"/>
                </a:cubicBezTo>
                <a:lnTo>
                  <a:pt x="3534833" y="338667"/>
                </a:lnTo>
                <a:cubicBezTo>
                  <a:pt x="3534833" y="362047"/>
                  <a:pt x="3515880" y="381000"/>
                  <a:pt x="3492500" y="381000"/>
                </a:cubicBezTo>
                <a:lnTo>
                  <a:pt x="42333" y="381000"/>
                </a:lnTo>
                <a:cubicBezTo>
                  <a:pt x="18953" y="381000"/>
                  <a:pt x="0" y="362047"/>
                  <a:pt x="0" y="33866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724958" y="8059208"/>
            <a:ext cx="3439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命名实体识别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4259791" y="7974542"/>
            <a:ext cx="3534833" cy="381000"/>
          </a:xfrm>
          <a:custGeom>
            <a:avLst/>
            <a:gdLst/>
            <a:ahLst/>
            <a:cxnLst/>
            <a:rect l="l" t="t" r="r" b="b"/>
            <a:pathLst>
              <a:path w="3534833" h="381000">
                <a:moveTo>
                  <a:pt x="42333" y="0"/>
                </a:moveTo>
                <a:lnTo>
                  <a:pt x="3492500" y="0"/>
                </a:lnTo>
                <a:cubicBezTo>
                  <a:pt x="3515880" y="0"/>
                  <a:pt x="3534833" y="18953"/>
                  <a:pt x="3534833" y="42333"/>
                </a:cubicBezTo>
                <a:lnTo>
                  <a:pt x="3534833" y="338667"/>
                </a:lnTo>
                <a:cubicBezTo>
                  <a:pt x="3534833" y="362047"/>
                  <a:pt x="3515880" y="381000"/>
                  <a:pt x="3492500" y="381000"/>
                </a:cubicBezTo>
                <a:lnTo>
                  <a:pt x="42333" y="381000"/>
                </a:lnTo>
                <a:cubicBezTo>
                  <a:pt x="18953" y="381000"/>
                  <a:pt x="0" y="362047"/>
                  <a:pt x="0" y="33866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4344458" y="8059208"/>
            <a:ext cx="3439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关系抽取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40291" y="8440208"/>
            <a:ext cx="3534833" cy="381000"/>
          </a:xfrm>
          <a:custGeom>
            <a:avLst/>
            <a:gdLst/>
            <a:ahLst/>
            <a:cxnLst/>
            <a:rect l="l" t="t" r="r" b="b"/>
            <a:pathLst>
              <a:path w="3534833" h="381000">
                <a:moveTo>
                  <a:pt x="42333" y="0"/>
                </a:moveTo>
                <a:lnTo>
                  <a:pt x="3492500" y="0"/>
                </a:lnTo>
                <a:cubicBezTo>
                  <a:pt x="3515880" y="0"/>
                  <a:pt x="3534833" y="18953"/>
                  <a:pt x="3534833" y="42333"/>
                </a:cubicBezTo>
                <a:lnTo>
                  <a:pt x="3534833" y="338667"/>
                </a:lnTo>
                <a:cubicBezTo>
                  <a:pt x="3534833" y="362047"/>
                  <a:pt x="3515880" y="381000"/>
                  <a:pt x="3492500" y="381000"/>
                </a:cubicBezTo>
                <a:lnTo>
                  <a:pt x="42333" y="381000"/>
                </a:lnTo>
                <a:cubicBezTo>
                  <a:pt x="18953" y="381000"/>
                  <a:pt x="0" y="362047"/>
                  <a:pt x="0" y="33866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724958" y="8524875"/>
            <a:ext cx="3439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文本分类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4259791" y="8440208"/>
            <a:ext cx="3534833" cy="381000"/>
          </a:xfrm>
          <a:custGeom>
            <a:avLst/>
            <a:gdLst/>
            <a:ahLst/>
            <a:cxnLst/>
            <a:rect l="l" t="t" r="r" b="b"/>
            <a:pathLst>
              <a:path w="3534833" h="381000">
                <a:moveTo>
                  <a:pt x="42333" y="0"/>
                </a:moveTo>
                <a:lnTo>
                  <a:pt x="3492500" y="0"/>
                </a:lnTo>
                <a:cubicBezTo>
                  <a:pt x="3515880" y="0"/>
                  <a:pt x="3534833" y="18953"/>
                  <a:pt x="3534833" y="42333"/>
                </a:cubicBezTo>
                <a:lnTo>
                  <a:pt x="3534833" y="338667"/>
                </a:lnTo>
                <a:cubicBezTo>
                  <a:pt x="3534833" y="362047"/>
                  <a:pt x="3515880" y="381000"/>
                  <a:pt x="3492500" y="381000"/>
                </a:cubicBezTo>
                <a:lnTo>
                  <a:pt x="42333" y="381000"/>
                </a:lnTo>
                <a:cubicBezTo>
                  <a:pt x="18953" y="381000"/>
                  <a:pt x="0" y="362047"/>
                  <a:pt x="0" y="33866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4344458" y="8524875"/>
            <a:ext cx="3439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文本生成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428625"/>
            <a:ext cx="2540000" cy="349250"/>
          </a:xfrm>
          <a:custGeom>
            <a:avLst/>
            <a:gdLst/>
            <a:ahLst/>
            <a:cxnLst/>
            <a:rect l="l" t="t" r="r" b="b"/>
            <a:pathLst>
              <a:path w="2540000" h="349250">
                <a:moveTo>
                  <a:pt x="42333" y="0"/>
                </a:moveTo>
                <a:lnTo>
                  <a:pt x="2497667" y="0"/>
                </a:lnTo>
                <a:cubicBezTo>
                  <a:pt x="2521047" y="0"/>
                  <a:pt x="2540000" y="18953"/>
                  <a:pt x="2540000" y="42333"/>
                </a:cubicBezTo>
                <a:lnTo>
                  <a:pt x="2540000" y="306917"/>
                </a:lnTo>
                <a:cubicBezTo>
                  <a:pt x="2540000" y="330297"/>
                  <a:pt x="2521047" y="349250"/>
                  <a:pt x="2497667" y="349250"/>
                </a:cubicBezTo>
                <a:lnTo>
                  <a:pt x="42333" y="349250"/>
                </a:lnTo>
                <a:cubicBezTo>
                  <a:pt x="18953" y="349250"/>
                  <a:pt x="0" y="330297"/>
                  <a:pt x="0" y="30691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 w="12700">
            <a:solidFill>
              <a:srgbClr val="5F87A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60917" y="492125"/>
            <a:ext cx="236256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kern="0" spc="67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RECOMMENDER SYSTEMS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333" y="867833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推荐系统与个性化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1375833"/>
            <a:ext cx="1549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AI驱动的个性化内容分发与商品推荐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8625" y="1846792"/>
            <a:ext cx="7588250" cy="5323417"/>
          </a:xfrm>
          <a:custGeom>
            <a:avLst/>
            <a:gdLst/>
            <a:ahLst/>
            <a:cxnLst/>
            <a:rect l="l" t="t" r="r" b="b"/>
            <a:pathLst>
              <a:path w="7588250" h="5323417">
                <a:moveTo>
                  <a:pt x="127017" y="0"/>
                </a:moveTo>
                <a:lnTo>
                  <a:pt x="7461233" y="0"/>
                </a:lnTo>
                <a:cubicBezTo>
                  <a:pt x="7531383" y="0"/>
                  <a:pt x="7588250" y="56867"/>
                  <a:pt x="7588250" y="127017"/>
                </a:cubicBezTo>
                <a:lnTo>
                  <a:pt x="7588250" y="5196400"/>
                </a:lnTo>
                <a:cubicBezTo>
                  <a:pt x="7588250" y="5266502"/>
                  <a:pt x="7531336" y="5323417"/>
                  <a:pt x="7461233" y="5323417"/>
                </a:cubicBezTo>
                <a:lnTo>
                  <a:pt x="127017" y="5323417"/>
                </a:lnTo>
                <a:cubicBezTo>
                  <a:pt x="56867" y="5323417"/>
                  <a:pt x="0" y="5266549"/>
                  <a:pt x="0" y="5196400"/>
                </a:cubicBezTo>
                <a:lnTo>
                  <a:pt x="0" y="127017"/>
                </a:lnTo>
                <a:cubicBezTo>
                  <a:pt x="0" y="56914"/>
                  <a:pt x="56914" y="0"/>
                  <a:pt x="127017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87917" y="212725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09625" y="2275417"/>
            <a:ext cx="264583" cy="211667"/>
          </a:xfrm>
          <a:custGeom>
            <a:avLst/>
            <a:gdLst/>
            <a:ahLst/>
            <a:cxnLst/>
            <a:rect l="l" t="t" r="r" b="b"/>
            <a:pathLst>
              <a:path w="264583" h="211667">
                <a:moveTo>
                  <a:pt x="171938" y="87023"/>
                </a:moveTo>
                <a:cubicBezTo>
                  <a:pt x="176981" y="85659"/>
                  <a:pt x="182273" y="88057"/>
                  <a:pt x="184547" y="92728"/>
                </a:cubicBezTo>
                <a:lnTo>
                  <a:pt x="192236" y="108272"/>
                </a:lnTo>
                <a:cubicBezTo>
                  <a:pt x="196494" y="108851"/>
                  <a:pt x="200670" y="110009"/>
                  <a:pt x="204597" y="111621"/>
                </a:cubicBezTo>
                <a:lnTo>
                  <a:pt x="219067" y="101989"/>
                </a:lnTo>
                <a:cubicBezTo>
                  <a:pt x="223408" y="99095"/>
                  <a:pt x="229154" y="99674"/>
                  <a:pt x="232833" y="103353"/>
                </a:cubicBezTo>
                <a:lnTo>
                  <a:pt x="240771" y="111290"/>
                </a:lnTo>
                <a:cubicBezTo>
                  <a:pt x="244450" y="114970"/>
                  <a:pt x="245029" y="120757"/>
                  <a:pt x="242135" y="125057"/>
                </a:cubicBezTo>
                <a:lnTo>
                  <a:pt x="232503" y="139485"/>
                </a:lnTo>
                <a:cubicBezTo>
                  <a:pt x="233288" y="141428"/>
                  <a:pt x="233991" y="143454"/>
                  <a:pt x="234570" y="145562"/>
                </a:cubicBezTo>
                <a:cubicBezTo>
                  <a:pt x="235148" y="147671"/>
                  <a:pt x="235521" y="149738"/>
                  <a:pt x="235810" y="151846"/>
                </a:cubicBezTo>
                <a:lnTo>
                  <a:pt x="251396" y="159535"/>
                </a:lnTo>
                <a:cubicBezTo>
                  <a:pt x="256067" y="161851"/>
                  <a:pt x="258465" y="167142"/>
                  <a:pt x="257101" y="172145"/>
                </a:cubicBezTo>
                <a:lnTo>
                  <a:pt x="254207" y="182976"/>
                </a:lnTo>
                <a:cubicBezTo>
                  <a:pt x="252842" y="187978"/>
                  <a:pt x="248171" y="191368"/>
                  <a:pt x="242962" y="191037"/>
                </a:cubicBezTo>
                <a:lnTo>
                  <a:pt x="225599" y="189921"/>
                </a:lnTo>
                <a:cubicBezTo>
                  <a:pt x="222994" y="193270"/>
                  <a:pt x="219976" y="196370"/>
                  <a:pt x="216545" y="199016"/>
                </a:cubicBezTo>
                <a:lnTo>
                  <a:pt x="217661" y="216338"/>
                </a:lnTo>
                <a:cubicBezTo>
                  <a:pt x="217992" y="221547"/>
                  <a:pt x="214602" y="226260"/>
                  <a:pt x="209600" y="227583"/>
                </a:cubicBezTo>
                <a:lnTo>
                  <a:pt x="198768" y="230477"/>
                </a:lnTo>
                <a:cubicBezTo>
                  <a:pt x="193725" y="231841"/>
                  <a:pt x="188474" y="229443"/>
                  <a:pt x="186159" y="224772"/>
                </a:cubicBezTo>
                <a:lnTo>
                  <a:pt x="178470" y="209228"/>
                </a:lnTo>
                <a:cubicBezTo>
                  <a:pt x="174212" y="208649"/>
                  <a:pt x="170036" y="207491"/>
                  <a:pt x="166109" y="205879"/>
                </a:cubicBezTo>
                <a:lnTo>
                  <a:pt x="151639" y="215511"/>
                </a:lnTo>
                <a:cubicBezTo>
                  <a:pt x="147299" y="218405"/>
                  <a:pt x="141552" y="217826"/>
                  <a:pt x="137873" y="214147"/>
                </a:cubicBezTo>
                <a:lnTo>
                  <a:pt x="129935" y="206210"/>
                </a:lnTo>
                <a:cubicBezTo>
                  <a:pt x="126256" y="202530"/>
                  <a:pt x="125677" y="196784"/>
                  <a:pt x="128571" y="192443"/>
                </a:cubicBezTo>
                <a:lnTo>
                  <a:pt x="138203" y="177974"/>
                </a:lnTo>
                <a:cubicBezTo>
                  <a:pt x="137418" y="176031"/>
                  <a:pt x="136715" y="174005"/>
                  <a:pt x="136136" y="171896"/>
                </a:cubicBezTo>
                <a:cubicBezTo>
                  <a:pt x="135558" y="169788"/>
                  <a:pt x="135186" y="167680"/>
                  <a:pt x="134896" y="165613"/>
                </a:cubicBezTo>
                <a:lnTo>
                  <a:pt x="119311" y="157923"/>
                </a:lnTo>
                <a:cubicBezTo>
                  <a:pt x="114639" y="155608"/>
                  <a:pt x="112283" y="150316"/>
                  <a:pt x="113605" y="145314"/>
                </a:cubicBezTo>
                <a:lnTo>
                  <a:pt x="116499" y="134483"/>
                </a:lnTo>
                <a:cubicBezTo>
                  <a:pt x="117864" y="129480"/>
                  <a:pt x="122535" y="126090"/>
                  <a:pt x="127744" y="126421"/>
                </a:cubicBezTo>
                <a:lnTo>
                  <a:pt x="145066" y="127537"/>
                </a:lnTo>
                <a:cubicBezTo>
                  <a:pt x="147671" y="124189"/>
                  <a:pt x="150688" y="121088"/>
                  <a:pt x="154120" y="118442"/>
                </a:cubicBezTo>
                <a:lnTo>
                  <a:pt x="153004" y="101162"/>
                </a:lnTo>
                <a:cubicBezTo>
                  <a:pt x="152673" y="95953"/>
                  <a:pt x="156063" y="91240"/>
                  <a:pt x="161065" y="89917"/>
                </a:cubicBezTo>
                <a:lnTo>
                  <a:pt x="171896" y="87023"/>
                </a:lnTo>
                <a:close/>
                <a:moveTo>
                  <a:pt x="185374" y="140560"/>
                </a:moveTo>
                <a:cubicBezTo>
                  <a:pt x="175334" y="140571"/>
                  <a:pt x="167193" y="148731"/>
                  <a:pt x="167204" y="158771"/>
                </a:cubicBezTo>
                <a:cubicBezTo>
                  <a:pt x="167216" y="168810"/>
                  <a:pt x="175376" y="176952"/>
                  <a:pt x="185415" y="176940"/>
                </a:cubicBezTo>
                <a:cubicBezTo>
                  <a:pt x="195454" y="176929"/>
                  <a:pt x="203596" y="168769"/>
                  <a:pt x="203584" y="158729"/>
                </a:cubicBezTo>
                <a:cubicBezTo>
                  <a:pt x="203573" y="148690"/>
                  <a:pt x="195413" y="140548"/>
                  <a:pt x="185374" y="140560"/>
                </a:cubicBezTo>
                <a:close/>
                <a:moveTo>
                  <a:pt x="92976" y="-18810"/>
                </a:moveTo>
                <a:lnTo>
                  <a:pt x="103808" y="-15916"/>
                </a:lnTo>
                <a:cubicBezTo>
                  <a:pt x="108810" y="-14552"/>
                  <a:pt x="112200" y="-9839"/>
                  <a:pt x="111869" y="-4672"/>
                </a:cubicBezTo>
                <a:lnTo>
                  <a:pt x="110753" y="12609"/>
                </a:lnTo>
                <a:cubicBezTo>
                  <a:pt x="114184" y="15255"/>
                  <a:pt x="117202" y="18314"/>
                  <a:pt x="119807" y="21704"/>
                </a:cubicBezTo>
                <a:lnTo>
                  <a:pt x="137170" y="20588"/>
                </a:lnTo>
                <a:cubicBezTo>
                  <a:pt x="142338" y="20257"/>
                  <a:pt x="147050" y="23647"/>
                  <a:pt x="148415" y="28649"/>
                </a:cubicBezTo>
                <a:lnTo>
                  <a:pt x="151309" y="39481"/>
                </a:lnTo>
                <a:cubicBezTo>
                  <a:pt x="152632" y="44483"/>
                  <a:pt x="150275" y="49775"/>
                  <a:pt x="145604" y="52090"/>
                </a:cubicBezTo>
                <a:lnTo>
                  <a:pt x="130018" y="59779"/>
                </a:lnTo>
                <a:cubicBezTo>
                  <a:pt x="129729" y="61888"/>
                  <a:pt x="129315" y="63996"/>
                  <a:pt x="128778" y="66063"/>
                </a:cubicBezTo>
                <a:cubicBezTo>
                  <a:pt x="128240" y="68130"/>
                  <a:pt x="127496" y="70197"/>
                  <a:pt x="126711" y="72140"/>
                </a:cubicBezTo>
                <a:lnTo>
                  <a:pt x="136343" y="86610"/>
                </a:lnTo>
                <a:cubicBezTo>
                  <a:pt x="139237" y="90951"/>
                  <a:pt x="138658" y="96697"/>
                  <a:pt x="134979" y="100376"/>
                </a:cubicBezTo>
                <a:lnTo>
                  <a:pt x="127041" y="108314"/>
                </a:lnTo>
                <a:cubicBezTo>
                  <a:pt x="123362" y="111993"/>
                  <a:pt x="117616" y="112572"/>
                  <a:pt x="113275" y="109678"/>
                </a:cubicBezTo>
                <a:lnTo>
                  <a:pt x="98805" y="100046"/>
                </a:lnTo>
                <a:cubicBezTo>
                  <a:pt x="94878" y="101658"/>
                  <a:pt x="90702" y="102815"/>
                  <a:pt x="86444" y="103394"/>
                </a:cubicBezTo>
                <a:lnTo>
                  <a:pt x="78755" y="118938"/>
                </a:lnTo>
                <a:cubicBezTo>
                  <a:pt x="76440" y="123610"/>
                  <a:pt x="71148" y="125966"/>
                  <a:pt x="66146" y="124644"/>
                </a:cubicBezTo>
                <a:lnTo>
                  <a:pt x="55314" y="121750"/>
                </a:lnTo>
                <a:cubicBezTo>
                  <a:pt x="50271" y="120385"/>
                  <a:pt x="46922" y="115673"/>
                  <a:pt x="47253" y="110505"/>
                </a:cubicBezTo>
                <a:lnTo>
                  <a:pt x="48369" y="93183"/>
                </a:lnTo>
                <a:cubicBezTo>
                  <a:pt x="44938" y="90537"/>
                  <a:pt x="41920" y="87478"/>
                  <a:pt x="39315" y="84088"/>
                </a:cubicBezTo>
                <a:lnTo>
                  <a:pt x="21952" y="85204"/>
                </a:lnTo>
                <a:cubicBezTo>
                  <a:pt x="16785" y="85535"/>
                  <a:pt x="12072" y="82145"/>
                  <a:pt x="10707" y="77143"/>
                </a:cubicBezTo>
                <a:lnTo>
                  <a:pt x="7813" y="66311"/>
                </a:lnTo>
                <a:cubicBezTo>
                  <a:pt x="6491" y="61309"/>
                  <a:pt x="8847" y="56017"/>
                  <a:pt x="13519" y="53702"/>
                </a:cubicBezTo>
                <a:lnTo>
                  <a:pt x="29104" y="46013"/>
                </a:lnTo>
                <a:cubicBezTo>
                  <a:pt x="29394" y="43904"/>
                  <a:pt x="29807" y="41837"/>
                  <a:pt x="30344" y="39729"/>
                </a:cubicBezTo>
                <a:cubicBezTo>
                  <a:pt x="30923" y="37620"/>
                  <a:pt x="31585" y="35595"/>
                  <a:pt x="32411" y="33652"/>
                </a:cubicBezTo>
                <a:lnTo>
                  <a:pt x="22779" y="19224"/>
                </a:lnTo>
                <a:cubicBezTo>
                  <a:pt x="19885" y="14883"/>
                  <a:pt x="20464" y="9136"/>
                  <a:pt x="24143" y="5457"/>
                </a:cubicBezTo>
                <a:lnTo>
                  <a:pt x="32081" y="-2480"/>
                </a:lnTo>
                <a:cubicBezTo>
                  <a:pt x="35760" y="-6160"/>
                  <a:pt x="41507" y="-6739"/>
                  <a:pt x="45847" y="-3845"/>
                </a:cubicBezTo>
                <a:lnTo>
                  <a:pt x="60317" y="5788"/>
                </a:lnTo>
                <a:cubicBezTo>
                  <a:pt x="64244" y="4175"/>
                  <a:pt x="68420" y="3018"/>
                  <a:pt x="72678" y="2439"/>
                </a:cubicBezTo>
                <a:lnTo>
                  <a:pt x="80367" y="-13105"/>
                </a:lnTo>
                <a:cubicBezTo>
                  <a:pt x="82682" y="-17777"/>
                  <a:pt x="87933" y="-20133"/>
                  <a:pt x="92976" y="-18810"/>
                </a:cubicBezTo>
                <a:close/>
                <a:moveTo>
                  <a:pt x="79540" y="34727"/>
                </a:moveTo>
                <a:cubicBezTo>
                  <a:pt x="69501" y="34727"/>
                  <a:pt x="61350" y="42877"/>
                  <a:pt x="61350" y="52917"/>
                </a:cubicBezTo>
                <a:cubicBezTo>
                  <a:pt x="61350" y="62956"/>
                  <a:pt x="69501" y="71107"/>
                  <a:pt x="79540" y="71107"/>
                </a:cubicBezTo>
                <a:cubicBezTo>
                  <a:pt x="89580" y="71107"/>
                  <a:pt x="97730" y="62956"/>
                  <a:pt x="97730" y="52917"/>
                </a:cubicBezTo>
                <a:cubicBezTo>
                  <a:pt x="97730" y="42877"/>
                  <a:pt x="89580" y="34727"/>
                  <a:pt x="79540" y="3472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322917" y="2106083"/>
            <a:ext cx="1143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技术支撑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2917" y="2444750"/>
            <a:ext cx="1090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核心技术组件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09083" y="2825750"/>
            <a:ext cx="7048500" cy="2434167"/>
          </a:xfrm>
          <a:custGeom>
            <a:avLst/>
            <a:gdLst/>
            <a:ahLst/>
            <a:cxnLst/>
            <a:rect l="l" t="t" r="r" b="b"/>
            <a:pathLst>
              <a:path w="7048500" h="2434167">
                <a:moveTo>
                  <a:pt x="42333" y="0"/>
                </a:moveTo>
                <a:lnTo>
                  <a:pt x="6963840" y="0"/>
                </a:lnTo>
                <a:cubicBezTo>
                  <a:pt x="7010596" y="0"/>
                  <a:pt x="7048500" y="37904"/>
                  <a:pt x="7048500" y="84660"/>
                </a:cubicBezTo>
                <a:lnTo>
                  <a:pt x="7048500" y="2349506"/>
                </a:lnTo>
                <a:cubicBezTo>
                  <a:pt x="7048500" y="2396263"/>
                  <a:pt x="7010596" y="2434167"/>
                  <a:pt x="6963840" y="2434167"/>
                </a:cubicBezTo>
                <a:lnTo>
                  <a:pt x="42333" y="2434167"/>
                </a:lnTo>
                <a:cubicBezTo>
                  <a:pt x="18953" y="2434167"/>
                  <a:pt x="0" y="2415213"/>
                  <a:pt x="0" y="2391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09083" y="2825750"/>
            <a:ext cx="42333" cy="2434167"/>
          </a:xfrm>
          <a:custGeom>
            <a:avLst/>
            <a:gdLst/>
            <a:ahLst/>
            <a:cxnLst/>
            <a:rect l="l" t="t" r="r" b="b"/>
            <a:pathLst>
              <a:path w="42333" h="2434167">
                <a:moveTo>
                  <a:pt x="42333" y="0"/>
                </a:moveTo>
                <a:lnTo>
                  <a:pt x="42333" y="0"/>
                </a:lnTo>
                <a:lnTo>
                  <a:pt x="42333" y="2434167"/>
                </a:lnTo>
                <a:lnTo>
                  <a:pt x="42333" y="2434167"/>
                </a:lnTo>
                <a:cubicBezTo>
                  <a:pt x="18953" y="2434167"/>
                  <a:pt x="0" y="2415213"/>
                  <a:pt x="0" y="2391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99583" y="2995083"/>
            <a:ext cx="67839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推荐算法 (Ch-12)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9583" y="3376083"/>
            <a:ext cx="67733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多种算法组合使用，实现精准推荐。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99583" y="3778250"/>
            <a:ext cx="6688667" cy="381000"/>
          </a:xfrm>
          <a:custGeom>
            <a:avLst/>
            <a:gdLst/>
            <a:ahLst/>
            <a:cxnLst/>
            <a:rect l="l" t="t" r="r" b="b"/>
            <a:pathLst>
              <a:path w="6688667" h="381000">
                <a:moveTo>
                  <a:pt x="42333" y="0"/>
                </a:moveTo>
                <a:lnTo>
                  <a:pt x="6646334" y="0"/>
                </a:lnTo>
                <a:cubicBezTo>
                  <a:pt x="6669714" y="0"/>
                  <a:pt x="6688667" y="18953"/>
                  <a:pt x="6688667" y="42333"/>
                </a:cubicBezTo>
                <a:lnTo>
                  <a:pt x="6688667" y="338667"/>
                </a:lnTo>
                <a:cubicBezTo>
                  <a:pt x="6688667" y="362047"/>
                  <a:pt x="6669714" y="381000"/>
                  <a:pt x="6646334" y="381000"/>
                </a:cubicBezTo>
                <a:lnTo>
                  <a:pt x="42333" y="381000"/>
                </a:lnTo>
                <a:cubicBezTo>
                  <a:pt x="18953" y="381000"/>
                  <a:pt x="0" y="362047"/>
                  <a:pt x="0" y="33866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84250" y="3862917"/>
            <a:ext cx="6593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协同过滤：</a:t>
            </a: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User-CF, Item-CF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99583" y="4243917"/>
            <a:ext cx="6688667" cy="381000"/>
          </a:xfrm>
          <a:custGeom>
            <a:avLst/>
            <a:gdLst/>
            <a:ahLst/>
            <a:cxnLst/>
            <a:rect l="l" t="t" r="r" b="b"/>
            <a:pathLst>
              <a:path w="6688667" h="381000">
                <a:moveTo>
                  <a:pt x="42333" y="0"/>
                </a:moveTo>
                <a:lnTo>
                  <a:pt x="6646334" y="0"/>
                </a:lnTo>
                <a:cubicBezTo>
                  <a:pt x="6669714" y="0"/>
                  <a:pt x="6688667" y="18953"/>
                  <a:pt x="6688667" y="42333"/>
                </a:cubicBezTo>
                <a:lnTo>
                  <a:pt x="6688667" y="338667"/>
                </a:lnTo>
                <a:cubicBezTo>
                  <a:pt x="6688667" y="362047"/>
                  <a:pt x="6669714" y="381000"/>
                  <a:pt x="6646334" y="381000"/>
                </a:cubicBezTo>
                <a:lnTo>
                  <a:pt x="42333" y="381000"/>
                </a:lnTo>
                <a:cubicBezTo>
                  <a:pt x="18953" y="381000"/>
                  <a:pt x="0" y="362047"/>
                  <a:pt x="0" y="33866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84250" y="4328583"/>
            <a:ext cx="6593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矩阵分解：</a:t>
            </a: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SVD, ALS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99583" y="4709583"/>
            <a:ext cx="6688667" cy="381000"/>
          </a:xfrm>
          <a:custGeom>
            <a:avLst/>
            <a:gdLst/>
            <a:ahLst/>
            <a:cxnLst/>
            <a:rect l="l" t="t" r="r" b="b"/>
            <a:pathLst>
              <a:path w="6688667" h="381000">
                <a:moveTo>
                  <a:pt x="42333" y="0"/>
                </a:moveTo>
                <a:lnTo>
                  <a:pt x="6646334" y="0"/>
                </a:lnTo>
                <a:cubicBezTo>
                  <a:pt x="6669714" y="0"/>
                  <a:pt x="6688667" y="18953"/>
                  <a:pt x="6688667" y="42333"/>
                </a:cubicBezTo>
                <a:lnTo>
                  <a:pt x="6688667" y="338667"/>
                </a:lnTo>
                <a:cubicBezTo>
                  <a:pt x="6688667" y="362047"/>
                  <a:pt x="6669714" y="381000"/>
                  <a:pt x="6646334" y="381000"/>
                </a:cubicBezTo>
                <a:lnTo>
                  <a:pt x="42333" y="381000"/>
                </a:lnTo>
                <a:cubicBezTo>
                  <a:pt x="18953" y="381000"/>
                  <a:pt x="0" y="362047"/>
                  <a:pt x="0" y="33866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84250" y="4794250"/>
            <a:ext cx="6593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深度学习：</a:t>
            </a: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Neural CF, AutoRec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87917" y="5386917"/>
            <a:ext cx="7069667" cy="1524000"/>
          </a:xfrm>
          <a:custGeom>
            <a:avLst/>
            <a:gdLst/>
            <a:ahLst/>
            <a:cxnLst/>
            <a:rect l="l" t="t" r="r" b="b"/>
            <a:pathLst>
              <a:path w="7069667" h="1524000">
                <a:moveTo>
                  <a:pt x="84673" y="0"/>
                </a:moveTo>
                <a:lnTo>
                  <a:pt x="6984993" y="0"/>
                </a:lnTo>
                <a:cubicBezTo>
                  <a:pt x="7031757" y="0"/>
                  <a:pt x="7069667" y="37910"/>
                  <a:pt x="7069667" y="84673"/>
                </a:cubicBezTo>
                <a:lnTo>
                  <a:pt x="7069667" y="1439327"/>
                </a:lnTo>
                <a:cubicBezTo>
                  <a:pt x="7069667" y="1486090"/>
                  <a:pt x="7031757" y="1524000"/>
                  <a:pt x="6984993" y="1524000"/>
                </a:cubicBezTo>
                <a:lnTo>
                  <a:pt x="84673" y="1524000"/>
                </a:lnTo>
                <a:cubicBezTo>
                  <a:pt x="37910" y="1524000"/>
                  <a:pt x="0" y="1486090"/>
                  <a:pt x="0" y="1439327"/>
                </a:cubicBezTo>
                <a:lnTo>
                  <a:pt x="0" y="84673"/>
                </a:lnTo>
                <a:cubicBezTo>
                  <a:pt x="0" y="37910"/>
                  <a:pt x="37910" y="0"/>
                  <a:pt x="8467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57250" y="5556250"/>
            <a:ext cx="6815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特征工程 (Ch-07)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78417" y="5979583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74083" y="148167"/>
                </a:moveTo>
                <a:cubicBezTo>
                  <a:pt x="114971" y="148167"/>
                  <a:pt x="148167" y="114971"/>
                  <a:pt x="148167" y="74083"/>
                </a:cubicBezTo>
                <a:cubicBezTo>
                  <a:pt x="148167" y="33196"/>
                  <a:pt x="114971" y="0"/>
                  <a:pt x="74083" y="0"/>
                </a:cubicBezTo>
                <a:cubicBezTo>
                  <a:pt x="33196" y="0"/>
                  <a:pt x="0" y="33196"/>
                  <a:pt x="0" y="74083"/>
                </a:cubicBezTo>
                <a:cubicBezTo>
                  <a:pt x="0" y="114971"/>
                  <a:pt x="33196" y="148167"/>
                  <a:pt x="74083" y="148167"/>
                </a:cubicBezTo>
                <a:close/>
                <a:moveTo>
                  <a:pt x="98508" y="61553"/>
                </a:moveTo>
                <a:lnTo>
                  <a:pt x="75357" y="98594"/>
                </a:lnTo>
                <a:cubicBezTo>
                  <a:pt x="74141" y="100533"/>
                  <a:pt x="72058" y="101749"/>
                  <a:pt x="69771" y="101865"/>
                </a:cubicBezTo>
                <a:cubicBezTo>
                  <a:pt x="67485" y="101980"/>
                  <a:pt x="65286" y="100939"/>
                  <a:pt x="63926" y="99086"/>
                </a:cubicBezTo>
                <a:lnTo>
                  <a:pt x="50035" y="80566"/>
                </a:lnTo>
                <a:cubicBezTo>
                  <a:pt x="47720" y="77498"/>
                  <a:pt x="48357" y="73157"/>
                  <a:pt x="51424" y="70842"/>
                </a:cubicBezTo>
                <a:cubicBezTo>
                  <a:pt x="54492" y="68527"/>
                  <a:pt x="58833" y="69164"/>
                  <a:pt x="61148" y="72231"/>
                </a:cubicBezTo>
                <a:lnTo>
                  <a:pt x="68961" y="82649"/>
                </a:lnTo>
                <a:lnTo>
                  <a:pt x="86730" y="54202"/>
                </a:lnTo>
                <a:cubicBezTo>
                  <a:pt x="88755" y="50961"/>
                  <a:pt x="93038" y="49948"/>
                  <a:pt x="96308" y="52003"/>
                </a:cubicBezTo>
                <a:cubicBezTo>
                  <a:pt x="99578" y="54058"/>
                  <a:pt x="100562" y="58312"/>
                  <a:pt x="98508" y="61582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127125" y="5937250"/>
            <a:ext cx="2741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用户特征：年龄、性别、地域、行为序列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78417" y="6275917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74083" y="148167"/>
                </a:moveTo>
                <a:cubicBezTo>
                  <a:pt x="114971" y="148167"/>
                  <a:pt x="148167" y="114971"/>
                  <a:pt x="148167" y="74083"/>
                </a:cubicBezTo>
                <a:cubicBezTo>
                  <a:pt x="148167" y="33196"/>
                  <a:pt x="114971" y="0"/>
                  <a:pt x="74083" y="0"/>
                </a:cubicBezTo>
                <a:cubicBezTo>
                  <a:pt x="33196" y="0"/>
                  <a:pt x="0" y="33196"/>
                  <a:pt x="0" y="74083"/>
                </a:cubicBezTo>
                <a:cubicBezTo>
                  <a:pt x="0" y="114971"/>
                  <a:pt x="33196" y="148167"/>
                  <a:pt x="74083" y="148167"/>
                </a:cubicBezTo>
                <a:close/>
                <a:moveTo>
                  <a:pt x="98508" y="61553"/>
                </a:moveTo>
                <a:lnTo>
                  <a:pt x="75357" y="98594"/>
                </a:lnTo>
                <a:cubicBezTo>
                  <a:pt x="74141" y="100533"/>
                  <a:pt x="72058" y="101749"/>
                  <a:pt x="69771" y="101865"/>
                </a:cubicBezTo>
                <a:cubicBezTo>
                  <a:pt x="67485" y="101980"/>
                  <a:pt x="65286" y="100939"/>
                  <a:pt x="63926" y="99086"/>
                </a:cubicBezTo>
                <a:lnTo>
                  <a:pt x="50035" y="80566"/>
                </a:lnTo>
                <a:cubicBezTo>
                  <a:pt x="47720" y="77498"/>
                  <a:pt x="48357" y="73157"/>
                  <a:pt x="51424" y="70842"/>
                </a:cubicBezTo>
                <a:cubicBezTo>
                  <a:pt x="54492" y="68527"/>
                  <a:pt x="58833" y="69164"/>
                  <a:pt x="61148" y="72231"/>
                </a:cubicBezTo>
                <a:lnTo>
                  <a:pt x="68961" y="82649"/>
                </a:lnTo>
                <a:lnTo>
                  <a:pt x="86730" y="54202"/>
                </a:lnTo>
                <a:cubicBezTo>
                  <a:pt x="88755" y="50961"/>
                  <a:pt x="93038" y="49948"/>
                  <a:pt x="96308" y="52003"/>
                </a:cubicBezTo>
                <a:cubicBezTo>
                  <a:pt x="99578" y="54058"/>
                  <a:pt x="100562" y="58312"/>
                  <a:pt x="98508" y="61582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127125" y="6233583"/>
            <a:ext cx="2296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物品特征：类别、标签、内容向量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78417" y="6572250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74083" y="148167"/>
                </a:moveTo>
                <a:cubicBezTo>
                  <a:pt x="114971" y="148167"/>
                  <a:pt x="148167" y="114971"/>
                  <a:pt x="148167" y="74083"/>
                </a:cubicBezTo>
                <a:cubicBezTo>
                  <a:pt x="148167" y="33196"/>
                  <a:pt x="114971" y="0"/>
                  <a:pt x="74083" y="0"/>
                </a:cubicBezTo>
                <a:cubicBezTo>
                  <a:pt x="33196" y="0"/>
                  <a:pt x="0" y="33196"/>
                  <a:pt x="0" y="74083"/>
                </a:cubicBezTo>
                <a:cubicBezTo>
                  <a:pt x="0" y="114971"/>
                  <a:pt x="33196" y="148167"/>
                  <a:pt x="74083" y="148167"/>
                </a:cubicBezTo>
                <a:close/>
                <a:moveTo>
                  <a:pt x="98508" y="61553"/>
                </a:moveTo>
                <a:lnTo>
                  <a:pt x="75357" y="98594"/>
                </a:lnTo>
                <a:cubicBezTo>
                  <a:pt x="74141" y="100533"/>
                  <a:pt x="72058" y="101749"/>
                  <a:pt x="69771" y="101865"/>
                </a:cubicBezTo>
                <a:cubicBezTo>
                  <a:pt x="67485" y="101980"/>
                  <a:pt x="65286" y="100939"/>
                  <a:pt x="63926" y="99086"/>
                </a:cubicBezTo>
                <a:lnTo>
                  <a:pt x="50035" y="80566"/>
                </a:lnTo>
                <a:cubicBezTo>
                  <a:pt x="47720" y="77498"/>
                  <a:pt x="48357" y="73157"/>
                  <a:pt x="51424" y="70842"/>
                </a:cubicBezTo>
                <a:cubicBezTo>
                  <a:pt x="54492" y="68527"/>
                  <a:pt x="58833" y="69164"/>
                  <a:pt x="61148" y="72231"/>
                </a:cubicBezTo>
                <a:lnTo>
                  <a:pt x="68961" y="82649"/>
                </a:lnTo>
                <a:lnTo>
                  <a:pt x="86730" y="54202"/>
                </a:lnTo>
                <a:cubicBezTo>
                  <a:pt x="88755" y="50961"/>
                  <a:pt x="93038" y="49948"/>
                  <a:pt x="96308" y="52003"/>
                </a:cubicBezTo>
                <a:cubicBezTo>
                  <a:pt x="99578" y="54058"/>
                  <a:pt x="100562" y="58312"/>
                  <a:pt x="98508" y="61582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127125" y="6529917"/>
            <a:ext cx="2148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上下文特征：时间、地点、设备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39125" y="1060973"/>
            <a:ext cx="7588250" cy="5810250"/>
          </a:xfrm>
          <a:custGeom>
            <a:avLst/>
            <a:gdLst/>
            <a:ahLst/>
            <a:cxnLst/>
            <a:rect l="l" t="t" r="r" b="b"/>
            <a:pathLst>
              <a:path w="7588250" h="5810250">
                <a:moveTo>
                  <a:pt x="127012" y="0"/>
                </a:moveTo>
                <a:lnTo>
                  <a:pt x="7461238" y="0"/>
                </a:lnTo>
                <a:cubicBezTo>
                  <a:pt x="7531385" y="0"/>
                  <a:pt x="7588250" y="56865"/>
                  <a:pt x="7588250" y="127012"/>
                </a:cubicBezTo>
                <a:lnTo>
                  <a:pt x="7588250" y="5683238"/>
                </a:lnTo>
                <a:cubicBezTo>
                  <a:pt x="7588250" y="5753385"/>
                  <a:pt x="7531385" y="5810250"/>
                  <a:pt x="7461238" y="5810250"/>
                </a:cubicBezTo>
                <a:lnTo>
                  <a:pt x="127012" y="5810250"/>
                </a:lnTo>
                <a:cubicBezTo>
                  <a:pt x="56865" y="5810250"/>
                  <a:pt x="0" y="5753385"/>
                  <a:pt x="0" y="5683238"/>
                </a:cubicBezTo>
                <a:lnTo>
                  <a:pt x="0" y="127012"/>
                </a:lnTo>
                <a:cubicBezTo>
                  <a:pt x="0" y="56912"/>
                  <a:pt x="56912" y="0"/>
                  <a:pt x="127012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6ED3CF">
                  <a:alpha val="5000"/>
                </a:srgbClr>
              </a:gs>
            </a:gsLst>
            <a:lin ang="2700000" scaled="1"/>
          </a:gradFill>
          <a:ln w="12700">
            <a:solidFill>
              <a:srgbClr val="6ED3C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498417" y="1341431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620125" y="1489598"/>
            <a:ext cx="264583" cy="211667"/>
          </a:xfrm>
          <a:custGeom>
            <a:avLst/>
            <a:gdLst/>
            <a:ahLst/>
            <a:cxnLst/>
            <a:rect l="l" t="t" r="r" b="b"/>
            <a:pathLst>
              <a:path w="264583" h="211667">
                <a:moveTo>
                  <a:pt x="9922" y="-6615"/>
                </a:moveTo>
                <a:cubicBezTo>
                  <a:pt x="4424" y="-6615"/>
                  <a:pt x="0" y="-2191"/>
                  <a:pt x="0" y="3307"/>
                </a:cubicBezTo>
                <a:cubicBezTo>
                  <a:pt x="0" y="8806"/>
                  <a:pt x="4424" y="13229"/>
                  <a:pt x="9922" y="13229"/>
                </a:cubicBezTo>
                <a:lnTo>
                  <a:pt x="28649" y="13229"/>
                </a:lnTo>
                <a:cubicBezTo>
                  <a:pt x="30262" y="13229"/>
                  <a:pt x="31626" y="14387"/>
                  <a:pt x="31915" y="15958"/>
                </a:cubicBezTo>
                <a:lnTo>
                  <a:pt x="53454" y="134317"/>
                </a:lnTo>
                <a:cubicBezTo>
                  <a:pt x="56017" y="148456"/>
                  <a:pt x="68337" y="158750"/>
                  <a:pt x="82724" y="158750"/>
                </a:cubicBezTo>
                <a:lnTo>
                  <a:pt x="188516" y="158750"/>
                </a:lnTo>
                <a:cubicBezTo>
                  <a:pt x="194014" y="158750"/>
                  <a:pt x="198438" y="154326"/>
                  <a:pt x="198438" y="148828"/>
                </a:cubicBezTo>
                <a:cubicBezTo>
                  <a:pt x="198438" y="143330"/>
                  <a:pt x="194014" y="138906"/>
                  <a:pt x="188516" y="138906"/>
                </a:cubicBezTo>
                <a:lnTo>
                  <a:pt x="82724" y="138906"/>
                </a:lnTo>
                <a:cubicBezTo>
                  <a:pt x="77928" y="138906"/>
                  <a:pt x="73835" y="135475"/>
                  <a:pt x="72967" y="130762"/>
                </a:cubicBezTo>
                <a:lnTo>
                  <a:pt x="70859" y="119063"/>
                </a:lnTo>
                <a:lnTo>
                  <a:pt x="196370" y="119063"/>
                </a:lnTo>
                <a:cubicBezTo>
                  <a:pt x="209104" y="119063"/>
                  <a:pt x="220018" y="110009"/>
                  <a:pt x="222374" y="97482"/>
                </a:cubicBezTo>
                <a:lnTo>
                  <a:pt x="235190" y="28897"/>
                </a:lnTo>
                <a:cubicBezTo>
                  <a:pt x="236719" y="20753"/>
                  <a:pt x="230477" y="13229"/>
                  <a:pt x="222167" y="13229"/>
                </a:cubicBezTo>
                <a:lnTo>
                  <a:pt x="51552" y="13229"/>
                </a:lnTo>
                <a:lnTo>
                  <a:pt x="51387" y="12402"/>
                </a:lnTo>
                <a:cubicBezTo>
                  <a:pt x="49403" y="1406"/>
                  <a:pt x="39812" y="-6615"/>
                  <a:pt x="28608" y="-6615"/>
                </a:cubicBezTo>
                <a:lnTo>
                  <a:pt x="9922" y="-6615"/>
                </a:lnTo>
                <a:close/>
                <a:moveTo>
                  <a:pt x="85990" y="211667"/>
                </a:moveTo>
                <a:cubicBezTo>
                  <a:pt x="96942" y="211667"/>
                  <a:pt x="105833" y="202775"/>
                  <a:pt x="105833" y="191823"/>
                </a:cubicBezTo>
                <a:cubicBezTo>
                  <a:pt x="105833" y="180871"/>
                  <a:pt x="96942" y="171979"/>
                  <a:pt x="85990" y="171979"/>
                </a:cubicBezTo>
                <a:cubicBezTo>
                  <a:pt x="75038" y="171979"/>
                  <a:pt x="66146" y="180871"/>
                  <a:pt x="66146" y="191823"/>
                </a:cubicBezTo>
                <a:cubicBezTo>
                  <a:pt x="66146" y="202775"/>
                  <a:pt x="75038" y="211667"/>
                  <a:pt x="85990" y="211667"/>
                </a:cubicBezTo>
                <a:close/>
                <a:moveTo>
                  <a:pt x="178594" y="211667"/>
                </a:moveTo>
                <a:cubicBezTo>
                  <a:pt x="189546" y="211667"/>
                  <a:pt x="198438" y="202775"/>
                  <a:pt x="198438" y="191823"/>
                </a:cubicBezTo>
                <a:cubicBezTo>
                  <a:pt x="198438" y="180871"/>
                  <a:pt x="189546" y="171979"/>
                  <a:pt x="178594" y="171979"/>
                </a:cubicBezTo>
                <a:cubicBezTo>
                  <a:pt x="167642" y="171979"/>
                  <a:pt x="158750" y="180871"/>
                  <a:pt x="158750" y="191823"/>
                </a:cubicBezTo>
                <a:cubicBezTo>
                  <a:pt x="158750" y="202775"/>
                  <a:pt x="167642" y="211667"/>
                  <a:pt x="178594" y="211667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9133417" y="1320264"/>
            <a:ext cx="116416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典型应用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33417" y="1658931"/>
            <a:ext cx="1111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商业化落地场景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519583" y="2039931"/>
            <a:ext cx="7048500" cy="1439333"/>
          </a:xfrm>
          <a:custGeom>
            <a:avLst/>
            <a:gdLst/>
            <a:ahLst/>
            <a:cxnLst/>
            <a:rect l="l" t="t" r="r" b="b"/>
            <a:pathLst>
              <a:path w="7048500" h="1439333">
                <a:moveTo>
                  <a:pt x="42333" y="0"/>
                </a:moveTo>
                <a:lnTo>
                  <a:pt x="6963838" y="0"/>
                </a:lnTo>
                <a:cubicBezTo>
                  <a:pt x="7010596" y="0"/>
                  <a:pt x="7048500" y="37904"/>
                  <a:pt x="7048500" y="84662"/>
                </a:cubicBezTo>
                <a:lnTo>
                  <a:pt x="7048500" y="1354672"/>
                </a:lnTo>
                <a:cubicBezTo>
                  <a:pt x="7048500" y="1401429"/>
                  <a:pt x="7010596" y="1439333"/>
                  <a:pt x="6963838" y="1439333"/>
                </a:cubicBezTo>
                <a:lnTo>
                  <a:pt x="42333" y="1439333"/>
                </a:lnTo>
                <a:cubicBezTo>
                  <a:pt x="18953" y="1439333"/>
                  <a:pt x="0" y="1420380"/>
                  <a:pt x="0" y="1397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519583" y="2039931"/>
            <a:ext cx="42333" cy="1439333"/>
          </a:xfrm>
          <a:custGeom>
            <a:avLst/>
            <a:gdLst/>
            <a:ahLst/>
            <a:cxnLst/>
            <a:rect l="l" t="t" r="r" b="b"/>
            <a:pathLst>
              <a:path w="42333" h="1439333">
                <a:moveTo>
                  <a:pt x="42333" y="0"/>
                </a:moveTo>
                <a:lnTo>
                  <a:pt x="42333" y="0"/>
                </a:lnTo>
                <a:lnTo>
                  <a:pt x="42333" y="1439333"/>
                </a:lnTo>
                <a:lnTo>
                  <a:pt x="42333" y="1439333"/>
                </a:lnTo>
                <a:cubicBezTo>
                  <a:pt x="18953" y="1439333"/>
                  <a:pt x="0" y="1420380"/>
                  <a:pt x="0" y="1397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741833" y="2272764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52917" y="26458"/>
                </a:moveTo>
                <a:cubicBezTo>
                  <a:pt x="52917" y="14784"/>
                  <a:pt x="62409" y="5292"/>
                  <a:pt x="74083" y="5292"/>
                </a:cubicBezTo>
                <a:cubicBezTo>
                  <a:pt x="85758" y="5292"/>
                  <a:pt x="95250" y="14784"/>
                  <a:pt x="95250" y="26458"/>
                </a:cubicBezTo>
                <a:lnTo>
                  <a:pt x="95250" y="42333"/>
                </a:lnTo>
                <a:lnTo>
                  <a:pt x="52917" y="42333"/>
                </a:lnTo>
                <a:lnTo>
                  <a:pt x="52917" y="26458"/>
                </a:lnTo>
                <a:close/>
                <a:moveTo>
                  <a:pt x="37042" y="42333"/>
                </a:moveTo>
                <a:lnTo>
                  <a:pt x="15875" y="42333"/>
                </a:lnTo>
                <a:cubicBezTo>
                  <a:pt x="7111" y="42333"/>
                  <a:pt x="0" y="49444"/>
                  <a:pt x="0" y="58208"/>
                </a:cubicBezTo>
                <a:lnTo>
                  <a:pt x="0" y="127000"/>
                </a:lnTo>
                <a:cubicBezTo>
                  <a:pt x="0" y="144529"/>
                  <a:pt x="14221" y="158750"/>
                  <a:pt x="31750" y="158750"/>
                </a:cubicBezTo>
                <a:lnTo>
                  <a:pt x="116417" y="158750"/>
                </a:lnTo>
                <a:cubicBezTo>
                  <a:pt x="133945" y="158750"/>
                  <a:pt x="148167" y="144529"/>
                  <a:pt x="148167" y="127000"/>
                </a:cubicBezTo>
                <a:lnTo>
                  <a:pt x="148167" y="58208"/>
                </a:lnTo>
                <a:cubicBezTo>
                  <a:pt x="148167" y="49444"/>
                  <a:pt x="141056" y="42333"/>
                  <a:pt x="132292" y="42333"/>
                </a:cubicBezTo>
                <a:lnTo>
                  <a:pt x="111125" y="42333"/>
                </a:lnTo>
                <a:lnTo>
                  <a:pt x="111125" y="26458"/>
                </a:lnTo>
                <a:cubicBezTo>
                  <a:pt x="111125" y="5986"/>
                  <a:pt x="94555" y="-10583"/>
                  <a:pt x="74083" y="-10583"/>
                </a:cubicBezTo>
                <a:cubicBezTo>
                  <a:pt x="53611" y="-10583"/>
                  <a:pt x="37042" y="5986"/>
                  <a:pt x="37042" y="26458"/>
                </a:cubicBezTo>
                <a:lnTo>
                  <a:pt x="37042" y="42333"/>
                </a:lnTo>
                <a:close/>
                <a:moveTo>
                  <a:pt x="44979" y="58208"/>
                </a:moveTo>
                <a:cubicBezTo>
                  <a:pt x="49360" y="58208"/>
                  <a:pt x="52917" y="61765"/>
                  <a:pt x="52917" y="66146"/>
                </a:cubicBezTo>
                <a:cubicBezTo>
                  <a:pt x="52917" y="70527"/>
                  <a:pt x="49360" y="74083"/>
                  <a:pt x="44979" y="74083"/>
                </a:cubicBezTo>
                <a:cubicBezTo>
                  <a:pt x="40598" y="74083"/>
                  <a:pt x="37042" y="70527"/>
                  <a:pt x="37042" y="66146"/>
                </a:cubicBezTo>
                <a:cubicBezTo>
                  <a:pt x="37042" y="61765"/>
                  <a:pt x="40598" y="58208"/>
                  <a:pt x="44979" y="58208"/>
                </a:cubicBezTo>
                <a:close/>
                <a:moveTo>
                  <a:pt x="95250" y="66146"/>
                </a:moveTo>
                <a:cubicBezTo>
                  <a:pt x="95250" y="61765"/>
                  <a:pt x="98807" y="58208"/>
                  <a:pt x="103188" y="58208"/>
                </a:cubicBezTo>
                <a:cubicBezTo>
                  <a:pt x="107568" y="58208"/>
                  <a:pt x="111125" y="61765"/>
                  <a:pt x="111125" y="66146"/>
                </a:cubicBezTo>
                <a:cubicBezTo>
                  <a:pt x="111125" y="70527"/>
                  <a:pt x="107568" y="74083"/>
                  <a:pt x="103188" y="74083"/>
                </a:cubicBezTo>
                <a:cubicBezTo>
                  <a:pt x="98807" y="74083"/>
                  <a:pt x="95250" y="70527"/>
                  <a:pt x="95250" y="66146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9006417" y="2209264"/>
            <a:ext cx="1238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电商商品推荐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710083" y="2590264"/>
            <a:ext cx="6762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淘宝"猜你喜欢"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710083" y="2844264"/>
            <a:ext cx="6762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京东个性化首页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710083" y="3098264"/>
            <a:ext cx="6762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亚马逊"</a:t>
            </a: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Frequently bought together</a:t>
            </a: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"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519583" y="3606264"/>
            <a:ext cx="7048500" cy="1439333"/>
          </a:xfrm>
          <a:custGeom>
            <a:avLst/>
            <a:gdLst/>
            <a:ahLst/>
            <a:cxnLst/>
            <a:rect l="l" t="t" r="r" b="b"/>
            <a:pathLst>
              <a:path w="7048500" h="1439333">
                <a:moveTo>
                  <a:pt x="42333" y="0"/>
                </a:moveTo>
                <a:lnTo>
                  <a:pt x="6963838" y="0"/>
                </a:lnTo>
                <a:cubicBezTo>
                  <a:pt x="7010596" y="0"/>
                  <a:pt x="7048500" y="37904"/>
                  <a:pt x="7048500" y="84662"/>
                </a:cubicBezTo>
                <a:lnTo>
                  <a:pt x="7048500" y="1354672"/>
                </a:lnTo>
                <a:cubicBezTo>
                  <a:pt x="7048500" y="1401429"/>
                  <a:pt x="7010596" y="1439333"/>
                  <a:pt x="6963838" y="1439333"/>
                </a:cubicBezTo>
                <a:lnTo>
                  <a:pt x="42333" y="1439333"/>
                </a:lnTo>
                <a:cubicBezTo>
                  <a:pt x="18953" y="1439333"/>
                  <a:pt x="0" y="1420380"/>
                  <a:pt x="0" y="1397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8519583" y="3606264"/>
            <a:ext cx="42333" cy="1439333"/>
          </a:xfrm>
          <a:custGeom>
            <a:avLst/>
            <a:gdLst/>
            <a:ahLst/>
            <a:cxnLst/>
            <a:rect l="l" t="t" r="r" b="b"/>
            <a:pathLst>
              <a:path w="42333" h="1439333">
                <a:moveTo>
                  <a:pt x="42333" y="0"/>
                </a:moveTo>
                <a:lnTo>
                  <a:pt x="42333" y="0"/>
                </a:lnTo>
                <a:lnTo>
                  <a:pt x="42333" y="1439333"/>
                </a:lnTo>
                <a:lnTo>
                  <a:pt x="42333" y="1439333"/>
                </a:lnTo>
                <a:cubicBezTo>
                  <a:pt x="18953" y="1439333"/>
                  <a:pt x="0" y="1420380"/>
                  <a:pt x="0" y="1397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8720667" y="3839098"/>
            <a:ext cx="190500" cy="169333"/>
          </a:xfrm>
          <a:custGeom>
            <a:avLst/>
            <a:gdLst/>
            <a:ahLst/>
            <a:cxnLst/>
            <a:rect l="l" t="t" r="r" b="b"/>
            <a:pathLst>
              <a:path w="190500" h="169333">
                <a:moveTo>
                  <a:pt x="31750" y="21167"/>
                </a:moveTo>
                <a:cubicBezTo>
                  <a:pt x="20075" y="21167"/>
                  <a:pt x="10583" y="30659"/>
                  <a:pt x="10583" y="42333"/>
                </a:cubicBezTo>
                <a:lnTo>
                  <a:pt x="10583" y="127000"/>
                </a:lnTo>
                <a:cubicBezTo>
                  <a:pt x="10583" y="138675"/>
                  <a:pt x="20075" y="148167"/>
                  <a:pt x="31750" y="148167"/>
                </a:cubicBezTo>
                <a:lnTo>
                  <a:pt x="116417" y="148167"/>
                </a:lnTo>
                <a:cubicBezTo>
                  <a:pt x="128091" y="148167"/>
                  <a:pt x="137583" y="138675"/>
                  <a:pt x="137583" y="127000"/>
                </a:cubicBezTo>
                <a:lnTo>
                  <a:pt x="137583" y="42333"/>
                </a:lnTo>
                <a:cubicBezTo>
                  <a:pt x="137583" y="30659"/>
                  <a:pt x="128091" y="21167"/>
                  <a:pt x="116417" y="21167"/>
                </a:cubicBezTo>
                <a:lnTo>
                  <a:pt x="31750" y="21167"/>
                </a:lnTo>
                <a:close/>
                <a:moveTo>
                  <a:pt x="153458" y="111125"/>
                </a:moveTo>
                <a:lnTo>
                  <a:pt x="177767" y="130572"/>
                </a:lnTo>
                <a:cubicBezTo>
                  <a:pt x="179156" y="131696"/>
                  <a:pt x="180876" y="132292"/>
                  <a:pt x="182662" y="132292"/>
                </a:cubicBezTo>
                <a:cubicBezTo>
                  <a:pt x="186994" y="132292"/>
                  <a:pt x="190500" y="128786"/>
                  <a:pt x="190500" y="124453"/>
                </a:cubicBezTo>
                <a:lnTo>
                  <a:pt x="190500" y="44880"/>
                </a:lnTo>
                <a:cubicBezTo>
                  <a:pt x="190500" y="40547"/>
                  <a:pt x="186994" y="37042"/>
                  <a:pt x="182662" y="37042"/>
                </a:cubicBezTo>
                <a:cubicBezTo>
                  <a:pt x="180876" y="37042"/>
                  <a:pt x="179156" y="37637"/>
                  <a:pt x="177767" y="38761"/>
                </a:cubicBezTo>
                <a:lnTo>
                  <a:pt x="153458" y="58208"/>
                </a:lnTo>
                <a:lnTo>
                  <a:pt x="153458" y="111125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9006417" y="3775598"/>
            <a:ext cx="1428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短视频内容分发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710083" y="4156598"/>
            <a:ext cx="6762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抖音推荐流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710083" y="4410598"/>
            <a:ext cx="6762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快手发现页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710083" y="4664598"/>
            <a:ext cx="6762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实时个性化推荐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519583" y="5172598"/>
            <a:ext cx="7048500" cy="1439333"/>
          </a:xfrm>
          <a:custGeom>
            <a:avLst/>
            <a:gdLst/>
            <a:ahLst/>
            <a:cxnLst/>
            <a:rect l="l" t="t" r="r" b="b"/>
            <a:pathLst>
              <a:path w="7048500" h="1439333">
                <a:moveTo>
                  <a:pt x="42333" y="0"/>
                </a:moveTo>
                <a:lnTo>
                  <a:pt x="6963838" y="0"/>
                </a:lnTo>
                <a:cubicBezTo>
                  <a:pt x="7010596" y="0"/>
                  <a:pt x="7048500" y="37904"/>
                  <a:pt x="7048500" y="84662"/>
                </a:cubicBezTo>
                <a:lnTo>
                  <a:pt x="7048500" y="1354672"/>
                </a:lnTo>
                <a:cubicBezTo>
                  <a:pt x="7048500" y="1401429"/>
                  <a:pt x="7010596" y="1439333"/>
                  <a:pt x="6963838" y="1439333"/>
                </a:cubicBezTo>
                <a:lnTo>
                  <a:pt x="42333" y="1439333"/>
                </a:lnTo>
                <a:cubicBezTo>
                  <a:pt x="18953" y="1439333"/>
                  <a:pt x="0" y="1420380"/>
                  <a:pt x="0" y="1397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8519583" y="5172598"/>
            <a:ext cx="42333" cy="1439333"/>
          </a:xfrm>
          <a:custGeom>
            <a:avLst/>
            <a:gdLst/>
            <a:ahLst/>
            <a:cxnLst/>
            <a:rect l="l" t="t" r="r" b="b"/>
            <a:pathLst>
              <a:path w="42333" h="1439333">
                <a:moveTo>
                  <a:pt x="42333" y="0"/>
                </a:moveTo>
                <a:lnTo>
                  <a:pt x="42333" y="0"/>
                </a:lnTo>
                <a:lnTo>
                  <a:pt x="42333" y="1439333"/>
                </a:lnTo>
                <a:lnTo>
                  <a:pt x="42333" y="1439333"/>
                </a:lnTo>
                <a:cubicBezTo>
                  <a:pt x="18953" y="1439333"/>
                  <a:pt x="0" y="1420380"/>
                  <a:pt x="0" y="1397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8731250" y="5405431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0" y="137583"/>
                </a:moveTo>
                <a:lnTo>
                  <a:pt x="0" y="39688"/>
                </a:lnTo>
                <a:cubicBezTo>
                  <a:pt x="0" y="35289"/>
                  <a:pt x="3539" y="31750"/>
                  <a:pt x="7938" y="31750"/>
                </a:cubicBezTo>
                <a:cubicBezTo>
                  <a:pt x="12336" y="31750"/>
                  <a:pt x="15875" y="35289"/>
                  <a:pt x="15875" y="39688"/>
                </a:cubicBezTo>
                <a:lnTo>
                  <a:pt x="15875" y="134938"/>
                </a:lnTo>
                <a:cubicBezTo>
                  <a:pt x="15875" y="139336"/>
                  <a:pt x="19414" y="142875"/>
                  <a:pt x="23813" y="142875"/>
                </a:cubicBezTo>
                <a:cubicBezTo>
                  <a:pt x="28211" y="142875"/>
                  <a:pt x="31750" y="139336"/>
                  <a:pt x="31750" y="134938"/>
                </a:cubicBezTo>
                <a:lnTo>
                  <a:pt x="31750" y="31750"/>
                </a:lnTo>
                <a:cubicBezTo>
                  <a:pt x="31750" y="20075"/>
                  <a:pt x="41242" y="10583"/>
                  <a:pt x="52917" y="10583"/>
                </a:cubicBezTo>
                <a:lnTo>
                  <a:pt x="148167" y="10583"/>
                </a:lnTo>
                <a:cubicBezTo>
                  <a:pt x="159841" y="10583"/>
                  <a:pt x="169333" y="20075"/>
                  <a:pt x="169333" y="31750"/>
                </a:cubicBezTo>
                <a:lnTo>
                  <a:pt x="169333" y="137583"/>
                </a:lnTo>
                <a:cubicBezTo>
                  <a:pt x="169333" y="149258"/>
                  <a:pt x="159841" y="158750"/>
                  <a:pt x="148167" y="158750"/>
                </a:cubicBezTo>
                <a:lnTo>
                  <a:pt x="21167" y="158750"/>
                </a:lnTo>
                <a:cubicBezTo>
                  <a:pt x="9492" y="158750"/>
                  <a:pt x="0" y="149258"/>
                  <a:pt x="0" y="137583"/>
                </a:cubicBezTo>
                <a:close/>
                <a:moveTo>
                  <a:pt x="52917" y="42333"/>
                </a:moveTo>
                <a:lnTo>
                  <a:pt x="52917" y="63500"/>
                </a:lnTo>
                <a:cubicBezTo>
                  <a:pt x="52917" y="69354"/>
                  <a:pt x="57646" y="74083"/>
                  <a:pt x="63500" y="74083"/>
                </a:cubicBezTo>
                <a:lnTo>
                  <a:pt x="84667" y="74083"/>
                </a:lnTo>
                <a:cubicBezTo>
                  <a:pt x="90521" y="74083"/>
                  <a:pt x="95250" y="69354"/>
                  <a:pt x="95250" y="63500"/>
                </a:cubicBezTo>
                <a:lnTo>
                  <a:pt x="95250" y="42333"/>
                </a:lnTo>
                <a:cubicBezTo>
                  <a:pt x="95250" y="36479"/>
                  <a:pt x="90521" y="31750"/>
                  <a:pt x="84667" y="31750"/>
                </a:cubicBezTo>
                <a:lnTo>
                  <a:pt x="63500" y="31750"/>
                </a:lnTo>
                <a:cubicBezTo>
                  <a:pt x="57646" y="31750"/>
                  <a:pt x="52917" y="36479"/>
                  <a:pt x="52917" y="42333"/>
                </a:cubicBezTo>
                <a:close/>
                <a:moveTo>
                  <a:pt x="60854" y="121708"/>
                </a:moveTo>
                <a:cubicBezTo>
                  <a:pt x="56455" y="121708"/>
                  <a:pt x="52917" y="125247"/>
                  <a:pt x="52917" y="129646"/>
                </a:cubicBezTo>
                <a:cubicBezTo>
                  <a:pt x="52917" y="134045"/>
                  <a:pt x="56455" y="137583"/>
                  <a:pt x="60854" y="137583"/>
                </a:cubicBezTo>
                <a:lnTo>
                  <a:pt x="140229" y="137583"/>
                </a:lnTo>
                <a:cubicBezTo>
                  <a:pt x="144628" y="137583"/>
                  <a:pt x="148167" y="134045"/>
                  <a:pt x="148167" y="129646"/>
                </a:cubicBezTo>
                <a:cubicBezTo>
                  <a:pt x="148167" y="125247"/>
                  <a:pt x="144628" y="121708"/>
                  <a:pt x="140229" y="121708"/>
                </a:cubicBezTo>
                <a:lnTo>
                  <a:pt x="60854" y="121708"/>
                </a:lnTo>
                <a:close/>
                <a:moveTo>
                  <a:pt x="52917" y="97896"/>
                </a:moveTo>
                <a:cubicBezTo>
                  <a:pt x="52917" y="102295"/>
                  <a:pt x="56455" y="105833"/>
                  <a:pt x="60854" y="105833"/>
                </a:cubicBezTo>
                <a:lnTo>
                  <a:pt x="140229" y="105833"/>
                </a:lnTo>
                <a:cubicBezTo>
                  <a:pt x="144628" y="105833"/>
                  <a:pt x="148167" y="102295"/>
                  <a:pt x="148167" y="97896"/>
                </a:cubicBezTo>
                <a:cubicBezTo>
                  <a:pt x="148167" y="93497"/>
                  <a:pt x="144628" y="89958"/>
                  <a:pt x="140229" y="89958"/>
                </a:cubicBezTo>
                <a:lnTo>
                  <a:pt x="60854" y="89958"/>
                </a:lnTo>
                <a:cubicBezTo>
                  <a:pt x="56455" y="89958"/>
                  <a:pt x="52917" y="93497"/>
                  <a:pt x="52917" y="97896"/>
                </a:cubicBezTo>
                <a:close/>
                <a:moveTo>
                  <a:pt x="119063" y="58208"/>
                </a:moveTo>
                <a:cubicBezTo>
                  <a:pt x="114664" y="58208"/>
                  <a:pt x="111125" y="61747"/>
                  <a:pt x="111125" y="66146"/>
                </a:cubicBezTo>
                <a:cubicBezTo>
                  <a:pt x="111125" y="70545"/>
                  <a:pt x="114664" y="74083"/>
                  <a:pt x="119063" y="74083"/>
                </a:cubicBezTo>
                <a:lnTo>
                  <a:pt x="140229" y="74083"/>
                </a:lnTo>
                <a:cubicBezTo>
                  <a:pt x="144628" y="74083"/>
                  <a:pt x="148167" y="70545"/>
                  <a:pt x="148167" y="66146"/>
                </a:cubicBezTo>
                <a:cubicBezTo>
                  <a:pt x="148167" y="61747"/>
                  <a:pt x="144628" y="58208"/>
                  <a:pt x="140229" y="58208"/>
                </a:cubicBezTo>
                <a:lnTo>
                  <a:pt x="119063" y="58208"/>
                </a:ln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9006417" y="5341931"/>
            <a:ext cx="8572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新闻推荐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710083" y="5722931"/>
            <a:ext cx="6762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今日头条兴趣推荐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710083" y="5976931"/>
            <a:ext cx="6762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腾讯新闻个性化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710083" y="6230931"/>
            <a:ext cx="6762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基于用户画像推荐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239125" y="7051139"/>
            <a:ext cx="7588250" cy="1661583"/>
          </a:xfrm>
          <a:custGeom>
            <a:avLst/>
            <a:gdLst/>
            <a:ahLst/>
            <a:cxnLst/>
            <a:rect l="l" t="t" r="r" b="b"/>
            <a:pathLst>
              <a:path w="7588250" h="1661583">
                <a:moveTo>
                  <a:pt x="126995" y="0"/>
                </a:moveTo>
                <a:lnTo>
                  <a:pt x="7461255" y="0"/>
                </a:lnTo>
                <a:cubicBezTo>
                  <a:pt x="7531392" y="0"/>
                  <a:pt x="7588250" y="56858"/>
                  <a:pt x="7588250" y="126995"/>
                </a:cubicBezTo>
                <a:lnTo>
                  <a:pt x="7588250" y="1534589"/>
                </a:lnTo>
                <a:cubicBezTo>
                  <a:pt x="7588250" y="1604726"/>
                  <a:pt x="7531392" y="1661583"/>
                  <a:pt x="7461255" y="1661583"/>
                </a:cubicBezTo>
                <a:lnTo>
                  <a:pt x="126995" y="1661583"/>
                </a:lnTo>
                <a:cubicBezTo>
                  <a:pt x="56858" y="1661583"/>
                  <a:pt x="0" y="1604726"/>
                  <a:pt x="0" y="1534589"/>
                </a:cubicBezTo>
                <a:lnTo>
                  <a:pt x="0" y="126995"/>
                </a:lnTo>
                <a:cubicBezTo>
                  <a:pt x="0" y="56858"/>
                  <a:pt x="56858" y="0"/>
                  <a:pt x="126995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8482542" y="732101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8699500" y="7268098"/>
            <a:ext cx="7006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推荐系统核心价值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477250" y="7733764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74083" y="148167"/>
                </a:moveTo>
                <a:cubicBezTo>
                  <a:pt x="114971" y="148167"/>
                  <a:pt x="148167" y="114971"/>
                  <a:pt x="148167" y="74083"/>
                </a:cubicBezTo>
                <a:cubicBezTo>
                  <a:pt x="148167" y="33196"/>
                  <a:pt x="114971" y="0"/>
                  <a:pt x="74083" y="0"/>
                </a:cubicBezTo>
                <a:cubicBezTo>
                  <a:pt x="33196" y="0"/>
                  <a:pt x="0" y="33196"/>
                  <a:pt x="0" y="74083"/>
                </a:cubicBezTo>
                <a:cubicBezTo>
                  <a:pt x="0" y="114971"/>
                  <a:pt x="33196" y="148167"/>
                  <a:pt x="74083" y="148167"/>
                </a:cubicBezTo>
                <a:close/>
                <a:moveTo>
                  <a:pt x="98508" y="61553"/>
                </a:moveTo>
                <a:lnTo>
                  <a:pt x="75357" y="98594"/>
                </a:lnTo>
                <a:cubicBezTo>
                  <a:pt x="74141" y="100533"/>
                  <a:pt x="72058" y="101749"/>
                  <a:pt x="69771" y="101865"/>
                </a:cubicBezTo>
                <a:cubicBezTo>
                  <a:pt x="67485" y="101980"/>
                  <a:pt x="65286" y="100939"/>
                  <a:pt x="63926" y="99086"/>
                </a:cubicBezTo>
                <a:lnTo>
                  <a:pt x="50035" y="80566"/>
                </a:lnTo>
                <a:cubicBezTo>
                  <a:pt x="47720" y="77498"/>
                  <a:pt x="48357" y="73157"/>
                  <a:pt x="51424" y="70842"/>
                </a:cubicBezTo>
                <a:cubicBezTo>
                  <a:pt x="54492" y="68527"/>
                  <a:pt x="58833" y="69164"/>
                  <a:pt x="61148" y="72231"/>
                </a:cubicBezTo>
                <a:lnTo>
                  <a:pt x="68961" y="82649"/>
                </a:lnTo>
                <a:lnTo>
                  <a:pt x="86730" y="54202"/>
                </a:lnTo>
                <a:cubicBezTo>
                  <a:pt x="88755" y="50961"/>
                  <a:pt x="93038" y="49948"/>
                  <a:pt x="96308" y="52003"/>
                </a:cubicBezTo>
                <a:cubicBezTo>
                  <a:pt x="99578" y="54058"/>
                  <a:pt x="100562" y="58312"/>
                  <a:pt x="98508" y="61582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8725958" y="7691431"/>
            <a:ext cx="2148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提升用户体验：发现感兴趣内容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477250" y="8030098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74083" y="148167"/>
                </a:moveTo>
                <a:cubicBezTo>
                  <a:pt x="114971" y="148167"/>
                  <a:pt x="148167" y="114971"/>
                  <a:pt x="148167" y="74083"/>
                </a:cubicBezTo>
                <a:cubicBezTo>
                  <a:pt x="148167" y="33196"/>
                  <a:pt x="114971" y="0"/>
                  <a:pt x="74083" y="0"/>
                </a:cubicBezTo>
                <a:cubicBezTo>
                  <a:pt x="33196" y="0"/>
                  <a:pt x="0" y="33196"/>
                  <a:pt x="0" y="74083"/>
                </a:cubicBezTo>
                <a:cubicBezTo>
                  <a:pt x="0" y="114971"/>
                  <a:pt x="33196" y="148167"/>
                  <a:pt x="74083" y="148167"/>
                </a:cubicBezTo>
                <a:close/>
                <a:moveTo>
                  <a:pt x="98508" y="61553"/>
                </a:moveTo>
                <a:lnTo>
                  <a:pt x="75357" y="98594"/>
                </a:lnTo>
                <a:cubicBezTo>
                  <a:pt x="74141" y="100533"/>
                  <a:pt x="72058" y="101749"/>
                  <a:pt x="69771" y="101865"/>
                </a:cubicBezTo>
                <a:cubicBezTo>
                  <a:pt x="67485" y="101980"/>
                  <a:pt x="65286" y="100939"/>
                  <a:pt x="63926" y="99086"/>
                </a:cubicBezTo>
                <a:lnTo>
                  <a:pt x="50035" y="80566"/>
                </a:lnTo>
                <a:cubicBezTo>
                  <a:pt x="47720" y="77498"/>
                  <a:pt x="48357" y="73157"/>
                  <a:pt x="51424" y="70842"/>
                </a:cubicBezTo>
                <a:cubicBezTo>
                  <a:pt x="54492" y="68527"/>
                  <a:pt x="58833" y="69164"/>
                  <a:pt x="61148" y="72231"/>
                </a:cubicBezTo>
                <a:lnTo>
                  <a:pt x="68961" y="82649"/>
                </a:lnTo>
                <a:lnTo>
                  <a:pt x="86730" y="54202"/>
                </a:lnTo>
                <a:cubicBezTo>
                  <a:pt x="88755" y="50961"/>
                  <a:pt x="93038" y="49948"/>
                  <a:pt x="96308" y="52003"/>
                </a:cubicBezTo>
                <a:cubicBezTo>
                  <a:pt x="99578" y="54058"/>
                  <a:pt x="100562" y="58312"/>
                  <a:pt x="98508" y="61582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8725958" y="7987764"/>
            <a:ext cx="18520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增加平台收益：提升转化率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477250" y="8326431"/>
            <a:ext cx="148167" cy="148167"/>
          </a:xfrm>
          <a:custGeom>
            <a:avLst/>
            <a:gdLst/>
            <a:ahLst/>
            <a:cxnLst/>
            <a:rect l="l" t="t" r="r" b="b"/>
            <a:pathLst>
              <a:path w="148167" h="148167">
                <a:moveTo>
                  <a:pt x="74083" y="148167"/>
                </a:moveTo>
                <a:cubicBezTo>
                  <a:pt x="114971" y="148167"/>
                  <a:pt x="148167" y="114971"/>
                  <a:pt x="148167" y="74083"/>
                </a:cubicBezTo>
                <a:cubicBezTo>
                  <a:pt x="148167" y="33196"/>
                  <a:pt x="114971" y="0"/>
                  <a:pt x="74083" y="0"/>
                </a:cubicBezTo>
                <a:cubicBezTo>
                  <a:pt x="33196" y="0"/>
                  <a:pt x="0" y="33196"/>
                  <a:pt x="0" y="74083"/>
                </a:cubicBezTo>
                <a:cubicBezTo>
                  <a:pt x="0" y="114971"/>
                  <a:pt x="33196" y="148167"/>
                  <a:pt x="74083" y="148167"/>
                </a:cubicBezTo>
                <a:close/>
                <a:moveTo>
                  <a:pt x="98508" y="61553"/>
                </a:moveTo>
                <a:lnTo>
                  <a:pt x="75357" y="98594"/>
                </a:lnTo>
                <a:cubicBezTo>
                  <a:pt x="74141" y="100533"/>
                  <a:pt x="72058" y="101749"/>
                  <a:pt x="69771" y="101865"/>
                </a:cubicBezTo>
                <a:cubicBezTo>
                  <a:pt x="67485" y="101980"/>
                  <a:pt x="65286" y="100939"/>
                  <a:pt x="63926" y="99086"/>
                </a:cubicBezTo>
                <a:lnTo>
                  <a:pt x="50035" y="80566"/>
                </a:lnTo>
                <a:cubicBezTo>
                  <a:pt x="47720" y="77498"/>
                  <a:pt x="48357" y="73157"/>
                  <a:pt x="51424" y="70842"/>
                </a:cubicBezTo>
                <a:cubicBezTo>
                  <a:pt x="54492" y="68527"/>
                  <a:pt x="58833" y="69164"/>
                  <a:pt x="61148" y="72231"/>
                </a:cubicBezTo>
                <a:lnTo>
                  <a:pt x="68961" y="82649"/>
                </a:lnTo>
                <a:lnTo>
                  <a:pt x="86730" y="54202"/>
                </a:lnTo>
                <a:cubicBezTo>
                  <a:pt x="88755" y="50961"/>
                  <a:pt x="93038" y="49948"/>
                  <a:pt x="96308" y="52003"/>
                </a:cubicBezTo>
                <a:cubicBezTo>
                  <a:pt x="99578" y="54058"/>
                  <a:pt x="100562" y="58312"/>
                  <a:pt x="98508" y="61582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8725958" y="8284098"/>
            <a:ext cx="2148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挖掘长尾内容：冷启动物品推荐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90b92f863d5500457ec7b17827c10be8e9823fe8.jpg"/>
          <p:cNvPicPr>
            <a:picLocks noChangeAspect="1"/>
          </p:cNvPicPr>
          <p:nvPr/>
        </p:nvPicPr>
        <p:blipFill>
          <a:blip r:embed="rId3">
            <a:alphaModFix amt="40000"/>
          </a:blip>
          <a:srcRect l="18" r="18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/>
              </a:gs>
              <a:gs pos="50000">
                <a:srgbClr val="1A1D24">
                  <a:alpha val="90000"/>
                </a:srgbClr>
              </a:gs>
              <a:gs pos="100000">
                <a:srgbClr val="1A1D24">
                  <a:alpha val="6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14350" y="2139950"/>
            <a:ext cx="2298700" cy="571500"/>
          </a:xfrm>
          <a:custGeom>
            <a:avLst/>
            <a:gdLst/>
            <a:ahLst/>
            <a:cxnLst/>
            <a:rect l="l" t="t" r="r" b="b"/>
            <a:pathLst>
              <a:path w="2298700" h="571500">
                <a:moveTo>
                  <a:pt x="101601" y="0"/>
                </a:moveTo>
                <a:lnTo>
                  <a:pt x="2197099" y="0"/>
                </a:lnTo>
                <a:cubicBezTo>
                  <a:pt x="2253212" y="0"/>
                  <a:pt x="2298700" y="45488"/>
                  <a:pt x="2298700" y="101601"/>
                </a:cubicBezTo>
                <a:lnTo>
                  <a:pt x="2298700" y="469899"/>
                </a:lnTo>
                <a:cubicBezTo>
                  <a:pt x="2298700" y="526012"/>
                  <a:pt x="2253212" y="571500"/>
                  <a:pt x="2197099" y="571500"/>
                </a:cubicBezTo>
                <a:lnTo>
                  <a:pt x="101601" y="571500"/>
                </a:lnTo>
                <a:cubicBezTo>
                  <a:pt x="45488" y="571500"/>
                  <a:pt x="0" y="526012"/>
                  <a:pt x="0" y="4698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 w="12700">
            <a:solidFill>
              <a:srgbClr val="6ED3CF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74700" y="2254250"/>
            <a:ext cx="1910854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kern="0" spc="200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CHAPTER 06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12420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大模型时代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4572000"/>
            <a:ext cx="476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5F87A7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传统</a:t>
            </a:r>
            <a:r>
              <a:rPr lang="en-US" sz="3000" dirty="0">
                <a:solidFill>
                  <a:srgbClr val="5F87A7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AI</a:t>
            </a:r>
            <a:r>
              <a:rPr lang="en-US" sz="3000" dirty="0">
                <a:solidFill>
                  <a:srgbClr val="5F87A7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与大语言模型的关系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6642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812800" y="5537200"/>
            <a:ext cx="342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理解大模型的定义与核心特征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8000" y="62230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812800" y="6096000"/>
            <a:ext cx="314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比较大模型与传统AI的差异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8000" y="67818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812800" y="6654800"/>
            <a:ext cx="292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探讨传统算法的持续价值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1273" y="471273"/>
            <a:ext cx="2955636" cy="384000"/>
          </a:xfrm>
          <a:custGeom>
            <a:avLst/>
            <a:gdLst/>
            <a:ahLst/>
            <a:cxnLst/>
            <a:rect l="l" t="t" r="r" b="b"/>
            <a:pathLst>
              <a:path w="2955636" h="384000">
                <a:moveTo>
                  <a:pt x="46545" y="0"/>
                </a:moveTo>
                <a:lnTo>
                  <a:pt x="2909092" y="0"/>
                </a:lnTo>
                <a:cubicBezTo>
                  <a:pt x="2934798" y="0"/>
                  <a:pt x="2955636" y="20839"/>
                  <a:pt x="2955636" y="46545"/>
                </a:cubicBezTo>
                <a:lnTo>
                  <a:pt x="2955636" y="337455"/>
                </a:lnTo>
                <a:cubicBezTo>
                  <a:pt x="2955636" y="363161"/>
                  <a:pt x="2934798" y="384000"/>
                  <a:pt x="2909092" y="384000"/>
                </a:cubicBezTo>
                <a:lnTo>
                  <a:pt x="46545" y="384000"/>
                </a:lnTo>
                <a:cubicBezTo>
                  <a:pt x="20839" y="384000"/>
                  <a:pt x="0" y="363161"/>
                  <a:pt x="0" y="337455"/>
                </a:cubicBezTo>
                <a:lnTo>
                  <a:pt x="0" y="46545"/>
                </a:lnTo>
                <a:cubicBezTo>
                  <a:pt x="0" y="20856"/>
                  <a:pt x="20856" y="0"/>
                  <a:pt x="46545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 w="12700">
            <a:solidFill>
              <a:srgbClr val="5F87A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16727" y="541091"/>
            <a:ext cx="2758000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6" kern="0" spc="7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LARGE LANGUAGE MODELS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5455" y="954182"/>
            <a:ext cx="15534545" cy="465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99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什么是大模型？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65455" y="1512727"/>
            <a:ext cx="15418182" cy="27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6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理解大语言模型（LLM）的核心特征与技术架构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1273" y="2030545"/>
            <a:ext cx="7540364" cy="5666909"/>
          </a:xfrm>
          <a:custGeom>
            <a:avLst/>
            <a:gdLst/>
            <a:ahLst/>
            <a:cxnLst/>
            <a:rect l="l" t="t" r="r" b="b"/>
            <a:pathLst>
              <a:path w="7540364" h="5666909">
                <a:moveTo>
                  <a:pt x="139633" y="0"/>
                </a:moveTo>
                <a:lnTo>
                  <a:pt x="7400731" y="0"/>
                </a:lnTo>
                <a:cubicBezTo>
                  <a:pt x="7477848" y="0"/>
                  <a:pt x="7540364" y="62516"/>
                  <a:pt x="7540364" y="139633"/>
                </a:cubicBezTo>
                <a:lnTo>
                  <a:pt x="7540364" y="5527276"/>
                </a:lnTo>
                <a:cubicBezTo>
                  <a:pt x="7540364" y="5604393"/>
                  <a:pt x="7477848" y="5666909"/>
                  <a:pt x="7400731" y="5666909"/>
                </a:cubicBezTo>
                <a:lnTo>
                  <a:pt x="139633" y="5666909"/>
                </a:lnTo>
                <a:cubicBezTo>
                  <a:pt x="62516" y="5666909"/>
                  <a:pt x="0" y="5604393"/>
                  <a:pt x="0" y="5527276"/>
                </a:cubicBezTo>
                <a:lnTo>
                  <a:pt x="0" y="139633"/>
                </a:lnTo>
                <a:cubicBezTo>
                  <a:pt x="0" y="62567"/>
                  <a:pt x="62567" y="0"/>
                  <a:pt x="139633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56364" y="2315636"/>
            <a:ext cx="558545" cy="558545"/>
          </a:xfrm>
          <a:custGeom>
            <a:avLst/>
            <a:gdLst/>
            <a:ahLst/>
            <a:cxnLst/>
            <a:rect l="l" t="t" r="r" b="b"/>
            <a:pathLst>
              <a:path w="558545" h="558545">
                <a:moveTo>
                  <a:pt x="93093" y="0"/>
                </a:moveTo>
                <a:lnTo>
                  <a:pt x="465453" y="0"/>
                </a:lnTo>
                <a:cubicBezTo>
                  <a:pt x="516866" y="0"/>
                  <a:pt x="558545" y="41679"/>
                  <a:pt x="558545" y="93093"/>
                </a:cubicBezTo>
                <a:lnTo>
                  <a:pt x="558545" y="465453"/>
                </a:lnTo>
                <a:cubicBezTo>
                  <a:pt x="558545" y="516866"/>
                  <a:pt x="516866" y="558545"/>
                  <a:pt x="465453" y="558545"/>
                </a:cubicBezTo>
                <a:lnTo>
                  <a:pt x="93093" y="558545"/>
                </a:lnTo>
                <a:cubicBezTo>
                  <a:pt x="41679" y="558545"/>
                  <a:pt x="0" y="516866"/>
                  <a:pt x="0" y="465453"/>
                </a:cubicBezTo>
                <a:lnTo>
                  <a:pt x="0" y="93093"/>
                </a:lnTo>
                <a:cubicBezTo>
                  <a:pt x="0" y="41679"/>
                  <a:pt x="41679" y="0"/>
                  <a:pt x="93093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19273" y="2478545"/>
            <a:ext cx="232727" cy="232727"/>
          </a:xfrm>
          <a:custGeom>
            <a:avLst/>
            <a:gdLst/>
            <a:ahLst/>
            <a:cxnLst/>
            <a:rect l="l" t="t" r="r" b="b"/>
            <a:pathLst>
              <a:path w="232727" h="232727">
                <a:moveTo>
                  <a:pt x="54545" y="25455"/>
                </a:moveTo>
                <a:cubicBezTo>
                  <a:pt x="54545" y="11409"/>
                  <a:pt x="65955" y="0"/>
                  <a:pt x="80000" y="0"/>
                </a:cubicBezTo>
                <a:lnTo>
                  <a:pt x="90909" y="0"/>
                </a:lnTo>
                <a:cubicBezTo>
                  <a:pt x="98955" y="0"/>
                  <a:pt x="105455" y="6500"/>
                  <a:pt x="105455" y="14545"/>
                </a:cubicBezTo>
                <a:lnTo>
                  <a:pt x="105455" y="218182"/>
                </a:lnTo>
                <a:cubicBezTo>
                  <a:pt x="105455" y="226227"/>
                  <a:pt x="98955" y="232727"/>
                  <a:pt x="90909" y="232727"/>
                </a:cubicBezTo>
                <a:lnTo>
                  <a:pt x="76364" y="232727"/>
                </a:lnTo>
                <a:cubicBezTo>
                  <a:pt x="62818" y="232727"/>
                  <a:pt x="51409" y="223455"/>
                  <a:pt x="48182" y="210909"/>
                </a:cubicBezTo>
                <a:cubicBezTo>
                  <a:pt x="47864" y="210909"/>
                  <a:pt x="47591" y="210909"/>
                  <a:pt x="47273" y="210909"/>
                </a:cubicBezTo>
                <a:cubicBezTo>
                  <a:pt x="27182" y="210909"/>
                  <a:pt x="10909" y="194636"/>
                  <a:pt x="10909" y="174545"/>
                </a:cubicBezTo>
                <a:cubicBezTo>
                  <a:pt x="10909" y="166364"/>
                  <a:pt x="13636" y="158818"/>
                  <a:pt x="18182" y="152727"/>
                </a:cubicBezTo>
                <a:cubicBezTo>
                  <a:pt x="9364" y="146091"/>
                  <a:pt x="3636" y="135545"/>
                  <a:pt x="3636" y="123636"/>
                </a:cubicBezTo>
                <a:cubicBezTo>
                  <a:pt x="3636" y="109591"/>
                  <a:pt x="11636" y="97364"/>
                  <a:pt x="23273" y="91318"/>
                </a:cubicBezTo>
                <a:cubicBezTo>
                  <a:pt x="20045" y="85864"/>
                  <a:pt x="18182" y="79500"/>
                  <a:pt x="18182" y="72727"/>
                </a:cubicBezTo>
                <a:cubicBezTo>
                  <a:pt x="18182" y="52636"/>
                  <a:pt x="34455" y="36364"/>
                  <a:pt x="54545" y="36364"/>
                </a:cubicBezTo>
                <a:lnTo>
                  <a:pt x="54545" y="25455"/>
                </a:lnTo>
                <a:close/>
                <a:moveTo>
                  <a:pt x="178182" y="25455"/>
                </a:moveTo>
                <a:lnTo>
                  <a:pt x="178182" y="36364"/>
                </a:lnTo>
                <a:cubicBezTo>
                  <a:pt x="198273" y="36364"/>
                  <a:pt x="214545" y="52636"/>
                  <a:pt x="214545" y="72727"/>
                </a:cubicBezTo>
                <a:cubicBezTo>
                  <a:pt x="214545" y="79545"/>
                  <a:pt x="212682" y="85909"/>
                  <a:pt x="209455" y="91318"/>
                </a:cubicBezTo>
                <a:cubicBezTo>
                  <a:pt x="221136" y="97364"/>
                  <a:pt x="229091" y="109545"/>
                  <a:pt x="229091" y="123636"/>
                </a:cubicBezTo>
                <a:cubicBezTo>
                  <a:pt x="229091" y="135545"/>
                  <a:pt x="223364" y="146091"/>
                  <a:pt x="214545" y="152727"/>
                </a:cubicBezTo>
                <a:cubicBezTo>
                  <a:pt x="219091" y="158818"/>
                  <a:pt x="221818" y="166364"/>
                  <a:pt x="221818" y="174545"/>
                </a:cubicBezTo>
                <a:cubicBezTo>
                  <a:pt x="221818" y="194636"/>
                  <a:pt x="205545" y="210909"/>
                  <a:pt x="185455" y="210909"/>
                </a:cubicBezTo>
                <a:cubicBezTo>
                  <a:pt x="185136" y="210909"/>
                  <a:pt x="184864" y="210909"/>
                  <a:pt x="184545" y="210909"/>
                </a:cubicBezTo>
                <a:cubicBezTo>
                  <a:pt x="181318" y="223455"/>
                  <a:pt x="169909" y="232727"/>
                  <a:pt x="156364" y="232727"/>
                </a:cubicBezTo>
                <a:lnTo>
                  <a:pt x="141818" y="232727"/>
                </a:lnTo>
                <a:cubicBezTo>
                  <a:pt x="133773" y="232727"/>
                  <a:pt x="127273" y="226227"/>
                  <a:pt x="127273" y="218182"/>
                </a:cubicBezTo>
                <a:lnTo>
                  <a:pt x="127273" y="14545"/>
                </a:lnTo>
                <a:cubicBezTo>
                  <a:pt x="127273" y="6500"/>
                  <a:pt x="133773" y="0"/>
                  <a:pt x="141818" y="0"/>
                </a:cubicBezTo>
                <a:lnTo>
                  <a:pt x="152727" y="0"/>
                </a:lnTo>
                <a:cubicBezTo>
                  <a:pt x="166773" y="0"/>
                  <a:pt x="178182" y="11409"/>
                  <a:pt x="178182" y="2545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454545" y="2408727"/>
            <a:ext cx="1815273" cy="372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99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大模型的定义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6364" y="3060364"/>
            <a:ext cx="7063273" cy="60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66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大语言模型（</a:t>
            </a:r>
            <a:r>
              <a:rPr lang="en-US" sz="1466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LLM</a:t>
            </a:r>
            <a:r>
              <a:rPr lang="en-US" sz="1466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）是指具有</a:t>
            </a:r>
            <a:r>
              <a:rPr lang="en-US" sz="1466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巨大参数量</a:t>
            </a:r>
            <a:r>
              <a:rPr lang="en-US" sz="1466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（通常达到十亿甚至千亿级别）、基于</a:t>
            </a:r>
            <a:r>
              <a:rPr lang="en-US" sz="1466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Transformer</a:t>
            </a:r>
            <a:r>
              <a:rPr lang="en-US" sz="1466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架构、使用海量数据预训练的语言模型。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9636" y="3851636"/>
            <a:ext cx="6946909" cy="2234182"/>
          </a:xfrm>
          <a:custGeom>
            <a:avLst/>
            <a:gdLst/>
            <a:ahLst/>
            <a:cxnLst/>
            <a:rect l="l" t="t" r="r" b="b"/>
            <a:pathLst>
              <a:path w="6946909" h="2234182">
                <a:moveTo>
                  <a:pt x="46545" y="0"/>
                </a:moveTo>
                <a:lnTo>
                  <a:pt x="6853811" y="0"/>
                </a:lnTo>
                <a:cubicBezTo>
                  <a:pt x="6905228" y="0"/>
                  <a:pt x="6946909" y="41682"/>
                  <a:pt x="6946909" y="93098"/>
                </a:cubicBezTo>
                <a:lnTo>
                  <a:pt x="6946909" y="2141083"/>
                </a:lnTo>
                <a:cubicBezTo>
                  <a:pt x="6946909" y="2192500"/>
                  <a:pt x="6905228" y="2234182"/>
                  <a:pt x="6853811" y="2234182"/>
                </a:cubicBezTo>
                <a:lnTo>
                  <a:pt x="46545" y="2234182"/>
                </a:lnTo>
                <a:cubicBezTo>
                  <a:pt x="20839" y="2234182"/>
                  <a:pt x="0" y="2213343"/>
                  <a:pt x="0" y="2187636"/>
                </a:cubicBezTo>
                <a:lnTo>
                  <a:pt x="0" y="46545"/>
                </a:lnTo>
                <a:cubicBezTo>
                  <a:pt x="0" y="20856"/>
                  <a:pt x="20856" y="0"/>
                  <a:pt x="4654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79636" y="3851636"/>
            <a:ext cx="46545" cy="2234182"/>
          </a:xfrm>
          <a:custGeom>
            <a:avLst/>
            <a:gdLst/>
            <a:ahLst/>
            <a:cxnLst/>
            <a:rect l="l" t="t" r="r" b="b"/>
            <a:pathLst>
              <a:path w="46545" h="2234182">
                <a:moveTo>
                  <a:pt x="46545" y="0"/>
                </a:moveTo>
                <a:lnTo>
                  <a:pt x="46545" y="0"/>
                </a:lnTo>
                <a:lnTo>
                  <a:pt x="46545" y="2234182"/>
                </a:lnTo>
                <a:lnTo>
                  <a:pt x="46545" y="2234182"/>
                </a:lnTo>
                <a:cubicBezTo>
                  <a:pt x="20839" y="2234182"/>
                  <a:pt x="0" y="2213343"/>
                  <a:pt x="0" y="2187636"/>
                </a:cubicBezTo>
                <a:lnTo>
                  <a:pt x="0" y="46545"/>
                </a:lnTo>
                <a:cubicBezTo>
                  <a:pt x="0" y="20839"/>
                  <a:pt x="20839" y="0"/>
                  <a:pt x="46545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89091" y="4037818"/>
            <a:ext cx="6656000" cy="325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49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核心特征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22545" y="4503273"/>
            <a:ext cx="142545" cy="162909"/>
          </a:xfrm>
          <a:custGeom>
            <a:avLst/>
            <a:gdLst/>
            <a:ahLst/>
            <a:cxnLst/>
            <a:rect l="l" t="t" r="r" b="b"/>
            <a:pathLst>
              <a:path w="142545" h="162909">
                <a:moveTo>
                  <a:pt x="142545" y="65482"/>
                </a:moveTo>
                <a:cubicBezTo>
                  <a:pt x="137836" y="68600"/>
                  <a:pt x="132427" y="71114"/>
                  <a:pt x="126795" y="73118"/>
                </a:cubicBezTo>
                <a:cubicBezTo>
                  <a:pt x="111841" y="78464"/>
                  <a:pt x="92209" y="81455"/>
                  <a:pt x="71273" y="81455"/>
                </a:cubicBezTo>
                <a:cubicBezTo>
                  <a:pt x="50336" y="81455"/>
                  <a:pt x="30673" y="78432"/>
                  <a:pt x="15750" y="73118"/>
                </a:cubicBezTo>
                <a:cubicBezTo>
                  <a:pt x="10150" y="71114"/>
                  <a:pt x="4709" y="68600"/>
                  <a:pt x="0" y="65482"/>
                </a:cubicBezTo>
                <a:lnTo>
                  <a:pt x="0" y="91636"/>
                </a:lnTo>
                <a:cubicBezTo>
                  <a:pt x="0" y="105700"/>
                  <a:pt x="31914" y="117091"/>
                  <a:pt x="71273" y="117091"/>
                </a:cubicBezTo>
                <a:cubicBezTo>
                  <a:pt x="110632" y="117091"/>
                  <a:pt x="142545" y="105700"/>
                  <a:pt x="142545" y="91636"/>
                </a:cubicBezTo>
                <a:lnTo>
                  <a:pt x="142545" y="65482"/>
                </a:lnTo>
                <a:close/>
                <a:moveTo>
                  <a:pt x="142545" y="40727"/>
                </a:moveTo>
                <a:lnTo>
                  <a:pt x="142545" y="25455"/>
                </a:lnTo>
                <a:cubicBezTo>
                  <a:pt x="142545" y="11391"/>
                  <a:pt x="110632" y="0"/>
                  <a:pt x="71273" y="0"/>
                </a:cubicBezTo>
                <a:cubicBezTo>
                  <a:pt x="31914" y="0"/>
                  <a:pt x="0" y="11391"/>
                  <a:pt x="0" y="25455"/>
                </a:cubicBezTo>
                <a:lnTo>
                  <a:pt x="0" y="40727"/>
                </a:lnTo>
                <a:cubicBezTo>
                  <a:pt x="0" y="54791"/>
                  <a:pt x="31914" y="66182"/>
                  <a:pt x="71273" y="66182"/>
                </a:cubicBezTo>
                <a:cubicBezTo>
                  <a:pt x="110632" y="66182"/>
                  <a:pt x="142545" y="54791"/>
                  <a:pt x="142545" y="40727"/>
                </a:cubicBezTo>
                <a:close/>
                <a:moveTo>
                  <a:pt x="126795" y="124027"/>
                </a:moveTo>
                <a:cubicBezTo>
                  <a:pt x="111873" y="129341"/>
                  <a:pt x="92241" y="132364"/>
                  <a:pt x="71273" y="132364"/>
                </a:cubicBezTo>
                <a:cubicBezTo>
                  <a:pt x="50305" y="132364"/>
                  <a:pt x="30673" y="129341"/>
                  <a:pt x="15750" y="124027"/>
                </a:cubicBezTo>
                <a:cubicBezTo>
                  <a:pt x="10150" y="122023"/>
                  <a:pt x="4709" y="119509"/>
                  <a:pt x="0" y="116391"/>
                </a:cubicBezTo>
                <a:lnTo>
                  <a:pt x="0" y="137455"/>
                </a:lnTo>
                <a:cubicBezTo>
                  <a:pt x="0" y="151518"/>
                  <a:pt x="31914" y="162909"/>
                  <a:pt x="71273" y="162909"/>
                </a:cubicBezTo>
                <a:cubicBezTo>
                  <a:pt x="110632" y="162909"/>
                  <a:pt x="142545" y="151518"/>
                  <a:pt x="142545" y="137455"/>
                </a:cubicBezTo>
                <a:lnTo>
                  <a:pt x="142545" y="116391"/>
                </a:lnTo>
                <a:cubicBezTo>
                  <a:pt x="137836" y="119509"/>
                  <a:pt x="132427" y="122023"/>
                  <a:pt x="126795" y="124027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285818" y="4456727"/>
            <a:ext cx="2420364" cy="232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参数量巨大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5818" y="4689455"/>
            <a:ext cx="2643245" cy="22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Billion</a:t>
            </a:r>
            <a:r>
              <a:rPr lang="en-US" sz="11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级别（十亿级）甚至千亿级参数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12364" y="5015273"/>
            <a:ext cx="162909" cy="162909"/>
          </a:xfrm>
          <a:custGeom>
            <a:avLst/>
            <a:gdLst/>
            <a:ahLst/>
            <a:cxnLst/>
            <a:rect l="l" t="t" r="r" b="b"/>
            <a:pathLst>
              <a:path w="162909" h="162909">
                <a:moveTo>
                  <a:pt x="73977" y="1655"/>
                </a:moveTo>
                <a:cubicBezTo>
                  <a:pt x="78718" y="-541"/>
                  <a:pt x="84191" y="-541"/>
                  <a:pt x="88932" y="1655"/>
                </a:cubicBezTo>
                <a:lnTo>
                  <a:pt x="158486" y="33791"/>
                </a:lnTo>
                <a:cubicBezTo>
                  <a:pt x="161191" y="35032"/>
                  <a:pt x="162909" y="37736"/>
                  <a:pt x="162909" y="40727"/>
                </a:cubicBezTo>
                <a:cubicBezTo>
                  <a:pt x="162909" y="43718"/>
                  <a:pt x="161191" y="46423"/>
                  <a:pt x="158486" y="47664"/>
                </a:cubicBezTo>
                <a:lnTo>
                  <a:pt x="88932" y="79800"/>
                </a:lnTo>
                <a:cubicBezTo>
                  <a:pt x="84191" y="81995"/>
                  <a:pt x="78718" y="81995"/>
                  <a:pt x="73977" y="79800"/>
                </a:cubicBezTo>
                <a:lnTo>
                  <a:pt x="4423" y="47664"/>
                </a:lnTo>
                <a:cubicBezTo>
                  <a:pt x="1718" y="46391"/>
                  <a:pt x="0" y="43686"/>
                  <a:pt x="0" y="40727"/>
                </a:cubicBezTo>
                <a:cubicBezTo>
                  <a:pt x="0" y="37768"/>
                  <a:pt x="1718" y="35032"/>
                  <a:pt x="4423" y="33791"/>
                </a:cubicBezTo>
                <a:lnTo>
                  <a:pt x="73977" y="1655"/>
                </a:lnTo>
                <a:close/>
                <a:moveTo>
                  <a:pt x="15305" y="69491"/>
                </a:moveTo>
                <a:lnTo>
                  <a:pt x="67582" y="93641"/>
                </a:lnTo>
                <a:cubicBezTo>
                  <a:pt x="76395" y="97714"/>
                  <a:pt x="86545" y="97714"/>
                  <a:pt x="95359" y="93641"/>
                </a:cubicBezTo>
                <a:lnTo>
                  <a:pt x="147636" y="69491"/>
                </a:lnTo>
                <a:lnTo>
                  <a:pt x="158486" y="74518"/>
                </a:lnTo>
                <a:cubicBezTo>
                  <a:pt x="161191" y="75759"/>
                  <a:pt x="162909" y="78464"/>
                  <a:pt x="162909" y="81455"/>
                </a:cubicBezTo>
                <a:cubicBezTo>
                  <a:pt x="162909" y="84445"/>
                  <a:pt x="161191" y="87150"/>
                  <a:pt x="158486" y="88391"/>
                </a:cubicBezTo>
                <a:lnTo>
                  <a:pt x="88932" y="120527"/>
                </a:lnTo>
                <a:cubicBezTo>
                  <a:pt x="84191" y="122723"/>
                  <a:pt x="78718" y="122723"/>
                  <a:pt x="73977" y="120527"/>
                </a:cubicBezTo>
                <a:lnTo>
                  <a:pt x="4423" y="88391"/>
                </a:lnTo>
                <a:cubicBezTo>
                  <a:pt x="1718" y="87118"/>
                  <a:pt x="0" y="84414"/>
                  <a:pt x="0" y="81455"/>
                </a:cubicBezTo>
                <a:cubicBezTo>
                  <a:pt x="0" y="78495"/>
                  <a:pt x="1718" y="75759"/>
                  <a:pt x="4423" y="74518"/>
                </a:cubicBezTo>
                <a:lnTo>
                  <a:pt x="15273" y="69491"/>
                </a:lnTo>
                <a:close/>
                <a:moveTo>
                  <a:pt x="4423" y="115245"/>
                </a:moveTo>
                <a:lnTo>
                  <a:pt x="15273" y="110218"/>
                </a:lnTo>
                <a:lnTo>
                  <a:pt x="67550" y="134368"/>
                </a:lnTo>
                <a:cubicBezTo>
                  <a:pt x="76364" y="138441"/>
                  <a:pt x="86514" y="138441"/>
                  <a:pt x="95327" y="134368"/>
                </a:cubicBezTo>
                <a:lnTo>
                  <a:pt x="147605" y="110218"/>
                </a:lnTo>
                <a:lnTo>
                  <a:pt x="158455" y="115245"/>
                </a:lnTo>
                <a:cubicBezTo>
                  <a:pt x="161159" y="116486"/>
                  <a:pt x="162877" y="119191"/>
                  <a:pt x="162877" y="122182"/>
                </a:cubicBezTo>
                <a:cubicBezTo>
                  <a:pt x="162877" y="125173"/>
                  <a:pt x="161159" y="127877"/>
                  <a:pt x="158455" y="129118"/>
                </a:cubicBezTo>
                <a:lnTo>
                  <a:pt x="88900" y="161255"/>
                </a:lnTo>
                <a:cubicBezTo>
                  <a:pt x="84159" y="163450"/>
                  <a:pt x="78686" y="163450"/>
                  <a:pt x="73945" y="161255"/>
                </a:cubicBezTo>
                <a:lnTo>
                  <a:pt x="4423" y="129118"/>
                </a:lnTo>
                <a:cubicBezTo>
                  <a:pt x="1718" y="127845"/>
                  <a:pt x="0" y="125141"/>
                  <a:pt x="0" y="122182"/>
                </a:cubicBezTo>
                <a:cubicBezTo>
                  <a:pt x="0" y="119223"/>
                  <a:pt x="1718" y="116486"/>
                  <a:pt x="4423" y="115245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285818" y="4968727"/>
            <a:ext cx="2176000" cy="232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3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Transformer</a:t>
            </a:r>
            <a:r>
              <a:rPr lang="en-US" sz="128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架构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5818" y="5201455"/>
            <a:ext cx="2164364" cy="186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基于自注意力机制，支持并行计算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22545" y="5527273"/>
            <a:ext cx="142545" cy="162909"/>
          </a:xfrm>
          <a:custGeom>
            <a:avLst/>
            <a:gdLst/>
            <a:ahLst/>
            <a:cxnLst/>
            <a:rect l="l" t="t" r="r" b="b"/>
            <a:pathLst>
              <a:path w="142545" h="162909">
                <a:moveTo>
                  <a:pt x="20364" y="10182"/>
                </a:moveTo>
                <a:cubicBezTo>
                  <a:pt x="9132" y="10182"/>
                  <a:pt x="0" y="19314"/>
                  <a:pt x="0" y="30545"/>
                </a:cubicBezTo>
                <a:lnTo>
                  <a:pt x="0" y="50909"/>
                </a:lnTo>
                <a:cubicBezTo>
                  <a:pt x="0" y="62141"/>
                  <a:pt x="9132" y="71273"/>
                  <a:pt x="20364" y="71273"/>
                </a:cubicBezTo>
                <a:lnTo>
                  <a:pt x="122182" y="71273"/>
                </a:lnTo>
                <a:cubicBezTo>
                  <a:pt x="133414" y="71273"/>
                  <a:pt x="142545" y="62141"/>
                  <a:pt x="142545" y="50909"/>
                </a:cubicBezTo>
                <a:lnTo>
                  <a:pt x="142545" y="30545"/>
                </a:lnTo>
                <a:cubicBezTo>
                  <a:pt x="142545" y="19314"/>
                  <a:pt x="133414" y="10182"/>
                  <a:pt x="122182" y="10182"/>
                </a:cubicBezTo>
                <a:lnTo>
                  <a:pt x="20364" y="10182"/>
                </a:lnTo>
                <a:close/>
                <a:moveTo>
                  <a:pt x="89091" y="33091"/>
                </a:moveTo>
                <a:cubicBezTo>
                  <a:pt x="93306" y="33091"/>
                  <a:pt x="96727" y="36513"/>
                  <a:pt x="96727" y="40727"/>
                </a:cubicBezTo>
                <a:cubicBezTo>
                  <a:pt x="96727" y="44942"/>
                  <a:pt x="93306" y="48364"/>
                  <a:pt x="89091" y="48364"/>
                </a:cubicBezTo>
                <a:cubicBezTo>
                  <a:pt x="84876" y="48364"/>
                  <a:pt x="81455" y="44942"/>
                  <a:pt x="81455" y="40727"/>
                </a:cubicBezTo>
                <a:cubicBezTo>
                  <a:pt x="81455" y="36513"/>
                  <a:pt x="84876" y="33091"/>
                  <a:pt x="89091" y="33091"/>
                </a:cubicBezTo>
                <a:close/>
                <a:moveTo>
                  <a:pt x="106909" y="40727"/>
                </a:moveTo>
                <a:cubicBezTo>
                  <a:pt x="106909" y="36513"/>
                  <a:pt x="110331" y="33091"/>
                  <a:pt x="114545" y="33091"/>
                </a:cubicBezTo>
                <a:cubicBezTo>
                  <a:pt x="118760" y="33091"/>
                  <a:pt x="122182" y="36513"/>
                  <a:pt x="122182" y="40727"/>
                </a:cubicBezTo>
                <a:cubicBezTo>
                  <a:pt x="122182" y="44942"/>
                  <a:pt x="118760" y="48364"/>
                  <a:pt x="114545" y="48364"/>
                </a:cubicBezTo>
                <a:cubicBezTo>
                  <a:pt x="110331" y="48364"/>
                  <a:pt x="106909" y="44942"/>
                  <a:pt x="106909" y="40727"/>
                </a:cubicBezTo>
                <a:close/>
                <a:moveTo>
                  <a:pt x="20364" y="91636"/>
                </a:moveTo>
                <a:cubicBezTo>
                  <a:pt x="9132" y="91636"/>
                  <a:pt x="0" y="100768"/>
                  <a:pt x="0" y="112000"/>
                </a:cubicBezTo>
                <a:lnTo>
                  <a:pt x="0" y="132364"/>
                </a:lnTo>
                <a:cubicBezTo>
                  <a:pt x="0" y="143595"/>
                  <a:pt x="9132" y="152727"/>
                  <a:pt x="20364" y="152727"/>
                </a:cubicBezTo>
                <a:lnTo>
                  <a:pt x="122182" y="152727"/>
                </a:lnTo>
                <a:cubicBezTo>
                  <a:pt x="133414" y="152727"/>
                  <a:pt x="142545" y="143595"/>
                  <a:pt x="142545" y="132364"/>
                </a:cubicBezTo>
                <a:lnTo>
                  <a:pt x="142545" y="112000"/>
                </a:lnTo>
                <a:cubicBezTo>
                  <a:pt x="142545" y="100768"/>
                  <a:pt x="133414" y="91636"/>
                  <a:pt x="122182" y="91636"/>
                </a:cubicBezTo>
                <a:lnTo>
                  <a:pt x="20364" y="91636"/>
                </a:lnTo>
                <a:close/>
                <a:moveTo>
                  <a:pt x="89091" y="114545"/>
                </a:moveTo>
                <a:cubicBezTo>
                  <a:pt x="93306" y="114545"/>
                  <a:pt x="96727" y="117967"/>
                  <a:pt x="96727" y="122182"/>
                </a:cubicBezTo>
                <a:cubicBezTo>
                  <a:pt x="96727" y="126396"/>
                  <a:pt x="93306" y="129818"/>
                  <a:pt x="89091" y="129818"/>
                </a:cubicBezTo>
                <a:cubicBezTo>
                  <a:pt x="84876" y="129818"/>
                  <a:pt x="81455" y="126396"/>
                  <a:pt x="81455" y="122182"/>
                </a:cubicBezTo>
                <a:cubicBezTo>
                  <a:pt x="81455" y="117967"/>
                  <a:pt x="84876" y="114545"/>
                  <a:pt x="89091" y="114545"/>
                </a:cubicBezTo>
                <a:close/>
                <a:moveTo>
                  <a:pt x="106909" y="122182"/>
                </a:moveTo>
                <a:cubicBezTo>
                  <a:pt x="106909" y="117967"/>
                  <a:pt x="110331" y="114545"/>
                  <a:pt x="114545" y="114545"/>
                </a:cubicBezTo>
                <a:cubicBezTo>
                  <a:pt x="118760" y="114545"/>
                  <a:pt x="122182" y="117967"/>
                  <a:pt x="122182" y="122182"/>
                </a:cubicBezTo>
                <a:cubicBezTo>
                  <a:pt x="122182" y="126396"/>
                  <a:pt x="118760" y="129818"/>
                  <a:pt x="114545" y="129818"/>
                </a:cubicBezTo>
                <a:cubicBezTo>
                  <a:pt x="110331" y="129818"/>
                  <a:pt x="106909" y="126396"/>
                  <a:pt x="106909" y="122182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285818" y="5480727"/>
            <a:ext cx="2350545" cy="232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海量数据预训练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5818" y="5713455"/>
            <a:ext cx="2338909" cy="186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互联网文本、书籍、代码等TB级数据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56364" y="6225455"/>
            <a:ext cx="6970182" cy="1186909"/>
          </a:xfrm>
          <a:custGeom>
            <a:avLst/>
            <a:gdLst/>
            <a:ahLst/>
            <a:cxnLst/>
            <a:rect l="l" t="t" r="r" b="b"/>
            <a:pathLst>
              <a:path w="6970182" h="1186909">
                <a:moveTo>
                  <a:pt x="93089" y="0"/>
                </a:moveTo>
                <a:lnTo>
                  <a:pt x="6877093" y="0"/>
                </a:lnTo>
                <a:cubicBezTo>
                  <a:pt x="6928504" y="0"/>
                  <a:pt x="6970182" y="41677"/>
                  <a:pt x="6970182" y="93089"/>
                </a:cubicBezTo>
                <a:lnTo>
                  <a:pt x="6970182" y="1093820"/>
                </a:lnTo>
                <a:cubicBezTo>
                  <a:pt x="6970182" y="1145232"/>
                  <a:pt x="6928504" y="1186909"/>
                  <a:pt x="6877093" y="1186909"/>
                </a:cubicBezTo>
                <a:lnTo>
                  <a:pt x="93089" y="1186909"/>
                </a:lnTo>
                <a:cubicBezTo>
                  <a:pt x="41677" y="1186909"/>
                  <a:pt x="0" y="1145232"/>
                  <a:pt x="0" y="1093820"/>
                </a:cubicBezTo>
                <a:lnTo>
                  <a:pt x="0" y="93089"/>
                </a:lnTo>
                <a:cubicBezTo>
                  <a:pt x="0" y="41712"/>
                  <a:pt x="41712" y="0"/>
                  <a:pt x="93089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96000" y="6365091"/>
            <a:ext cx="6784000" cy="27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6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涌现能力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96000" y="6737455"/>
            <a:ext cx="6772364" cy="535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当模型规模达到一定阈值后，会展现出训练时未明确设计的新能力，如</a:t>
            </a:r>
            <a:r>
              <a:rPr lang="en-US" sz="128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零样本学习</a:t>
            </a:r>
            <a:r>
              <a:rPr lang="en-US" sz="128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、</a:t>
            </a:r>
            <a:r>
              <a:rPr lang="en-US" sz="128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上下文学习</a:t>
            </a:r>
            <a:r>
              <a:rPr lang="en-US" sz="128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、</a:t>
            </a:r>
            <a:r>
              <a:rPr lang="en-US" sz="128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思维链推理</a:t>
            </a:r>
            <a:r>
              <a:rPr lang="en-US" sz="128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等。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52091" y="2030545"/>
            <a:ext cx="7540364" cy="4759273"/>
          </a:xfrm>
          <a:custGeom>
            <a:avLst/>
            <a:gdLst/>
            <a:ahLst/>
            <a:cxnLst/>
            <a:rect l="l" t="t" r="r" b="b"/>
            <a:pathLst>
              <a:path w="7540364" h="4759273">
                <a:moveTo>
                  <a:pt x="139637" y="0"/>
                </a:moveTo>
                <a:lnTo>
                  <a:pt x="7400727" y="0"/>
                </a:lnTo>
                <a:cubicBezTo>
                  <a:pt x="7477794" y="0"/>
                  <a:pt x="7540364" y="62569"/>
                  <a:pt x="7540364" y="139637"/>
                </a:cubicBezTo>
                <a:lnTo>
                  <a:pt x="7540364" y="4619636"/>
                </a:lnTo>
                <a:cubicBezTo>
                  <a:pt x="7540364" y="4696703"/>
                  <a:pt x="7477794" y="4759273"/>
                  <a:pt x="7400727" y="4759273"/>
                </a:cubicBezTo>
                <a:lnTo>
                  <a:pt x="139637" y="4759273"/>
                </a:lnTo>
                <a:cubicBezTo>
                  <a:pt x="62569" y="4759273"/>
                  <a:pt x="0" y="4696703"/>
                  <a:pt x="0" y="4619636"/>
                </a:cubicBezTo>
                <a:lnTo>
                  <a:pt x="0" y="139637"/>
                </a:lnTo>
                <a:cubicBezTo>
                  <a:pt x="0" y="62518"/>
                  <a:pt x="62518" y="0"/>
                  <a:pt x="139637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6ED3CF">
                  <a:alpha val="5000"/>
                </a:srgbClr>
              </a:gs>
            </a:gsLst>
            <a:lin ang="2700000" scaled="1"/>
          </a:gradFill>
          <a:ln w="12700">
            <a:solidFill>
              <a:srgbClr val="6ED3C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537182" y="2315636"/>
            <a:ext cx="558545" cy="558545"/>
          </a:xfrm>
          <a:custGeom>
            <a:avLst/>
            <a:gdLst/>
            <a:ahLst/>
            <a:cxnLst/>
            <a:rect l="l" t="t" r="r" b="b"/>
            <a:pathLst>
              <a:path w="558545" h="558545">
                <a:moveTo>
                  <a:pt x="93093" y="0"/>
                </a:moveTo>
                <a:lnTo>
                  <a:pt x="465453" y="0"/>
                </a:lnTo>
                <a:cubicBezTo>
                  <a:pt x="516866" y="0"/>
                  <a:pt x="558545" y="41679"/>
                  <a:pt x="558545" y="93093"/>
                </a:cubicBezTo>
                <a:lnTo>
                  <a:pt x="558545" y="465453"/>
                </a:lnTo>
                <a:cubicBezTo>
                  <a:pt x="558545" y="516866"/>
                  <a:pt x="516866" y="558545"/>
                  <a:pt x="465453" y="558545"/>
                </a:cubicBezTo>
                <a:lnTo>
                  <a:pt x="93093" y="558545"/>
                </a:lnTo>
                <a:cubicBezTo>
                  <a:pt x="41679" y="558545"/>
                  <a:pt x="0" y="516866"/>
                  <a:pt x="0" y="465453"/>
                </a:cubicBezTo>
                <a:lnTo>
                  <a:pt x="0" y="93093"/>
                </a:lnTo>
                <a:cubicBezTo>
                  <a:pt x="0" y="41679"/>
                  <a:pt x="41679" y="0"/>
                  <a:pt x="9309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700091" y="2478545"/>
            <a:ext cx="232727" cy="232727"/>
          </a:xfrm>
          <a:custGeom>
            <a:avLst/>
            <a:gdLst/>
            <a:ahLst/>
            <a:cxnLst/>
            <a:rect l="l" t="t" r="r" b="b"/>
            <a:pathLst>
              <a:path w="232727" h="232727">
                <a:moveTo>
                  <a:pt x="65591" y="0"/>
                </a:moveTo>
                <a:lnTo>
                  <a:pt x="167409" y="0"/>
                </a:lnTo>
                <a:cubicBezTo>
                  <a:pt x="179455" y="0"/>
                  <a:pt x="189273" y="9909"/>
                  <a:pt x="188818" y="21909"/>
                </a:cubicBezTo>
                <a:cubicBezTo>
                  <a:pt x="188727" y="24318"/>
                  <a:pt x="188636" y="26727"/>
                  <a:pt x="188500" y="29091"/>
                </a:cubicBezTo>
                <a:lnTo>
                  <a:pt x="211045" y="29091"/>
                </a:lnTo>
                <a:cubicBezTo>
                  <a:pt x="222909" y="29091"/>
                  <a:pt x="233364" y="38909"/>
                  <a:pt x="232455" y="51727"/>
                </a:cubicBezTo>
                <a:cubicBezTo>
                  <a:pt x="229045" y="98864"/>
                  <a:pt x="204955" y="124773"/>
                  <a:pt x="178818" y="138318"/>
                </a:cubicBezTo>
                <a:cubicBezTo>
                  <a:pt x="171636" y="142045"/>
                  <a:pt x="164318" y="144818"/>
                  <a:pt x="157364" y="146864"/>
                </a:cubicBezTo>
                <a:cubicBezTo>
                  <a:pt x="148182" y="159864"/>
                  <a:pt x="138636" y="166727"/>
                  <a:pt x="131045" y="170409"/>
                </a:cubicBezTo>
                <a:lnTo>
                  <a:pt x="131045" y="203636"/>
                </a:lnTo>
                <a:lnTo>
                  <a:pt x="160136" y="203636"/>
                </a:lnTo>
                <a:cubicBezTo>
                  <a:pt x="168182" y="203636"/>
                  <a:pt x="174682" y="210136"/>
                  <a:pt x="174682" y="218182"/>
                </a:cubicBezTo>
                <a:cubicBezTo>
                  <a:pt x="174682" y="226227"/>
                  <a:pt x="168182" y="232727"/>
                  <a:pt x="160136" y="232727"/>
                </a:cubicBezTo>
                <a:lnTo>
                  <a:pt x="72864" y="232727"/>
                </a:lnTo>
                <a:cubicBezTo>
                  <a:pt x="64818" y="232727"/>
                  <a:pt x="58318" y="226227"/>
                  <a:pt x="58318" y="218182"/>
                </a:cubicBezTo>
                <a:cubicBezTo>
                  <a:pt x="58318" y="210136"/>
                  <a:pt x="64818" y="203636"/>
                  <a:pt x="72864" y="203636"/>
                </a:cubicBezTo>
                <a:lnTo>
                  <a:pt x="101955" y="203636"/>
                </a:lnTo>
                <a:lnTo>
                  <a:pt x="101955" y="170409"/>
                </a:lnTo>
                <a:cubicBezTo>
                  <a:pt x="94682" y="166909"/>
                  <a:pt x="85636" y="160409"/>
                  <a:pt x="76818" y="148455"/>
                </a:cubicBezTo>
                <a:cubicBezTo>
                  <a:pt x="68455" y="146273"/>
                  <a:pt x="59364" y="142955"/>
                  <a:pt x="50500" y="137955"/>
                </a:cubicBezTo>
                <a:cubicBezTo>
                  <a:pt x="25909" y="124182"/>
                  <a:pt x="3727" y="98227"/>
                  <a:pt x="545" y="51636"/>
                </a:cubicBezTo>
                <a:cubicBezTo>
                  <a:pt x="-318" y="38864"/>
                  <a:pt x="10091" y="29045"/>
                  <a:pt x="21955" y="29045"/>
                </a:cubicBezTo>
                <a:lnTo>
                  <a:pt x="44500" y="29045"/>
                </a:lnTo>
                <a:cubicBezTo>
                  <a:pt x="44364" y="26682"/>
                  <a:pt x="44273" y="24318"/>
                  <a:pt x="44182" y="21864"/>
                </a:cubicBezTo>
                <a:cubicBezTo>
                  <a:pt x="43727" y="9818"/>
                  <a:pt x="53545" y="-45"/>
                  <a:pt x="65591" y="-45"/>
                </a:cubicBezTo>
                <a:close/>
                <a:moveTo>
                  <a:pt x="46136" y="50909"/>
                </a:moveTo>
                <a:lnTo>
                  <a:pt x="22318" y="50909"/>
                </a:lnTo>
                <a:cubicBezTo>
                  <a:pt x="25136" y="89409"/>
                  <a:pt x="42818" y="108682"/>
                  <a:pt x="61045" y="118909"/>
                </a:cubicBezTo>
                <a:cubicBezTo>
                  <a:pt x="54500" y="101955"/>
                  <a:pt x="49091" y="79818"/>
                  <a:pt x="46136" y="50909"/>
                </a:cubicBezTo>
                <a:close/>
                <a:moveTo>
                  <a:pt x="172727" y="116727"/>
                </a:moveTo>
                <a:cubicBezTo>
                  <a:pt x="191136" y="105909"/>
                  <a:pt x="207773" y="86682"/>
                  <a:pt x="210591" y="50909"/>
                </a:cubicBezTo>
                <a:lnTo>
                  <a:pt x="186818" y="50909"/>
                </a:lnTo>
                <a:cubicBezTo>
                  <a:pt x="184000" y="78591"/>
                  <a:pt x="178909" y="100091"/>
                  <a:pt x="172727" y="116727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9235364" y="2408727"/>
            <a:ext cx="1815273" cy="372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99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主流基座模型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560455" y="3060364"/>
            <a:ext cx="6946909" cy="1058909"/>
          </a:xfrm>
          <a:custGeom>
            <a:avLst/>
            <a:gdLst/>
            <a:ahLst/>
            <a:cxnLst/>
            <a:rect l="l" t="t" r="r" b="b"/>
            <a:pathLst>
              <a:path w="6946909" h="1058909">
                <a:moveTo>
                  <a:pt x="46545" y="0"/>
                </a:moveTo>
                <a:lnTo>
                  <a:pt x="6853820" y="0"/>
                </a:lnTo>
                <a:cubicBezTo>
                  <a:pt x="6905232" y="0"/>
                  <a:pt x="6946909" y="41677"/>
                  <a:pt x="6946909" y="93089"/>
                </a:cubicBezTo>
                <a:lnTo>
                  <a:pt x="6946909" y="965820"/>
                </a:lnTo>
                <a:cubicBezTo>
                  <a:pt x="6946909" y="1017232"/>
                  <a:pt x="6905232" y="1058909"/>
                  <a:pt x="6853820" y="1058909"/>
                </a:cubicBezTo>
                <a:lnTo>
                  <a:pt x="46545" y="1058909"/>
                </a:lnTo>
                <a:cubicBezTo>
                  <a:pt x="20839" y="1058909"/>
                  <a:pt x="0" y="1038070"/>
                  <a:pt x="0" y="1012364"/>
                </a:cubicBezTo>
                <a:lnTo>
                  <a:pt x="0" y="46545"/>
                </a:lnTo>
                <a:cubicBezTo>
                  <a:pt x="0" y="20839"/>
                  <a:pt x="20839" y="0"/>
                  <a:pt x="4654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560455" y="3060364"/>
            <a:ext cx="46545" cy="1058909"/>
          </a:xfrm>
          <a:custGeom>
            <a:avLst/>
            <a:gdLst/>
            <a:ahLst/>
            <a:cxnLst/>
            <a:rect l="l" t="t" r="r" b="b"/>
            <a:pathLst>
              <a:path w="46545" h="1058909">
                <a:moveTo>
                  <a:pt x="46545" y="0"/>
                </a:moveTo>
                <a:lnTo>
                  <a:pt x="46545" y="0"/>
                </a:lnTo>
                <a:lnTo>
                  <a:pt x="46545" y="1058909"/>
                </a:lnTo>
                <a:lnTo>
                  <a:pt x="46545" y="1058909"/>
                </a:lnTo>
                <a:cubicBezTo>
                  <a:pt x="20839" y="1058909"/>
                  <a:pt x="0" y="1038070"/>
                  <a:pt x="0" y="1012364"/>
                </a:cubicBezTo>
                <a:lnTo>
                  <a:pt x="0" y="46545"/>
                </a:lnTo>
                <a:cubicBezTo>
                  <a:pt x="0" y="20839"/>
                  <a:pt x="20839" y="0"/>
                  <a:pt x="46545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769909" y="3246545"/>
            <a:ext cx="733091" cy="325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49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GPT-4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4655455" y="3269818"/>
            <a:ext cx="663273" cy="279273"/>
          </a:xfrm>
          <a:custGeom>
            <a:avLst/>
            <a:gdLst/>
            <a:ahLst/>
            <a:cxnLst/>
            <a:rect l="l" t="t" r="r" b="b"/>
            <a:pathLst>
              <a:path w="663273" h="279273">
                <a:moveTo>
                  <a:pt x="46546" y="0"/>
                </a:moveTo>
                <a:lnTo>
                  <a:pt x="616726" y="0"/>
                </a:lnTo>
                <a:cubicBezTo>
                  <a:pt x="642433" y="0"/>
                  <a:pt x="663273" y="20840"/>
                  <a:pt x="663273" y="46546"/>
                </a:cubicBezTo>
                <a:lnTo>
                  <a:pt x="663273" y="232726"/>
                </a:lnTo>
                <a:cubicBezTo>
                  <a:pt x="663273" y="258433"/>
                  <a:pt x="642433" y="279273"/>
                  <a:pt x="616726" y="279273"/>
                </a:cubicBezTo>
                <a:lnTo>
                  <a:pt x="46546" y="279273"/>
                </a:lnTo>
                <a:cubicBezTo>
                  <a:pt x="20840" y="279273"/>
                  <a:pt x="0" y="258433"/>
                  <a:pt x="0" y="232726"/>
                </a:cubicBezTo>
                <a:lnTo>
                  <a:pt x="0" y="46546"/>
                </a:lnTo>
                <a:cubicBezTo>
                  <a:pt x="0" y="20840"/>
                  <a:pt x="20840" y="0"/>
                  <a:pt x="46546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4655455" y="3269818"/>
            <a:ext cx="733091" cy="279273"/>
          </a:xfrm>
          <a:prstGeom prst="rect">
            <a:avLst/>
          </a:prstGeom>
          <a:noFill/>
          <a:ln/>
        </p:spPr>
        <p:txBody>
          <a:bodyPr wrap="square" lIns="93091" tIns="46545" rIns="93091" bIns="46545" rtlCol="0" anchor="ctr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6ED3CF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OpenAI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769909" y="3665455"/>
            <a:ext cx="6632727" cy="267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目前最先进的语言模型之一，支持文本和图像输入，在多种任务上展现出色性能。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560455" y="4256000"/>
            <a:ext cx="6946909" cy="1058909"/>
          </a:xfrm>
          <a:custGeom>
            <a:avLst/>
            <a:gdLst/>
            <a:ahLst/>
            <a:cxnLst/>
            <a:rect l="l" t="t" r="r" b="b"/>
            <a:pathLst>
              <a:path w="6946909" h="1058909">
                <a:moveTo>
                  <a:pt x="46545" y="0"/>
                </a:moveTo>
                <a:lnTo>
                  <a:pt x="6853820" y="0"/>
                </a:lnTo>
                <a:cubicBezTo>
                  <a:pt x="6905232" y="0"/>
                  <a:pt x="6946909" y="41677"/>
                  <a:pt x="6946909" y="93089"/>
                </a:cubicBezTo>
                <a:lnTo>
                  <a:pt x="6946909" y="965820"/>
                </a:lnTo>
                <a:cubicBezTo>
                  <a:pt x="6946909" y="1017232"/>
                  <a:pt x="6905232" y="1058909"/>
                  <a:pt x="6853820" y="1058909"/>
                </a:cubicBezTo>
                <a:lnTo>
                  <a:pt x="46545" y="1058909"/>
                </a:lnTo>
                <a:cubicBezTo>
                  <a:pt x="20839" y="1058909"/>
                  <a:pt x="0" y="1038070"/>
                  <a:pt x="0" y="1012364"/>
                </a:cubicBezTo>
                <a:lnTo>
                  <a:pt x="0" y="46545"/>
                </a:lnTo>
                <a:cubicBezTo>
                  <a:pt x="0" y="20839"/>
                  <a:pt x="20839" y="0"/>
                  <a:pt x="4654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560455" y="4256000"/>
            <a:ext cx="46545" cy="1058909"/>
          </a:xfrm>
          <a:custGeom>
            <a:avLst/>
            <a:gdLst/>
            <a:ahLst/>
            <a:cxnLst/>
            <a:rect l="l" t="t" r="r" b="b"/>
            <a:pathLst>
              <a:path w="46545" h="1058909">
                <a:moveTo>
                  <a:pt x="46545" y="0"/>
                </a:moveTo>
                <a:lnTo>
                  <a:pt x="46545" y="0"/>
                </a:lnTo>
                <a:lnTo>
                  <a:pt x="46545" y="1058909"/>
                </a:lnTo>
                <a:lnTo>
                  <a:pt x="46545" y="1058909"/>
                </a:lnTo>
                <a:cubicBezTo>
                  <a:pt x="20839" y="1058909"/>
                  <a:pt x="0" y="1038070"/>
                  <a:pt x="0" y="1012364"/>
                </a:cubicBezTo>
                <a:lnTo>
                  <a:pt x="0" y="46545"/>
                </a:lnTo>
                <a:cubicBezTo>
                  <a:pt x="0" y="20839"/>
                  <a:pt x="20839" y="0"/>
                  <a:pt x="46545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769909" y="4442182"/>
            <a:ext cx="768000" cy="325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49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LLaMA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14807818" y="4465455"/>
            <a:ext cx="512000" cy="279273"/>
          </a:xfrm>
          <a:custGeom>
            <a:avLst/>
            <a:gdLst/>
            <a:ahLst/>
            <a:cxnLst/>
            <a:rect l="l" t="t" r="r" b="b"/>
            <a:pathLst>
              <a:path w="512000" h="279273">
                <a:moveTo>
                  <a:pt x="46546" y="0"/>
                </a:moveTo>
                <a:lnTo>
                  <a:pt x="465454" y="0"/>
                </a:lnTo>
                <a:cubicBezTo>
                  <a:pt x="491160" y="0"/>
                  <a:pt x="512000" y="20840"/>
                  <a:pt x="512000" y="46546"/>
                </a:cubicBezTo>
                <a:lnTo>
                  <a:pt x="512000" y="232726"/>
                </a:lnTo>
                <a:cubicBezTo>
                  <a:pt x="512000" y="258433"/>
                  <a:pt x="491160" y="279273"/>
                  <a:pt x="465454" y="279273"/>
                </a:cubicBezTo>
                <a:lnTo>
                  <a:pt x="46546" y="279273"/>
                </a:lnTo>
                <a:cubicBezTo>
                  <a:pt x="20840" y="279273"/>
                  <a:pt x="0" y="258433"/>
                  <a:pt x="0" y="232726"/>
                </a:cubicBezTo>
                <a:lnTo>
                  <a:pt x="0" y="46546"/>
                </a:lnTo>
                <a:cubicBezTo>
                  <a:pt x="0" y="20840"/>
                  <a:pt x="20840" y="0"/>
                  <a:pt x="46546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4807818" y="4465455"/>
            <a:ext cx="581818" cy="279273"/>
          </a:xfrm>
          <a:prstGeom prst="rect">
            <a:avLst/>
          </a:prstGeom>
          <a:noFill/>
          <a:ln/>
        </p:spPr>
        <p:txBody>
          <a:bodyPr wrap="square" lIns="93091" tIns="46545" rIns="93091" bIns="46545" rtlCol="0" anchor="ctr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6ED3CF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Meta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769909" y="4861091"/>
            <a:ext cx="6632727" cy="267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3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Meta</a:t>
            </a:r>
            <a:r>
              <a:rPr lang="en-US" sz="128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开源的大语言模型系列，促进了大模型研究的开放与协作。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560455" y="5451636"/>
            <a:ext cx="6946909" cy="1058909"/>
          </a:xfrm>
          <a:custGeom>
            <a:avLst/>
            <a:gdLst/>
            <a:ahLst/>
            <a:cxnLst/>
            <a:rect l="l" t="t" r="r" b="b"/>
            <a:pathLst>
              <a:path w="6946909" h="1058909">
                <a:moveTo>
                  <a:pt x="46545" y="0"/>
                </a:moveTo>
                <a:lnTo>
                  <a:pt x="6853820" y="0"/>
                </a:lnTo>
                <a:cubicBezTo>
                  <a:pt x="6905232" y="0"/>
                  <a:pt x="6946909" y="41677"/>
                  <a:pt x="6946909" y="93089"/>
                </a:cubicBezTo>
                <a:lnTo>
                  <a:pt x="6946909" y="965820"/>
                </a:lnTo>
                <a:cubicBezTo>
                  <a:pt x="6946909" y="1017232"/>
                  <a:pt x="6905232" y="1058909"/>
                  <a:pt x="6853820" y="1058909"/>
                </a:cubicBezTo>
                <a:lnTo>
                  <a:pt x="46545" y="1058909"/>
                </a:lnTo>
                <a:cubicBezTo>
                  <a:pt x="20839" y="1058909"/>
                  <a:pt x="0" y="1038070"/>
                  <a:pt x="0" y="1012364"/>
                </a:cubicBezTo>
                <a:lnTo>
                  <a:pt x="0" y="46545"/>
                </a:lnTo>
                <a:cubicBezTo>
                  <a:pt x="0" y="20839"/>
                  <a:pt x="20839" y="0"/>
                  <a:pt x="46545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8560455" y="5451636"/>
            <a:ext cx="46545" cy="1058909"/>
          </a:xfrm>
          <a:custGeom>
            <a:avLst/>
            <a:gdLst/>
            <a:ahLst/>
            <a:cxnLst/>
            <a:rect l="l" t="t" r="r" b="b"/>
            <a:pathLst>
              <a:path w="46545" h="1058909">
                <a:moveTo>
                  <a:pt x="46545" y="0"/>
                </a:moveTo>
                <a:lnTo>
                  <a:pt x="46545" y="0"/>
                </a:lnTo>
                <a:lnTo>
                  <a:pt x="46545" y="1058909"/>
                </a:lnTo>
                <a:lnTo>
                  <a:pt x="46545" y="1058909"/>
                </a:lnTo>
                <a:cubicBezTo>
                  <a:pt x="20839" y="1058909"/>
                  <a:pt x="0" y="1038070"/>
                  <a:pt x="0" y="1012364"/>
                </a:cubicBezTo>
                <a:lnTo>
                  <a:pt x="0" y="46545"/>
                </a:lnTo>
                <a:cubicBezTo>
                  <a:pt x="0" y="20839"/>
                  <a:pt x="20839" y="0"/>
                  <a:pt x="46545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769909" y="5637818"/>
            <a:ext cx="779636" cy="325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49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Claude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4506000" y="5661091"/>
            <a:ext cx="814545" cy="279273"/>
          </a:xfrm>
          <a:custGeom>
            <a:avLst/>
            <a:gdLst/>
            <a:ahLst/>
            <a:cxnLst/>
            <a:rect l="l" t="t" r="r" b="b"/>
            <a:pathLst>
              <a:path w="814545" h="279273">
                <a:moveTo>
                  <a:pt x="46546" y="0"/>
                </a:moveTo>
                <a:lnTo>
                  <a:pt x="767999" y="0"/>
                </a:lnTo>
                <a:cubicBezTo>
                  <a:pt x="793706" y="0"/>
                  <a:pt x="814545" y="20840"/>
                  <a:pt x="814545" y="46546"/>
                </a:cubicBezTo>
                <a:lnTo>
                  <a:pt x="814545" y="232726"/>
                </a:lnTo>
                <a:cubicBezTo>
                  <a:pt x="814545" y="258433"/>
                  <a:pt x="793706" y="279273"/>
                  <a:pt x="767999" y="279273"/>
                </a:cubicBezTo>
                <a:lnTo>
                  <a:pt x="46546" y="279273"/>
                </a:lnTo>
                <a:cubicBezTo>
                  <a:pt x="20840" y="279273"/>
                  <a:pt x="0" y="258433"/>
                  <a:pt x="0" y="232726"/>
                </a:cubicBezTo>
                <a:lnTo>
                  <a:pt x="0" y="46546"/>
                </a:lnTo>
                <a:cubicBezTo>
                  <a:pt x="0" y="20840"/>
                  <a:pt x="20840" y="0"/>
                  <a:pt x="46546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4506000" y="5661091"/>
            <a:ext cx="884364" cy="279273"/>
          </a:xfrm>
          <a:prstGeom prst="rect">
            <a:avLst/>
          </a:prstGeom>
          <a:noFill/>
          <a:ln/>
        </p:spPr>
        <p:txBody>
          <a:bodyPr wrap="square" lIns="93091" tIns="46545" rIns="93091" bIns="46545" rtlCol="0" anchor="ctr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6ED3CF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Anthropic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769909" y="6056727"/>
            <a:ext cx="6632727" cy="267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3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Anthropic</a:t>
            </a:r>
            <a:r>
              <a:rPr lang="en-US" sz="128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开发的</a:t>
            </a:r>
            <a:r>
              <a:rPr lang="en-US" sz="1283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AI</a:t>
            </a:r>
            <a:r>
              <a:rPr lang="en-US" sz="128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助手，注重安全性和有用性，支持超长上下文。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52091" y="6933393"/>
            <a:ext cx="7540364" cy="2053445"/>
          </a:xfrm>
          <a:custGeom>
            <a:avLst/>
            <a:gdLst/>
            <a:ahLst/>
            <a:cxnLst/>
            <a:rect l="l" t="t" r="r" b="b"/>
            <a:pathLst>
              <a:path w="7540364" h="2152727">
                <a:moveTo>
                  <a:pt x="139626" y="0"/>
                </a:moveTo>
                <a:lnTo>
                  <a:pt x="7400738" y="0"/>
                </a:lnTo>
                <a:cubicBezTo>
                  <a:pt x="7477851" y="0"/>
                  <a:pt x="7540364" y="62513"/>
                  <a:pt x="7540364" y="139626"/>
                </a:cubicBezTo>
                <a:lnTo>
                  <a:pt x="7540364" y="2013101"/>
                </a:lnTo>
                <a:cubicBezTo>
                  <a:pt x="7540364" y="2090215"/>
                  <a:pt x="7477851" y="2152727"/>
                  <a:pt x="7400738" y="2152727"/>
                </a:cubicBezTo>
                <a:lnTo>
                  <a:pt x="139626" y="2152727"/>
                </a:lnTo>
                <a:cubicBezTo>
                  <a:pt x="62513" y="2152727"/>
                  <a:pt x="0" y="2090215"/>
                  <a:pt x="0" y="2013101"/>
                </a:cubicBezTo>
                <a:lnTo>
                  <a:pt x="0" y="139626"/>
                </a:lnTo>
                <a:cubicBezTo>
                  <a:pt x="0" y="62513"/>
                  <a:pt x="62513" y="0"/>
                  <a:pt x="139626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8519727" y="7230121"/>
            <a:ext cx="209455" cy="209455"/>
          </a:xfrm>
          <a:custGeom>
            <a:avLst/>
            <a:gdLst/>
            <a:ahLst/>
            <a:cxnLst/>
            <a:rect l="l" t="t" r="r" b="b"/>
            <a:pathLst>
              <a:path w="209455" h="209455">
                <a:moveTo>
                  <a:pt x="52364" y="130909"/>
                </a:moveTo>
                <a:lnTo>
                  <a:pt x="10023" y="130909"/>
                </a:lnTo>
                <a:cubicBezTo>
                  <a:pt x="-164" y="130909"/>
                  <a:pt x="-6423" y="119823"/>
                  <a:pt x="-1186" y="111068"/>
                </a:cubicBezTo>
                <a:lnTo>
                  <a:pt x="20455" y="74986"/>
                </a:lnTo>
                <a:cubicBezTo>
                  <a:pt x="24014" y="69055"/>
                  <a:pt x="30395" y="65455"/>
                  <a:pt x="37309" y="65455"/>
                </a:cubicBezTo>
                <a:lnTo>
                  <a:pt x="76173" y="65455"/>
                </a:lnTo>
                <a:cubicBezTo>
                  <a:pt x="107305" y="12723"/>
                  <a:pt x="153736" y="10064"/>
                  <a:pt x="184786" y="14605"/>
                </a:cubicBezTo>
                <a:cubicBezTo>
                  <a:pt x="190023" y="15382"/>
                  <a:pt x="194114" y="19473"/>
                  <a:pt x="194850" y="24668"/>
                </a:cubicBezTo>
                <a:cubicBezTo>
                  <a:pt x="199391" y="55718"/>
                  <a:pt x="196732" y="102150"/>
                  <a:pt x="144000" y="133282"/>
                </a:cubicBezTo>
                <a:lnTo>
                  <a:pt x="144000" y="172145"/>
                </a:lnTo>
                <a:cubicBezTo>
                  <a:pt x="144000" y="179059"/>
                  <a:pt x="140400" y="185441"/>
                  <a:pt x="134468" y="189000"/>
                </a:cubicBezTo>
                <a:lnTo>
                  <a:pt x="98386" y="210641"/>
                </a:lnTo>
                <a:cubicBezTo>
                  <a:pt x="89673" y="215877"/>
                  <a:pt x="78545" y="209577"/>
                  <a:pt x="78545" y="199432"/>
                </a:cubicBezTo>
                <a:lnTo>
                  <a:pt x="78545" y="157091"/>
                </a:lnTo>
                <a:cubicBezTo>
                  <a:pt x="78545" y="142650"/>
                  <a:pt x="66805" y="130909"/>
                  <a:pt x="52364" y="130909"/>
                </a:cubicBezTo>
                <a:lnTo>
                  <a:pt x="52323" y="130909"/>
                </a:lnTo>
                <a:close/>
                <a:moveTo>
                  <a:pt x="163636" y="65455"/>
                </a:moveTo>
                <a:cubicBezTo>
                  <a:pt x="163636" y="54617"/>
                  <a:pt x="154838" y="45818"/>
                  <a:pt x="144000" y="45818"/>
                </a:cubicBezTo>
                <a:cubicBezTo>
                  <a:pt x="133162" y="45818"/>
                  <a:pt x="124364" y="54617"/>
                  <a:pt x="124364" y="65455"/>
                </a:cubicBezTo>
                <a:cubicBezTo>
                  <a:pt x="124364" y="76292"/>
                  <a:pt x="133162" y="85091"/>
                  <a:pt x="144000" y="85091"/>
                </a:cubicBezTo>
                <a:cubicBezTo>
                  <a:pt x="154838" y="85091"/>
                  <a:pt x="163636" y="76292"/>
                  <a:pt x="163636" y="65455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8758273" y="7171939"/>
            <a:ext cx="6900364" cy="325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49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大模型的应用范式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513909" y="7683939"/>
            <a:ext cx="162909" cy="162909"/>
          </a:xfrm>
          <a:custGeom>
            <a:avLst/>
            <a:gdLst/>
            <a:ahLst/>
            <a:cxnLst/>
            <a:rect l="l" t="t" r="r" b="b"/>
            <a:pathLst>
              <a:path w="162909" h="162909">
                <a:moveTo>
                  <a:pt x="81455" y="162909"/>
                </a:moveTo>
                <a:cubicBezTo>
                  <a:pt x="126411" y="162909"/>
                  <a:pt x="162909" y="126411"/>
                  <a:pt x="162909" y="81455"/>
                </a:cubicBezTo>
                <a:cubicBezTo>
                  <a:pt x="162909" y="36499"/>
                  <a:pt x="126411" y="0"/>
                  <a:pt x="81455" y="0"/>
                </a:cubicBezTo>
                <a:cubicBezTo>
                  <a:pt x="36499" y="0"/>
                  <a:pt x="0" y="36499"/>
                  <a:pt x="0" y="81455"/>
                </a:cubicBezTo>
                <a:cubicBezTo>
                  <a:pt x="0" y="126411"/>
                  <a:pt x="36499" y="162909"/>
                  <a:pt x="81455" y="162909"/>
                </a:cubicBezTo>
                <a:close/>
                <a:moveTo>
                  <a:pt x="108309" y="67677"/>
                </a:moveTo>
                <a:lnTo>
                  <a:pt x="82855" y="108405"/>
                </a:lnTo>
                <a:cubicBezTo>
                  <a:pt x="81518" y="110536"/>
                  <a:pt x="79227" y="111873"/>
                  <a:pt x="76714" y="112000"/>
                </a:cubicBezTo>
                <a:cubicBezTo>
                  <a:pt x="74200" y="112127"/>
                  <a:pt x="71782" y="110982"/>
                  <a:pt x="70286" y="108945"/>
                </a:cubicBezTo>
                <a:lnTo>
                  <a:pt x="55014" y="88582"/>
                </a:lnTo>
                <a:cubicBezTo>
                  <a:pt x="52468" y="85209"/>
                  <a:pt x="53168" y="80436"/>
                  <a:pt x="56541" y="77891"/>
                </a:cubicBezTo>
                <a:cubicBezTo>
                  <a:pt x="59914" y="75345"/>
                  <a:pt x="64686" y="76045"/>
                  <a:pt x="67232" y="79418"/>
                </a:cubicBezTo>
                <a:lnTo>
                  <a:pt x="75823" y="90873"/>
                </a:lnTo>
                <a:lnTo>
                  <a:pt x="95359" y="59595"/>
                </a:lnTo>
                <a:cubicBezTo>
                  <a:pt x="97586" y="56032"/>
                  <a:pt x="102295" y="54918"/>
                  <a:pt x="105891" y="57177"/>
                </a:cubicBezTo>
                <a:cubicBezTo>
                  <a:pt x="109486" y="59436"/>
                  <a:pt x="110568" y="64114"/>
                  <a:pt x="108309" y="67709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8787364" y="7637393"/>
            <a:ext cx="4014545" cy="232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3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Prompt Engineering</a:t>
            </a:r>
            <a:r>
              <a:rPr lang="en-US" sz="128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：通过精心设计的提示词引导模型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513909" y="8009757"/>
            <a:ext cx="162909" cy="162909"/>
          </a:xfrm>
          <a:custGeom>
            <a:avLst/>
            <a:gdLst/>
            <a:ahLst/>
            <a:cxnLst/>
            <a:rect l="l" t="t" r="r" b="b"/>
            <a:pathLst>
              <a:path w="162909" h="162909">
                <a:moveTo>
                  <a:pt x="81455" y="162909"/>
                </a:moveTo>
                <a:cubicBezTo>
                  <a:pt x="126411" y="162909"/>
                  <a:pt x="162909" y="126411"/>
                  <a:pt x="162909" y="81455"/>
                </a:cubicBezTo>
                <a:cubicBezTo>
                  <a:pt x="162909" y="36499"/>
                  <a:pt x="126411" y="0"/>
                  <a:pt x="81455" y="0"/>
                </a:cubicBezTo>
                <a:cubicBezTo>
                  <a:pt x="36499" y="0"/>
                  <a:pt x="0" y="36499"/>
                  <a:pt x="0" y="81455"/>
                </a:cubicBezTo>
                <a:cubicBezTo>
                  <a:pt x="0" y="126411"/>
                  <a:pt x="36499" y="162909"/>
                  <a:pt x="81455" y="162909"/>
                </a:cubicBezTo>
                <a:close/>
                <a:moveTo>
                  <a:pt x="108309" y="67677"/>
                </a:moveTo>
                <a:lnTo>
                  <a:pt x="82855" y="108405"/>
                </a:lnTo>
                <a:cubicBezTo>
                  <a:pt x="81518" y="110536"/>
                  <a:pt x="79227" y="111873"/>
                  <a:pt x="76714" y="112000"/>
                </a:cubicBezTo>
                <a:cubicBezTo>
                  <a:pt x="74200" y="112127"/>
                  <a:pt x="71782" y="110982"/>
                  <a:pt x="70286" y="108945"/>
                </a:cubicBezTo>
                <a:lnTo>
                  <a:pt x="55014" y="88582"/>
                </a:lnTo>
                <a:cubicBezTo>
                  <a:pt x="52468" y="85209"/>
                  <a:pt x="53168" y="80436"/>
                  <a:pt x="56541" y="77891"/>
                </a:cubicBezTo>
                <a:cubicBezTo>
                  <a:pt x="59914" y="75345"/>
                  <a:pt x="64686" y="76045"/>
                  <a:pt x="67232" y="79418"/>
                </a:cubicBezTo>
                <a:lnTo>
                  <a:pt x="75823" y="90873"/>
                </a:lnTo>
                <a:lnTo>
                  <a:pt x="95359" y="59595"/>
                </a:lnTo>
                <a:cubicBezTo>
                  <a:pt x="97586" y="56032"/>
                  <a:pt x="102295" y="54918"/>
                  <a:pt x="105891" y="57177"/>
                </a:cubicBezTo>
                <a:cubicBezTo>
                  <a:pt x="109486" y="59436"/>
                  <a:pt x="110568" y="64114"/>
                  <a:pt x="108309" y="67709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8787364" y="7963212"/>
            <a:ext cx="3165091" cy="232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3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RAG</a:t>
            </a:r>
            <a:r>
              <a:rPr lang="en-US" sz="128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(检索增强生成)：结合知识库进行问答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513909" y="8335575"/>
            <a:ext cx="162909" cy="162909"/>
          </a:xfrm>
          <a:custGeom>
            <a:avLst/>
            <a:gdLst/>
            <a:ahLst/>
            <a:cxnLst/>
            <a:rect l="l" t="t" r="r" b="b"/>
            <a:pathLst>
              <a:path w="162909" h="162909">
                <a:moveTo>
                  <a:pt x="81455" y="162909"/>
                </a:moveTo>
                <a:cubicBezTo>
                  <a:pt x="126411" y="162909"/>
                  <a:pt x="162909" y="126411"/>
                  <a:pt x="162909" y="81455"/>
                </a:cubicBezTo>
                <a:cubicBezTo>
                  <a:pt x="162909" y="36499"/>
                  <a:pt x="126411" y="0"/>
                  <a:pt x="81455" y="0"/>
                </a:cubicBezTo>
                <a:cubicBezTo>
                  <a:pt x="36499" y="0"/>
                  <a:pt x="0" y="36499"/>
                  <a:pt x="0" y="81455"/>
                </a:cubicBezTo>
                <a:cubicBezTo>
                  <a:pt x="0" y="126411"/>
                  <a:pt x="36499" y="162909"/>
                  <a:pt x="81455" y="162909"/>
                </a:cubicBezTo>
                <a:close/>
                <a:moveTo>
                  <a:pt x="108309" y="67677"/>
                </a:moveTo>
                <a:lnTo>
                  <a:pt x="82855" y="108405"/>
                </a:lnTo>
                <a:cubicBezTo>
                  <a:pt x="81518" y="110536"/>
                  <a:pt x="79227" y="111873"/>
                  <a:pt x="76714" y="112000"/>
                </a:cubicBezTo>
                <a:cubicBezTo>
                  <a:pt x="74200" y="112127"/>
                  <a:pt x="71782" y="110982"/>
                  <a:pt x="70286" y="108945"/>
                </a:cubicBezTo>
                <a:lnTo>
                  <a:pt x="55014" y="88582"/>
                </a:lnTo>
                <a:cubicBezTo>
                  <a:pt x="52468" y="85209"/>
                  <a:pt x="53168" y="80436"/>
                  <a:pt x="56541" y="77891"/>
                </a:cubicBezTo>
                <a:cubicBezTo>
                  <a:pt x="59914" y="75345"/>
                  <a:pt x="64686" y="76045"/>
                  <a:pt x="67232" y="79418"/>
                </a:cubicBezTo>
                <a:lnTo>
                  <a:pt x="75823" y="90873"/>
                </a:lnTo>
                <a:lnTo>
                  <a:pt x="95359" y="59595"/>
                </a:lnTo>
                <a:cubicBezTo>
                  <a:pt x="97586" y="56032"/>
                  <a:pt x="102295" y="54918"/>
                  <a:pt x="105891" y="57177"/>
                </a:cubicBezTo>
                <a:cubicBezTo>
                  <a:pt x="109486" y="59436"/>
                  <a:pt x="110568" y="64114"/>
                  <a:pt x="108309" y="67709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8787364" y="8289030"/>
            <a:ext cx="3060364" cy="232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3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Fine-tuning</a:t>
            </a:r>
            <a:r>
              <a:rPr lang="en-US" sz="128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：在特定领域数据上进行微调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513909" y="8661393"/>
            <a:ext cx="162909" cy="162909"/>
          </a:xfrm>
          <a:custGeom>
            <a:avLst/>
            <a:gdLst/>
            <a:ahLst/>
            <a:cxnLst/>
            <a:rect l="l" t="t" r="r" b="b"/>
            <a:pathLst>
              <a:path w="162909" h="162909">
                <a:moveTo>
                  <a:pt x="81455" y="162909"/>
                </a:moveTo>
                <a:cubicBezTo>
                  <a:pt x="126411" y="162909"/>
                  <a:pt x="162909" y="126411"/>
                  <a:pt x="162909" y="81455"/>
                </a:cubicBezTo>
                <a:cubicBezTo>
                  <a:pt x="162909" y="36499"/>
                  <a:pt x="126411" y="0"/>
                  <a:pt x="81455" y="0"/>
                </a:cubicBezTo>
                <a:cubicBezTo>
                  <a:pt x="36499" y="0"/>
                  <a:pt x="0" y="36499"/>
                  <a:pt x="0" y="81455"/>
                </a:cubicBezTo>
                <a:cubicBezTo>
                  <a:pt x="0" y="126411"/>
                  <a:pt x="36499" y="162909"/>
                  <a:pt x="81455" y="162909"/>
                </a:cubicBezTo>
                <a:close/>
                <a:moveTo>
                  <a:pt x="108309" y="67677"/>
                </a:moveTo>
                <a:lnTo>
                  <a:pt x="82855" y="108405"/>
                </a:lnTo>
                <a:cubicBezTo>
                  <a:pt x="81518" y="110536"/>
                  <a:pt x="79227" y="111873"/>
                  <a:pt x="76714" y="112000"/>
                </a:cubicBezTo>
                <a:cubicBezTo>
                  <a:pt x="74200" y="112127"/>
                  <a:pt x="71782" y="110982"/>
                  <a:pt x="70286" y="108945"/>
                </a:cubicBezTo>
                <a:lnTo>
                  <a:pt x="55014" y="88582"/>
                </a:lnTo>
                <a:cubicBezTo>
                  <a:pt x="52468" y="85209"/>
                  <a:pt x="53168" y="80436"/>
                  <a:pt x="56541" y="77891"/>
                </a:cubicBezTo>
                <a:cubicBezTo>
                  <a:pt x="59914" y="75345"/>
                  <a:pt x="64686" y="76045"/>
                  <a:pt x="67232" y="79418"/>
                </a:cubicBezTo>
                <a:lnTo>
                  <a:pt x="75823" y="90873"/>
                </a:lnTo>
                <a:lnTo>
                  <a:pt x="95359" y="59595"/>
                </a:lnTo>
                <a:cubicBezTo>
                  <a:pt x="97586" y="56032"/>
                  <a:pt x="102295" y="54918"/>
                  <a:pt x="105891" y="57177"/>
                </a:cubicBezTo>
                <a:cubicBezTo>
                  <a:pt x="109486" y="59436"/>
                  <a:pt x="110568" y="64114"/>
                  <a:pt x="108309" y="67709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8787364" y="8614848"/>
            <a:ext cx="2804364" cy="232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3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Agent</a:t>
            </a:r>
            <a:r>
              <a:rPr lang="en-US" sz="128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：让模型使用工具完成复杂任务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428625"/>
            <a:ext cx="1471083" cy="349250"/>
          </a:xfrm>
          <a:custGeom>
            <a:avLst/>
            <a:gdLst/>
            <a:ahLst/>
            <a:cxnLst/>
            <a:rect l="l" t="t" r="r" b="b"/>
            <a:pathLst>
              <a:path w="1471083" h="349250">
                <a:moveTo>
                  <a:pt x="42333" y="0"/>
                </a:moveTo>
                <a:lnTo>
                  <a:pt x="1428751" y="0"/>
                </a:lnTo>
                <a:cubicBezTo>
                  <a:pt x="1452130" y="0"/>
                  <a:pt x="1471083" y="18953"/>
                  <a:pt x="1471083" y="42333"/>
                </a:cubicBezTo>
                <a:lnTo>
                  <a:pt x="1471083" y="306917"/>
                </a:lnTo>
                <a:cubicBezTo>
                  <a:pt x="1471083" y="330297"/>
                  <a:pt x="1452130" y="349250"/>
                  <a:pt x="1428751" y="349250"/>
                </a:cubicBezTo>
                <a:lnTo>
                  <a:pt x="42333" y="349250"/>
                </a:lnTo>
                <a:cubicBezTo>
                  <a:pt x="18953" y="349250"/>
                  <a:pt x="0" y="330297"/>
                  <a:pt x="0" y="30691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 w="12700">
            <a:solidFill>
              <a:srgbClr val="5F87A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60917" y="492125"/>
            <a:ext cx="128744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kern="0" spc="67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COMPARISON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333" y="867833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大模型 vs 传统</a:t>
            </a:r>
            <a:r>
              <a:rPr lang="en-US" sz="3000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AI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28625" y="1432980"/>
            <a:ext cx="15398750" cy="1344083"/>
          </a:xfrm>
          <a:custGeom>
            <a:avLst/>
            <a:gdLst/>
            <a:ahLst/>
            <a:cxnLst/>
            <a:rect l="l" t="t" r="r" b="b"/>
            <a:pathLst>
              <a:path w="15398750" h="1344083">
                <a:moveTo>
                  <a:pt x="127002" y="0"/>
                </a:moveTo>
                <a:lnTo>
                  <a:pt x="15271748" y="0"/>
                </a:lnTo>
                <a:cubicBezTo>
                  <a:pt x="15341889" y="0"/>
                  <a:pt x="15398750" y="56861"/>
                  <a:pt x="15398750" y="127002"/>
                </a:cubicBezTo>
                <a:lnTo>
                  <a:pt x="15398750" y="1217081"/>
                </a:lnTo>
                <a:cubicBezTo>
                  <a:pt x="15398750" y="1287222"/>
                  <a:pt x="15341889" y="1344083"/>
                  <a:pt x="15271748" y="1344083"/>
                </a:cubicBezTo>
                <a:lnTo>
                  <a:pt x="127002" y="1344083"/>
                </a:lnTo>
                <a:cubicBezTo>
                  <a:pt x="56908" y="1344083"/>
                  <a:pt x="0" y="1287175"/>
                  <a:pt x="0" y="1217081"/>
                </a:cubicBezTo>
                <a:lnTo>
                  <a:pt x="0" y="127002"/>
                </a:lnTo>
                <a:cubicBezTo>
                  <a:pt x="0" y="56908"/>
                  <a:pt x="56908" y="0"/>
                  <a:pt x="127002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6ED3CF">
                  <a:alpha val="5000"/>
                </a:srgbClr>
              </a:gs>
            </a:gsLst>
            <a:lin ang="2700000" scaled="1"/>
          </a:gradFill>
          <a:ln w="12700">
            <a:solidFill>
              <a:srgbClr val="6ED3C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45583" y="1649939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67292" y="1798105"/>
            <a:ext cx="264583" cy="211667"/>
          </a:xfrm>
          <a:custGeom>
            <a:avLst/>
            <a:gdLst/>
            <a:ahLst/>
            <a:cxnLst/>
            <a:rect l="l" t="t" r="r" b="b"/>
            <a:pathLst>
              <a:path w="264583" h="211667">
                <a:moveTo>
                  <a:pt x="158750" y="13229"/>
                </a:moveTo>
                <a:lnTo>
                  <a:pt x="211667" y="13229"/>
                </a:lnTo>
                <a:cubicBezTo>
                  <a:pt x="218984" y="13229"/>
                  <a:pt x="224896" y="19141"/>
                  <a:pt x="224896" y="26458"/>
                </a:cubicBezTo>
                <a:cubicBezTo>
                  <a:pt x="224896" y="33776"/>
                  <a:pt x="218984" y="39688"/>
                  <a:pt x="211667" y="39688"/>
                </a:cubicBezTo>
                <a:lnTo>
                  <a:pt x="164703" y="39688"/>
                </a:lnTo>
                <a:cubicBezTo>
                  <a:pt x="162553" y="50354"/>
                  <a:pt x="155236" y="59159"/>
                  <a:pt x="145521" y="63376"/>
                </a:cubicBezTo>
                <a:lnTo>
                  <a:pt x="145521" y="185208"/>
                </a:lnTo>
                <a:lnTo>
                  <a:pt x="211667" y="185208"/>
                </a:lnTo>
                <a:cubicBezTo>
                  <a:pt x="218984" y="185208"/>
                  <a:pt x="224896" y="191120"/>
                  <a:pt x="224896" y="198438"/>
                </a:cubicBezTo>
                <a:cubicBezTo>
                  <a:pt x="224896" y="205755"/>
                  <a:pt x="218984" y="211667"/>
                  <a:pt x="211667" y="211667"/>
                </a:cubicBezTo>
                <a:lnTo>
                  <a:pt x="52917" y="211667"/>
                </a:lnTo>
                <a:cubicBezTo>
                  <a:pt x="45599" y="211667"/>
                  <a:pt x="39688" y="205755"/>
                  <a:pt x="39688" y="198438"/>
                </a:cubicBezTo>
                <a:cubicBezTo>
                  <a:pt x="39688" y="191120"/>
                  <a:pt x="45599" y="185208"/>
                  <a:pt x="52917" y="185208"/>
                </a:cubicBezTo>
                <a:lnTo>
                  <a:pt x="119063" y="185208"/>
                </a:lnTo>
                <a:lnTo>
                  <a:pt x="119063" y="63376"/>
                </a:lnTo>
                <a:cubicBezTo>
                  <a:pt x="109347" y="59118"/>
                  <a:pt x="102030" y="50312"/>
                  <a:pt x="99880" y="39688"/>
                </a:cubicBezTo>
                <a:lnTo>
                  <a:pt x="52917" y="39688"/>
                </a:lnTo>
                <a:cubicBezTo>
                  <a:pt x="45599" y="39688"/>
                  <a:pt x="39688" y="33776"/>
                  <a:pt x="39688" y="26458"/>
                </a:cubicBezTo>
                <a:cubicBezTo>
                  <a:pt x="39688" y="19141"/>
                  <a:pt x="45599" y="13229"/>
                  <a:pt x="52917" y="13229"/>
                </a:cubicBezTo>
                <a:lnTo>
                  <a:pt x="105833" y="13229"/>
                </a:lnTo>
                <a:cubicBezTo>
                  <a:pt x="111869" y="5209"/>
                  <a:pt x="121460" y="0"/>
                  <a:pt x="132292" y="0"/>
                </a:cubicBezTo>
                <a:cubicBezTo>
                  <a:pt x="143123" y="0"/>
                  <a:pt x="152714" y="5209"/>
                  <a:pt x="158750" y="13229"/>
                </a:cubicBezTo>
                <a:close/>
                <a:moveTo>
                  <a:pt x="181736" y="132292"/>
                </a:moveTo>
                <a:lnTo>
                  <a:pt x="241598" y="132292"/>
                </a:lnTo>
                <a:lnTo>
                  <a:pt x="211667" y="80946"/>
                </a:lnTo>
                <a:lnTo>
                  <a:pt x="181736" y="132292"/>
                </a:lnTo>
                <a:close/>
                <a:moveTo>
                  <a:pt x="211667" y="171979"/>
                </a:moveTo>
                <a:cubicBezTo>
                  <a:pt x="185663" y="171979"/>
                  <a:pt x="164042" y="157923"/>
                  <a:pt x="159577" y="139361"/>
                </a:cubicBezTo>
                <a:cubicBezTo>
                  <a:pt x="158502" y="134813"/>
                  <a:pt x="159990" y="130142"/>
                  <a:pt x="162347" y="126090"/>
                </a:cubicBezTo>
                <a:lnTo>
                  <a:pt x="201703" y="58622"/>
                </a:lnTo>
                <a:cubicBezTo>
                  <a:pt x="203771" y="55066"/>
                  <a:pt x="207574" y="52917"/>
                  <a:pt x="211667" y="52917"/>
                </a:cubicBezTo>
                <a:cubicBezTo>
                  <a:pt x="215759" y="52917"/>
                  <a:pt x="219563" y="55108"/>
                  <a:pt x="221630" y="58622"/>
                </a:cubicBezTo>
                <a:lnTo>
                  <a:pt x="260987" y="126090"/>
                </a:lnTo>
                <a:cubicBezTo>
                  <a:pt x="263343" y="130142"/>
                  <a:pt x="264831" y="134813"/>
                  <a:pt x="263757" y="139361"/>
                </a:cubicBezTo>
                <a:cubicBezTo>
                  <a:pt x="259292" y="157882"/>
                  <a:pt x="237670" y="171979"/>
                  <a:pt x="211667" y="171979"/>
                </a:cubicBezTo>
                <a:close/>
                <a:moveTo>
                  <a:pt x="52421" y="80946"/>
                </a:moveTo>
                <a:lnTo>
                  <a:pt x="22490" y="132292"/>
                </a:lnTo>
                <a:lnTo>
                  <a:pt x="82393" y="132292"/>
                </a:lnTo>
                <a:lnTo>
                  <a:pt x="52421" y="80946"/>
                </a:lnTo>
                <a:close/>
                <a:moveTo>
                  <a:pt x="372" y="139361"/>
                </a:moveTo>
                <a:cubicBezTo>
                  <a:pt x="-703" y="134813"/>
                  <a:pt x="785" y="130142"/>
                  <a:pt x="3142" y="126090"/>
                </a:cubicBezTo>
                <a:lnTo>
                  <a:pt x="42499" y="58622"/>
                </a:lnTo>
                <a:cubicBezTo>
                  <a:pt x="44566" y="55066"/>
                  <a:pt x="48369" y="52917"/>
                  <a:pt x="52462" y="52917"/>
                </a:cubicBezTo>
                <a:cubicBezTo>
                  <a:pt x="56555" y="52917"/>
                  <a:pt x="60358" y="55108"/>
                  <a:pt x="62425" y="58622"/>
                </a:cubicBezTo>
                <a:lnTo>
                  <a:pt x="101782" y="126090"/>
                </a:lnTo>
                <a:cubicBezTo>
                  <a:pt x="104138" y="130142"/>
                  <a:pt x="105627" y="134813"/>
                  <a:pt x="104552" y="139361"/>
                </a:cubicBezTo>
                <a:cubicBezTo>
                  <a:pt x="100087" y="157882"/>
                  <a:pt x="78465" y="171979"/>
                  <a:pt x="52462" y="171979"/>
                </a:cubicBezTo>
                <a:cubicBezTo>
                  <a:pt x="26458" y="171979"/>
                  <a:pt x="4837" y="157923"/>
                  <a:pt x="372" y="139361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280583" y="1734605"/>
            <a:ext cx="1651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核心差异对比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5583" y="2284939"/>
            <a:ext cx="15049500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大模型与传统</a:t>
            </a:r>
            <a:r>
              <a:rPr lang="en-US" sz="1333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AI</a:t>
            </a: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各有优势，不是简单的替代关系，而是</a:t>
            </a: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互补共存</a:t>
            </a: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的关系。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8625" y="2914647"/>
            <a:ext cx="7609417" cy="4990042"/>
          </a:xfrm>
          <a:custGeom>
            <a:avLst/>
            <a:gdLst/>
            <a:ahLst/>
            <a:cxnLst/>
            <a:rect l="l" t="t" r="r" b="b"/>
            <a:pathLst>
              <a:path w="7609417" h="6508750">
                <a:moveTo>
                  <a:pt x="126986" y="0"/>
                </a:moveTo>
                <a:lnTo>
                  <a:pt x="7482431" y="0"/>
                </a:lnTo>
                <a:cubicBezTo>
                  <a:pt x="7552516" y="0"/>
                  <a:pt x="7609417" y="56900"/>
                  <a:pt x="7609417" y="126986"/>
                </a:cubicBezTo>
                <a:lnTo>
                  <a:pt x="7609417" y="6381764"/>
                </a:lnTo>
                <a:cubicBezTo>
                  <a:pt x="7609417" y="6451897"/>
                  <a:pt x="7552563" y="6508750"/>
                  <a:pt x="7482431" y="6508750"/>
                </a:cubicBezTo>
                <a:lnTo>
                  <a:pt x="126986" y="6508750"/>
                </a:lnTo>
                <a:cubicBezTo>
                  <a:pt x="56853" y="6508750"/>
                  <a:pt x="0" y="6451897"/>
                  <a:pt x="0" y="6381764"/>
                </a:cubicBezTo>
                <a:lnTo>
                  <a:pt x="0" y="126986"/>
                </a:lnTo>
                <a:cubicBezTo>
                  <a:pt x="0" y="56853"/>
                  <a:pt x="56853" y="0"/>
                  <a:pt x="126986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45583" y="3131605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84667" y="0"/>
                </a:moveTo>
                <a:lnTo>
                  <a:pt x="338667" y="0"/>
                </a:lnTo>
                <a:cubicBezTo>
                  <a:pt x="385427" y="0"/>
                  <a:pt x="423333" y="37907"/>
                  <a:pt x="423333" y="84667"/>
                </a:cubicBezTo>
                <a:lnTo>
                  <a:pt x="423333" y="338667"/>
                </a:lnTo>
                <a:cubicBezTo>
                  <a:pt x="423333" y="385427"/>
                  <a:pt x="385427" y="423333"/>
                  <a:pt x="338667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751417" y="3258605"/>
            <a:ext cx="211667" cy="169333"/>
          </a:xfrm>
          <a:custGeom>
            <a:avLst/>
            <a:gdLst/>
            <a:ahLst/>
            <a:cxnLst/>
            <a:rect l="l" t="t" r="r" b="b"/>
            <a:pathLst>
              <a:path w="211667" h="169333">
                <a:moveTo>
                  <a:pt x="137550" y="69618"/>
                </a:moveTo>
                <a:cubicBezTo>
                  <a:pt x="141585" y="68527"/>
                  <a:pt x="145818" y="70445"/>
                  <a:pt x="147637" y="74183"/>
                </a:cubicBezTo>
                <a:lnTo>
                  <a:pt x="153789" y="86618"/>
                </a:lnTo>
                <a:cubicBezTo>
                  <a:pt x="157196" y="87081"/>
                  <a:pt x="160536" y="88007"/>
                  <a:pt x="163678" y="89297"/>
                </a:cubicBezTo>
                <a:lnTo>
                  <a:pt x="175253" y="81591"/>
                </a:lnTo>
                <a:cubicBezTo>
                  <a:pt x="178726" y="79276"/>
                  <a:pt x="183323" y="79739"/>
                  <a:pt x="186267" y="82682"/>
                </a:cubicBezTo>
                <a:lnTo>
                  <a:pt x="192617" y="89032"/>
                </a:lnTo>
                <a:cubicBezTo>
                  <a:pt x="195560" y="91976"/>
                  <a:pt x="196023" y="96606"/>
                  <a:pt x="193708" y="100046"/>
                </a:cubicBezTo>
                <a:lnTo>
                  <a:pt x="186002" y="111588"/>
                </a:lnTo>
                <a:cubicBezTo>
                  <a:pt x="186630" y="113142"/>
                  <a:pt x="187193" y="114763"/>
                  <a:pt x="187656" y="116450"/>
                </a:cubicBezTo>
                <a:cubicBezTo>
                  <a:pt x="188119" y="118136"/>
                  <a:pt x="188416" y="119790"/>
                  <a:pt x="188648" y="121477"/>
                </a:cubicBezTo>
                <a:lnTo>
                  <a:pt x="201116" y="127628"/>
                </a:lnTo>
                <a:cubicBezTo>
                  <a:pt x="204854" y="129480"/>
                  <a:pt x="206772" y="133714"/>
                  <a:pt x="205680" y="137716"/>
                </a:cubicBezTo>
                <a:lnTo>
                  <a:pt x="203365" y="146381"/>
                </a:lnTo>
                <a:cubicBezTo>
                  <a:pt x="202274" y="150383"/>
                  <a:pt x="198537" y="153095"/>
                  <a:pt x="194370" y="152830"/>
                </a:cubicBezTo>
                <a:lnTo>
                  <a:pt x="180479" y="151937"/>
                </a:lnTo>
                <a:cubicBezTo>
                  <a:pt x="178395" y="154616"/>
                  <a:pt x="175981" y="157096"/>
                  <a:pt x="173236" y="159213"/>
                </a:cubicBezTo>
                <a:lnTo>
                  <a:pt x="174129" y="173071"/>
                </a:lnTo>
                <a:cubicBezTo>
                  <a:pt x="174393" y="177238"/>
                  <a:pt x="171682" y="181008"/>
                  <a:pt x="167680" y="182066"/>
                </a:cubicBezTo>
                <a:lnTo>
                  <a:pt x="159015" y="184382"/>
                </a:lnTo>
                <a:cubicBezTo>
                  <a:pt x="154980" y="185473"/>
                  <a:pt x="150779" y="183555"/>
                  <a:pt x="148927" y="179817"/>
                </a:cubicBezTo>
                <a:lnTo>
                  <a:pt x="142776" y="167382"/>
                </a:lnTo>
                <a:cubicBezTo>
                  <a:pt x="139369" y="166919"/>
                  <a:pt x="136029" y="165993"/>
                  <a:pt x="132887" y="164703"/>
                </a:cubicBezTo>
                <a:lnTo>
                  <a:pt x="121311" y="172409"/>
                </a:lnTo>
                <a:cubicBezTo>
                  <a:pt x="117839" y="174724"/>
                  <a:pt x="113242" y="174261"/>
                  <a:pt x="110298" y="171318"/>
                </a:cubicBezTo>
                <a:lnTo>
                  <a:pt x="103948" y="164968"/>
                </a:lnTo>
                <a:cubicBezTo>
                  <a:pt x="101005" y="162024"/>
                  <a:pt x="100542" y="157427"/>
                  <a:pt x="102857" y="153954"/>
                </a:cubicBezTo>
                <a:lnTo>
                  <a:pt x="110563" y="142379"/>
                </a:lnTo>
                <a:cubicBezTo>
                  <a:pt x="109934" y="140824"/>
                  <a:pt x="109372" y="139204"/>
                  <a:pt x="108909" y="137517"/>
                </a:cubicBezTo>
                <a:cubicBezTo>
                  <a:pt x="108446" y="135830"/>
                  <a:pt x="108148" y="134144"/>
                  <a:pt x="107917" y="132490"/>
                </a:cubicBezTo>
                <a:lnTo>
                  <a:pt x="95448" y="126339"/>
                </a:lnTo>
                <a:cubicBezTo>
                  <a:pt x="91711" y="124486"/>
                  <a:pt x="89826" y="120253"/>
                  <a:pt x="90884" y="116251"/>
                </a:cubicBezTo>
                <a:lnTo>
                  <a:pt x="93199" y="107586"/>
                </a:lnTo>
                <a:cubicBezTo>
                  <a:pt x="94291" y="103584"/>
                  <a:pt x="98028" y="100872"/>
                  <a:pt x="102195" y="101137"/>
                </a:cubicBezTo>
                <a:lnTo>
                  <a:pt x="116053" y="102030"/>
                </a:lnTo>
                <a:cubicBezTo>
                  <a:pt x="118136" y="99351"/>
                  <a:pt x="120551" y="96871"/>
                  <a:pt x="123296" y="94754"/>
                </a:cubicBezTo>
                <a:lnTo>
                  <a:pt x="122403" y="80929"/>
                </a:lnTo>
                <a:cubicBezTo>
                  <a:pt x="122138" y="76762"/>
                  <a:pt x="124850" y="72992"/>
                  <a:pt x="128852" y="71934"/>
                </a:cubicBezTo>
                <a:lnTo>
                  <a:pt x="137517" y="69618"/>
                </a:lnTo>
                <a:close/>
                <a:moveTo>
                  <a:pt x="148299" y="112448"/>
                </a:moveTo>
                <a:cubicBezTo>
                  <a:pt x="140267" y="112457"/>
                  <a:pt x="133754" y="118985"/>
                  <a:pt x="133763" y="127017"/>
                </a:cubicBezTo>
                <a:cubicBezTo>
                  <a:pt x="133773" y="135048"/>
                  <a:pt x="140301" y="141561"/>
                  <a:pt x="148332" y="141552"/>
                </a:cubicBezTo>
                <a:cubicBezTo>
                  <a:pt x="156364" y="141543"/>
                  <a:pt x="162877" y="135015"/>
                  <a:pt x="162868" y="126983"/>
                </a:cubicBezTo>
                <a:cubicBezTo>
                  <a:pt x="162858" y="118952"/>
                  <a:pt x="156330" y="112439"/>
                  <a:pt x="148299" y="112448"/>
                </a:cubicBezTo>
                <a:close/>
                <a:moveTo>
                  <a:pt x="74381" y="-15048"/>
                </a:moveTo>
                <a:lnTo>
                  <a:pt x="83046" y="-12733"/>
                </a:lnTo>
                <a:cubicBezTo>
                  <a:pt x="87048" y="-11642"/>
                  <a:pt x="89760" y="-7871"/>
                  <a:pt x="89495" y="-3737"/>
                </a:cubicBezTo>
                <a:lnTo>
                  <a:pt x="88602" y="10087"/>
                </a:lnTo>
                <a:cubicBezTo>
                  <a:pt x="91347" y="12204"/>
                  <a:pt x="93762" y="14651"/>
                  <a:pt x="95845" y="17363"/>
                </a:cubicBezTo>
                <a:lnTo>
                  <a:pt x="109736" y="16470"/>
                </a:lnTo>
                <a:cubicBezTo>
                  <a:pt x="113870" y="16206"/>
                  <a:pt x="117640" y="18918"/>
                  <a:pt x="118732" y="22920"/>
                </a:cubicBezTo>
                <a:lnTo>
                  <a:pt x="121047" y="31585"/>
                </a:lnTo>
                <a:cubicBezTo>
                  <a:pt x="122105" y="35586"/>
                  <a:pt x="120220" y="39820"/>
                  <a:pt x="116483" y="41672"/>
                </a:cubicBezTo>
                <a:lnTo>
                  <a:pt x="104014" y="47823"/>
                </a:lnTo>
                <a:cubicBezTo>
                  <a:pt x="103783" y="49510"/>
                  <a:pt x="103452" y="51197"/>
                  <a:pt x="103022" y="52851"/>
                </a:cubicBezTo>
                <a:cubicBezTo>
                  <a:pt x="102592" y="54504"/>
                  <a:pt x="101997" y="56158"/>
                  <a:pt x="101368" y="57712"/>
                </a:cubicBezTo>
                <a:lnTo>
                  <a:pt x="109074" y="69288"/>
                </a:lnTo>
                <a:cubicBezTo>
                  <a:pt x="111390" y="72760"/>
                  <a:pt x="110927" y="77358"/>
                  <a:pt x="107983" y="80301"/>
                </a:cubicBezTo>
                <a:lnTo>
                  <a:pt x="101633" y="86651"/>
                </a:lnTo>
                <a:cubicBezTo>
                  <a:pt x="98690" y="89595"/>
                  <a:pt x="94092" y="90058"/>
                  <a:pt x="90620" y="87742"/>
                </a:cubicBezTo>
                <a:lnTo>
                  <a:pt x="79044" y="80036"/>
                </a:lnTo>
                <a:cubicBezTo>
                  <a:pt x="75902" y="81326"/>
                  <a:pt x="72562" y="82252"/>
                  <a:pt x="69155" y="82715"/>
                </a:cubicBezTo>
                <a:lnTo>
                  <a:pt x="63004" y="95151"/>
                </a:lnTo>
                <a:cubicBezTo>
                  <a:pt x="61152" y="98888"/>
                  <a:pt x="56918" y="100773"/>
                  <a:pt x="52917" y="99715"/>
                </a:cubicBezTo>
                <a:lnTo>
                  <a:pt x="44252" y="97400"/>
                </a:lnTo>
                <a:cubicBezTo>
                  <a:pt x="40217" y="96308"/>
                  <a:pt x="37538" y="92538"/>
                  <a:pt x="37802" y="88404"/>
                </a:cubicBezTo>
                <a:lnTo>
                  <a:pt x="38695" y="74546"/>
                </a:lnTo>
                <a:cubicBezTo>
                  <a:pt x="35950" y="72430"/>
                  <a:pt x="33536" y="69982"/>
                  <a:pt x="31452" y="67270"/>
                </a:cubicBezTo>
                <a:lnTo>
                  <a:pt x="17562" y="68163"/>
                </a:lnTo>
                <a:cubicBezTo>
                  <a:pt x="13428" y="68428"/>
                  <a:pt x="9657" y="65716"/>
                  <a:pt x="8566" y="61714"/>
                </a:cubicBezTo>
                <a:lnTo>
                  <a:pt x="6251" y="53049"/>
                </a:lnTo>
                <a:cubicBezTo>
                  <a:pt x="5192" y="49047"/>
                  <a:pt x="7078" y="44814"/>
                  <a:pt x="10815" y="42962"/>
                </a:cubicBezTo>
                <a:lnTo>
                  <a:pt x="23283" y="36810"/>
                </a:lnTo>
                <a:cubicBezTo>
                  <a:pt x="23515" y="35123"/>
                  <a:pt x="23846" y="33470"/>
                  <a:pt x="24276" y="31783"/>
                </a:cubicBezTo>
                <a:cubicBezTo>
                  <a:pt x="24739" y="30096"/>
                  <a:pt x="25268" y="28476"/>
                  <a:pt x="25929" y="26921"/>
                </a:cubicBezTo>
                <a:lnTo>
                  <a:pt x="18223" y="15379"/>
                </a:lnTo>
                <a:cubicBezTo>
                  <a:pt x="15908" y="11906"/>
                  <a:pt x="16371" y="7309"/>
                  <a:pt x="19315" y="4366"/>
                </a:cubicBezTo>
                <a:lnTo>
                  <a:pt x="25665" y="-1984"/>
                </a:lnTo>
                <a:cubicBezTo>
                  <a:pt x="28608" y="-4928"/>
                  <a:pt x="33205" y="-5391"/>
                  <a:pt x="36678" y="-3076"/>
                </a:cubicBezTo>
                <a:lnTo>
                  <a:pt x="48253" y="4630"/>
                </a:lnTo>
                <a:cubicBezTo>
                  <a:pt x="51395" y="3340"/>
                  <a:pt x="54736" y="2414"/>
                  <a:pt x="58142" y="1951"/>
                </a:cubicBezTo>
                <a:lnTo>
                  <a:pt x="64294" y="-10484"/>
                </a:lnTo>
                <a:cubicBezTo>
                  <a:pt x="66146" y="-14221"/>
                  <a:pt x="70346" y="-16107"/>
                  <a:pt x="74381" y="-15048"/>
                </a:cubicBezTo>
                <a:close/>
                <a:moveTo>
                  <a:pt x="63632" y="27781"/>
                </a:moveTo>
                <a:cubicBezTo>
                  <a:pt x="55601" y="27781"/>
                  <a:pt x="49080" y="34302"/>
                  <a:pt x="49080" y="42333"/>
                </a:cubicBezTo>
                <a:cubicBezTo>
                  <a:pt x="49080" y="50365"/>
                  <a:pt x="55601" y="56885"/>
                  <a:pt x="63632" y="56885"/>
                </a:cubicBezTo>
                <a:cubicBezTo>
                  <a:pt x="71664" y="56885"/>
                  <a:pt x="78184" y="50365"/>
                  <a:pt x="78184" y="42333"/>
                </a:cubicBezTo>
                <a:cubicBezTo>
                  <a:pt x="78184" y="34302"/>
                  <a:pt x="71664" y="27781"/>
                  <a:pt x="63632" y="2778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195917" y="3195105"/>
            <a:ext cx="7196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传统</a:t>
            </a:r>
            <a:r>
              <a:rPr lang="en-US" sz="16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AI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932083" y="3173939"/>
            <a:ext cx="889000" cy="338667"/>
          </a:xfrm>
          <a:custGeom>
            <a:avLst/>
            <a:gdLst/>
            <a:ahLst/>
            <a:cxnLst/>
            <a:rect l="l" t="t" r="r" b="b"/>
            <a:pathLst>
              <a:path w="889000" h="338667">
                <a:moveTo>
                  <a:pt x="169333" y="0"/>
                </a:moveTo>
                <a:lnTo>
                  <a:pt x="719667" y="0"/>
                </a:lnTo>
                <a:cubicBezTo>
                  <a:pt x="813187" y="0"/>
                  <a:pt x="889000" y="75813"/>
                  <a:pt x="889000" y="169333"/>
                </a:cubicBezTo>
                <a:lnTo>
                  <a:pt x="889000" y="169333"/>
                </a:lnTo>
                <a:cubicBezTo>
                  <a:pt x="889000" y="262854"/>
                  <a:pt x="813187" y="338667"/>
                  <a:pt x="719667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059083" y="3274480"/>
            <a:ext cx="6985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本课程重点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6750" y="3681939"/>
            <a:ext cx="7154333" cy="1566333"/>
          </a:xfrm>
          <a:custGeom>
            <a:avLst/>
            <a:gdLst/>
            <a:ahLst/>
            <a:cxnLst/>
            <a:rect l="l" t="t" r="r" b="b"/>
            <a:pathLst>
              <a:path w="7154333" h="1566333">
                <a:moveTo>
                  <a:pt x="42333" y="0"/>
                </a:moveTo>
                <a:lnTo>
                  <a:pt x="7069673" y="0"/>
                </a:lnTo>
                <a:cubicBezTo>
                  <a:pt x="7116430" y="0"/>
                  <a:pt x="7154333" y="37904"/>
                  <a:pt x="7154333" y="84660"/>
                </a:cubicBezTo>
                <a:lnTo>
                  <a:pt x="7154333" y="1481673"/>
                </a:lnTo>
                <a:cubicBezTo>
                  <a:pt x="7154333" y="1528430"/>
                  <a:pt x="7116430" y="1566333"/>
                  <a:pt x="7069673" y="1566333"/>
                </a:cubicBezTo>
                <a:lnTo>
                  <a:pt x="42333" y="1566333"/>
                </a:lnTo>
                <a:cubicBezTo>
                  <a:pt x="18953" y="1566333"/>
                  <a:pt x="0" y="1547380"/>
                  <a:pt x="0" y="1524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66750" y="3681939"/>
            <a:ext cx="42333" cy="1566333"/>
          </a:xfrm>
          <a:custGeom>
            <a:avLst/>
            <a:gdLst/>
            <a:ahLst/>
            <a:cxnLst/>
            <a:rect l="l" t="t" r="r" b="b"/>
            <a:pathLst>
              <a:path w="42333" h="1566333">
                <a:moveTo>
                  <a:pt x="42333" y="0"/>
                </a:moveTo>
                <a:lnTo>
                  <a:pt x="42333" y="0"/>
                </a:lnTo>
                <a:lnTo>
                  <a:pt x="42333" y="1566333"/>
                </a:lnTo>
                <a:lnTo>
                  <a:pt x="42333" y="1566333"/>
                </a:lnTo>
                <a:cubicBezTo>
                  <a:pt x="18953" y="1566333"/>
                  <a:pt x="0" y="1547380"/>
                  <a:pt x="0" y="1524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14917" y="3808939"/>
            <a:ext cx="6963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核心特点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4917" y="4147605"/>
            <a:ext cx="6953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侧重特定任务的算法设计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4917" y="4401605"/>
            <a:ext cx="6953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依赖手工特征工程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4917" y="4655605"/>
            <a:ext cx="6953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模型规模相对较小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4917" y="4909605"/>
            <a:ext cx="6953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可解释性强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5583" y="5332939"/>
            <a:ext cx="7175500" cy="1566333"/>
          </a:xfrm>
          <a:custGeom>
            <a:avLst/>
            <a:gdLst/>
            <a:ahLst/>
            <a:cxnLst/>
            <a:rect l="l" t="t" r="r" b="b"/>
            <a:pathLst>
              <a:path w="7175500" h="1566333">
                <a:moveTo>
                  <a:pt x="84660" y="0"/>
                </a:moveTo>
                <a:lnTo>
                  <a:pt x="7090840" y="0"/>
                </a:lnTo>
                <a:cubicBezTo>
                  <a:pt x="7137596" y="0"/>
                  <a:pt x="7175500" y="37904"/>
                  <a:pt x="7175500" y="84660"/>
                </a:cubicBezTo>
                <a:lnTo>
                  <a:pt x="7175500" y="1481673"/>
                </a:lnTo>
                <a:cubicBezTo>
                  <a:pt x="7175500" y="1528430"/>
                  <a:pt x="7137596" y="1566333"/>
                  <a:pt x="7090840" y="1566333"/>
                </a:cubicBezTo>
                <a:lnTo>
                  <a:pt x="84660" y="1566333"/>
                </a:lnTo>
                <a:cubicBezTo>
                  <a:pt x="37904" y="1566333"/>
                  <a:pt x="0" y="1528430"/>
                  <a:pt x="0" y="1481673"/>
                </a:cubicBezTo>
                <a:lnTo>
                  <a:pt x="0" y="84660"/>
                </a:lnTo>
                <a:cubicBezTo>
                  <a:pt x="0" y="37935"/>
                  <a:pt x="37935" y="0"/>
                  <a:pt x="8466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772583" y="5459939"/>
            <a:ext cx="7006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2583" y="5798605"/>
            <a:ext cx="6995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表格型数据（</a:t>
            </a:r>
            <a:r>
              <a:rPr lang="en-US" sz="1167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Tabular Data</a:t>
            </a: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）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72583" y="6052605"/>
            <a:ext cx="6995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金融风控、信用评分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2583" y="6306605"/>
            <a:ext cx="6995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医疗诊断、工业质检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72583" y="6560605"/>
            <a:ext cx="6995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需要严格解释性的场景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66750" y="6983939"/>
            <a:ext cx="7154333" cy="762000"/>
          </a:xfrm>
          <a:custGeom>
            <a:avLst/>
            <a:gdLst/>
            <a:ahLst/>
            <a:cxnLst/>
            <a:rect l="l" t="t" r="r" b="b"/>
            <a:pathLst>
              <a:path w="7154333" h="762000">
                <a:moveTo>
                  <a:pt x="42333" y="0"/>
                </a:moveTo>
                <a:lnTo>
                  <a:pt x="7069668" y="0"/>
                </a:lnTo>
                <a:cubicBezTo>
                  <a:pt x="7116427" y="0"/>
                  <a:pt x="7154333" y="37906"/>
                  <a:pt x="7154333" y="84666"/>
                </a:cubicBezTo>
                <a:lnTo>
                  <a:pt x="7154333" y="677334"/>
                </a:lnTo>
                <a:cubicBezTo>
                  <a:pt x="7154333" y="724094"/>
                  <a:pt x="7116427" y="762000"/>
                  <a:pt x="7069668" y="762000"/>
                </a:cubicBezTo>
                <a:lnTo>
                  <a:pt x="42333" y="762000"/>
                </a:lnTo>
                <a:cubicBezTo>
                  <a:pt x="18953" y="762000"/>
                  <a:pt x="0" y="743047"/>
                  <a:pt x="0" y="719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666750" y="6983939"/>
            <a:ext cx="42333" cy="762000"/>
          </a:xfrm>
          <a:custGeom>
            <a:avLst/>
            <a:gdLst/>
            <a:ahLst/>
            <a:cxnLst/>
            <a:rect l="l" t="t" r="r" b="b"/>
            <a:pathLst>
              <a:path w="42333" h="762000">
                <a:moveTo>
                  <a:pt x="42333" y="0"/>
                </a:moveTo>
                <a:lnTo>
                  <a:pt x="42333" y="0"/>
                </a:lnTo>
                <a:lnTo>
                  <a:pt x="42333" y="762000"/>
                </a:lnTo>
                <a:lnTo>
                  <a:pt x="42333" y="762000"/>
                </a:lnTo>
                <a:cubicBezTo>
                  <a:pt x="18953" y="762000"/>
                  <a:pt x="0" y="743047"/>
                  <a:pt x="0" y="719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14917" y="7110939"/>
            <a:ext cx="6963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代表算法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14917" y="7407272"/>
            <a:ext cx="6953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逻辑回归、决策树、随机森林、SVM、K-Means等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17958" y="2914647"/>
            <a:ext cx="7609417" cy="4990042"/>
          </a:xfrm>
          <a:custGeom>
            <a:avLst/>
            <a:gdLst/>
            <a:ahLst/>
            <a:cxnLst/>
            <a:rect l="l" t="t" r="r" b="b"/>
            <a:pathLst>
              <a:path w="7609417" h="6508750">
                <a:moveTo>
                  <a:pt x="126986" y="0"/>
                </a:moveTo>
                <a:lnTo>
                  <a:pt x="7482431" y="0"/>
                </a:lnTo>
                <a:cubicBezTo>
                  <a:pt x="7552516" y="0"/>
                  <a:pt x="7609417" y="56900"/>
                  <a:pt x="7609417" y="126986"/>
                </a:cubicBezTo>
                <a:lnTo>
                  <a:pt x="7609417" y="6381764"/>
                </a:lnTo>
                <a:cubicBezTo>
                  <a:pt x="7609417" y="6451897"/>
                  <a:pt x="7552563" y="6508750"/>
                  <a:pt x="7482431" y="6508750"/>
                </a:cubicBezTo>
                <a:lnTo>
                  <a:pt x="126986" y="6508750"/>
                </a:lnTo>
                <a:cubicBezTo>
                  <a:pt x="56853" y="6508750"/>
                  <a:pt x="0" y="6451897"/>
                  <a:pt x="0" y="6381764"/>
                </a:cubicBezTo>
                <a:lnTo>
                  <a:pt x="0" y="126986"/>
                </a:lnTo>
                <a:cubicBezTo>
                  <a:pt x="0" y="56853"/>
                  <a:pt x="56853" y="0"/>
                  <a:pt x="126986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6ED3CF">
                  <a:alpha val="5000"/>
                </a:srgbClr>
              </a:gs>
            </a:gsLst>
            <a:lin ang="2700000" scaled="1"/>
          </a:gradFill>
          <a:ln w="12700">
            <a:solidFill>
              <a:srgbClr val="6ED3C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434917" y="3131605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84667" y="0"/>
                </a:moveTo>
                <a:lnTo>
                  <a:pt x="338667" y="0"/>
                </a:lnTo>
                <a:cubicBezTo>
                  <a:pt x="385427" y="0"/>
                  <a:pt x="423333" y="37907"/>
                  <a:pt x="423333" y="84667"/>
                </a:cubicBezTo>
                <a:lnTo>
                  <a:pt x="423333" y="338667"/>
                </a:lnTo>
                <a:cubicBezTo>
                  <a:pt x="423333" y="385427"/>
                  <a:pt x="385427" y="423333"/>
                  <a:pt x="338667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561917" y="3258605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39688" y="18521"/>
                </a:moveTo>
                <a:cubicBezTo>
                  <a:pt x="39688" y="8301"/>
                  <a:pt x="47989" y="0"/>
                  <a:pt x="58208" y="0"/>
                </a:cubicBezTo>
                <a:lnTo>
                  <a:pt x="66146" y="0"/>
                </a:lnTo>
                <a:cubicBezTo>
                  <a:pt x="72000" y="0"/>
                  <a:pt x="76729" y="4729"/>
                  <a:pt x="76729" y="10583"/>
                </a:cubicBezTo>
                <a:lnTo>
                  <a:pt x="76729" y="158750"/>
                </a:lnTo>
                <a:cubicBezTo>
                  <a:pt x="76729" y="164604"/>
                  <a:pt x="72000" y="169333"/>
                  <a:pt x="66146" y="169333"/>
                </a:cubicBezTo>
                <a:lnTo>
                  <a:pt x="55563" y="169333"/>
                </a:lnTo>
                <a:cubicBezTo>
                  <a:pt x="45707" y="169333"/>
                  <a:pt x="37405" y="162586"/>
                  <a:pt x="35057" y="153458"/>
                </a:cubicBezTo>
                <a:cubicBezTo>
                  <a:pt x="34826" y="153458"/>
                  <a:pt x="34627" y="153458"/>
                  <a:pt x="34396" y="153458"/>
                </a:cubicBezTo>
                <a:cubicBezTo>
                  <a:pt x="19778" y="153458"/>
                  <a:pt x="7938" y="141618"/>
                  <a:pt x="7938" y="127000"/>
                </a:cubicBezTo>
                <a:cubicBezTo>
                  <a:pt x="7938" y="121047"/>
                  <a:pt x="9922" y="115557"/>
                  <a:pt x="13229" y="111125"/>
                </a:cubicBezTo>
                <a:cubicBezTo>
                  <a:pt x="6813" y="106296"/>
                  <a:pt x="2646" y="98623"/>
                  <a:pt x="2646" y="89958"/>
                </a:cubicBezTo>
                <a:cubicBezTo>
                  <a:pt x="2646" y="79739"/>
                  <a:pt x="8467" y="70842"/>
                  <a:pt x="16933" y="66443"/>
                </a:cubicBezTo>
                <a:cubicBezTo>
                  <a:pt x="14585" y="62475"/>
                  <a:pt x="13229" y="57845"/>
                  <a:pt x="13229" y="52917"/>
                </a:cubicBezTo>
                <a:cubicBezTo>
                  <a:pt x="13229" y="38298"/>
                  <a:pt x="25069" y="26458"/>
                  <a:pt x="39688" y="26458"/>
                </a:cubicBezTo>
                <a:lnTo>
                  <a:pt x="39688" y="18521"/>
                </a:lnTo>
                <a:close/>
                <a:moveTo>
                  <a:pt x="129646" y="18521"/>
                </a:moveTo>
                <a:lnTo>
                  <a:pt x="129646" y="26458"/>
                </a:lnTo>
                <a:cubicBezTo>
                  <a:pt x="144264" y="26458"/>
                  <a:pt x="156104" y="38298"/>
                  <a:pt x="156104" y="52917"/>
                </a:cubicBezTo>
                <a:cubicBezTo>
                  <a:pt x="156104" y="57878"/>
                  <a:pt x="154748" y="62508"/>
                  <a:pt x="152400" y="66443"/>
                </a:cubicBezTo>
                <a:cubicBezTo>
                  <a:pt x="160900" y="70842"/>
                  <a:pt x="166688" y="79706"/>
                  <a:pt x="166688" y="89958"/>
                </a:cubicBezTo>
                <a:cubicBezTo>
                  <a:pt x="166688" y="98623"/>
                  <a:pt x="162520" y="106296"/>
                  <a:pt x="156104" y="111125"/>
                </a:cubicBezTo>
                <a:cubicBezTo>
                  <a:pt x="159411" y="115557"/>
                  <a:pt x="161396" y="121047"/>
                  <a:pt x="161396" y="127000"/>
                </a:cubicBezTo>
                <a:cubicBezTo>
                  <a:pt x="161396" y="141618"/>
                  <a:pt x="149556" y="153458"/>
                  <a:pt x="134938" y="153458"/>
                </a:cubicBezTo>
                <a:cubicBezTo>
                  <a:pt x="134706" y="153458"/>
                  <a:pt x="134508" y="153458"/>
                  <a:pt x="134276" y="153458"/>
                </a:cubicBezTo>
                <a:cubicBezTo>
                  <a:pt x="131928" y="162586"/>
                  <a:pt x="123627" y="169333"/>
                  <a:pt x="113771" y="169333"/>
                </a:cubicBezTo>
                <a:lnTo>
                  <a:pt x="103188" y="169333"/>
                </a:lnTo>
                <a:cubicBezTo>
                  <a:pt x="97334" y="169333"/>
                  <a:pt x="92604" y="164604"/>
                  <a:pt x="92604" y="158750"/>
                </a:cubicBezTo>
                <a:lnTo>
                  <a:pt x="92604" y="10583"/>
                </a:lnTo>
                <a:cubicBezTo>
                  <a:pt x="92604" y="4729"/>
                  <a:pt x="97334" y="0"/>
                  <a:pt x="103188" y="0"/>
                </a:cubicBezTo>
                <a:lnTo>
                  <a:pt x="111125" y="0"/>
                </a:lnTo>
                <a:cubicBezTo>
                  <a:pt x="121345" y="0"/>
                  <a:pt x="129646" y="8301"/>
                  <a:pt x="129646" y="18521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985250" y="3195105"/>
            <a:ext cx="7408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大模型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4848417" y="3173939"/>
            <a:ext cx="762000" cy="338667"/>
          </a:xfrm>
          <a:custGeom>
            <a:avLst/>
            <a:gdLst/>
            <a:ahLst/>
            <a:cxnLst/>
            <a:rect l="l" t="t" r="r" b="b"/>
            <a:pathLst>
              <a:path w="762000" h="338667">
                <a:moveTo>
                  <a:pt x="169333" y="0"/>
                </a:moveTo>
                <a:lnTo>
                  <a:pt x="592667" y="0"/>
                </a:lnTo>
                <a:cubicBezTo>
                  <a:pt x="686187" y="0"/>
                  <a:pt x="762000" y="75813"/>
                  <a:pt x="762000" y="169333"/>
                </a:cubicBezTo>
                <a:lnTo>
                  <a:pt x="762000" y="169333"/>
                </a:lnTo>
                <a:cubicBezTo>
                  <a:pt x="762000" y="262854"/>
                  <a:pt x="686187" y="338667"/>
                  <a:pt x="592667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4975417" y="3274480"/>
            <a:ext cx="5715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5F87A7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前沿技术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456083" y="3681939"/>
            <a:ext cx="7154333" cy="1566333"/>
          </a:xfrm>
          <a:custGeom>
            <a:avLst/>
            <a:gdLst/>
            <a:ahLst/>
            <a:cxnLst/>
            <a:rect l="l" t="t" r="r" b="b"/>
            <a:pathLst>
              <a:path w="7154333" h="1566333">
                <a:moveTo>
                  <a:pt x="42333" y="0"/>
                </a:moveTo>
                <a:lnTo>
                  <a:pt x="7069673" y="0"/>
                </a:lnTo>
                <a:cubicBezTo>
                  <a:pt x="7116430" y="0"/>
                  <a:pt x="7154333" y="37904"/>
                  <a:pt x="7154333" y="84660"/>
                </a:cubicBezTo>
                <a:lnTo>
                  <a:pt x="7154333" y="1481673"/>
                </a:lnTo>
                <a:cubicBezTo>
                  <a:pt x="7154333" y="1528430"/>
                  <a:pt x="7116430" y="1566333"/>
                  <a:pt x="7069673" y="1566333"/>
                </a:cubicBezTo>
                <a:lnTo>
                  <a:pt x="42333" y="1566333"/>
                </a:lnTo>
                <a:cubicBezTo>
                  <a:pt x="18953" y="1566333"/>
                  <a:pt x="0" y="1547380"/>
                  <a:pt x="0" y="1524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8456083" y="3681939"/>
            <a:ext cx="42333" cy="1566333"/>
          </a:xfrm>
          <a:custGeom>
            <a:avLst/>
            <a:gdLst/>
            <a:ahLst/>
            <a:cxnLst/>
            <a:rect l="l" t="t" r="r" b="b"/>
            <a:pathLst>
              <a:path w="42333" h="1566333">
                <a:moveTo>
                  <a:pt x="42333" y="0"/>
                </a:moveTo>
                <a:lnTo>
                  <a:pt x="42333" y="0"/>
                </a:lnTo>
                <a:lnTo>
                  <a:pt x="42333" y="1566333"/>
                </a:lnTo>
                <a:lnTo>
                  <a:pt x="42333" y="1566333"/>
                </a:lnTo>
                <a:cubicBezTo>
                  <a:pt x="18953" y="1566333"/>
                  <a:pt x="0" y="1547380"/>
                  <a:pt x="0" y="1524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8604250" y="3808939"/>
            <a:ext cx="6963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核心特点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604250" y="4147605"/>
            <a:ext cx="6953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通用能力强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604250" y="4401605"/>
            <a:ext cx="6953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自动学习特征表示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604250" y="4655605"/>
            <a:ext cx="6953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参数量巨大（</a:t>
            </a:r>
            <a:r>
              <a:rPr lang="en-US" sz="1167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Billion</a:t>
            </a: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级）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604250" y="4909605"/>
            <a:ext cx="6953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支持零样本/少样本学习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434917" y="5332939"/>
            <a:ext cx="7175500" cy="1566333"/>
          </a:xfrm>
          <a:custGeom>
            <a:avLst/>
            <a:gdLst/>
            <a:ahLst/>
            <a:cxnLst/>
            <a:rect l="l" t="t" r="r" b="b"/>
            <a:pathLst>
              <a:path w="7175500" h="1566333">
                <a:moveTo>
                  <a:pt x="84660" y="0"/>
                </a:moveTo>
                <a:lnTo>
                  <a:pt x="7090840" y="0"/>
                </a:lnTo>
                <a:cubicBezTo>
                  <a:pt x="7137596" y="0"/>
                  <a:pt x="7175500" y="37904"/>
                  <a:pt x="7175500" y="84660"/>
                </a:cubicBezTo>
                <a:lnTo>
                  <a:pt x="7175500" y="1481673"/>
                </a:lnTo>
                <a:cubicBezTo>
                  <a:pt x="7175500" y="1528430"/>
                  <a:pt x="7137596" y="1566333"/>
                  <a:pt x="7090840" y="1566333"/>
                </a:cubicBezTo>
                <a:lnTo>
                  <a:pt x="84660" y="1566333"/>
                </a:lnTo>
                <a:cubicBezTo>
                  <a:pt x="37904" y="1566333"/>
                  <a:pt x="0" y="1528430"/>
                  <a:pt x="0" y="1481673"/>
                </a:cubicBezTo>
                <a:lnTo>
                  <a:pt x="0" y="84660"/>
                </a:lnTo>
                <a:cubicBezTo>
                  <a:pt x="0" y="37935"/>
                  <a:pt x="37935" y="0"/>
                  <a:pt x="8466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561917" y="5459939"/>
            <a:ext cx="7006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561917" y="5798605"/>
            <a:ext cx="6995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自然语言处理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561917" y="6052605"/>
            <a:ext cx="6995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内容生成与创作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561917" y="6306605"/>
            <a:ext cx="6995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对话系统与问答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561917" y="6560605"/>
            <a:ext cx="6995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代码生成与辅助编程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456083" y="6983939"/>
            <a:ext cx="7154333" cy="762000"/>
          </a:xfrm>
          <a:custGeom>
            <a:avLst/>
            <a:gdLst/>
            <a:ahLst/>
            <a:cxnLst/>
            <a:rect l="l" t="t" r="r" b="b"/>
            <a:pathLst>
              <a:path w="7154333" h="762000">
                <a:moveTo>
                  <a:pt x="42333" y="0"/>
                </a:moveTo>
                <a:lnTo>
                  <a:pt x="7069668" y="0"/>
                </a:lnTo>
                <a:cubicBezTo>
                  <a:pt x="7116427" y="0"/>
                  <a:pt x="7154333" y="37906"/>
                  <a:pt x="7154333" y="84666"/>
                </a:cubicBezTo>
                <a:lnTo>
                  <a:pt x="7154333" y="677334"/>
                </a:lnTo>
                <a:cubicBezTo>
                  <a:pt x="7154333" y="724094"/>
                  <a:pt x="7116427" y="762000"/>
                  <a:pt x="7069668" y="762000"/>
                </a:cubicBezTo>
                <a:lnTo>
                  <a:pt x="42333" y="762000"/>
                </a:lnTo>
                <a:cubicBezTo>
                  <a:pt x="18953" y="762000"/>
                  <a:pt x="0" y="743047"/>
                  <a:pt x="0" y="719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8456083" y="6983939"/>
            <a:ext cx="42333" cy="762000"/>
          </a:xfrm>
          <a:custGeom>
            <a:avLst/>
            <a:gdLst/>
            <a:ahLst/>
            <a:cxnLst/>
            <a:rect l="l" t="t" r="r" b="b"/>
            <a:pathLst>
              <a:path w="42333" h="762000">
                <a:moveTo>
                  <a:pt x="42333" y="0"/>
                </a:moveTo>
                <a:lnTo>
                  <a:pt x="42333" y="0"/>
                </a:lnTo>
                <a:lnTo>
                  <a:pt x="42333" y="762000"/>
                </a:lnTo>
                <a:lnTo>
                  <a:pt x="42333" y="762000"/>
                </a:lnTo>
                <a:cubicBezTo>
                  <a:pt x="18953" y="762000"/>
                  <a:pt x="0" y="743047"/>
                  <a:pt x="0" y="719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8604250" y="7110939"/>
            <a:ext cx="6963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代表模型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604250" y="7407272"/>
            <a:ext cx="6953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G</a:t>
            </a:r>
            <a:r>
              <a:rPr lang="en-US" sz="1167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PT-4, LLaMA, Claude, Gemini</a:t>
            </a:r>
            <a:r>
              <a:rPr lang="en-US" sz="1167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等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44500" y="7984053"/>
            <a:ext cx="15388167" cy="952500"/>
          </a:xfrm>
          <a:custGeom>
            <a:avLst/>
            <a:gdLst/>
            <a:ahLst/>
            <a:cxnLst/>
            <a:rect l="l" t="t" r="r" b="b"/>
            <a:pathLst>
              <a:path w="15388167" h="952500">
                <a:moveTo>
                  <a:pt x="42333" y="0"/>
                </a:moveTo>
                <a:lnTo>
                  <a:pt x="15303499" y="0"/>
                </a:lnTo>
                <a:cubicBezTo>
                  <a:pt x="15350260" y="0"/>
                  <a:pt x="15388167" y="37907"/>
                  <a:pt x="15388167" y="84668"/>
                </a:cubicBezTo>
                <a:lnTo>
                  <a:pt x="15388167" y="867832"/>
                </a:lnTo>
                <a:cubicBezTo>
                  <a:pt x="15388167" y="914593"/>
                  <a:pt x="15350260" y="952500"/>
                  <a:pt x="15303499" y="952500"/>
                </a:cubicBezTo>
                <a:lnTo>
                  <a:pt x="42333" y="952500"/>
                </a:lnTo>
                <a:cubicBezTo>
                  <a:pt x="18953" y="952500"/>
                  <a:pt x="0" y="933547"/>
                  <a:pt x="0" y="9101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444500" y="7984053"/>
            <a:ext cx="42333" cy="952500"/>
          </a:xfrm>
          <a:custGeom>
            <a:avLst/>
            <a:gdLst/>
            <a:ahLst/>
            <a:cxnLst/>
            <a:rect l="l" t="t" r="r" b="b"/>
            <a:pathLst>
              <a:path w="42333" h="952500">
                <a:moveTo>
                  <a:pt x="42333" y="0"/>
                </a:moveTo>
                <a:lnTo>
                  <a:pt x="42333" y="0"/>
                </a:lnTo>
                <a:lnTo>
                  <a:pt x="42333" y="952500"/>
                </a:lnTo>
                <a:lnTo>
                  <a:pt x="42333" y="952500"/>
                </a:lnTo>
                <a:cubicBezTo>
                  <a:pt x="18953" y="952500"/>
                  <a:pt x="0" y="933547"/>
                  <a:pt x="0" y="9101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648229" y="8153386"/>
            <a:ext cx="238125" cy="211667"/>
          </a:xfrm>
          <a:custGeom>
            <a:avLst/>
            <a:gdLst/>
            <a:ahLst/>
            <a:cxnLst/>
            <a:rect l="l" t="t" r="r" b="b"/>
            <a:pathLst>
              <a:path w="238125" h="211667">
                <a:moveTo>
                  <a:pt x="173426" y="39688"/>
                </a:moveTo>
                <a:cubicBezTo>
                  <a:pt x="166563" y="39688"/>
                  <a:pt x="159908" y="41548"/>
                  <a:pt x="154078" y="44938"/>
                </a:cubicBezTo>
                <a:cubicBezTo>
                  <a:pt x="147547" y="38323"/>
                  <a:pt x="139940" y="32784"/>
                  <a:pt x="131548" y="28608"/>
                </a:cubicBezTo>
                <a:cubicBezTo>
                  <a:pt x="143206" y="18686"/>
                  <a:pt x="158047" y="13229"/>
                  <a:pt x="173426" y="13229"/>
                </a:cubicBezTo>
                <a:cubicBezTo>
                  <a:pt x="209145" y="13229"/>
                  <a:pt x="238125" y="42168"/>
                  <a:pt x="238125" y="77928"/>
                </a:cubicBezTo>
                <a:cubicBezTo>
                  <a:pt x="238125" y="95085"/>
                  <a:pt x="231304" y="111538"/>
                  <a:pt x="219191" y="123651"/>
                </a:cubicBezTo>
                <a:lnTo>
                  <a:pt x="189797" y="153045"/>
                </a:lnTo>
                <a:cubicBezTo>
                  <a:pt x="177684" y="165158"/>
                  <a:pt x="161230" y="171979"/>
                  <a:pt x="144074" y="171979"/>
                </a:cubicBezTo>
                <a:cubicBezTo>
                  <a:pt x="108355" y="171979"/>
                  <a:pt x="79375" y="143040"/>
                  <a:pt x="79375" y="107280"/>
                </a:cubicBezTo>
                <a:cubicBezTo>
                  <a:pt x="79375" y="106660"/>
                  <a:pt x="79375" y="106040"/>
                  <a:pt x="79416" y="105420"/>
                </a:cubicBezTo>
                <a:cubicBezTo>
                  <a:pt x="79623" y="98103"/>
                  <a:pt x="85700" y="92356"/>
                  <a:pt x="93018" y="92563"/>
                </a:cubicBezTo>
                <a:cubicBezTo>
                  <a:pt x="100335" y="92770"/>
                  <a:pt x="106081" y="98847"/>
                  <a:pt x="105875" y="106164"/>
                </a:cubicBezTo>
                <a:cubicBezTo>
                  <a:pt x="105875" y="106536"/>
                  <a:pt x="105875" y="106908"/>
                  <a:pt x="105875" y="107239"/>
                </a:cubicBezTo>
                <a:cubicBezTo>
                  <a:pt x="105875" y="128364"/>
                  <a:pt x="122990" y="145479"/>
                  <a:pt x="144115" y="145479"/>
                </a:cubicBezTo>
                <a:cubicBezTo>
                  <a:pt x="154244" y="145479"/>
                  <a:pt x="163959" y="141469"/>
                  <a:pt x="171152" y="134276"/>
                </a:cubicBezTo>
                <a:lnTo>
                  <a:pt x="200546" y="104882"/>
                </a:lnTo>
                <a:cubicBezTo>
                  <a:pt x="207698" y="97730"/>
                  <a:pt x="211749" y="87974"/>
                  <a:pt x="211749" y="77845"/>
                </a:cubicBezTo>
                <a:cubicBezTo>
                  <a:pt x="211749" y="56720"/>
                  <a:pt x="194634" y="39605"/>
                  <a:pt x="173509" y="39605"/>
                </a:cubicBezTo>
                <a:close/>
                <a:moveTo>
                  <a:pt x="113771" y="71644"/>
                </a:moveTo>
                <a:cubicBezTo>
                  <a:pt x="112985" y="71313"/>
                  <a:pt x="112200" y="70859"/>
                  <a:pt x="111497" y="70363"/>
                </a:cubicBezTo>
                <a:cubicBezTo>
                  <a:pt x="106288" y="67675"/>
                  <a:pt x="100335" y="66146"/>
                  <a:pt x="94092" y="66146"/>
                </a:cubicBezTo>
                <a:cubicBezTo>
                  <a:pt x="83964" y="66146"/>
                  <a:pt x="74249" y="70156"/>
                  <a:pt x="67055" y="77349"/>
                </a:cubicBezTo>
                <a:lnTo>
                  <a:pt x="37662" y="106743"/>
                </a:lnTo>
                <a:cubicBezTo>
                  <a:pt x="30510" y="113895"/>
                  <a:pt x="26458" y="123651"/>
                  <a:pt x="26458" y="133780"/>
                </a:cubicBezTo>
                <a:cubicBezTo>
                  <a:pt x="26458" y="154905"/>
                  <a:pt x="43574" y="172021"/>
                  <a:pt x="64699" y="172021"/>
                </a:cubicBezTo>
                <a:cubicBezTo>
                  <a:pt x="71520" y="172021"/>
                  <a:pt x="78176" y="170201"/>
                  <a:pt x="84005" y="166812"/>
                </a:cubicBezTo>
                <a:cubicBezTo>
                  <a:pt x="90537" y="173426"/>
                  <a:pt x="98144" y="178966"/>
                  <a:pt x="106577" y="183141"/>
                </a:cubicBezTo>
                <a:cubicBezTo>
                  <a:pt x="94919" y="193022"/>
                  <a:pt x="80119" y="198520"/>
                  <a:pt x="64699" y="198520"/>
                </a:cubicBezTo>
                <a:cubicBezTo>
                  <a:pt x="28980" y="198520"/>
                  <a:pt x="0" y="169581"/>
                  <a:pt x="0" y="133821"/>
                </a:cubicBezTo>
                <a:cubicBezTo>
                  <a:pt x="0" y="116665"/>
                  <a:pt x="6821" y="100211"/>
                  <a:pt x="18934" y="88098"/>
                </a:cubicBezTo>
                <a:lnTo>
                  <a:pt x="48328" y="58704"/>
                </a:lnTo>
                <a:cubicBezTo>
                  <a:pt x="60441" y="46591"/>
                  <a:pt x="76895" y="39770"/>
                  <a:pt x="94051" y="39770"/>
                </a:cubicBezTo>
                <a:cubicBezTo>
                  <a:pt x="129853" y="39770"/>
                  <a:pt x="158750" y="68957"/>
                  <a:pt x="158750" y="104634"/>
                </a:cubicBezTo>
                <a:cubicBezTo>
                  <a:pt x="158750" y="105172"/>
                  <a:pt x="158750" y="105709"/>
                  <a:pt x="158750" y="106247"/>
                </a:cubicBezTo>
                <a:cubicBezTo>
                  <a:pt x="158585" y="113564"/>
                  <a:pt x="152507" y="119311"/>
                  <a:pt x="145190" y="119145"/>
                </a:cubicBezTo>
                <a:cubicBezTo>
                  <a:pt x="137873" y="118980"/>
                  <a:pt x="132126" y="112903"/>
                  <a:pt x="132292" y="105585"/>
                </a:cubicBezTo>
                <a:cubicBezTo>
                  <a:pt x="132292" y="105255"/>
                  <a:pt x="132292" y="104965"/>
                  <a:pt x="132292" y="104634"/>
                </a:cubicBezTo>
                <a:cubicBezTo>
                  <a:pt x="132292" y="90702"/>
                  <a:pt x="124850" y="78465"/>
                  <a:pt x="113771" y="71727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 anchor="t"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1026583" y="8153386"/>
            <a:ext cx="118639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底层联系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026583" y="8492053"/>
            <a:ext cx="118533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大模型并非完全脱离传统AI，其底层依然依赖</a:t>
            </a:r>
            <a:r>
              <a:rPr lang="en-US" sz="133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深度学习</a:t>
            </a: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（Ch-14）和</a:t>
            </a:r>
            <a:r>
              <a:rPr lang="en-US" sz="1333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Embedding</a:t>
            </a:r>
            <a:r>
              <a:rPr lang="en-US" sz="133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（Ch-12）等概念。理解传统机器学习原理，有助于更好地理解和使用大模型。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3966" y="463966"/>
            <a:ext cx="2485942" cy="378047"/>
          </a:xfrm>
          <a:custGeom>
            <a:avLst/>
            <a:gdLst/>
            <a:ahLst/>
            <a:cxnLst/>
            <a:rect l="l" t="t" r="r" b="b"/>
            <a:pathLst>
              <a:path w="2485942" h="378047">
                <a:moveTo>
                  <a:pt x="45823" y="0"/>
                </a:moveTo>
                <a:lnTo>
                  <a:pt x="2440119" y="0"/>
                </a:lnTo>
                <a:cubicBezTo>
                  <a:pt x="2465427" y="0"/>
                  <a:pt x="2485942" y="20516"/>
                  <a:pt x="2485942" y="45823"/>
                </a:cubicBezTo>
                <a:lnTo>
                  <a:pt x="2485942" y="332223"/>
                </a:lnTo>
                <a:cubicBezTo>
                  <a:pt x="2485942" y="357531"/>
                  <a:pt x="2465427" y="378047"/>
                  <a:pt x="2440119" y="378047"/>
                </a:cubicBezTo>
                <a:lnTo>
                  <a:pt x="45823" y="378047"/>
                </a:lnTo>
                <a:cubicBezTo>
                  <a:pt x="20516" y="378047"/>
                  <a:pt x="0" y="357531"/>
                  <a:pt x="0" y="332223"/>
                </a:cubicBezTo>
                <a:lnTo>
                  <a:pt x="0" y="45823"/>
                </a:lnTo>
                <a:cubicBezTo>
                  <a:pt x="0" y="20533"/>
                  <a:pt x="20533" y="0"/>
                  <a:pt x="45823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 w="12700">
            <a:solidFill>
              <a:srgbClr val="5F87A7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07166" y="532702"/>
            <a:ext cx="2289580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3" kern="0" spc="72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CLASSROOM THINKING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8238" y="939388"/>
            <a:ext cx="15545731" cy="458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47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课堂思考：传统算法的价值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8238" y="1489274"/>
            <a:ext cx="15431171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在大模型时代，传统机器学习算法还有用吗？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3966" y="1999064"/>
            <a:ext cx="15328068" cy="2222455"/>
          </a:xfrm>
          <a:custGeom>
            <a:avLst/>
            <a:gdLst/>
            <a:ahLst/>
            <a:cxnLst/>
            <a:rect l="l" t="t" r="r" b="b"/>
            <a:pathLst>
              <a:path w="15328068" h="2222455">
                <a:moveTo>
                  <a:pt x="137481" y="0"/>
                </a:moveTo>
                <a:lnTo>
                  <a:pt x="15190587" y="0"/>
                </a:lnTo>
                <a:cubicBezTo>
                  <a:pt x="15266515" y="0"/>
                  <a:pt x="15328068" y="61552"/>
                  <a:pt x="15328068" y="137481"/>
                </a:cubicBezTo>
                <a:lnTo>
                  <a:pt x="15328068" y="2084974"/>
                </a:lnTo>
                <a:cubicBezTo>
                  <a:pt x="15328068" y="2160903"/>
                  <a:pt x="15266515" y="2222455"/>
                  <a:pt x="15190587" y="2222455"/>
                </a:cubicBezTo>
                <a:lnTo>
                  <a:pt x="137481" y="2222455"/>
                </a:lnTo>
                <a:cubicBezTo>
                  <a:pt x="61552" y="2222455"/>
                  <a:pt x="0" y="2160903"/>
                  <a:pt x="0" y="2084974"/>
                </a:cubicBezTo>
                <a:lnTo>
                  <a:pt x="0" y="137481"/>
                </a:lnTo>
                <a:cubicBezTo>
                  <a:pt x="0" y="61552"/>
                  <a:pt x="61552" y="0"/>
                  <a:pt x="137481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6ED3CF">
                  <a:alpha val="5000"/>
                </a:srgbClr>
              </a:gs>
            </a:gsLst>
            <a:lin ang="2700000" scaled="1"/>
          </a:gradFill>
          <a:ln w="12700">
            <a:solidFill>
              <a:srgbClr val="6ED3C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44637" y="2279735"/>
            <a:ext cx="641533" cy="641533"/>
          </a:xfrm>
          <a:custGeom>
            <a:avLst/>
            <a:gdLst/>
            <a:ahLst/>
            <a:cxnLst/>
            <a:rect l="l" t="t" r="r" b="b"/>
            <a:pathLst>
              <a:path w="641533" h="641533">
                <a:moveTo>
                  <a:pt x="91649" y="0"/>
                </a:moveTo>
                <a:lnTo>
                  <a:pt x="549884" y="0"/>
                </a:lnTo>
                <a:cubicBezTo>
                  <a:pt x="600501" y="0"/>
                  <a:pt x="641533" y="41033"/>
                  <a:pt x="641533" y="91649"/>
                </a:cubicBezTo>
                <a:lnTo>
                  <a:pt x="641533" y="549884"/>
                </a:lnTo>
                <a:cubicBezTo>
                  <a:pt x="641533" y="600501"/>
                  <a:pt x="600501" y="641533"/>
                  <a:pt x="549884" y="641533"/>
                </a:cubicBezTo>
                <a:lnTo>
                  <a:pt x="91649" y="641533"/>
                </a:lnTo>
                <a:cubicBezTo>
                  <a:pt x="41033" y="641533"/>
                  <a:pt x="0" y="600501"/>
                  <a:pt x="0" y="549884"/>
                </a:cubicBezTo>
                <a:lnTo>
                  <a:pt x="0" y="91649"/>
                </a:lnTo>
                <a:cubicBezTo>
                  <a:pt x="0" y="41067"/>
                  <a:pt x="41067" y="0"/>
                  <a:pt x="91649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79484" y="2463030"/>
            <a:ext cx="171839" cy="274943"/>
          </a:xfrm>
          <a:custGeom>
            <a:avLst/>
            <a:gdLst/>
            <a:ahLst/>
            <a:cxnLst/>
            <a:rect l="l" t="t" r="r" b="b"/>
            <a:pathLst>
              <a:path w="171839" h="274943">
                <a:moveTo>
                  <a:pt x="34368" y="85920"/>
                </a:moveTo>
                <a:cubicBezTo>
                  <a:pt x="34368" y="57459"/>
                  <a:pt x="57459" y="34368"/>
                  <a:pt x="85920" y="34368"/>
                </a:cubicBezTo>
                <a:cubicBezTo>
                  <a:pt x="114381" y="34368"/>
                  <a:pt x="137471" y="57459"/>
                  <a:pt x="137471" y="85920"/>
                </a:cubicBezTo>
                <a:cubicBezTo>
                  <a:pt x="137471" y="108849"/>
                  <a:pt x="122489" y="128289"/>
                  <a:pt x="101761" y="135001"/>
                </a:cubicBezTo>
                <a:cubicBezTo>
                  <a:pt x="86510" y="139942"/>
                  <a:pt x="68736" y="153957"/>
                  <a:pt x="68736" y="176135"/>
                </a:cubicBezTo>
                <a:lnTo>
                  <a:pt x="68736" y="189023"/>
                </a:lnTo>
                <a:cubicBezTo>
                  <a:pt x="68736" y="198528"/>
                  <a:pt x="76415" y="206207"/>
                  <a:pt x="85920" y="206207"/>
                </a:cubicBezTo>
                <a:cubicBezTo>
                  <a:pt x="95425" y="206207"/>
                  <a:pt x="103104" y="198528"/>
                  <a:pt x="103104" y="189023"/>
                </a:cubicBezTo>
                <a:lnTo>
                  <a:pt x="103104" y="176135"/>
                </a:lnTo>
                <a:cubicBezTo>
                  <a:pt x="103104" y="175222"/>
                  <a:pt x="103426" y="173934"/>
                  <a:pt x="104983" y="172215"/>
                </a:cubicBezTo>
                <a:cubicBezTo>
                  <a:pt x="106594" y="170443"/>
                  <a:pt x="109225" y="168725"/>
                  <a:pt x="112340" y="167704"/>
                </a:cubicBezTo>
                <a:cubicBezTo>
                  <a:pt x="146869" y="156589"/>
                  <a:pt x="171839" y="124208"/>
                  <a:pt x="171839" y="85920"/>
                </a:cubicBezTo>
                <a:cubicBezTo>
                  <a:pt x="171839" y="38449"/>
                  <a:pt x="133390" y="0"/>
                  <a:pt x="85920" y="0"/>
                </a:cubicBezTo>
                <a:cubicBezTo>
                  <a:pt x="38449" y="0"/>
                  <a:pt x="0" y="38449"/>
                  <a:pt x="0" y="85920"/>
                </a:cubicBezTo>
                <a:cubicBezTo>
                  <a:pt x="0" y="95425"/>
                  <a:pt x="7679" y="103104"/>
                  <a:pt x="17184" y="103104"/>
                </a:cubicBezTo>
                <a:cubicBezTo>
                  <a:pt x="26689" y="103104"/>
                  <a:pt x="34368" y="95425"/>
                  <a:pt x="34368" y="85920"/>
                </a:cubicBezTo>
                <a:close/>
                <a:moveTo>
                  <a:pt x="85920" y="274943"/>
                </a:moveTo>
                <a:cubicBezTo>
                  <a:pt x="97787" y="274943"/>
                  <a:pt x="107400" y="265331"/>
                  <a:pt x="107400" y="253463"/>
                </a:cubicBezTo>
                <a:cubicBezTo>
                  <a:pt x="107400" y="241595"/>
                  <a:pt x="97787" y="231983"/>
                  <a:pt x="85920" y="231983"/>
                </a:cubicBezTo>
                <a:cubicBezTo>
                  <a:pt x="74052" y="231983"/>
                  <a:pt x="64440" y="241595"/>
                  <a:pt x="64440" y="253463"/>
                </a:cubicBezTo>
                <a:cubicBezTo>
                  <a:pt x="64440" y="265331"/>
                  <a:pt x="74052" y="274943"/>
                  <a:pt x="85920" y="274943"/>
                </a:cubicBezTo>
                <a:close/>
              </a:path>
            </a:pathLst>
          </a:custGeom>
          <a:solidFill>
            <a:srgbClr val="1A1D2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523642" y="2279735"/>
            <a:ext cx="1603834" cy="366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65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思考问题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23642" y="2646326"/>
            <a:ext cx="1558010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请学员思考并讨论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7549" y="3104564"/>
            <a:ext cx="14743814" cy="836285"/>
          </a:xfrm>
          <a:custGeom>
            <a:avLst/>
            <a:gdLst/>
            <a:ahLst/>
            <a:cxnLst/>
            <a:rect l="l" t="t" r="r" b="b"/>
            <a:pathLst>
              <a:path w="14743814" h="836285">
                <a:moveTo>
                  <a:pt x="45824" y="0"/>
                </a:moveTo>
                <a:lnTo>
                  <a:pt x="14652166" y="0"/>
                </a:lnTo>
                <a:cubicBezTo>
                  <a:pt x="14702782" y="0"/>
                  <a:pt x="14743814" y="41032"/>
                  <a:pt x="14743814" y="91648"/>
                </a:cubicBezTo>
                <a:lnTo>
                  <a:pt x="14743814" y="744636"/>
                </a:lnTo>
                <a:cubicBezTo>
                  <a:pt x="14743814" y="795252"/>
                  <a:pt x="14702782" y="836285"/>
                  <a:pt x="14652166" y="836285"/>
                </a:cubicBezTo>
                <a:lnTo>
                  <a:pt x="45824" y="836285"/>
                </a:lnTo>
                <a:cubicBezTo>
                  <a:pt x="20516" y="836285"/>
                  <a:pt x="0" y="815769"/>
                  <a:pt x="0" y="790461"/>
                </a:cubicBezTo>
                <a:lnTo>
                  <a:pt x="0" y="45824"/>
                </a:lnTo>
                <a:cubicBezTo>
                  <a:pt x="0" y="20533"/>
                  <a:pt x="20533" y="0"/>
                  <a:pt x="4582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67549" y="3104564"/>
            <a:ext cx="45824" cy="836285"/>
          </a:xfrm>
          <a:custGeom>
            <a:avLst/>
            <a:gdLst/>
            <a:ahLst/>
            <a:cxnLst/>
            <a:rect l="l" t="t" r="r" b="b"/>
            <a:pathLst>
              <a:path w="45824" h="836285">
                <a:moveTo>
                  <a:pt x="45824" y="0"/>
                </a:moveTo>
                <a:lnTo>
                  <a:pt x="45824" y="0"/>
                </a:lnTo>
                <a:lnTo>
                  <a:pt x="45824" y="836285"/>
                </a:lnTo>
                <a:lnTo>
                  <a:pt x="45824" y="836285"/>
                </a:lnTo>
                <a:cubicBezTo>
                  <a:pt x="20533" y="836285"/>
                  <a:pt x="0" y="815752"/>
                  <a:pt x="0" y="790461"/>
                </a:cubicBezTo>
                <a:lnTo>
                  <a:pt x="0" y="45824"/>
                </a:lnTo>
                <a:cubicBezTo>
                  <a:pt x="0" y="20533"/>
                  <a:pt x="20533" y="0"/>
                  <a:pt x="45824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19580" y="3333683"/>
            <a:ext cx="14377223" cy="378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4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学习了</a:t>
            </a:r>
            <a:r>
              <a:rPr lang="en-US" sz="1804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Ch-03的逻辑回归</a:t>
            </a:r>
            <a:r>
              <a:rPr lang="en-US" sz="1804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和</a:t>
            </a:r>
            <a:r>
              <a:rPr lang="en-US" sz="1804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Ch-04的随机森林</a:t>
            </a:r>
            <a:r>
              <a:rPr lang="en-US" sz="1804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，在面对大模型时代，这些传统算法还有用吗？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3966" y="4410543"/>
            <a:ext cx="7560930" cy="4619157"/>
          </a:xfrm>
          <a:custGeom>
            <a:avLst/>
            <a:gdLst/>
            <a:ahLst/>
            <a:cxnLst/>
            <a:rect l="l" t="t" r="r" b="b"/>
            <a:pathLst>
              <a:path w="7560930" h="5258283">
                <a:moveTo>
                  <a:pt x="137452" y="0"/>
                </a:moveTo>
                <a:lnTo>
                  <a:pt x="7423479" y="0"/>
                </a:lnTo>
                <a:cubicBezTo>
                  <a:pt x="7499391" y="0"/>
                  <a:pt x="7560930" y="61539"/>
                  <a:pt x="7560930" y="137452"/>
                </a:cubicBezTo>
                <a:lnTo>
                  <a:pt x="7560930" y="5120832"/>
                </a:lnTo>
                <a:cubicBezTo>
                  <a:pt x="7560930" y="5196744"/>
                  <a:pt x="7499391" y="5258283"/>
                  <a:pt x="7423479" y="5258283"/>
                </a:cubicBezTo>
                <a:lnTo>
                  <a:pt x="137452" y="5258283"/>
                </a:lnTo>
                <a:cubicBezTo>
                  <a:pt x="61539" y="5258283"/>
                  <a:pt x="0" y="5196744"/>
                  <a:pt x="0" y="5120832"/>
                </a:cubicBezTo>
                <a:lnTo>
                  <a:pt x="0" y="137452"/>
                </a:lnTo>
                <a:cubicBezTo>
                  <a:pt x="0" y="61539"/>
                  <a:pt x="61539" y="0"/>
                  <a:pt x="137452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98813" y="4645390"/>
            <a:ext cx="549886" cy="549886"/>
          </a:xfrm>
          <a:custGeom>
            <a:avLst/>
            <a:gdLst/>
            <a:ahLst/>
            <a:cxnLst/>
            <a:rect l="l" t="t" r="r" b="b"/>
            <a:pathLst>
              <a:path w="549886" h="549886">
                <a:moveTo>
                  <a:pt x="91649" y="0"/>
                </a:moveTo>
                <a:lnTo>
                  <a:pt x="458236" y="0"/>
                </a:lnTo>
                <a:cubicBezTo>
                  <a:pt x="508853" y="0"/>
                  <a:pt x="549886" y="41033"/>
                  <a:pt x="549886" y="91649"/>
                </a:cubicBezTo>
                <a:lnTo>
                  <a:pt x="549886" y="458236"/>
                </a:lnTo>
                <a:cubicBezTo>
                  <a:pt x="549886" y="508853"/>
                  <a:pt x="508853" y="549886"/>
                  <a:pt x="458236" y="549886"/>
                </a:cubicBezTo>
                <a:lnTo>
                  <a:pt x="91649" y="549886"/>
                </a:lnTo>
                <a:cubicBezTo>
                  <a:pt x="41033" y="549886"/>
                  <a:pt x="0" y="508853"/>
                  <a:pt x="0" y="458236"/>
                </a:cubicBezTo>
                <a:lnTo>
                  <a:pt x="0" y="91649"/>
                </a:lnTo>
                <a:cubicBezTo>
                  <a:pt x="0" y="41067"/>
                  <a:pt x="41067" y="0"/>
                  <a:pt x="91649" y="0"/>
                </a:cubicBezTo>
                <a:close/>
              </a:path>
            </a:pathLst>
          </a:custGeom>
          <a:solidFill>
            <a:srgbClr val="5F87A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59197" y="4805773"/>
            <a:ext cx="229119" cy="229119"/>
          </a:xfrm>
          <a:custGeom>
            <a:avLst/>
            <a:gdLst/>
            <a:ahLst/>
            <a:cxnLst/>
            <a:rect l="l" t="t" r="r" b="b"/>
            <a:pathLst>
              <a:path w="229119" h="229119">
                <a:moveTo>
                  <a:pt x="114560" y="229119"/>
                </a:moveTo>
                <a:cubicBezTo>
                  <a:pt x="177787" y="229119"/>
                  <a:pt x="229119" y="177787"/>
                  <a:pt x="229119" y="114560"/>
                </a:cubicBezTo>
                <a:cubicBezTo>
                  <a:pt x="229119" y="51332"/>
                  <a:pt x="177787" y="0"/>
                  <a:pt x="114560" y="0"/>
                </a:cubicBezTo>
                <a:cubicBezTo>
                  <a:pt x="51332" y="0"/>
                  <a:pt x="0" y="51332"/>
                  <a:pt x="0" y="114560"/>
                </a:cubicBezTo>
                <a:cubicBezTo>
                  <a:pt x="0" y="177787"/>
                  <a:pt x="51332" y="229119"/>
                  <a:pt x="114560" y="229119"/>
                </a:cubicBezTo>
                <a:close/>
                <a:moveTo>
                  <a:pt x="152328" y="95183"/>
                </a:moveTo>
                <a:lnTo>
                  <a:pt x="116529" y="152463"/>
                </a:lnTo>
                <a:cubicBezTo>
                  <a:pt x="114649" y="155461"/>
                  <a:pt x="111427" y="157340"/>
                  <a:pt x="107892" y="157519"/>
                </a:cubicBezTo>
                <a:cubicBezTo>
                  <a:pt x="104357" y="157698"/>
                  <a:pt x="100956" y="156087"/>
                  <a:pt x="98852" y="153223"/>
                </a:cubicBezTo>
                <a:lnTo>
                  <a:pt x="77372" y="124584"/>
                </a:lnTo>
                <a:cubicBezTo>
                  <a:pt x="73792" y="119840"/>
                  <a:pt x="74777" y="113128"/>
                  <a:pt x="79520" y="109548"/>
                </a:cubicBezTo>
                <a:cubicBezTo>
                  <a:pt x="84264" y="105968"/>
                  <a:pt x="90976" y="106952"/>
                  <a:pt x="94556" y="111696"/>
                </a:cubicBezTo>
                <a:lnTo>
                  <a:pt x="106639" y="127805"/>
                </a:lnTo>
                <a:lnTo>
                  <a:pt x="134115" y="83816"/>
                </a:lnTo>
                <a:cubicBezTo>
                  <a:pt x="137248" y="78804"/>
                  <a:pt x="143871" y="77238"/>
                  <a:pt x="148927" y="80415"/>
                </a:cubicBezTo>
                <a:cubicBezTo>
                  <a:pt x="153984" y="83593"/>
                  <a:pt x="155506" y="90171"/>
                  <a:pt x="152328" y="9522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386171" y="4737037"/>
            <a:ext cx="1237243" cy="366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65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参考答案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1725" y="5378571"/>
            <a:ext cx="7068324" cy="1053948"/>
          </a:xfrm>
          <a:custGeom>
            <a:avLst/>
            <a:gdLst/>
            <a:ahLst/>
            <a:cxnLst/>
            <a:rect l="l" t="t" r="r" b="b"/>
            <a:pathLst>
              <a:path w="7068324" h="1053948">
                <a:moveTo>
                  <a:pt x="45824" y="0"/>
                </a:moveTo>
                <a:lnTo>
                  <a:pt x="6976673" y="0"/>
                </a:lnTo>
                <a:cubicBezTo>
                  <a:pt x="7027290" y="0"/>
                  <a:pt x="7068324" y="41034"/>
                  <a:pt x="7068324" y="91651"/>
                </a:cubicBezTo>
                <a:lnTo>
                  <a:pt x="7068324" y="962297"/>
                </a:lnTo>
                <a:cubicBezTo>
                  <a:pt x="7068324" y="1012914"/>
                  <a:pt x="7027290" y="1053948"/>
                  <a:pt x="6976673" y="1053948"/>
                </a:cubicBezTo>
                <a:lnTo>
                  <a:pt x="45824" y="1053948"/>
                </a:lnTo>
                <a:cubicBezTo>
                  <a:pt x="20516" y="1053948"/>
                  <a:pt x="0" y="1033432"/>
                  <a:pt x="0" y="1008124"/>
                </a:cubicBezTo>
                <a:lnTo>
                  <a:pt x="0" y="45824"/>
                </a:lnTo>
                <a:cubicBezTo>
                  <a:pt x="0" y="20533"/>
                  <a:pt x="20533" y="0"/>
                  <a:pt x="45824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721725" y="5378571"/>
            <a:ext cx="45824" cy="1053948"/>
          </a:xfrm>
          <a:custGeom>
            <a:avLst/>
            <a:gdLst/>
            <a:ahLst/>
            <a:cxnLst/>
            <a:rect l="l" t="t" r="r" b="b"/>
            <a:pathLst>
              <a:path w="45824" h="1053948">
                <a:moveTo>
                  <a:pt x="45824" y="0"/>
                </a:moveTo>
                <a:lnTo>
                  <a:pt x="45824" y="0"/>
                </a:lnTo>
                <a:lnTo>
                  <a:pt x="45824" y="1053948"/>
                </a:lnTo>
                <a:lnTo>
                  <a:pt x="45824" y="1053948"/>
                </a:lnTo>
                <a:cubicBezTo>
                  <a:pt x="20516" y="1053948"/>
                  <a:pt x="0" y="1033432"/>
                  <a:pt x="0" y="1008124"/>
                </a:cubicBezTo>
                <a:lnTo>
                  <a:pt x="0" y="45824"/>
                </a:lnTo>
                <a:cubicBezTo>
                  <a:pt x="0" y="20533"/>
                  <a:pt x="20533" y="0"/>
                  <a:pt x="45824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27932" y="5561866"/>
            <a:ext cx="6793381" cy="320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04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非常有用！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7932" y="5974280"/>
            <a:ext cx="6770469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传统算法在大模型时代依然具有不可替代的价值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21725" y="6569990"/>
            <a:ext cx="7068324" cy="1122684"/>
          </a:xfrm>
          <a:custGeom>
            <a:avLst/>
            <a:gdLst/>
            <a:ahLst/>
            <a:cxnLst/>
            <a:rect l="l" t="t" r="r" b="b"/>
            <a:pathLst>
              <a:path w="7068324" h="1122684">
                <a:moveTo>
                  <a:pt x="45824" y="0"/>
                </a:moveTo>
                <a:lnTo>
                  <a:pt x="6976680" y="0"/>
                </a:lnTo>
                <a:cubicBezTo>
                  <a:pt x="7027293" y="0"/>
                  <a:pt x="7068324" y="41031"/>
                  <a:pt x="7068324" y="91645"/>
                </a:cubicBezTo>
                <a:lnTo>
                  <a:pt x="7068324" y="1031039"/>
                </a:lnTo>
                <a:cubicBezTo>
                  <a:pt x="7068324" y="1081653"/>
                  <a:pt x="7027293" y="1122684"/>
                  <a:pt x="6976680" y="1122684"/>
                </a:cubicBezTo>
                <a:lnTo>
                  <a:pt x="45824" y="1122684"/>
                </a:lnTo>
                <a:cubicBezTo>
                  <a:pt x="20516" y="1122684"/>
                  <a:pt x="0" y="1102168"/>
                  <a:pt x="0" y="1076860"/>
                </a:cubicBezTo>
                <a:lnTo>
                  <a:pt x="0" y="45824"/>
                </a:lnTo>
                <a:cubicBezTo>
                  <a:pt x="0" y="20533"/>
                  <a:pt x="20533" y="0"/>
                  <a:pt x="4582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721725" y="6569990"/>
            <a:ext cx="45824" cy="1122684"/>
          </a:xfrm>
          <a:custGeom>
            <a:avLst/>
            <a:gdLst/>
            <a:ahLst/>
            <a:cxnLst/>
            <a:rect l="l" t="t" r="r" b="b"/>
            <a:pathLst>
              <a:path w="45824" h="1122684">
                <a:moveTo>
                  <a:pt x="45824" y="0"/>
                </a:moveTo>
                <a:lnTo>
                  <a:pt x="45824" y="0"/>
                </a:lnTo>
                <a:lnTo>
                  <a:pt x="45824" y="1122684"/>
                </a:lnTo>
                <a:lnTo>
                  <a:pt x="45824" y="1122684"/>
                </a:lnTo>
                <a:cubicBezTo>
                  <a:pt x="20516" y="1122684"/>
                  <a:pt x="0" y="1102168"/>
                  <a:pt x="0" y="1076860"/>
                </a:cubicBezTo>
                <a:lnTo>
                  <a:pt x="0" y="45824"/>
                </a:lnTo>
                <a:cubicBezTo>
                  <a:pt x="0" y="20533"/>
                  <a:pt x="20533" y="0"/>
                  <a:pt x="45824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82109" y="6707462"/>
            <a:ext cx="366591" cy="366591"/>
          </a:xfrm>
          <a:custGeom>
            <a:avLst/>
            <a:gdLst/>
            <a:ahLst/>
            <a:cxnLst/>
            <a:rect l="l" t="t" r="r" b="b"/>
            <a:pathLst>
              <a:path w="366591" h="366591">
                <a:moveTo>
                  <a:pt x="183295" y="0"/>
                </a:moveTo>
                <a:lnTo>
                  <a:pt x="183295" y="0"/>
                </a:lnTo>
                <a:cubicBezTo>
                  <a:pt x="284459" y="0"/>
                  <a:pt x="366591" y="82132"/>
                  <a:pt x="366591" y="183295"/>
                </a:cubicBezTo>
                <a:lnTo>
                  <a:pt x="366591" y="183295"/>
                </a:lnTo>
                <a:cubicBezTo>
                  <a:pt x="366591" y="284459"/>
                  <a:pt x="284459" y="366591"/>
                  <a:pt x="183295" y="366591"/>
                </a:cubicBezTo>
                <a:lnTo>
                  <a:pt x="183295" y="366591"/>
                </a:lnTo>
                <a:cubicBezTo>
                  <a:pt x="82132" y="366591"/>
                  <a:pt x="0" y="284459"/>
                  <a:pt x="0" y="183295"/>
                </a:cubicBezTo>
                <a:lnTo>
                  <a:pt x="0" y="183295"/>
                </a:lnTo>
                <a:cubicBezTo>
                  <a:pt x="0" y="82132"/>
                  <a:pt x="82132" y="0"/>
                  <a:pt x="183295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029335" y="6753285"/>
            <a:ext cx="160383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40347" y="6707462"/>
            <a:ext cx="6403879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理解机器学习原理的基石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40347" y="7028228"/>
            <a:ext cx="6392423" cy="526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逻辑回归等经典算法是</a:t>
            </a:r>
            <a:r>
              <a:rPr lang="en-US" sz="126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入门机器学习的基础</a:t>
            </a:r>
            <a:r>
              <a:rPr lang="en-US" sz="126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，帮助建立对模型本质的理解，为学习更复杂算法打下坚实基础。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21725" y="7778593"/>
            <a:ext cx="7068324" cy="1122684"/>
          </a:xfrm>
          <a:custGeom>
            <a:avLst/>
            <a:gdLst/>
            <a:ahLst/>
            <a:cxnLst/>
            <a:rect l="l" t="t" r="r" b="b"/>
            <a:pathLst>
              <a:path w="7068324" h="1122684">
                <a:moveTo>
                  <a:pt x="45824" y="0"/>
                </a:moveTo>
                <a:lnTo>
                  <a:pt x="6976680" y="0"/>
                </a:lnTo>
                <a:cubicBezTo>
                  <a:pt x="7027293" y="0"/>
                  <a:pt x="7068324" y="41031"/>
                  <a:pt x="7068324" y="91645"/>
                </a:cubicBezTo>
                <a:lnTo>
                  <a:pt x="7068324" y="1031039"/>
                </a:lnTo>
                <a:cubicBezTo>
                  <a:pt x="7068324" y="1081653"/>
                  <a:pt x="7027293" y="1122684"/>
                  <a:pt x="6976680" y="1122684"/>
                </a:cubicBezTo>
                <a:lnTo>
                  <a:pt x="45824" y="1122684"/>
                </a:lnTo>
                <a:cubicBezTo>
                  <a:pt x="20516" y="1122684"/>
                  <a:pt x="0" y="1102168"/>
                  <a:pt x="0" y="1076860"/>
                </a:cubicBezTo>
                <a:lnTo>
                  <a:pt x="0" y="45824"/>
                </a:lnTo>
                <a:cubicBezTo>
                  <a:pt x="0" y="20533"/>
                  <a:pt x="20533" y="0"/>
                  <a:pt x="4582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721725" y="7778593"/>
            <a:ext cx="45824" cy="1122684"/>
          </a:xfrm>
          <a:custGeom>
            <a:avLst/>
            <a:gdLst/>
            <a:ahLst/>
            <a:cxnLst/>
            <a:rect l="l" t="t" r="r" b="b"/>
            <a:pathLst>
              <a:path w="45824" h="1122684">
                <a:moveTo>
                  <a:pt x="45824" y="0"/>
                </a:moveTo>
                <a:lnTo>
                  <a:pt x="45824" y="0"/>
                </a:lnTo>
                <a:lnTo>
                  <a:pt x="45824" y="1122684"/>
                </a:lnTo>
                <a:lnTo>
                  <a:pt x="45824" y="1122684"/>
                </a:lnTo>
                <a:cubicBezTo>
                  <a:pt x="20516" y="1122684"/>
                  <a:pt x="0" y="1102168"/>
                  <a:pt x="0" y="1076860"/>
                </a:cubicBezTo>
                <a:lnTo>
                  <a:pt x="0" y="45824"/>
                </a:lnTo>
                <a:cubicBezTo>
                  <a:pt x="0" y="20533"/>
                  <a:pt x="20533" y="0"/>
                  <a:pt x="45824" y="0"/>
                </a:cubicBezTo>
                <a:close/>
              </a:path>
            </a:pathLst>
          </a:custGeom>
          <a:solidFill>
            <a:srgbClr val="6ED3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82109" y="7916065"/>
            <a:ext cx="366591" cy="366591"/>
          </a:xfrm>
          <a:custGeom>
            <a:avLst/>
            <a:gdLst/>
            <a:ahLst/>
            <a:cxnLst/>
            <a:rect l="l" t="t" r="r" b="b"/>
            <a:pathLst>
              <a:path w="366591" h="366591">
                <a:moveTo>
                  <a:pt x="183295" y="0"/>
                </a:moveTo>
                <a:lnTo>
                  <a:pt x="183295" y="0"/>
                </a:lnTo>
                <a:cubicBezTo>
                  <a:pt x="284459" y="0"/>
                  <a:pt x="366591" y="82132"/>
                  <a:pt x="366591" y="183295"/>
                </a:cubicBezTo>
                <a:lnTo>
                  <a:pt x="366591" y="183295"/>
                </a:lnTo>
                <a:cubicBezTo>
                  <a:pt x="366591" y="284459"/>
                  <a:pt x="284459" y="366591"/>
                  <a:pt x="183295" y="366591"/>
                </a:cubicBezTo>
                <a:lnTo>
                  <a:pt x="183295" y="366591"/>
                </a:lnTo>
                <a:cubicBezTo>
                  <a:pt x="82132" y="366591"/>
                  <a:pt x="0" y="284459"/>
                  <a:pt x="0" y="183295"/>
                </a:cubicBezTo>
                <a:lnTo>
                  <a:pt x="0" y="183295"/>
                </a:lnTo>
                <a:cubicBezTo>
                  <a:pt x="0" y="82132"/>
                  <a:pt x="82132" y="0"/>
                  <a:pt x="183295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013852" y="7961889"/>
            <a:ext cx="194751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40347" y="7916065"/>
            <a:ext cx="6403879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表格型数据处理的首选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40347" y="8236832"/>
            <a:ext cx="6392423" cy="526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</a:t>
            </a:r>
            <a:r>
              <a:rPr lang="en-US" sz="126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表格型数据（Tabular Data）</a:t>
            </a:r>
            <a:r>
              <a:rPr lang="en-US" sz="126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处理场景中，传统算法（如随机森林、</a:t>
            </a:r>
            <a:r>
              <a:rPr lang="en-US" sz="1263" dirty="0">
                <a:solidFill>
                  <a:srgbClr val="8899A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GBDT</a:t>
            </a:r>
            <a:r>
              <a:rPr lang="en-US" sz="126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）依然是首选，性能优异且计算成本低。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23407" y="4410543"/>
            <a:ext cx="7560930" cy="1317435"/>
          </a:xfrm>
          <a:custGeom>
            <a:avLst/>
            <a:gdLst/>
            <a:ahLst/>
            <a:cxnLst/>
            <a:rect l="l" t="t" r="r" b="b"/>
            <a:pathLst>
              <a:path w="7560930" h="1317435">
                <a:moveTo>
                  <a:pt x="137474" y="0"/>
                </a:moveTo>
                <a:lnTo>
                  <a:pt x="7423456" y="0"/>
                </a:lnTo>
                <a:cubicBezTo>
                  <a:pt x="7499381" y="0"/>
                  <a:pt x="7560930" y="61549"/>
                  <a:pt x="7560930" y="137474"/>
                </a:cubicBezTo>
                <a:lnTo>
                  <a:pt x="7560930" y="1179960"/>
                </a:lnTo>
                <a:cubicBezTo>
                  <a:pt x="7560930" y="1255885"/>
                  <a:pt x="7499381" y="1317435"/>
                  <a:pt x="7423456" y="1317435"/>
                </a:cubicBezTo>
                <a:lnTo>
                  <a:pt x="137474" y="1317435"/>
                </a:lnTo>
                <a:cubicBezTo>
                  <a:pt x="61549" y="1317435"/>
                  <a:pt x="0" y="1255885"/>
                  <a:pt x="0" y="1179960"/>
                </a:cubicBezTo>
                <a:lnTo>
                  <a:pt x="0" y="137474"/>
                </a:lnTo>
                <a:cubicBezTo>
                  <a:pt x="0" y="61549"/>
                  <a:pt x="61549" y="0"/>
                  <a:pt x="137474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6ED3CF">
                  <a:alpha val="5000"/>
                </a:srgbClr>
              </a:gs>
            </a:gsLst>
            <a:lin ang="2700000" scaled="1"/>
          </a:gradFill>
          <a:ln w="12700">
            <a:solidFill>
              <a:srgbClr val="6ED3C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458254" y="4645390"/>
            <a:ext cx="366591" cy="366591"/>
          </a:xfrm>
          <a:custGeom>
            <a:avLst/>
            <a:gdLst/>
            <a:ahLst/>
            <a:cxnLst/>
            <a:rect l="l" t="t" r="r" b="b"/>
            <a:pathLst>
              <a:path w="366591" h="366591">
                <a:moveTo>
                  <a:pt x="183295" y="0"/>
                </a:moveTo>
                <a:lnTo>
                  <a:pt x="183295" y="0"/>
                </a:lnTo>
                <a:cubicBezTo>
                  <a:pt x="284459" y="0"/>
                  <a:pt x="366591" y="82132"/>
                  <a:pt x="366591" y="183295"/>
                </a:cubicBezTo>
                <a:lnTo>
                  <a:pt x="366591" y="183295"/>
                </a:lnTo>
                <a:cubicBezTo>
                  <a:pt x="366591" y="284459"/>
                  <a:pt x="284459" y="366591"/>
                  <a:pt x="183295" y="366591"/>
                </a:cubicBezTo>
                <a:lnTo>
                  <a:pt x="183295" y="366591"/>
                </a:lnTo>
                <a:cubicBezTo>
                  <a:pt x="82132" y="366591"/>
                  <a:pt x="0" y="284459"/>
                  <a:pt x="0" y="183295"/>
                </a:cubicBezTo>
                <a:lnTo>
                  <a:pt x="0" y="183295"/>
                </a:lnTo>
                <a:cubicBezTo>
                  <a:pt x="0" y="82132"/>
                  <a:pt x="82132" y="0"/>
                  <a:pt x="183295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587581" y="4691214"/>
            <a:ext cx="194751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962316" y="4645390"/>
            <a:ext cx="6678822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高解释性要求的领域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962316" y="4966156"/>
            <a:ext cx="6667366" cy="526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在金融风控、医疗诊断、司法判决等需要</a:t>
            </a:r>
            <a:r>
              <a:rPr lang="en-US" sz="126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严格解释性</a:t>
            </a:r>
            <a:r>
              <a:rPr lang="en-US" sz="126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的领域，传统算法的决策过程更容易理解和解释。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23407" y="5871177"/>
            <a:ext cx="7560930" cy="1053948"/>
          </a:xfrm>
          <a:custGeom>
            <a:avLst/>
            <a:gdLst/>
            <a:ahLst/>
            <a:cxnLst/>
            <a:rect l="l" t="t" r="r" b="b"/>
            <a:pathLst>
              <a:path w="7560930" h="1053948">
                <a:moveTo>
                  <a:pt x="137466" y="0"/>
                </a:moveTo>
                <a:lnTo>
                  <a:pt x="7423464" y="0"/>
                </a:lnTo>
                <a:cubicBezTo>
                  <a:pt x="7499384" y="0"/>
                  <a:pt x="7560930" y="61546"/>
                  <a:pt x="7560930" y="137466"/>
                </a:cubicBezTo>
                <a:lnTo>
                  <a:pt x="7560930" y="916481"/>
                </a:lnTo>
                <a:cubicBezTo>
                  <a:pt x="7560930" y="992402"/>
                  <a:pt x="7499384" y="1053948"/>
                  <a:pt x="7423464" y="1053948"/>
                </a:cubicBezTo>
                <a:lnTo>
                  <a:pt x="137466" y="1053948"/>
                </a:lnTo>
                <a:cubicBezTo>
                  <a:pt x="61546" y="1053948"/>
                  <a:pt x="0" y="992402"/>
                  <a:pt x="0" y="916481"/>
                </a:cubicBezTo>
                <a:lnTo>
                  <a:pt x="0" y="137466"/>
                </a:lnTo>
                <a:cubicBezTo>
                  <a:pt x="0" y="61546"/>
                  <a:pt x="61546" y="0"/>
                  <a:pt x="137466" y="0"/>
                </a:cubicBezTo>
                <a:close/>
              </a:path>
            </a:pathLst>
          </a:custGeom>
          <a:gradFill flip="none" rotWithShape="1">
            <a:gsLst>
              <a:gs pos="0">
                <a:srgbClr val="5F87A7">
                  <a:alpha val="20000"/>
                </a:srgbClr>
              </a:gs>
              <a:gs pos="100000">
                <a:srgbClr val="5F87A7">
                  <a:alpha val="5000"/>
                </a:srgbClr>
              </a:gs>
            </a:gsLst>
            <a:lin ang="2700000" scaled="1"/>
          </a:gradFill>
          <a:ln w="12700">
            <a:solidFill>
              <a:srgbClr val="5F87A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8458254" y="6106024"/>
            <a:ext cx="366591" cy="366591"/>
          </a:xfrm>
          <a:custGeom>
            <a:avLst/>
            <a:gdLst/>
            <a:ahLst/>
            <a:cxnLst/>
            <a:rect l="l" t="t" r="r" b="b"/>
            <a:pathLst>
              <a:path w="366591" h="366591">
                <a:moveTo>
                  <a:pt x="183295" y="0"/>
                </a:moveTo>
                <a:lnTo>
                  <a:pt x="183295" y="0"/>
                </a:lnTo>
                <a:cubicBezTo>
                  <a:pt x="284459" y="0"/>
                  <a:pt x="366591" y="82132"/>
                  <a:pt x="366591" y="183295"/>
                </a:cubicBezTo>
                <a:lnTo>
                  <a:pt x="366591" y="183295"/>
                </a:lnTo>
                <a:cubicBezTo>
                  <a:pt x="366591" y="284459"/>
                  <a:pt x="284459" y="366591"/>
                  <a:pt x="183295" y="366591"/>
                </a:cubicBezTo>
                <a:lnTo>
                  <a:pt x="183295" y="366591"/>
                </a:lnTo>
                <a:cubicBezTo>
                  <a:pt x="82132" y="366591"/>
                  <a:pt x="0" y="284459"/>
                  <a:pt x="0" y="183295"/>
                </a:cubicBezTo>
                <a:lnTo>
                  <a:pt x="0" y="183295"/>
                </a:lnTo>
                <a:cubicBezTo>
                  <a:pt x="0" y="82132"/>
                  <a:pt x="82132" y="0"/>
                  <a:pt x="183295" y="0"/>
                </a:cubicBezTo>
                <a:close/>
              </a:path>
            </a:pathLst>
          </a:custGeom>
          <a:solidFill>
            <a:srgbClr val="5F87A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587760" y="6151848"/>
            <a:ext cx="194751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3" dirty="0">
                <a:solidFill>
                  <a:srgbClr val="5F87A7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962316" y="6106024"/>
            <a:ext cx="6506982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资源受限环境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962316" y="6426791"/>
            <a:ext cx="6495526" cy="263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</a:t>
            </a:r>
            <a:r>
              <a:rPr lang="en-US" sz="126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边缘设备、移动端</a:t>
            </a:r>
            <a:r>
              <a:rPr lang="en-US" sz="126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等资源受限环境中，传统算法模型体积小、推理速度快，更适合部署。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23407" y="7071188"/>
            <a:ext cx="7560930" cy="1317435"/>
          </a:xfrm>
          <a:custGeom>
            <a:avLst/>
            <a:gdLst/>
            <a:ahLst/>
            <a:cxnLst/>
            <a:rect l="l" t="t" r="r" b="b"/>
            <a:pathLst>
              <a:path w="7560930" h="1317435">
                <a:moveTo>
                  <a:pt x="137474" y="0"/>
                </a:moveTo>
                <a:lnTo>
                  <a:pt x="7423456" y="0"/>
                </a:lnTo>
                <a:cubicBezTo>
                  <a:pt x="7499381" y="0"/>
                  <a:pt x="7560930" y="61549"/>
                  <a:pt x="7560930" y="137474"/>
                </a:cubicBezTo>
                <a:lnTo>
                  <a:pt x="7560930" y="1179960"/>
                </a:lnTo>
                <a:cubicBezTo>
                  <a:pt x="7560930" y="1255885"/>
                  <a:pt x="7499381" y="1317435"/>
                  <a:pt x="7423456" y="1317435"/>
                </a:cubicBezTo>
                <a:lnTo>
                  <a:pt x="137474" y="1317435"/>
                </a:lnTo>
                <a:cubicBezTo>
                  <a:pt x="61549" y="1317435"/>
                  <a:pt x="0" y="1255885"/>
                  <a:pt x="0" y="1179960"/>
                </a:cubicBezTo>
                <a:lnTo>
                  <a:pt x="0" y="137474"/>
                </a:lnTo>
                <a:cubicBezTo>
                  <a:pt x="0" y="61549"/>
                  <a:pt x="61549" y="0"/>
                  <a:pt x="137474" y="0"/>
                </a:cubicBezTo>
                <a:close/>
              </a:path>
            </a:pathLst>
          </a:custGeom>
          <a:gradFill flip="none" rotWithShape="1">
            <a:gsLst>
              <a:gs pos="0">
                <a:srgbClr val="6ED3CF">
                  <a:alpha val="20000"/>
                </a:srgbClr>
              </a:gs>
              <a:gs pos="100000">
                <a:srgbClr val="6ED3CF">
                  <a:alpha val="5000"/>
                </a:srgbClr>
              </a:gs>
            </a:gsLst>
            <a:lin ang="2700000" scaled="1"/>
          </a:gradFill>
          <a:ln w="12700">
            <a:solidFill>
              <a:srgbClr val="6ED3C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8458254" y="7306035"/>
            <a:ext cx="366591" cy="366591"/>
          </a:xfrm>
          <a:custGeom>
            <a:avLst/>
            <a:gdLst/>
            <a:ahLst/>
            <a:cxnLst/>
            <a:rect l="l" t="t" r="r" b="b"/>
            <a:pathLst>
              <a:path w="366591" h="366591">
                <a:moveTo>
                  <a:pt x="183295" y="0"/>
                </a:moveTo>
                <a:lnTo>
                  <a:pt x="183295" y="0"/>
                </a:lnTo>
                <a:cubicBezTo>
                  <a:pt x="284459" y="0"/>
                  <a:pt x="366591" y="82132"/>
                  <a:pt x="366591" y="183295"/>
                </a:cubicBezTo>
                <a:lnTo>
                  <a:pt x="366591" y="183295"/>
                </a:lnTo>
                <a:cubicBezTo>
                  <a:pt x="366591" y="284459"/>
                  <a:pt x="284459" y="366591"/>
                  <a:pt x="183295" y="366591"/>
                </a:cubicBezTo>
                <a:lnTo>
                  <a:pt x="183295" y="366591"/>
                </a:lnTo>
                <a:cubicBezTo>
                  <a:pt x="82132" y="366591"/>
                  <a:pt x="0" y="284459"/>
                  <a:pt x="0" y="183295"/>
                </a:cubicBezTo>
                <a:lnTo>
                  <a:pt x="0" y="183295"/>
                </a:lnTo>
                <a:cubicBezTo>
                  <a:pt x="0" y="82132"/>
                  <a:pt x="82132" y="0"/>
                  <a:pt x="183295" y="0"/>
                </a:cubicBezTo>
                <a:close/>
              </a:path>
            </a:pathLst>
          </a:custGeom>
          <a:solidFill>
            <a:srgbClr val="6ED3CF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8586775" y="7351859"/>
            <a:ext cx="206207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3" dirty="0">
                <a:solidFill>
                  <a:srgbClr val="6ED3C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962316" y="7306035"/>
            <a:ext cx="6678822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大模型的基础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962316" y="7626802"/>
            <a:ext cx="6667366" cy="526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大模型的底层依然依赖</a:t>
            </a:r>
            <a:r>
              <a:rPr lang="en-US" sz="1263" dirty="0">
                <a:solidFill>
                  <a:srgbClr val="E1E8E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深度学习</a:t>
            </a:r>
            <a:r>
              <a:rPr lang="en-US" sz="126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和</a:t>
            </a:r>
            <a:r>
              <a:rPr lang="en-US" sz="1263" dirty="0">
                <a:solidFill>
                  <a:srgbClr val="E1E8ED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Embedding</a:t>
            </a:r>
            <a:r>
              <a:rPr lang="en-US" sz="1263" dirty="0">
                <a:solidFill>
                  <a:srgbClr val="8899A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等传统AI概念，理解这些基础有助于更好地使用大模型。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2880</Words>
  <Application>Microsoft Macintosh PowerPoint</Application>
  <PresentationFormat>自定义</PresentationFormat>
  <Paragraphs>1000</Paragraphs>
  <Slides>31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6" baseType="lpstr">
      <vt:lpstr>Liter</vt:lpstr>
      <vt:lpstr>Arial</vt:lpstr>
      <vt:lpstr>KaiTi</vt:lpstr>
      <vt:lpstr>Calibri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人工智能与机器学习概述</dc:title>
  <dc:subject>人工智能与机器学习概述</dc:subject>
  <dc:creator>Kimi</dc:creator>
  <cp:lastModifiedBy>王 天青</cp:lastModifiedBy>
  <cp:revision>23</cp:revision>
  <dcterms:created xsi:type="dcterms:W3CDTF">2025-12-31T07:52:20Z</dcterms:created>
  <dcterms:modified xsi:type="dcterms:W3CDTF">2026-01-02T06:10:54Z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人工智能与机器学习概述","ContentProducer":"001191110108MACG2KBH8F10000","ProduceID":"19b73569-b072-8c77-8000-00006c19c011","ReservedCode1":"","ContentPropagator":"001191110108MACG2KBH8F20000","PropagateID":"19b73569-b072-8c77-8000-00006c19c011","ReservedCode2":""}</vt:lpwstr>
  </property>
</Properties>
</file>