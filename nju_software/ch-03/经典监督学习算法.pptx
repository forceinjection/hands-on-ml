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4" r:id="rId41"/>
  </p:sldIdLst>
  <p:sldSz cx="16256000" cy="9144000"/>
  <p:notesSz cx="9144000" cy="16256000"/>
  <p:embeddedFontLst>
    <p:embeddedFont>
      <p:font typeface="KaiTi" panose="02010609060101010101" pitchFamily="49" charset="-122"/>
      <p:regular r:id="rId43"/>
    </p:embeddedFont>
    <p:embeddedFont>
      <p:font typeface="Noto Sans SC" panose="020B0200000000000000" pitchFamily="34" charset="-128"/>
      <p:regular r:id="rId44"/>
    </p:embeddedFont>
    <p:embeddedFont>
      <p:font typeface="微软雅黑" panose="020B0503020204020204" pitchFamily="34" charset="-122"/>
      <p:regular r:id="rId45"/>
      <p:bold r:id="rId4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86963"/>
  </p:normalViewPr>
  <p:slideViewPr>
    <p:cSldViewPr snapToGrid="0" snapToObjects="1">
      <p:cViewPr varScale="1">
        <p:scale>
          <a:sx n="78" d="100"/>
          <a:sy n="78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063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所谓惰性学习，即算法在训练阶段几乎不进行模型构建，而是将所有数据都“原样”保存，等到预测时才根据需要进行计算。这种策略虽看似“偷懒”，却在实际应用中大放异彩。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0e7bd82811a60f1ae48260e6b785d51f4b6ac78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9821" b="982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D8F8A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1384300"/>
            <a:ext cx="4889500" cy="584200"/>
          </a:xfrm>
          <a:custGeom>
            <a:avLst/>
            <a:gdLst/>
            <a:ahLst/>
            <a:cxnLst/>
            <a:rect l="l" t="t" r="r" b="b"/>
            <a:pathLst>
              <a:path w="4889500" h="584200">
                <a:moveTo>
                  <a:pt x="292100" y="0"/>
                </a:moveTo>
                <a:lnTo>
                  <a:pt x="4597400" y="0"/>
                </a:lnTo>
                <a:cubicBezTo>
                  <a:pt x="4758614" y="0"/>
                  <a:pt x="4889500" y="130886"/>
                  <a:pt x="4889500" y="292100"/>
                </a:cubicBezTo>
                <a:lnTo>
                  <a:pt x="4889500" y="292100"/>
                </a:lnTo>
                <a:cubicBezTo>
                  <a:pt x="4889500" y="453314"/>
                  <a:pt x="4758614" y="584200"/>
                  <a:pt x="4597400" y="584200"/>
                </a:cubicBezTo>
                <a:lnTo>
                  <a:pt x="292100" y="584200"/>
                </a:lnTo>
                <a:cubicBezTo>
                  <a:pt x="130886" y="584200"/>
                  <a:pt x="0" y="453314"/>
                  <a:pt x="0" y="292100"/>
                </a:cubicBezTo>
                <a:lnTo>
                  <a:pt x="0" y="292100"/>
                </a:lnTo>
                <a:cubicBezTo>
                  <a:pt x="0" y="130886"/>
                  <a:pt x="130886" y="0"/>
                  <a:pt x="2921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254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524000"/>
            <a:ext cx="44643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18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MACHINE LEARNING ALGORITHMS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387600"/>
            <a:ext cx="15748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zh-CN" altLang="en-US" sz="9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经典监督学习算法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2324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6896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E0E2E6">
                    <a:alpha val="9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六种核心算法的深度解析与实战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959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62000" y="721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524000" y="70104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24000" y="7315200"/>
            <a:ext cx="1447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31084" y="6959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704134" y="7213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447084" y="7010400"/>
            <a:ext cx="153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447084" y="7315200"/>
            <a:ext cx="1587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40 PAGES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91387" y="6959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5A6472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6726337" y="7213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5A647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7507387" y="7010400"/>
            <a:ext cx="226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LEVEL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07387" y="7315200"/>
            <a:ext cx="231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INTERMEDIATE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023" y="506023"/>
            <a:ext cx="15547567" cy="60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78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6023" y="1315661"/>
            <a:ext cx="1012047" cy="50602"/>
          </a:xfrm>
          <a:custGeom>
            <a:avLst/>
            <a:gdLst/>
            <a:ahLst/>
            <a:cxnLst/>
            <a:rect l="l" t="t" r="r" b="b"/>
            <a:pathLst>
              <a:path w="1012047" h="50602">
                <a:moveTo>
                  <a:pt x="0" y="0"/>
                </a:moveTo>
                <a:lnTo>
                  <a:pt x="1012047" y="0"/>
                </a:lnTo>
                <a:lnTo>
                  <a:pt x="1012047" y="50602"/>
                </a:lnTo>
                <a:lnTo>
                  <a:pt x="0" y="50602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31325" y="1973491"/>
            <a:ext cx="7400591" cy="1771082"/>
          </a:xfrm>
          <a:custGeom>
            <a:avLst/>
            <a:gdLst/>
            <a:ahLst/>
            <a:cxnLst/>
            <a:rect l="l" t="t" r="r" b="b"/>
            <a:pathLst>
              <a:path w="7400591" h="1771082">
                <a:moveTo>
                  <a:pt x="50602" y="0"/>
                </a:moveTo>
                <a:lnTo>
                  <a:pt x="7299392" y="0"/>
                </a:lnTo>
                <a:cubicBezTo>
                  <a:pt x="7355283" y="0"/>
                  <a:pt x="7400591" y="45309"/>
                  <a:pt x="7400591" y="101200"/>
                </a:cubicBezTo>
                <a:lnTo>
                  <a:pt x="7400591" y="1669882"/>
                </a:lnTo>
                <a:cubicBezTo>
                  <a:pt x="7400591" y="1725773"/>
                  <a:pt x="7355283" y="1771082"/>
                  <a:pt x="7299392" y="1771082"/>
                </a:cubicBezTo>
                <a:lnTo>
                  <a:pt x="50602" y="1771082"/>
                </a:lnTo>
                <a:cubicBezTo>
                  <a:pt x="22655" y="1771082"/>
                  <a:pt x="0" y="1748426"/>
                  <a:pt x="0" y="1720479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1325" y="1973491"/>
            <a:ext cx="50602" cy="1771082"/>
          </a:xfrm>
          <a:custGeom>
            <a:avLst/>
            <a:gdLst/>
            <a:ahLst/>
            <a:cxnLst/>
            <a:rect l="l" t="t" r="r" b="b"/>
            <a:pathLst>
              <a:path w="50602" h="1771082">
                <a:moveTo>
                  <a:pt x="50602" y="0"/>
                </a:moveTo>
                <a:lnTo>
                  <a:pt x="50602" y="0"/>
                </a:lnTo>
                <a:lnTo>
                  <a:pt x="50602" y="1771082"/>
                </a:lnTo>
                <a:lnTo>
                  <a:pt x="50602" y="1771082"/>
                </a:lnTo>
                <a:cubicBezTo>
                  <a:pt x="22655" y="1771082"/>
                  <a:pt x="0" y="1748426"/>
                  <a:pt x="0" y="1720479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0240" y="2277105"/>
            <a:ext cx="708433" cy="708433"/>
          </a:xfrm>
          <a:custGeom>
            <a:avLst/>
            <a:gdLst/>
            <a:ahLst/>
            <a:cxnLst/>
            <a:rect l="l" t="t" r="r" b="b"/>
            <a:pathLst>
              <a:path w="708433" h="708433">
                <a:moveTo>
                  <a:pt x="354216" y="0"/>
                </a:moveTo>
                <a:lnTo>
                  <a:pt x="354216" y="0"/>
                </a:lnTo>
                <a:cubicBezTo>
                  <a:pt x="549714" y="0"/>
                  <a:pt x="708433" y="158719"/>
                  <a:pt x="708433" y="354216"/>
                </a:cubicBezTo>
                <a:lnTo>
                  <a:pt x="708433" y="354216"/>
                </a:lnTo>
                <a:cubicBezTo>
                  <a:pt x="708433" y="549714"/>
                  <a:pt x="549714" y="708433"/>
                  <a:pt x="354216" y="708433"/>
                </a:cubicBezTo>
                <a:lnTo>
                  <a:pt x="354216" y="708433"/>
                </a:lnTo>
                <a:cubicBezTo>
                  <a:pt x="158719" y="708433"/>
                  <a:pt x="0" y="549714"/>
                  <a:pt x="0" y="354216"/>
                </a:cubicBezTo>
                <a:lnTo>
                  <a:pt x="0" y="354216"/>
                </a:lnTo>
                <a:cubicBezTo>
                  <a:pt x="0" y="158719"/>
                  <a:pt x="158719" y="0"/>
                  <a:pt x="35421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35272" y="2428912"/>
            <a:ext cx="506023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1082" y="2277105"/>
            <a:ext cx="6009027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线性回归算法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1082" y="2783128"/>
            <a:ext cx="5958425" cy="657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4" dirty="0">
                <a:solidFill>
                  <a:srgbClr val="E0E2E6">
                    <a:alpha val="70000"/>
                  </a:srgbClr>
                </a:solidFill>
                <a:ea typeface="KaiTi" panose="02010609060101010101" pitchFamily="49" charset="-122"/>
                <a:cs typeface="MiSans" pitchFamily="34" charset="-120"/>
              </a:rPr>
              <a:t>Linear Regression </a:t>
            </a:r>
            <a:r>
              <a:rPr lang="en-US" sz="1594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- 回归任务的基础模型，通过最小化均方误差学习参数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57786" y="1973491"/>
            <a:ext cx="7400591" cy="1771082"/>
          </a:xfrm>
          <a:custGeom>
            <a:avLst/>
            <a:gdLst/>
            <a:ahLst/>
            <a:cxnLst/>
            <a:rect l="l" t="t" r="r" b="b"/>
            <a:pathLst>
              <a:path w="7400591" h="1771082">
                <a:moveTo>
                  <a:pt x="50602" y="0"/>
                </a:moveTo>
                <a:lnTo>
                  <a:pt x="7299392" y="0"/>
                </a:lnTo>
                <a:cubicBezTo>
                  <a:pt x="7355283" y="0"/>
                  <a:pt x="7400591" y="45309"/>
                  <a:pt x="7400591" y="101200"/>
                </a:cubicBezTo>
                <a:lnTo>
                  <a:pt x="7400591" y="1669882"/>
                </a:lnTo>
                <a:cubicBezTo>
                  <a:pt x="7400591" y="1725773"/>
                  <a:pt x="7355283" y="1771082"/>
                  <a:pt x="7299392" y="1771082"/>
                </a:cubicBezTo>
                <a:lnTo>
                  <a:pt x="50602" y="1771082"/>
                </a:lnTo>
                <a:cubicBezTo>
                  <a:pt x="22655" y="1771082"/>
                  <a:pt x="0" y="1748426"/>
                  <a:pt x="0" y="1720479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357786" y="1973491"/>
            <a:ext cx="50602" cy="1771082"/>
          </a:xfrm>
          <a:custGeom>
            <a:avLst/>
            <a:gdLst/>
            <a:ahLst/>
            <a:cxnLst/>
            <a:rect l="l" t="t" r="r" b="b"/>
            <a:pathLst>
              <a:path w="50602" h="1771082">
                <a:moveTo>
                  <a:pt x="50602" y="0"/>
                </a:moveTo>
                <a:lnTo>
                  <a:pt x="50602" y="0"/>
                </a:lnTo>
                <a:lnTo>
                  <a:pt x="50602" y="1771082"/>
                </a:lnTo>
                <a:lnTo>
                  <a:pt x="50602" y="1771082"/>
                </a:lnTo>
                <a:cubicBezTo>
                  <a:pt x="22655" y="1771082"/>
                  <a:pt x="0" y="1748426"/>
                  <a:pt x="0" y="1720479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686701" y="2277105"/>
            <a:ext cx="708433" cy="708433"/>
          </a:xfrm>
          <a:custGeom>
            <a:avLst/>
            <a:gdLst/>
            <a:ahLst/>
            <a:cxnLst/>
            <a:rect l="l" t="t" r="r" b="b"/>
            <a:pathLst>
              <a:path w="708433" h="708433">
                <a:moveTo>
                  <a:pt x="354216" y="0"/>
                </a:moveTo>
                <a:lnTo>
                  <a:pt x="354216" y="0"/>
                </a:lnTo>
                <a:cubicBezTo>
                  <a:pt x="549714" y="0"/>
                  <a:pt x="708433" y="158719"/>
                  <a:pt x="708433" y="354216"/>
                </a:cubicBezTo>
                <a:lnTo>
                  <a:pt x="708433" y="354216"/>
                </a:lnTo>
                <a:cubicBezTo>
                  <a:pt x="708433" y="549714"/>
                  <a:pt x="549714" y="708433"/>
                  <a:pt x="354216" y="708433"/>
                </a:cubicBezTo>
                <a:lnTo>
                  <a:pt x="354216" y="708433"/>
                </a:lnTo>
                <a:cubicBezTo>
                  <a:pt x="158719" y="708433"/>
                  <a:pt x="0" y="549714"/>
                  <a:pt x="0" y="354216"/>
                </a:cubicBezTo>
                <a:lnTo>
                  <a:pt x="0" y="354216"/>
                </a:lnTo>
                <a:cubicBezTo>
                  <a:pt x="0" y="158719"/>
                  <a:pt x="158719" y="0"/>
                  <a:pt x="354216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861734" y="2428912"/>
            <a:ext cx="506023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97543" y="2277105"/>
            <a:ext cx="6009027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逻辑回归算法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97543" y="2783128"/>
            <a:ext cx="5958425" cy="657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4" dirty="0">
                <a:solidFill>
                  <a:srgbClr val="E0E2E6">
                    <a:alpha val="70000"/>
                  </a:srgbClr>
                </a:solidFill>
                <a:ea typeface="KaiTi" panose="02010609060101010101" pitchFamily="49" charset="-122"/>
                <a:cs typeface="MiSans" pitchFamily="34" charset="-120"/>
              </a:rPr>
              <a:t>Logistic Regression </a:t>
            </a:r>
            <a:r>
              <a:rPr lang="en-US" sz="1594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- 分类任务的基石算法，Sigmoid函数映射概率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1325" y="4149391"/>
            <a:ext cx="7400591" cy="1442167"/>
          </a:xfrm>
          <a:custGeom>
            <a:avLst/>
            <a:gdLst/>
            <a:ahLst/>
            <a:cxnLst/>
            <a:rect l="l" t="t" r="r" b="b"/>
            <a:pathLst>
              <a:path w="7400591" h="1442167">
                <a:moveTo>
                  <a:pt x="50602" y="0"/>
                </a:moveTo>
                <a:lnTo>
                  <a:pt x="7299380" y="0"/>
                </a:lnTo>
                <a:cubicBezTo>
                  <a:pt x="7355278" y="0"/>
                  <a:pt x="7400591" y="45314"/>
                  <a:pt x="7400591" y="101211"/>
                </a:cubicBezTo>
                <a:lnTo>
                  <a:pt x="7400591" y="1340955"/>
                </a:lnTo>
                <a:cubicBezTo>
                  <a:pt x="7400591" y="1396853"/>
                  <a:pt x="7355278" y="1442167"/>
                  <a:pt x="7299380" y="1442167"/>
                </a:cubicBezTo>
                <a:lnTo>
                  <a:pt x="50602" y="1442167"/>
                </a:lnTo>
                <a:cubicBezTo>
                  <a:pt x="22655" y="1442167"/>
                  <a:pt x="0" y="1419511"/>
                  <a:pt x="0" y="1391564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1325" y="4149391"/>
            <a:ext cx="50602" cy="1442167"/>
          </a:xfrm>
          <a:custGeom>
            <a:avLst/>
            <a:gdLst/>
            <a:ahLst/>
            <a:cxnLst/>
            <a:rect l="l" t="t" r="r" b="b"/>
            <a:pathLst>
              <a:path w="50602" h="1442167">
                <a:moveTo>
                  <a:pt x="50602" y="0"/>
                </a:moveTo>
                <a:lnTo>
                  <a:pt x="50602" y="0"/>
                </a:lnTo>
                <a:lnTo>
                  <a:pt x="50602" y="1442167"/>
                </a:lnTo>
                <a:lnTo>
                  <a:pt x="50602" y="1442167"/>
                </a:lnTo>
                <a:cubicBezTo>
                  <a:pt x="22655" y="1442167"/>
                  <a:pt x="0" y="1419511"/>
                  <a:pt x="0" y="1391564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60240" y="4453005"/>
            <a:ext cx="708433" cy="708433"/>
          </a:xfrm>
          <a:custGeom>
            <a:avLst/>
            <a:gdLst/>
            <a:ahLst/>
            <a:cxnLst/>
            <a:rect l="l" t="t" r="r" b="b"/>
            <a:pathLst>
              <a:path w="708433" h="708433">
                <a:moveTo>
                  <a:pt x="354216" y="0"/>
                </a:moveTo>
                <a:lnTo>
                  <a:pt x="354216" y="0"/>
                </a:lnTo>
                <a:cubicBezTo>
                  <a:pt x="549714" y="0"/>
                  <a:pt x="708433" y="158719"/>
                  <a:pt x="708433" y="354216"/>
                </a:cubicBezTo>
                <a:lnTo>
                  <a:pt x="708433" y="354216"/>
                </a:lnTo>
                <a:cubicBezTo>
                  <a:pt x="708433" y="549714"/>
                  <a:pt x="549714" y="708433"/>
                  <a:pt x="354216" y="708433"/>
                </a:cubicBezTo>
                <a:lnTo>
                  <a:pt x="354216" y="708433"/>
                </a:lnTo>
                <a:cubicBezTo>
                  <a:pt x="158719" y="708433"/>
                  <a:pt x="0" y="549714"/>
                  <a:pt x="0" y="354216"/>
                </a:cubicBezTo>
                <a:lnTo>
                  <a:pt x="0" y="354216"/>
                </a:lnTo>
                <a:cubicBezTo>
                  <a:pt x="0" y="158719"/>
                  <a:pt x="158719" y="0"/>
                  <a:pt x="35421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035272" y="4604812"/>
            <a:ext cx="506023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71082" y="4453005"/>
            <a:ext cx="6009027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K近邻算法 (</a:t>
            </a:r>
            <a:r>
              <a:rPr lang="en-US" sz="239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</a:t>
            </a:r>
            <a:r>
              <a:rPr lang="en-US" sz="239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71082" y="4959029"/>
            <a:ext cx="5958425" cy="32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K-Nearest Neighbors </a:t>
            </a:r>
            <a:r>
              <a:rPr lang="en-US" sz="1594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- 简单而直观的惰性学习，物以类聚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57786" y="4149391"/>
            <a:ext cx="7400591" cy="1442167"/>
          </a:xfrm>
          <a:custGeom>
            <a:avLst/>
            <a:gdLst/>
            <a:ahLst/>
            <a:cxnLst/>
            <a:rect l="l" t="t" r="r" b="b"/>
            <a:pathLst>
              <a:path w="7400591" h="1442167">
                <a:moveTo>
                  <a:pt x="50602" y="0"/>
                </a:moveTo>
                <a:lnTo>
                  <a:pt x="7299380" y="0"/>
                </a:lnTo>
                <a:cubicBezTo>
                  <a:pt x="7355278" y="0"/>
                  <a:pt x="7400591" y="45314"/>
                  <a:pt x="7400591" y="101211"/>
                </a:cubicBezTo>
                <a:lnTo>
                  <a:pt x="7400591" y="1340955"/>
                </a:lnTo>
                <a:cubicBezTo>
                  <a:pt x="7400591" y="1396853"/>
                  <a:pt x="7355278" y="1442167"/>
                  <a:pt x="7299380" y="1442167"/>
                </a:cubicBezTo>
                <a:lnTo>
                  <a:pt x="50602" y="1442167"/>
                </a:lnTo>
                <a:cubicBezTo>
                  <a:pt x="22655" y="1442167"/>
                  <a:pt x="0" y="1419511"/>
                  <a:pt x="0" y="1391564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357786" y="4149391"/>
            <a:ext cx="50602" cy="1442167"/>
          </a:xfrm>
          <a:custGeom>
            <a:avLst/>
            <a:gdLst/>
            <a:ahLst/>
            <a:cxnLst/>
            <a:rect l="l" t="t" r="r" b="b"/>
            <a:pathLst>
              <a:path w="50602" h="1442167">
                <a:moveTo>
                  <a:pt x="50602" y="0"/>
                </a:moveTo>
                <a:lnTo>
                  <a:pt x="50602" y="0"/>
                </a:lnTo>
                <a:lnTo>
                  <a:pt x="50602" y="1442167"/>
                </a:lnTo>
                <a:lnTo>
                  <a:pt x="50602" y="1442167"/>
                </a:lnTo>
                <a:cubicBezTo>
                  <a:pt x="22655" y="1442167"/>
                  <a:pt x="0" y="1419511"/>
                  <a:pt x="0" y="1391564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86701" y="4453005"/>
            <a:ext cx="708433" cy="708433"/>
          </a:xfrm>
          <a:custGeom>
            <a:avLst/>
            <a:gdLst/>
            <a:ahLst/>
            <a:cxnLst/>
            <a:rect l="l" t="t" r="r" b="b"/>
            <a:pathLst>
              <a:path w="708433" h="708433">
                <a:moveTo>
                  <a:pt x="354216" y="0"/>
                </a:moveTo>
                <a:lnTo>
                  <a:pt x="354216" y="0"/>
                </a:lnTo>
                <a:cubicBezTo>
                  <a:pt x="549714" y="0"/>
                  <a:pt x="708433" y="158719"/>
                  <a:pt x="708433" y="354216"/>
                </a:cubicBezTo>
                <a:lnTo>
                  <a:pt x="708433" y="354216"/>
                </a:lnTo>
                <a:cubicBezTo>
                  <a:pt x="708433" y="549714"/>
                  <a:pt x="549714" y="708433"/>
                  <a:pt x="354216" y="708433"/>
                </a:cubicBezTo>
                <a:lnTo>
                  <a:pt x="354216" y="708433"/>
                </a:lnTo>
                <a:cubicBezTo>
                  <a:pt x="158719" y="708433"/>
                  <a:pt x="0" y="549714"/>
                  <a:pt x="0" y="354216"/>
                </a:cubicBezTo>
                <a:lnTo>
                  <a:pt x="0" y="354216"/>
                </a:lnTo>
                <a:cubicBezTo>
                  <a:pt x="0" y="158719"/>
                  <a:pt x="158719" y="0"/>
                  <a:pt x="354216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861734" y="4604812"/>
            <a:ext cx="506023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97543" y="4453005"/>
            <a:ext cx="6009027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朴素贝叶斯算法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97543" y="4959029"/>
            <a:ext cx="5958425" cy="32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Naive Bayes </a:t>
            </a:r>
            <a:r>
              <a:rPr lang="en-US" sz="1594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- 基于概率的简单高效分类器，特征条件独立假设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1325" y="5996377"/>
            <a:ext cx="7400591" cy="1442167"/>
          </a:xfrm>
          <a:custGeom>
            <a:avLst/>
            <a:gdLst/>
            <a:ahLst/>
            <a:cxnLst/>
            <a:rect l="l" t="t" r="r" b="b"/>
            <a:pathLst>
              <a:path w="7400591" h="1442167">
                <a:moveTo>
                  <a:pt x="50602" y="0"/>
                </a:moveTo>
                <a:lnTo>
                  <a:pt x="7299380" y="0"/>
                </a:lnTo>
                <a:cubicBezTo>
                  <a:pt x="7355278" y="0"/>
                  <a:pt x="7400591" y="45314"/>
                  <a:pt x="7400591" y="101211"/>
                </a:cubicBezTo>
                <a:lnTo>
                  <a:pt x="7400591" y="1340955"/>
                </a:lnTo>
                <a:cubicBezTo>
                  <a:pt x="7400591" y="1396853"/>
                  <a:pt x="7355278" y="1442167"/>
                  <a:pt x="7299380" y="1442167"/>
                </a:cubicBezTo>
                <a:lnTo>
                  <a:pt x="50602" y="1442167"/>
                </a:lnTo>
                <a:cubicBezTo>
                  <a:pt x="22655" y="1442167"/>
                  <a:pt x="0" y="1419511"/>
                  <a:pt x="0" y="1391564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31325" y="5996377"/>
            <a:ext cx="50602" cy="1442167"/>
          </a:xfrm>
          <a:custGeom>
            <a:avLst/>
            <a:gdLst/>
            <a:ahLst/>
            <a:cxnLst/>
            <a:rect l="l" t="t" r="r" b="b"/>
            <a:pathLst>
              <a:path w="50602" h="1442167">
                <a:moveTo>
                  <a:pt x="50602" y="0"/>
                </a:moveTo>
                <a:lnTo>
                  <a:pt x="50602" y="0"/>
                </a:lnTo>
                <a:lnTo>
                  <a:pt x="50602" y="1442167"/>
                </a:lnTo>
                <a:lnTo>
                  <a:pt x="50602" y="1442167"/>
                </a:lnTo>
                <a:cubicBezTo>
                  <a:pt x="22655" y="1442167"/>
                  <a:pt x="0" y="1419511"/>
                  <a:pt x="0" y="1391564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60240" y="6299991"/>
            <a:ext cx="708433" cy="708433"/>
          </a:xfrm>
          <a:custGeom>
            <a:avLst/>
            <a:gdLst/>
            <a:ahLst/>
            <a:cxnLst/>
            <a:rect l="l" t="t" r="r" b="b"/>
            <a:pathLst>
              <a:path w="708433" h="708433">
                <a:moveTo>
                  <a:pt x="354216" y="0"/>
                </a:moveTo>
                <a:lnTo>
                  <a:pt x="354216" y="0"/>
                </a:lnTo>
                <a:cubicBezTo>
                  <a:pt x="549714" y="0"/>
                  <a:pt x="708433" y="158719"/>
                  <a:pt x="708433" y="354216"/>
                </a:cubicBezTo>
                <a:lnTo>
                  <a:pt x="708433" y="354216"/>
                </a:lnTo>
                <a:cubicBezTo>
                  <a:pt x="708433" y="549714"/>
                  <a:pt x="549714" y="708433"/>
                  <a:pt x="354216" y="708433"/>
                </a:cubicBezTo>
                <a:lnTo>
                  <a:pt x="354216" y="708433"/>
                </a:lnTo>
                <a:cubicBezTo>
                  <a:pt x="158719" y="708433"/>
                  <a:pt x="0" y="549714"/>
                  <a:pt x="0" y="354216"/>
                </a:cubicBezTo>
                <a:lnTo>
                  <a:pt x="0" y="354216"/>
                </a:lnTo>
                <a:cubicBezTo>
                  <a:pt x="0" y="158719"/>
                  <a:pt x="158719" y="0"/>
                  <a:pt x="35421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35272" y="6451798"/>
            <a:ext cx="506023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71082" y="6299991"/>
            <a:ext cx="6009027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决策树算法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71082" y="6806014"/>
            <a:ext cx="5958425" cy="328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Decision Tree </a:t>
            </a:r>
            <a:r>
              <a:rPr lang="en-US" sz="1594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- 可解释性强的分而治之，信息熵与信息增益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57786" y="5996377"/>
            <a:ext cx="7400591" cy="1771082"/>
          </a:xfrm>
          <a:custGeom>
            <a:avLst/>
            <a:gdLst/>
            <a:ahLst/>
            <a:cxnLst/>
            <a:rect l="l" t="t" r="r" b="b"/>
            <a:pathLst>
              <a:path w="7400591" h="1771082">
                <a:moveTo>
                  <a:pt x="50602" y="0"/>
                </a:moveTo>
                <a:lnTo>
                  <a:pt x="7299392" y="0"/>
                </a:lnTo>
                <a:cubicBezTo>
                  <a:pt x="7355283" y="0"/>
                  <a:pt x="7400591" y="45309"/>
                  <a:pt x="7400591" y="101200"/>
                </a:cubicBezTo>
                <a:lnTo>
                  <a:pt x="7400591" y="1669882"/>
                </a:lnTo>
                <a:cubicBezTo>
                  <a:pt x="7400591" y="1725773"/>
                  <a:pt x="7355283" y="1771082"/>
                  <a:pt x="7299392" y="1771082"/>
                </a:cubicBezTo>
                <a:lnTo>
                  <a:pt x="50602" y="1771082"/>
                </a:lnTo>
                <a:cubicBezTo>
                  <a:pt x="22655" y="1771082"/>
                  <a:pt x="0" y="1748426"/>
                  <a:pt x="0" y="1720479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357786" y="5996377"/>
            <a:ext cx="50602" cy="1771082"/>
          </a:xfrm>
          <a:custGeom>
            <a:avLst/>
            <a:gdLst/>
            <a:ahLst/>
            <a:cxnLst/>
            <a:rect l="l" t="t" r="r" b="b"/>
            <a:pathLst>
              <a:path w="50602" h="1771082">
                <a:moveTo>
                  <a:pt x="50602" y="0"/>
                </a:moveTo>
                <a:lnTo>
                  <a:pt x="50602" y="0"/>
                </a:lnTo>
                <a:lnTo>
                  <a:pt x="50602" y="1771082"/>
                </a:lnTo>
                <a:lnTo>
                  <a:pt x="50602" y="1771082"/>
                </a:lnTo>
                <a:cubicBezTo>
                  <a:pt x="22655" y="1771082"/>
                  <a:pt x="0" y="1748426"/>
                  <a:pt x="0" y="1720479"/>
                </a:cubicBezTo>
                <a:lnTo>
                  <a:pt x="0" y="50602"/>
                </a:lnTo>
                <a:cubicBezTo>
                  <a:pt x="0" y="22674"/>
                  <a:pt x="22674" y="0"/>
                  <a:pt x="50602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686701" y="6299991"/>
            <a:ext cx="708433" cy="708433"/>
          </a:xfrm>
          <a:custGeom>
            <a:avLst/>
            <a:gdLst/>
            <a:ahLst/>
            <a:cxnLst/>
            <a:rect l="l" t="t" r="r" b="b"/>
            <a:pathLst>
              <a:path w="708433" h="708433">
                <a:moveTo>
                  <a:pt x="354216" y="0"/>
                </a:moveTo>
                <a:lnTo>
                  <a:pt x="354216" y="0"/>
                </a:lnTo>
                <a:cubicBezTo>
                  <a:pt x="549714" y="0"/>
                  <a:pt x="708433" y="158719"/>
                  <a:pt x="708433" y="354216"/>
                </a:cubicBezTo>
                <a:lnTo>
                  <a:pt x="708433" y="354216"/>
                </a:lnTo>
                <a:cubicBezTo>
                  <a:pt x="708433" y="549714"/>
                  <a:pt x="549714" y="708433"/>
                  <a:pt x="354216" y="708433"/>
                </a:cubicBezTo>
                <a:lnTo>
                  <a:pt x="354216" y="708433"/>
                </a:lnTo>
                <a:cubicBezTo>
                  <a:pt x="158719" y="708433"/>
                  <a:pt x="0" y="549714"/>
                  <a:pt x="0" y="354216"/>
                </a:cubicBezTo>
                <a:lnTo>
                  <a:pt x="0" y="354216"/>
                </a:lnTo>
                <a:cubicBezTo>
                  <a:pt x="0" y="158719"/>
                  <a:pt x="158719" y="0"/>
                  <a:pt x="354216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861734" y="6451798"/>
            <a:ext cx="506023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597543" y="6299991"/>
            <a:ext cx="6009027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支持向量机 (</a:t>
            </a:r>
            <a:r>
              <a:rPr lang="en-US" sz="239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r>
              <a:rPr lang="en-US" sz="239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597543" y="6806014"/>
            <a:ext cx="6160834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9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Support Vector Machine </a:t>
            </a:r>
            <a:r>
              <a:rPr lang="en-US" sz="1594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- 最大间隔与核技巧，高维空间的强大分类器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18f596612517ab11bd99855cccc795265781437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D8F8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895350"/>
            <a:ext cx="2095500" cy="584200"/>
          </a:xfrm>
          <a:custGeom>
            <a:avLst/>
            <a:gdLst/>
            <a:ahLst/>
            <a:cxnLst/>
            <a:rect l="l" t="t" r="r" b="b"/>
            <a:pathLst>
              <a:path w="2095500" h="584200">
                <a:moveTo>
                  <a:pt x="292100" y="0"/>
                </a:moveTo>
                <a:lnTo>
                  <a:pt x="1803400" y="0"/>
                </a:lnTo>
                <a:cubicBezTo>
                  <a:pt x="1964614" y="0"/>
                  <a:pt x="2095500" y="130886"/>
                  <a:pt x="2095500" y="292100"/>
                </a:cubicBezTo>
                <a:lnTo>
                  <a:pt x="2095500" y="292100"/>
                </a:lnTo>
                <a:cubicBezTo>
                  <a:pt x="2095500" y="453314"/>
                  <a:pt x="1964614" y="584200"/>
                  <a:pt x="1803400" y="584200"/>
                </a:cubicBezTo>
                <a:lnTo>
                  <a:pt x="292100" y="584200"/>
                </a:lnTo>
                <a:cubicBezTo>
                  <a:pt x="130886" y="584200"/>
                  <a:pt x="0" y="453314"/>
                  <a:pt x="0" y="292100"/>
                </a:cubicBezTo>
                <a:lnTo>
                  <a:pt x="0" y="292100"/>
                </a:lnTo>
                <a:cubicBezTo>
                  <a:pt x="0" y="130886"/>
                  <a:pt x="130886" y="0"/>
                  <a:pt x="2921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254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035050"/>
            <a:ext cx="16722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18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898650"/>
            <a:ext cx="10769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 err="1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线性回归算法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434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200650"/>
            <a:ext cx="1035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E0E2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Linear Regression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267450"/>
            <a:ext cx="1028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回归任务的基础模型，通过最小化均方误差学习参数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具有良好的可解释性与工程实用性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监督学习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336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4384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回归任务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592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0640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基线模型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线性回归：算法概述与核心思想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684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84200" y="1524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89000" y="14732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2082800"/>
            <a:ext cx="75311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线性回归通过一个</a:t>
            </a:r>
            <a:r>
              <a:rPr lang="en-US" sz="18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线性函数</a:t>
            </a: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对目标进行预测，并通过</a:t>
            </a:r>
            <a:r>
              <a:rPr lang="en-US" sz="18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最小化损失函数</a:t>
            </a: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学习参数。最常见的设定是最小化均方误差（</a:t>
            </a:r>
            <a:r>
              <a:rPr lang="en-US" sz="18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MSE</a:t>
            </a: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），对应最小二乘估计（OLS）。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" y="3400425"/>
            <a:ext cx="7391400" cy="1168400"/>
          </a:xfrm>
          <a:custGeom>
            <a:avLst/>
            <a:gdLst/>
            <a:ahLst/>
            <a:cxnLst/>
            <a:rect l="l" t="t" r="r" b="b"/>
            <a:pathLst>
              <a:path w="7391400" h="1168400">
                <a:moveTo>
                  <a:pt x="50800" y="0"/>
                </a:moveTo>
                <a:lnTo>
                  <a:pt x="7289796" y="0"/>
                </a:lnTo>
                <a:cubicBezTo>
                  <a:pt x="7345910" y="0"/>
                  <a:pt x="7391400" y="45490"/>
                  <a:pt x="7391400" y="101604"/>
                </a:cubicBezTo>
                <a:lnTo>
                  <a:pt x="7391400" y="1066796"/>
                </a:lnTo>
                <a:cubicBezTo>
                  <a:pt x="7391400" y="1122910"/>
                  <a:pt x="7345910" y="1168400"/>
                  <a:pt x="72897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33400" y="3400425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62000" y="3603625"/>
            <a:ext cx="707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模型表示：</a:t>
            </a:r>
            <a:r>
              <a:rPr lang="en-US" sz="18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ŷ = wᵀx + b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4060825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其中 w 为权重向量，b 为偏置项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6100" y="49244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89000" y="4873625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目标函数 (MSE)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4350" y="5489575"/>
            <a:ext cx="7404100" cy="939800"/>
          </a:xfrm>
          <a:custGeom>
            <a:avLst/>
            <a:gdLst/>
            <a:ahLst/>
            <a:cxnLst/>
            <a:rect l="l" t="t" r="r" b="b"/>
            <a:pathLst>
              <a:path w="7404100" h="939800">
                <a:moveTo>
                  <a:pt x="101602" y="0"/>
                </a:moveTo>
                <a:lnTo>
                  <a:pt x="7302498" y="0"/>
                </a:lnTo>
                <a:cubicBezTo>
                  <a:pt x="7358611" y="0"/>
                  <a:pt x="7404100" y="45489"/>
                  <a:pt x="7404100" y="101602"/>
                </a:cubicBezTo>
                <a:lnTo>
                  <a:pt x="7404100" y="838198"/>
                </a:lnTo>
                <a:cubicBezTo>
                  <a:pt x="7404100" y="894311"/>
                  <a:pt x="7358611" y="939800"/>
                  <a:pt x="7302498" y="939800"/>
                </a:cubicBezTo>
                <a:lnTo>
                  <a:pt x="101602" y="939800"/>
                </a:lnTo>
                <a:cubicBezTo>
                  <a:pt x="45489" y="939800"/>
                  <a:pt x="0" y="894311"/>
                  <a:pt x="0" y="838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11200" y="5749925"/>
            <a:ext cx="7010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Calibri" panose="020F0502020204030204" pitchFamily="34" charset="0"/>
              </a:rPr>
              <a:t>MSE(w,b) = 1/m Σ(y⁽ⁱ⁾ - (wᵀx⁽ⁱ⁾ + b))²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8000" y="6581775"/>
            <a:ext cx="751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MSE</a:t>
            </a: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对大误差惩罚更重，因此对异常值较敏感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69300" y="152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85725"/>
                </a:moveTo>
                <a:cubicBezTo>
                  <a:pt x="44346" y="85725"/>
                  <a:pt x="57150" y="72921"/>
                  <a:pt x="57150" y="57150"/>
                </a:cubicBezTo>
                <a:cubicBezTo>
                  <a:pt x="57150" y="41379"/>
                  <a:pt x="44346" y="28575"/>
                  <a:pt x="28575" y="28575"/>
                </a:cubicBezTo>
                <a:cubicBezTo>
                  <a:pt x="12804" y="28575"/>
                  <a:pt x="0" y="41379"/>
                  <a:pt x="0" y="57150"/>
                </a:cubicBezTo>
                <a:cubicBezTo>
                  <a:pt x="0" y="72921"/>
                  <a:pt x="12804" y="85725"/>
                  <a:pt x="28575" y="85725"/>
                </a:cubicBezTo>
                <a:close/>
                <a:moveTo>
                  <a:pt x="114300" y="38100"/>
                </a:moveTo>
                <a:cubicBezTo>
                  <a:pt x="103763" y="38100"/>
                  <a:pt x="95250" y="46613"/>
                  <a:pt x="95250" y="57150"/>
                </a:cubicBezTo>
                <a:cubicBezTo>
                  <a:pt x="95250" y="67687"/>
                  <a:pt x="103763" y="76200"/>
                  <a:pt x="114300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14300" y="38100"/>
                </a:lnTo>
                <a:close/>
                <a:moveTo>
                  <a:pt x="114300" y="133350"/>
                </a:moveTo>
                <a:cubicBezTo>
                  <a:pt x="103763" y="133350"/>
                  <a:pt x="95250" y="141863"/>
                  <a:pt x="95250" y="152400"/>
                </a:cubicBezTo>
                <a:cubicBezTo>
                  <a:pt x="95250" y="162937"/>
                  <a:pt x="103763" y="171450"/>
                  <a:pt x="114300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114300" y="133350"/>
                </a:lnTo>
                <a:close/>
                <a:moveTo>
                  <a:pt x="114300" y="228600"/>
                </a:moveTo>
                <a:cubicBezTo>
                  <a:pt x="103763" y="228600"/>
                  <a:pt x="95250" y="237113"/>
                  <a:pt x="95250" y="247650"/>
                </a:cubicBezTo>
                <a:cubicBezTo>
                  <a:pt x="95250" y="258187"/>
                  <a:pt x="103763" y="266700"/>
                  <a:pt x="114300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14300" y="228600"/>
                </a:lnTo>
                <a:close/>
                <a:moveTo>
                  <a:pt x="28575" y="276225"/>
                </a:moveTo>
                <a:cubicBezTo>
                  <a:pt x="44346" y="276225"/>
                  <a:pt x="57150" y="263421"/>
                  <a:pt x="57150" y="247650"/>
                </a:cubicBezTo>
                <a:cubicBezTo>
                  <a:pt x="57150" y="231879"/>
                  <a:pt x="44346" y="219075"/>
                  <a:pt x="28575" y="219075"/>
                </a:cubicBezTo>
                <a:cubicBezTo>
                  <a:pt x="12804" y="219075"/>
                  <a:pt x="0" y="231879"/>
                  <a:pt x="0" y="247650"/>
                </a:cubicBezTo>
                <a:cubicBezTo>
                  <a:pt x="0" y="263421"/>
                  <a:pt x="12804" y="276225"/>
                  <a:pt x="28575" y="276225"/>
                </a:cubicBezTo>
                <a:close/>
                <a:moveTo>
                  <a:pt x="57150" y="152400"/>
                </a:moveTo>
                <a:cubicBezTo>
                  <a:pt x="57150" y="136629"/>
                  <a:pt x="44346" y="123825"/>
                  <a:pt x="28575" y="123825"/>
                </a:cubicBezTo>
                <a:cubicBezTo>
                  <a:pt x="12804" y="123825"/>
                  <a:pt x="0" y="136629"/>
                  <a:pt x="0" y="152400"/>
                </a:cubicBezTo>
                <a:cubicBezTo>
                  <a:pt x="0" y="168171"/>
                  <a:pt x="12804" y="180975"/>
                  <a:pt x="28575" y="180975"/>
                </a:cubicBezTo>
                <a:cubicBezTo>
                  <a:pt x="44346" y="180975"/>
                  <a:pt x="57150" y="168171"/>
                  <a:pt x="57150" y="15240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712200" y="14732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1200" y="2184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585200" y="2082800"/>
            <a:ext cx="400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价格或需求预测（房价、销量、能耗）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31200" y="2692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85200" y="2590800"/>
            <a:ext cx="377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风险或强度估计（评分、指标预测）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31200" y="3200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85200" y="3098800"/>
            <a:ext cx="308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作为复杂模型的基线进行对比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31200" y="3708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85200" y="3606800"/>
            <a:ext cx="240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正则化回归的基础形式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69300" y="431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712200" y="42672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建模假设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31200" y="4876800"/>
            <a:ext cx="7416800" cy="1524000"/>
          </a:xfrm>
          <a:custGeom>
            <a:avLst/>
            <a:gdLst/>
            <a:ahLst/>
            <a:cxnLst/>
            <a:rect l="l" t="t" r="r" b="b"/>
            <a:pathLst>
              <a:path w="7416800" h="1524000">
                <a:moveTo>
                  <a:pt x="101605" y="0"/>
                </a:moveTo>
                <a:lnTo>
                  <a:pt x="7315195" y="0"/>
                </a:lnTo>
                <a:cubicBezTo>
                  <a:pt x="7371310" y="0"/>
                  <a:pt x="7416800" y="45490"/>
                  <a:pt x="7416800" y="101605"/>
                </a:cubicBezTo>
                <a:lnTo>
                  <a:pt x="7416800" y="1422395"/>
                </a:lnTo>
                <a:cubicBezTo>
                  <a:pt x="7416800" y="1478510"/>
                  <a:pt x="7371310" y="1524000"/>
                  <a:pt x="7315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570913" y="51435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858250" y="50800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关系近似线性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70913" y="5549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858250" y="5486400"/>
            <a:ext cx="287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误差项均值为0，方差相对稳定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70913" y="59563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858250" y="58928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样本之间近似独立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3400" y="7242175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88900" y="63500"/>
                </a:moveTo>
                <a:cubicBezTo>
                  <a:pt x="88900" y="56491"/>
                  <a:pt x="94591" y="50800"/>
                  <a:pt x="101600" y="50800"/>
                </a:cubicBezTo>
                <a:cubicBezTo>
                  <a:pt x="108609" y="50800"/>
                  <a:pt x="114300" y="56491"/>
                  <a:pt x="114300" y="63500"/>
                </a:cubicBezTo>
                <a:cubicBezTo>
                  <a:pt x="114300" y="70509"/>
                  <a:pt x="108609" y="76200"/>
                  <a:pt x="101600" y="76200"/>
                </a:cubicBezTo>
                <a:cubicBezTo>
                  <a:pt x="94591" y="76200"/>
                  <a:pt x="88900" y="70509"/>
                  <a:pt x="88900" y="63500"/>
                </a:cubicBezTo>
                <a:close/>
                <a:moveTo>
                  <a:pt x="85725" y="88900"/>
                </a:moveTo>
                <a:lnTo>
                  <a:pt x="104775" y="88900"/>
                </a:lnTo>
                <a:cubicBezTo>
                  <a:pt x="110053" y="88900"/>
                  <a:pt x="114300" y="93147"/>
                  <a:pt x="114300" y="98425"/>
                </a:cubicBezTo>
                <a:lnTo>
                  <a:pt x="114300" y="133350"/>
                </a:lnTo>
                <a:lnTo>
                  <a:pt x="117475" y="133350"/>
                </a:lnTo>
                <a:cubicBezTo>
                  <a:pt x="122753" y="133350"/>
                  <a:pt x="127000" y="137597"/>
                  <a:pt x="127000" y="142875"/>
                </a:cubicBezTo>
                <a:cubicBezTo>
                  <a:pt x="127000" y="148153"/>
                  <a:pt x="122753" y="152400"/>
                  <a:pt x="117475" y="152400"/>
                </a:cubicBezTo>
                <a:lnTo>
                  <a:pt x="85725" y="152400"/>
                </a:lnTo>
                <a:cubicBezTo>
                  <a:pt x="80447" y="152400"/>
                  <a:pt x="76200" y="148153"/>
                  <a:pt x="76200" y="142875"/>
                </a:cubicBezTo>
                <a:cubicBezTo>
                  <a:pt x="76200" y="137597"/>
                  <a:pt x="80447" y="133350"/>
                  <a:pt x="85725" y="133350"/>
                </a:cubicBezTo>
                <a:lnTo>
                  <a:pt x="95250" y="133350"/>
                </a:lnTo>
                <a:lnTo>
                  <a:pt x="95250" y="107950"/>
                </a:lnTo>
                <a:lnTo>
                  <a:pt x="85725" y="107950"/>
                </a:lnTo>
                <a:cubicBezTo>
                  <a:pt x="80447" y="107950"/>
                  <a:pt x="76200" y="103703"/>
                  <a:pt x="76200" y="98425"/>
                </a:cubicBezTo>
                <a:cubicBezTo>
                  <a:pt x="76200" y="93147"/>
                  <a:pt x="80447" y="88900"/>
                  <a:pt x="85725" y="8890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63600" y="7191375"/>
            <a:ext cx="640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只有一个输入变量称为简单线性回归，多个输入变量称为多元线性回归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504" y="502504"/>
            <a:ext cx="15477119" cy="50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6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线性回归：参数求解与复杂度分析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2504" y="1155759"/>
            <a:ext cx="1005008" cy="50250"/>
          </a:xfrm>
          <a:custGeom>
            <a:avLst/>
            <a:gdLst/>
            <a:ahLst/>
            <a:cxnLst/>
            <a:rect l="l" t="t" r="r" b="b"/>
            <a:pathLst>
              <a:path w="1005008" h="50250">
                <a:moveTo>
                  <a:pt x="0" y="0"/>
                </a:moveTo>
                <a:lnTo>
                  <a:pt x="1005008" y="0"/>
                </a:lnTo>
                <a:lnTo>
                  <a:pt x="1005008" y="50250"/>
                </a:lnTo>
                <a:lnTo>
                  <a:pt x="0" y="5025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02504" y="1407011"/>
            <a:ext cx="7575246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dirty="0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 </a:t>
            </a:r>
            <a:r>
              <a:rPr lang="en-US" sz="237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最小二乘解析解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504" y="2010015"/>
            <a:ext cx="7524995" cy="326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当将偏置并入特征（令</a:t>
            </a:r>
            <a:r>
              <a:rPr lang="en-US" sz="158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x₀=1</a:t>
            </a:r>
            <a:r>
              <a:rPr lang="en-US" sz="158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）后，可直接通过正规方程求解参数：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7629" y="2537645"/>
            <a:ext cx="7399369" cy="1206009"/>
          </a:xfrm>
          <a:custGeom>
            <a:avLst/>
            <a:gdLst/>
            <a:ahLst/>
            <a:cxnLst/>
            <a:rect l="l" t="t" r="r" b="b"/>
            <a:pathLst>
              <a:path w="7399369" h="1206009">
                <a:moveTo>
                  <a:pt x="50250" y="0"/>
                </a:moveTo>
                <a:lnTo>
                  <a:pt x="7298873" y="0"/>
                </a:lnTo>
                <a:cubicBezTo>
                  <a:pt x="7354375" y="0"/>
                  <a:pt x="7399369" y="44994"/>
                  <a:pt x="7399369" y="100497"/>
                </a:cubicBezTo>
                <a:lnTo>
                  <a:pt x="7399369" y="1105513"/>
                </a:lnTo>
                <a:cubicBezTo>
                  <a:pt x="7399369" y="1161015"/>
                  <a:pt x="7354375" y="1206009"/>
                  <a:pt x="7298873" y="1206009"/>
                </a:cubicBezTo>
                <a:lnTo>
                  <a:pt x="50250" y="1206009"/>
                </a:lnTo>
                <a:cubicBezTo>
                  <a:pt x="22498" y="1206009"/>
                  <a:pt x="0" y="1183511"/>
                  <a:pt x="0" y="1155759"/>
                </a:cubicBezTo>
                <a:lnTo>
                  <a:pt x="0" y="50250"/>
                </a:lnTo>
                <a:cubicBezTo>
                  <a:pt x="0" y="22498"/>
                  <a:pt x="22498" y="0"/>
                  <a:pt x="5025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7629" y="2537645"/>
            <a:ext cx="50250" cy="1206009"/>
          </a:xfrm>
          <a:custGeom>
            <a:avLst/>
            <a:gdLst/>
            <a:ahLst/>
            <a:cxnLst/>
            <a:rect l="l" t="t" r="r" b="b"/>
            <a:pathLst>
              <a:path w="50250" h="1206009">
                <a:moveTo>
                  <a:pt x="50250" y="0"/>
                </a:moveTo>
                <a:lnTo>
                  <a:pt x="50250" y="0"/>
                </a:lnTo>
                <a:lnTo>
                  <a:pt x="50250" y="1206009"/>
                </a:lnTo>
                <a:lnTo>
                  <a:pt x="50250" y="1206009"/>
                </a:lnTo>
                <a:cubicBezTo>
                  <a:pt x="22498" y="1206009"/>
                  <a:pt x="0" y="1183511"/>
                  <a:pt x="0" y="1155759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90943" y="2738646"/>
            <a:ext cx="7097867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78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ŵ = (XᵀX)⁻¹Xᵀy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3756" y="3241150"/>
            <a:ext cx="707274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实际实现通常使用</a:t>
            </a:r>
            <a:r>
              <a:rPr lang="en-US" sz="1583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QR</a:t>
            </a:r>
            <a:r>
              <a:rPr lang="en-US" sz="1583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分解或</a:t>
            </a:r>
            <a:r>
              <a:rPr lang="en-US" sz="1583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SVD</a:t>
            </a:r>
            <a:r>
              <a:rPr lang="en-US" sz="1583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，避免直接求逆导致的数值不稳定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785" y="3950937"/>
            <a:ext cx="7411932" cy="917070"/>
          </a:xfrm>
          <a:custGeom>
            <a:avLst/>
            <a:gdLst/>
            <a:ahLst/>
            <a:cxnLst/>
            <a:rect l="l" t="t" r="r" b="b"/>
            <a:pathLst>
              <a:path w="7411932" h="917070">
                <a:moveTo>
                  <a:pt x="100502" y="0"/>
                </a:moveTo>
                <a:lnTo>
                  <a:pt x="7311430" y="0"/>
                </a:lnTo>
                <a:cubicBezTo>
                  <a:pt x="7366936" y="0"/>
                  <a:pt x="7411932" y="44996"/>
                  <a:pt x="7411932" y="100502"/>
                </a:cubicBezTo>
                <a:lnTo>
                  <a:pt x="7411932" y="816568"/>
                </a:lnTo>
                <a:cubicBezTo>
                  <a:pt x="7411932" y="872073"/>
                  <a:pt x="7366936" y="917070"/>
                  <a:pt x="7311430" y="917070"/>
                </a:cubicBezTo>
                <a:lnTo>
                  <a:pt x="100502" y="917070"/>
                </a:lnTo>
                <a:cubicBezTo>
                  <a:pt x="44996" y="917070"/>
                  <a:pt x="0" y="872073"/>
                  <a:pt x="0" y="816568"/>
                </a:cubicBezTo>
                <a:lnTo>
                  <a:pt x="0" y="100502"/>
                </a:lnTo>
                <a:cubicBezTo>
                  <a:pt x="0" y="45033"/>
                  <a:pt x="45033" y="0"/>
                  <a:pt x="100502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 w="12700">
            <a:solidFill>
              <a:srgbClr val="E5A1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65818" y="4107969"/>
            <a:ext cx="7198368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时间复杂度：</a:t>
            </a:r>
            <a:r>
              <a:rPr lang="en-US" sz="158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O(md² + d³)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5818" y="4459722"/>
            <a:ext cx="718580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其中m为样本数，d为特征维度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504" y="5175790"/>
            <a:ext cx="7575246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dirty="0">
                <a:solidFill>
                  <a:srgbClr val="1A1D21"/>
                </a:solidFill>
                <a:highlight>
                  <a:srgbClr val="E5A165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 </a:t>
            </a:r>
            <a:r>
              <a:rPr lang="en-US" sz="2374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梯度下降法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504" y="5778794"/>
            <a:ext cx="7524995" cy="326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对损失函数求梯度并迭代更新参数，适合样本量或特征维度较大的场景：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7629" y="6306423"/>
            <a:ext cx="7399369" cy="1206009"/>
          </a:xfrm>
          <a:custGeom>
            <a:avLst/>
            <a:gdLst/>
            <a:ahLst/>
            <a:cxnLst/>
            <a:rect l="l" t="t" r="r" b="b"/>
            <a:pathLst>
              <a:path w="7399369" h="1206009">
                <a:moveTo>
                  <a:pt x="50250" y="0"/>
                </a:moveTo>
                <a:lnTo>
                  <a:pt x="7298873" y="0"/>
                </a:lnTo>
                <a:cubicBezTo>
                  <a:pt x="7354375" y="0"/>
                  <a:pt x="7399369" y="44994"/>
                  <a:pt x="7399369" y="100497"/>
                </a:cubicBezTo>
                <a:lnTo>
                  <a:pt x="7399369" y="1105513"/>
                </a:lnTo>
                <a:cubicBezTo>
                  <a:pt x="7399369" y="1161015"/>
                  <a:pt x="7354375" y="1206009"/>
                  <a:pt x="7298873" y="1206009"/>
                </a:cubicBezTo>
                <a:lnTo>
                  <a:pt x="50250" y="1206009"/>
                </a:lnTo>
                <a:cubicBezTo>
                  <a:pt x="22498" y="1206009"/>
                  <a:pt x="0" y="1183511"/>
                  <a:pt x="0" y="1155759"/>
                </a:cubicBezTo>
                <a:lnTo>
                  <a:pt x="0" y="50250"/>
                </a:lnTo>
                <a:cubicBezTo>
                  <a:pt x="0" y="22498"/>
                  <a:pt x="22498" y="0"/>
                  <a:pt x="5025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527629" y="6306423"/>
            <a:ext cx="50250" cy="1206009"/>
          </a:xfrm>
          <a:custGeom>
            <a:avLst/>
            <a:gdLst/>
            <a:ahLst/>
            <a:cxnLst/>
            <a:rect l="l" t="t" r="r" b="b"/>
            <a:pathLst>
              <a:path w="50250" h="1206009">
                <a:moveTo>
                  <a:pt x="50250" y="0"/>
                </a:moveTo>
                <a:lnTo>
                  <a:pt x="50250" y="0"/>
                </a:lnTo>
                <a:lnTo>
                  <a:pt x="50250" y="1206009"/>
                </a:lnTo>
                <a:lnTo>
                  <a:pt x="50250" y="1206009"/>
                </a:lnTo>
                <a:cubicBezTo>
                  <a:pt x="22498" y="1206009"/>
                  <a:pt x="0" y="1183511"/>
                  <a:pt x="0" y="1155759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97224" y="6507425"/>
            <a:ext cx="7085304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8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 ← w - η ∂MSE/∂w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7224" y="6959679"/>
            <a:ext cx="7085304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8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 ← b - η ∂MSE/∂b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8785" y="7719716"/>
            <a:ext cx="7411932" cy="917070"/>
          </a:xfrm>
          <a:custGeom>
            <a:avLst/>
            <a:gdLst/>
            <a:ahLst/>
            <a:cxnLst/>
            <a:rect l="l" t="t" r="r" b="b"/>
            <a:pathLst>
              <a:path w="7411932" h="917070">
                <a:moveTo>
                  <a:pt x="100502" y="0"/>
                </a:moveTo>
                <a:lnTo>
                  <a:pt x="7311430" y="0"/>
                </a:lnTo>
                <a:cubicBezTo>
                  <a:pt x="7366936" y="0"/>
                  <a:pt x="7411932" y="44996"/>
                  <a:pt x="7411932" y="100502"/>
                </a:cubicBezTo>
                <a:lnTo>
                  <a:pt x="7411932" y="816568"/>
                </a:lnTo>
                <a:cubicBezTo>
                  <a:pt x="7411932" y="872073"/>
                  <a:pt x="7366936" y="917070"/>
                  <a:pt x="7311430" y="917070"/>
                </a:cubicBezTo>
                <a:lnTo>
                  <a:pt x="100502" y="917070"/>
                </a:lnTo>
                <a:cubicBezTo>
                  <a:pt x="44996" y="917070"/>
                  <a:pt x="0" y="872073"/>
                  <a:pt x="0" y="816568"/>
                </a:cubicBezTo>
                <a:lnTo>
                  <a:pt x="0" y="100502"/>
                </a:lnTo>
                <a:cubicBezTo>
                  <a:pt x="0" y="45033"/>
                  <a:pt x="45033" y="0"/>
                  <a:pt x="100502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 w="12700">
            <a:solidFill>
              <a:srgbClr val="E5A1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65818" y="7876748"/>
            <a:ext cx="7198368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时间复杂度：</a:t>
            </a:r>
            <a:r>
              <a:rPr lang="en-US" sz="158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O(Tmd)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5818" y="8228501"/>
            <a:ext cx="7185805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其中T为迭代轮数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05751" y="1457261"/>
            <a:ext cx="226127" cy="301502"/>
          </a:xfrm>
          <a:custGeom>
            <a:avLst/>
            <a:gdLst/>
            <a:ahLst/>
            <a:cxnLst/>
            <a:rect l="l" t="t" r="r" b="b"/>
            <a:pathLst>
              <a:path w="226127" h="301502">
                <a:moveTo>
                  <a:pt x="37688" y="0"/>
                </a:moveTo>
                <a:cubicBezTo>
                  <a:pt x="16901" y="0"/>
                  <a:pt x="0" y="16901"/>
                  <a:pt x="0" y="37688"/>
                </a:cubicBezTo>
                <a:lnTo>
                  <a:pt x="0" y="263815"/>
                </a:lnTo>
                <a:cubicBezTo>
                  <a:pt x="0" y="284602"/>
                  <a:pt x="16901" y="301502"/>
                  <a:pt x="37688" y="301502"/>
                </a:cubicBezTo>
                <a:lnTo>
                  <a:pt x="188439" y="301502"/>
                </a:lnTo>
                <a:cubicBezTo>
                  <a:pt x="209226" y="301502"/>
                  <a:pt x="226127" y="284602"/>
                  <a:pt x="226127" y="263815"/>
                </a:cubicBezTo>
                <a:lnTo>
                  <a:pt x="226127" y="37688"/>
                </a:lnTo>
                <a:cubicBezTo>
                  <a:pt x="226127" y="16901"/>
                  <a:pt x="209226" y="0"/>
                  <a:pt x="188439" y="0"/>
                </a:cubicBezTo>
                <a:lnTo>
                  <a:pt x="37688" y="0"/>
                </a:lnTo>
                <a:close/>
                <a:moveTo>
                  <a:pt x="56532" y="37688"/>
                </a:moveTo>
                <a:lnTo>
                  <a:pt x="169595" y="37688"/>
                </a:lnTo>
                <a:cubicBezTo>
                  <a:pt x="180018" y="37688"/>
                  <a:pt x="188439" y="46109"/>
                  <a:pt x="188439" y="56532"/>
                </a:cubicBezTo>
                <a:lnTo>
                  <a:pt x="188439" y="75376"/>
                </a:lnTo>
                <a:cubicBezTo>
                  <a:pt x="188439" y="85799"/>
                  <a:pt x="180018" y="94219"/>
                  <a:pt x="169595" y="94219"/>
                </a:cubicBezTo>
                <a:lnTo>
                  <a:pt x="56532" y="94219"/>
                </a:lnTo>
                <a:cubicBezTo>
                  <a:pt x="46109" y="94219"/>
                  <a:pt x="37688" y="85799"/>
                  <a:pt x="37688" y="75376"/>
                </a:cubicBezTo>
                <a:lnTo>
                  <a:pt x="37688" y="56532"/>
                </a:lnTo>
                <a:cubicBezTo>
                  <a:pt x="37688" y="46109"/>
                  <a:pt x="46109" y="37688"/>
                  <a:pt x="56532" y="37688"/>
                </a:cubicBezTo>
                <a:close/>
                <a:moveTo>
                  <a:pt x="65954" y="136618"/>
                </a:moveTo>
                <a:cubicBezTo>
                  <a:pt x="65954" y="144418"/>
                  <a:pt x="59621" y="150751"/>
                  <a:pt x="51821" y="150751"/>
                </a:cubicBezTo>
                <a:cubicBezTo>
                  <a:pt x="44021" y="150751"/>
                  <a:pt x="37688" y="144418"/>
                  <a:pt x="37688" y="136618"/>
                </a:cubicBezTo>
                <a:cubicBezTo>
                  <a:pt x="37688" y="128818"/>
                  <a:pt x="44021" y="122485"/>
                  <a:pt x="51821" y="122485"/>
                </a:cubicBezTo>
                <a:cubicBezTo>
                  <a:pt x="59621" y="122485"/>
                  <a:pt x="65954" y="128818"/>
                  <a:pt x="65954" y="136618"/>
                </a:cubicBezTo>
                <a:close/>
                <a:moveTo>
                  <a:pt x="113063" y="150751"/>
                </a:moveTo>
                <a:cubicBezTo>
                  <a:pt x="105263" y="150751"/>
                  <a:pt x="98930" y="144418"/>
                  <a:pt x="98930" y="136618"/>
                </a:cubicBezTo>
                <a:cubicBezTo>
                  <a:pt x="98930" y="128818"/>
                  <a:pt x="105263" y="122485"/>
                  <a:pt x="113063" y="122485"/>
                </a:cubicBezTo>
                <a:cubicBezTo>
                  <a:pt x="120864" y="122485"/>
                  <a:pt x="127196" y="128818"/>
                  <a:pt x="127196" y="136618"/>
                </a:cubicBezTo>
                <a:cubicBezTo>
                  <a:pt x="127196" y="144418"/>
                  <a:pt x="120864" y="150751"/>
                  <a:pt x="113063" y="150751"/>
                </a:cubicBezTo>
                <a:close/>
                <a:moveTo>
                  <a:pt x="188439" y="136618"/>
                </a:moveTo>
                <a:cubicBezTo>
                  <a:pt x="188439" y="144418"/>
                  <a:pt x="182106" y="150751"/>
                  <a:pt x="174306" y="150751"/>
                </a:cubicBezTo>
                <a:cubicBezTo>
                  <a:pt x="166506" y="150751"/>
                  <a:pt x="160173" y="144418"/>
                  <a:pt x="160173" y="136618"/>
                </a:cubicBezTo>
                <a:cubicBezTo>
                  <a:pt x="160173" y="128818"/>
                  <a:pt x="166506" y="122485"/>
                  <a:pt x="174306" y="122485"/>
                </a:cubicBezTo>
                <a:cubicBezTo>
                  <a:pt x="182106" y="122485"/>
                  <a:pt x="188439" y="128818"/>
                  <a:pt x="188439" y="136618"/>
                </a:cubicBezTo>
                <a:close/>
                <a:moveTo>
                  <a:pt x="51821" y="207283"/>
                </a:moveTo>
                <a:cubicBezTo>
                  <a:pt x="44021" y="207283"/>
                  <a:pt x="37688" y="200950"/>
                  <a:pt x="37688" y="193150"/>
                </a:cubicBezTo>
                <a:cubicBezTo>
                  <a:pt x="37688" y="185350"/>
                  <a:pt x="44021" y="179017"/>
                  <a:pt x="51821" y="179017"/>
                </a:cubicBezTo>
                <a:cubicBezTo>
                  <a:pt x="59621" y="179017"/>
                  <a:pt x="65954" y="185350"/>
                  <a:pt x="65954" y="193150"/>
                </a:cubicBezTo>
                <a:cubicBezTo>
                  <a:pt x="65954" y="200950"/>
                  <a:pt x="59621" y="207283"/>
                  <a:pt x="51821" y="207283"/>
                </a:cubicBezTo>
                <a:close/>
                <a:moveTo>
                  <a:pt x="127196" y="193150"/>
                </a:moveTo>
                <a:cubicBezTo>
                  <a:pt x="127196" y="200950"/>
                  <a:pt x="120864" y="207283"/>
                  <a:pt x="113063" y="207283"/>
                </a:cubicBezTo>
                <a:cubicBezTo>
                  <a:pt x="105263" y="207283"/>
                  <a:pt x="98930" y="200950"/>
                  <a:pt x="98930" y="193150"/>
                </a:cubicBezTo>
                <a:cubicBezTo>
                  <a:pt x="98930" y="185350"/>
                  <a:pt x="105263" y="179017"/>
                  <a:pt x="113063" y="179017"/>
                </a:cubicBezTo>
                <a:cubicBezTo>
                  <a:pt x="120864" y="179017"/>
                  <a:pt x="127196" y="185350"/>
                  <a:pt x="127196" y="193150"/>
                </a:cubicBezTo>
                <a:close/>
                <a:moveTo>
                  <a:pt x="174306" y="207283"/>
                </a:moveTo>
                <a:cubicBezTo>
                  <a:pt x="166506" y="207283"/>
                  <a:pt x="160173" y="200950"/>
                  <a:pt x="160173" y="193150"/>
                </a:cubicBezTo>
                <a:cubicBezTo>
                  <a:pt x="160173" y="185350"/>
                  <a:pt x="166506" y="179017"/>
                  <a:pt x="174306" y="179017"/>
                </a:cubicBezTo>
                <a:cubicBezTo>
                  <a:pt x="182106" y="179017"/>
                  <a:pt x="188439" y="185350"/>
                  <a:pt x="188439" y="193150"/>
                </a:cubicBezTo>
                <a:cubicBezTo>
                  <a:pt x="188439" y="200950"/>
                  <a:pt x="182106" y="207283"/>
                  <a:pt x="174306" y="207283"/>
                </a:cubicBezTo>
                <a:close/>
                <a:moveTo>
                  <a:pt x="37688" y="249682"/>
                </a:moveTo>
                <a:cubicBezTo>
                  <a:pt x="37688" y="241850"/>
                  <a:pt x="43989" y="235549"/>
                  <a:pt x="51821" y="235549"/>
                </a:cubicBezTo>
                <a:lnTo>
                  <a:pt x="117774" y="235549"/>
                </a:lnTo>
                <a:cubicBezTo>
                  <a:pt x="125606" y="235549"/>
                  <a:pt x="131907" y="241850"/>
                  <a:pt x="131907" y="249682"/>
                </a:cubicBezTo>
                <a:cubicBezTo>
                  <a:pt x="131907" y="257514"/>
                  <a:pt x="125606" y="263815"/>
                  <a:pt x="117774" y="263815"/>
                </a:cubicBezTo>
                <a:lnTo>
                  <a:pt x="51821" y="263815"/>
                </a:lnTo>
                <a:cubicBezTo>
                  <a:pt x="43989" y="263815"/>
                  <a:pt x="37688" y="257514"/>
                  <a:pt x="37688" y="249682"/>
                </a:cubicBezTo>
                <a:close/>
                <a:moveTo>
                  <a:pt x="174306" y="235549"/>
                </a:moveTo>
                <a:cubicBezTo>
                  <a:pt x="182138" y="235549"/>
                  <a:pt x="188439" y="241850"/>
                  <a:pt x="188439" y="249682"/>
                </a:cubicBezTo>
                <a:cubicBezTo>
                  <a:pt x="188439" y="257514"/>
                  <a:pt x="182138" y="263815"/>
                  <a:pt x="174306" y="263815"/>
                </a:cubicBezTo>
                <a:cubicBezTo>
                  <a:pt x="166474" y="263815"/>
                  <a:pt x="160173" y="257514"/>
                  <a:pt x="160173" y="249682"/>
                </a:cubicBezTo>
                <a:cubicBezTo>
                  <a:pt x="160173" y="241850"/>
                  <a:pt x="166474" y="235549"/>
                  <a:pt x="174306" y="23554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707253" y="1407011"/>
            <a:ext cx="7198368" cy="402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7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手工推导示例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30376" y="2010015"/>
            <a:ext cx="7524995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场景：</a:t>
            </a:r>
            <a:r>
              <a:rPr lang="en-US" sz="158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用房屋面积预测房价，一元线性回归 </a:t>
            </a:r>
            <a:r>
              <a:rPr lang="en-US" sz="158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ŷ = wx + b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30376" y="2512519"/>
            <a:ext cx="7424495" cy="1809014"/>
          </a:xfrm>
          <a:custGeom>
            <a:avLst/>
            <a:gdLst/>
            <a:ahLst/>
            <a:cxnLst/>
            <a:rect l="l" t="t" r="r" b="b"/>
            <a:pathLst>
              <a:path w="7424495" h="1809014">
                <a:moveTo>
                  <a:pt x="100509" y="0"/>
                </a:moveTo>
                <a:lnTo>
                  <a:pt x="7323986" y="0"/>
                </a:lnTo>
                <a:cubicBezTo>
                  <a:pt x="7379495" y="0"/>
                  <a:pt x="7424495" y="44999"/>
                  <a:pt x="7424495" y="100509"/>
                </a:cubicBezTo>
                <a:lnTo>
                  <a:pt x="7424495" y="1708505"/>
                </a:lnTo>
                <a:cubicBezTo>
                  <a:pt x="7424495" y="1764015"/>
                  <a:pt x="7379495" y="1809014"/>
                  <a:pt x="7323986" y="1809014"/>
                </a:cubicBezTo>
                <a:lnTo>
                  <a:pt x="100509" y="1809014"/>
                </a:lnTo>
                <a:cubicBezTo>
                  <a:pt x="44999" y="1809014"/>
                  <a:pt x="0" y="1764015"/>
                  <a:pt x="0" y="1708505"/>
                </a:cubicBezTo>
                <a:lnTo>
                  <a:pt x="0" y="100509"/>
                </a:lnTo>
                <a:cubicBezTo>
                  <a:pt x="0" y="45036"/>
                  <a:pt x="45036" y="0"/>
                  <a:pt x="10050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31377" y="2713521"/>
            <a:ext cx="712299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数据集：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31377" y="3115524"/>
            <a:ext cx="712299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样本1: 面积1000 → 价格200000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31377" y="3467277"/>
            <a:ext cx="712299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样本2: 面积1500 → 价格250000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31377" y="3819029"/>
            <a:ext cx="712299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样本3: 面积2000 → 价格300000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55501" y="4522535"/>
            <a:ext cx="7399369" cy="1155759"/>
          </a:xfrm>
          <a:custGeom>
            <a:avLst/>
            <a:gdLst/>
            <a:ahLst/>
            <a:cxnLst/>
            <a:rect l="l" t="t" r="r" b="b"/>
            <a:pathLst>
              <a:path w="7399369" h="1155759">
                <a:moveTo>
                  <a:pt x="50250" y="0"/>
                </a:moveTo>
                <a:lnTo>
                  <a:pt x="7298865" y="0"/>
                </a:lnTo>
                <a:cubicBezTo>
                  <a:pt x="7354372" y="0"/>
                  <a:pt x="7399369" y="44998"/>
                  <a:pt x="7399369" y="100505"/>
                </a:cubicBezTo>
                <a:lnTo>
                  <a:pt x="7399369" y="1055254"/>
                </a:lnTo>
                <a:cubicBezTo>
                  <a:pt x="7399369" y="1110761"/>
                  <a:pt x="7354372" y="1155759"/>
                  <a:pt x="7298865" y="1155759"/>
                </a:cubicBezTo>
                <a:lnTo>
                  <a:pt x="50250" y="1155759"/>
                </a:lnTo>
                <a:cubicBezTo>
                  <a:pt x="22498" y="1155759"/>
                  <a:pt x="0" y="1133261"/>
                  <a:pt x="0" y="1105509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355501" y="4522535"/>
            <a:ext cx="50250" cy="1155759"/>
          </a:xfrm>
          <a:custGeom>
            <a:avLst/>
            <a:gdLst/>
            <a:ahLst/>
            <a:cxnLst/>
            <a:rect l="l" t="t" r="r" b="b"/>
            <a:pathLst>
              <a:path w="50250" h="1155759">
                <a:moveTo>
                  <a:pt x="50250" y="0"/>
                </a:moveTo>
                <a:lnTo>
                  <a:pt x="50250" y="0"/>
                </a:lnTo>
                <a:lnTo>
                  <a:pt x="50250" y="1155759"/>
                </a:lnTo>
                <a:lnTo>
                  <a:pt x="50250" y="1155759"/>
                </a:lnTo>
                <a:cubicBezTo>
                  <a:pt x="22498" y="1155759"/>
                  <a:pt x="0" y="1133261"/>
                  <a:pt x="0" y="1105509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581628" y="4723536"/>
            <a:ext cx="707274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步骤1：计算均值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81628" y="5125539"/>
            <a:ext cx="7085304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x̄ = 1500, ȳ = 250000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355501" y="5829045"/>
            <a:ext cx="7399369" cy="1507512"/>
          </a:xfrm>
          <a:custGeom>
            <a:avLst/>
            <a:gdLst/>
            <a:ahLst/>
            <a:cxnLst/>
            <a:rect l="l" t="t" r="r" b="b"/>
            <a:pathLst>
              <a:path w="7399369" h="1507512">
                <a:moveTo>
                  <a:pt x="50250" y="0"/>
                </a:moveTo>
                <a:lnTo>
                  <a:pt x="7298864" y="0"/>
                </a:lnTo>
                <a:cubicBezTo>
                  <a:pt x="7354371" y="0"/>
                  <a:pt x="7399369" y="44998"/>
                  <a:pt x="7399369" y="100506"/>
                </a:cubicBezTo>
                <a:lnTo>
                  <a:pt x="7399369" y="1407006"/>
                </a:lnTo>
                <a:cubicBezTo>
                  <a:pt x="7399369" y="1462514"/>
                  <a:pt x="7354371" y="1507512"/>
                  <a:pt x="7298864" y="1507512"/>
                </a:cubicBezTo>
                <a:lnTo>
                  <a:pt x="50250" y="1507512"/>
                </a:lnTo>
                <a:cubicBezTo>
                  <a:pt x="22498" y="1507512"/>
                  <a:pt x="0" y="1485014"/>
                  <a:pt x="0" y="145726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355501" y="5829045"/>
            <a:ext cx="50250" cy="1507512"/>
          </a:xfrm>
          <a:custGeom>
            <a:avLst/>
            <a:gdLst/>
            <a:ahLst/>
            <a:cxnLst/>
            <a:rect l="l" t="t" r="r" b="b"/>
            <a:pathLst>
              <a:path w="50250" h="1507512">
                <a:moveTo>
                  <a:pt x="50250" y="0"/>
                </a:moveTo>
                <a:lnTo>
                  <a:pt x="50250" y="0"/>
                </a:lnTo>
                <a:lnTo>
                  <a:pt x="50250" y="1507512"/>
                </a:lnTo>
                <a:lnTo>
                  <a:pt x="50250" y="1507512"/>
                </a:lnTo>
                <a:cubicBezTo>
                  <a:pt x="22498" y="1507512"/>
                  <a:pt x="0" y="1485014"/>
                  <a:pt x="0" y="1457261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581628" y="6030046"/>
            <a:ext cx="707274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步骤2：计算参数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81628" y="6432049"/>
            <a:ext cx="7085304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 = 100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581628" y="6783802"/>
            <a:ext cx="7085304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 = 100000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355501" y="7487308"/>
            <a:ext cx="7399369" cy="1155759"/>
          </a:xfrm>
          <a:custGeom>
            <a:avLst/>
            <a:gdLst/>
            <a:ahLst/>
            <a:cxnLst/>
            <a:rect l="l" t="t" r="r" b="b"/>
            <a:pathLst>
              <a:path w="7399369" h="1155759">
                <a:moveTo>
                  <a:pt x="50250" y="0"/>
                </a:moveTo>
                <a:lnTo>
                  <a:pt x="7298865" y="0"/>
                </a:lnTo>
                <a:cubicBezTo>
                  <a:pt x="7354372" y="0"/>
                  <a:pt x="7399369" y="44998"/>
                  <a:pt x="7399369" y="100505"/>
                </a:cubicBezTo>
                <a:lnTo>
                  <a:pt x="7399369" y="1055254"/>
                </a:lnTo>
                <a:cubicBezTo>
                  <a:pt x="7399369" y="1110761"/>
                  <a:pt x="7354372" y="1155759"/>
                  <a:pt x="7298865" y="1155759"/>
                </a:cubicBezTo>
                <a:lnTo>
                  <a:pt x="50250" y="1155759"/>
                </a:lnTo>
                <a:cubicBezTo>
                  <a:pt x="22498" y="1155759"/>
                  <a:pt x="0" y="1133261"/>
                  <a:pt x="0" y="1105509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355501" y="7487308"/>
            <a:ext cx="50250" cy="1155759"/>
          </a:xfrm>
          <a:custGeom>
            <a:avLst/>
            <a:gdLst/>
            <a:ahLst/>
            <a:cxnLst/>
            <a:rect l="l" t="t" r="r" b="b"/>
            <a:pathLst>
              <a:path w="50250" h="1155759">
                <a:moveTo>
                  <a:pt x="50250" y="0"/>
                </a:moveTo>
                <a:lnTo>
                  <a:pt x="50250" y="0"/>
                </a:lnTo>
                <a:lnTo>
                  <a:pt x="50250" y="1155759"/>
                </a:lnTo>
                <a:lnTo>
                  <a:pt x="50250" y="1155759"/>
                </a:lnTo>
                <a:cubicBezTo>
                  <a:pt x="22498" y="1155759"/>
                  <a:pt x="0" y="1133261"/>
                  <a:pt x="0" y="1105509"/>
                </a:cubicBezTo>
                <a:lnTo>
                  <a:pt x="0" y="50250"/>
                </a:lnTo>
                <a:cubicBezTo>
                  <a:pt x="0" y="22516"/>
                  <a:pt x="22516" y="0"/>
                  <a:pt x="5025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581628" y="7688309"/>
            <a:ext cx="7072742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结果：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81628" y="8090312"/>
            <a:ext cx="7085304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ŷ = 100x + 100000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线性回归：算法优缺点与优化策略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684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61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7625" y="95250"/>
                </a:moveTo>
                <a:cubicBezTo>
                  <a:pt x="58162" y="95250"/>
                  <a:pt x="66675" y="103763"/>
                  <a:pt x="66675" y="114300"/>
                </a:cubicBezTo>
                <a:lnTo>
                  <a:pt x="66675" y="266700"/>
                </a:lnTo>
                <a:cubicBezTo>
                  <a:pt x="66675" y="277237"/>
                  <a:pt x="58162" y="285750"/>
                  <a:pt x="47625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114300"/>
                </a:lnTo>
                <a:cubicBezTo>
                  <a:pt x="0" y="103763"/>
                  <a:pt x="8513" y="95250"/>
                  <a:pt x="19050" y="95250"/>
                </a:cubicBezTo>
                <a:lnTo>
                  <a:pt x="47625" y="95250"/>
                </a:lnTo>
                <a:close/>
                <a:moveTo>
                  <a:pt x="161092" y="9525"/>
                </a:moveTo>
                <a:cubicBezTo>
                  <a:pt x="177344" y="9525"/>
                  <a:pt x="190500" y="22681"/>
                  <a:pt x="190500" y="38933"/>
                </a:cubicBezTo>
                <a:lnTo>
                  <a:pt x="190500" y="41434"/>
                </a:lnTo>
                <a:cubicBezTo>
                  <a:pt x="190500" y="45482"/>
                  <a:pt x="189726" y="49530"/>
                  <a:pt x="188238" y="53280"/>
                </a:cubicBezTo>
                <a:lnTo>
                  <a:pt x="171450" y="95250"/>
                </a:lnTo>
                <a:lnTo>
                  <a:pt x="266700" y="95250"/>
                </a:lnTo>
                <a:cubicBezTo>
                  <a:pt x="282476" y="95250"/>
                  <a:pt x="295275" y="108049"/>
                  <a:pt x="295275" y="123825"/>
                </a:cubicBezTo>
                <a:cubicBezTo>
                  <a:pt x="295275" y="135553"/>
                  <a:pt x="288191" y="145613"/>
                  <a:pt x="278070" y="150019"/>
                </a:cubicBezTo>
                <a:cubicBezTo>
                  <a:pt x="288191" y="154424"/>
                  <a:pt x="295275" y="164485"/>
                  <a:pt x="295275" y="176212"/>
                </a:cubicBezTo>
                <a:cubicBezTo>
                  <a:pt x="295275" y="190143"/>
                  <a:pt x="285274" y="201751"/>
                  <a:pt x="272058" y="204252"/>
                </a:cubicBezTo>
                <a:cubicBezTo>
                  <a:pt x="274677" y="208598"/>
                  <a:pt x="276225" y="213658"/>
                  <a:pt x="276225" y="219075"/>
                </a:cubicBezTo>
                <a:cubicBezTo>
                  <a:pt x="276225" y="232291"/>
                  <a:pt x="267295" y="243364"/>
                  <a:pt x="255151" y="246638"/>
                </a:cubicBezTo>
                <a:cubicBezTo>
                  <a:pt x="256461" y="249912"/>
                  <a:pt x="257175" y="253484"/>
                  <a:pt x="257175" y="257175"/>
                </a:cubicBezTo>
                <a:cubicBezTo>
                  <a:pt x="257175" y="272951"/>
                  <a:pt x="244376" y="285750"/>
                  <a:pt x="228600" y="285750"/>
                </a:cubicBezTo>
                <a:lnTo>
                  <a:pt x="176272" y="285750"/>
                </a:lnTo>
                <a:cubicBezTo>
                  <a:pt x="154662" y="285750"/>
                  <a:pt x="133648" y="278368"/>
                  <a:pt x="116800" y="264855"/>
                </a:cubicBezTo>
                <a:lnTo>
                  <a:pt x="109537" y="259080"/>
                </a:lnTo>
                <a:cubicBezTo>
                  <a:pt x="100489" y="251877"/>
                  <a:pt x="95250" y="240923"/>
                  <a:pt x="95250" y="229314"/>
                </a:cubicBezTo>
                <a:lnTo>
                  <a:pt x="95250" y="118229"/>
                </a:lnTo>
                <a:cubicBezTo>
                  <a:pt x="95250" y="109359"/>
                  <a:pt x="97334" y="100608"/>
                  <a:pt x="101263" y="92690"/>
                </a:cubicBezTo>
                <a:lnTo>
                  <a:pt x="134719" y="25777"/>
                </a:lnTo>
                <a:cubicBezTo>
                  <a:pt x="139720" y="15835"/>
                  <a:pt x="149900" y="9525"/>
                  <a:pt x="161092" y="952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890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3100" y="2184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19200" y="2032000"/>
            <a:ext cx="681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简单易解释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2489200"/>
            <a:ext cx="680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系数方向与大小具有直观意义，便于解释与沟通。正系数表示正相关，负系数表示负相关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330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73100" y="3454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219200" y="3302000"/>
            <a:ext cx="681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训练与推理高效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3759200"/>
            <a:ext cx="680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在中小规模数据上训练快速，可作为强基线模型。解析解直接计算，无需迭代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" y="457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73100" y="4724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19200" y="4572000"/>
            <a:ext cx="499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可扩展性好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9200" y="5029200"/>
            <a:ext cx="497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可与特征工程、正则化、核方法等结合，形成更强模型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693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28600" y="19050"/>
                </a:moveTo>
                <a:cubicBezTo>
                  <a:pt x="244376" y="19050"/>
                  <a:pt x="257175" y="31849"/>
                  <a:pt x="257175" y="47625"/>
                </a:cubicBezTo>
                <a:cubicBezTo>
                  <a:pt x="257175" y="51375"/>
                  <a:pt x="256401" y="54888"/>
                  <a:pt x="255151" y="58162"/>
                </a:cubicBezTo>
                <a:cubicBezTo>
                  <a:pt x="267295" y="61436"/>
                  <a:pt x="276225" y="72509"/>
                  <a:pt x="276225" y="85725"/>
                </a:cubicBezTo>
                <a:cubicBezTo>
                  <a:pt x="276225" y="91142"/>
                  <a:pt x="274677" y="96203"/>
                  <a:pt x="272058" y="100548"/>
                </a:cubicBezTo>
                <a:cubicBezTo>
                  <a:pt x="285274" y="103049"/>
                  <a:pt x="295275" y="114657"/>
                  <a:pt x="295275" y="128588"/>
                </a:cubicBezTo>
                <a:cubicBezTo>
                  <a:pt x="295275" y="140315"/>
                  <a:pt x="288191" y="150376"/>
                  <a:pt x="278070" y="154781"/>
                </a:cubicBezTo>
                <a:cubicBezTo>
                  <a:pt x="288191" y="159187"/>
                  <a:pt x="295275" y="169247"/>
                  <a:pt x="295275" y="180975"/>
                </a:cubicBezTo>
                <a:cubicBezTo>
                  <a:pt x="295275" y="196751"/>
                  <a:pt x="282476" y="209550"/>
                  <a:pt x="266700" y="209550"/>
                </a:cubicBezTo>
                <a:lnTo>
                  <a:pt x="171450" y="209550"/>
                </a:lnTo>
                <a:lnTo>
                  <a:pt x="188238" y="251460"/>
                </a:lnTo>
                <a:cubicBezTo>
                  <a:pt x="189726" y="255210"/>
                  <a:pt x="190500" y="259259"/>
                  <a:pt x="190500" y="263307"/>
                </a:cubicBezTo>
                <a:lnTo>
                  <a:pt x="190500" y="265807"/>
                </a:lnTo>
                <a:cubicBezTo>
                  <a:pt x="190500" y="282059"/>
                  <a:pt x="177344" y="295215"/>
                  <a:pt x="161092" y="295215"/>
                </a:cubicBezTo>
                <a:cubicBezTo>
                  <a:pt x="149959" y="295215"/>
                  <a:pt x="139779" y="288905"/>
                  <a:pt x="134779" y="278963"/>
                </a:cubicBezTo>
                <a:lnTo>
                  <a:pt x="101263" y="212110"/>
                </a:lnTo>
                <a:cubicBezTo>
                  <a:pt x="97274" y="204192"/>
                  <a:pt x="95250" y="195441"/>
                  <a:pt x="95250" y="186571"/>
                </a:cubicBezTo>
                <a:lnTo>
                  <a:pt x="95250" y="75486"/>
                </a:lnTo>
                <a:cubicBezTo>
                  <a:pt x="95250" y="63937"/>
                  <a:pt x="100548" y="52983"/>
                  <a:pt x="109537" y="45720"/>
                </a:cubicBezTo>
                <a:lnTo>
                  <a:pt x="116800" y="39945"/>
                </a:lnTo>
                <a:cubicBezTo>
                  <a:pt x="133707" y="26432"/>
                  <a:pt x="154662" y="19050"/>
                  <a:pt x="176272" y="19050"/>
                </a:cubicBezTo>
                <a:lnTo>
                  <a:pt x="228600" y="19050"/>
                </a:lnTo>
                <a:close/>
                <a:moveTo>
                  <a:pt x="47625" y="57150"/>
                </a:moveTo>
                <a:cubicBezTo>
                  <a:pt x="58162" y="57150"/>
                  <a:pt x="66675" y="65663"/>
                  <a:pt x="66675" y="76200"/>
                </a:cubicBezTo>
                <a:lnTo>
                  <a:pt x="66675" y="228600"/>
                </a:lnTo>
                <a:cubicBezTo>
                  <a:pt x="66675" y="239137"/>
                  <a:pt x="58162" y="247650"/>
                  <a:pt x="47625" y="247650"/>
                </a:cubicBezTo>
                <a:lnTo>
                  <a:pt x="19050" y="247650"/>
                </a:lnTo>
                <a:cubicBezTo>
                  <a:pt x="8513" y="247650"/>
                  <a:pt x="0" y="239137"/>
                  <a:pt x="0" y="228600"/>
                </a:cubicBezTo>
                <a:lnTo>
                  <a:pt x="0" y="76200"/>
                </a:lnTo>
                <a:cubicBezTo>
                  <a:pt x="0" y="65663"/>
                  <a:pt x="8513" y="57150"/>
                  <a:pt x="19050" y="57150"/>
                </a:cubicBezTo>
                <a:lnTo>
                  <a:pt x="47625" y="5715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7122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312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509000" y="21844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1868" y="29131"/>
                </a:moveTo>
                <a:cubicBezTo>
                  <a:pt x="16907" y="24170"/>
                  <a:pt x="8850" y="24170"/>
                  <a:pt x="3889" y="29131"/>
                </a:cubicBezTo>
                <a:cubicBezTo>
                  <a:pt x="-1072" y="34092"/>
                  <a:pt x="-1072" y="42148"/>
                  <a:pt x="3889" y="47109"/>
                </a:cubicBezTo>
                <a:lnTo>
                  <a:pt x="58420" y="101600"/>
                </a:lnTo>
                <a:lnTo>
                  <a:pt x="3929" y="156131"/>
                </a:lnTo>
                <a:cubicBezTo>
                  <a:pt x="-1032" y="161092"/>
                  <a:pt x="-1032" y="169148"/>
                  <a:pt x="3929" y="174109"/>
                </a:cubicBezTo>
                <a:cubicBezTo>
                  <a:pt x="8890" y="179070"/>
                  <a:pt x="16947" y="179070"/>
                  <a:pt x="21908" y="174109"/>
                </a:cubicBezTo>
                <a:lnTo>
                  <a:pt x="76398" y="119578"/>
                </a:lnTo>
                <a:lnTo>
                  <a:pt x="130929" y="174069"/>
                </a:lnTo>
                <a:cubicBezTo>
                  <a:pt x="135890" y="179030"/>
                  <a:pt x="143947" y="179030"/>
                  <a:pt x="148908" y="174069"/>
                </a:cubicBezTo>
                <a:cubicBezTo>
                  <a:pt x="153868" y="169108"/>
                  <a:pt x="153868" y="161052"/>
                  <a:pt x="148908" y="156091"/>
                </a:cubicBezTo>
                <a:lnTo>
                  <a:pt x="94377" y="101600"/>
                </a:lnTo>
                <a:lnTo>
                  <a:pt x="148868" y="47069"/>
                </a:lnTo>
                <a:cubicBezTo>
                  <a:pt x="153829" y="42108"/>
                  <a:pt x="153829" y="34052"/>
                  <a:pt x="148868" y="29091"/>
                </a:cubicBezTo>
                <a:cubicBezTo>
                  <a:pt x="143907" y="24130"/>
                  <a:pt x="135850" y="24130"/>
                  <a:pt x="130889" y="29091"/>
                </a:cubicBezTo>
                <a:lnTo>
                  <a:pt x="76398" y="83622"/>
                </a:lnTo>
                <a:lnTo>
                  <a:pt x="21868" y="29131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042400" y="2032000"/>
            <a:ext cx="539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线性假设限制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42400" y="2489200"/>
            <a:ext cx="5384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真实关系显著非线性时，模型偏差较大，无法捕捉复杂模式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31200" y="2971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09000" y="31242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1868" y="29131"/>
                </a:moveTo>
                <a:cubicBezTo>
                  <a:pt x="16907" y="24170"/>
                  <a:pt x="8850" y="24170"/>
                  <a:pt x="3889" y="29131"/>
                </a:cubicBezTo>
                <a:cubicBezTo>
                  <a:pt x="-1072" y="34092"/>
                  <a:pt x="-1072" y="42148"/>
                  <a:pt x="3889" y="47109"/>
                </a:cubicBezTo>
                <a:lnTo>
                  <a:pt x="58420" y="101600"/>
                </a:lnTo>
                <a:lnTo>
                  <a:pt x="3929" y="156131"/>
                </a:lnTo>
                <a:cubicBezTo>
                  <a:pt x="-1032" y="161092"/>
                  <a:pt x="-1032" y="169148"/>
                  <a:pt x="3929" y="174109"/>
                </a:cubicBezTo>
                <a:cubicBezTo>
                  <a:pt x="8890" y="179070"/>
                  <a:pt x="16947" y="179070"/>
                  <a:pt x="21908" y="174109"/>
                </a:cubicBezTo>
                <a:lnTo>
                  <a:pt x="76398" y="119578"/>
                </a:lnTo>
                <a:lnTo>
                  <a:pt x="130929" y="174069"/>
                </a:lnTo>
                <a:cubicBezTo>
                  <a:pt x="135890" y="179030"/>
                  <a:pt x="143947" y="179030"/>
                  <a:pt x="148908" y="174069"/>
                </a:cubicBezTo>
                <a:cubicBezTo>
                  <a:pt x="153868" y="169108"/>
                  <a:pt x="153868" y="161052"/>
                  <a:pt x="148908" y="156091"/>
                </a:cubicBezTo>
                <a:lnTo>
                  <a:pt x="94377" y="101600"/>
                </a:lnTo>
                <a:lnTo>
                  <a:pt x="148868" y="47069"/>
                </a:lnTo>
                <a:cubicBezTo>
                  <a:pt x="153829" y="42108"/>
                  <a:pt x="153829" y="34052"/>
                  <a:pt x="148868" y="29091"/>
                </a:cubicBezTo>
                <a:cubicBezTo>
                  <a:pt x="143907" y="24130"/>
                  <a:pt x="135850" y="24130"/>
                  <a:pt x="130889" y="29091"/>
                </a:cubicBezTo>
                <a:lnTo>
                  <a:pt x="76398" y="83622"/>
                </a:lnTo>
                <a:lnTo>
                  <a:pt x="21868" y="29131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042400" y="2971800"/>
            <a:ext cx="561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异常值敏感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42400" y="3429000"/>
            <a:ext cx="56007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在MSE下极端样本可能显著影响参数估计，需要鲁棒回归处理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31200" y="391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509000" y="40640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1868" y="29131"/>
                </a:moveTo>
                <a:cubicBezTo>
                  <a:pt x="16907" y="24170"/>
                  <a:pt x="8850" y="24170"/>
                  <a:pt x="3889" y="29131"/>
                </a:cubicBezTo>
                <a:cubicBezTo>
                  <a:pt x="-1072" y="34092"/>
                  <a:pt x="-1072" y="42148"/>
                  <a:pt x="3889" y="47109"/>
                </a:cubicBezTo>
                <a:lnTo>
                  <a:pt x="58420" y="101600"/>
                </a:lnTo>
                <a:lnTo>
                  <a:pt x="3929" y="156131"/>
                </a:lnTo>
                <a:cubicBezTo>
                  <a:pt x="-1032" y="161092"/>
                  <a:pt x="-1032" y="169148"/>
                  <a:pt x="3929" y="174109"/>
                </a:cubicBezTo>
                <a:cubicBezTo>
                  <a:pt x="8890" y="179070"/>
                  <a:pt x="16947" y="179070"/>
                  <a:pt x="21908" y="174109"/>
                </a:cubicBezTo>
                <a:lnTo>
                  <a:pt x="76398" y="119578"/>
                </a:lnTo>
                <a:lnTo>
                  <a:pt x="130929" y="174069"/>
                </a:lnTo>
                <a:cubicBezTo>
                  <a:pt x="135890" y="179030"/>
                  <a:pt x="143947" y="179030"/>
                  <a:pt x="148908" y="174069"/>
                </a:cubicBezTo>
                <a:cubicBezTo>
                  <a:pt x="153868" y="169108"/>
                  <a:pt x="153868" y="161052"/>
                  <a:pt x="148908" y="156091"/>
                </a:cubicBezTo>
                <a:lnTo>
                  <a:pt x="94377" y="101600"/>
                </a:lnTo>
                <a:lnTo>
                  <a:pt x="148868" y="47069"/>
                </a:lnTo>
                <a:cubicBezTo>
                  <a:pt x="153829" y="42108"/>
                  <a:pt x="153829" y="34052"/>
                  <a:pt x="148868" y="29091"/>
                </a:cubicBezTo>
                <a:cubicBezTo>
                  <a:pt x="143907" y="24130"/>
                  <a:pt x="135850" y="24130"/>
                  <a:pt x="130889" y="29091"/>
                </a:cubicBezTo>
                <a:lnTo>
                  <a:pt x="76398" y="83622"/>
                </a:lnTo>
                <a:lnTo>
                  <a:pt x="21868" y="29131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042400" y="3911600"/>
            <a:ext cx="580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共线性影响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42400" y="4368800"/>
            <a:ext cx="579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多重共线性会导致系数不稳定、可解释性变差，需要正则化缓解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7050" y="5613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89000" y="5562600"/>
            <a:ext cx="1501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优化策略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3400" y="6172200"/>
            <a:ext cx="4851400" cy="2082800"/>
          </a:xfrm>
          <a:custGeom>
            <a:avLst/>
            <a:gdLst/>
            <a:ahLst/>
            <a:cxnLst/>
            <a:rect l="l" t="t" r="r" b="b"/>
            <a:pathLst>
              <a:path w="4851400" h="2082800">
                <a:moveTo>
                  <a:pt x="50800" y="0"/>
                </a:moveTo>
                <a:lnTo>
                  <a:pt x="4749801" y="0"/>
                </a:lnTo>
                <a:cubicBezTo>
                  <a:pt x="4805913" y="0"/>
                  <a:pt x="4851400" y="45487"/>
                  <a:pt x="4851400" y="101599"/>
                </a:cubicBezTo>
                <a:lnTo>
                  <a:pt x="4851400" y="1981201"/>
                </a:lnTo>
                <a:cubicBezTo>
                  <a:pt x="4851400" y="2037313"/>
                  <a:pt x="4805913" y="2082800"/>
                  <a:pt x="4749801" y="2082800"/>
                </a:cubicBez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33400" y="61722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5080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762000" y="6375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71054" y="6451600"/>
            <a:ext cx="203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22400" y="64516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62000" y="7035800"/>
            <a:ext cx="4521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当线性关系不足时，构造交互项或多项式特征提升表达能力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2000" y="7797800"/>
            <a:ext cx="450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 </a:t>
            </a:r>
            <a:r>
              <a:rPr lang="en-US" sz="1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PolynomialFeatures</a:t>
            </a:r>
            <a:r>
              <a:rPr lang="en-US" sz="1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生成二次项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715000" y="6172200"/>
            <a:ext cx="4851400" cy="2082800"/>
          </a:xfrm>
          <a:custGeom>
            <a:avLst/>
            <a:gdLst/>
            <a:ahLst/>
            <a:cxnLst/>
            <a:rect l="l" t="t" r="r" b="b"/>
            <a:pathLst>
              <a:path w="4851400" h="2082800">
                <a:moveTo>
                  <a:pt x="50800" y="0"/>
                </a:moveTo>
                <a:lnTo>
                  <a:pt x="4749801" y="0"/>
                </a:lnTo>
                <a:cubicBezTo>
                  <a:pt x="4805913" y="0"/>
                  <a:pt x="4851400" y="45487"/>
                  <a:pt x="4851400" y="101599"/>
                </a:cubicBezTo>
                <a:lnTo>
                  <a:pt x="4851400" y="1981201"/>
                </a:lnTo>
                <a:cubicBezTo>
                  <a:pt x="4851400" y="2037313"/>
                  <a:pt x="4805913" y="2082800"/>
                  <a:pt x="4749801" y="2082800"/>
                </a:cubicBez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5715000" y="61722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5080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943600" y="6375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6133306" y="6451600"/>
            <a:ext cx="24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04000" y="6451600"/>
            <a:ext cx="80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943600" y="70358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Ridge (L2)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缓解共线性，降低方差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943600" y="73914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Lasso (L1)：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产生稀疏解，特征选择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43600" y="77470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Elastic Net：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结合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L1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与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0896600" y="6172200"/>
            <a:ext cx="4851400" cy="2082800"/>
          </a:xfrm>
          <a:custGeom>
            <a:avLst/>
            <a:gdLst/>
            <a:ahLst/>
            <a:cxnLst/>
            <a:rect l="l" t="t" r="r" b="b"/>
            <a:pathLst>
              <a:path w="4851400" h="2082800">
                <a:moveTo>
                  <a:pt x="50800" y="0"/>
                </a:moveTo>
                <a:lnTo>
                  <a:pt x="4749801" y="0"/>
                </a:lnTo>
                <a:cubicBezTo>
                  <a:pt x="4805913" y="0"/>
                  <a:pt x="4851400" y="45487"/>
                  <a:pt x="4851400" y="101599"/>
                </a:cubicBezTo>
                <a:lnTo>
                  <a:pt x="4851400" y="1981201"/>
                </a:lnTo>
                <a:cubicBezTo>
                  <a:pt x="4851400" y="2037313"/>
                  <a:pt x="4805913" y="2082800"/>
                  <a:pt x="4749801" y="2082800"/>
                </a:cubicBez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0896600" y="61722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5080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1125200" y="6375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311930" y="6451600"/>
            <a:ext cx="25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785600" y="64516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鲁棒回归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125200" y="7035800"/>
            <a:ext cx="4521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若数据存在明显异常值，使用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Huber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或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RANSAC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等更鲁棒的方法，或在数据层面进行异常值检测与处理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716" y="476716"/>
            <a:ext cx="15517091" cy="476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7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线性回归：房价预测实战案例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76716" y="1096446"/>
            <a:ext cx="953431" cy="47672"/>
          </a:xfrm>
          <a:custGeom>
            <a:avLst/>
            <a:gdLst/>
            <a:ahLst/>
            <a:cxnLst/>
            <a:rect l="l" t="t" r="r" b="b"/>
            <a:pathLst>
              <a:path w="953431" h="47672">
                <a:moveTo>
                  <a:pt x="0" y="0"/>
                </a:moveTo>
                <a:lnTo>
                  <a:pt x="953431" y="0"/>
                </a:lnTo>
                <a:lnTo>
                  <a:pt x="953431" y="47672"/>
                </a:lnTo>
                <a:lnTo>
                  <a:pt x="0" y="47672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30346" y="1382475"/>
            <a:ext cx="250276" cy="286029"/>
          </a:xfrm>
          <a:custGeom>
            <a:avLst/>
            <a:gdLst/>
            <a:ahLst/>
            <a:cxnLst/>
            <a:rect l="l" t="t" r="r" b="b"/>
            <a:pathLst>
              <a:path w="250276" h="286029">
                <a:moveTo>
                  <a:pt x="250276" y="114970"/>
                </a:moveTo>
                <a:cubicBezTo>
                  <a:pt x="242008" y="120445"/>
                  <a:pt x="232511" y="124859"/>
                  <a:pt x="222622" y="128378"/>
                </a:cubicBezTo>
                <a:cubicBezTo>
                  <a:pt x="196366" y="137763"/>
                  <a:pt x="161897" y="143015"/>
                  <a:pt x="125138" y="143015"/>
                </a:cubicBezTo>
                <a:cubicBezTo>
                  <a:pt x="88379" y="143015"/>
                  <a:pt x="53854" y="137707"/>
                  <a:pt x="27653" y="128378"/>
                </a:cubicBezTo>
                <a:cubicBezTo>
                  <a:pt x="17821" y="124859"/>
                  <a:pt x="8268" y="120445"/>
                  <a:pt x="0" y="114970"/>
                </a:cubicBezTo>
                <a:lnTo>
                  <a:pt x="0" y="160891"/>
                </a:lnTo>
                <a:cubicBezTo>
                  <a:pt x="0" y="185584"/>
                  <a:pt x="56033" y="205584"/>
                  <a:pt x="125138" y="205584"/>
                </a:cubicBezTo>
                <a:cubicBezTo>
                  <a:pt x="194243" y="205584"/>
                  <a:pt x="250276" y="185584"/>
                  <a:pt x="250276" y="160891"/>
                </a:cubicBezTo>
                <a:lnTo>
                  <a:pt x="250276" y="114970"/>
                </a:lnTo>
                <a:close/>
                <a:moveTo>
                  <a:pt x="250276" y="71507"/>
                </a:moveTo>
                <a:lnTo>
                  <a:pt x="250276" y="44692"/>
                </a:lnTo>
                <a:cubicBezTo>
                  <a:pt x="250276" y="20000"/>
                  <a:pt x="194243" y="0"/>
                  <a:pt x="125138" y="0"/>
                </a:cubicBezTo>
                <a:cubicBezTo>
                  <a:pt x="56033" y="0"/>
                  <a:pt x="0" y="20000"/>
                  <a:pt x="0" y="44692"/>
                </a:cubicBezTo>
                <a:lnTo>
                  <a:pt x="0" y="71507"/>
                </a:lnTo>
                <a:cubicBezTo>
                  <a:pt x="0" y="96200"/>
                  <a:pt x="56033" y="116199"/>
                  <a:pt x="125138" y="116199"/>
                </a:cubicBezTo>
                <a:cubicBezTo>
                  <a:pt x="194243" y="116199"/>
                  <a:pt x="250276" y="96200"/>
                  <a:pt x="250276" y="71507"/>
                </a:cubicBezTo>
                <a:close/>
                <a:moveTo>
                  <a:pt x="222622" y="217762"/>
                </a:moveTo>
                <a:cubicBezTo>
                  <a:pt x="196422" y="227092"/>
                  <a:pt x="161953" y="232399"/>
                  <a:pt x="125138" y="232399"/>
                </a:cubicBezTo>
                <a:cubicBezTo>
                  <a:pt x="88323" y="232399"/>
                  <a:pt x="53854" y="227092"/>
                  <a:pt x="27653" y="217762"/>
                </a:cubicBezTo>
                <a:cubicBezTo>
                  <a:pt x="17821" y="214243"/>
                  <a:pt x="8268" y="209829"/>
                  <a:pt x="0" y="204355"/>
                </a:cubicBezTo>
                <a:lnTo>
                  <a:pt x="0" y="241337"/>
                </a:lnTo>
                <a:cubicBezTo>
                  <a:pt x="0" y="266030"/>
                  <a:pt x="56033" y="286029"/>
                  <a:pt x="125138" y="286029"/>
                </a:cubicBezTo>
                <a:cubicBezTo>
                  <a:pt x="194243" y="286029"/>
                  <a:pt x="250276" y="266030"/>
                  <a:pt x="250276" y="241337"/>
                </a:cubicBezTo>
                <a:lnTo>
                  <a:pt x="250276" y="204355"/>
                </a:lnTo>
                <a:cubicBezTo>
                  <a:pt x="242008" y="209829"/>
                  <a:pt x="232511" y="214243"/>
                  <a:pt x="222622" y="21776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34252" y="1334804"/>
            <a:ext cx="8854991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数据来源与任务定义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6716" y="1859191"/>
            <a:ext cx="9164856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数据集：</a:t>
            </a:r>
            <a:r>
              <a:rPr lang="en-US" sz="150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house_prices.csv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6716" y="2240563"/>
            <a:ext cx="9164856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特征：</a:t>
            </a:r>
            <a:r>
              <a:rPr lang="en-US" sz="150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sqft</a:t>
            </a:r>
            <a:r>
              <a:rPr lang="en-US" sz="15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（房屋面积）、</a:t>
            </a:r>
            <a:r>
              <a:rPr lang="en-US" sz="150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bedrooms</a:t>
            </a:r>
            <a:r>
              <a:rPr lang="en-US" sz="15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（卧室数量）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6716" y="2621935"/>
            <a:ext cx="9164856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目标：</a:t>
            </a:r>
            <a:r>
              <a:rPr lang="en-US" sz="150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price</a:t>
            </a:r>
            <a:r>
              <a:rPr lang="en-US" sz="15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（房价，美元）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716" y="3003308"/>
            <a:ext cx="9152938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合成数据集，用于教学演示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6716" y="3480023"/>
            <a:ext cx="357537" cy="286029"/>
          </a:xfrm>
          <a:custGeom>
            <a:avLst/>
            <a:gdLst/>
            <a:ahLst/>
            <a:cxnLst/>
            <a:rect l="l" t="t" r="r" b="b"/>
            <a:pathLst>
              <a:path w="357537" h="286029">
                <a:moveTo>
                  <a:pt x="232343" y="117596"/>
                </a:moveTo>
                <a:cubicBezTo>
                  <a:pt x="239159" y="115752"/>
                  <a:pt x="246309" y="118993"/>
                  <a:pt x="249382" y="125305"/>
                </a:cubicBezTo>
                <a:lnTo>
                  <a:pt x="259773" y="146311"/>
                </a:lnTo>
                <a:cubicBezTo>
                  <a:pt x="265527" y="147093"/>
                  <a:pt x="271169" y="148657"/>
                  <a:pt x="276476" y="150836"/>
                </a:cubicBezTo>
                <a:lnTo>
                  <a:pt x="296029" y="137819"/>
                </a:lnTo>
                <a:cubicBezTo>
                  <a:pt x="301895" y="133909"/>
                  <a:pt x="309660" y="134691"/>
                  <a:pt x="314632" y="139663"/>
                </a:cubicBezTo>
                <a:lnTo>
                  <a:pt x="325358" y="150389"/>
                </a:lnTo>
                <a:cubicBezTo>
                  <a:pt x="330330" y="155361"/>
                  <a:pt x="331112" y="163182"/>
                  <a:pt x="327202" y="168992"/>
                </a:cubicBezTo>
                <a:lnTo>
                  <a:pt x="314185" y="188489"/>
                </a:lnTo>
                <a:cubicBezTo>
                  <a:pt x="315247" y="191115"/>
                  <a:pt x="316196" y="193852"/>
                  <a:pt x="316979" y="196701"/>
                </a:cubicBezTo>
                <a:cubicBezTo>
                  <a:pt x="317761" y="199550"/>
                  <a:pt x="318263" y="202343"/>
                  <a:pt x="318655" y="205193"/>
                </a:cubicBezTo>
                <a:lnTo>
                  <a:pt x="339716" y="215583"/>
                </a:lnTo>
                <a:cubicBezTo>
                  <a:pt x="346028" y="218712"/>
                  <a:pt x="349269" y="225863"/>
                  <a:pt x="347425" y="232622"/>
                </a:cubicBezTo>
                <a:lnTo>
                  <a:pt x="343515" y="247259"/>
                </a:lnTo>
                <a:cubicBezTo>
                  <a:pt x="341671" y="254019"/>
                  <a:pt x="335358" y="258600"/>
                  <a:pt x="328319" y="258153"/>
                </a:cubicBezTo>
                <a:lnTo>
                  <a:pt x="304856" y="256644"/>
                </a:lnTo>
                <a:cubicBezTo>
                  <a:pt x="301336" y="261169"/>
                  <a:pt x="297258" y="265359"/>
                  <a:pt x="292621" y="268935"/>
                </a:cubicBezTo>
                <a:lnTo>
                  <a:pt x="294130" y="292342"/>
                </a:lnTo>
                <a:cubicBezTo>
                  <a:pt x="294577" y="299381"/>
                  <a:pt x="289996" y="305750"/>
                  <a:pt x="283236" y="307537"/>
                </a:cubicBezTo>
                <a:lnTo>
                  <a:pt x="268599" y="311448"/>
                </a:lnTo>
                <a:cubicBezTo>
                  <a:pt x="261784" y="313291"/>
                  <a:pt x="254689" y="310051"/>
                  <a:pt x="251561" y="303739"/>
                </a:cubicBezTo>
                <a:lnTo>
                  <a:pt x="241170" y="282733"/>
                </a:lnTo>
                <a:cubicBezTo>
                  <a:pt x="235416" y="281951"/>
                  <a:pt x="229773" y="280387"/>
                  <a:pt x="224466" y="278208"/>
                </a:cubicBezTo>
                <a:lnTo>
                  <a:pt x="204913" y="291225"/>
                </a:lnTo>
                <a:cubicBezTo>
                  <a:pt x="199047" y="295135"/>
                  <a:pt x="191282" y="294353"/>
                  <a:pt x="186310" y="289381"/>
                </a:cubicBezTo>
                <a:lnTo>
                  <a:pt x="175584" y="278655"/>
                </a:lnTo>
                <a:cubicBezTo>
                  <a:pt x="170612" y="273683"/>
                  <a:pt x="169830" y="265918"/>
                  <a:pt x="173740" y="260052"/>
                </a:cubicBezTo>
                <a:lnTo>
                  <a:pt x="186757" y="240499"/>
                </a:lnTo>
                <a:cubicBezTo>
                  <a:pt x="185696" y="237874"/>
                  <a:pt x="184746" y="235136"/>
                  <a:pt x="183964" y="232287"/>
                </a:cubicBezTo>
                <a:cubicBezTo>
                  <a:pt x="183182" y="229438"/>
                  <a:pt x="182679" y="226589"/>
                  <a:pt x="182288" y="223796"/>
                </a:cubicBezTo>
                <a:lnTo>
                  <a:pt x="161227" y="213405"/>
                </a:lnTo>
                <a:cubicBezTo>
                  <a:pt x="154914" y="210276"/>
                  <a:pt x="151730" y="203126"/>
                  <a:pt x="153517" y="196366"/>
                </a:cubicBezTo>
                <a:lnTo>
                  <a:pt x="157428" y="181729"/>
                </a:lnTo>
                <a:cubicBezTo>
                  <a:pt x="159271" y="174970"/>
                  <a:pt x="165584" y="170389"/>
                  <a:pt x="172623" y="170835"/>
                </a:cubicBezTo>
                <a:lnTo>
                  <a:pt x="196031" y="172344"/>
                </a:lnTo>
                <a:cubicBezTo>
                  <a:pt x="199550" y="167819"/>
                  <a:pt x="203628" y="163629"/>
                  <a:pt x="208265" y="160054"/>
                </a:cubicBezTo>
                <a:lnTo>
                  <a:pt x="206757" y="136702"/>
                </a:lnTo>
                <a:cubicBezTo>
                  <a:pt x="206310" y="129663"/>
                  <a:pt x="210891" y="123294"/>
                  <a:pt x="217650" y="121507"/>
                </a:cubicBezTo>
                <a:lnTo>
                  <a:pt x="232287" y="117596"/>
                </a:lnTo>
                <a:close/>
                <a:moveTo>
                  <a:pt x="250499" y="189941"/>
                </a:moveTo>
                <a:cubicBezTo>
                  <a:pt x="236933" y="189957"/>
                  <a:pt x="225931" y="200983"/>
                  <a:pt x="225946" y="214550"/>
                </a:cubicBezTo>
                <a:cubicBezTo>
                  <a:pt x="225962" y="228116"/>
                  <a:pt x="236989" y="239118"/>
                  <a:pt x="250555" y="239103"/>
                </a:cubicBezTo>
                <a:cubicBezTo>
                  <a:pt x="264121" y="239087"/>
                  <a:pt x="275123" y="228060"/>
                  <a:pt x="275108" y="214494"/>
                </a:cubicBezTo>
                <a:cubicBezTo>
                  <a:pt x="275092" y="200928"/>
                  <a:pt x="264066" y="189926"/>
                  <a:pt x="250499" y="189941"/>
                </a:cubicBezTo>
                <a:close/>
                <a:moveTo>
                  <a:pt x="125641" y="-25419"/>
                </a:moveTo>
                <a:lnTo>
                  <a:pt x="140277" y="-21508"/>
                </a:lnTo>
                <a:cubicBezTo>
                  <a:pt x="147037" y="-19665"/>
                  <a:pt x="151618" y="-13296"/>
                  <a:pt x="151171" y="-6313"/>
                </a:cubicBezTo>
                <a:lnTo>
                  <a:pt x="149663" y="17039"/>
                </a:lnTo>
                <a:cubicBezTo>
                  <a:pt x="154299" y="20614"/>
                  <a:pt x="158378" y="24748"/>
                  <a:pt x="161897" y="29329"/>
                </a:cubicBezTo>
                <a:lnTo>
                  <a:pt x="185360" y="27821"/>
                </a:lnTo>
                <a:cubicBezTo>
                  <a:pt x="192344" y="27374"/>
                  <a:pt x="198712" y="31955"/>
                  <a:pt x="200556" y="38715"/>
                </a:cubicBezTo>
                <a:lnTo>
                  <a:pt x="204466" y="53351"/>
                </a:lnTo>
                <a:cubicBezTo>
                  <a:pt x="206254" y="60111"/>
                  <a:pt x="203070" y="67262"/>
                  <a:pt x="196757" y="70390"/>
                </a:cubicBezTo>
                <a:lnTo>
                  <a:pt x="175696" y="80781"/>
                </a:lnTo>
                <a:cubicBezTo>
                  <a:pt x="175305" y="83630"/>
                  <a:pt x="174746" y="86479"/>
                  <a:pt x="174020" y="89272"/>
                </a:cubicBezTo>
                <a:cubicBezTo>
                  <a:pt x="173294" y="92066"/>
                  <a:pt x="172288" y="94859"/>
                  <a:pt x="171227" y="97485"/>
                </a:cubicBezTo>
                <a:lnTo>
                  <a:pt x="184243" y="117037"/>
                </a:lnTo>
                <a:cubicBezTo>
                  <a:pt x="188154" y="122903"/>
                  <a:pt x="187372" y="130668"/>
                  <a:pt x="182400" y="135640"/>
                </a:cubicBezTo>
                <a:lnTo>
                  <a:pt x="171673" y="146367"/>
                </a:lnTo>
                <a:cubicBezTo>
                  <a:pt x="166701" y="151339"/>
                  <a:pt x="158936" y="152121"/>
                  <a:pt x="153070" y="148210"/>
                </a:cubicBezTo>
                <a:lnTo>
                  <a:pt x="133518" y="135194"/>
                </a:lnTo>
                <a:cubicBezTo>
                  <a:pt x="128210" y="137372"/>
                  <a:pt x="122568" y="138937"/>
                  <a:pt x="116814" y="139719"/>
                </a:cubicBezTo>
                <a:lnTo>
                  <a:pt x="106423" y="160724"/>
                </a:lnTo>
                <a:cubicBezTo>
                  <a:pt x="103295" y="167037"/>
                  <a:pt x="96144" y="170221"/>
                  <a:pt x="89384" y="168433"/>
                </a:cubicBezTo>
                <a:lnTo>
                  <a:pt x="74748" y="164523"/>
                </a:lnTo>
                <a:cubicBezTo>
                  <a:pt x="67932" y="162679"/>
                  <a:pt x="63407" y="156311"/>
                  <a:pt x="63854" y="149327"/>
                </a:cubicBezTo>
                <a:lnTo>
                  <a:pt x="65362" y="125920"/>
                </a:lnTo>
                <a:cubicBezTo>
                  <a:pt x="60725" y="122345"/>
                  <a:pt x="56647" y="118211"/>
                  <a:pt x="53128" y="113630"/>
                </a:cubicBezTo>
                <a:lnTo>
                  <a:pt x="29664" y="115138"/>
                </a:lnTo>
                <a:cubicBezTo>
                  <a:pt x="22681" y="115585"/>
                  <a:pt x="16313" y="111004"/>
                  <a:pt x="14469" y="104244"/>
                </a:cubicBezTo>
                <a:lnTo>
                  <a:pt x="10559" y="89608"/>
                </a:lnTo>
                <a:cubicBezTo>
                  <a:pt x="8771" y="82848"/>
                  <a:pt x="11955" y="75697"/>
                  <a:pt x="18268" y="72569"/>
                </a:cubicBezTo>
                <a:lnTo>
                  <a:pt x="39329" y="62178"/>
                </a:lnTo>
                <a:cubicBezTo>
                  <a:pt x="39720" y="59329"/>
                  <a:pt x="40279" y="56535"/>
                  <a:pt x="41005" y="53686"/>
                </a:cubicBezTo>
                <a:cubicBezTo>
                  <a:pt x="41787" y="50837"/>
                  <a:pt x="42681" y="48100"/>
                  <a:pt x="43798" y="45474"/>
                </a:cubicBezTo>
                <a:lnTo>
                  <a:pt x="30782" y="25977"/>
                </a:lnTo>
                <a:cubicBezTo>
                  <a:pt x="26871" y="20111"/>
                  <a:pt x="27653" y="12346"/>
                  <a:pt x="32625" y="7374"/>
                </a:cubicBezTo>
                <a:lnTo>
                  <a:pt x="43351" y="-3352"/>
                </a:lnTo>
                <a:cubicBezTo>
                  <a:pt x="48323" y="-8324"/>
                  <a:pt x="56089" y="-9106"/>
                  <a:pt x="61954" y="-5195"/>
                </a:cubicBezTo>
                <a:lnTo>
                  <a:pt x="81507" y="7821"/>
                </a:lnTo>
                <a:cubicBezTo>
                  <a:pt x="86814" y="5642"/>
                  <a:pt x="92457" y="4078"/>
                  <a:pt x="98211" y="3296"/>
                </a:cubicBezTo>
                <a:lnTo>
                  <a:pt x="108602" y="-17709"/>
                </a:lnTo>
                <a:cubicBezTo>
                  <a:pt x="111730" y="-24022"/>
                  <a:pt x="118825" y="-27206"/>
                  <a:pt x="125641" y="-25419"/>
                </a:cubicBezTo>
                <a:close/>
                <a:moveTo>
                  <a:pt x="107484" y="46927"/>
                </a:moveTo>
                <a:cubicBezTo>
                  <a:pt x="93918" y="46927"/>
                  <a:pt x="82904" y="57941"/>
                  <a:pt x="82904" y="71507"/>
                </a:cubicBezTo>
                <a:cubicBezTo>
                  <a:pt x="82904" y="85074"/>
                  <a:pt x="93918" y="96088"/>
                  <a:pt x="107484" y="96088"/>
                </a:cubicBezTo>
                <a:cubicBezTo>
                  <a:pt x="121051" y="96088"/>
                  <a:pt x="132065" y="85074"/>
                  <a:pt x="132065" y="71507"/>
                </a:cubicBezTo>
                <a:cubicBezTo>
                  <a:pt x="132065" y="57941"/>
                  <a:pt x="121051" y="46927"/>
                  <a:pt x="107484" y="46927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34252" y="3432352"/>
            <a:ext cx="8854991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数据预处理流程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6716" y="3956739"/>
            <a:ext cx="381372" cy="381372"/>
          </a:xfrm>
          <a:custGeom>
            <a:avLst/>
            <a:gdLst/>
            <a:ahLst/>
            <a:cxnLst/>
            <a:rect l="l" t="t" r="r" b="b"/>
            <a:pathLst>
              <a:path w="381372" h="381372">
                <a:moveTo>
                  <a:pt x="190686" y="0"/>
                </a:moveTo>
                <a:lnTo>
                  <a:pt x="190686" y="0"/>
                </a:lnTo>
                <a:cubicBezTo>
                  <a:pt x="295929" y="0"/>
                  <a:pt x="381372" y="85444"/>
                  <a:pt x="381372" y="190686"/>
                </a:cubicBezTo>
                <a:lnTo>
                  <a:pt x="381372" y="190686"/>
                </a:lnTo>
                <a:cubicBezTo>
                  <a:pt x="381372" y="295929"/>
                  <a:pt x="295929" y="381372"/>
                  <a:pt x="190686" y="381372"/>
                </a:cubicBezTo>
                <a:lnTo>
                  <a:pt x="190686" y="381372"/>
                </a:lnTo>
                <a:cubicBezTo>
                  <a:pt x="85444" y="381372"/>
                  <a:pt x="0" y="295929"/>
                  <a:pt x="0" y="190686"/>
                </a:cubicBezTo>
                <a:lnTo>
                  <a:pt x="0" y="190686"/>
                </a:lnTo>
                <a:cubicBezTo>
                  <a:pt x="0" y="85444"/>
                  <a:pt x="85444" y="0"/>
                  <a:pt x="19068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29879" y="4004411"/>
            <a:ext cx="166850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1103" y="3956739"/>
            <a:ext cx="164466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数据加载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1103" y="4242768"/>
            <a:ext cx="1632751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pandas</a:t>
            </a:r>
            <a:r>
              <a:rPr lang="en-US" sz="1314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读取</a:t>
            </a:r>
            <a:r>
              <a:rPr lang="en-US" sz="131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CSV</a:t>
            </a:r>
            <a:r>
              <a:rPr lang="en-US" sz="1314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6716" y="4576469"/>
            <a:ext cx="381372" cy="381372"/>
          </a:xfrm>
          <a:custGeom>
            <a:avLst/>
            <a:gdLst/>
            <a:ahLst/>
            <a:cxnLst/>
            <a:rect l="l" t="t" r="r" b="b"/>
            <a:pathLst>
              <a:path w="381372" h="381372">
                <a:moveTo>
                  <a:pt x="190686" y="0"/>
                </a:moveTo>
                <a:lnTo>
                  <a:pt x="190686" y="0"/>
                </a:lnTo>
                <a:cubicBezTo>
                  <a:pt x="295929" y="0"/>
                  <a:pt x="381372" y="85444"/>
                  <a:pt x="381372" y="190686"/>
                </a:cubicBezTo>
                <a:lnTo>
                  <a:pt x="381372" y="190686"/>
                </a:lnTo>
                <a:cubicBezTo>
                  <a:pt x="381372" y="295929"/>
                  <a:pt x="295929" y="381372"/>
                  <a:pt x="190686" y="381372"/>
                </a:cubicBezTo>
                <a:lnTo>
                  <a:pt x="190686" y="381372"/>
                </a:lnTo>
                <a:cubicBezTo>
                  <a:pt x="85444" y="381372"/>
                  <a:pt x="0" y="295929"/>
                  <a:pt x="0" y="190686"/>
                </a:cubicBezTo>
                <a:lnTo>
                  <a:pt x="0" y="190686"/>
                </a:lnTo>
                <a:cubicBezTo>
                  <a:pt x="0" y="85444"/>
                  <a:pt x="85444" y="0"/>
                  <a:pt x="19068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13771" y="4624141"/>
            <a:ext cx="202604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1103" y="4576469"/>
            <a:ext cx="2264399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特征标准化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1103" y="4862499"/>
            <a:ext cx="2252481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StandardScaler</a:t>
            </a:r>
            <a:r>
              <a:rPr lang="en-US" sz="1314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消除量纲影响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6716" y="5196199"/>
            <a:ext cx="381372" cy="381372"/>
          </a:xfrm>
          <a:custGeom>
            <a:avLst/>
            <a:gdLst/>
            <a:ahLst/>
            <a:cxnLst/>
            <a:rect l="l" t="t" r="r" b="b"/>
            <a:pathLst>
              <a:path w="381372" h="381372">
                <a:moveTo>
                  <a:pt x="190686" y="0"/>
                </a:moveTo>
                <a:lnTo>
                  <a:pt x="190686" y="0"/>
                </a:lnTo>
                <a:cubicBezTo>
                  <a:pt x="295929" y="0"/>
                  <a:pt x="381372" y="85444"/>
                  <a:pt x="381372" y="190686"/>
                </a:cubicBezTo>
                <a:lnTo>
                  <a:pt x="381372" y="190686"/>
                </a:lnTo>
                <a:cubicBezTo>
                  <a:pt x="381372" y="295929"/>
                  <a:pt x="295929" y="381372"/>
                  <a:pt x="190686" y="381372"/>
                </a:cubicBezTo>
                <a:lnTo>
                  <a:pt x="190686" y="381372"/>
                </a:lnTo>
                <a:cubicBezTo>
                  <a:pt x="85444" y="381372"/>
                  <a:pt x="0" y="295929"/>
                  <a:pt x="0" y="190686"/>
                </a:cubicBezTo>
                <a:lnTo>
                  <a:pt x="0" y="190686"/>
                </a:lnTo>
                <a:cubicBezTo>
                  <a:pt x="0" y="85444"/>
                  <a:pt x="85444" y="0"/>
                  <a:pt x="19068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11257" y="5243871"/>
            <a:ext cx="202604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1103" y="5196199"/>
            <a:ext cx="2764950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训练集/测试集划分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1103" y="5482229"/>
            <a:ext cx="2753032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4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测试集占比20%，</a:t>
            </a:r>
            <a:r>
              <a:rPr lang="en-US" sz="131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random_state=42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2469" y="5958944"/>
            <a:ext cx="286029" cy="286029"/>
          </a:xfrm>
          <a:custGeom>
            <a:avLst/>
            <a:gdLst/>
            <a:ahLst/>
            <a:cxnLst/>
            <a:rect l="l" t="t" r="r" b="b"/>
            <a:pathLst>
              <a:path w="286029" h="286029">
                <a:moveTo>
                  <a:pt x="17877" y="17877"/>
                </a:moveTo>
                <a:cubicBezTo>
                  <a:pt x="27765" y="17877"/>
                  <a:pt x="35754" y="25866"/>
                  <a:pt x="35754" y="35754"/>
                </a:cubicBezTo>
                <a:lnTo>
                  <a:pt x="35754" y="223460"/>
                </a:lnTo>
                <a:cubicBezTo>
                  <a:pt x="35754" y="228377"/>
                  <a:pt x="39776" y="232399"/>
                  <a:pt x="44692" y="232399"/>
                </a:cubicBezTo>
                <a:lnTo>
                  <a:pt x="268152" y="232399"/>
                </a:lnTo>
                <a:cubicBezTo>
                  <a:pt x="278041" y="232399"/>
                  <a:pt x="286029" y="240388"/>
                  <a:pt x="286029" y="250276"/>
                </a:cubicBezTo>
                <a:cubicBezTo>
                  <a:pt x="286029" y="260164"/>
                  <a:pt x="278041" y="268152"/>
                  <a:pt x="268152" y="268152"/>
                </a:cubicBezTo>
                <a:lnTo>
                  <a:pt x="44692" y="268152"/>
                </a:lnTo>
                <a:cubicBezTo>
                  <a:pt x="20000" y="268152"/>
                  <a:pt x="0" y="248153"/>
                  <a:pt x="0" y="223460"/>
                </a:cubicBezTo>
                <a:lnTo>
                  <a:pt x="0" y="35754"/>
                </a:lnTo>
                <a:cubicBezTo>
                  <a:pt x="0" y="25866"/>
                  <a:pt x="7989" y="17877"/>
                  <a:pt x="17877" y="17877"/>
                </a:cubicBezTo>
                <a:close/>
                <a:moveTo>
                  <a:pt x="71507" y="53630"/>
                </a:moveTo>
                <a:cubicBezTo>
                  <a:pt x="71507" y="43742"/>
                  <a:pt x="79496" y="35754"/>
                  <a:pt x="89384" y="35754"/>
                </a:cubicBezTo>
                <a:lnTo>
                  <a:pt x="196645" y="35754"/>
                </a:lnTo>
                <a:cubicBezTo>
                  <a:pt x="206533" y="35754"/>
                  <a:pt x="214522" y="43742"/>
                  <a:pt x="214522" y="53630"/>
                </a:cubicBezTo>
                <a:cubicBezTo>
                  <a:pt x="214522" y="63519"/>
                  <a:pt x="206533" y="71507"/>
                  <a:pt x="196645" y="71507"/>
                </a:cubicBezTo>
                <a:lnTo>
                  <a:pt x="89384" y="71507"/>
                </a:lnTo>
                <a:cubicBezTo>
                  <a:pt x="79496" y="71507"/>
                  <a:pt x="71507" y="63519"/>
                  <a:pt x="71507" y="53630"/>
                </a:cubicBezTo>
                <a:close/>
                <a:moveTo>
                  <a:pt x="89384" y="98323"/>
                </a:moveTo>
                <a:lnTo>
                  <a:pt x="160891" y="98323"/>
                </a:lnTo>
                <a:cubicBezTo>
                  <a:pt x="170780" y="98323"/>
                  <a:pt x="178768" y="106311"/>
                  <a:pt x="178768" y="116199"/>
                </a:cubicBezTo>
                <a:cubicBezTo>
                  <a:pt x="178768" y="126088"/>
                  <a:pt x="170780" y="134076"/>
                  <a:pt x="160891" y="134076"/>
                </a:cubicBezTo>
                <a:lnTo>
                  <a:pt x="89384" y="134076"/>
                </a:lnTo>
                <a:cubicBezTo>
                  <a:pt x="79496" y="134076"/>
                  <a:pt x="71507" y="126088"/>
                  <a:pt x="71507" y="116199"/>
                </a:cubicBezTo>
                <a:cubicBezTo>
                  <a:pt x="71507" y="106311"/>
                  <a:pt x="79496" y="98323"/>
                  <a:pt x="89384" y="98323"/>
                </a:cubicBezTo>
                <a:close/>
                <a:moveTo>
                  <a:pt x="89384" y="160891"/>
                </a:moveTo>
                <a:lnTo>
                  <a:pt x="232399" y="160891"/>
                </a:lnTo>
                <a:cubicBezTo>
                  <a:pt x="242287" y="160891"/>
                  <a:pt x="250276" y="168880"/>
                  <a:pt x="250276" y="178768"/>
                </a:cubicBezTo>
                <a:cubicBezTo>
                  <a:pt x="250276" y="188656"/>
                  <a:pt x="242287" y="196645"/>
                  <a:pt x="232399" y="196645"/>
                </a:cubicBezTo>
                <a:lnTo>
                  <a:pt x="89384" y="196645"/>
                </a:lnTo>
                <a:cubicBezTo>
                  <a:pt x="79496" y="196645"/>
                  <a:pt x="71507" y="188656"/>
                  <a:pt x="71507" y="178768"/>
                </a:cubicBezTo>
                <a:cubicBezTo>
                  <a:pt x="71507" y="168880"/>
                  <a:pt x="79496" y="160891"/>
                  <a:pt x="89384" y="16089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34252" y="5911273"/>
            <a:ext cx="8854991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模型评估指标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6716" y="6435660"/>
            <a:ext cx="4457290" cy="1287132"/>
          </a:xfrm>
          <a:custGeom>
            <a:avLst/>
            <a:gdLst/>
            <a:ahLst/>
            <a:cxnLst/>
            <a:rect l="l" t="t" r="r" b="b"/>
            <a:pathLst>
              <a:path w="4457290" h="1287132">
                <a:moveTo>
                  <a:pt x="95338" y="0"/>
                </a:moveTo>
                <a:lnTo>
                  <a:pt x="4361952" y="0"/>
                </a:lnTo>
                <a:cubicBezTo>
                  <a:pt x="4414606" y="0"/>
                  <a:pt x="4457290" y="42684"/>
                  <a:pt x="4457290" y="95338"/>
                </a:cubicBezTo>
                <a:lnTo>
                  <a:pt x="4457290" y="1191794"/>
                </a:lnTo>
                <a:cubicBezTo>
                  <a:pt x="4457290" y="1244448"/>
                  <a:pt x="4414606" y="1287132"/>
                  <a:pt x="4361952" y="1287132"/>
                </a:cubicBezTo>
                <a:lnTo>
                  <a:pt x="95338" y="1287132"/>
                </a:lnTo>
                <a:cubicBezTo>
                  <a:pt x="42684" y="1287132"/>
                  <a:pt x="0" y="1244448"/>
                  <a:pt x="0" y="1191794"/>
                </a:cubicBezTo>
                <a:lnTo>
                  <a:pt x="0" y="95338"/>
                </a:lnTo>
                <a:cubicBezTo>
                  <a:pt x="0" y="42719"/>
                  <a:pt x="42719" y="0"/>
                  <a:pt x="95338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72059" y="6578674"/>
            <a:ext cx="4266604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1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MSE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223" y="6912375"/>
            <a:ext cx="4314276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5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数值越小越好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8018" y="7341419"/>
            <a:ext cx="4254686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4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均方误差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80186" y="6435660"/>
            <a:ext cx="4457290" cy="1287132"/>
          </a:xfrm>
          <a:custGeom>
            <a:avLst/>
            <a:gdLst/>
            <a:ahLst/>
            <a:cxnLst/>
            <a:rect l="l" t="t" r="r" b="b"/>
            <a:pathLst>
              <a:path w="4457290" h="1287132">
                <a:moveTo>
                  <a:pt x="95338" y="0"/>
                </a:moveTo>
                <a:lnTo>
                  <a:pt x="4361952" y="0"/>
                </a:lnTo>
                <a:cubicBezTo>
                  <a:pt x="4414606" y="0"/>
                  <a:pt x="4457290" y="42684"/>
                  <a:pt x="4457290" y="95338"/>
                </a:cubicBezTo>
                <a:lnTo>
                  <a:pt x="4457290" y="1191794"/>
                </a:lnTo>
                <a:cubicBezTo>
                  <a:pt x="4457290" y="1244448"/>
                  <a:pt x="4414606" y="1287132"/>
                  <a:pt x="4361952" y="1287132"/>
                </a:cubicBezTo>
                <a:lnTo>
                  <a:pt x="95338" y="1287132"/>
                </a:lnTo>
                <a:cubicBezTo>
                  <a:pt x="42684" y="1287132"/>
                  <a:pt x="0" y="1244448"/>
                  <a:pt x="0" y="1191794"/>
                </a:cubicBezTo>
                <a:lnTo>
                  <a:pt x="0" y="95338"/>
                </a:lnTo>
                <a:cubicBezTo>
                  <a:pt x="0" y="42719"/>
                  <a:pt x="42719" y="0"/>
                  <a:pt x="95338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175529" y="6578674"/>
            <a:ext cx="4266604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1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R²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51694" y="6912375"/>
            <a:ext cx="4314276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52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0~1</a:t>
            </a:r>
            <a:r>
              <a:rPr lang="en-US" sz="225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越近越好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81488" y="7341419"/>
            <a:ext cx="4254686" cy="23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4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决定系数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844548" y="1382475"/>
            <a:ext cx="321783" cy="286029"/>
          </a:xfrm>
          <a:custGeom>
            <a:avLst/>
            <a:gdLst/>
            <a:ahLst/>
            <a:cxnLst/>
            <a:rect l="l" t="t" r="r" b="b"/>
            <a:pathLst>
              <a:path w="321783" h="286029">
                <a:moveTo>
                  <a:pt x="201561" y="670"/>
                </a:moveTo>
                <a:cubicBezTo>
                  <a:pt x="192064" y="-2067"/>
                  <a:pt x="182176" y="3464"/>
                  <a:pt x="179439" y="12961"/>
                </a:cubicBezTo>
                <a:lnTo>
                  <a:pt x="107931" y="263236"/>
                </a:lnTo>
                <a:cubicBezTo>
                  <a:pt x="105194" y="272733"/>
                  <a:pt x="110725" y="282622"/>
                  <a:pt x="120222" y="285359"/>
                </a:cubicBezTo>
                <a:cubicBezTo>
                  <a:pt x="129719" y="288096"/>
                  <a:pt x="139607" y="282566"/>
                  <a:pt x="142344" y="273069"/>
                </a:cubicBezTo>
                <a:lnTo>
                  <a:pt x="213852" y="22793"/>
                </a:lnTo>
                <a:cubicBezTo>
                  <a:pt x="216589" y="13296"/>
                  <a:pt x="211058" y="3408"/>
                  <a:pt x="201561" y="670"/>
                </a:cubicBezTo>
                <a:close/>
                <a:moveTo>
                  <a:pt x="237650" y="76703"/>
                </a:moveTo>
                <a:cubicBezTo>
                  <a:pt x="230667" y="83686"/>
                  <a:pt x="230667" y="95027"/>
                  <a:pt x="237650" y="102010"/>
                </a:cubicBezTo>
                <a:lnTo>
                  <a:pt x="278655" y="143015"/>
                </a:lnTo>
                <a:lnTo>
                  <a:pt x="237650" y="184020"/>
                </a:lnTo>
                <a:cubicBezTo>
                  <a:pt x="230667" y="191003"/>
                  <a:pt x="230667" y="202343"/>
                  <a:pt x="237650" y="209327"/>
                </a:cubicBezTo>
                <a:cubicBezTo>
                  <a:pt x="244633" y="216310"/>
                  <a:pt x="255974" y="216310"/>
                  <a:pt x="262957" y="209327"/>
                </a:cubicBezTo>
                <a:lnTo>
                  <a:pt x="316588" y="155696"/>
                </a:lnTo>
                <a:cubicBezTo>
                  <a:pt x="323571" y="148713"/>
                  <a:pt x="323571" y="137372"/>
                  <a:pt x="316588" y="130389"/>
                </a:cubicBezTo>
                <a:lnTo>
                  <a:pt x="262957" y="76759"/>
                </a:lnTo>
                <a:cubicBezTo>
                  <a:pt x="255974" y="69776"/>
                  <a:pt x="244633" y="69776"/>
                  <a:pt x="237650" y="76759"/>
                </a:cubicBezTo>
                <a:close/>
                <a:moveTo>
                  <a:pt x="84189" y="76703"/>
                </a:moveTo>
                <a:cubicBezTo>
                  <a:pt x="77206" y="69720"/>
                  <a:pt x="65865" y="69720"/>
                  <a:pt x="58882" y="76703"/>
                </a:cubicBezTo>
                <a:lnTo>
                  <a:pt x="5251" y="130333"/>
                </a:lnTo>
                <a:cubicBezTo>
                  <a:pt x="-1732" y="137316"/>
                  <a:pt x="-1732" y="148657"/>
                  <a:pt x="5251" y="155640"/>
                </a:cubicBezTo>
                <a:lnTo>
                  <a:pt x="58882" y="209271"/>
                </a:lnTo>
                <a:cubicBezTo>
                  <a:pt x="65865" y="216254"/>
                  <a:pt x="77206" y="216254"/>
                  <a:pt x="84189" y="209271"/>
                </a:cubicBezTo>
                <a:cubicBezTo>
                  <a:pt x="91172" y="202288"/>
                  <a:pt x="91172" y="190947"/>
                  <a:pt x="84189" y="183964"/>
                </a:cubicBezTo>
                <a:lnTo>
                  <a:pt x="43184" y="143015"/>
                </a:lnTo>
                <a:lnTo>
                  <a:pt x="84133" y="102010"/>
                </a:lnTo>
                <a:cubicBezTo>
                  <a:pt x="91116" y="95027"/>
                  <a:pt x="91116" y="83686"/>
                  <a:pt x="84133" y="76703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184208" y="1334804"/>
            <a:ext cx="5732504" cy="381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5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核心代码实现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832630" y="1865150"/>
            <a:ext cx="5935109" cy="6030452"/>
          </a:xfrm>
          <a:custGeom>
            <a:avLst/>
            <a:gdLst/>
            <a:ahLst/>
            <a:cxnLst/>
            <a:rect l="l" t="t" r="r" b="b"/>
            <a:pathLst>
              <a:path w="5935109" h="6030452">
                <a:moveTo>
                  <a:pt x="95318" y="0"/>
                </a:moveTo>
                <a:lnTo>
                  <a:pt x="5839791" y="0"/>
                </a:lnTo>
                <a:cubicBezTo>
                  <a:pt x="5892433" y="0"/>
                  <a:pt x="5935109" y="42675"/>
                  <a:pt x="5935109" y="95318"/>
                </a:cubicBezTo>
                <a:lnTo>
                  <a:pt x="5935109" y="5935134"/>
                </a:lnTo>
                <a:cubicBezTo>
                  <a:pt x="5935109" y="5987776"/>
                  <a:pt x="5892433" y="6030452"/>
                  <a:pt x="5839791" y="6030452"/>
                </a:cubicBezTo>
                <a:lnTo>
                  <a:pt x="95318" y="6030452"/>
                </a:lnTo>
                <a:cubicBezTo>
                  <a:pt x="42675" y="6030452"/>
                  <a:pt x="0" y="5987776"/>
                  <a:pt x="0" y="5935134"/>
                </a:cubicBezTo>
                <a:lnTo>
                  <a:pt x="0" y="95318"/>
                </a:lnTo>
                <a:cubicBezTo>
                  <a:pt x="0" y="42710"/>
                  <a:pt x="42710" y="0"/>
                  <a:pt x="95318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981604" y="2014123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1. 数据加载与预处理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981604" y="2264399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 = pd.read_csv("house_prices.csv")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981604" y="2514674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 = data[["sqft", "bedrooms"]]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981604" y="2764950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 = data["price"]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981604" y="3110569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特征标准化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981604" y="3360845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scaler = StandardScaler()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981604" y="3611120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X_scaled = scaler.fit_transform(X)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981604" y="3956739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2. 训练/测试集划分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981604" y="4207015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X_train, X_test, y_train, y_test = train_test_split(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981604" y="4457290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X_scaled, y, test_size=0.2, random_state=42)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981604" y="4802909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3. 模型训练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981604" y="5053185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 = LinearRegression()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981604" y="5303460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model.fit(X_train, 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981604" y="5649079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4. 模型评估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981604" y="5899355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y_pred = model.predict(X_test)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981604" y="6149630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mse = mean_squared_error(y_test, y_pred)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981604" y="6399906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r2 = r2_score(y_test, y_pred)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981604" y="6745525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5. 新样本预测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981604" y="6995801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new_house = [[2000, 3]]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981604" y="7246076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new_house_scaled = scaler.transform(new_house)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981604" y="7496352"/>
            <a:ext cx="5720587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predicted_price = model.predict(new_house_scaled)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00551" y="8092246"/>
            <a:ext cx="15278733" cy="572059"/>
          </a:xfrm>
          <a:custGeom>
            <a:avLst/>
            <a:gdLst/>
            <a:ahLst/>
            <a:cxnLst/>
            <a:rect l="l" t="t" r="r" b="b"/>
            <a:pathLst>
              <a:path w="15278733" h="572059">
                <a:moveTo>
                  <a:pt x="47672" y="0"/>
                </a:moveTo>
                <a:lnTo>
                  <a:pt x="15183388" y="0"/>
                </a:lnTo>
                <a:cubicBezTo>
                  <a:pt x="15236046" y="0"/>
                  <a:pt x="15278733" y="42687"/>
                  <a:pt x="15278733" y="95345"/>
                </a:cubicBezTo>
                <a:lnTo>
                  <a:pt x="15278733" y="476714"/>
                </a:lnTo>
                <a:cubicBezTo>
                  <a:pt x="15278733" y="529371"/>
                  <a:pt x="15236046" y="572059"/>
                  <a:pt x="15183388" y="572059"/>
                </a:cubicBezTo>
                <a:lnTo>
                  <a:pt x="47672" y="572059"/>
                </a:lnTo>
                <a:cubicBezTo>
                  <a:pt x="21343" y="572059"/>
                  <a:pt x="0" y="550715"/>
                  <a:pt x="0" y="524387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500551" y="8092246"/>
            <a:ext cx="47672" cy="572059"/>
          </a:xfrm>
          <a:custGeom>
            <a:avLst/>
            <a:gdLst/>
            <a:ahLst/>
            <a:cxnLst/>
            <a:rect l="l" t="t" r="r" b="b"/>
            <a:pathLst>
              <a:path w="47672" h="572059">
                <a:moveTo>
                  <a:pt x="47672" y="0"/>
                </a:moveTo>
                <a:lnTo>
                  <a:pt x="47672" y="0"/>
                </a:lnTo>
                <a:lnTo>
                  <a:pt x="47672" y="572059"/>
                </a:lnTo>
                <a:lnTo>
                  <a:pt x="47672" y="572059"/>
                </a:lnTo>
                <a:cubicBezTo>
                  <a:pt x="21343" y="572059"/>
                  <a:pt x="0" y="550715"/>
                  <a:pt x="0" y="524387"/>
                </a:cubicBezTo>
                <a:lnTo>
                  <a:pt x="0" y="47672"/>
                </a:lnTo>
                <a:cubicBezTo>
                  <a:pt x="0" y="21361"/>
                  <a:pt x="21361" y="0"/>
                  <a:pt x="47672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715073" y="8288891"/>
            <a:ext cx="143015" cy="190686"/>
          </a:xfrm>
          <a:custGeom>
            <a:avLst/>
            <a:gdLst/>
            <a:ahLst/>
            <a:cxnLst/>
            <a:rect l="l" t="t" r="r" b="b"/>
            <a:pathLst>
              <a:path w="143015" h="190686">
                <a:moveTo>
                  <a:pt x="109086" y="143015"/>
                </a:moveTo>
                <a:cubicBezTo>
                  <a:pt x="111805" y="134709"/>
                  <a:pt x="117242" y="127186"/>
                  <a:pt x="123387" y="120706"/>
                </a:cubicBezTo>
                <a:cubicBezTo>
                  <a:pt x="135566" y="107894"/>
                  <a:pt x="143015" y="90576"/>
                  <a:pt x="143015" y="71507"/>
                </a:cubicBezTo>
                <a:cubicBezTo>
                  <a:pt x="143015" y="32029"/>
                  <a:pt x="110985" y="0"/>
                  <a:pt x="71507" y="0"/>
                </a:cubicBezTo>
                <a:cubicBezTo>
                  <a:pt x="32029" y="0"/>
                  <a:pt x="0" y="32029"/>
                  <a:pt x="0" y="71507"/>
                </a:cubicBezTo>
                <a:cubicBezTo>
                  <a:pt x="0" y="90576"/>
                  <a:pt x="7449" y="107894"/>
                  <a:pt x="19627" y="120706"/>
                </a:cubicBezTo>
                <a:cubicBezTo>
                  <a:pt x="25772" y="127186"/>
                  <a:pt x="31247" y="134709"/>
                  <a:pt x="33929" y="143015"/>
                </a:cubicBezTo>
                <a:lnTo>
                  <a:pt x="109049" y="143015"/>
                </a:lnTo>
                <a:close/>
                <a:moveTo>
                  <a:pt x="107261" y="160891"/>
                </a:moveTo>
                <a:lnTo>
                  <a:pt x="35754" y="160891"/>
                </a:lnTo>
                <a:lnTo>
                  <a:pt x="35754" y="166850"/>
                </a:lnTo>
                <a:cubicBezTo>
                  <a:pt x="35754" y="183312"/>
                  <a:pt x="49087" y="196645"/>
                  <a:pt x="65548" y="196645"/>
                </a:cubicBezTo>
                <a:lnTo>
                  <a:pt x="77466" y="196645"/>
                </a:lnTo>
                <a:cubicBezTo>
                  <a:pt x="93928" y="196645"/>
                  <a:pt x="107261" y="183312"/>
                  <a:pt x="107261" y="166850"/>
                </a:cubicBezTo>
                <a:lnTo>
                  <a:pt x="107261" y="160891"/>
                </a:lnTo>
                <a:close/>
                <a:moveTo>
                  <a:pt x="68528" y="41713"/>
                </a:moveTo>
                <a:cubicBezTo>
                  <a:pt x="53705" y="41713"/>
                  <a:pt x="41713" y="53705"/>
                  <a:pt x="41713" y="68528"/>
                </a:cubicBezTo>
                <a:cubicBezTo>
                  <a:pt x="41713" y="73481"/>
                  <a:pt x="37728" y="77466"/>
                  <a:pt x="32774" y="77466"/>
                </a:cubicBezTo>
                <a:cubicBezTo>
                  <a:pt x="27821" y="77466"/>
                  <a:pt x="23836" y="73481"/>
                  <a:pt x="23836" y="68528"/>
                </a:cubicBezTo>
                <a:cubicBezTo>
                  <a:pt x="23836" y="43835"/>
                  <a:pt x="43835" y="23836"/>
                  <a:pt x="68528" y="23836"/>
                </a:cubicBezTo>
                <a:cubicBezTo>
                  <a:pt x="73481" y="23836"/>
                  <a:pt x="77466" y="27821"/>
                  <a:pt x="77466" y="32774"/>
                </a:cubicBezTo>
                <a:cubicBezTo>
                  <a:pt x="77466" y="37728"/>
                  <a:pt x="73481" y="41713"/>
                  <a:pt x="68528" y="41713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995231" y="8235261"/>
            <a:ext cx="14736382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注意：</a:t>
            </a:r>
            <a:r>
              <a:rPr lang="en-US" sz="15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由于特征经过标准化，输出的系数对应"标准化后的特征空间"，不应直接解读为"每增加1平方英尺带来多少美元"的边际效应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4531" y="484531"/>
            <a:ext cx="15504978" cy="484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3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线性回归：核心代码与思考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84531" y="1114420"/>
            <a:ext cx="969061" cy="48453"/>
          </a:xfrm>
          <a:custGeom>
            <a:avLst/>
            <a:gdLst/>
            <a:ahLst/>
            <a:cxnLst/>
            <a:rect l="l" t="t" r="r" b="b"/>
            <a:pathLst>
              <a:path w="969061" h="48453">
                <a:moveTo>
                  <a:pt x="0" y="0"/>
                </a:moveTo>
                <a:lnTo>
                  <a:pt x="969061" y="0"/>
                </a:lnTo>
                <a:lnTo>
                  <a:pt x="969061" y="48453"/>
                </a:lnTo>
                <a:lnTo>
                  <a:pt x="0" y="4845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2700" y="1453592"/>
            <a:ext cx="327058" cy="290718"/>
          </a:xfrm>
          <a:custGeom>
            <a:avLst/>
            <a:gdLst/>
            <a:ahLst/>
            <a:cxnLst/>
            <a:rect l="l" t="t" r="r" b="b"/>
            <a:pathLst>
              <a:path w="327058" h="290718">
                <a:moveTo>
                  <a:pt x="204866" y="681"/>
                </a:moveTo>
                <a:cubicBezTo>
                  <a:pt x="195213" y="-2101"/>
                  <a:pt x="185163" y="3520"/>
                  <a:pt x="182380" y="13173"/>
                </a:cubicBezTo>
                <a:lnTo>
                  <a:pt x="109701" y="267552"/>
                </a:lnTo>
                <a:cubicBezTo>
                  <a:pt x="106918" y="277204"/>
                  <a:pt x="112540" y="287255"/>
                  <a:pt x="122193" y="290037"/>
                </a:cubicBezTo>
                <a:cubicBezTo>
                  <a:pt x="131845" y="292819"/>
                  <a:pt x="141896" y="287198"/>
                  <a:pt x="144678" y="277545"/>
                </a:cubicBezTo>
                <a:lnTo>
                  <a:pt x="217357" y="23167"/>
                </a:lnTo>
                <a:cubicBezTo>
                  <a:pt x="220140" y="13514"/>
                  <a:pt x="214518" y="3464"/>
                  <a:pt x="204866" y="681"/>
                </a:cubicBezTo>
                <a:close/>
                <a:moveTo>
                  <a:pt x="241546" y="77960"/>
                </a:moveTo>
                <a:cubicBezTo>
                  <a:pt x="234448" y="85058"/>
                  <a:pt x="234448" y="96584"/>
                  <a:pt x="241546" y="103682"/>
                </a:cubicBezTo>
                <a:lnTo>
                  <a:pt x="283223" y="145359"/>
                </a:lnTo>
                <a:lnTo>
                  <a:pt x="241546" y="187036"/>
                </a:lnTo>
                <a:cubicBezTo>
                  <a:pt x="234448" y="194134"/>
                  <a:pt x="234448" y="205661"/>
                  <a:pt x="241546" y="212758"/>
                </a:cubicBezTo>
                <a:cubicBezTo>
                  <a:pt x="248644" y="219856"/>
                  <a:pt x="260170" y="219856"/>
                  <a:pt x="267268" y="212758"/>
                </a:cubicBezTo>
                <a:lnTo>
                  <a:pt x="321777" y="158248"/>
                </a:lnTo>
                <a:cubicBezTo>
                  <a:pt x="328875" y="151151"/>
                  <a:pt x="328875" y="139624"/>
                  <a:pt x="321777" y="132527"/>
                </a:cubicBezTo>
                <a:lnTo>
                  <a:pt x="267268" y="78017"/>
                </a:lnTo>
                <a:cubicBezTo>
                  <a:pt x="260170" y="70919"/>
                  <a:pt x="248644" y="70919"/>
                  <a:pt x="241546" y="78017"/>
                </a:cubicBezTo>
                <a:close/>
                <a:moveTo>
                  <a:pt x="85569" y="77960"/>
                </a:moveTo>
                <a:cubicBezTo>
                  <a:pt x="78471" y="70863"/>
                  <a:pt x="66945" y="70863"/>
                  <a:pt x="59847" y="77960"/>
                </a:cubicBezTo>
                <a:lnTo>
                  <a:pt x="5337" y="132470"/>
                </a:lnTo>
                <a:cubicBezTo>
                  <a:pt x="-1760" y="139568"/>
                  <a:pt x="-1760" y="151094"/>
                  <a:pt x="5337" y="158192"/>
                </a:cubicBezTo>
                <a:lnTo>
                  <a:pt x="59847" y="212701"/>
                </a:lnTo>
                <a:cubicBezTo>
                  <a:pt x="66945" y="219799"/>
                  <a:pt x="78471" y="219799"/>
                  <a:pt x="85569" y="212701"/>
                </a:cubicBezTo>
                <a:cubicBezTo>
                  <a:pt x="92666" y="205604"/>
                  <a:pt x="92666" y="194077"/>
                  <a:pt x="85569" y="186980"/>
                </a:cubicBezTo>
                <a:lnTo>
                  <a:pt x="43892" y="145359"/>
                </a:lnTo>
                <a:lnTo>
                  <a:pt x="85512" y="103682"/>
                </a:lnTo>
                <a:cubicBezTo>
                  <a:pt x="92610" y="96584"/>
                  <a:pt x="92610" y="85058"/>
                  <a:pt x="85512" y="7796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47928" y="1405139"/>
            <a:ext cx="7231618" cy="38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8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关键代码片段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0587" y="1992632"/>
            <a:ext cx="7437544" cy="5717461"/>
          </a:xfrm>
          <a:custGeom>
            <a:avLst/>
            <a:gdLst/>
            <a:ahLst/>
            <a:cxnLst/>
            <a:rect l="l" t="t" r="r" b="b"/>
            <a:pathLst>
              <a:path w="7437544" h="5717461">
                <a:moveTo>
                  <a:pt x="96911" y="0"/>
                </a:moveTo>
                <a:lnTo>
                  <a:pt x="7340633" y="0"/>
                </a:lnTo>
                <a:cubicBezTo>
                  <a:pt x="7394155" y="0"/>
                  <a:pt x="7437544" y="43389"/>
                  <a:pt x="7437544" y="96911"/>
                </a:cubicBezTo>
                <a:lnTo>
                  <a:pt x="7437544" y="5620550"/>
                </a:lnTo>
                <a:cubicBezTo>
                  <a:pt x="7437544" y="5674072"/>
                  <a:pt x="7394155" y="5717461"/>
                  <a:pt x="7340633" y="5717461"/>
                </a:cubicBezTo>
                <a:lnTo>
                  <a:pt x="96911" y="5717461"/>
                </a:lnTo>
                <a:cubicBezTo>
                  <a:pt x="43389" y="5717461"/>
                  <a:pt x="0" y="5674072"/>
                  <a:pt x="0" y="5620550"/>
                </a:cubicBezTo>
                <a:lnTo>
                  <a:pt x="0" y="96911"/>
                </a:lnTo>
                <a:cubicBezTo>
                  <a:pt x="0" y="43424"/>
                  <a:pt x="43424" y="0"/>
                  <a:pt x="96911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90456" y="2192501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模型参数输出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90456" y="2446879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print(f"截距: {model.intercept_:.2f}")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0456" y="2701258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print(f"系数: {model.coef_}")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90456" y="3052542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输出示例：截距: 250000.00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90456" y="3306921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系数: [150.0, -5000.0]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0456" y="3706659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评估指标计算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90456" y="3961037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sklearn.metrics import mean_squared_error, r2_score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0456" y="4215416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mse = mean_squared_error(y_test, y_pred)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0456" y="4469794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r2 = r2_score(y_test, y_pred)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90456" y="4724173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print(f"MSE: {mse:.2f}, R²: {r2:.2f}")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0456" y="5075458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输出示例：MSE: 1500000000.00, R²: 0.85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0456" y="5475195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可视化：实际价格 vs 预测价格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0456" y="5729574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plt.scatter(y_test, y_pred)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0456" y="5983952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plt.plot([y_test.min(), y_test.max()],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0456" y="6238331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[y_test.min(), y_test.max()], 'r--')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0456" y="6492709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plt.xlabel('实际价格')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0456" y="6747088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plt.ylabel('预测价格')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0456" y="7001466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plt.title('线性回归预测效果')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90456" y="7255845"/>
            <a:ext cx="7122599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plt.show()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359477" y="1453592"/>
            <a:ext cx="290718" cy="290718"/>
          </a:xfrm>
          <a:custGeom>
            <a:avLst/>
            <a:gdLst/>
            <a:ahLst/>
            <a:cxnLst/>
            <a:rect l="l" t="t" r="r" b="b"/>
            <a:pathLst>
              <a:path w="290718" h="290718">
                <a:moveTo>
                  <a:pt x="68137" y="31797"/>
                </a:moveTo>
                <a:cubicBezTo>
                  <a:pt x="68137" y="14252"/>
                  <a:pt x="82389" y="0"/>
                  <a:pt x="99934" y="0"/>
                </a:cubicBezTo>
                <a:lnTo>
                  <a:pt x="113562" y="0"/>
                </a:lnTo>
                <a:cubicBezTo>
                  <a:pt x="123612" y="0"/>
                  <a:pt x="131732" y="8120"/>
                  <a:pt x="131732" y="18170"/>
                </a:cubicBezTo>
                <a:lnTo>
                  <a:pt x="131732" y="272548"/>
                </a:lnTo>
                <a:cubicBezTo>
                  <a:pt x="131732" y="282599"/>
                  <a:pt x="123612" y="290718"/>
                  <a:pt x="113562" y="290718"/>
                </a:cubicBezTo>
                <a:lnTo>
                  <a:pt x="95392" y="290718"/>
                </a:lnTo>
                <a:cubicBezTo>
                  <a:pt x="78471" y="290718"/>
                  <a:pt x="64219" y="279135"/>
                  <a:pt x="60188" y="263463"/>
                </a:cubicBezTo>
                <a:cubicBezTo>
                  <a:pt x="59790" y="263463"/>
                  <a:pt x="59450" y="263463"/>
                  <a:pt x="59052" y="263463"/>
                </a:cubicBezTo>
                <a:cubicBezTo>
                  <a:pt x="33955" y="263463"/>
                  <a:pt x="13627" y="243136"/>
                  <a:pt x="13627" y="218039"/>
                </a:cubicBezTo>
                <a:cubicBezTo>
                  <a:pt x="13627" y="207818"/>
                  <a:pt x="17034" y="198393"/>
                  <a:pt x="22712" y="190784"/>
                </a:cubicBezTo>
                <a:cubicBezTo>
                  <a:pt x="11697" y="182494"/>
                  <a:pt x="4542" y="169321"/>
                  <a:pt x="4542" y="154444"/>
                </a:cubicBezTo>
                <a:cubicBezTo>
                  <a:pt x="4542" y="136899"/>
                  <a:pt x="14536" y="121625"/>
                  <a:pt x="29072" y="114073"/>
                </a:cubicBezTo>
                <a:cubicBezTo>
                  <a:pt x="25040" y="107259"/>
                  <a:pt x="22712" y="99310"/>
                  <a:pt x="22712" y="90849"/>
                </a:cubicBezTo>
                <a:cubicBezTo>
                  <a:pt x="22712" y="65752"/>
                  <a:pt x="43040" y="45425"/>
                  <a:pt x="68137" y="45425"/>
                </a:cubicBezTo>
                <a:lnTo>
                  <a:pt x="68137" y="31797"/>
                </a:lnTo>
                <a:close/>
                <a:moveTo>
                  <a:pt x="222581" y="31797"/>
                </a:moveTo>
                <a:lnTo>
                  <a:pt x="222581" y="45425"/>
                </a:lnTo>
                <a:cubicBezTo>
                  <a:pt x="247678" y="45425"/>
                  <a:pt x="268006" y="65752"/>
                  <a:pt x="268006" y="90849"/>
                </a:cubicBezTo>
                <a:cubicBezTo>
                  <a:pt x="268006" y="99367"/>
                  <a:pt x="265678" y="107316"/>
                  <a:pt x="261646" y="114073"/>
                </a:cubicBezTo>
                <a:cubicBezTo>
                  <a:pt x="276239" y="121625"/>
                  <a:pt x="286176" y="136842"/>
                  <a:pt x="286176" y="154444"/>
                </a:cubicBezTo>
                <a:cubicBezTo>
                  <a:pt x="286176" y="169321"/>
                  <a:pt x="279021" y="182494"/>
                  <a:pt x="268006" y="190784"/>
                </a:cubicBezTo>
                <a:cubicBezTo>
                  <a:pt x="273684" y="198393"/>
                  <a:pt x="277091" y="207818"/>
                  <a:pt x="277091" y="218039"/>
                </a:cubicBezTo>
                <a:cubicBezTo>
                  <a:pt x="277091" y="243136"/>
                  <a:pt x="256763" y="263463"/>
                  <a:pt x="231666" y="263463"/>
                </a:cubicBezTo>
                <a:cubicBezTo>
                  <a:pt x="231269" y="263463"/>
                  <a:pt x="230928" y="263463"/>
                  <a:pt x="230531" y="263463"/>
                </a:cubicBezTo>
                <a:cubicBezTo>
                  <a:pt x="226499" y="279135"/>
                  <a:pt x="212247" y="290718"/>
                  <a:pt x="195326" y="290718"/>
                </a:cubicBezTo>
                <a:lnTo>
                  <a:pt x="177156" y="290718"/>
                </a:lnTo>
                <a:cubicBezTo>
                  <a:pt x="167106" y="290718"/>
                  <a:pt x="158987" y="282599"/>
                  <a:pt x="158987" y="272548"/>
                </a:cubicBezTo>
                <a:lnTo>
                  <a:pt x="158987" y="18170"/>
                </a:lnTo>
                <a:cubicBezTo>
                  <a:pt x="158987" y="8120"/>
                  <a:pt x="167106" y="0"/>
                  <a:pt x="177156" y="0"/>
                </a:cubicBezTo>
                <a:lnTo>
                  <a:pt x="190784" y="0"/>
                </a:lnTo>
                <a:cubicBezTo>
                  <a:pt x="208329" y="0"/>
                  <a:pt x="222581" y="14252"/>
                  <a:pt x="222581" y="31797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686535" y="1405139"/>
            <a:ext cx="7231618" cy="38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8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深度思考问题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47364" y="1986575"/>
            <a:ext cx="7425431" cy="1792763"/>
          </a:xfrm>
          <a:custGeom>
            <a:avLst/>
            <a:gdLst/>
            <a:ahLst/>
            <a:cxnLst/>
            <a:rect l="l" t="t" r="r" b="b"/>
            <a:pathLst>
              <a:path w="7425431" h="1792763">
                <a:moveTo>
                  <a:pt x="48453" y="0"/>
                </a:moveTo>
                <a:lnTo>
                  <a:pt x="7328532" y="0"/>
                </a:lnTo>
                <a:cubicBezTo>
                  <a:pt x="7382048" y="0"/>
                  <a:pt x="7425431" y="43383"/>
                  <a:pt x="7425431" y="96899"/>
                </a:cubicBezTo>
                <a:lnTo>
                  <a:pt x="7425431" y="1695864"/>
                </a:lnTo>
                <a:cubicBezTo>
                  <a:pt x="7425431" y="1749380"/>
                  <a:pt x="7382048" y="1792763"/>
                  <a:pt x="7328532" y="1792763"/>
                </a:cubicBezTo>
                <a:lnTo>
                  <a:pt x="48453" y="1792763"/>
                </a:lnTo>
                <a:cubicBezTo>
                  <a:pt x="21693" y="1792763"/>
                  <a:pt x="0" y="1771070"/>
                  <a:pt x="0" y="1744310"/>
                </a:cubicBezTo>
                <a:lnTo>
                  <a:pt x="0" y="48453"/>
                </a:lnTo>
                <a:cubicBezTo>
                  <a:pt x="0" y="21711"/>
                  <a:pt x="21711" y="0"/>
                  <a:pt x="4845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47364" y="1986575"/>
            <a:ext cx="48453" cy="1792763"/>
          </a:xfrm>
          <a:custGeom>
            <a:avLst/>
            <a:gdLst/>
            <a:ahLst/>
            <a:cxnLst/>
            <a:rect l="l" t="t" r="r" b="b"/>
            <a:pathLst>
              <a:path w="48453" h="1792763">
                <a:moveTo>
                  <a:pt x="48453" y="0"/>
                </a:moveTo>
                <a:lnTo>
                  <a:pt x="48453" y="0"/>
                </a:lnTo>
                <a:lnTo>
                  <a:pt x="48453" y="1792763"/>
                </a:lnTo>
                <a:lnTo>
                  <a:pt x="48453" y="1792763"/>
                </a:lnTo>
                <a:cubicBezTo>
                  <a:pt x="21693" y="1792763"/>
                  <a:pt x="0" y="1771070"/>
                  <a:pt x="0" y="1744310"/>
                </a:cubicBezTo>
                <a:lnTo>
                  <a:pt x="0" y="48453"/>
                </a:lnTo>
                <a:cubicBezTo>
                  <a:pt x="0" y="21711"/>
                  <a:pt x="21711" y="0"/>
                  <a:pt x="4845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65402" y="2180387"/>
            <a:ext cx="484531" cy="484531"/>
          </a:xfrm>
          <a:custGeom>
            <a:avLst/>
            <a:gdLst/>
            <a:ahLst/>
            <a:cxnLst/>
            <a:rect l="l" t="t" r="r" b="b"/>
            <a:pathLst>
              <a:path w="484531" h="484531">
                <a:moveTo>
                  <a:pt x="242265" y="0"/>
                </a:moveTo>
                <a:lnTo>
                  <a:pt x="242265" y="0"/>
                </a:lnTo>
                <a:cubicBezTo>
                  <a:pt x="375975" y="0"/>
                  <a:pt x="484531" y="108555"/>
                  <a:pt x="484531" y="242265"/>
                </a:cubicBezTo>
                <a:lnTo>
                  <a:pt x="484531" y="242265"/>
                </a:lnTo>
                <a:cubicBezTo>
                  <a:pt x="484531" y="375975"/>
                  <a:pt x="375975" y="484531"/>
                  <a:pt x="242265" y="484531"/>
                </a:cubicBezTo>
                <a:lnTo>
                  <a:pt x="242265" y="484531"/>
                </a:lnTo>
                <a:cubicBezTo>
                  <a:pt x="108555" y="484531"/>
                  <a:pt x="0" y="375975"/>
                  <a:pt x="0" y="242265"/>
                </a:cubicBezTo>
                <a:lnTo>
                  <a:pt x="0" y="242265"/>
                </a:lnTo>
                <a:cubicBezTo>
                  <a:pt x="0" y="108555"/>
                  <a:pt x="108555" y="0"/>
                  <a:pt x="24226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764798" y="2253067"/>
            <a:ext cx="193812" cy="33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7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43745" y="2180387"/>
            <a:ext cx="6444256" cy="33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特征高度相关时的系数不稳定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243745" y="2616465"/>
            <a:ext cx="6432143" cy="62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2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当特征存在多重共线性时，系数会出现哪些不稳定现象？如何用</a:t>
            </a:r>
            <a:r>
              <a:rPr lang="en-US" sz="1526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Ridge</a:t>
            </a:r>
            <a:r>
              <a:rPr lang="en-US" sz="152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</a:t>
            </a:r>
            <a:r>
              <a:rPr lang="en-US" sz="1526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Lasso</a:t>
            </a:r>
            <a:r>
              <a:rPr lang="en-US" sz="152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或</a:t>
            </a:r>
            <a:r>
              <a:rPr lang="en-US" sz="1526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Elastic Net</a:t>
            </a:r>
            <a:r>
              <a:rPr lang="en-US" sz="152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缓解？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43745" y="3343261"/>
            <a:ext cx="6420030" cy="242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提示：设计矩阵XᵀX条件数变差，最小二乘解方差变大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47364" y="3924697"/>
            <a:ext cx="7425431" cy="1792763"/>
          </a:xfrm>
          <a:custGeom>
            <a:avLst/>
            <a:gdLst/>
            <a:ahLst/>
            <a:cxnLst/>
            <a:rect l="l" t="t" r="r" b="b"/>
            <a:pathLst>
              <a:path w="7425431" h="1792763">
                <a:moveTo>
                  <a:pt x="48453" y="0"/>
                </a:moveTo>
                <a:lnTo>
                  <a:pt x="7328532" y="0"/>
                </a:lnTo>
                <a:cubicBezTo>
                  <a:pt x="7382048" y="0"/>
                  <a:pt x="7425431" y="43383"/>
                  <a:pt x="7425431" y="96899"/>
                </a:cubicBezTo>
                <a:lnTo>
                  <a:pt x="7425431" y="1695864"/>
                </a:lnTo>
                <a:cubicBezTo>
                  <a:pt x="7425431" y="1749380"/>
                  <a:pt x="7382048" y="1792763"/>
                  <a:pt x="7328532" y="1792763"/>
                </a:cubicBezTo>
                <a:lnTo>
                  <a:pt x="48453" y="1792763"/>
                </a:lnTo>
                <a:cubicBezTo>
                  <a:pt x="21693" y="1792763"/>
                  <a:pt x="0" y="1771070"/>
                  <a:pt x="0" y="1744310"/>
                </a:cubicBezTo>
                <a:lnTo>
                  <a:pt x="0" y="48453"/>
                </a:lnTo>
                <a:cubicBezTo>
                  <a:pt x="0" y="21711"/>
                  <a:pt x="21711" y="0"/>
                  <a:pt x="4845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347364" y="3924697"/>
            <a:ext cx="48453" cy="1792763"/>
          </a:xfrm>
          <a:custGeom>
            <a:avLst/>
            <a:gdLst/>
            <a:ahLst/>
            <a:cxnLst/>
            <a:rect l="l" t="t" r="r" b="b"/>
            <a:pathLst>
              <a:path w="48453" h="1792763">
                <a:moveTo>
                  <a:pt x="48453" y="0"/>
                </a:moveTo>
                <a:lnTo>
                  <a:pt x="48453" y="0"/>
                </a:lnTo>
                <a:lnTo>
                  <a:pt x="48453" y="1792763"/>
                </a:lnTo>
                <a:lnTo>
                  <a:pt x="48453" y="1792763"/>
                </a:lnTo>
                <a:cubicBezTo>
                  <a:pt x="21693" y="1792763"/>
                  <a:pt x="0" y="1771070"/>
                  <a:pt x="0" y="1744310"/>
                </a:cubicBezTo>
                <a:lnTo>
                  <a:pt x="0" y="48453"/>
                </a:lnTo>
                <a:cubicBezTo>
                  <a:pt x="0" y="21711"/>
                  <a:pt x="21711" y="0"/>
                  <a:pt x="4845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65402" y="4118510"/>
            <a:ext cx="484531" cy="484531"/>
          </a:xfrm>
          <a:custGeom>
            <a:avLst/>
            <a:gdLst/>
            <a:ahLst/>
            <a:cxnLst/>
            <a:rect l="l" t="t" r="r" b="b"/>
            <a:pathLst>
              <a:path w="484531" h="484531">
                <a:moveTo>
                  <a:pt x="242265" y="0"/>
                </a:moveTo>
                <a:lnTo>
                  <a:pt x="242265" y="0"/>
                </a:lnTo>
                <a:cubicBezTo>
                  <a:pt x="375975" y="0"/>
                  <a:pt x="484531" y="108555"/>
                  <a:pt x="484531" y="242265"/>
                </a:cubicBezTo>
                <a:lnTo>
                  <a:pt x="484531" y="242265"/>
                </a:lnTo>
                <a:cubicBezTo>
                  <a:pt x="484531" y="375975"/>
                  <a:pt x="375975" y="484531"/>
                  <a:pt x="242265" y="484531"/>
                </a:cubicBezTo>
                <a:lnTo>
                  <a:pt x="242265" y="484531"/>
                </a:lnTo>
                <a:cubicBezTo>
                  <a:pt x="108555" y="484531"/>
                  <a:pt x="0" y="375975"/>
                  <a:pt x="0" y="242265"/>
                </a:cubicBezTo>
                <a:lnTo>
                  <a:pt x="0" y="242265"/>
                </a:lnTo>
                <a:cubicBezTo>
                  <a:pt x="0" y="108555"/>
                  <a:pt x="108555" y="0"/>
                  <a:pt x="242265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46344" y="4191189"/>
            <a:ext cx="230152" cy="33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7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43745" y="4118510"/>
            <a:ext cx="6444256" cy="33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残差非对称或厚尾时的损失选择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243745" y="4554587"/>
            <a:ext cx="6432143" cy="62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2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当残差分布明显厚尾或存在离群点时，MSE是否合适？哪些替代损失更鲁棒？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43745" y="5281383"/>
            <a:ext cx="6420030" cy="242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提示：考虑MAE、Huber损失、分位数回归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47364" y="5862820"/>
            <a:ext cx="7425431" cy="1792763"/>
          </a:xfrm>
          <a:custGeom>
            <a:avLst/>
            <a:gdLst/>
            <a:ahLst/>
            <a:cxnLst/>
            <a:rect l="l" t="t" r="r" b="b"/>
            <a:pathLst>
              <a:path w="7425431" h="1792763">
                <a:moveTo>
                  <a:pt x="48453" y="0"/>
                </a:moveTo>
                <a:lnTo>
                  <a:pt x="7328532" y="0"/>
                </a:lnTo>
                <a:cubicBezTo>
                  <a:pt x="7382048" y="0"/>
                  <a:pt x="7425431" y="43383"/>
                  <a:pt x="7425431" y="96899"/>
                </a:cubicBezTo>
                <a:lnTo>
                  <a:pt x="7425431" y="1695864"/>
                </a:lnTo>
                <a:cubicBezTo>
                  <a:pt x="7425431" y="1749380"/>
                  <a:pt x="7382048" y="1792763"/>
                  <a:pt x="7328532" y="1792763"/>
                </a:cubicBezTo>
                <a:lnTo>
                  <a:pt x="48453" y="1792763"/>
                </a:lnTo>
                <a:cubicBezTo>
                  <a:pt x="21693" y="1792763"/>
                  <a:pt x="0" y="1771070"/>
                  <a:pt x="0" y="1744310"/>
                </a:cubicBezTo>
                <a:lnTo>
                  <a:pt x="0" y="48453"/>
                </a:lnTo>
                <a:cubicBezTo>
                  <a:pt x="0" y="21711"/>
                  <a:pt x="21711" y="0"/>
                  <a:pt x="4845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347364" y="5862820"/>
            <a:ext cx="48453" cy="1792763"/>
          </a:xfrm>
          <a:custGeom>
            <a:avLst/>
            <a:gdLst/>
            <a:ahLst/>
            <a:cxnLst/>
            <a:rect l="l" t="t" r="r" b="b"/>
            <a:pathLst>
              <a:path w="48453" h="1792763">
                <a:moveTo>
                  <a:pt x="48453" y="0"/>
                </a:moveTo>
                <a:lnTo>
                  <a:pt x="48453" y="0"/>
                </a:lnTo>
                <a:lnTo>
                  <a:pt x="48453" y="1792763"/>
                </a:lnTo>
                <a:lnTo>
                  <a:pt x="48453" y="1792763"/>
                </a:lnTo>
                <a:cubicBezTo>
                  <a:pt x="21693" y="1792763"/>
                  <a:pt x="0" y="1771070"/>
                  <a:pt x="0" y="1744310"/>
                </a:cubicBezTo>
                <a:lnTo>
                  <a:pt x="0" y="48453"/>
                </a:lnTo>
                <a:cubicBezTo>
                  <a:pt x="0" y="21711"/>
                  <a:pt x="21711" y="0"/>
                  <a:pt x="4845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565402" y="6056632"/>
            <a:ext cx="484531" cy="484531"/>
          </a:xfrm>
          <a:custGeom>
            <a:avLst/>
            <a:gdLst/>
            <a:ahLst/>
            <a:cxnLst/>
            <a:rect l="l" t="t" r="r" b="b"/>
            <a:pathLst>
              <a:path w="484531" h="484531">
                <a:moveTo>
                  <a:pt x="242265" y="0"/>
                </a:moveTo>
                <a:lnTo>
                  <a:pt x="242265" y="0"/>
                </a:lnTo>
                <a:cubicBezTo>
                  <a:pt x="375975" y="0"/>
                  <a:pt x="484531" y="108555"/>
                  <a:pt x="484531" y="242265"/>
                </a:cubicBezTo>
                <a:lnTo>
                  <a:pt x="484531" y="242265"/>
                </a:lnTo>
                <a:cubicBezTo>
                  <a:pt x="484531" y="375975"/>
                  <a:pt x="375975" y="484531"/>
                  <a:pt x="242265" y="484531"/>
                </a:cubicBezTo>
                <a:lnTo>
                  <a:pt x="242265" y="484531"/>
                </a:lnTo>
                <a:cubicBezTo>
                  <a:pt x="108555" y="484531"/>
                  <a:pt x="0" y="375975"/>
                  <a:pt x="0" y="242265"/>
                </a:cubicBezTo>
                <a:lnTo>
                  <a:pt x="0" y="242265"/>
                </a:lnTo>
                <a:cubicBezTo>
                  <a:pt x="0" y="108555"/>
                  <a:pt x="108555" y="0"/>
                  <a:pt x="24226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743505" y="6129311"/>
            <a:ext cx="242265" cy="33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7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243745" y="6056632"/>
            <a:ext cx="6444256" cy="339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高R²是否意味着预测性能好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243745" y="6492709"/>
            <a:ext cx="6432143" cy="629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2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训练集上很高的R²是否必然带来样本外的好预测？如何进行更可靠的评估？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243745" y="7219505"/>
            <a:ext cx="6420030" cy="242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提示：交叉验证、独立测试集、残差诊断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90587" y="7964471"/>
            <a:ext cx="15274826" cy="690456"/>
          </a:xfrm>
          <a:custGeom>
            <a:avLst/>
            <a:gdLst/>
            <a:ahLst/>
            <a:cxnLst/>
            <a:rect l="l" t="t" r="r" b="b"/>
            <a:pathLst>
              <a:path w="15274826" h="690456">
                <a:moveTo>
                  <a:pt x="96906" y="0"/>
                </a:moveTo>
                <a:lnTo>
                  <a:pt x="15177920" y="0"/>
                </a:lnTo>
                <a:cubicBezTo>
                  <a:pt x="15231440" y="0"/>
                  <a:pt x="15274826" y="43386"/>
                  <a:pt x="15274826" y="96906"/>
                </a:cubicBezTo>
                <a:lnTo>
                  <a:pt x="15274826" y="593551"/>
                </a:lnTo>
                <a:cubicBezTo>
                  <a:pt x="15274826" y="647070"/>
                  <a:pt x="15231440" y="690456"/>
                  <a:pt x="15177920" y="690456"/>
                </a:cubicBezTo>
                <a:lnTo>
                  <a:pt x="96906" y="690456"/>
                </a:lnTo>
                <a:cubicBezTo>
                  <a:pt x="43386" y="690456"/>
                  <a:pt x="0" y="647070"/>
                  <a:pt x="0" y="593551"/>
                </a:cubicBezTo>
                <a:lnTo>
                  <a:pt x="0" y="96906"/>
                </a:lnTo>
                <a:cubicBezTo>
                  <a:pt x="0" y="43386"/>
                  <a:pt x="43386" y="0"/>
                  <a:pt x="96906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05598" y="8188566"/>
            <a:ext cx="272548" cy="242265"/>
          </a:xfrm>
          <a:custGeom>
            <a:avLst/>
            <a:gdLst/>
            <a:ahLst/>
            <a:cxnLst/>
            <a:rect l="l" t="t" r="r" b="b"/>
            <a:pathLst>
              <a:path w="272548" h="242265">
                <a:moveTo>
                  <a:pt x="146447" y="-8943"/>
                </a:moveTo>
                <a:cubicBezTo>
                  <a:pt x="144507" y="-12728"/>
                  <a:pt x="140580" y="-15142"/>
                  <a:pt x="136322" y="-15142"/>
                </a:cubicBezTo>
                <a:cubicBezTo>
                  <a:pt x="132063" y="-15142"/>
                  <a:pt x="128136" y="-12728"/>
                  <a:pt x="126196" y="-8943"/>
                </a:cubicBezTo>
                <a:lnTo>
                  <a:pt x="91370" y="59289"/>
                </a:lnTo>
                <a:lnTo>
                  <a:pt x="15709" y="71307"/>
                </a:lnTo>
                <a:cubicBezTo>
                  <a:pt x="11498" y="71970"/>
                  <a:pt x="7997" y="74951"/>
                  <a:pt x="6672" y="79020"/>
                </a:cubicBezTo>
                <a:cubicBezTo>
                  <a:pt x="5347" y="83089"/>
                  <a:pt x="6435" y="87537"/>
                  <a:pt x="9416" y="90566"/>
                </a:cubicBezTo>
                <a:lnTo>
                  <a:pt x="63547" y="144744"/>
                </a:lnTo>
                <a:lnTo>
                  <a:pt x="51623" y="220405"/>
                </a:lnTo>
                <a:cubicBezTo>
                  <a:pt x="50961" y="224616"/>
                  <a:pt x="52712" y="228874"/>
                  <a:pt x="56166" y="231382"/>
                </a:cubicBezTo>
                <a:cubicBezTo>
                  <a:pt x="59620" y="233890"/>
                  <a:pt x="64162" y="234269"/>
                  <a:pt x="67995" y="232329"/>
                </a:cubicBezTo>
                <a:lnTo>
                  <a:pt x="136322" y="197598"/>
                </a:lnTo>
                <a:lnTo>
                  <a:pt x="204601" y="232329"/>
                </a:lnTo>
                <a:cubicBezTo>
                  <a:pt x="208386" y="234269"/>
                  <a:pt x="212976" y="233890"/>
                  <a:pt x="216430" y="231382"/>
                </a:cubicBezTo>
                <a:cubicBezTo>
                  <a:pt x="219884" y="228874"/>
                  <a:pt x="221635" y="224663"/>
                  <a:pt x="220972" y="220405"/>
                </a:cubicBezTo>
                <a:lnTo>
                  <a:pt x="209001" y="144744"/>
                </a:lnTo>
                <a:lnTo>
                  <a:pt x="263132" y="90566"/>
                </a:lnTo>
                <a:cubicBezTo>
                  <a:pt x="266161" y="87537"/>
                  <a:pt x="267202" y="83089"/>
                  <a:pt x="265877" y="79020"/>
                </a:cubicBezTo>
                <a:cubicBezTo>
                  <a:pt x="264552" y="74951"/>
                  <a:pt x="261098" y="71970"/>
                  <a:pt x="256839" y="71307"/>
                </a:cubicBezTo>
                <a:lnTo>
                  <a:pt x="181226" y="59289"/>
                </a:lnTo>
                <a:lnTo>
                  <a:pt x="146447" y="-8943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38647" y="8164340"/>
            <a:ext cx="8430832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核心要点：</a:t>
            </a:r>
            <a:r>
              <a:rPr lang="en-US" sz="152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线性回归是回归问题中最基础、最重要的模型之一，作为基线模型具有不可替代的价值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18ec74bbd92b6efb5fb314d8dbb131bafa94422a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" b="78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E5A165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895350"/>
            <a:ext cx="2133600" cy="584200"/>
          </a:xfrm>
          <a:custGeom>
            <a:avLst/>
            <a:gdLst/>
            <a:ahLst/>
            <a:cxnLst/>
            <a:rect l="l" t="t" r="r" b="b"/>
            <a:pathLst>
              <a:path w="2133600" h="584200">
                <a:moveTo>
                  <a:pt x="292100" y="0"/>
                </a:moveTo>
                <a:lnTo>
                  <a:pt x="1841500" y="0"/>
                </a:lnTo>
                <a:cubicBezTo>
                  <a:pt x="2002714" y="0"/>
                  <a:pt x="2133600" y="130886"/>
                  <a:pt x="2133600" y="292100"/>
                </a:cubicBezTo>
                <a:lnTo>
                  <a:pt x="2133600" y="292100"/>
                </a:lnTo>
                <a:cubicBezTo>
                  <a:pt x="2133600" y="453314"/>
                  <a:pt x="2002714" y="584200"/>
                  <a:pt x="1841500" y="584200"/>
                </a:cubicBezTo>
                <a:lnTo>
                  <a:pt x="292100" y="584200"/>
                </a:lnTo>
                <a:cubicBezTo>
                  <a:pt x="130886" y="584200"/>
                  <a:pt x="0" y="453314"/>
                  <a:pt x="0" y="292100"/>
                </a:cubicBezTo>
                <a:lnTo>
                  <a:pt x="0" y="292100"/>
                </a:lnTo>
                <a:cubicBezTo>
                  <a:pt x="0" y="130886"/>
                  <a:pt x="130886" y="0"/>
                  <a:pt x="2921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 w="25400">
            <a:solidFill>
              <a:srgbClr val="E5A16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035050"/>
            <a:ext cx="1710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18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898650"/>
            <a:ext cx="10769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 err="1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逻辑回归算法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434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200650"/>
            <a:ext cx="1035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E0E2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Logistic Regression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267450"/>
            <a:ext cx="1028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分类任务的基石算法，通过</a:t>
            </a: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Sigmoid</a:t>
            </a: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函数映射概率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虽名为"回归"，实则用于分类任务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监督学习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336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4384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分类任务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592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0640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概率输出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89" y="491489"/>
            <a:ext cx="15494192" cy="491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8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逻辑回归：算法概述与</a:t>
            </a:r>
            <a:r>
              <a:rPr lang="en-US" sz="348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Sigmoid</a:t>
            </a:r>
            <a:r>
              <a:rPr lang="en-US" sz="348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函数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91489" y="1130425"/>
            <a:ext cx="982978" cy="49149"/>
          </a:xfrm>
          <a:custGeom>
            <a:avLst/>
            <a:gdLst/>
            <a:ahLst/>
            <a:cxnLst/>
            <a:rect l="l" t="t" r="r" b="b"/>
            <a:pathLst>
              <a:path w="982978" h="49149">
                <a:moveTo>
                  <a:pt x="0" y="0"/>
                </a:moveTo>
                <a:lnTo>
                  <a:pt x="982978" y="0"/>
                </a:lnTo>
                <a:lnTo>
                  <a:pt x="982978" y="49149"/>
                </a:lnTo>
                <a:lnTo>
                  <a:pt x="0" y="49149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28351" y="1425318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47447" y="294893"/>
                </a:moveTo>
                <a:cubicBezTo>
                  <a:pt x="228825" y="294893"/>
                  <a:pt x="294893" y="228825"/>
                  <a:pt x="294893" y="147447"/>
                </a:cubicBezTo>
                <a:cubicBezTo>
                  <a:pt x="294893" y="66069"/>
                  <a:pt x="228825" y="0"/>
                  <a:pt x="147447" y="0"/>
                </a:cubicBezTo>
                <a:cubicBezTo>
                  <a:pt x="66069" y="0"/>
                  <a:pt x="0" y="66069"/>
                  <a:pt x="0" y="147447"/>
                </a:cubicBezTo>
                <a:cubicBezTo>
                  <a:pt x="0" y="228825"/>
                  <a:pt x="66069" y="294893"/>
                  <a:pt x="147447" y="294893"/>
                </a:cubicBezTo>
                <a:close/>
                <a:moveTo>
                  <a:pt x="129016" y="92154"/>
                </a:moveTo>
                <a:cubicBezTo>
                  <a:pt x="129016" y="81982"/>
                  <a:pt x="137274" y="73723"/>
                  <a:pt x="147447" y="73723"/>
                </a:cubicBezTo>
                <a:cubicBezTo>
                  <a:pt x="157619" y="73723"/>
                  <a:pt x="165878" y="81982"/>
                  <a:pt x="165878" y="92154"/>
                </a:cubicBezTo>
                <a:cubicBezTo>
                  <a:pt x="165878" y="102326"/>
                  <a:pt x="157619" y="110585"/>
                  <a:pt x="147447" y="110585"/>
                </a:cubicBezTo>
                <a:cubicBezTo>
                  <a:pt x="137274" y="110585"/>
                  <a:pt x="129016" y="102326"/>
                  <a:pt x="129016" y="92154"/>
                </a:cubicBezTo>
                <a:close/>
                <a:moveTo>
                  <a:pt x="124408" y="129016"/>
                </a:moveTo>
                <a:lnTo>
                  <a:pt x="152054" y="129016"/>
                </a:lnTo>
                <a:cubicBezTo>
                  <a:pt x="159715" y="129016"/>
                  <a:pt x="165878" y="135179"/>
                  <a:pt x="165878" y="142839"/>
                </a:cubicBezTo>
                <a:lnTo>
                  <a:pt x="165878" y="193524"/>
                </a:lnTo>
                <a:lnTo>
                  <a:pt x="170485" y="193524"/>
                </a:lnTo>
                <a:cubicBezTo>
                  <a:pt x="178146" y="193524"/>
                  <a:pt x="184308" y="199687"/>
                  <a:pt x="184308" y="207347"/>
                </a:cubicBezTo>
                <a:cubicBezTo>
                  <a:pt x="184308" y="215007"/>
                  <a:pt x="178146" y="221170"/>
                  <a:pt x="170485" y="221170"/>
                </a:cubicBezTo>
                <a:lnTo>
                  <a:pt x="124408" y="221170"/>
                </a:lnTo>
                <a:cubicBezTo>
                  <a:pt x="116748" y="221170"/>
                  <a:pt x="110585" y="215007"/>
                  <a:pt x="110585" y="207347"/>
                </a:cubicBezTo>
                <a:cubicBezTo>
                  <a:pt x="110585" y="199687"/>
                  <a:pt x="116748" y="193524"/>
                  <a:pt x="124408" y="193524"/>
                </a:cubicBezTo>
                <a:lnTo>
                  <a:pt x="138231" y="193524"/>
                </a:lnTo>
                <a:lnTo>
                  <a:pt x="138231" y="156662"/>
                </a:lnTo>
                <a:lnTo>
                  <a:pt x="124408" y="156662"/>
                </a:lnTo>
                <a:cubicBezTo>
                  <a:pt x="116748" y="156662"/>
                  <a:pt x="110585" y="150499"/>
                  <a:pt x="110585" y="142839"/>
                </a:cubicBezTo>
                <a:cubicBezTo>
                  <a:pt x="110585" y="135179"/>
                  <a:pt x="116748" y="129016"/>
                  <a:pt x="124408" y="129016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60106" y="1376169"/>
            <a:ext cx="7212602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1489" y="1916807"/>
            <a:ext cx="7544357" cy="724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4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逻辑回归利用一个</a:t>
            </a:r>
            <a:r>
              <a:rPr lang="en-US" sz="174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线性模型</a:t>
            </a:r>
            <a:r>
              <a:rPr lang="en-US" sz="174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对输入特征进行加权求和，并通过</a:t>
            </a:r>
            <a:r>
              <a:rPr lang="en-US" sz="1742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Sigmoid</a:t>
            </a:r>
            <a:r>
              <a:rPr lang="en-US" sz="174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函数</a:t>
            </a:r>
            <a:r>
              <a:rPr lang="en-US" sz="174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映射到概率空间，从而实现分类任务。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6063" y="2832206"/>
            <a:ext cx="7409197" cy="1130425"/>
          </a:xfrm>
          <a:custGeom>
            <a:avLst/>
            <a:gdLst/>
            <a:ahLst/>
            <a:cxnLst/>
            <a:rect l="l" t="t" r="r" b="b"/>
            <a:pathLst>
              <a:path w="7409197" h="1130425">
                <a:moveTo>
                  <a:pt x="49149" y="0"/>
                </a:moveTo>
                <a:lnTo>
                  <a:pt x="7310896" y="0"/>
                </a:lnTo>
                <a:cubicBezTo>
                  <a:pt x="7365186" y="0"/>
                  <a:pt x="7409197" y="44011"/>
                  <a:pt x="7409197" y="98302"/>
                </a:cubicBezTo>
                <a:lnTo>
                  <a:pt x="7409197" y="1032123"/>
                </a:lnTo>
                <a:cubicBezTo>
                  <a:pt x="7409197" y="1086414"/>
                  <a:pt x="7365186" y="1130425"/>
                  <a:pt x="7310896" y="1130425"/>
                </a:cubicBezTo>
                <a:lnTo>
                  <a:pt x="49149" y="1130425"/>
                </a:lnTo>
                <a:cubicBezTo>
                  <a:pt x="22005" y="1130425"/>
                  <a:pt x="0" y="1108420"/>
                  <a:pt x="0" y="1081276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6063" y="2832206"/>
            <a:ext cx="49149" cy="1130425"/>
          </a:xfrm>
          <a:custGeom>
            <a:avLst/>
            <a:gdLst/>
            <a:ahLst/>
            <a:cxnLst/>
            <a:rect l="l" t="t" r="r" b="b"/>
            <a:pathLst>
              <a:path w="49149" h="1130425">
                <a:moveTo>
                  <a:pt x="49149" y="0"/>
                </a:moveTo>
                <a:lnTo>
                  <a:pt x="49149" y="0"/>
                </a:lnTo>
                <a:lnTo>
                  <a:pt x="49149" y="1130425"/>
                </a:lnTo>
                <a:lnTo>
                  <a:pt x="49149" y="1130425"/>
                </a:lnTo>
                <a:cubicBezTo>
                  <a:pt x="22005" y="1130425"/>
                  <a:pt x="0" y="1108420"/>
                  <a:pt x="0" y="1081276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7234" y="3028801"/>
            <a:ext cx="7089729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线性组合：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7234" y="3421992"/>
            <a:ext cx="7114304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 = wᵀx + 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8351" y="4208375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18431" y="18431"/>
                </a:moveTo>
                <a:cubicBezTo>
                  <a:pt x="28625" y="18431"/>
                  <a:pt x="36862" y="26667"/>
                  <a:pt x="36862" y="36862"/>
                </a:cubicBezTo>
                <a:lnTo>
                  <a:pt x="36862" y="230385"/>
                </a:lnTo>
                <a:cubicBezTo>
                  <a:pt x="36862" y="235454"/>
                  <a:pt x="41009" y="239601"/>
                  <a:pt x="46077" y="239601"/>
                </a:cubicBezTo>
                <a:lnTo>
                  <a:pt x="276463" y="239601"/>
                </a:lnTo>
                <a:cubicBezTo>
                  <a:pt x="286657" y="239601"/>
                  <a:pt x="294893" y="247837"/>
                  <a:pt x="294893" y="258032"/>
                </a:cubicBezTo>
                <a:cubicBezTo>
                  <a:pt x="294893" y="268226"/>
                  <a:pt x="286657" y="276463"/>
                  <a:pt x="276463" y="276463"/>
                </a:cubicBezTo>
                <a:lnTo>
                  <a:pt x="46077" y="276463"/>
                </a:lnTo>
                <a:cubicBezTo>
                  <a:pt x="20620" y="276463"/>
                  <a:pt x="0" y="255843"/>
                  <a:pt x="0" y="230385"/>
                </a:cubicBezTo>
                <a:lnTo>
                  <a:pt x="0" y="36862"/>
                </a:lnTo>
                <a:cubicBezTo>
                  <a:pt x="0" y="26667"/>
                  <a:pt x="8236" y="18431"/>
                  <a:pt x="18431" y="18431"/>
                </a:cubicBezTo>
                <a:close/>
                <a:moveTo>
                  <a:pt x="138231" y="55293"/>
                </a:moveTo>
                <a:cubicBezTo>
                  <a:pt x="142090" y="55293"/>
                  <a:pt x="145776" y="56905"/>
                  <a:pt x="148426" y="59785"/>
                </a:cubicBezTo>
                <a:lnTo>
                  <a:pt x="189377" y="104422"/>
                </a:lnTo>
                <a:lnTo>
                  <a:pt x="215986" y="77755"/>
                </a:lnTo>
                <a:cubicBezTo>
                  <a:pt x="221400" y="72341"/>
                  <a:pt x="230155" y="72341"/>
                  <a:pt x="235512" y="77755"/>
                </a:cubicBezTo>
                <a:lnTo>
                  <a:pt x="272373" y="114617"/>
                </a:lnTo>
                <a:cubicBezTo>
                  <a:pt x="274965" y="117209"/>
                  <a:pt x="276405" y="120722"/>
                  <a:pt x="276405" y="124408"/>
                </a:cubicBezTo>
                <a:lnTo>
                  <a:pt x="276405" y="188916"/>
                </a:lnTo>
                <a:cubicBezTo>
                  <a:pt x="276405" y="196576"/>
                  <a:pt x="270242" y="202739"/>
                  <a:pt x="262582" y="202739"/>
                </a:cubicBezTo>
                <a:lnTo>
                  <a:pt x="87489" y="202739"/>
                </a:lnTo>
                <a:cubicBezTo>
                  <a:pt x="79829" y="202739"/>
                  <a:pt x="73666" y="196576"/>
                  <a:pt x="73666" y="188916"/>
                </a:cubicBezTo>
                <a:lnTo>
                  <a:pt x="73666" y="124408"/>
                </a:lnTo>
                <a:cubicBezTo>
                  <a:pt x="73666" y="120952"/>
                  <a:pt x="74990" y="117612"/>
                  <a:pt x="77294" y="115078"/>
                </a:cubicBezTo>
                <a:lnTo>
                  <a:pt x="127979" y="59785"/>
                </a:lnTo>
                <a:cubicBezTo>
                  <a:pt x="130571" y="56905"/>
                  <a:pt x="134315" y="55293"/>
                  <a:pt x="138174" y="5529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0106" y="4159226"/>
            <a:ext cx="7212602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Sigmoid函数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6063" y="4699864"/>
            <a:ext cx="7409197" cy="1965956"/>
          </a:xfrm>
          <a:custGeom>
            <a:avLst/>
            <a:gdLst/>
            <a:ahLst/>
            <a:cxnLst/>
            <a:rect l="l" t="t" r="r" b="b"/>
            <a:pathLst>
              <a:path w="7409197" h="1965956">
                <a:moveTo>
                  <a:pt x="49149" y="0"/>
                </a:moveTo>
                <a:lnTo>
                  <a:pt x="7310899" y="0"/>
                </a:lnTo>
                <a:cubicBezTo>
                  <a:pt x="7365188" y="0"/>
                  <a:pt x="7409197" y="44009"/>
                  <a:pt x="7409197" y="98298"/>
                </a:cubicBezTo>
                <a:lnTo>
                  <a:pt x="7409197" y="1867658"/>
                </a:lnTo>
                <a:cubicBezTo>
                  <a:pt x="7409197" y="1921947"/>
                  <a:pt x="7365188" y="1965956"/>
                  <a:pt x="7310899" y="1965956"/>
                </a:cubicBezTo>
                <a:lnTo>
                  <a:pt x="49149" y="1965956"/>
                </a:lnTo>
                <a:cubicBezTo>
                  <a:pt x="22005" y="1965956"/>
                  <a:pt x="0" y="1943951"/>
                  <a:pt x="0" y="191680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16063" y="4699864"/>
            <a:ext cx="49149" cy="1965956"/>
          </a:xfrm>
          <a:custGeom>
            <a:avLst/>
            <a:gdLst/>
            <a:ahLst/>
            <a:cxnLst/>
            <a:rect l="l" t="t" r="r" b="b"/>
            <a:pathLst>
              <a:path w="49149" h="1965956">
                <a:moveTo>
                  <a:pt x="49149" y="0"/>
                </a:moveTo>
                <a:lnTo>
                  <a:pt x="49149" y="0"/>
                </a:lnTo>
                <a:lnTo>
                  <a:pt x="49149" y="1965956"/>
                </a:lnTo>
                <a:lnTo>
                  <a:pt x="49149" y="1965956"/>
                </a:lnTo>
                <a:cubicBezTo>
                  <a:pt x="22005" y="1965956"/>
                  <a:pt x="0" y="1943951"/>
                  <a:pt x="0" y="1916807"/>
                </a:cubicBezTo>
                <a:lnTo>
                  <a:pt x="0" y="49149"/>
                </a:lnTo>
                <a:cubicBezTo>
                  <a:pt x="0" y="22023"/>
                  <a:pt x="22023" y="0"/>
                  <a:pt x="4914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75797" y="4896460"/>
            <a:ext cx="7114304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35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σ(z) = 1 / (1 + e⁻ᶻ)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7234" y="5387949"/>
            <a:ext cx="7089729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特性：</a:t>
            </a:r>
            <a:r>
              <a:rPr lang="en-US" sz="154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将任意实数映射到(0,1)区间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7234" y="5781140"/>
            <a:ext cx="7089729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当z很大时：</a:t>
            </a:r>
            <a:r>
              <a:rPr lang="en-US" sz="154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σ(z) → 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7234" y="6174331"/>
            <a:ext cx="7089729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当z很小时：</a:t>
            </a:r>
            <a:r>
              <a:rPr lang="en-US" sz="154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σ(z) → 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1489" y="6911565"/>
            <a:ext cx="368617" cy="294893"/>
          </a:xfrm>
          <a:custGeom>
            <a:avLst/>
            <a:gdLst/>
            <a:ahLst/>
            <a:cxnLst/>
            <a:rect l="l" t="t" r="r" b="b"/>
            <a:pathLst>
              <a:path w="368617" h="294893">
                <a:moveTo>
                  <a:pt x="221170" y="18431"/>
                </a:moveTo>
                <a:lnTo>
                  <a:pt x="294893" y="18431"/>
                </a:lnTo>
                <a:cubicBezTo>
                  <a:pt x="305088" y="18431"/>
                  <a:pt x="313324" y="26667"/>
                  <a:pt x="313324" y="36862"/>
                </a:cubicBezTo>
                <a:cubicBezTo>
                  <a:pt x="313324" y="47056"/>
                  <a:pt x="305088" y="55293"/>
                  <a:pt x="294893" y="55293"/>
                </a:cubicBezTo>
                <a:lnTo>
                  <a:pt x="229464" y="55293"/>
                </a:lnTo>
                <a:cubicBezTo>
                  <a:pt x="226469" y="70152"/>
                  <a:pt x="216274" y="82420"/>
                  <a:pt x="202739" y="88295"/>
                </a:cubicBezTo>
                <a:lnTo>
                  <a:pt x="202739" y="258032"/>
                </a:lnTo>
                <a:lnTo>
                  <a:pt x="294893" y="258032"/>
                </a:lnTo>
                <a:cubicBezTo>
                  <a:pt x="305088" y="258032"/>
                  <a:pt x="313324" y="266268"/>
                  <a:pt x="313324" y="276463"/>
                </a:cubicBezTo>
                <a:cubicBezTo>
                  <a:pt x="313324" y="286657"/>
                  <a:pt x="305088" y="294893"/>
                  <a:pt x="294893" y="294893"/>
                </a:cubicBezTo>
                <a:lnTo>
                  <a:pt x="73723" y="294893"/>
                </a:lnTo>
                <a:cubicBezTo>
                  <a:pt x="63529" y="294893"/>
                  <a:pt x="55293" y="286657"/>
                  <a:pt x="55293" y="276463"/>
                </a:cubicBezTo>
                <a:cubicBezTo>
                  <a:pt x="55293" y="266268"/>
                  <a:pt x="63529" y="258032"/>
                  <a:pt x="73723" y="258032"/>
                </a:cubicBezTo>
                <a:lnTo>
                  <a:pt x="165878" y="258032"/>
                </a:lnTo>
                <a:lnTo>
                  <a:pt x="165878" y="88295"/>
                </a:lnTo>
                <a:cubicBezTo>
                  <a:pt x="152342" y="82363"/>
                  <a:pt x="142148" y="70095"/>
                  <a:pt x="139153" y="55293"/>
                </a:cubicBezTo>
                <a:lnTo>
                  <a:pt x="73723" y="55293"/>
                </a:lnTo>
                <a:cubicBezTo>
                  <a:pt x="63529" y="55293"/>
                  <a:pt x="55293" y="47056"/>
                  <a:pt x="55293" y="36862"/>
                </a:cubicBezTo>
                <a:cubicBezTo>
                  <a:pt x="55293" y="26667"/>
                  <a:pt x="63529" y="18431"/>
                  <a:pt x="73723" y="18431"/>
                </a:cubicBezTo>
                <a:lnTo>
                  <a:pt x="147447" y="18431"/>
                </a:lnTo>
                <a:cubicBezTo>
                  <a:pt x="155856" y="7257"/>
                  <a:pt x="169218" y="0"/>
                  <a:pt x="184308" y="0"/>
                </a:cubicBezTo>
                <a:cubicBezTo>
                  <a:pt x="199399" y="0"/>
                  <a:pt x="212761" y="7257"/>
                  <a:pt x="221170" y="18431"/>
                </a:cubicBezTo>
                <a:close/>
                <a:moveTo>
                  <a:pt x="253194" y="184308"/>
                </a:moveTo>
                <a:lnTo>
                  <a:pt x="336593" y="184308"/>
                </a:lnTo>
                <a:lnTo>
                  <a:pt x="294893" y="112774"/>
                </a:lnTo>
                <a:lnTo>
                  <a:pt x="253194" y="184308"/>
                </a:lnTo>
                <a:close/>
                <a:moveTo>
                  <a:pt x="294893" y="239601"/>
                </a:moveTo>
                <a:cubicBezTo>
                  <a:pt x="258665" y="239601"/>
                  <a:pt x="228542" y="220018"/>
                  <a:pt x="222322" y="194157"/>
                </a:cubicBezTo>
                <a:cubicBezTo>
                  <a:pt x="220824" y="187822"/>
                  <a:pt x="222898" y="181313"/>
                  <a:pt x="226181" y="175669"/>
                </a:cubicBezTo>
                <a:lnTo>
                  <a:pt x="281013" y="81672"/>
                </a:lnTo>
                <a:cubicBezTo>
                  <a:pt x="283893" y="76718"/>
                  <a:pt x="289191" y="73723"/>
                  <a:pt x="294893" y="73723"/>
                </a:cubicBezTo>
                <a:cubicBezTo>
                  <a:pt x="300595" y="73723"/>
                  <a:pt x="305894" y="76776"/>
                  <a:pt x="308774" y="81672"/>
                </a:cubicBezTo>
                <a:lnTo>
                  <a:pt x="363606" y="175669"/>
                </a:lnTo>
                <a:cubicBezTo>
                  <a:pt x="366889" y="181313"/>
                  <a:pt x="368962" y="187822"/>
                  <a:pt x="367465" y="194157"/>
                </a:cubicBezTo>
                <a:cubicBezTo>
                  <a:pt x="361244" y="219961"/>
                  <a:pt x="331122" y="239601"/>
                  <a:pt x="294893" y="239601"/>
                </a:cubicBezTo>
                <a:close/>
                <a:moveTo>
                  <a:pt x="73032" y="112774"/>
                </a:moveTo>
                <a:lnTo>
                  <a:pt x="31332" y="184308"/>
                </a:lnTo>
                <a:lnTo>
                  <a:pt x="114790" y="184308"/>
                </a:lnTo>
                <a:lnTo>
                  <a:pt x="73032" y="112774"/>
                </a:lnTo>
                <a:close/>
                <a:moveTo>
                  <a:pt x="518" y="194157"/>
                </a:moveTo>
                <a:cubicBezTo>
                  <a:pt x="-979" y="187822"/>
                  <a:pt x="1094" y="181313"/>
                  <a:pt x="4377" y="175669"/>
                </a:cubicBezTo>
                <a:lnTo>
                  <a:pt x="59209" y="81672"/>
                </a:lnTo>
                <a:cubicBezTo>
                  <a:pt x="62089" y="76718"/>
                  <a:pt x="67388" y="73723"/>
                  <a:pt x="73090" y="73723"/>
                </a:cubicBezTo>
                <a:cubicBezTo>
                  <a:pt x="78792" y="73723"/>
                  <a:pt x="84091" y="76776"/>
                  <a:pt x="86971" y="81672"/>
                </a:cubicBezTo>
                <a:lnTo>
                  <a:pt x="141802" y="175669"/>
                </a:lnTo>
                <a:cubicBezTo>
                  <a:pt x="145085" y="181313"/>
                  <a:pt x="147159" y="187822"/>
                  <a:pt x="145661" y="194157"/>
                </a:cubicBezTo>
                <a:cubicBezTo>
                  <a:pt x="139441" y="219961"/>
                  <a:pt x="109318" y="239601"/>
                  <a:pt x="73090" y="239601"/>
                </a:cubicBezTo>
                <a:cubicBezTo>
                  <a:pt x="36862" y="239601"/>
                  <a:pt x="6739" y="220018"/>
                  <a:pt x="518" y="194157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60106" y="6862416"/>
            <a:ext cx="7212602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决策边界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1489" y="7403054"/>
            <a:ext cx="7544357" cy="724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4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设定阈值（通常为0.5），当σ(z) ≥ 0.5时预测为正类，否则为负类。决策边界对应于z = 0的超平面。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59345" y="1425318"/>
            <a:ext cx="294893" cy="294893"/>
          </a:xfrm>
          <a:custGeom>
            <a:avLst/>
            <a:gdLst/>
            <a:ahLst/>
            <a:cxnLst/>
            <a:rect l="l" t="t" r="r" b="b"/>
            <a:pathLst>
              <a:path w="294893" h="294893">
                <a:moveTo>
                  <a:pt x="36862" y="36862"/>
                </a:moveTo>
                <a:cubicBezTo>
                  <a:pt x="36862" y="26667"/>
                  <a:pt x="28625" y="18431"/>
                  <a:pt x="18431" y="18431"/>
                </a:cubicBezTo>
                <a:cubicBezTo>
                  <a:pt x="8236" y="18431"/>
                  <a:pt x="0" y="26667"/>
                  <a:pt x="0" y="36862"/>
                </a:cubicBezTo>
                <a:lnTo>
                  <a:pt x="0" y="230385"/>
                </a:lnTo>
                <a:cubicBezTo>
                  <a:pt x="0" y="255843"/>
                  <a:pt x="20620" y="276463"/>
                  <a:pt x="46077" y="276463"/>
                </a:cubicBezTo>
                <a:lnTo>
                  <a:pt x="276463" y="276463"/>
                </a:lnTo>
                <a:cubicBezTo>
                  <a:pt x="286657" y="276463"/>
                  <a:pt x="294893" y="268226"/>
                  <a:pt x="294893" y="258032"/>
                </a:cubicBezTo>
                <a:cubicBezTo>
                  <a:pt x="294893" y="247837"/>
                  <a:pt x="286657" y="239601"/>
                  <a:pt x="276463" y="239601"/>
                </a:cubicBezTo>
                <a:lnTo>
                  <a:pt x="46077" y="239601"/>
                </a:lnTo>
                <a:cubicBezTo>
                  <a:pt x="41009" y="239601"/>
                  <a:pt x="36862" y="235454"/>
                  <a:pt x="36862" y="230385"/>
                </a:cubicBezTo>
                <a:lnTo>
                  <a:pt x="36862" y="36862"/>
                </a:lnTo>
                <a:close/>
                <a:moveTo>
                  <a:pt x="271049" y="86740"/>
                </a:moveTo>
                <a:cubicBezTo>
                  <a:pt x="278248" y="79541"/>
                  <a:pt x="278248" y="67849"/>
                  <a:pt x="271049" y="60649"/>
                </a:cubicBezTo>
                <a:cubicBezTo>
                  <a:pt x="263849" y="53449"/>
                  <a:pt x="252157" y="53449"/>
                  <a:pt x="244957" y="60649"/>
                </a:cubicBezTo>
                <a:lnTo>
                  <a:pt x="184308" y="121356"/>
                </a:lnTo>
                <a:lnTo>
                  <a:pt x="151248" y="88353"/>
                </a:lnTo>
                <a:cubicBezTo>
                  <a:pt x="144049" y="81153"/>
                  <a:pt x="132356" y="81153"/>
                  <a:pt x="125157" y="88353"/>
                </a:cubicBezTo>
                <a:lnTo>
                  <a:pt x="69864" y="143645"/>
                </a:lnTo>
                <a:cubicBezTo>
                  <a:pt x="62665" y="150845"/>
                  <a:pt x="62665" y="162537"/>
                  <a:pt x="69864" y="169737"/>
                </a:cubicBezTo>
                <a:cubicBezTo>
                  <a:pt x="77064" y="176936"/>
                  <a:pt x="88756" y="176936"/>
                  <a:pt x="95956" y="169737"/>
                </a:cubicBezTo>
                <a:lnTo>
                  <a:pt x="138231" y="127461"/>
                </a:lnTo>
                <a:lnTo>
                  <a:pt x="171292" y="160521"/>
                </a:lnTo>
                <a:cubicBezTo>
                  <a:pt x="178491" y="167721"/>
                  <a:pt x="190183" y="167721"/>
                  <a:pt x="197383" y="160521"/>
                </a:cubicBezTo>
                <a:lnTo>
                  <a:pt x="271106" y="86798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691101" y="1376169"/>
            <a:ext cx="7212602" cy="393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2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Sigmoid函数曲线</a:t>
            </a:r>
            <a:endParaRPr lang="en-US" sz="1600" dirty="0"/>
          </a:p>
        </p:txBody>
      </p:sp>
      <p:pic>
        <p:nvPicPr>
          <p:cNvPr id="24" name="Image 0" descr="https://kimi-img.moonshot.cn/pub/slides/26-01-02-21:30:12-d5bsgp72ekfjngpf4l2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22484" y="1965956"/>
            <a:ext cx="7175740" cy="4914890"/>
          </a:xfrm>
          <a:prstGeom prst="roundRect">
            <a:avLst>
              <a:gd name="adj" fmla="val 0"/>
            </a:avLst>
          </a:prstGeom>
        </p:spPr>
      </p:pic>
      <p:sp>
        <p:nvSpPr>
          <p:cNvPr id="25" name="Shape 22"/>
          <p:cNvSpPr/>
          <p:nvPr/>
        </p:nvSpPr>
        <p:spPr>
          <a:xfrm>
            <a:off x="8353202" y="7126591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5">
                <a:moveTo>
                  <a:pt x="23039" y="69116"/>
                </a:moveTo>
                <a:cubicBezTo>
                  <a:pt x="35754" y="69116"/>
                  <a:pt x="46077" y="58792"/>
                  <a:pt x="46077" y="46077"/>
                </a:cubicBezTo>
                <a:cubicBezTo>
                  <a:pt x="46077" y="33362"/>
                  <a:pt x="35754" y="23039"/>
                  <a:pt x="23039" y="23039"/>
                </a:cubicBezTo>
                <a:cubicBezTo>
                  <a:pt x="10323" y="23039"/>
                  <a:pt x="0" y="33362"/>
                  <a:pt x="0" y="46077"/>
                </a:cubicBezTo>
                <a:cubicBezTo>
                  <a:pt x="0" y="58792"/>
                  <a:pt x="10323" y="69116"/>
                  <a:pt x="23039" y="69116"/>
                </a:cubicBezTo>
                <a:close/>
                <a:moveTo>
                  <a:pt x="92154" y="30718"/>
                </a:moveTo>
                <a:cubicBezTo>
                  <a:pt x="83659" y="30718"/>
                  <a:pt x="76795" y="37582"/>
                  <a:pt x="76795" y="46077"/>
                </a:cubicBezTo>
                <a:cubicBezTo>
                  <a:pt x="76795" y="54573"/>
                  <a:pt x="83659" y="61436"/>
                  <a:pt x="92154" y="61436"/>
                </a:cubicBezTo>
                <a:lnTo>
                  <a:pt x="230385" y="61436"/>
                </a:lnTo>
                <a:cubicBezTo>
                  <a:pt x="238881" y="61436"/>
                  <a:pt x="245745" y="54573"/>
                  <a:pt x="245745" y="46077"/>
                </a:cubicBezTo>
                <a:cubicBezTo>
                  <a:pt x="245745" y="37582"/>
                  <a:pt x="238881" y="30718"/>
                  <a:pt x="230385" y="30718"/>
                </a:cubicBezTo>
                <a:lnTo>
                  <a:pt x="92154" y="30718"/>
                </a:lnTo>
                <a:close/>
                <a:moveTo>
                  <a:pt x="92154" y="107513"/>
                </a:moveTo>
                <a:cubicBezTo>
                  <a:pt x="83659" y="107513"/>
                  <a:pt x="76795" y="114377"/>
                  <a:pt x="76795" y="122872"/>
                </a:cubicBezTo>
                <a:cubicBezTo>
                  <a:pt x="76795" y="131368"/>
                  <a:pt x="83659" y="138231"/>
                  <a:pt x="92154" y="138231"/>
                </a:cubicBezTo>
                <a:lnTo>
                  <a:pt x="230385" y="138231"/>
                </a:lnTo>
                <a:cubicBezTo>
                  <a:pt x="238881" y="138231"/>
                  <a:pt x="245745" y="131368"/>
                  <a:pt x="245745" y="122872"/>
                </a:cubicBezTo>
                <a:cubicBezTo>
                  <a:pt x="245745" y="114377"/>
                  <a:pt x="238881" y="107513"/>
                  <a:pt x="230385" y="107513"/>
                </a:cubicBezTo>
                <a:lnTo>
                  <a:pt x="92154" y="107513"/>
                </a:lnTo>
                <a:close/>
                <a:moveTo>
                  <a:pt x="92154" y="184308"/>
                </a:moveTo>
                <a:cubicBezTo>
                  <a:pt x="83659" y="184308"/>
                  <a:pt x="76795" y="191172"/>
                  <a:pt x="76795" y="199667"/>
                </a:cubicBezTo>
                <a:cubicBezTo>
                  <a:pt x="76795" y="208163"/>
                  <a:pt x="83659" y="215026"/>
                  <a:pt x="92154" y="215026"/>
                </a:cubicBezTo>
                <a:lnTo>
                  <a:pt x="230385" y="215026"/>
                </a:lnTo>
                <a:cubicBezTo>
                  <a:pt x="238881" y="215026"/>
                  <a:pt x="245745" y="208163"/>
                  <a:pt x="245745" y="199667"/>
                </a:cubicBezTo>
                <a:cubicBezTo>
                  <a:pt x="245745" y="191172"/>
                  <a:pt x="238881" y="184308"/>
                  <a:pt x="230385" y="184308"/>
                </a:cubicBezTo>
                <a:lnTo>
                  <a:pt x="92154" y="184308"/>
                </a:lnTo>
                <a:close/>
                <a:moveTo>
                  <a:pt x="23039" y="222706"/>
                </a:moveTo>
                <a:cubicBezTo>
                  <a:pt x="35754" y="222706"/>
                  <a:pt x="46077" y="212383"/>
                  <a:pt x="46077" y="199667"/>
                </a:cubicBezTo>
                <a:cubicBezTo>
                  <a:pt x="46077" y="186952"/>
                  <a:pt x="35754" y="176629"/>
                  <a:pt x="23039" y="176629"/>
                </a:cubicBezTo>
                <a:cubicBezTo>
                  <a:pt x="10323" y="176629"/>
                  <a:pt x="0" y="186952"/>
                  <a:pt x="0" y="199667"/>
                </a:cubicBezTo>
                <a:cubicBezTo>
                  <a:pt x="0" y="212383"/>
                  <a:pt x="10323" y="222706"/>
                  <a:pt x="23039" y="222706"/>
                </a:cubicBezTo>
                <a:close/>
                <a:moveTo>
                  <a:pt x="46077" y="122872"/>
                </a:moveTo>
                <a:cubicBezTo>
                  <a:pt x="46077" y="110157"/>
                  <a:pt x="35754" y="99834"/>
                  <a:pt x="23039" y="99834"/>
                </a:cubicBezTo>
                <a:cubicBezTo>
                  <a:pt x="10323" y="99834"/>
                  <a:pt x="0" y="110157"/>
                  <a:pt x="0" y="122872"/>
                </a:cubicBezTo>
                <a:cubicBezTo>
                  <a:pt x="0" y="135588"/>
                  <a:pt x="10323" y="145911"/>
                  <a:pt x="23039" y="145911"/>
                </a:cubicBezTo>
                <a:cubicBezTo>
                  <a:pt x="35754" y="145911"/>
                  <a:pt x="46077" y="135588"/>
                  <a:pt x="46077" y="12287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8629664" y="7077442"/>
            <a:ext cx="7249463" cy="344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3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模型假设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359345" y="7618080"/>
            <a:ext cx="172021" cy="196596"/>
          </a:xfrm>
          <a:custGeom>
            <a:avLst/>
            <a:gdLst/>
            <a:ahLst/>
            <a:cxnLst/>
            <a:rect l="l" t="t" r="r" b="b"/>
            <a:pathLst>
              <a:path w="172021" h="196596">
                <a:moveTo>
                  <a:pt x="166953" y="26917"/>
                </a:moveTo>
                <a:cubicBezTo>
                  <a:pt x="172444" y="30910"/>
                  <a:pt x="173672" y="38590"/>
                  <a:pt x="169679" y="44080"/>
                </a:cubicBezTo>
                <a:lnTo>
                  <a:pt x="71381" y="179240"/>
                </a:lnTo>
                <a:cubicBezTo>
                  <a:pt x="69269" y="182158"/>
                  <a:pt x="66005" y="183963"/>
                  <a:pt x="62396" y="184270"/>
                </a:cubicBezTo>
                <a:cubicBezTo>
                  <a:pt x="58787" y="184577"/>
                  <a:pt x="55293" y="183233"/>
                  <a:pt x="52758" y="180699"/>
                </a:cubicBezTo>
                <a:lnTo>
                  <a:pt x="3609" y="131550"/>
                </a:lnTo>
                <a:cubicBezTo>
                  <a:pt x="-1190" y="126750"/>
                  <a:pt x="-1190" y="118956"/>
                  <a:pt x="3609" y="114156"/>
                </a:cubicBezTo>
                <a:cubicBezTo>
                  <a:pt x="8409" y="109356"/>
                  <a:pt x="16204" y="109356"/>
                  <a:pt x="21003" y="114156"/>
                </a:cubicBezTo>
                <a:lnTo>
                  <a:pt x="59977" y="153130"/>
                </a:lnTo>
                <a:lnTo>
                  <a:pt x="149827" y="29605"/>
                </a:lnTo>
                <a:cubicBezTo>
                  <a:pt x="153821" y="24114"/>
                  <a:pt x="161500" y="22885"/>
                  <a:pt x="166991" y="2687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8715675" y="7568931"/>
            <a:ext cx="5209784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输入特征分布无严格要求，但尺度差异较大会影响训练效果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359345" y="8011271"/>
            <a:ext cx="172021" cy="196596"/>
          </a:xfrm>
          <a:custGeom>
            <a:avLst/>
            <a:gdLst/>
            <a:ahLst/>
            <a:cxnLst/>
            <a:rect l="l" t="t" r="r" b="b"/>
            <a:pathLst>
              <a:path w="172021" h="196596">
                <a:moveTo>
                  <a:pt x="166953" y="26917"/>
                </a:moveTo>
                <a:cubicBezTo>
                  <a:pt x="172444" y="30910"/>
                  <a:pt x="173672" y="38590"/>
                  <a:pt x="169679" y="44080"/>
                </a:cubicBezTo>
                <a:lnTo>
                  <a:pt x="71381" y="179240"/>
                </a:lnTo>
                <a:cubicBezTo>
                  <a:pt x="69269" y="182158"/>
                  <a:pt x="66005" y="183963"/>
                  <a:pt x="62396" y="184270"/>
                </a:cubicBezTo>
                <a:cubicBezTo>
                  <a:pt x="58787" y="184577"/>
                  <a:pt x="55293" y="183233"/>
                  <a:pt x="52758" y="180699"/>
                </a:cubicBezTo>
                <a:lnTo>
                  <a:pt x="3609" y="131550"/>
                </a:lnTo>
                <a:cubicBezTo>
                  <a:pt x="-1190" y="126750"/>
                  <a:pt x="-1190" y="118956"/>
                  <a:pt x="3609" y="114156"/>
                </a:cubicBezTo>
                <a:cubicBezTo>
                  <a:pt x="8409" y="109356"/>
                  <a:pt x="16204" y="109356"/>
                  <a:pt x="21003" y="114156"/>
                </a:cubicBezTo>
                <a:lnTo>
                  <a:pt x="59977" y="153130"/>
                </a:lnTo>
                <a:lnTo>
                  <a:pt x="149827" y="29605"/>
                </a:lnTo>
                <a:cubicBezTo>
                  <a:pt x="153821" y="24114"/>
                  <a:pt x="161500" y="22885"/>
                  <a:pt x="166991" y="2687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8715675" y="7962122"/>
            <a:ext cx="2850636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输出为类别概率，便于灵活决策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359345" y="8404463"/>
            <a:ext cx="172021" cy="196596"/>
          </a:xfrm>
          <a:custGeom>
            <a:avLst/>
            <a:gdLst/>
            <a:ahLst/>
            <a:cxnLst/>
            <a:rect l="l" t="t" r="r" b="b"/>
            <a:pathLst>
              <a:path w="172021" h="196596">
                <a:moveTo>
                  <a:pt x="166953" y="26917"/>
                </a:moveTo>
                <a:cubicBezTo>
                  <a:pt x="172444" y="30910"/>
                  <a:pt x="173672" y="38590"/>
                  <a:pt x="169679" y="44080"/>
                </a:cubicBezTo>
                <a:lnTo>
                  <a:pt x="71381" y="179240"/>
                </a:lnTo>
                <a:cubicBezTo>
                  <a:pt x="69269" y="182158"/>
                  <a:pt x="66005" y="183963"/>
                  <a:pt x="62396" y="184270"/>
                </a:cubicBezTo>
                <a:cubicBezTo>
                  <a:pt x="58787" y="184577"/>
                  <a:pt x="55293" y="183233"/>
                  <a:pt x="52758" y="180699"/>
                </a:cubicBezTo>
                <a:lnTo>
                  <a:pt x="3609" y="131550"/>
                </a:lnTo>
                <a:cubicBezTo>
                  <a:pt x="-1190" y="126750"/>
                  <a:pt x="-1190" y="118956"/>
                  <a:pt x="3609" y="114156"/>
                </a:cubicBezTo>
                <a:cubicBezTo>
                  <a:pt x="8409" y="109356"/>
                  <a:pt x="16204" y="109356"/>
                  <a:pt x="21003" y="114156"/>
                </a:cubicBezTo>
                <a:lnTo>
                  <a:pt x="59977" y="153130"/>
                </a:lnTo>
                <a:lnTo>
                  <a:pt x="149827" y="29605"/>
                </a:lnTo>
                <a:cubicBezTo>
                  <a:pt x="153821" y="24114"/>
                  <a:pt x="161500" y="22885"/>
                  <a:pt x="166991" y="2687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8715675" y="8355314"/>
            <a:ext cx="2064254" cy="294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默认决策边界是线性的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逻辑回归：损失函数与参数优化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684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61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890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交叉熵损失函数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1981200"/>
            <a:ext cx="751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最大似然估计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，衡量真实分布与预测分布之间的距离：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" y="2463800"/>
            <a:ext cx="7391400" cy="774700"/>
          </a:xfrm>
          <a:custGeom>
            <a:avLst/>
            <a:gdLst/>
            <a:ahLst/>
            <a:cxnLst/>
            <a:rect l="l" t="t" r="r" b="b"/>
            <a:pathLst>
              <a:path w="7391400" h="774700">
                <a:moveTo>
                  <a:pt x="50800" y="0"/>
                </a:moveTo>
                <a:lnTo>
                  <a:pt x="7289798" y="0"/>
                </a:lnTo>
                <a:cubicBezTo>
                  <a:pt x="7345911" y="0"/>
                  <a:pt x="7391400" y="45489"/>
                  <a:pt x="7391400" y="101602"/>
                </a:cubicBezTo>
                <a:lnTo>
                  <a:pt x="7391400" y="673098"/>
                </a:lnTo>
                <a:cubicBezTo>
                  <a:pt x="7391400" y="729211"/>
                  <a:pt x="7345911" y="774700"/>
                  <a:pt x="7289798" y="774700"/>
                </a:cubicBezTo>
                <a:lnTo>
                  <a:pt x="50800" y="774700"/>
                </a:lnTo>
                <a:cubicBezTo>
                  <a:pt x="22763" y="774700"/>
                  <a:pt x="0" y="751937"/>
                  <a:pt x="0" y="7239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33400" y="2463800"/>
            <a:ext cx="50800" cy="774700"/>
          </a:xfrm>
          <a:custGeom>
            <a:avLst/>
            <a:gdLst/>
            <a:ahLst/>
            <a:cxnLst/>
            <a:rect l="l" t="t" r="r" b="b"/>
            <a:pathLst>
              <a:path w="50800" h="774700">
                <a:moveTo>
                  <a:pt x="50800" y="0"/>
                </a:moveTo>
                <a:lnTo>
                  <a:pt x="50800" y="0"/>
                </a:lnTo>
                <a:lnTo>
                  <a:pt x="50800" y="774700"/>
                </a:lnTo>
                <a:lnTo>
                  <a:pt x="50800" y="774700"/>
                </a:lnTo>
                <a:cubicBezTo>
                  <a:pt x="22763" y="774700"/>
                  <a:pt x="0" y="751937"/>
                  <a:pt x="0" y="7239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04850" y="2667000"/>
            <a:ext cx="70739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35" dirty="0">
                <a:solidFill>
                  <a:srgbClr val="E0E2E6"/>
                </a:solidFill>
                <a:latin typeface="Calibri" panose="020F0502020204030204" pitchFamily="34" charset="0"/>
                <a:ea typeface="Noto Sans SC" pitchFamily="34" charset="-122"/>
                <a:cs typeface="Calibri" panose="020F0502020204030204" pitchFamily="34" charset="0"/>
              </a:rPr>
              <a:t>J(w,b) = -1/n Σ[yᵢlogσ(zᵢ) + (1-yᵢ)log(1-σ(zᵢ))]</a:t>
            </a:r>
          </a:p>
        </p:txBody>
      </p:sp>
      <p:sp>
        <p:nvSpPr>
          <p:cNvPr id="10" name="Shape 8"/>
          <p:cNvSpPr/>
          <p:nvPr/>
        </p:nvSpPr>
        <p:spPr>
          <a:xfrm>
            <a:off x="514350" y="3400425"/>
            <a:ext cx="7404100" cy="622300"/>
          </a:xfrm>
          <a:custGeom>
            <a:avLst/>
            <a:gdLst/>
            <a:ahLst/>
            <a:cxnLst/>
            <a:rect l="l" t="t" r="r" b="b"/>
            <a:pathLst>
              <a:path w="7404100" h="622300">
                <a:moveTo>
                  <a:pt x="101603" y="0"/>
                </a:moveTo>
                <a:lnTo>
                  <a:pt x="7302497" y="0"/>
                </a:lnTo>
                <a:cubicBezTo>
                  <a:pt x="7358611" y="0"/>
                  <a:pt x="7404100" y="45489"/>
                  <a:pt x="7404100" y="101603"/>
                </a:cubicBezTo>
                <a:lnTo>
                  <a:pt x="7404100" y="520697"/>
                </a:lnTo>
                <a:cubicBezTo>
                  <a:pt x="7404100" y="576811"/>
                  <a:pt x="7358611" y="622300"/>
                  <a:pt x="7302497" y="622300"/>
                </a:cubicBezTo>
                <a:lnTo>
                  <a:pt x="101603" y="622300"/>
                </a:lnTo>
                <a:cubicBezTo>
                  <a:pt x="45489" y="622300"/>
                  <a:pt x="0" y="576811"/>
                  <a:pt x="0" y="520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 w="12700">
            <a:solidFill>
              <a:srgbClr val="E5A1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23900" y="3616325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28700" y="3559175"/>
            <a:ext cx="683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直观理解：当yᵢ=1时，希望σ(zᵢ)接近1；当yᵢ=0时，希望σ(zᵢ)接近0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6100" y="42830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89000" y="4232275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梯度下降优化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8000" y="4791075"/>
            <a:ext cx="751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沿着梯度的反方向更新参数，以最快的速度找到损失函数的最小值：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5273675"/>
            <a:ext cx="7391400" cy="1168400"/>
          </a:xfrm>
          <a:custGeom>
            <a:avLst/>
            <a:gdLst/>
            <a:ahLst/>
            <a:cxnLst/>
            <a:rect l="l" t="t" r="r" b="b"/>
            <a:pathLst>
              <a:path w="7391400" h="1168400">
                <a:moveTo>
                  <a:pt x="50800" y="0"/>
                </a:moveTo>
                <a:lnTo>
                  <a:pt x="7289796" y="0"/>
                </a:lnTo>
                <a:cubicBezTo>
                  <a:pt x="7345910" y="0"/>
                  <a:pt x="7391400" y="45490"/>
                  <a:pt x="7391400" y="101604"/>
                </a:cubicBezTo>
                <a:lnTo>
                  <a:pt x="7391400" y="1066796"/>
                </a:lnTo>
                <a:cubicBezTo>
                  <a:pt x="7391400" y="1122910"/>
                  <a:pt x="7345910" y="1168400"/>
                  <a:pt x="728979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3400" y="5273675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04850" y="5476875"/>
            <a:ext cx="707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w := w - α ∂J/∂w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1200" y="5934075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其中α为学习率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4350" y="6600825"/>
            <a:ext cx="7404100" cy="1079500"/>
          </a:xfrm>
          <a:custGeom>
            <a:avLst/>
            <a:gdLst/>
            <a:ahLst/>
            <a:cxnLst/>
            <a:rect l="l" t="t" r="r" b="b"/>
            <a:pathLst>
              <a:path w="7404100" h="1079500">
                <a:moveTo>
                  <a:pt x="101603" y="0"/>
                </a:moveTo>
                <a:lnTo>
                  <a:pt x="7302497" y="0"/>
                </a:lnTo>
                <a:cubicBezTo>
                  <a:pt x="7358611" y="0"/>
                  <a:pt x="7404100" y="45489"/>
                  <a:pt x="7404100" y="101603"/>
                </a:cubicBezTo>
                <a:lnTo>
                  <a:pt x="7404100" y="977897"/>
                </a:lnTo>
                <a:cubicBezTo>
                  <a:pt x="7404100" y="1034011"/>
                  <a:pt x="7358611" y="1079500"/>
                  <a:pt x="7302497" y="1079500"/>
                </a:cubicBezTo>
                <a:lnTo>
                  <a:pt x="101603" y="1079500"/>
                </a:lnTo>
                <a:cubicBezTo>
                  <a:pt x="45489" y="1079500"/>
                  <a:pt x="0" y="1034011"/>
                  <a:pt x="0" y="977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73100" y="6759575"/>
            <a:ext cx="718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梯度计算：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3100" y="7165975"/>
            <a:ext cx="720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∂J/∂wⱼ = 1/n Σ(σ(zᵢ) - yᵢ)xᵢⱼ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3693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7122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多分类扩展：</a:t>
            </a:r>
            <a:r>
              <a:rPr lang="en-US" sz="2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Softmax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31200" y="1981200"/>
            <a:ext cx="751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</a:t>
            </a: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个类别，</a:t>
            </a: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Softmax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函数将预测分数转化为概率分布：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56600" y="2463800"/>
            <a:ext cx="7391400" cy="774700"/>
          </a:xfrm>
          <a:custGeom>
            <a:avLst/>
            <a:gdLst/>
            <a:ahLst/>
            <a:cxnLst/>
            <a:rect l="l" t="t" r="r" b="b"/>
            <a:pathLst>
              <a:path w="7391400" h="774700">
                <a:moveTo>
                  <a:pt x="50800" y="0"/>
                </a:moveTo>
                <a:lnTo>
                  <a:pt x="7289798" y="0"/>
                </a:lnTo>
                <a:cubicBezTo>
                  <a:pt x="7345911" y="0"/>
                  <a:pt x="7391400" y="45489"/>
                  <a:pt x="7391400" y="101602"/>
                </a:cubicBezTo>
                <a:lnTo>
                  <a:pt x="7391400" y="673098"/>
                </a:lnTo>
                <a:cubicBezTo>
                  <a:pt x="7391400" y="729211"/>
                  <a:pt x="7345911" y="774700"/>
                  <a:pt x="7289798" y="774700"/>
                </a:cubicBezTo>
                <a:lnTo>
                  <a:pt x="50800" y="774700"/>
                </a:lnTo>
                <a:cubicBezTo>
                  <a:pt x="22763" y="774700"/>
                  <a:pt x="0" y="751937"/>
                  <a:pt x="0" y="7239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356600" y="2463800"/>
            <a:ext cx="50800" cy="774700"/>
          </a:xfrm>
          <a:custGeom>
            <a:avLst/>
            <a:gdLst/>
            <a:ahLst/>
            <a:cxnLst/>
            <a:rect l="l" t="t" r="r" b="b"/>
            <a:pathLst>
              <a:path w="50800" h="774700">
                <a:moveTo>
                  <a:pt x="50800" y="0"/>
                </a:moveTo>
                <a:lnTo>
                  <a:pt x="50800" y="0"/>
                </a:lnTo>
                <a:lnTo>
                  <a:pt x="50800" y="774700"/>
                </a:lnTo>
                <a:lnTo>
                  <a:pt x="50800" y="774700"/>
                </a:lnTo>
                <a:cubicBezTo>
                  <a:pt x="22763" y="774700"/>
                  <a:pt x="0" y="751937"/>
                  <a:pt x="0" y="7239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28050" y="2667000"/>
            <a:ext cx="70739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P(y=k|x) = exp(wₖᵀx) / Σ exp(wⱼᵀx)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369300" y="34448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37600" y="3394075"/>
            <a:ext cx="281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归一化：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所有类别概率之和为1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69300" y="38512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37600" y="3800475"/>
            <a:ext cx="314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放大差异：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指数函数放大分数差异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8350" y="435927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25385" y="48697"/>
                </a:moveTo>
                <a:cubicBezTo>
                  <a:pt x="231219" y="39945"/>
                  <a:pt x="228838" y="28099"/>
                  <a:pt x="220087" y="22265"/>
                </a:cubicBezTo>
                <a:cubicBezTo>
                  <a:pt x="211336" y="16431"/>
                  <a:pt x="199489" y="18812"/>
                  <a:pt x="193655" y="27563"/>
                </a:cubicBezTo>
                <a:lnTo>
                  <a:pt x="161270" y="76200"/>
                </a:lnTo>
                <a:lnTo>
                  <a:pt x="19050" y="76200"/>
                </a:lnTo>
                <a:cubicBezTo>
                  <a:pt x="8513" y="76200"/>
                  <a:pt x="0" y="84713"/>
                  <a:pt x="0" y="95250"/>
                </a:cubicBezTo>
                <a:cubicBezTo>
                  <a:pt x="0" y="105787"/>
                  <a:pt x="8513" y="114300"/>
                  <a:pt x="19050" y="114300"/>
                </a:cubicBezTo>
                <a:lnTo>
                  <a:pt x="135850" y="114300"/>
                </a:lnTo>
                <a:lnTo>
                  <a:pt x="85070" y="190500"/>
                </a:lnTo>
                <a:lnTo>
                  <a:pt x="19050" y="190500"/>
                </a:lnTo>
                <a:cubicBezTo>
                  <a:pt x="8513" y="190500"/>
                  <a:pt x="0" y="199013"/>
                  <a:pt x="0" y="209550"/>
                </a:cubicBezTo>
                <a:cubicBezTo>
                  <a:pt x="0" y="220087"/>
                  <a:pt x="8513" y="228600"/>
                  <a:pt x="19050" y="228600"/>
                </a:cubicBezTo>
                <a:lnTo>
                  <a:pt x="59650" y="228600"/>
                </a:lnTo>
                <a:lnTo>
                  <a:pt x="41315" y="256103"/>
                </a:lnTo>
                <a:cubicBezTo>
                  <a:pt x="35481" y="264855"/>
                  <a:pt x="37862" y="276701"/>
                  <a:pt x="46613" y="282535"/>
                </a:cubicBezTo>
                <a:cubicBezTo>
                  <a:pt x="55364" y="288369"/>
                  <a:pt x="67211" y="285988"/>
                  <a:pt x="73045" y="277237"/>
                </a:cubicBezTo>
                <a:lnTo>
                  <a:pt x="105430" y="228600"/>
                </a:lnTo>
                <a:lnTo>
                  <a:pt x="247650" y="228600"/>
                </a:lnTo>
                <a:cubicBezTo>
                  <a:pt x="258187" y="228600"/>
                  <a:pt x="266700" y="220087"/>
                  <a:pt x="266700" y="209550"/>
                </a:cubicBezTo>
                <a:cubicBezTo>
                  <a:pt x="266700" y="199013"/>
                  <a:pt x="258187" y="190500"/>
                  <a:pt x="247650" y="190500"/>
                </a:cubicBezTo>
                <a:lnTo>
                  <a:pt x="130850" y="190500"/>
                </a:lnTo>
                <a:lnTo>
                  <a:pt x="181630" y="114300"/>
                </a:lnTo>
                <a:lnTo>
                  <a:pt x="247650" y="114300"/>
                </a:lnTo>
                <a:cubicBezTo>
                  <a:pt x="258187" y="114300"/>
                  <a:pt x="266700" y="105787"/>
                  <a:pt x="266700" y="95250"/>
                </a:cubicBezTo>
                <a:cubicBezTo>
                  <a:pt x="266700" y="84713"/>
                  <a:pt x="258187" y="76200"/>
                  <a:pt x="247650" y="76200"/>
                </a:cubicBezTo>
                <a:lnTo>
                  <a:pt x="207050" y="76200"/>
                </a:lnTo>
                <a:lnTo>
                  <a:pt x="225385" y="48697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712200" y="4308475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为什么不用</a:t>
            </a:r>
            <a:r>
              <a:rPr lang="en-US" sz="2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MSE</a:t>
            </a: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？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31200" y="4867275"/>
            <a:ext cx="7416800" cy="1524000"/>
          </a:xfrm>
          <a:custGeom>
            <a:avLst/>
            <a:gdLst/>
            <a:ahLst/>
            <a:cxnLst/>
            <a:rect l="l" t="t" r="r" b="b"/>
            <a:pathLst>
              <a:path w="7416800" h="1524000">
                <a:moveTo>
                  <a:pt x="101605" y="0"/>
                </a:moveTo>
                <a:lnTo>
                  <a:pt x="7315195" y="0"/>
                </a:lnTo>
                <a:cubicBezTo>
                  <a:pt x="7371310" y="0"/>
                  <a:pt x="7416800" y="45490"/>
                  <a:pt x="7416800" y="101605"/>
                </a:cubicBezTo>
                <a:lnTo>
                  <a:pt x="7416800" y="1422395"/>
                </a:lnTo>
                <a:cubicBezTo>
                  <a:pt x="7416800" y="1478510"/>
                  <a:pt x="7371310" y="1524000"/>
                  <a:pt x="7315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585200" y="5121275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1868" y="29131"/>
                </a:moveTo>
                <a:cubicBezTo>
                  <a:pt x="16907" y="24170"/>
                  <a:pt x="8850" y="24170"/>
                  <a:pt x="3889" y="29131"/>
                </a:cubicBezTo>
                <a:cubicBezTo>
                  <a:pt x="-1072" y="34092"/>
                  <a:pt x="-1072" y="42148"/>
                  <a:pt x="3889" y="47109"/>
                </a:cubicBezTo>
                <a:lnTo>
                  <a:pt x="58420" y="101600"/>
                </a:lnTo>
                <a:lnTo>
                  <a:pt x="3929" y="156131"/>
                </a:lnTo>
                <a:cubicBezTo>
                  <a:pt x="-1032" y="161092"/>
                  <a:pt x="-1032" y="169148"/>
                  <a:pt x="3929" y="174109"/>
                </a:cubicBezTo>
                <a:cubicBezTo>
                  <a:pt x="8890" y="179070"/>
                  <a:pt x="16947" y="179070"/>
                  <a:pt x="21908" y="174109"/>
                </a:cubicBezTo>
                <a:lnTo>
                  <a:pt x="76398" y="119578"/>
                </a:lnTo>
                <a:lnTo>
                  <a:pt x="130929" y="174069"/>
                </a:lnTo>
                <a:cubicBezTo>
                  <a:pt x="135890" y="179030"/>
                  <a:pt x="143947" y="179030"/>
                  <a:pt x="148908" y="174069"/>
                </a:cubicBezTo>
                <a:cubicBezTo>
                  <a:pt x="153868" y="169108"/>
                  <a:pt x="153868" y="161052"/>
                  <a:pt x="148908" y="156091"/>
                </a:cubicBezTo>
                <a:lnTo>
                  <a:pt x="94377" y="101600"/>
                </a:lnTo>
                <a:lnTo>
                  <a:pt x="148868" y="47069"/>
                </a:lnTo>
                <a:cubicBezTo>
                  <a:pt x="153829" y="42108"/>
                  <a:pt x="153829" y="34052"/>
                  <a:pt x="148868" y="29091"/>
                </a:cubicBezTo>
                <a:cubicBezTo>
                  <a:pt x="143907" y="24130"/>
                  <a:pt x="135850" y="24130"/>
                  <a:pt x="130889" y="29091"/>
                </a:cubicBezTo>
                <a:lnTo>
                  <a:pt x="76398" y="83622"/>
                </a:lnTo>
                <a:lnTo>
                  <a:pt x="21868" y="29131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940800" y="5070475"/>
            <a:ext cx="514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</a:t>
            </a: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Sigmoid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输出下，</a:t>
            </a: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MSE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带来更差的优化性质与梯度行为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85200" y="5527675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1868" y="29131"/>
                </a:moveTo>
                <a:cubicBezTo>
                  <a:pt x="16907" y="24170"/>
                  <a:pt x="8850" y="24170"/>
                  <a:pt x="3889" y="29131"/>
                </a:cubicBezTo>
                <a:cubicBezTo>
                  <a:pt x="-1072" y="34092"/>
                  <a:pt x="-1072" y="42148"/>
                  <a:pt x="3889" y="47109"/>
                </a:cubicBezTo>
                <a:lnTo>
                  <a:pt x="58420" y="101600"/>
                </a:lnTo>
                <a:lnTo>
                  <a:pt x="3929" y="156131"/>
                </a:lnTo>
                <a:cubicBezTo>
                  <a:pt x="-1032" y="161092"/>
                  <a:pt x="-1032" y="169148"/>
                  <a:pt x="3929" y="174109"/>
                </a:cubicBezTo>
                <a:cubicBezTo>
                  <a:pt x="8890" y="179070"/>
                  <a:pt x="16947" y="179070"/>
                  <a:pt x="21908" y="174109"/>
                </a:cubicBezTo>
                <a:lnTo>
                  <a:pt x="76398" y="119578"/>
                </a:lnTo>
                <a:lnTo>
                  <a:pt x="130929" y="174069"/>
                </a:lnTo>
                <a:cubicBezTo>
                  <a:pt x="135890" y="179030"/>
                  <a:pt x="143947" y="179030"/>
                  <a:pt x="148908" y="174069"/>
                </a:cubicBezTo>
                <a:cubicBezTo>
                  <a:pt x="153868" y="169108"/>
                  <a:pt x="153868" y="161052"/>
                  <a:pt x="148908" y="156091"/>
                </a:cubicBezTo>
                <a:lnTo>
                  <a:pt x="94377" y="101600"/>
                </a:lnTo>
                <a:lnTo>
                  <a:pt x="148868" y="47069"/>
                </a:lnTo>
                <a:cubicBezTo>
                  <a:pt x="153829" y="42108"/>
                  <a:pt x="153829" y="34052"/>
                  <a:pt x="148868" y="29091"/>
                </a:cubicBezTo>
                <a:cubicBezTo>
                  <a:pt x="143907" y="24130"/>
                  <a:pt x="135850" y="24130"/>
                  <a:pt x="130889" y="29091"/>
                </a:cubicBezTo>
                <a:lnTo>
                  <a:pt x="76398" y="83622"/>
                </a:lnTo>
                <a:lnTo>
                  <a:pt x="21868" y="29131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940800" y="5476875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容易出现收敛慢或局部不理想解的问题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72500" y="5934075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940800" y="5883275"/>
            <a:ext cx="599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交叉熵对应最大似然估计，优化更稳定，概率解释与损失形式匹配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3400" y="7889875"/>
            <a:ext cx="15214600" cy="609600"/>
          </a:xfrm>
          <a:custGeom>
            <a:avLst/>
            <a:gdLst/>
            <a:ahLst/>
            <a:cxnLst/>
            <a:rect l="l" t="t" r="r" b="b"/>
            <a:pathLst>
              <a:path w="15214600" h="609600">
                <a:moveTo>
                  <a:pt x="50800" y="0"/>
                </a:moveTo>
                <a:lnTo>
                  <a:pt x="15112998" y="0"/>
                </a:lnTo>
                <a:cubicBezTo>
                  <a:pt x="15169111" y="0"/>
                  <a:pt x="15214600" y="45489"/>
                  <a:pt x="15214600" y="101602"/>
                </a:cubicBezTo>
                <a:lnTo>
                  <a:pt x="15214600" y="507998"/>
                </a:lnTo>
                <a:cubicBezTo>
                  <a:pt x="15214600" y="564111"/>
                  <a:pt x="15169111" y="609600"/>
                  <a:pt x="15112998" y="609600"/>
                </a:cubicBezTo>
                <a:lnTo>
                  <a:pt x="50800" y="609600"/>
                </a:lnTo>
                <a:cubicBezTo>
                  <a:pt x="22744" y="609600"/>
                  <a:pt x="0" y="586856"/>
                  <a:pt x="0" y="55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533400" y="7889875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5080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50800" y="609600"/>
                </a:lnTo>
                <a:cubicBezTo>
                  <a:pt x="22763" y="609600"/>
                  <a:pt x="0" y="586837"/>
                  <a:pt x="0" y="55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23900" y="8093075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9050" y="77708"/>
                </a:moveTo>
                <a:lnTo>
                  <a:pt x="102076" y="111879"/>
                </a:lnTo>
                <a:cubicBezTo>
                  <a:pt x="105966" y="113467"/>
                  <a:pt x="110093" y="114300"/>
                  <a:pt x="114300" y="114300"/>
                </a:cubicBezTo>
                <a:cubicBezTo>
                  <a:pt x="118507" y="114300"/>
                  <a:pt x="122634" y="113467"/>
                  <a:pt x="126524" y="111879"/>
                </a:cubicBezTo>
                <a:lnTo>
                  <a:pt x="222726" y="72271"/>
                </a:lnTo>
                <a:cubicBezTo>
                  <a:pt x="226298" y="70802"/>
                  <a:pt x="228600" y="67350"/>
                  <a:pt x="228600" y="63500"/>
                </a:cubicBezTo>
                <a:cubicBezTo>
                  <a:pt x="228600" y="59650"/>
                  <a:pt x="226298" y="56197"/>
                  <a:pt x="222726" y="54729"/>
                </a:cubicBezTo>
                <a:lnTo>
                  <a:pt x="126524" y="15121"/>
                </a:lnTo>
                <a:cubicBezTo>
                  <a:pt x="122634" y="13533"/>
                  <a:pt x="118507" y="12700"/>
                  <a:pt x="114300" y="12700"/>
                </a:cubicBezTo>
                <a:cubicBezTo>
                  <a:pt x="110093" y="12700"/>
                  <a:pt x="105966" y="13533"/>
                  <a:pt x="102076" y="15121"/>
                </a:cubicBezTo>
                <a:lnTo>
                  <a:pt x="5874" y="54729"/>
                </a:lnTo>
                <a:cubicBezTo>
                  <a:pt x="2302" y="56198"/>
                  <a:pt x="0" y="59650"/>
                  <a:pt x="0" y="63500"/>
                </a:cubicBezTo>
                <a:lnTo>
                  <a:pt x="0" y="180975"/>
                </a:lnTo>
                <a:cubicBezTo>
                  <a:pt x="0" y="186253"/>
                  <a:pt x="4247" y="190500"/>
                  <a:pt x="9525" y="190500"/>
                </a:cubicBezTo>
                <a:cubicBezTo>
                  <a:pt x="14803" y="190500"/>
                  <a:pt x="19050" y="186253"/>
                  <a:pt x="19050" y="180975"/>
                </a:cubicBezTo>
                <a:lnTo>
                  <a:pt x="19050" y="77708"/>
                </a:lnTo>
                <a:close/>
                <a:moveTo>
                  <a:pt x="38100" y="106164"/>
                </a:moveTo>
                <a:lnTo>
                  <a:pt x="38100" y="152400"/>
                </a:lnTo>
                <a:cubicBezTo>
                  <a:pt x="38100" y="173434"/>
                  <a:pt x="72231" y="190500"/>
                  <a:pt x="114300" y="190500"/>
                </a:cubicBezTo>
                <a:cubicBezTo>
                  <a:pt x="156369" y="190500"/>
                  <a:pt x="190500" y="173434"/>
                  <a:pt x="190500" y="152400"/>
                </a:cubicBezTo>
                <a:lnTo>
                  <a:pt x="190500" y="106124"/>
                </a:lnTo>
                <a:lnTo>
                  <a:pt x="133787" y="129500"/>
                </a:lnTo>
                <a:cubicBezTo>
                  <a:pt x="127595" y="132040"/>
                  <a:pt x="121007" y="133350"/>
                  <a:pt x="114300" y="133350"/>
                </a:cubicBezTo>
                <a:cubicBezTo>
                  <a:pt x="107593" y="133350"/>
                  <a:pt x="101005" y="132040"/>
                  <a:pt x="94813" y="129500"/>
                </a:cubicBezTo>
                <a:lnTo>
                  <a:pt x="38100" y="106124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17600" y="8042275"/>
            <a:ext cx="91535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关键洞察：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梯度的大小取决于预测误差(σ(zᵢ) - yᵢ)和输入特征xᵢⱼ的乘积，误差越大更新幅度越大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36" y="473936"/>
            <a:ext cx="15521399" cy="4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5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逻辑回归：算法优缺点与正则化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73936" y="1090052"/>
            <a:ext cx="947872" cy="47394"/>
          </a:xfrm>
          <a:custGeom>
            <a:avLst/>
            <a:gdLst/>
            <a:ahLst/>
            <a:cxnLst/>
            <a:rect l="l" t="t" r="r" b="b"/>
            <a:pathLst>
              <a:path w="947872" h="47394">
                <a:moveTo>
                  <a:pt x="0" y="0"/>
                </a:moveTo>
                <a:lnTo>
                  <a:pt x="947872" y="0"/>
                </a:lnTo>
                <a:lnTo>
                  <a:pt x="947872" y="47394"/>
                </a:lnTo>
                <a:lnTo>
                  <a:pt x="0" y="47394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9481" y="1374414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44431" y="88863"/>
                </a:moveTo>
                <a:cubicBezTo>
                  <a:pt x="54262" y="88863"/>
                  <a:pt x="62204" y="96805"/>
                  <a:pt x="62204" y="106636"/>
                </a:cubicBezTo>
                <a:lnTo>
                  <a:pt x="62204" y="248816"/>
                </a:lnTo>
                <a:cubicBezTo>
                  <a:pt x="62204" y="258647"/>
                  <a:pt x="54262" y="266589"/>
                  <a:pt x="44431" y="266589"/>
                </a:cubicBezTo>
                <a:lnTo>
                  <a:pt x="17773" y="266589"/>
                </a:lnTo>
                <a:cubicBezTo>
                  <a:pt x="7942" y="266589"/>
                  <a:pt x="0" y="258647"/>
                  <a:pt x="0" y="248816"/>
                </a:cubicBezTo>
                <a:lnTo>
                  <a:pt x="0" y="106636"/>
                </a:lnTo>
                <a:cubicBezTo>
                  <a:pt x="0" y="96805"/>
                  <a:pt x="7942" y="88863"/>
                  <a:pt x="17773" y="88863"/>
                </a:cubicBezTo>
                <a:lnTo>
                  <a:pt x="44431" y="88863"/>
                </a:lnTo>
                <a:close/>
                <a:moveTo>
                  <a:pt x="150290" y="8886"/>
                </a:moveTo>
                <a:cubicBezTo>
                  <a:pt x="165452" y="8886"/>
                  <a:pt x="177726" y="21160"/>
                  <a:pt x="177726" y="36323"/>
                </a:cubicBezTo>
                <a:lnTo>
                  <a:pt x="177726" y="38655"/>
                </a:lnTo>
                <a:cubicBezTo>
                  <a:pt x="177726" y="42432"/>
                  <a:pt x="177004" y="46209"/>
                  <a:pt x="175615" y="49708"/>
                </a:cubicBezTo>
                <a:lnTo>
                  <a:pt x="159953" y="88863"/>
                </a:lnTo>
                <a:lnTo>
                  <a:pt x="248816" y="88863"/>
                </a:lnTo>
                <a:cubicBezTo>
                  <a:pt x="263534" y="88863"/>
                  <a:pt x="275475" y="100804"/>
                  <a:pt x="275475" y="115522"/>
                </a:cubicBezTo>
                <a:cubicBezTo>
                  <a:pt x="275475" y="126463"/>
                  <a:pt x="268866" y="135849"/>
                  <a:pt x="259424" y="139959"/>
                </a:cubicBezTo>
                <a:cubicBezTo>
                  <a:pt x="268866" y="144069"/>
                  <a:pt x="275475" y="153455"/>
                  <a:pt x="275475" y="164397"/>
                </a:cubicBezTo>
                <a:cubicBezTo>
                  <a:pt x="275475" y="177393"/>
                  <a:pt x="266145" y="188223"/>
                  <a:pt x="253815" y="190556"/>
                </a:cubicBezTo>
                <a:cubicBezTo>
                  <a:pt x="256259" y="194610"/>
                  <a:pt x="257703" y="199331"/>
                  <a:pt x="257703" y="204385"/>
                </a:cubicBezTo>
                <a:cubicBezTo>
                  <a:pt x="257703" y="216715"/>
                  <a:pt x="249372" y="227045"/>
                  <a:pt x="238042" y="230100"/>
                </a:cubicBezTo>
                <a:cubicBezTo>
                  <a:pt x="239264" y="233154"/>
                  <a:pt x="239930" y="236487"/>
                  <a:pt x="239930" y="239930"/>
                </a:cubicBezTo>
                <a:cubicBezTo>
                  <a:pt x="239930" y="254648"/>
                  <a:pt x="227989" y="266589"/>
                  <a:pt x="213271" y="266589"/>
                </a:cubicBezTo>
                <a:lnTo>
                  <a:pt x="164452" y="266589"/>
                </a:lnTo>
                <a:cubicBezTo>
                  <a:pt x="144291" y="266589"/>
                  <a:pt x="124686" y="259702"/>
                  <a:pt x="108968" y="247095"/>
                </a:cubicBezTo>
                <a:lnTo>
                  <a:pt x="102192" y="241707"/>
                </a:lnTo>
                <a:cubicBezTo>
                  <a:pt x="93750" y="234987"/>
                  <a:pt x="88863" y="224768"/>
                  <a:pt x="88863" y="213938"/>
                </a:cubicBezTo>
                <a:lnTo>
                  <a:pt x="88863" y="110301"/>
                </a:lnTo>
                <a:cubicBezTo>
                  <a:pt x="88863" y="102026"/>
                  <a:pt x="90807" y="93862"/>
                  <a:pt x="94472" y="86475"/>
                </a:cubicBezTo>
                <a:lnTo>
                  <a:pt x="125686" y="24049"/>
                </a:lnTo>
                <a:cubicBezTo>
                  <a:pt x="130351" y="14773"/>
                  <a:pt x="139848" y="8886"/>
                  <a:pt x="150290" y="888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9388" y="1327020"/>
            <a:ext cx="7251219" cy="37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3936" y="1895743"/>
            <a:ext cx="473936" cy="473936"/>
          </a:xfrm>
          <a:custGeom>
            <a:avLst/>
            <a:gdLst/>
            <a:ahLst/>
            <a:cxnLst/>
            <a:rect l="l" t="t" r="r" b="b"/>
            <a:pathLst>
              <a:path w="473936" h="473936">
                <a:moveTo>
                  <a:pt x="236968" y="0"/>
                </a:moveTo>
                <a:lnTo>
                  <a:pt x="236968" y="0"/>
                </a:lnTo>
                <a:cubicBezTo>
                  <a:pt x="367754" y="0"/>
                  <a:pt x="473936" y="106182"/>
                  <a:pt x="473936" y="236968"/>
                </a:cubicBezTo>
                <a:lnTo>
                  <a:pt x="473936" y="236968"/>
                </a:lnTo>
                <a:cubicBezTo>
                  <a:pt x="473936" y="367754"/>
                  <a:pt x="367754" y="473936"/>
                  <a:pt x="236968" y="473936"/>
                </a:cubicBezTo>
                <a:lnTo>
                  <a:pt x="236968" y="473936"/>
                </a:lnTo>
                <a:cubicBezTo>
                  <a:pt x="106182" y="473936"/>
                  <a:pt x="0" y="367754"/>
                  <a:pt x="0" y="236968"/>
                </a:cubicBezTo>
                <a:lnTo>
                  <a:pt x="0" y="236968"/>
                </a:lnTo>
                <a:cubicBezTo>
                  <a:pt x="0" y="106182"/>
                  <a:pt x="106182" y="0"/>
                  <a:pt x="23696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27965" y="2037924"/>
            <a:ext cx="165878" cy="189574"/>
          </a:xfrm>
          <a:custGeom>
            <a:avLst/>
            <a:gdLst/>
            <a:ahLst/>
            <a:cxnLst/>
            <a:rect l="l" t="t" r="r" b="b"/>
            <a:pathLst>
              <a:path w="165878" h="189574">
                <a:moveTo>
                  <a:pt x="160990" y="25955"/>
                </a:moveTo>
                <a:cubicBezTo>
                  <a:pt x="166285" y="29806"/>
                  <a:pt x="167470" y="37211"/>
                  <a:pt x="163619" y="42506"/>
                </a:cubicBezTo>
                <a:lnTo>
                  <a:pt x="68832" y="172838"/>
                </a:lnTo>
                <a:cubicBezTo>
                  <a:pt x="66795" y="175652"/>
                  <a:pt x="63648" y="177393"/>
                  <a:pt x="60168" y="177689"/>
                </a:cubicBezTo>
                <a:cubicBezTo>
                  <a:pt x="56687" y="177985"/>
                  <a:pt x="53318" y="176689"/>
                  <a:pt x="50874" y="174245"/>
                </a:cubicBezTo>
                <a:lnTo>
                  <a:pt x="3480" y="126852"/>
                </a:lnTo>
                <a:cubicBezTo>
                  <a:pt x="-1148" y="122224"/>
                  <a:pt x="-1148" y="114707"/>
                  <a:pt x="3480" y="110079"/>
                </a:cubicBezTo>
                <a:cubicBezTo>
                  <a:pt x="8109" y="105451"/>
                  <a:pt x="15625" y="105451"/>
                  <a:pt x="20253" y="110079"/>
                </a:cubicBezTo>
                <a:lnTo>
                  <a:pt x="57835" y="147661"/>
                </a:lnTo>
                <a:lnTo>
                  <a:pt x="144476" y="28547"/>
                </a:lnTo>
                <a:cubicBezTo>
                  <a:pt x="148327" y="23252"/>
                  <a:pt x="155732" y="22068"/>
                  <a:pt x="161027" y="2591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37446" y="1895743"/>
            <a:ext cx="4845994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实现简单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7446" y="2322286"/>
            <a:ext cx="4834146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计算量小，速度快，易于理解和实现。适合大规模数据集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3936" y="2772525"/>
            <a:ext cx="473936" cy="473936"/>
          </a:xfrm>
          <a:custGeom>
            <a:avLst/>
            <a:gdLst/>
            <a:ahLst/>
            <a:cxnLst/>
            <a:rect l="l" t="t" r="r" b="b"/>
            <a:pathLst>
              <a:path w="473936" h="473936">
                <a:moveTo>
                  <a:pt x="236968" y="0"/>
                </a:moveTo>
                <a:lnTo>
                  <a:pt x="236968" y="0"/>
                </a:lnTo>
                <a:cubicBezTo>
                  <a:pt x="367754" y="0"/>
                  <a:pt x="473936" y="106182"/>
                  <a:pt x="473936" y="236968"/>
                </a:cubicBezTo>
                <a:lnTo>
                  <a:pt x="473936" y="236968"/>
                </a:lnTo>
                <a:cubicBezTo>
                  <a:pt x="473936" y="367754"/>
                  <a:pt x="367754" y="473936"/>
                  <a:pt x="236968" y="473936"/>
                </a:cubicBezTo>
                <a:lnTo>
                  <a:pt x="236968" y="473936"/>
                </a:lnTo>
                <a:cubicBezTo>
                  <a:pt x="106182" y="473936"/>
                  <a:pt x="0" y="367754"/>
                  <a:pt x="0" y="236968"/>
                </a:cubicBezTo>
                <a:lnTo>
                  <a:pt x="0" y="236968"/>
                </a:lnTo>
                <a:cubicBezTo>
                  <a:pt x="0" y="106182"/>
                  <a:pt x="106182" y="0"/>
                  <a:pt x="23696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27965" y="2914706"/>
            <a:ext cx="165878" cy="189574"/>
          </a:xfrm>
          <a:custGeom>
            <a:avLst/>
            <a:gdLst/>
            <a:ahLst/>
            <a:cxnLst/>
            <a:rect l="l" t="t" r="r" b="b"/>
            <a:pathLst>
              <a:path w="165878" h="189574">
                <a:moveTo>
                  <a:pt x="160990" y="25955"/>
                </a:moveTo>
                <a:cubicBezTo>
                  <a:pt x="166285" y="29806"/>
                  <a:pt x="167470" y="37211"/>
                  <a:pt x="163619" y="42506"/>
                </a:cubicBezTo>
                <a:lnTo>
                  <a:pt x="68832" y="172838"/>
                </a:lnTo>
                <a:cubicBezTo>
                  <a:pt x="66795" y="175652"/>
                  <a:pt x="63648" y="177393"/>
                  <a:pt x="60168" y="177689"/>
                </a:cubicBezTo>
                <a:cubicBezTo>
                  <a:pt x="56687" y="177985"/>
                  <a:pt x="53318" y="176689"/>
                  <a:pt x="50874" y="174245"/>
                </a:cubicBezTo>
                <a:lnTo>
                  <a:pt x="3480" y="126852"/>
                </a:lnTo>
                <a:cubicBezTo>
                  <a:pt x="-1148" y="122224"/>
                  <a:pt x="-1148" y="114707"/>
                  <a:pt x="3480" y="110079"/>
                </a:cubicBezTo>
                <a:cubicBezTo>
                  <a:pt x="8109" y="105451"/>
                  <a:pt x="15625" y="105451"/>
                  <a:pt x="20253" y="110079"/>
                </a:cubicBezTo>
                <a:lnTo>
                  <a:pt x="57835" y="147661"/>
                </a:lnTo>
                <a:lnTo>
                  <a:pt x="144476" y="28547"/>
                </a:lnTo>
                <a:cubicBezTo>
                  <a:pt x="148327" y="23252"/>
                  <a:pt x="155732" y="22068"/>
                  <a:pt x="161027" y="2591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37446" y="2772525"/>
            <a:ext cx="4656420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概率输出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37446" y="3199067"/>
            <a:ext cx="4644571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模型输出结果为概率，便于后续的阈值调整和风险控制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3936" y="3649306"/>
            <a:ext cx="473936" cy="473936"/>
          </a:xfrm>
          <a:custGeom>
            <a:avLst/>
            <a:gdLst/>
            <a:ahLst/>
            <a:cxnLst/>
            <a:rect l="l" t="t" r="r" b="b"/>
            <a:pathLst>
              <a:path w="473936" h="473936">
                <a:moveTo>
                  <a:pt x="236968" y="0"/>
                </a:moveTo>
                <a:lnTo>
                  <a:pt x="236968" y="0"/>
                </a:lnTo>
                <a:cubicBezTo>
                  <a:pt x="367754" y="0"/>
                  <a:pt x="473936" y="106182"/>
                  <a:pt x="473936" y="236968"/>
                </a:cubicBezTo>
                <a:lnTo>
                  <a:pt x="473936" y="236968"/>
                </a:lnTo>
                <a:cubicBezTo>
                  <a:pt x="473936" y="367754"/>
                  <a:pt x="367754" y="473936"/>
                  <a:pt x="236968" y="473936"/>
                </a:cubicBezTo>
                <a:lnTo>
                  <a:pt x="236968" y="473936"/>
                </a:lnTo>
                <a:cubicBezTo>
                  <a:pt x="106182" y="473936"/>
                  <a:pt x="0" y="367754"/>
                  <a:pt x="0" y="236968"/>
                </a:cubicBezTo>
                <a:lnTo>
                  <a:pt x="0" y="236968"/>
                </a:lnTo>
                <a:cubicBezTo>
                  <a:pt x="0" y="106182"/>
                  <a:pt x="106182" y="0"/>
                  <a:pt x="23696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27965" y="3791487"/>
            <a:ext cx="165878" cy="189574"/>
          </a:xfrm>
          <a:custGeom>
            <a:avLst/>
            <a:gdLst/>
            <a:ahLst/>
            <a:cxnLst/>
            <a:rect l="l" t="t" r="r" b="b"/>
            <a:pathLst>
              <a:path w="165878" h="189574">
                <a:moveTo>
                  <a:pt x="160990" y="25955"/>
                </a:moveTo>
                <a:cubicBezTo>
                  <a:pt x="166285" y="29806"/>
                  <a:pt x="167470" y="37211"/>
                  <a:pt x="163619" y="42506"/>
                </a:cubicBezTo>
                <a:lnTo>
                  <a:pt x="68832" y="172838"/>
                </a:lnTo>
                <a:cubicBezTo>
                  <a:pt x="66795" y="175652"/>
                  <a:pt x="63648" y="177393"/>
                  <a:pt x="60168" y="177689"/>
                </a:cubicBezTo>
                <a:cubicBezTo>
                  <a:pt x="56687" y="177985"/>
                  <a:pt x="53318" y="176689"/>
                  <a:pt x="50874" y="174245"/>
                </a:cubicBezTo>
                <a:lnTo>
                  <a:pt x="3480" y="126852"/>
                </a:lnTo>
                <a:cubicBezTo>
                  <a:pt x="-1148" y="122224"/>
                  <a:pt x="-1148" y="114707"/>
                  <a:pt x="3480" y="110079"/>
                </a:cubicBezTo>
                <a:cubicBezTo>
                  <a:pt x="8109" y="105451"/>
                  <a:pt x="15625" y="105451"/>
                  <a:pt x="20253" y="110079"/>
                </a:cubicBezTo>
                <a:lnTo>
                  <a:pt x="57835" y="147661"/>
                </a:lnTo>
                <a:lnTo>
                  <a:pt x="144476" y="28547"/>
                </a:lnTo>
                <a:cubicBezTo>
                  <a:pt x="148327" y="23252"/>
                  <a:pt x="155732" y="22068"/>
                  <a:pt x="161027" y="25918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137446" y="3649306"/>
            <a:ext cx="4466845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特征权重可解释性强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7446" y="4075848"/>
            <a:ext cx="4454997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可以直接看到每个特征的权重，具有较好的可解释性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55711" y="1374414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213271" y="17773"/>
                </a:moveTo>
                <a:cubicBezTo>
                  <a:pt x="227989" y="17773"/>
                  <a:pt x="239930" y="29714"/>
                  <a:pt x="239930" y="44431"/>
                </a:cubicBezTo>
                <a:cubicBezTo>
                  <a:pt x="239930" y="47930"/>
                  <a:pt x="239208" y="51207"/>
                  <a:pt x="238042" y="54262"/>
                </a:cubicBezTo>
                <a:cubicBezTo>
                  <a:pt x="249372" y="57317"/>
                  <a:pt x="257703" y="67647"/>
                  <a:pt x="257703" y="79977"/>
                </a:cubicBezTo>
                <a:cubicBezTo>
                  <a:pt x="257703" y="85031"/>
                  <a:pt x="256259" y="89752"/>
                  <a:pt x="253815" y="93806"/>
                </a:cubicBezTo>
                <a:cubicBezTo>
                  <a:pt x="266145" y="96139"/>
                  <a:pt x="275475" y="106969"/>
                  <a:pt x="275475" y="119965"/>
                </a:cubicBezTo>
                <a:cubicBezTo>
                  <a:pt x="275475" y="130906"/>
                  <a:pt x="268866" y="140292"/>
                  <a:pt x="259424" y="144402"/>
                </a:cubicBezTo>
                <a:cubicBezTo>
                  <a:pt x="268866" y="148512"/>
                  <a:pt x="275475" y="157898"/>
                  <a:pt x="275475" y="168840"/>
                </a:cubicBezTo>
                <a:cubicBezTo>
                  <a:pt x="275475" y="183558"/>
                  <a:pt x="263534" y="195499"/>
                  <a:pt x="248816" y="195499"/>
                </a:cubicBezTo>
                <a:lnTo>
                  <a:pt x="159953" y="195499"/>
                </a:lnTo>
                <a:lnTo>
                  <a:pt x="175615" y="234598"/>
                </a:lnTo>
                <a:cubicBezTo>
                  <a:pt x="177004" y="238097"/>
                  <a:pt x="177726" y="241874"/>
                  <a:pt x="177726" y="245651"/>
                </a:cubicBezTo>
                <a:lnTo>
                  <a:pt x="177726" y="247983"/>
                </a:lnTo>
                <a:cubicBezTo>
                  <a:pt x="177726" y="263145"/>
                  <a:pt x="165452" y="275420"/>
                  <a:pt x="150290" y="275420"/>
                </a:cubicBezTo>
                <a:cubicBezTo>
                  <a:pt x="139904" y="275420"/>
                  <a:pt x="130406" y="269533"/>
                  <a:pt x="125741" y="260257"/>
                </a:cubicBezTo>
                <a:lnTo>
                  <a:pt x="94472" y="197887"/>
                </a:lnTo>
                <a:cubicBezTo>
                  <a:pt x="90751" y="190500"/>
                  <a:pt x="88863" y="182336"/>
                  <a:pt x="88863" y="174060"/>
                </a:cubicBezTo>
                <a:lnTo>
                  <a:pt x="88863" y="70424"/>
                </a:lnTo>
                <a:cubicBezTo>
                  <a:pt x="88863" y="59649"/>
                  <a:pt x="93806" y="49430"/>
                  <a:pt x="102192" y="42654"/>
                </a:cubicBezTo>
                <a:lnTo>
                  <a:pt x="108968" y="37267"/>
                </a:lnTo>
                <a:cubicBezTo>
                  <a:pt x="124741" y="24659"/>
                  <a:pt x="144291" y="17773"/>
                  <a:pt x="164452" y="17773"/>
                </a:cubicBezTo>
                <a:lnTo>
                  <a:pt x="213271" y="17773"/>
                </a:lnTo>
                <a:close/>
                <a:moveTo>
                  <a:pt x="44431" y="53318"/>
                </a:moveTo>
                <a:cubicBezTo>
                  <a:pt x="54262" y="53318"/>
                  <a:pt x="62204" y="61260"/>
                  <a:pt x="62204" y="71090"/>
                </a:cubicBezTo>
                <a:lnTo>
                  <a:pt x="62204" y="213271"/>
                </a:lnTo>
                <a:cubicBezTo>
                  <a:pt x="62204" y="223102"/>
                  <a:pt x="54262" y="231044"/>
                  <a:pt x="44431" y="231044"/>
                </a:cubicBezTo>
                <a:lnTo>
                  <a:pt x="17773" y="231044"/>
                </a:lnTo>
                <a:cubicBezTo>
                  <a:pt x="7942" y="231044"/>
                  <a:pt x="0" y="223102"/>
                  <a:pt x="0" y="213271"/>
                </a:cubicBezTo>
                <a:lnTo>
                  <a:pt x="0" y="71090"/>
                </a:lnTo>
                <a:cubicBezTo>
                  <a:pt x="0" y="61260"/>
                  <a:pt x="7942" y="53318"/>
                  <a:pt x="17773" y="53318"/>
                </a:cubicBezTo>
                <a:lnTo>
                  <a:pt x="44431" y="53318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675618" y="1327020"/>
            <a:ext cx="7251219" cy="37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20166" y="1895743"/>
            <a:ext cx="473936" cy="473936"/>
          </a:xfrm>
          <a:custGeom>
            <a:avLst/>
            <a:gdLst/>
            <a:ahLst/>
            <a:cxnLst/>
            <a:rect l="l" t="t" r="r" b="b"/>
            <a:pathLst>
              <a:path w="473936" h="473936">
                <a:moveTo>
                  <a:pt x="236968" y="0"/>
                </a:moveTo>
                <a:lnTo>
                  <a:pt x="236968" y="0"/>
                </a:lnTo>
                <a:cubicBezTo>
                  <a:pt x="367754" y="0"/>
                  <a:pt x="473936" y="106182"/>
                  <a:pt x="473936" y="236968"/>
                </a:cubicBezTo>
                <a:lnTo>
                  <a:pt x="473936" y="236968"/>
                </a:lnTo>
                <a:cubicBezTo>
                  <a:pt x="473936" y="367754"/>
                  <a:pt x="367754" y="473936"/>
                  <a:pt x="236968" y="473936"/>
                </a:cubicBezTo>
                <a:lnTo>
                  <a:pt x="236968" y="473936"/>
                </a:lnTo>
                <a:cubicBezTo>
                  <a:pt x="106182" y="473936"/>
                  <a:pt x="0" y="367754"/>
                  <a:pt x="0" y="236968"/>
                </a:cubicBezTo>
                <a:lnTo>
                  <a:pt x="0" y="236968"/>
                </a:lnTo>
                <a:cubicBezTo>
                  <a:pt x="0" y="106182"/>
                  <a:pt x="106182" y="0"/>
                  <a:pt x="236968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486044" y="2037924"/>
            <a:ext cx="142181" cy="189574"/>
          </a:xfrm>
          <a:custGeom>
            <a:avLst/>
            <a:gdLst/>
            <a:ahLst/>
            <a:cxnLst/>
            <a:rect l="l" t="t" r="r" b="b"/>
            <a:pathLst>
              <a:path w="142181" h="189574">
                <a:moveTo>
                  <a:pt x="20401" y="27177"/>
                </a:moveTo>
                <a:cubicBezTo>
                  <a:pt x="15773" y="22549"/>
                  <a:pt x="8257" y="22549"/>
                  <a:pt x="3629" y="27177"/>
                </a:cubicBezTo>
                <a:cubicBezTo>
                  <a:pt x="-1000" y="31806"/>
                  <a:pt x="-1000" y="39322"/>
                  <a:pt x="3629" y="43950"/>
                </a:cubicBezTo>
                <a:lnTo>
                  <a:pt x="54503" y="94787"/>
                </a:lnTo>
                <a:lnTo>
                  <a:pt x="3666" y="145661"/>
                </a:lnTo>
                <a:cubicBezTo>
                  <a:pt x="-963" y="150290"/>
                  <a:pt x="-963" y="157806"/>
                  <a:pt x="3666" y="162434"/>
                </a:cubicBezTo>
                <a:cubicBezTo>
                  <a:pt x="8294" y="167062"/>
                  <a:pt x="15810" y="167062"/>
                  <a:pt x="20438" y="162434"/>
                </a:cubicBezTo>
                <a:lnTo>
                  <a:pt x="71276" y="111560"/>
                </a:lnTo>
                <a:lnTo>
                  <a:pt x="122150" y="162397"/>
                </a:lnTo>
                <a:cubicBezTo>
                  <a:pt x="126778" y="167025"/>
                  <a:pt x="134294" y="167025"/>
                  <a:pt x="138922" y="162397"/>
                </a:cubicBezTo>
                <a:cubicBezTo>
                  <a:pt x="143551" y="157769"/>
                  <a:pt x="143551" y="150252"/>
                  <a:pt x="138922" y="145624"/>
                </a:cubicBezTo>
                <a:lnTo>
                  <a:pt x="88048" y="94787"/>
                </a:lnTo>
                <a:lnTo>
                  <a:pt x="138885" y="43913"/>
                </a:lnTo>
                <a:cubicBezTo>
                  <a:pt x="143514" y="39285"/>
                  <a:pt x="143514" y="31769"/>
                  <a:pt x="138885" y="27140"/>
                </a:cubicBezTo>
                <a:cubicBezTo>
                  <a:pt x="134257" y="22512"/>
                  <a:pt x="126741" y="22512"/>
                  <a:pt x="122113" y="27140"/>
                </a:cubicBezTo>
                <a:lnTo>
                  <a:pt x="71276" y="78014"/>
                </a:lnTo>
                <a:lnTo>
                  <a:pt x="20401" y="27177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983676" y="1895743"/>
            <a:ext cx="6552163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线性限制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83676" y="2322286"/>
            <a:ext cx="6540315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本质上是一个线性分类器，对非线性问题的拟合能力较弱，需要特征工程扩展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20166" y="2772525"/>
            <a:ext cx="473936" cy="473936"/>
          </a:xfrm>
          <a:custGeom>
            <a:avLst/>
            <a:gdLst/>
            <a:ahLst/>
            <a:cxnLst/>
            <a:rect l="l" t="t" r="r" b="b"/>
            <a:pathLst>
              <a:path w="473936" h="473936">
                <a:moveTo>
                  <a:pt x="236968" y="0"/>
                </a:moveTo>
                <a:lnTo>
                  <a:pt x="236968" y="0"/>
                </a:lnTo>
                <a:cubicBezTo>
                  <a:pt x="367754" y="0"/>
                  <a:pt x="473936" y="106182"/>
                  <a:pt x="473936" y="236968"/>
                </a:cubicBezTo>
                <a:lnTo>
                  <a:pt x="473936" y="236968"/>
                </a:lnTo>
                <a:cubicBezTo>
                  <a:pt x="473936" y="367754"/>
                  <a:pt x="367754" y="473936"/>
                  <a:pt x="236968" y="473936"/>
                </a:cubicBezTo>
                <a:lnTo>
                  <a:pt x="236968" y="473936"/>
                </a:lnTo>
                <a:cubicBezTo>
                  <a:pt x="106182" y="473936"/>
                  <a:pt x="0" y="367754"/>
                  <a:pt x="0" y="236968"/>
                </a:cubicBezTo>
                <a:lnTo>
                  <a:pt x="0" y="236968"/>
                </a:lnTo>
                <a:cubicBezTo>
                  <a:pt x="0" y="106182"/>
                  <a:pt x="106182" y="0"/>
                  <a:pt x="236968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486044" y="2914706"/>
            <a:ext cx="142181" cy="189574"/>
          </a:xfrm>
          <a:custGeom>
            <a:avLst/>
            <a:gdLst/>
            <a:ahLst/>
            <a:cxnLst/>
            <a:rect l="l" t="t" r="r" b="b"/>
            <a:pathLst>
              <a:path w="142181" h="189574">
                <a:moveTo>
                  <a:pt x="20401" y="27177"/>
                </a:moveTo>
                <a:cubicBezTo>
                  <a:pt x="15773" y="22549"/>
                  <a:pt x="8257" y="22549"/>
                  <a:pt x="3629" y="27177"/>
                </a:cubicBezTo>
                <a:cubicBezTo>
                  <a:pt x="-1000" y="31806"/>
                  <a:pt x="-1000" y="39322"/>
                  <a:pt x="3629" y="43950"/>
                </a:cubicBezTo>
                <a:lnTo>
                  <a:pt x="54503" y="94787"/>
                </a:lnTo>
                <a:lnTo>
                  <a:pt x="3666" y="145661"/>
                </a:lnTo>
                <a:cubicBezTo>
                  <a:pt x="-963" y="150290"/>
                  <a:pt x="-963" y="157806"/>
                  <a:pt x="3666" y="162434"/>
                </a:cubicBezTo>
                <a:cubicBezTo>
                  <a:pt x="8294" y="167062"/>
                  <a:pt x="15810" y="167062"/>
                  <a:pt x="20438" y="162434"/>
                </a:cubicBezTo>
                <a:lnTo>
                  <a:pt x="71276" y="111560"/>
                </a:lnTo>
                <a:lnTo>
                  <a:pt x="122150" y="162397"/>
                </a:lnTo>
                <a:cubicBezTo>
                  <a:pt x="126778" y="167025"/>
                  <a:pt x="134294" y="167025"/>
                  <a:pt x="138922" y="162397"/>
                </a:cubicBezTo>
                <a:cubicBezTo>
                  <a:pt x="143551" y="157769"/>
                  <a:pt x="143551" y="150252"/>
                  <a:pt x="138922" y="145624"/>
                </a:cubicBezTo>
                <a:lnTo>
                  <a:pt x="88048" y="94787"/>
                </a:lnTo>
                <a:lnTo>
                  <a:pt x="138885" y="43913"/>
                </a:lnTo>
                <a:cubicBezTo>
                  <a:pt x="143514" y="39285"/>
                  <a:pt x="143514" y="31769"/>
                  <a:pt x="138885" y="27140"/>
                </a:cubicBezTo>
                <a:cubicBezTo>
                  <a:pt x="134257" y="22512"/>
                  <a:pt x="126741" y="22512"/>
                  <a:pt x="122113" y="27140"/>
                </a:cubicBezTo>
                <a:lnTo>
                  <a:pt x="71276" y="78014"/>
                </a:lnTo>
                <a:lnTo>
                  <a:pt x="20401" y="27177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83676" y="2772525"/>
            <a:ext cx="5414717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特征相关性敏感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83676" y="3199067"/>
            <a:ext cx="5402869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对多重共线性敏感，特征之间的相关性会影响参数估计的准确性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20166" y="3649306"/>
            <a:ext cx="473936" cy="473936"/>
          </a:xfrm>
          <a:custGeom>
            <a:avLst/>
            <a:gdLst/>
            <a:ahLst/>
            <a:cxnLst/>
            <a:rect l="l" t="t" r="r" b="b"/>
            <a:pathLst>
              <a:path w="473936" h="473936">
                <a:moveTo>
                  <a:pt x="236968" y="0"/>
                </a:moveTo>
                <a:lnTo>
                  <a:pt x="236968" y="0"/>
                </a:lnTo>
                <a:cubicBezTo>
                  <a:pt x="367754" y="0"/>
                  <a:pt x="473936" y="106182"/>
                  <a:pt x="473936" y="236968"/>
                </a:cubicBezTo>
                <a:lnTo>
                  <a:pt x="473936" y="236968"/>
                </a:lnTo>
                <a:cubicBezTo>
                  <a:pt x="473936" y="367754"/>
                  <a:pt x="367754" y="473936"/>
                  <a:pt x="236968" y="473936"/>
                </a:cubicBezTo>
                <a:lnTo>
                  <a:pt x="236968" y="473936"/>
                </a:lnTo>
                <a:cubicBezTo>
                  <a:pt x="106182" y="473936"/>
                  <a:pt x="0" y="367754"/>
                  <a:pt x="0" y="236968"/>
                </a:cubicBezTo>
                <a:lnTo>
                  <a:pt x="0" y="236968"/>
                </a:lnTo>
                <a:cubicBezTo>
                  <a:pt x="0" y="106182"/>
                  <a:pt x="106182" y="0"/>
                  <a:pt x="236968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486044" y="3791487"/>
            <a:ext cx="142181" cy="189574"/>
          </a:xfrm>
          <a:custGeom>
            <a:avLst/>
            <a:gdLst/>
            <a:ahLst/>
            <a:cxnLst/>
            <a:rect l="l" t="t" r="r" b="b"/>
            <a:pathLst>
              <a:path w="142181" h="189574">
                <a:moveTo>
                  <a:pt x="20401" y="27177"/>
                </a:moveTo>
                <a:cubicBezTo>
                  <a:pt x="15773" y="22549"/>
                  <a:pt x="8257" y="22549"/>
                  <a:pt x="3629" y="27177"/>
                </a:cubicBezTo>
                <a:cubicBezTo>
                  <a:pt x="-1000" y="31806"/>
                  <a:pt x="-1000" y="39322"/>
                  <a:pt x="3629" y="43950"/>
                </a:cubicBezTo>
                <a:lnTo>
                  <a:pt x="54503" y="94787"/>
                </a:lnTo>
                <a:lnTo>
                  <a:pt x="3666" y="145661"/>
                </a:lnTo>
                <a:cubicBezTo>
                  <a:pt x="-963" y="150290"/>
                  <a:pt x="-963" y="157806"/>
                  <a:pt x="3666" y="162434"/>
                </a:cubicBezTo>
                <a:cubicBezTo>
                  <a:pt x="8294" y="167062"/>
                  <a:pt x="15810" y="167062"/>
                  <a:pt x="20438" y="162434"/>
                </a:cubicBezTo>
                <a:lnTo>
                  <a:pt x="71276" y="111560"/>
                </a:lnTo>
                <a:lnTo>
                  <a:pt x="122150" y="162397"/>
                </a:lnTo>
                <a:cubicBezTo>
                  <a:pt x="126778" y="167025"/>
                  <a:pt x="134294" y="167025"/>
                  <a:pt x="138922" y="162397"/>
                </a:cubicBezTo>
                <a:cubicBezTo>
                  <a:pt x="143551" y="157769"/>
                  <a:pt x="143551" y="150252"/>
                  <a:pt x="138922" y="145624"/>
                </a:cubicBezTo>
                <a:lnTo>
                  <a:pt x="88048" y="94787"/>
                </a:lnTo>
                <a:lnTo>
                  <a:pt x="138885" y="43913"/>
                </a:lnTo>
                <a:cubicBezTo>
                  <a:pt x="143514" y="39285"/>
                  <a:pt x="143514" y="31769"/>
                  <a:pt x="138885" y="27140"/>
                </a:cubicBezTo>
                <a:cubicBezTo>
                  <a:pt x="134257" y="22512"/>
                  <a:pt x="126741" y="22512"/>
                  <a:pt x="122113" y="27140"/>
                </a:cubicBezTo>
                <a:lnTo>
                  <a:pt x="71276" y="78014"/>
                </a:lnTo>
                <a:lnTo>
                  <a:pt x="20401" y="27177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983676" y="3649306"/>
            <a:ext cx="5225143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欠拟合风险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83676" y="4075848"/>
            <a:ext cx="5213294" cy="308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模型结构相对简单，容易出现欠拟合，特别是在复杂数据集上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9481" y="4620875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142181" y="0"/>
                </a:moveTo>
                <a:cubicBezTo>
                  <a:pt x="144736" y="0"/>
                  <a:pt x="147290" y="555"/>
                  <a:pt x="149623" y="1611"/>
                </a:cubicBezTo>
                <a:lnTo>
                  <a:pt x="254259" y="45987"/>
                </a:lnTo>
                <a:cubicBezTo>
                  <a:pt x="266478" y="51152"/>
                  <a:pt x="275586" y="63204"/>
                  <a:pt x="275531" y="77755"/>
                </a:cubicBezTo>
                <a:cubicBezTo>
                  <a:pt x="275253" y="132850"/>
                  <a:pt x="252593" y="233654"/>
                  <a:pt x="156899" y="279474"/>
                </a:cubicBezTo>
                <a:cubicBezTo>
                  <a:pt x="147624" y="283917"/>
                  <a:pt x="136849" y="283917"/>
                  <a:pt x="127574" y="279474"/>
                </a:cubicBezTo>
                <a:cubicBezTo>
                  <a:pt x="31824" y="233654"/>
                  <a:pt x="9220" y="132850"/>
                  <a:pt x="8942" y="77755"/>
                </a:cubicBezTo>
                <a:cubicBezTo>
                  <a:pt x="8886" y="63204"/>
                  <a:pt x="17995" y="51152"/>
                  <a:pt x="30213" y="45987"/>
                </a:cubicBezTo>
                <a:lnTo>
                  <a:pt x="134794" y="1611"/>
                </a:lnTo>
                <a:cubicBezTo>
                  <a:pt x="137127" y="555"/>
                  <a:pt x="139626" y="0"/>
                  <a:pt x="142181" y="0"/>
                </a:cubicBezTo>
                <a:close/>
                <a:moveTo>
                  <a:pt x="142181" y="37100"/>
                </a:moveTo>
                <a:lnTo>
                  <a:pt x="142181" y="247095"/>
                </a:lnTo>
                <a:cubicBezTo>
                  <a:pt x="218825" y="209994"/>
                  <a:pt x="239430" y="127796"/>
                  <a:pt x="239930" y="78588"/>
                </a:cubicBezTo>
                <a:lnTo>
                  <a:pt x="142181" y="37156"/>
                </a:lnTo>
                <a:lnTo>
                  <a:pt x="142181" y="3715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29388" y="4573481"/>
            <a:ext cx="15094857" cy="37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3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正则化实践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97633" y="5142204"/>
            <a:ext cx="7488187" cy="1943137"/>
          </a:xfrm>
          <a:custGeom>
            <a:avLst/>
            <a:gdLst/>
            <a:ahLst/>
            <a:cxnLst/>
            <a:rect l="l" t="t" r="r" b="b"/>
            <a:pathLst>
              <a:path w="7488187" h="1943137">
                <a:moveTo>
                  <a:pt x="47394" y="0"/>
                </a:moveTo>
                <a:lnTo>
                  <a:pt x="7393400" y="0"/>
                </a:lnTo>
                <a:cubicBezTo>
                  <a:pt x="7445749" y="0"/>
                  <a:pt x="7488187" y="42437"/>
                  <a:pt x="7488187" y="94786"/>
                </a:cubicBezTo>
                <a:lnTo>
                  <a:pt x="7488187" y="1848351"/>
                </a:lnTo>
                <a:cubicBezTo>
                  <a:pt x="7488187" y="1900700"/>
                  <a:pt x="7445749" y="1943137"/>
                  <a:pt x="7393400" y="1943137"/>
                </a:cubicBezTo>
                <a:lnTo>
                  <a:pt x="47394" y="1943137"/>
                </a:lnTo>
                <a:cubicBezTo>
                  <a:pt x="21219" y="1943137"/>
                  <a:pt x="0" y="1921918"/>
                  <a:pt x="0" y="1895743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97633" y="5142204"/>
            <a:ext cx="47394" cy="1943137"/>
          </a:xfrm>
          <a:custGeom>
            <a:avLst/>
            <a:gdLst/>
            <a:ahLst/>
            <a:cxnLst/>
            <a:rect l="l" t="t" r="r" b="b"/>
            <a:pathLst>
              <a:path w="47394" h="1943137">
                <a:moveTo>
                  <a:pt x="47394" y="0"/>
                </a:moveTo>
                <a:lnTo>
                  <a:pt x="47394" y="0"/>
                </a:lnTo>
                <a:lnTo>
                  <a:pt x="47394" y="1943137"/>
                </a:lnTo>
                <a:lnTo>
                  <a:pt x="47394" y="1943137"/>
                </a:lnTo>
                <a:cubicBezTo>
                  <a:pt x="21219" y="1943137"/>
                  <a:pt x="0" y="1921918"/>
                  <a:pt x="0" y="1895743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10904" y="5331778"/>
            <a:ext cx="7203825" cy="37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79" dirty="0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L1 </a:t>
            </a:r>
            <a:r>
              <a:rPr lang="en-US" sz="186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866" dirty="0" err="1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Lasso</a:t>
            </a:r>
            <a:r>
              <a:rPr lang="en-US" sz="1866" dirty="0" err="1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0904" y="5853108"/>
            <a:ext cx="7180128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倾向于产生</a:t>
            </a:r>
            <a:r>
              <a:rPr lang="en-US" sz="149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稀疏解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0904" y="6232257"/>
            <a:ext cx="7180128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使部分系数变为0，实现</a:t>
            </a:r>
            <a:r>
              <a:rPr lang="en-US" sz="149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特征选择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10904" y="6611405"/>
            <a:ext cx="7180128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自动筛选重要特征，降低模型复杂度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96469" y="5142204"/>
            <a:ext cx="7488187" cy="1943137"/>
          </a:xfrm>
          <a:custGeom>
            <a:avLst/>
            <a:gdLst/>
            <a:ahLst/>
            <a:cxnLst/>
            <a:rect l="l" t="t" r="r" b="b"/>
            <a:pathLst>
              <a:path w="7488187" h="1943137">
                <a:moveTo>
                  <a:pt x="47394" y="0"/>
                </a:moveTo>
                <a:lnTo>
                  <a:pt x="7393400" y="0"/>
                </a:lnTo>
                <a:cubicBezTo>
                  <a:pt x="7445749" y="0"/>
                  <a:pt x="7488187" y="42437"/>
                  <a:pt x="7488187" y="94786"/>
                </a:cubicBezTo>
                <a:lnTo>
                  <a:pt x="7488187" y="1848351"/>
                </a:lnTo>
                <a:cubicBezTo>
                  <a:pt x="7488187" y="1900700"/>
                  <a:pt x="7445749" y="1943137"/>
                  <a:pt x="7393400" y="1943137"/>
                </a:cubicBezTo>
                <a:lnTo>
                  <a:pt x="47394" y="1943137"/>
                </a:lnTo>
                <a:cubicBezTo>
                  <a:pt x="21219" y="1943137"/>
                  <a:pt x="0" y="1921918"/>
                  <a:pt x="0" y="1895743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296469" y="5142204"/>
            <a:ext cx="47394" cy="1943137"/>
          </a:xfrm>
          <a:custGeom>
            <a:avLst/>
            <a:gdLst/>
            <a:ahLst/>
            <a:cxnLst/>
            <a:rect l="l" t="t" r="r" b="b"/>
            <a:pathLst>
              <a:path w="47394" h="1943137">
                <a:moveTo>
                  <a:pt x="47394" y="0"/>
                </a:moveTo>
                <a:lnTo>
                  <a:pt x="47394" y="0"/>
                </a:lnTo>
                <a:lnTo>
                  <a:pt x="47394" y="1943137"/>
                </a:lnTo>
                <a:lnTo>
                  <a:pt x="47394" y="1943137"/>
                </a:lnTo>
                <a:cubicBezTo>
                  <a:pt x="21219" y="1943137"/>
                  <a:pt x="0" y="1921918"/>
                  <a:pt x="0" y="1895743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509741" y="5331778"/>
            <a:ext cx="7203825" cy="379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79" dirty="0">
                <a:solidFill>
                  <a:srgbClr val="1A1D21"/>
                </a:solidFill>
                <a:highlight>
                  <a:srgbClr val="E5A165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L2 </a:t>
            </a:r>
            <a:r>
              <a:rPr lang="en-US" sz="186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866" dirty="0" err="1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Ridge</a:t>
            </a:r>
            <a:r>
              <a:rPr lang="en-US" sz="1866" dirty="0" err="1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09741" y="5853108"/>
            <a:ext cx="7180128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倾向于</a:t>
            </a:r>
            <a:r>
              <a:rPr lang="en-US" sz="149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整体收缩系数</a:t>
            </a: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，很少严格为0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09741" y="6232257"/>
            <a:ext cx="7180128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提升数值稳定性，缓解</a:t>
            </a:r>
            <a:r>
              <a:rPr lang="en-US" sz="149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多重共线性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09741" y="6611405"/>
            <a:ext cx="7180128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• 在特征高度相关时更稳定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97633" y="7274915"/>
            <a:ext cx="15284431" cy="1090052"/>
          </a:xfrm>
          <a:custGeom>
            <a:avLst/>
            <a:gdLst/>
            <a:ahLst/>
            <a:cxnLst/>
            <a:rect l="l" t="t" r="r" b="b"/>
            <a:pathLst>
              <a:path w="15284431" h="1090052">
                <a:moveTo>
                  <a:pt x="47394" y="0"/>
                </a:moveTo>
                <a:lnTo>
                  <a:pt x="15189641" y="0"/>
                </a:lnTo>
                <a:cubicBezTo>
                  <a:pt x="15241992" y="0"/>
                  <a:pt x="15284431" y="42439"/>
                  <a:pt x="15284431" y="94791"/>
                </a:cubicBezTo>
                <a:lnTo>
                  <a:pt x="15284431" y="995262"/>
                </a:lnTo>
                <a:cubicBezTo>
                  <a:pt x="15284431" y="1047613"/>
                  <a:pt x="15241992" y="1090052"/>
                  <a:pt x="15189641" y="1090052"/>
                </a:cubicBezTo>
                <a:lnTo>
                  <a:pt x="47394" y="1090052"/>
                </a:lnTo>
                <a:cubicBezTo>
                  <a:pt x="21219" y="1090052"/>
                  <a:pt x="0" y="1068834"/>
                  <a:pt x="0" y="104265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497633" y="7274915"/>
            <a:ext cx="47394" cy="1090052"/>
          </a:xfrm>
          <a:custGeom>
            <a:avLst/>
            <a:gdLst/>
            <a:ahLst/>
            <a:cxnLst/>
            <a:rect l="l" t="t" r="r" b="b"/>
            <a:pathLst>
              <a:path w="47394" h="1090052">
                <a:moveTo>
                  <a:pt x="47394" y="0"/>
                </a:moveTo>
                <a:lnTo>
                  <a:pt x="47394" y="0"/>
                </a:lnTo>
                <a:lnTo>
                  <a:pt x="47394" y="1090052"/>
                </a:lnTo>
                <a:lnTo>
                  <a:pt x="47394" y="1090052"/>
                </a:lnTo>
                <a:cubicBezTo>
                  <a:pt x="21219" y="1090052"/>
                  <a:pt x="0" y="1068834"/>
                  <a:pt x="0" y="1042659"/>
                </a:cubicBezTo>
                <a:lnTo>
                  <a:pt x="0" y="47394"/>
                </a:lnTo>
                <a:cubicBezTo>
                  <a:pt x="0" y="21236"/>
                  <a:pt x="21236" y="0"/>
                  <a:pt x="47394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46449" y="7464490"/>
            <a:ext cx="284362" cy="284362"/>
          </a:xfrm>
          <a:custGeom>
            <a:avLst/>
            <a:gdLst/>
            <a:ahLst/>
            <a:cxnLst/>
            <a:rect l="l" t="t" r="r" b="b"/>
            <a:pathLst>
              <a:path w="284362" h="284362">
                <a:moveTo>
                  <a:pt x="17773" y="35545"/>
                </a:moveTo>
                <a:cubicBezTo>
                  <a:pt x="7942" y="35545"/>
                  <a:pt x="0" y="43487"/>
                  <a:pt x="0" y="53318"/>
                </a:cubicBezTo>
                <a:cubicBezTo>
                  <a:pt x="0" y="63148"/>
                  <a:pt x="7942" y="71090"/>
                  <a:pt x="17773" y="71090"/>
                </a:cubicBezTo>
                <a:lnTo>
                  <a:pt x="65925" y="71090"/>
                </a:lnTo>
                <a:cubicBezTo>
                  <a:pt x="72757" y="86808"/>
                  <a:pt x="88419" y="97749"/>
                  <a:pt x="106636" y="97749"/>
                </a:cubicBezTo>
                <a:cubicBezTo>
                  <a:pt x="124852" y="97749"/>
                  <a:pt x="140515" y="86808"/>
                  <a:pt x="147346" y="71090"/>
                </a:cubicBezTo>
                <a:lnTo>
                  <a:pt x="266589" y="71090"/>
                </a:lnTo>
                <a:cubicBezTo>
                  <a:pt x="276419" y="71090"/>
                  <a:pt x="284362" y="63148"/>
                  <a:pt x="284362" y="53318"/>
                </a:cubicBezTo>
                <a:cubicBezTo>
                  <a:pt x="284362" y="43487"/>
                  <a:pt x="276419" y="35545"/>
                  <a:pt x="266589" y="35545"/>
                </a:cubicBezTo>
                <a:lnTo>
                  <a:pt x="147346" y="35545"/>
                </a:lnTo>
                <a:cubicBezTo>
                  <a:pt x="140515" y="19828"/>
                  <a:pt x="124852" y="8886"/>
                  <a:pt x="106636" y="8886"/>
                </a:cubicBezTo>
                <a:cubicBezTo>
                  <a:pt x="88419" y="8886"/>
                  <a:pt x="72757" y="19828"/>
                  <a:pt x="65925" y="35545"/>
                </a:cubicBezTo>
                <a:lnTo>
                  <a:pt x="17773" y="35545"/>
                </a:lnTo>
                <a:close/>
                <a:moveTo>
                  <a:pt x="17773" y="124408"/>
                </a:moveTo>
                <a:cubicBezTo>
                  <a:pt x="7942" y="124408"/>
                  <a:pt x="0" y="132350"/>
                  <a:pt x="0" y="142181"/>
                </a:cubicBezTo>
                <a:cubicBezTo>
                  <a:pt x="0" y="152011"/>
                  <a:pt x="7942" y="159953"/>
                  <a:pt x="17773" y="159953"/>
                </a:cubicBezTo>
                <a:lnTo>
                  <a:pt x="154788" y="159953"/>
                </a:lnTo>
                <a:cubicBezTo>
                  <a:pt x="161620" y="175671"/>
                  <a:pt x="177282" y="186612"/>
                  <a:pt x="195499" y="186612"/>
                </a:cubicBezTo>
                <a:cubicBezTo>
                  <a:pt x="213715" y="186612"/>
                  <a:pt x="229378" y="175671"/>
                  <a:pt x="236209" y="159953"/>
                </a:cubicBezTo>
                <a:lnTo>
                  <a:pt x="266589" y="159953"/>
                </a:lnTo>
                <a:cubicBezTo>
                  <a:pt x="276419" y="159953"/>
                  <a:pt x="284362" y="152011"/>
                  <a:pt x="284362" y="142181"/>
                </a:cubicBezTo>
                <a:cubicBezTo>
                  <a:pt x="284362" y="132350"/>
                  <a:pt x="276419" y="124408"/>
                  <a:pt x="266589" y="124408"/>
                </a:cubicBezTo>
                <a:lnTo>
                  <a:pt x="236209" y="124408"/>
                </a:lnTo>
                <a:cubicBezTo>
                  <a:pt x="229378" y="108691"/>
                  <a:pt x="213715" y="97749"/>
                  <a:pt x="195499" y="97749"/>
                </a:cubicBezTo>
                <a:cubicBezTo>
                  <a:pt x="177282" y="97749"/>
                  <a:pt x="161620" y="108691"/>
                  <a:pt x="154788" y="124408"/>
                </a:cubicBezTo>
                <a:lnTo>
                  <a:pt x="17773" y="124408"/>
                </a:lnTo>
                <a:close/>
                <a:moveTo>
                  <a:pt x="17773" y="213271"/>
                </a:moveTo>
                <a:cubicBezTo>
                  <a:pt x="7942" y="213271"/>
                  <a:pt x="0" y="221213"/>
                  <a:pt x="0" y="231044"/>
                </a:cubicBezTo>
                <a:cubicBezTo>
                  <a:pt x="0" y="240874"/>
                  <a:pt x="7942" y="248816"/>
                  <a:pt x="17773" y="248816"/>
                </a:cubicBezTo>
                <a:lnTo>
                  <a:pt x="48153" y="248816"/>
                </a:lnTo>
                <a:cubicBezTo>
                  <a:pt x="54984" y="264534"/>
                  <a:pt x="70646" y="275475"/>
                  <a:pt x="88863" y="275475"/>
                </a:cubicBezTo>
                <a:cubicBezTo>
                  <a:pt x="107080" y="275475"/>
                  <a:pt x="122742" y="264534"/>
                  <a:pt x="129573" y="248816"/>
                </a:cubicBezTo>
                <a:lnTo>
                  <a:pt x="266589" y="248816"/>
                </a:lnTo>
                <a:cubicBezTo>
                  <a:pt x="276419" y="248816"/>
                  <a:pt x="284362" y="240874"/>
                  <a:pt x="284362" y="231044"/>
                </a:cubicBezTo>
                <a:cubicBezTo>
                  <a:pt x="284362" y="221213"/>
                  <a:pt x="276419" y="213271"/>
                  <a:pt x="266589" y="213271"/>
                </a:cubicBezTo>
                <a:lnTo>
                  <a:pt x="129573" y="213271"/>
                </a:lnTo>
                <a:cubicBezTo>
                  <a:pt x="122742" y="197553"/>
                  <a:pt x="107080" y="186612"/>
                  <a:pt x="88863" y="186612"/>
                </a:cubicBezTo>
                <a:cubicBezTo>
                  <a:pt x="70646" y="186612"/>
                  <a:pt x="54984" y="197553"/>
                  <a:pt x="48153" y="213271"/>
                </a:cubicBezTo>
                <a:lnTo>
                  <a:pt x="17773" y="213271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255930" y="7464490"/>
            <a:ext cx="12168303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9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sz="167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参数：正则化强度倒数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255930" y="7891032"/>
            <a:ext cx="6030834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sz="149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越小：</a:t>
            </a: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正则化越强，决策边界更平滑，系数更接近0，欠拟合风险增加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383865" y="7891032"/>
            <a:ext cx="6030834" cy="28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3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sz="149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越大：</a:t>
            </a:r>
            <a:r>
              <a:rPr lang="en-US" sz="149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正则化越弱，边界更贴合训练数据，过拟合风险增加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377" y="490377"/>
            <a:ext cx="15495916" cy="490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75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逻辑回归：实战案例与可视化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90377" y="1127867"/>
            <a:ext cx="980754" cy="49038"/>
          </a:xfrm>
          <a:custGeom>
            <a:avLst/>
            <a:gdLst/>
            <a:ahLst/>
            <a:cxnLst/>
            <a:rect l="l" t="t" r="r" b="b"/>
            <a:pathLst>
              <a:path w="980754" h="49038">
                <a:moveTo>
                  <a:pt x="0" y="0"/>
                </a:moveTo>
                <a:lnTo>
                  <a:pt x="980754" y="0"/>
                </a:lnTo>
                <a:lnTo>
                  <a:pt x="980754" y="49038"/>
                </a:lnTo>
                <a:lnTo>
                  <a:pt x="0" y="49038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27155" y="1422094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294226" y="18389"/>
                </a:moveTo>
                <a:cubicBezTo>
                  <a:pt x="294226" y="80510"/>
                  <a:pt x="250207" y="132344"/>
                  <a:pt x="191707" y="144470"/>
                </a:cubicBezTo>
                <a:cubicBezTo>
                  <a:pt x="187167" y="111082"/>
                  <a:pt x="172168" y="81027"/>
                  <a:pt x="150044" y="57753"/>
                </a:cubicBezTo>
                <a:cubicBezTo>
                  <a:pt x="173088" y="22986"/>
                  <a:pt x="212567" y="0"/>
                  <a:pt x="257448" y="0"/>
                </a:cubicBezTo>
                <a:lnTo>
                  <a:pt x="275837" y="0"/>
                </a:lnTo>
                <a:cubicBezTo>
                  <a:pt x="286009" y="0"/>
                  <a:pt x="294226" y="8218"/>
                  <a:pt x="294226" y="18389"/>
                </a:cubicBezTo>
                <a:close/>
                <a:moveTo>
                  <a:pt x="0" y="55167"/>
                </a:moveTo>
                <a:cubicBezTo>
                  <a:pt x="0" y="44996"/>
                  <a:pt x="8218" y="36778"/>
                  <a:pt x="18389" y="36778"/>
                </a:cubicBezTo>
                <a:lnTo>
                  <a:pt x="36778" y="36778"/>
                </a:lnTo>
                <a:cubicBezTo>
                  <a:pt x="107864" y="36778"/>
                  <a:pt x="165502" y="94417"/>
                  <a:pt x="165502" y="165502"/>
                </a:cubicBezTo>
                <a:lnTo>
                  <a:pt x="165502" y="275837"/>
                </a:lnTo>
                <a:cubicBezTo>
                  <a:pt x="165502" y="286009"/>
                  <a:pt x="157285" y="294226"/>
                  <a:pt x="147113" y="294226"/>
                </a:cubicBezTo>
                <a:cubicBezTo>
                  <a:pt x="136942" y="294226"/>
                  <a:pt x="128724" y="286009"/>
                  <a:pt x="128724" y="275837"/>
                </a:cubicBezTo>
                <a:lnTo>
                  <a:pt x="128724" y="183891"/>
                </a:lnTo>
                <a:cubicBezTo>
                  <a:pt x="57638" y="183891"/>
                  <a:pt x="0" y="126253"/>
                  <a:pt x="0" y="5516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58160" y="1373056"/>
            <a:ext cx="7220802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鸢尾花分类（二分类）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0377" y="1912471"/>
            <a:ext cx="7539548" cy="31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经典的机器学习入门案例，使用前两个特征进行二分类：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6507" y="2384459"/>
            <a:ext cx="7429213" cy="3077116"/>
          </a:xfrm>
          <a:custGeom>
            <a:avLst/>
            <a:gdLst/>
            <a:ahLst/>
            <a:cxnLst/>
            <a:rect l="l" t="t" r="r" b="b"/>
            <a:pathLst>
              <a:path w="7429213" h="3077116">
                <a:moveTo>
                  <a:pt x="98068" y="0"/>
                </a:moveTo>
                <a:lnTo>
                  <a:pt x="7331145" y="0"/>
                </a:lnTo>
                <a:cubicBezTo>
                  <a:pt x="7385306" y="0"/>
                  <a:pt x="7429213" y="43906"/>
                  <a:pt x="7429213" y="98068"/>
                </a:cubicBezTo>
                <a:lnTo>
                  <a:pt x="7429213" y="2979048"/>
                </a:lnTo>
                <a:cubicBezTo>
                  <a:pt x="7429213" y="3033210"/>
                  <a:pt x="7385306" y="3077116"/>
                  <a:pt x="7331145" y="3077116"/>
                </a:cubicBezTo>
                <a:lnTo>
                  <a:pt x="98068" y="3077116"/>
                </a:lnTo>
                <a:cubicBezTo>
                  <a:pt x="43906" y="3077116"/>
                  <a:pt x="0" y="3033210"/>
                  <a:pt x="0" y="2979048"/>
                </a:cubicBezTo>
                <a:lnTo>
                  <a:pt x="0" y="98068"/>
                </a:lnTo>
                <a:cubicBezTo>
                  <a:pt x="0" y="43906"/>
                  <a:pt x="43906" y="0"/>
                  <a:pt x="98068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9750" y="2537701"/>
            <a:ext cx="7208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1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数据加载与预处理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9750" y="2795149"/>
            <a:ext cx="7208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iris = load_iris()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9750" y="3052597"/>
            <a:ext cx="7208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 = iris.data[:, :2] </a:t>
            </a:r>
            <a:r>
              <a:rPr lang="en-US" sz="1351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前两个特征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750" y="3310045"/>
            <a:ext cx="7208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 = (iris.target != 0).astype(int)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750" y="3665569"/>
            <a:ext cx="7208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1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模型训练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9750" y="3923017"/>
            <a:ext cx="7208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 = LogisticRegression(penalty='l2', C=1.0)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9750" y="4180465"/>
            <a:ext cx="7208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model.fit(X_train, 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9750" y="4535988"/>
            <a:ext cx="7208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1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决策边界可视化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9750" y="4793436"/>
            <a:ext cx="7208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plt.contourf(xx, yy, Z, alpha=0.3)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9750" y="5050884"/>
            <a:ext cx="7208543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plt.scatter(X[:, 0], X[:, 1], c=y)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27155" y="5712893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0" y="73557"/>
                </a:moveTo>
                <a:lnTo>
                  <a:pt x="0" y="91946"/>
                </a:lnTo>
                <a:lnTo>
                  <a:pt x="294226" y="91946"/>
                </a:lnTo>
                <a:lnTo>
                  <a:pt x="294226" y="73557"/>
                </a:lnTo>
                <a:cubicBezTo>
                  <a:pt x="294226" y="53271"/>
                  <a:pt x="277733" y="36778"/>
                  <a:pt x="257448" y="36778"/>
                </a:cubicBezTo>
                <a:lnTo>
                  <a:pt x="36778" y="36778"/>
                </a:lnTo>
                <a:cubicBezTo>
                  <a:pt x="16493" y="36778"/>
                  <a:pt x="0" y="53271"/>
                  <a:pt x="0" y="73557"/>
                </a:cubicBezTo>
                <a:close/>
                <a:moveTo>
                  <a:pt x="0" y="119529"/>
                </a:moveTo>
                <a:lnTo>
                  <a:pt x="0" y="220670"/>
                </a:lnTo>
                <a:cubicBezTo>
                  <a:pt x="0" y="240955"/>
                  <a:pt x="16493" y="257448"/>
                  <a:pt x="36778" y="257448"/>
                </a:cubicBezTo>
                <a:lnTo>
                  <a:pt x="257448" y="257448"/>
                </a:lnTo>
                <a:cubicBezTo>
                  <a:pt x="277733" y="257448"/>
                  <a:pt x="294226" y="240955"/>
                  <a:pt x="294226" y="220670"/>
                </a:cubicBezTo>
                <a:lnTo>
                  <a:pt x="294226" y="119529"/>
                </a:lnTo>
                <a:lnTo>
                  <a:pt x="0" y="119529"/>
                </a:lnTo>
                <a:close/>
                <a:moveTo>
                  <a:pt x="36778" y="206878"/>
                </a:moveTo>
                <a:cubicBezTo>
                  <a:pt x="36778" y="199235"/>
                  <a:pt x="42927" y="193086"/>
                  <a:pt x="50570" y="193086"/>
                </a:cubicBezTo>
                <a:lnTo>
                  <a:pt x="78154" y="193086"/>
                </a:lnTo>
                <a:cubicBezTo>
                  <a:pt x="85797" y="193086"/>
                  <a:pt x="91946" y="199235"/>
                  <a:pt x="91946" y="206878"/>
                </a:cubicBezTo>
                <a:cubicBezTo>
                  <a:pt x="91946" y="214521"/>
                  <a:pt x="85797" y="220670"/>
                  <a:pt x="78154" y="220670"/>
                </a:cubicBezTo>
                <a:lnTo>
                  <a:pt x="50570" y="220670"/>
                </a:lnTo>
                <a:cubicBezTo>
                  <a:pt x="42927" y="220670"/>
                  <a:pt x="36778" y="214521"/>
                  <a:pt x="36778" y="206878"/>
                </a:cubicBezTo>
                <a:close/>
                <a:moveTo>
                  <a:pt x="119529" y="206878"/>
                </a:moveTo>
                <a:cubicBezTo>
                  <a:pt x="119529" y="199235"/>
                  <a:pt x="125678" y="193086"/>
                  <a:pt x="133321" y="193086"/>
                </a:cubicBezTo>
                <a:lnTo>
                  <a:pt x="170100" y="193086"/>
                </a:lnTo>
                <a:cubicBezTo>
                  <a:pt x="177743" y="193086"/>
                  <a:pt x="183891" y="199235"/>
                  <a:pt x="183891" y="206878"/>
                </a:cubicBezTo>
                <a:cubicBezTo>
                  <a:pt x="183891" y="214521"/>
                  <a:pt x="177743" y="220670"/>
                  <a:pt x="170100" y="220670"/>
                </a:cubicBezTo>
                <a:lnTo>
                  <a:pt x="133321" y="220670"/>
                </a:lnTo>
                <a:cubicBezTo>
                  <a:pt x="125678" y="220670"/>
                  <a:pt x="119529" y="214521"/>
                  <a:pt x="119529" y="206878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58160" y="5663855"/>
            <a:ext cx="7220802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信用卡欺诈检测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0377" y="6203270"/>
            <a:ext cx="7539548" cy="318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处理</a:t>
            </a:r>
            <a:r>
              <a:rPr lang="en-US" sz="1544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类别不平衡</a:t>
            </a:r>
            <a:r>
              <a:rPr lang="en-US" sz="154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问题的典型案例：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0377" y="6669128"/>
            <a:ext cx="392302" cy="392302"/>
          </a:xfrm>
          <a:custGeom>
            <a:avLst/>
            <a:gdLst/>
            <a:ahLst/>
            <a:cxnLst/>
            <a:rect l="l" t="t" r="r" b="b"/>
            <a:pathLst>
              <a:path w="392302" h="392302">
                <a:moveTo>
                  <a:pt x="196151" y="0"/>
                </a:moveTo>
                <a:lnTo>
                  <a:pt x="196151" y="0"/>
                </a:lnTo>
                <a:cubicBezTo>
                  <a:pt x="304409" y="0"/>
                  <a:pt x="392302" y="87892"/>
                  <a:pt x="392302" y="196151"/>
                </a:cubicBezTo>
                <a:lnTo>
                  <a:pt x="392302" y="196151"/>
                </a:lnTo>
                <a:cubicBezTo>
                  <a:pt x="392302" y="304409"/>
                  <a:pt x="304409" y="392302"/>
                  <a:pt x="196151" y="392302"/>
                </a:cubicBezTo>
                <a:lnTo>
                  <a:pt x="196151" y="392302"/>
                </a:lnTo>
                <a:cubicBezTo>
                  <a:pt x="87892" y="392302"/>
                  <a:pt x="0" y="304409"/>
                  <a:pt x="0" y="196151"/>
                </a:cubicBezTo>
                <a:lnTo>
                  <a:pt x="0" y="196151"/>
                </a:lnTo>
                <a:cubicBezTo>
                  <a:pt x="0" y="87892"/>
                  <a:pt x="87892" y="0"/>
                  <a:pt x="19615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52719" y="6742685"/>
            <a:ext cx="159373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9792" y="6669128"/>
            <a:ext cx="2329291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SMOTE</a:t>
            </a:r>
            <a:r>
              <a:rPr lang="en-US" sz="154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过采样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9792" y="6963354"/>
            <a:ext cx="2317032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生成少数类样本，平衡数据集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0377" y="7306618"/>
            <a:ext cx="392302" cy="392302"/>
          </a:xfrm>
          <a:custGeom>
            <a:avLst/>
            <a:gdLst/>
            <a:ahLst/>
            <a:cxnLst/>
            <a:rect l="l" t="t" r="r" b="b"/>
            <a:pathLst>
              <a:path w="392302" h="392302">
                <a:moveTo>
                  <a:pt x="196151" y="0"/>
                </a:moveTo>
                <a:lnTo>
                  <a:pt x="196151" y="0"/>
                </a:lnTo>
                <a:cubicBezTo>
                  <a:pt x="304409" y="0"/>
                  <a:pt x="392302" y="87892"/>
                  <a:pt x="392302" y="196151"/>
                </a:cubicBezTo>
                <a:lnTo>
                  <a:pt x="392302" y="196151"/>
                </a:lnTo>
                <a:cubicBezTo>
                  <a:pt x="392302" y="304409"/>
                  <a:pt x="304409" y="392302"/>
                  <a:pt x="196151" y="392302"/>
                </a:cubicBezTo>
                <a:lnTo>
                  <a:pt x="196151" y="392302"/>
                </a:lnTo>
                <a:cubicBezTo>
                  <a:pt x="87892" y="392302"/>
                  <a:pt x="0" y="304409"/>
                  <a:pt x="0" y="196151"/>
                </a:cubicBezTo>
                <a:lnTo>
                  <a:pt x="0" y="196151"/>
                </a:lnTo>
                <a:cubicBezTo>
                  <a:pt x="0" y="87892"/>
                  <a:pt x="87892" y="0"/>
                  <a:pt x="19615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38256" y="7380175"/>
            <a:ext cx="183891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9792" y="7306618"/>
            <a:ext cx="1986027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调整类别权重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29792" y="7600845"/>
            <a:ext cx="1973768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class_weight='balanced'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90377" y="7944109"/>
            <a:ext cx="392302" cy="392302"/>
          </a:xfrm>
          <a:custGeom>
            <a:avLst/>
            <a:gdLst/>
            <a:ahLst/>
            <a:cxnLst/>
            <a:rect l="l" t="t" r="r" b="b"/>
            <a:pathLst>
              <a:path w="392302" h="392302">
                <a:moveTo>
                  <a:pt x="196151" y="0"/>
                </a:moveTo>
                <a:lnTo>
                  <a:pt x="196151" y="0"/>
                </a:lnTo>
                <a:cubicBezTo>
                  <a:pt x="304409" y="0"/>
                  <a:pt x="392302" y="87892"/>
                  <a:pt x="392302" y="196151"/>
                </a:cubicBezTo>
                <a:lnTo>
                  <a:pt x="392302" y="196151"/>
                </a:lnTo>
                <a:cubicBezTo>
                  <a:pt x="392302" y="304409"/>
                  <a:pt x="304409" y="392302"/>
                  <a:pt x="196151" y="392302"/>
                </a:cubicBezTo>
                <a:lnTo>
                  <a:pt x="196151" y="392302"/>
                </a:lnTo>
                <a:cubicBezTo>
                  <a:pt x="87892" y="392302"/>
                  <a:pt x="0" y="304409"/>
                  <a:pt x="0" y="196151"/>
                </a:cubicBezTo>
                <a:lnTo>
                  <a:pt x="0" y="196151"/>
                </a:lnTo>
                <a:cubicBezTo>
                  <a:pt x="0" y="87892"/>
                  <a:pt x="87892" y="0"/>
                  <a:pt x="19615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36054" y="8017665"/>
            <a:ext cx="183891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9792" y="7944109"/>
            <a:ext cx="1471131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ROC</a:t>
            </a:r>
            <a:r>
              <a:rPr lang="en-US" sz="154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曲线评估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29792" y="8238335"/>
            <a:ext cx="1458872" cy="24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1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综合评估模型性能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62270" y="1422094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18389" y="18389"/>
                </a:moveTo>
                <a:cubicBezTo>
                  <a:pt x="28561" y="18389"/>
                  <a:pt x="36778" y="26607"/>
                  <a:pt x="36778" y="36778"/>
                </a:cubicBezTo>
                <a:lnTo>
                  <a:pt x="36778" y="229864"/>
                </a:lnTo>
                <a:cubicBezTo>
                  <a:pt x="36778" y="234921"/>
                  <a:pt x="40916" y="239059"/>
                  <a:pt x="45973" y="239059"/>
                </a:cubicBezTo>
                <a:lnTo>
                  <a:pt x="275837" y="239059"/>
                </a:lnTo>
                <a:cubicBezTo>
                  <a:pt x="286009" y="239059"/>
                  <a:pt x="294226" y="247276"/>
                  <a:pt x="294226" y="257448"/>
                </a:cubicBezTo>
                <a:cubicBezTo>
                  <a:pt x="294226" y="267619"/>
                  <a:pt x="286009" y="275837"/>
                  <a:pt x="275837" y="275837"/>
                </a:cubicBezTo>
                <a:lnTo>
                  <a:pt x="45973" y="275837"/>
                </a:lnTo>
                <a:cubicBezTo>
                  <a:pt x="20573" y="275837"/>
                  <a:pt x="0" y="255264"/>
                  <a:pt x="0" y="229864"/>
                </a:cubicBezTo>
                <a:lnTo>
                  <a:pt x="0" y="36778"/>
                </a:lnTo>
                <a:cubicBezTo>
                  <a:pt x="0" y="26607"/>
                  <a:pt x="8218" y="18389"/>
                  <a:pt x="18389" y="18389"/>
                </a:cubicBezTo>
                <a:close/>
                <a:moveTo>
                  <a:pt x="137919" y="55167"/>
                </a:moveTo>
                <a:cubicBezTo>
                  <a:pt x="141769" y="55167"/>
                  <a:pt x="145447" y="56776"/>
                  <a:pt x="148090" y="59650"/>
                </a:cubicBezTo>
                <a:lnTo>
                  <a:pt x="188948" y="104186"/>
                </a:lnTo>
                <a:lnTo>
                  <a:pt x="215498" y="77579"/>
                </a:lnTo>
                <a:cubicBezTo>
                  <a:pt x="220900" y="72177"/>
                  <a:pt x="229634" y="72177"/>
                  <a:pt x="234979" y="77579"/>
                </a:cubicBezTo>
                <a:lnTo>
                  <a:pt x="271757" y="114357"/>
                </a:lnTo>
                <a:cubicBezTo>
                  <a:pt x="274343" y="116943"/>
                  <a:pt x="275780" y="120449"/>
                  <a:pt x="275780" y="124127"/>
                </a:cubicBezTo>
                <a:lnTo>
                  <a:pt x="275780" y="188489"/>
                </a:lnTo>
                <a:cubicBezTo>
                  <a:pt x="275780" y="196132"/>
                  <a:pt x="269631" y="202281"/>
                  <a:pt x="261988" y="202281"/>
                </a:cubicBezTo>
                <a:lnTo>
                  <a:pt x="87291" y="202281"/>
                </a:lnTo>
                <a:cubicBezTo>
                  <a:pt x="79648" y="202281"/>
                  <a:pt x="73499" y="196132"/>
                  <a:pt x="73499" y="188489"/>
                </a:cubicBezTo>
                <a:lnTo>
                  <a:pt x="73499" y="124127"/>
                </a:lnTo>
                <a:cubicBezTo>
                  <a:pt x="73499" y="120679"/>
                  <a:pt x="74821" y="117346"/>
                  <a:pt x="77119" y="114817"/>
                </a:cubicBezTo>
                <a:lnTo>
                  <a:pt x="127690" y="59650"/>
                </a:lnTo>
                <a:cubicBezTo>
                  <a:pt x="130276" y="56776"/>
                  <a:pt x="134011" y="55167"/>
                  <a:pt x="137861" y="5516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93275" y="1373056"/>
            <a:ext cx="7220802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决策边界可视化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62270" y="5624688"/>
            <a:ext cx="294226" cy="294226"/>
          </a:xfrm>
          <a:custGeom>
            <a:avLst/>
            <a:gdLst/>
            <a:ahLst/>
            <a:cxnLst/>
            <a:rect l="l" t="t" r="r" b="b"/>
            <a:pathLst>
              <a:path w="294226" h="294226">
                <a:moveTo>
                  <a:pt x="18389" y="18389"/>
                </a:moveTo>
                <a:cubicBezTo>
                  <a:pt x="28561" y="18389"/>
                  <a:pt x="36778" y="26607"/>
                  <a:pt x="36778" y="36778"/>
                </a:cubicBezTo>
                <a:lnTo>
                  <a:pt x="36778" y="229864"/>
                </a:lnTo>
                <a:cubicBezTo>
                  <a:pt x="36778" y="234921"/>
                  <a:pt x="40916" y="239059"/>
                  <a:pt x="45973" y="239059"/>
                </a:cubicBezTo>
                <a:lnTo>
                  <a:pt x="275837" y="239059"/>
                </a:lnTo>
                <a:cubicBezTo>
                  <a:pt x="286009" y="239059"/>
                  <a:pt x="294226" y="247276"/>
                  <a:pt x="294226" y="257448"/>
                </a:cubicBezTo>
                <a:cubicBezTo>
                  <a:pt x="294226" y="267619"/>
                  <a:pt x="286009" y="275837"/>
                  <a:pt x="275837" y="275837"/>
                </a:cubicBezTo>
                <a:lnTo>
                  <a:pt x="45973" y="275837"/>
                </a:lnTo>
                <a:cubicBezTo>
                  <a:pt x="20573" y="275837"/>
                  <a:pt x="0" y="255264"/>
                  <a:pt x="0" y="229864"/>
                </a:cubicBezTo>
                <a:lnTo>
                  <a:pt x="0" y="36778"/>
                </a:lnTo>
                <a:cubicBezTo>
                  <a:pt x="0" y="26607"/>
                  <a:pt x="8218" y="18389"/>
                  <a:pt x="18389" y="18389"/>
                </a:cubicBezTo>
                <a:close/>
                <a:moveTo>
                  <a:pt x="73557" y="55167"/>
                </a:moveTo>
                <a:cubicBezTo>
                  <a:pt x="73557" y="44996"/>
                  <a:pt x="81774" y="36778"/>
                  <a:pt x="91946" y="36778"/>
                </a:cubicBezTo>
                <a:lnTo>
                  <a:pt x="202281" y="36778"/>
                </a:lnTo>
                <a:cubicBezTo>
                  <a:pt x="212452" y="36778"/>
                  <a:pt x="220670" y="44996"/>
                  <a:pt x="220670" y="55167"/>
                </a:cubicBezTo>
                <a:cubicBezTo>
                  <a:pt x="220670" y="65339"/>
                  <a:pt x="212452" y="73557"/>
                  <a:pt x="202281" y="73557"/>
                </a:cubicBezTo>
                <a:lnTo>
                  <a:pt x="91946" y="73557"/>
                </a:lnTo>
                <a:cubicBezTo>
                  <a:pt x="81774" y="73557"/>
                  <a:pt x="73557" y="65339"/>
                  <a:pt x="73557" y="55167"/>
                </a:cubicBezTo>
                <a:close/>
                <a:moveTo>
                  <a:pt x="91946" y="101140"/>
                </a:moveTo>
                <a:lnTo>
                  <a:pt x="165502" y="101140"/>
                </a:lnTo>
                <a:cubicBezTo>
                  <a:pt x="175674" y="101140"/>
                  <a:pt x="183891" y="109358"/>
                  <a:pt x="183891" y="119529"/>
                </a:cubicBezTo>
                <a:cubicBezTo>
                  <a:pt x="183891" y="129701"/>
                  <a:pt x="175674" y="137919"/>
                  <a:pt x="165502" y="137919"/>
                </a:cubicBezTo>
                <a:lnTo>
                  <a:pt x="91946" y="137919"/>
                </a:lnTo>
                <a:cubicBezTo>
                  <a:pt x="81774" y="137919"/>
                  <a:pt x="73557" y="129701"/>
                  <a:pt x="73557" y="119529"/>
                </a:cubicBezTo>
                <a:cubicBezTo>
                  <a:pt x="73557" y="109358"/>
                  <a:pt x="81774" y="101140"/>
                  <a:pt x="91946" y="101140"/>
                </a:cubicBezTo>
                <a:close/>
                <a:moveTo>
                  <a:pt x="91946" y="165502"/>
                </a:moveTo>
                <a:lnTo>
                  <a:pt x="239059" y="165502"/>
                </a:lnTo>
                <a:cubicBezTo>
                  <a:pt x="249230" y="165502"/>
                  <a:pt x="257448" y="173720"/>
                  <a:pt x="257448" y="183891"/>
                </a:cubicBezTo>
                <a:cubicBezTo>
                  <a:pt x="257448" y="194063"/>
                  <a:pt x="249230" y="202281"/>
                  <a:pt x="239059" y="202281"/>
                </a:cubicBezTo>
                <a:lnTo>
                  <a:pt x="91946" y="202281"/>
                </a:lnTo>
                <a:cubicBezTo>
                  <a:pt x="81774" y="202281"/>
                  <a:pt x="73557" y="194063"/>
                  <a:pt x="73557" y="183891"/>
                </a:cubicBezTo>
                <a:cubicBezTo>
                  <a:pt x="73557" y="173720"/>
                  <a:pt x="81774" y="165502"/>
                  <a:pt x="91946" y="16550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693275" y="5575651"/>
            <a:ext cx="7220802" cy="392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评估指标解读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25492" y="6115065"/>
            <a:ext cx="2378329" cy="980754"/>
          </a:xfrm>
          <a:custGeom>
            <a:avLst/>
            <a:gdLst/>
            <a:ahLst/>
            <a:cxnLst/>
            <a:rect l="l" t="t" r="r" b="b"/>
            <a:pathLst>
              <a:path w="2378329" h="980754">
                <a:moveTo>
                  <a:pt x="98075" y="0"/>
                </a:moveTo>
                <a:lnTo>
                  <a:pt x="2280253" y="0"/>
                </a:lnTo>
                <a:cubicBezTo>
                  <a:pt x="2334419" y="0"/>
                  <a:pt x="2378329" y="43910"/>
                  <a:pt x="2378329" y="98075"/>
                </a:cubicBezTo>
                <a:lnTo>
                  <a:pt x="2378329" y="882679"/>
                </a:lnTo>
                <a:cubicBezTo>
                  <a:pt x="2378329" y="936844"/>
                  <a:pt x="2334419" y="980754"/>
                  <a:pt x="2280253" y="980754"/>
                </a:cubicBezTo>
                <a:lnTo>
                  <a:pt x="98075" y="980754"/>
                </a:lnTo>
                <a:cubicBezTo>
                  <a:pt x="43910" y="980754"/>
                  <a:pt x="0" y="936844"/>
                  <a:pt x="0" y="882679"/>
                </a:cubicBezTo>
                <a:lnTo>
                  <a:pt x="0" y="98075"/>
                </a:lnTo>
                <a:cubicBezTo>
                  <a:pt x="0" y="43946"/>
                  <a:pt x="43946" y="0"/>
                  <a:pt x="9807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423567" y="6262179"/>
            <a:ext cx="2182178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Accuracy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411308" y="6605443"/>
            <a:ext cx="2206697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3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整体准确率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855435" y="6115065"/>
            <a:ext cx="2378329" cy="980754"/>
          </a:xfrm>
          <a:custGeom>
            <a:avLst/>
            <a:gdLst/>
            <a:ahLst/>
            <a:cxnLst/>
            <a:rect l="l" t="t" r="r" b="b"/>
            <a:pathLst>
              <a:path w="2378329" h="980754">
                <a:moveTo>
                  <a:pt x="98075" y="0"/>
                </a:moveTo>
                <a:lnTo>
                  <a:pt x="2280253" y="0"/>
                </a:lnTo>
                <a:cubicBezTo>
                  <a:pt x="2334419" y="0"/>
                  <a:pt x="2378329" y="43910"/>
                  <a:pt x="2378329" y="98075"/>
                </a:cubicBezTo>
                <a:lnTo>
                  <a:pt x="2378329" y="882679"/>
                </a:lnTo>
                <a:cubicBezTo>
                  <a:pt x="2378329" y="936844"/>
                  <a:pt x="2334419" y="980754"/>
                  <a:pt x="2280253" y="980754"/>
                </a:cubicBezTo>
                <a:lnTo>
                  <a:pt x="98075" y="980754"/>
                </a:lnTo>
                <a:cubicBezTo>
                  <a:pt x="43910" y="980754"/>
                  <a:pt x="0" y="936844"/>
                  <a:pt x="0" y="882679"/>
                </a:cubicBezTo>
                <a:lnTo>
                  <a:pt x="0" y="98075"/>
                </a:lnTo>
                <a:cubicBezTo>
                  <a:pt x="0" y="43946"/>
                  <a:pt x="43946" y="0"/>
                  <a:pt x="98075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0953511" y="6262179"/>
            <a:ext cx="2182178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Precision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941251" y="6605443"/>
            <a:ext cx="2206697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3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精确率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3385379" y="6115065"/>
            <a:ext cx="2378329" cy="980754"/>
          </a:xfrm>
          <a:custGeom>
            <a:avLst/>
            <a:gdLst/>
            <a:ahLst/>
            <a:cxnLst/>
            <a:rect l="l" t="t" r="r" b="b"/>
            <a:pathLst>
              <a:path w="2378329" h="980754">
                <a:moveTo>
                  <a:pt x="98075" y="0"/>
                </a:moveTo>
                <a:lnTo>
                  <a:pt x="2280253" y="0"/>
                </a:lnTo>
                <a:cubicBezTo>
                  <a:pt x="2334419" y="0"/>
                  <a:pt x="2378329" y="43910"/>
                  <a:pt x="2378329" y="98075"/>
                </a:cubicBezTo>
                <a:lnTo>
                  <a:pt x="2378329" y="882679"/>
                </a:lnTo>
                <a:cubicBezTo>
                  <a:pt x="2378329" y="936844"/>
                  <a:pt x="2334419" y="980754"/>
                  <a:pt x="2280253" y="980754"/>
                </a:cubicBezTo>
                <a:lnTo>
                  <a:pt x="98075" y="980754"/>
                </a:lnTo>
                <a:cubicBezTo>
                  <a:pt x="43910" y="980754"/>
                  <a:pt x="0" y="936844"/>
                  <a:pt x="0" y="882679"/>
                </a:cubicBezTo>
                <a:lnTo>
                  <a:pt x="0" y="98075"/>
                </a:lnTo>
                <a:cubicBezTo>
                  <a:pt x="0" y="43946"/>
                  <a:pt x="43946" y="0"/>
                  <a:pt x="98075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3483454" y="6262179"/>
            <a:ext cx="2182178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44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Recall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3471195" y="6605443"/>
            <a:ext cx="2206697" cy="343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31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召回率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25492" y="7242933"/>
            <a:ext cx="7527288" cy="563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1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在信用卡欺诈检测等不平衡场景中，</a:t>
            </a:r>
            <a:r>
              <a:rPr lang="en-US" sz="1351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Recall</a:t>
            </a:r>
            <a:r>
              <a:rPr lang="en-US" sz="1351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（召回率）尤为重要，因为漏检欺诈交易的成本远高于误检正常交易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50011" y="7996887"/>
            <a:ext cx="7416953" cy="980754"/>
          </a:xfrm>
          <a:custGeom>
            <a:avLst/>
            <a:gdLst/>
            <a:ahLst/>
            <a:cxnLst/>
            <a:rect l="l" t="t" r="r" b="b"/>
            <a:pathLst>
              <a:path w="7416953" h="980754">
                <a:moveTo>
                  <a:pt x="49038" y="0"/>
                </a:moveTo>
                <a:lnTo>
                  <a:pt x="7318878" y="0"/>
                </a:lnTo>
                <a:cubicBezTo>
                  <a:pt x="7373043" y="0"/>
                  <a:pt x="7416953" y="43910"/>
                  <a:pt x="7416953" y="98075"/>
                </a:cubicBezTo>
                <a:lnTo>
                  <a:pt x="7416953" y="882679"/>
                </a:lnTo>
                <a:cubicBezTo>
                  <a:pt x="7416953" y="936844"/>
                  <a:pt x="7373043" y="980754"/>
                  <a:pt x="7318878" y="980754"/>
                </a:cubicBezTo>
                <a:lnTo>
                  <a:pt x="49038" y="980754"/>
                </a:lnTo>
                <a:cubicBezTo>
                  <a:pt x="21955" y="980754"/>
                  <a:pt x="0" y="958799"/>
                  <a:pt x="0" y="931716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350011" y="7996887"/>
            <a:ext cx="49038" cy="980754"/>
          </a:xfrm>
          <a:custGeom>
            <a:avLst/>
            <a:gdLst/>
            <a:ahLst/>
            <a:cxnLst/>
            <a:rect l="l" t="t" r="r" b="b"/>
            <a:pathLst>
              <a:path w="49038" h="980754">
                <a:moveTo>
                  <a:pt x="49038" y="0"/>
                </a:moveTo>
                <a:lnTo>
                  <a:pt x="49038" y="0"/>
                </a:lnTo>
                <a:lnTo>
                  <a:pt x="49038" y="980754"/>
                </a:lnTo>
                <a:lnTo>
                  <a:pt x="49038" y="980754"/>
                </a:lnTo>
                <a:cubicBezTo>
                  <a:pt x="21955" y="980754"/>
                  <a:pt x="0" y="958799"/>
                  <a:pt x="0" y="931716"/>
                </a:cubicBezTo>
                <a:lnTo>
                  <a:pt x="0" y="49038"/>
                </a:lnTo>
                <a:cubicBezTo>
                  <a:pt x="0" y="21973"/>
                  <a:pt x="21973" y="0"/>
                  <a:pt x="49038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595199" y="8389189"/>
            <a:ext cx="147113" cy="196151"/>
          </a:xfrm>
          <a:custGeom>
            <a:avLst/>
            <a:gdLst/>
            <a:ahLst/>
            <a:cxnLst/>
            <a:rect l="l" t="t" r="r" b="b"/>
            <a:pathLst>
              <a:path w="147113" h="196151">
                <a:moveTo>
                  <a:pt x="112212" y="147113"/>
                </a:moveTo>
                <a:cubicBezTo>
                  <a:pt x="115009" y="138570"/>
                  <a:pt x="120602" y="130831"/>
                  <a:pt x="126923" y="124165"/>
                </a:cubicBezTo>
                <a:cubicBezTo>
                  <a:pt x="139451" y="110986"/>
                  <a:pt x="147113" y="93172"/>
                  <a:pt x="147113" y="73557"/>
                </a:cubicBezTo>
                <a:cubicBezTo>
                  <a:pt x="147113" y="32947"/>
                  <a:pt x="114166" y="0"/>
                  <a:pt x="73557" y="0"/>
                </a:cubicBezTo>
                <a:cubicBezTo>
                  <a:pt x="32947" y="0"/>
                  <a:pt x="0" y="32947"/>
                  <a:pt x="0" y="73557"/>
                </a:cubicBezTo>
                <a:cubicBezTo>
                  <a:pt x="0" y="93172"/>
                  <a:pt x="7662" y="110986"/>
                  <a:pt x="20190" y="124165"/>
                </a:cubicBezTo>
                <a:cubicBezTo>
                  <a:pt x="26511" y="130831"/>
                  <a:pt x="32143" y="138570"/>
                  <a:pt x="34901" y="147113"/>
                </a:cubicBezTo>
                <a:lnTo>
                  <a:pt x="112174" y="147113"/>
                </a:lnTo>
                <a:close/>
                <a:moveTo>
                  <a:pt x="110335" y="165502"/>
                </a:moveTo>
                <a:lnTo>
                  <a:pt x="36778" y="165502"/>
                </a:lnTo>
                <a:lnTo>
                  <a:pt x="36778" y="171632"/>
                </a:lnTo>
                <a:cubicBezTo>
                  <a:pt x="36778" y="188565"/>
                  <a:pt x="50494" y="202281"/>
                  <a:pt x="67427" y="202281"/>
                </a:cubicBezTo>
                <a:lnTo>
                  <a:pt x="79686" y="202281"/>
                </a:lnTo>
                <a:cubicBezTo>
                  <a:pt x="96620" y="202281"/>
                  <a:pt x="110335" y="188565"/>
                  <a:pt x="110335" y="171632"/>
                </a:cubicBezTo>
                <a:lnTo>
                  <a:pt x="110335" y="165502"/>
                </a:lnTo>
                <a:close/>
                <a:moveTo>
                  <a:pt x="70492" y="42908"/>
                </a:moveTo>
                <a:cubicBezTo>
                  <a:pt x="55244" y="42908"/>
                  <a:pt x="42908" y="55244"/>
                  <a:pt x="42908" y="70492"/>
                </a:cubicBezTo>
                <a:cubicBezTo>
                  <a:pt x="42908" y="75587"/>
                  <a:pt x="38809" y="79686"/>
                  <a:pt x="33713" y="79686"/>
                </a:cubicBezTo>
                <a:cubicBezTo>
                  <a:pt x="28618" y="79686"/>
                  <a:pt x="24519" y="75587"/>
                  <a:pt x="24519" y="70492"/>
                </a:cubicBezTo>
                <a:cubicBezTo>
                  <a:pt x="24519" y="45092"/>
                  <a:pt x="45092" y="24519"/>
                  <a:pt x="70492" y="24519"/>
                </a:cubicBezTo>
                <a:cubicBezTo>
                  <a:pt x="75587" y="24519"/>
                  <a:pt x="79686" y="28618"/>
                  <a:pt x="79686" y="33713"/>
                </a:cubicBezTo>
                <a:cubicBezTo>
                  <a:pt x="79686" y="38809"/>
                  <a:pt x="75587" y="42908"/>
                  <a:pt x="70492" y="42908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913944" y="8193038"/>
            <a:ext cx="6754944" cy="58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44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实战技巧：</a:t>
            </a:r>
            <a:r>
              <a:rPr lang="en-US" sz="154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处理不平衡数据时，优先使用精确率、召回率、</a:t>
            </a:r>
            <a:r>
              <a:rPr lang="en-US" sz="15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F1-score</a:t>
            </a:r>
            <a:r>
              <a:rPr lang="en-US" sz="154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</a:t>
            </a:r>
            <a:r>
              <a:rPr lang="en-US" sz="15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ROC-AUC</a:t>
            </a:r>
            <a:r>
              <a:rPr lang="en-US" sz="154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，而非单纯准确率</a:t>
            </a:r>
            <a:endParaRPr lang="en-US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45BA2A-5EEB-468D-ACFC-03FC4C229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111" y="1872729"/>
            <a:ext cx="4498975" cy="357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5254" y="485254"/>
            <a:ext cx="15503857" cy="48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3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逻辑回归：代码实现与对比思考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85254" y="1116084"/>
            <a:ext cx="970507" cy="48525"/>
          </a:xfrm>
          <a:custGeom>
            <a:avLst/>
            <a:gdLst/>
            <a:ahLst/>
            <a:cxnLst/>
            <a:rect l="l" t="t" r="r" b="b"/>
            <a:pathLst>
              <a:path w="970507" h="48525">
                <a:moveTo>
                  <a:pt x="0" y="0"/>
                </a:moveTo>
                <a:lnTo>
                  <a:pt x="970507" y="0"/>
                </a:lnTo>
                <a:lnTo>
                  <a:pt x="970507" y="48525"/>
                </a:lnTo>
                <a:lnTo>
                  <a:pt x="0" y="48525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3451" y="1407236"/>
            <a:ext cx="327546" cy="291152"/>
          </a:xfrm>
          <a:custGeom>
            <a:avLst/>
            <a:gdLst/>
            <a:ahLst/>
            <a:cxnLst/>
            <a:rect l="l" t="t" r="r" b="b"/>
            <a:pathLst>
              <a:path w="327546" h="291152">
                <a:moveTo>
                  <a:pt x="205171" y="682"/>
                </a:moveTo>
                <a:cubicBezTo>
                  <a:pt x="195504" y="-2104"/>
                  <a:pt x="185439" y="3526"/>
                  <a:pt x="182653" y="13193"/>
                </a:cubicBezTo>
                <a:lnTo>
                  <a:pt x="109864" y="267951"/>
                </a:lnTo>
                <a:cubicBezTo>
                  <a:pt x="107078" y="277618"/>
                  <a:pt x="112708" y="287683"/>
                  <a:pt x="122375" y="290470"/>
                </a:cubicBezTo>
                <a:cubicBezTo>
                  <a:pt x="132042" y="293256"/>
                  <a:pt x="142107" y="287627"/>
                  <a:pt x="144894" y="277959"/>
                </a:cubicBezTo>
                <a:lnTo>
                  <a:pt x="217682" y="23201"/>
                </a:lnTo>
                <a:cubicBezTo>
                  <a:pt x="220468" y="13534"/>
                  <a:pt x="214839" y="3469"/>
                  <a:pt x="205171" y="682"/>
                </a:cubicBezTo>
                <a:close/>
                <a:moveTo>
                  <a:pt x="241907" y="78077"/>
                </a:moveTo>
                <a:cubicBezTo>
                  <a:pt x="234798" y="85185"/>
                  <a:pt x="234798" y="96729"/>
                  <a:pt x="241907" y="103837"/>
                </a:cubicBezTo>
                <a:lnTo>
                  <a:pt x="283646" y="145576"/>
                </a:lnTo>
                <a:lnTo>
                  <a:pt x="241907" y="187316"/>
                </a:lnTo>
                <a:cubicBezTo>
                  <a:pt x="234798" y="194424"/>
                  <a:pt x="234798" y="205967"/>
                  <a:pt x="241907" y="213076"/>
                </a:cubicBezTo>
                <a:cubicBezTo>
                  <a:pt x="249015" y="220184"/>
                  <a:pt x="260559" y="220184"/>
                  <a:pt x="267667" y="213076"/>
                </a:cubicBezTo>
                <a:lnTo>
                  <a:pt x="322258" y="158485"/>
                </a:lnTo>
                <a:cubicBezTo>
                  <a:pt x="329366" y="151376"/>
                  <a:pt x="329366" y="139833"/>
                  <a:pt x="322258" y="132724"/>
                </a:cubicBezTo>
                <a:lnTo>
                  <a:pt x="267667" y="78133"/>
                </a:lnTo>
                <a:cubicBezTo>
                  <a:pt x="260559" y="71025"/>
                  <a:pt x="249015" y="71025"/>
                  <a:pt x="241907" y="78133"/>
                </a:cubicBezTo>
                <a:close/>
                <a:moveTo>
                  <a:pt x="85697" y="78077"/>
                </a:moveTo>
                <a:cubicBezTo>
                  <a:pt x="78588" y="70968"/>
                  <a:pt x="67045" y="70968"/>
                  <a:pt x="59936" y="78077"/>
                </a:cubicBezTo>
                <a:lnTo>
                  <a:pt x="5345" y="132668"/>
                </a:lnTo>
                <a:cubicBezTo>
                  <a:pt x="-1763" y="139776"/>
                  <a:pt x="-1763" y="151320"/>
                  <a:pt x="5345" y="158428"/>
                </a:cubicBezTo>
                <a:lnTo>
                  <a:pt x="59936" y="213019"/>
                </a:lnTo>
                <a:cubicBezTo>
                  <a:pt x="67045" y="220127"/>
                  <a:pt x="78588" y="220127"/>
                  <a:pt x="85697" y="213019"/>
                </a:cubicBezTo>
                <a:cubicBezTo>
                  <a:pt x="92805" y="205911"/>
                  <a:pt x="92805" y="194367"/>
                  <a:pt x="85697" y="187259"/>
                </a:cubicBezTo>
                <a:lnTo>
                  <a:pt x="43957" y="145576"/>
                </a:lnTo>
                <a:lnTo>
                  <a:pt x="85640" y="103837"/>
                </a:lnTo>
                <a:cubicBezTo>
                  <a:pt x="92748" y="96729"/>
                  <a:pt x="92748" y="85185"/>
                  <a:pt x="85640" y="7807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49194" y="1358710"/>
            <a:ext cx="7230281" cy="38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9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核心代码实现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319" y="1947081"/>
            <a:ext cx="7436513" cy="5592549"/>
          </a:xfrm>
          <a:custGeom>
            <a:avLst/>
            <a:gdLst/>
            <a:ahLst/>
            <a:cxnLst/>
            <a:rect l="l" t="t" r="r" b="b"/>
            <a:pathLst>
              <a:path w="7436513" h="5592549">
                <a:moveTo>
                  <a:pt x="97031" y="0"/>
                </a:moveTo>
                <a:lnTo>
                  <a:pt x="7339483" y="0"/>
                </a:lnTo>
                <a:cubicBezTo>
                  <a:pt x="7393071" y="0"/>
                  <a:pt x="7436513" y="43442"/>
                  <a:pt x="7436513" y="97031"/>
                </a:cubicBezTo>
                <a:lnTo>
                  <a:pt x="7436513" y="5495519"/>
                </a:lnTo>
                <a:cubicBezTo>
                  <a:pt x="7436513" y="5549107"/>
                  <a:pt x="7393071" y="5592549"/>
                  <a:pt x="7339483" y="5592549"/>
                </a:cubicBezTo>
                <a:lnTo>
                  <a:pt x="97031" y="5592549"/>
                </a:lnTo>
                <a:cubicBezTo>
                  <a:pt x="43442" y="5592549"/>
                  <a:pt x="0" y="5549107"/>
                  <a:pt x="0" y="5495519"/>
                </a:cubicBezTo>
                <a:lnTo>
                  <a:pt x="0" y="97031"/>
                </a:lnTo>
                <a:cubicBezTo>
                  <a:pt x="0" y="43478"/>
                  <a:pt x="43478" y="0"/>
                  <a:pt x="97031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2961" y="2098722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正则化参数搜索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2961" y="2353481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sklearn.model_selection import GridSearchCV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2961" y="2608239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params = {'C': [0.001, 0.01, 0.1, 1, 10],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2961" y="2862997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'penalty': ['l1', 'l2'],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2961" y="3117755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'solver': ['liblinear']}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2961" y="3372513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grid = GridSearchCV(LogisticRegression(), params, cv=5)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2961" y="3627272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grid.fit(X_train, 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2961" y="3882030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print(f"最佳参数: {grid.best_params_}")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2961" y="4233839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非线性扩展：多项式特征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2961" y="4488597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sklearn.preprocessing import PolynomialFeatures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2961" y="4743355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poly = PolynomialFeatures(degree=2)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2961" y="4998113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X_poly = poly.fit_transform(X_train)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2961" y="5252872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 = LogisticRegression(C=0.1)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2961" y="5507630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model.fit(X_poly, 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2961" y="5859439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类别不平衡处理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2961" y="6114197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 = LogisticRegression(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2961" y="6368955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class_weight='balanced', max_iter=1000)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2961" y="6623713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model.fit(X_train, 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2961" y="6878472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y_pred = model.predict(X_test)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2961" y="7133230"/>
            <a:ext cx="7218149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print(classification_report(y_test, y_pred))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324755" y="1407236"/>
            <a:ext cx="363940" cy="291152"/>
          </a:xfrm>
          <a:custGeom>
            <a:avLst/>
            <a:gdLst/>
            <a:ahLst/>
            <a:cxnLst/>
            <a:rect l="l" t="t" r="r" b="b"/>
            <a:pathLst>
              <a:path w="363940" h="291152">
                <a:moveTo>
                  <a:pt x="218364" y="18197"/>
                </a:moveTo>
                <a:lnTo>
                  <a:pt x="291152" y="18197"/>
                </a:lnTo>
                <a:cubicBezTo>
                  <a:pt x="301217" y="18197"/>
                  <a:pt x="309349" y="26329"/>
                  <a:pt x="309349" y="36394"/>
                </a:cubicBezTo>
                <a:cubicBezTo>
                  <a:pt x="309349" y="46459"/>
                  <a:pt x="301217" y="54591"/>
                  <a:pt x="291152" y="54591"/>
                </a:cubicBezTo>
                <a:lnTo>
                  <a:pt x="226553" y="54591"/>
                </a:lnTo>
                <a:cubicBezTo>
                  <a:pt x="223596" y="69262"/>
                  <a:pt x="213531" y="81375"/>
                  <a:pt x="200167" y="87175"/>
                </a:cubicBezTo>
                <a:lnTo>
                  <a:pt x="200167" y="254758"/>
                </a:lnTo>
                <a:lnTo>
                  <a:pt x="291152" y="254758"/>
                </a:lnTo>
                <a:cubicBezTo>
                  <a:pt x="301217" y="254758"/>
                  <a:pt x="309349" y="262890"/>
                  <a:pt x="309349" y="272955"/>
                </a:cubicBezTo>
                <a:cubicBezTo>
                  <a:pt x="309349" y="283020"/>
                  <a:pt x="301217" y="291152"/>
                  <a:pt x="291152" y="291152"/>
                </a:cubicBezTo>
                <a:lnTo>
                  <a:pt x="72788" y="291152"/>
                </a:lnTo>
                <a:cubicBezTo>
                  <a:pt x="62723" y="291152"/>
                  <a:pt x="54591" y="283020"/>
                  <a:pt x="54591" y="272955"/>
                </a:cubicBezTo>
                <a:cubicBezTo>
                  <a:pt x="54591" y="262890"/>
                  <a:pt x="62723" y="254758"/>
                  <a:pt x="72788" y="254758"/>
                </a:cubicBezTo>
                <a:lnTo>
                  <a:pt x="163773" y="254758"/>
                </a:lnTo>
                <a:lnTo>
                  <a:pt x="163773" y="87175"/>
                </a:lnTo>
                <a:cubicBezTo>
                  <a:pt x="150410" y="81318"/>
                  <a:pt x="140344" y="69206"/>
                  <a:pt x="137387" y="54591"/>
                </a:cubicBezTo>
                <a:lnTo>
                  <a:pt x="72788" y="54591"/>
                </a:lnTo>
                <a:cubicBezTo>
                  <a:pt x="62723" y="54591"/>
                  <a:pt x="54591" y="46459"/>
                  <a:pt x="54591" y="36394"/>
                </a:cubicBezTo>
                <a:cubicBezTo>
                  <a:pt x="54591" y="26329"/>
                  <a:pt x="62723" y="18197"/>
                  <a:pt x="72788" y="18197"/>
                </a:cubicBezTo>
                <a:lnTo>
                  <a:pt x="145576" y="18197"/>
                </a:lnTo>
                <a:cubicBezTo>
                  <a:pt x="153879" y="7165"/>
                  <a:pt x="167071" y="0"/>
                  <a:pt x="181970" y="0"/>
                </a:cubicBezTo>
                <a:cubicBezTo>
                  <a:pt x="196869" y="0"/>
                  <a:pt x="210062" y="7165"/>
                  <a:pt x="218364" y="18197"/>
                </a:cubicBezTo>
                <a:close/>
                <a:moveTo>
                  <a:pt x="249981" y="181970"/>
                </a:moveTo>
                <a:lnTo>
                  <a:pt x="332323" y="181970"/>
                </a:lnTo>
                <a:lnTo>
                  <a:pt x="291152" y="111343"/>
                </a:lnTo>
                <a:lnTo>
                  <a:pt x="249981" y="181970"/>
                </a:lnTo>
                <a:close/>
                <a:moveTo>
                  <a:pt x="291152" y="236561"/>
                </a:moveTo>
                <a:cubicBezTo>
                  <a:pt x="255384" y="236561"/>
                  <a:pt x="225643" y="217227"/>
                  <a:pt x="219501" y="191694"/>
                </a:cubicBezTo>
                <a:cubicBezTo>
                  <a:pt x="218023" y="185439"/>
                  <a:pt x="220070" y="179013"/>
                  <a:pt x="223311" y="173440"/>
                </a:cubicBezTo>
                <a:lnTo>
                  <a:pt x="277448" y="80636"/>
                </a:lnTo>
                <a:cubicBezTo>
                  <a:pt x="280291" y="75745"/>
                  <a:pt x="285523" y="72788"/>
                  <a:pt x="291152" y="72788"/>
                </a:cubicBezTo>
                <a:cubicBezTo>
                  <a:pt x="296782" y="72788"/>
                  <a:pt x="302014" y="75802"/>
                  <a:pt x="304857" y="80636"/>
                </a:cubicBezTo>
                <a:lnTo>
                  <a:pt x="358993" y="173440"/>
                </a:lnTo>
                <a:cubicBezTo>
                  <a:pt x="362234" y="179013"/>
                  <a:pt x="364281" y="185439"/>
                  <a:pt x="362803" y="191694"/>
                </a:cubicBezTo>
                <a:cubicBezTo>
                  <a:pt x="356661" y="217170"/>
                  <a:pt x="326921" y="236561"/>
                  <a:pt x="291152" y="236561"/>
                </a:cubicBezTo>
                <a:close/>
                <a:moveTo>
                  <a:pt x="72106" y="111343"/>
                </a:moveTo>
                <a:lnTo>
                  <a:pt x="30935" y="181970"/>
                </a:lnTo>
                <a:lnTo>
                  <a:pt x="113333" y="181970"/>
                </a:lnTo>
                <a:lnTo>
                  <a:pt x="72106" y="111343"/>
                </a:lnTo>
                <a:close/>
                <a:moveTo>
                  <a:pt x="512" y="191694"/>
                </a:moveTo>
                <a:cubicBezTo>
                  <a:pt x="-967" y="185439"/>
                  <a:pt x="1080" y="179013"/>
                  <a:pt x="4322" y="173440"/>
                </a:cubicBezTo>
                <a:lnTo>
                  <a:pt x="58458" y="80636"/>
                </a:lnTo>
                <a:cubicBezTo>
                  <a:pt x="61301" y="75745"/>
                  <a:pt x="66533" y="72788"/>
                  <a:pt x="72163" y="72788"/>
                </a:cubicBezTo>
                <a:cubicBezTo>
                  <a:pt x="77792" y="72788"/>
                  <a:pt x="83024" y="75802"/>
                  <a:pt x="85867" y="80636"/>
                </a:cubicBezTo>
                <a:lnTo>
                  <a:pt x="140003" y="173440"/>
                </a:lnTo>
                <a:cubicBezTo>
                  <a:pt x="143245" y="179013"/>
                  <a:pt x="145292" y="185439"/>
                  <a:pt x="143813" y="191694"/>
                </a:cubicBezTo>
                <a:cubicBezTo>
                  <a:pt x="137672" y="217170"/>
                  <a:pt x="107931" y="236561"/>
                  <a:pt x="72163" y="236561"/>
                </a:cubicBezTo>
                <a:cubicBezTo>
                  <a:pt x="36394" y="236561"/>
                  <a:pt x="6653" y="217227"/>
                  <a:pt x="512" y="191694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88696" y="1358710"/>
            <a:ext cx="7230281" cy="388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9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逻辑回归 vs 线性回归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49018" y="1941015"/>
            <a:ext cx="7424382" cy="1358710"/>
          </a:xfrm>
          <a:custGeom>
            <a:avLst/>
            <a:gdLst/>
            <a:ahLst/>
            <a:cxnLst/>
            <a:rect l="l" t="t" r="r" b="b"/>
            <a:pathLst>
              <a:path w="7424382" h="1358710">
                <a:moveTo>
                  <a:pt x="48525" y="0"/>
                </a:moveTo>
                <a:lnTo>
                  <a:pt x="7327329" y="0"/>
                </a:lnTo>
                <a:cubicBezTo>
                  <a:pt x="7380930" y="0"/>
                  <a:pt x="7424382" y="43452"/>
                  <a:pt x="7424382" y="97053"/>
                </a:cubicBezTo>
                <a:lnTo>
                  <a:pt x="7424382" y="1261658"/>
                </a:lnTo>
                <a:cubicBezTo>
                  <a:pt x="7424382" y="1315258"/>
                  <a:pt x="7380930" y="1358710"/>
                  <a:pt x="7327329" y="1358710"/>
                </a:cubicBezTo>
                <a:lnTo>
                  <a:pt x="48525" y="1358710"/>
                </a:lnTo>
                <a:cubicBezTo>
                  <a:pt x="21726" y="1358710"/>
                  <a:pt x="0" y="1336985"/>
                  <a:pt x="0" y="1310185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49018" y="1941015"/>
            <a:ext cx="48525" cy="1358710"/>
          </a:xfrm>
          <a:custGeom>
            <a:avLst/>
            <a:gdLst/>
            <a:ahLst/>
            <a:cxnLst/>
            <a:rect l="l" t="t" r="r" b="b"/>
            <a:pathLst>
              <a:path w="48525" h="1358710">
                <a:moveTo>
                  <a:pt x="48525" y="0"/>
                </a:moveTo>
                <a:lnTo>
                  <a:pt x="48525" y="0"/>
                </a:lnTo>
                <a:lnTo>
                  <a:pt x="48525" y="1358710"/>
                </a:lnTo>
                <a:lnTo>
                  <a:pt x="48525" y="1358710"/>
                </a:lnTo>
                <a:cubicBezTo>
                  <a:pt x="21726" y="1358710"/>
                  <a:pt x="0" y="1336985"/>
                  <a:pt x="0" y="1310185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549185" y="2147248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57065" y="15482"/>
                </a:moveTo>
                <a:cubicBezTo>
                  <a:pt x="61713" y="18723"/>
                  <a:pt x="62822" y="25120"/>
                  <a:pt x="59581" y="29727"/>
                </a:cubicBezTo>
                <a:lnTo>
                  <a:pt x="35697" y="63846"/>
                </a:lnTo>
                <a:cubicBezTo>
                  <a:pt x="33949" y="66320"/>
                  <a:pt x="31219" y="67898"/>
                  <a:pt x="28191" y="68154"/>
                </a:cubicBezTo>
                <a:cubicBezTo>
                  <a:pt x="25163" y="68409"/>
                  <a:pt x="22178" y="67386"/>
                  <a:pt x="20045" y="65253"/>
                </a:cubicBezTo>
                <a:lnTo>
                  <a:pt x="2985" y="48194"/>
                </a:lnTo>
                <a:cubicBezTo>
                  <a:pt x="-981" y="44185"/>
                  <a:pt x="-981" y="37702"/>
                  <a:pt x="2985" y="33693"/>
                </a:cubicBezTo>
                <a:cubicBezTo>
                  <a:pt x="6952" y="29684"/>
                  <a:pt x="13477" y="29727"/>
                  <a:pt x="17486" y="33693"/>
                </a:cubicBezTo>
                <a:lnTo>
                  <a:pt x="25931" y="42137"/>
                </a:lnTo>
                <a:lnTo>
                  <a:pt x="42820" y="17998"/>
                </a:lnTo>
                <a:cubicBezTo>
                  <a:pt x="46061" y="13349"/>
                  <a:pt x="52459" y="12240"/>
                  <a:pt x="57065" y="15482"/>
                </a:cubicBezTo>
                <a:close/>
                <a:moveTo>
                  <a:pt x="57065" y="83720"/>
                </a:moveTo>
                <a:cubicBezTo>
                  <a:pt x="61713" y="86962"/>
                  <a:pt x="62822" y="93359"/>
                  <a:pt x="59581" y="97965"/>
                </a:cubicBezTo>
                <a:lnTo>
                  <a:pt x="35697" y="132085"/>
                </a:lnTo>
                <a:cubicBezTo>
                  <a:pt x="33949" y="134558"/>
                  <a:pt x="31219" y="136136"/>
                  <a:pt x="28191" y="136392"/>
                </a:cubicBezTo>
                <a:cubicBezTo>
                  <a:pt x="25163" y="136648"/>
                  <a:pt x="22178" y="135625"/>
                  <a:pt x="20045" y="133492"/>
                </a:cubicBezTo>
                <a:lnTo>
                  <a:pt x="2985" y="116432"/>
                </a:lnTo>
                <a:cubicBezTo>
                  <a:pt x="-1024" y="112423"/>
                  <a:pt x="-1024" y="105941"/>
                  <a:pt x="2985" y="101974"/>
                </a:cubicBezTo>
                <a:cubicBezTo>
                  <a:pt x="6994" y="98008"/>
                  <a:pt x="13477" y="97965"/>
                  <a:pt x="17444" y="101974"/>
                </a:cubicBezTo>
                <a:lnTo>
                  <a:pt x="25888" y="110419"/>
                </a:lnTo>
                <a:lnTo>
                  <a:pt x="42777" y="86279"/>
                </a:lnTo>
                <a:cubicBezTo>
                  <a:pt x="46019" y="81631"/>
                  <a:pt x="52416" y="80522"/>
                  <a:pt x="57022" y="83763"/>
                </a:cubicBezTo>
                <a:close/>
                <a:moveTo>
                  <a:pt x="95534" y="40943"/>
                </a:moveTo>
                <a:cubicBezTo>
                  <a:pt x="95534" y="33394"/>
                  <a:pt x="101633" y="27296"/>
                  <a:pt x="109182" y="27296"/>
                </a:cubicBezTo>
                <a:lnTo>
                  <a:pt x="204716" y="27296"/>
                </a:lnTo>
                <a:cubicBezTo>
                  <a:pt x="212265" y="27296"/>
                  <a:pt x="218364" y="33394"/>
                  <a:pt x="218364" y="40943"/>
                </a:cubicBezTo>
                <a:cubicBezTo>
                  <a:pt x="218364" y="48492"/>
                  <a:pt x="212265" y="54591"/>
                  <a:pt x="204716" y="54591"/>
                </a:cubicBezTo>
                <a:lnTo>
                  <a:pt x="109182" y="54591"/>
                </a:lnTo>
                <a:cubicBezTo>
                  <a:pt x="101633" y="54591"/>
                  <a:pt x="95534" y="48492"/>
                  <a:pt x="95534" y="40943"/>
                </a:cubicBezTo>
                <a:close/>
                <a:moveTo>
                  <a:pt x="95534" y="109182"/>
                </a:moveTo>
                <a:cubicBezTo>
                  <a:pt x="95534" y="101633"/>
                  <a:pt x="101633" y="95534"/>
                  <a:pt x="109182" y="95534"/>
                </a:cubicBezTo>
                <a:lnTo>
                  <a:pt x="204716" y="95534"/>
                </a:lnTo>
                <a:cubicBezTo>
                  <a:pt x="212265" y="95534"/>
                  <a:pt x="218364" y="101633"/>
                  <a:pt x="218364" y="109182"/>
                </a:cubicBezTo>
                <a:cubicBezTo>
                  <a:pt x="218364" y="116731"/>
                  <a:pt x="212265" y="122830"/>
                  <a:pt x="204716" y="122830"/>
                </a:cubicBezTo>
                <a:lnTo>
                  <a:pt x="109182" y="122830"/>
                </a:lnTo>
                <a:cubicBezTo>
                  <a:pt x="101633" y="122830"/>
                  <a:pt x="95534" y="116731"/>
                  <a:pt x="95534" y="109182"/>
                </a:cubicBezTo>
                <a:close/>
                <a:moveTo>
                  <a:pt x="68239" y="177421"/>
                </a:moveTo>
                <a:cubicBezTo>
                  <a:pt x="68239" y="169872"/>
                  <a:pt x="74338" y="163773"/>
                  <a:pt x="81887" y="163773"/>
                </a:cubicBezTo>
                <a:lnTo>
                  <a:pt x="204716" y="163773"/>
                </a:lnTo>
                <a:cubicBezTo>
                  <a:pt x="212265" y="163773"/>
                  <a:pt x="218364" y="169872"/>
                  <a:pt x="218364" y="177421"/>
                </a:cubicBezTo>
                <a:cubicBezTo>
                  <a:pt x="218364" y="184970"/>
                  <a:pt x="212265" y="191069"/>
                  <a:pt x="204716" y="191069"/>
                </a:cubicBezTo>
                <a:lnTo>
                  <a:pt x="81887" y="191069"/>
                </a:lnTo>
                <a:cubicBezTo>
                  <a:pt x="74338" y="191069"/>
                  <a:pt x="68239" y="184970"/>
                  <a:pt x="68239" y="177421"/>
                </a:cubicBezTo>
                <a:close/>
                <a:moveTo>
                  <a:pt x="27296" y="160361"/>
                </a:moveTo>
                <a:cubicBezTo>
                  <a:pt x="36711" y="160361"/>
                  <a:pt x="44355" y="168005"/>
                  <a:pt x="44355" y="177421"/>
                </a:cubicBezTo>
                <a:cubicBezTo>
                  <a:pt x="44355" y="186836"/>
                  <a:pt x="36711" y="194481"/>
                  <a:pt x="27296" y="194481"/>
                </a:cubicBezTo>
                <a:cubicBezTo>
                  <a:pt x="17880" y="194481"/>
                  <a:pt x="10236" y="186836"/>
                  <a:pt x="10236" y="177421"/>
                </a:cubicBezTo>
                <a:cubicBezTo>
                  <a:pt x="10236" y="168005"/>
                  <a:pt x="17880" y="160361"/>
                  <a:pt x="27296" y="16036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797878" y="2086591"/>
            <a:ext cx="6939128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任务类型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18857" y="2523319"/>
            <a:ext cx="357874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线性回归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18857" y="2862997"/>
            <a:ext cx="357874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预测连续值（回归）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147455" y="2523319"/>
            <a:ext cx="357874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逻辑回归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147455" y="2862997"/>
            <a:ext cx="357874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预测类别概率（分类）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49018" y="3445301"/>
            <a:ext cx="7424382" cy="1310185"/>
          </a:xfrm>
          <a:custGeom>
            <a:avLst/>
            <a:gdLst/>
            <a:ahLst/>
            <a:cxnLst/>
            <a:rect l="l" t="t" r="r" b="b"/>
            <a:pathLst>
              <a:path w="7424382" h="1310185">
                <a:moveTo>
                  <a:pt x="48525" y="0"/>
                </a:moveTo>
                <a:lnTo>
                  <a:pt x="7327337" y="0"/>
                </a:lnTo>
                <a:cubicBezTo>
                  <a:pt x="7380933" y="0"/>
                  <a:pt x="7424382" y="43449"/>
                  <a:pt x="7424382" y="97045"/>
                </a:cubicBezTo>
                <a:lnTo>
                  <a:pt x="7424382" y="1213140"/>
                </a:lnTo>
                <a:cubicBezTo>
                  <a:pt x="7424382" y="1266736"/>
                  <a:pt x="7380933" y="1310185"/>
                  <a:pt x="7327337" y="1310185"/>
                </a:cubicBezTo>
                <a:lnTo>
                  <a:pt x="48525" y="1310185"/>
                </a:lnTo>
                <a:cubicBezTo>
                  <a:pt x="21726" y="1310185"/>
                  <a:pt x="0" y="1288460"/>
                  <a:pt x="0" y="1261660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349018" y="3445301"/>
            <a:ext cx="48525" cy="1310185"/>
          </a:xfrm>
          <a:custGeom>
            <a:avLst/>
            <a:gdLst/>
            <a:ahLst/>
            <a:cxnLst/>
            <a:rect l="l" t="t" r="r" b="b"/>
            <a:pathLst>
              <a:path w="48525" h="1310185">
                <a:moveTo>
                  <a:pt x="48525" y="0"/>
                </a:moveTo>
                <a:lnTo>
                  <a:pt x="48525" y="0"/>
                </a:lnTo>
                <a:lnTo>
                  <a:pt x="48525" y="1310185"/>
                </a:lnTo>
                <a:lnTo>
                  <a:pt x="48525" y="1310185"/>
                </a:lnTo>
                <a:cubicBezTo>
                  <a:pt x="21726" y="1310185"/>
                  <a:pt x="0" y="1288460"/>
                  <a:pt x="0" y="1261660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549185" y="3651534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27296" y="27296"/>
                </a:moveTo>
                <a:cubicBezTo>
                  <a:pt x="27296" y="19747"/>
                  <a:pt x="21197" y="13648"/>
                  <a:pt x="13648" y="13648"/>
                </a:cubicBezTo>
                <a:cubicBezTo>
                  <a:pt x="6099" y="13648"/>
                  <a:pt x="0" y="19747"/>
                  <a:pt x="0" y="27296"/>
                </a:cubicBezTo>
                <a:lnTo>
                  <a:pt x="0" y="170597"/>
                </a:lnTo>
                <a:cubicBezTo>
                  <a:pt x="0" y="189448"/>
                  <a:pt x="15268" y="204716"/>
                  <a:pt x="34119" y="204716"/>
                </a:cubicBezTo>
                <a:lnTo>
                  <a:pt x="204716" y="204716"/>
                </a:lnTo>
                <a:cubicBezTo>
                  <a:pt x="212265" y="204716"/>
                  <a:pt x="218364" y="198618"/>
                  <a:pt x="218364" y="191069"/>
                </a:cubicBezTo>
                <a:cubicBezTo>
                  <a:pt x="218364" y="183520"/>
                  <a:pt x="212265" y="177421"/>
                  <a:pt x="204716" y="177421"/>
                </a:cubicBezTo>
                <a:lnTo>
                  <a:pt x="34119" y="177421"/>
                </a:lnTo>
                <a:cubicBezTo>
                  <a:pt x="30366" y="177421"/>
                  <a:pt x="27296" y="174350"/>
                  <a:pt x="27296" y="170597"/>
                </a:cubicBezTo>
                <a:lnTo>
                  <a:pt x="27296" y="27296"/>
                </a:lnTo>
                <a:close/>
                <a:moveTo>
                  <a:pt x="200707" y="64230"/>
                </a:moveTo>
                <a:cubicBezTo>
                  <a:pt x="206039" y="58899"/>
                  <a:pt x="206039" y="50241"/>
                  <a:pt x="200707" y="44910"/>
                </a:cubicBezTo>
                <a:cubicBezTo>
                  <a:pt x="195376" y="39579"/>
                  <a:pt x="186718" y="39579"/>
                  <a:pt x="181387" y="44910"/>
                </a:cubicBezTo>
                <a:lnTo>
                  <a:pt x="136478" y="89862"/>
                </a:lnTo>
                <a:lnTo>
                  <a:pt x="111997" y="65424"/>
                </a:lnTo>
                <a:cubicBezTo>
                  <a:pt x="106666" y="60093"/>
                  <a:pt x="98008" y="60093"/>
                  <a:pt x="92677" y="65424"/>
                </a:cubicBezTo>
                <a:lnTo>
                  <a:pt x="51734" y="106367"/>
                </a:lnTo>
                <a:cubicBezTo>
                  <a:pt x="46402" y="111698"/>
                  <a:pt x="46402" y="120356"/>
                  <a:pt x="51734" y="125687"/>
                </a:cubicBezTo>
                <a:cubicBezTo>
                  <a:pt x="57065" y="131019"/>
                  <a:pt x="65723" y="131019"/>
                  <a:pt x="71054" y="125687"/>
                </a:cubicBezTo>
                <a:lnTo>
                  <a:pt x="102358" y="94383"/>
                </a:lnTo>
                <a:lnTo>
                  <a:pt x="126839" y="118863"/>
                </a:lnTo>
                <a:cubicBezTo>
                  <a:pt x="132170" y="124195"/>
                  <a:pt x="140828" y="124195"/>
                  <a:pt x="146159" y="118863"/>
                </a:cubicBezTo>
                <a:lnTo>
                  <a:pt x="200750" y="64272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797878" y="3590878"/>
            <a:ext cx="6939128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模型输出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18857" y="4027606"/>
            <a:ext cx="357874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线性回归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18857" y="4367284"/>
            <a:ext cx="3566615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ŷ ∈ ℝ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147455" y="4027606"/>
            <a:ext cx="357874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逻辑回归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47455" y="4367284"/>
            <a:ext cx="3566615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P(y=1|x) ∈ (0,1)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349018" y="4901063"/>
            <a:ext cx="7424382" cy="1310185"/>
          </a:xfrm>
          <a:custGeom>
            <a:avLst/>
            <a:gdLst/>
            <a:ahLst/>
            <a:cxnLst/>
            <a:rect l="l" t="t" r="r" b="b"/>
            <a:pathLst>
              <a:path w="7424382" h="1310185">
                <a:moveTo>
                  <a:pt x="48525" y="0"/>
                </a:moveTo>
                <a:lnTo>
                  <a:pt x="7327337" y="0"/>
                </a:lnTo>
                <a:cubicBezTo>
                  <a:pt x="7380933" y="0"/>
                  <a:pt x="7424382" y="43449"/>
                  <a:pt x="7424382" y="97045"/>
                </a:cubicBezTo>
                <a:lnTo>
                  <a:pt x="7424382" y="1213140"/>
                </a:lnTo>
                <a:cubicBezTo>
                  <a:pt x="7424382" y="1266736"/>
                  <a:pt x="7380933" y="1310185"/>
                  <a:pt x="7327337" y="1310185"/>
                </a:cubicBezTo>
                <a:lnTo>
                  <a:pt x="48525" y="1310185"/>
                </a:lnTo>
                <a:cubicBezTo>
                  <a:pt x="21726" y="1310185"/>
                  <a:pt x="0" y="1288460"/>
                  <a:pt x="0" y="1261660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349018" y="4901063"/>
            <a:ext cx="48525" cy="1310185"/>
          </a:xfrm>
          <a:custGeom>
            <a:avLst/>
            <a:gdLst/>
            <a:ahLst/>
            <a:cxnLst/>
            <a:rect l="l" t="t" r="r" b="b"/>
            <a:pathLst>
              <a:path w="48525" h="1310185">
                <a:moveTo>
                  <a:pt x="48525" y="0"/>
                </a:moveTo>
                <a:lnTo>
                  <a:pt x="48525" y="0"/>
                </a:lnTo>
                <a:lnTo>
                  <a:pt x="48525" y="1310185"/>
                </a:lnTo>
                <a:lnTo>
                  <a:pt x="48525" y="1310185"/>
                </a:lnTo>
                <a:cubicBezTo>
                  <a:pt x="21726" y="1310185"/>
                  <a:pt x="0" y="1288460"/>
                  <a:pt x="0" y="1261660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549185" y="5107296"/>
            <a:ext cx="218364" cy="218364"/>
          </a:xfrm>
          <a:custGeom>
            <a:avLst/>
            <a:gdLst/>
            <a:ahLst/>
            <a:cxnLst/>
            <a:rect l="l" t="t" r="r" b="b"/>
            <a:pathLst>
              <a:path w="218364" h="218364">
                <a:moveTo>
                  <a:pt x="28106" y="97454"/>
                </a:moveTo>
                <a:cubicBezTo>
                  <a:pt x="33778" y="57790"/>
                  <a:pt x="67940" y="27296"/>
                  <a:pt x="109182" y="27296"/>
                </a:cubicBezTo>
                <a:cubicBezTo>
                  <a:pt x="131786" y="27296"/>
                  <a:pt x="152258" y="36465"/>
                  <a:pt x="167100" y="51264"/>
                </a:cubicBezTo>
                <a:cubicBezTo>
                  <a:pt x="167185" y="51350"/>
                  <a:pt x="167270" y="51435"/>
                  <a:pt x="167356" y="51520"/>
                </a:cubicBezTo>
                <a:lnTo>
                  <a:pt x="170597" y="54591"/>
                </a:lnTo>
                <a:lnTo>
                  <a:pt x="150168" y="54591"/>
                </a:lnTo>
                <a:cubicBezTo>
                  <a:pt x="142619" y="54591"/>
                  <a:pt x="136520" y="60690"/>
                  <a:pt x="136520" y="68239"/>
                </a:cubicBezTo>
                <a:cubicBezTo>
                  <a:pt x="136520" y="75788"/>
                  <a:pt x="142619" y="81887"/>
                  <a:pt x="150168" y="81887"/>
                </a:cubicBezTo>
                <a:lnTo>
                  <a:pt x="204759" y="81887"/>
                </a:lnTo>
                <a:cubicBezTo>
                  <a:pt x="212308" y="81887"/>
                  <a:pt x="218407" y="75788"/>
                  <a:pt x="218407" y="68239"/>
                </a:cubicBezTo>
                <a:lnTo>
                  <a:pt x="218407" y="13648"/>
                </a:lnTo>
                <a:cubicBezTo>
                  <a:pt x="218407" y="6099"/>
                  <a:pt x="212308" y="0"/>
                  <a:pt x="204759" y="0"/>
                </a:cubicBezTo>
                <a:cubicBezTo>
                  <a:pt x="197210" y="0"/>
                  <a:pt x="191111" y="6099"/>
                  <a:pt x="191111" y="13648"/>
                </a:cubicBezTo>
                <a:lnTo>
                  <a:pt x="191111" y="36422"/>
                </a:lnTo>
                <a:lnTo>
                  <a:pt x="186292" y="31859"/>
                </a:lnTo>
                <a:cubicBezTo>
                  <a:pt x="166545" y="12198"/>
                  <a:pt x="139250" y="0"/>
                  <a:pt x="109182" y="0"/>
                </a:cubicBezTo>
                <a:cubicBezTo>
                  <a:pt x="54165" y="0"/>
                  <a:pt x="8658" y="40687"/>
                  <a:pt x="1109" y="93615"/>
                </a:cubicBezTo>
                <a:cubicBezTo>
                  <a:pt x="43" y="101079"/>
                  <a:pt x="5203" y="107988"/>
                  <a:pt x="12667" y="109054"/>
                </a:cubicBezTo>
                <a:cubicBezTo>
                  <a:pt x="20130" y="110120"/>
                  <a:pt x="27040" y="104917"/>
                  <a:pt x="28106" y="97496"/>
                </a:cubicBezTo>
                <a:close/>
                <a:moveTo>
                  <a:pt x="217255" y="124749"/>
                </a:moveTo>
                <a:cubicBezTo>
                  <a:pt x="218322" y="117285"/>
                  <a:pt x="213118" y="110376"/>
                  <a:pt x="205697" y="109310"/>
                </a:cubicBezTo>
                <a:cubicBezTo>
                  <a:pt x="198276" y="108244"/>
                  <a:pt x="191325" y="113447"/>
                  <a:pt x="190258" y="120868"/>
                </a:cubicBezTo>
                <a:cubicBezTo>
                  <a:pt x="184586" y="160532"/>
                  <a:pt x="150424" y="191026"/>
                  <a:pt x="109182" y="191026"/>
                </a:cubicBezTo>
                <a:cubicBezTo>
                  <a:pt x="86578" y="191026"/>
                  <a:pt x="66106" y="181856"/>
                  <a:pt x="51264" y="167057"/>
                </a:cubicBezTo>
                <a:cubicBezTo>
                  <a:pt x="51179" y="166972"/>
                  <a:pt x="51094" y="166887"/>
                  <a:pt x="51009" y="166801"/>
                </a:cubicBezTo>
                <a:lnTo>
                  <a:pt x="47767" y="163730"/>
                </a:lnTo>
                <a:lnTo>
                  <a:pt x="68196" y="163730"/>
                </a:lnTo>
                <a:cubicBezTo>
                  <a:pt x="75745" y="163730"/>
                  <a:pt x="81844" y="157632"/>
                  <a:pt x="81844" y="150083"/>
                </a:cubicBezTo>
                <a:cubicBezTo>
                  <a:pt x="81844" y="142534"/>
                  <a:pt x="75745" y="136435"/>
                  <a:pt x="68196" y="136435"/>
                </a:cubicBezTo>
                <a:lnTo>
                  <a:pt x="13648" y="136478"/>
                </a:lnTo>
                <a:cubicBezTo>
                  <a:pt x="10023" y="136478"/>
                  <a:pt x="6525" y="137928"/>
                  <a:pt x="3966" y="140529"/>
                </a:cubicBezTo>
                <a:cubicBezTo>
                  <a:pt x="1407" y="143131"/>
                  <a:pt x="-43" y="146585"/>
                  <a:pt x="0" y="150253"/>
                </a:cubicBezTo>
                <a:lnTo>
                  <a:pt x="426" y="204418"/>
                </a:lnTo>
                <a:cubicBezTo>
                  <a:pt x="469" y="211967"/>
                  <a:pt x="6653" y="218023"/>
                  <a:pt x="14202" y="217938"/>
                </a:cubicBezTo>
                <a:cubicBezTo>
                  <a:pt x="21751" y="217852"/>
                  <a:pt x="27807" y="211711"/>
                  <a:pt x="27722" y="204162"/>
                </a:cubicBezTo>
                <a:lnTo>
                  <a:pt x="27551" y="182198"/>
                </a:lnTo>
                <a:lnTo>
                  <a:pt x="32115" y="186505"/>
                </a:lnTo>
                <a:cubicBezTo>
                  <a:pt x="51861" y="206166"/>
                  <a:pt x="79114" y="218364"/>
                  <a:pt x="109182" y="218364"/>
                </a:cubicBezTo>
                <a:cubicBezTo>
                  <a:pt x="164200" y="218364"/>
                  <a:pt x="209706" y="177677"/>
                  <a:pt x="217255" y="12474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797878" y="5046639"/>
            <a:ext cx="6939128" cy="339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1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损失函数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18857" y="5483367"/>
            <a:ext cx="357874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线性回归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18857" y="5823045"/>
            <a:ext cx="3566615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MSE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2147455" y="5483367"/>
            <a:ext cx="357874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逻辑回归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147455" y="5823045"/>
            <a:ext cx="3566615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Cross-entropy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09516" y="7739797"/>
            <a:ext cx="4937457" cy="921982"/>
          </a:xfrm>
          <a:custGeom>
            <a:avLst/>
            <a:gdLst/>
            <a:ahLst/>
            <a:cxnLst/>
            <a:rect l="l" t="t" r="r" b="b"/>
            <a:pathLst>
              <a:path w="4937457" h="921982">
                <a:moveTo>
                  <a:pt x="48525" y="0"/>
                </a:moveTo>
                <a:lnTo>
                  <a:pt x="4840409" y="0"/>
                </a:lnTo>
                <a:cubicBezTo>
                  <a:pt x="4894007" y="0"/>
                  <a:pt x="4937457" y="43450"/>
                  <a:pt x="4937457" y="97048"/>
                </a:cubicBezTo>
                <a:lnTo>
                  <a:pt x="4937457" y="824934"/>
                </a:lnTo>
                <a:cubicBezTo>
                  <a:pt x="4937457" y="878532"/>
                  <a:pt x="4894007" y="921982"/>
                  <a:pt x="4840409" y="921982"/>
                </a:cubicBezTo>
                <a:lnTo>
                  <a:pt x="48525" y="921982"/>
                </a:lnTo>
                <a:cubicBezTo>
                  <a:pt x="21726" y="921982"/>
                  <a:pt x="0" y="900257"/>
                  <a:pt x="0" y="873457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509516" y="7739797"/>
            <a:ext cx="48525" cy="921982"/>
          </a:xfrm>
          <a:custGeom>
            <a:avLst/>
            <a:gdLst/>
            <a:ahLst/>
            <a:cxnLst/>
            <a:rect l="l" t="t" r="r" b="b"/>
            <a:pathLst>
              <a:path w="48525" h="921982">
                <a:moveTo>
                  <a:pt x="48525" y="0"/>
                </a:moveTo>
                <a:lnTo>
                  <a:pt x="48525" y="0"/>
                </a:lnTo>
                <a:lnTo>
                  <a:pt x="48525" y="921982"/>
                </a:lnTo>
                <a:lnTo>
                  <a:pt x="48525" y="921982"/>
                </a:lnTo>
                <a:cubicBezTo>
                  <a:pt x="21726" y="921982"/>
                  <a:pt x="0" y="900257"/>
                  <a:pt x="0" y="873457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703618" y="7933899"/>
            <a:ext cx="194101" cy="194101"/>
          </a:xfrm>
          <a:custGeom>
            <a:avLst/>
            <a:gdLst/>
            <a:ahLst/>
            <a:cxnLst/>
            <a:rect l="l" t="t" r="r" b="b"/>
            <a:pathLst>
              <a:path w="194101" h="194101">
                <a:moveTo>
                  <a:pt x="12131" y="24263"/>
                </a:moveTo>
                <a:cubicBezTo>
                  <a:pt x="5421" y="24263"/>
                  <a:pt x="0" y="29684"/>
                  <a:pt x="0" y="36394"/>
                </a:cubicBezTo>
                <a:cubicBezTo>
                  <a:pt x="0" y="43104"/>
                  <a:pt x="5421" y="48525"/>
                  <a:pt x="12131" y="48525"/>
                </a:cubicBezTo>
                <a:lnTo>
                  <a:pt x="45000" y="48525"/>
                </a:lnTo>
                <a:cubicBezTo>
                  <a:pt x="49663" y="59254"/>
                  <a:pt x="60353" y="66722"/>
                  <a:pt x="72788" y="66722"/>
                </a:cubicBezTo>
                <a:cubicBezTo>
                  <a:pt x="85223" y="66722"/>
                  <a:pt x="95913" y="59254"/>
                  <a:pt x="100576" y="48525"/>
                </a:cubicBezTo>
                <a:lnTo>
                  <a:pt x="181970" y="48525"/>
                </a:lnTo>
                <a:cubicBezTo>
                  <a:pt x="188680" y="48525"/>
                  <a:pt x="194101" y="43104"/>
                  <a:pt x="194101" y="36394"/>
                </a:cubicBezTo>
                <a:cubicBezTo>
                  <a:pt x="194101" y="29684"/>
                  <a:pt x="188680" y="24263"/>
                  <a:pt x="181970" y="24263"/>
                </a:cubicBezTo>
                <a:lnTo>
                  <a:pt x="100576" y="24263"/>
                </a:lnTo>
                <a:cubicBezTo>
                  <a:pt x="95913" y="13534"/>
                  <a:pt x="85223" y="6066"/>
                  <a:pt x="72788" y="6066"/>
                </a:cubicBezTo>
                <a:cubicBezTo>
                  <a:pt x="60353" y="6066"/>
                  <a:pt x="49663" y="13534"/>
                  <a:pt x="45000" y="24263"/>
                </a:cubicBezTo>
                <a:lnTo>
                  <a:pt x="12131" y="24263"/>
                </a:lnTo>
                <a:close/>
                <a:moveTo>
                  <a:pt x="12131" y="84919"/>
                </a:moveTo>
                <a:cubicBezTo>
                  <a:pt x="5421" y="84919"/>
                  <a:pt x="0" y="90341"/>
                  <a:pt x="0" y="97051"/>
                </a:cubicBezTo>
                <a:cubicBezTo>
                  <a:pt x="0" y="103761"/>
                  <a:pt x="5421" y="109182"/>
                  <a:pt x="12131" y="109182"/>
                </a:cubicBezTo>
                <a:lnTo>
                  <a:pt x="105656" y="109182"/>
                </a:lnTo>
                <a:cubicBezTo>
                  <a:pt x="110319" y="119911"/>
                  <a:pt x="121010" y="127379"/>
                  <a:pt x="133445" y="127379"/>
                </a:cubicBezTo>
                <a:cubicBezTo>
                  <a:pt x="145879" y="127379"/>
                  <a:pt x="156570" y="119911"/>
                  <a:pt x="161233" y="109182"/>
                </a:cubicBezTo>
                <a:lnTo>
                  <a:pt x="181970" y="109182"/>
                </a:lnTo>
                <a:cubicBezTo>
                  <a:pt x="188680" y="109182"/>
                  <a:pt x="194101" y="103761"/>
                  <a:pt x="194101" y="97051"/>
                </a:cubicBezTo>
                <a:cubicBezTo>
                  <a:pt x="194101" y="90341"/>
                  <a:pt x="188680" y="84919"/>
                  <a:pt x="181970" y="84919"/>
                </a:cubicBezTo>
                <a:lnTo>
                  <a:pt x="161233" y="84919"/>
                </a:lnTo>
                <a:cubicBezTo>
                  <a:pt x="156570" y="74191"/>
                  <a:pt x="145879" y="66722"/>
                  <a:pt x="133445" y="66722"/>
                </a:cubicBezTo>
                <a:cubicBezTo>
                  <a:pt x="121010" y="66722"/>
                  <a:pt x="110319" y="74191"/>
                  <a:pt x="105656" y="84919"/>
                </a:cubicBezTo>
                <a:lnTo>
                  <a:pt x="12131" y="84919"/>
                </a:lnTo>
                <a:close/>
                <a:moveTo>
                  <a:pt x="12131" y="145576"/>
                </a:moveTo>
                <a:cubicBezTo>
                  <a:pt x="5421" y="145576"/>
                  <a:pt x="0" y="150997"/>
                  <a:pt x="0" y="157707"/>
                </a:cubicBezTo>
                <a:cubicBezTo>
                  <a:pt x="0" y="164418"/>
                  <a:pt x="5421" y="169839"/>
                  <a:pt x="12131" y="169839"/>
                </a:cubicBezTo>
                <a:lnTo>
                  <a:pt x="32868" y="169839"/>
                </a:lnTo>
                <a:cubicBezTo>
                  <a:pt x="37531" y="180567"/>
                  <a:pt x="48222" y="188036"/>
                  <a:pt x="60657" y="188036"/>
                </a:cubicBezTo>
                <a:cubicBezTo>
                  <a:pt x="73091" y="188036"/>
                  <a:pt x="83782" y="180567"/>
                  <a:pt x="88445" y="169839"/>
                </a:cubicBezTo>
                <a:lnTo>
                  <a:pt x="181970" y="169839"/>
                </a:lnTo>
                <a:cubicBezTo>
                  <a:pt x="188680" y="169839"/>
                  <a:pt x="194101" y="164418"/>
                  <a:pt x="194101" y="157707"/>
                </a:cubicBezTo>
                <a:cubicBezTo>
                  <a:pt x="194101" y="150997"/>
                  <a:pt x="188680" y="145576"/>
                  <a:pt x="181970" y="145576"/>
                </a:cubicBezTo>
                <a:lnTo>
                  <a:pt x="88445" y="145576"/>
                </a:lnTo>
                <a:cubicBezTo>
                  <a:pt x="83782" y="134847"/>
                  <a:pt x="73091" y="127379"/>
                  <a:pt x="60657" y="127379"/>
                </a:cubicBezTo>
                <a:cubicBezTo>
                  <a:pt x="48222" y="127379"/>
                  <a:pt x="37531" y="134847"/>
                  <a:pt x="32868" y="145576"/>
                </a:cubicBezTo>
                <a:lnTo>
                  <a:pt x="12131" y="145576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921982" y="7885373"/>
            <a:ext cx="447646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正则化作用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9355" y="8273576"/>
            <a:ext cx="4706961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调整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值观察决策边界变化，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L1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产生稀疏解，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L2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提升稳定性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671119" y="7739797"/>
            <a:ext cx="4937457" cy="921982"/>
          </a:xfrm>
          <a:custGeom>
            <a:avLst/>
            <a:gdLst/>
            <a:ahLst/>
            <a:cxnLst/>
            <a:rect l="l" t="t" r="r" b="b"/>
            <a:pathLst>
              <a:path w="4937457" h="921982">
                <a:moveTo>
                  <a:pt x="48525" y="0"/>
                </a:moveTo>
                <a:lnTo>
                  <a:pt x="4840409" y="0"/>
                </a:lnTo>
                <a:cubicBezTo>
                  <a:pt x="4894007" y="0"/>
                  <a:pt x="4937457" y="43450"/>
                  <a:pt x="4937457" y="97048"/>
                </a:cubicBezTo>
                <a:lnTo>
                  <a:pt x="4937457" y="824934"/>
                </a:lnTo>
                <a:cubicBezTo>
                  <a:pt x="4937457" y="878532"/>
                  <a:pt x="4894007" y="921982"/>
                  <a:pt x="4840409" y="921982"/>
                </a:cubicBezTo>
                <a:lnTo>
                  <a:pt x="48525" y="921982"/>
                </a:lnTo>
                <a:cubicBezTo>
                  <a:pt x="21726" y="921982"/>
                  <a:pt x="0" y="900257"/>
                  <a:pt x="0" y="873457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5671119" y="7739797"/>
            <a:ext cx="48525" cy="921982"/>
          </a:xfrm>
          <a:custGeom>
            <a:avLst/>
            <a:gdLst/>
            <a:ahLst/>
            <a:cxnLst/>
            <a:rect l="l" t="t" r="r" b="b"/>
            <a:pathLst>
              <a:path w="48525" h="921982">
                <a:moveTo>
                  <a:pt x="48525" y="0"/>
                </a:moveTo>
                <a:lnTo>
                  <a:pt x="48525" y="0"/>
                </a:lnTo>
                <a:lnTo>
                  <a:pt x="48525" y="921982"/>
                </a:lnTo>
                <a:lnTo>
                  <a:pt x="48525" y="921982"/>
                </a:lnTo>
                <a:cubicBezTo>
                  <a:pt x="21726" y="921982"/>
                  <a:pt x="0" y="900257"/>
                  <a:pt x="0" y="873457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5865220" y="7933899"/>
            <a:ext cx="194101" cy="194101"/>
          </a:xfrm>
          <a:custGeom>
            <a:avLst/>
            <a:gdLst/>
            <a:ahLst/>
            <a:cxnLst/>
            <a:rect l="l" t="t" r="r" b="b"/>
            <a:pathLst>
              <a:path w="194101" h="194101">
                <a:moveTo>
                  <a:pt x="88142" y="1971"/>
                </a:moveTo>
                <a:cubicBezTo>
                  <a:pt x="93790" y="-644"/>
                  <a:pt x="100311" y="-644"/>
                  <a:pt x="105960" y="1971"/>
                </a:cubicBezTo>
                <a:lnTo>
                  <a:pt x="188832" y="40261"/>
                </a:lnTo>
                <a:cubicBezTo>
                  <a:pt x="192054" y="41739"/>
                  <a:pt x="194101" y="44962"/>
                  <a:pt x="194101" y="48525"/>
                </a:cubicBezTo>
                <a:cubicBezTo>
                  <a:pt x="194101" y="52089"/>
                  <a:pt x="192054" y="55311"/>
                  <a:pt x="188832" y="56790"/>
                </a:cubicBezTo>
                <a:lnTo>
                  <a:pt x="105960" y="95079"/>
                </a:lnTo>
                <a:cubicBezTo>
                  <a:pt x="100311" y="97695"/>
                  <a:pt x="93790" y="97695"/>
                  <a:pt x="88142" y="95079"/>
                </a:cubicBezTo>
                <a:lnTo>
                  <a:pt x="5270" y="56790"/>
                </a:lnTo>
                <a:cubicBezTo>
                  <a:pt x="2047" y="55273"/>
                  <a:pt x="0" y="52051"/>
                  <a:pt x="0" y="48525"/>
                </a:cubicBezTo>
                <a:cubicBezTo>
                  <a:pt x="0" y="45000"/>
                  <a:pt x="2047" y="41739"/>
                  <a:pt x="5270" y="40261"/>
                </a:cubicBezTo>
                <a:lnTo>
                  <a:pt x="88142" y="1971"/>
                </a:lnTo>
                <a:close/>
                <a:moveTo>
                  <a:pt x="18235" y="82796"/>
                </a:moveTo>
                <a:lnTo>
                  <a:pt x="80522" y="111570"/>
                </a:lnTo>
                <a:cubicBezTo>
                  <a:pt x="91023" y="116423"/>
                  <a:pt x="103116" y="116423"/>
                  <a:pt x="113618" y="111570"/>
                </a:cubicBezTo>
                <a:lnTo>
                  <a:pt x="175904" y="82796"/>
                </a:lnTo>
                <a:lnTo>
                  <a:pt x="188832" y="88786"/>
                </a:lnTo>
                <a:cubicBezTo>
                  <a:pt x="192054" y="90265"/>
                  <a:pt x="194101" y="93487"/>
                  <a:pt x="194101" y="97051"/>
                </a:cubicBezTo>
                <a:cubicBezTo>
                  <a:pt x="194101" y="100614"/>
                  <a:pt x="192054" y="103837"/>
                  <a:pt x="188832" y="105315"/>
                </a:cubicBezTo>
                <a:lnTo>
                  <a:pt x="105960" y="143605"/>
                </a:lnTo>
                <a:cubicBezTo>
                  <a:pt x="100311" y="146221"/>
                  <a:pt x="93790" y="146221"/>
                  <a:pt x="88142" y="143605"/>
                </a:cubicBezTo>
                <a:lnTo>
                  <a:pt x="5270" y="105315"/>
                </a:lnTo>
                <a:cubicBezTo>
                  <a:pt x="2047" y="103799"/>
                  <a:pt x="0" y="100576"/>
                  <a:pt x="0" y="97051"/>
                </a:cubicBezTo>
                <a:cubicBezTo>
                  <a:pt x="0" y="93525"/>
                  <a:pt x="2047" y="90265"/>
                  <a:pt x="5270" y="88786"/>
                </a:cubicBezTo>
                <a:lnTo>
                  <a:pt x="18197" y="82796"/>
                </a:lnTo>
                <a:close/>
                <a:moveTo>
                  <a:pt x="5270" y="137312"/>
                </a:moveTo>
                <a:lnTo>
                  <a:pt x="18197" y="131322"/>
                </a:lnTo>
                <a:lnTo>
                  <a:pt x="80484" y="160096"/>
                </a:lnTo>
                <a:cubicBezTo>
                  <a:pt x="90985" y="164948"/>
                  <a:pt x="103079" y="164948"/>
                  <a:pt x="113580" y="160096"/>
                </a:cubicBezTo>
                <a:lnTo>
                  <a:pt x="175867" y="131322"/>
                </a:lnTo>
                <a:lnTo>
                  <a:pt x="188794" y="137312"/>
                </a:lnTo>
                <a:cubicBezTo>
                  <a:pt x="192016" y="138790"/>
                  <a:pt x="194064" y="142013"/>
                  <a:pt x="194064" y="145576"/>
                </a:cubicBezTo>
                <a:cubicBezTo>
                  <a:pt x="194064" y="149140"/>
                  <a:pt x="192016" y="152362"/>
                  <a:pt x="188794" y="153841"/>
                </a:cubicBezTo>
                <a:lnTo>
                  <a:pt x="105922" y="192130"/>
                </a:lnTo>
                <a:cubicBezTo>
                  <a:pt x="100273" y="194746"/>
                  <a:pt x="93753" y="194746"/>
                  <a:pt x="88104" y="192130"/>
                </a:cubicBezTo>
                <a:lnTo>
                  <a:pt x="5270" y="153841"/>
                </a:lnTo>
                <a:cubicBezTo>
                  <a:pt x="2047" y="152324"/>
                  <a:pt x="0" y="149102"/>
                  <a:pt x="0" y="145576"/>
                </a:cubicBezTo>
                <a:cubicBezTo>
                  <a:pt x="0" y="142050"/>
                  <a:pt x="2047" y="138790"/>
                  <a:pt x="5270" y="13731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083584" y="7885373"/>
            <a:ext cx="447646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多分类策略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840957" y="8273576"/>
            <a:ext cx="4706961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OvR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（一对多）和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OvO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（一对一）的原理与应用场景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832721" y="7739797"/>
            <a:ext cx="4937457" cy="921982"/>
          </a:xfrm>
          <a:custGeom>
            <a:avLst/>
            <a:gdLst/>
            <a:ahLst/>
            <a:cxnLst/>
            <a:rect l="l" t="t" r="r" b="b"/>
            <a:pathLst>
              <a:path w="4937457" h="921982">
                <a:moveTo>
                  <a:pt x="48525" y="0"/>
                </a:moveTo>
                <a:lnTo>
                  <a:pt x="4840409" y="0"/>
                </a:lnTo>
                <a:cubicBezTo>
                  <a:pt x="4894007" y="0"/>
                  <a:pt x="4937457" y="43450"/>
                  <a:pt x="4937457" y="97048"/>
                </a:cubicBezTo>
                <a:lnTo>
                  <a:pt x="4937457" y="824934"/>
                </a:lnTo>
                <a:cubicBezTo>
                  <a:pt x="4937457" y="878532"/>
                  <a:pt x="4894007" y="921982"/>
                  <a:pt x="4840409" y="921982"/>
                </a:cubicBezTo>
                <a:lnTo>
                  <a:pt x="48525" y="921982"/>
                </a:lnTo>
                <a:cubicBezTo>
                  <a:pt x="21726" y="921982"/>
                  <a:pt x="0" y="900257"/>
                  <a:pt x="0" y="873457"/>
                </a:cubicBezTo>
                <a:lnTo>
                  <a:pt x="0" y="48525"/>
                </a:lnTo>
                <a:cubicBezTo>
                  <a:pt x="0" y="21743"/>
                  <a:pt x="21743" y="0"/>
                  <a:pt x="4852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10832721" y="7739797"/>
            <a:ext cx="48525" cy="921982"/>
          </a:xfrm>
          <a:custGeom>
            <a:avLst/>
            <a:gdLst/>
            <a:ahLst/>
            <a:cxnLst/>
            <a:rect l="l" t="t" r="r" b="b"/>
            <a:pathLst>
              <a:path w="48525" h="921982">
                <a:moveTo>
                  <a:pt x="48525" y="0"/>
                </a:moveTo>
                <a:lnTo>
                  <a:pt x="48525" y="0"/>
                </a:lnTo>
                <a:lnTo>
                  <a:pt x="48525" y="921982"/>
                </a:lnTo>
                <a:lnTo>
                  <a:pt x="48525" y="921982"/>
                </a:lnTo>
                <a:cubicBezTo>
                  <a:pt x="21726" y="921982"/>
                  <a:pt x="0" y="900257"/>
                  <a:pt x="0" y="873457"/>
                </a:cubicBezTo>
                <a:lnTo>
                  <a:pt x="0" y="48525"/>
                </a:lnTo>
                <a:cubicBezTo>
                  <a:pt x="0" y="21726"/>
                  <a:pt x="21726" y="0"/>
                  <a:pt x="4852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11026822" y="7933899"/>
            <a:ext cx="194101" cy="194101"/>
          </a:xfrm>
          <a:custGeom>
            <a:avLst/>
            <a:gdLst/>
            <a:ahLst/>
            <a:cxnLst/>
            <a:rect l="l" t="t" r="r" b="b"/>
            <a:pathLst>
              <a:path w="194101" h="194101">
                <a:moveTo>
                  <a:pt x="12131" y="12131"/>
                </a:moveTo>
                <a:cubicBezTo>
                  <a:pt x="18841" y="12131"/>
                  <a:pt x="24263" y="17553"/>
                  <a:pt x="24263" y="24263"/>
                </a:cubicBezTo>
                <a:lnTo>
                  <a:pt x="24263" y="151642"/>
                </a:lnTo>
                <a:cubicBezTo>
                  <a:pt x="24263" y="154978"/>
                  <a:pt x="26992" y="157707"/>
                  <a:pt x="30328" y="157707"/>
                </a:cubicBezTo>
                <a:lnTo>
                  <a:pt x="181970" y="157707"/>
                </a:lnTo>
                <a:cubicBezTo>
                  <a:pt x="188680" y="157707"/>
                  <a:pt x="194101" y="163129"/>
                  <a:pt x="194101" y="169839"/>
                </a:cubicBezTo>
                <a:cubicBezTo>
                  <a:pt x="194101" y="176549"/>
                  <a:pt x="188680" y="181970"/>
                  <a:pt x="181970" y="181970"/>
                </a:cubicBezTo>
                <a:lnTo>
                  <a:pt x="30328" y="181970"/>
                </a:lnTo>
                <a:cubicBezTo>
                  <a:pt x="13572" y="181970"/>
                  <a:pt x="0" y="168398"/>
                  <a:pt x="0" y="151642"/>
                </a:cubicBezTo>
                <a:lnTo>
                  <a:pt x="0" y="24263"/>
                </a:lnTo>
                <a:cubicBezTo>
                  <a:pt x="0" y="17553"/>
                  <a:pt x="5421" y="12131"/>
                  <a:pt x="12131" y="12131"/>
                </a:cubicBezTo>
                <a:close/>
                <a:moveTo>
                  <a:pt x="90985" y="36394"/>
                </a:moveTo>
                <a:cubicBezTo>
                  <a:pt x="93525" y="36394"/>
                  <a:pt x="95951" y="37456"/>
                  <a:pt x="97695" y="39351"/>
                </a:cubicBezTo>
                <a:lnTo>
                  <a:pt x="124650" y="68732"/>
                </a:lnTo>
                <a:lnTo>
                  <a:pt x="142164" y="51179"/>
                </a:lnTo>
                <a:cubicBezTo>
                  <a:pt x="145728" y="47616"/>
                  <a:pt x="151490" y="47616"/>
                  <a:pt x="155016" y="51179"/>
                </a:cubicBezTo>
                <a:lnTo>
                  <a:pt x="179279" y="75442"/>
                </a:lnTo>
                <a:cubicBezTo>
                  <a:pt x="180984" y="77148"/>
                  <a:pt x="181932" y="79460"/>
                  <a:pt x="181932" y="81887"/>
                </a:cubicBezTo>
                <a:lnTo>
                  <a:pt x="181932" y="124346"/>
                </a:lnTo>
                <a:cubicBezTo>
                  <a:pt x="181932" y="129388"/>
                  <a:pt x="177876" y="133445"/>
                  <a:pt x="172834" y="133445"/>
                </a:cubicBezTo>
                <a:lnTo>
                  <a:pt x="57586" y="133445"/>
                </a:lnTo>
                <a:cubicBezTo>
                  <a:pt x="52544" y="133445"/>
                  <a:pt x="48487" y="129388"/>
                  <a:pt x="48487" y="124346"/>
                </a:cubicBezTo>
                <a:lnTo>
                  <a:pt x="48487" y="81887"/>
                </a:lnTo>
                <a:cubicBezTo>
                  <a:pt x="48487" y="79612"/>
                  <a:pt x="49359" y="77413"/>
                  <a:pt x="50876" y="75745"/>
                </a:cubicBezTo>
                <a:lnTo>
                  <a:pt x="84237" y="39351"/>
                </a:lnTo>
                <a:cubicBezTo>
                  <a:pt x="85943" y="37456"/>
                  <a:pt x="88407" y="36394"/>
                  <a:pt x="90947" y="3639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1245187" y="7885373"/>
            <a:ext cx="4476466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2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非线性扩展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1002560" y="8273576"/>
            <a:ext cx="4706961" cy="242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PolynomialFeatures</a:t>
            </a:r>
            <a:r>
              <a:rPr lang="en-US" sz="1337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增加多项式特征提升表达能力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39248cfa751cbd0a9d94770bb56a8fd6c988420a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7500" b="2750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D8F8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895350"/>
            <a:ext cx="2133600" cy="584200"/>
          </a:xfrm>
          <a:custGeom>
            <a:avLst/>
            <a:gdLst/>
            <a:ahLst/>
            <a:cxnLst/>
            <a:rect l="l" t="t" r="r" b="b"/>
            <a:pathLst>
              <a:path w="2133600" h="584200">
                <a:moveTo>
                  <a:pt x="292100" y="0"/>
                </a:moveTo>
                <a:lnTo>
                  <a:pt x="1841500" y="0"/>
                </a:lnTo>
                <a:cubicBezTo>
                  <a:pt x="2002714" y="0"/>
                  <a:pt x="2133600" y="130886"/>
                  <a:pt x="2133600" y="292100"/>
                </a:cubicBezTo>
                <a:lnTo>
                  <a:pt x="2133600" y="292100"/>
                </a:lnTo>
                <a:cubicBezTo>
                  <a:pt x="2133600" y="453314"/>
                  <a:pt x="2002714" y="584200"/>
                  <a:pt x="1841500" y="584200"/>
                </a:cubicBezTo>
                <a:lnTo>
                  <a:pt x="292100" y="584200"/>
                </a:lnTo>
                <a:cubicBezTo>
                  <a:pt x="130886" y="584200"/>
                  <a:pt x="0" y="453314"/>
                  <a:pt x="0" y="292100"/>
                </a:cubicBezTo>
                <a:lnTo>
                  <a:pt x="0" y="292100"/>
                </a:lnTo>
                <a:cubicBezTo>
                  <a:pt x="0" y="130886"/>
                  <a:pt x="130886" y="0"/>
                  <a:pt x="2921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254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035050"/>
            <a:ext cx="17168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18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898650"/>
            <a:ext cx="10769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</a:t>
            </a:r>
            <a:r>
              <a:rPr lang="zh-CN" altLang="en-US" sz="9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en-US" sz="9600" dirty="0" err="1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近邻算法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434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200650"/>
            <a:ext cx="1035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E0E2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K-Nearest Neighbors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267450"/>
            <a:ext cx="1028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简单而直观的惰性学习，物以类聚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无需复杂的训练过程，逻辑直观易懂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惰性学习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336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4384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距离度量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592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0640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多数表决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902" y="488902"/>
            <a:ext cx="15498202" cy="48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65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KNN：</a:t>
            </a:r>
            <a:r>
              <a:rPr lang="en-US" sz="3465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算法概述与核心思想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88902" y="1124475"/>
            <a:ext cx="977805" cy="48890"/>
          </a:xfrm>
          <a:custGeom>
            <a:avLst/>
            <a:gdLst/>
            <a:ahLst/>
            <a:cxnLst/>
            <a:rect l="l" t="t" r="r" b="b"/>
            <a:pathLst>
              <a:path w="977805" h="48890">
                <a:moveTo>
                  <a:pt x="0" y="0"/>
                </a:moveTo>
                <a:lnTo>
                  <a:pt x="977805" y="0"/>
                </a:lnTo>
                <a:lnTo>
                  <a:pt x="977805" y="48890"/>
                </a:lnTo>
                <a:lnTo>
                  <a:pt x="0" y="4889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62238" y="1417817"/>
            <a:ext cx="220006" cy="293341"/>
          </a:xfrm>
          <a:custGeom>
            <a:avLst/>
            <a:gdLst/>
            <a:ahLst/>
            <a:cxnLst/>
            <a:rect l="l" t="t" r="r" b="b"/>
            <a:pathLst>
              <a:path w="220006" h="293341">
                <a:moveTo>
                  <a:pt x="167812" y="220006"/>
                </a:moveTo>
                <a:cubicBezTo>
                  <a:pt x="171994" y="207230"/>
                  <a:pt x="180359" y="195656"/>
                  <a:pt x="189812" y="185687"/>
                </a:cubicBezTo>
                <a:cubicBezTo>
                  <a:pt x="208547" y="165978"/>
                  <a:pt x="220006" y="139337"/>
                  <a:pt x="220006" y="110003"/>
                </a:cubicBezTo>
                <a:cubicBezTo>
                  <a:pt x="220006" y="49272"/>
                  <a:pt x="170734" y="0"/>
                  <a:pt x="110003" y="0"/>
                </a:cubicBezTo>
                <a:cubicBezTo>
                  <a:pt x="49272" y="0"/>
                  <a:pt x="0" y="49272"/>
                  <a:pt x="0" y="110003"/>
                </a:cubicBezTo>
                <a:cubicBezTo>
                  <a:pt x="0" y="139337"/>
                  <a:pt x="11459" y="165978"/>
                  <a:pt x="30194" y="185687"/>
                </a:cubicBezTo>
                <a:cubicBezTo>
                  <a:pt x="39647" y="195656"/>
                  <a:pt x="48069" y="207230"/>
                  <a:pt x="52194" y="220006"/>
                </a:cubicBezTo>
                <a:lnTo>
                  <a:pt x="167755" y="220006"/>
                </a:lnTo>
                <a:close/>
                <a:moveTo>
                  <a:pt x="165005" y="247507"/>
                </a:moveTo>
                <a:lnTo>
                  <a:pt x="55002" y="247507"/>
                </a:lnTo>
                <a:lnTo>
                  <a:pt x="55002" y="256674"/>
                </a:lnTo>
                <a:cubicBezTo>
                  <a:pt x="55002" y="281997"/>
                  <a:pt x="75512" y="302508"/>
                  <a:pt x="100836" y="302508"/>
                </a:cubicBezTo>
                <a:lnTo>
                  <a:pt x="119170" y="302508"/>
                </a:lnTo>
                <a:cubicBezTo>
                  <a:pt x="144494" y="302508"/>
                  <a:pt x="165005" y="281997"/>
                  <a:pt x="165005" y="256674"/>
                </a:cubicBezTo>
                <a:lnTo>
                  <a:pt x="165005" y="247507"/>
                </a:lnTo>
                <a:close/>
                <a:moveTo>
                  <a:pt x="105420" y="64168"/>
                </a:moveTo>
                <a:cubicBezTo>
                  <a:pt x="82617" y="64168"/>
                  <a:pt x="64168" y="82617"/>
                  <a:pt x="64168" y="105420"/>
                </a:cubicBezTo>
                <a:cubicBezTo>
                  <a:pt x="64168" y="113040"/>
                  <a:pt x="58038" y="119170"/>
                  <a:pt x="50418" y="119170"/>
                </a:cubicBezTo>
                <a:cubicBezTo>
                  <a:pt x="42798" y="119170"/>
                  <a:pt x="36668" y="113040"/>
                  <a:pt x="36668" y="105420"/>
                </a:cubicBezTo>
                <a:cubicBezTo>
                  <a:pt x="36668" y="67434"/>
                  <a:pt x="67434" y="36668"/>
                  <a:pt x="105420" y="36668"/>
                </a:cubicBezTo>
                <a:cubicBezTo>
                  <a:pt x="113040" y="36668"/>
                  <a:pt x="119170" y="42798"/>
                  <a:pt x="119170" y="50418"/>
                </a:cubicBezTo>
                <a:cubicBezTo>
                  <a:pt x="119170" y="58038"/>
                  <a:pt x="113040" y="64168"/>
                  <a:pt x="105420" y="6416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55579" y="1368926"/>
            <a:ext cx="7223531" cy="3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8902" y="1906719"/>
            <a:ext cx="7553540" cy="721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"物以类聚"</a:t>
            </a:r>
            <a:r>
              <a:rPr lang="en-US" sz="173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：如果一个数据点在特征空间中与某些已知类别的数据点靠得很近，那么它很可能属于这些数据点所属的类别。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3347" y="2817299"/>
            <a:ext cx="7419092" cy="1124475"/>
          </a:xfrm>
          <a:custGeom>
            <a:avLst/>
            <a:gdLst/>
            <a:ahLst/>
            <a:cxnLst/>
            <a:rect l="l" t="t" r="r" b="b"/>
            <a:pathLst>
              <a:path w="7419092" h="1124475">
                <a:moveTo>
                  <a:pt x="48890" y="0"/>
                </a:moveTo>
                <a:lnTo>
                  <a:pt x="7321307" y="0"/>
                </a:lnTo>
                <a:cubicBezTo>
                  <a:pt x="7375312" y="0"/>
                  <a:pt x="7419092" y="43780"/>
                  <a:pt x="7419092" y="97784"/>
                </a:cubicBezTo>
                <a:lnTo>
                  <a:pt x="7419092" y="1026691"/>
                </a:lnTo>
                <a:cubicBezTo>
                  <a:pt x="7419092" y="1080696"/>
                  <a:pt x="7375312" y="1124475"/>
                  <a:pt x="7321307" y="1124475"/>
                </a:cubicBezTo>
                <a:lnTo>
                  <a:pt x="48890" y="1124475"/>
                </a:lnTo>
                <a:cubicBezTo>
                  <a:pt x="21907" y="1124475"/>
                  <a:pt x="0" y="1102568"/>
                  <a:pt x="0" y="1075585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13347" y="2817299"/>
            <a:ext cx="48890" cy="1124475"/>
          </a:xfrm>
          <a:custGeom>
            <a:avLst/>
            <a:gdLst/>
            <a:ahLst/>
            <a:cxnLst/>
            <a:rect l="l" t="t" r="r" b="b"/>
            <a:pathLst>
              <a:path w="48890" h="1124475">
                <a:moveTo>
                  <a:pt x="48890" y="0"/>
                </a:moveTo>
                <a:lnTo>
                  <a:pt x="48890" y="0"/>
                </a:lnTo>
                <a:lnTo>
                  <a:pt x="48890" y="1124475"/>
                </a:lnTo>
                <a:lnTo>
                  <a:pt x="48890" y="1124475"/>
                </a:lnTo>
                <a:cubicBezTo>
                  <a:pt x="21907" y="1124475"/>
                  <a:pt x="0" y="1102568"/>
                  <a:pt x="0" y="1075585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72241" y="3012860"/>
            <a:ext cx="7125750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25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ŷ(x) = argmax Σ I(yᵢ = cⱼ)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4463" y="3452872"/>
            <a:ext cx="71013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统计K个邻居中各类别出现次数，取最多者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5570" y="4186226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146671" y="0"/>
                </a:moveTo>
                <a:cubicBezTo>
                  <a:pt x="65658" y="0"/>
                  <a:pt x="0" y="65658"/>
                  <a:pt x="0" y="146671"/>
                </a:cubicBezTo>
                <a:cubicBezTo>
                  <a:pt x="0" y="227683"/>
                  <a:pt x="65658" y="293341"/>
                  <a:pt x="146671" y="293341"/>
                </a:cubicBezTo>
                <a:cubicBezTo>
                  <a:pt x="186088" y="293341"/>
                  <a:pt x="221897" y="277758"/>
                  <a:pt x="248252" y="252434"/>
                </a:cubicBezTo>
                <a:cubicBezTo>
                  <a:pt x="252434" y="248423"/>
                  <a:pt x="253637" y="242178"/>
                  <a:pt x="251288" y="236908"/>
                </a:cubicBezTo>
                <a:cubicBezTo>
                  <a:pt x="248939" y="231637"/>
                  <a:pt x="243439" y="228371"/>
                  <a:pt x="237652" y="228829"/>
                </a:cubicBezTo>
                <a:cubicBezTo>
                  <a:pt x="234845" y="229058"/>
                  <a:pt x="232038" y="229173"/>
                  <a:pt x="229173" y="229173"/>
                </a:cubicBezTo>
                <a:cubicBezTo>
                  <a:pt x="170963" y="229173"/>
                  <a:pt x="123753" y="181963"/>
                  <a:pt x="123753" y="123753"/>
                </a:cubicBezTo>
                <a:cubicBezTo>
                  <a:pt x="123753" y="82445"/>
                  <a:pt x="147530" y="46637"/>
                  <a:pt x="182250" y="29334"/>
                </a:cubicBezTo>
                <a:cubicBezTo>
                  <a:pt x="187463" y="26756"/>
                  <a:pt x="190443" y="21141"/>
                  <a:pt x="189755" y="15355"/>
                </a:cubicBezTo>
                <a:cubicBezTo>
                  <a:pt x="189068" y="9568"/>
                  <a:pt x="184828" y="4870"/>
                  <a:pt x="179156" y="3609"/>
                </a:cubicBezTo>
                <a:cubicBezTo>
                  <a:pt x="168671" y="1260"/>
                  <a:pt x="157786" y="0"/>
                  <a:pt x="14667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55579" y="4137335"/>
            <a:ext cx="7223531" cy="3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惰性学习特点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8902" y="4675128"/>
            <a:ext cx="7541317" cy="635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4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</a:t>
            </a:r>
            <a:r>
              <a:rPr lang="en-US" sz="15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是一种</a:t>
            </a:r>
            <a:r>
              <a:rPr lang="en-US" sz="15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"惰性学习"</a:t>
            </a:r>
            <a:r>
              <a:rPr lang="en-US" sz="15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算法，训练阶段几乎不进行模型构建，而是将所有数据"原样"保存，等到预测时才根据需要进行计算。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5570" y="5506262"/>
            <a:ext cx="171116" cy="195561"/>
          </a:xfrm>
          <a:custGeom>
            <a:avLst/>
            <a:gdLst/>
            <a:ahLst/>
            <a:cxnLst/>
            <a:rect l="l" t="t" r="r" b="b"/>
            <a:pathLst>
              <a:path w="171116" h="195561">
                <a:moveTo>
                  <a:pt x="166074" y="26775"/>
                </a:moveTo>
                <a:cubicBezTo>
                  <a:pt x="171536" y="30747"/>
                  <a:pt x="172758" y="38386"/>
                  <a:pt x="168786" y="43848"/>
                </a:cubicBezTo>
                <a:lnTo>
                  <a:pt x="71005" y="178297"/>
                </a:lnTo>
                <a:cubicBezTo>
                  <a:pt x="68905" y="181199"/>
                  <a:pt x="65658" y="182995"/>
                  <a:pt x="62068" y="183300"/>
                </a:cubicBezTo>
                <a:cubicBezTo>
                  <a:pt x="58477" y="183606"/>
                  <a:pt x="55002" y="182269"/>
                  <a:pt x="52481" y="179748"/>
                </a:cubicBezTo>
                <a:lnTo>
                  <a:pt x="3590" y="130858"/>
                </a:lnTo>
                <a:cubicBezTo>
                  <a:pt x="-1184" y="126083"/>
                  <a:pt x="-1184" y="118330"/>
                  <a:pt x="3590" y="113555"/>
                </a:cubicBezTo>
                <a:cubicBezTo>
                  <a:pt x="8365" y="108781"/>
                  <a:pt x="16118" y="108781"/>
                  <a:pt x="20893" y="113555"/>
                </a:cubicBezTo>
                <a:lnTo>
                  <a:pt x="59661" y="152324"/>
                </a:lnTo>
                <a:lnTo>
                  <a:pt x="149039" y="29449"/>
                </a:lnTo>
                <a:cubicBezTo>
                  <a:pt x="153011" y="23987"/>
                  <a:pt x="160650" y="22765"/>
                  <a:pt x="166112" y="2673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80024" y="5457371"/>
            <a:ext cx="2248950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训练阶段主要是存储数据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5570" y="5897383"/>
            <a:ext cx="171116" cy="195561"/>
          </a:xfrm>
          <a:custGeom>
            <a:avLst/>
            <a:gdLst/>
            <a:ahLst/>
            <a:cxnLst/>
            <a:rect l="l" t="t" r="r" b="b"/>
            <a:pathLst>
              <a:path w="171116" h="195561">
                <a:moveTo>
                  <a:pt x="166074" y="26775"/>
                </a:moveTo>
                <a:cubicBezTo>
                  <a:pt x="171536" y="30747"/>
                  <a:pt x="172758" y="38386"/>
                  <a:pt x="168786" y="43848"/>
                </a:cubicBezTo>
                <a:lnTo>
                  <a:pt x="71005" y="178297"/>
                </a:lnTo>
                <a:cubicBezTo>
                  <a:pt x="68905" y="181199"/>
                  <a:pt x="65658" y="182995"/>
                  <a:pt x="62068" y="183300"/>
                </a:cubicBezTo>
                <a:cubicBezTo>
                  <a:pt x="58477" y="183606"/>
                  <a:pt x="55002" y="182269"/>
                  <a:pt x="52481" y="179748"/>
                </a:cubicBezTo>
                <a:lnTo>
                  <a:pt x="3590" y="130858"/>
                </a:lnTo>
                <a:cubicBezTo>
                  <a:pt x="-1184" y="126083"/>
                  <a:pt x="-1184" y="118330"/>
                  <a:pt x="3590" y="113555"/>
                </a:cubicBezTo>
                <a:cubicBezTo>
                  <a:pt x="8365" y="108781"/>
                  <a:pt x="16118" y="108781"/>
                  <a:pt x="20893" y="113555"/>
                </a:cubicBezTo>
                <a:lnTo>
                  <a:pt x="59661" y="152324"/>
                </a:lnTo>
                <a:lnTo>
                  <a:pt x="149039" y="29449"/>
                </a:lnTo>
                <a:cubicBezTo>
                  <a:pt x="153011" y="23987"/>
                  <a:pt x="160650" y="22765"/>
                  <a:pt x="166112" y="2673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80024" y="5848493"/>
            <a:ext cx="2444511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预测阶段才计算距离并决策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5570" y="6288505"/>
            <a:ext cx="171116" cy="195561"/>
          </a:xfrm>
          <a:custGeom>
            <a:avLst/>
            <a:gdLst/>
            <a:ahLst/>
            <a:cxnLst/>
            <a:rect l="l" t="t" r="r" b="b"/>
            <a:pathLst>
              <a:path w="171116" h="195561">
                <a:moveTo>
                  <a:pt x="166074" y="26775"/>
                </a:moveTo>
                <a:cubicBezTo>
                  <a:pt x="171536" y="30747"/>
                  <a:pt x="172758" y="38386"/>
                  <a:pt x="168786" y="43848"/>
                </a:cubicBezTo>
                <a:lnTo>
                  <a:pt x="71005" y="178297"/>
                </a:lnTo>
                <a:cubicBezTo>
                  <a:pt x="68905" y="181199"/>
                  <a:pt x="65658" y="182995"/>
                  <a:pt x="62068" y="183300"/>
                </a:cubicBezTo>
                <a:cubicBezTo>
                  <a:pt x="58477" y="183606"/>
                  <a:pt x="55002" y="182269"/>
                  <a:pt x="52481" y="179748"/>
                </a:cubicBezTo>
                <a:lnTo>
                  <a:pt x="3590" y="130858"/>
                </a:lnTo>
                <a:cubicBezTo>
                  <a:pt x="-1184" y="126083"/>
                  <a:pt x="-1184" y="118330"/>
                  <a:pt x="3590" y="113555"/>
                </a:cubicBezTo>
                <a:cubicBezTo>
                  <a:pt x="8365" y="108781"/>
                  <a:pt x="16118" y="108781"/>
                  <a:pt x="20893" y="113555"/>
                </a:cubicBezTo>
                <a:lnTo>
                  <a:pt x="59661" y="152324"/>
                </a:lnTo>
                <a:lnTo>
                  <a:pt x="149039" y="29449"/>
                </a:lnTo>
                <a:cubicBezTo>
                  <a:pt x="153011" y="23987"/>
                  <a:pt x="160650" y="22765"/>
                  <a:pt x="166112" y="2673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80024" y="6239615"/>
            <a:ext cx="3031194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逻辑直观易懂，无需复杂数学推导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5570" y="6777408"/>
            <a:ext cx="293341" cy="293341"/>
          </a:xfrm>
          <a:custGeom>
            <a:avLst/>
            <a:gdLst/>
            <a:ahLst/>
            <a:cxnLst/>
            <a:rect l="l" t="t" r="r" b="b"/>
            <a:pathLst>
              <a:path w="293341" h="293341">
                <a:moveTo>
                  <a:pt x="27501" y="82502"/>
                </a:moveTo>
                <a:cubicBezTo>
                  <a:pt x="42679" y="82502"/>
                  <a:pt x="55002" y="70180"/>
                  <a:pt x="55002" y="55002"/>
                </a:cubicBezTo>
                <a:cubicBezTo>
                  <a:pt x="55002" y="39823"/>
                  <a:pt x="42679" y="27501"/>
                  <a:pt x="27501" y="27501"/>
                </a:cubicBezTo>
                <a:cubicBezTo>
                  <a:pt x="12323" y="27501"/>
                  <a:pt x="0" y="39823"/>
                  <a:pt x="0" y="55002"/>
                </a:cubicBezTo>
                <a:cubicBezTo>
                  <a:pt x="0" y="70180"/>
                  <a:pt x="12323" y="82502"/>
                  <a:pt x="27501" y="82502"/>
                </a:cubicBezTo>
                <a:close/>
                <a:moveTo>
                  <a:pt x="110003" y="36668"/>
                </a:moveTo>
                <a:cubicBezTo>
                  <a:pt x="99862" y="36668"/>
                  <a:pt x="91669" y="44861"/>
                  <a:pt x="91669" y="55002"/>
                </a:cubicBezTo>
                <a:cubicBezTo>
                  <a:pt x="91669" y="65142"/>
                  <a:pt x="99862" y="73335"/>
                  <a:pt x="110003" y="73335"/>
                </a:cubicBezTo>
                <a:lnTo>
                  <a:pt x="275008" y="73335"/>
                </a:lnTo>
                <a:cubicBezTo>
                  <a:pt x="285148" y="73335"/>
                  <a:pt x="293341" y="65142"/>
                  <a:pt x="293341" y="55002"/>
                </a:cubicBezTo>
                <a:cubicBezTo>
                  <a:pt x="293341" y="44861"/>
                  <a:pt x="285148" y="36668"/>
                  <a:pt x="275008" y="36668"/>
                </a:cubicBezTo>
                <a:lnTo>
                  <a:pt x="110003" y="36668"/>
                </a:lnTo>
                <a:close/>
                <a:moveTo>
                  <a:pt x="110003" y="128337"/>
                </a:moveTo>
                <a:cubicBezTo>
                  <a:pt x="99862" y="128337"/>
                  <a:pt x="91669" y="136530"/>
                  <a:pt x="91669" y="146671"/>
                </a:cubicBezTo>
                <a:cubicBezTo>
                  <a:pt x="91669" y="156812"/>
                  <a:pt x="99862" y="165005"/>
                  <a:pt x="110003" y="165005"/>
                </a:cubicBezTo>
                <a:lnTo>
                  <a:pt x="275008" y="165005"/>
                </a:lnTo>
                <a:cubicBezTo>
                  <a:pt x="285148" y="165005"/>
                  <a:pt x="293341" y="156812"/>
                  <a:pt x="293341" y="146671"/>
                </a:cubicBezTo>
                <a:cubicBezTo>
                  <a:pt x="293341" y="136530"/>
                  <a:pt x="285148" y="128337"/>
                  <a:pt x="275008" y="128337"/>
                </a:cubicBezTo>
                <a:lnTo>
                  <a:pt x="110003" y="128337"/>
                </a:lnTo>
                <a:close/>
                <a:moveTo>
                  <a:pt x="110003" y="220006"/>
                </a:moveTo>
                <a:cubicBezTo>
                  <a:pt x="99862" y="220006"/>
                  <a:pt x="91669" y="228199"/>
                  <a:pt x="91669" y="238340"/>
                </a:cubicBezTo>
                <a:cubicBezTo>
                  <a:pt x="91669" y="248481"/>
                  <a:pt x="99862" y="256674"/>
                  <a:pt x="110003" y="256674"/>
                </a:cubicBezTo>
                <a:lnTo>
                  <a:pt x="275008" y="256674"/>
                </a:lnTo>
                <a:cubicBezTo>
                  <a:pt x="285148" y="256674"/>
                  <a:pt x="293341" y="248481"/>
                  <a:pt x="293341" y="238340"/>
                </a:cubicBezTo>
                <a:cubicBezTo>
                  <a:pt x="293341" y="228199"/>
                  <a:pt x="285148" y="220006"/>
                  <a:pt x="275008" y="220006"/>
                </a:cubicBezTo>
                <a:lnTo>
                  <a:pt x="110003" y="220006"/>
                </a:lnTo>
                <a:close/>
                <a:moveTo>
                  <a:pt x="27501" y="265841"/>
                </a:moveTo>
                <a:cubicBezTo>
                  <a:pt x="42679" y="265841"/>
                  <a:pt x="55002" y="253518"/>
                  <a:pt x="55002" y="238340"/>
                </a:cubicBezTo>
                <a:cubicBezTo>
                  <a:pt x="55002" y="223162"/>
                  <a:pt x="42679" y="210839"/>
                  <a:pt x="27501" y="210839"/>
                </a:cubicBezTo>
                <a:cubicBezTo>
                  <a:pt x="12323" y="210839"/>
                  <a:pt x="0" y="223162"/>
                  <a:pt x="0" y="238340"/>
                </a:cubicBezTo>
                <a:cubicBezTo>
                  <a:pt x="0" y="253518"/>
                  <a:pt x="12323" y="265841"/>
                  <a:pt x="27501" y="265841"/>
                </a:cubicBezTo>
                <a:close/>
                <a:moveTo>
                  <a:pt x="55002" y="146671"/>
                </a:moveTo>
                <a:cubicBezTo>
                  <a:pt x="55002" y="131493"/>
                  <a:pt x="42679" y="119170"/>
                  <a:pt x="27501" y="119170"/>
                </a:cubicBezTo>
                <a:cubicBezTo>
                  <a:pt x="12323" y="119170"/>
                  <a:pt x="0" y="131493"/>
                  <a:pt x="0" y="146671"/>
                </a:cubicBezTo>
                <a:cubicBezTo>
                  <a:pt x="0" y="161849"/>
                  <a:pt x="12323" y="174171"/>
                  <a:pt x="27501" y="174171"/>
                </a:cubicBezTo>
                <a:cubicBezTo>
                  <a:pt x="42679" y="174171"/>
                  <a:pt x="55002" y="161849"/>
                  <a:pt x="55002" y="14667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5579" y="6728517"/>
            <a:ext cx="7223531" cy="3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8902" y="7364090"/>
            <a:ext cx="97780" cy="97780"/>
          </a:xfrm>
          <a:custGeom>
            <a:avLst/>
            <a:gdLst/>
            <a:ahLst/>
            <a:cxnLst/>
            <a:rect l="l" t="t" r="r" b="b"/>
            <a:pathLst>
              <a:path w="97780" h="97780">
                <a:moveTo>
                  <a:pt x="48890" y="0"/>
                </a:moveTo>
                <a:lnTo>
                  <a:pt x="48890" y="0"/>
                </a:lnTo>
                <a:cubicBezTo>
                  <a:pt x="75873" y="0"/>
                  <a:pt x="97780" y="21907"/>
                  <a:pt x="97780" y="48890"/>
                </a:cubicBezTo>
                <a:lnTo>
                  <a:pt x="97780" y="48890"/>
                </a:lnTo>
                <a:cubicBezTo>
                  <a:pt x="97780" y="75873"/>
                  <a:pt x="75873" y="97780"/>
                  <a:pt x="48890" y="97780"/>
                </a:cubicBezTo>
                <a:lnTo>
                  <a:pt x="48890" y="97780"/>
                </a:lnTo>
                <a:cubicBezTo>
                  <a:pt x="21907" y="97780"/>
                  <a:pt x="0" y="75873"/>
                  <a:pt x="0" y="48890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33353" y="7266310"/>
            <a:ext cx="1271146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电影推荐系统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8902" y="7755212"/>
            <a:ext cx="97780" cy="97780"/>
          </a:xfrm>
          <a:custGeom>
            <a:avLst/>
            <a:gdLst/>
            <a:ahLst/>
            <a:cxnLst/>
            <a:rect l="l" t="t" r="r" b="b"/>
            <a:pathLst>
              <a:path w="97780" h="97780">
                <a:moveTo>
                  <a:pt x="48890" y="0"/>
                </a:moveTo>
                <a:lnTo>
                  <a:pt x="48890" y="0"/>
                </a:lnTo>
                <a:cubicBezTo>
                  <a:pt x="75873" y="0"/>
                  <a:pt x="97780" y="21907"/>
                  <a:pt x="97780" y="48890"/>
                </a:cubicBezTo>
                <a:lnTo>
                  <a:pt x="97780" y="48890"/>
                </a:lnTo>
                <a:cubicBezTo>
                  <a:pt x="97780" y="75873"/>
                  <a:pt x="75873" y="97780"/>
                  <a:pt x="48890" y="97780"/>
                </a:cubicBezTo>
                <a:lnTo>
                  <a:pt x="48890" y="97780"/>
                </a:lnTo>
                <a:cubicBezTo>
                  <a:pt x="21907" y="97780"/>
                  <a:pt x="0" y="75873"/>
                  <a:pt x="0" y="48890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33353" y="7657432"/>
            <a:ext cx="1271146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手写数字识别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8902" y="8146334"/>
            <a:ext cx="97780" cy="97780"/>
          </a:xfrm>
          <a:custGeom>
            <a:avLst/>
            <a:gdLst/>
            <a:ahLst/>
            <a:cxnLst/>
            <a:rect l="l" t="t" r="r" b="b"/>
            <a:pathLst>
              <a:path w="97780" h="97780">
                <a:moveTo>
                  <a:pt x="48890" y="0"/>
                </a:moveTo>
                <a:lnTo>
                  <a:pt x="48890" y="0"/>
                </a:lnTo>
                <a:cubicBezTo>
                  <a:pt x="75873" y="0"/>
                  <a:pt x="97780" y="21907"/>
                  <a:pt x="97780" y="48890"/>
                </a:cubicBezTo>
                <a:lnTo>
                  <a:pt x="97780" y="48890"/>
                </a:lnTo>
                <a:cubicBezTo>
                  <a:pt x="97780" y="75873"/>
                  <a:pt x="75873" y="97780"/>
                  <a:pt x="48890" y="97780"/>
                </a:cubicBezTo>
                <a:lnTo>
                  <a:pt x="48890" y="97780"/>
                </a:lnTo>
                <a:cubicBezTo>
                  <a:pt x="21907" y="97780"/>
                  <a:pt x="0" y="75873"/>
                  <a:pt x="0" y="48890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33353" y="8048553"/>
            <a:ext cx="1857829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客户分类与模式识别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22129" y="1417817"/>
            <a:ext cx="366677" cy="293341"/>
          </a:xfrm>
          <a:custGeom>
            <a:avLst/>
            <a:gdLst/>
            <a:ahLst/>
            <a:cxnLst/>
            <a:rect l="l" t="t" r="r" b="b"/>
            <a:pathLst>
              <a:path w="366677" h="293341">
                <a:moveTo>
                  <a:pt x="238283" y="120602"/>
                </a:moveTo>
                <a:cubicBezTo>
                  <a:pt x="245272" y="118712"/>
                  <a:pt x="252606" y="122035"/>
                  <a:pt x="255757" y="128509"/>
                </a:cubicBezTo>
                <a:lnTo>
                  <a:pt x="266414" y="150051"/>
                </a:lnTo>
                <a:cubicBezTo>
                  <a:pt x="272315" y="150853"/>
                  <a:pt x="278101" y="152457"/>
                  <a:pt x="283544" y="154692"/>
                </a:cubicBezTo>
                <a:lnTo>
                  <a:pt x="303597" y="141342"/>
                </a:lnTo>
                <a:cubicBezTo>
                  <a:pt x="309613" y="137332"/>
                  <a:pt x="317576" y="138134"/>
                  <a:pt x="322675" y="143233"/>
                </a:cubicBezTo>
                <a:lnTo>
                  <a:pt x="333676" y="154233"/>
                </a:lnTo>
                <a:cubicBezTo>
                  <a:pt x="338775" y="159332"/>
                  <a:pt x="339577" y="167354"/>
                  <a:pt x="335566" y="173312"/>
                </a:cubicBezTo>
                <a:lnTo>
                  <a:pt x="322217" y="193307"/>
                </a:lnTo>
                <a:cubicBezTo>
                  <a:pt x="323306" y="196000"/>
                  <a:pt x="324280" y="198808"/>
                  <a:pt x="325082" y="201729"/>
                </a:cubicBezTo>
                <a:cubicBezTo>
                  <a:pt x="325884" y="204651"/>
                  <a:pt x="326400" y="207516"/>
                  <a:pt x="326801" y="210438"/>
                </a:cubicBezTo>
                <a:lnTo>
                  <a:pt x="348400" y="221095"/>
                </a:lnTo>
                <a:cubicBezTo>
                  <a:pt x="354874" y="224303"/>
                  <a:pt x="358197" y="231637"/>
                  <a:pt x="356307" y="238569"/>
                </a:cubicBezTo>
                <a:lnTo>
                  <a:pt x="352296" y="253580"/>
                </a:lnTo>
                <a:cubicBezTo>
                  <a:pt x="350405" y="260512"/>
                  <a:pt x="343931" y="265210"/>
                  <a:pt x="336712" y="264752"/>
                </a:cubicBezTo>
                <a:lnTo>
                  <a:pt x="312649" y="263205"/>
                </a:lnTo>
                <a:cubicBezTo>
                  <a:pt x="309040" y="267846"/>
                  <a:pt x="304857" y="272143"/>
                  <a:pt x="300102" y="275810"/>
                </a:cubicBezTo>
                <a:lnTo>
                  <a:pt x="301649" y="299815"/>
                </a:lnTo>
                <a:cubicBezTo>
                  <a:pt x="302107" y="307034"/>
                  <a:pt x="297409" y="313566"/>
                  <a:pt x="290477" y="315399"/>
                </a:cubicBezTo>
                <a:lnTo>
                  <a:pt x="275466" y="319410"/>
                </a:lnTo>
                <a:cubicBezTo>
                  <a:pt x="268476" y="321300"/>
                  <a:pt x="261200" y="317977"/>
                  <a:pt x="257991" y="311503"/>
                </a:cubicBezTo>
                <a:lnTo>
                  <a:pt x="247335" y="289961"/>
                </a:lnTo>
                <a:cubicBezTo>
                  <a:pt x="241434" y="289159"/>
                  <a:pt x="235647" y="287555"/>
                  <a:pt x="230204" y="285320"/>
                </a:cubicBezTo>
                <a:lnTo>
                  <a:pt x="210152" y="298670"/>
                </a:lnTo>
                <a:cubicBezTo>
                  <a:pt x="204136" y="302680"/>
                  <a:pt x="196172" y="301878"/>
                  <a:pt x="191073" y="296779"/>
                </a:cubicBezTo>
                <a:lnTo>
                  <a:pt x="180073" y="285779"/>
                </a:lnTo>
                <a:cubicBezTo>
                  <a:pt x="174974" y="280680"/>
                  <a:pt x="174171" y="272716"/>
                  <a:pt x="178182" y="266700"/>
                </a:cubicBezTo>
                <a:lnTo>
                  <a:pt x="191531" y="246647"/>
                </a:lnTo>
                <a:cubicBezTo>
                  <a:pt x="190443" y="243955"/>
                  <a:pt x="189469" y="241147"/>
                  <a:pt x="188667" y="238225"/>
                </a:cubicBezTo>
                <a:cubicBezTo>
                  <a:pt x="187865" y="235303"/>
                  <a:pt x="187349" y="232381"/>
                  <a:pt x="186948" y="229517"/>
                </a:cubicBezTo>
                <a:lnTo>
                  <a:pt x="165348" y="218860"/>
                </a:lnTo>
                <a:cubicBezTo>
                  <a:pt x="158874" y="215652"/>
                  <a:pt x="155608" y="208318"/>
                  <a:pt x="157442" y="201386"/>
                </a:cubicBezTo>
                <a:lnTo>
                  <a:pt x="161452" y="186375"/>
                </a:lnTo>
                <a:cubicBezTo>
                  <a:pt x="163343" y="179442"/>
                  <a:pt x="169817" y="174744"/>
                  <a:pt x="177036" y="175203"/>
                </a:cubicBezTo>
                <a:lnTo>
                  <a:pt x="201042" y="176750"/>
                </a:lnTo>
                <a:cubicBezTo>
                  <a:pt x="204651" y="172109"/>
                  <a:pt x="208834" y="167812"/>
                  <a:pt x="213589" y="164145"/>
                </a:cubicBezTo>
                <a:lnTo>
                  <a:pt x="212042" y="140197"/>
                </a:lnTo>
                <a:cubicBezTo>
                  <a:pt x="211584" y="132978"/>
                  <a:pt x="216282" y="126446"/>
                  <a:pt x="223214" y="124613"/>
                </a:cubicBezTo>
                <a:lnTo>
                  <a:pt x="238225" y="120602"/>
                </a:lnTo>
                <a:close/>
                <a:moveTo>
                  <a:pt x="256903" y="194797"/>
                </a:moveTo>
                <a:cubicBezTo>
                  <a:pt x="242990" y="194813"/>
                  <a:pt x="231707" y="206121"/>
                  <a:pt x="231722" y="220035"/>
                </a:cubicBezTo>
                <a:cubicBezTo>
                  <a:pt x="231738" y="233948"/>
                  <a:pt x="243047" y="245231"/>
                  <a:pt x="256960" y="245215"/>
                </a:cubicBezTo>
                <a:cubicBezTo>
                  <a:pt x="270873" y="245199"/>
                  <a:pt x="282156" y="233891"/>
                  <a:pt x="282141" y="219977"/>
                </a:cubicBezTo>
                <a:cubicBezTo>
                  <a:pt x="282125" y="206064"/>
                  <a:pt x="270816" y="194781"/>
                  <a:pt x="256903" y="194797"/>
                </a:cubicBezTo>
                <a:close/>
                <a:moveTo>
                  <a:pt x="128852" y="-26068"/>
                </a:moveTo>
                <a:lnTo>
                  <a:pt x="143863" y="-22058"/>
                </a:lnTo>
                <a:cubicBezTo>
                  <a:pt x="150796" y="-20167"/>
                  <a:pt x="155494" y="-13636"/>
                  <a:pt x="155035" y="-6474"/>
                </a:cubicBezTo>
                <a:lnTo>
                  <a:pt x="153489" y="17474"/>
                </a:lnTo>
                <a:cubicBezTo>
                  <a:pt x="158244" y="21141"/>
                  <a:pt x="162426" y="25381"/>
                  <a:pt x="166036" y="30079"/>
                </a:cubicBezTo>
                <a:lnTo>
                  <a:pt x="190099" y="28532"/>
                </a:lnTo>
                <a:cubicBezTo>
                  <a:pt x="197261" y="28074"/>
                  <a:pt x="203792" y="32772"/>
                  <a:pt x="205683" y="39704"/>
                </a:cubicBezTo>
                <a:lnTo>
                  <a:pt x="209693" y="54715"/>
                </a:lnTo>
                <a:cubicBezTo>
                  <a:pt x="211527" y="61648"/>
                  <a:pt x="208261" y="68981"/>
                  <a:pt x="201787" y="72189"/>
                </a:cubicBezTo>
                <a:lnTo>
                  <a:pt x="180187" y="82846"/>
                </a:lnTo>
                <a:cubicBezTo>
                  <a:pt x="179786" y="85768"/>
                  <a:pt x="179213" y="88690"/>
                  <a:pt x="178468" y="91555"/>
                </a:cubicBezTo>
                <a:cubicBezTo>
                  <a:pt x="177724" y="94419"/>
                  <a:pt x="176692" y="97284"/>
                  <a:pt x="175604" y="99977"/>
                </a:cubicBezTo>
                <a:lnTo>
                  <a:pt x="188953" y="120029"/>
                </a:lnTo>
                <a:cubicBezTo>
                  <a:pt x="192964" y="126045"/>
                  <a:pt x="192162" y="134009"/>
                  <a:pt x="187062" y="139108"/>
                </a:cubicBezTo>
                <a:lnTo>
                  <a:pt x="176062" y="150108"/>
                </a:lnTo>
                <a:cubicBezTo>
                  <a:pt x="170963" y="155207"/>
                  <a:pt x="162999" y="156009"/>
                  <a:pt x="156983" y="151999"/>
                </a:cubicBezTo>
                <a:lnTo>
                  <a:pt x="136931" y="138650"/>
                </a:lnTo>
                <a:cubicBezTo>
                  <a:pt x="131488" y="140884"/>
                  <a:pt x="125701" y="142488"/>
                  <a:pt x="119800" y="143290"/>
                </a:cubicBezTo>
                <a:lnTo>
                  <a:pt x="109144" y="164833"/>
                </a:lnTo>
                <a:cubicBezTo>
                  <a:pt x="105935" y="171307"/>
                  <a:pt x="98602" y="174572"/>
                  <a:pt x="91669" y="172739"/>
                </a:cubicBezTo>
                <a:lnTo>
                  <a:pt x="76658" y="168729"/>
                </a:lnTo>
                <a:cubicBezTo>
                  <a:pt x="69669" y="166838"/>
                  <a:pt x="65028" y="160306"/>
                  <a:pt x="65486" y="153145"/>
                </a:cubicBezTo>
                <a:lnTo>
                  <a:pt x="67033" y="129139"/>
                </a:lnTo>
                <a:cubicBezTo>
                  <a:pt x="62278" y="125472"/>
                  <a:pt x="58095" y="121232"/>
                  <a:pt x="54486" y="116534"/>
                </a:cubicBezTo>
                <a:lnTo>
                  <a:pt x="30423" y="118081"/>
                </a:lnTo>
                <a:cubicBezTo>
                  <a:pt x="23261" y="118540"/>
                  <a:pt x="16730" y="113842"/>
                  <a:pt x="14839" y="106909"/>
                </a:cubicBezTo>
                <a:lnTo>
                  <a:pt x="10828" y="91898"/>
                </a:lnTo>
                <a:cubicBezTo>
                  <a:pt x="8995" y="84966"/>
                  <a:pt x="12261" y="77632"/>
                  <a:pt x="18735" y="74424"/>
                </a:cubicBezTo>
                <a:lnTo>
                  <a:pt x="40334" y="63767"/>
                </a:lnTo>
                <a:cubicBezTo>
                  <a:pt x="40735" y="60845"/>
                  <a:pt x="41308" y="57981"/>
                  <a:pt x="42053" y="55059"/>
                </a:cubicBezTo>
                <a:cubicBezTo>
                  <a:pt x="42855" y="52137"/>
                  <a:pt x="43772" y="49329"/>
                  <a:pt x="44918" y="46637"/>
                </a:cubicBezTo>
                <a:lnTo>
                  <a:pt x="31569" y="26641"/>
                </a:lnTo>
                <a:cubicBezTo>
                  <a:pt x="27558" y="20626"/>
                  <a:pt x="28360" y="12662"/>
                  <a:pt x="33459" y="7563"/>
                </a:cubicBezTo>
                <a:lnTo>
                  <a:pt x="44460" y="-3438"/>
                </a:lnTo>
                <a:cubicBezTo>
                  <a:pt x="49559" y="-8537"/>
                  <a:pt x="57522" y="-9339"/>
                  <a:pt x="63538" y="-5328"/>
                </a:cubicBezTo>
                <a:lnTo>
                  <a:pt x="83591" y="8021"/>
                </a:lnTo>
                <a:cubicBezTo>
                  <a:pt x="89034" y="5787"/>
                  <a:pt x="94820" y="4182"/>
                  <a:pt x="100722" y="3380"/>
                </a:cubicBezTo>
                <a:lnTo>
                  <a:pt x="111378" y="-18162"/>
                </a:lnTo>
                <a:cubicBezTo>
                  <a:pt x="114586" y="-24636"/>
                  <a:pt x="121863" y="-27902"/>
                  <a:pt x="128852" y="-26068"/>
                </a:cubicBezTo>
                <a:close/>
                <a:moveTo>
                  <a:pt x="110232" y="48126"/>
                </a:moveTo>
                <a:cubicBezTo>
                  <a:pt x="96319" y="48126"/>
                  <a:pt x="85023" y="59422"/>
                  <a:pt x="85023" y="73335"/>
                </a:cubicBezTo>
                <a:cubicBezTo>
                  <a:pt x="85023" y="87249"/>
                  <a:pt x="96319" y="98544"/>
                  <a:pt x="110232" y="98544"/>
                </a:cubicBezTo>
                <a:cubicBezTo>
                  <a:pt x="124145" y="98544"/>
                  <a:pt x="135441" y="87249"/>
                  <a:pt x="135441" y="73335"/>
                </a:cubicBezTo>
                <a:cubicBezTo>
                  <a:pt x="135441" y="59422"/>
                  <a:pt x="124145" y="48126"/>
                  <a:pt x="110232" y="48126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688805" y="1368926"/>
            <a:ext cx="7223531" cy="39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1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KNN三要素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46574" y="1955609"/>
            <a:ext cx="7419092" cy="2102280"/>
          </a:xfrm>
          <a:custGeom>
            <a:avLst/>
            <a:gdLst/>
            <a:ahLst/>
            <a:cxnLst/>
            <a:rect l="l" t="t" r="r" b="b"/>
            <a:pathLst>
              <a:path w="7419092" h="2102280">
                <a:moveTo>
                  <a:pt x="48890" y="0"/>
                </a:moveTo>
                <a:lnTo>
                  <a:pt x="7321315" y="0"/>
                </a:lnTo>
                <a:cubicBezTo>
                  <a:pt x="7375315" y="0"/>
                  <a:pt x="7419092" y="43776"/>
                  <a:pt x="7419092" y="97777"/>
                </a:cubicBezTo>
                <a:lnTo>
                  <a:pt x="7419092" y="2004503"/>
                </a:lnTo>
                <a:cubicBezTo>
                  <a:pt x="7419092" y="2058503"/>
                  <a:pt x="7375315" y="2102280"/>
                  <a:pt x="7321315" y="2102280"/>
                </a:cubicBezTo>
                <a:lnTo>
                  <a:pt x="48890" y="2102280"/>
                </a:lnTo>
                <a:cubicBezTo>
                  <a:pt x="21907" y="2102280"/>
                  <a:pt x="0" y="2080373"/>
                  <a:pt x="0" y="2053389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346574" y="1955609"/>
            <a:ext cx="48890" cy="2102280"/>
          </a:xfrm>
          <a:custGeom>
            <a:avLst/>
            <a:gdLst/>
            <a:ahLst/>
            <a:cxnLst/>
            <a:rect l="l" t="t" r="r" b="b"/>
            <a:pathLst>
              <a:path w="48890" h="2102280">
                <a:moveTo>
                  <a:pt x="48890" y="0"/>
                </a:moveTo>
                <a:lnTo>
                  <a:pt x="48890" y="0"/>
                </a:lnTo>
                <a:lnTo>
                  <a:pt x="48890" y="2102280"/>
                </a:lnTo>
                <a:lnTo>
                  <a:pt x="48890" y="2102280"/>
                </a:lnTo>
                <a:cubicBezTo>
                  <a:pt x="21907" y="2102280"/>
                  <a:pt x="0" y="2080373"/>
                  <a:pt x="0" y="2053389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566580" y="2151170"/>
            <a:ext cx="488902" cy="488902"/>
          </a:xfrm>
          <a:custGeom>
            <a:avLst/>
            <a:gdLst/>
            <a:ahLst/>
            <a:cxnLst/>
            <a:rect l="l" t="t" r="r" b="b"/>
            <a:pathLst>
              <a:path w="488902" h="488902">
                <a:moveTo>
                  <a:pt x="244451" y="0"/>
                </a:moveTo>
                <a:lnTo>
                  <a:pt x="244451" y="0"/>
                </a:lnTo>
                <a:cubicBezTo>
                  <a:pt x="379458" y="0"/>
                  <a:pt x="488902" y="109444"/>
                  <a:pt x="488902" y="244451"/>
                </a:cubicBezTo>
                <a:lnTo>
                  <a:pt x="488902" y="244451"/>
                </a:lnTo>
                <a:cubicBezTo>
                  <a:pt x="488902" y="379458"/>
                  <a:pt x="379458" y="488902"/>
                  <a:pt x="244451" y="488902"/>
                </a:cubicBezTo>
                <a:lnTo>
                  <a:pt x="244451" y="488902"/>
                </a:lnTo>
                <a:cubicBezTo>
                  <a:pt x="109444" y="488902"/>
                  <a:pt x="0" y="379458"/>
                  <a:pt x="0" y="244451"/>
                </a:cubicBezTo>
                <a:lnTo>
                  <a:pt x="0" y="244451"/>
                </a:lnTo>
                <a:cubicBezTo>
                  <a:pt x="0" y="109444"/>
                  <a:pt x="109444" y="0"/>
                  <a:pt x="24445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767774" y="2224505"/>
            <a:ext cx="195561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2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02153" y="2224505"/>
            <a:ext cx="1100030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25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距离度量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66580" y="2786743"/>
            <a:ext cx="71013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欧氏距离：</a:t>
            </a:r>
            <a:r>
              <a:rPr lang="en-US" sz="15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√Σ(xᵢ - yᵢ)²，适用于连续特征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66580" y="3177865"/>
            <a:ext cx="71013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曼哈顿距离：</a:t>
            </a:r>
            <a:r>
              <a:rPr lang="en-US" sz="15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Σ|xᵢ - yᵢ|，适用于网格路径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66580" y="3568986"/>
            <a:ext cx="71013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余弦相似度：</a:t>
            </a:r>
            <a:r>
              <a:rPr lang="en-US" sz="15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适用于文本数据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46574" y="4253450"/>
            <a:ext cx="7419092" cy="2102280"/>
          </a:xfrm>
          <a:custGeom>
            <a:avLst/>
            <a:gdLst/>
            <a:ahLst/>
            <a:cxnLst/>
            <a:rect l="l" t="t" r="r" b="b"/>
            <a:pathLst>
              <a:path w="7419092" h="2102280">
                <a:moveTo>
                  <a:pt x="48890" y="0"/>
                </a:moveTo>
                <a:lnTo>
                  <a:pt x="7321315" y="0"/>
                </a:lnTo>
                <a:cubicBezTo>
                  <a:pt x="7375315" y="0"/>
                  <a:pt x="7419092" y="43776"/>
                  <a:pt x="7419092" y="97777"/>
                </a:cubicBezTo>
                <a:lnTo>
                  <a:pt x="7419092" y="2004503"/>
                </a:lnTo>
                <a:cubicBezTo>
                  <a:pt x="7419092" y="2058503"/>
                  <a:pt x="7375315" y="2102280"/>
                  <a:pt x="7321315" y="2102280"/>
                </a:cubicBezTo>
                <a:lnTo>
                  <a:pt x="48890" y="2102280"/>
                </a:lnTo>
                <a:cubicBezTo>
                  <a:pt x="21907" y="2102280"/>
                  <a:pt x="0" y="2080373"/>
                  <a:pt x="0" y="2053389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346574" y="4253450"/>
            <a:ext cx="48890" cy="2102280"/>
          </a:xfrm>
          <a:custGeom>
            <a:avLst/>
            <a:gdLst/>
            <a:ahLst/>
            <a:cxnLst/>
            <a:rect l="l" t="t" r="r" b="b"/>
            <a:pathLst>
              <a:path w="48890" h="2102280">
                <a:moveTo>
                  <a:pt x="48890" y="0"/>
                </a:moveTo>
                <a:lnTo>
                  <a:pt x="48890" y="0"/>
                </a:lnTo>
                <a:lnTo>
                  <a:pt x="48890" y="2102280"/>
                </a:lnTo>
                <a:lnTo>
                  <a:pt x="48890" y="2102280"/>
                </a:lnTo>
                <a:cubicBezTo>
                  <a:pt x="21907" y="2102280"/>
                  <a:pt x="0" y="2080373"/>
                  <a:pt x="0" y="2053389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566580" y="4449011"/>
            <a:ext cx="488902" cy="488902"/>
          </a:xfrm>
          <a:custGeom>
            <a:avLst/>
            <a:gdLst/>
            <a:ahLst/>
            <a:cxnLst/>
            <a:rect l="l" t="t" r="r" b="b"/>
            <a:pathLst>
              <a:path w="488902" h="488902">
                <a:moveTo>
                  <a:pt x="244451" y="0"/>
                </a:moveTo>
                <a:lnTo>
                  <a:pt x="244451" y="0"/>
                </a:lnTo>
                <a:cubicBezTo>
                  <a:pt x="379458" y="0"/>
                  <a:pt x="488902" y="109444"/>
                  <a:pt x="488902" y="244451"/>
                </a:cubicBezTo>
                <a:lnTo>
                  <a:pt x="488902" y="244451"/>
                </a:lnTo>
                <a:cubicBezTo>
                  <a:pt x="488902" y="379458"/>
                  <a:pt x="379458" y="488902"/>
                  <a:pt x="244451" y="488902"/>
                </a:cubicBezTo>
                <a:lnTo>
                  <a:pt x="244451" y="488902"/>
                </a:lnTo>
                <a:cubicBezTo>
                  <a:pt x="109444" y="488902"/>
                  <a:pt x="0" y="379458"/>
                  <a:pt x="0" y="244451"/>
                </a:cubicBezTo>
                <a:lnTo>
                  <a:pt x="0" y="244451"/>
                </a:lnTo>
                <a:cubicBezTo>
                  <a:pt x="0" y="109444"/>
                  <a:pt x="109444" y="0"/>
                  <a:pt x="24445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749154" y="4522346"/>
            <a:ext cx="232229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2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02153" y="4522346"/>
            <a:ext cx="1014472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25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K值选择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66580" y="5084583"/>
            <a:ext cx="71013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K值较小：</a:t>
            </a:r>
            <a:r>
              <a:rPr lang="en-US" sz="15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模型复杂度高，容易过拟合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66580" y="5475705"/>
            <a:ext cx="71013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K值较大：</a:t>
            </a:r>
            <a:r>
              <a:rPr lang="en-US" sz="15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模型过于平滑，可能欠拟合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66580" y="5866827"/>
            <a:ext cx="71013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通常选择：</a:t>
            </a:r>
            <a:r>
              <a:rPr lang="en-US" sz="15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交叉验证确定最佳K值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46574" y="6551290"/>
            <a:ext cx="7419092" cy="2102280"/>
          </a:xfrm>
          <a:custGeom>
            <a:avLst/>
            <a:gdLst/>
            <a:ahLst/>
            <a:cxnLst/>
            <a:rect l="l" t="t" r="r" b="b"/>
            <a:pathLst>
              <a:path w="7419092" h="2102280">
                <a:moveTo>
                  <a:pt x="48890" y="0"/>
                </a:moveTo>
                <a:lnTo>
                  <a:pt x="7321315" y="0"/>
                </a:lnTo>
                <a:cubicBezTo>
                  <a:pt x="7375315" y="0"/>
                  <a:pt x="7419092" y="43776"/>
                  <a:pt x="7419092" y="97777"/>
                </a:cubicBezTo>
                <a:lnTo>
                  <a:pt x="7419092" y="2004503"/>
                </a:lnTo>
                <a:cubicBezTo>
                  <a:pt x="7419092" y="2058503"/>
                  <a:pt x="7375315" y="2102280"/>
                  <a:pt x="7321315" y="2102280"/>
                </a:cubicBezTo>
                <a:lnTo>
                  <a:pt x="48890" y="2102280"/>
                </a:lnTo>
                <a:cubicBezTo>
                  <a:pt x="21907" y="2102280"/>
                  <a:pt x="0" y="2080373"/>
                  <a:pt x="0" y="2053389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346574" y="6551290"/>
            <a:ext cx="48890" cy="2102280"/>
          </a:xfrm>
          <a:custGeom>
            <a:avLst/>
            <a:gdLst/>
            <a:ahLst/>
            <a:cxnLst/>
            <a:rect l="l" t="t" r="r" b="b"/>
            <a:pathLst>
              <a:path w="48890" h="2102280">
                <a:moveTo>
                  <a:pt x="48890" y="0"/>
                </a:moveTo>
                <a:lnTo>
                  <a:pt x="48890" y="0"/>
                </a:lnTo>
                <a:lnTo>
                  <a:pt x="48890" y="2102280"/>
                </a:lnTo>
                <a:lnTo>
                  <a:pt x="48890" y="2102280"/>
                </a:lnTo>
                <a:cubicBezTo>
                  <a:pt x="21907" y="2102280"/>
                  <a:pt x="0" y="2080373"/>
                  <a:pt x="0" y="2053389"/>
                </a:cubicBezTo>
                <a:lnTo>
                  <a:pt x="0" y="48890"/>
                </a:lnTo>
                <a:cubicBezTo>
                  <a:pt x="0" y="21907"/>
                  <a:pt x="21907" y="0"/>
                  <a:pt x="4889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566580" y="6746851"/>
            <a:ext cx="488902" cy="488902"/>
          </a:xfrm>
          <a:custGeom>
            <a:avLst/>
            <a:gdLst/>
            <a:ahLst/>
            <a:cxnLst/>
            <a:rect l="l" t="t" r="r" b="b"/>
            <a:pathLst>
              <a:path w="488902" h="488902">
                <a:moveTo>
                  <a:pt x="244451" y="0"/>
                </a:moveTo>
                <a:lnTo>
                  <a:pt x="244451" y="0"/>
                </a:lnTo>
                <a:cubicBezTo>
                  <a:pt x="379458" y="0"/>
                  <a:pt x="488902" y="109444"/>
                  <a:pt x="488902" y="244451"/>
                </a:cubicBezTo>
                <a:lnTo>
                  <a:pt x="488902" y="244451"/>
                </a:lnTo>
                <a:cubicBezTo>
                  <a:pt x="488902" y="379458"/>
                  <a:pt x="379458" y="488902"/>
                  <a:pt x="244451" y="488902"/>
                </a:cubicBezTo>
                <a:lnTo>
                  <a:pt x="244451" y="488902"/>
                </a:lnTo>
                <a:cubicBezTo>
                  <a:pt x="109444" y="488902"/>
                  <a:pt x="0" y="379458"/>
                  <a:pt x="0" y="244451"/>
                </a:cubicBezTo>
                <a:lnTo>
                  <a:pt x="0" y="244451"/>
                </a:lnTo>
                <a:cubicBezTo>
                  <a:pt x="0" y="109444"/>
                  <a:pt x="109444" y="0"/>
                  <a:pt x="24445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746289" y="6820186"/>
            <a:ext cx="244451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32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202153" y="6820186"/>
            <a:ext cx="1100030" cy="342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25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决策规则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66580" y="7382424"/>
            <a:ext cx="71013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分类：</a:t>
            </a:r>
            <a:r>
              <a:rPr lang="en-US" sz="15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多数表决法（可引入权重）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66580" y="7773546"/>
            <a:ext cx="71013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回归：</a:t>
            </a:r>
            <a:r>
              <a:rPr lang="en-US" sz="15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K个邻居目标值的均值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66580" y="8164668"/>
            <a:ext cx="7101305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权重机制：</a:t>
            </a:r>
            <a:r>
              <a:rPr lang="en-US" sz="15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距离近的邻居权重更高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0908" y="430908"/>
            <a:ext cx="15588093" cy="430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5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KNN：实例推导与复杂度分析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30908" y="991088"/>
            <a:ext cx="861816" cy="43091"/>
          </a:xfrm>
          <a:custGeom>
            <a:avLst/>
            <a:gdLst/>
            <a:ahLst/>
            <a:cxnLst/>
            <a:rect l="l" t="t" r="r" b="b"/>
            <a:pathLst>
              <a:path w="861816" h="43091">
                <a:moveTo>
                  <a:pt x="0" y="0"/>
                </a:moveTo>
                <a:lnTo>
                  <a:pt x="861816" y="0"/>
                </a:lnTo>
                <a:lnTo>
                  <a:pt x="861816" y="43091"/>
                </a:lnTo>
                <a:lnTo>
                  <a:pt x="0" y="43091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79385" y="1249633"/>
            <a:ext cx="226227" cy="258545"/>
          </a:xfrm>
          <a:custGeom>
            <a:avLst/>
            <a:gdLst/>
            <a:ahLst/>
            <a:cxnLst/>
            <a:rect l="l" t="t" r="r" b="b"/>
            <a:pathLst>
              <a:path w="226227" h="258545">
                <a:moveTo>
                  <a:pt x="0" y="48477"/>
                </a:moveTo>
                <a:cubicBezTo>
                  <a:pt x="0" y="30652"/>
                  <a:pt x="14493" y="16159"/>
                  <a:pt x="32318" y="16159"/>
                </a:cubicBezTo>
                <a:lnTo>
                  <a:pt x="193909" y="16159"/>
                </a:lnTo>
                <a:cubicBezTo>
                  <a:pt x="211734" y="16159"/>
                  <a:pt x="226227" y="30652"/>
                  <a:pt x="226227" y="48477"/>
                </a:cubicBezTo>
                <a:lnTo>
                  <a:pt x="226227" y="210068"/>
                </a:lnTo>
                <a:cubicBezTo>
                  <a:pt x="226227" y="227893"/>
                  <a:pt x="211734" y="242386"/>
                  <a:pt x="193909" y="242386"/>
                </a:cubicBezTo>
                <a:lnTo>
                  <a:pt x="32318" y="242386"/>
                </a:lnTo>
                <a:cubicBezTo>
                  <a:pt x="14493" y="242386"/>
                  <a:pt x="0" y="227893"/>
                  <a:pt x="0" y="210068"/>
                </a:cubicBezTo>
                <a:lnTo>
                  <a:pt x="0" y="48477"/>
                </a:lnTo>
                <a:close/>
                <a:moveTo>
                  <a:pt x="24239" y="185829"/>
                </a:moveTo>
                <a:lnTo>
                  <a:pt x="24239" y="201988"/>
                </a:lnTo>
                <a:cubicBezTo>
                  <a:pt x="24239" y="206432"/>
                  <a:pt x="27874" y="210068"/>
                  <a:pt x="32318" y="210068"/>
                </a:cubicBezTo>
                <a:lnTo>
                  <a:pt x="48477" y="210068"/>
                </a:lnTo>
                <a:cubicBezTo>
                  <a:pt x="52921" y="210068"/>
                  <a:pt x="56557" y="206432"/>
                  <a:pt x="56557" y="201988"/>
                </a:cubicBezTo>
                <a:lnTo>
                  <a:pt x="56557" y="185829"/>
                </a:lnTo>
                <a:cubicBezTo>
                  <a:pt x="56557" y="181385"/>
                  <a:pt x="52921" y="177750"/>
                  <a:pt x="48477" y="177750"/>
                </a:cubicBezTo>
                <a:lnTo>
                  <a:pt x="32318" y="177750"/>
                </a:lnTo>
                <a:cubicBezTo>
                  <a:pt x="27874" y="177750"/>
                  <a:pt x="24239" y="181385"/>
                  <a:pt x="24239" y="185829"/>
                </a:cubicBezTo>
                <a:close/>
                <a:moveTo>
                  <a:pt x="177750" y="177750"/>
                </a:moveTo>
                <a:cubicBezTo>
                  <a:pt x="173306" y="177750"/>
                  <a:pt x="169670" y="181385"/>
                  <a:pt x="169670" y="185829"/>
                </a:cubicBezTo>
                <a:lnTo>
                  <a:pt x="169670" y="201988"/>
                </a:lnTo>
                <a:cubicBezTo>
                  <a:pt x="169670" y="206432"/>
                  <a:pt x="173306" y="210068"/>
                  <a:pt x="177750" y="210068"/>
                </a:cubicBezTo>
                <a:lnTo>
                  <a:pt x="193909" y="210068"/>
                </a:lnTo>
                <a:cubicBezTo>
                  <a:pt x="198352" y="210068"/>
                  <a:pt x="201988" y="206432"/>
                  <a:pt x="201988" y="201988"/>
                </a:cubicBezTo>
                <a:lnTo>
                  <a:pt x="201988" y="185829"/>
                </a:lnTo>
                <a:cubicBezTo>
                  <a:pt x="201988" y="181385"/>
                  <a:pt x="198352" y="177750"/>
                  <a:pt x="193909" y="177750"/>
                </a:cubicBezTo>
                <a:lnTo>
                  <a:pt x="177750" y="177750"/>
                </a:lnTo>
                <a:close/>
                <a:moveTo>
                  <a:pt x="24239" y="121193"/>
                </a:moveTo>
                <a:lnTo>
                  <a:pt x="24239" y="137352"/>
                </a:lnTo>
                <a:cubicBezTo>
                  <a:pt x="24239" y="141796"/>
                  <a:pt x="27874" y="145431"/>
                  <a:pt x="32318" y="145431"/>
                </a:cubicBezTo>
                <a:lnTo>
                  <a:pt x="48477" y="145431"/>
                </a:lnTo>
                <a:cubicBezTo>
                  <a:pt x="52921" y="145431"/>
                  <a:pt x="56557" y="141796"/>
                  <a:pt x="56557" y="137352"/>
                </a:cubicBezTo>
                <a:lnTo>
                  <a:pt x="56557" y="121193"/>
                </a:lnTo>
                <a:cubicBezTo>
                  <a:pt x="56557" y="116749"/>
                  <a:pt x="52921" y="113113"/>
                  <a:pt x="48477" y="113113"/>
                </a:cubicBezTo>
                <a:lnTo>
                  <a:pt x="32318" y="113113"/>
                </a:lnTo>
                <a:cubicBezTo>
                  <a:pt x="27874" y="113113"/>
                  <a:pt x="24239" y="116749"/>
                  <a:pt x="24239" y="121193"/>
                </a:cubicBezTo>
                <a:close/>
                <a:moveTo>
                  <a:pt x="177750" y="113113"/>
                </a:moveTo>
                <a:cubicBezTo>
                  <a:pt x="173306" y="113113"/>
                  <a:pt x="169670" y="116749"/>
                  <a:pt x="169670" y="121193"/>
                </a:cubicBezTo>
                <a:lnTo>
                  <a:pt x="169670" y="137352"/>
                </a:lnTo>
                <a:cubicBezTo>
                  <a:pt x="169670" y="141796"/>
                  <a:pt x="173306" y="145431"/>
                  <a:pt x="177750" y="145431"/>
                </a:cubicBezTo>
                <a:lnTo>
                  <a:pt x="193909" y="145431"/>
                </a:lnTo>
                <a:cubicBezTo>
                  <a:pt x="198352" y="145431"/>
                  <a:pt x="201988" y="141796"/>
                  <a:pt x="201988" y="137352"/>
                </a:cubicBezTo>
                <a:lnTo>
                  <a:pt x="201988" y="121193"/>
                </a:lnTo>
                <a:cubicBezTo>
                  <a:pt x="201988" y="116749"/>
                  <a:pt x="198352" y="113113"/>
                  <a:pt x="193909" y="113113"/>
                </a:cubicBezTo>
                <a:lnTo>
                  <a:pt x="177750" y="113113"/>
                </a:lnTo>
                <a:close/>
                <a:moveTo>
                  <a:pt x="24239" y="56557"/>
                </a:moveTo>
                <a:lnTo>
                  <a:pt x="24239" y="72716"/>
                </a:lnTo>
                <a:cubicBezTo>
                  <a:pt x="24239" y="77159"/>
                  <a:pt x="27874" y="80795"/>
                  <a:pt x="32318" y="80795"/>
                </a:cubicBezTo>
                <a:lnTo>
                  <a:pt x="48477" y="80795"/>
                </a:lnTo>
                <a:cubicBezTo>
                  <a:pt x="52921" y="80795"/>
                  <a:pt x="56557" y="77159"/>
                  <a:pt x="56557" y="72716"/>
                </a:cubicBezTo>
                <a:lnTo>
                  <a:pt x="56557" y="56557"/>
                </a:lnTo>
                <a:cubicBezTo>
                  <a:pt x="56557" y="52113"/>
                  <a:pt x="52921" y="48477"/>
                  <a:pt x="48477" y="48477"/>
                </a:cubicBezTo>
                <a:lnTo>
                  <a:pt x="32318" y="48477"/>
                </a:lnTo>
                <a:cubicBezTo>
                  <a:pt x="27874" y="48477"/>
                  <a:pt x="24239" y="52113"/>
                  <a:pt x="24239" y="56557"/>
                </a:cubicBezTo>
                <a:close/>
                <a:moveTo>
                  <a:pt x="177750" y="48477"/>
                </a:moveTo>
                <a:cubicBezTo>
                  <a:pt x="173306" y="48477"/>
                  <a:pt x="169670" y="52113"/>
                  <a:pt x="169670" y="56557"/>
                </a:cubicBezTo>
                <a:lnTo>
                  <a:pt x="169670" y="72716"/>
                </a:lnTo>
                <a:cubicBezTo>
                  <a:pt x="169670" y="77159"/>
                  <a:pt x="173306" y="80795"/>
                  <a:pt x="177750" y="80795"/>
                </a:cubicBezTo>
                <a:lnTo>
                  <a:pt x="193909" y="80795"/>
                </a:lnTo>
                <a:cubicBezTo>
                  <a:pt x="198352" y="80795"/>
                  <a:pt x="201988" y="77159"/>
                  <a:pt x="201988" y="72716"/>
                </a:cubicBezTo>
                <a:lnTo>
                  <a:pt x="201988" y="56557"/>
                </a:lnTo>
                <a:cubicBezTo>
                  <a:pt x="201988" y="52113"/>
                  <a:pt x="198352" y="48477"/>
                  <a:pt x="193909" y="48477"/>
                </a:cubicBezTo>
                <a:lnTo>
                  <a:pt x="177750" y="48477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54089" y="1206542"/>
            <a:ext cx="7336207" cy="344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3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电影题材分类案例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0908" y="1723632"/>
            <a:ext cx="7616297" cy="28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场景：</a:t>
            </a:r>
            <a:r>
              <a:rPr lang="en-US" sz="135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根据"打斗镜头次数"和"接吻镜头次数"预测电影类型（动作片 vs 爱情片）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908" y="2176085"/>
            <a:ext cx="7530115" cy="2143767"/>
          </a:xfrm>
          <a:custGeom>
            <a:avLst/>
            <a:gdLst/>
            <a:ahLst/>
            <a:cxnLst/>
            <a:rect l="l" t="t" r="r" b="b"/>
            <a:pathLst>
              <a:path w="7530115" h="2143767">
                <a:moveTo>
                  <a:pt x="86179" y="0"/>
                </a:moveTo>
                <a:lnTo>
                  <a:pt x="7443936" y="0"/>
                </a:lnTo>
                <a:cubicBezTo>
                  <a:pt x="7491531" y="0"/>
                  <a:pt x="7530115" y="38584"/>
                  <a:pt x="7530115" y="86179"/>
                </a:cubicBezTo>
                <a:lnTo>
                  <a:pt x="7530115" y="2057587"/>
                </a:lnTo>
                <a:cubicBezTo>
                  <a:pt x="7530115" y="2105183"/>
                  <a:pt x="7491531" y="2143767"/>
                  <a:pt x="7443936" y="2143767"/>
                </a:cubicBezTo>
                <a:lnTo>
                  <a:pt x="86179" y="2143767"/>
                </a:lnTo>
                <a:cubicBezTo>
                  <a:pt x="38584" y="2143767"/>
                  <a:pt x="0" y="2105183"/>
                  <a:pt x="0" y="2057587"/>
                </a:cubicBezTo>
                <a:lnTo>
                  <a:pt x="0" y="86179"/>
                </a:lnTo>
                <a:cubicBezTo>
                  <a:pt x="0" y="38616"/>
                  <a:pt x="38616" y="0"/>
                  <a:pt x="8617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0180" y="2305357"/>
          <a:ext cx="7271571" cy="1885224"/>
        </p:xfrm>
        <a:graphic>
          <a:graphicData uri="http://schemas.openxmlformats.org/drawingml/2006/table">
            <a:tbl>
              <a:tblPr/>
              <a:tblGrid>
                <a:gridCol w="1685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4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204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5A16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电影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E5A16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打斗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u="none" dirty="0">
                          <a:solidFill>
                            <a:srgbClr val="E5A16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接吻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5A16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204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爱情片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204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爱情片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204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动作片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204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动作片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204"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5A16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u="none" dirty="0">
                          <a:solidFill>
                            <a:srgbClr val="E5A165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?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2453" y="4492215"/>
            <a:ext cx="7508570" cy="1465087"/>
          </a:xfrm>
          <a:custGeom>
            <a:avLst/>
            <a:gdLst/>
            <a:ahLst/>
            <a:cxnLst/>
            <a:rect l="l" t="t" r="r" b="b"/>
            <a:pathLst>
              <a:path w="7508570" h="1465087">
                <a:moveTo>
                  <a:pt x="43091" y="0"/>
                </a:moveTo>
                <a:lnTo>
                  <a:pt x="7422394" y="0"/>
                </a:lnTo>
                <a:cubicBezTo>
                  <a:pt x="7469987" y="0"/>
                  <a:pt x="7508570" y="38582"/>
                  <a:pt x="7508570" y="86176"/>
                </a:cubicBezTo>
                <a:lnTo>
                  <a:pt x="7508570" y="1378910"/>
                </a:lnTo>
                <a:cubicBezTo>
                  <a:pt x="7508570" y="1426504"/>
                  <a:pt x="7469987" y="1465087"/>
                  <a:pt x="7422394" y="1465087"/>
                </a:cubicBezTo>
                <a:lnTo>
                  <a:pt x="43091" y="1465087"/>
                </a:lnTo>
                <a:cubicBezTo>
                  <a:pt x="19292" y="1465087"/>
                  <a:pt x="0" y="1445794"/>
                  <a:pt x="0" y="1421996"/>
                </a:cubicBezTo>
                <a:lnTo>
                  <a:pt x="0" y="43091"/>
                </a:lnTo>
                <a:cubicBezTo>
                  <a:pt x="0" y="19308"/>
                  <a:pt x="19308" y="0"/>
                  <a:pt x="4309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52453" y="4492215"/>
            <a:ext cx="43091" cy="1465087"/>
          </a:xfrm>
          <a:custGeom>
            <a:avLst/>
            <a:gdLst/>
            <a:ahLst/>
            <a:cxnLst/>
            <a:rect l="l" t="t" r="r" b="b"/>
            <a:pathLst>
              <a:path w="43091" h="1465087">
                <a:moveTo>
                  <a:pt x="43091" y="0"/>
                </a:moveTo>
                <a:lnTo>
                  <a:pt x="43091" y="0"/>
                </a:lnTo>
                <a:lnTo>
                  <a:pt x="43091" y="1465087"/>
                </a:lnTo>
                <a:lnTo>
                  <a:pt x="43091" y="1465087"/>
                </a:lnTo>
                <a:cubicBezTo>
                  <a:pt x="19292" y="1465087"/>
                  <a:pt x="0" y="1445794"/>
                  <a:pt x="0" y="1421996"/>
                </a:cubicBezTo>
                <a:lnTo>
                  <a:pt x="0" y="43091"/>
                </a:lnTo>
                <a:cubicBezTo>
                  <a:pt x="0" y="19308"/>
                  <a:pt x="19308" y="0"/>
                  <a:pt x="4309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03271" y="4621487"/>
            <a:ext cx="731466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步骤1：计算欧氏距离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3271" y="4966213"/>
            <a:ext cx="7303889" cy="215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E-A: √(10-2)²+(5-10)² = √89 ≈ 9.43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3271" y="5181667"/>
            <a:ext cx="7303889" cy="215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E-B: √(10-3)²+(5-11)² = √85 ≈ 9.22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3271" y="5397121"/>
            <a:ext cx="7303889" cy="215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E-C: √(10-12)²+(5-4)² = √5 ≈ 2.24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03271" y="5612575"/>
            <a:ext cx="7303889" cy="215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E-D: √(10-11)²+(5-2)² = √10 ≈ 3.16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2453" y="6086574"/>
            <a:ext cx="7508570" cy="1249633"/>
          </a:xfrm>
          <a:custGeom>
            <a:avLst/>
            <a:gdLst/>
            <a:ahLst/>
            <a:cxnLst/>
            <a:rect l="l" t="t" r="r" b="b"/>
            <a:pathLst>
              <a:path w="7508570" h="1249633">
                <a:moveTo>
                  <a:pt x="43091" y="0"/>
                </a:moveTo>
                <a:lnTo>
                  <a:pt x="7422383" y="0"/>
                </a:lnTo>
                <a:cubicBezTo>
                  <a:pt x="7469983" y="0"/>
                  <a:pt x="7508570" y="38587"/>
                  <a:pt x="7508570" y="86187"/>
                </a:cubicBezTo>
                <a:lnTo>
                  <a:pt x="7508570" y="1163446"/>
                </a:lnTo>
                <a:cubicBezTo>
                  <a:pt x="7508570" y="1211046"/>
                  <a:pt x="7469983" y="1249633"/>
                  <a:pt x="7422383" y="1249633"/>
                </a:cubicBezTo>
                <a:lnTo>
                  <a:pt x="43091" y="1249633"/>
                </a:lnTo>
                <a:cubicBezTo>
                  <a:pt x="19292" y="1249633"/>
                  <a:pt x="0" y="1230340"/>
                  <a:pt x="0" y="1206542"/>
                </a:cubicBezTo>
                <a:lnTo>
                  <a:pt x="0" y="43091"/>
                </a:lnTo>
                <a:cubicBezTo>
                  <a:pt x="0" y="19308"/>
                  <a:pt x="19308" y="0"/>
                  <a:pt x="43091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452453" y="6086574"/>
            <a:ext cx="43091" cy="1249633"/>
          </a:xfrm>
          <a:custGeom>
            <a:avLst/>
            <a:gdLst/>
            <a:ahLst/>
            <a:cxnLst/>
            <a:rect l="l" t="t" r="r" b="b"/>
            <a:pathLst>
              <a:path w="43091" h="1249633">
                <a:moveTo>
                  <a:pt x="43091" y="0"/>
                </a:moveTo>
                <a:lnTo>
                  <a:pt x="43091" y="0"/>
                </a:lnTo>
                <a:lnTo>
                  <a:pt x="43091" y="1249633"/>
                </a:lnTo>
                <a:lnTo>
                  <a:pt x="43091" y="1249633"/>
                </a:lnTo>
                <a:cubicBezTo>
                  <a:pt x="19292" y="1249633"/>
                  <a:pt x="0" y="1230340"/>
                  <a:pt x="0" y="1206542"/>
                </a:cubicBezTo>
                <a:lnTo>
                  <a:pt x="0" y="43091"/>
                </a:lnTo>
                <a:cubicBezTo>
                  <a:pt x="0" y="19308"/>
                  <a:pt x="19308" y="0"/>
                  <a:pt x="4309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15"/>
          <p:cNvSpPr/>
          <p:nvPr/>
        </p:nvSpPr>
        <p:spPr>
          <a:xfrm>
            <a:off x="603271" y="6215846"/>
            <a:ext cx="731466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步骤2：排序筛选（K=3）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3271" y="6560573"/>
            <a:ext cx="7303889" cy="215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 C(动作片) - 2.24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3271" y="6776027"/>
            <a:ext cx="7303889" cy="215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 D(动作片) - 3.16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3271" y="6991480"/>
            <a:ext cx="7303889" cy="215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 B(爱情片) - 9.22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2453" y="7465479"/>
            <a:ext cx="7508570" cy="1249633"/>
          </a:xfrm>
          <a:custGeom>
            <a:avLst/>
            <a:gdLst/>
            <a:ahLst/>
            <a:cxnLst/>
            <a:rect l="l" t="t" r="r" b="b"/>
            <a:pathLst>
              <a:path w="7508570" h="1249633">
                <a:moveTo>
                  <a:pt x="43091" y="0"/>
                </a:moveTo>
                <a:lnTo>
                  <a:pt x="7422383" y="0"/>
                </a:lnTo>
                <a:cubicBezTo>
                  <a:pt x="7469983" y="0"/>
                  <a:pt x="7508570" y="38587"/>
                  <a:pt x="7508570" y="86187"/>
                </a:cubicBezTo>
                <a:lnTo>
                  <a:pt x="7508570" y="1163446"/>
                </a:lnTo>
                <a:cubicBezTo>
                  <a:pt x="7508570" y="1211046"/>
                  <a:pt x="7469983" y="1249633"/>
                  <a:pt x="7422383" y="1249633"/>
                </a:cubicBezTo>
                <a:lnTo>
                  <a:pt x="43091" y="1249633"/>
                </a:lnTo>
                <a:cubicBezTo>
                  <a:pt x="19292" y="1249633"/>
                  <a:pt x="0" y="1230340"/>
                  <a:pt x="0" y="1206542"/>
                </a:cubicBezTo>
                <a:lnTo>
                  <a:pt x="0" y="43091"/>
                </a:lnTo>
                <a:cubicBezTo>
                  <a:pt x="0" y="19308"/>
                  <a:pt x="19308" y="0"/>
                  <a:pt x="43091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452453" y="7465479"/>
            <a:ext cx="43091" cy="1249633"/>
          </a:xfrm>
          <a:custGeom>
            <a:avLst/>
            <a:gdLst/>
            <a:ahLst/>
            <a:cxnLst/>
            <a:rect l="l" t="t" r="r" b="b"/>
            <a:pathLst>
              <a:path w="43091" h="1249633">
                <a:moveTo>
                  <a:pt x="43091" y="0"/>
                </a:moveTo>
                <a:lnTo>
                  <a:pt x="43091" y="0"/>
                </a:lnTo>
                <a:lnTo>
                  <a:pt x="43091" y="1249633"/>
                </a:lnTo>
                <a:lnTo>
                  <a:pt x="43091" y="1249633"/>
                </a:lnTo>
                <a:cubicBezTo>
                  <a:pt x="19292" y="1249633"/>
                  <a:pt x="0" y="1230340"/>
                  <a:pt x="0" y="1206542"/>
                </a:cubicBezTo>
                <a:lnTo>
                  <a:pt x="0" y="43091"/>
                </a:lnTo>
                <a:cubicBezTo>
                  <a:pt x="0" y="19308"/>
                  <a:pt x="19308" y="0"/>
                  <a:pt x="4309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603271" y="7594751"/>
            <a:ext cx="731466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步骤3：多数表决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03271" y="7939478"/>
            <a:ext cx="7325434" cy="30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动作片：2票 | 爱情片：1票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03271" y="8327295"/>
            <a:ext cx="731466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结论：</a:t>
            </a:r>
            <a:r>
              <a:rPr lang="en-US" sz="135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新电影E为</a:t>
            </a:r>
            <a:r>
              <a:rPr lang="en-US" sz="135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动作片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334449" y="419638"/>
            <a:ext cx="258545" cy="258545"/>
          </a:xfrm>
          <a:custGeom>
            <a:avLst/>
            <a:gdLst/>
            <a:ahLst/>
            <a:cxnLst/>
            <a:rect l="l" t="t" r="r" b="b"/>
            <a:pathLst>
              <a:path w="258545" h="258545">
                <a:moveTo>
                  <a:pt x="16159" y="16159"/>
                </a:moveTo>
                <a:cubicBezTo>
                  <a:pt x="25097" y="16159"/>
                  <a:pt x="32318" y="23380"/>
                  <a:pt x="32318" y="32318"/>
                </a:cubicBezTo>
                <a:lnTo>
                  <a:pt x="32318" y="201988"/>
                </a:lnTo>
                <a:cubicBezTo>
                  <a:pt x="32318" y="206432"/>
                  <a:pt x="35954" y="210068"/>
                  <a:pt x="40398" y="210068"/>
                </a:cubicBezTo>
                <a:lnTo>
                  <a:pt x="242386" y="210068"/>
                </a:lnTo>
                <a:cubicBezTo>
                  <a:pt x="251324" y="210068"/>
                  <a:pt x="258545" y="217289"/>
                  <a:pt x="258545" y="226227"/>
                </a:cubicBezTo>
                <a:cubicBezTo>
                  <a:pt x="258545" y="235165"/>
                  <a:pt x="251324" y="242386"/>
                  <a:pt x="242386" y="242386"/>
                </a:cubicBezTo>
                <a:lnTo>
                  <a:pt x="40398" y="242386"/>
                </a:lnTo>
                <a:cubicBezTo>
                  <a:pt x="18078" y="242386"/>
                  <a:pt x="0" y="224308"/>
                  <a:pt x="0" y="201988"/>
                </a:cubicBezTo>
                <a:lnTo>
                  <a:pt x="0" y="32318"/>
                </a:lnTo>
                <a:cubicBezTo>
                  <a:pt x="0" y="23380"/>
                  <a:pt x="7221" y="16159"/>
                  <a:pt x="16159" y="16159"/>
                </a:cubicBezTo>
                <a:close/>
                <a:moveTo>
                  <a:pt x="121193" y="48477"/>
                </a:moveTo>
                <a:cubicBezTo>
                  <a:pt x="124576" y="48477"/>
                  <a:pt x="127808" y="49891"/>
                  <a:pt x="130131" y="52416"/>
                </a:cubicBezTo>
                <a:lnTo>
                  <a:pt x="166034" y="91551"/>
                </a:lnTo>
                <a:lnTo>
                  <a:pt x="189364" y="68171"/>
                </a:lnTo>
                <a:cubicBezTo>
                  <a:pt x="194111" y="63424"/>
                  <a:pt x="201786" y="63424"/>
                  <a:pt x="206482" y="68171"/>
                </a:cubicBezTo>
                <a:lnTo>
                  <a:pt x="238800" y="100489"/>
                </a:lnTo>
                <a:cubicBezTo>
                  <a:pt x="241073" y="102761"/>
                  <a:pt x="242335" y="105842"/>
                  <a:pt x="242335" y="109074"/>
                </a:cubicBezTo>
                <a:lnTo>
                  <a:pt x="242335" y="165630"/>
                </a:lnTo>
                <a:cubicBezTo>
                  <a:pt x="242335" y="172346"/>
                  <a:pt x="236932" y="177750"/>
                  <a:pt x="230216" y="177750"/>
                </a:cubicBezTo>
                <a:lnTo>
                  <a:pt x="76705" y="177750"/>
                </a:lnTo>
                <a:cubicBezTo>
                  <a:pt x="69989" y="177750"/>
                  <a:pt x="64586" y="172346"/>
                  <a:pt x="64586" y="165630"/>
                </a:cubicBezTo>
                <a:lnTo>
                  <a:pt x="64586" y="109074"/>
                </a:lnTo>
                <a:cubicBezTo>
                  <a:pt x="64586" y="106044"/>
                  <a:pt x="65747" y="103115"/>
                  <a:pt x="67767" y="100893"/>
                </a:cubicBezTo>
                <a:lnTo>
                  <a:pt x="112204" y="52416"/>
                </a:lnTo>
                <a:cubicBezTo>
                  <a:pt x="114477" y="49891"/>
                  <a:pt x="117759" y="48477"/>
                  <a:pt x="121142" y="48477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8625311" y="376547"/>
            <a:ext cx="7336207" cy="344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3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KNN可视化示意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307517" y="985028"/>
            <a:ext cx="7519343" cy="3484968"/>
          </a:xfrm>
          <a:custGeom>
            <a:avLst/>
            <a:gdLst/>
            <a:ahLst/>
            <a:cxnLst/>
            <a:rect l="l" t="t" r="r" b="b"/>
            <a:pathLst>
              <a:path w="7519343" h="2747038">
                <a:moveTo>
                  <a:pt x="86175" y="0"/>
                </a:moveTo>
                <a:lnTo>
                  <a:pt x="7433168" y="0"/>
                </a:lnTo>
                <a:cubicBezTo>
                  <a:pt x="7480761" y="0"/>
                  <a:pt x="7519343" y="38582"/>
                  <a:pt x="7519343" y="86175"/>
                </a:cubicBezTo>
                <a:lnTo>
                  <a:pt x="7519343" y="2660863"/>
                </a:lnTo>
                <a:cubicBezTo>
                  <a:pt x="7519343" y="2708456"/>
                  <a:pt x="7480761" y="2747038"/>
                  <a:pt x="7433168" y="2747038"/>
                </a:cubicBezTo>
                <a:lnTo>
                  <a:pt x="86175" y="2747038"/>
                </a:lnTo>
                <a:cubicBezTo>
                  <a:pt x="38582" y="2747038"/>
                  <a:pt x="0" y="2708456"/>
                  <a:pt x="0" y="2660863"/>
                </a:cubicBezTo>
                <a:lnTo>
                  <a:pt x="0" y="86175"/>
                </a:lnTo>
                <a:cubicBezTo>
                  <a:pt x="0" y="38614"/>
                  <a:pt x="38614" y="0"/>
                  <a:pt x="8617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1"/>
          <p:cNvSpPr/>
          <p:nvPr/>
        </p:nvSpPr>
        <p:spPr>
          <a:xfrm>
            <a:off x="8366767" y="4696896"/>
            <a:ext cx="193909" cy="258545"/>
          </a:xfrm>
          <a:custGeom>
            <a:avLst/>
            <a:gdLst/>
            <a:ahLst/>
            <a:cxnLst/>
            <a:rect l="l" t="t" r="r" b="b"/>
            <a:pathLst>
              <a:path w="193909" h="258545">
                <a:moveTo>
                  <a:pt x="32318" y="0"/>
                </a:moveTo>
                <a:cubicBezTo>
                  <a:pt x="14493" y="0"/>
                  <a:pt x="0" y="14493"/>
                  <a:pt x="0" y="32318"/>
                </a:cubicBezTo>
                <a:lnTo>
                  <a:pt x="0" y="226227"/>
                </a:lnTo>
                <a:cubicBezTo>
                  <a:pt x="0" y="244052"/>
                  <a:pt x="14493" y="258545"/>
                  <a:pt x="32318" y="258545"/>
                </a:cubicBezTo>
                <a:lnTo>
                  <a:pt x="161590" y="258545"/>
                </a:lnTo>
                <a:cubicBezTo>
                  <a:pt x="179416" y="258545"/>
                  <a:pt x="193909" y="244052"/>
                  <a:pt x="193909" y="226227"/>
                </a:cubicBezTo>
                <a:lnTo>
                  <a:pt x="193909" y="32318"/>
                </a:lnTo>
                <a:cubicBezTo>
                  <a:pt x="193909" y="14493"/>
                  <a:pt x="179416" y="0"/>
                  <a:pt x="161590" y="0"/>
                </a:cubicBezTo>
                <a:lnTo>
                  <a:pt x="32318" y="0"/>
                </a:lnTo>
                <a:close/>
                <a:moveTo>
                  <a:pt x="48477" y="32318"/>
                </a:moveTo>
                <a:lnTo>
                  <a:pt x="145431" y="32318"/>
                </a:lnTo>
                <a:cubicBezTo>
                  <a:pt x="154369" y="32318"/>
                  <a:pt x="161590" y="39539"/>
                  <a:pt x="161590" y="48477"/>
                </a:cubicBezTo>
                <a:lnTo>
                  <a:pt x="161590" y="64636"/>
                </a:lnTo>
                <a:cubicBezTo>
                  <a:pt x="161590" y="73574"/>
                  <a:pt x="154369" y="80795"/>
                  <a:pt x="145431" y="80795"/>
                </a:cubicBezTo>
                <a:lnTo>
                  <a:pt x="48477" y="80795"/>
                </a:lnTo>
                <a:cubicBezTo>
                  <a:pt x="39539" y="80795"/>
                  <a:pt x="32318" y="73574"/>
                  <a:pt x="32318" y="64636"/>
                </a:cubicBezTo>
                <a:lnTo>
                  <a:pt x="32318" y="48477"/>
                </a:lnTo>
                <a:cubicBezTo>
                  <a:pt x="32318" y="39539"/>
                  <a:pt x="39539" y="32318"/>
                  <a:pt x="48477" y="32318"/>
                </a:cubicBezTo>
                <a:close/>
                <a:moveTo>
                  <a:pt x="56557" y="117153"/>
                </a:moveTo>
                <a:cubicBezTo>
                  <a:pt x="56557" y="123842"/>
                  <a:pt x="51126" y="129272"/>
                  <a:pt x="44437" y="129272"/>
                </a:cubicBezTo>
                <a:cubicBezTo>
                  <a:pt x="37749" y="129272"/>
                  <a:pt x="32318" y="123842"/>
                  <a:pt x="32318" y="117153"/>
                </a:cubicBezTo>
                <a:cubicBezTo>
                  <a:pt x="32318" y="110464"/>
                  <a:pt x="37749" y="105034"/>
                  <a:pt x="44437" y="105034"/>
                </a:cubicBezTo>
                <a:cubicBezTo>
                  <a:pt x="51126" y="105034"/>
                  <a:pt x="56557" y="110464"/>
                  <a:pt x="56557" y="117153"/>
                </a:cubicBezTo>
                <a:close/>
                <a:moveTo>
                  <a:pt x="96954" y="129272"/>
                </a:moveTo>
                <a:cubicBezTo>
                  <a:pt x="90265" y="129272"/>
                  <a:pt x="84835" y="123842"/>
                  <a:pt x="84835" y="117153"/>
                </a:cubicBezTo>
                <a:cubicBezTo>
                  <a:pt x="84835" y="110464"/>
                  <a:pt x="90265" y="105034"/>
                  <a:pt x="96954" y="105034"/>
                </a:cubicBezTo>
                <a:cubicBezTo>
                  <a:pt x="103643" y="105034"/>
                  <a:pt x="109074" y="110464"/>
                  <a:pt x="109074" y="117153"/>
                </a:cubicBezTo>
                <a:cubicBezTo>
                  <a:pt x="109074" y="123842"/>
                  <a:pt x="103643" y="129272"/>
                  <a:pt x="96954" y="129272"/>
                </a:cubicBezTo>
                <a:close/>
                <a:moveTo>
                  <a:pt x="161590" y="117153"/>
                </a:moveTo>
                <a:cubicBezTo>
                  <a:pt x="161590" y="123842"/>
                  <a:pt x="156160" y="129272"/>
                  <a:pt x="149471" y="129272"/>
                </a:cubicBezTo>
                <a:cubicBezTo>
                  <a:pt x="142782" y="129272"/>
                  <a:pt x="137352" y="123842"/>
                  <a:pt x="137352" y="117153"/>
                </a:cubicBezTo>
                <a:cubicBezTo>
                  <a:pt x="137352" y="110464"/>
                  <a:pt x="142782" y="105034"/>
                  <a:pt x="149471" y="105034"/>
                </a:cubicBezTo>
                <a:cubicBezTo>
                  <a:pt x="156160" y="105034"/>
                  <a:pt x="161590" y="110464"/>
                  <a:pt x="161590" y="117153"/>
                </a:cubicBezTo>
                <a:close/>
                <a:moveTo>
                  <a:pt x="44437" y="177750"/>
                </a:moveTo>
                <a:cubicBezTo>
                  <a:pt x="37749" y="177750"/>
                  <a:pt x="32318" y="172319"/>
                  <a:pt x="32318" y="165630"/>
                </a:cubicBezTo>
                <a:cubicBezTo>
                  <a:pt x="32318" y="158941"/>
                  <a:pt x="37749" y="153511"/>
                  <a:pt x="44437" y="153511"/>
                </a:cubicBezTo>
                <a:cubicBezTo>
                  <a:pt x="51126" y="153511"/>
                  <a:pt x="56557" y="158941"/>
                  <a:pt x="56557" y="165630"/>
                </a:cubicBezTo>
                <a:cubicBezTo>
                  <a:pt x="56557" y="172319"/>
                  <a:pt x="51126" y="177750"/>
                  <a:pt x="44437" y="177750"/>
                </a:cubicBezTo>
                <a:close/>
                <a:moveTo>
                  <a:pt x="109074" y="165630"/>
                </a:moveTo>
                <a:cubicBezTo>
                  <a:pt x="109074" y="172319"/>
                  <a:pt x="103643" y="177750"/>
                  <a:pt x="96954" y="177750"/>
                </a:cubicBezTo>
                <a:cubicBezTo>
                  <a:pt x="90265" y="177750"/>
                  <a:pt x="84835" y="172319"/>
                  <a:pt x="84835" y="165630"/>
                </a:cubicBezTo>
                <a:cubicBezTo>
                  <a:pt x="84835" y="158941"/>
                  <a:pt x="90265" y="153511"/>
                  <a:pt x="96954" y="153511"/>
                </a:cubicBezTo>
                <a:cubicBezTo>
                  <a:pt x="103643" y="153511"/>
                  <a:pt x="109074" y="158941"/>
                  <a:pt x="109074" y="165630"/>
                </a:cubicBezTo>
                <a:close/>
                <a:moveTo>
                  <a:pt x="149471" y="177750"/>
                </a:moveTo>
                <a:cubicBezTo>
                  <a:pt x="142782" y="177750"/>
                  <a:pt x="137352" y="172319"/>
                  <a:pt x="137352" y="165630"/>
                </a:cubicBezTo>
                <a:cubicBezTo>
                  <a:pt x="137352" y="158941"/>
                  <a:pt x="142782" y="153511"/>
                  <a:pt x="149471" y="153511"/>
                </a:cubicBezTo>
                <a:cubicBezTo>
                  <a:pt x="156160" y="153511"/>
                  <a:pt x="161590" y="158941"/>
                  <a:pt x="161590" y="165630"/>
                </a:cubicBezTo>
                <a:cubicBezTo>
                  <a:pt x="161590" y="172319"/>
                  <a:pt x="156160" y="177750"/>
                  <a:pt x="149471" y="177750"/>
                </a:cubicBezTo>
                <a:close/>
                <a:moveTo>
                  <a:pt x="32318" y="214107"/>
                </a:moveTo>
                <a:cubicBezTo>
                  <a:pt x="32318" y="207391"/>
                  <a:pt x="37721" y="201988"/>
                  <a:pt x="44437" y="201988"/>
                </a:cubicBezTo>
                <a:lnTo>
                  <a:pt x="100994" y="201988"/>
                </a:lnTo>
                <a:cubicBezTo>
                  <a:pt x="107710" y="201988"/>
                  <a:pt x="113113" y="207391"/>
                  <a:pt x="113113" y="214107"/>
                </a:cubicBezTo>
                <a:cubicBezTo>
                  <a:pt x="113113" y="220823"/>
                  <a:pt x="107710" y="226227"/>
                  <a:pt x="100994" y="226227"/>
                </a:cubicBezTo>
                <a:lnTo>
                  <a:pt x="44437" y="226227"/>
                </a:lnTo>
                <a:cubicBezTo>
                  <a:pt x="37721" y="226227"/>
                  <a:pt x="32318" y="220823"/>
                  <a:pt x="32318" y="214107"/>
                </a:cubicBezTo>
                <a:close/>
                <a:moveTo>
                  <a:pt x="149471" y="201988"/>
                </a:moveTo>
                <a:cubicBezTo>
                  <a:pt x="156187" y="201988"/>
                  <a:pt x="161590" y="207391"/>
                  <a:pt x="161590" y="214107"/>
                </a:cubicBezTo>
                <a:cubicBezTo>
                  <a:pt x="161590" y="220823"/>
                  <a:pt x="156187" y="226227"/>
                  <a:pt x="149471" y="226227"/>
                </a:cubicBezTo>
                <a:cubicBezTo>
                  <a:pt x="142755" y="226227"/>
                  <a:pt x="137352" y="220823"/>
                  <a:pt x="137352" y="214107"/>
                </a:cubicBezTo>
                <a:cubicBezTo>
                  <a:pt x="137352" y="207391"/>
                  <a:pt x="142755" y="201988"/>
                  <a:pt x="149471" y="20198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8625311" y="4653805"/>
            <a:ext cx="7336207" cy="344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36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算法复杂度分析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8323676" y="5127804"/>
            <a:ext cx="7508570" cy="1163451"/>
          </a:xfrm>
          <a:custGeom>
            <a:avLst/>
            <a:gdLst/>
            <a:ahLst/>
            <a:cxnLst/>
            <a:rect l="l" t="t" r="r" b="b"/>
            <a:pathLst>
              <a:path w="7508570" h="1163451">
                <a:moveTo>
                  <a:pt x="43091" y="0"/>
                </a:moveTo>
                <a:lnTo>
                  <a:pt x="7422393" y="0"/>
                </a:lnTo>
                <a:cubicBezTo>
                  <a:pt x="7469987" y="0"/>
                  <a:pt x="7508570" y="38583"/>
                  <a:pt x="7508570" y="86177"/>
                </a:cubicBezTo>
                <a:lnTo>
                  <a:pt x="7508570" y="1077274"/>
                </a:lnTo>
                <a:cubicBezTo>
                  <a:pt x="7508570" y="1124869"/>
                  <a:pt x="7469987" y="1163451"/>
                  <a:pt x="7422393" y="1163451"/>
                </a:cubicBezTo>
                <a:lnTo>
                  <a:pt x="43091" y="1163451"/>
                </a:lnTo>
                <a:cubicBezTo>
                  <a:pt x="19292" y="1163451"/>
                  <a:pt x="0" y="1144159"/>
                  <a:pt x="0" y="1120361"/>
                </a:cubicBezTo>
                <a:lnTo>
                  <a:pt x="0" y="43091"/>
                </a:lnTo>
                <a:cubicBezTo>
                  <a:pt x="0" y="19308"/>
                  <a:pt x="19308" y="0"/>
                  <a:pt x="43091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4"/>
          <p:cNvSpPr/>
          <p:nvPr/>
        </p:nvSpPr>
        <p:spPr>
          <a:xfrm>
            <a:off x="8323676" y="5127804"/>
            <a:ext cx="43091" cy="1163451"/>
          </a:xfrm>
          <a:custGeom>
            <a:avLst/>
            <a:gdLst/>
            <a:ahLst/>
            <a:cxnLst/>
            <a:rect l="l" t="t" r="r" b="b"/>
            <a:pathLst>
              <a:path w="43091" h="1163451">
                <a:moveTo>
                  <a:pt x="43091" y="0"/>
                </a:moveTo>
                <a:lnTo>
                  <a:pt x="43091" y="0"/>
                </a:lnTo>
                <a:lnTo>
                  <a:pt x="43091" y="1163451"/>
                </a:lnTo>
                <a:lnTo>
                  <a:pt x="43091" y="1163451"/>
                </a:lnTo>
                <a:cubicBezTo>
                  <a:pt x="19292" y="1163451"/>
                  <a:pt x="0" y="1144159"/>
                  <a:pt x="0" y="1120361"/>
                </a:cubicBezTo>
                <a:lnTo>
                  <a:pt x="0" y="43091"/>
                </a:lnTo>
                <a:cubicBezTo>
                  <a:pt x="0" y="19308"/>
                  <a:pt x="19308" y="0"/>
                  <a:pt x="4309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8474494" y="5257076"/>
            <a:ext cx="731466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训练阶段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474494" y="5601803"/>
            <a:ext cx="7325434" cy="30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O(1) - 几乎无计算开销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474494" y="5946529"/>
            <a:ext cx="7303889" cy="215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仅需存储数据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323676" y="6420528"/>
            <a:ext cx="7508570" cy="1163451"/>
          </a:xfrm>
          <a:custGeom>
            <a:avLst/>
            <a:gdLst/>
            <a:ahLst/>
            <a:cxnLst/>
            <a:rect l="l" t="t" r="r" b="b"/>
            <a:pathLst>
              <a:path w="7508570" h="1163451">
                <a:moveTo>
                  <a:pt x="43091" y="0"/>
                </a:moveTo>
                <a:lnTo>
                  <a:pt x="7422393" y="0"/>
                </a:lnTo>
                <a:cubicBezTo>
                  <a:pt x="7469987" y="0"/>
                  <a:pt x="7508570" y="38583"/>
                  <a:pt x="7508570" y="86177"/>
                </a:cubicBezTo>
                <a:lnTo>
                  <a:pt x="7508570" y="1077274"/>
                </a:lnTo>
                <a:cubicBezTo>
                  <a:pt x="7508570" y="1124869"/>
                  <a:pt x="7469987" y="1163451"/>
                  <a:pt x="7422393" y="1163451"/>
                </a:cubicBezTo>
                <a:lnTo>
                  <a:pt x="43091" y="1163451"/>
                </a:lnTo>
                <a:cubicBezTo>
                  <a:pt x="19292" y="1163451"/>
                  <a:pt x="0" y="1144159"/>
                  <a:pt x="0" y="1120361"/>
                </a:cubicBezTo>
                <a:lnTo>
                  <a:pt x="0" y="43091"/>
                </a:lnTo>
                <a:cubicBezTo>
                  <a:pt x="0" y="19308"/>
                  <a:pt x="19308" y="0"/>
                  <a:pt x="43091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9"/>
          <p:cNvSpPr/>
          <p:nvPr/>
        </p:nvSpPr>
        <p:spPr>
          <a:xfrm>
            <a:off x="8323676" y="6420528"/>
            <a:ext cx="43091" cy="1163451"/>
          </a:xfrm>
          <a:custGeom>
            <a:avLst/>
            <a:gdLst/>
            <a:ahLst/>
            <a:cxnLst/>
            <a:rect l="l" t="t" r="r" b="b"/>
            <a:pathLst>
              <a:path w="43091" h="1163451">
                <a:moveTo>
                  <a:pt x="43091" y="0"/>
                </a:moveTo>
                <a:lnTo>
                  <a:pt x="43091" y="0"/>
                </a:lnTo>
                <a:lnTo>
                  <a:pt x="43091" y="1163451"/>
                </a:lnTo>
                <a:lnTo>
                  <a:pt x="43091" y="1163451"/>
                </a:lnTo>
                <a:cubicBezTo>
                  <a:pt x="19292" y="1163451"/>
                  <a:pt x="0" y="1144159"/>
                  <a:pt x="0" y="1120361"/>
                </a:cubicBezTo>
                <a:lnTo>
                  <a:pt x="0" y="43091"/>
                </a:lnTo>
                <a:cubicBezTo>
                  <a:pt x="0" y="19308"/>
                  <a:pt x="19308" y="0"/>
                  <a:pt x="4309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0"/>
          <p:cNvSpPr/>
          <p:nvPr/>
        </p:nvSpPr>
        <p:spPr>
          <a:xfrm>
            <a:off x="8474494" y="6549800"/>
            <a:ext cx="7314661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预测阶段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474494" y="6894526"/>
            <a:ext cx="7325434" cy="30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2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O(nd + nlogK)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474494" y="7239252"/>
            <a:ext cx="7303889" cy="215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8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n:样本数, d:特征维度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307517" y="7718638"/>
            <a:ext cx="7519343" cy="527862"/>
          </a:xfrm>
          <a:custGeom>
            <a:avLst/>
            <a:gdLst/>
            <a:ahLst/>
            <a:cxnLst/>
            <a:rect l="l" t="t" r="r" b="b"/>
            <a:pathLst>
              <a:path w="7519343" h="527862">
                <a:moveTo>
                  <a:pt x="86184" y="0"/>
                </a:moveTo>
                <a:lnTo>
                  <a:pt x="7433159" y="0"/>
                </a:lnTo>
                <a:cubicBezTo>
                  <a:pt x="7480757" y="0"/>
                  <a:pt x="7519343" y="38586"/>
                  <a:pt x="7519343" y="86184"/>
                </a:cubicBezTo>
                <a:lnTo>
                  <a:pt x="7519343" y="441678"/>
                </a:lnTo>
                <a:cubicBezTo>
                  <a:pt x="7519343" y="489276"/>
                  <a:pt x="7480757" y="527862"/>
                  <a:pt x="7433159" y="527862"/>
                </a:cubicBezTo>
                <a:lnTo>
                  <a:pt x="86184" y="527862"/>
                </a:lnTo>
                <a:cubicBezTo>
                  <a:pt x="38618" y="527862"/>
                  <a:pt x="0" y="489244"/>
                  <a:pt x="0" y="441678"/>
                </a:cubicBezTo>
                <a:lnTo>
                  <a:pt x="0" y="86184"/>
                </a:lnTo>
                <a:cubicBezTo>
                  <a:pt x="0" y="38618"/>
                  <a:pt x="38618" y="0"/>
                  <a:pt x="86184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 w="12700">
            <a:solidFill>
              <a:srgbClr val="E5A1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4"/>
          <p:cNvSpPr/>
          <p:nvPr/>
        </p:nvSpPr>
        <p:spPr>
          <a:xfrm>
            <a:off x="8463721" y="7896387"/>
            <a:ext cx="172363" cy="172363"/>
          </a:xfrm>
          <a:custGeom>
            <a:avLst/>
            <a:gdLst/>
            <a:ahLst/>
            <a:cxnLst/>
            <a:rect l="l" t="t" r="r" b="b"/>
            <a:pathLst>
              <a:path w="172363" h="172363">
                <a:moveTo>
                  <a:pt x="86182" y="0"/>
                </a:moveTo>
                <a:cubicBezTo>
                  <a:pt x="91130" y="0"/>
                  <a:pt x="95675" y="2727"/>
                  <a:pt x="98032" y="7070"/>
                </a:cubicBezTo>
                <a:lnTo>
                  <a:pt x="170747" y="141728"/>
                </a:lnTo>
                <a:cubicBezTo>
                  <a:pt x="173003" y="145903"/>
                  <a:pt x="172902" y="150952"/>
                  <a:pt x="170478" y="155026"/>
                </a:cubicBezTo>
                <a:cubicBezTo>
                  <a:pt x="168054" y="159099"/>
                  <a:pt x="163644" y="161590"/>
                  <a:pt x="158897" y="161590"/>
                </a:cubicBezTo>
                <a:lnTo>
                  <a:pt x="13466" y="161590"/>
                </a:lnTo>
                <a:cubicBezTo>
                  <a:pt x="8719" y="161590"/>
                  <a:pt x="4343" y="159099"/>
                  <a:pt x="1885" y="155026"/>
                </a:cubicBezTo>
                <a:cubicBezTo>
                  <a:pt x="-572" y="150952"/>
                  <a:pt x="-640" y="145903"/>
                  <a:pt x="1616" y="141728"/>
                </a:cubicBezTo>
                <a:lnTo>
                  <a:pt x="74332" y="7070"/>
                </a:lnTo>
                <a:cubicBezTo>
                  <a:pt x="76688" y="2727"/>
                  <a:pt x="81233" y="0"/>
                  <a:pt x="86182" y="0"/>
                </a:cubicBezTo>
                <a:close/>
                <a:moveTo>
                  <a:pt x="86182" y="56557"/>
                </a:moveTo>
                <a:cubicBezTo>
                  <a:pt x="81704" y="56557"/>
                  <a:pt x="78102" y="60159"/>
                  <a:pt x="78102" y="64636"/>
                </a:cubicBezTo>
                <a:lnTo>
                  <a:pt x="78102" y="102341"/>
                </a:lnTo>
                <a:cubicBezTo>
                  <a:pt x="78102" y="106818"/>
                  <a:pt x="81704" y="110420"/>
                  <a:pt x="86182" y="110420"/>
                </a:cubicBezTo>
                <a:cubicBezTo>
                  <a:pt x="90659" y="110420"/>
                  <a:pt x="94261" y="106818"/>
                  <a:pt x="94261" y="102341"/>
                </a:cubicBezTo>
                <a:lnTo>
                  <a:pt x="94261" y="64636"/>
                </a:lnTo>
                <a:cubicBezTo>
                  <a:pt x="94261" y="60159"/>
                  <a:pt x="90659" y="56557"/>
                  <a:pt x="86182" y="56557"/>
                </a:cubicBezTo>
                <a:close/>
                <a:moveTo>
                  <a:pt x="95170" y="129272"/>
                </a:moveTo>
                <a:cubicBezTo>
                  <a:pt x="95375" y="125936"/>
                  <a:pt x="93711" y="122762"/>
                  <a:pt x="90851" y="121032"/>
                </a:cubicBezTo>
                <a:cubicBezTo>
                  <a:pt x="87990" y="119302"/>
                  <a:pt x="84406" y="119302"/>
                  <a:pt x="81546" y="121032"/>
                </a:cubicBezTo>
                <a:cubicBezTo>
                  <a:pt x="78686" y="122762"/>
                  <a:pt x="77022" y="125936"/>
                  <a:pt x="77227" y="129272"/>
                </a:cubicBezTo>
                <a:cubicBezTo>
                  <a:pt x="77022" y="132609"/>
                  <a:pt x="78686" y="135783"/>
                  <a:pt x="81546" y="137513"/>
                </a:cubicBezTo>
                <a:cubicBezTo>
                  <a:pt x="84406" y="139243"/>
                  <a:pt x="87990" y="139243"/>
                  <a:pt x="90851" y="137513"/>
                </a:cubicBezTo>
                <a:cubicBezTo>
                  <a:pt x="93711" y="135783"/>
                  <a:pt x="95375" y="132609"/>
                  <a:pt x="95170" y="12927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5"/>
          <p:cNvSpPr/>
          <p:nvPr/>
        </p:nvSpPr>
        <p:spPr>
          <a:xfrm>
            <a:off x="8743811" y="7853296"/>
            <a:ext cx="3867398" cy="258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注意：</a:t>
            </a:r>
            <a:r>
              <a:rPr lang="en-US" sz="135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数据量大时计算开销大，可用KD-Tree优化</a:t>
            </a:r>
            <a:endParaRPr lang="en-US" sz="1600" dirty="0"/>
          </a:p>
        </p:txBody>
      </p:sp>
      <p:pic>
        <p:nvPicPr>
          <p:cNvPr id="52" name="图片 51" descr="图表, 折线图, 散点图&#10;&#10;AI 生成的内容可能不正确。">
            <a:extLst>
              <a:ext uri="{FF2B5EF4-FFF2-40B4-BE49-F238E27FC236}">
                <a16:creationId xmlns:a16="http://schemas.microsoft.com/office/drawing/2014/main" id="{1930FA47-27C6-3FEA-44E2-9F33373B0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1" y="985823"/>
            <a:ext cx="4068374" cy="348337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KNN：算法优缺点与优化策略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684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61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7625" y="95250"/>
                </a:moveTo>
                <a:cubicBezTo>
                  <a:pt x="58162" y="95250"/>
                  <a:pt x="66675" y="103763"/>
                  <a:pt x="66675" y="114300"/>
                </a:cubicBezTo>
                <a:lnTo>
                  <a:pt x="66675" y="266700"/>
                </a:lnTo>
                <a:cubicBezTo>
                  <a:pt x="66675" y="277237"/>
                  <a:pt x="58162" y="285750"/>
                  <a:pt x="47625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114300"/>
                </a:lnTo>
                <a:cubicBezTo>
                  <a:pt x="0" y="103763"/>
                  <a:pt x="8513" y="95250"/>
                  <a:pt x="19050" y="95250"/>
                </a:cubicBezTo>
                <a:lnTo>
                  <a:pt x="47625" y="95250"/>
                </a:lnTo>
                <a:close/>
                <a:moveTo>
                  <a:pt x="161092" y="9525"/>
                </a:moveTo>
                <a:cubicBezTo>
                  <a:pt x="177344" y="9525"/>
                  <a:pt x="190500" y="22681"/>
                  <a:pt x="190500" y="38933"/>
                </a:cubicBezTo>
                <a:lnTo>
                  <a:pt x="190500" y="41434"/>
                </a:lnTo>
                <a:cubicBezTo>
                  <a:pt x="190500" y="45482"/>
                  <a:pt x="189726" y="49530"/>
                  <a:pt x="188238" y="53280"/>
                </a:cubicBezTo>
                <a:lnTo>
                  <a:pt x="171450" y="95250"/>
                </a:lnTo>
                <a:lnTo>
                  <a:pt x="266700" y="95250"/>
                </a:lnTo>
                <a:cubicBezTo>
                  <a:pt x="282476" y="95250"/>
                  <a:pt x="295275" y="108049"/>
                  <a:pt x="295275" y="123825"/>
                </a:cubicBezTo>
                <a:cubicBezTo>
                  <a:pt x="295275" y="135553"/>
                  <a:pt x="288191" y="145613"/>
                  <a:pt x="278070" y="150019"/>
                </a:cubicBezTo>
                <a:cubicBezTo>
                  <a:pt x="288191" y="154424"/>
                  <a:pt x="295275" y="164485"/>
                  <a:pt x="295275" y="176212"/>
                </a:cubicBezTo>
                <a:cubicBezTo>
                  <a:pt x="295275" y="190143"/>
                  <a:pt x="285274" y="201751"/>
                  <a:pt x="272058" y="204252"/>
                </a:cubicBezTo>
                <a:cubicBezTo>
                  <a:pt x="274677" y="208598"/>
                  <a:pt x="276225" y="213658"/>
                  <a:pt x="276225" y="219075"/>
                </a:cubicBezTo>
                <a:cubicBezTo>
                  <a:pt x="276225" y="232291"/>
                  <a:pt x="267295" y="243364"/>
                  <a:pt x="255151" y="246638"/>
                </a:cubicBezTo>
                <a:cubicBezTo>
                  <a:pt x="256461" y="249912"/>
                  <a:pt x="257175" y="253484"/>
                  <a:pt x="257175" y="257175"/>
                </a:cubicBezTo>
                <a:cubicBezTo>
                  <a:pt x="257175" y="272951"/>
                  <a:pt x="244376" y="285750"/>
                  <a:pt x="228600" y="285750"/>
                </a:cubicBezTo>
                <a:lnTo>
                  <a:pt x="176272" y="285750"/>
                </a:lnTo>
                <a:cubicBezTo>
                  <a:pt x="154662" y="285750"/>
                  <a:pt x="133648" y="278368"/>
                  <a:pt x="116800" y="264855"/>
                </a:cubicBezTo>
                <a:lnTo>
                  <a:pt x="109537" y="259080"/>
                </a:lnTo>
                <a:cubicBezTo>
                  <a:pt x="100489" y="251877"/>
                  <a:pt x="95250" y="240923"/>
                  <a:pt x="95250" y="229314"/>
                </a:cubicBezTo>
                <a:lnTo>
                  <a:pt x="95250" y="118229"/>
                </a:lnTo>
                <a:cubicBezTo>
                  <a:pt x="95250" y="109359"/>
                  <a:pt x="97334" y="100608"/>
                  <a:pt x="101263" y="92690"/>
                </a:cubicBezTo>
                <a:lnTo>
                  <a:pt x="134719" y="25777"/>
                </a:lnTo>
                <a:cubicBezTo>
                  <a:pt x="139720" y="15835"/>
                  <a:pt x="149900" y="9525"/>
                  <a:pt x="161092" y="952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890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3100" y="2184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19200" y="2032000"/>
            <a:ext cx="458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简单易懂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2489200"/>
            <a:ext cx="457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原理简单，无需复杂的数学推导，易于实现和解释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2971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73100" y="3124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219200" y="2971800"/>
            <a:ext cx="580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无显式训练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3429000"/>
            <a:ext cx="579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作为惰性学习算法，训练阶段主要是存储数据，预测阶段再计算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" y="391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73100" y="4064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19200" y="3911600"/>
            <a:ext cx="661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适用性广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9200" y="4368800"/>
            <a:ext cx="6604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既可用于分类，也可用于回归；对噪声与异常值的敏感性可通过参数调节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693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28600" y="19050"/>
                </a:moveTo>
                <a:cubicBezTo>
                  <a:pt x="244376" y="19050"/>
                  <a:pt x="257175" y="31849"/>
                  <a:pt x="257175" y="47625"/>
                </a:cubicBezTo>
                <a:cubicBezTo>
                  <a:pt x="257175" y="51375"/>
                  <a:pt x="256401" y="54888"/>
                  <a:pt x="255151" y="58162"/>
                </a:cubicBezTo>
                <a:cubicBezTo>
                  <a:pt x="267295" y="61436"/>
                  <a:pt x="276225" y="72509"/>
                  <a:pt x="276225" y="85725"/>
                </a:cubicBezTo>
                <a:cubicBezTo>
                  <a:pt x="276225" y="91142"/>
                  <a:pt x="274677" y="96203"/>
                  <a:pt x="272058" y="100548"/>
                </a:cubicBezTo>
                <a:cubicBezTo>
                  <a:pt x="285274" y="103049"/>
                  <a:pt x="295275" y="114657"/>
                  <a:pt x="295275" y="128588"/>
                </a:cubicBezTo>
                <a:cubicBezTo>
                  <a:pt x="295275" y="140315"/>
                  <a:pt x="288191" y="150376"/>
                  <a:pt x="278070" y="154781"/>
                </a:cubicBezTo>
                <a:cubicBezTo>
                  <a:pt x="288191" y="159187"/>
                  <a:pt x="295275" y="169247"/>
                  <a:pt x="295275" y="180975"/>
                </a:cubicBezTo>
                <a:cubicBezTo>
                  <a:pt x="295275" y="196751"/>
                  <a:pt x="282476" y="209550"/>
                  <a:pt x="266700" y="209550"/>
                </a:cubicBezTo>
                <a:lnTo>
                  <a:pt x="171450" y="209550"/>
                </a:lnTo>
                <a:lnTo>
                  <a:pt x="188238" y="251460"/>
                </a:lnTo>
                <a:cubicBezTo>
                  <a:pt x="189726" y="255210"/>
                  <a:pt x="190500" y="259259"/>
                  <a:pt x="190500" y="263307"/>
                </a:cubicBezTo>
                <a:lnTo>
                  <a:pt x="190500" y="265807"/>
                </a:lnTo>
                <a:cubicBezTo>
                  <a:pt x="190500" y="282059"/>
                  <a:pt x="177344" y="295215"/>
                  <a:pt x="161092" y="295215"/>
                </a:cubicBezTo>
                <a:cubicBezTo>
                  <a:pt x="149959" y="295215"/>
                  <a:pt x="139779" y="288905"/>
                  <a:pt x="134779" y="278963"/>
                </a:cubicBezTo>
                <a:lnTo>
                  <a:pt x="101263" y="212110"/>
                </a:lnTo>
                <a:cubicBezTo>
                  <a:pt x="97274" y="204192"/>
                  <a:pt x="95250" y="195441"/>
                  <a:pt x="95250" y="186571"/>
                </a:cubicBezTo>
                <a:lnTo>
                  <a:pt x="95250" y="75486"/>
                </a:lnTo>
                <a:cubicBezTo>
                  <a:pt x="95250" y="63937"/>
                  <a:pt x="100548" y="52983"/>
                  <a:pt x="109537" y="45720"/>
                </a:cubicBezTo>
                <a:lnTo>
                  <a:pt x="116800" y="39945"/>
                </a:lnTo>
                <a:cubicBezTo>
                  <a:pt x="133707" y="26432"/>
                  <a:pt x="154662" y="19050"/>
                  <a:pt x="176272" y="19050"/>
                </a:cubicBezTo>
                <a:lnTo>
                  <a:pt x="228600" y="19050"/>
                </a:lnTo>
                <a:close/>
                <a:moveTo>
                  <a:pt x="47625" y="57150"/>
                </a:moveTo>
                <a:cubicBezTo>
                  <a:pt x="58162" y="57150"/>
                  <a:pt x="66675" y="65663"/>
                  <a:pt x="66675" y="76200"/>
                </a:cubicBezTo>
                <a:lnTo>
                  <a:pt x="66675" y="228600"/>
                </a:lnTo>
                <a:cubicBezTo>
                  <a:pt x="66675" y="239137"/>
                  <a:pt x="58162" y="247650"/>
                  <a:pt x="47625" y="247650"/>
                </a:cubicBezTo>
                <a:lnTo>
                  <a:pt x="19050" y="247650"/>
                </a:lnTo>
                <a:cubicBezTo>
                  <a:pt x="8513" y="247650"/>
                  <a:pt x="0" y="239137"/>
                  <a:pt x="0" y="228600"/>
                </a:cubicBezTo>
                <a:lnTo>
                  <a:pt x="0" y="76200"/>
                </a:lnTo>
                <a:cubicBezTo>
                  <a:pt x="0" y="65663"/>
                  <a:pt x="8513" y="57150"/>
                  <a:pt x="19050" y="57150"/>
                </a:cubicBezTo>
                <a:lnTo>
                  <a:pt x="47625" y="5715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7122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C96676A-FAE9-85B9-75E2-011C69A48973}"/>
              </a:ext>
            </a:extLst>
          </p:cNvPr>
          <p:cNvGrpSpPr/>
          <p:nvPr/>
        </p:nvGrpSpPr>
        <p:grpSpPr>
          <a:xfrm>
            <a:off x="8331200" y="2032000"/>
            <a:ext cx="508000" cy="508000"/>
            <a:chOff x="8331200" y="2032000"/>
            <a:chExt cx="508000" cy="508000"/>
          </a:xfrm>
        </p:grpSpPr>
        <p:sp>
          <p:nvSpPr>
            <p:cNvPr id="20" name="Shape 18"/>
            <p:cNvSpPr/>
            <p:nvPr/>
          </p:nvSpPr>
          <p:spPr>
            <a:xfrm>
              <a:off x="8331200" y="20320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lnTo>
                    <a:pt x="254000" y="0"/>
                  </a:lnTo>
                  <a:cubicBezTo>
                    <a:pt x="394186" y="0"/>
                    <a:pt x="508000" y="113814"/>
                    <a:pt x="508000" y="254000"/>
                  </a:cubicBezTo>
                  <a:lnTo>
                    <a:pt x="508000" y="254000"/>
                  </a:lnTo>
                  <a:cubicBezTo>
                    <a:pt x="508000" y="394186"/>
                    <a:pt x="394186" y="508000"/>
                    <a:pt x="254000" y="508000"/>
                  </a:cubicBezTo>
                  <a:lnTo>
                    <a:pt x="254000" y="508000"/>
                  </a:lnTo>
                  <a:cubicBezTo>
                    <a:pt x="113814" y="508000"/>
                    <a:pt x="0" y="394186"/>
                    <a:pt x="0" y="254000"/>
                  </a:cubicBezTo>
                  <a:lnTo>
                    <a:pt x="0" y="254000"/>
                  </a:lnTo>
                  <a:cubicBezTo>
                    <a:pt x="0" y="113814"/>
                    <a:pt x="113814" y="0"/>
                    <a:pt x="254000" y="0"/>
                  </a:cubicBezTo>
                  <a:close/>
                </a:path>
              </a:pathLst>
            </a:custGeom>
            <a:solidFill>
              <a:srgbClr val="E5A16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8509000" y="2184400"/>
              <a:ext cx="152400" cy="203200"/>
            </a:xfrm>
            <a:custGeom>
              <a:avLst/>
              <a:gdLst/>
              <a:ahLst/>
              <a:cxnLst/>
              <a:rect l="l" t="t" r="r" b="b"/>
              <a:pathLst>
                <a:path w="152400" h="203200">
                  <a:moveTo>
                    <a:pt x="21868" y="29131"/>
                  </a:moveTo>
                  <a:cubicBezTo>
                    <a:pt x="16907" y="24170"/>
                    <a:pt x="8850" y="24170"/>
                    <a:pt x="3889" y="29131"/>
                  </a:cubicBezTo>
                  <a:cubicBezTo>
                    <a:pt x="-1072" y="34092"/>
                    <a:pt x="-1072" y="42148"/>
                    <a:pt x="3889" y="47109"/>
                  </a:cubicBezTo>
                  <a:lnTo>
                    <a:pt x="58420" y="101600"/>
                  </a:lnTo>
                  <a:lnTo>
                    <a:pt x="3929" y="156131"/>
                  </a:lnTo>
                  <a:cubicBezTo>
                    <a:pt x="-1032" y="161092"/>
                    <a:pt x="-1032" y="169148"/>
                    <a:pt x="3929" y="174109"/>
                  </a:cubicBezTo>
                  <a:cubicBezTo>
                    <a:pt x="8890" y="179070"/>
                    <a:pt x="16947" y="179070"/>
                    <a:pt x="21908" y="174109"/>
                  </a:cubicBezTo>
                  <a:lnTo>
                    <a:pt x="76398" y="119578"/>
                  </a:lnTo>
                  <a:lnTo>
                    <a:pt x="130929" y="174069"/>
                  </a:lnTo>
                  <a:cubicBezTo>
                    <a:pt x="135890" y="179030"/>
                    <a:pt x="143947" y="179030"/>
                    <a:pt x="148908" y="174069"/>
                  </a:cubicBezTo>
                  <a:cubicBezTo>
                    <a:pt x="153868" y="169108"/>
                    <a:pt x="153868" y="161052"/>
                    <a:pt x="148908" y="156091"/>
                  </a:cubicBezTo>
                  <a:lnTo>
                    <a:pt x="94377" y="101600"/>
                  </a:lnTo>
                  <a:lnTo>
                    <a:pt x="148868" y="47069"/>
                  </a:lnTo>
                  <a:cubicBezTo>
                    <a:pt x="153829" y="42108"/>
                    <a:pt x="153829" y="34052"/>
                    <a:pt x="148868" y="29091"/>
                  </a:cubicBezTo>
                  <a:cubicBezTo>
                    <a:pt x="143907" y="24130"/>
                    <a:pt x="135850" y="24130"/>
                    <a:pt x="130889" y="29091"/>
                  </a:cubicBezTo>
                  <a:lnTo>
                    <a:pt x="76398" y="83622"/>
                  </a:lnTo>
                  <a:lnTo>
                    <a:pt x="21868" y="29131"/>
                  </a:lnTo>
                  <a:close/>
                </a:path>
              </a:pathLst>
            </a:custGeom>
            <a:solidFill>
              <a:srgbClr val="1A1D2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" name="Text 20"/>
          <p:cNvSpPr/>
          <p:nvPr/>
        </p:nvSpPr>
        <p:spPr>
          <a:xfrm>
            <a:off x="9042400" y="2032000"/>
            <a:ext cx="681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计算量大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42400" y="2489200"/>
            <a:ext cx="6934200" cy="33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预测时需要计算与所有训练样本的距离，计算复杂度高，不适合大规模数据集</a:t>
            </a:r>
            <a:endParaRPr lang="en-US" sz="1600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58E92E4-E6F5-90D1-6BBC-F476C9E7E2FA}"/>
              </a:ext>
            </a:extLst>
          </p:cNvPr>
          <p:cNvGrpSpPr/>
          <p:nvPr/>
        </p:nvGrpSpPr>
        <p:grpSpPr>
          <a:xfrm>
            <a:off x="8331200" y="3136900"/>
            <a:ext cx="508000" cy="508000"/>
            <a:chOff x="8331200" y="3302000"/>
            <a:chExt cx="508000" cy="508000"/>
          </a:xfrm>
        </p:grpSpPr>
        <p:sp>
          <p:nvSpPr>
            <p:cNvPr id="24" name="Shape 22"/>
            <p:cNvSpPr/>
            <p:nvPr/>
          </p:nvSpPr>
          <p:spPr>
            <a:xfrm>
              <a:off x="8331200" y="33020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lnTo>
                    <a:pt x="254000" y="0"/>
                  </a:lnTo>
                  <a:cubicBezTo>
                    <a:pt x="394186" y="0"/>
                    <a:pt x="508000" y="113814"/>
                    <a:pt x="508000" y="254000"/>
                  </a:cubicBezTo>
                  <a:lnTo>
                    <a:pt x="508000" y="254000"/>
                  </a:lnTo>
                  <a:cubicBezTo>
                    <a:pt x="508000" y="394186"/>
                    <a:pt x="394186" y="508000"/>
                    <a:pt x="254000" y="508000"/>
                  </a:cubicBezTo>
                  <a:lnTo>
                    <a:pt x="254000" y="508000"/>
                  </a:lnTo>
                  <a:cubicBezTo>
                    <a:pt x="113814" y="508000"/>
                    <a:pt x="0" y="394186"/>
                    <a:pt x="0" y="254000"/>
                  </a:cubicBezTo>
                  <a:lnTo>
                    <a:pt x="0" y="254000"/>
                  </a:lnTo>
                  <a:cubicBezTo>
                    <a:pt x="0" y="113814"/>
                    <a:pt x="113814" y="0"/>
                    <a:pt x="254000" y="0"/>
                  </a:cubicBezTo>
                  <a:close/>
                </a:path>
              </a:pathLst>
            </a:custGeom>
            <a:solidFill>
              <a:srgbClr val="E5A16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8509000" y="3454400"/>
              <a:ext cx="152400" cy="203200"/>
            </a:xfrm>
            <a:custGeom>
              <a:avLst/>
              <a:gdLst/>
              <a:ahLst/>
              <a:cxnLst/>
              <a:rect l="l" t="t" r="r" b="b"/>
              <a:pathLst>
                <a:path w="152400" h="203200">
                  <a:moveTo>
                    <a:pt x="21868" y="29131"/>
                  </a:moveTo>
                  <a:cubicBezTo>
                    <a:pt x="16907" y="24170"/>
                    <a:pt x="8850" y="24170"/>
                    <a:pt x="3889" y="29131"/>
                  </a:cubicBezTo>
                  <a:cubicBezTo>
                    <a:pt x="-1072" y="34092"/>
                    <a:pt x="-1072" y="42148"/>
                    <a:pt x="3889" y="47109"/>
                  </a:cubicBezTo>
                  <a:lnTo>
                    <a:pt x="58420" y="101600"/>
                  </a:lnTo>
                  <a:lnTo>
                    <a:pt x="3929" y="156131"/>
                  </a:lnTo>
                  <a:cubicBezTo>
                    <a:pt x="-1032" y="161092"/>
                    <a:pt x="-1032" y="169148"/>
                    <a:pt x="3929" y="174109"/>
                  </a:cubicBezTo>
                  <a:cubicBezTo>
                    <a:pt x="8890" y="179070"/>
                    <a:pt x="16947" y="179070"/>
                    <a:pt x="21908" y="174109"/>
                  </a:cubicBezTo>
                  <a:lnTo>
                    <a:pt x="76398" y="119578"/>
                  </a:lnTo>
                  <a:lnTo>
                    <a:pt x="130929" y="174069"/>
                  </a:lnTo>
                  <a:cubicBezTo>
                    <a:pt x="135890" y="179030"/>
                    <a:pt x="143947" y="179030"/>
                    <a:pt x="148908" y="174069"/>
                  </a:cubicBezTo>
                  <a:cubicBezTo>
                    <a:pt x="153868" y="169108"/>
                    <a:pt x="153868" y="161052"/>
                    <a:pt x="148908" y="156091"/>
                  </a:cubicBezTo>
                  <a:lnTo>
                    <a:pt x="94377" y="101600"/>
                  </a:lnTo>
                  <a:lnTo>
                    <a:pt x="148868" y="47069"/>
                  </a:lnTo>
                  <a:cubicBezTo>
                    <a:pt x="153829" y="42108"/>
                    <a:pt x="153829" y="34052"/>
                    <a:pt x="148868" y="29091"/>
                  </a:cubicBezTo>
                  <a:cubicBezTo>
                    <a:pt x="143907" y="24130"/>
                    <a:pt x="135850" y="24130"/>
                    <a:pt x="130889" y="29091"/>
                  </a:cubicBezTo>
                  <a:lnTo>
                    <a:pt x="76398" y="83622"/>
                  </a:lnTo>
                  <a:lnTo>
                    <a:pt x="21868" y="29131"/>
                  </a:lnTo>
                  <a:close/>
                </a:path>
              </a:pathLst>
            </a:custGeom>
            <a:solidFill>
              <a:srgbClr val="1A1D2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Text 24"/>
          <p:cNvSpPr/>
          <p:nvPr/>
        </p:nvSpPr>
        <p:spPr>
          <a:xfrm>
            <a:off x="9042400" y="3136900"/>
            <a:ext cx="580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内存消耗大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42400" y="3597729"/>
            <a:ext cx="579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需要存储所有训练数据，空间复杂度高，数据量大时存储成本高</a:t>
            </a:r>
            <a:endParaRPr lang="en-US" sz="160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65BB734D-D89C-350A-59D2-A3991A2B6B78}"/>
              </a:ext>
            </a:extLst>
          </p:cNvPr>
          <p:cNvGrpSpPr/>
          <p:nvPr/>
        </p:nvGrpSpPr>
        <p:grpSpPr>
          <a:xfrm>
            <a:off x="8331200" y="4241800"/>
            <a:ext cx="508000" cy="508000"/>
            <a:chOff x="8331200" y="4241800"/>
            <a:chExt cx="508000" cy="508000"/>
          </a:xfrm>
        </p:grpSpPr>
        <p:sp>
          <p:nvSpPr>
            <p:cNvPr id="28" name="Shape 26"/>
            <p:cNvSpPr/>
            <p:nvPr/>
          </p:nvSpPr>
          <p:spPr>
            <a:xfrm>
              <a:off x="8331200" y="4241800"/>
              <a:ext cx="508000" cy="508000"/>
            </a:xfrm>
            <a:custGeom>
              <a:avLst/>
              <a:gdLst/>
              <a:ahLst/>
              <a:cxnLst/>
              <a:rect l="l" t="t" r="r" b="b"/>
              <a:pathLst>
                <a:path w="508000" h="508000">
                  <a:moveTo>
                    <a:pt x="254000" y="0"/>
                  </a:moveTo>
                  <a:lnTo>
                    <a:pt x="254000" y="0"/>
                  </a:lnTo>
                  <a:cubicBezTo>
                    <a:pt x="394186" y="0"/>
                    <a:pt x="508000" y="113814"/>
                    <a:pt x="508000" y="254000"/>
                  </a:cubicBezTo>
                  <a:lnTo>
                    <a:pt x="508000" y="254000"/>
                  </a:lnTo>
                  <a:cubicBezTo>
                    <a:pt x="508000" y="394186"/>
                    <a:pt x="394186" y="508000"/>
                    <a:pt x="254000" y="508000"/>
                  </a:cubicBezTo>
                  <a:lnTo>
                    <a:pt x="254000" y="508000"/>
                  </a:lnTo>
                  <a:cubicBezTo>
                    <a:pt x="113814" y="508000"/>
                    <a:pt x="0" y="394186"/>
                    <a:pt x="0" y="254000"/>
                  </a:cubicBezTo>
                  <a:lnTo>
                    <a:pt x="0" y="254000"/>
                  </a:lnTo>
                  <a:cubicBezTo>
                    <a:pt x="0" y="113814"/>
                    <a:pt x="113814" y="0"/>
                    <a:pt x="254000" y="0"/>
                  </a:cubicBezTo>
                  <a:close/>
                </a:path>
              </a:pathLst>
            </a:custGeom>
            <a:solidFill>
              <a:srgbClr val="E5A165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Shape 27"/>
            <p:cNvSpPr/>
            <p:nvPr/>
          </p:nvSpPr>
          <p:spPr>
            <a:xfrm>
              <a:off x="8509000" y="4394200"/>
              <a:ext cx="152400" cy="203200"/>
            </a:xfrm>
            <a:custGeom>
              <a:avLst/>
              <a:gdLst/>
              <a:ahLst/>
              <a:cxnLst/>
              <a:rect l="l" t="t" r="r" b="b"/>
              <a:pathLst>
                <a:path w="152400" h="203200">
                  <a:moveTo>
                    <a:pt x="21868" y="29131"/>
                  </a:moveTo>
                  <a:cubicBezTo>
                    <a:pt x="16907" y="24170"/>
                    <a:pt x="8850" y="24170"/>
                    <a:pt x="3889" y="29131"/>
                  </a:cubicBezTo>
                  <a:cubicBezTo>
                    <a:pt x="-1072" y="34092"/>
                    <a:pt x="-1072" y="42148"/>
                    <a:pt x="3889" y="47109"/>
                  </a:cubicBezTo>
                  <a:lnTo>
                    <a:pt x="58420" y="101600"/>
                  </a:lnTo>
                  <a:lnTo>
                    <a:pt x="3929" y="156131"/>
                  </a:lnTo>
                  <a:cubicBezTo>
                    <a:pt x="-1032" y="161092"/>
                    <a:pt x="-1032" y="169148"/>
                    <a:pt x="3929" y="174109"/>
                  </a:cubicBezTo>
                  <a:cubicBezTo>
                    <a:pt x="8890" y="179070"/>
                    <a:pt x="16947" y="179070"/>
                    <a:pt x="21908" y="174109"/>
                  </a:cubicBezTo>
                  <a:lnTo>
                    <a:pt x="76398" y="119578"/>
                  </a:lnTo>
                  <a:lnTo>
                    <a:pt x="130929" y="174069"/>
                  </a:lnTo>
                  <a:cubicBezTo>
                    <a:pt x="135890" y="179030"/>
                    <a:pt x="143947" y="179030"/>
                    <a:pt x="148908" y="174069"/>
                  </a:cubicBezTo>
                  <a:cubicBezTo>
                    <a:pt x="153868" y="169108"/>
                    <a:pt x="153868" y="161052"/>
                    <a:pt x="148908" y="156091"/>
                  </a:cubicBezTo>
                  <a:lnTo>
                    <a:pt x="94377" y="101600"/>
                  </a:lnTo>
                  <a:lnTo>
                    <a:pt x="148868" y="47069"/>
                  </a:lnTo>
                  <a:cubicBezTo>
                    <a:pt x="153829" y="42108"/>
                    <a:pt x="153829" y="34052"/>
                    <a:pt x="148868" y="29091"/>
                  </a:cubicBezTo>
                  <a:cubicBezTo>
                    <a:pt x="143907" y="24130"/>
                    <a:pt x="135850" y="24130"/>
                    <a:pt x="130889" y="29091"/>
                  </a:cubicBezTo>
                  <a:lnTo>
                    <a:pt x="76398" y="83622"/>
                  </a:lnTo>
                  <a:lnTo>
                    <a:pt x="21868" y="29131"/>
                  </a:lnTo>
                  <a:close/>
                </a:path>
              </a:pathLst>
            </a:custGeom>
            <a:solidFill>
              <a:srgbClr val="1A1D2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Text 28"/>
          <p:cNvSpPr/>
          <p:nvPr/>
        </p:nvSpPr>
        <p:spPr>
          <a:xfrm>
            <a:off x="9042400" y="4241800"/>
            <a:ext cx="600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样本不平衡敏感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42400" y="4699000"/>
            <a:ext cx="599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当样本不平衡时，预测结果容易偏向大类样本，需要加权投票处理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7050" y="5283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89000" y="5232400"/>
            <a:ext cx="1501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优化策略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3400" y="5842000"/>
            <a:ext cx="4851400" cy="1676400"/>
          </a:xfrm>
          <a:custGeom>
            <a:avLst/>
            <a:gdLst/>
            <a:ahLst/>
            <a:cxnLst/>
            <a:rect l="l" t="t" r="r" b="b"/>
            <a:pathLst>
              <a:path w="4851400" h="1676400">
                <a:moveTo>
                  <a:pt x="50800" y="0"/>
                </a:moveTo>
                <a:lnTo>
                  <a:pt x="4749793" y="0"/>
                </a:lnTo>
                <a:cubicBezTo>
                  <a:pt x="4805909" y="0"/>
                  <a:pt x="4851400" y="45491"/>
                  <a:pt x="4851400" y="101607"/>
                </a:cubicBezTo>
                <a:lnTo>
                  <a:pt x="4851400" y="1574793"/>
                </a:lnTo>
                <a:cubicBezTo>
                  <a:pt x="4851400" y="1630909"/>
                  <a:pt x="4805909" y="1676400"/>
                  <a:pt x="4749793" y="1676400"/>
                </a:cubicBezTo>
                <a:lnTo>
                  <a:pt x="50800" y="1676400"/>
                </a:lnTo>
                <a:cubicBezTo>
                  <a:pt x="22763" y="1676400"/>
                  <a:pt x="0" y="1653637"/>
                  <a:pt x="0" y="162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533400" y="5842000"/>
            <a:ext cx="50800" cy="1676400"/>
          </a:xfrm>
          <a:custGeom>
            <a:avLst/>
            <a:gdLst/>
            <a:ahLst/>
            <a:cxnLst/>
            <a:rect l="l" t="t" r="r" b="b"/>
            <a:pathLst>
              <a:path w="50800" h="1676400">
                <a:moveTo>
                  <a:pt x="50800" y="0"/>
                </a:moveTo>
                <a:lnTo>
                  <a:pt x="50800" y="0"/>
                </a:lnTo>
                <a:lnTo>
                  <a:pt x="50800" y="1676400"/>
                </a:lnTo>
                <a:lnTo>
                  <a:pt x="50800" y="1676400"/>
                </a:lnTo>
                <a:cubicBezTo>
                  <a:pt x="22763" y="1676400"/>
                  <a:pt x="0" y="1653637"/>
                  <a:pt x="0" y="162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62000" y="6045200"/>
            <a:ext cx="454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800" dirty="0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 </a:t>
            </a:r>
            <a:r>
              <a:rPr lang="en-US" sz="2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维度灾难解决方案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2000" y="66040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PCA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降维：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保留90%方差，降低特征维度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" y="70104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特征选择：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用互信息法筛选高相关特征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15000" y="5842000"/>
            <a:ext cx="4851400" cy="1676400"/>
          </a:xfrm>
          <a:custGeom>
            <a:avLst/>
            <a:gdLst/>
            <a:ahLst/>
            <a:cxnLst/>
            <a:rect l="l" t="t" r="r" b="b"/>
            <a:pathLst>
              <a:path w="4851400" h="1676400">
                <a:moveTo>
                  <a:pt x="50800" y="0"/>
                </a:moveTo>
                <a:lnTo>
                  <a:pt x="4749793" y="0"/>
                </a:lnTo>
                <a:cubicBezTo>
                  <a:pt x="4805909" y="0"/>
                  <a:pt x="4851400" y="45491"/>
                  <a:pt x="4851400" y="101607"/>
                </a:cubicBezTo>
                <a:lnTo>
                  <a:pt x="4851400" y="1574793"/>
                </a:lnTo>
                <a:cubicBezTo>
                  <a:pt x="4851400" y="1630909"/>
                  <a:pt x="4805909" y="1676400"/>
                  <a:pt x="4749793" y="1676400"/>
                </a:cubicBezTo>
                <a:lnTo>
                  <a:pt x="50800" y="1676400"/>
                </a:lnTo>
                <a:cubicBezTo>
                  <a:pt x="22763" y="1676400"/>
                  <a:pt x="0" y="1653637"/>
                  <a:pt x="0" y="162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5715000" y="5842000"/>
            <a:ext cx="50800" cy="1676400"/>
          </a:xfrm>
          <a:custGeom>
            <a:avLst/>
            <a:gdLst/>
            <a:ahLst/>
            <a:cxnLst/>
            <a:rect l="l" t="t" r="r" b="b"/>
            <a:pathLst>
              <a:path w="50800" h="1676400">
                <a:moveTo>
                  <a:pt x="50800" y="0"/>
                </a:moveTo>
                <a:lnTo>
                  <a:pt x="50800" y="0"/>
                </a:lnTo>
                <a:lnTo>
                  <a:pt x="50800" y="1676400"/>
                </a:lnTo>
                <a:lnTo>
                  <a:pt x="50800" y="1676400"/>
                </a:lnTo>
                <a:cubicBezTo>
                  <a:pt x="22763" y="1676400"/>
                  <a:pt x="0" y="1653637"/>
                  <a:pt x="0" y="162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5943600" y="6045200"/>
            <a:ext cx="454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rgbClr val="1A1D21"/>
                </a:solidFill>
                <a:highlight>
                  <a:srgbClr val="E5A165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800" dirty="0">
                <a:solidFill>
                  <a:srgbClr val="1A1D21"/>
                </a:solidFill>
                <a:highlight>
                  <a:srgbClr val="E5A165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 </a:t>
            </a:r>
            <a:r>
              <a:rPr lang="en-US" sz="2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效率提升方案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43600" y="66040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KD-Tree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低维场景查询复杂度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O(log 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943600" y="70104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近似最近邻：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LSH哈希牺牲少量精度提升速度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896600" y="5842000"/>
            <a:ext cx="4851400" cy="1676400"/>
          </a:xfrm>
          <a:custGeom>
            <a:avLst/>
            <a:gdLst/>
            <a:ahLst/>
            <a:cxnLst/>
            <a:rect l="l" t="t" r="r" b="b"/>
            <a:pathLst>
              <a:path w="4851400" h="1676400">
                <a:moveTo>
                  <a:pt x="50800" y="0"/>
                </a:moveTo>
                <a:lnTo>
                  <a:pt x="4749793" y="0"/>
                </a:lnTo>
                <a:cubicBezTo>
                  <a:pt x="4805909" y="0"/>
                  <a:pt x="4851400" y="45491"/>
                  <a:pt x="4851400" y="101607"/>
                </a:cubicBezTo>
                <a:lnTo>
                  <a:pt x="4851400" y="1574793"/>
                </a:lnTo>
                <a:cubicBezTo>
                  <a:pt x="4851400" y="1630909"/>
                  <a:pt x="4805909" y="1676400"/>
                  <a:pt x="4749793" y="1676400"/>
                </a:cubicBezTo>
                <a:lnTo>
                  <a:pt x="50800" y="1676400"/>
                </a:lnTo>
                <a:cubicBezTo>
                  <a:pt x="22763" y="1676400"/>
                  <a:pt x="0" y="1653637"/>
                  <a:pt x="0" y="162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0896600" y="5842000"/>
            <a:ext cx="50800" cy="1676400"/>
          </a:xfrm>
          <a:custGeom>
            <a:avLst/>
            <a:gdLst/>
            <a:ahLst/>
            <a:cxnLst/>
            <a:rect l="l" t="t" r="r" b="b"/>
            <a:pathLst>
              <a:path w="50800" h="1676400">
                <a:moveTo>
                  <a:pt x="50800" y="0"/>
                </a:moveTo>
                <a:lnTo>
                  <a:pt x="50800" y="0"/>
                </a:lnTo>
                <a:lnTo>
                  <a:pt x="50800" y="1676400"/>
                </a:lnTo>
                <a:lnTo>
                  <a:pt x="50800" y="1676400"/>
                </a:lnTo>
                <a:cubicBezTo>
                  <a:pt x="22763" y="1676400"/>
                  <a:pt x="0" y="1653637"/>
                  <a:pt x="0" y="162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125200" y="6045200"/>
            <a:ext cx="454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800" dirty="0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800" dirty="0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 </a:t>
            </a:r>
            <a:r>
              <a:rPr lang="en-US" sz="2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样本不平衡处理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25200" y="66040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加权投票：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距离近的邻居更高权重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125200" y="70104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SMOTE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过采样：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合成少数类样本平衡数据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KNN：</a:t>
            </a:r>
            <a:r>
              <a:rPr lang="en-US" sz="3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鸢尾花分类实战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23333" y="973667"/>
            <a:ext cx="846667" cy="42333"/>
          </a:xfrm>
          <a:custGeom>
            <a:avLst/>
            <a:gdLst/>
            <a:ahLst/>
            <a:cxnLst/>
            <a:rect l="l" t="t" r="r" b="b"/>
            <a:pathLst>
              <a:path w="846667" h="42333">
                <a:moveTo>
                  <a:pt x="0" y="0"/>
                </a:moveTo>
                <a:lnTo>
                  <a:pt x="846667" y="0"/>
                </a:lnTo>
                <a:lnTo>
                  <a:pt x="846667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55083" y="1227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54000" y="15875"/>
                </a:moveTo>
                <a:cubicBezTo>
                  <a:pt x="254000" y="69503"/>
                  <a:pt x="215999" y="114250"/>
                  <a:pt x="165497" y="124718"/>
                </a:cubicBezTo>
                <a:cubicBezTo>
                  <a:pt x="161578" y="95895"/>
                  <a:pt x="148630" y="69949"/>
                  <a:pt x="129530" y="49857"/>
                </a:cubicBezTo>
                <a:cubicBezTo>
                  <a:pt x="149423" y="19844"/>
                  <a:pt x="183505" y="0"/>
                  <a:pt x="222250" y="0"/>
                </a:cubicBezTo>
                <a:lnTo>
                  <a:pt x="238125" y="0"/>
                </a:lnTo>
                <a:cubicBezTo>
                  <a:pt x="246906" y="0"/>
                  <a:pt x="254000" y="7094"/>
                  <a:pt x="254000" y="15875"/>
                </a:cubicBezTo>
                <a:close/>
                <a:moveTo>
                  <a:pt x="0" y="47625"/>
                </a:moveTo>
                <a:cubicBezTo>
                  <a:pt x="0" y="38844"/>
                  <a:pt x="7094" y="31750"/>
                  <a:pt x="15875" y="31750"/>
                </a:cubicBezTo>
                <a:lnTo>
                  <a:pt x="31750" y="31750"/>
                </a:lnTo>
                <a:cubicBezTo>
                  <a:pt x="93117" y="31750"/>
                  <a:pt x="142875" y="81508"/>
                  <a:pt x="142875" y="142875"/>
                </a:cubicBezTo>
                <a:lnTo>
                  <a:pt x="142875" y="238125"/>
                </a:lnTo>
                <a:cubicBezTo>
                  <a:pt x="142875" y="246906"/>
                  <a:pt x="135781" y="254000"/>
                  <a:pt x="127000" y="254000"/>
                </a:cubicBezTo>
                <a:cubicBezTo>
                  <a:pt x="118219" y="254000"/>
                  <a:pt x="111125" y="246906"/>
                  <a:pt x="111125" y="238125"/>
                </a:cubicBezTo>
                <a:lnTo>
                  <a:pt x="111125" y="158750"/>
                </a:lnTo>
                <a:cubicBezTo>
                  <a:pt x="49758" y="158750"/>
                  <a:pt x="0" y="108992"/>
                  <a:pt x="0" y="4762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0833" y="1185333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数据探索与预处理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3333" y="1651000"/>
            <a:ext cx="7620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鸢尾花数据集包含3个类别，每个类别50个样本：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8625" y="2058458"/>
            <a:ext cx="7524750" cy="3407833"/>
          </a:xfrm>
          <a:custGeom>
            <a:avLst/>
            <a:gdLst/>
            <a:ahLst/>
            <a:cxnLst/>
            <a:rect l="l" t="t" r="r" b="b"/>
            <a:pathLst>
              <a:path w="7524750" h="3407833">
                <a:moveTo>
                  <a:pt x="84651" y="0"/>
                </a:moveTo>
                <a:lnTo>
                  <a:pt x="7440099" y="0"/>
                </a:lnTo>
                <a:cubicBezTo>
                  <a:pt x="7486851" y="0"/>
                  <a:pt x="7524750" y="37899"/>
                  <a:pt x="7524750" y="84651"/>
                </a:cubicBezTo>
                <a:lnTo>
                  <a:pt x="7524750" y="3323183"/>
                </a:lnTo>
                <a:cubicBezTo>
                  <a:pt x="7524750" y="3369934"/>
                  <a:pt x="7486851" y="3407833"/>
                  <a:pt x="7440099" y="3407833"/>
                </a:cubicBezTo>
                <a:lnTo>
                  <a:pt x="84651" y="3407833"/>
                </a:lnTo>
                <a:cubicBezTo>
                  <a:pt x="37899" y="3407833"/>
                  <a:pt x="0" y="3369934"/>
                  <a:pt x="0" y="3323183"/>
                </a:cubicBezTo>
                <a:lnTo>
                  <a:pt x="0" y="84651"/>
                </a:lnTo>
                <a:cubicBezTo>
                  <a:pt x="0" y="37931"/>
                  <a:pt x="37931" y="0"/>
                  <a:pt x="84651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0917" y="21907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数据加载与可视化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0917" y="24130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iris = load_iris()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0917" y="26352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 = iris.data[:, :2] </a:t>
            </a:r>
            <a:r>
              <a:rPr lang="en-US" sz="12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前两个特征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0917" y="28575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 = iris.target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0917" y="31644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散点图矩阵观察特征关系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0917" y="33866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sns.pairplot(df, hue='species')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0917" y="3693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数据集划分（保持类别比例）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0917" y="3915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X_train, X_test, y_train, y_test = train_test_split(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0917" y="4138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X, y, test_size=0.3, stratify=y)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0917" y="44450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数据标准化（关键步骤！）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0917" y="46672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scaler = StandardScaler().fit(X_train)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0917" y="48895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X_train = scaler.transform(X_train)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0917" y="51117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X_test = scaler.transform(X_test)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5083" y="56832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40833" y="5640917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动态K值选择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3333" y="6106583"/>
            <a:ext cx="7620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遍历1-20的K值，选择准确率最高的：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8625" y="6514042"/>
            <a:ext cx="7524750" cy="2487083"/>
          </a:xfrm>
          <a:custGeom>
            <a:avLst/>
            <a:gdLst/>
            <a:ahLst/>
            <a:cxnLst/>
            <a:rect l="l" t="t" r="r" b="b"/>
            <a:pathLst>
              <a:path w="7524750" h="2487083">
                <a:moveTo>
                  <a:pt x="84660" y="0"/>
                </a:moveTo>
                <a:lnTo>
                  <a:pt x="7440090" y="0"/>
                </a:lnTo>
                <a:cubicBezTo>
                  <a:pt x="7486846" y="0"/>
                  <a:pt x="7524750" y="37904"/>
                  <a:pt x="7524750" y="84660"/>
                </a:cubicBezTo>
                <a:lnTo>
                  <a:pt x="7524750" y="2402423"/>
                </a:lnTo>
                <a:cubicBezTo>
                  <a:pt x="7524750" y="2449180"/>
                  <a:pt x="7486846" y="2487083"/>
                  <a:pt x="7440090" y="2487083"/>
                </a:cubicBezTo>
                <a:lnTo>
                  <a:pt x="84660" y="2487083"/>
                </a:lnTo>
                <a:cubicBezTo>
                  <a:pt x="37904" y="2487083"/>
                  <a:pt x="0" y="2449180"/>
                  <a:pt x="0" y="2402423"/>
                </a:cubicBezTo>
                <a:lnTo>
                  <a:pt x="0" y="84660"/>
                </a:lnTo>
                <a:cubicBezTo>
                  <a:pt x="0" y="37904"/>
                  <a:pt x="37904" y="0"/>
                  <a:pt x="8466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60917" y="6646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寻找最优K值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0917" y="6868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best_k, best_score = 0, 0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0917" y="7090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for k in range(1, 20):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0917" y="7313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 = KNeighborsClassifier(n_neighbors=k)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0917" y="7535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knn.fit(X_train, y_train)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0917" y="7757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score = knn.score(X_test, y_test)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0917" y="7979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if score &gt; best_score: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0917" y="8202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best_score = score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60917" y="8424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best_k = k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0917" y="8646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print(f"最优K值: {best_k}, 准确率: {best_score:.2%}")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329083" y="3785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119063" y="47625"/>
                </a:moveTo>
                <a:cubicBezTo>
                  <a:pt x="122386" y="47625"/>
                  <a:pt x="125561" y="49014"/>
                  <a:pt x="127843" y="51495"/>
                </a:cubicBezTo>
                <a:lnTo>
                  <a:pt x="163116" y="89942"/>
                </a:lnTo>
                <a:lnTo>
                  <a:pt x="186035" y="66973"/>
                </a:lnTo>
                <a:cubicBezTo>
                  <a:pt x="190698" y="62309"/>
                  <a:pt x="198239" y="62309"/>
                  <a:pt x="202853" y="66973"/>
                </a:cubicBezTo>
                <a:lnTo>
                  <a:pt x="234603" y="98723"/>
                </a:lnTo>
                <a:cubicBezTo>
                  <a:pt x="236835" y="100955"/>
                  <a:pt x="238075" y="103981"/>
                  <a:pt x="238075" y="107156"/>
                </a:cubicBezTo>
                <a:lnTo>
                  <a:pt x="238075" y="162719"/>
                </a:lnTo>
                <a:cubicBezTo>
                  <a:pt x="238075" y="169317"/>
                  <a:pt x="232767" y="174625"/>
                  <a:pt x="226169" y="174625"/>
                </a:cubicBezTo>
                <a:lnTo>
                  <a:pt x="75357" y="174625"/>
                </a:lnTo>
                <a:cubicBezTo>
                  <a:pt x="68759" y="174625"/>
                  <a:pt x="63450" y="169317"/>
                  <a:pt x="63450" y="162719"/>
                </a:cubicBezTo>
                <a:lnTo>
                  <a:pt x="63450" y="107156"/>
                </a:lnTo>
                <a:cubicBezTo>
                  <a:pt x="63450" y="104180"/>
                  <a:pt x="64591" y="101302"/>
                  <a:pt x="66576" y="99120"/>
                </a:cubicBezTo>
                <a:lnTo>
                  <a:pt x="110232" y="51495"/>
                </a:lnTo>
                <a:cubicBezTo>
                  <a:pt x="112464" y="49014"/>
                  <a:pt x="115689" y="47625"/>
                  <a:pt x="119013" y="4762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614833" y="336246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决策边界可视化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02625" y="759579"/>
            <a:ext cx="7524750" cy="4129921"/>
          </a:xfrm>
          <a:custGeom>
            <a:avLst/>
            <a:gdLst/>
            <a:ahLst/>
            <a:cxnLst/>
            <a:rect l="l" t="t" r="r" b="b"/>
            <a:pathLst>
              <a:path w="7524750" h="2698750">
                <a:moveTo>
                  <a:pt x="84660" y="0"/>
                </a:moveTo>
                <a:lnTo>
                  <a:pt x="7440090" y="0"/>
                </a:lnTo>
                <a:cubicBezTo>
                  <a:pt x="7486847" y="0"/>
                  <a:pt x="7524750" y="37903"/>
                  <a:pt x="7524750" y="84660"/>
                </a:cubicBezTo>
                <a:lnTo>
                  <a:pt x="7524750" y="2614090"/>
                </a:lnTo>
                <a:cubicBezTo>
                  <a:pt x="7524750" y="2660847"/>
                  <a:pt x="7486847" y="2698750"/>
                  <a:pt x="7440090" y="2698750"/>
                </a:cubicBezTo>
                <a:lnTo>
                  <a:pt x="84660" y="2698750"/>
                </a:lnTo>
                <a:cubicBezTo>
                  <a:pt x="37903" y="2698750"/>
                  <a:pt x="0" y="2660847"/>
                  <a:pt x="0" y="2614090"/>
                </a:cubicBezTo>
                <a:lnTo>
                  <a:pt x="0" y="84660"/>
                </a:lnTo>
                <a:cubicBezTo>
                  <a:pt x="0" y="37903"/>
                  <a:pt x="37903" y="0"/>
                  <a:pt x="8466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329083" y="509451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614833" y="5052185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评估指标解读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97333" y="5517851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以</a:t>
            </a:r>
            <a:r>
              <a:rPr lang="en-US" sz="133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K=3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为例，分类报告输出：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97333" y="5898851"/>
            <a:ext cx="7535333" cy="1322917"/>
          </a:xfrm>
          <a:custGeom>
            <a:avLst/>
            <a:gdLst/>
            <a:ahLst/>
            <a:cxnLst/>
            <a:rect l="l" t="t" r="r" b="b"/>
            <a:pathLst>
              <a:path w="7535333" h="1322917">
                <a:moveTo>
                  <a:pt x="84667" y="0"/>
                </a:moveTo>
                <a:lnTo>
                  <a:pt x="7450667" y="0"/>
                </a:lnTo>
                <a:cubicBezTo>
                  <a:pt x="7497427" y="0"/>
                  <a:pt x="7535333" y="37907"/>
                  <a:pt x="7535333" y="84667"/>
                </a:cubicBezTo>
                <a:lnTo>
                  <a:pt x="7535333" y="1238250"/>
                </a:lnTo>
                <a:cubicBezTo>
                  <a:pt x="7535333" y="1285010"/>
                  <a:pt x="7497427" y="1322917"/>
                  <a:pt x="7450667" y="1322917"/>
                </a:cubicBezTo>
                <a:lnTo>
                  <a:pt x="84667" y="1322917"/>
                </a:lnTo>
                <a:cubicBezTo>
                  <a:pt x="37907" y="1322917"/>
                  <a:pt x="0" y="1285010"/>
                  <a:pt x="0" y="1238250"/>
                </a:cubicBezTo>
                <a:lnTo>
                  <a:pt x="0" y="84667"/>
                </a:lnTo>
                <a:cubicBezTo>
                  <a:pt x="0" y="37907"/>
                  <a:pt x="37907" y="0"/>
                  <a:pt x="84667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353574"/>
              </p:ext>
            </p:extLst>
          </p:nvPr>
        </p:nvGraphicFramePr>
        <p:xfrm>
          <a:off x="8424333" y="6025851"/>
          <a:ext cx="7281334" cy="1097280"/>
        </p:xfrm>
        <a:graphic>
          <a:graphicData uri="http://schemas.openxmlformats.org/drawingml/2006/table">
            <a:tbl>
              <a:tblPr/>
              <a:tblGrid>
                <a:gridCol w="193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229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E5A165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类别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5A165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Precision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5A165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Recall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E5A165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F1-score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Setosa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1.00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1.00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1.00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5A64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Versicolor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1.00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0.92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0.96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229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Virginica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0.93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1.00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Calibri" panose="020F0502020204030204" pitchFamily="34" charset="0"/>
                          <a:ea typeface="微软雅黑" pitchFamily="34" charset="-122"/>
                          <a:cs typeface="Calibri" panose="020F0502020204030204" pitchFamily="34" charset="0"/>
                        </a:rPr>
                        <a:t>0.96</a:t>
                      </a:r>
                      <a:endParaRPr lang="en-US" sz="1200" dirty="0">
                        <a:latin typeface="Calibri" panose="020F0502020204030204" pitchFamily="34" charset="0"/>
                        <a:ea typeface="微软雅黑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Text 44"/>
          <p:cNvSpPr/>
          <p:nvPr/>
        </p:nvSpPr>
        <p:spPr>
          <a:xfrm>
            <a:off x="8297333" y="7348768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混淆矩阵：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行表示真实类别，列表示预测类别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297333" y="7687435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精确率：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预测为正类的样本中有多少是真正的正类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297333" y="8026101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召回率：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真正的正类样本中有多少被模型找出来了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318500" y="8449435"/>
            <a:ext cx="7514167" cy="508000"/>
          </a:xfrm>
          <a:custGeom>
            <a:avLst/>
            <a:gdLst/>
            <a:ahLst/>
            <a:cxnLst/>
            <a:rect l="l" t="t" r="r" b="b"/>
            <a:pathLst>
              <a:path w="7514167" h="508000">
                <a:moveTo>
                  <a:pt x="42333" y="0"/>
                </a:moveTo>
                <a:lnTo>
                  <a:pt x="7429498" y="0"/>
                </a:lnTo>
                <a:cubicBezTo>
                  <a:pt x="7476259" y="0"/>
                  <a:pt x="7514167" y="37907"/>
                  <a:pt x="7514167" y="84668"/>
                </a:cubicBezTo>
                <a:lnTo>
                  <a:pt x="7514167" y="423332"/>
                </a:lnTo>
                <a:cubicBezTo>
                  <a:pt x="7514167" y="470093"/>
                  <a:pt x="7476259" y="508000"/>
                  <a:pt x="7429498" y="508000"/>
                </a:cubicBezTo>
                <a:lnTo>
                  <a:pt x="42333" y="508000"/>
                </a:lnTo>
                <a:cubicBezTo>
                  <a:pt x="18953" y="508000"/>
                  <a:pt x="0" y="489047"/>
                  <a:pt x="0" y="465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8"/>
          <p:cNvSpPr/>
          <p:nvPr/>
        </p:nvSpPr>
        <p:spPr>
          <a:xfrm>
            <a:off x="8318500" y="8449435"/>
            <a:ext cx="42333" cy="508000"/>
          </a:xfrm>
          <a:custGeom>
            <a:avLst/>
            <a:gdLst/>
            <a:ahLst/>
            <a:cxnLst/>
            <a:rect l="l" t="t" r="r" b="b"/>
            <a:pathLst>
              <a:path w="42333" h="508000">
                <a:moveTo>
                  <a:pt x="42333" y="0"/>
                </a:moveTo>
                <a:lnTo>
                  <a:pt x="42333" y="0"/>
                </a:lnTo>
                <a:lnTo>
                  <a:pt x="42333" y="508000"/>
                </a:lnTo>
                <a:lnTo>
                  <a:pt x="42333" y="508000"/>
                </a:lnTo>
                <a:cubicBezTo>
                  <a:pt x="18953" y="508000"/>
                  <a:pt x="0" y="489047"/>
                  <a:pt x="0" y="465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49"/>
          <p:cNvSpPr/>
          <p:nvPr/>
        </p:nvSpPr>
        <p:spPr>
          <a:xfrm>
            <a:off x="8509000" y="8618768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0"/>
          <p:cNvSpPr/>
          <p:nvPr/>
        </p:nvSpPr>
        <p:spPr>
          <a:xfrm>
            <a:off x="8805333" y="8576435"/>
            <a:ext cx="6201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关键要点：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数据标准化对</a:t>
            </a:r>
            <a:r>
              <a:rPr lang="en-US" sz="133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至关重要，否则距离计算会被数值范围大的特征主导</a:t>
            </a:r>
            <a:endParaRPr lang="en-US" sz="1600" dirty="0"/>
          </a:p>
        </p:txBody>
      </p:sp>
      <p:pic>
        <p:nvPicPr>
          <p:cNvPr id="55" name="图片 54" descr="图表, 散点图&#10;&#10;AI 生成的内容可能不正确。">
            <a:extLst>
              <a:ext uri="{FF2B5EF4-FFF2-40B4-BE49-F238E27FC236}">
                <a16:creationId xmlns:a16="http://schemas.microsoft.com/office/drawing/2014/main" id="{A8C2A2C0-D266-D5ED-F155-B439681D7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5515" y="770665"/>
            <a:ext cx="4858971" cy="410774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556" y="451556"/>
            <a:ext cx="15556089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KNN：核心代码与极端情况思考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1556" y="1038578"/>
            <a:ext cx="903111" cy="45156"/>
          </a:xfrm>
          <a:custGeom>
            <a:avLst/>
            <a:gdLst/>
            <a:ahLst/>
            <a:cxnLst/>
            <a:rect l="l" t="t" r="r" b="b"/>
            <a:pathLst>
              <a:path w="903111" h="45156">
                <a:moveTo>
                  <a:pt x="0" y="0"/>
                </a:moveTo>
                <a:lnTo>
                  <a:pt x="903111" y="0"/>
                </a:lnTo>
                <a:lnTo>
                  <a:pt x="903111" y="45156"/>
                </a:lnTo>
                <a:lnTo>
                  <a:pt x="0" y="45156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68489" y="1309511"/>
            <a:ext cx="304800" cy="270933"/>
          </a:xfrm>
          <a:custGeom>
            <a:avLst/>
            <a:gdLst/>
            <a:ahLst/>
            <a:cxnLst/>
            <a:rect l="l" t="t" r="r" b="b"/>
            <a:pathLst>
              <a:path w="304800" h="270933">
                <a:moveTo>
                  <a:pt x="190923" y="635"/>
                </a:moveTo>
                <a:cubicBezTo>
                  <a:pt x="181928" y="-1958"/>
                  <a:pt x="172561" y="3281"/>
                  <a:pt x="169968" y="12277"/>
                </a:cubicBezTo>
                <a:lnTo>
                  <a:pt x="102235" y="249343"/>
                </a:lnTo>
                <a:cubicBezTo>
                  <a:pt x="99642" y="258339"/>
                  <a:pt x="104881" y="267705"/>
                  <a:pt x="113877" y="270298"/>
                </a:cubicBezTo>
                <a:cubicBezTo>
                  <a:pt x="122872" y="272891"/>
                  <a:pt x="132239" y="267653"/>
                  <a:pt x="134832" y="258657"/>
                </a:cubicBezTo>
                <a:lnTo>
                  <a:pt x="202565" y="21590"/>
                </a:lnTo>
                <a:cubicBezTo>
                  <a:pt x="205158" y="12594"/>
                  <a:pt x="199919" y="3228"/>
                  <a:pt x="190923" y="635"/>
                </a:cubicBezTo>
                <a:close/>
                <a:moveTo>
                  <a:pt x="225108" y="72655"/>
                </a:moveTo>
                <a:cubicBezTo>
                  <a:pt x="218493" y="79269"/>
                  <a:pt x="218493" y="90011"/>
                  <a:pt x="225108" y="96626"/>
                </a:cubicBezTo>
                <a:lnTo>
                  <a:pt x="263948" y="135467"/>
                </a:lnTo>
                <a:lnTo>
                  <a:pt x="225108" y="174307"/>
                </a:lnTo>
                <a:cubicBezTo>
                  <a:pt x="218493" y="180922"/>
                  <a:pt x="218493" y="191664"/>
                  <a:pt x="225108" y="198279"/>
                </a:cubicBezTo>
                <a:cubicBezTo>
                  <a:pt x="231722" y="204893"/>
                  <a:pt x="242464" y="204893"/>
                  <a:pt x="249079" y="198279"/>
                </a:cubicBezTo>
                <a:lnTo>
                  <a:pt x="299879" y="147479"/>
                </a:lnTo>
                <a:cubicBezTo>
                  <a:pt x="306493" y="140864"/>
                  <a:pt x="306493" y="130122"/>
                  <a:pt x="299879" y="123507"/>
                </a:cubicBezTo>
                <a:lnTo>
                  <a:pt x="249079" y="72707"/>
                </a:lnTo>
                <a:cubicBezTo>
                  <a:pt x="242464" y="66093"/>
                  <a:pt x="231722" y="66093"/>
                  <a:pt x="225108" y="72707"/>
                </a:cubicBezTo>
                <a:close/>
                <a:moveTo>
                  <a:pt x="79745" y="72655"/>
                </a:moveTo>
                <a:cubicBezTo>
                  <a:pt x="73131" y="66040"/>
                  <a:pt x="62389" y="66040"/>
                  <a:pt x="55774" y="72655"/>
                </a:cubicBezTo>
                <a:lnTo>
                  <a:pt x="4974" y="123455"/>
                </a:lnTo>
                <a:cubicBezTo>
                  <a:pt x="-1640" y="130069"/>
                  <a:pt x="-1640" y="140811"/>
                  <a:pt x="4974" y="147426"/>
                </a:cubicBezTo>
                <a:lnTo>
                  <a:pt x="55774" y="198226"/>
                </a:lnTo>
                <a:cubicBezTo>
                  <a:pt x="62389" y="204840"/>
                  <a:pt x="73131" y="204840"/>
                  <a:pt x="79745" y="198226"/>
                </a:cubicBezTo>
                <a:cubicBezTo>
                  <a:pt x="86360" y="191611"/>
                  <a:pt x="86360" y="180869"/>
                  <a:pt x="79745" y="174255"/>
                </a:cubicBezTo>
                <a:lnTo>
                  <a:pt x="40905" y="135467"/>
                </a:lnTo>
                <a:lnTo>
                  <a:pt x="79693" y="96626"/>
                </a:lnTo>
                <a:cubicBezTo>
                  <a:pt x="86307" y="90011"/>
                  <a:pt x="86307" y="79269"/>
                  <a:pt x="79693" y="7265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90222" y="1264356"/>
            <a:ext cx="7292622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3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关键代码片段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11867"/>
            <a:ext cx="7484533" cy="4967111"/>
          </a:xfrm>
          <a:custGeom>
            <a:avLst/>
            <a:gdLst/>
            <a:ahLst/>
            <a:cxnLst/>
            <a:rect l="l" t="t" r="r" b="b"/>
            <a:pathLst>
              <a:path w="7484533" h="4967111">
                <a:moveTo>
                  <a:pt x="90302" y="0"/>
                </a:moveTo>
                <a:lnTo>
                  <a:pt x="7394231" y="0"/>
                </a:lnTo>
                <a:cubicBezTo>
                  <a:pt x="7444104" y="0"/>
                  <a:pt x="7484533" y="40430"/>
                  <a:pt x="7484533" y="90302"/>
                </a:cubicBezTo>
                <a:lnTo>
                  <a:pt x="7484533" y="4876809"/>
                </a:lnTo>
                <a:cubicBezTo>
                  <a:pt x="7484533" y="4926681"/>
                  <a:pt x="7444104" y="4967111"/>
                  <a:pt x="7394231" y="4967111"/>
                </a:cubicBezTo>
                <a:lnTo>
                  <a:pt x="90302" y="4967111"/>
                </a:lnTo>
                <a:cubicBezTo>
                  <a:pt x="40430" y="4967111"/>
                  <a:pt x="0" y="4926681"/>
                  <a:pt x="0" y="4876809"/>
                </a:cubicBezTo>
                <a:lnTo>
                  <a:pt x="0" y="90302"/>
                </a:lnTo>
                <a:cubicBezTo>
                  <a:pt x="0" y="40463"/>
                  <a:pt x="40463" y="0"/>
                  <a:pt x="9030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8311" y="1952978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KNeighborsClassifier使用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8311" y="2190044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sklearn.neighbors import KNeighborsClassifier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8311" y="2427111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 = KNeighborsClassifier(n_neighbors=5, </a:t>
            </a:r>
            <a:r>
              <a:rPr lang="en-US" sz="1244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K值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8311" y="2664178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metric='minkowski', </a:t>
            </a:r>
            <a:r>
              <a:rPr lang="en-US" sz="1244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距离度量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8311" y="2901244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p=2) </a:t>
            </a:r>
            <a:r>
              <a:rPr lang="en-US" sz="1244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p=2为欧氏距离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8311" y="3138311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knn.fit(X_train, 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8311" y="3375378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y_pred = knn.predict(X_test)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98311" y="3702756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不同距离度量尝试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8311" y="3939822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knn_manhattan = KNeighborsClassifier(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8311" y="4176889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n_neighbors=5, p=1) </a:t>
            </a:r>
            <a:r>
              <a:rPr lang="en-US" sz="1244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曼哈顿距离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8311" y="4413956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knn_cosine = KNeighborsClassifier(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8311" y="4651022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n_neighbors=5, metric='cosine')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8311" y="4978400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参数调优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8311" y="5215467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param_grid = {'n_neighbors': range(1, 21),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8311" y="5452533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'weights': ['uniform', 'distance']}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8311" y="5689600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grid = GridSearchCV(KNeighborsClassifier(),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8311" y="5926667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param_grid, cv=5)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8311" y="6163733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grid.fit(X_train, 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8311" y="6400800"/>
            <a:ext cx="7281333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4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print(f"最佳K值: {grid.best_params_}")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342489" y="1309511"/>
            <a:ext cx="270933" cy="270933"/>
          </a:xfrm>
          <a:custGeom>
            <a:avLst/>
            <a:gdLst/>
            <a:ahLst/>
            <a:cxnLst/>
            <a:rect l="l" t="t" r="r" b="b"/>
            <a:pathLst>
              <a:path w="270933" h="270933">
                <a:moveTo>
                  <a:pt x="63500" y="29633"/>
                </a:moveTo>
                <a:cubicBezTo>
                  <a:pt x="63500" y="13282"/>
                  <a:pt x="76782" y="0"/>
                  <a:pt x="93133" y="0"/>
                </a:cubicBezTo>
                <a:lnTo>
                  <a:pt x="105833" y="0"/>
                </a:lnTo>
                <a:cubicBezTo>
                  <a:pt x="115200" y="0"/>
                  <a:pt x="122767" y="7567"/>
                  <a:pt x="122767" y="16933"/>
                </a:cubicBezTo>
                <a:lnTo>
                  <a:pt x="122767" y="254000"/>
                </a:lnTo>
                <a:cubicBezTo>
                  <a:pt x="122767" y="263366"/>
                  <a:pt x="115200" y="270933"/>
                  <a:pt x="105833" y="270933"/>
                </a:cubicBezTo>
                <a:lnTo>
                  <a:pt x="88900" y="270933"/>
                </a:lnTo>
                <a:cubicBezTo>
                  <a:pt x="73131" y="270933"/>
                  <a:pt x="59849" y="260138"/>
                  <a:pt x="56092" y="245533"/>
                </a:cubicBezTo>
                <a:cubicBezTo>
                  <a:pt x="55721" y="245533"/>
                  <a:pt x="55404" y="245533"/>
                  <a:pt x="55033" y="245533"/>
                </a:cubicBezTo>
                <a:cubicBezTo>
                  <a:pt x="31644" y="245533"/>
                  <a:pt x="12700" y="226589"/>
                  <a:pt x="12700" y="203200"/>
                </a:cubicBezTo>
                <a:cubicBezTo>
                  <a:pt x="12700" y="193675"/>
                  <a:pt x="15875" y="184891"/>
                  <a:pt x="21167" y="177800"/>
                </a:cubicBezTo>
                <a:cubicBezTo>
                  <a:pt x="10901" y="170074"/>
                  <a:pt x="4233" y="157798"/>
                  <a:pt x="4233" y="143933"/>
                </a:cubicBezTo>
                <a:cubicBezTo>
                  <a:pt x="4233" y="127582"/>
                  <a:pt x="13547" y="113347"/>
                  <a:pt x="27093" y="106310"/>
                </a:cubicBezTo>
                <a:cubicBezTo>
                  <a:pt x="23336" y="99960"/>
                  <a:pt x="21167" y="92551"/>
                  <a:pt x="21167" y="84667"/>
                </a:cubicBezTo>
                <a:cubicBezTo>
                  <a:pt x="21167" y="61278"/>
                  <a:pt x="40111" y="42333"/>
                  <a:pt x="63500" y="42333"/>
                </a:cubicBezTo>
                <a:lnTo>
                  <a:pt x="63500" y="29633"/>
                </a:lnTo>
                <a:close/>
                <a:moveTo>
                  <a:pt x="207433" y="29633"/>
                </a:moveTo>
                <a:lnTo>
                  <a:pt x="207433" y="42333"/>
                </a:lnTo>
                <a:cubicBezTo>
                  <a:pt x="230823" y="42333"/>
                  <a:pt x="249767" y="61278"/>
                  <a:pt x="249767" y="84667"/>
                </a:cubicBezTo>
                <a:cubicBezTo>
                  <a:pt x="249767" y="92604"/>
                  <a:pt x="247597" y="100013"/>
                  <a:pt x="243840" y="106310"/>
                </a:cubicBezTo>
                <a:cubicBezTo>
                  <a:pt x="257440" y="113348"/>
                  <a:pt x="266700" y="127529"/>
                  <a:pt x="266700" y="143933"/>
                </a:cubicBezTo>
                <a:cubicBezTo>
                  <a:pt x="266700" y="157798"/>
                  <a:pt x="260032" y="170074"/>
                  <a:pt x="249767" y="177800"/>
                </a:cubicBezTo>
                <a:cubicBezTo>
                  <a:pt x="255058" y="184891"/>
                  <a:pt x="258233" y="193675"/>
                  <a:pt x="258233" y="203200"/>
                </a:cubicBezTo>
                <a:cubicBezTo>
                  <a:pt x="258233" y="226589"/>
                  <a:pt x="239289" y="245533"/>
                  <a:pt x="215900" y="245533"/>
                </a:cubicBezTo>
                <a:cubicBezTo>
                  <a:pt x="215530" y="245533"/>
                  <a:pt x="215212" y="245533"/>
                  <a:pt x="214842" y="245533"/>
                </a:cubicBezTo>
                <a:cubicBezTo>
                  <a:pt x="211085" y="260138"/>
                  <a:pt x="197802" y="270933"/>
                  <a:pt x="182033" y="270933"/>
                </a:cubicBezTo>
                <a:lnTo>
                  <a:pt x="165100" y="270933"/>
                </a:lnTo>
                <a:cubicBezTo>
                  <a:pt x="155734" y="270933"/>
                  <a:pt x="148167" y="263366"/>
                  <a:pt x="148167" y="254000"/>
                </a:cubicBezTo>
                <a:lnTo>
                  <a:pt x="148167" y="16933"/>
                </a:lnTo>
                <a:cubicBezTo>
                  <a:pt x="148167" y="7567"/>
                  <a:pt x="155734" y="0"/>
                  <a:pt x="165100" y="0"/>
                </a:cubicBezTo>
                <a:lnTo>
                  <a:pt x="177800" y="0"/>
                </a:lnTo>
                <a:cubicBezTo>
                  <a:pt x="194151" y="0"/>
                  <a:pt x="207433" y="13282"/>
                  <a:pt x="207433" y="29633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647289" y="1264356"/>
            <a:ext cx="7292622" cy="361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深度思考问题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31200" y="1806222"/>
            <a:ext cx="7473244" cy="1941689"/>
          </a:xfrm>
          <a:custGeom>
            <a:avLst/>
            <a:gdLst/>
            <a:ahLst/>
            <a:cxnLst/>
            <a:rect l="l" t="t" r="r" b="b"/>
            <a:pathLst>
              <a:path w="7473244" h="1941689">
                <a:moveTo>
                  <a:pt x="45156" y="0"/>
                </a:moveTo>
                <a:lnTo>
                  <a:pt x="7382936" y="0"/>
                </a:lnTo>
                <a:cubicBezTo>
                  <a:pt x="7432812" y="0"/>
                  <a:pt x="7473244" y="40432"/>
                  <a:pt x="7473244" y="90308"/>
                </a:cubicBezTo>
                <a:lnTo>
                  <a:pt x="7473244" y="1851381"/>
                </a:lnTo>
                <a:cubicBezTo>
                  <a:pt x="7473244" y="1901257"/>
                  <a:pt x="7432812" y="1941689"/>
                  <a:pt x="7382936" y="1941689"/>
                </a:cubicBezTo>
                <a:lnTo>
                  <a:pt x="45156" y="1941689"/>
                </a:lnTo>
                <a:cubicBezTo>
                  <a:pt x="20217" y="1941689"/>
                  <a:pt x="0" y="1921472"/>
                  <a:pt x="0" y="1896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31200" y="1806222"/>
            <a:ext cx="45156" cy="1941689"/>
          </a:xfrm>
          <a:custGeom>
            <a:avLst/>
            <a:gdLst/>
            <a:ahLst/>
            <a:cxnLst/>
            <a:rect l="l" t="t" r="r" b="b"/>
            <a:pathLst>
              <a:path w="45156" h="1941689">
                <a:moveTo>
                  <a:pt x="45156" y="0"/>
                </a:moveTo>
                <a:lnTo>
                  <a:pt x="45156" y="0"/>
                </a:lnTo>
                <a:lnTo>
                  <a:pt x="45156" y="1941689"/>
                </a:lnTo>
                <a:lnTo>
                  <a:pt x="45156" y="1941689"/>
                </a:lnTo>
                <a:cubicBezTo>
                  <a:pt x="20217" y="1941689"/>
                  <a:pt x="0" y="1921472"/>
                  <a:pt x="0" y="1896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34400" y="1986844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225778" y="0"/>
                </a:moveTo>
                <a:lnTo>
                  <a:pt x="225778" y="0"/>
                </a:lnTo>
                <a:cubicBezTo>
                  <a:pt x="350388" y="0"/>
                  <a:pt x="451556" y="101168"/>
                  <a:pt x="451556" y="225778"/>
                </a:cubicBezTo>
                <a:lnTo>
                  <a:pt x="451556" y="225778"/>
                </a:lnTo>
                <a:cubicBezTo>
                  <a:pt x="451556" y="350388"/>
                  <a:pt x="350388" y="451556"/>
                  <a:pt x="225778" y="451556"/>
                </a:cubicBezTo>
                <a:lnTo>
                  <a:pt x="225778" y="451556"/>
                </a:lnTo>
                <a:cubicBezTo>
                  <a:pt x="101168" y="451556"/>
                  <a:pt x="0" y="350388"/>
                  <a:pt x="0" y="225778"/>
                </a:cubicBezTo>
                <a:lnTo>
                  <a:pt x="0" y="225778"/>
                </a:lnTo>
                <a:cubicBezTo>
                  <a:pt x="0" y="101168"/>
                  <a:pt x="101168" y="0"/>
                  <a:pt x="22577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720226" y="2054578"/>
            <a:ext cx="180622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66578" y="1986844"/>
            <a:ext cx="6558844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K值的极端情况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66578" y="2393244"/>
            <a:ext cx="6547556" cy="541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2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K=1：</a:t>
            </a:r>
            <a:r>
              <a:rPr lang="en-US" sz="1422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只依赖最近的一个邻居，决策边界非常曲折，对噪声点敏感，训练集表现好但泛化能力差，</a:t>
            </a:r>
            <a:r>
              <a:rPr lang="en-US" sz="142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典型的过拟合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66578" y="3025422"/>
            <a:ext cx="6547556" cy="541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2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K=N：</a:t>
            </a:r>
            <a:r>
              <a:rPr lang="en-US" sz="1422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对全体样本做多数表决，输出训练集中样本数最多的类别，模型几乎失去区分能力，</a:t>
            </a:r>
            <a:r>
              <a:rPr lang="en-US" sz="1422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典型的欠拟合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31200" y="3883378"/>
            <a:ext cx="7473244" cy="1670756"/>
          </a:xfrm>
          <a:custGeom>
            <a:avLst/>
            <a:gdLst/>
            <a:ahLst/>
            <a:cxnLst/>
            <a:rect l="l" t="t" r="r" b="b"/>
            <a:pathLst>
              <a:path w="7473244" h="1670756">
                <a:moveTo>
                  <a:pt x="45156" y="0"/>
                </a:moveTo>
                <a:lnTo>
                  <a:pt x="7382940" y="0"/>
                </a:lnTo>
                <a:cubicBezTo>
                  <a:pt x="7432814" y="0"/>
                  <a:pt x="7473244" y="40431"/>
                  <a:pt x="7473244" y="90304"/>
                </a:cubicBezTo>
                <a:lnTo>
                  <a:pt x="7473244" y="1580451"/>
                </a:lnTo>
                <a:cubicBezTo>
                  <a:pt x="7473244" y="1630325"/>
                  <a:pt x="7432814" y="1670756"/>
                  <a:pt x="7382940" y="1670756"/>
                </a:cubicBezTo>
                <a:lnTo>
                  <a:pt x="45156" y="1670756"/>
                </a:lnTo>
                <a:cubicBezTo>
                  <a:pt x="20217" y="1670756"/>
                  <a:pt x="0" y="1650539"/>
                  <a:pt x="0" y="1625600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331200" y="3883378"/>
            <a:ext cx="45156" cy="1670756"/>
          </a:xfrm>
          <a:custGeom>
            <a:avLst/>
            <a:gdLst/>
            <a:ahLst/>
            <a:cxnLst/>
            <a:rect l="l" t="t" r="r" b="b"/>
            <a:pathLst>
              <a:path w="45156" h="1670756">
                <a:moveTo>
                  <a:pt x="45156" y="0"/>
                </a:moveTo>
                <a:lnTo>
                  <a:pt x="45156" y="0"/>
                </a:lnTo>
                <a:lnTo>
                  <a:pt x="45156" y="1670756"/>
                </a:lnTo>
                <a:lnTo>
                  <a:pt x="45156" y="1670756"/>
                </a:lnTo>
                <a:cubicBezTo>
                  <a:pt x="20217" y="1670756"/>
                  <a:pt x="0" y="1650539"/>
                  <a:pt x="0" y="1625600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534400" y="4064000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225778" y="0"/>
                </a:moveTo>
                <a:lnTo>
                  <a:pt x="225778" y="0"/>
                </a:lnTo>
                <a:cubicBezTo>
                  <a:pt x="350388" y="0"/>
                  <a:pt x="451556" y="101168"/>
                  <a:pt x="451556" y="225778"/>
                </a:cubicBezTo>
                <a:lnTo>
                  <a:pt x="451556" y="225778"/>
                </a:lnTo>
                <a:cubicBezTo>
                  <a:pt x="451556" y="350388"/>
                  <a:pt x="350388" y="451556"/>
                  <a:pt x="225778" y="451556"/>
                </a:cubicBezTo>
                <a:lnTo>
                  <a:pt x="225778" y="451556"/>
                </a:lnTo>
                <a:cubicBezTo>
                  <a:pt x="101168" y="451556"/>
                  <a:pt x="0" y="350388"/>
                  <a:pt x="0" y="225778"/>
                </a:cubicBezTo>
                <a:lnTo>
                  <a:pt x="0" y="225778"/>
                </a:lnTo>
                <a:cubicBezTo>
                  <a:pt x="0" y="101168"/>
                  <a:pt x="101168" y="0"/>
                  <a:pt x="225778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03028" y="4131733"/>
            <a:ext cx="214489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66578" y="4064000"/>
            <a:ext cx="6558844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特征量纲的影响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66578" y="4470400"/>
            <a:ext cx="6547556" cy="58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2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去掉</a:t>
            </a:r>
            <a:r>
              <a:rPr lang="en-US" sz="1422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StandardScaler</a:t>
            </a:r>
            <a:r>
              <a:rPr lang="en-US" sz="1422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后，距离计算会被数值范围大的特征主导，导致"相似度"度量失真。标准化让不同量纲的特征在距离计算中贡献更均衡。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66578" y="5147733"/>
            <a:ext cx="65362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实验设计：对比有无标准化的准确率和决策边界变化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31200" y="5689600"/>
            <a:ext cx="7473244" cy="1670756"/>
          </a:xfrm>
          <a:custGeom>
            <a:avLst/>
            <a:gdLst/>
            <a:ahLst/>
            <a:cxnLst/>
            <a:rect l="l" t="t" r="r" b="b"/>
            <a:pathLst>
              <a:path w="7473244" h="1670756">
                <a:moveTo>
                  <a:pt x="45156" y="0"/>
                </a:moveTo>
                <a:lnTo>
                  <a:pt x="7382940" y="0"/>
                </a:lnTo>
                <a:cubicBezTo>
                  <a:pt x="7432814" y="0"/>
                  <a:pt x="7473244" y="40431"/>
                  <a:pt x="7473244" y="90304"/>
                </a:cubicBezTo>
                <a:lnTo>
                  <a:pt x="7473244" y="1580451"/>
                </a:lnTo>
                <a:cubicBezTo>
                  <a:pt x="7473244" y="1630325"/>
                  <a:pt x="7432814" y="1670756"/>
                  <a:pt x="7382940" y="1670756"/>
                </a:cubicBezTo>
                <a:lnTo>
                  <a:pt x="45156" y="1670756"/>
                </a:lnTo>
                <a:cubicBezTo>
                  <a:pt x="20217" y="1670756"/>
                  <a:pt x="0" y="1650539"/>
                  <a:pt x="0" y="1625600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331200" y="5689600"/>
            <a:ext cx="45156" cy="1670756"/>
          </a:xfrm>
          <a:custGeom>
            <a:avLst/>
            <a:gdLst/>
            <a:ahLst/>
            <a:cxnLst/>
            <a:rect l="l" t="t" r="r" b="b"/>
            <a:pathLst>
              <a:path w="45156" h="1670756">
                <a:moveTo>
                  <a:pt x="45156" y="0"/>
                </a:moveTo>
                <a:lnTo>
                  <a:pt x="45156" y="0"/>
                </a:lnTo>
                <a:lnTo>
                  <a:pt x="45156" y="1670756"/>
                </a:lnTo>
                <a:lnTo>
                  <a:pt x="45156" y="1670756"/>
                </a:lnTo>
                <a:cubicBezTo>
                  <a:pt x="20217" y="1670756"/>
                  <a:pt x="0" y="1650539"/>
                  <a:pt x="0" y="1625600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534400" y="5870222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225778" y="0"/>
                </a:moveTo>
                <a:lnTo>
                  <a:pt x="225778" y="0"/>
                </a:lnTo>
                <a:cubicBezTo>
                  <a:pt x="350388" y="0"/>
                  <a:pt x="451556" y="101168"/>
                  <a:pt x="451556" y="225778"/>
                </a:cubicBezTo>
                <a:lnTo>
                  <a:pt x="451556" y="225778"/>
                </a:lnTo>
                <a:cubicBezTo>
                  <a:pt x="451556" y="350388"/>
                  <a:pt x="350388" y="451556"/>
                  <a:pt x="225778" y="451556"/>
                </a:cubicBezTo>
                <a:lnTo>
                  <a:pt x="225778" y="451556"/>
                </a:lnTo>
                <a:cubicBezTo>
                  <a:pt x="101168" y="451556"/>
                  <a:pt x="0" y="350388"/>
                  <a:pt x="0" y="225778"/>
                </a:cubicBezTo>
                <a:lnTo>
                  <a:pt x="0" y="225778"/>
                </a:lnTo>
                <a:cubicBezTo>
                  <a:pt x="0" y="101168"/>
                  <a:pt x="101168" y="0"/>
                  <a:pt x="22577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700382" y="5937956"/>
            <a:ext cx="225778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66578" y="5870222"/>
            <a:ext cx="6558844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不同距离度量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66578" y="6276622"/>
            <a:ext cx="6547556" cy="587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2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欧氏距离</a:t>
            </a:r>
            <a:r>
              <a:rPr lang="en-US" sz="1422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(p=2)</a:t>
            </a:r>
            <a:r>
              <a:rPr lang="en-US" sz="1422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对单个维度大偏差更敏感；曼哈顿距离</a:t>
            </a:r>
            <a:r>
              <a:rPr lang="en-US" sz="1422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(p=1)</a:t>
            </a:r>
            <a:r>
              <a:rPr lang="en-US" sz="1422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对各维度差异线性累加。在特征分布或异常值结构不同时，两者的近邻集合可能不同。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66578" y="6953956"/>
            <a:ext cx="65362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实验任务：尝试</a:t>
            </a:r>
            <a:r>
              <a:rPr lang="en-US" sz="124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p=1</a:t>
            </a:r>
            <a:r>
              <a:rPr lang="en-US" sz="124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</a:t>
            </a:r>
            <a:r>
              <a:rPr lang="en-US" sz="1244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p=2</a:t>
            </a:r>
            <a:r>
              <a:rPr lang="en-US" sz="124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，观察结果变化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7200" y="7546622"/>
            <a:ext cx="15341600" cy="553156"/>
          </a:xfrm>
          <a:custGeom>
            <a:avLst/>
            <a:gdLst/>
            <a:ahLst/>
            <a:cxnLst/>
            <a:rect l="l" t="t" r="r" b="b"/>
            <a:pathLst>
              <a:path w="15341600" h="553156">
                <a:moveTo>
                  <a:pt x="90314" y="0"/>
                </a:moveTo>
                <a:lnTo>
                  <a:pt x="15251286" y="0"/>
                </a:lnTo>
                <a:cubicBezTo>
                  <a:pt x="15301165" y="0"/>
                  <a:pt x="15341600" y="40435"/>
                  <a:pt x="15341600" y="90314"/>
                </a:cubicBezTo>
                <a:lnTo>
                  <a:pt x="15341600" y="462842"/>
                </a:lnTo>
                <a:cubicBezTo>
                  <a:pt x="15341600" y="512721"/>
                  <a:pt x="15301165" y="553156"/>
                  <a:pt x="15251286" y="553156"/>
                </a:cubicBezTo>
                <a:lnTo>
                  <a:pt x="90314" y="553156"/>
                </a:lnTo>
                <a:cubicBezTo>
                  <a:pt x="40435" y="553156"/>
                  <a:pt x="0" y="512721"/>
                  <a:pt x="0" y="462842"/>
                </a:cubicBezTo>
                <a:lnTo>
                  <a:pt x="0" y="90314"/>
                </a:lnTo>
                <a:cubicBezTo>
                  <a:pt x="0" y="40435"/>
                  <a:pt x="40435" y="0"/>
                  <a:pt x="90314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54756" y="7710311"/>
            <a:ext cx="169333" cy="225778"/>
          </a:xfrm>
          <a:custGeom>
            <a:avLst/>
            <a:gdLst/>
            <a:ahLst/>
            <a:cxnLst/>
            <a:rect l="l" t="t" r="r" b="b"/>
            <a:pathLst>
              <a:path w="169333" h="225778">
                <a:moveTo>
                  <a:pt x="129161" y="169333"/>
                </a:moveTo>
                <a:cubicBezTo>
                  <a:pt x="132380" y="159500"/>
                  <a:pt x="138818" y="150592"/>
                  <a:pt x="146094" y="142919"/>
                </a:cubicBezTo>
                <a:cubicBezTo>
                  <a:pt x="160514" y="127750"/>
                  <a:pt x="169333" y="107244"/>
                  <a:pt x="169333" y="84667"/>
                </a:cubicBezTo>
                <a:cubicBezTo>
                  <a:pt x="169333" y="37924"/>
                  <a:pt x="131410" y="0"/>
                  <a:pt x="84667" y="0"/>
                </a:cubicBezTo>
                <a:cubicBezTo>
                  <a:pt x="37924" y="0"/>
                  <a:pt x="0" y="37924"/>
                  <a:pt x="0" y="84667"/>
                </a:cubicBezTo>
                <a:cubicBezTo>
                  <a:pt x="0" y="107244"/>
                  <a:pt x="8819" y="127750"/>
                  <a:pt x="23239" y="142919"/>
                </a:cubicBezTo>
                <a:cubicBezTo>
                  <a:pt x="30515" y="150592"/>
                  <a:pt x="36998" y="159500"/>
                  <a:pt x="40173" y="169333"/>
                </a:cubicBezTo>
                <a:lnTo>
                  <a:pt x="129117" y="169333"/>
                </a:lnTo>
                <a:close/>
                <a:moveTo>
                  <a:pt x="127000" y="190500"/>
                </a:moveTo>
                <a:lnTo>
                  <a:pt x="42333" y="190500"/>
                </a:lnTo>
                <a:lnTo>
                  <a:pt x="42333" y="197556"/>
                </a:lnTo>
                <a:cubicBezTo>
                  <a:pt x="42333" y="217047"/>
                  <a:pt x="58120" y="232833"/>
                  <a:pt x="77611" y="232833"/>
                </a:cubicBezTo>
                <a:lnTo>
                  <a:pt x="91722" y="232833"/>
                </a:lnTo>
                <a:cubicBezTo>
                  <a:pt x="111213" y="232833"/>
                  <a:pt x="127000" y="217047"/>
                  <a:pt x="127000" y="197556"/>
                </a:cubicBezTo>
                <a:lnTo>
                  <a:pt x="127000" y="190500"/>
                </a:lnTo>
                <a:close/>
                <a:moveTo>
                  <a:pt x="81139" y="49389"/>
                </a:moveTo>
                <a:cubicBezTo>
                  <a:pt x="63588" y="49389"/>
                  <a:pt x="49389" y="63588"/>
                  <a:pt x="49389" y="81139"/>
                </a:cubicBezTo>
                <a:cubicBezTo>
                  <a:pt x="49389" y="87004"/>
                  <a:pt x="44670" y="91722"/>
                  <a:pt x="38806" y="91722"/>
                </a:cubicBezTo>
                <a:cubicBezTo>
                  <a:pt x="32941" y="91722"/>
                  <a:pt x="28222" y="87004"/>
                  <a:pt x="28222" y="81139"/>
                </a:cubicBezTo>
                <a:cubicBezTo>
                  <a:pt x="28222" y="51902"/>
                  <a:pt x="51902" y="28222"/>
                  <a:pt x="81139" y="28222"/>
                </a:cubicBezTo>
                <a:cubicBezTo>
                  <a:pt x="87004" y="28222"/>
                  <a:pt x="91722" y="32941"/>
                  <a:pt x="91722" y="38806"/>
                </a:cubicBezTo>
                <a:cubicBezTo>
                  <a:pt x="91722" y="44670"/>
                  <a:pt x="87004" y="49389"/>
                  <a:pt x="81139" y="49389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16000" y="7687733"/>
            <a:ext cx="9866489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总结：</a:t>
            </a:r>
            <a:r>
              <a:rPr lang="en-US" sz="1422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</a:t>
            </a:r>
            <a:r>
              <a:rPr lang="en-US" sz="142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凭借其简单直观的特点，在小规模数据、对解释性要求高的场景有广泛应用，但面对大数据和高维数据时需优化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85ba8f13dcecada2f9723cf669c93f169d2b8f98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054" b="205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E5A165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895350"/>
            <a:ext cx="2133600" cy="584200"/>
          </a:xfrm>
          <a:custGeom>
            <a:avLst/>
            <a:gdLst/>
            <a:ahLst/>
            <a:cxnLst/>
            <a:rect l="l" t="t" r="r" b="b"/>
            <a:pathLst>
              <a:path w="2133600" h="584200">
                <a:moveTo>
                  <a:pt x="292100" y="0"/>
                </a:moveTo>
                <a:lnTo>
                  <a:pt x="1841500" y="0"/>
                </a:lnTo>
                <a:cubicBezTo>
                  <a:pt x="2002714" y="0"/>
                  <a:pt x="2133600" y="130886"/>
                  <a:pt x="2133600" y="292100"/>
                </a:cubicBezTo>
                <a:lnTo>
                  <a:pt x="2133600" y="292100"/>
                </a:lnTo>
                <a:cubicBezTo>
                  <a:pt x="2133600" y="453314"/>
                  <a:pt x="2002714" y="584200"/>
                  <a:pt x="1841500" y="584200"/>
                </a:cubicBezTo>
                <a:lnTo>
                  <a:pt x="292100" y="584200"/>
                </a:lnTo>
                <a:cubicBezTo>
                  <a:pt x="130886" y="584200"/>
                  <a:pt x="0" y="453314"/>
                  <a:pt x="0" y="292100"/>
                </a:cubicBezTo>
                <a:lnTo>
                  <a:pt x="0" y="292100"/>
                </a:lnTo>
                <a:cubicBezTo>
                  <a:pt x="0" y="130886"/>
                  <a:pt x="130886" y="0"/>
                  <a:pt x="2921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 w="25400">
            <a:solidFill>
              <a:srgbClr val="E5A16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035050"/>
            <a:ext cx="17163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18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898650"/>
            <a:ext cx="10769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 err="1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朴素贝叶斯算法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434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200650"/>
            <a:ext cx="1035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E0E2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Naive Bayes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267450"/>
            <a:ext cx="1028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基于概率的简单高效分类器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特征条件独立假设，在文本分类中表现突出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790575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贝叶斯定理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22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6670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条件独立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878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2926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概率分类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朴素贝叶斯：贝叶斯定理与核心思想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684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84200" y="1473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890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贝叶斯定理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1981200"/>
            <a:ext cx="751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贝叶斯定理描述了在已知某些条件下，事件发生的概率：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" y="2463800"/>
            <a:ext cx="7391400" cy="2184400"/>
          </a:xfrm>
          <a:custGeom>
            <a:avLst/>
            <a:gdLst/>
            <a:ahLst/>
            <a:cxnLst/>
            <a:rect l="l" t="t" r="r" b="b"/>
            <a:pathLst>
              <a:path w="7391400" h="21844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2082804"/>
                </a:lnTo>
                <a:cubicBezTo>
                  <a:pt x="7391400" y="2138914"/>
                  <a:pt x="7345914" y="2184400"/>
                  <a:pt x="7289804" y="2184400"/>
                </a:cubicBezTo>
                <a:lnTo>
                  <a:pt x="50800" y="2184400"/>
                </a:lnTo>
                <a:cubicBezTo>
                  <a:pt x="22763" y="2184400"/>
                  <a:pt x="0" y="2161637"/>
                  <a:pt x="0" y="213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33400" y="2463800"/>
            <a:ext cx="50800" cy="2184400"/>
          </a:xfrm>
          <a:custGeom>
            <a:avLst/>
            <a:gdLst/>
            <a:ahLst/>
            <a:cxnLst/>
            <a:rect l="l" t="t" r="r" b="b"/>
            <a:pathLst>
              <a:path w="50800" h="2184400">
                <a:moveTo>
                  <a:pt x="50800" y="0"/>
                </a:moveTo>
                <a:lnTo>
                  <a:pt x="50800" y="0"/>
                </a:lnTo>
                <a:lnTo>
                  <a:pt x="50800" y="2184400"/>
                </a:lnTo>
                <a:lnTo>
                  <a:pt x="50800" y="2184400"/>
                </a:lnTo>
                <a:cubicBezTo>
                  <a:pt x="22763" y="2184400"/>
                  <a:pt x="0" y="2161637"/>
                  <a:pt x="0" y="213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2667000"/>
            <a:ext cx="711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P(Y|X) = P(X|Y)P(Y) / P(X)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225800"/>
            <a:ext cx="353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P(Y|X)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530600"/>
            <a:ext cx="351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后验概率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2600" y="3225800"/>
            <a:ext cx="353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P(X|Y)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2600" y="3530600"/>
            <a:ext cx="351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似然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886200"/>
            <a:ext cx="353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P(Y)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191000"/>
            <a:ext cx="351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先验概率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2600" y="3886200"/>
            <a:ext cx="353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P(X)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2600" y="4191000"/>
            <a:ext cx="351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边缘概率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6100" y="4902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9231" y="136029"/>
                </a:moveTo>
                <a:cubicBezTo>
                  <a:pt x="47149" y="80665"/>
                  <a:pt x="94833" y="38100"/>
                  <a:pt x="152400" y="38100"/>
                </a:cubicBezTo>
                <a:cubicBezTo>
                  <a:pt x="183952" y="38100"/>
                  <a:pt x="212527" y="50899"/>
                  <a:pt x="233243" y="71557"/>
                </a:cubicBezTo>
                <a:cubicBezTo>
                  <a:pt x="233363" y="71676"/>
                  <a:pt x="233482" y="71795"/>
                  <a:pt x="233601" y="71914"/>
                </a:cubicBezTo>
                <a:lnTo>
                  <a:pt x="238125" y="76200"/>
                </a:lnTo>
                <a:lnTo>
                  <a:pt x="209610" y="76200"/>
                </a:lnTo>
                <a:cubicBezTo>
                  <a:pt x="199073" y="76200"/>
                  <a:pt x="190560" y="84713"/>
                  <a:pt x="190560" y="95250"/>
                </a:cubicBezTo>
                <a:cubicBezTo>
                  <a:pt x="190560" y="105787"/>
                  <a:pt x="199073" y="114300"/>
                  <a:pt x="209610" y="114300"/>
                </a:cubicBezTo>
                <a:lnTo>
                  <a:pt x="285810" y="114300"/>
                </a:lnTo>
                <a:cubicBezTo>
                  <a:pt x="296347" y="114300"/>
                  <a:pt x="304860" y="105787"/>
                  <a:pt x="304860" y="95250"/>
                </a:cubicBezTo>
                <a:lnTo>
                  <a:pt x="304860" y="19050"/>
                </a:lnTo>
                <a:cubicBezTo>
                  <a:pt x="304860" y="8513"/>
                  <a:pt x="296347" y="0"/>
                  <a:pt x="285810" y="0"/>
                </a:cubicBezTo>
                <a:cubicBezTo>
                  <a:pt x="275273" y="0"/>
                  <a:pt x="266760" y="8513"/>
                  <a:pt x="266760" y="19050"/>
                </a:cubicBezTo>
                <a:lnTo>
                  <a:pt x="266760" y="50840"/>
                </a:lnTo>
                <a:lnTo>
                  <a:pt x="260033" y="44470"/>
                </a:lnTo>
                <a:cubicBezTo>
                  <a:pt x="232470" y="17026"/>
                  <a:pt x="194370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lose/>
                <a:moveTo>
                  <a:pt x="303252" y="174129"/>
                </a:moveTo>
                <a:cubicBezTo>
                  <a:pt x="304740" y="163711"/>
                  <a:pt x="297478" y="154067"/>
                  <a:pt x="287119" y="152579"/>
                </a:cubicBezTo>
                <a:cubicBezTo>
                  <a:pt x="276761" y="151090"/>
                  <a:pt x="267057" y="158353"/>
                  <a:pt x="265569" y="168712"/>
                </a:cubicBezTo>
                <a:cubicBezTo>
                  <a:pt x="257651" y="224076"/>
                  <a:pt x="209967" y="266640"/>
                  <a:pt x="152400" y="266640"/>
                </a:cubicBezTo>
                <a:cubicBezTo>
                  <a:pt x="120848" y="266640"/>
                  <a:pt x="92273" y="253841"/>
                  <a:pt x="71557" y="233184"/>
                </a:cubicBezTo>
                <a:cubicBezTo>
                  <a:pt x="71437" y="233065"/>
                  <a:pt x="71318" y="232946"/>
                  <a:pt x="71199" y="232827"/>
                </a:cubicBezTo>
                <a:lnTo>
                  <a:pt x="66675" y="228540"/>
                </a:lnTo>
                <a:lnTo>
                  <a:pt x="95190" y="228540"/>
                </a:lnTo>
                <a:cubicBezTo>
                  <a:pt x="105727" y="228540"/>
                  <a:pt x="114240" y="220028"/>
                  <a:pt x="114240" y="209490"/>
                </a:cubicBezTo>
                <a:cubicBezTo>
                  <a:pt x="114240" y="198953"/>
                  <a:pt x="105727" y="190440"/>
                  <a:pt x="95190" y="190440"/>
                </a:cubicBezTo>
                <a:lnTo>
                  <a:pt x="19050" y="190500"/>
                </a:lnTo>
                <a:cubicBezTo>
                  <a:pt x="13990" y="190500"/>
                  <a:pt x="9108" y="192524"/>
                  <a:pt x="5536" y="196155"/>
                </a:cubicBezTo>
                <a:cubicBezTo>
                  <a:pt x="1965" y="199787"/>
                  <a:pt x="-60" y="204609"/>
                  <a:pt x="0" y="209729"/>
                </a:cubicBezTo>
                <a:lnTo>
                  <a:pt x="595" y="285333"/>
                </a:lnTo>
                <a:cubicBezTo>
                  <a:pt x="655" y="295870"/>
                  <a:pt x="9287" y="304324"/>
                  <a:pt x="19824" y="304205"/>
                </a:cubicBezTo>
                <a:cubicBezTo>
                  <a:pt x="30361" y="304086"/>
                  <a:pt x="38814" y="295513"/>
                  <a:pt x="38695" y="284976"/>
                </a:cubicBezTo>
                <a:lnTo>
                  <a:pt x="38457" y="254318"/>
                </a:lnTo>
                <a:lnTo>
                  <a:pt x="44827" y="260330"/>
                </a:lnTo>
                <a:cubicBezTo>
                  <a:pt x="72390" y="287774"/>
                  <a:pt x="110430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89000" y="4851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"朴素"假设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8000" y="5410200"/>
            <a:ext cx="751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朴素贝叶斯算法的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核心假设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是特征之间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条件独立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589280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1117604"/>
                </a:lnTo>
                <a:cubicBezTo>
                  <a:pt x="7391400" y="1173714"/>
                  <a:pt x="7345914" y="1219200"/>
                  <a:pt x="7289804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33400" y="58928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98500" y="6096000"/>
            <a:ext cx="708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P(X₁,X₂,...,Xₙ|Y) = Π P(Xᵢ|Y)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1200" y="66040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给定类别Y后，各特征相互独立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4350" y="7270750"/>
            <a:ext cx="7404100" cy="622300"/>
          </a:xfrm>
          <a:custGeom>
            <a:avLst/>
            <a:gdLst/>
            <a:ahLst/>
            <a:cxnLst/>
            <a:rect l="l" t="t" r="r" b="b"/>
            <a:pathLst>
              <a:path w="7404100" h="622300">
                <a:moveTo>
                  <a:pt x="101603" y="0"/>
                </a:moveTo>
                <a:lnTo>
                  <a:pt x="7302497" y="0"/>
                </a:lnTo>
                <a:cubicBezTo>
                  <a:pt x="7358611" y="0"/>
                  <a:pt x="7404100" y="45489"/>
                  <a:pt x="7404100" y="101603"/>
                </a:cubicBezTo>
                <a:lnTo>
                  <a:pt x="7404100" y="520697"/>
                </a:lnTo>
                <a:cubicBezTo>
                  <a:pt x="7404100" y="576811"/>
                  <a:pt x="7358611" y="622300"/>
                  <a:pt x="7302497" y="622300"/>
                </a:cubicBezTo>
                <a:lnTo>
                  <a:pt x="101603" y="622300"/>
                </a:lnTo>
                <a:cubicBezTo>
                  <a:pt x="45489" y="622300"/>
                  <a:pt x="0" y="576811"/>
                  <a:pt x="0" y="5206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 w="12700">
            <a:solidFill>
              <a:srgbClr val="E5A1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98500" y="7480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7434" y="0"/>
                  <a:pt x="112792" y="3215"/>
                  <a:pt x="115570" y="8334"/>
                </a:cubicBezTo>
                <a:lnTo>
                  <a:pt x="201295" y="167084"/>
                </a:lnTo>
                <a:cubicBezTo>
                  <a:pt x="203954" y="172006"/>
                  <a:pt x="203835" y="177959"/>
                  <a:pt x="200978" y="182761"/>
                </a:cubicBezTo>
                <a:cubicBezTo>
                  <a:pt x="198120" y="187563"/>
                  <a:pt x="192921" y="190500"/>
                  <a:pt x="187325" y="190500"/>
                </a:cubicBezTo>
                <a:lnTo>
                  <a:pt x="15875" y="190500"/>
                </a:lnTo>
                <a:cubicBezTo>
                  <a:pt x="10279" y="190500"/>
                  <a:pt x="5120" y="187563"/>
                  <a:pt x="2223" y="182761"/>
                </a:cubicBezTo>
                <a:cubicBezTo>
                  <a:pt x="-675" y="177959"/>
                  <a:pt x="-754" y="172006"/>
                  <a:pt x="1905" y="167084"/>
                </a:cubicBezTo>
                <a:lnTo>
                  <a:pt x="87630" y="8334"/>
                </a:lnTo>
                <a:cubicBezTo>
                  <a:pt x="90408" y="3215"/>
                  <a:pt x="95766" y="0"/>
                  <a:pt x="101600" y="0"/>
                </a:cubicBezTo>
                <a:close/>
                <a:moveTo>
                  <a:pt x="101600" y="66675"/>
                </a:moveTo>
                <a:cubicBezTo>
                  <a:pt x="96322" y="66675"/>
                  <a:pt x="92075" y="70922"/>
                  <a:pt x="92075" y="76200"/>
                </a:cubicBezTo>
                <a:lnTo>
                  <a:pt x="92075" y="120650"/>
                </a:lnTo>
                <a:cubicBezTo>
                  <a:pt x="92075" y="125928"/>
                  <a:pt x="96322" y="130175"/>
                  <a:pt x="101600" y="130175"/>
                </a:cubicBezTo>
                <a:cubicBezTo>
                  <a:pt x="106878" y="130175"/>
                  <a:pt x="111125" y="125928"/>
                  <a:pt x="111125" y="120650"/>
                </a:cubicBezTo>
                <a:lnTo>
                  <a:pt x="111125" y="76200"/>
                </a:lnTo>
                <a:cubicBezTo>
                  <a:pt x="111125" y="70922"/>
                  <a:pt x="106878" y="66675"/>
                  <a:pt x="101600" y="66675"/>
                </a:cubicBezTo>
                <a:close/>
                <a:moveTo>
                  <a:pt x="112197" y="152400"/>
                </a:moveTo>
                <a:cubicBezTo>
                  <a:pt x="112438" y="148467"/>
                  <a:pt x="110476" y="144724"/>
                  <a:pt x="107104" y="142685"/>
                </a:cubicBezTo>
                <a:cubicBezTo>
                  <a:pt x="103732" y="140645"/>
                  <a:pt x="99507" y="140645"/>
                  <a:pt x="96135" y="142685"/>
                </a:cubicBezTo>
                <a:cubicBezTo>
                  <a:pt x="92764" y="144724"/>
                  <a:pt x="90802" y="148467"/>
                  <a:pt x="91043" y="152400"/>
                </a:cubicBezTo>
                <a:cubicBezTo>
                  <a:pt x="90802" y="156333"/>
                  <a:pt x="92764" y="160076"/>
                  <a:pt x="96135" y="162115"/>
                </a:cubicBezTo>
                <a:cubicBezTo>
                  <a:pt x="99507" y="164155"/>
                  <a:pt x="103732" y="164155"/>
                  <a:pt x="107104" y="162115"/>
                </a:cubicBezTo>
                <a:cubicBezTo>
                  <a:pt x="110476" y="160076"/>
                  <a:pt x="112438" y="156333"/>
                  <a:pt x="112197" y="15240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028700" y="74295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注意：该假设在现实中往往不成立，但算法仍能有效工作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693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7122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分类决策公式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31200" y="1981200"/>
            <a:ext cx="7518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对于新样本X = (X₁,X₂,...,Xₙ)，计算每个类别Y的分数：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56600" y="2463800"/>
            <a:ext cx="7391400" cy="1219200"/>
          </a:xfrm>
          <a:custGeom>
            <a:avLst/>
            <a:gdLst/>
            <a:ahLst/>
            <a:cxnLst/>
            <a:rect l="l" t="t" r="r" b="b"/>
            <a:pathLst>
              <a:path w="7391400" h="1219200">
                <a:moveTo>
                  <a:pt x="50800" y="0"/>
                </a:moveTo>
                <a:lnTo>
                  <a:pt x="7289804" y="0"/>
                </a:lnTo>
                <a:cubicBezTo>
                  <a:pt x="7345914" y="0"/>
                  <a:pt x="7391400" y="45486"/>
                  <a:pt x="7391400" y="101596"/>
                </a:cubicBezTo>
                <a:lnTo>
                  <a:pt x="7391400" y="1117604"/>
                </a:lnTo>
                <a:cubicBezTo>
                  <a:pt x="7391400" y="1173714"/>
                  <a:pt x="7345914" y="1219200"/>
                  <a:pt x="7289804" y="1219200"/>
                </a:cubicBezTo>
                <a:lnTo>
                  <a:pt x="50800" y="1219200"/>
                </a:lnTo>
                <a:cubicBezTo>
                  <a:pt x="22744" y="1219200"/>
                  <a:pt x="0" y="1196456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356600" y="2463800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5080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50800" y="1219200"/>
                </a:lnTo>
                <a:cubicBezTo>
                  <a:pt x="22763" y="1219200"/>
                  <a:pt x="0" y="1196437"/>
                  <a:pt x="0" y="1168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521700" y="2667000"/>
            <a:ext cx="708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score(Y) = P(Y) Π P(Xᵢ|Y)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34400" y="31750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选择分数最大的类别作为预测结果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07400" y="3937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38100" y="0"/>
                </a:moveTo>
                <a:cubicBezTo>
                  <a:pt x="17085" y="0"/>
                  <a:pt x="0" y="17085"/>
                  <a:pt x="0" y="38100"/>
                </a:cubicBezTo>
                <a:lnTo>
                  <a:pt x="0" y="266700"/>
                </a:lnTo>
                <a:cubicBezTo>
                  <a:pt x="0" y="287715"/>
                  <a:pt x="17085" y="304800"/>
                  <a:pt x="38100" y="304800"/>
                </a:cubicBezTo>
                <a:lnTo>
                  <a:pt x="190500" y="304800"/>
                </a:lnTo>
                <a:cubicBezTo>
                  <a:pt x="211515" y="304800"/>
                  <a:pt x="228600" y="287715"/>
                  <a:pt x="228600" y="266700"/>
                </a:cubicBezTo>
                <a:lnTo>
                  <a:pt x="228600" y="38100"/>
                </a:lnTo>
                <a:cubicBezTo>
                  <a:pt x="228600" y="17085"/>
                  <a:pt x="211515" y="0"/>
                  <a:pt x="190500" y="0"/>
                </a:cubicBezTo>
                <a:lnTo>
                  <a:pt x="38100" y="0"/>
                </a:lnTo>
                <a:close/>
                <a:moveTo>
                  <a:pt x="57150" y="38100"/>
                </a:moveTo>
                <a:lnTo>
                  <a:pt x="171450" y="38100"/>
                </a:lnTo>
                <a:cubicBezTo>
                  <a:pt x="181987" y="38100"/>
                  <a:pt x="190500" y="46613"/>
                  <a:pt x="190500" y="5715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57150" y="95250"/>
                </a:lnTo>
                <a:cubicBezTo>
                  <a:pt x="46613" y="95250"/>
                  <a:pt x="38100" y="86737"/>
                  <a:pt x="38100" y="76200"/>
                </a:cubicBezTo>
                <a:lnTo>
                  <a:pt x="38100" y="57150"/>
                </a:lnTo>
                <a:cubicBezTo>
                  <a:pt x="38100" y="46613"/>
                  <a:pt x="46613" y="38100"/>
                  <a:pt x="57150" y="38100"/>
                </a:cubicBezTo>
                <a:close/>
                <a:moveTo>
                  <a:pt x="66675" y="138113"/>
                </a:moveTo>
                <a:cubicBezTo>
                  <a:pt x="66675" y="145998"/>
                  <a:pt x="60273" y="152400"/>
                  <a:pt x="52388" y="152400"/>
                </a:cubicBezTo>
                <a:cubicBezTo>
                  <a:pt x="44502" y="152400"/>
                  <a:pt x="38100" y="145998"/>
                  <a:pt x="38100" y="138113"/>
                </a:cubicBezTo>
                <a:cubicBezTo>
                  <a:pt x="38100" y="130227"/>
                  <a:pt x="44502" y="123825"/>
                  <a:pt x="52388" y="123825"/>
                </a:cubicBezTo>
                <a:cubicBezTo>
                  <a:pt x="60273" y="123825"/>
                  <a:pt x="66675" y="130227"/>
                  <a:pt x="66675" y="138113"/>
                </a:cubicBezTo>
                <a:close/>
                <a:moveTo>
                  <a:pt x="114300" y="152400"/>
                </a:moveTo>
                <a:cubicBezTo>
                  <a:pt x="106415" y="152400"/>
                  <a:pt x="100013" y="145998"/>
                  <a:pt x="100013" y="138113"/>
                </a:cubicBezTo>
                <a:cubicBezTo>
                  <a:pt x="100013" y="130227"/>
                  <a:pt x="106415" y="123825"/>
                  <a:pt x="114300" y="123825"/>
                </a:cubicBezTo>
                <a:cubicBezTo>
                  <a:pt x="122185" y="123825"/>
                  <a:pt x="128588" y="130227"/>
                  <a:pt x="128588" y="138113"/>
                </a:cubicBezTo>
                <a:cubicBezTo>
                  <a:pt x="128588" y="145998"/>
                  <a:pt x="122185" y="152400"/>
                  <a:pt x="114300" y="152400"/>
                </a:cubicBezTo>
                <a:close/>
                <a:moveTo>
                  <a:pt x="190500" y="138113"/>
                </a:moveTo>
                <a:cubicBezTo>
                  <a:pt x="190500" y="145998"/>
                  <a:pt x="184098" y="152400"/>
                  <a:pt x="176212" y="152400"/>
                </a:cubicBezTo>
                <a:cubicBezTo>
                  <a:pt x="168327" y="152400"/>
                  <a:pt x="161925" y="145998"/>
                  <a:pt x="161925" y="138113"/>
                </a:cubicBezTo>
                <a:cubicBezTo>
                  <a:pt x="161925" y="130227"/>
                  <a:pt x="168327" y="123825"/>
                  <a:pt x="176212" y="123825"/>
                </a:cubicBezTo>
                <a:cubicBezTo>
                  <a:pt x="184098" y="123825"/>
                  <a:pt x="190500" y="130227"/>
                  <a:pt x="190500" y="138113"/>
                </a:cubicBezTo>
                <a:close/>
                <a:moveTo>
                  <a:pt x="52388" y="209550"/>
                </a:moveTo>
                <a:cubicBezTo>
                  <a:pt x="44502" y="209550"/>
                  <a:pt x="38100" y="203148"/>
                  <a:pt x="38100" y="195263"/>
                </a:cubicBezTo>
                <a:cubicBezTo>
                  <a:pt x="38100" y="187377"/>
                  <a:pt x="44502" y="180975"/>
                  <a:pt x="52388" y="180975"/>
                </a:cubicBezTo>
                <a:cubicBezTo>
                  <a:pt x="60273" y="180975"/>
                  <a:pt x="66675" y="187377"/>
                  <a:pt x="66675" y="195263"/>
                </a:cubicBezTo>
                <a:cubicBezTo>
                  <a:pt x="66675" y="203148"/>
                  <a:pt x="60273" y="209550"/>
                  <a:pt x="52388" y="209550"/>
                </a:cubicBezTo>
                <a:close/>
                <a:moveTo>
                  <a:pt x="128588" y="195263"/>
                </a:moveTo>
                <a:cubicBezTo>
                  <a:pt x="128588" y="203148"/>
                  <a:pt x="122185" y="209550"/>
                  <a:pt x="114300" y="209550"/>
                </a:cubicBezTo>
                <a:cubicBezTo>
                  <a:pt x="106415" y="209550"/>
                  <a:pt x="100013" y="203148"/>
                  <a:pt x="100013" y="195263"/>
                </a:cubicBezTo>
                <a:cubicBezTo>
                  <a:pt x="100013" y="187377"/>
                  <a:pt x="106415" y="180975"/>
                  <a:pt x="114300" y="180975"/>
                </a:cubicBezTo>
                <a:cubicBezTo>
                  <a:pt x="122185" y="180975"/>
                  <a:pt x="128588" y="187377"/>
                  <a:pt x="128588" y="195263"/>
                </a:cubicBezTo>
                <a:close/>
                <a:moveTo>
                  <a:pt x="176212" y="209550"/>
                </a:moveTo>
                <a:cubicBezTo>
                  <a:pt x="168327" y="209550"/>
                  <a:pt x="161925" y="203148"/>
                  <a:pt x="161925" y="195263"/>
                </a:cubicBezTo>
                <a:cubicBezTo>
                  <a:pt x="161925" y="187377"/>
                  <a:pt x="168327" y="180975"/>
                  <a:pt x="176212" y="180975"/>
                </a:cubicBezTo>
                <a:cubicBezTo>
                  <a:pt x="184098" y="180975"/>
                  <a:pt x="190500" y="187377"/>
                  <a:pt x="190500" y="195263"/>
                </a:cubicBezTo>
                <a:cubicBezTo>
                  <a:pt x="190500" y="203148"/>
                  <a:pt x="184098" y="209550"/>
                  <a:pt x="176212" y="209550"/>
                </a:cubicBezTo>
                <a:close/>
                <a:moveTo>
                  <a:pt x="38100" y="252413"/>
                </a:moveTo>
                <a:cubicBezTo>
                  <a:pt x="38100" y="244495"/>
                  <a:pt x="44470" y="238125"/>
                  <a:pt x="52388" y="238125"/>
                </a:cubicBezTo>
                <a:lnTo>
                  <a:pt x="119062" y="238125"/>
                </a:lnTo>
                <a:cubicBezTo>
                  <a:pt x="126980" y="238125"/>
                  <a:pt x="133350" y="244495"/>
                  <a:pt x="133350" y="252413"/>
                </a:cubicBezTo>
                <a:cubicBezTo>
                  <a:pt x="133350" y="260330"/>
                  <a:pt x="126980" y="266700"/>
                  <a:pt x="119062" y="266700"/>
                </a:cubicBezTo>
                <a:lnTo>
                  <a:pt x="52388" y="266700"/>
                </a:lnTo>
                <a:cubicBezTo>
                  <a:pt x="44470" y="266700"/>
                  <a:pt x="38100" y="260330"/>
                  <a:pt x="38100" y="252413"/>
                </a:cubicBezTo>
                <a:close/>
                <a:moveTo>
                  <a:pt x="176212" y="238125"/>
                </a:moveTo>
                <a:cubicBezTo>
                  <a:pt x="184130" y="238125"/>
                  <a:pt x="190500" y="244495"/>
                  <a:pt x="190500" y="252413"/>
                </a:cubicBezTo>
                <a:cubicBezTo>
                  <a:pt x="190500" y="260330"/>
                  <a:pt x="184130" y="266700"/>
                  <a:pt x="176212" y="266700"/>
                </a:cubicBezTo>
                <a:cubicBezTo>
                  <a:pt x="168295" y="266700"/>
                  <a:pt x="161925" y="260330"/>
                  <a:pt x="161925" y="252413"/>
                </a:cubicBezTo>
                <a:cubicBezTo>
                  <a:pt x="161925" y="244495"/>
                  <a:pt x="168295" y="238125"/>
                  <a:pt x="176212" y="23812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712200" y="38862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训练阶段计算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56600" y="4445000"/>
            <a:ext cx="7391400" cy="1066800"/>
          </a:xfrm>
          <a:custGeom>
            <a:avLst/>
            <a:gdLst/>
            <a:ahLst/>
            <a:cxnLst/>
            <a:rect l="l" t="t" r="r" b="b"/>
            <a:pathLst>
              <a:path w="7391400" h="1066800">
                <a:moveTo>
                  <a:pt x="50800" y="0"/>
                </a:moveTo>
                <a:lnTo>
                  <a:pt x="7289798" y="0"/>
                </a:lnTo>
                <a:cubicBezTo>
                  <a:pt x="7345911" y="0"/>
                  <a:pt x="7391400" y="45489"/>
                  <a:pt x="7391400" y="101602"/>
                </a:cubicBezTo>
                <a:lnTo>
                  <a:pt x="7391400" y="965198"/>
                </a:lnTo>
                <a:cubicBezTo>
                  <a:pt x="7391400" y="1021311"/>
                  <a:pt x="7345911" y="1066800"/>
                  <a:pt x="7289798" y="1066800"/>
                </a:cubicBezTo>
                <a:lnTo>
                  <a:pt x="50800" y="1066800"/>
                </a:lnTo>
                <a:cubicBezTo>
                  <a:pt x="22744" y="1066800"/>
                  <a:pt x="0" y="1044056"/>
                  <a:pt x="0" y="101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356600" y="4445000"/>
            <a:ext cx="50800" cy="1066800"/>
          </a:xfrm>
          <a:custGeom>
            <a:avLst/>
            <a:gdLst/>
            <a:ahLst/>
            <a:cxnLst/>
            <a:rect l="l" t="t" r="r" b="b"/>
            <a:pathLst>
              <a:path w="50800" h="1066800">
                <a:moveTo>
                  <a:pt x="50800" y="0"/>
                </a:moveTo>
                <a:lnTo>
                  <a:pt x="50800" y="0"/>
                </a:lnTo>
                <a:lnTo>
                  <a:pt x="50800" y="1066800"/>
                </a:lnTo>
                <a:lnTo>
                  <a:pt x="50800" y="1066800"/>
                </a:lnTo>
                <a:cubicBezTo>
                  <a:pt x="22763" y="1066800"/>
                  <a:pt x="0" y="1044037"/>
                  <a:pt x="0" y="101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534400" y="4597400"/>
            <a:ext cx="716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 先验概率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34400" y="5003800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P(Y) = count(Y) / 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56600" y="5664200"/>
            <a:ext cx="7391400" cy="1066800"/>
          </a:xfrm>
          <a:custGeom>
            <a:avLst/>
            <a:gdLst/>
            <a:ahLst/>
            <a:cxnLst/>
            <a:rect l="l" t="t" r="r" b="b"/>
            <a:pathLst>
              <a:path w="7391400" h="1066800">
                <a:moveTo>
                  <a:pt x="50800" y="0"/>
                </a:moveTo>
                <a:lnTo>
                  <a:pt x="7289798" y="0"/>
                </a:lnTo>
                <a:cubicBezTo>
                  <a:pt x="7345911" y="0"/>
                  <a:pt x="7391400" y="45489"/>
                  <a:pt x="7391400" y="101602"/>
                </a:cubicBezTo>
                <a:lnTo>
                  <a:pt x="7391400" y="965198"/>
                </a:lnTo>
                <a:cubicBezTo>
                  <a:pt x="7391400" y="1021311"/>
                  <a:pt x="7345911" y="1066800"/>
                  <a:pt x="7289798" y="1066800"/>
                </a:cubicBezTo>
                <a:lnTo>
                  <a:pt x="50800" y="1066800"/>
                </a:lnTo>
                <a:cubicBezTo>
                  <a:pt x="22744" y="1066800"/>
                  <a:pt x="0" y="1044056"/>
                  <a:pt x="0" y="101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356600" y="5664200"/>
            <a:ext cx="50800" cy="1066800"/>
          </a:xfrm>
          <a:custGeom>
            <a:avLst/>
            <a:gdLst/>
            <a:ahLst/>
            <a:cxnLst/>
            <a:rect l="l" t="t" r="r" b="b"/>
            <a:pathLst>
              <a:path w="50800" h="1066800">
                <a:moveTo>
                  <a:pt x="50800" y="0"/>
                </a:moveTo>
                <a:lnTo>
                  <a:pt x="50800" y="0"/>
                </a:lnTo>
                <a:lnTo>
                  <a:pt x="50800" y="1066800"/>
                </a:lnTo>
                <a:lnTo>
                  <a:pt x="50800" y="1066800"/>
                </a:lnTo>
                <a:cubicBezTo>
                  <a:pt x="22763" y="1066800"/>
                  <a:pt x="0" y="1044037"/>
                  <a:pt x="0" y="101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534400" y="5816600"/>
            <a:ext cx="716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 条件概率（含平滑）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34400" y="6223000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P(Xᵢ=v|Y) = (count(v,Y)+α)/(count(Y)+kᵢα)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69300" y="698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85725"/>
                </a:moveTo>
                <a:cubicBezTo>
                  <a:pt x="44346" y="85725"/>
                  <a:pt x="57150" y="72921"/>
                  <a:pt x="57150" y="57150"/>
                </a:cubicBezTo>
                <a:cubicBezTo>
                  <a:pt x="57150" y="41379"/>
                  <a:pt x="44346" y="28575"/>
                  <a:pt x="28575" y="28575"/>
                </a:cubicBezTo>
                <a:cubicBezTo>
                  <a:pt x="12804" y="28575"/>
                  <a:pt x="0" y="41379"/>
                  <a:pt x="0" y="57150"/>
                </a:cubicBezTo>
                <a:cubicBezTo>
                  <a:pt x="0" y="72921"/>
                  <a:pt x="12804" y="85725"/>
                  <a:pt x="28575" y="85725"/>
                </a:cubicBezTo>
                <a:close/>
                <a:moveTo>
                  <a:pt x="114300" y="38100"/>
                </a:moveTo>
                <a:cubicBezTo>
                  <a:pt x="103763" y="38100"/>
                  <a:pt x="95250" y="46613"/>
                  <a:pt x="95250" y="57150"/>
                </a:cubicBezTo>
                <a:cubicBezTo>
                  <a:pt x="95250" y="67687"/>
                  <a:pt x="103763" y="76200"/>
                  <a:pt x="114300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14300" y="38100"/>
                </a:lnTo>
                <a:close/>
                <a:moveTo>
                  <a:pt x="114300" y="133350"/>
                </a:moveTo>
                <a:cubicBezTo>
                  <a:pt x="103763" y="133350"/>
                  <a:pt x="95250" y="141863"/>
                  <a:pt x="95250" y="152400"/>
                </a:cubicBezTo>
                <a:cubicBezTo>
                  <a:pt x="95250" y="162937"/>
                  <a:pt x="103763" y="171450"/>
                  <a:pt x="114300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114300" y="133350"/>
                </a:lnTo>
                <a:close/>
                <a:moveTo>
                  <a:pt x="114300" y="228600"/>
                </a:moveTo>
                <a:cubicBezTo>
                  <a:pt x="103763" y="228600"/>
                  <a:pt x="95250" y="237113"/>
                  <a:pt x="95250" y="247650"/>
                </a:cubicBezTo>
                <a:cubicBezTo>
                  <a:pt x="95250" y="258187"/>
                  <a:pt x="103763" y="266700"/>
                  <a:pt x="114300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14300" y="228600"/>
                </a:lnTo>
                <a:close/>
                <a:moveTo>
                  <a:pt x="28575" y="276225"/>
                </a:moveTo>
                <a:cubicBezTo>
                  <a:pt x="44346" y="276225"/>
                  <a:pt x="57150" y="263421"/>
                  <a:pt x="57150" y="247650"/>
                </a:cubicBezTo>
                <a:cubicBezTo>
                  <a:pt x="57150" y="231879"/>
                  <a:pt x="44346" y="219075"/>
                  <a:pt x="28575" y="219075"/>
                </a:cubicBezTo>
                <a:cubicBezTo>
                  <a:pt x="12804" y="219075"/>
                  <a:pt x="0" y="231879"/>
                  <a:pt x="0" y="247650"/>
                </a:cubicBezTo>
                <a:cubicBezTo>
                  <a:pt x="0" y="263421"/>
                  <a:pt x="12804" y="276225"/>
                  <a:pt x="28575" y="276225"/>
                </a:cubicBezTo>
                <a:close/>
                <a:moveTo>
                  <a:pt x="57150" y="152400"/>
                </a:moveTo>
                <a:cubicBezTo>
                  <a:pt x="57150" y="136629"/>
                  <a:pt x="44346" y="123825"/>
                  <a:pt x="28575" y="123825"/>
                </a:cubicBezTo>
                <a:cubicBezTo>
                  <a:pt x="12804" y="123825"/>
                  <a:pt x="0" y="136629"/>
                  <a:pt x="0" y="152400"/>
                </a:cubicBezTo>
                <a:cubicBezTo>
                  <a:pt x="0" y="168171"/>
                  <a:pt x="12804" y="180975"/>
                  <a:pt x="28575" y="180975"/>
                </a:cubicBezTo>
                <a:cubicBezTo>
                  <a:pt x="44346" y="180975"/>
                  <a:pt x="57150" y="168171"/>
                  <a:pt x="57150" y="15240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712200" y="69342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31200" y="75946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585200" y="749300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文本分类（垃圾邮件过滤、情感分析）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31200" y="80010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585200" y="78994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高维稀疏数据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31200" y="84074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585200" y="8305800"/>
            <a:ext cx="193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需要概率解释的场景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374" y="482374"/>
            <a:ext cx="15508320" cy="48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1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朴素贝叶斯：拉普拉斯平滑与实例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82374" y="1109460"/>
            <a:ext cx="964748" cy="48237"/>
          </a:xfrm>
          <a:custGeom>
            <a:avLst/>
            <a:gdLst/>
            <a:ahLst/>
            <a:cxnLst/>
            <a:rect l="l" t="t" r="r" b="b"/>
            <a:pathLst>
              <a:path w="964748" h="48237">
                <a:moveTo>
                  <a:pt x="0" y="0"/>
                </a:moveTo>
                <a:lnTo>
                  <a:pt x="964748" y="0"/>
                </a:lnTo>
                <a:lnTo>
                  <a:pt x="964748" y="48237"/>
                </a:lnTo>
                <a:lnTo>
                  <a:pt x="0" y="48237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18552" y="1398884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144712" y="0"/>
                </a:moveTo>
                <a:cubicBezTo>
                  <a:pt x="153022" y="0"/>
                  <a:pt x="160653" y="4579"/>
                  <a:pt x="164610" y="11871"/>
                </a:cubicBezTo>
                <a:lnTo>
                  <a:pt x="286711" y="237984"/>
                </a:lnTo>
                <a:cubicBezTo>
                  <a:pt x="290498" y="244993"/>
                  <a:pt x="290329" y="253472"/>
                  <a:pt x="286259" y="260312"/>
                </a:cubicBezTo>
                <a:cubicBezTo>
                  <a:pt x="282189" y="267152"/>
                  <a:pt x="274784" y="271335"/>
                  <a:pt x="266813" y="271335"/>
                </a:cubicBezTo>
                <a:lnTo>
                  <a:pt x="22611" y="271335"/>
                </a:lnTo>
                <a:cubicBezTo>
                  <a:pt x="14641" y="271335"/>
                  <a:pt x="7292" y="267152"/>
                  <a:pt x="3166" y="260312"/>
                </a:cubicBezTo>
                <a:cubicBezTo>
                  <a:pt x="-961" y="253472"/>
                  <a:pt x="-1074" y="244993"/>
                  <a:pt x="2713" y="237984"/>
                </a:cubicBezTo>
                <a:lnTo>
                  <a:pt x="124814" y="11871"/>
                </a:lnTo>
                <a:cubicBezTo>
                  <a:pt x="128771" y="4579"/>
                  <a:pt x="136403" y="0"/>
                  <a:pt x="144712" y="0"/>
                </a:cubicBezTo>
                <a:close/>
                <a:moveTo>
                  <a:pt x="144712" y="94967"/>
                </a:moveTo>
                <a:cubicBezTo>
                  <a:pt x="137194" y="94967"/>
                  <a:pt x="131145" y="101016"/>
                  <a:pt x="131145" y="108534"/>
                </a:cubicBezTo>
                <a:lnTo>
                  <a:pt x="131145" y="171846"/>
                </a:lnTo>
                <a:cubicBezTo>
                  <a:pt x="131145" y="179364"/>
                  <a:pt x="137194" y="185412"/>
                  <a:pt x="144712" y="185412"/>
                </a:cubicBezTo>
                <a:cubicBezTo>
                  <a:pt x="152230" y="185412"/>
                  <a:pt x="158279" y="179364"/>
                  <a:pt x="158279" y="171846"/>
                </a:cubicBezTo>
                <a:lnTo>
                  <a:pt x="158279" y="108534"/>
                </a:lnTo>
                <a:cubicBezTo>
                  <a:pt x="158279" y="101016"/>
                  <a:pt x="152230" y="94967"/>
                  <a:pt x="144712" y="94967"/>
                </a:cubicBezTo>
                <a:close/>
                <a:moveTo>
                  <a:pt x="159805" y="217068"/>
                </a:moveTo>
                <a:cubicBezTo>
                  <a:pt x="160149" y="211466"/>
                  <a:pt x="157355" y="206136"/>
                  <a:pt x="152552" y="203231"/>
                </a:cubicBezTo>
                <a:cubicBezTo>
                  <a:pt x="147749" y="200326"/>
                  <a:pt x="141731" y="200326"/>
                  <a:pt x="136929" y="203231"/>
                </a:cubicBezTo>
                <a:cubicBezTo>
                  <a:pt x="132126" y="206136"/>
                  <a:pt x="129332" y="211466"/>
                  <a:pt x="129676" y="217068"/>
                </a:cubicBezTo>
                <a:cubicBezTo>
                  <a:pt x="129332" y="222671"/>
                  <a:pt x="132126" y="228001"/>
                  <a:pt x="136929" y="230906"/>
                </a:cubicBezTo>
                <a:cubicBezTo>
                  <a:pt x="141731" y="233811"/>
                  <a:pt x="147749" y="233811"/>
                  <a:pt x="152552" y="230906"/>
                </a:cubicBezTo>
                <a:cubicBezTo>
                  <a:pt x="157355" y="228001"/>
                  <a:pt x="160149" y="222671"/>
                  <a:pt x="159805" y="217068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44154" y="1350647"/>
            <a:ext cx="7235608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零概率问题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2374" y="1881258"/>
            <a:ext cx="7549151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如果训练集中某特征值未出现，条件概率计算结果为0，会导致最终预测概率为0：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6493" y="2339513"/>
            <a:ext cx="7428558" cy="1881258"/>
          </a:xfrm>
          <a:custGeom>
            <a:avLst/>
            <a:gdLst/>
            <a:ahLst/>
            <a:cxnLst/>
            <a:rect l="l" t="t" r="r" b="b"/>
            <a:pathLst>
              <a:path w="7428558" h="1881258">
                <a:moveTo>
                  <a:pt x="48237" y="0"/>
                </a:moveTo>
                <a:lnTo>
                  <a:pt x="7332087" y="0"/>
                </a:lnTo>
                <a:cubicBezTo>
                  <a:pt x="7385366" y="0"/>
                  <a:pt x="7428558" y="43192"/>
                  <a:pt x="7428558" y="96471"/>
                </a:cubicBezTo>
                <a:lnTo>
                  <a:pt x="7428558" y="1784787"/>
                </a:lnTo>
                <a:cubicBezTo>
                  <a:pt x="7428558" y="1838067"/>
                  <a:pt x="7385366" y="1881258"/>
                  <a:pt x="7332087" y="1881258"/>
                </a:cubicBezTo>
                <a:lnTo>
                  <a:pt x="48237" y="1881258"/>
                </a:lnTo>
                <a:cubicBezTo>
                  <a:pt x="21597" y="1881258"/>
                  <a:pt x="0" y="1859662"/>
                  <a:pt x="0" y="1833021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06493" y="2339513"/>
            <a:ext cx="48237" cy="1881258"/>
          </a:xfrm>
          <a:custGeom>
            <a:avLst/>
            <a:gdLst/>
            <a:ahLst/>
            <a:cxnLst/>
            <a:rect l="l" t="t" r="r" b="b"/>
            <a:pathLst>
              <a:path w="48237" h="1881258">
                <a:moveTo>
                  <a:pt x="48237" y="0"/>
                </a:moveTo>
                <a:lnTo>
                  <a:pt x="48237" y="0"/>
                </a:lnTo>
                <a:lnTo>
                  <a:pt x="48237" y="1881258"/>
                </a:lnTo>
                <a:lnTo>
                  <a:pt x="48237" y="1881258"/>
                </a:lnTo>
                <a:cubicBezTo>
                  <a:pt x="21597" y="1881258"/>
                  <a:pt x="0" y="1859662"/>
                  <a:pt x="0" y="1833021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23561" y="2532463"/>
            <a:ext cx="711501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示例：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561" y="2918362"/>
            <a:ext cx="711501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在"过敏"类别中，"建筑工人"出现0次：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9294" y="3304261"/>
            <a:ext cx="7127074" cy="337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0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P(建筑工人|过敏) = 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3561" y="3738398"/>
            <a:ext cx="711501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导致 score(过敏) = 0，该类别被直接排除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8552" y="4461958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144712" y="0"/>
                </a:moveTo>
                <a:cubicBezTo>
                  <a:pt x="147312" y="0"/>
                  <a:pt x="149913" y="565"/>
                  <a:pt x="152287" y="1639"/>
                </a:cubicBezTo>
                <a:lnTo>
                  <a:pt x="258786" y="46805"/>
                </a:lnTo>
                <a:cubicBezTo>
                  <a:pt x="271222" y="52062"/>
                  <a:pt x="280493" y="64329"/>
                  <a:pt x="280436" y="79139"/>
                </a:cubicBezTo>
                <a:cubicBezTo>
                  <a:pt x="280154" y="135215"/>
                  <a:pt x="257090" y="237814"/>
                  <a:pt x="159692" y="284450"/>
                </a:cubicBezTo>
                <a:cubicBezTo>
                  <a:pt x="150252" y="288972"/>
                  <a:pt x="139285" y="288972"/>
                  <a:pt x="129845" y="284450"/>
                </a:cubicBezTo>
                <a:cubicBezTo>
                  <a:pt x="32391" y="237814"/>
                  <a:pt x="9384" y="135215"/>
                  <a:pt x="9101" y="79139"/>
                </a:cubicBezTo>
                <a:cubicBezTo>
                  <a:pt x="9045" y="64329"/>
                  <a:pt x="18315" y="52062"/>
                  <a:pt x="30751" y="46805"/>
                </a:cubicBezTo>
                <a:lnTo>
                  <a:pt x="137194" y="1639"/>
                </a:lnTo>
                <a:cubicBezTo>
                  <a:pt x="139568" y="565"/>
                  <a:pt x="142112" y="0"/>
                  <a:pt x="144712" y="0"/>
                </a:cubicBezTo>
                <a:close/>
                <a:moveTo>
                  <a:pt x="144712" y="37761"/>
                </a:moveTo>
                <a:lnTo>
                  <a:pt x="144712" y="251494"/>
                </a:lnTo>
                <a:cubicBezTo>
                  <a:pt x="222721" y="213733"/>
                  <a:pt x="243693" y="130071"/>
                  <a:pt x="244202" y="79987"/>
                </a:cubicBezTo>
                <a:lnTo>
                  <a:pt x="144712" y="37817"/>
                </a:lnTo>
                <a:lnTo>
                  <a:pt x="144712" y="37817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44154" y="4413721"/>
            <a:ext cx="7235608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拉普拉斯平滑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2374" y="4944332"/>
            <a:ext cx="7549151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通过引入平滑参数α，确保所有概率值都大于0：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6493" y="5402588"/>
            <a:ext cx="7428558" cy="783858"/>
          </a:xfrm>
          <a:custGeom>
            <a:avLst/>
            <a:gdLst/>
            <a:ahLst/>
            <a:cxnLst/>
            <a:rect l="l" t="t" r="r" b="b"/>
            <a:pathLst>
              <a:path w="7428558" h="783858">
                <a:moveTo>
                  <a:pt x="48237" y="0"/>
                </a:moveTo>
                <a:lnTo>
                  <a:pt x="7332081" y="0"/>
                </a:lnTo>
                <a:cubicBezTo>
                  <a:pt x="7385364" y="0"/>
                  <a:pt x="7428558" y="43194"/>
                  <a:pt x="7428558" y="96477"/>
                </a:cubicBezTo>
                <a:lnTo>
                  <a:pt x="7428558" y="687380"/>
                </a:lnTo>
                <a:cubicBezTo>
                  <a:pt x="7428558" y="740663"/>
                  <a:pt x="7385364" y="783858"/>
                  <a:pt x="7332081" y="783858"/>
                </a:cubicBezTo>
                <a:lnTo>
                  <a:pt x="48237" y="783858"/>
                </a:lnTo>
                <a:cubicBezTo>
                  <a:pt x="21597" y="783858"/>
                  <a:pt x="0" y="762261"/>
                  <a:pt x="0" y="73562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6493" y="5402588"/>
            <a:ext cx="48237" cy="783858"/>
          </a:xfrm>
          <a:custGeom>
            <a:avLst/>
            <a:gdLst/>
            <a:ahLst/>
            <a:cxnLst/>
            <a:rect l="l" t="t" r="r" b="b"/>
            <a:pathLst>
              <a:path w="48237" h="783858">
                <a:moveTo>
                  <a:pt x="48237" y="0"/>
                </a:moveTo>
                <a:lnTo>
                  <a:pt x="48237" y="0"/>
                </a:lnTo>
                <a:lnTo>
                  <a:pt x="48237" y="783858"/>
                </a:lnTo>
                <a:lnTo>
                  <a:pt x="48237" y="783858"/>
                </a:lnTo>
                <a:cubicBezTo>
                  <a:pt x="21597" y="783858"/>
                  <a:pt x="0" y="762261"/>
                  <a:pt x="0" y="73562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63264" y="5595537"/>
            <a:ext cx="7139134" cy="397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99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P(Xᵢ=v|Y) = (count(v,Y) + α) / (count(Y) + kᵢα)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2374" y="6325128"/>
            <a:ext cx="7549151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α = 1：</a:t>
            </a:r>
            <a:r>
              <a:rPr lang="en-US" sz="1519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Laplace Smoothing</a:t>
            </a:r>
            <a:r>
              <a:rPr lang="en-US" sz="1519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（默认）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2374" y="6711027"/>
            <a:ext cx="7549151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α &lt; 1：</a:t>
            </a:r>
            <a:r>
              <a:rPr lang="en-US" sz="1519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更贴近频率估计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2374" y="7096926"/>
            <a:ext cx="7549151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α &gt; 1：</a:t>
            </a:r>
            <a:r>
              <a:rPr lang="en-US" sz="1519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更趋向均匀分布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36306" y="1398884"/>
            <a:ext cx="325602" cy="289424"/>
          </a:xfrm>
          <a:custGeom>
            <a:avLst/>
            <a:gdLst/>
            <a:ahLst/>
            <a:cxnLst/>
            <a:rect l="l" t="t" r="r" b="b"/>
            <a:pathLst>
              <a:path w="325602" h="289424">
                <a:moveTo>
                  <a:pt x="72356" y="36178"/>
                </a:moveTo>
                <a:cubicBezTo>
                  <a:pt x="72356" y="16224"/>
                  <a:pt x="88580" y="0"/>
                  <a:pt x="108534" y="0"/>
                </a:cubicBezTo>
                <a:lnTo>
                  <a:pt x="217068" y="0"/>
                </a:lnTo>
                <a:cubicBezTo>
                  <a:pt x="237023" y="0"/>
                  <a:pt x="253246" y="16224"/>
                  <a:pt x="253246" y="36178"/>
                </a:cubicBezTo>
                <a:lnTo>
                  <a:pt x="253246" y="72356"/>
                </a:lnTo>
                <a:lnTo>
                  <a:pt x="289424" y="72356"/>
                </a:lnTo>
                <a:cubicBezTo>
                  <a:pt x="309379" y="72356"/>
                  <a:pt x="325602" y="88580"/>
                  <a:pt x="325602" y="108534"/>
                </a:cubicBezTo>
                <a:lnTo>
                  <a:pt x="325602" y="253246"/>
                </a:lnTo>
                <a:cubicBezTo>
                  <a:pt x="325602" y="273201"/>
                  <a:pt x="309379" y="289424"/>
                  <a:pt x="289424" y="289424"/>
                </a:cubicBezTo>
                <a:lnTo>
                  <a:pt x="36178" y="289424"/>
                </a:lnTo>
                <a:cubicBezTo>
                  <a:pt x="16224" y="289424"/>
                  <a:pt x="0" y="273201"/>
                  <a:pt x="0" y="253246"/>
                </a:cubicBezTo>
                <a:lnTo>
                  <a:pt x="0" y="108534"/>
                </a:lnTo>
                <a:cubicBezTo>
                  <a:pt x="0" y="88580"/>
                  <a:pt x="16224" y="72356"/>
                  <a:pt x="36178" y="72356"/>
                </a:cubicBezTo>
                <a:lnTo>
                  <a:pt x="72356" y="72356"/>
                </a:lnTo>
                <a:lnTo>
                  <a:pt x="72356" y="36178"/>
                </a:lnTo>
                <a:close/>
                <a:moveTo>
                  <a:pt x="153757" y="198979"/>
                </a:moveTo>
                <a:cubicBezTo>
                  <a:pt x="143751" y="198979"/>
                  <a:pt x="135668" y="207063"/>
                  <a:pt x="135668" y="217068"/>
                </a:cubicBezTo>
                <a:lnTo>
                  <a:pt x="135668" y="262291"/>
                </a:lnTo>
                <a:lnTo>
                  <a:pt x="189935" y="262291"/>
                </a:lnTo>
                <a:lnTo>
                  <a:pt x="189935" y="217068"/>
                </a:lnTo>
                <a:cubicBezTo>
                  <a:pt x="189935" y="207063"/>
                  <a:pt x="181851" y="198979"/>
                  <a:pt x="171846" y="198979"/>
                </a:cubicBezTo>
                <a:lnTo>
                  <a:pt x="153757" y="198979"/>
                </a:lnTo>
                <a:close/>
                <a:moveTo>
                  <a:pt x="72356" y="208024"/>
                </a:moveTo>
                <a:lnTo>
                  <a:pt x="72356" y="189935"/>
                </a:lnTo>
                <a:cubicBezTo>
                  <a:pt x="72356" y="184960"/>
                  <a:pt x="68286" y="180890"/>
                  <a:pt x="63312" y="180890"/>
                </a:cubicBezTo>
                <a:lnTo>
                  <a:pt x="45223" y="180890"/>
                </a:lnTo>
                <a:cubicBezTo>
                  <a:pt x="40248" y="180890"/>
                  <a:pt x="36178" y="184960"/>
                  <a:pt x="36178" y="189935"/>
                </a:cubicBezTo>
                <a:lnTo>
                  <a:pt x="36178" y="208024"/>
                </a:lnTo>
                <a:cubicBezTo>
                  <a:pt x="36178" y="212998"/>
                  <a:pt x="40248" y="217068"/>
                  <a:pt x="45223" y="217068"/>
                </a:cubicBezTo>
                <a:lnTo>
                  <a:pt x="63312" y="217068"/>
                </a:lnTo>
                <a:cubicBezTo>
                  <a:pt x="68286" y="217068"/>
                  <a:pt x="72356" y="212998"/>
                  <a:pt x="72356" y="208024"/>
                </a:cubicBezTo>
                <a:close/>
                <a:moveTo>
                  <a:pt x="63312" y="144712"/>
                </a:moveTo>
                <a:cubicBezTo>
                  <a:pt x="68286" y="144712"/>
                  <a:pt x="72356" y="140642"/>
                  <a:pt x="72356" y="135668"/>
                </a:cubicBezTo>
                <a:lnTo>
                  <a:pt x="72356" y="117579"/>
                </a:lnTo>
                <a:cubicBezTo>
                  <a:pt x="72356" y="112604"/>
                  <a:pt x="68286" y="108534"/>
                  <a:pt x="63312" y="108534"/>
                </a:cubicBezTo>
                <a:lnTo>
                  <a:pt x="45223" y="108534"/>
                </a:lnTo>
                <a:cubicBezTo>
                  <a:pt x="40248" y="108534"/>
                  <a:pt x="36178" y="112604"/>
                  <a:pt x="36178" y="117579"/>
                </a:cubicBezTo>
                <a:lnTo>
                  <a:pt x="36178" y="135668"/>
                </a:lnTo>
                <a:cubicBezTo>
                  <a:pt x="36178" y="140642"/>
                  <a:pt x="40248" y="144712"/>
                  <a:pt x="45223" y="144712"/>
                </a:cubicBezTo>
                <a:lnTo>
                  <a:pt x="63312" y="144712"/>
                </a:lnTo>
                <a:close/>
                <a:moveTo>
                  <a:pt x="289424" y="208024"/>
                </a:moveTo>
                <a:lnTo>
                  <a:pt x="289424" y="189935"/>
                </a:lnTo>
                <a:cubicBezTo>
                  <a:pt x="289424" y="184960"/>
                  <a:pt x="285354" y="180890"/>
                  <a:pt x="280380" y="180890"/>
                </a:cubicBezTo>
                <a:lnTo>
                  <a:pt x="262291" y="180890"/>
                </a:lnTo>
                <a:cubicBezTo>
                  <a:pt x="257316" y="180890"/>
                  <a:pt x="253246" y="184960"/>
                  <a:pt x="253246" y="189935"/>
                </a:cubicBezTo>
                <a:lnTo>
                  <a:pt x="253246" y="208024"/>
                </a:lnTo>
                <a:cubicBezTo>
                  <a:pt x="253246" y="212998"/>
                  <a:pt x="257316" y="217068"/>
                  <a:pt x="262291" y="217068"/>
                </a:cubicBezTo>
                <a:lnTo>
                  <a:pt x="280380" y="217068"/>
                </a:lnTo>
                <a:cubicBezTo>
                  <a:pt x="285354" y="217068"/>
                  <a:pt x="289424" y="212998"/>
                  <a:pt x="289424" y="208024"/>
                </a:cubicBezTo>
                <a:close/>
                <a:moveTo>
                  <a:pt x="280380" y="144712"/>
                </a:moveTo>
                <a:cubicBezTo>
                  <a:pt x="285354" y="144712"/>
                  <a:pt x="289424" y="140642"/>
                  <a:pt x="289424" y="135668"/>
                </a:cubicBezTo>
                <a:lnTo>
                  <a:pt x="289424" y="117579"/>
                </a:lnTo>
                <a:cubicBezTo>
                  <a:pt x="289424" y="112604"/>
                  <a:pt x="285354" y="108534"/>
                  <a:pt x="280380" y="108534"/>
                </a:cubicBezTo>
                <a:lnTo>
                  <a:pt x="262291" y="108534"/>
                </a:lnTo>
                <a:cubicBezTo>
                  <a:pt x="257316" y="108534"/>
                  <a:pt x="253246" y="112604"/>
                  <a:pt x="253246" y="117579"/>
                </a:cubicBezTo>
                <a:lnTo>
                  <a:pt x="253246" y="135668"/>
                </a:lnTo>
                <a:cubicBezTo>
                  <a:pt x="253246" y="140642"/>
                  <a:pt x="257316" y="144712"/>
                  <a:pt x="262291" y="144712"/>
                </a:cubicBezTo>
                <a:lnTo>
                  <a:pt x="280380" y="144712"/>
                </a:lnTo>
                <a:close/>
                <a:moveTo>
                  <a:pt x="149234" y="58789"/>
                </a:moveTo>
                <a:lnTo>
                  <a:pt x="149234" y="76878"/>
                </a:lnTo>
                <a:lnTo>
                  <a:pt x="131145" y="76878"/>
                </a:lnTo>
                <a:cubicBezTo>
                  <a:pt x="126171" y="76878"/>
                  <a:pt x="122101" y="80948"/>
                  <a:pt x="122101" y="85923"/>
                </a:cubicBezTo>
                <a:lnTo>
                  <a:pt x="122101" y="94967"/>
                </a:lnTo>
                <a:cubicBezTo>
                  <a:pt x="122101" y="99942"/>
                  <a:pt x="126171" y="104012"/>
                  <a:pt x="131145" y="104012"/>
                </a:cubicBezTo>
                <a:lnTo>
                  <a:pt x="149234" y="104012"/>
                </a:lnTo>
                <a:lnTo>
                  <a:pt x="149234" y="122101"/>
                </a:lnTo>
                <a:cubicBezTo>
                  <a:pt x="149234" y="127075"/>
                  <a:pt x="153304" y="131145"/>
                  <a:pt x="158279" y="131145"/>
                </a:cubicBezTo>
                <a:lnTo>
                  <a:pt x="167323" y="131145"/>
                </a:lnTo>
                <a:cubicBezTo>
                  <a:pt x="172298" y="131145"/>
                  <a:pt x="176368" y="127075"/>
                  <a:pt x="176368" y="122101"/>
                </a:cubicBezTo>
                <a:lnTo>
                  <a:pt x="176368" y="104012"/>
                </a:lnTo>
                <a:lnTo>
                  <a:pt x="194457" y="104012"/>
                </a:lnTo>
                <a:cubicBezTo>
                  <a:pt x="199431" y="104012"/>
                  <a:pt x="203501" y="99942"/>
                  <a:pt x="203501" y="94967"/>
                </a:cubicBezTo>
                <a:lnTo>
                  <a:pt x="203501" y="85923"/>
                </a:lnTo>
                <a:cubicBezTo>
                  <a:pt x="203501" y="80948"/>
                  <a:pt x="199431" y="76878"/>
                  <a:pt x="194457" y="76878"/>
                </a:cubicBezTo>
                <a:lnTo>
                  <a:pt x="176368" y="76878"/>
                </a:lnTo>
                <a:lnTo>
                  <a:pt x="176368" y="58789"/>
                </a:lnTo>
                <a:cubicBezTo>
                  <a:pt x="176368" y="53815"/>
                  <a:pt x="172298" y="49745"/>
                  <a:pt x="167323" y="49745"/>
                </a:cubicBezTo>
                <a:lnTo>
                  <a:pt x="158279" y="49745"/>
                </a:lnTo>
                <a:cubicBezTo>
                  <a:pt x="153304" y="49745"/>
                  <a:pt x="149234" y="53815"/>
                  <a:pt x="149234" y="5878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679998" y="1350647"/>
            <a:ext cx="7235608" cy="385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7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门诊疾病预测案例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18217" y="1881258"/>
            <a:ext cx="7549151" cy="313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1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问题：</a:t>
            </a:r>
            <a:r>
              <a:rPr lang="en-US" sz="151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预测"打喷嚏的建筑工人"患感冒的概率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18217" y="2339513"/>
            <a:ext cx="7452677" cy="2942481"/>
          </a:xfrm>
          <a:custGeom>
            <a:avLst/>
            <a:gdLst/>
            <a:ahLst/>
            <a:cxnLst/>
            <a:rect l="l" t="t" r="r" b="b"/>
            <a:pathLst>
              <a:path w="7452677" h="2942481">
                <a:moveTo>
                  <a:pt x="96484" y="0"/>
                </a:moveTo>
                <a:lnTo>
                  <a:pt x="7356193" y="0"/>
                </a:lnTo>
                <a:cubicBezTo>
                  <a:pt x="7409479" y="0"/>
                  <a:pt x="7452677" y="43197"/>
                  <a:pt x="7452677" y="96484"/>
                </a:cubicBezTo>
                <a:lnTo>
                  <a:pt x="7452677" y="2845997"/>
                </a:lnTo>
                <a:cubicBezTo>
                  <a:pt x="7452677" y="2899283"/>
                  <a:pt x="7409479" y="2942481"/>
                  <a:pt x="7356193" y="2942481"/>
                </a:cubicBezTo>
                <a:lnTo>
                  <a:pt x="96484" y="2942481"/>
                </a:lnTo>
                <a:cubicBezTo>
                  <a:pt x="43197" y="2942481"/>
                  <a:pt x="0" y="2899283"/>
                  <a:pt x="0" y="2845997"/>
                </a:cubicBezTo>
                <a:lnTo>
                  <a:pt x="0" y="96484"/>
                </a:lnTo>
                <a:cubicBezTo>
                  <a:pt x="0" y="43197"/>
                  <a:pt x="43197" y="0"/>
                  <a:pt x="96484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462930" y="2484226"/>
            <a:ext cx="7259727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训练数据（6个样本）：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62930" y="2870125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症状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81959" y="2870125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职业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300989" y="2870125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疾病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62930" y="3207786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打喷嚏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81959" y="3207786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护士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300989" y="3207786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感冒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62930" y="3545448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打喷嚏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81959" y="3545448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农夫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300989" y="3545448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过敏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62930" y="3883110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头痛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881959" y="3883110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建筑工人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300989" y="3883110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脑震荡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62930" y="4220772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头痛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881959" y="4220772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建筑工人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300989" y="4220772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感冒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62930" y="4558433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打喷嚏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881959" y="4558433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教师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3300989" y="4558433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感冒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62930" y="4896095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头痛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881959" y="4896095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教师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300989" y="4896095"/>
            <a:ext cx="2411869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脑震荡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42336" y="5426706"/>
            <a:ext cx="7428558" cy="1157697"/>
          </a:xfrm>
          <a:custGeom>
            <a:avLst/>
            <a:gdLst/>
            <a:ahLst/>
            <a:cxnLst/>
            <a:rect l="l" t="t" r="r" b="b"/>
            <a:pathLst>
              <a:path w="7428558" h="1157697">
                <a:moveTo>
                  <a:pt x="48237" y="0"/>
                </a:moveTo>
                <a:lnTo>
                  <a:pt x="7332087" y="0"/>
                </a:lnTo>
                <a:cubicBezTo>
                  <a:pt x="7385366" y="0"/>
                  <a:pt x="7428558" y="43192"/>
                  <a:pt x="7428558" y="96471"/>
                </a:cubicBezTo>
                <a:lnTo>
                  <a:pt x="7428558" y="1061226"/>
                </a:lnTo>
                <a:cubicBezTo>
                  <a:pt x="7428558" y="1114506"/>
                  <a:pt x="7385366" y="1157697"/>
                  <a:pt x="7332087" y="1157697"/>
                </a:cubicBezTo>
                <a:lnTo>
                  <a:pt x="48237" y="1157697"/>
                </a:lnTo>
                <a:cubicBezTo>
                  <a:pt x="21597" y="1157697"/>
                  <a:pt x="0" y="1136101"/>
                  <a:pt x="0" y="110946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342336" y="5426706"/>
            <a:ext cx="48237" cy="1157697"/>
          </a:xfrm>
          <a:custGeom>
            <a:avLst/>
            <a:gdLst/>
            <a:ahLst/>
            <a:cxnLst/>
            <a:rect l="l" t="t" r="r" b="b"/>
            <a:pathLst>
              <a:path w="48237" h="1157697">
                <a:moveTo>
                  <a:pt x="48237" y="0"/>
                </a:moveTo>
                <a:lnTo>
                  <a:pt x="48237" y="0"/>
                </a:lnTo>
                <a:lnTo>
                  <a:pt x="48237" y="1157697"/>
                </a:lnTo>
                <a:lnTo>
                  <a:pt x="48237" y="1157697"/>
                </a:lnTo>
                <a:cubicBezTo>
                  <a:pt x="21597" y="1157697"/>
                  <a:pt x="0" y="1136101"/>
                  <a:pt x="0" y="110946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511167" y="5571418"/>
            <a:ext cx="721149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不使用平滑（零概率）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11167" y="5957318"/>
            <a:ext cx="7199430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P(感冒|打喷嚏,建筑工人) = 100%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11167" y="6246742"/>
            <a:ext cx="7187371" cy="19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因过敏类中无"建筑工人"，脑震荡类中无"打喷嚏"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42336" y="6729116"/>
            <a:ext cx="7428558" cy="1157697"/>
          </a:xfrm>
          <a:custGeom>
            <a:avLst/>
            <a:gdLst/>
            <a:ahLst/>
            <a:cxnLst/>
            <a:rect l="l" t="t" r="r" b="b"/>
            <a:pathLst>
              <a:path w="7428558" h="1157697">
                <a:moveTo>
                  <a:pt x="48237" y="0"/>
                </a:moveTo>
                <a:lnTo>
                  <a:pt x="7332087" y="0"/>
                </a:lnTo>
                <a:cubicBezTo>
                  <a:pt x="7385366" y="0"/>
                  <a:pt x="7428558" y="43192"/>
                  <a:pt x="7428558" y="96471"/>
                </a:cubicBezTo>
                <a:lnTo>
                  <a:pt x="7428558" y="1061226"/>
                </a:lnTo>
                <a:cubicBezTo>
                  <a:pt x="7428558" y="1114506"/>
                  <a:pt x="7385366" y="1157697"/>
                  <a:pt x="7332087" y="1157697"/>
                </a:cubicBezTo>
                <a:lnTo>
                  <a:pt x="48237" y="1157697"/>
                </a:lnTo>
                <a:cubicBezTo>
                  <a:pt x="21597" y="1157697"/>
                  <a:pt x="0" y="1136101"/>
                  <a:pt x="0" y="110946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342336" y="6729116"/>
            <a:ext cx="48237" cy="1157697"/>
          </a:xfrm>
          <a:custGeom>
            <a:avLst/>
            <a:gdLst/>
            <a:ahLst/>
            <a:cxnLst/>
            <a:rect l="l" t="t" r="r" b="b"/>
            <a:pathLst>
              <a:path w="48237" h="1157697">
                <a:moveTo>
                  <a:pt x="48237" y="0"/>
                </a:moveTo>
                <a:lnTo>
                  <a:pt x="48237" y="0"/>
                </a:lnTo>
                <a:lnTo>
                  <a:pt x="48237" y="1157697"/>
                </a:lnTo>
                <a:lnTo>
                  <a:pt x="48237" y="1157697"/>
                </a:lnTo>
                <a:cubicBezTo>
                  <a:pt x="21597" y="1157697"/>
                  <a:pt x="0" y="1136101"/>
                  <a:pt x="0" y="1109460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11167" y="6873828"/>
            <a:ext cx="7211490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使用平滑（α=1）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11167" y="7259727"/>
            <a:ext cx="7199430" cy="24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P(感冒|打喷嚏,建筑工人) = 63.16%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11167" y="7549151"/>
            <a:ext cx="7187371" cy="19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39" dirty="0">
                <a:solidFill>
                  <a:srgbClr val="E0E2E6">
                    <a:alpha val="6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更合理的概率估计，避免零概率问题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06493" y="8079763"/>
            <a:ext cx="15267134" cy="578849"/>
          </a:xfrm>
          <a:custGeom>
            <a:avLst/>
            <a:gdLst/>
            <a:ahLst/>
            <a:cxnLst/>
            <a:rect l="l" t="t" r="r" b="b"/>
            <a:pathLst>
              <a:path w="15267134" h="578849">
                <a:moveTo>
                  <a:pt x="48237" y="0"/>
                </a:moveTo>
                <a:lnTo>
                  <a:pt x="15170657" y="0"/>
                </a:lnTo>
                <a:cubicBezTo>
                  <a:pt x="15223939" y="0"/>
                  <a:pt x="15267134" y="43194"/>
                  <a:pt x="15267134" y="96477"/>
                </a:cubicBezTo>
                <a:lnTo>
                  <a:pt x="15267134" y="482372"/>
                </a:lnTo>
                <a:cubicBezTo>
                  <a:pt x="15267134" y="535655"/>
                  <a:pt x="15223939" y="578849"/>
                  <a:pt x="15170657" y="578849"/>
                </a:cubicBezTo>
                <a:lnTo>
                  <a:pt x="48237" y="578849"/>
                </a:lnTo>
                <a:cubicBezTo>
                  <a:pt x="21597" y="578849"/>
                  <a:pt x="0" y="557252"/>
                  <a:pt x="0" y="530611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506493" y="8079763"/>
            <a:ext cx="48237" cy="578849"/>
          </a:xfrm>
          <a:custGeom>
            <a:avLst/>
            <a:gdLst/>
            <a:ahLst/>
            <a:cxnLst/>
            <a:rect l="l" t="t" r="r" b="b"/>
            <a:pathLst>
              <a:path w="48237" h="578849">
                <a:moveTo>
                  <a:pt x="48237" y="0"/>
                </a:moveTo>
                <a:lnTo>
                  <a:pt x="48237" y="0"/>
                </a:lnTo>
                <a:lnTo>
                  <a:pt x="48237" y="578849"/>
                </a:lnTo>
                <a:lnTo>
                  <a:pt x="48237" y="578849"/>
                </a:lnTo>
                <a:cubicBezTo>
                  <a:pt x="21597" y="578849"/>
                  <a:pt x="0" y="557252"/>
                  <a:pt x="0" y="530611"/>
                </a:cubicBezTo>
                <a:lnTo>
                  <a:pt x="0" y="48237"/>
                </a:lnTo>
                <a:cubicBezTo>
                  <a:pt x="0" y="21614"/>
                  <a:pt x="21614" y="0"/>
                  <a:pt x="48237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723561" y="8272712"/>
            <a:ext cx="144712" cy="192950"/>
          </a:xfrm>
          <a:custGeom>
            <a:avLst/>
            <a:gdLst/>
            <a:ahLst/>
            <a:cxnLst/>
            <a:rect l="l" t="t" r="r" b="b"/>
            <a:pathLst>
              <a:path w="144712" h="192950">
                <a:moveTo>
                  <a:pt x="110381" y="144712"/>
                </a:moveTo>
                <a:cubicBezTo>
                  <a:pt x="113132" y="136308"/>
                  <a:pt x="118634" y="128696"/>
                  <a:pt x="124852" y="122139"/>
                </a:cubicBezTo>
                <a:cubicBezTo>
                  <a:pt x="137175" y="109175"/>
                  <a:pt x="144712" y="91651"/>
                  <a:pt x="144712" y="72356"/>
                </a:cubicBezTo>
                <a:cubicBezTo>
                  <a:pt x="144712" y="32409"/>
                  <a:pt x="112303" y="0"/>
                  <a:pt x="72356" y="0"/>
                </a:cubicBezTo>
                <a:cubicBezTo>
                  <a:pt x="32409" y="0"/>
                  <a:pt x="0" y="32409"/>
                  <a:pt x="0" y="72356"/>
                </a:cubicBezTo>
                <a:cubicBezTo>
                  <a:pt x="0" y="91651"/>
                  <a:pt x="7537" y="109175"/>
                  <a:pt x="19860" y="122139"/>
                </a:cubicBezTo>
                <a:cubicBezTo>
                  <a:pt x="26078" y="128696"/>
                  <a:pt x="31618" y="136308"/>
                  <a:pt x="34331" y="144712"/>
                </a:cubicBezTo>
                <a:lnTo>
                  <a:pt x="110343" y="144712"/>
                </a:lnTo>
                <a:close/>
                <a:moveTo>
                  <a:pt x="108534" y="162801"/>
                </a:moveTo>
                <a:lnTo>
                  <a:pt x="36178" y="162801"/>
                </a:lnTo>
                <a:lnTo>
                  <a:pt x="36178" y="168831"/>
                </a:lnTo>
                <a:cubicBezTo>
                  <a:pt x="36178" y="185488"/>
                  <a:pt x="49669" y="198979"/>
                  <a:pt x="66326" y="198979"/>
                </a:cubicBezTo>
                <a:lnTo>
                  <a:pt x="78386" y="198979"/>
                </a:lnTo>
                <a:cubicBezTo>
                  <a:pt x="95043" y="198979"/>
                  <a:pt x="108534" y="185488"/>
                  <a:pt x="108534" y="168831"/>
                </a:cubicBezTo>
                <a:lnTo>
                  <a:pt x="108534" y="162801"/>
                </a:lnTo>
                <a:close/>
                <a:moveTo>
                  <a:pt x="69341" y="42208"/>
                </a:moveTo>
                <a:cubicBezTo>
                  <a:pt x="54342" y="42208"/>
                  <a:pt x="42208" y="54342"/>
                  <a:pt x="42208" y="69341"/>
                </a:cubicBezTo>
                <a:cubicBezTo>
                  <a:pt x="42208" y="74353"/>
                  <a:pt x="38175" y="78386"/>
                  <a:pt x="33163" y="78386"/>
                </a:cubicBezTo>
                <a:cubicBezTo>
                  <a:pt x="28151" y="78386"/>
                  <a:pt x="24119" y="74353"/>
                  <a:pt x="24119" y="69341"/>
                </a:cubicBezTo>
                <a:cubicBezTo>
                  <a:pt x="24119" y="44356"/>
                  <a:pt x="44356" y="24119"/>
                  <a:pt x="69341" y="24119"/>
                </a:cubicBezTo>
                <a:cubicBezTo>
                  <a:pt x="74353" y="24119"/>
                  <a:pt x="78386" y="28151"/>
                  <a:pt x="78386" y="33163"/>
                </a:cubicBezTo>
                <a:cubicBezTo>
                  <a:pt x="78386" y="38175"/>
                  <a:pt x="74353" y="42208"/>
                  <a:pt x="69341" y="42208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061223" y="8224475"/>
            <a:ext cx="7742101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1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关键要点：</a:t>
            </a:r>
            <a:r>
              <a:rPr lang="en-US" sz="151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拉普拉斯平滑是朴素贝叶斯的标准技术，确保未见过的特征值不会导致概率为0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朴素贝叶斯：算法优缺点与优化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684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461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7625" y="95250"/>
                </a:moveTo>
                <a:cubicBezTo>
                  <a:pt x="58162" y="95250"/>
                  <a:pt x="66675" y="103763"/>
                  <a:pt x="66675" y="114300"/>
                </a:cubicBezTo>
                <a:lnTo>
                  <a:pt x="66675" y="266700"/>
                </a:lnTo>
                <a:cubicBezTo>
                  <a:pt x="66675" y="277237"/>
                  <a:pt x="58162" y="285750"/>
                  <a:pt x="47625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114300"/>
                </a:lnTo>
                <a:cubicBezTo>
                  <a:pt x="0" y="103763"/>
                  <a:pt x="8513" y="95250"/>
                  <a:pt x="19050" y="95250"/>
                </a:cubicBezTo>
                <a:lnTo>
                  <a:pt x="47625" y="95250"/>
                </a:lnTo>
                <a:close/>
                <a:moveTo>
                  <a:pt x="161092" y="9525"/>
                </a:moveTo>
                <a:cubicBezTo>
                  <a:pt x="177344" y="9525"/>
                  <a:pt x="190500" y="22681"/>
                  <a:pt x="190500" y="38933"/>
                </a:cubicBezTo>
                <a:lnTo>
                  <a:pt x="190500" y="41434"/>
                </a:lnTo>
                <a:cubicBezTo>
                  <a:pt x="190500" y="45482"/>
                  <a:pt x="189726" y="49530"/>
                  <a:pt x="188238" y="53280"/>
                </a:cubicBezTo>
                <a:lnTo>
                  <a:pt x="171450" y="95250"/>
                </a:lnTo>
                <a:lnTo>
                  <a:pt x="266700" y="95250"/>
                </a:lnTo>
                <a:cubicBezTo>
                  <a:pt x="282476" y="95250"/>
                  <a:pt x="295275" y="108049"/>
                  <a:pt x="295275" y="123825"/>
                </a:cubicBezTo>
                <a:cubicBezTo>
                  <a:pt x="295275" y="135553"/>
                  <a:pt x="288191" y="145613"/>
                  <a:pt x="278070" y="150019"/>
                </a:cubicBezTo>
                <a:cubicBezTo>
                  <a:pt x="288191" y="154424"/>
                  <a:pt x="295275" y="164485"/>
                  <a:pt x="295275" y="176212"/>
                </a:cubicBezTo>
                <a:cubicBezTo>
                  <a:pt x="295275" y="190143"/>
                  <a:pt x="285274" y="201751"/>
                  <a:pt x="272058" y="204252"/>
                </a:cubicBezTo>
                <a:cubicBezTo>
                  <a:pt x="274677" y="208598"/>
                  <a:pt x="276225" y="213658"/>
                  <a:pt x="276225" y="219075"/>
                </a:cubicBezTo>
                <a:cubicBezTo>
                  <a:pt x="276225" y="232291"/>
                  <a:pt x="267295" y="243364"/>
                  <a:pt x="255151" y="246638"/>
                </a:cubicBezTo>
                <a:cubicBezTo>
                  <a:pt x="256461" y="249912"/>
                  <a:pt x="257175" y="253484"/>
                  <a:pt x="257175" y="257175"/>
                </a:cubicBezTo>
                <a:cubicBezTo>
                  <a:pt x="257175" y="272951"/>
                  <a:pt x="244376" y="285750"/>
                  <a:pt x="228600" y="285750"/>
                </a:cubicBezTo>
                <a:lnTo>
                  <a:pt x="176272" y="285750"/>
                </a:lnTo>
                <a:cubicBezTo>
                  <a:pt x="154662" y="285750"/>
                  <a:pt x="133648" y="278368"/>
                  <a:pt x="116800" y="264855"/>
                </a:cubicBezTo>
                <a:lnTo>
                  <a:pt x="109537" y="259080"/>
                </a:lnTo>
                <a:cubicBezTo>
                  <a:pt x="100489" y="251877"/>
                  <a:pt x="95250" y="240923"/>
                  <a:pt x="95250" y="229314"/>
                </a:cubicBezTo>
                <a:lnTo>
                  <a:pt x="95250" y="118229"/>
                </a:lnTo>
                <a:cubicBezTo>
                  <a:pt x="95250" y="109359"/>
                  <a:pt x="97334" y="100608"/>
                  <a:pt x="101263" y="92690"/>
                </a:cubicBezTo>
                <a:lnTo>
                  <a:pt x="134719" y="25777"/>
                </a:lnTo>
                <a:cubicBezTo>
                  <a:pt x="139720" y="15835"/>
                  <a:pt x="149900" y="9525"/>
                  <a:pt x="161092" y="952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890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73100" y="2184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19200" y="2032000"/>
            <a:ext cx="580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计算高效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2489200"/>
            <a:ext cx="579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算法逻辑简单，易于实现，训练和预测速度快，适合大规模数据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000" y="2971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73100" y="3124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219200" y="2971800"/>
            <a:ext cx="580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处理高维数据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19200" y="3429000"/>
            <a:ext cx="579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对特征独立性的假设使其在高维数据（如文本数据）上表现良好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8000" y="391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73100" y="4064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19200" y="3911600"/>
            <a:ext cx="580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可处理缺失特征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19200" y="4368800"/>
            <a:ext cx="579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在概率计算中可对未观测特征做边缘化（等价于忽略该特征项）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693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28600" y="19050"/>
                </a:moveTo>
                <a:cubicBezTo>
                  <a:pt x="244376" y="19050"/>
                  <a:pt x="257175" y="31849"/>
                  <a:pt x="257175" y="47625"/>
                </a:cubicBezTo>
                <a:cubicBezTo>
                  <a:pt x="257175" y="51375"/>
                  <a:pt x="256401" y="54888"/>
                  <a:pt x="255151" y="58162"/>
                </a:cubicBezTo>
                <a:cubicBezTo>
                  <a:pt x="267295" y="61436"/>
                  <a:pt x="276225" y="72509"/>
                  <a:pt x="276225" y="85725"/>
                </a:cubicBezTo>
                <a:cubicBezTo>
                  <a:pt x="276225" y="91142"/>
                  <a:pt x="274677" y="96203"/>
                  <a:pt x="272058" y="100548"/>
                </a:cubicBezTo>
                <a:cubicBezTo>
                  <a:pt x="285274" y="103049"/>
                  <a:pt x="295275" y="114657"/>
                  <a:pt x="295275" y="128588"/>
                </a:cubicBezTo>
                <a:cubicBezTo>
                  <a:pt x="295275" y="140315"/>
                  <a:pt x="288191" y="150376"/>
                  <a:pt x="278070" y="154781"/>
                </a:cubicBezTo>
                <a:cubicBezTo>
                  <a:pt x="288191" y="159187"/>
                  <a:pt x="295275" y="169247"/>
                  <a:pt x="295275" y="180975"/>
                </a:cubicBezTo>
                <a:cubicBezTo>
                  <a:pt x="295275" y="196751"/>
                  <a:pt x="282476" y="209550"/>
                  <a:pt x="266700" y="209550"/>
                </a:cubicBezTo>
                <a:lnTo>
                  <a:pt x="171450" y="209550"/>
                </a:lnTo>
                <a:lnTo>
                  <a:pt x="188238" y="251460"/>
                </a:lnTo>
                <a:cubicBezTo>
                  <a:pt x="189726" y="255210"/>
                  <a:pt x="190500" y="259259"/>
                  <a:pt x="190500" y="263307"/>
                </a:cubicBezTo>
                <a:lnTo>
                  <a:pt x="190500" y="265807"/>
                </a:lnTo>
                <a:cubicBezTo>
                  <a:pt x="190500" y="282059"/>
                  <a:pt x="177344" y="295215"/>
                  <a:pt x="161092" y="295215"/>
                </a:cubicBezTo>
                <a:cubicBezTo>
                  <a:pt x="149959" y="295215"/>
                  <a:pt x="139779" y="288905"/>
                  <a:pt x="134779" y="278963"/>
                </a:cubicBezTo>
                <a:lnTo>
                  <a:pt x="101263" y="212110"/>
                </a:lnTo>
                <a:cubicBezTo>
                  <a:pt x="97274" y="204192"/>
                  <a:pt x="95250" y="195441"/>
                  <a:pt x="95250" y="186571"/>
                </a:cubicBezTo>
                <a:lnTo>
                  <a:pt x="95250" y="75486"/>
                </a:lnTo>
                <a:cubicBezTo>
                  <a:pt x="95250" y="63937"/>
                  <a:pt x="100548" y="52983"/>
                  <a:pt x="109537" y="45720"/>
                </a:cubicBezTo>
                <a:lnTo>
                  <a:pt x="116800" y="39945"/>
                </a:lnTo>
                <a:cubicBezTo>
                  <a:pt x="133707" y="26432"/>
                  <a:pt x="154662" y="19050"/>
                  <a:pt x="176272" y="19050"/>
                </a:cubicBezTo>
                <a:lnTo>
                  <a:pt x="228600" y="19050"/>
                </a:lnTo>
                <a:close/>
                <a:moveTo>
                  <a:pt x="47625" y="57150"/>
                </a:moveTo>
                <a:cubicBezTo>
                  <a:pt x="58162" y="57150"/>
                  <a:pt x="66675" y="65663"/>
                  <a:pt x="66675" y="76200"/>
                </a:cubicBezTo>
                <a:lnTo>
                  <a:pt x="66675" y="228600"/>
                </a:lnTo>
                <a:cubicBezTo>
                  <a:pt x="66675" y="239137"/>
                  <a:pt x="58162" y="247650"/>
                  <a:pt x="47625" y="247650"/>
                </a:cubicBezTo>
                <a:lnTo>
                  <a:pt x="19050" y="247650"/>
                </a:lnTo>
                <a:cubicBezTo>
                  <a:pt x="8513" y="247650"/>
                  <a:pt x="0" y="239137"/>
                  <a:pt x="0" y="228600"/>
                </a:cubicBezTo>
                <a:lnTo>
                  <a:pt x="0" y="76200"/>
                </a:lnTo>
                <a:cubicBezTo>
                  <a:pt x="0" y="65663"/>
                  <a:pt x="8513" y="57150"/>
                  <a:pt x="19050" y="57150"/>
                </a:cubicBezTo>
                <a:lnTo>
                  <a:pt x="47625" y="5715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7122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312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509000" y="21844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1868" y="29131"/>
                </a:moveTo>
                <a:cubicBezTo>
                  <a:pt x="16907" y="24170"/>
                  <a:pt x="8850" y="24170"/>
                  <a:pt x="3889" y="29131"/>
                </a:cubicBezTo>
                <a:cubicBezTo>
                  <a:pt x="-1072" y="34092"/>
                  <a:pt x="-1072" y="42148"/>
                  <a:pt x="3889" y="47109"/>
                </a:cubicBezTo>
                <a:lnTo>
                  <a:pt x="58420" y="101600"/>
                </a:lnTo>
                <a:lnTo>
                  <a:pt x="3929" y="156131"/>
                </a:lnTo>
                <a:cubicBezTo>
                  <a:pt x="-1032" y="161092"/>
                  <a:pt x="-1032" y="169148"/>
                  <a:pt x="3929" y="174109"/>
                </a:cubicBezTo>
                <a:cubicBezTo>
                  <a:pt x="8890" y="179070"/>
                  <a:pt x="16947" y="179070"/>
                  <a:pt x="21908" y="174109"/>
                </a:cubicBezTo>
                <a:lnTo>
                  <a:pt x="76398" y="119578"/>
                </a:lnTo>
                <a:lnTo>
                  <a:pt x="130929" y="174069"/>
                </a:lnTo>
                <a:cubicBezTo>
                  <a:pt x="135890" y="179030"/>
                  <a:pt x="143947" y="179030"/>
                  <a:pt x="148908" y="174069"/>
                </a:cubicBezTo>
                <a:cubicBezTo>
                  <a:pt x="153868" y="169108"/>
                  <a:pt x="153868" y="161052"/>
                  <a:pt x="148908" y="156091"/>
                </a:cubicBezTo>
                <a:lnTo>
                  <a:pt x="94377" y="101600"/>
                </a:lnTo>
                <a:lnTo>
                  <a:pt x="148868" y="47069"/>
                </a:lnTo>
                <a:cubicBezTo>
                  <a:pt x="153829" y="42108"/>
                  <a:pt x="153829" y="34052"/>
                  <a:pt x="148868" y="29091"/>
                </a:cubicBezTo>
                <a:cubicBezTo>
                  <a:pt x="143907" y="24130"/>
                  <a:pt x="135850" y="24130"/>
                  <a:pt x="130889" y="29091"/>
                </a:cubicBezTo>
                <a:lnTo>
                  <a:pt x="76398" y="83622"/>
                </a:lnTo>
                <a:lnTo>
                  <a:pt x="21868" y="29131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042400" y="2032000"/>
            <a:ext cx="560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独立性假设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42400" y="2489200"/>
            <a:ext cx="558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特征条件独立假设在现实中很难满足，这可能导致准确率下降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31200" y="2971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09000" y="31242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1868" y="29131"/>
                </a:moveTo>
                <a:cubicBezTo>
                  <a:pt x="16907" y="24170"/>
                  <a:pt x="8850" y="24170"/>
                  <a:pt x="3889" y="29131"/>
                </a:cubicBezTo>
                <a:cubicBezTo>
                  <a:pt x="-1072" y="34092"/>
                  <a:pt x="-1072" y="42148"/>
                  <a:pt x="3889" y="47109"/>
                </a:cubicBezTo>
                <a:lnTo>
                  <a:pt x="58420" y="101600"/>
                </a:lnTo>
                <a:lnTo>
                  <a:pt x="3929" y="156131"/>
                </a:lnTo>
                <a:cubicBezTo>
                  <a:pt x="-1032" y="161092"/>
                  <a:pt x="-1032" y="169148"/>
                  <a:pt x="3929" y="174109"/>
                </a:cubicBezTo>
                <a:cubicBezTo>
                  <a:pt x="8890" y="179070"/>
                  <a:pt x="16947" y="179070"/>
                  <a:pt x="21908" y="174109"/>
                </a:cubicBezTo>
                <a:lnTo>
                  <a:pt x="76398" y="119578"/>
                </a:lnTo>
                <a:lnTo>
                  <a:pt x="130929" y="174069"/>
                </a:lnTo>
                <a:cubicBezTo>
                  <a:pt x="135890" y="179030"/>
                  <a:pt x="143947" y="179030"/>
                  <a:pt x="148908" y="174069"/>
                </a:cubicBezTo>
                <a:cubicBezTo>
                  <a:pt x="153868" y="169108"/>
                  <a:pt x="153868" y="161052"/>
                  <a:pt x="148908" y="156091"/>
                </a:cubicBezTo>
                <a:lnTo>
                  <a:pt x="94377" y="101600"/>
                </a:lnTo>
                <a:lnTo>
                  <a:pt x="148868" y="47069"/>
                </a:lnTo>
                <a:cubicBezTo>
                  <a:pt x="153829" y="42108"/>
                  <a:pt x="153829" y="34052"/>
                  <a:pt x="148868" y="29091"/>
                </a:cubicBezTo>
                <a:cubicBezTo>
                  <a:pt x="143907" y="24130"/>
                  <a:pt x="135850" y="24130"/>
                  <a:pt x="130889" y="29091"/>
                </a:cubicBezTo>
                <a:lnTo>
                  <a:pt x="76398" y="83622"/>
                </a:lnTo>
                <a:lnTo>
                  <a:pt x="21868" y="29131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042400" y="2971800"/>
            <a:ext cx="654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零概率问题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42400" y="3429000"/>
            <a:ext cx="6527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如果训练集中某特征值未出现，概率计算会变为0，需使用拉普拉斯平滑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7050" y="4953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89000" y="4902200"/>
            <a:ext cx="1501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优化策略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3400" y="5511800"/>
            <a:ext cx="4851400" cy="2286000"/>
          </a:xfrm>
          <a:custGeom>
            <a:avLst/>
            <a:gdLst/>
            <a:ahLst/>
            <a:cxnLst/>
            <a:rect l="l" t="t" r="r" b="b"/>
            <a:pathLst>
              <a:path w="4851400" h="2286000">
                <a:moveTo>
                  <a:pt x="50800" y="0"/>
                </a:moveTo>
                <a:lnTo>
                  <a:pt x="4749810" y="0"/>
                </a:lnTo>
                <a:cubicBezTo>
                  <a:pt x="4805917" y="0"/>
                  <a:pt x="4851400" y="45483"/>
                  <a:pt x="4851400" y="101590"/>
                </a:cubicBezTo>
                <a:lnTo>
                  <a:pt x="4851400" y="2184410"/>
                </a:lnTo>
                <a:cubicBezTo>
                  <a:pt x="4851400" y="2240517"/>
                  <a:pt x="4805917" y="2286000"/>
                  <a:pt x="4749810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33400" y="5511800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62000" y="5715000"/>
            <a:ext cx="454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1 </a:t>
            </a:r>
            <a:r>
              <a:rPr lang="en-US" sz="2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6273800"/>
            <a:ext cx="452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由于假设特征独立，进行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相关性分析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去除高度相关特征可提升性能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985000"/>
            <a:ext cx="452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对连续变量进行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数据变换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（如Box-Cox）使其更符合模型假设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15000" y="5511800"/>
            <a:ext cx="4851400" cy="2286000"/>
          </a:xfrm>
          <a:custGeom>
            <a:avLst/>
            <a:gdLst/>
            <a:ahLst/>
            <a:cxnLst/>
            <a:rect l="l" t="t" r="r" b="b"/>
            <a:pathLst>
              <a:path w="4851400" h="2286000">
                <a:moveTo>
                  <a:pt x="50800" y="0"/>
                </a:moveTo>
                <a:lnTo>
                  <a:pt x="4749810" y="0"/>
                </a:lnTo>
                <a:cubicBezTo>
                  <a:pt x="4805917" y="0"/>
                  <a:pt x="4851400" y="45483"/>
                  <a:pt x="4851400" y="101590"/>
                </a:cubicBezTo>
                <a:lnTo>
                  <a:pt x="4851400" y="2184410"/>
                </a:lnTo>
                <a:cubicBezTo>
                  <a:pt x="4851400" y="2240517"/>
                  <a:pt x="4805917" y="2286000"/>
                  <a:pt x="4749810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715000" y="5511800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943600" y="5715000"/>
            <a:ext cx="454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1A1D21"/>
                </a:solidFill>
                <a:highlight>
                  <a:srgbClr val="E5A165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2 </a:t>
            </a:r>
            <a:r>
              <a:rPr lang="en-US" sz="2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平滑处理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43600" y="62738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引入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拉普拉斯平滑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（α=1）解决零概率问题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43600" y="66802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调整α值可控制概率分布的平滑程度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96600" y="5511800"/>
            <a:ext cx="4851400" cy="2286000"/>
          </a:xfrm>
          <a:custGeom>
            <a:avLst/>
            <a:gdLst/>
            <a:ahLst/>
            <a:cxnLst/>
            <a:rect l="l" t="t" r="r" b="b"/>
            <a:pathLst>
              <a:path w="4851400" h="2286000">
                <a:moveTo>
                  <a:pt x="50800" y="0"/>
                </a:moveTo>
                <a:lnTo>
                  <a:pt x="4749810" y="0"/>
                </a:lnTo>
                <a:cubicBezTo>
                  <a:pt x="4805917" y="0"/>
                  <a:pt x="4851400" y="45483"/>
                  <a:pt x="4851400" y="101590"/>
                </a:cubicBezTo>
                <a:lnTo>
                  <a:pt x="4851400" y="2184410"/>
                </a:lnTo>
                <a:cubicBezTo>
                  <a:pt x="4851400" y="2240517"/>
                  <a:pt x="4805917" y="2286000"/>
                  <a:pt x="4749810" y="2286000"/>
                </a:cubicBez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0896600" y="5511800"/>
            <a:ext cx="50800" cy="2286000"/>
          </a:xfrm>
          <a:custGeom>
            <a:avLst/>
            <a:gdLst/>
            <a:ahLst/>
            <a:cxnLst/>
            <a:rect l="l" t="t" r="r" b="b"/>
            <a:pathLst>
              <a:path w="50800" h="2286000">
                <a:moveTo>
                  <a:pt x="50800" y="0"/>
                </a:moveTo>
                <a:lnTo>
                  <a:pt x="50800" y="0"/>
                </a:lnTo>
                <a:lnTo>
                  <a:pt x="50800" y="2286000"/>
                </a:lnTo>
                <a:lnTo>
                  <a:pt x="50800" y="2286000"/>
                </a:lnTo>
                <a:cubicBezTo>
                  <a:pt x="22763" y="2286000"/>
                  <a:pt x="0" y="2263237"/>
                  <a:pt x="0" y="223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125200" y="5715000"/>
            <a:ext cx="4546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00" dirty="0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3 </a:t>
            </a:r>
            <a:r>
              <a:rPr lang="en-US" sz="2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类别不均衡处理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25200" y="6273800"/>
            <a:ext cx="452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当类别分布不均衡时，先验概率P(Y)可能主导预测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125200" y="6985000"/>
            <a:ext cx="452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通过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重采样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或调整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类别权重</a:t>
            </a: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提升少数类召回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818" y="435818"/>
            <a:ext cx="15580483" cy="435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88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朴素贝叶斯：鸢尾花分类与模型对比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35818" y="1002381"/>
            <a:ext cx="871635" cy="43582"/>
          </a:xfrm>
          <a:custGeom>
            <a:avLst/>
            <a:gdLst/>
            <a:ahLst/>
            <a:cxnLst/>
            <a:rect l="l" t="t" r="r" b="b"/>
            <a:pathLst>
              <a:path w="871635" h="43582">
                <a:moveTo>
                  <a:pt x="0" y="0"/>
                </a:moveTo>
                <a:lnTo>
                  <a:pt x="871635" y="0"/>
                </a:lnTo>
                <a:lnTo>
                  <a:pt x="871635" y="43582"/>
                </a:lnTo>
                <a:lnTo>
                  <a:pt x="0" y="43582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68504" y="1263871"/>
            <a:ext cx="261491" cy="261491"/>
          </a:xfrm>
          <a:custGeom>
            <a:avLst/>
            <a:gdLst/>
            <a:ahLst/>
            <a:cxnLst/>
            <a:rect l="l" t="t" r="r" b="b"/>
            <a:pathLst>
              <a:path w="261491" h="261491">
                <a:moveTo>
                  <a:pt x="261491" y="16343"/>
                </a:moveTo>
                <a:cubicBezTo>
                  <a:pt x="261491" y="71552"/>
                  <a:pt x="222369" y="117620"/>
                  <a:pt x="170377" y="128396"/>
                </a:cubicBezTo>
                <a:cubicBezTo>
                  <a:pt x="166343" y="98723"/>
                  <a:pt x="153013" y="72012"/>
                  <a:pt x="133350" y="51328"/>
                </a:cubicBezTo>
                <a:cubicBezTo>
                  <a:pt x="153830" y="20429"/>
                  <a:pt x="188917" y="0"/>
                  <a:pt x="228804" y="0"/>
                </a:cubicBezTo>
                <a:lnTo>
                  <a:pt x="245147" y="0"/>
                </a:lnTo>
                <a:cubicBezTo>
                  <a:pt x="254187" y="0"/>
                  <a:pt x="261491" y="7303"/>
                  <a:pt x="261491" y="16343"/>
                </a:cubicBezTo>
                <a:close/>
                <a:moveTo>
                  <a:pt x="0" y="49029"/>
                </a:moveTo>
                <a:cubicBezTo>
                  <a:pt x="0" y="39990"/>
                  <a:pt x="7303" y="32686"/>
                  <a:pt x="16343" y="32686"/>
                </a:cubicBezTo>
                <a:lnTo>
                  <a:pt x="32686" y="32686"/>
                </a:lnTo>
                <a:cubicBezTo>
                  <a:pt x="95863" y="32686"/>
                  <a:pt x="147088" y="83912"/>
                  <a:pt x="147088" y="147088"/>
                </a:cubicBezTo>
                <a:lnTo>
                  <a:pt x="147088" y="245147"/>
                </a:lnTo>
                <a:cubicBezTo>
                  <a:pt x="147088" y="254187"/>
                  <a:pt x="139785" y="261491"/>
                  <a:pt x="130745" y="261491"/>
                </a:cubicBezTo>
                <a:cubicBezTo>
                  <a:pt x="121705" y="261491"/>
                  <a:pt x="114402" y="254187"/>
                  <a:pt x="114402" y="245147"/>
                </a:cubicBezTo>
                <a:lnTo>
                  <a:pt x="114402" y="163432"/>
                </a:lnTo>
                <a:cubicBezTo>
                  <a:pt x="51226" y="163432"/>
                  <a:pt x="0" y="112206"/>
                  <a:pt x="0" y="49029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62681" y="1220290"/>
            <a:ext cx="7321737" cy="34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GaussianNB鸢尾花分类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1265" y="1705137"/>
            <a:ext cx="7506960" cy="3464751"/>
          </a:xfrm>
          <a:custGeom>
            <a:avLst/>
            <a:gdLst/>
            <a:ahLst/>
            <a:cxnLst/>
            <a:rect l="l" t="t" r="r" b="b"/>
            <a:pathLst>
              <a:path w="7506960" h="3464751">
                <a:moveTo>
                  <a:pt x="87173" y="0"/>
                </a:moveTo>
                <a:lnTo>
                  <a:pt x="7419787" y="0"/>
                </a:lnTo>
                <a:cubicBezTo>
                  <a:pt x="7467931" y="0"/>
                  <a:pt x="7506960" y="39029"/>
                  <a:pt x="7506960" y="87173"/>
                </a:cubicBezTo>
                <a:lnTo>
                  <a:pt x="7506960" y="3377578"/>
                </a:lnTo>
                <a:cubicBezTo>
                  <a:pt x="7506960" y="3425722"/>
                  <a:pt x="7467931" y="3464751"/>
                  <a:pt x="7419787" y="3464751"/>
                </a:cubicBezTo>
                <a:lnTo>
                  <a:pt x="87173" y="3464751"/>
                </a:lnTo>
                <a:cubicBezTo>
                  <a:pt x="39029" y="3464751"/>
                  <a:pt x="0" y="3425722"/>
                  <a:pt x="0" y="3377578"/>
                </a:cubicBezTo>
                <a:lnTo>
                  <a:pt x="0" y="87173"/>
                </a:lnTo>
                <a:cubicBezTo>
                  <a:pt x="0" y="39061"/>
                  <a:pt x="39061" y="0"/>
                  <a:pt x="8717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7458" y="1841330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GaussianNB训练与评估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7458" y="2070134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sklearn.naive_bayes import GaussianNB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77458" y="2298938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gnb = GaussianNB()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7458" y="2527743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gnb.fit(X_train, 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7458" y="2756547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y_pred = gnb.predict(X_test)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7458" y="2985351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accuracy = accuracy_score(y_test, y_pred)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7458" y="3301319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输出：准确率 0.98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7458" y="3617287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分类报告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7458" y="3846091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print(classification_report(y_test, y_pred))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7458" y="4118477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precision recall f1-score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7458" y="4347282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setosa 1.00 1.00 1.00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7458" y="4576086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versicolor 1.00 0.92 0.96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77458" y="4804890"/>
            <a:ext cx="7310842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1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virginica 0.93 1.00 0.96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8504" y="5393244"/>
            <a:ext cx="261491" cy="261491"/>
          </a:xfrm>
          <a:custGeom>
            <a:avLst/>
            <a:gdLst/>
            <a:ahLst/>
            <a:cxnLst/>
            <a:rect l="l" t="t" r="r" b="b"/>
            <a:pathLst>
              <a:path w="261491" h="261491">
                <a:moveTo>
                  <a:pt x="16343" y="16343"/>
                </a:moveTo>
                <a:cubicBezTo>
                  <a:pt x="25383" y="16343"/>
                  <a:pt x="32686" y="23647"/>
                  <a:pt x="32686" y="32686"/>
                </a:cubicBezTo>
                <a:lnTo>
                  <a:pt x="32686" y="204290"/>
                </a:lnTo>
                <a:cubicBezTo>
                  <a:pt x="32686" y="208784"/>
                  <a:pt x="36364" y="212461"/>
                  <a:pt x="40858" y="212461"/>
                </a:cubicBezTo>
                <a:lnTo>
                  <a:pt x="245147" y="212461"/>
                </a:lnTo>
                <a:cubicBezTo>
                  <a:pt x="254187" y="212461"/>
                  <a:pt x="261491" y="219764"/>
                  <a:pt x="261491" y="228804"/>
                </a:cubicBezTo>
                <a:cubicBezTo>
                  <a:pt x="261491" y="237844"/>
                  <a:pt x="254187" y="245147"/>
                  <a:pt x="245147" y="245147"/>
                </a:cubicBezTo>
                <a:lnTo>
                  <a:pt x="40858" y="245147"/>
                </a:lnTo>
                <a:cubicBezTo>
                  <a:pt x="18284" y="245147"/>
                  <a:pt x="0" y="226864"/>
                  <a:pt x="0" y="204290"/>
                </a:cubicBezTo>
                <a:lnTo>
                  <a:pt x="0" y="32686"/>
                </a:lnTo>
                <a:cubicBezTo>
                  <a:pt x="0" y="23647"/>
                  <a:pt x="7303" y="16343"/>
                  <a:pt x="16343" y="16343"/>
                </a:cubicBezTo>
                <a:close/>
                <a:moveTo>
                  <a:pt x="65373" y="49029"/>
                </a:moveTo>
                <a:cubicBezTo>
                  <a:pt x="65373" y="39990"/>
                  <a:pt x="72676" y="32686"/>
                  <a:pt x="81716" y="32686"/>
                </a:cubicBezTo>
                <a:lnTo>
                  <a:pt x="179775" y="32686"/>
                </a:lnTo>
                <a:cubicBezTo>
                  <a:pt x="188815" y="32686"/>
                  <a:pt x="196118" y="39990"/>
                  <a:pt x="196118" y="49029"/>
                </a:cubicBezTo>
                <a:cubicBezTo>
                  <a:pt x="196118" y="58069"/>
                  <a:pt x="188815" y="65373"/>
                  <a:pt x="179775" y="65373"/>
                </a:cubicBezTo>
                <a:lnTo>
                  <a:pt x="81716" y="65373"/>
                </a:lnTo>
                <a:cubicBezTo>
                  <a:pt x="72676" y="65373"/>
                  <a:pt x="65373" y="58069"/>
                  <a:pt x="65373" y="49029"/>
                </a:cubicBezTo>
                <a:close/>
                <a:moveTo>
                  <a:pt x="81716" y="89887"/>
                </a:moveTo>
                <a:lnTo>
                  <a:pt x="147088" y="89887"/>
                </a:lnTo>
                <a:cubicBezTo>
                  <a:pt x="156128" y="89887"/>
                  <a:pt x="163432" y="97191"/>
                  <a:pt x="163432" y="106231"/>
                </a:cubicBezTo>
                <a:cubicBezTo>
                  <a:pt x="163432" y="115270"/>
                  <a:pt x="156128" y="122574"/>
                  <a:pt x="147088" y="122574"/>
                </a:cubicBezTo>
                <a:lnTo>
                  <a:pt x="81716" y="122574"/>
                </a:lnTo>
                <a:cubicBezTo>
                  <a:pt x="72676" y="122574"/>
                  <a:pt x="65373" y="115270"/>
                  <a:pt x="65373" y="106231"/>
                </a:cubicBezTo>
                <a:cubicBezTo>
                  <a:pt x="65373" y="97191"/>
                  <a:pt x="72676" y="89887"/>
                  <a:pt x="81716" y="89887"/>
                </a:cubicBezTo>
                <a:close/>
                <a:moveTo>
                  <a:pt x="81716" y="147088"/>
                </a:moveTo>
                <a:lnTo>
                  <a:pt x="212461" y="147088"/>
                </a:lnTo>
                <a:cubicBezTo>
                  <a:pt x="221501" y="147088"/>
                  <a:pt x="228804" y="154392"/>
                  <a:pt x="228804" y="163432"/>
                </a:cubicBezTo>
                <a:cubicBezTo>
                  <a:pt x="228804" y="172471"/>
                  <a:pt x="221501" y="179775"/>
                  <a:pt x="212461" y="179775"/>
                </a:cubicBezTo>
                <a:lnTo>
                  <a:pt x="81716" y="179775"/>
                </a:lnTo>
                <a:cubicBezTo>
                  <a:pt x="72676" y="179775"/>
                  <a:pt x="65373" y="172471"/>
                  <a:pt x="65373" y="163432"/>
                </a:cubicBezTo>
                <a:cubicBezTo>
                  <a:pt x="65373" y="154392"/>
                  <a:pt x="72676" y="147088"/>
                  <a:pt x="81716" y="147088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62681" y="5349662"/>
            <a:ext cx="7321737" cy="34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混淆矩阵分析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35818" y="5829062"/>
            <a:ext cx="7517855" cy="2179088"/>
          </a:xfrm>
          <a:custGeom>
            <a:avLst/>
            <a:gdLst/>
            <a:ahLst/>
            <a:cxnLst/>
            <a:rect l="l" t="t" r="r" b="b"/>
            <a:pathLst>
              <a:path w="7517855" h="2179088">
                <a:moveTo>
                  <a:pt x="87164" y="0"/>
                </a:moveTo>
                <a:lnTo>
                  <a:pt x="7430692" y="0"/>
                </a:lnTo>
                <a:cubicBezTo>
                  <a:pt x="7478831" y="0"/>
                  <a:pt x="7517855" y="39024"/>
                  <a:pt x="7517855" y="87164"/>
                </a:cubicBezTo>
                <a:lnTo>
                  <a:pt x="7517855" y="2091925"/>
                </a:lnTo>
                <a:cubicBezTo>
                  <a:pt x="7517855" y="2140064"/>
                  <a:pt x="7478831" y="2179088"/>
                  <a:pt x="7430692" y="2179088"/>
                </a:cubicBezTo>
                <a:lnTo>
                  <a:pt x="87164" y="2179088"/>
                </a:lnTo>
                <a:cubicBezTo>
                  <a:pt x="39024" y="2179088"/>
                  <a:pt x="0" y="2140064"/>
                  <a:pt x="0" y="2091925"/>
                </a:cubicBezTo>
                <a:lnTo>
                  <a:pt x="0" y="87164"/>
                </a:lnTo>
                <a:cubicBezTo>
                  <a:pt x="0" y="39057"/>
                  <a:pt x="39057" y="0"/>
                  <a:pt x="87164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66563" y="5959807"/>
            <a:ext cx="7343528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混淆矩阵：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52735" y="6308461"/>
            <a:ext cx="1852225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77125" y="6308461"/>
            <a:ext cx="1852225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01516" y="6308461"/>
            <a:ext cx="1852225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Vi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563" y="6569952"/>
            <a:ext cx="1852225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390869" y="6569952"/>
            <a:ext cx="1775957" cy="305072"/>
          </a:xfrm>
          <a:custGeom>
            <a:avLst/>
            <a:gdLst/>
            <a:ahLst/>
            <a:cxnLst/>
            <a:rect l="l" t="t" r="r" b="b"/>
            <a:pathLst>
              <a:path w="1775957" h="305072">
                <a:moveTo>
                  <a:pt x="43583" y="0"/>
                </a:moveTo>
                <a:lnTo>
                  <a:pt x="1732374" y="0"/>
                </a:lnTo>
                <a:cubicBezTo>
                  <a:pt x="1756444" y="0"/>
                  <a:pt x="1775957" y="19513"/>
                  <a:pt x="1775957" y="43583"/>
                </a:cubicBezTo>
                <a:lnTo>
                  <a:pt x="1775957" y="261490"/>
                </a:lnTo>
                <a:cubicBezTo>
                  <a:pt x="1775957" y="285560"/>
                  <a:pt x="1756444" y="305072"/>
                  <a:pt x="1732374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352735" y="6569952"/>
            <a:ext cx="1852225" cy="305072"/>
          </a:xfrm>
          <a:prstGeom prst="rect">
            <a:avLst/>
          </a:prstGeom>
          <a:noFill/>
          <a:ln/>
        </p:spPr>
        <p:txBody>
          <a:bodyPr wrap="square" lIns="43582" tIns="43582" rIns="43582" bIns="43582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77125" y="6569952"/>
            <a:ext cx="1852225" cy="305072"/>
          </a:xfrm>
          <a:prstGeom prst="rect">
            <a:avLst/>
          </a:prstGeom>
          <a:noFill/>
          <a:ln/>
        </p:spPr>
        <p:txBody>
          <a:bodyPr wrap="square" lIns="43582" tIns="43582" rIns="43582" bIns="43582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01516" y="6569952"/>
            <a:ext cx="1852225" cy="305072"/>
          </a:xfrm>
          <a:prstGeom prst="rect">
            <a:avLst/>
          </a:prstGeom>
          <a:noFill/>
          <a:ln/>
        </p:spPr>
        <p:txBody>
          <a:bodyPr wrap="square" lIns="43582" tIns="43582" rIns="43582" bIns="43582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6563" y="6918606"/>
            <a:ext cx="1852225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352735" y="6918606"/>
            <a:ext cx="1852225" cy="305072"/>
          </a:xfrm>
          <a:prstGeom prst="rect">
            <a:avLst/>
          </a:prstGeom>
          <a:noFill/>
          <a:ln/>
        </p:spPr>
        <p:txBody>
          <a:bodyPr wrap="square" lIns="43582" tIns="43582" rIns="43582" bIns="43582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15259" y="6918606"/>
            <a:ext cx="1775957" cy="305072"/>
          </a:xfrm>
          <a:custGeom>
            <a:avLst/>
            <a:gdLst/>
            <a:ahLst/>
            <a:cxnLst/>
            <a:rect l="l" t="t" r="r" b="b"/>
            <a:pathLst>
              <a:path w="1775957" h="305072">
                <a:moveTo>
                  <a:pt x="43583" y="0"/>
                </a:moveTo>
                <a:lnTo>
                  <a:pt x="1732374" y="0"/>
                </a:lnTo>
                <a:cubicBezTo>
                  <a:pt x="1756444" y="0"/>
                  <a:pt x="1775957" y="19513"/>
                  <a:pt x="1775957" y="43583"/>
                </a:cubicBezTo>
                <a:lnTo>
                  <a:pt x="1775957" y="261490"/>
                </a:lnTo>
                <a:cubicBezTo>
                  <a:pt x="1775957" y="285560"/>
                  <a:pt x="1756444" y="305072"/>
                  <a:pt x="1732374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177125" y="6918606"/>
            <a:ext cx="1852225" cy="305072"/>
          </a:xfrm>
          <a:prstGeom prst="rect">
            <a:avLst/>
          </a:prstGeom>
          <a:noFill/>
          <a:ln/>
        </p:spPr>
        <p:txBody>
          <a:bodyPr wrap="square" lIns="43582" tIns="43582" rIns="43582" bIns="43582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01516" y="6918606"/>
            <a:ext cx="1852225" cy="305072"/>
          </a:xfrm>
          <a:prstGeom prst="rect">
            <a:avLst/>
          </a:prstGeom>
          <a:noFill/>
          <a:ln/>
        </p:spPr>
        <p:txBody>
          <a:bodyPr wrap="square" lIns="43582" tIns="43582" rIns="43582" bIns="43582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6563" y="7267260"/>
            <a:ext cx="1852225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Vi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352735" y="7267260"/>
            <a:ext cx="1852225" cy="305072"/>
          </a:xfrm>
          <a:prstGeom prst="rect">
            <a:avLst/>
          </a:prstGeom>
          <a:noFill/>
          <a:ln/>
        </p:spPr>
        <p:txBody>
          <a:bodyPr wrap="square" lIns="43582" tIns="43582" rIns="43582" bIns="43582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177125" y="7267260"/>
            <a:ext cx="1852225" cy="305072"/>
          </a:xfrm>
          <a:prstGeom prst="rect">
            <a:avLst/>
          </a:prstGeom>
          <a:noFill/>
          <a:ln/>
        </p:spPr>
        <p:txBody>
          <a:bodyPr wrap="square" lIns="43582" tIns="43582" rIns="43582" bIns="43582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039650" y="7267260"/>
            <a:ext cx="1775957" cy="305072"/>
          </a:xfrm>
          <a:custGeom>
            <a:avLst/>
            <a:gdLst/>
            <a:ahLst/>
            <a:cxnLst/>
            <a:rect l="l" t="t" r="r" b="b"/>
            <a:pathLst>
              <a:path w="1775957" h="305072">
                <a:moveTo>
                  <a:pt x="43583" y="0"/>
                </a:moveTo>
                <a:lnTo>
                  <a:pt x="1732374" y="0"/>
                </a:lnTo>
                <a:cubicBezTo>
                  <a:pt x="1756444" y="0"/>
                  <a:pt x="1775957" y="19513"/>
                  <a:pt x="1775957" y="43583"/>
                </a:cubicBezTo>
                <a:lnTo>
                  <a:pt x="1775957" y="261490"/>
                </a:lnTo>
                <a:cubicBezTo>
                  <a:pt x="1775957" y="285560"/>
                  <a:pt x="1756444" y="305072"/>
                  <a:pt x="1732374" y="305072"/>
                </a:cubicBezTo>
                <a:lnTo>
                  <a:pt x="43583" y="305072"/>
                </a:lnTo>
                <a:cubicBezTo>
                  <a:pt x="19513" y="305072"/>
                  <a:pt x="0" y="285560"/>
                  <a:pt x="0" y="261490"/>
                </a:cubicBezTo>
                <a:lnTo>
                  <a:pt x="0" y="43583"/>
                </a:lnTo>
                <a:cubicBezTo>
                  <a:pt x="0" y="19529"/>
                  <a:pt x="19529" y="0"/>
                  <a:pt x="43583" y="0"/>
                </a:cubicBezTo>
                <a:close/>
              </a:path>
            </a:pathLst>
          </a:custGeom>
          <a:solidFill>
            <a:srgbClr val="3D8F8A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001516" y="7267260"/>
            <a:ext cx="1852225" cy="305072"/>
          </a:xfrm>
          <a:prstGeom prst="rect">
            <a:avLst/>
          </a:prstGeom>
          <a:noFill/>
          <a:ln/>
        </p:spPr>
        <p:txBody>
          <a:bodyPr wrap="square" lIns="43582" tIns="43582" rIns="43582" bIns="43582" rtlCol="0" anchor="ctr"/>
          <a:lstStyle/>
          <a:p>
            <a:pPr algn="ctr">
              <a:lnSpc>
                <a:spcPct val="120000"/>
              </a:lnSpc>
            </a:pPr>
            <a:r>
              <a:rPr lang="en-US" sz="120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66563" y="7659496"/>
            <a:ext cx="7332633" cy="2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1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仅有一个</a:t>
            </a:r>
            <a:r>
              <a:rPr lang="en-US" sz="1201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versicolor</a:t>
            </a:r>
            <a:r>
              <a:rPr lang="en-US" sz="1201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被误判为</a:t>
            </a:r>
            <a:r>
              <a:rPr lang="en-US" sz="1201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virginica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332545" y="1263871"/>
            <a:ext cx="261491" cy="261491"/>
          </a:xfrm>
          <a:custGeom>
            <a:avLst/>
            <a:gdLst/>
            <a:ahLst/>
            <a:cxnLst/>
            <a:rect l="l" t="t" r="r" b="b"/>
            <a:pathLst>
              <a:path w="261491" h="261491">
                <a:moveTo>
                  <a:pt x="118743" y="2656"/>
                </a:moveTo>
                <a:cubicBezTo>
                  <a:pt x="126353" y="-868"/>
                  <a:pt x="135138" y="-868"/>
                  <a:pt x="142747" y="2656"/>
                </a:cubicBezTo>
                <a:lnTo>
                  <a:pt x="254392" y="54239"/>
                </a:lnTo>
                <a:cubicBezTo>
                  <a:pt x="258733" y="56231"/>
                  <a:pt x="261491" y="60572"/>
                  <a:pt x="261491" y="65373"/>
                </a:cubicBezTo>
                <a:cubicBezTo>
                  <a:pt x="261491" y="70173"/>
                  <a:pt x="258733" y="74515"/>
                  <a:pt x="254392" y="76506"/>
                </a:cubicBezTo>
                <a:lnTo>
                  <a:pt x="142747" y="128090"/>
                </a:lnTo>
                <a:cubicBezTo>
                  <a:pt x="135138" y="131614"/>
                  <a:pt x="126353" y="131614"/>
                  <a:pt x="118743" y="128090"/>
                </a:cubicBezTo>
                <a:lnTo>
                  <a:pt x="7099" y="76506"/>
                </a:lnTo>
                <a:cubicBezTo>
                  <a:pt x="2758" y="74464"/>
                  <a:pt x="0" y="70122"/>
                  <a:pt x="0" y="65373"/>
                </a:cubicBezTo>
                <a:cubicBezTo>
                  <a:pt x="0" y="60623"/>
                  <a:pt x="2758" y="56231"/>
                  <a:pt x="7099" y="54239"/>
                </a:cubicBezTo>
                <a:lnTo>
                  <a:pt x="118743" y="2656"/>
                </a:lnTo>
                <a:close/>
                <a:moveTo>
                  <a:pt x="24566" y="111542"/>
                </a:moveTo>
                <a:lnTo>
                  <a:pt x="108478" y="150306"/>
                </a:lnTo>
                <a:cubicBezTo>
                  <a:pt x="122625" y="156843"/>
                  <a:pt x="138917" y="156843"/>
                  <a:pt x="153064" y="150306"/>
                </a:cubicBezTo>
                <a:lnTo>
                  <a:pt x="236976" y="111542"/>
                </a:lnTo>
                <a:lnTo>
                  <a:pt x="254392" y="119612"/>
                </a:lnTo>
                <a:cubicBezTo>
                  <a:pt x="258733" y="121603"/>
                  <a:pt x="261491" y="125945"/>
                  <a:pt x="261491" y="130745"/>
                </a:cubicBezTo>
                <a:cubicBezTo>
                  <a:pt x="261491" y="135546"/>
                  <a:pt x="258733" y="139887"/>
                  <a:pt x="254392" y="141879"/>
                </a:cubicBezTo>
                <a:lnTo>
                  <a:pt x="142747" y="193462"/>
                </a:lnTo>
                <a:cubicBezTo>
                  <a:pt x="135138" y="196986"/>
                  <a:pt x="126353" y="196986"/>
                  <a:pt x="118743" y="193462"/>
                </a:cubicBezTo>
                <a:lnTo>
                  <a:pt x="7099" y="141879"/>
                </a:lnTo>
                <a:cubicBezTo>
                  <a:pt x="2758" y="139836"/>
                  <a:pt x="0" y="135495"/>
                  <a:pt x="0" y="130745"/>
                </a:cubicBezTo>
                <a:cubicBezTo>
                  <a:pt x="0" y="125996"/>
                  <a:pt x="2758" y="121603"/>
                  <a:pt x="7099" y="119612"/>
                </a:cubicBezTo>
                <a:lnTo>
                  <a:pt x="24515" y="111542"/>
                </a:lnTo>
                <a:close/>
                <a:moveTo>
                  <a:pt x="7099" y="184984"/>
                </a:moveTo>
                <a:lnTo>
                  <a:pt x="24515" y="176915"/>
                </a:lnTo>
                <a:lnTo>
                  <a:pt x="108427" y="215679"/>
                </a:lnTo>
                <a:cubicBezTo>
                  <a:pt x="122574" y="222216"/>
                  <a:pt x="138866" y="222216"/>
                  <a:pt x="153013" y="215679"/>
                </a:cubicBezTo>
                <a:lnTo>
                  <a:pt x="236925" y="176915"/>
                </a:lnTo>
                <a:lnTo>
                  <a:pt x="254340" y="184984"/>
                </a:lnTo>
                <a:cubicBezTo>
                  <a:pt x="258682" y="186976"/>
                  <a:pt x="261440" y="191317"/>
                  <a:pt x="261440" y="196118"/>
                </a:cubicBezTo>
                <a:cubicBezTo>
                  <a:pt x="261440" y="200919"/>
                  <a:pt x="258682" y="205260"/>
                  <a:pt x="254340" y="207252"/>
                </a:cubicBezTo>
                <a:lnTo>
                  <a:pt x="142696" y="258835"/>
                </a:lnTo>
                <a:cubicBezTo>
                  <a:pt x="135086" y="262359"/>
                  <a:pt x="126302" y="262359"/>
                  <a:pt x="118692" y="258835"/>
                </a:cubicBezTo>
                <a:lnTo>
                  <a:pt x="7099" y="207252"/>
                </a:lnTo>
                <a:cubicBezTo>
                  <a:pt x="2758" y="205209"/>
                  <a:pt x="0" y="200868"/>
                  <a:pt x="0" y="196118"/>
                </a:cubicBezTo>
                <a:cubicBezTo>
                  <a:pt x="0" y="191368"/>
                  <a:pt x="2758" y="186976"/>
                  <a:pt x="7099" y="18498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626722" y="1220290"/>
            <a:ext cx="7321737" cy="348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三种朴素贝叶斯变体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21649" y="1699689"/>
            <a:ext cx="7496064" cy="1525362"/>
          </a:xfrm>
          <a:custGeom>
            <a:avLst/>
            <a:gdLst/>
            <a:ahLst/>
            <a:cxnLst/>
            <a:rect l="l" t="t" r="r" b="b"/>
            <a:pathLst>
              <a:path w="7496064" h="1525362">
                <a:moveTo>
                  <a:pt x="43582" y="0"/>
                </a:moveTo>
                <a:lnTo>
                  <a:pt x="7408905" y="0"/>
                </a:lnTo>
                <a:cubicBezTo>
                  <a:pt x="7457042" y="0"/>
                  <a:pt x="7496064" y="39022"/>
                  <a:pt x="7496064" y="87159"/>
                </a:cubicBezTo>
                <a:lnTo>
                  <a:pt x="7496064" y="1438203"/>
                </a:lnTo>
                <a:cubicBezTo>
                  <a:pt x="7496064" y="1486339"/>
                  <a:pt x="7457042" y="1525362"/>
                  <a:pt x="7408905" y="1525362"/>
                </a:cubicBezTo>
                <a:lnTo>
                  <a:pt x="43582" y="1525362"/>
                </a:lnTo>
                <a:cubicBezTo>
                  <a:pt x="19512" y="1525362"/>
                  <a:pt x="0" y="1505850"/>
                  <a:pt x="0" y="1481780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321649" y="1699689"/>
            <a:ext cx="43582" cy="1525362"/>
          </a:xfrm>
          <a:custGeom>
            <a:avLst/>
            <a:gdLst/>
            <a:ahLst/>
            <a:cxnLst/>
            <a:rect l="l" t="t" r="r" b="b"/>
            <a:pathLst>
              <a:path w="43582" h="1525362">
                <a:moveTo>
                  <a:pt x="43582" y="0"/>
                </a:moveTo>
                <a:lnTo>
                  <a:pt x="43582" y="0"/>
                </a:lnTo>
                <a:lnTo>
                  <a:pt x="43582" y="1525362"/>
                </a:lnTo>
                <a:lnTo>
                  <a:pt x="43582" y="1525362"/>
                </a:lnTo>
                <a:cubicBezTo>
                  <a:pt x="19512" y="1525362"/>
                  <a:pt x="0" y="1505850"/>
                  <a:pt x="0" y="1481780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517767" y="1874016"/>
            <a:ext cx="435818" cy="435818"/>
          </a:xfrm>
          <a:custGeom>
            <a:avLst/>
            <a:gdLst/>
            <a:ahLst/>
            <a:cxnLst/>
            <a:rect l="l" t="t" r="r" b="b"/>
            <a:pathLst>
              <a:path w="435818" h="435818">
                <a:moveTo>
                  <a:pt x="217909" y="0"/>
                </a:moveTo>
                <a:lnTo>
                  <a:pt x="217909" y="0"/>
                </a:lnTo>
                <a:cubicBezTo>
                  <a:pt x="338257" y="0"/>
                  <a:pt x="435818" y="97561"/>
                  <a:pt x="435818" y="217909"/>
                </a:cubicBezTo>
                <a:lnTo>
                  <a:pt x="435818" y="217909"/>
                </a:lnTo>
                <a:cubicBezTo>
                  <a:pt x="435818" y="338257"/>
                  <a:pt x="338257" y="435818"/>
                  <a:pt x="217909" y="435818"/>
                </a:cubicBezTo>
                <a:lnTo>
                  <a:pt x="217909" y="435818"/>
                </a:lnTo>
                <a:cubicBezTo>
                  <a:pt x="97561" y="435818"/>
                  <a:pt x="0" y="338257"/>
                  <a:pt x="0" y="217909"/>
                </a:cubicBezTo>
                <a:lnTo>
                  <a:pt x="0" y="217909"/>
                </a:lnTo>
                <a:cubicBezTo>
                  <a:pt x="0" y="97561"/>
                  <a:pt x="97561" y="0"/>
                  <a:pt x="21790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615826" y="1939389"/>
            <a:ext cx="239700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4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G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84330" y="1939389"/>
            <a:ext cx="1318349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GaussianNB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517767" y="2440579"/>
            <a:ext cx="7212783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适用：</a:t>
            </a:r>
            <a:r>
              <a:rPr lang="en-US" sz="137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连续特征，假设特征在每个类别下服从高斯分布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17767" y="2789233"/>
            <a:ext cx="7212783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场景：</a:t>
            </a:r>
            <a:r>
              <a:rPr lang="en-US" sz="137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鸢尾花、房价预测等连续数值特征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21649" y="3355796"/>
            <a:ext cx="7496064" cy="1525362"/>
          </a:xfrm>
          <a:custGeom>
            <a:avLst/>
            <a:gdLst/>
            <a:ahLst/>
            <a:cxnLst/>
            <a:rect l="l" t="t" r="r" b="b"/>
            <a:pathLst>
              <a:path w="7496064" h="1525362">
                <a:moveTo>
                  <a:pt x="43582" y="0"/>
                </a:moveTo>
                <a:lnTo>
                  <a:pt x="7408905" y="0"/>
                </a:lnTo>
                <a:cubicBezTo>
                  <a:pt x="7457042" y="0"/>
                  <a:pt x="7496064" y="39022"/>
                  <a:pt x="7496064" y="87159"/>
                </a:cubicBezTo>
                <a:lnTo>
                  <a:pt x="7496064" y="1438203"/>
                </a:lnTo>
                <a:cubicBezTo>
                  <a:pt x="7496064" y="1486339"/>
                  <a:pt x="7457042" y="1525362"/>
                  <a:pt x="7408905" y="1525362"/>
                </a:cubicBezTo>
                <a:lnTo>
                  <a:pt x="43582" y="1525362"/>
                </a:lnTo>
                <a:cubicBezTo>
                  <a:pt x="19512" y="1525362"/>
                  <a:pt x="0" y="1505850"/>
                  <a:pt x="0" y="1481780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321649" y="3355796"/>
            <a:ext cx="43582" cy="1525362"/>
          </a:xfrm>
          <a:custGeom>
            <a:avLst/>
            <a:gdLst/>
            <a:ahLst/>
            <a:cxnLst/>
            <a:rect l="l" t="t" r="r" b="b"/>
            <a:pathLst>
              <a:path w="43582" h="1525362">
                <a:moveTo>
                  <a:pt x="43582" y="0"/>
                </a:moveTo>
                <a:lnTo>
                  <a:pt x="43582" y="0"/>
                </a:lnTo>
                <a:lnTo>
                  <a:pt x="43582" y="1525362"/>
                </a:lnTo>
                <a:lnTo>
                  <a:pt x="43582" y="1525362"/>
                </a:lnTo>
                <a:cubicBezTo>
                  <a:pt x="19512" y="1525362"/>
                  <a:pt x="0" y="1505850"/>
                  <a:pt x="0" y="1481780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517767" y="3530123"/>
            <a:ext cx="435818" cy="435818"/>
          </a:xfrm>
          <a:custGeom>
            <a:avLst/>
            <a:gdLst/>
            <a:ahLst/>
            <a:cxnLst/>
            <a:rect l="l" t="t" r="r" b="b"/>
            <a:pathLst>
              <a:path w="435818" h="435818">
                <a:moveTo>
                  <a:pt x="217909" y="0"/>
                </a:moveTo>
                <a:lnTo>
                  <a:pt x="217909" y="0"/>
                </a:lnTo>
                <a:cubicBezTo>
                  <a:pt x="338257" y="0"/>
                  <a:pt x="435818" y="97561"/>
                  <a:pt x="435818" y="217909"/>
                </a:cubicBezTo>
                <a:lnTo>
                  <a:pt x="435818" y="217909"/>
                </a:lnTo>
                <a:cubicBezTo>
                  <a:pt x="435818" y="338257"/>
                  <a:pt x="338257" y="435818"/>
                  <a:pt x="217909" y="435818"/>
                </a:cubicBezTo>
                <a:lnTo>
                  <a:pt x="217909" y="435818"/>
                </a:lnTo>
                <a:cubicBezTo>
                  <a:pt x="97561" y="435818"/>
                  <a:pt x="0" y="338257"/>
                  <a:pt x="0" y="217909"/>
                </a:cubicBezTo>
                <a:lnTo>
                  <a:pt x="0" y="217909"/>
                </a:lnTo>
                <a:cubicBezTo>
                  <a:pt x="0" y="97561"/>
                  <a:pt x="97561" y="0"/>
                  <a:pt x="217909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99483" y="3595496"/>
            <a:ext cx="272386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4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M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84330" y="3595496"/>
            <a:ext cx="1579839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MultinomialNB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517767" y="4096686"/>
            <a:ext cx="7212783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适用：</a:t>
            </a:r>
            <a:r>
              <a:rPr lang="en-US" sz="137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离散特征（词频、计数），服从多项式分布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17767" y="4445340"/>
            <a:ext cx="7212783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场景：</a:t>
            </a:r>
            <a:r>
              <a:rPr lang="en-US" sz="137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文本分类、垃圾邮件过滤（词袋模型）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21649" y="5011903"/>
            <a:ext cx="7496064" cy="1525362"/>
          </a:xfrm>
          <a:custGeom>
            <a:avLst/>
            <a:gdLst/>
            <a:ahLst/>
            <a:cxnLst/>
            <a:rect l="l" t="t" r="r" b="b"/>
            <a:pathLst>
              <a:path w="7496064" h="1525362">
                <a:moveTo>
                  <a:pt x="43582" y="0"/>
                </a:moveTo>
                <a:lnTo>
                  <a:pt x="7408905" y="0"/>
                </a:lnTo>
                <a:cubicBezTo>
                  <a:pt x="7457042" y="0"/>
                  <a:pt x="7496064" y="39022"/>
                  <a:pt x="7496064" y="87159"/>
                </a:cubicBezTo>
                <a:lnTo>
                  <a:pt x="7496064" y="1438203"/>
                </a:lnTo>
                <a:cubicBezTo>
                  <a:pt x="7496064" y="1486339"/>
                  <a:pt x="7457042" y="1525362"/>
                  <a:pt x="7408905" y="1525362"/>
                </a:cubicBezTo>
                <a:lnTo>
                  <a:pt x="43582" y="1525362"/>
                </a:lnTo>
                <a:cubicBezTo>
                  <a:pt x="19512" y="1525362"/>
                  <a:pt x="0" y="1505850"/>
                  <a:pt x="0" y="1481780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321649" y="5011903"/>
            <a:ext cx="43582" cy="1525362"/>
          </a:xfrm>
          <a:custGeom>
            <a:avLst/>
            <a:gdLst/>
            <a:ahLst/>
            <a:cxnLst/>
            <a:rect l="l" t="t" r="r" b="b"/>
            <a:pathLst>
              <a:path w="43582" h="1525362">
                <a:moveTo>
                  <a:pt x="43582" y="0"/>
                </a:moveTo>
                <a:lnTo>
                  <a:pt x="43582" y="0"/>
                </a:lnTo>
                <a:lnTo>
                  <a:pt x="43582" y="1525362"/>
                </a:lnTo>
                <a:lnTo>
                  <a:pt x="43582" y="1525362"/>
                </a:lnTo>
                <a:cubicBezTo>
                  <a:pt x="19512" y="1525362"/>
                  <a:pt x="0" y="1505850"/>
                  <a:pt x="0" y="1481780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8517767" y="5186231"/>
            <a:ext cx="435818" cy="435818"/>
          </a:xfrm>
          <a:custGeom>
            <a:avLst/>
            <a:gdLst/>
            <a:ahLst/>
            <a:cxnLst/>
            <a:rect l="l" t="t" r="r" b="b"/>
            <a:pathLst>
              <a:path w="435818" h="435818">
                <a:moveTo>
                  <a:pt x="217909" y="0"/>
                </a:moveTo>
                <a:lnTo>
                  <a:pt x="217909" y="0"/>
                </a:lnTo>
                <a:cubicBezTo>
                  <a:pt x="338257" y="0"/>
                  <a:pt x="435818" y="97561"/>
                  <a:pt x="435818" y="217909"/>
                </a:cubicBezTo>
                <a:lnTo>
                  <a:pt x="435818" y="217909"/>
                </a:lnTo>
                <a:cubicBezTo>
                  <a:pt x="435818" y="338257"/>
                  <a:pt x="338257" y="435818"/>
                  <a:pt x="217909" y="435818"/>
                </a:cubicBezTo>
                <a:lnTo>
                  <a:pt x="217909" y="435818"/>
                </a:lnTo>
                <a:cubicBezTo>
                  <a:pt x="97561" y="435818"/>
                  <a:pt x="0" y="338257"/>
                  <a:pt x="0" y="217909"/>
                </a:cubicBezTo>
                <a:lnTo>
                  <a:pt x="0" y="217909"/>
                </a:lnTo>
                <a:cubicBezTo>
                  <a:pt x="0" y="97561"/>
                  <a:pt x="97561" y="0"/>
                  <a:pt x="21790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621274" y="5251604"/>
            <a:ext cx="228804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44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084330" y="5251603"/>
            <a:ext cx="1296558" cy="30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6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BernoulliNB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517767" y="5752794"/>
            <a:ext cx="7212783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适用：</a:t>
            </a:r>
            <a:r>
              <a:rPr lang="en-US" sz="137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二值特征（0/1），服从伯努利分布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517767" y="6101448"/>
            <a:ext cx="7212783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场景：</a:t>
            </a:r>
            <a:r>
              <a:rPr lang="en-US" sz="137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文本分类（词出现与否）、二值图像分类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57609" y="8182477"/>
            <a:ext cx="15362574" cy="522981"/>
          </a:xfrm>
          <a:custGeom>
            <a:avLst/>
            <a:gdLst/>
            <a:ahLst/>
            <a:cxnLst/>
            <a:rect l="l" t="t" r="r" b="b"/>
            <a:pathLst>
              <a:path w="15362574" h="522981">
                <a:moveTo>
                  <a:pt x="43582" y="0"/>
                </a:moveTo>
                <a:lnTo>
                  <a:pt x="15275408" y="0"/>
                </a:lnTo>
                <a:cubicBezTo>
                  <a:pt x="15323549" y="0"/>
                  <a:pt x="15362574" y="39025"/>
                  <a:pt x="15362574" y="87165"/>
                </a:cubicBezTo>
                <a:lnTo>
                  <a:pt x="15362574" y="435816"/>
                </a:lnTo>
                <a:cubicBezTo>
                  <a:pt x="15362574" y="483956"/>
                  <a:pt x="15323549" y="522981"/>
                  <a:pt x="15275408" y="522981"/>
                </a:cubicBezTo>
                <a:lnTo>
                  <a:pt x="43582" y="522981"/>
                </a:lnTo>
                <a:cubicBezTo>
                  <a:pt x="19512" y="522981"/>
                  <a:pt x="0" y="503469"/>
                  <a:pt x="0" y="479399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457609" y="8182477"/>
            <a:ext cx="43582" cy="522981"/>
          </a:xfrm>
          <a:custGeom>
            <a:avLst/>
            <a:gdLst/>
            <a:ahLst/>
            <a:cxnLst/>
            <a:rect l="l" t="t" r="r" b="b"/>
            <a:pathLst>
              <a:path w="43582" h="522981">
                <a:moveTo>
                  <a:pt x="43582" y="0"/>
                </a:moveTo>
                <a:lnTo>
                  <a:pt x="43582" y="0"/>
                </a:lnTo>
                <a:lnTo>
                  <a:pt x="43582" y="522981"/>
                </a:lnTo>
                <a:lnTo>
                  <a:pt x="43582" y="522981"/>
                </a:lnTo>
                <a:cubicBezTo>
                  <a:pt x="19512" y="522981"/>
                  <a:pt x="0" y="503469"/>
                  <a:pt x="0" y="479399"/>
                </a:cubicBezTo>
                <a:lnTo>
                  <a:pt x="0" y="43582"/>
                </a:lnTo>
                <a:cubicBezTo>
                  <a:pt x="0" y="19528"/>
                  <a:pt x="19528" y="0"/>
                  <a:pt x="43582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653727" y="8356804"/>
            <a:ext cx="130745" cy="174327"/>
          </a:xfrm>
          <a:custGeom>
            <a:avLst/>
            <a:gdLst/>
            <a:ahLst/>
            <a:cxnLst/>
            <a:rect l="l" t="t" r="r" b="b"/>
            <a:pathLst>
              <a:path w="130745" h="174327">
                <a:moveTo>
                  <a:pt x="99727" y="130745"/>
                </a:moveTo>
                <a:cubicBezTo>
                  <a:pt x="102213" y="123153"/>
                  <a:pt x="107184" y="116275"/>
                  <a:pt x="112802" y="110350"/>
                </a:cubicBezTo>
                <a:cubicBezTo>
                  <a:pt x="123936" y="98638"/>
                  <a:pt x="130745" y="82805"/>
                  <a:pt x="130745" y="65373"/>
                </a:cubicBezTo>
                <a:cubicBezTo>
                  <a:pt x="130745" y="29282"/>
                  <a:pt x="101464" y="0"/>
                  <a:pt x="65373" y="0"/>
                </a:cubicBezTo>
                <a:cubicBezTo>
                  <a:pt x="29282" y="0"/>
                  <a:pt x="0" y="29282"/>
                  <a:pt x="0" y="65373"/>
                </a:cubicBezTo>
                <a:cubicBezTo>
                  <a:pt x="0" y="82805"/>
                  <a:pt x="6810" y="98638"/>
                  <a:pt x="17943" y="110350"/>
                </a:cubicBezTo>
                <a:cubicBezTo>
                  <a:pt x="23561" y="116275"/>
                  <a:pt x="28566" y="123153"/>
                  <a:pt x="31018" y="130745"/>
                </a:cubicBezTo>
                <a:lnTo>
                  <a:pt x="99693" y="130745"/>
                </a:lnTo>
                <a:close/>
                <a:moveTo>
                  <a:pt x="98059" y="147088"/>
                </a:moveTo>
                <a:lnTo>
                  <a:pt x="32686" y="147088"/>
                </a:lnTo>
                <a:lnTo>
                  <a:pt x="32686" y="152536"/>
                </a:lnTo>
                <a:cubicBezTo>
                  <a:pt x="32686" y="167586"/>
                  <a:pt x="44876" y="179775"/>
                  <a:pt x="59925" y="179775"/>
                </a:cubicBezTo>
                <a:lnTo>
                  <a:pt x="70820" y="179775"/>
                </a:lnTo>
                <a:cubicBezTo>
                  <a:pt x="85870" y="179775"/>
                  <a:pt x="98059" y="167586"/>
                  <a:pt x="98059" y="152536"/>
                </a:cubicBezTo>
                <a:lnTo>
                  <a:pt x="98059" y="147088"/>
                </a:lnTo>
                <a:close/>
                <a:moveTo>
                  <a:pt x="62649" y="38134"/>
                </a:moveTo>
                <a:cubicBezTo>
                  <a:pt x="49098" y="38134"/>
                  <a:pt x="38134" y="49098"/>
                  <a:pt x="38134" y="62649"/>
                </a:cubicBezTo>
                <a:cubicBezTo>
                  <a:pt x="38134" y="67177"/>
                  <a:pt x="34491" y="70820"/>
                  <a:pt x="29962" y="70820"/>
                </a:cubicBezTo>
                <a:cubicBezTo>
                  <a:pt x="25434" y="70820"/>
                  <a:pt x="21791" y="67177"/>
                  <a:pt x="21791" y="62649"/>
                </a:cubicBezTo>
                <a:cubicBezTo>
                  <a:pt x="21791" y="40075"/>
                  <a:pt x="40075" y="21791"/>
                  <a:pt x="62649" y="21791"/>
                </a:cubicBezTo>
                <a:cubicBezTo>
                  <a:pt x="67177" y="21791"/>
                  <a:pt x="70820" y="25434"/>
                  <a:pt x="70820" y="29962"/>
                </a:cubicBezTo>
                <a:cubicBezTo>
                  <a:pt x="70820" y="34491"/>
                  <a:pt x="67177" y="38134"/>
                  <a:pt x="62649" y="38134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958799" y="8313223"/>
            <a:ext cx="6809651" cy="261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核心洞察：</a:t>
            </a:r>
            <a:r>
              <a:rPr lang="en-US" sz="137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GaussianNB</a:t>
            </a:r>
            <a:r>
              <a:rPr lang="en-US" sz="137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假设特征呈正态分布，更适用于连续型特征且分布较平滑的数据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朴素贝叶斯：思考与扩展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23333" y="973667"/>
            <a:ext cx="846667" cy="42333"/>
          </a:xfrm>
          <a:custGeom>
            <a:avLst/>
            <a:gdLst/>
            <a:ahLst/>
            <a:cxnLst/>
            <a:rect l="l" t="t" r="r" b="b"/>
            <a:pathLst>
              <a:path w="846667" h="42333">
                <a:moveTo>
                  <a:pt x="0" y="0"/>
                </a:moveTo>
                <a:lnTo>
                  <a:pt x="846667" y="0"/>
                </a:lnTo>
                <a:lnTo>
                  <a:pt x="846667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39208" y="1227667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0833" y="1185333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核心代码片段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698625"/>
            <a:ext cx="7524750" cy="4434417"/>
          </a:xfrm>
          <a:custGeom>
            <a:avLst/>
            <a:gdLst/>
            <a:ahLst/>
            <a:cxnLst/>
            <a:rect l="l" t="t" r="r" b="b"/>
            <a:pathLst>
              <a:path w="7524750" h="4434417">
                <a:moveTo>
                  <a:pt x="84653" y="0"/>
                </a:moveTo>
                <a:lnTo>
                  <a:pt x="7440097" y="0"/>
                </a:lnTo>
                <a:cubicBezTo>
                  <a:pt x="7486850" y="0"/>
                  <a:pt x="7524750" y="37900"/>
                  <a:pt x="7524750" y="84653"/>
                </a:cubicBezTo>
                <a:lnTo>
                  <a:pt x="7524750" y="4349764"/>
                </a:lnTo>
                <a:cubicBezTo>
                  <a:pt x="7524750" y="4396516"/>
                  <a:pt x="7486850" y="4434417"/>
                  <a:pt x="7440097" y="4434417"/>
                </a:cubicBezTo>
                <a:lnTo>
                  <a:pt x="84653" y="4434417"/>
                </a:lnTo>
                <a:cubicBezTo>
                  <a:pt x="37900" y="4434417"/>
                  <a:pt x="0" y="4396516"/>
                  <a:pt x="0" y="4349764"/>
                </a:cubicBezTo>
                <a:lnTo>
                  <a:pt x="0" y="84653"/>
                </a:lnTo>
                <a:cubicBezTo>
                  <a:pt x="0" y="37900"/>
                  <a:pt x="37900" y="0"/>
                  <a:pt x="8465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0917" y="18309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特征相关性分析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0917" y="20531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import pandas as pd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0917" y="22754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df = pd.DataFrame(X)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0917" y="24976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corr_matrix = df.corr()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0917" y="27199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print(corr_matrix)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0917" y="3026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平滑参数α敏感性实验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0917" y="3249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alphas = [0.1, 0.5, 1.0, 2.0, 5.0]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0917" y="3471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for alpha in alphas: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0917" y="3693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nb = MultinomialNB(alpha=alpha)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0917" y="3915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nb.fit(X_train, 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0917" y="4138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score = nb.score(X_test, y_test)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0917" y="4360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print(f"alpha={alpha}: {score:.4f}")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0917" y="46672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概率校准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0917" y="48895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sklearn.calibration import CalibratedClassifierCV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0917" y="51117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nb = GaussianNB()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0917" y="53340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calibrated = CalibratedClassifierCV(nb, cv=5)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0917" y="55562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calibrated.fit(X_train, y_train)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60917" y="57785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probs = calibrated.predict_proba(X_test)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29083" y="1227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14833" y="1185333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深度思考问题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18500" y="1693333"/>
            <a:ext cx="7514167" cy="1566333"/>
          </a:xfrm>
          <a:custGeom>
            <a:avLst/>
            <a:gdLst/>
            <a:ahLst/>
            <a:cxnLst/>
            <a:rect l="l" t="t" r="r" b="b"/>
            <a:pathLst>
              <a:path w="7514167" h="1566333">
                <a:moveTo>
                  <a:pt x="42333" y="0"/>
                </a:moveTo>
                <a:lnTo>
                  <a:pt x="7429506" y="0"/>
                </a:lnTo>
                <a:cubicBezTo>
                  <a:pt x="7476263" y="0"/>
                  <a:pt x="7514167" y="37904"/>
                  <a:pt x="7514167" y="84660"/>
                </a:cubicBezTo>
                <a:lnTo>
                  <a:pt x="7514167" y="1481673"/>
                </a:lnTo>
                <a:cubicBezTo>
                  <a:pt x="7514167" y="1528430"/>
                  <a:pt x="7476263" y="1566333"/>
                  <a:pt x="7429506" y="1566333"/>
                </a:cubicBezTo>
                <a:lnTo>
                  <a:pt x="42333" y="1566333"/>
                </a:lnTo>
                <a:cubicBezTo>
                  <a:pt x="18953" y="1566333"/>
                  <a:pt x="0" y="1547380"/>
                  <a:pt x="0" y="1524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318500" y="1693333"/>
            <a:ext cx="42333" cy="1566333"/>
          </a:xfrm>
          <a:custGeom>
            <a:avLst/>
            <a:gdLst/>
            <a:ahLst/>
            <a:cxnLst/>
            <a:rect l="l" t="t" r="r" b="b"/>
            <a:pathLst>
              <a:path w="42333" h="1566333">
                <a:moveTo>
                  <a:pt x="42333" y="0"/>
                </a:moveTo>
                <a:lnTo>
                  <a:pt x="42333" y="0"/>
                </a:lnTo>
                <a:lnTo>
                  <a:pt x="42333" y="1566333"/>
                </a:lnTo>
                <a:lnTo>
                  <a:pt x="42333" y="1566333"/>
                </a:lnTo>
                <a:cubicBezTo>
                  <a:pt x="18953" y="1566333"/>
                  <a:pt x="0" y="1547380"/>
                  <a:pt x="0" y="15240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509000" y="186266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683212" y="1926167"/>
            <a:ext cx="16933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01667" y="1862667"/>
            <a:ext cx="6656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条件独立假设的现实性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01667" y="2243667"/>
            <a:ext cx="6646333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朴素贝叶斯的关键假设是：给定类别Y后，各特征条件独立。该假设在真实数据中通常不严格成立，但在许多任务上仍能得到可用的分类边界。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01667" y="2878667"/>
            <a:ext cx="6635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典型强相关特征：文本任务中的"机器"和"学习"，表结构中的"体温"与"是否发烧"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18500" y="3386667"/>
            <a:ext cx="7514167" cy="1291167"/>
          </a:xfrm>
          <a:custGeom>
            <a:avLst/>
            <a:gdLst/>
            <a:ahLst/>
            <a:cxnLst/>
            <a:rect l="l" t="t" r="r" b="b"/>
            <a:pathLst>
              <a:path w="7514167" h="1291167">
                <a:moveTo>
                  <a:pt x="42333" y="0"/>
                </a:moveTo>
                <a:lnTo>
                  <a:pt x="7429505" y="0"/>
                </a:lnTo>
                <a:cubicBezTo>
                  <a:pt x="7476262" y="0"/>
                  <a:pt x="7514167" y="37904"/>
                  <a:pt x="7514167" y="84662"/>
                </a:cubicBezTo>
                <a:lnTo>
                  <a:pt x="7514167" y="1206505"/>
                </a:lnTo>
                <a:cubicBezTo>
                  <a:pt x="7514167" y="1253262"/>
                  <a:pt x="7476262" y="1291167"/>
                  <a:pt x="7429505" y="1291167"/>
                </a:cubicBezTo>
                <a:lnTo>
                  <a:pt x="42333" y="1291167"/>
                </a:lnTo>
                <a:cubicBezTo>
                  <a:pt x="18953" y="1291167"/>
                  <a:pt x="0" y="1272213"/>
                  <a:pt x="0" y="1248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318500" y="3386667"/>
            <a:ext cx="42333" cy="1291167"/>
          </a:xfrm>
          <a:custGeom>
            <a:avLst/>
            <a:gdLst/>
            <a:ahLst/>
            <a:cxnLst/>
            <a:rect l="l" t="t" r="r" b="b"/>
            <a:pathLst>
              <a:path w="42333" h="1291167">
                <a:moveTo>
                  <a:pt x="42333" y="0"/>
                </a:moveTo>
                <a:lnTo>
                  <a:pt x="42333" y="0"/>
                </a:lnTo>
                <a:lnTo>
                  <a:pt x="42333" y="1291167"/>
                </a:lnTo>
                <a:lnTo>
                  <a:pt x="42333" y="1291167"/>
                </a:lnTo>
                <a:cubicBezTo>
                  <a:pt x="18953" y="1291167"/>
                  <a:pt x="0" y="1272213"/>
                  <a:pt x="0" y="1248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509000" y="355600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67089" y="3619500"/>
            <a:ext cx="2010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01667" y="3556000"/>
            <a:ext cx="6053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平滑参数α敏感性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01667" y="3937000"/>
            <a:ext cx="604308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将平滑参数α从1调整为0.5、2时，后验概率如何变化？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01667" y="4296833"/>
            <a:ext cx="603250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规律：α越大，条件概率越接近均匀分布，后验更不极端；α越小，越接近未平滑的频率估计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18500" y="4804833"/>
            <a:ext cx="7514167" cy="1502833"/>
          </a:xfrm>
          <a:custGeom>
            <a:avLst/>
            <a:gdLst/>
            <a:ahLst/>
            <a:cxnLst/>
            <a:rect l="l" t="t" r="r" b="b"/>
            <a:pathLst>
              <a:path w="7514167" h="1502833">
                <a:moveTo>
                  <a:pt x="42333" y="0"/>
                </a:moveTo>
                <a:lnTo>
                  <a:pt x="7429497" y="0"/>
                </a:lnTo>
                <a:cubicBezTo>
                  <a:pt x="7476259" y="0"/>
                  <a:pt x="7514167" y="37908"/>
                  <a:pt x="7514167" y="84670"/>
                </a:cubicBezTo>
                <a:lnTo>
                  <a:pt x="7514167" y="1418164"/>
                </a:lnTo>
                <a:cubicBezTo>
                  <a:pt x="7514167" y="1464925"/>
                  <a:pt x="7476259" y="1502833"/>
                  <a:pt x="7429497" y="1502833"/>
                </a:cubicBezTo>
                <a:lnTo>
                  <a:pt x="42333" y="1502833"/>
                </a:lnTo>
                <a:cubicBezTo>
                  <a:pt x="18953" y="1502833"/>
                  <a:pt x="0" y="1483880"/>
                  <a:pt x="0" y="1460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318500" y="4804833"/>
            <a:ext cx="42333" cy="1502833"/>
          </a:xfrm>
          <a:custGeom>
            <a:avLst/>
            <a:gdLst/>
            <a:ahLst/>
            <a:cxnLst/>
            <a:rect l="l" t="t" r="r" b="b"/>
            <a:pathLst>
              <a:path w="42333" h="1502833">
                <a:moveTo>
                  <a:pt x="42333" y="0"/>
                </a:moveTo>
                <a:lnTo>
                  <a:pt x="42333" y="0"/>
                </a:lnTo>
                <a:lnTo>
                  <a:pt x="42333" y="1502833"/>
                </a:lnTo>
                <a:lnTo>
                  <a:pt x="42333" y="1502833"/>
                </a:lnTo>
                <a:cubicBezTo>
                  <a:pt x="18953" y="1502833"/>
                  <a:pt x="0" y="1483880"/>
                  <a:pt x="0" y="146050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509000" y="4974167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664608" y="5037667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01667" y="4974167"/>
            <a:ext cx="6656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MultinomialNB</a:t>
            </a:r>
            <a:r>
              <a:rPr lang="en-US" sz="15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vs </a:t>
            </a:r>
            <a:r>
              <a:rPr lang="en-US" sz="15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GaussianNB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101667" y="5355167"/>
            <a:ext cx="664633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为什么在文本分类中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MultinomialNB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经常优于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GaussianNB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？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01667" y="5715000"/>
            <a:ext cx="663575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答案：MultinomialNB更贴合词袋模型下的非负稀疏特征（词频、TF-IDF），其建模假设与"计数型特征"更一致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18500" y="6434667"/>
            <a:ext cx="7514167" cy="1291167"/>
          </a:xfrm>
          <a:custGeom>
            <a:avLst/>
            <a:gdLst/>
            <a:ahLst/>
            <a:cxnLst/>
            <a:rect l="l" t="t" r="r" b="b"/>
            <a:pathLst>
              <a:path w="7514167" h="1291167">
                <a:moveTo>
                  <a:pt x="42333" y="0"/>
                </a:moveTo>
                <a:lnTo>
                  <a:pt x="7429505" y="0"/>
                </a:lnTo>
                <a:cubicBezTo>
                  <a:pt x="7476262" y="0"/>
                  <a:pt x="7514167" y="37904"/>
                  <a:pt x="7514167" y="84662"/>
                </a:cubicBezTo>
                <a:lnTo>
                  <a:pt x="7514167" y="1206505"/>
                </a:lnTo>
                <a:cubicBezTo>
                  <a:pt x="7514167" y="1253262"/>
                  <a:pt x="7476262" y="1291167"/>
                  <a:pt x="7429505" y="1291167"/>
                </a:cubicBezTo>
                <a:lnTo>
                  <a:pt x="42333" y="1291167"/>
                </a:lnTo>
                <a:cubicBezTo>
                  <a:pt x="18953" y="1291167"/>
                  <a:pt x="0" y="1272213"/>
                  <a:pt x="0" y="1248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318500" y="6434667"/>
            <a:ext cx="42333" cy="1291167"/>
          </a:xfrm>
          <a:custGeom>
            <a:avLst/>
            <a:gdLst/>
            <a:ahLst/>
            <a:cxnLst/>
            <a:rect l="l" t="t" r="r" b="b"/>
            <a:pathLst>
              <a:path w="42333" h="1291167">
                <a:moveTo>
                  <a:pt x="42333" y="0"/>
                </a:moveTo>
                <a:lnTo>
                  <a:pt x="42333" y="0"/>
                </a:lnTo>
                <a:lnTo>
                  <a:pt x="42333" y="1291167"/>
                </a:lnTo>
                <a:lnTo>
                  <a:pt x="42333" y="1291167"/>
                </a:lnTo>
                <a:cubicBezTo>
                  <a:pt x="18953" y="1291167"/>
                  <a:pt x="0" y="1272213"/>
                  <a:pt x="0" y="12488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509000" y="6604000"/>
            <a:ext cx="423333" cy="423333"/>
          </a:xfrm>
          <a:custGeom>
            <a:avLst/>
            <a:gdLst/>
            <a:ahLst/>
            <a:cxnLst/>
            <a:rect l="l" t="t" r="r" b="b"/>
            <a:pathLst>
              <a:path w="423333" h="423333">
                <a:moveTo>
                  <a:pt x="211667" y="0"/>
                </a:moveTo>
                <a:lnTo>
                  <a:pt x="211667" y="0"/>
                </a:lnTo>
                <a:cubicBezTo>
                  <a:pt x="328489" y="0"/>
                  <a:pt x="423333" y="94845"/>
                  <a:pt x="423333" y="211667"/>
                </a:cubicBezTo>
                <a:lnTo>
                  <a:pt x="423333" y="211667"/>
                </a:lnTo>
                <a:cubicBezTo>
                  <a:pt x="423333" y="328489"/>
                  <a:pt x="328489" y="423333"/>
                  <a:pt x="211667" y="423333"/>
                </a:cubicBezTo>
                <a:lnTo>
                  <a:pt x="211667" y="423333"/>
                </a:lnTo>
                <a:cubicBezTo>
                  <a:pt x="94845" y="423333"/>
                  <a:pt x="0" y="328489"/>
                  <a:pt x="0" y="211667"/>
                </a:cubicBezTo>
                <a:lnTo>
                  <a:pt x="0" y="211667"/>
                </a:lnTo>
                <a:cubicBezTo>
                  <a:pt x="0" y="94845"/>
                  <a:pt x="94845" y="0"/>
                  <a:pt x="211667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664773" y="6667500"/>
            <a:ext cx="211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01667" y="6604000"/>
            <a:ext cx="5164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概率校准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01667" y="6985000"/>
            <a:ext cx="5154083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朴素贝叶斯输出的"概率"是否一定良好校准？如何验证与改进？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01666" y="7344833"/>
            <a:ext cx="5698671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方法：可靠性曲线、</a:t>
            </a:r>
            <a:r>
              <a:rPr lang="en-US" sz="1167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Brier score</a:t>
            </a: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验证；</a:t>
            </a:r>
            <a:r>
              <a:rPr lang="en-US" sz="1167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Platt scaling</a:t>
            </a: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、</a:t>
            </a:r>
            <a:r>
              <a:rPr lang="en-US" sz="1167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Isotonic regression</a:t>
            </a: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校准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8625" y="7900458"/>
            <a:ext cx="15398750" cy="518583"/>
          </a:xfrm>
          <a:custGeom>
            <a:avLst/>
            <a:gdLst/>
            <a:ahLst/>
            <a:cxnLst/>
            <a:rect l="l" t="t" r="r" b="b"/>
            <a:pathLst>
              <a:path w="15398750" h="518583">
                <a:moveTo>
                  <a:pt x="84669" y="0"/>
                </a:moveTo>
                <a:lnTo>
                  <a:pt x="15314081" y="0"/>
                </a:lnTo>
                <a:cubicBezTo>
                  <a:pt x="15360842" y="0"/>
                  <a:pt x="15398750" y="37908"/>
                  <a:pt x="15398750" y="84669"/>
                </a:cubicBezTo>
                <a:lnTo>
                  <a:pt x="15398750" y="433914"/>
                </a:lnTo>
                <a:cubicBezTo>
                  <a:pt x="15398750" y="480676"/>
                  <a:pt x="15360842" y="518583"/>
                  <a:pt x="15314081" y="518583"/>
                </a:cubicBezTo>
                <a:lnTo>
                  <a:pt x="84669" y="518583"/>
                </a:lnTo>
                <a:cubicBezTo>
                  <a:pt x="37908" y="518583"/>
                  <a:pt x="0" y="480676"/>
                  <a:pt x="0" y="433914"/>
                </a:cubicBezTo>
                <a:lnTo>
                  <a:pt x="0" y="84669"/>
                </a:lnTo>
                <a:cubicBezTo>
                  <a:pt x="0" y="37939"/>
                  <a:pt x="37939" y="0"/>
                  <a:pt x="8466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574146" y="8053917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9844" y="80946"/>
                </a:moveTo>
                <a:lnTo>
                  <a:pt x="106329" y="116541"/>
                </a:lnTo>
                <a:cubicBezTo>
                  <a:pt x="110381" y="118194"/>
                  <a:pt x="114680" y="119063"/>
                  <a:pt x="119063" y="119063"/>
                </a:cubicBezTo>
                <a:cubicBezTo>
                  <a:pt x="123445" y="119063"/>
                  <a:pt x="127744" y="118194"/>
                  <a:pt x="131796" y="116541"/>
                </a:cubicBezTo>
                <a:lnTo>
                  <a:pt x="232007" y="75282"/>
                </a:lnTo>
                <a:cubicBezTo>
                  <a:pt x="235727" y="73753"/>
                  <a:pt x="238125" y="70156"/>
                  <a:pt x="238125" y="66146"/>
                </a:cubicBezTo>
                <a:cubicBezTo>
                  <a:pt x="238125" y="62136"/>
                  <a:pt x="235727" y="58539"/>
                  <a:pt x="232007" y="57009"/>
                </a:cubicBezTo>
                <a:lnTo>
                  <a:pt x="131796" y="15751"/>
                </a:lnTo>
                <a:cubicBezTo>
                  <a:pt x="127744" y="14097"/>
                  <a:pt x="123445" y="13229"/>
                  <a:pt x="119063" y="13229"/>
                </a:cubicBezTo>
                <a:cubicBezTo>
                  <a:pt x="114680" y="13229"/>
                  <a:pt x="110381" y="14097"/>
                  <a:pt x="106329" y="15751"/>
                </a:cubicBezTo>
                <a:lnTo>
                  <a:pt x="6118" y="57009"/>
                </a:lnTo>
                <a:cubicBezTo>
                  <a:pt x="2398" y="58539"/>
                  <a:pt x="0" y="62136"/>
                  <a:pt x="0" y="66146"/>
                </a:cubicBezTo>
                <a:lnTo>
                  <a:pt x="0" y="188516"/>
                </a:lnTo>
                <a:cubicBezTo>
                  <a:pt x="0" y="194014"/>
                  <a:pt x="4424" y="198438"/>
                  <a:pt x="9922" y="198438"/>
                </a:cubicBezTo>
                <a:cubicBezTo>
                  <a:pt x="15420" y="198438"/>
                  <a:pt x="19844" y="194014"/>
                  <a:pt x="19844" y="188516"/>
                </a:cubicBezTo>
                <a:lnTo>
                  <a:pt x="19844" y="80946"/>
                </a:lnTo>
                <a:close/>
                <a:moveTo>
                  <a:pt x="39688" y="110588"/>
                </a:moveTo>
                <a:lnTo>
                  <a:pt x="39688" y="158750"/>
                </a:lnTo>
                <a:cubicBezTo>
                  <a:pt x="39688" y="180661"/>
                  <a:pt x="75241" y="198438"/>
                  <a:pt x="119063" y="198438"/>
                </a:cubicBezTo>
                <a:cubicBezTo>
                  <a:pt x="162884" y="198438"/>
                  <a:pt x="198438" y="180661"/>
                  <a:pt x="198438" y="158750"/>
                </a:cubicBezTo>
                <a:lnTo>
                  <a:pt x="198438" y="110546"/>
                </a:lnTo>
                <a:lnTo>
                  <a:pt x="139361" y="134896"/>
                </a:lnTo>
                <a:cubicBezTo>
                  <a:pt x="132912" y="137542"/>
                  <a:pt x="126049" y="138906"/>
                  <a:pt x="119063" y="138906"/>
                </a:cubicBezTo>
                <a:cubicBezTo>
                  <a:pt x="112076" y="138906"/>
                  <a:pt x="105213" y="137542"/>
                  <a:pt x="98764" y="134896"/>
                </a:cubicBezTo>
                <a:lnTo>
                  <a:pt x="39688" y="110546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952500" y="8032750"/>
            <a:ext cx="668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总结：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朴素贝叶斯虽假设强，但简单、高效、易于实现，是机器学习入门必备的算法之一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gliffy.com/4b36b36b9ab7f7586d9b551b6a6f33d94cbcab6e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4102" b="410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D8F8A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895350"/>
            <a:ext cx="2133600" cy="584200"/>
          </a:xfrm>
          <a:custGeom>
            <a:avLst/>
            <a:gdLst/>
            <a:ahLst/>
            <a:cxnLst/>
            <a:rect l="l" t="t" r="r" b="b"/>
            <a:pathLst>
              <a:path w="2133600" h="584200">
                <a:moveTo>
                  <a:pt x="292100" y="0"/>
                </a:moveTo>
                <a:lnTo>
                  <a:pt x="1841500" y="0"/>
                </a:lnTo>
                <a:cubicBezTo>
                  <a:pt x="2002714" y="0"/>
                  <a:pt x="2133600" y="130886"/>
                  <a:pt x="2133600" y="292100"/>
                </a:cubicBezTo>
                <a:lnTo>
                  <a:pt x="2133600" y="292100"/>
                </a:lnTo>
                <a:cubicBezTo>
                  <a:pt x="2133600" y="453314"/>
                  <a:pt x="2002714" y="584200"/>
                  <a:pt x="1841500" y="584200"/>
                </a:cubicBezTo>
                <a:lnTo>
                  <a:pt x="292100" y="584200"/>
                </a:lnTo>
                <a:cubicBezTo>
                  <a:pt x="130886" y="584200"/>
                  <a:pt x="0" y="453314"/>
                  <a:pt x="0" y="292100"/>
                </a:cubicBezTo>
                <a:lnTo>
                  <a:pt x="0" y="292100"/>
                </a:lnTo>
                <a:cubicBezTo>
                  <a:pt x="0" y="130886"/>
                  <a:pt x="130886" y="0"/>
                  <a:pt x="2921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 w="25400">
            <a:solidFill>
              <a:srgbClr val="3D8F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035050"/>
            <a:ext cx="17188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18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898650"/>
            <a:ext cx="10769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 err="1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决策树算法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7434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200650"/>
            <a:ext cx="1035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E0E2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Decision Tree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267450"/>
            <a:ext cx="1028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可解释性强的分而治之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信息熵与信息增益驱动分裂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分而治之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336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4384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信息增益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592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0640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71" y="457271"/>
            <a:ext cx="15547229" cy="4572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4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决策树：算法概述与信息熵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71" y="1051724"/>
            <a:ext cx="914543" cy="45727"/>
          </a:xfrm>
          <a:custGeom>
            <a:avLst/>
            <a:gdLst/>
            <a:ahLst/>
            <a:cxnLst/>
            <a:rect l="l" t="t" r="r" b="b"/>
            <a:pathLst>
              <a:path w="914543" h="45727">
                <a:moveTo>
                  <a:pt x="0" y="0"/>
                </a:moveTo>
                <a:lnTo>
                  <a:pt x="914543" y="0"/>
                </a:lnTo>
                <a:lnTo>
                  <a:pt x="914543" y="45727"/>
                </a:lnTo>
                <a:lnTo>
                  <a:pt x="0" y="45727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25862" y="1326087"/>
            <a:ext cx="205772" cy="274363"/>
          </a:xfrm>
          <a:custGeom>
            <a:avLst/>
            <a:gdLst/>
            <a:ahLst/>
            <a:cxnLst/>
            <a:rect l="l" t="t" r="r" b="b"/>
            <a:pathLst>
              <a:path w="205772" h="274363">
                <a:moveTo>
                  <a:pt x="156955" y="205772"/>
                </a:moveTo>
                <a:cubicBezTo>
                  <a:pt x="160867" y="193822"/>
                  <a:pt x="168690" y="182998"/>
                  <a:pt x="177532" y="173674"/>
                </a:cubicBezTo>
                <a:cubicBezTo>
                  <a:pt x="195055" y="155240"/>
                  <a:pt x="205772" y="130322"/>
                  <a:pt x="205772" y="102886"/>
                </a:cubicBezTo>
                <a:cubicBezTo>
                  <a:pt x="205772" y="46084"/>
                  <a:pt x="159688" y="0"/>
                  <a:pt x="102886" y="0"/>
                </a:cubicBezTo>
                <a:cubicBezTo>
                  <a:pt x="46084" y="0"/>
                  <a:pt x="0" y="46084"/>
                  <a:pt x="0" y="102886"/>
                </a:cubicBezTo>
                <a:cubicBezTo>
                  <a:pt x="0" y="130322"/>
                  <a:pt x="10717" y="155240"/>
                  <a:pt x="28240" y="173674"/>
                </a:cubicBezTo>
                <a:cubicBezTo>
                  <a:pt x="37082" y="182998"/>
                  <a:pt x="44959" y="193822"/>
                  <a:pt x="48817" y="205772"/>
                </a:cubicBezTo>
                <a:lnTo>
                  <a:pt x="156901" y="205772"/>
                </a:lnTo>
                <a:close/>
                <a:moveTo>
                  <a:pt x="154329" y="231494"/>
                </a:moveTo>
                <a:lnTo>
                  <a:pt x="51443" y="231494"/>
                </a:lnTo>
                <a:lnTo>
                  <a:pt x="51443" y="240068"/>
                </a:lnTo>
                <a:cubicBezTo>
                  <a:pt x="51443" y="263753"/>
                  <a:pt x="70627" y="282937"/>
                  <a:pt x="94312" y="282937"/>
                </a:cubicBezTo>
                <a:lnTo>
                  <a:pt x="111460" y="282937"/>
                </a:lnTo>
                <a:cubicBezTo>
                  <a:pt x="135145" y="282937"/>
                  <a:pt x="154329" y="263753"/>
                  <a:pt x="154329" y="240068"/>
                </a:cubicBezTo>
                <a:lnTo>
                  <a:pt x="154329" y="231494"/>
                </a:lnTo>
                <a:close/>
                <a:moveTo>
                  <a:pt x="98599" y="60017"/>
                </a:moveTo>
                <a:cubicBezTo>
                  <a:pt x="77272" y="60017"/>
                  <a:pt x="60017" y="77272"/>
                  <a:pt x="60017" y="98599"/>
                </a:cubicBezTo>
                <a:cubicBezTo>
                  <a:pt x="60017" y="105726"/>
                  <a:pt x="54283" y="111460"/>
                  <a:pt x="47156" y="111460"/>
                </a:cubicBezTo>
                <a:cubicBezTo>
                  <a:pt x="40029" y="111460"/>
                  <a:pt x="34295" y="105726"/>
                  <a:pt x="34295" y="98599"/>
                </a:cubicBezTo>
                <a:cubicBezTo>
                  <a:pt x="34295" y="63071"/>
                  <a:pt x="63071" y="34295"/>
                  <a:pt x="98599" y="34295"/>
                </a:cubicBezTo>
                <a:cubicBezTo>
                  <a:pt x="105726" y="34295"/>
                  <a:pt x="111460" y="40029"/>
                  <a:pt x="111460" y="47156"/>
                </a:cubicBezTo>
                <a:cubicBezTo>
                  <a:pt x="111460" y="54283"/>
                  <a:pt x="105726" y="60017"/>
                  <a:pt x="98599" y="6001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00225" y="1280360"/>
            <a:ext cx="7282048" cy="365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71" y="1783359"/>
            <a:ext cx="7590706" cy="674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2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决策树通过</a:t>
            </a:r>
            <a:r>
              <a:rPr lang="en-US" sz="162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递归地分裂数据集</a:t>
            </a:r>
            <a:r>
              <a:rPr lang="en-US" sz="162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，将数据分成越来越小的子集，直到达到某种停止条件。可以把它想象成一系列的</a:t>
            </a:r>
            <a:r>
              <a:rPr lang="en-US" sz="162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if-then</a:t>
            </a:r>
            <a:r>
              <a:rPr lang="en-US" sz="162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规则集合</a:t>
            </a:r>
            <a:r>
              <a:rPr lang="en-US" sz="162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135" y="2635027"/>
            <a:ext cx="7464956" cy="1646177"/>
          </a:xfrm>
          <a:custGeom>
            <a:avLst/>
            <a:gdLst/>
            <a:ahLst/>
            <a:cxnLst/>
            <a:rect l="l" t="t" r="r" b="b"/>
            <a:pathLst>
              <a:path w="7464956" h="1646177">
                <a:moveTo>
                  <a:pt x="45727" y="0"/>
                </a:moveTo>
                <a:lnTo>
                  <a:pt x="7373495" y="0"/>
                </a:lnTo>
                <a:cubicBezTo>
                  <a:pt x="7424008" y="0"/>
                  <a:pt x="7464956" y="40949"/>
                  <a:pt x="7464956" y="91462"/>
                </a:cubicBezTo>
                <a:lnTo>
                  <a:pt x="7464956" y="1554716"/>
                </a:lnTo>
                <a:cubicBezTo>
                  <a:pt x="7464956" y="1605228"/>
                  <a:pt x="7424008" y="1646177"/>
                  <a:pt x="7373495" y="1646177"/>
                </a:cubicBezTo>
                <a:lnTo>
                  <a:pt x="45727" y="1646177"/>
                </a:lnTo>
                <a:cubicBezTo>
                  <a:pt x="20473" y="1646177"/>
                  <a:pt x="0" y="1625704"/>
                  <a:pt x="0" y="1600450"/>
                </a:cubicBezTo>
                <a:lnTo>
                  <a:pt x="0" y="45727"/>
                </a:lnTo>
                <a:cubicBezTo>
                  <a:pt x="0" y="20490"/>
                  <a:pt x="20490" y="0"/>
                  <a:pt x="45727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80135" y="2635027"/>
            <a:ext cx="45727" cy="1646177"/>
          </a:xfrm>
          <a:custGeom>
            <a:avLst/>
            <a:gdLst/>
            <a:ahLst/>
            <a:cxnLst/>
            <a:rect l="l" t="t" r="r" b="b"/>
            <a:pathLst>
              <a:path w="45727" h="1646177">
                <a:moveTo>
                  <a:pt x="45727" y="0"/>
                </a:moveTo>
                <a:lnTo>
                  <a:pt x="45727" y="0"/>
                </a:lnTo>
                <a:lnTo>
                  <a:pt x="45727" y="1646177"/>
                </a:lnTo>
                <a:lnTo>
                  <a:pt x="45727" y="1646177"/>
                </a:lnTo>
                <a:cubicBezTo>
                  <a:pt x="20473" y="1646177"/>
                  <a:pt x="0" y="1625704"/>
                  <a:pt x="0" y="1600450"/>
                </a:cubicBezTo>
                <a:lnTo>
                  <a:pt x="0" y="45727"/>
                </a:lnTo>
                <a:cubicBezTo>
                  <a:pt x="0" y="20473"/>
                  <a:pt x="20473" y="0"/>
                  <a:pt x="4572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907" y="2817935"/>
            <a:ext cx="716773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生活案例：决定是否带伞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907" y="3183752"/>
            <a:ext cx="716773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 看天气预报 → 晴天/雨天/阴天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907" y="3503842"/>
            <a:ext cx="716773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 如果是阴天 → 看乌云是否密集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907" y="3823932"/>
            <a:ext cx="716773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 密集 → 带伞，稀疏 → 不带伞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1567" y="4509840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02886" y="34295"/>
                </a:moveTo>
                <a:cubicBezTo>
                  <a:pt x="102886" y="24811"/>
                  <a:pt x="110549" y="17148"/>
                  <a:pt x="120034" y="17148"/>
                </a:cubicBezTo>
                <a:lnTo>
                  <a:pt x="154329" y="17148"/>
                </a:lnTo>
                <a:cubicBezTo>
                  <a:pt x="163814" y="17148"/>
                  <a:pt x="171477" y="24811"/>
                  <a:pt x="171477" y="34295"/>
                </a:cubicBezTo>
                <a:lnTo>
                  <a:pt x="171477" y="68591"/>
                </a:lnTo>
                <a:cubicBezTo>
                  <a:pt x="171477" y="78076"/>
                  <a:pt x="163814" y="85738"/>
                  <a:pt x="154329" y="85738"/>
                </a:cubicBezTo>
                <a:lnTo>
                  <a:pt x="150042" y="85738"/>
                </a:lnTo>
                <a:lnTo>
                  <a:pt x="150042" y="120034"/>
                </a:lnTo>
                <a:lnTo>
                  <a:pt x="214346" y="120034"/>
                </a:lnTo>
                <a:cubicBezTo>
                  <a:pt x="235673" y="120034"/>
                  <a:pt x="252928" y="137289"/>
                  <a:pt x="252928" y="158616"/>
                </a:cubicBezTo>
                <a:lnTo>
                  <a:pt x="252928" y="188624"/>
                </a:lnTo>
                <a:lnTo>
                  <a:pt x="257215" y="188624"/>
                </a:lnTo>
                <a:cubicBezTo>
                  <a:pt x="266700" y="188624"/>
                  <a:pt x="274363" y="196287"/>
                  <a:pt x="274363" y="205772"/>
                </a:cubicBezTo>
                <a:lnTo>
                  <a:pt x="274363" y="240068"/>
                </a:lnTo>
                <a:cubicBezTo>
                  <a:pt x="274363" y="249552"/>
                  <a:pt x="266700" y="257215"/>
                  <a:pt x="257215" y="257215"/>
                </a:cubicBezTo>
                <a:lnTo>
                  <a:pt x="222920" y="257215"/>
                </a:lnTo>
                <a:cubicBezTo>
                  <a:pt x="213435" y="257215"/>
                  <a:pt x="205772" y="249552"/>
                  <a:pt x="205772" y="240068"/>
                </a:cubicBezTo>
                <a:lnTo>
                  <a:pt x="205772" y="205772"/>
                </a:lnTo>
                <a:cubicBezTo>
                  <a:pt x="205772" y="196287"/>
                  <a:pt x="213435" y="188624"/>
                  <a:pt x="222920" y="188624"/>
                </a:cubicBezTo>
                <a:lnTo>
                  <a:pt x="227207" y="188624"/>
                </a:lnTo>
                <a:lnTo>
                  <a:pt x="227207" y="158616"/>
                </a:lnTo>
                <a:cubicBezTo>
                  <a:pt x="227207" y="151489"/>
                  <a:pt x="221473" y="145755"/>
                  <a:pt x="214346" y="145755"/>
                </a:cubicBezTo>
                <a:lnTo>
                  <a:pt x="150042" y="145755"/>
                </a:lnTo>
                <a:lnTo>
                  <a:pt x="150042" y="188624"/>
                </a:lnTo>
                <a:lnTo>
                  <a:pt x="154329" y="188624"/>
                </a:lnTo>
                <a:cubicBezTo>
                  <a:pt x="163814" y="188624"/>
                  <a:pt x="171477" y="196287"/>
                  <a:pt x="171477" y="205772"/>
                </a:cubicBezTo>
                <a:lnTo>
                  <a:pt x="171477" y="240068"/>
                </a:lnTo>
                <a:cubicBezTo>
                  <a:pt x="171477" y="249552"/>
                  <a:pt x="163814" y="257215"/>
                  <a:pt x="154329" y="257215"/>
                </a:cubicBezTo>
                <a:lnTo>
                  <a:pt x="120034" y="257215"/>
                </a:lnTo>
                <a:cubicBezTo>
                  <a:pt x="110549" y="257215"/>
                  <a:pt x="102886" y="249552"/>
                  <a:pt x="102886" y="240068"/>
                </a:cubicBezTo>
                <a:lnTo>
                  <a:pt x="102886" y="205772"/>
                </a:lnTo>
                <a:cubicBezTo>
                  <a:pt x="102886" y="196287"/>
                  <a:pt x="110549" y="188624"/>
                  <a:pt x="120034" y="188624"/>
                </a:cubicBezTo>
                <a:lnTo>
                  <a:pt x="124321" y="188624"/>
                </a:lnTo>
                <a:lnTo>
                  <a:pt x="124321" y="145755"/>
                </a:lnTo>
                <a:lnTo>
                  <a:pt x="60017" y="145755"/>
                </a:lnTo>
                <a:cubicBezTo>
                  <a:pt x="52890" y="145755"/>
                  <a:pt x="47156" y="151489"/>
                  <a:pt x="47156" y="158616"/>
                </a:cubicBezTo>
                <a:lnTo>
                  <a:pt x="47156" y="188624"/>
                </a:lnTo>
                <a:lnTo>
                  <a:pt x="51443" y="188624"/>
                </a:lnTo>
                <a:cubicBezTo>
                  <a:pt x="60928" y="188624"/>
                  <a:pt x="68591" y="196287"/>
                  <a:pt x="68591" y="205772"/>
                </a:cubicBezTo>
                <a:lnTo>
                  <a:pt x="68591" y="240068"/>
                </a:lnTo>
                <a:cubicBezTo>
                  <a:pt x="68591" y="249552"/>
                  <a:pt x="60928" y="257215"/>
                  <a:pt x="51443" y="257215"/>
                </a:cubicBezTo>
                <a:lnTo>
                  <a:pt x="17148" y="257215"/>
                </a:lnTo>
                <a:cubicBezTo>
                  <a:pt x="7663" y="257215"/>
                  <a:pt x="0" y="249552"/>
                  <a:pt x="0" y="240068"/>
                </a:cubicBezTo>
                <a:lnTo>
                  <a:pt x="0" y="205772"/>
                </a:lnTo>
                <a:cubicBezTo>
                  <a:pt x="0" y="196287"/>
                  <a:pt x="7663" y="188624"/>
                  <a:pt x="17148" y="188624"/>
                </a:cubicBezTo>
                <a:lnTo>
                  <a:pt x="21435" y="188624"/>
                </a:lnTo>
                <a:lnTo>
                  <a:pt x="21435" y="158616"/>
                </a:lnTo>
                <a:cubicBezTo>
                  <a:pt x="21435" y="137289"/>
                  <a:pt x="38689" y="120034"/>
                  <a:pt x="60017" y="120034"/>
                </a:cubicBezTo>
                <a:lnTo>
                  <a:pt x="124321" y="120034"/>
                </a:lnTo>
                <a:lnTo>
                  <a:pt x="124321" y="85738"/>
                </a:lnTo>
                <a:lnTo>
                  <a:pt x="120034" y="85738"/>
                </a:lnTo>
                <a:cubicBezTo>
                  <a:pt x="110549" y="85738"/>
                  <a:pt x="102886" y="78076"/>
                  <a:pt x="102886" y="68591"/>
                </a:cubicBezTo>
                <a:lnTo>
                  <a:pt x="102886" y="34295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00225" y="4464113"/>
            <a:ext cx="7282048" cy="365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树结构组成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71" y="4967111"/>
            <a:ext cx="365817" cy="365817"/>
          </a:xfrm>
          <a:custGeom>
            <a:avLst/>
            <a:gdLst/>
            <a:ahLst/>
            <a:cxnLst/>
            <a:rect l="l" t="t" r="r" b="b"/>
            <a:pathLst>
              <a:path w="365817" h="365817">
                <a:moveTo>
                  <a:pt x="182909" y="0"/>
                </a:moveTo>
                <a:lnTo>
                  <a:pt x="182909" y="0"/>
                </a:lnTo>
                <a:cubicBezTo>
                  <a:pt x="283926" y="0"/>
                  <a:pt x="365817" y="81891"/>
                  <a:pt x="365817" y="182909"/>
                </a:cubicBezTo>
                <a:lnTo>
                  <a:pt x="365817" y="182909"/>
                </a:lnTo>
                <a:cubicBezTo>
                  <a:pt x="365817" y="283926"/>
                  <a:pt x="283926" y="365817"/>
                  <a:pt x="182909" y="365817"/>
                </a:cubicBezTo>
                <a:lnTo>
                  <a:pt x="182909" y="365817"/>
                </a:lnTo>
                <a:cubicBezTo>
                  <a:pt x="81891" y="365817"/>
                  <a:pt x="0" y="283926"/>
                  <a:pt x="0" y="182909"/>
                </a:cubicBezTo>
                <a:lnTo>
                  <a:pt x="0" y="182909"/>
                </a:lnTo>
                <a:cubicBezTo>
                  <a:pt x="0" y="81891"/>
                  <a:pt x="81891" y="0"/>
                  <a:pt x="18290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60158" y="5035702"/>
            <a:ext cx="240068" cy="228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270" y="4967111"/>
            <a:ext cx="201199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根节点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270" y="5241474"/>
            <a:ext cx="2000563" cy="228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树的最顶层，包含所有样本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71" y="5561564"/>
            <a:ext cx="365817" cy="365817"/>
          </a:xfrm>
          <a:custGeom>
            <a:avLst/>
            <a:gdLst/>
            <a:ahLst/>
            <a:cxnLst/>
            <a:rect l="l" t="t" r="r" b="b"/>
            <a:pathLst>
              <a:path w="365817" h="365817">
                <a:moveTo>
                  <a:pt x="182909" y="0"/>
                </a:moveTo>
                <a:lnTo>
                  <a:pt x="182909" y="0"/>
                </a:lnTo>
                <a:cubicBezTo>
                  <a:pt x="283926" y="0"/>
                  <a:pt x="365817" y="81891"/>
                  <a:pt x="365817" y="182909"/>
                </a:cubicBezTo>
                <a:lnTo>
                  <a:pt x="365817" y="182909"/>
                </a:lnTo>
                <a:cubicBezTo>
                  <a:pt x="365817" y="283926"/>
                  <a:pt x="283926" y="365817"/>
                  <a:pt x="182909" y="365817"/>
                </a:cubicBezTo>
                <a:lnTo>
                  <a:pt x="182909" y="365817"/>
                </a:lnTo>
                <a:cubicBezTo>
                  <a:pt x="81891" y="365817"/>
                  <a:pt x="0" y="283926"/>
                  <a:pt x="0" y="182909"/>
                </a:cubicBezTo>
                <a:lnTo>
                  <a:pt x="0" y="182909"/>
                </a:lnTo>
                <a:cubicBezTo>
                  <a:pt x="0" y="81891"/>
                  <a:pt x="81891" y="0"/>
                  <a:pt x="182909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60158" y="5630155"/>
            <a:ext cx="240068" cy="228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270" y="5561564"/>
            <a:ext cx="1531859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内部节点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270" y="5835927"/>
            <a:ext cx="1520428" cy="228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表示一个特征的测试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71" y="6156017"/>
            <a:ext cx="365817" cy="365817"/>
          </a:xfrm>
          <a:custGeom>
            <a:avLst/>
            <a:gdLst/>
            <a:ahLst/>
            <a:cxnLst/>
            <a:rect l="l" t="t" r="r" b="b"/>
            <a:pathLst>
              <a:path w="365817" h="365817">
                <a:moveTo>
                  <a:pt x="182909" y="0"/>
                </a:moveTo>
                <a:lnTo>
                  <a:pt x="182909" y="0"/>
                </a:lnTo>
                <a:cubicBezTo>
                  <a:pt x="283926" y="0"/>
                  <a:pt x="365817" y="81891"/>
                  <a:pt x="365817" y="182909"/>
                </a:cubicBezTo>
                <a:lnTo>
                  <a:pt x="365817" y="182909"/>
                </a:lnTo>
                <a:cubicBezTo>
                  <a:pt x="365817" y="283926"/>
                  <a:pt x="283926" y="365817"/>
                  <a:pt x="182909" y="365817"/>
                </a:cubicBezTo>
                <a:lnTo>
                  <a:pt x="182909" y="365817"/>
                </a:lnTo>
                <a:cubicBezTo>
                  <a:pt x="81891" y="365817"/>
                  <a:pt x="0" y="283926"/>
                  <a:pt x="0" y="182909"/>
                </a:cubicBezTo>
                <a:lnTo>
                  <a:pt x="0" y="182909"/>
                </a:lnTo>
                <a:cubicBezTo>
                  <a:pt x="0" y="81891"/>
                  <a:pt x="81891" y="0"/>
                  <a:pt x="18290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60158" y="6224608"/>
            <a:ext cx="240068" cy="228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270" y="6156017"/>
            <a:ext cx="1851949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叶节点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0270" y="6430380"/>
            <a:ext cx="1840518" cy="228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树的末端，表示最终决策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46454" y="313713"/>
            <a:ext cx="274363" cy="274363"/>
          </a:xfrm>
          <a:custGeom>
            <a:avLst/>
            <a:gdLst/>
            <a:ahLst/>
            <a:cxnLst/>
            <a:rect l="l" t="t" r="r" b="b"/>
            <a:pathLst>
              <a:path w="274363" h="274363">
                <a:moveTo>
                  <a:pt x="17148" y="17148"/>
                </a:moveTo>
                <a:cubicBezTo>
                  <a:pt x="26632" y="17148"/>
                  <a:pt x="34295" y="24811"/>
                  <a:pt x="34295" y="34295"/>
                </a:cubicBezTo>
                <a:lnTo>
                  <a:pt x="34295" y="214346"/>
                </a:lnTo>
                <a:cubicBezTo>
                  <a:pt x="34295" y="219062"/>
                  <a:pt x="38154" y="222920"/>
                  <a:pt x="42869" y="222920"/>
                </a:cubicBezTo>
                <a:lnTo>
                  <a:pt x="257215" y="222920"/>
                </a:lnTo>
                <a:cubicBezTo>
                  <a:pt x="266700" y="222920"/>
                  <a:pt x="274363" y="230583"/>
                  <a:pt x="274363" y="240068"/>
                </a:cubicBezTo>
                <a:cubicBezTo>
                  <a:pt x="274363" y="249552"/>
                  <a:pt x="266700" y="257215"/>
                  <a:pt x="257215" y="257215"/>
                </a:cubicBezTo>
                <a:lnTo>
                  <a:pt x="42869" y="257215"/>
                </a:lnTo>
                <a:cubicBezTo>
                  <a:pt x="19184" y="257215"/>
                  <a:pt x="0" y="238031"/>
                  <a:pt x="0" y="214346"/>
                </a:cubicBezTo>
                <a:lnTo>
                  <a:pt x="0" y="34295"/>
                </a:lnTo>
                <a:cubicBezTo>
                  <a:pt x="0" y="24811"/>
                  <a:pt x="7663" y="17148"/>
                  <a:pt x="17148" y="17148"/>
                </a:cubicBezTo>
                <a:close/>
                <a:moveTo>
                  <a:pt x="128608" y="51443"/>
                </a:moveTo>
                <a:cubicBezTo>
                  <a:pt x="132198" y="51443"/>
                  <a:pt x="135627" y="52943"/>
                  <a:pt x="138092" y="55623"/>
                </a:cubicBezTo>
                <a:lnTo>
                  <a:pt x="176192" y="97152"/>
                </a:lnTo>
                <a:lnTo>
                  <a:pt x="200949" y="72342"/>
                </a:lnTo>
                <a:cubicBezTo>
                  <a:pt x="205986" y="67305"/>
                  <a:pt x="214132" y="67305"/>
                  <a:pt x="219115" y="72342"/>
                </a:cubicBezTo>
                <a:lnTo>
                  <a:pt x="253411" y="106637"/>
                </a:lnTo>
                <a:cubicBezTo>
                  <a:pt x="255822" y="109049"/>
                  <a:pt x="257162" y="112317"/>
                  <a:pt x="257162" y="115747"/>
                </a:cubicBezTo>
                <a:lnTo>
                  <a:pt x="257162" y="175764"/>
                </a:lnTo>
                <a:cubicBezTo>
                  <a:pt x="257162" y="182891"/>
                  <a:pt x="251428" y="188624"/>
                  <a:pt x="244301" y="188624"/>
                </a:cubicBezTo>
                <a:lnTo>
                  <a:pt x="81398" y="188624"/>
                </a:lnTo>
                <a:cubicBezTo>
                  <a:pt x="74271" y="188624"/>
                  <a:pt x="68537" y="182891"/>
                  <a:pt x="68537" y="175764"/>
                </a:cubicBezTo>
                <a:lnTo>
                  <a:pt x="68537" y="115747"/>
                </a:lnTo>
                <a:cubicBezTo>
                  <a:pt x="68537" y="112532"/>
                  <a:pt x="69770" y="109424"/>
                  <a:pt x="71913" y="107066"/>
                </a:cubicBezTo>
                <a:lnTo>
                  <a:pt x="119069" y="55623"/>
                </a:lnTo>
                <a:cubicBezTo>
                  <a:pt x="121481" y="52943"/>
                  <a:pt x="124964" y="51443"/>
                  <a:pt x="128554" y="51443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55113" y="267986"/>
            <a:ext cx="7282048" cy="365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决策树可视化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17875" y="748121"/>
            <a:ext cx="7476388" cy="3956059"/>
          </a:xfrm>
          <a:custGeom>
            <a:avLst/>
            <a:gdLst/>
            <a:ahLst/>
            <a:cxnLst/>
            <a:rect l="l" t="t" r="r" b="b"/>
            <a:pathLst>
              <a:path w="7476388" h="2915105">
                <a:moveTo>
                  <a:pt x="91447" y="0"/>
                </a:moveTo>
                <a:lnTo>
                  <a:pt x="7384941" y="0"/>
                </a:lnTo>
                <a:cubicBezTo>
                  <a:pt x="7435446" y="0"/>
                  <a:pt x="7476388" y="40942"/>
                  <a:pt x="7476388" y="91447"/>
                </a:cubicBezTo>
                <a:lnTo>
                  <a:pt x="7476388" y="2823659"/>
                </a:lnTo>
                <a:cubicBezTo>
                  <a:pt x="7476388" y="2874163"/>
                  <a:pt x="7435446" y="2915105"/>
                  <a:pt x="7384941" y="2915105"/>
                </a:cubicBezTo>
                <a:lnTo>
                  <a:pt x="91447" y="2915105"/>
                </a:lnTo>
                <a:cubicBezTo>
                  <a:pt x="40942" y="2915105"/>
                  <a:pt x="0" y="2874163"/>
                  <a:pt x="0" y="2823659"/>
                </a:cubicBezTo>
                <a:lnTo>
                  <a:pt x="0" y="91447"/>
                </a:lnTo>
                <a:cubicBezTo>
                  <a:pt x="0" y="40976"/>
                  <a:pt x="40976" y="0"/>
                  <a:pt x="91447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312159" y="4938532"/>
            <a:ext cx="342954" cy="274363"/>
          </a:xfrm>
          <a:custGeom>
            <a:avLst/>
            <a:gdLst/>
            <a:ahLst/>
            <a:cxnLst/>
            <a:rect l="l" t="t" r="r" b="b"/>
            <a:pathLst>
              <a:path w="342954" h="274363">
                <a:moveTo>
                  <a:pt x="222866" y="112800"/>
                </a:moveTo>
                <a:cubicBezTo>
                  <a:pt x="229404" y="111031"/>
                  <a:pt x="236263" y="114139"/>
                  <a:pt x="239210" y="120195"/>
                </a:cubicBezTo>
                <a:lnTo>
                  <a:pt x="249177" y="140343"/>
                </a:lnTo>
                <a:cubicBezTo>
                  <a:pt x="254697" y="141093"/>
                  <a:pt x="260109" y="142594"/>
                  <a:pt x="265200" y="144684"/>
                </a:cubicBezTo>
                <a:lnTo>
                  <a:pt x="283955" y="132198"/>
                </a:lnTo>
                <a:cubicBezTo>
                  <a:pt x="289581" y="128447"/>
                  <a:pt x="297030" y="129197"/>
                  <a:pt x="301799" y="133966"/>
                </a:cubicBezTo>
                <a:lnTo>
                  <a:pt x="312088" y="144255"/>
                </a:lnTo>
                <a:cubicBezTo>
                  <a:pt x="316857" y="149024"/>
                  <a:pt x="317607" y="156526"/>
                  <a:pt x="313856" y="162099"/>
                </a:cubicBezTo>
                <a:lnTo>
                  <a:pt x="301370" y="180801"/>
                </a:lnTo>
                <a:cubicBezTo>
                  <a:pt x="302389" y="183319"/>
                  <a:pt x="303300" y="185945"/>
                  <a:pt x="304050" y="188678"/>
                </a:cubicBezTo>
                <a:cubicBezTo>
                  <a:pt x="304800" y="191411"/>
                  <a:pt x="305282" y="194090"/>
                  <a:pt x="305657" y="196823"/>
                </a:cubicBezTo>
                <a:lnTo>
                  <a:pt x="325859" y="206790"/>
                </a:lnTo>
                <a:cubicBezTo>
                  <a:pt x="331915" y="209791"/>
                  <a:pt x="335023" y="216650"/>
                  <a:pt x="333254" y="223134"/>
                </a:cubicBezTo>
                <a:lnTo>
                  <a:pt x="329503" y="237174"/>
                </a:lnTo>
                <a:cubicBezTo>
                  <a:pt x="327735" y="243658"/>
                  <a:pt x="321680" y="248052"/>
                  <a:pt x="314928" y="247623"/>
                </a:cubicBezTo>
                <a:lnTo>
                  <a:pt x="292422" y="246176"/>
                </a:lnTo>
                <a:cubicBezTo>
                  <a:pt x="289046" y="250517"/>
                  <a:pt x="285134" y="254536"/>
                  <a:pt x="280686" y="257965"/>
                </a:cubicBezTo>
                <a:lnTo>
                  <a:pt x="282133" y="280418"/>
                </a:lnTo>
                <a:cubicBezTo>
                  <a:pt x="282562" y="287170"/>
                  <a:pt x="278168" y="293279"/>
                  <a:pt x="271684" y="294994"/>
                </a:cubicBezTo>
                <a:lnTo>
                  <a:pt x="257644" y="298745"/>
                </a:lnTo>
                <a:cubicBezTo>
                  <a:pt x="251106" y="300513"/>
                  <a:pt x="244301" y="297405"/>
                  <a:pt x="241300" y="291350"/>
                </a:cubicBezTo>
                <a:lnTo>
                  <a:pt x="231333" y="271201"/>
                </a:lnTo>
                <a:cubicBezTo>
                  <a:pt x="225814" y="270451"/>
                  <a:pt x="220401" y="268951"/>
                  <a:pt x="215311" y="266861"/>
                </a:cubicBezTo>
                <a:lnTo>
                  <a:pt x="196555" y="279346"/>
                </a:lnTo>
                <a:cubicBezTo>
                  <a:pt x="190929" y="283097"/>
                  <a:pt x="183480" y="282347"/>
                  <a:pt x="178711" y="277578"/>
                </a:cubicBezTo>
                <a:lnTo>
                  <a:pt x="168422" y="267289"/>
                </a:lnTo>
                <a:cubicBezTo>
                  <a:pt x="163653" y="262520"/>
                  <a:pt x="162903" y="255072"/>
                  <a:pt x="166654" y="249445"/>
                </a:cubicBezTo>
                <a:lnTo>
                  <a:pt x="179140" y="230690"/>
                </a:lnTo>
                <a:cubicBezTo>
                  <a:pt x="178122" y="228171"/>
                  <a:pt x="177211" y="225546"/>
                  <a:pt x="176460" y="222813"/>
                </a:cubicBezTo>
                <a:cubicBezTo>
                  <a:pt x="175710" y="220080"/>
                  <a:pt x="175228" y="217347"/>
                  <a:pt x="174853" y="214668"/>
                </a:cubicBezTo>
                <a:lnTo>
                  <a:pt x="154651" y="204700"/>
                </a:lnTo>
                <a:cubicBezTo>
                  <a:pt x="148595" y="201700"/>
                  <a:pt x="145541" y="194841"/>
                  <a:pt x="147256" y="188357"/>
                </a:cubicBezTo>
                <a:lnTo>
                  <a:pt x="151007" y="174317"/>
                </a:lnTo>
                <a:cubicBezTo>
                  <a:pt x="152775" y="167833"/>
                  <a:pt x="158830" y="163439"/>
                  <a:pt x="165582" y="163868"/>
                </a:cubicBezTo>
                <a:lnTo>
                  <a:pt x="188035" y="165314"/>
                </a:lnTo>
                <a:cubicBezTo>
                  <a:pt x="191411" y="160974"/>
                  <a:pt x="195323" y="156955"/>
                  <a:pt x="199770" y="153525"/>
                </a:cubicBezTo>
                <a:lnTo>
                  <a:pt x="198324" y="131126"/>
                </a:lnTo>
                <a:cubicBezTo>
                  <a:pt x="197895" y="124374"/>
                  <a:pt x="202289" y="118265"/>
                  <a:pt x="208773" y="116551"/>
                </a:cubicBezTo>
                <a:lnTo>
                  <a:pt x="222813" y="112800"/>
                </a:lnTo>
                <a:close/>
                <a:moveTo>
                  <a:pt x="240282" y="182194"/>
                </a:moveTo>
                <a:cubicBezTo>
                  <a:pt x="227269" y="182209"/>
                  <a:pt x="216716" y="192786"/>
                  <a:pt x="216731" y="205799"/>
                </a:cubicBezTo>
                <a:cubicBezTo>
                  <a:pt x="216745" y="218812"/>
                  <a:pt x="227322" y="229365"/>
                  <a:pt x="240335" y="229350"/>
                </a:cubicBezTo>
                <a:cubicBezTo>
                  <a:pt x="253349" y="229335"/>
                  <a:pt x="263901" y="218758"/>
                  <a:pt x="263887" y="205745"/>
                </a:cubicBezTo>
                <a:cubicBezTo>
                  <a:pt x="263872" y="192732"/>
                  <a:pt x="253295" y="182179"/>
                  <a:pt x="240282" y="182194"/>
                </a:cubicBezTo>
                <a:close/>
                <a:moveTo>
                  <a:pt x="120516" y="-24382"/>
                </a:moveTo>
                <a:lnTo>
                  <a:pt x="134556" y="-20631"/>
                </a:lnTo>
                <a:cubicBezTo>
                  <a:pt x="141040" y="-18862"/>
                  <a:pt x="145434" y="-12754"/>
                  <a:pt x="145005" y="-6055"/>
                </a:cubicBezTo>
                <a:lnTo>
                  <a:pt x="143558" y="16344"/>
                </a:lnTo>
                <a:cubicBezTo>
                  <a:pt x="148006" y="19773"/>
                  <a:pt x="151918" y="23739"/>
                  <a:pt x="155294" y="28133"/>
                </a:cubicBezTo>
                <a:lnTo>
                  <a:pt x="177800" y="26686"/>
                </a:lnTo>
                <a:cubicBezTo>
                  <a:pt x="184498" y="26257"/>
                  <a:pt x="190607" y="30651"/>
                  <a:pt x="192376" y="37135"/>
                </a:cubicBezTo>
                <a:lnTo>
                  <a:pt x="196127" y="51175"/>
                </a:lnTo>
                <a:cubicBezTo>
                  <a:pt x="197841" y="57659"/>
                  <a:pt x="194787" y="64518"/>
                  <a:pt x="188732" y="67519"/>
                </a:cubicBezTo>
                <a:lnTo>
                  <a:pt x="168530" y="77486"/>
                </a:lnTo>
                <a:cubicBezTo>
                  <a:pt x="168154" y="80219"/>
                  <a:pt x="167619" y="82952"/>
                  <a:pt x="166922" y="85631"/>
                </a:cubicBezTo>
                <a:cubicBezTo>
                  <a:pt x="166225" y="88311"/>
                  <a:pt x="165261" y="90990"/>
                  <a:pt x="164243" y="93508"/>
                </a:cubicBezTo>
                <a:lnTo>
                  <a:pt x="176728" y="112264"/>
                </a:lnTo>
                <a:cubicBezTo>
                  <a:pt x="180479" y="117890"/>
                  <a:pt x="179729" y="125339"/>
                  <a:pt x="174960" y="130108"/>
                </a:cubicBezTo>
                <a:lnTo>
                  <a:pt x="164671" y="140397"/>
                </a:lnTo>
                <a:cubicBezTo>
                  <a:pt x="159902" y="145166"/>
                  <a:pt x="152454" y="145916"/>
                  <a:pt x="146827" y="142165"/>
                </a:cubicBezTo>
                <a:lnTo>
                  <a:pt x="128072" y="129679"/>
                </a:lnTo>
                <a:cubicBezTo>
                  <a:pt x="122981" y="131769"/>
                  <a:pt x="117569" y="133270"/>
                  <a:pt x="112049" y="134020"/>
                </a:cubicBezTo>
                <a:lnTo>
                  <a:pt x="102082" y="154168"/>
                </a:lnTo>
                <a:cubicBezTo>
                  <a:pt x="99081" y="160224"/>
                  <a:pt x="92222" y="163278"/>
                  <a:pt x="85738" y="161563"/>
                </a:cubicBezTo>
                <a:lnTo>
                  <a:pt x="71699" y="157812"/>
                </a:lnTo>
                <a:cubicBezTo>
                  <a:pt x="65161" y="156044"/>
                  <a:pt x="60821" y="149935"/>
                  <a:pt x="61249" y="143237"/>
                </a:cubicBezTo>
                <a:lnTo>
                  <a:pt x="62696" y="120784"/>
                </a:lnTo>
                <a:cubicBezTo>
                  <a:pt x="58249" y="117354"/>
                  <a:pt x="54337" y="113389"/>
                  <a:pt x="50961" y="108995"/>
                </a:cubicBezTo>
                <a:lnTo>
                  <a:pt x="28454" y="110442"/>
                </a:lnTo>
                <a:cubicBezTo>
                  <a:pt x="21756" y="110870"/>
                  <a:pt x="15647" y="106476"/>
                  <a:pt x="13879" y="99992"/>
                </a:cubicBezTo>
                <a:lnTo>
                  <a:pt x="10128" y="85953"/>
                </a:lnTo>
                <a:cubicBezTo>
                  <a:pt x="8413" y="79469"/>
                  <a:pt x="11468" y="72610"/>
                  <a:pt x="17523" y="69609"/>
                </a:cubicBezTo>
                <a:lnTo>
                  <a:pt x="37725" y="59642"/>
                </a:lnTo>
                <a:cubicBezTo>
                  <a:pt x="38100" y="56909"/>
                  <a:pt x="38636" y="54230"/>
                  <a:pt x="39332" y="51497"/>
                </a:cubicBezTo>
                <a:cubicBezTo>
                  <a:pt x="40083" y="48764"/>
                  <a:pt x="40940" y="46138"/>
                  <a:pt x="42012" y="43619"/>
                </a:cubicBezTo>
                <a:lnTo>
                  <a:pt x="29526" y="24918"/>
                </a:lnTo>
                <a:cubicBezTo>
                  <a:pt x="25775" y="19291"/>
                  <a:pt x="26525" y="11843"/>
                  <a:pt x="31295" y="7073"/>
                </a:cubicBezTo>
                <a:lnTo>
                  <a:pt x="41583" y="-3215"/>
                </a:lnTo>
                <a:cubicBezTo>
                  <a:pt x="46352" y="-7984"/>
                  <a:pt x="53801" y="-8735"/>
                  <a:pt x="59427" y="-4984"/>
                </a:cubicBezTo>
                <a:lnTo>
                  <a:pt x="78183" y="7502"/>
                </a:lnTo>
                <a:cubicBezTo>
                  <a:pt x="83273" y="5412"/>
                  <a:pt x="88686" y="3912"/>
                  <a:pt x="94205" y="3162"/>
                </a:cubicBezTo>
                <a:lnTo>
                  <a:pt x="104172" y="-16987"/>
                </a:lnTo>
                <a:cubicBezTo>
                  <a:pt x="107173" y="-23042"/>
                  <a:pt x="113978" y="-26097"/>
                  <a:pt x="120516" y="-24382"/>
                </a:cubicBezTo>
                <a:close/>
                <a:moveTo>
                  <a:pt x="103100" y="45013"/>
                </a:moveTo>
                <a:cubicBezTo>
                  <a:pt x="90087" y="45013"/>
                  <a:pt x="79522" y="55578"/>
                  <a:pt x="79522" y="68591"/>
                </a:cubicBezTo>
                <a:cubicBezTo>
                  <a:pt x="79522" y="81604"/>
                  <a:pt x="90087" y="92169"/>
                  <a:pt x="103100" y="92169"/>
                </a:cubicBezTo>
                <a:cubicBezTo>
                  <a:pt x="116114" y="92169"/>
                  <a:pt x="126678" y="81604"/>
                  <a:pt x="126678" y="68591"/>
                </a:cubicBezTo>
                <a:cubicBezTo>
                  <a:pt x="126678" y="55578"/>
                  <a:pt x="116114" y="45013"/>
                  <a:pt x="103100" y="4501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55113" y="4892805"/>
            <a:ext cx="7282048" cy="365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6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构建过程三步骤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35023" y="5395803"/>
            <a:ext cx="7464956" cy="1005997"/>
          </a:xfrm>
          <a:custGeom>
            <a:avLst/>
            <a:gdLst/>
            <a:ahLst/>
            <a:cxnLst/>
            <a:rect l="l" t="t" r="r" b="b"/>
            <a:pathLst>
              <a:path w="7464956" h="1005997">
                <a:moveTo>
                  <a:pt x="45727" y="0"/>
                </a:moveTo>
                <a:lnTo>
                  <a:pt x="7373501" y="0"/>
                </a:lnTo>
                <a:cubicBezTo>
                  <a:pt x="7424011" y="0"/>
                  <a:pt x="7464956" y="40946"/>
                  <a:pt x="7464956" y="91455"/>
                </a:cubicBezTo>
                <a:lnTo>
                  <a:pt x="7464956" y="914542"/>
                </a:lnTo>
                <a:cubicBezTo>
                  <a:pt x="7464956" y="965051"/>
                  <a:pt x="7424011" y="1005997"/>
                  <a:pt x="7373501" y="1005997"/>
                </a:cubicBezTo>
                <a:lnTo>
                  <a:pt x="45727" y="1005997"/>
                </a:lnTo>
                <a:cubicBezTo>
                  <a:pt x="20473" y="1005997"/>
                  <a:pt x="0" y="985524"/>
                  <a:pt x="0" y="960270"/>
                </a:cubicBezTo>
                <a:lnTo>
                  <a:pt x="0" y="45727"/>
                </a:lnTo>
                <a:cubicBezTo>
                  <a:pt x="0" y="20490"/>
                  <a:pt x="20490" y="0"/>
                  <a:pt x="45727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335023" y="5395803"/>
            <a:ext cx="45727" cy="1005997"/>
          </a:xfrm>
          <a:custGeom>
            <a:avLst/>
            <a:gdLst/>
            <a:ahLst/>
            <a:cxnLst/>
            <a:rect l="l" t="t" r="r" b="b"/>
            <a:pathLst>
              <a:path w="45727" h="1005997">
                <a:moveTo>
                  <a:pt x="45727" y="0"/>
                </a:moveTo>
                <a:lnTo>
                  <a:pt x="45727" y="0"/>
                </a:lnTo>
                <a:lnTo>
                  <a:pt x="45727" y="1005997"/>
                </a:lnTo>
                <a:lnTo>
                  <a:pt x="45727" y="1005997"/>
                </a:lnTo>
                <a:cubicBezTo>
                  <a:pt x="20473" y="1005997"/>
                  <a:pt x="0" y="985524"/>
                  <a:pt x="0" y="960270"/>
                </a:cubicBezTo>
                <a:lnTo>
                  <a:pt x="0" y="45727"/>
                </a:lnTo>
                <a:cubicBezTo>
                  <a:pt x="0" y="20473"/>
                  <a:pt x="20473" y="0"/>
                  <a:pt x="4572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495068" y="5532985"/>
            <a:ext cx="365817" cy="365817"/>
          </a:xfrm>
          <a:custGeom>
            <a:avLst/>
            <a:gdLst/>
            <a:ahLst/>
            <a:cxnLst/>
            <a:rect l="l" t="t" r="r" b="b"/>
            <a:pathLst>
              <a:path w="365817" h="365817">
                <a:moveTo>
                  <a:pt x="182909" y="0"/>
                </a:moveTo>
                <a:lnTo>
                  <a:pt x="182909" y="0"/>
                </a:lnTo>
                <a:cubicBezTo>
                  <a:pt x="283926" y="0"/>
                  <a:pt x="365817" y="81891"/>
                  <a:pt x="365817" y="182909"/>
                </a:cubicBezTo>
                <a:lnTo>
                  <a:pt x="365817" y="182909"/>
                </a:lnTo>
                <a:cubicBezTo>
                  <a:pt x="365817" y="283926"/>
                  <a:pt x="283926" y="365817"/>
                  <a:pt x="182909" y="365817"/>
                </a:cubicBezTo>
                <a:lnTo>
                  <a:pt x="182909" y="365817"/>
                </a:lnTo>
                <a:cubicBezTo>
                  <a:pt x="81891" y="365817"/>
                  <a:pt x="0" y="283926"/>
                  <a:pt x="0" y="182909"/>
                </a:cubicBezTo>
                <a:lnTo>
                  <a:pt x="0" y="182909"/>
                </a:lnTo>
                <a:cubicBezTo>
                  <a:pt x="0" y="81891"/>
                  <a:pt x="81891" y="0"/>
                  <a:pt x="18290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641984" y="5578712"/>
            <a:ext cx="160045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98066" y="5555848"/>
            <a:ext cx="925975" cy="3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特征选择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95068" y="5990256"/>
            <a:ext cx="725918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使用信息增益、基尼指数等指标选择最佳分裂特征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35023" y="6538982"/>
            <a:ext cx="7464956" cy="1005997"/>
          </a:xfrm>
          <a:custGeom>
            <a:avLst/>
            <a:gdLst/>
            <a:ahLst/>
            <a:cxnLst/>
            <a:rect l="l" t="t" r="r" b="b"/>
            <a:pathLst>
              <a:path w="7464956" h="1005997">
                <a:moveTo>
                  <a:pt x="45727" y="0"/>
                </a:moveTo>
                <a:lnTo>
                  <a:pt x="7373501" y="0"/>
                </a:lnTo>
                <a:cubicBezTo>
                  <a:pt x="7424011" y="0"/>
                  <a:pt x="7464956" y="40946"/>
                  <a:pt x="7464956" y="91455"/>
                </a:cubicBezTo>
                <a:lnTo>
                  <a:pt x="7464956" y="914542"/>
                </a:lnTo>
                <a:cubicBezTo>
                  <a:pt x="7464956" y="965051"/>
                  <a:pt x="7424011" y="1005997"/>
                  <a:pt x="7373501" y="1005997"/>
                </a:cubicBezTo>
                <a:lnTo>
                  <a:pt x="45727" y="1005997"/>
                </a:lnTo>
                <a:cubicBezTo>
                  <a:pt x="20473" y="1005997"/>
                  <a:pt x="0" y="985524"/>
                  <a:pt x="0" y="960270"/>
                </a:cubicBezTo>
                <a:lnTo>
                  <a:pt x="0" y="45727"/>
                </a:lnTo>
                <a:cubicBezTo>
                  <a:pt x="0" y="20490"/>
                  <a:pt x="20490" y="0"/>
                  <a:pt x="45727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335023" y="6538982"/>
            <a:ext cx="45727" cy="1005997"/>
          </a:xfrm>
          <a:custGeom>
            <a:avLst/>
            <a:gdLst/>
            <a:ahLst/>
            <a:cxnLst/>
            <a:rect l="l" t="t" r="r" b="b"/>
            <a:pathLst>
              <a:path w="45727" h="1005997">
                <a:moveTo>
                  <a:pt x="45727" y="0"/>
                </a:moveTo>
                <a:lnTo>
                  <a:pt x="45727" y="0"/>
                </a:lnTo>
                <a:lnTo>
                  <a:pt x="45727" y="1005997"/>
                </a:lnTo>
                <a:lnTo>
                  <a:pt x="45727" y="1005997"/>
                </a:lnTo>
                <a:cubicBezTo>
                  <a:pt x="20473" y="1005997"/>
                  <a:pt x="0" y="985524"/>
                  <a:pt x="0" y="960270"/>
                </a:cubicBezTo>
                <a:lnTo>
                  <a:pt x="0" y="45727"/>
                </a:lnTo>
                <a:cubicBezTo>
                  <a:pt x="0" y="20473"/>
                  <a:pt x="20473" y="0"/>
                  <a:pt x="45727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495068" y="6676163"/>
            <a:ext cx="365817" cy="365817"/>
          </a:xfrm>
          <a:custGeom>
            <a:avLst/>
            <a:gdLst/>
            <a:ahLst/>
            <a:cxnLst/>
            <a:rect l="l" t="t" r="r" b="b"/>
            <a:pathLst>
              <a:path w="365817" h="365817">
                <a:moveTo>
                  <a:pt x="182909" y="0"/>
                </a:moveTo>
                <a:lnTo>
                  <a:pt x="182909" y="0"/>
                </a:lnTo>
                <a:cubicBezTo>
                  <a:pt x="283926" y="0"/>
                  <a:pt x="365817" y="81891"/>
                  <a:pt x="365817" y="182909"/>
                </a:cubicBezTo>
                <a:lnTo>
                  <a:pt x="365817" y="182909"/>
                </a:lnTo>
                <a:cubicBezTo>
                  <a:pt x="365817" y="283926"/>
                  <a:pt x="283926" y="365817"/>
                  <a:pt x="182909" y="365817"/>
                </a:cubicBezTo>
                <a:lnTo>
                  <a:pt x="182909" y="365817"/>
                </a:lnTo>
                <a:cubicBezTo>
                  <a:pt x="81891" y="365817"/>
                  <a:pt x="0" y="283926"/>
                  <a:pt x="0" y="182909"/>
                </a:cubicBezTo>
                <a:lnTo>
                  <a:pt x="0" y="182909"/>
                </a:lnTo>
                <a:cubicBezTo>
                  <a:pt x="0" y="81891"/>
                  <a:pt x="81891" y="0"/>
                  <a:pt x="182909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626533" y="6721890"/>
            <a:ext cx="19434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98066" y="6699027"/>
            <a:ext cx="925975" cy="3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树的生成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95068" y="7133435"/>
            <a:ext cx="725918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根据选择的特征将数据分裂成子集，递归重复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35023" y="7682160"/>
            <a:ext cx="7464956" cy="1005997"/>
          </a:xfrm>
          <a:custGeom>
            <a:avLst/>
            <a:gdLst/>
            <a:ahLst/>
            <a:cxnLst/>
            <a:rect l="l" t="t" r="r" b="b"/>
            <a:pathLst>
              <a:path w="7464956" h="1005997">
                <a:moveTo>
                  <a:pt x="45727" y="0"/>
                </a:moveTo>
                <a:lnTo>
                  <a:pt x="7373501" y="0"/>
                </a:lnTo>
                <a:cubicBezTo>
                  <a:pt x="7424011" y="0"/>
                  <a:pt x="7464956" y="40946"/>
                  <a:pt x="7464956" y="91455"/>
                </a:cubicBezTo>
                <a:lnTo>
                  <a:pt x="7464956" y="914542"/>
                </a:lnTo>
                <a:cubicBezTo>
                  <a:pt x="7464956" y="965051"/>
                  <a:pt x="7424011" y="1005997"/>
                  <a:pt x="7373501" y="1005997"/>
                </a:cubicBezTo>
                <a:lnTo>
                  <a:pt x="45727" y="1005997"/>
                </a:lnTo>
                <a:cubicBezTo>
                  <a:pt x="20473" y="1005997"/>
                  <a:pt x="0" y="985524"/>
                  <a:pt x="0" y="960270"/>
                </a:cubicBezTo>
                <a:lnTo>
                  <a:pt x="0" y="45727"/>
                </a:lnTo>
                <a:cubicBezTo>
                  <a:pt x="0" y="20490"/>
                  <a:pt x="20490" y="0"/>
                  <a:pt x="45727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335023" y="7682160"/>
            <a:ext cx="45727" cy="1005997"/>
          </a:xfrm>
          <a:custGeom>
            <a:avLst/>
            <a:gdLst/>
            <a:ahLst/>
            <a:cxnLst/>
            <a:rect l="l" t="t" r="r" b="b"/>
            <a:pathLst>
              <a:path w="45727" h="1005997">
                <a:moveTo>
                  <a:pt x="45727" y="0"/>
                </a:moveTo>
                <a:lnTo>
                  <a:pt x="45727" y="0"/>
                </a:lnTo>
                <a:lnTo>
                  <a:pt x="45727" y="1005997"/>
                </a:lnTo>
                <a:lnTo>
                  <a:pt x="45727" y="1005997"/>
                </a:lnTo>
                <a:cubicBezTo>
                  <a:pt x="20473" y="1005997"/>
                  <a:pt x="0" y="985524"/>
                  <a:pt x="0" y="960270"/>
                </a:cubicBezTo>
                <a:lnTo>
                  <a:pt x="0" y="45727"/>
                </a:lnTo>
                <a:cubicBezTo>
                  <a:pt x="0" y="20473"/>
                  <a:pt x="20473" y="0"/>
                  <a:pt x="45727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495068" y="7819342"/>
            <a:ext cx="365817" cy="365817"/>
          </a:xfrm>
          <a:custGeom>
            <a:avLst/>
            <a:gdLst/>
            <a:ahLst/>
            <a:cxnLst/>
            <a:rect l="l" t="t" r="r" b="b"/>
            <a:pathLst>
              <a:path w="365817" h="365817">
                <a:moveTo>
                  <a:pt x="182909" y="0"/>
                </a:moveTo>
                <a:lnTo>
                  <a:pt x="182909" y="0"/>
                </a:lnTo>
                <a:cubicBezTo>
                  <a:pt x="283926" y="0"/>
                  <a:pt x="365817" y="81891"/>
                  <a:pt x="365817" y="182909"/>
                </a:cubicBezTo>
                <a:lnTo>
                  <a:pt x="365817" y="182909"/>
                </a:lnTo>
                <a:cubicBezTo>
                  <a:pt x="365817" y="283926"/>
                  <a:pt x="283926" y="365817"/>
                  <a:pt x="182909" y="365817"/>
                </a:cubicBezTo>
                <a:lnTo>
                  <a:pt x="182909" y="365817"/>
                </a:lnTo>
                <a:cubicBezTo>
                  <a:pt x="81891" y="365817"/>
                  <a:pt x="0" y="283926"/>
                  <a:pt x="0" y="182909"/>
                </a:cubicBezTo>
                <a:lnTo>
                  <a:pt x="0" y="182909"/>
                </a:lnTo>
                <a:cubicBezTo>
                  <a:pt x="0" y="81891"/>
                  <a:pt x="81891" y="0"/>
                  <a:pt x="18290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624122" y="7865069"/>
            <a:ext cx="194340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998066" y="7842205"/>
            <a:ext cx="925975" cy="3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2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树的剪枝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95068" y="8276613"/>
            <a:ext cx="7259184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4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防止过拟合，去掉不必要的分支</a:t>
            </a:r>
            <a:endParaRPr lang="en-US" sz="1600" dirty="0"/>
          </a:p>
        </p:txBody>
      </p:sp>
      <p:pic>
        <p:nvPicPr>
          <p:cNvPr id="55" name="图片 54" descr="图示&#10;&#10;AI 生成的内容可能不正确。">
            <a:extLst>
              <a:ext uri="{FF2B5EF4-FFF2-40B4-BE49-F238E27FC236}">
                <a16:creationId xmlns:a16="http://schemas.microsoft.com/office/drawing/2014/main" id="{CE0090F4-8AE7-E7A0-00B1-DFA3B623A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498" y="759313"/>
            <a:ext cx="5487142" cy="39336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989" y="455989"/>
            <a:ext cx="15549217" cy="455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3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决策树：信息增益与实例推导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5989" y="1048774"/>
            <a:ext cx="911978" cy="45599"/>
          </a:xfrm>
          <a:custGeom>
            <a:avLst/>
            <a:gdLst/>
            <a:ahLst/>
            <a:cxnLst/>
            <a:rect l="l" t="t" r="r" b="b"/>
            <a:pathLst>
              <a:path w="911978" h="45599">
                <a:moveTo>
                  <a:pt x="0" y="0"/>
                </a:moveTo>
                <a:lnTo>
                  <a:pt x="911978" y="0"/>
                </a:lnTo>
                <a:lnTo>
                  <a:pt x="911978" y="45599"/>
                </a:lnTo>
                <a:lnTo>
                  <a:pt x="0" y="45599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90188" y="1322367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34199" y="34199"/>
                </a:moveTo>
                <a:cubicBezTo>
                  <a:pt x="34199" y="24741"/>
                  <a:pt x="26558" y="17100"/>
                  <a:pt x="17100" y="17100"/>
                </a:cubicBezTo>
                <a:cubicBezTo>
                  <a:pt x="7641" y="17100"/>
                  <a:pt x="0" y="24741"/>
                  <a:pt x="0" y="34199"/>
                </a:cubicBezTo>
                <a:lnTo>
                  <a:pt x="0" y="213745"/>
                </a:lnTo>
                <a:cubicBezTo>
                  <a:pt x="0" y="237364"/>
                  <a:pt x="19130" y="256494"/>
                  <a:pt x="42749" y="256494"/>
                </a:cubicBezTo>
                <a:lnTo>
                  <a:pt x="256494" y="256494"/>
                </a:lnTo>
                <a:cubicBezTo>
                  <a:pt x="265952" y="256494"/>
                  <a:pt x="273593" y="248852"/>
                  <a:pt x="273593" y="239394"/>
                </a:cubicBezTo>
                <a:cubicBezTo>
                  <a:pt x="273593" y="229936"/>
                  <a:pt x="265952" y="222295"/>
                  <a:pt x="256494" y="222295"/>
                </a:cubicBezTo>
                <a:lnTo>
                  <a:pt x="42749" y="222295"/>
                </a:lnTo>
                <a:cubicBezTo>
                  <a:pt x="38047" y="222295"/>
                  <a:pt x="34199" y="218447"/>
                  <a:pt x="34199" y="213745"/>
                </a:cubicBezTo>
                <a:lnTo>
                  <a:pt x="34199" y="34199"/>
                </a:lnTo>
                <a:close/>
                <a:moveTo>
                  <a:pt x="251471" y="80475"/>
                </a:moveTo>
                <a:cubicBezTo>
                  <a:pt x="258150" y="73795"/>
                  <a:pt x="258150" y="62948"/>
                  <a:pt x="251471" y="56268"/>
                </a:cubicBezTo>
                <a:cubicBezTo>
                  <a:pt x="244791" y="49589"/>
                  <a:pt x="233944" y="49589"/>
                  <a:pt x="227264" y="56268"/>
                </a:cubicBezTo>
                <a:lnTo>
                  <a:pt x="170996" y="112590"/>
                </a:lnTo>
                <a:lnTo>
                  <a:pt x="140323" y="81971"/>
                </a:lnTo>
                <a:cubicBezTo>
                  <a:pt x="133644" y="75292"/>
                  <a:pt x="122796" y="75292"/>
                  <a:pt x="116117" y="81971"/>
                </a:cubicBezTo>
                <a:lnTo>
                  <a:pt x="64818" y="133270"/>
                </a:lnTo>
                <a:cubicBezTo>
                  <a:pt x="58139" y="139949"/>
                  <a:pt x="58139" y="150797"/>
                  <a:pt x="64818" y="157476"/>
                </a:cubicBezTo>
                <a:cubicBezTo>
                  <a:pt x="71498" y="164156"/>
                  <a:pt x="82345" y="164156"/>
                  <a:pt x="89025" y="157476"/>
                </a:cubicBezTo>
                <a:lnTo>
                  <a:pt x="128247" y="118254"/>
                </a:lnTo>
                <a:lnTo>
                  <a:pt x="158919" y="148927"/>
                </a:lnTo>
                <a:cubicBezTo>
                  <a:pt x="165599" y="155606"/>
                  <a:pt x="176446" y="155606"/>
                  <a:pt x="183126" y="148927"/>
                </a:cubicBezTo>
                <a:lnTo>
                  <a:pt x="251524" y="80528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97980" y="1276769"/>
            <a:ext cx="7284421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5989" y="1778356"/>
            <a:ext cx="7580813" cy="296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对于离散随机变量X，信息熵H(X)定义为：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8788" y="2211546"/>
            <a:ext cx="7466816" cy="1094373"/>
          </a:xfrm>
          <a:custGeom>
            <a:avLst/>
            <a:gdLst/>
            <a:ahLst/>
            <a:cxnLst/>
            <a:rect l="l" t="t" r="r" b="b"/>
            <a:pathLst>
              <a:path w="7466816" h="1094373">
                <a:moveTo>
                  <a:pt x="45599" y="0"/>
                </a:moveTo>
                <a:lnTo>
                  <a:pt x="7375622" y="0"/>
                </a:lnTo>
                <a:cubicBezTo>
                  <a:pt x="7425987" y="0"/>
                  <a:pt x="7466816" y="40829"/>
                  <a:pt x="7466816" y="91194"/>
                </a:cubicBezTo>
                <a:lnTo>
                  <a:pt x="7466816" y="1003179"/>
                </a:lnTo>
                <a:cubicBezTo>
                  <a:pt x="7466816" y="1053544"/>
                  <a:pt x="7425987" y="1094373"/>
                  <a:pt x="7375622" y="1094373"/>
                </a:cubicBezTo>
                <a:lnTo>
                  <a:pt x="45599" y="1094373"/>
                </a:lnTo>
                <a:cubicBezTo>
                  <a:pt x="20415" y="1094373"/>
                  <a:pt x="0" y="1073958"/>
                  <a:pt x="0" y="1048774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78788" y="2211546"/>
            <a:ext cx="45599" cy="1094373"/>
          </a:xfrm>
          <a:custGeom>
            <a:avLst/>
            <a:gdLst/>
            <a:ahLst/>
            <a:cxnLst/>
            <a:rect l="l" t="t" r="r" b="b"/>
            <a:pathLst>
              <a:path w="45599" h="1094373">
                <a:moveTo>
                  <a:pt x="45599" y="0"/>
                </a:moveTo>
                <a:lnTo>
                  <a:pt x="45599" y="0"/>
                </a:lnTo>
                <a:lnTo>
                  <a:pt x="45599" y="1094373"/>
                </a:lnTo>
                <a:lnTo>
                  <a:pt x="45599" y="1094373"/>
                </a:lnTo>
                <a:cubicBezTo>
                  <a:pt x="20415" y="1094373"/>
                  <a:pt x="0" y="1073958"/>
                  <a:pt x="0" y="1048774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26985" y="2393941"/>
            <a:ext cx="7193223" cy="31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95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H(X) = -Σ pᵢ log₂ pᵢ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8384" y="2849930"/>
            <a:ext cx="7170424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36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熵越大，不确定性越大；熵越小，纯度越高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989" y="3442715"/>
            <a:ext cx="7580813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最大值：</a:t>
            </a:r>
            <a:r>
              <a:rPr lang="en-US" sz="143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当所有pᵢ相等时，H(X) = log₂n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989" y="3807506"/>
            <a:ext cx="7580813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最小值：</a:t>
            </a:r>
            <a:r>
              <a:rPr lang="en-US" sz="143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当某个pᵢ=1时，H(X) = 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0188" y="4309094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17100" y="17100"/>
                </a:moveTo>
                <a:cubicBezTo>
                  <a:pt x="26558" y="17100"/>
                  <a:pt x="34199" y="24741"/>
                  <a:pt x="34199" y="34199"/>
                </a:cubicBezTo>
                <a:lnTo>
                  <a:pt x="34199" y="213745"/>
                </a:lnTo>
                <a:cubicBezTo>
                  <a:pt x="34199" y="218447"/>
                  <a:pt x="38047" y="222295"/>
                  <a:pt x="42749" y="222295"/>
                </a:cubicBezTo>
                <a:lnTo>
                  <a:pt x="256494" y="222295"/>
                </a:lnTo>
                <a:cubicBezTo>
                  <a:pt x="265952" y="222295"/>
                  <a:pt x="273593" y="229936"/>
                  <a:pt x="273593" y="239394"/>
                </a:cubicBezTo>
                <a:cubicBezTo>
                  <a:pt x="273593" y="248852"/>
                  <a:pt x="265952" y="256494"/>
                  <a:pt x="256494" y="256494"/>
                </a:cubicBezTo>
                <a:lnTo>
                  <a:pt x="42749" y="256494"/>
                </a:lnTo>
                <a:cubicBezTo>
                  <a:pt x="19130" y="256494"/>
                  <a:pt x="0" y="237364"/>
                  <a:pt x="0" y="213745"/>
                </a:cubicBezTo>
                <a:lnTo>
                  <a:pt x="0" y="34199"/>
                </a:lnTo>
                <a:cubicBezTo>
                  <a:pt x="0" y="24741"/>
                  <a:pt x="7641" y="17100"/>
                  <a:pt x="17100" y="17100"/>
                </a:cubicBezTo>
                <a:close/>
                <a:moveTo>
                  <a:pt x="68398" y="51299"/>
                </a:moveTo>
                <a:cubicBezTo>
                  <a:pt x="68398" y="41841"/>
                  <a:pt x="76040" y="34199"/>
                  <a:pt x="85498" y="34199"/>
                </a:cubicBezTo>
                <a:lnTo>
                  <a:pt x="188095" y="34199"/>
                </a:lnTo>
                <a:cubicBezTo>
                  <a:pt x="197554" y="34199"/>
                  <a:pt x="205195" y="41841"/>
                  <a:pt x="205195" y="51299"/>
                </a:cubicBezTo>
                <a:cubicBezTo>
                  <a:pt x="205195" y="60757"/>
                  <a:pt x="197554" y="68398"/>
                  <a:pt x="188095" y="68398"/>
                </a:cubicBezTo>
                <a:lnTo>
                  <a:pt x="85498" y="68398"/>
                </a:lnTo>
                <a:cubicBezTo>
                  <a:pt x="76040" y="68398"/>
                  <a:pt x="68398" y="60757"/>
                  <a:pt x="68398" y="51299"/>
                </a:cubicBezTo>
                <a:close/>
                <a:moveTo>
                  <a:pt x="85498" y="94048"/>
                </a:moveTo>
                <a:lnTo>
                  <a:pt x="153896" y="94048"/>
                </a:lnTo>
                <a:cubicBezTo>
                  <a:pt x="163354" y="94048"/>
                  <a:pt x="170996" y="101689"/>
                  <a:pt x="170996" y="111147"/>
                </a:cubicBezTo>
                <a:cubicBezTo>
                  <a:pt x="170996" y="120605"/>
                  <a:pt x="163354" y="128247"/>
                  <a:pt x="153896" y="128247"/>
                </a:cubicBezTo>
                <a:lnTo>
                  <a:pt x="85498" y="128247"/>
                </a:lnTo>
                <a:cubicBezTo>
                  <a:pt x="76040" y="128247"/>
                  <a:pt x="68398" y="120605"/>
                  <a:pt x="68398" y="111147"/>
                </a:cubicBezTo>
                <a:cubicBezTo>
                  <a:pt x="68398" y="101689"/>
                  <a:pt x="76040" y="94048"/>
                  <a:pt x="85498" y="94048"/>
                </a:cubicBezTo>
                <a:close/>
                <a:moveTo>
                  <a:pt x="85498" y="153896"/>
                </a:moveTo>
                <a:lnTo>
                  <a:pt x="222295" y="153896"/>
                </a:lnTo>
                <a:cubicBezTo>
                  <a:pt x="231753" y="153896"/>
                  <a:pt x="239394" y="161538"/>
                  <a:pt x="239394" y="170996"/>
                </a:cubicBezTo>
                <a:cubicBezTo>
                  <a:pt x="239394" y="180454"/>
                  <a:pt x="231753" y="188095"/>
                  <a:pt x="222295" y="188095"/>
                </a:cubicBezTo>
                <a:lnTo>
                  <a:pt x="85498" y="188095"/>
                </a:lnTo>
                <a:cubicBezTo>
                  <a:pt x="76040" y="188095"/>
                  <a:pt x="68398" y="180454"/>
                  <a:pt x="68398" y="170996"/>
                </a:cubicBezTo>
                <a:cubicBezTo>
                  <a:pt x="68398" y="161538"/>
                  <a:pt x="76040" y="153896"/>
                  <a:pt x="85498" y="153896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97980" y="4263495"/>
            <a:ext cx="7284421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信息增益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989" y="4765083"/>
            <a:ext cx="7580813" cy="296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衡量某个特征对减少不确定性的作用：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8788" y="5198272"/>
            <a:ext cx="7466816" cy="683983"/>
          </a:xfrm>
          <a:custGeom>
            <a:avLst/>
            <a:gdLst/>
            <a:ahLst/>
            <a:cxnLst/>
            <a:rect l="l" t="t" r="r" b="b"/>
            <a:pathLst>
              <a:path w="7466816" h="683983">
                <a:moveTo>
                  <a:pt x="45599" y="0"/>
                </a:moveTo>
                <a:lnTo>
                  <a:pt x="7375621" y="0"/>
                </a:lnTo>
                <a:cubicBezTo>
                  <a:pt x="7425987" y="0"/>
                  <a:pt x="7466816" y="40830"/>
                  <a:pt x="7466816" y="91195"/>
                </a:cubicBezTo>
                <a:lnTo>
                  <a:pt x="7466816" y="592788"/>
                </a:lnTo>
                <a:cubicBezTo>
                  <a:pt x="7466816" y="643154"/>
                  <a:pt x="7425987" y="683983"/>
                  <a:pt x="7375621" y="683983"/>
                </a:cubicBezTo>
                <a:lnTo>
                  <a:pt x="45599" y="683983"/>
                </a:lnTo>
                <a:cubicBezTo>
                  <a:pt x="20415" y="683983"/>
                  <a:pt x="0" y="663568"/>
                  <a:pt x="0" y="638384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478788" y="5198272"/>
            <a:ext cx="45599" cy="683983"/>
          </a:xfrm>
          <a:custGeom>
            <a:avLst/>
            <a:gdLst/>
            <a:ahLst/>
            <a:cxnLst/>
            <a:rect l="l" t="t" r="r" b="b"/>
            <a:pathLst>
              <a:path w="45599" h="683983">
                <a:moveTo>
                  <a:pt x="45599" y="0"/>
                </a:moveTo>
                <a:lnTo>
                  <a:pt x="45599" y="0"/>
                </a:lnTo>
                <a:lnTo>
                  <a:pt x="45599" y="683983"/>
                </a:lnTo>
                <a:lnTo>
                  <a:pt x="45599" y="683983"/>
                </a:lnTo>
                <a:cubicBezTo>
                  <a:pt x="20415" y="683983"/>
                  <a:pt x="0" y="663568"/>
                  <a:pt x="0" y="638384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26985" y="5380668"/>
            <a:ext cx="7193223" cy="31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95" dirty="0">
                <a:solidFill>
                  <a:srgbClr val="E0E2E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IG(D,A) = H(D) - H(D|A)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5989" y="6019052"/>
            <a:ext cx="7580813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信息增益越大</a:t>
            </a:r>
            <a:r>
              <a:rPr lang="en-US" sz="143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，表示该特征对分类的贡献越大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0188" y="6520640"/>
            <a:ext cx="273593" cy="273593"/>
          </a:xfrm>
          <a:custGeom>
            <a:avLst/>
            <a:gdLst/>
            <a:ahLst/>
            <a:cxnLst/>
            <a:rect l="l" t="t" r="r" b="b"/>
            <a:pathLst>
              <a:path w="273593" h="273593">
                <a:moveTo>
                  <a:pt x="75559" y="1229"/>
                </a:moveTo>
                <a:cubicBezTo>
                  <a:pt x="55039" y="-4275"/>
                  <a:pt x="33932" y="7909"/>
                  <a:pt x="28481" y="28428"/>
                </a:cubicBezTo>
                <a:lnTo>
                  <a:pt x="1336" y="129690"/>
                </a:lnTo>
                <a:cubicBezTo>
                  <a:pt x="-4168" y="150209"/>
                  <a:pt x="8015" y="171316"/>
                  <a:pt x="28535" y="176820"/>
                </a:cubicBezTo>
                <a:lnTo>
                  <a:pt x="129796" y="203966"/>
                </a:lnTo>
                <a:cubicBezTo>
                  <a:pt x="150316" y="209470"/>
                  <a:pt x="171423" y="197286"/>
                  <a:pt x="176927" y="176767"/>
                </a:cubicBezTo>
                <a:lnTo>
                  <a:pt x="204073" y="75505"/>
                </a:lnTo>
                <a:cubicBezTo>
                  <a:pt x="209577" y="54986"/>
                  <a:pt x="197393" y="33879"/>
                  <a:pt x="176874" y="28375"/>
                </a:cubicBezTo>
                <a:lnTo>
                  <a:pt x="75559" y="1229"/>
                </a:lnTo>
                <a:close/>
                <a:moveTo>
                  <a:pt x="87849" y="111147"/>
                </a:moveTo>
                <a:cubicBezTo>
                  <a:pt x="84599" y="105848"/>
                  <a:pt x="84481" y="99202"/>
                  <a:pt x="87541" y="93791"/>
                </a:cubicBezTo>
                <a:cubicBezTo>
                  <a:pt x="90601" y="88380"/>
                  <a:pt x="96356" y="85055"/>
                  <a:pt x="102572" y="85109"/>
                </a:cubicBezTo>
                <a:cubicBezTo>
                  <a:pt x="108789" y="85162"/>
                  <a:pt x="114486" y="88585"/>
                  <a:pt x="117453" y="94048"/>
                </a:cubicBezTo>
                <a:cubicBezTo>
                  <a:pt x="120703" y="99347"/>
                  <a:pt x="120821" y="105993"/>
                  <a:pt x="117761" y="111404"/>
                </a:cubicBezTo>
                <a:cubicBezTo>
                  <a:pt x="114701" y="116815"/>
                  <a:pt x="108946" y="120140"/>
                  <a:pt x="102729" y="120086"/>
                </a:cubicBezTo>
                <a:cubicBezTo>
                  <a:pt x="96513" y="120033"/>
                  <a:pt x="90816" y="116610"/>
                  <a:pt x="87849" y="111147"/>
                </a:cubicBezTo>
                <a:close/>
                <a:moveTo>
                  <a:pt x="42321" y="117720"/>
                </a:moveTo>
                <a:cubicBezTo>
                  <a:pt x="47621" y="114470"/>
                  <a:pt x="54266" y="114352"/>
                  <a:pt x="59678" y="117412"/>
                </a:cubicBezTo>
                <a:cubicBezTo>
                  <a:pt x="65089" y="120471"/>
                  <a:pt x="68413" y="126227"/>
                  <a:pt x="68360" y="132443"/>
                </a:cubicBezTo>
                <a:cubicBezTo>
                  <a:pt x="68307" y="138659"/>
                  <a:pt x="64884" y="144357"/>
                  <a:pt x="59421" y="147324"/>
                </a:cubicBezTo>
                <a:cubicBezTo>
                  <a:pt x="54122" y="150574"/>
                  <a:pt x="47476" y="150692"/>
                  <a:pt x="42065" y="147632"/>
                </a:cubicBezTo>
                <a:cubicBezTo>
                  <a:pt x="36654" y="144572"/>
                  <a:pt x="33329" y="138817"/>
                  <a:pt x="33382" y="132600"/>
                </a:cubicBezTo>
                <a:cubicBezTo>
                  <a:pt x="33436" y="126384"/>
                  <a:pt x="36858" y="120686"/>
                  <a:pt x="42321" y="117720"/>
                </a:cubicBezTo>
                <a:close/>
                <a:moveTo>
                  <a:pt x="141178" y="169232"/>
                </a:moveTo>
                <a:cubicBezTo>
                  <a:pt x="135879" y="172482"/>
                  <a:pt x="129234" y="172600"/>
                  <a:pt x="123822" y="169541"/>
                </a:cubicBezTo>
                <a:cubicBezTo>
                  <a:pt x="118411" y="166481"/>
                  <a:pt x="115086" y="160725"/>
                  <a:pt x="115140" y="154509"/>
                </a:cubicBezTo>
                <a:cubicBezTo>
                  <a:pt x="115193" y="148293"/>
                  <a:pt x="118616" y="142595"/>
                  <a:pt x="124079" y="139629"/>
                </a:cubicBezTo>
                <a:cubicBezTo>
                  <a:pt x="129378" y="136379"/>
                  <a:pt x="136024" y="136261"/>
                  <a:pt x="141435" y="139321"/>
                </a:cubicBezTo>
                <a:cubicBezTo>
                  <a:pt x="146846" y="142380"/>
                  <a:pt x="150171" y="148136"/>
                  <a:pt x="150117" y="154352"/>
                </a:cubicBezTo>
                <a:cubicBezTo>
                  <a:pt x="150064" y="160568"/>
                  <a:pt x="146641" y="166266"/>
                  <a:pt x="141178" y="169232"/>
                </a:cubicBezTo>
                <a:close/>
                <a:moveTo>
                  <a:pt x="145988" y="57871"/>
                </a:moveTo>
                <a:cubicBezTo>
                  <a:pt x="151287" y="54621"/>
                  <a:pt x="157933" y="54503"/>
                  <a:pt x="163344" y="57563"/>
                </a:cubicBezTo>
                <a:cubicBezTo>
                  <a:pt x="168755" y="60623"/>
                  <a:pt x="172080" y="66378"/>
                  <a:pt x="172026" y="72595"/>
                </a:cubicBezTo>
                <a:cubicBezTo>
                  <a:pt x="171973" y="78811"/>
                  <a:pt x="168550" y="84509"/>
                  <a:pt x="163087" y="87475"/>
                </a:cubicBezTo>
                <a:cubicBezTo>
                  <a:pt x="157788" y="90725"/>
                  <a:pt x="151142" y="90843"/>
                  <a:pt x="145731" y="87783"/>
                </a:cubicBezTo>
                <a:cubicBezTo>
                  <a:pt x="140320" y="84723"/>
                  <a:pt x="136995" y="78968"/>
                  <a:pt x="137049" y="72752"/>
                </a:cubicBezTo>
                <a:cubicBezTo>
                  <a:pt x="137102" y="66535"/>
                  <a:pt x="140525" y="60838"/>
                  <a:pt x="145988" y="57871"/>
                </a:cubicBezTo>
                <a:close/>
                <a:moveTo>
                  <a:pt x="81330" y="65566"/>
                </a:moveTo>
                <a:cubicBezTo>
                  <a:pt x="76031" y="68816"/>
                  <a:pt x="69385" y="68934"/>
                  <a:pt x="63974" y="65874"/>
                </a:cubicBezTo>
                <a:cubicBezTo>
                  <a:pt x="58562" y="62815"/>
                  <a:pt x="55238" y="57059"/>
                  <a:pt x="55291" y="50843"/>
                </a:cubicBezTo>
                <a:cubicBezTo>
                  <a:pt x="55345" y="44627"/>
                  <a:pt x="58767" y="38929"/>
                  <a:pt x="64230" y="35963"/>
                </a:cubicBezTo>
                <a:cubicBezTo>
                  <a:pt x="69530" y="32713"/>
                  <a:pt x="76175" y="32595"/>
                  <a:pt x="81586" y="35654"/>
                </a:cubicBezTo>
                <a:cubicBezTo>
                  <a:pt x="86998" y="38714"/>
                  <a:pt x="90322" y="44470"/>
                  <a:pt x="90269" y="50686"/>
                </a:cubicBezTo>
                <a:cubicBezTo>
                  <a:pt x="90216" y="56902"/>
                  <a:pt x="86793" y="62600"/>
                  <a:pt x="81330" y="65566"/>
                </a:cubicBezTo>
                <a:close/>
                <a:moveTo>
                  <a:pt x="223363" y="102597"/>
                </a:moveTo>
                <a:lnTo>
                  <a:pt x="201668" y="183393"/>
                </a:lnTo>
                <a:cubicBezTo>
                  <a:pt x="192477" y="217592"/>
                  <a:pt x="157316" y="237898"/>
                  <a:pt x="123117" y="228760"/>
                </a:cubicBezTo>
                <a:lnTo>
                  <a:pt x="102651" y="223256"/>
                </a:lnTo>
                <a:lnTo>
                  <a:pt x="102651" y="239394"/>
                </a:lnTo>
                <a:cubicBezTo>
                  <a:pt x="102651" y="258257"/>
                  <a:pt x="117987" y="273593"/>
                  <a:pt x="136850" y="273593"/>
                </a:cubicBezTo>
                <a:lnTo>
                  <a:pt x="239448" y="273593"/>
                </a:lnTo>
                <a:cubicBezTo>
                  <a:pt x="258311" y="273593"/>
                  <a:pt x="273647" y="258257"/>
                  <a:pt x="273647" y="239394"/>
                </a:cubicBezTo>
                <a:lnTo>
                  <a:pt x="273647" y="136797"/>
                </a:lnTo>
                <a:cubicBezTo>
                  <a:pt x="273647" y="117934"/>
                  <a:pt x="258311" y="102597"/>
                  <a:pt x="239448" y="102597"/>
                </a:cubicBezTo>
                <a:lnTo>
                  <a:pt x="223363" y="102597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97980" y="6475041"/>
            <a:ext cx="7284421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骰子示例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5989" y="6976628"/>
            <a:ext cx="7580813" cy="296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公平六面骰子的熵：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5989" y="7364219"/>
            <a:ext cx="7489616" cy="592785"/>
          </a:xfrm>
          <a:custGeom>
            <a:avLst/>
            <a:gdLst/>
            <a:ahLst/>
            <a:cxnLst/>
            <a:rect l="l" t="t" r="r" b="b"/>
            <a:pathLst>
              <a:path w="7489616" h="592785">
                <a:moveTo>
                  <a:pt x="91200" y="0"/>
                </a:moveTo>
                <a:lnTo>
                  <a:pt x="7398416" y="0"/>
                </a:lnTo>
                <a:cubicBezTo>
                  <a:pt x="7448784" y="0"/>
                  <a:pt x="7489616" y="40832"/>
                  <a:pt x="7489616" y="91200"/>
                </a:cubicBezTo>
                <a:lnTo>
                  <a:pt x="7489616" y="501585"/>
                </a:lnTo>
                <a:cubicBezTo>
                  <a:pt x="7489616" y="551954"/>
                  <a:pt x="7448784" y="592785"/>
                  <a:pt x="7398416" y="592785"/>
                </a:cubicBezTo>
                <a:lnTo>
                  <a:pt x="91200" y="592785"/>
                </a:lnTo>
                <a:cubicBezTo>
                  <a:pt x="40865" y="592785"/>
                  <a:pt x="0" y="551920"/>
                  <a:pt x="0" y="501585"/>
                </a:cubicBezTo>
                <a:lnTo>
                  <a:pt x="0" y="91200"/>
                </a:lnTo>
                <a:cubicBezTo>
                  <a:pt x="0" y="40865"/>
                  <a:pt x="40865" y="0"/>
                  <a:pt x="912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41487" y="7501015"/>
            <a:ext cx="7318620" cy="31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16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H(X) = log₂6 ≈ 2.585 比特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77458" y="1322367"/>
            <a:ext cx="205195" cy="273593"/>
          </a:xfrm>
          <a:custGeom>
            <a:avLst/>
            <a:gdLst/>
            <a:ahLst/>
            <a:cxnLst/>
            <a:rect l="l" t="t" r="r" b="b"/>
            <a:pathLst>
              <a:path w="205195" h="273593">
                <a:moveTo>
                  <a:pt x="159507" y="205248"/>
                </a:moveTo>
                <a:cubicBezTo>
                  <a:pt x="165973" y="205890"/>
                  <a:pt x="170996" y="211394"/>
                  <a:pt x="170996" y="218020"/>
                </a:cubicBezTo>
                <a:cubicBezTo>
                  <a:pt x="170996" y="224646"/>
                  <a:pt x="165973" y="230096"/>
                  <a:pt x="159507" y="230791"/>
                </a:cubicBezTo>
                <a:lnTo>
                  <a:pt x="158171" y="230844"/>
                </a:lnTo>
                <a:lnTo>
                  <a:pt x="115422" y="230844"/>
                </a:lnTo>
                <a:lnTo>
                  <a:pt x="115422" y="277868"/>
                </a:lnTo>
                <a:cubicBezTo>
                  <a:pt x="115422" y="284975"/>
                  <a:pt x="109704" y="290693"/>
                  <a:pt x="102597" y="290693"/>
                </a:cubicBezTo>
                <a:cubicBezTo>
                  <a:pt x="95490" y="290693"/>
                  <a:pt x="89773" y="284975"/>
                  <a:pt x="89773" y="277868"/>
                </a:cubicBezTo>
                <a:lnTo>
                  <a:pt x="89773" y="230844"/>
                </a:lnTo>
                <a:lnTo>
                  <a:pt x="47024" y="230844"/>
                </a:lnTo>
                <a:cubicBezTo>
                  <a:pt x="39917" y="230844"/>
                  <a:pt x="34199" y="225127"/>
                  <a:pt x="34199" y="218020"/>
                </a:cubicBezTo>
                <a:cubicBezTo>
                  <a:pt x="34199" y="211394"/>
                  <a:pt x="39222" y="205943"/>
                  <a:pt x="45688" y="205248"/>
                </a:cubicBezTo>
                <a:lnTo>
                  <a:pt x="47024" y="205195"/>
                </a:lnTo>
                <a:lnTo>
                  <a:pt x="158171" y="205195"/>
                </a:lnTo>
                <a:lnTo>
                  <a:pt x="159507" y="205248"/>
                </a:lnTo>
                <a:close/>
                <a:moveTo>
                  <a:pt x="102597" y="0"/>
                </a:moveTo>
                <a:cubicBezTo>
                  <a:pt x="159240" y="0"/>
                  <a:pt x="205195" y="45955"/>
                  <a:pt x="205195" y="102597"/>
                </a:cubicBezTo>
                <a:cubicBezTo>
                  <a:pt x="205195" y="133270"/>
                  <a:pt x="191729" y="160736"/>
                  <a:pt x="170408" y="179546"/>
                </a:cubicBezTo>
                <a:lnTo>
                  <a:pt x="34787" y="179546"/>
                </a:lnTo>
                <a:cubicBezTo>
                  <a:pt x="13466" y="160736"/>
                  <a:pt x="0" y="133270"/>
                  <a:pt x="0" y="102597"/>
                </a:cubicBezTo>
                <a:cubicBezTo>
                  <a:pt x="0" y="45955"/>
                  <a:pt x="45955" y="0"/>
                  <a:pt x="102597" y="0"/>
                </a:cubicBezTo>
                <a:close/>
                <a:moveTo>
                  <a:pt x="119697" y="128247"/>
                </a:moveTo>
                <a:cubicBezTo>
                  <a:pt x="115582" y="128247"/>
                  <a:pt x="112109" y="131186"/>
                  <a:pt x="111308" y="135087"/>
                </a:cubicBezTo>
                <a:lnTo>
                  <a:pt x="110987" y="138507"/>
                </a:lnTo>
                <a:cubicBezTo>
                  <a:pt x="110292" y="141873"/>
                  <a:pt x="107674" y="144491"/>
                  <a:pt x="104307" y="145186"/>
                </a:cubicBezTo>
                <a:lnTo>
                  <a:pt x="100888" y="145507"/>
                </a:lnTo>
                <a:cubicBezTo>
                  <a:pt x="96987" y="146308"/>
                  <a:pt x="94048" y="149782"/>
                  <a:pt x="94048" y="153896"/>
                </a:cubicBezTo>
                <a:cubicBezTo>
                  <a:pt x="94048" y="158599"/>
                  <a:pt x="97895" y="162446"/>
                  <a:pt x="102597" y="162446"/>
                </a:cubicBezTo>
                <a:cubicBezTo>
                  <a:pt x="116758" y="162446"/>
                  <a:pt x="128247" y="150957"/>
                  <a:pt x="128247" y="136797"/>
                </a:cubicBezTo>
                <a:cubicBezTo>
                  <a:pt x="128247" y="132094"/>
                  <a:pt x="124399" y="128247"/>
                  <a:pt x="119697" y="128247"/>
                </a:cubicBezTo>
                <a:close/>
                <a:moveTo>
                  <a:pt x="153896" y="94048"/>
                </a:moveTo>
                <a:cubicBezTo>
                  <a:pt x="149782" y="94048"/>
                  <a:pt x="146308" y="96987"/>
                  <a:pt x="145507" y="100888"/>
                </a:cubicBezTo>
                <a:lnTo>
                  <a:pt x="145186" y="104307"/>
                </a:lnTo>
                <a:cubicBezTo>
                  <a:pt x="144491" y="107674"/>
                  <a:pt x="141873" y="110292"/>
                  <a:pt x="138507" y="110987"/>
                </a:cubicBezTo>
                <a:lnTo>
                  <a:pt x="135087" y="111308"/>
                </a:lnTo>
                <a:cubicBezTo>
                  <a:pt x="131186" y="112109"/>
                  <a:pt x="128247" y="115582"/>
                  <a:pt x="128247" y="119697"/>
                </a:cubicBezTo>
                <a:cubicBezTo>
                  <a:pt x="128247" y="124399"/>
                  <a:pt x="132094" y="128247"/>
                  <a:pt x="136797" y="128247"/>
                </a:cubicBezTo>
                <a:cubicBezTo>
                  <a:pt x="150957" y="128247"/>
                  <a:pt x="162446" y="116758"/>
                  <a:pt x="162446" y="102597"/>
                </a:cubicBezTo>
                <a:cubicBezTo>
                  <a:pt x="162446" y="97895"/>
                  <a:pt x="158599" y="94048"/>
                  <a:pt x="153896" y="94048"/>
                </a:cubicBezTo>
                <a:close/>
                <a:moveTo>
                  <a:pt x="111147" y="85498"/>
                </a:moveTo>
                <a:cubicBezTo>
                  <a:pt x="107033" y="85498"/>
                  <a:pt x="103559" y="88437"/>
                  <a:pt x="102758" y="92338"/>
                </a:cubicBezTo>
                <a:lnTo>
                  <a:pt x="102437" y="95758"/>
                </a:lnTo>
                <a:cubicBezTo>
                  <a:pt x="101742" y="99124"/>
                  <a:pt x="99124" y="101742"/>
                  <a:pt x="95758" y="102437"/>
                </a:cubicBezTo>
                <a:lnTo>
                  <a:pt x="92338" y="102758"/>
                </a:lnTo>
                <a:cubicBezTo>
                  <a:pt x="88437" y="103559"/>
                  <a:pt x="85498" y="107033"/>
                  <a:pt x="85498" y="111147"/>
                </a:cubicBezTo>
                <a:cubicBezTo>
                  <a:pt x="85498" y="115850"/>
                  <a:pt x="89345" y="119697"/>
                  <a:pt x="94048" y="119697"/>
                </a:cubicBezTo>
                <a:cubicBezTo>
                  <a:pt x="108208" y="119697"/>
                  <a:pt x="119697" y="108208"/>
                  <a:pt x="119697" y="94048"/>
                </a:cubicBezTo>
                <a:cubicBezTo>
                  <a:pt x="119697" y="89345"/>
                  <a:pt x="115850" y="85498"/>
                  <a:pt x="111147" y="8549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51051" y="1276769"/>
            <a:ext cx="7284421" cy="36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4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高尔夫球数据集案例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09060" y="1778356"/>
            <a:ext cx="7580813" cy="296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3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数据集：</a:t>
            </a:r>
            <a:r>
              <a:rPr lang="en-US" sz="143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14个样本，9个"玩"，5个"不玩"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31859" y="2211546"/>
            <a:ext cx="7466816" cy="957576"/>
          </a:xfrm>
          <a:custGeom>
            <a:avLst/>
            <a:gdLst/>
            <a:ahLst/>
            <a:cxnLst/>
            <a:rect l="l" t="t" r="r" b="b"/>
            <a:pathLst>
              <a:path w="7466816" h="957576">
                <a:moveTo>
                  <a:pt x="45599" y="0"/>
                </a:moveTo>
                <a:lnTo>
                  <a:pt x="7375617" y="0"/>
                </a:lnTo>
                <a:cubicBezTo>
                  <a:pt x="7425985" y="0"/>
                  <a:pt x="7466816" y="40831"/>
                  <a:pt x="7466816" y="91200"/>
                </a:cubicBezTo>
                <a:lnTo>
                  <a:pt x="7466816" y="866377"/>
                </a:lnTo>
                <a:cubicBezTo>
                  <a:pt x="7466816" y="916745"/>
                  <a:pt x="7425985" y="957576"/>
                  <a:pt x="7375617" y="957576"/>
                </a:cubicBezTo>
                <a:lnTo>
                  <a:pt x="45599" y="957576"/>
                </a:lnTo>
                <a:cubicBezTo>
                  <a:pt x="20415" y="957576"/>
                  <a:pt x="0" y="937161"/>
                  <a:pt x="0" y="911978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31859" y="2211546"/>
            <a:ext cx="45599" cy="957576"/>
          </a:xfrm>
          <a:custGeom>
            <a:avLst/>
            <a:gdLst/>
            <a:ahLst/>
            <a:cxnLst/>
            <a:rect l="l" t="t" r="r" b="b"/>
            <a:pathLst>
              <a:path w="45599" h="957576">
                <a:moveTo>
                  <a:pt x="45599" y="0"/>
                </a:moveTo>
                <a:lnTo>
                  <a:pt x="45599" y="0"/>
                </a:lnTo>
                <a:lnTo>
                  <a:pt x="45599" y="957576"/>
                </a:lnTo>
                <a:lnTo>
                  <a:pt x="45599" y="957576"/>
                </a:lnTo>
                <a:cubicBezTo>
                  <a:pt x="20415" y="957576"/>
                  <a:pt x="0" y="937161"/>
                  <a:pt x="0" y="911978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491455" y="2348342"/>
            <a:ext cx="7261621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步骤1：计算根节点熵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40156" y="2713133"/>
            <a:ext cx="7273021" cy="31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16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H(D) ≈ 0.940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331859" y="3305919"/>
            <a:ext cx="7466816" cy="1732757"/>
          </a:xfrm>
          <a:custGeom>
            <a:avLst/>
            <a:gdLst/>
            <a:ahLst/>
            <a:cxnLst/>
            <a:rect l="l" t="t" r="r" b="b"/>
            <a:pathLst>
              <a:path w="7466816" h="1732757">
                <a:moveTo>
                  <a:pt x="45599" y="0"/>
                </a:moveTo>
                <a:lnTo>
                  <a:pt x="7375621" y="0"/>
                </a:lnTo>
                <a:cubicBezTo>
                  <a:pt x="7425987" y="0"/>
                  <a:pt x="7466816" y="40829"/>
                  <a:pt x="7466816" y="91195"/>
                </a:cubicBezTo>
                <a:lnTo>
                  <a:pt x="7466816" y="1641562"/>
                </a:lnTo>
                <a:cubicBezTo>
                  <a:pt x="7466816" y="1691928"/>
                  <a:pt x="7425987" y="1732757"/>
                  <a:pt x="7375621" y="1732757"/>
                </a:cubicBezTo>
                <a:lnTo>
                  <a:pt x="45599" y="1732757"/>
                </a:lnTo>
                <a:cubicBezTo>
                  <a:pt x="20415" y="1732757"/>
                  <a:pt x="0" y="1712342"/>
                  <a:pt x="0" y="1687158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331859" y="3305919"/>
            <a:ext cx="45599" cy="1732757"/>
          </a:xfrm>
          <a:custGeom>
            <a:avLst/>
            <a:gdLst/>
            <a:ahLst/>
            <a:cxnLst/>
            <a:rect l="l" t="t" r="r" b="b"/>
            <a:pathLst>
              <a:path w="45599" h="1732757">
                <a:moveTo>
                  <a:pt x="45599" y="0"/>
                </a:moveTo>
                <a:lnTo>
                  <a:pt x="45599" y="0"/>
                </a:lnTo>
                <a:lnTo>
                  <a:pt x="45599" y="1732757"/>
                </a:lnTo>
                <a:lnTo>
                  <a:pt x="45599" y="1732757"/>
                </a:lnTo>
                <a:cubicBezTo>
                  <a:pt x="20415" y="1732757"/>
                  <a:pt x="0" y="1712342"/>
                  <a:pt x="0" y="1687158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491455" y="3442715"/>
            <a:ext cx="7261621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步骤2：计算"天气"的条件熵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91455" y="3807506"/>
            <a:ext cx="7250222" cy="227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晴天（5个）：H = 0.971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91455" y="4081100"/>
            <a:ext cx="7250222" cy="227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多云（4个）：H = 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91455" y="4354693"/>
            <a:ext cx="7250222" cy="227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下雨（5个）：H = 0.971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51556" y="4673885"/>
            <a:ext cx="7250222" cy="227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7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H(D|天气) ≈ 0.693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331859" y="5175473"/>
            <a:ext cx="7466816" cy="957576"/>
          </a:xfrm>
          <a:custGeom>
            <a:avLst/>
            <a:gdLst/>
            <a:ahLst/>
            <a:cxnLst/>
            <a:rect l="l" t="t" r="r" b="b"/>
            <a:pathLst>
              <a:path w="7466816" h="957576">
                <a:moveTo>
                  <a:pt x="45599" y="0"/>
                </a:moveTo>
                <a:lnTo>
                  <a:pt x="7375617" y="0"/>
                </a:lnTo>
                <a:cubicBezTo>
                  <a:pt x="7425985" y="0"/>
                  <a:pt x="7466816" y="40831"/>
                  <a:pt x="7466816" y="91200"/>
                </a:cubicBezTo>
                <a:lnTo>
                  <a:pt x="7466816" y="866377"/>
                </a:lnTo>
                <a:cubicBezTo>
                  <a:pt x="7466816" y="916745"/>
                  <a:pt x="7425985" y="957576"/>
                  <a:pt x="7375617" y="957576"/>
                </a:cubicBezTo>
                <a:lnTo>
                  <a:pt x="45599" y="957576"/>
                </a:lnTo>
                <a:cubicBezTo>
                  <a:pt x="20415" y="957576"/>
                  <a:pt x="0" y="937161"/>
                  <a:pt x="0" y="911978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331859" y="5175473"/>
            <a:ext cx="45599" cy="957576"/>
          </a:xfrm>
          <a:custGeom>
            <a:avLst/>
            <a:gdLst/>
            <a:ahLst/>
            <a:cxnLst/>
            <a:rect l="l" t="t" r="r" b="b"/>
            <a:pathLst>
              <a:path w="45599" h="957576">
                <a:moveTo>
                  <a:pt x="45599" y="0"/>
                </a:moveTo>
                <a:lnTo>
                  <a:pt x="45599" y="0"/>
                </a:lnTo>
                <a:lnTo>
                  <a:pt x="45599" y="957576"/>
                </a:lnTo>
                <a:lnTo>
                  <a:pt x="45599" y="957576"/>
                </a:lnTo>
                <a:cubicBezTo>
                  <a:pt x="20415" y="957576"/>
                  <a:pt x="0" y="937161"/>
                  <a:pt x="0" y="911978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491455" y="5312269"/>
            <a:ext cx="7261621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步骤3：计算信息增益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40156" y="5677060"/>
            <a:ext cx="7273021" cy="31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16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IG(D, 天气) = 0.247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314759" y="6275546"/>
            <a:ext cx="7478216" cy="558586"/>
          </a:xfrm>
          <a:custGeom>
            <a:avLst/>
            <a:gdLst/>
            <a:ahLst/>
            <a:cxnLst/>
            <a:rect l="l" t="t" r="r" b="b"/>
            <a:pathLst>
              <a:path w="7478216" h="558586">
                <a:moveTo>
                  <a:pt x="91200" y="0"/>
                </a:moveTo>
                <a:lnTo>
                  <a:pt x="7387016" y="0"/>
                </a:lnTo>
                <a:cubicBezTo>
                  <a:pt x="7437384" y="0"/>
                  <a:pt x="7478216" y="40832"/>
                  <a:pt x="7478216" y="91200"/>
                </a:cubicBezTo>
                <a:lnTo>
                  <a:pt x="7478216" y="467386"/>
                </a:lnTo>
                <a:cubicBezTo>
                  <a:pt x="7478216" y="517754"/>
                  <a:pt x="7437384" y="558586"/>
                  <a:pt x="7387016" y="558586"/>
                </a:cubicBezTo>
                <a:lnTo>
                  <a:pt x="91200" y="558586"/>
                </a:lnTo>
                <a:cubicBezTo>
                  <a:pt x="40866" y="558586"/>
                  <a:pt x="0" y="517721"/>
                  <a:pt x="0" y="467386"/>
                </a:cubicBezTo>
                <a:lnTo>
                  <a:pt x="0" y="91200"/>
                </a:lnTo>
                <a:cubicBezTo>
                  <a:pt x="0" y="40866"/>
                  <a:pt x="40866" y="0"/>
                  <a:pt x="91200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 w="12700">
            <a:solidFill>
              <a:srgbClr val="E5A1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457256" y="6418042"/>
            <a:ext cx="7284421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结论：</a:t>
            </a:r>
            <a:r>
              <a:rPr lang="en-US" sz="143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选择信息增益最大的特征作为根节点分裂特征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78788" y="8139400"/>
            <a:ext cx="15321223" cy="547187"/>
          </a:xfrm>
          <a:custGeom>
            <a:avLst/>
            <a:gdLst/>
            <a:ahLst/>
            <a:cxnLst/>
            <a:rect l="l" t="t" r="r" b="b"/>
            <a:pathLst>
              <a:path w="15321223" h="547187">
                <a:moveTo>
                  <a:pt x="45599" y="0"/>
                </a:moveTo>
                <a:lnTo>
                  <a:pt x="15230023" y="0"/>
                </a:lnTo>
                <a:cubicBezTo>
                  <a:pt x="15280392" y="0"/>
                  <a:pt x="15321223" y="40831"/>
                  <a:pt x="15321223" y="91200"/>
                </a:cubicBezTo>
                <a:lnTo>
                  <a:pt x="15321223" y="455987"/>
                </a:lnTo>
                <a:cubicBezTo>
                  <a:pt x="15321223" y="506355"/>
                  <a:pt x="15280392" y="547187"/>
                  <a:pt x="15230023" y="547187"/>
                </a:cubicBezTo>
                <a:lnTo>
                  <a:pt x="45599" y="547187"/>
                </a:lnTo>
                <a:cubicBezTo>
                  <a:pt x="20415" y="547187"/>
                  <a:pt x="0" y="526771"/>
                  <a:pt x="0" y="501588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78788" y="8139400"/>
            <a:ext cx="45599" cy="547187"/>
          </a:xfrm>
          <a:custGeom>
            <a:avLst/>
            <a:gdLst/>
            <a:ahLst/>
            <a:cxnLst/>
            <a:rect l="l" t="t" r="r" b="b"/>
            <a:pathLst>
              <a:path w="45599" h="547187">
                <a:moveTo>
                  <a:pt x="45599" y="0"/>
                </a:moveTo>
                <a:lnTo>
                  <a:pt x="45599" y="0"/>
                </a:lnTo>
                <a:lnTo>
                  <a:pt x="45599" y="547187"/>
                </a:lnTo>
                <a:lnTo>
                  <a:pt x="45599" y="547187"/>
                </a:lnTo>
                <a:cubicBezTo>
                  <a:pt x="20415" y="547187"/>
                  <a:pt x="0" y="526771"/>
                  <a:pt x="0" y="501588"/>
                </a:cubicBezTo>
                <a:lnTo>
                  <a:pt x="0" y="45599"/>
                </a:lnTo>
                <a:cubicBezTo>
                  <a:pt x="0" y="20432"/>
                  <a:pt x="20432" y="0"/>
                  <a:pt x="45599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683983" y="8321795"/>
            <a:ext cx="136797" cy="182396"/>
          </a:xfrm>
          <a:custGeom>
            <a:avLst/>
            <a:gdLst/>
            <a:ahLst/>
            <a:cxnLst/>
            <a:rect l="l" t="t" r="r" b="b"/>
            <a:pathLst>
              <a:path w="136797" h="182396">
                <a:moveTo>
                  <a:pt x="104343" y="136797"/>
                </a:moveTo>
                <a:cubicBezTo>
                  <a:pt x="106944" y="128852"/>
                  <a:pt x="112145" y="121656"/>
                  <a:pt x="118023" y="115458"/>
                </a:cubicBezTo>
                <a:cubicBezTo>
                  <a:pt x="129672" y="103203"/>
                  <a:pt x="136797" y="86638"/>
                  <a:pt x="136797" y="68398"/>
                </a:cubicBezTo>
                <a:cubicBezTo>
                  <a:pt x="136797" y="30637"/>
                  <a:pt x="106160" y="0"/>
                  <a:pt x="68398" y="0"/>
                </a:cubicBezTo>
                <a:cubicBezTo>
                  <a:pt x="30637" y="0"/>
                  <a:pt x="0" y="30637"/>
                  <a:pt x="0" y="68398"/>
                </a:cubicBezTo>
                <a:cubicBezTo>
                  <a:pt x="0" y="86638"/>
                  <a:pt x="7125" y="103203"/>
                  <a:pt x="18774" y="115458"/>
                </a:cubicBezTo>
                <a:cubicBezTo>
                  <a:pt x="24652" y="121656"/>
                  <a:pt x="29889" y="128852"/>
                  <a:pt x="32454" y="136797"/>
                </a:cubicBezTo>
                <a:lnTo>
                  <a:pt x="104307" y="136797"/>
                </a:lnTo>
                <a:close/>
                <a:moveTo>
                  <a:pt x="102597" y="153896"/>
                </a:moveTo>
                <a:lnTo>
                  <a:pt x="34199" y="153896"/>
                </a:lnTo>
                <a:lnTo>
                  <a:pt x="34199" y="159596"/>
                </a:lnTo>
                <a:cubicBezTo>
                  <a:pt x="34199" y="175342"/>
                  <a:pt x="46953" y="188095"/>
                  <a:pt x="62698" y="188095"/>
                </a:cubicBezTo>
                <a:lnTo>
                  <a:pt x="74098" y="188095"/>
                </a:lnTo>
                <a:cubicBezTo>
                  <a:pt x="89844" y="188095"/>
                  <a:pt x="102597" y="175342"/>
                  <a:pt x="102597" y="159596"/>
                </a:cubicBezTo>
                <a:lnTo>
                  <a:pt x="102597" y="153896"/>
                </a:lnTo>
                <a:close/>
                <a:moveTo>
                  <a:pt x="65548" y="39899"/>
                </a:moveTo>
                <a:cubicBezTo>
                  <a:pt x="51370" y="39899"/>
                  <a:pt x="39899" y="51370"/>
                  <a:pt x="39899" y="65548"/>
                </a:cubicBezTo>
                <a:cubicBezTo>
                  <a:pt x="39899" y="70286"/>
                  <a:pt x="36087" y="74098"/>
                  <a:pt x="31349" y="74098"/>
                </a:cubicBezTo>
                <a:cubicBezTo>
                  <a:pt x="26611" y="74098"/>
                  <a:pt x="22799" y="70286"/>
                  <a:pt x="22799" y="65548"/>
                </a:cubicBezTo>
                <a:cubicBezTo>
                  <a:pt x="22799" y="41930"/>
                  <a:pt x="41930" y="22799"/>
                  <a:pt x="65548" y="22799"/>
                </a:cubicBezTo>
                <a:cubicBezTo>
                  <a:pt x="70286" y="22799"/>
                  <a:pt x="74098" y="26611"/>
                  <a:pt x="74098" y="31349"/>
                </a:cubicBezTo>
                <a:cubicBezTo>
                  <a:pt x="74098" y="36087"/>
                  <a:pt x="70286" y="39899"/>
                  <a:pt x="65548" y="39899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003175" y="8276196"/>
            <a:ext cx="7751809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3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关键洞察：</a:t>
            </a:r>
            <a:r>
              <a:rPr lang="en-US" sz="143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信息增益衡量了特征对减少不确定性的贡献，增益越大表示该特征越能提升分类纯度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981" y="445981"/>
            <a:ext cx="15564730" cy="44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6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决策树：算法优缺点与剪枝策略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45981" y="1025756"/>
            <a:ext cx="891962" cy="44598"/>
          </a:xfrm>
          <a:custGeom>
            <a:avLst/>
            <a:gdLst/>
            <a:ahLst/>
            <a:cxnLst/>
            <a:rect l="l" t="t" r="r" b="b"/>
            <a:pathLst>
              <a:path w="891962" h="44598">
                <a:moveTo>
                  <a:pt x="0" y="0"/>
                </a:moveTo>
                <a:lnTo>
                  <a:pt x="891962" y="0"/>
                </a:lnTo>
                <a:lnTo>
                  <a:pt x="891962" y="44598"/>
                </a:lnTo>
                <a:lnTo>
                  <a:pt x="0" y="44598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79429" y="1293344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41811" y="83621"/>
                </a:moveTo>
                <a:cubicBezTo>
                  <a:pt x="51061" y="83621"/>
                  <a:pt x="58535" y="91095"/>
                  <a:pt x="58535" y="100346"/>
                </a:cubicBezTo>
                <a:lnTo>
                  <a:pt x="58535" y="234140"/>
                </a:lnTo>
                <a:cubicBezTo>
                  <a:pt x="58535" y="243391"/>
                  <a:pt x="51061" y="250864"/>
                  <a:pt x="41811" y="250864"/>
                </a:cubicBezTo>
                <a:lnTo>
                  <a:pt x="16724" y="250864"/>
                </a:lnTo>
                <a:cubicBezTo>
                  <a:pt x="7474" y="250864"/>
                  <a:pt x="0" y="243391"/>
                  <a:pt x="0" y="234140"/>
                </a:cubicBezTo>
                <a:lnTo>
                  <a:pt x="0" y="100346"/>
                </a:lnTo>
                <a:cubicBezTo>
                  <a:pt x="0" y="91095"/>
                  <a:pt x="7474" y="83621"/>
                  <a:pt x="16724" y="83621"/>
                </a:cubicBezTo>
                <a:lnTo>
                  <a:pt x="41811" y="83621"/>
                </a:lnTo>
                <a:close/>
                <a:moveTo>
                  <a:pt x="141425" y="8362"/>
                </a:moveTo>
                <a:cubicBezTo>
                  <a:pt x="155693" y="8362"/>
                  <a:pt x="167243" y="19912"/>
                  <a:pt x="167243" y="34180"/>
                </a:cubicBezTo>
                <a:lnTo>
                  <a:pt x="167243" y="36375"/>
                </a:lnTo>
                <a:cubicBezTo>
                  <a:pt x="167243" y="39929"/>
                  <a:pt x="166563" y="43483"/>
                  <a:pt x="165257" y="46776"/>
                </a:cubicBezTo>
                <a:lnTo>
                  <a:pt x="150519" y="83621"/>
                </a:lnTo>
                <a:lnTo>
                  <a:pt x="234140" y="83621"/>
                </a:lnTo>
                <a:cubicBezTo>
                  <a:pt x="247990" y="83621"/>
                  <a:pt x="259226" y="94858"/>
                  <a:pt x="259226" y="108708"/>
                </a:cubicBezTo>
                <a:cubicBezTo>
                  <a:pt x="259226" y="119004"/>
                  <a:pt x="253007" y="127836"/>
                  <a:pt x="244122" y="131704"/>
                </a:cubicBezTo>
                <a:cubicBezTo>
                  <a:pt x="253007" y="135571"/>
                  <a:pt x="259226" y="144404"/>
                  <a:pt x="259226" y="154700"/>
                </a:cubicBezTo>
                <a:cubicBezTo>
                  <a:pt x="259226" y="166929"/>
                  <a:pt x="250446" y="177121"/>
                  <a:pt x="238844" y="179316"/>
                </a:cubicBezTo>
                <a:cubicBezTo>
                  <a:pt x="241143" y="183131"/>
                  <a:pt x="242502" y="187573"/>
                  <a:pt x="242502" y="192329"/>
                </a:cubicBezTo>
                <a:cubicBezTo>
                  <a:pt x="242502" y="203932"/>
                  <a:pt x="234663" y="213653"/>
                  <a:pt x="224001" y="216527"/>
                </a:cubicBezTo>
                <a:cubicBezTo>
                  <a:pt x="225151" y="219402"/>
                  <a:pt x="225778" y="222537"/>
                  <a:pt x="225778" y="225778"/>
                </a:cubicBezTo>
                <a:cubicBezTo>
                  <a:pt x="225778" y="239628"/>
                  <a:pt x="214541" y="250864"/>
                  <a:pt x="200691" y="250864"/>
                </a:cubicBezTo>
                <a:lnTo>
                  <a:pt x="154752" y="250864"/>
                </a:lnTo>
                <a:cubicBezTo>
                  <a:pt x="135780" y="250864"/>
                  <a:pt x="117331" y="244384"/>
                  <a:pt x="102541" y="232520"/>
                </a:cubicBezTo>
                <a:lnTo>
                  <a:pt x="96165" y="227450"/>
                </a:lnTo>
                <a:cubicBezTo>
                  <a:pt x="88221" y="221126"/>
                  <a:pt x="83621" y="211510"/>
                  <a:pt x="83621" y="201319"/>
                </a:cubicBezTo>
                <a:lnTo>
                  <a:pt x="83621" y="103795"/>
                </a:lnTo>
                <a:cubicBezTo>
                  <a:pt x="83621" y="96008"/>
                  <a:pt x="85451" y="88325"/>
                  <a:pt x="88900" y="81374"/>
                </a:cubicBezTo>
                <a:lnTo>
                  <a:pt x="118272" y="22630"/>
                </a:lnTo>
                <a:cubicBezTo>
                  <a:pt x="122662" y="13902"/>
                  <a:pt x="131599" y="8362"/>
                  <a:pt x="141425" y="836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80466" y="1248746"/>
            <a:ext cx="7302936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5981" y="1783923"/>
            <a:ext cx="445981" cy="445981"/>
          </a:xfrm>
          <a:custGeom>
            <a:avLst/>
            <a:gdLst/>
            <a:ahLst/>
            <a:cxnLst/>
            <a:rect l="l" t="t" r="r" b="b"/>
            <a:pathLst>
              <a:path w="445981" h="445981">
                <a:moveTo>
                  <a:pt x="222990" y="0"/>
                </a:moveTo>
                <a:lnTo>
                  <a:pt x="222990" y="0"/>
                </a:lnTo>
                <a:cubicBezTo>
                  <a:pt x="346062" y="0"/>
                  <a:pt x="445981" y="99919"/>
                  <a:pt x="445981" y="222990"/>
                </a:cubicBezTo>
                <a:lnTo>
                  <a:pt x="445981" y="222990"/>
                </a:lnTo>
                <a:cubicBezTo>
                  <a:pt x="445981" y="346062"/>
                  <a:pt x="346062" y="445981"/>
                  <a:pt x="222990" y="445981"/>
                </a:cubicBezTo>
                <a:lnTo>
                  <a:pt x="222990" y="445981"/>
                </a:lnTo>
                <a:cubicBezTo>
                  <a:pt x="99919" y="445981"/>
                  <a:pt x="0" y="346062"/>
                  <a:pt x="0" y="222990"/>
                </a:cubicBezTo>
                <a:lnTo>
                  <a:pt x="0" y="222990"/>
                </a:lnTo>
                <a:cubicBezTo>
                  <a:pt x="0" y="99919"/>
                  <a:pt x="99919" y="0"/>
                  <a:pt x="22299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90925" y="1917717"/>
            <a:ext cx="156093" cy="178392"/>
          </a:xfrm>
          <a:custGeom>
            <a:avLst/>
            <a:gdLst/>
            <a:ahLst/>
            <a:cxnLst/>
            <a:rect l="l" t="t" r="r" b="b"/>
            <a:pathLst>
              <a:path w="156093" h="178392">
                <a:moveTo>
                  <a:pt x="151494" y="24424"/>
                </a:moveTo>
                <a:cubicBezTo>
                  <a:pt x="156477" y="28048"/>
                  <a:pt x="157591" y="35016"/>
                  <a:pt x="153968" y="39999"/>
                </a:cubicBezTo>
                <a:lnTo>
                  <a:pt x="64772" y="162644"/>
                </a:lnTo>
                <a:cubicBezTo>
                  <a:pt x="62855" y="165292"/>
                  <a:pt x="59894" y="166929"/>
                  <a:pt x="56619" y="167208"/>
                </a:cubicBezTo>
                <a:cubicBezTo>
                  <a:pt x="53343" y="167487"/>
                  <a:pt x="50173" y="166267"/>
                  <a:pt x="47873" y="163968"/>
                </a:cubicBezTo>
                <a:lnTo>
                  <a:pt x="3275" y="119370"/>
                </a:lnTo>
                <a:cubicBezTo>
                  <a:pt x="-1080" y="115014"/>
                  <a:pt x="-1080" y="107941"/>
                  <a:pt x="3275" y="103586"/>
                </a:cubicBezTo>
                <a:cubicBezTo>
                  <a:pt x="7630" y="99231"/>
                  <a:pt x="14703" y="99231"/>
                  <a:pt x="19059" y="103586"/>
                </a:cubicBezTo>
                <a:lnTo>
                  <a:pt x="54424" y="138951"/>
                </a:lnTo>
                <a:lnTo>
                  <a:pt x="135954" y="26863"/>
                </a:lnTo>
                <a:cubicBezTo>
                  <a:pt x="139578" y="21881"/>
                  <a:pt x="146547" y="20766"/>
                  <a:pt x="151529" y="2439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70354" y="1783923"/>
            <a:ext cx="4381761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0354" y="2185306"/>
            <a:ext cx="4370612" cy="2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决策过程直观，可视化效果好，易于被非专业人士理解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5981" y="2608988"/>
            <a:ext cx="445981" cy="445981"/>
          </a:xfrm>
          <a:custGeom>
            <a:avLst/>
            <a:gdLst/>
            <a:ahLst/>
            <a:cxnLst/>
            <a:rect l="l" t="t" r="r" b="b"/>
            <a:pathLst>
              <a:path w="445981" h="445981">
                <a:moveTo>
                  <a:pt x="222990" y="0"/>
                </a:moveTo>
                <a:lnTo>
                  <a:pt x="222990" y="0"/>
                </a:lnTo>
                <a:cubicBezTo>
                  <a:pt x="346062" y="0"/>
                  <a:pt x="445981" y="99919"/>
                  <a:pt x="445981" y="222990"/>
                </a:cubicBezTo>
                <a:lnTo>
                  <a:pt x="445981" y="222990"/>
                </a:lnTo>
                <a:cubicBezTo>
                  <a:pt x="445981" y="346062"/>
                  <a:pt x="346062" y="445981"/>
                  <a:pt x="222990" y="445981"/>
                </a:cubicBezTo>
                <a:lnTo>
                  <a:pt x="222990" y="445981"/>
                </a:lnTo>
                <a:cubicBezTo>
                  <a:pt x="99919" y="445981"/>
                  <a:pt x="0" y="346062"/>
                  <a:pt x="0" y="222990"/>
                </a:cubicBezTo>
                <a:lnTo>
                  <a:pt x="0" y="222990"/>
                </a:lnTo>
                <a:cubicBezTo>
                  <a:pt x="0" y="99919"/>
                  <a:pt x="99919" y="0"/>
                  <a:pt x="22299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90925" y="2742782"/>
            <a:ext cx="156093" cy="178392"/>
          </a:xfrm>
          <a:custGeom>
            <a:avLst/>
            <a:gdLst/>
            <a:ahLst/>
            <a:cxnLst/>
            <a:rect l="l" t="t" r="r" b="b"/>
            <a:pathLst>
              <a:path w="156093" h="178392">
                <a:moveTo>
                  <a:pt x="151494" y="24424"/>
                </a:moveTo>
                <a:cubicBezTo>
                  <a:pt x="156477" y="28048"/>
                  <a:pt x="157591" y="35016"/>
                  <a:pt x="153968" y="39999"/>
                </a:cubicBezTo>
                <a:lnTo>
                  <a:pt x="64772" y="162644"/>
                </a:lnTo>
                <a:cubicBezTo>
                  <a:pt x="62855" y="165292"/>
                  <a:pt x="59894" y="166929"/>
                  <a:pt x="56619" y="167208"/>
                </a:cubicBezTo>
                <a:cubicBezTo>
                  <a:pt x="53343" y="167487"/>
                  <a:pt x="50173" y="166267"/>
                  <a:pt x="47873" y="163968"/>
                </a:cubicBezTo>
                <a:lnTo>
                  <a:pt x="3275" y="119370"/>
                </a:lnTo>
                <a:cubicBezTo>
                  <a:pt x="-1080" y="115014"/>
                  <a:pt x="-1080" y="107941"/>
                  <a:pt x="3275" y="103586"/>
                </a:cubicBezTo>
                <a:cubicBezTo>
                  <a:pt x="7630" y="99231"/>
                  <a:pt x="14703" y="99231"/>
                  <a:pt x="19059" y="103586"/>
                </a:cubicBezTo>
                <a:lnTo>
                  <a:pt x="54424" y="138951"/>
                </a:lnTo>
                <a:lnTo>
                  <a:pt x="135954" y="26863"/>
                </a:lnTo>
                <a:cubicBezTo>
                  <a:pt x="139578" y="21881"/>
                  <a:pt x="146547" y="20766"/>
                  <a:pt x="151529" y="2439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70354" y="2608988"/>
            <a:ext cx="3311407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数据处理能力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0354" y="3010370"/>
            <a:ext cx="3300258" cy="2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能够处理非线性关系，对异常值相对鲁棒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5981" y="3434052"/>
            <a:ext cx="445981" cy="445981"/>
          </a:xfrm>
          <a:custGeom>
            <a:avLst/>
            <a:gdLst/>
            <a:ahLst/>
            <a:cxnLst/>
            <a:rect l="l" t="t" r="r" b="b"/>
            <a:pathLst>
              <a:path w="445981" h="445981">
                <a:moveTo>
                  <a:pt x="222990" y="0"/>
                </a:moveTo>
                <a:lnTo>
                  <a:pt x="222990" y="0"/>
                </a:lnTo>
                <a:cubicBezTo>
                  <a:pt x="346062" y="0"/>
                  <a:pt x="445981" y="99919"/>
                  <a:pt x="445981" y="222990"/>
                </a:cubicBezTo>
                <a:lnTo>
                  <a:pt x="445981" y="222990"/>
                </a:lnTo>
                <a:cubicBezTo>
                  <a:pt x="445981" y="346062"/>
                  <a:pt x="346062" y="445981"/>
                  <a:pt x="222990" y="445981"/>
                </a:cubicBezTo>
                <a:lnTo>
                  <a:pt x="222990" y="445981"/>
                </a:lnTo>
                <a:cubicBezTo>
                  <a:pt x="99919" y="445981"/>
                  <a:pt x="0" y="346062"/>
                  <a:pt x="0" y="222990"/>
                </a:cubicBezTo>
                <a:lnTo>
                  <a:pt x="0" y="222990"/>
                </a:lnTo>
                <a:cubicBezTo>
                  <a:pt x="0" y="99919"/>
                  <a:pt x="99919" y="0"/>
                  <a:pt x="22299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90925" y="3567846"/>
            <a:ext cx="156093" cy="178392"/>
          </a:xfrm>
          <a:custGeom>
            <a:avLst/>
            <a:gdLst/>
            <a:ahLst/>
            <a:cxnLst/>
            <a:rect l="l" t="t" r="r" b="b"/>
            <a:pathLst>
              <a:path w="156093" h="178392">
                <a:moveTo>
                  <a:pt x="151494" y="24424"/>
                </a:moveTo>
                <a:cubicBezTo>
                  <a:pt x="156477" y="28048"/>
                  <a:pt x="157591" y="35016"/>
                  <a:pt x="153968" y="39999"/>
                </a:cubicBezTo>
                <a:lnTo>
                  <a:pt x="64772" y="162644"/>
                </a:lnTo>
                <a:cubicBezTo>
                  <a:pt x="62855" y="165292"/>
                  <a:pt x="59894" y="166929"/>
                  <a:pt x="56619" y="167208"/>
                </a:cubicBezTo>
                <a:cubicBezTo>
                  <a:pt x="53343" y="167487"/>
                  <a:pt x="50173" y="166267"/>
                  <a:pt x="47873" y="163968"/>
                </a:cubicBezTo>
                <a:lnTo>
                  <a:pt x="3275" y="119370"/>
                </a:lnTo>
                <a:cubicBezTo>
                  <a:pt x="-1080" y="115014"/>
                  <a:pt x="-1080" y="107941"/>
                  <a:pt x="3275" y="103586"/>
                </a:cubicBezTo>
                <a:cubicBezTo>
                  <a:pt x="7630" y="99231"/>
                  <a:pt x="14703" y="99231"/>
                  <a:pt x="19059" y="103586"/>
                </a:cubicBezTo>
                <a:lnTo>
                  <a:pt x="54424" y="138951"/>
                </a:lnTo>
                <a:lnTo>
                  <a:pt x="135954" y="26863"/>
                </a:lnTo>
                <a:cubicBezTo>
                  <a:pt x="139578" y="21881"/>
                  <a:pt x="146547" y="20766"/>
                  <a:pt x="151529" y="24390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70354" y="3434052"/>
            <a:ext cx="3489800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无需特征缩放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0354" y="3835435"/>
            <a:ext cx="3478650" cy="2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通常不需要对数据进行标准化或归一化处理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8534" y="1293344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200691" y="16724"/>
                </a:moveTo>
                <a:cubicBezTo>
                  <a:pt x="214541" y="16724"/>
                  <a:pt x="225778" y="27961"/>
                  <a:pt x="225778" y="41811"/>
                </a:cubicBezTo>
                <a:cubicBezTo>
                  <a:pt x="225778" y="45103"/>
                  <a:pt x="225098" y="48187"/>
                  <a:pt x="224001" y="51061"/>
                </a:cubicBezTo>
                <a:cubicBezTo>
                  <a:pt x="234663" y="53936"/>
                  <a:pt x="242502" y="63657"/>
                  <a:pt x="242502" y="75259"/>
                </a:cubicBezTo>
                <a:cubicBezTo>
                  <a:pt x="242502" y="80015"/>
                  <a:pt x="241143" y="84458"/>
                  <a:pt x="238844" y="88273"/>
                </a:cubicBezTo>
                <a:cubicBezTo>
                  <a:pt x="250446" y="90468"/>
                  <a:pt x="259226" y="100659"/>
                  <a:pt x="259226" y="112889"/>
                </a:cubicBezTo>
                <a:cubicBezTo>
                  <a:pt x="259226" y="123185"/>
                  <a:pt x="253007" y="132017"/>
                  <a:pt x="244122" y="135885"/>
                </a:cubicBezTo>
                <a:cubicBezTo>
                  <a:pt x="253007" y="139752"/>
                  <a:pt x="259226" y="148585"/>
                  <a:pt x="259226" y="158881"/>
                </a:cubicBezTo>
                <a:cubicBezTo>
                  <a:pt x="259226" y="172730"/>
                  <a:pt x="247990" y="183967"/>
                  <a:pt x="234140" y="183967"/>
                </a:cubicBezTo>
                <a:lnTo>
                  <a:pt x="150519" y="183967"/>
                </a:lnTo>
                <a:lnTo>
                  <a:pt x="165257" y="220760"/>
                </a:lnTo>
                <a:cubicBezTo>
                  <a:pt x="166563" y="224053"/>
                  <a:pt x="167243" y="227607"/>
                  <a:pt x="167243" y="231161"/>
                </a:cubicBezTo>
                <a:lnTo>
                  <a:pt x="167243" y="233356"/>
                </a:lnTo>
                <a:cubicBezTo>
                  <a:pt x="167243" y="247624"/>
                  <a:pt x="155693" y="259174"/>
                  <a:pt x="141425" y="259174"/>
                </a:cubicBezTo>
                <a:cubicBezTo>
                  <a:pt x="131651" y="259174"/>
                  <a:pt x="122714" y="253634"/>
                  <a:pt x="118324" y="244906"/>
                </a:cubicBezTo>
                <a:lnTo>
                  <a:pt x="88900" y="186214"/>
                </a:lnTo>
                <a:cubicBezTo>
                  <a:pt x="85398" y="179263"/>
                  <a:pt x="83621" y="171581"/>
                  <a:pt x="83621" y="163793"/>
                </a:cubicBezTo>
                <a:lnTo>
                  <a:pt x="83621" y="66270"/>
                </a:lnTo>
                <a:cubicBezTo>
                  <a:pt x="83621" y="56131"/>
                  <a:pt x="88273" y="46514"/>
                  <a:pt x="96165" y="40138"/>
                </a:cubicBezTo>
                <a:lnTo>
                  <a:pt x="102541" y="35069"/>
                </a:lnTo>
                <a:cubicBezTo>
                  <a:pt x="117384" y="23205"/>
                  <a:pt x="135780" y="16724"/>
                  <a:pt x="154752" y="16724"/>
                </a:cubicBezTo>
                <a:lnTo>
                  <a:pt x="200691" y="16724"/>
                </a:lnTo>
                <a:close/>
                <a:moveTo>
                  <a:pt x="41811" y="50173"/>
                </a:moveTo>
                <a:cubicBezTo>
                  <a:pt x="51061" y="50173"/>
                  <a:pt x="58535" y="57647"/>
                  <a:pt x="58535" y="66897"/>
                </a:cubicBezTo>
                <a:lnTo>
                  <a:pt x="58535" y="200691"/>
                </a:lnTo>
                <a:cubicBezTo>
                  <a:pt x="58535" y="209942"/>
                  <a:pt x="51061" y="217416"/>
                  <a:pt x="41811" y="217416"/>
                </a:cubicBezTo>
                <a:lnTo>
                  <a:pt x="16724" y="217416"/>
                </a:lnTo>
                <a:cubicBezTo>
                  <a:pt x="7474" y="217416"/>
                  <a:pt x="0" y="209942"/>
                  <a:pt x="0" y="200691"/>
                </a:cubicBezTo>
                <a:lnTo>
                  <a:pt x="0" y="66897"/>
                </a:lnTo>
                <a:cubicBezTo>
                  <a:pt x="0" y="57647"/>
                  <a:pt x="7474" y="50173"/>
                  <a:pt x="16724" y="50173"/>
                </a:cubicBezTo>
                <a:lnTo>
                  <a:pt x="41811" y="50173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639571" y="1248746"/>
            <a:ext cx="7302936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05086" y="1783923"/>
            <a:ext cx="445981" cy="445981"/>
          </a:xfrm>
          <a:custGeom>
            <a:avLst/>
            <a:gdLst/>
            <a:ahLst/>
            <a:cxnLst/>
            <a:rect l="l" t="t" r="r" b="b"/>
            <a:pathLst>
              <a:path w="445981" h="445981">
                <a:moveTo>
                  <a:pt x="222990" y="0"/>
                </a:moveTo>
                <a:lnTo>
                  <a:pt x="222990" y="0"/>
                </a:lnTo>
                <a:cubicBezTo>
                  <a:pt x="346062" y="0"/>
                  <a:pt x="445981" y="99919"/>
                  <a:pt x="445981" y="222990"/>
                </a:cubicBezTo>
                <a:lnTo>
                  <a:pt x="445981" y="222990"/>
                </a:lnTo>
                <a:cubicBezTo>
                  <a:pt x="445981" y="346062"/>
                  <a:pt x="346062" y="445981"/>
                  <a:pt x="222990" y="445981"/>
                </a:cubicBezTo>
                <a:lnTo>
                  <a:pt x="222990" y="445981"/>
                </a:lnTo>
                <a:cubicBezTo>
                  <a:pt x="99919" y="445981"/>
                  <a:pt x="0" y="346062"/>
                  <a:pt x="0" y="222990"/>
                </a:cubicBezTo>
                <a:lnTo>
                  <a:pt x="0" y="222990"/>
                </a:lnTo>
                <a:cubicBezTo>
                  <a:pt x="0" y="99919"/>
                  <a:pt x="99919" y="0"/>
                  <a:pt x="22299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461179" y="1917717"/>
            <a:ext cx="133794" cy="178392"/>
          </a:xfrm>
          <a:custGeom>
            <a:avLst/>
            <a:gdLst/>
            <a:ahLst/>
            <a:cxnLst/>
            <a:rect l="l" t="t" r="r" b="b"/>
            <a:pathLst>
              <a:path w="133794" h="178392">
                <a:moveTo>
                  <a:pt x="19198" y="25574"/>
                </a:moveTo>
                <a:cubicBezTo>
                  <a:pt x="14843" y="21219"/>
                  <a:pt x="7770" y="21219"/>
                  <a:pt x="3415" y="25574"/>
                </a:cubicBezTo>
                <a:cubicBezTo>
                  <a:pt x="-941" y="29929"/>
                  <a:pt x="-941" y="37002"/>
                  <a:pt x="3415" y="41358"/>
                </a:cubicBezTo>
                <a:lnTo>
                  <a:pt x="51288" y="89196"/>
                </a:lnTo>
                <a:lnTo>
                  <a:pt x="3449" y="137069"/>
                </a:lnTo>
                <a:cubicBezTo>
                  <a:pt x="-906" y="141425"/>
                  <a:pt x="-906" y="148498"/>
                  <a:pt x="3449" y="152853"/>
                </a:cubicBezTo>
                <a:cubicBezTo>
                  <a:pt x="7805" y="157208"/>
                  <a:pt x="14878" y="157208"/>
                  <a:pt x="19233" y="152853"/>
                </a:cubicBezTo>
                <a:lnTo>
                  <a:pt x="67071" y="104980"/>
                </a:lnTo>
                <a:lnTo>
                  <a:pt x="114945" y="152818"/>
                </a:lnTo>
                <a:cubicBezTo>
                  <a:pt x="119300" y="157173"/>
                  <a:pt x="126373" y="157173"/>
                  <a:pt x="130728" y="152818"/>
                </a:cubicBezTo>
                <a:cubicBezTo>
                  <a:pt x="135083" y="148463"/>
                  <a:pt x="135083" y="141390"/>
                  <a:pt x="130728" y="137035"/>
                </a:cubicBezTo>
                <a:lnTo>
                  <a:pt x="82855" y="89196"/>
                </a:lnTo>
                <a:lnTo>
                  <a:pt x="130693" y="41323"/>
                </a:lnTo>
                <a:cubicBezTo>
                  <a:pt x="135049" y="36968"/>
                  <a:pt x="135049" y="29895"/>
                  <a:pt x="130693" y="25539"/>
                </a:cubicBezTo>
                <a:cubicBezTo>
                  <a:pt x="126338" y="21184"/>
                  <a:pt x="119265" y="21184"/>
                  <a:pt x="114910" y="25539"/>
                </a:cubicBezTo>
                <a:lnTo>
                  <a:pt x="67071" y="73413"/>
                </a:lnTo>
                <a:lnTo>
                  <a:pt x="19198" y="25574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929459" y="1783923"/>
            <a:ext cx="5630508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容易过拟合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29459" y="2185306"/>
            <a:ext cx="5619358" cy="2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生成的树可能过于复杂，导致泛化能力下降，通常需要剪枝或限制深度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05086" y="2608988"/>
            <a:ext cx="445981" cy="445981"/>
          </a:xfrm>
          <a:custGeom>
            <a:avLst/>
            <a:gdLst/>
            <a:ahLst/>
            <a:cxnLst/>
            <a:rect l="l" t="t" r="r" b="b"/>
            <a:pathLst>
              <a:path w="445981" h="445981">
                <a:moveTo>
                  <a:pt x="222990" y="0"/>
                </a:moveTo>
                <a:lnTo>
                  <a:pt x="222990" y="0"/>
                </a:lnTo>
                <a:cubicBezTo>
                  <a:pt x="346062" y="0"/>
                  <a:pt x="445981" y="99919"/>
                  <a:pt x="445981" y="222990"/>
                </a:cubicBezTo>
                <a:lnTo>
                  <a:pt x="445981" y="222990"/>
                </a:lnTo>
                <a:cubicBezTo>
                  <a:pt x="445981" y="346062"/>
                  <a:pt x="346062" y="445981"/>
                  <a:pt x="222990" y="445981"/>
                </a:cubicBezTo>
                <a:lnTo>
                  <a:pt x="222990" y="445981"/>
                </a:lnTo>
                <a:cubicBezTo>
                  <a:pt x="99919" y="445981"/>
                  <a:pt x="0" y="346062"/>
                  <a:pt x="0" y="222990"/>
                </a:cubicBezTo>
                <a:lnTo>
                  <a:pt x="0" y="222990"/>
                </a:lnTo>
                <a:cubicBezTo>
                  <a:pt x="0" y="99919"/>
                  <a:pt x="99919" y="0"/>
                  <a:pt x="22299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461179" y="2742782"/>
            <a:ext cx="133794" cy="178392"/>
          </a:xfrm>
          <a:custGeom>
            <a:avLst/>
            <a:gdLst/>
            <a:ahLst/>
            <a:cxnLst/>
            <a:rect l="l" t="t" r="r" b="b"/>
            <a:pathLst>
              <a:path w="133794" h="178392">
                <a:moveTo>
                  <a:pt x="19198" y="25574"/>
                </a:moveTo>
                <a:cubicBezTo>
                  <a:pt x="14843" y="21219"/>
                  <a:pt x="7770" y="21219"/>
                  <a:pt x="3415" y="25574"/>
                </a:cubicBezTo>
                <a:cubicBezTo>
                  <a:pt x="-941" y="29929"/>
                  <a:pt x="-941" y="37002"/>
                  <a:pt x="3415" y="41358"/>
                </a:cubicBezTo>
                <a:lnTo>
                  <a:pt x="51288" y="89196"/>
                </a:lnTo>
                <a:lnTo>
                  <a:pt x="3449" y="137069"/>
                </a:lnTo>
                <a:cubicBezTo>
                  <a:pt x="-906" y="141425"/>
                  <a:pt x="-906" y="148498"/>
                  <a:pt x="3449" y="152853"/>
                </a:cubicBezTo>
                <a:cubicBezTo>
                  <a:pt x="7805" y="157208"/>
                  <a:pt x="14878" y="157208"/>
                  <a:pt x="19233" y="152853"/>
                </a:cubicBezTo>
                <a:lnTo>
                  <a:pt x="67071" y="104980"/>
                </a:lnTo>
                <a:lnTo>
                  <a:pt x="114945" y="152818"/>
                </a:lnTo>
                <a:cubicBezTo>
                  <a:pt x="119300" y="157173"/>
                  <a:pt x="126373" y="157173"/>
                  <a:pt x="130728" y="152818"/>
                </a:cubicBezTo>
                <a:cubicBezTo>
                  <a:pt x="135083" y="148463"/>
                  <a:pt x="135083" y="141390"/>
                  <a:pt x="130728" y="137035"/>
                </a:cubicBezTo>
                <a:lnTo>
                  <a:pt x="82855" y="89196"/>
                </a:lnTo>
                <a:lnTo>
                  <a:pt x="130693" y="41323"/>
                </a:lnTo>
                <a:cubicBezTo>
                  <a:pt x="135049" y="36968"/>
                  <a:pt x="135049" y="29895"/>
                  <a:pt x="130693" y="25539"/>
                </a:cubicBezTo>
                <a:cubicBezTo>
                  <a:pt x="126338" y="21184"/>
                  <a:pt x="119265" y="21184"/>
                  <a:pt x="114910" y="25539"/>
                </a:cubicBezTo>
                <a:lnTo>
                  <a:pt x="67071" y="73413"/>
                </a:lnTo>
                <a:lnTo>
                  <a:pt x="19198" y="25574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29459" y="2608988"/>
            <a:ext cx="5273723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不稳定性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29459" y="3010370"/>
            <a:ext cx="5262573" cy="2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对数据的小变化敏感，数据的一点变动可能导致树结构的剧烈改变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05086" y="3434052"/>
            <a:ext cx="445981" cy="445981"/>
          </a:xfrm>
          <a:custGeom>
            <a:avLst/>
            <a:gdLst/>
            <a:ahLst/>
            <a:cxnLst/>
            <a:rect l="l" t="t" r="r" b="b"/>
            <a:pathLst>
              <a:path w="445981" h="445981">
                <a:moveTo>
                  <a:pt x="222990" y="0"/>
                </a:moveTo>
                <a:lnTo>
                  <a:pt x="222990" y="0"/>
                </a:lnTo>
                <a:cubicBezTo>
                  <a:pt x="346062" y="0"/>
                  <a:pt x="445981" y="99919"/>
                  <a:pt x="445981" y="222990"/>
                </a:cubicBezTo>
                <a:lnTo>
                  <a:pt x="445981" y="222990"/>
                </a:lnTo>
                <a:cubicBezTo>
                  <a:pt x="445981" y="346062"/>
                  <a:pt x="346062" y="445981"/>
                  <a:pt x="222990" y="445981"/>
                </a:cubicBezTo>
                <a:lnTo>
                  <a:pt x="222990" y="445981"/>
                </a:lnTo>
                <a:cubicBezTo>
                  <a:pt x="99919" y="445981"/>
                  <a:pt x="0" y="346062"/>
                  <a:pt x="0" y="222990"/>
                </a:cubicBezTo>
                <a:lnTo>
                  <a:pt x="0" y="222990"/>
                </a:lnTo>
                <a:cubicBezTo>
                  <a:pt x="0" y="99919"/>
                  <a:pt x="99919" y="0"/>
                  <a:pt x="22299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461179" y="3567846"/>
            <a:ext cx="133794" cy="178392"/>
          </a:xfrm>
          <a:custGeom>
            <a:avLst/>
            <a:gdLst/>
            <a:ahLst/>
            <a:cxnLst/>
            <a:rect l="l" t="t" r="r" b="b"/>
            <a:pathLst>
              <a:path w="133794" h="178392">
                <a:moveTo>
                  <a:pt x="19198" y="25574"/>
                </a:moveTo>
                <a:cubicBezTo>
                  <a:pt x="14843" y="21219"/>
                  <a:pt x="7770" y="21219"/>
                  <a:pt x="3415" y="25574"/>
                </a:cubicBezTo>
                <a:cubicBezTo>
                  <a:pt x="-941" y="29929"/>
                  <a:pt x="-941" y="37002"/>
                  <a:pt x="3415" y="41358"/>
                </a:cubicBezTo>
                <a:lnTo>
                  <a:pt x="51288" y="89196"/>
                </a:lnTo>
                <a:lnTo>
                  <a:pt x="3449" y="137069"/>
                </a:lnTo>
                <a:cubicBezTo>
                  <a:pt x="-906" y="141425"/>
                  <a:pt x="-906" y="148498"/>
                  <a:pt x="3449" y="152853"/>
                </a:cubicBezTo>
                <a:cubicBezTo>
                  <a:pt x="7805" y="157208"/>
                  <a:pt x="14878" y="157208"/>
                  <a:pt x="19233" y="152853"/>
                </a:cubicBezTo>
                <a:lnTo>
                  <a:pt x="67071" y="104980"/>
                </a:lnTo>
                <a:lnTo>
                  <a:pt x="114945" y="152818"/>
                </a:lnTo>
                <a:cubicBezTo>
                  <a:pt x="119300" y="157173"/>
                  <a:pt x="126373" y="157173"/>
                  <a:pt x="130728" y="152818"/>
                </a:cubicBezTo>
                <a:cubicBezTo>
                  <a:pt x="135083" y="148463"/>
                  <a:pt x="135083" y="141390"/>
                  <a:pt x="130728" y="137035"/>
                </a:cubicBezTo>
                <a:lnTo>
                  <a:pt x="82855" y="89196"/>
                </a:lnTo>
                <a:lnTo>
                  <a:pt x="130693" y="41323"/>
                </a:lnTo>
                <a:cubicBezTo>
                  <a:pt x="135049" y="36968"/>
                  <a:pt x="135049" y="29895"/>
                  <a:pt x="130693" y="25539"/>
                </a:cubicBezTo>
                <a:cubicBezTo>
                  <a:pt x="126338" y="21184"/>
                  <a:pt x="119265" y="21184"/>
                  <a:pt x="114910" y="25539"/>
                </a:cubicBezTo>
                <a:lnTo>
                  <a:pt x="67071" y="73413"/>
                </a:lnTo>
                <a:lnTo>
                  <a:pt x="19198" y="25574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929459" y="3434052"/>
            <a:ext cx="5808900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偏向性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29459" y="3835435"/>
            <a:ext cx="5797750" cy="2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可能偏向于选择取值较多（高基数）的特征，需结合验证集与正则化约束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9429" y="4348313"/>
            <a:ext cx="267588" cy="267588"/>
          </a:xfrm>
          <a:custGeom>
            <a:avLst/>
            <a:gdLst/>
            <a:ahLst/>
            <a:cxnLst/>
            <a:rect l="l" t="t" r="r" b="b"/>
            <a:pathLst>
              <a:path w="267588" h="267588">
                <a:moveTo>
                  <a:pt x="100346" y="133794"/>
                </a:moveTo>
                <a:lnTo>
                  <a:pt x="79702" y="154438"/>
                </a:lnTo>
                <a:cubicBezTo>
                  <a:pt x="73116" y="151877"/>
                  <a:pt x="66009" y="150519"/>
                  <a:pt x="58535" y="150519"/>
                </a:cubicBezTo>
                <a:cubicBezTo>
                  <a:pt x="26184" y="150519"/>
                  <a:pt x="0" y="176702"/>
                  <a:pt x="0" y="209053"/>
                </a:cubicBezTo>
                <a:cubicBezTo>
                  <a:pt x="0" y="241405"/>
                  <a:pt x="26184" y="267588"/>
                  <a:pt x="58535" y="267588"/>
                </a:cubicBezTo>
                <a:cubicBezTo>
                  <a:pt x="90886" y="267588"/>
                  <a:pt x="117070" y="241405"/>
                  <a:pt x="117070" y="209053"/>
                </a:cubicBezTo>
                <a:cubicBezTo>
                  <a:pt x="117070" y="201580"/>
                  <a:pt x="115659" y="194472"/>
                  <a:pt x="113150" y="187887"/>
                </a:cubicBezTo>
                <a:lnTo>
                  <a:pt x="260899" y="40138"/>
                </a:lnTo>
                <a:cubicBezTo>
                  <a:pt x="264609" y="36428"/>
                  <a:pt x="264609" y="30470"/>
                  <a:pt x="260899" y="26759"/>
                </a:cubicBezTo>
                <a:cubicBezTo>
                  <a:pt x="246108" y="11968"/>
                  <a:pt x="222172" y="11968"/>
                  <a:pt x="207381" y="26759"/>
                </a:cubicBezTo>
                <a:lnTo>
                  <a:pt x="133794" y="100346"/>
                </a:lnTo>
                <a:lnTo>
                  <a:pt x="113150" y="79702"/>
                </a:lnTo>
                <a:cubicBezTo>
                  <a:pt x="115711" y="73116"/>
                  <a:pt x="117070" y="66009"/>
                  <a:pt x="117070" y="58535"/>
                </a:cubicBezTo>
                <a:cubicBezTo>
                  <a:pt x="117070" y="26184"/>
                  <a:pt x="90886" y="0"/>
                  <a:pt x="58535" y="0"/>
                </a:cubicBezTo>
                <a:cubicBezTo>
                  <a:pt x="26184" y="0"/>
                  <a:pt x="0" y="26184"/>
                  <a:pt x="0" y="58535"/>
                </a:cubicBezTo>
                <a:cubicBezTo>
                  <a:pt x="0" y="90886"/>
                  <a:pt x="26184" y="117070"/>
                  <a:pt x="58535" y="117070"/>
                </a:cubicBezTo>
                <a:cubicBezTo>
                  <a:pt x="66009" y="117070"/>
                  <a:pt x="73116" y="115659"/>
                  <a:pt x="79702" y="113150"/>
                </a:cubicBezTo>
                <a:lnTo>
                  <a:pt x="100346" y="133794"/>
                </a:lnTo>
                <a:close/>
                <a:moveTo>
                  <a:pt x="151512" y="184960"/>
                </a:moveTo>
                <a:lnTo>
                  <a:pt x="207381" y="240830"/>
                </a:lnTo>
                <a:cubicBezTo>
                  <a:pt x="222172" y="255620"/>
                  <a:pt x="246108" y="255620"/>
                  <a:pt x="260899" y="240830"/>
                </a:cubicBezTo>
                <a:cubicBezTo>
                  <a:pt x="264609" y="237119"/>
                  <a:pt x="264609" y="231161"/>
                  <a:pt x="260899" y="227450"/>
                </a:cubicBezTo>
                <a:lnTo>
                  <a:pt x="184960" y="151512"/>
                </a:lnTo>
                <a:lnTo>
                  <a:pt x="151512" y="184960"/>
                </a:lnTo>
                <a:close/>
                <a:moveTo>
                  <a:pt x="33449" y="58535"/>
                </a:moveTo>
                <a:cubicBezTo>
                  <a:pt x="33449" y="44689"/>
                  <a:pt x="44689" y="33449"/>
                  <a:pt x="58535" y="33449"/>
                </a:cubicBezTo>
                <a:cubicBezTo>
                  <a:pt x="72381" y="33449"/>
                  <a:pt x="83621" y="44689"/>
                  <a:pt x="83621" y="58535"/>
                </a:cubicBezTo>
                <a:cubicBezTo>
                  <a:pt x="83621" y="72381"/>
                  <a:pt x="72381" y="83621"/>
                  <a:pt x="58535" y="83621"/>
                </a:cubicBezTo>
                <a:cubicBezTo>
                  <a:pt x="44689" y="83621"/>
                  <a:pt x="33449" y="72381"/>
                  <a:pt x="33449" y="58535"/>
                </a:cubicBezTo>
                <a:close/>
                <a:moveTo>
                  <a:pt x="58535" y="183967"/>
                </a:moveTo>
                <a:cubicBezTo>
                  <a:pt x="72381" y="183967"/>
                  <a:pt x="83621" y="195208"/>
                  <a:pt x="83621" y="209053"/>
                </a:cubicBezTo>
                <a:cubicBezTo>
                  <a:pt x="83621" y="222899"/>
                  <a:pt x="72381" y="234140"/>
                  <a:pt x="58535" y="234140"/>
                </a:cubicBezTo>
                <a:cubicBezTo>
                  <a:pt x="44689" y="234140"/>
                  <a:pt x="33449" y="222899"/>
                  <a:pt x="33449" y="209053"/>
                </a:cubicBezTo>
                <a:cubicBezTo>
                  <a:pt x="33449" y="195208"/>
                  <a:pt x="44689" y="183967"/>
                  <a:pt x="58535" y="18396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80466" y="4303715"/>
            <a:ext cx="15163347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剪枝策略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8280" y="4838892"/>
            <a:ext cx="7481328" cy="2252203"/>
          </a:xfrm>
          <a:custGeom>
            <a:avLst/>
            <a:gdLst/>
            <a:ahLst/>
            <a:cxnLst/>
            <a:rect l="l" t="t" r="r" b="b"/>
            <a:pathLst>
              <a:path w="7481328" h="2252203">
                <a:moveTo>
                  <a:pt x="44598" y="0"/>
                </a:moveTo>
                <a:lnTo>
                  <a:pt x="7392141" y="0"/>
                </a:lnTo>
                <a:cubicBezTo>
                  <a:pt x="7441397" y="0"/>
                  <a:pt x="7481328" y="39930"/>
                  <a:pt x="7481328" y="89187"/>
                </a:cubicBezTo>
                <a:lnTo>
                  <a:pt x="7481328" y="2163016"/>
                </a:lnTo>
                <a:cubicBezTo>
                  <a:pt x="7481328" y="2212273"/>
                  <a:pt x="7441397" y="2252203"/>
                  <a:pt x="7392141" y="2252203"/>
                </a:cubicBezTo>
                <a:lnTo>
                  <a:pt x="44598" y="2252203"/>
                </a:lnTo>
                <a:cubicBezTo>
                  <a:pt x="19967" y="2252203"/>
                  <a:pt x="0" y="2232236"/>
                  <a:pt x="0" y="2207605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68280" y="4838892"/>
            <a:ext cx="44598" cy="2252203"/>
          </a:xfrm>
          <a:custGeom>
            <a:avLst/>
            <a:gdLst/>
            <a:ahLst/>
            <a:cxnLst/>
            <a:rect l="l" t="t" r="r" b="b"/>
            <a:pathLst>
              <a:path w="44598" h="2252203">
                <a:moveTo>
                  <a:pt x="44598" y="0"/>
                </a:moveTo>
                <a:lnTo>
                  <a:pt x="44598" y="0"/>
                </a:lnTo>
                <a:lnTo>
                  <a:pt x="44598" y="2252203"/>
                </a:lnTo>
                <a:lnTo>
                  <a:pt x="44598" y="2252203"/>
                </a:lnTo>
                <a:cubicBezTo>
                  <a:pt x="19967" y="2252203"/>
                  <a:pt x="0" y="2232236"/>
                  <a:pt x="0" y="2207605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68971" y="5017284"/>
            <a:ext cx="7213739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80" dirty="0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80" dirty="0" err="1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</a:t>
            </a:r>
            <a:r>
              <a:rPr lang="en-US" sz="1580" dirty="0">
                <a:solidFill>
                  <a:srgbClr val="1A1D21"/>
                </a:solidFill>
                <a:highlight>
                  <a:srgbClr val="3D8F8A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75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预剪枝（</a:t>
            </a:r>
            <a:r>
              <a:rPr lang="en-US" sz="1756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Pre-Pruning</a:t>
            </a:r>
            <a:r>
              <a:rPr lang="en-US" sz="175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8971" y="5507863"/>
            <a:ext cx="7191440" cy="2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在构建过程中提前停止分裂：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8971" y="5931545"/>
            <a:ext cx="719144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max_depth</a:t>
            </a:r>
            <a:r>
              <a:rPr lang="en-US" sz="140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</a:t>
            </a: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限制树的最大深度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68971" y="6288329"/>
            <a:ext cx="719144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min_samples_split</a:t>
            </a:r>
            <a:r>
              <a:rPr lang="en-US" sz="140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</a:t>
            </a: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节点最小样本数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8971" y="6645114"/>
            <a:ext cx="719144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min_samples_leaf</a:t>
            </a:r>
            <a:r>
              <a:rPr lang="en-US" sz="140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</a:t>
            </a: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叶子节点最小样本数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7385" y="4838892"/>
            <a:ext cx="7481328" cy="2252203"/>
          </a:xfrm>
          <a:custGeom>
            <a:avLst/>
            <a:gdLst/>
            <a:ahLst/>
            <a:cxnLst/>
            <a:rect l="l" t="t" r="r" b="b"/>
            <a:pathLst>
              <a:path w="7481328" h="2252203">
                <a:moveTo>
                  <a:pt x="44598" y="0"/>
                </a:moveTo>
                <a:lnTo>
                  <a:pt x="7392141" y="0"/>
                </a:lnTo>
                <a:cubicBezTo>
                  <a:pt x="7441397" y="0"/>
                  <a:pt x="7481328" y="39930"/>
                  <a:pt x="7481328" y="89187"/>
                </a:cubicBezTo>
                <a:lnTo>
                  <a:pt x="7481328" y="2163016"/>
                </a:lnTo>
                <a:cubicBezTo>
                  <a:pt x="7481328" y="2212273"/>
                  <a:pt x="7441397" y="2252203"/>
                  <a:pt x="7392141" y="2252203"/>
                </a:cubicBezTo>
                <a:lnTo>
                  <a:pt x="44598" y="2252203"/>
                </a:lnTo>
                <a:cubicBezTo>
                  <a:pt x="19967" y="2252203"/>
                  <a:pt x="0" y="2232236"/>
                  <a:pt x="0" y="2207605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327385" y="4838892"/>
            <a:ext cx="44598" cy="2252203"/>
          </a:xfrm>
          <a:custGeom>
            <a:avLst/>
            <a:gdLst/>
            <a:ahLst/>
            <a:cxnLst/>
            <a:rect l="l" t="t" r="r" b="b"/>
            <a:pathLst>
              <a:path w="44598" h="2252203">
                <a:moveTo>
                  <a:pt x="44598" y="0"/>
                </a:moveTo>
                <a:lnTo>
                  <a:pt x="44598" y="0"/>
                </a:lnTo>
                <a:lnTo>
                  <a:pt x="44598" y="2252203"/>
                </a:lnTo>
                <a:lnTo>
                  <a:pt x="44598" y="2252203"/>
                </a:lnTo>
                <a:cubicBezTo>
                  <a:pt x="19967" y="2252203"/>
                  <a:pt x="0" y="2232236"/>
                  <a:pt x="0" y="2207605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528076" y="5017284"/>
            <a:ext cx="7213739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580" dirty="0">
                <a:solidFill>
                  <a:srgbClr val="1A1D21"/>
                </a:solidFill>
                <a:highlight>
                  <a:srgbClr val="E5A165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580" dirty="0" err="1">
                <a:solidFill>
                  <a:srgbClr val="1A1D21"/>
                </a:solidFill>
                <a:highlight>
                  <a:srgbClr val="E5A165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后</a:t>
            </a:r>
            <a:r>
              <a:rPr lang="en-US" sz="1580" dirty="0">
                <a:solidFill>
                  <a:srgbClr val="1A1D21"/>
                </a:solidFill>
                <a:highlight>
                  <a:srgbClr val="E5A165">
                    <a:alpha val="100000"/>
                  </a:srgbClr>
                </a:highlight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 </a:t>
            </a:r>
            <a:r>
              <a:rPr lang="en-US" sz="175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后剪枝（</a:t>
            </a:r>
            <a:r>
              <a:rPr lang="en-US" sz="1756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Post-Pruning</a:t>
            </a:r>
            <a:r>
              <a:rPr lang="en-US" sz="175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28076" y="5507863"/>
            <a:ext cx="7191440" cy="2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先生成完整树，然后自底向上修剪：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28076" y="5931545"/>
            <a:ext cx="719144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ccp_alpha</a:t>
            </a:r>
            <a:r>
              <a:rPr lang="en-US" sz="140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：</a:t>
            </a: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代价复杂度剪枝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28076" y="6288329"/>
            <a:ext cx="719144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验证集：</a:t>
            </a: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使用验证集评估剪枝效果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28076" y="6645114"/>
            <a:ext cx="719144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规则：</a:t>
            </a: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去掉对泛化性能无贡献的子树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68280" y="7269487"/>
            <a:ext cx="15341739" cy="1427139"/>
          </a:xfrm>
          <a:custGeom>
            <a:avLst/>
            <a:gdLst/>
            <a:ahLst/>
            <a:cxnLst/>
            <a:rect l="l" t="t" r="r" b="b"/>
            <a:pathLst>
              <a:path w="15341739" h="1427139">
                <a:moveTo>
                  <a:pt x="44598" y="0"/>
                </a:moveTo>
                <a:lnTo>
                  <a:pt x="15252543" y="0"/>
                </a:lnTo>
                <a:cubicBezTo>
                  <a:pt x="15301805" y="0"/>
                  <a:pt x="15341739" y="39934"/>
                  <a:pt x="15341739" y="89196"/>
                </a:cubicBezTo>
                <a:lnTo>
                  <a:pt x="15341739" y="1337942"/>
                </a:lnTo>
                <a:cubicBezTo>
                  <a:pt x="15341739" y="1387204"/>
                  <a:pt x="15301805" y="1427139"/>
                  <a:pt x="15252543" y="1427139"/>
                </a:cubicBezTo>
                <a:lnTo>
                  <a:pt x="44598" y="1427139"/>
                </a:lnTo>
                <a:cubicBezTo>
                  <a:pt x="19967" y="1427139"/>
                  <a:pt x="0" y="1407171"/>
                  <a:pt x="0" y="1382540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468280" y="7269487"/>
            <a:ext cx="44598" cy="1427139"/>
          </a:xfrm>
          <a:custGeom>
            <a:avLst/>
            <a:gdLst/>
            <a:ahLst/>
            <a:cxnLst/>
            <a:rect l="l" t="t" r="r" b="b"/>
            <a:pathLst>
              <a:path w="44598" h="1427139">
                <a:moveTo>
                  <a:pt x="44598" y="0"/>
                </a:moveTo>
                <a:lnTo>
                  <a:pt x="44598" y="0"/>
                </a:lnTo>
                <a:lnTo>
                  <a:pt x="44598" y="1427139"/>
                </a:lnTo>
                <a:lnTo>
                  <a:pt x="44598" y="1427139"/>
                </a:lnTo>
                <a:cubicBezTo>
                  <a:pt x="19967" y="1427139"/>
                  <a:pt x="0" y="1407171"/>
                  <a:pt x="0" y="1382540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96845" y="7503627"/>
            <a:ext cx="200691" cy="200691"/>
          </a:xfrm>
          <a:custGeom>
            <a:avLst/>
            <a:gdLst/>
            <a:ahLst/>
            <a:cxnLst/>
            <a:rect l="l" t="t" r="r" b="b"/>
            <a:pathLst>
              <a:path w="200691" h="200691">
                <a:moveTo>
                  <a:pt x="91134" y="2038"/>
                </a:moveTo>
                <a:cubicBezTo>
                  <a:pt x="96975" y="-666"/>
                  <a:pt x="103717" y="-666"/>
                  <a:pt x="109557" y="2038"/>
                </a:cubicBezTo>
                <a:lnTo>
                  <a:pt x="195243" y="41628"/>
                </a:lnTo>
                <a:cubicBezTo>
                  <a:pt x="198575" y="43156"/>
                  <a:pt x="200691" y="46488"/>
                  <a:pt x="200691" y="50173"/>
                </a:cubicBezTo>
                <a:cubicBezTo>
                  <a:pt x="200691" y="53857"/>
                  <a:pt x="198575" y="57189"/>
                  <a:pt x="195243" y="58718"/>
                </a:cubicBezTo>
                <a:lnTo>
                  <a:pt x="109557" y="98307"/>
                </a:lnTo>
                <a:cubicBezTo>
                  <a:pt x="103717" y="101012"/>
                  <a:pt x="96975" y="101012"/>
                  <a:pt x="91134" y="98307"/>
                </a:cubicBezTo>
                <a:lnTo>
                  <a:pt x="5448" y="58718"/>
                </a:lnTo>
                <a:cubicBezTo>
                  <a:pt x="2117" y="57150"/>
                  <a:pt x="0" y="53818"/>
                  <a:pt x="0" y="50173"/>
                </a:cubicBezTo>
                <a:cubicBezTo>
                  <a:pt x="0" y="46527"/>
                  <a:pt x="2117" y="43156"/>
                  <a:pt x="5448" y="41628"/>
                </a:cubicBezTo>
                <a:lnTo>
                  <a:pt x="91134" y="2038"/>
                </a:lnTo>
                <a:close/>
                <a:moveTo>
                  <a:pt x="18854" y="85607"/>
                </a:moveTo>
                <a:lnTo>
                  <a:pt x="83256" y="115358"/>
                </a:lnTo>
                <a:cubicBezTo>
                  <a:pt x="94113" y="120376"/>
                  <a:pt x="106617" y="120376"/>
                  <a:pt x="117475" y="115358"/>
                </a:cubicBezTo>
                <a:lnTo>
                  <a:pt x="181877" y="85607"/>
                </a:lnTo>
                <a:lnTo>
                  <a:pt x="195243" y="91801"/>
                </a:lnTo>
                <a:cubicBezTo>
                  <a:pt x="198575" y="93329"/>
                  <a:pt x="200691" y="96661"/>
                  <a:pt x="200691" y="100346"/>
                </a:cubicBezTo>
                <a:cubicBezTo>
                  <a:pt x="200691" y="104030"/>
                  <a:pt x="198575" y="107362"/>
                  <a:pt x="195243" y="108891"/>
                </a:cubicBezTo>
                <a:lnTo>
                  <a:pt x="109557" y="148480"/>
                </a:lnTo>
                <a:cubicBezTo>
                  <a:pt x="103717" y="151185"/>
                  <a:pt x="96975" y="151185"/>
                  <a:pt x="91134" y="148480"/>
                </a:cubicBezTo>
                <a:lnTo>
                  <a:pt x="5448" y="108891"/>
                </a:lnTo>
                <a:cubicBezTo>
                  <a:pt x="2117" y="107323"/>
                  <a:pt x="0" y="103991"/>
                  <a:pt x="0" y="100346"/>
                </a:cubicBezTo>
                <a:cubicBezTo>
                  <a:pt x="0" y="96700"/>
                  <a:pt x="2117" y="93329"/>
                  <a:pt x="5448" y="91801"/>
                </a:cubicBezTo>
                <a:lnTo>
                  <a:pt x="18815" y="85607"/>
                </a:lnTo>
                <a:close/>
                <a:moveTo>
                  <a:pt x="5448" y="141973"/>
                </a:moveTo>
                <a:lnTo>
                  <a:pt x="18815" y="135780"/>
                </a:lnTo>
                <a:lnTo>
                  <a:pt x="83216" y="165531"/>
                </a:lnTo>
                <a:cubicBezTo>
                  <a:pt x="94074" y="170548"/>
                  <a:pt x="106578" y="170548"/>
                  <a:pt x="117436" y="165531"/>
                </a:cubicBezTo>
                <a:lnTo>
                  <a:pt x="181837" y="135780"/>
                </a:lnTo>
                <a:lnTo>
                  <a:pt x="195204" y="141973"/>
                </a:lnTo>
                <a:cubicBezTo>
                  <a:pt x="198535" y="143502"/>
                  <a:pt x="200652" y="146834"/>
                  <a:pt x="200652" y="150519"/>
                </a:cubicBezTo>
                <a:cubicBezTo>
                  <a:pt x="200652" y="154203"/>
                  <a:pt x="198535" y="157535"/>
                  <a:pt x="195204" y="159064"/>
                </a:cubicBezTo>
                <a:lnTo>
                  <a:pt x="109518" y="198653"/>
                </a:lnTo>
                <a:cubicBezTo>
                  <a:pt x="103677" y="201358"/>
                  <a:pt x="96935" y="201358"/>
                  <a:pt x="91095" y="198653"/>
                </a:cubicBezTo>
                <a:lnTo>
                  <a:pt x="5448" y="159064"/>
                </a:lnTo>
                <a:cubicBezTo>
                  <a:pt x="2117" y="157496"/>
                  <a:pt x="0" y="154164"/>
                  <a:pt x="0" y="150519"/>
                </a:cubicBezTo>
                <a:cubicBezTo>
                  <a:pt x="0" y="146873"/>
                  <a:pt x="2117" y="143502"/>
                  <a:pt x="5448" y="141973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925410" y="7447879"/>
            <a:ext cx="14806562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集成学习方法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8971" y="7893860"/>
            <a:ext cx="743673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随机森林（</a:t>
            </a:r>
            <a:r>
              <a:rPr lang="en-US" sz="1405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Random Forest</a:t>
            </a:r>
            <a:r>
              <a:rPr lang="en-US" sz="140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8971" y="8250645"/>
            <a:ext cx="743673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构建多棵决策树并投票，降低模型方差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82787" y="7893860"/>
            <a:ext cx="743673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梯度提升树（</a:t>
            </a:r>
            <a:r>
              <a:rPr lang="en-US" sz="1405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GBDT / XGBoost</a:t>
            </a:r>
            <a:r>
              <a:rPr lang="en-US" sz="1405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82787" y="8250645"/>
            <a:ext cx="7436730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迭代训练决策树拟合残差，竞赛和工业界常用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决策树：高尔夫球预测实战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23333" y="973667"/>
            <a:ext cx="846667" cy="42333"/>
          </a:xfrm>
          <a:custGeom>
            <a:avLst/>
            <a:gdLst/>
            <a:ahLst/>
            <a:cxnLst/>
            <a:rect l="l" t="t" r="r" b="b"/>
            <a:pathLst>
              <a:path w="846667" h="42333">
                <a:moveTo>
                  <a:pt x="0" y="0"/>
                </a:moveTo>
                <a:lnTo>
                  <a:pt x="846667" y="0"/>
                </a:lnTo>
                <a:lnTo>
                  <a:pt x="846667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70958" y="122766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0833" y="1185333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数据创建与预处理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656292"/>
            <a:ext cx="7524750" cy="3905250"/>
          </a:xfrm>
          <a:custGeom>
            <a:avLst/>
            <a:gdLst/>
            <a:ahLst/>
            <a:cxnLst/>
            <a:rect l="l" t="t" r="r" b="b"/>
            <a:pathLst>
              <a:path w="7524750" h="3905250">
                <a:moveTo>
                  <a:pt x="84666" y="0"/>
                </a:moveTo>
                <a:lnTo>
                  <a:pt x="7440084" y="0"/>
                </a:lnTo>
                <a:cubicBezTo>
                  <a:pt x="7486844" y="0"/>
                  <a:pt x="7524750" y="37906"/>
                  <a:pt x="7524750" y="84666"/>
                </a:cubicBezTo>
                <a:lnTo>
                  <a:pt x="7524750" y="3820584"/>
                </a:lnTo>
                <a:cubicBezTo>
                  <a:pt x="7524750" y="3867344"/>
                  <a:pt x="7486844" y="3905250"/>
                  <a:pt x="7440084" y="3905250"/>
                </a:cubicBezTo>
                <a:lnTo>
                  <a:pt x="84666" y="3905250"/>
                </a:lnTo>
                <a:cubicBezTo>
                  <a:pt x="37906" y="3905250"/>
                  <a:pt x="0" y="3867344"/>
                  <a:pt x="0" y="3820584"/>
                </a:cubicBezTo>
                <a:lnTo>
                  <a:pt x="0" y="84666"/>
                </a:lnTo>
                <a:cubicBezTo>
                  <a:pt x="0" y="37937"/>
                  <a:pt x="37937" y="0"/>
                  <a:pt x="84666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60917" y="1788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创建高尔夫球数据集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0917" y="2010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data = {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0917" y="2233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'天气': ['晴天','晴天','晴天','多云','多云',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0917" y="2455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'下雨','下雨','下雨','晴天','晴天',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0917" y="2677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'多云','多云','下雨','下雨'],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0917" y="2899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'湿度': ['高','高','高','高','正常',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0917" y="3122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'高','正常','正常','正常','正常',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0917" y="3344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'高','正常','高','正常'],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0917" y="3566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'是否玩': ['否','否','是','是','是',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0917" y="3788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'否','是','是','是','是',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0917" y="4011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'是','是','否','是']}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0917" y="4233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df = pd.DataFrame(data)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0917" y="45402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One-Hot编码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0917" y="47625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sklearn.compose import ColumnTransformer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0917" y="49847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preprocess = ColumnTransformer(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0917" y="52070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[('cat', OneHotEncoder(), ['天气','湿度'])])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3333" y="57785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40833" y="5736167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8625" y="6207125"/>
            <a:ext cx="7524750" cy="2794000"/>
          </a:xfrm>
          <a:custGeom>
            <a:avLst/>
            <a:gdLst/>
            <a:ahLst/>
            <a:cxnLst/>
            <a:rect l="l" t="t" r="r" b="b"/>
            <a:pathLst>
              <a:path w="7524750" h="2794000">
                <a:moveTo>
                  <a:pt x="84658" y="0"/>
                </a:moveTo>
                <a:lnTo>
                  <a:pt x="7440092" y="0"/>
                </a:lnTo>
                <a:cubicBezTo>
                  <a:pt x="7486847" y="0"/>
                  <a:pt x="7524750" y="37903"/>
                  <a:pt x="7524750" y="84658"/>
                </a:cubicBezTo>
                <a:lnTo>
                  <a:pt x="7524750" y="2709342"/>
                </a:lnTo>
                <a:cubicBezTo>
                  <a:pt x="7524750" y="2756097"/>
                  <a:pt x="7486847" y="2794000"/>
                  <a:pt x="7440092" y="2794000"/>
                </a:cubicBezTo>
                <a:lnTo>
                  <a:pt x="84658" y="2794000"/>
                </a:lnTo>
                <a:cubicBezTo>
                  <a:pt x="37903" y="2794000"/>
                  <a:pt x="0" y="2756097"/>
                  <a:pt x="0" y="2709342"/>
                </a:cubicBezTo>
                <a:lnTo>
                  <a:pt x="0" y="84658"/>
                </a:lnTo>
                <a:cubicBezTo>
                  <a:pt x="0" y="37903"/>
                  <a:pt x="37903" y="0"/>
                  <a:pt x="84658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0917" y="63394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创建并训练模型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0917" y="65616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clf = Pipeline(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0917" y="67839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steps=[('preprocess', preprocess),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0917" y="70061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('model', DecisionTreeClassifier(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0917" y="72284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criterion='entropy', </a:t>
            </a:r>
            <a:r>
              <a:rPr lang="en-US" sz="12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使用信息熵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60917" y="74506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random_state=42))])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0917" y="76729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clf.fit(X, y)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60917" y="7979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文本结构展示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0917" y="8202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tree_rules = export_text(clf.named_steps['model'],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60917" y="8424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feature_names=feature_names)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60917" y="8646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print(tree_rules)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329083" y="34592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614833" y="303592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决策树可视化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02625" y="692906"/>
            <a:ext cx="7524750" cy="3662136"/>
          </a:xfrm>
          <a:custGeom>
            <a:avLst/>
            <a:gdLst/>
            <a:ahLst/>
            <a:cxnLst/>
            <a:rect l="l" t="t" r="r" b="b"/>
            <a:pathLst>
              <a:path w="7524750" h="2698750">
                <a:moveTo>
                  <a:pt x="84660" y="0"/>
                </a:moveTo>
                <a:lnTo>
                  <a:pt x="7440090" y="0"/>
                </a:lnTo>
                <a:cubicBezTo>
                  <a:pt x="7486847" y="0"/>
                  <a:pt x="7524750" y="37903"/>
                  <a:pt x="7524750" y="84660"/>
                </a:cubicBezTo>
                <a:lnTo>
                  <a:pt x="7524750" y="2614090"/>
                </a:lnTo>
                <a:cubicBezTo>
                  <a:pt x="7524750" y="2660847"/>
                  <a:pt x="7486847" y="2698750"/>
                  <a:pt x="7440090" y="2698750"/>
                </a:cubicBezTo>
                <a:lnTo>
                  <a:pt x="84660" y="2698750"/>
                </a:lnTo>
                <a:cubicBezTo>
                  <a:pt x="37903" y="2698750"/>
                  <a:pt x="0" y="2660847"/>
                  <a:pt x="0" y="2614090"/>
                </a:cubicBezTo>
                <a:lnTo>
                  <a:pt x="0" y="84660"/>
                </a:lnTo>
                <a:cubicBezTo>
                  <a:pt x="0" y="37903"/>
                  <a:pt x="37903" y="0"/>
                  <a:pt x="8466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329083" y="4572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614833" y="4529667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新样本预测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02625" y="5000625"/>
            <a:ext cx="7524750" cy="3460750"/>
          </a:xfrm>
          <a:custGeom>
            <a:avLst/>
            <a:gdLst/>
            <a:ahLst/>
            <a:cxnLst/>
            <a:rect l="l" t="t" r="r" b="b"/>
            <a:pathLst>
              <a:path w="7524750" h="3460750">
                <a:moveTo>
                  <a:pt x="84650" y="0"/>
                </a:moveTo>
                <a:lnTo>
                  <a:pt x="7440100" y="0"/>
                </a:lnTo>
                <a:cubicBezTo>
                  <a:pt x="7486851" y="0"/>
                  <a:pt x="7524750" y="37899"/>
                  <a:pt x="7524750" y="84650"/>
                </a:cubicBezTo>
                <a:lnTo>
                  <a:pt x="7524750" y="3376100"/>
                </a:lnTo>
                <a:cubicBezTo>
                  <a:pt x="7524750" y="3422851"/>
                  <a:pt x="7486851" y="3460750"/>
                  <a:pt x="7440100" y="3460750"/>
                </a:cubicBezTo>
                <a:lnTo>
                  <a:pt x="84650" y="3460750"/>
                </a:lnTo>
                <a:cubicBezTo>
                  <a:pt x="37899" y="3460750"/>
                  <a:pt x="0" y="3422851"/>
                  <a:pt x="0" y="3376100"/>
                </a:cubicBezTo>
                <a:lnTo>
                  <a:pt x="0" y="84650"/>
                </a:lnTo>
                <a:cubicBezTo>
                  <a:pt x="0" y="37899"/>
                  <a:pt x="37899" y="0"/>
                  <a:pt x="8465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434917" y="51329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预测新样本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34917" y="53551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new_samples = pd.DataFrame(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434917" y="55774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[['晴天','高'], ['晴天','正常'],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434917" y="57996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['多云','高'], ['多云','正常'],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434917" y="60219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['下雨','高'], ['下雨','正常']],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434917" y="62441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columns=['天气','湿度'])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434917" y="64664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predictions = clf.predict(new_samples)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8434917" y="6773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预测结果: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34917" y="6995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晴天+高 → 不玩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34917" y="7217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晴天+正常 → 玩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34917" y="7440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多云+高 → 玩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34917" y="7662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多云+正常 → 玩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434917" y="7884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下雨+高 → 不玩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434917" y="8106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7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下雨+正常 → 玩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18500" y="8554355"/>
            <a:ext cx="7514167" cy="508000"/>
          </a:xfrm>
          <a:custGeom>
            <a:avLst/>
            <a:gdLst/>
            <a:ahLst/>
            <a:cxnLst/>
            <a:rect l="l" t="t" r="r" b="b"/>
            <a:pathLst>
              <a:path w="7514167" h="508000">
                <a:moveTo>
                  <a:pt x="42333" y="0"/>
                </a:moveTo>
                <a:lnTo>
                  <a:pt x="7429498" y="0"/>
                </a:lnTo>
                <a:cubicBezTo>
                  <a:pt x="7476259" y="0"/>
                  <a:pt x="7514167" y="37907"/>
                  <a:pt x="7514167" y="84668"/>
                </a:cubicBezTo>
                <a:lnTo>
                  <a:pt x="7514167" y="423332"/>
                </a:lnTo>
                <a:cubicBezTo>
                  <a:pt x="7514167" y="470093"/>
                  <a:pt x="7476259" y="508000"/>
                  <a:pt x="7429498" y="508000"/>
                </a:cubicBezTo>
                <a:lnTo>
                  <a:pt x="42333" y="508000"/>
                </a:lnTo>
                <a:cubicBezTo>
                  <a:pt x="18953" y="508000"/>
                  <a:pt x="0" y="489047"/>
                  <a:pt x="0" y="465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8318500" y="8554355"/>
            <a:ext cx="42333" cy="508000"/>
          </a:xfrm>
          <a:custGeom>
            <a:avLst/>
            <a:gdLst/>
            <a:ahLst/>
            <a:cxnLst/>
            <a:rect l="l" t="t" r="r" b="b"/>
            <a:pathLst>
              <a:path w="42333" h="508000">
                <a:moveTo>
                  <a:pt x="42333" y="0"/>
                </a:moveTo>
                <a:lnTo>
                  <a:pt x="42333" y="0"/>
                </a:lnTo>
                <a:lnTo>
                  <a:pt x="42333" y="508000"/>
                </a:lnTo>
                <a:lnTo>
                  <a:pt x="42333" y="508000"/>
                </a:lnTo>
                <a:cubicBezTo>
                  <a:pt x="18953" y="508000"/>
                  <a:pt x="0" y="489047"/>
                  <a:pt x="0" y="465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509000" y="8723688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8805333" y="8681355"/>
            <a:ext cx="64981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结果解读：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由于使用</a:t>
            </a:r>
            <a:r>
              <a:rPr lang="en-US" sz="133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One-Hot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编码，节点上显示形如cat__天气_晴天，阈值常见为0.50</a:t>
            </a:r>
            <a:endParaRPr lang="en-US" sz="1600" dirty="0"/>
          </a:p>
        </p:txBody>
      </p:sp>
      <p:pic>
        <p:nvPicPr>
          <p:cNvPr id="67" name="图片 66" descr="图示&#10;&#10;AI 生成的内容可能不正确。">
            <a:extLst>
              <a:ext uri="{FF2B5EF4-FFF2-40B4-BE49-F238E27FC236}">
                <a16:creationId xmlns:a16="http://schemas.microsoft.com/office/drawing/2014/main" id="{78CE9DC2-52BF-409D-DE58-6ED92BA8C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171" y="729005"/>
            <a:ext cx="5007659" cy="358993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526" y="435526"/>
            <a:ext cx="15580935" cy="43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8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决策树：特征重要性与思考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35526" y="1001709"/>
            <a:ext cx="871052" cy="43553"/>
          </a:xfrm>
          <a:custGeom>
            <a:avLst/>
            <a:gdLst/>
            <a:ahLst/>
            <a:cxnLst/>
            <a:rect l="l" t="t" r="r" b="b"/>
            <a:pathLst>
              <a:path w="871052" h="43553">
                <a:moveTo>
                  <a:pt x="0" y="0"/>
                </a:moveTo>
                <a:lnTo>
                  <a:pt x="871052" y="0"/>
                </a:lnTo>
                <a:lnTo>
                  <a:pt x="871052" y="43553"/>
                </a:lnTo>
                <a:lnTo>
                  <a:pt x="0" y="4355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68190" y="1263025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16332" y="16332"/>
                </a:moveTo>
                <a:cubicBezTo>
                  <a:pt x="25366" y="16332"/>
                  <a:pt x="32664" y="23631"/>
                  <a:pt x="32664" y="32664"/>
                </a:cubicBezTo>
                <a:lnTo>
                  <a:pt x="32664" y="204153"/>
                </a:lnTo>
                <a:cubicBezTo>
                  <a:pt x="32664" y="208644"/>
                  <a:pt x="36339" y="212319"/>
                  <a:pt x="40831" y="212319"/>
                </a:cubicBezTo>
                <a:lnTo>
                  <a:pt x="244983" y="212319"/>
                </a:lnTo>
                <a:cubicBezTo>
                  <a:pt x="254017" y="212319"/>
                  <a:pt x="261315" y="219617"/>
                  <a:pt x="261315" y="228651"/>
                </a:cubicBezTo>
                <a:cubicBezTo>
                  <a:pt x="261315" y="237685"/>
                  <a:pt x="254017" y="244983"/>
                  <a:pt x="244983" y="244983"/>
                </a:cubicBezTo>
                <a:lnTo>
                  <a:pt x="40831" y="244983"/>
                </a:lnTo>
                <a:cubicBezTo>
                  <a:pt x="18272" y="244983"/>
                  <a:pt x="0" y="226712"/>
                  <a:pt x="0" y="204153"/>
                </a:cubicBezTo>
                <a:lnTo>
                  <a:pt x="0" y="32664"/>
                </a:lnTo>
                <a:cubicBezTo>
                  <a:pt x="0" y="23631"/>
                  <a:pt x="7298" y="16332"/>
                  <a:pt x="16332" y="16332"/>
                </a:cubicBezTo>
                <a:close/>
                <a:moveTo>
                  <a:pt x="65329" y="48997"/>
                </a:moveTo>
                <a:cubicBezTo>
                  <a:pt x="65329" y="39963"/>
                  <a:pt x="72627" y="32664"/>
                  <a:pt x="81661" y="32664"/>
                </a:cubicBezTo>
                <a:lnTo>
                  <a:pt x="179654" y="32664"/>
                </a:lnTo>
                <a:cubicBezTo>
                  <a:pt x="188688" y="32664"/>
                  <a:pt x="195987" y="39963"/>
                  <a:pt x="195987" y="48997"/>
                </a:cubicBezTo>
                <a:cubicBezTo>
                  <a:pt x="195987" y="58030"/>
                  <a:pt x="188688" y="65329"/>
                  <a:pt x="179654" y="65329"/>
                </a:cubicBezTo>
                <a:lnTo>
                  <a:pt x="81661" y="65329"/>
                </a:lnTo>
                <a:cubicBezTo>
                  <a:pt x="72627" y="65329"/>
                  <a:pt x="65329" y="58030"/>
                  <a:pt x="65329" y="48997"/>
                </a:cubicBezTo>
                <a:close/>
                <a:moveTo>
                  <a:pt x="81661" y="89827"/>
                </a:moveTo>
                <a:lnTo>
                  <a:pt x="146990" y="89827"/>
                </a:lnTo>
                <a:cubicBezTo>
                  <a:pt x="156024" y="89827"/>
                  <a:pt x="163322" y="97126"/>
                  <a:pt x="163322" y="106159"/>
                </a:cubicBezTo>
                <a:cubicBezTo>
                  <a:pt x="163322" y="115193"/>
                  <a:pt x="156024" y="122492"/>
                  <a:pt x="146990" y="122492"/>
                </a:cubicBezTo>
                <a:lnTo>
                  <a:pt x="81661" y="122492"/>
                </a:lnTo>
                <a:cubicBezTo>
                  <a:pt x="72627" y="122492"/>
                  <a:pt x="65329" y="115193"/>
                  <a:pt x="65329" y="106159"/>
                </a:cubicBezTo>
                <a:cubicBezTo>
                  <a:pt x="65329" y="97126"/>
                  <a:pt x="72627" y="89827"/>
                  <a:pt x="81661" y="89827"/>
                </a:cubicBezTo>
                <a:close/>
                <a:moveTo>
                  <a:pt x="81661" y="146990"/>
                </a:moveTo>
                <a:lnTo>
                  <a:pt x="212319" y="146990"/>
                </a:lnTo>
                <a:cubicBezTo>
                  <a:pt x="221353" y="146990"/>
                  <a:pt x="228651" y="154288"/>
                  <a:pt x="228651" y="163322"/>
                </a:cubicBezTo>
                <a:cubicBezTo>
                  <a:pt x="228651" y="172356"/>
                  <a:pt x="221353" y="179654"/>
                  <a:pt x="212319" y="179654"/>
                </a:cubicBezTo>
                <a:lnTo>
                  <a:pt x="81661" y="179654"/>
                </a:lnTo>
                <a:cubicBezTo>
                  <a:pt x="72627" y="179654"/>
                  <a:pt x="65329" y="172356"/>
                  <a:pt x="65329" y="163322"/>
                </a:cubicBezTo>
                <a:cubicBezTo>
                  <a:pt x="65329" y="154288"/>
                  <a:pt x="72627" y="146990"/>
                  <a:pt x="81661" y="14699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62170" y="1219472"/>
            <a:ext cx="7327721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8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特征重要性分析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5526" y="1742103"/>
            <a:ext cx="7610813" cy="566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决策树模型的</a:t>
            </a:r>
            <a:r>
              <a:rPr lang="en-US" sz="1372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feature_importances_</a:t>
            </a:r>
            <a:r>
              <a:rPr lang="en-US" sz="137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属性反映特征在全树范围内带来的不纯度下降贡献的加权汇总：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970" y="2487941"/>
            <a:ext cx="7512820" cy="3277332"/>
          </a:xfrm>
          <a:custGeom>
            <a:avLst/>
            <a:gdLst/>
            <a:ahLst/>
            <a:cxnLst/>
            <a:rect l="l" t="t" r="r" b="b"/>
            <a:pathLst>
              <a:path w="7512820" h="3277332">
                <a:moveTo>
                  <a:pt x="87111" y="0"/>
                </a:moveTo>
                <a:lnTo>
                  <a:pt x="7425708" y="0"/>
                </a:lnTo>
                <a:cubicBezTo>
                  <a:pt x="7473819" y="0"/>
                  <a:pt x="7512820" y="39001"/>
                  <a:pt x="7512820" y="87111"/>
                </a:cubicBezTo>
                <a:lnTo>
                  <a:pt x="7512820" y="3190220"/>
                </a:lnTo>
                <a:cubicBezTo>
                  <a:pt x="7512820" y="3238330"/>
                  <a:pt x="7473819" y="3277332"/>
                  <a:pt x="7425708" y="3277332"/>
                </a:cubicBezTo>
                <a:lnTo>
                  <a:pt x="87111" y="3277332"/>
                </a:lnTo>
                <a:cubicBezTo>
                  <a:pt x="39001" y="3277332"/>
                  <a:pt x="0" y="3238330"/>
                  <a:pt x="0" y="3190220"/>
                </a:cubicBezTo>
                <a:lnTo>
                  <a:pt x="0" y="87111"/>
                </a:lnTo>
                <a:cubicBezTo>
                  <a:pt x="0" y="39033"/>
                  <a:pt x="39033" y="0"/>
                  <a:pt x="87111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20624" y="2667595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# 特征重要性输出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0624" y="2896246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importances = clf.named_steps['model'].feature_importances_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0624" y="3124898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for name, importance in zip(feature_names, importances):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0624" y="3353549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print(f"{name}: {importance:.4f}")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0624" y="3669305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示例输出: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0624" y="3897956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天气_晴天: 0.4500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0624" y="4126607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天气_多云: 0.3500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0624" y="4355258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湿度_高: 0.2000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0624" y="4671014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特征重要性可视化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0624" y="4899665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plt.barh(feature_names, importances)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0624" y="5128316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plt.title('Feature Importances')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0624" y="5356967"/>
            <a:ext cx="7229728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plt.show()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302" y="5944927"/>
            <a:ext cx="7501932" cy="871052"/>
          </a:xfrm>
          <a:custGeom>
            <a:avLst/>
            <a:gdLst/>
            <a:ahLst/>
            <a:cxnLst/>
            <a:rect l="l" t="t" r="r" b="b"/>
            <a:pathLst>
              <a:path w="7501932" h="871052">
                <a:moveTo>
                  <a:pt x="43553" y="0"/>
                </a:moveTo>
                <a:lnTo>
                  <a:pt x="7414827" y="0"/>
                </a:lnTo>
                <a:cubicBezTo>
                  <a:pt x="7462933" y="0"/>
                  <a:pt x="7501932" y="38998"/>
                  <a:pt x="7501932" y="87105"/>
                </a:cubicBezTo>
                <a:lnTo>
                  <a:pt x="7501932" y="783946"/>
                </a:lnTo>
                <a:cubicBezTo>
                  <a:pt x="7501932" y="832053"/>
                  <a:pt x="7462933" y="871052"/>
                  <a:pt x="7414827" y="871052"/>
                </a:cubicBez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57302" y="5944927"/>
            <a:ext cx="43553" cy="871052"/>
          </a:xfrm>
          <a:custGeom>
            <a:avLst/>
            <a:gdLst/>
            <a:ahLst/>
            <a:cxnLst/>
            <a:rect l="l" t="t" r="r" b="b"/>
            <a:pathLst>
              <a:path w="43553" h="871052">
                <a:moveTo>
                  <a:pt x="43553" y="0"/>
                </a:moveTo>
                <a:lnTo>
                  <a:pt x="43553" y="0"/>
                </a:lnTo>
                <a:lnTo>
                  <a:pt x="43553" y="871052"/>
                </a:lnTo>
                <a:lnTo>
                  <a:pt x="43553" y="871052"/>
                </a:lnTo>
                <a:cubicBezTo>
                  <a:pt x="19499" y="871052"/>
                  <a:pt x="0" y="851552"/>
                  <a:pt x="0" y="827499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96841" y="6168134"/>
            <a:ext cx="130658" cy="174210"/>
          </a:xfrm>
          <a:custGeom>
            <a:avLst/>
            <a:gdLst/>
            <a:ahLst/>
            <a:cxnLst/>
            <a:rect l="l" t="t" r="r" b="b"/>
            <a:pathLst>
              <a:path w="130658" h="174210">
                <a:moveTo>
                  <a:pt x="99661" y="130658"/>
                </a:moveTo>
                <a:cubicBezTo>
                  <a:pt x="102144" y="123070"/>
                  <a:pt x="107112" y="116197"/>
                  <a:pt x="112726" y="110276"/>
                </a:cubicBezTo>
                <a:cubicBezTo>
                  <a:pt x="123853" y="98572"/>
                  <a:pt x="130658" y="82750"/>
                  <a:pt x="130658" y="65329"/>
                </a:cubicBezTo>
                <a:cubicBezTo>
                  <a:pt x="130658" y="29262"/>
                  <a:pt x="101396" y="0"/>
                  <a:pt x="65329" y="0"/>
                </a:cubicBezTo>
                <a:cubicBezTo>
                  <a:pt x="29262" y="0"/>
                  <a:pt x="0" y="29262"/>
                  <a:pt x="0" y="65329"/>
                </a:cubicBezTo>
                <a:cubicBezTo>
                  <a:pt x="0" y="82750"/>
                  <a:pt x="6805" y="98572"/>
                  <a:pt x="17931" y="110276"/>
                </a:cubicBezTo>
                <a:cubicBezTo>
                  <a:pt x="23546" y="116197"/>
                  <a:pt x="28547" y="123070"/>
                  <a:pt x="30997" y="130658"/>
                </a:cubicBezTo>
                <a:lnTo>
                  <a:pt x="99627" y="130658"/>
                </a:lnTo>
                <a:close/>
                <a:moveTo>
                  <a:pt x="97993" y="146990"/>
                </a:moveTo>
                <a:lnTo>
                  <a:pt x="32664" y="146990"/>
                </a:lnTo>
                <a:lnTo>
                  <a:pt x="32664" y="152434"/>
                </a:lnTo>
                <a:cubicBezTo>
                  <a:pt x="32664" y="167473"/>
                  <a:pt x="44846" y="179654"/>
                  <a:pt x="59885" y="179654"/>
                </a:cubicBezTo>
                <a:lnTo>
                  <a:pt x="70773" y="179654"/>
                </a:lnTo>
                <a:cubicBezTo>
                  <a:pt x="85812" y="179654"/>
                  <a:pt x="97993" y="167473"/>
                  <a:pt x="97993" y="152434"/>
                </a:cubicBezTo>
                <a:lnTo>
                  <a:pt x="97993" y="146990"/>
                </a:lnTo>
                <a:close/>
                <a:moveTo>
                  <a:pt x="62607" y="38109"/>
                </a:moveTo>
                <a:cubicBezTo>
                  <a:pt x="49065" y="38109"/>
                  <a:pt x="38109" y="49065"/>
                  <a:pt x="38109" y="62607"/>
                </a:cubicBezTo>
                <a:cubicBezTo>
                  <a:pt x="38109" y="67132"/>
                  <a:pt x="34468" y="70773"/>
                  <a:pt x="29942" y="70773"/>
                </a:cubicBezTo>
                <a:cubicBezTo>
                  <a:pt x="25417" y="70773"/>
                  <a:pt x="21776" y="67132"/>
                  <a:pt x="21776" y="62607"/>
                </a:cubicBezTo>
                <a:cubicBezTo>
                  <a:pt x="21776" y="40048"/>
                  <a:pt x="40048" y="21776"/>
                  <a:pt x="62607" y="21776"/>
                </a:cubicBezTo>
                <a:cubicBezTo>
                  <a:pt x="67132" y="21776"/>
                  <a:pt x="70773" y="25417"/>
                  <a:pt x="70773" y="29942"/>
                </a:cubicBezTo>
                <a:cubicBezTo>
                  <a:pt x="70773" y="34468"/>
                  <a:pt x="67132" y="38109"/>
                  <a:pt x="62607" y="38109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45730" y="6119137"/>
            <a:ext cx="6926399" cy="522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解读：</a:t>
            </a:r>
            <a:r>
              <a:rPr lang="en-US" sz="137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数值越大表示该特征在分裂中整体贡献越大。根节点特征通常（但不一定）具有最高的全局重要性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36661" y="1263025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61246" y="28581"/>
                </a:moveTo>
                <a:cubicBezTo>
                  <a:pt x="61246" y="12811"/>
                  <a:pt x="74056" y="0"/>
                  <a:pt x="89827" y="0"/>
                </a:cubicBezTo>
                <a:lnTo>
                  <a:pt x="102076" y="0"/>
                </a:lnTo>
                <a:cubicBezTo>
                  <a:pt x="111110" y="0"/>
                  <a:pt x="118409" y="7298"/>
                  <a:pt x="118409" y="16332"/>
                </a:cubicBezTo>
                <a:lnTo>
                  <a:pt x="118409" y="244983"/>
                </a:lnTo>
                <a:cubicBezTo>
                  <a:pt x="118409" y="254017"/>
                  <a:pt x="111110" y="261315"/>
                  <a:pt x="102076" y="261315"/>
                </a:cubicBezTo>
                <a:lnTo>
                  <a:pt x="85744" y="261315"/>
                </a:lnTo>
                <a:cubicBezTo>
                  <a:pt x="70535" y="261315"/>
                  <a:pt x="57724" y="250904"/>
                  <a:pt x="54100" y="236817"/>
                </a:cubicBezTo>
                <a:cubicBezTo>
                  <a:pt x="53743" y="236817"/>
                  <a:pt x="53437" y="236817"/>
                  <a:pt x="53080" y="236817"/>
                </a:cubicBezTo>
                <a:cubicBezTo>
                  <a:pt x="30521" y="236817"/>
                  <a:pt x="12249" y="218545"/>
                  <a:pt x="12249" y="195987"/>
                </a:cubicBezTo>
                <a:cubicBezTo>
                  <a:pt x="12249" y="186800"/>
                  <a:pt x="15311" y="178327"/>
                  <a:pt x="20415" y="171488"/>
                </a:cubicBezTo>
                <a:cubicBezTo>
                  <a:pt x="10514" y="164037"/>
                  <a:pt x="4083" y="152196"/>
                  <a:pt x="4083" y="138824"/>
                </a:cubicBezTo>
                <a:cubicBezTo>
                  <a:pt x="4083" y="123053"/>
                  <a:pt x="13066" y="109324"/>
                  <a:pt x="26132" y="102536"/>
                </a:cubicBezTo>
                <a:cubicBezTo>
                  <a:pt x="22508" y="96411"/>
                  <a:pt x="20415" y="89266"/>
                  <a:pt x="20415" y="81661"/>
                </a:cubicBezTo>
                <a:cubicBezTo>
                  <a:pt x="20415" y="59102"/>
                  <a:pt x="38687" y="40831"/>
                  <a:pt x="61246" y="40831"/>
                </a:cubicBezTo>
                <a:lnTo>
                  <a:pt x="61246" y="28581"/>
                </a:lnTo>
                <a:close/>
                <a:moveTo>
                  <a:pt x="200070" y="28581"/>
                </a:moveTo>
                <a:lnTo>
                  <a:pt x="200070" y="40831"/>
                </a:lnTo>
                <a:cubicBezTo>
                  <a:pt x="222629" y="40831"/>
                  <a:pt x="240900" y="59102"/>
                  <a:pt x="240900" y="81661"/>
                </a:cubicBezTo>
                <a:cubicBezTo>
                  <a:pt x="240900" y="89317"/>
                  <a:pt x="238808" y="96462"/>
                  <a:pt x="235184" y="102536"/>
                </a:cubicBezTo>
                <a:cubicBezTo>
                  <a:pt x="248301" y="109324"/>
                  <a:pt x="257232" y="123002"/>
                  <a:pt x="257232" y="138824"/>
                </a:cubicBezTo>
                <a:cubicBezTo>
                  <a:pt x="257232" y="152196"/>
                  <a:pt x="250802" y="164037"/>
                  <a:pt x="240900" y="171488"/>
                </a:cubicBezTo>
                <a:cubicBezTo>
                  <a:pt x="246004" y="178327"/>
                  <a:pt x="249066" y="186800"/>
                  <a:pt x="249066" y="195987"/>
                </a:cubicBezTo>
                <a:cubicBezTo>
                  <a:pt x="249066" y="218545"/>
                  <a:pt x="230795" y="236817"/>
                  <a:pt x="208236" y="236817"/>
                </a:cubicBezTo>
                <a:cubicBezTo>
                  <a:pt x="207878" y="236817"/>
                  <a:pt x="207572" y="236817"/>
                  <a:pt x="207215" y="236817"/>
                </a:cubicBezTo>
                <a:cubicBezTo>
                  <a:pt x="203591" y="250904"/>
                  <a:pt x="190781" y="261315"/>
                  <a:pt x="175571" y="261315"/>
                </a:cubicBezTo>
                <a:lnTo>
                  <a:pt x="159239" y="261315"/>
                </a:lnTo>
                <a:cubicBezTo>
                  <a:pt x="150205" y="261315"/>
                  <a:pt x="142907" y="254017"/>
                  <a:pt x="142907" y="244983"/>
                </a:cubicBezTo>
                <a:lnTo>
                  <a:pt x="142907" y="16332"/>
                </a:lnTo>
                <a:cubicBezTo>
                  <a:pt x="142907" y="7298"/>
                  <a:pt x="150205" y="0"/>
                  <a:pt x="159239" y="0"/>
                </a:cubicBezTo>
                <a:lnTo>
                  <a:pt x="171488" y="0"/>
                </a:lnTo>
                <a:cubicBezTo>
                  <a:pt x="187259" y="0"/>
                  <a:pt x="200070" y="12811"/>
                  <a:pt x="200070" y="28581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30641" y="1219472"/>
            <a:ext cx="7327721" cy="348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58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深度思考问题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325773" y="1742103"/>
            <a:ext cx="7501932" cy="1829208"/>
          </a:xfrm>
          <a:custGeom>
            <a:avLst/>
            <a:gdLst/>
            <a:ahLst/>
            <a:cxnLst/>
            <a:rect l="l" t="t" r="r" b="b"/>
            <a:pathLst>
              <a:path w="7501932" h="1829208">
                <a:moveTo>
                  <a:pt x="43553" y="0"/>
                </a:moveTo>
                <a:lnTo>
                  <a:pt x="7414825" y="0"/>
                </a:lnTo>
                <a:cubicBezTo>
                  <a:pt x="7462933" y="0"/>
                  <a:pt x="7501932" y="38999"/>
                  <a:pt x="7501932" y="87107"/>
                </a:cubicBezTo>
                <a:lnTo>
                  <a:pt x="7501932" y="1742101"/>
                </a:lnTo>
                <a:cubicBezTo>
                  <a:pt x="7501932" y="1790209"/>
                  <a:pt x="7462933" y="1829208"/>
                  <a:pt x="7414825" y="1829208"/>
                </a:cubicBezTo>
                <a:lnTo>
                  <a:pt x="43553" y="1829208"/>
                </a:lnTo>
                <a:cubicBezTo>
                  <a:pt x="19499" y="1829208"/>
                  <a:pt x="0" y="1809709"/>
                  <a:pt x="0" y="1785656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325773" y="1742103"/>
            <a:ext cx="43553" cy="1829208"/>
          </a:xfrm>
          <a:custGeom>
            <a:avLst/>
            <a:gdLst/>
            <a:ahLst/>
            <a:cxnLst/>
            <a:rect l="l" t="t" r="r" b="b"/>
            <a:pathLst>
              <a:path w="43553" h="1829208">
                <a:moveTo>
                  <a:pt x="43553" y="0"/>
                </a:moveTo>
                <a:lnTo>
                  <a:pt x="43553" y="0"/>
                </a:lnTo>
                <a:lnTo>
                  <a:pt x="43553" y="1829208"/>
                </a:lnTo>
                <a:lnTo>
                  <a:pt x="43553" y="1829208"/>
                </a:lnTo>
                <a:cubicBezTo>
                  <a:pt x="19499" y="1829208"/>
                  <a:pt x="0" y="1809709"/>
                  <a:pt x="0" y="1785656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21760" y="1916313"/>
            <a:ext cx="435526" cy="435526"/>
          </a:xfrm>
          <a:custGeom>
            <a:avLst/>
            <a:gdLst/>
            <a:ahLst/>
            <a:cxnLst/>
            <a:rect l="l" t="t" r="r" b="b"/>
            <a:pathLst>
              <a:path w="435526" h="435526">
                <a:moveTo>
                  <a:pt x="217763" y="0"/>
                </a:moveTo>
                <a:lnTo>
                  <a:pt x="217763" y="0"/>
                </a:lnTo>
                <a:cubicBezTo>
                  <a:pt x="337950" y="0"/>
                  <a:pt x="435526" y="97576"/>
                  <a:pt x="435526" y="217763"/>
                </a:cubicBezTo>
                <a:lnTo>
                  <a:pt x="435526" y="217763"/>
                </a:lnTo>
                <a:cubicBezTo>
                  <a:pt x="435526" y="337950"/>
                  <a:pt x="337950" y="435526"/>
                  <a:pt x="217763" y="435526"/>
                </a:cubicBezTo>
                <a:lnTo>
                  <a:pt x="217763" y="435526"/>
                </a:lnTo>
                <a:cubicBezTo>
                  <a:pt x="97576" y="435526"/>
                  <a:pt x="0" y="337950"/>
                  <a:pt x="0" y="217763"/>
                </a:cubicBezTo>
                <a:lnTo>
                  <a:pt x="0" y="217763"/>
                </a:lnTo>
                <a:cubicBezTo>
                  <a:pt x="0" y="97576"/>
                  <a:pt x="97576" y="0"/>
                  <a:pt x="21776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700989" y="1981642"/>
            <a:ext cx="174210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1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31496" y="1916313"/>
            <a:ext cx="6619992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过拟合与树的深度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131496" y="2308287"/>
            <a:ext cx="6609104" cy="566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2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如果不限制树的深度（max_depth=None），决策树的训练集与测试集表现可能会出现什么差异？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31496" y="2961575"/>
            <a:ext cx="6598216" cy="43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预期：训练集准确率接近1，测试集准确率可能下降，典型过拟合。限制深度会降低模型复杂度，可能提升泛化能力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325773" y="3701969"/>
            <a:ext cx="7501932" cy="1611445"/>
          </a:xfrm>
          <a:custGeom>
            <a:avLst/>
            <a:gdLst/>
            <a:ahLst/>
            <a:cxnLst/>
            <a:rect l="l" t="t" r="r" b="b"/>
            <a:pathLst>
              <a:path w="7501932" h="1611445">
                <a:moveTo>
                  <a:pt x="43553" y="0"/>
                </a:moveTo>
                <a:lnTo>
                  <a:pt x="7414833" y="0"/>
                </a:lnTo>
                <a:cubicBezTo>
                  <a:pt x="7462936" y="0"/>
                  <a:pt x="7501932" y="38995"/>
                  <a:pt x="7501932" y="87099"/>
                </a:cubicBezTo>
                <a:lnTo>
                  <a:pt x="7501932" y="1524347"/>
                </a:lnTo>
                <a:cubicBezTo>
                  <a:pt x="7501932" y="1572450"/>
                  <a:pt x="7462936" y="1611445"/>
                  <a:pt x="7414833" y="1611445"/>
                </a:cubicBezTo>
                <a:lnTo>
                  <a:pt x="43553" y="1611445"/>
                </a:lnTo>
                <a:cubicBezTo>
                  <a:pt x="19499" y="1611445"/>
                  <a:pt x="0" y="1591946"/>
                  <a:pt x="0" y="1567893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325773" y="3701969"/>
            <a:ext cx="43553" cy="1611445"/>
          </a:xfrm>
          <a:custGeom>
            <a:avLst/>
            <a:gdLst/>
            <a:ahLst/>
            <a:cxnLst/>
            <a:rect l="l" t="t" r="r" b="b"/>
            <a:pathLst>
              <a:path w="43553" h="1611445">
                <a:moveTo>
                  <a:pt x="43553" y="0"/>
                </a:moveTo>
                <a:lnTo>
                  <a:pt x="43553" y="0"/>
                </a:lnTo>
                <a:lnTo>
                  <a:pt x="43553" y="1611445"/>
                </a:lnTo>
                <a:lnTo>
                  <a:pt x="43553" y="1611445"/>
                </a:lnTo>
                <a:cubicBezTo>
                  <a:pt x="19499" y="1611445"/>
                  <a:pt x="0" y="1591946"/>
                  <a:pt x="0" y="1567893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521760" y="3876180"/>
            <a:ext cx="435526" cy="435526"/>
          </a:xfrm>
          <a:custGeom>
            <a:avLst/>
            <a:gdLst/>
            <a:ahLst/>
            <a:cxnLst/>
            <a:rect l="l" t="t" r="r" b="b"/>
            <a:pathLst>
              <a:path w="435526" h="435526">
                <a:moveTo>
                  <a:pt x="217763" y="0"/>
                </a:moveTo>
                <a:lnTo>
                  <a:pt x="217763" y="0"/>
                </a:lnTo>
                <a:cubicBezTo>
                  <a:pt x="337950" y="0"/>
                  <a:pt x="435526" y="97576"/>
                  <a:pt x="435526" y="217763"/>
                </a:cubicBezTo>
                <a:lnTo>
                  <a:pt x="435526" y="217763"/>
                </a:lnTo>
                <a:cubicBezTo>
                  <a:pt x="435526" y="337950"/>
                  <a:pt x="337950" y="435526"/>
                  <a:pt x="217763" y="435526"/>
                </a:cubicBezTo>
                <a:lnTo>
                  <a:pt x="217763" y="435526"/>
                </a:lnTo>
                <a:cubicBezTo>
                  <a:pt x="97576" y="435526"/>
                  <a:pt x="0" y="337950"/>
                  <a:pt x="0" y="217763"/>
                </a:cubicBezTo>
                <a:lnTo>
                  <a:pt x="0" y="217763"/>
                </a:lnTo>
                <a:cubicBezTo>
                  <a:pt x="0" y="97576"/>
                  <a:pt x="97576" y="0"/>
                  <a:pt x="21776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84401" y="3941508"/>
            <a:ext cx="206875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2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131496" y="3876180"/>
            <a:ext cx="6619992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分裂标准的选择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131496" y="4268153"/>
            <a:ext cx="6609104" cy="566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2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DecisionTreeClassifier</a:t>
            </a:r>
            <a:r>
              <a:rPr lang="en-US" sz="1372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默认使用</a:t>
            </a:r>
            <a:r>
              <a:rPr lang="en-US" sz="1372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gini。本章案例使用entropy。对比两者生成的树结构与训练时间。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131496" y="4921441"/>
            <a:ext cx="6598216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差异：gini计算更快（避免对数），entropy更关注信息论解释；实际效果依赖数据分布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325773" y="5444072"/>
            <a:ext cx="7501932" cy="1611445"/>
          </a:xfrm>
          <a:custGeom>
            <a:avLst/>
            <a:gdLst/>
            <a:ahLst/>
            <a:cxnLst/>
            <a:rect l="l" t="t" r="r" b="b"/>
            <a:pathLst>
              <a:path w="7501932" h="1611445">
                <a:moveTo>
                  <a:pt x="43553" y="0"/>
                </a:moveTo>
                <a:lnTo>
                  <a:pt x="7414833" y="0"/>
                </a:lnTo>
                <a:cubicBezTo>
                  <a:pt x="7462936" y="0"/>
                  <a:pt x="7501932" y="38995"/>
                  <a:pt x="7501932" y="87099"/>
                </a:cubicBezTo>
                <a:lnTo>
                  <a:pt x="7501932" y="1524347"/>
                </a:lnTo>
                <a:cubicBezTo>
                  <a:pt x="7501932" y="1572450"/>
                  <a:pt x="7462936" y="1611445"/>
                  <a:pt x="7414833" y="1611445"/>
                </a:cubicBezTo>
                <a:lnTo>
                  <a:pt x="43553" y="1611445"/>
                </a:lnTo>
                <a:cubicBezTo>
                  <a:pt x="19499" y="1611445"/>
                  <a:pt x="0" y="1591946"/>
                  <a:pt x="0" y="1567893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325773" y="5444072"/>
            <a:ext cx="43553" cy="1611445"/>
          </a:xfrm>
          <a:custGeom>
            <a:avLst/>
            <a:gdLst/>
            <a:ahLst/>
            <a:cxnLst/>
            <a:rect l="l" t="t" r="r" b="b"/>
            <a:pathLst>
              <a:path w="43553" h="1611445">
                <a:moveTo>
                  <a:pt x="43553" y="0"/>
                </a:moveTo>
                <a:lnTo>
                  <a:pt x="43553" y="0"/>
                </a:lnTo>
                <a:lnTo>
                  <a:pt x="43553" y="1611445"/>
                </a:lnTo>
                <a:lnTo>
                  <a:pt x="43553" y="1611445"/>
                </a:lnTo>
                <a:cubicBezTo>
                  <a:pt x="19499" y="1611445"/>
                  <a:pt x="0" y="1591946"/>
                  <a:pt x="0" y="1567893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521760" y="5618283"/>
            <a:ext cx="435526" cy="435526"/>
          </a:xfrm>
          <a:custGeom>
            <a:avLst/>
            <a:gdLst/>
            <a:ahLst/>
            <a:cxnLst/>
            <a:rect l="l" t="t" r="r" b="b"/>
            <a:pathLst>
              <a:path w="435526" h="435526">
                <a:moveTo>
                  <a:pt x="217763" y="0"/>
                </a:moveTo>
                <a:lnTo>
                  <a:pt x="217763" y="0"/>
                </a:lnTo>
                <a:cubicBezTo>
                  <a:pt x="337950" y="0"/>
                  <a:pt x="435526" y="97576"/>
                  <a:pt x="435526" y="217763"/>
                </a:cubicBezTo>
                <a:lnTo>
                  <a:pt x="435526" y="217763"/>
                </a:lnTo>
                <a:cubicBezTo>
                  <a:pt x="435526" y="337950"/>
                  <a:pt x="337950" y="435526"/>
                  <a:pt x="217763" y="435526"/>
                </a:cubicBezTo>
                <a:lnTo>
                  <a:pt x="217763" y="435526"/>
                </a:lnTo>
                <a:cubicBezTo>
                  <a:pt x="97576" y="435526"/>
                  <a:pt x="0" y="337950"/>
                  <a:pt x="0" y="217763"/>
                </a:cubicBezTo>
                <a:lnTo>
                  <a:pt x="0" y="217763"/>
                </a:lnTo>
                <a:cubicBezTo>
                  <a:pt x="0" y="97576"/>
                  <a:pt x="97576" y="0"/>
                  <a:pt x="21776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681849" y="5683612"/>
            <a:ext cx="217763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3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131496" y="5618283"/>
            <a:ext cx="6619992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4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特征重要性与根节点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131496" y="6010256"/>
            <a:ext cx="6609104" cy="566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2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决策树模型提供了</a:t>
            </a:r>
            <a:r>
              <a:rPr lang="en-US" sz="1372" b="1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feature_importances_</a:t>
            </a:r>
            <a:r>
              <a:rPr lang="en-US" sz="1372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属性。哪个特征（天气 vs 湿度）对分类结果的贡献更大？这与根节点特征一致吗？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131496" y="6663545"/>
            <a:ext cx="6598216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思考：根节点首先按"天气"分裂，但"湿度"可能在多层节点重复使用，累计贡献更高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57302" y="7229728"/>
            <a:ext cx="4986770" cy="827499"/>
          </a:xfrm>
          <a:custGeom>
            <a:avLst/>
            <a:gdLst/>
            <a:ahLst/>
            <a:cxnLst/>
            <a:rect l="l" t="t" r="r" b="b"/>
            <a:pathLst>
              <a:path w="4986770" h="827499">
                <a:moveTo>
                  <a:pt x="43553" y="0"/>
                </a:moveTo>
                <a:lnTo>
                  <a:pt x="4899668" y="0"/>
                </a:lnTo>
                <a:cubicBezTo>
                  <a:pt x="4947773" y="0"/>
                  <a:pt x="4986770" y="38997"/>
                  <a:pt x="4986770" y="87103"/>
                </a:cubicBezTo>
                <a:lnTo>
                  <a:pt x="4986770" y="740396"/>
                </a:lnTo>
                <a:cubicBezTo>
                  <a:pt x="4986770" y="788502"/>
                  <a:pt x="4947773" y="827499"/>
                  <a:pt x="4899668" y="827499"/>
                </a:cubicBezTo>
                <a:lnTo>
                  <a:pt x="43553" y="827499"/>
                </a:lnTo>
                <a:cubicBezTo>
                  <a:pt x="19499" y="827499"/>
                  <a:pt x="0" y="808000"/>
                  <a:pt x="0" y="783946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457302" y="7229728"/>
            <a:ext cx="43553" cy="827499"/>
          </a:xfrm>
          <a:custGeom>
            <a:avLst/>
            <a:gdLst/>
            <a:ahLst/>
            <a:cxnLst/>
            <a:rect l="l" t="t" r="r" b="b"/>
            <a:pathLst>
              <a:path w="43553" h="827499">
                <a:moveTo>
                  <a:pt x="43553" y="0"/>
                </a:moveTo>
                <a:lnTo>
                  <a:pt x="43553" y="0"/>
                </a:lnTo>
                <a:lnTo>
                  <a:pt x="43553" y="827499"/>
                </a:lnTo>
                <a:lnTo>
                  <a:pt x="43553" y="827499"/>
                </a:lnTo>
                <a:cubicBezTo>
                  <a:pt x="19499" y="827499"/>
                  <a:pt x="0" y="808000"/>
                  <a:pt x="0" y="783946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20624" y="7403938"/>
            <a:ext cx="195987" cy="174210"/>
          </a:xfrm>
          <a:custGeom>
            <a:avLst/>
            <a:gdLst/>
            <a:ahLst/>
            <a:cxnLst/>
            <a:rect l="l" t="t" r="r" b="b"/>
            <a:pathLst>
              <a:path w="195987" h="174210">
                <a:moveTo>
                  <a:pt x="122764" y="408"/>
                </a:moveTo>
                <a:cubicBezTo>
                  <a:pt x="116980" y="-1259"/>
                  <a:pt x="110957" y="2110"/>
                  <a:pt x="109290" y="7894"/>
                </a:cubicBezTo>
                <a:lnTo>
                  <a:pt x="65737" y="160328"/>
                </a:lnTo>
                <a:cubicBezTo>
                  <a:pt x="64070" y="166112"/>
                  <a:pt x="67438" y="172135"/>
                  <a:pt x="73223" y="173802"/>
                </a:cubicBezTo>
                <a:cubicBezTo>
                  <a:pt x="79007" y="175469"/>
                  <a:pt x="85030" y="172101"/>
                  <a:pt x="86697" y="166316"/>
                </a:cubicBezTo>
                <a:lnTo>
                  <a:pt x="130249" y="13882"/>
                </a:lnTo>
                <a:cubicBezTo>
                  <a:pt x="131917" y="8098"/>
                  <a:pt x="128548" y="2076"/>
                  <a:pt x="122764" y="408"/>
                </a:cubicBezTo>
                <a:close/>
                <a:moveTo>
                  <a:pt x="144744" y="46717"/>
                </a:moveTo>
                <a:cubicBezTo>
                  <a:pt x="140491" y="50970"/>
                  <a:pt x="140491" y="57877"/>
                  <a:pt x="144744" y="62130"/>
                </a:cubicBezTo>
                <a:lnTo>
                  <a:pt x="169719" y="87105"/>
                </a:lnTo>
                <a:lnTo>
                  <a:pt x="144744" y="112080"/>
                </a:lnTo>
                <a:cubicBezTo>
                  <a:pt x="140491" y="116333"/>
                  <a:pt x="140491" y="123240"/>
                  <a:pt x="144744" y="127493"/>
                </a:cubicBezTo>
                <a:cubicBezTo>
                  <a:pt x="148997" y="131747"/>
                  <a:pt x="155905" y="131747"/>
                  <a:pt x="160158" y="127493"/>
                </a:cubicBezTo>
                <a:lnTo>
                  <a:pt x="192822" y="94829"/>
                </a:lnTo>
                <a:cubicBezTo>
                  <a:pt x="197075" y="90576"/>
                  <a:pt x="197075" y="83669"/>
                  <a:pt x="192822" y="79415"/>
                </a:cubicBezTo>
                <a:lnTo>
                  <a:pt x="160158" y="46751"/>
                </a:lnTo>
                <a:cubicBezTo>
                  <a:pt x="155905" y="42498"/>
                  <a:pt x="148997" y="42498"/>
                  <a:pt x="144744" y="46751"/>
                </a:cubicBezTo>
                <a:close/>
                <a:moveTo>
                  <a:pt x="51276" y="46717"/>
                </a:moveTo>
                <a:cubicBezTo>
                  <a:pt x="47023" y="42464"/>
                  <a:pt x="40116" y="42464"/>
                  <a:pt x="35863" y="46717"/>
                </a:cubicBezTo>
                <a:lnTo>
                  <a:pt x="3198" y="79381"/>
                </a:lnTo>
                <a:cubicBezTo>
                  <a:pt x="-1055" y="83635"/>
                  <a:pt x="-1055" y="90542"/>
                  <a:pt x="3198" y="94795"/>
                </a:cubicBezTo>
                <a:lnTo>
                  <a:pt x="35863" y="127459"/>
                </a:lnTo>
                <a:cubicBezTo>
                  <a:pt x="40116" y="131713"/>
                  <a:pt x="47023" y="131713"/>
                  <a:pt x="51276" y="127459"/>
                </a:cubicBezTo>
                <a:cubicBezTo>
                  <a:pt x="55530" y="123206"/>
                  <a:pt x="55530" y="116299"/>
                  <a:pt x="51276" y="112046"/>
                </a:cubicBezTo>
                <a:lnTo>
                  <a:pt x="26302" y="87105"/>
                </a:lnTo>
                <a:lnTo>
                  <a:pt x="51242" y="62130"/>
                </a:lnTo>
                <a:cubicBezTo>
                  <a:pt x="55496" y="57877"/>
                  <a:pt x="55496" y="50970"/>
                  <a:pt x="51242" y="46717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27499" y="7360386"/>
            <a:ext cx="4573021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参数调优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09736" y="7708806"/>
            <a:ext cx="4779896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</a:t>
            </a: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GridSearchCV</a:t>
            </a: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搜索最佳</a:t>
            </a: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max_depth、min_samples_split</a:t>
            </a: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等参数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644823" y="7229728"/>
            <a:ext cx="4986770" cy="827499"/>
          </a:xfrm>
          <a:custGeom>
            <a:avLst/>
            <a:gdLst/>
            <a:ahLst/>
            <a:cxnLst/>
            <a:rect l="l" t="t" r="r" b="b"/>
            <a:pathLst>
              <a:path w="4986770" h="827499">
                <a:moveTo>
                  <a:pt x="43553" y="0"/>
                </a:moveTo>
                <a:lnTo>
                  <a:pt x="4899668" y="0"/>
                </a:lnTo>
                <a:cubicBezTo>
                  <a:pt x="4947773" y="0"/>
                  <a:pt x="4986770" y="38997"/>
                  <a:pt x="4986770" y="87103"/>
                </a:cubicBezTo>
                <a:lnTo>
                  <a:pt x="4986770" y="740396"/>
                </a:lnTo>
                <a:cubicBezTo>
                  <a:pt x="4986770" y="788502"/>
                  <a:pt x="4947773" y="827499"/>
                  <a:pt x="4899668" y="827499"/>
                </a:cubicBezTo>
                <a:lnTo>
                  <a:pt x="43553" y="827499"/>
                </a:lnTo>
                <a:cubicBezTo>
                  <a:pt x="19499" y="827499"/>
                  <a:pt x="0" y="808000"/>
                  <a:pt x="0" y="783946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5644823" y="7229728"/>
            <a:ext cx="43553" cy="827499"/>
          </a:xfrm>
          <a:custGeom>
            <a:avLst/>
            <a:gdLst/>
            <a:ahLst/>
            <a:cxnLst/>
            <a:rect l="l" t="t" r="r" b="b"/>
            <a:pathLst>
              <a:path w="43553" h="827499">
                <a:moveTo>
                  <a:pt x="43553" y="0"/>
                </a:moveTo>
                <a:lnTo>
                  <a:pt x="43553" y="0"/>
                </a:lnTo>
                <a:lnTo>
                  <a:pt x="43553" y="827499"/>
                </a:lnTo>
                <a:lnTo>
                  <a:pt x="43553" y="827499"/>
                </a:lnTo>
                <a:cubicBezTo>
                  <a:pt x="19499" y="827499"/>
                  <a:pt x="0" y="808000"/>
                  <a:pt x="0" y="783946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5829921" y="7403938"/>
            <a:ext cx="152434" cy="174210"/>
          </a:xfrm>
          <a:custGeom>
            <a:avLst/>
            <a:gdLst/>
            <a:ahLst/>
            <a:cxnLst/>
            <a:rect l="l" t="t" r="r" b="b"/>
            <a:pathLst>
              <a:path w="152434" h="174210">
                <a:moveTo>
                  <a:pt x="76217" y="-10888"/>
                </a:moveTo>
                <a:cubicBezTo>
                  <a:pt x="78599" y="-10888"/>
                  <a:pt x="80878" y="-9833"/>
                  <a:pt x="82444" y="-7996"/>
                </a:cubicBezTo>
                <a:lnTo>
                  <a:pt x="128718" y="46445"/>
                </a:lnTo>
                <a:cubicBezTo>
                  <a:pt x="130794" y="48861"/>
                  <a:pt x="131236" y="52263"/>
                  <a:pt x="129909" y="55155"/>
                </a:cubicBezTo>
                <a:cubicBezTo>
                  <a:pt x="128582" y="58047"/>
                  <a:pt x="125690" y="59885"/>
                  <a:pt x="122492" y="59885"/>
                </a:cubicBezTo>
                <a:lnTo>
                  <a:pt x="114019" y="59885"/>
                </a:lnTo>
                <a:lnTo>
                  <a:pt x="139606" y="89997"/>
                </a:lnTo>
                <a:cubicBezTo>
                  <a:pt x="141682" y="92413"/>
                  <a:pt x="142124" y="95816"/>
                  <a:pt x="140797" y="98708"/>
                </a:cubicBezTo>
                <a:cubicBezTo>
                  <a:pt x="139470" y="101600"/>
                  <a:pt x="136578" y="103437"/>
                  <a:pt x="133380" y="103437"/>
                </a:cubicBezTo>
                <a:lnTo>
                  <a:pt x="120280" y="103437"/>
                </a:lnTo>
                <a:lnTo>
                  <a:pt x="150495" y="138994"/>
                </a:lnTo>
                <a:cubicBezTo>
                  <a:pt x="152570" y="141410"/>
                  <a:pt x="153012" y="144812"/>
                  <a:pt x="151685" y="147704"/>
                </a:cubicBezTo>
                <a:cubicBezTo>
                  <a:pt x="150358" y="150597"/>
                  <a:pt x="147466" y="152434"/>
                  <a:pt x="144268" y="152434"/>
                </a:cubicBezTo>
                <a:lnTo>
                  <a:pt x="87105" y="152434"/>
                </a:lnTo>
                <a:lnTo>
                  <a:pt x="87105" y="174210"/>
                </a:lnTo>
                <a:cubicBezTo>
                  <a:pt x="87105" y="180233"/>
                  <a:pt x="82240" y="185098"/>
                  <a:pt x="76217" y="185098"/>
                </a:cubicBezTo>
                <a:cubicBezTo>
                  <a:pt x="70195" y="185098"/>
                  <a:pt x="65329" y="180233"/>
                  <a:pt x="65329" y="174210"/>
                </a:cubicBezTo>
                <a:lnTo>
                  <a:pt x="65329" y="152434"/>
                </a:lnTo>
                <a:lnTo>
                  <a:pt x="8166" y="152434"/>
                </a:lnTo>
                <a:cubicBezTo>
                  <a:pt x="4968" y="152434"/>
                  <a:pt x="2076" y="150597"/>
                  <a:pt x="749" y="147704"/>
                </a:cubicBezTo>
                <a:cubicBezTo>
                  <a:pt x="-578" y="144812"/>
                  <a:pt x="-136" y="141410"/>
                  <a:pt x="1939" y="138994"/>
                </a:cubicBezTo>
                <a:lnTo>
                  <a:pt x="32154" y="103437"/>
                </a:lnTo>
                <a:lnTo>
                  <a:pt x="19054" y="103437"/>
                </a:lnTo>
                <a:cubicBezTo>
                  <a:pt x="15856" y="103437"/>
                  <a:pt x="12964" y="101600"/>
                  <a:pt x="11637" y="98708"/>
                </a:cubicBezTo>
                <a:cubicBezTo>
                  <a:pt x="10310" y="95816"/>
                  <a:pt x="10752" y="92413"/>
                  <a:pt x="12828" y="89997"/>
                </a:cubicBezTo>
                <a:lnTo>
                  <a:pt x="38415" y="59885"/>
                </a:lnTo>
                <a:lnTo>
                  <a:pt x="29942" y="59885"/>
                </a:lnTo>
                <a:cubicBezTo>
                  <a:pt x="26744" y="59885"/>
                  <a:pt x="23852" y="58047"/>
                  <a:pt x="22525" y="55155"/>
                </a:cubicBezTo>
                <a:cubicBezTo>
                  <a:pt x="21198" y="52263"/>
                  <a:pt x="21640" y="48861"/>
                  <a:pt x="23716" y="46445"/>
                </a:cubicBezTo>
                <a:lnTo>
                  <a:pt x="69990" y="-7996"/>
                </a:lnTo>
                <a:cubicBezTo>
                  <a:pt x="71556" y="-9833"/>
                  <a:pt x="73835" y="-10888"/>
                  <a:pt x="76217" y="-10888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015019" y="7360386"/>
            <a:ext cx="4573021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树的可视化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97257" y="7708806"/>
            <a:ext cx="4779896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使用</a:t>
            </a: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plot_tree</a:t>
            </a: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和</a:t>
            </a: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export_text</a:t>
            </a: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直观理解决策规则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832428" y="7229728"/>
            <a:ext cx="4986770" cy="827499"/>
          </a:xfrm>
          <a:custGeom>
            <a:avLst/>
            <a:gdLst/>
            <a:ahLst/>
            <a:cxnLst/>
            <a:rect l="l" t="t" r="r" b="b"/>
            <a:pathLst>
              <a:path w="4986770" h="827499">
                <a:moveTo>
                  <a:pt x="43553" y="0"/>
                </a:moveTo>
                <a:lnTo>
                  <a:pt x="4899668" y="0"/>
                </a:lnTo>
                <a:cubicBezTo>
                  <a:pt x="4947773" y="0"/>
                  <a:pt x="4986770" y="38997"/>
                  <a:pt x="4986770" y="87103"/>
                </a:cubicBezTo>
                <a:lnTo>
                  <a:pt x="4986770" y="740396"/>
                </a:lnTo>
                <a:cubicBezTo>
                  <a:pt x="4986770" y="788502"/>
                  <a:pt x="4947773" y="827499"/>
                  <a:pt x="4899668" y="827499"/>
                </a:cubicBezTo>
                <a:lnTo>
                  <a:pt x="43553" y="827499"/>
                </a:lnTo>
                <a:cubicBezTo>
                  <a:pt x="19499" y="827499"/>
                  <a:pt x="0" y="808000"/>
                  <a:pt x="0" y="783946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832428" y="7229728"/>
            <a:ext cx="43553" cy="827499"/>
          </a:xfrm>
          <a:custGeom>
            <a:avLst/>
            <a:gdLst/>
            <a:ahLst/>
            <a:cxnLst/>
            <a:rect l="l" t="t" r="r" b="b"/>
            <a:pathLst>
              <a:path w="43553" h="827499">
                <a:moveTo>
                  <a:pt x="43553" y="0"/>
                </a:moveTo>
                <a:lnTo>
                  <a:pt x="43553" y="0"/>
                </a:lnTo>
                <a:lnTo>
                  <a:pt x="43553" y="827499"/>
                </a:lnTo>
                <a:lnTo>
                  <a:pt x="43553" y="827499"/>
                </a:lnTo>
                <a:cubicBezTo>
                  <a:pt x="19499" y="827499"/>
                  <a:pt x="0" y="808000"/>
                  <a:pt x="0" y="783946"/>
                </a:cubicBezTo>
                <a:lnTo>
                  <a:pt x="0" y="43553"/>
                </a:lnTo>
                <a:cubicBezTo>
                  <a:pt x="0" y="19499"/>
                  <a:pt x="19499" y="0"/>
                  <a:pt x="4355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1006638" y="7403938"/>
            <a:ext cx="174210" cy="174210"/>
          </a:xfrm>
          <a:custGeom>
            <a:avLst/>
            <a:gdLst/>
            <a:ahLst/>
            <a:cxnLst/>
            <a:rect l="l" t="t" r="r" b="b"/>
            <a:pathLst>
              <a:path w="174210" h="174210">
                <a:moveTo>
                  <a:pt x="79109" y="1769"/>
                </a:moveTo>
                <a:cubicBezTo>
                  <a:pt x="84179" y="-578"/>
                  <a:pt x="90031" y="-578"/>
                  <a:pt x="95101" y="1769"/>
                </a:cubicBezTo>
                <a:lnTo>
                  <a:pt x="169481" y="36135"/>
                </a:lnTo>
                <a:cubicBezTo>
                  <a:pt x="172373" y="37462"/>
                  <a:pt x="174210" y="40354"/>
                  <a:pt x="174210" y="43553"/>
                </a:cubicBezTo>
                <a:cubicBezTo>
                  <a:pt x="174210" y="46751"/>
                  <a:pt x="172373" y="49643"/>
                  <a:pt x="169481" y="50970"/>
                </a:cubicBezTo>
                <a:lnTo>
                  <a:pt x="95101" y="85336"/>
                </a:lnTo>
                <a:cubicBezTo>
                  <a:pt x="90031" y="87684"/>
                  <a:pt x="84179" y="87684"/>
                  <a:pt x="79109" y="85336"/>
                </a:cubicBezTo>
                <a:lnTo>
                  <a:pt x="4730" y="50970"/>
                </a:lnTo>
                <a:cubicBezTo>
                  <a:pt x="1837" y="49609"/>
                  <a:pt x="0" y="46717"/>
                  <a:pt x="0" y="43553"/>
                </a:cubicBezTo>
                <a:cubicBezTo>
                  <a:pt x="0" y="40388"/>
                  <a:pt x="1837" y="37462"/>
                  <a:pt x="4730" y="36135"/>
                </a:cubicBezTo>
                <a:lnTo>
                  <a:pt x="79109" y="1769"/>
                </a:lnTo>
                <a:close/>
                <a:moveTo>
                  <a:pt x="16366" y="74312"/>
                </a:moveTo>
                <a:lnTo>
                  <a:pt x="72270" y="100137"/>
                </a:lnTo>
                <a:cubicBezTo>
                  <a:pt x="81695" y="104492"/>
                  <a:pt x="92549" y="104492"/>
                  <a:pt x="101974" y="100137"/>
                </a:cubicBezTo>
                <a:lnTo>
                  <a:pt x="157878" y="74312"/>
                </a:lnTo>
                <a:lnTo>
                  <a:pt x="169481" y="79688"/>
                </a:lnTo>
                <a:cubicBezTo>
                  <a:pt x="172373" y="81015"/>
                  <a:pt x="174210" y="83907"/>
                  <a:pt x="174210" y="87105"/>
                </a:cubicBezTo>
                <a:cubicBezTo>
                  <a:pt x="174210" y="90304"/>
                  <a:pt x="172373" y="93196"/>
                  <a:pt x="169481" y="94523"/>
                </a:cubicBezTo>
                <a:lnTo>
                  <a:pt x="95101" y="128888"/>
                </a:lnTo>
                <a:cubicBezTo>
                  <a:pt x="90031" y="131236"/>
                  <a:pt x="84179" y="131236"/>
                  <a:pt x="79109" y="128888"/>
                </a:cubicBezTo>
                <a:lnTo>
                  <a:pt x="4730" y="94523"/>
                </a:lnTo>
                <a:cubicBezTo>
                  <a:pt x="1837" y="93162"/>
                  <a:pt x="0" y="90270"/>
                  <a:pt x="0" y="87105"/>
                </a:cubicBezTo>
                <a:cubicBezTo>
                  <a:pt x="0" y="83941"/>
                  <a:pt x="1837" y="81015"/>
                  <a:pt x="4730" y="79688"/>
                </a:cubicBezTo>
                <a:lnTo>
                  <a:pt x="16332" y="74312"/>
                </a:lnTo>
                <a:close/>
                <a:moveTo>
                  <a:pt x="4730" y="123240"/>
                </a:moveTo>
                <a:lnTo>
                  <a:pt x="16332" y="117864"/>
                </a:lnTo>
                <a:lnTo>
                  <a:pt x="72236" y="143689"/>
                </a:lnTo>
                <a:cubicBezTo>
                  <a:pt x="81661" y="148045"/>
                  <a:pt x="92515" y="148045"/>
                  <a:pt x="101940" y="143689"/>
                </a:cubicBezTo>
                <a:lnTo>
                  <a:pt x="157844" y="117864"/>
                </a:lnTo>
                <a:lnTo>
                  <a:pt x="169447" y="123240"/>
                </a:lnTo>
                <a:cubicBezTo>
                  <a:pt x="172339" y="124567"/>
                  <a:pt x="174176" y="127459"/>
                  <a:pt x="174176" y="130658"/>
                </a:cubicBezTo>
                <a:cubicBezTo>
                  <a:pt x="174176" y="133856"/>
                  <a:pt x="172339" y="136748"/>
                  <a:pt x="169447" y="138075"/>
                </a:cubicBezTo>
                <a:lnTo>
                  <a:pt x="95067" y="172441"/>
                </a:lnTo>
                <a:cubicBezTo>
                  <a:pt x="89997" y="174789"/>
                  <a:pt x="84145" y="174789"/>
                  <a:pt x="79075" y="172441"/>
                </a:cubicBezTo>
                <a:lnTo>
                  <a:pt x="4730" y="138075"/>
                </a:lnTo>
                <a:cubicBezTo>
                  <a:pt x="1837" y="136714"/>
                  <a:pt x="0" y="133822"/>
                  <a:pt x="0" y="130658"/>
                </a:cubicBezTo>
                <a:cubicBezTo>
                  <a:pt x="0" y="127493"/>
                  <a:pt x="1837" y="124567"/>
                  <a:pt x="4730" y="12324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1202625" y="7360386"/>
            <a:ext cx="4573021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集成学习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984862" y="7708806"/>
            <a:ext cx="4779896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随机森林和XGBoost通过集成多棵树提升性能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4e5a39349c331586364f9a7586cece3d8dd3d86a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840" r="84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E5A165">
                  <a:alpha val="2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895350"/>
            <a:ext cx="2133600" cy="584200"/>
          </a:xfrm>
          <a:custGeom>
            <a:avLst/>
            <a:gdLst/>
            <a:ahLst/>
            <a:cxnLst/>
            <a:rect l="l" t="t" r="r" b="b"/>
            <a:pathLst>
              <a:path w="2133600" h="584200">
                <a:moveTo>
                  <a:pt x="292100" y="0"/>
                </a:moveTo>
                <a:lnTo>
                  <a:pt x="1841500" y="0"/>
                </a:lnTo>
                <a:cubicBezTo>
                  <a:pt x="2002714" y="0"/>
                  <a:pt x="2133600" y="130886"/>
                  <a:pt x="2133600" y="292100"/>
                </a:cubicBezTo>
                <a:lnTo>
                  <a:pt x="2133600" y="292100"/>
                </a:lnTo>
                <a:cubicBezTo>
                  <a:pt x="2133600" y="453314"/>
                  <a:pt x="2002714" y="584200"/>
                  <a:pt x="1841500" y="584200"/>
                </a:cubicBezTo>
                <a:lnTo>
                  <a:pt x="292100" y="584200"/>
                </a:lnTo>
                <a:cubicBezTo>
                  <a:pt x="130886" y="584200"/>
                  <a:pt x="0" y="453314"/>
                  <a:pt x="0" y="292100"/>
                </a:cubicBezTo>
                <a:lnTo>
                  <a:pt x="0" y="292100"/>
                </a:lnTo>
                <a:cubicBezTo>
                  <a:pt x="0" y="130886"/>
                  <a:pt x="130886" y="0"/>
                  <a:pt x="2921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 w="25400">
            <a:solidFill>
              <a:srgbClr val="E5A16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035050"/>
            <a:ext cx="1719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kern="0" spc="18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898650"/>
            <a:ext cx="10769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dirty="0" err="1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支持向量机</a:t>
            </a:r>
            <a:r>
              <a:rPr lang="en-US" sz="9600" dirty="0" err="1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08000" y="47434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200650"/>
            <a:ext cx="1035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E0E2E6">
                    <a:alpha val="9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Support Vector Machine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8000" y="6267450"/>
            <a:ext cx="1028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最大间隔与核技巧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高维空间的强大分类器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80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最大间隔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336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438400" y="7905750"/>
            <a:ext cx="80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核技巧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30600" y="8007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835400" y="790575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支持向量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0E2E6"/>
                </a:solidFill>
                <a:ea typeface="KaiTi" panose="02010609060101010101" pitchFamily="49" charset="-122"/>
                <a:cs typeface="阿里妈妈数黑体" pitchFamily="34" charset="-120"/>
              </a:rPr>
              <a:t>SVM：</a:t>
            </a:r>
            <a:r>
              <a:rPr lang="en-US" sz="3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算法概述与最大间隔思想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23333" y="973667"/>
            <a:ext cx="846667" cy="42333"/>
          </a:xfrm>
          <a:custGeom>
            <a:avLst/>
            <a:gdLst/>
            <a:ahLst/>
            <a:cxnLst/>
            <a:rect l="l" t="t" r="r" b="b"/>
            <a:pathLst>
              <a:path w="846667" h="42333">
                <a:moveTo>
                  <a:pt x="0" y="0"/>
                </a:moveTo>
                <a:lnTo>
                  <a:pt x="846667" y="0"/>
                </a:lnTo>
                <a:lnTo>
                  <a:pt x="846667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86833" y="1227667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0833" y="1185333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核心思想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3333" y="1651000"/>
            <a:ext cx="7630583" cy="624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SVM的核心思想是通过寻找一个</a:t>
            </a:r>
            <a:r>
              <a:rPr lang="en-US" sz="15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最优的超平面</a:t>
            </a:r>
            <a:r>
              <a:rPr lang="en-US" sz="15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，将不同类别的数据点尽可能宽地分开。距离超平面最近的几个数据点被称为</a:t>
            </a:r>
            <a:r>
              <a:rPr lang="en-US" sz="15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支持向量</a:t>
            </a:r>
            <a:r>
              <a:rPr lang="en-US" sz="15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4500" y="2439458"/>
            <a:ext cx="7514167" cy="1608667"/>
          </a:xfrm>
          <a:custGeom>
            <a:avLst/>
            <a:gdLst/>
            <a:ahLst/>
            <a:cxnLst/>
            <a:rect l="l" t="t" r="r" b="b"/>
            <a:pathLst>
              <a:path w="7514167" h="1608667">
                <a:moveTo>
                  <a:pt x="42333" y="0"/>
                </a:moveTo>
                <a:lnTo>
                  <a:pt x="7429503" y="0"/>
                </a:lnTo>
                <a:cubicBezTo>
                  <a:pt x="7476261" y="0"/>
                  <a:pt x="7514167" y="37905"/>
                  <a:pt x="7514167" y="84664"/>
                </a:cubicBezTo>
                <a:lnTo>
                  <a:pt x="7514167" y="1524003"/>
                </a:lnTo>
                <a:cubicBezTo>
                  <a:pt x="7514167" y="1570761"/>
                  <a:pt x="7476261" y="1608667"/>
                  <a:pt x="7429503" y="1608667"/>
                </a:cubicBezTo>
                <a:lnTo>
                  <a:pt x="42333" y="1608667"/>
                </a:lnTo>
                <a:cubicBezTo>
                  <a:pt x="18953" y="1608667"/>
                  <a:pt x="0" y="1589713"/>
                  <a:pt x="0" y="156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444500" y="2439458"/>
            <a:ext cx="42333" cy="1608667"/>
          </a:xfrm>
          <a:custGeom>
            <a:avLst/>
            <a:gdLst/>
            <a:ahLst/>
            <a:cxnLst/>
            <a:rect l="l" t="t" r="r" b="b"/>
            <a:pathLst>
              <a:path w="42333" h="1608667">
                <a:moveTo>
                  <a:pt x="42333" y="0"/>
                </a:moveTo>
                <a:lnTo>
                  <a:pt x="42333" y="0"/>
                </a:lnTo>
                <a:lnTo>
                  <a:pt x="42333" y="1608667"/>
                </a:lnTo>
                <a:lnTo>
                  <a:pt x="42333" y="1608667"/>
                </a:lnTo>
                <a:cubicBezTo>
                  <a:pt x="18953" y="1608667"/>
                  <a:pt x="0" y="1589713"/>
                  <a:pt x="0" y="1566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35000" y="2608792"/>
            <a:ext cx="723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关键特性：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6750" y="2989792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31333" y="2947458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最大化间隔提升泛化能力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6750" y="3328458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31333" y="3286125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适用于高维、小样本数据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6750" y="3667125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31333" y="3624792"/>
            <a:ext cx="1608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决策函数具有稀疏性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97333" y="1231635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614833" y="1189301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硬间隔最大化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97333" y="1654968"/>
            <a:ext cx="7620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针对线性可分问题，目标是在确保所有数据点正确分类的前提下，找到具有最大间隔的超平面：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18500" y="2057135"/>
            <a:ext cx="7514167" cy="973667"/>
          </a:xfrm>
          <a:custGeom>
            <a:avLst/>
            <a:gdLst/>
            <a:ahLst/>
            <a:cxnLst/>
            <a:rect l="l" t="t" r="r" b="b"/>
            <a:pathLst>
              <a:path w="7514167" h="973667">
                <a:moveTo>
                  <a:pt x="42333" y="0"/>
                </a:moveTo>
                <a:lnTo>
                  <a:pt x="7429497" y="0"/>
                </a:lnTo>
                <a:cubicBezTo>
                  <a:pt x="7476259" y="0"/>
                  <a:pt x="7514167" y="37908"/>
                  <a:pt x="7514167" y="84670"/>
                </a:cubicBezTo>
                <a:lnTo>
                  <a:pt x="7514167" y="888997"/>
                </a:lnTo>
                <a:cubicBezTo>
                  <a:pt x="7514167" y="935759"/>
                  <a:pt x="7476259" y="973667"/>
                  <a:pt x="7429497" y="973667"/>
                </a:cubicBez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318500" y="2057135"/>
            <a:ext cx="42333" cy="973667"/>
          </a:xfrm>
          <a:custGeom>
            <a:avLst/>
            <a:gdLst/>
            <a:ahLst/>
            <a:cxnLst/>
            <a:rect l="l" t="t" r="r" b="b"/>
            <a:pathLst>
              <a:path w="42333" h="973667">
                <a:moveTo>
                  <a:pt x="42333" y="0"/>
                </a:moveTo>
                <a:lnTo>
                  <a:pt x="42333" y="0"/>
                </a:lnTo>
                <a:lnTo>
                  <a:pt x="42333" y="973667"/>
                </a:lnTo>
                <a:lnTo>
                  <a:pt x="42333" y="973667"/>
                </a:lnTo>
                <a:cubicBezTo>
                  <a:pt x="18953" y="973667"/>
                  <a:pt x="0" y="954713"/>
                  <a:pt x="0" y="931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461375" y="2226468"/>
            <a:ext cx="7249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yᵢ(wᵀxᵢ + b) ≥ 1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466667" y="2607468"/>
            <a:ext cx="723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3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并最小化 ½||w||²（等价于最大化间隔）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5083" y="431119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119063" y="47625"/>
                </a:moveTo>
                <a:cubicBezTo>
                  <a:pt x="122386" y="47625"/>
                  <a:pt x="125561" y="49014"/>
                  <a:pt x="127843" y="51495"/>
                </a:cubicBezTo>
                <a:lnTo>
                  <a:pt x="163116" y="89942"/>
                </a:lnTo>
                <a:lnTo>
                  <a:pt x="186035" y="66973"/>
                </a:lnTo>
                <a:cubicBezTo>
                  <a:pt x="190698" y="62309"/>
                  <a:pt x="198239" y="62309"/>
                  <a:pt x="202853" y="66973"/>
                </a:cubicBezTo>
                <a:lnTo>
                  <a:pt x="234603" y="98723"/>
                </a:lnTo>
                <a:cubicBezTo>
                  <a:pt x="236835" y="100955"/>
                  <a:pt x="238075" y="103981"/>
                  <a:pt x="238075" y="107156"/>
                </a:cubicBezTo>
                <a:lnTo>
                  <a:pt x="238075" y="162719"/>
                </a:lnTo>
                <a:cubicBezTo>
                  <a:pt x="238075" y="169317"/>
                  <a:pt x="232767" y="174625"/>
                  <a:pt x="226169" y="174625"/>
                </a:cubicBezTo>
                <a:lnTo>
                  <a:pt x="75357" y="174625"/>
                </a:lnTo>
                <a:cubicBezTo>
                  <a:pt x="68759" y="174625"/>
                  <a:pt x="63450" y="169317"/>
                  <a:pt x="63450" y="162719"/>
                </a:cubicBezTo>
                <a:lnTo>
                  <a:pt x="63450" y="107156"/>
                </a:lnTo>
                <a:cubicBezTo>
                  <a:pt x="63450" y="104180"/>
                  <a:pt x="64591" y="101302"/>
                  <a:pt x="66576" y="99120"/>
                </a:cubicBezTo>
                <a:lnTo>
                  <a:pt x="110232" y="51495"/>
                </a:lnTo>
                <a:cubicBezTo>
                  <a:pt x="112464" y="49014"/>
                  <a:pt x="115689" y="47625"/>
                  <a:pt x="119013" y="47625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40833" y="4268857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SVM可视化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8625" y="4632851"/>
            <a:ext cx="7524750" cy="4233110"/>
          </a:xfrm>
          <a:custGeom>
            <a:avLst/>
            <a:gdLst/>
            <a:ahLst/>
            <a:cxnLst/>
            <a:rect l="l" t="t" r="r" b="b"/>
            <a:pathLst>
              <a:path w="7524750" h="2021417">
                <a:moveTo>
                  <a:pt x="84657" y="0"/>
                </a:moveTo>
                <a:lnTo>
                  <a:pt x="7440093" y="0"/>
                </a:lnTo>
                <a:cubicBezTo>
                  <a:pt x="7486848" y="0"/>
                  <a:pt x="7524750" y="37902"/>
                  <a:pt x="7524750" y="84657"/>
                </a:cubicBezTo>
                <a:lnTo>
                  <a:pt x="7524750" y="1936760"/>
                </a:lnTo>
                <a:cubicBezTo>
                  <a:pt x="7524750" y="1983514"/>
                  <a:pt x="7486848" y="2021417"/>
                  <a:pt x="7440093" y="2021417"/>
                </a:cubicBezTo>
                <a:lnTo>
                  <a:pt x="84657" y="2021417"/>
                </a:lnTo>
                <a:cubicBezTo>
                  <a:pt x="37902" y="2021417"/>
                  <a:pt x="0" y="1983514"/>
                  <a:pt x="0" y="1936760"/>
                </a:cubicBezTo>
                <a:lnTo>
                  <a:pt x="0" y="84657"/>
                </a:lnTo>
                <a:cubicBezTo>
                  <a:pt x="0" y="37933"/>
                  <a:pt x="37933" y="0"/>
                  <a:pt x="84657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29083" y="324424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14833" y="3201908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软间隔最大化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97333" y="3667575"/>
            <a:ext cx="7620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实际数据往往包含噪声或异常点，通过引入松弛变量ξᵢ ≥ 0：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18500" y="4069742"/>
            <a:ext cx="7514167" cy="984250"/>
          </a:xfrm>
          <a:custGeom>
            <a:avLst/>
            <a:gdLst/>
            <a:ahLst/>
            <a:cxnLst/>
            <a:rect l="l" t="t" r="r" b="b"/>
            <a:pathLst>
              <a:path w="7514167" h="984250">
                <a:moveTo>
                  <a:pt x="42333" y="0"/>
                </a:moveTo>
                <a:lnTo>
                  <a:pt x="7429501" y="0"/>
                </a:lnTo>
                <a:cubicBezTo>
                  <a:pt x="7476261" y="0"/>
                  <a:pt x="7514167" y="37906"/>
                  <a:pt x="7514167" y="84665"/>
                </a:cubicBezTo>
                <a:lnTo>
                  <a:pt x="7514167" y="899585"/>
                </a:lnTo>
                <a:cubicBezTo>
                  <a:pt x="7514167" y="946344"/>
                  <a:pt x="7476261" y="984250"/>
                  <a:pt x="7429501" y="984250"/>
                </a:cubicBezTo>
                <a:lnTo>
                  <a:pt x="42333" y="984250"/>
                </a:lnTo>
                <a:cubicBezTo>
                  <a:pt x="18953" y="984250"/>
                  <a:pt x="0" y="965297"/>
                  <a:pt x="0" y="941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318500" y="4069742"/>
            <a:ext cx="42333" cy="984250"/>
          </a:xfrm>
          <a:custGeom>
            <a:avLst/>
            <a:gdLst/>
            <a:ahLst/>
            <a:cxnLst/>
            <a:rect l="l" t="t" r="r" b="b"/>
            <a:pathLst>
              <a:path w="42333" h="984250">
                <a:moveTo>
                  <a:pt x="42333" y="0"/>
                </a:moveTo>
                <a:lnTo>
                  <a:pt x="42333" y="0"/>
                </a:lnTo>
                <a:lnTo>
                  <a:pt x="42333" y="984250"/>
                </a:lnTo>
                <a:lnTo>
                  <a:pt x="42333" y="984250"/>
                </a:lnTo>
                <a:cubicBezTo>
                  <a:pt x="18953" y="984250"/>
                  <a:pt x="0" y="965297"/>
                  <a:pt x="0" y="94191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461375" y="4239075"/>
            <a:ext cx="7249583" cy="306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min ½||w||² + CΣξᵢ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466667" y="4633304"/>
            <a:ext cx="723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Calibri" panose="020F0502020204030204" pitchFamily="34" charset="0"/>
              </a:rPr>
              <a:t>约束</a:t>
            </a: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：yᵢ(wᵀxᵢ + b) ≥ 1 - ξᵢ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302625" y="5188929"/>
            <a:ext cx="7524750" cy="1153583"/>
          </a:xfrm>
          <a:custGeom>
            <a:avLst/>
            <a:gdLst/>
            <a:ahLst/>
            <a:cxnLst/>
            <a:rect l="l" t="t" r="r" b="b"/>
            <a:pathLst>
              <a:path w="7524750" h="1153583">
                <a:moveTo>
                  <a:pt x="84661" y="0"/>
                </a:moveTo>
                <a:lnTo>
                  <a:pt x="7440089" y="0"/>
                </a:lnTo>
                <a:cubicBezTo>
                  <a:pt x="7486846" y="0"/>
                  <a:pt x="7524750" y="37904"/>
                  <a:pt x="7524750" y="84661"/>
                </a:cubicBezTo>
                <a:lnTo>
                  <a:pt x="7524750" y="1068922"/>
                </a:lnTo>
                <a:cubicBezTo>
                  <a:pt x="7524750" y="1115679"/>
                  <a:pt x="7486846" y="1153583"/>
                  <a:pt x="7440089" y="1153583"/>
                </a:cubicBezTo>
                <a:lnTo>
                  <a:pt x="84661" y="1153583"/>
                </a:lnTo>
                <a:cubicBezTo>
                  <a:pt x="37904" y="1153583"/>
                  <a:pt x="0" y="1115679"/>
                  <a:pt x="0" y="1068922"/>
                </a:cubicBezTo>
                <a:lnTo>
                  <a:pt x="0" y="84661"/>
                </a:lnTo>
                <a:cubicBezTo>
                  <a:pt x="0" y="37936"/>
                  <a:pt x="37936" y="0"/>
                  <a:pt x="84661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 w="12700">
            <a:solidFill>
              <a:srgbClr val="E5A165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434917" y="5321221"/>
            <a:ext cx="7344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参数（惩罚系数）：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34917" y="5659888"/>
            <a:ext cx="7344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越大：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对误分类惩罚更强，间隔变窄，易过拟合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34917" y="5956221"/>
            <a:ext cx="73448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越小：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对误分类更宽容，边界更平滑，易欠拟合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97333" y="6559471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614833" y="6517138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数学基础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9083" y="7025138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636000" y="6982804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向量内积：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描述两个向量关系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29083" y="7363804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636000" y="7321471"/>
            <a:ext cx="194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向量范数：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衡量向量长度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29083" y="7702471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636000" y="7660138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凸优化：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具有唯一全局最优解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29083" y="8041138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143801" y="23184"/>
                </a:moveTo>
                <a:cubicBezTo>
                  <a:pt x="148530" y="26624"/>
                  <a:pt x="149589" y="33238"/>
                  <a:pt x="146149" y="37968"/>
                </a:cubicBezTo>
                <a:lnTo>
                  <a:pt x="61483" y="154384"/>
                </a:lnTo>
                <a:cubicBezTo>
                  <a:pt x="59664" y="156898"/>
                  <a:pt x="56852" y="158452"/>
                  <a:pt x="53743" y="158717"/>
                </a:cubicBezTo>
                <a:cubicBezTo>
                  <a:pt x="50635" y="158982"/>
                  <a:pt x="47625" y="157824"/>
                  <a:pt x="45442" y="155641"/>
                </a:cubicBezTo>
                <a:lnTo>
                  <a:pt x="3109" y="113308"/>
                </a:lnTo>
                <a:cubicBezTo>
                  <a:pt x="-1025" y="109174"/>
                  <a:pt x="-1025" y="102460"/>
                  <a:pt x="3109" y="98326"/>
                </a:cubicBezTo>
                <a:cubicBezTo>
                  <a:pt x="7243" y="94192"/>
                  <a:pt x="13957" y="94192"/>
                  <a:pt x="18091" y="98326"/>
                </a:cubicBezTo>
                <a:lnTo>
                  <a:pt x="51660" y="131895"/>
                </a:lnTo>
                <a:lnTo>
                  <a:pt x="129051" y="25499"/>
                </a:lnTo>
                <a:cubicBezTo>
                  <a:pt x="132490" y="20770"/>
                  <a:pt x="139105" y="19711"/>
                  <a:pt x="143834" y="23151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636000" y="7998804"/>
            <a:ext cx="2624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拉格朗日乘子法：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求解带约束优化</a:t>
            </a:r>
            <a:endParaRPr lang="en-US" sz="1600" dirty="0"/>
          </a:p>
        </p:txBody>
      </p:sp>
      <p:pic>
        <p:nvPicPr>
          <p:cNvPr id="54" name="图片 53" descr="图表, 散点图&#10;&#10;AI 生成的内容可能不正确。">
            <a:extLst>
              <a:ext uri="{FF2B5EF4-FFF2-40B4-BE49-F238E27FC236}">
                <a16:creationId xmlns:a16="http://schemas.microsoft.com/office/drawing/2014/main" id="{C04EC50F-1293-CA7E-AC14-3CA37C965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771" y="4632851"/>
            <a:ext cx="6616458" cy="42331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SVM：软间隔与核函数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1684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65150" y="1473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237411"/>
                </a:moveTo>
                <a:cubicBezTo>
                  <a:pt x="126325" y="240447"/>
                  <a:pt x="119420" y="243185"/>
                  <a:pt x="112574" y="245447"/>
                </a:cubicBezTo>
                <a:cubicBezTo>
                  <a:pt x="122515" y="265569"/>
                  <a:pt x="131028" y="266700"/>
                  <a:pt x="133350" y="266700"/>
                </a:cubicBezTo>
                <a:cubicBezTo>
                  <a:pt x="135672" y="266700"/>
                  <a:pt x="144125" y="265569"/>
                  <a:pt x="154126" y="245447"/>
                </a:cubicBezTo>
                <a:cubicBezTo>
                  <a:pt x="147340" y="243126"/>
                  <a:pt x="140375" y="240447"/>
                  <a:pt x="133350" y="237411"/>
                </a:cubicBezTo>
                <a:close/>
                <a:moveTo>
                  <a:pt x="246459" y="152400"/>
                </a:moveTo>
                <a:cubicBezTo>
                  <a:pt x="266105" y="179308"/>
                  <a:pt x="272832" y="206514"/>
                  <a:pt x="260509" y="228600"/>
                </a:cubicBezTo>
                <a:cubicBezTo>
                  <a:pt x="248483" y="250210"/>
                  <a:pt x="223302" y="257949"/>
                  <a:pt x="191929" y="254318"/>
                </a:cubicBezTo>
                <a:cubicBezTo>
                  <a:pt x="178832" y="285333"/>
                  <a:pt x="158770" y="304800"/>
                  <a:pt x="133350" y="304800"/>
                </a:cubicBezTo>
                <a:cubicBezTo>
                  <a:pt x="107930" y="304800"/>
                  <a:pt x="87868" y="285333"/>
                  <a:pt x="74771" y="254318"/>
                </a:cubicBezTo>
                <a:cubicBezTo>
                  <a:pt x="43398" y="257949"/>
                  <a:pt x="18217" y="250210"/>
                  <a:pt x="6191" y="228600"/>
                </a:cubicBezTo>
                <a:cubicBezTo>
                  <a:pt x="-6132" y="206514"/>
                  <a:pt x="595" y="179308"/>
                  <a:pt x="20241" y="152400"/>
                </a:cubicBezTo>
                <a:cubicBezTo>
                  <a:pt x="595" y="125492"/>
                  <a:pt x="-6132" y="98286"/>
                  <a:pt x="6191" y="76200"/>
                </a:cubicBezTo>
                <a:cubicBezTo>
                  <a:pt x="18217" y="54590"/>
                  <a:pt x="43398" y="46851"/>
                  <a:pt x="74771" y="50483"/>
                </a:cubicBezTo>
                <a:cubicBezTo>
                  <a:pt x="87868" y="19467"/>
                  <a:pt x="107871" y="0"/>
                  <a:pt x="133350" y="0"/>
                </a:cubicBezTo>
                <a:cubicBezTo>
                  <a:pt x="158829" y="0"/>
                  <a:pt x="178832" y="19467"/>
                  <a:pt x="191929" y="50483"/>
                </a:cubicBezTo>
                <a:cubicBezTo>
                  <a:pt x="223302" y="46851"/>
                  <a:pt x="248483" y="54531"/>
                  <a:pt x="260509" y="76200"/>
                </a:cubicBezTo>
                <a:cubicBezTo>
                  <a:pt x="272832" y="98286"/>
                  <a:pt x="266105" y="125492"/>
                  <a:pt x="246459" y="152400"/>
                </a:cubicBezTo>
                <a:close/>
                <a:moveTo>
                  <a:pt x="207288" y="192524"/>
                </a:moveTo>
                <a:cubicBezTo>
                  <a:pt x="206276" y="200977"/>
                  <a:pt x="204966" y="209193"/>
                  <a:pt x="203299" y="217051"/>
                </a:cubicBezTo>
                <a:cubicBezTo>
                  <a:pt x="222230" y="217884"/>
                  <a:pt x="226278" y="211872"/>
                  <a:pt x="227231" y="210086"/>
                </a:cubicBezTo>
                <a:cubicBezTo>
                  <a:pt x="228600" y="207585"/>
                  <a:pt x="231398" y="199430"/>
                  <a:pt x="220147" y="181451"/>
                </a:cubicBezTo>
                <a:cubicBezTo>
                  <a:pt x="216098" y="185202"/>
                  <a:pt x="211812" y="188893"/>
                  <a:pt x="207288" y="192524"/>
                </a:cubicBezTo>
                <a:close/>
                <a:moveTo>
                  <a:pt x="203299" y="87809"/>
                </a:moveTo>
                <a:cubicBezTo>
                  <a:pt x="204966" y="95607"/>
                  <a:pt x="206276" y="103822"/>
                  <a:pt x="207288" y="112335"/>
                </a:cubicBezTo>
                <a:cubicBezTo>
                  <a:pt x="211812" y="115967"/>
                  <a:pt x="216098" y="119658"/>
                  <a:pt x="220147" y="123408"/>
                </a:cubicBezTo>
                <a:cubicBezTo>
                  <a:pt x="231398" y="105430"/>
                  <a:pt x="228600" y="97215"/>
                  <a:pt x="227231" y="94774"/>
                </a:cubicBezTo>
                <a:cubicBezTo>
                  <a:pt x="226278" y="93047"/>
                  <a:pt x="222230" y="87035"/>
                  <a:pt x="203299" y="87809"/>
                </a:cubicBezTo>
                <a:close/>
                <a:moveTo>
                  <a:pt x="154126" y="59353"/>
                </a:moveTo>
                <a:cubicBezTo>
                  <a:pt x="144125" y="39231"/>
                  <a:pt x="135672" y="38100"/>
                  <a:pt x="133350" y="38100"/>
                </a:cubicBezTo>
                <a:cubicBezTo>
                  <a:pt x="131028" y="38100"/>
                  <a:pt x="122575" y="39231"/>
                  <a:pt x="112574" y="59353"/>
                </a:cubicBezTo>
                <a:cubicBezTo>
                  <a:pt x="119360" y="61674"/>
                  <a:pt x="126325" y="64353"/>
                  <a:pt x="133350" y="67389"/>
                </a:cubicBezTo>
                <a:cubicBezTo>
                  <a:pt x="140375" y="64353"/>
                  <a:pt x="147280" y="61615"/>
                  <a:pt x="154126" y="59353"/>
                </a:cubicBezTo>
                <a:close/>
                <a:moveTo>
                  <a:pt x="59472" y="112276"/>
                </a:moveTo>
                <a:cubicBezTo>
                  <a:pt x="60484" y="103763"/>
                  <a:pt x="61793" y="95607"/>
                  <a:pt x="63460" y="87749"/>
                </a:cubicBezTo>
                <a:cubicBezTo>
                  <a:pt x="44529" y="86916"/>
                  <a:pt x="40481" y="92928"/>
                  <a:pt x="39529" y="94714"/>
                </a:cubicBezTo>
                <a:cubicBezTo>
                  <a:pt x="38160" y="97215"/>
                  <a:pt x="35362" y="105370"/>
                  <a:pt x="46613" y="123349"/>
                </a:cubicBezTo>
                <a:cubicBezTo>
                  <a:pt x="50661" y="119598"/>
                  <a:pt x="54947" y="115907"/>
                  <a:pt x="59472" y="112276"/>
                </a:cubicBezTo>
                <a:close/>
                <a:moveTo>
                  <a:pt x="46553" y="181451"/>
                </a:moveTo>
                <a:cubicBezTo>
                  <a:pt x="35302" y="199430"/>
                  <a:pt x="38100" y="207645"/>
                  <a:pt x="39469" y="210086"/>
                </a:cubicBezTo>
                <a:cubicBezTo>
                  <a:pt x="40422" y="211812"/>
                  <a:pt x="44470" y="217825"/>
                  <a:pt x="63401" y="217051"/>
                </a:cubicBezTo>
                <a:cubicBezTo>
                  <a:pt x="61734" y="209252"/>
                  <a:pt x="60424" y="201037"/>
                  <a:pt x="59412" y="192524"/>
                </a:cubicBezTo>
                <a:cubicBezTo>
                  <a:pt x="54888" y="188893"/>
                  <a:pt x="50602" y="185202"/>
                  <a:pt x="46553" y="181451"/>
                </a:cubicBezTo>
                <a:close/>
                <a:moveTo>
                  <a:pt x="180975" y="152400"/>
                </a:moveTo>
                <a:cubicBezTo>
                  <a:pt x="180975" y="126115"/>
                  <a:pt x="159635" y="104775"/>
                  <a:pt x="133350" y="104775"/>
                </a:cubicBezTo>
                <a:cubicBezTo>
                  <a:pt x="107065" y="104775"/>
                  <a:pt x="85725" y="126115"/>
                  <a:pt x="85725" y="152400"/>
                </a:cubicBezTo>
                <a:cubicBezTo>
                  <a:pt x="85725" y="178685"/>
                  <a:pt x="107065" y="200025"/>
                  <a:pt x="133350" y="200025"/>
                </a:cubicBezTo>
                <a:cubicBezTo>
                  <a:pt x="159635" y="200025"/>
                  <a:pt x="180975" y="178685"/>
                  <a:pt x="180975" y="152400"/>
                </a:cubicBezTo>
                <a:close/>
                <a:moveTo>
                  <a:pt x="133350" y="133350"/>
                </a:moveTo>
                <a:cubicBezTo>
                  <a:pt x="143864" y="133350"/>
                  <a:pt x="152400" y="141886"/>
                  <a:pt x="152400" y="152400"/>
                </a:cubicBezTo>
                <a:cubicBezTo>
                  <a:pt x="152400" y="162914"/>
                  <a:pt x="143864" y="171450"/>
                  <a:pt x="133350" y="171450"/>
                </a:cubicBezTo>
                <a:cubicBezTo>
                  <a:pt x="122836" y="171450"/>
                  <a:pt x="114300" y="162914"/>
                  <a:pt x="114300" y="152400"/>
                </a:cubicBezTo>
                <a:cubicBezTo>
                  <a:pt x="114300" y="141886"/>
                  <a:pt x="122836" y="133350"/>
                  <a:pt x="133350" y="13335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890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核函数（Kernel Function）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1981200"/>
            <a:ext cx="7518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对于线性不可分数据，SVM引入核函数将数据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映射到高维特征空间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，使其变得线性可分。无需显式计算映射，通过核函数隐式完成。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3400" y="2794000"/>
            <a:ext cx="7391400" cy="1574800"/>
          </a:xfrm>
          <a:custGeom>
            <a:avLst/>
            <a:gdLst/>
            <a:ahLst/>
            <a:cxnLst/>
            <a:rect l="l" t="t" r="r" b="b"/>
            <a:pathLst>
              <a:path w="7391400" h="1574800">
                <a:moveTo>
                  <a:pt x="50800" y="0"/>
                </a:moveTo>
                <a:lnTo>
                  <a:pt x="7289794" y="0"/>
                </a:lnTo>
                <a:cubicBezTo>
                  <a:pt x="7345909" y="0"/>
                  <a:pt x="7391400" y="45491"/>
                  <a:pt x="7391400" y="101606"/>
                </a:cubicBezTo>
                <a:lnTo>
                  <a:pt x="7391400" y="1473194"/>
                </a:lnTo>
                <a:cubicBezTo>
                  <a:pt x="7391400" y="1529309"/>
                  <a:pt x="7345909" y="1574800"/>
                  <a:pt x="7289794" y="1574800"/>
                </a:cubicBezTo>
                <a:lnTo>
                  <a:pt x="50800" y="1574800"/>
                </a:lnTo>
                <a:cubicBezTo>
                  <a:pt x="22744" y="1574800"/>
                  <a:pt x="0" y="1552056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533400" y="27940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62000" y="29972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核技巧：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850" y="3403600"/>
            <a:ext cx="707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K(xᵢ, xⱼ) = φ(xᵢ)ᵀφ(xⱼ)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1200" y="38608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避免高维特征空间的显式计算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6100" y="462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142875" y="57150"/>
                </a:moveTo>
                <a:cubicBezTo>
                  <a:pt x="146864" y="57150"/>
                  <a:pt x="150674" y="58817"/>
                  <a:pt x="153412" y="61793"/>
                </a:cubicBezTo>
                <a:lnTo>
                  <a:pt x="195739" y="107930"/>
                </a:lnTo>
                <a:lnTo>
                  <a:pt x="223242" y="80367"/>
                </a:lnTo>
                <a:cubicBezTo>
                  <a:pt x="228838" y="74771"/>
                  <a:pt x="237887" y="74771"/>
                  <a:pt x="243423" y="80367"/>
                </a:cubicBezTo>
                <a:lnTo>
                  <a:pt x="281523" y="118467"/>
                </a:lnTo>
                <a:cubicBezTo>
                  <a:pt x="284202" y="121146"/>
                  <a:pt x="285690" y="124777"/>
                  <a:pt x="285690" y="128588"/>
                </a:cubicBezTo>
                <a:lnTo>
                  <a:pt x="285690" y="195263"/>
                </a:lnTo>
                <a:cubicBezTo>
                  <a:pt x="285690" y="203180"/>
                  <a:pt x="279321" y="209550"/>
                  <a:pt x="271403" y="209550"/>
                </a:cubicBezTo>
                <a:lnTo>
                  <a:pt x="90428" y="209550"/>
                </a:lnTo>
                <a:cubicBezTo>
                  <a:pt x="82510" y="209550"/>
                  <a:pt x="76140" y="203180"/>
                  <a:pt x="76140" y="195263"/>
                </a:cubicBezTo>
                <a:lnTo>
                  <a:pt x="76140" y="128588"/>
                </a:lnTo>
                <a:cubicBezTo>
                  <a:pt x="76140" y="125016"/>
                  <a:pt x="77510" y="121563"/>
                  <a:pt x="79891" y="118943"/>
                </a:cubicBezTo>
                <a:lnTo>
                  <a:pt x="132278" y="61793"/>
                </a:lnTo>
                <a:cubicBezTo>
                  <a:pt x="134957" y="58817"/>
                  <a:pt x="138827" y="57150"/>
                  <a:pt x="142815" y="5715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89000" y="45720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核函数可视化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5137150"/>
            <a:ext cx="7404100" cy="3176115"/>
          </a:xfrm>
          <a:custGeom>
            <a:avLst/>
            <a:gdLst/>
            <a:ahLst/>
            <a:cxnLst/>
            <a:rect l="l" t="t" r="r" b="b"/>
            <a:pathLst>
              <a:path w="7404100" h="2425700">
                <a:moveTo>
                  <a:pt x="101588" y="0"/>
                </a:moveTo>
                <a:lnTo>
                  <a:pt x="7302512" y="0"/>
                </a:lnTo>
                <a:cubicBezTo>
                  <a:pt x="7358617" y="0"/>
                  <a:pt x="7404100" y="45483"/>
                  <a:pt x="7404100" y="101588"/>
                </a:cubicBezTo>
                <a:lnTo>
                  <a:pt x="7404100" y="2324112"/>
                </a:lnTo>
                <a:cubicBezTo>
                  <a:pt x="7404100" y="2380217"/>
                  <a:pt x="7358617" y="2425700"/>
                  <a:pt x="7302512" y="2425700"/>
                </a:cubicBezTo>
                <a:lnTo>
                  <a:pt x="101588" y="2425700"/>
                </a:lnTo>
                <a:cubicBezTo>
                  <a:pt x="45483" y="2425700"/>
                  <a:pt x="0" y="2380217"/>
                  <a:pt x="0" y="2324112"/>
                </a:cubicBezTo>
                <a:lnTo>
                  <a:pt x="0" y="101588"/>
                </a:lnTo>
                <a:cubicBezTo>
                  <a:pt x="0" y="45483"/>
                  <a:pt x="45483" y="0"/>
                  <a:pt x="101588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369300" y="147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85725"/>
                </a:moveTo>
                <a:cubicBezTo>
                  <a:pt x="44346" y="85725"/>
                  <a:pt x="57150" y="72921"/>
                  <a:pt x="57150" y="57150"/>
                </a:cubicBezTo>
                <a:cubicBezTo>
                  <a:pt x="57150" y="41379"/>
                  <a:pt x="44346" y="28575"/>
                  <a:pt x="28575" y="28575"/>
                </a:cubicBezTo>
                <a:cubicBezTo>
                  <a:pt x="12804" y="28575"/>
                  <a:pt x="0" y="41379"/>
                  <a:pt x="0" y="57150"/>
                </a:cubicBezTo>
                <a:cubicBezTo>
                  <a:pt x="0" y="72921"/>
                  <a:pt x="12804" y="85725"/>
                  <a:pt x="28575" y="85725"/>
                </a:cubicBezTo>
                <a:close/>
                <a:moveTo>
                  <a:pt x="114300" y="38100"/>
                </a:moveTo>
                <a:cubicBezTo>
                  <a:pt x="103763" y="38100"/>
                  <a:pt x="95250" y="46613"/>
                  <a:pt x="95250" y="57150"/>
                </a:cubicBezTo>
                <a:cubicBezTo>
                  <a:pt x="95250" y="67687"/>
                  <a:pt x="103763" y="76200"/>
                  <a:pt x="114300" y="76200"/>
                </a:cubicBezTo>
                <a:lnTo>
                  <a:pt x="285750" y="76200"/>
                </a:lnTo>
                <a:cubicBezTo>
                  <a:pt x="296287" y="76200"/>
                  <a:pt x="304800" y="67687"/>
                  <a:pt x="304800" y="57150"/>
                </a:cubicBezTo>
                <a:cubicBezTo>
                  <a:pt x="304800" y="46613"/>
                  <a:pt x="296287" y="38100"/>
                  <a:pt x="285750" y="38100"/>
                </a:cubicBezTo>
                <a:lnTo>
                  <a:pt x="114300" y="38100"/>
                </a:lnTo>
                <a:close/>
                <a:moveTo>
                  <a:pt x="114300" y="133350"/>
                </a:moveTo>
                <a:cubicBezTo>
                  <a:pt x="103763" y="133350"/>
                  <a:pt x="95250" y="141863"/>
                  <a:pt x="95250" y="152400"/>
                </a:cubicBezTo>
                <a:cubicBezTo>
                  <a:pt x="95250" y="162937"/>
                  <a:pt x="103763" y="171450"/>
                  <a:pt x="114300" y="171450"/>
                </a:cubicBezTo>
                <a:lnTo>
                  <a:pt x="285750" y="171450"/>
                </a:lnTo>
                <a:cubicBezTo>
                  <a:pt x="296287" y="171450"/>
                  <a:pt x="304800" y="162937"/>
                  <a:pt x="304800" y="152400"/>
                </a:cubicBezTo>
                <a:cubicBezTo>
                  <a:pt x="304800" y="141863"/>
                  <a:pt x="296287" y="133350"/>
                  <a:pt x="285750" y="133350"/>
                </a:cubicBezTo>
                <a:lnTo>
                  <a:pt x="114300" y="133350"/>
                </a:lnTo>
                <a:close/>
                <a:moveTo>
                  <a:pt x="114300" y="228600"/>
                </a:moveTo>
                <a:cubicBezTo>
                  <a:pt x="103763" y="228600"/>
                  <a:pt x="95250" y="237113"/>
                  <a:pt x="95250" y="247650"/>
                </a:cubicBezTo>
                <a:cubicBezTo>
                  <a:pt x="95250" y="258187"/>
                  <a:pt x="103763" y="266700"/>
                  <a:pt x="114300" y="266700"/>
                </a:cubicBez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ubicBezTo>
                  <a:pt x="304800" y="237113"/>
                  <a:pt x="296287" y="228600"/>
                  <a:pt x="285750" y="228600"/>
                </a:cubicBezTo>
                <a:lnTo>
                  <a:pt x="114300" y="228600"/>
                </a:lnTo>
                <a:close/>
                <a:moveTo>
                  <a:pt x="28575" y="276225"/>
                </a:moveTo>
                <a:cubicBezTo>
                  <a:pt x="44346" y="276225"/>
                  <a:pt x="57150" y="263421"/>
                  <a:pt x="57150" y="247650"/>
                </a:cubicBezTo>
                <a:cubicBezTo>
                  <a:pt x="57150" y="231879"/>
                  <a:pt x="44346" y="219075"/>
                  <a:pt x="28575" y="219075"/>
                </a:cubicBezTo>
                <a:cubicBezTo>
                  <a:pt x="12804" y="219075"/>
                  <a:pt x="0" y="231879"/>
                  <a:pt x="0" y="247650"/>
                </a:cubicBezTo>
                <a:cubicBezTo>
                  <a:pt x="0" y="263421"/>
                  <a:pt x="12804" y="276225"/>
                  <a:pt x="28575" y="276225"/>
                </a:cubicBezTo>
                <a:close/>
                <a:moveTo>
                  <a:pt x="57150" y="152400"/>
                </a:moveTo>
                <a:cubicBezTo>
                  <a:pt x="57150" y="136629"/>
                  <a:pt x="44346" y="123825"/>
                  <a:pt x="28575" y="123825"/>
                </a:cubicBezTo>
                <a:cubicBezTo>
                  <a:pt x="12804" y="123825"/>
                  <a:pt x="0" y="136629"/>
                  <a:pt x="0" y="152400"/>
                </a:cubicBezTo>
                <a:cubicBezTo>
                  <a:pt x="0" y="168171"/>
                  <a:pt x="12804" y="180975"/>
                  <a:pt x="28575" y="180975"/>
                </a:cubicBezTo>
                <a:cubicBezTo>
                  <a:pt x="44346" y="180975"/>
                  <a:pt x="57150" y="168171"/>
                  <a:pt x="57150" y="15240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712200" y="1422400"/>
            <a:ext cx="718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常见核函数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56600" y="1981200"/>
            <a:ext cx="7391400" cy="1371600"/>
          </a:xfrm>
          <a:custGeom>
            <a:avLst/>
            <a:gdLst/>
            <a:ahLst/>
            <a:cxnLst/>
            <a:rect l="l" t="t" r="r" b="b"/>
            <a:pathLst>
              <a:path w="7391400" h="1371600">
                <a:moveTo>
                  <a:pt x="50800" y="0"/>
                </a:moveTo>
                <a:lnTo>
                  <a:pt x="7289806" y="0"/>
                </a:lnTo>
                <a:cubicBezTo>
                  <a:pt x="7345915" y="0"/>
                  <a:pt x="7391400" y="45485"/>
                  <a:pt x="7391400" y="101594"/>
                </a:cubicBezTo>
                <a:lnTo>
                  <a:pt x="7391400" y="1270006"/>
                </a:lnTo>
                <a:cubicBezTo>
                  <a:pt x="7391400" y="1326115"/>
                  <a:pt x="7345915" y="1371600"/>
                  <a:pt x="7289806" y="1371600"/>
                </a:cubicBez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356600" y="1981200"/>
            <a:ext cx="50800" cy="1371600"/>
          </a:xfrm>
          <a:custGeom>
            <a:avLst/>
            <a:gdLst/>
            <a:ahLst/>
            <a:cxnLst/>
            <a:rect l="l" t="t" r="r" b="b"/>
            <a:pathLst>
              <a:path w="50800" h="1371600">
                <a:moveTo>
                  <a:pt x="50800" y="0"/>
                </a:moveTo>
                <a:lnTo>
                  <a:pt x="50800" y="0"/>
                </a:lnTo>
                <a:lnTo>
                  <a:pt x="50800" y="1371600"/>
                </a:ln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34400" y="2133600"/>
            <a:ext cx="716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1. 线性核（</a:t>
            </a:r>
            <a:r>
              <a:rPr lang="en-US" sz="16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Linear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34400" y="2540000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K(xᵢ, xⱼ) = xᵢᵀxⱼ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34400" y="2946400"/>
            <a:ext cx="715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适用于线性可分问题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56600" y="3505200"/>
            <a:ext cx="7391400" cy="1371600"/>
          </a:xfrm>
          <a:custGeom>
            <a:avLst/>
            <a:gdLst/>
            <a:ahLst/>
            <a:cxnLst/>
            <a:rect l="l" t="t" r="r" b="b"/>
            <a:pathLst>
              <a:path w="7391400" h="1371600">
                <a:moveTo>
                  <a:pt x="50800" y="0"/>
                </a:moveTo>
                <a:lnTo>
                  <a:pt x="7289806" y="0"/>
                </a:lnTo>
                <a:cubicBezTo>
                  <a:pt x="7345915" y="0"/>
                  <a:pt x="7391400" y="45485"/>
                  <a:pt x="7391400" y="101594"/>
                </a:cubicBezTo>
                <a:lnTo>
                  <a:pt x="7391400" y="1270006"/>
                </a:lnTo>
                <a:cubicBezTo>
                  <a:pt x="7391400" y="1326115"/>
                  <a:pt x="7345915" y="1371600"/>
                  <a:pt x="7289806" y="1371600"/>
                </a:cubicBez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356600" y="3505200"/>
            <a:ext cx="50800" cy="1371600"/>
          </a:xfrm>
          <a:custGeom>
            <a:avLst/>
            <a:gdLst/>
            <a:ahLst/>
            <a:cxnLst/>
            <a:rect l="l" t="t" r="r" b="b"/>
            <a:pathLst>
              <a:path w="50800" h="1371600">
                <a:moveTo>
                  <a:pt x="50800" y="0"/>
                </a:moveTo>
                <a:lnTo>
                  <a:pt x="50800" y="0"/>
                </a:lnTo>
                <a:lnTo>
                  <a:pt x="50800" y="1371600"/>
                </a:ln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34400" y="3657600"/>
            <a:ext cx="716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2. 多项式核（</a:t>
            </a:r>
            <a:r>
              <a:rPr lang="en-US" sz="16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Polynomial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34400" y="4064000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K(xᵢ, xⱼ) = (xᵢᵀxⱼ + c)ᵈ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534400" y="4470400"/>
            <a:ext cx="715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为常数，</a:t>
            </a: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</a:t>
            </a: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为多项式次数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56600" y="5029200"/>
            <a:ext cx="7391400" cy="2387600"/>
          </a:xfrm>
          <a:custGeom>
            <a:avLst/>
            <a:gdLst/>
            <a:ahLst/>
            <a:cxnLst/>
            <a:rect l="l" t="t" r="r" b="b"/>
            <a:pathLst>
              <a:path w="7391400" h="2387600">
                <a:moveTo>
                  <a:pt x="50800" y="0"/>
                </a:moveTo>
                <a:lnTo>
                  <a:pt x="7289808" y="0"/>
                </a:lnTo>
                <a:cubicBezTo>
                  <a:pt x="7345916" y="0"/>
                  <a:pt x="7391400" y="45484"/>
                  <a:pt x="7391400" y="101592"/>
                </a:cubicBezTo>
                <a:lnTo>
                  <a:pt x="7391400" y="2286008"/>
                </a:lnTo>
                <a:cubicBezTo>
                  <a:pt x="7391400" y="2342116"/>
                  <a:pt x="7345916" y="2387600"/>
                  <a:pt x="7289808" y="2387600"/>
                </a:cubicBezTo>
                <a:lnTo>
                  <a:pt x="50800" y="2387600"/>
                </a:lnTo>
                <a:cubicBezTo>
                  <a:pt x="22744" y="2387600"/>
                  <a:pt x="0" y="2364856"/>
                  <a:pt x="0" y="233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356600" y="5029200"/>
            <a:ext cx="50800" cy="2387600"/>
          </a:xfrm>
          <a:custGeom>
            <a:avLst/>
            <a:gdLst/>
            <a:ahLst/>
            <a:cxnLst/>
            <a:rect l="l" t="t" r="r" b="b"/>
            <a:pathLst>
              <a:path w="50800" h="2387600">
                <a:moveTo>
                  <a:pt x="50800" y="0"/>
                </a:moveTo>
                <a:lnTo>
                  <a:pt x="50800" y="0"/>
                </a:lnTo>
                <a:lnTo>
                  <a:pt x="50800" y="2387600"/>
                </a:lnTo>
                <a:lnTo>
                  <a:pt x="50800" y="2387600"/>
                </a:lnTo>
                <a:cubicBezTo>
                  <a:pt x="22763" y="2387600"/>
                  <a:pt x="0" y="2364837"/>
                  <a:pt x="0" y="233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534400" y="5181600"/>
            <a:ext cx="716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3. 高斯核（</a:t>
            </a:r>
            <a:r>
              <a:rPr lang="en-US" sz="16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RBF</a:t>
            </a: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34400" y="5588000"/>
            <a:ext cx="7175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K(xᵢ, xⱼ) = exp(-γ||xᵢ - xⱼ||²)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34400" y="5994400"/>
            <a:ext cx="715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γ = 1/(2σ²)，</a:t>
            </a: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最常用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34400" y="6350000"/>
            <a:ext cx="7061200" cy="914400"/>
          </a:xfrm>
          <a:custGeom>
            <a:avLst/>
            <a:gdLst/>
            <a:ahLst/>
            <a:cxnLst/>
            <a:rect l="l" t="t" r="r" b="b"/>
            <a:pathLst>
              <a:path w="7061200" h="914400">
                <a:moveTo>
                  <a:pt x="50804" y="0"/>
                </a:moveTo>
                <a:lnTo>
                  <a:pt x="7010396" y="0"/>
                </a:lnTo>
                <a:cubicBezTo>
                  <a:pt x="7038454" y="0"/>
                  <a:pt x="7061200" y="22746"/>
                  <a:pt x="7061200" y="50804"/>
                </a:cubicBezTo>
                <a:lnTo>
                  <a:pt x="7061200" y="863596"/>
                </a:lnTo>
                <a:cubicBezTo>
                  <a:pt x="7061200" y="891654"/>
                  <a:pt x="7038454" y="914400"/>
                  <a:pt x="7010396" y="914400"/>
                </a:cubicBezTo>
                <a:lnTo>
                  <a:pt x="50804" y="914400"/>
                </a:lnTo>
                <a:cubicBezTo>
                  <a:pt x="22746" y="914400"/>
                  <a:pt x="0" y="891654"/>
                  <a:pt x="0" y="863596"/>
                </a:cubicBezTo>
                <a:lnTo>
                  <a:pt x="0" y="50804"/>
                </a:lnTo>
                <a:cubicBezTo>
                  <a:pt x="0" y="22765"/>
                  <a:pt x="22765" y="0"/>
                  <a:pt x="50804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636000" y="6451600"/>
            <a:ext cx="694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γ参数：</a:t>
            </a:r>
            <a:r>
              <a:rPr lang="en-US" sz="1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控制单个样本影响范围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36000" y="675640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γ越大 → 影响范围小 → 边界弯曲 → 易过拟合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36000" y="6959600"/>
            <a:ext cx="6934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γ越小 → 影响范围大 → 边界平滑 → 易欠拟合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3400" y="8458202"/>
            <a:ext cx="15214600" cy="609600"/>
          </a:xfrm>
          <a:custGeom>
            <a:avLst/>
            <a:gdLst/>
            <a:ahLst/>
            <a:cxnLst/>
            <a:rect l="l" t="t" r="r" b="b"/>
            <a:pathLst>
              <a:path w="15214600" h="609600">
                <a:moveTo>
                  <a:pt x="50800" y="0"/>
                </a:moveTo>
                <a:lnTo>
                  <a:pt x="15112998" y="0"/>
                </a:lnTo>
                <a:cubicBezTo>
                  <a:pt x="15169111" y="0"/>
                  <a:pt x="15214600" y="45489"/>
                  <a:pt x="15214600" y="101602"/>
                </a:cubicBezTo>
                <a:lnTo>
                  <a:pt x="15214600" y="507998"/>
                </a:lnTo>
                <a:cubicBezTo>
                  <a:pt x="15214600" y="564111"/>
                  <a:pt x="15169111" y="609600"/>
                  <a:pt x="15112998" y="609600"/>
                </a:cubicBezTo>
                <a:lnTo>
                  <a:pt x="50800" y="609600"/>
                </a:lnTo>
                <a:cubicBezTo>
                  <a:pt x="22744" y="609600"/>
                  <a:pt x="0" y="586856"/>
                  <a:pt x="0" y="55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533400" y="8458202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5080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50800" y="609600"/>
                </a:lnTo>
                <a:cubicBezTo>
                  <a:pt x="22763" y="609600"/>
                  <a:pt x="0" y="586837"/>
                  <a:pt x="0" y="55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762000" y="8661402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117600" y="8610602"/>
            <a:ext cx="822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关键洞察：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核函数是</a:t>
            </a: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r>
              <a:rPr lang="en-US" sz="1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处理非线性问题的核心，RBF核是最常用且效果最好的核函数之一</a:t>
            </a:r>
            <a:endParaRPr lang="en-US" sz="1600" dirty="0"/>
          </a:p>
        </p:txBody>
      </p:sp>
      <p:pic>
        <p:nvPicPr>
          <p:cNvPr id="45" name="图片 44" descr="图表, 散点图&#10;&#10;AI 生成的内容可能不正确。">
            <a:extLst>
              <a:ext uri="{FF2B5EF4-FFF2-40B4-BE49-F238E27FC236}">
                <a16:creationId xmlns:a16="http://schemas.microsoft.com/office/drawing/2014/main" id="{93C027BD-4E50-AD17-6BF4-CAA8C63BE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279" y="5137150"/>
            <a:ext cx="5644243" cy="31761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783" y="433783"/>
            <a:ext cx="15583637" cy="43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74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SVM：算法优缺点与参数调优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33783" y="997700"/>
            <a:ext cx="867565" cy="43378"/>
          </a:xfrm>
          <a:custGeom>
            <a:avLst/>
            <a:gdLst/>
            <a:ahLst/>
            <a:cxnLst/>
            <a:rect l="l" t="t" r="r" b="b"/>
            <a:pathLst>
              <a:path w="867565" h="43378">
                <a:moveTo>
                  <a:pt x="0" y="0"/>
                </a:moveTo>
                <a:lnTo>
                  <a:pt x="867565" y="0"/>
                </a:lnTo>
                <a:lnTo>
                  <a:pt x="867565" y="43378"/>
                </a:lnTo>
                <a:lnTo>
                  <a:pt x="0" y="43378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66316" y="1257969"/>
            <a:ext cx="260270" cy="260270"/>
          </a:xfrm>
          <a:custGeom>
            <a:avLst/>
            <a:gdLst/>
            <a:ahLst/>
            <a:cxnLst/>
            <a:rect l="l" t="t" r="r" b="b"/>
            <a:pathLst>
              <a:path w="260270" h="260270">
                <a:moveTo>
                  <a:pt x="40667" y="81334"/>
                </a:moveTo>
                <a:cubicBezTo>
                  <a:pt x="49665" y="81334"/>
                  <a:pt x="56934" y="88603"/>
                  <a:pt x="56934" y="97601"/>
                </a:cubicBezTo>
                <a:lnTo>
                  <a:pt x="56934" y="227736"/>
                </a:lnTo>
                <a:cubicBezTo>
                  <a:pt x="56934" y="236733"/>
                  <a:pt x="49665" y="244003"/>
                  <a:pt x="40667" y="244003"/>
                </a:cubicBezTo>
                <a:lnTo>
                  <a:pt x="16267" y="244003"/>
                </a:lnTo>
                <a:cubicBezTo>
                  <a:pt x="7269" y="244003"/>
                  <a:pt x="0" y="236733"/>
                  <a:pt x="0" y="227736"/>
                </a:cubicBezTo>
                <a:lnTo>
                  <a:pt x="0" y="97601"/>
                </a:lnTo>
                <a:cubicBezTo>
                  <a:pt x="0" y="88603"/>
                  <a:pt x="7269" y="81334"/>
                  <a:pt x="16267" y="81334"/>
                </a:cubicBezTo>
                <a:lnTo>
                  <a:pt x="40667" y="81334"/>
                </a:lnTo>
                <a:close/>
                <a:moveTo>
                  <a:pt x="137557" y="8133"/>
                </a:moveTo>
                <a:cubicBezTo>
                  <a:pt x="151434" y="8133"/>
                  <a:pt x="162668" y="19368"/>
                  <a:pt x="162668" y="33245"/>
                </a:cubicBezTo>
                <a:lnTo>
                  <a:pt x="162668" y="35380"/>
                </a:lnTo>
                <a:cubicBezTo>
                  <a:pt x="162668" y="38837"/>
                  <a:pt x="162008" y="42294"/>
                  <a:pt x="160737" y="45496"/>
                </a:cubicBezTo>
                <a:lnTo>
                  <a:pt x="146402" y="81334"/>
                </a:lnTo>
                <a:lnTo>
                  <a:pt x="227736" y="81334"/>
                </a:lnTo>
                <a:cubicBezTo>
                  <a:pt x="241207" y="81334"/>
                  <a:pt x="252136" y="92264"/>
                  <a:pt x="252136" y="105734"/>
                </a:cubicBezTo>
                <a:cubicBezTo>
                  <a:pt x="252136" y="115749"/>
                  <a:pt x="246087" y="124340"/>
                  <a:pt x="237445" y="128101"/>
                </a:cubicBezTo>
                <a:cubicBezTo>
                  <a:pt x="246087" y="131863"/>
                  <a:pt x="252136" y="140454"/>
                  <a:pt x="252136" y="150468"/>
                </a:cubicBezTo>
                <a:cubicBezTo>
                  <a:pt x="252136" y="162363"/>
                  <a:pt x="243596" y="172276"/>
                  <a:pt x="232311" y="174411"/>
                </a:cubicBezTo>
                <a:cubicBezTo>
                  <a:pt x="234548" y="178122"/>
                  <a:pt x="235869" y="182443"/>
                  <a:pt x="235869" y="187069"/>
                </a:cubicBezTo>
                <a:cubicBezTo>
                  <a:pt x="235869" y="198354"/>
                  <a:pt x="228244" y="207809"/>
                  <a:pt x="217874" y="210605"/>
                </a:cubicBezTo>
                <a:cubicBezTo>
                  <a:pt x="218992" y="213401"/>
                  <a:pt x="219602" y="216451"/>
                  <a:pt x="219602" y="219602"/>
                </a:cubicBezTo>
                <a:cubicBezTo>
                  <a:pt x="219602" y="233073"/>
                  <a:pt x="208673" y="244003"/>
                  <a:pt x="195202" y="244003"/>
                </a:cubicBezTo>
                <a:lnTo>
                  <a:pt x="150519" y="244003"/>
                </a:lnTo>
                <a:cubicBezTo>
                  <a:pt x="132066" y="244003"/>
                  <a:pt x="114122" y="237699"/>
                  <a:pt x="99736" y="226160"/>
                </a:cubicBezTo>
                <a:lnTo>
                  <a:pt x="93534" y="221229"/>
                </a:lnTo>
                <a:cubicBezTo>
                  <a:pt x="85808" y="215078"/>
                  <a:pt x="81334" y="205725"/>
                  <a:pt x="81334" y="195812"/>
                </a:cubicBezTo>
                <a:lnTo>
                  <a:pt x="81334" y="100956"/>
                </a:lnTo>
                <a:cubicBezTo>
                  <a:pt x="81334" y="93382"/>
                  <a:pt x="83113" y="85909"/>
                  <a:pt x="86468" y="79148"/>
                </a:cubicBezTo>
                <a:lnTo>
                  <a:pt x="115037" y="22011"/>
                </a:lnTo>
                <a:cubicBezTo>
                  <a:pt x="119307" y="13522"/>
                  <a:pt x="128000" y="8133"/>
                  <a:pt x="137557" y="8133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59119" y="1214591"/>
            <a:ext cx="7320080" cy="347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783" y="1735130"/>
            <a:ext cx="433783" cy="433783"/>
          </a:xfrm>
          <a:custGeom>
            <a:avLst/>
            <a:gdLst/>
            <a:ahLst/>
            <a:cxnLst/>
            <a:rect l="l" t="t" r="r" b="b"/>
            <a:pathLst>
              <a:path w="433783" h="433783">
                <a:moveTo>
                  <a:pt x="216891" y="0"/>
                </a:moveTo>
                <a:lnTo>
                  <a:pt x="216891" y="0"/>
                </a:lnTo>
                <a:cubicBezTo>
                  <a:pt x="336597" y="0"/>
                  <a:pt x="433783" y="97186"/>
                  <a:pt x="433783" y="216891"/>
                </a:cubicBezTo>
                <a:lnTo>
                  <a:pt x="433783" y="216891"/>
                </a:lnTo>
                <a:cubicBezTo>
                  <a:pt x="433783" y="336597"/>
                  <a:pt x="336597" y="433783"/>
                  <a:pt x="216891" y="433783"/>
                </a:cubicBezTo>
                <a:lnTo>
                  <a:pt x="216891" y="433783"/>
                </a:lnTo>
                <a:cubicBezTo>
                  <a:pt x="97186" y="433783"/>
                  <a:pt x="0" y="336597"/>
                  <a:pt x="0" y="216891"/>
                </a:cubicBezTo>
                <a:lnTo>
                  <a:pt x="0" y="216891"/>
                </a:lnTo>
                <a:cubicBezTo>
                  <a:pt x="0" y="97186"/>
                  <a:pt x="97186" y="0"/>
                  <a:pt x="21689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74762" y="1865265"/>
            <a:ext cx="151824" cy="173513"/>
          </a:xfrm>
          <a:custGeom>
            <a:avLst/>
            <a:gdLst/>
            <a:ahLst/>
            <a:cxnLst/>
            <a:rect l="l" t="t" r="r" b="b"/>
            <a:pathLst>
              <a:path w="151824" h="173513">
                <a:moveTo>
                  <a:pt x="147351" y="23756"/>
                </a:moveTo>
                <a:cubicBezTo>
                  <a:pt x="152197" y="27281"/>
                  <a:pt x="153281" y="34059"/>
                  <a:pt x="149757" y="38905"/>
                </a:cubicBezTo>
                <a:lnTo>
                  <a:pt x="63000" y="158195"/>
                </a:lnTo>
                <a:cubicBezTo>
                  <a:pt x="61136" y="160771"/>
                  <a:pt x="58256" y="162363"/>
                  <a:pt x="55070" y="162635"/>
                </a:cubicBezTo>
                <a:cubicBezTo>
                  <a:pt x="51884" y="162906"/>
                  <a:pt x="48801" y="161720"/>
                  <a:pt x="46564" y="159483"/>
                </a:cubicBezTo>
                <a:lnTo>
                  <a:pt x="3186" y="116105"/>
                </a:lnTo>
                <a:cubicBezTo>
                  <a:pt x="-1051" y="111868"/>
                  <a:pt x="-1051" y="104989"/>
                  <a:pt x="3186" y="100753"/>
                </a:cubicBezTo>
                <a:cubicBezTo>
                  <a:pt x="7422" y="96517"/>
                  <a:pt x="14301" y="96517"/>
                  <a:pt x="18537" y="100753"/>
                </a:cubicBezTo>
                <a:lnTo>
                  <a:pt x="52935" y="135150"/>
                </a:lnTo>
                <a:lnTo>
                  <a:pt x="132236" y="26129"/>
                </a:lnTo>
                <a:cubicBezTo>
                  <a:pt x="135760" y="21282"/>
                  <a:pt x="142538" y="20198"/>
                  <a:pt x="147384" y="2372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41078" y="1735130"/>
            <a:ext cx="5064411" cy="30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高维空间有效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1078" y="2125534"/>
            <a:ext cx="5053566" cy="28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在高维空间中仍能保持较好的分类效果，适合维度&gt;样本量的情况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783" y="2537628"/>
            <a:ext cx="433783" cy="433783"/>
          </a:xfrm>
          <a:custGeom>
            <a:avLst/>
            <a:gdLst/>
            <a:ahLst/>
            <a:cxnLst/>
            <a:rect l="l" t="t" r="r" b="b"/>
            <a:pathLst>
              <a:path w="433783" h="433783">
                <a:moveTo>
                  <a:pt x="216891" y="0"/>
                </a:moveTo>
                <a:lnTo>
                  <a:pt x="216891" y="0"/>
                </a:lnTo>
                <a:cubicBezTo>
                  <a:pt x="336597" y="0"/>
                  <a:pt x="433783" y="97186"/>
                  <a:pt x="433783" y="216891"/>
                </a:cubicBezTo>
                <a:lnTo>
                  <a:pt x="433783" y="216891"/>
                </a:lnTo>
                <a:cubicBezTo>
                  <a:pt x="433783" y="336597"/>
                  <a:pt x="336597" y="433783"/>
                  <a:pt x="216891" y="433783"/>
                </a:cubicBezTo>
                <a:lnTo>
                  <a:pt x="216891" y="433783"/>
                </a:lnTo>
                <a:cubicBezTo>
                  <a:pt x="97186" y="433783"/>
                  <a:pt x="0" y="336597"/>
                  <a:pt x="0" y="216891"/>
                </a:cubicBezTo>
                <a:lnTo>
                  <a:pt x="0" y="216891"/>
                </a:lnTo>
                <a:cubicBezTo>
                  <a:pt x="0" y="97186"/>
                  <a:pt x="97186" y="0"/>
                  <a:pt x="21689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74762" y="2667763"/>
            <a:ext cx="151824" cy="173513"/>
          </a:xfrm>
          <a:custGeom>
            <a:avLst/>
            <a:gdLst/>
            <a:ahLst/>
            <a:cxnLst/>
            <a:rect l="l" t="t" r="r" b="b"/>
            <a:pathLst>
              <a:path w="151824" h="173513">
                <a:moveTo>
                  <a:pt x="147351" y="23756"/>
                </a:moveTo>
                <a:cubicBezTo>
                  <a:pt x="152197" y="27281"/>
                  <a:pt x="153281" y="34059"/>
                  <a:pt x="149757" y="38905"/>
                </a:cubicBezTo>
                <a:lnTo>
                  <a:pt x="63000" y="158195"/>
                </a:lnTo>
                <a:cubicBezTo>
                  <a:pt x="61136" y="160771"/>
                  <a:pt x="58256" y="162363"/>
                  <a:pt x="55070" y="162635"/>
                </a:cubicBezTo>
                <a:cubicBezTo>
                  <a:pt x="51884" y="162906"/>
                  <a:pt x="48801" y="161720"/>
                  <a:pt x="46564" y="159483"/>
                </a:cubicBezTo>
                <a:lnTo>
                  <a:pt x="3186" y="116105"/>
                </a:lnTo>
                <a:cubicBezTo>
                  <a:pt x="-1051" y="111868"/>
                  <a:pt x="-1051" y="104989"/>
                  <a:pt x="3186" y="100753"/>
                </a:cubicBezTo>
                <a:cubicBezTo>
                  <a:pt x="7422" y="96517"/>
                  <a:pt x="14301" y="96517"/>
                  <a:pt x="18537" y="100753"/>
                </a:cubicBezTo>
                <a:lnTo>
                  <a:pt x="52935" y="135150"/>
                </a:lnTo>
                <a:lnTo>
                  <a:pt x="132236" y="26129"/>
                </a:lnTo>
                <a:cubicBezTo>
                  <a:pt x="135760" y="21282"/>
                  <a:pt x="142538" y="20198"/>
                  <a:pt x="147384" y="2372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41078" y="2537628"/>
            <a:ext cx="4782452" cy="30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间隔最大化倾向更稳健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1078" y="2928032"/>
            <a:ext cx="4771608" cy="28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在相同训练误差水平下，更大的间隔通常对应更好的泛化表现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3783" y="3340125"/>
            <a:ext cx="433783" cy="433783"/>
          </a:xfrm>
          <a:custGeom>
            <a:avLst/>
            <a:gdLst/>
            <a:ahLst/>
            <a:cxnLst/>
            <a:rect l="l" t="t" r="r" b="b"/>
            <a:pathLst>
              <a:path w="433783" h="433783">
                <a:moveTo>
                  <a:pt x="216891" y="0"/>
                </a:moveTo>
                <a:lnTo>
                  <a:pt x="216891" y="0"/>
                </a:lnTo>
                <a:cubicBezTo>
                  <a:pt x="336597" y="0"/>
                  <a:pt x="433783" y="97186"/>
                  <a:pt x="433783" y="216891"/>
                </a:cubicBezTo>
                <a:lnTo>
                  <a:pt x="433783" y="216891"/>
                </a:lnTo>
                <a:cubicBezTo>
                  <a:pt x="433783" y="336597"/>
                  <a:pt x="336597" y="433783"/>
                  <a:pt x="216891" y="433783"/>
                </a:cubicBezTo>
                <a:lnTo>
                  <a:pt x="216891" y="433783"/>
                </a:lnTo>
                <a:cubicBezTo>
                  <a:pt x="97186" y="433783"/>
                  <a:pt x="0" y="336597"/>
                  <a:pt x="0" y="216891"/>
                </a:cubicBezTo>
                <a:lnTo>
                  <a:pt x="0" y="216891"/>
                </a:lnTo>
                <a:cubicBezTo>
                  <a:pt x="0" y="97186"/>
                  <a:pt x="97186" y="0"/>
                  <a:pt x="216891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74762" y="3470260"/>
            <a:ext cx="151824" cy="173513"/>
          </a:xfrm>
          <a:custGeom>
            <a:avLst/>
            <a:gdLst/>
            <a:ahLst/>
            <a:cxnLst/>
            <a:rect l="l" t="t" r="r" b="b"/>
            <a:pathLst>
              <a:path w="151824" h="173513">
                <a:moveTo>
                  <a:pt x="147351" y="23756"/>
                </a:moveTo>
                <a:cubicBezTo>
                  <a:pt x="152197" y="27281"/>
                  <a:pt x="153281" y="34059"/>
                  <a:pt x="149757" y="38905"/>
                </a:cubicBezTo>
                <a:lnTo>
                  <a:pt x="63000" y="158195"/>
                </a:lnTo>
                <a:cubicBezTo>
                  <a:pt x="61136" y="160771"/>
                  <a:pt x="58256" y="162363"/>
                  <a:pt x="55070" y="162635"/>
                </a:cubicBezTo>
                <a:cubicBezTo>
                  <a:pt x="51884" y="162906"/>
                  <a:pt x="48801" y="161720"/>
                  <a:pt x="46564" y="159483"/>
                </a:cubicBezTo>
                <a:lnTo>
                  <a:pt x="3186" y="116105"/>
                </a:lnTo>
                <a:cubicBezTo>
                  <a:pt x="-1051" y="111868"/>
                  <a:pt x="-1051" y="104989"/>
                  <a:pt x="3186" y="100753"/>
                </a:cubicBezTo>
                <a:cubicBezTo>
                  <a:pt x="7422" y="96517"/>
                  <a:pt x="14301" y="96517"/>
                  <a:pt x="18537" y="100753"/>
                </a:cubicBezTo>
                <a:lnTo>
                  <a:pt x="52935" y="135150"/>
                </a:lnTo>
                <a:lnTo>
                  <a:pt x="132236" y="26129"/>
                </a:lnTo>
                <a:cubicBezTo>
                  <a:pt x="135760" y="21282"/>
                  <a:pt x="142538" y="20198"/>
                  <a:pt x="147384" y="23722"/>
                </a:cubicBez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41078" y="3340125"/>
            <a:ext cx="2873809" cy="30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决策函数具有稀疏性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1078" y="3730530"/>
            <a:ext cx="2862965" cy="28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最终决策函数只由少数支持向量决定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2183" y="1257969"/>
            <a:ext cx="260270" cy="260270"/>
          </a:xfrm>
          <a:custGeom>
            <a:avLst/>
            <a:gdLst/>
            <a:ahLst/>
            <a:cxnLst/>
            <a:rect l="l" t="t" r="r" b="b"/>
            <a:pathLst>
              <a:path w="260270" h="260270">
                <a:moveTo>
                  <a:pt x="195202" y="16267"/>
                </a:moveTo>
                <a:cubicBezTo>
                  <a:pt x="208673" y="16267"/>
                  <a:pt x="219602" y="27196"/>
                  <a:pt x="219602" y="40667"/>
                </a:cubicBezTo>
                <a:cubicBezTo>
                  <a:pt x="219602" y="43870"/>
                  <a:pt x="218942" y="46869"/>
                  <a:pt x="217874" y="49665"/>
                </a:cubicBezTo>
                <a:cubicBezTo>
                  <a:pt x="228244" y="52461"/>
                  <a:pt x="235869" y="61916"/>
                  <a:pt x="235869" y="73201"/>
                </a:cubicBezTo>
                <a:cubicBezTo>
                  <a:pt x="235869" y="77827"/>
                  <a:pt x="234548" y="82148"/>
                  <a:pt x="232311" y="85858"/>
                </a:cubicBezTo>
                <a:cubicBezTo>
                  <a:pt x="243596" y="87993"/>
                  <a:pt x="252136" y="97906"/>
                  <a:pt x="252136" y="109801"/>
                </a:cubicBezTo>
                <a:cubicBezTo>
                  <a:pt x="252136" y="119815"/>
                  <a:pt x="246087" y="128406"/>
                  <a:pt x="237445" y="132168"/>
                </a:cubicBezTo>
                <a:cubicBezTo>
                  <a:pt x="246087" y="135930"/>
                  <a:pt x="252136" y="144521"/>
                  <a:pt x="252136" y="154535"/>
                </a:cubicBezTo>
                <a:cubicBezTo>
                  <a:pt x="252136" y="168006"/>
                  <a:pt x="241207" y="178935"/>
                  <a:pt x="227736" y="178935"/>
                </a:cubicBezTo>
                <a:lnTo>
                  <a:pt x="146402" y="178935"/>
                </a:lnTo>
                <a:lnTo>
                  <a:pt x="160737" y="214722"/>
                </a:lnTo>
                <a:cubicBezTo>
                  <a:pt x="162008" y="217925"/>
                  <a:pt x="162668" y="221382"/>
                  <a:pt x="162668" y="224838"/>
                </a:cubicBezTo>
                <a:lnTo>
                  <a:pt x="162668" y="226973"/>
                </a:lnTo>
                <a:cubicBezTo>
                  <a:pt x="162668" y="240851"/>
                  <a:pt x="151434" y="252085"/>
                  <a:pt x="137557" y="252085"/>
                </a:cubicBezTo>
                <a:cubicBezTo>
                  <a:pt x="128051" y="252085"/>
                  <a:pt x="119358" y="246697"/>
                  <a:pt x="115088" y="238208"/>
                </a:cubicBezTo>
                <a:lnTo>
                  <a:pt x="86468" y="181121"/>
                </a:lnTo>
                <a:cubicBezTo>
                  <a:pt x="83063" y="174360"/>
                  <a:pt x="81334" y="166888"/>
                  <a:pt x="81334" y="159313"/>
                </a:cubicBezTo>
                <a:lnTo>
                  <a:pt x="81334" y="64457"/>
                </a:lnTo>
                <a:cubicBezTo>
                  <a:pt x="81334" y="54596"/>
                  <a:pt x="85858" y="45242"/>
                  <a:pt x="93534" y="39040"/>
                </a:cubicBezTo>
                <a:lnTo>
                  <a:pt x="99736" y="34110"/>
                </a:lnTo>
                <a:cubicBezTo>
                  <a:pt x="114173" y="22570"/>
                  <a:pt x="132066" y="16267"/>
                  <a:pt x="150519" y="16267"/>
                </a:cubicBezTo>
                <a:lnTo>
                  <a:pt x="195202" y="16267"/>
                </a:lnTo>
                <a:close/>
                <a:moveTo>
                  <a:pt x="40667" y="48801"/>
                </a:moveTo>
                <a:cubicBezTo>
                  <a:pt x="49665" y="48801"/>
                  <a:pt x="56934" y="56070"/>
                  <a:pt x="56934" y="65067"/>
                </a:cubicBezTo>
                <a:lnTo>
                  <a:pt x="56934" y="195202"/>
                </a:lnTo>
                <a:cubicBezTo>
                  <a:pt x="56934" y="204200"/>
                  <a:pt x="49665" y="211469"/>
                  <a:pt x="40667" y="211469"/>
                </a:cubicBezTo>
                <a:lnTo>
                  <a:pt x="16267" y="211469"/>
                </a:lnTo>
                <a:cubicBezTo>
                  <a:pt x="7269" y="211469"/>
                  <a:pt x="0" y="204200"/>
                  <a:pt x="0" y="195202"/>
                </a:cubicBezTo>
                <a:lnTo>
                  <a:pt x="0" y="65067"/>
                </a:lnTo>
                <a:cubicBezTo>
                  <a:pt x="0" y="56070"/>
                  <a:pt x="7269" y="48801"/>
                  <a:pt x="16267" y="48801"/>
                </a:cubicBezTo>
                <a:lnTo>
                  <a:pt x="40667" y="48801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624986" y="1214591"/>
            <a:ext cx="7320080" cy="347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9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缺点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99649" y="1735130"/>
            <a:ext cx="433783" cy="433783"/>
          </a:xfrm>
          <a:custGeom>
            <a:avLst/>
            <a:gdLst/>
            <a:ahLst/>
            <a:cxnLst/>
            <a:rect l="l" t="t" r="r" b="b"/>
            <a:pathLst>
              <a:path w="433783" h="433783">
                <a:moveTo>
                  <a:pt x="216891" y="0"/>
                </a:moveTo>
                <a:lnTo>
                  <a:pt x="216891" y="0"/>
                </a:lnTo>
                <a:cubicBezTo>
                  <a:pt x="336597" y="0"/>
                  <a:pt x="433783" y="97186"/>
                  <a:pt x="433783" y="216891"/>
                </a:cubicBezTo>
                <a:lnTo>
                  <a:pt x="433783" y="216891"/>
                </a:lnTo>
                <a:cubicBezTo>
                  <a:pt x="433783" y="336597"/>
                  <a:pt x="336597" y="433783"/>
                  <a:pt x="216891" y="433783"/>
                </a:cubicBezTo>
                <a:lnTo>
                  <a:pt x="216891" y="433783"/>
                </a:lnTo>
                <a:cubicBezTo>
                  <a:pt x="97186" y="433783"/>
                  <a:pt x="0" y="336597"/>
                  <a:pt x="0" y="216891"/>
                </a:cubicBezTo>
                <a:lnTo>
                  <a:pt x="0" y="216891"/>
                </a:lnTo>
                <a:cubicBezTo>
                  <a:pt x="0" y="97186"/>
                  <a:pt x="97186" y="0"/>
                  <a:pt x="21689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451473" y="1865265"/>
            <a:ext cx="130135" cy="173513"/>
          </a:xfrm>
          <a:custGeom>
            <a:avLst/>
            <a:gdLst/>
            <a:ahLst/>
            <a:cxnLst/>
            <a:rect l="l" t="t" r="r" b="b"/>
            <a:pathLst>
              <a:path w="130135" h="173513">
                <a:moveTo>
                  <a:pt x="18673" y="24875"/>
                </a:moveTo>
                <a:cubicBezTo>
                  <a:pt x="14437" y="20639"/>
                  <a:pt x="7557" y="20639"/>
                  <a:pt x="3321" y="24875"/>
                </a:cubicBezTo>
                <a:cubicBezTo>
                  <a:pt x="-915" y="29111"/>
                  <a:pt x="-915" y="35990"/>
                  <a:pt x="3321" y="40227"/>
                </a:cubicBezTo>
                <a:lnTo>
                  <a:pt x="49885" y="86757"/>
                </a:lnTo>
                <a:lnTo>
                  <a:pt x="3355" y="133320"/>
                </a:lnTo>
                <a:cubicBezTo>
                  <a:pt x="-881" y="137557"/>
                  <a:pt x="-881" y="144436"/>
                  <a:pt x="3355" y="148672"/>
                </a:cubicBezTo>
                <a:cubicBezTo>
                  <a:pt x="7591" y="152908"/>
                  <a:pt x="14471" y="152908"/>
                  <a:pt x="18707" y="148672"/>
                </a:cubicBezTo>
                <a:lnTo>
                  <a:pt x="65237" y="102108"/>
                </a:lnTo>
                <a:lnTo>
                  <a:pt x="111801" y="148638"/>
                </a:lnTo>
                <a:cubicBezTo>
                  <a:pt x="116037" y="152874"/>
                  <a:pt x="122916" y="152874"/>
                  <a:pt x="127153" y="148638"/>
                </a:cubicBezTo>
                <a:cubicBezTo>
                  <a:pt x="131389" y="144402"/>
                  <a:pt x="131389" y="137523"/>
                  <a:pt x="127153" y="133286"/>
                </a:cubicBezTo>
                <a:lnTo>
                  <a:pt x="80589" y="86757"/>
                </a:lnTo>
                <a:lnTo>
                  <a:pt x="127119" y="40193"/>
                </a:lnTo>
                <a:cubicBezTo>
                  <a:pt x="131355" y="35957"/>
                  <a:pt x="131355" y="29077"/>
                  <a:pt x="127119" y="24841"/>
                </a:cubicBezTo>
                <a:cubicBezTo>
                  <a:pt x="122882" y="20605"/>
                  <a:pt x="116003" y="20605"/>
                  <a:pt x="111767" y="24841"/>
                </a:cubicBezTo>
                <a:lnTo>
                  <a:pt x="65237" y="71405"/>
                </a:lnTo>
                <a:lnTo>
                  <a:pt x="18673" y="2487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906945" y="1735130"/>
            <a:ext cx="1485705" cy="30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对缺失数据敏感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06945" y="2125534"/>
            <a:ext cx="1474861" cy="28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需要完整的数据集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99649" y="2537628"/>
            <a:ext cx="433783" cy="433783"/>
          </a:xfrm>
          <a:custGeom>
            <a:avLst/>
            <a:gdLst/>
            <a:ahLst/>
            <a:cxnLst/>
            <a:rect l="l" t="t" r="r" b="b"/>
            <a:pathLst>
              <a:path w="433783" h="433783">
                <a:moveTo>
                  <a:pt x="216891" y="0"/>
                </a:moveTo>
                <a:lnTo>
                  <a:pt x="216891" y="0"/>
                </a:lnTo>
                <a:cubicBezTo>
                  <a:pt x="336597" y="0"/>
                  <a:pt x="433783" y="97186"/>
                  <a:pt x="433783" y="216891"/>
                </a:cubicBezTo>
                <a:lnTo>
                  <a:pt x="433783" y="216891"/>
                </a:lnTo>
                <a:cubicBezTo>
                  <a:pt x="433783" y="336597"/>
                  <a:pt x="336597" y="433783"/>
                  <a:pt x="216891" y="433783"/>
                </a:cubicBezTo>
                <a:lnTo>
                  <a:pt x="216891" y="433783"/>
                </a:lnTo>
                <a:cubicBezTo>
                  <a:pt x="97186" y="433783"/>
                  <a:pt x="0" y="336597"/>
                  <a:pt x="0" y="216891"/>
                </a:cubicBezTo>
                <a:lnTo>
                  <a:pt x="0" y="216891"/>
                </a:lnTo>
                <a:cubicBezTo>
                  <a:pt x="0" y="97186"/>
                  <a:pt x="97186" y="0"/>
                  <a:pt x="21689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451473" y="2667763"/>
            <a:ext cx="130135" cy="173513"/>
          </a:xfrm>
          <a:custGeom>
            <a:avLst/>
            <a:gdLst/>
            <a:ahLst/>
            <a:cxnLst/>
            <a:rect l="l" t="t" r="r" b="b"/>
            <a:pathLst>
              <a:path w="130135" h="173513">
                <a:moveTo>
                  <a:pt x="18673" y="24875"/>
                </a:moveTo>
                <a:cubicBezTo>
                  <a:pt x="14437" y="20639"/>
                  <a:pt x="7557" y="20639"/>
                  <a:pt x="3321" y="24875"/>
                </a:cubicBezTo>
                <a:cubicBezTo>
                  <a:pt x="-915" y="29111"/>
                  <a:pt x="-915" y="35990"/>
                  <a:pt x="3321" y="40227"/>
                </a:cubicBezTo>
                <a:lnTo>
                  <a:pt x="49885" y="86757"/>
                </a:lnTo>
                <a:lnTo>
                  <a:pt x="3355" y="133320"/>
                </a:lnTo>
                <a:cubicBezTo>
                  <a:pt x="-881" y="137557"/>
                  <a:pt x="-881" y="144436"/>
                  <a:pt x="3355" y="148672"/>
                </a:cubicBezTo>
                <a:cubicBezTo>
                  <a:pt x="7591" y="152908"/>
                  <a:pt x="14471" y="152908"/>
                  <a:pt x="18707" y="148672"/>
                </a:cubicBezTo>
                <a:lnTo>
                  <a:pt x="65237" y="102108"/>
                </a:lnTo>
                <a:lnTo>
                  <a:pt x="111801" y="148638"/>
                </a:lnTo>
                <a:cubicBezTo>
                  <a:pt x="116037" y="152874"/>
                  <a:pt x="122916" y="152874"/>
                  <a:pt x="127153" y="148638"/>
                </a:cubicBezTo>
                <a:cubicBezTo>
                  <a:pt x="131389" y="144402"/>
                  <a:pt x="131389" y="137523"/>
                  <a:pt x="127153" y="133286"/>
                </a:cubicBezTo>
                <a:lnTo>
                  <a:pt x="80589" y="86757"/>
                </a:lnTo>
                <a:lnTo>
                  <a:pt x="127119" y="40193"/>
                </a:lnTo>
                <a:cubicBezTo>
                  <a:pt x="131355" y="35957"/>
                  <a:pt x="131355" y="29077"/>
                  <a:pt x="127119" y="24841"/>
                </a:cubicBezTo>
                <a:cubicBezTo>
                  <a:pt x="122882" y="20605"/>
                  <a:pt x="116003" y="20605"/>
                  <a:pt x="111767" y="24841"/>
                </a:cubicBezTo>
                <a:lnTo>
                  <a:pt x="65237" y="71405"/>
                </a:lnTo>
                <a:lnTo>
                  <a:pt x="18673" y="2487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906945" y="2537628"/>
            <a:ext cx="3090700" cy="30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大规模数据训练慢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06945" y="2928032"/>
            <a:ext cx="3079856" cy="28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传统的SMO算法在海量数据上效率较低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99649" y="3340125"/>
            <a:ext cx="433783" cy="433783"/>
          </a:xfrm>
          <a:custGeom>
            <a:avLst/>
            <a:gdLst/>
            <a:ahLst/>
            <a:cxnLst/>
            <a:rect l="l" t="t" r="r" b="b"/>
            <a:pathLst>
              <a:path w="433783" h="433783">
                <a:moveTo>
                  <a:pt x="216891" y="0"/>
                </a:moveTo>
                <a:lnTo>
                  <a:pt x="216891" y="0"/>
                </a:lnTo>
                <a:cubicBezTo>
                  <a:pt x="336597" y="0"/>
                  <a:pt x="433783" y="97186"/>
                  <a:pt x="433783" y="216891"/>
                </a:cubicBezTo>
                <a:lnTo>
                  <a:pt x="433783" y="216891"/>
                </a:lnTo>
                <a:cubicBezTo>
                  <a:pt x="433783" y="336597"/>
                  <a:pt x="336597" y="433783"/>
                  <a:pt x="216891" y="433783"/>
                </a:cubicBezTo>
                <a:lnTo>
                  <a:pt x="216891" y="433783"/>
                </a:lnTo>
                <a:cubicBezTo>
                  <a:pt x="97186" y="433783"/>
                  <a:pt x="0" y="336597"/>
                  <a:pt x="0" y="216891"/>
                </a:cubicBezTo>
                <a:lnTo>
                  <a:pt x="0" y="216891"/>
                </a:lnTo>
                <a:cubicBezTo>
                  <a:pt x="0" y="97186"/>
                  <a:pt x="97186" y="0"/>
                  <a:pt x="216891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451473" y="3470260"/>
            <a:ext cx="130135" cy="173513"/>
          </a:xfrm>
          <a:custGeom>
            <a:avLst/>
            <a:gdLst/>
            <a:ahLst/>
            <a:cxnLst/>
            <a:rect l="l" t="t" r="r" b="b"/>
            <a:pathLst>
              <a:path w="130135" h="173513">
                <a:moveTo>
                  <a:pt x="18673" y="24875"/>
                </a:moveTo>
                <a:cubicBezTo>
                  <a:pt x="14437" y="20639"/>
                  <a:pt x="7557" y="20639"/>
                  <a:pt x="3321" y="24875"/>
                </a:cubicBezTo>
                <a:cubicBezTo>
                  <a:pt x="-915" y="29111"/>
                  <a:pt x="-915" y="35990"/>
                  <a:pt x="3321" y="40227"/>
                </a:cubicBezTo>
                <a:lnTo>
                  <a:pt x="49885" y="86757"/>
                </a:lnTo>
                <a:lnTo>
                  <a:pt x="3355" y="133320"/>
                </a:lnTo>
                <a:cubicBezTo>
                  <a:pt x="-881" y="137557"/>
                  <a:pt x="-881" y="144436"/>
                  <a:pt x="3355" y="148672"/>
                </a:cubicBezTo>
                <a:cubicBezTo>
                  <a:pt x="7591" y="152908"/>
                  <a:pt x="14471" y="152908"/>
                  <a:pt x="18707" y="148672"/>
                </a:cubicBezTo>
                <a:lnTo>
                  <a:pt x="65237" y="102108"/>
                </a:lnTo>
                <a:lnTo>
                  <a:pt x="111801" y="148638"/>
                </a:lnTo>
                <a:cubicBezTo>
                  <a:pt x="116037" y="152874"/>
                  <a:pt x="122916" y="152874"/>
                  <a:pt x="127153" y="148638"/>
                </a:cubicBezTo>
                <a:cubicBezTo>
                  <a:pt x="131389" y="144402"/>
                  <a:pt x="131389" y="137523"/>
                  <a:pt x="127153" y="133286"/>
                </a:cubicBezTo>
                <a:lnTo>
                  <a:pt x="80589" y="86757"/>
                </a:lnTo>
                <a:lnTo>
                  <a:pt x="127119" y="40193"/>
                </a:lnTo>
                <a:cubicBezTo>
                  <a:pt x="131355" y="35957"/>
                  <a:pt x="131355" y="29077"/>
                  <a:pt x="127119" y="24841"/>
                </a:cubicBezTo>
                <a:cubicBezTo>
                  <a:pt x="122882" y="20605"/>
                  <a:pt x="116003" y="20605"/>
                  <a:pt x="111767" y="24841"/>
                </a:cubicBezTo>
                <a:lnTo>
                  <a:pt x="65237" y="71405"/>
                </a:lnTo>
                <a:lnTo>
                  <a:pt x="18673" y="24875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906945" y="3340125"/>
            <a:ext cx="5335525" cy="30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7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参数调节困难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06945" y="3730530"/>
            <a:ext cx="5324680" cy="281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66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惩罚参数C和核函数参数（如γ）对模型性能影响巨大，需要仔细调优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16" y="4229380"/>
            <a:ext cx="260270" cy="260270"/>
          </a:xfrm>
          <a:custGeom>
            <a:avLst/>
            <a:gdLst/>
            <a:ahLst/>
            <a:cxnLst/>
            <a:rect l="l" t="t" r="r" b="b"/>
            <a:pathLst>
              <a:path w="260270" h="260270">
                <a:moveTo>
                  <a:pt x="16267" y="32534"/>
                </a:moveTo>
                <a:cubicBezTo>
                  <a:pt x="7269" y="32534"/>
                  <a:pt x="0" y="39803"/>
                  <a:pt x="0" y="48801"/>
                </a:cubicBezTo>
                <a:cubicBezTo>
                  <a:pt x="0" y="57798"/>
                  <a:pt x="7269" y="65067"/>
                  <a:pt x="16267" y="65067"/>
                </a:cubicBezTo>
                <a:lnTo>
                  <a:pt x="60340" y="65067"/>
                </a:lnTo>
                <a:cubicBezTo>
                  <a:pt x="66592" y="79453"/>
                  <a:pt x="80928" y="89468"/>
                  <a:pt x="97601" y="89468"/>
                </a:cubicBezTo>
                <a:cubicBezTo>
                  <a:pt x="114275" y="89468"/>
                  <a:pt x="128610" y="79453"/>
                  <a:pt x="134862" y="65067"/>
                </a:cubicBezTo>
                <a:lnTo>
                  <a:pt x="244003" y="65067"/>
                </a:lnTo>
                <a:cubicBezTo>
                  <a:pt x="253000" y="65067"/>
                  <a:pt x="260270" y="57798"/>
                  <a:pt x="260270" y="48801"/>
                </a:cubicBezTo>
                <a:cubicBezTo>
                  <a:pt x="260270" y="39803"/>
                  <a:pt x="253000" y="32534"/>
                  <a:pt x="244003" y="32534"/>
                </a:cubicBezTo>
                <a:lnTo>
                  <a:pt x="134862" y="32534"/>
                </a:lnTo>
                <a:cubicBezTo>
                  <a:pt x="128610" y="18148"/>
                  <a:pt x="114275" y="8133"/>
                  <a:pt x="97601" y="8133"/>
                </a:cubicBezTo>
                <a:cubicBezTo>
                  <a:pt x="80928" y="8133"/>
                  <a:pt x="66592" y="18148"/>
                  <a:pt x="60340" y="32534"/>
                </a:cubicBezTo>
                <a:lnTo>
                  <a:pt x="16267" y="32534"/>
                </a:lnTo>
                <a:close/>
                <a:moveTo>
                  <a:pt x="16267" y="113868"/>
                </a:moveTo>
                <a:cubicBezTo>
                  <a:pt x="7269" y="113868"/>
                  <a:pt x="0" y="121137"/>
                  <a:pt x="0" y="130135"/>
                </a:cubicBezTo>
                <a:cubicBezTo>
                  <a:pt x="0" y="139132"/>
                  <a:pt x="7269" y="146402"/>
                  <a:pt x="16267" y="146402"/>
                </a:cubicBezTo>
                <a:lnTo>
                  <a:pt x="141674" y="146402"/>
                </a:lnTo>
                <a:cubicBezTo>
                  <a:pt x="147927" y="160788"/>
                  <a:pt x="162262" y="170802"/>
                  <a:pt x="178935" y="170802"/>
                </a:cubicBezTo>
                <a:cubicBezTo>
                  <a:pt x="195609" y="170802"/>
                  <a:pt x="209944" y="160788"/>
                  <a:pt x="216197" y="146402"/>
                </a:cubicBezTo>
                <a:lnTo>
                  <a:pt x="244003" y="146402"/>
                </a:lnTo>
                <a:cubicBezTo>
                  <a:pt x="253000" y="146402"/>
                  <a:pt x="260270" y="139132"/>
                  <a:pt x="260270" y="130135"/>
                </a:cubicBezTo>
                <a:cubicBezTo>
                  <a:pt x="260270" y="121137"/>
                  <a:pt x="253000" y="113868"/>
                  <a:pt x="244003" y="113868"/>
                </a:cubicBezTo>
                <a:lnTo>
                  <a:pt x="216197" y="113868"/>
                </a:lnTo>
                <a:cubicBezTo>
                  <a:pt x="209944" y="99482"/>
                  <a:pt x="195609" y="89468"/>
                  <a:pt x="178935" y="89468"/>
                </a:cubicBezTo>
                <a:cubicBezTo>
                  <a:pt x="162262" y="89468"/>
                  <a:pt x="147927" y="99482"/>
                  <a:pt x="141674" y="113868"/>
                </a:cubicBezTo>
                <a:lnTo>
                  <a:pt x="16267" y="113868"/>
                </a:lnTo>
                <a:close/>
                <a:moveTo>
                  <a:pt x="16267" y="195202"/>
                </a:moveTo>
                <a:cubicBezTo>
                  <a:pt x="7269" y="195202"/>
                  <a:pt x="0" y="202471"/>
                  <a:pt x="0" y="211469"/>
                </a:cubicBezTo>
                <a:cubicBezTo>
                  <a:pt x="0" y="220467"/>
                  <a:pt x="7269" y="227736"/>
                  <a:pt x="16267" y="227736"/>
                </a:cubicBezTo>
                <a:lnTo>
                  <a:pt x="44073" y="227736"/>
                </a:lnTo>
                <a:cubicBezTo>
                  <a:pt x="50326" y="242122"/>
                  <a:pt x="64661" y="252136"/>
                  <a:pt x="81334" y="252136"/>
                </a:cubicBezTo>
                <a:cubicBezTo>
                  <a:pt x="98008" y="252136"/>
                  <a:pt x="112343" y="242122"/>
                  <a:pt x="118595" y="227736"/>
                </a:cubicBezTo>
                <a:lnTo>
                  <a:pt x="244003" y="227736"/>
                </a:lnTo>
                <a:cubicBezTo>
                  <a:pt x="253000" y="227736"/>
                  <a:pt x="260270" y="220467"/>
                  <a:pt x="260270" y="211469"/>
                </a:cubicBezTo>
                <a:cubicBezTo>
                  <a:pt x="260270" y="202471"/>
                  <a:pt x="253000" y="195202"/>
                  <a:pt x="244003" y="195202"/>
                </a:cubicBezTo>
                <a:lnTo>
                  <a:pt x="118595" y="195202"/>
                </a:lnTo>
                <a:cubicBezTo>
                  <a:pt x="112343" y="180816"/>
                  <a:pt x="98008" y="170802"/>
                  <a:pt x="81334" y="170802"/>
                </a:cubicBezTo>
                <a:cubicBezTo>
                  <a:pt x="64661" y="170802"/>
                  <a:pt x="50326" y="180816"/>
                  <a:pt x="44073" y="195202"/>
                </a:cubicBezTo>
                <a:lnTo>
                  <a:pt x="16267" y="195202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59119" y="4186001"/>
            <a:ext cx="15193233" cy="347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4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参数调优（</a:t>
            </a:r>
            <a:r>
              <a:rPr lang="en-US" sz="2049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Grid Search</a:t>
            </a:r>
            <a:r>
              <a:rPr lang="en-US" sz="2049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）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9205" y="4711963"/>
            <a:ext cx="15377590" cy="3036478"/>
          </a:xfrm>
          <a:custGeom>
            <a:avLst/>
            <a:gdLst/>
            <a:ahLst/>
            <a:cxnLst/>
            <a:rect l="l" t="t" r="r" b="b"/>
            <a:pathLst>
              <a:path w="15377590" h="3036478">
                <a:moveTo>
                  <a:pt x="86752" y="0"/>
                </a:moveTo>
                <a:lnTo>
                  <a:pt x="15290838" y="0"/>
                </a:lnTo>
                <a:cubicBezTo>
                  <a:pt x="15338750" y="0"/>
                  <a:pt x="15377590" y="38840"/>
                  <a:pt x="15377590" y="86752"/>
                </a:cubicBezTo>
                <a:lnTo>
                  <a:pt x="15377590" y="2949725"/>
                </a:lnTo>
                <a:cubicBezTo>
                  <a:pt x="15377590" y="2997637"/>
                  <a:pt x="15338750" y="3036478"/>
                  <a:pt x="15290838" y="3036478"/>
                </a:cubicBezTo>
                <a:lnTo>
                  <a:pt x="86752" y="3036478"/>
                </a:lnTo>
                <a:cubicBezTo>
                  <a:pt x="38840" y="3036478"/>
                  <a:pt x="0" y="2997637"/>
                  <a:pt x="0" y="2949725"/>
                </a:cubicBezTo>
                <a:lnTo>
                  <a:pt x="0" y="86752"/>
                </a:lnTo>
                <a:cubicBezTo>
                  <a:pt x="0" y="38840"/>
                  <a:pt x="38840" y="0"/>
                  <a:pt x="8675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8140" y="4890898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使用Pipeline避免数据泄漏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8140" y="5118634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pipe = Pipeline(steps=[('scaler', StandardScaler()),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18140" y="5346370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('svc', SVC(kernel='rbf'))])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18140" y="5660862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参数网格定义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8140" y="5888598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param_grid = {'svc__C': [0.1, 1, 10, 100],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18140" y="6116334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'svc__gamma': ['scale', 0.1, 0.01, 0.001]}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8140" y="6430826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网格搜索与交叉验证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8140" y="6658562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search = GridSearchCV(pipe, param_grid, cv=5, n_jobs=-1)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18140" y="6886298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search.fit(X, y)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8140" y="7114033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print(f"最佳参数: {search.best_params_}")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18140" y="7341769"/>
            <a:ext cx="15095632" cy="22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print(f"最佳分数: {search.best_score_:.4f}")</a:t>
            </a: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33783" y="7927376"/>
            <a:ext cx="5010188" cy="780809"/>
          </a:xfrm>
          <a:custGeom>
            <a:avLst/>
            <a:gdLst/>
            <a:ahLst/>
            <a:cxnLst/>
            <a:rect l="l" t="t" r="r" b="b"/>
            <a:pathLst>
              <a:path w="5010188" h="780809">
                <a:moveTo>
                  <a:pt x="86756" y="0"/>
                </a:moveTo>
                <a:lnTo>
                  <a:pt x="4923432" y="0"/>
                </a:lnTo>
                <a:cubicBezTo>
                  <a:pt x="4971346" y="0"/>
                  <a:pt x="5010188" y="38842"/>
                  <a:pt x="5010188" y="86756"/>
                </a:cubicBezTo>
                <a:lnTo>
                  <a:pt x="5010188" y="694053"/>
                </a:lnTo>
                <a:cubicBezTo>
                  <a:pt x="5010188" y="741967"/>
                  <a:pt x="4971346" y="780809"/>
                  <a:pt x="4923432" y="780809"/>
                </a:cubicBezTo>
                <a:lnTo>
                  <a:pt x="86756" y="780809"/>
                </a:lnTo>
                <a:cubicBezTo>
                  <a:pt x="38842" y="780809"/>
                  <a:pt x="0" y="741967"/>
                  <a:pt x="0" y="694053"/>
                </a:cubicBezTo>
                <a:lnTo>
                  <a:pt x="0" y="86756"/>
                </a:lnTo>
                <a:cubicBezTo>
                  <a:pt x="0" y="38874"/>
                  <a:pt x="38874" y="0"/>
                  <a:pt x="86756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63917" y="8057510"/>
            <a:ext cx="4836675" cy="2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C参数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63917" y="8361158"/>
            <a:ext cx="4825831" cy="216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惩罚系数，控制误分类的惩罚程度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19856" y="7927376"/>
            <a:ext cx="5010188" cy="780809"/>
          </a:xfrm>
          <a:custGeom>
            <a:avLst/>
            <a:gdLst/>
            <a:ahLst/>
            <a:cxnLst/>
            <a:rect l="l" t="t" r="r" b="b"/>
            <a:pathLst>
              <a:path w="5010188" h="780809">
                <a:moveTo>
                  <a:pt x="86756" y="0"/>
                </a:moveTo>
                <a:lnTo>
                  <a:pt x="4923432" y="0"/>
                </a:lnTo>
                <a:cubicBezTo>
                  <a:pt x="4971346" y="0"/>
                  <a:pt x="5010188" y="38842"/>
                  <a:pt x="5010188" y="86756"/>
                </a:cubicBezTo>
                <a:lnTo>
                  <a:pt x="5010188" y="694053"/>
                </a:lnTo>
                <a:cubicBezTo>
                  <a:pt x="5010188" y="741967"/>
                  <a:pt x="4971346" y="780809"/>
                  <a:pt x="4923432" y="780809"/>
                </a:cubicBezTo>
                <a:lnTo>
                  <a:pt x="86756" y="780809"/>
                </a:lnTo>
                <a:cubicBezTo>
                  <a:pt x="38842" y="780809"/>
                  <a:pt x="0" y="741967"/>
                  <a:pt x="0" y="694053"/>
                </a:cubicBezTo>
                <a:lnTo>
                  <a:pt x="0" y="86756"/>
                </a:lnTo>
                <a:cubicBezTo>
                  <a:pt x="0" y="38874"/>
                  <a:pt x="38874" y="0"/>
                  <a:pt x="86756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5749991" y="8057510"/>
            <a:ext cx="4836675" cy="2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6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gamma</a:t>
            </a:r>
            <a:r>
              <a:rPr lang="en-US" sz="136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749991" y="8361158"/>
            <a:ext cx="4825831" cy="216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RBF核的影响范围，控制边界复杂度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805929" y="7927376"/>
            <a:ext cx="5010188" cy="780809"/>
          </a:xfrm>
          <a:custGeom>
            <a:avLst/>
            <a:gdLst/>
            <a:ahLst/>
            <a:cxnLst/>
            <a:rect l="l" t="t" r="r" b="b"/>
            <a:pathLst>
              <a:path w="5010188" h="780809">
                <a:moveTo>
                  <a:pt x="86756" y="0"/>
                </a:moveTo>
                <a:lnTo>
                  <a:pt x="4923432" y="0"/>
                </a:lnTo>
                <a:cubicBezTo>
                  <a:pt x="4971346" y="0"/>
                  <a:pt x="5010188" y="38842"/>
                  <a:pt x="5010188" y="86756"/>
                </a:cubicBezTo>
                <a:lnTo>
                  <a:pt x="5010188" y="694053"/>
                </a:lnTo>
                <a:cubicBezTo>
                  <a:pt x="5010188" y="741967"/>
                  <a:pt x="4971346" y="780809"/>
                  <a:pt x="4923432" y="780809"/>
                </a:cubicBezTo>
                <a:lnTo>
                  <a:pt x="86756" y="780809"/>
                </a:lnTo>
                <a:cubicBezTo>
                  <a:pt x="38842" y="780809"/>
                  <a:pt x="0" y="741967"/>
                  <a:pt x="0" y="694053"/>
                </a:cubicBezTo>
                <a:lnTo>
                  <a:pt x="0" y="86756"/>
                </a:lnTo>
                <a:cubicBezTo>
                  <a:pt x="0" y="38874"/>
                  <a:pt x="38874" y="0"/>
                  <a:pt x="86756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0936064" y="8057510"/>
            <a:ext cx="4836675" cy="260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6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kernel</a:t>
            </a:r>
            <a:r>
              <a:rPr lang="en-US" sz="1366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936064" y="8361158"/>
            <a:ext cx="4825831" cy="216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核函数选择，常用rbf或linear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SVM：鸢尾花分类实战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23333" y="973667"/>
            <a:ext cx="846667" cy="42333"/>
          </a:xfrm>
          <a:custGeom>
            <a:avLst/>
            <a:gdLst/>
            <a:ahLst/>
            <a:cxnLst/>
            <a:rect l="l" t="t" r="r" b="b"/>
            <a:pathLst>
              <a:path w="846667" h="42333">
                <a:moveTo>
                  <a:pt x="0" y="0"/>
                </a:moveTo>
                <a:lnTo>
                  <a:pt x="846667" y="0"/>
                </a:lnTo>
                <a:lnTo>
                  <a:pt x="846667" y="42333"/>
                </a:lnTo>
                <a:lnTo>
                  <a:pt x="0" y="42333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55083" y="122766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54000" y="15875"/>
                </a:moveTo>
                <a:cubicBezTo>
                  <a:pt x="254000" y="69503"/>
                  <a:pt x="215999" y="114250"/>
                  <a:pt x="165497" y="124718"/>
                </a:cubicBezTo>
                <a:cubicBezTo>
                  <a:pt x="161578" y="95895"/>
                  <a:pt x="148630" y="69949"/>
                  <a:pt x="129530" y="49857"/>
                </a:cubicBezTo>
                <a:cubicBezTo>
                  <a:pt x="149423" y="19844"/>
                  <a:pt x="183505" y="0"/>
                  <a:pt x="222250" y="0"/>
                </a:cubicBezTo>
                <a:lnTo>
                  <a:pt x="238125" y="0"/>
                </a:lnTo>
                <a:cubicBezTo>
                  <a:pt x="246906" y="0"/>
                  <a:pt x="254000" y="7094"/>
                  <a:pt x="254000" y="15875"/>
                </a:cubicBezTo>
                <a:close/>
                <a:moveTo>
                  <a:pt x="0" y="47625"/>
                </a:moveTo>
                <a:cubicBezTo>
                  <a:pt x="0" y="38844"/>
                  <a:pt x="7094" y="31750"/>
                  <a:pt x="15875" y="31750"/>
                </a:cubicBezTo>
                <a:lnTo>
                  <a:pt x="31750" y="31750"/>
                </a:lnTo>
                <a:cubicBezTo>
                  <a:pt x="93117" y="31750"/>
                  <a:pt x="142875" y="81508"/>
                  <a:pt x="142875" y="142875"/>
                </a:cubicBezTo>
                <a:lnTo>
                  <a:pt x="142875" y="238125"/>
                </a:lnTo>
                <a:cubicBezTo>
                  <a:pt x="142875" y="246906"/>
                  <a:pt x="135781" y="254000"/>
                  <a:pt x="127000" y="254000"/>
                </a:cubicBezTo>
                <a:cubicBezTo>
                  <a:pt x="118219" y="254000"/>
                  <a:pt x="111125" y="246906"/>
                  <a:pt x="111125" y="238125"/>
                </a:cubicBezTo>
                <a:lnTo>
                  <a:pt x="111125" y="158750"/>
                </a:lnTo>
                <a:cubicBezTo>
                  <a:pt x="49758" y="158750"/>
                  <a:pt x="0" y="108992"/>
                  <a:pt x="0" y="4762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0833" y="1185333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数据探索与预处理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8625" y="1656292"/>
            <a:ext cx="7524750" cy="3185583"/>
          </a:xfrm>
          <a:custGeom>
            <a:avLst/>
            <a:gdLst/>
            <a:ahLst/>
            <a:cxnLst/>
            <a:rect l="l" t="t" r="r" b="b"/>
            <a:pathLst>
              <a:path w="7524750" h="3185583">
                <a:moveTo>
                  <a:pt x="84673" y="0"/>
                </a:moveTo>
                <a:lnTo>
                  <a:pt x="7440077" y="0"/>
                </a:lnTo>
                <a:cubicBezTo>
                  <a:pt x="7486841" y="0"/>
                  <a:pt x="7524750" y="37909"/>
                  <a:pt x="7524750" y="84673"/>
                </a:cubicBezTo>
                <a:lnTo>
                  <a:pt x="7524750" y="3100911"/>
                </a:lnTo>
                <a:cubicBezTo>
                  <a:pt x="7524750" y="3147674"/>
                  <a:pt x="7486841" y="3185583"/>
                  <a:pt x="7440077" y="3185583"/>
                </a:cubicBezTo>
                <a:lnTo>
                  <a:pt x="84673" y="3185583"/>
                </a:lnTo>
                <a:cubicBezTo>
                  <a:pt x="37909" y="3185583"/>
                  <a:pt x="0" y="3147674"/>
                  <a:pt x="0" y="3100911"/>
                </a:cubicBezTo>
                <a:lnTo>
                  <a:pt x="0" y="84673"/>
                </a:lnTo>
                <a:cubicBezTo>
                  <a:pt x="0" y="37941"/>
                  <a:pt x="37941" y="0"/>
                  <a:pt x="8467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0917" y="1788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数据加载与可视化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0917" y="2010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from sklearn import datasets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0917" y="2233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iris = datasets.load_iris()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0917" y="2455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X, y = iris.data, iris.target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0917" y="2677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target_names = iris.target_names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0917" y="29845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数据集划分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0917" y="32067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X_train, X_test, y_train, y_test = train_test_split(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0917" y="34290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X, y, test_size=0.3, random_state=42)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0917" y="37359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特征分布可视化（箱线图）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0917" y="39581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sns.boxplot(x='features', y='value', hue='species', data=melt_df)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0917" y="4265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观察：Setosa与其他类别区分明显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0917" y="4487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Versicolor和Virginica有部分重叠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23333" y="505883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40833" y="5016500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数据标准化（关键！）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4500" y="5482167"/>
            <a:ext cx="7514167" cy="1227667"/>
          </a:xfrm>
          <a:custGeom>
            <a:avLst/>
            <a:gdLst/>
            <a:ahLst/>
            <a:cxnLst/>
            <a:rect l="l" t="t" r="r" b="b"/>
            <a:pathLst>
              <a:path w="7514167" h="1227667">
                <a:moveTo>
                  <a:pt x="42333" y="0"/>
                </a:moveTo>
                <a:lnTo>
                  <a:pt x="7429494" y="0"/>
                </a:lnTo>
                <a:cubicBezTo>
                  <a:pt x="7476258" y="0"/>
                  <a:pt x="7514167" y="37909"/>
                  <a:pt x="7514167" y="84672"/>
                </a:cubicBezTo>
                <a:lnTo>
                  <a:pt x="7514167" y="1142994"/>
                </a:lnTo>
                <a:cubicBezTo>
                  <a:pt x="7514167" y="1189758"/>
                  <a:pt x="7476258" y="1227667"/>
                  <a:pt x="7429494" y="1227667"/>
                </a:cubicBezTo>
                <a:lnTo>
                  <a:pt x="42333" y="1227667"/>
                </a:lnTo>
                <a:cubicBezTo>
                  <a:pt x="18953" y="1227667"/>
                  <a:pt x="0" y="1208713"/>
                  <a:pt x="0" y="1185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44500" y="5482167"/>
            <a:ext cx="42333" cy="1227667"/>
          </a:xfrm>
          <a:custGeom>
            <a:avLst/>
            <a:gdLst/>
            <a:ahLst/>
            <a:cxnLst/>
            <a:rect l="l" t="t" r="r" b="b"/>
            <a:pathLst>
              <a:path w="42333" h="1227667">
                <a:moveTo>
                  <a:pt x="42333" y="0"/>
                </a:moveTo>
                <a:lnTo>
                  <a:pt x="42333" y="0"/>
                </a:lnTo>
                <a:lnTo>
                  <a:pt x="42333" y="1227667"/>
                </a:lnTo>
                <a:lnTo>
                  <a:pt x="42333" y="1227667"/>
                </a:lnTo>
                <a:cubicBezTo>
                  <a:pt x="18953" y="1227667"/>
                  <a:pt x="0" y="1208713"/>
                  <a:pt x="0" y="1185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35000" y="5651500"/>
            <a:ext cx="723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为什么必须标准化？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000" y="5990167"/>
            <a:ext cx="72390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SVM试图最大化决策边界的间隔，距离计算依赖于特征的尺度。如果特征量纲差异较大，大尺度特征将主导距离计算，导致模型性能下降。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8625" y="6842125"/>
            <a:ext cx="7524750" cy="1153583"/>
          </a:xfrm>
          <a:custGeom>
            <a:avLst/>
            <a:gdLst/>
            <a:ahLst/>
            <a:cxnLst/>
            <a:rect l="l" t="t" r="r" b="b"/>
            <a:pathLst>
              <a:path w="7524750" h="1153583">
                <a:moveTo>
                  <a:pt x="84661" y="0"/>
                </a:moveTo>
                <a:lnTo>
                  <a:pt x="7440089" y="0"/>
                </a:lnTo>
                <a:cubicBezTo>
                  <a:pt x="7486846" y="0"/>
                  <a:pt x="7524750" y="37904"/>
                  <a:pt x="7524750" y="84661"/>
                </a:cubicBezTo>
                <a:lnTo>
                  <a:pt x="7524750" y="1068922"/>
                </a:lnTo>
                <a:cubicBezTo>
                  <a:pt x="7524750" y="1115679"/>
                  <a:pt x="7486846" y="1153583"/>
                  <a:pt x="7440089" y="1153583"/>
                </a:cubicBezTo>
                <a:lnTo>
                  <a:pt x="84661" y="1153583"/>
                </a:lnTo>
                <a:cubicBezTo>
                  <a:pt x="37904" y="1153583"/>
                  <a:pt x="0" y="1115679"/>
                  <a:pt x="0" y="1068922"/>
                </a:cubicBezTo>
                <a:lnTo>
                  <a:pt x="0" y="84661"/>
                </a:lnTo>
                <a:cubicBezTo>
                  <a:pt x="0" y="37936"/>
                  <a:pt x="37936" y="0"/>
                  <a:pt x="84661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0917" y="69744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数据标准化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0917" y="71966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scaler = StandardScaler()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60917" y="74189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X_train = scaler.fit_transform(X_train)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0917" y="764116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X_test = scaler.transform(X_test)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97333" y="1227667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74625" y="0"/>
                </a:moveTo>
                <a:cubicBezTo>
                  <a:pt x="174625" y="-8781"/>
                  <a:pt x="167531" y="-15875"/>
                  <a:pt x="158750" y="-15875"/>
                </a:cubicBezTo>
                <a:cubicBezTo>
                  <a:pt x="149969" y="-15875"/>
                  <a:pt x="142875" y="-8781"/>
                  <a:pt x="142875" y="0"/>
                </a:cubicBezTo>
                <a:lnTo>
                  <a:pt x="142875" y="31750"/>
                </a:lnTo>
                <a:lnTo>
                  <a:pt x="95250" y="31750"/>
                </a:lnTo>
                <a:cubicBezTo>
                  <a:pt x="68957" y="31750"/>
                  <a:pt x="47625" y="53082"/>
                  <a:pt x="47625" y="79375"/>
                </a:cubicBezTo>
                <a:lnTo>
                  <a:pt x="47625" y="190500"/>
                </a:lnTo>
                <a:cubicBezTo>
                  <a:pt x="47625" y="216793"/>
                  <a:pt x="68957" y="238125"/>
                  <a:pt x="95250" y="238125"/>
                </a:cubicBezTo>
                <a:lnTo>
                  <a:pt x="222250" y="238125"/>
                </a:lnTo>
                <a:cubicBezTo>
                  <a:pt x="248543" y="238125"/>
                  <a:pt x="269875" y="216793"/>
                  <a:pt x="269875" y="190500"/>
                </a:cubicBezTo>
                <a:lnTo>
                  <a:pt x="269875" y="79375"/>
                </a:lnTo>
                <a:cubicBezTo>
                  <a:pt x="269875" y="53082"/>
                  <a:pt x="248543" y="31750"/>
                  <a:pt x="222250" y="31750"/>
                </a:cubicBezTo>
                <a:lnTo>
                  <a:pt x="174625" y="31750"/>
                </a:lnTo>
                <a:lnTo>
                  <a:pt x="174625" y="0"/>
                </a:lnTo>
                <a:close/>
                <a:moveTo>
                  <a:pt x="79375" y="182563"/>
                </a:moveTo>
                <a:cubicBezTo>
                  <a:pt x="79375" y="175964"/>
                  <a:pt x="84683" y="170656"/>
                  <a:pt x="91281" y="170656"/>
                </a:cubicBezTo>
                <a:lnTo>
                  <a:pt x="107156" y="170656"/>
                </a:lnTo>
                <a:cubicBezTo>
                  <a:pt x="113754" y="170656"/>
                  <a:pt x="119063" y="175964"/>
                  <a:pt x="119063" y="182563"/>
                </a:cubicBezTo>
                <a:cubicBezTo>
                  <a:pt x="119063" y="189161"/>
                  <a:pt x="113754" y="194469"/>
                  <a:pt x="107156" y="194469"/>
                </a:cubicBezTo>
                <a:lnTo>
                  <a:pt x="91281" y="194469"/>
                </a:lnTo>
                <a:cubicBezTo>
                  <a:pt x="84683" y="194469"/>
                  <a:pt x="79375" y="189161"/>
                  <a:pt x="79375" y="182563"/>
                </a:cubicBezTo>
                <a:close/>
                <a:moveTo>
                  <a:pt x="138906" y="182563"/>
                </a:moveTo>
                <a:cubicBezTo>
                  <a:pt x="138906" y="175964"/>
                  <a:pt x="144214" y="170656"/>
                  <a:pt x="150813" y="170656"/>
                </a:cubicBezTo>
                <a:lnTo>
                  <a:pt x="166688" y="170656"/>
                </a:lnTo>
                <a:cubicBezTo>
                  <a:pt x="173286" y="170656"/>
                  <a:pt x="178594" y="175964"/>
                  <a:pt x="178594" y="182563"/>
                </a:cubicBezTo>
                <a:cubicBezTo>
                  <a:pt x="178594" y="189161"/>
                  <a:pt x="173286" y="194469"/>
                  <a:pt x="166688" y="194469"/>
                </a:cubicBezTo>
                <a:lnTo>
                  <a:pt x="150813" y="194469"/>
                </a:lnTo>
                <a:cubicBezTo>
                  <a:pt x="144214" y="194469"/>
                  <a:pt x="138906" y="189161"/>
                  <a:pt x="138906" y="182563"/>
                </a:cubicBezTo>
                <a:close/>
                <a:moveTo>
                  <a:pt x="198438" y="182563"/>
                </a:moveTo>
                <a:cubicBezTo>
                  <a:pt x="198438" y="175964"/>
                  <a:pt x="203746" y="170656"/>
                  <a:pt x="210344" y="170656"/>
                </a:cubicBezTo>
                <a:lnTo>
                  <a:pt x="226219" y="170656"/>
                </a:lnTo>
                <a:cubicBezTo>
                  <a:pt x="232817" y="170656"/>
                  <a:pt x="238125" y="175964"/>
                  <a:pt x="238125" y="182563"/>
                </a:cubicBezTo>
                <a:cubicBezTo>
                  <a:pt x="238125" y="189161"/>
                  <a:pt x="232817" y="194469"/>
                  <a:pt x="226219" y="194469"/>
                </a:cubicBezTo>
                <a:lnTo>
                  <a:pt x="210344" y="194469"/>
                </a:lnTo>
                <a:cubicBezTo>
                  <a:pt x="203746" y="194469"/>
                  <a:pt x="198438" y="189161"/>
                  <a:pt x="198438" y="182563"/>
                </a:cubicBezTo>
                <a:close/>
                <a:moveTo>
                  <a:pt x="111125" y="87313"/>
                </a:moveTo>
                <a:cubicBezTo>
                  <a:pt x="124267" y="87313"/>
                  <a:pt x="134938" y="97983"/>
                  <a:pt x="134938" y="111125"/>
                </a:cubicBezTo>
                <a:cubicBezTo>
                  <a:pt x="134938" y="124267"/>
                  <a:pt x="124267" y="134938"/>
                  <a:pt x="111125" y="134938"/>
                </a:cubicBezTo>
                <a:cubicBezTo>
                  <a:pt x="97983" y="134938"/>
                  <a:pt x="87313" y="124267"/>
                  <a:pt x="87313" y="111125"/>
                </a:cubicBezTo>
                <a:cubicBezTo>
                  <a:pt x="87313" y="97983"/>
                  <a:pt x="97983" y="87313"/>
                  <a:pt x="111125" y="87313"/>
                </a:cubicBezTo>
                <a:close/>
                <a:moveTo>
                  <a:pt x="182563" y="111125"/>
                </a:moveTo>
                <a:cubicBezTo>
                  <a:pt x="182563" y="97983"/>
                  <a:pt x="193233" y="87313"/>
                  <a:pt x="206375" y="87313"/>
                </a:cubicBezTo>
                <a:cubicBezTo>
                  <a:pt x="219517" y="87313"/>
                  <a:pt x="230188" y="97983"/>
                  <a:pt x="230188" y="111125"/>
                </a:cubicBezTo>
                <a:cubicBezTo>
                  <a:pt x="230188" y="124267"/>
                  <a:pt x="219517" y="134938"/>
                  <a:pt x="206375" y="134938"/>
                </a:cubicBezTo>
                <a:cubicBezTo>
                  <a:pt x="193233" y="134938"/>
                  <a:pt x="182563" y="124267"/>
                  <a:pt x="182563" y="111125"/>
                </a:cubicBezTo>
                <a:close/>
                <a:moveTo>
                  <a:pt x="31750" y="111125"/>
                </a:moveTo>
                <a:cubicBezTo>
                  <a:pt x="31750" y="102344"/>
                  <a:pt x="24656" y="95250"/>
                  <a:pt x="15875" y="95250"/>
                </a:cubicBezTo>
                <a:cubicBezTo>
                  <a:pt x="7094" y="95250"/>
                  <a:pt x="0" y="102344"/>
                  <a:pt x="0" y="111125"/>
                </a:cubicBezTo>
                <a:lnTo>
                  <a:pt x="0" y="158750"/>
                </a:lnTo>
                <a:cubicBezTo>
                  <a:pt x="0" y="167531"/>
                  <a:pt x="7094" y="174625"/>
                  <a:pt x="15875" y="174625"/>
                </a:cubicBezTo>
                <a:cubicBezTo>
                  <a:pt x="24656" y="174625"/>
                  <a:pt x="31750" y="167531"/>
                  <a:pt x="31750" y="158750"/>
                </a:cubicBezTo>
                <a:lnTo>
                  <a:pt x="31750" y="111125"/>
                </a:lnTo>
                <a:close/>
                <a:moveTo>
                  <a:pt x="301625" y="95250"/>
                </a:moveTo>
                <a:cubicBezTo>
                  <a:pt x="292844" y="95250"/>
                  <a:pt x="285750" y="102344"/>
                  <a:pt x="285750" y="111125"/>
                </a:cubicBezTo>
                <a:lnTo>
                  <a:pt x="285750" y="158750"/>
                </a:lnTo>
                <a:cubicBezTo>
                  <a:pt x="285750" y="167531"/>
                  <a:pt x="292844" y="174625"/>
                  <a:pt x="301625" y="174625"/>
                </a:cubicBezTo>
                <a:cubicBezTo>
                  <a:pt x="310406" y="174625"/>
                  <a:pt x="317500" y="167531"/>
                  <a:pt x="317500" y="158750"/>
                </a:cubicBezTo>
                <a:lnTo>
                  <a:pt x="317500" y="111125"/>
                </a:lnTo>
                <a:cubicBezTo>
                  <a:pt x="317500" y="102344"/>
                  <a:pt x="310406" y="95250"/>
                  <a:pt x="301625" y="9525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14833" y="1185333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模型训练与评估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02625" y="1656292"/>
            <a:ext cx="7524750" cy="2878667"/>
          </a:xfrm>
          <a:custGeom>
            <a:avLst/>
            <a:gdLst/>
            <a:ahLst/>
            <a:cxnLst/>
            <a:rect l="l" t="t" r="r" b="b"/>
            <a:pathLst>
              <a:path w="7524750" h="2878667">
                <a:moveTo>
                  <a:pt x="84662" y="0"/>
                </a:moveTo>
                <a:lnTo>
                  <a:pt x="7440088" y="0"/>
                </a:lnTo>
                <a:cubicBezTo>
                  <a:pt x="7486846" y="0"/>
                  <a:pt x="7524750" y="37904"/>
                  <a:pt x="7524750" y="84662"/>
                </a:cubicBezTo>
                <a:lnTo>
                  <a:pt x="7524750" y="2794005"/>
                </a:lnTo>
                <a:cubicBezTo>
                  <a:pt x="7524750" y="2840762"/>
                  <a:pt x="7486846" y="2878667"/>
                  <a:pt x="7440088" y="2878667"/>
                </a:cubicBezTo>
                <a:lnTo>
                  <a:pt x="84662" y="2878667"/>
                </a:lnTo>
                <a:cubicBezTo>
                  <a:pt x="37904" y="2878667"/>
                  <a:pt x="0" y="2840762"/>
                  <a:pt x="0" y="2794005"/>
                </a:cubicBezTo>
                <a:lnTo>
                  <a:pt x="0" y="84662"/>
                </a:lnTo>
                <a:cubicBezTo>
                  <a:pt x="0" y="37904"/>
                  <a:pt x="37904" y="0"/>
                  <a:pt x="84662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 w="12700">
            <a:solidFill>
              <a:srgbClr val="3D8F8A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434917" y="1788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RBF核SVM模型训练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434917" y="20108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 = SVC(kernel='rbf', C=1.0, gamma='scale',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434917" y="22330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random_state=42)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434917" y="245533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model.fit(X_train, y_train)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434917" y="2677583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y_pred = model.predict(X_test)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434917" y="29845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模型评估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434917" y="32067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print(f"Accuracy: {accuracy_score(y_test, y_pred):.4f}")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434917" y="34290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print("\nClassification Report:")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434917" y="365125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print(classification_report(y_test, y_pred,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434917" y="3873500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target_names=target_names))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434917" y="4180417"/>
            <a:ext cx="733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# 准确率通常 &gt; 0.95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329083" y="4838996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24656" y="15875"/>
                  <a:pt x="31750" y="22969"/>
                  <a:pt x="31750" y="31750"/>
                </a:cubicBezTo>
                <a:lnTo>
                  <a:pt x="31750" y="198438"/>
                </a:lnTo>
                <a:cubicBezTo>
                  <a:pt x="31750" y="202803"/>
                  <a:pt x="35322" y="206375"/>
                  <a:pt x="39688" y="206375"/>
                </a:cubicBezTo>
                <a:lnTo>
                  <a:pt x="238125" y="206375"/>
                </a:lnTo>
                <a:cubicBezTo>
                  <a:pt x="246906" y="206375"/>
                  <a:pt x="254000" y="213469"/>
                  <a:pt x="254000" y="222250"/>
                </a:cubicBezTo>
                <a:cubicBezTo>
                  <a:pt x="254000" y="231031"/>
                  <a:pt x="246906" y="238125"/>
                  <a:pt x="238125" y="238125"/>
                </a:cubicBezTo>
                <a:lnTo>
                  <a:pt x="39688" y="238125"/>
                </a:lnTo>
                <a:cubicBezTo>
                  <a:pt x="17760" y="238125"/>
                  <a:pt x="0" y="220365"/>
                  <a:pt x="0" y="198438"/>
                </a:cubicBezTo>
                <a:lnTo>
                  <a:pt x="0" y="31750"/>
                </a:lnTo>
                <a:cubicBezTo>
                  <a:pt x="0" y="22969"/>
                  <a:pt x="7094" y="15875"/>
                  <a:pt x="15875" y="15875"/>
                </a:cubicBezTo>
                <a:close/>
                <a:moveTo>
                  <a:pt x="63500" y="47625"/>
                </a:moveTo>
                <a:cubicBezTo>
                  <a:pt x="63500" y="38844"/>
                  <a:pt x="70594" y="31750"/>
                  <a:pt x="79375" y="31750"/>
                </a:cubicBezTo>
                <a:lnTo>
                  <a:pt x="174625" y="31750"/>
                </a:lnTo>
                <a:cubicBezTo>
                  <a:pt x="183406" y="31750"/>
                  <a:pt x="190500" y="38844"/>
                  <a:pt x="190500" y="47625"/>
                </a:cubicBezTo>
                <a:cubicBezTo>
                  <a:pt x="190500" y="56406"/>
                  <a:pt x="183406" y="63500"/>
                  <a:pt x="174625" y="63500"/>
                </a:cubicBezTo>
                <a:lnTo>
                  <a:pt x="79375" y="63500"/>
                </a:lnTo>
                <a:cubicBezTo>
                  <a:pt x="70594" y="63500"/>
                  <a:pt x="63500" y="56406"/>
                  <a:pt x="63500" y="47625"/>
                </a:cubicBezTo>
                <a:close/>
                <a:moveTo>
                  <a:pt x="79375" y="87313"/>
                </a:moveTo>
                <a:lnTo>
                  <a:pt x="142875" y="87313"/>
                </a:lnTo>
                <a:cubicBezTo>
                  <a:pt x="151656" y="87313"/>
                  <a:pt x="158750" y="94407"/>
                  <a:pt x="158750" y="103188"/>
                </a:cubicBezTo>
                <a:cubicBezTo>
                  <a:pt x="158750" y="111968"/>
                  <a:pt x="151656" y="119063"/>
                  <a:pt x="142875" y="119063"/>
                </a:cubicBezTo>
                <a:lnTo>
                  <a:pt x="79375" y="119063"/>
                </a:lnTo>
                <a:cubicBezTo>
                  <a:pt x="70594" y="119063"/>
                  <a:pt x="63500" y="111968"/>
                  <a:pt x="63500" y="103188"/>
                </a:cubicBezTo>
                <a:cubicBezTo>
                  <a:pt x="63500" y="94407"/>
                  <a:pt x="70594" y="87313"/>
                  <a:pt x="79375" y="87313"/>
                </a:cubicBezTo>
                <a:close/>
                <a:moveTo>
                  <a:pt x="79375" y="142875"/>
                </a:moveTo>
                <a:lnTo>
                  <a:pt x="206375" y="142875"/>
                </a:lnTo>
                <a:cubicBezTo>
                  <a:pt x="215156" y="142875"/>
                  <a:pt x="222250" y="149969"/>
                  <a:pt x="222250" y="158750"/>
                </a:cubicBezTo>
                <a:cubicBezTo>
                  <a:pt x="222250" y="167531"/>
                  <a:pt x="215156" y="174625"/>
                  <a:pt x="206375" y="174625"/>
                </a:cubicBezTo>
                <a:lnTo>
                  <a:pt x="79375" y="174625"/>
                </a:lnTo>
                <a:cubicBezTo>
                  <a:pt x="70594" y="174625"/>
                  <a:pt x="63500" y="167531"/>
                  <a:pt x="63500" y="158750"/>
                </a:cubicBezTo>
                <a:cubicBezTo>
                  <a:pt x="63500" y="149969"/>
                  <a:pt x="70594" y="142875"/>
                  <a:pt x="79375" y="14287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8614833" y="4796662"/>
            <a:ext cx="73448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评估指标解读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97333" y="5279877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混淆矩阵：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行表示真实类别，列表示预测类别，对角线表示正确分类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97333" y="5618544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精确率：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预测为某一类的样本中，有多少是真的属于该类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97333" y="595721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召回率：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真实属于某一类的样本中，有多少被模型找出来了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97333" y="6295877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F1-score：</a:t>
            </a:r>
            <a:r>
              <a:rPr lang="en-US" sz="13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精确率与召回率的调和平均数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44500" y="8285532"/>
            <a:ext cx="15388167" cy="508000"/>
          </a:xfrm>
          <a:custGeom>
            <a:avLst/>
            <a:gdLst/>
            <a:ahLst/>
            <a:cxnLst/>
            <a:rect l="l" t="t" r="r" b="b"/>
            <a:pathLst>
              <a:path w="15388167" h="508000">
                <a:moveTo>
                  <a:pt x="42333" y="0"/>
                </a:moveTo>
                <a:lnTo>
                  <a:pt x="15303498" y="0"/>
                </a:lnTo>
                <a:cubicBezTo>
                  <a:pt x="15350259" y="0"/>
                  <a:pt x="15388167" y="37907"/>
                  <a:pt x="15388167" y="84668"/>
                </a:cubicBezTo>
                <a:lnTo>
                  <a:pt x="15388167" y="423332"/>
                </a:lnTo>
                <a:cubicBezTo>
                  <a:pt x="15388167" y="470093"/>
                  <a:pt x="15350259" y="508000"/>
                  <a:pt x="15303498" y="508000"/>
                </a:cubicBezTo>
                <a:lnTo>
                  <a:pt x="42333" y="508000"/>
                </a:lnTo>
                <a:cubicBezTo>
                  <a:pt x="18953" y="508000"/>
                  <a:pt x="0" y="489047"/>
                  <a:pt x="0" y="465667"/>
                </a:cubicBezTo>
                <a:lnTo>
                  <a:pt x="0" y="42333"/>
                </a:lnTo>
                <a:cubicBezTo>
                  <a:pt x="0" y="18969"/>
                  <a:pt x="18969" y="0"/>
                  <a:pt x="42333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444500" y="8285532"/>
            <a:ext cx="42333" cy="508000"/>
          </a:xfrm>
          <a:custGeom>
            <a:avLst/>
            <a:gdLst/>
            <a:ahLst/>
            <a:cxnLst/>
            <a:rect l="l" t="t" r="r" b="b"/>
            <a:pathLst>
              <a:path w="42333" h="508000">
                <a:moveTo>
                  <a:pt x="42333" y="0"/>
                </a:moveTo>
                <a:lnTo>
                  <a:pt x="42333" y="0"/>
                </a:lnTo>
                <a:lnTo>
                  <a:pt x="42333" y="508000"/>
                </a:lnTo>
                <a:lnTo>
                  <a:pt x="42333" y="508000"/>
                </a:lnTo>
                <a:cubicBezTo>
                  <a:pt x="18953" y="508000"/>
                  <a:pt x="0" y="489047"/>
                  <a:pt x="0" y="465667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635000" y="8454866"/>
            <a:ext cx="127000" cy="169333"/>
          </a:xfrm>
          <a:custGeom>
            <a:avLst/>
            <a:gdLst/>
            <a:ahLst/>
            <a:cxnLst/>
            <a:rect l="l" t="t" r="r" b="b"/>
            <a:pathLst>
              <a:path w="127000" h="169333">
                <a:moveTo>
                  <a:pt x="96871" y="127000"/>
                </a:moveTo>
                <a:cubicBezTo>
                  <a:pt x="99285" y="119625"/>
                  <a:pt x="104114" y="112944"/>
                  <a:pt x="109571" y="107189"/>
                </a:cubicBezTo>
                <a:cubicBezTo>
                  <a:pt x="120385" y="95812"/>
                  <a:pt x="127000" y="80433"/>
                  <a:pt x="127000" y="63500"/>
                </a:cubicBezTo>
                <a:cubicBezTo>
                  <a:pt x="127000" y="28443"/>
                  <a:pt x="98557" y="0"/>
                  <a:pt x="63500" y="0"/>
                </a:cubicBezTo>
                <a:cubicBezTo>
                  <a:pt x="28443" y="0"/>
                  <a:pt x="0" y="28443"/>
                  <a:pt x="0" y="63500"/>
                </a:cubicBezTo>
                <a:cubicBezTo>
                  <a:pt x="0" y="80433"/>
                  <a:pt x="6615" y="95812"/>
                  <a:pt x="17429" y="107189"/>
                </a:cubicBezTo>
                <a:cubicBezTo>
                  <a:pt x="22886" y="112944"/>
                  <a:pt x="27748" y="119625"/>
                  <a:pt x="30129" y="127000"/>
                </a:cubicBezTo>
                <a:lnTo>
                  <a:pt x="96838" y="127000"/>
                </a:lnTo>
                <a:close/>
                <a:moveTo>
                  <a:pt x="95250" y="142875"/>
                </a:moveTo>
                <a:lnTo>
                  <a:pt x="31750" y="142875"/>
                </a:lnTo>
                <a:lnTo>
                  <a:pt x="31750" y="148167"/>
                </a:lnTo>
                <a:cubicBezTo>
                  <a:pt x="31750" y="162785"/>
                  <a:pt x="43590" y="174625"/>
                  <a:pt x="58208" y="174625"/>
                </a:cubicBezTo>
                <a:lnTo>
                  <a:pt x="68792" y="174625"/>
                </a:lnTo>
                <a:cubicBezTo>
                  <a:pt x="83410" y="174625"/>
                  <a:pt x="95250" y="162785"/>
                  <a:pt x="95250" y="148167"/>
                </a:cubicBezTo>
                <a:lnTo>
                  <a:pt x="95250" y="142875"/>
                </a:lnTo>
                <a:close/>
                <a:moveTo>
                  <a:pt x="60854" y="37042"/>
                </a:moveTo>
                <a:cubicBezTo>
                  <a:pt x="47691" y="37042"/>
                  <a:pt x="37042" y="47691"/>
                  <a:pt x="37042" y="60854"/>
                </a:cubicBezTo>
                <a:cubicBezTo>
                  <a:pt x="37042" y="65253"/>
                  <a:pt x="33503" y="68792"/>
                  <a:pt x="29104" y="68792"/>
                </a:cubicBezTo>
                <a:cubicBezTo>
                  <a:pt x="24705" y="68792"/>
                  <a:pt x="21167" y="65253"/>
                  <a:pt x="21167" y="60854"/>
                </a:cubicBezTo>
                <a:cubicBezTo>
                  <a:pt x="21167" y="38927"/>
                  <a:pt x="38927" y="21167"/>
                  <a:pt x="60854" y="21167"/>
                </a:cubicBezTo>
                <a:cubicBezTo>
                  <a:pt x="65253" y="21167"/>
                  <a:pt x="68792" y="24705"/>
                  <a:pt x="68792" y="29104"/>
                </a:cubicBezTo>
                <a:cubicBezTo>
                  <a:pt x="68792" y="33503"/>
                  <a:pt x="65253" y="37042"/>
                  <a:pt x="60854" y="3704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931332" y="8412531"/>
            <a:ext cx="8349947" cy="308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关键要点：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在</a:t>
            </a:r>
            <a:r>
              <a:rPr lang="en-US" sz="133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Iris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数据集上，</a:t>
            </a:r>
            <a:r>
              <a:rPr lang="en-US" sz="1333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r>
              <a:rPr lang="en-US" sz="13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往往能取得较高准确率，但结果受训练/测试划分、标准化方式与超参数影响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648" y="439648"/>
            <a:ext cx="15574545" cy="43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16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SVM：</a:t>
            </a:r>
            <a:r>
              <a:rPr lang="en-US" sz="3116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与逻辑回归对比及思考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39648" y="1011191"/>
            <a:ext cx="879297" cy="43965"/>
          </a:xfrm>
          <a:custGeom>
            <a:avLst/>
            <a:gdLst/>
            <a:ahLst/>
            <a:cxnLst/>
            <a:rect l="l" t="t" r="r" b="b"/>
            <a:pathLst>
              <a:path w="879297" h="43965">
                <a:moveTo>
                  <a:pt x="0" y="0"/>
                </a:moveTo>
                <a:lnTo>
                  <a:pt x="879297" y="0"/>
                </a:lnTo>
                <a:lnTo>
                  <a:pt x="879297" y="43965"/>
                </a:lnTo>
                <a:lnTo>
                  <a:pt x="0" y="43965"/>
                </a:lnTo>
                <a:lnTo>
                  <a:pt x="0" y="0"/>
                </a:ln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39648" y="1274980"/>
            <a:ext cx="329736" cy="263789"/>
          </a:xfrm>
          <a:custGeom>
            <a:avLst/>
            <a:gdLst/>
            <a:ahLst/>
            <a:cxnLst/>
            <a:rect l="l" t="t" r="r" b="b"/>
            <a:pathLst>
              <a:path w="329736" h="263789">
                <a:moveTo>
                  <a:pt x="197842" y="16487"/>
                </a:moveTo>
                <a:lnTo>
                  <a:pt x="263789" y="16487"/>
                </a:lnTo>
                <a:cubicBezTo>
                  <a:pt x="272908" y="16487"/>
                  <a:pt x="280276" y="23854"/>
                  <a:pt x="280276" y="32974"/>
                </a:cubicBezTo>
                <a:cubicBezTo>
                  <a:pt x="280276" y="42093"/>
                  <a:pt x="272908" y="49460"/>
                  <a:pt x="263789" y="49460"/>
                </a:cubicBezTo>
                <a:lnTo>
                  <a:pt x="205261" y="49460"/>
                </a:lnTo>
                <a:cubicBezTo>
                  <a:pt x="202582" y="62753"/>
                  <a:pt x="193462" y="73727"/>
                  <a:pt x="181355" y="78982"/>
                </a:cubicBezTo>
                <a:lnTo>
                  <a:pt x="181355" y="230815"/>
                </a:lnTo>
                <a:lnTo>
                  <a:pt x="263789" y="230815"/>
                </a:lnTo>
                <a:cubicBezTo>
                  <a:pt x="272908" y="230815"/>
                  <a:pt x="280276" y="238183"/>
                  <a:pt x="280276" y="247302"/>
                </a:cubicBezTo>
                <a:cubicBezTo>
                  <a:pt x="280276" y="256422"/>
                  <a:pt x="272908" y="263789"/>
                  <a:pt x="263789" y="263789"/>
                </a:cubicBezTo>
                <a:lnTo>
                  <a:pt x="65947" y="263789"/>
                </a:lnTo>
                <a:cubicBezTo>
                  <a:pt x="56828" y="263789"/>
                  <a:pt x="49460" y="256422"/>
                  <a:pt x="49460" y="247302"/>
                </a:cubicBezTo>
                <a:cubicBezTo>
                  <a:pt x="49460" y="238183"/>
                  <a:pt x="56828" y="230815"/>
                  <a:pt x="65947" y="230815"/>
                </a:cubicBezTo>
                <a:lnTo>
                  <a:pt x="148381" y="230815"/>
                </a:lnTo>
                <a:lnTo>
                  <a:pt x="148381" y="78982"/>
                </a:lnTo>
                <a:cubicBezTo>
                  <a:pt x="136274" y="73675"/>
                  <a:pt x="127155" y="62701"/>
                  <a:pt x="124475" y="49460"/>
                </a:cubicBezTo>
                <a:lnTo>
                  <a:pt x="65947" y="49460"/>
                </a:lnTo>
                <a:cubicBezTo>
                  <a:pt x="56828" y="49460"/>
                  <a:pt x="49460" y="42093"/>
                  <a:pt x="49460" y="32974"/>
                </a:cubicBezTo>
                <a:cubicBezTo>
                  <a:pt x="49460" y="23854"/>
                  <a:pt x="56828" y="16487"/>
                  <a:pt x="65947" y="16487"/>
                </a:cubicBezTo>
                <a:lnTo>
                  <a:pt x="131895" y="16487"/>
                </a:lnTo>
                <a:cubicBezTo>
                  <a:pt x="139417" y="6492"/>
                  <a:pt x="151370" y="0"/>
                  <a:pt x="164868" y="0"/>
                </a:cubicBezTo>
                <a:cubicBezTo>
                  <a:pt x="178367" y="0"/>
                  <a:pt x="190320" y="6492"/>
                  <a:pt x="197842" y="16487"/>
                </a:cubicBezTo>
                <a:close/>
                <a:moveTo>
                  <a:pt x="226488" y="164868"/>
                </a:moveTo>
                <a:lnTo>
                  <a:pt x="301090" y="164868"/>
                </a:lnTo>
                <a:lnTo>
                  <a:pt x="263789" y="100879"/>
                </a:lnTo>
                <a:lnTo>
                  <a:pt x="226488" y="164868"/>
                </a:lnTo>
                <a:close/>
                <a:moveTo>
                  <a:pt x="263789" y="214329"/>
                </a:moveTo>
                <a:cubicBezTo>
                  <a:pt x="231382" y="214329"/>
                  <a:pt x="204437" y="196811"/>
                  <a:pt x="198872" y="173678"/>
                </a:cubicBezTo>
                <a:cubicBezTo>
                  <a:pt x="197533" y="168011"/>
                  <a:pt x="199387" y="162189"/>
                  <a:pt x="202324" y="157140"/>
                </a:cubicBezTo>
                <a:lnTo>
                  <a:pt x="251372" y="73057"/>
                </a:lnTo>
                <a:cubicBezTo>
                  <a:pt x="253948" y="68626"/>
                  <a:pt x="258688" y="65947"/>
                  <a:pt x="263789" y="65947"/>
                </a:cubicBezTo>
                <a:cubicBezTo>
                  <a:pt x="268890" y="65947"/>
                  <a:pt x="273630" y="68678"/>
                  <a:pt x="276206" y="73057"/>
                </a:cubicBezTo>
                <a:lnTo>
                  <a:pt x="325254" y="157140"/>
                </a:lnTo>
                <a:cubicBezTo>
                  <a:pt x="328191" y="162189"/>
                  <a:pt x="330045" y="168011"/>
                  <a:pt x="328706" y="173678"/>
                </a:cubicBezTo>
                <a:cubicBezTo>
                  <a:pt x="323142" y="196760"/>
                  <a:pt x="296196" y="214329"/>
                  <a:pt x="263789" y="214329"/>
                </a:cubicBezTo>
                <a:close/>
                <a:moveTo>
                  <a:pt x="65329" y="100879"/>
                </a:moveTo>
                <a:lnTo>
                  <a:pt x="28028" y="164868"/>
                </a:lnTo>
                <a:lnTo>
                  <a:pt x="102682" y="164868"/>
                </a:lnTo>
                <a:lnTo>
                  <a:pt x="65329" y="100879"/>
                </a:lnTo>
                <a:close/>
                <a:moveTo>
                  <a:pt x="464" y="173678"/>
                </a:moveTo>
                <a:cubicBezTo>
                  <a:pt x="-876" y="168011"/>
                  <a:pt x="979" y="162189"/>
                  <a:pt x="3916" y="157140"/>
                </a:cubicBezTo>
                <a:lnTo>
                  <a:pt x="52964" y="73057"/>
                </a:lnTo>
                <a:cubicBezTo>
                  <a:pt x="55540" y="68626"/>
                  <a:pt x="60280" y="65947"/>
                  <a:pt x="65381" y="65947"/>
                </a:cubicBezTo>
                <a:cubicBezTo>
                  <a:pt x="70481" y="65947"/>
                  <a:pt x="75221" y="68678"/>
                  <a:pt x="77797" y="73057"/>
                </a:cubicBezTo>
                <a:lnTo>
                  <a:pt x="126845" y="157140"/>
                </a:lnTo>
                <a:cubicBezTo>
                  <a:pt x="129782" y="162189"/>
                  <a:pt x="131637" y="168011"/>
                  <a:pt x="130297" y="173678"/>
                </a:cubicBezTo>
                <a:cubicBezTo>
                  <a:pt x="124733" y="196760"/>
                  <a:pt x="97787" y="214329"/>
                  <a:pt x="65381" y="214329"/>
                </a:cubicBezTo>
                <a:cubicBezTo>
                  <a:pt x="32974" y="214329"/>
                  <a:pt x="6028" y="196811"/>
                  <a:pt x="464" y="17367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9385" y="1231016"/>
            <a:ext cx="7320146" cy="351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77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 vs 逻辑回归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1631" y="1714629"/>
            <a:ext cx="7496005" cy="1231016"/>
          </a:xfrm>
          <a:custGeom>
            <a:avLst/>
            <a:gdLst/>
            <a:ahLst/>
            <a:cxnLst/>
            <a:rect l="l" t="t" r="r" b="b"/>
            <a:pathLst>
              <a:path w="7496005" h="1231016">
                <a:moveTo>
                  <a:pt x="43965" y="0"/>
                </a:moveTo>
                <a:lnTo>
                  <a:pt x="7408074" y="0"/>
                </a:lnTo>
                <a:cubicBezTo>
                  <a:pt x="7456637" y="0"/>
                  <a:pt x="7496005" y="39368"/>
                  <a:pt x="7496005" y="87931"/>
                </a:cubicBezTo>
                <a:lnTo>
                  <a:pt x="7496005" y="1143084"/>
                </a:lnTo>
                <a:cubicBezTo>
                  <a:pt x="7496005" y="1191647"/>
                  <a:pt x="7456637" y="1231016"/>
                  <a:pt x="7408074" y="1231016"/>
                </a:cubicBezTo>
                <a:lnTo>
                  <a:pt x="43965" y="1231016"/>
                </a:lnTo>
                <a:cubicBezTo>
                  <a:pt x="19700" y="1231016"/>
                  <a:pt x="0" y="1211316"/>
                  <a:pt x="0" y="1187051"/>
                </a:cubicBezTo>
                <a:lnTo>
                  <a:pt x="0" y="43965"/>
                </a:lnTo>
                <a:cubicBezTo>
                  <a:pt x="0" y="19700"/>
                  <a:pt x="19700" y="0"/>
                  <a:pt x="4396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1631" y="1714629"/>
            <a:ext cx="43965" cy="1231016"/>
          </a:xfrm>
          <a:custGeom>
            <a:avLst/>
            <a:gdLst/>
            <a:ahLst/>
            <a:cxnLst/>
            <a:rect l="l" t="t" r="r" b="b"/>
            <a:pathLst>
              <a:path w="43965" h="1231016">
                <a:moveTo>
                  <a:pt x="43965" y="0"/>
                </a:moveTo>
                <a:lnTo>
                  <a:pt x="43965" y="0"/>
                </a:lnTo>
                <a:lnTo>
                  <a:pt x="43965" y="1231016"/>
                </a:lnTo>
                <a:lnTo>
                  <a:pt x="43965" y="1231016"/>
                </a:lnTo>
                <a:cubicBezTo>
                  <a:pt x="19684" y="1231016"/>
                  <a:pt x="0" y="1211332"/>
                  <a:pt x="0" y="1187051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2986" y="1901479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25464" y="88295"/>
                </a:moveTo>
                <a:cubicBezTo>
                  <a:pt x="30604" y="52359"/>
                  <a:pt x="61555" y="24730"/>
                  <a:pt x="98921" y="24730"/>
                </a:cubicBezTo>
                <a:cubicBezTo>
                  <a:pt x="119401" y="24730"/>
                  <a:pt x="137948" y="33038"/>
                  <a:pt x="151395" y="46446"/>
                </a:cubicBezTo>
                <a:cubicBezTo>
                  <a:pt x="151473" y="46524"/>
                  <a:pt x="151550" y="46601"/>
                  <a:pt x="151627" y="46678"/>
                </a:cubicBezTo>
                <a:lnTo>
                  <a:pt x="154564" y="49460"/>
                </a:lnTo>
                <a:lnTo>
                  <a:pt x="136055" y="49460"/>
                </a:lnTo>
                <a:cubicBezTo>
                  <a:pt x="129215" y="49460"/>
                  <a:pt x="123690" y="54986"/>
                  <a:pt x="123690" y="61826"/>
                </a:cubicBezTo>
                <a:cubicBezTo>
                  <a:pt x="123690" y="68665"/>
                  <a:pt x="129215" y="74191"/>
                  <a:pt x="136055" y="74191"/>
                </a:cubicBezTo>
                <a:lnTo>
                  <a:pt x="185515" y="74191"/>
                </a:lnTo>
                <a:cubicBezTo>
                  <a:pt x="192355" y="74191"/>
                  <a:pt x="197880" y="68665"/>
                  <a:pt x="197880" y="61826"/>
                </a:cubicBezTo>
                <a:lnTo>
                  <a:pt x="197880" y="12365"/>
                </a:lnTo>
                <a:cubicBezTo>
                  <a:pt x="197880" y="5526"/>
                  <a:pt x="192355" y="0"/>
                  <a:pt x="185515" y="0"/>
                </a:cubicBezTo>
                <a:cubicBezTo>
                  <a:pt x="178676" y="0"/>
                  <a:pt x="173150" y="5526"/>
                  <a:pt x="173150" y="12365"/>
                </a:cubicBezTo>
                <a:lnTo>
                  <a:pt x="173150" y="32999"/>
                </a:lnTo>
                <a:lnTo>
                  <a:pt x="168784" y="28865"/>
                </a:lnTo>
                <a:cubicBezTo>
                  <a:pt x="150893" y="11051"/>
                  <a:pt x="126163" y="0"/>
                  <a:pt x="98921" y="0"/>
                </a:cubicBezTo>
                <a:cubicBezTo>
                  <a:pt x="49074" y="0"/>
                  <a:pt x="7844" y="36863"/>
                  <a:pt x="1005" y="84817"/>
                </a:cubicBezTo>
                <a:cubicBezTo>
                  <a:pt x="39" y="91579"/>
                  <a:pt x="4714" y="97839"/>
                  <a:pt x="11476" y="98805"/>
                </a:cubicBezTo>
                <a:cubicBezTo>
                  <a:pt x="18239" y="99771"/>
                  <a:pt x="24498" y="95057"/>
                  <a:pt x="25464" y="88333"/>
                </a:cubicBezTo>
                <a:close/>
                <a:moveTo>
                  <a:pt x="196837" y="113025"/>
                </a:moveTo>
                <a:cubicBezTo>
                  <a:pt x="197803" y="106263"/>
                  <a:pt x="193089" y="100003"/>
                  <a:pt x="186365" y="99037"/>
                </a:cubicBezTo>
                <a:cubicBezTo>
                  <a:pt x="179642" y="98071"/>
                  <a:pt x="173343" y="102785"/>
                  <a:pt x="172377" y="109509"/>
                </a:cubicBezTo>
                <a:cubicBezTo>
                  <a:pt x="167238" y="145445"/>
                  <a:pt x="136287" y="173073"/>
                  <a:pt x="98921" y="173073"/>
                </a:cubicBezTo>
                <a:cubicBezTo>
                  <a:pt x="78441" y="173073"/>
                  <a:pt x="59894" y="164765"/>
                  <a:pt x="46446" y="151357"/>
                </a:cubicBezTo>
                <a:cubicBezTo>
                  <a:pt x="46369" y="151279"/>
                  <a:pt x="46292" y="151202"/>
                  <a:pt x="46215" y="151125"/>
                </a:cubicBezTo>
                <a:lnTo>
                  <a:pt x="43278" y="148343"/>
                </a:lnTo>
                <a:lnTo>
                  <a:pt x="61787" y="148343"/>
                </a:lnTo>
                <a:cubicBezTo>
                  <a:pt x="68626" y="148343"/>
                  <a:pt x="74152" y="142817"/>
                  <a:pt x="74152" y="135978"/>
                </a:cubicBezTo>
                <a:cubicBezTo>
                  <a:pt x="74152" y="129138"/>
                  <a:pt x="68626" y="123612"/>
                  <a:pt x="61787" y="123612"/>
                </a:cubicBezTo>
                <a:lnTo>
                  <a:pt x="12365" y="123651"/>
                </a:lnTo>
                <a:cubicBezTo>
                  <a:pt x="9081" y="123651"/>
                  <a:pt x="5912" y="124965"/>
                  <a:pt x="3594" y="127322"/>
                </a:cubicBezTo>
                <a:cubicBezTo>
                  <a:pt x="1275" y="129679"/>
                  <a:pt x="-39" y="132809"/>
                  <a:pt x="0" y="136132"/>
                </a:cubicBezTo>
                <a:lnTo>
                  <a:pt x="386" y="185206"/>
                </a:lnTo>
                <a:cubicBezTo>
                  <a:pt x="425" y="192046"/>
                  <a:pt x="6028" y="197533"/>
                  <a:pt x="12867" y="197455"/>
                </a:cubicBezTo>
                <a:cubicBezTo>
                  <a:pt x="19707" y="197378"/>
                  <a:pt x="25194" y="191814"/>
                  <a:pt x="25117" y="184974"/>
                </a:cubicBezTo>
                <a:lnTo>
                  <a:pt x="24962" y="165074"/>
                </a:lnTo>
                <a:lnTo>
                  <a:pt x="29097" y="168977"/>
                </a:lnTo>
                <a:cubicBezTo>
                  <a:pt x="46987" y="186790"/>
                  <a:pt x="71679" y="197842"/>
                  <a:pt x="98921" y="197842"/>
                </a:cubicBezTo>
                <a:cubicBezTo>
                  <a:pt x="148768" y="197842"/>
                  <a:pt x="189998" y="160978"/>
                  <a:pt x="196837" y="11302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306" y="1846523"/>
            <a:ext cx="7056357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损失函数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5508" y="2242207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5508" y="2549961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合页损失（Hinge loss）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84082" y="2242207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逻辑回归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84082" y="2549961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交叉熵损失（log-loss）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1631" y="3077539"/>
            <a:ext cx="7496005" cy="1231016"/>
          </a:xfrm>
          <a:custGeom>
            <a:avLst/>
            <a:gdLst/>
            <a:ahLst/>
            <a:cxnLst/>
            <a:rect l="l" t="t" r="r" b="b"/>
            <a:pathLst>
              <a:path w="7496005" h="1231016">
                <a:moveTo>
                  <a:pt x="43965" y="0"/>
                </a:moveTo>
                <a:lnTo>
                  <a:pt x="7408074" y="0"/>
                </a:lnTo>
                <a:cubicBezTo>
                  <a:pt x="7456637" y="0"/>
                  <a:pt x="7496005" y="39368"/>
                  <a:pt x="7496005" y="87931"/>
                </a:cubicBezTo>
                <a:lnTo>
                  <a:pt x="7496005" y="1143084"/>
                </a:lnTo>
                <a:cubicBezTo>
                  <a:pt x="7496005" y="1191647"/>
                  <a:pt x="7456637" y="1231016"/>
                  <a:pt x="7408074" y="1231016"/>
                </a:cubicBezTo>
                <a:lnTo>
                  <a:pt x="43965" y="1231016"/>
                </a:lnTo>
                <a:cubicBezTo>
                  <a:pt x="19700" y="1231016"/>
                  <a:pt x="0" y="1211316"/>
                  <a:pt x="0" y="1187051"/>
                </a:cubicBezTo>
                <a:lnTo>
                  <a:pt x="0" y="43965"/>
                </a:lnTo>
                <a:cubicBezTo>
                  <a:pt x="0" y="19700"/>
                  <a:pt x="19700" y="0"/>
                  <a:pt x="4396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1631" y="3077539"/>
            <a:ext cx="43965" cy="1231016"/>
          </a:xfrm>
          <a:custGeom>
            <a:avLst/>
            <a:gdLst/>
            <a:ahLst/>
            <a:cxnLst/>
            <a:rect l="l" t="t" r="r" b="b"/>
            <a:pathLst>
              <a:path w="43965" h="1231016">
                <a:moveTo>
                  <a:pt x="43965" y="0"/>
                </a:moveTo>
                <a:lnTo>
                  <a:pt x="43965" y="0"/>
                </a:lnTo>
                <a:lnTo>
                  <a:pt x="43965" y="1231016"/>
                </a:lnTo>
                <a:lnTo>
                  <a:pt x="43965" y="1231016"/>
                </a:lnTo>
                <a:cubicBezTo>
                  <a:pt x="19684" y="1231016"/>
                  <a:pt x="0" y="1211332"/>
                  <a:pt x="0" y="1187051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2986" y="3264389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173112" y="98921"/>
                </a:moveTo>
                <a:cubicBezTo>
                  <a:pt x="173112" y="57974"/>
                  <a:pt x="139868" y="24730"/>
                  <a:pt x="98921" y="24730"/>
                </a:cubicBezTo>
                <a:cubicBezTo>
                  <a:pt x="57974" y="24730"/>
                  <a:pt x="24730" y="57974"/>
                  <a:pt x="24730" y="98921"/>
                </a:cubicBezTo>
                <a:cubicBezTo>
                  <a:pt x="24730" y="139868"/>
                  <a:pt x="57974" y="173112"/>
                  <a:pt x="98921" y="173112"/>
                </a:cubicBezTo>
                <a:cubicBezTo>
                  <a:pt x="139868" y="173112"/>
                  <a:pt x="173112" y="139868"/>
                  <a:pt x="173112" y="98921"/>
                </a:cubicBezTo>
                <a:close/>
                <a:moveTo>
                  <a:pt x="0" y="98921"/>
                </a:moveTo>
                <a:cubicBezTo>
                  <a:pt x="0" y="44325"/>
                  <a:pt x="44325" y="0"/>
                  <a:pt x="98921" y="0"/>
                </a:cubicBezTo>
                <a:cubicBezTo>
                  <a:pt x="153517" y="0"/>
                  <a:pt x="197842" y="44325"/>
                  <a:pt x="197842" y="98921"/>
                </a:cubicBezTo>
                <a:cubicBezTo>
                  <a:pt x="197842" y="153517"/>
                  <a:pt x="153517" y="197842"/>
                  <a:pt x="98921" y="197842"/>
                </a:cubicBezTo>
                <a:cubicBezTo>
                  <a:pt x="44325" y="197842"/>
                  <a:pt x="0" y="153517"/>
                  <a:pt x="0" y="98921"/>
                </a:cubicBezTo>
                <a:close/>
                <a:moveTo>
                  <a:pt x="98921" y="129834"/>
                </a:moveTo>
                <a:cubicBezTo>
                  <a:pt x="115982" y="129834"/>
                  <a:pt x="129834" y="115982"/>
                  <a:pt x="129834" y="98921"/>
                </a:cubicBezTo>
                <a:cubicBezTo>
                  <a:pt x="129834" y="81860"/>
                  <a:pt x="115982" y="68008"/>
                  <a:pt x="98921" y="68008"/>
                </a:cubicBezTo>
                <a:cubicBezTo>
                  <a:pt x="81860" y="68008"/>
                  <a:pt x="68008" y="81860"/>
                  <a:pt x="68008" y="98921"/>
                </a:cubicBezTo>
                <a:cubicBezTo>
                  <a:pt x="68008" y="115982"/>
                  <a:pt x="81860" y="129834"/>
                  <a:pt x="98921" y="129834"/>
                </a:cubicBezTo>
                <a:close/>
                <a:moveTo>
                  <a:pt x="98921" y="43278"/>
                </a:moveTo>
                <a:cubicBezTo>
                  <a:pt x="129631" y="43278"/>
                  <a:pt x="154564" y="68211"/>
                  <a:pt x="154564" y="98921"/>
                </a:cubicBezTo>
                <a:cubicBezTo>
                  <a:pt x="154564" y="129631"/>
                  <a:pt x="129631" y="154564"/>
                  <a:pt x="98921" y="154564"/>
                </a:cubicBezTo>
                <a:cubicBezTo>
                  <a:pt x="68211" y="154564"/>
                  <a:pt x="43278" y="129631"/>
                  <a:pt x="43278" y="98921"/>
                </a:cubicBezTo>
                <a:cubicBezTo>
                  <a:pt x="43278" y="68211"/>
                  <a:pt x="68211" y="43278"/>
                  <a:pt x="98921" y="43278"/>
                </a:cubicBezTo>
                <a:close/>
                <a:moveTo>
                  <a:pt x="86556" y="98921"/>
                </a:moveTo>
                <a:cubicBezTo>
                  <a:pt x="86556" y="92096"/>
                  <a:pt x="92096" y="86556"/>
                  <a:pt x="98921" y="86556"/>
                </a:cubicBezTo>
                <a:cubicBezTo>
                  <a:pt x="105745" y="86556"/>
                  <a:pt x="111286" y="92096"/>
                  <a:pt x="111286" y="98921"/>
                </a:cubicBezTo>
                <a:cubicBezTo>
                  <a:pt x="111286" y="105745"/>
                  <a:pt x="105745" y="111286"/>
                  <a:pt x="98921" y="111286"/>
                </a:cubicBezTo>
                <a:cubicBezTo>
                  <a:pt x="92096" y="111286"/>
                  <a:pt x="86556" y="105745"/>
                  <a:pt x="86556" y="98921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306" y="3209433"/>
            <a:ext cx="7056357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优化目标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5508" y="3605117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5508" y="3912871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最大化分类间隔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84082" y="3605117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逻辑回归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284082" y="3912871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最大化条件概率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1631" y="4440449"/>
            <a:ext cx="7496005" cy="1231016"/>
          </a:xfrm>
          <a:custGeom>
            <a:avLst/>
            <a:gdLst/>
            <a:ahLst/>
            <a:cxnLst/>
            <a:rect l="l" t="t" r="r" b="b"/>
            <a:pathLst>
              <a:path w="7496005" h="1231016">
                <a:moveTo>
                  <a:pt x="43965" y="0"/>
                </a:moveTo>
                <a:lnTo>
                  <a:pt x="7408074" y="0"/>
                </a:lnTo>
                <a:cubicBezTo>
                  <a:pt x="7456637" y="0"/>
                  <a:pt x="7496005" y="39368"/>
                  <a:pt x="7496005" y="87931"/>
                </a:cubicBezTo>
                <a:lnTo>
                  <a:pt x="7496005" y="1143084"/>
                </a:lnTo>
                <a:cubicBezTo>
                  <a:pt x="7496005" y="1191647"/>
                  <a:pt x="7456637" y="1231016"/>
                  <a:pt x="7408074" y="1231016"/>
                </a:cubicBezTo>
                <a:lnTo>
                  <a:pt x="43965" y="1231016"/>
                </a:lnTo>
                <a:cubicBezTo>
                  <a:pt x="19700" y="1231016"/>
                  <a:pt x="0" y="1211316"/>
                  <a:pt x="0" y="1187051"/>
                </a:cubicBezTo>
                <a:lnTo>
                  <a:pt x="0" y="43965"/>
                </a:lnTo>
                <a:cubicBezTo>
                  <a:pt x="0" y="19700"/>
                  <a:pt x="19700" y="0"/>
                  <a:pt x="4396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1631" y="4440449"/>
            <a:ext cx="43965" cy="1231016"/>
          </a:xfrm>
          <a:custGeom>
            <a:avLst/>
            <a:gdLst/>
            <a:ahLst/>
            <a:cxnLst/>
            <a:rect l="l" t="t" r="r" b="b"/>
            <a:pathLst>
              <a:path w="43965" h="1231016">
                <a:moveTo>
                  <a:pt x="43965" y="0"/>
                </a:moveTo>
                <a:lnTo>
                  <a:pt x="43965" y="0"/>
                </a:lnTo>
                <a:lnTo>
                  <a:pt x="43965" y="1231016"/>
                </a:lnTo>
                <a:lnTo>
                  <a:pt x="43965" y="1231016"/>
                </a:lnTo>
                <a:cubicBezTo>
                  <a:pt x="19684" y="1231016"/>
                  <a:pt x="0" y="1211332"/>
                  <a:pt x="0" y="1187051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2986" y="4627300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45094" y="13061"/>
                </a:moveTo>
                <a:cubicBezTo>
                  <a:pt x="46833" y="10704"/>
                  <a:pt x="49615" y="9274"/>
                  <a:pt x="52552" y="9274"/>
                </a:cubicBezTo>
                <a:lnTo>
                  <a:pt x="145290" y="9274"/>
                </a:lnTo>
                <a:cubicBezTo>
                  <a:pt x="148227" y="9274"/>
                  <a:pt x="151009" y="10665"/>
                  <a:pt x="152748" y="13061"/>
                </a:cubicBezTo>
                <a:lnTo>
                  <a:pt x="196026" y="71795"/>
                </a:lnTo>
                <a:cubicBezTo>
                  <a:pt x="198653" y="75350"/>
                  <a:pt x="198383" y="80257"/>
                  <a:pt x="195446" y="83542"/>
                </a:cubicBezTo>
                <a:lnTo>
                  <a:pt x="105799" y="182463"/>
                </a:lnTo>
                <a:cubicBezTo>
                  <a:pt x="104060" y="184395"/>
                  <a:pt x="101548" y="185515"/>
                  <a:pt x="98921" y="185515"/>
                </a:cubicBezTo>
                <a:cubicBezTo>
                  <a:pt x="96293" y="185515"/>
                  <a:pt x="93820" y="184395"/>
                  <a:pt x="92043" y="182463"/>
                </a:cubicBezTo>
                <a:lnTo>
                  <a:pt x="2396" y="83542"/>
                </a:lnTo>
                <a:cubicBezTo>
                  <a:pt x="-580" y="80257"/>
                  <a:pt x="-811" y="75350"/>
                  <a:pt x="1816" y="71795"/>
                </a:cubicBezTo>
                <a:lnTo>
                  <a:pt x="45094" y="13061"/>
                </a:lnTo>
                <a:close/>
                <a:moveTo>
                  <a:pt x="59971" y="28440"/>
                </a:moveTo>
                <a:cubicBezTo>
                  <a:pt x="58696" y="29406"/>
                  <a:pt x="58348" y="31145"/>
                  <a:pt x="59159" y="32497"/>
                </a:cubicBezTo>
                <a:lnTo>
                  <a:pt x="81339" y="69476"/>
                </a:lnTo>
                <a:lnTo>
                  <a:pt x="24460" y="74191"/>
                </a:lnTo>
                <a:cubicBezTo>
                  <a:pt x="22875" y="74307"/>
                  <a:pt x="21639" y="75659"/>
                  <a:pt x="21639" y="77282"/>
                </a:cubicBezTo>
                <a:cubicBezTo>
                  <a:pt x="21639" y="78905"/>
                  <a:pt x="22875" y="80219"/>
                  <a:pt x="24460" y="80373"/>
                </a:cubicBezTo>
                <a:lnTo>
                  <a:pt x="98650" y="86556"/>
                </a:lnTo>
                <a:cubicBezTo>
                  <a:pt x="98805" y="86556"/>
                  <a:pt x="98998" y="86556"/>
                  <a:pt x="99153" y="86556"/>
                </a:cubicBezTo>
                <a:lnTo>
                  <a:pt x="173343" y="80373"/>
                </a:lnTo>
                <a:cubicBezTo>
                  <a:pt x="174928" y="80257"/>
                  <a:pt x="176164" y="78905"/>
                  <a:pt x="176164" y="77282"/>
                </a:cubicBezTo>
                <a:cubicBezTo>
                  <a:pt x="176164" y="75659"/>
                  <a:pt x="174928" y="74345"/>
                  <a:pt x="173343" y="74191"/>
                </a:cubicBezTo>
                <a:lnTo>
                  <a:pt x="116464" y="69438"/>
                </a:lnTo>
                <a:lnTo>
                  <a:pt x="138644" y="32497"/>
                </a:lnTo>
                <a:cubicBezTo>
                  <a:pt x="139455" y="31145"/>
                  <a:pt x="139108" y="29367"/>
                  <a:pt x="137832" y="28440"/>
                </a:cubicBezTo>
                <a:cubicBezTo>
                  <a:pt x="136557" y="27512"/>
                  <a:pt x="134780" y="27667"/>
                  <a:pt x="133698" y="28826"/>
                </a:cubicBezTo>
                <a:lnTo>
                  <a:pt x="98921" y="66540"/>
                </a:lnTo>
                <a:lnTo>
                  <a:pt x="64105" y="28826"/>
                </a:lnTo>
                <a:cubicBezTo>
                  <a:pt x="63023" y="27667"/>
                  <a:pt x="61246" y="27512"/>
                  <a:pt x="59971" y="2844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8306" y="4572343"/>
            <a:ext cx="7056357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稀疏性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5508" y="4968027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15508" y="5275781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由支持向量决定（稀疏）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284082" y="4968027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逻辑回归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284082" y="5275781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由全部样本共同决定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1631" y="5803359"/>
            <a:ext cx="7496005" cy="1231016"/>
          </a:xfrm>
          <a:custGeom>
            <a:avLst/>
            <a:gdLst/>
            <a:ahLst/>
            <a:cxnLst/>
            <a:rect l="l" t="t" r="r" b="b"/>
            <a:pathLst>
              <a:path w="7496005" h="1231016">
                <a:moveTo>
                  <a:pt x="43965" y="0"/>
                </a:moveTo>
                <a:lnTo>
                  <a:pt x="7408074" y="0"/>
                </a:lnTo>
                <a:cubicBezTo>
                  <a:pt x="7456637" y="0"/>
                  <a:pt x="7496005" y="39368"/>
                  <a:pt x="7496005" y="87931"/>
                </a:cubicBezTo>
                <a:lnTo>
                  <a:pt x="7496005" y="1143084"/>
                </a:lnTo>
                <a:cubicBezTo>
                  <a:pt x="7496005" y="1191647"/>
                  <a:pt x="7456637" y="1231016"/>
                  <a:pt x="7408074" y="1231016"/>
                </a:cubicBezTo>
                <a:lnTo>
                  <a:pt x="43965" y="1231016"/>
                </a:lnTo>
                <a:cubicBezTo>
                  <a:pt x="19700" y="1231016"/>
                  <a:pt x="0" y="1211316"/>
                  <a:pt x="0" y="1187051"/>
                </a:cubicBezTo>
                <a:lnTo>
                  <a:pt x="0" y="43965"/>
                </a:lnTo>
                <a:cubicBezTo>
                  <a:pt x="0" y="19700"/>
                  <a:pt x="19700" y="0"/>
                  <a:pt x="4396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1631" y="5803359"/>
            <a:ext cx="43965" cy="1231016"/>
          </a:xfrm>
          <a:custGeom>
            <a:avLst/>
            <a:gdLst/>
            <a:ahLst/>
            <a:cxnLst/>
            <a:rect l="l" t="t" r="r" b="b"/>
            <a:pathLst>
              <a:path w="43965" h="1231016">
                <a:moveTo>
                  <a:pt x="43965" y="0"/>
                </a:moveTo>
                <a:lnTo>
                  <a:pt x="43965" y="0"/>
                </a:lnTo>
                <a:lnTo>
                  <a:pt x="43965" y="1231016"/>
                </a:lnTo>
                <a:lnTo>
                  <a:pt x="43965" y="1231016"/>
                </a:lnTo>
                <a:cubicBezTo>
                  <a:pt x="19684" y="1231016"/>
                  <a:pt x="0" y="1211332"/>
                  <a:pt x="0" y="1187051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2986" y="5990210"/>
            <a:ext cx="197842" cy="197842"/>
          </a:xfrm>
          <a:custGeom>
            <a:avLst/>
            <a:gdLst/>
            <a:ahLst/>
            <a:cxnLst/>
            <a:rect l="l" t="t" r="r" b="b"/>
            <a:pathLst>
              <a:path w="197842" h="197842">
                <a:moveTo>
                  <a:pt x="51702" y="14027"/>
                </a:moveTo>
                <a:cubicBezTo>
                  <a:pt x="55913" y="16963"/>
                  <a:pt x="56918" y="22760"/>
                  <a:pt x="53981" y="26933"/>
                </a:cubicBezTo>
                <a:lnTo>
                  <a:pt x="32342" y="57846"/>
                </a:lnTo>
                <a:cubicBezTo>
                  <a:pt x="30758" y="60087"/>
                  <a:pt x="28285" y="61516"/>
                  <a:pt x="25542" y="61748"/>
                </a:cubicBezTo>
                <a:cubicBezTo>
                  <a:pt x="22798" y="61980"/>
                  <a:pt x="20093" y="61053"/>
                  <a:pt x="18161" y="59121"/>
                </a:cubicBezTo>
                <a:lnTo>
                  <a:pt x="2705" y="43664"/>
                </a:lnTo>
                <a:cubicBezTo>
                  <a:pt x="-889" y="40032"/>
                  <a:pt x="-889" y="34159"/>
                  <a:pt x="2705" y="30526"/>
                </a:cubicBezTo>
                <a:cubicBezTo>
                  <a:pt x="6298" y="26894"/>
                  <a:pt x="12211" y="26933"/>
                  <a:pt x="15843" y="30526"/>
                </a:cubicBezTo>
                <a:lnTo>
                  <a:pt x="23494" y="38177"/>
                </a:lnTo>
                <a:lnTo>
                  <a:pt x="38796" y="16306"/>
                </a:lnTo>
                <a:cubicBezTo>
                  <a:pt x="41732" y="12095"/>
                  <a:pt x="47528" y="11090"/>
                  <a:pt x="51702" y="14027"/>
                </a:cubicBezTo>
                <a:close/>
                <a:moveTo>
                  <a:pt x="51702" y="75852"/>
                </a:moveTo>
                <a:cubicBezTo>
                  <a:pt x="55913" y="78789"/>
                  <a:pt x="56918" y="84585"/>
                  <a:pt x="53981" y="88758"/>
                </a:cubicBezTo>
                <a:lnTo>
                  <a:pt x="32342" y="119671"/>
                </a:lnTo>
                <a:cubicBezTo>
                  <a:pt x="30758" y="121912"/>
                  <a:pt x="28285" y="123342"/>
                  <a:pt x="25542" y="123574"/>
                </a:cubicBezTo>
                <a:cubicBezTo>
                  <a:pt x="22798" y="123806"/>
                  <a:pt x="20093" y="122878"/>
                  <a:pt x="18161" y="120946"/>
                </a:cubicBezTo>
                <a:lnTo>
                  <a:pt x="2705" y="105490"/>
                </a:lnTo>
                <a:cubicBezTo>
                  <a:pt x="-927" y="101858"/>
                  <a:pt x="-927" y="95984"/>
                  <a:pt x="2705" y="92391"/>
                </a:cubicBezTo>
                <a:cubicBezTo>
                  <a:pt x="6337" y="88797"/>
                  <a:pt x="12211" y="88758"/>
                  <a:pt x="15804" y="92391"/>
                </a:cubicBezTo>
                <a:lnTo>
                  <a:pt x="23455" y="100041"/>
                </a:lnTo>
                <a:lnTo>
                  <a:pt x="38757" y="78171"/>
                </a:lnTo>
                <a:cubicBezTo>
                  <a:pt x="41694" y="73959"/>
                  <a:pt x="47490" y="72954"/>
                  <a:pt x="51663" y="75891"/>
                </a:cubicBezTo>
                <a:close/>
                <a:moveTo>
                  <a:pt x="86556" y="37095"/>
                </a:moveTo>
                <a:cubicBezTo>
                  <a:pt x="86556" y="30256"/>
                  <a:pt x="92081" y="24730"/>
                  <a:pt x="98921" y="24730"/>
                </a:cubicBezTo>
                <a:lnTo>
                  <a:pt x="185477" y="24730"/>
                </a:lnTo>
                <a:cubicBezTo>
                  <a:pt x="192316" y="24730"/>
                  <a:pt x="197842" y="30256"/>
                  <a:pt x="197842" y="37095"/>
                </a:cubicBezTo>
                <a:cubicBezTo>
                  <a:pt x="197842" y="43935"/>
                  <a:pt x="192316" y="49460"/>
                  <a:pt x="185477" y="49460"/>
                </a:cubicBezTo>
                <a:lnTo>
                  <a:pt x="98921" y="49460"/>
                </a:lnTo>
                <a:cubicBezTo>
                  <a:pt x="92081" y="49460"/>
                  <a:pt x="86556" y="43935"/>
                  <a:pt x="86556" y="37095"/>
                </a:cubicBezTo>
                <a:close/>
                <a:moveTo>
                  <a:pt x="86556" y="98921"/>
                </a:moveTo>
                <a:cubicBezTo>
                  <a:pt x="86556" y="92081"/>
                  <a:pt x="92081" y="86556"/>
                  <a:pt x="98921" y="86556"/>
                </a:cubicBezTo>
                <a:lnTo>
                  <a:pt x="185477" y="86556"/>
                </a:lnTo>
                <a:cubicBezTo>
                  <a:pt x="192316" y="86556"/>
                  <a:pt x="197842" y="92081"/>
                  <a:pt x="197842" y="98921"/>
                </a:cubicBezTo>
                <a:cubicBezTo>
                  <a:pt x="197842" y="105760"/>
                  <a:pt x="192316" y="111286"/>
                  <a:pt x="185477" y="111286"/>
                </a:cubicBezTo>
                <a:lnTo>
                  <a:pt x="98921" y="111286"/>
                </a:lnTo>
                <a:cubicBezTo>
                  <a:pt x="92081" y="111286"/>
                  <a:pt x="86556" y="105760"/>
                  <a:pt x="86556" y="98921"/>
                </a:cubicBezTo>
                <a:close/>
                <a:moveTo>
                  <a:pt x="61826" y="160746"/>
                </a:moveTo>
                <a:cubicBezTo>
                  <a:pt x="61826" y="153907"/>
                  <a:pt x="67351" y="148381"/>
                  <a:pt x="74191" y="148381"/>
                </a:cubicBezTo>
                <a:lnTo>
                  <a:pt x="185477" y="148381"/>
                </a:lnTo>
                <a:cubicBezTo>
                  <a:pt x="192316" y="148381"/>
                  <a:pt x="197842" y="153907"/>
                  <a:pt x="197842" y="160746"/>
                </a:cubicBezTo>
                <a:cubicBezTo>
                  <a:pt x="197842" y="167586"/>
                  <a:pt x="192316" y="173112"/>
                  <a:pt x="185477" y="173112"/>
                </a:cubicBezTo>
                <a:lnTo>
                  <a:pt x="74191" y="173112"/>
                </a:lnTo>
                <a:cubicBezTo>
                  <a:pt x="67351" y="173112"/>
                  <a:pt x="61826" y="167586"/>
                  <a:pt x="61826" y="160746"/>
                </a:cubicBezTo>
                <a:close/>
                <a:moveTo>
                  <a:pt x="24730" y="145290"/>
                </a:moveTo>
                <a:cubicBezTo>
                  <a:pt x="33261" y="145290"/>
                  <a:pt x="40187" y="152216"/>
                  <a:pt x="40187" y="160746"/>
                </a:cubicBezTo>
                <a:cubicBezTo>
                  <a:pt x="40187" y="169277"/>
                  <a:pt x="33261" y="176203"/>
                  <a:pt x="24730" y="176203"/>
                </a:cubicBezTo>
                <a:cubicBezTo>
                  <a:pt x="16200" y="176203"/>
                  <a:pt x="9274" y="169277"/>
                  <a:pt x="9274" y="160746"/>
                </a:cubicBezTo>
                <a:cubicBezTo>
                  <a:pt x="9274" y="152216"/>
                  <a:pt x="16200" y="145290"/>
                  <a:pt x="24730" y="14529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8306" y="5935254"/>
            <a:ext cx="7056357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适用场景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5508" y="6330937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15508" y="6638691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中小样本、高维、边界复杂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284082" y="6330937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逻辑回归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284082" y="6638691"/>
            <a:ext cx="362709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大样本、需概率输出、可解释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337434" y="1274980"/>
            <a:ext cx="263789" cy="263789"/>
          </a:xfrm>
          <a:custGeom>
            <a:avLst/>
            <a:gdLst/>
            <a:ahLst/>
            <a:cxnLst/>
            <a:rect l="l" t="t" r="r" b="b"/>
            <a:pathLst>
              <a:path w="263789" h="263789">
                <a:moveTo>
                  <a:pt x="61826" y="28852"/>
                </a:moveTo>
                <a:cubicBezTo>
                  <a:pt x="61826" y="12932"/>
                  <a:pt x="74757" y="0"/>
                  <a:pt x="90677" y="0"/>
                </a:cubicBezTo>
                <a:lnTo>
                  <a:pt x="103043" y="0"/>
                </a:lnTo>
                <a:cubicBezTo>
                  <a:pt x="112162" y="0"/>
                  <a:pt x="119529" y="7368"/>
                  <a:pt x="119529" y="16487"/>
                </a:cubicBezTo>
                <a:lnTo>
                  <a:pt x="119529" y="247302"/>
                </a:lnTo>
                <a:cubicBezTo>
                  <a:pt x="119529" y="256422"/>
                  <a:pt x="112162" y="263789"/>
                  <a:pt x="103043" y="263789"/>
                </a:cubicBezTo>
                <a:lnTo>
                  <a:pt x="86556" y="263789"/>
                </a:lnTo>
                <a:cubicBezTo>
                  <a:pt x="71202" y="263789"/>
                  <a:pt x="58271" y="253279"/>
                  <a:pt x="54613" y="239059"/>
                </a:cubicBezTo>
                <a:cubicBezTo>
                  <a:pt x="54252" y="239059"/>
                  <a:pt x="53943" y="239059"/>
                  <a:pt x="53582" y="239059"/>
                </a:cubicBezTo>
                <a:cubicBezTo>
                  <a:pt x="30810" y="239059"/>
                  <a:pt x="12365" y="220614"/>
                  <a:pt x="12365" y="197842"/>
                </a:cubicBezTo>
                <a:cubicBezTo>
                  <a:pt x="12365" y="188568"/>
                  <a:pt x="15456" y="180015"/>
                  <a:pt x="20609" y="173112"/>
                </a:cubicBezTo>
                <a:cubicBezTo>
                  <a:pt x="10613" y="165589"/>
                  <a:pt x="4122" y="153637"/>
                  <a:pt x="4122" y="140138"/>
                </a:cubicBezTo>
                <a:cubicBezTo>
                  <a:pt x="4122" y="124218"/>
                  <a:pt x="13189" y="110359"/>
                  <a:pt x="26379" y="103506"/>
                </a:cubicBezTo>
                <a:cubicBezTo>
                  <a:pt x="22721" y="97324"/>
                  <a:pt x="20609" y="90111"/>
                  <a:pt x="20609" y="82434"/>
                </a:cubicBezTo>
                <a:cubicBezTo>
                  <a:pt x="20609" y="59662"/>
                  <a:pt x="39053" y="41217"/>
                  <a:pt x="61826" y="41217"/>
                </a:cubicBezTo>
                <a:lnTo>
                  <a:pt x="61826" y="28852"/>
                </a:lnTo>
                <a:close/>
                <a:moveTo>
                  <a:pt x="201963" y="28852"/>
                </a:moveTo>
                <a:lnTo>
                  <a:pt x="201963" y="41217"/>
                </a:lnTo>
                <a:cubicBezTo>
                  <a:pt x="224736" y="41217"/>
                  <a:pt x="243181" y="59662"/>
                  <a:pt x="243181" y="82434"/>
                </a:cubicBezTo>
                <a:cubicBezTo>
                  <a:pt x="243181" y="90162"/>
                  <a:pt x="241068" y="97375"/>
                  <a:pt x="237410" y="103506"/>
                </a:cubicBezTo>
                <a:cubicBezTo>
                  <a:pt x="250651" y="110359"/>
                  <a:pt x="259667" y="124166"/>
                  <a:pt x="259667" y="140138"/>
                </a:cubicBezTo>
                <a:cubicBezTo>
                  <a:pt x="259667" y="153637"/>
                  <a:pt x="253176" y="165589"/>
                  <a:pt x="243181" y="173112"/>
                </a:cubicBezTo>
                <a:cubicBezTo>
                  <a:pt x="248333" y="180015"/>
                  <a:pt x="251424" y="188568"/>
                  <a:pt x="251424" y="197842"/>
                </a:cubicBezTo>
                <a:cubicBezTo>
                  <a:pt x="251424" y="220614"/>
                  <a:pt x="232979" y="239059"/>
                  <a:pt x="210207" y="239059"/>
                </a:cubicBezTo>
                <a:cubicBezTo>
                  <a:pt x="209846" y="239059"/>
                  <a:pt x="209537" y="239059"/>
                  <a:pt x="209176" y="239059"/>
                </a:cubicBezTo>
                <a:cubicBezTo>
                  <a:pt x="205518" y="253279"/>
                  <a:pt x="192587" y="263789"/>
                  <a:pt x="177233" y="263789"/>
                </a:cubicBezTo>
                <a:lnTo>
                  <a:pt x="160746" y="263789"/>
                </a:lnTo>
                <a:cubicBezTo>
                  <a:pt x="151627" y="263789"/>
                  <a:pt x="144260" y="256422"/>
                  <a:pt x="144260" y="247302"/>
                </a:cubicBezTo>
                <a:lnTo>
                  <a:pt x="144260" y="16487"/>
                </a:lnTo>
                <a:cubicBezTo>
                  <a:pt x="144260" y="7368"/>
                  <a:pt x="151627" y="0"/>
                  <a:pt x="160746" y="0"/>
                </a:cubicBezTo>
                <a:lnTo>
                  <a:pt x="173112" y="0"/>
                </a:lnTo>
                <a:cubicBezTo>
                  <a:pt x="189032" y="0"/>
                  <a:pt x="201963" y="12932"/>
                  <a:pt x="201963" y="2885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634197" y="1231016"/>
            <a:ext cx="7320146" cy="351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77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深度思考问题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326443" y="1714629"/>
            <a:ext cx="7496005" cy="2066348"/>
          </a:xfrm>
          <a:custGeom>
            <a:avLst/>
            <a:gdLst/>
            <a:ahLst/>
            <a:cxnLst/>
            <a:rect l="l" t="t" r="r" b="b"/>
            <a:pathLst>
              <a:path w="7496005" h="2066348">
                <a:moveTo>
                  <a:pt x="43965" y="0"/>
                </a:moveTo>
                <a:lnTo>
                  <a:pt x="7408082" y="0"/>
                </a:lnTo>
                <a:cubicBezTo>
                  <a:pt x="7456641" y="0"/>
                  <a:pt x="7496005" y="39365"/>
                  <a:pt x="7496005" y="87923"/>
                </a:cubicBezTo>
                <a:lnTo>
                  <a:pt x="7496005" y="1978424"/>
                </a:lnTo>
                <a:cubicBezTo>
                  <a:pt x="7496005" y="2026983"/>
                  <a:pt x="7456641" y="2066348"/>
                  <a:pt x="7408082" y="2066348"/>
                </a:cubicBezTo>
                <a:lnTo>
                  <a:pt x="43965" y="2066348"/>
                </a:lnTo>
                <a:cubicBezTo>
                  <a:pt x="19684" y="2066348"/>
                  <a:pt x="0" y="2046664"/>
                  <a:pt x="0" y="2022383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326443" y="1714629"/>
            <a:ext cx="43965" cy="2066348"/>
          </a:xfrm>
          <a:custGeom>
            <a:avLst/>
            <a:gdLst/>
            <a:ahLst/>
            <a:cxnLst/>
            <a:rect l="l" t="t" r="r" b="b"/>
            <a:pathLst>
              <a:path w="43965" h="2066348">
                <a:moveTo>
                  <a:pt x="43965" y="0"/>
                </a:moveTo>
                <a:lnTo>
                  <a:pt x="43965" y="0"/>
                </a:lnTo>
                <a:lnTo>
                  <a:pt x="43965" y="2066348"/>
                </a:lnTo>
                <a:lnTo>
                  <a:pt x="43965" y="2066348"/>
                </a:lnTo>
                <a:cubicBezTo>
                  <a:pt x="19684" y="2066348"/>
                  <a:pt x="0" y="2046664"/>
                  <a:pt x="0" y="2022383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524285" y="1890488"/>
            <a:ext cx="439648" cy="439648"/>
          </a:xfrm>
          <a:custGeom>
            <a:avLst/>
            <a:gdLst/>
            <a:ahLst/>
            <a:cxnLst/>
            <a:rect l="l" t="t" r="r" b="b"/>
            <a:pathLst>
              <a:path w="439648" h="439648">
                <a:moveTo>
                  <a:pt x="219824" y="0"/>
                </a:moveTo>
                <a:lnTo>
                  <a:pt x="219824" y="0"/>
                </a:lnTo>
                <a:cubicBezTo>
                  <a:pt x="341230" y="0"/>
                  <a:pt x="439648" y="98419"/>
                  <a:pt x="439648" y="219824"/>
                </a:cubicBezTo>
                <a:lnTo>
                  <a:pt x="439648" y="219824"/>
                </a:lnTo>
                <a:cubicBezTo>
                  <a:pt x="439648" y="341230"/>
                  <a:pt x="341230" y="439648"/>
                  <a:pt x="219824" y="439648"/>
                </a:cubicBezTo>
                <a:lnTo>
                  <a:pt x="219824" y="439648"/>
                </a:lnTo>
                <a:cubicBezTo>
                  <a:pt x="98419" y="439648"/>
                  <a:pt x="0" y="341230"/>
                  <a:pt x="0" y="219824"/>
                </a:cubicBezTo>
                <a:lnTo>
                  <a:pt x="0" y="219824"/>
                </a:lnTo>
                <a:cubicBezTo>
                  <a:pt x="0" y="98419"/>
                  <a:pt x="98419" y="0"/>
                  <a:pt x="21982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705210" y="1956435"/>
            <a:ext cx="175859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1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139792" y="1890488"/>
            <a:ext cx="4088730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超参数的极端情况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9139792" y="2286172"/>
            <a:ext cx="407773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C非常大：</a:t>
            </a: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对误分类惩罚更强，间隔变窄，易过拟合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139792" y="2637890"/>
            <a:ext cx="407773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C非常小：</a:t>
            </a: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边界更平滑，易欠拟合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139792" y="2989609"/>
            <a:ext cx="407773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γ非常大：</a:t>
            </a: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边界非常弯曲，易过拟合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139792" y="3341328"/>
            <a:ext cx="407773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γ非常小：</a:t>
            </a: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边界复杂度下降，易欠拟合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326443" y="3912871"/>
            <a:ext cx="7496005" cy="1318945"/>
          </a:xfrm>
          <a:custGeom>
            <a:avLst/>
            <a:gdLst/>
            <a:ahLst/>
            <a:cxnLst/>
            <a:rect l="l" t="t" r="r" b="b"/>
            <a:pathLst>
              <a:path w="7496005" h="1318945">
                <a:moveTo>
                  <a:pt x="43965" y="0"/>
                </a:moveTo>
                <a:lnTo>
                  <a:pt x="7408071" y="0"/>
                </a:lnTo>
                <a:cubicBezTo>
                  <a:pt x="7456636" y="0"/>
                  <a:pt x="7496005" y="39369"/>
                  <a:pt x="7496005" y="87934"/>
                </a:cubicBezTo>
                <a:lnTo>
                  <a:pt x="7496005" y="1231011"/>
                </a:lnTo>
                <a:cubicBezTo>
                  <a:pt x="7496005" y="1279576"/>
                  <a:pt x="7456636" y="1318945"/>
                  <a:pt x="7408071" y="1318945"/>
                </a:cubicBezTo>
                <a:lnTo>
                  <a:pt x="43965" y="1318945"/>
                </a:lnTo>
                <a:cubicBezTo>
                  <a:pt x="19684" y="1318945"/>
                  <a:pt x="0" y="1299262"/>
                  <a:pt x="0" y="1274980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326443" y="3912871"/>
            <a:ext cx="43965" cy="1318945"/>
          </a:xfrm>
          <a:custGeom>
            <a:avLst/>
            <a:gdLst/>
            <a:ahLst/>
            <a:cxnLst/>
            <a:rect l="l" t="t" r="r" b="b"/>
            <a:pathLst>
              <a:path w="43965" h="1318945">
                <a:moveTo>
                  <a:pt x="43965" y="0"/>
                </a:moveTo>
                <a:lnTo>
                  <a:pt x="43965" y="0"/>
                </a:lnTo>
                <a:lnTo>
                  <a:pt x="43965" y="1318945"/>
                </a:lnTo>
                <a:lnTo>
                  <a:pt x="43965" y="1318945"/>
                </a:lnTo>
                <a:cubicBezTo>
                  <a:pt x="19684" y="1318945"/>
                  <a:pt x="0" y="1299262"/>
                  <a:pt x="0" y="1274980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524285" y="4088730"/>
            <a:ext cx="439648" cy="439648"/>
          </a:xfrm>
          <a:custGeom>
            <a:avLst/>
            <a:gdLst/>
            <a:ahLst/>
            <a:cxnLst/>
            <a:rect l="l" t="t" r="r" b="b"/>
            <a:pathLst>
              <a:path w="439648" h="439648">
                <a:moveTo>
                  <a:pt x="219824" y="0"/>
                </a:moveTo>
                <a:lnTo>
                  <a:pt x="219824" y="0"/>
                </a:lnTo>
                <a:cubicBezTo>
                  <a:pt x="341230" y="0"/>
                  <a:pt x="439648" y="98419"/>
                  <a:pt x="439648" y="219824"/>
                </a:cubicBezTo>
                <a:lnTo>
                  <a:pt x="439648" y="219824"/>
                </a:lnTo>
                <a:cubicBezTo>
                  <a:pt x="439648" y="341230"/>
                  <a:pt x="341230" y="439648"/>
                  <a:pt x="219824" y="439648"/>
                </a:cubicBezTo>
                <a:lnTo>
                  <a:pt x="219824" y="439648"/>
                </a:lnTo>
                <a:cubicBezTo>
                  <a:pt x="98419" y="439648"/>
                  <a:pt x="0" y="341230"/>
                  <a:pt x="0" y="219824"/>
                </a:cubicBezTo>
                <a:lnTo>
                  <a:pt x="0" y="219824"/>
                </a:lnTo>
                <a:cubicBezTo>
                  <a:pt x="0" y="98419"/>
                  <a:pt x="98419" y="0"/>
                  <a:pt x="219824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688466" y="4154677"/>
            <a:ext cx="208833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2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139792" y="4088730"/>
            <a:ext cx="6605717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去掉标准化的影响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139792" y="4484414"/>
            <a:ext cx="6594726" cy="571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移除StandardScaler后，距离/内积会被量纲大的特征主导，影响间隔与核函数计算，导致支持向量选择与决策边界位置变化，准确率下降。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326443" y="5363711"/>
            <a:ext cx="7496005" cy="1560752"/>
          </a:xfrm>
          <a:custGeom>
            <a:avLst/>
            <a:gdLst/>
            <a:ahLst/>
            <a:cxnLst/>
            <a:rect l="l" t="t" r="r" b="b"/>
            <a:pathLst>
              <a:path w="7496005" h="1560752">
                <a:moveTo>
                  <a:pt x="43965" y="0"/>
                </a:moveTo>
                <a:lnTo>
                  <a:pt x="7408073" y="0"/>
                </a:lnTo>
                <a:cubicBezTo>
                  <a:pt x="7456637" y="0"/>
                  <a:pt x="7496005" y="39369"/>
                  <a:pt x="7496005" y="87933"/>
                </a:cubicBezTo>
                <a:lnTo>
                  <a:pt x="7496005" y="1472819"/>
                </a:lnTo>
                <a:cubicBezTo>
                  <a:pt x="7496005" y="1521383"/>
                  <a:pt x="7456637" y="1560752"/>
                  <a:pt x="7408073" y="1560752"/>
                </a:cubicBezTo>
                <a:lnTo>
                  <a:pt x="43965" y="1560752"/>
                </a:lnTo>
                <a:cubicBezTo>
                  <a:pt x="19684" y="1560752"/>
                  <a:pt x="0" y="1541068"/>
                  <a:pt x="0" y="151678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326443" y="5363711"/>
            <a:ext cx="43965" cy="1560752"/>
          </a:xfrm>
          <a:custGeom>
            <a:avLst/>
            <a:gdLst/>
            <a:ahLst/>
            <a:cxnLst/>
            <a:rect l="l" t="t" r="r" b="b"/>
            <a:pathLst>
              <a:path w="43965" h="1560752">
                <a:moveTo>
                  <a:pt x="43965" y="0"/>
                </a:moveTo>
                <a:lnTo>
                  <a:pt x="43965" y="0"/>
                </a:lnTo>
                <a:lnTo>
                  <a:pt x="43965" y="1560752"/>
                </a:lnTo>
                <a:lnTo>
                  <a:pt x="43965" y="1560752"/>
                </a:lnTo>
                <a:cubicBezTo>
                  <a:pt x="19684" y="1560752"/>
                  <a:pt x="0" y="1541068"/>
                  <a:pt x="0" y="1516787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524285" y="5539570"/>
            <a:ext cx="439648" cy="439648"/>
          </a:xfrm>
          <a:custGeom>
            <a:avLst/>
            <a:gdLst/>
            <a:ahLst/>
            <a:cxnLst/>
            <a:rect l="l" t="t" r="r" b="b"/>
            <a:pathLst>
              <a:path w="439648" h="439648">
                <a:moveTo>
                  <a:pt x="219824" y="0"/>
                </a:moveTo>
                <a:lnTo>
                  <a:pt x="219824" y="0"/>
                </a:lnTo>
                <a:cubicBezTo>
                  <a:pt x="341230" y="0"/>
                  <a:pt x="439648" y="98419"/>
                  <a:pt x="439648" y="219824"/>
                </a:cubicBezTo>
                <a:lnTo>
                  <a:pt x="439648" y="219824"/>
                </a:lnTo>
                <a:cubicBezTo>
                  <a:pt x="439648" y="341230"/>
                  <a:pt x="341230" y="439648"/>
                  <a:pt x="219824" y="439648"/>
                </a:cubicBezTo>
                <a:lnTo>
                  <a:pt x="219824" y="439648"/>
                </a:lnTo>
                <a:cubicBezTo>
                  <a:pt x="98419" y="439648"/>
                  <a:pt x="0" y="341230"/>
                  <a:pt x="0" y="219824"/>
                </a:cubicBezTo>
                <a:lnTo>
                  <a:pt x="0" y="219824"/>
                </a:lnTo>
                <a:cubicBezTo>
                  <a:pt x="0" y="98419"/>
                  <a:pt x="98419" y="0"/>
                  <a:pt x="219824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685890" y="5605517"/>
            <a:ext cx="219824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3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139792" y="5539570"/>
            <a:ext cx="6605717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线性核 vs RBF核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9139792" y="5935254"/>
            <a:ext cx="6594726" cy="285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在Iris这类数据上，对比kernel="linear"与kernel="rbf"的表现。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9139792" y="6308955"/>
            <a:ext cx="6583735" cy="439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D8F8A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预期：Linear训练预测更快，可解释性强；RBF能表达非线性边界，更适合versicolor与virginica的复杂分界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8326443" y="7056357"/>
            <a:ext cx="7496005" cy="1362910"/>
          </a:xfrm>
          <a:custGeom>
            <a:avLst/>
            <a:gdLst/>
            <a:ahLst/>
            <a:cxnLst/>
            <a:rect l="l" t="t" r="r" b="b"/>
            <a:pathLst>
              <a:path w="7496005" h="1362910">
                <a:moveTo>
                  <a:pt x="43965" y="0"/>
                </a:moveTo>
                <a:lnTo>
                  <a:pt x="7408070" y="0"/>
                </a:lnTo>
                <a:cubicBezTo>
                  <a:pt x="7456636" y="0"/>
                  <a:pt x="7496005" y="39370"/>
                  <a:pt x="7496005" y="87935"/>
                </a:cubicBezTo>
                <a:lnTo>
                  <a:pt x="7496005" y="1274975"/>
                </a:lnTo>
                <a:cubicBezTo>
                  <a:pt x="7496005" y="1323540"/>
                  <a:pt x="7456636" y="1362910"/>
                  <a:pt x="7408070" y="1362910"/>
                </a:cubicBezTo>
                <a:lnTo>
                  <a:pt x="43965" y="1362910"/>
                </a:lnTo>
                <a:cubicBezTo>
                  <a:pt x="19700" y="1362910"/>
                  <a:pt x="0" y="1343210"/>
                  <a:pt x="0" y="1318945"/>
                </a:cubicBezTo>
                <a:lnTo>
                  <a:pt x="0" y="43965"/>
                </a:lnTo>
                <a:cubicBezTo>
                  <a:pt x="0" y="19700"/>
                  <a:pt x="19700" y="0"/>
                  <a:pt x="43965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326443" y="7056357"/>
            <a:ext cx="43965" cy="1362910"/>
          </a:xfrm>
          <a:custGeom>
            <a:avLst/>
            <a:gdLst/>
            <a:ahLst/>
            <a:cxnLst/>
            <a:rect l="l" t="t" r="r" b="b"/>
            <a:pathLst>
              <a:path w="43965" h="1362910">
                <a:moveTo>
                  <a:pt x="43965" y="0"/>
                </a:moveTo>
                <a:lnTo>
                  <a:pt x="43965" y="0"/>
                </a:lnTo>
                <a:lnTo>
                  <a:pt x="43965" y="1362910"/>
                </a:lnTo>
                <a:lnTo>
                  <a:pt x="43965" y="1362910"/>
                </a:lnTo>
                <a:cubicBezTo>
                  <a:pt x="19684" y="1362910"/>
                  <a:pt x="0" y="1343226"/>
                  <a:pt x="0" y="1318945"/>
                </a:cubicBezTo>
                <a:lnTo>
                  <a:pt x="0" y="43965"/>
                </a:lnTo>
                <a:cubicBezTo>
                  <a:pt x="0" y="19684"/>
                  <a:pt x="19684" y="0"/>
                  <a:pt x="43965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524285" y="7232216"/>
            <a:ext cx="439648" cy="439648"/>
          </a:xfrm>
          <a:custGeom>
            <a:avLst/>
            <a:gdLst/>
            <a:ahLst/>
            <a:cxnLst/>
            <a:rect l="l" t="t" r="r" b="b"/>
            <a:pathLst>
              <a:path w="439648" h="439648">
                <a:moveTo>
                  <a:pt x="219824" y="0"/>
                </a:moveTo>
                <a:lnTo>
                  <a:pt x="219824" y="0"/>
                </a:lnTo>
                <a:cubicBezTo>
                  <a:pt x="341230" y="0"/>
                  <a:pt x="439648" y="98419"/>
                  <a:pt x="439648" y="219824"/>
                </a:cubicBezTo>
                <a:lnTo>
                  <a:pt x="439648" y="219824"/>
                </a:lnTo>
                <a:cubicBezTo>
                  <a:pt x="439648" y="341230"/>
                  <a:pt x="341230" y="439648"/>
                  <a:pt x="219824" y="439648"/>
                </a:cubicBezTo>
                <a:lnTo>
                  <a:pt x="219824" y="439648"/>
                </a:lnTo>
                <a:cubicBezTo>
                  <a:pt x="98419" y="439648"/>
                  <a:pt x="0" y="341230"/>
                  <a:pt x="0" y="219824"/>
                </a:cubicBezTo>
                <a:lnTo>
                  <a:pt x="0" y="219824"/>
                </a:lnTo>
                <a:cubicBezTo>
                  <a:pt x="0" y="98419"/>
                  <a:pt x="98419" y="0"/>
                  <a:pt x="219824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686062" y="7298164"/>
            <a:ext cx="219824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D2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4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9139792" y="7232216"/>
            <a:ext cx="4451440" cy="307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多分类策略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9139792" y="7627900"/>
            <a:ext cx="444044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OvR（一对多）：</a:t>
            </a: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训练K个二分类器，预测时选得分最高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9139792" y="7979619"/>
            <a:ext cx="4440449" cy="26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E5A165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OvO（一对一）：</a:t>
            </a:r>
            <a:r>
              <a:rPr lang="en-US" sz="1400" dirty="0">
                <a:solidFill>
                  <a:srgbClr val="E0E2E6">
                    <a:alpha val="80000"/>
                  </a:srgbClr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训练K(K-1)/2个分类器，投票决定类别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lus.unsplash.com/403792017356ecac1b1baa060db7883c3ec5c6ac"/>
          <p:cNvPicPr>
            <a:picLocks noChangeAspect="1"/>
          </p:cNvPicPr>
          <p:nvPr/>
        </p:nvPicPr>
        <p:blipFill>
          <a:blip r:embed="rId3">
            <a:alphaModFix amt="40000"/>
          </a:blip>
          <a:srcRect t="7813" b="7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E5A165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070600" y="260350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7200" dirty="0" err="1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总结</a:t>
            </a:r>
            <a:endParaRPr lang="en-US" sz="7200" dirty="0">
              <a:solidFill>
                <a:srgbClr val="E0E2E6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0E2E6">
                    <a:alpha val="90000"/>
                  </a:srgbClr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从基础到进阶，从理论到实践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0E2E6">
                    <a:alpha val="90000"/>
                  </a:srgbClr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掌握算法精髓，提升实战能力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0" y="4191000"/>
            <a:ext cx="1625600" cy="0"/>
          </a:xfrm>
          <a:custGeom>
            <a:avLst/>
            <a:gdLst/>
            <a:ahLst/>
            <a:cxnLst/>
            <a:rect l="l" t="t" r="r" b="b"/>
            <a:pathLst>
              <a:path w="1625600">
                <a:moveTo>
                  <a:pt x="0" y="0"/>
                </a:moveTo>
                <a:lnTo>
                  <a:pt x="1625600" y="0"/>
                </a:lnTo>
                <a:lnTo>
                  <a:pt x="16256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689600" y="6019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943600" y="6273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524500" y="69850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理解原理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32400" y="7493000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深入算法核心思想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21600" y="6019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E5A16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7956550" y="6273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7556500" y="69850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动手实践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66000" y="7493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代码实现与调优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753600" y="6019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3D8F8A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0007600" y="6273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9588500" y="69850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持续精进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398000" y="74930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探索更高级算法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031" y="455031"/>
            <a:ext cx="15550701" cy="45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25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算法总结与选择策略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5031" y="1046572"/>
            <a:ext cx="910063" cy="45503"/>
          </a:xfrm>
          <a:custGeom>
            <a:avLst/>
            <a:gdLst/>
            <a:ahLst/>
            <a:cxnLst/>
            <a:rect l="l" t="t" r="r" b="b"/>
            <a:pathLst>
              <a:path w="910063" h="45503">
                <a:moveTo>
                  <a:pt x="0" y="0"/>
                </a:moveTo>
                <a:lnTo>
                  <a:pt x="910063" y="0"/>
                </a:lnTo>
                <a:lnTo>
                  <a:pt x="910063" y="45503"/>
                </a:lnTo>
                <a:lnTo>
                  <a:pt x="0" y="45503"/>
                </a:lnTo>
                <a:lnTo>
                  <a:pt x="0" y="0"/>
                </a:ln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77783" y="1274088"/>
            <a:ext cx="4914340" cy="1956635"/>
          </a:xfrm>
          <a:custGeom>
            <a:avLst/>
            <a:gdLst/>
            <a:ahLst/>
            <a:cxnLst/>
            <a:rect l="l" t="t" r="r" b="b"/>
            <a:pathLst>
              <a:path w="4914340" h="1956635">
                <a:moveTo>
                  <a:pt x="45503" y="0"/>
                </a:moveTo>
                <a:lnTo>
                  <a:pt x="4823337" y="0"/>
                </a:lnTo>
                <a:cubicBezTo>
                  <a:pt x="4873597" y="0"/>
                  <a:pt x="4914340" y="40743"/>
                  <a:pt x="4914340" y="91003"/>
                </a:cubicBezTo>
                <a:lnTo>
                  <a:pt x="4914340" y="1865632"/>
                </a:lnTo>
                <a:cubicBezTo>
                  <a:pt x="4914340" y="1915892"/>
                  <a:pt x="4873597" y="1956635"/>
                  <a:pt x="4823337" y="1956635"/>
                </a:cubicBez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7783" y="1274088"/>
            <a:ext cx="45503" cy="1956635"/>
          </a:xfrm>
          <a:custGeom>
            <a:avLst/>
            <a:gdLst/>
            <a:ahLst/>
            <a:cxnLst/>
            <a:rect l="l" t="t" r="r" b="b"/>
            <a:pathLst>
              <a:path w="45503" h="1956635">
                <a:moveTo>
                  <a:pt x="45503" y="0"/>
                </a:moveTo>
                <a:lnTo>
                  <a:pt x="45503" y="0"/>
                </a:lnTo>
                <a:lnTo>
                  <a:pt x="45503" y="1956635"/>
                </a:ln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82547" y="1456101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227516" y="0"/>
                </a:moveTo>
                <a:lnTo>
                  <a:pt x="227516" y="0"/>
                </a:lnTo>
                <a:cubicBezTo>
                  <a:pt x="353169" y="0"/>
                  <a:pt x="455031" y="101862"/>
                  <a:pt x="455031" y="227516"/>
                </a:cubicBezTo>
                <a:lnTo>
                  <a:pt x="455031" y="227516"/>
                </a:lnTo>
                <a:cubicBezTo>
                  <a:pt x="455031" y="353169"/>
                  <a:pt x="353169" y="455031"/>
                  <a:pt x="227516" y="455031"/>
                </a:cubicBezTo>
                <a:lnTo>
                  <a:pt x="227516" y="455031"/>
                </a:lnTo>
                <a:cubicBezTo>
                  <a:pt x="101862" y="455031"/>
                  <a:pt x="0" y="353169"/>
                  <a:pt x="0" y="227516"/>
                </a:cubicBezTo>
                <a:lnTo>
                  <a:pt x="0" y="227516"/>
                </a:lnTo>
                <a:cubicBezTo>
                  <a:pt x="0" y="101862"/>
                  <a:pt x="101862" y="0"/>
                  <a:pt x="22751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69803" y="1524355"/>
            <a:ext cx="182013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4088" y="1524355"/>
            <a:ext cx="1023821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9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线性回归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2547" y="2047642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简单、可解释、高效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2547" y="2411667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线性关系、基线模型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2547" y="2775692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正则化、特征工程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85316" y="1274088"/>
            <a:ext cx="4914340" cy="1956635"/>
          </a:xfrm>
          <a:custGeom>
            <a:avLst/>
            <a:gdLst/>
            <a:ahLst/>
            <a:cxnLst/>
            <a:rect l="l" t="t" r="r" b="b"/>
            <a:pathLst>
              <a:path w="4914340" h="1956635">
                <a:moveTo>
                  <a:pt x="45503" y="0"/>
                </a:moveTo>
                <a:lnTo>
                  <a:pt x="4823337" y="0"/>
                </a:lnTo>
                <a:cubicBezTo>
                  <a:pt x="4873597" y="0"/>
                  <a:pt x="4914340" y="40743"/>
                  <a:pt x="4914340" y="91003"/>
                </a:cubicBezTo>
                <a:lnTo>
                  <a:pt x="4914340" y="1865632"/>
                </a:lnTo>
                <a:cubicBezTo>
                  <a:pt x="4914340" y="1915892"/>
                  <a:pt x="4873597" y="1956635"/>
                  <a:pt x="4823337" y="1956635"/>
                </a:cubicBez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685316" y="1274088"/>
            <a:ext cx="45503" cy="1956635"/>
          </a:xfrm>
          <a:custGeom>
            <a:avLst/>
            <a:gdLst/>
            <a:ahLst/>
            <a:cxnLst/>
            <a:rect l="l" t="t" r="r" b="b"/>
            <a:pathLst>
              <a:path w="45503" h="1956635">
                <a:moveTo>
                  <a:pt x="45503" y="0"/>
                </a:moveTo>
                <a:lnTo>
                  <a:pt x="45503" y="0"/>
                </a:lnTo>
                <a:lnTo>
                  <a:pt x="45503" y="1956635"/>
                </a:ln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890080" y="1456101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227516" y="0"/>
                </a:moveTo>
                <a:lnTo>
                  <a:pt x="227516" y="0"/>
                </a:lnTo>
                <a:cubicBezTo>
                  <a:pt x="353169" y="0"/>
                  <a:pt x="455031" y="101862"/>
                  <a:pt x="455031" y="227516"/>
                </a:cubicBezTo>
                <a:lnTo>
                  <a:pt x="455031" y="227516"/>
                </a:lnTo>
                <a:cubicBezTo>
                  <a:pt x="455031" y="353169"/>
                  <a:pt x="353169" y="455031"/>
                  <a:pt x="227516" y="455031"/>
                </a:cubicBezTo>
                <a:lnTo>
                  <a:pt x="227516" y="455031"/>
                </a:lnTo>
                <a:cubicBezTo>
                  <a:pt x="101862" y="455031"/>
                  <a:pt x="0" y="353169"/>
                  <a:pt x="0" y="227516"/>
                </a:cubicBezTo>
                <a:lnTo>
                  <a:pt x="0" y="227516"/>
                </a:lnTo>
                <a:cubicBezTo>
                  <a:pt x="0" y="101862"/>
                  <a:pt x="101862" y="0"/>
                  <a:pt x="227516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060006" y="1524355"/>
            <a:ext cx="216140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81621" y="1524355"/>
            <a:ext cx="1023821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9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逻辑回归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90080" y="2047642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概率输出、可解释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90080" y="2411667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分类任务、不平衡数据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0080" y="2775692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正则化、SMOTE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892850" y="1274088"/>
            <a:ext cx="4914340" cy="1956635"/>
          </a:xfrm>
          <a:custGeom>
            <a:avLst/>
            <a:gdLst/>
            <a:ahLst/>
            <a:cxnLst/>
            <a:rect l="l" t="t" r="r" b="b"/>
            <a:pathLst>
              <a:path w="4914340" h="1956635">
                <a:moveTo>
                  <a:pt x="45503" y="0"/>
                </a:moveTo>
                <a:lnTo>
                  <a:pt x="4823337" y="0"/>
                </a:lnTo>
                <a:cubicBezTo>
                  <a:pt x="4873597" y="0"/>
                  <a:pt x="4914340" y="40743"/>
                  <a:pt x="4914340" y="91003"/>
                </a:cubicBezTo>
                <a:lnTo>
                  <a:pt x="4914340" y="1865632"/>
                </a:lnTo>
                <a:cubicBezTo>
                  <a:pt x="4914340" y="1915892"/>
                  <a:pt x="4873597" y="1956635"/>
                  <a:pt x="4823337" y="1956635"/>
                </a:cubicBez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10892850" y="1274088"/>
            <a:ext cx="45503" cy="1956635"/>
          </a:xfrm>
          <a:custGeom>
            <a:avLst/>
            <a:gdLst/>
            <a:ahLst/>
            <a:cxnLst/>
            <a:rect l="l" t="t" r="r" b="b"/>
            <a:pathLst>
              <a:path w="45503" h="1956635">
                <a:moveTo>
                  <a:pt x="45503" y="0"/>
                </a:moveTo>
                <a:lnTo>
                  <a:pt x="45503" y="0"/>
                </a:lnTo>
                <a:lnTo>
                  <a:pt x="45503" y="1956635"/>
                </a:ln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1097614" y="1456101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227516" y="0"/>
                </a:moveTo>
                <a:lnTo>
                  <a:pt x="227516" y="0"/>
                </a:lnTo>
                <a:cubicBezTo>
                  <a:pt x="353169" y="0"/>
                  <a:pt x="455031" y="101862"/>
                  <a:pt x="455031" y="227516"/>
                </a:cubicBezTo>
                <a:lnTo>
                  <a:pt x="455031" y="227516"/>
                </a:lnTo>
                <a:cubicBezTo>
                  <a:pt x="455031" y="353169"/>
                  <a:pt x="353169" y="455031"/>
                  <a:pt x="227516" y="455031"/>
                </a:cubicBezTo>
                <a:lnTo>
                  <a:pt x="227516" y="455031"/>
                </a:lnTo>
                <a:cubicBezTo>
                  <a:pt x="101862" y="455031"/>
                  <a:pt x="0" y="353169"/>
                  <a:pt x="0" y="227516"/>
                </a:cubicBezTo>
                <a:lnTo>
                  <a:pt x="0" y="227516"/>
                </a:lnTo>
                <a:cubicBezTo>
                  <a:pt x="0" y="101862"/>
                  <a:pt x="101862" y="0"/>
                  <a:pt x="22751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264873" y="1524355"/>
            <a:ext cx="22751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689155" y="1524355"/>
            <a:ext cx="591541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91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KNN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097614" y="2047642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惰性学习、简单直观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97614" y="2411667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小规模数据、模式识别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97614" y="2775692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KD-Tree、PCA降维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7783" y="3503742"/>
            <a:ext cx="4914340" cy="1956635"/>
          </a:xfrm>
          <a:custGeom>
            <a:avLst/>
            <a:gdLst/>
            <a:ahLst/>
            <a:cxnLst/>
            <a:rect l="l" t="t" r="r" b="b"/>
            <a:pathLst>
              <a:path w="4914340" h="1956635">
                <a:moveTo>
                  <a:pt x="45503" y="0"/>
                </a:moveTo>
                <a:lnTo>
                  <a:pt x="4823337" y="0"/>
                </a:lnTo>
                <a:cubicBezTo>
                  <a:pt x="4873597" y="0"/>
                  <a:pt x="4914340" y="40743"/>
                  <a:pt x="4914340" y="91003"/>
                </a:cubicBezTo>
                <a:lnTo>
                  <a:pt x="4914340" y="1865632"/>
                </a:lnTo>
                <a:cubicBezTo>
                  <a:pt x="4914340" y="1915892"/>
                  <a:pt x="4873597" y="1956635"/>
                  <a:pt x="4823337" y="1956635"/>
                </a:cubicBez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77783" y="3503742"/>
            <a:ext cx="45503" cy="1956635"/>
          </a:xfrm>
          <a:custGeom>
            <a:avLst/>
            <a:gdLst/>
            <a:ahLst/>
            <a:cxnLst/>
            <a:rect l="l" t="t" r="r" b="b"/>
            <a:pathLst>
              <a:path w="45503" h="1956635">
                <a:moveTo>
                  <a:pt x="45503" y="0"/>
                </a:moveTo>
                <a:lnTo>
                  <a:pt x="45503" y="0"/>
                </a:lnTo>
                <a:lnTo>
                  <a:pt x="45503" y="1956635"/>
                </a:ln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82547" y="3685755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227516" y="0"/>
                </a:moveTo>
                <a:lnTo>
                  <a:pt x="227516" y="0"/>
                </a:lnTo>
                <a:cubicBezTo>
                  <a:pt x="353169" y="0"/>
                  <a:pt x="455031" y="101862"/>
                  <a:pt x="455031" y="227516"/>
                </a:cubicBezTo>
                <a:lnTo>
                  <a:pt x="455031" y="227516"/>
                </a:lnTo>
                <a:cubicBezTo>
                  <a:pt x="455031" y="353169"/>
                  <a:pt x="353169" y="455031"/>
                  <a:pt x="227516" y="455031"/>
                </a:cubicBezTo>
                <a:lnTo>
                  <a:pt x="227516" y="455031"/>
                </a:lnTo>
                <a:cubicBezTo>
                  <a:pt x="101862" y="455031"/>
                  <a:pt x="0" y="353169"/>
                  <a:pt x="0" y="227516"/>
                </a:cubicBezTo>
                <a:lnTo>
                  <a:pt x="0" y="227516"/>
                </a:lnTo>
                <a:cubicBezTo>
                  <a:pt x="0" y="101862"/>
                  <a:pt x="101862" y="0"/>
                  <a:pt x="227516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 sz="2000"/>
          </a:p>
        </p:txBody>
      </p:sp>
      <p:sp>
        <p:nvSpPr>
          <p:cNvPr id="31" name="Text 29"/>
          <p:cNvSpPr/>
          <p:nvPr/>
        </p:nvSpPr>
        <p:spPr>
          <a:xfrm>
            <a:off x="849985" y="3754010"/>
            <a:ext cx="22751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4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74088" y="3754010"/>
            <a:ext cx="1251337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朴素贝叶斯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2547" y="4277296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概率模型、高效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2547" y="4641321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文本分类、高维稀疏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2547" y="5005346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拉普拉斯平滑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85316" y="3503742"/>
            <a:ext cx="4914340" cy="1956635"/>
          </a:xfrm>
          <a:custGeom>
            <a:avLst/>
            <a:gdLst/>
            <a:ahLst/>
            <a:cxnLst/>
            <a:rect l="l" t="t" r="r" b="b"/>
            <a:pathLst>
              <a:path w="4914340" h="1956635">
                <a:moveTo>
                  <a:pt x="45503" y="0"/>
                </a:moveTo>
                <a:lnTo>
                  <a:pt x="4823337" y="0"/>
                </a:lnTo>
                <a:cubicBezTo>
                  <a:pt x="4873597" y="0"/>
                  <a:pt x="4914340" y="40743"/>
                  <a:pt x="4914340" y="91003"/>
                </a:cubicBezTo>
                <a:lnTo>
                  <a:pt x="4914340" y="1865632"/>
                </a:lnTo>
                <a:cubicBezTo>
                  <a:pt x="4914340" y="1915892"/>
                  <a:pt x="4873597" y="1956635"/>
                  <a:pt x="4823337" y="1956635"/>
                </a:cubicBez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5685316" y="3503742"/>
            <a:ext cx="45503" cy="1956635"/>
          </a:xfrm>
          <a:custGeom>
            <a:avLst/>
            <a:gdLst/>
            <a:ahLst/>
            <a:cxnLst/>
            <a:rect l="l" t="t" r="r" b="b"/>
            <a:pathLst>
              <a:path w="45503" h="1956635">
                <a:moveTo>
                  <a:pt x="45503" y="0"/>
                </a:moveTo>
                <a:lnTo>
                  <a:pt x="45503" y="0"/>
                </a:lnTo>
                <a:lnTo>
                  <a:pt x="45503" y="1956635"/>
                </a:ln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890080" y="3685755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227516" y="0"/>
                </a:moveTo>
                <a:lnTo>
                  <a:pt x="227516" y="0"/>
                </a:lnTo>
                <a:cubicBezTo>
                  <a:pt x="353169" y="0"/>
                  <a:pt x="455031" y="101862"/>
                  <a:pt x="455031" y="227516"/>
                </a:cubicBezTo>
                <a:lnTo>
                  <a:pt x="455031" y="227516"/>
                </a:lnTo>
                <a:cubicBezTo>
                  <a:pt x="455031" y="353169"/>
                  <a:pt x="353169" y="455031"/>
                  <a:pt x="227516" y="455031"/>
                </a:cubicBezTo>
                <a:lnTo>
                  <a:pt x="227516" y="455031"/>
                </a:lnTo>
                <a:cubicBezTo>
                  <a:pt x="101862" y="455031"/>
                  <a:pt x="0" y="353169"/>
                  <a:pt x="0" y="227516"/>
                </a:cubicBezTo>
                <a:lnTo>
                  <a:pt x="0" y="227516"/>
                </a:lnTo>
                <a:cubicBezTo>
                  <a:pt x="0" y="101862"/>
                  <a:pt x="101862" y="0"/>
                  <a:pt x="227516" y="0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 sz="2000"/>
          </a:p>
        </p:txBody>
      </p:sp>
      <p:sp>
        <p:nvSpPr>
          <p:cNvPr id="39" name="Text 37"/>
          <p:cNvSpPr/>
          <p:nvPr/>
        </p:nvSpPr>
        <p:spPr>
          <a:xfrm>
            <a:off x="6056451" y="3754010"/>
            <a:ext cx="22751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5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481621" y="3754010"/>
            <a:ext cx="796305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决策树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90080" y="4277296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可解释性强、if-then规则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90080" y="4641321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需解释性、非线性关系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890080" y="5005346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剪枝、集成学习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892850" y="3503742"/>
            <a:ext cx="4914340" cy="1956635"/>
          </a:xfrm>
          <a:custGeom>
            <a:avLst/>
            <a:gdLst/>
            <a:ahLst/>
            <a:cxnLst/>
            <a:rect l="l" t="t" r="r" b="b"/>
            <a:pathLst>
              <a:path w="4914340" h="1956635">
                <a:moveTo>
                  <a:pt x="45503" y="0"/>
                </a:moveTo>
                <a:lnTo>
                  <a:pt x="4823337" y="0"/>
                </a:lnTo>
                <a:cubicBezTo>
                  <a:pt x="4873597" y="0"/>
                  <a:pt x="4914340" y="40743"/>
                  <a:pt x="4914340" y="91003"/>
                </a:cubicBezTo>
                <a:lnTo>
                  <a:pt x="4914340" y="1865632"/>
                </a:lnTo>
                <a:cubicBezTo>
                  <a:pt x="4914340" y="1915892"/>
                  <a:pt x="4873597" y="1956635"/>
                  <a:pt x="4823337" y="1956635"/>
                </a:cubicBez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10892850" y="3503742"/>
            <a:ext cx="45503" cy="1956635"/>
          </a:xfrm>
          <a:custGeom>
            <a:avLst/>
            <a:gdLst/>
            <a:ahLst/>
            <a:cxnLst/>
            <a:rect l="l" t="t" r="r" b="b"/>
            <a:pathLst>
              <a:path w="45503" h="1956635">
                <a:moveTo>
                  <a:pt x="45503" y="0"/>
                </a:moveTo>
                <a:lnTo>
                  <a:pt x="45503" y="0"/>
                </a:lnTo>
                <a:lnTo>
                  <a:pt x="45503" y="1956635"/>
                </a:lnTo>
                <a:lnTo>
                  <a:pt x="45503" y="1956635"/>
                </a:lnTo>
                <a:cubicBezTo>
                  <a:pt x="20372" y="1956635"/>
                  <a:pt x="0" y="1936263"/>
                  <a:pt x="0" y="1911132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1097614" y="3685755"/>
            <a:ext cx="455031" cy="455031"/>
          </a:xfrm>
          <a:custGeom>
            <a:avLst/>
            <a:gdLst/>
            <a:ahLst/>
            <a:cxnLst/>
            <a:rect l="l" t="t" r="r" b="b"/>
            <a:pathLst>
              <a:path w="455031" h="455031">
                <a:moveTo>
                  <a:pt x="227516" y="0"/>
                </a:moveTo>
                <a:lnTo>
                  <a:pt x="227516" y="0"/>
                </a:lnTo>
                <a:cubicBezTo>
                  <a:pt x="353169" y="0"/>
                  <a:pt x="455031" y="101862"/>
                  <a:pt x="455031" y="227516"/>
                </a:cubicBezTo>
                <a:lnTo>
                  <a:pt x="455031" y="227516"/>
                </a:lnTo>
                <a:cubicBezTo>
                  <a:pt x="455031" y="353169"/>
                  <a:pt x="353169" y="455031"/>
                  <a:pt x="227516" y="455031"/>
                </a:cubicBezTo>
                <a:lnTo>
                  <a:pt x="227516" y="455031"/>
                </a:lnTo>
                <a:cubicBezTo>
                  <a:pt x="101862" y="455031"/>
                  <a:pt x="0" y="353169"/>
                  <a:pt x="0" y="227516"/>
                </a:cubicBezTo>
                <a:lnTo>
                  <a:pt x="0" y="227516"/>
                </a:lnTo>
                <a:cubicBezTo>
                  <a:pt x="0" y="101862"/>
                  <a:pt x="101862" y="0"/>
                  <a:pt x="227516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 sz="2000"/>
          </a:p>
        </p:txBody>
      </p:sp>
      <p:sp>
        <p:nvSpPr>
          <p:cNvPr id="47" name="Text 45"/>
          <p:cNvSpPr/>
          <p:nvPr/>
        </p:nvSpPr>
        <p:spPr>
          <a:xfrm>
            <a:off x="11263540" y="3754010"/>
            <a:ext cx="227516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1A1D21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6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1689155" y="3754010"/>
            <a:ext cx="602917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E0E2E6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SVM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1097614" y="4277296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特点：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最大间隔、核技巧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097614" y="4641321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适用：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高维、中小样本、复杂边界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97614" y="5005346"/>
            <a:ext cx="4618570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优化：</a:t>
            </a: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参数调优、数据标准化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89159" y="5687894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273019" y="51191"/>
                </a:moveTo>
                <a:cubicBezTo>
                  <a:pt x="273019" y="77960"/>
                  <a:pt x="241504" y="117899"/>
                  <a:pt x="227907" y="133843"/>
                </a:cubicBezTo>
                <a:cubicBezTo>
                  <a:pt x="225880" y="136190"/>
                  <a:pt x="222894" y="137096"/>
                  <a:pt x="220175" y="136509"/>
                </a:cubicBezTo>
                <a:lnTo>
                  <a:pt x="170637" y="136509"/>
                </a:lnTo>
                <a:cubicBezTo>
                  <a:pt x="161198" y="136509"/>
                  <a:pt x="153573" y="144135"/>
                  <a:pt x="153573" y="153573"/>
                </a:cubicBezTo>
                <a:cubicBezTo>
                  <a:pt x="153573" y="163011"/>
                  <a:pt x="161198" y="170637"/>
                  <a:pt x="170637" y="170637"/>
                </a:cubicBezTo>
                <a:lnTo>
                  <a:pt x="221828" y="170637"/>
                </a:lnTo>
                <a:cubicBezTo>
                  <a:pt x="250090" y="170637"/>
                  <a:pt x="273019" y="193566"/>
                  <a:pt x="273019" y="221828"/>
                </a:cubicBezTo>
                <a:cubicBezTo>
                  <a:pt x="273019" y="250090"/>
                  <a:pt x="250090" y="273019"/>
                  <a:pt x="221828" y="273019"/>
                </a:cubicBezTo>
                <a:lnTo>
                  <a:pt x="74440" y="273019"/>
                </a:lnTo>
                <a:cubicBezTo>
                  <a:pt x="79079" y="267740"/>
                  <a:pt x="84732" y="260968"/>
                  <a:pt x="90438" y="253396"/>
                </a:cubicBezTo>
                <a:cubicBezTo>
                  <a:pt x="93797" y="248916"/>
                  <a:pt x="97263" y="244011"/>
                  <a:pt x="100569" y="238892"/>
                </a:cubicBezTo>
                <a:lnTo>
                  <a:pt x="221828" y="238892"/>
                </a:lnTo>
                <a:cubicBezTo>
                  <a:pt x="231266" y="238892"/>
                  <a:pt x="238892" y="231266"/>
                  <a:pt x="238892" y="221828"/>
                </a:cubicBezTo>
                <a:cubicBezTo>
                  <a:pt x="238892" y="212390"/>
                  <a:pt x="231266" y="204764"/>
                  <a:pt x="221828" y="204764"/>
                </a:cubicBezTo>
                <a:lnTo>
                  <a:pt x="170637" y="204764"/>
                </a:lnTo>
                <a:cubicBezTo>
                  <a:pt x="142375" y="204764"/>
                  <a:pt x="119446" y="181835"/>
                  <a:pt x="119446" y="153573"/>
                </a:cubicBezTo>
                <a:cubicBezTo>
                  <a:pt x="119446" y="125311"/>
                  <a:pt x="142375" y="102382"/>
                  <a:pt x="170637" y="102382"/>
                </a:cubicBezTo>
                <a:lnTo>
                  <a:pt x="191860" y="102382"/>
                </a:lnTo>
                <a:cubicBezTo>
                  <a:pt x="180662" y="85585"/>
                  <a:pt x="170637" y="66282"/>
                  <a:pt x="170637" y="51191"/>
                </a:cubicBezTo>
                <a:cubicBezTo>
                  <a:pt x="170637" y="22929"/>
                  <a:pt x="193566" y="0"/>
                  <a:pt x="221828" y="0"/>
                </a:cubicBezTo>
                <a:cubicBezTo>
                  <a:pt x="250090" y="0"/>
                  <a:pt x="273019" y="22929"/>
                  <a:pt x="273019" y="51191"/>
                </a:cubicBezTo>
                <a:close/>
                <a:moveTo>
                  <a:pt x="62442" y="260808"/>
                </a:moveTo>
                <a:cubicBezTo>
                  <a:pt x="60416" y="263101"/>
                  <a:pt x="58603" y="265127"/>
                  <a:pt x="57057" y="266833"/>
                </a:cubicBezTo>
                <a:lnTo>
                  <a:pt x="56097" y="267900"/>
                </a:lnTo>
                <a:lnTo>
                  <a:pt x="55990" y="267793"/>
                </a:lnTo>
                <a:cubicBezTo>
                  <a:pt x="52791" y="270246"/>
                  <a:pt x="48205" y="269926"/>
                  <a:pt x="45325" y="266833"/>
                </a:cubicBezTo>
                <a:cubicBezTo>
                  <a:pt x="31888" y="252223"/>
                  <a:pt x="0" y="214629"/>
                  <a:pt x="0" y="187700"/>
                </a:cubicBezTo>
                <a:cubicBezTo>
                  <a:pt x="0" y="159439"/>
                  <a:pt x="22929" y="136509"/>
                  <a:pt x="51191" y="136509"/>
                </a:cubicBezTo>
                <a:cubicBezTo>
                  <a:pt x="79453" y="136509"/>
                  <a:pt x="102382" y="159439"/>
                  <a:pt x="102382" y="187700"/>
                </a:cubicBezTo>
                <a:cubicBezTo>
                  <a:pt x="102382" y="203698"/>
                  <a:pt x="91131" y="223428"/>
                  <a:pt x="79186" y="239905"/>
                </a:cubicBezTo>
                <a:cubicBezTo>
                  <a:pt x="73480" y="247743"/>
                  <a:pt x="67615" y="254835"/>
                  <a:pt x="62762" y="260434"/>
                </a:cubicBezTo>
                <a:lnTo>
                  <a:pt x="62442" y="260808"/>
                </a:lnTo>
                <a:close/>
                <a:moveTo>
                  <a:pt x="68255" y="187700"/>
                </a:moveTo>
                <a:cubicBezTo>
                  <a:pt x="68255" y="178283"/>
                  <a:pt x="60609" y="170637"/>
                  <a:pt x="51191" y="170637"/>
                </a:cubicBezTo>
                <a:cubicBezTo>
                  <a:pt x="41773" y="170637"/>
                  <a:pt x="34127" y="178283"/>
                  <a:pt x="34127" y="187700"/>
                </a:cubicBezTo>
                <a:cubicBezTo>
                  <a:pt x="34127" y="197118"/>
                  <a:pt x="41773" y="204764"/>
                  <a:pt x="51191" y="204764"/>
                </a:cubicBezTo>
                <a:cubicBezTo>
                  <a:pt x="60609" y="204764"/>
                  <a:pt x="68255" y="197118"/>
                  <a:pt x="68255" y="187700"/>
                </a:cubicBezTo>
                <a:close/>
                <a:moveTo>
                  <a:pt x="221828" y="68255"/>
                </a:moveTo>
                <a:cubicBezTo>
                  <a:pt x="231246" y="68255"/>
                  <a:pt x="238892" y="60609"/>
                  <a:pt x="238892" y="51191"/>
                </a:cubicBezTo>
                <a:cubicBezTo>
                  <a:pt x="238892" y="41773"/>
                  <a:pt x="231246" y="34127"/>
                  <a:pt x="221828" y="34127"/>
                </a:cubicBezTo>
                <a:cubicBezTo>
                  <a:pt x="212410" y="34127"/>
                  <a:pt x="204764" y="41773"/>
                  <a:pt x="204764" y="51191"/>
                </a:cubicBezTo>
                <a:cubicBezTo>
                  <a:pt x="204764" y="60609"/>
                  <a:pt x="212410" y="68255"/>
                  <a:pt x="221828" y="68255"/>
                </a:cubicBezTo>
                <a:close/>
              </a:path>
            </a:pathLst>
          </a:custGeom>
          <a:solidFill>
            <a:srgbClr val="3D8F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796305" y="5642390"/>
            <a:ext cx="15141173" cy="364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50" dirty="0">
                <a:solidFill>
                  <a:srgbClr val="3D8F8A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算法选择决策树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55031" y="6188428"/>
            <a:ext cx="3697131" cy="1683617"/>
          </a:xfrm>
          <a:custGeom>
            <a:avLst/>
            <a:gdLst/>
            <a:ahLst/>
            <a:cxnLst/>
            <a:rect l="l" t="t" r="r" b="b"/>
            <a:pathLst>
              <a:path w="3697131" h="1683617">
                <a:moveTo>
                  <a:pt x="90999" y="0"/>
                </a:moveTo>
                <a:lnTo>
                  <a:pt x="3606131" y="0"/>
                </a:lnTo>
                <a:cubicBezTo>
                  <a:pt x="3656389" y="0"/>
                  <a:pt x="3697131" y="40742"/>
                  <a:pt x="3697131" y="90999"/>
                </a:cubicBezTo>
                <a:lnTo>
                  <a:pt x="3697131" y="1592617"/>
                </a:lnTo>
                <a:cubicBezTo>
                  <a:pt x="3697131" y="1642875"/>
                  <a:pt x="3656389" y="1683617"/>
                  <a:pt x="3606131" y="1683617"/>
                </a:cubicBezTo>
                <a:lnTo>
                  <a:pt x="90999" y="1683617"/>
                </a:lnTo>
                <a:cubicBezTo>
                  <a:pt x="40742" y="1683617"/>
                  <a:pt x="0" y="1642875"/>
                  <a:pt x="0" y="1592617"/>
                </a:cubicBezTo>
                <a:lnTo>
                  <a:pt x="0" y="90999"/>
                </a:lnTo>
                <a:cubicBezTo>
                  <a:pt x="0" y="40775"/>
                  <a:pt x="40775" y="0"/>
                  <a:pt x="9099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678281" y="6427320"/>
            <a:ext cx="179169" cy="204764"/>
          </a:xfrm>
          <a:custGeom>
            <a:avLst/>
            <a:gdLst/>
            <a:ahLst/>
            <a:cxnLst/>
            <a:rect l="l" t="t" r="r" b="b"/>
            <a:pathLst>
              <a:path w="179169" h="204764">
                <a:moveTo>
                  <a:pt x="179169" y="82306"/>
                </a:moveTo>
                <a:cubicBezTo>
                  <a:pt x="173250" y="86225"/>
                  <a:pt x="166451" y="89384"/>
                  <a:pt x="159372" y="91904"/>
                </a:cubicBezTo>
                <a:cubicBezTo>
                  <a:pt x="140575" y="98623"/>
                  <a:pt x="115900" y="102382"/>
                  <a:pt x="89584" y="102382"/>
                </a:cubicBezTo>
                <a:cubicBezTo>
                  <a:pt x="63269" y="102382"/>
                  <a:pt x="38553" y="98583"/>
                  <a:pt x="19797" y="91904"/>
                </a:cubicBezTo>
                <a:cubicBezTo>
                  <a:pt x="12758" y="89384"/>
                  <a:pt x="5919" y="86225"/>
                  <a:pt x="0" y="82306"/>
                </a:cubicBezTo>
                <a:lnTo>
                  <a:pt x="0" y="115180"/>
                </a:lnTo>
                <a:cubicBezTo>
                  <a:pt x="0" y="132857"/>
                  <a:pt x="40113" y="147174"/>
                  <a:pt x="89584" y="147174"/>
                </a:cubicBezTo>
                <a:cubicBezTo>
                  <a:pt x="139056" y="147174"/>
                  <a:pt x="179169" y="132857"/>
                  <a:pt x="179169" y="115180"/>
                </a:cubicBezTo>
                <a:lnTo>
                  <a:pt x="179169" y="82306"/>
                </a:lnTo>
                <a:close/>
                <a:moveTo>
                  <a:pt x="179169" y="51191"/>
                </a:moveTo>
                <a:lnTo>
                  <a:pt x="179169" y="31994"/>
                </a:lnTo>
                <a:cubicBezTo>
                  <a:pt x="179169" y="14317"/>
                  <a:pt x="139056" y="0"/>
                  <a:pt x="89584" y="0"/>
                </a:cubicBezTo>
                <a:cubicBezTo>
                  <a:pt x="40113" y="0"/>
                  <a:pt x="0" y="14317"/>
                  <a:pt x="0" y="31994"/>
                </a:cubicBezTo>
                <a:lnTo>
                  <a:pt x="0" y="51191"/>
                </a:lnTo>
                <a:cubicBezTo>
                  <a:pt x="0" y="68868"/>
                  <a:pt x="40113" y="83185"/>
                  <a:pt x="89584" y="83185"/>
                </a:cubicBezTo>
                <a:cubicBezTo>
                  <a:pt x="139056" y="83185"/>
                  <a:pt x="179169" y="68868"/>
                  <a:pt x="179169" y="51191"/>
                </a:cubicBezTo>
                <a:close/>
                <a:moveTo>
                  <a:pt x="159372" y="155893"/>
                </a:moveTo>
                <a:cubicBezTo>
                  <a:pt x="140615" y="162572"/>
                  <a:pt x="115940" y="166371"/>
                  <a:pt x="89584" y="166371"/>
                </a:cubicBezTo>
                <a:cubicBezTo>
                  <a:pt x="63229" y="166371"/>
                  <a:pt x="38553" y="162572"/>
                  <a:pt x="19797" y="155893"/>
                </a:cubicBezTo>
                <a:cubicBezTo>
                  <a:pt x="12758" y="153373"/>
                  <a:pt x="5919" y="150214"/>
                  <a:pt x="0" y="146294"/>
                </a:cubicBezTo>
                <a:lnTo>
                  <a:pt x="0" y="172770"/>
                </a:lnTo>
                <a:cubicBezTo>
                  <a:pt x="0" y="190447"/>
                  <a:pt x="40113" y="204764"/>
                  <a:pt x="89584" y="204764"/>
                </a:cubicBezTo>
                <a:cubicBezTo>
                  <a:pt x="139056" y="204764"/>
                  <a:pt x="179169" y="190447"/>
                  <a:pt x="179169" y="172770"/>
                </a:cubicBezTo>
                <a:lnTo>
                  <a:pt x="179169" y="146294"/>
                </a:lnTo>
                <a:cubicBezTo>
                  <a:pt x="173250" y="150214"/>
                  <a:pt x="166451" y="153373"/>
                  <a:pt x="159372" y="155893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98687" y="6370441"/>
            <a:ext cx="3173845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数据量大小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7044" y="6779969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大数据：逻辑回归、线性回归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7044" y="7098491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中等数据：SVM、决策树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7044" y="7417013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小数据：KNN、朴素贝叶斯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337908" y="6188428"/>
            <a:ext cx="3697131" cy="1683617"/>
          </a:xfrm>
          <a:custGeom>
            <a:avLst/>
            <a:gdLst/>
            <a:ahLst/>
            <a:cxnLst/>
            <a:rect l="l" t="t" r="r" b="b"/>
            <a:pathLst>
              <a:path w="3697131" h="1683617">
                <a:moveTo>
                  <a:pt x="90999" y="0"/>
                </a:moveTo>
                <a:lnTo>
                  <a:pt x="3606131" y="0"/>
                </a:lnTo>
                <a:cubicBezTo>
                  <a:pt x="3656389" y="0"/>
                  <a:pt x="3697131" y="40742"/>
                  <a:pt x="3697131" y="90999"/>
                </a:cubicBezTo>
                <a:lnTo>
                  <a:pt x="3697131" y="1592617"/>
                </a:lnTo>
                <a:cubicBezTo>
                  <a:pt x="3697131" y="1642875"/>
                  <a:pt x="3656389" y="1683617"/>
                  <a:pt x="3606131" y="1683617"/>
                </a:cubicBezTo>
                <a:lnTo>
                  <a:pt x="90999" y="1683617"/>
                </a:lnTo>
                <a:cubicBezTo>
                  <a:pt x="40742" y="1683617"/>
                  <a:pt x="0" y="1642875"/>
                  <a:pt x="0" y="1592617"/>
                </a:cubicBezTo>
                <a:lnTo>
                  <a:pt x="0" y="90999"/>
                </a:lnTo>
                <a:cubicBezTo>
                  <a:pt x="0" y="40775"/>
                  <a:pt x="40775" y="0"/>
                  <a:pt x="9099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Shape 59"/>
          <p:cNvSpPr/>
          <p:nvPr/>
        </p:nvSpPr>
        <p:spPr>
          <a:xfrm>
            <a:off x="4548360" y="6427320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92984" y="2080"/>
                </a:moveTo>
                <a:cubicBezTo>
                  <a:pt x="98943" y="-680"/>
                  <a:pt x="105821" y="-680"/>
                  <a:pt x="111780" y="2080"/>
                </a:cubicBezTo>
                <a:lnTo>
                  <a:pt x="199205" y="42473"/>
                </a:lnTo>
                <a:cubicBezTo>
                  <a:pt x="202605" y="44032"/>
                  <a:pt x="204764" y="47432"/>
                  <a:pt x="204764" y="51191"/>
                </a:cubicBezTo>
                <a:cubicBezTo>
                  <a:pt x="204764" y="54950"/>
                  <a:pt x="202605" y="58350"/>
                  <a:pt x="199205" y="59910"/>
                </a:cubicBezTo>
                <a:lnTo>
                  <a:pt x="111780" y="100302"/>
                </a:lnTo>
                <a:cubicBezTo>
                  <a:pt x="105821" y="103062"/>
                  <a:pt x="98943" y="103062"/>
                  <a:pt x="92984" y="100302"/>
                </a:cubicBezTo>
                <a:lnTo>
                  <a:pt x="5559" y="59910"/>
                </a:lnTo>
                <a:cubicBezTo>
                  <a:pt x="2160" y="58310"/>
                  <a:pt x="0" y="54910"/>
                  <a:pt x="0" y="51191"/>
                </a:cubicBezTo>
                <a:cubicBezTo>
                  <a:pt x="0" y="47472"/>
                  <a:pt x="2160" y="44032"/>
                  <a:pt x="5559" y="42473"/>
                </a:cubicBezTo>
                <a:lnTo>
                  <a:pt x="92984" y="2080"/>
                </a:lnTo>
                <a:close/>
                <a:moveTo>
                  <a:pt x="19237" y="87345"/>
                </a:moveTo>
                <a:lnTo>
                  <a:pt x="84945" y="117699"/>
                </a:lnTo>
                <a:cubicBezTo>
                  <a:pt x="96023" y="122819"/>
                  <a:pt x="108781" y="122819"/>
                  <a:pt x="119859" y="117699"/>
                </a:cubicBezTo>
                <a:lnTo>
                  <a:pt x="185568" y="87345"/>
                </a:lnTo>
                <a:lnTo>
                  <a:pt x="199205" y="93664"/>
                </a:lnTo>
                <a:cubicBezTo>
                  <a:pt x="202605" y="95223"/>
                  <a:pt x="204764" y="98623"/>
                  <a:pt x="204764" y="102382"/>
                </a:cubicBezTo>
                <a:cubicBezTo>
                  <a:pt x="204764" y="106141"/>
                  <a:pt x="202605" y="109541"/>
                  <a:pt x="199205" y="111101"/>
                </a:cubicBezTo>
                <a:lnTo>
                  <a:pt x="111780" y="151493"/>
                </a:lnTo>
                <a:cubicBezTo>
                  <a:pt x="105821" y="154253"/>
                  <a:pt x="98943" y="154253"/>
                  <a:pt x="92984" y="151493"/>
                </a:cubicBezTo>
                <a:lnTo>
                  <a:pt x="5559" y="111101"/>
                </a:lnTo>
                <a:cubicBezTo>
                  <a:pt x="2160" y="109501"/>
                  <a:pt x="0" y="106101"/>
                  <a:pt x="0" y="102382"/>
                </a:cubicBezTo>
                <a:cubicBezTo>
                  <a:pt x="0" y="98663"/>
                  <a:pt x="2160" y="95223"/>
                  <a:pt x="5559" y="93664"/>
                </a:cubicBezTo>
                <a:lnTo>
                  <a:pt x="19197" y="87345"/>
                </a:lnTo>
                <a:close/>
                <a:moveTo>
                  <a:pt x="5559" y="144855"/>
                </a:moveTo>
                <a:lnTo>
                  <a:pt x="19197" y="138536"/>
                </a:lnTo>
                <a:lnTo>
                  <a:pt x="84905" y="168890"/>
                </a:lnTo>
                <a:cubicBezTo>
                  <a:pt x="95983" y="174010"/>
                  <a:pt x="108741" y="174010"/>
                  <a:pt x="119819" y="168890"/>
                </a:cubicBezTo>
                <a:lnTo>
                  <a:pt x="185528" y="138536"/>
                </a:lnTo>
                <a:lnTo>
                  <a:pt x="199165" y="144855"/>
                </a:lnTo>
                <a:cubicBezTo>
                  <a:pt x="202565" y="146414"/>
                  <a:pt x="204724" y="149814"/>
                  <a:pt x="204724" y="153573"/>
                </a:cubicBezTo>
                <a:cubicBezTo>
                  <a:pt x="204724" y="157332"/>
                  <a:pt x="202565" y="160732"/>
                  <a:pt x="199165" y="162292"/>
                </a:cubicBezTo>
                <a:lnTo>
                  <a:pt x="111740" y="202685"/>
                </a:lnTo>
                <a:cubicBezTo>
                  <a:pt x="105781" y="205444"/>
                  <a:pt x="98903" y="205444"/>
                  <a:pt x="92944" y="202685"/>
                </a:cubicBezTo>
                <a:lnTo>
                  <a:pt x="5559" y="162292"/>
                </a:lnTo>
                <a:cubicBezTo>
                  <a:pt x="2160" y="160692"/>
                  <a:pt x="0" y="157292"/>
                  <a:pt x="0" y="153573"/>
                </a:cubicBezTo>
                <a:cubicBezTo>
                  <a:pt x="0" y="149854"/>
                  <a:pt x="2160" y="146414"/>
                  <a:pt x="5559" y="144855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4781563" y="6370441"/>
            <a:ext cx="3173845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特征类型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519920" y="6779969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连续特征：线性回归、SVM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519920" y="7098491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离散特征：朴素贝叶斯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519920" y="7417013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文本数据：朴素贝叶斯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20873" y="6188428"/>
            <a:ext cx="3697131" cy="1683617"/>
          </a:xfrm>
          <a:custGeom>
            <a:avLst/>
            <a:gdLst/>
            <a:ahLst/>
            <a:cxnLst/>
            <a:rect l="l" t="t" r="r" b="b"/>
            <a:pathLst>
              <a:path w="3697131" h="1683617">
                <a:moveTo>
                  <a:pt x="90999" y="0"/>
                </a:moveTo>
                <a:lnTo>
                  <a:pt x="3606131" y="0"/>
                </a:lnTo>
                <a:cubicBezTo>
                  <a:pt x="3656389" y="0"/>
                  <a:pt x="3697131" y="40742"/>
                  <a:pt x="3697131" y="90999"/>
                </a:cubicBezTo>
                <a:lnTo>
                  <a:pt x="3697131" y="1592617"/>
                </a:lnTo>
                <a:cubicBezTo>
                  <a:pt x="3697131" y="1642875"/>
                  <a:pt x="3656389" y="1683617"/>
                  <a:pt x="3606131" y="1683617"/>
                </a:cubicBezTo>
                <a:lnTo>
                  <a:pt x="90999" y="1683617"/>
                </a:lnTo>
                <a:cubicBezTo>
                  <a:pt x="40742" y="1683617"/>
                  <a:pt x="0" y="1642875"/>
                  <a:pt x="0" y="1592617"/>
                </a:cubicBezTo>
                <a:lnTo>
                  <a:pt x="0" y="90999"/>
                </a:lnTo>
                <a:cubicBezTo>
                  <a:pt x="0" y="40775"/>
                  <a:pt x="40775" y="0"/>
                  <a:pt x="9099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431325" y="6427320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102382" y="204764"/>
                </a:moveTo>
                <a:cubicBezTo>
                  <a:pt x="158888" y="204764"/>
                  <a:pt x="204764" y="158888"/>
                  <a:pt x="204764" y="102382"/>
                </a:cubicBezTo>
                <a:cubicBezTo>
                  <a:pt x="204764" y="45876"/>
                  <a:pt x="158888" y="0"/>
                  <a:pt x="102382" y="0"/>
                </a:cubicBezTo>
                <a:cubicBezTo>
                  <a:pt x="45876" y="0"/>
                  <a:pt x="0" y="45876"/>
                  <a:pt x="0" y="102382"/>
                </a:cubicBezTo>
                <a:cubicBezTo>
                  <a:pt x="0" y="158888"/>
                  <a:pt x="45876" y="204764"/>
                  <a:pt x="102382" y="204764"/>
                </a:cubicBezTo>
                <a:close/>
                <a:moveTo>
                  <a:pt x="102382" y="70388"/>
                </a:moveTo>
                <a:cubicBezTo>
                  <a:pt x="95303" y="70388"/>
                  <a:pt x="89584" y="76107"/>
                  <a:pt x="89584" y="83185"/>
                </a:cubicBezTo>
                <a:cubicBezTo>
                  <a:pt x="89584" y="88505"/>
                  <a:pt x="85305" y="92784"/>
                  <a:pt x="79986" y="92784"/>
                </a:cubicBezTo>
                <a:cubicBezTo>
                  <a:pt x="74667" y="92784"/>
                  <a:pt x="70388" y="88505"/>
                  <a:pt x="70388" y="83185"/>
                </a:cubicBezTo>
                <a:cubicBezTo>
                  <a:pt x="70388" y="65509"/>
                  <a:pt x="84705" y="51191"/>
                  <a:pt x="102382" y="51191"/>
                </a:cubicBezTo>
                <a:cubicBezTo>
                  <a:pt x="120059" y="51191"/>
                  <a:pt x="134376" y="65509"/>
                  <a:pt x="134376" y="83185"/>
                </a:cubicBezTo>
                <a:cubicBezTo>
                  <a:pt x="134376" y="102062"/>
                  <a:pt x="119979" y="110061"/>
                  <a:pt x="111980" y="112980"/>
                </a:cubicBezTo>
                <a:lnTo>
                  <a:pt x="111980" y="114500"/>
                </a:lnTo>
                <a:cubicBezTo>
                  <a:pt x="111980" y="119819"/>
                  <a:pt x="107701" y="124098"/>
                  <a:pt x="102382" y="124098"/>
                </a:cubicBezTo>
                <a:cubicBezTo>
                  <a:pt x="97063" y="124098"/>
                  <a:pt x="92784" y="119819"/>
                  <a:pt x="92784" y="114500"/>
                </a:cubicBezTo>
                <a:lnTo>
                  <a:pt x="92784" y="111261"/>
                </a:lnTo>
                <a:cubicBezTo>
                  <a:pt x="92784" y="103062"/>
                  <a:pt x="98703" y="97183"/>
                  <a:pt x="104822" y="95183"/>
                </a:cubicBezTo>
                <a:cubicBezTo>
                  <a:pt x="107381" y="94343"/>
                  <a:pt x="110101" y="92984"/>
                  <a:pt x="112100" y="91064"/>
                </a:cubicBezTo>
                <a:cubicBezTo>
                  <a:pt x="113820" y="89384"/>
                  <a:pt x="115180" y="87065"/>
                  <a:pt x="115180" y="83225"/>
                </a:cubicBezTo>
                <a:cubicBezTo>
                  <a:pt x="115180" y="76147"/>
                  <a:pt x="109461" y="70428"/>
                  <a:pt x="102382" y="70428"/>
                </a:cubicBezTo>
                <a:close/>
                <a:moveTo>
                  <a:pt x="89584" y="147174"/>
                </a:moveTo>
                <a:cubicBezTo>
                  <a:pt x="89584" y="140111"/>
                  <a:pt x="95319" y="134376"/>
                  <a:pt x="102382" y="134376"/>
                </a:cubicBezTo>
                <a:cubicBezTo>
                  <a:pt x="109445" y="134376"/>
                  <a:pt x="115180" y="140111"/>
                  <a:pt x="115180" y="147174"/>
                </a:cubicBezTo>
                <a:cubicBezTo>
                  <a:pt x="115180" y="154238"/>
                  <a:pt x="109445" y="159972"/>
                  <a:pt x="102382" y="159972"/>
                </a:cubicBezTo>
                <a:cubicBezTo>
                  <a:pt x="95319" y="159972"/>
                  <a:pt x="89584" y="154238"/>
                  <a:pt x="89584" y="147174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8664528" y="6370441"/>
            <a:ext cx="3173845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问题类型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402885" y="6779969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回归：线性回归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402885" y="7098491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分类：逻辑回归、SVM、KNN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402885" y="7417013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概率：逻辑回归、朴素贝叶斯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2103749" y="6188428"/>
            <a:ext cx="3697131" cy="1683617"/>
          </a:xfrm>
          <a:custGeom>
            <a:avLst/>
            <a:gdLst/>
            <a:ahLst/>
            <a:cxnLst/>
            <a:rect l="l" t="t" r="r" b="b"/>
            <a:pathLst>
              <a:path w="3697131" h="1683617">
                <a:moveTo>
                  <a:pt x="90999" y="0"/>
                </a:moveTo>
                <a:lnTo>
                  <a:pt x="3606131" y="0"/>
                </a:lnTo>
                <a:cubicBezTo>
                  <a:pt x="3656389" y="0"/>
                  <a:pt x="3697131" y="40742"/>
                  <a:pt x="3697131" y="90999"/>
                </a:cubicBezTo>
                <a:lnTo>
                  <a:pt x="3697131" y="1592617"/>
                </a:lnTo>
                <a:cubicBezTo>
                  <a:pt x="3697131" y="1642875"/>
                  <a:pt x="3656389" y="1683617"/>
                  <a:pt x="3606131" y="1683617"/>
                </a:cubicBezTo>
                <a:lnTo>
                  <a:pt x="90999" y="1683617"/>
                </a:lnTo>
                <a:cubicBezTo>
                  <a:pt x="40742" y="1683617"/>
                  <a:pt x="0" y="1642875"/>
                  <a:pt x="0" y="1592617"/>
                </a:cubicBezTo>
                <a:lnTo>
                  <a:pt x="0" y="90999"/>
                </a:lnTo>
                <a:cubicBezTo>
                  <a:pt x="0" y="40775"/>
                  <a:pt x="40775" y="0"/>
                  <a:pt x="90999" y="0"/>
                </a:cubicBezTo>
                <a:close/>
              </a:path>
            </a:pathLst>
          </a:custGeom>
          <a:solidFill>
            <a:srgbClr val="5A6472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3" name="Shape 71"/>
          <p:cNvSpPr/>
          <p:nvPr/>
        </p:nvSpPr>
        <p:spPr>
          <a:xfrm>
            <a:off x="12314201" y="6427320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102382" y="0"/>
                </a:moveTo>
                <a:cubicBezTo>
                  <a:pt x="158888" y="0"/>
                  <a:pt x="204764" y="45876"/>
                  <a:pt x="204764" y="102382"/>
                </a:cubicBezTo>
                <a:cubicBezTo>
                  <a:pt x="204764" y="158888"/>
                  <a:pt x="158888" y="204764"/>
                  <a:pt x="102382" y="204764"/>
                </a:cubicBezTo>
                <a:cubicBezTo>
                  <a:pt x="45876" y="204764"/>
                  <a:pt x="0" y="158888"/>
                  <a:pt x="0" y="102382"/>
                </a:cubicBezTo>
                <a:cubicBezTo>
                  <a:pt x="0" y="45876"/>
                  <a:pt x="45876" y="0"/>
                  <a:pt x="102382" y="0"/>
                </a:cubicBezTo>
                <a:close/>
                <a:moveTo>
                  <a:pt x="92784" y="47992"/>
                </a:moveTo>
                <a:lnTo>
                  <a:pt x="92784" y="102382"/>
                </a:lnTo>
                <a:cubicBezTo>
                  <a:pt x="92784" y="105582"/>
                  <a:pt x="94383" y="108581"/>
                  <a:pt x="97063" y="110381"/>
                </a:cubicBezTo>
                <a:lnTo>
                  <a:pt x="135456" y="135976"/>
                </a:lnTo>
                <a:cubicBezTo>
                  <a:pt x="139856" y="138936"/>
                  <a:pt x="145814" y="137736"/>
                  <a:pt x="148774" y="133297"/>
                </a:cubicBezTo>
                <a:cubicBezTo>
                  <a:pt x="151733" y="128857"/>
                  <a:pt x="150534" y="122938"/>
                  <a:pt x="146094" y="119979"/>
                </a:cubicBezTo>
                <a:lnTo>
                  <a:pt x="111980" y="97263"/>
                </a:lnTo>
                <a:lnTo>
                  <a:pt x="111980" y="47992"/>
                </a:lnTo>
                <a:cubicBezTo>
                  <a:pt x="111980" y="42673"/>
                  <a:pt x="107701" y="38393"/>
                  <a:pt x="102382" y="38393"/>
                </a:cubicBezTo>
                <a:cubicBezTo>
                  <a:pt x="97063" y="38393"/>
                  <a:pt x="92784" y="42673"/>
                  <a:pt x="92784" y="47992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12547404" y="6370441"/>
            <a:ext cx="3173845" cy="318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12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性能要求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2285761" y="6779969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快速训练：线性回归、朴素贝叶斯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2285761" y="7098491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快速预测：线性回归、SVM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2285761" y="7417013"/>
            <a:ext cx="342411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0E2E6">
                    <a:alpha val="80000"/>
                  </a:srgbClr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可解释性：决策树、逻辑回归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477783" y="8054057"/>
            <a:ext cx="15323185" cy="637044"/>
          </a:xfrm>
          <a:custGeom>
            <a:avLst/>
            <a:gdLst/>
            <a:ahLst/>
            <a:cxnLst/>
            <a:rect l="l" t="t" r="r" b="b"/>
            <a:pathLst>
              <a:path w="15323185" h="637044">
                <a:moveTo>
                  <a:pt x="45503" y="0"/>
                </a:moveTo>
                <a:lnTo>
                  <a:pt x="15232177" y="0"/>
                </a:lnTo>
                <a:cubicBezTo>
                  <a:pt x="15282440" y="0"/>
                  <a:pt x="15323185" y="40746"/>
                  <a:pt x="15323185" y="91008"/>
                </a:cubicBezTo>
                <a:lnTo>
                  <a:pt x="15323185" y="546036"/>
                </a:lnTo>
                <a:cubicBezTo>
                  <a:pt x="15323185" y="596298"/>
                  <a:pt x="15282440" y="637044"/>
                  <a:pt x="15232177" y="637044"/>
                </a:cubicBezTo>
                <a:lnTo>
                  <a:pt x="45503" y="637044"/>
                </a:lnTo>
                <a:cubicBezTo>
                  <a:pt x="20372" y="637044"/>
                  <a:pt x="0" y="616672"/>
                  <a:pt x="0" y="591541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E5A16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77"/>
          <p:cNvSpPr/>
          <p:nvPr/>
        </p:nvSpPr>
        <p:spPr>
          <a:xfrm>
            <a:off x="477783" y="8054057"/>
            <a:ext cx="45503" cy="637044"/>
          </a:xfrm>
          <a:custGeom>
            <a:avLst/>
            <a:gdLst/>
            <a:ahLst/>
            <a:cxnLst/>
            <a:rect l="l" t="t" r="r" b="b"/>
            <a:pathLst>
              <a:path w="45503" h="637044">
                <a:moveTo>
                  <a:pt x="45503" y="0"/>
                </a:moveTo>
                <a:lnTo>
                  <a:pt x="45503" y="0"/>
                </a:lnTo>
                <a:lnTo>
                  <a:pt x="45503" y="637044"/>
                </a:lnTo>
                <a:lnTo>
                  <a:pt x="45503" y="637044"/>
                </a:lnTo>
                <a:cubicBezTo>
                  <a:pt x="20372" y="637044"/>
                  <a:pt x="0" y="616672"/>
                  <a:pt x="0" y="591541"/>
                </a:cubicBezTo>
                <a:lnTo>
                  <a:pt x="0" y="45503"/>
                </a:lnTo>
                <a:cubicBezTo>
                  <a:pt x="0" y="20372"/>
                  <a:pt x="20372" y="0"/>
                  <a:pt x="45503" y="0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78"/>
          <p:cNvSpPr/>
          <p:nvPr/>
        </p:nvSpPr>
        <p:spPr>
          <a:xfrm>
            <a:off x="710987" y="8258822"/>
            <a:ext cx="227516" cy="227516"/>
          </a:xfrm>
          <a:custGeom>
            <a:avLst/>
            <a:gdLst/>
            <a:ahLst/>
            <a:cxnLst/>
            <a:rect l="l" t="t" r="r" b="b"/>
            <a:pathLst>
              <a:path w="227516" h="227516">
                <a:moveTo>
                  <a:pt x="113758" y="0"/>
                </a:moveTo>
                <a:cubicBezTo>
                  <a:pt x="120290" y="0"/>
                  <a:pt x="126289" y="3599"/>
                  <a:pt x="129400" y="9332"/>
                </a:cubicBezTo>
                <a:lnTo>
                  <a:pt x="225383" y="187078"/>
                </a:lnTo>
                <a:cubicBezTo>
                  <a:pt x="228360" y="192589"/>
                  <a:pt x="228227" y="199254"/>
                  <a:pt x="225027" y="204631"/>
                </a:cubicBezTo>
                <a:cubicBezTo>
                  <a:pt x="221828" y="210008"/>
                  <a:pt x="216007" y="213296"/>
                  <a:pt x="209741" y="213296"/>
                </a:cubicBezTo>
                <a:lnTo>
                  <a:pt x="17775" y="213296"/>
                </a:lnTo>
                <a:cubicBezTo>
                  <a:pt x="11509" y="213296"/>
                  <a:pt x="5732" y="210008"/>
                  <a:pt x="2488" y="204631"/>
                </a:cubicBezTo>
                <a:cubicBezTo>
                  <a:pt x="-755" y="199254"/>
                  <a:pt x="-844" y="192589"/>
                  <a:pt x="2133" y="187078"/>
                </a:cubicBezTo>
                <a:lnTo>
                  <a:pt x="98116" y="9332"/>
                </a:lnTo>
                <a:cubicBezTo>
                  <a:pt x="101227" y="3599"/>
                  <a:pt x="107226" y="0"/>
                  <a:pt x="113758" y="0"/>
                </a:cubicBezTo>
                <a:close/>
                <a:moveTo>
                  <a:pt x="113758" y="74654"/>
                </a:moveTo>
                <a:cubicBezTo>
                  <a:pt x="107848" y="74654"/>
                  <a:pt x="103093" y="79408"/>
                  <a:pt x="103093" y="85318"/>
                </a:cubicBezTo>
                <a:lnTo>
                  <a:pt x="103093" y="135087"/>
                </a:lnTo>
                <a:cubicBezTo>
                  <a:pt x="103093" y="140998"/>
                  <a:pt x="107848" y="145752"/>
                  <a:pt x="113758" y="145752"/>
                </a:cubicBezTo>
                <a:cubicBezTo>
                  <a:pt x="119668" y="145752"/>
                  <a:pt x="124423" y="140998"/>
                  <a:pt x="124423" y="135087"/>
                </a:cubicBezTo>
                <a:lnTo>
                  <a:pt x="124423" y="85318"/>
                </a:lnTo>
                <a:cubicBezTo>
                  <a:pt x="124423" y="79408"/>
                  <a:pt x="119668" y="74654"/>
                  <a:pt x="113758" y="74654"/>
                </a:cubicBezTo>
                <a:close/>
                <a:moveTo>
                  <a:pt x="125622" y="170637"/>
                </a:moveTo>
                <a:cubicBezTo>
                  <a:pt x="125892" y="166233"/>
                  <a:pt x="123696" y="162043"/>
                  <a:pt x="119921" y="159759"/>
                </a:cubicBezTo>
                <a:cubicBezTo>
                  <a:pt x="116145" y="157476"/>
                  <a:pt x="111415" y="157476"/>
                  <a:pt x="107639" y="159759"/>
                </a:cubicBezTo>
                <a:cubicBezTo>
                  <a:pt x="103864" y="162043"/>
                  <a:pt x="101668" y="166233"/>
                  <a:pt x="101938" y="170637"/>
                </a:cubicBezTo>
                <a:cubicBezTo>
                  <a:pt x="101668" y="175041"/>
                  <a:pt x="103864" y="179231"/>
                  <a:pt x="107639" y="181514"/>
                </a:cubicBezTo>
                <a:cubicBezTo>
                  <a:pt x="111415" y="183798"/>
                  <a:pt x="116145" y="183798"/>
                  <a:pt x="119921" y="181514"/>
                </a:cubicBezTo>
                <a:cubicBezTo>
                  <a:pt x="123696" y="179231"/>
                  <a:pt x="125892" y="175041"/>
                  <a:pt x="125622" y="170637"/>
                </a:cubicBezTo>
                <a:close/>
              </a:path>
            </a:pathLst>
          </a:custGeom>
          <a:solidFill>
            <a:srgbClr val="E5A16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/>
          <p:nvPr/>
        </p:nvSpPr>
        <p:spPr>
          <a:xfrm>
            <a:off x="1103451" y="8236070"/>
            <a:ext cx="10101699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3" dirty="0">
                <a:solidFill>
                  <a:srgbClr val="E5A165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没有免费午餐定理：</a:t>
            </a:r>
            <a:r>
              <a:rPr lang="en-US" sz="143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没有最好的算法，只有最适合的算法。选择算法时需综合考虑数据特性、问题需求、性能要求等多个因素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5600</Words>
  <Application>Microsoft Macintosh PowerPoint</Application>
  <PresentationFormat>自定义</PresentationFormat>
  <Paragraphs>1167</Paragraphs>
  <Slides>40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6" baseType="lpstr">
      <vt:lpstr>KaiTi</vt:lpstr>
      <vt:lpstr>Calibri</vt:lpstr>
      <vt:lpstr>微软雅黑</vt:lpstr>
      <vt:lpstr>Noto Sans SC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机器学习经典算法</dc:title>
  <dc:subject>机器学习经典算法</dc:subject>
  <dc:creator>Kimi</dc:creator>
  <cp:lastModifiedBy>王 天青</cp:lastModifiedBy>
  <cp:revision>28</cp:revision>
  <dcterms:created xsi:type="dcterms:W3CDTF">2026-01-02T13:30:16Z</dcterms:created>
  <dcterms:modified xsi:type="dcterms:W3CDTF">2026-01-03T03:21:07Z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{"Label":"机器学习经典算法","ContentProducer":"001191110108MACG2KBH8F10000","ProduceID":"19b7ed7b-f632-81e5-8000-00000dbdca52","ReservedCode1":"","ContentPropagator":"001191110108MACG2KBH8F20000","PropagateID":"19b7ed7b-f632-81e5-8000-00000dbdca52","ReservedCode2":""}</vt:lpwstr>
  </property>
</Properties>
</file>