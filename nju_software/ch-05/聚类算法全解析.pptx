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embeddedFontLst>
    <p:embeddedFont>
      <p:font typeface="KaiTi" panose="02010609060101010101" pitchFamily="49" charset="-122"/>
      <p:regular r:id="rId51"/>
    </p:embeddedFont>
    <p:embeddedFont>
      <p:font typeface="Cambria Math" panose="02040503050406030204" pitchFamily="18" charset="0"/>
      <p:regular r:id="rId52"/>
    </p:embeddedFont>
    <p:embeddedFont>
      <p:font typeface="Liter" panose="02000503030000020004" pitchFamily="2" charset="0"/>
      <p:regular r:id="rId5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00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790575"/>
            <a:ext cx="2847975" cy="419100"/>
          </a:xfrm>
          <a:custGeom>
            <a:avLst/>
            <a:gdLst/>
            <a:ahLst/>
            <a:cxnLst/>
            <a:rect l="l" t="t" r="r" b="b"/>
            <a:pathLst>
              <a:path w="2847975" h="419100">
                <a:moveTo>
                  <a:pt x="0" y="0"/>
                </a:moveTo>
                <a:lnTo>
                  <a:pt x="2847975" y="0"/>
                </a:lnTo>
                <a:lnTo>
                  <a:pt x="28479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00050" y="7905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09600" y="866775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SERIES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514475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全解析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2907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Algorithms: From Theory to Practice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4872038"/>
            <a:ext cx="2686050" cy="1190625"/>
          </a:xfrm>
          <a:custGeom>
            <a:avLst/>
            <a:gdLst/>
            <a:ahLst/>
            <a:cxnLst/>
            <a:rect l="l" t="t" r="r" b="b"/>
            <a:pathLst>
              <a:path w="2686050" h="1190625">
                <a:moveTo>
                  <a:pt x="76200" y="0"/>
                </a:moveTo>
                <a:lnTo>
                  <a:pt x="2609850" y="0"/>
                </a:lnTo>
                <a:cubicBezTo>
                  <a:pt x="2651906" y="0"/>
                  <a:pt x="2686050" y="34144"/>
                  <a:pt x="2686050" y="76200"/>
                </a:cubicBezTo>
                <a:lnTo>
                  <a:pt x="2686050" y="1114425"/>
                </a:lnTo>
                <a:cubicBezTo>
                  <a:pt x="2686050" y="1156481"/>
                  <a:pt x="2651906" y="1190625"/>
                  <a:pt x="26098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81025" y="5067300"/>
            <a:ext cx="2524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56007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核心算法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06738" y="4872038"/>
            <a:ext cx="2686050" cy="1190625"/>
          </a:xfrm>
          <a:custGeom>
            <a:avLst/>
            <a:gdLst/>
            <a:ahLst/>
            <a:cxnLst/>
            <a:rect l="l" t="t" r="r" b="b"/>
            <a:pathLst>
              <a:path w="2686050" h="1190625">
                <a:moveTo>
                  <a:pt x="76200" y="0"/>
                </a:moveTo>
                <a:lnTo>
                  <a:pt x="2609850" y="0"/>
                </a:lnTo>
                <a:cubicBezTo>
                  <a:pt x="2651906" y="0"/>
                  <a:pt x="2686050" y="34144"/>
                  <a:pt x="2686050" y="76200"/>
                </a:cubicBezTo>
                <a:lnTo>
                  <a:pt x="2686050" y="1114425"/>
                </a:lnTo>
                <a:cubicBezTo>
                  <a:pt x="2686050" y="1156481"/>
                  <a:pt x="2651906" y="1190625"/>
                  <a:pt x="26098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 w="12700">
            <a:solidFill>
              <a:srgbClr val="C7A67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502000" y="5067300"/>
            <a:ext cx="2524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50+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02000" y="56007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知识点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7713" y="4872038"/>
            <a:ext cx="2686050" cy="1190625"/>
          </a:xfrm>
          <a:custGeom>
            <a:avLst/>
            <a:gdLst/>
            <a:ahLst/>
            <a:cxnLst/>
            <a:rect l="l" t="t" r="r" b="b"/>
            <a:pathLst>
              <a:path w="2686050" h="1190625">
                <a:moveTo>
                  <a:pt x="76200" y="0"/>
                </a:moveTo>
                <a:lnTo>
                  <a:pt x="2609850" y="0"/>
                </a:lnTo>
                <a:cubicBezTo>
                  <a:pt x="2651906" y="0"/>
                  <a:pt x="2686050" y="34144"/>
                  <a:pt x="2686050" y="76200"/>
                </a:cubicBezTo>
                <a:lnTo>
                  <a:pt x="2686050" y="1114425"/>
                </a:lnTo>
                <a:cubicBezTo>
                  <a:pt x="2686050" y="1156481"/>
                  <a:pt x="2651906" y="1190625"/>
                  <a:pt x="26098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12700">
            <a:solidFill>
              <a:srgbClr val="A99A8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422975" y="5067300"/>
            <a:ext cx="2524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22975" y="56007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实战案例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524000"/>
            <a:ext cx="5581650" cy="1771650"/>
          </a:xfrm>
          <a:custGeom>
            <a:avLst/>
            <a:gdLst/>
            <a:ahLst/>
            <a:cxnLst/>
            <a:rect l="l" t="t" r="r" b="b"/>
            <a:pathLst>
              <a:path w="5581650" h="177165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1657343"/>
                </a:lnTo>
                <a:cubicBezTo>
                  <a:pt x="5581650" y="1720431"/>
                  <a:pt x="5530431" y="1771650"/>
                  <a:pt x="5467343" y="1771650"/>
                </a:cubicBez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38100" cy="1771650"/>
          </a:xfrm>
          <a:custGeom>
            <a:avLst/>
            <a:gdLst/>
            <a:ahLst/>
            <a:cxnLst/>
            <a:rect l="l" t="t" r="r" b="b"/>
            <a:pathLst>
              <a:path w="38100" h="1771650">
                <a:moveTo>
                  <a:pt x="38100" y="0"/>
                </a:moveTo>
                <a:lnTo>
                  <a:pt x="38100" y="0"/>
                </a:lnTo>
                <a:lnTo>
                  <a:pt x="38100" y="1771650"/>
                </a:ln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77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83878" y="18859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9700" y="1752600"/>
            <a:ext cx="1028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基础理论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51460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理解无监督学习的核心思想,掌握聚类算法的数学基础与评估体系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876550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第3-12页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524000"/>
            <a:ext cx="5581650" cy="1771650"/>
          </a:xfrm>
          <a:custGeom>
            <a:avLst/>
            <a:gdLst/>
            <a:ahLst/>
            <a:cxnLst/>
            <a:rect l="l" t="t" r="r" b="b"/>
            <a:pathLst>
              <a:path w="5581650" h="177165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1657343"/>
                </a:lnTo>
                <a:cubicBezTo>
                  <a:pt x="5581650" y="1720431"/>
                  <a:pt x="5530431" y="1771650"/>
                  <a:pt x="5467343" y="1771650"/>
                </a:cubicBez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7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29350" y="1524000"/>
            <a:ext cx="38100" cy="1771650"/>
          </a:xfrm>
          <a:custGeom>
            <a:avLst/>
            <a:gdLst/>
            <a:ahLst/>
            <a:cxnLst/>
            <a:rect l="l" t="t" r="r" b="b"/>
            <a:pathLst>
              <a:path w="38100" h="1771650">
                <a:moveTo>
                  <a:pt x="38100" y="0"/>
                </a:moveTo>
                <a:lnTo>
                  <a:pt x="38100" y="0"/>
                </a:lnTo>
                <a:lnTo>
                  <a:pt x="38100" y="1771650"/>
                </a:ln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4770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13178" y="18859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0" y="1752600"/>
            <a:ext cx="110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深度解析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7000" y="251460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从数学原理到实战应用,全方位掌握最经典的划分聚类算法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0" y="2876550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第13-26页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524250"/>
            <a:ext cx="5581650" cy="1771650"/>
          </a:xfrm>
          <a:custGeom>
            <a:avLst/>
            <a:gdLst/>
            <a:ahLst/>
            <a:cxnLst/>
            <a:rect l="l" t="t" r="r" b="b"/>
            <a:pathLst>
              <a:path w="5581650" h="177165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1657343"/>
                </a:lnTo>
                <a:cubicBezTo>
                  <a:pt x="5581650" y="1720431"/>
                  <a:pt x="5530431" y="1771650"/>
                  <a:pt x="5467343" y="1771650"/>
                </a:cubicBez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99A8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00050" y="3524250"/>
            <a:ext cx="38100" cy="1771650"/>
          </a:xfrm>
          <a:custGeom>
            <a:avLst/>
            <a:gdLst/>
            <a:ahLst/>
            <a:cxnLst/>
            <a:rect l="l" t="t" r="r" b="b"/>
            <a:pathLst>
              <a:path w="38100" h="1771650">
                <a:moveTo>
                  <a:pt x="38100" y="0"/>
                </a:moveTo>
                <a:lnTo>
                  <a:pt x="38100" y="0"/>
                </a:lnTo>
                <a:lnTo>
                  <a:pt x="38100" y="1771650"/>
                </a:ln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7700" y="3752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83878" y="388620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09700" y="3752850"/>
            <a:ext cx="1047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密度聚类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" y="451485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探索基于密度的聚类思想,掌握处理任意形状簇与噪声的核心技术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" y="4876800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第27-38页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3524250"/>
            <a:ext cx="5581650" cy="1771650"/>
          </a:xfrm>
          <a:custGeom>
            <a:avLst/>
            <a:gdLst/>
            <a:ahLst/>
            <a:cxnLst/>
            <a:rect l="l" t="t" r="r" b="b"/>
            <a:pathLst>
              <a:path w="5581650" h="177165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1657343"/>
                </a:lnTo>
                <a:cubicBezTo>
                  <a:pt x="5581650" y="1720431"/>
                  <a:pt x="5530431" y="1771650"/>
                  <a:pt x="5467343" y="1771650"/>
                </a:cubicBez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29350" y="3524250"/>
            <a:ext cx="38100" cy="1771650"/>
          </a:xfrm>
          <a:custGeom>
            <a:avLst/>
            <a:gdLst/>
            <a:ahLst/>
            <a:cxnLst/>
            <a:rect l="l" t="t" r="r" b="b"/>
            <a:pathLst>
              <a:path w="38100" h="1771650">
                <a:moveTo>
                  <a:pt x="38100" y="0"/>
                </a:moveTo>
                <a:lnTo>
                  <a:pt x="38100" y="0"/>
                </a:lnTo>
                <a:lnTo>
                  <a:pt x="38100" y="1771650"/>
                </a:lnTo>
                <a:lnTo>
                  <a:pt x="38100" y="1771650"/>
                </a:lnTo>
                <a:cubicBezTo>
                  <a:pt x="17072" y="1771650"/>
                  <a:pt x="0" y="1754578"/>
                  <a:pt x="0" y="1733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77000" y="3752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13178" y="388620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0" y="3752850"/>
            <a:ext cx="1028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7000" y="451485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构建数据的层级结构,深入理解数据的亲疏关系与分类体系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0" y="4876800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第39-48页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1535906"/>
            <a:ext cx="1905000" cy="533400"/>
          </a:xfrm>
          <a:custGeom>
            <a:avLst/>
            <a:gdLst/>
            <a:ahLst/>
            <a:cxnLst/>
            <a:rect l="l" t="t" r="r" b="b"/>
            <a:pathLst>
              <a:path w="1905000" h="533400">
                <a:moveTo>
                  <a:pt x="0" y="0"/>
                </a:moveTo>
                <a:lnTo>
                  <a:pt x="1905000" y="0"/>
                </a:lnTo>
                <a:lnTo>
                  <a:pt x="1905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00050" y="1535906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7700" y="1650206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74106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基础理论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93406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理解无监督学习的核心思想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掌握聚类算法的数学基础与评估体系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58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聚类算法概述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9106" y="1259964"/>
            <a:ext cx="5595720" cy="1463781"/>
          </a:xfrm>
          <a:custGeom>
            <a:avLst/>
            <a:gdLst/>
            <a:ahLst/>
            <a:cxnLst/>
            <a:rect l="l" t="t" r="r" b="b"/>
            <a:pathLst>
              <a:path w="5595720" h="1463781">
                <a:moveTo>
                  <a:pt x="37058" y="0"/>
                </a:moveTo>
                <a:lnTo>
                  <a:pt x="5521609" y="0"/>
                </a:lnTo>
                <a:cubicBezTo>
                  <a:pt x="5562540" y="0"/>
                  <a:pt x="5595720" y="33181"/>
                  <a:pt x="5595720" y="74111"/>
                </a:cubicBezTo>
                <a:lnTo>
                  <a:pt x="5595720" y="1389670"/>
                </a:lnTo>
                <a:cubicBezTo>
                  <a:pt x="5595720" y="1430600"/>
                  <a:pt x="5562540" y="1463781"/>
                  <a:pt x="5521609" y="1463781"/>
                </a:cubicBezTo>
                <a:lnTo>
                  <a:pt x="37058" y="1463781"/>
                </a:lnTo>
                <a:cubicBezTo>
                  <a:pt x="16591" y="1463781"/>
                  <a:pt x="0" y="1447190"/>
                  <a:pt x="0" y="142672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9106" y="1259964"/>
            <a:ext cx="37058" cy="1463781"/>
          </a:xfrm>
          <a:custGeom>
            <a:avLst/>
            <a:gdLst/>
            <a:ahLst/>
            <a:cxnLst/>
            <a:rect l="l" t="t" r="r" b="b"/>
            <a:pathLst>
              <a:path w="37058" h="1463781">
                <a:moveTo>
                  <a:pt x="37058" y="0"/>
                </a:moveTo>
                <a:lnTo>
                  <a:pt x="37058" y="0"/>
                </a:lnTo>
                <a:lnTo>
                  <a:pt x="37058" y="1463781"/>
                </a:lnTo>
                <a:lnTo>
                  <a:pt x="37058" y="1463781"/>
                </a:lnTo>
                <a:cubicBezTo>
                  <a:pt x="16591" y="1463781"/>
                  <a:pt x="0" y="1447190"/>
                  <a:pt x="0" y="142672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2924" y="1445252"/>
            <a:ext cx="529925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什么是聚类?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2924" y="1815830"/>
            <a:ext cx="5280729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聚类是无监督学习中应用最广泛的技术之一。如果说分类是</a:t>
            </a: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"按图索骥"</a:t>
            </a: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,那么聚类就是</a:t>
            </a:r>
            <a:r>
              <a:rPr lang="en-US" sz="1167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"物以类聚,人以群分"</a:t>
            </a: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。在没有标签的情况下,算法旨在探索数据的内在结构,将样本划分为若干个不相交的子集。</a:t>
            </a:r>
            <a:r>
              <a:rPr lang="en-US" sz="116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核心目标:簇内相似度高、簇间相似度低。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9106" y="2909033"/>
            <a:ext cx="5595720" cy="1593483"/>
          </a:xfrm>
          <a:custGeom>
            <a:avLst/>
            <a:gdLst/>
            <a:ahLst/>
            <a:cxnLst/>
            <a:rect l="l" t="t" r="r" b="b"/>
            <a:pathLst>
              <a:path w="5595720" h="1593483">
                <a:moveTo>
                  <a:pt x="37058" y="0"/>
                </a:moveTo>
                <a:lnTo>
                  <a:pt x="5521607" y="0"/>
                </a:lnTo>
                <a:cubicBezTo>
                  <a:pt x="5562539" y="0"/>
                  <a:pt x="5595720" y="33181"/>
                  <a:pt x="5595720" y="74113"/>
                </a:cubicBezTo>
                <a:lnTo>
                  <a:pt x="5595720" y="1519370"/>
                </a:lnTo>
                <a:cubicBezTo>
                  <a:pt x="5595720" y="1560274"/>
                  <a:pt x="5562511" y="1593483"/>
                  <a:pt x="5521607" y="1593483"/>
                </a:cubicBezTo>
                <a:lnTo>
                  <a:pt x="37058" y="1593483"/>
                </a:lnTo>
                <a:cubicBezTo>
                  <a:pt x="16591" y="1593483"/>
                  <a:pt x="0" y="1576892"/>
                  <a:pt x="0" y="155642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89106" y="2909033"/>
            <a:ext cx="37058" cy="1593483"/>
          </a:xfrm>
          <a:custGeom>
            <a:avLst/>
            <a:gdLst/>
            <a:ahLst/>
            <a:cxnLst/>
            <a:rect l="l" t="t" r="r" b="b"/>
            <a:pathLst>
              <a:path w="37058" h="1593483">
                <a:moveTo>
                  <a:pt x="37058" y="0"/>
                </a:moveTo>
                <a:lnTo>
                  <a:pt x="37058" y="0"/>
                </a:lnTo>
                <a:lnTo>
                  <a:pt x="37058" y="1593483"/>
                </a:lnTo>
                <a:lnTo>
                  <a:pt x="37058" y="1593483"/>
                </a:lnTo>
                <a:cubicBezTo>
                  <a:pt x="16591" y="1593483"/>
                  <a:pt x="0" y="1576892"/>
                  <a:pt x="0" y="155642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2924" y="3094322"/>
            <a:ext cx="529925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生活中的类比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924" y="3464900"/>
            <a:ext cx="5280729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将聚类类比为</a:t>
            </a:r>
            <a:r>
              <a:rPr lang="en-US" sz="116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"整理杂乱的衣柜"</a:t>
            </a: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:面对一堆散落的衣物(未标记数据),根据特征(材质、季节、颜色)将它们归类,最终得到一堆堆整理好的衣物(簇)。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2924" y="4057824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37058" y="0"/>
                </a:moveTo>
                <a:lnTo>
                  <a:pt x="704097" y="0"/>
                </a:lnTo>
                <a:cubicBezTo>
                  <a:pt x="724563" y="0"/>
                  <a:pt x="741155" y="16592"/>
                  <a:pt x="741155" y="37058"/>
                </a:cubicBezTo>
                <a:lnTo>
                  <a:pt x="741155" y="222346"/>
                </a:lnTo>
                <a:cubicBezTo>
                  <a:pt x="741155" y="242813"/>
                  <a:pt x="724563" y="259404"/>
                  <a:pt x="704097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2924" y="4057824"/>
            <a:ext cx="806006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客户细分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45252" y="4057824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37058" y="0"/>
                </a:moveTo>
                <a:lnTo>
                  <a:pt x="704097" y="0"/>
                </a:lnTo>
                <a:cubicBezTo>
                  <a:pt x="724563" y="0"/>
                  <a:pt x="741155" y="16592"/>
                  <a:pt x="741155" y="37058"/>
                </a:cubicBezTo>
                <a:lnTo>
                  <a:pt x="741155" y="222346"/>
                </a:lnTo>
                <a:cubicBezTo>
                  <a:pt x="741155" y="242813"/>
                  <a:pt x="724563" y="259404"/>
                  <a:pt x="704097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445252" y="4057824"/>
            <a:ext cx="806006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97581" y="4057824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37058" y="0"/>
                </a:moveTo>
                <a:lnTo>
                  <a:pt x="704097" y="0"/>
                </a:lnTo>
                <a:cubicBezTo>
                  <a:pt x="724563" y="0"/>
                  <a:pt x="741155" y="16592"/>
                  <a:pt x="741155" y="37058"/>
                </a:cubicBezTo>
                <a:lnTo>
                  <a:pt x="741155" y="222346"/>
                </a:lnTo>
                <a:cubicBezTo>
                  <a:pt x="741155" y="242813"/>
                  <a:pt x="724563" y="259404"/>
                  <a:pt x="704097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97581" y="4057824"/>
            <a:ext cx="806006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文档归类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578" y="4687805"/>
            <a:ext cx="5614249" cy="1556426"/>
          </a:xfrm>
          <a:custGeom>
            <a:avLst/>
            <a:gdLst/>
            <a:ahLst/>
            <a:cxnLst/>
            <a:rect l="l" t="t" r="r" b="b"/>
            <a:pathLst>
              <a:path w="5614249" h="1556426">
                <a:moveTo>
                  <a:pt x="74117" y="0"/>
                </a:moveTo>
                <a:lnTo>
                  <a:pt x="5540132" y="0"/>
                </a:lnTo>
                <a:cubicBezTo>
                  <a:pt x="5581066" y="0"/>
                  <a:pt x="5614249" y="33183"/>
                  <a:pt x="5614249" y="74117"/>
                </a:cubicBezTo>
                <a:lnTo>
                  <a:pt x="5614249" y="1482309"/>
                </a:lnTo>
                <a:cubicBezTo>
                  <a:pt x="5614249" y="1523242"/>
                  <a:pt x="5581066" y="1556426"/>
                  <a:pt x="5540132" y="1556426"/>
                </a:cubicBezTo>
                <a:lnTo>
                  <a:pt x="74117" y="1556426"/>
                </a:lnTo>
                <a:cubicBezTo>
                  <a:pt x="33183" y="1556426"/>
                  <a:pt x="0" y="1523242"/>
                  <a:pt x="0" y="1482309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5866" y="4873094"/>
            <a:ext cx="533631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5866" y="5257568"/>
            <a:ext cx="83220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簇(Cluster):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6806" y="5257568"/>
            <a:ext cx="111173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相似对象的集合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866" y="5554030"/>
            <a:ext cx="108408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质心(Centroid):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8683" y="5554030"/>
            <a:ext cx="96350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簇的几何中心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5866" y="5850492"/>
            <a:ext cx="87744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噪声(Noise):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02042" y="5850492"/>
            <a:ext cx="12599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不属于任何簇的点</a:t>
            </a:r>
            <a:endParaRPr lang="en-US" sz="16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5E5B01E-F136-192E-0D8C-B85A5D20D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175" y="1767190"/>
            <a:ext cx="5815751" cy="3877167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24429A8-8546-15E9-7B00-CD9845558DF0}"/>
              </a:ext>
            </a:extLst>
          </p:cNvPr>
          <p:cNvSpPr txBox="1"/>
          <p:nvPr/>
        </p:nvSpPr>
        <p:spPr>
          <a:xfrm>
            <a:off x="7983971" y="126058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物以类聚，人以群分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622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kern="0" spc="55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629716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聚类分析的一般流程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63020" y="1189463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351060" y="1364385"/>
            <a:ext cx="183667" cy="209905"/>
          </a:xfrm>
          <a:custGeom>
            <a:avLst/>
            <a:gdLst/>
            <a:ahLst/>
            <a:cxnLst/>
            <a:rect l="l" t="t" r="r" b="b"/>
            <a:pathLst>
              <a:path w="183667" h="209905">
                <a:moveTo>
                  <a:pt x="183667" y="84372"/>
                </a:moveTo>
                <a:cubicBezTo>
                  <a:pt x="177600" y="88390"/>
                  <a:pt x="170630" y="91629"/>
                  <a:pt x="163374" y="94211"/>
                </a:cubicBezTo>
                <a:cubicBezTo>
                  <a:pt x="144105" y="101099"/>
                  <a:pt x="118810" y="104953"/>
                  <a:pt x="91834" y="104953"/>
                </a:cubicBezTo>
                <a:cubicBezTo>
                  <a:pt x="64857" y="104953"/>
                  <a:pt x="39521" y="101058"/>
                  <a:pt x="20294" y="94211"/>
                </a:cubicBezTo>
                <a:cubicBezTo>
                  <a:pt x="13078" y="91629"/>
                  <a:pt x="6068" y="88390"/>
                  <a:pt x="0" y="84372"/>
                </a:cubicBezTo>
                <a:lnTo>
                  <a:pt x="0" y="118072"/>
                </a:lnTo>
                <a:cubicBezTo>
                  <a:pt x="0" y="136192"/>
                  <a:pt x="41120" y="150869"/>
                  <a:pt x="91834" y="150869"/>
                </a:cubicBezTo>
                <a:cubicBezTo>
                  <a:pt x="142547" y="150869"/>
                  <a:pt x="183667" y="136192"/>
                  <a:pt x="183667" y="118072"/>
                </a:cubicBezTo>
                <a:lnTo>
                  <a:pt x="183667" y="84372"/>
                </a:lnTo>
                <a:close/>
                <a:moveTo>
                  <a:pt x="183667" y="52476"/>
                </a:moveTo>
                <a:lnTo>
                  <a:pt x="183667" y="32798"/>
                </a:lnTo>
                <a:cubicBezTo>
                  <a:pt x="183667" y="14677"/>
                  <a:pt x="142547" y="0"/>
                  <a:pt x="91834" y="0"/>
                </a:cubicBezTo>
                <a:cubicBezTo>
                  <a:pt x="41120" y="0"/>
                  <a:pt x="0" y="14677"/>
                  <a:pt x="0" y="32798"/>
                </a:cubicBezTo>
                <a:lnTo>
                  <a:pt x="0" y="52476"/>
                </a:lnTo>
                <a:cubicBezTo>
                  <a:pt x="0" y="70597"/>
                  <a:pt x="41120" y="85274"/>
                  <a:pt x="91834" y="85274"/>
                </a:cubicBezTo>
                <a:cubicBezTo>
                  <a:pt x="142547" y="85274"/>
                  <a:pt x="183667" y="70597"/>
                  <a:pt x="183667" y="52476"/>
                </a:cubicBezTo>
                <a:close/>
                <a:moveTo>
                  <a:pt x="163374" y="159807"/>
                </a:moveTo>
                <a:cubicBezTo>
                  <a:pt x="144146" y="166653"/>
                  <a:pt x="118851" y="170548"/>
                  <a:pt x="91834" y="170548"/>
                </a:cubicBezTo>
                <a:cubicBezTo>
                  <a:pt x="64816" y="170548"/>
                  <a:pt x="39521" y="166653"/>
                  <a:pt x="20294" y="159807"/>
                </a:cubicBezTo>
                <a:cubicBezTo>
                  <a:pt x="13078" y="157224"/>
                  <a:pt x="6068" y="153985"/>
                  <a:pt x="0" y="149968"/>
                </a:cubicBezTo>
                <a:lnTo>
                  <a:pt x="0" y="177108"/>
                </a:lnTo>
                <a:cubicBezTo>
                  <a:pt x="0" y="195228"/>
                  <a:pt x="41120" y="209905"/>
                  <a:pt x="91834" y="209905"/>
                </a:cubicBezTo>
                <a:cubicBezTo>
                  <a:pt x="142547" y="209905"/>
                  <a:pt x="183667" y="195228"/>
                  <a:pt x="183667" y="177108"/>
                </a:cubicBezTo>
                <a:lnTo>
                  <a:pt x="183667" y="149968"/>
                </a:lnTo>
                <a:cubicBezTo>
                  <a:pt x="177600" y="153985"/>
                  <a:pt x="170630" y="157224"/>
                  <a:pt x="163374" y="1598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10485" y="1819179"/>
            <a:ext cx="226522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数据准备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9231" y="2099053"/>
            <a:ext cx="2247736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89061" y="1189463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650863" y="1364385"/>
            <a:ext cx="236143" cy="209905"/>
          </a:xfrm>
          <a:custGeom>
            <a:avLst/>
            <a:gdLst/>
            <a:ahLst/>
            <a:cxnLst/>
            <a:rect l="l" t="t" r="r" b="b"/>
            <a:pathLst>
              <a:path w="236143" h="209905">
                <a:moveTo>
                  <a:pt x="232290" y="22384"/>
                </a:moveTo>
                <a:cubicBezTo>
                  <a:pt x="237414" y="17260"/>
                  <a:pt x="237414" y="8937"/>
                  <a:pt x="232290" y="3813"/>
                </a:cubicBezTo>
                <a:cubicBezTo>
                  <a:pt x="227165" y="-1312"/>
                  <a:pt x="218843" y="-1312"/>
                  <a:pt x="213718" y="3813"/>
                </a:cubicBezTo>
                <a:lnTo>
                  <a:pt x="135004" y="82527"/>
                </a:lnTo>
                <a:lnTo>
                  <a:pt x="120778" y="68301"/>
                </a:lnTo>
                <a:cubicBezTo>
                  <a:pt x="119056" y="66579"/>
                  <a:pt x="116678" y="65595"/>
                  <a:pt x="114218" y="65595"/>
                </a:cubicBezTo>
                <a:cubicBezTo>
                  <a:pt x="109093" y="65595"/>
                  <a:pt x="104953" y="69736"/>
                  <a:pt x="104953" y="74861"/>
                </a:cubicBezTo>
                <a:lnTo>
                  <a:pt x="104953" y="86791"/>
                </a:lnTo>
                <a:lnTo>
                  <a:pt x="149353" y="131191"/>
                </a:lnTo>
                <a:lnTo>
                  <a:pt x="161283" y="131191"/>
                </a:lnTo>
                <a:cubicBezTo>
                  <a:pt x="166407" y="131191"/>
                  <a:pt x="170548" y="127050"/>
                  <a:pt x="170548" y="121925"/>
                </a:cubicBezTo>
                <a:cubicBezTo>
                  <a:pt x="170548" y="119466"/>
                  <a:pt x="169564" y="117088"/>
                  <a:pt x="167842" y="115366"/>
                </a:cubicBezTo>
                <a:lnTo>
                  <a:pt x="153616" y="101140"/>
                </a:lnTo>
                <a:lnTo>
                  <a:pt x="232331" y="22425"/>
                </a:lnTo>
                <a:close/>
                <a:moveTo>
                  <a:pt x="139841" y="144884"/>
                </a:moveTo>
                <a:lnTo>
                  <a:pt x="91260" y="96302"/>
                </a:lnTo>
                <a:cubicBezTo>
                  <a:pt x="73754" y="94785"/>
                  <a:pt x="56330" y="101099"/>
                  <a:pt x="43785" y="113644"/>
                </a:cubicBezTo>
                <a:lnTo>
                  <a:pt x="40505" y="116924"/>
                </a:lnTo>
                <a:cubicBezTo>
                  <a:pt x="31363" y="126066"/>
                  <a:pt x="26238" y="138447"/>
                  <a:pt x="26238" y="151361"/>
                </a:cubicBezTo>
                <a:cubicBezTo>
                  <a:pt x="26238" y="154149"/>
                  <a:pt x="29149" y="155953"/>
                  <a:pt x="31650" y="154723"/>
                </a:cubicBezTo>
                <a:lnTo>
                  <a:pt x="52599" y="144269"/>
                </a:lnTo>
                <a:cubicBezTo>
                  <a:pt x="54649" y="143244"/>
                  <a:pt x="56494" y="145950"/>
                  <a:pt x="54813" y="147508"/>
                </a:cubicBezTo>
                <a:lnTo>
                  <a:pt x="2993" y="194080"/>
                </a:lnTo>
                <a:cubicBezTo>
                  <a:pt x="1107" y="195802"/>
                  <a:pt x="0" y="198262"/>
                  <a:pt x="0" y="200845"/>
                </a:cubicBezTo>
                <a:cubicBezTo>
                  <a:pt x="0" y="205847"/>
                  <a:pt x="4059" y="209905"/>
                  <a:pt x="9060" y="209905"/>
                </a:cubicBezTo>
                <a:lnTo>
                  <a:pt x="80108" y="209905"/>
                </a:lnTo>
                <a:cubicBezTo>
                  <a:pt x="96015" y="209905"/>
                  <a:pt x="111225" y="203592"/>
                  <a:pt x="122499" y="192359"/>
                </a:cubicBezTo>
                <a:cubicBezTo>
                  <a:pt x="135045" y="179813"/>
                  <a:pt x="141317" y="162390"/>
                  <a:pt x="139841" y="14488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36525" y="1819179"/>
            <a:ext cx="226522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数据预处理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45272" y="2099053"/>
            <a:ext cx="2247736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标准化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5101" y="1189463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976903" y="1364385"/>
            <a:ext cx="236143" cy="209905"/>
          </a:xfrm>
          <a:custGeom>
            <a:avLst/>
            <a:gdLst/>
            <a:ahLst/>
            <a:cxnLst/>
            <a:rect l="l" t="t" r="r" b="b"/>
            <a:pathLst>
              <a:path w="236143" h="209905">
                <a:moveTo>
                  <a:pt x="85725" y="211627"/>
                </a:moveTo>
                <a:cubicBezTo>
                  <a:pt x="78059" y="219294"/>
                  <a:pt x="65595" y="219294"/>
                  <a:pt x="57888" y="211627"/>
                </a:cubicBezTo>
                <a:lnTo>
                  <a:pt x="11520" y="165259"/>
                </a:lnTo>
                <a:cubicBezTo>
                  <a:pt x="3854" y="157593"/>
                  <a:pt x="3854" y="145130"/>
                  <a:pt x="11520" y="137422"/>
                </a:cubicBezTo>
                <a:lnTo>
                  <a:pt x="18490" y="130453"/>
                </a:lnTo>
                <a:lnTo>
                  <a:pt x="48623" y="160586"/>
                </a:lnTo>
                <a:cubicBezTo>
                  <a:pt x="52476" y="164439"/>
                  <a:pt x="58708" y="164439"/>
                  <a:pt x="62521" y="160586"/>
                </a:cubicBezTo>
                <a:cubicBezTo>
                  <a:pt x="66333" y="156732"/>
                  <a:pt x="66374" y="150500"/>
                  <a:pt x="62521" y="146688"/>
                </a:cubicBezTo>
                <a:lnTo>
                  <a:pt x="32388" y="116555"/>
                </a:lnTo>
                <a:lnTo>
                  <a:pt x="46286" y="102657"/>
                </a:lnTo>
                <a:lnTo>
                  <a:pt x="67153" y="123524"/>
                </a:lnTo>
                <a:cubicBezTo>
                  <a:pt x="71007" y="127378"/>
                  <a:pt x="77239" y="127378"/>
                  <a:pt x="81051" y="123524"/>
                </a:cubicBezTo>
                <a:cubicBezTo>
                  <a:pt x="84864" y="119671"/>
                  <a:pt x="84905" y="113439"/>
                  <a:pt x="81051" y="109626"/>
                </a:cubicBezTo>
                <a:lnTo>
                  <a:pt x="60184" y="88759"/>
                </a:lnTo>
                <a:lnTo>
                  <a:pt x="74082" y="74861"/>
                </a:lnTo>
                <a:lnTo>
                  <a:pt x="104215" y="104994"/>
                </a:lnTo>
                <a:cubicBezTo>
                  <a:pt x="108068" y="108847"/>
                  <a:pt x="114300" y="108847"/>
                  <a:pt x="118113" y="104994"/>
                </a:cubicBezTo>
                <a:cubicBezTo>
                  <a:pt x="121925" y="101140"/>
                  <a:pt x="121966" y="94908"/>
                  <a:pt x="118113" y="91096"/>
                </a:cubicBezTo>
                <a:lnTo>
                  <a:pt x="87980" y="60963"/>
                </a:lnTo>
                <a:lnTo>
                  <a:pt x="101878" y="47065"/>
                </a:lnTo>
                <a:lnTo>
                  <a:pt x="122745" y="67932"/>
                </a:lnTo>
                <a:cubicBezTo>
                  <a:pt x="126599" y="71786"/>
                  <a:pt x="132831" y="71786"/>
                  <a:pt x="136643" y="67932"/>
                </a:cubicBezTo>
                <a:cubicBezTo>
                  <a:pt x="140456" y="64079"/>
                  <a:pt x="140497" y="57847"/>
                  <a:pt x="136643" y="54034"/>
                </a:cubicBezTo>
                <a:lnTo>
                  <a:pt x="115776" y="33167"/>
                </a:lnTo>
                <a:lnTo>
                  <a:pt x="129674" y="19269"/>
                </a:lnTo>
                <a:lnTo>
                  <a:pt x="159807" y="49402"/>
                </a:lnTo>
                <a:cubicBezTo>
                  <a:pt x="163661" y="53255"/>
                  <a:pt x="169892" y="53255"/>
                  <a:pt x="173705" y="49402"/>
                </a:cubicBezTo>
                <a:cubicBezTo>
                  <a:pt x="177518" y="45548"/>
                  <a:pt x="177559" y="39316"/>
                  <a:pt x="173705" y="35504"/>
                </a:cubicBezTo>
                <a:lnTo>
                  <a:pt x="143572" y="5371"/>
                </a:lnTo>
                <a:lnTo>
                  <a:pt x="150541" y="-1599"/>
                </a:lnTo>
                <a:cubicBezTo>
                  <a:pt x="158208" y="-9265"/>
                  <a:pt x="170671" y="-9265"/>
                  <a:pt x="178379" y="-1599"/>
                </a:cubicBezTo>
                <a:lnTo>
                  <a:pt x="224869" y="44646"/>
                </a:lnTo>
                <a:cubicBezTo>
                  <a:pt x="232536" y="52312"/>
                  <a:pt x="232536" y="64775"/>
                  <a:pt x="224869" y="72483"/>
                </a:cubicBezTo>
                <a:lnTo>
                  <a:pt x="85725" y="21162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62566" y="1819179"/>
            <a:ext cx="226522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相似度计算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71312" y="2099053"/>
            <a:ext cx="2247736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距离度量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相似度函数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41142" y="1189463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316063" y="136438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0" y="32798"/>
                </a:moveTo>
                <a:cubicBezTo>
                  <a:pt x="0" y="21933"/>
                  <a:pt x="8814" y="13119"/>
                  <a:pt x="19679" y="13119"/>
                </a:cubicBezTo>
                <a:lnTo>
                  <a:pt x="59036" y="13119"/>
                </a:lnTo>
                <a:cubicBezTo>
                  <a:pt x="69900" y="13119"/>
                  <a:pt x="78714" y="21933"/>
                  <a:pt x="78714" y="32798"/>
                </a:cubicBezTo>
                <a:lnTo>
                  <a:pt x="78714" y="39357"/>
                </a:lnTo>
                <a:lnTo>
                  <a:pt x="131191" y="39357"/>
                </a:lnTo>
                <a:lnTo>
                  <a:pt x="131191" y="32798"/>
                </a:lnTo>
                <a:cubicBezTo>
                  <a:pt x="131191" y="21933"/>
                  <a:pt x="140005" y="13119"/>
                  <a:pt x="150869" y="13119"/>
                </a:cubicBezTo>
                <a:lnTo>
                  <a:pt x="190227" y="13119"/>
                </a:lnTo>
                <a:cubicBezTo>
                  <a:pt x="201091" y="13119"/>
                  <a:pt x="209905" y="21933"/>
                  <a:pt x="209905" y="32798"/>
                </a:cubicBezTo>
                <a:lnTo>
                  <a:pt x="209905" y="72155"/>
                </a:lnTo>
                <a:cubicBezTo>
                  <a:pt x="209905" y="83019"/>
                  <a:pt x="201091" y="91834"/>
                  <a:pt x="190227" y="91834"/>
                </a:cubicBezTo>
                <a:lnTo>
                  <a:pt x="150869" y="91834"/>
                </a:lnTo>
                <a:cubicBezTo>
                  <a:pt x="140005" y="91834"/>
                  <a:pt x="131191" y="83019"/>
                  <a:pt x="131191" y="72155"/>
                </a:cubicBezTo>
                <a:lnTo>
                  <a:pt x="131191" y="65595"/>
                </a:lnTo>
                <a:lnTo>
                  <a:pt x="78714" y="65595"/>
                </a:lnTo>
                <a:lnTo>
                  <a:pt x="78714" y="72155"/>
                </a:lnTo>
                <a:cubicBezTo>
                  <a:pt x="78714" y="75148"/>
                  <a:pt x="78018" y="78018"/>
                  <a:pt x="76829" y="80559"/>
                </a:cubicBezTo>
                <a:lnTo>
                  <a:pt x="104953" y="118072"/>
                </a:lnTo>
                <a:lnTo>
                  <a:pt x="137750" y="118072"/>
                </a:lnTo>
                <a:cubicBezTo>
                  <a:pt x="148615" y="118072"/>
                  <a:pt x="157429" y="126886"/>
                  <a:pt x="157429" y="137750"/>
                </a:cubicBezTo>
                <a:lnTo>
                  <a:pt x="157429" y="177108"/>
                </a:lnTo>
                <a:cubicBezTo>
                  <a:pt x="157429" y="187972"/>
                  <a:pt x="148615" y="196786"/>
                  <a:pt x="137750" y="196786"/>
                </a:cubicBezTo>
                <a:lnTo>
                  <a:pt x="98393" y="196786"/>
                </a:lnTo>
                <a:cubicBezTo>
                  <a:pt x="87529" y="196786"/>
                  <a:pt x="78714" y="187972"/>
                  <a:pt x="78714" y="177108"/>
                </a:cubicBezTo>
                <a:lnTo>
                  <a:pt x="78714" y="137750"/>
                </a:lnTo>
                <a:cubicBezTo>
                  <a:pt x="78714" y="134758"/>
                  <a:pt x="79411" y="131888"/>
                  <a:pt x="80600" y="129346"/>
                </a:cubicBezTo>
                <a:lnTo>
                  <a:pt x="52476" y="91834"/>
                </a:lnTo>
                <a:lnTo>
                  <a:pt x="19679" y="91834"/>
                </a:lnTo>
                <a:cubicBezTo>
                  <a:pt x="8814" y="91834"/>
                  <a:pt x="0" y="83019"/>
                  <a:pt x="0" y="72155"/>
                </a:cubicBezTo>
                <a:lnTo>
                  <a:pt x="0" y="327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288607" y="1819179"/>
            <a:ext cx="226522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聚类算法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97353" y="2099053"/>
            <a:ext cx="2247736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算法选择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参数调优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67182" y="1189463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642103" y="136438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26238" y="26238"/>
                </a:moveTo>
                <a:cubicBezTo>
                  <a:pt x="26238" y="18982"/>
                  <a:pt x="20376" y="13119"/>
                  <a:pt x="13119" y="13119"/>
                </a:cubicBezTo>
                <a:cubicBezTo>
                  <a:pt x="5863" y="13119"/>
                  <a:pt x="0" y="18982"/>
                  <a:pt x="0" y="26238"/>
                </a:cubicBezTo>
                <a:lnTo>
                  <a:pt x="0" y="163989"/>
                </a:lnTo>
                <a:cubicBezTo>
                  <a:pt x="0" y="182109"/>
                  <a:pt x="14677" y="196786"/>
                  <a:pt x="32798" y="196786"/>
                </a:cubicBezTo>
                <a:lnTo>
                  <a:pt x="196786" y="196786"/>
                </a:lnTo>
                <a:cubicBezTo>
                  <a:pt x="204043" y="196786"/>
                  <a:pt x="209905" y="190924"/>
                  <a:pt x="209905" y="183667"/>
                </a:cubicBezTo>
                <a:cubicBezTo>
                  <a:pt x="209905" y="176411"/>
                  <a:pt x="204043" y="170548"/>
                  <a:pt x="196786" y="170548"/>
                </a:cubicBezTo>
                <a:lnTo>
                  <a:pt x="32798" y="170548"/>
                </a:lnTo>
                <a:cubicBezTo>
                  <a:pt x="29190" y="170548"/>
                  <a:pt x="26238" y="167596"/>
                  <a:pt x="26238" y="163989"/>
                </a:cubicBezTo>
                <a:lnTo>
                  <a:pt x="26238" y="26238"/>
                </a:lnTo>
                <a:close/>
                <a:moveTo>
                  <a:pt x="192932" y="61742"/>
                </a:moveTo>
                <a:cubicBezTo>
                  <a:pt x="198057" y="56617"/>
                  <a:pt x="198057" y="48295"/>
                  <a:pt x="192932" y="43170"/>
                </a:cubicBezTo>
                <a:cubicBezTo>
                  <a:pt x="187808" y="38045"/>
                  <a:pt x="179485" y="38045"/>
                  <a:pt x="174361" y="43170"/>
                </a:cubicBezTo>
                <a:lnTo>
                  <a:pt x="131191" y="86381"/>
                </a:lnTo>
                <a:lnTo>
                  <a:pt x="107658" y="62890"/>
                </a:lnTo>
                <a:cubicBezTo>
                  <a:pt x="102534" y="57765"/>
                  <a:pt x="94211" y="57765"/>
                  <a:pt x="89087" y="62890"/>
                </a:cubicBezTo>
                <a:lnTo>
                  <a:pt x="49730" y="102247"/>
                </a:lnTo>
                <a:cubicBezTo>
                  <a:pt x="44605" y="107371"/>
                  <a:pt x="44605" y="115694"/>
                  <a:pt x="49730" y="120819"/>
                </a:cubicBezTo>
                <a:cubicBezTo>
                  <a:pt x="54854" y="125943"/>
                  <a:pt x="63177" y="125943"/>
                  <a:pt x="68301" y="120819"/>
                </a:cubicBezTo>
                <a:lnTo>
                  <a:pt x="98393" y="90727"/>
                </a:lnTo>
                <a:lnTo>
                  <a:pt x="121925" y="114259"/>
                </a:lnTo>
                <a:cubicBezTo>
                  <a:pt x="127050" y="119384"/>
                  <a:pt x="135373" y="119384"/>
                  <a:pt x="140497" y="114259"/>
                </a:cubicBezTo>
                <a:lnTo>
                  <a:pt x="192973" y="6178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614647" y="1819179"/>
            <a:ext cx="226522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结果评估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23393" y="2099053"/>
            <a:ext cx="2247736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质量评估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业务解释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7334" y="2658801"/>
            <a:ext cx="5623713" cy="1854164"/>
          </a:xfrm>
          <a:custGeom>
            <a:avLst/>
            <a:gdLst/>
            <a:ahLst/>
            <a:cxnLst/>
            <a:rect l="l" t="t" r="r" b="b"/>
            <a:pathLst>
              <a:path w="5623713" h="1854164">
                <a:moveTo>
                  <a:pt x="34984" y="0"/>
                </a:moveTo>
                <a:lnTo>
                  <a:pt x="5553737" y="0"/>
                </a:lnTo>
                <a:cubicBezTo>
                  <a:pt x="5592384" y="0"/>
                  <a:pt x="5623713" y="31329"/>
                  <a:pt x="5623713" y="69976"/>
                </a:cubicBezTo>
                <a:lnTo>
                  <a:pt x="5623713" y="1784187"/>
                </a:lnTo>
                <a:cubicBezTo>
                  <a:pt x="5623713" y="1822834"/>
                  <a:pt x="5592384" y="1854164"/>
                  <a:pt x="5553737" y="1854164"/>
                </a:cubicBezTo>
                <a:lnTo>
                  <a:pt x="34984" y="1854164"/>
                </a:lnTo>
                <a:cubicBezTo>
                  <a:pt x="15663" y="1854164"/>
                  <a:pt x="0" y="1838501"/>
                  <a:pt x="0" y="1819179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7334" y="2658801"/>
            <a:ext cx="34984" cy="1854164"/>
          </a:xfrm>
          <a:custGeom>
            <a:avLst/>
            <a:gdLst/>
            <a:ahLst/>
            <a:cxnLst/>
            <a:rect l="l" t="t" r="r" b="b"/>
            <a:pathLst>
              <a:path w="34984" h="1854164">
                <a:moveTo>
                  <a:pt x="34984" y="0"/>
                </a:moveTo>
                <a:lnTo>
                  <a:pt x="34984" y="0"/>
                </a:lnTo>
                <a:lnTo>
                  <a:pt x="34984" y="1854164"/>
                </a:lnTo>
                <a:lnTo>
                  <a:pt x="34984" y="1854164"/>
                </a:lnTo>
                <a:cubicBezTo>
                  <a:pt x="15663" y="1854164"/>
                  <a:pt x="0" y="1838501"/>
                  <a:pt x="0" y="1819179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81613" y="2886198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87461" y="0"/>
                </a:moveTo>
                <a:cubicBezTo>
                  <a:pt x="92483" y="0"/>
                  <a:pt x="97095" y="2767"/>
                  <a:pt x="99486" y="7174"/>
                </a:cubicBezTo>
                <a:lnTo>
                  <a:pt x="173281" y="143832"/>
                </a:lnTo>
                <a:cubicBezTo>
                  <a:pt x="175570" y="148068"/>
                  <a:pt x="175468" y="153193"/>
                  <a:pt x="173008" y="157326"/>
                </a:cubicBezTo>
                <a:cubicBezTo>
                  <a:pt x="170548" y="161460"/>
                  <a:pt x="166073" y="163989"/>
                  <a:pt x="161255" y="163989"/>
                </a:cubicBezTo>
                <a:lnTo>
                  <a:pt x="13666" y="163989"/>
                </a:lnTo>
                <a:cubicBezTo>
                  <a:pt x="8849" y="163989"/>
                  <a:pt x="4407" y="161460"/>
                  <a:pt x="1913" y="157326"/>
                </a:cubicBezTo>
                <a:cubicBezTo>
                  <a:pt x="-581" y="153193"/>
                  <a:pt x="-649" y="148068"/>
                  <a:pt x="1640" y="143832"/>
                </a:cubicBezTo>
                <a:lnTo>
                  <a:pt x="75435" y="7174"/>
                </a:lnTo>
                <a:cubicBezTo>
                  <a:pt x="77826" y="2767"/>
                  <a:pt x="82438" y="0"/>
                  <a:pt x="87461" y="0"/>
                </a:cubicBezTo>
                <a:close/>
                <a:moveTo>
                  <a:pt x="87461" y="57396"/>
                </a:moveTo>
                <a:cubicBezTo>
                  <a:pt x="82917" y="57396"/>
                  <a:pt x="79261" y="61052"/>
                  <a:pt x="79261" y="65595"/>
                </a:cubicBezTo>
                <a:lnTo>
                  <a:pt x="79261" y="103859"/>
                </a:lnTo>
                <a:cubicBezTo>
                  <a:pt x="79261" y="108403"/>
                  <a:pt x="82917" y="112059"/>
                  <a:pt x="87461" y="112059"/>
                </a:cubicBezTo>
                <a:cubicBezTo>
                  <a:pt x="92004" y="112059"/>
                  <a:pt x="95660" y="108403"/>
                  <a:pt x="95660" y="103859"/>
                </a:cubicBezTo>
                <a:lnTo>
                  <a:pt x="95660" y="65595"/>
                </a:lnTo>
                <a:cubicBezTo>
                  <a:pt x="95660" y="61052"/>
                  <a:pt x="92004" y="57396"/>
                  <a:pt x="87461" y="57396"/>
                </a:cubicBezTo>
                <a:close/>
                <a:moveTo>
                  <a:pt x="96582" y="131191"/>
                </a:moveTo>
                <a:cubicBezTo>
                  <a:pt x="96790" y="127805"/>
                  <a:pt x="95101" y="124583"/>
                  <a:pt x="92199" y="122828"/>
                </a:cubicBezTo>
                <a:cubicBezTo>
                  <a:pt x="89296" y="121072"/>
                  <a:pt x="85659" y="121072"/>
                  <a:pt x="82756" y="122828"/>
                </a:cubicBezTo>
                <a:cubicBezTo>
                  <a:pt x="79854" y="124583"/>
                  <a:pt x="78165" y="127805"/>
                  <a:pt x="78373" y="131191"/>
                </a:cubicBezTo>
                <a:cubicBezTo>
                  <a:pt x="78165" y="134577"/>
                  <a:pt x="79854" y="137798"/>
                  <a:pt x="82756" y="139554"/>
                </a:cubicBezTo>
                <a:cubicBezTo>
                  <a:pt x="85659" y="141310"/>
                  <a:pt x="89296" y="141310"/>
                  <a:pt x="92199" y="139554"/>
                </a:cubicBezTo>
                <a:cubicBezTo>
                  <a:pt x="95101" y="137798"/>
                  <a:pt x="96790" y="134577"/>
                  <a:pt x="96582" y="131191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6584" y="2833722"/>
            <a:ext cx="507700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数据标准化的重要性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9747" y="3183564"/>
            <a:ext cx="5326347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聚类算法基于距离度量,</a:t>
            </a:r>
            <a:r>
              <a:rPr lang="en-US" sz="110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数据标准化至关重要</a:t>
            </a:r>
            <a:r>
              <a:rPr lang="en-US" sz="110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。如果特征量纲不一致(如"身高"cm和"收入"万元),数值范围大的特征将主导距离计算,导致聚类失效。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9747" y="3743311"/>
            <a:ext cx="5256379" cy="594732"/>
          </a:xfrm>
          <a:custGeom>
            <a:avLst/>
            <a:gdLst/>
            <a:ahLst/>
            <a:cxnLst/>
            <a:rect l="l" t="t" r="r" b="b"/>
            <a:pathLst>
              <a:path w="5256379" h="594732">
                <a:moveTo>
                  <a:pt x="34982" y="0"/>
                </a:moveTo>
                <a:lnTo>
                  <a:pt x="5221397" y="0"/>
                </a:lnTo>
                <a:cubicBezTo>
                  <a:pt x="5240717" y="0"/>
                  <a:pt x="5256379" y="15662"/>
                  <a:pt x="5256379" y="34982"/>
                </a:cubicBezTo>
                <a:lnTo>
                  <a:pt x="5256379" y="559750"/>
                </a:lnTo>
                <a:cubicBezTo>
                  <a:pt x="5256379" y="579070"/>
                  <a:pt x="5240717" y="594732"/>
                  <a:pt x="5221397" y="594732"/>
                </a:cubicBezTo>
                <a:lnTo>
                  <a:pt x="34982" y="594732"/>
                </a:lnTo>
                <a:cubicBezTo>
                  <a:pt x="15662" y="594732"/>
                  <a:pt x="0" y="579070"/>
                  <a:pt x="0" y="559750"/>
                </a:cubicBezTo>
                <a:lnTo>
                  <a:pt x="0" y="34982"/>
                </a:lnTo>
                <a:cubicBezTo>
                  <a:pt x="0" y="15675"/>
                  <a:pt x="15675" y="0"/>
                  <a:pt x="3498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4700" y="3848264"/>
            <a:ext cx="510769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常用方法: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4700" y="4058169"/>
            <a:ext cx="510769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Z-Score(均值0,方差1) | Min-Max(0-1范围)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7334" y="4652901"/>
            <a:ext cx="5623713" cy="1626766"/>
          </a:xfrm>
          <a:custGeom>
            <a:avLst/>
            <a:gdLst/>
            <a:ahLst/>
            <a:cxnLst/>
            <a:rect l="l" t="t" r="r" b="b"/>
            <a:pathLst>
              <a:path w="5623713" h="1626766">
                <a:moveTo>
                  <a:pt x="34984" y="0"/>
                </a:moveTo>
                <a:lnTo>
                  <a:pt x="5553746" y="0"/>
                </a:lnTo>
                <a:cubicBezTo>
                  <a:pt x="5592388" y="0"/>
                  <a:pt x="5623713" y="31325"/>
                  <a:pt x="5623713" y="69967"/>
                </a:cubicBezTo>
                <a:lnTo>
                  <a:pt x="5623713" y="1556799"/>
                </a:lnTo>
                <a:cubicBezTo>
                  <a:pt x="5623713" y="1595441"/>
                  <a:pt x="5592388" y="1626766"/>
                  <a:pt x="5553746" y="1626766"/>
                </a:cubicBezTo>
                <a:lnTo>
                  <a:pt x="34984" y="1626766"/>
                </a:lnTo>
                <a:cubicBezTo>
                  <a:pt x="15663" y="1626766"/>
                  <a:pt x="0" y="1611103"/>
                  <a:pt x="0" y="159178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67334" y="4652901"/>
            <a:ext cx="34984" cy="1626766"/>
          </a:xfrm>
          <a:custGeom>
            <a:avLst/>
            <a:gdLst/>
            <a:ahLst/>
            <a:cxnLst/>
            <a:rect l="l" t="t" r="r" b="b"/>
            <a:pathLst>
              <a:path w="34984" h="1626766">
                <a:moveTo>
                  <a:pt x="34984" y="0"/>
                </a:moveTo>
                <a:lnTo>
                  <a:pt x="34984" y="0"/>
                </a:lnTo>
                <a:lnTo>
                  <a:pt x="34984" y="1626766"/>
                </a:lnTo>
                <a:lnTo>
                  <a:pt x="34984" y="1626766"/>
                </a:lnTo>
                <a:cubicBezTo>
                  <a:pt x="15663" y="1626766"/>
                  <a:pt x="0" y="1611103"/>
                  <a:pt x="0" y="159178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81613" y="4880298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50152" y="2391"/>
                </a:moveTo>
                <a:cubicBezTo>
                  <a:pt x="153363" y="-820"/>
                  <a:pt x="158556" y="-820"/>
                  <a:pt x="161734" y="2391"/>
                </a:cubicBezTo>
                <a:lnTo>
                  <a:pt x="172666" y="13324"/>
                </a:lnTo>
                <a:cubicBezTo>
                  <a:pt x="175878" y="16536"/>
                  <a:pt x="175878" y="21728"/>
                  <a:pt x="172666" y="24906"/>
                </a:cubicBezTo>
                <a:lnTo>
                  <a:pt x="142943" y="54629"/>
                </a:lnTo>
                <a:lnTo>
                  <a:pt x="156267" y="67953"/>
                </a:lnTo>
                <a:cubicBezTo>
                  <a:pt x="158625" y="70310"/>
                  <a:pt x="159308" y="73829"/>
                  <a:pt x="158044" y="76904"/>
                </a:cubicBezTo>
                <a:cubicBezTo>
                  <a:pt x="156780" y="79979"/>
                  <a:pt x="153808" y="81994"/>
                  <a:pt x="150494" y="81994"/>
                </a:cubicBezTo>
                <a:lnTo>
                  <a:pt x="101297" y="81994"/>
                </a:lnTo>
                <a:cubicBezTo>
                  <a:pt x="96753" y="81994"/>
                  <a:pt x="93098" y="78339"/>
                  <a:pt x="93098" y="73795"/>
                </a:cubicBezTo>
                <a:lnTo>
                  <a:pt x="93098" y="24598"/>
                </a:lnTo>
                <a:cubicBezTo>
                  <a:pt x="93098" y="21284"/>
                  <a:pt x="95079" y="18278"/>
                  <a:pt x="98154" y="17014"/>
                </a:cubicBezTo>
                <a:cubicBezTo>
                  <a:pt x="101229" y="15750"/>
                  <a:pt x="104748" y="16433"/>
                  <a:pt x="107105" y="18790"/>
                </a:cubicBezTo>
                <a:lnTo>
                  <a:pt x="120429" y="32114"/>
                </a:lnTo>
                <a:lnTo>
                  <a:pt x="150152" y="2391"/>
                </a:lnTo>
                <a:close/>
                <a:moveTo>
                  <a:pt x="24769" y="92927"/>
                </a:moveTo>
                <a:lnTo>
                  <a:pt x="73966" y="92927"/>
                </a:lnTo>
                <a:cubicBezTo>
                  <a:pt x="78510" y="92927"/>
                  <a:pt x="82165" y="96582"/>
                  <a:pt x="82165" y="101126"/>
                </a:cubicBezTo>
                <a:lnTo>
                  <a:pt x="82165" y="150323"/>
                </a:lnTo>
                <a:cubicBezTo>
                  <a:pt x="82165" y="153637"/>
                  <a:pt x="80184" y="156643"/>
                  <a:pt x="77109" y="157907"/>
                </a:cubicBezTo>
                <a:cubicBezTo>
                  <a:pt x="74034" y="159171"/>
                  <a:pt x="70515" y="158488"/>
                  <a:pt x="68158" y="156131"/>
                </a:cubicBezTo>
                <a:lnTo>
                  <a:pt x="54834" y="142807"/>
                </a:lnTo>
                <a:lnTo>
                  <a:pt x="25111" y="172530"/>
                </a:lnTo>
                <a:cubicBezTo>
                  <a:pt x="21899" y="175741"/>
                  <a:pt x="16706" y="175741"/>
                  <a:pt x="13529" y="172530"/>
                </a:cubicBezTo>
                <a:lnTo>
                  <a:pt x="2596" y="161597"/>
                </a:lnTo>
                <a:cubicBezTo>
                  <a:pt x="-615" y="158386"/>
                  <a:pt x="-615" y="153193"/>
                  <a:pt x="2596" y="150015"/>
                </a:cubicBezTo>
                <a:lnTo>
                  <a:pt x="32319" y="120292"/>
                </a:lnTo>
                <a:lnTo>
                  <a:pt x="18995" y="106968"/>
                </a:lnTo>
                <a:cubicBezTo>
                  <a:pt x="16638" y="104611"/>
                  <a:pt x="15955" y="101092"/>
                  <a:pt x="17219" y="98017"/>
                </a:cubicBezTo>
                <a:cubicBezTo>
                  <a:pt x="18483" y="94943"/>
                  <a:pt x="21455" y="92927"/>
                  <a:pt x="24769" y="9292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6584" y="4827822"/>
            <a:ext cx="507700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降维的必要性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9747" y="5177664"/>
            <a:ext cx="5326347" cy="227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对于高维数据,</a:t>
            </a:r>
            <a:r>
              <a:rPr lang="en-US" sz="110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降维(如PCA)往往是必要的</a:t>
            </a:r>
            <a:r>
              <a:rPr lang="en-US" sz="110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,以避免"维数灾难"导致距离度量失效。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9747" y="5510014"/>
            <a:ext cx="5256379" cy="594732"/>
          </a:xfrm>
          <a:custGeom>
            <a:avLst/>
            <a:gdLst/>
            <a:ahLst/>
            <a:cxnLst/>
            <a:rect l="l" t="t" r="r" b="b"/>
            <a:pathLst>
              <a:path w="5256379" h="594732">
                <a:moveTo>
                  <a:pt x="34982" y="0"/>
                </a:moveTo>
                <a:lnTo>
                  <a:pt x="5221397" y="0"/>
                </a:lnTo>
                <a:cubicBezTo>
                  <a:pt x="5240717" y="0"/>
                  <a:pt x="5256379" y="15662"/>
                  <a:pt x="5256379" y="34982"/>
                </a:cubicBezTo>
                <a:lnTo>
                  <a:pt x="5256379" y="559750"/>
                </a:lnTo>
                <a:cubicBezTo>
                  <a:pt x="5256379" y="579070"/>
                  <a:pt x="5240717" y="594732"/>
                  <a:pt x="5221397" y="594732"/>
                </a:cubicBezTo>
                <a:lnTo>
                  <a:pt x="34982" y="594732"/>
                </a:lnTo>
                <a:cubicBezTo>
                  <a:pt x="15662" y="594732"/>
                  <a:pt x="0" y="579070"/>
                  <a:pt x="0" y="559750"/>
                </a:cubicBezTo>
                <a:lnTo>
                  <a:pt x="0" y="34982"/>
                </a:lnTo>
                <a:cubicBezTo>
                  <a:pt x="0" y="15675"/>
                  <a:pt x="15675" y="0"/>
                  <a:pt x="3498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64700" y="5614967"/>
            <a:ext cx="510769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维数灾难: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4700" y="5824872"/>
            <a:ext cx="510769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高维空间中所有点距离趋于相等,距离失去意义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9928" y="2658801"/>
            <a:ext cx="5641205" cy="3620867"/>
          </a:xfrm>
          <a:custGeom>
            <a:avLst/>
            <a:gdLst/>
            <a:ahLst/>
            <a:cxnLst/>
            <a:rect l="l" t="t" r="r" b="b"/>
            <a:pathLst>
              <a:path w="5641205" h="3620867">
                <a:moveTo>
                  <a:pt x="69955" y="0"/>
                </a:moveTo>
                <a:lnTo>
                  <a:pt x="5571250" y="0"/>
                </a:lnTo>
                <a:cubicBezTo>
                  <a:pt x="5609885" y="0"/>
                  <a:pt x="5641205" y="31320"/>
                  <a:pt x="5641205" y="69955"/>
                </a:cubicBezTo>
                <a:lnTo>
                  <a:pt x="5641205" y="3550911"/>
                </a:lnTo>
                <a:cubicBezTo>
                  <a:pt x="5641205" y="3589547"/>
                  <a:pt x="5609885" y="3620867"/>
                  <a:pt x="5571250" y="3620867"/>
                </a:cubicBezTo>
                <a:lnTo>
                  <a:pt x="69955" y="3620867"/>
                </a:lnTo>
                <a:cubicBezTo>
                  <a:pt x="31320" y="3620867"/>
                  <a:pt x="0" y="3589547"/>
                  <a:pt x="0" y="3550911"/>
                </a:cubicBezTo>
                <a:lnTo>
                  <a:pt x="0" y="69955"/>
                </a:lnTo>
                <a:cubicBezTo>
                  <a:pt x="0" y="31346"/>
                  <a:pt x="31346" y="0"/>
                  <a:pt x="69955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757670" y="3671156"/>
            <a:ext cx="524763" cy="524763"/>
          </a:xfrm>
          <a:custGeom>
            <a:avLst/>
            <a:gdLst/>
            <a:ahLst/>
            <a:cxnLst/>
            <a:rect l="l" t="t" r="r" b="b"/>
            <a:pathLst>
              <a:path w="524763" h="524763">
                <a:moveTo>
                  <a:pt x="262382" y="524763"/>
                </a:moveTo>
                <a:cubicBezTo>
                  <a:pt x="407194" y="524763"/>
                  <a:pt x="524763" y="407194"/>
                  <a:pt x="524763" y="262382"/>
                </a:cubicBezTo>
                <a:cubicBezTo>
                  <a:pt x="524763" y="117569"/>
                  <a:pt x="407194" y="0"/>
                  <a:pt x="262382" y="0"/>
                </a:cubicBezTo>
                <a:cubicBezTo>
                  <a:pt x="117569" y="0"/>
                  <a:pt x="0" y="117569"/>
                  <a:pt x="0" y="262382"/>
                </a:cubicBezTo>
                <a:cubicBezTo>
                  <a:pt x="0" y="407194"/>
                  <a:pt x="117569" y="524763"/>
                  <a:pt x="262382" y="524763"/>
                </a:cubicBezTo>
                <a:close/>
                <a:moveTo>
                  <a:pt x="262382" y="139390"/>
                </a:moveTo>
                <a:cubicBezTo>
                  <a:pt x="276013" y="139390"/>
                  <a:pt x="286980" y="150357"/>
                  <a:pt x="286980" y="163989"/>
                </a:cubicBezTo>
                <a:lnTo>
                  <a:pt x="286980" y="278780"/>
                </a:lnTo>
                <a:cubicBezTo>
                  <a:pt x="286980" y="292412"/>
                  <a:pt x="276013" y="303379"/>
                  <a:pt x="262382" y="303379"/>
                </a:cubicBezTo>
                <a:cubicBezTo>
                  <a:pt x="248750" y="303379"/>
                  <a:pt x="237783" y="292412"/>
                  <a:pt x="237783" y="278780"/>
                </a:cubicBezTo>
                <a:lnTo>
                  <a:pt x="237783" y="163989"/>
                </a:lnTo>
                <a:cubicBezTo>
                  <a:pt x="237783" y="150357"/>
                  <a:pt x="248750" y="139390"/>
                  <a:pt x="262382" y="139390"/>
                </a:cubicBezTo>
                <a:close/>
                <a:moveTo>
                  <a:pt x="235016" y="360775"/>
                </a:moveTo>
                <a:cubicBezTo>
                  <a:pt x="234394" y="350617"/>
                  <a:pt x="239459" y="340953"/>
                  <a:pt x="248167" y="335686"/>
                </a:cubicBezTo>
                <a:cubicBezTo>
                  <a:pt x="256875" y="330418"/>
                  <a:pt x="267786" y="330418"/>
                  <a:pt x="276494" y="335686"/>
                </a:cubicBezTo>
                <a:cubicBezTo>
                  <a:pt x="285202" y="340953"/>
                  <a:pt x="290267" y="350617"/>
                  <a:pt x="289645" y="360775"/>
                </a:cubicBezTo>
                <a:cubicBezTo>
                  <a:pt x="290267" y="370933"/>
                  <a:pt x="285202" y="380597"/>
                  <a:pt x="276494" y="385864"/>
                </a:cubicBezTo>
                <a:cubicBezTo>
                  <a:pt x="267786" y="391131"/>
                  <a:pt x="256875" y="391131"/>
                  <a:pt x="248167" y="385864"/>
                </a:cubicBezTo>
                <a:cubicBezTo>
                  <a:pt x="239459" y="380597"/>
                  <a:pt x="234394" y="370933"/>
                  <a:pt x="235016" y="360775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923652" y="4335857"/>
            <a:ext cx="2195260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关键提醒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36771" y="4755667"/>
            <a:ext cx="216902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4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数据预处理是聚类成功的关键!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4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跳过标准化 = 无效聚类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DISTANCE METRICS (1)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距离与相似度度量(一): 闵可夫斯基距离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955150"/>
            <a:ext cx="11541125" cy="1381125"/>
          </a:xfrm>
          <a:custGeom>
            <a:avLst/>
            <a:gdLst/>
            <a:ahLst/>
            <a:cxnLst/>
            <a:rect l="l" t="t" r="r" b="b"/>
            <a:pathLst>
              <a:path w="11541125" h="1381125">
                <a:moveTo>
                  <a:pt x="31750" y="0"/>
                </a:moveTo>
                <a:lnTo>
                  <a:pt x="11477621" y="0"/>
                </a:lnTo>
                <a:cubicBezTo>
                  <a:pt x="11512693" y="0"/>
                  <a:pt x="11541125" y="28432"/>
                  <a:pt x="11541125" y="63504"/>
                </a:cubicBezTo>
                <a:lnTo>
                  <a:pt x="11541125" y="1317621"/>
                </a:lnTo>
                <a:cubicBezTo>
                  <a:pt x="11541125" y="1352693"/>
                  <a:pt x="11512693" y="1381125"/>
                  <a:pt x="11477621" y="1381125"/>
                </a:cubicBezTo>
                <a:lnTo>
                  <a:pt x="31750" y="1381125"/>
                </a:lnTo>
                <a:cubicBezTo>
                  <a:pt x="14227" y="1381125"/>
                  <a:pt x="0" y="1366898"/>
                  <a:pt x="0" y="134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955150"/>
            <a:ext cx="31750" cy="1381125"/>
          </a:xfrm>
          <a:custGeom>
            <a:avLst/>
            <a:gdLst/>
            <a:ahLst/>
            <a:cxnLst/>
            <a:rect l="l" t="t" r="r" b="b"/>
            <a:pathLst>
              <a:path w="31750" h="1381125">
                <a:moveTo>
                  <a:pt x="31750" y="0"/>
                </a:moveTo>
                <a:lnTo>
                  <a:pt x="31750" y="0"/>
                </a:lnTo>
                <a:lnTo>
                  <a:pt x="31750" y="1381125"/>
                </a:lnTo>
                <a:lnTo>
                  <a:pt x="31750" y="1381125"/>
                </a:lnTo>
                <a:cubicBezTo>
                  <a:pt x="14227" y="1381125"/>
                  <a:pt x="0" y="1366898"/>
                  <a:pt x="0" y="134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6250" y="1082150"/>
            <a:ext cx="1135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闵可夫斯基距离 (Minkowski Distance)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399650"/>
            <a:ext cx="113347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这是距离度量的一般化形式,是聚类算法中最常用的距离家族。对于两个n维向量,其p范数距离定义为: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6250" y="1701275"/>
            <a:ext cx="11271250" cy="508000"/>
          </a:xfrm>
          <a:custGeom>
            <a:avLst/>
            <a:gdLst/>
            <a:ahLst/>
            <a:cxnLst/>
            <a:rect l="l" t="t" r="r" b="b"/>
            <a:pathLst>
              <a:path w="11271250" h="508000">
                <a:moveTo>
                  <a:pt x="63500" y="0"/>
                </a:moveTo>
                <a:lnTo>
                  <a:pt x="11207750" y="0"/>
                </a:lnTo>
                <a:cubicBezTo>
                  <a:pt x="11242797" y="0"/>
                  <a:pt x="11271250" y="28453"/>
                  <a:pt x="11271250" y="63500"/>
                </a:cubicBezTo>
                <a:lnTo>
                  <a:pt x="11271250" y="444500"/>
                </a:lnTo>
                <a:cubicBezTo>
                  <a:pt x="11271250" y="479547"/>
                  <a:pt x="11242797" y="508000"/>
                  <a:pt x="1120775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555625" y="1828275"/>
                <a:ext cx="11112500" cy="25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sepChr m:val=","/>
                          <m:ctrlPr>
                            <a:rPr lang="en-US" altLang="zh-CN" sz="150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50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500" i="0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50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500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n"/>
                                  <m:ctrlP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500" i="0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zh-CN" altLang="en-US" sz="1500" b="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lang="en-US" altLang="zh-CN" sz="1500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500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500" i="0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sz="1500" i="1" dirty="0" smtClean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1500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500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500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25" y="1828275"/>
                <a:ext cx="11112500" cy="254000"/>
              </a:xfrm>
              <a:prstGeom prst="rect">
                <a:avLst/>
              </a:prstGeom>
              <a:blipFill>
                <a:blip r:embed="rId3"/>
                <a:stretch>
                  <a:fillRect t="-323810" b="-5476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317500" y="2395150"/>
            <a:ext cx="3770313" cy="2159000"/>
          </a:xfrm>
          <a:custGeom>
            <a:avLst/>
            <a:gdLst/>
            <a:ahLst/>
            <a:cxnLst/>
            <a:rect l="l" t="t" r="r" b="b"/>
            <a:pathLst>
              <a:path w="3770313" h="215900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095504"/>
                </a:lnTo>
                <a:cubicBezTo>
                  <a:pt x="3770312" y="2130572"/>
                  <a:pt x="3741884" y="2159000"/>
                  <a:pt x="3706816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17500" y="239515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6250" y="2569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0432" y="2649150"/>
            <a:ext cx="33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p=1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649150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曼哈顿距离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3046025"/>
            <a:ext cx="3452813" cy="412750"/>
          </a:xfrm>
          <a:custGeom>
            <a:avLst/>
            <a:gdLst/>
            <a:ahLst/>
            <a:cxnLst/>
            <a:rect l="l" t="t" r="r" b="b"/>
            <a:pathLst>
              <a:path w="3452813" h="412750">
                <a:moveTo>
                  <a:pt x="31749" y="0"/>
                </a:moveTo>
                <a:lnTo>
                  <a:pt x="3421064" y="0"/>
                </a:lnTo>
                <a:cubicBezTo>
                  <a:pt x="3438598" y="0"/>
                  <a:pt x="3452813" y="14214"/>
                  <a:pt x="3452813" y="31749"/>
                </a:cubicBezTo>
                <a:lnTo>
                  <a:pt x="3452813" y="381001"/>
                </a:lnTo>
                <a:cubicBezTo>
                  <a:pt x="3452813" y="398536"/>
                  <a:pt x="3438598" y="412750"/>
                  <a:pt x="3421064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440531" y="3046025"/>
                <a:ext cx="3524250" cy="412750"/>
              </a:xfrm>
              <a:prstGeom prst="rect">
                <a:avLst/>
              </a:prstGeom>
              <a:noFill/>
              <a:ln/>
            </p:spPr>
            <p:txBody>
              <a:bodyPr wrap="square" lIns="95250" tIns="95250" rIns="95250" bIns="9525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25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𝑚𝑎𝑛h𝑎𝑡𝑡𝑎𝑛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1125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31" y="3046025"/>
                <a:ext cx="3524250" cy="412750"/>
              </a:xfrm>
              <a:prstGeom prst="rect">
                <a:avLst/>
              </a:prstGeom>
              <a:blipFill>
                <a:blip r:embed="rId4"/>
                <a:stretch>
                  <a:fillRect t="-124242" b="-2272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476250" y="3554025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也称城市街区距离,表示沿坐标轴方向的距离总和。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3855650"/>
            <a:ext cx="3452813" cy="539750"/>
          </a:xfrm>
          <a:custGeom>
            <a:avLst/>
            <a:gdLst/>
            <a:ahLst/>
            <a:cxnLst/>
            <a:rect l="l" t="t" r="r" b="b"/>
            <a:pathLst>
              <a:path w="3452813" h="539750">
                <a:moveTo>
                  <a:pt x="31748" y="0"/>
                </a:moveTo>
                <a:lnTo>
                  <a:pt x="3421064" y="0"/>
                </a:lnTo>
                <a:cubicBezTo>
                  <a:pt x="3438598" y="0"/>
                  <a:pt x="3452813" y="14214"/>
                  <a:pt x="3452813" y="31748"/>
                </a:cubicBezTo>
                <a:lnTo>
                  <a:pt x="3452813" y="508002"/>
                </a:lnTo>
                <a:cubicBezTo>
                  <a:pt x="3452813" y="525536"/>
                  <a:pt x="3438598" y="539750"/>
                  <a:pt x="34210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71500" y="395090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414140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高维稀疏数据(如文本分类)、网格状路径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2146" y="2395150"/>
            <a:ext cx="3770313" cy="2159000"/>
          </a:xfrm>
          <a:custGeom>
            <a:avLst/>
            <a:gdLst/>
            <a:ahLst/>
            <a:cxnLst/>
            <a:rect l="l" t="t" r="r" b="b"/>
            <a:pathLst>
              <a:path w="3770313" h="215900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095504"/>
                </a:lnTo>
                <a:cubicBezTo>
                  <a:pt x="3770312" y="2130572"/>
                  <a:pt x="3741884" y="2159000"/>
                  <a:pt x="3706816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212146" y="239515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370896" y="2569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421684" y="2649150"/>
            <a:ext cx="35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p=2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7146" y="2649150"/>
            <a:ext cx="71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欧氏距离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70896" y="3046025"/>
            <a:ext cx="3452813" cy="412750"/>
          </a:xfrm>
          <a:custGeom>
            <a:avLst/>
            <a:gdLst/>
            <a:ahLst/>
            <a:cxnLst/>
            <a:rect l="l" t="t" r="r" b="b"/>
            <a:pathLst>
              <a:path w="3452813" h="412750">
                <a:moveTo>
                  <a:pt x="31749" y="0"/>
                </a:moveTo>
                <a:lnTo>
                  <a:pt x="3421064" y="0"/>
                </a:lnTo>
                <a:cubicBezTo>
                  <a:pt x="3438598" y="0"/>
                  <a:pt x="3452813" y="14214"/>
                  <a:pt x="3452813" y="31749"/>
                </a:cubicBezTo>
                <a:lnTo>
                  <a:pt x="3452813" y="381001"/>
                </a:lnTo>
                <a:cubicBezTo>
                  <a:pt x="3452813" y="398536"/>
                  <a:pt x="3438598" y="412750"/>
                  <a:pt x="3421064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4335177" y="3046025"/>
                <a:ext cx="3524250" cy="412750"/>
              </a:xfrm>
              <a:prstGeom prst="rect">
                <a:avLst/>
              </a:prstGeom>
              <a:noFill/>
              <a:ln/>
            </p:spPr>
            <p:txBody>
              <a:bodyPr wrap="square" lIns="95250" tIns="95250" rIns="95250" bIns="9525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10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𝑒𝑢𝑐𝑙𝑖𝑑𝑒𝑎𝑛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10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10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10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10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altLang="zh-CN" sz="110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10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10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10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1100" b="0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d>
                            <m:dPr>
                              <m:endChr m:val=""/>
                              <m:ctrlPr>
                                <a:rPr lang="en-US" altLang="zh-CN" sz="110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10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10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en-US" altLang="zh-CN" sz="110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100" i="0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10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177" y="3046025"/>
                <a:ext cx="3524250" cy="412750"/>
              </a:xfrm>
              <a:prstGeom prst="rect">
                <a:avLst/>
              </a:prstGeom>
              <a:blipFill>
                <a:blip r:embed="rId5"/>
                <a:stretch>
                  <a:fillRect t="-115152" b="-2333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4370896" y="3554025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最常见的距离度量,表示两点间的直线距离。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0896" y="3855650"/>
            <a:ext cx="3452813" cy="539750"/>
          </a:xfrm>
          <a:custGeom>
            <a:avLst/>
            <a:gdLst/>
            <a:ahLst/>
            <a:cxnLst/>
            <a:rect l="l" t="t" r="r" b="b"/>
            <a:pathLst>
              <a:path w="3452813" h="539750">
                <a:moveTo>
                  <a:pt x="31748" y="0"/>
                </a:moveTo>
                <a:lnTo>
                  <a:pt x="3421064" y="0"/>
                </a:lnTo>
                <a:cubicBezTo>
                  <a:pt x="3438598" y="0"/>
                  <a:pt x="3452813" y="14214"/>
                  <a:pt x="3452813" y="31748"/>
                </a:cubicBezTo>
                <a:lnTo>
                  <a:pt x="3452813" y="508002"/>
                </a:lnTo>
                <a:cubicBezTo>
                  <a:pt x="3452813" y="525536"/>
                  <a:pt x="3438598" y="539750"/>
                  <a:pt x="34210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466146" y="395090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66146" y="414140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连续数值型特征、紧凑分布数据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06792" y="2395150"/>
            <a:ext cx="3770313" cy="2159000"/>
          </a:xfrm>
          <a:custGeom>
            <a:avLst/>
            <a:gdLst/>
            <a:ahLst/>
            <a:cxnLst/>
            <a:rect l="l" t="t" r="r" b="b"/>
            <a:pathLst>
              <a:path w="3770313" h="215900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2095504"/>
                </a:lnTo>
                <a:cubicBezTo>
                  <a:pt x="3770312" y="2130572"/>
                  <a:pt x="3741884" y="2159000"/>
                  <a:pt x="3706816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106792" y="239515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65542" y="2569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99028" y="2649150"/>
            <a:ext cx="39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p=∞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41792" y="2649150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切比雪夫距离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5542" y="3046025"/>
            <a:ext cx="3452813" cy="412750"/>
          </a:xfrm>
          <a:custGeom>
            <a:avLst/>
            <a:gdLst/>
            <a:ahLst/>
            <a:cxnLst/>
            <a:rect l="l" t="t" r="r" b="b"/>
            <a:pathLst>
              <a:path w="3452813" h="412750">
                <a:moveTo>
                  <a:pt x="31749" y="0"/>
                </a:moveTo>
                <a:lnTo>
                  <a:pt x="3421064" y="0"/>
                </a:lnTo>
                <a:cubicBezTo>
                  <a:pt x="3438598" y="0"/>
                  <a:pt x="3452813" y="14214"/>
                  <a:pt x="3452813" y="31749"/>
                </a:cubicBezTo>
                <a:lnTo>
                  <a:pt x="3452813" y="381001"/>
                </a:lnTo>
                <a:cubicBezTo>
                  <a:pt x="3452813" y="398536"/>
                  <a:pt x="3438598" y="412750"/>
                  <a:pt x="3421064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36"/>
              <p:cNvSpPr/>
              <p:nvPr/>
            </p:nvSpPr>
            <p:spPr>
              <a:xfrm>
                <a:off x="8229823" y="3046025"/>
                <a:ext cx="3524250" cy="412750"/>
              </a:xfrm>
              <a:prstGeom prst="rect">
                <a:avLst/>
              </a:prstGeom>
              <a:noFill/>
              <a:ln/>
            </p:spPr>
            <p:txBody>
              <a:bodyPr wrap="square" lIns="95250" tIns="95250" rIns="95250" bIns="9525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25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𝑐h𝑒𝑏𝑦𝑠h𝑒𝑣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125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  <m:sSub>
                        <m:sSub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8" name="Text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823" y="3046025"/>
                <a:ext cx="3524250" cy="4127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37"/>
          <p:cNvSpPr/>
          <p:nvPr/>
        </p:nvSpPr>
        <p:spPr>
          <a:xfrm>
            <a:off x="8265542" y="3554025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各坐标数值差的最大值,关注最大差异维度。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5542" y="3855650"/>
            <a:ext cx="3452813" cy="539750"/>
          </a:xfrm>
          <a:custGeom>
            <a:avLst/>
            <a:gdLst/>
            <a:ahLst/>
            <a:cxnLst/>
            <a:rect l="l" t="t" r="r" b="b"/>
            <a:pathLst>
              <a:path w="3452813" h="539750">
                <a:moveTo>
                  <a:pt x="31748" y="0"/>
                </a:moveTo>
                <a:lnTo>
                  <a:pt x="3421064" y="0"/>
                </a:lnTo>
                <a:cubicBezTo>
                  <a:pt x="3438598" y="0"/>
                  <a:pt x="3452813" y="14214"/>
                  <a:pt x="3452813" y="31748"/>
                </a:cubicBezTo>
                <a:lnTo>
                  <a:pt x="3452813" y="508002"/>
                </a:lnTo>
                <a:cubicBezTo>
                  <a:pt x="3452813" y="525536"/>
                  <a:pt x="3438598" y="539750"/>
                  <a:pt x="34210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360792" y="395090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60792" y="414140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国际象棋国王移动、特定工业场景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17500" y="462030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63496" y="0"/>
                </a:moveTo>
                <a:lnTo>
                  <a:pt x="5635629" y="0"/>
                </a:lnTo>
                <a:cubicBezTo>
                  <a:pt x="5670697" y="0"/>
                  <a:pt x="5699125" y="28428"/>
                  <a:pt x="5699125" y="63496"/>
                </a:cubicBezTo>
                <a:lnTo>
                  <a:pt x="5699125" y="2095504"/>
                </a:lnTo>
                <a:cubicBezTo>
                  <a:pt x="5699125" y="2130572"/>
                  <a:pt x="5670697" y="2159000"/>
                  <a:pt x="5635629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44500" y="4747300"/>
            <a:ext cx="551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三种距离对比</a:t>
            </a:r>
            <a:endParaRPr lang="en-US" sz="1600" dirty="0"/>
          </a:p>
        </p:txBody>
      </p:sp>
      <p:pic>
        <p:nvPicPr>
          <p:cNvPr id="45" name="Image 0" descr="https://kimi-img.moonshot.cn/pub/slides/26-01-19-22:37:46-d5n43engt7e0qtl3io7g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4500" y="5064800"/>
            <a:ext cx="4429125" cy="1587500"/>
          </a:xfrm>
          <a:prstGeom prst="roundRect">
            <a:avLst>
              <a:gd name="adj" fmla="val 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6175375" y="462030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63496" y="0"/>
                </a:moveTo>
                <a:lnTo>
                  <a:pt x="5635629" y="0"/>
                </a:lnTo>
                <a:cubicBezTo>
                  <a:pt x="5670697" y="0"/>
                  <a:pt x="5699125" y="28428"/>
                  <a:pt x="5699125" y="63496"/>
                </a:cubicBezTo>
                <a:lnTo>
                  <a:pt x="5699125" y="2095504"/>
                </a:lnTo>
                <a:cubicBezTo>
                  <a:pt x="5699125" y="2130572"/>
                  <a:pt x="5670697" y="2159000"/>
                  <a:pt x="5635629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4"/>
          <p:cNvSpPr/>
          <p:nvPr/>
        </p:nvSpPr>
        <p:spPr>
          <a:xfrm>
            <a:off x="8917781" y="50806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7932539" y="5461675"/>
            <a:ext cx="218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选择建议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940477" y="5747425"/>
            <a:ext cx="21669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数据特征独立且尺度一致 → 欧氏距离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特征稀疏或维度很高 → 曼哈顿距离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关注最大差异维度 → 切比雪夫距离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120" y="325120"/>
            <a:ext cx="116067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kern="0" spc="5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DISTANCE METRICS (2)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120" y="585216"/>
            <a:ext cx="11688064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距离与相似度度量(二): 马氏距离与余弦相似度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376" y="1072896"/>
            <a:ext cx="5657088" cy="2649728"/>
          </a:xfrm>
          <a:custGeom>
            <a:avLst/>
            <a:gdLst/>
            <a:ahLst/>
            <a:cxnLst/>
            <a:rect l="l" t="t" r="r" b="b"/>
            <a:pathLst>
              <a:path w="5657088" h="2649728">
                <a:moveTo>
                  <a:pt x="32512" y="0"/>
                </a:moveTo>
                <a:lnTo>
                  <a:pt x="5592064" y="0"/>
                </a:lnTo>
                <a:cubicBezTo>
                  <a:pt x="5627976" y="0"/>
                  <a:pt x="5657088" y="29112"/>
                  <a:pt x="5657088" y="65024"/>
                </a:cubicBezTo>
                <a:lnTo>
                  <a:pt x="5657088" y="2584704"/>
                </a:lnTo>
                <a:cubicBezTo>
                  <a:pt x="5657088" y="2620616"/>
                  <a:pt x="5627976" y="2649728"/>
                  <a:pt x="5592064" y="2649728"/>
                </a:cubicBezTo>
                <a:lnTo>
                  <a:pt x="32512" y="2649728"/>
                </a:lnTo>
                <a:cubicBezTo>
                  <a:pt x="14556" y="2649728"/>
                  <a:pt x="0" y="2635172"/>
                  <a:pt x="0" y="261721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41376" y="1072896"/>
            <a:ext cx="32512" cy="2649728"/>
          </a:xfrm>
          <a:custGeom>
            <a:avLst/>
            <a:gdLst/>
            <a:ahLst/>
            <a:cxnLst/>
            <a:rect l="l" t="t" r="r" b="b"/>
            <a:pathLst>
              <a:path w="32512" h="2649728">
                <a:moveTo>
                  <a:pt x="32512" y="0"/>
                </a:moveTo>
                <a:lnTo>
                  <a:pt x="32512" y="0"/>
                </a:lnTo>
                <a:lnTo>
                  <a:pt x="32512" y="2649728"/>
                </a:lnTo>
                <a:lnTo>
                  <a:pt x="32512" y="2649728"/>
                </a:lnTo>
                <a:cubicBezTo>
                  <a:pt x="14556" y="2649728"/>
                  <a:pt x="0" y="2635172"/>
                  <a:pt x="0" y="261721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0192" y="1235456"/>
            <a:ext cx="5413248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马氏距离 (Mahalanobis Distance)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0192" y="1593088"/>
            <a:ext cx="538073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欧氏距离假设特征维度相互独立且同方差,但实际问题中特征往往相关。马氏距离通过引入协方差矩阵,排除了变量间相关性的干扰。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192" y="2113280"/>
            <a:ext cx="5315712" cy="487680"/>
          </a:xfrm>
          <a:custGeom>
            <a:avLst/>
            <a:gdLst/>
            <a:ahLst/>
            <a:cxnLst/>
            <a:rect l="l" t="t" r="r" b="b"/>
            <a:pathLst>
              <a:path w="5315712" h="487680">
                <a:moveTo>
                  <a:pt x="65022" y="0"/>
                </a:moveTo>
                <a:lnTo>
                  <a:pt x="5250690" y="0"/>
                </a:lnTo>
                <a:cubicBezTo>
                  <a:pt x="5286600" y="0"/>
                  <a:pt x="5315712" y="29112"/>
                  <a:pt x="5315712" y="65022"/>
                </a:cubicBezTo>
                <a:lnTo>
                  <a:pt x="5315712" y="422658"/>
                </a:lnTo>
                <a:cubicBezTo>
                  <a:pt x="5315712" y="458568"/>
                  <a:pt x="5286600" y="487680"/>
                  <a:pt x="5250690" y="487680"/>
                </a:cubicBezTo>
                <a:lnTo>
                  <a:pt x="65022" y="487680"/>
                </a:lnTo>
                <a:cubicBezTo>
                  <a:pt x="29112" y="487680"/>
                  <a:pt x="0" y="458568"/>
                  <a:pt x="0" y="422658"/>
                </a:cubicBezTo>
                <a:lnTo>
                  <a:pt x="0" y="65022"/>
                </a:lnTo>
                <a:cubicBezTo>
                  <a:pt x="0" y="29136"/>
                  <a:pt x="29136" y="0"/>
                  <a:pt x="650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609600" y="2243328"/>
                <a:ext cx="5136896" cy="2275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8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8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8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28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8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28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28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28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en-US" altLang="zh-CN" sz="128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8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28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8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sSup>
                                <m:sSupPr>
                                  <m:ctrlPr>
                                    <a:rPr lang="en-US" altLang="zh-CN" sz="128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en-US" altLang="zh-CN" sz="128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280" i="0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28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28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box>
                                    <m:boxPr>
                                      <m:ctrlPr>
                                        <a:rPr lang="en-US" altLang="zh-CN" sz="128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280" i="0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</m:box>
                                </m:e>
                                <m:sup>
                                  <m:r>
                                    <a:rPr lang="en-US" altLang="zh-CN" sz="128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8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8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128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8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243328"/>
                <a:ext cx="5136896" cy="227584"/>
              </a:xfrm>
              <a:prstGeom prst="rect">
                <a:avLst/>
              </a:prstGeom>
              <a:blipFill>
                <a:blip r:embed="rId3"/>
                <a:stretch>
                  <a:fillRect t="-178947" b="-31578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520192" y="2698496"/>
            <a:ext cx="5380736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其中Σ是协方差矩阵。当Σ为单位矩阵时,</a:t>
            </a: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马氏距离退化为欧氏距离</a:t>
            </a: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0192" y="3007360"/>
            <a:ext cx="5315712" cy="552704"/>
          </a:xfrm>
          <a:custGeom>
            <a:avLst/>
            <a:gdLst/>
            <a:ahLst/>
            <a:cxnLst/>
            <a:rect l="l" t="t" r="r" b="b"/>
            <a:pathLst>
              <a:path w="5315712" h="552704">
                <a:moveTo>
                  <a:pt x="32510" y="0"/>
                </a:moveTo>
                <a:lnTo>
                  <a:pt x="5283202" y="0"/>
                </a:lnTo>
                <a:cubicBezTo>
                  <a:pt x="5301157" y="0"/>
                  <a:pt x="5315712" y="14555"/>
                  <a:pt x="5315712" y="32510"/>
                </a:cubicBezTo>
                <a:lnTo>
                  <a:pt x="5315712" y="520194"/>
                </a:lnTo>
                <a:cubicBezTo>
                  <a:pt x="5315712" y="538149"/>
                  <a:pt x="5301157" y="552704"/>
                  <a:pt x="5283202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17728" y="3104896"/>
            <a:ext cx="5177536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728" y="3299968"/>
            <a:ext cx="5177536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尺度不变性 + 排除相关性干扰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1376" y="3885184"/>
            <a:ext cx="5657088" cy="2438400"/>
          </a:xfrm>
          <a:custGeom>
            <a:avLst/>
            <a:gdLst/>
            <a:ahLst/>
            <a:cxnLst/>
            <a:rect l="l" t="t" r="r" b="b"/>
            <a:pathLst>
              <a:path w="5657088" h="2438400">
                <a:moveTo>
                  <a:pt x="32512" y="0"/>
                </a:moveTo>
                <a:lnTo>
                  <a:pt x="5592056" y="0"/>
                </a:lnTo>
                <a:cubicBezTo>
                  <a:pt x="5627972" y="0"/>
                  <a:pt x="5657088" y="29116"/>
                  <a:pt x="5657088" y="65032"/>
                </a:cubicBezTo>
                <a:lnTo>
                  <a:pt x="5657088" y="2373368"/>
                </a:lnTo>
                <a:cubicBezTo>
                  <a:pt x="5657088" y="2409284"/>
                  <a:pt x="5627972" y="2438400"/>
                  <a:pt x="5592056" y="2438400"/>
                </a:cubicBezTo>
                <a:lnTo>
                  <a:pt x="32512" y="2438400"/>
                </a:lnTo>
                <a:cubicBezTo>
                  <a:pt x="14556" y="2438400"/>
                  <a:pt x="0" y="2423844"/>
                  <a:pt x="0" y="2405888"/>
                </a:cubicBezTo>
                <a:lnTo>
                  <a:pt x="0" y="32512"/>
                </a:lnTo>
                <a:cubicBezTo>
                  <a:pt x="0" y="14556"/>
                  <a:pt x="14556" y="0"/>
                  <a:pt x="32512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41376" y="3885184"/>
            <a:ext cx="32512" cy="2438400"/>
          </a:xfrm>
          <a:custGeom>
            <a:avLst/>
            <a:gdLst/>
            <a:ahLst/>
            <a:cxnLst/>
            <a:rect l="l" t="t" r="r" b="b"/>
            <a:pathLst>
              <a:path w="32512" h="2438400">
                <a:moveTo>
                  <a:pt x="32512" y="0"/>
                </a:moveTo>
                <a:lnTo>
                  <a:pt x="32512" y="0"/>
                </a:lnTo>
                <a:lnTo>
                  <a:pt x="32512" y="2438400"/>
                </a:lnTo>
                <a:lnTo>
                  <a:pt x="32512" y="2438400"/>
                </a:lnTo>
                <a:cubicBezTo>
                  <a:pt x="14556" y="2438400"/>
                  <a:pt x="0" y="2423844"/>
                  <a:pt x="0" y="2405888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20192" y="4047744"/>
            <a:ext cx="5413248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余弦相似度 (Cosine Similarity)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0192" y="4405376"/>
            <a:ext cx="5380736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通过测量两个向量夹角的余弦值来度量相似性,</a:t>
            </a: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侧重于方向差异而非距离远近</a:t>
            </a: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0192" y="4714240"/>
            <a:ext cx="5315712" cy="487680"/>
          </a:xfrm>
          <a:custGeom>
            <a:avLst/>
            <a:gdLst/>
            <a:ahLst/>
            <a:cxnLst/>
            <a:rect l="l" t="t" r="r" b="b"/>
            <a:pathLst>
              <a:path w="5315712" h="487680">
                <a:moveTo>
                  <a:pt x="65022" y="0"/>
                </a:moveTo>
                <a:lnTo>
                  <a:pt x="5250690" y="0"/>
                </a:lnTo>
                <a:cubicBezTo>
                  <a:pt x="5286600" y="0"/>
                  <a:pt x="5315712" y="29112"/>
                  <a:pt x="5315712" y="65022"/>
                </a:cubicBezTo>
                <a:lnTo>
                  <a:pt x="5315712" y="422658"/>
                </a:lnTo>
                <a:cubicBezTo>
                  <a:pt x="5315712" y="458568"/>
                  <a:pt x="5286600" y="487680"/>
                  <a:pt x="5250690" y="487680"/>
                </a:cubicBezTo>
                <a:lnTo>
                  <a:pt x="65022" y="487680"/>
                </a:lnTo>
                <a:cubicBezTo>
                  <a:pt x="29112" y="487680"/>
                  <a:pt x="0" y="458568"/>
                  <a:pt x="0" y="422658"/>
                </a:cubicBezTo>
                <a:lnTo>
                  <a:pt x="0" y="65022"/>
                </a:lnTo>
                <a:cubicBezTo>
                  <a:pt x="0" y="29136"/>
                  <a:pt x="29136" y="0"/>
                  <a:pt x="650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609600" y="4844288"/>
                <a:ext cx="5136896" cy="2275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80" b="0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Similarity</m:t>
                      </m:r>
                      <m:d>
                        <m:dPr>
                          <m:sepChr m:val=","/>
                          <m:ctrlP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280" b="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80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1280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d>
                        <m:dPr>
                          <m:ctrlP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280" b="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80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altLang="zh-CN" sz="1280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80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||⋅||</m:t>
                          </m:r>
                          <m: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1280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  <m:r>
                        <a:rPr lang="en-US" altLang="zh-CN" sz="1280" b="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8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grow m:val="on"/>
                              <m:ctrlP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80" b="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grow m:val="on"/>
                                  <m:ctrlP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280" b="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1280" b="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80" b="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280" b="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1280" b="0" i="0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altLang="zh-CN" sz="128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grow m:val="on"/>
                                  <m:ctrlP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280" b="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28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1280" b="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80" b="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280" b="0" i="1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1280" b="0" i="0" dirty="0">
                                          <a:solidFill>
                                            <a:srgbClr val="E0E0E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844288"/>
                <a:ext cx="5136896" cy="227584"/>
              </a:xfrm>
              <a:prstGeom prst="rect">
                <a:avLst/>
              </a:prstGeom>
              <a:blipFill>
                <a:blip r:embed="rId4"/>
                <a:stretch>
                  <a:fillRect t="-205263" b="-3578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520192" y="5299456"/>
            <a:ext cx="5380736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取值范围[-1,1]。</a:t>
            </a: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1表示方向完全相同,0表示正交,-1表示相反</a:t>
            </a: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192" y="5608320"/>
            <a:ext cx="5315712" cy="552704"/>
          </a:xfrm>
          <a:custGeom>
            <a:avLst/>
            <a:gdLst/>
            <a:ahLst/>
            <a:cxnLst/>
            <a:rect l="l" t="t" r="r" b="b"/>
            <a:pathLst>
              <a:path w="5315712" h="552704">
                <a:moveTo>
                  <a:pt x="32510" y="0"/>
                </a:moveTo>
                <a:lnTo>
                  <a:pt x="5283202" y="0"/>
                </a:lnTo>
                <a:cubicBezTo>
                  <a:pt x="5301157" y="0"/>
                  <a:pt x="5315712" y="14555"/>
                  <a:pt x="5315712" y="32510"/>
                </a:cubicBezTo>
                <a:lnTo>
                  <a:pt x="5315712" y="520194"/>
                </a:lnTo>
                <a:cubicBezTo>
                  <a:pt x="5315712" y="538149"/>
                  <a:pt x="5301157" y="552704"/>
                  <a:pt x="5283202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17728" y="5705856"/>
            <a:ext cx="5177536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728" y="5900928"/>
            <a:ext cx="5177536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文本挖掘、推荐系统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5314" y="1072896"/>
            <a:ext cx="5673344" cy="1983232"/>
          </a:xfrm>
          <a:custGeom>
            <a:avLst/>
            <a:gdLst/>
            <a:ahLst/>
            <a:cxnLst/>
            <a:rect l="l" t="t" r="r" b="b"/>
            <a:pathLst>
              <a:path w="5673344" h="1983232">
                <a:moveTo>
                  <a:pt x="65030" y="0"/>
                </a:moveTo>
                <a:lnTo>
                  <a:pt x="5608314" y="0"/>
                </a:lnTo>
                <a:cubicBezTo>
                  <a:pt x="5644229" y="0"/>
                  <a:pt x="5673344" y="29115"/>
                  <a:pt x="5673344" y="65030"/>
                </a:cubicBezTo>
                <a:lnTo>
                  <a:pt x="5673344" y="1918202"/>
                </a:lnTo>
                <a:cubicBezTo>
                  <a:pt x="5673344" y="1954117"/>
                  <a:pt x="5644229" y="1983232"/>
                  <a:pt x="5608314" y="1983232"/>
                </a:cubicBezTo>
                <a:lnTo>
                  <a:pt x="65030" y="1983232"/>
                </a:lnTo>
                <a:cubicBezTo>
                  <a:pt x="29115" y="1983232"/>
                  <a:pt x="0" y="1954117"/>
                  <a:pt x="0" y="1918202"/>
                </a:cubicBezTo>
                <a:lnTo>
                  <a:pt x="0" y="65030"/>
                </a:lnTo>
                <a:cubicBezTo>
                  <a:pt x="0" y="29139"/>
                  <a:pt x="29139" y="0"/>
                  <a:pt x="6503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57874" y="1235456"/>
            <a:ext cx="5429504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7874" y="1560576"/>
            <a:ext cx="5348224" cy="617728"/>
          </a:xfrm>
          <a:custGeom>
            <a:avLst/>
            <a:gdLst/>
            <a:ahLst/>
            <a:cxnLst/>
            <a:rect l="l" t="t" r="r" b="b"/>
            <a:pathLst>
              <a:path w="5348224" h="617728">
                <a:moveTo>
                  <a:pt x="32511" y="0"/>
                </a:moveTo>
                <a:lnTo>
                  <a:pt x="5315713" y="0"/>
                </a:lnTo>
                <a:cubicBezTo>
                  <a:pt x="5333668" y="0"/>
                  <a:pt x="5348224" y="14556"/>
                  <a:pt x="5348224" y="32511"/>
                </a:cubicBezTo>
                <a:lnTo>
                  <a:pt x="5348224" y="585217"/>
                </a:lnTo>
                <a:cubicBezTo>
                  <a:pt x="5348224" y="603172"/>
                  <a:pt x="5333668" y="617728"/>
                  <a:pt x="5315713" y="617728"/>
                </a:cubicBezTo>
                <a:lnTo>
                  <a:pt x="32511" y="617728"/>
                </a:lnTo>
                <a:cubicBezTo>
                  <a:pt x="14568" y="617728"/>
                  <a:pt x="0" y="603160"/>
                  <a:pt x="0" y="585217"/>
                </a:cubicBezTo>
                <a:lnTo>
                  <a:pt x="0" y="32511"/>
                </a:lnTo>
                <a:cubicBezTo>
                  <a:pt x="0" y="14568"/>
                  <a:pt x="14568" y="0"/>
                  <a:pt x="3251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55410" y="1658112"/>
            <a:ext cx="521817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马氏距离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5410" y="1918208"/>
            <a:ext cx="5210048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特征高度相关的数据集(如经济指标、气象数据)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7874" y="2275840"/>
            <a:ext cx="5348224" cy="617728"/>
          </a:xfrm>
          <a:custGeom>
            <a:avLst/>
            <a:gdLst/>
            <a:ahLst/>
            <a:cxnLst/>
            <a:rect l="l" t="t" r="r" b="b"/>
            <a:pathLst>
              <a:path w="5348224" h="617728">
                <a:moveTo>
                  <a:pt x="32511" y="0"/>
                </a:moveTo>
                <a:lnTo>
                  <a:pt x="5315713" y="0"/>
                </a:lnTo>
                <a:cubicBezTo>
                  <a:pt x="5333668" y="0"/>
                  <a:pt x="5348224" y="14556"/>
                  <a:pt x="5348224" y="32511"/>
                </a:cubicBezTo>
                <a:lnTo>
                  <a:pt x="5348224" y="585217"/>
                </a:lnTo>
                <a:cubicBezTo>
                  <a:pt x="5348224" y="603172"/>
                  <a:pt x="5333668" y="617728"/>
                  <a:pt x="5315713" y="617728"/>
                </a:cubicBezTo>
                <a:lnTo>
                  <a:pt x="32511" y="617728"/>
                </a:lnTo>
                <a:cubicBezTo>
                  <a:pt x="14568" y="617728"/>
                  <a:pt x="0" y="603160"/>
                  <a:pt x="0" y="585217"/>
                </a:cubicBezTo>
                <a:lnTo>
                  <a:pt x="0" y="32511"/>
                </a:lnTo>
                <a:cubicBezTo>
                  <a:pt x="0" y="14568"/>
                  <a:pt x="14568" y="0"/>
                  <a:pt x="3251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55410" y="2373376"/>
            <a:ext cx="521817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余弦相似度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5410" y="2633472"/>
            <a:ext cx="5210048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文档聚类(词频向量方向相似)、推荐系统(用户偏好方向)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314" y="3218688"/>
            <a:ext cx="5673344" cy="1950720"/>
          </a:xfrm>
          <a:custGeom>
            <a:avLst/>
            <a:gdLst/>
            <a:ahLst/>
            <a:cxnLst/>
            <a:rect l="l" t="t" r="r" b="b"/>
            <a:pathLst>
              <a:path w="5673344" h="1950720">
                <a:moveTo>
                  <a:pt x="65017" y="0"/>
                </a:moveTo>
                <a:lnTo>
                  <a:pt x="5608327" y="0"/>
                </a:lnTo>
                <a:cubicBezTo>
                  <a:pt x="5644235" y="0"/>
                  <a:pt x="5673344" y="29109"/>
                  <a:pt x="5673344" y="65017"/>
                </a:cubicBezTo>
                <a:lnTo>
                  <a:pt x="5673344" y="1885703"/>
                </a:lnTo>
                <a:cubicBezTo>
                  <a:pt x="5673344" y="1921611"/>
                  <a:pt x="5644235" y="1950720"/>
                  <a:pt x="5608327" y="1950720"/>
                </a:cubicBezTo>
                <a:lnTo>
                  <a:pt x="65017" y="1950720"/>
                </a:lnTo>
                <a:cubicBezTo>
                  <a:pt x="29109" y="1950720"/>
                  <a:pt x="0" y="1921611"/>
                  <a:pt x="0" y="1885703"/>
                </a:cubicBezTo>
                <a:lnTo>
                  <a:pt x="0" y="65017"/>
                </a:lnTo>
                <a:cubicBezTo>
                  <a:pt x="0" y="29109"/>
                  <a:pt x="29109" y="0"/>
                  <a:pt x="6501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57874" y="3381248"/>
            <a:ext cx="5429504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度量方式对比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7874" y="3706368"/>
            <a:ext cx="5348224" cy="390144"/>
          </a:xfrm>
          <a:custGeom>
            <a:avLst/>
            <a:gdLst/>
            <a:ahLst/>
            <a:cxnLst/>
            <a:rect l="l" t="t" r="r" b="b"/>
            <a:pathLst>
              <a:path w="5348224" h="390144">
                <a:moveTo>
                  <a:pt x="32511" y="0"/>
                </a:moveTo>
                <a:lnTo>
                  <a:pt x="5315713" y="0"/>
                </a:lnTo>
                <a:cubicBezTo>
                  <a:pt x="5333656" y="0"/>
                  <a:pt x="5348224" y="14568"/>
                  <a:pt x="5348224" y="32511"/>
                </a:cubicBezTo>
                <a:lnTo>
                  <a:pt x="5348224" y="357633"/>
                </a:lnTo>
                <a:cubicBezTo>
                  <a:pt x="5348224" y="375588"/>
                  <a:pt x="5333668" y="390144"/>
                  <a:pt x="5315713" y="390144"/>
                </a:cubicBezTo>
                <a:lnTo>
                  <a:pt x="32511" y="390144"/>
                </a:lnTo>
                <a:cubicBezTo>
                  <a:pt x="14568" y="390144"/>
                  <a:pt x="0" y="375576"/>
                  <a:pt x="0" y="357633"/>
                </a:cubicBezTo>
                <a:lnTo>
                  <a:pt x="0" y="32511"/>
                </a:lnTo>
                <a:cubicBezTo>
                  <a:pt x="0" y="14568"/>
                  <a:pt x="14568" y="0"/>
                  <a:pt x="3251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55410" y="3803904"/>
            <a:ext cx="58521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欧氏距离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27588" y="3820160"/>
            <a:ext cx="739648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关注绝对距离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874" y="4161536"/>
            <a:ext cx="5348224" cy="390144"/>
          </a:xfrm>
          <a:custGeom>
            <a:avLst/>
            <a:gdLst/>
            <a:ahLst/>
            <a:cxnLst/>
            <a:rect l="l" t="t" r="r" b="b"/>
            <a:pathLst>
              <a:path w="5348224" h="390144">
                <a:moveTo>
                  <a:pt x="32511" y="0"/>
                </a:moveTo>
                <a:lnTo>
                  <a:pt x="5315713" y="0"/>
                </a:lnTo>
                <a:cubicBezTo>
                  <a:pt x="5333656" y="0"/>
                  <a:pt x="5348224" y="14568"/>
                  <a:pt x="5348224" y="32511"/>
                </a:cubicBezTo>
                <a:lnTo>
                  <a:pt x="5348224" y="357633"/>
                </a:lnTo>
                <a:cubicBezTo>
                  <a:pt x="5348224" y="375588"/>
                  <a:pt x="5333668" y="390144"/>
                  <a:pt x="5315713" y="390144"/>
                </a:cubicBezTo>
                <a:lnTo>
                  <a:pt x="32511" y="390144"/>
                </a:lnTo>
                <a:cubicBezTo>
                  <a:pt x="14568" y="390144"/>
                  <a:pt x="0" y="375576"/>
                  <a:pt x="0" y="357633"/>
                </a:cubicBezTo>
                <a:lnTo>
                  <a:pt x="0" y="32511"/>
                </a:lnTo>
                <a:cubicBezTo>
                  <a:pt x="0" y="14568"/>
                  <a:pt x="14568" y="0"/>
                  <a:pt x="3251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55410" y="4259072"/>
            <a:ext cx="58521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马氏距离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13796" y="4275328"/>
            <a:ext cx="85344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考虑特征相关性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7874" y="4616704"/>
            <a:ext cx="5348224" cy="390144"/>
          </a:xfrm>
          <a:custGeom>
            <a:avLst/>
            <a:gdLst/>
            <a:ahLst/>
            <a:cxnLst/>
            <a:rect l="l" t="t" r="r" b="b"/>
            <a:pathLst>
              <a:path w="5348224" h="390144">
                <a:moveTo>
                  <a:pt x="32511" y="0"/>
                </a:moveTo>
                <a:lnTo>
                  <a:pt x="5315713" y="0"/>
                </a:lnTo>
                <a:cubicBezTo>
                  <a:pt x="5333656" y="0"/>
                  <a:pt x="5348224" y="14568"/>
                  <a:pt x="5348224" y="32511"/>
                </a:cubicBezTo>
                <a:lnTo>
                  <a:pt x="5348224" y="357633"/>
                </a:lnTo>
                <a:cubicBezTo>
                  <a:pt x="5348224" y="375588"/>
                  <a:pt x="5333668" y="390144"/>
                  <a:pt x="5315713" y="390144"/>
                </a:cubicBezTo>
                <a:lnTo>
                  <a:pt x="32511" y="390144"/>
                </a:lnTo>
                <a:cubicBezTo>
                  <a:pt x="14568" y="390144"/>
                  <a:pt x="0" y="375576"/>
                  <a:pt x="0" y="357633"/>
                </a:cubicBezTo>
                <a:lnTo>
                  <a:pt x="0" y="32511"/>
                </a:lnTo>
                <a:cubicBezTo>
                  <a:pt x="0" y="14568"/>
                  <a:pt x="14568" y="0"/>
                  <a:pt x="3251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55410" y="4714240"/>
            <a:ext cx="71526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余弦相似度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13796" y="4730496"/>
            <a:ext cx="85344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关注方向一致性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5314" y="5331968"/>
            <a:ext cx="5673344" cy="455168"/>
          </a:xfrm>
          <a:custGeom>
            <a:avLst/>
            <a:gdLst/>
            <a:ahLst/>
            <a:cxnLst/>
            <a:rect l="l" t="t" r="r" b="b"/>
            <a:pathLst>
              <a:path w="5673344" h="455168">
                <a:moveTo>
                  <a:pt x="65025" y="0"/>
                </a:moveTo>
                <a:lnTo>
                  <a:pt x="5608319" y="0"/>
                </a:lnTo>
                <a:cubicBezTo>
                  <a:pt x="5644231" y="0"/>
                  <a:pt x="5673344" y="29113"/>
                  <a:pt x="5673344" y="65025"/>
                </a:cubicBezTo>
                <a:lnTo>
                  <a:pt x="5673344" y="390143"/>
                </a:lnTo>
                <a:cubicBezTo>
                  <a:pt x="5673344" y="426055"/>
                  <a:pt x="5644231" y="455168"/>
                  <a:pt x="5608319" y="455168"/>
                </a:cubicBezTo>
                <a:lnTo>
                  <a:pt x="65025" y="455168"/>
                </a:lnTo>
                <a:cubicBezTo>
                  <a:pt x="29137" y="455168"/>
                  <a:pt x="0" y="426031"/>
                  <a:pt x="0" y="390143"/>
                </a:cubicBezTo>
                <a:lnTo>
                  <a:pt x="0" y="65025"/>
                </a:lnTo>
                <a:cubicBezTo>
                  <a:pt x="0" y="29137"/>
                  <a:pt x="29137" y="0"/>
                  <a:pt x="65025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49746" y="5462016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97536" y="195072"/>
                </a:moveTo>
                <a:cubicBezTo>
                  <a:pt x="151368" y="195072"/>
                  <a:pt x="195072" y="151368"/>
                  <a:pt x="195072" y="97536"/>
                </a:cubicBezTo>
                <a:cubicBezTo>
                  <a:pt x="195072" y="43704"/>
                  <a:pt x="151368" y="0"/>
                  <a:pt x="97536" y="0"/>
                </a:cubicBezTo>
                <a:cubicBezTo>
                  <a:pt x="43704" y="0"/>
                  <a:pt x="0" y="43704"/>
                  <a:pt x="0" y="97536"/>
                </a:cubicBezTo>
                <a:cubicBezTo>
                  <a:pt x="0" y="151368"/>
                  <a:pt x="43704" y="195072"/>
                  <a:pt x="97536" y="195072"/>
                </a:cubicBezTo>
                <a:close/>
                <a:moveTo>
                  <a:pt x="85344" y="60960"/>
                </a:moveTo>
                <a:cubicBezTo>
                  <a:pt x="85344" y="54231"/>
                  <a:pt x="90807" y="48768"/>
                  <a:pt x="97536" y="48768"/>
                </a:cubicBezTo>
                <a:cubicBezTo>
                  <a:pt x="104265" y="48768"/>
                  <a:pt x="109728" y="54231"/>
                  <a:pt x="109728" y="60960"/>
                </a:cubicBezTo>
                <a:cubicBezTo>
                  <a:pt x="109728" y="67689"/>
                  <a:pt x="104265" y="73152"/>
                  <a:pt x="97536" y="73152"/>
                </a:cubicBezTo>
                <a:cubicBezTo>
                  <a:pt x="90807" y="73152"/>
                  <a:pt x="85344" y="67689"/>
                  <a:pt x="85344" y="60960"/>
                </a:cubicBezTo>
                <a:close/>
                <a:moveTo>
                  <a:pt x="82296" y="85344"/>
                </a:moveTo>
                <a:lnTo>
                  <a:pt x="100584" y="85344"/>
                </a:lnTo>
                <a:cubicBezTo>
                  <a:pt x="105651" y="85344"/>
                  <a:pt x="109728" y="89421"/>
                  <a:pt x="109728" y="94488"/>
                </a:cubicBezTo>
                <a:lnTo>
                  <a:pt x="109728" y="128016"/>
                </a:lnTo>
                <a:lnTo>
                  <a:pt x="112776" y="128016"/>
                </a:lnTo>
                <a:cubicBezTo>
                  <a:pt x="117843" y="128016"/>
                  <a:pt x="121920" y="132093"/>
                  <a:pt x="121920" y="137160"/>
                </a:cubicBezTo>
                <a:cubicBezTo>
                  <a:pt x="121920" y="142227"/>
                  <a:pt x="117843" y="146304"/>
                  <a:pt x="112776" y="146304"/>
                </a:cubicBezTo>
                <a:lnTo>
                  <a:pt x="82296" y="146304"/>
                </a:lnTo>
                <a:cubicBezTo>
                  <a:pt x="77229" y="146304"/>
                  <a:pt x="73152" y="142227"/>
                  <a:pt x="73152" y="137160"/>
                </a:cubicBezTo>
                <a:cubicBezTo>
                  <a:pt x="73152" y="132093"/>
                  <a:pt x="77229" y="128016"/>
                  <a:pt x="82296" y="128016"/>
                </a:cubicBezTo>
                <a:lnTo>
                  <a:pt x="91440" y="128016"/>
                </a:lnTo>
                <a:lnTo>
                  <a:pt x="91440" y="103632"/>
                </a:lnTo>
                <a:lnTo>
                  <a:pt x="82296" y="103632"/>
                </a:lnTo>
                <a:cubicBezTo>
                  <a:pt x="77229" y="103632"/>
                  <a:pt x="73152" y="99555"/>
                  <a:pt x="73152" y="94488"/>
                </a:cubicBezTo>
                <a:cubicBezTo>
                  <a:pt x="73152" y="89421"/>
                  <a:pt x="77229" y="85344"/>
                  <a:pt x="82296" y="85344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666738" y="5462016"/>
            <a:ext cx="471117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选择原则:</a:t>
            </a: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没有最好的距离,只有最适合的距离。根据数据特性和业务需求选择。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736" y="329736"/>
            <a:ext cx="1159847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kern="0" spc="52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TAXONOMY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736" y="593525"/>
            <a:ext cx="11680909" cy="32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聚类算法分类体系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223" y="1088130"/>
            <a:ext cx="5671465" cy="2637890"/>
          </a:xfrm>
          <a:custGeom>
            <a:avLst/>
            <a:gdLst/>
            <a:ahLst/>
            <a:cxnLst/>
            <a:rect l="l" t="t" r="r" b="b"/>
            <a:pathLst>
              <a:path w="5671465" h="2637890">
                <a:moveTo>
                  <a:pt x="32974" y="0"/>
                </a:moveTo>
                <a:lnTo>
                  <a:pt x="5572544" y="0"/>
                </a:lnTo>
                <a:cubicBezTo>
                  <a:pt x="5627176" y="0"/>
                  <a:pt x="5671465" y="44288"/>
                  <a:pt x="5671465" y="98921"/>
                </a:cubicBezTo>
                <a:lnTo>
                  <a:pt x="5671465" y="2538970"/>
                </a:lnTo>
                <a:cubicBezTo>
                  <a:pt x="5671465" y="2593602"/>
                  <a:pt x="5627176" y="2637890"/>
                  <a:pt x="5572544" y="2637890"/>
                </a:cubicBez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46223" y="1088130"/>
            <a:ext cx="32974" cy="2637890"/>
          </a:xfrm>
          <a:custGeom>
            <a:avLst/>
            <a:gdLst/>
            <a:ahLst/>
            <a:cxnLst/>
            <a:rect l="l" t="t" r="r" b="b"/>
            <a:pathLst>
              <a:path w="32974" h="2637890">
                <a:moveTo>
                  <a:pt x="32974" y="0"/>
                </a:moveTo>
                <a:lnTo>
                  <a:pt x="32974" y="0"/>
                </a:lnTo>
                <a:lnTo>
                  <a:pt x="32974" y="2637890"/>
                </a:ln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7578" y="1252998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230815" y="0"/>
                </a:moveTo>
                <a:lnTo>
                  <a:pt x="230815" y="0"/>
                </a:lnTo>
                <a:cubicBezTo>
                  <a:pt x="358291" y="0"/>
                  <a:pt x="461631" y="103340"/>
                  <a:pt x="461631" y="230815"/>
                </a:cubicBezTo>
                <a:lnTo>
                  <a:pt x="461631" y="230815"/>
                </a:lnTo>
                <a:cubicBezTo>
                  <a:pt x="461631" y="358291"/>
                  <a:pt x="358291" y="461631"/>
                  <a:pt x="230815" y="461631"/>
                </a:cubicBezTo>
                <a:lnTo>
                  <a:pt x="230815" y="461631"/>
                </a:lnTo>
                <a:cubicBezTo>
                  <a:pt x="103340" y="461631"/>
                  <a:pt x="0" y="358291"/>
                  <a:pt x="0" y="230815"/>
                </a:cubicBezTo>
                <a:lnTo>
                  <a:pt x="0" y="230815"/>
                </a:lnTo>
                <a:cubicBezTo>
                  <a:pt x="0" y="103340"/>
                  <a:pt x="103340" y="0"/>
                  <a:pt x="23081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59473" y="1384892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89840" y="2009"/>
                </a:moveTo>
                <a:cubicBezTo>
                  <a:pt x="95598" y="-657"/>
                  <a:pt x="102244" y="-657"/>
                  <a:pt x="108002" y="2009"/>
                </a:cubicBezTo>
                <a:lnTo>
                  <a:pt x="192471" y="41037"/>
                </a:lnTo>
                <a:cubicBezTo>
                  <a:pt x="195755" y="42544"/>
                  <a:pt x="197842" y="45828"/>
                  <a:pt x="197842" y="49460"/>
                </a:cubicBezTo>
                <a:cubicBezTo>
                  <a:pt x="197842" y="53093"/>
                  <a:pt x="195755" y="56377"/>
                  <a:pt x="192471" y="57884"/>
                </a:cubicBezTo>
                <a:lnTo>
                  <a:pt x="108002" y="96912"/>
                </a:lnTo>
                <a:cubicBezTo>
                  <a:pt x="102244" y="99578"/>
                  <a:pt x="95598" y="99578"/>
                  <a:pt x="89840" y="96912"/>
                </a:cubicBezTo>
                <a:lnTo>
                  <a:pt x="5371" y="57884"/>
                </a:lnTo>
                <a:cubicBezTo>
                  <a:pt x="2087" y="56339"/>
                  <a:pt x="0" y="53054"/>
                  <a:pt x="0" y="49460"/>
                </a:cubicBezTo>
                <a:cubicBezTo>
                  <a:pt x="0" y="45867"/>
                  <a:pt x="2087" y="42544"/>
                  <a:pt x="5371" y="41037"/>
                </a:cubicBezTo>
                <a:lnTo>
                  <a:pt x="89840" y="2009"/>
                </a:lnTo>
                <a:close/>
                <a:moveTo>
                  <a:pt x="18586" y="84392"/>
                </a:moveTo>
                <a:lnTo>
                  <a:pt x="82073" y="113720"/>
                </a:lnTo>
                <a:cubicBezTo>
                  <a:pt x="92777" y="118666"/>
                  <a:pt x="105103" y="118666"/>
                  <a:pt x="115807" y="113720"/>
                </a:cubicBezTo>
                <a:lnTo>
                  <a:pt x="179294" y="84392"/>
                </a:lnTo>
                <a:lnTo>
                  <a:pt x="192471" y="90497"/>
                </a:lnTo>
                <a:cubicBezTo>
                  <a:pt x="195755" y="92004"/>
                  <a:pt x="197842" y="95289"/>
                  <a:pt x="197842" y="98921"/>
                </a:cubicBezTo>
                <a:cubicBezTo>
                  <a:pt x="197842" y="102553"/>
                  <a:pt x="195755" y="105838"/>
                  <a:pt x="192471" y="107345"/>
                </a:cubicBezTo>
                <a:lnTo>
                  <a:pt x="108002" y="146372"/>
                </a:lnTo>
                <a:cubicBezTo>
                  <a:pt x="102244" y="149038"/>
                  <a:pt x="95598" y="149038"/>
                  <a:pt x="89840" y="146372"/>
                </a:cubicBezTo>
                <a:lnTo>
                  <a:pt x="5371" y="107345"/>
                </a:lnTo>
                <a:cubicBezTo>
                  <a:pt x="2087" y="105799"/>
                  <a:pt x="0" y="102515"/>
                  <a:pt x="0" y="98921"/>
                </a:cubicBezTo>
                <a:cubicBezTo>
                  <a:pt x="0" y="95327"/>
                  <a:pt x="2087" y="92004"/>
                  <a:pt x="5371" y="90497"/>
                </a:cubicBezTo>
                <a:lnTo>
                  <a:pt x="18548" y="84392"/>
                </a:lnTo>
                <a:close/>
                <a:moveTo>
                  <a:pt x="5371" y="139958"/>
                </a:moveTo>
                <a:lnTo>
                  <a:pt x="18548" y="133852"/>
                </a:lnTo>
                <a:lnTo>
                  <a:pt x="82035" y="163181"/>
                </a:lnTo>
                <a:cubicBezTo>
                  <a:pt x="92738" y="168127"/>
                  <a:pt x="105065" y="168127"/>
                  <a:pt x="115768" y="163181"/>
                </a:cubicBezTo>
                <a:lnTo>
                  <a:pt x="179255" y="133852"/>
                </a:lnTo>
                <a:lnTo>
                  <a:pt x="192432" y="139958"/>
                </a:lnTo>
                <a:cubicBezTo>
                  <a:pt x="195717" y="141465"/>
                  <a:pt x="197803" y="144749"/>
                  <a:pt x="197803" y="148381"/>
                </a:cubicBezTo>
                <a:cubicBezTo>
                  <a:pt x="197803" y="152014"/>
                  <a:pt x="195717" y="155298"/>
                  <a:pt x="192432" y="156805"/>
                </a:cubicBezTo>
                <a:lnTo>
                  <a:pt x="107963" y="195832"/>
                </a:lnTo>
                <a:cubicBezTo>
                  <a:pt x="102205" y="198499"/>
                  <a:pt x="95559" y="198499"/>
                  <a:pt x="89802" y="195832"/>
                </a:cubicBezTo>
                <a:lnTo>
                  <a:pt x="5371" y="156805"/>
                </a:lnTo>
                <a:cubicBezTo>
                  <a:pt x="2087" y="155259"/>
                  <a:pt x="0" y="151975"/>
                  <a:pt x="0" y="148381"/>
                </a:cubicBezTo>
                <a:cubicBezTo>
                  <a:pt x="0" y="144788"/>
                  <a:pt x="2087" y="141465"/>
                  <a:pt x="5371" y="13995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8130" y="1351919"/>
            <a:ext cx="89028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划分聚类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7578" y="1813550"/>
            <a:ext cx="5391189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将数据集划分为K个互不相交的簇,通过迭代优化目标函数(如最小化SSE),使样本归属于距离最近的质心。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7578" y="2341128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26499" y="2440049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499" y="2637890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K-Means, K-Medoids, K-Means++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7578" y="3000600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6499" y="3099521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核心假设: 凸形、球状簇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499" y="3297363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优点: 简单高效 | 缺点: 需预设K, 仅限球状簇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5372" y="1088130"/>
            <a:ext cx="5671465" cy="2637890"/>
          </a:xfrm>
          <a:custGeom>
            <a:avLst/>
            <a:gdLst/>
            <a:ahLst/>
            <a:cxnLst/>
            <a:rect l="l" t="t" r="r" b="b"/>
            <a:pathLst>
              <a:path w="5671465" h="2637890">
                <a:moveTo>
                  <a:pt x="32974" y="0"/>
                </a:moveTo>
                <a:lnTo>
                  <a:pt x="5572544" y="0"/>
                </a:lnTo>
                <a:cubicBezTo>
                  <a:pt x="5627176" y="0"/>
                  <a:pt x="5671465" y="44288"/>
                  <a:pt x="5671465" y="98921"/>
                </a:cubicBezTo>
                <a:lnTo>
                  <a:pt x="5671465" y="2538970"/>
                </a:lnTo>
                <a:cubicBezTo>
                  <a:pt x="5671465" y="2593602"/>
                  <a:pt x="5627176" y="2637890"/>
                  <a:pt x="5572544" y="2637890"/>
                </a:cubicBez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7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195372" y="1088130"/>
            <a:ext cx="32974" cy="2637890"/>
          </a:xfrm>
          <a:custGeom>
            <a:avLst/>
            <a:gdLst/>
            <a:ahLst/>
            <a:cxnLst/>
            <a:rect l="l" t="t" r="r" b="b"/>
            <a:pathLst>
              <a:path w="32974" h="2637890">
                <a:moveTo>
                  <a:pt x="32974" y="0"/>
                </a:moveTo>
                <a:lnTo>
                  <a:pt x="32974" y="0"/>
                </a:lnTo>
                <a:lnTo>
                  <a:pt x="32974" y="2637890"/>
                </a:ln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76727" y="1252998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230815" y="0"/>
                </a:moveTo>
                <a:lnTo>
                  <a:pt x="230815" y="0"/>
                </a:lnTo>
                <a:cubicBezTo>
                  <a:pt x="358291" y="0"/>
                  <a:pt x="461631" y="103340"/>
                  <a:pt x="461631" y="230815"/>
                </a:cubicBezTo>
                <a:lnTo>
                  <a:pt x="461631" y="230815"/>
                </a:lnTo>
                <a:cubicBezTo>
                  <a:pt x="461631" y="358291"/>
                  <a:pt x="358291" y="461631"/>
                  <a:pt x="230815" y="461631"/>
                </a:cubicBezTo>
                <a:lnTo>
                  <a:pt x="230815" y="461631"/>
                </a:lnTo>
                <a:cubicBezTo>
                  <a:pt x="103340" y="461631"/>
                  <a:pt x="0" y="358291"/>
                  <a:pt x="0" y="230815"/>
                </a:cubicBezTo>
                <a:lnTo>
                  <a:pt x="0" y="230815"/>
                </a:lnTo>
                <a:cubicBezTo>
                  <a:pt x="0" y="103340"/>
                  <a:pt x="103340" y="0"/>
                  <a:pt x="23081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96256" y="1384892"/>
            <a:ext cx="222572" cy="197842"/>
          </a:xfrm>
          <a:custGeom>
            <a:avLst/>
            <a:gdLst/>
            <a:ahLst/>
            <a:cxnLst/>
            <a:rect l="l" t="t" r="r" b="b"/>
            <a:pathLst>
              <a:path w="222572" h="197842">
                <a:moveTo>
                  <a:pt x="0" y="129834"/>
                </a:moveTo>
                <a:cubicBezTo>
                  <a:pt x="0" y="160553"/>
                  <a:pt x="24923" y="185477"/>
                  <a:pt x="55643" y="185477"/>
                </a:cubicBezTo>
                <a:lnTo>
                  <a:pt x="173112" y="185477"/>
                </a:lnTo>
                <a:cubicBezTo>
                  <a:pt x="200431" y="185477"/>
                  <a:pt x="222572" y="163335"/>
                  <a:pt x="222572" y="136016"/>
                </a:cubicBezTo>
                <a:cubicBezTo>
                  <a:pt x="222572" y="116077"/>
                  <a:pt x="210787" y="98882"/>
                  <a:pt x="193784" y="91077"/>
                </a:cubicBezTo>
                <a:cubicBezTo>
                  <a:pt x="196373" y="86015"/>
                  <a:pt x="197842" y="80257"/>
                  <a:pt x="197842" y="74191"/>
                </a:cubicBezTo>
                <a:cubicBezTo>
                  <a:pt x="197842" y="53711"/>
                  <a:pt x="181226" y="37095"/>
                  <a:pt x="160746" y="37095"/>
                </a:cubicBezTo>
                <a:cubicBezTo>
                  <a:pt x="153907" y="37095"/>
                  <a:pt x="147531" y="38950"/>
                  <a:pt x="142044" y="42157"/>
                </a:cubicBezTo>
                <a:cubicBezTo>
                  <a:pt x="132732" y="24460"/>
                  <a:pt x="114145" y="12365"/>
                  <a:pt x="92738" y="12365"/>
                </a:cubicBezTo>
                <a:cubicBezTo>
                  <a:pt x="62019" y="12365"/>
                  <a:pt x="37095" y="37289"/>
                  <a:pt x="37095" y="68008"/>
                </a:cubicBezTo>
                <a:cubicBezTo>
                  <a:pt x="37095" y="71099"/>
                  <a:pt x="37366" y="74152"/>
                  <a:pt x="37830" y="77089"/>
                </a:cubicBezTo>
                <a:cubicBezTo>
                  <a:pt x="15843" y="84508"/>
                  <a:pt x="0" y="105335"/>
                  <a:pt x="0" y="12983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937278" y="1351919"/>
            <a:ext cx="89028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密度聚类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6727" y="1813550"/>
            <a:ext cx="5391189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簇被定义为密度相连的样本集合。只要样本点密度超过阈值,簇就可向各个方向延伸。低密度区域被视为噪声。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76727" y="2341128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75648" y="2440049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5648" y="2637890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DBSCAN, OPTICS, HDBSCAN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76727" y="3000600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75648" y="3099521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核心假设: 密度连通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5648" y="3297363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优点: 无需K, 任意形状, 抗噪 | 缺点: 参数敏感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6223" y="3890888"/>
            <a:ext cx="5671465" cy="2637890"/>
          </a:xfrm>
          <a:custGeom>
            <a:avLst/>
            <a:gdLst/>
            <a:ahLst/>
            <a:cxnLst/>
            <a:rect l="l" t="t" r="r" b="b"/>
            <a:pathLst>
              <a:path w="5671465" h="2637890">
                <a:moveTo>
                  <a:pt x="32974" y="0"/>
                </a:moveTo>
                <a:lnTo>
                  <a:pt x="5572544" y="0"/>
                </a:lnTo>
                <a:cubicBezTo>
                  <a:pt x="5627176" y="0"/>
                  <a:pt x="5671465" y="44288"/>
                  <a:pt x="5671465" y="98921"/>
                </a:cubicBezTo>
                <a:lnTo>
                  <a:pt x="5671465" y="2538970"/>
                </a:lnTo>
                <a:cubicBezTo>
                  <a:pt x="5671465" y="2593602"/>
                  <a:pt x="5627176" y="2637890"/>
                  <a:pt x="5572544" y="2637890"/>
                </a:cubicBez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A99A8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46223" y="3890888"/>
            <a:ext cx="32974" cy="2637890"/>
          </a:xfrm>
          <a:custGeom>
            <a:avLst/>
            <a:gdLst/>
            <a:ahLst/>
            <a:cxnLst/>
            <a:rect l="l" t="t" r="r" b="b"/>
            <a:pathLst>
              <a:path w="32974" h="2637890">
                <a:moveTo>
                  <a:pt x="32974" y="0"/>
                </a:moveTo>
                <a:lnTo>
                  <a:pt x="32974" y="0"/>
                </a:lnTo>
                <a:lnTo>
                  <a:pt x="32974" y="2637890"/>
                </a:ln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27578" y="4055757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230815" y="0"/>
                </a:moveTo>
                <a:lnTo>
                  <a:pt x="230815" y="0"/>
                </a:lnTo>
                <a:cubicBezTo>
                  <a:pt x="358291" y="0"/>
                  <a:pt x="461631" y="103340"/>
                  <a:pt x="461631" y="230815"/>
                </a:cubicBezTo>
                <a:lnTo>
                  <a:pt x="461631" y="230815"/>
                </a:lnTo>
                <a:cubicBezTo>
                  <a:pt x="461631" y="358291"/>
                  <a:pt x="358291" y="461631"/>
                  <a:pt x="230815" y="461631"/>
                </a:cubicBezTo>
                <a:lnTo>
                  <a:pt x="230815" y="461631"/>
                </a:lnTo>
                <a:cubicBezTo>
                  <a:pt x="103340" y="461631"/>
                  <a:pt x="0" y="358291"/>
                  <a:pt x="0" y="230815"/>
                </a:cubicBezTo>
                <a:lnTo>
                  <a:pt x="0" y="230815"/>
                </a:lnTo>
                <a:cubicBezTo>
                  <a:pt x="0" y="103340"/>
                  <a:pt x="103340" y="0"/>
                  <a:pt x="230815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59473" y="4187651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74191" y="24730"/>
                </a:moveTo>
                <a:cubicBezTo>
                  <a:pt x="74191" y="17891"/>
                  <a:pt x="79716" y="12365"/>
                  <a:pt x="86556" y="12365"/>
                </a:cubicBezTo>
                <a:lnTo>
                  <a:pt x="111286" y="12365"/>
                </a:lnTo>
                <a:cubicBezTo>
                  <a:pt x="118125" y="12365"/>
                  <a:pt x="123651" y="17891"/>
                  <a:pt x="123651" y="24730"/>
                </a:cubicBezTo>
                <a:lnTo>
                  <a:pt x="123651" y="49460"/>
                </a:lnTo>
                <a:cubicBezTo>
                  <a:pt x="123651" y="56300"/>
                  <a:pt x="118125" y="61826"/>
                  <a:pt x="111286" y="61826"/>
                </a:cubicBezTo>
                <a:lnTo>
                  <a:pt x="108195" y="61826"/>
                </a:lnTo>
                <a:lnTo>
                  <a:pt x="108195" y="86556"/>
                </a:lnTo>
                <a:lnTo>
                  <a:pt x="154564" y="86556"/>
                </a:lnTo>
                <a:cubicBezTo>
                  <a:pt x="169943" y="86556"/>
                  <a:pt x="182385" y="98998"/>
                  <a:pt x="182385" y="114377"/>
                </a:cubicBezTo>
                <a:lnTo>
                  <a:pt x="182385" y="136016"/>
                </a:lnTo>
                <a:lnTo>
                  <a:pt x="185477" y="136016"/>
                </a:lnTo>
                <a:cubicBezTo>
                  <a:pt x="192316" y="136016"/>
                  <a:pt x="197842" y="141542"/>
                  <a:pt x="197842" y="148381"/>
                </a:cubicBezTo>
                <a:lnTo>
                  <a:pt x="197842" y="173112"/>
                </a:lnTo>
                <a:cubicBezTo>
                  <a:pt x="197842" y="179951"/>
                  <a:pt x="192316" y="185477"/>
                  <a:pt x="185477" y="185477"/>
                </a:cubicBezTo>
                <a:lnTo>
                  <a:pt x="160746" y="185477"/>
                </a:lnTo>
                <a:cubicBezTo>
                  <a:pt x="153907" y="185477"/>
                  <a:pt x="148381" y="179951"/>
                  <a:pt x="148381" y="173112"/>
                </a:cubicBezTo>
                <a:lnTo>
                  <a:pt x="148381" y="148381"/>
                </a:lnTo>
                <a:cubicBezTo>
                  <a:pt x="148381" y="141542"/>
                  <a:pt x="153907" y="136016"/>
                  <a:pt x="160746" y="136016"/>
                </a:cubicBezTo>
                <a:lnTo>
                  <a:pt x="163838" y="136016"/>
                </a:lnTo>
                <a:lnTo>
                  <a:pt x="163838" y="114377"/>
                </a:lnTo>
                <a:cubicBezTo>
                  <a:pt x="163838" y="109238"/>
                  <a:pt x="159703" y="105103"/>
                  <a:pt x="154564" y="105103"/>
                </a:cubicBezTo>
                <a:lnTo>
                  <a:pt x="108195" y="105103"/>
                </a:lnTo>
                <a:lnTo>
                  <a:pt x="108195" y="136016"/>
                </a:lnTo>
                <a:lnTo>
                  <a:pt x="111286" y="136016"/>
                </a:lnTo>
                <a:cubicBezTo>
                  <a:pt x="118125" y="136016"/>
                  <a:pt x="123651" y="141542"/>
                  <a:pt x="123651" y="148381"/>
                </a:cubicBezTo>
                <a:lnTo>
                  <a:pt x="123651" y="173112"/>
                </a:lnTo>
                <a:cubicBezTo>
                  <a:pt x="123651" y="179951"/>
                  <a:pt x="118125" y="185477"/>
                  <a:pt x="111286" y="185477"/>
                </a:cubicBezTo>
                <a:lnTo>
                  <a:pt x="86556" y="185477"/>
                </a:lnTo>
                <a:cubicBezTo>
                  <a:pt x="79716" y="185477"/>
                  <a:pt x="74191" y="179951"/>
                  <a:pt x="74191" y="173112"/>
                </a:cubicBezTo>
                <a:lnTo>
                  <a:pt x="74191" y="148381"/>
                </a:lnTo>
                <a:cubicBezTo>
                  <a:pt x="74191" y="141542"/>
                  <a:pt x="79716" y="136016"/>
                  <a:pt x="86556" y="136016"/>
                </a:cubicBezTo>
                <a:lnTo>
                  <a:pt x="89647" y="136016"/>
                </a:lnTo>
                <a:lnTo>
                  <a:pt x="89647" y="105103"/>
                </a:lnTo>
                <a:lnTo>
                  <a:pt x="43278" y="105103"/>
                </a:lnTo>
                <a:cubicBezTo>
                  <a:pt x="38139" y="105103"/>
                  <a:pt x="34004" y="109238"/>
                  <a:pt x="34004" y="114377"/>
                </a:cubicBezTo>
                <a:lnTo>
                  <a:pt x="34004" y="136016"/>
                </a:lnTo>
                <a:lnTo>
                  <a:pt x="37095" y="136016"/>
                </a:lnTo>
                <a:cubicBezTo>
                  <a:pt x="43935" y="136016"/>
                  <a:pt x="49460" y="141542"/>
                  <a:pt x="49460" y="148381"/>
                </a:cubicBezTo>
                <a:lnTo>
                  <a:pt x="49460" y="173112"/>
                </a:lnTo>
                <a:cubicBezTo>
                  <a:pt x="49460" y="179951"/>
                  <a:pt x="43935" y="185477"/>
                  <a:pt x="37095" y="185477"/>
                </a:cubicBezTo>
                <a:lnTo>
                  <a:pt x="12365" y="185477"/>
                </a:lnTo>
                <a:cubicBezTo>
                  <a:pt x="5526" y="185477"/>
                  <a:pt x="0" y="179951"/>
                  <a:pt x="0" y="173112"/>
                </a:cubicBezTo>
                <a:lnTo>
                  <a:pt x="0" y="148381"/>
                </a:lnTo>
                <a:cubicBezTo>
                  <a:pt x="0" y="141542"/>
                  <a:pt x="5526" y="136016"/>
                  <a:pt x="12365" y="136016"/>
                </a:cubicBezTo>
                <a:lnTo>
                  <a:pt x="15456" y="136016"/>
                </a:lnTo>
                <a:lnTo>
                  <a:pt x="15456" y="114377"/>
                </a:lnTo>
                <a:cubicBezTo>
                  <a:pt x="15456" y="98998"/>
                  <a:pt x="27899" y="86556"/>
                  <a:pt x="43278" y="86556"/>
                </a:cubicBezTo>
                <a:lnTo>
                  <a:pt x="89647" y="86556"/>
                </a:lnTo>
                <a:lnTo>
                  <a:pt x="89647" y="61826"/>
                </a:lnTo>
                <a:lnTo>
                  <a:pt x="86556" y="61826"/>
                </a:lnTo>
                <a:cubicBezTo>
                  <a:pt x="79716" y="61826"/>
                  <a:pt x="74191" y="56300"/>
                  <a:pt x="74191" y="49460"/>
                </a:cubicBezTo>
                <a:lnTo>
                  <a:pt x="74191" y="2473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88130" y="4154677"/>
            <a:ext cx="89028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7578" y="4616308"/>
            <a:ext cx="5391189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通过构建树形结构(Dendrogram)表示数据的层次关系。凝聚法自底向上合并,分裂法自顶向下分裂。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7578" y="5143886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6499" y="5242807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6499" y="5440649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AGNES, DIANA, BIRCH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27578" y="5803359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26499" y="5902280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核心假设: 层次结构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6499" y="6100122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优点: 多粒度, 无需K | 缺点: 慢, 不可逆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5372" y="3890888"/>
            <a:ext cx="5671465" cy="2637890"/>
          </a:xfrm>
          <a:custGeom>
            <a:avLst/>
            <a:gdLst/>
            <a:ahLst/>
            <a:cxnLst/>
            <a:rect l="l" t="t" r="r" b="b"/>
            <a:pathLst>
              <a:path w="5671465" h="2637890">
                <a:moveTo>
                  <a:pt x="32974" y="0"/>
                </a:moveTo>
                <a:lnTo>
                  <a:pt x="5572544" y="0"/>
                </a:lnTo>
                <a:cubicBezTo>
                  <a:pt x="5627176" y="0"/>
                  <a:pt x="5671465" y="44288"/>
                  <a:pt x="5671465" y="98921"/>
                </a:cubicBezTo>
                <a:lnTo>
                  <a:pt x="5671465" y="2538970"/>
                </a:lnTo>
                <a:cubicBezTo>
                  <a:pt x="5671465" y="2593602"/>
                  <a:pt x="5627176" y="2637890"/>
                  <a:pt x="5572544" y="2637890"/>
                </a:cubicBez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195372" y="3890888"/>
            <a:ext cx="32974" cy="2637890"/>
          </a:xfrm>
          <a:custGeom>
            <a:avLst/>
            <a:gdLst/>
            <a:ahLst/>
            <a:cxnLst/>
            <a:rect l="l" t="t" r="r" b="b"/>
            <a:pathLst>
              <a:path w="32974" h="2637890">
                <a:moveTo>
                  <a:pt x="32974" y="0"/>
                </a:moveTo>
                <a:lnTo>
                  <a:pt x="32974" y="0"/>
                </a:lnTo>
                <a:lnTo>
                  <a:pt x="32974" y="2637890"/>
                </a:lnTo>
                <a:lnTo>
                  <a:pt x="32974" y="2637890"/>
                </a:lnTo>
                <a:cubicBezTo>
                  <a:pt x="14763" y="2637890"/>
                  <a:pt x="0" y="2623128"/>
                  <a:pt x="0" y="260491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376727" y="4055757"/>
            <a:ext cx="461631" cy="461631"/>
          </a:xfrm>
          <a:custGeom>
            <a:avLst/>
            <a:gdLst/>
            <a:ahLst/>
            <a:cxnLst/>
            <a:rect l="l" t="t" r="r" b="b"/>
            <a:pathLst>
              <a:path w="461631" h="461631">
                <a:moveTo>
                  <a:pt x="230815" y="0"/>
                </a:moveTo>
                <a:lnTo>
                  <a:pt x="230815" y="0"/>
                </a:lnTo>
                <a:cubicBezTo>
                  <a:pt x="358291" y="0"/>
                  <a:pt x="461631" y="103340"/>
                  <a:pt x="461631" y="230815"/>
                </a:cubicBezTo>
                <a:lnTo>
                  <a:pt x="461631" y="230815"/>
                </a:lnTo>
                <a:cubicBezTo>
                  <a:pt x="461631" y="358291"/>
                  <a:pt x="358291" y="461631"/>
                  <a:pt x="230815" y="461631"/>
                </a:cubicBezTo>
                <a:lnTo>
                  <a:pt x="230815" y="461631"/>
                </a:lnTo>
                <a:cubicBezTo>
                  <a:pt x="103340" y="461631"/>
                  <a:pt x="0" y="358291"/>
                  <a:pt x="0" y="230815"/>
                </a:cubicBezTo>
                <a:lnTo>
                  <a:pt x="0" y="230815"/>
                </a:lnTo>
                <a:cubicBezTo>
                  <a:pt x="0" y="103340"/>
                  <a:pt x="103340" y="0"/>
                  <a:pt x="23081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496256" y="4187651"/>
            <a:ext cx="222572" cy="197842"/>
          </a:xfrm>
          <a:custGeom>
            <a:avLst/>
            <a:gdLst/>
            <a:ahLst/>
            <a:cxnLst/>
            <a:rect l="l" t="t" r="r" b="b"/>
            <a:pathLst>
              <a:path w="222572" h="197842">
                <a:moveTo>
                  <a:pt x="197996" y="92738"/>
                </a:moveTo>
                <a:lnTo>
                  <a:pt x="129988" y="92738"/>
                </a:lnTo>
                <a:cubicBezTo>
                  <a:pt x="123149" y="92738"/>
                  <a:pt x="117623" y="87213"/>
                  <a:pt x="117623" y="80373"/>
                </a:cubicBezTo>
                <a:lnTo>
                  <a:pt x="117623" y="12365"/>
                </a:lnTo>
                <a:cubicBezTo>
                  <a:pt x="117623" y="5526"/>
                  <a:pt x="123187" y="-77"/>
                  <a:pt x="129950" y="811"/>
                </a:cubicBezTo>
                <a:cubicBezTo>
                  <a:pt x="171295" y="6298"/>
                  <a:pt x="204063" y="39066"/>
                  <a:pt x="209550" y="80412"/>
                </a:cubicBezTo>
                <a:cubicBezTo>
                  <a:pt x="210439" y="87174"/>
                  <a:pt x="204836" y="92738"/>
                  <a:pt x="197996" y="92738"/>
                </a:cubicBezTo>
                <a:close/>
                <a:moveTo>
                  <a:pt x="86015" y="14374"/>
                </a:moveTo>
                <a:cubicBezTo>
                  <a:pt x="93009" y="12906"/>
                  <a:pt x="99075" y="18625"/>
                  <a:pt x="99075" y="25774"/>
                </a:cubicBezTo>
                <a:lnTo>
                  <a:pt x="99075" y="102012"/>
                </a:lnTo>
                <a:cubicBezTo>
                  <a:pt x="99075" y="104176"/>
                  <a:pt x="99848" y="106263"/>
                  <a:pt x="101201" y="107924"/>
                </a:cubicBezTo>
                <a:lnTo>
                  <a:pt x="152245" y="169518"/>
                </a:lnTo>
                <a:cubicBezTo>
                  <a:pt x="156766" y="174966"/>
                  <a:pt x="155800" y="183197"/>
                  <a:pt x="149579" y="186559"/>
                </a:cubicBezTo>
                <a:cubicBezTo>
                  <a:pt x="136403" y="193746"/>
                  <a:pt x="121294" y="197842"/>
                  <a:pt x="105258" y="197842"/>
                </a:cubicBezTo>
                <a:cubicBezTo>
                  <a:pt x="54059" y="197842"/>
                  <a:pt x="12520" y="156303"/>
                  <a:pt x="12520" y="105103"/>
                </a:cubicBezTo>
                <a:cubicBezTo>
                  <a:pt x="12520" y="60473"/>
                  <a:pt x="44012" y="23223"/>
                  <a:pt x="86015" y="14374"/>
                </a:cubicBezTo>
                <a:close/>
                <a:moveTo>
                  <a:pt x="184627" y="111286"/>
                </a:moveTo>
                <a:lnTo>
                  <a:pt x="209357" y="111286"/>
                </a:lnTo>
                <a:cubicBezTo>
                  <a:pt x="216505" y="111286"/>
                  <a:pt x="222224" y="117353"/>
                  <a:pt x="220756" y="124347"/>
                </a:cubicBezTo>
                <a:cubicBezTo>
                  <a:pt x="216815" y="143049"/>
                  <a:pt x="207232" y="159665"/>
                  <a:pt x="193862" y="172339"/>
                </a:cubicBezTo>
                <a:cubicBezTo>
                  <a:pt x="189109" y="176860"/>
                  <a:pt x="181651" y="175894"/>
                  <a:pt x="177478" y="170832"/>
                </a:cubicBezTo>
                <a:lnTo>
                  <a:pt x="144865" y="131534"/>
                </a:lnTo>
                <a:cubicBezTo>
                  <a:pt x="138180" y="123458"/>
                  <a:pt x="143938" y="111286"/>
                  <a:pt x="154371" y="111286"/>
                </a:cubicBezTo>
                <a:lnTo>
                  <a:pt x="184588" y="11128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937278" y="4154677"/>
            <a:ext cx="89028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模型聚类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76727" y="4616308"/>
            <a:ext cx="5391189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假设数据由某种概率模型(如高斯分布)生成,试图为数据拟合数学模型,通常假设是若干个概率分布的混合。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6727" y="5143886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475648" y="5242807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75648" y="5440649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高斯混合模型</a:t>
            </a: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(GMM), EM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算法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76727" y="5803359"/>
            <a:ext cx="5325241" cy="560552"/>
          </a:xfrm>
          <a:custGeom>
            <a:avLst/>
            <a:gdLst/>
            <a:ahLst/>
            <a:cxnLst/>
            <a:rect l="l" t="t" r="r" b="b"/>
            <a:pathLst>
              <a:path w="5325241" h="560552">
                <a:moveTo>
                  <a:pt x="32972" y="0"/>
                </a:moveTo>
                <a:lnTo>
                  <a:pt x="5292270" y="0"/>
                </a:lnTo>
                <a:cubicBezTo>
                  <a:pt x="5310479" y="0"/>
                  <a:pt x="5325241" y="14762"/>
                  <a:pt x="5325241" y="32972"/>
                </a:cubicBezTo>
                <a:lnTo>
                  <a:pt x="5325241" y="527580"/>
                </a:lnTo>
                <a:cubicBezTo>
                  <a:pt x="5325241" y="545790"/>
                  <a:pt x="5310479" y="560552"/>
                  <a:pt x="5292270" y="560552"/>
                </a:cubicBezTo>
                <a:lnTo>
                  <a:pt x="32972" y="560552"/>
                </a:lnTo>
                <a:cubicBezTo>
                  <a:pt x="14762" y="560552"/>
                  <a:pt x="0" y="545790"/>
                  <a:pt x="0" y="527580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475648" y="5902280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核心假设: 高斯分布混合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75648" y="6100122"/>
            <a:ext cx="518510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优点: 软聚类, 椭圆簇 | 缺点: 易局部最优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PARTITIONING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划分聚类: </a:t>
            </a: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67375" cy="2698750"/>
          </a:xfrm>
          <a:custGeom>
            <a:avLst/>
            <a:gdLst/>
            <a:ahLst/>
            <a:cxnLst/>
            <a:rect l="l" t="t" r="r" b="b"/>
            <a:pathLst>
              <a:path w="5667375" h="2698750">
                <a:moveTo>
                  <a:pt x="31750" y="0"/>
                </a:moveTo>
                <a:lnTo>
                  <a:pt x="5603873" y="0"/>
                </a:lnTo>
                <a:cubicBezTo>
                  <a:pt x="5638944" y="0"/>
                  <a:pt x="5667375" y="28431"/>
                  <a:pt x="5667375" y="63502"/>
                </a:cubicBezTo>
                <a:lnTo>
                  <a:pt x="5667375" y="2635248"/>
                </a:lnTo>
                <a:cubicBezTo>
                  <a:pt x="5667375" y="2670319"/>
                  <a:pt x="5638944" y="2698750"/>
                  <a:pt x="5603873" y="2698750"/>
                </a:cubicBez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2698750"/>
          </a:xfrm>
          <a:custGeom>
            <a:avLst/>
            <a:gdLst/>
            <a:ahLst/>
            <a:cxnLst/>
            <a:rect l="l" t="t" r="r" b="b"/>
            <a:pathLst>
              <a:path w="31750" h="2698750">
                <a:moveTo>
                  <a:pt x="31750" y="0"/>
                </a:moveTo>
                <a:lnTo>
                  <a:pt x="31750" y="0"/>
                </a:lnTo>
                <a:lnTo>
                  <a:pt x="31750" y="2698750"/>
                </a:ln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206500"/>
            <a:ext cx="542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55575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将数据集划分为</a:t>
            </a:r>
            <a:r>
              <a:rPr lang="en-US" sz="100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个互不相交的簇,每个簇由一个质心(</a:t>
            </a:r>
            <a:r>
              <a:rPr lang="en-US" sz="100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Centroid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)代表。算法通过迭代优化目标函数(如最小化簇内误差平方和SSE),使得样本归属于距离最近的质心。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2095500"/>
            <a:ext cx="5334000" cy="1492250"/>
          </a:xfrm>
          <a:custGeom>
            <a:avLst/>
            <a:gdLst/>
            <a:ahLst/>
            <a:cxnLst/>
            <a:rect l="l" t="t" r="r" b="b"/>
            <a:pathLst>
              <a:path w="5334000" h="1492250">
                <a:moveTo>
                  <a:pt x="63495" y="0"/>
                </a:moveTo>
                <a:lnTo>
                  <a:pt x="5270505" y="0"/>
                </a:lnTo>
                <a:cubicBezTo>
                  <a:pt x="5305572" y="0"/>
                  <a:pt x="5334000" y="28428"/>
                  <a:pt x="5334000" y="63495"/>
                </a:cubicBezTo>
                <a:lnTo>
                  <a:pt x="5334000" y="1428755"/>
                </a:lnTo>
                <a:cubicBezTo>
                  <a:pt x="5334000" y="1463822"/>
                  <a:pt x="5305572" y="1492250"/>
                  <a:pt x="5270505" y="1492250"/>
                </a:cubicBezTo>
                <a:lnTo>
                  <a:pt x="63495" y="1492250"/>
                </a:lnTo>
                <a:cubicBezTo>
                  <a:pt x="28428" y="1492250"/>
                  <a:pt x="0" y="1463822"/>
                  <a:pt x="0" y="14287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35000" y="2222500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" y="2508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07219" y="2508250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2508250"/>
            <a:ext cx="22245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初始化: </a:t>
            </a:r>
            <a:r>
              <a:rPr lang="en-US" sz="1000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随机选择</a:t>
            </a:r>
            <a:r>
              <a:rPr lang="zh-CN" alt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000" b="1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zh-CN" alt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000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个点作为初始质心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2762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07219" y="2762250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" y="2762250"/>
            <a:ext cx="178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分配: 每个样本分配给最近质心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000" y="301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07219" y="3016250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" y="3016250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更新: 重新计算每个簇的质心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000" y="3270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7219" y="3270250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000" y="3270250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收敛: 重复直到质心不再变化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375" y="3873500"/>
            <a:ext cx="5667375" cy="2476500"/>
          </a:xfrm>
          <a:custGeom>
            <a:avLst/>
            <a:gdLst/>
            <a:ahLst/>
            <a:cxnLst/>
            <a:rect l="l" t="t" r="r" b="b"/>
            <a:pathLst>
              <a:path w="5667375" h="2476500">
                <a:moveTo>
                  <a:pt x="31750" y="0"/>
                </a:moveTo>
                <a:lnTo>
                  <a:pt x="5603878" y="0"/>
                </a:lnTo>
                <a:cubicBezTo>
                  <a:pt x="5638946" y="0"/>
                  <a:pt x="5667375" y="28429"/>
                  <a:pt x="5667375" y="63497"/>
                </a:cubicBezTo>
                <a:lnTo>
                  <a:pt x="5667375" y="2413003"/>
                </a:lnTo>
                <a:cubicBezTo>
                  <a:pt x="5667375" y="2448071"/>
                  <a:pt x="5638946" y="2476500"/>
                  <a:pt x="5603878" y="2476500"/>
                </a:cubicBezTo>
                <a:lnTo>
                  <a:pt x="31750" y="2476500"/>
                </a:lnTo>
                <a:cubicBezTo>
                  <a:pt x="14227" y="2476500"/>
                  <a:pt x="0" y="2462273"/>
                  <a:pt x="0" y="244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33375" y="3873500"/>
            <a:ext cx="31750" cy="2476500"/>
          </a:xfrm>
          <a:custGeom>
            <a:avLst/>
            <a:gdLst/>
            <a:ahLst/>
            <a:cxnLst/>
            <a:rect l="l" t="t" r="r" b="b"/>
            <a:pathLst>
              <a:path w="31750" h="2476500">
                <a:moveTo>
                  <a:pt x="31750" y="0"/>
                </a:moveTo>
                <a:lnTo>
                  <a:pt x="31750" y="0"/>
                </a:lnTo>
                <a:lnTo>
                  <a:pt x="31750" y="2476500"/>
                </a:lnTo>
                <a:lnTo>
                  <a:pt x="31750" y="2476500"/>
                </a:lnTo>
                <a:cubicBezTo>
                  <a:pt x="14227" y="2476500"/>
                  <a:pt x="0" y="2462273"/>
                  <a:pt x="0" y="244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8000" y="4032250"/>
            <a:ext cx="541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" y="434975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31753" y="0"/>
                </a:moveTo>
                <a:lnTo>
                  <a:pt x="5302247" y="0"/>
                </a:lnTo>
                <a:cubicBezTo>
                  <a:pt x="5319784" y="0"/>
                  <a:pt x="5334000" y="14216"/>
                  <a:pt x="5334000" y="31753"/>
                </a:cubicBezTo>
                <a:lnTo>
                  <a:pt x="5334000" y="539747"/>
                </a:lnTo>
                <a:cubicBezTo>
                  <a:pt x="5334000" y="557284"/>
                  <a:pt x="5319784" y="571500"/>
                  <a:pt x="530224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3250" y="4445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250" y="4667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最经典的聚类算法,使用均值作为质心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0" y="498475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31753" y="0"/>
                </a:moveTo>
                <a:lnTo>
                  <a:pt x="5302247" y="0"/>
                </a:lnTo>
                <a:cubicBezTo>
                  <a:pt x="5319784" y="0"/>
                  <a:pt x="5334000" y="14216"/>
                  <a:pt x="5334000" y="31753"/>
                </a:cubicBezTo>
                <a:lnTo>
                  <a:pt x="5334000" y="539747"/>
                </a:lnTo>
                <a:cubicBezTo>
                  <a:pt x="5334000" y="557284"/>
                  <a:pt x="5319784" y="571500"/>
                  <a:pt x="530224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03250" y="5080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K-Medoids (PAM)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3250" y="5302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使用簇内实际存在的点作为中心(Medoid),对噪声更鲁棒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8000" y="561975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31753" y="0"/>
                </a:moveTo>
                <a:lnTo>
                  <a:pt x="5302247" y="0"/>
                </a:lnTo>
                <a:cubicBezTo>
                  <a:pt x="5319784" y="0"/>
                  <a:pt x="5334000" y="14216"/>
                  <a:pt x="5334000" y="31753"/>
                </a:cubicBezTo>
                <a:lnTo>
                  <a:pt x="5334000" y="539747"/>
                </a:lnTo>
                <a:cubicBezTo>
                  <a:pt x="5334000" y="557284"/>
                  <a:pt x="5319784" y="571500"/>
                  <a:pt x="530224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3250" y="5715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K-Means++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250" y="5937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优化初始质心选择,距离越远的点被选中的概率越大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1047750"/>
            <a:ext cx="5683250" cy="2794000"/>
          </a:xfrm>
          <a:custGeom>
            <a:avLst/>
            <a:gdLst/>
            <a:ahLst/>
            <a:cxnLst/>
            <a:rect l="l" t="t" r="r" b="b"/>
            <a:pathLst>
              <a:path w="5683250" h="2794000">
                <a:moveTo>
                  <a:pt x="63508" y="0"/>
                </a:moveTo>
                <a:lnTo>
                  <a:pt x="5619742" y="0"/>
                </a:lnTo>
                <a:cubicBezTo>
                  <a:pt x="5654817" y="0"/>
                  <a:pt x="5683250" y="28433"/>
                  <a:pt x="5683250" y="63508"/>
                </a:cubicBezTo>
                <a:lnTo>
                  <a:pt x="5683250" y="2730492"/>
                </a:lnTo>
                <a:cubicBezTo>
                  <a:pt x="5683250" y="2765567"/>
                  <a:pt x="5654817" y="2794000"/>
                  <a:pt x="5619742" y="2794000"/>
                </a:cubicBezTo>
                <a:lnTo>
                  <a:pt x="63508" y="2794000"/>
                </a:lnTo>
                <a:cubicBezTo>
                  <a:pt x="28433" y="2794000"/>
                  <a:pt x="0" y="2765567"/>
                  <a:pt x="0" y="273049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50000" y="120650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优缺点分析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50000" y="1524000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优点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0000" y="180975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算法简单,易于理解和实现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0000" y="20320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收敛速度快,适合大规模数据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0000" y="225425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聚类效果直观,可解释性强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0000" y="2540000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✗ 缺点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0000" y="282575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必须预设K值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,K值选择影响巨大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0000" y="30480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对初始值敏感,易陷入局部最优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0000" y="327025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假设簇是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凸形(球状)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,难以发现任意形状簇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0000" y="3492500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对离群点和噪声敏感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219" y="3972719"/>
            <a:ext cx="5675313" cy="1595438"/>
          </a:xfrm>
          <a:custGeom>
            <a:avLst/>
            <a:gdLst/>
            <a:ahLst/>
            <a:cxnLst/>
            <a:rect l="l" t="t" r="r" b="b"/>
            <a:pathLst>
              <a:path w="5675313" h="1595438">
                <a:moveTo>
                  <a:pt x="63498" y="0"/>
                </a:moveTo>
                <a:lnTo>
                  <a:pt x="5611814" y="0"/>
                </a:lnTo>
                <a:cubicBezTo>
                  <a:pt x="5646883" y="0"/>
                  <a:pt x="5675313" y="28429"/>
                  <a:pt x="5675313" y="63498"/>
                </a:cubicBezTo>
                <a:lnTo>
                  <a:pt x="5675313" y="1531939"/>
                </a:lnTo>
                <a:cubicBezTo>
                  <a:pt x="5675313" y="1567008"/>
                  <a:pt x="5646883" y="1595437"/>
                  <a:pt x="5611814" y="1595438"/>
                </a:cubicBezTo>
                <a:lnTo>
                  <a:pt x="63498" y="1595438"/>
                </a:lnTo>
                <a:cubicBezTo>
                  <a:pt x="28429" y="1595438"/>
                  <a:pt x="0" y="1567008"/>
                  <a:pt x="0" y="153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357938" y="4135438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3813" y="4484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580188" y="4452938"/>
            <a:ext cx="187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大规模数据集,样本数在万级以上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3813" y="4738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580188" y="4706938"/>
            <a:ext cx="179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数据预处理后的数据(已标准化)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3813" y="4992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580188" y="4960938"/>
            <a:ext cx="15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作为基准模型快速建立基线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3813" y="5246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580188" y="5214938"/>
            <a:ext cx="15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簇形状近似球状的数据分布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kern="0" spc="5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密度聚类: </a:t>
            </a:r>
            <a:r>
              <a:rPr lang="en-US" sz="2281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228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996" y="1062273"/>
            <a:ext cx="5657410" cy="2124547"/>
          </a:xfrm>
          <a:custGeom>
            <a:avLst/>
            <a:gdLst/>
            <a:ahLst/>
            <a:cxnLst/>
            <a:rect l="l" t="t" r="r" b="b"/>
            <a:pathLst>
              <a:path w="5657410" h="2124547">
                <a:moveTo>
                  <a:pt x="32190" y="0"/>
                </a:moveTo>
                <a:lnTo>
                  <a:pt x="5593036" y="0"/>
                </a:lnTo>
                <a:cubicBezTo>
                  <a:pt x="5628589" y="0"/>
                  <a:pt x="5657410" y="28821"/>
                  <a:pt x="5657410" y="64374"/>
                </a:cubicBezTo>
                <a:lnTo>
                  <a:pt x="5657410" y="2060173"/>
                </a:lnTo>
                <a:cubicBezTo>
                  <a:pt x="5657410" y="2095725"/>
                  <a:pt x="5628589" y="2124547"/>
                  <a:pt x="5593036" y="2124547"/>
                </a:cubicBezTo>
                <a:lnTo>
                  <a:pt x="32190" y="2124547"/>
                </a:lnTo>
                <a:cubicBezTo>
                  <a:pt x="14412" y="2124547"/>
                  <a:pt x="0" y="2110135"/>
                  <a:pt x="0" y="2092356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7996" y="1062273"/>
            <a:ext cx="32190" cy="2124547"/>
          </a:xfrm>
          <a:custGeom>
            <a:avLst/>
            <a:gdLst/>
            <a:ahLst/>
            <a:cxnLst/>
            <a:rect l="l" t="t" r="r" b="b"/>
            <a:pathLst>
              <a:path w="32190" h="2124547">
                <a:moveTo>
                  <a:pt x="32190" y="0"/>
                </a:moveTo>
                <a:lnTo>
                  <a:pt x="32190" y="0"/>
                </a:lnTo>
                <a:lnTo>
                  <a:pt x="32190" y="2124547"/>
                </a:lnTo>
                <a:lnTo>
                  <a:pt x="32190" y="2124547"/>
                </a:lnTo>
                <a:cubicBezTo>
                  <a:pt x="14412" y="2124547"/>
                  <a:pt x="0" y="2110135"/>
                  <a:pt x="0" y="2092356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82851" y="1191034"/>
            <a:ext cx="5480364" cy="2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2851" y="1545125"/>
            <a:ext cx="5448174" cy="38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打破"球状簇"假设,从密度角度审视数据。</a:t>
            </a:r>
            <a:r>
              <a:rPr lang="en-US" sz="101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簇被定义为密度相连的样本集合</a:t>
            </a:r>
            <a:r>
              <a:rPr lang="en-US" sz="101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,只要样本点密度超过阈值,簇就可向各个方向延伸。</a:t>
            </a:r>
            <a:r>
              <a:rPr lang="en-US" sz="101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低密度区域被视为噪声</a:t>
            </a:r>
            <a:r>
              <a:rPr lang="en-US" sz="101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851" y="2027976"/>
            <a:ext cx="5383794" cy="1030083"/>
          </a:xfrm>
          <a:custGeom>
            <a:avLst/>
            <a:gdLst/>
            <a:ahLst/>
            <a:cxnLst/>
            <a:rect l="l" t="t" r="r" b="b"/>
            <a:pathLst>
              <a:path w="5383794" h="1030083">
                <a:moveTo>
                  <a:pt x="64380" y="0"/>
                </a:moveTo>
                <a:lnTo>
                  <a:pt x="5319414" y="0"/>
                </a:lnTo>
                <a:cubicBezTo>
                  <a:pt x="5354970" y="0"/>
                  <a:pt x="5383794" y="28824"/>
                  <a:pt x="5383794" y="64380"/>
                </a:cubicBezTo>
                <a:lnTo>
                  <a:pt x="5383794" y="965703"/>
                </a:lnTo>
                <a:cubicBezTo>
                  <a:pt x="5383794" y="1001259"/>
                  <a:pt x="5354970" y="1030083"/>
                  <a:pt x="5319414" y="1030083"/>
                </a:cubicBezTo>
                <a:lnTo>
                  <a:pt x="64380" y="1030083"/>
                </a:lnTo>
                <a:cubicBezTo>
                  <a:pt x="28824" y="1030083"/>
                  <a:pt x="0" y="1001259"/>
                  <a:pt x="0" y="965703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79422" y="2124547"/>
            <a:ext cx="526308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422" y="2414257"/>
            <a:ext cx="524698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无需预设簇数 - 算法根据密度自动确定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422" y="2607398"/>
            <a:ext cx="524698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发现任意形状簇 - 环形、月牙形、S形等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22" y="2800539"/>
            <a:ext cx="524698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天然抗噪能力 - 自动识别并剔除离群点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996" y="3283390"/>
            <a:ext cx="5657410" cy="3251200"/>
          </a:xfrm>
          <a:custGeom>
            <a:avLst/>
            <a:gdLst/>
            <a:ahLst/>
            <a:cxnLst/>
            <a:rect l="l" t="t" r="r" b="b"/>
            <a:pathLst>
              <a:path w="5657410" h="3251200">
                <a:moveTo>
                  <a:pt x="32190" y="0"/>
                </a:moveTo>
                <a:lnTo>
                  <a:pt x="5593036" y="0"/>
                </a:lnTo>
                <a:cubicBezTo>
                  <a:pt x="5628589" y="0"/>
                  <a:pt x="5657410" y="28821"/>
                  <a:pt x="5657410" y="64374"/>
                </a:cubicBezTo>
                <a:lnTo>
                  <a:pt x="5657410" y="3186826"/>
                </a:lnTo>
                <a:cubicBezTo>
                  <a:pt x="5657410" y="3222379"/>
                  <a:pt x="5628589" y="3251200"/>
                  <a:pt x="5593036" y="3251200"/>
                </a:cubicBezTo>
                <a:lnTo>
                  <a:pt x="32190" y="3251200"/>
                </a:lnTo>
                <a:cubicBezTo>
                  <a:pt x="14412" y="3251200"/>
                  <a:pt x="0" y="3236788"/>
                  <a:pt x="0" y="321901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37996" y="3283390"/>
            <a:ext cx="32190" cy="3251200"/>
          </a:xfrm>
          <a:custGeom>
            <a:avLst/>
            <a:gdLst/>
            <a:ahLst/>
            <a:cxnLst/>
            <a:rect l="l" t="t" r="r" b="b"/>
            <a:pathLst>
              <a:path w="32190" h="3251200">
                <a:moveTo>
                  <a:pt x="32190" y="0"/>
                </a:moveTo>
                <a:lnTo>
                  <a:pt x="32190" y="0"/>
                </a:lnTo>
                <a:lnTo>
                  <a:pt x="32190" y="3251200"/>
                </a:lnTo>
                <a:lnTo>
                  <a:pt x="32190" y="3251200"/>
                </a:lnTo>
                <a:cubicBezTo>
                  <a:pt x="14412" y="3251200"/>
                  <a:pt x="0" y="3236788"/>
                  <a:pt x="0" y="321901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82851" y="3412150"/>
            <a:ext cx="546426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关键定义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2851" y="3734051"/>
            <a:ext cx="5383794" cy="482851"/>
          </a:xfrm>
          <a:custGeom>
            <a:avLst/>
            <a:gdLst/>
            <a:ahLst/>
            <a:cxnLst/>
            <a:rect l="l" t="t" r="r" b="b"/>
            <a:pathLst>
              <a:path w="5383794" h="482851">
                <a:moveTo>
                  <a:pt x="32192" y="0"/>
                </a:moveTo>
                <a:lnTo>
                  <a:pt x="5351602" y="0"/>
                </a:lnTo>
                <a:cubicBezTo>
                  <a:pt x="5369381" y="0"/>
                  <a:pt x="5383794" y="14413"/>
                  <a:pt x="5383794" y="32192"/>
                </a:cubicBezTo>
                <a:lnTo>
                  <a:pt x="5383794" y="450660"/>
                </a:lnTo>
                <a:cubicBezTo>
                  <a:pt x="5383794" y="468439"/>
                  <a:pt x="5369381" y="482851"/>
                  <a:pt x="5351602" y="482851"/>
                </a:cubicBezTo>
                <a:lnTo>
                  <a:pt x="32192" y="482851"/>
                </a:lnTo>
                <a:cubicBezTo>
                  <a:pt x="14413" y="482851"/>
                  <a:pt x="0" y="468439"/>
                  <a:pt x="0" y="450660"/>
                </a:cubicBezTo>
                <a:lnTo>
                  <a:pt x="0" y="32192"/>
                </a:lnTo>
                <a:cubicBezTo>
                  <a:pt x="0" y="14425"/>
                  <a:pt x="14425" y="0"/>
                  <a:pt x="321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7232" y="3798432"/>
            <a:ext cx="531941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ε</a:t>
            </a:r>
            <a:r>
              <a:rPr lang="en-US" sz="101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-邻域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7232" y="3991572"/>
            <a:ext cx="531136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以样本点为圆心,ε为半径的区域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2851" y="4281283"/>
            <a:ext cx="5383794" cy="482851"/>
          </a:xfrm>
          <a:custGeom>
            <a:avLst/>
            <a:gdLst/>
            <a:ahLst/>
            <a:cxnLst/>
            <a:rect l="l" t="t" r="r" b="b"/>
            <a:pathLst>
              <a:path w="5383794" h="482851">
                <a:moveTo>
                  <a:pt x="32192" y="0"/>
                </a:moveTo>
                <a:lnTo>
                  <a:pt x="5351602" y="0"/>
                </a:lnTo>
                <a:cubicBezTo>
                  <a:pt x="5369381" y="0"/>
                  <a:pt x="5383794" y="14413"/>
                  <a:pt x="5383794" y="32192"/>
                </a:cubicBezTo>
                <a:lnTo>
                  <a:pt x="5383794" y="450660"/>
                </a:lnTo>
                <a:cubicBezTo>
                  <a:pt x="5383794" y="468439"/>
                  <a:pt x="5369381" y="482851"/>
                  <a:pt x="5351602" y="482851"/>
                </a:cubicBezTo>
                <a:lnTo>
                  <a:pt x="32192" y="482851"/>
                </a:lnTo>
                <a:cubicBezTo>
                  <a:pt x="14413" y="482851"/>
                  <a:pt x="0" y="468439"/>
                  <a:pt x="0" y="450660"/>
                </a:cubicBezTo>
                <a:lnTo>
                  <a:pt x="0" y="32192"/>
                </a:lnTo>
                <a:cubicBezTo>
                  <a:pt x="0" y="14425"/>
                  <a:pt x="14425" y="0"/>
                  <a:pt x="321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7232" y="4345663"/>
            <a:ext cx="531941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MinPts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7232" y="4538804"/>
            <a:ext cx="531136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ε-邻域内要求的最小样本数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2851" y="4828515"/>
            <a:ext cx="5383794" cy="482851"/>
          </a:xfrm>
          <a:custGeom>
            <a:avLst/>
            <a:gdLst/>
            <a:ahLst/>
            <a:cxnLst/>
            <a:rect l="l" t="t" r="r" b="b"/>
            <a:pathLst>
              <a:path w="5383794" h="482851">
                <a:moveTo>
                  <a:pt x="32192" y="0"/>
                </a:moveTo>
                <a:lnTo>
                  <a:pt x="5351602" y="0"/>
                </a:lnTo>
                <a:cubicBezTo>
                  <a:pt x="5369381" y="0"/>
                  <a:pt x="5383794" y="14413"/>
                  <a:pt x="5383794" y="32192"/>
                </a:cubicBezTo>
                <a:lnTo>
                  <a:pt x="5383794" y="450660"/>
                </a:lnTo>
                <a:cubicBezTo>
                  <a:pt x="5383794" y="468439"/>
                  <a:pt x="5369381" y="482851"/>
                  <a:pt x="5351602" y="482851"/>
                </a:cubicBezTo>
                <a:lnTo>
                  <a:pt x="32192" y="482851"/>
                </a:lnTo>
                <a:cubicBezTo>
                  <a:pt x="14413" y="482851"/>
                  <a:pt x="0" y="468439"/>
                  <a:pt x="0" y="450660"/>
                </a:cubicBezTo>
                <a:lnTo>
                  <a:pt x="0" y="32192"/>
                </a:lnTo>
                <a:cubicBezTo>
                  <a:pt x="0" y="14425"/>
                  <a:pt x="14425" y="0"/>
                  <a:pt x="321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7232" y="4892895"/>
            <a:ext cx="531941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7232" y="5086036"/>
            <a:ext cx="531136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邻域内样本数 ≥ MinPts, 高密度中心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2851" y="5375747"/>
            <a:ext cx="5383794" cy="482851"/>
          </a:xfrm>
          <a:custGeom>
            <a:avLst/>
            <a:gdLst/>
            <a:ahLst/>
            <a:cxnLst/>
            <a:rect l="l" t="t" r="r" b="b"/>
            <a:pathLst>
              <a:path w="5383794" h="482851">
                <a:moveTo>
                  <a:pt x="32192" y="0"/>
                </a:moveTo>
                <a:lnTo>
                  <a:pt x="5351602" y="0"/>
                </a:lnTo>
                <a:cubicBezTo>
                  <a:pt x="5369381" y="0"/>
                  <a:pt x="5383794" y="14413"/>
                  <a:pt x="5383794" y="32192"/>
                </a:cubicBezTo>
                <a:lnTo>
                  <a:pt x="5383794" y="450660"/>
                </a:lnTo>
                <a:cubicBezTo>
                  <a:pt x="5383794" y="468439"/>
                  <a:pt x="5369381" y="482851"/>
                  <a:pt x="5351602" y="482851"/>
                </a:cubicBezTo>
                <a:lnTo>
                  <a:pt x="32192" y="482851"/>
                </a:lnTo>
                <a:cubicBezTo>
                  <a:pt x="14413" y="482851"/>
                  <a:pt x="0" y="468439"/>
                  <a:pt x="0" y="450660"/>
                </a:cubicBezTo>
                <a:lnTo>
                  <a:pt x="0" y="32192"/>
                </a:lnTo>
                <a:cubicBezTo>
                  <a:pt x="0" y="14425"/>
                  <a:pt x="14425" y="0"/>
                  <a:pt x="321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7232" y="5440127"/>
            <a:ext cx="531941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边界点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7232" y="5633267"/>
            <a:ext cx="531136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在核心点邻域内,但自身不是核心点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2851" y="5922978"/>
            <a:ext cx="5383794" cy="482851"/>
          </a:xfrm>
          <a:custGeom>
            <a:avLst/>
            <a:gdLst/>
            <a:ahLst/>
            <a:cxnLst/>
            <a:rect l="l" t="t" r="r" b="b"/>
            <a:pathLst>
              <a:path w="5383794" h="482851">
                <a:moveTo>
                  <a:pt x="32192" y="0"/>
                </a:moveTo>
                <a:lnTo>
                  <a:pt x="5351602" y="0"/>
                </a:lnTo>
                <a:cubicBezTo>
                  <a:pt x="5369381" y="0"/>
                  <a:pt x="5383794" y="14413"/>
                  <a:pt x="5383794" y="32192"/>
                </a:cubicBezTo>
                <a:lnTo>
                  <a:pt x="5383794" y="450660"/>
                </a:lnTo>
                <a:cubicBezTo>
                  <a:pt x="5383794" y="468439"/>
                  <a:pt x="5369381" y="482851"/>
                  <a:pt x="5351602" y="482851"/>
                </a:cubicBezTo>
                <a:lnTo>
                  <a:pt x="32192" y="482851"/>
                </a:lnTo>
                <a:cubicBezTo>
                  <a:pt x="14413" y="482851"/>
                  <a:pt x="0" y="468439"/>
                  <a:pt x="0" y="450660"/>
                </a:cubicBezTo>
                <a:lnTo>
                  <a:pt x="0" y="32192"/>
                </a:lnTo>
                <a:cubicBezTo>
                  <a:pt x="0" y="14425"/>
                  <a:pt x="14425" y="0"/>
                  <a:pt x="321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47232" y="5987358"/>
            <a:ext cx="531941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噪声点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7232" y="6180499"/>
            <a:ext cx="531136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既非核心点也非边界点, 异常数据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187" y="1062273"/>
            <a:ext cx="5673505" cy="2446448"/>
          </a:xfrm>
          <a:custGeom>
            <a:avLst/>
            <a:gdLst/>
            <a:ahLst/>
            <a:cxnLst/>
            <a:rect l="l" t="t" r="r" b="b"/>
            <a:pathLst>
              <a:path w="5673505" h="2446448">
                <a:moveTo>
                  <a:pt x="64390" y="0"/>
                </a:moveTo>
                <a:lnTo>
                  <a:pt x="5609114" y="0"/>
                </a:lnTo>
                <a:cubicBezTo>
                  <a:pt x="5644676" y="0"/>
                  <a:pt x="5673505" y="28829"/>
                  <a:pt x="5673505" y="64390"/>
                </a:cubicBezTo>
                <a:lnTo>
                  <a:pt x="5673505" y="2382057"/>
                </a:lnTo>
                <a:cubicBezTo>
                  <a:pt x="5673505" y="2417619"/>
                  <a:pt x="5644676" y="2446448"/>
                  <a:pt x="5609114" y="2446448"/>
                </a:cubicBezTo>
                <a:lnTo>
                  <a:pt x="64390" y="2446448"/>
                </a:lnTo>
                <a:cubicBezTo>
                  <a:pt x="28829" y="2446448"/>
                  <a:pt x="0" y="2417619"/>
                  <a:pt x="0" y="2382057"/>
                </a:cubicBezTo>
                <a:lnTo>
                  <a:pt x="0" y="64390"/>
                </a:lnTo>
                <a:cubicBezTo>
                  <a:pt x="0" y="28852"/>
                  <a:pt x="28852" y="0"/>
                  <a:pt x="6439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19948" y="1191034"/>
            <a:ext cx="549645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密度关系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9948" y="1512935"/>
            <a:ext cx="5415984" cy="579422"/>
          </a:xfrm>
          <a:custGeom>
            <a:avLst/>
            <a:gdLst/>
            <a:ahLst/>
            <a:cxnLst/>
            <a:rect l="l" t="t" r="r" b="b"/>
            <a:pathLst>
              <a:path w="5415984" h="579422">
                <a:moveTo>
                  <a:pt x="32193" y="0"/>
                </a:moveTo>
                <a:lnTo>
                  <a:pt x="5383791" y="0"/>
                </a:lnTo>
                <a:cubicBezTo>
                  <a:pt x="5401571" y="0"/>
                  <a:pt x="5415984" y="14413"/>
                  <a:pt x="5415984" y="32193"/>
                </a:cubicBezTo>
                <a:lnTo>
                  <a:pt x="5415984" y="547229"/>
                </a:lnTo>
                <a:cubicBezTo>
                  <a:pt x="5415984" y="565009"/>
                  <a:pt x="5401571" y="579422"/>
                  <a:pt x="5383791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16518" y="1609505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密度直达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6518" y="1834836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点xᵢ位于核心点xⱼ的ε-邻域内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9948" y="2156737"/>
            <a:ext cx="5415984" cy="579422"/>
          </a:xfrm>
          <a:custGeom>
            <a:avLst/>
            <a:gdLst/>
            <a:ahLst/>
            <a:cxnLst/>
            <a:rect l="l" t="t" r="r" b="b"/>
            <a:pathLst>
              <a:path w="5415984" h="579422">
                <a:moveTo>
                  <a:pt x="32193" y="0"/>
                </a:moveTo>
                <a:lnTo>
                  <a:pt x="5383791" y="0"/>
                </a:lnTo>
                <a:cubicBezTo>
                  <a:pt x="5401571" y="0"/>
                  <a:pt x="5415984" y="14413"/>
                  <a:pt x="5415984" y="32193"/>
                </a:cubicBezTo>
                <a:lnTo>
                  <a:pt x="5415984" y="547229"/>
                </a:lnTo>
                <a:cubicBezTo>
                  <a:pt x="5415984" y="565009"/>
                  <a:pt x="5401571" y="579422"/>
                  <a:pt x="5383791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16518" y="2253307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密度可达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6518" y="2478638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存在密度直达路径连接两点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9948" y="2800539"/>
            <a:ext cx="5415984" cy="579422"/>
          </a:xfrm>
          <a:custGeom>
            <a:avLst/>
            <a:gdLst/>
            <a:ahLst/>
            <a:cxnLst/>
            <a:rect l="l" t="t" r="r" b="b"/>
            <a:pathLst>
              <a:path w="5415984" h="579422">
                <a:moveTo>
                  <a:pt x="32193" y="0"/>
                </a:moveTo>
                <a:lnTo>
                  <a:pt x="5383791" y="0"/>
                </a:lnTo>
                <a:cubicBezTo>
                  <a:pt x="5401571" y="0"/>
                  <a:pt x="5415984" y="14413"/>
                  <a:pt x="5415984" y="32193"/>
                </a:cubicBezTo>
                <a:lnTo>
                  <a:pt x="5415984" y="547229"/>
                </a:lnTo>
                <a:cubicBezTo>
                  <a:pt x="5415984" y="565009"/>
                  <a:pt x="5401571" y="579422"/>
                  <a:pt x="5383791" y="579422"/>
                </a:cubicBezTo>
                <a:lnTo>
                  <a:pt x="32193" y="579422"/>
                </a:lnTo>
                <a:cubicBezTo>
                  <a:pt x="14413" y="579422"/>
                  <a:pt x="0" y="565009"/>
                  <a:pt x="0" y="547229"/>
                </a:cubicBezTo>
                <a:lnTo>
                  <a:pt x="0" y="32193"/>
                </a:lnTo>
                <a:cubicBezTo>
                  <a:pt x="0" y="14425"/>
                  <a:pt x="14425" y="0"/>
                  <a:pt x="321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16518" y="2897109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密度相连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6518" y="3122440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两点都由某核心点密度可达, 定义同一簇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5211" y="3609315"/>
            <a:ext cx="5665457" cy="2196974"/>
          </a:xfrm>
          <a:custGeom>
            <a:avLst/>
            <a:gdLst/>
            <a:ahLst/>
            <a:cxnLst/>
            <a:rect l="l" t="t" r="r" b="b"/>
            <a:pathLst>
              <a:path w="5665457" h="2196974">
                <a:moveTo>
                  <a:pt x="64371" y="0"/>
                </a:moveTo>
                <a:lnTo>
                  <a:pt x="5601086" y="0"/>
                </a:lnTo>
                <a:cubicBezTo>
                  <a:pt x="5636637" y="0"/>
                  <a:pt x="5665457" y="28820"/>
                  <a:pt x="5665457" y="64371"/>
                </a:cubicBezTo>
                <a:lnTo>
                  <a:pt x="5665457" y="2132603"/>
                </a:lnTo>
                <a:cubicBezTo>
                  <a:pt x="5665457" y="2168154"/>
                  <a:pt x="5636637" y="2196974"/>
                  <a:pt x="5601086" y="2196974"/>
                </a:cubicBezTo>
                <a:lnTo>
                  <a:pt x="64371" y="2196974"/>
                </a:lnTo>
                <a:cubicBezTo>
                  <a:pt x="28820" y="2196974"/>
                  <a:pt x="0" y="2168154"/>
                  <a:pt x="0" y="2132603"/>
                </a:cubicBezTo>
                <a:lnTo>
                  <a:pt x="0" y="64371"/>
                </a:lnTo>
                <a:cubicBezTo>
                  <a:pt x="0" y="28844"/>
                  <a:pt x="28844" y="0"/>
                  <a:pt x="64371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27995" y="3742099"/>
            <a:ext cx="5480364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优缺点分析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27995" y="4064000"/>
            <a:ext cx="546426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优势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7995" y="4289331"/>
            <a:ext cx="545622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无需预设簇数,自动发现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27995" y="4482471"/>
            <a:ext cx="545622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能发现任意形状的簇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27995" y="4675612"/>
            <a:ext cx="545622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有效识别并剔除噪声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7995" y="4900943"/>
            <a:ext cx="546426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✗ 局限性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27995" y="5126273"/>
            <a:ext cx="545622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对ε和MinPts参数敏感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27995" y="5319414"/>
            <a:ext cx="545622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密度不均时难选统一参数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27995" y="5512554"/>
            <a:ext cx="5456222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高维数据效果下降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1187" y="5906883"/>
            <a:ext cx="5673505" cy="386281"/>
          </a:xfrm>
          <a:custGeom>
            <a:avLst/>
            <a:gdLst/>
            <a:ahLst/>
            <a:cxnLst/>
            <a:rect l="l" t="t" r="r" b="b"/>
            <a:pathLst>
              <a:path w="5673505" h="386281">
                <a:moveTo>
                  <a:pt x="64381" y="0"/>
                </a:moveTo>
                <a:lnTo>
                  <a:pt x="5609123" y="0"/>
                </a:lnTo>
                <a:cubicBezTo>
                  <a:pt x="5644680" y="0"/>
                  <a:pt x="5673505" y="28825"/>
                  <a:pt x="5673505" y="64381"/>
                </a:cubicBezTo>
                <a:lnTo>
                  <a:pt x="5673505" y="321900"/>
                </a:lnTo>
                <a:cubicBezTo>
                  <a:pt x="5673505" y="357457"/>
                  <a:pt x="5644680" y="386281"/>
                  <a:pt x="5609123" y="386281"/>
                </a:cubicBezTo>
                <a:lnTo>
                  <a:pt x="64381" y="386281"/>
                </a:lnTo>
                <a:cubicBezTo>
                  <a:pt x="28825" y="386281"/>
                  <a:pt x="0" y="357457"/>
                  <a:pt x="0" y="321900"/>
                </a:cubicBezTo>
                <a:lnTo>
                  <a:pt x="0" y="64381"/>
                </a:lnTo>
                <a:cubicBezTo>
                  <a:pt x="0" y="28848"/>
                  <a:pt x="28848" y="0"/>
                  <a:pt x="64381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336043" y="6003453"/>
            <a:ext cx="144855" cy="193141"/>
          </a:xfrm>
          <a:custGeom>
            <a:avLst/>
            <a:gdLst/>
            <a:ahLst/>
            <a:cxnLst/>
            <a:rect l="l" t="t" r="r" b="b"/>
            <a:pathLst>
              <a:path w="144855" h="193141">
                <a:moveTo>
                  <a:pt x="110490" y="144855"/>
                </a:moveTo>
                <a:cubicBezTo>
                  <a:pt x="113244" y="136443"/>
                  <a:pt x="118751" y="128823"/>
                  <a:pt x="124976" y="122260"/>
                </a:cubicBezTo>
                <a:cubicBezTo>
                  <a:pt x="137311" y="109283"/>
                  <a:pt x="144855" y="91742"/>
                  <a:pt x="144855" y="72428"/>
                </a:cubicBezTo>
                <a:cubicBezTo>
                  <a:pt x="144855" y="32442"/>
                  <a:pt x="112414" y="0"/>
                  <a:pt x="72428" y="0"/>
                </a:cubicBezTo>
                <a:cubicBezTo>
                  <a:pt x="32442" y="0"/>
                  <a:pt x="0" y="32442"/>
                  <a:pt x="0" y="72428"/>
                </a:cubicBezTo>
                <a:cubicBezTo>
                  <a:pt x="0" y="91742"/>
                  <a:pt x="7545" y="109283"/>
                  <a:pt x="19880" y="122260"/>
                </a:cubicBezTo>
                <a:cubicBezTo>
                  <a:pt x="26104" y="128823"/>
                  <a:pt x="31649" y="136443"/>
                  <a:pt x="34365" y="144855"/>
                </a:cubicBezTo>
                <a:lnTo>
                  <a:pt x="110452" y="144855"/>
                </a:lnTo>
                <a:close/>
                <a:moveTo>
                  <a:pt x="108642" y="162962"/>
                </a:moveTo>
                <a:lnTo>
                  <a:pt x="36214" y="162962"/>
                </a:lnTo>
                <a:lnTo>
                  <a:pt x="36214" y="168998"/>
                </a:lnTo>
                <a:cubicBezTo>
                  <a:pt x="36214" y="185671"/>
                  <a:pt x="49719" y="199176"/>
                  <a:pt x="66392" y="199176"/>
                </a:cubicBezTo>
                <a:lnTo>
                  <a:pt x="78463" y="199176"/>
                </a:lnTo>
                <a:cubicBezTo>
                  <a:pt x="95137" y="199176"/>
                  <a:pt x="108642" y="185671"/>
                  <a:pt x="108642" y="168998"/>
                </a:cubicBezTo>
                <a:lnTo>
                  <a:pt x="108642" y="162962"/>
                </a:lnTo>
                <a:close/>
                <a:moveTo>
                  <a:pt x="69410" y="42250"/>
                </a:moveTo>
                <a:cubicBezTo>
                  <a:pt x="54396" y="42250"/>
                  <a:pt x="42250" y="54396"/>
                  <a:pt x="42250" y="69410"/>
                </a:cubicBezTo>
                <a:cubicBezTo>
                  <a:pt x="42250" y="74427"/>
                  <a:pt x="38213" y="78463"/>
                  <a:pt x="33196" y="78463"/>
                </a:cubicBezTo>
                <a:cubicBezTo>
                  <a:pt x="28179" y="78463"/>
                  <a:pt x="24143" y="74427"/>
                  <a:pt x="24143" y="69410"/>
                </a:cubicBezTo>
                <a:cubicBezTo>
                  <a:pt x="24143" y="44400"/>
                  <a:pt x="44400" y="24143"/>
                  <a:pt x="69410" y="24143"/>
                </a:cubicBezTo>
                <a:cubicBezTo>
                  <a:pt x="74427" y="24143"/>
                  <a:pt x="78463" y="28179"/>
                  <a:pt x="78463" y="33196"/>
                </a:cubicBezTo>
                <a:cubicBezTo>
                  <a:pt x="78463" y="38213"/>
                  <a:pt x="74427" y="42250"/>
                  <a:pt x="69410" y="4225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625753" y="6003453"/>
            <a:ext cx="4426139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关键洞察:</a:t>
            </a:r>
            <a:r>
              <a:rPr lang="en-US" sz="101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DBSCAN通过密度连通性定义簇,突破了传统算法对簇形状的束缚。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028" y="337028"/>
            <a:ext cx="11585349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kern="0" spc="53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&amp; MODEL-BASED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028" y="606651"/>
            <a:ext cx="11669606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层次聚类与模型聚类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880" y="1112194"/>
            <a:ext cx="5645225" cy="4752100"/>
          </a:xfrm>
          <a:custGeom>
            <a:avLst/>
            <a:gdLst/>
            <a:ahLst/>
            <a:cxnLst/>
            <a:rect l="l" t="t" r="r" b="b"/>
            <a:pathLst>
              <a:path w="5645225" h="4752100">
                <a:moveTo>
                  <a:pt x="33703" y="0"/>
                </a:moveTo>
                <a:lnTo>
                  <a:pt x="5577840" y="0"/>
                </a:lnTo>
                <a:cubicBezTo>
                  <a:pt x="5615055" y="0"/>
                  <a:pt x="5645225" y="30169"/>
                  <a:pt x="5645225" y="67385"/>
                </a:cubicBezTo>
                <a:lnTo>
                  <a:pt x="5645225" y="4684715"/>
                </a:lnTo>
                <a:cubicBezTo>
                  <a:pt x="5645225" y="4721930"/>
                  <a:pt x="5615055" y="4752100"/>
                  <a:pt x="5577840" y="4752100"/>
                </a:cubicBezTo>
                <a:lnTo>
                  <a:pt x="33703" y="4752100"/>
                </a:lnTo>
                <a:cubicBezTo>
                  <a:pt x="15089" y="4752100"/>
                  <a:pt x="0" y="4737010"/>
                  <a:pt x="0" y="471839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53880" y="1112194"/>
            <a:ext cx="33703" cy="4752100"/>
          </a:xfrm>
          <a:custGeom>
            <a:avLst/>
            <a:gdLst/>
            <a:ahLst/>
            <a:cxnLst/>
            <a:rect l="l" t="t" r="r" b="b"/>
            <a:pathLst>
              <a:path w="33703" h="4752100">
                <a:moveTo>
                  <a:pt x="33703" y="0"/>
                </a:moveTo>
                <a:lnTo>
                  <a:pt x="33703" y="0"/>
                </a:lnTo>
                <a:lnTo>
                  <a:pt x="33703" y="4752100"/>
                </a:lnTo>
                <a:lnTo>
                  <a:pt x="33703" y="4752100"/>
                </a:lnTo>
                <a:cubicBezTo>
                  <a:pt x="15089" y="4752100"/>
                  <a:pt x="0" y="4737010"/>
                  <a:pt x="0" y="471839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9245" y="1280708"/>
            <a:ext cx="5392453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 </a:t>
            </a:r>
            <a:r>
              <a:rPr lang="en-US" sz="159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Hierarchical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9245" y="1685142"/>
            <a:ext cx="5358751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通过构建树形结构(Dendrogram)表示数据的层次关系,类似"家族树"。</a:t>
            </a:r>
            <a:r>
              <a:rPr lang="en-US" sz="10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无需预设K值</a:t>
            </a:r>
            <a:r>
              <a:rPr lang="en-US" sz="10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,可通过切割树状图决定簇数。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245" y="2258090"/>
            <a:ext cx="5291345" cy="1044788"/>
          </a:xfrm>
          <a:custGeom>
            <a:avLst/>
            <a:gdLst/>
            <a:ahLst/>
            <a:cxnLst/>
            <a:rect l="l" t="t" r="r" b="b"/>
            <a:pathLst>
              <a:path w="5291345" h="1044788">
                <a:moveTo>
                  <a:pt x="67410" y="0"/>
                </a:moveTo>
                <a:lnTo>
                  <a:pt x="5223935" y="0"/>
                </a:lnTo>
                <a:cubicBezTo>
                  <a:pt x="5261164" y="0"/>
                  <a:pt x="5291345" y="30180"/>
                  <a:pt x="5291345" y="67410"/>
                </a:cubicBezTo>
                <a:lnTo>
                  <a:pt x="5291345" y="977378"/>
                </a:lnTo>
                <a:cubicBezTo>
                  <a:pt x="5291345" y="1014607"/>
                  <a:pt x="5261164" y="1044788"/>
                  <a:pt x="5223935" y="1044788"/>
                </a:cubicBezTo>
                <a:lnTo>
                  <a:pt x="67410" y="1044788"/>
                </a:lnTo>
                <a:cubicBezTo>
                  <a:pt x="30180" y="1044788"/>
                  <a:pt x="0" y="1014607"/>
                  <a:pt x="0" y="977378"/>
                </a:cubicBezTo>
                <a:lnTo>
                  <a:pt x="0" y="67410"/>
                </a:lnTo>
                <a:cubicBezTo>
                  <a:pt x="0" y="30180"/>
                  <a:pt x="30180" y="0"/>
                  <a:pt x="674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74057" y="2392901"/>
            <a:ext cx="5097554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两种策略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057" y="2708865"/>
            <a:ext cx="1484965" cy="176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凝聚法(</a:t>
            </a:r>
            <a:r>
              <a:rPr lang="en-US" sz="106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Agglomerative</a:t>
            </a:r>
            <a:r>
              <a:rPr lang="en-US" sz="10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30585" y="2708865"/>
            <a:ext cx="2123739" cy="176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自底向上,从每个样本出发逐步合并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4057" y="2978488"/>
            <a:ext cx="1085870" cy="189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分裂法(</a:t>
            </a:r>
            <a:r>
              <a:rPr lang="en-US" sz="106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Divisive</a:t>
            </a:r>
            <a:r>
              <a:rPr lang="en-US" sz="10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4266" y="2978488"/>
            <a:ext cx="2123739" cy="176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自顶向下,从所有样本开始递归分裂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245" y="3437689"/>
            <a:ext cx="5291345" cy="1584033"/>
          </a:xfrm>
          <a:custGeom>
            <a:avLst/>
            <a:gdLst/>
            <a:ahLst/>
            <a:cxnLst/>
            <a:rect l="l" t="t" r="r" b="b"/>
            <a:pathLst>
              <a:path w="5291345" h="1584033">
                <a:moveTo>
                  <a:pt x="67401" y="0"/>
                </a:moveTo>
                <a:lnTo>
                  <a:pt x="5223944" y="0"/>
                </a:lnTo>
                <a:cubicBezTo>
                  <a:pt x="5261169" y="0"/>
                  <a:pt x="5291345" y="30176"/>
                  <a:pt x="5291345" y="67401"/>
                </a:cubicBezTo>
                <a:lnTo>
                  <a:pt x="5291345" y="1516633"/>
                </a:lnTo>
                <a:cubicBezTo>
                  <a:pt x="5291345" y="1553857"/>
                  <a:pt x="5261169" y="1584033"/>
                  <a:pt x="5223944" y="1584033"/>
                </a:cubicBezTo>
                <a:lnTo>
                  <a:pt x="67401" y="1584033"/>
                </a:lnTo>
                <a:cubicBezTo>
                  <a:pt x="30176" y="1584033"/>
                  <a:pt x="0" y="1553857"/>
                  <a:pt x="0" y="1516633"/>
                </a:cubicBezTo>
                <a:lnTo>
                  <a:pt x="0" y="67401"/>
                </a:lnTo>
                <a:cubicBezTo>
                  <a:pt x="0" y="30201"/>
                  <a:pt x="30201" y="0"/>
                  <a:pt x="6740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4057" y="3572500"/>
            <a:ext cx="5097554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链接准则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4057" y="3875826"/>
            <a:ext cx="2477158" cy="471840"/>
          </a:xfrm>
          <a:custGeom>
            <a:avLst/>
            <a:gdLst/>
            <a:ahLst/>
            <a:cxnLst/>
            <a:rect l="l" t="t" r="r" b="b"/>
            <a:pathLst>
              <a:path w="2477158" h="471840">
                <a:moveTo>
                  <a:pt x="33704" y="0"/>
                </a:moveTo>
                <a:lnTo>
                  <a:pt x="2443455" y="0"/>
                </a:lnTo>
                <a:cubicBezTo>
                  <a:pt x="2462069" y="0"/>
                  <a:pt x="2477158" y="15090"/>
                  <a:pt x="2477158" y="33704"/>
                </a:cubicBezTo>
                <a:lnTo>
                  <a:pt x="2477158" y="438136"/>
                </a:lnTo>
                <a:cubicBezTo>
                  <a:pt x="2477158" y="456738"/>
                  <a:pt x="2462056" y="471840"/>
                  <a:pt x="2443455" y="471840"/>
                </a:cubicBezTo>
                <a:lnTo>
                  <a:pt x="33704" y="471840"/>
                </a:lnTo>
                <a:cubicBezTo>
                  <a:pt x="15090" y="471840"/>
                  <a:pt x="0" y="456750"/>
                  <a:pt x="0" y="438136"/>
                </a:cubicBezTo>
                <a:lnTo>
                  <a:pt x="0" y="33704"/>
                </a:lnTo>
                <a:cubicBezTo>
                  <a:pt x="0" y="15102"/>
                  <a:pt x="15102" y="0"/>
                  <a:pt x="33704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41462" y="3943232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Single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1462" y="4111746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最近点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16712" y="3875826"/>
            <a:ext cx="2477158" cy="471840"/>
          </a:xfrm>
          <a:custGeom>
            <a:avLst/>
            <a:gdLst/>
            <a:ahLst/>
            <a:cxnLst/>
            <a:rect l="l" t="t" r="r" b="b"/>
            <a:pathLst>
              <a:path w="2477158" h="471840">
                <a:moveTo>
                  <a:pt x="33704" y="0"/>
                </a:moveTo>
                <a:lnTo>
                  <a:pt x="2443455" y="0"/>
                </a:lnTo>
                <a:cubicBezTo>
                  <a:pt x="2462069" y="0"/>
                  <a:pt x="2477158" y="15090"/>
                  <a:pt x="2477158" y="33704"/>
                </a:cubicBezTo>
                <a:lnTo>
                  <a:pt x="2477158" y="438136"/>
                </a:lnTo>
                <a:cubicBezTo>
                  <a:pt x="2477158" y="456738"/>
                  <a:pt x="2462056" y="471840"/>
                  <a:pt x="2443455" y="471840"/>
                </a:cubicBezTo>
                <a:lnTo>
                  <a:pt x="33704" y="471840"/>
                </a:lnTo>
                <a:cubicBezTo>
                  <a:pt x="15090" y="471840"/>
                  <a:pt x="0" y="456750"/>
                  <a:pt x="0" y="438136"/>
                </a:cubicBezTo>
                <a:lnTo>
                  <a:pt x="0" y="33704"/>
                </a:lnTo>
                <a:cubicBezTo>
                  <a:pt x="0" y="15102"/>
                  <a:pt x="15102" y="0"/>
                  <a:pt x="33704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284117" y="3943232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Complete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84117" y="4111746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最远点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4057" y="4415071"/>
            <a:ext cx="2477158" cy="471840"/>
          </a:xfrm>
          <a:custGeom>
            <a:avLst/>
            <a:gdLst/>
            <a:ahLst/>
            <a:cxnLst/>
            <a:rect l="l" t="t" r="r" b="b"/>
            <a:pathLst>
              <a:path w="2477158" h="471840">
                <a:moveTo>
                  <a:pt x="33704" y="0"/>
                </a:moveTo>
                <a:lnTo>
                  <a:pt x="2443455" y="0"/>
                </a:lnTo>
                <a:cubicBezTo>
                  <a:pt x="2462069" y="0"/>
                  <a:pt x="2477158" y="15090"/>
                  <a:pt x="2477158" y="33704"/>
                </a:cubicBezTo>
                <a:lnTo>
                  <a:pt x="2477158" y="438136"/>
                </a:lnTo>
                <a:cubicBezTo>
                  <a:pt x="2477158" y="456738"/>
                  <a:pt x="2462056" y="471840"/>
                  <a:pt x="2443455" y="471840"/>
                </a:cubicBezTo>
                <a:lnTo>
                  <a:pt x="33704" y="471840"/>
                </a:lnTo>
                <a:cubicBezTo>
                  <a:pt x="15090" y="471840"/>
                  <a:pt x="0" y="456750"/>
                  <a:pt x="0" y="438136"/>
                </a:cubicBezTo>
                <a:lnTo>
                  <a:pt x="0" y="33704"/>
                </a:lnTo>
                <a:cubicBezTo>
                  <a:pt x="0" y="15102"/>
                  <a:pt x="15102" y="0"/>
                  <a:pt x="33704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41462" y="4482477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Average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1462" y="4650991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平均距离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16712" y="4415071"/>
            <a:ext cx="2477158" cy="471840"/>
          </a:xfrm>
          <a:custGeom>
            <a:avLst/>
            <a:gdLst/>
            <a:ahLst/>
            <a:cxnLst/>
            <a:rect l="l" t="t" r="r" b="b"/>
            <a:pathLst>
              <a:path w="2477158" h="471840">
                <a:moveTo>
                  <a:pt x="33704" y="0"/>
                </a:moveTo>
                <a:lnTo>
                  <a:pt x="2443455" y="0"/>
                </a:lnTo>
                <a:cubicBezTo>
                  <a:pt x="2462069" y="0"/>
                  <a:pt x="2477158" y="15090"/>
                  <a:pt x="2477158" y="33704"/>
                </a:cubicBezTo>
                <a:lnTo>
                  <a:pt x="2477158" y="438136"/>
                </a:lnTo>
                <a:cubicBezTo>
                  <a:pt x="2477158" y="456738"/>
                  <a:pt x="2462056" y="471840"/>
                  <a:pt x="2443455" y="471840"/>
                </a:cubicBezTo>
                <a:lnTo>
                  <a:pt x="33704" y="471840"/>
                </a:lnTo>
                <a:cubicBezTo>
                  <a:pt x="15090" y="471840"/>
                  <a:pt x="0" y="456750"/>
                  <a:pt x="0" y="438136"/>
                </a:cubicBezTo>
                <a:lnTo>
                  <a:pt x="0" y="33704"/>
                </a:lnTo>
                <a:cubicBezTo>
                  <a:pt x="0" y="15102"/>
                  <a:pt x="15102" y="0"/>
                  <a:pt x="33704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284117" y="4482477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Ward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84117" y="4650991"/>
            <a:ext cx="24013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方差增量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245" y="5122831"/>
            <a:ext cx="5291345" cy="572948"/>
          </a:xfrm>
          <a:custGeom>
            <a:avLst/>
            <a:gdLst/>
            <a:ahLst/>
            <a:cxnLst/>
            <a:rect l="l" t="t" r="r" b="b"/>
            <a:pathLst>
              <a:path w="5291345" h="572948">
                <a:moveTo>
                  <a:pt x="33701" y="0"/>
                </a:moveTo>
                <a:lnTo>
                  <a:pt x="5257644" y="0"/>
                </a:lnTo>
                <a:cubicBezTo>
                  <a:pt x="5276256" y="0"/>
                  <a:pt x="5291345" y="15088"/>
                  <a:pt x="5291345" y="33701"/>
                </a:cubicBezTo>
                <a:lnTo>
                  <a:pt x="5291345" y="539247"/>
                </a:lnTo>
                <a:cubicBezTo>
                  <a:pt x="5291345" y="557860"/>
                  <a:pt x="5276256" y="572948"/>
                  <a:pt x="5257644" y="572948"/>
                </a:cubicBezTo>
                <a:lnTo>
                  <a:pt x="33701" y="572948"/>
                </a:lnTo>
                <a:cubicBezTo>
                  <a:pt x="15088" y="572948"/>
                  <a:pt x="0" y="557860"/>
                  <a:pt x="0" y="539247"/>
                </a:cubicBezTo>
                <a:lnTo>
                  <a:pt x="0" y="33701"/>
                </a:lnTo>
                <a:cubicBezTo>
                  <a:pt x="0" y="15101"/>
                  <a:pt x="15101" y="0"/>
                  <a:pt x="33701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0354" y="5223939"/>
            <a:ext cx="514810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354" y="5426156"/>
            <a:ext cx="514810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AGNES</a:t>
            </a:r>
            <a:r>
              <a:rPr lang="en-US" sz="92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(凝聚), </a:t>
            </a: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BIRCH</a:t>
            </a:r>
            <a:r>
              <a:rPr lang="en-US" sz="92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(CF树处理大数据)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4421" y="1112194"/>
            <a:ext cx="5645225" cy="3033255"/>
          </a:xfrm>
          <a:custGeom>
            <a:avLst/>
            <a:gdLst/>
            <a:ahLst/>
            <a:cxnLst/>
            <a:rect l="l" t="t" r="r" b="b"/>
            <a:pathLst>
              <a:path w="5645225" h="3033255">
                <a:moveTo>
                  <a:pt x="33703" y="0"/>
                </a:moveTo>
                <a:lnTo>
                  <a:pt x="5577826" y="0"/>
                </a:lnTo>
                <a:cubicBezTo>
                  <a:pt x="5615049" y="0"/>
                  <a:pt x="5645225" y="30176"/>
                  <a:pt x="5645225" y="67399"/>
                </a:cubicBezTo>
                <a:lnTo>
                  <a:pt x="5645225" y="2965856"/>
                </a:lnTo>
                <a:cubicBezTo>
                  <a:pt x="5645225" y="3003079"/>
                  <a:pt x="5615049" y="3033255"/>
                  <a:pt x="5577826" y="3033255"/>
                </a:cubicBezTo>
                <a:lnTo>
                  <a:pt x="33703" y="3033255"/>
                </a:lnTo>
                <a:cubicBezTo>
                  <a:pt x="15089" y="3033255"/>
                  <a:pt x="0" y="3018166"/>
                  <a:pt x="0" y="2999552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214421" y="1112194"/>
            <a:ext cx="33703" cy="3033255"/>
          </a:xfrm>
          <a:custGeom>
            <a:avLst/>
            <a:gdLst/>
            <a:ahLst/>
            <a:cxnLst/>
            <a:rect l="l" t="t" r="r" b="b"/>
            <a:pathLst>
              <a:path w="33703" h="3033255">
                <a:moveTo>
                  <a:pt x="33703" y="0"/>
                </a:moveTo>
                <a:lnTo>
                  <a:pt x="33703" y="0"/>
                </a:lnTo>
                <a:lnTo>
                  <a:pt x="33703" y="3033255"/>
                </a:lnTo>
                <a:lnTo>
                  <a:pt x="33703" y="3033255"/>
                </a:lnTo>
                <a:cubicBezTo>
                  <a:pt x="15089" y="3033255"/>
                  <a:pt x="0" y="3018166"/>
                  <a:pt x="0" y="2999552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99786" y="1280708"/>
            <a:ext cx="5392453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模型聚类 </a:t>
            </a:r>
            <a:r>
              <a:rPr lang="en-US" sz="159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Model-based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99786" y="1651439"/>
            <a:ext cx="5358751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假设数据由某种概率模型生成,试图为数据拟合数学模型。通常假设数据是若干个概率分布(如高斯分布)的混合。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9786" y="2190684"/>
            <a:ext cx="5291345" cy="1112194"/>
          </a:xfrm>
          <a:custGeom>
            <a:avLst/>
            <a:gdLst/>
            <a:ahLst/>
            <a:cxnLst/>
            <a:rect l="l" t="t" r="r" b="b"/>
            <a:pathLst>
              <a:path w="5291345" h="1112194">
                <a:moveTo>
                  <a:pt x="67410" y="0"/>
                </a:moveTo>
                <a:lnTo>
                  <a:pt x="5223935" y="0"/>
                </a:lnTo>
                <a:cubicBezTo>
                  <a:pt x="5261164" y="0"/>
                  <a:pt x="5291345" y="30181"/>
                  <a:pt x="5291345" y="67410"/>
                </a:cubicBezTo>
                <a:lnTo>
                  <a:pt x="5291345" y="1044783"/>
                </a:lnTo>
                <a:cubicBezTo>
                  <a:pt x="5291345" y="1082013"/>
                  <a:pt x="5261164" y="1112194"/>
                  <a:pt x="5223935" y="1112194"/>
                </a:cubicBezTo>
                <a:lnTo>
                  <a:pt x="67410" y="1112194"/>
                </a:lnTo>
                <a:cubicBezTo>
                  <a:pt x="30181" y="1112194"/>
                  <a:pt x="0" y="1082013"/>
                  <a:pt x="0" y="1044783"/>
                </a:cubicBezTo>
                <a:lnTo>
                  <a:pt x="0" y="67410"/>
                </a:lnTo>
                <a:cubicBezTo>
                  <a:pt x="0" y="30181"/>
                  <a:pt x="30181" y="0"/>
                  <a:pt x="674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34598" y="2325496"/>
            <a:ext cx="5097554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代表: 高斯混合模型(</a:t>
            </a:r>
            <a:r>
              <a:rPr lang="en-US" sz="1194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GMM</a:t>
            </a:r>
            <a:r>
              <a:rPr lang="en-US" sz="119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4598" y="2595118"/>
            <a:ext cx="5080702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假设数据由K个高斯分布混合而成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4598" y="2831038"/>
            <a:ext cx="5080702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E步:</a:t>
            </a:r>
            <a:r>
              <a:rPr lang="en-US" sz="92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计算样本属于各分量的概率(软分配)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M步:</a:t>
            </a:r>
            <a:r>
              <a:rPr lang="en-US" sz="92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根据概率权重重新计算参数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9786" y="3403986"/>
            <a:ext cx="5291345" cy="572948"/>
          </a:xfrm>
          <a:custGeom>
            <a:avLst/>
            <a:gdLst/>
            <a:ahLst/>
            <a:cxnLst/>
            <a:rect l="l" t="t" r="r" b="b"/>
            <a:pathLst>
              <a:path w="5291345" h="572948">
                <a:moveTo>
                  <a:pt x="33701" y="0"/>
                </a:moveTo>
                <a:lnTo>
                  <a:pt x="5257644" y="0"/>
                </a:lnTo>
                <a:cubicBezTo>
                  <a:pt x="5276256" y="0"/>
                  <a:pt x="5291345" y="15088"/>
                  <a:pt x="5291345" y="33701"/>
                </a:cubicBezTo>
                <a:lnTo>
                  <a:pt x="5291345" y="539247"/>
                </a:lnTo>
                <a:cubicBezTo>
                  <a:pt x="5291345" y="557860"/>
                  <a:pt x="5276256" y="572948"/>
                  <a:pt x="5257644" y="572948"/>
                </a:cubicBezTo>
                <a:lnTo>
                  <a:pt x="33701" y="572948"/>
                </a:lnTo>
                <a:cubicBezTo>
                  <a:pt x="15088" y="572948"/>
                  <a:pt x="0" y="557860"/>
                  <a:pt x="0" y="539247"/>
                </a:cubicBezTo>
                <a:lnTo>
                  <a:pt x="0" y="33701"/>
                </a:lnTo>
                <a:cubicBezTo>
                  <a:pt x="0" y="15101"/>
                  <a:pt x="15101" y="0"/>
                  <a:pt x="33701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500895" y="3505095"/>
            <a:ext cx="514810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0895" y="3707312"/>
            <a:ext cx="514810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提供软聚类结果(概率),可拟合椭圆状簇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7569" y="4280260"/>
            <a:ext cx="5662076" cy="1348113"/>
          </a:xfrm>
          <a:custGeom>
            <a:avLst/>
            <a:gdLst/>
            <a:ahLst/>
            <a:cxnLst/>
            <a:rect l="l" t="t" r="r" b="b"/>
            <a:pathLst>
              <a:path w="5662076" h="1348113">
                <a:moveTo>
                  <a:pt x="67406" y="0"/>
                </a:moveTo>
                <a:lnTo>
                  <a:pt x="5594670" y="0"/>
                </a:lnTo>
                <a:cubicBezTo>
                  <a:pt x="5631897" y="0"/>
                  <a:pt x="5662076" y="30179"/>
                  <a:pt x="5662076" y="67406"/>
                </a:cubicBezTo>
                <a:lnTo>
                  <a:pt x="5662076" y="1280708"/>
                </a:lnTo>
                <a:cubicBezTo>
                  <a:pt x="5662076" y="1317935"/>
                  <a:pt x="5631897" y="1348113"/>
                  <a:pt x="5594670" y="1348113"/>
                </a:cubicBezTo>
                <a:lnTo>
                  <a:pt x="67406" y="1348113"/>
                </a:lnTo>
                <a:cubicBezTo>
                  <a:pt x="30179" y="1348113"/>
                  <a:pt x="0" y="1317935"/>
                  <a:pt x="0" y="1280708"/>
                </a:cubicBezTo>
                <a:lnTo>
                  <a:pt x="0" y="67406"/>
                </a:lnTo>
                <a:cubicBezTo>
                  <a:pt x="0" y="30203"/>
                  <a:pt x="30203" y="0"/>
                  <a:pt x="67406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32381" y="4415071"/>
            <a:ext cx="5468285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算法选择决策树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9232" y="4743674"/>
            <a:ext cx="117960" cy="117960"/>
          </a:xfrm>
          <a:custGeom>
            <a:avLst/>
            <a:gdLst/>
            <a:ahLst/>
            <a:cxnLst/>
            <a:rect l="l" t="t" r="r" b="b"/>
            <a:pathLst>
              <a:path w="117960" h="117960">
                <a:moveTo>
                  <a:pt x="115794" y="64187"/>
                </a:moveTo>
                <a:cubicBezTo>
                  <a:pt x="118674" y="61307"/>
                  <a:pt x="118674" y="56630"/>
                  <a:pt x="115794" y="53750"/>
                </a:cubicBezTo>
                <a:lnTo>
                  <a:pt x="78932" y="16888"/>
                </a:lnTo>
                <a:cubicBezTo>
                  <a:pt x="76052" y="14008"/>
                  <a:pt x="71375" y="14008"/>
                  <a:pt x="68495" y="16888"/>
                </a:cubicBezTo>
                <a:cubicBezTo>
                  <a:pt x="65615" y="19768"/>
                  <a:pt x="65615" y="24444"/>
                  <a:pt x="68495" y="27324"/>
                </a:cubicBezTo>
                <a:lnTo>
                  <a:pt x="92778" y="51607"/>
                </a:lnTo>
                <a:lnTo>
                  <a:pt x="7372" y="51607"/>
                </a:lnTo>
                <a:cubicBezTo>
                  <a:pt x="3295" y="51607"/>
                  <a:pt x="0" y="54902"/>
                  <a:pt x="0" y="58980"/>
                </a:cubicBezTo>
                <a:cubicBezTo>
                  <a:pt x="0" y="63058"/>
                  <a:pt x="3295" y="66352"/>
                  <a:pt x="7372" y="66352"/>
                </a:cubicBezTo>
                <a:lnTo>
                  <a:pt x="92778" y="66352"/>
                </a:lnTo>
                <a:lnTo>
                  <a:pt x="68495" y="90636"/>
                </a:lnTo>
                <a:cubicBezTo>
                  <a:pt x="65615" y="93515"/>
                  <a:pt x="65615" y="98192"/>
                  <a:pt x="68495" y="101072"/>
                </a:cubicBezTo>
                <a:cubicBezTo>
                  <a:pt x="71375" y="103952"/>
                  <a:pt x="76052" y="103952"/>
                  <a:pt x="78932" y="101072"/>
                </a:cubicBezTo>
                <a:lnTo>
                  <a:pt x="115794" y="6421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47236" y="4718397"/>
            <a:ext cx="181152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大规模数据 + 凸形簇 → </a:t>
            </a:r>
            <a:r>
              <a:rPr lang="en-US" sz="929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49232" y="4945891"/>
            <a:ext cx="117960" cy="117960"/>
          </a:xfrm>
          <a:custGeom>
            <a:avLst/>
            <a:gdLst/>
            <a:ahLst/>
            <a:cxnLst/>
            <a:rect l="l" t="t" r="r" b="b"/>
            <a:pathLst>
              <a:path w="117960" h="117960">
                <a:moveTo>
                  <a:pt x="115794" y="64187"/>
                </a:moveTo>
                <a:cubicBezTo>
                  <a:pt x="118674" y="61307"/>
                  <a:pt x="118674" y="56630"/>
                  <a:pt x="115794" y="53750"/>
                </a:cubicBezTo>
                <a:lnTo>
                  <a:pt x="78932" y="16888"/>
                </a:lnTo>
                <a:cubicBezTo>
                  <a:pt x="76052" y="14008"/>
                  <a:pt x="71375" y="14008"/>
                  <a:pt x="68495" y="16888"/>
                </a:cubicBezTo>
                <a:cubicBezTo>
                  <a:pt x="65615" y="19768"/>
                  <a:pt x="65615" y="24444"/>
                  <a:pt x="68495" y="27324"/>
                </a:cubicBezTo>
                <a:lnTo>
                  <a:pt x="92778" y="51607"/>
                </a:lnTo>
                <a:lnTo>
                  <a:pt x="7372" y="51607"/>
                </a:lnTo>
                <a:cubicBezTo>
                  <a:pt x="3295" y="51607"/>
                  <a:pt x="0" y="54902"/>
                  <a:pt x="0" y="58980"/>
                </a:cubicBezTo>
                <a:cubicBezTo>
                  <a:pt x="0" y="63058"/>
                  <a:pt x="3295" y="66352"/>
                  <a:pt x="7372" y="66352"/>
                </a:cubicBezTo>
                <a:lnTo>
                  <a:pt x="92778" y="66352"/>
                </a:lnTo>
                <a:lnTo>
                  <a:pt x="68495" y="90636"/>
                </a:lnTo>
                <a:cubicBezTo>
                  <a:pt x="65615" y="93515"/>
                  <a:pt x="65615" y="98192"/>
                  <a:pt x="68495" y="101072"/>
                </a:cubicBezTo>
                <a:cubicBezTo>
                  <a:pt x="71375" y="103952"/>
                  <a:pt x="76052" y="103952"/>
                  <a:pt x="78932" y="101072"/>
                </a:cubicBezTo>
                <a:lnTo>
                  <a:pt x="115794" y="64210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547236" y="4920614"/>
            <a:ext cx="169356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任意形状 + 含噪声 → </a:t>
            </a:r>
            <a:r>
              <a:rPr lang="en-US" sz="929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49232" y="5148108"/>
            <a:ext cx="117960" cy="117960"/>
          </a:xfrm>
          <a:custGeom>
            <a:avLst/>
            <a:gdLst/>
            <a:ahLst/>
            <a:cxnLst/>
            <a:rect l="l" t="t" r="r" b="b"/>
            <a:pathLst>
              <a:path w="117960" h="117960">
                <a:moveTo>
                  <a:pt x="115794" y="64187"/>
                </a:moveTo>
                <a:cubicBezTo>
                  <a:pt x="118674" y="61307"/>
                  <a:pt x="118674" y="56630"/>
                  <a:pt x="115794" y="53750"/>
                </a:cubicBezTo>
                <a:lnTo>
                  <a:pt x="78932" y="16888"/>
                </a:lnTo>
                <a:cubicBezTo>
                  <a:pt x="76052" y="14008"/>
                  <a:pt x="71375" y="14008"/>
                  <a:pt x="68495" y="16888"/>
                </a:cubicBezTo>
                <a:cubicBezTo>
                  <a:pt x="65615" y="19768"/>
                  <a:pt x="65615" y="24444"/>
                  <a:pt x="68495" y="27324"/>
                </a:cubicBezTo>
                <a:lnTo>
                  <a:pt x="92778" y="51607"/>
                </a:lnTo>
                <a:lnTo>
                  <a:pt x="7372" y="51607"/>
                </a:lnTo>
                <a:cubicBezTo>
                  <a:pt x="3295" y="51607"/>
                  <a:pt x="0" y="54902"/>
                  <a:pt x="0" y="58980"/>
                </a:cubicBezTo>
                <a:cubicBezTo>
                  <a:pt x="0" y="63058"/>
                  <a:pt x="3295" y="66352"/>
                  <a:pt x="7372" y="66352"/>
                </a:cubicBezTo>
                <a:lnTo>
                  <a:pt x="92778" y="66352"/>
                </a:lnTo>
                <a:lnTo>
                  <a:pt x="68495" y="90636"/>
                </a:lnTo>
                <a:cubicBezTo>
                  <a:pt x="65615" y="93515"/>
                  <a:pt x="65615" y="98192"/>
                  <a:pt x="68495" y="101072"/>
                </a:cubicBezTo>
                <a:cubicBezTo>
                  <a:pt x="71375" y="103952"/>
                  <a:pt x="76052" y="103952"/>
                  <a:pt x="78932" y="101072"/>
                </a:cubicBezTo>
                <a:lnTo>
                  <a:pt x="115794" y="64210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547236" y="5122830"/>
            <a:ext cx="181152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小规模 + 层级关系 → </a:t>
            </a:r>
            <a:r>
              <a:rPr lang="en-US" sz="92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层次聚类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9232" y="5350325"/>
            <a:ext cx="117960" cy="117960"/>
          </a:xfrm>
          <a:custGeom>
            <a:avLst/>
            <a:gdLst/>
            <a:ahLst/>
            <a:cxnLst/>
            <a:rect l="l" t="t" r="r" b="b"/>
            <a:pathLst>
              <a:path w="117960" h="117960">
                <a:moveTo>
                  <a:pt x="115794" y="64187"/>
                </a:moveTo>
                <a:cubicBezTo>
                  <a:pt x="118674" y="61307"/>
                  <a:pt x="118674" y="56630"/>
                  <a:pt x="115794" y="53750"/>
                </a:cubicBezTo>
                <a:lnTo>
                  <a:pt x="78932" y="16888"/>
                </a:lnTo>
                <a:cubicBezTo>
                  <a:pt x="76052" y="14008"/>
                  <a:pt x="71375" y="14008"/>
                  <a:pt x="68495" y="16888"/>
                </a:cubicBezTo>
                <a:cubicBezTo>
                  <a:pt x="65615" y="19768"/>
                  <a:pt x="65615" y="24444"/>
                  <a:pt x="68495" y="27324"/>
                </a:cubicBezTo>
                <a:lnTo>
                  <a:pt x="92778" y="51607"/>
                </a:lnTo>
                <a:lnTo>
                  <a:pt x="7372" y="51607"/>
                </a:lnTo>
                <a:cubicBezTo>
                  <a:pt x="3295" y="51607"/>
                  <a:pt x="0" y="54902"/>
                  <a:pt x="0" y="58980"/>
                </a:cubicBezTo>
                <a:cubicBezTo>
                  <a:pt x="0" y="63058"/>
                  <a:pt x="3295" y="66352"/>
                  <a:pt x="7372" y="66352"/>
                </a:cubicBezTo>
                <a:lnTo>
                  <a:pt x="92778" y="66352"/>
                </a:lnTo>
                <a:lnTo>
                  <a:pt x="68495" y="90636"/>
                </a:lnTo>
                <a:cubicBezTo>
                  <a:pt x="65615" y="93515"/>
                  <a:pt x="65615" y="98192"/>
                  <a:pt x="68495" y="101072"/>
                </a:cubicBezTo>
                <a:cubicBezTo>
                  <a:pt x="71375" y="103952"/>
                  <a:pt x="76052" y="103952"/>
                  <a:pt x="78932" y="101072"/>
                </a:cubicBezTo>
                <a:lnTo>
                  <a:pt x="115794" y="6421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47236" y="5325048"/>
            <a:ext cx="124700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需要概率输出 → </a:t>
            </a:r>
            <a:r>
              <a:rPr lang="en-US" sz="929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GMM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41241" y="6037020"/>
            <a:ext cx="11509518" cy="480265"/>
          </a:xfrm>
          <a:custGeom>
            <a:avLst/>
            <a:gdLst/>
            <a:ahLst/>
            <a:cxnLst/>
            <a:rect l="l" t="t" r="r" b="b"/>
            <a:pathLst>
              <a:path w="11509518" h="480265">
                <a:moveTo>
                  <a:pt x="67405" y="0"/>
                </a:moveTo>
                <a:lnTo>
                  <a:pt x="11442112" y="0"/>
                </a:lnTo>
                <a:cubicBezTo>
                  <a:pt x="11479339" y="0"/>
                  <a:pt x="11509518" y="30178"/>
                  <a:pt x="11509518" y="67405"/>
                </a:cubicBezTo>
                <a:lnTo>
                  <a:pt x="11509518" y="412860"/>
                </a:lnTo>
                <a:cubicBezTo>
                  <a:pt x="11509518" y="450087"/>
                  <a:pt x="11479339" y="480265"/>
                  <a:pt x="11442112" y="480265"/>
                </a:cubicBezTo>
                <a:lnTo>
                  <a:pt x="67405" y="480265"/>
                </a:lnTo>
                <a:cubicBezTo>
                  <a:pt x="30178" y="480265"/>
                  <a:pt x="0" y="450087"/>
                  <a:pt x="0" y="412860"/>
                </a:cubicBezTo>
                <a:lnTo>
                  <a:pt x="0" y="67405"/>
                </a:lnTo>
                <a:cubicBezTo>
                  <a:pt x="0" y="30203"/>
                  <a:pt x="30203" y="0"/>
                  <a:pt x="67405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05543" y="6176044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101109" y="202217"/>
                </a:moveTo>
                <a:cubicBezTo>
                  <a:pt x="156912" y="202217"/>
                  <a:pt x="202217" y="156912"/>
                  <a:pt x="202217" y="101109"/>
                </a:cubicBezTo>
                <a:cubicBezTo>
                  <a:pt x="202217" y="45305"/>
                  <a:pt x="156912" y="0"/>
                  <a:pt x="101109" y="0"/>
                </a:cubicBezTo>
                <a:cubicBezTo>
                  <a:pt x="45305" y="0"/>
                  <a:pt x="0" y="45305"/>
                  <a:pt x="0" y="101109"/>
                </a:cubicBezTo>
                <a:cubicBezTo>
                  <a:pt x="0" y="156912"/>
                  <a:pt x="45305" y="202217"/>
                  <a:pt x="101109" y="202217"/>
                </a:cubicBezTo>
                <a:close/>
                <a:moveTo>
                  <a:pt x="88470" y="63193"/>
                </a:moveTo>
                <a:cubicBezTo>
                  <a:pt x="88470" y="56217"/>
                  <a:pt x="94133" y="50554"/>
                  <a:pt x="101109" y="50554"/>
                </a:cubicBezTo>
                <a:cubicBezTo>
                  <a:pt x="108084" y="50554"/>
                  <a:pt x="113747" y="56217"/>
                  <a:pt x="113747" y="63193"/>
                </a:cubicBezTo>
                <a:cubicBezTo>
                  <a:pt x="113747" y="70168"/>
                  <a:pt x="108084" y="75831"/>
                  <a:pt x="101109" y="75831"/>
                </a:cubicBezTo>
                <a:cubicBezTo>
                  <a:pt x="94133" y="75831"/>
                  <a:pt x="88470" y="70168"/>
                  <a:pt x="88470" y="63193"/>
                </a:cubicBezTo>
                <a:close/>
                <a:moveTo>
                  <a:pt x="85310" y="88470"/>
                </a:moveTo>
                <a:lnTo>
                  <a:pt x="104268" y="88470"/>
                </a:lnTo>
                <a:cubicBezTo>
                  <a:pt x="109521" y="88470"/>
                  <a:pt x="113747" y="92696"/>
                  <a:pt x="113747" y="97949"/>
                </a:cubicBezTo>
                <a:lnTo>
                  <a:pt x="113747" y="132705"/>
                </a:lnTo>
                <a:lnTo>
                  <a:pt x="116907" y="132705"/>
                </a:lnTo>
                <a:cubicBezTo>
                  <a:pt x="122160" y="132705"/>
                  <a:pt x="126386" y="136931"/>
                  <a:pt x="126386" y="142184"/>
                </a:cubicBezTo>
                <a:cubicBezTo>
                  <a:pt x="126386" y="147437"/>
                  <a:pt x="122160" y="151663"/>
                  <a:pt x="116907" y="151663"/>
                </a:cubicBezTo>
                <a:lnTo>
                  <a:pt x="85310" y="151663"/>
                </a:lnTo>
                <a:cubicBezTo>
                  <a:pt x="80057" y="151663"/>
                  <a:pt x="75831" y="147437"/>
                  <a:pt x="75831" y="142184"/>
                </a:cubicBezTo>
                <a:cubicBezTo>
                  <a:pt x="75831" y="136931"/>
                  <a:pt x="80057" y="132705"/>
                  <a:pt x="85310" y="132705"/>
                </a:cubicBezTo>
                <a:lnTo>
                  <a:pt x="94789" y="132705"/>
                </a:lnTo>
                <a:lnTo>
                  <a:pt x="94789" y="107428"/>
                </a:lnTo>
                <a:lnTo>
                  <a:pt x="85310" y="107428"/>
                </a:lnTo>
                <a:cubicBezTo>
                  <a:pt x="80057" y="107428"/>
                  <a:pt x="75831" y="103202"/>
                  <a:pt x="75831" y="97949"/>
                </a:cubicBezTo>
                <a:cubicBezTo>
                  <a:pt x="75831" y="92696"/>
                  <a:pt x="80057" y="88470"/>
                  <a:pt x="85310" y="8847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34144" y="6176044"/>
            <a:ext cx="4756427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选择建议:</a:t>
            </a:r>
            <a:r>
              <a:rPr lang="en-US" sz="10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没有万能算法,需根据数据形状、规模、噪声及业务需求综合考虑。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572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kern="0" spc="56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 (1)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625" y="634725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聚类评估指标(一): 内部评估方法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256" y="1163662"/>
            <a:ext cx="11469119" cy="863931"/>
          </a:xfrm>
          <a:custGeom>
            <a:avLst/>
            <a:gdLst/>
            <a:ahLst/>
            <a:cxnLst/>
            <a:rect l="l" t="t" r="r" b="b"/>
            <a:pathLst>
              <a:path w="11469119" h="863931">
                <a:moveTo>
                  <a:pt x="35262" y="0"/>
                </a:moveTo>
                <a:lnTo>
                  <a:pt x="11398597" y="0"/>
                </a:lnTo>
                <a:cubicBezTo>
                  <a:pt x="11437545" y="0"/>
                  <a:pt x="11469119" y="31574"/>
                  <a:pt x="11469119" y="70523"/>
                </a:cubicBezTo>
                <a:lnTo>
                  <a:pt x="11469119" y="793408"/>
                </a:lnTo>
                <a:cubicBezTo>
                  <a:pt x="11469119" y="832357"/>
                  <a:pt x="11437545" y="863931"/>
                  <a:pt x="11398597" y="863931"/>
                </a:cubicBezTo>
                <a:lnTo>
                  <a:pt x="35262" y="863931"/>
                </a:lnTo>
                <a:cubicBezTo>
                  <a:pt x="15788" y="863931"/>
                  <a:pt x="0" y="848143"/>
                  <a:pt x="0" y="828668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70256" y="1163662"/>
            <a:ext cx="35262" cy="863931"/>
          </a:xfrm>
          <a:custGeom>
            <a:avLst/>
            <a:gdLst/>
            <a:ahLst/>
            <a:cxnLst/>
            <a:rect l="l" t="t" r="r" b="b"/>
            <a:pathLst>
              <a:path w="35262" h="863931">
                <a:moveTo>
                  <a:pt x="35262" y="0"/>
                </a:moveTo>
                <a:lnTo>
                  <a:pt x="35262" y="0"/>
                </a:lnTo>
                <a:lnTo>
                  <a:pt x="35262" y="863931"/>
                </a:lnTo>
                <a:lnTo>
                  <a:pt x="35262" y="863931"/>
                </a:lnTo>
                <a:cubicBezTo>
                  <a:pt x="15788" y="863931"/>
                  <a:pt x="0" y="848143"/>
                  <a:pt x="0" y="828668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8937" y="1304711"/>
            <a:ext cx="1125754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评估挑战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8937" y="1657336"/>
            <a:ext cx="11239913" cy="22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聚类是无监督学习,</a:t>
            </a:r>
            <a:r>
              <a:rPr lang="en-US" sz="11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缺乏真实标签(</a:t>
            </a:r>
            <a:r>
              <a:rPr lang="en-US" sz="1111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Ground Truth</a:t>
            </a:r>
            <a:r>
              <a:rPr lang="en-US" sz="11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。我们通常使用</a:t>
            </a:r>
            <a:r>
              <a:rPr lang="en-US" sz="111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内部指标</a:t>
            </a: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,仅利用数据本身信息来评估。好的聚类应满足: </a:t>
            </a:r>
            <a:r>
              <a:rPr lang="en-US" sz="11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"簇内高内聚,簇间低耦合"</a:t>
            </a: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625" y="2186273"/>
            <a:ext cx="5659627" cy="3103098"/>
          </a:xfrm>
          <a:custGeom>
            <a:avLst/>
            <a:gdLst/>
            <a:ahLst/>
            <a:cxnLst/>
            <a:rect l="l" t="t" r="r" b="b"/>
            <a:pathLst>
              <a:path w="5659627" h="3103098">
                <a:moveTo>
                  <a:pt x="35262" y="0"/>
                </a:moveTo>
                <a:lnTo>
                  <a:pt x="5624364" y="0"/>
                </a:lnTo>
                <a:cubicBezTo>
                  <a:pt x="5643839" y="0"/>
                  <a:pt x="5659627" y="15788"/>
                  <a:pt x="5659627" y="35262"/>
                </a:cubicBezTo>
                <a:lnTo>
                  <a:pt x="5659627" y="3032564"/>
                </a:lnTo>
                <a:cubicBezTo>
                  <a:pt x="5659627" y="3071519"/>
                  <a:pt x="5628048" y="3103098"/>
                  <a:pt x="5589093" y="3103098"/>
                </a:cubicBezTo>
                <a:lnTo>
                  <a:pt x="70533" y="3103098"/>
                </a:lnTo>
                <a:cubicBezTo>
                  <a:pt x="31579" y="3103098"/>
                  <a:pt x="0" y="3071519"/>
                  <a:pt x="0" y="3032564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52625" y="2186273"/>
            <a:ext cx="5659627" cy="35262"/>
          </a:xfrm>
          <a:custGeom>
            <a:avLst/>
            <a:gdLst/>
            <a:ahLst/>
            <a:cxnLst/>
            <a:rect l="l" t="t" r="r" b="b"/>
            <a:pathLst>
              <a:path w="5659627" h="35262">
                <a:moveTo>
                  <a:pt x="35262" y="0"/>
                </a:moveTo>
                <a:lnTo>
                  <a:pt x="5624364" y="0"/>
                </a:lnTo>
                <a:cubicBezTo>
                  <a:pt x="5643839" y="0"/>
                  <a:pt x="5659627" y="15788"/>
                  <a:pt x="5659627" y="35262"/>
                </a:cubicBezTo>
                <a:lnTo>
                  <a:pt x="5659627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28937" y="2380217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81969" y="2468373"/>
            <a:ext cx="4055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7874" y="2468373"/>
            <a:ext cx="9697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误差平方和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937" y="2909154"/>
            <a:ext cx="5377527" cy="22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计算所有样本点到其所属簇质心的距离平方和。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8937" y="3244148"/>
            <a:ext cx="5307002" cy="458412"/>
          </a:xfrm>
          <a:custGeom>
            <a:avLst/>
            <a:gdLst/>
            <a:ahLst/>
            <a:cxnLst/>
            <a:rect l="l" t="t" r="r" b="b"/>
            <a:pathLst>
              <a:path w="5307002" h="458412">
                <a:moveTo>
                  <a:pt x="35261" y="0"/>
                </a:moveTo>
                <a:lnTo>
                  <a:pt x="5271741" y="0"/>
                </a:lnTo>
                <a:cubicBezTo>
                  <a:pt x="5291215" y="0"/>
                  <a:pt x="5307002" y="15787"/>
                  <a:pt x="5307002" y="35261"/>
                </a:cubicBezTo>
                <a:lnTo>
                  <a:pt x="5307002" y="423151"/>
                </a:lnTo>
                <a:cubicBezTo>
                  <a:pt x="5307002" y="442625"/>
                  <a:pt x="5291215" y="458412"/>
                  <a:pt x="5271741" y="458412"/>
                </a:cubicBezTo>
                <a:lnTo>
                  <a:pt x="35261" y="458412"/>
                </a:lnTo>
                <a:cubicBezTo>
                  <a:pt x="15800" y="458412"/>
                  <a:pt x="0" y="442612"/>
                  <a:pt x="0" y="423151"/>
                </a:cubicBezTo>
                <a:lnTo>
                  <a:pt x="0" y="35261"/>
                </a:lnTo>
                <a:cubicBezTo>
                  <a:pt x="0" y="15800"/>
                  <a:pt x="15800" y="0"/>
                  <a:pt x="352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489267" y="3244148"/>
                <a:ext cx="5386343" cy="458412"/>
              </a:xfrm>
              <a:prstGeom prst="rect">
                <a:avLst/>
              </a:prstGeom>
              <a:noFill/>
              <a:ln/>
            </p:spPr>
            <p:txBody>
              <a:bodyPr wrap="square" lIns="105787" tIns="105787" rIns="105787" bIns="105787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49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altLang="zh-CN" sz="1249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49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1249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1249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49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49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1249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49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49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67" y="3244148"/>
                <a:ext cx="5386343" cy="458412"/>
              </a:xfrm>
              <a:prstGeom prst="rect">
                <a:avLst/>
              </a:prstGeom>
              <a:blipFill>
                <a:blip r:embed="rId3"/>
                <a:stretch>
                  <a:fillRect t="-118919" b="-2189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528937" y="3808347"/>
            <a:ext cx="5307002" cy="599462"/>
          </a:xfrm>
          <a:custGeom>
            <a:avLst/>
            <a:gdLst/>
            <a:ahLst/>
            <a:cxnLst/>
            <a:rect l="l" t="t" r="r" b="b"/>
            <a:pathLst>
              <a:path w="5307002" h="599462">
                <a:moveTo>
                  <a:pt x="35260" y="0"/>
                </a:moveTo>
                <a:lnTo>
                  <a:pt x="5271742" y="0"/>
                </a:lnTo>
                <a:cubicBezTo>
                  <a:pt x="5291216" y="0"/>
                  <a:pt x="5307002" y="15787"/>
                  <a:pt x="5307002" y="35260"/>
                </a:cubicBezTo>
                <a:lnTo>
                  <a:pt x="5307002" y="564202"/>
                </a:lnTo>
                <a:cubicBezTo>
                  <a:pt x="5307002" y="583675"/>
                  <a:pt x="5291216" y="599462"/>
                  <a:pt x="5271742" y="599462"/>
                </a:cubicBezTo>
                <a:lnTo>
                  <a:pt x="35260" y="599462"/>
                </a:lnTo>
                <a:cubicBezTo>
                  <a:pt x="15800" y="599462"/>
                  <a:pt x="0" y="583662"/>
                  <a:pt x="0" y="564202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4725" y="3914134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肘部法则 (</a:t>
            </a:r>
            <a:r>
              <a:rPr lang="en-US" sz="972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Elbow Method</a:t>
            </a:r>
            <a:r>
              <a:rPr lang="en-US" sz="97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725" y="4125709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寻找SSE下降速率突然变缓的转折点对应的K值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8937" y="4513597"/>
            <a:ext cx="5307002" cy="599462"/>
          </a:xfrm>
          <a:custGeom>
            <a:avLst/>
            <a:gdLst/>
            <a:ahLst/>
            <a:cxnLst/>
            <a:rect l="l" t="t" r="r" b="b"/>
            <a:pathLst>
              <a:path w="5307002" h="599462">
                <a:moveTo>
                  <a:pt x="35260" y="0"/>
                </a:moveTo>
                <a:lnTo>
                  <a:pt x="5271742" y="0"/>
                </a:lnTo>
                <a:cubicBezTo>
                  <a:pt x="5291216" y="0"/>
                  <a:pt x="5307002" y="15787"/>
                  <a:pt x="5307002" y="35260"/>
                </a:cubicBezTo>
                <a:lnTo>
                  <a:pt x="5307002" y="564202"/>
                </a:lnTo>
                <a:cubicBezTo>
                  <a:pt x="5307002" y="583675"/>
                  <a:pt x="5291216" y="599462"/>
                  <a:pt x="5271742" y="599462"/>
                </a:cubicBezTo>
                <a:lnTo>
                  <a:pt x="35260" y="599462"/>
                </a:lnTo>
                <a:cubicBezTo>
                  <a:pt x="15800" y="599462"/>
                  <a:pt x="0" y="583662"/>
                  <a:pt x="0" y="564202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4725" y="4619384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725" y="4830959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无法比较不同K的模型; 倾向于球状簇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4638" y="2186273"/>
            <a:ext cx="5659627" cy="3103098"/>
          </a:xfrm>
          <a:custGeom>
            <a:avLst/>
            <a:gdLst/>
            <a:ahLst/>
            <a:cxnLst/>
            <a:rect l="l" t="t" r="r" b="b"/>
            <a:pathLst>
              <a:path w="5659627" h="3103098">
                <a:moveTo>
                  <a:pt x="35262" y="0"/>
                </a:moveTo>
                <a:lnTo>
                  <a:pt x="5624364" y="0"/>
                </a:lnTo>
                <a:cubicBezTo>
                  <a:pt x="5643839" y="0"/>
                  <a:pt x="5659627" y="15788"/>
                  <a:pt x="5659627" y="35262"/>
                </a:cubicBezTo>
                <a:lnTo>
                  <a:pt x="5659627" y="3032564"/>
                </a:lnTo>
                <a:cubicBezTo>
                  <a:pt x="5659627" y="3071519"/>
                  <a:pt x="5628048" y="3103098"/>
                  <a:pt x="5589093" y="3103098"/>
                </a:cubicBezTo>
                <a:lnTo>
                  <a:pt x="70533" y="3103098"/>
                </a:lnTo>
                <a:cubicBezTo>
                  <a:pt x="31579" y="3103098"/>
                  <a:pt x="0" y="3071519"/>
                  <a:pt x="0" y="3032564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84638" y="2186273"/>
            <a:ext cx="5659627" cy="35262"/>
          </a:xfrm>
          <a:custGeom>
            <a:avLst/>
            <a:gdLst/>
            <a:ahLst/>
            <a:cxnLst/>
            <a:rect l="l" t="t" r="r" b="b"/>
            <a:pathLst>
              <a:path w="5659627" h="35262">
                <a:moveTo>
                  <a:pt x="35262" y="0"/>
                </a:moveTo>
                <a:lnTo>
                  <a:pt x="5624364" y="0"/>
                </a:lnTo>
                <a:cubicBezTo>
                  <a:pt x="5643839" y="0"/>
                  <a:pt x="5659627" y="15788"/>
                  <a:pt x="5659627" y="35262"/>
                </a:cubicBezTo>
                <a:lnTo>
                  <a:pt x="5659627" y="35262"/>
                </a:lnTo>
                <a:lnTo>
                  <a:pt x="0" y="35262"/>
                </a:ln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60951" y="2380217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57922" y="2468373"/>
            <a:ext cx="31736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9888" y="2468373"/>
            <a:ext cx="793406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轮廓系数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0951" y="2909154"/>
            <a:ext cx="5377527" cy="22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综合评估簇内紧密度和簇间分离度,取值范围[-1,1]。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0951" y="3244148"/>
            <a:ext cx="5307002" cy="1057874"/>
          </a:xfrm>
          <a:custGeom>
            <a:avLst/>
            <a:gdLst/>
            <a:ahLst/>
            <a:cxnLst/>
            <a:rect l="l" t="t" r="r" b="b"/>
            <a:pathLst>
              <a:path w="5307002" h="1057874">
                <a:moveTo>
                  <a:pt x="35259" y="0"/>
                </a:moveTo>
                <a:lnTo>
                  <a:pt x="5271743" y="0"/>
                </a:lnTo>
                <a:cubicBezTo>
                  <a:pt x="5291216" y="0"/>
                  <a:pt x="5307002" y="15786"/>
                  <a:pt x="5307002" y="35259"/>
                </a:cubicBezTo>
                <a:lnTo>
                  <a:pt x="5307002" y="1022615"/>
                </a:lnTo>
                <a:cubicBezTo>
                  <a:pt x="5307002" y="1042088"/>
                  <a:pt x="5291216" y="1057874"/>
                  <a:pt x="5271743" y="1057874"/>
                </a:cubicBezTo>
                <a:lnTo>
                  <a:pt x="35259" y="1057874"/>
                </a:lnTo>
                <a:cubicBezTo>
                  <a:pt x="15786" y="1057874"/>
                  <a:pt x="0" y="1042088"/>
                  <a:pt x="0" y="1022615"/>
                </a:cubicBezTo>
                <a:lnTo>
                  <a:pt x="0" y="35259"/>
                </a:lnTo>
                <a:cubicBezTo>
                  <a:pt x="0" y="15786"/>
                  <a:pt x="15786" y="0"/>
                  <a:pt x="3525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66738" y="3349935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计算步骤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6738" y="3596772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 a(i) = 样本到同簇其他点的平均距离(内聚度)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66738" y="3808347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 b(i) = 样本到最近异簇所有点的平均距离(分离度)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6738" y="4019922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 </a:t>
            </a:r>
            <a:r>
              <a:rPr lang="en-US" sz="97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s(i) = [b(i) - a(i)] / max{a(i),b(i)}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60951" y="4407809"/>
            <a:ext cx="5307002" cy="599462"/>
          </a:xfrm>
          <a:custGeom>
            <a:avLst/>
            <a:gdLst/>
            <a:ahLst/>
            <a:cxnLst/>
            <a:rect l="l" t="t" r="r" b="b"/>
            <a:pathLst>
              <a:path w="5307002" h="599462">
                <a:moveTo>
                  <a:pt x="35260" y="0"/>
                </a:moveTo>
                <a:lnTo>
                  <a:pt x="5271742" y="0"/>
                </a:lnTo>
                <a:cubicBezTo>
                  <a:pt x="5291216" y="0"/>
                  <a:pt x="5307002" y="15787"/>
                  <a:pt x="5307002" y="35260"/>
                </a:cubicBezTo>
                <a:lnTo>
                  <a:pt x="5307002" y="564202"/>
                </a:lnTo>
                <a:cubicBezTo>
                  <a:pt x="5307002" y="583675"/>
                  <a:pt x="5291216" y="599462"/>
                  <a:pt x="5271742" y="599462"/>
                </a:cubicBezTo>
                <a:lnTo>
                  <a:pt x="35260" y="599462"/>
                </a:lnTo>
                <a:cubicBezTo>
                  <a:pt x="15800" y="599462"/>
                  <a:pt x="0" y="583662"/>
                  <a:pt x="0" y="564202"/>
                </a:cubicBezTo>
                <a:lnTo>
                  <a:pt x="0" y="35260"/>
                </a:lnTo>
                <a:cubicBezTo>
                  <a:pt x="0" y="15787"/>
                  <a:pt x="15787" y="0"/>
                  <a:pt x="3526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66738" y="4513597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解读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66738" y="4725171"/>
            <a:ext cx="515713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s(i)≈1: 聚类效果好 | s(i)≈0: 位于边界 | s(i)&lt;0: 可能错误分类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7033" y="5434829"/>
            <a:ext cx="11477935" cy="1066690"/>
          </a:xfrm>
          <a:custGeom>
            <a:avLst/>
            <a:gdLst/>
            <a:ahLst/>
            <a:cxnLst/>
            <a:rect l="l" t="t" r="r" b="b"/>
            <a:pathLst>
              <a:path w="11477935" h="1066690">
                <a:moveTo>
                  <a:pt x="70530" y="0"/>
                </a:moveTo>
                <a:lnTo>
                  <a:pt x="11407405" y="0"/>
                </a:lnTo>
                <a:cubicBezTo>
                  <a:pt x="11446358" y="0"/>
                  <a:pt x="11477935" y="31577"/>
                  <a:pt x="11477935" y="70530"/>
                </a:cubicBezTo>
                <a:lnTo>
                  <a:pt x="11477935" y="996160"/>
                </a:lnTo>
                <a:cubicBezTo>
                  <a:pt x="11477935" y="1035113"/>
                  <a:pt x="11446358" y="1066690"/>
                  <a:pt x="11407405" y="1066690"/>
                </a:cubicBezTo>
                <a:lnTo>
                  <a:pt x="70530" y="1066690"/>
                </a:lnTo>
                <a:cubicBezTo>
                  <a:pt x="31577" y="1066690"/>
                  <a:pt x="0" y="1035113"/>
                  <a:pt x="0" y="996160"/>
                </a:cubicBezTo>
                <a:lnTo>
                  <a:pt x="0" y="70530"/>
                </a:lnTo>
                <a:cubicBezTo>
                  <a:pt x="0" y="31577"/>
                  <a:pt x="31577" y="0"/>
                  <a:pt x="7053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02490" y="5580286"/>
            <a:ext cx="560673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SSE vs 轮廓系数对比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2490" y="5897649"/>
            <a:ext cx="32617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SSE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97558" y="5897649"/>
            <a:ext cx="119892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仅考虑簇内紧密度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2490" y="6144486"/>
            <a:ext cx="63472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轮廓系数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56508" y="6144486"/>
            <a:ext cx="133997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综合考虑簇内与簇间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798676" y="5694889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33059" y="33059"/>
                </a:moveTo>
                <a:cubicBezTo>
                  <a:pt x="33059" y="23916"/>
                  <a:pt x="25672" y="16529"/>
                  <a:pt x="16529" y="16529"/>
                </a:cubicBezTo>
                <a:cubicBezTo>
                  <a:pt x="7387" y="16529"/>
                  <a:pt x="0" y="23916"/>
                  <a:pt x="0" y="33059"/>
                </a:cubicBezTo>
                <a:lnTo>
                  <a:pt x="0" y="206616"/>
                </a:lnTo>
                <a:cubicBezTo>
                  <a:pt x="0" y="229447"/>
                  <a:pt x="18492" y="247939"/>
                  <a:pt x="41323" y="247939"/>
                </a:cubicBezTo>
                <a:lnTo>
                  <a:pt x="247939" y="247939"/>
                </a:lnTo>
                <a:cubicBezTo>
                  <a:pt x="257082" y="247939"/>
                  <a:pt x="264469" y="240553"/>
                  <a:pt x="264469" y="231410"/>
                </a:cubicBezTo>
                <a:cubicBezTo>
                  <a:pt x="264469" y="222267"/>
                  <a:pt x="257082" y="214881"/>
                  <a:pt x="247939" y="214881"/>
                </a:cubicBezTo>
                <a:lnTo>
                  <a:pt x="41323" y="214881"/>
                </a:lnTo>
                <a:cubicBezTo>
                  <a:pt x="36778" y="214881"/>
                  <a:pt x="33059" y="211162"/>
                  <a:pt x="33059" y="206616"/>
                </a:cubicBezTo>
                <a:lnTo>
                  <a:pt x="33059" y="33059"/>
                </a:lnTo>
                <a:close/>
                <a:moveTo>
                  <a:pt x="243084" y="77791"/>
                </a:moveTo>
                <a:cubicBezTo>
                  <a:pt x="249541" y="71334"/>
                  <a:pt x="249541" y="60848"/>
                  <a:pt x="243084" y="54392"/>
                </a:cubicBezTo>
                <a:cubicBezTo>
                  <a:pt x="236627" y="47935"/>
                  <a:pt x="226141" y="47935"/>
                  <a:pt x="219685" y="54392"/>
                </a:cubicBezTo>
                <a:lnTo>
                  <a:pt x="165293" y="108835"/>
                </a:lnTo>
                <a:lnTo>
                  <a:pt x="135643" y="79237"/>
                </a:lnTo>
                <a:cubicBezTo>
                  <a:pt x="129187" y="72781"/>
                  <a:pt x="118701" y="72781"/>
                  <a:pt x="112244" y="79237"/>
                </a:cubicBezTo>
                <a:lnTo>
                  <a:pt x="62656" y="128825"/>
                </a:lnTo>
                <a:cubicBezTo>
                  <a:pt x="56200" y="135282"/>
                  <a:pt x="56200" y="145768"/>
                  <a:pt x="62656" y="152224"/>
                </a:cubicBezTo>
                <a:cubicBezTo>
                  <a:pt x="69113" y="158681"/>
                  <a:pt x="79599" y="158681"/>
                  <a:pt x="86056" y="152224"/>
                </a:cubicBezTo>
                <a:lnTo>
                  <a:pt x="123970" y="114310"/>
                </a:lnTo>
                <a:lnTo>
                  <a:pt x="153619" y="143960"/>
                </a:lnTo>
                <a:cubicBezTo>
                  <a:pt x="160076" y="150416"/>
                  <a:pt x="170562" y="150416"/>
                  <a:pt x="177018" y="143960"/>
                </a:cubicBezTo>
                <a:lnTo>
                  <a:pt x="243135" y="77843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009678" y="6029883"/>
            <a:ext cx="184246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建议:</a:t>
            </a:r>
            <a:r>
              <a:rPr lang="en-US" sz="11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结合多种指标综合评估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 (2)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聚类评估指标(二): 高级评估方法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63625"/>
            <a:ext cx="5699125" cy="2436813"/>
          </a:xfrm>
          <a:custGeom>
            <a:avLst/>
            <a:gdLst/>
            <a:ahLst/>
            <a:cxnLst/>
            <a:rect l="l" t="t" r="r" b="b"/>
            <a:pathLst>
              <a:path w="5699125" h="2436813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2373309"/>
                </a:lnTo>
                <a:cubicBezTo>
                  <a:pt x="5699125" y="2408381"/>
                  <a:pt x="5670694" y="2436813"/>
                  <a:pt x="5635622" y="2436813"/>
                </a:cubicBezTo>
                <a:lnTo>
                  <a:pt x="63503" y="2436813"/>
                </a:lnTo>
                <a:cubicBezTo>
                  <a:pt x="28431" y="2436813"/>
                  <a:pt x="0" y="2408381"/>
                  <a:pt x="0" y="237330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76250" y="1238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5981" y="1317625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1317625"/>
            <a:ext cx="180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Calinski-Harabasz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指数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714500"/>
            <a:ext cx="5445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也称方差比准则,定义为簇间离散度与簇内离散度的比值。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CH值越大越好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016125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31749" y="0"/>
                </a:moveTo>
                <a:lnTo>
                  <a:pt x="5349876" y="0"/>
                </a:lnTo>
                <a:cubicBezTo>
                  <a:pt x="5367411" y="0"/>
                  <a:pt x="5381625" y="14214"/>
                  <a:pt x="5381625" y="31749"/>
                </a:cubicBezTo>
                <a:lnTo>
                  <a:pt x="5381625" y="381001"/>
                </a:lnTo>
                <a:cubicBezTo>
                  <a:pt x="5381625" y="398536"/>
                  <a:pt x="5367411" y="412750"/>
                  <a:pt x="534987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40531" y="2016125"/>
                <a:ext cx="5453063" cy="412750"/>
              </a:xfrm>
              <a:prstGeom prst="rect">
                <a:avLst/>
              </a:prstGeom>
              <a:noFill/>
              <a:ln/>
            </p:spPr>
            <p:txBody>
              <a:bodyPr wrap="square" lIns="95250" tIns="95250" rIns="95250" bIns="9525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25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125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  <m:d>
                            <m:dPr>
                              <m:ctrlP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zh-CN" sz="1125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d>
                            <m:dPr>
                              <m:ctrlP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125" b="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125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tr</m:t>
                          </m:r>
                          <m:d>
                            <m:dPr>
                              <m:ctrlP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altLang="zh-CN" sz="1125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d>
                            <m:dPr>
                              <m:ctrlP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125" b="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125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31" y="2016125"/>
                <a:ext cx="5453063" cy="412750"/>
              </a:xfrm>
              <a:prstGeom prst="rect">
                <a:avLst/>
              </a:prstGeom>
              <a:blipFill>
                <a:blip r:embed="rId3"/>
                <a:stretch>
                  <a:fillRect b="-235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476250" y="2524125"/>
            <a:ext cx="5437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其中tr(B)是簇间离散度矩阵的迹,tr(W)是簇内离散度矩阵的迹。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250" y="2799953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71500" y="289520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08570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计算速度快(优于轮廓系数); 簇界限明显时表现优异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5375" y="1063625"/>
            <a:ext cx="5699125" cy="2436813"/>
          </a:xfrm>
          <a:custGeom>
            <a:avLst/>
            <a:gdLst/>
            <a:ahLst/>
            <a:cxnLst/>
            <a:rect l="l" t="t" r="r" b="b"/>
            <a:pathLst>
              <a:path w="5699125" h="2436813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2373309"/>
                </a:lnTo>
                <a:cubicBezTo>
                  <a:pt x="5699125" y="2408381"/>
                  <a:pt x="5670694" y="2436813"/>
                  <a:pt x="5635622" y="2436813"/>
                </a:cubicBezTo>
                <a:lnTo>
                  <a:pt x="63503" y="2436813"/>
                </a:lnTo>
                <a:cubicBezTo>
                  <a:pt x="28431" y="2436813"/>
                  <a:pt x="0" y="2408381"/>
                  <a:pt x="0" y="237330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175375" y="1063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34125" y="1238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7485" y="1317625"/>
            <a:ext cx="30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0375" y="1317625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Davies-Bouldin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指数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4125" y="1714500"/>
            <a:ext cx="5445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计算任意两个簇的"相似度"(簇内距离之和/簇间距离),取最大相似度的均值。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DBI越小越好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4125" y="2016125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31749" y="0"/>
                </a:moveTo>
                <a:lnTo>
                  <a:pt x="5349876" y="0"/>
                </a:lnTo>
                <a:cubicBezTo>
                  <a:pt x="5367411" y="0"/>
                  <a:pt x="5381625" y="14214"/>
                  <a:pt x="5381625" y="31749"/>
                </a:cubicBezTo>
                <a:lnTo>
                  <a:pt x="5381625" y="381001"/>
                </a:lnTo>
                <a:cubicBezTo>
                  <a:pt x="5381625" y="398536"/>
                  <a:pt x="5367411" y="412750"/>
                  <a:pt x="534987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6298406" y="2016125"/>
                <a:ext cx="5453063" cy="412750"/>
              </a:xfrm>
              <a:prstGeom prst="rect">
                <a:avLst/>
              </a:prstGeom>
              <a:noFill/>
              <a:ln/>
            </p:spPr>
            <p:txBody>
              <a:bodyPr wrap="square" lIns="95250" tIns="95250" rIns="95250" bIns="9525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25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𝐷𝐵𝐼</m:t>
                      </m:r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sSup>
                        <m:sSup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sup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func>
                        <m:func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125" i="1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1125" i="1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1125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125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125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25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125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125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1125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406" y="2016125"/>
                <a:ext cx="5453063" cy="412750"/>
              </a:xfrm>
              <a:prstGeom prst="rect">
                <a:avLst/>
              </a:prstGeom>
              <a:blipFill>
                <a:blip r:embed="rId4"/>
                <a:stretch>
                  <a:fillRect t="-126471" b="-2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6334125" y="2524125"/>
            <a:ext cx="5437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其中sᵢ是簇内平均距离,dᵢⱼ是簇质心间距。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34125" y="2799953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29375" y="289520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29375" y="308570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计算相对简单; 倾向于球状簇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7500" y="3625453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评估指标对比总结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1469" y="3946922"/>
            <a:ext cx="11549063" cy="1849438"/>
          </a:xfrm>
          <a:custGeom>
            <a:avLst/>
            <a:gdLst/>
            <a:ahLst/>
            <a:cxnLst/>
            <a:rect l="l" t="t" r="r" b="b"/>
            <a:pathLst>
              <a:path w="11549063" h="1849438">
                <a:moveTo>
                  <a:pt x="63491" y="0"/>
                </a:moveTo>
                <a:lnTo>
                  <a:pt x="11485571" y="0"/>
                </a:lnTo>
                <a:cubicBezTo>
                  <a:pt x="11520637" y="0"/>
                  <a:pt x="11549063" y="28426"/>
                  <a:pt x="11549063" y="63491"/>
                </a:cubicBezTo>
                <a:lnTo>
                  <a:pt x="11549063" y="1785946"/>
                </a:lnTo>
                <a:cubicBezTo>
                  <a:pt x="11549063" y="1821012"/>
                  <a:pt x="11520637" y="1849438"/>
                  <a:pt x="11485571" y="1849437"/>
                </a:cubicBezTo>
                <a:lnTo>
                  <a:pt x="63491" y="1849438"/>
                </a:lnTo>
                <a:cubicBezTo>
                  <a:pt x="28426" y="1849437"/>
                  <a:pt x="0" y="1821012"/>
                  <a:pt x="0" y="1785946"/>
                </a:cubicBezTo>
                <a:lnTo>
                  <a:pt x="0" y="63491"/>
                </a:lnTo>
                <a:cubicBezTo>
                  <a:pt x="0" y="28449"/>
                  <a:pt x="28449" y="0"/>
                  <a:pt x="63491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24656" y="4077891"/>
            <a:ext cx="280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70250" y="4077891"/>
            <a:ext cx="280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计算复杂度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15844" y="4077891"/>
            <a:ext cx="280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最优值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438" y="4077891"/>
            <a:ext cx="280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2438" y="4331891"/>
            <a:ext cx="11287125" cy="285750"/>
          </a:xfrm>
          <a:custGeom>
            <a:avLst/>
            <a:gdLst/>
            <a:ahLst/>
            <a:cxnLst/>
            <a:rect l="l" t="t" r="r" b="b"/>
            <a:pathLst>
              <a:path w="11287125" h="285750">
                <a:moveTo>
                  <a:pt x="31750" y="0"/>
                </a:moveTo>
                <a:lnTo>
                  <a:pt x="11255375" y="0"/>
                </a:lnTo>
                <a:cubicBezTo>
                  <a:pt x="11272910" y="0"/>
                  <a:pt x="11287125" y="14215"/>
                  <a:pt x="11287125" y="31750"/>
                </a:cubicBezTo>
                <a:lnTo>
                  <a:pt x="11287125" y="254000"/>
                </a:lnTo>
                <a:cubicBezTo>
                  <a:pt x="11287125" y="271535"/>
                  <a:pt x="11272910" y="285750"/>
                  <a:pt x="11255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88156" y="43953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02000" y="43953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O(n·K·t)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15844" y="43953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越小越好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29688" y="43953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球状簇, 快速评估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2438" y="4681141"/>
            <a:ext cx="11287125" cy="285750"/>
          </a:xfrm>
          <a:custGeom>
            <a:avLst/>
            <a:gdLst/>
            <a:ahLst/>
            <a:cxnLst/>
            <a:rect l="l" t="t" r="r" b="b"/>
            <a:pathLst>
              <a:path w="11287125" h="285750">
                <a:moveTo>
                  <a:pt x="31750" y="0"/>
                </a:moveTo>
                <a:lnTo>
                  <a:pt x="11255375" y="0"/>
                </a:lnTo>
                <a:cubicBezTo>
                  <a:pt x="11272910" y="0"/>
                  <a:pt x="11287125" y="14215"/>
                  <a:pt x="11287125" y="31750"/>
                </a:cubicBezTo>
                <a:lnTo>
                  <a:pt x="11287125" y="254000"/>
                </a:lnTo>
                <a:cubicBezTo>
                  <a:pt x="11287125" y="271535"/>
                  <a:pt x="11272910" y="285750"/>
                  <a:pt x="11255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88156" y="47446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轮廓系数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02000" y="47446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O(n²)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15844" y="47446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越大越好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29688" y="47446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通用, 不依赖簇形状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2438" y="5030391"/>
            <a:ext cx="11287125" cy="285750"/>
          </a:xfrm>
          <a:custGeom>
            <a:avLst/>
            <a:gdLst/>
            <a:ahLst/>
            <a:cxnLst/>
            <a:rect l="l" t="t" r="r" b="b"/>
            <a:pathLst>
              <a:path w="11287125" h="285750">
                <a:moveTo>
                  <a:pt x="31750" y="0"/>
                </a:moveTo>
                <a:lnTo>
                  <a:pt x="11255375" y="0"/>
                </a:lnTo>
                <a:cubicBezTo>
                  <a:pt x="11272910" y="0"/>
                  <a:pt x="11287125" y="14215"/>
                  <a:pt x="11287125" y="31750"/>
                </a:cubicBezTo>
                <a:lnTo>
                  <a:pt x="11287125" y="254000"/>
                </a:lnTo>
                <a:cubicBezTo>
                  <a:pt x="11287125" y="271535"/>
                  <a:pt x="11272910" y="285750"/>
                  <a:pt x="11255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88156" y="50938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CH指数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302000" y="50938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O(n·K)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15844" y="50938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越大越好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29688" y="509389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簇界限明显, 大数据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2438" y="5379641"/>
            <a:ext cx="11287125" cy="285750"/>
          </a:xfrm>
          <a:custGeom>
            <a:avLst/>
            <a:gdLst/>
            <a:ahLst/>
            <a:cxnLst/>
            <a:rect l="l" t="t" r="r" b="b"/>
            <a:pathLst>
              <a:path w="11287125" h="285750">
                <a:moveTo>
                  <a:pt x="31750" y="0"/>
                </a:moveTo>
                <a:lnTo>
                  <a:pt x="11255375" y="0"/>
                </a:lnTo>
                <a:cubicBezTo>
                  <a:pt x="11272910" y="0"/>
                  <a:pt x="11287125" y="14215"/>
                  <a:pt x="11287125" y="31750"/>
                </a:cubicBezTo>
                <a:lnTo>
                  <a:pt x="11287125" y="254000"/>
                </a:lnTo>
                <a:cubicBezTo>
                  <a:pt x="11287125" y="271535"/>
                  <a:pt x="11272910" y="285750"/>
                  <a:pt x="11255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88156" y="54431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02000" y="54431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O(n·K²)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15844" y="54431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越小越好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29688" y="5443141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球状簇, 计算效率要求高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17500" y="5927328"/>
            <a:ext cx="11557000" cy="444500"/>
          </a:xfrm>
          <a:custGeom>
            <a:avLst/>
            <a:gdLst/>
            <a:ahLst/>
            <a:cxnLst/>
            <a:rect l="l" t="t" r="r" b="b"/>
            <a:pathLst>
              <a:path w="11557000" h="444500">
                <a:moveTo>
                  <a:pt x="63501" y="0"/>
                </a:moveTo>
                <a:lnTo>
                  <a:pt x="11493499" y="0"/>
                </a:lnTo>
                <a:cubicBezTo>
                  <a:pt x="11528570" y="0"/>
                  <a:pt x="11557000" y="28430"/>
                  <a:pt x="11557000" y="63501"/>
                </a:cubicBezTo>
                <a:lnTo>
                  <a:pt x="11557000" y="380999"/>
                </a:lnTo>
                <a:cubicBezTo>
                  <a:pt x="11557000" y="416070"/>
                  <a:pt x="11528570" y="444500"/>
                  <a:pt x="114934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92125" y="605432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777875" y="6054328"/>
            <a:ext cx="5556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实践建议: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在实际应用中,建议结合多种评估指标综合判断,并通过可视化验证聚类结果的合理性。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621506"/>
            <a:ext cx="1943100" cy="533400"/>
          </a:xfrm>
          <a:custGeom>
            <a:avLst/>
            <a:gdLst/>
            <a:ahLst/>
            <a:cxnLst/>
            <a:rect l="l" t="t" r="r" b="b"/>
            <a:pathLst>
              <a:path w="1943100" h="533400">
                <a:moveTo>
                  <a:pt x="0" y="0"/>
                </a:moveTo>
                <a:lnTo>
                  <a:pt x="1943100" y="0"/>
                </a:lnTo>
                <a:lnTo>
                  <a:pt x="1943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00050" y="621506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7700" y="735806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59706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</a:t>
            </a:r>
            <a:r>
              <a:rPr lang="zh-CN" altLang="en-US" sz="1600" dirty="0"/>
              <a:t> </a:t>
            </a:r>
            <a:r>
              <a:rPr lang="en-US" sz="5400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深度解析</a:t>
            </a:r>
            <a:endParaRPr lang="en-US" sz="16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91B0EF7-3EBF-42F6-5C0E-E2878E464A0C}"/>
              </a:ext>
            </a:extLst>
          </p:cNvPr>
          <p:cNvGrpSpPr/>
          <p:nvPr/>
        </p:nvGrpSpPr>
        <p:grpSpPr>
          <a:xfrm>
            <a:off x="385763" y="4474734"/>
            <a:ext cx="3933825" cy="504825"/>
            <a:chOff x="385763" y="4474734"/>
            <a:chExt cx="3933825" cy="504825"/>
          </a:xfrm>
        </p:grpSpPr>
        <p:sp>
          <p:nvSpPr>
            <p:cNvPr id="9" name="Shape 6"/>
            <p:cNvSpPr/>
            <p:nvPr/>
          </p:nvSpPr>
          <p:spPr>
            <a:xfrm>
              <a:off x="385763" y="4474734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76198" y="0"/>
                  </a:moveTo>
                  <a:lnTo>
                    <a:pt x="1076327" y="0"/>
                  </a:lnTo>
                  <a:cubicBezTo>
                    <a:pt x="1118410" y="0"/>
                    <a:pt x="1152525" y="34115"/>
                    <a:pt x="1152525" y="76198"/>
                  </a:cubicBezTo>
                  <a:lnTo>
                    <a:pt x="1152525" y="428627"/>
                  </a:lnTo>
                  <a:cubicBezTo>
                    <a:pt x="1152525" y="470710"/>
                    <a:pt x="1118410" y="504825"/>
                    <a:pt x="1076327" y="504825"/>
                  </a:cubicBezTo>
                  <a:lnTo>
                    <a:pt x="76198" y="504825"/>
                  </a:lnTo>
                  <a:cubicBezTo>
                    <a:pt x="34115" y="504825"/>
                    <a:pt x="0" y="470710"/>
                    <a:pt x="0" y="42862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3D8F8A">
                <a:alpha val="10196"/>
              </a:srgbClr>
            </a:solidFill>
            <a:ln w="12700">
              <a:solidFill>
                <a:srgbClr val="3D8F8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619125" y="4612847"/>
              <a:ext cx="771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A99A8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数学原理</a:t>
              </a:r>
              <a:endParaRPr lang="en-US" sz="16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1776413" y="4474734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76198" y="0"/>
                  </a:moveTo>
                  <a:lnTo>
                    <a:pt x="1076327" y="0"/>
                  </a:lnTo>
                  <a:cubicBezTo>
                    <a:pt x="1118410" y="0"/>
                    <a:pt x="1152525" y="34115"/>
                    <a:pt x="1152525" y="76198"/>
                  </a:cubicBezTo>
                  <a:lnTo>
                    <a:pt x="1152525" y="428627"/>
                  </a:lnTo>
                  <a:cubicBezTo>
                    <a:pt x="1152525" y="470710"/>
                    <a:pt x="1118410" y="504825"/>
                    <a:pt x="1076327" y="504825"/>
                  </a:cubicBezTo>
                  <a:lnTo>
                    <a:pt x="76198" y="504825"/>
                  </a:lnTo>
                  <a:cubicBezTo>
                    <a:pt x="34115" y="504825"/>
                    <a:pt x="0" y="470710"/>
                    <a:pt x="0" y="42862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C7A674">
                <a:alpha val="10196"/>
              </a:srgbClr>
            </a:solidFill>
            <a:ln w="12700">
              <a:solidFill>
                <a:srgbClr val="C7A674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2009775" y="4612847"/>
              <a:ext cx="771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A99A8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算法流程</a:t>
              </a:r>
              <a:endParaRPr lang="en-US" sz="16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3167063" y="4474734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76198" y="0"/>
                  </a:moveTo>
                  <a:lnTo>
                    <a:pt x="1076327" y="0"/>
                  </a:lnTo>
                  <a:cubicBezTo>
                    <a:pt x="1118410" y="0"/>
                    <a:pt x="1152525" y="34115"/>
                    <a:pt x="1152525" y="76198"/>
                  </a:cubicBezTo>
                  <a:lnTo>
                    <a:pt x="1152525" y="428627"/>
                  </a:lnTo>
                  <a:cubicBezTo>
                    <a:pt x="1152525" y="470710"/>
                    <a:pt x="1118410" y="504825"/>
                    <a:pt x="1076327" y="504825"/>
                  </a:cubicBezTo>
                  <a:lnTo>
                    <a:pt x="76198" y="504825"/>
                  </a:lnTo>
                  <a:cubicBezTo>
                    <a:pt x="34115" y="504825"/>
                    <a:pt x="0" y="470710"/>
                    <a:pt x="0" y="42862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A99A8D">
                <a:alpha val="10196"/>
              </a:srgbClr>
            </a:solidFill>
            <a:ln w="12700">
              <a:solidFill>
                <a:srgbClr val="A99A8D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3400425" y="4612847"/>
              <a:ext cx="771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A99A8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实战案例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K-Means算法概述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81650" cy="3162300"/>
          </a:xfrm>
          <a:custGeom>
            <a:avLst/>
            <a:gdLst/>
            <a:ahLst/>
            <a:cxnLst/>
            <a:rect l="l" t="t" r="r" b="b"/>
            <a:pathLst>
              <a:path w="5581650" h="3162300">
                <a:moveTo>
                  <a:pt x="38100" y="0"/>
                </a:moveTo>
                <a:lnTo>
                  <a:pt x="5505439" y="0"/>
                </a:lnTo>
                <a:cubicBezTo>
                  <a:pt x="5547529" y="0"/>
                  <a:pt x="5581650" y="34121"/>
                  <a:pt x="5581650" y="76211"/>
                </a:cubicBezTo>
                <a:lnTo>
                  <a:pt x="5581650" y="3086089"/>
                </a:lnTo>
                <a:cubicBezTo>
                  <a:pt x="5581650" y="3128179"/>
                  <a:pt x="5547529" y="3162300"/>
                  <a:pt x="5505439" y="3162300"/>
                </a:cubicBezTo>
                <a:lnTo>
                  <a:pt x="38100" y="3162300"/>
                </a:lnTo>
                <a:cubicBezTo>
                  <a:pt x="17058" y="3162300"/>
                  <a:pt x="0" y="3145242"/>
                  <a:pt x="0" y="3124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38100" cy="3162300"/>
          </a:xfrm>
          <a:custGeom>
            <a:avLst/>
            <a:gdLst/>
            <a:ahLst/>
            <a:cxnLst/>
            <a:rect l="l" t="t" r="r" b="b"/>
            <a:pathLst>
              <a:path w="38100" h="3162300">
                <a:moveTo>
                  <a:pt x="38100" y="0"/>
                </a:moveTo>
                <a:lnTo>
                  <a:pt x="38100" y="0"/>
                </a:lnTo>
                <a:lnTo>
                  <a:pt x="38100" y="3162300"/>
                </a:lnTo>
                <a:lnTo>
                  <a:pt x="38100" y="3162300"/>
                </a:lnTo>
                <a:cubicBezTo>
                  <a:pt x="17072" y="3162300"/>
                  <a:pt x="0" y="3145228"/>
                  <a:pt x="0" y="3124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9600" y="1447800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生活中的类比: 物流中心选址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8669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将K-Means类比为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"物流中心选址问题"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:假设你是快递公司运营总监,需要在城市建立K个分拣中心,服务数千个快递点。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476500"/>
            <a:ext cx="5181600" cy="1447800"/>
          </a:xfrm>
          <a:custGeom>
            <a:avLst/>
            <a:gdLst/>
            <a:ahLst/>
            <a:cxnLst/>
            <a:rect l="l" t="t" r="r" b="b"/>
            <a:pathLst>
              <a:path w="5181600" h="1447800">
                <a:moveTo>
                  <a:pt x="76198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1371602"/>
                </a:lnTo>
                <a:cubicBezTo>
                  <a:pt x="5181600" y="1413657"/>
                  <a:pt x="5147457" y="1447800"/>
                  <a:pt x="51054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2000" y="262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3425" y="26289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2628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随机选址: 在地图随机插K面旗帜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933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3425" y="29337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29337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就近归类: 每个快递点指派给最近旗帜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238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3425" y="32385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32385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中心迁移: 将旗帜移动到成员的中心点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3425" y="35433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35433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循环迭代: 直到旗帜位置不再变化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03860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最终,K个旗帜的位置就是最优分拣中心,每个旗帜覆盖的区域就是一个"簇"。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57200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562103"/>
                </a:lnTo>
                <a:cubicBezTo>
                  <a:pt x="5581650" y="1604185"/>
                  <a:pt x="5547535" y="1638300"/>
                  <a:pt x="55054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00050" y="45720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71500" y="47244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5067300"/>
            <a:ext cx="533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K-Means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是一种基于划分的聚类算法。其核心思想是将数据集D={x₁,x₂,...,xₙ}划分为K个互不相交的簇C={C₁,C₂,...,Cₖ},使得每个簇内的样本尽可能紧密,而簇间的样本尽可能分离。算法用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质心(Centroid)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μᵢ来代表第i个簇,μᵢ是簇Cᵢ中所有样本的均值向量。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0300" y="1257300"/>
            <a:ext cx="5600700" cy="5067300"/>
          </a:xfrm>
          <a:custGeom>
            <a:avLst/>
            <a:gdLst/>
            <a:ahLst/>
            <a:cxnLst/>
            <a:rect l="l" t="t" r="r" b="b"/>
            <a:pathLst>
              <a:path w="5600700" h="506730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4991088"/>
                </a:lnTo>
                <a:cubicBezTo>
                  <a:pt x="5600700" y="5033179"/>
                  <a:pt x="5566579" y="5067300"/>
                  <a:pt x="5524488" y="5067300"/>
                </a:cubicBezTo>
                <a:lnTo>
                  <a:pt x="76212" y="5067300"/>
                </a:lnTo>
                <a:cubicBezTo>
                  <a:pt x="34121" y="5067300"/>
                  <a:pt x="0" y="5033179"/>
                  <a:pt x="0" y="49910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E02AE4-A210-68EA-732F-FCA2141C9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403" y="1257300"/>
            <a:ext cx="5215097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868" y="335868"/>
            <a:ext cx="11587438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kern="0" spc="53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868" y="604562"/>
            <a:ext cx="11671405" cy="335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K-Means数学原理: 目标函数与优化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661" y="1108364"/>
            <a:ext cx="11503471" cy="2115967"/>
          </a:xfrm>
          <a:custGeom>
            <a:avLst/>
            <a:gdLst/>
            <a:ahLst/>
            <a:cxnLst/>
            <a:rect l="l" t="t" r="r" b="b"/>
            <a:pathLst>
              <a:path w="11503471" h="2115967">
                <a:moveTo>
                  <a:pt x="33587" y="0"/>
                </a:moveTo>
                <a:lnTo>
                  <a:pt x="11436289" y="0"/>
                </a:lnTo>
                <a:cubicBezTo>
                  <a:pt x="11473393" y="0"/>
                  <a:pt x="11503471" y="30078"/>
                  <a:pt x="11503471" y="67182"/>
                </a:cubicBezTo>
                <a:lnTo>
                  <a:pt x="11503471" y="2048785"/>
                </a:lnTo>
                <a:cubicBezTo>
                  <a:pt x="11503471" y="2085889"/>
                  <a:pt x="11473393" y="2115967"/>
                  <a:pt x="11436289" y="2115967"/>
                </a:cubicBezTo>
                <a:lnTo>
                  <a:pt x="33587" y="2115967"/>
                </a:lnTo>
                <a:cubicBezTo>
                  <a:pt x="15037" y="2115967"/>
                  <a:pt x="0" y="2100930"/>
                  <a:pt x="0" y="2082380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52661" y="1108364"/>
            <a:ext cx="33587" cy="2115967"/>
          </a:xfrm>
          <a:custGeom>
            <a:avLst/>
            <a:gdLst/>
            <a:ahLst/>
            <a:cxnLst/>
            <a:rect l="l" t="t" r="r" b="b"/>
            <a:pathLst>
              <a:path w="33587" h="2115967">
                <a:moveTo>
                  <a:pt x="33587" y="0"/>
                </a:moveTo>
                <a:lnTo>
                  <a:pt x="33587" y="0"/>
                </a:lnTo>
                <a:lnTo>
                  <a:pt x="33587" y="2115967"/>
                </a:lnTo>
                <a:lnTo>
                  <a:pt x="33587" y="2115967"/>
                </a:lnTo>
                <a:cubicBezTo>
                  <a:pt x="15037" y="2115967"/>
                  <a:pt x="0" y="2100930"/>
                  <a:pt x="0" y="2082380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7388" y="1276298"/>
            <a:ext cx="11251570" cy="268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目标函数: 误差平方和 (SSE)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7388" y="1645752"/>
            <a:ext cx="11217983" cy="21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K-Means的本质是一个</a:t>
            </a:r>
            <a:r>
              <a:rPr lang="en-US" sz="10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最优化问题</a:t>
            </a: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。我们使用误差平方和(Sum of Squared Errors, SSE)作为目标函数,衡量聚类结果的紧密程度。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7388" y="1964826"/>
            <a:ext cx="11150810" cy="772496"/>
          </a:xfrm>
          <a:custGeom>
            <a:avLst/>
            <a:gdLst/>
            <a:ahLst/>
            <a:cxnLst/>
            <a:rect l="l" t="t" r="r" b="b"/>
            <a:pathLst>
              <a:path w="11150810" h="772496">
                <a:moveTo>
                  <a:pt x="67176" y="0"/>
                </a:moveTo>
                <a:lnTo>
                  <a:pt x="11083634" y="0"/>
                </a:lnTo>
                <a:cubicBezTo>
                  <a:pt x="11120734" y="0"/>
                  <a:pt x="11150810" y="30076"/>
                  <a:pt x="11150810" y="67176"/>
                </a:cubicBezTo>
                <a:lnTo>
                  <a:pt x="11150810" y="705320"/>
                </a:lnTo>
                <a:cubicBezTo>
                  <a:pt x="11150810" y="742395"/>
                  <a:pt x="11120709" y="772496"/>
                  <a:pt x="11083634" y="772496"/>
                </a:cubicBezTo>
                <a:lnTo>
                  <a:pt x="67176" y="772496"/>
                </a:lnTo>
                <a:cubicBezTo>
                  <a:pt x="30076" y="772496"/>
                  <a:pt x="0" y="742420"/>
                  <a:pt x="0" y="705320"/>
                </a:cubicBezTo>
                <a:lnTo>
                  <a:pt x="0" y="67176"/>
                </a:lnTo>
                <a:cubicBezTo>
                  <a:pt x="0" y="30076"/>
                  <a:pt x="30076" y="0"/>
                  <a:pt x="671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621355" y="2099174"/>
                <a:ext cx="10982876" cy="2686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87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sz="1587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587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altLang="zh-CN" sz="1587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587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587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87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587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587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1587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zh-CN" sz="1587" i="1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587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587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1587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587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587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55" y="2099174"/>
                <a:ext cx="10982876" cy="268694"/>
              </a:xfrm>
              <a:prstGeom prst="rect">
                <a:avLst/>
              </a:prstGeom>
              <a:blipFill>
                <a:blip r:embed="rId3"/>
                <a:stretch>
                  <a:fillRect t="-359091" b="-5363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642347" y="2634735"/>
            <a:ext cx="10940893" cy="1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其中: K=簇数, x=样本点, μᵢ=簇Cᵢ的质心, ||x-μᵢ||=欧氏距离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7388" y="2838083"/>
            <a:ext cx="11217983" cy="21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算法目标:</a:t>
            </a: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找到一种划分方案,使得J(C)最小化,即簇内样本与质心的距离平方和最小。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661" y="3358678"/>
            <a:ext cx="5659372" cy="2544198"/>
          </a:xfrm>
          <a:custGeom>
            <a:avLst/>
            <a:gdLst/>
            <a:ahLst/>
            <a:cxnLst/>
            <a:rect l="l" t="t" r="r" b="b"/>
            <a:pathLst>
              <a:path w="5659372" h="2544198">
                <a:moveTo>
                  <a:pt x="33587" y="0"/>
                </a:moveTo>
                <a:lnTo>
                  <a:pt x="5592205" y="0"/>
                </a:lnTo>
                <a:cubicBezTo>
                  <a:pt x="5629275" y="0"/>
                  <a:pt x="5659372" y="30096"/>
                  <a:pt x="5659372" y="67167"/>
                </a:cubicBezTo>
                <a:lnTo>
                  <a:pt x="5659372" y="2477032"/>
                </a:lnTo>
                <a:cubicBezTo>
                  <a:pt x="5659372" y="2514102"/>
                  <a:pt x="5629275" y="2544198"/>
                  <a:pt x="5592205" y="2544198"/>
                </a:cubicBezTo>
                <a:lnTo>
                  <a:pt x="33587" y="2544198"/>
                </a:lnTo>
                <a:cubicBezTo>
                  <a:pt x="15037" y="2544198"/>
                  <a:pt x="0" y="2529161"/>
                  <a:pt x="0" y="2510612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52661" y="3358678"/>
            <a:ext cx="33587" cy="2544198"/>
          </a:xfrm>
          <a:custGeom>
            <a:avLst/>
            <a:gdLst/>
            <a:ahLst/>
            <a:cxnLst/>
            <a:rect l="l" t="t" r="r" b="b"/>
            <a:pathLst>
              <a:path w="33587" h="2544198">
                <a:moveTo>
                  <a:pt x="33587" y="0"/>
                </a:moveTo>
                <a:lnTo>
                  <a:pt x="33587" y="0"/>
                </a:lnTo>
                <a:lnTo>
                  <a:pt x="33587" y="2544198"/>
                </a:lnTo>
                <a:lnTo>
                  <a:pt x="33587" y="2544198"/>
                </a:lnTo>
                <a:cubicBezTo>
                  <a:pt x="15037" y="2544198"/>
                  <a:pt x="0" y="2529161"/>
                  <a:pt x="0" y="2510612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37388" y="3526612"/>
            <a:ext cx="5390678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E步: 固定质心,优化划分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7388" y="3862479"/>
            <a:ext cx="5373884" cy="21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在第t次迭代中,对于每个样本xₚ,将其分配给最近的质心μᵢ⁽ᵗ⁾所在的簇。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7388" y="4181554"/>
            <a:ext cx="5306711" cy="403041"/>
          </a:xfrm>
          <a:custGeom>
            <a:avLst/>
            <a:gdLst/>
            <a:ahLst/>
            <a:cxnLst/>
            <a:rect l="l" t="t" r="r" b="b"/>
            <a:pathLst>
              <a:path w="5306711" h="403041">
                <a:moveTo>
                  <a:pt x="33585" y="0"/>
                </a:moveTo>
                <a:lnTo>
                  <a:pt x="5273125" y="0"/>
                </a:lnTo>
                <a:cubicBezTo>
                  <a:pt x="5291674" y="0"/>
                  <a:pt x="5306711" y="15037"/>
                  <a:pt x="5306711" y="33585"/>
                </a:cubicBezTo>
                <a:lnTo>
                  <a:pt x="5306711" y="369456"/>
                </a:lnTo>
                <a:cubicBezTo>
                  <a:pt x="5306711" y="388005"/>
                  <a:pt x="5291674" y="403041"/>
                  <a:pt x="5273125" y="403041"/>
                </a:cubicBezTo>
                <a:lnTo>
                  <a:pt x="33585" y="403041"/>
                </a:lnTo>
                <a:cubicBezTo>
                  <a:pt x="15037" y="403041"/>
                  <a:pt x="0" y="388005"/>
                  <a:pt x="0" y="369456"/>
                </a:cubicBezTo>
                <a:lnTo>
                  <a:pt x="0" y="33585"/>
                </a:lnTo>
                <a:cubicBezTo>
                  <a:pt x="0" y="15037"/>
                  <a:pt x="15037" y="0"/>
                  <a:pt x="335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503802" y="4181554"/>
                <a:ext cx="5373884" cy="403041"/>
              </a:xfrm>
              <a:prstGeom prst="rect">
                <a:avLst/>
              </a:prstGeom>
              <a:noFill/>
              <a:ln/>
            </p:spPr>
            <p:txBody>
              <a:bodyPr wrap="square" lIns="100760" tIns="100760" rIns="100760" bIns="10076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58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058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1058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  <m:e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:||</m:t>
                          </m:r>
                          <m:sSub>
                            <m:sSub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058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058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058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1058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≤||</m:t>
                          </m:r>
                          <m:sSub>
                            <m:sSub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058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058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058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1058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02" y="4181554"/>
                <a:ext cx="5373884" cy="4030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537388" y="4685355"/>
            <a:ext cx="5365488" cy="193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这一步也称为</a:t>
            </a:r>
            <a:r>
              <a:rPr lang="en-US" sz="92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Assignment Step</a:t>
            </a:r>
            <a:r>
              <a:rPr lang="en-US" sz="92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,将每个样本分配到距离最近的簇。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8597" y="3358678"/>
            <a:ext cx="5659372" cy="2544198"/>
          </a:xfrm>
          <a:custGeom>
            <a:avLst/>
            <a:gdLst/>
            <a:ahLst/>
            <a:cxnLst/>
            <a:rect l="l" t="t" r="r" b="b"/>
            <a:pathLst>
              <a:path w="5659372" h="2544198">
                <a:moveTo>
                  <a:pt x="33587" y="0"/>
                </a:moveTo>
                <a:lnTo>
                  <a:pt x="5592205" y="0"/>
                </a:lnTo>
                <a:cubicBezTo>
                  <a:pt x="5629275" y="0"/>
                  <a:pt x="5659372" y="30096"/>
                  <a:pt x="5659372" y="67167"/>
                </a:cubicBezTo>
                <a:lnTo>
                  <a:pt x="5659372" y="2477032"/>
                </a:lnTo>
                <a:cubicBezTo>
                  <a:pt x="5659372" y="2514102"/>
                  <a:pt x="5629275" y="2544198"/>
                  <a:pt x="5592205" y="2544198"/>
                </a:cubicBezTo>
                <a:lnTo>
                  <a:pt x="33587" y="2544198"/>
                </a:lnTo>
                <a:cubicBezTo>
                  <a:pt x="15037" y="2544198"/>
                  <a:pt x="0" y="2529161"/>
                  <a:pt x="0" y="2510612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198597" y="3358678"/>
            <a:ext cx="33587" cy="2544198"/>
          </a:xfrm>
          <a:custGeom>
            <a:avLst/>
            <a:gdLst/>
            <a:ahLst/>
            <a:cxnLst/>
            <a:rect l="l" t="t" r="r" b="b"/>
            <a:pathLst>
              <a:path w="33587" h="2544198">
                <a:moveTo>
                  <a:pt x="33587" y="0"/>
                </a:moveTo>
                <a:lnTo>
                  <a:pt x="33587" y="0"/>
                </a:lnTo>
                <a:lnTo>
                  <a:pt x="33587" y="2544198"/>
                </a:lnTo>
                <a:lnTo>
                  <a:pt x="33587" y="2544198"/>
                </a:lnTo>
                <a:cubicBezTo>
                  <a:pt x="15037" y="2544198"/>
                  <a:pt x="0" y="2529161"/>
                  <a:pt x="0" y="2510612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83324" y="3526612"/>
            <a:ext cx="5390678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M步: 固定划分,优化质心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3324" y="3862479"/>
            <a:ext cx="5373884" cy="21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为了最小化目标函数J,需要对目标函数J关于μᵢ求偏导并令其为0: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83324" y="4181554"/>
            <a:ext cx="5306711" cy="403041"/>
          </a:xfrm>
          <a:custGeom>
            <a:avLst/>
            <a:gdLst/>
            <a:ahLst/>
            <a:cxnLst/>
            <a:rect l="l" t="t" r="r" b="b"/>
            <a:pathLst>
              <a:path w="5306711" h="403041">
                <a:moveTo>
                  <a:pt x="33585" y="0"/>
                </a:moveTo>
                <a:lnTo>
                  <a:pt x="5273125" y="0"/>
                </a:lnTo>
                <a:cubicBezTo>
                  <a:pt x="5291674" y="0"/>
                  <a:pt x="5306711" y="15037"/>
                  <a:pt x="5306711" y="33585"/>
                </a:cubicBezTo>
                <a:lnTo>
                  <a:pt x="5306711" y="369456"/>
                </a:lnTo>
                <a:cubicBezTo>
                  <a:pt x="5306711" y="388005"/>
                  <a:pt x="5291674" y="403041"/>
                  <a:pt x="5273125" y="403041"/>
                </a:cubicBezTo>
                <a:lnTo>
                  <a:pt x="33585" y="403041"/>
                </a:lnTo>
                <a:cubicBezTo>
                  <a:pt x="15037" y="403041"/>
                  <a:pt x="0" y="388005"/>
                  <a:pt x="0" y="369456"/>
                </a:cubicBezTo>
                <a:lnTo>
                  <a:pt x="0" y="33585"/>
                </a:lnTo>
                <a:cubicBezTo>
                  <a:pt x="0" y="15037"/>
                  <a:pt x="15037" y="0"/>
                  <a:pt x="335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/>
              <p:cNvSpPr/>
              <p:nvPr/>
            </p:nvSpPr>
            <p:spPr>
              <a:xfrm>
                <a:off x="6349738" y="4181554"/>
                <a:ext cx="5373884" cy="403041"/>
              </a:xfrm>
              <a:prstGeom prst="rect">
                <a:avLst/>
              </a:prstGeom>
              <a:noFill/>
              <a:ln/>
            </p:spPr>
            <p:txBody>
              <a:bodyPr wrap="square" lIns="100760" tIns="100760" rIns="100760" bIns="10076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058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1058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058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ctrlP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58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058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058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058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738" y="4181554"/>
                <a:ext cx="5373884" cy="403041"/>
              </a:xfrm>
              <a:prstGeom prst="rect">
                <a:avLst/>
              </a:prstGeom>
              <a:blipFill>
                <a:blip r:embed="rId5"/>
                <a:stretch>
                  <a:fillRect t="-140625" b="-225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23"/>
          <p:cNvSpPr/>
          <p:nvPr/>
        </p:nvSpPr>
        <p:spPr>
          <a:xfrm>
            <a:off x="6383324" y="4685355"/>
            <a:ext cx="5373884" cy="21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解得: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3324" y="5004430"/>
            <a:ext cx="5306711" cy="436628"/>
          </a:xfrm>
          <a:custGeom>
            <a:avLst/>
            <a:gdLst/>
            <a:ahLst/>
            <a:cxnLst/>
            <a:rect l="l" t="t" r="r" b="b"/>
            <a:pathLst>
              <a:path w="5306711" h="436628">
                <a:moveTo>
                  <a:pt x="33585" y="0"/>
                </a:moveTo>
                <a:lnTo>
                  <a:pt x="5273125" y="0"/>
                </a:lnTo>
                <a:cubicBezTo>
                  <a:pt x="5291674" y="0"/>
                  <a:pt x="5306711" y="15037"/>
                  <a:pt x="5306711" y="33585"/>
                </a:cubicBezTo>
                <a:lnTo>
                  <a:pt x="5306711" y="403043"/>
                </a:lnTo>
                <a:cubicBezTo>
                  <a:pt x="5306711" y="421591"/>
                  <a:pt x="5291674" y="436628"/>
                  <a:pt x="5273125" y="436628"/>
                </a:cubicBezTo>
                <a:lnTo>
                  <a:pt x="33585" y="436628"/>
                </a:lnTo>
                <a:cubicBezTo>
                  <a:pt x="15037" y="436628"/>
                  <a:pt x="0" y="421591"/>
                  <a:pt x="0" y="403043"/>
                </a:cubicBezTo>
                <a:lnTo>
                  <a:pt x="0" y="33585"/>
                </a:lnTo>
                <a:cubicBezTo>
                  <a:pt x="0" y="15037"/>
                  <a:pt x="15037" y="0"/>
                  <a:pt x="335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6345539" y="5004430"/>
                <a:ext cx="5382281" cy="436628"/>
              </a:xfrm>
              <a:prstGeom prst="rect">
                <a:avLst/>
              </a:prstGeom>
              <a:noFill/>
              <a:ln/>
            </p:spPr>
            <p:txBody>
              <a:bodyPr wrap="square" lIns="100760" tIns="100760" rIns="100760" bIns="10076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90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9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19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190" i="0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119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9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9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9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19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19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19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19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altLang="zh-CN" sz="119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19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19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19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19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19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190" i="0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</m:sub>
                        <m:sup/>
                        <m:e>
                          <m:r>
                            <a:rPr lang="en-US" altLang="zh-CN" sz="1190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1190" i="1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39" y="5004430"/>
                <a:ext cx="5382281" cy="436628"/>
              </a:xfrm>
              <a:prstGeom prst="rect">
                <a:avLst/>
              </a:prstGeom>
              <a:blipFill>
                <a:blip r:embed="rId6"/>
                <a:stretch>
                  <a:fillRect t="-142857" b="-22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6383324" y="5541818"/>
            <a:ext cx="5365488" cy="193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这证明了</a:t>
            </a:r>
            <a:r>
              <a:rPr lang="en-US" sz="92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新的质心确实应该是簇内所有样本的均值</a:t>
            </a:r>
            <a:r>
              <a:rPr lang="en-US" sz="92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。这一步也称为</a:t>
            </a:r>
            <a:r>
              <a:rPr lang="en-US" sz="926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Update Step</a:t>
            </a:r>
            <a:r>
              <a:rPr lang="en-US" sz="92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0066" y="6039322"/>
            <a:ext cx="11511868" cy="478612"/>
          </a:xfrm>
          <a:custGeom>
            <a:avLst/>
            <a:gdLst/>
            <a:ahLst/>
            <a:cxnLst/>
            <a:rect l="l" t="t" r="r" b="b"/>
            <a:pathLst>
              <a:path w="11511868" h="478612">
                <a:moveTo>
                  <a:pt x="67173" y="0"/>
                </a:moveTo>
                <a:lnTo>
                  <a:pt x="11444695" y="0"/>
                </a:lnTo>
                <a:cubicBezTo>
                  <a:pt x="11481793" y="0"/>
                  <a:pt x="11511868" y="30074"/>
                  <a:pt x="11511868" y="67173"/>
                </a:cubicBezTo>
                <a:lnTo>
                  <a:pt x="11511868" y="411438"/>
                </a:lnTo>
                <a:cubicBezTo>
                  <a:pt x="11511868" y="448537"/>
                  <a:pt x="11481793" y="478612"/>
                  <a:pt x="11444695" y="478612"/>
                </a:cubicBezTo>
                <a:lnTo>
                  <a:pt x="67173" y="478612"/>
                </a:lnTo>
                <a:cubicBezTo>
                  <a:pt x="30074" y="478612"/>
                  <a:pt x="0" y="448537"/>
                  <a:pt x="0" y="411438"/>
                </a:cubicBezTo>
                <a:lnTo>
                  <a:pt x="0" y="67173"/>
                </a:lnTo>
                <a:cubicBezTo>
                  <a:pt x="0" y="30099"/>
                  <a:pt x="30099" y="0"/>
                  <a:pt x="67173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91207" y="6177868"/>
            <a:ext cx="226711" cy="201521"/>
          </a:xfrm>
          <a:custGeom>
            <a:avLst/>
            <a:gdLst/>
            <a:ahLst/>
            <a:cxnLst/>
            <a:rect l="l" t="t" r="r" b="b"/>
            <a:pathLst>
              <a:path w="226711" h="201521">
                <a:moveTo>
                  <a:pt x="18893" y="77066"/>
                </a:moveTo>
                <a:lnTo>
                  <a:pt x="101233" y="110954"/>
                </a:lnTo>
                <a:cubicBezTo>
                  <a:pt x="105090" y="112529"/>
                  <a:pt x="109183" y="113355"/>
                  <a:pt x="113355" y="113355"/>
                </a:cubicBezTo>
                <a:cubicBezTo>
                  <a:pt x="117527" y="113355"/>
                  <a:pt x="121621" y="112529"/>
                  <a:pt x="125478" y="110954"/>
                </a:cubicBezTo>
                <a:lnTo>
                  <a:pt x="220886" y="71674"/>
                </a:lnTo>
                <a:cubicBezTo>
                  <a:pt x="224428" y="70217"/>
                  <a:pt x="226711" y="66793"/>
                  <a:pt x="226711" y="62975"/>
                </a:cubicBezTo>
                <a:cubicBezTo>
                  <a:pt x="226711" y="59157"/>
                  <a:pt x="224428" y="55733"/>
                  <a:pt x="220886" y="54277"/>
                </a:cubicBezTo>
                <a:lnTo>
                  <a:pt x="125478" y="14996"/>
                </a:lnTo>
                <a:cubicBezTo>
                  <a:pt x="121621" y="13422"/>
                  <a:pt x="117527" y="12595"/>
                  <a:pt x="113355" y="12595"/>
                </a:cubicBezTo>
                <a:cubicBezTo>
                  <a:pt x="109183" y="12595"/>
                  <a:pt x="105090" y="13422"/>
                  <a:pt x="101233" y="14996"/>
                </a:cubicBezTo>
                <a:lnTo>
                  <a:pt x="5825" y="54277"/>
                </a:lnTo>
                <a:cubicBezTo>
                  <a:pt x="2283" y="55733"/>
                  <a:pt x="0" y="59157"/>
                  <a:pt x="0" y="62975"/>
                </a:cubicBezTo>
                <a:lnTo>
                  <a:pt x="0" y="179479"/>
                </a:lnTo>
                <a:cubicBezTo>
                  <a:pt x="0" y="184714"/>
                  <a:pt x="4211" y="188926"/>
                  <a:pt x="9446" y="188926"/>
                </a:cubicBezTo>
                <a:cubicBezTo>
                  <a:pt x="14681" y="188926"/>
                  <a:pt x="18893" y="184714"/>
                  <a:pt x="18893" y="179479"/>
                </a:cubicBezTo>
                <a:lnTo>
                  <a:pt x="18893" y="77066"/>
                </a:lnTo>
                <a:close/>
                <a:moveTo>
                  <a:pt x="37785" y="105287"/>
                </a:moveTo>
                <a:lnTo>
                  <a:pt x="37785" y="151140"/>
                </a:lnTo>
                <a:cubicBezTo>
                  <a:pt x="37785" y="172001"/>
                  <a:pt x="71634" y="188926"/>
                  <a:pt x="113355" y="188926"/>
                </a:cubicBezTo>
                <a:cubicBezTo>
                  <a:pt x="155076" y="188926"/>
                  <a:pt x="188926" y="172001"/>
                  <a:pt x="188926" y="151140"/>
                </a:cubicBezTo>
                <a:lnTo>
                  <a:pt x="188926" y="105247"/>
                </a:lnTo>
                <a:lnTo>
                  <a:pt x="132681" y="128430"/>
                </a:lnTo>
                <a:cubicBezTo>
                  <a:pt x="126541" y="130949"/>
                  <a:pt x="120007" y="132248"/>
                  <a:pt x="113355" y="132248"/>
                </a:cubicBezTo>
                <a:cubicBezTo>
                  <a:pt x="106704" y="132248"/>
                  <a:pt x="100170" y="130949"/>
                  <a:pt x="94030" y="128430"/>
                </a:cubicBezTo>
                <a:lnTo>
                  <a:pt x="37785" y="105247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31273" y="6177868"/>
            <a:ext cx="8766149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关键洞察:</a:t>
            </a: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05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采用</a:t>
            </a:r>
            <a:r>
              <a:rPr lang="en-US" sz="105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EM</a:t>
            </a: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算法思想,通过交替优化质心和划分,迭代寻找局部最优解。由于直接求解全局最小是</a:t>
            </a:r>
            <a:r>
              <a:rPr lang="en-US" sz="105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NP-hard</a:t>
            </a:r>
            <a:r>
              <a:rPr lang="en-US" sz="105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问题,算法收敛到局部最优。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算法流程详解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1841500"/>
          </a:xfrm>
          <a:custGeom>
            <a:avLst/>
            <a:gdLst/>
            <a:ahLst/>
            <a:cxnLst/>
            <a:rect l="l" t="t" r="r" b="b"/>
            <a:pathLst>
              <a:path w="5683250" h="1841500">
                <a:moveTo>
                  <a:pt x="31750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1778005"/>
                </a:lnTo>
                <a:cubicBezTo>
                  <a:pt x="5683250" y="1813072"/>
                  <a:pt x="5654822" y="1841500"/>
                  <a:pt x="5619755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8000" y="120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67246" y="1285875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4250" y="1285875"/>
            <a:ext cx="194561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初始化 (</a:t>
            </a: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Initialization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82750"/>
            <a:ext cx="5349875" cy="825500"/>
          </a:xfrm>
          <a:custGeom>
            <a:avLst/>
            <a:gdLst/>
            <a:ahLst/>
            <a:cxnLst/>
            <a:rect l="l" t="t" r="r" b="b"/>
            <a:pathLst>
              <a:path w="5349875" h="82550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793751"/>
                </a:lnTo>
                <a:cubicBezTo>
                  <a:pt x="5349875" y="811286"/>
                  <a:pt x="5335661" y="825500"/>
                  <a:pt x="5318126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03250" y="1778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指定聚类簇数K(最关键参数)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" y="2000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从数据集中随机选取K个样本点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" y="2222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将选中的点作为初始质心μ₁,μ₂,...,μₖ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875" y="25955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70719" y="2571750"/>
            <a:ext cx="524271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初始质心的选择对最终结果影响很大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375" y="3016250"/>
            <a:ext cx="5683250" cy="1841500"/>
          </a:xfrm>
          <a:custGeom>
            <a:avLst/>
            <a:gdLst/>
            <a:ahLst/>
            <a:cxnLst/>
            <a:rect l="l" t="t" r="r" b="b"/>
            <a:pathLst>
              <a:path w="5683250" h="1841500">
                <a:moveTo>
                  <a:pt x="31750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1778005"/>
                </a:lnTo>
                <a:cubicBezTo>
                  <a:pt x="5683250" y="1813072"/>
                  <a:pt x="5654822" y="1841500"/>
                  <a:pt x="5619755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33375" y="301625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8000" y="317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3852" y="325437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4250" y="3254375"/>
            <a:ext cx="177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样本分配 (</a:t>
            </a: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Assignment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3651250"/>
            <a:ext cx="5349875" cy="825500"/>
          </a:xfrm>
          <a:custGeom>
            <a:avLst/>
            <a:gdLst/>
            <a:ahLst/>
            <a:cxnLst/>
            <a:rect l="l" t="t" r="r" b="b"/>
            <a:pathLst>
              <a:path w="5349875" h="82550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793751"/>
                </a:lnTo>
                <a:cubicBezTo>
                  <a:pt x="5349875" y="811286"/>
                  <a:pt x="5335661" y="825500"/>
                  <a:pt x="5318126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03250" y="3746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遍历数据集中的每个样本xᵢ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" y="3968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计算xᵢ到K个质心的距离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" y="4191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将xᵢ分配给距离最近的质心所对应的簇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000" y="4540250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这一步也称为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E步(</a:t>
            </a: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Expectation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1047750"/>
            <a:ext cx="5683250" cy="1841500"/>
          </a:xfrm>
          <a:custGeom>
            <a:avLst/>
            <a:gdLst/>
            <a:ahLst/>
            <a:cxnLst/>
            <a:rect l="l" t="t" r="r" b="b"/>
            <a:pathLst>
              <a:path w="5683250" h="1841500">
                <a:moveTo>
                  <a:pt x="31750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1778005"/>
                </a:lnTo>
                <a:cubicBezTo>
                  <a:pt x="5683250" y="1813072"/>
                  <a:pt x="5654822" y="1841500"/>
                  <a:pt x="5619755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191250" y="104775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365875" y="120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09680" y="1285875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42125" y="1285875"/>
            <a:ext cx="145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质心更新 (</a:t>
            </a: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Update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5875" y="1682750"/>
            <a:ext cx="5349875" cy="825500"/>
          </a:xfrm>
          <a:custGeom>
            <a:avLst/>
            <a:gdLst/>
            <a:ahLst/>
            <a:cxnLst/>
            <a:rect l="l" t="t" r="r" b="b"/>
            <a:pathLst>
              <a:path w="5349875" h="82550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793751"/>
                </a:lnTo>
                <a:cubicBezTo>
                  <a:pt x="5349875" y="811286"/>
                  <a:pt x="5335661" y="825500"/>
                  <a:pt x="5318126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61125" y="1778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对每个簇,计算其内部所有样本的均值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1125" y="2000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将该均值作为新的质心位置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1125" y="2222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更新所有K个质心的位置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5875" y="2571750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这一步也称为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M步(</a:t>
            </a: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Maximization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3016250"/>
            <a:ext cx="5683250" cy="1841500"/>
          </a:xfrm>
          <a:custGeom>
            <a:avLst/>
            <a:gdLst/>
            <a:ahLst/>
            <a:cxnLst/>
            <a:rect l="l" t="t" r="r" b="b"/>
            <a:pathLst>
              <a:path w="5683250" h="1841500">
                <a:moveTo>
                  <a:pt x="31750" y="0"/>
                </a:moveTo>
                <a:lnTo>
                  <a:pt x="5619755" y="0"/>
                </a:lnTo>
                <a:cubicBezTo>
                  <a:pt x="5654822" y="0"/>
                  <a:pt x="5683250" y="28428"/>
                  <a:pt x="5683250" y="63495"/>
                </a:cubicBezTo>
                <a:lnTo>
                  <a:pt x="5683250" y="1778005"/>
                </a:lnTo>
                <a:cubicBezTo>
                  <a:pt x="5683250" y="1813072"/>
                  <a:pt x="5654822" y="1841500"/>
                  <a:pt x="5619755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191250" y="301625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365875" y="317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509804" y="3254375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42125" y="3254375"/>
            <a:ext cx="191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收敛判断 (</a:t>
            </a: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Convergence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5875" y="3651250"/>
            <a:ext cx="5349875" cy="1047750"/>
          </a:xfrm>
          <a:custGeom>
            <a:avLst/>
            <a:gdLst/>
            <a:ahLst/>
            <a:cxnLst/>
            <a:rect l="l" t="t" r="r" b="b"/>
            <a:pathLst>
              <a:path w="5349875" h="1047750">
                <a:moveTo>
                  <a:pt x="31747" y="0"/>
                </a:moveTo>
                <a:lnTo>
                  <a:pt x="5318128" y="0"/>
                </a:lnTo>
                <a:cubicBezTo>
                  <a:pt x="5335661" y="0"/>
                  <a:pt x="5349875" y="14214"/>
                  <a:pt x="5349875" y="31747"/>
                </a:cubicBezTo>
                <a:lnTo>
                  <a:pt x="5349875" y="1016003"/>
                </a:lnTo>
                <a:cubicBezTo>
                  <a:pt x="5349875" y="1033536"/>
                  <a:pt x="5335661" y="1047750"/>
                  <a:pt x="5318128" y="1047750"/>
                </a:cubicBezTo>
                <a:lnTo>
                  <a:pt x="31747" y="1047750"/>
                </a:lnTo>
                <a:cubicBezTo>
                  <a:pt x="14214" y="1047750"/>
                  <a:pt x="0" y="1033536"/>
                  <a:pt x="0" y="101600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61125" y="3746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比较新旧质心的位置变化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61125" y="3968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如果质心位置不再变化(或变化小于阈值)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61125" y="4191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或者达到预设的最大迭代次数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1125" y="4413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算法终止; 否则返回步骤2继续迭代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1469" y="4988719"/>
            <a:ext cx="11549063" cy="1778000"/>
          </a:xfrm>
          <a:custGeom>
            <a:avLst/>
            <a:gdLst/>
            <a:ahLst/>
            <a:cxnLst/>
            <a:rect l="l" t="t" r="r" b="b"/>
            <a:pathLst>
              <a:path w="11549063" h="1778000">
                <a:moveTo>
                  <a:pt x="63492" y="0"/>
                </a:moveTo>
                <a:lnTo>
                  <a:pt x="11485570" y="0"/>
                </a:lnTo>
                <a:cubicBezTo>
                  <a:pt x="11520636" y="0"/>
                  <a:pt x="11549063" y="28427"/>
                  <a:pt x="11549063" y="63492"/>
                </a:cubicBezTo>
                <a:lnTo>
                  <a:pt x="11549063" y="1714508"/>
                </a:lnTo>
                <a:cubicBezTo>
                  <a:pt x="11549063" y="1749573"/>
                  <a:pt x="11520636" y="1778000"/>
                  <a:pt x="11485570" y="1778000"/>
                </a:cubicBezTo>
                <a:lnTo>
                  <a:pt x="63492" y="1778000"/>
                </a:lnTo>
                <a:cubicBezTo>
                  <a:pt x="28427" y="1778000"/>
                  <a:pt x="0" y="1749573"/>
                  <a:pt x="0" y="1714508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 w="12700">
            <a:solidFill>
              <a:srgbClr val="C7A67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84187" y="5151438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算法流程图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8188" y="54689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6134" y="5659438"/>
            <a:ext cx="523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初始化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K个质心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682875" y="5786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056063" y="54689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087812" y="5659438"/>
            <a:ext cx="69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分配样本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到最近质心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00750" y="5786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7373938" y="54689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469188" y="5659438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更新质心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为簇均值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318625" y="5786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0691813" y="54689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0883057" y="5659438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质心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收敛?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74891" y="6389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23812"/>
                </a:moveTo>
                <a:cubicBezTo>
                  <a:pt x="74116" y="23812"/>
                  <a:pt x="55104" y="33003"/>
                  <a:pt x="42007" y="47625"/>
                </a:cubicBezTo>
                <a:lnTo>
                  <a:pt x="59531" y="47625"/>
                </a:lnTo>
                <a:cubicBezTo>
                  <a:pt x="66117" y="47625"/>
                  <a:pt x="71438" y="52946"/>
                  <a:pt x="71438" y="59531"/>
                </a:cubicBezTo>
                <a:cubicBezTo>
                  <a:pt x="71438" y="66117"/>
                  <a:pt x="66117" y="71438"/>
                  <a:pt x="59531" y="71438"/>
                </a:cubicBezTo>
                <a:lnTo>
                  <a:pt x="11906" y="71438"/>
                </a:lnTo>
                <a:cubicBezTo>
                  <a:pt x="5321" y="71438"/>
                  <a:pt x="0" y="66117"/>
                  <a:pt x="0" y="59531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23812" y="32258"/>
                </a:lnTo>
                <a:cubicBezTo>
                  <a:pt x="41263" y="12502"/>
                  <a:pt x="66787" y="0"/>
                  <a:pt x="95250" y="0"/>
                </a:cubicBezTo>
                <a:cubicBezTo>
                  <a:pt x="147861" y="0"/>
                  <a:pt x="190500" y="42639"/>
                  <a:pt x="190500" y="95250"/>
                </a:cubicBezTo>
                <a:cubicBezTo>
                  <a:pt x="190500" y="147861"/>
                  <a:pt x="147861" y="190500"/>
                  <a:pt x="95250" y="190500"/>
                </a:cubicBezTo>
                <a:cubicBezTo>
                  <a:pt x="62880" y="190500"/>
                  <a:pt x="34268" y="174352"/>
                  <a:pt x="17078" y="149684"/>
                </a:cubicBezTo>
                <a:cubicBezTo>
                  <a:pt x="13320" y="144289"/>
                  <a:pt x="14622" y="136885"/>
                  <a:pt x="20017" y="133090"/>
                </a:cubicBezTo>
                <a:cubicBezTo>
                  <a:pt x="25412" y="129294"/>
                  <a:pt x="32817" y="130634"/>
                  <a:pt x="36612" y="136029"/>
                </a:cubicBezTo>
                <a:cubicBezTo>
                  <a:pt x="49560" y="154558"/>
                  <a:pt x="70991" y="166650"/>
                  <a:pt x="95250" y="166650"/>
                </a:cubicBezTo>
                <a:cubicBezTo>
                  <a:pt x="134689" y="166650"/>
                  <a:pt x="166688" y="134652"/>
                  <a:pt x="166688" y="95213"/>
                </a:cubicBezTo>
                <a:cubicBezTo>
                  <a:pt x="166688" y="55773"/>
                  <a:pt x="134689" y="23812"/>
                  <a:pt x="95250" y="2381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761633" y="6437313"/>
            <a:ext cx="1007070" cy="14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未收敛则返回步骤2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 &amp; CONS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优缺点全面分析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67375" cy="3841750"/>
          </a:xfrm>
          <a:custGeom>
            <a:avLst/>
            <a:gdLst/>
            <a:ahLst/>
            <a:cxnLst/>
            <a:rect l="l" t="t" r="r" b="b"/>
            <a:pathLst>
              <a:path w="5667375" h="3841750">
                <a:moveTo>
                  <a:pt x="31750" y="0"/>
                </a:moveTo>
                <a:lnTo>
                  <a:pt x="5603871" y="0"/>
                </a:lnTo>
                <a:cubicBezTo>
                  <a:pt x="5638943" y="0"/>
                  <a:pt x="5667375" y="28432"/>
                  <a:pt x="5667375" y="63504"/>
                </a:cubicBezTo>
                <a:lnTo>
                  <a:pt x="5667375" y="3778246"/>
                </a:lnTo>
                <a:cubicBezTo>
                  <a:pt x="5667375" y="3813318"/>
                  <a:pt x="5638943" y="3841750"/>
                  <a:pt x="5603871" y="3841750"/>
                </a:cubicBezTo>
                <a:lnTo>
                  <a:pt x="31750" y="3841750"/>
                </a:lnTo>
                <a:cubicBezTo>
                  <a:pt x="14227" y="3841750"/>
                  <a:pt x="0" y="3827523"/>
                  <a:pt x="0" y="381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3841750"/>
          </a:xfrm>
          <a:custGeom>
            <a:avLst/>
            <a:gdLst/>
            <a:ahLst/>
            <a:cxnLst/>
            <a:rect l="l" t="t" r="r" b="b"/>
            <a:pathLst>
              <a:path w="31750" h="3841750">
                <a:moveTo>
                  <a:pt x="31750" y="0"/>
                </a:moveTo>
                <a:lnTo>
                  <a:pt x="31750" y="0"/>
                </a:lnTo>
                <a:lnTo>
                  <a:pt x="31750" y="3841750"/>
                </a:lnTo>
                <a:lnTo>
                  <a:pt x="31750" y="3841750"/>
                </a:lnTo>
                <a:cubicBezTo>
                  <a:pt x="14227" y="3841750"/>
                  <a:pt x="0" y="3827523"/>
                  <a:pt x="0" y="381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1813" y="125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9766" y="59531"/>
                </a:moveTo>
                <a:cubicBezTo>
                  <a:pt x="36351" y="59531"/>
                  <a:pt x="41672" y="64852"/>
                  <a:pt x="41672" y="71438"/>
                </a:cubicBezTo>
                <a:lnTo>
                  <a:pt x="41672" y="166688"/>
                </a:lnTo>
                <a:cubicBezTo>
                  <a:pt x="41672" y="173273"/>
                  <a:pt x="36351" y="178594"/>
                  <a:pt x="29766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71438"/>
                </a:lnTo>
                <a:cubicBezTo>
                  <a:pt x="0" y="64852"/>
                  <a:pt x="5321" y="59531"/>
                  <a:pt x="11906" y="59531"/>
                </a:cubicBezTo>
                <a:lnTo>
                  <a:pt x="29766" y="59531"/>
                </a:lnTo>
                <a:close/>
                <a:moveTo>
                  <a:pt x="100682" y="5953"/>
                </a:moveTo>
                <a:cubicBezTo>
                  <a:pt x="110840" y="5953"/>
                  <a:pt x="119063" y="14176"/>
                  <a:pt x="119063" y="24333"/>
                </a:cubicBezTo>
                <a:lnTo>
                  <a:pt x="119063" y="25896"/>
                </a:lnTo>
                <a:cubicBezTo>
                  <a:pt x="119063" y="28426"/>
                  <a:pt x="118579" y="30956"/>
                  <a:pt x="117649" y="33300"/>
                </a:cubicBezTo>
                <a:lnTo>
                  <a:pt x="107156" y="59531"/>
                </a:lnTo>
                <a:lnTo>
                  <a:pt x="166688" y="59531"/>
                </a:lnTo>
                <a:cubicBezTo>
                  <a:pt x="176547" y="59531"/>
                  <a:pt x="184547" y="67531"/>
                  <a:pt x="184547" y="77391"/>
                </a:cubicBezTo>
                <a:cubicBezTo>
                  <a:pt x="184547" y="84720"/>
                  <a:pt x="180119" y="91008"/>
                  <a:pt x="173794" y="93762"/>
                </a:cubicBezTo>
                <a:cubicBezTo>
                  <a:pt x="180119" y="96515"/>
                  <a:pt x="184547" y="102803"/>
                  <a:pt x="184547" y="110133"/>
                </a:cubicBezTo>
                <a:cubicBezTo>
                  <a:pt x="184547" y="118839"/>
                  <a:pt x="178296" y="126095"/>
                  <a:pt x="170036" y="127657"/>
                </a:cubicBezTo>
                <a:cubicBezTo>
                  <a:pt x="171673" y="130373"/>
                  <a:pt x="172641" y="133536"/>
                  <a:pt x="172641" y="136922"/>
                </a:cubicBezTo>
                <a:cubicBezTo>
                  <a:pt x="172641" y="145182"/>
                  <a:pt x="167060" y="152102"/>
                  <a:pt x="159469" y="154149"/>
                </a:cubicBezTo>
                <a:cubicBezTo>
                  <a:pt x="160288" y="156195"/>
                  <a:pt x="160734" y="158428"/>
                  <a:pt x="160734" y="160734"/>
                </a:cubicBezTo>
                <a:cubicBezTo>
                  <a:pt x="160734" y="170594"/>
                  <a:pt x="152735" y="178594"/>
                  <a:pt x="142875" y="178594"/>
                </a:cubicBezTo>
                <a:lnTo>
                  <a:pt x="110170" y="178594"/>
                </a:lnTo>
                <a:cubicBezTo>
                  <a:pt x="96664" y="178594"/>
                  <a:pt x="83530" y="173980"/>
                  <a:pt x="73000" y="165534"/>
                </a:cubicBezTo>
                <a:lnTo>
                  <a:pt x="68461" y="161925"/>
                </a:lnTo>
                <a:cubicBezTo>
                  <a:pt x="62805" y="157423"/>
                  <a:pt x="59531" y="150577"/>
                  <a:pt x="59531" y="143321"/>
                </a:cubicBezTo>
                <a:lnTo>
                  <a:pt x="59531" y="73893"/>
                </a:lnTo>
                <a:cubicBezTo>
                  <a:pt x="59531" y="68349"/>
                  <a:pt x="60833" y="62880"/>
                  <a:pt x="63289" y="57931"/>
                </a:cubicBezTo>
                <a:lnTo>
                  <a:pt x="84200" y="16111"/>
                </a:lnTo>
                <a:cubicBezTo>
                  <a:pt x="87325" y="9897"/>
                  <a:pt x="93687" y="5953"/>
                  <a:pt x="100682" y="595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85813" y="1206500"/>
            <a:ext cx="5151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587500"/>
            <a:ext cx="5334000" cy="984250"/>
          </a:xfrm>
          <a:custGeom>
            <a:avLst/>
            <a:gdLst/>
            <a:ahLst/>
            <a:cxnLst/>
            <a:rect l="l" t="t" r="r" b="b"/>
            <a:pathLst>
              <a:path w="5334000" h="984250">
                <a:moveTo>
                  <a:pt x="31752" y="0"/>
                </a:moveTo>
                <a:lnTo>
                  <a:pt x="5302248" y="0"/>
                </a:lnTo>
                <a:cubicBezTo>
                  <a:pt x="5319784" y="0"/>
                  <a:pt x="5334000" y="14216"/>
                  <a:pt x="5334000" y="31752"/>
                </a:cubicBezTo>
                <a:lnTo>
                  <a:pt x="5334000" y="952498"/>
                </a:lnTo>
                <a:cubicBezTo>
                  <a:pt x="5334000" y="970034"/>
                  <a:pt x="5319784" y="984250"/>
                  <a:pt x="5302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250" y="1682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原理与实现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193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算法简单,易于理解和实现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" y="2127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代码实现通常不超过50行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" y="2317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收敛速度快,通常几十次迭代即可收敛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667000"/>
            <a:ext cx="5334000" cy="984250"/>
          </a:xfrm>
          <a:custGeom>
            <a:avLst/>
            <a:gdLst/>
            <a:ahLst/>
            <a:cxnLst/>
            <a:rect l="l" t="t" r="r" b="b"/>
            <a:pathLst>
              <a:path w="5334000" h="984250">
                <a:moveTo>
                  <a:pt x="31752" y="0"/>
                </a:moveTo>
                <a:lnTo>
                  <a:pt x="5302248" y="0"/>
                </a:lnTo>
                <a:cubicBezTo>
                  <a:pt x="5319784" y="0"/>
                  <a:pt x="5334000" y="14216"/>
                  <a:pt x="5334000" y="31752"/>
                </a:cubicBezTo>
                <a:lnTo>
                  <a:pt x="5334000" y="952498"/>
                </a:lnTo>
                <a:cubicBezTo>
                  <a:pt x="5334000" y="970034"/>
                  <a:pt x="5319784" y="984250"/>
                  <a:pt x="5302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03250" y="2762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计算效率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" y="3016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时间复杂度: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O(n·K·t)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250" y="320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n=样本数, K=簇数, t=迭代次数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3397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适合大规模数据集,可处理百万级样本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746500"/>
            <a:ext cx="5334000" cy="984250"/>
          </a:xfrm>
          <a:custGeom>
            <a:avLst/>
            <a:gdLst/>
            <a:ahLst/>
            <a:cxnLst/>
            <a:rect l="l" t="t" r="r" b="b"/>
            <a:pathLst>
              <a:path w="5334000" h="984250">
                <a:moveTo>
                  <a:pt x="31752" y="0"/>
                </a:moveTo>
                <a:lnTo>
                  <a:pt x="5302248" y="0"/>
                </a:lnTo>
                <a:cubicBezTo>
                  <a:pt x="5319784" y="0"/>
                  <a:pt x="5334000" y="14216"/>
                  <a:pt x="5334000" y="31752"/>
                </a:cubicBezTo>
                <a:lnTo>
                  <a:pt x="5334000" y="952498"/>
                </a:lnTo>
                <a:cubicBezTo>
                  <a:pt x="5334000" y="970034"/>
                  <a:pt x="5319784" y="984250"/>
                  <a:pt x="5302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3250" y="3841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数据适应性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" y="4095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聚类效果直观,结果可解释性强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" y="4286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质心概念清晰,易于理解簇的特征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" y="447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可作为其他算法的预处理步骤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7125" y="1047750"/>
            <a:ext cx="5667375" cy="3841750"/>
          </a:xfrm>
          <a:custGeom>
            <a:avLst/>
            <a:gdLst/>
            <a:ahLst/>
            <a:cxnLst/>
            <a:rect l="l" t="t" r="r" b="b"/>
            <a:pathLst>
              <a:path w="5667375" h="3841750">
                <a:moveTo>
                  <a:pt x="31750" y="0"/>
                </a:moveTo>
                <a:lnTo>
                  <a:pt x="5603871" y="0"/>
                </a:lnTo>
                <a:cubicBezTo>
                  <a:pt x="5638943" y="0"/>
                  <a:pt x="5667375" y="28432"/>
                  <a:pt x="5667375" y="63504"/>
                </a:cubicBezTo>
                <a:lnTo>
                  <a:pt x="5667375" y="3778246"/>
                </a:lnTo>
                <a:cubicBezTo>
                  <a:pt x="5667375" y="3813318"/>
                  <a:pt x="5638943" y="3841750"/>
                  <a:pt x="5603871" y="3841750"/>
                </a:cubicBezTo>
                <a:lnTo>
                  <a:pt x="31750" y="3841750"/>
                </a:lnTo>
                <a:cubicBezTo>
                  <a:pt x="14227" y="3841750"/>
                  <a:pt x="0" y="3827523"/>
                  <a:pt x="0" y="381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07125" y="1047750"/>
            <a:ext cx="31750" cy="3841750"/>
          </a:xfrm>
          <a:custGeom>
            <a:avLst/>
            <a:gdLst/>
            <a:ahLst/>
            <a:cxnLst/>
            <a:rect l="l" t="t" r="r" b="b"/>
            <a:pathLst>
              <a:path w="31750" h="3841750">
                <a:moveTo>
                  <a:pt x="31750" y="0"/>
                </a:moveTo>
                <a:lnTo>
                  <a:pt x="31750" y="0"/>
                </a:lnTo>
                <a:lnTo>
                  <a:pt x="31750" y="3841750"/>
                </a:lnTo>
                <a:lnTo>
                  <a:pt x="31750" y="3841750"/>
                </a:lnTo>
                <a:cubicBezTo>
                  <a:pt x="14227" y="3841750"/>
                  <a:pt x="0" y="3827523"/>
                  <a:pt x="0" y="381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05563" y="125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2875" y="11906"/>
                </a:moveTo>
                <a:cubicBezTo>
                  <a:pt x="152735" y="11906"/>
                  <a:pt x="160734" y="19906"/>
                  <a:pt x="160734" y="29766"/>
                </a:cubicBezTo>
                <a:cubicBezTo>
                  <a:pt x="160734" y="32110"/>
                  <a:pt x="160251" y="34305"/>
                  <a:pt x="159469" y="36351"/>
                </a:cubicBezTo>
                <a:cubicBezTo>
                  <a:pt x="167060" y="38398"/>
                  <a:pt x="172641" y="45318"/>
                  <a:pt x="172641" y="53578"/>
                </a:cubicBezTo>
                <a:cubicBezTo>
                  <a:pt x="172641" y="56964"/>
                  <a:pt x="171673" y="60127"/>
                  <a:pt x="170036" y="62843"/>
                </a:cubicBezTo>
                <a:cubicBezTo>
                  <a:pt x="178296" y="64405"/>
                  <a:pt x="184547" y="71661"/>
                  <a:pt x="184547" y="80367"/>
                </a:cubicBezTo>
                <a:cubicBezTo>
                  <a:pt x="184547" y="87697"/>
                  <a:pt x="180119" y="93985"/>
                  <a:pt x="173794" y="96738"/>
                </a:cubicBezTo>
                <a:cubicBezTo>
                  <a:pt x="180119" y="99492"/>
                  <a:pt x="184547" y="105780"/>
                  <a:pt x="184547" y="113109"/>
                </a:cubicBezTo>
                <a:cubicBezTo>
                  <a:pt x="184547" y="122969"/>
                  <a:pt x="176547" y="130969"/>
                  <a:pt x="166688" y="130969"/>
                </a:cubicBezTo>
                <a:lnTo>
                  <a:pt x="107156" y="130969"/>
                </a:lnTo>
                <a:lnTo>
                  <a:pt x="117649" y="157163"/>
                </a:lnTo>
                <a:cubicBezTo>
                  <a:pt x="118579" y="159507"/>
                  <a:pt x="119063" y="162037"/>
                  <a:pt x="119063" y="164567"/>
                </a:cubicBezTo>
                <a:lnTo>
                  <a:pt x="119063" y="166129"/>
                </a:lnTo>
                <a:cubicBezTo>
                  <a:pt x="119063" y="176287"/>
                  <a:pt x="110840" y="184510"/>
                  <a:pt x="100682" y="184510"/>
                </a:cubicBezTo>
                <a:cubicBezTo>
                  <a:pt x="93725" y="184510"/>
                  <a:pt x="87362" y="180566"/>
                  <a:pt x="84237" y="174352"/>
                </a:cubicBezTo>
                <a:lnTo>
                  <a:pt x="63289" y="132569"/>
                </a:lnTo>
                <a:cubicBezTo>
                  <a:pt x="60796" y="127620"/>
                  <a:pt x="59531" y="122151"/>
                  <a:pt x="59531" y="116607"/>
                </a:cubicBezTo>
                <a:lnTo>
                  <a:pt x="59531" y="47179"/>
                </a:lnTo>
                <a:cubicBezTo>
                  <a:pt x="59531" y="39960"/>
                  <a:pt x="62843" y="33114"/>
                  <a:pt x="68461" y="28575"/>
                </a:cubicBezTo>
                <a:lnTo>
                  <a:pt x="73000" y="24966"/>
                </a:lnTo>
                <a:cubicBezTo>
                  <a:pt x="83567" y="16520"/>
                  <a:pt x="96664" y="11906"/>
                  <a:pt x="110170" y="11906"/>
                </a:cubicBezTo>
                <a:lnTo>
                  <a:pt x="142875" y="11906"/>
                </a:lnTo>
                <a:close/>
                <a:moveTo>
                  <a:pt x="29766" y="35719"/>
                </a:moveTo>
                <a:cubicBezTo>
                  <a:pt x="36351" y="35719"/>
                  <a:pt x="41672" y="41039"/>
                  <a:pt x="41672" y="47625"/>
                </a:cubicBezTo>
                <a:lnTo>
                  <a:pt x="41672" y="142875"/>
                </a:lnTo>
                <a:cubicBezTo>
                  <a:pt x="41672" y="149461"/>
                  <a:pt x="36351" y="154781"/>
                  <a:pt x="29766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lnTo>
                  <a:pt x="0" y="47625"/>
                </a:lnTo>
                <a:cubicBezTo>
                  <a:pt x="0" y="41039"/>
                  <a:pt x="5321" y="35719"/>
                  <a:pt x="11906" y="35719"/>
                </a:cubicBezTo>
                <a:lnTo>
                  <a:pt x="29766" y="35719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9563" y="1206500"/>
            <a:ext cx="5151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缺点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750" y="1587500"/>
            <a:ext cx="5334000" cy="984250"/>
          </a:xfrm>
          <a:custGeom>
            <a:avLst/>
            <a:gdLst/>
            <a:ahLst/>
            <a:cxnLst/>
            <a:rect l="l" t="t" r="r" b="b"/>
            <a:pathLst>
              <a:path w="5334000" h="984250">
                <a:moveTo>
                  <a:pt x="31752" y="0"/>
                </a:moveTo>
                <a:lnTo>
                  <a:pt x="5302248" y="0"/>
                </a:lnTo>
                <a:cubicBezTo>
                  <a:pt x="5319784" y="0"/>
                  <a:pt x="5334000" y="14216"/>
                  <a:pt x="5334000" y="31752"/>
                </a:cubicBezTo>
                <a:lnTo>
                  <a:pt x="5334000" y="952498"/>
                </a:lnTo>
                <a:cubicBezTo>
                  <a:pt x="5334000" y="970034"/>
                  <a:pt x="5319784" y="984250"/>
                  <a:pt x="5302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77000" y="1682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参数依赖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193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必须预设</a:t>
            </a: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值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,且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值选择对结果影响巨大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7000" y="2127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K值难以确定,需要借助肘部法则或轮廓系数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0" y="2317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对初始质心选择敏感,易陷入局部最优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0" y="2667000"/>
            <a:ext cx="5334000" cy="984250"/>
          </a:xfrm>
          <a:custGeom>
            <a:avLst/>
            <a:gdLst/>
            <a:ahLst/>
            <a:cxnLst/>
            <a:rect l="l" t="t" r="r" b="b"/>
            <a:pathLst>
              <a:path w="5334000" h="984250">
                <a:moveTo>
                  <a:pt x="31752" y="0"/>
                </a:moveTo>
                <a:lnTo>
                  <a:pt x="5302248" y="0"/>
                </a:lnTo>
                <a:cubicBezTo>
                  <a:pt x="5319784" y="0"/>
                  <a:pt x="5334000" y="14216"/>
                  <a:pt x="5334000" y="31752"/>
                </a:cubicBezTo>
                <a:lnTo>
                  <a:pt x="5334000" y="952498"/>
                </a:lnTo>
                <a:cubicBezTo>
                  <a:pt x="5334000" y="970034"/>
                  <a:pt x="5319784" y="984250"/>
                  <a:pt x="5302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77000" y="2762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数据质量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0" y="3016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离群点和噪声非常敏感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320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少量异常值可能严重拉偏质心位置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77000" y="3397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需要数据预处理去除异常值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3746500"/>
            <a:ext cx="5334000" cy="984250"/>
          </a:xfrm>
          <a:custGeom>
            <a:avLst/>
            <a:gdLst/>
            <a:ahLst/>
            <a:cxnLst/>
            <a:rect l="l" t="t" r="r" b="b"/>
            <a:pathLst>
              <a:path w="5334000" h="984250">
                <a:moveTo>
                  <a:pt x="31752" y="0"/>
                </a:moveTo>
                <a:lnTo>
                  <a:pt x="5302248" y="0"/>
                </a:lnTo>
                <a:cubicBezTo>
                  <a:pt x="5319784" y="0"/>
                  <a:pt x="5334000" y="14216"/>
                  <a:pt x="5334000" y="31752"/>
                </a:cubicBezTo>
                <a:lnTo>
                  <a:pt x="5334000" y="952498"/>
                </a:lnTo>
                <a:cubicBezTo>
                  <a:pt x="5334000" y="970034"/>
                  <a:pt x="5319784" y="984250"/>
                  <a:pt x="5302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77000" y="3841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形状假设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4095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假设簇是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凸形(球状)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,难以发现任意形状簇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0" y="4286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对环形、月牙形等非凸数据效果差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7000" y="447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受特征尺度影响大,必须标准化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1469" y="5020469"/>
            <a:ext cx="11549063" cy="1516063"/>
          </a:xfrm>
          <a:custGeom>
            <a:avLst/>
            <a:gdLst/>
            <a:ahLst/>
            <a:cxnLst/>
            <a:rect l="l" t="t" r="r" b="b"/>
            <a:pathLst>
              <a:path w="11549063" h="1516063">
                <a:moveTo>
                  <a:pt x="63493" y="0"/>
                </a:moveTo>
                <a:lnTo>
                  <a:pt x="11485570" y="0"/>
                </a:lnTo>
                <a:cubicBezTo>
                  <a:pt x="11520636" y="0"/>
                  <a:pt x="11549063" y="28427"/>
                  <a:pt x="11549063" y="63493"/>
                </a:cubicBezTo>
                <a:lnTo>
                  <a:pt x="11549063" y="1452570"/>
                </a:lnTo>
                <a:cubicBezTo>
                  <a:pt x="11549063" y="1487636"/>
                  <a:pt x="11520636" y="1516062"/>
                  <a:pt x="11485570" y="1516063"/>
                </a:cubicBezTo>
                <a:lnTo>
                  <a:pt x="63493" y="1516063"/>
                </a:lnTo>
                <a:cubicBezTo>
                  <a:pt x="28427" y="1516063"/>
                  <a:pt x="0" y="1487636"/>
                  <a:pt x="0" y="1452570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84187" y="5183188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缺点影响可视化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84187" y="5500688"/>
            <a:ext cx="3659187" cy="873125"/>
          </a:xfrm>
          <a:custGeom>
            <a:avLst/>
            <a:gdLst/>
            <a:ahLst/>
            <a:cxnLst/>
            <a:rect l="l" t="t" r="r" b="b"/>
            <a:pathLst>
              <a:path w="3659187" h="873125">
                <a:moveTo>
                  <a:pt x="31747" y="0"/>
                </a:moveTo>
                <a:lnTo>
                  <a:pt x="3627441" y="0"/>
                </a:lnTo>
                <a:cubicBezTo>
                  <a:pt x="3644974" y="0"/>
                  <a:pt x="3659188" y="14214"/>
                  <a:pt x="3659188" y="31747"/>
                </a:cubicBezTo>
                <a:lnTo>
                  <a:pt x="3659187" y="841378"/>
                </a:lnTo>
                <a:cubicBezTo>
                  <a:pt x="3659188" y="858911"/>
                  <a:pt x="3644974" y="873125"/>
                  <a:pt x="3627441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2195339" y="55959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19062" y="81855"/>
                </a:moveTo>
                <a:cubicBezTo>
                  <a:pt x="110830" y="81855"/>
                  <a:pt x="104180" y="88506"/>
                  <a:pt x="104180" y="96738"/>
                </a:cubicBezTo>
                <a:cubicBezTo>
                  <a:pt x="104180" y="102924"/>
                  <a:pt x="99203" y="107900"/>
                  <a:pt x="93018" y="107900"/>
                </a:cubicBezTo>
                <a:cubicBezTo>
                  <a:pt x="86832" y="107900"/>
                  <a:pt x="81855" y="102924"/>
                  <a:pt x="81855" y="96738"/>
                </a:cubicBezTo>
                <a:cubicBezTo>
                  <a:pt x="81855" y="76181"/>
                  <a:pt x="98506" y="59531"/>
                  <a:pt x="119062" y="59531"/>
                </a:cubicBezTo>
                <a:cubicBezTo>
                  <a:pt x="139619" y="59531"/>
                  <a:pt x="156270" y="76181"/>
                  <a:pt x="156270" y="96738"/>
                </a:cubicBezTo>
                <a:cubicBezTo>
                  <a:pt x="156270" y="118690"/>
                  <a:pt x="139526" y="127992"/>
                  <a:pt x="130225" y="131387"/>
                </a:cubicBezTo>
                <a:lnTo>
                  <a:pt x="130225" y="133155"/>
                </a:lnTo>
                <a:cubicBezTo>
                  <a:pt x="130225" y="139340"/>
                  <a:pt x="125248" y="144317"/>
                  <a:pt x="119062" y="144317"/>
                </a:cubicBezTo>
                <a:cubicBezTo>
                  <a:pt x="112877" y="144317"/>
                  <a:pt x="107900" y="139340"/>
                  <a:pt x="107900" y="133155"/>
                </a:cubicBezTo>
                <a:lnTo>
                  <a:pt x="107900" y="129387"/>
                </a:lnTo>
                <a:cubicBezTo>
                  <a:pt x="107900" y="119853"/>
                  <a:pt x="114784" y="113016"/>
                  <a:pt x="121900" y="110691"/>
                </a:cubicBezTo>
                <a:cubicBezTo>
                  <a:pt x="124876" y="109714"/>
                  <a:pt x="128039" y="108133"/>
                  <a:pt x="130364" y="105901"/>
                </a:cubicBezTo>
                <a:cubicBezTo>
                  <a:pt x="132364" y="103947"/>
                  <a:pt x="133945" y="101250"/>
                  <a:pt x="133945" y="96785"/>
                </a:cubicBezTo>
                <a:cubicBezTo>
                  <a:pt x="133945" y="88553"/>
                  <a:pt x="127295" y="81902"/>
                  <a:pt x="119062" y="81902"/>
                </a:cubicBezTo>
                <a:close/>
                <a:moveTo>
                  <a:pt x="104180" y="171152"/>
                </a:moveTo>
                <a:cubicBezTo>
                  <a:pt x="104180" y="162938"/>
                  <a:pt x="110848" y="156270"/>
                  <a:pt x="119062" y="156270"/>
                </a:cubicBezTo>
                <a:cubicBezTo>
                  <a:pt x="127277" y="156270"/>
                  <a:pt x="133945" y="162938"/>
                  <a:pt x="133945" y="171152"/>
                </a:cubicBezTo>
                <a:cubicBezTo>
                  <a:pt x="133945" y="179366"/>
                  <a:pt x="127277" y="186035"/>
                  <a:pt x="119062" y="186035"/>
                </a:cubicBezTo>
                <a:cubicBezTo>
                  <a:pt x="110848" y="186035"/>
                  <a:pt x="104180" y="179366"/>
                  <a:pt x="104180" y="17115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47688" y="5897563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K值选择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51656" y="6119813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不同K值结果差异巨大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67708" y="5500688"/>
            <a:ext cx="3659187" cy="873125"/>
          </a:xfrm>
          <a:custGeom>
            <a:avLst/>
            <a:gdLst/>
            <a:ahLst/>
            <a:cxnLst/>
            <a:rect l="l" t="t" r="r" b="b"/>
            <a:pathLst>
              <a:path w="3659187" h="873125">
                <a:moveTo>
                  <a:pt x="31747" y="0"/>
                </a:moveTo>
                <a:lnTo>
                  <a:pt x="3627441" y="0"/>
                </a:lnTo>
                <a:cubicBezTo>
                  <a:pt x="3644974" y="0"/>
                  <a:pt x="3659188" y="14214"/>
                  <a:pt x="3659188" y="31747"/>
                </a:cubicBezTo>
                <a:lnTo>
                  <a:pt x="3659187" y="841378"/>
                </a:lnTo>
                <a:cubicBezTo>
                  <a:pt x="3659188" y="858911"/>
                  <a:pt x="3644974" y="873125"/>
                  <a:pt x="3627441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978860" y="55959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25899" y="0"/>
                  <a:pt x="132178" y="3767"/>
                  <a:pt x="135434" y="9767"/>
                </a:cubicBezTo>
                <a:lnTo>
                  <a:pt x="235893" y="195802"/>
                </a:lnTo>
                <a:cubicBezTo>
                  <a:pt x="239009" y="201569"/>
                  <a:pt x="238869" y="208545"/>
                  <a:pt x="235521" y="214173"/>
                </a:cubicBezTo>
                <a:cubicBezTo>
                  <a:pt x="232172" y="219801"/>
                  <a:pt x="226079" y="223242"/>
                  <a:pt x="219521" y="223242"/>
                </a:cubicBezTo>
                <a:lnTo>
                  <a:pt x="18604" y="223242"/>
                </a:lnTo>
                <a:cubicBezTo>
                  <a:pt x="12046" y="223242"/>
                  <a:pt x="6000" y="219801"/>
                  <a:pt x="2604" y="214173"/>
                </a:cubicBezTo>
                <a:cubicBezTo>
                  <a:pt x="-791" y="208545"/>
                  <a:pt x="-884" y="201569"/>
                  <a:pt x="2232" y="195802"/>
                </a:cubicBezTo>
                <a:lnTo>
                  <a:pt x="102691" y="9767"/>
                </a:lnTo>
                <a:cubicBezTo>
                  <a:pt x="105947" y="3767"/>
                  <a:pt x="112226" y="0"/>
                  <a:pt x="119062" y="0"/>
                </a:cubicBezTo>
                <a:close/>
                <a:moveTo>
                  <a:pt x="119062" y="78135"/>
                </a:moveTo>
                <a:cubicBezTo>
                  <a:pt x="112877" y="78135"/>
                  <a:pt x="107900" y="83111"/>
                  <a:pt x="107900" y="89297"/>
                </a:cubicBezTo>
                <a:lnTo>
                  <a:pt x="107900" y="141387"/>
                </a:lnTo>
                <a:cubicBezTo>
                  <a:pt x="107900" y="147572"/>
                  <a:pt x="112877" y="152549"/>
                  <a:pt x="119062" y="152549"/>
                </a:cubicBezTo>
                <a:cubicBezTo>
                  <a:pt x="125248" y="152549"/>
                  <a:pt x="130225" y="147572"/>
                  <a:pt x="130225" y="141387"/>
                </a:cubicBezTo>
                <a:lnTo>
                  <a:pt x="130225" y="89297"/>
                </a:lnTo>
                <a:cubicBezTo>
                  <a:pt x="130225" y="83111"/>
                  <a:pt x="125248" y="78135"/>
                  <a:pt x="119062" y="78135"/>
                </a:cubicBezTo>
                <a:close/>
                <a:moveTo>
                  <a:pt x="131480" y="178594"/>
                </a:moveTo>
                <a:cubicBezTo>
                  <a:pt x="131763" y="173984"/>
                  <a:pt x="129464" y="169599"/>
                  <a:pt x="125513" y="167209"/>
                </a:cubicBezTo>
                <a:cubicBezTo>
                  <a:pt x="121561" y="164819"/>
                  <a:pt x="116610" y="164819"/>
                  <a:pt x="112659" y="167209"/>
                </a:cubicBezTo>
                <a:cubicBezTo>
                  <a:pt x="108707" y="169599"/>
                  <a:pt x="106409" y="173984"/>
                  <a:pt x="106691" y="178594"/>
                </a:cubicBezTo>
                <a:cubicBezTo>
                  <a:pt x="106409" y="183203"/>
                  <a:pt x="108707" y="187589"/>
                  <a:pt x="112659" y="189979"/>
                </a:cubicBezTo>
                <a:cubicBezTo>
                  <a:pt x="116610" y="192369"/>
                  <a:pt x="121561" y="192369"/>
                  <a:pt x="125513" y="189979"/>
                </a:cubicBezTo>
                <a:cubicBezTo>
                  <a:pt x="129464" y="187589"/>
                  <a:pt x="131763" y="183203"/>
                  <a:pt x="131480" y="178594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331208" y="5897563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异常值敏感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335177" y="6119813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异常点拉偏质心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51229" y="5500688"/>
            <a:ext cx="3659187" cy="873125"/>
          </a:xfrm>
          <a:custGeom>
            <a:avLst/>
            <a:gdLst/>
            <a:ahLst/>
            <a:cxnLst/>
            <a:rect l="l" t="t" r="r" b="b"/>
            <a:pathLst>
              <a:path w="3659187" h="873125">
                <a:moveTo>
                  <a:pt x="31747" y="0"/>
                </a:moveTo>
                <a:lnTo>
                  <a:pt x="3627441" y="0"/>
                </a:lnTo>
                <a:cubicBezTo>
                  <a:pt x="3644974" y="0"/>
                  <a:pt x="3659188" y="14214"/>
                  <a:pt x="3659188" y="31747"/>
                </a:cubicBezTo>
                <a:lnTo>
                  <a:pt x="3659187" y="841378"/>
                </a:lnTo>
                <a:cubicBezTo>
                  <a:pt x="3659188" y="858911"/>
                  <a:pt x="3644974" y="873125"/>
                  <a:pt x="3627441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762381" y="55959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114729" y="5897563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球状假设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18698" y="6119813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无法处理非凸形状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753" y="322753"/>
            <a:ext cx="116110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kern="0" spc="51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2753" y="580956"/>
            <a:ext cx="1169173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7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K-Means++: </a:t>
            </a:r>
            <a:r>
              <a:rPr lang="en-US" sz="22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优化初始质心选择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891" y="1065085"/>
            <a:ext cx="5664318" cy="1194187"/>
          </a:xfrm>
          <a:custGeom>
            <a:avLst/>
            <a:gdLst/>
            <a:ahLst/>
            <a:cxnLst/>
            <a:rect l="l" t="t" r="r" b="b"/>
            <a:pathLst>
              <a:path w="5664318" h="1194187">
                <a:moveTo>
                  <a:pt x="32275" y="0"/>
                </a:moveTo>
                <a:lnTo>
                  <a:pt x="5599772" y="0"/>
                </a:lnTo>
                <a:cubicBezTo>
                  <a:pt x="5635420" y="0"/>
                  <a:pt x="5664318" y="28898"/>
                  <a:pt x="5664318" y="64546"/>
                </a:cubicBezTo>
                <a:lnTo>
                  <a:pt x="5664318" y="1129641"/>
                </a:lnTo>
                <a:cubicBezTo>
                  <a:pt x="5664318" y="1165288"/>
                  <a:pt x="5635420" y="1194187"/>
                  <a:pt x="5599772" y="1194187"/>
                </a:cubicBezTo>
                <a:lnTo>
                  <a:pt x="32275" y="1194187"/>
                </a:lnTo>
                <a:cubicBezTo>
                  <a:pt x="14450" y="1194187"/>
                  <a:pt x="0" y="1179736"/>
                  <a:pt x="0" y="1161911"/>
                </a:cubicBezTo>
                <a:lnTo>
                  <a:pt x="0" y="32275"/>
                </a:lnTo>
                <a:cubicBezTo>
                  <a:pt x="0" y="14450"/>
                  <a:pt x="14450" y="0"/>
                  <a:pt x="3227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8891" y="1065085"/>
            <a:ext cx="32275" cy="1194187"/>
          </a:xfrm>
          <a:custGeom>
            <a:avLst/>
            <a:gdLst/>
            <a:ahLst/>
            <a:cxnLst/>
            <a:rect l="l" t="t" r="r" b="b"/>
            <a:pathLst>
              <a:path w="32275" h="1194187">
                <a:moveTo>
                  <a:pt x="32275" y="0"/>
                </a:moveTo>
                <a:lnTo>
                  <a:pt x="32275" y="0"/>
                </a:lnTo>
                <a:lnTo>
                  <a:pt x="32275" y="1194187"/>
                </a:lnTo>
                <a:lnTo>
                  <a:pt x="32275" y="1194187"/>
                </a:lnTo>
                <a:cubicBezTo>
                  <a:pt x="14450" y="1194187"/>
                  <a:pt x="0" y="1179736"/>
                  <a:pt x="0" y="1161911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16405" y="1226462"/>
            <a:ext cx="5422253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405" y="1581490"/>
            <a:ext cx="5389977" cy="419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</a:t>
            </a:r>
            <a:r>
              <a:rPr lang="en-US" sz="1017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01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随机选择初始质心</a:t>
            </a:r>
            <a:r>
              <a:rPr lang="en-US" sz="101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,如果运气不好(如选到两个靠得很近的点),会导致收敛慢甚至结果差,易陷入局部最优。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891" y="2388373"/>
            <a:ext cx="5664318" cy="1194187"/>
          </a:xfrm>
          <a:custGeom>
            <a:avLst/>
            <a:gdLst/>
            <a:ahLst/>
            <a:cxnLst/>
            <a:rect l="l" t="t" r="r" b="b"/>
            <a:pathLst>
              <a:path w="5664318" h="1194187">
                <a:moveTo>
                  <a:pt x="32275" y="0"/>
                </a:moveTo>
                <a:lnTo>
                  <a:pt x="5599772" y="0"/>
                </a:lnTo>
                <a:cubicBezTo>
                  <a:pt x="5635420" y="0"/>
                  <a:pt x="5664318" y="28898"/>
                  <a:pt x="5664318" y="64546"/>
                </a:cubicBezTo>
                <a:lnTo>
                  <a:pt x="5664318" y="1129641"/>
                </a:lnTo>
                <a:cubicBezTo>
                  <a:pt x="5664318" y="1165288"/>
                  <a:pt x="5635420" y="1194187"/>
                  <a:pt x="5599772" y="1194187"/>
                </a:cubicBezTo>
                <a:lnTo>
                  <a:pt x="32275" y="1194187"/>
                </a:lnTo>
                <a:cubicBezTo>
                  <a:pt x="14450" y="1194187"/>
                  <a:pt x="0" y="1179736"/>
                  <a:pt x="0" y="1161911"/>
                </a:cubicBezTo>
                <a:lnTo>
                  <a:pt x="0" y="32275"/>
                </a:lnTo>
                <a:cubicBezTo>
                  <a:pt x="0" y="14450"/>
                  <a:pt x="14450" y="0"/>
                  <a:pt x="32275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38891" y="2388373"/>
            <a:ext cx="32275" cy="1194187"/>
          </a:xfrm>
          <a:custGeom>
            <a:avLst/>
            <a:gdLst/>
            <a:ahLst/>
            <a:cxnLst/>
            <a:rect l="l" t="t" r="r" b="b"/>
            <a:pathLst>
              <a:path w="32275" h="1194187">
                <a:moveTo>
                  <a:pt x="32275" y="0"/>
                </a:moveTo>
                <a:lnTo>
                  <a:pt x="32275" y="0"/>
                </a:lnTo>
                <a:lnTo>
                  <a:pt x="32275" y="1194187"/>
                </a:lnTo>
                <a:lnTo>
                  <a:pt x="32275" y="1194187"/>
                </a:lnTo>
                <a:cubicBezTo>
                  <a:pt x="14450" y="1194187"/>
                  <a:pt x="0" y="1179736"/>
                  <a:pt x="0" y="1161911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16405" y="2549750"/>
            <a:ext cx="5422253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K-Means++核心思想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405" y="2904778"/>
            <a:ext cx="5389977" cy="419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初始质心之间的距离应尽可能远</a:t>
            </a:r>
            <a:r>
              <a:rPr lang="en-US" sz="101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。通过智能选择初始质心,让距离越远的点被选中的概率越大,从而有效减少陷入局部最优的风险,提升聚类质量。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2753" y="3711661"/>
            <a:ext cx="5680455" cy="1194187"/>
          </a:xfrm>
          <a:custGeom>
            <a:avLst/>
            <a:gdLst/>
            <a:ahLst/>
            <a:cxnLst/>
            <a:rect l="l" t="t" r="r" b="b"/>
            <a:pathLst>
              <a:path w="5680455" h="1194187">
                <a:moveTo>
                  <a:pt x="64546" y="0"/>
                </a:moveTo>
                <a:lnTo>
                  <a:pt x="5615910" y="0"/>
                </a:lnTo>
                <a:cubicBezTo>
                  <a:pt x="5651557" y="0"/>
                  <a:pt x="5680455" y="28898"/>
                  <a:pt x="5680455" y="64546"/>
                </a:cubicBezTo>
                <a:lnTo>
                  <a:pt x="5680455" y="1129641"/>
                </a:lnTo>
                <a:cubicBezTo>
                  <a:pt x="5680455" y="1165288"/>
                  <a:pt x="5651557" y="1194187"/>
                  <a:pt x="5615910" y="1194187"/>
                </a:cubicBezTo>
                <a:lnTo>
                  <a:pt x="64546" y="1194187"/>
                </a:lnTo>
                <a:cubicBezTo>
                  <a:pt x="28898" y="1194187"/>
                  <a:pt x="0" y="1165288"/>
                  <a:pt x="0" y="1129641"/>
                </a:cubicBezTo>
                <a:lnTo>
                  <a:pt x="0" y="64546"/>
                </a:lnTo>
                <a:cubicBezTo>
                  <a:pt x="0" y="28922"/>
                  <a:pt x="28922" y="0"/>
                  <a:pt x="64546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4130" y="3873038"/>
            <a:ext cx="5438390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效果对比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130" y="4195791"/>
            <a:ext cx="2630438" cy="548680"/>
          </a:xfrm>
          <a:custGeom>
            <a:avLst/>
            <a:gdLst/>
            <a:ahLst/>
            <a:cxnLst/>
            <a:rect l="l" t="t" r="r" b="b"/>
            <a:pathLst>
              <a:path w="2630438" h="548680">
                <a:moveTo>
                  <a:pt x="32273" y="0"/>
                </a:moveTo>
                <a:lnTo>
                  <a:pt x="2598165" y="0"/>
                </a:lnTo>
                <a:cubicBezTo>
                  <a:pt x="2615989" y="0"/>
                  <a:pt x="2630438" y="14449"/>
                  <a:pt x="2630438" y="32273"/>
                </a:cubicBezTo>
                <a:lnTo>
                  <a:pt x="2630438" y="516407"/>
                </a:lnTo>
                <a:cubicBezTo>
                  <a:pt x="2630438" y="534231"/>
                  <a:pt x="2615989" y="548680"/>
                  <a:pt x="2598165" y="548680"/>
                </a:cubicBezTo>
                <a:lnTo>
                  <a:pt x="32273" y="548680"/>
                </a:lnTo>
                <a:cubicBezTo>
                  <a:pt x="14449" y="548680"/>
                  <a:pt x="0" y="534231"/>
                  <a:pt x="0" y="516407"/>
                </a:cubicBezTo>
                <a:lnTo>
                  <a:pt x="0" y="32273"/>
                </a:lnTo>
                <a:cubicBezTo>
                  <a:pt x="0" y="14461"/>
                  <a:pt x="14461" y="0"/>
                  <a:pt x="3227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52715" y="4292617"/>
            <a:ext cx="2493268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</a:t>
            </a:r>
            <a:r>
              <a:rPr lang="en-US" sz="889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2715" y="4486269"/>
            <a:ext cx="2493268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可能收敛到局部最优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9566" y="4195791"/>
            <a:ext cx="2630438" cy="548680"/>
          </a:xfrm>
          <a:custGeom>
            <a:avLst/>
            <a:gdLst/>
            <a:ahLst/>
            <a:cxnLst/>
            <a:rect l="l" t="t" r="r" b="b"/>
            <a:pathLst>
              <a:path w="2630438" h="548680">
                <a:moveTo>
                  <a:pt x="32273" y="0"/>
                </a:moveTo>
                <a:lnTo>
                  <a:pt x="2598165" y="0"/>
                </a:lnTo>
                <a:cubicBezTo>
                  <a:pt x="2615989" y="0"/>
                  <a:pt x="2630438" y="14449"/>
                  <a:pt x="2630438" y="32273"/>
                </a:cubicBezTo>
                <a:lnTo>
                  <a:pt x="2630438" y="516407"/>
                </a:lnTo>
                <a:cubicBezTo>
                  <a:pt x="2630438" y="534231"/>
                  <a:pt x="2615989" y="548680"/>
                  <a:pt x="2598165" y="548680"/>
                </a:cubicBezTo>
                <a:lnTo>
                  <a:pt x="32273" y="548680"/>
                </a:lnTo>
                <a:cubicBezTo>
                  <a:pt x="14449" y="548680"/>
                  <a:pt x="0" y="534231"/>
                  <a:pt x="0" y="516407"/>
                </a:cubicBezTo>
                <a:lnTo>
                  <a:pt x="0" y="32273"/>
                </a:lnTo>
                <a:cubicBezTo>
                  <a:pt x="0" y="14461"/>
                  <a:pt x="14461" y="0"/>
                  <a:pt x="3227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278151" y="4292617"/>
            <a:ext cx="2493268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K-Means++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78151" y="4486269"/>
            <a:ext cx="2493268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更接近全局最优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7302" y="1069120"/>
            <a:ext cx="5672386" cy="5462597"/>
          </a:xfrm>
          <a:custGeom>
            <a:avLst/>
            <a:gdLst/>
            <a:ahLst/>
            <a:cxnLst/>
            <a:rect l="l" t="t" r="r" b="b"/>
            <a:pathLst>
              <a:path w="5672386" h="5462597">
                <a:moveTo>
                  <a:pt x="64568" y="0"/>
                </a:moveTo>
                <a:lnTo>
                  <a:pt x="5607819" y="0"/>
                </a:lnTo>
                <a:cubicBezTo>
                  <a:pt x="5643478" y="0"/>
                  <a:pt x="5672386" y="28908"/>
                  <a:pt x="5672386" y="64568"/>
                </a:cubicBezTo>
                <a:lnTo>
                  <a:pt x="5672386" y="5398029"/>
                </a:lnTo>
                <a:cubicBezTo>
                  <a:pt x="5672386" y="5433689"/>
                  <a:pt x="5643478" y="5462597"/>
                  <a:pt x="5607819" y="5462597"/>
                </a:cubicBezTo>
                <a:lnTo>
                  <a:pt x="64568" y="5462597"/>
                </a:lnTo>
                <a:cubicBezTo>
                  <a:pt x="28908" y="5462597"/>
                  <a:pt x="0" y="5433689"/>
                  <a:pt x="0" y="5398029"/>
                </a:cubicBezTo>
                <a:lnTo>
                  <a:pt x="0" y="64568"/>
                </a:lnTo>
                <a:cubicBezTo>
                  <a:pt x="0" y="28908"/>
                  <a:pt x="28908" y="0"/>
                  <a:pt x="6456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62713" y="1234531"/>
            <a:ext cx="5438390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选择步骤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62713" y="1621835"/>
            <a:ext cx="5341565" cy="742332"/>
          </a:xfrm>
          <a:custGeom>
            <a:avLst/>
            <a:gdLst/>
            <a:ahLst/>
            <a:cxnLst/>
            <a:rect l="l" t="t" r="r" b="b"/>
            <a:pathLst>
              <a:path w="5341565" h="742332">
                <a:moveTo>
                  <a:pt x="64553" y="0"/>
                </a:moveTo>
                <a:lnTo>
                  <a:pt x="5277011" y="0"/>
                </a:lnTo>
                <a:cubicBezTo>
                  <a:pt x="5312663" y="0"/>
                  <a:pt x="5341565" y="28901"/>
                  <a:pt x="5341565" y="64553"/>
                </a:cubicBezTo>
                <a:lnTo>
                  <a:pt x="5341565" y="677779"/>
                </a:lnTo>
                <a:cubicBezTo>
                  <a:pt x="5341565" y="713431"/>
                  <a:pt x="5312663" y="742332"/>
                  <a:pt x="5277011" y="742332"/>
                </a:cubicBezTo>
                <a:lnTo>
                  <a:pt x="64553" y="742332"/>
                </a:lnTo>
                <a:cubicBezTo>
                  <a:pt x="28925" y="742332"/>
                  <a:pt x="0" y="713407"/>
                  <a:pt x="0" y="677779"/>
                </a:cubicBezTo>
                <a:lnTo>
                  <a:pt x="0" y="64553"/>
                </a:lnTo>
                <a:cubicBezTo>
                  <a:pt x="0" y="28925"/>
                  <a:pt x="28925" y="0"/>
                  <a:pt x="64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91814" y="1750936"/>
            <a:ext cx="258203" cy="258203"/>
          </a:xfrm>
          <a:custGeom>
            <a:avLst/>
            <a:gdLst/>
            <a:ahLst/>
            <a:cxnLst/>
            <a:rect l="l" t="t" r="r" b="b"/>
            <a:pathLst>
              <a:path w="258203" h="258203">
                <a:moveTo>
                  <a:pt x="129101" y="0"/>
                </a:moveTo>
                <a:lnTo>
                  <a:pt x="129101" y="0"/>
                </a:lnTo>
                <a:cubicBezTo>
                  <a:pt x="200354" y="0"/>
                  <a:pt x="258203" y="57848"/>
                  <a:pt x="258203" y="129101"/>
                </a:cubicBezTo>
                <a:lnTo>
                  <a:pt x="258203" y="129101"/>
                </a:lnTo>
                <a:cubicBezTo>
                  <a:pt x="258203" y="200354"/>
                  <a:pt x="200354" y="258203"/>
                  <a:pt x="129101" y="258203"/>
                </a:cubicBezTo>
                <a:lnTo>
                  <a:pt x="129101" y="258203"/>
                </a:lnTo>
                <a:cubicBezTo>
                  <a:pt x="57848" y="258203"/>
                  <a:pt x="0" y="200354"/>
                  <a:pt x="0" y="129101"/>
                </a:cubicBezTo>
                <a:lnTo>
                  <a:pt x="0" y="129101"/>
                </a:lnTo>
                <a:cubicBezTo>
                  <a:pt x="0" y="57848"/>
                  <a:pt x="57848" y="0"/>
                  <a:pt x="1291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98663" y="1799349"/>
            <a:ext cx="104895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46842" y="1767073"/>
            <a:ext cx="1379770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随机选取第一个质心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1814" y="2073689"/>
            <a:ext cx="5139844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从数据集中随机选取一个点作为第一个质心μ₁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2713" y="2460993"/>
            <a:ext cx="5341565" cy="1065085"/>
          </a:xfrm>
          <a:custGeom>
            <a:avLst/>
            <a:gdLst/>
            <a:ahLst/>
            <a:cxnLst/>
            <a:rect l="l" t="t" r="r" b="b"/>
            <a:pathLst>
              <a:path w="5341565" h="1065085">
                <a:moveTo>
                  <a:pt x="64555" y="0"/>
                </a:moveTo>
                <a:lnTo>
                  <a:pt x="5277010" y="0"/>
                </a:lnTo>
                <a:cubicBezTo>
                  <a:pt x="5312662" y="0"/>
                  <a:pt x="5341565" y="28902"/>
                  <a:pt x="5341565" y="64555"/>
                </a:cubicBezTo>
                <a:lnTo>
                  <a:pt x="5341565" y="1000531"/>
                </a:lnTo>
                <a:cubicBezTo>
                  <a:pt x="5341565" y="1036183"/>
                  <a:pt x="5312662" y="1065085"/>
                  <a:pt x="5277010" y="1065085"/>
                </a:cubicBezTo>
                <a:lnTo>
                  <a:pt x="64555" y="1065085"/>
                </a:lnTo>
                <a:cubicBezTo>
                  <a:pt x="28902" y="1065085"/>
                  <a:pt x="0" y="1036183"/>
                  <a:pt x="0" y="1000531"/>
                </a:cubicBezTo>
                <a:lnTo>
                  <a:pt x="0" y="64555"/>
                </a:lnTo>
                <a:cubicBezTo>
                  <a:pt x="0" y="28926"/>
                  <a:pt x="28926" y="0"/>
                  <a:pt x="6455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91814" y="2590094"/>
            <a:ext cx="258203" cy="258203"/>
          </a:xfrm>
          <a:custGeom>
            <a:avLst/>
            <a:gdLst/>
            <a:ahLst/>
            <a:cxnLst/>
            <a:rect l="l" t="t" r="r" b="b"/>
            <a:pathLst>
              <a:path w="258203" h="258203">
                <a:moveTo>
                  <a:pt x="129101" y="0"/>
                </a:moveTo>
                <a:lnTo>
                  <a:pt x="129101" y="0"/>
                </a:lnTo>
                <a:cubicBezTo>
                  <a:pt x="200354" y="0"/>
                  <a:pt x="258203" y="57848"/>
                  <a:pt x="258203" y="129101"/>
                </a:cubicBezTo>
                <a:lnTo>
                  <a:pt x="258203" y="129101"/>
                </a:lnTo>
                <a:cubicBezTo>
                  <a:pt x="258203" y="200354"/>
                  <a:pt x="200354" y="258203"/>
                  <a:pt x="129101" y="258203"/>
                </a:cubicBezTo>
                <a:lnTo>
                  <a:pt x="129101" y="258203"/>
                </a:lnTo>
                <a:cubicBezTo>
                  <a:pt x="57848" y="258203"/>
                  <a:pt x="0" y="200354"/>
                  <a:pt x="0" y="129101"/>
                </a:cubicBezTo>
                <a:lnTo>
                  <a:pt x="0" y="129101"/>
                </a:lnTo>
                <a:cubicBezTo>
                  <a:pt x="0" y="57848"/>
                  <a:pt x="57848" y="0"/>
                  <a:pt x="129101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89144" y="2638507"/>
            <a:ext cx="12103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46842" y="2606232"/>
            <a:ext cx="919846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计算距离D(x)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1814" y="2912847"/>
            <a:ext cx="5139844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对于每个样本x,计算其与当前已选出的最近质心的距离D(x)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1814" y="3138774"/>
            <a:ext cx="5083362" cy="258203"/>
          </a:xfrm>
          <a:custGeom>
            <a:avLst/>
            <a:gdLst/>
            <a:ahLst/>
            <a:cxnLst/>
            <a:rect l="l" t="t" r="r" b="b"/>
            <a:pathLst>
              <a:path w="5083362" h="258203">
                <a:moveTo>
                  <a:pt x="32275" y="0"/>
                </a:moveTo>
                <a:lnTo>
                  <a:pt x="5051087" y="0"/>
                </a:lnTo>
                <a:cubicBezTo>
                  <a:pt x="5068912" y="0"/>
                  <a:pt x="5083362" y="14450"/>
                  <a:pt x="5083362" y="32275"/>
                </a:cubicBezTo>
                <a:lnTo>
                  <a:pt x="5083362" y="225927"/>
                </a:lnTo>
                <a:cubicBezTo>
                  <a:pt x="5083362" y="243752"/>
                  <a:pt x="5068912" y="258203"/>
                  <a:pt x="5051087" y="258203"/>
                </a:cubicBezTo>
                <a:lnTo>
                  <a:pt x="32275" y="258203"/>
                </a:lnTo>
                <a:cubicBezTo>
                  <a:pt x="14450" y="258203"/>
                  <a:pt x="0" y="243752"/>
                  <a:pt x="0" y="225927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91814" y="3138774"/>
            <a:ext cx="5131775" cy="258203"/>
          </a:xfrm>
          <a:prstGeom prst="rect">
            <a:avLst/>
          </a:prstGeom>
          <a:noFill/>
          <a:ln/>
        </p:spPr>
        <p:txBody>
          <a:bodyPr wrap="square" lIns="64551" tIns="64551" rIns="64551" bIns="64551" rtlCol="0" anchor="ctr"/>
          <a:lstStyle/>
          <a:p>
            <a:pPr>
              <a:lnSpc>
                <a:spcPct val="110000"/>
              </a:lnSpc>
            </a:pPr>
            <a:r>
              <a:rPr lang="en-US" sz="7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D(x) = min ||x - μᵢ||² (i=1到已选质心数)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2713" y="3622904"/>
            <a:ext cx="5341565" cy="1065085"/>
          </a:xfrm>
          <a:custGeom>
            <a:avLst/>
            <a:gdLst/>
            <a:ahLst/>
            <a:cxnLst/>
            <a:rect l="l" t="t" r="r" b="b"/>
            <a:pathLst>
              <a:path w="5341565" h="1065085">
                <a:moveTo>
                  <a:pt x="64555" y="0"/>
                </a:moveTo>
                <a:lnTo>
                  <a:pt x="5277010" y="0"/>
                </a:lnTo>
                <a:cubicBezTo>
                  <a:pt x="5312662" y="0"/>
                  <a:pt x="5341565" y="28902"/>
                  <a:pt x="5341565" y="64555"/>
                </a:cubicBezTo>
                <a:lnTo>
                  <a:pt x="5341565" y="1000531"/>
                </a:lnTo>
                <a:cubicBezTo>
                  <a:pt x="5341565" y="1036183"/>
                  <a:pt x="5312662" y="1065085"/>
                  <a:pt x="5277010" y="1065085"/>
                </a:cubicBezTo>
                <a:lnTo>
                  <a:pt x="64555" y="1065085"/>
                </a:lnTo>
                <a:cubicBezTo>
                  <a:pt x="28902" y="1065085"/>
                  <a:pt x="0" y="1036183"/>
                  <a:pt x="0" y="1000531"/>
                </a:cubicBezTo>
                <a:lnTo>
                  <a:pt x="0" y="64555"/>
                </a:lnTo>
                <a:cubicBezTo>
                  <a:pt x="0" y="28926"/>
                  <a:pt x="28926" y="0"/>
                  <a:pt x="6455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91814" y="3752005"/>
            <a:ext cx="258203" cy="258203"/>
          </a:xfrm>
          <a:custGeom>
            <a:avLst/>
            <a:gdLst/>
            <a:ahLst/>
            <a:cxnLst/>
            <a:rect l="l" t="t" r="r" b="b"/>
            <a:pathLst>
              <a:path w="258203" h="258203">
                <a:moveTo>
                  <a:pt x="129101" y="0"/>
                </a:moveTo>
                <a:lnTo>
                  <a:pt x="129101" y="0"/>
                </a:lnTo>
                <a:cubicBezTo>
                  <a:pt x="200354" y="0"/>
                  <a:pt x="258203" y="57848"/>
                  <a:pt x="258203" y="129101"/>
                </a:cubicBezTo>
                <a:lnTo>
                  <a:pt x="258203" y="129101"/>
                </a:lnTo>
                <a:cubicBezTo>
                  <a:pt x="258203" y="200354"/>
                  <a:pt x="200354" y="258203"/>
                  <a:pt x="129101" y="258203"/>
                </a:cubicBezTo>
                <a:lnTo>
                  <a:pt x="129101" y="258203"/>
                </a:lnTo>
                <a:cubicBezTo>
                  <a:pt x="57848" y="258203"/>
                  <a:pt x="0" y="200354"/>
                  <a:pt x="0" y="129101"/>
                </a:cubicBezTo>
                <a:lnTo>
                  <a:pt x="0" y="129101"/>
                </a:lnTo>
                <a:cubicBezTo>
                  <a:pt x="0" y="57848"/>
                  <a:pt x="57848" y="0"/>
                  <a:pt x="129101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87694" y="3800418"/>
            <a:ext cx="12103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46842" y="3768143"/>
            <a:ext cx="1089292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概率选择新质心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1814" y="4074758"/>
            <a:ext cx="5139844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选择新数据点作为新质心,</a:t>
            </a:r>
            <a:r>
              <a:rPr lang="en-US" sz="88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选择的概率与D(x)²成正比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91814" y="4300686"/>
            <a:ext cx="5083362" cy="258203"/>
          </a:xfrm>
          <a:custGeom>
            <a:avLst/>
            <a:gdLst/>
            <a:ahLst/>
            <a:cxnLst/>
            <a:rect l="l" t="t" r="r" b="b"/>
            <a:pathLst>
              <a:path w="5083362" h="258203">
                <a:moveTo>
                  <a:pt x="32275" y="0"/>
                </a:moveTo>
                <a:lnTo>
                  <a:pt x="5051087" y="0"/>
                </a:lnTo>
                <a:cubicBezTo>
                  <a:pt x="5068912" y="0"/>
                  <a:pt x="5083362" y="14450"/>
                  <a:pt x="5083362" y="32275"/>
                </a:cubicBezTo>
                <a:lnTo>
                  <a:pt x="5083362" y="225927"/>
                </a:lnTo>
                <a:cubicBezTo>
                  <a:pt x="5083362" y="243752"/>
                  <a:pt x="5068912" y="258203"/>
                  <a:pt x="5051087" y="258203"/>
                </a:cubicBezTo>
                <a:lnTo>
                  <a:pt x="32275" y="258203"/>
                </a:lnTo>
                <a:cubicBezTo>
                  <a:pt x="14450" y="258203"/>
                  <a:pt x="0" y="243752"/>
                  <a:pt x="0" y="225927"/>
                </a:cubicBezTo>
                <a:lnTo>
                  <a:pt x="0" y="32275"/>
                </a:lnTo>
                <a:cubicBezTo>
                  <a:pt x="0" y="14462"/>
                  <a:pt x="14462" y="0"/>
                  <a:pt x="32275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91814" y="4300686"/>
            <a:ext cx="5131775" cy="258203"/>
          </a:xfrm>
          <a:prstGeom prst="rect">
            <a:avLst/>
          </a:prstGeom>
          <a:noFill/>
          <a:ln/>
        </p:spPr>
        <p:txBody>
          <a:bodyPr wrap="square" lIns="64551" tIns="64551" rIns="64551" bIns="64551" rtlCol="0" anchor="ctr"/>
          <a:lstStyle/>
          <a:p>
            <a:pPr>
              <a:lnSpc>
                <a:spcPct val="110000"/>
              </a:lnSpc>
            </a:pPr>
            <a:r>
              <a:rPr lang="en-US" sz="76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距离现有质心越远的点,被选中的概率越大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2713" y="4784815"/>
            <a:ext cx="5341565" cy="742332"/>
          </a:xfrm>
          <a:custGeom>
            <a:avLst/>
            <a:gdLst/>
            <a:ahLst/>
            <a:cxnLst/>
            <a:rect l="l" t="t" r="r" b="b"/>
            <a:pathLst>
              <a:path w="5341565" h="742332">
                <a:moveTo>
                  <a:pt x="64553" y="0"/>
                </a:moveTo>
                <a:lnTo>
                  <a:pt x="5277011" y="0"/>
                </a:lnTo>
                <a:cubicBezTo>
                  <a:pt x="5312663" y="0"/>
                  <a:pt x="5341565" y="28901"/>
                  <a:pt x="5341565" y="64553"/>
                </a:cubicBezTo>
                <a:lnTo>
                  <a:pt x="5341565" y="677779"/>
                </a:lnTo>
                <a:cubicBezTo>
                  <a:pt x="5341565" y="713431"/>
                  <a:pt x="5312663" y="742332"/>
                  <a:pt x="5277011" y="742332"/>
                </a:cubicBezTo>
                <a:lnTo>
                  <a:pt x="64553" y="742332"/>
                </a:lnTo>
                <a:cubicBezTo>
                  <a:pt x="28925" y="742332"/>
                  <a:pt x="0" y="713407"/>
                  <a:pt x="0" y="677779"/>
                </a:cubicBezTo>
                <a:lnTo>
                  <a:pt x="0" y="64553"/>
                </a:lnTo>
                <a:cubicBezTo>
                  <a:pt x="0" y="28925"/>
                  <a:pt x="28925" y="0"/>
                  <a:pt x="64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91814" y="4913917"/>
            <a:ext cx="258203" cy="258203"/>
          </a:xfrm>
          <a:custGeom>
            <a:avLst/>
            <a:gdLst/>
            <a:ahLst/>
            <a:cxnLst/>
            <a:rect l="l" t="t" r="r" b="b"/>
            <a:pathLst>
              <a:path w="258203" h="258203">
                <a:moveTo>
                  <a:pt x="129101" y="0"/>
                </a:moveTo>
                <a:lnTo>
                  <a:pt x="129101" y="0"/>
                </a:lnTo>
                <a:cubicBezTo>
                  <a:pt x="200354" y="0"/>
                  <a:pt x="258203" y="57848"/>
                  <a:pt x="258203" y="129101"/>
                </a:cubicBezTo>
                <a:lnTo>
                  <a:pt x="258203" y="129101"/>
                </a:lnTo>
                <a:cubicBezTo>
                  <a:pt x="258203" y="200354"/>
                  <a:pt x="200354" y="258203"/>
                  <a:pt x="129101" y="258203"/>
                </a:cubicBezTo>
                <a:lnTo>
                  <a:pt x="129101" y="258203"/>
                </a:lnTo>
                <a:cubicBezTo>
                  <a:pt x="57848" y="258203"/>
                  <a:pt x="0" y="200354"/>
                  <a:pt x="0" y="129101"/>
                </a:cubicBezTo>
                <a:lnTo>
                  <a:pt x="0" y="129101"/>
                </a:lnTo>
                <a:cubicBezTo>
                  <a:pt x="0" y="57848"/>
                  <a:pt x="57848" y="0"/>
                  <a:pt x="1291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587757" y="4962330"/>
            <a:ext cx="12103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46842" y="4930054"/>
            <a:ext cx="887571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重复步骤2-3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91814" y="5236670"/>
            <a:ext cx="5139844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重复直到选出K个质心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2713" y="5623974"/>
            <a:ext cx="5341565" cy="742332"/>
          </a:xfrm>
          <a:custGeom>
            <a:avLst/>
            <a:gdLst/>
            <a:ahLst/>
            <a:cxnLst/>
            <a:rect l="l" t="t" r="r" b="b"/>
            <a:pathLst>
              <a:path w="5341565" h="742332">
                <a:moveTo>
                  <a:pt x="64553" y="0"/>
                </a:moveTo>
                <a:lnTo>
                  <a:pt x="5277011" y="0"/>
                </a:lnTo>
                <a:cubicBezTo>
                  <a:pt x="5312663" y="0"/>
                  <a:pt x="5341565" y="28901"/>
                  <a:pt x="5341565" y="64553"/>
                </a:cubicBezTo>
                <a:lnTo>
                  <a:pt x="5341565" y="677779"/>
                </a:lnTo>
                <a:cubicBezTo>
                  <a:pt x="5341565" y="713431"/>
                  <a:pt x="5312663" y="742332"/>
                  <a:pt x="5277011" y="742332"/>
                </a:cubicBezTo>
                <a:lnTo>
                  <a:pt x="64553" y="742332"/>
                </a:lnTo>
                <a:cubicBezTo>
                  <a:pt x="28925" y="742332"/>
                  <a:pt x="0" y="713407"/>
                  <a:pt x="0" y="677779"/>
                </a:cubicBezTo>
                <a:lnTo>
                  <a:pt x="0" y="64553"/>
                </a:lnTo>
                <a:cubicBezTo>
                  <a:pt x="0" y="28925"/>
                  <a:pt x="28925" y="0"/>
                  <a:pt x="645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491814" y="5753075"/>
            <a:ext cx="258203" cy="258203"/>
          </a:xfrm>
          <a:custGeom>
            <a:avLst/>
            <a:gdLst/>
            <a:ahLst/>
            <a:cxnLst/>
            <a:rect l="l" t="t" r="r" b="b"/>
            <a:pathLst>
              <a:path w="258203" h="258203">
                <a:moveTo>
                  <a:pt x="129101" y="0"/>
                </a:moveTo>
                <a:lnTo>
                  <a:pt x="129101" y="0"/>
                </a:lnTo>
                <a:cubicBezTo>
                  <a:pt x="200354" y="0"/>
                  <a:pt x="258203" y="57848"/>
                  <a:pt x="258203" y="129101"/>
                </a:cubicBezTo>
                <a:lnTo>
                  <a:pt x="258203" y="129101"/>
                </a:lnTo>
                <a:cubicBezTo>
                  <a:pt x="258203" y="200354"/>
                  <a:pt x="200354" y="258203"/>
                  <a:pt x="129101" y="258203"/>
                </a:cubicBezTo>
                <a:lnTo>
                  <a:pt x="129101" y="258203"/>
                </a:lnTo>
                <a:cubicBezTo>
                  <a:pt x="57848" y="258203"/>
                  <a:pt x="0" y="200354"/>
                  <a:pt x="0" y="129101"/>
                </a:cubicBezTo>
                <a:lnTo>
                  <a:pt x="0" y="129101"/>
                </a:lnTo>
                <a:cubicBezTo>
                  <a:pt x="0" y="57848"/>
                  <a:pt x="57848" y="0"/>
                  <a:pt x="129101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587190" y="5801488"/>
            <a:ext cx="12103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46842" y="5769212"/>
            <a:ext cx="1250668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运行标准</a:t>
            </a:r>
            <a:r>
              <a:rPr lang="en-US" sz="1144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491814" y="6075828"/>
            <a:ext cx="5139844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使用这K个质心作为初始值,运行标准的K-Means算法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LARGE-SCALE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Mini-Batch K-Means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: 处理大规模数据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67375" cy="1714500"/>
          </a:xfrm>
          <a:custGeom>
            <a:avLst/>
            <a:gdLst/>
            <a:ahLst/>
            <a:cxnLst/>
            <a:rect l="l" t="t" r="r" b="b"/>
            <a:pathLst>
              <a:path w="5667375" h="1714500">
                <a:moveTo>
                  <a:pt x="31750" y="0"/>
                </a:moveTo>
                <a:lnTo>
                  <a:pt x="5603870" y="0"/>
                </a:lnTo>
                <a:cubicBezTo>
                  <a:pt x="5638943" y="0"/>
                  <a:pt x="5667375" y="28432"/>
                  <a:pt x="5667375" y="63505"/>
                </a:cubicBezTo>
                <a:lnTo>
                  <a:pt x="5667375" y="1650995"/>
                </a:lnTo>
                <a:cubicBezTo>
                  <a:pt x="5667375" y="1686068"/>
                  <a:pt x="5638943" y="1714500"/>
                  <a:pt x="5603870" y="1714500"/>
                </a:cubicBezTo>
                <a:lnTo>
                  <a:pt x="31750" y="1714500"/>
                </a:lnTo>
                <a:cubicBezTo>
                  <a:pt x="14215" y="1714500"/>
                  <a:pt x="0" y="1700285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1714500"/>
          </a:xfrm>
          <a:custGeom>
            <a:avLst/>
            <a:gdLst/>
            <a:ahLst/>
            <a:cxnLst/>
            <a:rect l="l" t="t" r="r" b="b"/>
            <a:pathLst>
              <a:path w="31750" h="1714500">
                <a:moveTo>
                  <a:pt x="31750" y="0"/>
                </a:moveTo>
                <a:lnTo>
                  <a:pt x="31750" y="0"/>
                </a:lnTo>
                <a:lnTo>
                  <a:pt x="31750" y="1714500"/>
                </a:lnTo>
                <a:lnTo>
                  <a:pt x="31750" y="1714500"/>
                </a:lnTo>
                <a:cubicBezTo>
                  <a:pt x="14227" y="1714500"/>
                  <a:pt x="0" y="1700273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206500"/>
            <a:ext cx="542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问题背景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55575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当数据量达到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百万级甚至更高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时,传统K-Means计算所有样本的均值非常耗时。每次迭代都需要遍历全部数据,时间和内存开销巨大。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206375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31748" y="0"/>
                </a:moveTo>
                <a:lnTo>
                  <a:pt x="5302252" y="0"/>
                </a:lnTo>
                <a:cubicBezTo>
                  <a:pt x="5319786" y="0"/>
                  <a:pt x="5334000" y="14214"/>
                  <a:pt x="5334000" y="31748"/>
                </a:cubicBezTo>
                <a:lnTo>
                  <a:pt x="5334000" y="508002"/>
                </a:lnTo>
                <a:cubicBezTo>
                  <a:pt x="5334000" y="525536"/>
                  <a:pt x="5319786" y="539750"/>
                  <a:pt x="530225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250" y="2159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2349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内存: 需要存储所有样本 | 时间: 每次迭代O(n)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75" y="2889250"/>
            <a:ext cx="5667375" cy="1508125"/>
          </a:xfrm>
          <a:custGeom>
            <a:avLst/>
            <a:gdLst/>
            <a:ahLst/>
            <a:cxnLst/>
            <a:rect l="l" t="t" r="r" b="b"/>
            <a:pathLst>
              <a:path w="5667375" h="1508125">
                <a:moveTo>
                  <a:pt x="31750" y="0"/>
                </a:moveTo>
                <a:lnTo>
                  <a:pt x="5603868" y="0"/>
                </a:lnTo>
                <a:cubicBezTo>
                  <a:pt x="5638942" y="0"/>
                  <a:pt x="5667375" y="28433"/>
                  <a:pt x="5667375" y="63507"/>
                </a:cubicBezTo>
                <a:lnTo>
                  <a:pt x="5667375" y="1444618"/>
                </a:lnTo>
                <a:cubicBezTo>
                  <a:pt x="5667375" y="1479692"/>
                  <a:pt x="5638942" y="1508125"/>
                  <a:pt x="5603868" y="1508125"/>
                </a:cubicBezTo>
                <a:lnTo>
                  <a:pt x="31750" y="1508125"/>
                </a:lnTo>
                <a:cubicBezTo>
                  <a:pt x="14215" y="1508125"/>
                  <a:pt x="0" y="1493910"/>
                  <a:pt x="0" y="1476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33375" y="2889250"/>
            <a:ext cx="31750" cy="1508125"/>
          </a:xfrm>
          <a:custGeom>
            <a:avLst/>
            <a:gdLst/>
            <a:ahLst/>
            <a:cxnLst/>
            <a:rect l="l" t="t" r="r" b="b"/>
            <a:pathLst>
              <a:path w="31750" h="1508125">
                <a:moveTo>
                  <a:pt x="31750" y="0"/>
                </a:moveTo>
                <a:lnTo>
                  <a:pt x="31750" y="0"/>
                </a:lnTo>
                <a:lnTo>
                  <a:pt x="31750" y="1508125"/>
                </a:lnTo>
                <a:lnTo>
                  <a:pt x="31750" y="1508125"/>
                </a:lnTo>
                <a:cubicBezTo>
                  <a:pt x="14227" y="1508125"/>
                  <a:pt x="0" y="1493898"/>
                  <a:pt x="0" y="1476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8000" y="3048000"/>
            <a:ext cx="542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000" y="3397250"/>
            <a:ext cx="53975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Mini-Batch K-Means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每次迭代仅随机抽取一小批(Batch)样本来更新质心,而非使用全部数据。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698875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31748" y="0"/>
                </a:moveTo>
                <a:lnTo>
                  <a:pt x="5302252" y="0"/>
                </a:lnTo>
                <a:cubicBezTo>
                  <a:pt x="5319786" y="0"/>
                  <a:pt x="5334000" y="14214"/>
                  <a:pt x="5334000" y="31748"/>
                </a:cubicBezTo>
                <a:lnTo>
                  <a:pt x="5334000" y="508002"/>
                </a:lnTo>
                <a:cubicBezTo>
                  <a:pt x="5334000" y="525536"/>
                  <a:pt x="5319786" y="539750"/>
                  <a:pt x="530225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03250" y="37941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39846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训练速度提升数倍,适合大数据场景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7500" y="4524375"/>
            <a:ext cx="5683250" cy="1333500"/>
          </a:xfrm>
          <a:custGeom>
            <a:avLst/>
            <a:gdLst/>
            <a:ahLst/>
            <a:cxnLst/>
            <a:rect l="l" t="t" r="r" b="b"/>
            <a:pathLst>
              <a:path w="5683250" h="13335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1269999"/>
                </a:lnTo>
                <a:cubicBezTo>
                  <a:pt x="5683250" y="1305070"/>
                  <a:pt x="5654820" y="1333500"/>
                  <a:pt x="5619749" y="1333500"/>
                </a:cubicBezTo>
                <a:lnTo>
                  <a:pt x="63501" y="1333500"/>
                </a:lnTo>
                <a:cubicBezTo>
                  <a:pt x="28430" y="1333500"/>
                  <a:pt x="0" y="1305070"/>
                  <a:pt x="0" y="1269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6250" y="4683125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0063" y="50323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98500" y="5000625"/>
            <a:ext cx="1865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数据量 &gt; 10万的超大规模数据集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2125" y="5286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8500" y="5254625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对训练时间有严格要求的应用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2125" y="5540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33586"/>
                </a:lnTo>
                <a:cubicBezTo>
                  <a:pt x="0" y="35272"/>
                  <a:pt x="1091" y="36711"/>
                  <a:pt x="2505" y="37629"/>
                </a:cubicBezTo>
                <a:cubicBezTo>
                  <a:pt x="5779" y="39762"/>
                  <a:pt x="7938" y="43433"/>
                  <a:pt x="7938" y="47625"/>
                </a:cubicBezTo>
                <a:cubicBezTo>
                  <a:pt x="7938" y="51817"/>
                  <a:pt x="5779" y="55488"/>
                  <a:pt x="2505" y="57621"/>
                </a:cubicBezTo>
                <a:cubicBezTo>
                  <a:pt x="1091" y="58539"/>
                  <a:pt x="0" y="59978"/>
                  <a:pt x="0" y="61664"/>
                </a:cubicBezTo>
                <a:lnTo>
                  <a:pt x="0" y="75406"/>
                </a:lnTo>
                <a:lnTo>
                  <a:pt x="127000" y="75406"/>
                </a:lnTo>
                <a:lnTo>
                  <a:pt x="127000" y="61664"/>
                </a:lnTo>
                <a:cubicBezTo>
                  <a:pt x="127000" y="59978"/>
                  <a:pt x="125909" y="58539"/>
                  <a:pt x="124495" y="57621"/>
                </a:cubicBezTo>
                <a:cubicBezTo>
                  <a:pt x="121221" y="55488"/>
                  <a:pt x="119063" y="51817"/>
                  <a:pt x="119063" y="47625"/>
                </a:cubicBezTo>
                <a:cubicBezTo>
                  <a:pt x="119063" y="43433"/>
                  <a:pt x="121221" y="39762"/>
                  <a:pt x="124495" y="37629"/>
                </a:cubicBezTo>
                <a:cubicBezTo>
                  <a:pt x="125909" y="36711"/>
                  <a:pt x="127000" y="35272"/>
                  <a:pt x="127000" y="33586"/>
                </a:cubicBez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lose/>
                <a:moveTo>
                  <a:pt x="127000" y="103188"/>
                </a:moveTo>
                <a:lnTo>
                  <a:pt x="127000" y="87313"/>
                </a:lnTo>
                <a:lnTo>
                  <a:pt x="0" y="87313"/>
                </a:lnTo>
                <a:lnTo>
                  <a:pt x="0" y="103188"/>
                </a:lnTo>
                <a:cubicBezTo>
                  <a:pt x="0" y="107578"/>
                  <a:pt x="3547" y="111125"/>
                  <a:pt x="7938" y="111125"/>
                </a:cubicBezTo>
                <a:lnTo>
                  <a:pt x="23812" y="111125"/>
                </a:lnTo>
                <a:lnTo>
                  <a:pt x="23812" y="105172"/>
                </a:lnTo>
                <a:cubicBezTo>
                  <a:pt x="23812" y="101873"/>
                  <a:pt x="26467" y="99219"/>
                  <a:pt x="29766" y="99219"/>
                </a:cubicBezTo>
                <a:cubicBezTo>
                  <a:pt x="33065" y="99219"/>
                  <a:pt x="35719" y="101873"/>
                  <a:pt x="35719" y="105172"/>
                </a:cubicBezTo>
                <a:lnTo>
                  <a:pt x="35719" y="111125"/>
                </a:lnTo>
                <a:lnTo>
                  <a:pt x="57547" y="111125"/>
                </a:lnTo>
                <a:lnTo>
                  <a:pt x="57547" y="105172"/>
                </a:lnTo>
                <a:cubicBezTo>
                  <a:pt x="57547" y="101873"/>
                  <a:pt x="60201" y="99219"/>
                  <a:pt x="63500" y="99219"/>
                </a:cubicBezTo>
                <a:cubicBezTo>
                  <a:pt x="66799" y="99219"/>
                  <a:pt x="69453" y="101873"/>
                  <a:pt x="69453" y="105172"/>
                </a:cubicBezTo>
                <a:lnTo>
                  <a:pt x="69453" y="111125"/>
                </a:lnTo>
                <a:lnTo>
                  <a:pt x="91281" y="111125"/>
                </a:lnTo>
                <a:lnTo>
                  <a:pt x="91281" y="105172"/>
                </a:lnTo>
                <a:cubicBezTo>
                  <a:pt x="91281" y="101873"/>
                  <a:pt x="93935" y="99219"/>
                  <a:pt x="97234" y="99219"/>
                </a:cubicBezTo>
                <a:cubicBezTo>
                  <a:pt x="100533" y="99219"/>
                  <a:pt x="103188" y="101873"/>
                  <a:pt x="103188" y="105172"/>
                </a:cubicBezTo>
                <a:lnTo>
                  <a:pt x="103188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lose/>
                <a:moveTo>
                  <a:pt x="39688" y="39688"/>
                </a:moveTo>
                <a:lnTo>
                  <a:pt x="39688" y="55563"/>
                </a:lnTo>
                <a:cubicBezTo>
                  <a:pt x="39688" y="59953"/>
                  <a:pt x="36140" y="63500"/>
                  <a:pt x="31750" y="63500"/>
                </a:cubicBezTo>
                <a:cubicBezTo>
                  <a:pt x="27360" y="63500"/>
                  <a:pt x="23812" y="59953"/>
                  <a:pt x="23812" y="55563"/>
                </a:cubicBezTo>
                <a:lnTo>
                  <a:pt x="23812" y="39688"/>
                </a:lnTo>
                <a:cubicBezTo>
                  <a:pt x="23812" y="35297"/>
                  <a:pt x="27360" y="31750"/>
                  <a:pt x="31750" y="31750"/>
                </a:cubicBezTo>
                <a:cubicBezTo>
                  <a:pt x="36140" y="31750"/>
                  <a:pt x="39688" y="35297"/>
                  <a:pt x="39688" y="39688"/>
                </a:cubicBezTo>
                <a:close/>
                <a:moveTo>
                  <a:pt x="71438" y="39688"/>
                </a:moveTo>
                <a:lnTo>
                  <a:pt x="71438" y="55563"/>
                </a:lnTo>
                <a:cubicBezTo>
                  <a:pt x="71438" y="59953"/>
                  <a:pt x="67890" y="63500"/>
                  <a:pt x="63500" y="63500"/>
                </a:cubicBezTo>
                <a:cubicBezTo>
                  <a:pt x="59110" y="63500"/>
                  <a:pt x="55563" y="59953"/>
                  <a:pt x="55563" y="55563"/>
                </a:cubicBezTo>
                <a:lnTo>
                  <a:pt x="55563" y="39688"/>
                </a:lnTo>
                <a:cubicBezTo>
                  <a:pt x="55563" y="35297"/>
                  <a:pt x="59110" y="31750"/>
                  <a:pt x="63500" y="31750"/>
                </a:cubicBezTo>
                <a:cubicBezTo>
                  <a:pt x="67890" y="31750"/>
                  <a:pt x="71438" y="35297"/>
                  <a:pt x="71438" y="39688"/>
                </a:cubicBezTo>
                <a:close/>
                <a:moveTo>
                  <a:pt x="103188" y="39688"/>
                </a:moveTo>
                <a:lnTo>
                  <a:pt x="103188" y="55563"/>
                </a:lnTo>
                <a:cubicBezTo>
                  <a:pt x="103188" y="59953"/>
                  <a:pt x="99640" y="63500"/>
                  <a:pt x="95250" y="63500"/>
                </a:cubicBezTo>
                <a:cubicBezTo>
                  <a:pt x="90860" y="63500"/>
                  <a:pt x="87313" y="59953"/>
                  <a:pt x="87313" y="55563"/>
                </a:cubicBezTo>
                <a:lnTo>
                  <a:pt x="87313" y="39688"/>
                </a:lnTo>
                <a:cubicBezTo>
                  <a:pt x="87313" y="35297"/>
                  <a:pt x="90860" y="31750"/>
                  <a:pt x="95250" y="31750"/>
                </a:cubicBezTo>
                <a:cubicBezTo>
                  <a:pt x="99640" y="31750"/>
                  <a:pt x="103188" y="35297"/>
                  <a:pt x="103188" y="39688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98500" y="5508625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内存资源受限的环境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219" y="1051719"/>
            <a:ext cx="5675313" cy="3500438"/>
          </a:xfrm>
          <a:custGeom>
            <a:avLst/>
            <a:gdLst/>
            <a:ahLst/>
            <a:cxnLst/>
            <a:rect l="l" t="t" r="r" b="b"/>
            <a:pathLst>
              <a:path w="5675313" h="3500438">
                <a:moveTo>
                  <a:pt x="63498" y="0"/>
                </a:moveTo>
                <a:lnTo>
                  <a:pt x="5611815" y="0"/>
                </a:lnTo>
                <a:cubicBezTo>
                  <a:pt x="5646884" y="0"/>
                  <a:pt x="5675313" y="28429"/>
                  <a:pt x="5675313" y="63498"/>
                </a:cubicBezTo>
                <a:lnTo>
                  <a:pt x="5675313" y="3436940"/>
                </a:lnTo>
                <a:cubicBezTo>
                  <a:pt x="5675313" y="3472009"/>
                  <a:pt x="5646884" y="3500438"/>
                  <a:pt x="5611815" y="3500438"/>
                </a:cubicBezTo>
                <a:lnTo>
                  <a:pt x="63498" y="3500438"/>
                </a:lnTo>
                <a:cubicBezTo>
                  <a:pt x="28429" y="3500438"/>
                  <a:pt x="0" y="3472009"/>
                  <a:pt x="0" y="3436940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357938" y="1214438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算法流程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7938" y="1563688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31750" y="0"/>
                </a:moveTo>
                <a:lnTo>
                  <a:pt x="5318125" y="0"/>
                </a:lnTo>
                <a:cubicBezTo>
                  <a:pt x="5335648" y="0"/>
                  <a:pt x="5349875" y="14227"/>
                  <a:pt x="5349875" y="31750"/>
                </a:cubicBezTo>
                <a:lnTo>
                  <a:pt x="5349875" y="603250"/>
                </a:lnTo>
                <a:cubicBezTo>
                  <a:pt x="5349875" y="620773"/>
                  <a:pt x="5335648" y="635000"/>
                  <a:pt x="5318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53188" y="1658938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 初始化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3188" y="19446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随机选择K个点作为初始质心(与标准K-Means相同)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2293938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31750" y="0"/>
                </a:moveTo>
                <a:lnTo>
                  <a:pt x="5318125" y="0"/>
                </a:lnTo>
                <a:cubicBezTo>
                  <a:pt x="5335648" y="0"/>
                  <a:pt x="5349875" y="14227"/>
                  <a:pt x="5349875" y="31750"/>
                </a:cubicBezTo>
                <a:lnTo>
                  <a:pt x="5349875" y="603250"/>
                </a:lnTo>
                <a:cubicBezTo>
                  <a:pt x="5349875" y="620773"/>
                  <a:pt x="5335648" y="635000"/>
                  <a:pt x="5318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53188" y="2389188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 随机采样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53188" y="26749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从数据集中随机抽取一小批样本(如batch_size=1000)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7938" y="3024188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31750" y="0"/>
                </a:moveTo>
                <a:lnTo>
                  <a:pt x="5318125" y="0"/>
                </a:lnTo>
                <a:cubicBezTo>
                  <a:pt x="5335648" y="0"/>
                  <a:pt x="5349875" y="14227"/>
                  <a:pt x="5349875" y="31750"/>
                </a:cubicBezTo>
                <a:lnTo>
                  <a:pt x="5349875" y="603250"/>
                </a:lnTo>
                <a:cubicBezTo>
                  <a:pt x="5349875" y="620773"/>
                  <a:pt x="5335648" y="635000"/>
                  <a:pt x="5318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53188" y="3119438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 分配与更新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3188" y="34051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仅使用这批样本进行分配和质心更新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3754438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31750" y="0"/>
                </a:moveTo>
                <a:lnTo>
                  <a:pt x="5318125" y="0"/>
                </a:lnTo>
                <a:cubicBezTo>
                  <a:pt x="5335648" y="0"/>
                  <a:pt x="5349875" y="14227"/>
                  <a:pt x="5349875" y="31750"/>
                </a:cubicBezTo>
                <a:lnTo>
                  <a:pt x="5349875" y="603250"/>
                </a:lnTo>
                <a:cubicBezTo>
                  <a:pt x="5349875" y="620773"/>
                  <a:pt x="5335648" y="635000"/>
                  <a:pt x="53181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53188" y="3849688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④ 重复迭代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3188" y="4135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重复步骤2-3直到收敛或达到最大迭代次数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1250" y="4683125"/>
            <a:ext cx="5683250" cy="2159000"/>
          </a:xfrm>
          <a:custGeom>
            <a:avLst/>
            <a:gdLst/>
            <a:ahLst/>
            <a:cxnLst/>
            <a:rect l="l" t="t" r="r" b="b"/>
            <a:pathLst>
              <a:path w="5683250" h="2159000">
                <a:moveTo>
                  <a:pt x="63496" y="0"/>
                </a:moveTo>
                <a:lnTo>
                  <a:pt x="5619754" y="0"/>
                </a:lnTo>
                <a:cubicBezTo>
                  <a:pt x="5654822" y="0"/>
                  <a:pt x="5683250" y="28428"/>
                  <a:pt x="5683250" y="63496"/>
                </a:cubicBezTo>
                <a:lnTo>
                  <a:pt x="5683250" y="2095504"/>
                </a:lnTo>
                <a:cubicBezTo>
                  <a:pt x="5683250" y="2130572"/>
                  <a:pt x="5654822" y="2159000"/>
                  <a:pt x="5619754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318250" y="4810125"/>
            <a:ext cx="550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性能对比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21469" y="6973094"/>
            <a:ext cx="11549063" cy="452438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63500" y="0"/>
                </a:moveTo>
                <a:lnTo>
                  <a:pt x="11485563" y="0"/>
                </a:lnTo>
                <a:cubicBezTo>
                  <a:pt x="11520633" y="0"/>
                  <a:pt x="11549063" y="28430"/>
                  <a:pt x="11549063" y="63500"/>
                </a:cubicBezTo>
                <a:lnTo>
                  <a:pt x="11549063" y="388938"/>
                </a:lnTo>
                <a:cubicBezTo>
                  <a:pt x="11549063" y="424008"/>
                  <a:pt x="11520633" y="452438"/>
                  <a:pt x="11485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1"/>
          <p:cNvSpPr/>
          <p:nvPr/>
        </p:nvSpPr>
        <p:spPr>
          <a:xfrm>
            <a:off x="476250" y="7104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785813" y="7104063"/>
            <a:ext cx="596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权衡: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Mini-Batch K-Means在精度上略有下降,但训练速度大幅提升。对于大规模数据,这是可接受的权衡。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708C2B-1F4E-5C99-FFF1-0399268B7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178" y="4722373"/>
            <a:ext cx="3815255" cy="211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4224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kern="0" spc="57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PRACTICE (1)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49759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K-Means实战: 数据准备与预处理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026" y="1191224"/>
            <a:ext cx="11451997" cy="1859032"/>
          </a:xfrm>
          <a:custGeom>
            <a:avLst/>
            <a:gdLst/>
            <a:ahLst/>
            <a:cxnLst/>
            <a:rect l="l" t="t" r="r" b="b"/>
            <a:pathLst>
              <a:path w="11451997" h="1859032">
                <a:moveTo>
                  <a:pt x="36098" y="0"/>
                </a:moveTo>
                <a:lnTo>
                  <a:pt x="11379811" y="0"/>
                </a:lnTo>
                <a:cubicBezTo>
                  <a:pt x="11419678" y="0"/>
                  <a:pt x="11451997" y="32319"/>
                  <a:pt x="11451997" y="72186"/>
                </a:cubicBezTo>
                <a:lnTo>
                  <a:pt x="11451997" y="1786846"/>
                </a:lnTo>
                <a:cubicBezTo>
                  <a:pt x="11451997" y="1826713"/>
                  <a:pt x="11419678" y="1859032"/>
                  <a:pt x="11379811" y="1859032"/>
                </a:cubicBezTo>
                <a:lnTo>
                  <a:pt x="36098" y="1859032"/>
                </a:lnTo>
                <a:cubicBezTo>
                  <a:pt x="16161" y="1859032"/>
                  <a:pt x="0" y="1842870"/>
                  <a:pt x="0" y="1822934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79026" y="1191224"/>
            <a:ext cx="36098" cy="1859032"/>
          </a:xfrm>
          <a:custGeom>
            <a:avLst/>
            <a:gdLst/>
            <a:ahLst/>
            <a:cxnLst/>
            <a:rect l="l" t="t" r="r" b="b"/>
            <a:pathLst>
              <a:path w="36098" h="1859032">
                <a:moveTo>
                  <a:pt x="36098" y="0"/>
                </a:moveTo>
                <a:lnTo>
                  <a:pt x="36098" y="0"/>
                </a:lnTo>
                <a:lnTo>
                  <a:pt x="36098" y="1859032"/>
                </a:lnTo>
                <a:lnTo>
                  <a:pt x="36098" y="1859032"/>
                </a:lnTo>
                <a:cubicBezTo>
                  <a:pt x="16161" y="1859032"/>
                  <a:pt x="0" y="1842870"/>
                  <a:pt x="0" y="182293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77563" y="1371713"/>
            <a:ext cx="1116321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数据集介绍: 啤酒数据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7563" y="1732690"/>
            <a:ext cx="11145167" cy="234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我们使用一个啤酒数据集进行聚类分析,目标是</a:t>
            </a:r>
            <a:r>
              <a:rPr lang="en-US" sz="11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根据特征发现不同类型的啤酒</a:t>
            </a:r>
            <a:r>
              <a:rPr lang="en-US" sz="113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。数据集包含以下特征: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563" y="2075618"/>
            <a:ext cx="2689279" cy="794150"/>
          </a:xfrm>
          <a:custGeom>
            <a:avLst/>
            <a:gdLst/>
            <a:ahLst/>
            <a:cxnLst/>
            <a:rect l="l" t="t" r="r" b="b"/>
            <a:pathLst>
              <a:path w="2689279" h="794150">
                <a:moveTo>
                  <a:pt x="36094" y="0"/>
                </a:moveTo>
                <a:lnTo>
                  <a:pt x="2653185" y="0"/>
                </a:lnTo>
                <a:cubicBezTo>
                  <a:pt x="2673119" y="0"/>
                  <a:pt x="2689279" y="16160"/>
                  <a:pt x="2689279" y="36094"/>
                </a:cubicBezTo>
                <a:lnTo>
                  <a:pt x="2689279" y="758055"/>
                </a:lnTo>
                <a:cubicBezTo>
                  <a:pt x="2689279" y="777990"/>
                  <a:pt x="2673119" y="794150"/>
                  <a:pt x="2653185" y="794150"/>
                </a:cubicBezTo>
                <a:lnTo>
                  <a:pt x="36094" y="794150"/>
                </a:lnTo>
                <a:cubicBezTo>
                  <a:pt x="16160" y="794150"/>
                  <a:pt x="0" y="777990"/>
                  <a:pt x="0" y="758055"/>
                </a:cubicBezTo>
                <a:lnTo>
                  <a:pt x="0" y="36094"/>
                </a:lnTo>
                <a:cubicBezTo>
                  <a:pt x="0" y="16173"/>
                  <a:pt x="16173" y="0"/>
                  <a:pt x="360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26389" y="2183911"/>
            <a:ext cx="189513" cy="216586"/>
          </a:xfrm>
          <a:custGeom>
            <a:avLst/>
            <a:gdLst/>
            <a:ahLst/>
            <a:cxnLst/>
            <a:rect l="l" t="t" r="r" b="b"/>
            <a:pathLst>
              <a:path w="189513" h="216586">
                <a:moveTo>
                  <a:pt x="67895" y="-11168"/>
                </a:moveTo>
                <a:cubicBezTo>
                  <a:pt x="71829" y="-14467"/>
                  <a:pt x="77624" y="-14340"/>
                  <a:pt x="81389" y="-10787"/>
                </a:cubicBezTo>
                <a:cubicBezTo>
                  <a:pt x="86592" y="-5880"/>
                  <a:pt x="91245" y="-465"/>
                  <a:pt x="95729" y="5034"/>
                </a:cubicBezTo>
                <a:cubicBezTo>
                  <a:pt x="101440" y="12014"/>
                  <a:pt x="108293" y="21236"/>
                  <a:pt x="114892" y="32192"/>
                </a:cubicBezTo>
                <a:cubicBezTo>
                  <a:pt x="117092" y="29315"/>
                  <a:pt x="119122" y="26777"/>
                  <a:pt x="120899" y="24620"/>
                </a:cubicBezTo>
                <a:cubicBezTo>
                  <a:pt x="121364" y="24070"/>
                  <a:pt x="121830" y="23478"/>
                  <a:pt x="122295" y="22885"/>
                </a:cubicBezTo>
                <a:cubicBezTo>
                  <a:pt x="125637" y="18740"/>
                  <a:pt x="129783" y="13537"/>
                  <a:pt x="135324" y="13537"/>
                </a:cubicBezTo>
                <a:cubicBezTo>
                  <a:pt x="140993" y="13537"/>
                  <a:pt x="144969" y="18571"/>
                  <a:pt x="148353" y="22885"/>
                </a:cubicBezTo>
                <a:cubicBezTo>
                  <a:pt x="148903" y="23605"/>
                  <a:pt x="149453" y="24281"/>
                  <a:pt x="150003" y="24916"/>
                </a:cubicBezTo>
                <a:cubicBezTo>
                  <a:pt x="154360" y="30161"/>
                  <a:pt x="160155" y="37733"/>
                  <a:pt x="165951" y="47082"/>
                </a:cubicBezTo>
                <a:cubicBezTo>
                  <a:pt x="177457" y="65653"/>
                  <a:pt x="189471" y="92091"/>
                  <a:pt x="189471" y="121787"/>
                </a:cubicBezTo>
                <a:cubicBezTo>
                  <a:pt x="189471" y="174115"/>
                  <a:pt x="147042" y="216544"/>
                  <a:pt x="94714" y="216544"/>
                </a:cubicBezTo>
                <a:cubicBezTo>
                  <a:pt x="42387" y="216544"/>
                  <a:pt x="0" y="174157"/>
                  <a:pt x="0" y="121830"/>
                </a:cubicBezTo>
                <a:cubicBezTo>
                  <a:pt x="0" y="83293"/>
                  <a:pt x="17386" y="49916"/>
                  <a:pt x="34053" y="26650"/>
                </a:cubicBezTo>
                <a:cubicBezTo>
                  <a:pt x="42471" y="14933"/>
                  <a:pt x="50847" y="5542"/>
                  <a:pt x="57150" y="-888"/>
                </a:cubicBezTo>
                <a:cubicBezTo>
                  <a:pt x="60619" y="-4442"/>
                  <a:pt x="64130" y="-7953"/>
                  <a:pt x="67937" y="-11125"/>
                </a:cubicBezTo>
                <a:close/>
                <a:moveTo>
                  <a:pt x="95476" y="175976"/>
                </a:moveTo>
                <a:cubicBezTo>
                  <a:pt x="106178" y="175976"/>
                  <a:pt x="115654" y="173015"/>
                  <a:pt x="124579" y="167093"/>
                </a:cubicBezTo>
                <a:cubicBezTo>
                  <a:pt x="142389" y="154656"/>
                  <a:pt x="147169" y="129783"/>
                  <a:pt x="136466" y="110239"/>
                </a:cubicBezTo>
                <a:cubicBezTo>
                  <a:pt x="134563" y="106432"/>
                  <a:pt x="129698" y="106178"/>
                  <a:pt x="126948" y="109393"/>
                </a:cubicBezTo>
                <a:lnTo>
                  <a:pt x="116288" y="121787"/>
                </a:lnTo>
                <a:cubicBezTo>
                  <a:pt x="113496" y="125002"/>
                  <a:pt x="108462" y="124918"/>
                  <a:pt x="105840" y="121576"/>
                </a:cubicBezTo>
                <a:cubicBezTo>
                  <a:pt x="98521" y="112227"/>
                  <a:pt x="85069" y="95179"/>
                  <a:pt x="78216" y="86465"/>
                </a:cubicBezTo>
                <a:cubicBezTo>
                  <a:pt x="75932" y="83546"/>
                  <a:pt x="71786" y="83081"/>
                  <a:pt x="69121" y="85662"/>
                </a:cubicBezTo>
                <a:cubicBezTo>
                  <a:pt x="61380" y="93191"/>
                  <a:pt x="47336" y="109689"/>
                  <a:pt x="47336" y="129783"/>
                </a:cubicBezTo>
                <a:cubicBezTo>
                  <a:pt x="47336" y="158802"/>
                  <a:pt x="68741" y="175976"/>
                  <a:pt x="95433" y="17597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4271" y="2436595"/>
            <a:ext cx="253586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热量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783" y="2617084"/>
            <a:ext cx="25268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calories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73091" y="2075618"/>
            <a:ext cx="2689279" cy="794150"/>
          </a:xfrm>
          <a:custGeom>
            <a:avLst/>
            <a:gdLst/>
            <a:ahLst/>
            <a:cxnLst/>
            <a:rect l="l" t="t" r="r" b="b"/>
            <a:pathLst>
              <a:path w="2689279" h="794150">
                <a:moveTo>
                  <a:pt x="36094" y="0"/>
                </a:moveTo>
                <a:lnTo>
                  <a:pt x="2653185" y="0"/>
                </a:lnTo>
                <a:cubicBezTo>
                  <a:pt x="2673119" y="0"/>
                  <a:pt x="2689279" y="16160"/>
                  <a:pt x="2689279" y="36094"/>
                </a:cubicBezTo>
                <a:lnTo>
                  <a:pt x="2689279" y="758055"/>
                </a:lnTo>
                <a:cubicBezTo>
                  <a:pt x="2689279" y="777990"/>
                  <a:pt x="2673119" y="794150"/>
                  <a:pt x="2653185" y="794150"/>
                </a:cubicBezTo>
                <a:lnTo>
                  <a:pt x="36094" y="794150"/>
                </a:lnTo>
                <a:cubicBezTo>
                  <a:pt x="16160" y="794150"/>
                  <a:pt x="0" y="777990"/>
                  <a:pt x="0" y="758055"/>
                </a:cubicBezTo>
                <a:lnTo>
                  <a:pt x="0" y="36094"/>
                </a:lnTo>
                <a:cubicBezTo>
                  <a:pt x="0" y="16173"/>
                  <a:pt x="16173" y="0"/>
                  <a:pt x="360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621987" y="2183911"/>
            <a:ext cx="189513" cy="216586"/>
          </a:xfrm>
          <a:custGeom>
            <a:avLst/>
            <a:gdLst/>
            <a:ahLst/>
            <a:cxnLst/>
            <a:rect l="l" t="t" r="r" b="b"/>
            <a:pathLst>
              <a:path w="189513" h="216586">
                <a:moveTo>
                  <a:pt x="121830" y="0"/>
                </a:moveTo>
                <a:lnTo>
                  <a:pt x="54147" y="0"/>
                </a:lnTo>
                <a:cubicBezTo>
                  <a:pt x="46659" y="0"/>
                  <a:pt x="40610" y="6049"/>
                  <a:pt x="40610" y="13537"/>
                </a:cubicBezTo>
                <a:cubicBezTo>
                  <a:pt x="40610" y="21024"/>
                  <a:pt x="46659" y="27073"/>
                  <a:pt x="54147" y="27073"/>
                </a:cubicBezTo>
                <a:lnTo>
                  <a:pt x="54147" y="91161"/>
                </a:lnTo>
                <a:lnTo>
                  <a:pt x="3173" y="180333"/>
                </a:lnTo>
                <a:cubicBezTo>
                  <a:pt x="1100" y="184014"/>
                  <a:pt x="0" y="188117"/>
                  <a:pt x="0" y="192347"/>
                </a:cubicBezTo>
                <a:cubicBezTo>
                  <a:pt x="0" y="205757"/>
                  <a:pt x="10829" y="216586"/>
                  <a:pt x="24239" y="216586"/>
                </a:cubicBezTo>
                <a:lnTo>
                  <a:pt x="165274" y="216586"/>
                </a:lnTo>
                <a:cubicBezTo>
                  <a:pt x="178641" y="216586"/>
                  <a:pt x="189513" y="205757"/>
                  <a:pt x="189513" y="192347"/>
                </a:cubicBezTo>
                <a:cubicBezTo>
                  <a:pt x="189513" y="188117"/>
                  <a:pt x="188413" y="183971"/>
                  <a:pt x="186340" y="180333"/>
                </a:cubicBezTo>
                <a:lnTo>
                  <a:pt x="135366" y="91161"/>
                </a:lnTo>
                <a:lnTo>
                  <a:pt x="135366" y="27073"/>
                </a:lnTo>
                <a:cubicBezTo>
                  <a:pt x="142854" y="27073"/>
                  <a:pt x="148903" y="21024"/>
                  <a:pt x="148903" y="13537"/>
                </a:cubicBezTo>
                <a:cubicBezTo>
                  <a:pt x="148903" y="6049"/>
                  <a:pt x="142854" y="0"/>
                  <a:pt x="135366" y="0"/>
                </a:cubicBezTo>
                <a:lnTo>
                  <a:pt x="121830" y="0"/>
                </a:lnTo>
                <a:close/>
                <a:moveTo>
                  <a:pt x="81220" y="91161"/>
                </a:moveTo>
                <a:lnTo>
                  <a:pt x="81220" y="27073"/>
                </a:lnTo>
                <a:lnTo>
                  <a:pt x="108293" y="27073"/>
                </a:lnTo>
                <a:lnTo>
                  <a:pt x="108293" y="91161"/>
                </a:lnTo>
                <a:cubicBezTo>
                  <a:pt x="108293" y="95856"/>
                  <a:pt x="109520" y="100510"/>
                  <a:pt x="111846" y="104613"/>
                </a:cubicBezTo>
                <a:lnTo>
                  <a:pt x="129444" y="135366"/>
                </a:lnTo>
                <a:lnTo>
                  <a:pt x="60069" y="135366"/>
                </a:lnTo>
                <a:lnTo>
                  <a:pt x="77666" y="104613"/>
                </a:lnTo>
                <a:cubicBezTo>
                  <a:pt x="79993" y="100510"/>
                  <a:pt x="81220" y="95899"/>
                  <a:pt x="81220" y="91161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449798" y="2436595"/>
            <a:ext cx="253586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钠含量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54311" y="2617084"/>
            <a:ext cx="25268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sodium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68689" y="2075618"/>
            <a:ext cx="2689279" cy="794150"/>
          </a:xfrm>
          <a:custGeom>
            <a:avLst/>
            <a:gdLst/>
            <a:ahLst/>
            <a:cxnLst/>
            <a:rect l="l" t="t" r="r" b="b"/>
            <a:pathLst>
              <a:path w="2689279" h="794150">
                <a:moveTo>
                  <a:pt x="36094" y="0"/>
                </a:moveTo>
                <a:lnTo>
                  <a:pt x="2653185" y="0"/>
                </a:lnTo>
                <a:cubicBezTo>
                  <a:pt x="2673119" y="0"/>
                  <a:pt x="2689279" y="16160"/>
                  <a:pt x="2689279" y="36094"/>
                </a:cubicBezTo>
                <a:lnTo>
                  <a:pt x="2689279" y="758055"/>
                </a:lnTo>
                <a:cubicBezTo>
                  <a:pt x="2689279" y="777990"/>
                  <a:pt x="2673119" y="794150"/>
                  <a:pt x="2653185" y="794150"/>
                </a:cubicBezTo>
                <a:lnTo>
                  <a:pt x="36094" y="794150"/>
                </a:lnTo>
                <a:cubicBezTo>
                  <a:pt x="16160" y="794150"/>
                  <a:pt x="0" y="777990"/>
                  <a:pt x="0" y="758055"/>
                </a:cubicBezTo>
                <a:lnTo>
                  <a:pt x="0" y="36094"/>
                </a:lnTo>
                <a:cubicBezTo>
                  <a:pt x="0" y="16173"/>
                  <a:pt x="16173" y="0"/>
                  <a:pt x="360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444588" y="2183911"/>
            <a:ext cx="135366" cy="216586"/>
          </a:xfrm>
          <a:custGeom>
            <a:avLst/>
            <a:gdLst/>
            <a:ahLst/>
            <a:cxnLst/>
            <a:rect l="l" t="t" r="r" b="b"/>
            <a:pathLst>
              <a:path w="135366" h="216586">
                <a:moveTo>
                  <a:pt x="33842" y="-13537"/>
                </a:moveTo>
                <a:cubicBezTo>
                  <a:pt x="33842" y="-21024"/>
                  <a:pt x="39891" y="-27073"/>
                  <a:pt x="47378" y="-27073"/>
                </a:cubicBezTo>
                <a:lnTo>
                  <a:pt x="87988" y="-27073"/>
                </a:lnTo>
                <a:cubicBezTo>
                  <a:pt x="95476" y="-27073"/>
                  <a:pt x="101525" y="-21024"/>
                  <a:pt x="101525" y="-13537"/>
                </a:cubicBezTo>
                <a:cubicBezTo>
                  <a:pt x="101525" y="-8545"/>
                  <a:pt x="98817" y="-4146"/>
                  <a:pt x="94756" y="-1819"/>
                </a:cubicBezTo>
                <a:lnTo>
                  <a:pt x="94756" y="59773"/>
                </a:lnTo>
                <a:cubicBezTo>
                  <a:pt x="118657" y="70221"/>
                  <a:pt x="135366" y="94080"/>
                  <a:pt x="135366" y="121830"/>
                </a:cubicBezTo>
                <a:lnTo>
                  <a:pt x="135366" y="216586"/>
                </a:lnTo>
                <a:cubicBezTo>
                  <a:pt x="135366" y="231519"/>
                  <a:pt x="123226" y="243660"/>
                  <a:pt x="108293" y="243660"/>
                </a:cubicBezTo>
                <a:lnTo>
                  <a:pt x="27073" y="243660"/>
                </a:lnTo>
                <a:cubicBezTo>
                  <a:pt x="12141" y="243660"/>
                  <a:pt x="0" y="231519"/>
                  <a:pt x="0" y="216586"/>
                </a:cubicBezTo>
                <a:lnTo>
                  <a:pt x="0" y="121830"/>
                </a:lnTo>
                <a:cubicBezTo>
                  <a:pt x="0" y="94080"/>
                  <a:pt x="16709" y="70221"/>
                  <a:pt x="40610" y="59773"/>
                </a:cubicBezTo>
                <a:lnTo>
                  <a:pt x="40610" y="-1819"/>
                </a:lnTo>
                <a:cubicBezTo>
                  <a:pt x="36549" y="-4146"/>
                  <a:pt x="33842" y="-8545"/>
                  <a:pt x="33842" y="-13537"/>
                </a:cubicBezTo>
                <a:close/>
                <a:moveTo>
                  <a:pt x="40610" y="121830"/>
                </a:moveTo>
                <a:cubicBezTo>
                  <a:pt x="33122" y="121830"/>
                  <a:pt x="27073" y="127879"/>
                  <a:pt x="27073" y="135366"/>
                </a:cubicBezTo>
                <a:lnTo>
                  <a:pt x="27073" y="189513"/>
                </a:lnTo>
                <a:cubicBezTo>
                  <a:pt x="27073" y="197000"/>
                  <a:pt x="33122" y="203050"/>
                  <a:pt x="40610" y="203050"/>
                </a:cubicBezTo>
                <a:lnTo>
                  <a:pt x="94756" y="203050"/>
                </a:lnTo>
                <a:cubicBezTo>
                  <a:pt x="102244" y="203050"/>
                  <a:pt x="108293" y="197000"/>
                  <a:pt x="108293" y="189513"/>
                </a:cubicBezTo>
                <a:lnTo>
                  <a:pt x="108293" y="135366"/>
                </a:lnTo>
                <a:cubicBezTo>
                  <a:pt x="108293" y="127879"/>
                  <a:pt x="102244" y="121830"/>
                  <a:pt x="94756" y="121830"/>
                </a:cubicBezTo>
                <a:lnTo>
                  <a:pt x="40610" y="121830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45397" y="2436595"/>
            <a:ext cx="253586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酒精含量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9909" y="2617084"/>
            <a:ext cx="25268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alcohol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4217" y="2075618"/>
            <a:ext cx="2689279" cy="794150"/>
          </a:xfrm>
          <a:custGeom>
            <a:avLst/>
            <a:gdLst/>
            <a:ahLst/>
            <a:cxnLst/>
            <a:rect l="l" t="t" r="r" b="b"/>
            <a:pathLst>
              <a:path w="2689279" h="794150">
                <a:moveTo>
                  <a:pt x="36094" y="0"/>
                </a:moveTo>
                <a:lnTo>
                  <a:pt x="2653185" y="0"/>
                </a:lnTo>
                <a:cubicBezTo>
                  <a:pt x="2673119" y="0"/>
                  <a:pt x="2689279" y="16160"/>
                  <a:pt x="2689279" y="36094"/>
                </a:cubicBezTo>
                <a:lnTo>
                  <a:pt x="2689279" y="758055"/>
                </a:lnTo>
                <a:cubicBezTo>
                  <a:pt x="2689279" y="777990"/>
                  <a:pt x="2673119" y="794150"/>
                  <a:pt x="2653185" y="794150"/>
                </a:cubicBezTo>
                <a:lnTo>
                  <a:pt x="36094" y="794150"/>
                </a:lnTo>
                <a:cubicBezTo>
                  <a:pt x="16160" y="794150"/>
                  <a:pt x="0" y="777990"/>
                  <a:pt x="0" y="758055"/>
                </a:cubicBezTo>
                <a:lnTo>
                  <a:pt x="0" y="36094"/>
                </a:lnTo>
                <a:cubicBezTo>
                  <a:pt x="0" y="16173"/>
                  <a:pt x="16173" y="0"/>
                  <a:pt x="360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240186" y="2183911"/>
            <a:ext cx="135366" cy="216586"/>
          </a:xfrm>
          <a:custGeom>
            <a:avLst/>
            <a:gdLst/>
            <a:ahLst/>
            <a:cxnLst/>
            <a:rect l="l" t="t" r="r" b="b"/>
            <a:pathLst>
              <a:path w="135366" h="216586">
                <a:moveTo>
                  <a:pt x="57531" y="10152"/>
                </a:moveTo>
                <a:cubicBezTo>
                  <a:pt x="57531" y="4526"/>
                  <a:pt x="62057" y="0"/>
                  <a:pt x="67683" y="0"/>
                </a:cubicBezTo>
                <a:cubicBezTo>
                  <a:pt x="73309" y="0"/>
                  <a:pt x="77836" y="4526"/>
                  <a:pt x="77836" y="10152"/>
                </a:cubicBezTo>
                <a:lnTo>
                  <a:pt x="77836" y="27073"/>
                </a:lnTo>
                <a:lnTo>
                  <a:pt x="101525" y="27073"/>
                </a:lnTo>
                <a:cubicBezTo>
                  <a:pt x="109012" y="27073"/>
                  <a:pt x="115061" y="33122"/>
                  <a:pt x="115061" y="40610"/>
                </a:cubicBezTo>
                <a:cubicBezTo>
                  <a:pt x="115061" y="48097"/>
                  <a:pt x="109012" y="54147"/>
                  <a:pt x="101525" y="54147"/>
                </a:cubicBezTo>
                <a:lnTo>
                  <a:pt x="52920" y="54147"/>
                </a:lnTo>
                <a:cubicBezTo>
                  <a:pt x="42387" y="54147"/>
                  <a:pt x="33842" y="62692"/>
                  <a:pt x="33842" y="73225"/>
                </a:cubicBezTo>
                <a:cubicBezTo>
                  <a:pt x="33842" y="82743"/>
                  <a:pt x="40821" y="90780"/>
                  <a:pt x="50212" y="92134"/>
                </a:cubicBezTo>
                <a:lnTo>
                  <a:pt x="88961" y="97675"/>
                </a:lnTo>
                <a:cubicBezTo>
                  <a:pt x="111720" y="100933"/>
                  <a:pt x="128598" y="120391"/>
                  <a:pt x="128598" y="143361"/>
                </a:cubicBezTo>
                <a:cubicBezTo>
                  <a:pt x="128598" y="168870"/>
                  <a:pt x="107912" y="189513"/>
                  <a:pt x="82447" y="189513"/>
                </a:cubicBezTo>
                <a:lnTo>
                  <a:pt x="77836" y="189513"/>
                </a:lnTo>
                <a:lnTo>
                  <a:pt x="77836" y="206434"/>
                </a:lnTo>
                <a:cubicBezTo>
                  <a:pt x="77836" y="212060"/>
                  <a:pt x="73309" y="216586"/>
                  <a:pt x="67683" y="216586"/>
                </a:cubicBezTo>
                <a:cubicBezTo>
                  <a:pt x="62057" y="216586"/>
                  <a:pt x="57531" y="212060"/>
                  <a:pt x="57531" y="206434"/>
                </a:cubicBezTo>
                <a:lnTo>
                  <a:pt x="57531" y="189513"/>
                </a:lnTo>
                <a:lnTo>
                  <a:pt x="27073" y="189513"/>
                </a:lnTo>
                <a:cubicBezTo>
                  <a:pt x="19586" y="189513"/>
                  <a:pt x="13537" y="183464"/>
                  <a:pt x="13537" y="175976"/>
                </a:cubicBezTo>
                <a:cubicBezTo>
                  <a:pt x="13537" y="168489"/>
                  <a:pt x="19586" y="162440"/>
                  <a:pt x="27073" y="162440"/>
                </a:cubicBezTo>
                <a:lnTo>
                  <a:pt x="82447" y="162440"/>
                </a:lnTo>
                <a:cubicBezTo>
                  <a:pt x="92980" y="162440"/>
                  <a:pt x="101525" y="153895"/>
                  <a:pt x="101525" y="143361"/>
                </a:cubicBezTo>
                <a:cubicBezTo>
                  <a:pt x="101525" y="133844"/>
                  <a:pt x="94545" y="125806"/>
                  <a:pt x="85154" y="124452"/>
                </a:cubicBezTo>
                <a:lnTo>
                  <a:pt x="46405" y="118911"/>
                </a:lnTo>
                <a:cubicBezTo>
                  <a:pt x="23647" y="115696"/>
                  <a:pt x="6768" y="96195"/>
                  <a:pt x="6768" y="73225"/>
                </a:cubicBezTo>
                <a:cubicBezTo>
                  <a:pt x="6768" y="47759"/>
                  <a:pt x="27454" y="27073"/>
                  <a:pt x="52920" y="27073"/>
                </a:cubicBezTo>
                <a:lnTo>
                  <a:pt x="57531" y="27073"/>
                </a:lnTo>
                <a:lnTo>
                  <a:pt x="57531" y="10152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040924" y="2436595"/>
            <a:ext cx="253586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成本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5436" y="2617084"/>
            <a:ext cx="2526839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cost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79026" y="3194647"/>
            <a:ext cx="5631242" cy="2635132"/>
          </a:xfrm>
          <a:custGeom>
            <a:avLst/>
            <a:gdLst/>
            <a:ahLst/>
            <a:cxnLst/>
            <a:rect l="l" t="t" r="r" b="b"/>
            <a:pathLst>
              <a:path w="5631242" h="2635132">
                <a:moveTo>
                  <a:pt x="36098" y="0"/>
                </a:moveTo>
                <a:lnTo>
                  <a:pt x="5559039" y="0"/>
                </a:lnTo>
                <a:cubicBezTo>
                  <a:pt x="5598916" y="0"/>
                  <a:pt x="5631242" y="32326"/>
                  <a:pt x="5631242" y="72203"/>
                </a:cubicBezTo>
                <a:lnTo>
                  <a:pt x="5631242" y="2562930"/>
                </a:lnTo>
                <a:cubicBezTo>
                  <a:pt x="5631242" y="2602806"/>
                  <a:pt x="5598916" y="2635132"/>
                  <a:pt x="5559039" y="2635132"/>
                </a:cubicBezTo>
                <a:lnTo>
                  <a:pt x="36098" y="2635132"/>
                </a:lnTo>
                <a:cubicBezTo>
                  <a:pt x="16161" y="2635132"/>
                  <a:pt x="0" y="2618971"/>
                  <a:pt x="0" y="2599035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026" y="3194647"/>
            <a:ext cx="36098" cy="2635132"/>
          </a:xfrm>
          <a:custGeom>
            <a:avLst/>
            <a:gdLst/>
            <a:ahLst/>
            <a:cxnLst/>
            <a:rect l="l" t="t" r="r" b="b"/>
            <a:pathLst>
              <a:path w="36098" h="2635132">
                <a:moveTo>
                  <a:pt x="36098" y="0"/>
                </a:moveTo>
                <a:lnTo>
                  <a:pt x="36098" y="0"/>
                </a:lnTo>
                <a:lnTo>
                  <a:pt x="36098" y="2635132"/>
                </a:lnTo>
                <a:lnTo>
                  <a:pt x="36098" y="2635132"/>
                </a:lnTo>
                <a:cubicBezTo>
                  <a:pt x="16161" y="2635132"/>
                  <a:pt x="0" y="2618971"/>
                  <a:pt x="0" y="2599035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00124" y="3429282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90244" y="0"/>
                </a:moveTo>
                <a:cubicBezTo>
                  <a:pt x="95426" y="0"/>
                  <a:pt x="100185" y="2855"/>
                  <a:pt x="102653" y="7403"/>
                </a:cubicBezTo>
                <a:lnTo>
                  <a:pt x="178796" y="148410"/>
                </a:lnTo>
                <a:cubicBezTo>
                  <a:pt x="181158" y="152781"/>
                  <a:pt x="181053" y="158068"/>
                  <a:pt x="178514" y="162334"/>
                </a:cubicBezTo>
                <a:cubicBezTo>
                  <a:pt x="175976" y="166599"/>
                  <a:pt x="171358" y="169208"/>
                  <a:pt x="166388" y="169208"/>
                </a:cubicBezTo>
                <a:lnTo>
                  <a:pt x="14101" y="169208"/>
                </a:lnTo>
                <a:cubicBezTo>
                  <a:pt x="9130" y="169208"/>
                  <a:pt x="4547" y="166599"/>
                  <a:pt x="1974" y="162334"/>
                </a:cubicBezTo>
                <a:cubicBezTo>
                  <a:pt x="-599" y="158068"/>
                  <a:pt x="-670" y="152781"/>
                  <a:pt x="1692" y="148410"/>
                </a:cubicBezTo>
                <a:lnTo>
                  <a:pt x="77836" y="7403"/>
                </a:lnTo>
                <a:cubicBezTo>
                  <a:pt x="80303" y="2855"/>
                  <a:pt x="85062" y="0"/>
                  <a:pt x="90244" y="0"/>
                </a:cubicBezTo>
                <a:close/>
                <a:moveTo>
                  <a:pt x="90244" y="59223"/>
                </a:moveTo>
                <a:cubicBezTo>
                  <a:pt x="85556" y="59223"/>
                  <a:pt x="81784" y="62995"/>
                  <a:pt x="81784" y="67683"/>
                </a:cubicBezTo>
                <a:lnTo>
                  <a:pt x="81784" y="107165"/>
                </a:lnTo>
                <a:cubicBezTo>
                  <a:pt x="81784" y="111854"/>
                  <a:pt x="85556" y="115625"/>
                  <a:pt x="90244" y="115625"/>
                </a:cubicBezTo>
                <a:cubicBezTo>
                  <a:pt x="94933" y="115625"/>
                  <a:pt x="98705" y="111854"/>
                  <a:pt x="98705" y="107165"/>
                </a:cubicBezTo>
                <a:lnTo>
                  <a:pt x="98705" y="67683"/>
                </a:lnTo>
                <a:cubicBezTo>
                  <a:pt x="98705" y="62995"/>
                  <a:pt x="94933" y="59223"/>
                  <a:pt x="90244" y="59223"/>
                </a:cubicBezTo>
                <a:close/>
                <a:moveTo>
                  <a:pt x="99656" y="135366"/>
                </a:moveTo>
                <a:cubicBezTo>
                  <a:pt x="99871" y="131873"/>
                  <a:pt x="98128" y="128549"/>
                  <a:pt x="95133" y="126737"/>
                </a:cubicBezTo>
                <a:cubicBezTo>
                  <a:pt x="92138" y="124926"/>
                  <a:pt x="88385" y="124926"/>
                  <a:pt x="85390" y="126737"/>
                </a:cubicBezTo>
                <a:cubicBezTo>
                  <a:pt x="82396" y="128549"/>
                  <a:pt x="80653" y="131873"/>
                  <a:pt x="80867" y="135366"/>
                </a:cubicBezTo>
                <a:cubicBezTo>
                  <a:pt x="80653" y="138860"/>
                  <a:pt x="82396" y="142184"/>
                  <a:pt x="85390" y="143996"/>
                </a:cubicBezTo>
                <a:cubicBezTo>
                  <a:pt x="88385" y="145807"/>
                  <a:pt x="92138" y="145807"/>
                  <a:pt x="95133" y="143996"/>
                </a:cubicBezTo>
                <a:cubicBezTo>
                  <a:pt x="98128" y="142184"/>
                  <a:pt x="99871" y="138860"/>
                  <a:pt x="99656" y="135366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4475" y="3375135"/>
            <a:ext cx="506554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数据标准化的必要性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7563" y="3736113"/>
            <a:ext cx="5324412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聚类算法对特征的尺度非常敏感。</a:t>
            </a:r>
            <a:r>
              <a:rPr lang="en-US" sz="11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不同特征的量纲差异巨大</a:t>
            </a:r>
            <a:r>
              <a:rPr lang="en-US" sz="113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(如热量0-500千卡,钠含量0-50毫克),如果不标准化,数值范围大的特征将主导距离计算。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7563" y="4313676"/>
            <a:ext cx="5252216" cy="613661"/>
          </a:xfrm>
          <a:custGeom>
            <a:avLst/>
            <a:gdLst/>
            <a:ahLst/>
            <a:cxnLst/>
            <a:rect l="l" t="t" r="r" b="b"/>
            <a:pathLst>
              <a:path w="5252216" h="613661">
                <a:moveTo>
                  <a:pt x="36096" y="0"/>
                </a:moveTo>
                <a:lnTo>
                  <a:pt x="5216121" y="0"/>
                </a:lnTo>
                <a:cubicBezTo>
                  <a:pt x="5236042" y="0"/>
                  <a:pt x="5252216" y="16174"/>
                  <a:pt x="5252216" y="36096"/>
                </a:cubicBezTo>
                <a:lnTo>
                  <a:pt x="5252216" y="577565"/>
                </a:lnTo>
                <a:cubicBezTo>
                  <a:pt x="5252216" y="597500"/>
                  <a:pt x="5236056" y="613661"/>
                  <a:pt x="5216121" y="613661"/>
                </a:cubicBezTo>
                <a:lnTo>
                  <a:pt x="36096" y="613661"/>
                </a:lnTo>
                <a:cubicBezTo>
                  <a:pt x="16174" y="613661"/>
                  <a:pt x="0" y="597487"/>
                  <a:pt x="0" y="577565"/>
                </a:cubicBezTo>
                <a:lnTo>
                  <a:pt x="0" y="36096"/>
                </a:lnTo>
                <a:cubicBezTo>
                  <a:pt x="0" y="16161"/>
                  <a:pt x="16161" y="0"/>
                  <a:pt x="360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56" y="4421969"/>
            <a:ext cx="509880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Z-Score标准化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56" y="4638555"/>
            <a:ext cx="509880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将特征缩放到均值为0,方差为1,消除量纲影响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7563" y="5035630"/>
            <a:ext cx="5252216" cy="613661"/>
          </a:xfrm>
          <a:custGeom>
            <a:avLst/>
            <a:gdLst/>
            <a:ahLst/>
            <a:cxnLst/>
            <a:rect l="l" t="t" r="r" b="b"/>
            <a:pathLst>
              <a:path w="5252216" h="613661">
                <a:moveTo>
                  <a:pt x="36096" y="0"/>
                </a:moveTo>
                <a:lnTo>
                  <a:pt x="5216121" y="0"/>
                </a:lnTo>
                <a:cubicBezTo>
                  <a:pt x="5236042" y="0"/>
                  <a:pt x="5252216" y="16174"/>
                  <a:pt x="5252216" y="36096"/>
                </a:cubicBezTo>
                <a:lnTo>
                  <a:pt x="5252216" y="577565"/>
                </a:lnTo>
                <a:cubicBezTo>
                  <a:pt x="5252216" y="597500"/>
                  <a:pt x="5236056" y="613661"/>
                  <a:pt x="5216121" y="613661"/>
                </a:cubicBezTo>
                <a:lnTo>
                  <a:pt x="36096" y="613661"/>
                </a:lnTo>
                <a:cubicBezTo>
                  <a:pt x="16174" y="613661"/>
                  <a:pt x="0" y="597487"/>
                  <a:pt x="0" y="577565"/>
                </a:cubicBezTo>
                <a:lnTo>
                  <a:pt x="0" y="36096"/>
                </a:lnTo>
                <a:cubicBezTo>
                  <a:pt x="0" y="16161"/>
                  <a:pt x="16161" y="0"/>
                  <a:pt x="36096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5856" y="5143923"/>
            <a:ext cx="509880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公式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56" y="5360509"/>
            <a:ext cx="509880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 = (x - μ) / 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6738" y="3194647"/>
            <a:ext cx="5649291" cy="2635132"/>
          </a:xfrm>
          <a:custGeom>
            <a:avLst/>
            <a:gdLst/>
            <a:ahLst/>
            <a:cxnLst/>
            <a:rect l="l" t="t" r="r" b="b"/>
            <a:pathLst>
              <a:path w="5649291" h="2635132">
                <a:moveTo>
                  <a:pt x="72203" y="0"/>
                </a:moveTo>
                <a:lnTo>
                  <a:pt x="5577088" y="0"/>
                </a:lnTo>
                <a:cubicBezTo>
                  <a:pt x="5616965" y="0"/>
                  <a:pt x="5649291" y="32326"/>
                  <a:pt x="5649291" y="72203"/>
                </a:cubicBezTo>
                <a:lnTo>
                  <a:pt x="5649291" y="2562930"/>
                </a:lnTo>
                <a:cubicBezTo>
                  <a:pt x="5649291" y="2602806"/>
                  <a:pt x="5616965" y="2635132"/>
                  <a:pt x="5577088" y="2635132"/>
                </a:cubicBezTo>
                <a:lnTo>
                  <a:pt x="72203" y="2635132"/>
                </a:lnTo>
                <a:cubicBezTo>
                  <a:pt x="32326" y="2635132"/>
                  <a:pt x="0" y="2602806"/>
                  <a:pt x="0" y="2562930"/>
                </a:cubicBezTo>
                <a:lnTo>
                  <a:pt x="0" y="72203"/>
                </a:lnTo>
                <a:cubicBezTo>
                  <a:pt x="0" y="32353"/>
                  <a:pt x="32353" y="0"/>
                  <a:pt x="72203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67226" y="3375135"/>
            <a:ext cx="537855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Python代码实现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7226" y="3736113"/>
            <a:ext cx="5288314" cy="1840983"/>
          </a:xfrm>
          <a:custGeom>
            <a:avLst/>
            <a:gdLst/>
            <a:ahLst/>
            <a:cxnLst/>
            <a:rect l="l" t="t" r="r" b="b"/>
            <a:pathLst>
              <a:path w="5288314" h="1840983">
                <a:moveTo>
                  <a:pt x="36102" y="0"/>
                </a:moveTo>
                <a:lnTo>
                  <a:pt x="5252212" y="0"/>
                </a:lnTo>
                <a:cubicBezTo>
                  <a:pt x="5272151" y="0"/>
                  <a:pt x="5288314" y="16163"/>
                  <a:pt x="5288314" y="36102"/>
                </a:cubicBezTo>
                <a:lnTo>
                  <a:pt x="5288314" y="1804881"/>
                </a:lnTo>
                <a:cubicBezTo>
                  <a:pt x="5288314" y="1824820"/>
                  <a:pt x="5272151" y="1840983"/>
                  <a:pt x="5252212" y="1840983"/>
                </a:cubicBezTo>
                <a:lnTo>
                  <a:pt x="36102" y="1840983"/>
                </a:lnTo>
                <a:cubicBezTo>
                  <a:pt x="16163" y="1840983"/>
                  <a:pt x="0" y="1824820"/>
                  <a:pt x="0" y="1804881"/>
                </a:cubicBezTo>
                <a:lnTo>
                  <a:pt x="0" y="36102"/>
                </a:lnTo>
                <a:cubicBezTo>
                  <a:pt x="0" y="16177"/>
                  <a:pt x="16177" y="0"/>
                  <a:pt x="36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75519" y="3844406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1. 加载数据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5519" y="4024894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beer = pd.read_csv('data.txt')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75519" y="4385871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2. 特征选择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5519" y="4566360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 = beer[['calories','sodium', 'alcohol','cost']]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75519" y="4927337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3. 数据标准化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5519" y="5107825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scaler = StandardScaler()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75519" y="5288314"/>
            <a:ext cx="513489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X_scaled = scaler.fit_transform(X)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5489" y="5978682"/>
            <a:ext cx="11461021" cy="514392"/>
          </a:xfrm>
          <a:custGeom>
            <a:avLst/>
            <a:gdLst/>
            <a:ahLst/>
            <a:cxnLst/>
            <a:rect l="l" t="t" r="r" b="b"/>
            <a:pathLst>
              <a:path w="11461021" h="514392">
                <a:moveTo>
                  <a:pt x="72195" y="0"/>
                </a:moveTo>
                <a:lnTo>
                  <a:pt x="11388827" y="0"/>
                </a:lnTo>
                <a:cubicBezTo>
                  <a:pt x="11428699" y="0"/>
                  <a:pt x="11461021" y="32323"/>
                  <a:pt x="11461021" y="72195"/>
                </a:cubicBezTo>
                <a:lnTo>
                  <a:pt x="11461021" y="442197"/>
                </a:lnTo>
                <a:cubicBezTo>
                  <a:pt x="11461021" y="482070"/>
                  <a:pt x="11428699" y="514392"/>
                  <a:pt x="11388827" y="514392"/>
                </a:cubicBezTo>
                <a:lnTo>
                  <a:pt x="72195" y="514392"/>
                </a:lnTo>
                <a:cubicBezTo>
                  <a:pt x="32349" y="514392"/>
                  <a:pt x="0" y="482043"/>
                  <a:pt x="0" y="442197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68539" y="6127585"/>
            <a:ext cx="162440" cy="216586"/>
          </a:xfrm>
          <a:custGeom>
            <a:avLst/>
            <a:gdLst/>
            <a:ahLst/>
            <a:cxnLst/>
            <a:rect l="l" t="t" r="r" b="b"/>
            <a:pathLst>
              <a:path w="162440" h="216586">
                <a:moveTo>
                  <a:pt x="123903" y="162440"/>
                </a:moveTo>
                <a:cubicBezTo>
                  <a:pt x="126991" y="153006"/>
                  <a:pt x="133167" y="144461"/>
                  <a:pt x="140147" y="137101"/>
                </a:cubicBezTo>
                <a:cubicBezTo>
                  <a:pt x="153979" y="122549"/>
                  <a:pt x="162440" y="102878"/>
                  <a:pt x="162440" y="81220"/>
                </a:cubicBezTo>
                <a:cubicBezTo>
                  <a:pt x="162440" y="36380"/>
                  <a:pt x="126060" y="0"/>
                  <a:pt x="81220" y="0"/>
                </a:cubicBezTo>
                <a:cubicBezTo>
                  <a:pt x="36380" y="0"/>
                  <a:pt x="0" y="36380"/>
                  <a:pt x="0" y="81220"/>
                </a:cubicBezTo>
                <a:cubicBezTo>
                  <a:pt x="0" y="102878"/>
                  <a:pt x="8460" y="122549"/>
                  <a:pt x="22293" y="137101"/>
                </a:cubicBezTo>
                <a:cubicBezTo>
                  <a:pt x="29273" y="144461"/>
                  <a:pt x="35491" y="153006"/>
                  <a:pt x="38537" y="162440"/>
                </a:cubicBezTo>
                <a:lnTo>
                  <a:pt x="123860" y="162440"/>
                </a:lnTo>
                <a:close/>
                <a:moveTo>
                  <a:pt x="121830" y="182745"/>
                </a:moveTo>
                <a:lnTo>
                  <a:pt x="40610" y="182745"/>
                </a:lnTo>
                <a:lnTo>
                  <a:pt x="40610" y="189513"/>
                </a:lnTo>
                <a:cubicBezTo>
                  <a:pt x="40610" y="208210"/>
                  <a:pt x="55754" y="223355"/>
                  <a:pt x="74452" y="223355"/>
                </a:cubicBezTo>
                <a:lnTo>
                  <a:pt x="87988" y="223355"/>
                </a:lnTo>
                <a:cubicBezTo>
                  <a:pt x="106686" y="223355"/>
                  <a:pt x="121830" y="208210"/>
                  <a:pt x="121830" y="189513"/>
                </a:cubicBezTo>
                <a:lnTo>
                  <a:pt x="121830" y="182745"/>
                </a:lnTo>
                <a:close/>
                <a:moveTo>
                  <a:pt x="77836" y="47378"/>
                </a:moveTo>
                <a:cubicBezTo>
                  <a:pt x="60999" y="47378"/>
                  <a:pt x="47378" y="60999"/>
                  <a:pt x="47378" y="77836"/>
                </a:cubicBezTo>
                <a:cubicBezTo>
                  <a:pt x="47378" y="83462"/>
                  <a:pt x="42852" y="87988"/>
                  <a:pt x="37226" y="87988"/>
                </a:cubicBezTo>
                <a:cubicBezTo>
                  <a:pt x="31600" y="87988"/>
                  <a:pt x="27073" y="83462"/>
                  <a:pt x="27073" y="77836"/>
                </a:cubicBezTo>
                <a:cubicBezTo>
                  <a:pt x="27073" y="49789"/>
                  <a:pt x="49789" y="27073"/>
                  <a:pt x="77836" y="27073"/>
                </a:cubicBezTo>
                <a:cubicBezTo>
                  <a:pt x="83462" y="27073"/>
                  <a:pt x="87988" y="31600"/>
                  <a:pt x="87988" y="37226"/>
                </a:cubicBezTo>
                <a:cubicBezTo>
                  <a:pt x="87988" y="42852"/>
                  <a:pt x="83462" y="47378"/>
                  <a:pt x="77836" y="47378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93417" y="6127585"/>
            <a:ext cx="5582101" cy="24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关键提醒:</a:t>
            </a:r>
            <a:r>
              <a:rPr lang="en-US" sz="1137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跳过标准化 = 无效聚类! 数据预处理是聚类成功的关键步骤,绝不能忽视。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PRACTICE (2)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实战: 确定最优</a:t>
            </a: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953160"/>
            <a:ext cx="5683250" cy="2952750"/>
          </a:xfrm>
          <a:custGeom>
            <a:avLst/>
            <a:gdLst/>
            <a:ahLst/>
            <a:cxnLst/>
            <a:rect l="l" t="t" r="r" b="b"/>
            <a:pathLst>
              <a:path w="5683250" h="2952750">
                <a:moveTo>
                  <a:pt x="31750" y="0"/>
                </a:moveTo>
                <a:lnTo>
                  <a:pt x="5619736" y="0"/>
                </a:lnTo>
                <a:cubicBezTo>
                  <a:pt x="5654814" y="0"/>
                  <a:pt x="5683250" y="28436"/>
                  <a:pt x="5683250" y="63514"/>
                </a:cubicBezTo>
                <a:lnTo>
                  <a:pt x="5683250" y="2889236"/>
                </a:lnTo>
                <a:cubicBezTo>
                  <a:pt x="5683250" y="2924314"/>
                  <a:pt x="5654814" y="2952750"/>
                  <a:pt x="5619736" y="2952750"/>
                </a:cubicBezTo>
                <a:lnTo>
                  <a:pt x="31750" y="2952750"/>
                </a:lnTo>
                <a:cubicBezTo>
                  <a:pt x="14227" y="2952750"/>
                  <a:pt x="0" y="2938523"/>
                  <a:pt x="0" y="292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953160"/>
            <a:ext cx="31750" cy="2952750"/>
          </a:xfrm>
          <a:custGeom>
            <a:avLst/>
            <a:gdLst/>
            <a:ahLst/>
            <a:cxnLst/>
            <a:rect l="l" t="t" r="r" b="b"/>
            <a:pathLst>
              <a:path w="31750" h="2952750">
                <a:moveTo>
                  <a:pt x="31750" y="0"/>
                </a:moveTo>
                <a:lnTo>
                  <a:pt x="31750" y="0"/>
                </a:lnTo>
                <a:lnTo>
                  <a:pt x="31750" y="2952750"/>
                </a:lnTo>
                <a:lnTo>
                  <a:pt x="31750" y="2952750"/>
                </a:lnTo>
                <a:cubicBezTo>
                  <a:pt x="14227" y="2952750"/>
                  <a:pt x="0" y="2938523"/>
                  <a:pt x="0" y="292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111910"/>
            <a:ext cx="544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肘部法则 (</a:t>
            </a:r>
            <a:r>
              <a:rPr lang="en-US" sz="15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Elbow Method</a:t>
            </a: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461160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随着K值增加,SSE会自然减小。我们寻找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SSE下降速率突然变缓的转折点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(肘部),该点对应的K值通常是最佳聚类数。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96916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250" y="20644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22549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KK_optimal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时,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SSE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下降变缓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60416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03250" y="26994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" y="28899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直观易懂,计算简单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320741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3250" y="330266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" y="349316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肘部点不明显时难以判断; 受随机性影响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953160"/>
            <a:ext cx="5683250" cy="2952750"/>
          </a:xfrm>
          <a:custGeom>
            <a:avLst/>
            <a:gdLst/>
            <a:ahLst/>
            <a:cxnLst/>
            <a:rect l="l" t="t" r="r" b="b"/>
            <a:pathLst>
              <a:path w="5683250" h="2952750">
                <a:moveTo>
                  <a:pt x="31750" y="0"/>
                </a:moveTo>
                <a:lnTo>
                  <a:pt x="5619736" y="0"/>
                </a:lnTo>
                <a:cubicBezTo>
                  <a:pt x="5654814" y="0"/>
                  <a:pt x="5683250" y="28436"/>
                  <a:pt x="5683250" y="63514"/>
                </a:cubicBezTo>
                <a:lnTo>
                  <a:pt x="5683250" y="2889236"/>
                </a:lnTo>
                <a:cubicBezTo>
                  <a:pt x="5683250" y="2924314"/>
                  <a:pt x="5654814" y="2952750"/>
                  <a:pt x="5619736" y="2952750"/>
                </a:cubicBezTo>
                <a:lnTo>
                  <a:pt x="31750" y="2952750"/>
                </a:lnTo>
                <a:cubicBezTo>
                  <a:pt x="14227" y="2952750"/>
                  <a:pt x="0" y="2938523"/>
                  <a:pt x="0" y="292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91250" y="953160"/>
            <a:ext cx="31750" cy="2952750"/>
          </a:xfrm>
          <a:custGeom>
            <a:avLst/>
            <a:gdLst/>
            <a:ahLst/>
            <a:cxnLst/>
            <a:rect l="l" t="t" r="r" b="b"/>
            <a:pathLst>
              <a:path w="31750" h="2952750">
                <a:moveTo>
                  <a:pt x="31750" y="0"/>
                </a:moveTo>
                <a:lnTo>
                  <a:pt x="31750" y="0"/>
                </a:lnTo>
                <a:lnTo>
                  <a:pt x="31750" y="2952750"/>
                </a:lnTo>
                <a:lnTo>
                  <a:pt x="31750" y="2952750"/>
                </a:lnTo>
                <a:cubicBezTo>
                  <a:pt x="14227" y="2952750"/>
                  <a:pt x="0" y="2938523"/>
                  <a:pt x="0" y="292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65875" y="1111910"/>
            <a:ext cx="544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轮廓系数法 (</a:t>
            </a:r>
            <a:r>
              <a:rPr lang="en-US" sz="15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Silhouette Score</a:t>
            </a: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5875" y="1461160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计算不同K值下的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轮廓系数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,选择系数最高的K值。轮廓系数综合考虑了簇内紧密度和簇间分离度。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5875" y="196916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61125" y="20644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取值范围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1125" y="22549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[-1, 1], 越大表示聚类效果越好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5875" y="260416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61125" y="26994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61125" y="28899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综合考虑簇内紧密度和簇间分离度; 结果标准化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5875" y="320741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61125" y="330266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61125" y="349316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计算复杂度O(n²),较慢; 不适合大数据集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7500" y="3969850"/>
            <a:ext cx="11557000" cy="2254250"/>
          </a:xfrm>
          <a:custGeom>
            <a:avLst/>
            <a:gdLst/>
            <a:ahLst/>
            <a:cxnLst/>
            <a:rect l="l" t="t" r="r" b="b"/>
            <a:pathLst>
              <a:path w="11557000" h="2254250">
                <a:moveTo>
                  <a:pt x="63502" y="0"/>
                </a:moveTo>
                <a:lnTo>
                  <a:pt x="11493498" y="0"/>
                </a:lnTo>
                <a:cubicBezTo>
                  <a:pt x="11528569" y="0"/>
                  <a:pt x="11557000" y="28431"/>
                  <a:pt x="11557000" y="63502"/>
                </a:cubicBezTo>
                <a:lnTo>
                  <a:pt x="11557000" y="2190748"/>
                </a:lnTo>
                <a:cubicBezTo>
                  <a:pt x="11557000" y="2225819"/>
                  <a:pt x="11528569" y="2254250"/>
                  <a:pt x="11493498" y="2254250"/>
                </a:cubicBezTo>
                <a:lnTo>
                  <a:pt x="63502" y="2254250"/>
                </a:lnTo>
                <a:cubicBezTo>
                  <a:pt x="28431" y="2254250"/>
                  <a:pt x="0" y="2225819"/>
                  <a:pt x="0" y="21907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6250" y="4128600"/>
            <a:ext cx="1131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Python代码实现: 轮廓系数法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6250" y="4446100"/>
            <a:ext cx="5556250" cy="1619250"/>
          </a:xfrm>
          <a:custGeom>
            <a:avLst/>
            <a:gdLst/>
            <a:ahLst/>
            <a:cxnLst/>
            <a:rect l="l" t="t" r="r" b="b"/>
            <a:pathLst>
              <a:path w="5556250" h="1619250">
                <a:moveTo>
                  <a:pt x="31753" y="0"/>
                </a:moveTo>
                <a:lnTo>
                  <a:pt x="5524497" y="0"/>
                </a:lnTo>
                <a:cubicBezTo>
                  <a:pt x="5542033" y="0"/>
                  <a:pt x="5556250" y="14217"/>
                  <a:pt x="5556250" y="31753"/>
                </a:cubicBezTo>
                <a:lnTo>
                  <a:pt x="5556250" y="1587497"/>
                </a:lnTo>
                <a:cubicBezTo>
                  <a:pt x="5556250" y="1605033"/>
                  <a:pt x="5542033" y="1619250"/>
                  <a:pt x="5524497" y="1619250"/>
                </a:cubicBezTo>
                <a:lnTo>
                  <a:pt x="31753" y="1619250"/>
                </a:lnTo>
                <a:cubicBezTo>
                  <a:pt x="14217" y="1619250"/>
                  <a:pt x="0" y="1605033"/>
                  <a:pt x="0" y="1587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71500" y="45413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计算不同K值的轮廓系数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" y="47001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scores = []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71500" y="48588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k_range = range(2, 10)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71500" y="51763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遍历K值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53351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for k in k_range: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71500" y="54938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kmeans = KMeans(n_clusters=k)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71500" y="56526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score = silhouette_score(X, kmeans.labels_)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71500" y="58113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scores.append(score)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59500" y="4446100"/>
            <a:ext cx="5556250" cy="1619250"/>
          </a:xfrm>
          <a:custGeom>
            <a:avLst/>
            <a:gdLst/>
            <a:ahLst/>
            <a:cxnLst/>
            <a:rect l="l" t="t" r="r" b="b"/>
            <a:pathLst>
              <a:path w="5556250" h="1619250">
                <a:moveTo>
                  <a:pt x="31753" y="0"/>
                </a:moveTo>
                <a:lnTo>
                  <a:pt x="5524497" y="0"/>
                </a:lnTo>
                <a:cubicBezTo>
                  <a:pt x="5542033" y="0"/>
                  <a:pt x="5556250" y="14217"/>
                  <a:pt x="5556250" y="31753"/>
                </a:cubicBezTo>
                <a:lnTo>
                  <a:pt x="5556250" y="1587497"/>
                </a:lnTo>
                <a:cubicBezTo>
                  <a:pt x="5556250" y="1605033"/>
                  <a:pt x="5542033" y="1619250"/>
                  <a:pt x="5524497" y="1619250"/>
                </a:cubicBezTo>
                <a:lnTo>
                  <a:pt x="31753" y="1619250"/>
                </a:lnTo>
                <a:cubicBezTo>
                  <a:pt x="14217" y="1619250"/>
                  <a:pt x="0" y="1605033"/>
                  <a:pt x="0" y="1587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254750" y="45413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绘制轮廓系数曲线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54750" y="47001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plt.plot(k_range, scores)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254750" y="48588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plt.xlabel('K')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54750" y="50176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plt.ylabel('Silhouette Score')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54750" y="51763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plt.show()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54750" y="54938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选择最高分对应的K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54750" y="565260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best_k = k_range[np.argmax(scores)]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21469" y="6302519"/>
            <a:ext cx="11549063" cy="452438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63500" y="0"/>
                </a:moveTo>
                <a:lnTo>
                  <a:pt x="11485563" y="0"/>
                </a:lnTo>
                <a:cubicBezTo>
                  <a:pt x="11520633" y="0"/>
                  <a:pt x="11549063" y="28430"/>
                  <a:pt x="11549063" y="63500"/>
                </a:cubicBezTo>
                <a:lnTo>
                  <a:pt x="11549063" y="388938"/>
                </a:lnTo>
                <a:cubicBezTo>
                  <a:pt x="11549063" y="424008"/>
                  <a:pt x="11520633" y="452438"/>
                  <a:pt x="11485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76250" y="64334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85813" y="6433487"/>
            <a:ext cx="595131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实践建议: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可以同时使用多种方法交叉验证。如果肘部法则和轮廓系数法得出的K值一致,则结果更可靠。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kern="0" spc="53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PRACTICE (3)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611298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K-Means实战: 模型训练与结果解读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591" y="1120713"/>
            <a:ext cx="5654507" cy="2903666"/>
          </a:xfrm>
          <a:custGeom>
            <a:avLst/>
            <a:gdLst/>
            <a:ahLst/>
            <a:cxnLst/>
            <a:rect l="l" t="t" r="r" b="b"/>
            <a:pathLst>
              <a:path w="5654507" h="2903666">
                <a:moveTo>
                  <a:pt x="33961" y="0"/>
                </a:moveTo>
                <a:lnTo>
                  <a:pt x="5586590" y="0"/>
                </a:lnTo>
                <a:cubicBezTo>
                  <a:pt x="5624100" y="0"/>
                  <a:pt x="5654507" y="30407"/>
                  <a:pt x="5654507" y="67917"/>
                </a:cubicBezTo>
                <a:lnTo>
                  <a:pt x="5654507" y="2835749"/>
                </a:lnTo>
                <a:cubicBezTo>
                  <a:pt x="5654507" y="2873258"/>
                  <a:pt x="5624100" y="2903666"/>
                  <a:pt x="5586590" y="2903666"/>
                </a:cubicBezTo>
                <a:lnTo>
                  <a:pt x="33961" y="2903666"/>
                </a:lnTo>
                <a:cubicBezTo>
                  <a:pt x="15205" y="2903666"/>
                  <a:pt x="0" y="2888461"/>
                  <a:pt x="0" y="2869705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56591" y="1120713"/>
            <a:ext cx="33961" cy="2903666"/>
          </a:xfrm>
          <a:custGeom>
            <a:avLst/>
            <a:gdLst/>
            <a:ahLst/>
            <a:cxnLst/>
            <a:rect l="l" t="t" r="r" b="b"/>
            <a:pathLst>
              <a:path w="33961" h="2903666">
                <a:moveTo>
                  <a:pt x="33961" y="0"/>
                </a:moveTo>
                <a:lnTo>
                  <a:pt x="33961" y="0"/>
                </a:lnTo>
                <a:lnTo>
                  <a:pt x="33961" y="2903666"/>
                </a:lnTo>
                <a:lnTo>
                  <a:pt x="33961" y="2903666"/>
                </a:lnTo>
                <a:cubicBezTo>
                  <a:pt x="15205" y="2903666"/>
                  <a:pt x="0" y="2888461"/>
                  <a:pt x="0" y="2869705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3376" y="1290518"/>
            <a:ext cx="538281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3376" y="1630128"/>
            <a:ext cx="5365838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假设通过轮廓系数法确定</a:t>
            </a:r>
            <a:r>
              <a:rPr lang="en-US" sz="107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最优K值为3</a:t>
            </a:r>
            <a:r>
              <a:rPr lang="en-US" sz="107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,接下来进行聚类并分析结果。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3376" y="1952758"/>
            <a:ext cx="5297916" cy="1222596"/>
          </a:xfrm>
          <a:custGeom>
            <a:avLst/>
            <a:gdLst/>
            <a:ahLst/>
            <a:cxnLst/>
            <a:rect l="l" t="t" r="r" b="b"/>
            <a:pathLst>
              <a:path w="5297916" h="1222596">
                <a:moveTo>
                  <a:pt x="33964" y="0"/>
                </a:moveTo>
                <a:lnTo>
                  <a:pt x="5263953" y="0"/>
                </a:lnTo>
                <a:cubicBezTo>
                  <a:pt x="5282710" y="0"/>
                  <a:pt x="5297916" y="15206"/>
                  <a:pt x="5297916" y="33964"/>
                </a:cubicBezTo>
                <a:lnTo>
                  <a:pt x="5297916" y="1188632"/>
                </a:lnTo>
                <a:cubicBezTo>
                  <a:pt x="5297916" y="1207390"/>
                  <a:pt x="5282710" y="1222596"/>
                  <a:pt x="5263953" y="1222596"/>
                </a:cubicBezTo>
                <a:lnTo>
                  <a:pt x="33964" y="1222596"/>
                </a:lnTo>
                <a:cubicBezTo>
                  <a:pt x="15206" y="1222596"/>
                  <a:pt x="0" y="1207390"/>
                  <a:pt x="0" y="1188632"/>
                </a:cubicBezTo>
                <a:lnTo>
                  <a:pt x="0" y="33964"/>
                </a:lnTo>
                <a:cubicBezTo>
                  <a:pt x="0" y="15219"/>
                  <a:pt x="15219" y="0"/>
                  <a:pt x="339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5259" y="2054641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训练模型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259" y="2224446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kmeans = KMeans(n_clusters=3)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5259" y="2394251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kmeans.fit(X_scaled)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5259" y="2733861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获取聚类标签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259" y="2903666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beer['cluster'] = kmeans.labels_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3376" y="3277237"/>
            <a:ext cx="5297916" cy="577337"/>
          </a:xfrm>
          <a:custGeom>
            <a:avLst/>
            <a:gdLst/>
            <a:ahLst/>
            <a:cxnLst/>
            <a:rect l="l" t="t" r="r" b="b"/>
            <a:pathLst>
              <a:path w="5297916" h="577337">
                <a:moveTo>
                  <a:pt x="33959" y="0"/>
                </a:moveTo>
                <a:lnTo>
                  <a:pt x="5263957" y="0"/>
                </a:lnTo>
                <a:cubicBezTo>
                  <a:pt x="5282700" y="0"/>
                  <a:pt x="5297916" y="15217"/>
                  <a:pt x="5297916" y="33959"/>
                </a:cubicBezTo>
                <a:lnTo>
                  <a:pt x="5297916" y="543378"/>
                </a:lnTo>
                <a:cubicBezTo>
                  <a:pt x="5297916" y="562121"/>
                  <a:pt x="5282700" y="577337"/>
                  <a:pt x="5263957" y="577337"/>
                </a:cubicBezTo>
                <a:lnTo>
                  <a:pt x="33959" y="577337"/>
                </a:lnTo>
                <a:cubicBezTo>
                  <a:pt x="15217" y="577337"/>
                  <a:pt x="0" y="562121"/>
                  <a:pt x="0" y="543378"/>
                </a:cubicBezTo>
                <a:lnTo>
                  <a:pt x="0" y="33959"/>
                </a:lnTo>
                <a:cubicBezTo>
                  <a:pt x="0" y="15217"/>
                  <a:pt x="15217" y="0"/>
                  <a:pt x="33959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5259" y="3379120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259" y="3582886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每个啤酒样本被分配到簇0、1或2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740" y="1120713"/>
            <a:ext cx="5654507" cy="2903666"/>
          </a:xfrm>
          <a:custGeom>
            <a:avLst/>
            <a:gdLst/>
            <a:ahLst/>
            <a:cxnLst/>
            <a:rect l="l" t="t" r="r" b="b"/>
            <a:pathLst>
              <a:path w="5654507" h="2903666">
                <a:moveTo>
                  <a:pt x="33961" y="0"/>
                </a:moveTo>
                <a:lnTo>
                  <a:pt x="5586590" y="0"/>
                </a:lnTo>
                <a:cubicBezTo>
                  <a:pt x="5624100" y="0"/>
                  <a:pt x="5654507" y="30407"/>
                  <a:pt x="5654507" y="67917"/>
                </a:cubicBezTo>
                <a:lnTo>
                  <a:pt x="5654507" y="2835749"/>
                </a:lnTo>
                <a:cubicBezTo>
                  <a:pt x="5654507" y="2873258"/>
                  <a:pt x="5624100" y="2903666"/>
                  <a:pt x="5586590" y="2903666"/>
                </a:cubicBezTo>
                <a:lnTo>
                  <a:pt x="33961" y="2903666"/>
                </a:lnTo>
                <a:cubicBezTo>
                  <a:pt x="15205" y="2903666"/>
                  <a:pt x="0" y="2888461"/>
                  <a:pt x="0" y="2869705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99740" y="1120713"/>
            <a:ext cx="33961" cy="2903666"/>
          </a:xfrm>
          <a:custGeom>
            <a:avLst/>
            <a:gdLst/>
            <a:ahLst/>
            <a:cxnLst/>
            <a:rect l="l" t="t" r="r" b="b"/>
            <a:pathLst>
              <a:path w="33961" h="2903666">
                <a:moveTo>
                  <a:pt x="33961" y="0"/>
                </a:moveTo>
                <a:lnTo>
                  <a:pt x="33961" y="0"/>
                </a:lnTo>
                <a:lnTo>
                  <a:pt x="33961" y="2903666"/>
                </a:lnTo>
                <a:lnTo>
                  <a:pt x="33961" y="2903666"/>
                </a:lnTo>
                <a:cubicBezTo>
                  <a:pt x="15205" y="2903666"/>
                  <a:pt x="0" y="2888461"/>
                  <a:pt x="0" y="2869705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86526" y="1290518"/>
            <a:ext cx="538281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分析各簇特征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6526" y="1630128"/>
            <a:ext cx="5365838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通过计算每个簇内样本的原始特征均值,可以赋予每个簇</a:t>
            </a:r>
            <a:r>
              <a:rPr lang="en-US" sz="107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业务含义</a:t>
            </a:r>
            <a:r>
              <a:rPr lang="en-US" sz="107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6526" y="1952758"/>
            <a:ext cx="5297916" cy="713181"/>
          </a:xfrm>
          <a:custGeom>
            <a:avLst/>
            <a:gdLst/>
            <a:ahLst/>
            <a:cxnLst/>
            <a:rect l="l" t="t" r="r" b="b"/>
            <a:pathLst>
              <a:path w="5297916" h="713181">
                <a:moveTo>
                  <a:pt x="33962" y="0"/>
                </a:moveTo>
                <a:lnTo>
                  <a:pt x="5263955" y="0"/>
                </a:lnTo>
                <a:cubicBezTo>
                  <a:pt x="5282711" y="0"/>
                  <a:pt x="5297916" y="15205"/>
                  <a:pt x="5297916" y="33962"/>
                </a:cubicBezTo>
                <a:lnTo>
                  <a:pt x="5297916" y="679219"/>
                </a:lnTo>
                <a:cubicBezTo>
                  <a:pt x="5297916" y="697976"/>
                  <a:pt x="5282711" y="713181"/>
                  <a:pt x="5263955" y="713181"/>
                </a:cubicBezTo>
                <a:lnTo>
                  <a:pt x="33962" y="713181"/>
                </a:lnTo>
                <a:cubicBezTo>
                  <a:pt x="15205" y="713181"/>
                  <a:pt x="0" y="697976"/>
                  <a:pt x="0" y="679219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88409" y="2054641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查看各簇的均值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8409" y="2224446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cluster_means = beer.groupby('cluster')[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88409" y="2394251"/>
            <a:ext cx="515358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['calories','sodium','alcohol','cost']].mean()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86526" y="2767822"/>
            <a:ext cx="5297916" cy="305649"/>
          </a:xfrm>
          <a:custGeom>
            <a:avLst/>
            <a:gdLst/>
            <a:ahLst/>
            <a:cxnLst/>
            <a:rect l="l" t="t" r="r" b="b"/>
            <a:pathLst>
              <a:path w="5297916" h="305649">
                <a:moveTo>
                  <a:pt x="33961" y="0"/>
                </a:moveTo>
                <a:lnTo>
                  <a:pt x="5263956" y="0"/>
                </a:lnTo>
                <a:cubicBezTo>
                  <a:pt x="5282712" y="0"/>
                  <a:pt x="5297916" y="15205"/>
                  <a:pt x="5297916" y="33961"/>
                </a:cubicBezTo>
                <a:lnTo>
                  <a:pt x="5297916" y="271688"/>
                </a:lnTo>
                <a:cubicBezTo>
                  <a:pt x="5297916" y="290444"/>
                  <a:pt x="5282712" y="305649"/>
                  <a:pt x="5263956" y="305649"/>
                </a:cubicBezTo>
                <a:lnTo>
                  <a:pt x="33961" y="305649"/>
                </a:lnTo>
                <a:cubicBezTo>
                  <a:pt x="15217" y="305649"/>
                  <a:pt x="0" y="290432"/>
                  <a:pt x="0" y="271688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54448" y="2839989"/>
            <a:ext cx="281638" cy="15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簇0: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4272" y="2839989"/>
            <a:ext cx="1316785" cy="15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低热量、低酒精 → 轻啤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6526" y="3107432"/>
            <a:ext cx="5297916" cy="305649"/>
          </a:xfrm>
          <a:custGeom>
            <a:avLst/>
            <a:gdLst/>
            <a:ahLst/>
            <a:cxnLst/>
            <a:rect l="l" t="t" r="r" b="b"/>
            <a:pathLst>
              <a:path w="5297916" h="305649">
                <a:moveTo>
                  <a:pt x="33961" y="0"/>
                </a:moveTo>
                <a:lnTo>
                  <a:pt x="5263956" y="0"/>
                </a:lnTo>
                <a:cubicBezTo>
                  <a:pt x="5282712" y="0"/>
                  <a:pt x="5297916" y="15205"/>
                  <a:pt x="5297916" y="33961"/>
                </a:cubicBezTo>
                <a:lnTo>
                  <a:pt x="5297916" y="271688"/>
                </a:lnTo>
                <a:cubicBezTo>
                  <a:pt x="5297916" y="290444"/>
                  <a:pt x="5282712" y="305649"/>
                  <a:pt x="5263956" y="305649"/>
                </a:cubicBezTo>
                <a:lnTo>
                  <a:pt x="33961" y="305649"/>
                </a:lnTo>
                <a:cubicBezTo>
                  <a:pt x="15217" y="305649"/>
                  <a:pt x="0" y="290432"/>
                  <a:pt x="0" y="271688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54448" y="3179599"/>
            <a:ext cx="253779" cy="15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簇1: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24272" y="3179598"/>
            <a:ext cx="1977370" cy="191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高热量、高酒精 → 精酿/烈性啤酒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86526" y="3447042"/>
            <a:ext cx="5297916" cy="305649"/>
          </a:xfrm>
          <a:custGeom>
            <a:avLst/>
            <a:gdLst/>
            <a:ahLst/>
            <a:cxnLst/>
            <a:rect l="l" t="t" r="r" b="b"/>
            <a:pathLst>
              <a:path w="5297916" h="305649">
                <a:moveTo>
                  <a:pt x="33961" y="0"/>
                </a:moveTo>
                <a:lnTo>
                  <a:pt x="5263956" y="0"/>
                </a:lnTo>
                <a:cubicBezTo>
                  <a:pt x="5282712" y="0"/>
                  <a:pt x="5297916" y="15205"/>
                  <a:pt x="5297916" y="33961"/>
                </a:cubicBezTo>
                <a:lnTo>
                  <a:pt x="5297916" y="271688"/>
                </a:lnTo>
                <a:cubicBezTo>
                  <a:pt x="5297916" y="290444"/>
                  <a:pt x="5282712" y="305649"/>
                  <a:pt x="5263956" y="305649"/>
                </a:cubicBezTo>
                <a:lnTo>
                  <a:pt x="33961" y="305649"/>
                </a:lnTo>
                <a:cubicBezTo>
                  <a:pt x="15217" y="305649"/>
                  <a:pt x="0" y="290432"/>
                  <a:pt x="0" y="271688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54448" y="3519209"/>
            <a:ext cx="273877" cy="15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簇2: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4272" y="3519209"/>
            <a:ext cx="1673375" cy="15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中等热量、高成本 → 高端品牌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9610" y="4160223"/>
            <a:ext cx="11512780" cy="1732011"/>
          </a:xfrm>
          <a:custGeom>
            <a:avLst/>
            <a:gdLst/>
            <a:ahLst/>
            <a:cxnLst/>
            <a:rect l="l" t="t" r="r" b="b"/>
            <a:pathLst>
              <a:path w="11512780" h="1732011">
                <a:moveTo>
                  <a:pt x="67929" y="0"/>
                </a:moveTo>
                <a:lnTo>
                  <a:pt x="11444850" y="0"/>
                </a:lnTo>
                <a:cubicBezTo>
                  <a:pt x="11482367" y="0"/>
                  <a:pt x="11512780" y="30413"/>
                  <a:pt x="11512780" y="67929"/>
                </a:cubicBezTo>
                <a:lnTo>
                  <a:pt x="11512780" y="1664082"/>
                </a:lnTo>
                <a:cubicBezTo>
                  <a:pt x="11512780" y="1701598"/>
                  <a:pt x="11482367" y="1732011"/>
                  <a:pt x="11444850" y="1732011"/>
                </a:cubicBezTo>
                <a:lnTo>
                  <a:pt x="67929" y="1732011"/>
                </a:lnTo>
                <a:cubicBezTo>
                  <a:pt x="30413" y="1732011"/>
                  <a:pt x="0" y="1701598"/>
                  <a:pt x="0" y="1664082"/>
                </a:cubicBezTo>
                <a:lnTo>
                  <a:pt x="0" y="67929"/>
                </a:lnTo>
                <a:cubicBezTo>
                  <a:pt x="0" y="30438"/>
                  <a:pt x="30438" y="0"/>
                  <a:pt x="67929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09415" y="4330028"/>
            <a:ext cx="1125807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可视化聚类结果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9415" y="4669638"/>
            <a:ext cx="5518663" cy="1052791"/>
          </a:xfrm>
          <a:custGeom>
            <a:avLst/>
            <a:gdLst/>
            <a:ahLst/>
            <a:cxnLst/>
            <a:rect l="l" t="t" r="r" b="b"/>
            <a:pathLst>
              <a:path w="5518663" h="1052791">
                <a:moveTo>
                  <a:pt x="33963" y="0"/>
                </a:moveTo>
                <a:lnTo>
                  <a:pt x="5484700" y="0"/>
                </a:lnTo>
                <a:cubicBezTo>
                  <a:pt x="5503457" y="0"/>
                  <a:pt x="5518663" y="15206"/>
                  <a:pt x="5518663" y="33963"/>
                </a:cubicBezTo>
                <a:lnTo>
                  <a:pt x="5518663" y="1018828"/>
                </a:lnTo>
                <a:cubicBezTo>
                  <a:pt x="5518663" y="1037585"/>
                  <a:pt x="5503457" y="1052791"/>
                  <a:pt x="5484700" y="1052791"/>
                </a:cubicBezTo>
                <a:lnTo>
                  <a:pt x="33963" y="1052791"/>
                </a:lnTo>
                <a:cubicBezTo>
                  <a:pt x="15206" y="1052791"/>
                  <a:pt x="0" y="1037585"/>
                  <a:pt x="0" y="1018828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11298" y="4771521"/>
            <a:ext cx="5382819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散点图展示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1298" y="5043209"/>
            <a:ext cx="537432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选择两个特征(如热量vs酒精)绘制散点图,用不同颜色标识不同簇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1298" y="5280936"/>
            <a:ext cx="5374329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plt.scatter(beer['calories'], beer['alcohol'],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c=colors[beer['cluster']])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65779" y="4669638"/>
            <a:ext cx="5518663" cy="1052791"/>
          </a:xfrm>
          <a:custGeom>
            <a:avLst/>
            <a:gdLst/>
            <a:ahLst/>
            <a:cxnLst/>
            <a:rect l="l" t="t" r="r" b="b"/>
            <a:pathLst>
              <a:path w="5518663" h="1052791">
                <a:moveTo>
                  <a:pt x="33963" y="0"/>
                </a:moveTo>
                <a:lnTo>
                  <a:pt x="5484700" y="0"/>
                </a:lnTo>
                <a:cubicBezTo>
                  <a:pt x="5503457" y="0"/>
                  <a:pt x="5518663" y="15206"/>
                  <a:pt x="5518663" y="33963"/>
                </a:cubicBezTo>
                <a:lnTo>
                  <a:pt x="5518663" y="1018828"/>
                </a:lnTo>
                <a:cubicBezTo>
                  <a:pt x="5518663" y="1037585"/>
                  <a:pt x="5503457" y="1052791"/>
                  <a:pt x="5484700" y="1052791"/>
                </a:cubicBezTo>
                <a:lnTo>
                  <a:pt x="33963" y="1052791"/>
                </a:lnTo>
                <a:cubicBezTo>
                  <a:pt x="15206" y="1052791"/>
                  <a:pt x="0" y="1037585"/>
                  <a:pt x="0" y="1018828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773149" y="4890384"/>
            <a:ext cx="305649" cy="305649"/>
          </a:xfrm>
          <a:custGeom>
            <a:avLst/>
            <a:gdLst/>
            <a:ahLst/>
            <a:cxnLst/>
            <a:rect l="l" t="t" r="r" b="b"/>
            <a:pathLst>
              <a:path w="305649" h="305649">
                <a:moveTo>
                  <a:pt x="39340" y="136408"/>
                </a:moveTo>
                <a:cubicBezTo>
                  <a:pt x="47280" y="80890"/>
                  <a:pt x="95097" y="38206"/>
                  <a:pt x="152825" y="38206"/>
                </a:cubicBezTo>
                <a:cubicBezTo>
                  <a:pt x="184464" y="38206"/>
                  <a:pt x="213119" y="51041"/>
                  <a:pt x="233893" y="71756"/>
                </a:cubicBezTo>
                <a:cubicBezTo>
                  <a:pt x="234013" y="71875"/>
                  <a:pt x="234132" y="71995"/>
                  <a:pt x="234251" y="72114"/>
                </a:cubicBezTo>
                <a:lnTo>
                  <a:pt x="238788" y="76412"/>
                </a:lnTo>
                <a:lnTo>
                  <a:pt x="210193" y="76412"/>
                </a:lnTo>
                <a:cubicBezTo>
                  <a:pt x="199627" y="76412"/>
                  <a:pt x="191090" y="84949"/>
                  <a:pt x="191090" y="95515"/>
                </a:cubicBezTo>
                <a:cubicBezTo>
                  <a:pt x="191090" y="106082"/>
                  <a:pt x="199627" y="114618"/>
                  <a:pt x="210193" y="114618"/>
                </a:cubicBezTo>
                <a:lnTo>
                  <a:pt x="286606" y="114618"/>
                </a:lnTo>
                <a:cubicBezTo>
                  <a:pt x="297172" y="114618"/>
                  <a:pt x="305709" y="106082"/>
                  <a:pt x="305709" y="95515"/>
                </a:cubicBezTo>
                <a:lnTo>
                  <a:pt x="305709" y="19103"/>
                </a:lnTo>
                <a:cubicBezTo>
                  <a:pt x="305709" y="8537"/>
                  <a:pt x="297172" y="0"/>
                  <a:pt x="286606" y="0"/>
                </a:cubicBezTo>
                <a:cubicBezTo>
                  <a:pt x="276039" y="0"/>
                  <a:pt x="267503" y="8537"/>
                  <a:pt x="267503" y="19103"/>
                </a:cubicBezTo>
                <a:lnTo>
                  <a:pt x="267503" y="50981"/>
                </a:lnTo>
                <a:lnTo>
                  <a:pt x="260757" y="44594"/>
                </a:lnTo>
                <a:cubicBezTo>
                  <a:pt x="233117" y="17073"/>
                  <a:pt x="194911" y="0"/>
                  <a:pt x="152825" y="0"/>
                </a:cubicBezTo>
                <a:cubicBezTo>
                  <a:pt x="75815" y="0"/>
                  <a:pt x="12119" y="56951"/>
                  <a:pt x="1552" y="131035"/>
                </a:cubicBezTo>
                <a:cubicBezTo>
                  <a:pt x="60" y="141482"/>
                  <a:pt x="7283" y="151153"/>
                  <a:pt x="17730" y="152645"/>
                </a:cubicBezTo>
                <a:cubicBezTo>
                  <a:pt x="28177" y="154138"/>
                  <a:pt x="37848" y="146855"/>
                  <a:pt x="39340" y="136468"/>
                </a:cubicBezTo>
                <a:close/>
                <a:moveTo>
                  <a:pt x="304097" y="174614"/>
                </a:moveTo>
                <a:cubicBezTo>
                  <a:pt x="305589" y="164167"/>
                  <a:pt x="298306" y="154496"/>
                  <a:pt x="287919" y="153004"/>
                </a:cubicBezTo>
                <a:cubicBezTo>
                  <a:pt x="277532" y="151511"/>
                  <a:pt x="267801" y="158794"/>
                  <a:pt x="266309" y="169182"/>
                </a:cubicBezTo>
                <a:cubicBezTo>
                  <a:pt x="258369" y="224700"/>
                  <a:pt x="210552" y="267383"/>
                  <a:pt x="152825" y="267383"/>
                </a:cubicBezTo>
                <a:cubicBezTo>
                  <a:pt x="121185" y="267383"/>
                  <a:pt x="92530" y="254548"/>
                  <a:pt x="71756" y="233833"/>
                </a:cubicBezTo>
                <a:cubicBezTo>
                  <a:pt x="71636" y="233714"/>
                  <a:pt x="71517" y="233595"/>
                  <a:pt x="71398" y="233475"/>
                </a:cubicBezTo>
                <a:lnTo>
                  <a:pt x="66861" y="229177"/>
                </a:lnTo>
                <a:lnTo>
                  <a:pt x="95456" y="229177"/>
                </a:lnTo>
                <a:cubicBezTo>
                  <a:pt x="106022" y="229177"/>
                  <a:pt x="114559" y="220640"/>
                  <a:pt x="114559" y="210074"/>
                </a:cubicBezTo>
                <a:cubicBezTo>
                  <a:pt x="114559" y="199508"/>
                  <a:pt x="106022" y="190971"/>
                  <a:pt x="95456" y="190971"/>
                </a:cubicBezTo>
                <a:lnTo>
                  <a:pt x="19103" y="191031"/>
                </a:lnTo>
                <a:cubicBezTo>
                  <a:pt x="14029" y="191031"/>
                  <a:pt x="9134" y="193060"/>
                  <a:pt x="5552" y="196702"/>
                </a:cubicBezTo>
                <a:cubicBezTo>
                  <a:pt x="1970" y="200343"/>
                  <a:pt x="-60" y="205179"/>
                  <a:pt x="0" y="210313"/>
                </a:cubicBezTo>
                <a:lnTo>
                  <a:pt x="597" y="286128"/>
                </a:lnTo>
                <a:cubicBezTo>
                  <a:pt x="657" y="296694"/>
                  <a:pt x="9313" y="305171"/>
                  <a:pt x="19879" y="305052"/>
                </a:cubicBezTo>
                <a:cubicBezTo>
                  <a:pt x="30446" y="304933"/>
                  <a:pt x="38922" y="296336"/>
                  <a:pt x="38803" y="285770"/>
                </a:cubicBezTo>
                <a:lnTo>
                  <a:pt x="38564" y="255026"/>
                </a:lnTo>
                <a:lnTo>
                  <a:pt x="44952" y="261055"/>
                </a:lnTo>
                <a:cubicBezTo>
                  <a:pt x="72592" y="288576"/>
                  <a:pt x="110738" y="305649"/>
                  <a:pt x="152825" y="305649"/>
                </a:cubicBezTo>
                <a:cubicBezTo>
                  <a:pt x="229834" y="305649"/>
                  <a:pt x="293531" y="248698"/>
                  <a:pt x="304097" y="174614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108860" y="5297916"/>
            <a:ext cx="36338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通过可视化可以直观地验证聚类效果,观察簇的分布是否合理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3855" y="6032323"/>
            <a:ext cx="11504290" cy="483944"/>
          </a:xfrm>
          <a:custGeom>
            <a:avLst/>
            <a:gdLst/>
            <a:ahLst/>
            <a:cxnLst/>
            <a:rect l="l" t="t" r="r" b="b"/>
            <a:pathLst>
              <a:path w="11504290" h="483944">
                <a:moveTo>
                  <a:pt x="67922" y="0"/>
                </a:moveTo>
                <a:lnTo>
                  <a:pt x="11436368" y="0"/>
                </a:lnTo>
                <a:cubicBezTo>
                  <a:pt x="11473880" y="0"/>
                  <a:pt x="11504290" y="30410"/>
                  <a:pt x="11504290" y="67922"/>
                </a:cubicBezTo>
                <a:lnTo>
                  <a:pt x="11504290" y="416023"/>
                </a:lnTo>
                <a:cubicBezTo>
                  <a:pt x="11504290" y="453535"/>
                  <a:pt x="11473880" y="483944"/>
                  <a:pt x="11436368" y="483944"/>
                </a:cubicBezTo>
                <a:lnTo>
                  <a:pt x="67922" y="483944"/>
                </a:lnTo>
                <a:cubicBezTo>
                  <a:pt x="30410" y="483944"/>
                  <a:pt x="0" y="453535"/>
                  <a:pt x="0" y="416023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09415" y="6172412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203766"/>
                </a:moveTo>
                <a:cubicBezTo>
                  <a:pt x="158114" y="203766"/>
                  <a:pt x="203766" y="158114"/>
                  <a:pt x="203766" y="101883"/>
                </a:cubicBezTo>
                <a:cubicBezTo>
                  <a:pt x="203766" y="45652"/>
                  <a:pt x="158114" y="0"/>
                  <a:pt x="101883" y="0"/>
                </a:cubicBezTo>
                <a:cubicBezTo>
                  <a:pt x="45652" y="0"/>
                  <a:pt x="0" y="45652"/>
                  <a:pt x="0" y="101883"/>
                </a:cubicBezTo>
                <a:cubicBezTo>
                  <a:pt x="0" y="158114"/>
                  <a:pt x="45652" y="203766"/>
                  <a:pt x="101883" y="203766"/>
                </a:cubicBezTo>
                <a:close/>
                <a:moveTo>
                  <a:pt x="135473" y="84650"/>
                </a:moveTo>
                <a:lnTo>
                  <a:pt x="103634" y="135592"/>
                </a:lnTo>
                <a:cubicBezTo>
                  <a:pt x="101963" y="138258"/>
                  <a:pt x="99097" y="139930"/>
                  <a:pt x="95953" y="140089"/>
                </a:cubicBezTo>
                <a:cubicBezTo>
                  <a:pt x="92809" y="140248"/>
                  <a:pt x="89784" y="138816"/>
                  <a:pt x="87914" y="136269"/>
                </a:cubicBezTo>
                <a:lnTo>
                  <a:pt x="68811" y="110798"/>
                </a:lnTo>
                <a:cubicBezTo>
                  <a:pt x="65627" y="106579"/>
                  <a:pt x="66503" y="100609"/>
                  <a:pt x="70721" y="97426"/>
                </a:cubicBezTo>
                <a:cubicBezTo>
                  <a:pt x="74940" y="94242"/>
                  <a:pt x="80909" y="95117"/>
                  <a:pt x="84093" y="99336"/>
                </a:cubicBezTo>
                <a:lnTo>
                  <a:pt x="94839" y="113663"/>
                </a:lnTo>
                <a:lnTo>
                  <a:pt x="119275" y="74542"/>
                </a:lnTo>
                <a:cubicBezTo>
                  <a:pt x="122061" y="70084"/>
                  <a:pt x="127951" y="68691"/>
                  <a:pt x="132448" y="71517"/>
                </a:cubicBezTo>
                <a:cubicBezTo>
                  <a:pt x="136945" y="74343"/>
                  <a:pt x="138298" y="80193"/>
                  <a:pt x="135473" y="8469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40535" y="6172411"/>
            <a:ext cx="7294472" cy="21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成功!</a:t>
            </a:r>
            <a:r>
              <a:rPr lang="en-US" sz="107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通过K-Means聚类,我们成功地将啤酒分为三类,每类具有明确的业务含义,为产品定位和市场策略提供了数据支持。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kern="0" spc="52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EXERCISE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K-Means经典习题: 算法流程演练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927" y="1090341"/>
            <a:ext cx="11514667" cy="1784195"/>
          </a:xfrm>
          <a:custGeom>
            <a:avLst/>
            <a:gdLst/>
            <a:ahLst/>
            <a:cxnLst/>
            <a:rect l="l" t="t" r="r" b="b"/>
            <a:pathLst>
              <a:path w="11514667" h="1784195">
                <a:moveTo>
                  <a:pt x="33041" y="0"/>
                </a:moveTo>
                <a:lnTo>
                  <a:pt x="11448580" y="0"/>
                </a:lnTo>
                <a:cubicBezTo>
                  <a:pt x="11485079" y="0"/>
                  <a:pt x="11514667" y="29588"/>
                  <a:pt x="11514667" y="66087"/>
                </a:cubicBezTo>
                <a:lnTo>
                  <a:pt x="11514667" y="1718109"/>
                </a:lnTo>
                <a:cubicBezTo>
                  <a:pt x="11514667" y="1754607"/>
                  <a:pt x="11485079" y="1784195"/>
                  <a:pt x="11448580" y="1784195"/>
                </a:cubicBezTo>
                <a:lnTo>
                  <a:pt x="33041" y="1784195"/>
                </a:lnTo>
                <a:cubicBezTo>
                  <a:pt x="14793" y="1784195"/>
                  <a:pt x="0" y="1769402"/>
                  <a:pt x="0" y="175115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46927" y="1090341"/>
            <a:ext cx="33041" cy="1784195"/>
          </a:xfrm>
          <a:custGeom>
            <a:avLst/>
            <a:gdLst/>
            <a:ahLst/>
            <a:cxnLst/>
            <a:rect l="l" t="t" r="r" b="b"/>
            <a:pathLst>
              <a:path w="33041" h="1784195">
                <a:moveTo>
                  <a:pt x="33041" y="0"/>
                </a:moveTo>
                <a:lnTo>
                  <a:pt x="33041" y="0"/>
                </a:lnTo>
                <a:lnTo>
                  <a:pt x="33041" y="1784195"/>
                </a:lnTo>
                <a:lnTo>
                  <a:pt x="33041" y="1784195"/>
                </a:lnTo>
                <a:cubicBezTo>
                  <a:pt x="14793" y="1784195"/>
                  <a:pt x="0" y="1769402"/>
                  <a:pt x="0" y="175115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8650" y="1255545"/>
            <a:ext cx="1125034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题目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8650" y="1585951"/>
            <a:ext cx="11233821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已知二维平面上有6个点: </a:t>
            </a: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A(2,1)、B(3,5)、C(6,4)、D(5,6)、E(7,3)、F(1,3)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。根据K-Means算法的主要步骤,假设</a:t>
            </a: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K=3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</a:t>
            </a: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初始质心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随机选取为A(2,1)、C(6,4)、E(7,3),使用</a:t>
            </a: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欧氏距离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作为相似性判断,请问</a:t>
            </a: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最终收敛后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的聚类结果是?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8650" y="2114602"/>
            <a:ext cx="2717593" cy="594732"/>
          </a:xfrm>
          <a:custGeom>
            <a:avLst/>
            <a:gdLst/>
            <a:ahLst/>
            <a:cxnLst/>
            <a:rect l="l" t="t" r="r" b="b"/>
            <a:pathLst>
              <a:path w="2717593" h="594732">
                <a:moveTo>
                  <a:pt x="33043" y="0"/>
                </a:moveTo>
                <a:lnTo>
                  <a:pt x="2684550" y="0"/>
                </a:lnTo>
                <a:cubicBezTo>
                  <a:pt x="2702800" y="0"/>
                  <a:pt x="2717593" y="14794"/>
                  <a:pt x="2717593" y="33043"/>
                </a:cubicBezTo>
                <a:lnTo>
                  <a:pt x="2717593" y="561688"/>
                </a:lnTo>
                <a:cubicBezTo>
                  <a:pt x="2717593" y="579938"/>
                  <a:pt x="2702800" y="594732"/>
                  <a:pt x="2684550" y="594732"/>
                </a:cubicBezTo>
                <a:lnTo>
                  <a:pt x="33043" y="594732"/>
                </a:lnTo>
                <a:cubicBezTo>
                  <a:pt x="14794" y="594732"/>
                  <a:pt x="0" y="579938"/>
                  <a:pt x="0" y="561688"/>
                </a:cubicBezTo>
                <a:lnTo>
                  <a:pt x="0" y="33043"/>
                </a:lnTo>
                <a:cubicBezTo>
                  <a:pt x="0" y="14794"/>
                  <a:pt x="14794" y="0"/>
                  <a:pt x="3304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4732" y="2213724"/>
            <a:ext cx="258543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862" y="2445008"/>
            <a:ext cx="2577171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{A,F}; {B,D}; {C,E}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44398" y="2114602"/>
            <a:ext cx="2717593" cy="594732"/>
          </a:xfrm>
          <a:custGeom>
            <a:avLst/>
            <a:gdLst/>
            <a:ahLst/>
            <a:cxnLst/>
            <a:rect l="l" t="t" r="r" b="b"/>
            <a:pathLst>
              <a:path w="2717593" h="594732">
                <a:moveTo>
                  <a:pt x="33043" y="0"/>
                </a:moveTo>
                <a:lnTo>
                  <a:pt x="2684550" y="0"/>
                </a:lnTo>
                <a:cubicBezTo>
                  <a:pt x="2702800" y="0"/>
                  <a:pt x="2717593" y="14794"/>
                  <a:pt x="2717593" y="33043"/>
                </a:cubicBezTo>
                <a:lnTo>
                  <a:pt x="2717593" y="561688"/>
                </a:lnTo>
                <a:cubicBezTo>
                  <a:pt x="2717593" y="579938"/>
                  <a:pt x="2702800" y="594732"/>
                  <a:pt x="2684550" y="594732"/>
                </a:cubicBezTo>
                <a:lnTo>
                  <a:pt x="33043" y="594732"/>
                </a:lnTo>
                <a:cubicBezTo>
                  <a:pt x="14794" y="594732"/>
                  <a:pt x="0" y="579938"/>
                  <a:pt x="0" y="561688"/>
                </a:cubicBezTo>
                <a:lnTo>
                  <a:pt x="0" y="33043"/>
                </a:lnTo>
                <a:cubicBezTo>
                  <a:pt x="0" y="14794"/>
                  <a:pt x="14794" y="0"/>
                  <a:pt x="3304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10479" y="2213724"/>
            <a:ext cx="258543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4609" y="2445008"/>
            <a:ext cx="2577171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{A,F,B}; {D}; {C,E}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60210" y="2114602"/>
            <a:ext cx="2717593" cy="594732"/>
          </a:xfrm>
          <a:custGeom>
            <a:avLst/>
            <a:gdLst/>
            <a:ahLst/>
            <a:cxnLst/>
            <a:rect l="l" t="t" r="r" b="b"/>
            <a:pathLst>
              <a:path w="2717593" h="594732">
                <a:moveTo>
                  <a:pt x="33043" y="0"/>
                </a:moveTo>
                <a:lnTo>
                  <a:pt x="2684550" y="0"/>
                </a:lnTo>
                <a:cubicBezTo>
                  <a:pt x="2702800" y="0"/>
                  <a:pt x="2717593" y="14794"/>
                  <a:pt x="2717593" y="33043"/>
                </a:cubicBezTo>
                <a:lnTo>
                  <a:pt x="2717593" y="561688"/>
                </a:lnTo>
                <a:cubicBezTo>
                  <a:pt x="2717593" y="579938"/>
                  <a:pt x="2702800" y="594732"/>
                  <a:pt x="2684550" y="594732"/>
                </a:cubicBezTo>
                <a:lnTo>
                  <a:pt x="33043" y="594732"/>
                </a:lnTo>
                <a:cubicBezTo>
                  <a:pt x="14794" y="594732"/>
                  <a:pt x="0" y="579938"/>
                  <a:pt x="0" y="561688"/>
                </a:cubicBezTo>
                <a:lnTo>
                  <a:pt x="0" y="33043"/>
                </a:lnTo>
                <a:cubicBezTo>
                  <a:pt x="0" y="14794"/>
                  <a:pt x="14794" y="0"/>
                  <a:pt x="3304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26291" y="2213724"/>
            <a:ext cx="258543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0421" y="2445008"/>
            <a:ext cx="2577171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{A,F}; {B,D,C}; {E}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76022" y="2114602"/>
            <a:ext cx="2717593" cy="594732"/>
          </a:xfrm>
          <a:custGeom>
            <a:avLst/>
            <a:gdLst/>
            <a:ahLst/>
            <a:cxnLst/>
            <a:rect l="l" t="t" r="r" b="b"/>
            <a:pathLst>
              <a:path w="2717593" h="594732">
                <a:moveTo>
                  <a:pt x="33043" y="0"/>
                </a:moveTo>
                <a:lnTo>
                  <a:pt x="2684550" y="0"/>
                </a:lnTo>
                <a:cubicBezTo>
                  <a:pt x="2702800" y="0"/>
                  <a:pt x="2717593" y="14794"/>
                  <a:pt x="2717593" y="33043"/>
                </a:cubicBezTo>
                <a:lnTo>
                  <a:pt x="2717593" y="561688"/>
                </a:lnTo>
                <a:cubicBezTo>
                  <a:pt x="2717593" y="579938"/>
                  <a:pt x="2702800" y="594732"/>
                  <a:pt x="2684550" y="594732"/>
                </a:cubicBezTo>
                <a:lnTo>
                  <a:pt x="33043" y="594732"/>
                </a:lnTo>
                <a:cubicBezTo>
                  <a:pt x="14794" y="594732"/>
                  <a:pt x="0" y="579938"/>
                  <a:pt x="0" y="561688"/>
                </a:cubicBezTo>
                <a:lnTo>
                  <a:pt x="0" y="33043"/>
                </a:lnTo>
                <a:cubicBezTo>
                  <a:pt x="0" y="14794"/>
                  <a:pt x="14794" y="0"/>
                  <a:pt x="3304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42103" y="2213724"/>
            <a:ext cx="258543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6233" y="2445008"/>
            <a:ext cx="2577171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{A,F}; {B,C}; {D,E}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6927" y="3006699"/>
            <a:ext cx="11514667" cy="2577171"/>
          </a:xfrm>
          <a:custGeom>
            <a:avLst/>
            <a:gdLst/>
            <a:ahLst/>
            <a:cxnLst/>
            <a:rect l="l" t="t" r="r" b="b"/>
            <a:pathLst>
              <a:path w="11514667" h="2577171">
                <a:moveTo>
                  <a:pt x="33041" y="0"/>
                </a:moveTo>
                <a:lnTo>
                  <a:pt x="11448588" y="0"/>
                </a:lnTo>
                <a:cubicBezTo>
                  <a:pt x="11485082" y="0"/>
                  <a:pt x="11514667" y="29584"/>
                  <a:pt x="11514667" y="66079"/>
                </a:cubicBezTo>
                <a:lnTo>
                  <a:pt x="11514667" y="2511092"/>
                </a:lnTo>
                <a:cubicBezTo>
                  <a:pt x="11514667" y="2547586"/>
                  <a:pt x="11485082" y="2577171"/>
                  <a:pt x="11448588" y="2577171"/>
                </a:cubicBezTo>
                <a:lnTo>
                  <a:pt x="33041" y="2577171"/>
                </a:lnTo>
                <a:cubicBezTo>
                  <a:pt x="14793" y="2577171"/>
                  <a:pt x="0" y="2562378"/>
                  <a:pt x="0" y="254413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46927" y="3006699"/>
            <a:ext cx="33041" cy="2577171"/>
          </a:xfrm>
          <a:custGeom>
            <a:avLst/>
            <a:gdLst/>
            <a:ahLst/>
            <a:cxnLst/>
            <a:rect l="l" t="t" r="r" b="b"/>
            <a:pathLst>
              <a:path w="33041" h="2577171">
                <a:moveTo>
                  <a:pt x="33041" y="0"/>
                </a:moveTo>
                <a:lnTo>
                  <a:pt x="33041" y="0"/>
                </a:lnTo>
                <a:lnTo>
                  <a:pt x="33041" y="2577171"/>
                </a:lnTo>
                <a:lnTo>
                  <a:pt x="33041" y="2577171"/>
                </a:lnTo>
                <a:cubicBezTo>
                  <a:pt x="14793" y="2577171"/>
                  <a:pt x="0" y="2562378"/>
                  <a:pt x="0" y="254413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28650" y="3171902"/>
            <a:ext cx="1125034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解析: 第一轮迭代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8650" y="3502309"/>
            <a:ext cx="557561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步骤1: 分配样本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8650" y="3799675"/>
            <a:ext cx="55590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计算各点到初始质心μ₁=A(2,1)、μ₂=C(6,4)、μ₃=E(7,3)的距离: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8650" y="4030959"/>
            <a:ext cx="5501268" cy="528650"/>
          </a:xfrm>
          <a:custGeom>
            <a:avLst/>
            <a:gdLst/>
            <a:ahLst/>
            <a:cxnLst/>
            <a:rect l="l" t="t" r="r" b="b"/>
            <a:pathLst>
              <a:path w="5501268" h="528650">
                <a:moveTo>
                  <a:pt x="33041" y="0"/>
                </a:moveTo>
                <a:lnTo>
                  <a:pt x="5468228" y="0"/>
                </a:lnTo>
                <a:cubicBezTo>
                  <a:pt x="5486475" y="0"/>
                  <a:pt x="5501268" y="14793"/>
                  <a:pt x="5501268" y="33041"/>
                </a:cubicBezTo>
                <a:lnTo>
                  <a:pt x="5501268" y="495610"/>
                </a:lnTo>
                <a:cubicBezTo>
                  <a:pt x="5501268" y="513858"/>
                  <a:pt x="5486475" y="528650"/>
                  <a:pt x="5468228" y="528650"/>
                </a:cubicBezTo>
                <a:lnTo>
                  <a:pt x="33041" y="528650"/>
                </a:lnTo>
                <a:cubicBezTo>
                  <a:pt x="14805" y="528650"/>
                  <a:pt x="0" y="513845"/>
                  <a:pt x="0" y="49561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8650" y="4030959"/>
            <a:ext cx="5550829" cy="528650"/>
          </a:xfrm>
          <a:prstGeom prst="rect">
            <a:avLst/>
          </a:prstGeom>
          <a:noFill/>
          <a:ln/>
        </p:spPr>
        <p:txBody>
          <a:bodyPr wrap="square" lIns="66081" tIns="66081" rIns="66081" bIns="66081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点B(3,5):  d²到A=17,  d²到C=10,  d²到E=20 → 归属C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点D(5,6):  d²到A=34,  d²到C=5,  d²到E=13 → 归属C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点F(1,3):  d²到A=5,  d²到C=26,  d²到E=36 → 归属A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8650" y="4625691"/>
            <a:ext cx="5501268" cy="792976"/>
          </a:xfrm>
          <a:custGeom>
            <a:avLst/>
            <a:gdLst/>
            <a:ahLst/>
            <a:cxnLst/>
            <a:rect l="l" t="t" r="r" b="b"/>
            <a:pathLst>
              <a:path w="5501268" h="792976">
                <a:moveTo>
                  <a:pt x="33043" y="0"/>
                </a:moveTo>
                <a:lnTo>
                  <a:pt x="5468225" y="0"/>
                </a:lnTo>
                <a:cubicBezTo>
                  <a:pt x="5486474" y="0"/>
                  <a:pt x="5501268" y="14794"/>
                  <a:pt x="5501268" y="33043"/>
                </a:cubicBezTo>
                <a:lnTo>
                  <a:pt x="5501268" y="759932"/>
                </a:lnTo>
                <a:cubicBezTo>
                  <a:pt x="5501268" y="778182"/>
                  <a:pt x="5486474" y="792976"/>
                  <a:pt x="5468225" y="792976"/>
                </a:cubicBezTo>
                <a:lnTo>
                  <a:pt x="33043" y="792976"/>
                </a:lnTo>
                <a:cubicBezTo>
                  <a:pt x="14794" y="792976"/>
                  <a:pt x="0" y="778182"/>
                  <a:pt x="0" y="759932"/>
                </a:cubicBezTo>
                <a:lnTo>
                  <a:pt x="0" y="33043"/>
                </a:lnTo>
                <a:cubicBezTo>
                  <a:pt x="0" y="14794"/>
                  <a:pt x="14794" y="0"/>
                  <a:pt x="33043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28650" y="4625691"/>
            <a:ext cx="5559089" cy="792976"/>
          </a:xfrm>
          <a:prstGeom prst="rect">
            <a:avLst/>
          </a:prstGeom>
          <a:noFill/>
          <a:ln/>
        </p:spPr>
        <p:txBody>
          <a:bodyPr wrap="square" lIns="66081" tIns="66081" rIns="66081" bIns="66081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分配结果: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簇1: {A, F}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簇2: {C, B, D}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簇3: {E}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93251" y="3502309"/>
            <a:ext cx="557561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步骤2: 更新质心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93251" y="3799675"/>
            <a:ext cx="55590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计算新簇的均值作为新质心: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3251" y="4030959"/>
            <a:ext cx="5501268" cy="627772"/>
          </a:xfrm>
          <a:custGeom>
            <a:avLst/>
            <a:gdLst/>
            <a:ahLst/>
            <a:cxnLst/>
            <a:rect l="l" t="t" r="r" b="b"/>
            <a:pathLst>
              <a:path w="5501268" h="627772">
                <a:moveTo>
                  <a:pt x="33040" y="0"/>
                </a:moveTo>
                <a:lnTo>
                  <a:pt x="5468229" y="0"/>
                </a:lnTo>
                <a:cubicBezTo>
                  <a:pt x="5486476" y="0"/>
                  <a:pt x="5501268" y="14792"/>
                  <a:pt x="5501268" y="33040"/>
                </a:cubicBezTo>
                <a:lnTo>
                  <a:pt x="5501268" y="594733"/>
                </a:lnTo>
                <a:cubicBezTo>
                  <a:pt x="5501268" y="612980"/>
                  <a:pt x="5486476" y="627772"/>
                  <a:pt x="5468229" y="627772"/>
                </a:cubicBezTo>
                <a:lnTo>
                  <a:pt x="33040" y="627772"/>
                </a:lnTo>
                <a:cubicBezTo>
                  <a:pt x="14792" y="627772"/>
                  <a:pt x="0" y="612980"/>
                  <a:pt x="0" y="594733"/>
                </a:cubicBezTo>
                <a:lnTo>
                  <a:pt x="0" y="33040"/>
                </a:lnTo>
                <a:cubicBezTo>
                  <a:pt x="0" y="14792"/>
                  <a:pt x="14792" y="0"/>
                  <a:pt x="3304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193251" y="4030959"/>
            <a:ext cx="5559089" cy="627772"/>
          </a:xfrm>
          <a:prstGeom prst="rect">
            <a:avLst/>
          </a:prstGeom>
          <a:noFill/>
          <a:ln/>
        </p:spPr>
        <p:txBody>
          <a:bodyPr wrap="square" lIns="66081" tIns="66081" rIns="66081" bIns="66081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μ₁' = mean(A,F) = (1.5, 2)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μ₂' = mean(B,C,D) = (4.67, 5)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μ₃' = mean(E) = (7, 3)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93251" y="4724813"/>
            <a:ext cx="5501268" cy="297366"/>
          </a:xfrm>
          <a:custGeom>
            <a:avLst/>
            <a:gdLst/>
            <a:ahLst/>
            <a:cxnLst/>
            <a:rect l="l" t="t" r="r" b="b"/>
            <a:pathLst>
              <a:path w="5501268" h="297366">
                <a:moveTo>
                  <a:pt x="33040" y="0"/>
                </a:moveTo>
                <a:lnTo>
                  <a:pt x="5468228" y="0"/>
                </a:lnTo>
                <a:cubicBezTo>
                  <a:pt x="5486476" y="0"/>
                  <a:pt x="5501268" y="14793"/>
                  <a:pt x="5501268" y="33040"/>
                </a:cubicBezTo>
                <a:lnTo>
                  <a:pt x="5501268" y="264326"/>
                </a:lnTo>
                <a:cubicBezTo>
                  <a:pt x="5501268" y="282573"/>
                  <a:pt x="5486476" y="297366"/>
                  <a:pt x="5468228" y="297366"/>
                </a:cubicBezTo>
                <a:lnTo>
                  <a:pt x="33040" y="297366"/>
                </a:lnTo>
                <a:cubicBezTo>
                  <a:pt x="14793" y="297366"/>
                  <a:pt x="0" y="282573"/>
                  <a:pt x="0" y="264326"/>
                </a:cubicBezTo>
                <a:lnTo>
                  <a:pt x="0" y="33040"/>
                </a:lnTo>
                <a:cubicBezTo>
                  <a:pt x="0" y="14805"/>
                  <a:pt x="14805" y="0"/>
                  <a:pt x="3304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193251" y="4724813"/>
            <a:ext cx="5559089" cy="297366"/>
          </a:xfrm>
          <a:prstGeom prst="rect">
            <a:avLst/>
          </a:prstGeom>
          <a:noFill/>
          <a:ln/>
        </p:spPr>
        <p:txBody>
          <a:bodyPr wrap="square" lIns="66081" tIns="66081" rIns="66081" bIns="66081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继续第二轮迭代...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4537" y="5720163"/>
            <a:ext cx="11522927" cy="801236"/>
          </a:xfrm>
          <a:custGeom>
            <a:avLst/>
            <a:gdLst/>
            <a:ahLst/>
            <a:cxnLst/>
            <a:rect l="l" t="t" r="r" b="b"/>
            <a:pathLst>
              <a:path w="11522927" h="801236">
                <a:moveTo>
                  <a:pt x="66078" y="0"/>
                </a:moveTo>
                <a:lnTo>
                  <a:pt x="11456849" y="0"/>
                </a:lnTo>
                <a:cubicBezTo>
                  <a:pt x="11493343" y="0"/>
                  <a:pt x="11522927" y="29584"/>
                  <a:pt x="11522927" y="66078"/>
                </a:cubicBezTo>
                <a:lnTo>
                  <a:pt x="11522927" y="735158"/>
                </a:lnTo>
                <a:cubicBezTo>
                  <a:pt x="11522927" y="771652"/>
                  <a:pt x="11493343" y="801236"/>
                  <a:pt x="11456849" y="801236"/>
                </a:cubicBezTo>
                <a:lnTo>
                  <a:pt x="66078" y="801236"/>
                </a:lnTo>
                <a:cubicBezTo>
                  <a:pt x="29609" y="801236"/>
                  <a:pt x="0" y="771627"/>
                  <a:pt x="0" y="735158"/>
                </a:cubicBezTo>
                <a:lnTo>
                  <a:pt x="0" y="66078"/>
                </a:lnTo>
                <a:cubicBezTo>
                  <a:pt x="0" y="29609"/>
                  <a:pt x="29609" y="0"/>
                  <a:pt x="6607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21423" y="5996878"/>
            <a:ext cx="278780" cy="247805"/>
          </a:xfrm>
          <a:custGeom>
            <a:avLst/>
            <a:gdLst/>
            <a:ahLst/>
            <a:cxnLst/>
            <a:rect l="l" t="t" r="r" b="b"/>
            <a:pathLst>
              <a:path w="278780" h="247805">
                <a:moveTo>
                  <a:pt x="23232" y="94766"/>
                </a:moveTo>
                <a:lnTo>
                  <a:pt x="124483" y="136438"/>
                </a:lnTo>
                <a:cubicBezTo>
                  <a:pt x="129226" y="138374"/>
                  <a:pt x="134260" y="139390"/>
                  <a:pt x="139390" y="139390"/>
                </a:cubicBezTo>
                <a:cubicBezTo>
                  <a:pt x="144521" y="139390"/>
                  <a:pt x="149554" y="138374"/>
                  <a:pt x="154297" y="136438"/>
                </a:cubicBezTo>
                <a:lnTo>
                  <a:pt x="271617" y="88135"/>
                </a:lnTo>
                <a:cubicBezTo>
                  <a:pt x="275973" y="86345"/>
                  <a:pt x="278780" y="82134"/>
                  <a:pt x="278780" y="77439"/>
                </a:cubicBezTo>
                <a:cubicBezTo>
                  <a:pt x="278780" y="72744"/>
                  <a:pt x="275973" y="68534"/>
                  <a:pt x="271617" y="66743"/>
                </a:cubicBezTo>
                <a:lnTo>
                  <a:pt x="154297" y="18440"/>
                </a:lnTo>
                <a:cubicBezTo>
                  <a:pt x="149554" y="16504"/>
                  <a:pt x="144521" y="15488"/>
                  <a:pt x="139390" y="15488"/>
                </a:cubicBezTo>
                <a:cubicBezTo>
                  <a:pt x="134260" y="15488"/>
                  <a:pt x="129226" y="16504"/>
                  <a:pt x="124483" y="18440"/>
                </a:cubicBezTo>
                <a:lnTo>
                  <a:pt x="7163" y="66743"/>
                </a:lnTo>
                <a:cubicBezTo>
                  <a:pt x="2807" y="68534"/>
                  <a:pt x="0" y="72744"/>
                  <a:pt x="0" y="77439"/>
                </a:cubicBezTo>
                <a:lnTo>
                  <a:pt x="0" y="220701"/>
                </a:lnTo>
                <a:cubicBezTo>
                  <a:pt x="0" y="227138"/>
                  <a:pt x="5179" y="232317"/>
                  <a:pt x="11616" y="232317"/>
                </a:cubicBezTo>
                <a:cubicBezTo>
                  <a:pt x="18053" y="232317"/>
                  <a:pt x="23232" y="227138"/>
                  <a:pt x="23232" y="220701"/>
                </a:cubicBezTo>
                <a:lnTo>
                  <a:pt x="23232" y="94766"/>
                </a:lnTo>
                <a:close/>
                <a:moveTo>
                  <a:pt x="46463" y="129468"/>
                </a:moveTo>
                <a:lnTo>
                  <a:pt x="46463" y="185854"/>
                </a:lnTo>
                <a:cubicBezTo>
                  <a:pt x="46463" y="211505"/>
                  <a:pt x="88087" y="232317"/>
                  <a:pt x="139390" y="232317"/>
                </a:cubicBezTo>
                <a:cubicBezTo>
                  <a:pt x="190694" y="232317"/>
                  <a:pt x="232317" y="211505"/>
                  <a:pt x="232317" y="185854"/>
                </a:cubicBezTo>
                <a:lnTo>
                  <a:pt x="232317" y="129420"/>
                </a:lnTo>
                <a:lnTo>
                  <a:pt x="163154" y="157927"/>
                </a:lnTo>
                <a:cubicBezTo>
                  <a:pt x="155604" y="161025"/>
                  <a:pt x="147570" y="162622"/>
                  <a:pt x="139390" y="162622"/>
                </a:cubicBezTo>
                <a:cubicBezTo>
                  <a:pt x="131211" y="162622"/>
                  <a:pt x="123176" y="161025"/>
                  <a:pt x="115626" y="157927"/>
                </a:cubicBezTo>
                <a:lnTo>
                  <a:pt x="46463" y="129420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2748" y="5889496"/>
            <a:ext cx="470829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答案: 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2747" y="6153821"/>
            <a:ext cx="5313543" cy="231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经过多轮迭代直到簇中心不再变化,最终聚类结果为: </a:t>
            </a: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三个簇: {A, F}; {B, D}; {C, E}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kern="0" spc="58" dirty="0">
                <a:solidFill>
                  <a:srgbClr val="C7A6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TOPICS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25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算法进阶话题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44" y="1207310"/>
            <a:ext cx="5624966" cy="4536558"/>
          </a:xfrm>
          <a:custGeom>
            <a:avLst/>
            <a:gdLst/>
            <a:ahLst/>
            <a:cxnLst/>
            <a:rect l="l" t="t" r="r" b="b"/>
            <a:pathLst>
              <a:path w="5624966" h="4536558">
                <a:moveTo>
                  <a:pt x="36585" y="0"/>
                </a:moveTo>
                <a:lnTo>
                  <a:pt x="5551792" y="0"/>
                </a:lnTo>
                <a:cubicBezTo>
                  <a:pt x="5592205" y="0"/>
                  <a:pt x="5624966" y="32761"/>
                  <a:pt x="5624966" y="73175"/>
                </a:cubicBezTo>
                <a:lnTo>
                  <a:pt x="5624966" y="4463383"/>
                </a:lnTo>
                <a:cubicBezTo>
                  <a:pt x="5624966" y="4503797"/>
                  <a:pt x="5592205" y="4536558"/>
                  <a:pt x="5551792" y="4536558"/>
                </a:cubicBezTo>
                <a:lnTo>
                  <a:pt x="36585" y="4536558"/>
                </a:lnTo>
                <a:cubicBezTo>
                  <a:pt x="16380" y="4536558"/>
                  <a:pt x="0" y="4520178"/>
                  <a:pt x="0" y="4499973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4144" y="1207310"/>
            <a:ext cx="36585" cy="4536558"/>
          </a:xfrm>
          <a:custGeom>
            <a:avLst/>
            <a:gdLst/>
            <a:ahLst/>
            <a:cxnLst/>
            <a:rect l="l" t="t" r="r" b="b"/>
            <a:pathLst>
              <a:path w="36585" h="4536558">
                <a:moveTo>
                  <a:pt x="36585" y="0"/>
                </a:moveTo>
                <a:lnTo>
                  <a:pt x="36585" y="0"/>
                </a:lnTo>
                <a:lnTo>
                  <a:pt x="36585" y="4536558"/>
                </a:lnTo>
                <a:lnTo>
                  <a:pt x="36585" y="4536558"/>
                </a:lnTo>
                <a:cubicBezTo>
                  <a:pt x="16380" y="4536558"/>
                  <a:pt x="0" y="4520178"/>
                  <a:pt x="0" y="4499973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85362" y="1390236"/>
            <a:ext cx="533228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典型应用场景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362" y="1756087"/>
            <a:ext cx="5240822" cy="731703"/>
          </a:xfrm>
          <a:custGeom>
            <a:avLst/>
            <a:gdLst/>
            <a:ahLst/>
            <a:cxnLst/>
            <a:rect l="l" t="t" r="r" b="b"/>
            <a:pathLst>
              <a:path w="5240822" h="731703">
                <a:moveTo>
                  <a:pt x="36585" y="0"/>
                </a:moveTo>
                <a:lnTo>
                  <a:pt x="5204237" y="0"/>
                </a:lnTo>
                <a:cubicBezTo>
                  <a:pt x="5224442" y="0"/>
                  <a:pt x="5240822" y="16380"/>
                  <a:pt x="5240822" y="36585"/>
                </a:cubicBezTo>
                <a:lnTo>
                  <a:pt x="5240822" y="695118"/>
                </a:lnTo>
                <a:cubicBezTo>
                  <a:pt x="5240822" y="715323"/>
                  <a:pt x="5224442" y="731703"/>
                  <a:pt x="5204237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29416" y="1902428"/>
            <a:ext cx="160060" cy="182926"/>
          </a:xfrm>
          <a:custGeom>
            <a:avLst/>
            <a:gdLst/>
            <a:ahLst/>
            <a:cxnLst/>
            <a:rect l="l" t="t" r="r" b="b"/>
            <a:pathLst>
              <a:path w="160060" h="182926">
                <a:moveTo>
                  <a:pt x="22866" y="11433"/>
                </a:moveTo>
                <a:cubicBezTo>
                  <a:pt x="10254" y="11433"/>
                  <a:pt x="0" y="21687"/>
                  <a:pt x="0" y="34299"/>
                </a:cubicBezTo>
                <a:lnTo>
                  <a:pt x="0" y="148627"/>
                </a:lnTo>
                <a:cubicBezTo>
                  <a:pt x="0" y="161239"/>
                  <a:pt x="10254" y="171493"/>
                  <a:pt x="22866" y="171493"/>
                </a:cubicBezTo>
                <a:lnTo>
                  <a:pt x="137194" y="171493"/>
                </a:lnTo>
                <a:cubicBezTo>
                  <a:pt x="149806" y="171493"/>
                  <a:pt x="160060" y="161239"/>
                  <a:pt x="160060" y="148627"/>
                </a:cubicBezTo>
                <a:lnTo>
                  <a:pt x="160060" y="34299"/>
                </a:lnTo>
                <a:cubicBezTo>
                  <a:pt x="160060" y="21687"/>
                  <a:pt x="149806" y="11433"/>
                  <a:pt x="137194" y="11433"/>
                </a:cubicBezTo>
                <a:lnTo>
                  <a:pt x="22866" y="11433"/>
                </a:lnTo>
                <a:close/>
                <a:moveTo>
                  <a:pt x="45731" y="40015"/>
                </a:moveTo>
                <a:cubicBezTo>
                  <a:pt x="55196" y="40015"/>
                  <a:pt x="62881" y="47699"/>
                  <a:pt x="62881" y="57164"/>
                </a:cubicBezTo>
                <a:cubicBezTo>
                  <a:pt x="62881" y="66629"/>
                  <a:pt x="55196" y="74314"/>
                  <a:pt x="45731" y="74314"/>
                </a:cubicBezTo>
                <a:cubicBezTo>
                  <a:pt x="36266" y="74314"/>
                  <a:pt x="28582" y="66629"/>
                  <a:pt x="28582" y="57164"/>
                </a:cubicBezTo>
                <a:cubicBezTo>
                  <a:pt x="28582" y="47699"/>
                  <a:pt x="36266" y="40015"/>
                  <a:pt x="45731" y="40015"/>
                </a:cubicBezTo>
                <a:close/>
                <a:moveTo>
                  <a:pt x="97179" y="80030"/>
                </a:moveTo>
                <a:cubicBezTo>
                  <a:pt x="100180" y="80030"/>
                  <a:pt x="102931" y="81602"/>
                  <a:pt x="104503" y="84139"/>
                </a:cubicBezTo>
                <a:lnTo>
                  <a:pt x="135944" y="135587"/>
                </a:lnTo>
                <a:cubicBezTo>
                  <a:pt x="137552" y="138230"/>
                  <a:pt x="137623" y="141553"/>
                  <a:pt x="136122" y="144268"/>
                </a:cubicBezTo>
                <a:cubicBezTo>
                  <a:pt x="134622" y="146984"/>
                  <a:pt x="131728" y="148627"/>
                  <a:pt x="128620" y="148627"/>
                </a:cubicBezTo>
                <a:lnTo>
                  <a:pt x="31440" y="148627"/>
                </a:lnTo>
                <a:cubicBezTo>
                  <a:pt x="28261" y="148627"/>
                  <a:pt x="25295" y="146841"/>
                  <a:pt x="23830" y="144018"/>
                </a:cubicBezTo>
                <a:cubicBezTo>
                  <a:pt x="22366" y="141196"/>
                  <a:pt x="22580" y="137766"/>
                  <a:pt x="24402" y="135158"/>
                </a:cubicBezTo>
                <a:lnTo>
                  <a:pt x="44410" y="106576"/>
                </a:lnTo>
                <a:cubicBezTo>
                  <a:pt x="46017" y="104289"/>
                  <a:pt x="48625" y="102931"/>
                  <a:pt x="51448" y="102931"/>
                </a:cubicBezTo>
                <a:cubicBezTo>
                  <a:pt x="54270" y="102931"/>
                  <a:pt x="56878" y="104289"/>
                  <a:pt x="58486" y="106576"/>
                </a:cubicBezTo>
                <a:lnTo>
                  <a:pt x="67918" y="120081"/>
                </a:lnTo>
                <a:lnTo>
                  <a:pt x="89855" y="84174"/>
                </a:lnTo>
                <a:cubicBezTo>
                  <a:pt x="91427" y="81638"/>
                  <a:pt x="94178" y="80066"/>
                  <a:pt x="97179" y="8006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33530" y="1865842"/>
            <a:ext cx="74084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图像压缩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5118" y="2195109"/>
            <a:ext cx="50853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将图像中的颜色聚类为</a:t>
            </a:r>
            <a:r>
              <a:rPr lang="en-US" sz="100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种主色调,用质心颜色替代原始颜色,实现图像压缩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362" y="2597545"/>
            <a:ext cx="5240822" cy="731703"/>
          </a:xfrm>
          <a:custGeom>
            <a:avLst/>
            <a:gdLst/>
            <a:ahLst/>
            <a:cxnLst/>
            <a:rect l="l" t="t" r="r" b="b"/>
            <a:pathLst>
              <a:path w="5240822" h="731703">
                <a:moveTo>
                  <a:pt x="36585" y="0"/>
                </a:moveTo>
                <a:lnTo>
                  <a:pt x="5204237" y="0"/>
                </a:lnTo>
                <a:cubicBezTo>
                  <a:pt x="5224442" y="0"/>
                  <a:pt x="5240822" y="16380"/>
                  <a:pt x="5240822" y="36585"/>
                </a:cubicBezTo>
                <a:lnTo>
                  <a:pt x="5240822" y="695118"/>
                </a:lnTo>
                <a:cubicBezTo>
                  <a:pt x="5240822" y="715323"/>
                  <a:pt x="5224442" y="731703"/>
                  <a:pt x="5204237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95118" y="2743886"/>
            <a:ext cx="228657" cy="182926"/>
          </a:xfrm>
          <a:custGeom>
            <a:avLst/>
            <a:gdLst/>
            <a:ahLst/>
            <a:cxnLst/>
            <a:rect l="l" t="t" r="r" b="b"/>
            <a:pathLst>
              <a:path w="228657" h="182926">
                <a:moveTo>
                  <a:pt x="114329" y="5716"/>
                </a:moveTo>
                <a:cubicBezTo>
                  <a:pt x="134836" y="5716"/>
                  <a:pt x="151485" y="22366"/>
                  <a:pt x="151485" y="42873"/>
                </a:cubicBezTo>
                <a:cubicBezTo>
                  <a:pt x="151485" y="63381"/>
                  <a:pt x="134836" y="80030"/>
                  <a:pt x="114329" y="80030"/>
                </a:cubicBezTo>
                <a:cubicBezTo>
                  <a:pt x="93821" y="80030"/>
                  <a:pt x="77172" y="63381"/>
                  <a:pt x="77172" y="42873"/>
                </a:cubicBezTo>
                <a:cubicBezTo>
                  <a:pt x="77172" y="22366"/>
                  <a:pt x="93821" y="5716"/>
                  <a:pt x="114329" y="5716"/>
                </a:cubicBezTo>
                <a:close/>
                <a:moveTo>
                  <a:pt x="34299" y="31440"/>
                </a:moveTo>
                <a:cubicBezTo>
                  <a:pt x="48496" y="31440"/>
                  <a:pt x="60023" y="42967"/>
                  <a:pt x="60023" y="57164"/>
                </a:cubicBezTo>
                <a:cubicBezTo>
                  <a:pt x="60023" y="71362"/>
                  <a:pt x="48496" y="82888"/>
                  <a:pt x="34299" y="82888"/>
                </a:cubicBezTo>
                <a:cubicBezTo>
                  <a:pt x="20101" y="82888"/>
                  <a:pt x="8575" y="71362"/>
                  <a:pt x="8575" y="57164"/>
                </a:cubicBezTo>
                <a:cubicBezTo>
                  <a:pt x="8575" y="42967"/>
                  <a:pt x="20101" y="31440"/>
                  <a:pt x="34299" y="31440"/>
                </a:cubicBezTo>
                <a:close/>
                <a:moveTo>
                  <a:pt x="0" y="148627"/>
                </a:moveTo>
                <a:cubicBezTo>
                  <a:pt x="0" y="123368"/>
                  <a:pt x="20472" y="102896"/>
                  <a:pt x="45731" y="102896"/>
                </a:cubicBezTo>
                <a:cubicBezTo>
                  <a:pt x="50305" y="102896"/>
                  <a:pt x="54735" y="103575"/>
                  <a:pt x="58915" y="104825"/>
                </a:cubicBezTo>
                <a:cubicBezTo>
                  <a:pt x="47161" y="117973"/>
                  <a:pt x="40015" y="135336"/>
                  <a:pt x="40015" y="154344"/>
                </a:cubicBezTo>
                <a:lnTo>
                  <a:pt x="40015" y="160060"/>
                </a:lnTo>
                <a:cubicBezTo>
                  <a:pt x="40015" y="164133"/>
                  <a:pt x="40872" y="167992"/>
                  <a:pt x="42409" y="171493"/>
                </a:cubicBezTo>
                <a:lnTo>
                  <a:pt x="11433" y="171493"/>
                </a:lnTo>
                <a:cubicBezTo>
                  <a:pt x="5109" y="171493"/>
                  <a:pt x="0" y="166384"/>
                  <a:pt x="0" y="160060"/>
                </a:cubicBezTo>
                <a:lnTo>
                  <a:pt x="0" y="148627"/>
                </a:lnTo>
                <a:close/>
                <a:moveTo>
                  <a:pt x="186248" y="171493"/>
                </a:moveTo>
                <a:cubicBezTo>
                  <a:pt x="187785" y="167992"/>
                  <a:pt x="188642" y="164133"/>
                  <a:pt x="188642" y="160060"/>
                </a:cubicBezTo>
                <a:lnTo>
                  <a:pt x="188642" y="154344"/>
                </a:lnTo>
                <a:cubicBezTo>
                  <a:pt x="188642" y="135336"/>
                  <a:pt x="181497" y="117973"/>
                  <a:pt x="169742" y="104825"/>
                </a:cubicBezTo>
                <a:cubicBezTo>
                  <a:pt x="173922" y="103575"/>
                  <a:pt x="178353" y="102896"/>
                  <a:pt x="182926" y="102896"/>
                </a:cubicBezTo>
                <a:cubicBezTo>
                  <a:pt x="208185" y="102896"/>
                  <a:pt x="228657" y="123368"/>
                  <a:pt x="228657" y="148627"/>
                </a:cubicBezTo>
                <a:lnTo>
                  <a:pt x="228657" y="160060"/>
                </a:lnTo>
                <a:cubicBezTo>
                  <a:pt x="228657" y="166384"/>
                  <a:pt x="223548" y="171493"/>
                  <a:pt x="217224" y="171493"/>
                </a:cubicBezTo>
                <a:lnTo>
                  <a:pt x="186248" y="171493"/>
                </a:lnTo>
                <a:close/>
                <a:moveTo>
                  <a:pt x="168635" y="57164"/>
                </a:moveTo>
                <a:cubicBezTo>
                  <a:pt x="168635" y="42967"/>
                  <a:pt x="180161" y="31440"/>
                  <a:pt x="194359" y="31440"/>
                </a:cubicBezTo>
                <a:cubicBezTo>
                  <a:pt x="208556" y="31440"/>
                  <a:pt x="220083" y="42967"/>
                  <a:pt x="220083" y="57164"/>
                </a:cubicBezTo>
                <a:cubicBezTo>
                  <a:pt x="220083" y="71362"/>
                  <a:pt x="208556" y="82888"/>
                  <a:pt x="194359" y="82888"/>
                </a:cubicBezTo>
                <a:cubicBezTo>
                  <a:pt x="180161" y="82888"/>
                  <a:pt x="168635" y="71362"/>
                  <a:pt x="168635" y="57164"/>
                </a:cubicBezTo>
                <a:close/>
                <a:moveTo>
                  <a:pt x="57164" y="154344"/>
                </a:moveTo>
                <a:cubicBezTo>
                  <a:pt x="57164" y="122760"/>
                  <a:pt x="82745" y="97179"/>
                  <a:pt x="114329" y="97179"/>
                </a:cubicBezTo>
                <a:cubicBezTo>
                  <a:pt x="145912" y="97179"/>
                  <a:pt x="171493" y="122760"/>
                  <a:pt x="171493" y="154344"/>
                </a:cubicBezTo>
                <a:lnTo>
                  <a:pt x="171493" y="160060"/>
                </a:lnTo>
                <a:cubicBezTo>
                  <a:pt x="171493" y="166384"/>
                  <a:pt x="166384" y="171493"/>
                  <a:pt x="160060" y="171493"/>
                </a:cubicBezTo>
                <a:lnTo>
                  <a:pt x="68597" y="171493"/>
                </a:lnTo>
                <a:cubicBezTo>
                  <a:pt x="62273" y="171493"/>
                  <a:pt x="57164" y="166384"/>
                  <a:pt x="57164" y="160060"/>
                </a:cubicBezTo>
                <a:lnTo>
                  <a:pt x="57164" y="154344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33530" y="2707301"/>
            <a:ext cx="74084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客户细分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118" y="3036567"/>
            <a:ext cx="50853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根据消费行为、 </a:t>
            </a:r>
            <a:r>
              <a:rPr lang="en-US" sz="100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demographics</a:t>
            </a: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等特征对客户分群,制定差异化营销策略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362" y="3439004"/>
            <a:ext cx="5240822" cy="731703"/>
          </a:xfrm>
          <a:custGeom>
            <a:avLst/>
            <a:gdLst/>
            <a:ahLst/>
            <a:cxnLst/>
            <a:rect l="l" t="t" r="r" b="b"/>
            <a:pathLst>
              <a:path w="5240822" h="731703">
                <a:moveTo>
                  <a:pt x="36585" y="0"/>
                </a:moveTo>
                <a:lnTo>
                  <a:pt x="5204237" y="0"/>
                </a:lnTo>
                <a:cubicBezTo>
                  <a:pt x="5224442" y="0"/>
                  <a:pt x="5240822" y="16380"/>
                  <a:pt x="5240822" y="36585"/>
                </a:cubicBezTo>
                <a:lnTo>
                  <a:pt x="5240822" y="695118"/>
                </a:lnTo>
                <a:cubicBezTo>
                  <a:pt x="5240822" y="715323"/>
                  <a:pt x="5224442" y="731703"/>
                  <a:pt x="5204237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40849" y="3585344"/>
            <a:ext cx="137194" cy="182926"/>
          </a:xfrm>
          <a:custGeom>
            <a:avLst/>
            <a:gdLst/>
            <a:ahLst/>
            <a:cxnLst/>
            <a:rect l="l" t="t" r="r" b="b"/>
            <a:pathLst>
              <a:path w="137194" h="182926">
                <a:moveTo>
                  <a:pt x="0" y="22866"/>
                </a:moveTo>
                <a:cubicBezTo>
                  <a:pt x="0" y="10254"/>
                  <a:pt x="10254" y="0"/>
                  <a:pt x="22866" y="0"/>
                </a:cubicBezTo>
                <a:lnTo>
                  <a:pt x="76279" y="0"/>
                </a:lnTo>
                <a:cubicBezTo>
                  <a:pt x="82352" y="0"/>
                  <a:pt x="88176" y="2394"/>
                  <a:pt x="92463" y="6681"/>
                </a:cubicBezTo>
                <a:lnTo>
                  <a:pt x="130513" y="44767"/>
                </a:lnTo>
                <a:cubicBezTo>
                  <a:pt x="134801" y="49054"/>
                  <a:pt x="137194" y="54878"/>
                  <a:pt x="137194" y="60951"/>
                </a:cubicBezTo>
                <a:lnTo>
                  <a:pt x="137194" y="160060"/>
                </a:lnTo>
                <a:cubicBezTo>
                  <a:pt x="137194" y="172672"/>
                  <a:pt x="126940" y="182926"/>
                  <a:pt x="114329" y="182926"/>
                </a:cubicBezTo>
                <a:lnTo>
                  <a:pt x="22866" y="182926"/>
                </a:lnTo>
                <a:cubicBezTo>
                  <a:pt x="10254" y="182926"/>
                  <a:pt x="0" y="172672"/>
                  <a:pt x="0" y="160060"/>
                </a:cubicBezTo>
                <a:lnTo>
                  <a:pt x="0" y="22866"/>
                </a:lnTo>
                <a:close/>
                <a:moveTo>
                  <a:pt x="74314" y="20901"/>
                </a:moveTo>
                <a:lnTo>
                  <a:pt x="74314" y="54306"/>
                </a:lnTo>
                <a:cubicBezTo>
                  <a:pt x="74314" y="59058"/>
                  <a:pt x="78136" y="62881"/>
                  <a:pt x="82888" y="62881"/>
                </a:cubicBezTo>
                <a:lnTo>
                  <a:pt x="116294" y="62881"/>
                </a:lnTo>
                <a:lnTo>
                  <a:pt x="74314" y="20901"/>
                </a:lnTo>
                <a:close/>
                <a:moveTo>
                  <a:pt x="42873" y="91463"/>
                </a:moveTo>
                <a:cubicBezTo>
                  <a:pt x="38121" y="91463"/>
                  <a:pt x="34299" y="95286"/>
                  <a:pt x="34299" y="100038"/>
                </a:cubicBezTo>
                <a:cubicBezTo>
                  <a:pt x="34299" y="104789"/>
                  <a:pt x="38121" y="108612"/>
                  <a:pt x="42873" y="108612"/>
                </a:cubicBezTo>
                <a:lnTo>
                  <a:pt x="94321" y="108612"/>
                </a:lnTo>
                <a:cubicBezTo>
                  <a:pt x="99073" y="108612"/>
                  <a:pt x="102896" y="104789"/>
                  <a:pt x="102896" y="100038"/>
                </a:cubicBezTo>
                <a:cubicBezTo>
                  <a:pt x="102896" y="95286"/>
                  <a:pt x="99073" y="91463"/>
                  <a:pt x="94321" y="91463"/>
                </a:cubicBezTo>
                <a:lnTo>
                  <a:pt x="42873" y="91463"/>
                </a:lnTo>
                <a:close/>
                <a:moveTo>
                  <a:pt x="42873" y="125761"/>
                </a:moveTo>
                <a:cubicBezTo>
                  <a:pt x="38121" y="125761"/>
                  <a:pt x="34299" y="129584"/>
                  <a:pt x="34299" y="134336"/>
                </a:cubicBezTo>
                <a:cubicBezTo>
                  <a:pt x="34299" y="139088"/>
                  <a:pt x="38121" y="142911"/>
                  <a:pt x="42873" y="142911"/>
                </a:cubicBezTo>
                <a:lnTo>
                  <a:pt x="94321" y="142911"/>
                </a:lnTo>
                <a:cubicBezTo>
                  <a:pt x="99073" y="142911"/>
                  <a:pt x="102896" y="139088"/>
                  <a:pt x="102896" y="134336"/>
                </a:cubicBezTo>
                <a:cubicBezTo>
                  <a:pt x="102896" y="129584"/>
                  <a:pt x="99073" y="125761"/>
                  <a:pt x="94321" y="125761"/>
                </a:cubicBezTo>
                <a:lnTo>
                  <a:pt x="42873" y="125761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33530" y="3548759"/>
            <a:ext cx="74084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文档聚类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118" y="3878026"/>
            <a:ext cx="50853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将文档表示为</a:t>
            </a:r>
            <a:r>
              <a:rPr lang="en-US" sz="100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TF-IDF</a:t>
            </a: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向量,通过</a:t>
            </a:r>
            <a:r>
              <a:rPr lang="en-US" sz="1008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聚类发现主题相似的文档群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7256" y="1207310"/>
            <a:ext cx="5624966" cy="2853641"/>
          </a:xfrm>
          <a:custGeom>
            <a:avLst/>
            <a:gdLst/>
            <a:ahLst/>
            <a:cxnLst/>
            <a:rect l="l" t="t" r="r" b="b"/>
            <a:pathLst>
              <a:path w="5624966" h="2853641">
                <a:moveTo>
                  <a:pt x="36585" y="0"/>
                </a:moveTo>
                <a:lnTo>
                  <a:pt x="5551799" y="0"/>
                </a:lnTo>
                <a:cubicBezTo>
                  <a:pt x="5592208" y="0"/>
                  <a:pt x="5624966" y="32758"/>
                  <a:pt x="5624966" y="73167"/>
                </a:cubicBezTo>
                <a:lnTo>
                  <a:pt x="5624966" y="2780474"/>
                </a:lnTo>
                <a:cubicBezTo>
                  <a:pt x="5624966" y="2820883"/>
                  <a:pt x="5592208" y="2853641"/>
                  <a:pt x="5551799" y="2853641"/>
                </a:cubicBezTo>
                <a:lnTo>
                  <a:pt x="36585" y="2853641"/>
                </a:lnTo>
                <a:cubicBezTo>
                  <a:pt x="16380" y="2853641"/>
                  <a:pt x="0" y="2837262"/>
                  <a:pt x="0" y="2817056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07256" y="1207310"/>
            <a:ext cx="36585" cy="2853641"/>
          </a:xfrm>
          <a:custGeom>
            <a:avLst/>
            <a:gdLst/>
            <a:ahLst/>
            <a:cxnLst/>
            <a:rect l="l" t="t" r="r" b="b"/>
            <a:pathLst>
              <a:path w="36585" h="2853641">
                <a:moveTo>
                  <a:pt x="36585" y="0"/>
                </a:moveTo>
                <a:lnTo>
                  <a:pt x="36585" y="0"/>
                </a:lnTo>
                <a:lnTo>
                  <a:pt x="36585" y="2853641"/>
                </a:lnTo>
                <a:lnTo>
                  <a:pt x="36585" y="2853641"/>
                </a:lnTo>
                <a:cubicBezTo>
                  <a:pt x="16380" y="2853641"/>
                  <a:pt x="0" y="2837262"/>
                  <a:pt x="0" y="2817056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8474" y="1390236"/>
            <a:ext cx="533228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常见问题与解决方案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8474" y="1756087"/>
            <a:ext cx="5240822" cy="658533"/>
          </a:xfrm>
          <a:custGeom>
            <a:avLst/>
            <a:gdLst/>
            <a:ahLst/>
            <a:cxnLst/>
            <a:rect l="l" t="t" r="r" b="b"/>
            <a:pathLst>
              <a:path w="5240822" h="658533">
                <a:moveTo>
                  <a:pt x="36588" y="0"/>
                </a:moveTo>
                <a:lnTo>
                  <a:pt x="5204234" y="0"/>
                </a:lnTo>
                <a:cubicBezTo>
                  <a:pt x="5224441" y="0"/>
                  <a:pt x="5240822" y="16381"/>
                  <a:pt x="5240822" y="36588"/>
                </a:cubicBezTo>
                <a:lnTo>
                  <a:pt x="5240822" y="621945"/>
                </a:lnTo>
                <a:cubicBezTo>
                  <a:pt x="5240822" y="642152"/>
                  <a:pt x="5224441" y="658533"/>
                  <a:pt x="5204234" y="658533"/>
                </a:cubicBezTo>
                <a:lnTo>
                  <a:pt x="36588" y="658533"/>
                </a:lnTo>
                <a:cubicBezTo>
                  <a:pt x="16381" y="658533"/>
                  <a:pt x="0" y="642152"/>
                  <a:pt x="0" y="621945"/>
                </a:cubicBezTo>
                <a:lnTo>
                  <a:pt x="0" y="36588"/>
                </a:lnTo>
                <a:cubicBezTo>
                  <a:pt x="0" y="16381"/>
                  <a:pt x="16381" y="0"/>
                  <a:pt x="3658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518230" y="1865842"/>
            <a:ext cx="509448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空簇问题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8230" y="2121938"/>
            <a:ext cx="50853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某个簇没有样本 → 重新初始化该质心或减少K值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8474" y="2487790"/>
            <a:ext cx="5240822" cy="658533"/>
          </a:xfrm>
          <a:custGeom>
            <a:avLst/>
            <a:gdLst/>
            <a:ahLst/>
            <a:cxnLst/>
            <a:rect l="l" t="t" r="r" b="b"/>
            <a:pathLst>
              <a:path w="5240822" h="658533">
                <a:moveTo>
                  <a:pt x="36588" y="0"/>
                </a:moveTo>
                <a:lnTo>
                  <a:pt x="5204234" y="0"/>
                </a:lnTo>
                <a:cubicBezTo>
                  <a:pt x="5224441" y="0"/>
                  <a:pt x="5240822" y="16381"/>
                  <a:pt x="5240822" y="36588"/>
                </a:cubicBezTo>
                <a:lnTo>
                  <a:pt x="5240822" y="621945"/>
                </a:lnTo>
                <a:cubicBezTo>
                  <a:pt x="5240822" y="642152"/>
                  <a:pt x="5224441" y="658533"/>
                  <a:pt x="5204234" y="658533"/>
                </a:cubicBezTo>
                <a:lnTo>
                  <a:pt x="36588" y="658533"/>
                </a:lnTo>
                <a:cubicBezTo>
                  <a:pt x="16381" y="658533"/>
                  <a:pt x="0" y="642152"/>
                  <a:pt x="0" y="621945"/>
                </a:cubicBezTo>
                <a:lnTo>
                  <a:pt x="0" y="36588"/>
                </a:lnTo>
                <a:cubicBezTo>
                  <a:pt x="0" y="16381"/>
                  <a:pt x="16381" y="0"/>
                  <a:pt x="3658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18230" y="2597545"/>
            <a:ext cx="509448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异常值处理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8230" y="2853641"/>
            <a:ext cx="50853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使用K-Medoids或预处理去除异常值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8474" y="3219493"/>
            <a:ext cx="5240822" cy="658533"/>
          </a:xfrm>
          <a:custGeom>
            <a:avLst/>
            <a:gdLst/>
            <a:ahLst/>
            <a:cxnLst/>
            <a:rect l="l" t="t" r="r" b="b"/>
            <a:pathLst>
              <a:path w="5240822" h="658533">
                <a:moveTo>
                  <a:pt x="36588" y="0"/>
                </a:moveTo>
                <a:lnTo>
                  <a:pt x="5204234" y="0"/>
                </a:lnTo>
                <a:cubicBezTo>
                  <a:pt x="5224441" y="0"/>
                  <a:pt x="5240822" y="16381"/>
                  <a:pt x="5240822" y="36588"/>
                </a:cubicBezTo>
                <a:lnTo>
                  <a:pt x="5240822" y="621945"/>
                </a:lnTo>
                <a:cubicBezTo>
                  <a:pt x="5240822" y="642152"/>
                  <a:pt x="5224441" y="658533"/>
                  <a:pt x="5204234" y="658533"/>
                </a:cubicBezTo>
                <a:lnTo>
                  <a:pt x="36588" y="658533"/>
                </a:lnTo>
                <a:cubicBezTo>
                  <a:pt x="16381" y="658533"/>
                  <a:pt x="0" y="642152"/>
                  <a:pt x="0" y="621945"/>
                </a:cubicBezTo>
                <a:lnTo>
                  <a:pt x="0" y="36588"/>
                </a:lnTo>
                <a:cubicBezTo>
                  <a:pt x="0" y="16381"/>
                  <a:pt x="16381" y="0"/>
                  <a:pt x="3658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18230" y="3329248"/>
            <a:ext cx="509448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结果解释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18230" y="3585344"/>
            <a:ext cx="50853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结合业务知识为簇赋予实际含义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8963" y="4207292"/>
            <a:ext cx="5643259" cy="1536576"/>
          </a:xfrm>
          <a:custGeom>
            <a:avLst/>
            <a:gdLst/>
            <a:ahLst/>
            <a:cxnLst/>
            <a:rect l="l" t="t" r="r" b="b"/>
            <a:pathLst>
              <a:path w="5643259" h="1536576">
                <a:moveTo>
                  <a:pt x="73172" y="0"/>
                </a:moveTo>
                <a:lnTo>
                  <a:pt x="5570087" y="0"/>
                </a:lnTo>
                <a:cubicBezTo>
                  <a:pt x="5610499" y="0"/>
                  <a:pt x="5643259" y="32760"/>
                  <a:pt x="5643259" y="73172"/>
                </a:cubicBezTo>
                <a:lnTo>
                  <a:pt x="5643259" y="1463404"/>
                </a:lnTo>
                <a:cubicBezTo>
                  <a:pt x="5643259" y="1503816"/>
                  <a:pt x="5610499" y="1536576"/>
                  <a:pt x="5570087" y="1536576"/>
                </a:cubicBezTo>
                <a:lnTo>
                  <a:pt x="73172" y="1536576"/>
                </a:lnTo>
                <a:cubicBezTo>
                  <a:pt x="32787" y="1536576"/>
                  <a:pt x="0" y="1503789"/>
                  <a:pt x="0" y="1463404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71889" y="4390218"/>
            <a:ext cx="536887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算法组合策略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0182" y="4792654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143654" y="79630"/>
                </a:moveTo>
                <a:cubicBezTo>
                  <a:pt x="147227" y="76057"/>
                  <a:pt x="147227" y="70255"/>
                  <a:pt x="143654" y="66682"/>
                </a:cubicBezTo>
                <a:lnTo>
                  <a:pt x="97922" y="20951"/>
                </a:lnTo>
                <a:cubicBezTo>
                  <a:pt x="94350" y="17378"/>
                  <a:pt x="88547" y="17378"/>
                  <a:pt x="84975" y="20951"/>
                </a:cubicBezTo>
                <a:cubicBezTo>
                  <a:pt x="81402" y="24523"/>
                  <a:pt x="81402" y="30326"/>
                  <a:pt x="84975" y="33898"/>
                </a:cubicBezTo>
                <a:lnTo>
                  <a:pt x="115100" y="64024"/>
                </a:lnTo>
                <a:lnTo>
                  <a:pt x="9146" y="64024"/>
                </a:lnTo>
                <a:cubicBezTo>
                  <a:pt x="4087" y="64024"/>
                  <a:pt x="0" y="68111"/>
                  <a:pt x="0" y="73170"/>
                </a:cubicBezTo>
                <a:cubicBezTo>
                  <a:pt x="0" y="78229"/>
                  <a:pt x="4087" y="82317"/>
                  <a:pt x="9146" y="82317"/>
                </a:cubicBezTo>
                <a:lnTo>
                  <a:pt x="115100" y="82317"/>
                </a:lnTo>
                <a:lnTo>
                  <a:pt x="84975" y="112442"/>
                </a:lnTo>
                <a:cubicBezTo>
                  <a:pt x="81402" y="116015"/>
                  <a:pt x="81402" y="121817"/>
                  <a:pt x="84975" y="125390"/>
                </a:cubicBezTo>
                <a:cubicBezTo>
                  <a:pt x="88547" y="128963"/>
                  <a:pt x="94350" y="128963"/>
                  <a:pt x="97922" y="125390"/>
                </a:cubicBezTo>
                <a:lnTo>
                  <a:pt x="143654" y="7965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627985" y="4756069"/>
            <a:ext cx="300912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 + PCA</a:t>
            </a:r>
            <a:r>
              <a:rPr lang="en-US" sz="115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先降维再聚类,应对高维数据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0182" y="5085335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143654" y="79630"/>
                </a:moveTo>
                <a:cubicBezTo>
                  <a:pt x="147227" y="76057"/>
                  <a:pt x="147227" y="70255"/>
                  <a:pt x="143654" y="66682"/>
                </a:cubicBezTo>
                <a:lnTo>
                  <a:pt x="97922" y="20951"/>
                </a:lnTo>
                <a:cubicBezTo>
                  <a:pt x="94350" y="17378"/>
                  <a:pt x="88547" y="17378"/>
                  <a:pt x="84975" y="20951"/>
                </a:cubicBezTo>
                <a:cubicBezTo>
                  <a:pt x="81402" y="24523"/>
                  <a:pt x="81402" y="30326"/>
                  <a:pt x="84975" y="33898"/>
                </a:cubicBezTo>
                <a:lnTo>
                  <a:pt x="115100" y="64024"/>
                </a:lnTo>
                <a:lnTo>
                  <a:pt x="9146" y="64024"/>
                </a:lnTo>
                <a:cubicBezTo>
                  <a:pt x="4087" y="64024"/>
                  <a:pt x="0" y="68111"/>
                  <a:pt x="0" y="73170"/>
                </a:cubicBezTo>
                <a:cubicBezTo>
                  <a:pt x="0" y="78229"/>
                  <a:pt x="4087" y="82317"/>
                  <a:pt x="9146" y="82317"/>
                </a:cubicBezTo>
                <a:lnTo>
                  <a:pt x="115100" y="82317"/>
                </a:lnTo>
                <a:lnTo>
                  <a:pt x="84975" y="112442"/>
                </a:lnTo>
                <a:cubicBezTo>
                  <a:pt x="81402" y="116015"/>
                  <a:pt x="81402" y="121817"/>
                  <a:pt x="84975" y="125390"/>
                </a:cubicBezTo>
                <a:cubicBezTo>
                  <a:pt x="88547" y="128963"/>
                  <a:pt x="94350" y="128963"/>
                  <a:pt x="97922" y="125390"/>
                </a:cubicBezTo>
                <a:lnTo>
                  <a:pt x="143654" y="79658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27985" y="5048750"/>
            <a:ext cx="393290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 + DBSCAN</a:t>
            </a:r>
            <a:r>
              <a:rPr lang="en-US" sz="115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先用</a:t>
            </a:r>
            <a:r>
              <a:rPr lang="en-US" sz="1152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去噪,再用</a:t>
            </a:r>
            <a:r>
              <a:rPr lang="en-US" sz="1152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0182" y="5378017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143654" y="79630"/>
                </a:moveTo>
                <a:cubicBezTo>
                  <a:pt x="147227" y="76057"/>
                  <a:pt x="147227" y="70255"/>
                  <a:pt x="143654" y="66682"/>
                </a:cubicBezTo>
                <a:lnTo>
                  <a:pt x="97922" y="20951"/>
                </a:lnTo>
                <a:cubicBezTo>
                  <a:pt x="94350" y="17378"/>
                  <a:pt x="88547" y="17378"/>
                  <a:pt x="84975" y="20951"/>
                </a:cubicBezTo>
                <a:cubicBezTo>
                  <a:pt x="81402" y="24523"/>
                  <a:pt x="81402" y="30326"/>
                  <a:pt x="84975" y="33898"/>
                </a:cubicBezTo>
                <a:lnTo>
                  <a:pt x="115100" y="64024"/>
                </a:lnTo>
                <a:lnTo>
                  <a:pt x="9146" y="64024"/>
                </a:lnTo>
                <a:cubicBezTo>
                  <a:pt x="4087" y="64024"/>
                  <a:pt x="0" y="68111"/>
                  <a:pt x="0" y="73170"/>
                </a:cubicBezTo>
                <a:cubicBezTo>
                  <a:pt x="0" y="78229"/>
                  <a:pt x="4087" y="82317"/>
                  <a:pt x="9146" y="82317"/>
                </a:cubicBezTo>
                <a:lnTo>
                  <a:pt x="115100" y="82317"/>
                </a:lnTo>
                <a:lnTo>
                  <a:pt x="84975" y="112442"/>
                </a:lnTo>
                <a:cubicBezTo>
                  <a:pt x="81402" y="116015"/>
                  <a:pt x="81402" y="121817"/>
                  <a:pt x="84975" y="125390"/>
                </a:cubicBezTo>
                <a:cubicBezTo>
                  <a:pt x="88547" y="128963"/>
                  <a:pt x="94350" y="128963"/>
                  <a:pt x="97922" y="125390"/>
                </a:cubicBezTo>
                <a:lnTo>
                  <a:pt x="143654" y="79658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627985" y="5341431"/>
            <a:ext cx="370424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 + </a:t>
            </a:r>
            <a:r>
              <a:rPr lang="en-US" sz="1152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15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用层次聚类确定</a:t>
            </a:r>
            <a:r>
              <a:rPr lang="en-US" sz="1152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值,再用</a:t>
            </a:r>
            <a:r>
              <a:rPr lang="en-US" sz="1152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精调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70425" y="5894782"/>
            <a:ext cx="11451151" cy="594509"/>
          </a:xfrm>
          <a:custGeom>
            <a:avLst/>
            <a:gdLst/>
            <a:ahLst/>
            <a:cxnLst/>
            <a:rect l="l" t="t" r="r" b="b"/>
            <a:pathLst>
              <a:path w="11451151" h="594509">
                <a:moveTo>
                  <a:pt x="73172" y="0"/>
                </a:moveTo>
                <a:lnTo>
                  <a:pt x="11377979" y="0"/>
                </a:lnTo>
                <a:cubicBezTo>
                  <a:pt x="11418391" y="0"/>
                  <a:pt x="11451151" y="32760"/>
                  <a:pt x="11451151" y="73172"/>
                </a:cubicBezTo>
                <a:lnTo>
                  <a:pt x="11451151" y="521337"/>
                </a:lnTo>
                <a:cubicBezTo>
                  <a:pt x="11451151" y="561748"/>
                  <a:pt x="11418391" y="594509"/>
                  <a:pt x="11377979" y="594509"/>
                </a:cubicBezTo>
                <a:lnTo>
                  <a:pt x="73172" y="594509"/>
                </a:lnTo>
                <a:cubicBezTo>
                  <a:pt x="32760" y="594509"/>
                  <a:pt x="0" y="561748"/>
                  <a:pt x="0" y="521337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71643" y="6082281"/>
            <a:ext cx="246950" cy="219511"/>
          </a:xfrm>
          <a:custGeom>
            <a:avLst/>
            <a:gdLst/>
            <a:ahLst/>
            <a:cxnLst/>
            <a:rect l="l" t="t" r="r" b="b"/>
            <a:pathLst>
              <a:path w="246950" h="219511">
                <a:moveTo>
                  <a:pt x="20579" y="83946"/>
                </a:moveTo>
                <a:lnTo>
                  <a:pt x="110270" y="120860"/>
                </a:lnTo>
                <a:cubicBezTo>
                  <a:pt x="114471" y="122575"/>
                  <a:pt x="118930" y="123475"/>
                  <a:pt x="123475" y="123475"/>
                </a:cubicBezTo>
                <a:cubicBezTo>
                  <a:pt x="128019" y="123475"/>
                  <a:pt x="132478" y="122575"/>
                  <a:pt x="136680" y="120860"/>
                </a:cubicBezTo>
                <a:lnTo>
                  <a:pt x="240605" y="78072"/>
                </a:lnTo>
                <a:cubicBezTo>
                  <a:pt x="244463" y="76486"/>
                  <a:pt x="246950" y="72756"/>
                  <a:pt x="246950" y="68597"/>
                </a:cubicBezTo>
                <a:cubicBezTo>
                  <a:pt x="246950" y="64438"/>
                  <a:pt x="244463" y="60708"/>
                  <a:pt x="240605" y="59122"/>
                </a:cubicBezTo>
                <a:lnTo>
                  <a:pt x="136680" y="16335"/>
                </a:lnTo>
                <a:cubicBezTo>
                  <a:pt x="132478" y="14620"/>
                  <a:pt x="128019" y="13719"/>
                  <a:pt x="123475" y="13719"/>
                </a:cubicBezTo>
                <a:cubicBezTo>
                  <a:pt x="118930" y="13719"/>
                  <a:pt x="114471" y="14620"/>
                  <a:pt x="110270" y="16335"/>
                </a:cubicBezTo>
                <a:lnTo>
                  <a:pt x="6345" y="59122"/>
                </a:lnTo>
                <a:cubicBezTo>
                  <a:pt x="2487" y="60708"/>
                  <a:pt x="0" y="64438"/>
                  <a:pt x="0" y="68597"/>
                </a:cubicBezTo>
                <a:lnTo>
                  <a:pt x="0" y="195502"/>
                </a:lnTo>
                <a:cubicBezTo>
                  <a:pt x="0" y="201204"/>
                  <a:pt x="4587" y="205791"/>
                  <a:pt x="10290" y="205791"/>
                </a:cubicBezTo>
                <a:cubicBezTo>
                  <a:pt x="15992" y="205791"/>
                  <a:pt x="20579" y="201204"/>
                  <a:pt x="20579" y="195502"/>
                </a:cubicBezTo>
                <a:lnTo>
                  <a:pt x="20579" y="83946"/>
                </a:lnTo>
                <a:close/>
                <a:moveTo>
                  <a:pt x="41158" y="114686"/>
                </a:moveTo>
                <a:lnTo>
                  <a:pt x="41158" y="164633"/>
                </a:lnTo>
                <a:cubicBezTo>
                  <a:pt x="41158" y="187356"/>
                  <a:pt x="78029" y="205791"/>
                  <a:pt x="123475" y="205791"/>
                </a:cubicBezTo>
                <a:cubicBezTo>
                  <a:pt x="168920" y="205791"/>
                  <a:pt x="205791" y="187356"/>
                  <a:pt x="205791" y="164633"/>
                </a:cubicBezTo>
                <a:lnTo>
                  <a:pt x="205791" y="114643"/>
                </a:lnTo>
                <a:lnTo>
                  <a:pt x="144526" y="139895"/>
                </a:lnTo>
                <a:cubicBezTo>
                  <a:pt x="137837" y="142639"/>
                  <a:pt x="130720" y="144054"/>
                  <a:pt x="123475" y="144054"/>
                </a:cubicBezTo>
                <a:cubicBezTo>
                  <a:pt x="116229" y="144054"/>
                  <a:pt x="109112" y="142639"/>
                  <a:pt x="102424" y="139895"/>
                </a:cubicBezTo>
                <a:lnTo>
                  <a:pt x="41158" y="114643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42068" y="6082281"/>
            <a:ext cx="79023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核心要点:</a:t>
            </a:r>
            <a:r>
              <a:rPr lang="en-US" sz="115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K-Means虽简单,但应用时需注意数据预处理、K值选择、异常值处理等问题。灵活组合其他算法可弥补其不足。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621506"/>
            <a:ext cx="1952625" cy="533400"/>
          </a:xfrm>
          <a:custGeom>
            <a:avLst/>
            <a:gdLst/>
            <a:ahLst/>
            <a:cxnLst/>
            <a:rect l="l" t="t" r="r" b="b"/>
            <a:pathLst>
              <a:path w="1952625" h="533400">
                <a:moveTo>
                  <a:pt x="0" y="0"/>
                </a:moveTo>
                <a:lnTo>
                  <a:pt x="1952625" y="0"/>
                </a:lnTo>
                <a:lnTo>
                  <a:pt x="19526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00050" y="621506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7700" y="735806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59706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</a:t>
            </a:r>
            <a:r>
              <a:rPr lang="en-US" sz="1600" dirty="0"/>
              <a:t> </a:t>
            </a:r>
            <a:r>
              <a:rPr lang="en-US" sz="5400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密度聚类算法</a:t>
            </a:r>
            <a:endParaRPr lang="en-US" sz="5400" dirty="0">
              <a:solidFill>
                <a:srgbClr val="E0E0E0"/>
              </a:solidFill>
              <a:latin typeface="KaiTi" panose="02010609060101010101" pitchFamily="49" charset="-122"/>
              <a:ea typeface="KaiTi" panose="02010609060101010101" pitchFamily="49" charset="-122"/>
              <a:cs typeface="Alimama ShuHeiTi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5400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深度解析</a:t>
            </a:r>
            <a:endParaRPr lang="en-US" sz="16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BAA73E7-37B3-A167-5B70-353279F41E0C}"/>
              </a:ext>
            </a:extLst>
          </p:cNvPr>
          <p:cNvGrpSpPr/>
          <p:nvPr/>
        </p:nvGrpSpPr>
        <p:grpSpPr>
          <a:xfrm>
            <a:off x="385763" y="4474800"/>
            <a:ext cx="3933825" cy="504825"/>
            <a:chOff x="385763" y="4463280"/>
            <a:chExt cx="3933825" cy="504825"/>
          </a:xfrm>
        </p:grpSpPr>
        <p:sp>
          <p:nvSpPr>
            <p:cNvPr id="9" name="Shape 6"/>
            <p:cNvSpPr/>
            <p:nvPr/>
          </p:nvSpPr>
          <p:spPr>
            <a:xfrm>
              <a:off x="385763" y="4463280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76198" y="0"/>
                  </a:moveTo>
                  <a:lnTo>
                    <a:pt x="1076327" y="0"/>
                  </a:lnTo>
                  <a:cubicBezTo>
                    <a:pt x="1118410" y="0"/>
                    <a:pt x="1152525" y="34115"/>
                    <a:pt x="1152525" y="76198"/>
                  </a:cubicBezTo>
                  <a:lnTo>
                    <a:pt x="1152525" y="428627"/>
                  </a:lnTo>
                  <a:cubicBezTo>
                    <a:pt x="1152525" y="470710"/>
                    <a:pt x="1118410" y="504825"/>
                    <a:pt x="1076327" y="504825"/>
                  </a:cubicBezTo>
                  <a:lnTo>
                    <a:pt x="76198" y="504825"/>
                  </a:lnTo>
                  <a:cubicBezTo>
                    <a:pt x="34115" y="504825"/>
                    <a:pt x="0" y="470710"/>
                    <a:pt x="0" y="42862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3D8F8A">
                <a:alpha val="10196"/>
              </a:srgbClr>
            </a:solidFill>
            <a:ln w="12700">
              <a:solidFill>
                <a:srgbClr val="3D8F8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619125" y="4601393"/>
              <a:ext cx="771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A99A8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核心概念</a:t>
              </a:r>
              <a:endParaRPr lang="en-US" sz="16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1776413" y="4463280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76198" y="0"/>
                  </a:moveTo>
                  <a:lnTo>
                    <a:pt x="1076327" y="0"/>
                  </a:lnTo>
                  <a:cubicBezTo>
                    <a:pt x="1118410" y="0"/>
                    <a:pt x="1152525" y="34115"/>
                    <a:pt x="1152525" y="76198"/>
                  </a:cubicBezTo>
                  <a:lnTo>
                    <a:pt x="1152525" y="428627"/>
                  </a:lnTo>
                  <a:cubicBezTo>
                    <a:pt x="1152525" y="470710"/>
                    <a:pt x="1118410" y="504825"/>
                    <a:pt x="1076327" y="504825"/>
                  </a:cubicBezTo>
                  <a:lnTo>
                    <a:pt x="76198" y="504825"/>
                  </a:lnTo>
                  <a:cubicBezTo>
                    <a:pt x="34115" y="504825"/>
                    <a:pt x="0" y="470710"/>
                    <a:pt x="0" y="42862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C7A674">
                <a:alpha val="10196"/>
              </a:srgbClr>
            </a:solidFill>
            <a:ln w="12700">
              <a:solidFill>
                <a:srgbClr val="C7A674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2009775" y="4601393"/>
              <a:ext cx="771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A99A8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参数调优</a:t>
              </a:r>
              <a:endParaRPr lang="en-US" sz="16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3167063" y="4463280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76198" y="0"/>
                  </a:moveTo>
                  <a:lnTo>
                    <a:pt x="1076327" y="0"/>
                  </a:lnTo>
                  <a:cubicBezTo>
                    <a:pt x="1118410" y="0"/>
                    <a:pt x="1152525" y="34115"/>
                    <a:pt x="1152525" y="76198"/>
                  </a:cubicBezTo>
                  <a:lnTo>
                    <a:pt x="1152525" y="428627"/>
                  </a:lnTo>
                  <a:cubicBezTo>
                    <a:pt x="1152525" y="470710"/>
                    <a:pt x="1118410" y="504825"/>
                    <a:pt x="1076327" y="504825"/>
                  </a:cubicBezTo>
                  <a:lnTo>
                    <a:pt x="76198" y="504825"/>
                  </a:lnTo>
                  <a:cubicBezTo>
                    <a:pt x="34115" y="504825"/>
                    <a:pt x="0" y="470710"/>
                    <a:pt x="0" y="42862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A99A8D">
                <a:alpha val="10196"/>
              </a:srgbClr>
            </a:solidFill>
            <a:ln w="12700">
              <a:solidFill>
                <a:srgbClr val="A99A8D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3400425" y="4601393"/>
              <a:ext cx="7715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A99A8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实战案例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 CLUSTERING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密度聚类概述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81650" cy="2819400"/>
          </a:xfrm>
          <a:custGeom>
            <a:avLst/>
            <a:gdLst/>
            <a:ahLst/>
            <a:cxnLst/>
            <a:rect l="l" t="t" r="r" b="b"/>
            <a:pathLst>
              <a:path w="5581650" h="2819400">
                <a:moveTo>
                  <a:pt x="38100" y="0"/>
                </a:moveTo>
                <a:lnTo>
                  <a:pt x="5505442" y="0"/>
                </a:lnTo>
                <a:cubicBezTo>
                  <a:pt x="5547530" y="0"/>
                  <a:pt x="5581650" y="34120"/>
                  <a:pt x="5581650" y="76208"/>
                </a:cubicBezTo>
                <a:lnTo>
                  <a:pt x="5581650" y="2743192"/>
                </a:lnTo>
                <a:cubicBezTo>
                  <a:pt x="5581650" y="2785280"/>
                  <a:pt x="5547530" y="2819400"/>
                  <a:pt x="5505442" y="2819400"/>
                </a:cubicBezTo>
                <a:lnTo>
                  <a:pt x="38100" y="2819400"/>
                </a:lnTo>
                <a:cubicBezTo>
                  <a:pt x="17072" y="2819400"/>
                  <a:pt x="0" y="2802328"/>
                  <a:pt x="0" y="2781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38100" cy="2819400"/>
          </a:xfrm>
          <a:custGeom>
            <a:avLst/>
            <a:gdLst/>
            <a:ahLst/>
            <a:cxnLst/>
            <a:rect l="l" t="t" r="r" b="b"/>
            <a:pathLst>
              <a:path w="38100" h="2819400">
                <a:moveTo>
                  <a:pt x="38100" y="0"/>
                </a:moveTo>
                <a:lnTo>
                  <a:pt x="38100" y="0"/>
                </a:lnTo>
                <a:lnTo>
                  <a:pt x="38100" y="2819400"/>
                </a:lnTo>
                <a:lnTo>
                  <a:pt x="38100" y="2819400"/>
                </a:lnTo>
                <a:cubicBezTo>
                  <a:pt x="17072" y="2819400"/>
                  <a:pt x="0" y="2802328"/>
                  <a:pt x="0" y="2781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9600" y="1447800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8669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密度聚类是一种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基于数据密度分布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的聚类方法。与传统划分聚类(如</a:t>
            </a:r>
            <a:r>
              <a:rPr lang="en-US" sz="120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)假设簇为凸形不同,密度聚类通过评估样本的紧密程度来划分类别。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476500"/>
            <a:ext cx="5181600" cy="1409700"/>
          </a:xfrm>
          <a:custGeom>
            <a:avLst/>
            <a:gdLst/>
            <a:ahLst/>
            <a:cxnLst/>
            <a:rect l="l" t="t" r="r" b="b"/>
            <a:pathLst>
              <a:path w="5181600" h="1409700">
                <a:moveTo>
                  <a:pt x="76194" y="0"/>
                </a:moveTo>
                <a:lnTo>
                  <a:pt x="5105406" y="0"/>
                </a:lnTo>
                <a:cubicBezTo>
                  <a:pt x="5147458" y="0"/>
                  <a:pt x="5181600" y="34142"/>
                  <a:pt x="5181600" y="76194"/>
                </a:cubicBezTo>
                <a:lnTo>
                  <a:pt x="5181600" y="1333506"/>
                </a:lnTo>
                <a:cubicBezTo>
                  <a:pt x="5181600" y="1375587"/>
                  <a:pt x="5147487" y="1409700"/>
                  <a:pt x="51054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2000" y="26289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718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无需预设簇数 - 算法根据密度自动确定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2385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发现任意形状簇 - 环形、月牙形、S形等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5052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抗噪能力强 - 自动识别并剔除离群点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4229100"/>
            <a:ext cx="5581650" cy="2209800"/>
          </a:xfrm>
          <a:custGeom>
            <a:avLst/>
            <a:gdLst/>
            <a:ahLst/>
            <a:cxnLst/>
            <a:rect l="l" t="t" r="r" b="b"/>
            <a:pathLst>
              <a:path w="5581650" h="2209800">
                <a:moveTo>
                  <a:pt x="38100" y="0"/>
                </a:moveTo>
                <a:lnTo>
                  <a:pt x="5505456" y="0"/>
                </a:lnTo>
                <a:cubicBezTo>
                  <a:pt x="5547537" y="0"/>
                  <a:pt x="5581650" y="34113"/>
                  <a:pt x="5581650" y="76194"/>
                </a:cubicBezTo>
                <a:lnTo>
                  <a:pt x="5581650" y="2133606"/>
                </a:lnTo>
                <a:cubicBezTo>
                  <a:pt x="5581650" y="2175687"/>
                  <a:pt x="5547537" y="2209800"/>
                  <a:pt x="5505456" y="2209800"/>
                </a:cubicBezTo>
                <a:lnTo>
                  <a:pt x="38100" y="2209800"/>
                </a:lnTo>
                <a:cubicBezTo>
                  <a:pt x="17072" y="2209800"/>
                  <a:pt x="0" y="2192728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00050" y="42291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3810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38100" y="2209800"/>
                </a:lnTo>
                <a:cubicBezTo>
                  <a:pt x="17072" y="2209800"/>
                  <a:pt x="0" y="2192728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9600" y="4419600"/>
            <a:ext cx="527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与</a:t>
            </a:r>
            <a:r>
              <a:rPr lang="en-US" sz="15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的对比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800600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38103" y="0"/>
                </a:moveTo>
                <a:lnTo>
                  <a:pt x="5143497" y="0"/>
                </a:lnTo>
                <a:cubicBezTo>
                  <a:pt x="5164541" y="0"/>
                  <a:pt x="5181600" y="17059"/>
                  <a:pt x="5181600" y="38103"/>
                </a:cubicBezTo>
                <a:lnTo>
                  <a:pt x="5181600" y="647697"/>
                </a:lnTo>
                <a:cubicBezTo>
                  <a:pt x="5181600" y="668741"/>
                  <a:pt x="5164541" y="685800"/>
                  <a:pt x="51434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23900" y="49149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518160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假设簇是凸的(球状),簇之间分离良好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5562600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38103" y="0"/>
                </a:moveTo>
                <a:lnTo>
                  <a:pt x="5143497" y="0"/>
                </a:lnTo>
                <a:cubicBezTo>
                  <a:pt x="5164541" y="0"/>
                  <a:pt x="5181600" y="17059"/>
                  <a:pt x="5181600" y="38103"/>
                </a:cubicBezTo>
                <a:lnTo>
                  <a:pt x="5181600" y="647697"/>
                </a:lnTo>
                <a:cubicBezTo>
                  <a:pt x="5181600" y="668741"/>
                  <a:pt x="5164541" y="685800"/>
                  <a:pt x="51434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23900" y="56769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3900" y="594360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寻找被低密度区域分离的高密度区域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257300"/>
            <a:ext cx="5600700" cy="5181600"/>
          </a:xfrm>
          <a:custGeom>
            <a:avLst/>
            <a:gdLst/>
            <a:ahLst/>
            <a:cxnLst/>
            <a:rect l="l" t="t" r="r" b="b"/>
            <a:pathLst>
              <a:path w="5600700" h="5181600">
                <a:moveTo>
                  <a:pt x="76221" y="0"/>
                </a:moveTo>
                <a:lnTo>
                  <a:pt x="5524479" y="0"/>
                </a:lnTo>
                <a:cubicBezTo>
                  <a:pt x="5566575" y="0"/>
                  <a:pt x="5600700" y="34125"/>
                  <a:pt x="5600700" y="76221"/>
                </a:cubicBezTo>
                <a:lnTo>
                  <a:pt x="5600700" y="5105379"/>
                </a:lnTo>
                <a:cubicBezTo>
                  <a:pt x="5600700" y="5147475"/>
                  <a:pt x="5566575" y="5181600"/>
                  <a:pt x="5524479" y="5181600"/>
                </a:cubicBezTo>
                <a:lnTo>
                  <a:pt x="76221" y="5181600"/>
                </a:lnTo>
                <a:cubicBezTo>
                  <a:pt x="34125" y="5181600"/>
                  <a:pt x="0" y="5147475"/>
                  <a:pt x="0" y="5105379"/>
                </a:cubicBezTo>
                <a:lnTo>
                  <a:pt x="0" y="76221"/>
                </a:lnTo>
                <a:cubicBezTo>
                  <a:pt x="0" y="34154"/>
                  <a:pt x="34154" y="0"/>
                  <a:pt x="76221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1C3276F-B7D2-BCB5-4ADA-5E2C0579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189" y="1959523"/>
            <a:ext cx="5580922" cy="377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DEFINITIONS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27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核心概念定义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3705225" cy="2171700"/>
          </a:xfrm>
          <a:custGeom>
            <a:avLst/>
            <a:gdLst/>
            <a:ahLst/>
            <a:cxnLst/>
            <a:rect l="l" t="t" r="r" b="b"/>
            <a:pathLst>
              <a:path w="3705225" h="21717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95495"/>
                </a:lnTo>
                <a:cubicBezTo>
                  <a:pt x="3705225" y="2137582"/>
                  <a:pt x="3671107" y="2171700"/>
                  <a:pt x="3629020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968475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138363" y="15811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0538" y="2057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ε-邻域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438400"/>
            <a:ext cx="3467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对于数据点xⱼ,其ε-邻域Nε(xⱼ)是指数据集中所有与xⱼ的距离不超过ε的样本点的集合。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947988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38100" y="0"/>
                </a:moveTo>
                <a:lnTo>
                  <a:pt x="3362325" y="0"/>
                </a:lnTo>
                <a:cubicBezTo>
                  <a:pt x="3383367" y="0"/>
                  <a:pt x="3400425" y="17058"/>
                  <a:pt x="3400425" y="38100"/>
                </a:cubicBezTo>
                <a:lnTo>
                  <a:pt x="3400425" y="304800"/>
                </a:lnTo>
                <a:cubicBezTo>
                  <a:pt x="3400425" y="325842"/>
                  <a:pt x="3383367" y="342900"/>
                  <a:pt x="3362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500063" y="2947988"/>
                <a:ext cx="3467100" cy="342900"/>
              </a:xfrm>
              <a:prstGeom prst="rect">
                <a:avLst/>
              </a:prstGeom>
              <a:noFill/>
              <a:ln/>
            </p:spPr>
            <p:txBody>
              <a:bodyPr wrap="square" lIns="76200" tIns="76200" rIns="76200" bIns="7620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50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5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05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altLang="zh-CN" sz="105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5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05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1050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05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5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5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05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zh-CN" sz="105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05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sty m:val="p"/>
                            </m:rPr>
                            <a:rPr lang="en-US" altLang="zh-CN" sz="105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distance</m:t>
                          </m:r>
                          <m:d>
                            <m:dPr>
                              <m:sepChr m:val=","/>
                              <m:ctrlPr>
                                <a:rPr lang="en-US" altLang="zh-CN" sz="1050" b="0" i="1" dirty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05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5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05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05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5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050" b="0" i="1" dirty="0">
                                      <a:solidFill>
                                        <a:srgbClr val="E0E0E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050" b="0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1050" b="0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3" y="2947988"/>
                <a:ext cx="3467100" cy="342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241750" y="1276350"/>
            <a:ext cx="3705225" cy="2171700"/>
          </a:xfrm>
          <a:custGeom>
            <a:avLst/>
            <a:gdLst/>
            <a:ahLst/>
            <a:cxnLst/>
            <a:rect l="l" t="t" r="r" b="b"/>
            <a:pathLst>
              <a:path w="3705225" h="21717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95495"/>
                </a:lnTo>
                <a:cubicBezTo>
                  <a:pt x="3705225" y="2137582"/>
                  <a:pt x="3671107" y="2171700"/>
                  <a:pt x="3629020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241750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829226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750347" y="158115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MinPts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51288" y="2057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最小样本数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94150" y="2438400"/>
            <a:ext cx="3467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ε-邻域内要求的最小样本数(包括自身)。这是判断一个点是否为核心点的阈值。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94150" y="2947988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38100" y="0"/>
                </a:moveTo>
                <a:lnTo>
                  <a:pt x="3362325" y="0"/>
                </a:lnTo>
                <a:cubicBezTo>
                  <a:pt x="3383367" y="0"/>
                  <a:pt x="3400425" y="17058"/>
                  <a:pt x="3400425" y="38100"/>
                </a:cubicBezTo>
                <a:lnTo>
                  <a:pt x="3400425" y="304800"/>
                </a:lnTo>
                <a:cubicBezTo>
                  <a:pt x="3400425" y="325842"/>
                  <a:pt x="3383367" y="342900"/>
                  <a:pt x="3362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360813" y="2947988"/>
            <a:ext cx="346710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典型取值: 维度+1 或 2×维度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2575" y="1276350"/>
            <a:ext cx="3705225" cy="2171700"/>
          </a:xfrm>
          <a:custGeom>
            <a:avLst/>
            <a:gdLst/>
            <a:ahLst/>
            <a:cxnLst/>
            <a:rect l="l" t="t" r="r" b="b"/>
            <a:pathLst>
              <a:path w="3705225" h="21717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95495"/>
                </a:lnTo>
                <a:cubicBezTo>
                  <a:pt x="3705225" y="2137582"/>
                  <a:pt x="3671107" y="2171700"/>
                  <a:pt x="3629020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102575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69005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86150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212113" y="2057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4975" y="2438400"/>
            <a:ext cx="3467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如果数据点xⱼ的ε-邻域内至少包含MinPts个样本点,则xⱼ被称为核心点。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4975" y="2947988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38100" y="0"/>
                </a:moveTo>
                <a:lnTo>
                  <a:pt x="3362325" y="0"/>
                </a:lnTo>
                <a:cubicBezTo>
                  <a:pt x="3383367" y="0"/>
                  <a:pt x="3400425" y="17058"/>
                  <a:pt x="3400425" y="38100"/>
                </a:cubicBezTo>
                <a:lnTo>
                  <a:pt x="3400425" y="304800"/>
                </a:lnTo>
                <a:cubicBezTo>
                  <a:pt x="3400425" y="325842"/>
                  <a:pt x="3383367" y="342900"/>
                  <a:pt x="3362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8221638" y="2947988"/>
                <a:ext cx="3467100" cy="342900"/>
              </a:xfrm>
              <a:prstGeom prst="rect">
                <a:avLst/>
              </a:prstGeom>
              <a:noFill/>
              <a:ln/>
            </p:spPr>
            <p:txBody>
              <a:bodyPr wrap="square" lIns="76200" tIns="76200" rIns="76200" bIns="7620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dirty="0" smtClean="0">
                        <a:solidFill>
                          <a:srgbClr val="E0E0E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050" i="1" dirty="0" smtClean="0">
                            <a:solidFill>
                              <a:srgbClr val="E0E0E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50" i="1" dirty="0" smtClean="0">
                            <a:solidFill>
                              <a:srgbClr val="E0E0E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050" i="1" dirty="0" smtClean="0">
                            <a:solidFill>
                              <a:srgbClr val="E0E0E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altLang="zh-CN" sz="1050" i="1" dirty="0" smtClean="0">
                            <a:solidFill>
                              <a:srgbClr val="E0E0E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50" i="1" dirty="0" smtClean="0">
                                <a:solidFill>
                                  <a:srgbClr val="E0E0E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50" i="1" dirty="0" smtClean="0">
                                <a:solidFill>
                                  <a:srgbClr val="E0E0E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050" i="1" dirty="0" smtClean="0">
                                <a:solidFill>
                                  <a:srgbClr val="E0E0E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1050" i="0" dirty="0" smtClean="0">
                        <a:solidFill>
                          <a:srgbClr val="E0E0E0"/>
                        </a:solidFill>
                        <a:latin typeface="Cambria Math" panose="02040503050406030204" pitchFamily="18" charset="0"/>
                      </a:rPr>
                      <m:t>|≥</m:t>
                    </m:r>
                    <m:r>
                      <m:rPr>
                        <m:sty m:val="p"/>
                      </m:rPr>
                      <a:rPr lang="en-US" altLang="zh-CN" sz="1050" b="0" i="1" dirty="0" smtClean="0">
                        <a:solidFill>
                          <a:srgbClr val="E0E0E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MinPts</m:t>
                    </m:r>
                  </m:oMath>
                </a14:m>
                <a:r>
                  <a:rPr lang="en-US" sz="1050" dirty="0">
                    <a:solidFill>
                      <a:srgbClr val="E0E0E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lang="en-US" sz="1050" dirty="0">
                    <a:solidFill>
                      <a:srgbClr val="E0E0E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MiSans" pitchFamily="34" charset="-120"/>
                  </a:rPr>
                  <a:t>→ </a:t>
                </a:r>
                <a:r>
                  <a:rPr lang="en-US" sz="1050" dirty="0" err="1">
                    <a:solidFill>
                      <a:srgbClr val="E0E0E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MiSans" pitchFamily="34" charset="-120"/>
                  </a:rPr>
                  <a:t>核心点</a:t>
                </a:r>
                <a:endParaRPr lang="en-US" sz="16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638" y="2947988"/>
                <a:ext cx="3467100" cy="342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400050" y="3595688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00050" y="3595688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09600" y="3786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33425" y="39004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133350"/>
                </a:moveTo>
                <a:cubicBezTo>
                  <a:pt x="0" y="138619"/>
                  <a:pt x="4256" y="142875"/>
                  <a:pt x="9525" y="142875"/>
                </a:cubicBezTo>
                <a:cubicBezTo>
                  <a:pt x="14794" y="142875"/>
                  <a:pt x="19050" y="138619"/>
                  <a:pt x="19050" y="133350"/>
                </a:cubicBezTo>
                <a:lnTo>
                  <a:pt x="19050" y="28575"/>
                </a:lnTo>
                <a:lnTo>
                  <a:pt x="123825" y="28575"/>
                </a:lnTo>
                <a:cubicBezTo>
                  <a:pt x="129094" y="28575"/>
                  <a:pt x="133350" y="24319"/>
                  <a:pt x="133350" y="19050"/>
                </a:cubicBezTo>
                <a:cubicBezTo>
                  <a:pt x="133350" y="13781"/>
                  <a:pt x="129094" y="9525"/>
                  <a:pt x="12382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33350"/>
                </a:lnTo>
                <a:close/>
                <a:moveTo>
                  <a:pt x="38100" y="133350"/>
                </a:moveTo>
                <a:cubicBezTo>
                  <a:pt x="38100" y="138619"/>
                  <a:pt x="42356" y="142875"/>
                  <a:pt x="47625" y="142875"/>
                </a:cubicBezTo>
                <a:cubicBezTo>
                  <a:pt x="52894" y="142875"/>
                  <a:pt x="57150" y="138619"/>
                  <a:pt x="57150" y="133350"/>
                </a:cubicBezTo>
                <a:cubicBezTo>
                  <a:pt x="57150" y="128081"/>
                  <a:pt x="52894" y="123825"/>
                  <a:pt x="47625" y="123825"/>
                </a:cubicBezTo>
                <a:cubicBezTo>
                  <a:pt x="42356" y="123825"/>
                  <a:pt x="38100" y="128081"/>
                  <a:pt x="38100" y="133350"/>
                </a:cubicBezTo>
                <a:close/>
                <a:moveTo>
                  <a:pt x="76200" y="133350"/>
                </a:moveTo>
                <a:cubicBezTo>
                  <a:pt x="76200" y="138619"/>
                  <a:pt x="80456" y="142875"/>
                  <a:pt x="85725" y="142875"/>
                </a:cubicBezTo>
                <a:cubicBezTo>
                  <a:pt x="90994" y="142875"/>
                  <a:pt x="95250" y="138619"/>
                  <a:pt x="95250" y="133350"/>
                </a:cubicBezTo>
                <a:cubicBezTo>
                  <a:pt x="95250" y="128081"/>
                  <a:pt x="90994" y="123825"/>
                  <a:pt x="85725" y="123825"/>
                </a:cubicBezTo>
                <a:cubicBezTo>
                  <a:pt x="80456" y="123825"/>
                  <a:pt x="76200" y="128081"/>
                  <a:pt x="76200" y="133350"/>
                </a:cubicBezTo>
                <a:close/>
                <a:moveTo>
                  <a:pt x="123825" y="142875"/>
                </a:moveTo>
                <a:cubicBezTo>
                  <a:pt x="129094" y="142875"/>
                  <a:pt x="133350" y="138619"/>
                  <a:pt x="133350" y="133350"/>
                </a:cubicBezTo>
                <a:cubicBezTo>
                  <a:pt x="133350" y="128081"/>
                  <a:pt x="129094" y="123825"/>
                  <a:pt x="123825" y="123825"/>
                </a:cubicBezTo>
                <a:cubicBezTo>
                  <a:pt x="118556" y="123825"/>
                  <a:pt x="114300" y="128081"/>
                  <a:pt x="114300" y="133350"/>
                </a:cubicBezTo>
                <a:cubicBezTo>
                  <a:pt x="114300" y="138619"/>
                  <a:pt x="118556" y="142875"/>
                  <a:pt x="123825" y="142875"/>
                </a:cubicBezTo>
                <a:close/>
                <a:moveTo>
                  <a:pt x="114300" y="57150"/>
                </a:moveTo>
                <a:cubicBezTo>
                  <a:pt x="114300" y="62407"/>
                  <a:pt x="118568" y="66675"/>
                  <a:pt x="123825" y="66675"/>
                </a:cubicBezTo>
                <a:cubicBezTo>
                  <a:pt x="129082" y="66675"/>
                  <a:pt x="133350" y="62407"/>
                  <a:pt x="133350" y="57150"/>
                </a:cubicBezTo>
                <a:cubicBezTo>
                  <a:pt x="133350" y="51893"/>
                  <a:pt x="129082" y="47625"/>
                  <a:pt x="123825" y="47625"/>
                </a:cubicBezTo>
                <a:cubicBezTo>
                  <a:pt x="118568" y="47625"/>
                  <a:pt x="114300" y="51893"/>
                  <a:pt x="114300" y="57150"/>
                </a:cubicBezTo>
                <a:close/>
                <a:moveTo>
                  <a:pt x="123825" y="104775"/>
                </a:moveTo>
                <a:cubicBezTo>
                  <a:pt x="129082" y="104775"/>
                  <a:pt x="133350" y="100507"/>
                  <a:pt x="133350" y="95250"/>
                </a:cubicBezTo>
                <a:cubicBezTo>
                  <a:pt x="133350" y="89993"/>
                  <a:pt x="129082" y="85725"/>
                  <a:pt x="123825" y="85725"/>
                </a:cubicBezTo>
                <a:cubicBezTo>
                  <a:pt x="118568" y="85725"/>
                  <a:pt x="114300" y="89993"/>
                  <a:pt x="114300" y="95250"/>
                </a:cubicBezTo>
                <a:cubicBezTo>
                  <a:pt x="114300" y="100507"/>
                  <a:pt x="118568" y="104775"/>
                  <a:pt x="123825" y="1047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04900" y="3843338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边界点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" y="4281488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在核心点的ε-邻域内,但自身邻域内样本数 &lt; MinPts的点。边界点属于某个簇,但不能扩展簇。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600" y="4891088"/>
            <a:ext cx="5200650" cy="419100"/>
          </a:xfrm>
          <a:custGeom>
            <a:avLst/>
            <a:gdLst/>
            <a:ahLst/>
            <a:cxnLst/>
            <a:rect l="l" t="t" r="r" b="b"/>
            <a:pathLst>
              <a:path w="5200650" h="419100">
                <a:moveTo>
                  <a:pt x="38100" y="0"/>
                </a:moveTo>
                <a:lnTo>
                  <a:pt x="5162550" y="0"/>
                </a:lnTo>
                <a:cubicBezTo>
                  <a:pt x="5183592" y="0"/>
                  <a:pt x="5200650" y="17058"/>
                  <a:pt x="5200650" y="38100"/>
                </a:cubicBezTo>
                <a:lnTo>
                  <a:pt x="5200650" y="381000"/>
                </a:lnTo>
                <a:cubicBezTo>
                  <a:pt x="5200650" y="402042"/>
                  <a:pt x="5183592" y="419100"/>
                  <a:pt x="5162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9600" y="4891088"/>
            <a:ext cx="5267325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条件: |Nε(p)| &lt; MinPts 且 p ∈ Nε(q), 其中q是核心点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0300" y="3595688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210300" y="3595688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19850" y="3786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53200" y="39004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915150" y="3843338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噪声点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9850" y="4281488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既不是核心点也不是边界点的点。噪声点不属于任何簇,通常代表异常数据或测量误差。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9850" y="4891088"/>
            <a:ext cx="5200650" cy="419100"/>
          </a:xfrm>
          <a:custGeom>
            <a:avLst/>
            <a:gdLst/>
            <a:ahLst/>
            <a:cxnLst/>
            <a:rect l="l" t="t" r="r" b="b"/>
            <a:pathLst>
              <a:path w="5200650" h="419100">
                <a:moveTo>
                  <a:pt x="38100" y="0"/>
                </a:moveTo>
                <a:lnTo>
                  <a:pt x="5162550" y="0"/>
                </a:lnTo>
                <a:cubicBezTo>
                  <a:pt x="5183592" y="0"/>
                  <a:pt x="5200650" y="17058"/>
                  <a:pt x="5200650" y="38100"/>
                </a:cubicBezTo>
                <a:lnTo>
                  <a:pt x="5200650" y="381000"/>
                </a:lnTo>
                <a:cubicBezTo>
                  <a:pt x="5200650" y="402042"/>
                  <a:pt x="5183592" y="419100"/>
                  <a:pt x="5162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19850" y="4891088"/>
            <a:ext cx="5267325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条件: |Nε(p)| &lt; MinPts 且 p不在任何核心点的邻域内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5657850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71500" y="58150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42975" y="5815013"/>
            <a:ext cx="7864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关键理解: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核心点是簇的"种子",可以扩展簇;边界点是簇的"边缘",只能被包含;噪声点是"局外者",不属于任何簇。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 RELATIONSHIPS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27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密度关系: 直达、可达与相连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3686175" cy="3295650"/>
          </a:xfrm>
          <a:custGeom>
            <a:avLst/>
            <a:gdLst/>
            <a:ahLst/>
            <a:cxnLst/>
            <a:rect l="l" t="t" r="r" b="b"/>
            <a:pathLst>
              <a:path w="3686175" h="32956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219455"/>
                </a:lnTo>
                <a:cubicBezTo>
                  <a:pt x="3686175" y="3261536"/>
                  <a:pt x="3652061" y="3295650"/>
                  <a:pt x="3609980" y="3295650"/>
                </a:cubicBezTo>
                <a:lnTo>
                  <a:pt x="76195" y="3295650"/>
                </a:lnTo>
                <a:cubicBezTo>
                  <a:pt x="34142" y="3295650"/>
                  <a:pt x="0" y="3261508"/>
                  <a:pt x="0" y="32194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99385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145878" y="15811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3875" y="20193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密度直达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163" y="23241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Directly Density-Reachable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1500" y="26289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如果点xᵢ位于核心点xⱼ的ε-邻域内,则称xᵢ由xⱼ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密度直达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3238500"/>
            <a:ext cx="3305175" cy="647700"/>
          </a:xfrm>
          <a:custGeom>
            <a:avLst/>
            <a:gdLst/>
            <a:ahLst/>
            <a:cxnLst/>
            <a:rect l="l" t="t" r="r" b="b"/>
            <a:pathLst>
              <a:path w="3305175" h="647700">
                <a:moveTo>
                  <a:pt x="38098" y="0"/>
                </a:moveTo>
                <a:lnTo>
                  <a:pt x="3267077" y="0"/>
                </a:lnTo>
                <a:cubicBezTo>
                  <a:pt x="3288104" y="0"/>
                  <a:pt x="3305175" y="17071"/>
                  <a:pt x="3305175" y="38098"/>
                </a:cubicBezTo>
                <a:lnTo>
                  <a:pt x="3305175" y="609602"/>
                </a:lnTo>
                <a:cubicBezTo>
                  <a:pt x="3305175" y="630643"/>
                  <a:pt x="3288118" y="647700"/>
                  <a:pt x="32670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3528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5814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关系通常</a:t>
            </a:r>
            <a:r>
              <a:rPr lang="en-US" sz="10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不对称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962400"/>
            <a:ext cx="3305175" cy="419100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38100" y="0"/>
                </a:moveTo>
                <a:lnTo>
                  <a:pt x="3267075" y="0"/>
                </a:lnTo>
                <a:cubicBezTo>
                  <a:pt x="3288117" y="0"/>
                  <a:pt x="3305175" y="17058"/>
                  <a:pt x="3305175" y="38100"/>
                </a:cubicBezTo>
                <a:lnTo>
                  <a:pt x="3305175" y="381000"/>
                </a:lnTo>
                <a:cubicBezTo>
                  <a:pt x="3305175" y="402042"/>
                  <a:pt x="3288117" y="419100"/>
                  <a:pt x="32670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71500" y="3962400"/>
            <a:ext cx="3371850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只有当xᵢ也是核心点时,关系才对称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4475" y="1276350"/>
            <a:ext cx="3686175" cy="3295650"/>
          </a:xfrm>
          <a:custGeom>
            <a:avLst/>
            <a:gdLst/>
            <a:ahLst/>
            <a:cxnLst/>
            <a:rect l="l" t="t" r="r" b="b"/>
            <a:pathLst>
              <a:path w="3686175" h="32956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219455"/>
                </a:lnTo>
                <a:cubicBezTo>
                  <a:pt x="3686175" y="3261536"/>
                  <a:pt x="3652061" y="3295650"/>
                  <a:pt x="3609980" y="3295650"/>
                </a:cubicBezTo>
                <a:lnTo>
                  <a:pt x="76195" y="3295650"/>
                </a:lnTo>
                <a:cubicBezTo>
                  <a:pt x="34142" y="3295650"/>
                  <a:pt x="0" y="3261508"/>
                  <a:pt x="0" y="32194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254475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867326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04843" y="158115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97350" y="20193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密度可达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11638" y="23241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Density-Reachable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44975" y="26289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如果存在一条由密度直达关系构成的路径,则称终点由起点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密度可达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4975" y="3238500"/>
            <a:ext cx="3305175" cy="647700"/>
          </a:xfrm>
          <a:custGeom>
            <a:avLst/>
            <a:gdLst/>
            <a:ahLst/>
            <a:cxnLst/>
            <a:rect l="l" t="t" r="r" b="b"/>
            <a:pathLst>
              <a:path w="3305175" h="647700">
                <a:moveTo>
                  <a:pt x="38098" y="0"/>
                </a:moveTo>
                <a:lnTo>
                  <a:pt x="3267077" y="0"/>
                </a:lnTo>
                <a:cubicBezTo>
                  <a:pt x="3288104" y="0"/>
                  <a:pt x="3305175" y="17071"/>
                  <a:pt x="3305175" y="38098"/>
                </a:cubicBezTo>
                <a:lnTo>
                  <a:pt x="3305175" y="609602"/>
                </a:lnTo>
                <a:cubicBezTo>
                  <a:pt x="3305175" y="630643"/>
                  <a:pt x="3288118" y="647700"/>
                  <a:pt x="32670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59275" y="33528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9275" y="35814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具有</a:t>
            </a:r>
            <a:r>
              <a:rPr lang="en-US" sz="10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传递性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44975" y="3962400"/>
            <a:ext cx="3305175" cy="419100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38100" y="0"/>
                </a:moveTo>
                <a:lnTo>
                  <a:pt x="3267075" y="0"/>
                </a:lnTo>
                <a:cubicBezTo>
                  <a:pt x="3288117" y="0"/>
                  <a:pt x="3305175" y="17058"/>
                  <a:pt x="3305175" y="38100"/>
                </a:cubicBezTo>
                <a:lnTo>
                  <a:pt x="3305175" y="381000"/>
                </a:lnTo>
                <a:cubicBezTo>
                  <a:pt x="3305175" y="402042"/>
                  <a:pt x="3288117" y="419100"/>
                  <a:pt x="32670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444975" y="3962400"/>
            <a:ext cx="3371850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p₁→p₂→...→pₜ, 其中pₖ₊₁由pₖ密度直达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7950" y="1276350"/>
            <a:ext cx="3686175" cy="3295650"/>
          </a:xfrm>
          <a:custGeom>
            <a:avLst/>
            <a:gdLst/>
            <a:ahLst/>
            <a:cxnLst/>
            <a:rect l="l" t="t" r="r" b="b"/>
            <a:pathLst>
              <a:path w="3686175" h="32956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219455"/>
                </a:lnTo>
                <a:cubicBezTo>
                  <a:pt x="3686175" y="3261536"/>
                  <a:pt x="3652061" y="3295650"/>
                  <a:pt x="3609980" y="3295650"/>
                </a:cubicBezTo>
                <a:lnTo>
                  <a:pt x="76195" y="3295650"/>
                </a:lnTo>
                <a:cubicBezTo>
                  <a:pt x="34142" y="3295650"/>
                  <a:pt x="0" y="3261508"/>
                  <a:pt x="0" y="32194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12795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974080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876086" y="15811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0825" y="20193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密度相连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85113" y="23241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Density-Connected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18450" y="26289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如果存在核心点xₘ使得xᵢ和xⱼ都由xₘ密度可达,则称xᵢ与xⱼ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密度相连</a:t>
            </a:r>
            <a:r>
              <a:rPr lang="en-US" sz="12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18450" y="3238500"/>
            <a:ext cx="3305175" cy="647700"/>
          </a:xfrm>
          <a:custGeom>
            <a:avLst/>
            <a:gdLst/>
            <a:ahLst/>
            <a:cxnLst/>
            <a:rect l="l" t="t" r="r" b="b"/>
            <a:pathLst>
              <a:path w="3305175" h="647700">
                <a:moveTo>
                  <a:pt x="38098" y="0"/>
                </a:moveTo>
                <a:lnTo>
                  <a:pt x="3267077" y="0"/>
                </a:lnTo>
                <a:cubicBezTo>
                  <a:pt x="3288104" y="0"/>
                  <a:pt x="3305175" y="17071"/>
                  <a:pt x="3305175" y="38098"/>
                </a:cubicBezTo>
                <a:lnTo>
                  <a:pt x="3305175" y="609602"/>
                </a:lnTo>
                <a:cubicBezTo>
                  <a:pt x="3305175" y="630643"/>
                  <a:pt x="3288118" y="647700"/>
                  <a:pt x="32670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432750" y="33528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32750" y="35814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对称</a:t>
            </a: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关系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18450" y="3962400"/>
            <a:ext cx="3305175" cy="419100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38100" y="0"/>
                </a:moveTo>
                <a:lnTo>
                  <a:pt x="3267075" y="0"/>
                </a:lnTo>
                <a:cubicBezTo>
                  <a:pt x="3288117" y="0"/>
                  <a:pt x="3305175" y="17058"/>
                  <a:pt x="3305175" y="38100"/>
                </a:cubicBezTo>
                <a:lnTo>
                  <a:pt x="3305175" y="381000"/>
                </a:lnTo>
                <a:cubicBezTo>
                  <a:pt x="3305175" y="402042"/>
                  <a:pt x="3288117" y="419100"/>
                  <a:pt x="32670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18450" y="3962400"/>
            <a:ext cx="3371850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这是定义同一个簇的基础!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763" y="4729163"/>
            <a:ext cx="11420475" cy="1495425"/>
          </a:xfrm>
          <a:custGeom>
            <a:avLst/>
            <a:gdLst/>
            <a:ahLst/>
            <a:cxnLst/>
            <a:rect l="l" t="t" r="r" b="b"/>
            <a:pathLst>
              <a:path w="11420475" h="1495425">
                <a:moveTo>
                  <a:pt x="76207" y="0"/>
                </a:moveTo>
                <a:lnTo>
                  <a:pt x="11344268" y="0"/>
                </a:lnTo>
                <a:cubicBezTo>
                  <a:pt x="11386356" y="0"/>
                  <a:pt x="11420475" y="34119"/>
                  <a:pt x="11420475" y="76207"/>
                </a:cubicBezTo>
                <a:lnTo>
                  <a:pt x="11420475" y="1419218"/>
                </a:lnTo>
                <a:cubicBezTo>
                  <a:pt x="11420475" y="1461306"/>
                  <a:pt x="11386356" y="1495425"/>
                  <a:pt x="11344268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81025" y="4924425"/>
            <a:ext cx="1112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关系总结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1025" y="5305425"/>
            <a:ext cx="3571875" cy="723900"/>
          </a:xfrm>
          <a:custGeom>
            <a:avLst/>
            <a:gdLst/>
            <a:ahLst/>
            <a:cxnLst/>
            <a:rect l="l" t="t" r="r" b="b"/>
            <a:pathLst>
              <a:path w="3571875" h="723900">
                <a:moveTo>
                  <a:pt x="38099" y="0"/>
                </a:moveTo>
                <a:lnTo>
                  <a:pt x="3533776" y="0"/>
                </a:lnTo>
                <a:cubicBezTo>
                  <a:pt x="3554803" y="0"/>
                  <a:pt x="3571875" y="17072"/>
                  <a:pt x="3571875" y="38099"/>
                </a:cubicBezTo>
                <a:lnTo>
                  <a:pt x="3571875" y="685801"/>
                </a:lnTo>
                <a:cubicBezTo>
                  <a:pt x="3571875" y="706828"/>
                  <a:pt x="3554803" y="723900"/>
                  <a:pt x="35337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52463" y="5419725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密度直达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1988" y="5724525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直接关系, 通常不对称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08425" y="5305425"/>
            <a:ext cx="3571875" cy="723900"/>
          </a:xfrm>
          <a:custGeom>
            <a:avLst/>
            <a:gdLst/>
            <a:ahLst/>
            <a:cxnLst/>
            <a:rect l="l" t="t" r="r" b="b"/>
            <a:pathLst>
              <a:path w="3571875" h="723900">
                <a:moveTo>
                  <a:pt x="38099" y="0"/>
                </a:moveTo>
                <a:lnTo>
                  <a:pt x="3533776" y="0"/>
                </a:lnTo>
                <a:cubicBezTo>
                  <a:pt x="3554803" y="0"/>
                  <a:pt x="3571875" y="17072"/>
                  <a:pt x="3571875" y="38099"/>
                </a:cubicBezTo>
                <a:lnTo>
                  <a:pt x="3571875" y="685801"/>
                </a:lnTo>
                <a:cubicBezTo>
                  <a:pt x="3571875" y="706828"/>
                  <a:pt x="3554803" y="723900"/>
                  <a:pt x="35337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379863" y="5419725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密度可达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89388" y="5724525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传递闭包, 有向关系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35900" y="5305425"/>
            <a:ext cx="3571875" cy="723900"/>
          </a:xfrm>
          <a:custGeom>
            <a:avLst/>
            <a:gdLst/>
            <a:ahLst/>
            <a:cxnLst/>
            <a:rect l="l" t="t" r="r" b="b"/>
            <a:pathLst>
              <a:path w="3571875" h="723900">
                <a:moveTo>
                  <a:pt x="38099" y="0"/>
                </a:moveTo>
                <a:lnTo>
                  <a:pt x="3533776" y="0"/>
                </a:lnTo>
                <a:cubicBezTo>
                  <a:pt x="3554803" y="0"/>
                  <a:pt x="3571875" y="17072"/>
                  <a:pt x="3571875" y="38099"/>
                </a:cubicBezTo>
                <a:lnTo>
                  <a:pt x="3571875" y="685801"/>
                </a:lnTo>
                <a:cubicBezTo>
                  <a:pt x="3571875" y="706828"/>
                  <a:pt x="3554803" y="723900"/>
                  <a:pt x="35337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107338" y="5419725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密度相连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16863" y="5724525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对称关系, 定义簇基础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DBSCAN聚类过程详解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825500"/>
          </a:xfrm>
          <a:custGeom>
            <a:avLst/>
            <a:gdLst/>
            <a:ahLst/>
            <a:cxnLst/>
            <a:rect l="l" t="t" r="r" b="b"/>
            <a:pathLst>
              <a:path w="5683250" h="825500">
                <a:moveTo>
                  <a:pt x="31750" y="0"/>
                </a:moveTo>
                <a:lnTo>
                  <a:pt x="5619753" y="0"/>
                </a:lnTo>
                <a:cubicBezTo>
                  <a:pt x="5654821" y="0"/>
                  <a:pt x="5683250" y="28429"/>
                  <a:pt x="5683250" y="63497"/>
                </a:cubicBezTo>
                <a:lnTo>
                  <a:pt x="5683250" y="762003"/>
                </a:lnTo>
                <a:cubicBezTo>
                  <a:pt x="5683250" y="797071"/>
                  <a:pt x="5654821" y="825500"/>
                  <a:pt x="5619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76250" y="1174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06909" y="1222375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1222375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初始化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555750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标记所有对象为未访问(unvisited)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375" y="1916170"/>
            <a:ext cx="5683250" cy="825500"/>
          </a:xfrm>
          <a:custGeom>
            <a:avLst/>
            <a:gdLst/>
            <a:ahLst/>
            <a:cxnLst/>
            <a:rect l="l" t="t" r="r" b="b"/>
            <a:pathLst>
              <a:path w="5683250" h="825500">
                <a:moveTo>
                  <a:pt x="31750" y="0"/>
                </a:moveTo>
                <a:lnTo>
                  <a:pt x="5619753" y="0"/>
                </a:lnTo>
                <a:cubicBezTo>
                  <a:pt x="5654821" y="0"/>
                  <a:pt x="5683250" y="28429"/>
                  <a:pt x="5683250" y="63497"/>
                </a:cubicBezTo>
                <a:lnTo>
                  <a:pt x="5683250" y="762003"/>
                </a:lnTo>
                <a:cubicBezTo>
                  <a:pt x="5683250" y="797071"/>
                  <a:pt x="5654821" y="825500"/>
                  <a:pt x="5619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3375" y="1916170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6250" y="204317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4816" y="2090795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" y="2090795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遍历选择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250" y="2424170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随机选择一个未访问的数据点P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375" y="2784590"/>
            <a:ext cx="5683250" cy="1651000"/>
          </a:xfrm>
          <a:custGeom>
            <a:avLst/>
            <a:gdLst/>
            <a:ahLst/>
            <a:cxnLst/>
            <a:rect l="l" t="t" r="r" b="b"/>
            <a:pathLst>
              <a:path w="5683250" h="1651000">
                <a:moveTo>
                  <a:pt x="31750" y="0"/>
                </a:moveTo>
                <a:lnTo>
                  <a:pt x="5619753" y="0"/>
                </a:lnTo>
                <a:cubicBezTo>
                  <a:pt x="5654821" y="0"/>
                  <a:pt x="5683250" y="28429"/>
                  <a:pt x="5683250" y="63497"/>
                </a:cubicBezTo>
                <a:lnTo>
                  <a:pt x="5683250" y="1587503"/>
                </a:lnTo>
                <a:cubicBezTo>
                  <a:pt x="5683250" y="1622571"/>
                  <a:pt x="5654821" y="1651000"/>
                  <a:pt x="5619753" y="1651000"/>
                </a:cubicBezTo>
                <a:lnTo>
                  <a:pt x="31750" y="1651000"/>
                </a:lnTo>
                <a:cubicBezTo>
                  <a:pt x="14227" y="1651000"/>
                  <a:pt x="0" y="1636773"/>
                  <a:pt x="0" y="161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33375" y="2784590"/>
            <a:ext cx="31750" cy="1651000"/>
          </a:xfrm>
          <a:custGeom>
            <a:avLst/>
            <a:gdLst/>
            <a:ahLst/>
            <a:cxnLst/>
            <a:rect l="l" t="t" r="r" b="b"/>
            <a:pathLst>
              <a:path w="31750" h="1651000">
                <a:moveTo>
                  <a:pt x="31750" y="0"/>
                </a:moveTo>
                <a:lnTo>
                  <a:pt x="31750" y="0"/>
                </a:lnTo>
                <a:lnTo>
                  <a:pt x="31750" y="1651000"/>
                </a:lnTo>
                <a:lnTo>
                  <a:pt x="31750" y="1651000"/>
                </a:lnTo>
                <a:cubicBezTo>
                  <a:pt x="14227" y="1651000"/>
                  <a:pt x="0" y="1636773"/>
                  <a:pt x="0" y="161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6250" y="291159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92956" y="2959215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" y="2959215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邻域检查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3292590"/>
            <a:ext cx="5413375" cy="1016000"/>
          </a:xfrm>
          <a:custGeom>
            <a:avLst/>
            <a:gdLst/>
            <a:ahLst/>
            <a:cxnLst/>
            <a:rect l="l" t="t" r="r" b="b"/>
            <a:pathLst>
              <a:path w="5413375" h="1016000">
                <a:moveTo>
                  <a:pt x="31750" y="0"/>
                </a:moveTo>
                <a:lnTo>
                  <a:pt x="5381625" y="0"/>
                </a:lnTo>
                <a:cubicBezTo>
                  <a:pt x="5399148" y="0"/>
                  <a:pt x="5413375" y="14227"/>
                  <a:pt x="5413375" y="31750"/>
                </a:cubicBezTo>
                <a:lnTo>
                  <a:pt x="5413375" y="984250"/>
                </a:lnTo>
                <a:cubicBezTo>
                  <a:pt x="5413375" y="1001773"/>
                  <a:pt x="5399148" y="1016000"/>
                  <a:pt x="5381625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39750" y="335609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 |Nε(P)| ≥ MinPts: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750" y="354659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标记P为核心点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750" y="370534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创建新簇C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750" y="392759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否则: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750" y="408634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暂标记P为噪声点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3375" y="4478510"/>
            <a:ext cx="5683250" cy="1428750"/>
          </a:xfrm>
          <a:custGeom>
            <a:avLst/>
            <a:gdLst/>
            <a:ahLst/>
            <a:cxnLst/>
            <a:rect l="l" t="t" r="r" b="b"/>
            <a:pathLst>
              <a:path w="5683250" h="1428750">
                <a:moveTo>
                  <a:pt x="31750" y="0"/>
                </a:moveTo>
                <a:lnTo>
                  <a:pt x="5619756" y="0"/>
                </a:lnTo>
                <a:cubicBezTo>
                  <a:pt x="5654823" y="0"/>
                  <a:pt x="5683250" y="28427"/>
                  <a:pt x="5683250" y="63494"/>
                </a:cubicBezTo>
                <a:lnTo>
                  <a:pt x="5683250" y="1365256"/>
                </a:lnTo>
                <a:cubicBezTo>
                  <a:pt x="5683250" y="1400323"/>
                  <a:pt x="5654823" y="1428750"/>
                  <a:pt x="5619756" y="1428750"/>
                </a:cubicBezTo>
                <a:lnTo>
                  <a:pt x="31750" y="1428750"/>
                </a:lnTo>
                <a:cubicBezTo>
                  <a:pt x="14227" y="1428750"/>
                  <a:pt x="0" y="1414523"/>
                  <a:pt x="0" y="139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33375" y="4478510"/>
            <a:ext cx="31750" cy="1428750"/>
          </a:xfrm>
          <a:custGeom>
            <a:avLst/>
            <a:gdLst/>
            <a:ahLst/>
            <a:cxnLst/>
            <a:rect l="l" t="t" r="r" b="b"/>
            <a:pathLst>
              <a:path w="31750" h="1428750">
                <a:moveTo>
                  <a:pt x="31750" y="0"/>
                </a:moveTo>
                <a:lnTo>
                  <a:pt x="31750" y="0"/>
                </a:lnTo>
                <a:lnTo>
                  <a:pt x="31750" y="1428750"/>
                </a:lnTo>
                <a:lnTo>
                  <a:pt x="31750" y="1428750"/>
                </a:lnTo>
                <a:cubicBezTo>
                  <a:pt x="14227" y="1428750"/>
                  <a:pt x="0" y="1414523"/>
                  <a:pt x="0" y="139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6250" y="460551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93080" y="4653135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9000" y="4653135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簇扩展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6250" y="4986510"/>
            <a:ext cx="5413375" cy="793750"/>
          </a:xfrm>
          <a:custGeom>
            <a:avLst/>
            <a:gdLst/>
            <a:ahLst/>
            <a:cxnLst/>
            <a:rect l="l" t="t" r="r" b="b"/>
            <a:pathLst>
              <a:path w="5413375" h="793750">
                <a:moveTo>
                  <a:pt x="31750" y="0"/>
                </a:moveTo>
                <a:lnTo>
                  <a:pt x="5381625" y="0"/>
                </a:lnTo>
                <a:cubicBezTo>
                  <a:pt x="5399148" y="0"/>
                  <a:pt x="5413375" y="14227"/>
                  <a:pt x="5413375" y="31750"/>
                </a:cubicBezTo>
                <a:lnTo>
                  <a:pt x="5413375" y="762000"/>
                </a:lnTo>
                <a:cubicBezTo>
                  <a:pt x="5413375" y="779523"/>
                  <a:pt x="5399148" y="793750"/>
                  <a:pt x="5381625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39750" y="505001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对于核心点P: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750" y="524051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将其邻域内所有点加入簇C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750" y="539926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递归处理邻域内的核心点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750" y="5558010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直到簇C无法再扩展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3375" y="5939670"/>
            <a:ext cx="5683250" cy="825500"/>
          </a:xfrm>
          <a:custGeom>
            <a:avLst/>
            <a:gdLst/>
            <a:ahLst/>
            <a:cxnLst/>
            <a:rect l="l" t="t" r="r" b="b"/>
            <a:pathLst>
              <a:path w="5683250" h="825500">
                <a:moveTo>
                  <a:pt x="31750" y="0"/>
                </a:moveTo>
                <a:lnTo>
                  <a:pt x="5619753" y="0"/>
                </a:lnTo>
                <a:cubicBezTo>
                  <a:pt x="5654821" y="0"/>
                  <a:pt x="5683250" y="28429"/>
                  <a:pt x="5683250" y="63497"/>
                </a:cubicBezTo>
                <a:lnTo>
                  <a:pt x="5683250" y="762003"/>
                </a:lnTo>
                <a:cubicBezTo>
                  <a:pt x="5683250" y="797071"/>
                  <a:pt x="5654821" y="825500"/>
                  <a:pt x="5619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33375" y="5939670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76250" y="606667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92336" y="6114295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9000" y="6114295"/>
            <a:ext cx="35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重复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6250" y="6447670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重复步骤2-4,直到所有点都被访问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5375" y="1047750"/>
            <a:ext cx="5699125" cy="6064250"/>
          </a:xfrm>
          <a:custGeom>
            <a:avLst/>
            <a:gdLst/>
            <a:ahLst/>
            <a:cxnLst/>
            <a:rect l="l" t="t" r="r" b="b"/>
            <a:pathLst>
              <a:path w="5699125" h="6064250">
                <a:moveTo>
                  <a:pt x="63488" y="0"/>
                </a:moveTo>
                <a:lnTo>
                  <a:pt x="5635637" y="0"/>
                </a:lnTo>
                <a:cubicBezTo>
                  <a:pt x="5670700" y="0"/>
                  <a:pt x="5699125" y="28425"/>
                  <a:pt x="5699125" y="63488"/>
                </a:cubicBezTo>
                <a:lnTo>
                  <a:pt x="5699125" y="6000762"/>
                </a:lnTo>
                <a:cubicBezTo>
                  <a:pt x="5699125" y="6035825"/>
                  <a:pt x="5670700" y="6064250"/>
                  <a:pt x="5635637" y="6064250"/>
                </a:cubicBezTo>
                <a:lnTo>
                  <a:pt x="63488" y="6064250"/>
                </a:lnTo>
                <a:cubicBezTo>
                  <a:pt x="28425" y="6064250"/>
                  <a:pt x="0" y="6035825"/>
                  <a:pt x="0" y="6000762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786813" y="110465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74414"/>
                </a:moveTo>
                <a:cubicBezTo>
                  <a:pt x="0" y="49764"/>
                  <a:pt x="19999" y="29766"/>
                  <a:pt x="44648" y="29766"/>
                </a:cubicBezTo>
                <a:lnTo>
                  <a:pt x="133945" y="29766"/>
                </a:lnTo>
                <a:cubicBezTo>
                  <a:pt x="158595" y="29766"/>
                  <a:pt x="178594" y="49764"/>
                  <a:pt x="178594" y="74414"/>
                </a:cubicBezTo>
                <a:lnTo>
                  <a:pt x="178594" y="89297"/>
                </a:lnTo>
                <a:lnTo>
                  <a:pt x="297656" y="89297"/>
                </a:lnTo>
                <a:lnTo>
                  <a:pt x="297656" y="74414"/>
                </a:lnTo>
                <a:cubicBezTo>
                  <a:pt x="297656" y="49764"/>
                  <a:pt x="317655" y="29766"/>
                  <a:pt x="342305" y="29766"/>
                </a:cubicBezTo>
                <a:lnTo>
                  <a:pt x="431602" y="29766"/>
                </a:lnTo>
                <a:cubicBezTo>
                  <a:pt x="456251" y="29766"/>
                  <a:pt x="476250" y="49764"/>
                  <a:pt x="476250" y="74414"/>
                </a:cubicBezTo>
                <a:lnTo>
                  <a:pt x="476250" y="163711"/>
                </a:lnTo>
                <a:cubicBezTo>
                  <a:pt x="476250" y="188361"/>
                  <a:pt x="456251" y="208359"/>
                  <a:pt x="431602" y="208359"/>
                </a:cubicBezTo>
                <a:lnTo>
                  <a:pt x="342305" y="208359"/>
                </a:lnTo>
                <a:cubicBezTo>
                  <a:pt x="317655" y="208359"/>
                  <a:pt x="297656" y="188361"/>
                  <a:pt x="297656" y="163711"/>
                </a:cubicBezTo>
                <a:lnTo>
                  <a:pt x="297656" y="148828"/>
                </a:lnTo>
                <a:lnTo>
                  <a:pt x="178594" y="148828"/>
                </a:lnTo>
                <a:lnTo>
                  <a:pt x="178594" y="163711"/>
                </a:lnTo>
                <a:cubicBezTo>
                  <a:pt x="178594" y="170501"/>
                  <a:pt x="177012" y="177012"/>
                  <a:pt x="174315" y="182780"/>
                </a:cubicBezTo>
                <a:lnTo>
                  <a:pt x="238125" y="267891"/>
                </a:lnTo>
                <a:lnTo>
                  <a:pt x="312539" y="267891"/>
                </a:lnTo>
                <a:cubicBezTo>
                  <a:pt x="337189" y="267891"/>
                  <a:pt x="357188" y="287889"/>
                  <a:pt x="357188" y="312539"/>
                </a:cubicBezTo>
                <a:lnTo>
                  <a:pt x="357188" y="401836"/>
                </a:lnTo>
                <a:cubicBezTo>
                  <a:pt x="357188" y="426486"/>
                  <a:pt x="337189" y="446484"/>
                  <a:pt x="312539" y="446484"/>
                </a:cubicBezTo>
                <a:lnTo>
                  <a:pt x="223242" y="446484"/>
                </a:lnTo>
                <a:cubicBezTo>
                  <a:pt x="198593" y="446484"/>
                  <a:pt x="178594" y="426486"/>
                  <a:pt x="178594" y="401836"/>
                </a:cubicBezTo>
                <a:lnTo>
                  <a:pt x="178594" y="312539"/>
                </a:lnTo>
                <a:cubicBezTo>
                  <a:pt x="178594" y="305749"/>
                  <a:pt x="180175" y="299238"/>
                  <a:pt x="182873" y="293470"/>
                </a:cubicBezTo>
                <a:lnTo>
                  <a:pt x="119062" y="208359"/>
                </a:lnTo>
                <a:lnTo>
                  <a:pt x="44648" y="208359"/>
                </a:lnTo>
                <a:cubicBezTo>
                  <a:pt x="19999" y="208359"/>
                  <a:pt x="0" y="188361"/>
                  <a:pt x="0" y="163711"/>
                </a:cubicBezTo>
                <a:lnTo>
                  <a:pt x="0" y="7441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83722" y="1707901"/>
            <a:ext cx="488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簇扩展过程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95628" y="2057151"/>
            <a:ext cx="485775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从核心点出发,通过密度可达关系不断扩展簇的边界,直到没有新的点可以加入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631347" y="2416323"/>
            <a:ext cx="4786313" cy="539750"/>
          </a:xfrm>
          <a:custGeom>
            <a:avLst/>
            <a:gdLst/>
            <a:ahLst/>
            <a:cxnLst/>
            <a:rect l="l" t="t" r="r" b="b"/>
            <a:pathLst>
              <a:path w="4786313" h="539750">
                <a:moveTo>
                  <a:pt x="31748" y="0"/>
                </a:moveTo>
                <a:lnTo>
                  <a:pt x="4754564" y="0"/>
                </a:lnTo>
                <a:cubicBezTo>
                  <a:pt x="4772098" y="0"/>
                  <a:pt x="4786313" y="14214"/>
                  <a:pt x="4786313" y="31748"/>
                </a:cubicBezTo>
                <a:lnTo>
                  <a:pt x="4786313" y="508002"/>
                </a:lnTo>
                <a:cubicBezTo>
                  <a:pt x="4786313" y="525536"/>
                  <a:pt x="4772098" y="539750"/>
                  <a:pt x="4754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698816" y="2511573"/>
            <a:ext cx="4651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98816" y="2702073"/>
            <a:ext cx="4651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 = 密度相连的最大点集</a:t>
            </a:r>
            <a:endParaRPr lang="en-US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149A0B7-E3AD-1868-73F7-F128C0946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223" y="3169998"/>
            <a:ext cx="4674697" cy="350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120" y="325120"/>
            <a:ext cx="116067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kern="0" spc="5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TUNING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120" y="585216"/>
            <a:ext cx="11688064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4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230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参数选择策略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376" y="1072896"/>
            <a:ext cx="5673344" cy="2812288"/>
          </a:xfrm>
          <a:custGeom>
            <a:avLst/>
            <a:gdLst/>
            <a:ahLst/>
            <a:cxnLst/>
            <a:rect l="l" t="t" r="r" b="b"/>
            <a:pathLst>
              <a:path w="5673344" h="2812288">
                <a:moveTo>
                  <a:pt x="32512" y="0"/>
                </a:moveTo>
                <a:lnTo>
                  <a:pt x="5608324" y="0"/>
                </a:lnTo>
                <a:cubicBezTo>
                  <a:pt x="5644234" y="0"/>
                  <a:pt x="5673344" y="29110"/>
                  <a:pt x="5673344" y="65020"/>
                </a:cubicBezTo>
                <a:lnTo>
                  <a:pt x="5673344" y="2747268"/>
                </a:lnTo>
                <a:cubicBezTo>
                  <a:pt x="5673344" y="2783178"/>
                  <a:pt x="5644234" y="2812288"/>
                  <a:pt x="5608324" y="2812288"/>
                </a:cubicBezTo>
                <a:lnTo>
                  <a:pt x="32512" y="2812288"/>
                </a:lnTo>
                <a:cubicBezTo>
                  <a:pt x="14556" y="2812288"/>
                  <a:pt x="0" y="2797732"/>
                  <a:pt x="0" y="277977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41376" y="1072896"/>
            <a:ext cx="32512" cy="2812288"/>
          </a:xfrm>
          <a:custGeom>
            <a:avLst/>
            <a:gdLst/>
            <a:ahLst/>
            <a:cxnLst/>
            <a:rect l="l" t="t" r="r" b="b"/>
            <a:pathLst>
              <a:path w="32512" h="2812288">
                <a:moveTo>
                  <a:pt x="32512" y="0"/>
                </a:moveTo>
                <a:lnTo>
                  <a:pt x="32512" y="0"/>
                </a:lnTo>
                <a:lnTo>
                  <a:pt x="32512" y="2812288"/>
                </a:lnTo>
                <a:lnTo>
                  <a:pt x="32512" y="2812288"/>
                </a:lnTo>
                <a:cubicBezTo>
                  <a:pt x="14556" y="2812288"/>
                  <a:pt x="0" y="2797732"/>
                  <a:pt x="0" y="277977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0192" y="1235456"/>
            <a:ext cx="5429504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6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ε</a:t>
            </a:r>
            <a:r>
              <a:rPr lang="en-US" sz="15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(邻域半径)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0192" y="1593088"/>
            <a:ext cx="5396992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ε决定了点的"视野范围",即多大距离内的邻居被考虑。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192" y="1901952"/>
            <a:ext cx="5331968" cy="552704"/>
          </a:xfrm>
          <a:custGeom>
            <a:avLst/>
            <a:gdLst/>
            <a:ahLst/>
            <a:cxnLst/>
            <a:rect l="l" t="t" r="r" b="b"/>
            <a:pathLst>
              <a:path w="5331968" h="552704">
                <a:moveTo>
                  <a:pt x="32510" y="0"/>
                </a:moveTo>
                <a:lnTo>
                  <a:pt x="5299458" y="0"/>
                </a:lnTo>
                <a:cubicBezTo>
                  <a:pt x="5317413" y="0"/>
                  <a:pt x="5331968" y="14555"/>
                  <a:pt x="5331968" y="32510"/>
                </a:cubicBezTo>
                <a:lnTo>
                  <a:pt x="5331968" y="520194"/>
                </a:lnTo>
                <a:cubicBezTo>
                  <a:pt x="5331968" y="538149"/>
                  <a:pt x="5317413" y="552704"/>
                  <a:pt x="5299458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17728" y="199948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ε过大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728" y="2194560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多个簇合并,低密度区域被误判为簇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0192" y="2519680"/>
            <a:ext cx="5331968" cy="552704"/>
          </a:xfrm>
          <a:custGeom>
            <a:avLst/>
            <a:gdLst/>
            <a:ahLst/>
            <a:cxnLst/>
            <a:rect l="l" t="t" r="r" b="b"/>
            <a:pathLst>
              <a:path w="5331968" h="552704">
                <a:moveTo>
                  <a:pt x="32510" y="0"/>
                </a:moveTo>
                <a:lnTo>
                  <a:pt x="5299458" y="0"/>
                </a:lnTo>
                <a:cubicBezTo>
                  <a:pt x="5317413" y="0"/>
                  <a:pt x="5331968" y="14555"/>
                  <a:pt x="5331968" y="32510"/>
                </a:cubicBezTo>
                <a:lnTo>
                  <a:pt x="5331968" y="520194"/>
                </a:lnTo>
                <a:cubicBezTo>
                  <a:pt x="5331968" y="538149"/>
                  <a:pt x="5317413" y="552704"/>
                  <a:pt x="5299458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17728" y="2617216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ε过小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728" y="281228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大部分点被标记为噪声,簇过小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192" y="3169920"/>
            <a:ext cx="5331968" cy="552704"/>
          </a:xfrm>
          <a:custGeom>
            <a:avLst/>
            <a:gdLst/>
            <a:ahLst/>
            <a:cxnLst/>
            <a:rect l="l" t="t" r="r" b="b"/>
            <a:pathLst>
              <a:path w="5331968" h="552704">
                <a:moveTo>
                  <a:pt x="32510" y="0"/>
                </a:moveTo>
                <a:lnTo>
                  <a:pt x="5299458" y="0"/>
                </a:lnTo>
                <a:cubicBezTo>
                  <a:pt x="5317413" y="0"/>
                  <a:pt x="5331968" y="14555"/>
                  <a:pt x="5331968" y="32510"/>
                </a:cubicBezTo>
                <a:lnTo>
                  <a:pt x="5331968" y="520194"/>
                </a:lnTo>
                <a:cubicBezTo>
                  <a:pt x="5331968" y="538149"/>
                  <a:pt x="5317413" y="552704"/>
                  <a:pt x="5299458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7728" y="3267456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选择方法: k-距离图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728" y="346252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计算每个点到第k个最近邻的距离,排序后选择距离突然增加的点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314" y="1072896"/>
            <a:ext cx="5673344" cy="2812288"/>
          </a:xfrm>
          <a:custGeom>
            <a:avLst/>
            <a:gdLst/>
            <a:ahLst/>
            <a:cxnLst/>
            <a:rect l="l" t="t" r="r" b="b"/>
            <a:pathLst>
              <a:path w="5673344" h="2812288">
                <a:moveTo>
                  <a:pt x="32512" y="0"/>
                </a:moveTo>
                <a:lnTo>
                  <a:pt x="5608324" y="0"/>
                </a:lnTo>
                <a:cubicBezTo>
                  <a:pt x="5644234" y="0"/>
                  <a:pt x="5673344" y="29110"/>
                  <a:pt x="5673344" y="65020"/>
                </a:cubicBezTo>
                <a:lnTo>
                  <a:pt x="5673344" y="2747268"/>
                </a:lnTo>
                <a:cubicBezTo>
                  <a:pt x="5673344" y="2783178"/>
                  <a:pt x="5644234" y="2812288"/>
                  <a:pt x="5608324" y="2812288"/>
                </a:cubicBezTo>
                <a:lnTo>
                  <a:pt x="32512" y="2812288"/>
                </a:lnTo>
                <a:cubicBezTo>
                  <a:pt x="14556" y="2812288"/>
                  <a:pt x="0" y="2797732"/>
                  <a:pt x="0" y="277977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95314" y="1072896"/>
            <a:ext cx="32512" cy="2812288"/>
          </a:xfrm>
          <a:custGeom>
            <a:avLst/>
            <a:gdLst/>
            <a:ahLst/>
            <a:cxnLst/>
            <a:rect l="l" t="t" r="r" b="b"/>
            <a:pathLst>
              <a:path w="32512" h="2812288">
                <a:moveTo>
                  <a:pt x="32512" y="0"/>
                </a:moveTo>
                <a:lnTo>
                  <a:pt x="32512" y="0"/>
                </a:lnTo>
                <a:lnTo>
                  <a:pt x="32512" y="2812288"/>
                </a:lnTo>
                <a:lnTo>
                  <a:pt x="32512" y="2812288"/>
                </a:lnTo>
                <a:cubicBezTo>
                  <a:pt x="14556" y="2812288"/>
                  <a:pt x="0" y="2797732"/>
                  <a:pt x="0" y="277977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74130" y="1235456"/>
            <a:ext cx="5429504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6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MinPts</a:t>
            </a:r>
            <a:r>
              <a:rPr lang="en-US" sz="153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 (最小样本数)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4130" y="1593088"/>
            <a:ext cx="5396992" cy="2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MinPts决定了成为核心点所需的邻居数量阈值。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74130" y="1901952"/>
            <a:ext cx="5331968" cy="552704"/>
          </a:xfrm>
          <a:custGeom>
            <a:avLst/>
            <a:gdLst/>
            <a:ahLst/>
            <a:cxnLst/>
            <a:rect l="l" t="t" r="r" b="b"/>
            <a:pathLst>
              <a:path w="5331968" h="552704">
                <a:moveTo>
                  <a:pt x="32510" y="0"/>
                </a:moveTo>
                <a:lnTo>
                  <a:pt x="5299458" y="0"/>
                </a:lnTo>
                <a:cubicBezTo>
                  <a:pt x="5317413" y="0"/>
                  <a:pt x="5331968" y="14555"/>
                  <a:pt x="5331968" y="32510"/>
                </a:cubicBezTo>
                <a:lnTo>
                  <a:pt x="5331968" y="520194"/>
                </a:lnTo>
                <a:cubicBezTo>
                  <a:pt x="5331968" y="538149"/>
                  <a:pt x="5317413" y="552704"/>
                  <a:pt x="5299458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71666" y="199948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MinPts过大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1666" y="2194560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核心点减少,簇变小变稀疏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4130" y="2519680"/>
            <a:ext cx="5331968" cy="552704"/>
          </a:xfrm>
          <a:custGeom>
            <a:avLst/>
            <a:gdLst/>
            <a:ahLst/>
            <a:cxnLst/>
            <a:rect l="l" t="t" r="r" b="b"/>
            <a:pathLst>
              <a:path w="5331968" h="552704">
                <a:moveTo>
                  <a:pt x="32510" y="0"/>
                </a:moveTo>
                <a:lnTo>
                  <a:pt x="5299458" y="0"/>
                </a:lnTo>
                <a:cubicBezTo>
                  <a:pt x="5317413" y="0"/>
                  <a:pt x="5331968" y="14555"/>
                  <a:pt x="5331968" y="32510"/>
                </a:cubicBezTo>
                <a:lnTo>
                  <a:pt x="5331968" y="520194"/>
                </a:lnTo>
                <a:cubicBezTo>
                  <a:pt x="5331968" y="538149"/>
                  <a:pt x="5317413" y="552704"/>
                  <a:pt x="5299458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71666" y="2617216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MinPts过小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1666" y="281228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核心点增多,簇可能合并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4130" y="3169920"/>
            <a:ext cx="5331968" cy="552704"/>
          </a:xfrm>
          <a:custGeom>
            <a:avLst/>
            <a:gdLst/>
            <a:ahLst/>
            <a:cxnLst/>
            <a:rect l="l" t="t" r="r" b="b"/>
            <a:pathLst>
              <a:path w="5331968" h="552704">
                <a:moveTo>
                  <a:pt x="32510" y="0"/>
                </a:moveTo>
                <a:lnTo>
                  <a:pt x="5299458" y="0"/>
                </a:lnTo>
                <a:cubicBezTo>
                  <a:pt x="5317413" y="0"/>
                  <a:pt x="5331968" y="14555"/>
                  <a:pt x="5331968" y="32510"/>
                </a:cubicBezTo>
                <a:lnTo>
                  <a:pt x="5331968" y="520194"/>
                </a:lnTo>
                <a:cubicBezTo>
                  <a:pt x="5331968" y="538149"/>
                  <a:pt x="5317413" y="552704"/>
                  <a:pt x="5299458" y="552704"/>
                </a:cubicBezTo>
                <a:lnTo>
                  <a:pt x="32510" y="552704"/>
                </a:lnTo>
                <a:cubicBezTo>
                  <a:pt x="14555" y="552704"/>
                  <a:pt x="0" y="538149"/>
                  <a:pt x="0" y="520194"/>
                </a:cubicBezTo>
                <a:lnTo>
                  <a:pt x="0" y="32510"/>
                </a:lnTo>
                <a:cubicBezTo>
                  <a:pt x="0" y="14555"/>
                  <a:pt x="14555" y="0"/>
                  <a:pt x="3251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71666" y="3267456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经验取值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1666" y="3462528"/>
            <a:ext cx="51937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MinPts ≥ 维度 + 1; 通常取2×维度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5120" y="4015232"/>
            <a:ext cx="11541760" cy="1918208"/>
          </a:xfrm>
          <a:custGeom>
            <a:avLst/>
            <a:gdLst/>
            <a:ahLst/>
            <a:cxnLst/>
            <a:rect l="l" t="t" r="r" b="b"/>
            <a:pathLst>
              <a:path w="11541760" h="1918208">
                <a:moveTo>
                  <a:pt x="65027" y="0"/>
                </a:moveTo>
                <a:lnTo>
                  <a:pt x="11476733" y="0"/>
                </a:lnTo>
                <a:cubicBezTo>
                  <a:pt x="11512646" y="0"/>
                  <a:pt x="11541760" y="29114"/>
                  <a:pt x="11541760" y="65027"/>
                </a:cubicBezTo>
                <a:lnTo>
                  <a:pt x="11541760" y="1853181"/>
                </a:lnTo>
                <a:cubicBezTo>
                  <a:pt x="11541760" y="1889094"/>
                  <a:pt x="11512646" y="1918208"/>
                  <a:pt x="11476733" y="1918208"/>
                </a:cubicBezTo>
                <a:lnTo>
                  <a:pt x="65027" y="1918208"/>
                </a:lnTo>
                <a:cubicBezTo>
                  <a:pt x="29114" y="1918208"/>
                  <a:pt x="0" y="1889094"/>
                  <a:pt x="0" y="1853181"/>
                </a:cubicBezTo>
                <a:lnTo>
                  <a:pt x="0" y="65027"/>
                </a:lnTo>
                <a:cubicBezTo>
                  <a:pt x="0" y="29138"/>
                  <a:pt x="29138" y="0"/>
                  <a:pt x="65027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7680" y="4177792"/>
            <a:ext cx="11297920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参数组合效果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9232" y="4502912"/>
            <a:ext cx="2787904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ε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88665" y="4502912"/>
            <a:ext cx="2787904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MinPts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18098" y="4502912"/>
            <a:ext cx="2787904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效果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47531" y="4502912"/>
            <a:ext cx="2787904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说明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7680" y="4763008"/>
            <a:ext cx="11216640" cy="292608"/>
          </a:xfrm>
          <a:custGeom>
            <a:avLst/>
            <a:gdLst/>
            <a:ahLst/>
            <a:cxnLst/>
            <a:rect l="l" t="t" r="r" b="b"/>
            <a:pathLst>
              <a:path w="11216640" h="292608">
                <a:moveTo>
                  <a:pt x="32512" y="0"/>
                </a:moveTo>
                <a:lnTo>
                  <a:pt x="11184128" y="0"/>
                </a:lnTo>
                <a:cubicBezTo>
                  <a:pt x="11202084" y="0"/>
                  <a:pt x="11216640" y="14556"/>
                  <a:pt x="11216640" y="32512"/>
                </a:cubicBezTo>
                <a:lnTo>
                  <a:pt x="11216640" y="260096"/>
                </a:lnTo>
                <a:cubicBezTo>
                  <a:pt x="11216640" y="278052"/>
                  <a:pt x="11202084" y="292608"/>
                  <a:pt x="11184128" y="292608"/>
                </a:cubicBezTo>
                <a:lnTo>
                  <a:pt x="32512" y="292608"/>
                </a:lnTo>
                <a:cubicBezTo>
                  <a:pt x="14556" y="292608"/>
                  <a:pt x="0" y="278052"/>
                  <a:pt x="0" y="26009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24256" y="4828032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21177" y="4828032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18098" y="4828032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簇过小,噪声多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15019" y="4828032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很难形成核心点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7680" y="5120640"/>
            <a:ext cx="11216640" cy="292608"/>
          </a:xfrm>
          <a:custGeom>
            <a:avLst/>
            <a:gdLst/>
            <a:ahLst/>
            <a:cxnLst/>
            <a:rect l="l" t="t" r="r" b="b"/>
            <a:pathLst>
              <a:path w="11216640" h="292608">
                <a:moveTo>
                  <a:pt x="32512" y="0"/>
                </a:moveTo>
                <a:lnTo>
                  <a:pt x="11184128" y="0"/>
                </a:lnTo>
                <a:cubicBezTo>
                  <a:pt x="11202084" y="0"/>
                  <a:pt x="11216640" y="14556"/>
                  <a:pt x="11216640" y="32512"/>
                </a:cubicBezTo>
                <a:lnTo>
                  <a:pt x="11216640" y="260096"/>
                </a:lnTo>
                <a:cubicBezTo>
                  <a:pt x="11216640" y="278052"/>
                  <a:pt x="11202084" y="292608"/>
                  <a:pt x="11184128" y="292608"/>
                </a:cubicBezTo>
                <a:lnTo>
                  <a:pt x="32512" y="292608"/>
                </a:lnTo>
                <a:cubicBezTo>
                  <a:pt x="14556" y="292608"/>
                  <a:pt x="0" y="278052"/>
                  <a:pt x="0" y="26009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24256" y="5185664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21177" y="5185664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18098" y="5185664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簇过大,噪声少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15019" y="5185664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几乎所有点都连通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87680" y="5478272"/>
            <a:ext cx="11216640" cy="292608"/>
          </a:xfrm>
          <a:custGeom>
            <a:avLst/>
            <a:gdLst/>
            <a:ahLst/>
            <a:cxnLst/>
            <a:rect l="l" t="t" r="r" b="b"/>
            <a:pathLst>
              <a:path w="11216640" h="292608">
                <a:moveTo>
                  <a:pt x="32512" y="0"/>
                </a:moveTo>
                <a:lnTo>
                  <a:pt x="11184128" y="0"/>
                </a:lnTo>
                <a:cubicBezTo>
                  <a:pt x="11202084" y="0"/>
                  <a:pt x="11216640" y="14556"/>
                  <a:pt x="11216640" y="32512"/>
                </a:cubicBezTo>
                <a:lnTo>
                  <a:pt x="11216640" y="260096"/>
                </a:lnTo>
                <a:cubicBezTo>
                  <a:pt x="11216640" y="278052"/>
                  <a:pt x="11202084" y="292608"/>
                  <a:pt x="11184128" y="292608"/>
                </a:cubicBezTo>
                <a:lnTo>
                  <a:pt x="32512" y="292608"/>
                </a:lnTo>
                <a:cubicBezTo>
                  <a:pt x="14556" y="292608"/>
                  <a:pt x="0" y="278052"/>
                  <a:pt x="0" y="260096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24256" y="5543296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适中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321177" y="5543296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适中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18098" y="5543296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理想效果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915019" y="5543296"/>
            <a:ext cx="275539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簇结构清晰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29184" y="6067552"/>
            <a:ext cx="11533632" cy="463296"/>
          </a:xfrm>
          <a:custGeom>
            <a:avLst/>
            <a:gdLst/>
            <a:ahLst/>
            <a:cxnLst/>
            <a:rect l="l" t="t" r="r" b="b"/>
            <a:pathLst>
              <a:path w="11533632" h="463296">
                <a:moveTo>
                  <a:pt x="65024" y="0"/>
                </a:moveTo>
                <a:lnTo>
                  <a:pt x="11468608" y="0"/>
                </a:lnTo>
                <a:cubicBezTo>
                  <a:pt x="11504520" y="0"/>
                  <a:pt x="11533632" y="29112"/>
                  <a:pt x="11533632" y="65024"/>
                </a:cubicBezTo>
                <a:lnTo>
                  <a:pt x="11533632" y="398272"/>
                </a:lnTo>
                <a:cubicBezTo>
                  <a:pt x="11533632" y="434184"/>
                  <a:pt x="11504520" y="463296"/>
                  <a:pt x="11468608" y="463296"/>
                </a:cubicBezTo>
                <a:lnTo>
                  <a:pt x="65024" y="463296"/>
                </a:lnTo>
                <a:cubicBezTo>
                  <a:pt x="29112" y="463296"/>
                  <a:pt x="0" y="434184"/>
                  <a:pt x="0" y="398272"/>
                </a:cubicBezTo>
                <a:lnTo>
                  <a:pt x="0" y="65024"/>
                </a:lnTo>
                <a:cubicBezTo>
                  <a:pt x="0" y="29136"/>
                  <a:pt x="29136" y="0"/>
                  <a:pt x="65024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12064" y="6201664"/>
            <a:ext cx="146304" cy="195072"/>
          </a:xfrm>
          <a:custGeom>
            <a:avLst/>
            <a:gdLst/>
            <a:ahLst/>
            <a:cxnLst/>
            <a:rect l="l" t="t" r="r" b="b"/>
            <a:pathLst>
              <a:path w="146304" h="195072">
                <a:moveTo>
                  <a:pt x="111595" y="146304"/>
                </a:moveTo>
                <a:cubicBezTo>
                  <a:pt x="114376" y="137808"/>
                  <a:pt x="119939" y="130111"/>
                  <a:pt x="126225" y="123482"/>
                </a:cubicBezTo>
                <a:cubicBezTo>
                  <a:pt x="138684" y="110376"/>
                  <a:pt x="146304" y="92659"/>
                  <a:pt x="146304" y="73152"/>
                </a:cubicBezTo>
                <a:cubicBezTo>
                  <a:pt x="146304" y="32766"/>
                  <a:pt x="113538" y="0"/>
                  <a:pt x="73152" y="0"/>
                </a:cubicBezTo>
                <a:cubicBezTo>
                  <a:pt x="32766" y="0"/>
                  <a:pt x="0" y="32766"/>
                  <a:pt x="0" y="73152"/>
                </a:cubicBezTo>
                <a:cubicBezTo>
                  <a:pt x="0" y="92659"/>
                  <a:pt x="7620" y="110376"/>
                  <a:pt x="20079" y="123482"/>
                </a:cubicBezTo>
                <a:cubicBezTo>
                  <a:pt x="26365" y="130111"/>
                  <a:pt x="31966" y="137808"/>
                  <a:pt x="34709" y="146304"/>
                </a:cubicBezTo>
                <a:lnTo>
                  <a:pt x="111557" y="146304"/>
                </a:lnTo>
                <a:close/>
                <a:moveTo>
                  <a:pt x="109728" y="164592"/>
                </a:moveTo>
                <a:lnTo>
                  <a:pt x="36576" y="164592"/>
                </a:lnTo>
                <a:lnTo>
                  <a:pt x="36576" y="170688"/>
                </a:lnTo>
                <a:cubicBezTo>
                  <a:pt x="36576" y="187528"/>
                  <a:pt x="50216" y="201168"/>
                  <a:pt x="67056" y="201168"/>
                </a:cubicBezTo>
                <a:lnTo>
                  <a:pt x="79248" y="201168"/>
                </a:lnTo>
                <a:cubicBezTo>
                  <a:pt x="96088" y="201168"/>
                  <a:pt x="109728" y="187528"/>
                  <a:pt x="109728" y="170688"/>
                </a:cubicBezTo>
                <a:lnTo>
                  <a:pt x="109728" y="164592"/>
                </a:lnTo>
                <a:close/>
                <a:moveTo>
                  <a:pt x="70104" y="42672"/>
                </a:moveTo>
                <a:cubicBezTo>
                  <a:pt x="54940" y="42672"/>
                  <a:pt x="42672" y="54940"/>
                  <a:pt x="42672" y="70104"/>
                </a:cubicBezTo>
                <a:cubicBezTo>
                  <a:pt x="42672" y="75171"/>
                  <a:pt x="38595" y="79248"/>
                  <a:pt x="33528" y="79248"/>
                </a:cubicBezTo>
                <a:cubicBezTo>
                  <a:pt x="28461" y="79248"/>
                  <a:pt x="24384" y="75171"/>
                  <a:pt x="24384" y="70104"/>
                </a:cubicBezTo>
                <a:cubicBezTo>
                  <a:pt x="24384" y="44844"/>
                  <a:pt x="44844" y="24384"/>
                  <a:pt x="70104" y="24384"/>
                </a:cubicBezTo>
                <a:cubicBezTo>
                  <a:pt x="75171" y="24384"/>
                  <a:pt x="79248" y="28461"/>
                  <a:pt x="79248" y="33528"/>
                </a:cubicBezTo>
                <a:cubicBezTo>
                  <a:pt x="79248" y="38595"/>
                  <a:pt x="75171" y="42672"/>
                  <a:pt x="70104" y="4267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04672" y="6201664"/>
            <a:ext cx="59253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调参建议:</a:t>
            </a: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024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102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对参数敏感,建议结合k-距离图和业务理解进行调参,多尝试不同组合并可视化验证。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 &amp; CONS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 err="1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2250" dirty="0" err="1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优势与局限性分析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67375" cy="3397250"/>
          </a:xfrm>
          <a:custGeom>
            <a:avLst/>
            <a:gdLst/>
            <a:ahLst/>
            <a:cxnLst/>
            <a:rect l="l" t="t" r="r" b="b"/>
            <a:pathLst>
              <a:path w="5667375" h="3397250">
                <a:moveTo>
                  <a:pt x="31750" y="0"/>
                </a:moveTo>
                <a:lnTo>
                  <a:pt x="5603880" y="0"/>
                </a:lnTo>
                <a:cubicBezTo>
                  <a:pt x="5638947" y="0"/>
                  <a:pt x="5667375" y="28428"/>
                  <a:pt x="5667375" y="63495"/>
                </a:cubicBezTo>
                <a:lnTo>
                  <a:pt x="5667375" y="3333755"/>
                </a:lnTo>
                <a:cubicBezTo>
                  <a:pt x="5667375" y="3368822"/>
                  <a:pt x="5638947" y="3397250"/>
                  <a:pt x="5603880" y="3397250"/>
                </a:cubicBezTo>
                <a:lnTo>
                  <a:pt x="31750" y="3397250"/>
                </a:lnTo>
                <a:cubicBezTo>
                  <a:pt x="14215" y="3397250"/>
                  <a:pt x="0" y="3383035"/>
                  <a:pt x="0" y="336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3397250"/>
          </a:xfrm>
          <a:custGeom>
            <a:avLst/>
            <a:gdLst/>
            <a:ahLst/>
            <a:cxnLst/>
            <a:rect l="l" t="t" r="r" b="b"/>
            <a:pathLst>
              <a:path w="31750" h="3397250">
                <a:moveTo>
                  <a:pt x="31750" y="0"/>
                </a:moveTo>
                <a:lnTo>
                  <a:pt x="31750" y="0"/>
                </a:lnTo>
                <a:lnTo>
                  <a:pt x="31750" y="3397250"/>
                </a:lnTo>
                <a:lnTo>
                  <a:pt x="31750" y="3397250"/>
                </a:lnTo>
                <a:cubicBezTo>
                  <a:pt x="14227" y="3397250"/>
                  <a:pt x="0" y="3383023"/>
                  <a:pt x="0" y="336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1813" y="125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9766" y="59531"/>
                </a:moveTo>
                <a:cubicBezTo>
                  <a:pt x="36351" y="59531"/>
                  <a:pt x="41672" y="64852"/>
                  <a:pt x="41672" y="71438"/>
                </a:cubicBezTo>
                <a:lnTo>
                  <a:pt x="41672" y="166688"/>
                </a:lnTo>
                <a:cubicBezTo>
                  <a:pt x="41672" y="173273"/>
                  <a:pt x="36351" y="178594"/>
                  <a:pt x="29766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71438"/>
                </a:lnTo>
                <a:cubicBezTo>
                  <a:pt x="0" y="64852"/>
                  <a:pt x="5321" y="59531"/>
                  <a:pt x="11906" y="59531"/>
                </a:cubicBezTo>
                <a:lnTo>
                  <a:pt x="29766" y="59531"/>
                </a:lnTo>
                <a:close/>
                <a:moveTo>
                  <a:pt x="100682" y="5953"/>
                </a:moveTo>
                <a:cubicBezTo>
                  <a:pt x="110840" y="5953"/>
                  <a:pt x="119063" y="14176"/>
                  <a:pt x="119063" y="24333"/>
                </a:cubicBezTo>
                <a:lnTo>
                  <a:pt x="119063" y="25896"/>
                </a:lnTo>
                <a:cubicBezTo>
                  <a:pt x="119063" y="28426"/>
                  <a:pt x="118579" y="30956"/>
                  <a:pt x="117649" y="33300"/>
                </a:cubicBezTo>
                <a:lnTo>
                  <a:pt x="107156" y="59531"/>
                </a:lnTo>
                <a:lnTo>
                  <a:pt x="166688" y="59531"/>
                </a:lnTo>
                <a:cubicBezTo>
                  <a:pt x="176547" y="59531"/>
                  <a:pt x="184547" y="67531"/>
                  <a:pt x="184547" y="77391"/>
                </a:cubicBezTo>
                <a:cubicBezTo>
                  <a:pt x="184547" y="84720"/>
                  <a:pt x="180119" y="91008"/>
                  <a:pt x="173794" y="93762"/>
                </a:cubicBezTo>
                <a:cubicBezTo>
                  <a:pt x="180119" y="96515"/>
                  <a:pt x="184547" y="102803"/>
                  <a:pt x="184547" y="110133"/>
                </a:cubicBezTo>
                <a:cubicBezTo>
                  <a:pt x="184547" y="118839"/>
                  <a:pt x="178296" y="126095"/>
                  <a:pt x="170036" y="127657"/>
                </a:cubicBezTo>
                <a:cubicBezTo>
                  <a:pt x="171673" y="130373"/>
                  <a:pt x="172641" y="133536"/>
                  <a:pt x="172641" y="136922"/>
                </a:cubicBezTo>
                <a:cubicBezTo>
                  <a:pt x="172641" y="145182"/>
                  <a:pt x="167060" y="152102"/>
                  <a:pt x="159469" y="154149"/>
                </a:cubicBezTo>
                <a:cubicBezTo>
                  <a:pt x="160288" y="156195"/>
                  <a:pt x="160734" y="158428"/>
                  <a:pt x="160734" y="160734"/>
                </a:cubicBezTo>
                <a:cubicBezTo>
                  <a:pt x="160734" y="170594"/>
                  <a:pt x="152735" y="178594"/>
                  <a:pt x="142875" y="178594"/>
                </a:cubicBezTo>
                <a:lnTo>
                  <a:pt x="110170" y="178594"/>
                </a:lnTo>
                <a:cubicBezTo>
                  <a:pt x="96664" y="178594"/>
                  <a:pt x="83530" y="173980"/>
                  <a:pt x="73000" y="165534"/>
                </a:cubicBezTo>
                <a:lnTo>
                  <a:pt x="68461" y="161925"/>
                </a:lnTo>
                <a:cubicBezTo>
                  <a:pt x="62805" y="157423"/>
                  <a:pt x="59531" y="150577"/>
                  <a:pt x="59531" y="143321"/>
                </a:cubicBezTo>
                <a:lnTo>
                  <a:pt x="59531" y="73893"/>
                </a:lnTo>
                <a:cubicBezTo>
                  <a:pt x="59531" y="68349"/>
                  <a:pt x="60833" y="62880"/>
                  <a:pt x="63289" y="57931"/>
                </a:cubicBezTo>
                <a:lnTo>
                  <a:pt x="84200" y="16111"/>
                </a:lnTo>
                <a:cubicBezTo>
                  <a:pt x="87325" y="9897"/>
                  <a:pt x="93687" y="5953"/>
                  <a:pt x="100682" y="595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85813" y="1206500"/>
            <a:ext cx="5151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优势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5875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250" y="1682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无需预设簇数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193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不需要像K-Means那样指定K值,算法根据数据内在的密度分布自动确定簇的数量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2860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03250" y="2381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处理任意形状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" y="2635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能发现月牙形、环形、S形等非凸簇,打破了球状簇的假设限制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29845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3250" y="3079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鲁棒性强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" y="3333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能够有效识别并剔除噪声点(离群点),保证聚类结果的纯净度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36830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03250" y="3778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边界清晰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" y="4032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能够准确识别簇边界,边界点被正确归类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7125" y="1047750"/>
            <a:ext cx="5667375" cy="3397250"/>
          </a:xfrm>
          <a:custGeom>
            <a:avLst/>
            <a:gdLst/>
            <a:ahLst/>
            <a:cxnLst/>
            <a:rect l="l" t="t" r="r" b="b"/>
            <a:pathLst>
              <a:path w="5667375" h="3397250">
                <a:moveTo>
                  <a:pt x="31750" y="0"/>
                </a:moveTo>
                <a:lnTo>
                  <a:pt x="5603880" y="0"/>
                </a:lnTo>
                <a:cubicBezTo>
                  <a:pt x="5638947" y="0"/>
                  <a:pt x="5667375" y="28428"/>
                  <a:pt x="5667375" y="63495"/>
                </a:cubicBezTo>
                <a:lnTo>
                  <a:pt x="5667375" y="3333755"/>
                </a:lnTo>
                <a:cubicBezTo>
                  <a:pt x="5667375" y="3368822"/>
                  <a:pt x="5638947" y="3397250"/>
                  <a:pt x="5603880" y="3397250"/>
                </a:cubicBezTo>
                <a:lnTo>
                  <a:pt x="31750" y="3397250"/>
                </a:lnTo>
                <a:cubicBezTo>
                  <a:pt x="14215" y="3397250"/>
                  <a:pt x="0" y="3383035"/>
                  <a:pt x="0" y="336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207125" y="1047750"/>
            <a:ext cx="31750" cy="3397250"/>
          </a:xfrm>
          <a:custGeom>
            <a:avLst/>
            <a:gdLst/>
            <a:ahLst/>
            <a:cxnLst/>
            <a:rect l="l" t="t" r="r" b="b"/>
            <a:pathLst>
              <a:path w="31750" h="3397250">
                <a:moveTo>
                  <a:pt x="31750" y="0"/>
                </a:moveTo>
                <a:lnTo>
                  <a:pt x="31750" y="0"/>
                </a:lnTo>
                <a:lnTo>
                  <a:pt x="31750" y="3397250"/>
                </a:lnTo>
                <a:lnTo>
                  <a:pt x="31750" y="3397250"/>
                </a:lnTo>
                <a:cubicBezTo>
                  <a:pt x="14227" y="3397250"/>
                  <a:pt x="0" y="3383023"/>
                  <a:pt x="0" y="336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05563" y="125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2875" y="11906"/>
                </a:moveTo>
                <a:cubicBezTo>
                  <a:pt x="152735" y="11906"/>
                  <a:pt x="160734" y="19906"/>
                  <a:pt x="160734" y="29766"/>
                </a:cubicBezTo>
                <a:cubicBezTo>
                  <a:pt x="160734" y="32110"/>
                  <a:pt x="160251" y="34305"/>
                  <a:pt x="159469" y="36351"/>
                </a:cubicBezTo>
                <a:cubicBezTo>
                  <a:pt x="167060" y="38398"/>
                  <a:pt x="172641" y="45318"/>
                  <a:pt x="172641" y="53578"/>
                </a:cubicBezTo>
                <a:cubicBezTo>
                  <a:pt x="172641" y="56964"/>
                  <a:pt x="171673" y="60127"/>
                  <a:pt x="170036" y="62843"/>
                </a:cubicBezTo>
                <a:cubicBezTo>
                  <a:pt x="178296" y="64405"/>
                  <a:pt x="184547" y="71661"/>
                  <a:pt x="184547" y="80367"/>
                </a:cubicBezTo>
                <a:cubicBezTo>
                  <a:pt x="184547" y="87697"/>
                  <a:pt x="180119" y="93985"/>
                  <a:pt x="173794" y="96738"/>
                </a:cubicBezTo>
                <a:cubicBezTo>
                  <a:pt x="180119" y="99492"/>
                  <a:pt x="184547" y="105780"/>
                  <a:pt x="184547" y="113109"/>
                </a:cubicBezTo>
                <a:cubicBezTo>
                  <a:pt x="184547" y="122969"/>
                  <a:pt x="176547" y="130969"/>
                  <a:pt x="166688" y="130969"/>
                </a:cubicBezTo>
                <a:lnTo>
                  <a:pt x="107156" y="130969"/>
                </a:lnTo>
                <a:lnTo>
                  <a:pt x="117649" y="157163"/>
                </a:lnTo>
                <a:cubicBezTo>
                  <a:pt x="118579" y="159507"/>
                  <a:pt x="119063" y="162037"/>
                  <a:pt x="119063" y="164567"/>
                </a:cubicBezTo>
                <a:lnTo>
                  <a:pt x="119063" y="166129"/>
                </a:lnTo>
                <a:cubicBezTo>
                  <a:pt x="119063" y="176287"/>
                  <a:pt x="110840" y="184510"/>
                  <a:pt x="100682" y="184510"/>
                </a:cubicBezTo>
                <a:cubicBezTo>
                  <a:pt x="93725" y="184510"/>
                  <a:pt x="87362" y="180566"/>
                  <a:pt x="84237" y="174352"/>
                </a:cubicBezTo>
                <a:lnTo>
                  <a:pt x="63289" y="132569"/>
                </a:lnTo>
                <a:cubicBezTo>
                  <a:pt x="60796" y="127620"/>
                  <a:pt x="59531" y="122151"/>
                  <a:pt x="59531" y="116607"/>
                </a:cubicBezTo>
                <a:lnTo>
                  <a:pt x="59531" y="47179"/>
                </a:lnTo>
                <a:cubicBezTo>
                  <a:pt x="59531" y="39960"/>
                  <a:pt x="62843" y="33114"/>
                  <a:pt x="68461" y="28575"/>
                </a:cubicBezTo>
                <a:lnTo>
                  <a:pt x="73000" y="24966"/>
                </a:lnTo>
                <a:cubicBezTo>
                  <a:pt x="83567" y="16520"/>
                  <a:pt x="96664" y="11906"/>
                  <a:pt x="110170" y="11906"/>
                </a:cubicBezTo>
                <a:lnTo>
                  <a:pt x="142875" y="11906"/>
                </a:lnTo>
                <a:close/>
                <a:moveTo>
                  <a:pt x="29766" y="35719"/>
                </a:moveTo>
                <a:cubicBezTo>
                  <a:pt x="36351" y="35719"/>
                  <a:pt x="41672" y="41039"/>
                  <a:pt x="41672" y="47625"/>
                </a:cubicBezTo>
                <a:lnTo>
                  <a:pt x="41672" y="142875"/>
                </a:lnTo>
                <a:cubicBezTo>
                  <a:pt x="41672" y="149461"/>
                  <a:pt x="36351" y="154781"/>
                  <a:pt x="29766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lnTo>
                  <a:pt x="0" y="47625"/>
                </a:lnTo>
                <a:cubicBezTo>
                  <a:pt x="0" y="41039"/>
                  <a:pt x="5321" y="35719"/>
                  <a:pt x="11906" y="35719"/>
                </a:cubicBezTo>
                <a:lnTo>
                  <a:pt x="29766" y="35719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59563" y="1206500"/>
            <a:ext cx="5151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0" y="15875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77000" y="1682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参数敏感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0" y="193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ε和MinPts的选择对结果影响较大,调参困难,需要借助k-距离图等辅助工具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750" y="22860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77000" y="2381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密度不均问题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2635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当不同簇的密度差异很大时,很难选择一组通用的参数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29845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77000" y="3079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高维数据挑战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3333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在高维空间中,距离度量失效(维数灾难),聚类效果下降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3683000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31749" y="0"/>
                </a:moveTo>
                <a:lnTo>
                  <a:pt x="5302251" y="0"/>
                </a:lnTo>
                <a:cubicBezTo>
                  <a:pt x="5319785" y="0"/>
                  <a:pt x="5334000" y="14215"/>
                  <a:pt x="5334000" y="31749"/>
                </a:cubicBezTo>
                <a:lnTo>
                  <a:pt x="5334000" y="571501"/>
                </a:lnTo>
                <a:cubicBezTo>
                  <a:pt x="5334000" y="589035"/>
                  <a:pt x="5319785" y="603250"/>
                  <a:pt x="530225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77000" y="3778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边界点归属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4032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边界点可能同时属于多个核心点的邻域,归属不确定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1469" y="4575969"/>
            <a:ext cx="11549063" cy="1976438"/>
          </a:xfrm>
          <a:custGeom>
            <a:avLst/>
            <a:gdLst/>
            <a:ahLst/>
            <a:cxnLst/>
            <a:rect l="l" t="t" r="r" b="b"/>
            <a:pathLst>
              <a:path w="11549063" h="1976438">
                <a:moveTo>
                  <a:pt x="63503" y="0"/>
                </a:moveTo>
                <a:lnTo>
                  <a:pt x="11485560" y="0"/>
                </a:lnTo>
                <a:cubicBezTo>
                  <a:pt x="11520631" y="0"/>
                  <a:pt x="11549062" y="28431"/>
                  <a:pt x="11549062" y="63503"/>
                </a:cubicBezTo>
                <a:lnTo>
                  <a:pt x="11549063" y="1912935"/>
                </a:lnTo>
                <a:cubicBezTo>
                  <a:pt x="11549062" y="1948006"/>
                  <a:pt x="11520631" y="1976437"/>
                  <a:pt x="11485560" y="1976438"/>
                </a:cubicBezTo>
                <a:lnTo>
                  <a:pt x="63503" y="1976438"/>
                </a:lnTo>
                <a:cubicBezTo>
                  <a:pt x="28431" y="1976438"/>
                  <a:pt x="0" y="1948006"/>
                  <a:pt x="0" y="19129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84187" y="4738688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 vs K-Means对比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6406" y="5056188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维度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13819" y="5056188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DBSCAN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71231" y="5056188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28644" y="5056188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86057" y="5056188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劣势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187" y="5278438"/>
            <a:ext cx="11223625" cy="254000"/>
          </a:xfrm>
          <a:custGeom>
            <a:avLst/>
            <a:gdLst/>
            <a:ahLst/>
            <a:cxnLst/>
            <a:rect l="l" t="t" r="r" b="b"/>
            <a:pathLst>
              <a:path w="11223625" h="254000">
                <a:moveTo>
                  <a:pt x="31750" y="0"/>
                </a:moveTo>
                <a:lnTo>
                  <a:pt x="11191875" y="0"/>
                </a:lnTo>
                <a:cubicBezTo>
                  <a:pt x="11209398" y="0"/>
                  <a:pt x="11223625" y="14227"/>
                  <a:pt x="11223625" y="31750"/>
                </a:cubicBezTo>
                <a:lnTo>
                  <a:pt x="11223625" y="222250"/>
                </a:lnTo>
                <a:cubicBezTo>
                  <a:pt x="11223625" y="239773"/>
                  <a:pt x="11209398" y="254000"/>
                  <a:pt x="11191875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23875" y="53419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簇数预设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755863" y="53419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87913" y="53419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必须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19900" y="53419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自动化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51950" y="53419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参数难调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4187" y="5564188"/>
            <a:ext cx="11223625" cy="254000"/>
          </a:xfrm>
          <a:custGeom>
            <a:avLst/>
            <a:gdLst/>
            <a:ahLst/>
            <a:cxnLst/>
            <a:rect l="l" t="t" r="r" b="b"/>
            <a:pathLst>
              <a:path w="11223625" h="254000">
                <a:moveTo>
                  <a:pt x="31750" y="0"/>
                </a:moveTo>
                <a:lnTo>
                  <a:pt x="11191875" y="0"/>
                </a:lnTo>
                <a:cubicBezTo>
                  <a:pt x="11209398" y="0"/>
                  <a:pt x="11223625" y="14227"/>
                  <a:pt x="11223625" y="31750"/>
                </a:cubicBezTo>
                <a:lnTo>
                  <a:pt x="11223625" y="222250"/>
                </a:lnTo>
                <a:cubicBezTo>
                  <a:pt x="11223625" y="239773"/>
                  <a:pt x="11209398" y="254000"/>
                  <a:pt x="11191875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523875" y="56276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簇形状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55863" y="56276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987913" y="56276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球状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19900" y="56276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灵活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451950" y="56276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边界模糊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84187" y="5849938"/>
            <a:ext cx="11223625" cy="254000"/>
          </a:xfrm>
          <a:custGeom>
            <a:avLst/>
            <a:gdLst/>
            <a:ahLst/>
            <a:cxnLst/>
            <a:rect l="l" t="t" r="r" b="b"/>
            <a:pathLst>
              <a:path w="11223625" h="254000">
                <a:moveTo>
                  <a:pt x="31750" y="0"/>
                </a:moveTo>
                <a:lnTo>
                  <a:pt x="11191875" y="0"/>
                </a:lnTo>
                <a:cubicBezTo>
                  <a:pt x="11209398" y="0"/>
                  <a:pt x="11223625" y="14227"/>
                  <a:pt x="11223625" y="31750"/>
                </a:cubicBezTo>
                <a:lnTo>
                  <a:pt x="11223625" y="222250"/>
                </a:lnTo>
                <a:cubicBezTo>
                  <a:pt x="11223625" y="239773"/>
                  <a:pt x="11209398" y="254000"/>
                  <a:pt x="11191875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23875" y="59134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噪声处理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755863" y="59134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自动识别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87913" y="59134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敏感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19900" y="59134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鲁棒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451950" y="591343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高维失效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35688"/>
            <a:ext cx="11223625" cy="254000"/>
          </a:xfrm>
          <a:custGeom>
            <a:avLst/>
            <a:gdLst/>
            <a:ahLst/>
            <a:cxnLst/>
            <a:rect l="l" t="t" r="r" b="b"/>
            <a:pathLst>
              <a:path w="11223625" h="254000">
                <a:moveTo>
                  <a:pt x="31750" y="0"/>
                </a:moveTo>
                <a:lnTo>
                  <a:pt x="11191875" y="0"/>
                </a:lnTo>
                <a:cubicBezTo>
                  <a:pt x="11209398" y="0"/>
                  <a:pt x="11223625" y="14227"/>
                  <a:pt x="11223625" y="31750"/>
                </a:cubicBezTo>
                <a:lnTo>
                  <a:pt x="11223625" y="222250"/>
                </a:lnTo>
                <a:cubicBezTo>
                  <a:pt x="11223625" y="239773"/>
                  <a:pt x="11209398" y="254000"/>
                  <a:pt x="11191875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23875" y="61991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计算效率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755863" y="61991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O(n²)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987913" y="61991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O(n·K·t)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219900" y="61991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准确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451950" y="6199188"/>
            <a:ext cx="221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较慢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DBSCAN手动实现: 核心逻辑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900610"/>
            <a:ext cx="5683250" cy="1264088"/>
          </a:xfrm>
          <a:custGeom>
            <a:avLst/>
            <a:gdLst/>
            <a:ahLst/>
            <a:cxnLst/>
            <a:rect l="l" t="t" r="r" b="b"/>
            <a:pathLst>
              <a:path w="5683250" h="1936750">
                <a:moveTo>
                  <a:pt x="31750" y="0"/>
                </a:moveTo>
                <a:lnTo>
                  <a:pt x="5619744" y="0"/>
                </a:lnTo>
                <a:cubicBezTo>
                  <a:pt x="5654817" y="0"/>
                  <a:pt x="5683250" y="28433"/>
                  <a:pt x="5683250" y="63506"/>
                </a:cubicBezTo>
                <a:lnTo>
                  <a:pt x="5683250" y="1873244"/>
                </a:lnTo>
                <a:cubicBezTo>
                  <a:pt x="5683250" y="1908317"/>
                  <a:pt x="5654817" y="1936750"/>
                  <a:pt x="5619744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4" y="900610"/>
            <a:ext cx="45719" cy="1264088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059360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欧氏距离计算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376860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1" y="0"/>
                </a:moveTo>
                <a:lnTo>
                  <a:pt x="5318124" y="0"/>
                </a:lnTo>
                <a:cubicBezTo>
                  <a:pt x="5335660" y="0"/>
                  <a:pt x="5349875" y="14215"/>
                  <a:pt x="5349875" y="31751"/>
                </a:cubicBezTo>
                <a:lnTo>
                  <a:pt x="5349875" y="634999"/>
                </a:lnTo>
                <a:cubicBezTo>
                  <a:pt x="5349875" y="652535"/>
                  <a:pt x="5335660" y="666750"/>
                  <a:pt x="5318124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03250" y="14721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def euclidean_distance(a, b):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250" y="163086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"""计算两个点之间的欧氏距离"""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178961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return np.sqrt(np.sum((np.array(a) - np.array(b)) ** 2))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91250" y="227948"/>
            <a:ext cx="5683250" cy="1936750"/>
          </a:xfrm>
          <a:custGeom>
            <a:avLst/>
            <a:gdLst/>
            <a:ahLst/>
            <a:cxnLst/>
            <a:rect l="l" t="t" r="r" b="b"/>
            <a:pathLst>
              <a:path w="5683250" h="1936750">
                <a:moveTo>
                  <a:pt x="31750" y="0"/>
                </a:moveTo>
                <a:lnTo>
                  <a:pt x="5619744" y="0"/>
                </a:lnTo>
                <a:cubicBezTo>
                  <a:pt x="5654817" y="0"/>
                  <a:pt x="5683250" y="28433"/>
                  <a:pt x="5683250" y="63506"/>
                </a:cubicBezTo>
                <a:lnTo>
                  <a:pt x="5683250" y="1873244"/>
                </a:lnTo>
                <a:cubicBezTo>
                  <a:pt x="5683250" y="1908317"/>
                  <a:pt x="5654817" y="1936750"/>
                  <a:pt x="5619744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91250" y="227948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65875" y="386698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邻域搜索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65875" y="704198"/>
            <a:ext cx="5349875" cy="1301750"/>
          </a:xfrm>
          <a:custGeom>
            <a:avLst/>
            <a:gdLst/>
            <a:ahLst/>
            <a:cxnLst/>
            <a:rect l="l" t="t" r="r" b="b"/>
            <a:pathLst>
              <a:path w="5349875" h="1301750">
                <a:moveTo>
                  <a:pt x="31750" y="0"/>
                </a:moveTo>
                <a:lnTo>
                  <a:pt x="5318125" y="0"/>
                </a:lnTo>
                <a:cubicBezTo>
                  <a:pt x="5335660" y="0"/>
                  <a:pt x="5349875" y="14215"/>
                  <a:pt x="5349875" y="31750"/>
                </a:cubicBezTo>
                <a:lnTo>
                  <a:pt x="5349875" y="1270000"/>
                </a:lnTo>
                <a:cubicBezTo>
                  <a:pt x="5349875" y="1287535"/>
                  <a:pt x="5335660" y="1301750"/>
                  <a:pt x="5318125" y="1301750"/>
                </a:cubicBezTo>
                <a:lnTo>
                  <a:pt x="31750" y="1301750"/>
                </a:lnTo>
                <a:cubicBezTo>
                  <a:pt x="14215" y="1301750"/>
                  <a:pt x="0" y="1287535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61125" y="79944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def search_neighbors(data, point_idx, eps):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1125" y="95819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"""查找ε-邻域内的所有点索引"""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125" y="111694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neighbors = set()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1125" y="127569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for i in range(len(data)):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125" y="143444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if euclidean_distance(data[point_idx], data[i]) &lt;= eps: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1125" y="159319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neighbors.add(i)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125" y="175194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return neighbors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1469" y="2222092"/>
            <a:ext cx="11549063" cy="4071938"/>
          </a:xfrm>
          <a:custGeom>
            <a:avLst/>
            <a:gdLst/>
            <a:ahLst/>
            <a:cxnLst/>
            <a:rect l="l" t="t" r="r" b="b"/>
            <a:pathLst>
              <a:path w="11549063" h="4071938">
                <a:moveTo>
                  <a:pt x="63482" y="0"/>
                </a:moveTo>
                <a:lnTo>
                  <a:pt x="11485581" y="0"/>
                </a:lnTo>
                <a:cubicBezTo>
                  <a:pt x="11520641" y="0"/>
                  <a:pt x="11549063" y="28422"/>
                  <a:pt x="11549063" y="63482"/>
                </a:cubicBezTo>
                <a:lnTo>
                  <a:pt x="11549063" y="4008456"/>
                </a:lnTo>
                <a:cubicBezTo>
                  <a:pt x="11549063" y="4043516"/>
                  <a:pt x="11520641" y="4071938"/>
                  <a:pt x="11485581" y="4071938"/>
                </a:cubicBezTo>
                <a:lnTo>
                  <a:pt x="63482" y="4071938"/>
                </a:lnTo>
                <a:cubicBezTo>
                  <a:pt x="28422" y="4071938"/>
                  <a:pt x="0" y="4043516"/>
                  <a:pt x="0" y="4008456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12700">
            <a:solidFill>
              <a:srgbClr val="A99A8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4187" y="2384811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DBSCAN主函数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187" y="2702311"/>
            <a:ext cx="11223625" cy="3429000"/>
          </a:xfrm>
          <a:custGeom>
            <a:avLst/>
            <a:gdLst/>
            <a:ahLst/>
            <a:cxnLst/>
            <a:rect l="l" t="t" r="r" b="b"/>
            <a:pathLst>
              <a:path w="11223625" h="3429000">
                <a:moveTo>
                  <a:pt x="31753" y="0"/>
                </a:moveTo>
                <a:lnTo>
                  <a:pt x="11191872" y="0"/>
                </a:lnTo>
                <a:cubicBezTo>
                  <a:pt x="11209409" y="0"/>
                  <a:pt x="11223625" y="14216"/>
                  <a:pt x="11223625" y="31753"/>
                </a:cubicBezTo>
                <a:lnTo>
                  <a:pt x="11223625" y="3397247"/>
                </a:lnTo>
                <a:cubicBezTo>
                  <a:pt x="11223625" y="3414784"/>
                  <a:pt x="11209409" y="3429000"/>
                  <a:pt x="11191872" y="3429000"/>
                </a:cubicBezTo>
                <a:lnTo>
                  <a:pt x="31753" y="3429000"/>
                </a:lnTo>
                <a:cubicBezTo>
                  <a:pt x="14216" y="3429000"/>
                  <a:pt x="0" y="3414784"/>
                  <a:pt x="0" y="3397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188" y="28293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def dbscan_cluster(data, eps, min_samples):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1188" y="29880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"""DBSCAN聚类算法主函数"""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1188" y="31468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n_samples = len(data)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1188" y="33055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labels = [0] * n_samples </a:t>
            </a: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0=未访问, -1=噪声, &gt;0=簇ID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1188" y="34643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cluster_id = 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1188" y="37818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for point_idx in range(n_samples):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1188" y="39405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if labels[point_idx] != 0: </a:t>
            </a: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已访问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1188" y="40993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continue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1188" y="44168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neighbors = search_neighbors(data, point_idx, eps)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1188" y="45755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if len(neighbors) &lt; min_samples: </a:t>
            </a: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非核心点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1188" y="47343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labels[point_idx] = -1 </a:t>
            </a: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标记为噪声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1188" y="48930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else: </a:t>
            </a: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核心点,扩展簇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1188" y="505181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cluster_id += 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1188" y="52105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labels[point_idx] = cluster_id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1188" y="5381217"/>
            <a:ext cx="945741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递归扩展簇...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1188" y="55280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...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1188" y="5845561"/>
            <a:ext cx="1102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return labels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1469" y="6355397"/>
            <a:ext cx="11549063" cy="452438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63500" y="0"/>
                </a:moveTo>
                <a:lnTo>
                  <a:pt x="11485563" y="0"/>
                </a:lnTo>
                <a:cubicBezTo>
                  <a:pt x="11520633" y="0"/>
                  <a:pt x="11549063" y="28430"/>
                  <a:pt x="11549063" y="63500"/>
                </a:cubicBezTo>
                <a:lnTo>
                  <a:pt x="11549063" y="388938"/>
                </a:lnTo>
                <a:cubicBezTo>
                  <a:pt x="11549063" y="424008"/>
                  <a:pt x="11520633" y="452438"/>
                  <a:pt x="11485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64344" y="648636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85813" y="6486365"/>
            <a:ext cx="435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实现要点: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使用DFS或BFS扩展簇,处理边界点和噪声点,注意更新已访问标记。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PRACTICE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DBSCAN实战: 月牙形数据聚类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101" y="1131747"/>
            <a:ext cx="5650160" cy="2589300"/>
          </a:xfrm>
          <a:custGeom>
            <a:avLst/>
            <a:gdLst/>
            <a:ahLst/>
            <a:cxnLst/>
            <a:rect l="l" t="t" r="r" b="b"/>
            <a:pathLst>
              <a:path w="5650160" h="2589300">
                <a:moveTo>
                  <a:pt x="34295" y="0"/>
                </a:moveTo>
                <a:lnTo>
                  <a:pt x="5581570" y="0"/>
                </a:lnTo>
                <a:cubicBezTo>
                  <a:pt x="5619451" y="0"/>
                  <a:pt x="5650160" y="30709"/>
                  <a:pt x="5650160" y="68591"/>
                </a:cubicBezTo>
                <a:lnTo>
                  <a:pt x="5650160" y="2520709"/>
                </a:lnTo>
                <a:cubicBezTo>
                  <a:pt x="5650160" y="2558591"/>
                  <a:pt x="5619451" y="2589300"/>
                  <a:pt x="5581570" y="2589300"/>
                </a:cubicBezTo>
                <a:lnTo>
                  <a:pt x="34295" y="2589300"/>
                </a:lnTo>
                <a:cubicBezTo>
                  <a:pt x="15355" y="2589300"/>
                  <a:pt x="0" y="2573945"/>
                  <a:pt x="0" y="2555004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0101" y="1131747"/>
            <a:ext cx="34295" cy="2589300"/>
          </a:xfrm>
          <a:custGeom>
            <a:avLst/>
            <a:gdLst/>
            <a:ahLst/>
            <a:cxnLst/>
            <a:rect l="l" t="t" r="r" b="b"/>
            <a:pathLst>
              <a:path w="34295" h="2589300">
                <a:moveTo>
                  <a:pt x="34295" y="0"/>
                </a:moveTo>
                <a:lnTo>
                  <a:pt x="34295" y="0"/>
                </a:lnTo>
                <a:lnTo>
                  <a:pt x="34295" y="2589300"/>
                </a:lnTo>
                <a:lnTo>
                  <a:pt x="34295" y="2589300"/>
                </a:lnTo>
                <a:cubicBezTo>
                  <a:pt x="15355" y="2589300"/>
                  <a:pt x="0" y="2573945"/>
                  <a:pt x="0" y="255500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726" y="1303224"/>
            <a:ext cx="537579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数据准备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726" y="1646177"/>
            <a:ext cx="5358650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使用月牙形数据验证DBSCAN处理</a:t>
            </a:r>
            <a:r>
              <a:rPr lang="en-US" sz="108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非凸形状</a:t>
            </a:r>
            <a:r>
              <a:rPr lang="en-US" sz="108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的能力。这类数据对K-Means极具挑战性。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726" y="1971983"/>
            <a:ext cx="5290059" cy="891679"/>
          </a:xfrm>
          <a:custGeom>
            <a:avLst/>
            <a:gdLst/>
            <a:ahLst/>
            <a:cxnLst/>
            <a:rect l="l" t="t" r="r" b="b"/>
            <a:pathLst>
              <a:path w="5290059" h="891679">
                <a:moveTo>
                  <a:pt x="34294" y="0"/>
                </a:moveTo>
                <a:lnTo>
                  <a:pt x="5255765" y="0"/>
                </a:lnTo>
                <a:cubicBezTo>
                  <a:pt x="5274705" y="0"/>
                  <a:pt x="5290059" y="15354"/>
                  <a:pt x="5290059" y="34294"/>
                </a:cubicBezTo>
                <a:lnTo>
                  <a:pt x="5290059" y="857385"/>
                </a:lnTo>
                <a:cubicBezTo>
                  <a:pt x="5290059" y="876325"/>
                  <a:pt x="5274705" y="891679"/>
                  <a:pt x="5255765" y="891679"/>
                </a:cubicBezTo>
                <a:lnTo>
                  <a:pt x="34294" y="891679"/>
                </a:lnTo>
                <a:cubicBezTo>
                  <a:pt x="15354" y="891679"/>
                  <a:pt x="0" y="876325"/>
                  <a:pt x="0" y="857385"/>
                </a:cubicBezTo>
                <a:lnTo>
                  <a:pt x="0" y="34294"/>
                </a:lnTo>
                <a:cubicBezTo>
                  <a:pt x="0" y="15354"/>
                  <a:pt x="15354" y="0"/>
                  <a:pt x="342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1612" y="2074869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生成月牙形数据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612" y="2246346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from sklearn import datasets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612" y="2417823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noisy_moons, _ = datasets.make_moons(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612" y="2589300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n_samples=100, noise=0.05)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9824" y="1131747"/>
            <a:ext cx="5650160" cy="2589300"/>
          </a:xfrm>
          <a:custGeom>
            <a:avLst/>
            <a:gdLst/>
            <a:ahLst/>
            <a:cxnLst/>
            <a:rect l="l" t="t" r="r" b="b"/>
            <a:pathLst>
              <a:path w="5650160" h="2589300">
                <a:moveTo>
                  <a:pt x="34295" y="0"/>
                </a:moveTo>
                <a:lnTo>
                  <a:pt x="5581570" y="0"/>
                </a:lnTo>
                <a:cubicBezTo>
                  <a:pt x="5619451" y="0"/>
                  <a:pt x="5650160" y="30709"/>
                  <a:pt x="5650160" y="68591"/>
                </a:cubicBezTo>
                <a:lnTo>
                  <a:pt x="5650160" y="2520709"/>
                </a:lnTo>
                <a:cubicBezTo>
                  <a:pt x="5650160" y="2558591"/>
                  <a:pt x="5619451" y="2589300"/>
                  <a:pt x="5581570" y="2589300"/>
                </a:cubicBezTo>
                <a:lnTo>
                  <a:pt x="34295" y="2589300"/>
                </a:lnTo>
                <a:cubicBezTo>
                  <a:pt x="15355" y="2589300"/>
                  <a:pt x="0" y="2573945"/>
                  <a:pt x="0" y="2555004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199824" y="1131747"/>
            <a:ext cx="34295" cy="2589300"/>
          </a:xfrm>
          <a:custGeom>
            <a:avLst/>
            <a:gdLst/>
            <a:ahLst/>
            <a:cxnLst/>
            <a:rect l="l" t="t" r="r" b="b"/>
            <a:pathLst>
              <a:path w="34295" h="2589300">
                <a:moveTo>
                  <a:pt x="34295" y="0"/>
                </a:moveTo>
                <a:lnTo>
                  <a:pt x="34295" y="0"/>
                </a:lnTo>
                <a:lnTo>
                  <a:pt x="34295" y="2589300"/>
                </a:lnTo>
                <a:lnTo>
                  <a:pt x="34295" y="2589300"/>
                </a:lnTo>
                <a:cubicBezTo>
                  <a:pt x="15355" y="2589300"/>
                  <a:pt x="0" y="2573945"/>
                  <a:pt x="0" y="255500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88448" y="1303224"/>
            <a:ext cx="537579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执行聚类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8448" y="1646177"/>
            <a:ext cx="5358650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设置ε=0.3, MinPts=5,执行DBSCAN聚类并可视化结果。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88448" y="1971983"/>
            <a:ext cx="5290059" cy="1577586"/>
          </a:xfrm>
          <a:custGeom>
            <a:avLst/>
            <a:gdLst/>
            <a:ahLst/>
            <a:cxnLst/>
            <a:rect l="l" t="t" r="r" b="b"/>
            <a:pathLst>
              <a:path w="5290059" h="1577586">
                <a:moveTo>
                  <a:pt x="34297" y="0"/>
                </a:moveTo>
                <a:lnTo>
                  <a:pt x="5255762" y="0"/>
                </a:lnTo>
                <a:cubicBezTo>
                  <a:pt x="5274704" y="0"/>
                  <a:pt x="5290059" y="15355"/>
                  <a:pt x="5290059" y="34297"/>
                </a:cubicBezTo>
                <a:lnTo>
                  <a:pt x="5290059" y="1543290"/>
                </a:lnTo>
                <a:cubicBezTo>
                  <a:pt x="5290059" y="1562231"/>
                  <a:pt x="5274704" y="1577586"/>
                  <a:pt x="5255762" y="1577586"/>
                </a:cubicBezTo>
                <a:lnTo>
                  <a:pt x="34297" y="1577586"/>
                </a:lnTo>
                <a:cubicBezTo>
                  <a:pt x="15355" y="1577586"/>
                  <a:pt x="0" y="1562231"/>
                  <a:pt x="0" y="1543290"/>
                </a:cubicBezTo>
                <a:lnTo>
                  <a:pt x="0" y="34297"/>
                </a:lnTo>
                <a:cubicBezTo>
                  <a:pt x="0" y="15355"/>
                  <a:pt x="15355" y="0"/>
                  <a:pt x="3429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91334" y="2074869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执行DBSCAN聚类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1334" y="2246346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dbscan_labels = dbscan_cluster(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1334" y="2417823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noisy_moons, eps=0.3, min_samples=5)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1334" y="2760776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可视化结果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1334" y="2932253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plt.scatter(noisy_moons[:,0],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1334" y="3103730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noisy_moons[:,1],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1334" y="3275207"/>
            <a:ext cx="514430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c=dbscan_labels)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2954" y="3858228"/>
            <a:ext cx="11506093" cy="1851949"/>
          </a:xfrm>
          <a:custGeom>
            <a:avLst/>
            <a:gdLst/>
            <a:ahLst/>
            <a:cxnLst/>
            <a:rect l="l" t="t" r="r" b="b"/>
            <a:pathLst>
              <a:path w="11506093" h="1851949">
                <a:moveTo>
                  <a:pt x="68596" y="0"/>
                </a:moveTo>
                <a:lnTo>
                  <a:pt x="11437497" y="0"/>
                </a:lnTo>
                <a:cubicBezTo>
                  <a:pt x="11475381" y="0"/>
                  <a:pt x="11506093" y="30712"/>
                  <a:pt x="11506093" y="68596"/>
                </a:cubicBezTo>
                <a:lnTo>
                  <a:pt x="11506093" y="1783353"/>
                </a:lnTo>
                <a:cubicBezTo>
                  <a:pt x="11506093" y="1821238"/>
                  <a:pt x="11475381" y="1851949"/>
                  <a:pt x="11437497" y="1851949"/>
                </a:cubicBezTo>
                <a:lnTo>
                  <a:pt x="68596" y="1851949"/>
                </a:lnTo>
                <a:cubicBezTo>
                  <a:pt x="30712" y="1851949"/>
                  <a:pt x="0" y="1821238"/>
                  <a:pt x="0" y="1783353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14430" y="4029705"/>
            <a:ext cx="11248878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结果分析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430" y="4372658"/>
            <a:ext cx="3626734" cy="1166042"/>
          </a:xfrm>
          <a:custGeom>
            <a:avLst/>
            <a:gdLst/>
            <a:ahLst/>
            <a:cxnLst/>
            <a:rect l="l" t="t" r="r" b="b"/>
            <a:pathLst>
              <a:path w="3626734" h="1166042">
                <a:moveTo>
                  <a:pt x="34293" y="0"/>
                </a:moveTo>
                <a:lnTo>
                  <a:pt x="3592441" y="0"/>
                </a:lnTo>
                <a:cubicBezTo>
                  <a:pt x="3611381" y="0"/>
                  <a:pt x="3626734" y="15354"/>
                  <a:pt x="3626734" y="34293"/>
                </a:cubicBezTo>
                <a:lnTo>
                  <a:pt x="3626734" y="1131749"/>
                </a:lnTo>
                <a:cubicBezTo>
                  <a:pt x="3626734" y="1150689"/>
                  <a:pt x="3611381" y="1166042"/>
                  <a:pt x="3592441" y="1166042"/>
                </a:cubicBezTo>
                <a:lnTo>
                  <a:pt x="34293" y="1166042"/>
                </a:lnTo>
                <a:cubicBezTo>
                  <a:pt x="15354" y="1166042"/>
                  <a:pt x="0" y="1150689"/>
                  <a:pt x="0" y="1131749"/>
                </a:cubicBezTo>
                <a:lnTo>
                  <a:pt x="0" y="34293"/>
                </a:lnTo>
                <a:cubicBezTo>
                  <a:pt x="0" y="15366"/>
                  <a:pt x="15366" y="0"/>
                  <a:pt x="342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175210" y="4509840"/>
            <a:ext cx="308658" cy="308658"/>
          </a:xfrm>
          <a:custGeom>
            <a:avLst/>
            <a:gdLst/>
            <a:ahLst/>
            <a:cxnLst/>
            <a:rect l="l" t="t" r="r" b="b"/>
            <a:pathLst>
              <a:path w="308658" h="308658">
                <a:moveTo>
                  <a:pt x="154329" y="308658"/>
                </a:moveTo>
                <a:cubicBezTo>
                  <a:pt x="239506" y="308658"/>
                  <a:pt x="308658" y="239506"/>
                  <a:pt x="308658" y="154329"/>
                </a:cubicBezTo>
                <a:cubicBezTo>
                  <a:pt x="308658" y="69153"/>
                  <a:pt x="239506" y="0"/>
                  <a:pt x="154329" y="0"/>
                </a:cubicBezTo>
                <a:cubicBezTo>
                  <a:pt x="69153" y="0"/>
                  <a:pt x="0" y="69153"/>
                  <a:pt x="0" y="154329"/>
                </a:cubicBezTo>
                <a:cubicBezTo>
                  <a:pt x="0" y="239506"/>
                  <a:pt x="69153" y="308658"/>
                  <a:pt x="154329" y="308658"/>
                </a:cubicBezTo>
                <a:close/>
                <a:moveTo>
                  <a:pt x="205209" y="128226"/>
                </a:moveTo>
                <a:lnTo>
                  <a:pt x="156982" y="205390"/>
                </a:lnTo>
                <a:cubicBezTo>
                  <a:pt x="154450" y="209429"/>
                  <a:pt x="150109" y="211961"/>
                  <a:pt x="145347" y="212203"/>
                </a:cubicBezTo>
                <a:cubicBezTo>
                  <a:pt x="140584" y="212444"/>
                  <a:pt x="136003" y="210273"/>
                  <a:pt x="133169" y="206415"/>
                </a:cubicBezTo>
                <a:lnTo>
                  <a:pt x="104232" y="167833"/>
                </a:lnTo>
                <a:cubicBezTo>
                  <a:pt x="99410" y="161443"/>
                  <a:pt x="100736" y="152400"/>
                  <a:pt x="107126" y="147577"/>
                </a:cubicBezTo>
                <a:cubicBezTo>
                  <a:pt x="113516" y="142754"/>
                  <a:pt x="122559" y="144081"/>
                  <a:pt x="127382" y="150471"/>
                </a:cubicBezTo>
                <a:lnTo>
                  <a:pt x="143659" y="172173"/>
                </a:lnTo>
                <a:lnTo>
                  <a:pt x="180674" y="112913"/>
                </a:lnTo>
                <a:cubicBezTo>
                  <a:pt x="184894" y="106162"/>
                  <a:pt x="193816" y="104052"/>
                  <a:pt x="200628" y="108332"/>
                </a:cubicBezTo>
                <a:cubicBezTo>
                  <a:pt x="207440" y="112612"/>
                  <a:pt x="209490" y="121474"/>
                  <a:pt x="205209" y="12828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13030" y="4921384"/>
            <a:ext cx="342953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成功聚类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603" y="5230042"/>
            <a:ext cx="341238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DBSCAN成功将月牙形数据正确聚类为两个簇(不同颜色)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81829" y="4372658"/>
            <a:ext cx="3626734" cy="1166042"/>
          </a:xfrm>
          <a:custGeom>
            <a:avLst/>
            <a:gdLst/>
            <a:ahLst/>
            <a:cxnLst/>
            <a:rect l="l" t="t" r="r" b="b"/>
            <a:pathLst>
              <a:path w="3626734" h="1166042">
                <a:moveTo>
                  <a:pt x="34293" y="0"/>
                </a:moveTo>
                <a:lnTo>
                  <a:pt x="3592441" y="0"/>
                </a:lnTo>
                <a:cubicBezTo>
                  <a:pt x="3611381" y="0"/>
                  <a:pt x="3626734" y="15354"/>
                  <a:pt x="3626734" y="34293"/>
                </a:cubicBezTo>
                <a:lnTo>
                  <a:pt x="3626734" y="1131749"/>
                </a:lnTo>
                <a:cubicBezTo>
                  <a:pt x="3626734" y="1150689"/>
                  <a:pt x="3611381" y="1166042"/>
                  <a:pt x="3592441" y="1166042"/>
                </a:cubicBezTo>
                <a:lnTo>
                  <a:pt x="34293" y="1166042"/>
                </a:lnTo>
                <a:cubicBezTo>
                  <a:pt x="15354" y="1166042"/>
                  <a:pt x="0" y="1150689"/>
                  <a:pt x="0" y="1131749"/>
                </a:cubicBezTo>
                <a:lnTo>
                  <a:pt x="0" y="34293"/>
                </a:lnTo>
                <a:cubicBezTo>
                  <a:pt x="0" y="15366"/>
                  <a:pt x="15366" y="0"/>
                  <a:pt x="342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923318" y="4509840"/>
            <a:ext cx="347241" cy="308658"/>
          </a:xfrm>
          <a:custGeom>
            <a:avLst/>
            <a:gdLst/>
            <a:ahLst/>
            <a:cxnLst/>
            <a:rect l="l" t="t" r="r" b="b"/>
            <a:pathLst>
              <a:path w="347241" h="308658">
                <a:moveTo>
                  <a:pt x="186581" y="-11394"/>
                </a:moveTo>
                <a:cubicBezTo>
                  <a:pt x="184110" y="-16217"/>
                  <a:pt x="179106" y="-19291"/>
                  <a:pt x="173681" y="-19291"/>
                </a:cubicBezTo>
                <a:cubicBezTo>
                  <a:pt x="168255" y="-19291"/>
                  <a:pt x="163251" y="-16217"/>
                  <a:pt x="160780" y="-11394"/>
                </a:cubicBezTo>
                <a:lnTo>
                  <a:pt x="116410" y="75537"/>
                </a:lnTo>
                <a:lnTo>
                  <a:pt x="20015" y="90849"/>
                </a:lnTo>
                <a:cubicBezTo>
                  <a:pt x="14649" y="91693"/>
                  <a:pt x="10188" y="95491"/>
                  <a:pt x="8500" y="100676"/>
                </a:cubicBezTo>
                <a:cubicBezTo>
                  <a:pt x="6812" y="105860"/>
                  <a:pt x="8199" y="111527"/>
                  <a:pt x="11997" y="115385"/>
                </a:cubicBezTo>
                <a:lnTo>
                  <a:pt x="80963" y="184411"/>
                </a:lnTo>
                <a:lnTo>
                  <a:pt x="65771" y="280807"/>
                </a:lnTo>
                <a:cubicBezTo>
                  <a:pt x="64927" y="286172"/>
                  <a:pt x="67157" y="291598"/>
                  <a:pt x="71558" y="294793"/>
                </a:cubicBezTo>
                <a:cubicBezTo>
                  <a:pt x="75959" y="297988"/>
                  <a:pt x="81746" y="298470"/>
                  <a:pt x="86629" y="295998"/>
                </a:cubicBezTo>
                <a:lnTo>
                  <a:pt x="173681" y="251749"/>
                </a:lnTo>
                <a:lnTo>
                  <a:pt x="260672" y="295998"/>
                </a:lnTo>
                <a:cubicBezTo>
                  <a:pt x="265494" y="298470"/>
                  <a:pt x="271342" y="297988"/>
                  <a:pt x="275743" y="294793"/>
                </a:cubicBezTo>
                <a:cubicBezTo>
                  <a:pt x="280144" y="291598"/>
                  <a:pt x="282374" y="286232"/>
                  <a:pt x="281530" y="280807"/>
                </a:cubicBezTo>
                <a:lnTo>
                  <a:pt x="266278" y="184411"/>
                </a:lnTo>
                <a:lnTo>
                  <a:pt x="335244" y="115385"/>
                </a:lnTo>
                <a:cubicBezTo>
                  <a:pt x="339102" y="111527"/>
                  <a:pt x="340428" y="105860"/>
                  <a:pt x="338740" y="100676"/>
                </a:cubicBezTo>
                <a:cubicBezTo>
                  <a:pt x="337052" y="95491"/>
                  <a:pt x="332652" y="91693"/>
                  <a:pt x="327226" y="90849"/>
                </a:cubicBezTo>
                <a:lnTo>
                  <a:pt x="230891" y="75537"/>
                </a:lnTo>
                <a:lnTo>
                  <a:pt x="186581" y="-11394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380428" y="4921384"/>
            <a:ext cx="342953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识别噪声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89002" y="5230042"/>
            <a:ext cx="341238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如果有孤立点,它们会被标记为噪声(通常用不同颜色或'x'标识)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49228" y="4372658"/>
            <a:ext cx="3626734" cy="1166042"/>
          </a:xfrm>
          <a:custGeom>
            <a:avLst/>
            <a:gdLst/>
            <a:ahLst/>
            <a:cxnLst/>
            <a:rect l="l" t="t" r="r" b="b"/>
            <a:pathLst>
              <a:path w="3626734" h="1166042">
                <a:moveTo>
                  <a:pt x="34293" y="0"/>
                </a:moveTo>
                <a:lnTo>
                  <a:pt x="3592441" y="0"/>
                </a:lnTo>
                <a:cubicBezTo>
                  <a:pt x="3611381" y="0"/>
                  <a:pt x="3626734" y="15354"/>
                  <a:pt x="3626734" y="34293"/>
                </a:cubicBezTo>
                <a:lnTo>
                  <a:pt x="3626734" y="1131749"/>
                </a:lnTo>
                <a:cubicBezTo>
                  <a:pt x="3626734" y="1150689"/>
                  <a:pt x="3611381" y="1166042"/>
                  <a:pt x="3592441" y="1166042"/>
                </a:cubicBezTo>
                <a:lnTo>
                  <a:pt x="34293" y="1166042"/>
                </a:lnTo>
                <a:cubicBezTo>
                  <a:pt x="15354" y="1166042"/>
                  <a:pt x="0" y="1150689"/>
                  <a:pt x="0" y="1131749"/>
                </a:cubicBezTo>
                <a:lnTo>
                  <a:pt x="0" y="34293"/>
                </a:lnTo>
                <a:cubicBezTo>
                  <a:pt x="0" y="15366"/>
                  <a:pt x="15366" y="0"/>
                  <a:pt x="342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9671425" y="4509840"/>
            <a:ext cx="385823" cy="308658"/>
          </a:xfrm>
          <a:custGeom>
            <a:avLst/>
            <a:gdLst/>
            <a:ahLst/>
            <a:cxnLst/>
            <a:rect l="l" t="t" r="r" b="b"/>
            <a:pathLst>
              <a:path w="385823" h="308658">
                <a:moveTo>
                  <a:pt x="231494" y="19291"/>
                </a:moveTo>
                <a:lnTo>
                  <a:pt x="308658" y="19291"/>
                </a:lnTo>
                <a:cubicBezTo>
                  <a:pt x="319329" y="19291"/>
                  <a:pt x="327949" y="27912"/>
                  <a:pt x="327949" y="38582"/>
                </a:cubicBezTo>
                <a:cubicBezTo>
                  <a:pt x="327949" y="49253"/>
                  <a:pt x="319329" y="57873"/>
                  <a:pt x="308658" y="57873"/>
                </a:cubicBezTo>
                <a:lnTo>
                  <a:pt x="240175" y="57873"/>
                </a:lnTo>
                <a:cubicBezTo>
                  <a:pt x="237040" y="73427"/>
                  <a:pt x="226369" y="86268"/>
                  <a:pt x="212203" y="92417"/>
                </a:cubicBezTo>
                <a:lnTo>
                  <a:pt x="212203" y="270076"/>
                </a:lnTo>
                <a:lnTo>
                  <a:pt x="308658" y="270076"/>
                </a:lnTo>
                <a:cubicBezTo>
                  <a:pt x="319329" y="270076"/>
                  <a:pt x="327949" y="278697"/>
                  <a:pt x="327949" y="289367"/>
                </a:cubicBezTo>
                <a:cubicBezTo>
                  <a:pt x="327949" y="300038"/>
                  <a:pt x="319329" y="308658"/>
                  <a:pt x="308658" y="308658"/>
                </a:cubicBezTo>
                <a:lnTo>
                  <a:pt x="77165" y="308658"/>
                </a:lnTo>
                <a:cubicBezTo>
                  <a:pt x="66494" y="308658"/>
                  <a:pt x="57873" y="300038"/>
                  <a:pt x="57873" y="289367"/>
                </a:cubicBezTo>
                <a:cubicBezTo>
                  <a:pt x="57873" y="278697"/>
                  <a:pt x="66494" y="270076"/>
                  <a:pt x="77165" y="270076"/>
                </a:cubicBezTo>
                <a:lnTo>
                  <a:pt x="173620" y="270076"/>
                </a:lnTo>
                <a:lnTo>
                  <a:pt x="173620" y="92417"/>
                </a:lnTo>
                <a:cubicBezTo>
                  <a:pt x="159453" y="86207"/>
                  <a:pt x="148783" y="73367"/>
                  <a:pt x="145648" y="57873"/>
                </a:cubicBezTo>
                <a:lnTo>
                  <a:pt x="77165" y="57873"/>
                </a:lnTo>
                <a:cubicBezTo>
                  <a:pt x="66494" y="57873"/>
                  <a:pt x="57873" y="49253"/>
                  <a:pt x="57873" y="38582"/>
                </a:cubicBezTo>
                <a:cubicBezTo>
                  <a:pt x="57873" y="27912"/>
                  <a:pt x="66494" y="19291"/>
                  <a:pt x="77165" y="19291"/>
                </a:cubicBezTo>
                <a:lnTo>
                  <a:pt x="154329" y="19291"/>
                </a:lnTo>
                <a:cubicBezTo>
                  <a:pt x="163131" y="7596"/>
                  <a:pt x="177117" y="0"/>
                  <a:pt x="192911" y="0"/>
                </a:cubicBezTo>
                <a:cubicBezTo>
                  <a:pt x="208706" y="0"/>
                  <a:pt x="222692" y="7596"/>
                  <a:pt x="231494" y="19291"/>
                </a:cubicBezTo>
                <a:close/>
                <a:moveTo>
                  <a:pt x="265012" y="192911"/>
                </a:moveTo>
                <a:lnTo>
                  <a:pt x="352304" y="192911"/>
                </a:lnTo>
                <a:lnTo>
                  <a:pt x="308658" y="118038"/>
                </a:lnTo>
                <a:lnTo>
                  <a:pt x="265012" y="192911"/>
                </a:lnTo>
                <a:close/>
                <a:moveTo>
                  <a:pt x="308658" y="250785"/>
                </a:moveTo>
                <a:cubicBezTo>
                  <a:pt x="270739" y="250785"/>
                  <a:pt x="239210" y="230288"/>
                  <a:pt x="232699" y="203220"/>
                </a:cubicBezTo>
                <a:cubicBezTo>
                  <a:pt x="231132" y="196589"/>
                  <a:pt x="233302" y="189777"/>
                  <a:pt x="236738" y="183869"/>
                </a:cubicBezTo>
                <a:lnTo>
                  <a:pt x="294130" y="85484"/>
                </a:lnTo>
                <a:cubicBezTo>
                  <a:pt x="297144" y="80299"/>
                  <a:pt x="302690" y="77165"/>
                  <a:pt x="308658" y="77165"/>
                </a:cubicBezTo>
                <a:cubicBezTo>
                  <a:pt x="314626" y="77165"/>
                  <a:pt x="320173" y="80360"/>
                  <a:pt x="323187" y="85484"/>
                </a:cubicBezTo>
                <a:lnTo>
                  <a:pt x="380578" y="183869"/>
                </a:lnTo>
                <a:cubicBezTo>
                  <a:pt x="384014" y="189777"/>
                  <a:pt x="386184" y="196589"/>
                  <a:pt x="384617" y="203220"/>
                </a:cubicBezTo>
                <a:cubicBezTo>
                  <a:pt x="378106" y="230228"/>
                  <a:pt x="346577" y="250785"/>
                  <a:pt x="308658" y="250785"/>
                </a:cubicBezTo>
                <a:close/>
                <a:moveTo>
                  <a:pt x="76441" y="118038"/>
                </a:moveTo>
                <a:lnTo>
                  <a:pt x="32795" y="192911"/>
                </a:lnTo>
                <a:lnTo>
                  <a:pt x="120148" y="192911"/>
                </a:lnTo>
                <a:lnTo>
                  <a:pt x="76441" y="118038"/>
                </a:lnTo>
                <a:close/>
                <a:moveTo>
                  <a:pt x="543" y="203220"/>
                </a:moveTo>
                <a:cubicBezTo>
                  <a:pt x="-1025" y="196589"/>
                  <a:pt x="1145" y="189777"/>
                  <a:pt x="4582" y="183869"/>
                </a:cubicBezTo>
                <a:lnTo>
                  <a:pt x="61973" y="85484"/>
                </a:lnTo>
                <a:cubicBezTo>
                  <a:pt x="64987" y="80299"/>
                  <a:pt x="70533" y="77165"/>
                  <a:pt x="76501" y="77165"/>
                </a:cubicBezTo>
                <a:cubicBezTo>
                  <a:pt x="82470" y="77165"/>
                  <a:pt x="88016" y="80360"/>
                  <a:pt x="91030" y="85484"/>
                </a:cubicBezTo>
                <a:lnTo>
                  <a:pt x="148421" y="183869"/>
                </a:lnTo>
                <a:cubicBezTo>
                  <a:pt x="151857" y="189777"/>
                  <a:pt x="154028" y="196589"/>
                  <a:pt x="152460" y="203220"/>
                </a:cubicBezTo>
                <a:cubicBezTo>
                  <a:pt x="145950" y="230228"/>
                  <a:pt x="114421" y="250785"/>
                  <a:pt x="76501" y="250785"/>
                </a:cubicBezTo>
                <a:cubicBezTo>
                  <a:pt x="38582" y="250785"/>
                  <a:pt x="7053" y="230288"/>
                  <a:pt x="543" y="20322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147827" y="4921384"/>
            <a:ext cx="342953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对比优势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56401" y="5230042"/>
            <a:ext cx="341238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K-Means在此类非凸数据上会失败,而DBSCAN表现优异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7241" y="5851646"/>
            <a:ext cx="11497519" cy="488709"/>
          </a:xfrm>
          <a:custGeom>
            <a:avLst/>
            <a:gdLst/>
            <a:ahLst/>
            <a:cxnLst/>
            <a:rect l="l" t="t" r="r" b="b"/>
            <a:pathLst>
              <a:path w="11497519" h="488709">
                <a:moveTo>
                  <a:pt x="68590" y="0"/>
                </a:moveTo>
                <a:lnTo>
                  <a:pt x="11428929" y="0"/>
                </a:lnTo>
                <a:cubicBezTo>
                  <a:pt x="11466810" y="0"/>
                  <a:pt x="11497519" y="30709"/>
                  <a:pt x="11497519" y="68590"/>
                </a:cubicBezTo>
                <a:lnTo>
                  <a:pt x="11497519" y="420119"/>
                </a:lnTo>
                <a:cubicBezTo>
                  <a:pt x="11497519" y="458000"/>
                  <a:pt x="11466810" y="488709"/>
                  <a:pt x="11428929" y="488709"/>
                </a:cubicBezTo>
                <a:lnTo>
                  <a:pt x="68590" y="488709"/>
                </a:lnTo>
                <a:cubicBezTo>
                  <a:pt x="30709" y="488709"/>
                  <a:pt x="0" y="458000"/>
                  <a:pt x="0" y="420119"/>
                </a:cubicBezTo>
                <a:lnTo>
                  <a:pt x="0" y="68590"/>
                </a:lnTo>
                <a:cubicBezTo>
                  <a:pt x="0" y="30709"/>
                  <a:pt x="30709" y="0"/>
                  <a:pt x="6859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14430" y="5993114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57994" y="0"/>
                </a:moveTo>
                <a:lnTo>
                  <a:pt x="148019" y="0"/>
                </a:lnTo>
                <a:cubicBezTo>
                  <a:pt x="158670" y="0"/>
                  <a:pt x="167351" y="8761"/>
                  <a:pt x="166949" y="19372"/>
                </a:cubicBezTo>
                <a:cubicBezTo>
                  <a:pt x="166868" y="21502"/>
                  <a:pt x="166788" y="23632"/>
                  <a:pt x="166667" y="25722"/>
                </a:cubicBezTo>
                <a:lnTo>
                  <a:pt x="186602" y="25722"/>
                </a:lnTo>
                <a:cubicBezTo>
                  <a:pt x="197091" y="25722"/>
                  <a:pt x="206335" y="34403"/>
                  <a:pt x="205531" y="45736"/>
                </a:cubicBezTo>
                <a:cubicBezTo>
                  <a:pt x="202517" y="87413"/>
                  <a:pt x="181216" y="110321"/>
                  <a:pt x="158107" y="122298"/>
                </a:cubicBezTo>
                <a:cubicBezTo>
                  <a:pt x="151757" y="125593"/>
                  <a:pt x="145286" y="128045"/>
                  <a:pt x="139137" y="129853"/>
                </a:cubicBezTo>
                <a:cubicBezTo>
                  <a:pt x="131019" y="141348"/>
                  <a:pt x="122579" y="147416"/>
                  <a:pt x="115867" y="150672"/>
                </a:cubicBezTo>
                <a:lnTo>
                  <a:pt x="115867" y="180051"/>
                </a:lnTo>
                <a:lnTo>
                  <a:pt x="141589" y="180051"/>
                </a:lnTo>
                <a:cubicBezTo>
                  <a:pt x="148703" y="180051"/>
                  <a:pt x="154450" y="185798"/>
                  <a:pt x="154450" y="192911"/>
                </a:cubicBezTo>
                <a:cubicBezTo>
                  <a:pt x="154450" y="200025"/>
                  <a:pt x="148703" y="205772"/>
                  <a:pt x="141589" y="205772"/>
                </a:cubicBezTo>
                <a:lnTo>
                  <a:pt x="64424" y="205772"/>
                </a:lnTo>
                <a:cubicBezTo>
                  <a:pt x="57311" y="205772"/>
                  <a:pt x="51564" y="200025"/>
                  <a:pt x="51564" y="192911"/>
                </a:cubicBezTo>
                <a:cubicBezTo>
                  <a:pt x="51564" y="185798"/>
                  <a:pt x="57311" y="180051"/>
                  <a:pt x="64424" y="180051"/>
                </a:cubicBezTo>
                <a:lnTo>
                  <a:pt x="90146" y="180051"/>
                </a:lnTo>
                <a:lnTo>
                  <a:pt x="90146" y="150672"/>
                </a:lnTo>
                <a:cubicBezTo>
                  <a:pt x="83716" y="147577"/>
                  <a:pt x="75718" y="141830"/>
                  <a:pt x="67921" y="131260"/>
                </a:cubicBezTo>
                <a:cubicBezTo>
                  <a:pt x="60526" y="129331"/>
                  <a:pt x="52488" y="126397"/>
                  <a:pt x="44651" y="121976"/>
                </a:cubicBezTo>
                <a:cubicBezTo>
                  <a:pt x="22908" y="109799"/>
                  <a:pt x="3296" y="86850"/>
                  <a:pt x="482" y="45656"/>
                </a:cubicBezTo>
                <a:cubicBezTo>
                  <a:pt x="-281" y="34362"/>
                  <a:pt x="8922" y="25681"/>
                  <a:pt x="19412" y="25681"/>
                </a:cubicBezTo>
                <a:lnTo>
                  <a:pt x="39346" y="25681"/>
                </a:lnTo>
                <a:cubicBezTo>
                  <a:pt x="39225" y="23591"/>
                  <a:pt x="39145" y="21502"/>
                  <a:pt x="39065" y="19331"/>
                </a:cubicBezTo>
                <a:cubicBezTo>
                  <a:pt x="38663" y="8681"/>
                  <a:pt x="47344" y="-40"/>
                  <a:pt x="57994" y="-40"/>
                </a:cubicBezTo>
                <a:close/>
                <a:moveTo>
                  <a:pt x="40793" y="45013"/>
                </a:moveTo>
                <a:lnTo>
                  <a:pt x="19733" y="45013"/>
                </a:lnTo>
                <a:cubicBezTo>
                  <a:pt x="22225" y="79053"/>
                  <a:pt x="37859" y="96094"/>
                  <a:pt x="53975" y="105137"/>
                </a:cubicBezTo>
                <a:cubicBezTo>
                  <a:pt x="48188" y="90146"/>
                  <a:pt x="43405" y="70573"/>
                  <a:pt x="40793" y="45013"/>
                </a:cubicBezTo>
                <a:close/>
                <a:moveTo>
                  <a:pt x="152722" y="103208"/>
                </a:moveTo>
                <a:cubicBezTo>
                  <a:pt x="168998" y="93642"/>
                  <a:pt x="183708" y="76642"/>
                  <a:pt x="186200" y="45013"/>
                </a:cubicBezTo>
                <a:lnTo>
                  <a:pt x="165180" y="45013"/>
                </a:lnTo>
                <a:cubicBezTo>
                  <a:pt x="162689" y="69488"/>
                  <a:pt x="158187" y="88498"/>
                  <a:pt x="152722" y="103208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48810" y="5993114"/>
            <a:ext cx="613886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关键洞察:</a:t>
            </a:r>
            <a:r>
              <a:rPr lang="en-US" sz="108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DBSCAN通过密度连通性定义簇,能够处理任意形状的簇,这是其相比K-Means的核心优势。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650" y="344650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54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CASE STUDY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650" y="620370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DBSCAN实战: 虚拟城市人口分布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883" y="1137346"/>
            <a:ext cx="11485467" cy="1912808"/>
          </a:xfrm>
          <a:custGeom>
            <a:avLst/>
            <a:gdLst/>
            <a:ahLst/>
            <a:cxnLst/>
            <a:rect l="l" t="t" r="r" b="b"/>
            <a:pathLst>
              <a:path w="11485467" h="1912808">
                <a:moveTo>
                  <a:pt x="34465" y="0"/>
                </a:moveTo>
                <a:lnTo>
                  <a:pt x="11416530" y="0"/>
                </a:lnTo>
                <a:cubicBezTo>
                  <a:pt x="11454603" y="0"/>
                  <a:pt x="11485467" y="30864"/>
                  <a:pt x="11485467" y="68938"/>
                </a:cubicBezTo>
                <a:lnTo>
                  <a:pt x="11485467" y="1843871"/>
                </a:lnTo>
                <a:cubicBezTo>
                  <a:pt x="11485467" y="1881944"/>
                  <a:pt x="11454603" y="1912808"/>
                  <a:pt x="11416530" y="1912808"/>
                </a:cubicBezTo>
                <a:lnTo>
                  <a:pt x="34465" y="1912808"/>
                </a:lnTo>
                <a:cubicBezTo>
                  <a:pt x="15431" y="1912808"/>
                  <a:pt x="0" y="1897378"/>
                  <a:pt x="0" y="1878343"/>
                </a:cubicBezTo>
                <a:lnTo>
                  <a:pt x="0" y="34465"/>
                </a:lnTo>
                <a:cubicBezTo>
                  <a:pt x="0" y="15431"/>
                  <a:pt x="15431" y="0"/>
                  <a:pt x="3446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1883" y="1137346"/>
            <a:ext cx="34465" cy="1912808"/>
          </a:xfrm>
          <a:custGeom>
            <a:avLst/>
            <a:gdLst/>
            <a:ahLst/>
            <a:cxnLst/>
            <a:rect l="l" t="t" r="r" b="b"/>
            <a:pathLst>
              <a:path w="34465" h="1912808">
                <a:moveTo>
                  <a:pt x="34465" y="0"/>
                </a:moveTo>
                <a:lnTo>
                  <a:pt x="34465" y="0"/>
                </a:lnTo>
                <a:lnTo>
                  <a:pt x="34465" y="1912808"/>
                </a:lnTo>
                <a:lnTo>
                  <a:pt x="34465" y="1912808"/>
                </a:lnTo>
                <a:cubicBezTo>
                  <a:pt x="15431" y="1912808"/>
                  <a:pt x="0" y="1897378"/>
                  <a:pt x="0" y="187834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51440" y="1309671"/>
            <a:ext cx="1120974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案例设计: 虚拟城市结构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1440" y="1654321"/>
            <a:ext cx="11192514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设计一个包含复杂城市结构的虚拟人口分布数据集,对比</a:t>
            </a:r>
            <a:r>
              <a:rPr lang="en-US" sz="108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DBSCAN</a:t>
            </a:r>
            <a:r>
              <a:rPr lang="en-US" sz="108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08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K-Means</a:t>
            </a:r>
            <a:r>
              <a:rPr lang="en-US" sz="108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的表现: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1440" y="1981739"/>
            <a:ext cx="3636059" cy="896090"/>
          </a:xfrm>
          <a:custGeom>
            <a:avLst/>
            <a:gdLst/>
            <a:ahLst/>
            <a:cxnLst/>
            <a:rect l="l" t="t" r="r" b="b"/>
            <a:pathLst>
              <a:path w="3636059" h="896090">
                <a:moveTo>
                  <a:pt x="34464" y="0"/>
                </a:moveTo>
                <a:lnTo>
                  <a:pt x="3601596" y="0"/>
                </a:lnTo>
                <a:cubicBezTo>
                  <a:pt x="3620629" y="0"/>
                  <a:pt x="3636059" y="15430"/>
                  <a:pt x="3636059" y="34464"/>
                </a:cubicBezTo>
                <a:lnTo>
                  <a:pt x="3636059" y="861627"/>
                </a:lnTo>
                <a:cubicBezTo>
                  <a:pt x="3636059" y="880661"/>
                  <a:pt x="3620629" y="896090"/>
                  <a:pt x="3601596" y="896090"/>
                </a:cubicBezTo>
                <a:lnTo>
                  <a:pt x="34464" y="896090"/>
                </a:lnTo>
                <a:cubicBezTo>
                  <a:pt x="15430" y="896090"/>
                  <a:pt x="0" y="880661"/>
                  <a:pt x="0" y="861627"/>
                </a:cubicBezTo>
                <a:lnTo>
                  <a:pt x="0" y="34464"/>
                </a:lnTo>
                <a:cubicBezTo>
                  <a:pt x="0" y="15430"/>
                  <a:pt x="15430" y="0"/>
                  <a:pt x="344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67760" y="2085134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29244" y="0"/>
                </a:moveTo>
                <a:cubicBezTo>
                  <a:pt x="114987" y="0"/>
                  <a:pt x="103395" y="11592"/>
                  <a:pt x="103395" y="25849"/>
                </a:cubicBezTo>
                <a:lnTo>
                  <a:pt x="103395" y="38773"/>
                </a:lnTo>
                <a:lnTo>
                  <a:pt x="84008" y="38773"/>
                </a:lnTo>
                <a:lnTo>
                  <a:pt x="84008" y="9693"/>
                </a:lnTo>
                <a:cubicBezTo>
                  <a:pt x="84008" y="4322"/>
                  <a:pt x="79687" y="0"/>
                  <a:pt x="74315" y="0"/>
                </a:cubicBezTo>
                <a:cubicBezTo>
                  <a:pt x="68943" y="0"/>
                  <a:pt x="64622" y="4322"/>
                  <a:pt x="64622" y="9693"/>
                </a:cubicBezTo>
                <a:lnTo>
                  <a:pt x="64622" y="38773"/>
                </a:lnTo>
                <a:lnTo>
                  <a:pt x="38773" y="38773"/>
                </a:lnTo>
                <a:lnTo>
                  <a:pt x="38773" y="9693"/>
                </a:lnTo>
                <a:cubicBezTo>
                  <a:pt x="38773" y="4322"/>
                  <a:pt x="34452" y="0"/>
                  <a:pt x="29080" y="0"/>
                </a:cubicBezTo>
                <a:cubicBezTo>
                  <a:pt x="23708" y="0"/>
                  <a:pt x="19387" y="4322"/>
                  <a:pt x="19387" y="9693"/>
                </a:cubicBezTo>
                <a:lnTo>
                  <a:pt x="19387" y="39581"/>
                </a:lnTo>
                <a:cubicBezTo>
                  <a:pt x="8239" y="42449"/>
                  <a:pt x="0" y="52586"/>
                  <a:pt x="0" y="64622"/>
                </a:cubicBezTo>
                <a:lnTo>
                  <a:pt x="0" y="180941"/>
                </a:lnTo>
                <a:cubicBezTo>
                  <a:pt x="0" y="195199"/>
                  <a:pt x="11592" y="206790"/>
                  <a:pt x="25849" y="206790"/>
                </a:cubicBezTo>
                <a:lnTo>
                  <a:pt x="206790" y="206790"/>
                </a:lnTo>
                <a:cubicBezTo>
                  <a:pt x="221047" y="206790"/>
                  <a:pt x="232639" y="195199"/>
                  <a:pt x="232639" y="180941"/>
                </a:cubicBezTo>
                <a:lnTo>
                  <a:pt x="232639" y="103395"/>
                </a:lnTo>
                <a:cubicBezTo>
                  <a:pt x="232639" y="89138"/>
                  <a:pt x="221047" y="77546"/>
                  <a:pt x="206790" y="77546"/>
                </a:cubicBezTo>
                <a:lnTo>
                  <a:pt x="180941" y="77546"/>
                </a:lnTo>
                <a:lnTo>
                  <a:pt x="180941" y="25849"/>
                </a:lnTo>
                <a:cubicBezTo>
                  <a:pt x="180941" y="11592"/>
                  <a:pt x="169350" y="0"/>
                  <a:pt x="155093" y="0"/>
                </a:cubicBezTo>
                <a:lnTo>
                  <a:pt x="129244" y="0"/>
                </a:lnTo>
                <a:close/>
                <a:moveTo>
                  <a:pt x="155093" y="45235"/>
                </a:moveTo>
                <a:lnTo>
                  <a:pt x="155093" y="58160"/>
                </a:lnTo>
                <a:cubicBezTo>
                  <a:pt x="155093" y="61714"/>
                  <a:pt x="152185" y="64622"/>
                  <a:pt x="148630" y="64622"/>
                </a:cubicBezTo>
                <a:lnTo>
                  <a:pt x="135706" y="64622"/>
                </a:lnTo>
                <a:cubicBezTo>
                  <a:pt x="132152" y="64622"/>
                  <a:pt x="129244" y="61714"/>
                  <a:pt x="129244" y="58160"/>
                </a:cubicBezTo>
                <a:lnTo>
                  <a:pt x="129244" y="45235"/>
                </a:lnTo>
                <a:cubicBezTo>
                  <a:pt x="129244" y="41681"/>
                  <a:pt x="132152" y="38773"/>
                  <a:pt x="135706" y="38773"/>
                </a:cubicBezTo>
                <a:lnTo>
                  <a:pt x="148630" y="38773"/>
                </a:lnTo>
                <a:cubicBezTo>
                  <a:pt x="152185" y="38773"/>
                  <a:pt x="155093" y="41681"/>
                  <a:pt x="155093" y="45235"/>
                </a:cubicBezTo>
                <a:close/>
                <a:moveTo>
                  <a:pt x="148630" y="77546"/>
                </a:moveTo>
                <a:cubicBezTo>
                  <a:pt x="152185" y="77546"/>
                  <a:pt x="155093" y="80454"/>
                  <a:pt x="155093" y="84008"/>
                </a:cubicBezTo>
                <a:lnTo>
                  <a:pt x="155093" y="96933"/>
                </a:lnTo>
                <a:cubicBezTo>
                  <a:pt x="155093" y="100487"/>
                  <a:pt x="152185" y="103395"/>
                  <a:pt x="148630" y="103395"/>
                </a:cubicBezTo>
                <a:lnTo>
                  <a:pt x="135706" y="103395"/>
                </a:lnTo>
                <a:cubicBezTo>
                  <a:pt x="132152" y="103395"/>
                  <a:pt x="129244" y="100487"/>
                  <a:pt x="129244" y="96933"/>
                </a:cubicBezTo>
                <a:lnTo>
                  <a:pt x="129244" y="84008"/>
                </a:lnTo>
                <a:cubicBezTo>
                  <a:pt x="129244" y="80454"/>
                  <a:pt x="132152" y="77546"/>
                  <a:pt x="135706" y="77546"/>
                </a:cubicBezTo>
                <a:lnTo>
                  <a:pt x="148630" y="77546"/>
                </a:lnTo>
                <a:close/>
                <a:moveTo>
                  <a:pt x="155093" y="122782"/>
                </a:moveTo>
                <a:lnTo>
                  <a:pt x="155093" y="135706"/>
                </a:lnTo>
                <a:cubicBezTo>
                  <a:pt x="155093" y="139260"/>
                  <a:pt x="152185" y="142168"/>
                  <a:pt x="148630" y="142168"/>
                </a:cubicBezTo>
                <a:lnTo>
                  <a:pt x="135706" y="142168"/>
                </a:lnTo>
                <a:cubicBezTo>
                  <a:pt x="132152" y="142168"/>
                  <a:pt x="129244" y="139260"/>
                  <a:pt x="129244" y="135706"/>
                </a:cubicBezTo>
                <a:lnTo>
                  <a:pt x="129244" y="122782"/>
                </a:lnTo>
                <a:cubicBezTo>
                  <a:pt x="129244" y="119227"/>
                  <a:pt x="132152" y="116319"/>
                  <a:pt x="135706" y="116319"/>
                </a:cubicBezTo>
                <a:lnTo>
                  <a:pt x="148630" y="116319"/>
                </a:lnTo>
                <a:cubicBezTo>
                  <a:pt x="152185" y="116319"/>
                  <a:pt x="155093" y="119227"/>
                  <a:pt x="155093" y="122782"/>
                </a:cubicBezTo>
                <a:close/>
                <a:moveTo>
                  <a:pt x="200328" y="116319"/>
                </a:moveTo>
                <a:cubicBezTo>
                  <a:pt x="203882" y="116319"/>
                  <a:pt x="206790" y="119227"/>
                  <a:pt x="206790" y="122782"/>
                </a:cubicBezTo>
                <a:lnTo>
                  <a:pt x="206790" y="135706"/>
                </a:lnTo>
                <a:cubicBezTo>
                  <a:pt x="206790" y="139260"/>
                  <a:pt x="203882" y="142168"/>
                  <a:pt x="200328" y="142168"/>
                </a:cubicBezTo>
                <a:lnTo>
                  <a:pt x="187404" y="142168"/>
                </a:lnTo>
                <a:cubicBezTo>
                  <a:pt x="183849" y="142168"/>
                  <a:pt x="180941" y="139260"/>
                  <a:pt x="180941" y="135706"/>
                </a:cubicBezTo>
                <a:lnTo>
                  <a:pt x="180941" y="122782"/>
                </a:lnTo>
                <a:cubicBezTo>
                  <a:pt x="180941" y="119227"/>
                  <a:pt x="183849" y="116319"/>
                  <a:pt x="187404" y="116319"/>
                </a:cubicBezTo>
                <a:lnTo>
                  <a:pt x="200328" y="116319"/>
                </a:lnTo>
                <a:close/>
                <a:moveTo>
                  <a:pt x="103395" y="122782"/>
                </a:moveTo>
                <a:lnTo>
                  <a:pt x="103395" y="135706"/>
                </a:lnTo>
                <a:cubicBezTo>
                  <a:pt x="103395" y="139260"/>
                  <a:pt x="100487" y="142168"/>
                  <a:pt x="96933" y="142168"/>
                </a:cubicBezTo>
                <a:lnTo>
                  <a:pt x="84008" y="142168"/>
                </a:lnTo>
                <a:cubicBezTo>
                  <a:pt x="80454" y="142168"/>
                  <a:pt x="77546" y="139260"/>
                  <a:pt x="77546" y="135706"/>
                </a:cubicBezTo>
                <a:lnTo>
                  <a:pt x="77546" y="122782"/>
                </a:lnTo>
                <a:cubicBezTo>
                  <a:pt x="77546" y="119227"/>
                  <a:pt x="80454" y="116319"/>
                  <a:pt x="84008" y="116319"/>
                </a:cubicBezTo>
                <a:lnTo>
                  <a:pt x="96933" y="116319"/>
                </a:lnTo>
                <a:cubicBezTo>
                  <a:pt x="100487" y="116319"/>
                  <a:pt x="103395" y="119227"/>
                  <a:pt x="103395" y="122782"/>
                </a:cubicBezTo>
                <a:close/>
                <a:moveTo>
                  <a:pt x="96933" y="77546"/>
                </a:moveTo>
                <a:cubicBezTo>
                  <a:pt x="100487" y="77546"/>
                  <a:pt x="103395" y="80454"/>
                  <a:pt x="103395" y="84008"/>
                </a:cubicBezTo>
                <a:lnTo>
                  <a:pt x="103395" y="96933"/>
                </a:lnTo>
                <a:cubicBezTo>
                  <a:pt x="103395" y="100487"/>
                  <a:pt x="100487" y="103395"/>
                  <a:pt x="96933" y="103395"/>
                </a:cubicBezTo>
                <a:lnTo>
                  <a:pt x="84008" y="103395"/>
                </a:lnTo>
                <a:cubicBezTo>
                  <a:pt x="80454" y="103395"/>
                  <a:pt x="77546" y="100487"/>
                  <a:pt x="77546" y="96933"/>
                </a:cubicBezTo>
                <a:lnTo>
                  <a:pt x="77546" y="84008"/>
                </a:lnTo>
                <a:cubicBezTo>
                  <a:pt x="77546" y="80454"/>
                  <a:pt x="80454" y="77546"/>
                  <a:pt x="84008" y="77546"/>
                </a:cubicBezTo>
                <a:lnTo>
                  <a:pt x="96933" y="77546"/>
                </a:lnTo>
                <a:close/>
                <a:moveTo>
                  <a:pt x="51698" y="122782"/>
                </a:moveTo>
                <a:lnTo>
                  <a:pt x="51698" y="135706"/>
                </a:lnTo>
                <a:cubicBezTo>
                  <a:pt x="51698" y="139260"/>
                  <a:pt x="48790" y="142168"/>
                  <a:pt x="45235" y="142168"/>
                </a:cubicBezTo>
                <a:lnTo>
                  <a:pt x="32311" y="142168"/>
                </a:lnTo>
                <a:cubicBezTo>
                  <a:pt x="28757" y="142168"/>
                  <a:pt x="25849" y="139260"/>
                  <a:pt x="25849" y="135706"/>
                </a:cubicBezTo>
                <a:lnTo>
                  <a:pt x="25849" y="122782"/>
                </a:lnTo>
                <a:cubicBezTo>
                  <a:pt x="25849" y="119227"/>
                  <a:pt x="28757" y="116319"/>
                  <a:pt x="32311" y="116319"/>
                </a:cubicBezTo>
                <a:lnTo>
                  <a:pt x="45235" y="116319"/>
                </a:lnTo>
                <a:cubicBezTo>
                  <a:pt x="48790" y="116319"/>
                  <a:pt x="51698" y="119227"/>
                  <a:pt x="51698" y="122782"/>
                </a:cubicBezTo>
                <a:close/>
                <a:moveTo>
                  <a:pt x="45235" y="77546"/>
                </a:moveTo>
                <a:cubicBezTo>
                  <a:pt x="48790" y="77546"/>
                  <a:pt x="51698" y="80454"/>
                  <a:pt x="51698" y="84008"/>
                </a:cubicBezTo>
                <a:lnTo>
                  <a:pt x="51698" y="96933"/>
                </a:lnTo>
                <a:cubicBezTo>
                  <a:pt x="51698" y="100487"/>
                  <a:pt x="48790" y="103395"/>
                  <a:pt x="45235" y="103395"/>
                </a:cubicBezTo>
                <a:lnTo>
                  <a:pt x="32311" y="103395"/>
                </a:lnTo>
                <a:cubicBezTo>
                  <a:pt x="28757" y="103395"/>
                  <a:pt x="25849" y="100487"/>
                  <a:pt x="25849" y="96933"/>
                </a:cubicBezTo>
                <a:lnTo>
                  <a:pt x="25849" y="84008"/>
                </a:lnTo>
                <a:cubicBezTo>
                  <a:pt x="25849" y="80454"/>
                  <a:pt x="28757" y="77546"/>
                  <a:pt x="32311" y="77546"/>
                </a:cubicBezTo>
                <a:lnTo>
                  <a:pt x="45235" y="7754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4835" y="2360854"/>
            <a:ext cx="349819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高密度中心城区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835" y="2602109"/>
            <a:ext cx="34895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呈现团状分布的密集居住区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4058" y="1981739"/>
            <a:ext cx="3636059" cy="896090"/>
          </a:xfrm>
          <a:custGeom>
            <a:avLst/>
            <a:gdLst/>
            <a:ahLst/>
            <a:cxnLst/>
            <a:rect l="l" t="t" r="r" b="b"/>
            <a:pathLst>
              <a:path w="3636059" h="896090">
                <a:moveTo>
                  <a:pt x="34464" y="0"/>
                </a:moveTo>
                <a:lnTo>
                  <a:pt x="3601596" y="0"/>
                </a:lnTo>
                <a:cubicBezTo>
                  <a:pt x="3620629" y="0"/>
                  <a:pt x="3636059" y="15430"/>
                  <a:pt x="3636059" y="34464"/>
                </a:cubicBezTo>
                <a:lnTo>
                  <a:pt x="3636059" y="861627"/>
                </a:lnTo>
                <a:cubicBezTo>
                  <a:pt x="3636059" y="880661"/>
                  <a:pt x="3620629" y="896090"/>
                  <a:pt x="3601596" y="896090"/>
                </a:cubicBezTo>
                <a:lnTo>
                  <a:pt x="34464" y="896090"/>
                </a:lnTo>
                <a:cubicBezTo>
                  <a:pt x="15430" y="896090"/>
                  <a:pt x="0" y="880661"/>
                  <a:pt x="0" y="861627"/>
                </a:cubicBezTo>
                <a:lnTo>
                  <a:pt x="0" y="34464"/>
                </a:lnTo>
                <a:cubicBezTo>
                  <a:pt x="0" y="15430"/>
                  <a:pt x="15430" y="0"/>
                  <a:pt x="344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23302" y="2085134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65836" y="50122"/>
                </a:moveTo>
                <a:cubicBezTo>
                  <a:pt x="174196" y="56423"/>
                  <a:pt x="184415" y="62522"/>
                  <a:pt x="195804" y="64056"/>
                </a:cubicBezTo>
                <a:cubicBezTo>
                  <a:pt x="201095" y="64783"/>
                  <a:pt x="205982" y="61027"/>
                  <a:pt x="206709" y="55736"/>
                </a:cubicBezTo>
                <a:cubicBezTo>
                  <a:pt x="207436" y="50445"/>
                  <a:pt x="203680" y="45558"/>
                  <a:pt x="198389" y="44831"/>
                </a:cubicBezTo>
                <a:cubicBezTo>
                  <a:pt x="191967" y="43983"/>
                  <a:pt x="184980" y="40268"/>
                  <a:pt x="177508" y="34653"/>
                </a:cubicBezTo>
                <a:cubicBezTo>
                  <a:pt x="161999" y="22941"/>
                  <a:pt x="140957" y="22941"/>
                  <a:pt x="125407" y="34653"/>
                </a:cubicBezTo>
                <a:cubicBezTo>
                  <a:pt x="115714" y="41964"/>
                  <a:pt x="108969" y="45276"/>
                  <a:pt x="103395" y="45276"/>
                </a:cubicBezTo>
                <a:cubicBezTo>
                  <a:pt x="97821" y="45276"/>
                  <a:pt x="91077" y="41964"/>
                  <a:pt x="81383" y="34653"/>
                </a:cubicBezTo>
                <a:cubicBezTo>
                  <a:pt x="65874" y="22941"/>
                  <a:pt x="44831" y="22941"/>
                  <a:pt x="29282" y="34653"/>
                </a:cubicBezTo>
                <a:cubicBezTo>
                  <a:pt x="21810" y="40268"/>
                  <a:pt x="14823" y="43983"/>
                  <a:pt x="8401" y="44831"/>
                </a:cubicBezTo>
                <a:cubicBezTo>
                  <a:pt x="3110" y="45558"/>
                  <a:pt x="-646" y="50405"/>
                  <a:pt x="81" y="55736"/>
                </a:cubicBezTo>
                <a:cubicBezTo>
                  <a:pt x="808" y="61068"/>
                  <a:pt x="5654" y="64783"/>
                  <a:pt x="10986" y="64056"/>
                </a:cubicBezTo>
                <a:cubicBezTo>
                  <a:pt x="22375" y="62522"/>
                  <a:pt x="32634" y="56423"/>
                  <a:pt x="40954" y="50122"/>
                </a:cubicBezTo>
                <a:cubicBezTo>
                  <a:pt x="49557" y="43620"/>
                  <a:pt x="61108" y="43620"/>
                  <a:pt x="69711" y="50122"/>
                </a:cubicBezTo>
                <a:cubicBezTo>
                  <a:pt x="79485" y="57513"/>
                  <a:pt x="90834" y="64622"/>
                  <a:pt x="103395" y="64622"/>
                </a:cubicBezTo>
                <a:cubicBezTo>
                  <a:pt x="115956" y="64622"/>
                  <a:pt x="127265" y="57473"/>
                  <a:pt x="137079" y="50122"/>
                </a:cubicBezTo>
                <a:cubicBezTo>
                  <a:pt x="145682" y="43620"/>
                  <a:pt x="157233" y="43620"/>
                  <a:pt x="165836" y="50122"/>
                </a:cubicBezTo>
                <a:close/>
                <a:moveTo>
                  <a:pt x="165836" y="108282"/>
                </a:moveTo>
                <a:cubicBezTo>
                  <a:pt x="174196" y="114583"/>
                  <a:pt x="184415" y="120681"/>
                  <a:pt x="195804" y="122216"/>
                </a:cubicBezTo>
                <a:cubicBezTo>
                  <a:pt x="201095" y="122943"/>
                  <a:pt x="205982" y="119187"/>
                  <a:pt x="206709" y="113896"/>
                </a:cubicBezTo>
                <a:cubicBezTo>
                  <a:pt x="207436" y="108605"/>
                  <a:pt x="203680" y="103718"/>
                  <a:pt x="198389" y="102991"/>
                </a:cubicBezTo>
                <a:cubicBezTo>
                  <a:pt x="191967" y="102143"/>
                  <a:pt x="184980" y="98427"/>
                  <a:pt x="177508" y="92813"/>
                </a:cubicBezTo>
                <a:cubicBezTo>
                  <a:pt x="161999" y="81100"/>
                  <a:pt x="140957" y="81100"/>
                  <a:pt x="125407" y="92813"/>
                </a:cubicBezTo>
                <a:cubicBezTo>
                  <a:pt x="115714" y="100124"/>
                  <a:pt x="108969" y="103435"/>
                  <a:pt x="103395" y="103435"/>
                </a:cubicBezTo>
                <a:cubicBezTo>
                  <a:pt x="97821" y="103435"/>
                  <a:pt x="91077" y="100124"/>
                  <a:pt x="81383" y="92813"/>
                </a:cubicBezTo>
                <a:cubicBezTo>
                  <a:pt x="65874" y="81100"/>
                  <a:pt x="44831" y="81100"/>
                  <a:pt x="29282" y="92813"/>
                </a:cubicBezTo>
                <a:cubicBezTo>
                  <a:pt x="21810" y="98427"/>
                  <a:pt x="14823" y="102143"/>
                  <a:pt x="8401" y="102991"/>
                </a:cubicBezTo>
                <a:cubicBezTo>
                  <a:pt x="3110" y="103678"/>
                  <a:pt x="-646" y="108565"/>
                  <a:pt x="81" y="113896"/>
                </a:cubicBezTo>
                <a:cubicBezTo>
                  <a:pt x="808" y="119227"/>
                  <a:pt x="5654" y="122943"/>
                  <a:pt x="10986" y="122216"/>
                </a:cubicBezTo>
                <a:cubicBezTo>
                  <a:pt x="22375" y="120681"/>
                  <a:pt x="32634" y="114583"/>
                  <a:pt x="40954" y="108282"/>
                </a:cubicBezTo>
                <a:cubicBezTo>
                  <a:pt x="49557" y="101780"/>
                  <a:pt x="61108" y="101780"/>
                  <a:pt x="69711" y="108282"/>
                </a:cubicBezTo>
                <a:cubicBezTo>
                  <a:pt x="79485" y="115673"/>
                  <a:pt x="90834" y="122782"/>
                  <a:pt x="103395" y="122782"/>
                </a:cubicBezTo>
                <a:cubicBezTo>
                  <a:pt x="115956" y="122782"/>
                  <a:pt x="127265" y="115633"/>
                  <a:pt x="137079" y="108282"/>
                </a:cubicBezTo>
                <a:cubicBezTo>
                  <a:pt x="145682" y="101780"/>
                  <a:pt x="157233" y="101780"/>
                  <a:pt x="165836" y="108282"/>
                </a:cubicBezTo>
                <a:close/>
                <a:moveTo>
                  <a:pt x="137079" y="166442"/>
                </a:moveTo>
                <a:cubicBezTo>
                  <a:pt x="145682" y="159939"/>
                  <a:pt x="157233" y="159939"/>
                  <a:pt x="165836" y="166442"/>
                </a:cubicBezTo>
                <a:cubicBezTo>
                  <a:pt x="174196" y="172742"/>
                  <a:pt x="184415" y="178841"/>
                  <a:pt x="195804" y="180376"/>
                </a:cubicBezTo>
                <a:cubicBezTo>
                  <a:pt x="201095" y="181103"/>
                  <a:pt x="205982" y="177347"/>
                  <a:pt x="206709" y="172056"/>
                </a:cubicBezTo>
                <a:cubicBezTo>
                  <a:pt x="207436" y="166765"/>
                  <a:pt x="203680" y="161878"/>
                  <a:pt x="198389" y="161151"/>
                </a:cubicBezTo>
                <a:cubicBezTo>
                  <a:pt x="191967" y="160303"/>
                  <a:pt x="184980" y="156587"/>
                  <a:pt x="177508" y="150973"/>
                </a:cubicBezTo>
                <a:cubicBezTo>
                  <a:pt x="161999" y="139260"/>
                  <a:pt x="140957" y="139260"/>
                  <a:pt x="125407" y="150973"/>
                </a:cubicBezTo>
                <a:cubicBezTo>
                  <a:pt x="115714" y="158283"/>
                  <a:pt x="108969" y="161595"/>
                  <a:pt x="103395" y="161595"/>
                </a:cubicBezTo>
                <a:cubicBezTo>
                  <a:pt x="97821" y="161595"/>
                  <a:pt x="91077" y="158283"/>
                  <a:pt x="81383" y="150973"/>
                </a:cubicBezTo>
                <a:cubicBezTo>
                  <a:pt x="65874" y="139260"/>
                  <a:pt x="44831" y="139260"/>
                  <a:pt x="29282" y="150973"/>
                </a:cubicBezTo>
                <a:cubicBezTo>
                  <a:pt x="21810" y="156587"/>
                  <a:pt x="14823" y="160303"/>
                  <a:pt x="8401" y="161151"/>
                </a:cubicBezTo>
                <a:cubicBezTo>
                  <a:pt x="3110" y="161878"/>
                  <a:pt x="-646" y="166725"/>
                  <a:pt x="81" y="172056"/>
                </a:cubicBezTo>
                <a:cubicBezTo>
                  <a:pt x="808" y="177387"/>
                  <a:pt x="5654" y="181103"/>
                  <a:pt x="10986" y="180376"/>
                </a:cubicBezTo>
                <a:cubicBezTo>
                  <a:pt x="22375" y="178841"/>
                  <a:pt x="32634" y="172742"/>
                  <a:pt x="40954" y="166442"/>
                </a:cubicBezTo>
                <a:cubicBezTo>
                  <a:pt x="49557" y="159939"/>
                  <a:pt x="61108" y="159939"/>
                  <a:pt x="69711" y="166442"/>
                </a:cubicBezTo>
                <a:cubicBezTo>
                  <a:pt x="79485" y="173833"/>
                  <a:pt x="90834" y="180941"/>
                  <a:pt x="103395" y="180941"/>
                </a:cubicBezTo>
                <a:cubicBezTo>
                  <a:pt x="115956" y="180941"/>
                  <a:pt x="127265" y="173793"/>
                  <a:pt x="137079" y="16644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397454" y="2360854"/>
            <a:ext cx="349819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沿河居住带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7454" y="2602109"/>
            <a:ext cx="34895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沿河流分布的非凸长条形区域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36677" y="1981739"/>
            <a:ext cx="3636059" cy="896090"/>
          </a:xfrm>
          <a:custGeom>
            <a:avLst/>
            <a:gdLst/>
            <a:ahLst/>
            <a:cxnLst/>
            <a:rect l="l" t="t" r="r" b="b"/>
            <a:pathLst>
              <a:path w="3636059" h="896090">
                <a:moveTo>
                  <a:pt x="34464" y="0"/>
                </a:moveTo>
                <a:lnTo>
                  <a:pt x="3601596" y="0"/>
                </a:lnTo>
                <a:cubicBezTo>
                  <a:pt x="3620629" y="0"/>
                  <a:pt x="3636059" y="15430"/>
                  <a:pt x="3636059" y="34464"/>
                </a:cubicBezTo>
                <a:lnTo>
                  <a:pt x="3636059" y="861627"/>
                </a:lnTo>
                <a:cubicBezTo>
                  <a:pt x="3636059" y="880661"/>
                  <a:pt x="3620629" y="896090"/>
                  <a:pt x="3601596" y="896090"/>
                </a:cubicBezTo>
                <a:lnTo>
                  <a:pt x="34464" y="896090"/>
                </a:lnTo>
                <a:cubicBezTo>
                  <a:pt x="15430" y="896090"/>
                  <a:pt x="0" y="880661"/>
                  <a:pt x="0" y="861627"/>
                </a:cubicBezTo>
                <a:lnTo>
                  <a:pt x="0" y="34464"/>
                </a:lnTo>
                <a:cubicBezTo>
                  <a:pt x="0" y="15430"/>
                  <a:pt x="15430" y="0"/>
                  <a:pt x="344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165920" y="2085134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12200" y="3473"/>
                </a:moveTo>
                <a:cubicBezTo>
                  <a:pt x="107232" y="-1131"/>
                  <a:pt x="99558" y="-1131"/>
                  <a:pt x="94631" y="3473"/>
                </a:cubicBezTo>
                <a:lnTo>
                  <a:pt x="4160" y="87482"/>
                </a:lnTo>
                <a:cubicBezTo>
                  <a:pt x="283" y="91117"/>
                  <a:pt x="-1010" y="96731"/>
                  <a:pt x="929" y="101658"/>
                </a:cubicBezTo>
                <a:cubicBezTo>
                  <a:pt x="2868" y="106586"/>
                  <a:pt x="7593" y="109857"/>
                  <a:pt x="12924" y="109857"/>
                </a:cubicBezTo>
                <a:lnTo>
                  <a:pt x="19387" y="109857"/>
                </a:lnTo>
                <a:lnTo>
                  <a:pt x="19387" y="180941"/>
                </a:lnTo>
                <a:cubicBezTo>
                  <a:pt x="19387" y="195199"/>
                  <a:pt x="30978" y="206790"/>
                  <a:pt x="45235" y="206790"/>
                </a:cubicBezTo>
                <a:lnTo>
                  <a:pt x="161555" y="206790"/>
                </a:lnTo>
                <a:cubicBezTo>
                  <a:pt x="175812" y="206790"/>
                  <a:pt x="187404" y="195199"/>
                  <a:pt x="187404" y="180941"/>
                </a:cubicBezTo>
                <a:lnTo>
                  <a:pt x="187404" y="109857"/>
                </a:lnTo>
                <a:lnTo>
                  <a:pt x="193866" y="109857"/>
                </a:lnTo>
                <a:cubicBezTo>
                  <a:pt x="199197" y="109857"/>
                  <a:pt x="203963" y="106586"/>
                  <a:pt x="205902" y="101658"/>
                </a:cubicBezTo>
                <a:cubicBezTo>
                  <a:pt x="207840" y="96731"/>
                  <a:pt x="206548" y="91077"/>
                  <a:pt x="202670" y="87482"/>
                </a:cubicBezTo>
                <a:lnTo>
                  <a:pt x="112200" y="3473"/>
                </a:lnTo>
                <a:close/>
                <a:moveTo>
                  <a:pt x="96933" y="129244"/>
                </a:moveTo>
                <a:lnTo>
                  <a:pt x="109857" y="129244"/>
                </a:lnTo>
                <a:cubicBezTo>
                  <a:pt x="120560" y="129244"/>
                  <a:pt x="129244" y="137927"/>
                  <a:pt x="129244" y="148630"/>
                </a:cubicBezTo>
                <a:lnTo>
                  <a:pt x="129244" y="187404"/>
                </a:lnTo>
                <a:lnTo>
                  <a:pt x="77546" y="187404"/>
                </a:lnTo>
                <a:lnTo>
                  <a:pt x="77546" y="148630"/>
                </a:lnTo>
                <a:cubicBezTo>
                  <a:pt x="77546" y="137927"/>
                  <a:pt x="86230" y="129244"/>
                  <a:pt x="96933" y="129244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140072" y="2360854"/>
            <a:ext cx="349819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稀疏郊区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40072" y="2602109"/>
            <a:ext cx="34895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散落在周边的零星住户(噪声)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1883" y="3188014"/>
            <a:ext cx="5652263" cy="2688271"/>
          </a:xfrm>
          <a:custGeom>
            <a:avLst/>
            <a:gdLst/>
            <a:ahLst/>
            <a:cxnLst/>
            <a:rect l="l" t="t" r="r" b="b"/>
            <a:pathLst>
              <a:path w="5652263" h="2688271">
                <a:moveTo>
                  <a:pt x="34465" y="0"/>
                </a:moveTo>
                <a:lnTo>
                  <a:pt x="5583336" y="0"/>
                </a:lnTo>
                <a:cubicBezTo>
                  <a:pt x="5621403" y="0"/>
                  <a:pt x="5652263" y="30860"/>
                  <a:pt x="5652263" y="68927"/>
                </a:cubicBezTo>
                <a:lnTo>
                  <a:pt x="5652263" y="2619344"/>
                </a:lnTo>
                <a:cubicBezTo>
                  <a:pt x="5652263" y="2657412"/>
                  <a:pt x="5621403" y="2688271"/>
                  <a:pt x="5583336" y="2688271"/>
                </a:cubicBezTo>
                <a:lnTo>
                  <a:pt x="34465" y="2688271"/>
                </a:lnTo>
                <a:cubicBezTo>
                  <a:pt x="15431" y="2688271"/>
                  <a:pt x="0" y="2672841"/>
                  <a:pt x="0" y="265380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61883" y="3188014"/>
            <a:ext cx="34465" cy="2688271"/>
          </a:xfrm>
          <a:custGeom>
            <a:avLst/>
            <a:gdLst/>
            <a:ahLst/>
            <a:cxnLst/>
            <a:rect l="l" t="t" r="r" b="b"/>
            <a:pathLst>
              <a:path w="34465" h="2688271">
                <a:moveTo>
                  <a:pt x="34465" y="0"/>
                </a:moveTo>
                <a:lnTo>
                  <a:pt x="34465" y="0"/>
                </a:lnTo>
                <a:lnTo>
                  <a:pt x="34465" y="2688271"/>
                </a:lnTo>
                <a:lnTo>
                  <a:pt x="34465" y="2688271"/>
                </a:lnTo>
                <a:cubicBezTo>
                  <a:pt x="15431" y="2688271"/>
                  <a:pt x="0" y="2672841"/>
                  <a:pt x="0" y="265380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51440" y="3360339"/>
            <a:ext cx="537654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DBSCAN表现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1440" y="3704989"/>
            <a:ext cx="5290380" cy="620370"/>
          </a:xfrm>
          <a:custGeom>
            <a:avLst/>
            <a:gdLst/>
            <a:ahLst/>
            <a:cxnLst/>
            <a:rect l="l" t="t" r="r" b="b"/>
            <a:pathLst>
              <a:path w="5290380" h="620370">
                <a:moveTo>
                  <a:pt x="34468" y="0"/>
                </a:moveTo>
                <a:lnTo>
                  <a:pt x="5255912" y="0"/>
                </a:lnTo>
                <a:cubicBezTo>
                  <a:pt x="5274948" y="0"/>
                  <a:pt x="5290380" y="15432"/>
                  <a:pt x="5290380" y="34468"/>
                </a:cubicBezTo>
                <a:lnTo>
                  <a:pt x="5290380" y="585903"/>
                </a:lnTo>
                <a:cubicBezTo>
                  <a:pt x="5290380" y="604939"/>
                  <a:pt x="5274948" y="620370"/>
                  <a:pt x="5255912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0684" y="3842849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17073" y="18875"/>
                </a:moveTo>
                <a:cubicBezTo>
                  <a:pt x="120924" y="21675"/>
                  <a:pt x="121785" y="27060"/>
                  <a:pt x="118985" y="30911"/>
                </a:cubicBezTo>
                <a:lnTo>
                  <a:pt x="50055" y="125690"/>
                </a:lnTo>
                <a:cubicBezTo>
                  <a:pt x="48574" y="127736"/>
                  <a:pt x="46285" y="129001"/>
                  <a:pt x="43754" y="129217"/>
                </a:cubicBezTo>
                <a:cubicBezTo>
                  <a:pt x="41223" y="129432"/>
                  <a:pt x="38773" y="128490"/>
                  <a:pt x="36996" y="126713"/>
                </a:cubicBezTo>
                <a:lnTo>
                  <a:pt x="2531" y="92248"/>
                </a:lnTo>
                <a:cubicBezTo>
                  <a:pt x="-835" y="88882"/>
                  <a:pt x="-835" y="83416"/>
                  <a:pt x="2531" y="80050"/>
                </a:cubicBezTo>
                <a:cubicBezTo>
                  <a:pt x="5897" y="76685"/>
                  <a:pt x="11363" y="76685"/>
                  <a:pt x="14728" y="80050"/>
                </a:cubicBezTo>
                <a:lnTo>
                  <a:pt x="42058" y="107380"/>
                </a:lnTo>
                <a:lnTo>
                  <a:pt x="105064" y="20760"/>
                </a:lnTo>
                <a:cubicBezTo>
                  <a:pt x="107865" y="16909"/>
                  <a:pt x="113250" y="16048"/>
                  <a:pt x="117100" y="1884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96090" y="3808384"/>
            <a:ext cx="130967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自动发现任意形状簇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4835" y="4049640"/>
            <a:ext cx="514390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正确识别弯曲的河流居住带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1440" y="4394290"/>
            <a:ext cx="5290380" cy="620370"/>
          </a:xfrm>
          <a:custGeom>
            <a:avLst/>
            <a:gdLst/>
            <a:ahLst/>
            <a:cxnLst/>
            <a:rect l="l" t="t" r="r" b="b"/>
            <a:pathLst>
              <a:path w="5290380" h="620370">
                <a:moveTo>
                  <a:pt x="34468" y="0"/>
                </a:moveTo>
                <a:lnTo>
                  <a:pt x="5255912" y="0"/>
                </a:lnTo>
                <a:cubicBezTo>
                  <a:pt x="5274948" y="0"/>
                  <a:pt x="5290380" y="15432"/>
                  <a:pt x="5290380" y="34468"/>
                </a:cubicBezTo>
                <a:lnTo>
                  <a:pt x="5290380" y="585903"/>
                </a:lnTo>
                <a:cubicBezTo>
                  <a:pt x="5290380" y="604939"/>
                  <a:pt x="5274948" y="620370"/>
                  <a:pt x="5255912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80684" y="4532150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17073" y="18875"/>
                </a:moveTo>
                <a:cubicBezTo>
                  <a:pt x="120924" y="21675"/>
                  <a:pt x="121785" y="27060"/>
                  <a:pt x="118985" y="30911"/>
                </a:cubicBezTo>
                <a:lnTo>
                  <a:pt x="50055" y="125690"/>
                </a:lnTo>
                <a:cubicBezTo>
                  <a:pt x="48574" y="127736"/>
                  <a:pt x="46285" y="129001"/>
                  <a:pt x="43754" y="129217"/>
                </a:cubicBezTo>
                <a:cubicBezTo>
                  <a:pt x="41223" y="129432"/>
                  <a:pt x="38773" y="128490"/>
                  <a:pt x="36996" y="126713"/>
                </a:cubicBezTo>
                <a:lnTo>
                  <a:pt x="2531" y="92248"/>
                </a:lnTo>
                <a:cubicBezTo>
                  <a:pt x="-835" y="88882"/>
                  <a:pt x="-835" y="83416"/>
                  <a:pt x="2531" y="80050"/>
                </a:cubicBezTo>
                <a:cubicBezTo>
                  <a:pt x="5897" y="76685"/>
                  <a:pt x="11363" y="76685"/>
                  <a:pt x="14728" y="80050"/>
                </a:cubicBezTo>
                <a:lnTo>
                  <a:pt x="42058" y="107380"/>
                </a:lnTo>
                <a:lnTo>
                  <a:pt x="105064" y="20760"/>
                </a:lnTo>
                <a:cubicBezTo>
                  <a:pt x="107865" y="16909"/>
                  <a:pt x="113250" y="16048"/>
                  <a:pt x="117100" y="18848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96090" y="4497685"/>
            <a:ext cx="89609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自动识别噪声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4835" y="4738940"/>
            <a:ext cx="514390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将稀疏郊区的零星住户标记为噪声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1440" y="5083590"/>
            <a:ext cx="5290380" cy="620370"/>
          </a:xfrm>
          <a:custGeom>
            <a:avLst/>
            <a:gdLst/>
            <a:ahLst/>
            <a:cxnLst/>
            <a:rect l="l" t="t" r="r" b="b"/>
            <a:pathLst>
              <a:path w="5290380" h="620370">
                <a:moveTo>
                  <a:pt x="34468" y="0"/>
                </a:moveTo>
                <a:lnTo>
                  <a:pt x="5255912" y="0"/>
                </a:lnTo>
                <a:cubicBezTo>
                  <a:pt x="5274948" y="0"/>
                  <a:pt x="5290380" y="15432"/>
                  <a:pt x="5290380" y="34468"/>
                </a:cubicBezTo>
                <a:lnTo>
                  <a:pt x="5290380" y="585903"/>
                </a:lnTo>
                <a:cubicBezTo>
                  <a:pt x="5290380" y="604939"/>
                  <a:pt x="5274948" y="620370"/>
                  <a:pt x="5255912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80684" y="5221450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17073" y="18875"/>
                </a:moveTo>
                <a:cubicBezTo>
                  <a:pt x="120924" y="21675"/>
                  <a:pt x="121785" y="27060"/>
                  <a:pt x="118985" y="30911"/>
                </a:cubicBezTo>
                <a:lnTo>
                  <a:pt x="50055" y="125690"/>
                </a:lnTo>
                <a:cubicBezTo>
                  <a:pt x="48574" y="127736"/>
                  <a:pt x="46285" y="129001"/>
                  <a:pt x="43754" y="129217"/>
                </a:cubicBezTo>
                <a:cubicBezTo>
                  <a:pt x="41223" y="129432"/>
                  <a:pt x="38773" y="128490"/>
                  <a:pt x="36996" y="126713"/>
                </a:cubicBezTo>
                <a:lnTo>
                  <a:pt x="2531" y="92248"/>
                </a:lnTo>
                <a:cubicBezTo>
                  <a:pt x="-835" y="88882"/>
                  <a:pt x="-835" y="83416"/>
                  <a:pt x="2531" y="80050"/>
                </a:cubicBezTo>
                <a:cubicBezTo>
                  <a:pt x="5897" y="76685"/>
                  <a:pt x="11363" y="76685"/>
                  <a:pt x="14728" y="80050"/>
                </a:cubicBezTo>
                <a:lnTo>
                  <a:pt x="42058" y="107380"/>
                </a:lnTo>
                <a:lnTo>
                  <a:pt x="105064" y="20760"/>
                </a:lnTo>
                <a:cubicBezTo>
                  <a:pt x="107865" y="16909"/>
                  <a:pt x="113250" y="16048"/>
                  <a:pt x="117100" y="18848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96090" y="5186985"/>
            <a:ext cx="89609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无需预设簇数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4835" y="5428240"/>
            <a:ext cx="514390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算法根据密度分布自动确定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9866" y="3188014"/>
            <a:ext cx="5652263" cy="2688271"/>
          </a:xfrm>
          <a:custGeom>
            <a:avLst/>
            <a:gdLst/>
            <a:ahLst/>
            <a:cxnLst/>
            <a:rect l="l" t="t" r="r" b="b"/>
            <a:pathLst>
              <a:path w="5652263" h="2688271">
                <a:moveTo>
                  <a:pt x="34465" y="0"/>
                </a:moveTo>
                <a:lnTo>
                  <a:pt x="5583336" y="0"/>
                </a:lnTo>
                <a:cubicBezTo>
                  <a:pt x="5621403" y="0"/>
                  <a:pt x="5652263" y="30860"/>
                  <a:pt x="5652263" y="68927"/>
                </a:cubicBezTo>
                <a:lnTo>
                  <a:pt x="5652263" y="2619344"/>
                </a:lnTo>
                <a:cubicBezTo>
                  <a:pt x="5652263" y="2657412"/>
                  <a:pt x="5621403" y="2688271"/>
                  <a:pt x="5583336" y="2688271"/>
                </a:cubicBezTo>
                <a:lnTo>
                  <a:pt x="34465" y="2688271"/>
                </a:lnTo>
                <a:cubicBezTo>
                  <a:pt x="15431" y="2688271"/>
                  <a:pt x="0" y="2672841"/>
                  <a:pt x="0" y="265380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199866" y="3188014"/>
            <a:ext cx="34465" cy="2688271"/>
          </a:xfrm>
          <a:custGeom>
            <a:avLst/>
            <a:gdLst/>
            <a:ahLst/>
            <a:cxnLst/>
            <a:rect l="l" t="t" r="r" b="b"/>
            <a:pathLst>
              <a:path w="34465" h="2688271">
                <a:moveTo>
                  <a:pt x="34465" y="0"/>
                </a:moveTo>
                <a:lnTo>
                  <a:pt x="34465" y="0"/>
                </a:lnTo>
                <a:lnTo>
                  <a:pt x="34465" y="2688271"/>
                </a:lnTo>
                <a:lnTo>
                  <a:pt x="34465" y="2688271"/>
                </a:lnTo>
                <a:cubicBezTo>
                  <a:pt x="15431" y="2688271"/>
                  <a:pt x="0" y="2672841"/>
                  <a:pt x="0" y="265380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389424" y="3360339"/>
            <a:ext cx="537654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K-Means表现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9424" y="3704989"/>
            <a:ext cx="5290380" cy="620370"/>
          </a:xfrm>
          <a:custGeom>
            <a:avLst/>
            <a:gdLst/>
            <a:ahLst/>
            <a:cxnLst/>
            <a:rect l="l" t="t" r="r" b="b"/>
            <a:pathLst>
              <a:path w="5290380" h="620370">
                <a:moveTo>
                  <a:pt x="34468" y="0"/>
                </a:moveTo>
                <a:lnTo>
                  <a:pt x="5255912" y="0"/>
                </a:lnTo>
                <a:cubicBezTo>
                  <a:pt x="5274948" y="0"/>
                  <a:pt x="5290380" y="15432"/>
                  <a:pt x="5290380" y="34468"/>
                </a:cubicBezTo>
                <a:lnTo>
                  <a:pt x="5290380" y="585903"/>
                </a:lnTo>
                <a:cubicBezTo>
                  <a:pt x="5290380" y="604939"/>
                  <a:pt x="5274948" y="620370"/>
                  <a:pt x="5255912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7284" y="3842849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14836" y="19764"/>
                </a:moveTo>
                <a:cubicBezTo>
                  <a:pt x="11470" y="16398"/>
                  <a:pt x="6004" y="16398"/>
                  <a:pt x="2639" y="19764"/>
                </a:cubicBezTo>
                <a:cubicBezTo>
                  <a:pt x="-727" y="23129"/>
                  <a:pt x="-727" y="28595"/>
                  <a:pt x="2639" y="31961"/>
                </a:cubicBezTo>
                <a:lnTo>
                  <a:pt x="39635" y="68930"/>
                </a:lnTo>
                <a:lnTo>
                  <a:pt x="2666" y="105926"/>
                </a:lnTo>
                <a:cubicBezTo>
                  <a:pt x="-700" y="109292"/>
                  <a:pt x="-700" y="114758"/>
                  <a:pt x="2666" y="118123"/>
                </a:cubicBezTo>
                <a:cubicBezTo>
                  <a:pt x="6031" y="121489"/>
                  <a:pt x="11497" y="121489"/>
                  <a:pt x="14863" y="118123"/>
                </a:cubicBezTo>
                <a:lnTo>
                  <a:pt x="51832" y="81127"/>
                </a:lnTo>
                <a:lnTo>
                  <a:pt x="88828" y="118097"/>
                </a:lnTo>
                <a:cubicBezTo>
                  <a:pt x="92194" y="121462"/>
                  <a:pt x="97660" y="121462"/>
                  <a:pt x="101026" y="118097"/>
                </a:cubicBezTo>
                <a:cubicBezTo>
                  <a:pt x="104391" y="114731"/>
                  <a:pt x="104391" y="109265"/>
                  <a:pt x="101026" y="105899"/>
                </a:cubicBezTo>
                <a:lnTo>
                  <a:pt x="64030" y="68930"/>
                </a:lnTo>
                <a:lnTo>
                  <a:pt x="100999" y="31934"/>
                </a:lnTo>
                <a:cubicBezTo>
                  <a:pt x="104364" y="28568"/>
                  <a:pt x="104364" y="23102"/>
                  <a:pt x="100999" y="19737"/>
                </a:cubicBezTo>
                <a:cubicBezTo>
                  <a:pt x="97633" y="16371"/>
                  <a:pt x="92167" y="16371"/>
                  <a:pt x="88801" y="19737"/>
                </a:cubicBezTo>
                <a:lnTo>
                  <a:pt x="51832" y="56733"/>
                </a:lnTo>
                <a:lnTo>
                  <a:pt x="14836" y="19764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34074" y="3808384"/>
            <a:ext cx="11718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无法处理长条形状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2819" y="4049640"/>
            <a:ext cx="514390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倾向于将球状区域归为一簇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9424" y="4394290"/>
            <a:ext cx="5290380" cy="620370"/>
          </a:xfrm>
          <a:custGeom>
            <a:avLst/>
            <a:gdLst/>
            <a:ahLst/>
            <a:cxnLst/>
            <a:rect l="l" t="t" r="r" b="b"/>
            <a:pathLst>
              <a:path w="5290380" h="620370">
                <a:moveTo>
                  <a:pt x="34468" y="0"/>
                </a:moveTo>
                <a:lnTo>
                  <a:pt x="5255912" y="0"/>
                </a:lnTo>
                <a:cubicBezTo>
                  <a:pt x="5274948" y="0"/>
                  <a:pt x="5290380" y="15432"/>
                  <a:pt x="5290380" y="34468"/>
                </a:cubicBezTo>
                <a:lnTo>
                  <a:pt x="5290380" y="585903"/>
                </a:lnTo>
                <a:cubicBezTo>
                  <a:pt x="5290380" y="604939"/>
                  <a:pt x="5274948" y="620370"/>
                  <a:pt x="5255912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527284" y="4532150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14836" y="19764"/>
                </a:moveTo>
                <a:cubicBezTo>
                  <a:pt x="11470" y="16398"/>
                  <a:pt x="6004" y="16398"/>
                  <a:pt x="2639" y="19764"/>
                </a:cubicBezTo>
                <a:cubicBezTo>
                  <a:pt x="-727" y="23129"/>
                  <a:pt x="-727" y="28595"/>
                  <a:pt x="2639" y="31961"/>
                </a:cubicBezTo>
                <a:lnTo>
                  <a:pt x="39635" y="68930"/>
                </a:lnTo>
                <a:lnTo>
                  <a:pt x="2666" y="105926"/>
                </a:lnTo>
                <a:cubicBezTo>
                  <a:pt x="-700" y="109292"/>
                  <a:pt x="-700" y="114758"/>
                  <a:pt x="2666" y="118123"/>
                </a:cubicBezTo>
                <a:cubicBezTo>
                  <a:pt x="6031" y="121489"/>
                  <a:pt x="11497" y="121489"/>
                  <a:pt x="14863" y="118123"/>
                </a:cubicBezTo>
                <a:lnTo>
                  <a:pt x="51832" y="81127"/>
                </a:lnTo>
                <a:lnTo>
                  <a:pt x="88828" y="118097"/>
                </a:lnTo>
                <a:cubicBezTo>
                  <a:pt x="92194" y="121462"/>
                  <a:pt x="97660" y="121462"/>
                  <a:pt x="101026" y="118097"/>
                </a:cubicBezTo>
                <a:cubicBezTo>
                  <a:pt x="104391" y="114731"/>
                  <a:pt x="104391" y="109265"/>
                  <a:pt x="101026" y="105899"/>
                </a:cubicBezTo>
                <a:lnTo>
                  <a:pt x="64030" y="68930"/>
                </a:lnTo>
                <a:lnTo>
                  <a:pt x="100999" y="31934"/>
                </a:lnTo>
                <a:cubicBezTo>
                  <a:pt x="104364" y="28568"/>
                  <a:pt x="104364" y="23102"/>
                  <a:pt x="100999" y="19737"/>
                </a:cubicBezTo>
                <a:cubicBezTo>
                  <a:pt x="97633" y="16371"/>
                  <a:pt x="92167" y="16371"/>
                  <a:pt x="88801" y="19737"/>
                </a:cubicBezTo>
                <a:lnTo>
                  <a:pt x="51832" y="56733"/>
                </a:lnTo>
                <a:lnTo>
                  <a:pt x="14836" y="19764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734074" y="4497685"/>
            <a:ext cx="11718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无法正确处理噪声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92819" y="4738940"/>
            <a:ext cx="514390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强制将稀疏点归入某个簇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9424" y="5083590"/>
            <a:ext cx="5290380" cy="620370"/>
          </a:xfrm>
          <a:custGeom>
            <a:avLst/>
            <a:gdLst/>
            <a:ahLst/>
            <a:cxnLst/>
            <a:rect l="l" t="t" r="r" b="b"/>
            <a:pathLst>
              <a:path w="5290380" h="620370">
                <a:moveTo>
                  <a:pt x="34468" y="0"/>
                </a:moveTo>
                <a:lnTo>
                  <a:pt x="5255912" y="0"/>
                </a:lnTo>
                <a:cubicBezTo>
                  <a:pt x="5274948" y="0"/>
                  <a:pt x="5290380" y="15432"/>
                  <a:pt x="5290380" y="34468"/>
                </a:cubicBezTo>
                <a:lnTo>
                  <a:pt x="5290380" y="585903"/>
                </a:lnTo>
                <a:cubicBezTo>
                  <a:pt x="5290380" y="604939"/>
                  <a:pt x="5274948" y="620370"/>
                  <a:pt x="5255912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527284" y="5221450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14836" y="19764"/>
                </a:moveTo>
                <a:cubicBezTo>
                  <a:pt x="11470" y="16398"/>
                  <a:pt x="6004" y="16398"/>
                  <a:pt x="2639" y="19764"/>
                </a:cubicBezTo>
                <a:cubicBezTo>
                  <a:pt x="-727" y="23129"/>
                  <a:pt x="-727" y="28595"/>
                  <a:pt x="2639" y="31961"/>
                </a:cubicBezTo>
                <a:lnTo>
                  <a:pt x="39635" y="68930"/>
                </a:lnTo>
                <a:lnTo>
                  <a:pt x="2666" y="105926"/>
                </a:lnTo>
                <a:cubicBezTo>
                  <a:pt x="-700" y="109292"/>
                  <a:pt x="-700" y="114758"/>
                  <a:pt x="2666" y="118123"/>
                </a:cubicBezTo>
                <a:cubicBezTo>
                  <a:pt x="6031" y="121489"/>
                  <a:pt x="11497" y="121489"/>
                  <a:pt x="14863" y="118123"/>
                </a:cubicBezTo>
                <a:lnTo>
                  <a:pt x="51832" y="81127"/>
                </a:lnTo>
                <a:lnTo>
                  <a:pt x="88828" y="118097"/>
                </a:lnTo>
                <a:cubicBezTo>
                  <a:pt x="92194" y="121462"/>
                  <a:pt x="97660" y="121462"/>
                  <a:pt x="101026" y="118097"/>
                </a:cubicBezTo>
                <a:cubicBezTo>
                  <a:pt x="104391" y="114731"/>
                  <a:pt x="104391" y="109265"/>
                  <a:pt x="101026" y="105899"/>
                </a:cubicBezTo>
                <a:lnTo>
                  <a:pt x="64030" y="68930"/>
                </a:lnTo>
                <a:lnTo>
                  <a:pt x="100999" y="31934"/>
                </a:lnTo>
                <a:cubicBezTo>
                  <a:pt x="104364" y="28568"/>
                  <a:pt x="104364" y="23102"/>
                  <a:pt x="100999" y="19737"/>
                </a:cubicBezTo>
                <a:cubicBezTo>
                  <a:pt x="97633" y="16371"/>
                  <a:pt x="92167" y="16371"/>
                  <a:pt x="88801" y="19737"/>
                </a:cubicBezTo>
                <a:lnTo>
                  <a:pt x="51832" y="56733"/>
                </a:lnTo>
                <a:lnTo>
                  <a:pt x="14836" y="19764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734074" y="5186985"/>
            <a:ext cx="84439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需要预设K值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92819" y="5428240"/>
            <a:ext cx="514390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需要人工猜测簇的数量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48958" y="6018454"/>
            <a:ext cx="11494083" cy="491127"/>
          </a:xfrm>
          <a:custGeom>
            <a:avLst/>
            <a:gdLst/>
            <a:ahLst/>
            <a:cxnLst/>
            <a:rect l="l" t="t" r="r" b="b"/>
            <a:pathLst>
              <a:path w="11494083" h="491127">
                <a:moveTo>
                  <a:pt x="68930" y="0"/>
                </a:moveTo>
                <a:lnTo>
                  <a:pt x="11425154" y="0"/>
                </a:lnTo>
                <a:cubicBezTo>
                  <a:pt x="11463223" y="0"/>
                  <a:pt x="11494083" y="30861"/>
                  <a:pt x="11494083" y="68930"/>
                </a:cubicBezTo>
                <a:lnTo>
                  <a:pt x="11494083" y="422197"/>
                </a:lnTo>
                <a:cubicBezTo>
                  <a:pt x="11494083" y="460266"/>
                  <a:pt x="11463223" y="491127"/>
                  <a:pt x="11425154" y="491127"/>
                </a:cubicBezTo>
                <a:lnTo>
                  <a:pt x="68930" y="491127"/>
                </a:lnTo>
                <a:cubicBezTo>
                  <a:pt x="30861" y="491127"/>
                  <a:pt x="0" y="460266"/>
                  <a:pt x="0" y="422197"/>
                </a:cubicBezTo>
                <a:lnTo>
                  <a:pt x="0" y="68930"/>
                </a:lnTo>
                <a:cubicBezTo>
                  <a:pt x="0" y="30861"/>
                  <a:pt x="30861" y="0"/>
                  <a:pt x="6893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42824" y="6160622"/>
            <a:ext cx="155093" cy="206790"/>
          </a:xfrm>
          <a:custGeom>
            <a:avLst/>
            <a:gdLst/>
            <a:ahLst/>
            <a:cxnLst/>
            <a:rect l="l" t="t" r="r" b="b"/>
            <a:pathLst>
              <a:path w="155093" h="206790">
                <a:moveTo>
                  <a:pt x="118298" y="155093"/>
                </a:moveTo>
                <a:cubicBezTo>
                  <a:pt x="121247" y="146086"/>
                  <a:pt x="127144" y="137927"/>
                  <a:pt x="133808" y="130900"/>
                </a:cubicBezTo>
                <a:cubicBezTo>
                  <a:pt x="147015" y="117006"/>
                  <a:pt x="155093" y="98225"/>
                  <a:pt x="155093" y="77546"/>
                </a:cubicBezTo>
                <a:cubicBezTo>
                  <a:pt x="155093" y="34734"/>
                  <a:pt x="120358" y="0"/>
                  <a:pt x="77546" y="0"/>
                </a:cubicBezTo>
                <a:cubicBezTo>
                  <a:pt x="34734" y="0"/>
                  <a:pt x="0" y="34734"/>
                  <a:pt x="0" y="77546"/>
                </a:cubicBezTo>
                <a:cubicBezTo>
                  <a:pt x="0" y="98225"/>
                  <a:pt x="8078" y="117006"/>
                  <a:pt x="21285" y="130900"/>
                </a:cubicBezTo>
                <a:cubicBezTo>
                  <a:pt x="27949" y="137927"/>
                  <a:pt x="33886" y="146086"/>
                  <a:pt x="36794" y="155093"/>
                </a:cubicBezTo>
                <a:lnTo>
                  <a:pt x="118258" y="155093"/>
                </a:lnTo>
                <a:close/>
                <a:moveTo>
                  <a:pt x="116319" y="174479"/>
                </a:moveTo>
                <a:lnTo>
                  <a:pt x="38773" y="174479"/>
                </a:lnTo>
                <a:lnTo>
                  <a:pt x="38773" y="180941"/>
                </a:lnTo>
                <a:cubicBezTo>
                  <a:pt x="38773" y="198793"/>
                  <a:pt x="53232" y="213252"/>
                  <a:pt x="71084" y="213252"/>
                </a:cubicBezTo>
                <a:lnTo>
                  <a:pt x="84008" y="213252"/>
                </a:lnTo>
                <a:cubicBezTo>
                  <a:pt x="101860" y="213252"/>
                  <a:pt x="116319" y="198793"/>
                  <a:pt x="116319" y="180941"/>
                </a:cubicBezTo>
                <a:lnTo>
                  <a:pt x="116319" y="174479"/>
                </a:lnTo>
                <a:close/>
                <a:moveTo>
                  <a:pt x="74315" y="45235"/>
                </a:moveTo>
                <a:cubicBezTo>
                  <a:pt x="58240" y="45235"/>
                  <a:pt x="45235" y="58240"/>
                  <a:pt x="45235" y="74315"/>
                </a:cubicBezTo>
                <a:cubicBezTo>
                  <a:pt x="45235" y="79687"/>
                  <a:pt x="40914" y="84008"/>
                  <a:pt x="35542" y="84008"/>
                </a:cubicBezTo>
                <a:cubicBezTo>
                  <a:pt x="30170" y="84008"/>
                  <a:pt x="25849" y="79687"/>
                  <a:pt x="25849" y="74315"/>
                </a:cubicBezTo>
                <a:cubicBezTo>
                  <a:pt x="25849" y="47537"/>
                  <a:pt x="47537" y="25849"/>
                  <a:pt x="74315" y="25849"/>
                </a:cubicBezTo>
                <a:cubicBezTo>
                  <a:pt x="79687" y="25849"/>
                  <a:pt x="84008" y="30170"/>
                  <a:pt x="84008" y="35542"/>
                </a:cubicBezTo>
                <a:cubicBezTo>
                  <a:pt x="84008" y="40914"/>
                  <a:pt x="79687" y="45235"/>
                  <a:pt x="74315" y="45235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53009" y="6160622"/>
            <a:ext cx="958989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案例启示:</a:t>
            </a:r>
            <a:r>
              <a:rPr lang="en-US" sz="1086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在处理具有复杂结构、任意形状、含噪声的数据时,DBSCAN展现出远超K-Means的能力。地理信息分析、异常检测等场景特别适合使用DBSCAN。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DENSITY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HDBSCAN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: 层次化密度聚类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67375" cy="1714500"/>
          </a:xfrm>
          <a:custGeom>
            <a:avLst/>
            <a:gdLst/>
            <a:ahLst/>
            <a:cxnLst/>
            <a:rect l="l" t="t" r="r" b="b"/>
            <a:pathLst>
              <a:path w="5667375" h="1714500">
                <a:moveTo>
                  <a:pt x="31750" y="0"/>
                </a:moveTo>
                <a:lnTo>
                  <a:pt x="5603870" y="0"/>
                </a:lnTo>
                <a:cubicBezTo>
                  <a:pt x="5638943" y="0"/>
                  <a:pt x="5667375" y="28432"/>
                  <a:pt x="5667375" y="63505"/>
                </a:cubicBezTo>
                <a:lnTo>
                  <a:pt x="5667375" y="1650995"/>
                </a:lnTo>
                <a:cubicBezTo>
                  <a:pt x="5667375" y="1686068"/>
                  <a:pt x="5638943" y="1714500"/>
                  <a:pt x="5603870" y="1714500"/>
                </a:cubicBezTo>
                <a:lnTo>
                  <a:pt x="31750" y="1714500"/>
                </a:lnTo>
                <a:cubicBezTo>
                  <a:pt x="14215" y="1714500"/>
                  <a:pt x="0" y="1700285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1714500"/>
          </a:xfrm>
          <a:custGeom>
            <a:avLst/>
            <a:gdLst/>
            <a:ahLst/>
            <a:cxnLst/>
            <a:rect l="l" t="t" r="r" b="b"/>
            <a:pathLst>
              <a:path w="31750" h="1714500">
                <a:moveTo>
                  <a:pt x="31750" y="0"/>
                </a:moveTo>
                <a:lnTo>
                  <a:pt x="31750" y="0"/>
                </a:lnTo>
                <a:lnTo>
                  <a:pt x="31750" y="1714500"/>
                </a:lnTo>
                <a:lnTo>
                  <a:pt x="31750" y="1714500"/>
                </a:lnTo>
                <a:cubicBezTo>
                  <a:pt x="14227" y="1714500"/>
                  <a:pt x="0" y="1700273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206500"/>
            <a:ext cx="542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的痛点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55575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DBSCAN的主要痛点在于,对于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密度差异较大的数据集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,很难找到一个全局最优的ε参数。如果ε选得太大,高密度簇可能会合并;如果ε选得太小,低密度簇可能会被误判为噪声。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206375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31748" y="0"/>
                </a:moveTo>
                <a:lnTo>
                  <a:pt x="5302252" y="0"/>
                </a:lnTo>
                <a:cubicBezTo>
                  <a:pt x="5319786" y="0"/>
                  <a:pt x="5334000" y="14214"/>
                  <a:pt x="5334000" y="31748"/>
                </a:cubicBezTo>
                <a:lnTo>
                  <a:pt x="5334000" y="508002"/>
                </a:lnTo>
                <a:cubicBezTo>
                  <a:pt x="5334000" y="525536"/>
                  <a:pt x="5319786" y="539750"/>
                  <a:pt x="530225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250" y="2159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2349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单一的全局ε参数难以适应不同密度的簇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75" y="2889250"/>
            <a:ext cx="5667375" cy="1714500"/>
          </a:xfrm>
          <a:custGeom>
            <a:avLst/>
            <a:gdLst/>
            <a:ahLst/>
            <a:cxnLst/>
            <a:rect l="l" t="t" r="r" b="b"/>
            <a:pathLst>
              <a:path w="5667375" h="1714500">
                <a:moveTo>
                  <a:pt x="31750" y="0"/>
                </a:moveTo>
                <a:lnTo>
                  <a:pt x="5603870" y="0"/>
                </a:lnTo>
                <a:cubicBezTo>
                  <a:pt x="5638943" y="0"/>
                  <a:pt x="5667375" y="28432"/>
                  <a:pt x="5667375" y="63505"/>
                </a:cubicBezTo>
                <a:lnTo>
                  <a:pt x="5667375" y="1650995"/>
                </a:lnTo>
                <a:cubicBezTo>
                  <a:pt x="5667375" y="1686068"/>
                  <a:pt x="5638943" y="1714500"/>
                  <a:pt x="5603870" y="1714500"/>
                </a:cubicBezTo>
                <a:lnTo>
                  <a:pt x="31750" y="1714500"/>
                </a:lnTo>
                <a:cubicBezTo>
                  <a:pt x="14215" y="1714500"/>
                  <a:pt x="0" y="1700285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33375" y="2889250"/>
            <a:ext cx="31750" cy="1714500"/>
          </a:xfrm>
          <a:custGeom>
            <a:avLst/>
            <a:gdLst/>
            <a:ahLst/>
            <a:cxnLst/>
            <a:rect l="l" t="t" r="r" b="b"/>
            <a:pathLst>
              <a:path w="31750" h="1714500">
                <a:moveTo>
                  <a:pt x="31750" y="0"/>
                </a:moveTo>
                <a:lnTo>
                  <a:pt x="31750" y="0"/>
                </a:lnTo>
                <a:lnTo>
                  <a:pt x="31750" y="1714500"/>
                </a:lnTo>
                <a:lnTo>
                  <a:pt x="31750" y="1714500"/>
                </a:lnTo>
                <a:cubicBezTo>
                  <a:pt x="14227" y="1714500"/>
                  <a:pt x="0" y="1700273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8000" y="3048000"/>
            <a:ext cx="542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HDBSCAN</a:t>
            </a: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000" y="339725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层次聚类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思想,不再依赖单一的距离阈值ε,而是通过构建簇的层次结构,使用"稳定性"指标来从层次结构中提取最优的平坦簇。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90525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31748" y="0"/>
                </a:moveTo>
                <a:lnTo>
                  <a:pt x="5302252" y="0"/>
                </a:lnTo>
                <a:cubicBezTo>
                  <a:pt x="5319786" y="0"/>
                  <a:pt x="5334000" y="14214"/>
                  <a:pt x="5334000" y="31748"/>
                </a:cubicBezTo>
                <a:lnTo>
                  <a:pt x="5334000" y="508002"/>
                </a:lnTo>
                <a:cubicBezTo>
                  <a:pt x="5334000" y="525536"/>
                  <a:pt x="5319786" y="539750"/>
                  <a:pt x="530225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03250" y="4000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4191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自动适应密度变化,只需指定min_cluster_size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7500" y="4730750"/>
            <a:ext cx="5683250" cy="1682750"/>
          </a:xfrm>
          <a:custGeom>
            <a:avLst/>
            <a:gdLst/>
            <a:ahLst/>
            <a:cxnLst/>
            <a:rect l="l" t="t" r="r" b="b"/>
            <a:pathLst>
              <a:path w="5683250" h="1682750">
                <a:moveTo>
                  <a:pt x="63507" y="0"/>
                </a:moveTo>
                <a:lnTo>
                  <a:pt x="5619743" y="0"/>
                </a:lnTo>
                <a:cubicBezTo>
                  <a:pt x="5654817" y="0"/>
                  <a:pt x="5683250" y="28433"/>
                  <a:pt x="5683250" y="63507"/>
                </a:cubicBezTo>
                <a:lnTo>
                  <a:pt x="5683250" y="1619243"/>
                </a:lnTo>
                <a:cubicBezTo>
                  <a:pt x="5683250" y="1654317"/>
                  <a:pt x="5654817" y="1682750"/>
                  <a:pt x="5619743" y="1682750"/>
                </a:cubicBezTo>
                <a:lnTo>
                  <a:pt x="63507" y="1682750"/>
                </a:lnTo>
                <a:cubicBezTo>
                  <a:pt x="28433" y="1682750"/>
                  <a:pt x="0" y="1654317"/>
                  <a:pt x="0" y="16192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6250" y="488950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主要步骤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6250" y="5207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lnTo>
                  <a:pt x="79375" y="0"/>
                </a:lnTo>
                <a:cubicBezTo>
                  <a:pt x="123183" y="0"/>
                  <a:pt x="158750" y="35567"/>
                  <a:pt x="158750" y="79375"/>
                </a:cubicBezTo>
                <a:lnTo>
                  <a:pt x="158750" y="79375"/>
                </a:lnTo>
                <a:cubicBezTo>
                  <a:pt x="158750" y="123183"/>
                  <a:pt x="123183" y="158750"/>
                  <a:pt x="79375" y="158750"/>
                </a:cubicBezTo>
                <a:lnTo>
                  <a:pt x="79375" y="158750"/>
                </a:lnTo>
                <a:cubicBezTo>
                  <a:pt x="35567" y="158750"/>
                  <a:pt x="0" y="123183"/>
                  <a:pt x="0" y="79375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2438" y="5207000"/>
            <a:ext cx="20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8500" y="5207000"/>
            <a:ext cx="1444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变换空间: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根据密度调整距离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6250" y="5429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lnTo>
                  <a:pt x="79375" y="0"/>
                </a:lnTo>
                <a:cubicBezTo>
                  <a:pt x="123183" y="0"/>
                  <a:pt x="158750" y="35567"/>
                  <a:pt x="158750" y="79375"/>
                </a:cubicBezTo>
                <a:lnTo>
                  <a:pt x="158750" y="79375"/>
                </a:lnTo>
                <a:cubicBezTo>
                  <a:pt x="158750" y="123183"/>
                  <a:pt x="123183" y="158750"/>
                  <a:pt x="79375" y="158750"/>
                </a:cubicBezTo>
                <a:lnTo>
                  <a:pt x="79375" y="158750"/>
                </a:lnTo>
                <a:cubicBezTo>
                  <a:pt x="35567" y="158750"/>
                  <a:pt x="0" y="123183"/>
                  <a:pt x="0" y="79375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2438" y="5429250"/>
            <a:ext cx="20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500" y="5429250"/>
            <a:ext cx="177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构建最小生成树: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基于调整后的距离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5651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lnTo>
                  <a:pt x="79375" y="0"/>
                </a:lnTo>
                <a:cubicBezTo>
                  <a:pt x="123183" y="0"/>
                  <a:pt x="158750" y="35567"/>
                  <a:pt x="158750" y="79375"/>
                </a:cubicBezTo>
                <a:lnTo>
                  <a:pt x="158750" y="79375"/>
                </a:lnTo>
                <a:cubicBezTo>
                  <a:pt x="158750" y="123183"/>
                  <a:pt x="123183" y="158750"/>
                  <a:pt x="79375" y="158750"/>
                </a:cubicBezTo>
                <a:lnTo>
                  <a:pt x="79375" y="158750"/>
                </a:lnTo>
                <a:cubicBezTo>
                  <a:pt x="35567" y="158750"/>
                  <a:pt x="0" y="123183"/>
                  <a:pt x="0" y="79375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2438" y="5651500"/>
            <a:ext cx="20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500" y="5651500"/>
            <a:ext cx="155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构建层次结构: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生成簇的层次树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6250" y="5873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lnTo>
                  <a:pt x="79375" y="0"/>
                </a:lnTo>
                <a:cubicBezTo>
                  <a:pt x="123183" y="0"/>
                  <a:pt x="158750" y="35567"/>
                  <a:pt x="158750" y="79375"/>
                </a:cubicBezTo>
                <a:lnTo>
                  <a:pt x="158750" y="79375"/>
                </a:lnTo>
                <a:cubicBezTo>
                  <a:pt x="158750" y="123183"/>
                  <a:pt x="123183" y="158750"/>
                  <a:pt x="79375" y="158750"/>
                </a:cubicBezTo>
                <a:lnTo>
                  <a:pt x="79375" y="158750"/>
                </a:lnTo>
                <a:cubicBezTo>
                  <a:pt x="35567" y="158750"/>
                  <a:pt x="0" y="123183"/>
                  <a:pt x="0" y="79375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2438" y="5873750"/>
            <a:ext cx="20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8500" y="5873750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压缩簇树: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去除小簇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6250" y="6096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lnTo>
                  <a:pt x="79375" y="0"/>
                </a:lnTo>
                <a:cubicBezTo>
                  <a:pt x="123183" y="0"/>
                  <a:pt x="158750" y="35567"/>
                  <a:pt x="158750" y="79375"/>
                </a:cubicBezTo>
                <a:lnTo>
                  <a:pt x="158750" y="79375"/>
                </a:lnTo>
                <a:cubicBezTo>
                  <a:pt x="158750" y="123183"/>
                  <a:pt x="123183" y="158750"/>
                  <a:pt x="79375" y="158750"/>
                </a:cubicBezTo>
                <a:lnTo>
                  <a:pt x="79375" y="158750"/>
                </a:lnTo>
                <a:cubicBezTo>
                  <a:pt x="35567" y="158750"/>
                  <a:pt x="0" y="123183"/>
                  <a:pt x="0" y="79375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2438" y="6096000"/>
            <a:ext cx="20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500" y="6096000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提取簇:</a:t>
            </a: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选择最稳定的簇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219" y="1051719"/>
            <a:ext cx="5675313" cy="1484313"/>
          </a:xfrm>
          <a:custGeom>
            <a:avLst/>
            <a:gdLst/>
            <a:ahLst/>
            <a:cxnLst/>
            <a:rect l="l" t="t" r="r" b="b"/>
            <a:pathLst>
              <a:path w="5675313" h="1484313">
                <a:moveTo>
                  <a:pt x="63499" y="0"/>
                </a:moveTo>
                <a:lnTo>
                  <a:pt x="5611814" y="0"/>
                </a:lnTo>
                <a:cubicBezTo>
                  <a:pt x="5646883" y="0"/>
                  <a:pt x="5675313" y="28429"/>
                  <a:pt x="5675313" y="63499"/>
                </a:cubicBezTo>
                <a:lnTo>
                  <a:pt x="5675313" y="1420814"/>
                </a:lnTo>
                <a:cubicBezTo>
                  <a:pt x="5675313" y="1455883"/>
                  <a:pt x="5646883" y="1484313"/>
                  <a:pt x="5611814" y="1484313"/>
                </a:cubicBezTo>
                <a:lnTo>
                  <a:pt x="63499" y="1484313"/>
                </a:lnTo>
                <a:cubicBezTo>
                  <a:pt x="28429" y="1484313"/>
                  <a:pt x="0" y="1455883"/>
                  <a:pt x="0" y="1420814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57938" y="1214438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稳定性指标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7938" y="1531938"/>
            <a:ext cx="5413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稳定性是指簇在不同ε值下保持存在的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持久度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。持久度越高的簇越可能是真实的结构。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7938" y="1833563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53188" y="19288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3188" y="21193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自动适应密度变化,通常只需指定min_cluster_size参数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5219" y="2670969"/>
            <a:ext cx="5675313" cy="1785938"/>
          </a:xfrm>
          <a:custGeom>
            <a:avLst/>
            <a:gdLst/>
            <a:ahLst/>
            <a:cxnLst/>
            <a:rect l="l" t="t" r="r" b="b"/>
            <a:pathLst>
              <a:path w="5675313" h="1785938">
                <a:moveTo>
                  <a:pt x="63508" y="0"/>
                </a:moveTo>
                <a:lnTo>
                  <a:pt x="5611805" y="0"/>
                </a:lnTo>
                <a:cubicBezTo>
                  <a:pt x="5646879" y="0"/>
                  <a:pt x="5675313" y="28433"/>
                  <a:pt x="5675313" y="63508"/>
                </a:cubicBezTo>
                <a:lnTo>
                  <a:pt x="5675313" y="1722430"/>
                </a:lnTo>
                <a:cubicBezTo>
                  <a:pt x="5675313" y="1757504"/>
                  <a:pt x="5646879" y="1785938"/>
                  <a:pt x="5611805" y="1785938"/>
                </a:cubicBezTo>
                <a:lnTo>
                  <a:pt x="63508" y="1785938"/>
                </a:lnTo>
                <a:cubicBezTo>
                  <a:pt x="28433" y="1785938"/>
                  <a:pt x="0" y="1757504"/>
                  <a:pt x="0" y="1722430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 w="12700">
            <a:solidFill>
              <a:srgbClr val="C7A67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357938" y="2833688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HDBSCAN vs 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57938" y="315118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453188" y="3246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53188" y="34369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单一ε, 难以处理密度不均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7938" y="37544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453188" y="38496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53188" y="40401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层次化ε, 自适应密度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1250" y="4587875"/>
            <a:ext cx="5683250" cy="1333500"/>
          </a:xfrm>
          <a:custGeom>
            <a:avLst/>
            <a:gdLst/>
            <a:ahLst/>
            <a:cxnLst/>
            <a:rect l="l" t="t" r="r" b="b"/>
            <a:pathLst>
              <a:path w="5683250" h="13335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1269999"/>
                </a:lnTo>
                <a:cubicBezTo>
                  <a:pt x="5683250" y="1305070"/>
                  <a:pt x="5654820" y="1333500"/>
                  <a:pt x="5619749" y="1333500"/>
                </a:cubicBezTo>
                <a:lnTo>
                  <a:pt x="63501" y="1333500"/>
                </a:lnTo>
                <a:cubicBezTo>
                  <a:pt x="28430" y="1333500"/>
                  <a:pt x="0" y="1305070"/>
                  <a:pt x="0" y="1269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350000" y="4746625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3813" y="5095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572250" y="5064125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密度差异大的数据集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3813" y="5349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572250" y="5318125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需要自适应参数的场景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3813" y="5603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572250" y="5572125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层次结构明显的数据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r>
              <a:rPr lang="en-US" sz="2599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算法进阶应用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011" y="1210033"/>
            <a:ext cx="5619320" cy="1943386"/>
          </a:xfrm>
          <a:custGeom>
            <a:avLst/>
            <a:gdLst/>
            <a:ahLst/>
            <a:cxnLst/>
            <a:rect l="l" t="t" r="r" b="b"/>
            <a:pathLst>
              <a:path w="5619320" h="1943386">
                <a:moveTo>
                  <a:pt x="36668" y="0"/>
                </a:moveTo>
                <a:lnTo>
                  <a:pt x="5545977" y="0"/>
                </a:lnTo>
                <a:cubicBezTo>
                  <a:pt x="5586483" y="0"/>
                  <a:pt x="5619320" y="32837"/>
                  <a:pt x="5619320" y="73343"/>
                </a:cubicBezTo>
                <a:lnTo>
                  <a:pt x="5619320" y="1870043"/>
                </a:lnTo>
                <a:cubicBezTo>
                  <a:pt x="5619320" y="1910550"/>
                  <a:pt x="5586483" y="1943386"/>
                  <a:pt x="5545977" y="1943386"/>
                </a:cubicBezTo>
                <a:lnTo>
                  <a:pt x="36668" y="1943386"/>
                </a:lnTo>
                <a:cubicBezTo>
                  <a:pt x="16417" y="1943386"/>
                  <a:pt x="0" y="1926970"/>
                  <a:pt x="0" y="190671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5011" y="1210033"/>
            <a:ext cx="36668" cy="1943386"/>
          </a:xfrm>
          <a:custGeom>
            <a:avLst/>
            <a:gdLst/>
            <a:ahLst/>
            <a:cxnLst/>
            <a:rect l="l" t="t" r="r" b="b"/>
            <a:pathLst>
              <a:path w="36668" h="1943386">
                <a:moveTo>
                  <a:pt x="36668" y="0"/>
                </a:moveTo>
                <a:lnTo>
                  <a:pt x="36668" y="0"/>
                </a:lnTo>
                <a:lnTo>
                  <a:pt x="36668" y="1943386"/>
                </a:lnTo>
                <a:lnTo>
                  <a:pt x="36668" y="1943386"/>
                </a:lnTo>
                <a:cubicBezTo>
                  <a:pt x="16417" y="1943386"/>
                  <a:pt x="0" y="1926970"/>
                  <a:pt x="0" y="190671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14183" y="1411705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0"/>
                </a:moveTo>
                <a:cubicBezTo>
                  <a:pt x="116320" y="0"/>
                  <a:pt x="122121" y="3481"/>
                  <a:pt x="125128" y="9024"/>
                </a:cubicBezTo>
                <a:lnTo>
                  <a:pt x="217943" y="180903"/>
                </a:lnTo>
                <a:cubicBezTo>
                  <a:pt x="220822" y="186232"/>
                  <a:pt x="220694" y="192677"/>
                  <a:pt x="217600" y="197877"/>
                </a:cubicBezTo>
                <a:cubicBezTo>
                  <a:pt x="214506" y="203076"/>
                  <a:pt x="208877" y="206256"/>
                  <a:pt x="202818" y="206256"/>
                </a:cubicBezTo>
                <a:lnTo>
                  <a:pt x="17188" y="206256"/>
                </a:lnTo>
                <a:cubicBezTo>
                  <a:pt x="11129" y="206256"/>
                  <a:pt x="5543" y="203076"/>
                  <a:pt x="2406" y="197877"/>
                </a:cubicBezTo>
                <a:cubicBezTo>
                  <a:pt x="-730" y="192677"/>
                  <a:pt x="-816" y="186232"/>
                  <a:pt x="2063" y="180903"/>
                </a:cubicBezTo>
                <a:lnTo>
                  <a:pt x="94878" y="9024"/>
                </a:lnTo>
                <a:cubicBezTo>
                  <a:pt x="97885" y="3481"/>
                  <a:pt x="103686" y="0"/>
                  <a:pt x="110003" y="0"/>
                </a:cubicBezTo>
                <a:close/>
                <a:moveTo>
                  <a:pt x="110003" y="72189"/>
                </a:moveTo>
                <a:cubicBezTo>
                  <a:pt x="104288" y="72189"/>
                  <a:pt x="99690" y="76787"/>
                  <a:pt x="99690" y="82502"/>
                </a:cubicBezTo>
                <a:lnTo>
                  <a:pt x="99690" y="130629"/>
                </a:lnTo>
                <a:cubicBezTo>
                  <a:pt x="99690" y="136344"/>
                  <a:pt x="104288" y="140941"/>
                  <a:pt x="110003" y="140941"/>
                </a:cubicBezTo>
                <a:cubicBezTo>
                  <a:pt x="115718" y="140941"/>
                  <a:pt x="120316" y="136344"/>
                  <a:pt x="120316" y="130629"/>
                </a:cubicBezTo>
                <a:lnTo>
                  <a:pt x="120316" y="82502"/>
                </a:lnTo>
                <a:cubicBezTo>
                  <a:pt x="120316" y="76787"/>
                  <a:pt x="115718" y="72189"/>
                  <a:pt x="110003" y="72189"/>
                </a:cubicBezTo>
                <a:close/>
                <a:moveTo>
                  <a:pt x="121476" y="165005"/>
                </a:moveTo>
                <a:cubicBezTo>
                  <a:pt x="121737" y="160746"/>
                  <a:pt x="119613" y="156694"/>
                  <a:pt x="115962" y="154486"/>
                </a:cubicBezTo>
                <a:cubicBezTo>
                  <a:pt x="112312" y="152278"/>
                  <a:pt x="107737" y="152278"/>
                  <a:pt x="104086" y="154486"/>
                </a:cubicBezTo>
                <a:cubicBezTo>
                  <a:pt x="100436" y="156694"/>
                  <a:pt x="98312" y="160746"/>
                  <a:pt x="98573" y="165005"/>
                </a:cubicBezTo>
                <a:cubicBezTo>
                  <a:pt x="98312" y="169263"/>
                  <a:pt x="100436" y="173315"/>
                  <a:pt x="104086" y="175523"/>
                </a:cubicBezTo>
                <a:cubicBezTo>
                  <a:pt x="107737" y="177731"/>
                  <a:pt x="112312" y="177731"/>
                  <a:pt x="115962" y="175523"/>
                </a:cubicBezTo>
                <a:cubicBezTo>
                  <a:pt x="119613" y="173315"/>
                  <a:pt x="121737" y="169263"/>
                  <a:pt x="121476" y="165005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71693" y="1393371"/>
            <a:ext cx="82502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6683" y="1760048"/>
            <a:ext cx="5307645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低密度区域的噪声点可用于识别异常,在</a:t>
            </a:r>
            <a:r>
              <a:rPr lang="en-US" sz="115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欺诈检测、设备故障预警、网络安全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等领域有广泛应用。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6683" y="2346731"/>
            <a:ext cx="5234310" cy="623350"/>
          </a:xfrm>
          <a:custGeom>
            <a:avLst/>
            <a:gdLst/>
            <a:ahLst/>
            <a:cxnLst/>
            <a:rect l="l" t="t" r="r" b="b"/>
            <a:pathLst>
              <a:path w="5234310" h="623350">
                <a:moveTo>
                  <a:pt x="36665" y="0"/>
                </a:moveTo>
                <a:lnTo>
                  <a:pt x="5197644" y="0"/>
                </a:lnTo>
                <a:cubicBezTo>
                  <a:pt x="5217894" y="0"/>
                  <a:pt x="5234310" y="16416"/>
                  <a:pt x="5234310" y="36665"/>
                </a:cubicBezTo>
                <a:lnTo>
                  <a:pt x="5234310" y="586685"/>
                </a:lnTo>
                <a:cubicBezTo>
                  <a:pt x="5234310" y="606935"/>
                  <a:pt x="5217894" y="623350"/>
                  <a:pt x="5197644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6686" y="2456734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6686" y="2676740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噪声点 = 异常点, 远离主要数据分布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4929" y="1210033"/>
            <a:ext cx="5619320" cy="1943386"/>
          </a:xfrm>
          <a:custGeom>
            <a:avLst/>
            <a:gdLst/>
            <a:ahLst/>
            <a:cxnLst/>
            <a:rect l="l" t="t" r="r" b="b"/>
            <a:pathLst>
              <a:path w="5619320" h="1943386">
                <a:moveTo>
                  <a:pt x="36668" y="0"/>
                </a:moveTo>
                <a:lnTo>
                  <a:pt x="5545977" y="0"/>
                </a:lnTo>
                <a:cubicBezTo>
                  <a:pt x="5586483" y="0"/>
                  <a:pt x="5619320" y="32837"/>
                  <a:pt x="5619320" y="73343"/>
                </a:cubicBezTo>
                <a:lnTo>
                  <a:pt x="5619320" y="1870043"/>
                </a:lnTo>
                <a:cubicBezTo>
                  <a:pt x="5619320" y="1910550"/>
                  <a:pt x="5586483" y="1943386"/>
                  <a:pt x="5545977" y="1943386"/>
                </a:cubicBezTo>
                <a:lnTo>
                  <a:pt x="36668" y="1943386"/>
                </a:lnTo>
                <a:cubicBezTo>
                  <a:pt x="16417" y="1943386"/>
                  <a:pt x="0" y="1926970"/>
                  <a:pt x="0" y="190671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04929" y="1210033"/>
            <a:ext cx="36668" cy="1943386"/>
          </a:xfrm>
          <a:custGeom>
            <a:avLst/>
            <a:gdLst/>
            <a:ahLst/>
            <a:cxnLst/>
            <a:rect l="l" t="t" r="r" b="b"/>
            <a:pathLst>
              <a:path w="36668" h="1943386">
                <a:moveTo>
                  <a:pt x="36668" y="0"/>
                </a:moveTo>
                <a:lnTo>
                  <a:pt x="36668" y="0"/>
                </a:lnTo>
                <a:lnTo>
                  <a:pt x="36668" y="1943386"/>
                </a:lnTo>
                <a:lnTo>
                  <a:pt x="36668" y="1943386"/>
                </a:lnTo>
                <a:cubicBezTo>
                  <a:pt x="16417" y="1943386"/>
                  <a:pt x="0" y="1926970"/>
                  <a:pt x="0" y="190671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6601" y="1411705"/>
            <a:ext cx="275008" cy="220006"/>
          </a:xfrm>
          <a:custGeom>
            <a:avLst/>
            <a:gdLst/>
            <a:ahLst/>
            <a:cxnLst/>
            <a:rect l="l" t="t" r="r" b="b"/>
            <a:pathLst>
              <a:path w="275008" h="220006">
                <a:moveTo>
                  <a:pt x="247507" y="20626"/>
                </a:moveTo>
                <a:cubicBezTo>
                  <a:pt x="247507" y="15856"/>
                  <a:pt x="245057" y="11430"/>
                  <a:pt x="240975" y="8938"/>
                </a:cubicBezTo>
                <a:cubicBezTo>
                  <a:pt x="236893" y="6445"/>
                  <a:pt x="231866" y="6188"/>
                  <a:pt x="227612" y="8336"/>
                </a:cubicBezTo>
                <a:lnTo>
                  <a:pt x="177681" y="33302"/>
                </a:lnTo>
                <a:lnTo>
                  <a:pt x="100593" y="7563"/>
                </a:lnTo>
                <a:cubicBezTo>
                  <a:pt x="97112" y="6403"/>
                  <a:pt x="93374" y="6660"/>
                  <a:pt x="90108" y="8293"/>
                </a:cubicBezTo>
                <a:lnTo>
                  <a:pt x="35106" y="35794"/>
                </a:lnTo>
                <a:cubicBezTo>
                  <a:pt x="30423" y="38157"/>
                  <a:pt x="27501" y="42927"/>
                  <a:pt x="27501" y="48126"/>
                </a:cubicBezTo>
                <a:lnTo>
                  <a:pt x="27501" y="199380"/>
                </a:lnTo>
                <a:cubicBezTo>
                  <a:pt x="27501" y="204150"/>
                  <a:pt x="29950" y="208576"/>
                  <a:pt x="34032" y="211068"/>
                </a:cubicBezTo>
                <a:cubicBezTo>
                  <a:pt x="38114" y="213561"/>
                  <a:pt x="43142" y="213818"/>
                  <a:pt x="47396" y="211670"/>
                </a:cubicBezTo>
                <a:lnTo>
                  <a:pt x="97284" y="186704"/>
                </a:lnTo>
                <a:lnTo>
                  <a:pt x="171751" y="211541"/>
                </a:lnTo>
                <a:cubicBezTo>
                  <a:pt x="169903" y="208791"/>
                  <a:pt x="168098" y="205912"/>
                  <a:pt x="166337" y="202990"/>
                </a:cubicBezTo>
                <a:cubicBezTo>
                  <a:pt x="161610" y="195126"/>
                  <a:pt x="156926" y="186103"/>
                  <a:pt x="153446" y="176435"/>
                </a:cubicBezTo>
                <a:lnTo>
                  <a:pt x="109960" y="161954"/>
                </a:lnTo>
                <a:lnTo>
                  <a:pt x="109960" y="39704"/>
                </a:lnTo>
                <a:lnTo>
                  <a:pt x="164962" y="58052"/>
                </a:lnTo>
                <a:lnTo>
                  <a:pt x="164962" y="100722"/>
                </a:lnTo>
                <a:cubicBezTo>
                  <a:pt x="178282" y="85338"/>
                  <a:pt x="198048" y="75627"/>
                  <a:pt x="219963" y="75627"/>
                </a:cubicBezTo>
                <a:cubicBezTo>
                  <a:pt x="229674" y="75627"/>
                  <a:pt x="238956" y="77518"/>
                  <a:pt x="247464" y="80998"/>
                </a:cubicBezTo>
                <a:lnTo>
                  <a:pt x="247507" y="20626"/>
                </a:lnTo>
                <a:close/>
                <a:moveTo>
                  <a:pt x="220006" y="96253"/>
                </a:moveTo>
                <a:cubicBezTo>
                  <a:pt x="191517" y="96253"/>
                  <a:pt x="168442" y="118941"/>
                  <a:pt x="168442" y="146914"/>
                </a:cubicBezTo>
                <a:cubicBezTo>
                  <a:pt x="168442" y="176520"/>
                  <a:pt x="195986" y="211541"/>
                  <a:pt x="210810" y="228256"/>
                </a:cubicBezTo>
                <a:cubicBezTo>
                  <a:pt x="215795" y="233842"/>
                  <a:pt x="224260" y="233842"/>
                  <a:pt x="229245" y="228256"/>
                </a:cubicBezTo>
                <a:cubicBezTo>
                  <a:pt x="244069" y="211541"/>
                  <a:pt x="271613" y="176520"/>
                  <a:pt x="271613" y="146914"/>
                </a:cubicBezTo>
                <a:cubicBezTo>
                  <a:pt x="271613" y="118941"/>
                  <a:pt x="248538" y="96253"/>
                  <a:pt x="220049" y="96253"/>
                </a:cubicBezTo>
                <a:close/>
                <a:moveTo>
                  <a:pt x="202818" y="147817"/>
                </a:moveTo>
                <a:cubicBezTo>
                  <a:pt x="202818" y="138330"/>
                  <a:pt x="210520" y="130629"/>
                  <a:pt x="220006" y="130629"/>
                </a:cubicBezTo>
                <a:cubicBezTo>
                  <a:pt x="229492" y="130629"/>
                  <a:pt x="237194" y="138330"/>
                  <a:pt x="237194" y="147817"/>
                </a:cubicBezTo>
                <a:cubicBezTo>
                  <a:pt x="237194" y="157303"/>
                  <a:pt x="229492" y="165005"/>
                  <a:pt x="220006" y="165005"/>
                </a:cubicBezTo>
                <a:cubicBezTo>
                  <a:pt x="210520" y="165005"/>
                  <a:pt x="202818" y="157303"/>
                  <a:pt x="202818" y="14781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91611" y="1393371"/>
            <a:ext cx="119169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地理信息分析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601" y="1760048"/>
            <a:ext cx="5307645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发现城市功能区、识别热点区域、分析人口分布模式,为</a:t>
            </a:r>
            <a:r>
              <a:rPr lang="en-US" sz="115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城市规划、商业选址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提供数据支持。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6601" y="2346731"/>
            <a:ext cx="5234310" cy="623350"/>
          </a:xfrm>
          <a:custGeom>
            <a:avLst/>
            <a:gdLst/>
            <a:ahLst/>
            <a:cxnLst/>
            <a:rect l="l" t="t" r="r" b="b"/>
            <a:pathLst>
              <a:path w="5234310" h="623350">
                <a:moveTo>
                  <a:pt x="36665" y="0"/>
                </a:moveTo>
                <a:lnTo>
                  <a:pt x="5197644" y="0"/>
                </a:lnTo>
                <a:cubicBezTo>
                  <a:pt x="5217894" y="0"/>
                  <a:pt x="5234310" y="16416"/>
                  <a:pt x="5234310" y="36665"/>
                </a:cubicBezTo>
                <a:lnTo>
                  <a:pt x="5234310" y="586685"/>
                </a:lnTo>
                <a:cubicBezTo>
                  <a:pt x="5234310" y="606935"/>
                  <a:pt x="5217894" y="623350"/>
                  <a:pt x="5197644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16604" y="2456734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6604" y="2676740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能发现任意形状的地理聚集区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011" y="3336758"/>
            <a:ext cx="5619320" cy="1705047"/>
          </a:xfrm>
          <a:custGeom>
            <a:avLst/>
            <a:gdLst/>
            <a:ahLst/>
            <a:cxnLst/>
            <a:rect l="l" t="t" r="r" b="b"/>
            <a:pathLst>
              <a:path w="5619320" h="1705047">
                <a:moveTo>
                  <a:pt x="36668" y="0"/>
                </a:moveTo>
                <a:lnTo>
                  <a:pt x="5545986" y="0"/>
                </a:lnTo>
                <a:cubicBezTo>
                  <a:pt x="5586488" y="0"/>
                  <a:pt x="5619320" y="32833"/>
                  <a:pt x="5619320" y="73334"/>
                </a:cubicBezTo>
                <a:lnTo>
                  <a:pt x="5619320" y="1631713"/>
                </a:lnTo>
                <a:cubicBezTo>
                  <a:pt x="5619320" y="1672214"/>
                  <a:pt x="5586488" y="1705047"/>
                  <a:pt x="5545986" y="1705047"/>
                </a:cubicBezTo>
                <a:lnTo>
                  <a:pt x="36668" y="1705047"/>
                </a:lnTo>
                <a:cubicBezTo>
                  <a:pt x="16417" y="1705047"/>
                  <a:pt x="0" y="1688630"/>
                  <a:pt x="0" y="166837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85011" y="3336758"/>
            <a:ext cx="36668" cy="1705047"/>
          </a:xfrm>
          <a:custGeom>
            <a:avLst/>
            <a:gdLst/>
            <a:ahLst/>
            <a:cxnLst/>
            <a:rect l="l" t="t" r="r" b="b"/>
            <a:pathLst>
              <a:path w="36668" h="1705047">
                <a:moveTo>
                  <a:pt x="36668" y="0"/>
                </a:moveTo>
                <a:lnTo>
                  <a:pt x="36668" y="0"/>
                </a:lnTo>
                <a:lnTo>
                  <a:pt x="36668" y="1705047"/>
                </a:lnTo>
                <a:lnTo>
                  <a:pt x="36668" y="1705047"/>
                </a:lnTo>
                <a:cubicBezTo>
                  <a:pt x="16417" y="1705047"/>
                  <a:pt x="0" y="1688630"/>
                  <a:pt x="0" y="166837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27934" y="3538430"/>
            <a:ext cx="192505" cy="220006"/>
          </a:xfrm>
          <a:custGeom>
            <a:avLst/>
            <a:gdLst/>
            <a:ahLst/>
            <a:cxnLst/>
            <a:rect l="l" t="t" r="r" b="b"/>
            <a:pathLst>
              <a:path w="192505" h="220006">
                <a:moveTo>
                  <a:pt x="27501" y="13750"/>
                </a:moveTo>
                <a:cubicBezTo>
                  <a:pt x="12332" y="13750"/>
                  <a:pt x="0" y="26083"/>
                  <a:pt x="0" y="41251"/>
                </a:cubicBezTo>
                <a:lnTo>
                  <a:pt x="0" y="178755"/>
                </a:lnTo>
                <a:cubicBezTo>
                  <a:pt x="0" y="193923"/>
                  <a:pt x="12332" y="206256"/>
                  <a:pt x="27501" y="206256"/>
                </a:cubicBezTo>
                <a:lnTo>
                  <a:pt x="165005" y="206256"/>
                </a:lnTo>
                <a:cubicBezTo>
                  <a:pt x="180173" y="206256"/>
                  <a:pt x="192505" y="193923"/>
                  <a:pt x="192505" y="178755"/>
                </a:cubicBezTo>
                <a:lnTo>
                  <a:pt x="192505" y="41251"/>
                </a:lnTo>
                <a:cubicBezTo>
                  <a:pt x="192505" y="26083"/>
                  <a:pt x="180173" y="13750"/>
                  <a:pt x="165005" y="13750"/>
                </a:cubicBezTo>
                <a:lnTo>
                  <a:pt x="27501" y="13750"/>
                </a:lnTo>
                <a:close/>
                <a:moveTo>
                  <a:pt x="55002" y="48126"/>
                </a:moveTo>
                <a:cubicBezTo>
                  <a:pt x="66385" y="48126"/>
                  <a:pt x="75627" y="57368"/>
                  <a:pt x="75627" y="68752"/>
                </a:cubicBezTo>
                <a:cubicBezTo>
                  <a:pt x="75627" y="80135"/>
                  <a:pt x="66385" y="89377"/>
                  <a:pt x="55002" y="89377"/>
                </a:cubicBezTo>
                <a:cubicBezTo>
                  <a:pt x="43618" y="89377"/>
                  <a:pt x="34376" y="80135"/>
                  <a:pt x="34376" y="68752"/>
                </a:cubicBezTo>
                <a:cubicBezTo>
                  <a:pt x="34376" y="57368"/>
                  <a:pt x="43618" y="48126"/>
                  <a:pt x="55002" y="48126"/>
                </a:cubicBezTo>
                <a:close/>
                <a:moveTo>
                  <a:pt x="116878" y="96253"/>
                </a:moveTo>
                <a:cubicBezTo>
                  <a:pt x="120488" y="96253"/>
                  <a:pt x="123796" y="98143"/>
                  <a:pt x="125687" y="101194"/>
                </a:cubicBezTo>
                <a:lnTo>
                  <a:pt x="163501" y="163071"/>
                </a:lnTo>
                <a:cubicBezTo>
                  <a:pt x="165434" y="166251"/>
                  <a:pt x="165520" y="170247"/>
                  <a:pt x="163715" y="173513"/>
                </a:cubicBezTo>
                <a:cubicBezTo>
                  <a:pt x="161911" y="176778"/>
                  <a:pt x="158430" y="178755"/>
                  <a:pt x="154692" y="178755"/>
                </a:cubicBezTo>
                <a:lnTo>
                  <a:pt x="37814" y="178755"/>
                </a:lnTo>
                <a:cubicBezTo>
                  <a:pt x="33989" y="178755"/>
                  <a:pt x="30423" y="176606"/>
                  <a:pt x="28661" y="173212"/>
                </a:cubicBezTo>
                <a:cubicBezTo>
                  <a:pt x="26899" y="169817"/>
                  <a:pt x="27157" y="165692"/>
                  <a:pt x="29348" y="162555"/>
                </a:cubicBezTo>
                <a:lnTo>
                  <a:pt x="53412" y="128179"/>
                </a:lnTo>
                <a:cubicBezTo>
                  <a:pt x="55345" y="125429"/>
                  <a:pt x="58482" y="123796"/>
                  <a:pt x="61877" y="123796"/>
                </a:cubicBezTo>
                <a:cubicBezTo>
                  <a:pt x="65271" y="123796"/>
                  <a:pt x="68408" y="125429"/>
                  <a:pt x="70342" y="128179"/>
                </a:cubicBezTo>
                <a:lnTo>
                  <a:pt x="81686" y="144422"/>
                </a:lnTo>
                <a:lnTo>
                  <a:pt x="108069" y="101237"/>
                </a:lnTo>
                <a:cubicBezTo>
                  <a:pt x="109960" y="98186"/>
                  <a:pt x="113269" y="96296"/>
                  <a:pt x="116878" y="96296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1693" y="3520096"/>
            <a:ext cx="82502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图像处理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6683" y="3886773"/>
            <a:ext cx="5307645" cy="2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图像分割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将像素聚类形成区域; </a:t>
            </a:r>
            <a:r>
              <a:rPr lang="en-US" sz="115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物体检测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识别图像中的物体轮廓。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6683" y="4235116"/>
            <a:ext cx="5234310" cy="623350"/>
          </a:xfrm>
          <a:custGeom>
            <a:avLst/>
            <a:gdLst/>
            <a:ahLst/>
            <a:cxnLst/>
            <a:rect l="l" t="t" r="r" b="b"/>
            <a:pathLst>
              <a:path w="5234310" h="623350">
                <a:moveTo>
                  <a:pt x="36665" y="0"/>
                </a:moveTo>
                <a:lnTo>
                  <a:pt x="5197644" y="0"/>
                </a:lnTo>
                <a:cubicBezTo>
                  <a:pt x="5217894" y="0"/>
                  <a:pt x="5234310" y="16416"/>
                  <a:pt x="5234310" y="36665"/>
                </a:cubicBezTo>
                <a:lnTo>
                  <a:pt x="5234310" y="586685"/>
                </a:lnTo>
                <a:cubicBezTo>
                  <a:pt x="5234310" y="606935"/>
                  <a:pt x="5217894" y="623350"/>
                  <a:pt x="5197644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96686" y="4345119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6686" y="4565125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医学影像分析、卫星图像处理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4929" y="3336758"/>
            <a:ext cx="5619320" cy="1705047"/>
          </a:xfrm>
          <a:custGeom>
            <a:avLst/>
            <a:gdLst/>
            <a:ahLst/>
            <a:cxnLst/>
            <a:rect l="l" t="t" r="r" b="b"/>
            <a:pathLst>
              <a:path w="5619320" h="1705047">
                <a:moveTo>
                  <a:pt x="36668" y="0"/>
                </a:moveTo>
                <a:lnTo>
                  <a:pt x="5545986" y="0"/>
                </a:lnTo>
                <a:cubicBezTo>
                  <a:pt x="5586488" y="0"/>
                  <a:pt x="5619320" y="32833"/>
                  <a:pt x="5619320" y="73334"/>
                </a:cubicBezTo>
                <a:lnTo>
                  <a:pt x="5619320" y="1631713"/>
                </a:lnTo>
                <a:cubicBezTo>
                  <a:pt x="5619320" y="1672214"/>
                  <a:pt x="5586488" y="1705047"/>
                  <a:pt x="5545986" y="1705047"/>
                </a:cubicBezTo>
                <a:lnTo>
                  <a:pt x="36668" y="1705047"/>
                </a:lnTo>
                <a:cubicBezTo>
                  <a:pt x="16417" y="1705047"/>
                  <a:pt x="0" y="1688630"/>
                  <a:pt x="0" y="166837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204929" y="3336758"/>
            <a:ext cx="36668" cy="1705047"/>
          </a:xfrm>
          <a:custGeom>
            <a:avLst/>
            <a:gdLst/>
            <a:ahLst/>
            <a:cxnLst/>
            <a:rect l="l" t="t" r="r" b="b"/>
            <a:pathLst>
              <a:path w="36668" h="1705047">
                <a:moveTo>
                  <a:pt x="36668" y="0"/>
                </a:moveTo>
                <a:lnTo>
                  <a:pt x="36668" y="0"/>
                </a:lnTo>
                <a:lnTo>
                  <a:pt x="36668" y="1705047"/>
                </a:lnTo>
                <a:lnTo>
                  <a:pt x="36668" y="1705047"/>
                </a:lnTo>
                <a:cubicBezTo>
                  <a:pt x="16417" y="1705047"/>
                  <a:pt x="0" y="1688630"/>
                  <a:pt x="0" y="166837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06601" y="3538430"/>
            <a:ext cx="275008" cy="220006"/>
          </a:xfrm>
          <a:custGeom>
            <a:avLst/>
            <a:gdLst/>
            <a:ahLst/>
            <a:cxnLst/>
            <a:rect l="l" t="t" r="r" b="b"/>
            <a:pathLst>
              <a:path w="275008" h="220006">
                <a:moveTo>
                  <a:pt x="10313" y="-6875"/>
                </a:moveTo>
                <a:cubicBezTo>
                  <a:pt x="4598" y="-6875"/>
                  <a:pt x="0" y="-2277"/>
                  <a:pt x="0" y="3438"/>
                </a:cubicBezTo>
                <a:cubicBezTo>
                  <a:pt x="0" y="9153"/>
                  <a:pt x="4598" y="13750"/>
                  <a:pt x="10313" y="13750"/>
                </a:cubicBezTo>
                <a:lnTo>
                  <a:pt x="29778" y="13750"/>
                </a:lnTo>
                <a:cubicBezTo>
                  <a:pt x="31454" y="13750"/>
                  <a:pt x="32872" y="14954"/>
                  <a:pt x="33173" y="16586"/>
                </a:cubicBezTo>
                <a:lnTo>
                  <a:pt x="55560" y="139609"/>
                </a:lnTo>
                <a:cubicBezTo>
                  <a:pt x="58224" y="154305"/>
                  <a:pt x="71029" y="165005"/>
                  <a:pt x="85983" y="165005"/>
                </a:cubicBezTo>
                <a:lnTo>
                  <a:pt x="195943" y="165005"/>
                </a:lnTo>
                <a:cubicBezTo>
                  <a:pt x="201658" y="165005"/>
                  <a:pt x="206256" y="160407"/>
                  <a:pt x="206256" y="154692"/>
                </a:cubicBezTo>
                <a:cubicBezTo>
                  <a:pt x="206256" y="148977"/>
                  <a:pt x="201658" y="144379"/>
                  <a:pt x="195943" y="144379"/>
                </a:cubicBezTo>
                <a:lnTo>
                  <a:pt x="85983" y="144379"/>
                </a:lnTo>
                <a:cubicBezTo>
                  <a:pt x="80998" y="144379"/>
                  <a:pt x="76744" y="140812"/>
                  <a:pt x="75842" y="135914"/>
                </a:cubicBezTo>
                <a:lnTo>
                  <a:pt x="73650" y="123753"/>
                </a:lnTo>
                <a:lnTo>
                  <a:pt x="204107" y="123753"/>
                </a:lnTo>
                <a:cubicBezTo>
                  <a:pt x="217342" y="123753"/>
                  <a:pt x="228686" y="114343"/>
                  <a:pt x="231135" y="101323"/>
                </a:cubicBezTo>
                <a:lnTo>
                  <a:pt x="244456" y="30036"/>
                </a:lnTo>
                <a:cubicBezTo>
                  <a:pt x="246046" y="21571"/>
                  <a:pt x="239557" y="13750"/>
                  <a:pt x="230920" y="13750"/>
                </a:cubicBezTo>
                <a:lnTo>
                  <a:pt x="53583" y="13750"/>
                </a:lnTo>
                <a:lnTo>
                  <a:pt x="53412" y="12891"/>
                </a:lnTo>
                <a:cubicBezTo>
                  <a:pt x="51349" y="1461"/>
                  <a:pt x="41380" y="-6875"/>
                  <a:pt x="29735" y="-6875"/>
                </a:cubicBezTo>
                <a:lnTo>
                  <a:pt x="10313" y="-6875"/>
                </a:lnTo>
                <a:close/>
                <a:moveTo>
                  <a:pt x="89377" y="220006"/>
                </a:moveTo>
                <a:cubicBezTo>
                  <a:pt x="100761" y="220006"/>
                  <a:pt x="110003" y="210764"/>
                  <a:pt x="110003" y="199380"/>
                </a:cubicBezTo>
                <a:cubicBezTo>
                  <a:pt x="110003" y="187997"/>
                  <a:pt x="100761" y="178755"/>
                  <a:pt x="89377" y="178755"/>
                </a:cubicBezTo>
                <a:cubicBezTo>
                  <a:pt x="77994" y="178755"/>
                  <a:pt x="68752" y="187997"/>
                  <a:pt x="68752" y="199380"/>
                </a:cubicBezTo>
                <a:cubicBezTo>
                  <a:pt x="68752" y="210764"/>
                  <a:pt x="77994" y="220006"/>
                  <a:pt x="89377" y="220006"/>
                </a:cubicBezTo>
                <a:close/>
                <a:moveTo>
                  <a:pt x="185630" y="220006"/>
                </a:moveTo>
                <a:cubicBezTo>
                  <a:pt x="197014" y="220006"/>
                  <a:pt x="206256" y="210764"/>
                  <a:pt x="206256" y="199380"/>
                </a:cubicBezTo>
                <a:cubicBezTo>
                  <a:pt x="206256" y="187997"/>
                  <a:pt x="197014" y="178755"/>
                  <a:pt x="185630" y="178755"/>
                </a:cubicBezTo>
                <a:cubicBezTo>
                  <a:pt x="174247" y="178755"/>
                  <a:pt x="165005" y="187997"/>
                  <a:pt x="165005" y="199380"/>
                </a:cubicBezTo>
                <a:cubicBezTo>
                  <a:pt x="165005" y="210764"/>
                  <a:pt x="174247" y="220006"/>
                  <a:pt x="185630" y="220006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791611" y="3520096"/>
            <a:ext cx="82502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推荐系统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6601" y="3886773"/>
            <a:ext cx="5307645" cy="2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识别</a:t>
            </a:r>
            <a:r>
              <a:rPr lang="en-US" sz="115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用户群体模式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,发现相似用户群,实现个性化推荐和精准营销。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6601" y="4235116"/>
            <a:ext cx="5234310" cy="623350"/>
          </a:xfrm>
          <a:custGeom>
            <a:avLst/>
            <a:gdLst/>
            <a:ahLst/>
            <a:cxnLst/>
            <a:rect l="l" t="t" r="r" b="b"/>
            <a:pathLst>
              <a:path w="5234310" h="623350">
                <a:moveTo>
                  <a:pt x="36665" y="0"/>
                </a:moveTo>
                <a:lnTo>
                  <a:pt x="5197644" y="0"/>
                </a:lnTo>
                <a:cubicBezTo>
                  <a:pt x="5217894" y="0"/>
                  <a:pt x="5234310" y="16416"/>
                  <a:pt x="5234310" y="36665"/>
                </a:cubicBezTo>
                <a:lnTo>
                  <a:pt x="5234310" y="586685"/>
                </a:lnTo>
                <a:cubicBezTo>
                  <a:pt x="5234310" y="606935"/>
                  <a:pt x="5217894" y="623350"/>
                  <a:pt x="5197644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516604" y="4345119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6604" y="4565125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用户-物品矩阵降维后聚类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1260" y="5193059"/>
            <a:ext cx="11449480" cy="1292535"/>
          </a:xfrm>
          <a:custGeom>
            <a:avLst/>
            <a:gdLst/>
            <a:ahLst/>
            <a:cxnLst/>
            <a:rect l="l" t="t" r="r" b="b"/>
            <a:pathLst>
              <a:path w="11449480" h="1292535">
                <a:moveTo>
                  <a:pt x="73338" y="0"/>
                </a:moveTo>
                <a:lnTo>
                  <a:pt x="11376141" y="0"/>
                </a:lnTo>
                <a:cubicBezTo>
                  <a:pt x="11416645" y="0"/>
                  <a:pt x="11449480" y="32835"/>
                  <a:pt x="11449480" y="73338"/>
                </a:cubicBezTo>
                <a:lnTo>
                  <a:pt x="11449480" y="1219197"/>
                </a:lnTo>
                <a:cubicBezTo>
                  <a:pt x="11449480" y="1259701"/>
                  <a:pt x="11416645" y="1292535"/>
                  <a:pt x="11376141" y="1292535"/>
                </a:cubicBezTo>
                <a:lnTo>
                  <a:pt x="73338" y="1292535"/>
                </a:lnTo>
                <a:cubicBezTo>
                  <a:pt x="32835" y="1292535"/>
                  <a:pt x="0" y="1259701"/>
                  <a:pt x="0" y="1219197"/>
                </a:cubicBezTo>
                <a:lnTo>
                  <a:pt x="0" y="73338"/>
                </a:lnTo>
                <a:cubicBezTo>
                  <a:pt x="0" y="32862"/>
                  <a:pt x="32862" y="0"/>
                  <a:pt x="73338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59182" y="5380980"/>
            <a:ext cx="1116530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高维数据处理策略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9182" y="5747657"/>
            <a:ext cx="552765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9182" y="6077666"/>
            <a:ext cx="551848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随着维度增加,距离度量逐渐失效(维数灾难),DBSCAN效果下降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86595" y="5747657"/>
            <a:ext cx="552765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6595" y="6077666"/>
            <a:ext cx="551848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先降维再聚类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使用</a:t>
            </a:r>
            <a:r>
              <a:rPr lang="en-US" sz="115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PCA、t-SNE、UMAP</a:t>
            </a:r>
            <a:r>
              <a:rPr lang="en-US" sz="115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等降维方法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1050131"/>
            <a:ext cx="1952625" cy="533400"/>
          </a:xfrm>
          <a:custGeom>
            <a:avLst/>
            <a:gdLst/>
            <a:ahLst/>
            <a:cxnLst/>
            <a:rect l="l" t="t" r="r" b="b"/>
            <a:pathLst>
              <a:path w="1952625" h="533400">
                <a:moveTo>
                  <a:pt x="0" y="0"/>
                </a:moveTo>
                <a:lnTo>
                  <a:pt x="1952625" y="0"/>
                </a:lnTo>
                <a:lnTo>
                  <a:pt x="19526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99A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00050" y="105013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7700" y="1164431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88331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9076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构建数据的层级结构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深入理解数据的亲疏关系与分类体系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5298281"/>
            <a:ext cx="1152525" cy="504825"/>
          </a:xfrm>
          <a:custGeom>
            <a:avLst/>
            <a:gdLst/>
            <a:ahLst/>
            <a:cxnLst/>
            <a:rect l="l" t="t" r="r" b="b"/>
            <a:pathLst>
              <a:path w="1152525" h="504825">
                <a:moveTo>
                  <a:pt x="76198" y="0"/>
                </a:moveTo>
                <a:lnTo>
                  <a:pt x="1076327" y="0"/>
                </a:lnTo>
                <a:cubicBezTo>
                  <a:pt x="1118410" y="0"/>
                  <a:pt x="1152525" y="34115"/>
                  <a:pt x="1152525" y="76198"/>
                </a:cubicBezTo>
                <a:lnTo>
                  <a:pt x="1152525" y="428627"/>
                </a:lnTo>
                <a:cubicBezTo>
                  <a:pt x="1152525" y="470710"/>
                  <a:pt x="1118410" y="504825"/>
                  <a:pt x="107632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19125" y="5436394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凝聚分裂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76413" y="5298281"/>
            <a:ext cx="1152525" cy="504825"/>
          </a:xfrm>
          <a:custGeom>
            <a:avLst/>
            <a:gdLst/>
            <a:ahLst/>
            <a:cxnLst/>
            <a:rect l="l" t="t" r="r" b="b"/>
            <a:pathLst>
              <a:path w="1152525" h="504825">
                <a:moveTo>
                  <a:pt x="76198" y="0"/>
                </a:moveTo>
                <a:lnTo>
                  <a:pt x="1076327" y="0"/>
                </a:lnTo>
                <a:cubicBezTo>
                  <a:pt x="1118410" y="0"/>
                  <a:pt x="1152525" y="34115"/>
                  <a:pt x="1152525" y="76198"/>
                </a:cubicBezTo>
                <a:lnTo>
                  <a:pt x="1152525" y="428627"/>
                </a:lnTo>
                <a:cubicBezTo>
                  <a:pt x="1152525" y="470710"/>
                  <a:pt x="1118410" y="504825"/>
                  <a:pt x="107632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 w="12700">
            <a:solidFill>
              <a:srgbClr val="C7A67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2009775" y="5436394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链接方式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67063" y="5298281"/>
            <a:ext cx="1323975" cy="504825"/>
          </a:xfrm>
          <a:custGeom>
            <a:avLst/>
            <a:gdLst/>
            <a:ahLst/>
            <a:cxnLst/>
            <a:rect l="l" t="t" r="r" b="b"/>
            <a:pathLst>
              <a:path w="1323975" h="504825">
                <a:moveTo>
                  <a:pt x="76198" y="0"/>
                </a:moveTo>
                <a:lnTo>
                  <a:pt x="1247777" y="0"/>
                </a:lnTo>
                <a:cubicBezTo>
                  <a:pt x="1289860" y="0"/>
                  <a:pt x="1323975" y="34115"/>
                  <a:pt x="1323975" y="76198"/>
                </a:cubicBezTo>
                <a:lnTo>
                  <a:pt x="1323975" y="428627"/>
                </a:lnTo>
                <a:cubicBezTo>
                  <a:pt x="1323975" y="470710"/>
                  <a:pt x="1289860" y="504825"/>
                  <a:pt x="124777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12700">
            <a:solidFill>
              <a:srgbClr val="A99A8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400425" y="5436394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树状图分析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CLUSTERING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层次聚类概述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11541125" cy="1539875"/>
          </a:xfrm>
          <a:custGeom>
            <a:avLst/>
            <a:gdLst/>
            <a:ahLst/>
            <a:cxnLst/>
            <a:rect l="l" t="t" r="r" b="b"/>
            <a:pathLst>
              <a:path w="11541125" h="1539875">
                <a:moveTo>
                  <a:pt x="31750" y="0"/>
                </a:moveTo>
                <a:lnTo>
                  <a:pt x="11477621" y="0"/>
                </a:lnTo>
                <a:cubicBezTo>
                  <a:pt x="11512693" y="0"/>
                  <a:pt x="11541125" y="28432"/>
                  <a:pt x="11541125" y="63504"/>
                </a:cubicBezTo>
                <a:lnTo>
                  <a:pt x="11541125" y="1476371"/>
                </a:lnTo>
                <a:cubicBezTo>
                  <a:pt x="11541125" y="1511443"/>
                  <a:pt x="11512693" y="1539875"/>
                  <a:pt x="11477621" y="1539875"/>
                </a:cubicBezTo>
                <a:lnTo>
                  <a:pt x="31750" y="1539875"/>
                </a:lnTo>
                <a:cubicBezTo>
                  <a:pt x="14215" y="1539875"/>
                  <a:pt x="0" y="1525660"/>
                  <a:pt x="0" y="1508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1539875"/>
          </a:xfrm>
          <a:custGeom>
            <a:avLst/>
            <a:gdLst/>
            <a:ahLst/>
            <a:cxnLst/>
            <a:rect l="l" t="t" r="r" b="b"/>
            <a:pathLst>
              <a:path w="31750" h="1539875">
                <a:moveTo>
                  <a:pt x="31750" y="0"/>
                </a:moveTo>
                <a:lnTo>
                  <a:pt x="31750" y="0"/>
                </a:lnTo>
                <a:lnTo>
                  <a:pt x="31750" y="1539875"/>
                </a:lnTo>
                <a:lnTo>
                  <a:pt x="31750" y="1539875"/>
                </a:lnTo>
                <a:cubicBezTo>
                  <a:pt x="14227" y="1539875"/>
                  <a:pt x="0" y="1525648"/>
                  <a:pt x="0" y="1508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206500"/>
            <a:ext cx="1130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基本思想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555750"/>
            <a:ext cx="1127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通过构建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树形结构(</a:t>
            </a:r>
            <a:r>
              <a:rPr lang="en-US" sz="100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Dendrogram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来表示数据的层次关系,类似"家族树"。</a:t>
            </a: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无需预设</a:t>
            </a:r>
            <a:r>
              <a:rPr lang="en-US" sz="1000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值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,可通过切割树状图决定簇数,结果具有极佳的可解释性。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857375"/>
            <a:ext cx="5556250" cy="571500"/>
          </a:xfrm>
          <a:custGeom>
            <a:avLst/>
            <a:gdLst/>
            <a:ahLst/>
            <a:cxnLst/>
            <a:rect l="l" t="t" r="r" b="b"/>
            <a:pathLst>
              <a:path w="5556250" h="571500">
                <a:moveTo>
                  <a:pt x="31753" y="0"/>
                </a:moveTo>
                <a:lnTo>
                  <a:pt x="5524497" y="0"/>
                </a:lnTo>
                <a:cubicBezTo>
                  <a:pt x="5542034" y="0"/>
                  <a:pt x="5556250" y="14216"/>
                  <a:pt x="5556250" y="31753"/>
                </a:cubicBezTo>
                <a:lnTo>
                  <a:pt x="5556250" y="539747"/>
                </a:lnTo>
                <a:cubicBezTo>
                  <a:pt x="5556250" y="557284"/>
                  <a:pt x="5542034" y="571500"/>
                  <a:pt x="55244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250" y="195262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凝聚法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2174875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自底向上,从每个样本出发逐步合并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9500" y="1857375"/>
            <a:ext cx="5556250" cy="571500"/>
          </a:xfrm>
          <a:custGeom>
            <a:avLst/>
            <a:gdLst/>
            <a:ahLst/>
            <a:cxnLst/>
            <a:rect l="l" t="t" r="r" b="b"/>
            <a:pathLst>
              <a:path w="5556250" h="571500">
                <a:moveTo>
                  <a:pt x="31753" y="0"/>
                </a:moveTo>
                <a:lnTo>
                  <a:pt x="5524497" y="0"/>
                </a:lnTo>
                <a:cubicBezTo>
                  <a:pt x="5542034" y="0"/>
                  <a:pt x="5556250" y="14216"/>
                  <a:pt x="5556250" y="31753"/>
                </a:cubicBezTo>
                <a:lnTo>
                  <a:pt x="5556250" y="539747"/>
                </a:lnTo>
                <a:cubicBezTo>
                  <a:pt x="5556250" y="557284"/>
                  <a:pt x="5542034" y="571500"/>
                  <a:pt x="55244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54750" y="195262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分裂法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54750" y="2174875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自顶向下,从所有样本开始递归分裂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75" y="2714625"/>
            <a:ext cx="5683250" cy="2286000"/>
          </a:xfrm>
          <a:custGeom>
            <a:avLst/>
            <a:gdLst/>
            <a:ahLst/>
            <a:cxnLst/>
            <a:rect l="l" t="t" r="r" b="b"/>
            <a:pathLst>
              <a:path w="5683250" h="2286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2222495"/>
                </a:lnTo>
                <a:cubicBezTo>
                  <a:pt x="5683250" y="2257568"/>
                  <a:pt x="5654818" y="2286000"/>
                  <a:pt x="5619745" y="2286000"/>
                </a:cubicBezTo>
                <a:lnTo>
                  <a:pt x="31750" y="2286000"/>
                </a:lnTo>
                <a:cubicBezTo>
                  <a:pt x="14227" y="2286000"/>
                  <a:pt x="0" y="2271773"/>
                  <a:pt x="0" y="225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33375" y="2714625"/>
            <a:ext cx="31750" cy="2286000"/>
          </a:xfrm>
          <a:custGeom>
            <a:avLst/>
            <a:gdLst/>
            <a:ahLst/>
            <a:cxnLst/>
            <a:rect l="l" t="t" r="r" b="b"/>
            <a:pathLst>
              <a:path w="31750" h="2286000">
                <a:moveTo>
                  <a:pt x="31750" y="0"/>
                </a:moveTo>
                <a:lnTo>
                  <a:pt x="31750" y="0"/>
                </a:lnTo>
                <a:lnTo>
                  <a:pt x="31750" y="2286000"/>
                </a:lnTo>
                <a:lnTo>
                  <a:pt x="31750" y="2286000"/>
                </a:lnTo>
                <a:cubicBezTo>
                  <a:pt x="14227" y="2286000"/>
                  <a:pt x="0" y="2271773"/>
                  <a:pt x="0" y="225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8000" y="2873375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凝聚法 (</a:t>
            </a: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Agglomerative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8000" y="3190875"/>
            <a:ext cx="5413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采用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自下而上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的策略,核心思想是"由点及面":从每个样本出发,逐步将相似的样本或簇进行合并。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49250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3250" y="35877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视角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" y="3778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局部视角: 只关注最近的两个点/簇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095750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03250" y="41910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" y="43815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AGNES, BIRCH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1250" y="2714625"/>
            <a:ext cx="5683250" cy="2286000"/>
          </a:xfrm>
          <a:custGeom>
            <a:avLst/>
            <a:gdLst/>
            <a:ahLst/>
            <a:cxnLst/>
            <a:rect l="l" t="t" r="r" b="b"/>
            <a:pathLst>
              <a:path w="5683250" h="2286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2222495"/>
                </a:lnTo>
                <a:cubicBezTo>
                  <a:pt x="5683250" y="2257568"/>
                  <a:pt x="5654818" y="2286000"/>
                  <a:pt x="5619745" y="2286000"/>
                </a:cubicBezTo>
                <a:lnTo>
                  <a:pt x="31750" y="2286000"/>
                </a:lnTo>
                <a:cubicBezTo>
                  <a:pt x="14227" y="2286000"/>
                  <a:pt x="0" y="2271773"/>
                  <a:pt x="0" y="225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191250" y="2714625"/>
            <a:ext cx="31750" cy="2286000"/>
          </a:xfrm>
          <a:custGeom>
            <a:avLst/>
            <a:gdLst/>
            <a:ahLst/>
            <a:cxnLst/>
            <a:rect l="l" t="t" r="r" b="b"/>
            <a:pathLst>
              <a:path w="31750" h="2286000">
                <a:moveTo>
                  <a:pt x="31750" y="0"/>
                </a:moveTo>
                <a:lnTo>
                  <a:pt x="31750" y="0"/>
                </a:lnTo>
                <a:lnTo>
                  <a:pt x="31750" y="2286000"/>
                </a:lnTo>
                <a:lnTo>
                  <a:pt x="31750" y="2286000"/>
                </a:lnTo>
                <a:cubicBezTo>
                  <a:pt x="14227" y="2286000"/>
                  <a:pt x="0" y="2271773"/>
                  <a:pt x="0" y="225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65875" y="2873375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分裂法 (</a:t>
            </a: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Divisive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5875" y="3190875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采用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自上而下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的策略,类似"细胞分裂":初始时将所有样本视为一个大簇,然后通过不断细分来揭示数据的内部结构。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5875" y="369887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61125" y="37941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视角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1125" y="39846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全局视角: 一开始看到所有数据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5875" y="4302125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31748" y="0"/>
                </a:moveTo>
                <a:lnTo>
                  <a:pt x="5318127" y="0"/>
                </a:lnTo>
                <a:cubicBezTo>
                  <a:pt x="5335661" y="0"/>
                  <a:pt x="5349875" y="14214"/>
                  <a:pt x="5349875" y="31748"/>
                </a:cubicBezTo>
                <a:lnTo>
                  <a:pt x="5349875" y="508002"/>
                </a:lnTo>
                <a:cubicBezTo>
                  <a:pt x="5349875" y="525536"/>
                  <a:pt x="5335661" y="539750"/>
                  <a:pt x="531812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61125" y="43973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1125" y="45878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DIANA, Bisecting 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1469" y="5131594"/>
            <a:ext cx="11549063" cy="1516063"/>
          </a:xfrm>
          <a:custGeom>
            <a:avLst/>
            <a:gdLst/>
            <a:ahLst/>
            <a:cxnLst/>
            <a:rect l="l" t="t" r="r" b="b"/>
            <a:pathLst>
              <a:path w="11549063" h="1516063">
                <a:moveTo>
                  <a:pt x="63493" y="0"/>
                </a:moveTo>
                <a:lnTo>
                  <a:pt x="11485570" y="0"/>
                </a:lnTo>
                <a:cubicBezTo>
                  <a:pt x="11520636" y="0"/>
                  <a:pt x="11549063" y="28427"/>
                  <a:pt x="11549063" y="63493"/>
                </a:cubicBezTo>
                <a:lnTo>
                  <a:pt x="11549063" y="1452570"/>
                </a:lnTo>
                <a:cubicBezTo>
                  <a:pt x="11549063" y="1487636"/>
                  <a:pt x="11520636" y="1516062"/>
                  <a:pt x="11485570" y="1516063"/>
                </a:cubicBezTo>
                <a:lnTo>
                  <a:pt x="63493" y="1516063"/>
                </a:lnTo>
                <a:cubicBezTo>
                  <a:pt x="28427" y="1516063"/>
                  <a:pt x="0" y="1487636"/>
                  <a:pt x="0" y="1452570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84187" y="5294313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187" y="5611813"/>
            <a:ext cx="3659187" cy="873125"/>
          </a:xfrm>
          <a:custGeom>
            <a:avLst/>
            <a:gdLst/>
            <a:ahLst/>
            <a:cxnLst/>
            <a:rect l="l" t="t" r="r" b="b"/>
            <a:pathLst>
              <a:path w="3659187" h="873125">
                <a:moveTo>
                  <a:pt x="31747" y="0"/>
                </a:moveTo>
                <a:lnTo>
                  <a:pt x="3627441" y="0"/>
                </a:lnTo>
                <a:cubicBezTo>
                  <a:pt x="3644974" y="0"/>
                  <a:pt x="3659188" y="14214"/>
                  <a:pt x="3659188" y="31747"/>
                </a:cubicBezTo>
                <a:lnTo>
                  <a:pt x="3659187" y="841378"/>
                </a:lnTo>
                <a:cubicBezTo>
                  <a:pt x="3659188" y="858911"/>
                  <a:pt x="3644974" y="873125"/>
                  <a:pt x="3627441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195339" y="570706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37207"/>
                </a:moveTo>
                <a:cubicBezTo>
                  <a:pt x="0" y="24882"/>
                  <a:pt x="9999" y="14883"/>
                  <a:pt x="22324" y="14883"/>
                </a:cubicBezTo>
                <a:lnTo>
                  <a:pt x="66973" y="14883"/>
                </a:lnTo>
                <a:cubicBezTo>
                  <a:pt x="79297" y="14883"/>
                  <a:pt x="89297" y="24882"/>
                  <a:pt x="89297" y="37207"/>
                </a:cubicBezTo>
                <a:lnTo>
                  <a:pt x="89297" y="44648"/>
                </a:lnTo>
                <a:lnTo>
                  <a:pt x="148828" y="44648"/>
                </a:lnTo>
                <a:lnTo>
                  <a:pt x="148828" y="37207"/>
                </a:lnTo>
                <a:cubicBezTo>
                  <a:pt x="148828" y="24882"/>
                  <a:pt x="158828" y="14883"/>
                  <a:pt x="171152" y="14883"/>
                </a:cubicBezTo>
                <a:lnTo>
                  <a:pt x="215801" y="14883"/>
                </a:lnTo>
                <a:cubicBezTo>
                  <a:pt x="228126" y="14883"/>
                  <a:pt x="238125" y="24882"/>
                  <a:pt x="238125" y="37207"/>
                </a:cubicBezTo>
                <a:lnTo>
                  <a:pt x="238125" y="81855"/>
                </a:lnTo>
                <a:cubicBezTo>
                  <a:pt x="238125" y="94180"/>
                  <a:pt x="228126" y="104180"/>
                  <a:pt x="215801" y="104180"/>
                </a:cubicBezTo>
                <a:lnTo>
                  <a:pt x="171152" y="104180"/>
                </a:lnTo>
                <a:cubicBezTo>
                  <a:pt x="158828" y="104180"/>
                  <a:pt x="148828" y="94180"/>
                  <a:pt x="148828" y="81855"/>
                </a:cubicBezTo>
                <a:lnTo>
                  <a:pt x="148828" y="74414"/>
                </a:lnTo>
                <a:lnTo>
                  <a:pt x="89297" y="74414"/>
                </a:lnTo>
                <a:lnTo>
                  <a:pt x="89297" y="81855"/>
                </a:lnTo>
                <a:cubicBezTo>
                  <a:pt x="89297" y="85251"/>
                  <a:pt x="88506" y="88506"/>
                  <a:pt x="87157" y="91390"/>
                </a:cubicBezTo>
                <a:lnTo>
                  <a:pt x="119062" y="133945"/>
                </a:lnTo>
                <a:lnTo>
                  <a:pt x="156270" y="133945"/>
                </a:lnTo>
                <a:cubicBezTo>
                  <a:pt x="168594" y="133945"/>
                  <a:pt x="178594" y="143945"/>
                  <a:pt x="178594" y="156270"/>
                </a:cubicBezTo>
                <a:lnTo>
                  <a:pt x="178594" y="200918"/>
                </a:lnTo>
                <a:cubicBezTo>
                  <a:pt x="178594" y="213243"/>
                  <a:pt x="168594" y="223242"/>
                  <a:pt x="156270" y="223242"/>
                </a:cubicBezTo>
                <a:lnTo>
                  <a:pt x="111621" y="223242"/>
                </a:lnTo>
                <a:cubicBezTo>
                  <a:pt x="99296" y="223242"/>
                  <a:pt x="89297" y="213243"/>
                  <a:pt x="89297" y="200918"/>
                </a:cubicBezTo>
                <a:lnTo>
                  <a:pt x="89297" y="156270"/>
                </a:lnTo>
                <a:cubicBezTo>
                  <a:pt x="89297" y="152874"/>
                  <a:pt x="90088" y="149619"/>
                  <a:pt x="91436" y="146735"/>
                </a:cubicBezTo>
                <a:lnTo>
                  <a:pt x="59531" y="104180"/>
                </a:lnTo>
                <a:lnTo>
                  <a:pt x="22324" y="104180"/>
                </a:lnTo>
                <a:cubicBezTo>
                  <a:pt x="9999" y="104180"/>
                  <a:pt x="0" y="94180"/>
                  <a:pt x="0" y="81855"/>
                </a:cubicBezTo>
                <a:lnTo>
                  <a:pt x="0" y="37207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47688" y="6008688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多粒度聚类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1656" y="6230938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提供不同层次的聚类结果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67708" y="5611813"/>
            <a:ext cx="3659187" cy="873125"/>
          </a:xfrm>
          <a:custGeom>
            <a:avLst/>
            <a:gdLst/>
            <a:ahLst/>
            <a:cxnLst/>
            <a:rect l="l" t="t" r="r" b="b"/>
            <a:pathLst>
              <a:path w="3659187" h="873125">
                <a:moveTo>
                  <a:pt x="31747" y="0"/>
                </a:moveTo>
                <a:lnTo>
                  <a:pt x="3627441" y="0"/>
                </a:lnTo>
                <a:cubicBezTo>
                  <a:pt x="3644974" y="0"/>
                  <a:pt x="3659188" y="14214"/>
                  <a:pt x="3659188" y="31747"/>
                </a:cubicBezTo>
                <a:lnTo>
                  <a:pt x="3659187" y="841378"/>
                </a:lnTo>
                <a:cubicBezTo>
                  <a:pt x="3659188" y="858911"/>
                  <a:pt x="3644974" y="873125"/>
                  <a:pt x="3627441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963977" y="570706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33945" y="14883"/>
                </a:moveTo>
                <a:cubicBezTo>
                  <a:pt x="96366" y="14883"/>
                  <a:pt x="66275" y="31998"/>
                  <a:pt x="44369" y="52369"/>
                </a:cubicBezTo>
                <a:cubicBezTo>
                  <a:pt x="22603" y="72600"/>
                  <a:pt x="8046" y="96738"/>
                  <a:pt x="1116" y="113342"/>
                </a:cubicBezTo>
                <a:cubicBezTo>
                  <a:pt x="-419" y="117016"/>
                  <a:pt x="-419" y="121109"/>
                  <a:pt x="1116" y="124783"/>
                </a:cubicBezTo>
                <a:cubicBezTo>
                  <a:pt x="8046" y="141387"/>
                  <a:pt x="22603" y="165571"/>
                  <a:pt x="44369" y="185756"/>
                </a:cubicBezTo>
                <a:cubicBezTo>
                  <a:pt x="66275" y="206080"/>
                  <a:pt x="96366" y="223242"/>
                  <a:pt x="133945" y="223242"/>
                </a:cubicBezTo>
                <a:cubicBezTo>
                  <a:pt x="171524" y="223242"/>
                  <a:pt x="201616" y="206127"/>
                  <a:pt x="223521" y="185756"/>
                </a:cubicBezTo>
                <a:cubicBezTo>
                  <a:pt x="245287" y="165525"/>
                  <a:pt x="259845" y="141387"/>
                  <a:pt x="266774" y="124783"/>
                </a:cubicBezTo>
                <a:cubicBezTo>
                  <a:pt x="268309" y="121109"/>
                  <a:pt x="268309" y="117016"/>
                  <a:pt x="266774" y="113342"/>
                </a:cubicBezTo>
                <a:cubicBezTo>
                  <a:pt x="259845" y="96738"/>
                  <a:pt x="245287" y="72554"/>
                  <a:pt x="223521" y="52369"/>
                </a:cubicBezTo>
                <a:cubicBezTo>
                  <a:pt x="201616" y="32045"/>
                  <a:pt x="171524" y="14883"/>
                  <a:pt x="133945" y="14883"/>
                </a:cubicBezTo>
                <a:close/>
                <a:moveTo>
                  <a:pt x="66973" y="119062"/>
                </a:moveTo>
                <a:cubicBezTo>
                  <a:pt x="66973" y="82099"/>
                  <a:pt x="96982" y="52090"/>
                  <a:pt x="133945" y="52090"/>
                </a:cubicBezTo>
                <a:cubicBezTo>
                  <a:pt x="170909" y="52090"/>
                  <a:pt x="200918" y="82099"/>
                  <a:pt x="200918" y="119062"/>
                </a:cubicBezTo>
                <a:cubicBezTo>
                  <a:pt x="200918" y="156026"/>
                  <a:pt x="170909" y="186035"/>
                  <a:pt x="133945" y="186035"/>
                </a:cubicBezTo>
                <a:cubicBezTo>
                  <a:pt x="96982" y="186035"/>
                  <a:pt x="66973" y="156026"/>
                  <a:pt x="66973" y="119062"/>
                </a:cubicBezTo>
                <a:close/>
                <a:moveTo>
                  <a:pt x="133945" y="89297"/>
                </a:moveTo>
                <a:cubicBezTo>
                  <a:pt x="133945" y="105714"/>
                  <a:pt x="120597" y="119062"/>
                  <a:pt x="104180" y="119062"/>
                </a:cubicBezTo>
                <a:cubicBezTo>
                  <a:pt x="98831" y="119062"/>
                  <a:pt x="93808" y="117667"/>
                  <a:pt x="89436" y="115156"/>
                </a:cubicBezTo>
                <a:cubicBezTo>
                  <a:pt x="88971" y="120225"/>
                  <a:pt x="89390" y="125434"/>
                  <a:pt x="90785" y="130597"/>
                </a:cubicBezTo>
                <a:cubicBezTo>
                  <a:pt x="97157" y="154409"/>
                  <a:pt x="121667" y="168548"/>
                  <a:pt x="145479" y="162176"/>
                </a:cubicBezTo>
                <a:cubicBezTo>
                  <a:pt x="169292" y="155804"/>
                  <a:pt x="183431" y="131294"/>
                  <a:pt x="177059" y="107482"/>
                </a:cubicBezTo>
                <a:cubicBezTo>
                  <a:pt x="171385" y="86227"/>
                  <a:pt x="151247" y="72693"/>
                  <a:pt x="130039" y="74554"/>
                </a:cubicBezTo>
                <a:cubicBezTo>
                  <a:pt x="132504" y="78879"/>
                  <a:pt x="133945" y="83902"/>
                  <a:pt x="133945" y="89297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331208" y="6008688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直观可解释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35177" y="6230938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树状图清晰展示亲疏关系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51229" y="5611813"/>
            <a:ext cx="3659187" cy="873125"/>
          </a:xfrm>
          <a:custGeom>
            <a:avLst/>
            <a:gdLst/>
            <a:ahLst/>
            <a:cxnLst/>
            <a:rect l="l" t="t" r="r" b="b"/>
            <a:pathLst>
              <a:path w="3659187" h="873125">
                <a:moveTo>
                  <a:pt x="31747" y="0"/>
                </a:moveTo>
                <a:lnTo>
                  <a:pt x="3627441" y="0"/>
                </a:lnTo>
                <a:cubicBezTo>
                  <a:pt x="3644974" y="0"/>
                  <a:pt x="3659188" y="14214"/>
                  <a:pt x="3659188" y="31747"/>
                </a:cubicBezTo>
                <a:lnTo>
                  <a:pt x="3659187" y="841378"/>
                </a:lnTo>
                <a:cubicBezTo>
                  <a:pt x="3659188" y="858911"/>
                  <a:pt x="3644974" y="873125"/>
                  <a:pt x="3627441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9762381" y="570706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29766"/>
                </a:moveTo>
                <a:cubicBezTo>
                  <a:pt x="6651" y="29766"/>
                  <a:pt x="0" y="36416"/>
                  <a:pt x="0" y="44648"/>
                </a:cubicBezTo>
                <a:cubicBezTo>
                  <a:pt x="0" y="52880"/>
                  <a:pt x="6651" y="59531"/>
                  <a:pt x="14883" y="59531"/>
                </a:cubicBezTo>
                <a:lnTo>
                  <a:pt x="55206" y="59531"/>
                </a:lnTo>
                <a:cubicBezTo>
                  <a:pt x="60927" y="72693"/>
                  <a:pt x="74042" y="81855"/>
                  <a:pt x="89297" y="81855"/>
                </a:cubicBezTo>
                <a:cubicBezTo>
                  <a:pt x="104552" y="81855"/>
                  <a:pt x="117667" y="72693"/>
                  <a:pt x="123388" y="59531"/>
                </a:cubicBezTo>
                <a:lnTo>
                  <a:pt x="223242" y="59531"/>
                </a:lnTo>
                <a:cubicBezTo>
                  <a:pt x="231474" y="59531"/>
                  <a:pt x="238125" y="52880"/>
                  <a:pt x="238125" y="44648"/>
                </a:cubicBezTo>
                <a:cubicBezTo>
                  <a:pt x="238125" y="36416"/>
                  <a:pt x="231474" y="29766"/>
                  <a:pt x="223242" y="29766"/>
                </a:cubicBezTo>
                <a:lnTo>
                  <a:pt x="123388" y="29766"/>
                </a:lnTo>
                <a:cubicBezTo>
                  <a:pt x="117667" y="16604"/>
                  <a:pt x="104552" y="7441"/>
                  <a:pt x="89297" y="7441"/>
                </a:cubicBezTo>
                <a:cubicBezTo>
                  <a:pt x="74042" y="7441"/>
                  <a:pt x="60927" y="16604"/>
                  <a:pt x="55206" y="29766"/>
                </a:cubicBezTo>
                <a:lnTo>
                  <a:pt x="14883" y="29766"/>
                </a:lnTo>
                <a:close/>
                <a:moveTo>
                  <a:pt x="14883" y="104180"/>
                </a:moveTo>
                <a:cubicBezTo>
                  <a:pt x="6651" y="104180"/>
                  <a:pt x="0" y="110830"/>
                  <a:pt x="0" y="119062"/>
                </a:cubicBezTo>
                <a:cubicBezTo>
                  <a:pt x="0" y="127295"/>
                  <a:pt x="6651" y="133945"/>
                  <a:pt x="14883" y="133945"/>
                </a:cubicBezTo>
                <a:lnTo>
                  <a:pt x="129620" y="133945"/>
                </a:lnTo>
                <a:cubicBezTo>
                  <a:pt x="135341" y="147107"/>
                  <a:pt x="148456" y="156270"/>
                  <a:pt x="163711" y="156270"/>
                </a:cubicBezTo>
                <a:cubicBezTo>
                  <a:pt x="178966" y="156270"/>
                  <a:pt x="192081" y="147107"/>
                  <a:pt x="197802" y="133945"/>
                </a:cubicBezTo>
                <a:lnTo>
                  <a:pt x="223242" y="133945"/>
                </a:lnTo>
                <a:cubicBezTo>
                  <a:pt x="231474" y="133945"/>
                  <a:pt x="238125" y="127295"/>
                  <a:pt x="238125" y="119062"/>
                </a:cubicBezTo>
                <a:cubicBezTo>
                  <a:pt x="238125" y="110830"/>
                  <a:pt x="231474" y="104180"/>
                  <a:pt x="223242" y="104180"/>
                </a:cubicBezTo>
                <a:lnTo>
                  <a:pt x="197802" y="104180"/>
                </a:lnTo>
                <a:cubicBezTo>
                  <a:pt x="192081" y="91018"/>
                  <a:pt x="178966" y="81855"/>
                  <a:pt x="163711" y="81855"/>
                </a:cubicBezTo>
                <a:cubicBezTo>
                  <a:pt x="148456" y="81855"/>
                  <a:pt x="135341" y="91018"/>
                  <a:pt x="129620" y="104180"/>
                </a:cubicBezTo>
                <a:lnTo>
                  <a:pt x="14883" y="104180"/>
                </a:lnTo>
                <a:close/>
                <a:moveTo>
                  <a:pt x="14883" y="178594"/>
                </a:moveTo>
                <a:cubicBezTo>
                  <a:pt x="6651" y="178594"/>
                  <a:pt x="0" y="185245"/>
                  <a:pt x="0" y="193477"/>
                </a:cubicBezTo>
                <a:cubicBezTo>
                  <a:pt x="0" y="201709"/>
                  <a:pt x="6651" y="208359"/>
                  <a:pt x="14883" y="208359"/>
                </a:cubicBezTo>
                <a:lnTo>
                  <a:pt x="40323" y="208359"/>
                </a:lnTo>
                <a:cubicBezTo>
                  <a:pt x="46044" y="221521"/>
                  <a:pt x="59159" y="230684"/>
                  <a:pt x="74414" y="230684"/>
                </a:cubicBezTo>
                <a:cubicBezTo>
                  <a:pt x="89669" y="230684"/>
                  <a:pt x="102784" y="221521"/>
                  <a:pt x="108505" y="208359"/>
                </a:cubicBezTo>
                <a:lnTo>
                  <a:pt x="223242" y="208359"/>
                </a:lnTo>
                <a:cubicBezTo>
                  <a:pt x="231474" y="208359"/>
                  <a:pt x="238125" y="201709"/>
                  <a:pt x="238125" y="193477"/>
                </a:cubicBezTo>
                <a:cubicBezTo>
                  <a:pt x="238125" y="185245"/>
                  <a:pt x="231474" y="178594"/>
                  <a:pt x="223242" y="178594"/>
                </a:cubicBezTo>
                <a:lnTo>
                  <a:pt x="108505" y="178594"/>
                </a:lnTo>
                <a:cubicBezTo>
                  <a:pt x="102784" y="165432"/>
                  <a:pt x="89669" y="156270"/>
                  <a:pt x="74414" y="156270"/>
                </a:cubicBezTo>
                <a:cubicBezTo>
                  <a:pt x="59159" y="156270"/>
                  <a:pt x="46044" y="165432"/>
                  <a:pt x="40323" y="178594"/>
                </a:cubicBezTo>
                <a:lnTo>
                  <a:pt x="14883" y="178594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114729" y="6008688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灵活选择K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18698" y="6230938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通过切割树状图动态决定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kern="0" spc="52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AGGLOMERATIVE CLUSTERING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凝聚层次聚类: 基本原理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927" y="1090341"/>
            <a:ext cx="11514667" cy="1718114"/>
          </a:xfrm>
          <a:custGeom>
            <a:avLst/>
            <a:gdLst/>
            <a:ahLst/>
            <a:cxnLst/>
            <a:rect l="l" t="t" r="r" b="b"/>
            <a:pathLst>
              <a:path w="11514667" h="1718114">
                <a:moveTo>
                  <a:pt x="33041" y="0"/>
                </a:moveTo>
                <a:lnTo>
                  <a:pt x="11448588" y="0"/>
                </a:lnTo>
                <a:cubicBezTo>
                  <a:pt x="11485082" y="0"/>
                  <a:pt x="11514667" y="29584"/>
                  <a:pt x="11514667" y="66079"/>
                </a:cubicBezTo>
                <a:lnTo>
                  <a:pt x="11514667" y="1652035"/>
                </a:lnTo>
                <a:cubicBezTo>
                  <a:pt x="11514667" y="1688529"/>
                  <a:pt x="11485082" y="1718114"/>
                  <a:pt x="11448588" y="1718114"/>
                </a:cubicBezTo>
                <a:lnTo>
                  <a:pt x="33041" y="1718114"/>
                </a:lnTo>
                <a:cubicBezTo>
                  <a:pt x="14793" y="1718114"/>
                  <a:pt x="0" y="1703321"/>
                  <a:pt x="0" y="1685073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46927" y="1090341"/>
            <a:ext cx="33041" cy="1718114"/>
          </a:xfrm>
          <a:custGeom>
            <a:avLst/>
            <a:gdLst/>
            <a:ahLst/>
            <a:cxnLst/>
            <a:rect l="l" t="t" r="r" b="b"/>
            <a:pathLst>
              <a:path w="33041" h="1718114">
                <a:moveTo>
                  <a:pt x="33041" y="0"/>
                </a:moveTo>
                <a:lnTo>
                  <a:pt x="33041" y="0"/>
                </a:lnTo>
                <a:lnTo>
                  <a:pt x="33041" y="1718114"/>
                </a:lnTo>
                <a:lnTo>
                  <a:pt x="33041" y="1718114"/>
                </a:lnTo>
                <a:cubicBezTo>
                  <a:pt x="14793" y="1718114"/>
                  <a:pt x="0" y="1703321"/>
                  <a:pt x="0" y="1685073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8650" y="1255545"/>
            <a:ext cx="11266862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基本步骤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10215" y="1618992"/>
            <a:ext cx="528650" cy="528650"/>
          </a:xfrm>
          <a:custGeom>
            <a:avLst/>
            <a:gdLst/>
            <a:ahLst/>
            <a:cxnLst/>
            <a:rect l="l" t="t" r="r" b="b"/>
            <a:pathLst>
              <a:path w="528650" h="528650">
                <a:moveTo>
                  <a:pt x="264325" y="0"/>
                </a:moveTo>
                <a:lnTo>
                  <a:pt x="264325" y="0"/>
                </a:lnTo>
                <a:cubicBezTo>
                  <a:pt x="410210" y="0"/>
                  <a:pt x="528650" y="118440"/>
                  <a:pt x="528650" y="264325"/>
                </a:cubicBezTo>
                <a:lnTo>
                  <a:pt x="528650" y="264325"/>
                </a:lnTo>
                <a:cubicBezTo>
                  <a:pt x="528650" y="410210"/>
                  <a:pt x="410210" y="528650"/>
                  <a:pt x="264325" y="528650"/>
                </a:cubicBezTo>
                <a:lnTo>
                  <a:pt x="264325" y="528650"/>
                </a:lnTo>
                <a:cubicBezTo>
                  <a:pt x="118440" y="528650"/>
                  <a:pt x="0" y="410210"/>
                  <a:pt x="0" y="264325"/>
                </a:cubicBezTo>
                <a:lnTo>
                  <a:pt x="0" y="264325"/>
                </a:lnTo>
                <a:cubicBezTo>
                  <a:pt x="0" y="118440"/>
                  <a:pt x="118440" y="0"/>
                  <a:pt x="2643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86002" y="1751154"/>
            <a:ext cx="173463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480" y="2213724"/>
            <a:ext cx="276715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9740" y="2478049"/>
            <a:ext cx="275063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每个样本视为独立簇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288" y="1618992"/>
            <a:ext cx="528650" cy="528650"/>
          </a:xfrm>
          <a:custGeom>
            <a:avLst/>
            <a:gdLst/>
            <a:ahLst/>
            <a:cxnLst/>
            <a:rect l="l" t="t" r="r" b="b"/>
            <a:pathLst>
              <a:path w="528650" h="528650">
                <a:moveTo>
                  <a:pt x="264325" y="0"/>
                </a:moveTo>
                <a:lnTo>
                  <a:pt x="264325" y="0"/>
                </a:lnTo>
                <a:cubicBezTo>
                  <a:pt x="410210" y="0"/>
                  <a:pt x="528650" y="118440"/>
                  <a:pt x="528650" y="264325"/>
                </a:cubicBezTo>
                <a:lnTo>
                  <a:pt x="528650" y="264325"/>
                </a:lnTo>
                <a:cubicBezTo>
                  <a:pt x="528650" y="410210"/>
                  <a:pt x="410210" y="528650"/>
                  <a:pt x="264325" y="528650"/>
                </a:cubicBezTo>
                <a:lnTo>
                  <a:pt x="264325" y="528650"/>
                </a:lnTo>
                <a:cubicBezTo>
                  <a:pt x="118440" y="528650"/>
                  <a:pt x="0" y="410210"/>
                  <a:pt x="0" y="264325"/>
                </a:cubicBezTo>
                <a:lnTo>
                  <a:pt x="0" y="264325"/>
                </a:lnTo>
                <a:cubicBezTo>
                  <a:pt x="0" y="118440"/>
                  <a:pt x="118440" y="0"/>
                  <a:pt x="264325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93296" y="1751154"/>
            <a:ext cx="20650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5487" y="2213724"/>
            <a:ext cx="276715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计算距离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23747" y="2478049"/>
            <a:ext cx="275063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计算所有簇之间的距离矩阵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58360" y="1618992"/>
            <a:ext cx="528650" cy="528650"/>
          </a:xfrm>
          <a:custGeom>
            <a:avLst/>
            <a:gdLst/>
            <a:ahLst/>
            <a:cxnLst/>
            <a:rect l="l" t="t" r="r" b="b"/>
            <a:pathLst>
              <a:path w="528650" h="528650">
                <a:moveTo>
                  <a:pt x="264325" y="0"/>
                </a:moveTo>
                <a:lnTo>
                  <a:pt x="264325" y="0"/>
                </a:lnTo>
                <a:cubicBezTo>
                  <a:pt x="410210" y="0"/>
                  <a:pt x="528650" y="118440"/>
                  <a:pt x="528650" y="264325"/>
                </a:cubicBezTo>
                <a:lnTo>
                  <a:pt x="528650" y="264325"/>
                </a:lnTo>
                <a:cubicBezTo>
                  <a:pt x="528650" y="410210"/>
                  <a:pt x="410210" y="528650"/>
                  <a:pt x="264325" y="528650"/>
                </a:cubicBezTo>
                <a:lnTo>
                  <a:pt x="264325" y="528650"/>
                </a:lnTo>
                <a:cubicBezTo>
                  <a:pt x="118440" y="528650"/>
                  <a:pt x="0" y="410210"/>
                  <a:pt x="0" y="264325"/>
                </a:cubicBezTo>
                <a:lnTo>
                  <a:pt x="0" y="264325"/>
                </a:lnTo>
                <a:cubicBezTo>
                  <a:pt x="0" y="118440"/>
                  <a:pt x="118440" y="0"/>
                  <a:pt x="264325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414787" y="1751154"/>
            <a:ext cx="21476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39559" y="2213724"/>
            <a:ext cx="276715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合并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7820" y="2478049"/>
            <a:ext cx="275063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找到最近的两个簇合并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82432" y="1618992"/>
            <a:ext cx="528650" cy="528650"/>
          </a:xfrm>
          <a:custGeom>
            <a:avLst/>
            <a:gdLst/>
            <a:ahLst/>
            <a:cxnLst/>
            <a:rect l="l" t="t" r="r" b="b"/>
            <a:pathLst>
              <a:path w="528650" h="528650">
                <a:moveTo>
                  <a:pt x="264325" y="0"/>
                </a:moveTo>
                <a:lnTo>
                  <a:pt x="264325" y="0"/>
                </a:lnTo>
                <a:cubicBezTo>
                  <a:pt x="410210" y="0"/>
                  <a:pt x="528650" y="118440"/>
                  <a:pt x="528650" y="264325"/>
                </a:cubicBezTo>
                <a:lnTo>
                  <a:pt x="528650" y="264325"/>
                </a:lnTo>
                <a:cubicBezTo>
                  <a:pt x="528650" y="410210"/>
                  <a:pt x="410210" y="528650"/>
                  <a:pt x="264325" y="528650"/>
                </a:cubicBezTo>
                <a:lnTo>
                  <a:pt x="264325" y="528650"/>
                </a:lnTo>
                <a:cubicBezTo>
                  <a:pt x="118440" y="528650"/>
                  <a:pt x="0" y="410210"/>
                  <a:pt x="0" y="264325"/>
                </a:cubicBezTo>
                <a:lnTo>
                  <a:pt x="0" y="264325"/>
                </a:lnTo>
                <a:cubicBezTo>
                  <a:pt x="0" y="118440"/>
                  <a:pt x="118440" y="0"/>
                  <a:pt x="2643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239052" y="1751154"/>
            <a:ext cx="214764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3632" y="2213724"/>
            <a:ext cx="276715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71892" y="2478049"/>
            <a:ext cx="275063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重复直到只剩一个簇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6927" y="2940618"/>
            <a:ext cx="11514667" cy="1536390"/>
          </a:xfrm>
          <a:custGeom>
            <a:avLst/>
            <a:gdLst/>
            <a:ahLst/>
            <a:cxnLst/>
            <a:rect l="l" t="t" r="r" b="b"/>
            <a:pathLst>
              <a:path w="11514667" h="1536390">
                <a:moveTo>
                  <a:pt x="33041" y="0"/>
                </a:moveTo>
                <a:lnTo>
                  <a:pt x="11448587" y="0"/>
                </a:lnTo>
                <a:cubicBezTo>
                  <a:pt x="11485082" y="0"/>
                  <a:pt x="11514667" y="29585"/>
                  <a:pt x="11514667" y="66080"/>
                </a:cubicBezTo>
                <a:lnTo>
                  <a:pt x="11514667" y="1470310"/>
                </a:lnTo>
                <a:cubicBezTo>
                  <a:pt x="11514667" y="1506805"/>
                  <a:pt x="11485082" y="1536390"/>
                  <a:pt x="11448587" y="1536390"/>
                </a:cubicBezTo>
                <a:lnTo>
                  <a:pt x="33041" y="1536390"/>
                </a:lnTo>
                <a:cubicBezTo>
                  <a:pt x="14793" y="1536390"/>
                  <a:pt x="0" y="1521597"/>
                  <a:pt x="0" y="150335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6927" y="2940618"/>
            <a:ext cx="33041" cy="1536390"/>
          </a:xfrm>
          <a:custGeom>
            <a:avLst/>
            <a:gdLst/>
            <a:ahLst/>
            <a:cxnLst/>
            <a:rect l="l" t="t" r="r" b="b"/>
            <a:pathLst>
              <a:path w="33041" h="1536390">
                <a:moveTo>
                  <a:pt x="33041" y="0"/>
                </a:moveTo>
                <a:lnTo>
                  <a:pt x="33041" y="0"/>
                </a:lnTo>
                <a:lnTo>
                  <a:pt x="33041" y="1536390"/>
                </a:lnTo>
                <a:lnTo>
                  <a:pt x="33041" y="1536390"/>
                </a:lnTo>
                <a:cubicBezTo>
                  <a:pt x="14793" y="1536390"/>
                  <a:pt x="0" y="1521597"/>
                  <a:pt x="0" y="150335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28650" y="3105821"/>
            <a:ext cx="1125034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8650" y="3436228"/>
            <a:ext cx="11233821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如何定义簇与簇之间的距离?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不同的距离度量方法决定了簇的合并策略,直接影响最终的聚类形状。这就是</a:t>
            </a:r>
            <a:r>
              <a:rPr lang="en-US" sz="104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链接准则(Linkage Criteria)</a:t>
            </a: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的重要性。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8650" y="3750114"/>
            <a:ext cx="11167740" cy="561691"/>
          </a:xfrm>
          <a:custGeom>
            <a:avLst/>
            <a:gdLst/>
            <a:ahLst/>
            <a:cxnLst/>
            <a:rect l="l" t="t" r="r" b="b"/>
            <a:pathLst>
              <a:path w="11167740" h="561691">
                <a:moveTo>
                  <a:pt x="33039" y="0"/>
                </a:moveTo>
                <a:lnTo>
                  <a:pt x="11134701" y="0"/>
                </a:lnTo>
                <a:cubicBezTo>
                  <a:pt x="11152948" y="0"/>
                  <a:pt x="11167740" y="14792"/>
                  <a:pt x="11167740" y="33039"/>
                </a:cubicBezTo>
                <a:lnTo>
                  <a:pt x="11167740" y="528652"/>
                </a:lnTo>
                <a:cubicBezTo>
                  <a:pt x="11167740" y="546899"/>
                  <a:pt x="11152948" y="561691"/>
                  <a:pt x="11134701" y="561691"/>
                </a:cubicBezTo>
                <a:lnTo>
                  <a:pt x="33039" y="561691"/>
                </a:lnTo>
                <a:cubicBezTo>
                  <a:pt x="14792" y="561691"/>
                  <a:pt x="0" y="546899"/>
                  <a:pt x="0" y="528652"/>
                </a:cubicBezTo>
                <a:lnTo>
                  <a:pt x="0" y="33039"/>
                </a:lnTo>
                <a:cubicBezTo>
                  <a:pt x="0" y="14804"/>
                  <a:pt x="14804" y="0"/>
                  <a:pt x="3303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7772" y="3849236"/>
            <a:ext cx="1102731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7772" y="4047480"/>
            <a:ext cx="1102731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链接准则的选择比算法本身更重要!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0407" y="4609171"/>
            <a:ext cx="5682992" cy="1916358"/>
          </a:xfrm>
          <a:custGeom>
            <a:avLst/>
            <a:gdLst/>
            <a:ahLst/>
            <a:cxnLst/>
            <a:rect l="l" t="t" r="r" b="b"/>
            <a:pathLst>
              <a:path w="5682992" h="1916358">
                <a:moveTo>
                  <a:pt x="66076" y="0"/>
                </a:moveTo>
                <a:lnTo>
                  <a:pt x="5616916" y="0"/>
                </a:lnTo>
                <a:cubicBezTo>
                  <a:pt x="5653409" y="0"/>
                  <a:pt x="5682992" y="29583"/>
                  <a:pt x="5682992" y="66076"/>
                </a:cubicBezTo>
                <a:lnTo>
                  <a:pt x="5682992" y="1850282"/>
                </a:lnTo>
                <a:cubicBezTo>
                  <a:pt x="5682992" y="1886774"/>
                  <a:pt x="5653409" y="1916358"/>
                  <a:pt x="5616916" y="1916358"/>
                </a:cubicBezTo>
                <a:lnTo>
                  <a:pt x="66076" y="1916358"/>
                </a:lnTo>
                <a:cubicBezTo>
                  <a:pt x="29583" y="1916358"/>
                  <a:pt x="0" y="1886774"/>
                  <a:pt x="0" y="1850282"/>
                </a:cubicBezTo>
                <a:lnTo>
                  <a:pt x="0" y="66076"/>
                </a:lnTo>
                <a:cubicBezTo>
                  <a:pt x="0" y="29583"/>
                  <a:pt x="29583" y="0"/>
                  <a:pt x="66076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5610" y="4774374"/>
            <a:ext cx="5435187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算法特点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0390" y="5137821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66081" y="16520"/>
                </a:moveTo>
                <a:cubicBezTo>
                  <a:pt x="66081" y="11951"/>
                  <a:pt x="62390" y="8260"/>
                  <a:pt x="57821" y="8260"/>
                </a:cubicBezTo>
                <a:cubicBezTo>
                  <a:pt x="53252" y="8260"/>
                  <a:pt x="49561" y="11951"/>
                  <a:pt x="49561" y="16520"/>
                </a:cubicBezTo>
                <a:lnTo>
                  <a:pt x="49561" y="57821"/>
                </a:lnTo>
                <a:lnTo>
                  <a:pt x="8260" y="57821"/>
                </a:lnTo>
                <a:cubicBezTo>
                  <a:pt x="3691" y="57821"/>
                  <a:pt x="0" y="61512"/>
                  <a:pt x="0" y="66081"/>
                </a:cubicBezTo>
                <a:cubicBezTo>
                  <a:pt x="0" y="70650"/>
                  <a:pt x="3691" y="74341"/>
                  <a:pt x="8260" y="74341"/>
                </a:cubicBezTo>
                <a:lnTo>
                  <a:pt x="49561" y="74341"/>
                </a:lnTo>
                <a:lnTo>
                  <a:pt x="49561" y="115642"/>
                </a:lnTo>
                <a:cubicBezTo>
                  <a:pt x="49561" y="120211"/>
                  <a:pt x="53252" y="123902"/>
                  <a:pt x="57821" y="123902"/>
                </a:cubicBezTo>
                <a:cubicBezTo>
                  <a:pt x="62390" y="123902"/>
                  <a:pt x="66081" y="120211"/>
                  <a:pt x="66081" y="115642"/>
                </a:cubicBezTo>
                <a:lnTo>
                  <a:pt x="66081" y="74341"/>
                </a:lnTo>
                <a:lnTo>
                  <a:pt x="107382" y="74341"/>
                </a:lnTo>
                <a:cubicBezTo>
                  <a:pt x="111951" y="74341"/>
                  <a:pt x="115642" y="70650"/>
                  <a:pt x="115642" y="66081"/>
                </a:cubicBezTo>
                <a:cubicBezTo>
                  <a:pt x="115642" y="61512"/>
                  <a:pt x="111951" y="57821"/>
                  <a:pt x="107382" y="57821"/>
                </a:cubicBezTo>
                <a:lnTo>
                  <a:pt x="66081" y="57821"/>
                </a:lnTo>
                <a:lnTo>
                  <a:pt x="66081" y="1652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26894" y="5104780"/>
            <a:ext cx="115642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逻辑直观,易于理解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0390" y="5402146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66081" y="16520"/>
                </a:moveTo>
                <a:cubicBezTo>
                  <a:pt x="66081" y="11951"/>
                  <a:pt x="62390" y="8260"/>
                  <a:pt x="57821" y="8260"/>
                </a:cubicBezTo>
                <a:cubicBezTo>
                  <a:pt x="53252" y="8260"/>
                  <a:pt x="49561" y="11951"/>
                  <a:pt x="49561" y="16520"/>
                </a:cubicBezTo>
                <a:lnTo>
                  <a:pt x="49561" y="57821"/>
                </a:lnTo>
                <a:lnTo>
                  <a:pt x="8260" y="57821"/>
                </a:lnTo>
                <a:cubicBezTo>
                  <a:pt x="3691" y="57821"/>
                  <a:pt x="0" y="61512"/>
                  <a:pt x="0" y="66081"/>
                </a:cubicBezTo>
                <a:cubicBezTo>
                  <a:pt x="0" y="70650"/>
                  <a:pt x="3691" y="74341"/>
                  <a:pt x="8260" y="74341"/>
                </a:cubicBezTo>
                <a:lnTo>
                  <a:pt x="49561" y="74341"/>
                </a:lnTo>
                <a:lnTo>
                  <a:pt x="49561" y="115642"/>
                </a:lnTo>
                <a:cubicBezTo>
                  <a:pt x="49561" y="120211"/>
                  <a:pt x="53252" y="123902"/>
                  <a:pt x="57821" y="123902"/>
                </a:cubicBezTo>
                <a:cubicBezTo>
                  <a:pt x="62390" y="123902"/>
                  <a:pt x="66081" y="120211"/>
                  <a:pt x="66081" y="115642"/>
                </a:cubicBezTo>
                <a:lnTo>
                  <a:pt x="66081" y="74341"/>
                </a:lnTo>
                <a:lnTo>
                  <a:pt x="107382" y="74341"/>
                </a:lnTo>
                <a:cubicBezTo>
                  <a:pt x="111951" y="74341"/>
                  <a:pt x="115642" y="70650"/>
                  <a:pt x="115642" y="66081"/>
                </a:cubicBezTo>
                <a:cubicBezTo>
                  <a:pt x="115642" y="61512"/>
                  <a:pt x="111951" y="57821"/>
                  <a:pt x="107382" y="57821"/>
                </a:cubicBezTo>
                <a:lnTo>
                  <a:pt x="66081" y="57821"/>
                </a:lnTo>
                <a:lnTo>
                  <a:pt x="66081" y="16520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26894" y="5369106"/>
            <a:ext cx="155291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生成树状图,可视化效果好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0390" y="5666472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66081" y="16520"/>
                </a:moveTo>
                <a:cubicBezTo>
                  <a:pt x="66081" y="11951"/>
                  <a:pt x="62390" y="8260"/>
                  <a:pt x="57821" y="8260"/>
                </a:cubicBezTo>
                <a:cubicBezTo>
                  <a:pt x="53252" y="8260"/>
                  <a:pt x="49561" y="11951"/>
                  <a:pt x="49561" y="16520"/>
                </a:cubicBezTo>
                <a:lnTo>
                  <a:pt x="49561" y="57821"/>
                </a:lnTo>
                <a:lnTo>
                  <a:pt x="8260" y="57821"/>
                </a:lnTo>
                <a:cubicBezTo>
                  <a:pt x="3691" y="57821"/>
                  <a:pt x="0" y="61512"/>
                  <a:pt x="0" y="66081"/>
                </a:cubicBezTo>
                <a:cubicBezTo>
                  <a:pt x="0" y="70650"/>
                  <a:pt x="3691" y="74341"/>
                  <a:pt x="8260" y="74341"/>
                </a:cubicBezTo>
                <a:lnTo>
                  <a:pt x="49561" y="74341"/>
                </a:lnTo>
                <a:lnTo>
                  <a:pt x="49561" y="115642"/>
                </a:lnTo>
                <a:cubicBezTo>
                  <a:pt x="49561" y="120211"/>
                  <a:pt x="53252" y="123902"/>
                  <a:pt x="57821" y="123902"/>
                </a:cubicBezTo>
                <a:cubicBezTo>
                  <a:pt x="62390" y="123902"/>
                  <a:pt x="66081" y="120211"/>
                  <a:pt x="66081" y="115642"/>
                </a:cubicBezTo>
                <a:lnTo>
                  <a:pt x="66081" y="74341"/>
                </a:lnTo>
                <a:lnTo>
                  <a:pt x="107382" y="74341"/>
                </a:lnTo>
                <a:cubicBezTo>
                  <a:pt x="111951" y="74341"/>
                  <a:pt x="115642" y="70650"/>
                  <a:pt x="115642" y="66081"/>
                </a:cubicBezTo>
                <a:cubicBezTo>
                  <a:pt x="115642" y="61512"/>
                  <a:pt x="111951" y="57821"/>
                  <a:pt x="107382" y="57821"/>
                </a:cubicBezTo>
                <a:lnTo>
                  <a:pt x="66081" y="57821"/>
                </a:lnTo>
                <a:lnTo>
                  <a:pt x="66081" y="16520"/>
                </a:ln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26894" y="5633431"/>
            <a:ext cx="859057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无需预设簇数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0390" y="5930797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0" y="66081"/>
                </a:moveTo>
                <a:cubicBezTo>
                  <a:pt x="0" y="61512"/>
                  <a:pt x="3691" y="57821"/>
                  <a:pt x="8260" y="57821"/>
                </a:cubicBezTo>
                <a:lnTo>
                  <a:pt x="107382" y="57821"/>
                </a:lnTo>
                <a:cubicBezTo>
                  <a:pt x="111951" y="57821"/>
                  <a:pt x="115642" y="61512"/>
                  <a:pt x="115642" y="66081"/>
                </a:cubicBezTo>
                <a:cubicBezTo>
                  <a:pt x="115642" y="70650"/>
                  <a:pt x="111951" y="74341"/>
                  <a:pt x="107382" y="74341"/>
                </a:cubicBezTo>
                <a:lnTo>
                  <a:pt x="8260" y="74341"/>
                </a:lnTo>
                <a:cubicBezTo>
                  <a:pt x="3691" y="74341"/>
                  <a:pt x="0" y="70650"/>
                  <a:pt x="0" y="66081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26894" y="5897756"/>
            <a:ext cx="164377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计算复杂度高 O(n²)或O(n³)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0390" y="6195122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0" y="66081"/>
                </a:moveTo>
                <a:cubicBezTo>
                  <a:pt x="0" y="61512"/>
                  <a:pt x="3691" y="57821"/>
                  <a:pt x="8260" y="57821"/>
                </a:cubicBezTo>
                <a:lnTo>
                  <a:pt x="107382" y="57821"/>
                </a:lnTo>
                <a:cubicBezTo>
                  <a:pt x="111951" y="57821"/>
                  <a:pt x="115642" y="61512"/>
                  <a:pt x="115642" y="66081"/>
                </a:cubicBezTo>
                <a:cubicBezTo>
                  <a:pt x="115642" y="70650"/>
                  <a:pt x="111951" y="74341"/>
                  <a:pt x="107382" y="74341"/>
                </a:cubicBezTo>
                <a:lnTo>
                  <a:pt x="8260" y="74341"/>
                </a:lnTo>
                <a:cubicBezTo>
                  <a:pt x="3691" y="74341"/>
                  <a:pt x="0" y="70650"/>
                  <a:pt x="0" y="66081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26894" y="6162081"/>
            <a:ext cx="1123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一旦合并无法撤销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0860" y="4614361"/>
            <a:ext cx="5674732" cy="1908098"/>
          </a:xfrm>
          <a:custGeom>
            <a:avLst/>
            <a:gdLst/>
            <a:ahLst/>
            <a:cxnLst/>
            <a:rect l="l" t="t" r="r" b="b"/>
            <a:pathLst>
              <a:path w="5674732" h="1908098">
                <a:moveTo>
                  <a:pt x="66077" y="0"/>
                </a:moveTo>
                <a:lnTo>
                  <a:pt x="5608654" y="0"/>
                </a:lnTo>
                <a:cubicBezTo>
                  <a:pt x="5645148" y="0"/>
                  <a:pt x="5674732" y="29584"/>
                  <a:pt x="5674732" y="66077"/>
                </a:cubicBezTo>
                <a:lnTo>
                  <a:pt x="5674732" y="1842020"/>
                </a:lnTo>
                <a:cubicBezTo>
                  <a:pt x="5674732" y="1878514"/>
                  <a:pt x="5645148" y="1908098"/>
                  <a:pt x="5608654" y="1908098"/>
                </a:cubicBezTo>
                <a:lnTo>
                  <a:pt x="66077" y="1908098"/>
                </a:lnTo>
                <a:cubicBezTo>
                  <a:pt x="29584" y="1908098"/>
                  <a:pt x="0" y="1878514"/>
                  <a:pt x="0" y="1842020"/>
                </a:cubicBezTo>
                <a:lnTo>
                  <a:pt x="0" y="66077"/>
                </a:lnTo>
                <a:cubicBezTo>
                  <a:pt x="0" y="29608"/>
                  <a:pt x="29608" y="0"/>
                  <a:pt x="66077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126693" y="4218728"/>
            <a:ext cx="5749072" cy="33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从n个单样本簇开始,每次合并两个最近的簇,经过n-1次合并后形成包含所有样本的大簇</a:t>
            </a:r>
            <a:endParaRPr lang="en-US"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95F3333-D0D6-BF49-47BF-F60FA689F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84" y="4609171"/>
            <a:ext cx="4263284" cy="1918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kern="0" spc="56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LINKAGE METHODS (1)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链接方式详解(一): 单连接与全连接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231" y="1193373"/>
            <a:ext cx="5646259" cy="3758235"/>
          </a:xfrm>
          <a:custGeom>
            <a:avLst/>
            <a:gdLst/>
            <a:ahLst/>
            <a:cxnLst/>
            <a:rect l="l" t="t" r="r" b="b"/>
            <a:pathLst>
              <a:path w="5646259" h="3758235">
                <a:moveTo>
                  <a:pt x="35623" y="0"/>
                </a:moveTo>
                <a:lnTo>
                  <a:pt x="5610636" y="0"/>
                </a:lnTo>
                <a:cubicBezTo>
                  <a:pt x="5630310" y="0"/>
                  <a:pt x="5646259" y="15949"/>
                  <a:pt x="5646259" y="35623"/>
                </a:cubicBezTo>
                <a:lnTo>
                  <a:pt x="5646259" y="3686979"/>
                </a:lnTo>
                <a:cubicBezTo>
                  <a:pt x="5646259" y="3726333"/>
                  <a:pt x="5614356" y="3758235"/>
                  <a:pt x="5575002" y="3758235"/>
                </a:cubicBezTo>
                <a:lnTo>
                  <a:pt x="71256" y="3758235"/>
                </a:lnTo>
                <a:cubicBezTo>
                  <a:pt x="31902" y="3758235"/>
                  <a:pt x="0" y="3726333"/>
                  <a:pt x="0" y="368697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56231" y="1193373"/>
            <a:ext cx="5646259" cy="35623"/>
          </a:xfrm>
          <a:custGeom>
            <a:avLst/>
            <a:gdLst/>
            <a:ahLst/>
            <a:cxnLst/>
            <a:rect l="l" t="t" r="r" b="b"/>
            <a:pathLst>
              <a:path w="5646259" h="35623">
                <a:moveTo>
                  <a:pt x="35623" y="0"/>
                </a:moveTo>
                <a:lnTo>
                  <a:pt x="5610636" y="0"/>
                </a:lnTo>
                <a:cubicBezTo>
                  <a:pt x="5630310" y="0"/>
                  <a:pt x="5646259" y="15949"/>
                  <a:pt x="5646259" y="35623"/>
                </a:cubicBezTo>
                <a:lnTo>
                  <a:pt x="5646259" y="35623"/>
                </a:lnTo>
                <a:lnTo>
                  <a:pt x="0" y="35623"/>
                </a:ln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4346" y="1389300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84372" y="1478358"/>
            <a:ext cx="41857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8692" y="1460546"/>
            <a:ext cx="748085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单连接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346" y="1923646"/>
            <a:ext cx="5361274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也称"最近邻"法,关注两个簇之间</a:t>
            </a:r>
            <a:r>
              <a:rPr lang="en-US" sz="112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最亲密的点</a:t>
            </a:r>
            <a:r>
              <a:rPr lang="en-US" sz="112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。只要两个簇中有两个点距离很近,就认为这两个簇距离很近。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4346" y="2493616"/>
            <a:ext cx="5290028" cy="463100"/>
          </a:xfrm>
          <a:custGeom>
            <a:avLst/>
            <a:gdLst/>
            <a:ahLst/>
            <a:cxnLst/>
            <a:rect l="l" t="t" r="r" b="b"/>
            <a:pathLst>
              <a:path w="5290028" h="463100">
                <a:moveTo>
                  <a:pt x="35622" y="0"/>
                </a:moveTo>
                <a:lnTo>
                  <a:pt x="5254406" y="0"/>
                </a:lnTo>
                <a:cubicBezTo>
                  <a:pt x="5274079" y="0"/>
                  <a:pt x="5290028" y="15948"/>
                  <a:pt x="5290028" y="35622"/>
                </a:cubicBezTo>
                <a:lnTo>
                  <a:pt x="5290028" y="427478"/>
                </a:lnTo>
                <a:cubicBezTo>
                  <a:pt x="5290028" y="447152"/>
                  <a:pt x="5274079" y="463100"/>
                  <a:pt x="5254406" y="463100"/>
                </a:cubicBezTo>
                <a:lnTo>
                  <a:pt x="35622" y="463100"/>
                </a:lnTo>
                <a:cubicBezTo>
                  <a:pt x="15948" y="463100"/>
                  <a:pt x="0" y="447152"/>
                  <a:pt x="0" y="427478"/>
                </a:cubicBezTo>
                <a:lnTo>
                  <a:pt x="0" y="35622"/>
                </a:lnTo>
                <a:cubicBezTo>
                  <a:pt x="0" y="15962"/>
                  <a:pt x="15962" y="0"/>
                  <a:pt x="356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494270" y="2493616"/>
                <a:ext cx="5370180" cy="463100"/>
              </a:xfrm>
              <a:prstGeom prst="rect">
                <a:avLst/>
              </a:prstGeom>
              <a:noFill/>
              <a:ln/>
            </p:spPr>
            <p:txBody>
              <a:bodyPr wrap="square" lIns="106869" tIns="106869" rIns="106869" bIns="106869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2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𝑠𝑖𝑛𝑔𝑙𝑒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262" i="0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262" i="0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altLang="zh-CN" sz="1262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70" y="2493616"/>
                <a:ext cx="5370180" cy="463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534346" y="3027962"/>
            <a:ext cx="5290028" cy="534346"/>
          </a:xfrm>
          <a:custGeom>
            <a:avLst/>
            <a:gdLst/>
            <a:ahLst/>
            <a:cxnLst/>
            <a:rect l="l" t="t" r="r" b="b"/>
            <a:pathLst>
              <a:path w="5290028" h="534346">
                <a:moveTo>
                  <a:pt x="35625" y="0"/>
                </a:moveTo>
                <a:lnTo>
                  <a:pt x="5254403" y="0"/>
                </a:lnTo>
                <a:cubicBezTo>
                  <a:pt x="5274078" y="0"/>
                  <a:pt x="5290028" y="15950"/>
                  <a:pt x="5290028" y="35625"/>
                </a:cubicBezTo>
                <a:lnTo>
                  <a:pt x="5290028" y="498721"/>
                </a:lnTo>
                <a:cubicBezTo>
                  <a:pt x="5290028" y="518383"/>
                  <a:pt x="5274065" y="534346"/>
                  <a:pt x="5254403" y="534346"/>
                </a:cubicBezTo>
                <a:lnTo>
                  <a:pt x="35625" y="534346"/>
                </a:lnTo>
                <a:cubicBezTo>
                  <a:pt x="15950" y="534346"/>
                  <a:pt x="0" y="518396"/>
                  <a:pt x="0" y="498721"/>
                </a:cubicBezTo>
                <a:lnTo>
                  <a:pt x="0" y="35625"/>
                </a:lnTo>
                <a:cubicBezTo>
                  <a:pt x="0" y="15963"/>
                  <a:pt x="15963" y="0"/>
                  <a:pt x="3562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5592" y="3099208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5592" y="3312947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擅长发现非球形、长条形或弯曲的簇结构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4346" y="3633554"/>
            <a:ext cx="5290028" cy="534346"/>
          </a:xfrm>
          <a:custGeom>
            <a:avLst/>
            <a:gdLst/>
            <a:ahLst/>
            <a:cxnLst/>
            <a:rect l="l" t="t" r="r" b="b"/>
            <a:pathLst>
              <a:path w="5290028" h="534346">
                <a:moveTo>
                  <a:pt x="35625" y="0"/>
                </a:moveTo>
                <a:lnTo>
                  <a:pt x="5254403" y="0"/>
                </a:lnTo>
                <a:cubicBezTo>
                  <a:pt x="5274078" y="0"/>
                  <a:pt x="5290028" y="15950"/>
                  <a:pt x="5290028" y="35625"/>
                </a:cubicBezTo>
                <a:lnTo>
                  <a:pt x="5290028" y="498721"/>
                </a:lnTo>
                <a:cubicBezTo>
                  <a:pt x="5290028" y="518383"/>
                  <a:pt x="5274065" y="534346"/>
                  <a:pt x="5254403" y="534346"/>
                </a:cubicBezTo>
                <a:lnTo>
                  <a:pt x="35625" y="534346"/>
                </a:lnTo>
                <a:cubicBezTo>
                  <a:pt x="15950" y="534346"/>
                  <a:pt x="0" y="518396"/>
                  <a:pt x="0" y="498721"/>
                </a:cubicBezTo>
                <a:lnTo>
                  <a:pt x="0" y="35625"/>
                </a:lnTo>
                <a:cubicBezTo>
                  <a:pt x="0" y="15963"/>
                  <a:pt x="15963" y="0"/>
                  <a:pt x="3562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05592" y="3704801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5592" y="3918539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易产生"链式效应",两个不相关簇通过噪声点连接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346" y="4239147"/>
            <a:ext cx="5290028" cy="534346"/>
          </a:xfrm>
          <a:custGeom>
            <a:avLst/>
            <a:gdLst/>
            <a:ahLst/>
            <a:cxnLst/>
            <a:rect l="l" t="t" r="r" b="b"/>
            <a:pathLst>
              <a:path w="5290028" h="534346">
                <a:moveTo>
                  <a:pt x="35625" y="0"/>
                </a:moveTo>
                <a:lnTo>
                  <a:pt x="5254403" y="0"/>
                </a:lnTo>
                <a:cubicBezTo>
                  <a:pt x="5274078" y="0"/>
                  <a:pt x="5290028" y="15950"/>
                  <a:pt x="5290028" y="35625"/>
                </a:cubicBezTo>
                <a:lnTo>
                  <a:pt x="5290028" y="498721"/>
                </a:lnTo>
                <a:cubicBezTo>
                  <a:pt x="5290028" y="518383"/>
                  <a:pt x="5274065" y="534346"/>
                  <a:pt x="5254403" y="534346"/>
                </a:cubicBezTo>
                <a:lnTo>
                  <a:pt x="35625" y="534346"/>
                </a:lnTo>
                <a:cubicBezTo>
                  <a:pt x="15950" y="534346"/>
                  <a:pt x="0" y="518396"/>
                  <a:pt x="0" y="498721"/>
                </a:cubicBezTo>
                <a:lnTo>
                  <a:pt x="0" y="35625"/>
                </a:lnTo>
                <a:cubicBezTo>
                  <a:pt x="0" y="15963"/>
                  <a:pt x="15963" y="0"/>
                  <a:pt x="356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5592" y="4310393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5592" y="4524131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非球形、连续型数据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4501" y="1193373"/>
            <a:ext cx="5646259" cy="3758235"/>
          </a:xfrm>
          <a:custGeom>
            <a:avLst/>
            <a:gdLst/>
            <a:ahLst/>
            <a:cxnLst/>
            <a:rect l="l" t="t" r="r" b="b"/>
            <a:pathLst>
              <a:path w="5646259" h="3758235">
                <a:moveTo>
                  <a:pt x="35623" y="0"/>
                </a:moveTo>
                <a:lnTo>
                  <a:pt x="5610636" y="0"/>
                </a:lnTo>
                <a:cubicBezTo>
                  <a:pt x="5630310" y="0"/>
                  <a:pt x="5646259" y="15949"/>
                  <a:pt x="5646259" y="35623"/>
                </a:cubicBezTo>
                <a:lnTo>
                  <a:pt x="5646259" y="3686979"/>
                </a:lnTo>
                <a:cubicBezTo>
                  <a:pt x="5646259" y="3726333"/>
                  <a:pt x="5614356" y="3758235"/>
                  <a:pt x="5575002" y="3758235"/>
                </a:cubicBezTo>
                <a:lnTo>
                  <a:pt x="71256" y="3758235"/>
                </a:lnTo>
                <a:cubicBezTo>
                  <a:pt x="31902" y="3758235"/>
                  <a:pt x="0" y="3726333"/>
                  <a:pt x="0" y="368697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84501" y="1193373"/>
            <a:ext cx="5646259" cy="35623"/>
          </a:xfrm>
          <a:custGeom>
            <a:avLst/>
            <a:gdLst/>
            <a:ahLst/>
            <a:cxnLst/>
            <a:rect l="l" t="t" r="r" b="b"/>
            <a:pathLst>
              <a:path w="5646259" h="35623">
                <a:moveTo>
                  <a:pt x="35623" y="0"/>
                </a:moveTo>
                <a:lnTo>
                  <a:pt x="5610636" y="0"/>
                </a:lnTo>
                <a:cubicBezTo>
                  <a:pt x="5630310" y="0"/>
                  <a:pt x="5646259" y="15949"/>
                  <a:pt x="5646259" y="35623"/>
                </a:cubicBezTo>
                <a:lnTo>
                  <a:pt x="5646259" y="35623"/>
                </a:lnTo>
                <a:lnTo>
                  <a:pt x="0" y="35623"/>
                </a:ln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62617" y="1389300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84603" y="1478358"/>
            <a:ext cx="47200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MAX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96963" y="1460546"/>
            <a:ext cx="748085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全连接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62617" y="1923646"/>
            <a:ext cx="5361274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也称"最远邻"法,采取保守策略。只有当两个簇中</a:t>
            </a:r>
            <a:r>
              <a:rPr lang="en-US" sz="112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所有点都相对较近</a:t>
            </a:r>
            <a:r>
              <a:rPr lang="en-US" sz="112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(即最远的点也不太远)时,才合并这两个簇。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2617" y="2493616"/>
            <a:ext cx="5290028" cy="463100"/>
          </a:xfrm>
          <a:custGeom>
            <a:avLst/>
            <a:gdLst/>
            <a:ahLst/>
            <a:cxnLst/>
            <a:rect l="l" t="t" r="r" b="b"/>
            <a:pathLst>
              <a:path w="5290028" h="463100">
                <a:moveTo>
                  <a:pt x="35622" y="0"/>
                </a:moveTo>
                <a:lnTo>
                  <a:pt x="5254406" y="0"/>
                </a:lnTo>
                <a:cubicBezTo>
                  <a:pt x="5274079" y="0"/>
                  <a:pt x="5290028" y="15948"/>
                  <a:pt x="5290028" y="35622"/>
                </a:cubicBezTo>
                <a:lnTo>
                  <a:pt x="5290028" y="427478"/>
                </a:lnTo>
                <a:cubicBezTo>
                  <a:pt x="5290028" y="447152"/>
                  <a:pt x="5274079" y="463100"/>
                  <a:pt x="5254406" y="463100"/>
                </a:cubicBezTo>
                <a:lnTo>
                  <a:pt x="35622" y="463100"/>
                </a:lnTo>
                <a:cubicBezTo>
                  <a:pt x="15948" y="463100"/>
                  <a:pt x="0" y="447152"/>
                  <a:pt x="0" y="427478"/>
                </a:cubicBezTo>
                <a:lnTo>
                  <a:pt x="0" y="35622"/>
                </a:lnTo>
                <a:cubicBezTo>
                  <a:pt x="0" y="15962"/>
                  <a:pt x="15962" y="0"/>
                  <a:pt x="356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26"/>
              <p:cNvSpPr/>
              <p:nvPr/>
            </p:nvSpPr>
            <p:spPr>
              <a:xfrm>
                <a:off x="6322541" y="2493616"/>
                <a:ext cx="5370180" cy="463100"/>
              </a:xfrm>
              <a:prstGeom prst="rect">
                <a:avLst/>
              </a:prstGeom>
              <a:noFill/>
              <a:ln/>
            </p:spPr>
            <p:txBody>
              <a:bodyPr wrap="square" lIns="106869" tIns="106869" rIns="106869" bIns="106869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2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𝑐𝑜𝑚𝑝𝑙𝑒𝑡𝑒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262" i="0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1262" i="0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262" i="1" dirty="0" smtClean="0">
                                  <a:solidFill>
                                    <a:srgbClr val="E0E0E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262" i="0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altLang="zh-CN" sz="1262" i="1" dirty="0" smtClean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sz="1262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541" y="2493616"/>
                <a:ext cx="5370180" cy="463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7"/>
          <p:cNvSpPr/>
          <p:nvPr/>
        </p:nvSpPr>
        <p:spPr>
          <a:xfrm>
            <a:off x="6362617" y="3027962"/>
            <a:ext cx="5290028" cy="534346"/>
          </a:xfrm>
          <a:custGeom>
            <a:avLst/>
            <a:gdLst/>
            <a:ahLst/>
            <a:cxnLst/>
            <a:rect l="l" t="t" r="r" b="b"/>
            <a:pathLst>
              <a:path w="5290028" h="534346">
                <a:moveTo>
                  <a:pt x="35625" y="0"/>
                </a:moveTo>
                <a:lnTo>
                  <a:pt x="5254403" y="0"/>
                </a:lnTo>
                <a:cubicBezTo>
                  <a:pt x="5274078" y="0"/>
                  <a:pt x="5290028" y="15950"/>
                  <a:pt x="5290028" y="35625"/>
                </a:cubicBezTo>
                <a:lnTo>
                  <a:pt x="5290028" y="498721"/>
                </a:lnTo>
                <a:cubicBezTo>
                  <a:pt x="5290028" y="518383"/>
                  <a:pt x="5274065" y="534346"/>
                  <a:pt x="5254403" y="534346"/>
                </a:cubicBezTo>
                <a:lnTo>
                  <a:pt x="35625" y="534346"/>
                </a:lnTo>
                <a:cubicBezTo>
                  <a:pt x="15950" y="534346"/>
                  <a:pt x="0" y="518396"/>
                  <a:pt x="0" y="498721"/>
                </a:cubicBezTo>
                <a:lnTo>
                  <a:pt x="0" y="35625"/>
                </a:lnTo>
                <a:cubicBezTo>
                  <a:pt x="0" y="15963"/>
                  <a:pt x="15963" y="0"/>
                  <a:pt x="3562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33863" y="3099208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3863" y="3312947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对噪声和离群点较鲁棒,产生的簇较紧凑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2617" y="3633554"/>
            <a:ext cx="5290028" cy="534346"/>
          </a:xfrm>
          <a:custGeom>
            <a:avLst/>
            <a:gdLst/>
            <a:ahLst/>
            <a:cxnLst/>
            <a:rect l="l" t="t" r="r" b="b"/>
            <a:pathLst>
              <a:path w="5290028" h="534346">
                <a:moveTo>
                  <a:pt x="35625" y="0"/>
                </a:moveTo>
                <a:lnTo>
                  <a:pt x="5254403" y="0"/>
                </a:lnTo>
                <a:cubicBezTo>
                  <a:pt x="5274078" y="0"/>
                  <a:pt x="5290028" y="15950"/>
                  <a:pt x="5290028" y="35625"/>
                </a:cubicBezTo>
                <a:lnTo>
                  <a:pt x="5290028" y="498721"/>
                </a:lnTo>
                <a:cubicBezTo>
                  <a:pt x="5290028" y="518383"/>
                  <a:pt x="5274065" y="534346"/>
                  <a:pt x="5254403" y="534346"/>
                </a:cubicBezTo>
                <a:lnTo>
                  <a:pt x="35625" y="534346"/>
                </a:lnTo>
                <a:cubicBezTo>
                  <a:pt x="15950" y="534346"/>
                  <a:pt x="0" y="518396"/>
                  <a:pt x="0" y="498721"/>
                </a:cubicBezTo>
                <a:lnTo>
                  <a:pt x="0" y="35625"/>
                </a:lnTo>
                <a:cubicBezTo>
                  <a:pt x="0" y="15963"/>
                  <a:pt x="15963" y="0"/>
                  <a:pt x="3562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33863" y="3704801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3863" y="3918539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容易"打断"大的簇,对非球形簇效果不佳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2617" y="4239147"/>
            <a:ext cx="5290028" cy="534346"/>
          </a:xfrm>
          <a:custGeom>
            <a:avLst/>
            <a:gdLst/>
            <a:ahLst/>
            <a:cxnLst/>
            <a:rect l="l" t="t" r="r" b="b"/>
            <a:pathLst>
              <a:path w="5290028" h="534346">
                <a:moveTo>
                  <a:pt x="35625" y="0"/>
                </a:moveTo>
                <a:lnTo>
                  <a:pt x="5254403" y="0"/>
                </a:lnTo>
                <a:cubicBezTo>
                  <a:pt x="5274078" y="0"/>
                  <a:pt x="5290028" y="15950"/>
                  <a:pt x="5290028" y="35625"/>
                </a:cubicBezTo>
                <a:lnTo>
                  <a:pt x="5290028" y="498721"/>
                </a:lnTo>
                <a:cubicBezTo>
                  <a:pt x="5290028" y="518383"/>
                  <a:pt x="5274065" y="534346"/>
                  <a:pt x="5254403" y="534346"/>
                </a:cubicBezTo>
                <a:lnTo>
                  <a:pt x="35625" y="534346"/>
                </a:lnTo>
                <a:cubicBezTo>
                  <a:pt x="15950" y="534346"/>
                  <a:pt x="0" y="518396"/>
                  <a:pt x="0" y="498721"/>
                </a:cubicBezTo>
                <a:lnTo>
                  <a:pt x="0" y="35625"/>
                </a:lnTo>
                <a:cubicBezTo>
                  <a:pt x="0" y="15963"/>
                  <a:pt x="15963" y="0"/>
                  <a:pt x="35625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33863" y="4310393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33863" y="4524131"/>
            <a:ext cx="520987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噪声较多、期望球状簇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0684" y="5098554"/>
            <a:ext cx="11470633" cy="1398206"/>
          </a:xfrm>
          <a:custGeom>
            <a:avLst/>
            <a:gdLst/>
            <a:ahLst/>
            <a:cxnLst/>
            <a:rect l="l" t="t" r="r" b="b"/>
            <a:pathLst>
              <a:path w="11470633" h="1398206">
                <a:moveTo>
                  <a:pt x="71253" y="0"/>
                </a:moveTo>
                <a:lnTo>
                  <a:pt x="11399380" y="0"/>
                </a:lnTo>
                <a:cubicBezTo>
                  <a:pt x="11438732" y="0"/>
                  <a:pt x="11470633" y="31901"/>
                  <a:pt x="11470633" y="71253"/>
                </a:cubicBezTo>
                <a:lnTo>
                  <a:pt x="11470633" y="1326953"/>
                </a:lnTo>
                <a:cubicBezTo>
                  <a:pt x="11470633" y="1366305"/>
                  <a:pt x="11438732" y="1398206"/>
                  <a:pt x="11399380" y="1398206"/>
                </a:cubicBezTo>
                <a:lnTo>
                  <a:pt x="71253" y="1398206"/>
                </a:lnTo>
                <a:cubicBezTo>
                  <a:pt x="31901" y="1398206"/>
                  <a:pt x="0" y="1366305"/>
                  <a:pt x="0" y="1326953"/>
                </a:cubicBezTo>
                <a:lnTo>
                  <a:pt x="0" y="71253"/>
                </a:lnTo>
                <a:cubicBezTo>
                  <a:pt x="0" y="31901"/>
                  <a:pt x="31901" y="0"/>
                  <a:pt x="71253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43252" y="5281122"/>
            <a:ext cx="1119455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对比总结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3252" y="5637353"/>
            <a:ext cx="3606837" cy="676839"/>
          </a:xfrm>
          <a:custGeom>
            <a:avLst/>
            <a:gdLst/>
            <a:ahLst/>
            <a:cxnLst/>
            <a:rect l="l" t="t" r="r" b="b"/>
            <a:pathLst>
              <a:path w="3606837" h="676839">
                <a:moveTo>
                  <a:pt x="35622" y="0"/>
                </a:moveTo>
                <a:lnTo>
                  <a:pt x="3571215" y="0"/>
                </a:lnTo>
                <a:cubicBezTo>
                  <a:pt x="3590889" y="0"/>
                  <a:pt x="3606837" y="15949"/>
                  <a:pt x="3606837" y="35622"/>
                </a:cubicBezTo>
                <a:lnTo>
                  <a:pt x="3606837" y="641217"/>
                </a:lnTo>
                <a:cubicBezTo>
                  <a:pt x="3606837" y="660890"/>
                  <a:pt x="3590889" y="676839"/>
                  <a:pt x="3571215" y="676839"/>
                </a:cubicBezTo>
                <a:lnTo>
                  <a:pt x="35622" y="676839"/>
                </a:lnTo>
                <a:cubicBezTo>
                  <a:pt x="15949" y="676839"/>
                  <a:pt x="0" y="660890"/>
                  <a:pt x="0" y="641217"/>
                </a:cubicBezTo>
                <a:lnTo>
                  <a:pt x="0" y="35622"/>
                </a:lnTo>
                <a:cubicBezTo>
                  <a:pt x="0" y="15962"/>
                  <a:pt x="15962" y="0"/>
                  <a:pt x="356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0045" y="5744222"/>
            <a:ext cx="347325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单连接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8951" y="6029207"/>
            <a:ext cx="34554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最近点决定, 易链式效应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92234" y="5637353"/>
            <a:ext cx="3606837" cy="676839"/>
          </a:xfrm>
          <a:custGeom>
            <a:avLst/>
            <a:gdLst/>
            <a:ahLst/>
            <a:cxnLst/>
            <a:rect l="l" t="t" r="r" b="b"/>
            <a:pathLst>
              <a:path w="3606837" h="676839">
                <a:moveTo>
                  <a:pt x="35622" y="0"/>
                </a:moveTo>
                <a:lnTo>
                  <a:pt x="3571215" y="0"/>
                </a:lnTo>
                <a:cubicBezTo>
                  <a:pt x="3590889" y="0"/>
                  <a:pt x="3606837" y="15949"/>
                  <a:pt x="3606837" y="35622"/>
                </a:cubicBezTo>
                <a:lnTo>
                  <a:pt x="3606837" y="641217"/>
                </a:lnTo>
                <a:cubicBezTo>
                  <a:pt x="3606837" y="660890"/>
                  <a:pt x="3590889" y="676839"/>
                  <a:pt x="3571215" y="676839"/>
                </a:cubicBezTo>
                <a:lnTo>
                  <a:pt x="35622" y="676839"/>
                </a:lnTo>
                <a:cubicBezTo>
                  <a:pt x="15949" y="676839"/>
                  <a:pt x="0" y="660890"/>
                  <a:pt x="0" y="641217"/>
                </a:cubicBezTo>
                <a:lnTo>
                  <a:pt x="0" y="35622"/>
                </a:lnTo>
                <a:cubicBezTo>
                  <a:pt x="0" y="15962"/>
                  <a:pt x="15962" y="0"/>
                  <a:pt x="356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359027" y="5744222"/>
            <a:ext cx="347325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全连接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67933" y="6029207"/>
            <a:ext cx="34554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最远点决定, 簇紧凑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41215" y="5637353"/>
            <a:ext cx="3606837" cy="676839"/>
          </a:xfrm>
          <a:custGeom>
            <a:avLst/>
            <a:gdLst/>
            <a:ahLst/>
            <a:cxnLst/>
            <a:rect l="l" t="t" r="r" b="b"/>
            <a:pathLst>
              <a:path w="3606837" h="676839">
                <a:moveTo>
                  <a:pt x="35622" y="0"/>
                </a:moveTo>
                <a:lnTo>
                  <a:pt x="3571215" y="0"/>
                </a:lnTo>
                <a:cubicBezTo>
                  <a:pt x="3590889" y="0"/>
                  <a:pt x="3606837" y="15949"/>
                  <a:pt x="3606837" y="35622"/>
                </a:cubicBezTo>
                <a:lnTo>
                  <a:pt x="3606837" y="641217"/>
                </a:lnTo>
                <a:cubicBezTo>
                  <a:pt x="3606837" y="660890"/>
                  <a:pt x="3590889" y="676839"/>
                  <a:pt x="3571215" y="676839"/>
                </a:cubicBezTo>
                <a:lnTo>
                  <a:pt x="35622" y="676839"/>
                </a:lnTo>
                <a:cubicBezTo>
                  <a:pt x="15949" y="676839"/>
                  <a:pt x="0" y="660890"/>
                  <a:pt x="0" y="641217"/>
                </a:cubicBezTo>
                <a:lnTo>
                  <a:pt x="0" y="35622"/>
                </a:lnTo>
                <a:cubicBezTo>
                  <a:pt x="0" y="15962"/>
                  <a:pt x="15962" y="0"/>
                  <a:pt x="356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108008" y="5744222"/>
            <a:ext cx="347325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选择建议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16914" y="6029207"/>
            <a:ext cx="34554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根据数据特性和需求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LINKAGE METHODS (2)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链接方式详解(二): 平均连接与</a:t>
            </a:r>
            <a:r>
              <a:rPr lang="en-US" sz="2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Ward</a:t>
            </a: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连接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63625"/>
            <a:ext cx="5699125" cy="3286125"/>
          </a:xfrm>
          <a:custGeom>
            <a:avLst/>
            <a:gdLst/>
            <a:ahLst/>
            <a:cxnLst/>
            <a:rect l="l" t="t" r="r" b="b"/>
            <a:pathLst>
              <a:path w="5699125" h="328612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3222637"/>
                </a:lnTo>
                <a:cubicBezTo>
                  <a:pt x="5699125" y="3257700"/>
                  <a:pt x="5670700" y="3286125"/>
                  <a:pt x="5635637" y="3286125"/>
                </a:cubicBezTo>
                <a:lnTo>
                  <a:pt x="63488" y="3286125"/>
                </a:lnTo>
                <a:cubicBezTo>
                  <a:pt x="28425" y="3286125"/>
                  <a:pt x="0" y="3257700"/>
                  <a:pt x="0" y="322263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76250" y="1238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4031" y="1317625"/>
            <a:ext cx="40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AVG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130175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平均连接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714500"/>
            <a:ext cx="5445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折中方案,不依赖极端点,考虑簇内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所有样本对距离的平均值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。比单连接和全连接都更稳健。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016125"/>
            <a:ext cx="5381625" cy="412750"/>
          </a:xfrm>
          <a:custGeom>
            <a:avLst/>
            <a:gdLst/>
            <a:ahLst/>
            <a:cxnLst/>
            <a:rect l="l" t="t" r="r" b="b"/>
            <a:pathLst>
              <a:path w="5381625" h="412750">
                <a:moveTo>
                  <a:pt x="31749" y="0"/>
                </a:moveTo>
                <a:lnTo>
                  <a:pt x="5349876" y="0"/>
                </a:lnTo>
                <a:cubicBezTo>
                  <a:pt x="5367411" y="0"/>
                  <a:pt x="5381625" y="14214"/>
                  <a:pt x="5381625" y="31749"/>
                </a:cubicBezTo>
                <a:lnTo>
                  <a:pt x="5381625" y="381001"/>
                </a:lnTo>
                <a:cubicBezTo>
                  <a:pt x="5381625" y="398536"/>
                  <a:pt x="5367411" y="412750"/>
                  <a:pt x="534987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440531" y="2016125"/>
                <a:ext cx="5453063" cy="412750"/>
              </a:xfrm>
              <a:prstGeom prst="rect">
                <a:avLst/>
              </a:prstGeom>
              <a:noFill/>
              <a:ln/>
            </p:spPr>
            <p:txBody>
              <a:bodyPr wrap="square" lIns="95250" tIns="95250" rIns="95250" bIns="9525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25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𝑎𝑣𝑒𝑟𝑎𝑔𝑒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1125" i="0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‖</m:t>
                          </m:r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‖⋅‖</m:t>
                          </m:r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‖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125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125" i="0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r>
                            <a:rPr lang="en-US" altLang="zh-CN" sz="1125" b="0" i="1" dirty="0" smtClean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1125" i="1" dirty="0">
                          <a:solidFill>
                            <a:srgbClr val="E0E0E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sz="1125" i="1" dirty="0">
                              <a:solidFill>
                                <a:srgbClr val="E0E0E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31" y="2016125"/>
                <a:ext cx="5453063" cy="412750"/>
              </a:xfrm>
              <a:prstGeom prst="rect">
                <a:avLst/>
              </a:prstGeom>
              <a:blipFill>
                <a:blip r:embed="rId3"/>
                <a:stretch>
                  <a:fillRect t="-126471" b="-2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76250" y="2492375"/>
            <a:ext cx="5381625" cy="476250"/>
          </a:xfrm>
          <a:custGeom>
            <a:avLst/>
            <a:gdLst/>
            <a:ahLst/>
            <a:cxnLst/>
            <a:rect l="l" t="t" r="r" b="b"/>
            <a:pathLst>
              <a:path w="5381625" h="476250">
                <a:moveTo>
                  <a:pt x="31752" y="0"/>
                </a:moveTo>
                <a:lnTo>
                  <a:pt x="5349873" y="0"/>
                </a:lnTo>
                <a:cubicBezTo>
                  <a:pt x="5367409" y="0"/>
                  <a:pt x="5381625" y="14216"/>
                  <a:pt x="5381625" y="31752"/>
                </a:cubicBezTo>
                <a:lnTo>
                  <a:pt x="5381625" y="444498"/>
                </a:lnTo>
                <a:cubicBezTo>
                  <a:pt x="5381625" y="462034"/>
                  <a:pt x="5367409" y="476250"/>
                  <a:pt x="534987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39750" y="255587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750" y="274637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综合利用所有数据点信息,对噪声不敏感,稳定性好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3032125"/>
            <a:ext cx="5381625" cy="476250"/>
          </a:xfrm>
          <a:custGeom>
            <a:avLst/>
            <a:gdLst/>
            <a:ahLst/>
            <a:cxnLst/>
            <a:rect l="l" t="t" r="r" b="b"/>
            <a:pathLst>
              <a:path w="5381625" h="476250">
                <a:moveTo>
                  <a:pt x="31752" y="0"/>
                </a:moveTo>
                <a:lnTo>
                  <a:pt x="5349873" y="0"/>
                </a:lnTo>
                <a:cubicBezTo>
                  <a:pt x="5367409" y="0"/>
                  <a:pt x="5381625" y="14216"/>
                  <a:pt x="5381625" y="31752"/>
                </a:cubicBezTo>
                <a:lnTo>
                  <a:pt x="5381625" y="444498"/>
                </a:lnTo>
                <a:cubicBezTo>
                  <a:pt x="5381625" y="462034"/>
                  <a:pt x="5367409" y="476250"/>
                  <a:pt x="534987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39750" y="309562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750" y="328612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计算量相对较大 O(n²),需计算所有点对距离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3571875"/>
            <a:ext cx="5381625" cy="476250"/>
          </a:xfrm>
          <a:custGeom>
            <a:avLst/>
            <a:gdLst/>
            <a:ahLst/>
            <a:cxnLst/>
            <a:rect l="l" t="t" r="r" b="b"/>
            <a:pathLst>
              <a:path w="5381625" h="476250">
                <a:moveTo>
                  <a:pt x="31752" y="0"/>
                </a:moveTo>
                <a:lnTo>
                  <a:pt x="5349873" y="0"/>
                </a:lnTo>
                <a:cubicBezTo>
                  <a:pt x="5367409" y="0"/>
                  <a:pt x="5381625" y="14216"/>
                  <a:pt x="5381625" y="31752"/>
                </a:cubicBezTo>
                <a:lnTo>
                  <a:pt x="5381625" y="444498"/>
                </a:lnTo>
                <a:cubicBezTo>
                  <a:pt x="5381625" y="462034"/>
                  <a:pt x="5367409" y="476250"/>
                  <a:pt x="534987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39750" y="363537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750" y="382587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对噪声敏感度要求适中的通用场景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5375" y="1063625"/>
            <a:ext cx="5699125" cy="3286125"/>
          </a:xfrm>
          <a:custGeom>
            <a:avLst/>
            <a:gdLst/>
            <a:ahLst/>
            <a:cxnLst/>
            <a:rect l="l" t="t" r="r" b="b"/>
            <a:pathLst>
              <a:path w="5699125" h="328612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3222637"/>
                </a:lnTo>
                <a:cubicBezTo>
                  <a:pt x="5699125" y="3257700"/>
                  <a:pt x="5670700" y="3286125"/>
                  <a:pt x="5635637" y="3286125"/>
                </a:cubicBezTo>
                <a:lnTo>
                  <a:pt x="63488" y="3286125"/>
                </a:lnTo>
                <a:cubicBezTo>
                  <a:pt x="28425" y="3286125"/>
                  <a:pt x="0" y="3257700"/>
                  <a:pt x="0" y="322263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75375" y="1063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34125" y="1238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29598" y="1317625"/>
            <a:ext cx="46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Ward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10375" y="1301750"/>
            <a:ext cx="968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Ward连接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34125" y="171450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基于方差分析思想,选择使得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合并后簇内方差增加最小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的两个簇合并。不仅仅考虑距离,更关注合并后簇的紧凑程度。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4125" y="2222500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317500"/>
                </a:lnTo>
                <a:cubicBezTo>
                  <a:pt x="5381625" y="335035"/>
                  <a:pt x="5367410" y="349250"/>
                  <a:pt x="5349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334125" y="2222500"/>
            <a:ext cx="5437188" cy="3492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Ward方法倾向于产生</a:t>
            </a: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大小均匀、结构紧凑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4125" y="2635250"/>
            <a:ext cx="5381625" cy="476250"/>
          </a:xfrm>
          <a:custGeom>
            <a:avLst/>
            <a:gdLst/>
            <a:ahLst/>
            <a:cxnLst/>
            <a:rect l="l" t="t" r="r" b="b"/>
            <a:pathLst>
              <a:path w="5381625" h="476250">
                <a:moveTo>
                  <a:pt x="31752" y="0"/>
                </a:moveTo>
                <a:lnTo>
                  <a:pt x="5349873" y="0"/>
                </a:lnTo>
                <a:cubicBezTo>
                  <a:pt x="5367409" y="0"/>
                  <a:pt x="5381625" y="14216"/>
                  <a:pt x="5381625" y="31752"/>
                </a:cubicBezTo>
                <a:lnTo>
                  <a:pt x="5381625" y="444498"/>
                </a:lnTo>
                <a:cubicBezTo>
                  <a:pt x="5381625" y="462034"/>
                  <a:pt x="5367409" y="476250"/>
                  <a:pt x="534987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97625" y="269875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97625" y="288925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产生大小均匀、结构紧凑的簇,是目前效果最好的通用连接方法之一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4125" y="3175000"/>
            <a:ext cx="5381625" cy="476250"/>
          </a:xfrm>
          <a:custGeom>
            <a:avLst/>
            <a:gdLst/>
            <a:ahLst/>
            <a:cxnLst/>
            <a:rect l="l" t="t" r="r" b="b"/>
            <a:pathLst>
              <a:path w="5381625" h="476250">
                <a:moveTo>
                  <a:pt x="31752" y="0"/>
                </a:moveTo>
                <a:lnTo>
                  <a:pt x="5349873" y="0"/>
                </a:lnTo>
                <a:cubicBezTo>
                  <a:pt x="5367409" y="0"/>
                  <a:pt x="5381625" y="14216"/>
                  <a:pt x="5381625" y="31752"/>
                </a:cubicBezTo>
                <a:lnTo>
                  <a:pt x="5381625" y="444498"/>
                </a:lnTo>
                <a:cubicBezTo>
                  <a:pt x="5381625" y="462034"/>
                  <a:pt x="5367409" y="476250"/>
                  <a:pt x="534987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97625" y="323850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97625" y="342900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偏向球状簇,计算相对复杂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4125" y="3714750"/>
            <a:ext cx="5381625" cy="476250"/>
          </a:xfrm>
          <a:custGeom>
            <a:avLst/>
            <a:gdLst/>
            <a:ahLst/>
            <a:cxnLst/>
            <a:rect l="l" t="t" r="r" b="b"/>
            <a:pathLst>
              <a:path w="5381625" h="476250">
                <a:moveTo>
                  <a:pt x="31752" y="0"/>
                </a:moveTo>
                <a:lnTo>
                  <a:pt x="5349873" y="0"/>
                </a:lnTo>
                <a:cubicBezTo>
                  <a:pt x="5367409" y="0"/>
                  <a:pt x="5381625" y="14216"/>
                  <a:pt x="5381625" y="31752"/>
                </a:cubicBezTo>
                <a:lnTo>
                  <a:pt x="5381625" y="444498"/>
                </a:lnTo>
                <a:cubicBezTo>
                  <a:pt x="5381625" y="462034"/>
                  <a:pt x="5367409" y="476250"/>
                  <a:pt x="534987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97625" y="377825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7625" y="396875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通用默认选择,尤其适合需要紧凑簇的场景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7500" y="4476750"/>
            <a:ext cx="11557000" cy="2381250"/>
          </a:xfrm>
          <a:custGeom>
            <a:avLst/>
            <a:gdLst/>
            <a:ahLst/>
            <a:cxnLst/>
            <a:rect l="l" t="t" r="r" b="b"/>
            <a:pathLst>
              <a:path w="11557000" h="2381250">
                <a:moveTo>
                  <a:pt x="63508" y="0"/>
                </a:moveTo>
                <a:lnTo>
                  <a:pt x="11493492" y="0"/>
                </a:lnTo>
                <a:cubicBezTo>
                  <a:pt x="11528567" y="0"/>
                  <a:pt x="11557000" y="28433"/>
                  <a:pt x="11557000" y="63508"/>
                </a:cubicBezTo>
                <a:lnTo>
                  <a:pt x="11557000" y="2317742"/>
                </a:lnTo>
                <a:cubicBezTo>
                  <a:pt x="11557000" y="2352817"/>
                  <a:pt x="11528567" y="2381250"/>
                  <a:pt x="11493492" y="2381250"/>
                </a:cubicBezTo>
                <a:lnTo>
                  <a:pt x="63508" y="2381250"/>
                </a:lnTo>
                <a:cubicBezTo>
                  <a:pt x="28433" y="2381250"/>
                  <a:pt x="0" y="2352817"/>
                  <a:pt x="0" y="231774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76250" y="4635500"/>
            <a:ext cx="1131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四种链接方式对比总结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8469" y="4953000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连接方式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282156" y="4953000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核心逻辑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15844" y="4953000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49531" y="4953000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76250" y="5207000"/>
            <a:ext cx="11239500" cy="254000"/>
          </a:xfrm>
          <a:custGeom>
            <a:avLst/>
            <a:gdLst/>
            <a:ahLst/>
            <a:cxnLst/>
            <a:rect l="l" t="t" r="r" b="b"/>
            <a:pathLst>
              <a:path w="11239500" h="254000">
                <a:moveTo>
                  <a:pt x="31750" y="0"/>
                </a:moveTo>
                <a:lnTo>
                  <a:pt x="11207750" y="0"/>
                </a:lnTo>
                <a:cubicBezTo>
                  <a:pt x="11225273" y="0"/>
                  <a:pt x="11239500" y="14227"/>
                  <a:pt x="11239500" y="31750"/>
                </a:cubicBezTo>
                <a:lnTo>
                  <a:pt x="11239500" y="222250"/>
                </a:lnTo>
                <a:cubicBezTo>
                  <a:pt x="11239500" y="239773"/>
                  <a:pt x="11225273" y="254000"/>
                  <a:pt x="112077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15938" y="52705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单连接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317875" y="52705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最近点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19813" y="52705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发现任意形状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21750" y="52705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链式效应,怕噪声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76250" y="5492750"/>
            <a:ext cx="11239500" cy="254000"/>
          </a:xfrm>
          <a:custGeom>
            <a:avLst/>
            <a:gdLst/>
            <a:ahLst/>
            <a:cxnLst/>
            <a:rect l="l" t="t" r="r" b="b"/>
            <a:pathLst>
              <a:path w="11239500" h="254000">
                <a:moveTo>
                  <a:pt x="31750" y="0"/>
                </a:moveTo>
                <a:lnTo>
                  <a:pt x="11207750" y="0"/>
                </a:lnTo>
                <a:cubicBezTo>
                  <a:pt x="11225273" y="0"/>
                  <a:pt x="11239500" y="14227"/>
                  <a:pt x="11239500" y="31750"/>
                </a:cubicBezTo>
                <a:lnTo>
                  <a:pt x="11239500" y="222250"/>
                </a:lnTo>
                <a:cubicBezTo>
                  <a:pt x="11239500" y="239773"/>
                  <a:pt x="11225273" y="254000"/>
                  <a:pt x="112077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515938" y="55562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全连接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17875" y="55562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最远点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19813" y="55562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簇紧凑,抗噪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21750" y="55562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仅限球状,断裂大簇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6250" y="5778500"/>
            <a:ext cx="11239500" cy="254000"/>
          </a:xfrm>
          <a:custGeom>
            <a:avLst/>
            <a:gdLst/>
            <a:ahLst/>
            <a:cxnLst/>
            <a:rect l="l" t="t" r="r" b="b"/>
            <a:pathLst>
              <a:path w="11239500" h="254000">
                <a:moveTo>
                  <a:pt x="31750" y="0"/>
                </a:moveTo>
                <a:lnTo>
                  <a:pt x="11207750" y="0"/>
                </a:lnTo>
                <a:cubicBezTo>
                  <a:pt x="11225273" y="0"/>
                  <a:pt x="11239500" y="14227"/>
                  <a:pt x="11239500" y="31750"/>
                </a:cubicBezTo>
                <a:lnTo>
                  <a:pt x="11239500" y="222250"/>
                </a:lnTo>
                <a:cubicBezTo>
                  <a:pt x="11239500" y="239773"/>
                  <a:pt x="11225273" y="254000"/>
                  <a:pt x="112077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515938" y="58420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平均连接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17875" y="58420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平均距离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119813" y="58420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稳健,折中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21750" y="584200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计算量大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76250" y="6064250"/>
            <a:ext cx="11239500" cy="254000"/>
          </a:xfrm>
          <a:custGeom>
            <a:avLst/>
            <a:gdLst/>
            <a:ahLst/>
            <a:cxnLst/>
            <a:rect l="l" t="t" r="r" b="b"/>
            <a:pathLst>
              <a:path w="11239500" h="254000">
                <a:moveTo>
                  <a:pt x="31750" y="0"/>
                </a:moveTo>
                <a:lnTo>
                  <a:pt x="11207750" y="0"/>
                </a:lnTo>
                <a:cubicBezTo>
                  <a:pt x="11225273" y="0"/>
                  <a:pt x="11239500" y="14227"/>
                  <a:pt x="11239500" y="31750"/>
                </a:cubicBezTo>
                <a:lnTo>
                  <a:pt x="11239500" y="222250"/>
                </a:lnTo>
                <a:cubicBezTo>
                  <a:pt x="11239500" y="239773"/>
                  <a:pt x="11225273" y="254000"/>
                  <a:pt x="112077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515938" y="61277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Ward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317875" y="61277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方差增量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119813" y="61277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簇大小均匀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21750" y="6127750"/>
            <a:ext cx="275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偏向球状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76250" y="6413500"/>
            <a:ext cx="11239500" cy="285750"/>
          </a:xfrm>
          <a:custGeom>
            <a:avLst/>
            <a:gdLst/>
            <a:ahLst/>
            <a:cxnLst/>
            <a:rect l="l" t="t" r="r" b="b"/>
            <a:pathLst>
              <a:path w="11239500" h="285750">
                <a:moveTo>
                  <a:pt x="31750" y="0"/>
                </a:moveTo>
                <a:lnTo>
                  <a:pt x="11207750" y="0"/>
                </a:lnTo>
                <a:cubicBezTo>
                  <a:pt x="11225285" y="0"/>
                  <a:pt x="11239500" y="14215"/>
                  <a:pt x="11239500" y="31750"/>
                </a:cubicBezTo>
                <a:lnTo>
                  <a:pt x="11239500" y="254000"/>
                </a:lnTo>
                <a:cubicBezTo>
                  <a:pt x="11239500" y="271535"/>
                  <a:pt x="11225285" y="285750"/>
                  <a:pt x="112077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448469" y="6413500"/>
            <a:ext cx="1129506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实践建议: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Ward连接通常是首选的默认方案,其次是平均连接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kern="0" spc="57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DIVISIVE CLUSTERING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分裂层次聚类: </a:t>
            </a:r>
            <a:r>
              <a:rPr lang="en-US" sz="2551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DIANA</a:t>
            </a:r>
            <a:r>
              <a:rPr lang="en-US" sz="255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907" y="1187708"/>
            <a:ext cx="11454182" cy="1943522"/>
          </a:xfrm>
          <a:custGeom>
            <a:avLst/>
            <a:gdLst/>
            <a:ahLst/>
            <a:cxnLst/>
            <a:rect l="l" t="t" r="r" b="b"/>
            <a:pathLst>
              <a:path w="11454182" h="1943522">
                <a:moveTo>
                  <a:pt x="35991" y="0"/>
                </a:moveTo>
                <a:lnTo>
                  <a:pt x="11382194" y="0"/>
                </a:lnTo>
                <a:cubicBezTo>
                  <a:pt x="11421951" y="0"/>
                  <a:pt x="11454182" y="32230"/>
                  <a:pt x="11454182" y="71988"/>
                </a:cubicBezTo>
                <a:lnTo>
                  <a:pt x="11454182" y="1871534"/>
                </a:lnTo>
                <a:cubicBezTo>
                  <a:pt x="11454182" y="1911292"/>
                  <a:pt x="11421951" y="1943522"/>
                  <a:pt x="11382194" y="1943522"/>
                </a:cubicBezTo>
                <a:lnTo>
                  <a:pt x="35991" y="1943522"/>
                </a:lnTo>
                <a:cubicBezTo>
                  <a:pt x="16114" y="1943522"/>
                  <a:pt x="0" y="1927408"/>
                  <a:pt x="0" y="190753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77907" y="1187708"/>
            <a:ext cx="35991" cy="1943522"/>
          </a:xfrm>
          <a:custGeom>
            <a:avLst/>
            <a:gdLst/>
            <a:ahLst/>
            <a:cxnLst/>
            <a:rect l="l" t="t" r="r" b="b"/>
            <a:pathLst>
              <a:path w="35991" h="1943522">
                <a:moveTo>
                  <a:pt x="35991" y="0"/>
                </a:moveTo>
                <a:lnTo>
                  <a:pt x="35991" y="0"/>
                </a:lnTo>
                <a:lnTo>
                  <a:pt x="35991" y="1943522"/>
                </a:lnTo>
                <a:lnTo>
                  <a:pt x="35991" y="1943522"/>
                </a:lnTo>
                <a:cubicBezTo>
                  <a:pt x="16114" y="1943522"/>
                  <a:pt x="0" y="1927408"/>
                  <a:pt x="0" y="190753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75858" y="1367663"/>
            <a:ext cx="1118424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5858" y="1763566"/>
            <a:ext cx="11148257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分裂法采取</a:t>
            </a:r>
            <a:r>
              <a:rPr lang="en-US" sz="113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自上而下的策略</a:t>
            </a:r>
            <a:r>
              <a:rPr lang="en-US" sz="113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,类似"细胞分裂":初始时将所有样本视为一个大簇,然后通过不断细分来揭示数据的内部结构。核心挑战在于:</a:t>
            </a:r>
            <a:r>
              <a:rPr lang="en-US" sz="113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如何选择一个簇进行分裂?以及如何分裂它?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5858" y="2339424"/>
            <a:ext cx="11076275" cy="611849"/>
          </a:xfrm>
          <a:custGeom>
            <a:avLst/>
            <a:gdLst/>
            <a:ahLst/>
            <a:cxnLst/>
            <a:rect l="l" t="t" r="r" b="b"/>
            <a:pathLst>
              <a:path w="11076275" h="611849">
                <a:moveTo>
                  <a:pt x="35989" y="0"/>
                </a:moveTo>
                <a:lnTo>
                  <a:pt x="11040286" y="0"/>
                </a:lnTo>
                <a:cubicBezTo>
                  <a:pt x="11060162" y="0"/>
                  <a:pt x="11076275" y="16113"/>
                  <a:pt x="11076275" y="35989"/>
                </a:cubicBezTo>
                <a:lnTo>
                  <a:pt x="11076275" y="575860"/>
                </a:lnTo>
                <a:cubicBezTo>
                  <a:pt x="11076275" y="595737"/>
                  <a:pt x="11060162" y="611849"/>
                  <a:pt x="11040286" y="611849"/>
                </a:cubicBezTo>
                <a:lnTo>
                  <a:pt x="35989" y="611849"/>
                </a:lnTo>
                <a:cubicBezTo>
                  <a:pt x="16113" y="611849"/>
                  <a:pt x="0" y="595737"/>
                  <a:pt x="0" y="575860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3832" y="2447398"/>
            <a:ext cx="1092331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计算复杂度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832" y="2663345"/>
            <a:ext cx="1092331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穷举所有分裂方式(2ⁿ⁻¹-1种)在计算上不可行(NP-Hard),实际采用启发式策略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7907" y="3275194"/>
            <a:ext cx="5623616" cy="3221207"/>
          </a:xfrm>
          <a:custGeom>
            <a:avLst/>
            <a:gdLst/>
            <a:ahLst/>
            <a:cxnLst/>
            <a:rect l="l" t="t" r="r" b="b"/>
            <a:pathLst>
              <a:path w="5623616" h="3221207">
                <a:moveTo>
                  <a:pt x="35991" y="0"/>
                </a:moveTo>
                <a:lnTo>
                  <a:pt x="5551622" y="0"/>
                </a:lnTo>
                <a:cubicBezTo>
                  <a:pt x="5591383" y="0"/>
                  <a:pt x="5623616" y="32233"/>
                  <a:pt x="5623616" y="71994"/>
                </a:cubicBezTo>
                <a:lnTo>
                  <a:pt x="5623616" y="3149213"/>
                </a:lnTo>
                <a:cubicBezTo>
                  <a:pt x="5623616" y="3188975"/>
                  <a:pt x="5591383" y="3221207"/>
                  <a:pt x="5551622" y="3221207"/>
                </a:cubicBezTo>
                <a:lnTo>
                  <a:pt x="35991" y="3221207"/>
                </a:lnTo>
                <a:cubicBezTo>
                  <a:pt x="16114" y="3221207"/>
                  <a:pt x="0" y="3205094"/>
                  <a:pt x="0" y="318521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77907" y="3275194"/>
            <a:ext cx="35991" cy="3221207"/>
          </a:xfrm>
          <a:custGeom>
            <a:avLst/>
            <a:gdLst/>
            <a:ahLst/>
            <a:cxnLst/>
            <a:rect l="l" t="t" r="r" b="b"/>
            <a:pathLst>
              <a:path w="35991" h="3221207">
                <a:moveTo>
                  <a:pt x="35991" y="0"/>
                </a:moveTo>
                <a:lnTo>
                  <a:pt x="35991" y="0"/>
                </a:lnTo>
                <a:lnTo>
                  <a:pt x="35991" y="3221207"/>
                </a:lnTo>
                <a:lnTo>
                  <a:pt x="35991" y="3221207"/>
                </a:lnTo>
                <a:cubicBezTo>
                  <a:pt x="16114" y="3221207"/>
                  <a:pt x="0" y="3205094"/>
                  <a:pt x="0" y="318521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75858" y="3455150"/>
            <a:ext cx="533568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DIANA算法流程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5858" y="3815061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lnTo>
                  <a:pt x="107973" y="0"/>
                </a:lnTo>
                <a:cubicBezTo>
                  <a:pt x="167566" y="0"/>
                  <a:pt x="215947" y="48381"/>
                  <a:pt x="215947" y="107973"/>
                </a:cubicBezTo>
                <a:lnTo>
                  <a:pt x="215947" y="107973"/>
                </a:lnTo>
                <a:cubicBezTo>
                  <a:pt x="215947" y="167566"/>
                  <a:pt x="167566" y="215947"/>
                  <a:pt x="107973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865" y="3815061"/>
            <a:ext cx="26993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787" y="3815061"/>
            <a:ext cx="237541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初始化:</a:t>
            </a: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将所有N个样本归为一个初始簇C₀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5858" y="4102990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lnTo>
                  <a:pt x="107973" y="0"/>
                </a:lnTo>
                <a:cubicBezTo>
                  <a:pt x="167566" y="0"/>
                  <a:pt x="215947" y="48381"/>
                  <a:pt x="215947" y="107973"/>
                </a:cubicBezTo>
                <a:lnTo>
                  <a:pt x="215947" y="107973"/>
                </a:lnTo>
                <a:cubicBezTo>
                  <a:pt x="215947" y="167566"/>
                  <a:pt x="167566" y="215947"/>
                  <a:pt x="107973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8865" y="4102990"/>
            <a:ext cx="26993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787" y="4102990"/>
            <a:ext cx="297826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选择分裂簇:</a:t>
            </a: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选直径最大(簇内最远两点距离最大)的簇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5858" y="4390920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lnTo>
                  <a:pt x="107973" y="0"/>
                </a:lnTo>
                <a:cubicBezTo>
                  <a:pt x="167566" y="0"/>
                  <a:pt x="215947" y="48381"/>
                  <a:pt x="215947" y="107973"/>
                </a:cubicBezTo>
                <a:lnTo>
                  <a:pt x="215947" y="107973"/>
                </a:lnTo>
                <a:cubicBezTo>
                  <a:pt x="215947" y="167566"/>
                  <a:pt x="167566" y="215947"/>
                  <a:pt x="107973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8865" y="4390920"/>
            <a:ext cx="26993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787" y="4390920"/>
            <a:ext cx="314922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寻找分裂点:</a:t>
            </a: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找平均不相似度最大的点作为新子簇首成员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5858" y="4678849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lnTo>
                  <a:pt x="107973" y="0"/>
                </a:lnTo>
                <a:cubicBezTo>
                  <a:pt x="167566" y="0"/>
                  <a:pt x="215947" y="48381"/>
                  <a:pt x="215947" y="107973"/>
                </a:cubicBezTo>
                <a:lnTo>
                  <a:pt x="215947" y="107973"/>
                </a:lnTo>
                <a:cubicBezTo>
                  <a:pt x="215947" y="167566"/>
                  <a:pt x="167566" y="215947"/>
                  <a:pt x="107973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8865" y="4678849"/>
            <a:ext cx="26993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787" y="4678849"/>
            <a:ext cx="251938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重分配:</a:t>
            </a: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剩余点根据距离分配到旧簇或新子簇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5858" y="496677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lnTo>
                  <a:pt x="107973" y="0"/>
                </a:lnTo>
                <a:cubicBezTo>
                  <a:pt x="167566" y="0"/>
                  <a:pt x="215947" y="48381"/>
                  <a:pt x="215947" y="107973"/>
                </a:cubicBezTo>
                <a:lnTo>
                  <a:pt x="215947" y="107973"/>
                </a:lnTo>
                <a:cubicBezTo>
                  <a:pt x="215947" y="167566"/>
                  <a:pt x="167566" y="215947"/>
                  <a:pt x="107973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48865" y="4966778"/>
            <a:ext cx="26993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787" y="4966778"/>
            <a:ext cx="209648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递归:</a:t>
            </a: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重复步骤2-4直到满足终止条件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2427" y="3275194"/>
            <a:ext cx="5623616" cy="1799557"/>
          </a:xfrm>
          <a:custGeom>
            <a:avLst/>
            <a:gdLst/>
            <a:ahLst/>
            <a:cxnLst/>
            <a:rect l="l" t="t" r="r" b="b"/>
            <a:pathLst>
              <a:path w="5623616" h="1799557">
                <a:moveTo>
                  <a:pt x="35991" y="0"/>
                </a:moveTo>
                <a:lnTo>
                  <a:pt x="5551634" y="0"/>
                </a:lnTo>
                <a:cubicBezTo>
                  <a:pt x="5591389" y="0"/>
                  <a:pt x="5623616" y="32228"/>
                  <a:pt x="5623616" y="71982"/>
                </a:cubicBezTo>
                <a:lnTo>
                  <a:pt x="5623616" y="1727575"/>
                </a:lnTo>
                <a:cubicBezTo>
                  <a:pt x="5623616" y="1767330"/>
                  <a:pt x="5591389" y="1799557"/>
                  <a:pt x="5551634" y="1799557"/>
                </a:cubicBezTo>
                <a:lnTo>
                  <a:pt x="35991" y="1799557"/>
                </a:lnTo>
                <a:cubicBezTo>
                  <a:pt x="16114" y="1799557"/>
                  <a:pt x="0" y="1783443"/>
                  <a:pt x="0" y="176356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202427" y="3275194"/>
            <a:ext cx="35991" cy="1799557"/>
          </a:xfrm>
          <a:custGeom>
            <a:avLst/>
            <a:gdLst/>
            <a:ahLst/>
            <a:cxnLst/>
            <a:rect l="l" t="t" r="r" b="b"/>
            <a:pathLst>
              <a:path w="35991" h="1799557">
                <a:moveTo>
                  <a:pt x="35991" y="0"/>
                </a:moveTo>
                <a:lnTo>
                  <a:pt x="35991" y="0"/>
                </a:lnTo>
                <a:lnTo>
                  <a:pt x="35991" y="1799557"/>
                </a:lnTo>
                <a:lnTo>
                  <a:pt x="35991" y="1799557"/>
                </a:lnTo>
                <a:cubicBezTo>
                  <a:pt x="16114" y="1799557"/>
                  <a:pt x="0" y="1783443"/>
                  <a:pt x="0" y="176356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378" y="3455150"/>
            <a:ext cx="533568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分裂策略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378" y="3815061"/>
            <a:ext cx="5245709" cy="503876"/>
          </a:xfrm>
          <a:custGeom>
            <a:avLst/>
            <a:gdLst/>
            <a:ahLst/>
            <a:cxnLst/>
            <a:rect l="l" t="t" r="r" b="b"/>
            <a:pathLst>
              <a:path w="5245709" h="503876">
                <a:moveTo>
                  <a:pt x="35992" y="0"/>
                </a:moveTo>
                <a:lnTo>
                  <a:pt x="5209717" y="0"/>
                </a:lnTo>
                <a:cubicBezTo>
                  <a:pt x="5229595" y="0"/>
                  <a:pt x="5245709" y="16114"/>
                  <a:pt x="5245709" y="35992"/>
                </a:cubicBezTo>
                <a:lnTo>
                  <a:pt x="5245709" y="467884"/>
                </a:lnTo>
                <a:cubicBezTo>
                  <a:pt x="5245709" y="487762"/>
                  <a:pt x="5229595" y="503876"/>
                  <a:pt x="5209717" y="503876"/>
                </a:cubicBezTo>
                <a:lnTo>
                  <a:pt x="35992" y="503876"/>
                </a:lnTo>
                <a:cubicBezTo>
                  <a:pt x="16127" y="503876"/>
                  <a:pt x="0" y="487749"/>
                  <a:pt x="0" y="467884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72361" y="3887044"/>
            <a:ext cx="516472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Bisecting 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72361" y="4102990"/>
            <a:ext cx="5155731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结合K-Means速度和层次结构性,每次选SSE最大的簇运行K=2的K-Means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378" y="4390920"/>
            <a:ext cx="5245709" cy="503876"/>
          </a:xfrm>
          <a:custGeom>
            <a:avLst/>
            <a:gdLst/>
            <a:ahLst/>
            <a:cxnLst/>
            <a:rect l="l" t="t" r="r" b="b"/>
            <a:pathLst>
              <a:path w="5245709" h="503876">
                <a:moveTo>
                  <a:pt x="35992" y="0"/>
                </a:moveTo>
                <a:lnTo>
                  <a:pt x="5209717" y="0"/>
                </a:lnTo>
                <a:cubicBezTo>
                  <a:pt x="5229595" y="0"/>
                  <a:pt x="5245709" y="16114"/>
                  <a:pt x="5245709" y="35992"/>
                </a:cubicBezTo>
                <a:lnTo>
                  <a:pt x="5245709" y="467884"/>
                </a:lnTo>
                <a:cubicBezTo>
                  <a:pt x="5245709" y="487762"/>
                  <a:pt x="5229595" y="503876"/>
                  <a:pt x="5209717" y="503876"/>
                </a:cubicBezTo>
                <a:lnTo>
                  <a:pt x="35992" y="503876"/>
                </a:lnTo>
                <a:cubicBezTo>
                  <a:pt x="16127" y="503876"/>
                  <a:pt x="0" y="487749"/>
                  <a:pt x="0" y="467884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72361" y="4462902"/>
            <a:ext cx="516472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MST分裂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2361" y="4678849"/>
            <a:ext cx="5155731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构建最小生成树,切断权重最大的边,适合发现非球形簇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8930" y="5223215"/>
            <a:ext cx="5632614" cy="1268688"/>
          </a:xfrm>
          <a:custGeom>
            <a:avLst/>
            <a:gdLst/>
            <a:ahLst/>
            <a:cxnLst/>
            <a:rect l="l" t="t" r="r" b="b"/>
            <a:pathLst>
              <a:path w="5632614" h="1268688">
                <a:moveTo>
                  <a:pt x="71985" y="0"/>
                </a:moveTo>
                <a:lnTo>
                  <a:pt x="5560629" y="0"/>
                </a:lnTo>
                <a:cubicBezTo>
                  <a:pt x="5600385" y="0"/>
                  <a:pt x="5632614" y="32229"/>
                  <a:pt x="5632614" y="71985"/>
                </a:cubicBezTo>
                <a:lnTo>
                  <a:pt x="5632614" y="1196702"/>
                </a:lnTo>
                <a:cubicBezTo>
                  <a:pt x="5632614" y="1236459"/>
                  <a:pt x="5600385" y="1268688"/>
                  <a:pt x="5560629" y="1268688"/>
                </a:cubicBezTo>
                <a:lnTo>
                  <a:pt x="71985" y="1268688"/>
                </a:lnTo>
                <a:cubicBezTo>
                  <a:pt x="32256" y="1268688"/>
                  <a:pt x="0" y="1236432"/>
                  <a:pt x="0" y="1196702"/>
                </a:cubicBezTo>
                <a:lnTo>
                  <a:pt x="0" y="71985"/>
                </a:lnTo>
                <a:cubicBezTo>
                  <a:pt x="0" y="32256"/>
                  <a:pt x="32256" y="0"/>
                  <a:pt x="71985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73385" y="5407669"/>
            <a:ext cx="535368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凝聚 vs 分裂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3385" y="5767581"/>
            <a:ext cx="2582365" cy="539867"/>
          </a:xfrm>
          <a:custGeom>
            <a:avLst/>
            <a:gdLst/>
            <a:ahLst/>
            <a:cxnLst/>
            <a:rect l="l" t="t" r="r" b="b"/>
            <a:pathLst>
              <a:path w="2582365" h="539867">
                <a:moveTo>
                  <a:pt x="35993" y="0"/>
                </a:moveTo>
                <a:lnTo>
                  <a:pt x="2546372" y="0"/>
                </a:lnTo>
                <a:cubicBezTo>
                  <a:pt x="2566250" y="0"/>
                  <a:pt x="2582365" y="16115"/>
                  <a:pt x="2582365" y="35993"/>
                </a:cubicBezTo>
                <a:lnTo>
                  <a:pt x="2582365" y="503874"/>
                </a:lnTo>
                <a:cubicBezTo>
                  <a:pt x="2582365" y="523753"/>
                  <a:pt x="2566250" y="539867"/>
                  <a:pt x="2546372" y="539867"/>
                </a:cubicBezTo>
                <a:lnTo>
                  <a:pt x="35993" y="539867"/>
                </a:lnTo>
                <a:cubicBezTo>
                  <a:pt x="16115" y="539867"/>
                  <a:pt x="0" y="523753"/>
                  <a:pt x="0" y="503874"/>
                </a:cubicBezTo>
                <a:lnTo>
                  <a:pt x="0" y="35993"/>
                </a:lnTo>
                <a:cubicBezTo>
                  <a:pt x="0" y="16115"/>
                  <a:pt x="16115" y="0"/>
                  <a:pt x="359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45367" y="5839563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凝聚法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45367" y="6055510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局部视角, 适合探索详细层级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60700" y="5767581"/>
            <a:ext cx="2582365" cy="539867"/>
          </a:xfrm>
          <a:custGeom>
            <a:avLst/>
            <a:gdLst/>
            <a:ahLst/>
            <a:cxnLst/>
            <a:rect l="l" t="t" r="r" b="b"/>
            <a:pathLst>
              <a:path w="2582365" h="539867">
                <a:moveTo>
                  <a:pt x="35993" y="0"/>
                </a:moveTo>
                <a:lnTo>
                  <a:pt x="2546372" y="0"/>
                </a:lnTo>
                <a:cubicBezTo>
                  <a:pt x="2566250" y="0"/>
                  <a:pt x="2582365" y="16115"/>
                  <a:pt x="2582365" y="35993"/>
                </a:cubicBezTo>
                <a:lnTo>
                  <a:pt x="2582365" y="503874"/>
                </a:lnTo>
                <a:cubicBezTo>
                  <a:pt x="2582365" y="523753"/>
                  <a:pt x="2566250" y="539867"/>
                  <a:pt x="2546372" y="539867"/>
                </a:cubicBezTo>
                <a:lnTo>
                  <a:pt x="35993" y="539867"/>
                </a:lnTo>
                <a:cubicBezTo>
                  <a:pt x="16115" y="539867"/>
                  <a:pt x="0" y="523753"/>
                  <a:pt x="0" y="503874"/>
                </a:cubicBezTo>
                <a:lnTo>
                  <a:pt x="0" y="35993"/>
                </a:lnTo>
                <a:cubicBezTo>
                  <a:pt x="0" y="16115"/>
                  <a:pt x="16115" y="0"/>
                  <a:pt x="359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132682" y="5839563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分裂法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32682" y="6055510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全局视角, 适合快速找大类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kern="0" spc="60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BIRCH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82070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BIRCH</a:t>
            </a:r>
            <a:r>
              <a:rPr lang="en-US" sz="26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算法: </a:t>
            </a:r>
            <a:r>
              <a:rPr lang="en-US" sz="268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CF</a:t>
            </a:r>
            <a:r>
              <a:rPr lang="en-US" sz="26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聚类特征树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7874" y="1250462"/>
            <a:ext cx="5589184" cy="2292513"/>
          </a:xfrm>
          <a:custGeom>
            <a:avLst/>
            <a:gdLst/>
            <a:ahLst/>
            <a:cxnLst/>
            <a:rect l="l" t="t" r="r" b="b"/>
            <a:pathLst>
              <a:path w="5589184" h="2292513">
                <a:moveTo>
                  <a:pt x="37893" y="0"/>
                </a:moveTo>
                <a:lnTo>
                  <a:pt x="5513394" y="0"/>
                </a:lnTo>
                <a:cubicBezTo>
                  <a:pt x="5555252" y="0"/>
                  <a:pt x="5589184" y="33933"/>
                  <a:pt x="5589184" y="75790"/>
                </a:cubicBezTo>
                <a:lnTo>
                  <a:pt x="5589184" y="2216722"/>
                </a:lnTo>
                <a:cubicBezTo>
                  <a:pt x="5589184" y="2258580"/>
                  <a:pt x="5555252" y="2292513"/>
                  <a:pt x="5513394" y="2292513"/>
                </a:cubicBezTo>
                <a:lnTo>
                  <a:pt x="37893" y="2292513"/>
                </a:lnTo>
                <a:cubicBezTo>
                  <a:pt x="16965" y="2292513"/>
                  <a:pt x="0" y="2275548"/>
                  <a:pt x="0" y="225462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97874" y="1250462"/>
            <a:ext cx="37893" cy="2292513"/>
          </a:xfrm>
          <a:custGeom>
            <a:avLst/>
            <a:gdLst/>
            <a:ahLst/>
            <a:cxnLst/>
            <a:rect l="l" t="t" r="r" b="b"/>
            <a:pathLst>
              <a:path w="37893" h="2292513">
                <a:moveTo>
                  <a:pt x="37893" y="0"/>
                </a:moveTo>
                <a:lnTo>
                  <a:pt x="37893" y="0"/>
                </a:lnTo>
                <a:lnTo>
                  <a:pt x="37893" y="2292513"/>
                </a:lnTo>
                <a:lnTo>
                  <a:pt x="37893" y="2292513"/>
                </a:lnTo>
                <a:cubicBezTo>
                  <a:pt x="16965" y="2292513"/>
                  <a:pt x="0" y="2275548"/>
                  <a:pt x="0" y="225462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6284" y="1439925"/>
            <a:ext cx="530498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算法概述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6284" y="1856746"/>
            <a:ext cx="5267096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BIRCH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</a:t>
            </a:r>
            <a:r>
              <a:rPr lang="en-US" sz="119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Balanced Iterative Reducing and Clustering using Hierarchies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)是一种高效的层次聚类算法,特别适用于</a:t>
            </a:r>
            <a:r>
              <a:rPr lang="en-US" sz="1193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大型数据集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。它通过构建</a:t>
            </a:r>
            <a:r>
              <a:rPr lang="en-US" sz="1193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CF</a:t>
            </a: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</a:t>
            </a:r>
            <a:r>
              <a:rPr lang="en-US" sz="1193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Clustering Feature</a:t>
            </a: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)聚类特征树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来实现快速聚类。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6284" y="2709333"/>
            <a:ext cx="5191310" cy="644177"/>
          </a:xfrm>
          <a:custGeom>
            <a:avLst/>
            <a:gdLst/>
            <a:ahLst/>
            <a:cxnLst/>
            <a:rect l="l" t="t" r="r" b="b"/>
            <a:pathLst>
              <a:path w="5191310" h="644177">
                <a:moveTo>
                  <a:pt x="37891" y="0"/>
                </a:moveTo>
                <a:lnTo>
                  <a:pt x="5153420" y="0"/>
                </a:lnTo>
                <a:cubicBezTo>
                  <a:pt x="5174346" y="0"/>
                  <a:pt x="5191310" y="16964"/>
                  <a:pt x="5191310" y="37891"/>
                </a:cubicBezTo>
                <a:lnTo>
                  <a:pt x="5191310" y="606287"/>
                </a:lnTo>
                <a:cubicBezTo>
                  <a:pt x="5191310" y="627213"/>
                  <a:pt x="5174346" y="644177"/>
                  <a:pt x="5153420" y="644177"/>
                </a:cubicBezTo>
                <a:lnTo>
                  <a:pt x="37891" y="644177"/>
                </a:lnTo>
                <a:cubicBezTo>
                  <a:pt x="16964" y="644177"/>
                  <a:pt x="0" y="627213"/>
                  <a:pt x="0" y="606287"/>
                </a:cubicBezTo>
                <a:lnTo>
                  <a:pt x="0" y="37891"/>
                </a:lnTo>
                <a:cubicBezTo>
                  <a:pt x="0" y="16978"/>
                  <a:pt x="16978" y="0"/>
                  <a:pt x="3789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19963" y="2823012"/>
            <a:ext cx="503026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963" y="3050368"/>
            <a:ext cx="5030266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内存开销小,计算效率高,支持流数据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874" y="3694545"/>
            <a:ext cx="5589184" cy="2785119"/>
          </a:xfrm>
          <a:custGeom>
            <a:avLst/>
            <a:gdLst/>
            <a:ahLst/>
            <a:cxnLst/>
            <a:rect l="l" t="t" r="r" b="b"/>
            <a:pathLst>
              <a:path w="5589184" h="2785119">
                <a:moveTo>
                  <a:pt x="37893" y="0"/>
                </a:moveTo>
                <a:lnTo>
                  <a:pt x="5513401" y="0"/>
                </a:lnTo>
                <a:cubicBezTo>
                  <a:pt x="5555255" y="0"/>
                  <a:pt x="5589184" y="33929"/>
                  <a:pt x="5589184" y="75783"/>
                </a:cubicBezTo>
                <a:lnTo>
                  <a:pt x="5589184" y="2709336"/>
                </a:lnTo>
                <a:cubicBezTo>
                  <a:pt x="5589184" y="2751190"/>
                  <a:pt x="5555255" y="2785119"/>
                  <a:pt x="5513401" y="2785119"/>
                </a:cubicBezTo>
                <a:lnTo>
                  <a:pt x="37893" y="2785119"/>
                </a:lnTo>
                <a:cubicBezTo>
                  <a:pt x="16965" y="2785119"/>
                  <a:pt x="0" y="2768154"/>
                  <a:pt x="0" y="2747226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97874" y="3694545"/>
            <a:ext cx="37893" cy="2785119"/>
          </a:xfrm>
          <a:custGeom>
            <a:avLst/>
            <a:gdLst/>
            <a:ahLst/>
            <a:cxnLst/>
            <a:rect l="l" t="t" r="r" b="b"/>
            <a:pathLst>
              <a:path w="37893" h="2785119">
                <a:moveTo>
                  <a:pt x="37893" y="0"/>
                </a:moveTo>
                <a:lnTo>
                  <a:pt x="37893" y="0"/>
                </a:lnTo>
                <a:lnTo>
                  <a:pt x="37893" y="2785119"/>
                </a:lnTo>
                <a:lnTo>
                  <a:pt x="37893" y="2785119"/>
                </a:lnTo>
                <a:cubicBezTo>
                  <a:pt x="16965" y="2785119"/>
                  <a:pt x="0" y="2768154"/>
                  <a:pt x="0" y="2747226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6284" y="3884009"/>
            <a:ext cx="530498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CF</a:t>
            </a:r>
            <a:r>
              <a:rPr lang="en-US" sz="179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聚类特征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6284" y="4300830"/>
            <a:ext cx="5267096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CF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是一个</a:t>
            </a: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三元组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⟨</a:t>
            </a:r>
            <a:r>
              <a:rPr lang="en-US" sz="1193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N,LS,SS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⟩,有效压缩数据信息: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6284" y="4660811"/>
            <a:ext cx="5191310" cy="492606"/>
          </a:xfrm>
          <a:custGeom>
            <a:avLst/>
            <a:gdLst/>
            <a:ahLst/>
            <a:cxnLst/>
            <a:rect l="l" t="t" r="r" b="b"/>
            <a:pathLst>
              <a:path w="5191310" h="492606">
                <a:moveTo>
                  <a:pt x="37891" y="0"/>
                </a:moveTo>
                <a:lnTo>
                  <a:pt x="5153419" y="0"/>
                </a:lnTo>
                <a:cubicBezTo>
                  <a:pt x="5174346" y="0"/>
                  <a:pt x="5191310" y="16964"/>
                  <a:pt x="5191310" y="37891"/>
                </a:cubicBezTo>
                <a:lnTo>
                  <a:pt x="5191310" y="454715"/>
                </a:lnTo>
                <a:cubicBezTo>
                  <a:pt x="5191310" y="475642"/>
                  <a:pt x="5174346" y="492606"/>
                  <a:pt x="5153419" y="492606"/>
                </a:cubicBezTo>
                <a:lnTo>
                  <a:pt x="37891" y="492606"/>
                </a:lnTo>
                <a:cubicBezTo>
                  <a:pt x="16964" y="492606"/>
                  <a:pt x="0" y="475642"/>
                  <a:pt x="0" y="454715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2070" y="4736597"/>
            <a:ext cx="510605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070" y="4926061"/>
            <a:ext cx="5096578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该聚类中样本点的数量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6284" y="5229203"/>
            <a:ext cx="5191310" cy="492606"/>
          </a:xfrm>
          <a:custGeom>
            <a:avLst/>
            <a:gdLst/>
            <a:ahLst/>
            <a:cxnLst/>
            <a:rect l="l" t="t" r="r" b="b"/>
            <a:pathLst>
              <a:path w="5191310" h="492606">
                <a:moveTo>
                  <a:pt x="37891" y="0"/>
                </a:moveTo>
                <a:lnTo>
                  <a:pt x="5153419" y="0"/>
                </a:lnTo>
                <a:cubicBezTo>
                  <a:pt x="5174346" y="0"/>
                  <a:pt x="5191310" y="16964"/>
                  <a:pt x="5191310" y="37891"/>
                </a:cubicBezTo>
                <a:lnTo>
                  <a:pt x="5191310" y="454715"/>
                </a:lnTo>
                <a:cubicBezTo>
                  <a:pt x="5191310" y="475642"/>
                  <a:pt x="5174346" y="492606"/>
                  <a:pt x="5153419" y="492606"/>
                </a:cubicBezTo>
                <a:lnTo>
                  <a:pt x="37891" y="492606"/>
                </a:lnTo>
                <a:cubicBezTo>
                  <a:pt x="16964" y="492606"/>
                  <a:pt x="0" y="475642"/>
                  <a:pt x="0" y="454715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2070" y="5304988"/>
            <a:ext cx="510605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070" y="5494452"/>
            <a:ext cx="5096578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样本点各特征维度的和向量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6284" y="5797594"/>
            <a:ext cx="5191310" cy="492606"/>
          </a:xfrm>
          <a:custGeom>
            <a:avLst/>
            <a:gdLst/>
            <a:ahLst/>
            <a:cxnLst/>
            <a:rect l="l" t="t" r="r" b="b"/>
            <a:pathLst>
              <a:path w="5191310" h="492606">
                <a:moveTo>
                  <a:pt x="37891" y="0"/>
                </a:moveTo>
                <a:lnTo>
                  <a:pt x="5153419" y="0"/>
                </a:lnTo>
                <a:cubicBezTo>
                  <a:pt x="5174346" y="0"/>
                  <a:pt x="5191310" y="16964"/>
                  <a:pt x="5191310" y="37891"/>
                </a:cubicBezTo>
                <a:lnTo>
                  <a:pt x="5191310" y="454715"/>
                </a:lnTo>
                <a:cubicBezTo>
                  <a:pt x="5191310" y="475642"/>
                  <a:pt x="5174346" y="492606"/>
                  <a:pt x="5153419" y="492606"/>
                </a:cubicBezTo>
                <a:lnTo>
                  <a:pt x="37891" y="492606"/>
                </a:lnTo>
                <a:cubicBezTo>
                  <a:pt x="16964" y="492606"/>
                  <a:pt x="0" y="475642"/>
                  <a:pt x="0" y="454715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2070" y="5873380"/>
            <a:ext cx="510605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070" y="6062844"/>
            <a:ext cx="5096578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样本点各特征维度的平方和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4933" y="1255198"/>
            <a:ext cx="5598657" cy="1600970"/>
          </a:xfrm>
          <a:custGeom>
            <a:avLst/>
            <a:gdLst/>
            <a:ahLst/>
            <a:cxnLst/>
            <a:rect l="l" t="t" r="r" b="b"/>
            <a:pathLst>
              <a:path w="5598657" h="1600970">
                <a:moveTo>
                  <a:pt x="75790" y="0"/>
                </a:moveTo>
                <a:lnTo>
                  <a:pt x="5522867" y="0"/>
                </a:lnTo>
                <a:cubicBezTo>
                  <a:pt x="5564725" y="0"/>
                  <a:pt x="5598657" y="33932"/>
                  <a:pt x="5598657" y="75790"/>
                </a:cubicBezTo>
                <a:lnTo>
                  <a:pt x="5598657" y="1525180"/>
                </a:lnTo>
                <a:cubicBezTo>
                  <a:pt x="5598657" y="1567037"/>
                  <a:pt x="5564725" y="1600970"/>
                  <a:pt x="5522867" y="1600970"/>
                </a:cubicBezTo>
                <a:lnTo>
                  <a:pt x="75790" y="1600970"/>
                </a:lnTo>
                <a:cubicBezTo>
                  <a:pt x="33932" y="1600970"/>
                  <a:pt x="0" y="1567037"/>
                  <a:pt x="0" y="1525180"/>
                </a:cubicBezTo>
                <a:lnTo>
                  <a:pt x="0" y="75790"/>
                </a:lnTo>
                <a:cubicBezTo>
                  <a:pt x="0" y="33960"/>
                  <a:pt x="33960" y="0"/>
                  <a:pt x="7579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 w="12700">
            <a:solidFill>
              <a:srgbClr val="A99A8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9133" y="1449399"/>
            <a:ext cx="530498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算法步骤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9133" y="1828326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0"/>
                </a:moveTo>
                <a:lnTo>
                  <a:pt x="113678" y="0"/>
                </a:lnTo>
                <a:cubicBezTo>
                  <a:pt x="176419" y="0"/>
                  <a:pt x="227357" y="50938"/>
                  <a:pt x="227357" y="113678"/>
                </a:cubicBezTo>
                <a:lnTo>
                  <a:pt x="227357" y="113678"/>
                </a:lnTo>
                <a:cubicBezTo>
                  <a:pt x="227357" y="176419"/>
                  <a:pt x="176419" y="227357"/>
                  <a:pt x="113678" y="227357"/>
                </a:cubicBezTo>
                <a:lnTo>
                  <a:pt x="113678" y="227357"/>
                </a:lnTo>
                <a:cubicBezTo>
                  <a:pt x="50938" y="227357"/>
                  <a:pt x="0" y="176419"/>
                  <a:pt x="0" y="113678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380714" y="1828326"/>
            <a:ext cx="2841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12276" y="1828326"/>
            <a:ext cx="285143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</a:t>
            </a:r>
            <a:r>
              <a:rPr lang="en-US" sz="1193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CF</a:t>
            </a: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树: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遍历数据集,将数据点插入CF树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9133" y="2131469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0"/>
                </a:moveTo>
                <a:lnTo>
                  <a:pt x="113678" y="0"/>
                </a:lnTo>
                <a:cubicBezTo>
                  <a:pt x="176419" y="0"/>
                  <a:pt x="227357" y="50938"/>
                  <a:pt x="227357" y="113678"/>
                </a:cubicBezTo>
                <a:lnTo>
                  <a:pt x="227357" y="113678"/>
                </a:lnTo>
                <a:cubicBezTo>
                  <a:pt x="227357" y="176419"/>
                  <a:pt x="176419" y="227357"/>
                  <a:pt x="113678" y="227357"/>
                </a:cubicBezTo>
                <a:lnTo>
                  <a:pt x="113678" y="227357"/>
                </a:lnTo>
                <a:cubicBezTo>
                  <a:pt x="50938" y="227357"/>
                  <a:pt x="0" y="176419"/>
                  <a:pt x="0" y="113678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80714" y="2131469"/>
            <a:ext cx="2841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12276" y="2131469"/>
            <a:ext cx="216936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聚类: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对CF树的叶节点进行聚类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9133" y="243461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0"/>
                </a:moveTo>
                <a:lnTo>
                  <a:pt x="113678" y="0"/>
                </a:lnTo>
                <a:cubicBezTo>
                  <a:pt x="176419" y="0"/>
                  <a:pt x="227357" y="50938"/>
                  <a:pt x="227357" y="113678"/>
                </a:cubicBezTo>
                <a:lnTo>
                  <a:pt x="227357" y="113678"/>
                </a:lnTo>
                <a:cubicBezTo>
                  <a:pt x="227357" y="176419"/>
                  <a:pt x="176419" y="227357"/>
                  <a:pt x="113678" y="227357"/>
                </a:cubicBezTo>
                <a:lnTo>
                  <a:pt x="113678" y="227357"/>
                </a:lnTo>
                <a:cubicBezTo>
                  <a:pt x="50938" y="227357"/>
                  <a:pt x="0" y="176419"/>
                  <a:pt x="0" y="113678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80714" y="2434611"/>
            <a:ext cx="2841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12276" y="2434611"/>
            <a:ext cx="206515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细化(可选):</a:t>
            </a: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使用其他算法微调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4933" y="3017212"/>
            <a:ext cx="5598657" cy="1600970"/>
          </a:xfrm>
          <a:custGeom>
            <a:avLst/>
            <a:gdLst/>
            <a:ahLst/>
            <a:cxnLst/>
            <a:rect l="l" t="t" r="r" b="b"/>
            <a:pathLst>
              <a:path w="5598657" h="1600970">
                <a:moveTo>
                  <a:pt x="75790" y="0"/>
                </a:moveTo>
                <a:lnTo>
                  <a:pt x="5522867" y="0"/>
                </a:lnTo>
                <a:cubicBezTo>
                  <a:pt x="5564725" y="0"/>
                  <a:pt x="5598657" y="33932"/>
                  <a:pt x="5598657" y="75790"/>
                </a:cubicBezTo>
                <a:lnTo>
                  <a:pt x="5598657" y="1525180"/>
                </a:lnTo>
                <a:cubicBezTo>
                  <a:pt x="5598657" y="1567037"/>
                  <a:pt x="5564725" y="1600970"/>
                  <a:pt x="5522867" y="1600970"/>
                </a:cubicBezTo>
                <a:lnTo>
                  <a:pt x="75790" y="1600970"/>
                </a:lnTo>
                <a:cubicBezTo>
                  <a:pt x="33932" y="1600970"/>
                  <a:pt x="0" y="1567037"/>
                  <a:pt x="0" y="1525180"/>
                </a:cubicBezTo>
                <a:lnTo>
                  <a:pt x="0" y="75790"/>
                </a:lnTo>
                <a:cubicBezTo>
                  <a:pt x="0" y="33960"/>
                  <a:pt x="33960" y="0"/>
                  <a:pt x="7579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09133" y="3211413"/>
            <a:ext cx="530498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算法优势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7553" y="3628233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00297" y="-2931"/>
                </a:moveTo>
                <a:cubicBezTo>
                  <a:pt x="103820" y="-385"/>
                  <a:pt x="105123" y="4233"/>
                  <a:pt x="103524" y="8259"/>
                </a:cubicBezTo>
                <a:lnTo>
                  <a:pt x="80315" y="66312"/>
                </a:lnTo>
                <a:lnTo>
                  <a:pt x="123152" y="66312"/>
                </a:lnTo>
                <a:cubicBezTo>
                  <a:pt x="127148" y="66312"/>
                  <a:pt x="130700" y="68799"/>
                  <a:pt x="132062" y="72559"/>
                </a:cubicBezTo>
                <a:cubicBezTo>
                  <a:pt x="133424" y="76318"/>
                  <a:pt x="132269" y="80522"/>
                  <a:pt x="129220" y="83068"/>
                </a:cubicBezTo>
                <a:lnTo>
                  <a:pt x="43962" y="154117"/>
                </a:lnTo>
                <a:cubicBezTo>
                  <a:pt x="40616" y="156900"/>
                  <a:pt x="35850" y="157048"/>
                  <a:pt x="32327" y="154502"/>
                </a:cubicBezTo>
                <a:cubicBezTo>
                  <a:pt x="28804" y="151956"/>
                  <a:pt x="27502" y="147338"/>
                  <a:pt x="29100" y="143312"/>
                </a:cubicBezTo>
                <a:lnTo>
                  <a:pt x="52310" y="85259"/>
                </a:lnTo>
                <a:lnTo>
                  <a:pt x="9473" y="85259"/>
                </a:lnTo>
                <a:cubicBezTo>
                  <a:pt x="5477" y="85259"/>
                  <a:pt x="1924" y="82772"/>
                  <a:pt x="562" y="79012"/>
                </a:cubicBezTo>
                <a:cubicBezTo>
                  <a:pt x="-799" y="75253"/>
                  <a:pt x="355" y="71049"/>
                  <a:pt x="3404" y="68503"/>
                </a:cubicBezTo>
                <a:lnTo>
                  <a:pt x="88663" y="-2546"/>
                </a:lnTo>
                <a:cubicBezTo>
                  <a:pt x="92008" y="-5329"/>
                  <a:pt x="96775" y="-5477"/>
                  <a:pt x="100297" y="-293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674383" y="3590340"/>
            <a:ext cx="235882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高效性: 只存储CF特征,内存开销小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7553" y="3931375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32625" y="60924"/>
                </a:moveTo>
                <a:cubicBezTo>
                  <a:pt x="128243" y="63826"/>
                  <a:pt x="123211" y="66164"/>
                  <a:pt x="117971" y="68029"/>
                </a:cubicBezTo>
                <a:cubicBezTo>
                  <a:pt x="104057" y="73003"/>
                  <a:pt x="85792" y="75786"/>
                  <a:pt x="66312" y="75786"/>
                </a:cubicBezTo>
                <a:cubicBezTo>
                  <a:pt x="46833" y="75786"/>
                  <a:pt x="28538" y="72973"/>
                  <a:pt x="14654" y="68029"/>
                </a:cubicBezTo>
                <a:cubicBezTo>
                  <a:pt x="9444" y="66164"/>
                  <a:pt x="4381" y="63826"/>
                  <a:pt x="0" y="60924"/>
                </a:cubicBezTo>
                <a:lnTo>
                  <a:pt x="0" y="85259"/>
                </a:lnTo>
                <a:cubicBezTo>
                  <a:pt x="0" y="98344"/>
                  <a:pt x="29693" y="108942"/>
                  <a:pt x="66312" y="108942"/>
                </a:cubicBezTo>
                <a:cubicBezTo>
                  <a:pt x="102932" y="108942"/>
                  <a:pt x="132625" y="98344"/>
                  <a:pt x="132625" y="85259"/>
                </a:cubicBezTo>
                <a:lnTo>
                  <a:pt x="132625" y="60924"/>
                </a:lnTo>
                <a:close/>
                <a:moveTo>
                  <a:pt x="132625" y="37893"/>
                </a:moveTo>
                <a:lnTo>
                  <a:pt x="132625" y="23683"/>
                </a:lnTo>
                <a:cubicBezTo>
                  <a:pt x="132625" y="10598"/>
                  <a:pt x="102932" y="0"/>
                  <a:pt x="66312" y="0"/>
                </a:cubicBezTo>
                <a:cubicBezTo>
                  <a:pt x="29693" y="0"/>
                  <a:pt x="0" y="10598"/>
                  <a:pt x="0" y="23683"/>
                </a:cubicBezTo>
                <a:lnTo>
                  <a:pt x="0" y="37893"/>
                </a:lnTo>
                <a:cubicBezTo>
                  <a:pt x="0" y="50978"/>
                  <a:pt x="29693" y="61576"/>
                  <a:pt x="66312" y="61576"/>
                </a:cubicBezTo>
                <a:cubicBezTo>
                  <a:pt x="102932" y="61576"/>
                  <a:pt x="132625" y="50978"/>
                  <a:pt x="132625" y="37893"/>
                </a:cubicBezTo>
                <a:close/>
                <a:moveTo>
                  <a:pt x="117971" y="115395"/>
                </a:moveTo>
                <a:cubicBezTo>
                  <a:pt x="104087" y="120339"/>
                  <a:pt x="85821" y="123152"/>
                  <a:pt x="66312" y="123152"/>
                </a:cubicBezTo>
                <a:cubicBezTo>
                  <a:pt x="46803" y="123152"/>
                  <a:pt x="28538" y="120339"/>
                  <a:pt x="14654" y="115395"/>
                </a:cubicBezTo>
                <a:cubicBezTo>
                  <a:pt x="9444" y="113530"/>
                  <a:pt x="4381" y="111192"/>
                  <a:pt x="0" y="108290"/>
                </a:cubicBezTo>
                <a:lnTo>
                  <a:pt x="0" y="127888"/>
                </a:lnTo>
                <a:cubicBezTo>
                  <a:pt x="0" y="140973"/>
                  <a:pt x="29693" y="151571"/>
                  <a:pt x="66312" y="151571"/>
                </a:cubicBezTo>
                <a:cubicBezTo>
                  <a:pt x="102932" y="151571"/>
                  <a:pt x="132625" y="140973"/>
                  <a:pt x="132625" y="127888"/>
                </a:cubicBezTo>
                <a:lnTo>
                  <a:pt x="132625" y="108290"/>
                </a:lnTo>
                <a:cubicBezTo>
                  <a:pt x="128243" y="111192"/>
                  <a:pt x="123211" y="113530"/>
                  <a:pt x="117971" y="115395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674383" y="3893483"/>
            <a:ext cx="273775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适用于大规模数据集: 只需遍历一遍数据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8080" y="4234517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0" y="28420"/>
                </a:moveTo>
                <a:cubicBezTo>
                  <a:pt x="0" y="23180"/>
                  <a:pt x="4233" y="18946"/>
                  <a:pt x="9473" y="18946"/>
                </a:cubicBezTo>
                <a:lnTo>
                  <a:pt x="123152" y="18946"/>
                </a:lnTo>
                <a:cubicBezTo>
                  <a:pt x="128391" y="18946"/>
                  <a:pt x="132625" y="23180"/>
                  <a:pt x="132625" y="28420"/>
                </a:cubicBezTo>
                <a:cubicBezTo>
                  <a:pt x="132625" y="33659"/>
                  <a:pt x="128391" y="37893"/>
                  <a:pt x="123152" y="37893"/>
                </a:cubicBezTo>
                <a:lnTo>
                  <a:pt x="9473" y="37893"/>
                </a:lnTo>
                <a:cubicBezTo>
                  <a:pt x="4233" y="37893"/>
                  <a:pt x="0" y="33659"/>
                  <a:pt x="0" y="28420"/>
                </a:cubicBezTo>
                <a:close/>
                <a:moveTo>
                  <a:pt x="18946" y="75786"/>
                </a:moveTo>
                <a:cubicBezTo>
                  <a:pt x="18946" y="70546"/>
                  <a:pt x="23180" y="66312"/>
                  <a:pt x="28420" y="66312"/>
                </a:cubicBezTo>
                <a:lnTo>
                  <a:pt x="142098" y="66312"/>
                </a:lnTo>
                <a:cubicBezTo>
                  <a:pt x="147338" y="66312"/>
                  <a:pt x="151571" y="70546"/>
                  <a:pt x="151571" y="75786"/>
                </a:cubicBezTo>
                <a:cubicBezTo>
                  <a:pt x="151571" y="81025"/>
                  <a:pt x="147338" y="85259"/>
                  <a:pt x="142098" y="85259"/>
                </a:cubicBezTo>
                <a:lnTo>
                  <a:pt x="28420" y="85259"/>
                </a:lnTo>
                <a:cubicBezTo>
                  <a:pt x="23180" y="85259"/>
                  <a:pt x="18946" y="81025"/>
                  <a:pt x="18946" y="75786"/>
                </a:cubicBezTo>
                <a:close/>
                <a:moveTo>
                  <a:pt x="132625" y="123152"/>
                </a:moveTo>
                <a:cubicBezTo>
                  <a:pt x="132625" y="128391"/>
                  <a:pt x="128391" y="132625"/>
                  <a:pt x="123152" y="132625"/>
                </a:cubicBezTo>
                <a:lnTo>
                  <a:pt x="9473" y="132625"/>
                </a:lnTo>
                <a:cubicBezTo>
                  <a:pt x="4233" y="132625"/>
                  <a:pt x="0" y="128391"/>
                  <a:pt x="0" y="123152"/>
                </a:cubicBezTo>
                <a:cubicBezTo>
                  <a:pt x="0" y="117912"/>
                  <a:pt x="4233" y="113678"/>
                  <a:pt x="9473" y="113678"/>
                </a:cubicBezTo>
                <a:lnTo>
                  <a:pt x="123152" y="113678"/>
                </a:lnTo>
                <a:cubicBezTo>
                  <a:pt x="128391" y="113678"/>
                  <a:pt x="132625" y="117912"/>
                  <a:pt x="132625" y="123152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674383" y="4196625"/>
            <a:ext cx="228304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支持流数据: 可动态更新聚类结果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196" y="4774490"/>
            <a:ext cx="5608131" cy="1326247"/>
          </a:xfrm>
          <a:custGeom>
            <a:avLst/>
            <a:gdLst/>
            <a:ahLst/>
            <a:cxnLst/>
            <a:rect l="l" t="t" r="r" b="b"/>
            <a:pathLst>
              <a:path w="5608131" h="1326247">
                <a:moveTo>
                  <a:pt x="75782" y="0"/>
                </a:moveTo>
                <a:lnTo>
                  <a:pt x="5532349" y="0"/>
                </a:lnTo>
                <a:cubicBezTo>
                  <a:pt x="5574202" y="0"/>
                  <a:pt x="5608131" y="33929"/>
                  <a:pt x="5608131" y="75782"/>
                </a:cubicBezTo>
                <a:lnTo>
                  <a:pt x="5608131" y="1250465"/>
                </a:lnTo>
                <a:cubicBezTo>
                  <a:pt x="5608131" y="1292318"/>
                  <a:pt x="5574202" y="1326247"/>
                  <a:pt x="5532349" y="1326247"/>
                </a:cubicBezTo>
                <a:lnTo>
                  <a:pt x="75782" y="1326247"/>
                </a:lnTo>
                <a:cubicBezTo>
                  <a:pt x="33929" y="1326247"/>
                  <a:pt x="0" y="1292318"/>
                  <a:pt x="0" y="1250465"/>
                </a:cubicBezTo>
                <a:lnTo>
                  <a:pt x="0" y="75782"/>
                </a:lnTo>
                <a:cubicBezTo>
                  <a:pt x="0" y="33957"/>
                  <a:pt x="33957" y="0"/>
                  <a:pt x="75782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361767" y="4926061"/>
            <a:ext cx="539972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61767" y="5267096"/>
            <a:ext cx="538077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中大规模数据 (N &gt; 10,000)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61767" y="5494452"/>
            <a:ext cx="538077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需要快速初步聚类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61767" y="5721809"/>
            <a:ext cx="538077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内存资源受限的环境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kern="0" spc="59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PRACTICE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层次聚类实战: 树状图与K值确定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1486" y="1230385"/>
            <a:ext cx="11427670" cy="1584587"/>
          </a:xfrm>
          <a:custGeom>
            <a:avLst/>
            <a:gdLst/>
            <a:ahLst/>
            <a:cxnLst/>
            <a:rect l="l" t="t" r="r" b="b"/>
            <a:pathLst>
              <a:path w="11427670" h="1584587">
                <a:moveTo>
                  <a:pt x="37284" y="0"/>
                </a:moveTo>
                <a:lnTo>
                  <a:pt x="11353099" y="0"/>
                </a:lnTo>
                <a:cubicBezTo>
                  <a:pt x="11394283" y="0"/>
                  <a:pt x="11427670" y="33386"/>
                  <a:pt x="11427670" y="74571"/>
                </a:cubicBezTo>
                <a:lnTo>
                  <a:pt x="11427670" y="1510016"/>
                </a:lnTo>
                <a:cubicBezTo>
                  <a:pt x="11427670" y="1551201"/>
                  <a:pt x="11394283" y="1584587"/>
                  <a:pt x="11353099" y="1584587"/>
                </a:cubicBezTo>
                <a:lnTo>
                  <a:pt x="37284" y="1584587"/>
                </a:lnTo>
                <a:cubicBezTo>
                  <a:pt x="16693" y="1584587"/>
                  <a:pt x="0" y="1567894"/>
                  <a:pt x="0" y="1547303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91486" y="1230385"/>
            <a:ext cx="37284" cy="1584587"/>
          </a:xfrm>
          <a:custGeom>
            <a:avLst/>
            <a:gdLst/>
            <a:ahLst/>
            <a:cxnLst/>
            <a:rect l="l" t="t" r="r" b="b"/>
            <a:pathLst>
              <a:path w="37284" h="1584587">
                <a:moveTo>
                  <a:pt x="37284" y="0"/>
                </a:moveTo>
                <a:lnTo>
                  <a:pt x="37284" y="0"/>
                </a:lnTo>
                <a:lnTo>
                  <a:pt x="37284" y="1584587"/>
                </a:lnTo>
                <a:lnTo>
                  <a:pt x="37284" y="1584587"/>
                </a:lnTo>
                <a:cubicBezTo>
                  <a:pt x="16693" y="1584587"/>
                  <a:pt x="0" y="1567894"/>
                  <a:pt x="0" y="1547303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6550" y="1416807"/>
            <a:ext cx="11129394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案例: 商场客户细分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6550" y="1789651"/>
            <a:ext cx="11110752" cy="24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以"商场客户细分"为例,假设我们拥有客户的"年收入"和"消费分数"数据,目标是通过聚类发现不同的客户群体,以便制定差异化的营销策略。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550" y="2143853"/>
            <a:ext cx="5462165" cy="484697"/>
          </a:xfrm>
          <a:custGeom>
            <a:avLst/>
            <a:gdLst/>
            <a:ahLst/>
            <a:cxnLst/>
            <a:rect l="l" t="t" r="r" b="b"/>
            <a:pathLst>
              <a:path w="5462165" h="484697">
                <a:moveTo>
                  <a:pt x="37283" y="0"/>
                </a:moveTo>
                <a:lnTo>
                  <a:pt x="5424882" y="0"/>
                </a:lnTo>
                <a:cubicBezTo>
                  <a:pt x="5445473" y="0"/>
                  <a:pt x="5462165" y="16692"/>
                  <a:pt x="5462165" y="37283"/>
                </a:cubicBezTo>
                <a:lnTo>
                  <a:pt x="5462165" y="447414"/>
                </a:lnTo>
                <a:cubicBezTo>
                  <a:pt x="5462165" y="468005"/>
                  <a:pt x="5445473" y="484697"/>
                  <a:pt x="5424882" y="484697"/>
                </a:cubicBezTo>
                <a:lnTo>
                  <a:pt x="37283" y="484697"/>
                </a:lnTo>
                <a:cubicBezTo>
                  <a:pt x="16692" y="484697"/>
                  <a:pt x="0" y="468005"/>
                  <a:pt x="0" y="447414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71119" y="2218422"/>
            <a:ext cx="537827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数据特征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1119" y="2404844"/>
            <a:ext cx="5368954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年收入, 消费分数(1-100)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608" y="2143853"/>
            <a:ext cx="5462165" cy="484697"/>
          </a:xfrm>
          <a:custGeom>
            <a:avLst/>
            <a:gdLst/>
            <a:ahLst/>
            <a:cxnLst/>
            <a:rect l="l" t="t" r="r" b="b"/>
            <a:pathLst>
              <a:path w="5462165" h="484697">
                <a:moveTo>
                  <a:pt x="37283" y="0"/>
                </a:moveTo>
                <a:lnTo>
                  <a:pt x="5424882" y="0"/>
                </a:lnTo>
                <a:cubicBezTo>
                  <a:pt x="5445473" y="0"/>
                  <a:pt x="5462165" y="16692"/>
                  <a:pt x="5462165" y="37283"/>
                </a:cubicBezTo>
                <a:lnTo>
                  <a:pt x="5462165" y="447414"/>
                </a:lnTo>
                <a:cubicBezTo>
                  <a:pt x="5462165" y="468005"/>
                  <a:pt x="5445473" y="484697"/>
                  <a:pt x="5424882" y="484697"/>
                </a:cubicBezTo>
                <a:lnTo>
                  <a:pt x="37283" y="484697"/>
                </a:lnTo>
                <a:cubicBezTo>
                  <a:pt x="16692" y="484697"/>
                  <a:pt x="0" y="468005"/>
                  <a:pt x="0" y="447414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47177" y="2218422"/>
            <a:ext cx="537827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7177" y="2404844"/>
            <a:ext cx="5368954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发现客户群体,差异化营销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1486" y="2964110"/>
            <a:ext cx="5611303" cy="2833615"/>
          </a:xfrm>
          <a:custGeom>
            <a:avLst/>
            <a:gdLst/>
            <a:ahLst/>
            <a:cxnLst/>
            <a:rect l="l" t="t" r="r" b="b"/>
            <a:pathLst>
              <a:path w="5611303" h="2833615">
                <a:moveTo>
                  <a:pt x="37284" y="0"/>
                </a:moveTo>
                <a:lnTo>
                  <a:pt x="5536722" y="0"/>
                </a:lnTo>
                <a:cubicBezTo>
                  <a:pt x="5577912" y="0"/>
                  <a:pt x="5611303" y="33391"/>
                  <a:pt x="5611303" y="74581"/>
                </a:cubicBezTo>
                <a:lnTo>
                  <a:pt x="5611303" y="2759034"/>
                </a:lnTo>
                <a:cubicBezTo>
                  <a:pt x="5611303" y="2800224"/>
                  <a:pt x="5577912" y="2833615"/>
                  <a:pt x="5536722" y="2833615"/>
                </a:cubicBezTo>
                <a:lnTo>
                  <a:pt x="37284" y="2833615"/>
                </a:lnTo>
                <a:cubicBezTo>
                  <a:pt x="16693" y="2833615"/>
                  <a:pt x="0" y="2816922"/>
                  <a:pt x="0" y="2796330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91486" y="2964110"/>
            <a:ext cx="37284" cy="2833615"/>
          </a:xfrm>
          <a:custGeom>
            <a:avLst/>
            <a:gdLst/>
            <a:ahLst/>
            <a:cxnLst/>
            <a:rect l="l" t="t" r="r" b="b"/>
            <a:pathLst>
              <a:path w="37284" h="2833615">
                <a:moveTo>
                  <a:pt x="37284" y="0"/>
                </a:moveTo>
                <a:lnTo>
                  <a:pt x="37284" y="0"/>
                </a:lnTo>
                <a:lnTo>
                  <a:pt x="37284" y="2833615"/>
                </a:lnTo>
                <a:lnTo>
                  <a:pt x="37284" y="2833615"/>
                </a:lnTo>
                <a:cubicBezTo>
                  <a:pt x="16693" y="2833615"/>
                  <a:pt x="0" y="2816922"/>
                  <a:pt x="0" y="2796330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6550" y="3150532"/>
            <a:ext cx="531302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使用树状图确定K值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550" y="3523376"/>
            <a:ext cx="5294385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层次聚类最大的优势之一是可以通过</a:t>
            </a:r>
            <a:r>
              <a:rPr lang="en-US" sz="117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树状图(Dendrogram)</a:t>
            </a:r>
            <a:r>
              <a:rPr lang="en-US" sz="117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直观地确定最佳聚类数量。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6550" y="4119927"/>
            <a:ext cx="5219817" cy="633835"/>
          </a:xfrm>
          <a:custGeom>
            <a:avLst/>
            <a:gdLst/>
            <a:ahLst/>
            <a:cxnLst/>
            <a:rect l="l" t="t" r="r" b="b"/>
            <a:pathLst>
              <a:path w="5219817" h="633835">
                <a:moveTo>
                  <a:pt x="37282" y="0"/>
                </a:moveTo>
                <a:lnTo>
                  <a:pt x="5182534" y="0"/>
                </a:lnTo>
                <a:cubicBezTo>
                  <a:pt x="5203125" y="0"/>
                  <a:pt x="5219817" y="16692"/>
                  <a:pt x="5219817" y="37282"/>
                </a:cubicBezTo>
                <a:lnTo>
                  <a:pt x="5219817" y="596553"/>
                </a:lnTo>
                <a:cubicBezTo>
                  <a:pt x="5219817" y="617143"/>
                  <a:pt x="5203125" y="633835"/>
                  <a:pt x="5182534" y="633835"/>
                </a:cubicBezTo>
                <a:lnTo>
                  <a:pt x="37282" y="633835"/>
                </a:lnTo>
                <a:cubicBezTo>
                  <a:pt x="16706" y="633835"/>
                  <a:pt x="0" y="617129"/>
                  <a:pt x="0" y="596553"/>
                </a:cubicBezTo>
                <a:lnTo>
                  <a:pt x="0" y="37282"/>
                </a:lnTo>
                <a:cubicBezTo>
                  <a:pt x="0" y="16706"/>
                  <a:pt x="16706" y="0"/>
                  <a:pt x="3728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08404" y="4231780"/>
            <a:ext cx="506135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404" y="4455486"/>
            <a:ext cx="506135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</a:t>
            </a:r>
            <a:r>
              <a:rPr lang="en-US" sz="102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最长的垂直线段</a:t>
            </a:r>
            <a:r>
              <a:rPr lang="en-US" sz="102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(合并簇时距离跨度最大的一步),在此处进行水平切割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550" y="4828330"/>
            <a:ext cx="5219817" cy="633835"/>
          </a:xfrm>
          <a:custGeom>
            <a:avLst/>
            <a:gdLst/>
            <a:ahLst/>
            <a:cxnLst/>
            <a:rect l="l" t="t" r="r" b="b"/>
            <a:pathLst>
              <a:path w="5219817" h="633835">
                <a:moveTo>
                  <a:pt x="37282" y="0"/>
                </a:moveTo>
                <a:lnTo>
                  <a:pt x="5182534" y="0"/>
                </a:lnTo>
                <a:cubicBezTo>
                  <a:pt x="5203125" y="0"/>
                  <a:pt x="5219817" y="16692"/>
                  <a:pt x="5219817" y="37282"/>
                </a:cubicBezTo>
                <a:lnTo>
                  <a:pt x="5219817" y="596553"/>
                </a:lnTo>
                <a:cubicBezTo>
                  <a:pt x="5219817" y="617143"/>
                  <a:pt x="5203125" y="633835"/>
                  <a:pt x="5182534" y="633835"/>
                </a:cubicBezTo>
                <a:lnTo>
                  <a:pt x="37282" y="633835"/>
                </a:lnTo>
                <a:cubicBezTo>
                  <a:pt x="16706" y="633835"/>
                  <a:pt x="0" y="617129"/>
                  <a:pt x="0" y="596553"/>
                </a:cubicBezTo>
                <a:lnTo>
                  <a:pt x="0" y="37282"/>
                </a:lnTo>
                <a:cubicBezTo>
                  <a:pt x="0" y="16706"/>
                  <a:pt x="16706" y="0"/>
                  <a:pt x="3728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8404" y="4940183"/>
            <a:ext cx="506135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404" y="5163890"/>
            <a:ext cx="506135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在本例中,切割后可清晰得到K=5个簇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0" y="2964110"/>
            <a:ext cx="5629945" cy="2833615"/>
          </a:xfrm>
          <a:custGeom>
            <a:avLst/>
            <a:gdLst/>
            <a:ahLst/>
            <a:cxnLst/>
            <a:rect l="l" t="t" r="r" b="b"/>
            <a:pathLst>
              <a:path w="5629945" h="2833615">
                <a:moveTo>
                  <a:pt x="74581" y="0"/>
                </a:moveTo>
                <a:lnTo>
                  <a:pt x="5555364" y="0"/>
                </a:lnTo>
                <a:cubicBezTo>
                  <a:pt x="5596554" y="0"/>
                  <a:pt x="5629945" y="33391"/>
                  <a:pt x="5629945" y="74581"/>
                </a:cubicBezTo>
                <a:lnTo>
                  <a:pt x="5629945" y="2759034"/>
                </a:lnTo>
                <a:cubicBezTo>
                  <a:pt x="5629945" y="2800224"/>
                  <a:pt x="5596554" y="2833615"/>
                  <a:pt x="5555364" y="2833615"/>
                </a:cubicBezTo>
                <a:lnTo>
                  <a:pt x="74581" y="2833615"/>
                </a:lnTo>
                <a:cubicBezTo>
                  <a:pt x="33391" y="2833615"/>
                  <a:pt x="0" y="2800224"/>
                  <a:pt x="0" y="2759034"/>
                </a:cubicBezTo>
                <a:lnTo>
                  <a:pt x="0" y="74581"/>
                </a:lnTo>
                <a:cubicBezTo>
                  <a:pt x="0" y="33419"/>
                  <a:pt x="33419" y="0"/>
                  <a:pt x="74581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77672" y="3150532"/>
            <a:ext cx="5350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Python代码实现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7672" y="3523376"/>
            <a:ext cx="5257101" cy="2087927"/>
          </a:xfrm>
          <a:custGeom>
            <a:avLst/>
            <a:gdLst/>
            <a:ahLst/>
            <a:cxnLst/>
            <a:rect l="l" t="t" r="r" b="b"/>
            <a:pathLst>
              <a:path w="5257101" h="2087927">
                <a:moveTo>
                  <a:pt x="37290" y="0"/>
                </a:moveTo>
                <a:lnTo>
                  <a:pt x="5219811" y="0"/>
                </a:lnTo>
                <a:cubicBezTo>
                  <a:pt x="5240405" y="0"/>
                  <a:pt x="5257101" y="16695"/>
                  <a:pt x="5257101" y="37290"/>
                </a:cubicBezTo>
                <a:lnTo>
                  <a:pt x="5257101" y="2050636"/>
                </a:lnTo>
                <a:cubicBezTo>
                  <a:pt x="5257101" y="2071231"/>
                  <a:pt x="5240405" y="2087927"/>
                  <a:pt x="5219811" y="2087927"/>
                </a:cubicBezTo>
                <a:lnTo>
                  <a:pt x="37290" y="2087927"/>
                </a:lnTo>
                <a:cubicBezTo>
                  <a:pt x="16695" y="2087927"/>
                  <a:pt x="0" y="2071231"/>
                  <a:pt x="0" y="2050636"/>
                </a:cubicBezTo>
                <a:lnTo>
                  <a:pt x="0" y="37290"/>
                </a:lnTo>
                <a:cubicBezTo>
                  <a:pt x="0" y="16709"/>
                  <a:pt x="16709" y="0"/>
                  <a:pt x="3729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89525" y="3635229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 scipy.cluster.hierarchy as sch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89525" y="4008073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使用Ward方法构建树状图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9525" y="4194495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plt.figure(figsize=(10, 7))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89525" y="4380917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dendrogram = sch.dendrogram(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89525" y="4567339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sch.linkage(X, method='ward'))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89525" y="4753761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plt.title('Dendrogram')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89525" y="4940183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plt.xlabel('Customers')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89525" y="5126606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plt.ylabel('Euclidean Distances')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89525" y="5313028"/>
            <a:ext cx="509864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plt.show()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7505" y="5951523"/>
            <a:ext cx="11436991" cy="531303"/>
          </a:xfrm>
          <a:custGeom>
            <a:avLst/>
            <a:gdLst/>
            <a:ahLst/>
            <a:cxnLst/>
            <a:rect l="l" t="t" r="r" b="b"/>
            <a:pathLst>
              <a:path w="11436991" h="531303">
                <a:moveTo>
                  <a:pt x="74568" y="0"/>
                </a:moveTo>
                <a:lnTo>
                  <a:pt x="11362422" y="0"/>
                </a:lnTo>
                <a:cubicBezTo>
                  <a:pt x="11403605" y="0"/>
                  <a:pt x="11436991" y="33385"/>
                  <a:pt x="11436991" y="74568"/>
                </a:cubicBezTo>
                <a:lnTo>
                  <a:pt x="11436991" y="456734"/>
                </a:lnTo>
                <a:cubicBezTo>
                  <a:pt x="11436991" y="497917"/>
                  <a:pt x="11403605" y="531303"/>
                  <a:pt x="11362422" y="531303"/>
                </a:cubicBezTo>
                <a:lnTo>
                  <a:pt x="74568" y="531303"/>
                </a:lnTo>
                <a:cubicBezTo>
                  <a:pt x="33413" y="531303"/>
                  <a:pt x="0" y="497890"/>
                  <a:pt x="0" y="456734"/>
                </a:cubicBezTo>
                <a:lnTo>
                  <a:pt x="0" y="74568"/>
                </a:lnTo>
                <a:cubicBezTo>
                  <a:pt x="0" y="33413"/>
                  <a:pt x="33413" y="0"/>
                  <a:pt x="74568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59266" y="6105321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27963" y="27963"/>
                </a:moveTo>
                <a:cubicBezTo>
                  <a:pt x="27963" y="20230"/>
                  <a:pt x="21715" y="13982"/>
                  <a:pt x="13982" y="13982"/>
                </a:cubicBezTo>
                <a:cubicBezTo>
                  <a:pt x="6248" y="13982"/>
                  <a:pt x="0" y="20230"/>
                  <a:pt x="0" y="27963"/>
                </a:cubicBezTo>
                <a:lnTo>
                  <a:pt x="0" y="174771"/>
                </a:lnTo>
                <a:cubicBezTo>
                  <a:pt x="0" y="194083"/>
                  <a:pt x="15642" y="209725"/>
                  <a:pt x="34954" y="209725"/>
                </a:cubicBezTo>
                <a:lnTo>
                  <a:pt x="209725" y="209725"/>
                </a:lnTo>
                <a:cubicBezTo>
                  <a:pt x="217458" y="209725"/>
                  <a:pt x="223706" y="203477"/>
                  <a:pt x="223706" y="195743"/>
                </a:cubicBezTo>
                <a:cubicBezTo>
                  <a:pt x="223706" y="188010"/>
                  <a:pt x="217458" y="181761"/>
                  <a:pt x="209725" y="181761"/>
                </a:cubicBezTo>
                <a:lnTo>
                  <a:pt x="34954" y="181761"/>
                </a:lnTo>
                <a:cubicBezTo>
                  <a:pt x="31109" y="181761"/>
                  <a:pt x="27963" y="178616"/>
                  <a:pt x="27963" y="174771"/>
                </a:cubicBezTo>
                <a:lnTo>
                  <a:pt x="27963" y="27963"/>
                </a:lnTo>
                <a:close/>
                <a:moveTo>
                  <a:pt x="205618" y="65801"/>
                </a:moveTo>
                <a:cubicBezTo>
                  <a:pt x="211079" y="60340"/>
                  <a:pt x="211079" y="51470"/>
                  <a:pt x="205618" y="46008"/>
                </a:cubicBezTo>
                <a:cubicBezTo>
                  <a:pt x="200156" y="40547"/>
                  <a:pt x="191286" y="40547"/>
                  <a:pt x="185825" y="46008"/>
                </a:cubicBezTo>
                <a:lnTo>
                  <a:pt x="139817" y="92060"/>
                </a:lnTo>
                <a:lnTo>
                  <a:pt x="114737" y="67025"/>
                </a:lnTo>
                <a:cubicBezTo>
                  <a:pt x="109275" y="61563"/>
                  <a:pt x="100406" y="61563"/>
                  <a:pt x="94944" y="67025"/>
                </a:cubicBezTo>
                <a:lnTo>
                  <a:pt x="52999" y="108969"/>
                </a:lnTo>
                <a:cubicBezTo>
                  <a:pt x="47538" y="114431"/>
                  <a:pt x="47538" y="123301"/>
                  <a:pt x="52999" y="128762"/>
                </a:cubicBezTo>
                <a:cubicBezTo>
                  <a:pt x="58461" y="134224"/>
                  <a:pt x="67330" y="134224"/>
                  <a:pt x="72792" y="128762"/>
                </a:cubicBezTo>
                <a:lnTo>
                  <a:pt x="104862" y="96692"/>
                </a:lnTo>
                <a:lnTo>
                  <a:pt x="129942" y="121771"/>
                </a:lnTo>
                <a:cubicBezTo>
                  <a:pt x="135404" y="127233"/>
                  <a:pt x="144273" y="127233"/>
                  <a:pt x="149735" y="121771"/>
                </a:cubicBezTo>
                <a:lnTo>
                  <a:pt x="205661" y="65845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22788" y="6105321"/>
            <a:ext cx="1028123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树状图优势:</a:t>
            </a:r>
            <a:r>
              <a:rPr lang="en-US" sz="1174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层次聚类通过树状图提供了丰富的聚类信息,让我们不仅能知道应该分成几簇,还能了解簇与簇之间的亲疏关系,这是其他聚类算法难以比拟的。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A99A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PCA降维: 层次聚类的黄金搭档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11541125" cy="1270000"/>
          </a:xfrm>
          <a:custGeom>
            <a:avLst/>
            <a:gdLst/>
            <a:ahLst/>
            <a:cxnLst/>
            <a:rect l="l" t="t" r="r" b="b"/>
            <a:pathLst>
              <a:path w="11541125" h="1270000">
                <a:moveTo>
                  <a:pt x="31750" y="0"/>
                </a:moveTo>
                <a:lnTo>
                  <a:pt x="11477625" y="0"/>
                </a:lnTo>
                <a:cubicBezTo>
                  <a:pt x="11512672" y="0"/>
                  <a:pt x="11541125" y="28453"/>
                  <a:pt x="11541125" y="63500"/>
                </a:cubicBezTo>
                <a:lnTo>
                  <a:pt x="11541125" y="1206500"/>
                </a:lnTo>
                <a:cubicBezTo>
                  <a:pt x="11541125" y="1241547"/>
                  <a:pt x="11512672" y="1270000"/>
                  <a:pt x="1147762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206500"/>
            <a:ext cx="1130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为什么层次聚类需要PCA?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555750"/>
            <a:ext cx="3675063" cy="603250"/>
          </a:xfrm>
          <a:custGeom>
            <a:avLst/>
            <a:gdLst/>
            <a:ahLst/>
            <a:cxnLst/>
            <a:rect l="l" t="t" r="r" b="b"/>
            <a:pathLst>
              <a:path w="3675063" h="603250">
                <a:moveTo>
                  <a:pt x="31749" y="0"/>
                </a:moveTo>
                <a:lnTo>
                  <a:pt x="3643313" y="0"/>
                </a:lnTo>
                <a:cubicBezTo>
                  <a:pt x="3660848" y="0"/>
                  <a:pt x="3675063" y="14215"/>
                  <a:pt x="3675063" y="31749"/>
                </a:cubicBezTo>
                <a:lnTo>
                  <a:pt x="3675063" y="571501"/>
                </a:lnTo>
                <a:cubicBezTo>
                  <a:pt x="3675063" y="589035"/>
                  <a:pt x="3660848" y="603250"/>
                  <a:pt x="3643313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23094" y="16748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5344" y="165100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解决"维度灾难"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1905000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高维空间中距离度量失效,PCA提取重要特征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5646" y="1555750"/>
            <a:ext cx="3675063" cy="603250"/>
          </a:xfrm>
          <a:custGeom>
            <a:avLst/>
            <a:gdLst/>
            <a:ahLst/>
            <a:cxnLst/>
            <a:rect l="l" t="t" r="r" b="b"/>
            <a:pathLst>
              <a:path w="3675063" h="603250">
                <a:moveTo>
                  <a:pt x="31749" y="0"/>
                </a:moveTo>
                <a:lnTo>
                  <a:pt x="3643313" y="0"/>
                </a:lnTo>
                <a:cubicBezTo>
                  <a:pt x="3660848" y="0"/>
                  <a:pt x="3675063" y="14215"/>
                  <a:pt x="3675063" y="31749"/>
                </a:cubicBezTo>
                <a:lnTo>
                  <a:pt x="3675063" y="571501"/>
                </a:lnTo>
                <a:cubicBezTo>
                  <a:pt x="3675063" y="589035"/>
                  <a:pt x="3660848" y="603250"/>
                  <a:pt x="3643313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90740" y="16748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612990" y="16510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降低计算复杂度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70896" y="1905000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从100维降到10维,显著加速距离计算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3292" y="1555750"/>
            <a:ext cx="3675063" cy="603250"/>
          </a:xfrm>
          <a:custGeom>
            <a:avLst/>
            <a:gdLst/>
            <a:ahLst/>
            <a:cxnLst/>
            <a:rect l="l" t="t" r="r" b="b"/>
            <a:pathLst>
              <a:path w="3675063" h="603250">
                <a:moveTo>
                  <a:pt x="31749" y="0"/>
                </a:moveTo>
                <a:lnTo>
                  <a:pt x="3643313" y="0"/>
                </a:lnTo>
                <a:cubicBezTo>
                  <a:pt x="3660848" y="0"/>
                  <a:pt x="3675063" y="14215"/>
                  <a:pt x="3675063" y="31749"/>
                </a:cubicBezTo>
                <a:lnTo>
                  <a:pt x="3675063" y="571501"/>
                </a:lnTo>
                <a:cubicBezTo>
                  <a:pt x="3675063" y="589035"/>
                  <a:pt x="3660848" y="603250"/>
                  <a:pt x="3643313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149456" y="1674813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8930"/>
                </a:moveTo>
                <a:cubicBezTo>
                  <a:pt x="57820" y="8930"/>
                  <a:pt x="39765" y="19199"/>
                  <a:pt x="26622" y="31421"/>
                </a:cubicBezTo>
                <a:cubicBezTo>
                  <a:pt x="13562" y="43560"/>
                  <a:pt x="4828" y="58043"/>
                  <a:pt x="670" y="68005"/>
                </a:cubicBezTo>
                <a:cubicBezTo>
                  <a:pt x="-251" y="70210"/>
                  <a:pt x="-251" y="72665"/>
                  <a:pt x="670" y="74870"/>
                </a:cubicBezTo>
                <a:cubicBezTo>
                  <a:pt x="4828" y="84832"/>
                  <a:pt x="13562" y="99343"/>
                  <a:pt x="26622" y="111454"/>
                </a:cubicBezTo>
                <a:cubicBezTo>
                  <a:pt x="39765" y="123648"/>
                  <a:pt x="57820" y="133945"/>
                  <a:pt x="80367" y="133945"/>
                </a:cubicBezTo>
                <a:cubicBezTo>
                  <a:pt x="102915" y="133945"/>
                  <a:pt x="120969" y="123676"/>
                  <a:pt x="134113" y="111454"/>
                </a:cubicBezTo>
                <a:cubicBezTo>
                  <a:pt x="147172" y="99315"/>
                  <a:pt x="155907" y="84832"/>
                  <a:pt x="160065" y="74870"/>
                </a:cubicBezTo>
                <a:cubicBezTo>
                  <a:pt x="160986" y="72665"/>
                  <a:pt x="160986" y="70210"/>
                  <a:pt x="160065" y="68005"/>
                </a:cubicBezTo>
                <a:cubicBezTo>
                  <a:pt x="155907" y="58043"/>
                  <a:pt x="147172" y="43532"/>
                  <a:pt x="134113" y="31421"/>
                </a:cubicBezTo>
                <a:cubicBezTo>
                  <a:pt x="120969" y="19227"/>
                  <a:pt x="102915" y="8930"/>
                  <a:pt x="80367" y="8930"/>
                </a:cubicBezTo>
                <a:close/>
                <a:moveTo>
                  <a:pt x="40184" y="71438"/>
                </a:moveTo>
                <a:cubicBezTo>
                  <a:pt x="40184" y="49260"/>
                  <a:pt x="58189" y="31254"/>
                  <a:pt x="80367" y="31254"/>
                </a:cubicBezTo>
                <a:cubicBezTo>
                  <a:pt x="102545" y="31254"/>
                  <a:pt x="120551" y="49260"/>
                  <a:pt x="120551" y="71438"/>
                </a:cubicBezTo>
                <a:cubicBezTo>
                  <a:pt x="120551" y="93615"/>
                  <a:pt x="102545" y="111621"/>
                  <a:pt x="80367" y="111621"/>
                </a:cubicBezTo>
                <a:cubicBezTo>
                  <a:pt x="58189" y="111621"/>
                  <a:pt x="40184" y="93615"/>
                  <a:pt x="40184" y="71438"/>
                </a:cubicBezTo>
                <a:close/>
                <a:moveTo>
                  <a:pt x="80367" y="53578"/>
                </a:moveTo>
                <a:cubicBezTo>
                  <a:pt x="80367" y="63429"/>
                  <a:pt x="72358" y="71438"/>
                  <a:pt x="62508" y="71438"/>
                </a:cubicBezTo>
                <a:cubicBezTo>
                  <a:pt x="59299" y="71438"/>
                  <a:pt x="56285" y="70600"/>
                  <a:pt x="53662" y="69093"/>
                </a:cubicBezTo>
                <a:cubicBezTo>
                  <a:pt x="53383" y="72135"/>
                  <a:pt x="53634" y="75261"/>
                  <a:pt x="54471" y="78358"/>
                </a:cubicBezTo>
                <a:cubicBezTo>
                  <a:pt x="58294" y="92646"/>
                  <a:pt x="73000" y="101129"/>
                  <a:pt x="87288" y="97306"/>
                </a:cubicBezTo>
                <a:cubicBezTo>
                  <a:pt x="101575" y="93483"/>
                  <a:pt x="110058" y="78777"/>
                  <a:pt x="106235" y="64489"/>
                </a:cubicBezTo>
                <a:cubicBezTo>
                  <a:pt x="102831" y="51736"/>
                  <a:pt x="90748" y="43616"/>
                  <a:pt x="78023" y="44732"/>
                </a:cubicBezTo>
                <a:cubicBezTo>
                  <a:pt x="79502" y="47327"/>
                  <a:pt x="80367" y="50341"/>
                  <a:pt x="80367" y="53578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80636" y="16510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可视化验证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542" y="1905000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降维到2D/3D进行可视化展示,验证聚类效果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2444750"/>
            <a:ext cx="5683250" cy="3746500"/>
          </a:xfrm>
          <a:custGeom>
            <a:avLst/>
            <a:gdLst/>
            <a:ahLst/>
            <a:cxnLst/>
            <a:rect l="l" t="t" r="r" b="b"/>
            <a:pathLst>
              <a:path w="5683250" h="3746500">
                <a:moveTo>
                  <a:pt x="31750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3682997"/>
                </a:lnTo>
                <a:cubicBezTo>
                  <a:pt x="5683250" y="3718069"/>
                  <a:pt x="5654819" y="3746500"/>
                  <a:pt x="5619747" y="3746500"/>
                </a:cubicBezTo>
                <a:lnTo>
                  <a:pt x="31750" y="3746500"/>
                </a:lnTo>
                <a:cubicBezTo>
                  <a:pt x="14227" y="3746500"/>
                  <a:pt x="0" y="3732273"/>
                  <a:pt x="0" y="371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33375" y="2444750"/>
            <a:ext cx="31750" cy="3746500"/>
          </a:xfrm>
          <a:custGeom>
            <a:avLst/>
            <a:gdLst/>
            <a:ahLst/>
            <a:cxnLst/>
            <a:rect l="l" t="t" r="r" b="b"/>
            <a:pathLst>
              <a:path w="31750" h="3746500">
                <a:moveTo>
                  <a:pt x="31750" y="0"/>
                </a:moveTo>
                <a:lnTo>
                  <a:pt x="31750" y="0"/>
                </a:lnTo>
                <a:lnTo>
                  <a:pt x="31750" y="3746500"/>
                </a:lnTo>
                <a:lnTo>
                  <a:pt x="31750" y="3746500"/>
                </a:lnTo>
                <a:cubicBezTo>
                  <a:pt x="14227" y="3746500"/>
                  <a:pt x="0" y="3732273"/>
                  <a:pt x="0" y="371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8000" y="2603500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PCA核心思想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8000" y="2921000"/>
            <a:ext cx="5413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找到一个新的坐标系,使得数据在这个坐标系下的投影具有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最大的方差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。方差越大,信息量越大。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8000" y="3222625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71500" y="3286125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 去中心化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3444875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数据移动到原点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3698875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71500" y="3762375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 计算协方差矩阵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3921125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 = (1/(n-1)) XᵀX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4175125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71500" y="4238625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 特征值分解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4397375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得到特征向量(主成分)和特征值(重要性)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5375" y="2444750"/>
            <a:ext cx="5699125" cy="3746500"/>
          </a:xfrm>
          <a:custGeom>
            <a:avLst/>
            <a:gdLst/>
            <a:ahLst/>
            <a:cxnLst/>
            <a:rect l="l" t="t" r="r" b="b"/>
            <a:pathLst>
              <a:path w="5699125" h="3746500">
                <a:moveTo>
                  <a:pt x="63503" y="0"/>
                </a:moveTo>
                <a:lnTo>
                  <a:pt x="5635622" y="0"/>
                </a:lnTo>
                <a:cubicBezTo>
                  <a:pt x="5670694" y="0"/>
                  <a:pt x="5699125" y="28431"/>
                  <a:pt x="5699125" y="63503"/>
                </a:cubicBezTo>
                <a:lnTo>
                  <a:pt x="5699125" y="3682997"/>
                </a:lnTo>
                <a:cubicBezTo>
                  <a:pt x="5699125" y="3718069"/>
                  <a:pt x="5670694" y="3746500"/>
                  <a:pt x="5635622" y="3746500"/>
                </a:cubicBezTo>
                <a:lnTo>
                  <a:pt x="63503" y="3746500"/>
                </a:lnTo>
                <a:cubicBezTo>
                  <a:pt x="28431" y="3746500"/>
                  <a:pt x="0" y="3718069"/>
                  <a:pt x="0" y="3682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34125" y="2603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标准工作流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4125" y="2921000"/>
            <a:ext cx="5381625" cy="2730500"/>
          </a:xfrm>
          <a:custGeom>
            <a:avLst/>
            <a:gdLst/>
            <a:ahLst/>
            <a:cxnLst/>
            <a:rect l="l" t="t" r="r" b="b"/>
            <a:pathLst>
              <a:path w="5381625" h="2730500">
                <a:moveTo>
                  <a:pt x="31756" y="0"/>
                </a:moveTo>
                <a:lnTo>
                  <a:pt x="5349869" y="0"/>
                </a:lnTo>
                <a:cubicBezTo>
                  <a:pt x="5367407" y="0"/>
                  <a:pt x="5381625" y="14218"/>
                  <a:pt x="5381625" y="31756"/>
                </a:cubicBezTo>
                <a:lnTo>
                  <a:pt x="5381625" y="2698744"/>
                </a:lnTo>
                <a:cubicBezTo>
                  <a:pt x="5381625" y="2716282"/>
                  <a:pt x="5367407" y="2730500"/>
                  <a:pt x="5349869" y="2730500"/>
                </a:cubicBezTo>
                <a:lnTo>
                  <a:pt x="31756" y="2730500"/>
                </a:lnTo>
                <a:cubicBezTo>
                  <a:pt x="14218" y="2730500"/>
                  <a:pt x="0" y="2716282"/>
                  <a:pt x="0" y="2698744"/>
                </a:cubicBezTo>
                <a:lnTo>
                  <a:pt x="0" y="31756"/>
                </a:lnTo>
                <a:cubicBezTo>
                  <a:pt x="0" y="14218"/>
                  <a:pt x="14218" y="0"/>
                  <a:pt x="3175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29375" y="30162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标准工作流: 标准化 → PCA → 层次聚类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29375" y="31750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sklearn.preprocessing import StandardScaler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29375" y="3333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sklearn.decomposition import PCA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29375" y="34925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sklearn.cluster import AgglomerativeClustering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29375" y="38100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1. 数据标准化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29375" y="3968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scaler = StandardScaler()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29375" y="41275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X_scaled = scaler.fit_transform(X)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29375" y="44450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2. PCA降维: 4维 → 2维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29375" y="4603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pca = PCA(n_components=2)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29375" y="47625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X_pca = pca.fit_transform(X_scaled)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29375" y="50800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3. 层次聚类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29375" y="5238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hc = AgglomerativeClustering(n_clusters=3, linkage='ward')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29375" y="53975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cluster_labels = hc.fit_predict(X_pca)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34125" y="5746750"/>
            <a:ext cx="5381625" cy="285750"/>
          </a:xfrm>
          <a:custGeom>
            <a:avLst/>
            <a:gdLst/>
            <a:ahLst/>
            <a:cxnLst/>
            <a:rect l="l" t="t" r="r" b="b"/>
            <a:pathLst>
              <a:path w="5381625" h="285750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254000"/>
                </a:lnTo>
                <a:cubicBezTo>
                  <a:pt x="5381625" y="271535"/>
                  <a:pt x="5367410" y="285750"/>
                  <a:pt x="53498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334125" y="5746750"/>
            <a:ext cx="543718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注意:</a:t>
            </a:r>
            <a:r>
              <a:rPr lang="en-US" sz="87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PCA前必须标准化!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1469" y="6322219"/>
            <a:ext cx="11549063" cy="452438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63500" y="0"/>
                </a:moveTo>
                <a:lnTo>
                  <a:pt x="11485563" y="0"/>
                </a:lnTo>
                <a:cubicBezTo>
                  <a:pt x="11520633" y="0"/>
                  <a:pt x="11549063" y="28430"/>
                  <a:pt x="11549063" y="63500"/>
                </a:cubicBezTo>
                <a:lnTo>
                  <a:pt x="11549063" y="388938"/>
                </a:lnTo>
                <a:cubicBezTo>
                  <a:pt x="11549063" y="424008"/>
                  <a:pt x="11520633" y="452438"/>
                  <a:pt x="11485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00063" y="6453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85813" y="6453188"/>
            <a:ext cx="6781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黄金搭档: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数据标准化 → PCA降维 → 层次聚类,这一工作流在保证效率的同时,能挖掘出数据背后深层次的结构信息。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SELECTION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聚类算法选择指南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942647"/>
            <a:ext cx="11541125" cy="1381125"/>
          </a:xfrm>
          <a:custGeom>
            <a:avLst/>
            <a:gdLst/>
            <a:ahLst/>
            <a:cxnLst/>
            <a:rect l="l" t="t" r="r" b="b"/>
            <a:pathLst>
              <a:path w="11541125" h="1381125">
                <a:moveTo>
                  <a:pt x="31750" y="0"/>
                </a:moveTo>
                <a:lnTo>
                  <a:pt x="11477621" y="0"/>
                </a:lnTo>
                <a:cubicBezTo>
                  <a:pt x="11512693" y="0"/>
                  <a:pt x="11541125" y="28432"/>
                  <a:pt x="11541125" y="63504"/>
                </a:cubicBezTo>
                <a:lnTo>
                  <a:pt x="11541125" y="1317621"/>
                </a:lnTo>
                <a:cubicBezTo>
                  <a:pt x="11541125" y="1352693"/>
                  <a:pt x="11512693" y="1381125"/>
                  <a:pt x="11477621" y="1381125"/>
                </a:cubicBezTo>
                <a:lnTo>
                  <a:pt x="31750" y="1381125"/>
                </a:lnTo>
                <a:cubicBezTo>
                  <a:pt x="14227" y="1381125"/>
                  <a:pt x="0" y="1366898"/>
                  <a:pt x="0" y="134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942647"/>
            <a:ext cx="31750" cy="1381125"/>
          </a:xfrm>
          <a:custGeom>
            <a:avLst/>
            <a:gdLst/>
            <a:ahLst/>
            <a:cxnLst/>
            <a:rect l="l" t="t" r="r" b="b"/>
            <a:pathLst>
              <a:path w="31750" h="1381125">
                <a:moveTo>
                  <a:pt x="31750" y="0"/>
                </a:moveTo>
                <a:lnTo>
                  <a:pt x="31750" y="0"/>
                </a:lnTo>
                <a:lnTo>
                  <a:pt x="31750" y="1381125"/>
                </a:lnTo>
                <a:lnTo>
                  <a:pt x="31750" y="1381125"/>
                </a:lnTo>
                <a:cubicBezTo>
                  <a:pt x="14227" y="1381125"/>
                  <a:pt x="0" y="1366898"/>
                  <a:pt x="0" y="134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101397"/>
            <a:ext cx="1128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选择算法的关键维度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1418897"/>
            <a:ext cx="1127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没有万能算法! 选择聚类算法需要综合考虑</a:t>
            </a:r>
            <a:r>
              <a:rPr lang="en-US" sz="1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数据特性、业务需求、计算资源</a:t>
            </a: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等多个维度。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720522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31751" y="0"/>
                </a:moveTo>
                <a:lnTo>
                  <a:pt x="2698749" y="0"/>
                </a:lnTo>
                <a:cubicBezTo>
                  <a:pt x="2716285" y="0"/>
                  <a:pt x="2730500" y="14215"/>
                  <a:pt x="2730500" y="31751"/>
                </a:cubicBezTo>
                <a:lnTo>
                  <a:pt x="2730500" y="412749"/>
                </a:lnTo>
                <a:cubicBezTo>
                  <a:pt x="2730500" y="430285"/>
                  <a:pt x="2716285" y="444500"/>
                  <a:pt x="269874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3719" y="1784022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7688" y="1974522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样本数量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750" y="1720522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31751" y="0"/>
                </a:moveTo>
                <a:lnTo>
                  <a:pt x="2698749" y="0"/>
                </a:lnTo>
                <a:cubicBezTo>
                  <a:pt x="2716285" y="0"/>
                  <a:pt x="2730500" y="14215"/>
                  <a:pt x="2730500" y="31751"/>
                </a:cubicBezTo>
                <a:lnTo>
                  <a:pt x="2730500" y="412749"/>
                </a:lnTo>
                <a:cubicBezTo>
                  <a:pt x="2730500" y="430285"/>
                  <a:pt x="2716285" y="444500"/>
                  <a:pt x="269874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369469" y="1784022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簇形状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73438" y="1974522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球状/非凸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9500" y="1720522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31751" y="0"/>
                </a:moveTo>
                <a:lnTo>
                  <a:pt x="2698749" y="0"/>
                </a:lnTo>
                <a:cubicBezTo>
                  <a:pt x="2716285" y="0"/>
                  <a:pt x="2730500" y="14215"/>
                  <a:pt x="2730500" y="31751"/>
                </a:cubicBezTo>
                <a:lnTo>
                  <a:pt x="2730500" y="412749"/>
                </a:lnTo>
                <a:cubicBezTo>
                  <a:pt x="2730500" y="430285"/>
                  <a:pt x="2716285" y="444500"/>
                  <a:pt x="269874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95219" y="1784022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噪声情况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9188" y="1974522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异常点比例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85250" y="1720522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31751" y="0"/>
                </a:moveTo>
                <a:lnTo>
                  <a:pt x="2698749" y="0"/>
                </a:lnTo>
                <a:cubicBezTo>
                  <a:pt x="2716285" y="0"/>
                  <a:pt x="2730500" y="14215"/>
                  <a:pt x="2730500" y="31751"/>
                </a:cubicBezTo>
                <a:lnTo>
                  <a:pt x="2730500" y="412749"/>
                </a:lnTo>
                <a:cubicBezTo>
                  <a:pt x="2730500" y="430285"/>
                  <a:pt x="2716285" y="444500"/>
                  <a:pt x="269874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20969" y="1784022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计算资源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24938" y="1974522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时间/内存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375" y="2387712"/>
            <a:ext cx="5683250" cy="1450645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33375" y="2387712"/>
            <a:ext cx="63500" cy="1450645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8000" y="2546462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8000" y="2863962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71500" y="292746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适合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3086212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大规模数据(&gt;10万)、凸形簇、作为基准模型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3340212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71500" y="340371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✗ 不适合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3562462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非凸形状、含大量噪声、需预设K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2387712"/>
            <a:ext cx="5683250" cy="1450645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91249" y="2387712"/>
            <a:ext cx="45719" cy="1450645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365875" y="2546462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65875" y="2863962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29375" y="292746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适合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9375" y="3086212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任意形状、含噪声、地理位置分析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5875" y="3340212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29375" y="340371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✗ 不适合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29375" y="3562462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密度差异大、高维数据、超大规模数据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3375" y="3902297"/>
            <a:ext cx="5683250" cy="1437127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33374" y="3902297"/>
            <a:ext cx="45719" cy="1429189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08000" y="4061047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层次聚类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4378547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71500" y="4442047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适合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1500" y="4600797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小规模数据(&lt;1万)、需层级关系、可视化验证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8000" y="4854797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71500" y="4918297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✗ 不适合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1500" y="5077047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大规模数据、实时应用、计算资源受限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3902297"/>
            <a:ext cx="5683250" cy="1429189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191249" y="3902297"/>
            <a:ext cx="45719" cy="1437127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365875" y="4061047"/>
            <a:ext cx="542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GMM</a:t>
            </a: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 (模型聚类)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5875" y="4378547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429375" y="4442047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适合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9375" y="4600797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需要概率输出、簇有重叠、椭圆状簇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5875" y="4854797"/>
            <a:ext cx="5349875" cy="412750"/>
          </a:xfrm>
          <a:custGeom>
            <a:avLst/>
            <a:gdLst/>
            <a:ahLst/>
            <a:cxnLst/>
            <a:rect l="l" t="t" r="r" b="b"/>
            <a:pathLst>
              <a:path w="5349875" h="412750">
                <a:moveTo>
                  <a:pt x="31749" y="0"/>
                </a:moveTo>
                <a:lnTo>
                  <a:pt x="5318126" y="0"/>
                </a:lnTo>
                <a:cubicBezTo>
                  <a:pt x="5335661" y="0"/>
                  <a:pt x="5349875" y="14214"/>
                  <a:pt x="5349875" y="31749"/>
                </a:cubicBezTo>
                <a:lnTo>
                  <a:pt x="5349875" y="381001"/>
                </a:lnTo>
                <a:cubicBezTo>
                  <a:pt x="5349875" y="398536"/>
                  <a:pt x="5335661" y="412750"/>
                  <a:pt x="5318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429375" y="4918297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✗ 不适合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9375" y="5077047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数据量大、需快速初步聚类、非高斯分布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1469" y="5410121"/>
            <a:ext cx="11549063" cy="1356138"/>
          </a:xfrm>
          <a:custGeom>
            <a:avLst/>
            <a:gdLst/>
            <a:ahLst/>
            <a:cxnLst/>
            <a:rect l="l" t="t" r="r" b="b"/>
            <a:pathLst>
              <a:path w="11549063" h="1563688">
                <a:moveTo>
                  <a:pt x="63501" y="0"/>
                </a:moveTo>
                <a:lnTo>
                  <a:pt x="11485561" y="0"/>
                </a:lnTo>
                <a:cubicBezTo>
                  <a:pt x="11520632" y="0"/>
                  <a:pt x="11549063" y="28431"/>
                  <a:pt x="11549063" y="63501"/>
                </a:cubicBezTo>
                <a:lnTo>
                  <a:pt x="11549063" y="1500186"/>
                </a:lnTo>
                <a:cubicBezTo>
                  <a:pt x="11549063" y="1535257"/>
                  <a:pt x="11520632" y="1563688"/>
                  <a:pt x="11485561" y="1563688"/>
                </a:cubicBezTo>
                <a:lnTo>
                  <a:pt x="63501" y="1563688"/>
                </a:lnTo>
                <a:cubicBezTo>
                  <a:pt x="28431" y="1563688"/>
                  <a:pt x="0" y="1535257"/>
                  <a:pt x="0" y="1500186"/>
                </a:cubicBezTo>
                <a:lnTo>
                  <a:pt x="0" y="63501"/>
                </a:lnTo>
                <a:cubicBezTo>
                  <a:pt x="0" y="28431"/>
                  <a:pt x="28431" y="0"/>
                  <a:pt x="63501" y="0"/>
                </a:cubicBezTo>
                <a:close/>
              </a:path>
            </a:pathLst>
          </a:custGeom>
          <a:solidFill>
            <a:srgbClr val="3D8F8A">
              <a:alpha val="5098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484187" y="5478250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决策流程图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84187" y="5722175"/>
            <a:ext cx="3659187" cy="920750"/>
          </a:xfrm>
          <a:custGeom>
            <a:avLst/>
            <a:gdLst/>
            <a:ahLst/>
            <a:cxnLst/>
            <a:rect l="l" t="t" r="r" b="b"/>
            <a:pathLst>
              <a:path w="3659187" h="920750">
                <a:moveTo>
                  <a:pt x="31747" y="0"/>
                </a:moveTo>
                <a:lnTo>
                  <a:pt x="3627440" y="0"/>
                </a:lnTo>
                <a:cubicBezTo>
                  <a:pt x="3644974" y="0"/>
                  <a:pt x="3659187" y="14214"/>
                  <a:pt x="3659187" y="31747"/>
                </a:cubicBezTo>
                <a:lnTo>
                  <a:pt x="3659187" y="889003"/>
                </a:lnTo>
                <a:cubicBezTo>
                  <a:pt x="3659187" y="906536"/>
                  <a:pt x="3644974" y="920750"/>
                  <a:pt x="36274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47688" y="5817425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Step 1: 判断数据规模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51656" y="607142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大规模(&gt;10万)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K-Means/Mini-Batch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51656" y="623017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中等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DBSCAN/BIRCH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51656" y="638892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小规模(&lt;1万) → 层次聚类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267708" y="5722175"/>
            <a:ext cx="3659187" cy="920750"/>
          </a:xfrm>
          <a:custGeom>
            <a:avLst/>
            <a:gdLst/>
            <a:ahLst/>
            <a:cxnLst/>
            <a:rect l="l" t="t" r="r" b="b"/>
            <a:pathLst>
              <a:path w="3659187" h="920750">
                <a:moveTo>
                  <a:pt x="31747" y="0"/>
                </a:moveTo>
                <a:lnTo>
                  <a:pt x="3627440" y="0"/>
                </a:lnTo>
                <a:cubicBezTo>
                  <a:pt x="3644974" y="0"/>
                  <a:pt x="3659187" y="14214"/>
                  <a:pt x="3659187" y="31747"/>
                </a:cubicBezTo>
                <a:lnTo>
                  <a:pt x="3659187" y="889003"/>
                </a:lnTo>
                <a:cubicBezTo>
                  <a:pt x="3659187" y="906536"/>
                  <a:pt x="3644974" y="920750"/>
                  <a:pt x="36274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4331208" y="5817425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Step 2: 判断簇形状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35177" y="607142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球状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K-Means/Ward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335177" y="623017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任意形状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335177" y="638892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椭圆状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GMM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051229" y="5722175"/>
            <a:ext cx="3659187" cy="920750"/>
          </a:xfrm>
          <a:custGeom>
            <a:avLst/>
            <a:gdLst/>
            <a:ahLst/>
            <a:cxnLst/>
            <a:rect l="l" t="t" r="r" b="b"/>
            <a:pathLst>
              <a:path w="3659187" h="920750">
                <a:moveTo>
                  <a:pt x="31747" y="0"/>
                </a:moveTo>
                <a:lnTo>
                  <a:pt x="3627440" y="0"/>
                </a:lnTo>
                <a:cubicBezTo>
                  <a:pt x="3644974" y="0"/>
                  <a:pt x="3659187" y="14214"/>
                  <a:pt x="3659187" y="31747"/>
                </a:cubicBezTo>
                <a:lnTo>
                  <a:pt x="3659187" y="889003"/>
                </a:lnTo>
                <a:cubicBezTo>
                  <a:pt x="3659187" y="906536"/>
                  <a:pt x="3644974" y="920750"/>
                  <a:pt x="36274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114729" y="5817425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Step 3: 判断噪声情况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118698" y="607142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含大量噪声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118698" y="623017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需概率输出 → </a:t>
            </a:r>
            <a:r>
              <a:rPr lang="en-US" sz="875" dirty="0">
                <a:solidFill>
                  <a:srgbClr val="A99A8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GMM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118698" y="6388925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需层级关系 → 层次聚类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PRACTICE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总结与实践建议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3778250"/>
          </a:xfrm>
          <a:custGeom>
            <a:avLst/>
            <a:gdLst/>
            <a:ahLst/>
            <a:cxnLst/>
            <a:rect l="l" t="t" r="r" b="b"/>
            <a:pathLst>
              <a:path w="5683250" h="3778250">
                <a:moveTo>
                  <a:pt x="31750" y="0"/>
                </a:moveTo>
                <a:lnTo>
                  <a:pt x="5619738" y="0"/>
                </a:lnTo>
                <a:cubicBezTo>
                  <a:pt x="5654815" y="0"/>
                  <a:pt x="5683250" y="28435"/>
                  <a:pt x="5683250" y="63512"/>
                </a:cubicBezTo>
                <a:lnTo>
                  <a:pt x="5683250" y="3714738"/>
                </a:lnTo>
                <a:cubicBezTo>
                  <a:pt x="5683250" y="3749815"/>
                  <a:pt x="5654815" y="3778250"/>
                  <a:pt x="5619738" y="3778250"/>
                </a:cubicBezTo>
                <a:lnTo>
                  <a:pt x="31750" y="3778250"/>
                </a:lnTo>
                <a:cubicBezTo>
                  <a:pt x="14227" y="3778250"/>
                  <a:pt x="0" y="3764023"/>
                  <a:pt x="0" y="374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047750"/>
            <a:ext cx="31750" cy="3778250"/>
          </a:xfrm>
          <a:custGeom>
            <a:avLst/>
            <a:gdLst/>
            <a:ahLst/>
            <a:cxnLst/>
            <a:rect l="l" t="t" r="r" b="b"/>
            <a:pathLst>
              <a:path w="31750" h="3778250">
                <a:moveTo>
                  <a:pt x="31750" y="0"/>
                </a:moveTo>
                <a:lnTo>
                  <a:pt x="31750" y="0"/>
                </a:lnTo>
                <a:lnTo>
                  <a:pt x="31750" y="3778250"/>
                </a:lnTo>
                <a:lnTo>
                  <a:pt x="31750" y="3778250"/>
                </a:lnTo>
                <a:cubicBezTo>
                  <a:pt x="14227" y="3778250"/>
                  <a:pt x="0" y="3764023"/>
                  <a:pt x="0" y="374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8000" y="1206500"/>
            <a:ext cx="544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核心要点回顾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555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19125" y="1682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5500" y="1651000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 聚类是无监督学习的核心技术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" y="1873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旨在发现数据的内在结构,将相似样本归为一类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190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1188" y="2317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1867" y="128042"/>
                </a:moveTo>
                <a:cubicBezTo>
                  <a:pt x="47228" y="132680"/>
                  <a:pt x="39688" y="132680"/>
                  <a:pt x="35024" y="128042"/>
                </a:cubicBezTo>
                <a:lnTo>
                  <a:pt x="6970" y="99988"/>
                </a:lnTo>
                <a:cubicBezTo>
                  <a:pt x="2332" y="95349"/>
                  <a:pt x="2332" y="87809"/>
                  <a:pt x="6970" y="83145"/>
                </a:cubicBezTo>
                <a:lnTo>
                  <a:pt x="11187" y="78929"/>
                </a:lnTo>
                <a:lnTo>
                  <a:pt x="29418" y="97160"/>
                </a:lnTo>
                <a:cubicBezTo>
                  <a:pt x="31750" y="99492"/>
                  <a:pt x="35520" y="99492"/>
                  <a:pt x="37827" y="97160"/>
                </a:cubicBezTo>
                <a:cubicBezTo>
                  <a:pt x="40134" y="94828"/>
                  <a:pt x="40159" y="91058"/>
                  <a:pt x="37827" y="88751"/>
                </a:cubicBezTo>
                <a:lnTo>
                  <a:pt x="19596" y="70520"/>
                </a:lnTo>
                <a:lnTo>
                  <a:pt x="28004" y="62111"/>
                </a:lnTo>
                <a:lnTo>
                  <a:pt x="40630" y="74737"/>
                </a:lnTo>
                <a:cubicBezTo>
                  <a:pt x="42962" y="77068"/>
                  <a:pt x="46732" y="77068"/>
                  <a:pt x="49039" y="74737"/>
                </a:cubicBezTo>
                <a:cubicBezTo>
                  <a:pt x="51346" y="72405"/>
                  <a:pt x="51371" y="68635"/>
                  <a:pt x="49039" y="66328"/>
                </a:cubicBezTo>
                <a:lnTo>
                  <a:pt x="36413" y="53702"/>
                </a:lnTo>
                <a:lnTo>
                  <a:pt x="44822" y="45293"/>
                </a:lnTo>
                <a:lnTo>
                  <a:pt x="63054" y="63525"/>
                </a:lnTo>
                <a:cubicBezTo>
                  <a:pt x="65385" y="65856"/>
                  <a:pt x="69155" y="65856"/>
                  <a:pt x="71462" y="63525"/>
                </a:cubicBezTo>
                <a:cubicBezTo>
                  <a:pt x="73769" y="61193"/>
                  <a:pt x="73794" y="57423"/>
                  <a:pt x="71462" y="55116"/>
                </a:cubicBezTo>
                <a:lnTo>
                  <a:pt x="53231" y="36885"/>
                </a:lnTo>
                <a:lnTo>
                  <a:pt x="61640" y="28476"/>
                </a:lnTo>
                <a:lnTo>
                  <a:pt x="74265" y="41101"/>
                </a:lnTo>
                <a:cubicBezTo>
                  <a:pt x="76597" y="43433"/>
                  <a:pt x="80367" y="43433"/>
                  <a:pt x="82674" y="41101"/>
                </a:cubicBezTo>
                <a:cubicBezTo>
                  <a:pt x="84981" y="38770"/>
                  <a:pt x="85006" y="34999"/>
                  <a:pt x="82674" y="32693"/>
                </a:cubicBezTo>
                <a:lnTo>
                  <a:pt x="70048" y="20067"/>
                </a:lnTo>
                <a:lnTo>
                  <a:pt x="78457" y="11658"/>
                </a:lnTo>
                <a:lnTo>
                  <a:pt x="96689" y="29890"/>
                </a:lnTo>
                <a:cubicBezTo>
                  <a:pt x="99020" y="32221"/>
                  <a:pt x="102791" y="32221"/>
                  <a:pt x="105097" y="29890"/>
                </a:cubicBezTo>
                <a:cubicBezTo>
                  <a:pt x="107404" y="27558"/>
                  <a:pt x="107429" y="23788"/>
                  <a:pt x="105097" y="21481"/>
                </a:cubicBezTo>
                <a:lnTo>
                  <a:pt x="86866" y="3249"/>
                </a:lnTo>
                <a:lnTo>
                  <a:pt x="91083" y="-967"/>
                </a:lnTo>
                <a:cubicBezTo>
                  <a:pt x="95721" y="-5606"/>
                  <a:pt x="103262" y="-5606"/>
                  <a:pt x="107925" y="-967"/>
                </a:cubicBezTo>
                <a:lnTo>
                  <a:pt x="136054" y="27012"/>
                </a:lnTo>
                <a:cubicBezTo>
                  <a:pt x="140692" y="31651"/>
                  <a:pt x="140692" y="39191"/>
                  <a:pt x="136054" y="43855"/>
                </a:cubicBezTo>
                <a:lnTo>
                  <a:pt x="51867" y="128042"/>
                </a:ln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5500" y="2286000"/>
            <a:ext cx="150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 距离度量是聚类的基础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" y="2508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根据数据特性选择:欧氏/曼哈顿/马氏/余弦相似度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2825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03250" y="2952750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95250" y="7938"/>
                </a:moveTo>
                <a:lnTo>
                  <a:pt x="127000" y="7938"/>
                </a:lnTo>
                <a:cubicBezTo>
                  <a:pt x="131390" y="7938"/>
                  <a:pt x="134938" y="11485"/>
                  <a:pt x="134938" y="15875"/>
                </a:cubicBezTo>
                <a:cubicBezTo>
                  <a:pt x="134938" y="20265"/>
                  <a:pt x="131390" y="23812"/>
                  <a:pt x="127000" y="23812"/>
                </a:cubicBezTo>
                <a:lnTo>
                  <a:pt x="98822" y="23812"/>
                </a:lnTo>
                <a:cubicBezTo>
                  <a:pt x="97532" y="30212"/>
                  <a:pt x="93142" y="35496"/>
                  <a:pt x="87313" y="38026"/>
                </a:cubicBezTo>
                <a:lnTo>
                  <a:pt x="87313" y="111125"/>
                </a:lnTo>
                <a:lnTo>
                  <a:pt x="127000" y="111125"/>
                </a:lnTo>
                <a:cubicBezTo>
                  <a:pt x="131390" y="111125"/>
                  <a:pt x="134938" y="114672"/>
                  <a:pt x="134938" y="119063"/>
                </a:cubicBezTo>
                <a:cubicBezTo>
                  <a:pt x="134938" y="123453"/>
                  <a:pt x="131390" y="127000"/>
                  <a:pt x="127000" y="127000"/>
                </a:cubicBezTo>
                <a:lnTo>
                  <a:pt x="31750" y="127000"/>
                </a:lnTo>
                <a:cubicBezTo>
                  <a:pt x="27360" y="127000"/>
                  <a:pt x="23812" y="123453"/>
                  <a:pt x="23812" y="119063"/>
                </a:cubicBezTo>
                <a:cubicBezTo>
                  <a:pt x="23812" y="114672"/>
                  <a:pt x="27360" y="111125"/>
                  <a:pt x="31750" y="111125"/>
                </a:cubicBezTo>
                <a:lnTo>
                  <a:pt x="71438" y="111125"/>
                </a:lnTo>
                <a:lnTo>
                  <a:pt x="71438" y="38026"/>
                </a:lnTo>
                <a:cubicBezTo>
                  <a:pt x="65608" y="35471"/>
                  <a:pt x="61218" y="30187"/>
                  <a:pt x="59928" y="23813"/>
                </a:cubicBezTo>
                <a:lnTo>
                  <a:pt x="31750" y="23812"/>
                </a:lnTo>
                <a:cubicBezTo>
                  <a:pt x="27360" y="23812"/>
                  <a:pt x="23812" y="20265"/>
                  <a:pt x="23812" y="15875"/>
                </a:cubicBezTo>
                <a:cubicBezTo>
                  <a:pt x="23812" y="11485"/>
                  <a:pt x="27360" y="7938"/>
                  <a:pt x="31750" y="7938"/>
                </a:cubicBezTo>
                <a:lnTo>
                  <a:pt x="63500" y="7938"/>
                </a:lnTo>
                <a:cubicBezTo>
                  <a:pt x="67121" y="3125"/>
                  <a:pt x="72876" y="0"/>
                  <a:pt x="79375" y="0"/>
                </a:cubicBezTo>
                <a:cubicBezTo>
                  <a:pt x="85874" y="0"/>
                  <a:pt x="91629" y="3125"/>
                  <a:pt x="95250" y="7938"/>
                </a:cubicBezTo>
                <a:close/>
                <a:moveTo>
                  <a:pt x="109041" y="79375"/>
                </a:moveTo>
                <a:lnTo>
                  <a:pt x="144959" y="79375"/>
                </a:lnTo>
                <a:lnTo>
                  <a:pt x="127000" y="48568"/>
                </a:lnTo>
                <a:lnTo>
                  <a:pt x="109041" y="79375"/>
                </a:lnTo>
                <a:close/>
                <a:moveTo>
                  <a:pt x="127000" y="103188"/>
                </a:moveTo>
                <a:cubicBezTo>
                  <a:pt x="111398" y="103188"/>
                  <a:pt x="98425" y="94754"/>
                  <a:pt x="95746" y="83617"/>
                </a:cubicBezTo>
                <a:cubicBezTo>
                  <a:pt x="95101" y="80888"/>
                  <a:pt x="95994" y="78085"/>
                  <a:pt x="97408" y="75654"/>
                </a:cubicBezTo>
                <a:lnTo>
                  <a:pt x="121022" y="35173"/>
                </a:lnTo>
                <a:cubicBezTo>
                  <a:pt x="122262" y="33040"/>
                  <a:pt x="124544" y="31750"/>
                  <a:pt x="127000" y="31750"/>
                </a:cubicBezTo>
                <a:cubicBezTo>
                  <a:pt x="129456" y="31750"/>
                  <a:pt x="131738" y="33065"/>
                  <a:pt x="132978" y="35173"/>
                </a:cubicBezTo>
                <a:lnTo>
                  <a:pt x="156592" y="75654"/>
                </a:lnTo>
                <a:cubicBezTo>
                  <a:pt x="158006" y="78085"/>
                  <a:pt x="158899" y="80888"/>
                  <a:pt x="158254" y="83617"/>
                </a:cubicBezTo>
                <a:cubicBezTo>
                  <a:pt x="155575" y="94729"/>
                  <a:pt x="142602" y="103188"/>
                  <a:pt x="127000" y="103188"/>
                </a:cubicBezTo>
                <a:close/>
                <a:moveTo>
                  <a:pt x="31452" y="48568"/>
                </a:moveTo>
                <a:lnTo>
                  <a:pt x="13494" y="79375"/>
                </a:lnTo>
                <a:lnTo>
                  <a:pt x="49436" y="79375"/>
                </a:lnTo>
                <a:lnTo>
                  <a:pt x="31452" y="48568"/>
                </a:lnTo>
                <a:close/>
                <a:moveTo>
                  <a:pt x="223" y="83617"/>
                </a:moveTo>
                <a:cubicBezTo>
                  <a:pt x="-422" y="80888"/>
                  <a:pt x="471" y="78085"/>
                  <a:pt x="1885" y="75654"/>
                </a:cubicBezTo>
                <a:lnTo>
                  <a:pt x="25499" y="35173"/>
                </a:lnTo>
                <a:cubicBezTo>
                  <a:pt x="26739" y="33040"/>
                  <a:pt x="29021" y="31750"/>
                  <a:pt x="31477" y="31750"/>
                </a:cubicBezTo>
                <a:cubicBezTo>
                  <a:pt x="33933" y="31750"/>
                  <a:pt x="36215" y="33065"/>
                  <a:pt x="37455" y="35173"/>
                </a:cubicBezTo>
                <a:lnTo>
                  <a:pt x="61069" y="75654"/>
                </a:lnTo>
                <a:cubicBezTo>
                  <a:pt x="62483" y="78085"/>
                  <a:pt x="63376" y="80888"/>
                  <a:pt x="62731" y="83617"/>
                </a:cubicBezTo>
                <a:cubicBezTo>
                  <a:pt x="60052" y="94729"/>
                  <a:pt x="47079" y="103188"/>
                  <a:pt x="31477" y="103188"/>
                </a:cubicBezTo>
                <a:cubicBezTo>
                  <a:pt x="15875" y="103188"/>
                  <a:pt x="2902" y="94754"/>
                  <a:pt x="223" y="83617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5500" y="2921000"/>
            <a:ext cx="99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 没有万能算法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" y="3143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需结合数据形状、规模、噪声及业务需求综合考虑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3460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19125" y="3587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5500" y="3556000"/>
            <a:ext cx="1754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④ 评估指标帮助量化聚类质量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" y="3778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内部指标(SSE/轮廓系数/CH指数)需结合业务解释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047750"/>
            <a:ext cx="5683250" cy="3778250"/>
          </a:xfrm>
          <a:custGeom>
            <a:avLst/>
            <a:gdLst/>
            <a:ahLst/>
            <a:cxnLst/>
            <a:rect l="l" t="t" r="r" b="b"/>
            <a:pathLst>
              <a:path w="5683250" h="3778250">
                <a:moveTo>
                  <a:pt x="31750" y="0"/>
                </a:moveTo>
                <a:lnTo>
                  <a:pt x="5619738" y="0"/>
                </a:lnTo>
                <a:cubicBezTo>
                  <a:pt x="5654815" y="0"/>
                  <a:pt x="5683250" y="28435"/>
                  <a:pt x="5683250" y="63512"/>
                </a:cubicBezTo>
                <a:lnTo>
                  <a:pt x="5683250" y="3714738"/>
                </a:lnTo>
                <a:cubicBezTo>
                  <a:pt x="5683250" y="3749815"/>
                  <a:pt x="5654815" y="3778250"/>
                  <a:pt x="5619738" y="3778250"/>
                </a:cubicBezTo>
                <a:lnTo>
                  <a:pt x="31750" y="3778250"/>
                </a:lnTo>
                <a:cubicBezTo>
                  <a:pt x="14227" y="3778250"/>
                  <a:pt x="0" y="3764023"/>
                  <a:pt x="0" y="374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191250" y="1047750"/>
            <a:ext cx="31750" cy="3778250"/>
          </a:xfrm>
          <a:custGeom>
            <a:avLst/>
            <a:gdLst/>
            <a:ahLst/>
            <a:cxnLst/>
            <a:rect l="l" t="t" r="r" b="b"/>
            <a:pathLst>
              <a:path w="31750" h="3778250">
                <a:moveTo>
                  <a:pt x="31750" y="0"/>
                </a:moveTo>
                <a:lnTo>
                  <a:pt x="31750" y="0"/>
                </a:lnTo>
                <a:lnTo>
                  <a:pt x="31750" y="3778250"/>
                </a:lnTo>
                <a:lnTo>
                  <a:pt x="31750" y="3778250"/>
                </a:lnTo>
                <a:cubicBezTo>
                  <a:pt x="14227" y="3778250"/>
                  <a:pt x="0" y="3764023"/>
                  <a:pt x="0" y="374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65875" y="1206500"/>
            <a:ext cx="544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Alimama ShuHeiTi" pitchFamily="34" charset="-120"/>
              </a:rPr>
              <a:t>实践建议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65875" y="1555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61125" y="165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37313" y="165100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15125" y="16510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数据预处理是关键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1125" y="1873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标准化、去噪、降维,数据质量决定聚类上限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5875" y="2190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61125" y="2286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37313" y="228600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15125" y="2286000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先用</a:t>
            </a:r>
            <a:r>
              <a:rPr lang="en-US" sz="1000" dirty="0">
                <a:solidFill>
                  <a:srgbClr val="C7A674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建立基准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61125" y="2508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简单快速,作为后续优化的参照基准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5875" y="2825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61125" y="292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99A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37313" y="292100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15125" y="2921000"/>
            <a:ext cx="159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再尝试DBSCAN或层次聚类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61125" y="3143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根据数据特性选择更适合的算法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5875" y="3460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61125" y="3556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37313" y="355600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15125" y="35560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注意参数调优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61125" y="3778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K值选择、ε和MinPts选择、链接方式选择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5875" y="409575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31753" y="0"/>
                </a:moveTo>
                <a:lnTo>
                  <a:pt x="5318122" y="0"/>
                </a:lnTo>
                <a:cubicBezTo>
                  <a:pt x="5335659" y="0"/>
                  <a:pt x="5349875" y="14216"/>
                  <a:pt x="5349875" y="31753"/>
                </a:cubicBezTo>
                <a:lnTo>
                  <a:pt x="5349875" y="539747"/>
                </a:lnTo>
                <a:cubicBezTo>
                  <a:pt x="5349875" y="557284"/>
                  <a:pt x="5335659" y="571500"/>
                  <a:pt x="5318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461125" y="419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7A67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37313" y="419100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15125" y="41910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7A67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可视化验证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61125" y="4413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9A8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降维后绘制散点图,直观检查聚类合理性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5137</Words>
  <Application>Microsoft Macintosh PowerPoint</Application>
  <PresentationFormat>宽屏</PresentationFormat>
  <Paragraphs>1326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4" baseType="lpstr">
      <vt:lpstr>Arial</vt:lpstr>
      <vt:lpstr>KaiTi</vt:lpstr>
      <vt:lpstr>Calibri</vt:lpstr>
      <vt:lpstr>Cambria Math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聚类算法全解析</dc:title>
  <dc:subject>聚类算法全解析</dc:subject>
  <dc:creator>Kimi</dc:creator>
  <cp:lastModifiedBy>王 天青</cp:lastModifiedBy>
  <cp:revision>28</cp:revision>
  <dcterms:created xsi:type="dcterms:W3CDTF">2026-01-19T14:37:58Z</dcterms:created>
  <dcterms:modified xsi:type="dcterms:W3CDTF">2026-01-20T03:42:06Z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{"Label":"聚类算法全解析","ContentProducer":"001191110108MACG2KBH8F10000","ProduceID":"19bd6954-be22-81ed-8000-0000e70e8bcc","ReservedCode1":"","ContentPropagator":"001191110108MACG2KBH8F20000","PropagateID":"19bd6954-be22-81ed-8000-0000e70e8bcc","ReservedCode2":""}</vt:lpwstr>
  </property>
</Properties>
</file>