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embeddedFontLst>
    <p:embeddedFont>
      <p:font typeface="Liter" charset="-122" pitchFamily="34"/>
      <p:regular r:id="rId35"/>
    </p:embeddedFont>
    <p:embeddedFont>
      <p:font typeface="Alimama ShuHeiTi" charset="-122" pitchFamily="34"/>
      <p:regular r:id="rId36"/>
    </p:embeddedFont>
    <p:embeddedFont>
      <p:font typeface="MiSans" charset="-122" pitchFamily="34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811e382048da2a8982e31fd3c71b305cf3e9f3aa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8920" b="892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100263"/>
            <a:ext cx="3009900" cy="381000"/>
          </a:xfrm>
          <a:custGeom>
            <a:avLst/>
            <a:gdLst/>
            <a:ahLst/>
            <a:cxnLst/>
            <a:rect l="l" t="t" r="r" b="b"/>
            <a:pathLst>
              <a:path w="3009900" h="381000">
                <a:moveTo>
                  <a:pt x="0" y="0"/>
                </a:moveTo>
                <a:lnTo>
                  <a:pt x="3009900" y="0"/>
                </a:lnTo>
                <a:lnTo>
                  <a:pt x="30099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2100263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176463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LEARNING METHODS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709863"/>
            <a:ext cx="11715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统计学习方法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576638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87A8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从MLE到GMM的参数估计体系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3576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" y="4262438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最大似然估计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905000" y="43576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2" name="Text 9"/>
          <p:cNvSpPr/>
          <p:nvPr/>
        </p:nvSpPr>
        <p:spPr>
          <a:xfrm>
            <a:off x="2057400" y="4262438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945904" y="43576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4" name="Text 11"/>
          <p:cNvSpPr/>
          <p:nvPr/>
        </p:nvSpPr>
        <p:spPr>
          <a:xfrm>
            <a:off x="3098304" y="4262438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高斯混合模型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038755" y="6286500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机器学习 · 参数估计 · 理论推导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562100"/>
            <a:ext cx="3638550" cy="3238500"/>
          </a:xfrm>
          <a:custGeom>
            <a:avLst/>
            <a:gdLst/>
            <a:ahLst/>
            <a:cxnLst/>
            <a:rect l="l" t="t" r="r" b="b"/>
            <a:pathLst>
              <a:path w="3638550" h="3238500">
                <a:moveTo>
                  <a:pt x="38100" y="0"/>
                </a:moveTo>
                <a:lnTo>
                  <a:pt x="3562348" y="0"/>
                </a:lnTo>
                <a:cubicBezTo>
                  <a:pt x="3604433" y="0"/>
                  <a:pt x="3638550" y="34117"/>
                  <a:pt x="3638550" y="76202"/>
                </a:cubicBezTo>
                <a:lnTo>
                  <a:pt x="3638550" y="3162298"/>
                </a:lnTo>
                <a:cubicBezTo>
                  <a:pt x="3638550" y="3204383"/>
                  <a:pt x="3604433" y="3238500"/>
                  <a:pt x="3562348" y="3238500"/>
                </a:cubicBezTo>
                <a:lnTo>
                  <a:pt x="38100" y="3238500"/>
                </a:lnTo>
                <a:cubicBezTo>
                  <a:pt x="17072" y="3238500"/>
                  <a:pt x="0" y="3221428"/>
                  <a:pt x="0" y="3200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62100"/>
            <a:ext cx="38100" cy="3238500"/>
          </a:xfrm>
          <a:custGeom>
            <a:avLst/>
            <a:gdLst/>
            <a:ahLst/>
            <a:cxnLst/>
            <a:rect l="l" t="t" r="r" b="b"/>
            <a:pathLst>
              <a:path w="38100" h="3238500">
                <a:moveTo>
                  <a:pt x="38100" y="0"/>
                </a:moveTo>
                <a:lnTo>
                  <a:pt x="38100" y="0"/>
                </a:lnTo>
                <a:lnTo>
                  <a:pt x="38100" y="3238500"/>
                </a:lnTo>
                <a:lnTo>
                  <a:pt x="38100" y="3238500"/>
                </a:lnTo>
                <a:cubicBezTo>
                  <a:pt x="17072" y="3238500"/>
                  <a:pt x="0" y="3221428"/>
                  <a:pt x="0" y="3200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" y="1333500"/>
            <a:ext cx="1485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387A8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86250" y="1562100"/>
            <a:ext cx="3638550" cy="3238500"/>
          </a:xfrm>
          <a:custGeom>
            <a:avLst/>
            <a:gdLst/>
            <a:ahLst/>
            <a:cxnLst/>
            <a:rect l="l" t="t" r="r" b="b"/>
            <a:pathLst>
              <a:path w="3638550" h="3238500">
                <a:moveTo>
                  <a:pt x="38100" y="0"/>
                </a:moveTo>
                <a:lnTo>
                  <a:pt x="3562348" y="0"/>
                </a:lnTo>
                <a:cubicBezTo>
                  <a:pt x="3604433" y="0"/>
                  <a:pt x="3638550" y="34117"/>
                  <a:pt x="3638550" y="76202"/>
                </a:cubicBezTo>
                <a:lnTo>
                  <a:pt x="3638550" y="3162298"/>
                </a:lnTo>
                <a:cubicBezTo>
                  <a:pt x="3638550" y="3204383"/>
                  <a:pt x="3604433" y="3238500"/>
                  <a:pt x="3562348" y="3238500"/>
                </a:cubicBezTo>
                <a:lnTo>
                  <a:pt x="38100" y="3238500"/>
                </a:lnTo>
                <a:cubicBezTo>
                  <a:pt x="17072" y="3238500"/>
                  <a:pt x="0" y="3221428"/>
                  <a:pt x="0" y="3200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286250" y="1562100"/>
            <a:ext cx="38100" cy="3238500"/>
          </a:xfrm>
          <a:custGeom>
            <a:avLst/>
            <a:gdLst/>
            <a:ahLst/>
            <a:cxnLst/>
            <a:rect l="l" t="t" r="r" b="b"/>
            <a:pathLst>
              <a:path w="38100" h="3238500">
                <a:moveTo>
                  <a:pt x="38100" y="0"/>
                </a:moveTo>
                <a:lnTo>
                  <a:pt x="38100" y="0"/>
                </a:lnTo>
                <a:lnTo>
                  <a:pt x="38100" y="3238500"/>
                </a:lnTo>
                <a:lnTo>
                  <a:pt x="38100" y="3238500"/>
                </a:lnTo>
                <a:cubicBezTo>
                  <a:pt x="17072" y="3238500"/>
                  <a:pt x="0" y="3221428"/>
                  <a:pt x="0" y="3200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9" name="Text 7"/>
          <p:cNvSpPr/>
          <p:nvPr/>
        </p:nvSpPr>
        <p:spPr>
          <a:xfrm>
            <a:off x="4076700" y="1333500"/>
            <a:ext cx="1485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E0B354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72450" y="1562100"/>
            <a:ext cx="3638550" cy="3238500"/>
          </a:xfrm>
          <a:custGeom>
            <a:avLst/>
            <a:gdLst/>
            <a:ahLst/>
            <a:cxnLst/>
            <a:rect l="l" t="t" r="r" b="b"/>
            <a:pathLst>
              <a:path w="3638550" h="3238500">
                <a:moveTo>
                  <a:pt x="38100" y="0"/>
                </a:moveTo>
                <a:lnTo>
                  <a:pt x="3562348" y="0"/>
                </a:lnTo>
                <a:cubicBezTo>
                  <a:pt x="3604433" y="0"/>
                  <a:pt x="3638550" y="34117"/>
                  <a:pt x="3638550" y="76202"/>
                </a:cubicBezTo>
                <a:lnTo>
                  <a:pt x="3638550" y="3162298"/>
                </a:lnTo>
                <a:cubicBezTo>
                  <a:pt x="3638550" y="3204383"/>
                  <a:pt x="3604433" y="3238500"/>
                  <a:pt x="3562348" y="3238500"/>
                </a:cubicBezTo>
                <a:lnTo>
                  <a:pt x="38100" y="3238500"/>
                </a:lnTo>
                <a:cubicBezTo>
                  <a:pt x="17072" y="3238500"/>
                  <a:pt x="0" y="3221428"/>
                  <a:pt x="0" y="3200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72450" y="1562100"/>
            <a:ext cx="38100" cy="3238500"/>
          </a:xfrm>
          <a:custGeom>
            <a:avLst/>
            <a:gdLst/>
            <a:ahLst/>
            <a:cxnLst/>
            <a:rect l="l" t="t" r="r" b="b"/>
            <a:pathLst>
              <a:path w="38100" h="3238500">
                <a:moveTo>
                  <a:pt x="38100" y="0"/>
                </a:moveTo>
                <a:lnTo>
                  <a:pt x="38100" y="0"/>
                </a:lnTo>
                <a:lnTo>
                  <a:pt x="38100" y="3238500"/>
                </a:lnTo>
                <a:lnTo>
                  <a:pt x="38100" y="3238500"/>
                </a:lnTo>
                <a:cubicBezTo>
                  <a:pt x="17072" y="3238500"/>
                  <a:pt x="0" y="3221428"/>
                  <a:pt x="0" y="3200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2" name="Text 10"/>
          <p:cNvSpPr/>
          <p:nvPr/>
        </p:nvSpPr>
        <p:spPr>
          <a:xfrm>
            <a:off x="7962900" y="1333500"/>
            <a:ext cx="1485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5D6C79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000" y="6286500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 Pages | Comprehensive Guide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77500" y="62865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从基础理论到实际应用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700" y="1790700"/>
            <a:ext cx="3448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387A8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700" y="2514600"/>
            <a:ext cx="327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最大似然估计（MLE）核心原理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700" y="33147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714" y="327660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MLE基本概念与数学表达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" y="36576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714" y="36195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通用推导步骤与流程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700" y="40005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714" y="39624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离散型与连续型实例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" y="43434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714" y="43053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MLE与贝叶斯估计对比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33900" y="1790700"/>
            <a:ext cx="3448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0B35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33900" y="2514600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EM算法理论与推导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33900" y="30099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90914" y="29718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EM算法核心思想与Q函数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33900" y="33528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90914" y="33147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四步标准推导流程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33900" y="36957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90914" y="36576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三硬币模型完整推导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33900" y="40386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90914" y="40005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应用场景与优缺点分析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20100" y="1790700"/>
            <a:ext cx="3448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5D6C7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20100" y="2514600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高斯混合模型（GMM）应用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20100" y="30099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77114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GMM核心概念与数学表达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20100" y="33528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77114" y="3314700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EM算法在GMM中的完整应用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20100" y="36957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77114" y="3657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聚类、图像分割等应用场景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20100" y="40386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77114" y="400050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Python代码实践与可视化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9a49de836a197fe257a80df2d87ed5bbc862a3d2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252538"/>
            <a:ext cx="6972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387A8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624138"/>
            <a:ext cx="6686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第一章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最大似然估计（MLE）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2814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5481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参数估计的基石：理解MLE的数学原理与通用推导流程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24463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0"/>
                </a:moveTo>
                <a:lnTo>
                  <a:pt x="914400" y="0"/>
                </a:lnTo>
                <a:lnTo>
                  <a:pt x="914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224463"/>
            <a:ext cx="9906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逆向推断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09700" y="5224463"/>
            <a:ext cx="1066800" cy="381000"/>
          </a:xfrm>
          <a:custGeom>
            <a:avLst/>
            <a:gdLst/>
            <a:ahLst/>
            <a:cxnLst/>
            <a:rect l="l" t="t" r="r" b="b"/>
            <a:pathLst>
              <a:path w="1066800" h="381000">
                <a:moveTo>
                  <a:pt x="0" y="0"/>
                </a:moveTo>
                <a:lnTo>
                  <a:pt x="1066800" y="0"/>
                </a:lnTo>
                <a:lnTo>
                  <a:pt x="10668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409700" y="5224463"/>
            <a:ext cx="11430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独立同分布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90800" y="5224463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0"/>
                </a:moveTo>
                <a:lnTo>
                  <a:pt x="914400" y="0"/>
                </a:lnTo>
                <a:lnTo>
                  <a:pt x="914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590800" y="5224463"/>
            <a:ext cx="9906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似然函数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19500" y="5224463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0"/>
                </a:moveTo>
                <a:lnTo>
                  <a:pt x="914400" y="0"/>
                </a:lnTo>
                <a:lnTo>
                  <a:pt x="914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619500" y="5224463"/>
            <a:ext cx="9906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参数估计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MLE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MLE核心概念：逆向推断的统计思想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573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基本定义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676400"/>
            <a:ext cx="567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最大似然估计（MLE）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是一种统计方法，用于在已知数据分布类型但参数未知的情况下估计模型参数。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2286000"/>
            <a:ext cx="5581650" cy="895350"/>
          </a:xfrm>
          <a:custGeom>
            <a:avLst/>
            <a:gdLst/>
            <a:ahLst/>
            <a:cxnLst/>
            <a:rect l="l" t="t" r="r" b="b"/>
            <a:pathLst>
              <a:path w="5581650" h="895350">
                <a:moveTo>
                  <a:pt x="38100" y="0"/>
                </a:moveTo>
                <a:lnTo>
                  <a:pt x="5505447" y="0"/>
                </a:lnTo>
                <a:cubicBezTo>
                  <a:pt x="5547533" y="0"/>
                  <a:pt x="5581650" y="34117"/>
                  <a:pt x="5581650" y="76203"/>
                </a:cubicBezTo>
                <a:lnTo>
                  <a:pt x="5581650" y="819147"/>
                </a:lnTo>
                <a:cubicBezTo>
                  <a:pt x="5581650" y="861233"/>
                  <a:pt x="5547533" y="895350"/>
                  <a:pt x="55054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2286000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2438400"/>
            <a:ext cx="534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核心思想：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781300"/>
            <a:ext cx="533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找到一组参数，使得在这组参数下，观测到的数据出现的概率最大。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337185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直观理解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790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" y="37909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" y="379095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正向概率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6300" y="409575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已知模型参数，预测数据出现的概率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4438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B354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" y="44386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6300" y="4438650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逆向似然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6300" y="47434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已观测到数据，反推最可能产生数据的参数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0300" y="12573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核心假设（i.i.d.）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0300" y="1676400"/>
            <a:ext cx="5600700" cy="876300"/>
          </a:xfrm>
          <a:custGeom>
            <a:avLst/>
            <a:gdLst/>
            <a:ahLst/>
            <a:cxnLst/>
            <a:rect l="l" t="t" r="r" b="b"/>
            <a:pathLst>
              <a:path w="5600700" h="876300">
                <a:moveTo>
                  <a:pt x="76203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800097"/>
                </a:lnTo>
                <a:cubicBezTo>
                  <a:pt x="5600700" y="842183"/>
                  <a:pt x="5566583" y="876300"/>
                  <a:pt x="55244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62700" y="1828800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2700" y="21717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每个样本的产生相互独立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2667000"/>
            <a:ext cx="5600700" cy="876300"/>
          </a:xfrm>
          <a:custGeom>
            <a:avLst/>
            <a:gdLst/>
            <a:ahLst/>
            <a:cxnLst/>
            <a:rect l="l" t="t" r="r" b="b"/>
            <a:pathLst>
              <a:path w="5600700" h="876300">
                <a:moveTo>
                  <a:pt x="76203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800097"/>
                </a:lnTo>
                <a:cubicBezTo>
                  <a:pt x="5600700" y="842183"/>
                  <a:pt x="5566583" y="876300"/>
                  <a:pt x="55244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62700" y="2819400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同分布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62700" y="31623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所有样本来自同一概率分布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0300" y="37338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数学表达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4152900"/>
            <a:ext cx="5600700" cy="1790700"/>
          </a:xfrm>
          <a:custGeom>
            <a:avLst/>
            <a:gdLst/>
            <a:ahLst/>
            <a:cxnLst/>
            <a:rect l="l" t="t" r="r" b="b"/>
            <a:pathLst>
              <a:path w="5600700" h="1790700">
                <a:moveTo>
                  <a:pt x="76194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1714506"/>
                </a:lnTo>
                <a:cubicBezTo>
                  <a:pt x="5600700" y="1756587"/>
                  <a:pt x="5566587" y="1790700"/>
                  <a:pt x="552450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62700" y="43053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观测数据：X = {x₁, x₂, ..., xₙ}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62700" y="46482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模型参数：θ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1750" y="4991100"/>
            <a:ext cx="5276850" cy="495300"/>
          </a:xfrm>
          <a:custGeom>
            <a:avLst/>
            <a:gdLst/>
            <a:ahLst/>
            <a:cxnLst/>
            <a:rect l="l" t="t" r="r" b="b"/>
            <a:pathLst>
              <a:path w="5276850" h="495300">
                <a:moveTo>
                  <a:pt x="38098" y="0"/>
                </a:moveTo>
                <a:lnTo>
                  <a:pt x="5238752" y="0"/>
                </a:lnTo>
                <a:cubicBezTo>
                  <a:pt x="5259793" y="0"/>
                  <a:pt x="5276850" y="17057"/>
                  <a:pt x="5276850" y="38098"/>
                </a:cubicBezTo>
                <a:lnTo>
                  <a:pt x="5276850" y="457202"/>
                </a:lnTo>
                <a:cubicBezTo>
                  <a:pt x="5276850" y="478243"/>
                  <a:pt x="5259793" y="495300"/>
                  <a:pt x="523875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81750" y="4991100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3810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38100" y="495300"/>
                </a:lnTo>
                <a:cubicBezTo>
                  <a:pt x="17072" y="495300"/>
                  <a:pt x="0" y="478228"/>
                  <a:pt x="0" y="457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2" name="Text 30"/>
          <p:cNvSpPr/>
          <p:nvPr/>
        </p:nvSpPr>
        <p:spPr>
          <a:xfrm>
            <a:off x="6467475" y="5105400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θ̂</a:t>
            </a:r>
            <a:pPr algn="ctr">
              <a:lnSpc>
                <a:spcPct val="120000"/>
              </a:lnSpc>
            </a:pPr>
            <a:r>
              <a:rPr lang="en-US" sz="1125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MLE</a:t>
            </a:r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arg max</a:t>
            </a:r>
            <a:pPr algn="ctr">
              <a:lnSpc>
                <a:spcPct val="120000"/>
              </a:lnSpc>
            </a:pPr>
            <a:r>
              <a:rPr lang="en-US" sz="1125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θ</a:t>
            </a:r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L(θ|X)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29363" y="560070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其中 L(θ|X) 为似然函数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MLE PROCEDURE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MLE通用推导步骤：从概率到优化的六步流程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0015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09758"/>
                </a:lnTo>
                <a:cubicBezTo>
                  <a:pt x="3705225" y="1851838"/>
                  <a:pt x="3671113" y="1885950"/>
                  <a:pt x="3629033" y="1885950"/>
                </a:cubicBezTo>
                <a:lnTo>
                  <a:pt x="76192" y="1885950"/>
                </a:lnTo>
                <a:cubicBezTo>
                  <a:pt x="34112" y="1885950"/>
                  <a:pt x="0" y="1851838"/>
                  <a:pt x="0" y="18097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00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Text 5"/>
          <p:cNvSpPr/>
          <p:nvPr/>
        </p:nvSpPr>
        <p:spPr>
          <a:xfrm>
            <a:off x="528638" y="14097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146685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确定概率分布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9050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假设数据服从某种已知的概率分布，明确待估计的未知参数。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476500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伯努利分布：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 p（成功概率）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705100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正态分布：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 μ, σ²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41750" y="120015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09758"/>
                </a:lnTo>
                <a:cubicBezTo>
                  <a:pt x="3705225" y="1851838"/>
                  <a:pt x="3671113" y="1885950"/>
                  <a:pt x="3629033" y="1885950"/>
                </a:cubicBezTo>
                <a:lnTo>
                  <a:pt x="76192" y="1885950"/>
                </a:lnTo>
                <a:cubicBezTo>
                  <a:pt x="34112" y="1885950"/>
                  <a:pt x="0" y="1851838"/>
                  <a:pt x="0" y="18097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241750" y="1200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225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388" y="14097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27550" y="146685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构造似然函数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2250" y="1905000"/>
            <a:ext cx="3400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基于i.i.d.假设，构造所有样本概率密度的乘积：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2250" y="2228850"/>
            <a:ext cx="3324225" cy="419100"/>
          </a:xfrm>
          <a:custGeom>
            <a:avLst/>
            <a:gdLst/>
            <a:ahLst/>
            <a:cxnLst/>
            <a:rect l="l" t="t" r="r" b="b"/>
            <a:pathLst>
              <a:path w="3324225" h="4191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81000"/>
                </a:lnTo>
                <a:cubicBezTo>
                  <a:pt x="3324225" y="402042"/>
                  <a:pt x="3307167" y="419100"/>
                  <a:pt x="328612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389388" y="2228850"/>
            <a:ext cx="3409950" cy="4191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L(θ) = ∏</a:t>
            </a:r>
            <a:pPr algn="ctr">
              <a:lnSpc>
                <a:spcPct val="130000"/>
              </a:lnSpc>
            </a:pPr>
            <a:r>
              <a:rPr lang="en-US" sz="101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i=1n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f(x</a:t>
            </a:r>
            <a:pPr algn="ctr">
              <a:lnSpc>
                <a:spcPct val="130000"/>
              </a:lnSpc>
            </a:pPr>
            <a:r>
              <a:rPr lang="en-US" sz="101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|θ)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2575" y="120015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09758"/>
                </a:lnTo>
                <a:cubicBezTo>
                  <a:pt x="3705225" y="1851838"/>
                  <a:pt x="3671113" y="1885950"/>
                  <a:pt x="3629033" y="1885950"/>
                </a:cubicBezTo>
                <a:lnTo>
                  <a:pt x="76192" y="1885950"/>
                </a:lnTo>
                <a:cubicBezTo>
                  <a:pt x="34112" y="1885950"/>
                  <a:pt x="0" y="1851838"/>
                  <a:pt x="0" y="18097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02575" y="1200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3075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3" name="Text 21"/>
          <p:cNvSpPr/>
          <p:nvPr/>
        </p:nvSpPr>
        <p:spPr>
          <a:xfrm>
            <a:off x="8250213" y="14097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88375" y="146685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取对数似然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3075" y="1905000"/>
            <a:ext cx="3400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将连乘转为求和，简化计算并防止数值溢出：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93075" y="2228850"/>
            <a:ext cx="3324225" cy="419100"/>
          </a:xfrm>
          <a:custGeom>
            <a:avLst/>
            <a:gdLst/>
            <a:ahLst/>
            <a:cxnLst/>
            <a:rect l="l" t="t" r="r" b="b"/>
            <a:pathLst>
              <a:path w="3324225" h="4191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81000"/>
                </a:lnTo>
                <a:cubicBezTo>
                  <a:pt x="3324225" y="402042"/>
                  <a:pt x="3307167" y="419100"/>
                  <a:pt x="328612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250213" y="2228850"/>
            <a:ext cx="3409950" cy="4191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l(θ) = Σ</a:t>
            </a:r>
            <a:pPr algn="ctr">
              <a:lnSpc>
                <a:spcPct val="130000"/>
              </a:lnSpc>
            </a:pPr>
            <a:r>
              <a:rPr lang="en-US" sz="101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i=1n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ln f(x</a:t>
            </a:r>
            <a:pPr algn="ctr">
              <a:lnSpc>
                <a:spcPct val="130000"/>
              </a:lnSpc>
            </a:pPr>
            <a:r>
              <a:rPr lang="en-US" sz="101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|θ)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325755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" y="3257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" y="3467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1" name="Text 29"/>
          <p:cNvSpPr/>
          <p:nvPr/>
        </p:nvSpPr>
        <p:spPr>
          <a:xfrm>
            <a:off x="528638" y="34671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6800" y="352425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求导找极值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3962400"/>
            <a:ext cx="3400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对对数似然函数求导，令导数为零：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" y="4286250"/>
            <a:ext cx="3324225" cy="419100"/>
          </a:xfrm>
          <a:custGeom>
            <a:avLst/>
            <a:gdLst/>
            <a:ahLst/>
            <a:cxnLst/>
            <a:rect l="l" t="t" r="r" b="b"/>
            <a:pathLst>
              <a:path w="3324225" h="419100">
                <a:moveTo>
                  <a:pt x="38100" y="0"/>
                </a:moveTo>
                <a:lnTo>
                  <a:pt x="3286125" y="0"/>
                </a:lnTo>
                <a:cubicBezTo>
                  <a:pt x="3307167" y="0"/>
                  <a:pt x="3324225" y="17058"/>
                  <a:pt x="3324225" y="38100"/>
                </a:cubicBezTo>
                <a:lnTo>
                  <a:pt x="3324225" y="381000"/>
                </a:lnTo>
                <a:cubicBezTo>
                  <a:pt x="3324225" y="402042"/>
                  <a:pt x="3307167" y="419100"/>
                  <a:pt x="328612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28638" y="4286250"/>
            <a:ext cx="3409950" cy="4191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∂l(θ)/∂θ = 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41750" y="325755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41750" y="3257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8" name="Shape 36"/>
          <p:cNvSpPr/>
          <p:nvPr/>
        </p:nvSpPr>
        <p:spPr>
          <a:xfrm>
            <a:off x="4432250" y="3467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388" y="34671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27550" y="352425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验证极大值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32250" y="3962400"/>
            <a:ext cx="3400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通过二阶导数检验确认是极大值点：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32250" y="4286250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单参数：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d²l/dθ² &lt; 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32250" y="4514850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多参数：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Hessian负定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02575" y="325755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102575" y="3257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46" name="Shape 44"/>
          <p:cNvSpPr/>
          <p:nvPr/>
        </p:nvSpPr>
        <p:spPr>
          <a:xfrm>
            <a:off x="8293075" y="3467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47" name="Text 45"/>
          <p:cNvSpPr/>
          <p:nvPr/>
        </p:nvSpPr>
        <p:spPr>
          <a:xfrm>
            <a:off x="8250213" y="34671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88375" y="352425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计算估计值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93075" y="3962400"/>
            <a:ext cx="3400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解方程得到参数估计值，分析统计性质：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93075" y="4286250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无偏性 ✓ 一致性 ✓ 有效性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00050" y="5048250"/>
            <a:ext cx="11410950" cy="914400"/>
          </a:xfrm>
          <a:custGeom>
            <a:avLst/>
            <a:gdLst/>
            <a:ahLst/>
            <a:cxnLst/>
            <a:rect l="l" t="t" r="r" b="b"/>
            <a:pathLst>
              <a:path w="11410950" h="914400">
                <a:moveTo>
                  <a:pt x="38100" y="0"/>
                </a:moveTo>
                <a:lnTo>
                  <a:pt x="11334753" y="0"/>
                </a:lnTo>
                <a:cubicBezTo>
                  <a:pt x="11376835" y="0"/>
                  <a:pt x="11410950" y="34115"/>
                  <a:pt x="11410950" y="76197"/>
                </a:cubicBezTo>
                <a:lnTo>
                  <a:pt x="11410950" y="838203"/>
                </a:lnTo>
                <a:cubicBezTo>
                  <a:pt x="11410950" y="880285"/>
                  <a:pt x="11376835" y="914400"/>
                  <a:pt x="113347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00050" y="504825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53" name="Text 51"/>
          <p:cNvSpPr/>
          <p:nvPr/>
        </p:nvSpPr>
        <p:spPr>
          <a:xfrm>
            <a:off x="571500" y="5200650"/>
            <a:ext cx="1117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为什么取对数？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71500" y="554355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15119" y="55435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简化计算：连乘→求和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317950" y="554355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490517" y="5543550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防止溢出：避免概率连乘趋近0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064475" y="55435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241506" y="55435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保持极值：对数单调递增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43679"/>
            <a:ext cx="1156478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spc="47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DISCRETE EXAMPLE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679" y="584254"/>
            <a:ext cx="11659298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离散型实例：伯努利分布的参数估计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3679" y="1065404"/>
            <a:ext cx="6950901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问题场景：估计盒子中白球的概率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3679" y="1443450"/>
            <a:ext cx="6916533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假设盒子中有黑白两种球，进行10次有放回的抽样。已知抽样结果，求盒子中抽取出白球的概率p。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3679" y="1769945"/>
            <a:ext cx="6847797" cy="1065404"/>
          </a:xfrm>
          <a:custGeom>
            <a:avLst/>
            <a:gdLst/>
            <a:ahLst/>
            <a:cxnLst/>
            <a:rect l="l" t="t" r="r" b="b"/>
            <a:pathLst>
              <a:path w="6847797" h="1065404">
                <a:moveTo>
                  <a:pt x="68740" y="0"/>
                </a:moveTo>
                <a:lnTo>
                  <a:pt x="6779057" y="0"/>
                </a:lnTo>
                <a:cubicBezTo>
                  <a:pt x="6817021" y="0"/>
                  <a:pt x="6847797" y="30776"/>
                  <a:pt x="6847797" y="68740"/>
                </a:cubicBezTo>
                <a:lnTo>
                  <a:pt x="6847797" y="996664"/>
                </a:lnTo>
                <a:cubicBezTo>
                  <a:pt x="6847797" y="1034628"/>
                  <a:pt x="6817021" y="1065404"/>
                  <a:pt x="6779057" y="1065404"/>
                </a:cubicBezTo>
                <a:lnTo>
                  <a:pt x="68740" y="1065404"/>
                </a:lnTo>
                <a:cubicBezTo>
                  <a:pt x="30776" y="1065404"/>
                  <a:pt x="0" y="1034628"/>
                  <a:pt x="0" y="996664"/>
                </a:cubicBezTo>
                <a:lnTo>
                  <a:pt x="0" y="68740"/>
                </a:lnTo>
                <a:cubicBezTo>
                  <a:pt x="0" y="30776"/>
                  <a:pt x="30776" y="0"/>
                  <a:pt x="6874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1150" y="1907416"/>
            <a:ext cx="6650182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数据示例：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1150" y="2216727"/>
            <a:ext cx="627214" cy="240575"/>
          </a:xfrm>
          <a:custGeom>
            <a:avLst/>
            <a:gdLst/>
            <a:ahLst/>
            <a:cxnLst/>
            <a:rect l="l" t="t" r="r" b="b"/>
            <a:pathLst>
              <a:path w="627214" h="240575">
                <a:moveTo>
                  <a:pt x="34369" y="0"/>
                </a:moveTo>
                <a:lnTo>
                  <a:pt x="592845" y="0"/>
                </a:lnTo>
                <a:cubicBezTo>
                  <a:pt x="611826" y="0"/>
                  <a:pt x="627214" y="15387"/>
                  <a:pt x="627214" y="34369"/>
                </a:cubicBezTo>
                <a:lnTo>
                  <a:pt x="627214" y="206207"/>
                </a:lnTo>
                <a:cubicBezTo>
                  <a:pt x="627214" y="225188"/>
                  <a:pt x="611826" y="240575"/>
                  <a:pt x="592845" y="240575"/>
                </a:cubicBezTo>
                <a:lnTo>
                  <a:pt x="34369" y="240575"/>
                </a:lnTo>
                <a:cubicBezTo>
                  <a:pt x="15387" y="240575"/>
                  <a:pt x="0" y="225188"/>
                  <a:pt x="0" y="206207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9" name="Text 7"/>
          <p:cNvSpPr/>
          <p:nvPr/>
        </p:nvSpPr>
        <p:spPr>
          <a:xfrm>
            <a:off x="451078" y="2216727"/>
            <a:ext cx="687357" cy="240575"/>
          </a:xfrm>
          <a:prstGeom prst="rect">
            <a:avLst/>
          </a:prstGeom>
          <a:noFill/>
          <a:ln/>
        </p:spPr>
        <p:txBody>
          <a:bodyPr wrap="square" lIns="0" tIns="34368" rIns="0" bIns="34368" rtlCol="0" anchor="ctr"/>
          <a:lstStyle/>
          <a:p>
            <a:pPr algn="ctr">
              <a:lnSpc>
                <a:spcPct val="120000"/>
              </a:lnSpc>
            </a:pPr>
            <a:r>
              <a:rPr lang="en-US" sz="9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1658" y="2216727"/>
            <a:ext cx="627214" cy="240575"/>
          </a:xfrm>
          <a:custGeom>
            <a:avLst/>
            <a:gdLst/>
            <a:ahLst/>
            <a:cxnLst/>
            <a:rect l="l" t="t" r="r" b="b"/>
            <a:pathLst>
              <a:path w="627214" h="240575">
                <a:moveTo>
                  <a:pt x="34369" y="0"/>
                </a:moveTo>
                <a:lnTo>
                  <a:pt x="592845" y="0"/>
                </a:lnTo>
                <a:cubicBezTo>
                  <a:pt x="611826" y="0"/>
                  <a:pt x="627214" y="15387"/>
                  <a:pt x="627214" y="34369"/>
                </a:cubicBezTo>
                <a:lnTo>
                  <a:pt x="627214" y="206207"/>
                </a:lnTo>
                <a:cubicBezTo>
                  <a:pt x="627214" y="225188"/>
                  <a:pt x="611826" y="240575"/>
                  <a:pt x="592845" y="240575"/>
                </a:cubicBezTo>
                <a:lnTo>
                  <a:pt x="34369" y="240575"/>
                </a:lnTo>
                <a:cubicBezTo>
                  <a:pt x="15387" y="240575"/>
                  <a:pt x="0" y="225188"/>
                  <a:pt x="0" y="206207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1" name="Text 9"/>
          <p:cNvSpPr/>
          <p:nvPr/>
        </p:nvSpPr>
        <p:spPr>
          <a:xfrm>
            <a:off x="1111586" y="2216727"/>
            <a:ext cx="687357" cy="240575"/>
          </a:xfrm>
          <a:prstGeom prst="rect">
            <a:avLst/>
          </a:prstGeom>
          <a:noFill/>
          <a:ln/>
        </p:spPr>
        <p:txBody>
          <a:bodyPr wrap="square" lIns="0" tIns="34368" rIns="0" bIns="34368" rtlCol="0" anchor="ctr"/>
          <a:lstStyle/>
          <a:p>
            <a:pPr algn="ctr">
              <a:lnSpc>
                <a:spcPct val="120000"/>
              </a:lnSpc>
            </a:pPr>
            <a:r>
              <a:rPr lang="en-US" sz="9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02232" y="2216727"/>
            <a:ext cx="627214" cy="240575"/>
          </a:xfrm>
          <a:custGeom>
            <a:avLst/>
            <a:gdLst/>
            <a:ahLst/>
            <a:cxnLst/>
            <a:rect l="l" t="t" r="r" b="b"/>
            <a:pathLst>
              <a:path w="627214" h="240575">
                <a:moveTo>
                  <a:pt x="34369" y="0"/>
                </a:moveTo>
                <a:lnTo>
                  <a:pt x="592845" y="0"/>
                </a:lnTo>
                <a:cubicBezTo>
                  <a:pt x="611826" y="0"/>
                  <a:pt x="627214" y="15387"/>
                  <a:pt x="627214" y="34369"/>
                </a:cubicBezTo>
                <a:lnTo>
                  <a:pt x="627214" y="206207"/>
                </a:lnTo>
                <a:cubicBezTo>
                  <a:pt x="627214" y="225188"/>
                  <a:pt x="611826" y="240575"/>
                  <a:pt x="592845" y="240575"/>
                </a:cubicBezTo>
                <a:lnTo>
                  <a:pt x="34369" y="240575"/>
                </a:lnTo>
                <a:cubicBezTo>
                  <a:pt x="15387" y="240575"/>
                  <a:pt x="0" y="225188"/>
                  <a:pt x="0" y="206207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3" name="Text 11"/>
          <p:cNvSpPr/>
          <p:nvPr/>
        </p:nvSpPr>
        <p:spPr>
          <a:xfrm>
            <a:off x="1772160" y="2216727"/>
            <a:ext cx="687357" cy="240575"/>
          </a:xfrm>
          <a:prstGeom prst="rect">
            <a:avLst/>
          </a:prstGeom>
          <a:noFill/>
          <a:ln/>
        </p:spPr>
        <p:txBody>
          <a:bodyPr wrap="square" lIns="0" tIns="34368" rIns="0" bIns="34368" rtlCol="0" anchor="ctr"/>
          <a:lstStyle/>
          <a:p>
            <a:pPr algn="ctr">
              <a:lnSpc>
                <a:spcPct val="120000"/>
              </a:lnSpc>
            </a:pPr>
            <a:r>
              <a:rPr lang="en-US" sz="9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62739" y="2216727"/>
            <a:ext cx="627214" cy="240575"/>
          </a:xfrm>
          <a:custGeom>
            <a:avLst/>
            <a:gdLst/>
            <a:ahLst/>
            <a:cxnLst/>
            <a:rect l="l" t="t" r="r" b="b"/>
            <a:pathLst>
              <a:path w="627214" h="240575">
                <a:moveTo>
                  <a:pt x="34369" y="0"/>
                </a:moveTo>
                <a:lnTo>
                  <a:pt x="592845" y="0"/>
                </a:lnTo>
                <a:cubicBezTo>
                  <a:pt x="611826" y="0"/>
                  <a:pt x="627214" y="15387"/>
                  <a:pt x="627214" y="34369"/>
                </a:cubicBezTo>
                <a:lnTo>
                  <a:pt x="627214" y="206207"/>
                </a:lnTo>
                <a:cubicBezTo>
                  <a:pt x="627214" y="225188"/>
                  <a:pt x="611826" y="240575"/>
                  <a:pt x="592845" y="240575"/>
                </a:cubicBezTo>
                <a:lnTo>
                  <a:pt x="34369" y="240575"/>
                </a:lnTo>
                <a:cubicBezTo>
                  <a:pt x="15387" y="240575"/>
                  <a:pt x="0" y="225188"/>
                  <a:pt x="0" y="206207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5" name="Text 13"/>
          <p:cNvSpPr/>
          <p:nvPr/>
        </p:nvSpPr>
        <p:spPr>
          <a:xfrm>
            <a:off x="2432668" y="2216727"/>
            <a:ext cx="687357" cy="240575"/>
          </a:xfrm>
          <a:prstGeom prst="rect">
            <a:avLst/>
          </a:prstGeom>
          <a:noFill/>
          <a:ln/>
        </p:spPr>
        <p:txBody>
          <a:bodyPr wrap="square" lIns="0" tIns="34368" rIns="0" bIns="34368" rtlCol="0" anchor="ctr"/>
          <a:lstStyle/>
          <a:p>
            <a:pPr algn="ctr">
              <a:lnSpc>
                <a:spcPct val="120000"/>
              </a:lnSpc>
            </a:pPr>
            <a:r>
              <a:rPr lang="en-US" sz="9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23314" y="2216727"/>
            <a:ext cx="627214" cy="240575"/>
          </a:xfrm>
          <a:custGeom>
            <a:avLst/>
            <a:gdLst/>
            <a:ahLst/>
            <a:cxnLst/>
            <a:rect l="l" t="t" r="r" b="b"/>
            <a:pathLst>
              <a:path w="627214" h="240575">
                <a:moveTo>
                  <a:pt x="34369" y="0"/>
                </a:moveTo>
                <a:lnTo>
                  <a:pt x="592845" y="0"/>
                </a:lnTo>
                <a:cubicBezTo>
                  <a:pt x="611826" y="0"/>
                  <a:pt x="627214" y="15387"/>
                  <a:pt x="627214" y="34369"/>
                </a:cubicBezTo>
                <a:lnTo>
                  <a:pt x="627214" y="206207"/>
                </a:lnTo>
                <a:cubicBezTo>
                  <a:pt x="627214" y="225188"/>
                  <a:pt x="611826" y="240575"/>
                  <a:pt x="592845" y="240575"/>
                </a:cubicBezTo>
                <a:lnTo>
                  <a:pt x="34369" y="240575"/>
                </a:lnTo>
                <a:cubicBezTo>
                  <a:pt x="15387" y="240575"/>
                  <a:pt x="0" y="225188"/>
                  <a:pt x="0" y="206207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7" name="Text 15"/>
          <p:cNvSpPr/>
          <p:nvPr/>
        </p:nvSpPr>
        <p:spPr>
          <a:xfrm>
            <a:off x="3093242" y="2216727"/>
            <a:ext cx="687357" cy="240575"/>
          </a:xfrm>
          <a:prstGeom prst="rect">
            <a:avLst/>
          </a:prstGeom>
          <a:noFill/>
          <a:ln/>
        </p:spPr>
        <p:txBody>
          <a:bodyPr wrap="square" lIns="0" tIns="34368" rIns="0" bIns="34368" rtlCol="0" anchor="ctr"/>
          <a:lstStyle/>
          <a:p>
            <a:pPr algn="ctr">
              <a:lnSpc>
                <a:spcPct val="120000"/>
              </a:lnSpc>
            </a:pPr>
            <a:r>
              <a:rPr lang="en-US" sz="9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83821" y="2216727"/>
            <a:ext cx="627214" cy="240575"/>
          </a:xfrm>
          <a:custGeom>
            <a:avLst/>
            <a:gdLst/>
            <a:ahLst/>
            <a:cxnLst/>
            <a:rect l="l" t="t" r="r" b="b"/>
            <a:pathLst>
              <a:path w="627214" h="240575">
                <a:moveTo>
                  <a:pt x="34369" y="0"/>
                </a:moveTo>
                <a:lnTo>
                  <a:pt x="592845" y="0"/>
                </a:lnTo>
                <a:cubicBezTo>
                  <a:pt x="611826" y="0"/>
                  <a:pt x="627214" y="15387"/>
                  <a:pt x="627214" y="34369"/>
                </a:cubicBezTo>
                <a:lnTo>
                  <a:pt x="627214" y="206207"/>
                </a:lnTo>
                <a:cubicBezTo>
                  <a:pt x="627214" y="225188"/>
                  <a:pt x="611826" y="240575"/>
                  <a:pt x="592845" y="240575"/>
                </a:cubicBezTo>
                <a:lnTo>
                  <a:pt x="34369" y="240575"/>
                </a:lnTo>
                <a:cubicBezTo>
                  <a:pt x="15387" y="240575"/>
                  <a:pt x="0" y="225188"/>
                  <a:pt x="0" y="206207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9" name="Text 17"/>
          <p:cNvSpPr/>
          <p:nvPr/>
        </p:nvSpPr>
        <p:spPr>
          <a:xfrm>
            <a:off x="3753749" y="2216727"/>
            <a:ext cx="687357" cy="240575"/>
          </a:xfrm>
          <a:prstGeom prst="rect">
            <a:avLst/>
          </a:prstGeom>
          <a:noFill/>
          <a:ln/>
        </p:spPr>
        <p:txBody>
          <a:bodyPr wrap="square" lIns="0" tIns="34368" rIns="0" bIns="34368" rtlCol="0" anchor="ctr"/>
          <a:lstStyle/>
          <a:p>
            <a:pPr algn="ctr">
              <a:lnSpc>
                <a:spcPct val="120000"/>
              </a:lnSpc>
            </a:pPr>
            <a:r>
              <a:rPr lang="en-US" sz="9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4396" y="2216727"/>
            <a:ext cx="627214" cy="240575"/>
          </a:xfrm>
          <a:custGeom>
            <a:avLst/>
            <a:gdLst/>
            <a:ahLst/>
            <a:cxnLst/>
            <a:rect l="l" t="t" r="r" b="b"/>
            <a:pathLst>
              <a:path w="627214" h="240575">
                <a:moveTo>
                  <a:pt x="34369" y="0"/>
                </a:moveTo>
                <a:lnTo>
                  <a:pt x="592845" y="0"/>
                </a:lnTo>
                <a:cubicBezTo>
                  <a:pt x="611826" y="0"/>
                  <a:pt x="627214" y="15387"/>
                  <a:pt x="627214" y="34369"/>
                </a:cubicBezTo>
                <a:lnTo>
                  <a:pt x="627214" y="206207"/>
                </a:lnTo>
                <a:cubicBezTo>
                  <a:pt x="627214" y="225188"/>
                  <a:pt x="611826" y="240575"/>
                  <a:pt x="592845" y="240575"/>
                </a:cubicBezTo>
                <a:lnTo>
                  <a:pt x="34369" y="240575"/>
                </a:lnTo>
                <a:cubicBezTo>
                  <a:pt x="15387" y="240575"/>
                  <a:pt x="0" y="225188"/>
                  <a:pt x="0" y="206207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1" name="Text 19"/>
          <p:cNvSpPr/>
          <p:nvPr/>
        </p:nvSpPr>
        <p:spPr>
          <a:xfrm>
            <a:off x="4414324" y="2216727"/>
            <a:ext cx="687357" cy="240575"/>
          </a:xfrm>
          <a:prstGeom prst="rect">
            <a:avLst/>
          </a:prstGeom>
          <a:noFill/>
          <a:ln/>
        </p:spPr>
        <p:txBody>
          <a:bodyPr wrap="square" lIns="0" tIns="34368" rIns="0" bIns="34368" rtlCol="0" anchor="ctr"/>
          <a:lstStyle/>
          <a:p>
            <a:pPr algn="ctr">
              <a:lnSpc>
                <a:spcPct val="120000"/>
              </a:lnSpc>
            </a:pPr>
            <a:r>
              <a:rPr lang="en-US" sz="9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黑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04970" y="2216727"/>
            <a:ext cx="627214" cy="240575"/>
          </a:xfrm>
          <a:custGeom>
            <a:avLst/>
            <a:gdLst/>
            <a:ahLst/>
            <a:cxnLst/>
            <a:rect l="l" t="t" r="r" b="b"/>
            <a:pathLst>
              <a:path w="627214" h="240575">
                <a:moveTo>
                  <a:pt x="34369" y="0"/>
                </a:moveTo>
                <a:lnTo>
                  <a:pt x="592845" y="0"/>
                </a:lnTo>
                <a:cubicBezTo>
                  <a:pt x="611826" y="0"/>
                  <a:pt x="627214" y="15387"/>
                  <a:pt x="627214" y="34369"/>
                </a:cubicBezTo>
                <a:lnTo>
                  <a:pt x="627214" y="206207"/>
                </a:lnTo>
                <a:cubicBezTo>
                  <a:pt x="627214" y="225188"/>
                  <a:pt x="611826" y="240575"/>
                  <a:pt x="592845" y="240575"/>
                </a:cubicBezTo>
                <a:lnTo>
                  <a:pt x="34369" y="240575"/>
                </a:lnTo>
                <a:cubicBezTo>
                  <a:pt x="15387" y="240575"/>
                  <a:pt x="0" y="225188"/>
                  <a:pt x="0" y="206207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899" y="2216727"/>
            <a:ext cx="687357" cy="240575"/>
          </a:xfrm>
          <a:prstGeom prst="rect">
            <a:avLst/>
          </a:prstGeom>
          <a:noFill/>
          <a:ln/>
        </p:spPr>
        <p:txBody>
          <a:bodyPr wrap="square" lIns="0" tIns="34368" rIns="0" bIns="34368" rtlCol="0" anchor="ctr"/>
          <a:lstStyle/>
          <a:p>
            <a:pPr algn="ctr">
              <a:lnSpc>
                <a:spcPct val="120000"/>
              </a:lnSpc>
            </a:pPr>
            <a:r>
              <a:rPr lang="en-US" sz="9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65478" y="2216727"/>
            <a:ext cx="627214" cy="240575"/>
          </a:xfrm>
          <a:custGeom>
            <a:avLst/>
            <a:gdLst/>
            <a:ahLst/>
            <a:cxnLst/>
            <a:rect l="l" t="t" r="r" b="b"/>
            <a:pathLst>
              <a:path w="627214" h="240575">
                <a:moveTo>
                  <a:pt x="34369" y="0"/>
                </a:moveTo>
                <a:lnTo>
                  <a:pt x="592845" y="0"/>
                </a:lnTo>
                <a:cubicBezTo>
                  <a:pt x="611826" y="0"/>
                  <a:pt x="627214" y="15387"/>
                  <a:pt x="627214" y="34369"/>
                </a:cubicBezTo>
                <a:lnTo>
                  <a:pt x="627214" y="206207"/>
                </a:lnTo>
                <a:cubicBezTo>
                  <a:pt x="627214" y="225188"/>
                  <a:pt x="611826" y="240575"/>
                  <a:pt x="592845" y="240575"/>
                </a:cubicBezTo>
                <a:lnTo>
                  <a:pt x="34369" y="240575"/>
                </a:lnTo>
                <a:cubicBezTo>
                  <a:pt x="15387" y="240575"/>
                  <a:pt x="0" y="225188"/>
                  <a:pt x="0" y="206207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5" name="Text 23"/>
          <p:cNvSpPr/>
          <p:nvPr/>
        </p:nvSpPr>
        <p:spPr>
          <a:xfrm>
            <a:off x="5735406" y="2216727"/>
            <a:ext cx="687357" cy="240575"/>
          </a:xfrm>
          <a:prstGeom prst="rect">
            <a:avLst/>
          </a:prstGeom>
          <a:noFill/>
          <a:ln/>
        </p:spPr>
        <p:txBody>
          <a:bodyPr wrap="square" lIns="0" tIns="34368" rIns="0" bIns="34368" rtlCol="0" anchor="ctr"/>
          <a:lstStyle/>
          <a:p>
            <a:pPr algn="ctr">
              <a:lnSpc>
                <a:spcPct val="120000"/>
              </a:lnSpc>
            </a:pPr>
            <a:r>
              <a:rPr lang="en-US" sz="9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白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6052" y="2216727"/>
            <a:ext cx="627214" cy="240575"/>
          </a:xfrm>
          <a:custGeom>
            <a:avLst/>
            <a:gdLst/>
            <a:ahLst/>
            <a:cxnLst/>
            <a:rect l="l" t="t" r="r" b="b"/>
            <a:pathLst>
              <a:path w="627214" h="240575">
                <a:moveTo>
                  <a:pt x="34369" y="0"/>
                </a:moveTo>
                <a:lnTo>
                  <a:pt x="592845" y="0"/>
                </a:lnTo>
                <a:cubicBezTo>
                  <a:pt x="611826" y="0"/>
                  <a:pt x="627214" y="15387"/>
                  <a:pt x="627214" y="34369"/>
                </a:cubicBezTo>
                <a:lnTo>
                  <a:pt x="627214" y="206207"/>
                </a:lnTo>
                <a:cubicBezTo>
                  <a:pt x="627214" y="225188"/>
                  <a:pt x="611826" y="240575"/>
                  <a:pt x="592845" y="240575"/>
                </a:cubicBezTo>
                <a:lnTo>
                  <a:pt x="34369" y="240575"/>
                </a:lnTo>
                <a:cubicBezTo>
                  <a:pt x="15387" y="240575"/>
                  <a:pt x="0" y="225188"/>
                  <a:pt x="0" y="206207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7" name="Text 25"/>
          <p:cNvSpPr/>
          <p:nvPr/>
        </p:nvSpPr>
        <p:spPr>
          <a:xfrm>
            <a:off x="6395980" y="2216727"/>
            <a:ext cx="687357" cy="240575"/>
          </a:xfrm>
          <a:prstGeom prst="rect">
            <a:avLst/>
          </a:prstGeom>
          <a:noFill/>
          <a:ln/>
        </p:spPr>
        <p:txBody>
          <a:bodyPr wrap="square" lIns="0" tIns="34368" rIns="0" bIns="34368" rtlCol="0" anchor="ctr"/>
          <a:lstStyle/>
          <a:p>
            <a:pPr algn="ctr">
              <a:lnSpc>
                <a:spcPct val="120000"/>
              </a:lnSpc>
            </a:pPr>
            <a:r>
              <a:rPr lang="en-US" sz="9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黑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1150" y="2526038"/>
            <a:ext cx="663299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10次抽样中，白球出现3次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3679" y="2938452"/>
            <a:ext cx="6950901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MLE推导过程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863" y="3316499"/>
            <a:ext cx="6830613" cy="721725"/>
          </a:xfrm>
          <a:custGeom>
            <a:avLst/>
            <a:gdLst/>
            <a:ahLst/>
            <a:cxnLst/>
            <a:rect l="l" t="t" r="r" b="b"/>
            <a:pathLst>
              <a:path w="6830613" h="721725">
                <a:moveTo>
                  <a:pt x="34368" y="0"/>
                </a:moveTo>
                <a:lnTo>
                  <a:pt x="6761876" y="0"/>
                </a:lnTo>
                <a:cubicBezTo>
                  <a:pt x="6799838" y="0"/>
                  <a:pt x="6830613" y="30775"/>
                  <a:pt x="6830613" y="68737"/>
                </a:cubicBezTo>
                <a:lnTo>
                  <a:pt x="6830613" y="652988"/>
                </a:lnTo>
                <a:cubicBezTo>
                  <a:pt x="6830613" y="690951"/>
                  <a:pt x="6799838" y="721725"/>
                  <a:pt x="6761876" y="721725"/>
                </a:cubicBezTo>
                <a:lnTo>
                  <a:pt x="34368" y="721725"/>
                </a:lnTo>
                <a:cubicBezTo>
                  <a:pt x="15387" y="721725"/>
                  <a:pt x="0" y="706338"/>
                  <a:pt x="0" y="687357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0863" y="3316499"/>
            <a:ext cx="34368" cy="721725"/>
          </a:xfrm>
          <a:custGeom>
            <a:avLst/>
            <a:gdLst/>
            <a:ahLst/>
            <a:cxnLst/>
            <a:rect l="l" t="t" r="r" b="b"/>
            <a:pathLst>
              <a:path w="34368" h="721725">
                <a:moveTo>
                  <a:pt x="34368" y="0"/>
                </a:moveTo>
                <a:lnTo>
                  <a:pt x="34368" y="0"/>
                </a:lnTo>
                <a:lnTo>
                  <a:pt x="34368" y="721725"/>
                </a:lnTo>
                <a:lnTo>
                  <a:pt x="34368" y="721725"/>
                </a:lnTo>
                <a:cubicBezTo>
                  <a:pt x="15387" y="721725"/>
                  <a:pt x="0" y="706338"/>
                  <a:pt x="0" y="687357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2" name="Text 30"/>
          <p:cNvSpPr/>
          <p:nvPr/>
        </p:nvSpPr>
        <p:spPr>
          <a:xfrm>
            <a:off x="481150" y="3419603"/>
            <a:ext cx="668455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确定分布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1150" y="3728913"/>
            <a:ext cx="667595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符合伯努利分布，参数为p（白球概率）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863" y="4141328"/>
            <a:ext cx="6830613" cy="721725"/>
          </a:xfrm>
          <a:custGeom>
            <a:avLst/>
            <a:gdLst/>
            <a:ahLst/>
            <a:cxnLst/>
            <a:rect l="l" t="t" r="r" b="b"/>
            <a:pathLst>
              <a:path w="6830613" h="721725">
                <a:moveTo>
                  <a:pt x="34368" y="0"/>
                </a:moveTo>
                <a:lnTo>
                  <a:pt x="6761876" y="0"/>
                </a:lnTo>
                <a:cubicBezTo>
                  <a:pt x="6799838" y="0"/>
                  <a:pt x="6830613" y="30775"/>
                  <a:pt x="6830613" y="68737"/>
                </a:cubicBezTo>
                <a:lnTo>
                  <a:pt x="6830613" y="652988"/>
                </a:lnTo>
                <a:cubicBezTo>
                  <a:pt x="6830613" y="690951"/>
                  <a:pt x="6799838" y="721725"/>
                  <a:pt x="6761876" y="721725"/>
                </a:cubicBezTo>
                <a:lnTo>
                  <a:pt x="34368" y="721725"/>
                </a:lnTo>
                <a:cubicBezTo>
                  <a:pt x="15387" y="721725"/>
                  <a:pt x="0" y="706338"/>
                  <a:pt x="0" y="687357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0863" y="4141328"/>
            <a:ext cx="34368" cy="721725"/>
          </a:xfrm>
          <a:custGeom>
            <a:avLst/>
            <a:gdLst/>
            <a:ahLst/>
            <a:cxnLst/>
            <a:rect l="l" t="t" r="r" b="b"/>
            <a:pathLst>
              <a:path w="34368" h="721725">
                <a:moveTo>
                  <a:pt x="34368" y="0"/>
                </a:moveTo>
                <a:lnTo>
                  <a:pt x="34368" y="0"/>
                </a:lnTo>
                <a:lnTo>
                  <a:pt x="34368" y="721725"/>
                </a:lnTo>
                <a:lnTo>
                  <a:pt x="34368" y="721725"/>
                </a:lnTo>
                <a:cubicBezTo>
                  <a:pt x="15387" y="721725"/>
                  <a:pt x="0" y="706338"/>
                  <a:pt x="0" y="687357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6" name="Text 34"/>
          <p:cNvSpPr/>
          <p:nvPr/>
        </p:nvSpPr>
        <p:spPr>
          <a:xfrm>
            <a:off x="481150" y="4244431"/>
            <a:ext cx="668455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构造似然函数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1150" y="4553742"/>
            <a:ext cx="667595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L(p) = ∏</a:t>
            </a:r>
            <a:pPr>
              <a:lnSpc>
                <a:spcPct val="130000"/>
              </a:lnSpc>
            </a:pPr>
            <a:r>
              <a:rPr lang="en-US" sz="812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i=110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</a:t>
            </a:r>
            <a:pPr>
              <a:lnSpc>
                <a:spcPct val="130000"/>
              </a:lnSpc>
            </a:pPr>
            <a:r>
              <a:rPr lang="en-US" sz="812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xᵢ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(1-p)</a:t>
            </a:r>
            <a:pPr>
              <a:lnSpc>
                <a:spcPct val="130000"/>
              </a:lnSpc>
            </a:pPr>
            <a:r>
              <a:rPr lang="en-US" sz="812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1-xᵢ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0863" y="4966156"/>
            <a:ext cx="6830613" cy="721725"/>
          </a:xfrm>
          <a:custGeom>
            <a:avLst/>
            <a:gdLst/>
            <a:ahLst/>
            <a:cxnLst/>
            <a:rect l="l" t="t" r="r" b="b"/>
            <a:pathLst>
              <a:path w="6830613" h="721725">
                <a:moveTo>
                  <a:pt x="34368" y="0"/>
                </a:moveTo>
                <a:lnTo>
                  <a:pt x="6761876" y="0"/>
                </a:lnTo>
                <a:cubicBezTo>
                  <a:pt x="6799838" y="0"/>
                  <a:pt x="6830613" y="30775"/>
                  <a:pt x="6830613" y="68737"/>
                </a:cubicBezTo>
                <a:lnTo>
                  <a:pt x="6830613" y="652988"/>
                </a:lnTo>
                <a:cubicBezTo>
                  <a:pt x="6830613" y="690951"/>
                  <a:pt x="6799838" y="721725"/>
                  <a:pt x="6761876" y="721725"/>
                </a:cubicBezTo>
                <a:lnTo>
                  <a:pt x="34368" y="721725"/>
                </a:lnTo>
                <a:cubicBezTo>
                  <a:pt x="15387" y="721725"/>
                  <a:pt x="0" y="706338"/>
                  <a:pt x="0" y="687357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60863" y="4966156"/>
            <a:ext cx="34368" cy="721725"/>
          </a:xfrm>
          <a:custGeom>
            <a:avLst/>
            <a:gdLst/>
            <a:ahLst/>
            <a:cxnLst/>
            <a:rect l="l" t="t" r="r" b="b"/>
            <a:pathLst>
              <a:path w="34368" h="721725">
                <a:moveTo>
                  <a:pt x="34368" y="0"/>
                </a:moveTo>
                <a:lnTo>
                  <a:pt x="34368" y="0"/>
                </a:lnTo>
                <a:lnTo>
                  <a:pt x="34368" y="721725"/>
                </a:lnTo>
                <a:lnTo>
                  <a:pt x="34368" y="721725"/>
                </a:lnTo>
                <a:cubicBezTo>
                  <a:pt x="15387" y="721725"/>
                  <a:pt x="0" y="706338"/>
                  <a:pt x="0" y="687357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40" name="Text 38"/>
          <p:cNvSpPr/>
          <p:nvPr/>
        </p:nvSpPr>
        <p:spPr>
          <a:xfrm>
            <a:off x="481150" y="5069260"/>
            <a:ext cx="668455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对数似然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1150" y="5378571"/>
            <a:ext cx="667595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l(p) = Σ[xᵢlnp + (1-xᵢ)ln(1-p)]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60863" y="5790985"/>
            <a:ext cx="6830613" cy="721725"/>
          </a:xfrm>
          <a:custGeom>
            <a:avLst/>
            <a:gdLst/>
            <a:ahLst/>
            <a:cxnLst/>
            <a:rect l="l" t="t" r="r" b="b"/>
            <a:pathLst>
              <a:path w="6830613" h="721725">
                <a:moveTo>
                  <a:pt x="34368" y="0"/>
                </a:moveTo>
                <a:lnTo>
                  <a:pt x="6761876" y="0"/>
                </a:lnTo>
                <a:cubicBezTo>
                  <a:pt x="6799838" y="0"/>
                  <a:pt x="6830613" y="30775"/>
                  <a:pt x="6830613" y="68737"/>
                </a:cubicBezTo>
                <a:lnTo>
                  <a:pt x="6830613" y="652988"/>
                </a:lnTo>
                <a:cubicBezTo>
                  <a:pt x="6830613" y="690951"/>
                  <a:pt x="6799838" y="721725"/>
                  <a:pt x="6761876" y="721725"/>
                </a:cubicBezTo>
                <a:lnTo>
                  <a:pt x="34368" y="721725"/>
                </a:lnTo>
                <a:cubicBezTo>
                  <a:pt x="15387" y="721725"/>
                  <a:pt x="0" y="706338"/>
                  <a:pt x="0" y="687357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60863" y="5790985"/>
            <a:ext cx="34368" cy="721725"/>
          </a:xfrm>
          <a:custGeom>
            <a:avLst/>
            <a:gdLst/>
            <a:ahLst/>
            <a:cxnLst/>
            <a:rect l="l" t="t" r="r" b="b"/>
            <a:pathLst>
              <a:path w="34368" h="721725">
                <a:moveTo>
                  <a:pt x="34368" y="0"/>
                </a:moveTo>
                <a:lnTo>
                  <a:pt x="34368" y="0"/>
                </a:lnTo>
                <a:lnTo>
                  <a:pt x="34368" y="721725"/>
                </a:lnTo>
                <a:lnTo>
                  <a:pt x="34368" y="721725"/>
                </a:lnTo>
                <a:cubicBezTo>
                  <a:pt x="15387" y="721725"/>
                  <a:pt x="0" y="706338"/>
                  <a:pt x="0" y="687357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44" name="Text 42"/>
          <p:cNvSpPr/>
          <p:nvPr/>
        </p:nvSpPr>
        <p:spPr>
          <a:xfrm>
            <a:off x="481150" y="5894089"/>
            <a:ext cx="668455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求导得解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81150" y="6203400"/>
            <a:ext cx="667595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p̂ = (Σxᵢ)/10 = 3/10 = 0.3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327202" y="1065404"/>
            <a:ext cx="4622478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计算结果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27202" y="1443450"/>
            <a:ext cx="4519374" cy="2388567"/>
          </a:xfrm>
          <a:custGeom>
            <a:avLst/>
            <a:gdLst/>
            <a:ahLst/>
            <a:cxnLst/>
            <a:rect l="l" t="t" r="r" b="b"/>
            <a:pathLst>
              <a:path w="4519374" h="2388567">
                <a:moveTo>
                  <a:pt x="68743" y="0"/>
                </a:moveTo>
                <a:lnTo>
                  <a:pt x="4450631" y="0"/>
                </a:lnTo>
                <a:cubicBezTo>
                  <a:pt x="4488597" y="0"/>
                  <a:pt x="4519374" y="30777"/>
                  <a:pt x="4519374" y="68743"/>
                </a:cubicBezTo>
                <a:lnTo>
                  <a:pt x="4519374" y="2319824"/>
                </a:lnTo>
                <a:cubicBezTo>
                  <a:pt x="4519374" y="2357789"/>
                  <a:pt x="4488597" y="2388567"/>
                  <a:pt x="4450631" y="2388567"/>
                </a:cubicBezTo>
                <a:lnTo>
                  <a:pt x="68743" y="2388567"/>
                </a:lnTo>
                <a:cubicBezTo>
                  <a:pt x="30777" y="2388567"/>
                  <a:pt x="0" y="2357789"/>
                  <a:pt x="0" y="2319824"/>
                </a:cubicBezTo>
                <a:lnTo>
                  <a:pt x="0" y="68743"/>
                </a:lnTo>
                <a:cubicBezTo>
                  <a:pt x="0" y="30803"/>
                  <a:pt x="30803" y="0"/>
                  <a:pt x="68743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64673" y="1580922"/>
          <a:ext cx="4244431" cy="2113624"/>
        </p:xfrm>
        <a:graphic>
          <a:graphicData uri="http://schemas.openxmlformats.org/drawingml/2006/table">
            <a:tbl>
              <a:tblPr/>
              <a:tblGrid>
                <a:gridCol w="1305979"/>
                <a:gridCol w="1958968"/>
                <a:gridCol w="979484"/>
              </a:tblGrid>
              <a:tr h="352271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盒子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8736" marB="6873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白球数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8736" marB="6873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p̂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8736" marB="6873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227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8736" marB="6873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387A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227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8736" marB="6873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387A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227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8736" marB="6873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387A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227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8736" marB="6873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387A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227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8736" marB="6873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387A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9" name="Shape 46"/>
          <p:cNvSpPr/>
          <p:nvPr/>
        </p:nvSpPr>
        <p:spPr>
          <a:xfrm>
            <a:off x="7344386" y="3935121"/>
            <a:ext cx="4502190" cy="1031036"/>
          </a:xfrm>
          <a:custGeom>
            <a:avLst/>
            <a:gdLst/>
            <a:ahLst/>
            <a:cxnLst/>
            <a:rect l="l" t="t" r="r" b="b"/>
            <a:pathLst>
              <a:path w="4502190" h="1031036">
                <a:moveTo>
                  <a:pt x="34368" y="0"/>
                </a:moveTo>
                <a:lnTo>
                  <a:pt x="4433451" y="0"/>
                </a:lnTo>
                <a:cubicBezTo>
                  <a:pt x="4471415" y="0"/>
                  <a:pt x="4502190" y="30776"/>
                  <a:pt x="4502190" y="68739"/>
                </a:cubicBezTo>
                <a:lnTo>
                  <a:pt x="4502190" y="962297"/>
                </a:lnTo>
                <a:cubicBezTo>
                  <a:pt x="4502190" y="1000260"/>
                  <a:pt x="4471415" y="1031036"/>
                  <a:pt x="4433451" y="1031036"/>
                </a:cubicBezTo>
                <a:lnTo>
                  <a:pt x="34368" y="1031036"/>
                </a:lnTo>
                <a:cubicBezTo>
                  <a:pt x="15387" y="1031036"/>
                  <a:pt x="0" y="1015649"/>
                  <a:pt x="0" y="996668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344386" y="3935121"/>
            <a:ext cx="34368" cy="1031036"/>
          </a:xfrm>
          <a:custGeom>
            <a:avLst/>
            <a:gdLst/>
            <a:ahLst/>
            <a:cxnLst/>
            <a:rect l="l" t="t" r="r" b="b"/>
            <a:pathLst>
              <a:path w="34368" h="1031036">
                <a:moveTo>
                  <a:pt x="34368" y="0"/>
                </a:moveTo>
                <a:lnTo>
                  <a:pt x="34368" y="0"/>
                </a:lnTo>
                <a:lnTo>
                  <a:pt x="34368" y="1031036"/>
                </a:lnTo>
                <a:lnTo>
                  <a:pt x="34368" y="1031036"/>
                </a:lnTo>
                <a:cubicBezTo>
                  <a:pt x="15387" y="1031036"/>
                  <a:pt x="0" y="1015649"/>
                  <a:pt x="0" y="996668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51" name="Text 48"/>
          <p:cNvSpPr/>
          <p:nvPr/>
        </p:nvSpPr>
        <p:spPr>
          <a:xfrm>
            <a:off x="7499041" y="4072592"/>
            <a:ext cx="4287391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499041" y="4381903"/>
            <a:ext cx="4278799" cy="44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MLE的估计结果直观且符合直觉：</a:t>
            </a:r>
            <a:pPr>
              <a:lnSpc>
                <a:spcPct val="140000"/>
              </a:lnSpc>
            </a:pPr>
            <a:r>
              <a:rPr lang="en-US" sz="1082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用样本中事件发生的频率来估计概率</a:t>
            </a:r>
            <a:pPr>
              <a:lnSpc>
                <a:spcPct val="140000"/>
              </a:lnSpc>
            </a:pPr>
            <a:r>
              <a:rPr lang="en-US" sz="108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735" y="369735"/>
            <a:ext cx="11517234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spc="51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EXAMPLE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735" y="628549"/>
            <a:ext cx="11618911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连续型实例：正态分布的参数估计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9735" y="1146177"/>
            <a:ext cx="576786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问题场景：估计班级学生平均身高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9735" y="1552886"/>
            <a:ext cx="5730887" cy="24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随机抽取5名学生的身高数据，假设服从正态分布N(μ, σ²)，估计均值μ和方差σ²。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735" y="1904133"/>
            <a:ext cx="5656940" cy="1257098"/>
          </a:xfrm>
          <a:custGeom>
            <a:avLst/>
            <a:gdLst/>
            <a:ahLst/>
            <a:cxnLst/>
            <a:rect l="l" t="t" r="r" b="b"/>
            <a:pathLst>
              <a:path w="5656940" h="1257098">
                <a:moveTo>
                  <a:pt x="73942" y="0"/>
                </a:moveTo>
                <a:lnTo>
                  <a:pt x="5582998" y="0"/>
                </a:lnTo>
                <a:cubicBezTo>
                  <a:pt x="5623835" y="0"/>
                  <a:pt x="5656940" y="33105"/>
                  <a:pt x="5656940" y="73942"/>
                </a:cubicBezTo>
                <a:lnTo>
                  <a:pt x="5656940" y="1183155"/>
                </a:lnTo>
                <a:cubicBezTo>
                  <a:pt x="5656940" y="1223993"/>
                  <a:pt x="5623835" y="1257098"/>
                  <a:pt x="5582998" y="1257098"/>
                </a:cubicBezTo>
                <a:lnTo>
                  <a:pt x="73942" y="1257098"/>
                </a:lnTo>
                <a:cubicBezTo>
                  <a:pt x="33105" y="1257098"/>
                  <a:pt x="0" y="1223993"/>
                  <a:pt x="0" y="1183155"/>
                </a:cubicBezTo>
                <a:lnTo>
                  <a:pt x="0" y="73942"/>
                </a:lnTo>
                <a:cubicBezTo>
                  <a:pt x="0" y="33105"/>
                  <a:pt x="33105" y="0"/>
                  <a:pt x="73942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17629" y="2052027"/>
            <a:ext cx="544434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样本数据（cm）：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7629" y="2384788"/>
            <a:ext cx="452925" cy="369735"/>
          </a:xfrm>
          <a:custGeom>
            <a:avLst/>
            <a:gdLst/>
            <a:ahLst/>
            <a:cxnLst/>
            <a:rect l="l" t="t" r="r" b="b"/>
            <a:pathLst>
              <a:path w="452925" h="369735">
                <a:moveTo>
                  <a:pt x="36973" y="0"/>
                </a:moveTo>
                <a:lnTo>
                  <a:pt x="415951" y="0"/>
                </a:lnTo>
                <a:cubicBezTo>
                  <a:pt x="436371" y="0"/>
                  <a:pt x="452925" y="16554"/>
                  <a:pt x="452925" y="36973"/>
                </a:cubicBezTo>
                <a:lnTo>
                  <a:pt x="452925" y="332761"/>
                </a:lnTo>
                <a:cubicBezTo>
                  <a:pt x="452925" y="353181"/>
                  <a:pt x="436371" y="369735"/>
                  <a:pt x="415951" y="369735"/>
                </a:cubicBezTo>
                <a:lnTo>
                  <a:pt x="36973" y="369735"/>
                </a:lnTo>
                <a:cubicBezTo>
                  <a:pt x="16554" y="369735"/>
                  <a:pt x="0" y="353181"/>
                  <a:pt x="0" y="332761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9" name="Text 7"/>
          <p:cNvSpPr/>
          <p:nvPr/>
        </p:nvSpPr>
        <p:spPr>
          <a:xfrm>
            <a:off x="517629" y="2384788"/>
            <a:ext cx="526872" cy="369735"/>
          </a:xfrm>
          <a:prstGeom prst="rect">
            <a:avLst/>
          </a:prstGeom>
          <a:noFill/>
          <a:ln/>
        </p:spPr>
        <p:txBody>
          <a:bodyPr wrap="square" lIns="110920" tIns="73947" rIns="110920" bIns="73947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2695" y="2384788"/>
            <a:ext cx="443682" cy="369735"/>
          </a:xfrm>
          <a:custGeom>
            <a:avLst/>
            <a:gdLst/>
            <a:ahLst/>
            <a:cxnLst/>
            <a:rect l="l" t="t" r="r" b="b"/>
            <a:pathLst>
              <a:path w="443682" h="369735">
                <a:moveTo>
                  <a:pt x="36973" y="0"/>
                </a:moveTo>
                <a:lnTo>
                  <a:pt x="406708" y="0"/>
                </a:lnTo>
                <a:cubicBezTo>
                  <a:pt x="427128" y="0"/>
                  <a:pt x="443682" y="16554"/>
                  <a:pt x="443682" y="36973"/>
                </a:cubicBezTo>
                <a:lnTo>
                  <a:pt x="443682" y="332761"/>
                </a:lnTo>
                <a:cubicBezTo>
                  <a:pt x="443682" y="353181"/>
                  <a:pt x="427128" y="369735"/>
                  <a:pt x="406708" y="369735"/>
                </a:cubicBezTo>
                <a:lnTo>
                  <a:pt x="36973" y="369735"/>
                </a:lnTo>
                <a:cubicBezTo>
                  <a:pt x="16554" y="369735"/>
                  <a:pt x="0" y="353181"/>
                  <a:pt x="0" y="332761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1" name="Text 9"/>
          <p:cNvSpPr/>
          <p:nvPr/>
        </p:nvSpPr>
        <p:spPr>
          <a:xfrm>
            <a:off x="1042695" y="2384788"/>
            <a:ext cx="517629" cy="369735"/>
          </a:xfrm>
          <a:prstGeom prst="rect">
            <a:avLst/>
          </a:prstGeom>
          <a:noFill/>
          <a:ln/>
        </p:spPr>
        <p:txBody>
          <a:bodyPr wrap="square" lIns="110920" tIns="73947" rIns="110920" bIns="73947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59313" y="2384788"/>
            <a:ext cx="462168" cy="369735"/>
          </a:xfrm>
          <a:custGeom>
            <a:avLst/>
            <a:gdLst/>
            <a:ahLst/>
            <a:cxnLst/>
            <a:rect l="l" t="t" r="r" b="b"/>
            <a:pathLst>
              <a:path w="462168" h="369735">
                <a:moveTo>
                  <a:pt x="36973" y="0"/>
                </a:moveTo>
                <a:lnTo>
                  <a:pt x="425195" y="0"/>
                </a:lnTo>
                <a:cubicBezTo>
                  <a:pt x="445615" y="0"/>
                  <a:pt x="462168" y="16554"/>
                  <a:pt x="462168" y="36973"/>
                </a:cubicBezTo>
                <a:lnTo>
                  <a:pt x="462168" y="332761"/>
                </a:lnTo>
                <a:cubicBezTo>
                  <a:pt x="462168" y="353181"/>
                  <a:pt x="445615" y="369735"/>
                  <a:pt x="425195" y="369735"/>
                </a:cubicBezTo>
                <a:lnTo>
                  <a:pt x="36973" y="369735"/>
                </a:lnTo>
                <a:cubicBezTo>
                  <a:pt x="16554" y="369735"/>
                  <a:pt x="0" y="353181"/>
                  <a:pt x="0" y="332761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3" name="Text 11"/>
          <p:cNvSpPr/>
          <p:nvPr/>
        </p:nvSpPr>
        <p:spPr>
          <a:xfrm>
            <a:off x="1559313" y="2384788"/>
            <a:ext cx="536115" cy="369735"/>
          </a:xfrm>
          <a:prstGeom prst="rect">
            <a:avLst/>
          </a:prstGeom>
          <a:noFill/>
          <a:ln/>
        </p:spPr>
        <p:txBody>
          <a:bodyPr wrap="square" lIns="110920" tIns="73947" rIns="110920" bIns="73947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93550" y="2384788"/>
            <a:ext cx="443682" cy="369735"/>
          </a:xfrm>
          <a:custGeom>
            <a:avLst/>
            <a:gdLst/>
            <a:ahLst/>
            <a:cxnLst/>
            <a:rect l="l" t="t" r="r" b="b"/>
            <a:pathLst>
              <a:path w="443682" h="369735">
                <a:moveTo>
                  <a:pt x="36973" y="0"/>
                </a:moveTo>
                <a:lnTo>
                  <a:pt x="406708" y="0"/>
                </a:lnTo>
                <a:cubicBezTo>
                  <a:pt x="427128" y="0"/>
                  <a:pt x="443682" y="16554"/>
                  <a:pt x="443682" y="36973"/>
                </a:cubicBezTo>
                <a:lnTo>
                  <a:pt x="443682" y="332761"/>
                </a:lnTo>
                <a:cubicBezTo>
                  <a:pt x="443682" y="353181"/>
                  <a:pt x="427128" y="369735"/>
                  <a:pt x="406708" y="369735"/>
                </a:cubicBezTo>
                <a:lnTo>
                  <a:pt x="36973" y="369735"/>
                </a:lnTo>
                <a:cubicBezTo>
                  <a:pt x="16554" y="369735"/>
                  <a:pt x="0" y="353181"/>
                  <a:pt x="0" y="332761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5" name="Text 13"/>
          <p:cNvSpPr/>
          <p:nvPr/>
        </p:nvSpPr>
        <p:spPr>
          <a:xfrm>
            <a:off x="2093550" y="2384788"/>
            <a:ext cx="517629" cy="369735"/>
          </a:xfrm>
          <a:prstGeom prst="rect">
            <a:avLst/>
          </a:prstGeom>
          <a:noFill/>
          <a:ln/>
        </p:spPr>
        <p:txBody>
          <a:bodyPr wrap="square" lIns="110920" tIns="73947" rIns="110920" bIns="73947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09446" y="2384788"/>
            <a:ext cx="452925" cy="369735"/>
          </a:xfrm>
          <a:custGeom>
            <a:avLst/>
            <a:gdLst/>
            <a:ahLst/>
            <a:cxnLst/>
            <a:rect l="l" t="t" r="r" b="b"/>
            <a:pathLst>
              <a:path w="452925" h="369735">
                <a:moveTo>
                  <a:pt x="36973" y="0"/>
                </a:moveTo>
                <a:lnTo>
                  <a:pt x="415951" y="0"/>
                </a:lnTo>
                <a:cubicBezTo>
                  <a:pt x="436371" y="0"/>
                  <a:pt x="452925" y="16554"/>
                  <a:pt x="452925" y="36973"/>
                </a:cubicBezTo>
                <a:lnTo>
                  <a:pt x="452925" y="332761"/>
                </a:lnTo>
                <a:cubicBezTo>
                  <a:pt x="452925" y="353181"/>
                  <a:pt x="436371" y="369735"/>
                  <a:pt x="415951" y="369735"/>
                </a:cubicBezTo>
                <a:lnTo>
                  <a:pt x="36973" y="369735"/>
                </a:lnTo>
                <a:cubicBezTo>
                  <a:pt x="16554" y="369735"/>
                  <a:pt x="0" y="353181"/>
                  <a:pt x="0" y="332761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7" name="Text 15"/>
          <p:cNvSpPr/>
          <p:nvPr/>
        </p:nvSpPr>
        <p:spPr>
          <a:xfrm>
            <a:off x="2609446" y="2384788"/>
            <a:ext cx="526872" cy="369735"/>
          </a:xfrm>
          <a:prstGeom prst="rect">
            <a:avLst/>
          </a:prstGeom>
          <a:noFill/>
          <a:ln/>
        </p:spPr>
        <p:txBody>
          <a:bodyPr wrap="square" lIns="110920" tIns="73947" rIns="110920" bIns="73947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7629" y="2828470"/>
            <a:ext cx="5425856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样本量 n = 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9735" y="3272152"/>
            <a:ext cx="576786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MLE推导过程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9735" y="3678860"/>
            <a:ext cx="5656940" cy="776443"/>
          </a:xfrm>
          <a:custGeom>
            <a:avLst/>
            <a:gdLst/>
            <a:ahLst/>
            <a:cxnLst/>
            <a:rect l="l" t="t" r="r" b="b"/>
            <a:pathLst>
              <a:path w="5656940" h="776443">
                <a:moveTo>
                  <a:pt x="73948" y="0"/>
                </a:moveTo>
                <a:lnTo>
                  <a:pt x="5582992" y="0"/>
                </a:lnTo>
                <a:cubicBezTo>
                  <a:pt x="5623832" y="0"/>
                  <a:pt x="5656940" y="33108"/>
                  <a:pt x="5656940" y="73948"/>
                </a:cubicBezTo>
                <a:lnTo>
                  <a:pt x="5656940" y="702494"/>
                </a:lnTo>
                <a:cubicBezTo>
                  <a:pt x="5656940" y="743335"/>
                  <a:pt x="5623832" y="776443"/>
                  <a:pt x="5582992" y="776443"/>
                </a:cubicBezTo>
                <a:lnTo>
                  <a:pt x="73948" y="776443"/>
                </a:lnTo>
                <a:cubicBezTo>
                  <a:pt x="33108" y="776443"/>
                  <a:pt x="0" y="743335"/>
                  <a:pt x="0" y="702494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0655" y="3789780"/>
            <a:ext cx="551829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概率密度函数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655" y="4122541"/>
            <a:ext cx="550904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f(xᵢ|μ,σ²) = (1/√(2πσ²))exp(-(xᵢ-μ)²/(2σ²))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9735" y="4566223"/>
            <a:ext cx="5656940" cy="776443"/>
          </a:xfrm>
          <a:custGeom>
            <a:avLst/>
            <a:gdLst/>
            <a:ahLst/>
            <a:cxnLst/>
            <a:rect l="l" t="t" r="r" b="b"/>
            <a:pathLst>
              <a:path w="5656940" h="776443">
                <a:moveTo>
                  <a:pt x="73948" y="0"/>
                </a:moveTo>
                <a:lnTo>
                  <a:pt x="5582992" y="0"/>
                </a:lnTo>
                <a:cubicBezTo>
                  <a:pt x="5623832" y="0"/>
                  <a:pt x="5656940" y="33108"/>
                  <a:pt x="5656940" y="73948"/>
                </a:cubicBezTo>
                <a:lnTo>
                  <a:pt x="5656940" y="702494"/>
                </a:lnTo>
                <a:cubicBezTo>
                  <a:pt x="5656940" y="743335"/>
                  <a:pt x="5623832" y="776443"/>
                  <a:pt x="5582992" y="776443"/>
                </a:cubicBezTo>
                <a:lnTo>
                  <a:pt x="73948" y="776443"/>
                </a:lnTo>
                <a:cubicBezTo>
                  <a:pt x="33108" y="776443"/>
                  <a:pt x="0" y="743335"/>
                  <a:pt x="0" y="702494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0655" y="4677143"/>
            <a:ext cx="551829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对数似然函数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0655" y="5009904"/>
            <a:ext cx="550904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l(μ,σ²) = -n/2·ln(2π) - n/2·ln(σ²) - 1/(2σ²)·Σ(xᵢ-μ)²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9735" y="5453586"/>
            <a:ext cx="5656940" cy="1035257"/>
          </a:xfrm>
          <a:custGeom>
            <a:avLst/>
            <a:gdLst/>
            <a:ahLst/>
            <a:cxnLst/>
            <a:rect l="l" t="t" r="r" b="b"/>
            <a:pathLst>
              <a:path w="5656940" h="1035257">
                <a:moveTo>
                  <a:pt x="73948" y="0"/>
                </a:moveTo>
                <a:lnTo>
                  <a:pt x="5582992" y="0"/>
                </a:lnTo>
                <a:cubicBezTo>
                  <a:pt x="5623832" y="0"/>
                  <a:pt x="5656940" y="33108"/>
                  <a:pt x="5656940" y="73948"/>
                </a:cubicBezTo>
                <a:lnTo>
                  <a:pt x="5656940" y="961309"/>
                </a:lnTo>
                <a:cubicBezTo>
                  <a:pt x="5656940" y="1002149"/>
                  <a:pt x="5623832" y="1035257"/>
                  <a:pt x="5582992" y="1035257"/>
                </a:cubicBezTo>
                <a:lnTo>
                  <a:pt x="73948" y="1035257"/>
                </a:lnTo>
                <a:cubicBezTo>
                  <a:pt x="33108" y="1035257"/>
                  <a:pt x="0" y="1002149"/>
                  <a:pt x="0" y="961309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0655" y="5564506"/>
            <a:ext cx="551829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求偏导并令为零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0655" y="5897268"/>
            <a:ext cx="550904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∂l/∂μ = 0 → μ̂ = (1/n)Σxᵢ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0655" y="6156082"/>
            <a:ext cx="550904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∂l/∂σ² = 0 → σ̂² = (1/n)Σ(xᵢ-μ̂)²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70452" y="1146177"/>
            <a:ext cx="576786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计算结果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8939" y="1552886"/>
            <a:ext cx="5638453" cy="1146177"/>
          </a:xfrm>
          <a:custGeom>
            <a:avLst/>
            <a:gdLst/>
            <a:ahLst/>
            <a:cxnLst/>
            <a:rect l="l" t="t" r="r" b="b"/>
            <a:pathLst>
              <a:path w="5638453" h="1146177">
                <a:moveTo>
                  <a:pt x="36973" y="0"/>
                </a:moveTo>
                <a:lnTo>
                  <a:pt x="5564502" y="0"/>
                </a:lnTo>
                <a:cubicBezTo>
                  <a:pt x="5605344" y="0"/>
                  <a:pt x="5638453" y="33109"/>
                  <a:pt x="5638453" y="73951"/>
                </a:cubicBezTo>
                <a:lnTo>
                  <a:pt x="5638453" y="1072226"/>
                </a:lnTo>
                <a:cubicBezTo>
                  <a:pt x="5638453" y="1113068"/>
                  <a:pt x="5605344" y="1146177"/>
                  <a:pt x="5564502" y="1146177"/>
                </a:cubicBezTo>
                <a:lnTo>
                  <a:pt x="36973" y="1146177"/>
                </a:lnTo>
                <a:cubicBezTo>
                  <a:pt x="16554" y="1146177"/>
                  <a:pt x="0" y="1129624"/>
                  <a:pt x="0" y="1109204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88939" y="1552886"/>
            <a:ext cx="36973" cy="1146177"/>
          </a:xfrm>
          <a:custGeom>
            <a:avLst/>
            <a:gdLst/>
            <a:ahLst/>
            <a:cxnLst/>
            <a:rect l="l" t="t" r="r" b="b"/>
            <a:pathLst>
              <a:path w="36973" h="1146177">
                <a:moveTo>
                  <a:pt x="36973" y="0"/>
                </a:moveTo>
                <a:lnTo>
                  <a:pt x="36973" y="0"/>
                </a:lnTo>
                <a:lnTo>
                  <a:pt x="36973" y="1146177"/>
                </a:lnTo>
                <a:lnTo>
                  <a:pt x="36973" y="1146177"/>
                </a:lnTo>
                <a:cubicBezTo>
                  <a:pt x="16554" y="1146177"/>
                  <a:pt x="0" y="1129624"/>
                  <a:pt x="0" y="1109204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320" y="1700779"/>
            <a:ext cx="540736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均值估计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320" y="2033541"/>
            <a:ext cx="539812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μ̂ = (170+172+168+175+165)/5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5320" y="2292355"/>
            <a:ext cx="539812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850/5 = </a:t>
            </a:r>
            <a:pPr>
              <a:lnSpc>
                <a:spcPct val="130000"/>
              </a:lnSpc>
            </a:pPr>
            <a:r>
              <a:rPr lang="en-US" sz="1456" b="1" dirty="0">
                <a:solidFill>
                  <a:srgbClr val="387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170 cm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88939" y="2809983"/>
            <a:ext cx="5638453" cy="1146177"/>
          </a:xfrm>
          <a:custGeom>
            <a:avLst/>
            <a:gdLst/>
            <a:ahLst/>
            <a:cxnLst/>
            <a:rect l="l" t="t" r="r" b="b"/>
            <a:pathLst>
              <a:path w="5638453" h="1146177">
                <a:moveTo>
                  <a:pt x="36973" y="0"/>
                </a:moveTo>
                <a:lnTo>
                  <a:pt x="5564502" y="0"/>
                </a:lnTo>
                <a:cubicBezTo>
                  <a:pt x="5605344" y="0"/>
                  <a:pt x="5638453" y="33109"/>
                  <a:pt x="5638453" y="73951"/>
                </a:cubicBezTo>
                <a:lnTo>
                  <a:pt x="5638453" y="1072226"/>
                </a:lnTo>
                <a:cubicBezTo>
                  <a:pt x="5638453" y="1113068"/>
                  <a:pt x="5605344" y="1146177"/>
                  <a:pt x="5564502" y="1146177"/>
                </a:cubicBezTo>
                <a:lnTo>
                  <a:pt x="36973" y="1146177"/>
                </a:lnTo>
                <a:cubicBezTo>
                  <a:pt x="16554" y="1146177"/>
                  <a:pt x="0" y="1129624"/>
                  <a:pt x="0" y="1109204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188939" y="2809983"/>
            <a:ext cx="36973" cy="1146177"/>
          </a:xfrm>
          <a:custGeom>
            <a:avLst/>
            <a:gdLst/>
            <a:ahLst/>
            <a:cxnLst/>
            <a:rect l="l" t="t" r="r" b="b"/>
            <a:pathLst>
              <a:path w="36973" h="1146177">
                <a:moveTo>
                  <a:pt x="36973" y="0"/>
                </a:moveTo>
                <a:lnTo>
                  <a:pt x="36973" y="0"/>
                </a:lnTo>
                <a:lnTo>
                  <a:pt x="36973" y="1146177"/>
                </a:lnTo>
                <a:lnTo>
                  <a:pt x="36973" y="1146177"/>
                </a:lnTo>
                <a:cubicBezTo>
                  <a:pt x="16554" y="1146177"/>
                  <a:pt x="0" y="1129624"/>
                  <a:pt x="0" y="1109204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320" y="2957877"/>
            <a:ext cx="540736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方差估计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5320" y="3290638"/>
            <a:ext cx="539812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σ̂² = [(170-170)²+(172-170)²+(168-170)²+(175-170)²+(165-170)²]/5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320" y="3549453"/>
            <a:ext cx="539812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(0+4+4+25+25)/5 = 58/5 = </a:t>
            </a:r>
            <a:pPr>
              <a:lnSpc>
                <a:spcPct val="130000"/>
              </a:lnSpc>
            </a:pPr>
            <a:r>
              <a:rPr lang="en-US" sz="1456" b="1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11.6 cm²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70452" y="4067081"/>
            <a:ext cx="576786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有偏性讨论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0452" y="4473789"/>
            <a:ext cx="5656940" cy="1515912"/>
          </a:xfrm>
          <a:custGeom>
            <a:avLst/>
            <a:gdLst/>
            <a:ahLst/>
            <a:cxnLst/>
            <a:rect l="l" t="t" r="r" b="b"/>
            <a:pathLst>
              <a:path w="5656940" h="1515912">
                <a:moveTo>
                  <a:pt x="73946" y="0"/>
                </a:moveTo>
                <a:lnTo>
                  <a:pt x="5582994" y="0"/>
                </a:lnTo>
                <a:cubicBezTo>
                  <a:pt x="5623833" y="0"/>
                  <a:pt x="5656940" y="33107"/>
                  <a:pt x="5656940" y="73946"/>
                </a:cubicBezTo>
                <a:lnTo>
                  <a:pt x="5656940" y="1441966"/>
                </a:lnTo>
                <a:cubicBezTo>
                  <a:pt x="5656940" y="1482805"/>
                  <a:pt x="5623833" y="1515912"/>
                  <a:pt x="5582994" y="1515912"/>
                </a:cubicBezTo>
                <a:lnTo>
                  <a:pt x="73946" y="1515912"/>
                </a:lnTo>
                <a:cubicBezTo>
                  <a:pt x="33107" y="1515912"/>
                  <a:pt x="0" y="1482805"/>
                  <a:pt x="0" y="1441966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18346" y="4621683"/>
            <a:ext cx="543509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MLE估计的方差</a:t>
            </a:r>
            <a:pPr>
              <a:lnSpc>
                <a:spcPct val="130000"/>
              </a:lnSpc>
            </a:pPr>
            <a:r>
              <a:rPr lang="en-US" sz="1165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是有偏的</a:t>
            </a:r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18346" y="4954444"/>
            <a:ext cx="51762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MLE：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76559" y="4917471"/>
            <a:ext cx="1238611" cy="295788"/>
          </a:xfrm>
          <a:custGeom>
            <a:avLst/>
            <a:gdLst/>
            <a:ahLst/>
            <a:cxnLst/>
            <a:rect l="l" t="t" r="r" b="b"/>
            <a:pathLst>
              <a:path w="1238611" h="295788">
                <a:moveTo>
                  <a:pt x="36973" y="0"/>
                </a:moveTo>
                <a:lnTo>
                  <a:pt x="1201638" y="0"/>
                </a:lnTo>
                <a:cubicBezTo>
                  <a:pt x="1222057" y="0"/>
                  <a:pt x="1238611" y="16554"/>
                  <a:pt x="1238611" y="36973"/>
                </a:cubicBezTo>
                <a:lnTo>
                  <a:pt x="1238611" y="258814"/>
                </a:lnTo>
                <a:cubicBezTo>
                  <a:pt x="1238611" y="279234"/>
                  <a:pt x="1222057" y="295788"/>
                  <a:pt x="1201638" y="295788"/>
                </a:cubicBezTo>
                <a:lnTo>
                  <a:pt x="36973" y="295788"/>
                </a:lnTo>
                <a:cubicBezTo>
                  <a:pt x="16554" y="295788"/>
                  <a:pt x="0" y="279234"/>
                  <a:pt x="0" y="258814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876559" y="4917471"/>
            <a:ext cx="1312558" cy="295788"/>
          </a:xfrm>
          <a:prstGeom prst="rect">
            <a:avLst/>
          </a:prstGeom>
          <a:noFill/>
          <a:ln/>
        </p:spPr>
        <p:txBody>
          <a:bodyPr wrap="square" lIns="73947" tIns="36973" rIns="73947" bIns="36973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σ̂² = (1/n)Σ(xᵢ-μ̂)²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18346" y="5324179"/>
            <a:ext cx="51762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无偏：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72948" y="5287205"/>
            <a:ext cx="1469695" cy="295788"/>
          </a:xfrm>
          <a:custGeom>
            <a:avLst/>
            <a:gdLst/>
            <a:ahLst/>
            <a:cxnLst/>
            <a:rect l="l" t="t" r="r" b="b"/>
            <a:pathLst>
              <a:path w="1469695" h="295788">
                <a:moveTo>
                  <a:pt x="36973" y="0"/>
                </a:moveTo>
                <a:lnTo>
                  <a:pt x="1432722" y="0"/>
                </a:lnTo>
                <a:cubicBezTo>
                  <a:pt x="1453142" y="0"/>
                  <a:pt x="1469695" y="16554"/>
                  <a:pt x="1469695" y="36973"/>
                </a:cubicBezTo>
                <a:lnTo>
                  <a:pt x="1469695" y="258814"/>
                </a:lnTo>
                <a:cubicBezTo>
                  <a:pt x="1469695" y="279234"/>
                  <a:pt x="1453142" y="295788"/>
                  <a:pt x="1432722" y="295788"/>
                </a:cubicBezTo>
                <a:lnTo>
                  <a:pt x="36973" y="295788"/>
                </a:lnTo>
                <a:cubicBezTo>
                  <a:pt x="16554" y="295788"/>
                  <a:pt x="0" y="279234"/>
                  <a:pt x="0" y="258814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872948" y="5287205"/>
            <a:ext cx="1543642" cy="295788"/>
          </a:xfrm>
          <a:prstGeom prst="rect">
            <a:avLst/>
          </a:prstGeom>
          <a:noFill/>
          <a:ln/>
        </p:spPr>
        <p:txBody>
          <a:bodyPr wrap="square" lIns="73947" tIns="36973" rIns="73947" bIns="36973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S² = (1/(n-1))Σ(xᵢ-μ̂)²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18346" y="5656940"/>
            <a:ext cx="5425856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当n→∞时，MLE是</a:t>
            </a:r>
            <a:pPr>
              <a:lnSpc>
                <a:spcPct val="120000"/>
              </a:lnSpc>
            </a:pPr>
            <a:r>
              <a:rPr lang="en-US" sz="1019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渐近无偏</a:t>
            </a:r>
            <a:pPr>
              <a:lnSpc>
                <a:spcPct val="120000"/>
              </a:lnSpc>
            </a:pPr>
            <a:r>
              <a:rPr lang="en-US" sz="1019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395" y="323395"/>
            <a:ext cx="11601804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spc="45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3395" y="549772"/>
            <a:ext cx="11690737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2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MLE与贝叶斯估计：两种统计推断范式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3395" y="1002525"/>
            <a:ext cx="5804944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多盒子抽球案例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3395" y="1358260"/>
            <a:ext cx="5772605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五个盒子中黑白球比例不同。从中任选一个盒子，有放回地抽取两个球，结果都是白球。问：这两个球是从哪个盒子中抽取的？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3395" y="1875692"/>
            <a:ext cx="5707926" cy="1859523"/>
          </a:xfrm>
          <a:custGeom>
            <a:avLst/>
            <a:gdLst/>
            <a:ahLst/>
            <a:cxnLst/>
            <a:rect l="l" t="t" r="r" b="b"/>
            <a:pathLst>
              <a:path w="5707926" h="1859523">
                <a:moveTo>
                  <a:pt x="64674" y="0"/>
                </a:moveTo>
                <a:lnTo>
                  <a:pt x="5643252" y="0"/>
                </a:lnTo>
                <a:cubicBezTo>
                  <a:pt x="5678970" y="0"/>
                  <a:pt x="5707926" y="28956"/>
                  <a:pt x="5707926" y="64674"/>
                </a:cubicBezTo>
                <a:lnTo>
                  <a:pt x="5707926" y="1794848"/>
                </a:lnTo>
                <a:cubicBezTo>
                  <a:pt x="5707926" y="1830567"/>
                  <a:pt x="5678970" y="1859523"/>
                  <a:pt x="5643252" y="1859523"/>
                </a:cubicBezTo>
                <a:lnTo>
                  <a:pt x="64674" y="1859523"/>
                </a:lnTo>
                <a:cubicBezTo>
                  <a:pt x="28956" y="1859523"/>
                  <a:pt x="0" y="1830567"/>
                  <a:pt x="0" y="1794848"/>
                </a:cubicBezTo>
                <a:lnTo>
                  <a:pt x="0" y="64674"/>
                </a:lnTo>
                <a:cubicBezTo>
                  <a:pt x="0" y="28956"/>
                  <a:pt x="28956" y="0"/>
                  <a:pt x="64674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753" y="2005050"/>
          <a:ext cx="5449210" cy="1600806"/>
        </p:xfrm>
        <a:graphic>
          <a:graphicData uri="http://schemas.openxmlformats.org/drawingml/2006/table">
            <a:tbl>
              <a:tblPr/>
              <a:tblGrid>
                <a:gridCol w="1816403"/>
                <a:gridCol w="1816403"/>
                <a:gridCol w="1816403"/>
              </a:tblGrid>
              <a:tr h="266801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盒子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2340" marB="323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白球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2340" marB="323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黑球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2340" marB="323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680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2340" marB="323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680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2340" marB="323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680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2340" marB="323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680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2340" marB="323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680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2340" marB="323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8847" y="1002525"/>
            <a:ext cx="5804944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MLE方法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58847" y="1358260"/>
            <a:ext cx="577260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计算从各盒子抽取两个白球的概率（似然）：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58847" y="1616976"/>
            <a:ext cx="5707926" cy="1293581"/>
          </a:xfrm>
          <a:custGeom>
            <a:avLst/>
            <a:gdLst/>
            <a:ahLst/>
            <a:cxnLst/>
            <a:rect l="l" t="t" r="r" b="b"/>
            <a:pathLst>
              <a:path w="5707926" h="1293581">
                <a:moveTo>
                  <a:pt x="64679" y="0"/>
                </a:moveTo>
                <a:lnTo>
                  <a:pt x="5643247" y="0"/>
                </a:lnTo>
                <a:cubicBezTo>
                  <a:pt x="5678968" y="0"/>
                  <a:pt x="5707926" y="28958"/>
                  <a:pt x="5707926" y="64679"/>
                </a:cubicBezTo>
                <a:lnTo>
                  <a:pt x="5707926" y="1228902"/>
                </a:lnTo>
                <a:cubicBezTo>
                  <a:pt x="5707926" y="1264623"/>
                  <a:pt x="5678968" y="1293581"/>
                  <a:pt x="5643247" y="1293581"/>
                </a:cubicBezTo>
                <a:lnTo>
                  <a:pt x="64679" y="1293581"/>
                </a:lnTo>
                <a:cubicBezTo>
                  <a:pt x="28958" y="1293581"/>
                  <a:pt x="0" y="1264623"/>
                  <a:pt x="0" y="1228902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255866" y="1713995"/>
            <a:ext cx="557856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L(p₁) = 0² = 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55866" y="1940371"/>
            <a:ext cx="557856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L(p₂) = 0.3² = 0.09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55866" y="2166748"/>
            <a:ext cx="557856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L(p₃) = 0.5² = 0.25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55866" y="2393125"/>
            <a:ext cx="557856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L(p₄) = 0.7² = 0.49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55866" y="2619501"/>
            <a:ext cx="557856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L(p₅) = 1² = 1 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58847" y="2975236"/>
            <a:ext cx="577260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结论：</a:t>
            </a:r>
            <a:pPr>
              <a:lnSpc>
                <a:spcPct val="130000"/>
              </a:lnSpc>
            </a:pPr>
            <a:r>
              <a:rPr lang="en-US" sz="101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选择似然值最大的盒子5。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58847" y="3266292"/>
            <a:ext cx="5804944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贝叶斯方法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58847" y="3622027"/>
            <a:ext cx="577260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计算后验概率 P(Aᵢ|B)：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58847" y="3880743"/>
            <a:ext cx="5707926" cy="1293581"/>
          </a:xfrm>
          <a:custGeom>
            <a:avLst/>
            <a:gdLst/>
            <a:ahLst/>
            <a:cxnLst/>
            <a:rect l="l" t="t" r="r" b="b"/>
            <a:pathLst>
              <a:path w="5707926" h="1293581">
                <a:moveTo>
                  <a:pt x="64679" y="0"/>
                </a:moveTo>
                <a:lnTo>
                  <a:pt x="5643247" y="0"/>
                </a:lnTo>
                <a:cubicBezTo>
                  <a:pt x="5678968" y="0"/>
                  <a:pt x="5707926" y="28958"/>
                  <a:pt x="5707926" y="64679"/>
                </a:cubicBezTo>
                <a:lnTo>
                  <a:pt x="5707926" y="1228902"/>
                </a:lnTo>
                <a:cubicBezTo>
                  <a:pt x="5707926" y="1264623"/>
                  <a:pt x="5678968" y="1293581"/>
                  <a:pt x="5643247" y="1293581"/>
                </a:cubicBezTo>
                <a:lnTo>
                  <a:pt x="64679" y="1293581"/>
                </a:lnTo>
                <a:cubicBezTo>
                  <a:pt x="28958" y="1293581"/>
                  <a:pt x="0" y="1264623"/>
                  <a:pt x="0" y="1228902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255866" y="3977761"/>
            <a:ext cx="557856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P(A₁|B) = 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5866" y="4204138"/>
            <a:ext cx="557856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P(A₂|B) ≈ 0.049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255866" y="4430515"/>
            <a:ext cx="557856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P(A₃|B) ≈ 0.137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255866" y="4656891"/>
            <a:ext cx="557856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P(A₄|B) ≈ 0.268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255866" y="4883268"/>
            <a:ext cx="557856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5D6C7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P(A₅|B) ≈ 0.546 ✓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158847" y="5239003"/>
            <a:ext cx="577260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结论：</a:t>
            </a:r>
            <a:pPr>
              <a:lnSpc>
                <a:spcPct val="130000"/>
              </a:lnSpc>
            </a:pPr>
            <a:r>
              <a:rPr lang="en-US" sz="101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后验概率最大的仍是盒子5（概率54.6%）。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23395" y="5578568"/>
            <a:ext cx="3759469" cy="954016"/>
          </a:xfrm>
          <a:custGeom>
            <a:avLst/>
            <a:gdLst/>
            <a:ahLst/>
            <a:cxnLst/>
            <a:rect l="l" t="t" r="r" b="b"/>
            <a:pathLst>
              <a:path w="3759469" h="954016">
                <a:moveTo>
                  <a:pt x="32340" y="0"/>
                </a:moveTo>
                <a:lnTo>
                  <a:pt x="3727130" y="0"/>
                </a:lnTo>
                <a:cubicBezTo>
                  <a:pt x="3744991" y="0"/>
                  <a:pt x="3759469" y="14479"/>
                  <a:pt x="3759469" y="32340"/>
                </a:cubicBezTo>
                <a:lnTo>
                  <a:pt x="3759469" y="889334"/>
                </a:lnTo>
                <a:cubicBezTo>
                  <a:pt x="3759469" y="925057"/>
                  <a:pt x="3730510" y="954016"/>
                  <a:pt x="3694787" y="954016"/>
                </a:cubicBezTo>
                <a:lnTo>
                  <a:pt x="64682" y="954016"/>
                </a:lnTo>
                <a:cubicBezTo>
                  <a:pt x="28959" y="954016"/>
                  <a:pt x="0" y="925057"/>
                  <a:pt x="0" y="889334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23395" y="5578568"/>
            <a:ext cx="3759469" cy="32340"/>
          </a:xfrm>
          <a:custGeom>
            <a:avLst/>
            <a:gdLst/>
            <a:ahLst/>
            <a:cxnLst/>
            <a:rect l="l" t="t" r="r" b="b"/>
            <a:pathLst>
              <a:path w="3759469" h="32340">
                <a:moveTo>
                  <a:pt x="32340" y="0"/>
                </a:moveTo>
                <a:lnTo>
                  <a:pt x="3727130" y="0"/>
                </a:lnTo>
                <a:cubicBezTo>
                  <a:pt x="3744991" y="0"/>
                  <a:pt x="3759469" y="14479"/>
                  <a:pt x="3759469" y="32340"/>
                </a:cubicBezTo>
                <a:lnTo>
                  <a:pt x="3759469" y="32340"/>
                </a:lnTo>
                <a:lnTo>
                  <a:pt x="0" y="32340"/>
                </a:ln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8" name="Text 25"/>
          <p:cNvSpPr/>
          <p:nvPr/>
        </p:nvSpPr>
        <p:spPr>
          <a:xfrm>
            <a:off x="452753" y="5724095"/>
            <a:ext cx="3573517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参数观不同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2753" y="6015151"/>
            <a:ext cx="3565432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MLE：</a:t>
            </a:r>
            <a:pPr>
              <a:lnSpc>
                <a:spcPct val="130000"/>
              </a:lnSpc>
            </a:pPr>
            <a:r>
              <a:rPr lang="en-US" sz="101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θ是固定但未知的常数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2753" y="6209188"/>
            <a:ext cx="3565432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贝叶斯：</a:t>
            </a:r>
            <a:pPr>
              <a:lnSpc>
                <a:spcPct val="130000"/>
              </a:lnSpc>
            </a:pPr>
            <a:r>
              <a:rPr lang="en-US" sz="101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θ是随机变量，服从分布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213676" y="5578568"/>
            <a:ext cx="3759469" cy="954016"/>
          </a:xfrm>
          <a:custGeom>
            <a:avLst/>
            <a:gdLst/>
            <a:ahLst/>
            <a:cxnLst/>
            <a:rect l="l" t="t" r="r" b="b"/>
            <a:pathLst>
              <a:path w="3759469" h="954016">
                <a:moveTo>
                  <a:pt x="32340" y="0"/>
                </a:moveTo>
                <a:lnTo>
                  <a:pt x="3727130" y="0"/>
                </a:lnTo>
                <a:cubicBezTo>
                  <a:pt x="3744991" y="0"/>
                  <a:pt x="3759469" y="14479"/>
                  <a:pt x="3759469" y="32340"/>
                </a:cubicBezTo>
                <a:lnTo>
                  <a:pt x="3759469" y="889334"/>
                </a:lnTo>
                <a:cubicBezTo>
                  <a:pt x="3759469" y="925057"/>
                  <a:pt x="3730510" y="954016"/>
                  <a:pt x="3694787" y="954016"/>
                </a:cubicBezTo>
                <a:lnTo>
                  <a:pt x="64682" y="954016"/>
                </a:lnTo>
                <a:cubicBezTo>
                  <a:pt x="28959" y="954016"/>
                  <a:pt x="0" y="925057"/>
                  <a:pt x="0" y="889334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213676" y="5578568"/>
            <a:ext cx="3759469" cy="32340"/>
          </a:xfrm>
          <a:custGeom>
            <a:avLst/>
            <a:gdLst/>
            <a:ahLst/>
            <a:cxnLst/>
            <a:rect l="l" t="t" r="r" b="b"/>
            <a:pathLst>
              <a:path w="3759469" h="32340">
                <a:moveTo>
                  <a:pt x="32340" y="0"/>
                </a:moveTo>
                <a:lnTo>
                  <a:pt x="3727130" y="0"/>
                </a:lnTo>
                <a:cubicBezTo>
                  <a:pt x="3744991" y="0"/>
                  <a:pt x="3759469" y="14479"/>
                  <a:pt x="3759469" y="32340"/>
                </a:cubicBezTo>
                <a:lnTo>
                  <a:pt x="3759469" y="32340"/>
                </a:lnTo>
                <a:lnTo>
                  <a:pt x="0" y="32340"/>
                </a:ln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3" name="Text 30"/>
          <p:cNvSpPr/>
          <p:nvPr/>
        </p:nvSpPr>
        <p:spPr>
          <a:xfrm>
            <a:off x="4343034" y="5724095"/>
            <a:ext cx="3573517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推断依据不同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343034" y="6015151"/>
            <a:ext cx="3565432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MLE：</a:t>
            </a:r>
            <a:pPr>
              <a:lnSpc>
                <a:spcPct val="130000"/>
              </a:lnSpc>
            </a:pPr>
            <a:r>
              <a:rPr lang="en-US" sz="101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只依赖数据（似然）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343034" y="6209188"/>
            <a:ext cx="3565432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贝叶斯：</a:t>
            </a:r>
            <a:pPr>
              <a:lnSpc>
                <a:spcPct val="130000"/>
              </a:lnSpc>
            </a:pPr>
            <a:r>
              <a:rPr lang="en-US" sz="101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数据+先验知识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104019" y="5578568"/>
            <a:ext cx="3759469" cy="954016"/>
          </a:xfrm>
          <a:custGeom>
            <a:avLst/>
            <a:gdLst/>
            <a:ahLst/>
            <a:cxnLst/>
            <a:rect l="l" t="t" r="r" b="b"/>
            <a:pathLst>
              <a:path w="3759469" h="954016">
                <a:moveTo>
                  <a:pt x="32340" y="0"/>
                </a:moveTo>
                <a:lnTo>
                  <a:pt x="3727130" y="0"/>
                </a:lnTo>
                <a:cubicBezTo>
                  <a:pt x="3744991" y="0"/>
                  <a:pt x="3759469" y="14479"/>
                  <a:pt x="3759469" y="32340"/>
                </a:cubicBezTo>
                <a:lnTo>
                  <a:pt x="3759469" y="889334"/>
                </a:lnTo>
                <a:cubicBezTo>
                  <a:pt x="3759469" y="925057"/>
                  <a:pt x="3730510" y="954016"/>
                  <a:pt x="3694787" y="954016"/>
                </a:cubicBezTo>
                <a:lnTo>
                  <a:pt x="64682" y="954016"/>
                </a:lnTo>
                <a:cubicBezTo>
                  <a:pt x="28959" y="954016"/>
                  <a:pt x="0" y="925057"/>
                  <a:pt x="0" y="889334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8104019" y="5578568"/>
            <a:ext cx="3759469" cy="32340"/>
          </a:xfrm>
          <a:custGeom>
            <a:avLst/>
            <a:gdLst/>
            <a:ahLst/>
            <a:cxnLst/>
            <a:rect l="l" t="t" r="r" b="b"/>
            <a:pathLst>
              <a:path w="3759469" h="32340">
                <a:moveTo>
                  <a:pt x="32340" y="0"/>
                </a:moveTo>
                <a:lnTo>
                  <a:pt x="3727130" y="0"/>
                </a:lnTo>
                <a:cubicBezTo>
                  <a:pt x="3744991" y="0"/>
                  <a:pt x="3759469" y="14479"/>
                  <a:pt x="3759469" y="32340"/>
                </a:cubicBezTo>
                <a:lnTo>
                  <a:pt x="3759469" y="32340"/>
                </a:lnTo>
                <a:lnTo>
                  <a:pt x="0" y="32340"/>
                </a:ln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8" name="Text 35"/>
          <p:cNvSpPr/>
          <p:nvPr/>
        </p:nvSpPr>
        <p:spPr>
          <a:xfrm>
            <a:off x="8233377" y="5724095"/>
            <a:ext cx="3573517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数学联系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233377" y="6015151"/>
            <a:ext cx="3565432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MLE是均匀先验下的MAP特例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kdnuggets.com/66017c7202f44ac7bffda2b19da67c8ad6cd212c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27229" b="2722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252538"/>
            <a:ext cx="6972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E0B354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624138"/>
            <a:ext cx="6686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第二章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EM算法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2814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5481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处理隐变量的利器：期望最大化算法的理论推导与实例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24463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0"/>
                </a:lnTo>
                <a:lnTo>
                  <a:pt x="762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B354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224463"/>
            <a:ext cx="8382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隐变量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57300" y="5224463"/>
            <a:ext cx="542925" cy="381000"/>
          </a:xfrm>
          <a:custGeom>
            <a:avLst/>
            <a:gdLst/>
            <a:ahLst/>
            <a:cxnLst/>
            <a:rect l="l" t="t" r="r" b="b"/>
            <a:pathLst>
              <a:path w="542925" h="381000">
                <a:moveTo>
                  <a:pt x="0" y="0"/>
                </a:moveTo>
                <a:lnTo>
                  <a:pt x="542925" y="0"/>
                </a:lnTo>
                <a:lnTo>
                  <a:pt x="5429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B354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57300" y="5224463"/>
            <a:ext cx="619125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E步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919064" y="5224463"/>
            <a:ext cx="590550" cy="381000"/>
          </a:xfrm>
          <a:custGeom>
            <a:avLst/>
            <a:gdLst/>
            <a:ahLst/>
            <a:cxnLst/>
            <a:rect l="l" t="t" r="r" b="b"/>
            <a:pathLst>
              <a:path w="590550" h="381000">
                <a:moveTo>
                  <a:pt x="0" y="0"/>
                </a:moveTo>
                <a:lnTo>
                  <a:pt x="590550" y="0"/>
                </a:lnTo>
                <a:lnTo>
                  <a:pt x="5905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B354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919064" y="5224463"/>
            <a:ext cx="66675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M步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623468" y="5224463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0"/>
                </a:moveTo>
                <a:lnTo>
                  <a:pt x="914400" y="0"/>
                </a:lnTo>
                <a:lnTo>
                  <a:pt x="914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B354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623468" y="5224463"/>
            <a:ext cx="9906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迭代优化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EM算法核心思想：分而治之，迭代逼近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575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基本定义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600200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是一种迭代算法，用于在概率模型中寻找参数的最大似然估计，特别适用于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包含隐变量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的情况。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2209800"/>
            <a:ext cx="5619750" cy="876300"/>
          </a:xfrm>
          <a:custGeom>
            <a:avLst/>
            <a:gdLst/>
            <a:ahLst/>
            <a:cxnLst/>
            <a:rect l="l" t="t" r="r" b="b"/>
            <a:pathLst>
              <a:path w="5619750" h="876300">
                <a:moveTo>
                  <a:pt x="38100" y="0"/>
                </a:moveTo>
                <a:lnTo>
                  <a:pt x="5543547" y="0"/>
                </a:lnTo>
                <a:cubicBezTo>
                  <a:pt x="5585633" y="0"/>
                  <a:pt x="5619750" y="34117"/>
                  <a:pt x="5619750" y="76203"/>
                </a:cubicBezTo>
                <a:lnTo>
                  <a:pt x="5619750" y="800097"/>
                </a:lnTo>
                <a:cubicBezTo>
                  <a:pt x="5619750" y="842183"/>
                  <a:pt x="5585633" y="876300"/>
                  <a:pt x="55435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22098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2362200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隐变量（Latent Variable）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7051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无法直接观测的变量，如聚类任务中样本的真实类别标签。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3200400"/>
            <a:ext cx="575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直观理解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619500"/>
            <a:ext cx="5619750" cy="1143000"/>
          </a:xfrm>
          <a:custGeom>
            <a:avLst/>
            <a:gdLst/>
            <a:ahLst/>
            <a:cxnLst/>
            <a:rect l="l" t="t" r="r" b="b"/>
            <a:pathLst>
              <a:path w="5619750" h="1143000">
                <a:moveTo>
                  <a:pt x="3810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6195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3733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4" name="Text 12"/>
          <p:cNvSpPr/>
          <p:nvPr/>
        </p:nvSpPr>
        <p:spPr>
          <a:xfrm>
            <a:off x="490538" y="37338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8700" y="37909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E步（Expectation）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3400" y="4191000"/>
            <a:ext cx="544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"猜"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隐变量的分布。利用当前参数，计算隐变量的后验概率（期望），相当于"补全"数据。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876800"/>
            <a:ext cx="5619750" cy="914400"/>
          </a:xfrm>
          <a:custGeom>
            <a:avLst/>
            <a:gdLst/>
            <a:ahLst/>
            <a:cxnLst/>
            <a:rect l="l" t="t" r="r" b="b"/>
            <a:pathLst>
              <a:path w="5619750" h="914400">
                <a:moveTo>
                  <a:pt x="38100" y="0"/>
                </a:moveTo>
                <a:lnTo>
                  <a:pt x="5543553" y="0"/>
                </a:lnTo>
                <a:cubicBezTo>
                  <a:pt x="5585635" y="0"/>
                  <a:pt x="5619750" y="34115"/>
                  <a:pt x="5619750" y="76197"/>
                </a:cubicBezTo>
                <a:lnTo>
                  <a:pt x="5619750" y="838203"/>
                </a:lnTo>
                <a:cubicBezTo>
                  <a:pt x="5619750" y="880285"/>
                  <a:pt x="5585635" y="914400"/>
                  <a:pt x="55435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8768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9" name="Shape 17"/>
          <p:cNvSpPr/>
          <p:nvPr/>
        </p:nvSpPr>
        <p:spPr>
          <a:xfrm>
            <a:off x="533400" y="4991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0" name="Text 18"/>
          <p:cNvSpPr/>
          <p:nvPr/>
        </p:nvSpPr>
        <p:spPr>
          <a:xfrm>
            <a:off x="490538" y="49911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8700" y="504825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M步（Maximization）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400" y="5448300"/>
            <a:ext cx="544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基于"补全"后的数据，像做普通MLE一样优化参数，得到新的参数估计值。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1181100"/>
            <a:ext cx="575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5638800" cy="1943100"/>
          </a:xfrm>
          <a:custGeom>
            <a:avLst/>
            <a:gdLst/>
            <a:ahLst/>
            <a:cxnLst/>
            <a:rect l="l" t="t" r="r" b="b"/>
            <a:pathLst>
              <a:path w="5638800" h="1943100">
                <a:moveTo>
                  <a:pt x="76208" y="0"/>
                </a:moveTo>
                <a:lnTo>
                  <a:pt x="5562592" y="0"/>
                </a:lnTo>
                <a:cubicBezTo>
                  <a:pt x="5604680" y="0"/>
                  <a:pt x="5638800" y="34120"/>
                  <a:pt x="5638800" y="76208"/>
                </a:cubicBezTo>
                <a:lnTo>
                  <a:pt x="5638800" y="1866892"/>
                </a:lnTo>
                <a:cubicBezTo>
                  <a:pt x="5638800" y="1908980"/>
                  <a:pt x="5604680" y="1943100"/>
                  <a:pt x="55625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24600" y="1752600"/>
            <a:ext cx="5410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直接最大化L(θ)很难（包含对数内的求和），EM算法转而通过最大化L(θ)的一个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下界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来逼近目标。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43650" y="2362200"/>
            <a:ext cx="5314950" cy="762000"/>
          </a:xfrm>
          <a:custGeom>
            <a:avLst/>
            <a:gdLst/>
            <a:ahLst/>
            <a:cxnLst/>
            <a:rect l="l" t="t" r="r" b="b"/>
            <a:pathLst>
              <a:path w="5314950" h="762000">
                <a:moveTo>
                  <a:pt x="38100" y="0"/>
                </a:moveTo>
                <a:lnTo>
                  <a:pt x="5276850" y="0"/>
                </a:lnTo>
                <a:cubicBezTo>
                  <a:pt x="5297878" y="0"/>
                  <a:pt x="5314950" y="17072"/>
                  <a:pt x="5314950" y="38100"/>
                </a:cubicBezTo>
                <a:lnTo>
                  <a:pt x="5314950" y="723900"/>
                </a:lnTo>
                <a:cubicBezTo>
                  <a:pt x="5314950" y="744928"/>
                  <a:pt x="5297878" y="762000"/>
                  <a:pt x="52768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43650" y="23622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8" name="Text 26"/>
          <p:cNvSpPr/>
          <p:nvPr/>
        </p:nvSpPr>
        <p:spPr>
          <a:xfrm>
            <a:off x="6477000" y="24765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数学表达：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7000" y="27813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L(θ) = ln P(X|θ) = ln Σ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P(X,Z|θ)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24600" y="32004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利用Jensen不等式，通过迭代优化Q函数来提升似然函数值。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72200" y="3657600"/>
            <a:ext cx="575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Q函数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2200" y="4076700"/>
            <a:ext cx="5638800" cy="1600200"/>
          </a:xfrm>
          <a:custGeom>
            <a:avLst/>
            <a:gdLst/>
            <a:ahLst/>
            <a:cxnLst/>
            <a:rect l="l" t="t" r="r" b="b"/>
            <a:pathLst>
              <a:path w="5638800" h="1600200">
                <a:moveTo>
                  <a:pt x="76202" y="0"/>
                </a:moveTo>
                <a:lnTo>
                  <a:pt x="5562598" y="0"/>
                </a:lnTo>
                <a:cubicBezTo>
                  <a:pt x="5604683" y="0"/>
                  <a:pt x="5638800" y="34117"/>
                  <a:pt x="5638800" y="76202"/>
                </a:cubicBezTo>
                <a:lnTo>
                  <a:pt x="5638800" y="1523998"/>
                </a:lnTo>
                <a:cubicBezTo>
                  <a:pt x="5638800" y="1566083"/>
                  <a:pt x="5604683" y="1600200"/>
                  <a:pt x="556259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24600" y="422910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完全数据对数似然关于隐变量后验分布的期望：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24600" y="4533900"/>
            <a:ext cx="5334000" cy="457200"/>
          </a:xfrm>
          <a:custGeom>
            <a:avLst/>
            <a:gdLst/>
            <a:ahLst/>
            <a:cxnLst/>
            <a:rect l="l" t="t" r="r" b="b"/>
            <a:pathLst>
              <a:path w="5334000" h="457200">
                <a:moveTo>
                  <a:pt x="38098" y="0"/>
                </a:moveTo>
                <a:lnTo>
                  <a:pt x="5295902" y="0"/>
                </a:lnTo>
                <a:cubicBezTo>
                  <a:pt x="5316943" y="0"/>
                  <a:pt x="5334000" y="17057"/>
                  <a:pt x="5334000" y="38098"/>
                </a:cubicBezTo>
                <a:lnTo>
                  <a:pt x="5334000" y="419102"/>
                </a:lnTo>
                <a:cubicBezTo>
                  <a:pt x="5334000" y="440143"/>
                  <a:pt x="5316943" y="457200"/>
                  <a:pt x="52959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286500" y="4533900"/>
            <a:ext cx="541020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Q(θ,θ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= E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Z|X,θ(t)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[ln P(X,Z|θ)]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4600" y="5067300"/>
            <a:ext cx="5334000" cy="457200"/>
          </a:xfrm>
          <a:custGeom>
            <a:avLst/>
            <a:gdLst/>
            <a:ahLst/>
            <a:cxnLst/>
            <a:rect l="l" t="t" r="r" b="b"/>
            <a:pathLst>
              <a:path w="5334000" h="457200">
                <a:moveTo>
                  <a:pt x="38098" y="0"/>
                </a:moveTo>
                <a:lnTo>
                  <a:pt x="5295902" y="0"/>
                </a:lnTo>
                <a:cubicBezTo>
                  <a:pt x="5316943" y="0"/>
                  <a:pt x="5334000" y="17057"/>
                  <a:pt x="5334000" y="38098"/>
                </a:cubicBezTo>
                <a:lnTo>
                  <a:pt x="5334000" y="419102"/>
                </a:lnTo>
                <a:cubicBezTo>
                  <a:pt x="5334000" y="440143"/>
                  <a:pt x="5316943" y="457200"/>
                  <a:pt x="52959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286500" y="5067300"/>
            <a:ext cx="541020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Σ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P(Z|X,θ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ln P(X,Z|θ)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 PROCEDURE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EM算法四步标准流程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00150"/>
            <a:ext cx="5638800" cy="1562100"/>
          </a:xfrm>
          <a:custGeom>
            <a:avLst/>
            <a:gdLst/>
            <a:ahLst/>
            <a:cxnLst/>
            <a:rect l="l" t="t" r="r" b="b"/>
            <a:pathLst>
              <a:path w="5638800" h="1562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1485901"/>
                </a:lnTo>
                <a:cubicBezTo>
                  <a:pt x="5638800" y="1527984"/>
                  <a:pt x="5604684" y="1562100"/>
                  <a:pt x="55626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001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Text 5"/>
          <p:cNvSpPr/>
          <p:nvPr/>
        </p:nvSpPr>
        <p:spPr>
          <a:xfrm>
            <a:off x="485775" y="1371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4900" y="146685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初始化参数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19431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选择模型参数θ的初始值θ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(0)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266950"/>
            <a:ext cx="5314950" cy="342900"/>
          </a:xfrm>
          <a:custGeom>
            <a:avLst/>
            <a:gdLst/>
            <a:ahLst/>
            <a:cxnLst/>
            <a:rect l="l" t="t" r="r" b="b"/>
            <a:pathLst>
              <a:path w="5314950" h="342900">
                <a:moveTo>
                  <a:pt x="38100" y="0"/>
                </a:moveTo>
                <a:lnTo>
                  <a:pt x="5276850" y="0"/>
                </a:lnTo>
                <a:cubicBezTo>
                  <a:pt x="5297892" y="0"/>
                  <a:pt x="5314950" y="17058"/>
                  <a:pt x="5314950" y="38100"/>
                </a:cubicBezTo>
                <a:lnTo>
                  <a:pt x="5314950" y="304800"/>
                </a:lnTo>
                <a:cubicBezTo>
                  <a:pt x="5314950" y="325842"/>
                  <a:pt x="5297892" y="342900"/>
                  <a:pt x="52768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52450" y="2266950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3810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38100" y="342900"/>
                </a:lnTo>
                <a:cubicBezTo>
                  <a:pt x="17072" y="342900"/>
                  <a:pt x="0" y="325828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" y="23431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EM对初始值敏感，不同初始值可能导致收敛到不同的局部极值。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2895600"/>
            <a:ext cx="5638800" cy="1562100"/>
          </a:xfrm>
          <a:custGeom>
            <a:avLst/>
            <a:gdLst/>
            <a:ahLst/>
            <a:cxnLst/>
            <a:rect l="l" t="t" r="r" b="b"/>
            <a:pathLst>
              <a:path w="5638800" h="1562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1485901"/>
                </a:lnTo>
                <a:cubicBezTo>
                  <a:pt x="5638800" y="1527984"/>
                  <a:pt x="5604684" y="1562100"/>
                  <a:pt x="55626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1000" y="289560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3400" y="3067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6" name="Text 14"/>
          <p:cNvSpPr/>
          <p:nvPr/>
        </p:nvSpPr>
        <p:spPr>
          <a:xfrm>
            <a:off x="485775" y="30670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" y="316230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E步：计算期望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3400" y="363855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根据当前参数θ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，计算隐变量Z的后验概率分布，构造Q函数。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396240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0063" y="3962400"/>
            <a:ext cx="540067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Q(θ,θ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= E[ln P(X,Z|θ)]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1200150"/>
            <a:ext cx="5638800" cy="1562100"/>
          </a:xfrm>
          <a:custGeom>
            <a:avLst/>
            <a:gdLst/>
            <a:ahLst/>
            <a:cxnLst/>
            <a:rect l="l" t="t" r="r" b="b"/>
            <a:pathLst>
              <a:path w="5638800" h="1562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1485901"/>
                </a:lnTo>
                <a:cubicBezTo>
                  <a:pt x="5638800" y="1527984"/>
                  <a:pt x="5604684" y="1562100"/>
                  <a:pt x="55626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12001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460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4" name="Text 22"/>
          <p:cNvSpPr/>
          <p:nvPr/>
        </p:nvSpPr>
        <p:spPr>
          <a:xfrm>
            <a:off x="6276975" y="1371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96100" y="1466850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M步：最大化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24600" y="19431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固定隐变量分布，寻找使Q函数最大化的新参数θ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(t+1)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24600" y="226695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91263" y="2266950"/>
            <a:ext cx="540067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θ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(t+1)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arg max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θ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Q(θ,θ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200" y="2895600"/>
            <a:ext cx="5638800" cy="1638300"/>
          </a:xfrm>
          <a:custGeom>
            <a:avLst/>
            <a:gdLst/>
            <a:ahLst/>
            <a:cxnLst/>
            <a:rect l="l" t="t" r="r" b="b"/>
            <a:pathLst>
              <a:path w="5638800" h="16383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1562103"/>
                </a:lnTo>
                <a:cubicBezTo>
                  <a:pt x="5638800" y="1604185"/>
                  <a:pt x="5604685" y="1638300"/>
                  <a:pt x="55626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289560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1" name="Shape 29"/>
          <p:cNvSpPr/>
          <p:nvPr/>
        </p:nvSpPr>
        <p:spPr>
          <a:xfrm>
            <a:off x="6324600" y="3067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2" name="Text 30"/>
          <p:cNvSpPr/>
          <p:nvPr/>
        </p:nvSpPr>
        <p:spPr>
          <a:xfrm>
            <a:off x="6276975" y="30670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96100" y="31623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迭代与收敛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24600" y="363855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重复执行E步和M步，直到满足收敛条件。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24600" y="39624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参数变化量 ||θ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(t+1)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-θ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(t)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|| &lt; 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24600" y="41910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似然增加值 |L(θ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(t+1)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)-L(θ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(t)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)| &lt; 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0050" y="4686300"/>
            <a:ext cx="11410950" cy="895350"/>
          </a:xfrm>
          <a:custGeom>
            <a:avLst/>
            <a:gdLst/>
            <a:ahLst/>
            <a:cxnLst/>
            <a:rect l="l" t="t" r="r" b="b"/>
            <a:pathLst>
              <a:path w="11410950" h="895350">
                <a:moveTo>
                  <a:pt x="38100" y="0"/>
                </a:moveTo>
                <a:lnTo>
                  <a:pt x="11334747" y="0"/>
                </a:lnTo>
                <a:cubicBezTo>
                  <a:pt x="11376833" y="0"/>
                  <a:pt x="11410950" y="34117"/>
                  <a:pt x="11410950" y="76203"/>
                </a:cubicBezTo>
                <a:lnTo>
                  <a:pt x="11410950" y="819147"/>
                </a:lnTo>
                <a:cubicBezTo>
                  <a:pt x="11410950" y="861233"/>
                  <a:pt x="11376833" y="895350"/>
                  <a:pt x="113347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0050" y="4686300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9" name="Shape 37"/>
          <p:cNvSpPr/>
          <p:nvPr/>
        </p:nvSpPr>
        <p:spPr>
          <a:xfrm>
            <a:off x="628650" y="4876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40" name="Text 38"/>
          <p:cNvSpPr/>
          <p:nvPr/>
        </p:nvSpPr>
        <p:spPr>
          <a:xfrm>
            <a:off x="1009650" y="4838700"/>
            <a:ext cx="640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关键理论保证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9650" y="5181600"/>
            <a:ext cx="6391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EM算法理论上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保证似然函数值在每次迭代中单调递增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。最终收敛到局部极大值点（或鞍点）。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经典案例：三硬币模型问题描述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实验设定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600200"/>
            <a:ext cx="5695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假设有三枚硬币A、B、C，正面出现的概率分别为π、p、q。进行如下实验：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962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2900" y="19621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6300" y="1962150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先掷硬币A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6300" y="2266950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正面（概率π）→ 选B；反面（概率1-π）→ 选C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609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B354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2900" y="26098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" y="260985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掷选中的硬币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" y="29146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正面记为1，反面记为0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257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D6C79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32575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6300" y="325755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独立重复实验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6300" y="35623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重复10次，得到观测结果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1000" y="3943350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参数定义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36245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76203" y="0"/>
                </a:moveTo>
                <a:lnTo>
                  <a:pt x="5543547" y="0"/>
                </a:lnTo>
                <a:cubicBezTo>
                  <a:pt x="5585605" y="0"/>
                  <a:pt x="5619750" y="34145"/>
                  <a:pt x="5619750" y="76203"/>
                </a:cubicBezTo>
                <a:lnTo>
                  <a:pt x="5619750" y="1390647"/>
                </a:lnTo>
                <a:cubicBezTo>
                  <a:pt x="5619750" y="1432705"/>
                  <a:pt x="5585605" y="1466850"/>
                  <a:pt x="554354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4514850"/>
          <a:ext cx="5314950" cy="1162050"/>
        </p:xfrm>
        <a:graphic>
          <a:graphicData uri="http://schemas.openxmlformats.org/drawingml/2006/table">
            <a:tbl>
              <a:tblPr/>
              <a:tblGrid>
                <a:gridCol w="200025"/>
                <a:gridCol w="5114925"/>
              </a:tblGrid>
              <a:tr h="38735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硬币A正面的概率（选择B的概率）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硬币B正面的概率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硬币C正面的概率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6191250" y="1181100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变量定义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10300" y="16002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210300" y="16002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4" name="Text 21"/>
          <p:cNvSpPr/>
          <p:nvPr/>
        </p:nvSpPr>
        <p:spPr>
          <a:xfrm>
            <a:off x="6381750" y="175260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观测变量 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81750" y="20955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观测到的0/1结果（共10次）：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81750" y="240030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38100" y="0"/>
                </a:moveTo>
                <a:lnTo>
                  <a:pt x="171450" y="0"/>
                </a:lnTo>
                <a:cubicBezTo>
                  <a:pt x="192492" y="0"/>
                  <a:pt x="209550" y="17058"/>
                  <a:pt x="209550" y="38100"/>
                </a:cubicBezTo>
                <a:lnTo>
                  <a:pt x="209550" y="228600"/>
                </a:lnTo>
                <a:cubicBezTo>
                  <a:pt x="209550" y="249642"/>
                  <a:pt x="192492" y="266700"/>
                  <a:pt x="1714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7" name="Text 24"/>
          <p:cNvSpPr/>
          <p:nvPr/>
        </p:nvSpPr>
        <p:spPr>
          <a:xfrm>
            <a:off x="6381750" y="2400300"/>
            <a:ext cx="2762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625605" y="240030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38100" y="0"/>
                </a:moveTo>
                <a:lnTo>
                  <a:pt x="171450" y="0"/>
                </a:lnTo>
                <a:cubicBezTo>
                  <a:pt x="192492" y="0"/>
                  <a:pt x="209550" y="17058"/>
                  <a:pt x="209550" y="38100"/>
                </a:cubicBezTo>
                <a:lnTo>
                  <a:pt x="209550" y="228600"/>
                </a:lnTo>
                <a:cubicBezTo>
                  <a:pt x="209550" y="249642"/>
                  <a:pt x="192492" y="266700"/>
                  <a:pt x="1714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9" name="Text 26"/>
          <p:cNvSpPr/>
          <p:nvPr/>
        </p:nvSpPr>
        <p:spPr>
          <a:xfrm>
            <a:off x="6625605" y="2400300"/>
            <a:ext cx="2762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869460" y="2400300"/>
            <a:ext cx="238125" cy="266700"/>
          </a:xfrm>
          <a:custGeom>
            <a:avLst/>
            <a:gdLst/>
            <a:ahLst/>
            <a:cxnLst/>
            <a:rect l="l" t="t" r="r" b="b"/>
            <a:pathLst>
              <a:path w="238125" h="266700">
                <a:moveTo>
                  <a:pt x="38100" y="0"/>
                </a:moveTo>
                <a:lnTo>
                  <a:pt x="200025" y="0"/>
                </a:lnTo>
                <a:cubicBezTo>
                  <a:pt x="221053" y="0"/>
                  <a:pt x="238125" y="17072"/>
                  <a:pt x="238125" y="38100"/>
                </a:cubicBezTo>
                <a:lnTo>
                  <a:pt x="238125" y="228600"/>
                </a:lnTo>
                <a:cubicBezTo>
                  <a:pt x="238125" y="249628"/>
                  <a:pt x="221053" y="266700"/>
                  <a:pt x="200025" y="266700"/>
                </a:cubicBezTo>
                <a:lnTo>
                  <a:pt x="38100" y="266700"/>
                </a:lnTo>
                <a:cubicBezTo>
                  <a:pt x="17072" y="266700"/>
                  <a:pt x="0" y="249628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1" name="Text 28"/>
          <p:cNvSpPr/>
          <p:nvPr/>
        </p:nvSpPr>
        <p:spPr>
          <a:xfrm>
            <a:off x="6869460" y="2400300"/>
            <a:ext cx="3048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145089" y="240030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38100" y="0"/>
                </a:moveTo>
                <a:lnTo>
                  <a:pt x="171450" y="0"/>
                </a:lnTo>
                <a:cubicBezTo>
                  <a:pt x="192492" y="0"/>
                  <a:pt x="209550" y="17058"/>
                  <a:pt x="209550" y="38100"/>
                </a:cubicBezTo>
                <a:lnTo>
                  <a:pt x="209550" y="228600"/>
                </a:lnTo>
                <a:cubicBezTo>
                  <a:pt x="209550" y="249642"/>
                  <a:pt x="192492" y="266700"/>
                  <a:pt x="1714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3" name="Text 30"/>
          <p:cNvSpPr/>
          <p:nvPr/>
        </p:nvSpPr>
        <p:spPr>
          <a:xfrm>
            <a:off x="7145089" y="2400300"/>
            <a:ext cx="2762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388944" y="2400300"/>
            <a:ext cx="238125" cy="266700"/>
          </a:xfrm>
          <a:custGeom>
            <a:avLst/>
            <a:gdLst/>
            <a:ahLst/>
            <a:cxnLst/>
            <a:rect l="l" t="t" r="r" b="b"/>
            <a:pathLst>
              <a:path w="238125" h="266700">
                <a:moveTo>
                  <a:pt x="38100" y="0"/>
                </a:moveTo>
                <a:lnTo>
                  <a:pt x="200025" y="0"/>
                </a:lnTo>
                <a:cubicBezTo>
                  <a:pt x="221053" y="0"/>
                  <a:pt x="238125" y="17072"/>
                  <a:pt x="238125" y="38100"/>
                </a:cubicBezTo>
                <a:lnTo>
                  <a:pt x="238125" y="228600"/>
                </a:lnTo>
                <a:cubicBezTo>
                  <a:pt x="238125" y="249628"/>
                  <a:pt x="221053" y="266700"/>
                  <a:pt x="200025" y="266700"/>
                </a:cubicBezTo>
                <a:lnTo>
                  <a:pt x="38100" y="266700"/>
                </a:lnTo>
                <a:cubicBezTo>
                  <a:pt x="17072" y="266700"/>
                  <a:pt x="0" y="249628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5" name="Text 32"/>
          <p:cNvSpPr/>
          <p:nvPr/>
        </p:nvSpPr>
        <p:spPr>
          <a:xfrm>
            <a:off x="7388944" y="2400300"/>
            <a:ext cx="3048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664574" y="2400300"/>
            <a:ext cx="238125" cy="266700"/>
          </a:xfrm>
          <a:custGeom>
            <a:avLst/>
            <a:gdLst/>
            <a:ahLst/>
            <a:cxnLst/>
            <a:rect l="l" t="t" r="r" b="b"/>
            <a:pathLst>
              <a:path w="238125" h="266700">
                <a:moveTo>
                  <a:pt x="38100" y="0"/>
                </a:moveTo>
                <a:lnTo>
                  <a:pt x="200025" y="0"/>
                </a:lnTo>
                <a:cubicBezTo>
                  <a:pt x="221053" y="0"/>
                  <a:pt x="238125" y="17072"/>
                  <a:pt x="238125" y="38100"/>
                </a:cubicBezTo>
                <a:lnTo>
                  <a:pt x="238125" y="228600"/>
                </a:lnTo>
                <a:cubicBezTo>
                  <a:pt x="238125" y="249628"/>
                  <a:pt x="221053" y="266700"/>
                  <a:pt x="200025" y="266700"/>
                </a:cubicBezTo>
                <a:lnTo>
                  <a:pt x="38100" y="266700"/>
                </a:lnTo>
                <a:cubicBezTo>
                  <a:pt x="17072" y="266700"/>
                  <a:pt x="0" y="249628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7" name="Text 34"/>
          <p:cNvSpPr/>
          <p:nvPr/>
        </p:nvSpPr>
        <p:spPr>
          <a:xfrm>
            <a:off x="7664574" y="2400300"/>
            <a:ext cx="3048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940204" y="240030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38100" y="0"/>
                </a:moveTo>
                <a:lnTo>
                  <a:pt x="171450" y="0"/>
                </a:lnTo>
                <a:cubicBezTo>
                  <a:pt x="192492" y="0"/>
                  <a:pt x="209550" y="17058"/>
                  <a:pt x="209550" y="38100"/>
                </a:cubicBezTo>
                <a:lnTo>
                  <a:pt x="209550" y="228600"/>
                </a:lnTo>
                <a:cubicBezTo>
                  <a:pt x="209550" y="249642"/>
                  <a:pt x="192492" y="266700"/>
                  <a:pt x="1714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9" name="Text 36"/>
          <p:cNvSpPr/>
          <p:nvPr/>
        </p:nvSpPr>
        <p:spPr>
          <a:xfrm>
            <a:off x="7940204" y="2400300"/>
            <a:ext cx="2762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184059" y="2400300"/>
            <a:ext cx="238125" cy="266700"/>
          </a:xfrm>
          <a:custGeom>
            <a:avLst/>
            <a:gdLst/>
            <a:ahLst/>
            <a:cxnLst/>
            <a:rect l="l" t="t" r="r" b="b"/>
            <a:pathLst>
              <a:path w="238125" h="266700">
                <a:moveTo>
                  <a:pt x="38100" y="0"/>
                </a:moveTo>
                <a:lnTo>
                  <a:pt x="200025" y="0"/>
                </a:lnTo>
                <a:cubicBezTo>
                  <a:pt x="221053" y="0"/>
                  <a:pt x="238125" y="17072"/>
                  <a:pt x="238125" y="38100"/>
                </a:cubicBezTo>
                <a:lnTo>
                  <a:pt x="238125" y="228600"/>
                </a:lnTo>
                <a:cubicBezTo>
                  <a:pt x="238125" y="249628"/>
                  <a:pt x="221053" y="266700"/>
                  <a:pt x="200025" y="266700"/>
                </a:cubicBezTo>
                <a:lnTo>
                  <a:pt x="38100" y="266700"/>
                </a:lnTo>
                <a:cubicBezTo>
                  <a:pt x="17072" y="266700"/>
                  <a:pt x="0" y="249628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41" name="Text 38"/>
          <p:cNvSpPr/>
          <p:nvPr/>
        </p:nvSpPr>
        <p:spPr>
          <a:xfrm>
            <a:off x="8184059" y="2400300"/>
            <a:ext cx="3048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459688" y="240030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38100" y="0"/>
                </a:moveTo>
                <a:lnTo>
                  <a:pt x="171450" y="0"/>
                </a:lnTo>
                <a:cubicBezTo>
                  <a:pt x="192492" y="0"/>
                  <a:pt x="209550" y="17058"/>
                  <a:pt x="209550" y="38100"/>
                </a:cubicBezTo>
                <a:lnTo>
                  <a:pt x="209550" y="228600"/>
                </a:lnTo>
                <a:cubicBezTo>
                  <a:pt x="209550" y="249642"/>
                  <a:pt x="192492" y="266700"/>
                  <a:pt x="1714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43" name="Text 40"/>
          <p:cNvSpPr/>
          <p:nvPr/>
        </p:nvSpPr>
        <p:spPr>
          <a:xfrm>
            <a:off x="8459688" y="2400300"/>
            <a:ext cx="2762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703543" y="240030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38100" y="0"/>
                </a:moveTo>
                <a:lnTo>
                  <a:pt x="171450" y="0"/>
                </a:lnTo>
                <a:cubicBezTo>
                  <a:pt x="192492" y="0"/>
                  <a:pt x="209550" y="17058"/>
                  <a:pt x="209550" y="38100"/>
                </a:cubicBezTo>
                <a:lnTo>
                  <a:pt x="209550" y="228600"/>
                </a:lnTo>
                <a:cubicBezTo>
                  <a:pt x="209550" y="249642"/>
                  <a:pt x="192492" y="266700"/>
                  <a:pt x="1714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45" name="Text 42"/>
          <p:cNvSpPr/>
          <p:nvPr/>
        </p:nvSpPr>
        <p:spPr>
          <a:xfrm>
            <a:off x="8703543" y="2400300"/>
            <a:ext cx="2762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210300" y="2933700"/>
            <a:ext cx="5600700" cy="876300"/>
          </a:xfrm>
          <a:custGeom>
            <a:avLst/>
            <a:gdLst/>
            <a:ahLst/>
            <a:cxnLst/>
            <a:rect l="l" t="t" r="r" b="b"/>
            <a:pathLst>
              <a:path w="5600700" h="876300">
                <a:moveTo>
                  <a:pt x="38100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800097"/>
                </a:lnTo>
                <a:cubicBezTo>
                  <a:pt x="5600700" y="842183"/>
                  <a:pt x="5566583" y="876300"/>
                  <a:pt x="55244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210300" y="29337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48" name="Text 45"/>
          <p:cNvSpPr/>
          <p:nvPr/>
        </p:nvSpPr>
        <p:spPr>
          <a:xfrm>
            <a:off x="6381750" y="308610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隐变量 Z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381750" y="34290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每次实验选择的是B还是C（不可观测）。z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=1表示选B，z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=0表示选C。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210300" y="3924300"/>
            <a:ext cx="5600700" cy="876300"/>
          </a:xfrm>
          <a:custGeom>
            <a:avLst/>
            <a:gdLst/>
            <a:ahLst/>
            <a:cxnLst/>
            <a:rect l="l" t="t" r="r" b="b"/>
            <a:pathLst>
              <a:path w="5600700" h="876300">
                <a:moveTo>
                  <a:pt x="38100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800097"/>
                </a:lnTo>
                <a:cubicBezTo>
                  <a:pt x="5600700" y="842183"/>
                  <a:pt x="5566583" y="876300"/>
                  <a:pt x="55244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210300" y="39243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52" name="Text 49"/>
          <p:cNvSpPr/>
          <p:nvPr/>
        </p:nvSpPr>
        <p:spPr>
          <a:xfrm>
            <a:off x="6381750" y="407670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 θ = (π, p, q)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381750" y="44196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需要估计的三个参数：选择概率π、硬币B的参数p、硬币C的参数q。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 DERIVATION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三硬币模型：EM算法求解推导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575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E步：计算隐变量的期望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60020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计算在第j次观测中，来自硬币B的后验概率μ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j(t)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924050"/>
            <a:ext cx="5638800" cy="990600"/>
          </a:xfrm>
          <a:custGeom>
            <a:avLst/>
            <a:gdLst/>
            <a:ahLst/>
            <a:cxnLst/>
            <a:rect l="l" t="t" r="r" b="b"/>
            <a:pathLst>
              <a:path w="5638800" h="990600">
                <a:moveTo>
                  <a:pt x="76197" y="0"/>
                </a:moveTo>
                <a:lnTo>
                  <a:pt x="5562603" y="0"/>
                </a:lnTo>
                <a:cubicBezTo>
                  <a:pt x="5604685" y="0"/>
                  <a:pt x="5638800" y="34115"/>
                  <a:pt x="5638800" y="76197"/>
                </a:cubicBezTo>
                <a:lnTo>
                  <a:pt x="5638800" y="914403"/>
                </a:lnTo>
                <a:cubicBezTo>
                  <a:pt x="5638800" y="956485"/>
                  <a:pt x="5604685" y="990600"/>
                  <a:pt x="55626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5300" y="2038350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38100" y="0"/>
                </a:moveTo>
                <a:lnTo>
                  <a:pt x="5372100" y="0"/>
                </a:lnTo>
                <a:cubicBezTo>
                  <a:pt x="5393142" y="0"/>
                  <a:pt x="5410200" y="17058"/>
                  <a:pt x="5410200" y="38100"/>
                </a:cubicBezTo>
                <a:lnTo>
                  <a:pt x="5410200" y="304800"/>
                </a:lnTo>
                <a:cubicBezTo>
                  <a:pt x="5410200" y="325842"/>
                  <a:pt x="5393142" y="342900"/>
                  <a:pt x="5372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61963" y="2038350"/>
            <a:ext cx="547687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μ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P(z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=B | y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θ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5300" y="2457450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38100" y="0"/>
                </a:moveTo>
                <a:lnTo>
                  <a:pt x="5372100" y="0"/>
                </a:lnTo>
                <a:cubicBezTo>
                  <a:pt x="5393142" y="0"/>
                  <a:pt x="5410200" y="17058"/>
                  <a:pt x="5410200" y="38100"/>
                </a:cubicBezTo>
                <a:lnTo>
                  <a:pt x="5410200" y="304800"/>
                </a:lnTo>
                <a:cubicBezTo>
                  <a:pt x="5410200" y="325842"/>
                  <a:pt x="5393142" y="342900"/>
                  <a:pt x="5372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61963" y="2457450"/>
            <a:ext cx="547687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[π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(1-p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1-yj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/ [π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(1-p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1-yj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(1-π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)(q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(1-q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1-yj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" y="3028950"/>
            <a:ext cx="575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M步：更新参数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48050"/>
            <a:ext cx="5619750" cy="876300"/>
          </a:xfrm>
          <a:custGeom>
            <a:avLst/>
            <a:gdLst/>
            <a:ahLst/>
            <a:cxnLst/>
            <a:rect l="l" t="t" r="r" b="b"/>
            <a:pathLst>
              <a:path w="5619750" h="876300">
                <a:moveTo>
                  <a:pt x="38100" y="0"/>
                </a:moveTo>
                <a:lnTo>
                  <a:pt x="5543547" y="0"/>
                </a:lnTo>
                <a:cubicBezTo>
                  <a:pt x="5585633" y="0"/>
                  <a:pt x="5619750" y="34117"/>
                  <a:pt x="5619750" y="76203"/>
                </a:cubicBezTo>
                <a:lnTo>
                  <a:pt x="5619750" y="800097"/>
                </a:lnTo>
                <a:cubicBezTo>
                  <a:pt x="5619750" y="842183"/>
                  <a:pt x="5585633" y="876300"/>
                  <a:pt x="55435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344805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4" name="Text 12"/>
          <p:cNvSpPr/>
          <p:nvPr/>
        </p:nvSpPr>
        <p:spPr>
          <a:xfrm>
            <a:off x="533400" y="3562350"/>
            <a:ext cx="544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更新π：选择B的概率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829050"/>
            <a:ext cx="5372100" cy="381000"/>
          </a:xfrm>
          <a:custGeom>
            <a:avLst/>
            <a:gdLst/>
            <a:ahLst/>
            <a:cxnLst/>
            <a:rect l="l" t="t" r="r" b="b"/>
            <a:pathLst>
              <a:path w="5372100" h="3810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342900"/>
                </a:lnTo>
                <a:cubicBezTo>
                  <a:pt x="5372100" y="363928"/>
                  <a:pt x="5355028" y="381000"/>
                  <a:pt x="53340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5300" y="3829050"/>
            <a:ext cx="544830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(t+1)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(1/n) Σ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j=1n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μ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400550"/>
            <a:ext cx="5619750" cy="876300"/>
          </a:xfrm>
          <a:custGeom>
            <a:avLst/>
            <a:gdLst/>
            <a:ahLst/>
            <a:cxnLst/>
            <a:rect l="l" t="t" r="r" b="b"/>
            <a:pathLst>
              <a:path w="5619750" h="876300">
                <a:moveTo>
                  <a:pt x="38100" y="0"/>
                </a:moveTo>
                <a:lnTo>
                  <a:pt x="5543547" y="0"/>
                </a:lnTo>
                <a:cubicBezTo>
                  <a:pt x="5585633" y="0"/>
                  <a:pt x="5619750" y="34117"/>
                  <a:pt x="5619750" y="76203"/>
                </a:cubicBezTo>
                <a:lnTo>
                  <a:pt x="5619750" y="800097"/>
                </a:lnTo>
                <a:cubicBezTo>
                  <a:pt x="5619750" y="842183"/>
                  <a:pt x="5585633" y="876300"/>
                  <a:pt x="55435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40055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9" name="Text 17"/>
          <p:cNvSpPr/>
          <p:nvPr/>
        </p:nvSpPr>
        <p:spPr>
          <a:xfrm>
            <a:off x="533400" y="4514850"/>
            <a:ext cx="544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更新p：硬币B正面的概率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4781550"/>
            <a:ext cx="5372100" cy="381000"/>
          </a:xfrm>
          <a:custGeom>
            <a:avLst/>
            <a:gdLst/>
            <a:ahLst/>
            <a:cxnLst/>
            <a:rect l="l" t="t" r="r" b="b"/>
            <a:pathLst>
              <a:path w="5372100" h="3810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342900"/>
                </a:lnTo>
                <a:cubicBezTo>
                  <a:pt x="5372100" y="363928"/>
                  <a:pt x="5355028" y="381000"/>
                  <a:pt x="53340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5300" y="4781550"/>
            <a:ext cx="544830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(t+1)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Σμ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Σμ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5353050"/>
            <a:ext cx="5619750" cy="876300"/>
          </a:xfrm>
          <a:custGeom>
            <a:avLst/>
            <a:gdLst/>
            <a:ahLst/>
            <a:cxnLst/>
            <a:rect l="l" t="t" r="r" b="b"/>
            <a:pathLst>
              <a:path w="5619750" h="876300">
                <a:moveTo>
                  <a:pt x="38100" y="0"/>
                </a:moveTo>
                <a:lnTo>
                  <a:pt x="5543547" y="0"/>
                </a:lnTo>
                <a:cubicBezTo>
                  <a:pt x="5585633" y="0"/>
                  <a:pt x="5619750" y="34117"/>
                  <a:pt x="5619750" y="76203"/>
                </a:cubicBezTo>
                <a:lnTo>
                  <a:pt x="5619750" y="800097"/>
                </a:lnTo>
                <a:cubicBezTo>
                  <a:pt x="5619750" y="842183"/>
                  <a:pt x="5585633" y="876300"/>
                  <a:pt x="55435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" y="535305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4" name="Text 22"/>
          <p:cNvSpPr/>
          <p:nvPr/>
        </p:nvSpPr>
        <p:spPr>
          <a:xfrm>
            <a:off x="533400" y="5467350"/>
            <a:ext cx="544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更新q：硬币C正面的概率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3400" y="5734050"/>
            <a:ext cx="5372100" cy="381000"/>
          </a:xfrm>
          <a:custGeom>
            <a:avLst/>
            <a:gdLst/>
            <a:ahLst/>
            <a:cxnLst/>
            <a:rect l="l" t="t" r="r" b="b"/>
            <a:pathLst>
              <a:path w="5372100" h="3810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342900"/>
                </a:lnTo>
                <a:cubicBezTo>
                  <a:pt x="5372100" y="363928"/>
                  <a:pt x="5355028" y="381000"/>
                  <a:pt x="53340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5300" y="5734050"/>
            <a:ext cx="544830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(t+1)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Σ(1-μ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)y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Σ(1-μ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2200" y="1181100"/>
            <a:ext cx="575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迭代计算示例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72200" y="1600200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观测数据：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1,1,0,1,0,0,1,0,1,1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（6正4反）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初始参数：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π(0)=0.4, p(0)=0.6, q(0)=0.7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200" y="2190750"/>
            <a:ext cx="5638800" cy="1714500"/>
          </a:xfrm>
          <a:custGeom>
            <a:avLst/>
            <a:gdLst/>
            <a:ahLst/>
            <a:cxnLst/>
            <a:rect l="l" t="t" r="r" b="b"/>
            <a:pathLst>
              <a:path w="5638800" h="1714500">
                <a:moveTo>
                  <a:pt x="76192" y="0"/>
                </a:moveTo>
                <a:lnTo>
                  <a:pt x="5562608" y="0"/>
                </a:lnTo>
                <a:cubicBezTo>
                  <a:pt x="5604688" y="0"/>
                  <a:pt x="5638800" y="34112"/>
                  <a:pt x="5638800" y="76192"/>
                </a:cubicBezTo>
                <a:lnTo>
                  <a:pt x="5638800" y="1638308"/>
                </a:lnTo>
                <a:cubicBezTo>
                  <a:pt x="5638800" y="1680388"/>
                  <a:pt x="5604688" y="1714500"/>
                  <a:pt x="5562608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24600" y="234315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E步计算 μ</a:t>
            </a:r>
            <a:pPr>
              <a:lnSpc>
                <a:spcPct val="130000"/>
              </a:lnSpc>
            </a:pPr>
            <a:r>
              <a:rPr lang="en-US" sz="101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j(0)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24600" y="268605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对于y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=1的样本：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4600" y="2876550"/>
            <a:ext cx="5334000" cy="304800"/>
          </a:xfrm>
          <a:custGeom>
            <a:avLst/>
            <a:gdLst/>
            <a:ahLst/>
            <a:cxnLst/>
            <a:rect l="l" t="t" r="r" b="b"/>
            <a:pathLst>
              <a:path w="5334000" h="304800">
                <a:moveTo>
                  <a:pt x="38100" y="0"/>
                </a:moveTo>
                <a:lnTo>
                  <a:pt x="5295900" y="0"/>
                </a:lnTo>
                <a:cubicBezTo>
                  <a:pt x="5316928" y="0"/>
                  <a:pt x="5334000" y="17072"/>
                  <a:pt x="5334000" y="38100"/>
                </a:cubicBezTo>
                <a:lnTo>
                  <a:pt x="5334000" y="266700"/>
                </a:lnTo>
                <a:cubicBezTo>
                  <a:pt x="5334000" y="287728"/>
                  <a:pt x="5316928" y="304800"/>
                  <a:pt x="52959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24600" y="2876550"/>
            <a:ext cx="54102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μ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j(0)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(0.4×0.6)/(0.4×0.6+0.6×0.7) ≈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D6C7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0.3636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24600" y="325755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对于y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=0的样本：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4600" y="3448050"/>
            <a:ext cx="5334000" cy="304800"/>
          </a:xfrm>
          <a:custGeom>
            <a:avLst/>
            <a:gdLst/>
            <a:ahLst/>
            <a:cxnLst/>
            <a:rect l="l" t="t" r="r" b="b"/>
            <a:pathLst>
              <a:path w="5334000" h="304800">
                <a:moveTo>
                  <a:pt x="38100" y="0"/>
                </a:moveTo>
                <a:lnTo>
                  <a:pt x="5295900" y="0"/>
                </a:lnTo>
                <a:cubicBezTo>
                  <a:pt x="5316928" y="0"/>
                  <a:pt x="5334000" y="17072"/>
                  <a:pt x="5334000" y="38100"/>
                </a:cubicBezTo>
                <a:lnTo>
                  <a:pt x="5334000" y="266700"/>
                </a:lnTo>
                <a:cubicBezTo>
                  <a:pt x="5334000" y="287728"/>
                  <a:pt x="5316928" y="304800"/>
                  <a:pt x="52959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24600" y="3448050"/>
            <a:ext cx="54102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μ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j(0)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(0.4×0.4)/(0.4×0.4+0.6×0.3) ≈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D6C7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0.4706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2200" y="4019550"/>
            <a:ext cx="5638800" cy="1409700"/>
          </a:xfrm>
          <a:custGeom>
            <a:avLst/>
            <a:gdLst/>
            <a:ahLst/>
            <a:cxnLst/>
            <a:rect l="l" t="t" r="r" b="b"/>
            <a:pathLst>
              <a:path w="5638800" h="1409700">
                <a:moveTo>
                  <a:pt x="76194" y="0"/>
                </a:moveTo>
                <a:lnTo>
                  <a:pt x="5562606" y="0"/>
                </a:lnTo>
                <a:cubicBezTo>
                  <a:pt x="5604658" y="0"/>
                  <a:pt x="5638800" y="34142"/>
                  <a:pt x="5638800" y="76194"/>
                </a:cubicBezTo>
                <a:lnTo>
                  <a:pt x="5638800" y="1333506"/>
                </a:lnTo>
                <a:cubicBezTo>
                  <a:pt x="5638800" y="1375587"/>
                  <a:pt x="5604687" y="1409700"/>
                  <a:pt x="55626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24600" y="417195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M步更新参数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24600" y="451485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(1)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≈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0.4064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24600" y="478155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(1)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≈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0.5368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24600" y="504825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(1)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≈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0.6433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EM算法的应用场景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5619750" cy="1562100"/>
          </a:xfrm>
          <a:custGeom>
            <a:avLst/>
            <a:gdLst/>
            <a:ahLst/>
            <a:cxnLst/>
            <a:rect l="l" t="t" r="r" b="b"/>
            <a:pathLst>
              <a:path w="5619750" h="1562100">
                <a:moveTo>
                  <a:pt x="3810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485901"/>
                </a:lnTo>
                <a:cubicBezTo>
                  <a:pt x="5619750" y="1527984"/>
                  <a:pt x="5585634" y="1562100"/>
                  <a:pt x="554355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1811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Shape 4"/>
          <p:cNvSpPr/>
          <p:nvPr/>
        </p:nvSpPr>
        <p:spPr>
          <a:xfrm>
            <a:off x="623888" y="1409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Text 5"/>
          <p:cNvSpPr/>
          <p:nvPr/>
        </p:nvSpPr>
        <p:spPr>
          <a:xfrm>
            <a:off x="1009650" y="1371600"/>
            <a:ext cx="250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高斯混合模型（GMM）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7907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聚类分析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095500"/>
            <a:ext cx="529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原理：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认为数据由多个高斯分布混合而成。隐变量是样本所属簇。EM用于估计每个簇的均值、方差和权重。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95600"/>
            <a:ext cx="5619750" cy="1562100"/>
          </a:xfrm>
          <a:custGeom>
            <a:avLst/>
            <a:gdLst/>
            <a:ahLst/>
            <a:cxnLst/>
            <a:rect l="l" t="t" r="r" b="b"/>
            <a:pathLst>
              <a:path w="5619750" h="1562100">
                <a:moveTo>
                  <a:pt x="3810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485901"/>
                </a:lnTo>
                <a:cubicBezTo>
                  <a:pt x="5619750" y="1527984"/>
                  <a:pt x="5585634" y="1562100"/>
                  <a:pt x="554355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8956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2" name="Shape 10"/>
          <p:cNvSpPr/>
          <p:nvPr/>
        </p:nvSpPr>
        <p:spPr>
          <a:xfrm>
            <a:off x="638175" y="312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9650" y="3086100"/>
            <a:ext cx="2733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隐马尔可夫模型（HMM）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35052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语音识别、自然语言处理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810000"/>
            <a:ext cx="529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原理：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隐变量是隐藏状态序列。EM（Baum-Welch算法）用于估计状态转移矩阵和发射矩阵。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1250" y="1181100"/>
            <a:ext cx="5619750" cy="1562100"/>
          </a:xfrm>
          <a:custGeom>
            <a:avLst/>
            <a:gdLst/>
            <a:ahLst/>
            <a:cxnLst/>
            <a:rect l="l" t="t" r="r" b="b"/>
            <a:pathLst>
              <a:path w="5619750" h="1562100">
                <a:moveTo>
                  <a:pt x="3810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485901"/>
                </a:lnTo>
                <a:cubicBezTo>
                  <a:pt x="5619750" y="1527984"/>
                  <a:pt x="5585634" y="1562100"/>
                  <a:pt x="554355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1250" y="11811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57950" y="1409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9" name="Text 17"/>
          <p:cNvSpPr/>
          <p:nvPr/>
        </p:nvSpPr>
        <p:spPr>
          <a:xfrm>
            <a:off x="6800850" y="1371600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LDA主题模型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17907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文本主题挖掘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095500"/>
            <a:ext cx="529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原理：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文档中的主题分布和词分布是隐变量。EM用于推断文档-主题分布和主题-词分布。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2895600"/>
            <a:ext cx="5619750" cy="1257300"/>
          </a:xfrm>
          <a:custGeom>
            <a:avLst/>
            <a:gdLst/>
            <a:ahLst/>
            <a:cxnLst/>
            <a:rect l="l" t="t" r="r" b="b"/>
            <a:pathLst>
              <a:path w="5619750" h="125730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1181095"/>
                </a:lnTo>
                <a:cubicBezTo>
                  <a:pt x="5619750" y="1223182"/>
                  <a:pt x="5585632" y="1257300"/>
                  <a:pt x="55435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91250" y="28956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7950" y="3124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35719" y="64294"/>
                </a:moveTo>
                <a:cubicBezTo>
                  <a:pt x="55432" y="64294"/>
                  <a:pt x="71438" y="48289"/>
                  <a:pt x="71438" y="28575"/>
                </a:cubicBezTo>
                <a:cubicBezTo>
                  <a:pt x="71438" y="8861"/>
                  <a:pt x="55432" y="-7144"/>
                  <a:pt x="35719" y="-7144"/>
                </a:cubicBezTo>
                <a:cubicBezTo>
                  <a:pt x="16005" y="-7144"/>
                  <a:pt x="0" y="8861"/>
                  <a:pt x="0" y="28575"/>
                </a:cubicBezTo>
                <a:cubicBezTo>
                  <a:pt x="0" y="48289"/>
                  <a:pt x="16005" y="64294"/>
                  <a:pt x="35719" y="64294"/>
                </a:cubicBezTo>
                <a:close/>
                <a:moveTo>
                  <a:pt x="35719" y="150019"/>
                </a:moveTo>
                <a:cubicBezTo>
                  <a:pt x="55432" y="150019"/>
                  <a:pt x="71438" y="134014"/>
                  <a:pt x="71438" y="114300"/>
                </a:cubicBezTo>
                <a:cubicBezTo>
                  <a:pt x="71438" y="94586"/>
                  <a:pt x="55432" y="78581"/>
                  <a:pt x="35719" y="78581"/>
                </a:cubicBezTo>
                <a:cubicBezTo>
                  <a:pt x="16005" y="78581"/>
                  <a:pt x="0" y="94586"/>
                  <a:pt x="0" y="114300"/>
                </a:cubicBezTo>
                <a:cubicBezTo>
                  <a:pt x="0" y="134014"/>
                  <a:pt x="16005" y="150019"/>
                  <a:pt x="35719" y="150019"/>
                </a:cubicBezTo>
                <a:close/>
                <a:moveTo>
                  <a:pt x="35719" y="210741"/>
                </a:moveTo>
                <a:cubicBezTo>
                  <a:pt x="29781" y="210741"/>
                  <a:pt x="25003" y="205963"/>
                  <a:pt x="25003" y="200025"/>
                </a:cubicBezTo>
                <a:cubicBezTo>
                  <a:pt x="25003" y="194087"/>
                  <a:pt x="29781" y="189309"/>
                  <a:pt x="35719" y="189309"/>
                </a:cubicBezTo>
                <a:cubicBezTo>
                  <a:pt x="41657" y="189309"/>
                  <a:pt x="46434" y="194087"/>
                  <a:pt x="46434" y="200025"/>
                </a:cubicBezTo>
                <a:cubicBezTo>
                  <a:pt x="46434" y="205963"/>
                  <a:pt x="41657" y="210741"/>
                  <a:pt x="35719" y="210741"/>
                </a:cubicBezTo>
                <a:close/>
                <a:moveTo>
                  <a:pt x="35719" y="235744"/>
                </a:moveTo>
                <a:cubicBezTo>
                  <a:pt x="55453" y="235744"/>
                  <a:pt x="71438" y="219760"/>
                  <a:pt x="71438" y="200025"/>
                </a:cubicBezTo>
                <a:cubicBezTo>
                  <a:pt x="71438" y="180290"/>
                  <a:pt x="55453" y="164306"/>
                  <a:pt x="35719" y="164306"/>
                </a:cubicBezTo>
                <a:cubicBezTo>
                  <a:pt x="15984" y="164306"/>
                  <a:pt x="0" y="180290"/>
                  <a:pt x="0" y="200025"/>
                </a:cubicBezTo>
                <a:cubicBezTo>
                  <a:pt x="0" y="219760"/>
                  <a:pt x="15984" y="235744"/>
                  <a:pt x="35719" y="235744"/>
                </a:cubicBezTo>
                <a:close/>
                <a:moveTo>
                  <a:pt x="146447" y="200025"/>
                </a:moveTo>
                <a:cubicBezTo>
                  <a:pt x="146447" y="205963"/>
                  <a:pt x="141669" y="210741"/>
                  <a:pt x="135731" y="210741"/>
                </a:cubicBezTo>
                <a:cubicBezTo>
                  <a:pt x="129793" y="210741"/>
                  <a:pt x="125016" y="205963"/>
                  <a:pt x="125016" y="200025"/>
                </a:cubicBezTo>
                <a:cubicBezTo>
                  <a:pt x="125016" y="194087"/>
                  <a:pt x="129793" y="189309"/>
                  <a:pt x="135731" y="189309"/>
                </a:cubicBezTo>
                <a:cubicBezTo>
                  <a:pt x="141669" y="189309"/>
                  <a:pt x="146447" y="194087"/>
                  <a:pt x="146447" y="200025"/>
                </a:cubicBezTo>
                <a:close/>
                <a:moveTo>
                  <a:pt x="171450" y="200025"/>
                </a:moveTo>
                <a:cubicBezTo>
                  <a:pt x="171450" y="180290"/>
                  <a:pt x="155466" y="164306"/>
                  <a:pt x="135731" y="164306"/>
                </a:cubicBezTo>
                <a:cubicBezTo>
                  <a:pt x="115997" y="164306"/>
                  <a:pt x="100013" y="180290"/>
                  <a:pt x="100013" y="200025"/>
                </a:cubicBezTo>
                <a:cubicBezTo>
                  <a:pt x="100013" y="219760"/>
                  <a:pt x="115997" y="235744"/>
                  <a:pt x="135731" y="235744"/>
                </a:cubicBezTo>
                <a:cubicBezTo>
                  <a:pt x="155466" y="235744"/>
                  <a:pt x="171450" y="219760"/>
                  <a:pt x="171450" y="200025"/>
                </a:cubicBezTo>
                <a:close/>
                <a:moveTo>
                  <a:pt x="135731" y="103584"/>
                </a:moveTo>
                <a:cubicBezTo>
                  <a:pt x="141645" y="103584"/>
                  <a:pt x="146447" y="108386"/>
                  <a:pt x="146447" y="114300"/>
                </a:cubicBezTo>
                <a:cubicBezTo>
                  <a:pt x="146447" y="120214"/>
                  <a:pt x="141645" y="125016"/>
                  <a:pt x="135731" y="125016"/>
                </a:cubicBezTo>
                <a:cubicBezTo>
                  <a:pt x="129817" y="125016"/>
                  <a:pt x="125016" y="120214"/>
                  <a:pt x="125016" y="114300"/>
                </a:cubicBezTo>
                <a:cubicBezTo>
                  <a:pt x="125016" y="108386"/>
                  <a:pt x="129817" y="103584"/>
                  <a:pt x="135731" y="103584"/>
                </a:cubicBezTo>
                <a:close/>
                <a:moveTo>
                  <a:pt x="135731" y="150019"/>
                </a:moveTo>
                <a:cubicBezTo>
                  <a:pt x="155445" y="150019"/>
                  <a:pt x="171450" y="134014"/>
                  <a:pt x="171450" y="114300"/>
                </a:cubicBezTo>
                <a:cubicBezTo>
                  <a:pt x="171450" y="94586"/>
                  <a:pt x="155445" y="78581"/>
                  <a:pt x="135731" y="78581"/>
                </a:cubicBezTo>
                <a:cubicBezTo>
                  <a:pt x="116018" y="78581"/>
                  <a:pt x="100013" y="94586"/>
                  <a:pt x="100013" y="114300"/>
                </a:cubicBezTo>
                <a:cubicBezTo>
                  <a:pt x="100013" y="134014"/>
                  <a:pt x="116018" y="150019"/>
                  <a:pt x="135731" y="150019"/>
                </a:cubicBezTo>
                <a:close/>
                <a:moveTo>
                  <a:pt x="135731" y="64294"/>
                </a:moveTo>
                <a:cubicBezTo>
                  <a:pt x="155445" y="64294"/>
                  <a:pt x="171450" y="48289"/>
                  <a:pt x="171450" y="28575"/>
                </a:cubicBezTo>
                <a:cubicBezTo>
                  <a:pt x="171450" y="8861"/>
                  <a:pt x="155445" y="-7144"/>
                  <a:pt x="135731" y="-7144"/>
                </a:cubicBezTo>
                <a:cubicBezTo>
                  <a:pt x="116018" y="-7144"/>
                  <a:pt x="100013" y="8861"/>
                  <a:pt x="100013" y="28575"/>
                </a:cubicBezTo>
                <a:cubicBezTo>
                  <a:pt x="100013" y="48289"/>
                  <a:pt x="116018" y="64294"/>
                  <a:pt x="135731" y="64294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5" name="Text 23"/>
          <p:cNvSpPr/>
          <p:nvPr/>
        </p:nvSpPr>
        <p:spPr>
          <a:xfrm>
            <a:off x="6800850" y="3086100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K-Means聚类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3505200"/>
            <a:ext cx="529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关系：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K-Means可视为GMM在协方差矩阵为单位阵且混合系数相等时的特例，是EM的一种硬分配变体。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0050" y="4610100"/>
            <a:ext cx="11410950" cy="1143000"/>
          </a:xfrm>
          <a:custGeom>
            <a:avLst/>
            <a:gdLst/>
            <a:ahLst/>
            <a:cxnLst/>
            <a:rect l="l" t="t" r="r" b="b"/>
            <a:pathLst>
              <a:path w="11410950" h="1143000">
                <a:moveTo>
                  <a:pt x="38100" y="0"/>
                </a:moveTo>
                <a:lnTo>
                  <a:pt x="11334746" y="0"/>
                </a:lnTo>
                <a:cubicBezTo>
                  <a:pt x="11376832" y="0"/>
                  <a:pt x="11410950" y="34118"/>
                  <a:pt x="11410950" y="76204"/>
                </a:cubicBezTo>
                <a:lnTo>
                  <a:pt x="11410950" y="1066796"/>
                </a:lnTo>
                <a:cubicBezTo>
                  <a:pt x="11410950" y="1108882"/>
                  <a:pt x="11376832" y="1143000"/>
                  <a:pt x="113347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00050" y="46101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9" name="Shape 27"/>
          <p:cNvSpPr/>
          <p:nvPr/>
        </p:nvSpPr>
        <p:spPr>
          <a:xfrm>
            <a:off x="581025" y="4800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0" name="Text 28"/>
          <p:cNvSpPr/>
          <p:nvPr/>
        </p:nvSpPr>
        <p:spPr>
          <a:xfrm>
            <a:off x="1003697" y="4762500"/>
            <a:ext cx="1074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EM算法的核心地位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3697" y="5105400"/>
            <a:ext cx="10734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EM算法是处理含有隐变量的概率模型参数估计的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通用框架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，是GMM、HMM等许多重要模型的基础。它将复杂的非凸优化问题转化为一系列简单的凸优化子问题。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735" y="369735"/>
            <a:ext cx="11517234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spc="51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735" y="628549"/>
            <a:ext cx="11618911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EM算法优缺点分析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708" y="1173908"/>
            <a:ext cx="277301" cy="277301"/>
          </a:xfrm>
          <a:custGeom>
            <a:avLst/>
            <a:gdLst/>
            <a:ahLst/>
            <a:cxnLst/>
            <a:rect l="l" t="t" r="r" b="b"/>
            <a:pathLst>
              <a:path w="277301" h="277301">
                <a:moveTo>
                  <a:pt x="43328" y="86657"/>
                </a:moveTo>
                <a:cubicBezTo>
                  <a:pt x="52915" y="86657"/>
                  <a:pt x="60660" y="94401"/>
                  <a:pt x="60660" y="103988"/>
                </a:cubicBezTo>
                <a:lnTo>
                  <a:pt x="60660" y="242638"/>
                </a:lnTo>
                <a:cubicBezTo>
                  <a:pt x="60660" y="252225"/>
                  <a:pt x="52915" y="259970"/>
                  <a:pt x="43328" y="259970"/>
                </a:cubicBezTo>
                <a:lnTo>
                  <a:pt x="17331" y="259970"/>
                </a:lnTo>
                <a:cubicBezTo>
                  <a:pt x="7745" y="259970"/>
                  <a:pt x="0" y="252225"/>
                  <a:pt x="0" y="242638"/>
                </a:cubicBezTo>
                <a:lnTo>
                  <a:pt x="0" y="103988"/>
                </a:lnTo>
                <a:cubicBezTo>
                  <a:pt x="0" y="94401"/>
                  <a:pt x="7745" y="86657"/>
                  <a:pt x="17331" y="86657"/>
                </a:cubicBezTo>
                <a:lnTo>
                  <a:pt x="43328" y="86657"/>
                </a:lnTo>
                <a:close/>
                <a:moveTo>
                  <a:pt x="146558" y="8666"/>
                </a:moveTo>
                <a:cubicBezTo>
                  <a:pt x="161344" y="8666"/>
                  <a:pt x="173313" y="20635"/>
                  <a:pt x="173313" y="35421"/>
                </a:cubicBezTo>
                <a:lnTo>
                  <a:pt x="173313" y="37696"/>
                </a:lnTo>
                <a:cubicBezTo>
                  <a:pt x="173313" y="41379"/>
                  <a:pt x="172609" y="45061"/>
                  <a:pt x="171255" y="48474"/>
                </a:cubicBezTo>
                <a:lnTo>
                  <a:pt x="155982" y="86657"/>
                </a:lnTo>
                <a:lnTo>
                  <a:pt x="242638" y="86657"/>
                </a:lnTo>
                <a:cubicBezTo>
                  <a:pt x="256991" y="86657"/>
                  <a:pt x="268635" y="98301"/>
                  <a:pt x="268635" y="112654"/>
                </a:cubicBezTo>
                <a:cubicBezTo>
                  <a:pt x="268635" y="123323"/>
                  <a:pt x="262190" y="132476"/>
                  <a:pt x="252983" y="136484"/>
                </a:cubicBezTo>
                <a:cubicBezTo>
                  <a:pt x="262190" y="140492"/>
                  <a:pt x="268635" y="149645"/>
                  <a:pt x="268635" y="160315"/>
                </a:cubicBezTo>
                <a:cubicBezTo>
                  <a:pt x="268635" y="172988"/>
                  <a:pt x="259536" y="183549"/>
                  <a:pt x="247513" y="185824"/>
                </a:cubicBezTo>
                <a:cubicBezTo>
                  <a:pt x="249896" y="189778"/>
                  <a:pt x="251304" y="194381"/>
                  <a:pt x="251304" y="199310"/>
                </a:cubicBezTo>
                <a:cubicBezTo>
                  <a:pt x="251304" y="211334"/>
                  <a:pt x="243180" y="221408"/>
                  <a:pt x="232131" y="224386"/>
                </a:cubicBezTo>
                <a:cubicBezTo>
                  <a:pt x="233323" y="227365"/>
                  <a:pt x="233973" y="230615"/>
                  <a:pt x="233973" y="233973"/>
                </a:cubicBezTo>
                <a:cubicBezTo>
                  <a:pt x="233973" y="248325"/>
                  <a:pt x="222328" y="259970"/>
                  <a:pt x="207976" y="259970"/>
                </a:cubicBezTo>
                <a:lnTo>
                  <a:pt x="160369" y="259970"/>
                </a:lnTo>
                <a:cubicBezTo>
                  <a:pt x="140709" y="259970"/>
                  <a:pt x="121590" y="253254"/>
                  <a:pt x="106263" y="240959"/>
                </a:cubicBezTo>
                <a:lnTo>
                  <a:pt x="99655" y="235706"/>
                </a:lnTo>
                <a:cubicBezTo>
                  <a:pt x="91423" y="229152"/>
                  <a:pt x="86657" y="219187"/>
                  <a:pt x="86657" y="208626"/>
                </a:cubicBezTo>
                <a:lnTo>
                  <a:pt x="86657" y="107562"/>
                </a:lnTo>
                <a:cubicBezTo>
                  <a:pt x="86657" y="99493"/>
                  <a:pt x="88552" y="91531"/>
                  <a:pt x="92127" y="84328"/>
                </a:cubicBezTo>
                <a:lnTo>
                  <a:pt x="122565" y="23451"/>
                </a:lnTo>
                <a:cubicBezTo>
                  <a:pt x="127114" y="14407"/>
                  <a:pt x="136376" y="8666"/>
                  <a:pt x="146558" y="8666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5" name="Text 3"/>
          <p:cNvSpPr/>
          <p:nvPr/>
        </p:nvSpPr>
        <p:spPr>
          <a:xfrm>
            <a:off x="720983" y="1146177"/>
            <a:ext cx="5407369" cy="33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3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221" y="1626832"/>
            <a:ext cx="5601480" cy="1183151"/>
          </a:xfrm>
          <a:custGeom>
            <a:avLst/>
            <a:gdLst/>
            <a:ahLst/>
            <a:cxnLst/>
            <a:rect l="l" t="t" r="r" b="b"/>
            <a:pathLst>
              <a:path w="5601480" h="1183151">
                <a:moveTo>
                  <a:pt x="36973" y="0"/>
                </a:moveTo>
                <a:lnTo>
                  <a:pt x="5527533" y="0"/>
                </a:lnTo>
                <a:cubicBezTo>
                  <a:pt x="5568373" y="0"/>
                  <a:pt x="5601480" y="33107"/>
                  <a:pt x="5601480" y="73947"/>
                </a:cubicBezTo>
                <a:lnTo>
                  <a:pt x="5601480" y="1109204"/>
                </a:lnTo>
                <a:cubicBezTo>
                  <a:pt x="5601480" y="1150044"/>
                  <a:pt x="5568373" y="1183151"/>
                  <a:pt x="5527533" y="1183151"/>
                </a:cubicBez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8221" y="1626832"/>
            <a:ext cx="36973" cy="1183151"/>
          </a:xfrm>
          <a:custGeom>
            <a:avLst/>
            <a:gdLst/>
            <a:ahLst/>
            <a:cxnLst/>
            <a:rect l="l" t="t" r="r" b="b"/>
            <a:pathLst>
              <a:path w="36973" h="1183151">
                <a:moveTo>
                  <a:pt x="36973" y="0"/>
                </a:moveTo>
                <a:lnTo>
                  <a:pt x="36973" y="0"/>
                </a:lnTo>
                <a:lnTo>
                  <a:pt x="36973" y="1183151"/>
                </a:ln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8" name="Text 6"/>
          <p:cNvSpPr/>
          <p:nvPr/>
        </p:nvSpPr>
        <p:spPr>
          <a:xfrm>
            <a:off x="591575" y="1811700"/>
            <a:ext cx="530569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解决隐变量问题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1575" y="2144461"/>
            <a:ext cx="5287205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是处理含有隐变量的概率模型参数估计的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利器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。通过"猜测-优化"的交替策略，巧妙解决隐变量不可观测导致的优化难题。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8221" y="2957877"/>
            <a:ext cx="5601480" cy="1183151"/>
          </a:xfrm>
          <a:custGeom>
            <a:avLst/>
            <a:gdLst/>
            <a:ahLst/>
            <a:cxnLst/>
            <a:rect l="l" t="t" r="r" b="b"/>
            <a:pathLst>
              <a:path w="5601480" h="1183151">
                <a:moveTo>
                  <a:pt x="36973" y="0"/>
                </a:moveTo>
                <a:lnTo>
                  <a:pt x="5527533" y="0"/>
                </a:lnTo>
                <a:cubicBezTo>
                  <a:pt x="5568373" y="0"/>
                  <a:pt x="5601480" y="33107"/>
                  <a:pt x="5601480" y="73947"/>
                </a:cubicBezTo>
                <a:lnTo>
                  <a:pt x="5601480" y="1109204"/>
                </a:lnTo>
                <a:cubicBezTo>
                  <a:pt x="5601480" y="1150044"/>
                  <a:pt x="5568373" y="1183151"/>
                  <a:pt x="5527533" y="1183151"/>
                </a:cubicBez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88221" y="2957877"/>
            <a:ext cx="36973" cy="1183151"/>
          </a:xfrm>
          <a:custGeom>
            <a:avLst/>
            <a:gdLst/>
            <a:ahLst/>
            <a:cxnLst/>
            <a:rect l="l" t="t" r="r" b="b"/>
            <a:pathLst>
              <a:path w="36973" h="1183151">
                <a:moveTo>
                  <a:pt x="36973" y="0"/>
                </a:moveTo>
                <a:lnTo>
                  <a:pt x="36973" y="0"/>
                </a:lnTo>
                <a:lnTo>
                  <a:pt x="36973" y="1183151"/>
                </a:ln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2" name="Text 10"/>
          <p:cNvSpPr/>
          <p:nvPr/>
        </p:nvSpPr>
        <p:spPr>
          <a:xfrm>
            <a:off x="591575" y="3142745"/>
            <a:ext cx="530569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理论保证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1575" y="3475506"/>
            <a:ext cx="5287205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理论上保证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似然函数值在每次迭代中单调递增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。这一特性确保了算法的收敛性，每次迭代都能带来模型性能的改善。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8221" y="4288922"/>
            <a:ext cx="5601480" cy="1183151"/>
          </a:xfrm>
          <a:custGeom>
            <a:avLst/>
            <a:gdLst/>
            <a:ahLst/>
            <a:cxnLst/>
            <a:rect l="l" t="t" r="r" b="b"/>
            <a:pathLst>
              <a:path w="5601480" h="1183151">
                <a:moveTo>
                  <a:pt x="36973" y="0"/>
                </a:moveTo>
                <a:lnTo>
                  <a:pt x="5527533" y="0"/>
                </a:lnTo>
                <a:cubicBezTo>
                  <a:pt x="5568373" y="0"/>
                  <a:pt x="5601480" y="33107"/>
                  <a:pt x="5601480" y="73947"/>
                </a:cubicBezTo>
                <a:lnTo>
                  <a:pt x="5601480" y="1109204"/>
                </a:lnTo>
                <a:cubicBezTo>
                  <a:pt x="5601480" y="1150044"/>
                  <a:pt x="5568373" y="1183151"/>
                  <a:pt x="5527533" y="1183151"/>
                </a:cubicBez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8221" y="4288922"/>
            <a:ext cx="36973" cy="1183151"/>
          </a:xfrm>
          <a:custGeom>
            <a:avLst/>
            <a:gdLst/>
            <a:ahLst/>
            <a:cxnLst/>
            <a:rect l="l" t="t" r="r" b="b"/>
            <a:pathLst>
              <a:path w="36973" h="1183151">
                <a:moveTo>
                  <a:pt x="36973" y="0"/>
                </a:moveTo>
                <a:lnTo>
                  <a:pt x="36973" y="0"/>
                </a:lnTo>
                <a:lnTo>
                  <a:pt x="36973" y="1183151"/>
                </a:ln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6" name="Text 14"/>
          <p:cNvSpPr/>
          <p:nvPr/>
        </p:nvSpPr>
        <p:spPr>
          <a:xfrm>
            <a:off x="591575" y="4473789"/>
            <a:ext cx="530569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应用广泛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1575" y="4806550"/>
            <a:ext cx="5287205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是GMM、HMM等许多重要模型的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。构成了现代贝叶斯方法（如变分推断）的理论基石。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4399" y="1173908"/>
            <a:ext cx="277301" cy="277301"/>
          </a:xfrm>
          <a:custGeom>
            <a:avLst/>
            <a:gdLst/>
            <a:ahLst/>
            <a:cxnLst/>
            <a:rect l="l" t="t" r="r" b="b"/>
            <a:pathLst>
              <a:path w="277301" h="277301">
                <a:moveTo>
                  <a:pt x="207976" y="17331"/>
                </a:moveTo>
                <a:cubicBezTo>
                  <a:pt x="222328" y="17331"/>
                  <a:pt x="233973" y="28976"/>
                  <a:pt x="233973" y="43328"/>
                </a:cubicBezTo>
                <a:cubicBezTo>
                  <a:pt x="233973" y="46740"/>
                  <a:pt x="233269" y="49936"/>
                  <a:pt x="232131" y="52915"/>
                </a:cubicBezTo>
                <a:cubicBezTo>
                  <a:pt x="243180" y="55893"/>
                  <a:pt x="251304" y="65967"/>
                  <a:pt x="251304" y="77991"/>
                </a:cubicBezTo>
                <a:cubicBezTo>
                  <a:pt x="251304" y="82919"/>
                  <a:pt x="249896" y="87523"/>
                  <a:pt x="247513" y="91477"/>
                </a:cubicBezTo>
                <a:cubicBezTo>
                  <a:pt x="259536" y="93752"/>
                  <a:pt x="268635" y="104313"/>
                  <a:pt x="268635" y="116986"/>
                </a:cubicBezTo>
                <a:cubicBezTo>
                  <a:pt x="268635" y="127656"/>
                  <a:pt x="262190" y="136809"/>
                  <a:pt x="252983" y="140817"/>
                </a:cubicBezTo>
                <a:cubicBezTo>
                  <a:pt x="262190" y="144825"/>
                  <a:pt x="268635" y="153978"/>
                  <a:pt x="268635" y="164647"/>
                </a:cubicBezTo>
                <a:cubicBezTo>
                  <a:pt x="268635" y="179000"/>
                  <a:pt x="256991" y="190644"/>
                  <a:pt x="242638" y="190644"/>
                </a:cubicBezTo>
                <a:lnTo>
                  <a:pt x="155982" y="190644"/>
                </a:lnTo>
                <a:lnTo>
                  <a:pt x="171255" y="228773"/>
                </a:lnTo>
                <a:cubicBezTo>
                  <a:pt x="172609" y="232185"/>
                  <a:pt x="173313" y="235868"/>
                  <a:pt x="173313" y="239551"/>
                </a:cubicBezTo>
                <a:lnTo>
                  <a:pt x="173313" y="241826"/>
                </a:lnTo>
                <a:cubicBezTo>
                  <a:pt x="173313" y="256612"/>
                  <a:pt x="161344" y="268581"/>
                  <a:pt x="146558" y="268581"/>
                </a:cubicBezTo>
                <a:cubicBezTo>
                  <a:pt x="136430" y="268581"/>
                  <a:pt x="127168" y="262840"/>
                  <a:pt x="122619" y="253795"/>
                </a:cubicBezTo>
                <a:lnTo>
                  <a:pt x="92127" y="192973"/>
                </a:lnTo>
                <a:cubicBezTo>
                  <a:pt x="88498" y="185770"/>
                  <a:pt x="86657" y="177808"/>
                  <a:pt x="86657" y="169739"/>
                </a:cubicBezTo>
                <a:lnTo>
                  <a:pt x="86657" y="68675"/>
                </a:lnTo>
                <a:cubicBezTo>
                  <a:pt x="86657" y="58168"/>
                  <a:pt x="91477" y="48203"/>
                  <a:pt x="99655" y="41595"/>
                </a:cubicBezTo>
                <a:lnTo>
                  <a:pt x="106263" y="36342"/>
                </a:lnTo>
                <a:cubicBezTo>
                  <a:pt x="121644" y="24047"/>
                  <a:pt x="140709" y="17331"/>
                  <a:pt x="160369" y="17331"/>
                </a:cubicBezTo>
                <a:lnTo>
                  <a:pt x="207976" y="17331"/>
                </a:lnTo>
                <a:close/>
                <a:moveTo>
                  <a:pt x="43328" y="51994"/>
                </a:moveTo>
                <a:cubicBezTo>
                  <a:pt x="52915" y="51994"/>
                  <a:pt x="60660" y="59739"/>
                  <a:pt x="60660" y="69325"/>
                </a:cubicBezTo>
                <a:lnTo>
                  <a:pt x="60660" y="207976"/>
                </a:lnTo>
                <a:cubicBezTo>
                  <a:pt x="60660" y="217562"/>
                  <a:pt x="52915" y="225307"/>
                  <a:pt x="43328" y="225307"/>
                </a:cubicBezTo>
                <a:lnTo>
                  <a:pt x="17331" y="225307"/>
                </a:lnTo>
                <a:cubicBezTo>
                  <a:pt x="7745" y="225307"/>
                  <a:pt x="0" y="217562"/>
                  <a:pt x="0" y="207976"/>
                </a:cubicBezTo>
                <a:lnTo>
                  <a:pt x="0" y="69325"/>
                </a:lnTo>
                <a:cubicBezTo>
                  <a:pt x="0" y="59739"/>
                  <a:pt x="7745" y="51994"/>
                  <a:pt x="17331" y="51994"/>
                </a:cubicBezTo>
                <a:lnTo>
                  <a:pt x="43328" y="51994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9" name="Text 17"/>
          <p:cNvSpPr/>
          <p:nvPr/>
        </p:nvSpPr>
        <p:spPr>
          <a:xfrm>
            <a:off x="6558674" y="1146177"/>
            <a:ext cx="5407369" cy="33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3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5913" y="1626832"/>
            <a:ext cx="5601480" cy="1183151"/>
          </a:xfrm>
          <a:custGeom>
            <a:avLst/>
            <a:gdLst/>
            <a:ahLst/>
            <a:cxnLst/>
            <a:rect l="l" t="t" r="r" b="b"/>
            <a:pathLst>
              <a:path w="5601480" h="1183151">
                <a:moveTo>
                  <a:pt x="36973" y="0"/>
                </a:moveTo>
                <a:lnTo>
                  <a:pt x="5527533" y="0"/>
                </a:lnTo>
                <a:cubicBezTo>
                  <a:pt x="5568373" y="0"/>
                  <a:pt x="5601480" y="33107"/>
                  <a:pt x="5601480" y="73947"/>
                </a:cubicBezTo>
                <a:lnTo>
                  <a:pt x="5601480" y="1109204"/>
                </a:lnTo>
                <a:cubicBezTo>
                  <a:pt x="5601480" y="1150044"/>
                  <a:pt x="5568373" y="1183151"/>
                  <a:pt x="5527533" y="1183151"/>
                </a:cubicBez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25913" y="1626832"/>
            <a:ext cx="36973" cy="1183151"/>
          </a:xfrm>
          <a:custGeom>
            <a:avLst/>
            <a:gdLst/>
            <a:ahLst/>
            <a:cxnLst/>
            <a:rect l="l" t="t" r="r" b="b"/>
            <a:pathLst>
              <a:path w="36973" h="1183151">
                <a:moveTo>
                  <a:pt x="36973" y="0"/>
                </a:moveTo>
                <a:lnTo>
                  <a:pt x="36973" y="0"/>
                </a:lnTo>
                <a:lnTo>
                  <a:pt x="36973" y="1183151"/>
                </a:ln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2" name="Text 20"/>
          <p:cNvSpPr/>
          <p:nvPr/>
        </p:nvSpPr>
        <p:spPr>
          <a:xfrm>
            <a:off x="6429267" y="1811700"/>
            <a:ext cx="530569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局部最优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29267" y="2144461"/>
            <a:ext cx="5287205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容易陷入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局部极大值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，结果对初始参数敏感。不同的初始值可能导致收敛到不同的局部最优解。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5913" y="2957877"/>
            <a:ext cx="5601480" cy="1183151"/>
          </a:xfrm>
          <a:custGeom>
            <a:avLst/>
            <a:gdLst/>
            <a:ahLst/>
            <a:cxnLst/>
            <a:rect l="l" t="t" r="r" b="b"/>
            <a:pathLst>
              <a:path w="5601480" h="1183151">
                <a:moveTo>
                  <a:pt x="36973" y="0"/>
                </a:moveTo>
                <a:lnTo>
                  <a:pt x="5527533" y="0"/>
                </a:lnTo>
                <a:cubicBezTo>
                  <a:pt x="5568373" y="0"/>
                  <a:pt x="5601480" y="33107"/>
                  <a:pt x="5601480" y="73947"/>
                </a:cubicBezTo>
                <a:lnTo>
                  <a:pt x="5601480" y="1109204"/>
                </a:lnTo>
                <a:cubicBezTo>
                  <a:pt x="5601480" y="1150044"/>
                  <a:pt x="5568373" y="1183151"/>
                  <a:pt x="5527533" y="1183151"/>
                </a:cubicBez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25913" y="2957877"/>
            <a:ext cx="36973" cy="1183151"/>
          </a:xfrm>
          <a:custGeom>
            <a:avLst/>
            <a:gdLst/>
            <a:ahLst/>
            <a:cxnLst/>
            <a:rect l="l" t="t" r="r" b="b"/>
            <a:pathLst>
              <a:path w="36973" h="1183151">
                <a:moveTo>
                  <a:pt x="36973" y="0"/>
                </a:moveTo>
                <a:lnTo>
                  <a:pt x="36973" y="0"/>
                </a:lnTo>
                <a:lnTo>
                  <a:pt x="36973" y="1183151"/>
                </a:ln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6" name="Text 24"/>
          <p:cNvSpPr/>
          <p:nvPr/>
        </p:nvSpPr>
        <p:spPr>
          <a:xfrm>
            <a:off x="6429267" y="3142745"/>
            <a:ext cx="530569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收敛速度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29267" y="3475506"/>
            <a:ext cx="5287205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在某些情况下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收敛速度较慢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。尤其是在接近收敛点时，算法可能出现"锯齿"现象，收敛速度显著下降。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25913" y="4288922"/>
            <a:ext cx="5601480" cy="1183151"/>
          </a:xfrm>
          <a:custGeom>
            <a:avLst/>
            <a:gdLst/>
            <a:ahLst/>
            <a:cxnLst/>
            <a:rect l="l" t="t" r="r" b="b"/>
            <a:pathLst>
              <a:path w="5601480" h="1183151">
                <a:moveTo>
                  <a:pt x="36973" y="0"/>
                </a:moveTo>
                <a:lnTo>
                  <a:pt x="5527533" y="0"/>
                </a:lnTo>
                <a:cubicBezTo>
                  <a:pt x="5568373" y="0"/>
                  <a:pt x="5601480" y="33107"/>
                  <a:pt x="5601480" y="73947"/>
                </a:cubicBezTo>
                <a:lnTo>
                  <a:pt x="5601480" y="1109204"/>
                </a:lnTo>
                <a:cubicBezTo>
                  <a:pt x="5601480" y="1150044"/>
                  <a:pt x="5568373" y="1183151"/>
                  <a:pt x="5527533" y="1183151"/>
                </a:cubicBez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25913" y="4288922"/>
            <a:ext cx="36973" cy="1183151"/>
          </a:xfrm>
          <a:custGeom>
            <a:avLst/>
            <a:gdLst/>
            <a:ahLst/>
            <a:cxnLst/>
            <a:rect l="l" t="t" r="r" b="b"/>
            <a:pathLst>
              <a:path w="36973" h="1183151">
                <a:moveTo>
                  <a:pt x="36973" y="0"/>
                </a:moveTo>
                <a:lnTo>
                  <a:pt x="36973" y="0"/>
                </a:lnTo>
                <a:lnTo>
                  <a:pt x="36973" y="1183151"/>
                </a:lnTo>
                <a:lnTo>
                  <a:pt x="36973" y="1183151"/>
                </a:lnTo>
                <a:cubicBezTo>
                  <a:pt x="16554" y="1183151"/>
                  <a:pt x="0" y="1166597"/>
                  <a:pt x="0" y="114617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0" name="Text 28"/>
          <p:cNvSpPr/>
          <p:nvPr/>
        </p:nvSpPr>
        <p:spPr>
          <a:xfrm>
            <a:off x="6429267" y="4473789"/>
            <a:ext cx="530569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计算成本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29267" y="4806550"/>
            <a:ext cx="5287205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E步可能涉及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复杂的期望计算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，有时需要近似推断方法。对于大规模数据集，每步迭代的计算开销较大。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8221" y="5619967"/>
            <a:ext cx="11434044" cy="868876"/>
          </a:xfrm>
          <a:custGeom>
            <a:avLst/>
            <a:gdLst/>
            <a:ahLst/>
            <a:cxnLst/>
            <a:rect l="l" t="t" r="r" b="b"/>
            <a:pathLst>
              <a:path w="11434044" h="868876">
                <a:moveTo>
                  <a:pt x="36973" y="0"/>
                </a:moveTo>
                <a:lnTo>
                  <a:pt x="11360094" y="0"/>
                </a:lnTo>
                <a:cubicBezTo>
                  <a:pt x="11400935" y="0"/>
                  <a:pt x="11434044" y="33109"/>
                  <a:pt x="11434044" y="73950"/>
                </a:cubicBezTo>
                <a:lnTo>
                  <a:pt x="11434044" y="794926"/>
                </a:lnTo>
                <a:cubicBezTo>
                  <a:pt x="11434044" y="835768"/>
                  <a:pt x="11400935" y="868876"/>
                  <a:pt x="11360094" y="868876"/>
                </a:cubicBezTo>
                <a:lnTo>
                  <a:pt x="36973" y="868876"/>
                </a:lnTo>
                <a:cubicBezTo>
                  <a:pt x="16554" y="868876"/>
                  <a:pt x="0" y="852323"/>
                  <a:pt x="0" y="831903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8221" y="5619967"/>
            <a:ext cx="36973" cy="868876"/>
          </a:xfrm>
          <a:custGeom>
            <a:avLst/>
            <a:gdLst/>
            <a:ahLst/>
            <a:cxnLst/>
            <a:rect l="l" t="t" r="r" b="b"/>
            <a:pathLst>
              <a:path w="36973" h="868876">
                <a:moveTo>
                  <a:pt x="36973" y="0"/>
                </a:moveTo>
                <a:lnTo>
                  <a:pt x="36973" y="0"/>
                </a:lnTo>
                <a:lnTo>
                  <a:pt x="36973" y="868876"/>
                </a:lnTo>
                <a:lnTo>
                  <a:pt x="36973" y="868876"/>
                </a:lnTo>
                <a:cubicBezTo>
                  <a:pt x="16554" y="868876"/>
                  <a:pt x="0" y="852323"/>
                  <a:pt x="0" y="831903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4" name="Shape 32"/>
          <p:cNvSpPr/>
          <p:nvPr/>
        </p:nvSpPr>
        <p:spPr>
          <a:xfrm>
            <a:off x="582332" y="5804834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110920" y="0"/>
                </a:moveTo>
                <a:cubicBezTo>
                  <a:pt x="117290" y="0"/>
                  <a:pt x="123139" y="3510"/>
                  <a:pt x="126172" y="9099"/>
                </a:cubicBezTo>
                <a:lnTo>
                  <a:pt x="219761" y="182412"/>
                </a:lnTo>
                <a:cubicBezTo>
                  <a:pt x="222664" y="187785"/>
                  <a:pt x="222534" y="194284"/>
                  <a:pt x="219414" y="199527"/>
                </a:cubicBezTo>
                <a:cubicBezTo>
                  <a:pt x="216295" y="204769"/>
                  <a:pt x="210619" y="207976"/>
                  <a:pt x="204509" y="207976"/>
                </a:cubicBezTo>
                <a:lnTo>
                  <a:pt x="17331" y="207976"/>
                </a:lnTo>
                <a:cubicBezTo>
                  <a:pt x="11222" y="207976"/>
                  <a:pt x="5589" y="204769"/>
                  <a:pt x="2426" y="199527"/>
                </a:cubicBezTo>
                <a:cubicBezTo>
                  <a:pt x="-737" y="194284"/>
                  <a:pt x="-823" y="187785"/>
                  <a:pt x="2080" y="182412"/>
                </a:cubicBezTo>
                <a:lnTo>
                  <a:pt x="95669" y="9099"/>
                </a:lnTo>
                <a:cubicBezTo>
                  <a:pt x="98702" y="3510"/>
                  <a:pt x="104551" y="0"/>
                  <a:pt x="110920" y="0"/>
                </a:cubicBezTo>
                <a:close/>
                <a:moveTo>
                  <a:pt x="110920" y="72792"/>
                </a:moveTo>
                <a:cubicBezTo>
                  <a:pt x="105158" y="72792"/>
                  <a:pt x="100522" y="77428"/>
                  <a:pt x="100522" y="83190"/>
                </a:cubicBezTo>
                <a:lnTo>
                  <a:pt x="100522" y="131718"/>
                </a:lnTo>
                <a:cubicBezTo>
                  <a:pt x="100522" y="137481"/>
                  <a:pt x="105158" y="142117"/>
                  <a:pt x="110920" y="142117"/>
                </a:cubicBezTo>
                <a:cubicBezTo>
                  <a:pt x="116683" y="142117"/>
                  <a:pt x="121319" y="137481"/>
                  <a:pt x="121319" y="131718"/>
                </a:cubicBezTo>
                <a:lnTo>
                  <a:pt x="121319" y="83190"/>
                </a:lnTo>
                <a:cubicBezTo>
                  <a:pt x="121319" y="77428"/>
                  <a:pt x="116683" y="72792"/>
                  <a:pt x="110920" y="72792"/>
                </a:cubicBezTo>
                <a:close/>
                <a:moveTo>
                  <a:pt x="122489" y="166381"/>
                </a:moveTo>
                <a:cubicBezTo>
                  <a:pt x="122752" y="162086"/>
                  <a:pt x="120611" y="158001"/>
                  <a:pt x="116930" y="155774"/>
                </a:cubicBezTo>
                <a:cubicBezTo>
                  <a:pt x="113248" y="153548"/>
                  <a:pt x="108636" y="153548"/>
                  <a:pt x="104955" y="155774"/>
                </a:cubicBezTo>
                <a:cubicBezTo>
                  <a:pt x="101273" y="158001"/>
                  <a:pt x="99132" y="162086"/>
                  <a:pt x="99395" y="166381"/>
                </a:cubicBezTo>
                <a:cubicBezTo>
                  <a:pt x="99132" y="170675"/>
                  <a:pt x="101273" y="174760"/>
                  <a:pt x="104955" y="176987"/>
                </a:cubicBezTo>
                <a:cubicBezTo>
                  <a:pt x="108636" y="179214"/>
                  <a:pt x="113248" y="179214"/>
                  <a:pt x="116930" y="176987"/>
                </a:cubicBezTo>
                <a:cubicBezTo>
                  <a:pt x="120611" y="174760"/>
                  <a:pt x="122752" y="170675"/>
                  <a:pt x="122489" y="166381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5" name="Text 33"/>
          <p:cNvSpPr/>
          <p:nvPr/>
        </p:nvSpPr>
        <p:spPr>
          <a:xfrm>
            <a:off x="979797" y="5767861"/>
            <a:ext cx="959461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实践建议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9797" y="6100622"/>
            <a:ext cx="9585371" cy="24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为缓解局部最优问题，通常采用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多次随机初始化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或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使用简单算法（如K-Means）预热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。对于大规模数据，可考虑随机EM或mini-batch EM等变体。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1735739b2830c710fc0c2274dd56e1a69a1894a8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5751" r="575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252538"/>
            <a:ext cx="6972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5D6C79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624138"/>
            <a:ext cx="6686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第三章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高斯混合模型（GMM）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2814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5481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概率生成模型的典范：GMM的原理、应用与实践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24463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0"/>
                </a:lnTo>
                <a:lnTo>
                  <a:pt x="762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D6C79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224463"/>
            <a:ext cx="8382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软聚类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57300" y="5224463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0"/>
                </a:moveTo>
                <a:lnTo>
                  <a:pt x="914400" y="0"/>
                </a:lnTo>
                <a:lnTo>
                  <a:pt x="914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D6C79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57300" y="5224463"/>
            <a:ext cx="9906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概率模型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86000" y="5224463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0"/>
                </a:moveTo>
                <a:lnTo>
                  <a:pt x="914400" y="0"/>
                </a:lnTo>
                <a:lnTo>
                  <a:pt x="914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D6C79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0" y="5224463"/>
            <a:ext cx="9906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高斯分布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14700" y="5224463"/>
            <a:ext cx="828675" cy="381000"/>
          </a:xfrm>
          <a:custGeom>
            <a:avLst/>
            <a:gdLst/>
            <a:ahLst/>
            <a:cxnLst/>
            <a:rect l="l" t="t" r="r" b="b"/>
            <a:pathLst>
              <a:path w="828675" h="381000">
                <a:moveTo>
                  <a:pt x="0" y="0"/>
                </a:moveTo>
                <a:lnTo>
                  <a:pt x="828675" y="0"/>
                </a:lnTo>
                <a:lnTo>
                  <a:pt x="8286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D6C79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314700" y="5224463"/>
            <a:ext cx="904875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EM应用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GMM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GMM核心概念：软聚类的概率模型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575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基本定义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600200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高斯混合模型（GMM）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是一种概率模型，假设所有数据点由有限个高斯分布混合生成。广泛用于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数据聚类、概率密度估计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2209800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43545" y="0"/>
                </a:lnTo>
                <a:cubicBezTo>
                  <a:pt x="5585604" y="0"/>
                  <a:pt x="5619750" y="34146"/>
                  <a:pt x="5619750" y="76205"/>
                </a:cubicBezTo>
                <a:lnTo>
                  <a:pt x="5619750" y="1104895"/>
                </a:lnTo>
                <a:cubicBezTo>
                  <a:pt x="5619750" y="1146982"/>
                  <a:pt x="5585632" y="1181100"/>
                  <a:pt x="554354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22098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2362200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直观理解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7051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多模态分布：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现实数据常有多个"峰值"，GMM通过组合多个高斯分布来拟合。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30099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概率归属：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与K-Means不同，GMM给出数据点属于每个簇的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" y="3505200"/>
            <a:ext cx="575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 vs K-Means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924300"/>
            <a:ext cx="5638800" cy="2257425"/>
          </a:xfrm>
          <a:custGeom>
            <a:avLst/>
            <a:gdLst/>
            <a:ahLst/>
            <a:cxnLst/>
            <a:rect l="l" t="t" r="r" b="b"/>
            <a:pathLst>
              <a:path w="5638800" h="2257425">
                <a:moveTo>
                  <a:pt x="76211" y="0"/>
                </a:moveTo>
                <a:lnTo>
                  <a:pt x="5562589" y="0"/>
                </a:lnTo>
                <a:cubicBezTo>
                  <a:pt x="5604679" y="0"/>
                  <a:pt x="5638800" y="34121"/>
                  <a:pt x="5638800" y="76211"/>
                </a:cubicBezTo>
                <a:lnTo>
                  <a:pt x="5638800" y="2181214"/>
                </a:lnTo>
                <a:cubicBezTo>
                  <a:pt x="5638800" y="2223304"/>
                  <a:pt x="5604679" y="2257425"/>
                  <a:pt x="5562589" y="2257425"/>
                </a:cubicBezTo>
                <a:lnTo>
                  <a:pt x="76211" y="2257425"/>
                </a:lnTo>
                <a:cubicBezTo>
                  <a:pt x="34121" y="2257425"/>
                  <a:pt x="0" y="2223304"/>
                  <a:pt x="0" y="2181214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4076700"/>
          <a:ext cx="5334000" cy="1952625"/>
        </p:xfrm>
        <a:graphic>
          <a:graphicData uri="http://schemas.openxmlformats.org/drawingml/2006/table">
            <a:tbl>
              <a:tblPr/>
              <a:tblGrid>
                <a:gridCol w="1924050"/>
                <a:gridCol w="1438275"/>
                <a:gridCol w="1971675"/>
              </a:tblGrid>
              <a:tr h="39052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GMM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K-Means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聚类类型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软聚类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硬聚类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簇形状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椭圆形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球形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概率输出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B3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鲁棒性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B3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172200" y="1181100"/>
            <a:ext cx="575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数学表达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72200" y="16002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假设数据x由K个高斯分布混合而成：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72200" y="1905000"/>
            <a:ext cx="5638800" cy="2438400"/>
          </a:xfrm>
          <a:custGeom>
            <a:avLst/>
            <a:gdLst/>
            <a:ahLst/>
            <a:cxnLst/>
            <a:rect l="l" t="t" r="r" b="b"/>
            <a:pathLst>
              <a:path w="5638800" h="2438400">
                <a:moveTo>
                  <a:pt x="76200" y="0"/>
                </a:moveTo>
                <a:lnTo>
                  <a:pt x="5562600" y="0"/>
                </a:lnTo>
                <a:cubicBezTo>
                  <a:pt x="5604656" y="0"/>
                  <a:pt x="5638800" y="34144"/>
                  <a:pt x="5638800" y="76200"/>
                </a:cubicBezTo>
                <a:lnTo>
                  <a:pt x="5638800" y="2362200"/>
                </a:lnTo>
                <a:cubicBezTo>
                  <a:pt x="5638800" y="2404256"/>
                  <a:pt x="5604656" y="2438400"/>
                  <a:pt x="5562600" y="2438400"/>
                </a:cubicBezTo>
                <a:lnTo>
                  <a:pt x="76200" y="2438400"/>
                </a:lnTo>
                <a:cubicBezTo>
                  <a:pt x="34144" y="2438400"/>
                  <a:pt x="0" y="2404256"/>
                  <a:pt x="0" y="2362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324600" y="2057400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38098" y="0"/>
                </a:moveTo>
                <a:lnTo>
                  <a:pt x="5295902" y="0"/>
                </a:lnTo>
                <a:cubicBezTo>
                  <a:pt x="5316943" y="0"/>
                  <a:pt x="5334000" y="17057"/>
                  <a:pt x="5334000" y="38098"/>
                </a:cubicBezTo>
                <a:lnTo>
                  <a:pt x="5334000" y="457202"/>
                </a:lnTo>
                <a:cubicBezTo>
                  <a:pt x="5334000" y="478243"/>
                  <a:pt x="5316943" y="495300"/>
                  <a:pt x="52959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281738" y="2057400"/>
            <a:ext cx="5419725" cy="4953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p(x|Θ) = Σ</a:t>
            </a:r>
            <a:pPr algn="ctr">
              <a:lnSpc>
                <a:spcPct val="130000"/>
              </a:lnSpc>
            </a:pPr>
            <a:r>
              <a:rPr lang="en-US" sz="101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k=1K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π</a:t>
            </a:r>
            <a:pPr algn="ctr">
              <a:lnSpc>
                <a:spcPct val="130000"/>
              </a:lnSpc>
            </a:pPr>
            <a:r>
              <a:rPr lang="en-US" sz="101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N(x|μ</a:t>
            </a:r>
            <a:pPr algn="ctr">
              <a:lnSpc>
                <a:spcPct val="130000"/>
              </a:lnSpc>
            </a:pPr>
            <a:r>
              <a:rPr lang="en-US" sz="101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Σ</a:t>
            </a:r>
            <a:pPr algn="ctr">
              <a:lnSpc>
                <a:spcPct val="130000"/>
              </a:lnSpc>
            </a:pPr>
            <a:r>
              <a:rPr lang="en-US" sz="101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24600" y="266700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24600" y="29337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混合的高斯分布数量（簇的个数）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24600" y="320040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</a:t>
            </a:r>
            <a:pPr>
              <a:lnSpc>
                <a:spcPct val="130000"/>
              </a:lnSpc>
            </a:pPr>
            <a:r>
              <a:rPr lang="en-US" sz="9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24600" y="34671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第k个高斯分布的混合权重，满足Σπ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=1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24600" y="373380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N(x|μ</a:t>
            </a:r>
            <a:pPr>
              <a:lnSpc>
                <a:spcPct val="130000"/>
              </a:lnSpc>
            </a:pPr>
            <a:r>
              <a:rPr lang="en-US" sz="9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Σ</a:t>
            </a:r>
            <a:pPr>
              <a:lnSpc>
                <a:spcPct val="130000"/>
              </a:lnSpc>
            </a:pPr>
            <a:r>
              <a:rPr lang="en-US" sz="9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24600" y="40005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第k个高斯分量，均值为μ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，协方差为Σ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91250" y="4457700"/>
            <a:ext cx="5619750" cy="1390650"/>
          </a:xfrm>
          <a:custGeom>
            <a:avLst/>
            <a:gdLst/>
            <a:ahLst/>
            <a:cxnLst/>
            <a:rect l="l" t="t" r="r" b="b"/>
            <a:pathLst>
              <a:path w="5619750" h="1390650">
                <a:moveTo>
                  <a:pt x="38100" y="0"/>
                </a:moveTo>
                <a:lnTo>
                  <a:pt x="5543556" y="0"/>
                </a:lnTo>
                <a:cubicBezTo>
                  <a:pt x="5585609" y="0"/>
                  <a:pt x="5619750" y="34141"/>
                  <a:pt x="5619750" y="76194"/>
                </a:cubicBezTo>
                <a:lnTo>
                  <a:pt x="5619750" y="1314456"/>
                </a:lnTo>
                <a:cubicBezTo>
                  <a:pt x="5619750" y="1356509"/>
                  <a:pt x="5585609" y="1390650"/>
                  <a:pt x="55435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191250" y="44577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7" name="Text 24"/>
          <p:cNvSpPr/>
          <p:nvPr/>
        </p:nvSpPr>
        <p:spPr>
          <a:xfrm>
            <a:off x="6362700" y="4610100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为什么需要EM？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62700" y="4953000"/>
            <a:ext cx="5372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由于存在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隐变量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（每个数据点具体来自哪个高斯分量未知），直接使用MLE会导致对数似然函数极其复杂且非凸。因此GMM通常采用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进行迭代求解。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GMM应用场景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5600700" cy="1600200"/>
          </a:xfrm>
          <a:custGeom>
            <a:avLst/>
            <a:gdLst/>
            <a:ahLst/>
            <a:cxnLst/>
            <a:rect l="l" t="t" r="r" b="b"/>
            <a:pathLst>
              <a:path w="5600700" h="16002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1523998"/>
                </a:lnTo>
                <a:cubicBezTo>
                  <a:pt x="5600700" y="1566083"/>
                  <a:pt x="5566583" y="1600200"/>
                  <a:pt x="552449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1811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Shape 4"/>
          <p:cNvSpPr/>
          <p:nvPr/>
        </p:nvSpPr>
        <p:spPr>
          <a:xfrm>
            <a:off x="638175" y="140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Text 5"/>
          <p:cNvSpPr/>
          <p:nvPr/>
        </p:nvSpPr>
        <p:spPr>
          <a:xfrm>
            <a:off x="1009650" y="1371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聚类分析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7907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客户细分、用户画像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0955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不强制假设簇为球形，能处理形状各异或重叠较大的复杂簇结构。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40030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相比K-Means，GMM提供更丰富的概率信息。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933700"/>
            <a:ext cx="5600700" cy="1333500"/>
          </a:xfrm>
          <a:custGeom>
            <a:avLst/>
            <a:gdLst/>
            <a:ahLst/>
            <a:cxnLst/>
            <a:rect l="l" t="t" r="r" b="b"/>
            <a:pathLst>
              <a:path w="5600700" h="133350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257304"/>
                </a:lnTo>
                <a:cubicBezTo>
                  <a:pt x="5600700" y="1299386"/>
                  <a:pt x="5566586" y="1333500"/>
                  <a:pt x="5524504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9337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3" name="Shape 11"/>
          <p:cNvSpPr/>
          <p:nvPr/>
        </p:nvSpPr>
        <p:spPr>
          <a:xfrm>
            <a:off x="652463" y="3162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650" y="31242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图像分割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5433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前景/背景分离、医学影像分析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8481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将图像像素的RGB值作为特征输入，GMM将像素聚类为不同区域。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0300" y="1181100"/>
            <a:ext cx="5600700" cy="1333500"/>
          </a:xfrm>
          <a:custGeom>
            <a:avLst/>
            <a:gdLst/>
            <a:ahLst/>
            <a:cxnLst/>
            <a:rect l="l" t="t" r="r" b="b"/>
            <a:pathLst>
              <a:path w="5600700" h="133350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257304"/>
                </a:lnTo>
                <a:cubicBezTo>
                  <a:pt x="5600700" y="1299386"/>
                  <a:pt x="5566586" y="1333500"/>
                  <a:pt x="5524504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10300" y="11811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8425" y="140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0" name="Text 18"/>
          <p:cNvSpPr/>
          <p:nvPr/>
        </p:nvSpPr>
        <p:spPr>
          <a:xfrm>
            <a:off x="6819900" y="1371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异常检测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9850" y="17907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金融欺诈检测、设备故障预警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850" y="20955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模型拟合正常数据的分布，概率密度低于阈值的数据点判定为异常。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2667000"/>
            <a:ext cx="5600700" cy="1333500"/>
          </a:xfrm>
          <a:custGeom>
            <a:avLst/>
            <a:gdLst/>
            <a:ahLst/>
            <a:cxnLst/>
            <a:rect l="l" t="t" r="r" b="b"/>
            <a:pathLst>
              <a:path w="5600700" h="133350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257304"/>
                </a:lnTo>
                <a:cubicBezTo>
                  <a:pt x="5600700" y="1299386"/>
                  <a:pt x="5566586" y="1333500"/>
                  <a:pt x="5524504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10300" y="26670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28956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19900" y="28575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语音识别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19850" y="32766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传统HMM-GMM语音识别框架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9850" y="35814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对语音信号的频谱特征进行建模，捕捉不同语音单元的统计特性。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419600"/>
            <a:ext cx="11410950" cy="1143000"/>
          </a:xfrm>
          <a:custGeom>
            <a:avLst/>
            <a:gdLst/>
            <a:ahLst/>
            <a:cxnLst/>
            <a:rect l="l" t="t" r="r" b="b"/>
            <a:pathLst>
              <a:path w="11410950" h="1143000">
                <a:moveTo>
                  <a:pt x="38100" y="0"/>
                </a:moveTo>
                <a:lnTo>
                  <a:pt x="11334746" y="0"/>
                </a:lnTo>
                <a:cubicBezTo>
                  <a:pt x="11376832" y="0"/>
                  <a:pt x="11410950" y="34118"/>
                  <a:pt x="11410950" y="76204"/>
                </a:cubicBezTo>
                <a:lnTo>
                  <a:pt x="11410950" y="1066796"/>
                </a:lnTo>
                <a:cubicBezTo>
                  <a:pt x="11410950" y="1108882"/>
                  <a:pt x="11376832" y="1143000"/>
                  <a:pt x="113347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4196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1" name="Shape 29"/>
          <p:cNvSpPr/>
          <p:nvPr/>
        </p:nvSpPr>
        <p:spPr>
          <a:xfrm>
            <a:off x="619125" y="4610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2" name="Text 30"/>
          <p:cNvSpPr/>
          <p:nvPr/>
        </p:nvSpPr>
        <p:spPr>
          <a:xfrm>
            <a:off x="987326" y="4572000"/>
            <a:ext cx="10753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GMM的核心优势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7326" y="4914900"/>
            <a:ext cx="1074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GMM的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灵活性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使其能够逼近任意形状的概率分布。通过调整协方差矩阵，GMM可以描述簇的旋转、拉伸等不同方向上的方差特性，这使其在处理复杂真实数据时表现出色。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650" y="344650"/>
            <a:ext cx="1156301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spc="47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650" y="585905"/>
            <a:ext cx="1165779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GMM优缺点分析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115" y="1094264"/>
            <a:ext cx="258488" cy="258488"/>
          </a:xfrm>
          <a:custGeom>
            <a:avLst/>
            <a:gdLst/>
            <a:ahLst/>
            <a:cxnLst/>
            <a:rect l="l" t="t" r="r" b="b"/>
            <a:pathLst>
              <a:path w="258488" h="258488">
                <a:moveTo>
                  <a:pt x="40389" y="80777"/>
                </a:moveTo>
                <a:cubicBezTo>
                  <a:pt x="49325" y="80777"/>
                  <a:pt x="56544" y="87997"/>
                  <a:pt x="56544" y="96933"/>
                </a:cubicBezTo>
                <a:lnTo>
                  <a:pt x="56544" y="226177"/>
                </a:lnTo>
                <a:cubicBezTo>
                  <a:pt x="56544" y="235113"/>
                  <a:pt x="49325" y="242332"/>
                  <a:pt x="40389" y="242332"/>
                </a:cubicBezTo>
                <a:lnTo>
                  <a:pt x="16155" y="242332"/>
                </a:lnTo>
                <a:cubicBezTo>
                  <a:pt x="7219" y="242332"/>
                  <a:pt x="0" y="235113"/>
                  <a:pt x="0" y="226177"/>
                </a:cubicBezTo>
                <a:lnTo>
                  <a:pt x="0" y="96933"/>
                </a:lnTo>
                <a:cubicBezTo>
                  <a:pt x="0" y="87997"/>
                  <a:pt x="7219" y="80777"/>
                  <a:pt x="16155" y="80777"/>
                </a:cubicBezTo>
                <a:lnTo>
                  <a:pt x="40389" y="80777"/>
                </a:lnTo>
                <a:close/>
                <a:moveTo>
                  <a:pt x="136615" y="8078"/>
                </a:moveTo>
                <a:cubicBezTo>
                  <a:pt x="150397" y="8078"/>
                  <a:pt x="161555" y="19235"/>
                  <a:pt x="161555" y="33018"/>
                </a:cubicBezTo>
                <a:lnTo>
                  <a:pt x="161555" y="35138"/>
                </a:lnTo>
                <a:cubicBezTo>
                  <a:pt x="161555" y="38571"/>
                  <a:pt x="160898" y="42004"/>
                  <a:pt x="159636" y="45185"/>
                </a:cubicBezTo>
                <a:lnTo>
                  <a:pt x="145399" y="80777"/>
                </a:lnTo>
                <a:lnTo>
                  <a:pt x="226177" y="80777"/>
                </a:lnTo>
                <a:cubicBezTo>
                  <a:pt x="239555" y="80777"/>
                  <a:pt x="250410" y="91632"/>
                  <a:pt x="250410" y="105011"/>
                </a:cubicBezTo>
                <a:cubicBezTo>
                  <a:pt x="250410" y="114956"/>
                  <a:pt x="244402" y="123488"/>
                  <a:pt x="235819" y="127224"/>
                </a:cubicBezTo>
                <a:cubicBezTo>
                  <a:pt x="244402" y="130960"/>
                  <a:pt x="250410" y="139492"/>
                  <a:pt x="250410" y="149438"/>
                </a:cubicBezTo>
                <a:cubicBezTo>
                  <a:pt x="250410" y="161252"/>
                  <a:pt x="241928" y="171097"/>
                  <a:pt x="230720" y="173217"/>
                </a:cubicBezTo>
                <a:cubicBezTo>
                  <a:pt x="232942" y="176902"/>
                  <a:pt x="234254" y="181194"/>
                  <a:pt x="234254" y="185788"/>
                </a:cubicBezTo>
                <a:cubicBezTo>
                  <a:pt x="234254" y="196996"/>
                  <a:pt x="226682" y="206386"/>
                  <a:pt x="216382" y="209163"/>
                </a:cubicBezTo>
                <a:cubicBezTo>
                  <a:pt x="217493" y="211940"/>
                  <a:pt x="218099" y="214969"/>
                  <a:pt x="218099" y="218099"/>
                </a:cubicBezTo>
                <a:cubicBezTo>
                  <a:pt x="218099" y="231478"/>
                  <a:pt x="207244" y="242332"/>
                  <a:pt x="193866" y="242332"/>
                </a:cubicBezTo>
                <a:lnTo>
                  <a:pt x="149489" y="242332"/>
                </a:lnTo>
                <a:cubicBezTo>
                  <a:pt x="131162" y="242332"/>
                  <a:pt x="113341" y="236072"/>
                  <a:pt x="99053" y="224612"/>
                </a:cubicBezTo>
                <a:lnTo>
                  <a:pt x="92894" y="219714"/>
                </a:lnTo>
                <a:cubicBezTo>
                  <a:pt x="85220" y="213606"/>
                  <a:pt x="80777" y="204316"/>
                  <a:pt x="80777" y="194472"/>
                </a:cubicBezTo>
                <a:lnTo>
                  <a:pt x="80777" y="100265"/>
                </a:lnTo>
                <a:cubicBezTo>
                  <a:pt x="80777" y="92743"/>
                  <a:pt x="82544" y="85321"/>
                  <a:pt x="85876" y="78606"/>
                </a:cubicBezTo>
                <a:lnTo>
                  <a:pt x="114250" y="21860"/>
                </a:lnTo>
                <a:cubicBezTo>
                  <a:pt x="118490" y="13429"/>
                  <a:pt x="127123" y="8078"/>
                  <a:pt x="136615" y="8078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5" name="Text 3"/>
          <p:cNvSpPr/>
          <p:nvPr/>
        </p:nvSpPr>
        <p:spPr>
          <a:xfrm>
            <a:off x="672068" y="1068416"/>
            <a:ext cx="5454089" cy="31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35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1883" y="1516461"/>
            <a:ext cx="5635030" cy="1102881"/>
          </a:xfrm>
          <a:custGeom>
            <a:avLst/>
            <a:gdLst/>
            <a:ahLst/>
            <a:cxnLst/>
            <a:rect l="l" t="t" r="r" b="b"/>
            <a:pathLst>
              <a:path w="5635030" h="1102881">
                <a:moveTo>
                  <a:pt x="34465" y="0"/>
                </a:moveTo>
                <a:lnTo>
                  <a:pt x="5566100" y="0"/>
                </a:lnTo>
                <a:cubicBezTo>
                  <a:pt x="5604169" y="0"/>
                  <a:pt x="5635030" y="30861"/>
                  <a:pt x="5635030" y="68930"/>
                </a:cubicBezTo>
                <a:lnTo>
                  <a:pt x="5635030" y="1033951"/>
                </a:lnTo>
                <a:cubicBezTo>
                  <a:pt x="5635030" y="1072020"/>
                  <a:pt x="5604169" y="1102881"/>
                  <a:pt x="5566100" y="1102881"/>
                </a:cubicBezTo>
                <a:lnTo>
                  <a:pt x="34465" y="1102881"/>
                </a:lnTo>
                <a:cubicBezTo>
                  <a:pt x="15431" y="1102881"/>
                  <a:pt x="0" y="1087450"/>
                  <a:pt x="0" y="106841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1883" y="1516461"/>
            <a:ext cx="34465" cy="1102881"/>
          </a:xfrm>
          <a:custGeom>
            <a:avLst/>
            <a:gdLst/>
            <a:ahLst/>
            <a:cxnLst/>
            <a:rect l="l" t="t" r="r" b="b"/>
            <a:pathLst>
              <a:path w="34465" h="1102881">
                <a:moveTo>
                  <a:pt x="34465" y="0"/>
                </a:moveTo>
                <a:lnTo>
                  <a:pt x="34465" y="0"/>
                </a:lnTo>
                <a:lnTo>
                  <a:pt x="34465" y="1102881"/>
                </a:lnTo>
                <a:lnTo>
                  <a:pt x="34465" y="1102881"/>
                </a:lnTo>
                <a:cubicBezTo>
                  <a:pt x="15431" y="1102881"/>
                  <a:pt x="0" y="1087450"/>
                  <a:pt x="0" y="106841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8" name="Text 6"/>
          <p:cNvSpPr/>
          <p:nvPr/>
        </p:nvSpPr>
        <p:spPr>
          <a:xfrm>
            <a:off x="551440" y="1688786"/>
            <a:ext cx="5359310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拟合能力强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1440" y="1998971"/>
            <a:ext cx="5342078" cy="448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</a:t>
            </a:r>
            <a:pPr>
              <a:lnSpc>
                <a:spcPct val="140000"/>
              </a:lnSpc>
            </a:pPr>
            <a:r>
              <a:rPr lang="en-US" sz="1086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逼近任意形状的概率分布</a:t>
            </a:r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，适用于多模态数据。通过组合多个高斯分量，GMM可以精确描述复杂数据的统计特性。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1883" y="2757201"/>
            <a:ext cx="5635030" cy="1102881"/>
          </a:xfrm>
          <a:custGeom>
            <a:avLst/>
            <a:gdLst/>
            <a:ahLst/>
            <a:cxnLst/>
            <a:rect l="l" t="t" r="r" b="b"/>
            <a:pathLst>
              <a:path w="5635030" h="1102881">
                <a:moveTo>
                  <a:pt x="34465" y="0"/>
                </a:moveTo>
                <a:lnTo>
                  <a:pt x="5566100" y="0"/>
                </a:lnTo>
                <a:cubicBezTo>
                  <a:pt x="5604169" y="0"/>
                  <a:pt x="5635030" y="30861"/>
                  <a:pt x="5635030" y="68930"/>
                </a:cubicBezTo>
                <a:lnTo>
                  <a:pt x="5635030" y="1033951"/>
                </a:lnTo>
                <a:cubicBezTo>
                  <a:pt x="5635030" y="1072020"/>
                  <a:pt x="5604169" y="1102881"/>
                  <a:pt x="5566100" y="1102881"/>
                </a:cubicBezTo>
                <a:lnTo>
                  <a:pt x="34465" y="1102881"/>
                </a:lnTo>
                <a:cubicBezTo>
                  <a:pt x="15431" y="1102881"/>
                  <a:pt x="0" y="1087450"/>
                  <a:pt x="0" y="106841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1883" y="2757201"/>
            <a:ext cx="34465" cy="1102881"/>
          </a:xfrm>
          <a:custGeom>
            <a:avLst/>
            <a:gdLst/>
            <a:ahLst/>
            <a:cxnLst/>
            <a:rect l="l" t="t" r="r" b="b"/>
            <a:pathLst>
              <a:path w="34465" h="1102881">
                <a:moveTo>
                  <a:pt x="34465" y="0"/>
                </a:moveTo>
                <a:lnTo>
                  <a:pt x="34465" y="0"/>
                </a:lnTo>
                <a:lnTo>
                  <a:pt x="34465" y="1102881"/>
                </a:lnTo>
                <a:lnTo>
                  <a:pt x="34465" y="1102881"/>
                </a:lnTo>
                <a:cubicBezTo>
                  <a:pt x="15431" y="1102881"/>
                  <a:pt x="0" y="1087450"/>
                  <a:pt x="0" y="106841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2" name="Text 10"/>
          <p:cNvSpPr/>
          <p:nvPr/>
        </p:nvSpPr>
        <p:spPr>
          <a:xfrm>
            <a:off x="551440" y="2929527"/>
            <a:ext cx="5359310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软聚类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1440" y="3239712"/>
            <a:ext cx="5342078" cy="448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提供样本属于各簇的</a:t>
            </a:r>
            <a:pPr>
              <a:lnSpc>
                <a:spcPct val="140000"/>
              </a:lnSpc>
            </a:pPr>
            <a:r>
              <a:rPr lang="en-US" sz="1086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</a:t>
            </a:r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，比硬聚类包含更多信息。在簇边界处能给出中间态的概率值，量化归属的不确定性。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883" y="3997942"/>
            <a:ext cx="5635030" cy="1102881"/>
          </a:xfrm>
          <a:custGeom>
            <a:avLst/>
            <a:gdLst/>
            <a:ahLst/>
            <a:cxnLst/>
            <a:rect l="l" t="t" r="r" b="b"/>
            <a:pathLst>
              <a:path w="5635030" h="1102881">
                <a:moveTo>
                  <a:pt x="34465" y="0"/>
                </a:moveTo>
                <a:lnTo>
                  <a:pt x="5566100" y="0"/>
                </a:lnTo>
                <a:cubicBezTo>
                  <a:pt x="5604169" y="0"/>
                  <a:pt x="5635030" y="30861"/>
                  <a:pt x="5635030" y="68930"/>
                </a:cubicBezTo>
                <a:lnTo>
                  <a:pt x="5635030" y="1033951"/>
                </a:lnTo>
                <a:cubicBezTo>
                  <a:pt x="5635030" y="1072020"/>
                  <a:pt x="5604169" y="1102881"/>
                  <a:pt x="5566100" y="1102881"/>
                </a:cubicBezTo>
                <a:lnTo>
                  <a:pt x="34465" y="1102881"/>
                </a:lnTo>
                <a:cubicBezTo>
                  <a:pt x="15431" y="1102881"/>
                  <a:pt x="0" y="1087450"/>
                  <a:pt x="0" y="106841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1883" y="3997942"/>
            <a:ext cx="34465" cy="1102881"/>
          </a:xfrm>
          <a:custGeom>
            <a:avLst/>
            <a:gdLst/>
            <a:ahLst/>
            <a:cxnLst/>
            <a:rect l="l" t="t" r="r" b="b"/>
            <a:pathLst>
              <a:path w="34465" h="1102881">
                <a:moveTo>
                  <a:pt x="34465" y="0"/>
                </a:moveTo>
                <a:lnTo>
                  <a:pt x="34465" y="0"/>
                </a:lnTo>
                <a:lnTo>
                  <a:pt x="34465" y="1102881"/>
                </a:lnTo>
                <a:lnTo>
                  <a:pt x="34465" y="1102881"/>
                </a:lnTo>
                <a:cubicBezTo>
                  <a:pt x="15431" y="1102881"/>
                  <a:pt x="0" y="1087450"/>
                  <a:pt x="0" y="106841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6" name="Text 14"/>
          <p:cNvSpPr/>
          <p:nvPr/>
        </p:nvSpPr>
        <p:spPr>
          <a:xfrm>
            <a:off x="551440" y="4170267"/>
            <a:ext cx="5359310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1440" y="4480452"/>
            <a:ext cx="5342078" cy="448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协方差矩阵可以描述簇的</a:t>
            </a:r>
            <a:pPr>
              <a:lnSpc>
                <a:spcPct val="140000"/>
              </a:lnSpc>
            </a:pPr>
            <a:r>
              <a:rPr lang="en-US" sz="1086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旋转和拉伸</a:t>
            </a:r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（不同方向的方差）。突破了K-Means仅能处理球形簇的局限。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34331" y="1094264"/>
            <a:ext cx="258488" cy="258488"/>
          </a:xfrm>
          <a:custGeom>
            <a:avLst/>
            <a:gdLst/>
            <a:ahLst/>
            <a:cxnLst/>
            <a:rect l="l" t="t" r="r" b="b"/>
            <a:pathLst>
              <a:path w="258488" h="258488">
                <a:moveTo>
                  <a:pt x="193866" y="16155"/>
                </a:moveTo>
                <a:cubicBezTo>
                  <a:pt x="207244" y="16155"/>
                  <a:pt x="218099" y="27010"/>
                  <a:pt x="218099" y="40389"/>
                </a:cubicBezTo>
                <a:cubicBezTo>
                  <a:pt x="218099" y="43569"/>
                  <a:pt x="217443" y="46548"/>
                  <a:pt x="216382" y="49325"/>
                </a:cubicBezTo>
                <a:cubicBezTo>
                  <a:pt x="226682" y="52101"/>
                  <a:pt x="234254" y="61492"/>
                  <a:pt x="234254" y="72700"/>
                </a:cubicBezTo>
                <a:cubicBezTo>
                  <a:pt x="234254" y="77294"/>
                  <a:pt x="232942" y="81585"/>
                  <a:pt x="230720" y="85271"/>
                </a:cubicBezTo>
                <a:cubicBezTo>
                  <a:pt x="241928" y="87391"/>
                  <a:pt x="250410" y="97236"/>
                  <a:pt x="250410" y="109049"/>
                </a:cubicBezTo>
                <a:cubicBezTo>
                  <a:pt x="250410" y="118995"/>
                  <a:pt x="244402" y="127527"/>
                  <a:pt x="235819" y="131263"/>
                </a:cubicBezTo>
                <a:cubicBezTo>
                  <a:pt x="244402" y="134999"/>
                  <a:pt x="250410" y="143531"/>
                  <a:pt x="250410" y="153477"/>
                </a:cubicBezTo>
                <a:cubicBezTo>
                  <a:pt x="250410" y="166856"/>
                  <a:pt x="239555" y="177710"/>
                  <a:pt x="226177" y="177710"/>
                </a:cubicBezTo>
                <a:lnTo>
                  <a:pt x="145399" y="177710"/>
                </a:lnTo>
                <a:lnTo>
                  <a:pt x="159636" y="213252"/>
                </a:lnTo>
                <a:cubicBezTo>
                  <a:pt x="160898" y="216433"/>
                  <a:pt x="161555" y="219866"/>
                  <a:pt x="161555" y="223299"/>
                </a:cubicBezTo>
                <a:lnTo>
                  <a:pt x="161555" y="225419"/>
                </a:lnTo>
                <a:cubicBezTo>
                  <a:pt x="161555" y="239202"/>
                  <a:pt x="150397" y="250359"/>
                  <a:pt x="136615" y="250359"/>
                </a:cubicBezTo>
                <a:cubicBezTo>
                  <a:pt x="127174" y="250359"/>
                  <a:pt x="118541" y="245008"/>
                  <a:pt x="114300" y="236577"/>
                </a:cubicBezTo>
                <a:lnTo>
                  <a:pt x="85876" y="179881"/>
                </a:lnTo>
                <a:cubicBezTo>
                  <a:pt x="82494" y="173167"/>
                  <a:pt x="80777" y="165745"/>
                  <a:pt x="80777" y="158223"/>
                </a:cubicBezTo>
                <a:lnTo>
                  <a:pt x="80777" y="64016"/>
                </a:lnTo>
                <a:cubicBezTo>
                  <a:pt x="80777" y="54222"/>
                  <a:pt x="85271" y="44932"/>
                  <a:pt x="92894" y="38773"/>
                </a:cubicBezTo>
                <a:lnTo>
                  <a:pt x="99053" y="33876"/>
                </a:lnTo>
                <a:cubicBezTo>
                  <a:pt x="113391" y="22416"/>
                  <a:pt x="131162" y="16155"/>
                  <a:pt x="149489" y="16155"/>
                </a:cubicBezTo>
                <a:lnTo>
                  <a:pt x="193866" y="16155"/>
                </a:lnTo>
                <a:close/>
                <a:moveTo>
                  <a:pt x="40389" y="48466"/>
                </a:moveTo>
                <a:cubicBezTo>
                  <a:pt x="49325" y="48466"/>
                  <a:pt x="56544" y="55686"/>
                  <a:pt x="56544" y="64622"/>
                </a:cubicBezTo>
                <a:lnTo>
                  <a:pt x="56544" y="193866"/>
                </a:lnTo>
                <a:cubicBezTo>
                  <a:pt x="56544" y="202802"/>
                  <a:pt x="49325" y="210021"/>
                  <a:pt x="40389" y="210021"/>
                </a:cubicBezTo>
                <a:lnTo>
                  <a:pt x="16155" y="210021"/>
                </a:lnTo>
                <a:cubicBezTo>
                  <a:pt x="7219" y="210021"/>
                  <a:pt x="0" y="202802"/>
                  <a:pt x="0" y="193866"/>
                </a:cubicBezTo>
                <a:lnTo>
                  <a:pt x="0" y="64622"/>
                </a:lnTo>
                <a:cubicBezTo>
                  <a:pt x="0" y="55686"/>
                  <a:pt x="7219" y="48466"/>
                  <a:pt x="16155" y="48466"/>
                </a:cubicBezTo>
                <a:lnTo>
                  <a:pt x="40389" y="48466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9" name="Text 17"/>
          <p:cNvSpPr/>
          <p:nvPr/>
        </p:nvSpPr>
        <p:spPr>
          <a:xfrm>
            <a:off x="6527284" y="1068416"/>
            <a:ext cx="5454089" cy="31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35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099" y="1516461"/>
            <a:ext cx="5635030" cy="1102881"/>
          </a:xfrm>
          <a:custGeom>
            <a:avLst/>
            <a:gdLst/>
            <a:ahLst/>
            <a:cxnLst/>
            <a:rect l="l" t="t" r="r" b="b"/>
            <a:pathLst>
              <a:path w="5635030" h="1102881">
                <a:moveTo>
                  <a:pt x="34465" y="0"/>
                </a:moveTo>
                <a:lnTo>
                  <a:pt x="5566100" y="0"/>
                </a:lnTo>
                <a:cubicBezTo>
                  <a:pt x="5604169" y="0"/>
                  <a:pt x="5635030" y="30861"/>
                  <a:pt x="5635030" y="68930"/>
                </a:cubicBezTo>
                <a:lnTo>
                  <a:pt x="5635030" y="1033951"/>
                </a:lnTo>
                <a:cubicBezTo>
                  <a:pt x="5635030" y="1072020"/>
                  <a:pt x="5604169" y="1102881"/>
                  <a:pt x="5566100" y="1102881"/>
                </a:cubicBezTo>
                <a:lnTo>
                  <a:pt x="34465" y="1102881"/>
                </a:lnTo>
                <a:cubicBezTo>
                  <a:pt x="15431" y="1102881"/>
                  <a:pt x="0" y="1087450"/>
                  <a:pt x="0" y="106841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17099" y="1516461"/>
            <a:ext cx="34465" cy="1102881"/>
          </a:xfrm>
          <a:custGeom>
            <a:avLst/>
            <a:gdLst/>
            <a:ahLst/>
            <a:cxnLst/>
            <a:rect l="l" t="t" r="r" b="b"/>
            <a:pathLst>
              <a:path w="34465" h="1102881">
                <a:moveTo>
                  <a:pt x="34465" y="0"/>
                </a:moveTo>
                <a:lnTo>
                  <a:pt x="34465" y="0"/>
                </a:lnTo>
                <a:lnTo>
                  <a:pt x="34465" y="1102881"/>
                </a:lnTo>
                <a:lnTo>
                  <a:pt x="34465" y="1102881"/>
                </a:lnTo>
                <a:cubicBezTo>
                  <a:pt x="15431" y="1102881"/>
                  <a:pt x="0" y="1087450"/>
                  <a:pt x="0" y="106841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6656" y="1688786"/>
            <a:ext cx="5359310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初始值敏感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6656" y="1998971"/>
            <a:ext cx="5342078" cy="448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EM算法容易陷入</a:t>
            </a:r>
            <a:pPr>
              <a:lnSpc>
                <a:spcPct val="140000"/>
              </a:lnSpc>
            </a:pPr>
            <a:r>
              <a:rPr lang="en-US" sz="1086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局部最优</a:t>
            </a:r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，结果依赖于初始化。通常需要结合K-Means进行预热或使用多次随机初始化。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099" y="2757201"/>
            <a:ext cx="5635030" cy="878858"/>
          </a:xfrm>
          <a:custGeom>
            <a:avLst/>
            <a:gdLst/>
            <a:ahLst/>
            <a:cxnLst/>
            <a:rect l="l" t="t" r="r" b="b"/>
            <a:pathLst>
              <a:path w="5635030" h="878858">
                <a:moveTo>
                  <a:pt x="34465" y="0"/>
                </a:moveTo>
                <a:lnTo>
                  <a:pt x="5566102" y="0"/>
                </a:lnTo>
                <a:cubicBezTo>
                  <a:pt x="5604170" y="0"/>
                  <a:pt x="5635030" y="30860"/>
                  <a:pt x="5635030" y="68929"/>
                </a:cubicBezTo>
                <a:lnTo>
                  <a:pt x="5635030" y="809929"/>
                </a:lnTo>
                <a:cubicBezTo>
                  <a:pt x="5635030" y="847997"/>
                  <a:pt x="5604170" y="878858"/>
                  <a:pt x="5566102" y="878858"/>
                </a:cubicBezTo>
                <a:lnTo>
                  <a:pt x="34465" y="878858"/>
                </a:lnTo>
                <a:cubicBezTo>
                  <a:pt x="15431" y="878858"/>
                  <a:pt x="0" y="863427"/>
                  <a:pt x="0" y="844393"/>
                </a:cubicBezTo>
                <a:lnTo>
                  <a:pt x="0" y="34465"/>
                </a:lnTo>
                <a:cubicBezTo>
                  <a:pt x="0" y="15431"/>
                  <a:pt x="15431" y="0"/>
                  <a:pt x="34465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17099" y="2757201"/>
            <a:ext cx="34465" cy="878858"/>
          </a:xfrm>
          <a:custGeom>
            <a:avLst/>
            <a:gdLst/>
            <a:ahLst/>
            <a:cxnLst/>
            <a:rect l="l" t="t" r="r" b="b"/>
            <a:pathLst>
              <a:path w="34465" h="878858">
                <a:moveTo>
                  <a:pt x="34465" y="0"/>
                </a:moveTo>
                <a:lnTo>
                  <a:pt x="34465" y="0"/>
                </a:lnTo>
                <a:lnTo>
                  <a:pt x="34465" y="878858"/>
                </a:lnTo>
                <a:lnTo>
                  <a:pt x="34465" y="878858"/>
                </a:lnTo>
                <a:cubicBezTo>
                  <a:pt x="15431" y="878858"/>
                  <a:pt x="0" y="863427"/>
                  <a:pt x="0" y="844393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6656" y="2929527"/>
            <a:ext cx="5359310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计算复杂度高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6656" y="3239712"/>
            <a:ext cx="5342078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每步迭代涉及</a:t>
            </a:r>
            <a:pPr>
              <a:lnSpc>
                <a:spcPct val="140000"/>
              </a:lnSpc>
            </a:pPr>
            <a:r>
              <a:rPr lang="en-US" sz="1086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矩阵运算和求逆</a:t>
            </a:r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，时间复杂度O(NK²D²)，在大规模数据下训练较慢。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099" y="3773919"/>
            <a:ext cx="5635030" cy="878858"/>
          </a:xfrm>
          <a:custGeom>
            <a:avLst/>
            <a:gdLst/>
            <a:ahLst/>
            <a:cxnLst/>
            <a:rect l="l" t="t" r="r" b="b"/>
            <a:pathLst>
              <a:path w="5635030" h="878858">
                <a:moveTo>
                  <a:pt x="34465" y="0"/>
                </a:moveTo>
                <a:lnTo>
                  <a:pt x="5566102" y="0"/>
                </a:lnTo>
                <a:cubicBezTo>
                  <a:pt x="5604170" y="0"/>
                  <a:pt x="5635030" y="30860"/>
                  <a:pt x="5635030" y="68929"/>
                </a:cubicBezTo>
                <a:lnTo>
                  <a:pt x="5635030" y="809929"/>
                </a:lnTo>
                <a:cubicBezTo>
                  <a:pt x="5635030" y="847997"/>
                  <a:pt x="5604170" y="878858"/>
                  <a:pt x="5566102" y="878858"/>
                </a:cubicBezTo>
                <a:lnTo>
                  <a:pt x="34465" y="878858"/>
                </a:lnTo>
                <a:cubicBezTo>
                  <a:pt x="15431" y="878858"/>
                  <a:pt x="0" y="863427"/>
                  <a:pt x="0" y="844393"/>
                </a:cubicBezTo>
                <a:lnTo>
                  <a:pt x="0" y="34465"/>
                </a:lnTo>
                <a:cubicBezTo>
                  <a:pt x="0" y="15431"/>
                  <a:pt x="15431" y="0"/>
                  <a:pt x="34465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17099" y="3773919"/>
            <a:ext cx="34465" cy="878858"/>
          </a:xfrm>
          <a:custGeom>
            <a:avLst/>
            <a:gdLst/>
            <a:ahLst/>
            <a:cxnLst/>
            <a:rect l="l" t="t" r="r" b="b"/>
            <a:pathLst>
              <a:path w="34465" h="878858">
                <a:moveTo>
                  <a:pt x="34465" y="0"/>
                </a:moveTo>
                <a:lnTo>
                  <a:pt x="34465" y="0"/>
                </a:lnTo>
                <a:lnTo>
                  <a:pt x="34465" y="878858"/>
                </a:lnTo>
                <a:lnTo>
                  <a:pt x="34465" y="878858"/>
                </a:lnTo>
                <a:cubicBezTo>
                  <a:pt x="15431" y="878858"/>
                  <a:pt x="0" y="863427"/>
                  <a:pt x="0" y="844393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6656" y="3946245"/>
            <a:ext cx="5359310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需预设K值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6656" y="4256430"/>
            <a:ext cx="5342078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必须通过</a:t>
            </a:r>
            <a:pPr>
              <a:lnSpc>
                <a:spcPct val="140000"/>
              </a:lnSpc>
            </a:pPr>
            <a:r>
              <a:rPr lang="en-US" sz="1086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BIC/AIC准则</a:t>
            </a:r>
            <a:pPr>
              <a:lnSpc>
                <a:spcPct val="14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等方法预先确定高斯分量的个数。K值选择对结果影响较大。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4650" y="5238683"/>
            <a:ext cx="5686728" cy="1275206"/>
          </a:xfrm>
          <a:custGeom>
            <a:avLst/>
            <a:gdLst/>
            <a:ahLst/>
            <a:cxnLst/>
            <a:rect l="l" t="t" r="r" b="b"/>
            <a:pathLst>
              <a:path w="5686728" h="1275206">
                <a:moveTo>
                  <a:pt x="68925" y="0"/>
                </a:moveTo>
                <a:lnTo>
                  <a:pt x="5617803" y="0"/>
                </a:lnTo>
                <a:cubicBezTo>
                  <a:pt x="5655869" y="0"/>
                  <a:pt x="5686728" y="30859"/>
                  <a:pt x="5686728" y="68925"/>
                </a:cubicBezTo>
                <a:lnTo>
                  <a:pt x="5686728" y="1206281"/>
                </a:lnTo>
                <a:cubicBezTo>
                  <a:pt x="5686728" y="1244347"/>
                  <a:pt x="5655869" y="1275206"/>
                  <a:pt x="5617803" y="1275206"/>
                </a:cubicBezTo>
                <a:lnTo>
                  <a:pt x="68925" y="1275206"/>
                </a:lnTo>
                <a:cubicBezTo>
                  <a:pt x="30859" y="1275206"/>
                  <a:pt x="0" y="1244347"/>
                  <a:pt x="0" y="1206281"/>
                </a:cubicBezTo>
                <a:lnTo>
                  <a:pt x="0" y="68925"/>
                </a:lnTo>
                <a:cubicBezTo>
                  <a:pt x="0" y="30884"/>
                  <a:pt x="30884" y="0"/>
                  <a:pt x="68925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2510" y="5376543"/>
            <a:ext cx="5488554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1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2510" y="5686728"/>
            <a:ext cx="547993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数据分布复杂、多模态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2510" y="5927983"/>
            <a:ext cx="547993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需要概率输出或不确定性量化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2510" y="6169238"/>
            <a:ext cx="547993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簇形状非球形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5401" y="5238683"/>
            <a:ext cx="5686728" cy="1275206"/>
          </a:xfrm>
          <a:custGeom>
            <a:avLst/>
            <a:gdLst/>
            <a:ahLst/>
            <a:cxnLst/>
            <a:rect l="l" t="t" r="r" b="b"/>
            <a:pathLst>
              <a:path w="5686728" h="1275206">
                <a:moveTo>
                  <a:pt x="68925" y="0"/>
                </a:moveTo>
                <a:lnTo>
                  <a:pt x="5617803" y="0"/>
                </a:lnTo>
                <a:cubicBezTo>
                  <a:pt x="5655869" y="0"/>
                  <a:pt x="5686728" y="30859"/>
                  <a:pt x="5686728" y="68925"/>
                </a:cubicBezTo>
                <a:lnTo>
                  <a:pt x="5686728" y="1206281"/>
                </a:lnTo>
                <a:cubicBezTo>
                  <a:pt x="5686728" y="1244347"/>
                  <a:pt x="5655869" y="1275206"/>
                  <a:pt x="5617803" y="1275206"/>
                </a:cubicBezTo>
                <a:lnTo>
                  <a:pt x="68925" y="1275206"/>
                </a:lnTo>
                <a:cubicBezTo>
                  <a:pt x="30859" y="1275206"/>
                  <a:pt x="0" y="1244347"/>
                  <a:pt x="0" y="1206281"/>
                </a:cubicBezTo>
                <a:lnTo>
                  <a:pt x="0" y="68925"/>
                </a:lnTo>
                <a:cubicBezTo>
                  <a:pt x="0" y="30884"/>
                  <a:pt x="30884" y="0"/>
                  <a:pt x="68925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03261" y="5376543"/>
            <a:ext cx="5488554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1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不适用场景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03261" y="5686728"/>
            <a:ext cx="547993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数据量极大、维度很高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03261" y="5927983"/>
            <a:ext cx="547993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对计算效率要求极高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03261" y="6169238"/>
            <a:ext cx="547993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簇的个数难以预先确定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598" y="347598"/>
            <a:ext cx="11557634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spc="48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PRACTICE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598" y="590917"/>
            <a:ext cx="11653223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3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Python实践：GMM模型实现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7598" y="1077554"/>
            <a:ext cx="5778817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2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模型初始化与训练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598" y="1459912"/>
            <a:ext cx="5744057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使用scikit-learn的GaussianMixture类：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4978" y="1737990"/>
            <a:ext cx="5657158" cy="1946549"/>
          </a:xfrm>
          <a:custGeom>
            <a:avLst/>
            <a:gdLst/>
            <a:ahLst/>
            <a:cxnLst/>
            <a:rect l="l" t="t" r="r" b="b"/>
            <a:pathLst>
              <a:path w="5657158" h="1946549">
                <a:moveTo>
                  <a:pt x="34760" y="0"/>
                </a:moveTo>
                <a:lnTo>
                  <a:pt x="5587646" y="0"/>
                </a:lnTo>
                <a:cubicBezTo>
                  <a:pt x="5626036" y="0"/>
                  <a:pt x="5657158" y="31121"/>
                  <a:pt x="5657158" y="69511"/>
                </a:cubicBezTo>
                <a:lnTo>
                  <a:pt x="5657158" y="1877038"/>
                </a:lnTo>
                <a:cubicBezTo>
                  <a:pt x="5657158" y="1915428"/>
                  <a:pt x="5626036" y="1946549"/>
                  <a:pt x="5587646" y="1946549"/>
                </a:cubicBezTo>
                <a:lnTo>
                  <a:pt x="34760" y="1946549"/>
                </a:lnTo>
                <a:cubicBezTo>
                  <a:pt x="15562" y="1946549"/>
                  <a:pt x="0" y="1930986"/>
                  <a:pt x="0" y="1911789"/>
                </a:cubicBezTo>
                <a:lnTo>
                  <a:pt x="0" y="34760"/>
                </a:lnTo>
                <a:cubicBezTo>
                  <a:pt x="0" y="15575"/>
                  <a:pt x="15575" y="0"/>
                  <a:pt x="3476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Shape 5"/>
          <p:cNvSpPr/>
          <p:nvPr/>
        </p:nvSpPr>
        <p:spPr>
          <a:xfrm>
            <a:off x="364978" y="1737990"/>
            <a:ext cx="34760" cy="1946549"/>
          </a:xfrm>
          <a:custGeom>
            <a:avLst/>
            <a:gdLst/>
            <a:ahLst/>
            <a:cxnLst/>
            <a:rect l="l" t="t" r="r" b="b"/>
            <a:pathLst>
              <a:path w="34760" h="1946549">
                <a:moveTo>
                  <a:pt x="34760" y="0"/>
                </a:moveTo>
                <a:lnTo>
                  <a:pt x="34760" y="0"/>
                </a:lnTo>
                <a:lnTo>
                  <a:pt x="34760" y="1946549"/>
                </a:lnTo>
                <a:lnTo>
                  <a:pt x="34760" y="1946549"/>
                </a:lnTo>
                <a:cubicBezTo>
                  <a:pt x="15562" y="1946549"/>
                  <a:pt x="0" y="1930986"/>
                  <a:pt x="0" y="1911789"/>
                </a:cubicBezTo>
                <a:lnTo>
                  <a:pt x="0" y="34760"/>
                </a:lnTo>
                <a:cubicBezTo>
                  <a:pt x="0" y="15575"/>
                  <a:pt x="15575" y="0"/>
                  <a:pt x="3476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8" name="Text 6"/>
          <p:cNvSpPr/>
          <p:nvPr/>
        </p:nvSpPr>
        <p:spPr>
          <a:xfrm>
            <a:off x="486637" y="1855304"/>
            <a:ext cx="3210393" cy="170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sklearn.mixture import GaussianMixture # 初始化模型：假设数据由3个高斯分布混合生成 gmm = GaussianMixture( n_components=3, random_state=42 ) # 执行EM算法进行参数估计 gmm.fit(X)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598" y="3788818"/>
            <a:ext cx="5778817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2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获取聚类结果与概率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4978" y="4171176"/>
            <a:ext cx="5657158" cy="1598951"/>
          </a:xfrm>
          <a:custGeom>
            <a:avLst/>
            <a:gdLst/>
            <a:ahLst/>
            <a:cxnLst/>
            <a:rect l="l" t="t" r="r" b="b"/>
            <a:pathLst>
              <a:path w="5657158" h="1598951">
                <a:moveTo>
                  <a:pt x="34760" y="0"/>
                </a:moveTo>
                <a:lnTo>
                  <a:pt x="5587635" y="0"/>
                </a:lnTo>
                <a:cubicBezTo>
                  <a:pt x="5626031" y="0"/>
                  <a:pt x="5657158" y="31126"/>
                  <a:pt x="5657158" y="69522"/>
                </a:cubicBezTo>
                <a:lnTo>
                  <a:pt x="5657158" y="1529428"/>
                </a:lnTo>
                <a:cubicBezTo>
                  <a:pt x="5657158" y="1567825"/>
                  <a:pt x="5626031" y="1598951"/>
                  <a:pt x="5587635" y="1598951"/>
                </a:cubicBezTo>
                <a:lnTo>
                  <a:pt x="34760" y="1598951"/>
                </a:lnTo>
                <a:cubicBezTo>
                  <a:pt x="15562" y="1598951"/>
                  <a:pt x="0" y="1583388"/>
                  <a:pt x="0" y="1564191"/>
                </a:cubicBezTo>
                <a:lnTo>
                  <a:pt x="0" y="34760"/>
                </a:lnTo>
                <a:cubicBezTo>
                  <a:pt x="0" y="15575"/>
                  <a:pt x="15575" y="0"/>
                  <a:pt x="3476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Shape 9"/>
          <p:cNvSpPr/>
          <p:nvPr/>
        </p:nvSpPr>
        <p:spPr>
          <a:xfrm>
            <a:off x="364978" y="4171176"/>
            <a:ext cx="34760" cy="1598951"/>
          </a:xfrm>
          <a:custGeom>
            <a:avLst/>
            <a:gdLst/>
            <a:ahLst/>
            <a:cxnLst/>
            <a:rect l="l" t="t" r="r" b="b"/>
            <a:pathLst>
              <a:path w="34760" h="1598951">
                <a:moveTo>
                  <a:pt x="34760" y="0"/>
                </a:moveTo>
                <a:lnTo>
                  <a:pt x="34760" y="0"/>
                </a:lnTo>
                <a:lnTo>
                  <a:pt x="34760" y="1598951"/>
                </a:lnTo>
                <a:lnTo>
                  <a:pt x="34760" y="1598951"/>
                </a:lnTo>
                <a:cubicBezTo>
                  <a:pt x="15562" y="1598951"/>
                  <a:pt x="0" y="1583388"/>
                  <a:pt x="0" y="1564191"/>
                </a:cubicBezTo>
                <a:lnTo>
                  <a:pt x="0" y="34760"/>
                </a:lnTo>
                <a:cubicBezTo>
                  <a:pt x="0" y="15575"/>
                  <a:pt x="15575" y="0"/>
                  <a:pt x="3476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2" name="Text 10"/>
          <p:cNvSpPr/>
          <p:nvPr/>
        </p:nvSpPr>
        <p:spPr>
          <a:xfrm>
            <a:off x="486637" y="4288490"/>
            <a:ext cx="2111726" cy="135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硬聚类：获取最可能的归属簇 labels = gmm.predict(X) # 软聚类：获取属于各簇的后验概率 probs = gmm.predict_proba(X) # 示例：[0.02, 0.97, 0.01] # 表示该样本以97%的概率属于簇1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64026" y="1077554"/>
            <a:ext cx="5778817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2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查看模型参数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1406" y="1459912"/>
            <a:ext cx="5657158" cy="2120348"/>
          </a:xfrm>
          <a:custGeom>
            <a:avLst/>
            <a:gdLst/>
            <a:ahLst/>
            <a:cxnLst/>
            <a:rect l="l" t="t" r="r" b="b"/>
            <a:pathLst>
              <a:path w="5657158" h="2120348">
                <a:moveTo>
                  <a:pt x="34760" y="0"/>
                </a:moveTo>
                <a:lnTo>
                  <a:pt x="5587631" y="0"/>
                </a:lnTo>
                <a:cubicBezTo>
                  <a:pt x="5626030" y="0"/>
                  <a:pt x="5657158" y="31128"/>
                  <a:pt x="5657158" y="69526"/>
                </a:cubicBezTo>
                <a:lnTo>
                  <a:pt x="5657158" y="2050822"/>
                </a:lnTo>
                <a:cubicBezTo>
                  <a:pt x="5657158" y="2089220"/>
                  <a:pt x="5626030" y="2120348"/>
                  <a:pt x="5587631" y="2120348"/>
                </a:cubicBezTo>
                <a:lnTo>
                  <a:pt x="34760" y="2120348"/>
                </a:lnTo>
                <a:cubicBezTo>
                  <a:pt x="15562" y="2120348"/>
                  <a:pt x="0" y="2104785"/>
                  <a:pt x="0" y="2085588"/>
                </a:cubicBezTo>
                <a:lnTo>
                  <a:pt x="0" y="34760"/>
                </a:lnTo>
                <a:cubicBezTo>
                  <a:pt x="0" y="15575"/>
                  <a:pt x="15575" y="0"/>
                  <a:pt x="3476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1406" y="1459912"/>
            <a:ext cx="34760" cy="2120348"/>
          </a:xfrm>
          <a:custGeom>
            <a:avLst/>
            <a:gdLst/>
            <a:ahLst/>
            <a:cxnLst/>
            <a:rect l="l" t="t" r="r" b="b"/>
            <a:pathLst>
              <a:path w="34760" h="2120348">
                <a:moveTo>
                  <a:pt x="34760" y="0"/>
                </a:moveTo>
                <a:lnTo>
                  <a:pt x="34760" y="0"/>
                </a:lnTo>
                <a:lnTo>
                  <a:pt x="34760" y="2120348"/>
                </a:lnTo>
                <a:lnTo>
                  <a:pt x="34760" y="2120348"/>
                </a:lnTo>
                <a:cubicBezTo>
                  <a:pt x="15562" y="2120348"/>
                  <a:pt x="0" y="2104785"/>
                  <a:pt x="0" y="2085588"/>
                </a:cubicBezTo>
                <a:lnTo>
                  <a:pt x="0" y="34760"/>
                </a:lnTo>
                <a:cubicBezTo>
                  <a:pt x="0" y="15575"/>
                  <a:pt x="15575" y="0"/>
                  <a:pt x="3476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3065" y="1577226"/>
            <a:ext cx="2305349" cy="1881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混合权重 (Mixing Coefficients) print(gmm.weights_) # 输出：[0.33, 0.42, 0.25] # 均值向量 (Means) print(gmm.means_) # 输出：每个高斯分量的中心坐标 # 协方差矩阵 (Covariances) print(gmm.covariances_) # 输出：每个分量的协方差矩阵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64026" y="3684539"/>
            <a:ext cx="5778817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2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数据集：鸢尾花（Iris）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64026" y="4066897"/>
            <a:ext cx="5674537" cy="1042794"/>
          </a:xfrm>
          <a:custGeom>
            <a:avLst/>
            <a:gdLst/>
            <a:ahLst/>
            <a:cxnLst/>
            <a:rect l="l" t="t" r="r" b="b"/>
            <a:pathLst>
              <a:path w="5674537" h="1042794">
                <a:moveTo>
                  <a:pt x="69523" y="0"/>
                </a:moveTo>
                <a:lnTo>
                  <a:pt x="5605014" y="0"/>
                </a:lnTo>
                <a:cubicBezTo>
                  <a:pt x="5643411" y="0"/>
                  <a:pt x="5674537" y="31127"/>
                  <a:pt x="5674537" y="69523"/>
                </a:cubicBezTo>
                <a:lnTo>
                  <a:pt x="5674537" y="973271"/>
                </a:lnTo>
                <a:cubicBezTo>
                  <a:pt x="5674537" y="1011667"/>
                  <a:pt x="5643411" y="1042794"/>
                  <a:pt x="5605014" y="1042794"/>
                </a:cubicBezTo>
                <a:lnTo>
                  <a:pt x="69523" y="1042794"/>
                </a:lnTo>
                <a:cubicBezTo>
                  <a:pt x="31127" y="1042794"/>
                  <a:pt x="0" y="1011667"/>
                  <a:pt x="0" y="973271"/>
                </a:cubicBezTo>
                <a:lnTo>
                  <a:pt x="0" y="69523"/>
                </a:lnTo>
                <a:cubicBezTo>
                  <a:pt x="0" y="31152"/>
                  <a:pt x="31152" y="0"/>
                  <a:pt x="69523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03065" y="4205936"/>
            <a:ext cx="5465979" cy="45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假设不知道鸢尾花的真实品种标签，仅根据</a:t>
            </a:r>
            <a:pPr>
              <a:lnSpc>
                <a:spcPct val="140000"/>
              </a:lnSpc>
            </a:pPr>
            <a:r>
              <a:rPr lang="en-US" sz="1095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花瓣的长度和宽度</a:t>
            </a:r>
            <a:pPr>
              <a:lnSpc>
                <a:spcPct val="14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特征，将数据自动聚类成3组。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3065" y="4727333"/>
            <a:ext cx="564847" cy="243319"/>
          </a:xfrm>
          <a:custGeom>
            <a:avLst/>
            <a:gdLst/>
            <a:ahLst/>
            <a:cxnLst/>
            <a:rect l="l" t="t" r="r" b="b"/>
            <a:pathLst>
              <a:path w="564847" h="243319">
                <a:moveTo>
                  <a:pt x="34760" y="0"/>
                </a:moveTo>
                <a:lnTo>
                  <a:pt x="530086" y="0"/>
                </a:lnTo>
                <a:cubicBezTo>
                  <a:pt x="549284" y="0"/>
                  <a:pt x="564847" y="15563"/>
                  <a:pt x="564847" y="34760"/>
                </a:cubicBezTo>
                <a:lnTo>
                  <a:pt x="564847" y="208558"/>
                </a:lnTo>
                <a:cubicBezTo>
                  <a:pt x="564847" y="227743"/>
                  <a:pt x="549271" y="243319"/>
                  <a:pt x="530086" y="243319"/>
                </a:cubicBezTo>
                <a:lnTo>
                  <a:pt x="34760" y="243319"/>
                </a:lnTo>
                <a:cubicBezTo>
                  <a:pt x="15563" y="243319"/>
                  <a:pt x="0" y="227756"/>
                  <a:pt x="0" y="208558"/>
                </a:cubicBezTo>
                <a:lnTo>
                  <a:pt x="0" y="34760"/>
                </a:lnTo>
                <a:cubicBezTo>
                  <a:pt x="0" y="15576"/>
                  <a:pt x="15576" y="0"/>
                  <a:pt x="3476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3065" y="4727333"/>
            <a:ext cx="625676" cy="243319"/>
          </a:xfrm>
          <a:prstGeom prst="rect">
            <a:avLst/>
          </a:prstGeom>
          <a:noFill/>
          <a:ln/>
        </p:spPr>
        <p:txBody>
          <a:bodyPr wrap="square" lIns="104279" tIns="34760" rIns="104279" bIns="3476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setosa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40894" y="4727333"/>
            <a:ext cx="747336" cy="243319"/>
          </a:xfrm>
          <a:custGeom>
            <a:avLst/>
            <a:gdLst/>
            <a:ahLst/>
            <a:cxnLst/>
            <a:rect l="l" t="t" r="r" b="b"/>
            <a:pathLst>
              <a:path w="747336" h="243319">
                <a:moveTo>
                  <a:pt x="34760" y="0"/>
                </a:moveTo>
                <a:lnTo>
                  <a:pt x="712575" y="0"/>
                </a:lnTo>
                <a:cubicBezTo>
                  <a:pt x="731773" y="0"/>
                  <a:pt x="747336" y="15563"/>
                  <a:pt x="747336" y="34760"/>
                </a:cubicBezTo>
                <a:lnTo>
                  <a:pt x="747336" y="208558"/>
                </a:lnTo>
                <a:cubicBezTo>
                  <a:pt x="747336" y="227743"/>
                  <a:pt x="731760" y="243319"/>
                  <a:pt x="712575" y="243319"/>
                </a:cubicBezTo>
                <a:lnTo>
                  <a:pt x="34760" y="243319"/>
                </a:lnTo>
                <a:cubicBezTo>
                  <a:pt x="15563" y="243319"/>
                  <a:pt x="0" y="227756"/>
                  <a:pt x="0" y="208558"/>
                </a:cubicBezTo>
                <a:lnTo>
                  <a:pt x="0" y="34760"/>
                </a:lnTo>
                <a:cubicBezTo>
                  <a:pt x="0" y="15576"/>
                  <a:pt x="15576" y="0"/>
                  <a:pt x="3476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3" name="Text 21"/>
          <p:cNvSpPr/>
          <p:nvPr/>
        </p:nvSpPr>
        <p:spPr>
          <a:xfrm>
            <a:off x="6940894" y="4727333"/>
            <a:ext cx="808165" cy="243319"/>
          </a:xfrm>
          <a:prstGeom prst="rect">
            <a:avLst/>
          </a:prstGeom>
          <a:noFill/>
          <a:ln/>
        </p:spPr>
        <p:txBody>
          <a:bodyPr wrap="square" lIns="104279" tIns="34760" rIns="104279" bIns="3476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versicolor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59175" y="4727333"/>
            <a:ext cx="677816" cy="243319"/>
          </a:xfrm>
          <a:custGeom>
            <a:avLst/>
            <a:gdLst/>
            <a:ahLst/>
            <a:cxnLst/>
            <a:rect l="l" t="t" r="r" b="b"/>
            <a:pathLst>
              <a:path w="677816" h="243319">
                <a:moveTo>
                  <a:pt x="34760" y="0"/>
                </a:moveTo>
                <a:lnTo>
                  <a:pt x="643056" y="0"/>
                </a:lnTo>
                <a:cubicBezTo>
                  <a:pt x="662253" y="0"/>
                  <a:pt x="677816" y="15563"/>
                  <a:pt x="677816" y="34760"/>
                </a:cubicBezTo>
                <a:lnTo>
                  <a:pt x="677816" y="208558"/>
                </a:lnTo>
                <a:cubicBezTo>
                  <a:pt x="677816" y="227743"/>
                  <a:pt x="662240" y="243319"/>
                  <a:pt x="643056" y="243319"/>
                </a:cubicBezTo>
                <a:lnTo>
                  <a:pt x="34760" y="243319"/>
                </a:lnTo>
                <a:cubicBezTo>
                  <a:pt x="15563" y="243319"/>
                  <a:pt x="0" y="227756"/>
                  <a:pt x="0" y="208558"/>
                </a:cubicBezTo>
                <a:lnTo>
                  <a:pt x="0" y="34760"/>
                </a:lnTo>
                <a:cubicBezTo>
                  <a:pt x="0" y="15576"/>
                  <a:pt x="15576" y="0"/>
                  <a:pt x="3476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5" name="Text 23"/>
          <p:cNvSpPr/>
          <p:nvPr/>
        </p:nvSpPr>
        <p:spPr>
          <a:xfrm>
            <a:off x="7759175" y="4727333"/>
            <a:ext cx="738646" cy="243319"/>
          </a:xfrm>
          <a:prstGeom prst="rect">
            <a:avLst/>
          </a:prstGeom>
          <a:noFill/>
          <a:ln/>
        </p:spPr>
        <p:txBody>
          <a:bodyPr wrap="square" lIns="104279" tIns="34760" rIns="104279" bIns="3476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virginica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4978" y="5874406"/>
            <a:ext cx="11479424" cy="425808"/>
          </a:xfrm>
          <a:custGeom>
            <a:avLst/>
            <a:gdLst/>
            <a:ahLst/>
            <a:cxnLst/>
            <a:rect l="l" t="t" r="r" b="b"/>
            <a:pathLst>
              <a:path w="11479424" h="425808">
                <a:moveTo>
                  <a:pt x="34760" y="0"/>
                </a:moveTo>
                <a:lnTo>
                  <a:pt x="11409902" y="0"/>
                </a:lnTo>
                <a:cubicBezTo>
                  <a:pt x="11448298" y="0"/>
                  <a:pt x="11479424" y="31126"/>
                  <a:pt x="11479424" y="69522"/>
                </a:cubicBezTo>
                <a:lnTo>
                  <a:pt x="11479424" y="356286"/>
                </a:lnTo>
                <a:cubicBezTo>
                  <a:pt x="11479424" y="394682"/>
                  <a:pt x="11448298" y="425808"/>
                  <a:pt x="11409902" y="425808"/>
                </a:cubicBezTo>
                <a:lnTo>
                  <a:pt x="34760" y="425808"/>
                </a:lnTo>
                <a:cubicBezTo>
                  <a:pt x="15562" y="425808"/>
                  <a:pt x="0" y="410245"/>
                  <a:pt x="0" y="391048"/>
                </a:cubicBezTo>
                <a:lnTo>
                  <a:pt x="0" y="34760"/>
                </a:lnTo>
                <a:cubicBezTo>
                  <a:pt x="0" y="15575"/>
                  <a:pt x="15575" y="0"/>
                  <a:pt x="3476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78" y="5874406"/>
            <a:ext cx="34760" cy="425808"/>
          </a:xfrm>
          <a:custGeom>
            <a:avLst/>
            <a:gdLst/>
            <a:ahLst/>
            <a:cxnLst/>
            <a:rect l="l" t="t" r="r" b="b"/>
            <a:pathLst>
              <a:path w="34760" h="425808">
                <a:moveTo>
                  <a:pt x="34760" y="0"/>
                </a:moveTo>
                <a:lnTo>
                  <a:pt x="34760" y="0"/>
                </a:lnTo>
                <a:lnTo>
                  <a:pt x="34760" y="425808"/>
                </a:lnTo>
                <a:lnTo>
                  <a:pt x="34760" y="425808"/>
                </a:lnTo>
                <a:cubicBezTo>
                  <a:pt x="15562" y="425808"/>
                  <a:pt x="0" y="410245"/>
                  <a:pt x="0" y="391048"/>
                </a:cubicBezTo>
                <a:lnTo>
                  <a:pt x="0" y="34760"/>
                </a:lnTo>
                <a:cubicBezTo>
                  <a:pt x="0" y="15575"/>
                  <a:pt x="15575" y="0"/>
                  <a:pt x="3476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8" name="Text 26"/>
          <p:cNvSpPr/>
          <p:nvPr/>
        </p:nvSpPr>
        <p:spPr>
          <a:xfrm>
            <a:off x="486637" y="5978686"/>
            <a:ext cx="11323005" cy="21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关键参数说明：</a:t>
            </a:r>
            <a:pPr>
              <a:lnSpc>
                <a:spcPct val="12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n_components</a:t>
            </a:r>
            <a:pPr>
              <a:lnSpc>
                <a:spcPct val="12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指定混合成分数（簇数K）； </a:t>
            </a:r>
            <a:pPr>
              <a:lnSpc>
                <a:spcPct val="12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covariance_type</a:t>
            </a:r>
            <a:pPr>
              <a:lnSpc>
                <a:spcPct val="12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指定协方差类型（'full'、'tied'、'diag'、'spherical'）； </a:t>
            </a:r>
            <a:pPr>
              <a:lnSpc>
                <a:spcPct val="12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max_iter</a:t>
            </a:r>
            <a:pPr>
              <a:lnSpc>
                <a:spcPct val="12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设置最大迭代次数； </a:t>
            </a:r>
            <a:pPr>
              <a:lnSpc>
                <a:spcPct val="12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tol</a:t>
            </a:r>
            <a:pPr>
              <a:lnSpc>
                <a:spcPct val="120000"/>
              </a:lnSpc>
            </a:pPr>
            <a:r>
              <a:rPr lang="en-US" sz="10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设置收敛阈值。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518" y="379518"/>
            <a:ext cx="11499381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spc="52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518" y="645180"/>
            <a:ext cx="11603748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9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Python实践：结果分析与可视化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9518" y="1176504"/>
            <a:ext cx="5740202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拟合灵活性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8493" y="1593974"/>
            <a:ext cx="5607371" cy="1612949"/>
          </a:xfrm>
          <a:custGeom>
            <a:avLst/>
            <a:gdLst/>
            <a:ahLst/>
            <a:cxnLst/>
            <a:rect l="l" t="t" r="r" b="b"/>
            <a:pathLst>
              <a:path w="5607371" h="1612949">
                <a:moveTo>
                  <a:pt x="37952" y="0"/>
                </a:moveTo>
                <a:lnTo>
                  <a:pt x="5531466" y="0"/>
                </a:lnTo>
                <a:cubicBezTo>
                  <a:pt x="5573387" y="0"/>
                  <a:pt x="5607371" y="33984"/>
                  <a:pt x="5607371" y="75905"/>
                </a:cubicBezTo>
                <a:lnTo>
                  <a:pt x="5607371" y="1537044"/>
                </a:lnTo>
                <a:cubicBezTo>
                  <a:pt x="5607371" y="1578965"/>
                  <a:pt x="5573387" y="1612949"/>
                  <a:pt x="5531466" y="1612949"/>
                </a:cubicBezTo>
                <a:lnTo>
                  <a:pt x="37952" y="1612949"/>
                </a:lnTo>
                <a:cubicBezTo>
                  <a:pt x="16992" y="1612949"/>
                  <a:pt x="0" y="1595958"/>
                  <a:pt x="0" y="157499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8493" y="1593974"/>
            <a:ext cx="37952" cy="1612949"/>
          </a:xfrm>
          <a:custGeom>
            <a:avLst/>
            <a:gdLst/>
            <a:ahLst/>
            <a:cxnLst/>
            <a:rect l="l" t="t" r="r" b="b"/>
            <a:pathLst>
              <a:path w="37952" h="1612949">
                <a:moveTo>
                  <a:pt x="37952" y="0"/>
                </a:moveTo>
                <a:lnTo>
                  <a:pt x="37952" y="0"/>
                </a:lnTo>
                <a:lnTo>
                  <a:pt x="37952" y="1612949"/>
                </a:lnTo>
                <a:lnTo>
                  <a:pt x="37952" y="1612949"/>
                </a:lnTo>
                <a:cubicBezTo>
                  <a:pt x="16992" y="1612949"/>
                  <a:pt x="0" y="1595958"/>
                  <a:pt x="0" y="157499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Text 5"/>
          <p:cNvSpPr/>
          <p:nvPr/>
        </p:nvSpPr>
        <p:spPr>
          <a:xfrm>
            <a:off x="569276" y="1745781"/>
            <a:ext cx="5360685" cy="24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与K-Means倾向于产生</a:t>
            </a:r>
            <a:pPr>
              <a:lnSpc>
                <a:spcPct val="140000"/>
              </a:lnSpc>
            </a:pPr>
            <a:r>
              <a:rPr lang="en-US" sz="1195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圆形簇</a:t>
            </a:r>
            <a:pPr>
              <a:lnSpc>
                <a:spcPct val="14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不同，GMM学习到的簇形状是</a:t>
            </a:r>
            <a:pPr>
              <a:lnSpc>
                <a:spcPct val="140000"/>
              </a:lnSpc>
            </a:pPr>
            <a:r>
              <a:rPr lang="en-US" sz="1195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椭圆形</a:t>
            </a:r>
            <a:pPr>
              <a:lnSpc>
                <a:spcPct val="14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9276" y="2144274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5679" y="2106322"/>
            <a:ext cx="2656623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协方差矩阵可以描述不同方向上的方差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9276" y="2485840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5679" y="2447888"/>
            <a:ext cx="2049395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能更好地适应数据的真实分布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9276" y="2827405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5679" y="2789454"/>
            <a:ext cx="2049395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可以捕捉簇的旋转和拉伸特性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9518" y="3358730"/>
            <a:ext cx="5740202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边界处理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8493" y="3776199"/>
            <a:ext cx="5607371" cy="1935539"/>
          </a:xfrm>
          <a:custGeom>
            <a:avLst/>
            <a:gdLst/>
            <a:ahLst/>
            <a:cxnLst/>
            <a:rect l="l" t="t" r="r" b="b"/>
            <a:pathLst>
              <a:path w="5607371" h="1935539">
                <a:moveTo>
                  <a:pt x="37952" y="0"/>
                </a:moveTo>
                <a:lnTo>
                  <a:pt x="5531459" y="0"/>
                </a:lnTo>
                <a:cubicBezTo>
                  <a:pt x="5573384" y="0"/>
                  <a:pt x="5607371" y="33987"/>
                  <a:pt x="5607371" y="75912"/>
                </a:cubicBezTo>
                <a:lnTo>
                  <a:pt x="5607371" y="1859627"/>
                </a:lnTo>
                <a:cubicBezTo>
                  <a:pt x="5607371" y="1901552"/>
                  <a:pt x="5573384" y="1935539"/>
                  <a:pt x="5531459" y="1935539"/>
                </a:cubicBezTo>
                <a:lnTo>
                  <a:pt x="37952" y="1935539"/>
                </a:lnTo>
                <a:cubicBezTo>
                  <a:pt x="16992" y="1935539"/>
                  <a:pt x="0" y="1918548"/>
                  <a:pt x="0" y="189758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98493" y="3776199"/>
            <a:ext cx="37952" cy="1935539"/>
          </a:xfrm>
          <a:custGeom>
            <a:avLst/>
            <a:gdLst/>
            <a:ahLst/>
            <a:cxnLst/>
            <a:rect l="l" t="t" r="r" b="b"/>
            <a:pathLst>
              <a:path w="37952" h="1935539">
                <a:moveTo>
                  <a:pt x="37952" y="0"/>
                </a:moveTo>
                <a:lnTo>
                  <a:pt x="37952" y="0"/>
                </a:lnTo>
                <a:lnTo>
                  <a:pt x="37952" y="1935539"/>
                </a:lnTo>
                <a:lnTo>
                  <a:pt x="37952" y="1935539"/>
                </a:lnTo>
                <a:cubicBezTo>
                  <a:pt x="16992" y="1935539"/>
                  <a:pt x="0" y="1918548"/>
                  <a:pt x="0" y="189758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7" name="Text 15"/>
          <p:cNvSpPr/>
          <p:nvPr/>
        </p:nvSpPr>
        <p:spPr>
          <a:xfrm>
            <a:off x="569276" y="3928006"/>
            <a:ext cx="5360685" cy="49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在簇与簇交界的区域，样本归属往往比较模糊。GMM的</a:t>
            </a:r>
            <a:pPr>
              <a:lnSpc>
                <a:spcPct val="140000"/>
              </a:lnSpc>
            </a:pPr>
            <a:r>
              <a:rPr lang="en-US" sz="1195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软聚类</a:t>
            </a:r>
            <a:pPr>
              <a:lnSpc>
                <a:spcPct val="14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特性能够给出中间态的概率值。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9276" y="4535234"/>
            <a:ext cx="5284781" cy="1024697"/>
          </a:xfrm>
          <a:custGeom>
            <a:avLst/>
            <a:gdLst/>
            <a:ahLst/>
            <a:cxnLst/>
            <a:rect l="l" t="t" r="r" b="b"/>
            <a:pathLst>
              <a:path w="5284781" h="1024697">
                <a:moveTo>
                  <a:pt x="37955" y="0"/>
                </a:moveTo>
                <a:lnTo>
                  <a:pt x="5246827" y="0"/>
                </a:lnTo>
                <a:cubicBezTo>
                  <a:pt x="5267788" y="0"/>
                  <a:pt x="5284781" y="16993"/>
                  <a:pt x="5284781" y="37955"/>
                </a:cubicBezTo>
                <a:lnTo>
                  <a:pt x="5284781" y="986742"/>
                </a:lnTo>
                <a:cubicBezTo>
                  <a:pt x="5284781" y="1007704"/>
                  <a:pt x="5267788" y="1024697"/>
                  <a:pt x="5246827" y="1024697"/>
                </a:cubicBezTo>
                <a:lnTo>
                  <a:pt x="37955" y="1024697"/>
                </a:lnTo>
                <a:cubicBezTo>
                  <a:pt x="17007" y="1024697"/>
                  <a:pt x="0" y="1007690"/>
                  <a:pt x="0" y="986742"/>
                </a:cubicBezTo>
                <a:lnTo>
                  <a:pt x="0" y="37955"/>
                </a:lnTo>
                <a:cubicBezTo>
                  <a:pt x="0" y="17007"/>
                  <a:pt x="17007" y="0"/>
                  <a:pt x="3795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83132" y="4649089"/>
            <a:ext cx="5132974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3132" y="4952704"/>
            <a:ext cx="5132974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[0.6属于簇A, 0.4属于簇B]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3132" y="5256318"/>
            <a:ext cx="5123486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比非黑即白的硬聚类提供更丰富的信息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2436" y="1176504"/>
            <a:ext cx="5740202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 vs K-Means对比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2436" y="1593974"/>
            <a:ext cx="5626347" cy="3026652"/>
          </a:xfrm>
          <a:custGeom>
            <a:avLst/>
            <a:gdLst/>
            <a:ahLst/>
            <a:cxnLst/>
            <a:rect l="l" t="t" r="r" b="b"/>
            <a:pathLst>
              <a:path w="5626347" h="3026652">
                <a:moveTo>
                  <a:pt x="75908" y="0"/>
                </a:moveTo>
                <a:lnTo>
                  <a:pt x="5550439" y="0"/>
                </a:lnTo>
                <a:cubicBezTo>
                  <a:pt x="5592362" y="0"/>
                  <a:pt x="5626347" y="33985"/>
                  <a:pt x="5626347" y="75908"/>
                </a:cubicBezTo>
                <a:lnTo>
                  <a:pt x="5626347" y="2950744"/>
                </a:lnTo>
                <a:cubicBezTo>
                  <a:pt x="5626347" y="2992667"/>
                  <a:pt x="5592362" y="3026652"/>
                  <a:pt x="5550439" y="3026652"/>
                </a:cubicBezTo>
                <a:lnTo>
                  <a:pt x="75908" y="3026652"/>
                </a:lnTo>
                <a:cubicBezTo>
                  <a:pt x="33985" y="3026652"/>
                  <a:pt x="0" y="2992667"/>
                  <a:pt x="0" y="2950744"/>
                </a:cubicBezTo>
                <a:lnTo>
                  <a:pt x="0" y="75908"/>
                </a:lnTo>
                <a:cubicBezTo>
                  <a:pt x="0" y="34013"/>
                  <a:pt x="34013" y="0"/>
                  <a:pt x="75908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4243" y="1745781"/>
          <a:ext cx="5322733" cy="2723038"/>
        </p:xfrm>
        <a:graphic>
          <a:graphicData uri="http://schemas.openxmlformats.org/drawingml/2006/table">
            <a:tbl>
              <a:tblPr/>
              <a:tblGrid>
                <a:gridCol w="2438400"/>
                <a:gridCol w="1214456"/>
                <a:gridCol w="1669877"/>
              </a:tblGrid>
              <a:tr h="389005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5904" marB="7590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GMM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5904" marB="7590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K-Means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5904" marB="7590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900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簇形状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5904" marB="7590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387A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椭圆形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球形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900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聚类类型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5904" marB="7590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B3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软聚类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硬聚类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900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概率输出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5904" marB="7590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B3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900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不确定性量化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5904" marB="7590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B3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900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对异常点敏感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5904" marB="7590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B3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900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计算复杂度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5904" marB="7590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B3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192436" y="4772433"/>
            <a:ext cx="5740202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可视化要点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192436" y="5227854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48839" y="5189902"/>
            <a:ext cx="2049395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绘制不同颜色标识的聚类结果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192436" y="5569419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48839" y="5531468"/>
            <a:ext cx="2201202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叠加显示每个高斯分量的等高线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192436" y="5910985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8839" y="5873033"/>
            <a:ext cx="2049395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用点的大小表示责任值的大小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192436" y="6252551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48839" y="6214599"/>
            <a:ext cx="2286593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对比GMM与K-Means的边界差异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028" y="337028"/>
            <a:ext cx="11576923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spc="46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SYSTEMATIC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028" y="572948"/>
            <a:ext cx="11669606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8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参数估计方法体系总结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7028" y="1061639"/>
            <a:ext cx="3724163" cy="3858974"/>
          </a:xfrm>
          <a:custGeom>
            <a:avLst/>
            <a:gdLst/>
            <a:ahLst/>
            <a:cxnLst/>
            <a:rect l="l" t="t" r="r" b="b"/>
            <a:pathLst>
              <a:path w="3724163" h="3858974">
                <a:moveTo>
                  <a:pt x="33703" y="0"/>
                </a:moveTo>
                <a:lnTo>
                  <a:pt x="3690460" y="0"/>
                </a:lnTo>
                <a:cubicBezTo>
                  <a:pt x="3709074" y="0"/>
                  <a:pt x="3724163" y="15089"/>
                  <a:pt x="3724163" y="33703"/>
                </a:cubicBezTo>
                <a:lnTo>
                  <a:pt x="3724163" y="3791567"/>
                </a:lnTo>
                <a:cubicBezTo>
                  <a:pt x="3724163" y="3828795"/>
                  <a:pt x="3693984" y="3858974"/>
                  <a:pt x="3656756" y="3858974"/>
                </a:cubicBezTo>
                <a:lnTo>
                  <a:pt x="67407" y="3858974"/>
                </a:lnTo>
                <a:cubicBezTo>
                  <a:pt x="30179" y="3858974"/>
                  <a:pt x="0" y="3828795"/>
                  <a:pt x="0" y="3791567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7028" y="1061639"/>
            <a:ext cx="3724163" cy="33703"/>
          </a:xfrm>
          <a:custGeom>
            <a:avLst/>
            <a:gdLst/>
            <a:ahLst/>
            <a:cxnLst/>
            <a:rect l="l" t="t" r="r" b="b"/>
            <a:pathLst>
              <a:path w="3724163" h="33703">
                <a:moveTo>
                  <a:pt x="33703" y="0"/>
                </a:moveTo>
                <a:lnTo>
                  <a:pt x="3690460" y="0"/>
                </a:lnTo>
                <a:cubicBezTo>
                  <a:pt x="3709074" y="0"/>
                  <a:pt x="3724163" y="15089"/>
                  <a:pt x="3724163" y="33703"/>
                </a:cubicBezTo>
                <a:lnTo>
                  <a:pt x="3724163" y="33703"/>
                </a:lnTo>
                <a:lnTo>
                  <a:pt x="0" y="33703"/>
                </a:ln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Text 4"/>
          <p:cNvSpPr/>
          <p:nvPr/>
        </p:nvSpPr>
        <p:spPr>
          <a:xfrm>
            <a:off x="505543" y="1247005"/>
            <a:ext cx="438137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5" b="1" dirty="0">
                <a:solidFill>
                  <a:srgbClr val="387A8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5270" y="1314411"/>
            <a:ext cx="513968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5543" y="1786250"/>
            <a:ext cx="3462966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基础参数估计方法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5543" y="2089576"/>
            <a:ext cx="3454540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最大似然估计是所有参数估计方法的</a:t>
            </a:r>
            <a:pPr>
              <a:lnSpc>
                <a:spcPct val="140000"/>
              </a:lnSpc>
            </a:pPr>
            <a:r>
              <a:rPr lang="en-US" sz="1062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基石</a:t>
            </a:r>
            <a:pPr>
              <a:lnSpc>
                <a:spcPct val="14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。核心思想：找到使观测数据出现概率最大的参数。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5543" y="2628821"/>
            <a:ext cx="3387135" cy="1011085"/>
          </a:xfrm>
          <a:custGeom>
            <a:avLst/>
            <a:gdLst/>
            <a:ahLst/>
            <a:cxnLst/>
            <a:rect l="l" t="t" r="r" b="b"/>
            <a:pathLst>
              <a:path w="3387135" h="1011085">
                <a:moveTo>
                  <a:pt x="33699" y="0"/>
                </a:moveTo>
                <a:lnTo>
                  <a:pt x="3353435" y="0"/>
                </a:lnTo>
                <a:cubicBezTo>
                  <a:pt x="3372047" y="0"/>
                  <a:pt x="3387135" y="15088"/>
                  <a:pt x="3387135" y="33699"/>
                </a:cubicBezTo>
                <a:lnTo>
                  <a:pt x="3387135" y="977386"/>
                </a:lnTo>
                <a:cubicBezTo>
                  <a:pt x="3387135" y="995997"/>
                  <a:pt x="3372047" y="1011085"/>
                  <a:pt x="3353435" y="1011085"/>
                </a:cubicBezTo>
                <a:lnTo>
                  <a:pt x="33699" y="1011085"/>
                </a:lnTo>
                <a:cubicBezTo>
                  <a:pt x="15088" y="1011085"/>
                  <a:pt x="0" y="995997"/>
                  <a:pt x="0" y="977386"/>
                </a:cubicBezTo>
                <a:lnTo>
                  <a:pt x="0" y="33699"/>
                </a:lnTo>
                <a:cubicBezTo>
                  <a:pt x="0" y="15100"/>
                  <a:pt x="15100" y="0"/>
                  <a:pt x="336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6651" y="2729930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适用条件：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6651" y="2965849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数据完整（无隐变量）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6651" y="3168066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似然函数可优化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6651" y="3370283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有解析解或数值解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5543" y="3741015"/>
            <a:ext cx="3387135" cy="1011085"/>
          </a:xfrm>
          <a:custGeom>
            <a:avLst/>
            <a:gdLst/>
            <a:ahLst/>
            <a:cxnLst/>
            <a:rect l="l" t="t" r="r" b="b"/>
            <a:pathLst>
              <a:path w="3387135" h="1011085">
                <a:moveTo>
                  <a:pt x="33699" y="0"/>
                </a:moveTo>
                <a:lnTo>
                  <a:pt x="3353435" y="0"/>
                </a:lnTo>
                <a:cubicBezTo>
                  <a:pt x="3372047" y="0"/>
                  <a:pt x="3387135" y="15088"/>
                  <a:pt x="3387135" y="33699"/>
                </a:cubicBezTo>
                <a:lnTo>
                  <a:pt x="3387135" y="977386"/>
                </a:lnTo>
                <a:cubicBezTo>
                  <a:pt x="3387135" y="995997"/>
                  <a:pt x="3372047" y="1011085"/>
                  <a:pt x="3353435" y="1011085"/>
                </a:cubicBezTo>
                <a:lnTo>
                  <a:pt x="33699" y="1011085"/>
                </a:lnTo>
                <a:cubicBezTo>
                  <a:pt x="15088" y="1011085"/>
                  <a:pt x="0" y="995997"/>
                  <a:pt x="0" y="977386"/>
                </a:cubicBezTo>
                <a:lnTo>
                  <a:pt x="0" y="33699"/>
                </a:lnTo>
                <a:cubicBezTo>
                  <a:pt x="0" y="15100"/>
                  <a:pt x="15100" y="0"/>
                  <a:pt x="336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6651" y="3842123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典型应用：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6651" y="4078043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 伯努利分布参数估计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6651" y="4280260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 正态分布参数估计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6651" y="4482477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 回归模型参数估计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32799" y="1061639"/>
            <a:ext cx="3724163" cy="3858974"/>
          </a:xfrm>
          <a:custGeom>
            <a:avLst/>
            <a:gdLst/>
            <a:ahLst/>
            <a:cxnLst/>
            <a:rect l="l" t="t" r="r" b="b"/>
            <a:pathLst>
              <a:path w="3724163" h="3858974">
                <a:moveTo>
                  <a:pt x="33703" y="0"/>
                </a:moveTo>
                <a:lnTo>
                  <a:pt x="3690460" y="0"/>
                </a:lnTo>
                <a:cubicBezTo>
                  <a:pt x="3709074" y="0"/>
                  <a:pt x="3724163" y="15089"/>
                  <a:pt x="3724163" y="33703"/>
                </a:cubicBezTo>
                <a:lnTo>
                  <a:pt x="3724163" y="3791567"/>
                </a:lnTo>
                <a:cubicBezTo>
                  <a:pt x="3724163" y="3828795"/>
                  <a:pt x="3693984" y="3858974"/>
                  <a:pt x="3656756" y="3858974"/>
                </a:cubicBezTo>
                <a:lnTo>
                  <a:pt x="67407" y="3858974"/>
                </a:lnTo>
                <a:cubicBezTo>
                  <a:pt x="30179" y="3858974"/>
                  <a:pt x="0" y="3828795"/>
                  <a:pt x="0" y="3791567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232799" y="1061639"/>
            <a:ext cx="3724163" cy="33703"/>
          </a:xfrm>
          <a:custGeom>
            <a:avLst/>
            <a:gdLst/>
            <a:ahLst/>
            <a:cxnLst/>
            <a:rect l="l" t="t" r="r" b="b"/>
            <a:pathLst>
              <a:path w="3724163" h="33703">
                <a:moveTo>
                  <a:pt x="33703" y="0"/>
                </a:moveTo>
                <a:lnTo>
                  <a:pt x="3690460" y="0"/>
                </a:lnTo>
                <a:cubicBezTo>
                  <a:pt x="3709074" y="0"/>
                  <a:pt x="3724163" y="15089"/>
                  <a:pt x="3724163" y="33703"/>
                </a:cubicBezTo>
                <a:lnTo>
                  <a:pt x="3724163" y="33703"/>
                </a:lnTo>
                <a:lnTo>
                  <a:pt x="0" y="33703"/>
                </a:ln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2" name="Text 20"/>
          <p:cNvSpPr/>
          <p:nvPr/>
        </p:nvSpPr>
        <p:spPr>
          <a:xfrm>
            <a:off x="4401314" y="1247005"/>
            <a:ext cx="438137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5" b="1" dirty="0">
                <a:solidFill>
                  <a:srgbClr val="E0B35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41041" y="1314411"/>
            <a:ext cx="800442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01314" y="1786250"/>
            <a:ext cx="3462966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处理隐变量的迭代框架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01314" y="2089576"/>
            <a:ext cx="3454540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EM算法是处理</a:t>
            </a:r>
            <a:pPr>
              <a:lnSpc>
                <a:spcPct val="140000"/>
              </a:lnSpc>
            </a:pPr>
            <a:r>
              <a:rPr lang="en-US" sz="1062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隐变量</a:t>
            </a:r>
            <a:pPr>
              <a:lnSpc>
                <a:spcPct val="14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的通用优化框架。通过E步（期望）和M步（最大化）交替迭代。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01314" y="2628821"/>
            <a:ext cx="3387135" cy="1011085"/>
          </a:xfrm>
          <a:custGeom>
            <a:avLst/>
            <a:gdLst/>
            <a:ahLst/>
            <a:cxnLst/>
            <a:rect l="l" t="t" r="r" b="b"/>
            <a:pathLst>
              <a:path w="3387135" h="1011085">
                <a:moveTo>
                  <a:pt x="33699" y="0"/>
                </a:moveTo>
                <a:lnTo>
                  <a:pt x="3353435" y="0"/>
                </a:lnTo>
                <a:cubicBezTo>
                  <a:pt x="3372047" y="0"/>
                  <a:pt x="3387135" y="15088"/>
                  <a:pt x="3387135" y="33699"/>
                </a:cubicBezTo>
                <a:lnTo>
                  <a:pt x="3387135" y="977386"/>
                </a:lnTo>
                <a:cubicBezTo>
                  <a:pt x="3387135" y="995997"/>
                  <a:pt x="3372047" y="1011085"/>
                  <a:pt x="3353435" y="1011085"/>
                </a:cubicBezTo>
                <a:lnTo>
                  <a:pt x="33699" y="1011085"/>
                </a:lnTo>
                <a:cubicBezTo>
                  <a:pt x="15088" y="1011085"/>
                  <a:pt x="0" y="995997"/>
                  <a:pt x="0" y="977386"/>
                </a:cubicBezTo>
                <a:lnTo>
                  <a:pt x="0" y="33699"/>
                </a:lnTo>
                <a:cubicBezTo>
                  <a:pt x="0" y="15100"/>
                  <a:pt x="15100" y="0"/>
                  <a:pt x="336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02422" y="2729930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适用条件：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2422" y="2965849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存在隐变量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02422" y="3168066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直接MLE困难或不可行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02422" y="3370283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完全数据对数似然可优化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01314" y="3741015"/>
            <a:ext cx="3387135" cy="1011085"/>
          </a:xfrm>
          <a:custGeom>
            <a:avLst/>
            <a:gdLst/>
            <a:ahLst/>
            <a:cxnLst/>
            <a:rect l="l" t="t" r="r" b="b"/>
            <a:pathLst>
              <a:path w="3387135" h="1011085">
                <a:moveTo>
                  <a:pt x="33699" y="0"/>
                </a:moveTo>
                <a:lnTo>
                  <a:pt x="3353435" y="0"/>
                </a:lnTo>
                <a:cubicBezTo>
                  <a:pt x="3372047" y="0"/>
                  <a:pt x="3387135" y="15088"/>
                  <a:pt x="3387135" y="33699"/>
                </a:cubicBezTo>
                <a:lnTo>
                  <a:pt x="3387135" y="977386"/>
                </a:lnTo>
                <a:cubicBezTo>
                  <a:pt x="3387135" y="995997"/>
                  <a:pt x="3372047" y="1011085"/>
                  <a:pt x="3353435" y="1011085"/>
                </a:cubicBezTo>
                <a:lnTo>
                  <a:pt x="33699" y="1011085"/>
                </a:lnTo>
                <a:cubicBezTo>
                  <a:pt x="15088" y="1011085"/>
                  <a:pt x="0" y="995997"/>
                  <a:pt x="0" y="977386"/>
                </a:cubicBezTo>
                <a:lnTo>
                  <a:pt x="0" y="33699"/>
                </a:lnTo>
                <a:cubicBezTo>
                  <a:pt x="0" y="15100"/>
                  <a:pt x="15100" y="0"/>
                  <a:pt x="336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02422" y="3842123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典型应用：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02422" y="4078043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 三硬币模型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02422" y="4280260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 GMM参数学习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02422" y="4482477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 HMM参数学习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28570" y="1061639"/>
            <a:ext cx="3724163" cy="3858974"/>
          </a:xfrm>
          <a:custGeom>
            <a:avLst/>
            <a:gdLst/>
            <a:ahLst/>
            <a:cxnLst/>
            <a:rect l="l" t="t" r="r" b="b"/>
            <a:pathLst>
              <a:path w="3724163" h="3858974">
                <a:moveTo>
                  <a:pt x="33703" y="0"/>
                </a:moveTo>
                <a:lnTo>
                  <a:pt x="3690460" y="0"/>
                </a:lnTo>
                <a:cubicBezTo>
                  <a:pt x="3709074" y="0"/>
                  <a:pt x="3724163" y="15089"/>
                  <a:pt x="3724163" y="33703"/>
                </a:cubicBezTo>
                <a:lnTo>
                  <a:pt x="3724163" y="3791567"/>
                </a:lnTo>
                <a:cubicBezTo>
                  <a:pt x="3724163" y="3828795"/>
                  <a:pt x="3693984" y="3858974"/>
                  <a:pt x="3656756" y="3858974"/>
                </a:cubicBezTo>
                <a:lnTo>
                  <a:pt x="67407" y="3858974"/>
                </a:lnTo>
                <a:cubicBezTo>
                  <a:pt x="30179" y="3858974"/>
                  <a:pt x="0" y="3828795"/>
                  <a:pt x="0" y="3791567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28570" y="1061639"/>
            <a:ext cx="3724163" cy="33703"/>
          </a:xfrm>
          <a:custGeom>
            <a:avLst/>
            <a:gdLst/>
            <a:ahLst/>
            <a:cxnLst/>
            <a:rect l="l" t="t" r="r" b="b"/>
            <a:pathLst>
              <a:path w="3724163" h="33703">
                <a:moveTo>
                  <a:pt x="33703" y="0"/>
                </a:moveTo>
                <a:lnTo>
                  <a:pt x="3690460" y="0"/>
                </a:lnTo>
                <a:cubicBezTo>
                  <a:pt x="3709074" y="0"/>
                  <a:pt x="3724163" y="15089"/>
                  <a:pt x="3724163" y="33703"/>
                </a:cubicBezTo>
                <a:lnTo>
                  <a:pt x="3724163" y="33703"/>
                </a:lnTo>
                <a:lnTo>
                  <a:pt x="0" y="33703"/>
                </a:ln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8" name="Text 36"/>
          <p:cNvSpPr/>
          <p:nvPr/>
        </p:nvSpPr>
        <p:spPr>
          <a:xfrm>
            <a:off x="8297085" y="1247005"/>
            <a:ext cx="438137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5" b="1" dirty="0">
                <a:solidFill>
                  <a:srgbClr val="5D6C7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36812" y="1314411"/>
            <a:ext cx="59822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97085" y="1786250"/>
            <a:ext cx="3462966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EM算法的经典应用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97085" y="2089576"/>
            <a:ext cx="3454540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GMM是EM算法在</a:t>
            </a:r>
            <a:pPr>
              <a:lnSpc>
                <a:spcPct val="140000"/>
              </a:lnSpc>
            </a:pPr>
            <a:r>
              <a:rPr lang="en-US" sz="1062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高斯混合模型</a:t>
            </a:r>
            <a:pPr>
              <a:lnSpc>
                <a:spcPct val="14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上的具体应用。通过组合多个高斯分布来拟合复杂数据。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97085" y="2628821"/>
            <a:ext cx="3387135" cy="1011085"/>
          </a:xfrm>
          <a:custGeom>
            <a:avLst/>
            <a:gdLst/>
            <a:ahLst/>
            <a:cxnLst/>
            <a:rect l="l" t="t" r="r" b="b"/>
            <a:pathLst>
              <a:path w="3387135" h="1011085">
                <a:moveTo>
                  <a:pt x="33699" y="0"/>
                </a:moveTo>
                <a:lnTo>
                  <a:pt x="3353435" y="0"/>
                </a:lnTo>
                <a:cubicBezTo>
                  <a:pt x="3372047" y="0"/>
                  <a:pt x="3387135" y="15088"/>
                  <a:pt x="3387135" y="33699"/>
                </a:cubicBezTo>
                <a:lnTo>
                  <a:pt x="3387135" y="977386"/>
                </a:lnTo>
                <a:cubicBezTo>
                  <a:pt x="3387135" y="995997"/>
                  <a:pt x="3372047" y="1011085"/>
                  <a:pt x="3353435" y="1011085"/>
                </a:cubicBezTo>
                <a:lnTo>
                  <a:pt x="33699" y="1011085"/>
                </a:lnTo>
                <a:cubicBezTo>
                  <a:pt x="15088" y="1011085"/>
                  <a:pt x="0" y="995997"/>
                  <a:pt x="0" y="977386"/>
                </a:cubicBezTo>
                <a:lnTo>
                  <a:pt x="0" y="33699"/>
                </a:lnTo>
                <a:cubicBezTo>
                  <a:pt x="0" y="15100"/>
                  <a:pt x="15100" y="0"/>
                  <a:pt x="336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398193" y="2729930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核心特性：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98193" y="2965849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软聚类（概率归属）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98193" y="3168066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椭圆形簇形状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98193" y="3370283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灵活的协方差结构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97085" y="3741015"/>
            <a:ext cx="3387135" cy="1011085"/>
          </a:xfrm>
          <a:custGeom>
            <a:avLst/>
            <a:gdLst/>
            <a:ahLst/>
            <a:cxnLst/>
            <a:rect l="l" t="t" r="r" b="b"/>
            <a:pathLst>
              <a:path w="3387135" h="1011085">
                <a:moveTo>
                  <a:pt x="33699" y="0"/>
                </a:moveTo>
                <a:lnTo>
                  <a:pt x="3353435" y="0"/>
                </a:lnTo>
                <a:cubicBezTo>
                  <a:pt x="3372047" y="0"/>
                  <a:pt x="3387135" y="15088"/>
                  <a:pt x="3387135" y="33699"/>
                </a:cubicBezTo>
                <a:lnTo>
                  <a:pt x="3387135" y="977386"/>
                </a:lnTo>
                <a:cubicBezTo>
                  <a:pt x="3387135" y="995997"/>
                  <a:pt x="3372047" y="1011085"/>
                  <a:pt x="3353435" y="1011085"/>
                </a:cubicBezTo>
                <a:lnTo>
                  <a:pt x="33699" y="1011085"/>
                </a:lnTo>
                <a:cubicBezTo>
                  <a:pt x="15088" y="1011085"/>
                  <a:pt x="0" y="995997"/>
                  <a:pt x="0" y="977386"/>
                </a:cubicBezTo>
                <a:lnTo>
                  <a:pt x="0" y="33699"/>
                </a:lnTo>
                <a:cubicBezTo>
                  <a:pt x="0" y="15100"/>
                  <a:pt x="15100" y="0"/>
                  <a:pt x="336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398193" y="3842123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典型应用：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98193" y="4078043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 聚类分析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98193" y="4280260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 图像分割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98193" y="4482477"/>
            <a:ext cx="324389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 异常检测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53880" y="5089128"/>
            <a:ext cx="11501092" cy="1432370"/>
          </a:xfrm>
          <a:custGeom>
            <a:avLst/>
            <a:gdLst/>
            <a:ahLst/>
            <a:cxnLst/>
            <a:rect l="l" t="t" r="r" b="b"/>
            <a:pathLst>
              <a:path w="11501092" h="1432370">
                <a:moveTo>
                  <a:pt x="33703" y="0"/>
                </a:moveTo>
                <a:lnTo>
                  <a:pt x="11433685" y="0"/>
                </a:lnTo>
                <a:cubicBezTo>
                  <a:pt x="11470913" y="0"/>
                  <a:pt x="11501092" y="30179"/>
                  <a:pt x="11501092" y="67407"/>
                </a:cubicBezTo>
                <a:lnTo>
                  <a:pt x="11501092" y="1364963"/>
                </a:lnTo>
                <a:cubicBezTo>
                  <a:pt x="11501092" y="1402191"/>
                  <a:pt x="11470913" y="1432370"/>
                  <a:pt x="11433685" y="1432370"/>
                </a:cubicBezTo>
                <a:lnTo>
                  <a:pt x="33703" y="1432370"/>
                </a:lnTo>
                <a:cubicBezTo>
                  <a:pt x="15089" y="1432370"/>
                  <a:pt x="0" y="1417281"/>
                  <a:pt x="0" y="139866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53880" y="5089128"/>
            <a:ext cx="33703" cy="1432370"/>
          </a:xfrm>
          <a:custGeom>
            <a:avLst/>
            <a:gdLst/>
            <a:ahLst/>
            <a:cxnLst/>
            <a:rect l="l" t="t" r="r" b="b"/>
            <a:pathLst>
              <a:path w="33703" h="1432370">
                <a:moveTo>
                  <a:pt x="33703" y="0"/>
                </a:moveTo>
                <a:lnTo>
                  <a:pt x="33703" y="0"/>
                </a:lnTo>
                <a:lnTo>
                  <a:pt x="33703" y="1432370"/>
                </a:lnTo>
                <a:lnTo>
                  <a:pt x="33703" y="1432370"/>
                </a:lnTo>
                <a:cubicBezTo>
                  <a:pt x="15089" y="1432370"/>
                  <a:pt x="0" y="1417281"/>
                  <a:pt x="0" y="139866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54" name="Shape 52"/>
          <p:cNvSpPr/>
          <p:nvPr/>
        </p:nvSpPr>
        <p:spPr>
          <a:xfrm>
            <a:off x="557150" y="5291345"/>
            <a:ext cx="284368" cy="252771"/>
          </a:xfrm>
          <a:custGeom>
            <a:avLst/>
            <a:gdLst/>
            <a:ahLst/>
            <a:cxnLst/>
            <a:rect l="l" t="t" r="r" b="b"/>
            <a:pathLst>
              <a:path w="284368" h="252771">
                <a:moveTo>
                  <a:pt x="23697" y="96665"/>
                </a:moveTo>
                <a:lnTo>
                  <a:pt x="126978" y="139172"/>
                </a:lnTo>
                <a:cubicBezTo>
                  <a:pt x="131816" y="141147"/>
                  <a:pt x="136951" y="142184"/>
                  <a:pt x="142184" y="142184"/>
                </a:cubicBezTo>
                <a:cubicBezTo>
                  <a:pt x="147417" y="142184"/>
                  <a:pt x="152551" y="141147"/>
                  <a:pt x="157390" y="139172"/>
                </a:cubicBezTo>
                <a:lnTo>
                  <a:pt x="277061" y="89902"/>
                </a:lnTo>
                <a:cubicBezTo>
                  <a:pt x="281504" y="88075"/>
                  <a:pt x="284368" y="83780"/>
                  <a:pt x="284368" y="78991"/>
                </a:cubicBezTo>
                <a:cubicBezTo>
                  <a:pt x="284368" y="74202"/>
                  <a:pt x="281504" y="69907"/>
                  <a:pt x="277061" y="68080"/>
                </a:cubicBezTo>
                <a:lnTo>
                  <a:pt x="157390" y="18810"/>
                </a:lnTo>
                <a:cubicBezTo>
                  <a:pt x="152551" y="16835"/>
                  <a:pt x="147417" y="15798"/>
                  <a:pt x="142184" y="15798"/>
                </a:cubicBezTo>
                <a:cubicBezTo>
                  <a:pt x="136951" y="15798"/>
                  <a:pt x="131816" y="16835"/>
                  <a:pt x="126978" y="18810"/>
                </a:cubicBezTo>
                <a:lnTo>
                  <a:pt x="7307" y="68080"/>
                </a:lnTo>
                <a:cubicBezTo>
                  <a:pt x="2863" y="69907"/>
                  <a:pt x="0" y="74202"/>
                  <a:pt x="0" y="78991"/>
                </a:cubicBezTo>
                <a:lnTo>
                  <a:pt x="0" y="225124"/>
                </a:lnTo>
                <a:cubicBezTo>
                  <a:pt x="0" y="231691"/>
                  <a:pt x="5283" y="236973"/>
                  <a:pt x="11849" y="236973"/>
                </a:cubicBezTo>
                <a:cubicBezTo>
                  <a:pt x="18415" y="236973"/>
                  <a:pt x="23697" y="231691"/>
                  <a:pt x="23697" y="225124"/>
                </a:cubicBezTo>
                <a:lnTo>
                  <a:pt x="23697" y="96665"/>
                </a:lnTo>
                <a:close/>
                <a:moveTo>
                  <a:pt x="47395" y="132063"/>
                </a:moveTo>
                <a:lnTo>
                  <a:pt x="47395" y="189578"/>
                </a:lnTo>
                <a:cubicBezTo>
                  <a:pt x="47395" y="215744"/>
                  <a:pt x="89852" y="236973"/>
                  <a:pt x="142184" y="236973"/>
                </a:cubicBezTo>
                <a:cubicBezTo>
                  <a:pt x="194515" y="236973"/>
                  <a:pt x="236973" y="215744"/>
                  <a:pt x="236973" y="189578"/>
                </a:cubicBezTo>
                <a:lnTo>
                  <a:pt x="236973" y="132014"/>
                </a:lnTo>
                <a:lnTo>
                  <a:pt x="166424" y="161092"/>
                </a:lnTo>
                <a:cubicBezTo>
                  <a:pt x="158723" y="164252"/>
                  <a:pt x="150527" y="165881"/>
                  <a:pt x="142184" y="165881"/>
                </a:cubicBezTo>
                <a:cubicBezTo>
                  <a:pt x="133840" y="165881"/>
                  <a:pt x="125645" y="164252"/>
                  <a:pt x="117943" y="161092"/>
                </a:cubicBezTo>
                <a:lnTo>
                  <a:pt x="47395" y="132014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55" name="Text 53"/>
          <p:cNvSpPr/>
          <p:nvPr/>
        </p:nvSpPr>
        <p:spPr>
          <a:xfrm>
            <a:off x="990021" y="5257642"/>
            <a:ext cx="4811079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知识体系的演进脉络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90021" y="5628373"/>
            <a:ext cx="4777377" cy="219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从MLE到EM算法再到GMM，构成了</a:t>
            </a:r>
            <a:pPr>
              <a:lnSpc>
                <a:spcPct val="140000"/>
              </a:lnSpc>
            </a:pPr>
            <a:r>
              <a:rPr lang="en-US" sz="1062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统计学习中参数估计方法的完整演进脉络</a:t>
            </a:r>
            <a:pPr>
              <a:lnSpc>
                <a:spcPct val="14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90021" y="5948550"/>
            <a:ext cx="1499776" cy="404434"/>
          </a:xfrm>
          <a:custGeom>
            <a:avLst/>
            <a:gdLst/>
            <a:ahLst/>
            <a:cxnLst/>
            <a:rect l="l" t="t" r="r" b="b"/>
            <a:pathLst>
              <a:path w="1499776" h="404434">
                <a:moveTo>
                  <a:pt x="33701" y="0"/>
                </a:moveTo>
                <a:lnTo>
                  <a:pt x="1466075" y="0"/>
                </a:lnTo>
                <a:cubicBezTo>
                  <a:pt x="1484687" y="0"/>
                  <a:pt x="1499776" y="15089"/>
                  <a:pt x="1499776" y="33701"/>
                </a:cubicBezTo>
                <a:lnTo>
                  <a:pt x="1499776" y="370733"/>
                </a:lnTo>
                <a:cubicBezTo>
                  <a:pt x="1499776" y="389345"/>
                  <a:pt x="1484687" y="404434"/>
                  <a:pt x="1466075" y="404434"/>
                </a:cubicBezTo>
                <a:lnTo>
                  <a:pt x="33701" y="404434"/>
                </a:lnTo>
                <a:cubicBezTo>
                  <a:pt x="15089" y="404434"/>
                  <a:pt x="0" y="389345"/>
                  <a:pt x="0" y="370733"/>
                </a:cubicBezTo>
                <a:lnTo>
                  <a:pt x="0" y="33701"/>
                </a:lnTo>
                <a:cubicBezTo>
                  <a:pt x="0" y="15101"/>
                  <a:pt x="15101" y="0"/>
                  <a:pt x="337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91129" y="6049659"/>
            <a:ext cx="1364965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</a:t>
            </a:r>
            <a:pPr>
              <a:lnSpc>
                <a:spcPct val="13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提供基础框架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594987" y="5948550"/>
            <a:ext cx="1499776" cy="404434"/>
          </a:xfrm>
          <a:custGeom>
            <a:avLst/>
            <a:gdLst/>
            <a:ahLst/>
            <a:cxnLst/>
            <a:rect l="l" t="t" r="r" b="b"/>
            <a:pathLst>
              <a:path w="1499776" h="404434">
                <a:moveTo>
                  <a:pt x="33701" y="0"/>
                </a:moveTo>
                <a:lnTo>
                  <a:pt x="1466075" y="0"/>
                </a:lnTo>
                <a:cubicBezTo>
                  <a:pt x="1484687" y="0"/>
                  <a:pt x="1499776" y="15089"/>
                  <a:pt x="1499776" y="33701"/>
                </a:cubicBezTo>
                <a:lnTo>
                  <a:pt x="1499776" y="370733"/>
                </a:lnTo>
                <a:cubicBezTo>
                  <a:pt x="1499776" y="389345"/>
                  <a:pt x="1484687" y="404434"/>
                  <a:pt x="1466075" y="404434"/>
                </a:cubicBezTo>
                <a:lnTo>
                  <a:pt x="33701" y="404434"/>
                </a:lnTo>
                <a:cubicBezTo>
                  <a:pt x="15089" y="404434"/>
                  <a:pt x="0" y="389345"/>
                  <a:pt x="0" y="370733"/>
                </a:cubicBezTo>
                <a:lnTo>
                  <a:pt x="0" y="33701"/>
                </a:lnTo>
                <a:cubicBezTo>
                  <a:pt x="0" y="15101"/>
                  <a:pt x="15101" y="0"/>
                  <a:pt x="337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2696095" y="6049659"/>
            <a:ext cx="1364965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</a:t>
            </a:r>
            <a:pPr>
              <a:lnSpc>
                <a:spcPct val="13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解决隐变量问题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199952" y="5948550"/>
            <a:ext cx="1499776" cy="404434"/>
          </a:xfrm>
          <a:custGeom>
            <a:avLst/>
            <a:gdLst/>
            <a:ahLst/>
            <a:cxnLst/>
            <a:rect l="l" t="t" r="r" b="b"/>
            <a:pathLst>
              <a:path w="1499776" h="404434">
                <a:moveTo>
                  <a:pt x="33701" y="0"/>
                </a:moveTo>
                <a:lnTo>
                  <a:pt x="1466075" y="0"/>
                </a:lnTo>
                <a:cubicBezTo>
                  <a:pt x="1484687" y="0"/>
                  <a:pt x="1499776" y="15089"/>
                  <a:pt x="1499776" y="33701"/>
                </a:cubicBezTo>
                <a:lnTo>
                  <a:pt x="1499776" y="370733"/>
                </a:lnTo>
                <a:cubicBezTo>
                  <a:pt x="1499776" y="389345"/>
                  <a:pt x="1484687" y="404434"/>
                  <a:pt x="1466075" y="404434"/>
                </a:cubicBezTo>
                <a:lnTo>
                  <a:pt x="33701" y="404434"/>
                </a:lnTo>
                <a:cubicBezTo>
                  <a:pt x="15089" y="404434"/>
                  <a:pt x="0" y="389345"/>
                  <a:pt x="0" y="370733"/>
                </a:cubicBezTo>
                <a:lnTo>
                  <a:pt x="0" y="33701"/>
                </a:lnTo>
                <a:cubicBezTo>
                  <a:pt x="0" y="15101"/>
                  <a:pt x="15101" y="0"/>
                  <a:pt x="337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301061" y="6049659"/>
            <a:ext cx="1364965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</a:t>
            </a:r>
            <a:pPr>
              <a:lnSpc>
                <a:spcPct val="130000"/>
              </a:lnSpc>
            </a:pPr>
            <a:r>
              <a:rPr lang="en-US" sz="1062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实现具体应用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 REFERENCE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关键数学公式汇总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5619750" cy="2552700"/>
          </a:xfrm>
          <a:custGeom>
            <a:avLst/>
            <a:gdLst/>
            <a:ahLst/>
            <a:cxnLst/>
            <a:rect l="l" t="t" r="r" b="b"/>
            <a:pathLst>
              <a:path w="5619750" h="2552700">
                <a:moveTo>
                  <a:pt x="38100" y="0"/>
                </a:moveTo>
                <a:lnTo>
                  <a:pt x="5543552" y="0"/>
                </a:lnTo>
                <a:cubicBezTo>
                  <a:pt x="5585635" y="0"/>
                  <a:pt x="5619750" y="34115"/>
                  <a:pt x="5619750" y="76198"/>
                </a:cubicBezTo>
                <a:lnTo>
                  <a:pt x="5619750" y="2476502"/>
                </a:lnTo>
                <a:cubicBezTo>
                  <a:pt x="5619750" y="2518585"/>
                  <a:pt x="5585635" y="2552700"/>
                  <a:pt x="5543552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181100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Text 4"/>
          <p:cNvSpPr/>
          <p:nvPr/>
        </p:nvSpPr>
        <p:spPr>
          <a:xfrm>
            <a:off x="533400" y="12954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MLE核心公式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" y="1638300"/>
            <a:ext cx="5372100" cy="609600"/>
          </a:xfrm>
          <a:custGeom>
            <a:avLst/>
            <a:gdLst/>
            <a:ahLst/>
            <a:cxnLst/>
            <a:rect l="l" t="t" r="r" b="b"/>
            <a:pathLst>
              <a:path w="5372100" h="6096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571500"/>
                </a:lnTo>
                <a:cubicBezTo>
                  <a:pt x="5372100" y="592528"/>
                  <a:pt x="5355028" y="609600"/>
                  <a:pt x="53340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17145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似然函数：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9431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L(θ) = ∏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i=1n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f(x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|θ)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2324100"/>
            <a:ext cx="5372100" cy="609600"/>
          </a:xfrm>
          <a:custGeom>
            <a:avLst/>
            <a:gdLst/>
            <a:ahLst/>
            <a:cxnLst/>
            <a:rect l="l" t="t" r="r" b="b"/>
            <a:pathLst>
              <a:path w="5372100" h="6096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571500"/>
                </a:lnTo>
                <a:cubicBezTo>
                  <a:pt x="5372100" y="592528"/>
                  <a:pt x="5355028" y="609600"/>
                  <a:pt x="53340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24003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对数似然：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6289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l(θ) = Σ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i=1n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ln f(x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|θ)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3009900"/>
            <a:ext cx="5372100" cy="609600"/>
          </a:xfrm>
          <a:custGeom>
            <a:avLst/>
            <a:gdLst/>
            <a:ahLst/>
            <a:cxnLst/>
            <a:rect l="l" t="t" r="r" b="b"/>
            <a:pathLst>
              <a:path w="5372100" h="6096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571500"/>
                </a:lnTo>
                <a:cubicBezTo>
                  <a:pt x="5372100" y="592528"/>
                  <a:pt x="5355028" y="609600"/>
                  <a:pt x="53340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" y="30861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MLE估计：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3147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θ̂ = arg max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θ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l(θ)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848100"/>
            <a:ext cx="5619750" cy="952500"/>
          </a:xfrm>
          <a:custGeom>
            <a:avLst/>
            <a:gdLst/>
            <a:ahLst/>
            <a:cxnLst/>
            <a:rect l="l" t="t" r="r" b="b"/>
            <a:pathLst>
              <a:path w="5619750" h="9525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876300"/>
                </a:lnTo>
                <a:cubicBezTo>
                  <a:pt x="5619750" y="918356"/>
                  <a:pt x="5585606" y="952500"/>
                  <a:pt x="55435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8481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8" name="Text 16"/>
          <p:cNvSpPr/>
          <p:nvPr/>
        </p:nvSpPr>
        <p:spPr>
          <a:xfrm>
            <a:off x="533400" y="39624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伯努利分布MLE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4305300"/>
            <a:ext cx="5372100" cy="381000"/>
          </a:xfrm>
          <a:custGeom>
            <a:avLst/>
            <a:gdLst/>
            <a:ahLst/>
            <a:cxnLst/>
            <a:rect l="l" t="t" r="r" b="b"/>
            <a:pathLst>
              <a:path w="5372100" h="3810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342900"/>
                </a:lnTo>
                <a:cubicBezTo>
                  <a:pt x="5372100" y="363928"/>
                  <a:pt x="5355028" y="381000"/>
                  <a:pt x="53340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5300" y="4305300"/>
            <a:ext cx="544830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p̂ = (Σ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i=1n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/ 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4914900"/>
            <a:ext cx="5619750" cy="1409700"/>
          </a:xfrm>
          <a:custGeom>
            <a:avLst/>
            <a:gdLst/>
            <a:ahLst/>
            <a:cxnLst/>
            <a:rect l="l" t="t" r="r" b="b"/>
            <a:pathLst>
              <a:path w="5619750" h="1409700">
                <a:moveTo>
                  <a:pt x="38100" y="0"/>
                </a:moveTo>
                <a:lnTo>
                  <a:pt x="5543556" y="0"/>
                </a:lnTo>
                <a:cubicBezTo>
                  <a:pt x="5585608" y="0"/>
                  <a:pt x="5619750" y="34142"/>
                  <a:pt x="5619750" y="76194"/>
                </a:cubicBezTo>
                <a:lnTo>
                  <a:pt x="5619750" y="1333506"/>
                </a:lnTo>
                <a:cubicBezTo>
                  <a:pt x="5619750" y="1375587"/>
                  <a:pt x="5585637" y="1409700"/>
                  <a:pt x="55435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" y="49149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3" name="Text 21"/>
          <p:cNvSpPr/>
          <p:nvPr/>
        </p:nvSpPr>
        <p:spPr>
          <a:xfrm>
            <a:off x="533400" y="50292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正态分布MLE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3400" y="5372100"/>
            <a:ext cx="5372100" cy="381000"/>
          </a:xfrm>
          <a:custGeom>
            <a:avLst/>
            <a:gdLst/>
            <a:ahLst/>
            <a:cxnLst/>
            <a:rect l="l" t="t" r="r" b="b"/>
            <a:pathLst>
              <a:path w="5372100" h="3810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342900"/>
                </a:lnTo>
                <a:cubicBezTo>
                  <a:pt x="5372100" y="363928"/>
                  <a:pt x="5355028" y="381000"/>
                  <a:pt x="53340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5300" y="5372100"/>
            <a:ext cx="544830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μ̂ = (1/n) Σ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i=1n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5829300"/>
            <a:ext cx="5372100" cy="381000"/>
          </a:xfrm>
          <a:custGeom>
            <a:avLst/>
            <a:gdLst/>
            <a:ahLst/>
            <a:cxnLst/>
            <a:rect l="l" t="t" r="r" b="b"/>
            <a:pathLst>
              <a:path w="5372100" h="3810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342900"/>
                </a:lnTo>
                <a:cubicBezTo>
                  <a:pt x="5372100" y="363928"/>
                  <a:pt x="5355028" y="381000"/>
                  <a:pt x="53340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5300" y="5829300"/>
            <a:ext cx="544830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σ̂² = (1/n) Σ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i=1n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(x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μ̂)²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250" y="1181100"/>
            <a:ext cx="5619750" cy="952500"/>
          </a:xfrm>
          <a:custGeom>
            <a:avLst/>
            <a:gdLst/>
            <a:ahLst/>
            <a:cxnLst/>
            <a:rect l="l" t="t" r="r" b="b"/>
            <a:pathLst>
              <a:path w="5619750" h="9525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876300"/>
                </a:lnTo>
                <a:cubicBezTo>
                  <a:pt x="5619750" y="918356"/>
                  <a:pt x="5585606" y="952500"/>
                  <a:pt x="55435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191250" y="11811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0" name="Text 28"/>
          <p:cNvSpPr/>
          <p:nvPr/>
        </p:nvSpPr>
        <p:spPr>
          <a:xfrm>
            <a:off x="6324600" y="12954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EM算法Q函数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24600" y="1638300"/>
            <a:ext cx="5372100" cy="381000"/>
          </a:xfrm>
          <a:custGeom>
            <a:avLst/>
            <a:gdLst/>
            <a:ahLst/>
            <a:cxnLst/>
            <a:rect l="l" t="t" r="r" b="b"/>
            <a:pathLst>
              <a:path w="5372100" h="3810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342900"/>
                </a:lnTo>
                <a:cubicBezTo>
                  <a:pt x="5372100" y="363928"/>
                  <a:pt x="5355028" y="381000"/>
                  <a:pt x="53340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286500" y="1638300"/>
            <a:ext cx="544830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Q(θ,θ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= E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Z|X,θ(t)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[ln P(X,Z|θ)]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1250" y="2247900"/>
            <a:ext cx="5619750" cy="1447800"/>
          </a:xfrm>
          <a:custGeom>
            <a:avLst/>
            <a:gdLst/>
            <a:ahLst/>
            <a:cxnLst/>
            <a:rect l="l" t="t" r="r" b="b"/>
            <a:pathLst>
              <a:path w="5619750" h="1447800">
                <a:moveTo>
                  <a:pt x="38100" y="0"/>
                </a:moveTo>
                <a:lnTo>
                  <a:pt x="5543552" y="0"/>
                </a:lnTo>
                <a:cubicBezTo>
                  <a:pt x="5585607" y="0"/>
                  <a:pt x="5619750" y="34143"/>
                  <a:pt x="5619750" y="76198"/>
                </a:cubicBezTo>
                <a:lnTo>
                  <a:pt x="5619750" y="1371602"/>
                </a:lnTo>
                <a:cubicBezTo>
                  <a:pt x="5619750" y="1413657"/>
                  <a:pt x="5585607" y="1447800"/>
                  <a:pt x="5543552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191250" y="22479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5" name="Text 33"/>
          <p:cNvSpPr/>
          <p:nvPr/>
        </p:nvSpPr>
        <p:spPr>
          <a:xfrm>
            <a:off x="6324600" y="23622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三硬币模型参数更新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4600" y="2705100"/>
            <a:ext cx="5372100" cy="266700"/>
          </a:xfrm>
          <a:custGeom>
            <a:avLst/>
            <a:gdLst/>
            <a:ahLst/>
            <a:cxnLst/>
            <a:rect l="l" t="t" r="r" b="b"/>
            <a:pathLst>
              <a:path w="5372100" h="266700">
                <a:moveTo>
                  <a:pt x="38101" y="0"/>
                </a:moveTo>
                <a:lnTo>
                  <a:pt x="5333999" y="0"/>
                </a:lnTo>
                <a:cubicBezTo>
                  <a:pt x="5355042" y="0"/>
                  <a:pt x="5372100" y="17058"/>
                  <a:pt x="5372100" y="38101"/>
                </a:cubicBezTo>
                <a:lnTo>
                  <a:pt x="5372100" y="228599"/>
                </a:lnTo>
                <a:cubicBezTo>
                  <a:pt x="5372100" y="249642"/>
                  <a:pt x="5355042" y="266700"/>
                  <a:pt x="53339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24600" y="2705100"/>
            <a:ext cx="5438775" cy="2667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(t+1)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(1/n) Σμ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4600" y="3009900"/>
            <a:ext cx="5372100" cy="266700"/>
          </a:xfrm>
          <a:custGeom>
            <a:avLst/>
            <a:gdLst/>
            <a:ahLst/>
            <a:cxnLst/>
            <a:rect l="l" t="t" r="r" b="b"/>
            <a:pathLst>
              <a:path w="5372100" h="266700">
                <a:moveTo>
                  <a:pt x="38101" y="0"/>
                </a:moveTo>
                <a:lnTo>
                  <a:pt x="5333999" y="0"/>
                </a:lnTo>
                <a:cubicBezTo>
                  <a:pt x="5355042" y="0"/>
                  <a:pt x="5372100" y="17058"/>
                  <a:pt x="5372100" y="38101"/>
                </a:cubicBezTo>
                <a:lnTo>
                  <a:pt x="5372100" y="228599"/>
                </a:lnTo>
                <a:cubicBezTo>
                  <a:pt x="5372100" y="249642"/>
                  <a:pt x="5355042" y="266700"/>
                  <a:pt x="53339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324600" y="3009900"/>
            <a:ext cx="5438775" cy="2667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(t+1)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Σμ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Σμ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4600" y="3314700"/>
            <a:ext cx="5372100" cy="266700"/>
          </a:xfrm>
          <a:custGeom>
            <a:avLst/>
            <a:gdLst/>
            <a:ahLst/>
            <a:cxnLst/>
            <a:rect l="l" t="t" r="r" b="b"/>
            <a:pathLst>
              <a:path w="5372100" h="266700">
                <a:moveTo>
                  <a:pt x="38101" y="0"/>
                </a:moveTo>
                <a:lnTo>
                  <a:pt x="5333999" y="0"/>
                </a:lnTo>
                <a:cubicBezTo>
                  <a:pt x="5355042" y="0"/>
                  <a:pt x="5372100" y="17058"/>
                  <a:pt x="5372100" y="38101"/>
                </a:cubicBezTo>
                <a:lnTo>
                  <a:pt x="5372100" y="228599"/>
                </a:lnTo>
                <a:cubicBezTo>
                  <a:pt x="5372100" y="249642"/>
                  <a:pt x="5355042" y="266700"/>
                  <a:pt x="53339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24600" y="3314700"/>
            <a:ext cx="5438775" cy="2667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(t+1)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Σ(1-μ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)y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Σ(1-μ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j(t)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1250" y="3810000"/>
            <a:ext cx="5619750" cy="952500"/>
          </a:xfrm>
          <a:custGeom>
            <a:avLst/>
            <a:gdLst/>
            <a:ahLst/>
            <a:cxnLst/>
            <a:rect l="l" t="t" r="r" b="b"/>
            <a:pathLst>
              <a:path w="5619750" h="9525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876300"/>
                </a:lnTo>
                <a:cubicBezTo>
                  <a:pt x="5619750" y="918356"/>
                  <a:pt x="5585606" y="952500"/>
                  <a:pt x="55435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91250" y="38100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44" name="Text 42"/>
          <p:cNvSpPr/>
          <p:nvPr/>
        </p:nvSpPr>
        <p:spPr>
          <a:xfrm>
            <a:off x="6324600" y="39243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GMM概率密度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24600" y="4267200"/>
            <a:ext cx="5372100" cy="381000"/>
          </a:xfrm>
          <a:custGeom>
            <a:avLst/>
            <a:gdLst/>
            <a:ahLst/>
            <a:cxnLst/>
            <a:rect l="l" t="t" r="r" b="b"/>
            <a:pathLst>
              <a:path w="5372100" h="3810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342900"/>
                </a:lnTo>
                <a:cubicBezTo>
                  <a:pt x="5372100" y="363928"/>
                  <a:pt x="5355028" y="381000"/>
                  <a:pt x="53340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286500" y="4267200"/>
            <a:ext cx="544830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p(x|Θ) = Σ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k=1K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π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N(x|μ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Σ</a:t>
            </a:r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1250" y="4876800"/>
            <a:ext cx="5619750" cy="914400"/>
          </a:xfrm>
          <a:custGeom>
            <a:avLst/>
            <a:gdLst/>
            <a:ahLst/>
            <a:cxnLst/>
            <a:rect l="l" t="t" r="r" b="b"/>
            <a:pathLst>
              <a:path w="5619750" h="914400">
                <a:moveTo>
                  <a:pt x="38100" y="0"/>
                </a:moveTo>
                <a:lnTo>
                  <a:pt x="5543553" y="0"/>
                </a:lnTo>
                <a:cubicBezTo>
                  <a:pt x="5585635" y="0"/>
                  <a:pt x="5619750" y="34115"/>
                  <a:pt x="5619750" y="76197"/>
                </a:cubicBezTo>
                <a:lnTo>
                  <a:pt x="5619750" y="838203"/>
                </a:lnTo>
                <a:cubicBezTo>
                  <a:pt x="5619750" y="880285"/>
                  <a:pt x="5585635" y="914400"/>
                  <a:pt x="55435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191250" y="48768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49" name="Text 47"/>
          <p:cNvSpPr/>
          <p:nvPr/>
        </p:nvSpPr>
        <p:spPr>
          <a:xfrm>
            <a:off x="6324600" y="49911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GMM责任值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24600" y="5334000"/>
            <a:ext cx="5372100" cy="342900"/>
          </a:xfrm>
          <a:custGeom>
            <a:avLst/>
            <a:gdLst/>
            <a:ahLst/>
            <a:cxnLst/>
            <a:rect l="l" t="t" r="r" b="b"/>
            <a:pathLst>
              <a:path w="5372100" h="342900">
                <a:moveTo>
                  <a:pt x="38100" y="0"/>
                </a:moveTo>
                <a:lnTo>
                  <a:pt x="5334000" y="0"/>
                </a:lnTo>
                <a:cubicBezTo>
                  <a:pt x="5355042" y="0"/>
                  <a:pt x="5372100" y="17058"/>
                  <a:pt x="5372100" y="38100"/>
                </a:cubicBezTo>
                <a:lnTo>
                  <a:pt x="5372100" y="304800"/>
                </a:lnTo>
                <a:cubicBezTo>
                  <a:pt x="5372100" y="325842"/>
                  <a:pt x="5355042" y="342900"/>
                  <a:pt x="53340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291263" y="5334000"/>
            <a:ext cx="543877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γ(z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ik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= π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N(x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|μ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Σ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/ Σ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π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N(x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|μ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Σ</a:t>
            </a:r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518" y="379518"/>
            <a:ext cx="11499381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spc="52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SELECTION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518" y="645180"/>
            <a:ext cx="11603748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9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算法对比与选型指南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18" y="1176504"/>
            <a:ext cx="11432965" cy="3633880"/>
          </a:xfrm>
          <a:custGeom>
            <a:avLst/>
            <a:gdLst/>
            <a:ahLst/>
            <a:cxnLst/>
            <a:rect l="l" t="t" r="r" b="b"/>
            <a:pathLst>
              <a:path w="11432965" h="3633880">
                <a:moveTo>
                  <a:pt x="75912" y="0"/>
                </a:moveTo>
                <a:lnTo>
                  <a:pt x="11357053" y="0"/>
                </a:lnTo>
                <a:cubicBezTo>
                  <a:pt x="11398978" y="0"/>
                  <a:pt x="11432965" y="33987"/>
                  <a:pt x="11432965" y="75912"/>
                </a:cubicBezTo>
                <a:lnTo>
                  <a:pt x="11432965" y="3557968"/>
                </a:lnTo>
                <a:cubicBezTo>
                  <a:pt x="11432965" y="3599893"/>
                  <a:pt x="11398978" y="3633880"/>
                  <a:pt x="11357053" y="3633880"/>
                </a:cubicBezTo>
                <a:lnTo>
                  <a:pt x="75912" y="3633880"/>
                </a:lnTo>
                <a:cubicBezTo>
                  <a:pt x="33987" y="3633880"/>
                  <a:pt x="0" y="3599893"/>
                  <a:pt x="0" y="3557968"/>
                </a:cubicBezTo>
                <a:lnTo>
                  <a:pt x="0" y="75912"/>
                </a:lnTo>
                <a:cubicBezTo>
                  <a:pt x="0" y="34015"/>
                  <a:pt x="34015" y="0"/>
                  <a:pt x="75912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9276" y="1366263"/>
          <a:ext cx="11053447" cy="3254363"/>
        </p:xfrm>
        <a:graphic>
          <a:graphicData uri="http://schemas.openxmlformats.org/drawingml/2006/table">
            <a:tbl>
              <a:tblPr/>
              <a:tblGrid>
                <a:gridCol w="2322551"/>
                <a:gridCol w="2910299"/>
                <a:gridCol w="2910299"/>
                <a:gridCol w="2910299"/>
              </a:tblGrid>
              <a:tr h="464909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3855" marB="1138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3855" marB="1138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EM算法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3855" marB="1138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GMM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3855" marB="1138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4909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核心功能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3855" marB="1138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参数估计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迭代优化框架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概率聚类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4909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3855" marB="1138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数据完整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存在隐变量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复杂分布聚类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4909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计算复杂度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3855" marB="1138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387A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B3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5D6C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4909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局部最优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3855" marB="1138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4909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输出类型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3855" marB="1138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参数值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参数序列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概率+参数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4909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初始化敏感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3855" marB="1138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B3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B3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98493" y="4962191"/>
            <a:ext cx="3690808" cy="1518070"/>
          </a:xfrm>
          <a:custGeom>
            <a:avLst/>
            <a:gdLst/>
            <a:ahLst/>
            <a:cxnLst/>
            <a:rect l="l" t="t" r="r" b="b"/>
            <a:pathLst>
              <a:path w="3690808" h="1518070">
                <a:moveTo>
                  <a:pt x="37952" y="0"/>
                </a:moveTo>
                <a:lnTo>
                  <a:pt x="3614904" y="0"/>
                </a:lnTo>
                <a:cubicBezTo>
                  <a:pt x="3656825" y="0"/>
                  <a:pt x="3690808" y="33983"/>
                  <a:pt x="3690808" y="75904"/>
                </a:cubicBezTo>
                <a:lnTo>
                  <a:pt x="3690808" y="1442167"/>
                </a:lnTo>
                <a:cubicBezTo>
                  <a:pt x="3690808" y="1484087"/>
                  <a:pt x="3656825" y="1518070"/>
                  <a:pt x="3614904" y="1518070"/>
                </a:cubicBezTo>
                <a:lnTo>
                  <a:pt x="37952" y="1518070"/>
                </a:lnTo>
                <a:cubicBezTo>
                  <a:pt x="16992" y="1518070"/>
                  <a:pt x="0" y="1501078"/>
                  <a:pt x="0" y="148011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98493" y="4962191"/>
            <a:ext cx="37952" cy="1518070"/>
          </a:xfrm>
          <a:custGeom>
            <a:avLst/>
            <a:gdLst/>
            <a:ahLst/>
            <a:cxnLst/>
            <a:rect l="l" t="t" r="r" b="b"/>
            <a:pathLst>
              <a:path w="37952" h="1518070">
                <a:moveTo>
                  <a:pt x="37952" y="0"/>
                </a:moveTo>
                <a:lnTo>
                  <a:pt x="37952" y="0"/>
                </a:lnTo>
                <a:lnTo>
                  <a:pt x="37952" y="1518070"/>
                </a:lnTo>
                <a:lnTo>
                  <a:pt x="37952" y="1518070"/>
                </a:lnTo>
                <a:cubicBezTo>
                  <a:pt x="16992" y="1518070"/>
                  <a:pt x="0" y="1501078"/>
                  <a:pt x="0" y="148011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8" name="Text 5"/>
          <p:cNvSpPr/>
          <p:nvPr/>
        </p:nvSpPr>
        <p:spPr>
          <a:xfrm>
            <a:off x="569276" y="5113998"/>
            <a:ext cx="3463097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何时使用MLE？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9276" y="5493516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5679" y="5493516"/>
            <a:ext cx="144216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数据完整，无隐变量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9276" y="5797130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5679" y="5797130"/>
            <a:ext cx="1290360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似然函数有解析解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9276" y="6100744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5679" y="6100744"/>
            <a:ext cx="1290360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需要快速参数估计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61122" y="4962191"/>
            <a:ext cx="3690808" cy="1518070"/>
          </a:xfrm>
          <a:custGeom>
            <a:avLst/>
            <a:gdLst/>
            <a:ahLst/>
            <a:cxnLst/>
            <a:rect l="l" t="t" r="r" b="b"/>
            <a:pathLst>
              <a:path w="3690808" h="1518070">
                <a:moveTo>
                  <a:pt x="37952" y="0"/>
                </a:moveTo>
                <a:lnTo>
                  <a:pt x="3614904" y="0"/>
                </a:lnTo>
                <a:cubicBezTo>
                  <a:pt x="3656825" y="0"/>
                  <a:pt x="3690808" y="33983"/>
                  <a:pt x="3690808" y="75904"/>
                </a:cubicBezTo>
                <a:lnTo>
                  <a:pt x="3690808" y="1442167"/>
                </a:lnTo>
                <a:cubicBezTo>
                  <a:pt x="3690808" y="1484087"/>
                  <a:pt x="3656825" y="1518070"/>
                  <a:pt x="3614904" y="1518070"/>
                </a:cubicBezTo>
                <a:lnTo>
                  <a:pt x="37952" y="1518070"/>
                </a:lnTo>
                <a:cubicBezTo>
                  <a:pt x="16992" y="1518070"/>
                  <a:pt x="0" y="1501078"/>
                  <a:pt x="0" y="148011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261122" y="4962191"/>
            <a:ext cx="37952" cy="1518070"/>
          </a:xfrm>
          <a:custGeom>
            <a:avLst/>
            <a:gdLst/>
            <a:ahLst/>
            <a:cxnLst/>
            <a:rect l="l" t="t" r="r" b="b"/>
            <a:pathLst>
              <a:path w="37952" h="1518070">
                <a:moveTo>
                  <a:pt x="37952" y="0"/>
                </a:moveTo>
                <a:lnTo>
                  <a:pt x="37952" y="0"/>
                </a:lnTo>
                <a:lnTo>
                  <a:pt x="37952" y="1518070"/>
                </a:lnTo>
                <a:lnTo>
                  <a:pt x="37952" y="1518070"/>
                </a:lnTo>
                <a:cubicBezTo>
                  <a:pt x="16992" y="1518070"/>
                  <a:pt x="0" y="1501078"/>
                  <a:pt x="0" y="148011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7" name="Text 14"/>
          <p:cNvSpPr/>
          <p:nvPr/>
        </p:nvSpPr>
        <p:spPr>
          <a:xfrm>
            <a:off x="4431905" y="5113998"/>
            <a:ext cx="3463097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何时使用EM？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31905" y="5493516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88307" y="5493516"/>
            <a:ext cx="1593974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存在不可观测的隐变量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31905" y="5797130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88307" y="5797130"/>
            <a:ext cx="1745781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似然函数包含对数内求和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31905" y="6100744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88307" y="6100744"/>
            <a:ext cx="1290360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需要处理缺失数据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23750" y="4962191"/>
            <a:ext cx="3690808" cy="1518070"/>
          </a:xfrm>
          <a:custGeom>
            <a:avLst/>
            <a:gdLst/>
            <a:ahLst/>
            <a:cxnLst/>
            <a:rect l="l" t="t" r="r" b="b"/>
            <a:pathLst>
              <a:path w="3690808" h="1518070">
                <a:moveTo>
                  <a:pt x="37952" y="0"/>
                </a:moveTo>
                <a:lnTo>
                  <a:pt x="3614904" y="0"/>
                </a:lnTo>
                <a:cubicBezTo>
                  <a:pt x="3656825" y="0"/>
                  <a:pt x="3690808" y="33983"/>
                  <a:pt x="3690808" y="75904"/>
                </a:cubicBezTo>
                <a:lnTo>
                  <a:pt x="3690808" y="1442167"/>
                </a:lnTo>
                <a:cubicBezTo>
                  <a:pt x="3690808" y="1484087"/>
                  <a:pt x="3656825" y="1518070"/>
                  <a:pt x="3614904" y="1518070"/>
                </a:cubicBezTo>
                <a:lnTo>
                  <a:pt x="37952" y="1518070"/>
                </a:lnTo>
                <a:cubicBezTo>
                  <a:pt x="16992" y="1518070"/>
                  <a:pt x="0" y="1501078"/>
                  <a:pt x="0" y="148011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123750" y="4962191"/>
            <a:ext cx="37952" cy="1518070"/>
          </a:xfrm>
          <a:custGeom>
            <a:avLst/>
            <a:gdLst/>
            <a:ahLst/>
            <a:cxnLst/>
            <a:rect l="l" t="t" r="r" b="b"/>
            <a:pathLst>
              <a:path w="37952" h="1518070">
                <a:moveTo>
                  <a:pt x="37952" y="0"/>
                </a:moveTo>
                <a:lnTo>
                  <a:pt x="37952" y="0"/>
                </a:lnTo>
                <a:lnTo>
                  <a:pt x="37952" y="1518070"/>
                </a:lnTo>
                <a:lnTo>
                  <a:pt x="37952" y="1518070"/>
                </a:lnTo>
                <a:cubicBezTo>
                  <a:pt x="16992" y="1518070"/>
                  <a:pt x="0" y="1501078"/>
                  <a:pt x="0" y="148011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26" name="Text 23"/>
          <p:cNvSpPr/>
          <p:nvPr/>
        </p:nvSpPr>
        <p:spPr>
          <a:xfrm>
            <a:off x="8294533" y="5113998"/>
            <a:ext cx="3463097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何时使用GMM？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94533" y="5493516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450936" y="5493516"/>
            <a:ext cx="1593974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数据分布复杂、多模态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294533" y="5797130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450936" y="5797130"/>
            <a:ext cx="1593974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需要软聚类或概率输出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294533" y="6100744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450936" y="6100744"/>
            <a:ext cx="98674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簇形状非球形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数学推导中的关键洞察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3810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1811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Text 5"/>
          <p:cNvSpPr/>
          <p:nvPr/>
        </p:nvSpPr>
        <p:spPr>
          <a:xfrm>
            <a:off x="528638" y="13335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13906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对数转换的价值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28800"/>
            <a:ext cx="5353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连乘运算转换为求和运算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，极大简化求导过程。同时防止数值下溢出，保持极值点位置不变。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6289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3810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6289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2781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3" name="Text 11"/>
          <p:cNvSpPr/>
          <p:nvPr/>
        </p:nvSpPr>
        <p:spPr>
          <a:xfrm>
            <a:off x="528638" y="27813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2838450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Jensen不等式的作用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276600"/>
            <a:ext cx="5353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EM算法利用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Jensen不等式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构造似然函数的下界。通过迭代优化这个下界，间接提升原始似然函数值。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0767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3810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40767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422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9" name="Text 17"/>
          <p:cNvSpPr/>
          <p:nvPr/>
        </p:nvSpPr>
        <p:spPr>
          <a:xfrm>
            <a:off x="528638" y="42291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" y="42862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期望的替代思想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4724400"/>
            <a:ext cx="5353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隐变量不可见，就用它的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期望（概率分布）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来代替。这种思想在变分推断等现代方法中依然发挥重要作用。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1811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3810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10300" y="11811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8175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5" name="Text 23"/>
          <p:cNvSpPr/>
          <p:nvPr/>
        </p:nvSpPr>
        <p:spPr>
          <a:xfrm>
            <a:off x="6338888" y="13335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77050" y="13906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加权MLE的本质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81750" y="1828800"/>
            <a:ext cx="5353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EM的M步本质上是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加权的最大似然估计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。权重是E步计算的责任值，表示数据点属于各簇的概率。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26289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3810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10300" y="26289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1750" y="2781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1" name="Text 29"/>
          <p:cNvSpPr/>
          <p:nvPr/>
        </p:nvSpPr>
        <p:spPr>
          <a:xfrm>
            <a:off x="6338888" y="27813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7050" y="28384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软聚类的概率意义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1750" y="3276600"/>
            <a:ext cx="5353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GMM的软聚类不是简单地将数据点"分配"给簇，而是给出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概率归属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。这更符合现实世界中类别边界模糊的情况。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0300" y="40767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3810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10300" y="40767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6" name="Shape 34"/>
          <p:cNvSpPr/>
          <p:nvPr/>
        </p:nvSpPr>
        <p:spPr>
          <a:xfrm>
            <a:off x="6381750" y="422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888" y="42291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77050" y="42862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协方差的几何意义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1750" y="4724400"/>
            <a:ext cx="5353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GMM的协方差矩阵决定了簇的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形状、大小和方向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。不同约束的协方差矩阵对应不同的聚类假设。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5524500"/>
            <a:ext cx="11410950" cy="895350"/>
          </a:xfrm>
          <a:custGeom>
            <a:avLst/>
            <a:gdLst/>
            <a:ahLst/>
            <a:cxnLst/>
            <a:rect l="l" t="t" r="r" b="b"/>
            <a:pathLst>
              <a:path w="11410950" h="895350">
                <a:moveTo>
                  <a:pt x="38100" y="0"/>
                </a:moveTo>
                <a:lnTo>
                  <a:pt x="11334747" y="0"/>
                </a:lnTo>
                <a:cubicBezTo>
                  <a:pt x="11376833" y="0"/>
                  <a:pt x="11410950" y="34117"/>
                  <a:pt x="11410950" y="76203"/>
                </a:cubicBezTo>
                <a:lnTo>
                  <a:pt x="11410950" y="819147"/>
                </a:lnTo>
                <a:cubicBezTo>
                  <a:pt x="11410950" y="861233"/>
                  <a:pt x="11376833" y="895350"/>
                  <a:pt x="113347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00050" y="5524500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" y="5715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43" name="Text 41"/>
          <p:cNvSpPr/>
          <p:nvPr/>
        </p:nvSpPr>
        <p:spPr>
          <a:xfrm>
            <a:off x="1009650" y="5676900"/>
            <a:ext cx="1014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理解算法本质的重要性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09650" y="6019800"/>
            <a:ext cx="10134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掌握这些关键洞察，不仅是记住公式和步骤，更是理解算法背后的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数学直觉和思想方法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。这将帮助你在面对新问题时，能够灵活运用和扩展这些知识。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115739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spc="47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8667" y="575733"/>
            <a:ext cx="116670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实际应用中的注意事项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5600" y="1049867"/>
            <a:ext cx="5655733" cy="1354667"/>
          </a:xfrm>
          <a:custGeom>
            <a:avLst/>
            <a:gdLst/>
            <a:ahLst/>
            <a:cxnLst/>
            <a:rect l="l" t="t" r="r" b="b"/>
            <a:pathLst>
              <a:path w="5655733" h="1354667">
                <a:moveTo>
                  <a:pt x="33867" y="0"/>
                </a:moveTo>
                <a:lnTo>
                  <a:pt x="5588000" y="0"/>
                </a:lnTo>
                <a:cubicBezTo>
                  <a:pt x="5625408" y="0"/>
                  <a:pt x="5655733" y="30325"/>
                  <a:pt x="5655733" y="67733"/>
                </a:cubicBezTo>
                <a:lnTo>
                  <a:pt x="5655733" y="1286933"/>
                </a:lnTo>
                <a:cubicBezTo>
                  <a:pt x="5655733" y="1324341"/>
                  <a:pt x="5625408" y="1354667"/>
                  <a:pt x="5588000" y="1354667"/>
                </a:cubicBez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63"/>
                  <a:pt x="15163" y="0"/>
                  <a:pt x="33867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55600" y="1049867"/>
            <a:ext cx="33867" cy="1354667"/>
          </a:xfrm>
          <a:custGeom>
            <a:avLst/>
            <a:gdLst/>
            <a:ahLst/>
            <a:cxnLst/>
            <a:rect l="l" t="t" r="r" b="b"/>
            <a:pathLst>
              <a:path w="33867" h="1354667">
                <a:moveTo>
                  <a:pt x="33867" y="0"/>
                </a:moveTo>
                <a:lnTo>
                  <a:pt x="33867" y="0"/>
                </a:lnTo>
                <a:lnTo>
                  <a:pt x="33867" y="1354667"/>
                </a:ln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Text 4"/>
          <p:cNvSpPr/>
          <p:nvPr/>
        </p:nvSpPr>
        <p:spPr>
          <a:xfrm>
            <a:off x="508000" y="1185333"/>
            <a:ext cx="54525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初始值选择策略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1524000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随机初始化：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多次随机初始化，选择似然最大的结果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794933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K-Means预热：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先用K-Means初始化均值，加速收敛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2065867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K-means++：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智能选择初始中心点，提高收敛质量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5600" y="2540000"/>
            <a:ext cx="5655733" cy="1354667"/>
          </a:xfrm>
          <a:custGeom>
            <a:avLst/>
            <a:gdLst/>
            <a:ahLst/>
            <a:cxnLst/>
            <a:rect l="l" t="t" r="r" b="b"/>
            <a:pathLst>
              <a:path w="5655733" h="1354667">
                <a:moveTo>
                  <a:pt x="33867" y="0"/>
                </a:moveTo>
                <a:lnTo>
                  <a:pt x="5588000" y="0"/>
                </a:lnTo>
                <a:cubicBezTo>
                  <a:pt x="5625408" y="0"/>
                  <a:pt x="5655733" y="30325"/>
                  <a:pt x="5655733" y="67733"/>
                </a:cubicBezTo>
                <a:lnTo>
                  <a:pt x="5655733" y="1286933"/>
                </a:lnTo>
                <a:cubicBezTo>
                  <a:pt x="5655733" y="1324341"/>
                  <a:pt x="5625408" y="1354667"/>
                  <a:pt x="5588000" y="1354667"/>
                </a:cubicBez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63"/>
                  <a:pt x="15163" y="0"/>
                  <a:pt x="33867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55600" y="2540000"/>
            <a:ext cx="33867" cy="1354667"/>
          </a:xfrm>
          <a:custGeom>
            <a:avLst/>
            <a:gdLst/>
            <a:ahLst/>
            <a:cxnLst/>
            <a:rect l="l" t="t" r="r" b="b"/>
            <a:pathLst>
              <a:path w="33867" h="1354667">
                <a:moveTo>
                  <a:pt x="33867" y="0"/>
                </a:moveTo>
                <a:lnTo>
                  <a:pt x="33867" y="0"/>
                </a:lnTo>
                <a:lnTo>
                  <a:pt x="33867" y="1354667"/>
                </a:ln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2" name="Text 10"/>
          <p:cNvSpPr/>
          <p:nvPr/>
        </p:nvSpPr>
        <p:spPr>
          <a:xfrm>
            <a:off x="508000" y="2675467"/>
            <a:ext cx="54525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收敛判断标准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000" y="3014133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参数变化量：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||θ</a:t>
            </a:r>
            <a:pPr>
              <a:lnSpc>
                <a:spcPct val="130000"/>
              </a:lnSpc>
            </a:pPr>
            <a:r>
              <a:rPr lang="en-US" sz="8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(t+1)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θ</a:t>
            </a:r>
            <a:pPr>
              <a:lnSpc>
                <a:spcPct val="130000"/>
              </a:lnSpc>
            </a:pPr>
            <a:r>
              <a:rPr lang="en-US" sz="8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(t)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|| &lt; 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8000" y="3285067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似然变化量：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|L(θ</a:t>
            </a:r>
            <a:pPr>
              <a:lnSpc>
                <a:spcPct val="130000"/>
              </a:lnSpc>
            </a:pPr>
            <a:r>
              <a:rPr lang="en-US" sz="8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(t+1)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- L(θ</a:t>
            </a:r>
            <a:pPr>
              <a:lnSpc>
                <a:spcPct val="130000"/>
              </a:lnSpc>
            </a:pPr>
            <a:r>
              <a:rPr lang="en-US" sz="8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(t)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)| &lt; 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8000" y="3556000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最大迭代次数：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防止无限迭代，通常100-1000次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5600" y="4030133"/>
            <a:ext cx="5655733" cy="1354667"/>
          </a:xfrm>
          <a:custGeom>
            <a:avLst/>
            <a:gdLst/>
            <a:ahLst/>
            <a:cxnLst/>
            <a:rect l="l" t="t" r="r" b="b"/>
            <a:pathLst>
              <a:path w="5655733" h="1354667">
                <a:moveTo>
                  <a:pt x="33867" y="0"/>
                </a:moveTo>
                <a:lnTo>
                  <a:pt x="5588000" y="0"/>
                </a:lnTo>
                <a:cubicBezTo>
                  <a:pt x="5625408" y="0"/>
                  <a:pt x="5655733" y="30325"/>
                  <a:pt x="5655733" y="67733"/>
                </a:cubicBezTo>
                <a:lnTo>
                  <a:pt x="5655733" y="1286933"/>
                </a:lnTo>
                <a:cubicBezTo>
                  <a:pt x="5655733" y="1324341"/>
                  <a:pt x="5625408" y="1354667"/>
                  <a:pt x="5588000" y="1354667"/>
                </a:cubicBez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63"/>
                  <a:pt x="15163" y="0"/>
                  <a:pt x="33867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55600" y="4030133"/>
            <a:ext cx="33867" cy="1354667"/>
          </a:xfrm>
          <a:custGeom>
            <a:avLst/>
            <a:gdLst/>
            <a:ahLst/>
            <a:cxnLst/>
            <a:rect l="l" t="t" r="r" b="b"/>
            <a:pathLst>
              <a:path w="33867" h="1354667">
                <a:moveTo>
                  <a:pt x="33867" y="0"/>
                </a:moveTo>
                <a:lnTo>
                  <a:pt x="33867" y="0"/>
                </a:lnTo>
                <a:lnTo>
                  <a:pt x="33867" y="1354667"/>
                </a:ln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8" name="Text 16"/>
          <p:cNvSpPr/>
          <p:nvPr/>
        </p:nvSpPr>
        <p:spPr>
          <a:xfrm>
            <a:off x="508000" y="4165600"/>
            <a:ext cx="54525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局部最优的应对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8000" y="4504267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多次运行：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使用不同初始值运行多次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8000" y="4775200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选择最佳：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选择似然函数值最大的结果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8000" y="5046133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退火策略：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模拟退火等全局优化方法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7600" y="1049867"/>
            <a:ext cx="5655733" cy="1354667"/>
          </a:xfrm>
          <a:custGeom>
            <a:avLst/>
            <a:gdLst/>
            <a:ahLst/>
            <a:cxnLst/>
            <a:rect l="l" t="t" r="r" b="b"/>
            <a:pathLst>
              <a:path w="5655733" h="1354667">
                <a:moveTo>
                  <a:pt x="33867" y="0"/>
                </a:moveTo>
                <a:lnTo>
                  <a:pt x="5588000" y="0"/>
                </a:lnTo>
                <a:cubicBezTo>
                  <a:pt x="5625408" y="0"/>
                  <a:pt x="5655733" y="30325"/>
                  <a:pt x="5655733" y="67733"/>
                </a:cubicBezTo>
                <a:lnTo>
                  <a:pt x="5655733" y="1286933"/>
                </a:lnTo>
                <a:cubicBezTo>
                  <a:pt x="5655733" y="1324341"/>
                  <a:pt x="5625408" y="1354667"/>
                  <a:pt x="5588000" y="1354667"/>
                </a:cubicBez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63"/>
                  <a:pt x="15163" y="0"/>
                  <a:pt x="33867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97600" y="1049867"/>
            <a:ext cx="33867" cy="1354667"/>
          </a:xfrm>
          <a:custGeom>
            <a:avLst/>
            <a:gdLst/>
            <a:ahLst/>
            <a:cxnLst/>
            <a:rect l="l" t="t" r="r" b="b"/>
            <a:pathLst>
              <a:path w="33867" h="1354667">
                <a:moveTo>
                  <a:pt x="33867" y="0"/>
                </a:moveTo>
                <a:lnTo>
                  <a:pt x="33867" y="0"/>
                </a:lnTo>
                <a:lnTo>
                  <a:pt x="33867" y="1354667"/>
                </a:ln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4" name="Text 22"/>
          <p:cNvSpPr/>
          <p:nvPr/>
        </p:nvSpPr>
        <p:spPr>
          <a:xfrm>
            <a:off x="6350000" y="1185333"/>
            <a:ext cx="54525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高维数据中的协方差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0000" y="1524000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协方差类型：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'full'（完整）、'tied'（共享）、'diag'（对角）、'spherical'（球形)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0000" y="1794933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正则化：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添加小的对角项防止奇异矩阵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0000" y="2065867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降维：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高维数据先PCA降维再聚类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7600" y="2540000"/>
            <a:ext cx="5655733" cy="1354667"/>
          </a:xfrm>
          <a:custGeom>
            <a:avLst/>
            <a:gdLst/>
            <a:ahLst/>
            <a:cxnLst/>
            <a:rect l="l" t="t" r="r" b="b"/>
            <a:pathLst>
              <a:path w="5655733" h="1354667">
                <a:moveTo>
                  <a:pt x="33867" y="0"/>
                </a:moveTo>
                <a:lnTo>
                  <a:pt x="5588000" y="0"/>
                </a:lnTo>
                <a:cubicBezTo>
                  <a:pt x="5625408" y="0"/>
                  <a:pt x="5655733" y="30325"/>
                  <a:pt x="5655733" y="67733"/>
                </a:cubicBezTo>
                <a:lnTo>
                  <a:pt x="5655733" y="1286933"/>
                </a:lnTo>
                <a:cubicBezTo>
                  <a:pt x="5655733" y="1324341"/>
                  <a:pt x="5625408" y="1354667"/>
                  <a:pt x="5588000" y="1354667"/>
                </a:cubicBez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63"/>
                  <a:pt x="15163" y="0"/>
                  <a:pt x="33867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197600" y="2540000"/>
            <a:ext cx="33867" cy="1354667"/>
          </a:xfrm>
          <a:custGeom>
            <a:avLst/>
            <a:gdLst/>
            <a:ahLst/>
            <a:cxnLst/>
            <a:rect l="l" t="t" r="r" b="b"/>
            <a:pathLst>
              <a:path w="33867" h="1354667">
                <a:moveTo>
                  <a:pt x="33867" y="0"/>
                </a:moveTo>
                <a:lnTo>
                  <a:pt x="33867" y="0"/>
                </a:lnTo>
                <a:lnTo>
                  <a:pt x="33867" y="1354667"/>
                </a:ln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0" name="Text 28"/>
          <p:cNvSpPr/>
          <p:nvPr/>
        </p:nvSpPr>
        <p:spPr>
          <a:xfrm>
            <a:off x="6350000" y="2675467"/>
            <a:ext cx="54525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模型选择（K值确定）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0000" y="3014133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BIC准则：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贝叶斯信息准则，惩罚复杂模型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0000" y="3285067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AIC准则：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赤池信息准则，倾向于选择更复杂模型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0000" y="3556000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交叉验证：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基于预测性能的模型选择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7600" y="4030133"/>
            <a:ext cx="5655733" cy="1354667"/>
          </a:xfrm>
          <a:custGeom>
            <a:avLst/>
            <a:gdLst/>
            <a:ahLst/>
            <a:cxnLst/>
            <a:rect l="l" t="t" r="r" b="b"/>
            <a:pathLst>
              <a:path w="5655733" h="1354667">
                <a:moveTo>
                  <a:pt x="33867" y="0"/>
                </a:moveTo>
                <a:lnTo>
                  <a:pt x="5588000" y="0"/>
                </a:lnTo>
                <a:cubicBezTo>
                  <a:pt x="5625408" y="0"/>
                  <a:pt x="5655733" y="30325"/>
                  <a:pt x="5655733" y="67733"/>
                </a:cubicBezTo>
                <a:lnTo>
                  <a:pt x="5655733" y="1286933"/>
                </a:lnTo>
                <a:cubicBezTo>
                  <a:pt x="5655733" y="1324341"/>
                  <a:pt x="5625408" y="1354667"/>
                  <a:pt x="5588000" y="1354667"/>
                </a:cubicBez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63"/>
                  <a:pt x="15163" y="0"/>
                  <a:pt x="33867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197600" y="4030133"/>
            <a:ext cx="33867" cy="1354667"/>
          </a:xfrm>
          <a:custGeom>
            <a:avLst/>
            <a:gdLst/>
            <a:ahLst/>
            <a:cxnLst/>
            <a:rect l="l" t="t" r="r" b="b"/>
            <a:pathLst>
              <a:path w="33867" h="1354667">
                <a:moveTo>
                  <a:pt x="33867" y="0"/>
                </a:moveTo>
                <a:lnTo>
                  <a:pt x="33867" y="0"/>
                </a:lnTo>
                <a:lnTo>
                  <a:pt x="33867" y="1354667"/>
                </a:lnTo>
                <a:lnTo>
                  <a:pt x="33867" y="1354667"/>
                </a:lnTo>
                <a:cubicBezTo>
                  <a:pt x="15163" y="1354667"/>
                  <a:pt x="0" y="1339504"/>
                  <a:pt x="0" y="13208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6" name="Text 34"/>
          <p:cNvSpPr/>
          <p:nvPr/>
        </p:nvSpPr>
        <p:spPr>
          <a:xfrm>
            <a:off x="6350000" y="4165600"/>
            <a:ext cx="54525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数据预处理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0000" y="4504267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特征缩放：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标准化或归一化，避免某些特征主导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0000" y="4775200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异常值处理：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识别并适当处理异常点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0000" y="5046133"/>
            <a:ext cx="543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缺失值处理：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插补或删除缺失数据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55600" y="5520267"/>
            <a:ext cx="11497733" cy="795867"/>
          </a:xfrm>
          <a:custGeom>
            <a:avLst/>
            <a:gdLst/>
            <a:ahLst/>
            <a:cxnLst/>
            <a:rect l="l" t="t" r="r" b="b"/>
            <a:pathLst>
              <a:path w="11497733" h="795867">
                <a:moveTo>
                  <a:pt x="33867" y="0"/>
                </a:moveTo>
                <a:lnTo>
                  <a:pt x="11429997" y="0"/>
                </a:lnTo>
                <a:cubicBezTo>
                  <a:pt x="11467407" y="0"/>
                  <a:pt x="11497733" y="30327"/>
                  <a:pt x="11497733" y="67736"/>
                </a:cubicBezTo>
                <a:lnTo>
                  <a:pt x="11497733" y="728130"/>
                </a:lnTo>
                <a:cubicBezTo>
                  <a:pt x="11497733" y="765540"/>
                  <a:pt x="11467407" y="795867"/>
                  <a:pt x="11429997" y="795867"/>
                </a:cubicBezTo>
                <a:lnTo>
                  <a:pt x="33867" y="795867"/>
                </a:lnTo>
                <a:cubicBezTo>
                  <a:pt x="15163" y="795867"/>
                  <a:pt x="0" y="780704"/>
                  <a:pt x="0" y="7620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5600" y="5520267"/>
            <a:ext cx="33867" cy="795867"/>
          </a:xfrm>
          <a:custGeom>
            <a:avLst/>
            <a:gdLst/>
            <a:ahLst/>
            <a:cxnLst/>
            <a:rect l="l" t="t" r="r" b="b"/>
            <a:pathLst>
              <a:path w="33867" h="795867">
                <a:moveTo>
                  <a:pt x="33867" y="0"/>
                </a:moveTo>
                <a:lnTo>
                  <a:pt x="33867" y="0"/>
                </a:lnTo>
                <a:lnTo>
                  <a:pt x="33867" y="795867"/>
                </a:lnTo>
                <a:lnTo>
                  <a:pt x="33867" y="795867"/>
                </a:lnTo>
                <a:cubicBezTo>
                  <a:pt x="15163" y="795867"/>
                  <a:pt x="0" y="780704"/>
                  <a:pt x="0" y="7620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" y="568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7434" y="0"/>
                  <a:pt x="112792" y="3215"/>
                  <a:pt x="115570" y="8334"/>
                </a:cubicBezTo>
                <a:lnTo>
                  <a:pt x="201295" y="167084"/>
                </a:lnTo>
                <a:cubicBezTo>
                  <a:pt x="203954" y="172006"/>
                  <a:pt x="203835" y="177959"/>
                  <a:pt x="200978" y="182761"/>
                </a:cubicBezTo>
                <a:cubicBezTo>
                  <a:pt x="198120" y="187563"/>
                  <a:pt x="192921" y="190500"/>
                  <a:pt x="187325" y="190500"/>
                </a:cubicBezTo>
                <a:lnTo>
                  <a:pt x="15875" y="190500"/>
                </a:lnTo>
                <a:cubicBezTo>
                  <a:pt x="10279" y="190500"/>
                  <a:pt x="5120" y="187563"/>
                  <a:pt x="2223" y="182761"/>
                </a:cubicBezTo>
                <a:cubicBezTo>
                  <a:pt x="-675" y="177959"/>
                  <a:pt x="-754" y="172006"/>
                  <a:pt x="1905" y="167084"/>
                </a:cubicBezTo>
                <a:lnTo>
                  <a:pt x="87630" y="8334"/>
                </a:lnTo>
                <a:cubicBezTo>
                  <a:pt x="90408" y="3215"/>
                  <a:pt x="95766" y="0"/>
                  <a:pt x="101600" y="0"/>
                </a:cubicBezTo>
                <a:close/>
                <a:moveTo>
                  <a:pt x="101600" y="66675"/>
                </a:moveTo>
                <a:cubicBezTo>
                  <a:pt x="96322" y="66675"/>
                  <a:pt x="92075" y="70922"/>
                  <a:pt x="92075" y="76200"/>
                </a:cubicBezTo>
                <a:lnTo>
                  <a:pt x="92075" y="120650"/>
                </a:lnTo>
                <a:cubicBezTo>
                  <a:pt x="92075" y="125928"/>
                  <a:pt x="96322" y="130175"/>
                  <a:pt x="101600" y="130175"/>
                </a:cubicBezTo>
                <a:cubicBezTo>
                  <a:pt x="106878" y="130175"/>
                  <a:pt x="111125" y="125928"/>
                  <a:pt x="111125" y="120650"/>
                </a:cubicBezTo>
                <a:lnTo>
                  <a:pt x="111125" y="76200"/>
                </a:lnTo>
                <a:cubicBezTo>
                  <a:pt x="111125" y="70922"/>
                  <a:pt x="106878" y="66675"/>
                  <a:pt x="101600" y="66675"/>
                </a:cubicBezTo>
                <a:close/>
                <a:moveTo>
                  <a:pt x="112197" y="152400"/>
                </a:moveTo>
                <a:cubicBezTo>
                  <a:pt x="112438" y="148467"/>
                  <a:pt x="110476" y="144724"/>
                  <a:pt x="107104" y="142685"/>
                </a:cubicBezTo>
                <a:cubicBezTo>
                  <a:pt x="103732" y="140645"/>
                  <a:pt x="99507" y="140645"/>
                  <a:pt x="96135" y="142685"/>
                </a:cubicBezTo>
                <a:cubicBezTo>
                  <a:pt x="92764" y="144724"/>
                  <a:pt x="90802" y="148467"/>
                  <a:pt x="91043" y="152400"/>
                </a:cubicBezTo>
                <a:cubicBezTo>
                  <a:pt x="90802" y="156333"/>
                  <a:pt x="92764" y="160076"/>
                  <a:pt x="96135" y="162115"/>
                </a:cubicBezTo>
                <a:cubicBezTo>
                  <a:pt x="99507" y="164155"/>
                  <a:pt x="103732" y="164155"/>
                  <a:pt x="107104" y="162115"/>
                </a:cubicBezTo>
                <a:cubicBezTo>
                  <a:pt x="110476" y="160076"/>
                  <a:pt x="112438" y="156333"/>
                  <a:pt x="112197" y="15240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43" name="Text 41"/>
          <p:cNvSpPr/>
          <p:nvPr/>
        </p:nvSpPr>
        <p:spPr>
          <a:xfrm>
            <a:off x="897467" y="5655733"/>
            <a:ext cx="83396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实践中的关键原则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7467" y="5960533"/>
            <a:ext cx="83312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没有免费的午餐：</a:t>
            </a:r>
            <a:pPr>
              <a:lnSpc>
                <a:spcPct val="14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算法选择要基于数据特性和任务需求。始终进行充分的实验验证，不要仅依赖理论直觉。注意</a:t>
            </a:r>
            <a:pPr>
              <a:lnSpc>
                <a:spcPct val="140000"/>
              </a:lnSpc>
            </a:pPr>
            <a:r>
              <a:rPr lang="en-US" sz="1067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可重复性</a:t>
            </a:r>
            <a:pPr>
              <a:lnSpc>
                <a:spcPct val="140000"/>
              </a:lnSpc>
            </a:pPr>
            <a:r>
              <a:rPr lang="en-US" sz="1067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，固定随机种子。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51363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spc="51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TOPICS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707" y="631902"/>
            <a:ext cx="11615854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扩展阅读与进阶方向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293" y="1152293"/>
            <a:ext cx="5612780" cy="1152293"/>
          </a:xfrm>
          <a:custGeom>
            <a:avLst/>
            <a:gdLst/>
            <a:ahLst/>
            <a:cxnLst/>
            <a:rect l="l" t="t" r="r" b="b"/>
            <a:pathLst>
              <a:path w="5612780" h="1152293">
                <a:moveTo>
                  <a:pt x="37171" y="0"/>
                </a:moveTo>
                <a:lnTo>
                  <a:pt x="5538435" y="0"/>
                </a:lnTo>
                <a:cubicBezTo>
                  <a:pt x="5579495" y="0"/>
                  <a:pt x="5612780" y="33286"/>
                  <a:pt x="5612780" y="74346"/>
                </a:cubicBezTo>
                <a:lnTo>
                  <a:pt x="5612780" y="1077947"/>
                </a:lnTo>
                <a:cubicBezTo>
                  <a:pt x="5612780" y="1119007"/>
                  <a:pt x="5579495" y="1152293"/>
                  <a:pt x="5538435" y="1152293"/>
                </a:cubicBez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0293" y="1152293"/>
            <a:ext cx="37171" cy="1152293"/>
          </a:xfrm>
          <a:custGeom>
            <a:avLst/>
            <a:gdLst/>
            <a:ahLst/>
            <a:cxnLst/>
            <a:rect l="l" t="t" r="r" b="b"/>
            <a:pathLst>
              <a:path w="37171" h="1152293">
                <a:moveTo>
                  <a:pt x="37171" y="0"/>
                </a:moveTo>
                <a:lnTo>
                  <a:pt x="37171" y="0"/>
                </a:lnTo>
                <a:lnTo>
                  <a:pt x="37171" y="1152293"/>
                </a:ln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Shape 4"/>
          <p:cNvSpPr/>
          <p:nvPr/>
        </p:nvSpPr>
        <p:spPr>
          <a:xfrm>
            <a:off x="585439" y="1319561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27878" y="27878"/>
                </a:moveTo>
                <a:cubicBezTo>
                  <a:pt x="27878" y="20168"/>
                  <a:pt x="21649" y="13939"/>
                  <a:pt x="13939" y="13939"/>
                </a:cubicBezTo>
                <a:cubicBezTo>
                  <a:pt x="6229" y="13939"/>
                  <a:pt x="0" y="20168"/>
                  <a:pt x="0" y="27878"/>
                </a:cubicBezTo>
                <a:lnTo>
                  <a:pt x="0" y="174238"/>
                </a:lnTo>
                <a:cubicBezTo>
                  <a:pt x="0" y="193491"/>
                  <a:pt x="15594" y="209085"/>
                  <a:pt x="34848" y="209085"/>
                </a:cubicBezTo>
                <a:lnTo>
                  <a:pt x="209085" y="209085"/>
                </a:lnTo>
                <a:cubicBezTo>
                  <a:pt x="216795" y="209085"/>
                  <a:pt x="223024" y="202856"/>
                  <a:pt x="223024" y="195146"/>
                </a:cubicBezTo>
                <a:cubicBezTo>
                  <a:pt x="223024" y="187436"/>
                  <a:pt x="216795" y="181207"/>
                  <a:pt x="209085" y="181207"/>
                </a:cubicBezTo>
                <a:lnTo>
                  <a:pt x="34848" y="181207"/>
                </a:lnTo>
                <a:cubicBezTo>
                  <a:pt x="31014" y="181207"/>
                  <a:pt x="27878" y="178071"/>
                  <a:pt x="27878" y="174238"/>
                </a:cubicBezTo>
                <a:lnTo>
                  <a:pt x="27878" y="27878"/>
                </a:lnTo>
                <a:close/>
                <a:moveTo>
                  <a:pt x="204991" y="65601"/>
                </a:moveTo>
                <a:cubicBezTo>
                  <a:pt x="210436" y="60156"/>
                  <a:pt x="210436" y="51313"/>
                  <a:pt x="204991" y="45868"/>
                </a:cubicBezTo>
                <a:cubicBezTo>
                  <a:pt x="199546" y="40423"/>
                  <a:pt x="190703" y="40423"/>
                  <a:pt x="185258" y="45868"/>
                </a:cubicBezTo>
                <a:lnTo>
                  <a:pt x="139390" y="91780"/>
                </a:lnTo>
                <a:lnTo>
                  <a:pt x="114387" y="66820"/>
                </a:lnTo>
                <a:cubicBezTo>
                  <a:pt x="108942" y="61375"/>
                  <a:pt x="100100" y="61375"/>
                  <a:pt x="94655" y="66820"/>
                </a:cubicBezTo>
                <a:lnTo>
                  <a:pt x="52838" y="108637"/>
                </a:lnTo>
                <a:cubicBezTo>
                  <a:pt x="47393" y="114082"/>
                  <a:pt x="47393" y="122925"/>
                  <a:pt x="52838" y="128370"/>
                </a:cubicBezTo>
                <a:cubicBezTo>
                  <a:pt x="58283" y="133815"/>
                  <a:pt x="67125" y="133815"/>
                  <a:pt x="72570" y="128370"/>
                </a:cubicBezTo>
                <a:lnTo>
                  <a:pt x="104543" y="96397"/>
                </a:lnTo>
                <a:lnTo>
                  <a:pt x="129546" y="121400"/>
                </a:lnTo>
                <a:cubicBezTo>
                  <a:pt x="134991" y="126845"/>
                  <a:pt x="143833" y="126845"/>
                  <a:pt x="149278" y="121400"/>
                </a:cubicBezTo>
                <a:lnTo>
                  <a:pt x="205034" y="65644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Text 5"/>
          <p:cNvSpPr/>
          <p:nvPr/>
        </p:nvSpPr>
        <p:spPr>
          <a:xfrm>
            <a:off x="947854" y="1300976"/>
            <a:ext cx="137531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变分推断（VI）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7561" y="1672683"/>
            <a:ext cx="5371171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将复杂的概率推断问题转化为</a:t>
            </a:r>
            <a:pPr>
              <a:lnSpc>
                <a:spcPct val="140000"/>
              </a:lnSpc>
            </a:pPr>
            <a:r>
              <a:rPr lang="en-US" sz="1171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优化问题</a:t>
            </a:r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。通过寻找简单的分布来近似复杂的后验分布，是EM算法思想的现代延伸。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293" y="2453268"/>
            <a:ext cx="5612780" cy="1152293"/>
          </a:xfrm>
          <a:custGeom>
            <a:avLst/>
            <a:gdLst/>
            <a:ahLst/>
            <a:cxnLst/>
            <a:rect l="l" t="t" r="r" b="b"/>
            <a:pathLst>
              <a:path w="5612780" h="1152293">
                <a:moveTo>
                  <a:pt x="37171" y="0"/>
                </a:moveTo>
                <a:lnTo>
                  <a:pt x="5538435" y="0"/>
                </a:lnTo>
                <a:cubicBezTo>
                  <a:pt x="5579495" y="0"/>
                  <a:pt x="5612780" y="33286"/>
                  <a:pt x="5612780" y="74346"/>
                </a:cubicBezTo>
                <a:lnTo>
                  <a:pt x="5612780" y="1077947"/>
                </a:lnTo>
                <a:cubicBezTo>
                  <a:pt x="5612780" y="1119007"/>
                  <a:pt x="5579495" y="1152293"/>
                  <a:pt x="5538435" y="1152293"/>
                </a:cubicBez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90293" y="2453268"/>
            <a:ext cx="37171" cy="1152293"/>
          </a:xfrm>
          <a:custGeom>
            <a:avLst/>
            <a:gdLst/>
            <a:ahLst/>
            <a:cxnLst/>
            <a:rect l="l" t="t" r="r" b="b"/>
            <a:pathLst>
              <a:path w="37171" h="1152293">
                <a:moveTo>
                  <a:pt x="37171" y="0"/>
                </a:moveTo>
                <a:lnTo>
                  <a:pt x="37171" y="0"/>
                </a:lnTo>
                <a:lnTo>
                  <a:pt x="37171" y="1152293"/>
                </a:ln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1" name="Shape 9"/>
          <p:cNvSpPr/>
          <p:nvPr/>
        </p:nvSpPr>
        <p:spPr>
          <a:xfrm>
            <a:off x="585439" y="2620537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61593" y="1002"/>
                </a:moveTo>
                <a:cubicBezTo>
                  <a:pt x="44866" y="-3485"/>
                  <a:pt x="27660" y="6447"/>
                  <a:pt x="23217" y="23174"/>
                </a:cubicBezTo>
                <a:lnTo>
                  <a:pt x="1089" y="105719"/>
                </a:lnTo>
                <a:cubicBezTo>
                  <a:pt x="-3398" y="122446"/>
                  <a:pt x="6534" y="139652"/>
                  <a:pt x="23261" y="144138"/>
                </a:cubicBezTo>
                <a:lnTo>
                  <a:pt x="105806" y="166266"/>
                </a:lnTo>
                <a:cubicBezTo>
                  <a:pt x="122533" y="170753"/>
                  <a:pt x="139739" y="160821"/>
                  <a:pt x="144225" y="144095"/>
                </a:cubicBezTo>
                <a:lnTo>
                  <a:pt x="166354" y="61550"/>
                </a:lnTo>
                <a:cubicBezTo>
                  <a:pt x="170840" y="44823"/>
                  <a:pt x="160909" y="27617"/>
                  <a:pt x="144182" y="23130"/>
                </a:cubicBezTo>
                <a:lnTo>
                  <a:pt x="61593" y="1002"/>
                </a:lnTo>
                <a:close/>
                <a:moveTo>
                  <a:pt x="71612" y="90604"/>
                </a:moveTo>
                <a:cubicBezTo>
                  <a:pt x="68962" y="86284"/>
                  <a:pt x="68866" y="80867"/>
                  <a:pt x="71360" y="76455"/>
                </a:cubicBezTo>
                <a:cubicBezTo>
                  <a:pt x="73855" y="72044"/>
                  <a:pt x="78546" y="69334"/>
                  <a:pt x="83614" y="69378"/>
                </a:cubicBezTo>
                <a:cubicBezTo>
                  <a:pt x="88681" y="69421"/>
                  <a:pt x="93325" y="72211"/>
                  <a:pt x="95744" y="76665"/>
                </a:cubicBezTo>
                <a:cubicBezTo>
                  <a:pt x="98393" y="80984"/>
                  <a:pt x="98489" y="86402"/>
                  <a:pt x="95995" y="90813"/>
                </a:cubicBezTo>
                <a:cubicBezTo>
                  <a:pt x="93501" y="95224"/>
                  <a:pt x="88809" y="97934"/>
                  <a:pt x="83742" y="97890"/>
                </a:cubicBezTo>
                <a:cubicBezTo>
                  <a:pt x="78674" y="97847"/>
                  <a:pt x="74030" y="95057"/>
                  <a:pt x="71612" y="90604"/>
                </a:cubicBezTo>
                <a:close/>
                <a:moveTo>
                  <a:pt x="34499" y="95961"/>
                </a:moveTo>
                <a:cubicBezTo>
                  <a:pt x="38819" y="93312"/>
                  <a:pt x="44236" y="93216"/>
                  <a:pt x="48647" y="95710"/>
                </a:cubicBezTo>
                <a:cubicBezTo>
                  <a:pt x="53058" y="98204"/>
                  <a:pt x="55768" y="102896"/>
                  <a:pt x="55725" y="107963"/>
                </a:cubicBezTo>
                <a:cubicBezTo>
                  <a:pt x="55681" y="113031"/>
                  <a:pt x="52891" y="117675"/>
                  <a:pt x="48438" y="120093"/>
                </a:cubicBezTo>
                <a:cubicBezTo>
                  <a:pt x="44118" y="122743"/>
                  <a:pt x="38701" y="122839"/>
                  <a:pt x="34290" y="120345"/>
                </a:cubicBezTo>
                <a:cubicBezTo>
                  <a:pt x="29879" y="117850"/>
                  <a:pt x="27169" y="113159"/>
                  <a:pt x="27212" y="108091"/>
                </a:cubicBezTo>
                <a:cubicBezTo>
                  <a:pt x="27256" y="103024"/>
                  <a:pt x="30046" y="98380"/>
                  <a:pt x="34499" y="95961"/>
                </a:cubicBezTo>
                <a:close/>
                <a:moveTo>
                  <a:pt x="115084" y="137953"/>
                </a:moveTo>
                <a:cubicBezTo>
                  <a:pt x="110764" y="140602"/>
                  <a:pt x="105347" y="140698"/>
                  <a:pt x="100936" y="138204"/>
                </a:cubicBezTo>
                <a:cubicBezTo>
                  <a:pt x="96525" y="135710"/>
                  <a:pt x="93815" y="131018"/>
                  <a:pt x="93858" y="125951"/>
                </a:cubicBezTo>
                <a:cubicBezTo>
                  <a:pt x="93902" y="120884"/>
                  <a:pt x="96692" y="116239"/>
                  <a:pt x="101145" y="113821"/>
                </a:cubicBezTo>
                <a:cubicBezTo>
                  <a:pt x="105465" y="111172"/>
                  <a:pt x="110882" y="111075"/>
                  <a:pt x="115293" y="113570"/>
                </a:cubicBezTo>
                <a:cubicBezTo>
                  <a:pt x="119704" y="116064"/>
                  <a:pt x="122414" y="120756"/>
                  <a:pt x="122371" y="125823"/>
                </a:cubicBezTo>
                <a:cubicBezTo>
                  <a:pt x="122327" y="130890"/>
                  <a:pt x="119537" y="135535"/>
                  <a:pt x="115084" y="137953"/>
                </a:cubicBezTo>
                <a:close/>
                <a:moveTo>
                  <a:pt x="119004" y="47175"/>
                </a:moveTo>
                <a:cubicBezTo>
                  <a:pt x="123324" y="44526"/>
                  <a:pt x="128741" y="44429"/>
                  <a:pt x="133153" y="46924"/>
                </a:cubicBezTo>
                <a:cubicBezTo>
                  <a:pt x="137564" y="49418"/>
                  <a:pt x="140274" y="54110"/>
                  <a:pt x="140230" y="59177"/>
                </a:cubicBezTo>
                <a:cubicBezTo>
                  <a:pt x="140187" y="64244"/>
                  <a:pt x="137397" y="68889"/>
                  <a:pt x="132943" y="71307"/>
                </a:cubicBezTo>
                <a:cubicBezTo>
                  <a:pt x="128624" y="73956"/>
                  <a:pt x="123206" y="74052"/>
                  <a:pt x="118795" y="71558"/>
                </a:cubicBezTo>
                <a:cubicBezTo>
                  <a:pt x="114384" y="69064"/>
                  <a:pt x="111674" y="64372"/>
                  <a:pt x="111718" y="59305"/>
                </a:cubicBezTo>
                <a:cubicBezTo>
                  <a:pt x="111761" y="54238"/>
                  <a:pt x="114551" y="49593"/>
                  <a:pt x="119004" y="47175"/>
                </a:cubicBezTo>
                <a:close/>
                <a:moveTo>
                  <a:pt x="66297" y="53447"/>
                </a:moveTo>
                <a:cubicBezTo>
                  <a:pt x="61978" y="56097"/>
                  <a:pt x="56560" y="56193"/>
                  <a:pt x="52149" y="53699"/>
                </a:cubicBezTo>
                <a:cubicBezTo>
                  <a:pt x="47738" y="51204"/>
                  <a:pt x="45028" y="46513"/>
                  <a:pt x="45072" y="41445"/>
                </a:cubicBezTo>
                <a:cubicBezTo>
                  <a:pt x="45115" y="36378"/>
                  <a:pt x="47905" y="31734"/>
                  <a:pt x="52358" y="29316"/>
                </a:cubicBezTo>
                <a:cubicBezTo>
                  <a:pt x="56678" y="26666"/>
                  <a:pt x="62096" y="26570"/>
                  <a:pt x="66507" y="29064"/>
                </a:cubicBezTo>
                <a:cubicBezTo>
                  <a:pt x="70918" y="31558"/>
                  <a:pt x="73628" y="36250"/>
                  <a:pt x="73584" y="41317"/>
                </a:cubicBezTo>
                <a:cubicBezTo>
                  <a:pt x="73541" y="46385"/>
                  <a:pt x="70751" y="51029"/>
                  <a:pt x="66297" y="53447"/>
                </a:cubicBezTo>
                <a:close/>
                <a:moveTo>
                  <a:pt x="182079" y="83634"/>
                </a:moveTo>
                <a:lnTo>
                  <a:pt x="164393" y="149496"/>
                </a:lnTo>
                <a:cubicBezTo>
                  <a:pt x="156901" y="177374"/>
                  <a:pt x="128239" y="193927"/>
                  <a:pt x="100361" y="186478"/>
                </a:cubicBezTo>
                <a:lnTo>
                  <a:pt x="83678" y="181991"/>
                </a:lnTo>
                <a:lnTo>
                  <a:pt x="83678" y="195146"/>
                </a:lnTo>
                <a:cubicBezTo>
                  <a:pt x="83678" y="210523"/>
                  <a:pt x="96179" y="223024"/>
                  <a:pt x="111556" y="223024"/>
                </a:cubicBezTo>
                <a:lnTo>
                  <a:pt x="195190" y="223024"/>
                </a:lnTo>
                <a:cubicBezTo>
                  <a:pt x="210566" y="223024"/>
                  <a:pt x="223068" y="210523"/>
                  <a:pt x="223068" y="195146"/>
                </a:cubicBezTo>
                <a:lnTo>
                  <a:pt x="223068" y="111512"/>
                </a:lnTo>
                <a:cubicBezTo>
                  <a:pt x="223068" y="96136"/>
                  <a:pt x="210566" y="83634"/>
                  <a:pt x="195190" y="83634"/>
                </a:cubicBezTo>
                <a:lnTo>
                  <a:pt x="182079" y="83634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2" name="Text 10"/>
          <p:cNvSpPr/>
          <p:nvPr/>
        </p:nvSpPr>
        <p:spPr>
          <a:xfrm>
            <a:off x="947854" y="2601951"/>
            <a:ext cx="1050073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MCMC采样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561" y="2973659"/>
            <a:ext cx="5371171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马尔可夫链蒙特卡洛</a:t>
            </a:r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方法通过采样来近似后验分布。适用于高维、复杂分布的贝叶斯推断。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0293" y="3754244"/>
            <a:ext cx="5612780" cy="1152293"/>
          </a:xfrm>
          <a:custGeom>
            <a:avLst/>
            <a:gdLst/>
            <a:ahLst/>
            <a:cxnLst/>
            <a:rect l="l" t="t" r="r" b="b"/>
            <a:pathLst>
              <a:path w="5612780" h="1152293">
                <a:moveTo>
                  <a:pt x="37171" y="0"/>
                </a:moveTo>
                <a:lnTo>
                  <a:pt x="5538435" y="0"/>
                </a:lnTo>
                <a:cubicBezTo>
                  <a:pt x="5579495" y="0"/>
                  <a:pt x="5612780" y="33286"/>
                  <a:pt x="5612780" y="74346"/>
                </a:cubicBezTo>
                <a:lnTo>
                  <a:pt x="5612780" y="1077947"/>
                </a:lnTo>
                <a:cubicBezTo>
                  <a:pt x="5612780" y="1119007"/>
                  <a:pt x="5579495" y="1152293"/>
                  <a:pt x="5538435" y="1152293"/>
                </a:cubicBez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0293" y="3754244"/>
            <a:ext cx="37171" cy="1152293"/>
          </a:xfrm>
          <a:custGeom>
            <a:avLst/>
            <a:gdLst/>
            <a:ahLst/>
            <a:cxnLst/>
            <a:rect l="l" t="t" r="r" b="b"/>
            <a:pathLst>
              <a:path w="37171" h="1152293">
                <a:moveTo>
                  <a:pt x="37171" y="0"/>
                </a:moveTo>
                <a:lnTo>
                  <a:pt x="37171" y="0"/>
                </a:lnTo>
                <a:lnTo>
                  <a:pt x="37171" y="1152293"/>
                </a:ln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439" y="3921512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52271" y="24393"/>
                </a:moveTo>
                <a:cubicBezTo>
                  <a:pt x="52271" y="10933"/>
                  <a:pt x="63205" y="0"/>
                  <a:pt x="76665" y="0"/>
                </a:cubicBezTo>
                <a:lnTo>
                  <a:pt x="87119" y="0"/>
                </a:lnTo>
                <a:cubicBezTo>
                  <a:pt x="94829" y="0"/>
                  <a:pt x="101058" y="6229"/>
                  <a:pt x="101058" y="13939"/>
                </a:cubicBezTo>
                <a:lnTo>
                  <a:pt x="101058" y="209085"/>
                </a:lnTo>
                <a:cubicBezTo>
                  <a:pt x="101058" y="216795"/>
                  <a:pt x="94829" y="223024"/>
                  <a:pt x="87119" y="223024"/>
                </a:cubicBezTo>
                <a:lnTo>
                  <a:pt x="73180" y="223024"/>
                </a:lnTo>
                <a:cubicBezTo>
                  <a:pt x="60199" y="223024"/>
                  <a:pt x="49266" y="214138"/>
                  <a:pt x="46173" y="202116"/>
                </a:cubicBezTo>
                <a:cubicBezTo>
                  <a:pt x="45868" y="202116"/>
                  <a:pt x="45607" y="202116"/>
                  <a:pt x="45302" y="202116"/>
                </a:cubicBezTo>
                <a:cubicBezTo>
                  <a:pt x="26049" y="202116"/>
                  <a:pt x="10454" y="186522"/>
                  <a:pt x="10454" y="167268"/>
                </a:cubicBezTo>
                <a:cubicBezTo>
                  <a:pt x="10454" y="159428"/>
                  <a:pt x="13068" y="152197"/>
                  <a:pt x="17424" y="146360"/>
                </a:cubicBezTo>
                <a:cubicBezTo>
                  <a:pt x="8973" y="140000"/>
                  <a:pt x="3485" y="129894"/>
                  <a:pt x="3485" y="118482"/>
                </a:cubicBezTo>
                <a:cubicBezTo>
                  <a:pt x="3485" y="105022"/>
                  <a:pt x="11151" y="93304"/>
                  <a:pt x="22302" y="87511"/>
                </a:cubicBezTo>
                <a:cubicBezTo>
                  <a:pt x="19210" y="82284"/>
                  <a:pt x="17424" y="76185"/>
                  <a:pt x="17424" y="69695"/>
                </a:cubicBezTo>
                <a:cubicBezTo>
                  <a:pt x="17424" y="50442"/>
                  <a:pt x="33018" y="34848"/>
                  <a:pt x="52271" y="34848"/>
                </a:cubicBezTo>
                <a:lnTo>
                  <a:pt x="52271" y="24393"/>
                </a:lnTo>
                <a:close/>
                <a:moveTo>
                  <a:pt x="170753" y="24393"/>
                </a:moveTo>
                <a:lnTo>
                  <a:pt x="170753" y="34848"/>
                </a:lnTo>
                <a:cubicBezTo>
                  <a:pt x="190006" y="34848"/>
                  <a:pt x="205601" y="50442"/>
                  <a:pt x="205601" y="69695"/>
                </a:cubicBezTo>
                <a:cubicBezTo>
                  <a:pt x="205601" y="76229"/>
                  <a:pt x="203815" y="82327"/>
                  <a:pt x="200722" y="87511"/>
                </a:cubicBezTo>
                <a:cubicBezTo>
                  <a:pt x="211917" y="93304"/>
                  <a:pt x="219540" y="104978"/>
                  <a:pt x="219540" y="118482"/>
                </a:cubicBezTo>
                <a:cubicBezTo>
                  <a:pt x="219540" y="129894"/>
                  <a:pt x="214051" y="140000"/>
                  <a:pt x="205601" y="146360"/>
                </a:cubicBezTo>
                <a:cubicBezTo>
                  <a:pt x="209957" y="152197"/>
                  <a:pt x="212570" y="159428"/>
                  <a:pt x="212570" y="167268"/>
                </a:cubicBezTo>
                <a:cubicBezTo>
                  <a:pt x="212570" y="186522"/>
                  <a:pt x="196976" y="202116"/>
                  <a:pt x="177723" y="202116"/>
                </a:cubicBezTo>
                <a:cubicBezTo>
                  <a:pt x="177418" y="202116"/>
                  <a:pt x="177156" y="202116"/>
                  <a:pt x="176851" y="202116"/>
                </a:cubicBezTo>
                <a:cubicBezTo>
                  <a:pt x="173759" y="214138"/>
                  <a:pt x="162825" y="223024"/>
                  <a:pt x="149845" y="223024"/>
                </a:cubicBezTo>
                <a:lnTo>
                  <a:pt x="135905" y="223024"/>
                </a:lnTo>
                <a:cubicBezTo>
                  <a:pt x="128195" y="223024"/>
                  <a:pt x="121966" y="216795"/>
                  <a:pt x="121966" y="209085"/>
                </a:cubicBezTo>
                <a:lnTo>
                  <a:pt x="121966" y="13939"/>
                </a:lnTo>
                <a:cubicBezTo>
                  <a:pt x="121966" y="6229"/>
                  <a:pt x="128195" y="0"/>
                  <a:pt x="135905" y="0"/>
                </a:cubicBezTo>
                <a:lnTo>
                  <a:pt x="146360" y="0"/>
                </a:lnTo>
                <a:cubicBezTo>
                  <a:pt x="159820" y="0"/>
                  <a:pt x="170753" y="10933"/>
                  <a:pt x="170753" y="24393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7" name="Text 15"/>
          <p:cNvSpPr/>
          <p:nvPr/>
        </p:nvSpPr>
        <p:spPr>
          <a:xfrm>
            <a:off x="947854" y="3902927"/>
            <a:ext cx="1208049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深度生成模型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561" y="4274634"/>
            <a:ext cx="5371171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VAE</a:t>
            </a:r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pPr>
              <a:lnSpc>
                <a:spcPct val="140000"/>
              </a:lnSpc>
            </a:pPr>
            <a:r>
              <a:rPr lang="en-US" sz="1171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GAN</a:t>
            </a:r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等模型中的隐变量思想，正是来源于EM算法。VAE的编码器-解码器结构与EM的E步-M步有深刻联系。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7512" y="1152293"/>
            <a:ext cx="5612780" cy="1152293"/>
          </a:xfrm>
          <a:custGeom>
            <a:avLst/>
            <a:gdLst/>
            <a:ahLst/>
            <a:cxnLst/>
            <a:rect l="l" t="t" r="r" b="b"/>
            <a:pathLst>
              <a:path w="5612780" h="1152293">
                <a:moveTo>
                  <a:pt x="37171" y="0"/>
                </a:moveTo>
                <a:lnTo>
                  <a:pt x="5538435" y="0"/>
                </a:lnTo>
                <a:cubicBezTo>
                  <a:pt x="5579495" y="0"/>
                  <a:pt x="5612780" y="33286"/>
                  <a:pt x="5612780" y="74346"/>
                </a:cubicBezTo>
                <a:lnTo>
                  <a:pt x="5612780" y="1077947"/>
                </a:lnTo>
                <a:cubicBezTo>
                  <a:pt x="5612780" y="1119007"/>
                  <a:pt x="5579495" y="1152293"/>
                  <a:pt x="5538435" y="1152293"/>
                </a:cubicBez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207512" y="1152293"/>
            <a:ext cx="37171" cy="1152293"/>
          </a:xfrm>
          <a:custGeom>
            <a:avLst/>
            <a:gdLst/>
            <a:ahLst/>
            <a:cxnLst/>
            <a:rect l="l" t="t" r="r" b="b"/>
            <a:pathLst>
              <a:path w="37171" h="1152293">
                <a:moveTo>
                  <a:pt x="37171" y="0"/>
                </a:moveTo>
                <a:lnTo>
                  <a:pt x="37171" y="0"/>
                </a:lnTo>
                <a:lnTo>
                  <a:pt x="37171" y="1152293"/>
                </a:ln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2659" y="1319561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101276" y="2265"/>
                </a:moveTo>
                <a:cubicBezTo>
                  <a:pt x="107766" y="-741"/>
                  <a:pt x="115258" y="-741"/>
                  <a:pt x="121749" y="2265"/>
                </a:cubicBezTo>
                <a:lnTo>
                  <a:pt x="216970" y="46260"/>
                </a:lnTo>
                <a:cubicBezTo>
                  <a:pt x="220672" y="47959"/>
                  <a:pt x="223024" y="51662"/>
                  <a:pt x="223024" y="55756"/>
                </a:cubicBezTo>
                <a:cubicBezTo>
                  <a:pt x="223024" y="59851"/>
                  <a:pt x="220672" y="63553"/>
                  <a:pt x="216970" y="65252"/>
                </a:cubicBezTo>
                <a:lnTo>
                  <a:pt x="121749" y="109247"/>
                </a:lnTo>
                <a:cubicBezTo>
                  <a:pt x="115258" y="112253"/>
                  <a:pt x="107766" y="112253"/>
                  <a:pt x="101276" y="109247"/>
                </a:cubicBezTo>
                <a:lnTo>
                  <a:pt x="6055" y="65252"/>
                </a:lnTo>
                <a:cubicBezTo>
                  <a:pt x="2352" y="63510"/>
                  <a:pt x="0" y="59807"/>
                  <a:pt x="0" y="55756"/>
                </a:cubicBezTo>
                <a:cubicBezTo>
                  <a:pt x="0" y="51705"/>
                  <a:pt x="2352" y="47959"/>
                  <a:pt x="6055" y="46260"/>
                </a:cubicBezTo>
                <a:lnTo>
                  <a:pt x="101276" y="2265"/>
                </a:lnTo>
                <a:close/>
                <a:moveTo>
                  <a:pt x="20952" y="95134"/>
                </a:moveTo>
                <a:lnTo>
                  <a:pt x="92520" y="128195"/>
                </a:lnTo>
                <a:cubicBezTo>
                  <a:pt x="104586" y="133771"/>
                  <a:pt x="118482" y="133771"/>
                  <a:pt x="130548" y="128195"/>
                </a:cubicBezTo>
                <a:lnTo>
                  <a:pt x="202116" y="95134"/>
                </a:lnTo>
                <a:lnTo>
                  <a:pt x="216970" y="102016"/>
                </a:lnTo>
                <a:cubicBezTo>
                  <a:pt x="220672" y="103715"/>
                  <a:pt x="223024" y="107418"/>
                  <a:pt x="223024" y="111512"/>
                </a:cubicBezTo>
                <a:cubicBezTo>
                  <a:pt x="223024" y="115607"/>
                  <a:pt x="220672" y="119309"/>
                  <a:pt x="216970" y="121008"/>
                </a:cubicBezTo>
                <a:lnTo>
                  <a:pt x="121749" y="165003"/>
                </a:lnTo>
                <a:cubicBezTo>
                  <a:pt x="115258" y="168009"/>
                  <a:pt x="107766" y="168009"/>
                  <a:pt x="101276" y="165003"/>
                </a:cubicBezTo>
                <a:lnTo>
                  <a:pt x="6055" y="121008"/>
                </a:lnTo>
                <a:cubicBezTo>
                  <a:pt x="2352" y="119266"/>
                  <a:pt x="0" y="115563"/>
                  <a:pt x="0" y="111512"/>
                </a:cubicBezTo>
                <a:cubicBezTo>
                  <a:pt x="0" y="107461"/>
                  <a:pt x="2352" y="103715"/>
                  <a:pt x="6055" y="102016"/>
                </a:cubicBezTo>
                <a:lnTo>
                  <a:pt x="20909" y="95134"/>
                </a:lnTo>
                <a:close/>
                <a:moveTo>
                  <a:pt x="6055" y="157772"/>
                </a:moveTo>
                <a:lnTo>
                  <a:pt x="20909" y="150890"/>
                </a:lnTo>
                <a:lnTo>
                  <a:pt x="92477" y="183952"/>
                </a:lnTo>
                <a:cubicBezTo>
                  <a:pt x="104543" y="189527"/>
                  <a:pt x="118438" y="189527"/>
                  <a:pt x="130504" y="183952"/>
                </a:cubicBezTo>
                <a:lnTo>
                  <a:pt x="202072" y="150890"/>
                </a:lnTo>
                <a:lnTo>
                  <a:pt x="216926" y="157772"/>
                </a:lnTo>
                <a:cubicBezTo>
                  <a:pt x="220629" y="159471"/>
                  <a:pt x="222981" y="163174"/>
                  <a:pt x="222981" y="167268"/>
                </a:cubicBezTo>
                <a:cubicBezTo>
                  <a:pt x="222981" y="171363"/>
                  <a:pt x="220629" y="175065"/>
                  <a:pt x="216926" y="176764"/>
                </a:cubicBezTo>
                <a:lnTo>
                  <a:pt x="121705" y="220759"/>
                </a:lnTo>
                <a:cubicBezTo>
                  <a:pt x="115215" y="223765"/>
                  <a:pt x="107723" y="223765"/>
                  <a:pt x="101232" y="220759"/>
                </a:cubicBezTo>
                <a:lnTo>
                  <a:pt x="6055" y="176764"/>
                </a:lnTo>
                <a:cubicBezTo>
                  <a:pt x="2352" y="175022"/>
                  <a:pt x="0" y="171319"/>
                  <a:pt x="0" y="167268"/>
                </a:cubicBezTo>
                <a:cubicBezTo>
                  <a:pt x="0" y="163217"/>
                  <a:pt x="2352" y="159471"/>
                  <a:pt x="6055" y="157772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5073" y="1300976"/>
            <a:ext cx="139390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贝叶斯深度学习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4780" y="1672683"/>
            <a:ext cx="5371171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</a:t>
            </a:r>
            <a:pPr>
              <a:lnSpc>
                <a:spcPct val="140000"/>
              </a:lnSpc>
            </a:pPr>
            <a:r>
              <a:rPr lang="en-US" sz="1171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贝叶斯方法</a:t>
            </a:r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与深度学习结合，对神经网络的权重进行概率建模。需要处理高维隐变量的推断问题。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7512" y="2453268"/>
            <a:ext cx="5612780" cy="1152293"/>
          </a:xfrm>
          <a:custGeom>
            <a:avLst/>
            <a:gdLst/>
            <a:ahLst/>
            <a:cxnLst/>
            <a:rect l="l" t="t" r="r" b="b"/>
            <a:pathLst>
              <a:path w="5612780" h="1152293">
                <a:moveTo>
                  <a:pt x="37171" y="0"/>
                </a:moveTo>
                <a:lnTo>
                  <a:pt x="5538435" y="0"/>
                </a:lnTo>
                <a:cubicBezTo>
                  <a:pt x="5579495" y="0"/>
                  <a:pt x="5612780" y="33286"/>
                  <a:pt x="5612780" y="74346"/>
                </a:cubicBezTo>
                <a:lnTo>
                  <a:pt x="5612780" y="1077947"/>
                </a:lnTo>
                <a:cubicBezTo>
                  <a:pt x="5612780" y="1119007"/>
                  <a:pt x="5579495" y="1152293"/>
                  <a:pt x="5538435" y="1152293"/>
                </a:cubicBez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07512" y="2453268"/>
            <a:ext cx="37171" cy="1152293"/>
          </a:xfrm>
          <a:custGeom>
            <a:avLst/>
            <a:gdLst/>
            <a:ahLst/>
            <a:cxnLst/>
            <a:rect l="l" t="t" r="r" b="b"/>
            <a:pathLst>
              <a:path w="37171" h="1152293">
                <a:moveTo>
                  <a:pt x="37171" y="0"/>
                </a:moveTo>
                <a:lnTo>
                  <a:pt x="37171" y="0"/>
                </a:lnTo>
                <a:lnTo>
                  <a:pt x="37171" y="1152293"/>
                </a:ln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2659" y="2620537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153286" y="121966"/>
                </a:moveTo>
                <a:lnTo>
                  <a:pt x="70131" y="121966"/>
                </a:lnTo>
                <a:cubicBezTo>
                  <a:pt x="71394" y="150062"/>
                  <a:pt x="77623" y="175937"/>
                  <a:pt x="86466" y="194885"/>
                </a:cubicBezTo>
                <a:cubicBezTo>
                  <a:pt x="91431" y="205557"/>
                  <a:pt x="96789" y="213093"/>
                  <a:pt x="101755" y="217710"/>
                </a:cubicBezTo>
                <a:cubicBezTo>
                  <a:pt x="106634" y="222284"/>
                  <a:pt x="109988" y="223024"/>
                  <a:pt x="111730" y="223024"/>
                </a:cubicBezTo>
                <a:cubicBezTo>
                  <a:pt x="113472" y="223024"/>
                  <a:pt x="116826" y="222284"/>
                  <a:pt x="121705" y="217710"/>
                </a:cubicBezTo>
                <a:cubicBezTo>
                  <a:pt x="126671" y="213093"/>
                  <a:pt x="132029" y="205513"/>
                  <a:pt x="136994" y="194885"/>
                </a:cubicBezTo>
                <a:cubicBezTo>
                  <a:pt x="145837" y="175937"/>
                  <a:pt x="152066" y="150062"/>
                  <a:pt x="153329" y="121966"/>
                </a:cubicBezTo>
                <a:close/>
                <a:moveTo>
                  <a:pt x="70087" y="101058"/>
                </a:moveTo>
                <a:lnTo>
                  <a:pt x="153242" y="101058"/>
                </a:lnTo>
                <a:cubicBezTo>
                  <a:pt x="152022" y="72962"/>
                  <a:pt x="145793" y="47088"/>
                  <a:pt x="136951" y="28139"/>
                </a:cubicBezTo>
                <a:cubicBezTo>
                  <a:pt x="131985" y="17511"/>
                  <a:pt x="126627" y="9932"/>
                  <a:pt x="121662" y="5314"/>
                </a:cubicBezTo>
                <a:cubicBezTo>
                  <a:pt x="116783" y="741"/>
                  <a:pt x="113429" y="0"/>
                  <a:pt x="111686" y="0"/>
                </a:cubicBezTo>
                <a:cubicBezTo>
                  <a:pt x="109944" y="0"/>
                  <a:pt x="106590" y="741"/>
                  <a:pt x="101711" y="5314"/>
                </a:cubicBezTo>
                <a:cubicBezTo>
                  <a:pt x="96746" y="9932"/>
                  <a:pt x="91388" y="17511"/>
                  <a:pt x="86422" y="28139"/>
                </a:cubicBezTo>
                <a:cubicBezTo>
                  <a:pt x="77579" y="47088"/>
                  <a:pt x="71350" y="72962"/>
                  <a:pt x="70087" y="101058"/>
                </a:cubicBezTo>
                <a:close/>
                <a:moveTo>
                  <a:pt x="49179" y="101058"/>
                </a:moveTo>
                <a:cubicBezTo>
                  <a:pt x="50703" y="63771"/>
                  <a:pt x="60330" y="29141"/>
                  <a:pt x="74400" y="6403"/>
                </a:cubicBezTo>
                <a:cubicBezTo>
                  <a:pt x="34281" y="20604"/>
                  <a:pt x="4748" y="57150"/>
                  <a:pt x="653" y="101058"/>
                </a:cubicBezTo>
                <a:lnTo>
                  <a:pt x="49179" y="101058"/>
                </a:lnTo>
                <a:close/>
                <a:moveTo>
                  <a:pt x="653" y="121966"/>
                </a:moveTo>
                <a:cubicBezTo>
                  <a:pt x="4748" y="165874"/>
                  <a:pt x="34281" y="202421"/>
                  <a:pt x="74400" y="216621"/>
                </a:cubicBezTo>
                <a:cubicBezTo>
                  <a:pt x="60330" y="193883"/>
                  <a:pt x="50703" y="159253"/>
                  <a:pt x="49179" y="121966"/>
                </a:cubicBezTo>
                <a:lnTo>
                  <a:pt x="653" y="121966"/>
                </a:lnTo>
                <a:close/>
                <a:moveTo>
                  <a:pt x="174194" y="121966"/>
                </a:moveTo>
                <a:cubicBezTo>
                  <a:pt x="172670" y="159253"/>
                  <a:pt x="163043" y="193883"/>
                  <a:pt x="148973" y="216621"/>
                </a:cubicBezTo>
                <a:cubicBezTo>
                  <a:pt x="189092" y="202377"/>
                  <a:pt x="218625" y="165874"/>
                  <a:pt x="222719" y="121966"/>
                </a:cubicBezTo>
                <a:lnTo>
                  <a:pt x="174194" y="121966"/>
                </a:lnTo>
                <a:close/>
                <a:moveTo>
                  <a:pt x="222719" y="101058"/>
                </a:moveTo>
                <a:cubicBezTo>
                  <a:pt x="218625" y="57150"/>
                  <a:pt x="189092" y="20604"/>
                  <a:pt x="148973" y="6403"/>
                </a:cubicBezTo>
                <a:cubicBezTo>
                  <a:pt x="163043" y="29141"/>
                  <a:pt x="172670" y="63771"/>
                  <a:pt x="174194" y="101058"/>
                </a:cubicBezTo>
                <a:lnTo>
                  <a:pt x="222719" y="101058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27" name="Text 25"/>
          <p:cNvSpPr/>
          <p:nvPr/>
        </p:nvSpPr>
        <p:spPr>
          <a:xfrm>
            <a:off x="6765073" y="2601951"/>
            <a:ext cx="1022195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概率图模型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74780" y="2973659"/>
            <a:ext cx="5371171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更一般的</a:t>
            </a:r>
            <a:pPr>
              <a:lnSpc>
                <a:spcPct val="140000"/>
              </a:lnSpc>
            </a:pPr>
            <a:r>
              <a:rPr lang="en-US" sz="1171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图模型</a:t>
            </a:r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表示方法，包括贝叶斯网络、马尔可夫网络等。EM算法是推断这些模型参数的重要工具。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7512" y="3754244"/>
            <a:ext cx="5612780" cy="1152293"/>
          </a:xfrm>
          <a:custGeom>
            <a:avLst/>
            <a:gdLst/>
            <a:ahLst/>
            <a:cxnLst/>
            <a:rect l="l" t="t" r="r" b="b"/>
            <a:pathLst>
              <a:path w="5612780" h="1152293">
                <a:moveTo>
                  <a:pt x="37171" y="0"/>
                </a:moveTo>
                <a:lnTo>
                  <a:pt x="5538435" y="0"/>
                </a:lnTo>
                <a:cubicBezTo>
                  <a:pt x="5579495" y="0"/>
                  <a:pt x="5612780" y="33286"/>
                  <a:pt x="5612780" y="74346"/>
                </a:cubicBezTo>
                <a:lnTo>
                  <a:pt x="5612780" y="1077947"/>
                </a:lnTo>
                <a:cubicBezTo>
                  <a:pt x="5612780" y="1119007"/>
                  <a:pt x="5579495" y="1152293"/>
                  <a:pt x="5538435" y="1152293"/>
                </a:cubicBez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07512" y="3754244"/>
            <a:ext cx="37171" cy="1152293"/>
          </a:xfrm>
          <a:custGeom>
            <a:avLst/>
            <a:gdLst/>
            <a:ahLst/>
            <a:cxnLst/>
            <a:rect l="l" t="t" r="r" b="b"/>
            <a:pathLst>
              <a:path w="37171" h="1152293">
                <a:moveTo>
                  <a:pt x="37171" y="0"/>
                </a:moveTo>
                <a:lnTo>
                  <a:pt x="37171" y="0"/>
                </a:lnTo>
                <a:lnTo>
                  <a:pt x="37171" y="1152293"/>
                </a:lnTo>
                <a:lnTo>
                  <a:pt x="37171" y="1152293"/>
                </a:lnTo>
                <a:cubicBezTo>
                  <a:pt x="16642" y="1152293"/>
                  <a:pt x="0" y="1135651"/>
                  <a:pt x="0" y="111512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2659" y="3921512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55756" y="139390"/>
                </a:moveTo>
                <a:lnTo>
                  <a:pt x="10672" y="139390"/>
                </a:lnTo>
                <a:cubicBezTo>
                  <a:pt x="-174" y="139390"/>
                  <a:pt x="-6839" y="127586"/>
                  <a:pt x="-1263" y="118264"/>
                </a:cubicBezTo>
                <a:lnTo>
                  <a:pt x="21780" y="79844"/>
                </a:lnTo>
                <a:cubicBezTo>
                  <a:pt x="25569" y="73528"/>
                  <a:pt x="32365" y="69695"/>
                  <a:pt x="39726" y="69695"/>
                </a:cubicBezTo>
                <a:lnTo>
                  <a:pt x="81108" y="69695"/>
                </a:lnTo>
                <a:cubicBezTo>
                  <a:pt x="114256" y="13547"/>
                  <a:pt x="163696" y="10716"/>
                  <a:pt x="196758" y="15551"/>
                </a:cubicBezTo>
                <a:cubicBezTo>
                  <a:pt x="202334" y="16378"/>
                  <a:pt x="206690" y="20734"/>
                  <a:pt x="207474" y="26266"/>
                </a:cubicBezTo>
                <a:cubicBezTo>
                  <a:pt x="212309" y="59328"/>
                  <a:pt x="209477" y="108768"/>
                  <a:pt x="153329" y="141917"/>
                </a:cubicBezTo>
                <a:lnTo>
                  <a:pt x="153329" y="183298"/>
                </a:lnTo>
                <a:cubicBezTo>
                  <a:pt x="153329" y="190660"/>
                  <a:pt x="149496" y="197455"/>
                  <a:pt x="143180" y="201245"/>
                </a:cubicBezTo>
                <a:lnTo>
                  <a:pt x="104760" y="224288"/>
                </a:lnTo>
                <a:cubicBezTo>
                  <a:pt x="95482" y="229863"/>
                  <a:pt x="83634" y="223155"/>
                  <a:pt x="83634" y="212352"/>
                </a:cubicBezTo>
                <a:lnTo>
                  <a:pt x="83634" y="167268"/>
                </a:lnTo>
                <a:cubicBezTo>
                  <a:pt x="83634" y="151892"/>
                  <a:pt x="71133" y="139390"/>
                  <a:pt x="55756" y="139390"/>
                </a:cubicBezTo>
                <a:lnTo>
                  <a:pt x="55713" y="139390"/>
                </a:lnTo>
                <a:close/>
                <a:moveTo>
                  <a:pt x="174238" y="69695"/>
                </a:moveTo>
                <a:cubicBezTo>
                  <a:pt x="174238" y="58155"/>
                  <a:pt x="164869" y="48787"/>
                  <a:pt x="153329" y="48787"/>
                </a:cubicBezTo>
                <a:cubicBezTo>
                  <a:pt x="141790" y="48787"/>
                  <a:pt x="132421" y="58155"/>
                  <a:pt x="132421" y="69695"/>
                </a:cubicBezTo>
                <a:cubicBezTo>
                  <a:pt x="132421" y="81235"/>
                  <a:pt x="141790" y="90604"/>
                  <a:pt x="153329" y="90604"/>
                </a:cubicBezTo>
                <a:cubicBezTo>
                  <a:pt x="164869" y="90604"/>
                  <a:pt x="174238" y="81235"/>
                  <a:pt x="174238" y="69695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32" name="Text 30"/>
          <p:cNvSpPr/>
          <p:nvPr/>
        </p:nvSpPr>
        <p:spPr>
          <a:xfrm>
            <a:off x="6765073" y="3902927"/>
            <a:ext cx="147753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强化学习中的EM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4780" y="4274634"/>
            <a:ext cx="5371171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</a:t>
            </a:r>
            <a:pPr>
              <a:lnSpc>
                <a:spcPct val="140000"/>
              </a:lnSpc>
            </a:pPr>
            <a:r>
              <a:rPr lang="en-US" sz="1171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策略梯度方法</a:t>
            </a:r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中，EM思想用于优化策略参数。隐变量可能是动作背后的意图或状态表示。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90293" y="5055220"/>
            <a:ext cx="11430000" cy="1431073"/>
          </a:xfrm>
          <a:custGeom>
            <a:avLst/>
            <a:gdLst/>
            <a:ahLst/>
            <a:cxnLst/>
            <a:rect l="l" t="t" r="r" b="b"/>
            <a:pathLst>
              <a:path w="11430000" h="1431073">
                <a:moveTo>
                  <a:pt x="37171" y="0"/>
                </a:moveTo>
                <a:lnTo>
                  <a:pt x="11355656" y="0"/>
                </a:lnTo>
                <a:cubicBezTo>
                  <a:pt x="11396715" y="0"/>
                  <a:pt x="11430000" y="33285"/>
                  <a:pt x="11430000" y="74344"/>
                </a:cubicBezTo>
                <a:lnTo>
                  <a:pt x="11430000" y="1356729"/>
                </a:lnTo>
                <a:cubicBezTo>
                  <a:pt x="11430000" y="1397788"/>
                  <a:pt x="11396715" y="1431073"/>
                  <a:pt x="11355656" y="1431073"/>
                </a:cubicBezTo>
                <a:lnTo>
                  <a:pt x="37171" y="1431073"/>
                </a:lnTo>
                <a:cubicBezTo>
                  <a:pt x="16642" y="1431073"/>
                  <a:pt x="0" y="1414431"/>
                  <a:pt x="0" y="1393902"/>
                </a:cubicBezTo>
                <a:lnTo>
                  <a:pt x="0" y="37171"/>
                </a:lnTo>
                <a:cubicBezTo>
                  <a:pt x="0" y="16656"/>
                  <a:pt x="16656" y="0"/>
                  <a:pt x="37171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0293" y="5055220"/>
            <a:ext cx="37171" cy="1431073"/>
          </a:xfrm>
          <a:custGeom>
            <a:avLst/>
            <a:gdLst/>
            <a:ahLst/>
            <a:cxnLst/>
            <a:rect l="l" t="t" r="r" b="b"/>
            <a:pathLst>
              <a:path w="37171" h="1431073">
                <a:moveTo>
                  <a:pt x="37171" y="0"/>
                </a:moveTo>
                <a:lnTo>
                  <a:pt x="37171" y="0"/>
                </a:lnTo>
                <a:lnTo>
                  <a:pt x="37171" y="1431073"/>
                </a:lnTo>
                <a:lnTo>
                  <a:pt x="37171" y="1431073"/>
                </a:lnTo>
                <a:cubicBezTo>
                  <a:pt x="16642" y="1431073"/>
                  <a:pt x="0" y="1414431"/>
                  <a:pt x="0" y="139390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6" name="Shape 34"/>
          <p:cNvSpPr/>
          <p:nvPr/>
        </p:nvSpPr>
        <p:spPr>
          <a:xfrm>
            <a:off x="649326" y="5278244"/>
            <a:ext cx="243933" cy="278780"/>
          </a:xfrm>
          <a:custGeom>
            <a:avLst/>
            <a:gdLst/>
            <a:ahLst/>
            <a:cxnLst/>
            <a:rect l="l" t="t" r="r" b="b"/>
            <a:pathLst>
              <a:path w="243933" h="278780">
                <a:moveTo>
                  <a:pt x="209085" y="278780"/>
                </a:moveTo>
                <a:lnTo>
                  <a:pt x="52271" y="278780"/>
                </a:lnTo>
                <a:cubicBezTo>
                  <a:pt x="23413" y="278780"/>
                  <a:pt x="0" y="255367"/>
                  <a:pt x="0" y="226509"/>
                </a:cubicBezTo>
                <a:lnTo>
                  <a:pt x="0" y="52271"/>
                </a:lnTo>
                <a:cubicBezTo>
                  <a:pt x="0" y="23413"/>
                  <a:pt x="23413" y="0"/>
                  <a:pt x="52271" y="0"/>
                </a:cubicBezTo>
                <a:lnTo>
                  <a:pt x="217797" y="0"/>
                </a:lnTo>
                <a:cubicBezTo>
                  <a:pt x="232226" y="0"/>
                  <a:pt x="243933" y="11707"/>
                  <a:pt x="243933" y="26136"/>
                </a:cubicBezTo>
                <a:lnTo>
                  <a:pt x="243933" y="182950"/>
                </a:lnTo>
                <a:cubicBezTo>
                  <a:pt x="243933" y="194330"/>
                  <a:pt x="236637" y="204022"/>
                  <a:pt x="226509" y="207615"/>
                </a:cubicBezTo>
                <a:lnTo>
                  <a:pt x="226509" y="243933"/>
                </a:lnTo>
                <a:cubicBezTo>
                  <a:pt x="236147" y="243933"/>
                  <a:pt x="243933" y="251719"/>
                  <a:pt x="243933" y="261357"/>
                </a:cubicBezTo>
                <a:cubicBezTo>
                  <a:pt x="243933" y="270994"/>
                  <a:pt x="236147" y="278780"/>
                  <a:pt x="226509" y="278780"/>
                </a:cubicBezTo>
                <a:lnTo>
                  <a:pt x="209085" y="278780"/>
                </a:lnTo>
                <a:close/>
                <a:moveTo>
                  <a:pt x="52271" y="209085"/>
                </a:moveTo>
                <a:cubicBezTo>
                  <a:pt x="42634" y="209085"/>
                  <a:pt x="34848" y="216872"/>
                  <a:pt x="34848" y="226509"/>
                </a:cubicBezTo>
                <a:cubicBezTo>
                  <a:pt x="34848" y="236147"/>
                  <a:pt x="42634" y="243933"/>
                  <a:pt x="52271" y="243933"/>
                </a:cubicBezTo>
                <a:lnTo>
                  <a:pt x="191662" y="243933"/>
                </a:lnTo>
                <a:lnTo>
                  <a:pt x="191662" y="209085"/>
                </a:lnTo>
                <a:lnTo>
                  <a:pt x="52271" y="209085"/>
                </a:lnTo>
                <a:close/>
                <a:moveTo>
                  <a:pt x="69695" y="82763"/>
                </a:moveTo>
                <a:cubicBezTo>
                  <a:pt x="69695" y="90005"/>
                  <a:pt x="75521" y="95831"/>
                  <a:pt x="82763" y="95831"/>
                </a:cubicBezTo>
                <a:lnTo>
                  <a:pt x="178594" y="95831"/>
                </a:lnTo>
                <a:cubicBezTo>
                  <a:pt x="185836" y="95831"/>
                  <a:pt x="191662" y="90005"/>
                  <a:pt x="191662" y="82763"/>
                </a:cubicBezTo>
                <a:cubicBezTo>
                  <a:pt x="191662" y="75521"/>
                  <a:pt x="185836" y="69695"/>
                  <a:pt x="178594" y="69695"/>
                </a:cubicBezTo>
                <a:lnTo>
                  <a:pt x="82763" y="69695"/>
                </a:lnTo>
                <a:cubicBezTo>
                  <a:pt x="75521" y="69695"/>
                  <a:pt x="69695" y="75521"/>
                  <a:pt x="69695" y="82763"/>
                </a:cubicBezTo>
                <a:close/>
                <a:moveTo>
                  <a:pt x="82763" y="121966"/>
                </a:moveTo>
                <a:cubicBezTo>
                  <a:pt x="75521" y="121966"/>
                  <a:pt x="69695" y="127793"/>
                  <a:pt x="69695" y="135034"/>
                </a:cubicBezTo>
                <a:cubicBezTo>
                  <a:pt x="69695" y="142276"/>
                  <a:pt x="75521" y="148102"/>
                  <a:pt x="82763" y="148102"/>
                </a:cubicBezTo>
                <a:lnTo>
                  <a:pt x="178594" y="148102"/>
                </a:lnTo>
                <a:cubicBezTo>
                  <a:pt x="185836" y="148102"/>
                  <a:pt x="191662" y="142276"/>
                  <a:pt x="191662" y="135034"/>
                </a:cubicBezTo>
                <a:cubicBezTo>
                  <a:pt x="191662" y="127793"/>
                  <a:pt x="185836" y="121966"/>
                  <a:pt x="178594" y="121966"/>
                </a:cubicBezTo>
                <a:lnTo>
                  <a:pt x="82763" y="121966"/>
                </a:ln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37" name="Text 35"/>
          <p:cNvSpPr/>
          <p:nvPr/>
        </p:nvSpPr>
        <p:spPr>
          <a:xfrm>
            <a:off x="1091890" y="5241073"/>
            <a:ext cx="10212659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学习路径建议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1890" y="5649951"/>
            <a:ext cx="10175488" cy="24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掌握MLE、EM算法和GMM是理解</a:t>
            </a:r>
            <a:pPr>
              <a:lnSpc>
                <a:spcPct val="140000"/>
              </a:lnSpc>
            </a:pPr>
            <a:r>
              <a:rPr lang="en-US" sz="1171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现代机器学习生成模型</a:t>
            </a:r>
            <a:pPr>
              <a:lnSpc>
                <a:spcPct val="14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的基础。建议在此基础上深入学习概率图模型、变分推断和深度生成模型，构建完整的知识体系。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91890" y="6003073"/>
            <a:ext cx="966439" cy="297366"/>
          </a:xfrm>
          <a:custGeom>
            <a:avLst/>
            <a:gdLst/>
            <a:ahLst/>
            <a:cxnLst/>
            <a:rect l="l" t="t" r="r" b="b"/>
            <a:pathLst>
              <a:path w="966439" h="297366">
                <a:moveTo>
                  <a:pt x="37171" y="0"/>
                </a:moveTo>
                <a:lnTo>
                  <a:pt x="929268" y="0"/>
                </a:lnTo>
                <a:cubicBezTo>
                  <a:pt x="949797" y="0"/>
                  <a:pt x="966439" y="16642"/>
                  <a:pt x="966439" y="37171"/>
                </a:cubicBezTo>
                <a:lnTo>
                  <a:pt x="966439" y="260195"/>
                </a:lnTo>
                <a:cubicBezTo>
                  <a:pt x="966439" y="280724"/>
                  <a:pt x="949797" y="297366"/>
                  <a:pt x="929268" y="297366"/>
                </a:cubicBezTo>
                <a:lnTo>
                  <a:pt x="37171" y="297366"/>
                </a:lnTo>
                <a:cubicBezTo>
                  <a:pt x="16656" y="297366"/>
                  <a:pt x="0" y="280710"/>
                  <a:pt x="0" y="260195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91890" y="6003073"/>
            <a:ext cx="1040780" cy="297366"/>
          </a:xfrm>
          <a:prstGeom prst="rect">
            <a:avLst/>
          </a:prstGeom>
          <a:noFill/>
          <a:ln/>
        </p:spPr>
        <p:txBody>
          <a:bodyPr wrap="square" lIns="111512" tIns="37171" rIns="111512" bIns="37171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概率图模型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169841" y="6003073"/>
            <a:ext cx="817756" cy="297366"/>
          </a:xfrm>
          <a:custGeom>
            <a:avLst/>
            <a:gdLst/>
            <a:ahLst/>
            <a:cxnLst/>
            <a:rect l="l" t="t" r="r" b="b"/>
            <a:pathLst>
              <a:path w="817756" h="297366">
                <a:moveTo>
                  <a:pt x="37171" y="0"/>
                </a:moveTo>
                <a:lnTo>
                  <a:pt x="780585" y="0"/>
                </a:lnTo>
                <a:cubicBezTo>
                  <a:pt x="801114" y="0"/>
                  <a:pt x="817756" y="16642"/>
                  <a:pt x="817756" y="37171"/>
                </a:cubicBezTo>
                <a:lnTo>
                  <a:pt x="817756" y="260195"/>
                </a:lnTo>
                <a:cubicBezTo>
                  <a:pt x="817756" y="280724"/>
                  <a:pt x="801114" y="297366"/>
                  <a:pt x="780585" y="297366"/>
                </a:cubicBezTo>
                <a:lnTo>
                  <a:pt x="37171" y="297366"/>
                </a:lnTo>
                <a:cubicBezTo>
                  <a:pt x="16656" y="297366"/>
                  <a:pt x="0" y="280710"/>
                  <a:pt x="0" y="260195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E0B354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2169841" y="6003073"/>
            <a:ext cx="892098" cy="297366"/>
          </a:xfrm>
          <a:prstGeom prst="rect">
            <a:avLst/>
          </a:prstGeom>
          <a:noFill/>
          <a:ln/>
        </p:spPr>
        <p:txBody>
          <a:bodyPr wrap="square" lIns="111512" tIns="37171" rIns="111512" bIns="37171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变分推断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099110" y="6003073"/>
            <a:ext cx="1115122" cy="297366"/>
          </a:xfrm>
          <a:custGeom>
            <a:avLst/>
            <a:gdLst/>
            <a:ahLst/>
            <a:cxnLst/>
            <a:rect l="l" t="t" r="r" b="b"/>
            <a:pathLst>
              <a:path w="1115122" h="297366">
                <a:moveTo>
                  <a:pt x="37171" y="0"/>
                </a:moveTo>
                <a:lnTo>
                  <a:pt x="1077951" y="0"/>
                </a:lnTo>
                <a:cubicBezTo>
                  <a:pt x="1098480" y="0"/>
                  <a:pt x="1115122" y="16642"/>
                  <a:pt x="1115122" y="37171"/>
                </a:cubicBezTo>
                <a:lnTo>
                  <a:pt x="1115122" y="260195"/>
                </a:lnTo>
                <a:cubicBezTo>
                  <a:pt x="1115122" y="280724"/>
                  <a:pt x="1098480" y="297366"/>
                  <a:pt x="1077951" y="297366"/>
                </a:cubicBezTo>
                <a:lnTo>
                  <a:pt x="37171" y="297366"/>
                </a:lnTo>
                <a:cubicBezTo>
                  <a:pt x="16656" y="297366"/>
                  <a:pt x="0" y="280710"/>
                  <a:pt x="0" y="260195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5D6C79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099110" y="6003073"/>
            <a:ext cx="1189463" cy="297366"/>
          </a:xfrm>
          <a:prstGeom prst="rect">
            <a:avLst/>
          </a:prstGeom>
          <a:noFill/>
          <a:ln/>
        </p:spPr>
        <p:txBody>
          <a:bodyPr wrap="square" lIns="111512" tIns="37171" rIns="111512" bIns="37171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深度生成模型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25744" y="6003073"/>
            <a:ext cx="1263805" cy="297366"/>
          </a:xfrm>
          <a:custGeom>
            <a:avLst/>
            <a:gdLst/>
            <a:ahLst/>
            <a:cxnLst/>
            <a:rect l="l" t="t" r="r" b="b"/>
            <a:pathLst>
              <a:path w="1263805" h="297366">
                <a:moveTo>
                  <a:pt x="37171" y="0"/>
                </a:moveTo>
                <a:lnTo>
                  <a:pt x="1226634" y="0"/>
                </a:lnTo>
                <a:cubicBezTo>
                  <a:pt x="1247163" y="0"/>
                  <a:pt x="1263805" y="16642"/>
                  <a:pt x="1263805" y="37171"/>
                </a:cubicBezTo>
                <a:lnTo>
                  <a:pt x="1263805" y="260195"/>
                </a:lnTo>
                <a:cubicBezTo>
                  <a:pt x="1263805" y="280724"/>
                  <a:pt x="1247163" y="297366"/>
                  <a:pt x="1226634" y="297366"/>
                </a:cubicBezTo>
                <a:lnTo>
                  <a:pt x="37171" y="297366"/>
                </a:lnTo>
                <a:cubicBezTo>
                  <a:pt x="16656" y="297366"/>
                  <a:pt x="0" y="280710"/>
                  <a:pt x="0" y="260195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325744" y="6003073"/>
            <a:ext cx="1338146" cy="297366"/>
          </a:xfrm>
          <a:prstGeom prst="rect">
            <a:avLst/>
          </a:prstGeom>
          <a:noFill/>
          <a:ln/>
        </p:spPr>
        <p:txBody>
          <a:bodyPr wrap="square" lIns="111512" tIns="37171" rIns="111512" bIns="37171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贝叶斯深度学习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.focusedcollection.com/0193f574be969b3372a476d9839afaf9a929ef2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926" r="1192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87A80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201171" y="550069"/>
            <a:ext cx="1790700" cy="504825"/>
          </a:xfrm>
          <a:custGeom>
            <a:avLst/>
            <a:gdLst/>
            <a:ahLst/>
            <a:cxnLst/>
            <a:rect l="l" t="t" r="r" b="b"/>
            <a:pathLst>
              <a:path w="1790700" h="504825">
                <a:moveTo>
                  <a:pt x="76198" y="0"/>
                </a:moveTo>
                <a:lnTo>
                  <a:pt x="1714502" y="0"/>
                </a:lnTo>
                <a:cubicBezTo>
                  <a:pt x="1756585" y="0"/>
                  <a:pt x="1790700" y="34115"/>
                  <a:pt x="1790700" y="76198"/>
                </a:cubicBezTo>
                <a:lnTo>
                  <a:pt x="1790700" y="428627"/>
                </a:lnTo>
                <a:cubicBezTo>
                  <a:pt x="1790700" y="470710"/>
                  <a:pt x="1756585" y="504825"/>
                  <a:pt x="171450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E0B354">
              <a:alpha val="20000"/>
            </a:srgbClr>
          </a:solidFill>
          <a:ln w="12700">
            <a:solidFill>
              <a:srgbClr val="E0B3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86908" y="669131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spc="75" kern="0" dirty="0">
                <a:solidFill>
                  <a:srgbClr val="E0B3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14500" y="1288256"/>
            <a:ext cx="876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从MLE到GMM：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构建完整的参数估计思维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1175" y="2659856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掌握MLE、EM算法和GMM，不仅是学习三种独立的技术，更是理解统计推断中</a:t>
            </a:r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E0B3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"从简单到复杂"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387A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"从完全观测到隐变量"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的演进脉络。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5938" y="3507581"/>
            <a:ext cx="8620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这些知识构成了现代机器学习中无数高级模型的基础，是深入理解</a:t>
            </a:r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5D6C7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生成模型、概率推断和贝叶斯方法</a:t>
            </a:r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的必经之路。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95700" y="4617244"/>
            <a:ext cx="1447800" cy="1085850"/>
          </a:xfrm>
          <a:custGeom>
            <a:avLst/>
            <a:gdLst/>
            <a:ahLst/>
            <a:cxnLst/>
            <a:rect l="l" t="t" r="r" b="b"/>
            <a:pathLst>
              <a:path w="1447800" h="1085850">
                <a:moveTo>
                  <a:pt x="38100" y="0"/>
                </a:moveTo>
                <a:lnTo>
                  <a:pt x="1409700" y="0"/>
                </a:lnTo>
                <a:cubicBezTo>
                  <a:pt x="1430728" y="0"/>
                  <a:pt x="1447800" y="17072"/>
                  <a:pt x="1447800" y="38100"/>
                </a:cubicBezTo>
                <a:lnTo>
                  <a:pt x="1447800" y="1009645"/>
                </a:lnTo>
                <a:cubicBezTo>
                  <a:pt x="1447800" y="1051732"/>
                  <a:pt x="1413682" y="1085850"/>
                  <a:pt x="1371595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695700" y="4617244"/>
            <a:ext cx="1447800" cy="38100"/>
          </a:xfrm>
          <a:custGeom>
            <a:avLst/>
            <a:gdLst/>
            <a:ahLst/>
            <a:cxnLst/>
            <a:rect l="l" t="t" r="r" b="b"/>
            <a:pathLst>
              <a:path w="1447800" h="38100">
                <a:moveTo>
                  <a:pt x="38100" y="0"/>
                </a:moveTo>
                <a:lnTo>
                  <a:pt x="1409700" y="0"/>
                </a:lnTo>
                <a:cubicBezTo>
                  <a:pt x="1430728" y="0"/>
                  <a:pt x="1447800" y="17072"/>
                  <a:pt x="1447800" y="38100"/>
                </a:cubicBezTo>
                <a:lnTo>
                  <a:pt x="1447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1" name="Text 8"/>
          <p:cNvSpPr/>
          <p:nvPr/>
        </p:nvSpPr>
        <p:spPr>
          <a:xfrm>
            <a:off x="3800475" y="4826794"/>
            <a:ext cx="123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87A8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48100" y="528399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参数估计的基石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72100" y="4617244"/>
            <a:ext cx="1447800" cy="1085850"/>
          </a:xfrm>
          <a:custGeom>
            <a:avLst/>
            <a:gdLst/>
            <a:ahLst/>
            <a:cxnLst/>
            <a:rect l="l" t="t" r="r" b="b"/>
            <a:pathLst>
              <a:path w="1447800" h="1085850">
                <a:moveTo>
                  <a:pt x="38100" y="0"/>
                </a:moveTo>
                <a:lnTo>
                  <a:pt x="1409700" y="0"/>
                </a:lnTo>
                <a:cubicBezTo>
                  <a:pt x="1430728" y="0"/>
                  <a:pt x="1447800" y="17072"/>
                  <a:pt x="1447800" y="38100"/>
                </a:cubicBezTo>
                <a:lnTo>
                  <a:pt x="1447800" y="1009645"/>
                </a:lnTo>
                <a:cubicBezTo>
                  <a:pt x="1447800" y="1051732"/>
                  <a:pt x="1413682" y="1085850"/>
                  <a:pt x="1371595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372100" y="4617244"/>
            <a:ext cx="1447800" cy="38100"/>
          </a:xfrm>
          <a:custGeom>
            <a:avLst/>
            <a:gdLst/>
            <a:ahLst/>
            <a:cxnLst/>
            <a:rect l="l" t="t" r="r" b="b"/>
            <a:pathLst>
              <a:path w="1447800" h="38100">
                <a:moveTo>
                  <a:pt x="38100" y="0"/>
                </a:moveTo>
                <a:lnTo>
                  <a:pt x="1409700" y="0"/>
                </a:lnTo>
                <a:cubicBezTo>
                  <a:pt x="1430728" y="0"/>
                  <a:pt x="1447800" y="17072"/>
                  <a:pt x="1447800" y="38100"/>
                </a:cubicBezTo>
                <a:lnTo>
                  <a:pt x="1447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B354"/>
          </a:solidFill>
          <a:ln/>
        </p:spPr>
      </p:sp>
      <p:sp>
        <p:nvSpPr>
          <p:cNvPr id="15" name="Text 12"/>
          <p:cNvSpPr/>
          <p:nvPr/>
        </p:nvSpPr>
        <p:spPr>
          <a:xfrm>
            <a:off x="5476875" y="4826794"/>
            <a:ext cx="123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0B35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524500" y="528399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隐变量的利器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048500" y="4617244"/>
            <a:ext cx="1447800" cy="1085850"/>
          </a:xfrm>
          <a:custGeom>
            <a:avLst/>
            <a:gdLst/>
            <a:ahLst/>
            <a:cxnLst/>
            <a:rect l="l" t="t" r="r" b="b"/>
            <a:pathLst>
              <a:path w="1447800" h="1085850">
                <a:moveTo>
                  <a:pt x="38100" y="0"/>
                </a:moveTo>
                <a:lnTo>
                  <a:pt x="1409700" y="0"/>
                </a:lnTo>
                <a:cubicBezTo>
                  <a:pt x="1430728" y="0"/>
                  <a:pt x="1447800" y="17072"/>
                  <a:pt x="1447800" y="38100"/>
                </a:cubicBezTo>
                <a:lnTo>
                  <a:pt x="1447800" y="1009645"/>
                </a:lnTo>
                <a:cubicBezTo>
                  <a:pt x="1447800" y="1051732"/>
                  <a:pt x="1413682" y="1085850"/>
                  <a:pt x="1371595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>
              <a:alpha val="1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048500" y="4617244"/>
            <a:ext cx="1447800" cy="38100"/>
          </a:xfrm>
          <a:custGeom>
            <a:avLst/>
            <a:gdLst/>
            <a:ahLst/>
            <a:cxnLst/>
            <a:rect l="l" t="t" r="r" b="b"/>
            <a:pathLst>
              <a:path w="1447800" h="38100">
                <a:moveTo>
                  <a:pt x="38100" y="0"/>
                </a:moveTo>
                <a:lnTo>
                  <a:pt x="1409700" y="0"/>
                </a:lnTo>
                <a:cubicBezTo>
                  <a:pt x="1430728" y="0"/>
                  <a:pt x="1447800" y="17072"/>
                  <a:pt x="1447800" y="38100"/>
                </a:cubicBezTo>
                <a:lnTo>
                  <a:pt x="1447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C79"/>
          </a:solidFill>
          <a:ln/>
        </p:spPr>
      </p:sp>
      <p:sp>
        <p:nvSpPr>
          <p:cNvPr id="19" name="Text 16"/>
          <p:cNvSpPr/>
          <p:nvPr/>
        </p:nvSpPr>
        <p:spPr>
          <a:xfrm>
            <a:off x="7153275" y="4826794"/>
            <a:ext cx="123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D6C7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GMM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200900" y="528399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概率聚类的典范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79107" y="6007894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E8E8E8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for Learning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统计学习方法：从MLE到GMM的参数估计体系</dc:title>
  <dc:subject>统计学习方法：从MLE到GMM的参数估计体系</dc:subject>
  <dc:creator>Kimi</dc:creator>
  <cp:lastModifiedBy>Kimi</cp:lastModifiedBy>
  <cp:revision>1</cp:revision>
  <dcterms:created xsi:type="dcterms:W3CDTF">2026-01-20T00:12:04Z</dcterms:created>
  <dcterms:modified xsi:type="dcterms:W3CDTF">2026-01-20T00:12:04Z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统计学习方法：从MLE到GMM的参数估计体系","ContentProducer":"001191110108MACG2KBH8F10000","ProduceID":"19bd8b62-d3c2-84aa-8000-0000e85e1b32","ReservedCode1":"","ContentPropagator":"001191110108MACG2KBH8F20000","PropagateID":"19bd8b62-d3c2-84aa-8000-0000e85e1b32","ReservedCode2":""}</vt:lpwstr>
  </property>
</Properties>
</file>