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6256000" cy="9144000"/>
  <p:notesSz cx="9144000" cy="16256000"/>
  <p:embeddedFontLst>
    <p:embeddedFont>
      <p:font typeface="KaiTi" panose="02010609060101010101" pitchFamily="49" charset="-122"/>
      <p:regular r:id="rId29"/>
    </p:embeddedFont>
    <p:embeddedFont>
      <p:font typeface="Noto Sans SC" panose="020B0200000000000000" pitchFamily="34" charset="-128"/>
      <p:regular r:id="rId3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4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4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918f861d998fc21714ca51f6ec0801ea2f0ec2de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21875" b="2187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3D8F8A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14350" y="1835150"/>
            <a:ext cx="5626100" cy="571500"/>
          </a:xfrm>
          <a:custGeom>
            <a:avLst/>
            <a:gdLst/>
            <a:ahLst/>
            <a:cxnLst/>
            <a:rect l="l" t="t" r="r" b="b"/>
            <a:pathLst>
              <a:path w="5626100" h="571500">
                <a:moveTo>
                  <a:pt x="0" y="0"/>
                </a:moveTo>
                <a:lnTo>
                  <a:pt x="5626100" y="0"/>
                </a:lnTo>
                <a:lnTo>
                  <a:pt x="56261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74700" y="1968500"/>
            <a:ext cx="52187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kern="0" spc="54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MATHEMATICAL FOUNDATIONS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584450"/>
            <a:ext cx="5143500" cy="151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9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机器学习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841750"/>
            <a:ext cx="5143500" cy="151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9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数学基础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563880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75" dirty="0">
                <a:solidFill>
                  <a:srgbClr val="B89A6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Mathematical Foundations for Machine Learning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08000" y="6705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685800" y="6883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9531" y="27781"/>
                </a:moveTo>
                <a:cubicBezTo>
                  <a:pt x="59531" y="12452"/>
                  <a:pt x="71983" y="0"/>
                  <a:pt x="87313" y="0"/>
                </a:cubicBezTo>
                <a:lnTo>
                  <a:pt x="99219" y="0"/>
                </a:lnTo>
                <a:cubicBezTo>
                  <a:pt x="108000" y="0"/>
                  <a:pt x="115094" y="7094"/>
                  <a:pt x="115094" y="15875"/>
                </a:cubicBezTo>
                <a:lnTo>
                  <a:pt x="115094" y="238125"/>
                </a:lnTo>
                <a:cubicBezTo>
                  <a:pt x="115094" y="246906"/>
                  <a:pt x="108000" y="254000"/>
                  <a:pt x="99219" y="254000"/>
                </a:cubicBezTo>
                <a:lnTo>
                  <a:pt x="83344" y="254000"/>
                </a:lnTo>
                <a:cubicBezTo>
                  <a:pt x="68560" y="254000"/>
                  <a:pt x="56108" y="243880"/>
                  <a:pt x="52586" y="230188"/>
                </a:cubicBezTo>
                <a:cubicBezTo>
                  <a:pt x="52239" y="230188"/>
                  <a:pt x="51941" y="230188"/>
                  <a:pt x="51594" y="230188"/>
                </a:cubicBezTo>
                <a:cubicBezTo>
                  <a:pt x="29666" y="230188"/>
                  <a:pt x="11906" y="212427"/>
                  <a:pt x="11906" y="190500"/>
                </a:cubicBezTo>
                <a:cubicBezTo>
                  <a:pt x="11906" y="181570"/>
                  <a:pt x="14883" y="173335"/>
                  <a:pt x="19844" y="166688"/>
                </a:cubicBezTo>
                <a:cubicBezTo>
                  <a:pt x="10220" y="159445"/>
                  <a:pt x="3969" y="147935"/>
                  <a:pt x="3969" y="134938"/>
                </a:cubicBezTo>
                <a:cubicBezTo>
                  <a:pt x="3969" y="119608"/>
                  <a:pt x="12700" y="106263"/>
                  <a:pt x="25400" y="99665"/>
                </a:cubicBezTo>
                <a:cubicBezTo>
                  <a:pt x="21878" y="93712"/>
                  <a:pt x="19844" y="86767"/>
                  <a:pt x="19844" y="79375"/>
                </a:cubicBezTo>
                <a:cubicBezTo>
                  <a:pt x="19844" y="57448"/>
                  <a:pt x="37604" y="39688"/>
                  <a:pt x="59531" y="39688"/>
                </a:cubicBezTo>
                <a:lnTo>
                  <a:pt x="59531" y="27781"/>
                </a:lnTo>
                <a:close/>
                <a:moveTo>
                  <a:pt x="194469" y="27781"/>
                </a:moveTo>
                <a:lnTo>
                  <a:pt x="194469" y="39688"/>
                </a:lnTo>
                <a:cubicBezTo>
                  <a:pt x="216396" y="39688"/>
                  <a:pt x="234156" y="57448"/>
                  <a:pt x="234156" y="79375"/>
                </a:cubicBezTo>
                <a:cubicBezTo>
                  <a:pt x="234156" y="86816"/>
                  <a:pt x="232122" y="93762"/>
                  <a:pt x="228600" y="99665"/>
                </a:cubicBezTo>
                <a:cubicBezTo>
                  <a:pt x="241350" y="106263"/>
                  <a:pt x="250031" y="119559"/>
                  <a:pt x="250031" y="134938"/>
                </a:cubicBezTo>
                <a:cubicBezTo>
                  <a:pt x="250031" y="147935"/>
                  <a:pt x="243780" y="159445"/>
                  <a:pt x="234156" y="166688"/>
                </a:cubicBezTo>
                <a:cubicBezTo>
                  <a:pt x="239117" y="173335"/>
                  <a:pt x="242094" y="181570"/>
                  <a:pt x="242094" y="190500"/>
                </a:cubicBezTo>
                <a:cubicBezTo>
                  <a:pt x="242094" y="212427"/>
                  <a:pt x="224334" y="230188"/>
                  <a:pt x="202406" y="230188"/>
                </a:cubicBezTo>
                <a:cubicBezTo>
                  <a:pt x="202059" y="230188"/>
                  <a:pt x="201761" y="230188"/>
                  <a:pt x="201414" y="230188"/>
                </a:cubicBezTo>
                <a:cubicBezTo>
                  <a:pt x="197892" y="243880"/>
                  <a:pt x="185440" y="254000"/>
                  <a:pt x="170656" y="254000"/>
                </a:cubicBezTo>
                <a:lnTo>
                  <a:pt x="154781" y="254000"/>
                </a:lnTo>
                <a:cubicBezTo>
                  <a:pt x="146000" y="254000"/>
                  <a:pt x="138906" y="246906"/>
                  <a:pt x="138906" y="238125"/>
                </a:cubicBezTo>
                <a:lnTo>
                  <a:pt x="138906" y="15875"/>
                </a:lnTo>
                <a:cubicBezTo>
                  <a:pt x="138906" y="7094"/>
                  <a:pt x="146000" y="0"/>
                  <a:pt x="154781" y="0"/>
                </a:cubicBezTo>
                <a:lnTo>
                  <a:pt x="166688" y="0"/>
                </a:lnTo>
                <a:cubicBezTo>
                  <a:pt x="182017" y="0"/>
                  <a:pt x="194469" y="12452"/>
                  <a:pt x="194469" y="27781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270000" y="6731000"/>
            <a:ext cx="90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理论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70000" y="69850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算法基础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489200" y="6705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2667000" y="6883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3251200" y="6731000"/>
            <a:ext cx="90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实践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251200" y="69850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模型优化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1333500" cy="419100"/>
          </a:xfrm>
          <a:custGeom>
            <a:avLst/>
            <a:gdLst/>
            <a:ahLst/>
            <a:cxnLst/>
            <a:rect l="l" t="t" r="r" b="b"/>
            <a:pathLst>
              <a:path w="1333500" h="419100">
                <a:moveTo>
                  <a:pt x="0" y="0"/>
                </a:moveTo>
                <a:lnTo>
                  <a:pt x="1333500" y="0"/>
                </a:lnTo>
                <a:lnTo>
                  <a:pt x="13335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3100" y="615950"/>
            <a:ext cx="11073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41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2063750"/>
            <a:ext cx="3606800" cy="3149600"/>
          </a:xfrm>
          <a:custGeom>
            <a:avLst/>
            <a:gdLst/>
            <a:ahLst/>
            <a:cxnLst/>
            <a:rect l="l" t="t" r="r" b="b"/>
            <a:pathLst>
              <a:path w="3606800" h="3149600">
                <a:moveTo>
                  <a:pt x="0" y="0"/>
                </a:moveTo>
                <a:lnTo>
                  <a:pt x="3606800" y="0"/>
                </a:lnTo>
                <a:lnTo>
                  <a:pt x="3606800" y="3149600"/>
                </a:lnTo>
                <a:lnTo>
                  <a:pt x="0" y="314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74700" y="2774950"/>
            <a:ext cx="3467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01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4700" y="3689350"/>
            <a:ext cx="323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引言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4700" y="4197350"/>
            <a:ext cx="318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数学在机器学习中的重要性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7850" y="2063750"/>
            <a:ext cx="3606800" cy="3149600"/>
          </a:xfrm>
          <a:custGeom>
            <a:avLst/>
            <a:gdLst/>
            <a:ahLst/>
            <a:cxnLst/>
            <a:rect l="l" t="t" r="r" b="b"/>
            <a:pathLst>
              <a:path w="3606800" h="3149600">
                <a:moveTo>
                  <a:pt x="0" y="0"/>
                </a:moveTo>
                <a:lnTo>
                  <a:pt x="3606800" y="0"/>
                </a:lnTo>
                <a:lnTo>
                  <a:pt x="3606800" y="3149600"/>
                </a:lnTo>
                <a:lnTo>
                  <a:pt x="0" y="314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648200" y="2774950"/>
            <a:ext cx="3467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02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48200" y="3689350"/>
            <a:ext cx="323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8200" y="4197350"/>
            <a:ext cx="318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向量与向量运算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61350" y="2063750"/>
            <a:ext cx="3606800" cy="3149600"/>
          </a:xfrm>
          <a:custGeom>
            <a:avLst/>
            <a:gdLst/>
            <a:ahLst/>
            <a:cxnLst/>
            <a:rect l="l" t="t" r="r" b="b"/>
            <a:pathLst>
              <a:path w="3606800" h="3149600">
                <a:moveTo>
                  <a:pt x="0" y="0"/>
                </a:moveTo>
                <a:lnTo>
                  <a:pt x="3606800" y="0"/>
                </a:lnTo>
                <a:lnTo>
                  <a:pt x="3606800" y="3149600"/>
                </a:lnTo>
                <a:lnTo>
                  <a:pt x="0" y="314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521700" y="2774950"/>
            <a:ext cx="3467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03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21700" y="3689350"/>
            <a:ext cx="323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21700" y="4197350"/>
            <a:ext cx="318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矩阵与矩阵运算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134850" y="2063750"/>
            <a:ext cx="3606800" cy="3149600"/>
          </a:xfrm>
          <a:custGeom>
            <a:avLst/>
            <a:gdLst/>
            <a:ahLst/>
            <a:cxnLst/>
            <a:rect l="l" t="t" r="r" b="b"/>
            <a:pathLst>
              <a:path w="3606800" h="3149600">
                <a:moveTo>
                  <a:pt x="0" y="0"/>
                </a:moveTo>
                <a:lnTo>
                  <a:pt x="3606800" y="0"/>
                </a:lnTo>
                <a:lnTo>
                  <a:pt x="3606800" y="3149600"/>
                </a:lnTo>
                <a:lnTo>
                  <a:pt x="0" y="314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2395200" y="2774950"/>
            <a:ext cx="3467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04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395200" y="3689350"/>
            <a:ext cx="323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概率统计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95200" y="4197350"/>
            <a:ext cx="318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概率与统计基础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4350" y="5480050"/>
            <a:ext cx="3606800" cy="3149600"/>
          </a:xfrm>
          <a:custGeom>
            <a:avLst/>
            <a:gdLst/>
            <a:ahLst/>
            <a:cxnLst/>
            <a:rect l="l" t="t" r="r" b="b"/>
            <a:pathLst>
              <a:path w="3606800" h="3149600">
                <a:moveTo>
                  <a:pt x="0" y="0"/>
                </a:moveTo>
                <a:lnTo>
                  <a:pt x="3606800" y="0"/>
                </a:lnTo>
                <a:lnTo>
                  <a:pt x="3606800" y="3149600"/>
                </a:lnTo>
                <a:lnTo>
                  <a:pt x="0" y="314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74700" y="6191250"/>
            <a:ext cx="3467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05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4700" y="7105650"/>
            <a:ext cx="323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4700" y="7613650"/>
            <a:ext cx="318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信息论入门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87850" y="5480050"/>
            <a:ext cx="3606800" cy="3149600"/>
          </a:xfrm>
          <a:custGeom>
            <a:avLst/>
            <a:gdLst/>
            <a:ahLst/>
            <a:cxnLst/>
            <a:rect l="l" t="t" r="r" b="b"/>
            <a:pathLst>
              <a:path w="3606800" h="3149600">
                <a:moveTo>
                  <a:pt x="0" y="0"/>
                </a:moveTo>
                <a:lnTo>
                  <a:pt x="3606800" y="0"/>
                </a:lnTo>
                <a:lnTo>
                  <a:pt x="3606800" y="3149600"/>
                </a:lnTo>
                <a:lnTo>
                  <a:pt x="0" y="314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648200" y="6191250"/>
            <a:ext cx="3467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06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648200" y="7105650"/>
            <a:ext cx="323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线性代数进阶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48200" y="7613650"/>
            <a:ext cx="318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特征值、特征向量与SVD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61350" y="5480050"/>
            <a:ext cx="3606800" cy="3149600"/>
          </a:xfrm>
          <a:custGeom>
            <a:avLst/>
            <a:gdLst/>
            <a:ahLst/>
            <a:cxnLst/>
            <a:rect l="l" t="t" r="r" b="b"/>
            <a:pathLst>
              <a:path w="3606800" h="3149600">
                <a:moveTo>
                  <a:pt x="0" y="0"/>
                </a:moveTo>
                <a:lnTo>
                  <a:pt x="3606800" y="0"/>
                </a:lnTo>
                <a:lnTo>
                  <a:pt x="3606800" y="3149600"/>
                </a:lnTo>
                <a:lnTo>
                  <a:pt x="0" y="314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521700" y="6191250"/>
            <a:ext cx="3467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07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521700" y="7105650"/>
            <a:ext cx="323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微积分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21700" y="7613650"/>
            <a:ext cx="318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导数、偏导数与梯度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134850" y="5480050"/>
            <a:ext cx="3606800" cy="3149600"/>
          </a:xfrm>
          <a:custGeom>
            <a:avLst/>
            <a:gdLst/>
            <a:ahLst/>
            <a:cxnLst/>
            <a:rect l="l" t="t" r="r" b="b"/>
            <a:pathLst>
              <a:path w="3606800" h="3149600">
                <a:moveTo>
                  <a:pt x="0" y="0"/>
                </a:moveTo>
                <a:lnTo>
                  <a:pt x="3606800" y="0"/>
                </a:lnTo>
                <a:lnTo>
                  <a:pt x="3606800" y="3149600"/>
                </a:lnTo>
                <a:lnTo>
                  <a:pt x="0" y="314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2395200" y="6191250"/>
            <a:ext cx="3467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08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2395200" y="7105650"/>
            <a:ext cx="323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总结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395200" y="7613650"/>
            <a:ext cx="318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知识体系与展望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lideteam.net/26c3b2c8aa16875f482c1356877b4781c39b981d.jpg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508000" y="2565400"/>
            <a:ext cx="160528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800" dirty="0">
                <a:solidFill>
                  <a:srgbClr val="3D8F8A">
                    <a:alpha val="3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8000" y="4394200"/>
            <a:ext cx="1569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引言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5613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数学在机器学习中的重要性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65278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1752600" cy="419100"/>
          </a:xfrm>
          <a:custGeom>
            <a:avLst/>
            <a:gdLst/>
            <a:ahLst/>
            <a:cxnLst/>
            <a:rect l="l" t="t" r="r" b="b"/>
            <a:pathLst>
              <a:path w="1752600" h="419100">
                <a:moveTo>
                  <a:pt x="0" y="0"/>
                </a:moveTo>
                <a:lnTo>
                  <a:pt x="1752600" y="0"/>
                </a:lnTo>
                <a:lnTo>
                  <a:pt x="17526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3100" y="615950"/>
            <a:ext cx="152132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41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为什么机器学习需要数学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809750"/>
            <a:ext cx="7454900" cy="2832100"/>
          </a:xfrm>
          <a:custGeom>
            <a:avLst/>
            <a:gdLst/>
            <a:ahLst/>
            <a:cxnLst/>
            <a:rect l="l" t="t" r="r" b="b"/>
            <a:pathLst>
              <a:path w="7454900" h="2832100">
                <a:moveTo>
                  <a:pt x="0" y="0"/>
                </a:moveTo>
                <a:lnTo>
                  <a:pt x="7454900" y="0"/>
                </a:lnTo>
                <a:lnTo>
                  <a:pt x="7454900" y="2832100"/>
                </a:lnTo>
                <a:lnTo>
                  <a:pt x="0" y="28321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74700" y="20701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89000" y="22098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435100" y="20701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模型构建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4700" y="2730500"/>
            <a:ext cx="7035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数学提供了精确描述机器学习模型的语言。无论是线性回归还是深度神经网络，都需要数学公式来定义模型结构、参数和预测过程。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0100" y="3543300"/>
            <a:ext cx="6908800" cy="812800"/>
          </a:xfrm>
          <a:custGeom>
            <a:avLst/>
            <a:gdLst/>
            <a:ahLst/>
            <a:cxnLst/>
            <a:rect l="l" t="t" r="r" b="b"/>
            <a:pathLst>
              <a:path w="6908800" h="812800">
                <a:moveTo>
                  <a:pt x="0" y="0"/>
                </a:moveTo>
                <a:lnTo>
                  <a:pt x="6908800" y="0"/>
                </a:lnTo>
                <a:lnTo>
                  <a:pt x="690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00100" y="35433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77900" y="3695700"/>
            <a:ext cx="666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y = σ(W·x + b)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7900" y="4000500"/>
            <a:ext cx="665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神经网络的前向传播公式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350" y="4857750"/>
            <a:ext cx="7454900" cy="2832100"/>
          </a:xfrm>
          <a:custGeom>
            <a:avLst/>
            <a:gdLst/>
            <a:ahLst/>
            <a:cxnLst/>
            <a:rect l="l" t="t" r="r" b="b"/>
            <a:pathLst>
              <a:path w="7454900" h="2832100">
                <a:moveTo>
                  <a:pt x="0" y="0"/>
                </a:moveTo>
                <a:lnTo>
                  <a:pt x="7454900" y="0"/>
                </a:lnTo>
                <a:lnTo>
                  <a:pt x="7454900" y="2832100"/>
                </a:lnTo>
                <a:lnTo>
                  <a:pt x="0" y="28321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74700" y="51181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17575" y="525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435100" y="51181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算法优化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4700" y="5778500"/>
            <a:ext cx="7035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优化算法依赖于数学工具。梯度下降、反向传播等核心算法都基于微积分和线性代数的理论，数学帮助我们找到最优参数。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0100" y="6591300"/>
            <a:ext cx="6908800" cy="812800"/>
          </a:xfrm>
          <a:custGeom>
            <a:avLst/>
            <a:gdLst/>
            <a:ahLst/>
            <a:cxnLst/>
            <a:rect l="l" t="t" r="r" b="b"/>
            <a:pathLst>
              <a:path w="6908800" h="812800">
                <a:moveTo>
                  <a:pt x="0" y="0"/>
                </a:moveTo>
                <a:lnTo>
                  <a:pt x="6908800" y="0"/>
                </a:lnTo>
                <a:lnTo>
                  <a:pt x="690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00100" y="65913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77900" y="6743700"/>
            <a:ext cx="666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θ := θ - α·∇J(θ)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7900" y="7048500"/>
            <a:ext cx="665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梯度下降参数更新公式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86750" y="1809750"/>
            <a:ext cx="7454900" cy="2832100"/>
          </a:xfrm>
          <a:custGeom>
            <a:avLst/>
            <a:gdLst/>
            <a:ahLst/>
            <a:cxnLst/>
            <a:rect l="l" t="t" r="r" b="b"/>
            <a:pathLst>
              <a:path w="7454900" h="2832100">
                <a:moveTo>
                  <a:pt x="0" y="0"/>
                </a:moveTo>
                <a:lnTo>
                  <a:pt x="7454900" y="0"/>
                </a:lnTo>
                <a:lnTo>
                  <a:pt x="7454900" y="2832100"/>
                </a:lnTo>
                <a:lnTo>
                  <a:pt x="0" y="28321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547100" y="20701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689975" y="2209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207500" y="20701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性能分析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47100" y="2730500"/>
            <a:ext cx="7035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数学提供了严格的理论框架来证明算法的有效性。通过概率论和统计学，我们可以分析算法的收敛性、泛化能力和鲁棒性。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72500" y="3543300"/>
            <a:ext cx="6908800" cy="812800"/>
          </a:xfrm>
          <a:custGeom>
            <a:avLst/>
            <a:gdLst/>
            <a:ahLst/>
            <a:cxnLst/>
            <a:rect l="l" t="t" r="r" b="b"/>
            <a:pathLst>
              <a:path w="6908800" h="812800">
                <a:moveTo>
                  <a:pt x="0" y="0"/>
                </a:moveTo>
                <a:lnTo>
                  <a:pt x="6908800" y="0"/>
                </a:lnTo>
                <a:lnTo>
                  <a:pt x="690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572500" y="35433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750300" y="3695700"/>
            <a:ext cx="666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P(|R̂ - R| &gt; ε) &lt; δ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50300" y="4000500"/>
            <a:ext cx="665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泛化误差界（PAC学习框架）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86750" y="4857750"/>
            <a:ext cx="7454900" cy="2832100"/>
          </a:xfrm>
          <a:custGeom>
            <a:avLst/>
            <a:gdLst/>
            <a:ahLst/>
            <a:cxnLst/>
            <a:rect l="l" t="t" r="r" b="b"/>
            <a:pathLst>
              <a:path w="7454900" h="2832100">
                <a:moveTo>
                  <a:pt x="0" y="0"/>
                </a:moveTo>
                <a:lnTo>
                  <a:pt x="7454900" y="0"/>
                </a:lnTo>
                <a:lnTo>
                  <a:pt x="7454900" y="2832100"/>
                </a:lnTo>
                <a:lnTo>
                  <a:pt x="0" y="28321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547100" y="51181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718550" y="52578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207500" y="51181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创新灵感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47100" y="5778500"/>
            <a:ext cx="7035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深入理解数学原理能够激发算法创新。许多突破性研究都源于对数学工具的深刻洞察，如卷积神经网络源于卷积定理。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572500" y="6591300"/>
            <a:ext cx="6908800" cy="812800"/>
          </a:xfrm>
          <a:custGeom>
            <a:avLst/>
            <a:gdLst/>
            <a:ahLst/>
            <a:cxnLst/>
            <a:rect l="l" t="t" r="r" b="b"/>
            <a:pathLst>
              <a:path w="6908800" h="812800">
                <a:moveTo>
                  <a:pt x="0" y="0"/>
                </a:moveTo>
                <a:lnTo>
                  <a:pt x="6908800" y="0"/>
                </a:lnTo>
                <a:lnTo>
                  <a:pt x="690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572500" y="65913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750300" y="6743700"/>
            <a:ext cx="666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f * g = ℱ⁻¹(ℱ(f)·ℱ(g))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50300" y="7048500"/>
            <a:ext cx="665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卷积定理（CNN的理论基础）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14350" y="7905750"/>
            <a:ext cx="15227300" cy="723900"/>
          </a:xfrm>
          <a:custGeom>
            <a:avLst/>
            <a:gdLst/>
            <a:ahLst/>
            <a:cxnLst/>
            <a:rect l="l" t="t" r="r" b="b"/>
            <a:pathLst>
              <a:path w="15227300" h="723900">
                <a:moveTo>
                  <a:pt x="0" y="0"/>
                </a:moveTo>
                <a:lnTo>
                  <a:pt x="15227300" y="0"/>
                </a:lnTo>
                <a:lnTo>
                  <a:pt x="152273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769938" y="8153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62050" y="8115300"/>
            <a:ext cx="1447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数学不仅是工具，更是理解机器学习本质的钥匙。掌握数学基础，才能真正理解和创新人工智能算法。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3dgep.com/b410747bf765fac1c50222d3e90bf85e6629c30c.png"/>
          <p:cNvPicPr>
            <a:picLocks noChangeAspect="1"/>
          </p:cNvPicPr>
          <p:nvPr/>
        </p:nvPicPr>
        <p:blipFill>
          <a:blip r:embed="rId3">
            <a:alphaModFix amt="25000"/>
          </a:blip>
          <a:srcRect t="19630" b="1963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508000" y="2565400"/>
            <a:ext cx="160528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800" dirty="0">
                <a:solidFill>
                  <a:srgbClr val="3D8F8A">
                    <a:alpha val="3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8000" y="4394200"/>
            <a:ext cx="1569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5613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向量与向量运算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65278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1079500" cy="419100"/>
          </a:xfrm>
          <a:custGeom>
            <a:avLst/>
            <a:gdLst/>
            <a:ahLst/>
            <a:cxnLst/>
            <a:rect l="l" t="t" r="r" b="b"/>
            <a:pathLst>
              <a:path w="1079500" h="419100">
                <a:moveTo>
                  <a:pt x="0" y="0"/>
                </a:moveTo>
                <a:lnTo>
                  <a:pt x="1079500" y="0"/>
                </a:lnTo>
                <a:lnTo>
                  <a:pt x="10795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3100" y="615950"/>
            <a:ext cx="84544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VECTOR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41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向量的定义与表示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758950"/>
            <a:ext cx="8978900" cy="2933700"/>
          </a:xfrm>
          <a:custGeom>
            <a:avLst/>
            <a:gdLst/>
            <a:ahLst/>
            <a:cxnLst/>
            <a:rect l="l" t="t" r="r" b="b"/>
            <a:pathLst>
              <a:path w="8978900" h="2933700">
                <a:moveTo>
                  <a:pt x="0" y="0"/>
                </a:moveTo>
                <a:lnTo>
                  <a:pt x="8978900" y="0"/>
                </a:lnTo>
                <a:lnTo>
                  <a:pt x="8978900" y="2933700"/>
                </a:lnTo>
                <a:lnTo>
                  <a:pt x="0" y="29337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23900" y="1968500"/>
            <a:ext cx="8686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highlight>
                  <a:srgbClr val="3D8F8A">
                    <a:alpha val="2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 </a:t>
            </a: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向量的数学定义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3900" y="2527300"/>
            <a:ext cx="8661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向量（vector）在数学中指</a:t>
            </a:r>
            <a:r>
              <a:rPr lang="en-US" sz="1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具有大小和方向的量</a:t>
            </a: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。与向量相对，只具有大小、不具有方向的量则称为标量（scalar）。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300" y="3340100"/>
            <a:ext cx="8534400" cy="558800"/>
          </a:xfrm>
          <a:custGeom>
            <a:avLst/>
            <a:gdLst/>
            <a:ahLst/>
            <a:cxnLst/>
            <a:rect l="l" t="t" r="r" b="b"/>
            <a:pathLst>
              <a:path w="8534400" h="558800">
                <a:moveTo>
                  <a:pt x="0" y="0"/>
                </a:moveTo>
                <a:lnTo>
                  <a:pt x="8534400" y="0"/>
                </a:lnTo>
                <a:lnTo>
                  <a:pt x="85344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49300" y="3340100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27100" y="3492500"/>
            <a:ext cx="829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我们可以将向量理解为由 n 个数构成的 n 元组，其中 n 称为向量的维数。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4350" y="4908550"/>
            <a:ext cx="8978900" cy="2933700"/>
          </a:xfrm>
          <a:custGeom>
            <a:avLst/>
            <a:gdLst/>
            <a:ahLst/>
            <a:cxnLst/>
            <a:rect l="l" t="t" r="r" b="b"/>
            <a:pathLst>
              <a:path w="8978900" h="2933700">
                <a:moveTo>
                  <a:pt x="0" y="0"/>
                </a:moveTo>
                <a:lnTo>
                  <a:pt x="8978900" y="0"/>
                </a:lnTo>
                <a:lnTo>
                  <a:pt x="8978900" y="2933700"/>
                </a:lnTo>
                <a:lnTo>
                  <a:pt x="0" y="29337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23900" y="5118100"/>
            <a:ext cx="8686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highlight>
                  <a:srgbClr val="3D8F8A">
                    <a:alpha val="2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 </a:t>
            </a: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两种表示方法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3900" y="5676900"/>
            <a:ext cx="4203700" cy="1016000"/>
          </a:xfrm>
          <a:custGeom>
            <a:avLst/>
            <a:gdLst/>
            <a:ahLst/>
            <a:cxnLst/>
            <a:rect l="l" t="t" r="r" b="b"/>
            <a:pathLst>
              <a:path w="4203700" h="1016000">
                <a:moveTo>
                  <a:pt x="0" y="0"/>
                </a:moveTo>
                <a:lnTo>
                  <a:pt x="4203700" y="0"/>
                </a:lnTo>
                <a:lnTo>
                  <a:pt x="42037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76300" y="5829300"/>
            <a:ext cx="398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列向量（默认）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9150" y="6184900"/>
            <a:ext cx="401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x = [x₁, x₂, ..., xₙ]ᵀ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80000" y="5676900"/>
            <a:ext cx="4203700" cy="1016000"/>
          </a:xfrm>
          <a:custGeom>
            <a:avLst/>
            <a:gdLst/>
            <a:ahLst/>
            <a:cxnLst/>
            <a:rect l="l" t="t" r="r" b="b"/>
            <a:pathLst>
              <a:path w="4203700" h="1016000">
                <a:moveTo>
                  <a:pt x="0" y="0"/>
                </a:moveTo>
                <a:lnTo>
                  <a:pt x="4203700" y="0"/>
                </a:lnTo>
                <a:lnTo>
                  <a:pt x="42037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232400" y="5829300"/>
            <a:ext cx="398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行向量（横排）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75250" y="6184900"/>
            <a:ext cx="401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xᵀ = [x₁, x₂, ..., xₙ]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3900" y="6845300"/>
            <a:ext cx="864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上标 T 表示转置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（transpose），即将行和列翻转过来。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759950" y="1758950"/>
            <a:ext cx="5981700" cy="4127500"/>
          </a:xfrm>
          <a:custGeom>
            <a:avLst/>
            <a:gdLst/>
            <a:ahLst/>
            <a:cxnLst/>
            <a:rect l="l" t="t" r="r" b="b"/>
            <a:pathLst>
              <a:path w="5981700" h="4127500">
                <a:moveTo>
                  <a:pt x="0" y="0"/>
                </a:moveTo>
                <a:lnTo>
                  <a:pt x="5981700" y="0"/>
                </a:lnTo>
                <a:lnTo>
                  <a:pt x="5981700" y="4127500"/>
                </a:lnTo>
                <a:lnTo>
                  <a:pt x="0" y="41275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969500" y="1968500"/>
            <a:ext cx="568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highlight>
                  <a:srgbClr val="3D8F8A">
                    <a:alpha val="2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 </a:t>
            </a: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两种理解角度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975850" y="2787650"/>
            <a:ext cx="5549900" cy="977900"/>
          </a:xfrm>
          <a:custGeom>
            <a:avLst/>
            <a:gdLst/>
            <a:ahLst/>
            <a:cxnLst/>
            <a:rect l="l" t="t" r="r" b="b"/>
            <a:pathLst>
              <a:path w="5549900" h="977900">
                <a:moveTo>
                  <a:pt x="0" y="0"/>
                </a:moveTo>
                <a:lnTo>
                  <a:pt x="5549900" y="0"/>
                </a:lnTo>
                <a:lnTo>
                  <a:pt x="55499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10160000" y="2997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01600" y="63500"/>
                </a:moveTo>
                <a:cubicBezTo>
                  <a:pt x="122628" y="63500"/>
                  <a:pt x="139700" y="80572"/>
                  <a:pt x="139700" y="101600"/>
                </a:cubicBezTo>
                <a:cubicBezTo>
                  <a:pt x="139700" y="122628"/>
                  <a:pt x="122628" y="139700"/>
                  <a:pt x="101600" y="139700"/>
                </a:cubicBezTo>
                <a:cubicBezTo>
                  <a:pt x="80572" y="139700"/>
                  <a:pt x="63500" y="122628"/>
                  <a:pt x="63500" y="101600"/>
                </a:cubicBezTo>
                <a:cubicBezTo>
                  <a:pt x="63500" y="80572"/>
                  <a:pt x="80572" y="63500"/>
                  <a:pt x="101600" y="6350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0490200" y="29464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空间中的点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34600" y="3352800"/>
            <a:ext cx="532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将向量看成 n 维空间 ℝⁿ 中的一个点，每一维的值代表坐标。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975850" y="4438650"/>
            <a:ext cx="5549900" cy="977900"/>
          </a:xfrm>
          <a:custGeom>
            <a:avLst/>
            <a:gdLst/>
            <a:ahLst/>
            <a:cxnLst/>
            <a:rect l="l" t="t" r="r" b="b"/>
            <a:pathLst>
              <a:path w="5549900" h="977900">
                <a:moveTo>
                  <a:pt x="0" y="0"/>
                </a:moveTo>
                <a:lnTo>
                  <a:pt x="5549900" y="0"/>
                </a:lnTo>
                <a:lnTo>
                  <a:pt x="55499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10160000" y="4648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10569" y="3731"/>
                </a:moveTo>
                <a:cubicBezTo>
                  <a:pt x="105608" y="-1230"/>
                  <a:pt x="97552" y="-1230"/>
                  <a:pt x="92591" y="3731"/>
                </a:cubicBezTo>
                <a:lnTo>
                  <a:pt x="67191" y="29131"/>
                </a:lnTo>
                <a:cubicBezTo>
                  <a:pt x="63540" y="32782"/>
                  <a:pt x="62468" y="38219"/>
                  <a:pt x="64453" y="42982"/>
                </a:cubicBezTo>
                <a:cubicBezTo>
                  <a:pt x="66437" y="47744"/>
                  <a:pt x="71080" y="50800"/>
                  <a:pt x="76200" y="50800"/>
                </a:cubicBezTo>
                <a:lnTo>
                  <a:pt x="88900" y="50800"/>
                </a:lnTo>
                <a:lnTo>
                  <a:pt x="88900" y="88900"/>
                </a:lnTo>
                <a:lnTo>
                  <a:pt x="50800" y="88900"/>
                </a:lnTo>
                <a:lnTo>
                  <a:pt x="50800" y="76200"/>
                </a:lnTo>
                <a:cubicBezTo>
                  <a:pt x="50800" y="71080"/>
                  <a:pt x="47704" y="66437"/>
                  <a:pt x="42942" y="64453"/>
                </a:cubicBezTo>
                <a:cubicBezTo>
                  <a:pt x="38179" y="62468"/>
                  <a:pt x="32742" y="63579"/>
                  <a:pt x="29091" y="67191"/>
                </a:cubicBezTo>
                <a:lnTo>
                  <a:pt x="3691" y="92591"/>
                </a:lnTo>
                <a:cubicBezTo>
                  <a:pt x="-1270" y="97552"/>
                  <a:pt x="-1270" y="105608"/>
                  <a:pt x="3691" y="110569"/>
                </a:cubicBezTo>
                <a:lnTo>
                  <a:pt x="29091" y="135969"/>
                </a:lnTo>
                <a:cubicBezTo>
                  <a:pt x="32742" y="139621"/>
                  <a:pt x="38179" y="140692"/>
                  <a:pt x="42942" y="138708"/>
                </a:cubicBezTo>
                <a:cubicBezTo>
                  <a:pt x="47704" y="136723"/>
                  <a:pt x="50800" y="132120"/>
                  <a:pt x="50800" y="127000"/>
                </a:cubicBezTo>
                <a:lnTo>
                  <a:pt x="50800" y="114300"/>
                </a:lnTo>
                <a:lnTo>
                  <a:pt x="88900" y="114300"/>
                </a:lnTo>
                <a:lnTo>
                  <a:pt x="88900" y="152400"/>
                </a:lnTo>
                <a:lnTo>
                  <a:pt x="76200" y="152400"/>
                </a:lnTo>
                <a:cubicBezTo>
                  <a:pt x="71080" y="152400"/>
                  <a:pt x="66437" y="155496"/>
                  <a:pt x="64453" y="160258"/>
                </a:cubicBezTo>
                <a:cubicBezTo>
                  <a:pt x="62468" y="165021"/>
                  <a:pt x="63579" y="170458"/>
                  <a:pt x="67191" y="174109"/>
                </a:cubicBezTo>
                <a:lnTo>
                  <a:pt x="92591" y="199509"/>
                </a:lnTo>
                <a:cubicBezTo>
                  <a:pt x="97552" y="204470"/>
                  <a:pt x="105608" y="204470"/>
                  <a:pt x="110569" y="199509"/>
                </a:cubicBezTo>
                <a:lnTo>
                  <a:pt x="135969" y="174109"/>
                </a:lnTo>
                <a:cubicBezTo>
                  <a:pt x="139621" y="170458"/>
                  <a:pt x="140692" y="165021"/>
                  <a:pt x="138708" y="160258"/>
                </a:cubicBezTo>
                <a:cubicBezTo>
                  <a:pt x="136723" y="155496"/>
                  <a:pt x="132120" y="152400"/>
                  <a:pt x="127000" y="152400"/>
                </a:cubicBezTo>
                <a:lnTo>
                  <a:pt x="114300" y="152400"/>
                </a:lnTo>
                <a:lnTo>
                  <a:pt x="114300" y="114300"/>
                </a:lnTo>
                <a:lnTo>
                  <a:pt x="152400" y="114300"/>
                </a:lnTo>
                <a:lnTo>
                  <a:pt x="152400" y="127000"/>
                </a:lnTo>
                <a:cubicBezTo>
                  <a:pt x="152400" y="132120"/>
                  <a:pt x="155496" y="136763"/>
                  <a:pt x="160258" y="138748"/>
                </a:cubicBezTo>
                <a:cubicBezTo>
                  <a:pt x="165021" y="140732"/>
                  <a:pt x="170458" y="139621"/>
                  <a:pt x="174109" y="136009"/>
                </a:cubicBezTo>
                <a:lnTo>
                  <a:pt x="199509" y="110609"/>
                </a:lnTo>
                <a:cubicBezTo>
                  <a:pt x="204470" y="105648"/>
                  <a:pt x="204470" y="97592"/>
                  <a:pt x="199509" y="92631"/>
                </a:cubicBezTo>
                <a:lnTo>
                  <a:pt x="174109" y="67231"/>
                </a:lnTo>
                <a:cubicBezTo>
                  <a:pt x="170458" y="63579"/>
                  <a:pt x="165021" y="62508"/>
                  <a:pt x="160258" y="64492"/>
                </a:cubicBezTo>
                <a:cubicBezTo>
                  <a:pt x="155496" y="66477"/>
                  <a:pt x="152400" y="71080"/>
                  <a:pt x="152400" y="76200"/>
                </a:cubicBezTo>
                <a:lnTo>
                  <a:pt x="152400" y="88900"/>
                </a:lnTo>
                <a:lnTo>
                  <a:pt x="114300" y="88900"/>
                </a:lnTo>
                <a:lnTo>
                  <a:pt x="114300" y="50800"/>
                </a:lnTo>
                <a:lnTo>
                  <a:pt x="127000" y="50800"/>
                </a:lnTo>
                <a:cubicBezTo>
                  <a:pt x="132120" y="50800"/>
                  <a:pt x="136763" y="47704"/>
                  <a:pt x="138748" y="42942"/>
                </a:cubicBezTo>
                <a:cubicBezTo>
                  <a:pt x="140732" y="38179"/>
                  <a:pt x="139621" y="32742"/>
                  <a:pt x="136009" y="29091"/>
                </a:cubicBezTo>
                <a:lnTo>
                  <a:pt x="110609" y="3691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0490200" y="4597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有向线段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34600" y="5003800"/>
            <a:ext cx="532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从原点指向该坐标点的有向线段，具有长度和方向。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759950" y="6102350"/>
            <a:ext cx="5981700" cy="1739900"/>
          </a:xfrm>
          <a:custGeom>
            <a:avLst/>
            <a:gdLst/>
            <a:ahLst/>
            <a:cxnLst/>
            <a:rect l="l" t="t" r="r" b="b"/>
            <a:pathLst>
              <a:path w="5981700" h="1739900">
                <a:moveTo>
                  <a:pt x="0" y="0"/>
                </a:moveTo>
                <a:lnTo>
                  <a:pt x="5981700" y="0"/>
                </a:lnTo>
                <a:lnTo>
                  <a:pt x="5981700" y="1739900"/>
                </a:lnTo>
                <a:lnTo>
                  <a:pt x="0" y="1739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969500" y="6311900"/>
            <a:ext cx="566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零向量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969500" y="6718300"/>
            <a:ext cx="565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所有分量全部为 0 的向量，记为 0。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969500" y="7073900"/>
            <a:ext cx="5562600" cy="558800"/>
          </a:xfrm>
          <a:custGeom>
            <a:avLst/>
            <a:gdLst/>
            <a:ahLst/>
            <a:cxnLst/>
            <a:rect l="l" t="t" r="r" b="b"/>
            <a:pathLst>
              <a:path w="5562600" h="558800">
                <a:moveTo>
                  <a:pt x="0" y="0"/>
                </a:moveTo>
                <a:lnTo>
                  <a:pt x="5562600" y="0"/>
                </a:lnTo>
                <a:lnTo>
                  <a:pt x="55626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013950" y="7175500"/>
            <a:ext cx="547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 = [0, 0, ..., 0]ᵀ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14350" y="8058150"/>
            <a:ext cx="15227300" cy="571500"/>
          </a:xfrm>
          <a:custGeom>
            <a:avLst/>
            <a:gdLst/>
            <a:ahLst/>
            <a:cxnLst/>
            <a:rect l="l" t="t" r="r" b="b"/>
            <a:pathLst>
              <a:path w="15227300" h="571500">
                <a:moveTo>
                  <a:pt x="0" y="0"/>
                </a:moveTo>
                <a:lnTo>
                  <a:pt x="15227300" y="0"/>
                </a:lnTo>
                <a:lnTo>
                  <a:pt x="152273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0196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704850" y="8229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11250" y="8216900"/>
            <a:ext cx="349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表示约定：用 xᵢ 表示向量 x 的第 i 维分量。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2324100" cy="419100"/>
          </a:xfrm>
          <a:custGeom>
            <a:avLst/>
            <a:gdLst/>
            <a:ahLst/>
            <a:cxnLst/>
            <a:rect l="l" t="t" r="r" b="b"/>
            <a:pathLst>
              <a:path w="2324100" h="419100">
                <a:moveTo>
                  <a:pt x="0" y="0"/>
                </a:moveTo>
                <a:lnTo>
                  <a:pt x="2324100" y="0"/>
                </a:lnTo>
                <a:lnTo>
                  <a:pt x="2324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3100" y="615950"/>
            <a:ext cx="210145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VECTOR OPERATIONS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41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向量的基本运算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758950"/>
            <a:ext cx="4927600" cy="6083300"/>
          </a:xfrm>
          <a:custGeom>
            <a:avLst/>
            <a:gdLst/>
            <a:ahLst/>
            <a:cxnLst/>
            <a:rect l="l" t="t" r="r" b="b"/>
            <a:pathLst>
              <a:path w="4927600" h="6083300">
                <a:moveTo>
                  <a:pt x="0" y="0"/>
                </a:moveTo>
                <a:lnTo>
                  <a:pt x="4927600" y="0"/>
                </a:lnTo>
                <a:lnTo>
                  <a:pt x="4927600" y="6083300"/>
                </a:lnTo>
                <a:lnTo>
                  <a:pt x="0" y="60833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23900" y="1968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52202" y="2095500"/>
            <a:ext cx="27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5900" y="19685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向量相加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85900" y="23241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对应分量相加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3900" y="2730500"/>
            <a:ext cx="459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定义：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两个向量对应分量相加，得到新向量。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3900" y="3086100"/>
            <a:ext cx="4508500" cy="558800"/>
          </a:xfrm>
          <a:custGeom>
            <a:avLst/>
            <a:gdLst/>
            <a:ahLst/>
            <a:cxnLst/>
            <a:rect l="l" t="t" r="r" b="b"/>
            <a:pathLst>
              <a:path w="4508500" h="558800">
                <a:moveTo>
                  <a:pt x="0" y="0"/>
                </a:moveTo>
                <a:lnTo>
                  <a:pt x="4508500" y="0"/>
                </a:lnTo>
                <a:lnTo>
                  <a:pt x="45085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31850" y="3238500"/>
            <a:ext cx="429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x + y = [x₁+y₁, x₂+y₂, ..., xₙ+yₙ]ᵀ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0250" y="6191250"/>
            <a:ext cx="4495800" cy="1435100"/>
          </a:xfrm>
          <a:custGeom>
            <a:avLst/>
            <a:gdLst/>
            <a:ahLst/>
            <a:cxnLst/>
            <a:rect l="l" t="t" r="r" b="b"/>
            <a:pathLst>
              <a:path w="4495800" h="1435100">
                <a:moveTo>
                  <a:pt x="0" y="0"/>
                </a:moveTo>
                <a:lnTo>
                  <a:pt x="4495800" y="0"/>
                </a:lnTo>
                <a:lnTo>
                  <a:pt x="4495800" y="1435100"/>
                </a:lnTo>
                <a:lnTo>
                  <a:pt x="0" y="1435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89000" y="63500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示例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9000" y="6705600"/>
            <a:ext cx="4267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x = [1, 2, 3]ᵀ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y = [4, 5, 6]ᵀ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x + y = [5, 7, 9]ᵀ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2017" y="1758950"/>
            <a:ext cx="4927600" cy="6083300"/>
          </a:xfrm>
          <a:custGeom>
            <a:avLst/>
            <a:gdLst/>
            <a:ahLst/>
            <a:cxnLst/>
            <a:rect l="l" t="t" r="r" b="b"/>
            <a:pathLst>
              <a:path w="4927600" h="6083300">
                <a:moveTo>
                  <a:pt x="0" y="0"/>
                </a:moveTo>
                <a:lnTo>
                  <a:pt x="4927600" y="0"/>
                </a:lnTo>
                <a:lnTo>
                  <a:pt x="4927600" y="6083300"/>
                </a:lnTo>
                <a:lnTo>
                  <a:pt x="0" y="60833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871567" y="1968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099870" y="2095500"/>
            <a:ext cx="27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33567" y="1968500"/>
            <a:ext cx="154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标量乘法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33567" y="2324100"/>
            <a:ext cx="151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每个分量乘以标量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71567" y="2730500"/>
            <a:ext cx="459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定义：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向量每个分量乘以标量 k，得到新向量。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71567" y="3086100"/>
            <a:ext cx="4508500" cy="558800"/>
          </a:xfrm>
          <a:custGeom>
            <a:avLst/>
            <a:gdLst/>
            <a:ahLst/>
            <a:cxnLst/>
            <a:rect l="l" t="t" r="r" b="b"/>
            <a:pathLst>
              <a:path w="4508500" h="558800">
                <a:moveTo>
                  <a:pt x="0" y="0"/>
                </a:moveTo>
                <a:lnTo>
                  <a:pt x="4508500" y="0"/>
                </a:lnTo>
                <a:lnTo>
                  <a:pt x="45085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979517" y="3238500"/>
            <a:ext cx="429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kx = [kx₁, kx₂, ..., kxₙ]ᵀ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77917" y="6191250"/>
            <a:ext cx="4495800" cy="1435100"/>
          </a:xfrm>
          <a:custGeom>
            <a:avLst/>
            <a:gdLst/>
            <a:ahLst/>
            <a:cxnLst/>
            <a:rect l="l" t="t" r="r" b="b"/>
            <a:pathLst>
              <a:path w="4495800" h="1435100">
                <a:moveTo>
                  <a:pt x="0" y="0"/>
                </a:moveTo>
                <a:lnTo>
                  <a:pt x="4495800" y="0"/>
                </a:lnTo>
                <a:lnTo>
                  <a:pt x="4495800" y="1435100"/>
                </a:lnTo>
                <a:lnTo>
                  <a:pt x="0" y="1435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036667" y="63500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示例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6667" y="6705600"/>
            <a:ext cx="4267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x = [1, 2, 3]ᵀ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 = 2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kx = [2, 4, 6]ᵀ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809784" y="1758950"/>
            <a:ext cx="4927600" cy="6083300"/>
          </a:xfrm>
          <a:custGeom>
            <a:avLst/>
            <a:gdLst/>
            <a:ahLst/>
            <a:cxnLst/>
            <a:rect l="l" t="t" r="r" b="b"/>
            <a:pathLst>
              <a:path w="4927600" h="6083300">
                <a:moveTo>
                  <a:pt x="0" y="0"/>
                </a:moveTo>
                <a:lnTo>
                  <a:pt x="4927600" y="0"/>
                </a:lnTo>
                <a:lnTo>
                  <a:pt x="4927600" y="6083300"/>
                </a:lnTo>
                <a:lnTo>
                  <a:pt x="0" y="60833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11019334" y="1968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1260634" y="2095500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781334" y="19685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向量内积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781334" y="2324100"/>
            <a:ext cx="1104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结果是标量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019334" y="2730500"/>
            <a:ext cx="459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定义：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两个向量对应分量相乘后求和，结果为标量。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019334" y="3086100"/>
            <a:ext cx="4508500" cy="558800"/>
          </a:xfrm>
          <a:custGeom>
            <a:avLst/>
            <a:gdLst/>
            <a:ahLst/>
            <a:cxnLst/>
            <a:rect l="l" t="t" r="r" b="b"/>
            <a:pathLst>
              <a:path w="4508500" h="558800">
                <a:moveTo>
                  <a:pt x="0" y="0"/>
                </a:moveTo>
                <a:lnTo>
                  <a:pt x="4508500" y="0"/>
                </a:lnTo>
                <a:lnTo>
                  <a:pt x="45085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1127284" y="3238500"/>
            <a:ext cx="429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⟨x,y⟩ = xᵀy = Σxᵢyᵢ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025684" y="6191250"/>
            <a:ext cx="4495800" cy="1435100"/>
          </a:xfrm>
          <a:custGeom>
            <a:avLst/>
            <a:gdLst/>
            <a:ahLst/>
            <a:cxnLst/>
            <a:rect l="l" t="t" r="r" b="b"/>
            <a:pathLst>
              <a:path w="4495800" h="1435100">
                <a:moveTo>
                  <a:pt x="0" y="0"/>
                </a:moveTo>
                <a:lnTo>
                  <a:pt x="4495800" y="0"/>
                </a:lnTo>
                <a:lnTo>
                  <a:pt x="4495800" y="1435100"/>
                </a:lnTo>
                <a:lnTo>
                  <a:pt x="0" y="1435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184434" y="63500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示例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184434" y="6705600"/>
            <a:ext cx="4267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x = [1, 2, 3]ᵀ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y = [4, 5, 6]ᵀ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xᵀy = 1×4 + 2×5 + 3×6 = 32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14350" y="8058150"/>
            <a:ext cx="4965700" cy="571500"/>
          </a:xfrm>
          <a:custGeom>
            <a:avLst/>
            <a:gdLst/>
            <a:ahLst/>
            <a:cxnLst/>
            <a:rect l="l" t="t" r="r" b="b"/>
            <a:pathLst>
              <a:path w="4965700" h="571500">
                <a:moveTo>
                  <a:pt x="0" y="0"/>
                </a:moveTo>
                <a:lnTo>
                  <a:pt x="4965700" y="0"/>
                </a:lnTo>
                <a:lnTo>
                  <a:pt x="49657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0196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28650" y="8216900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交换律：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x + y = y + x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45150" y="8058150"/>
            <a:ext cx="4965700" cy="571500"/>
          </a:xfrm>
          <a:custGeom>
            <a:avLst/>
            <a:gdLst/>
            <a:ahLst/>
            <a:cxnLst/>
            <a:rect l="l" t="t" r="r" b="b"/>
            <a:pathLst>
              <a:path w="4965700" h="571500">
                <a:moveTo>
                  <a:pt x="0" y="0"/>
                </a:moveTo>
                <a:lnTo>
                  <a:pt x="4965700" y="0"/>
                </a:lnTo>
                <a:lnTo>
                  <a:pt x="49657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0196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5759450" y="8216900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交换律：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⟨x,y⟩ = ⟨y,x⟩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775950" y="8058150"/>
            <a:ext cx="4965700" cy="571500"/>
          </a:xfrm>
          <a:custGeom>
            <a:avLst/>
            <a:gdLst/>
            <a:ahLst/>
            <a:cxnLst/>
            <a:rect l="l" t="t" r="r" b="b"/>
            <a:pathLst>
              <a:path w="4965700" h="571500">
                <a:moveTo>
                  <a:pt x="0" y="0"/>
                </a:moveTo>
                <a:lnTo>
                  <a:pt x="4965700" y="0"/>
                </a:lnTo>
                <a:lnTo>
                  <a:pt x="49657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0196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0890250" y="8216900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几何意义：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x·y = |x||y|cosθ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1816100" cy="419100"/>
          </a:xfrm>
          <a:custGeom>
            <a:avLst/>
            <a:gdLst/>
            <a:ahLst/>
            <a:cxnLst/>
            <a:rect l="l" t="t" r="r" b="b"/>
            <a:pathLst>
              <a:path w="1816100" h="419100">
                <a:moveTo>
                  <a:pt x="0" y="0"/>
                </a:moveTo>
                <a:lnTo>
                  <a:pt x="1816100" y="0"/>
                </a:lnTo>
                <a:lnTo>
                  <a:pt x="1816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3100" y="615950"/>
            <a:ext cx="159256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VECTOR NORMS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41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向量范数：衡量向量的"长度"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758950"/>
            <a:ext cx="5803900" cy="2044700"/>
          </a:xfrm>
          <a:custGeom>
            <a:avLst/>
            <a:gdLst/>
            <a:ahLst/>
            <a:cxnLst/>
            <a:rect l="l" t="t" r="r" b="b"/>
            <a:pathLst>
              <a:path w="5803900" h="2044700">
                <a:moveTo>
                  <a:pt x="0" y="0"/>
                </a:moveTo>
                <a:lnTo>
                  <a:pt x="5803900" y="0"/>
                </a:lnTo>
                <a:lnTo>
                  <a:pt x="5803900" y="2044700"/>
                </a:lnTo>
                <a:lnTo>
                  <a:pt x="0" y="20447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23900" y="1968500"/>
            <a:ext cx="549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范数的三个条件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3900" y="24765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8700" y="2476500"/>
            <a:ext cx="370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正定性：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f(x) ≥ 0，当且仅当 x = 0 时，f(x) = 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3900" y="28829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8700" y="2882900"/>
            <a:ext cx="213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绝对齐次性：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f(kx) = |k|f(x)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3900" y="32893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8700" y="32893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三角不等式：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f(x+y) ≤ f(x) + f(y)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4350" y="3968750"/>
            <a:ext cx="5803900" cy="3924300"/>
          </a:xfrm>
          <a:custGeom>
            <a:avLst/>
            <a:gdLst/>
            <a:ahLst/>
            <a:cxnLst/>
            <a:rect l="l" t="t" r="r" b="b"/>
            <a:pathLst>
              <a:path w="5803900" h="3924300">
                <a:moveTo>
                  <a:pt x="0" y="0"/>
                </a:moveTo>
                <a:lnTo>
                  <a:pt x="5803900" y="0"/>
                </a:lnTo>
                <a:lnTo>
                  <a:pt x="5803900" y="3924300"/>
                </a:lnTo>
                <a:lnTo>
                  <a:pt x="0" y="39243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23900" y="4889500"/>
            <a:ext cx="549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Lₚ 范数定义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3900" y="5397500"/>
            <a:ext cx="5384800" cy="762000"/>
          </a:xfrm>
          <a:custGeom>
            <a:avLst/>
            <a:gdLst/>
            <a:ahLst/>
            <a:cxnLst/>
            <a:rect l="l" t="t" r="r" b="b"/>
            <a:pathLst>
              <a:path w="5384800" h="762000">
                <a:moveTo>
                  <a:pt x="0" y="0"/>
                </a:moveTo>
                <a:lnTo>
                  <a:pt x="5384800" y="0"/>
                </a:lnTo>
                <a:lnTo>
                  <a:pt x="53848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69950" y="5600700"/>
            <a:ext cx="509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‖x‖ₚ = (Σ|xᵢ|ᵖ)¹/ᵖ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3900" y="6311900"/>
            <a:ext cx="5486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Lₚ范数是一类常用的向量范数，通过参数p的不同取值，可以得到不同的范数形式。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90010" y="1758950"/>
            <a:ext cx="9156700" cy="6134100"/>
          </a:xfrm>
          <a:custGeom>
            <a:avLst/>
            <a:gdLst/>
            <a:ahLst/>
            <a:cxnLst/>
            <a:rect l="l" t="t" r="r" b="b"/>
            <a:pathLst>
              <a:path w="9156700" h="6134100">
                <a:moveTo>
                  <a:pt x="0" y="0"/>
                </a:moveTo>
                <a:lnTo>
                  <a:pt x="9156700" y="0"/>
                </a:lnTo>
                <a:lnTo>
                  <a:pt x="9156700" y="6134100"/>
                </a:lnTo>
                <a:lnTo>
                  <a:pt x="0" y="61341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799560" y="1968500"/>
            <a:ext cx="885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四种常见范数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05910" y="2482850"/>
            <a:ext cx="8724900" cy="1282700"/>
          </a:xfrm>
          <a:custGeom>
            <a:avLst/>
            <a:gdLst/>
            <a:ahLst/>
            <a:cxnLst/>
            <a:rect l="l" t="t" r="r" b="b"/>
            <a:pathLst>
              <a:path w="8724900" h="1282700">
                <a:moveTo>
                  <a:pt x="0" y="0"/>
                </a:moveTo>
                <a:lnTo>
                  <a:pt x="8724900" y="0"/>
                </a:lnTo>
                <a:lnTo>
                  <a:pt x="8724900" y="1282700"/>
                </a:lnTo>
                <a:lnTo>
                  <a:pt x="0" y="12827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913860" y="2590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801" y="0"/>
                </a:moveTo>
                <a:lnTo>
                  <a:pt x="253999" y="0"/>
                </a:lnTo>
                <a:cubicBezTo>
                  <a:pt x="282056" y="0"/>
                  <a:pt x="304800" y="22744"/>
                  <a:pt x="304800" y="50801"/>
                </a:cubicBezTo>
                <a:lnTo>
                  <a:pt x="304800" y="253999"/>
                </a:lnTo>
                <a:cubicBezTo>
                  <a:pt x="304800" y="282056"/>
                  <a:pt x="282056" y="304800"/>
                  <a:pt x="253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875760" y="25908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20260" y="2590800"/>
            <a:ext cx="237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L₂ 范数（欧几里得范数）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13860" y="2946400"/>
            <a:ext cx="8509000" cy="457200"/>
          </a:xfrm>
          <a:custGeom>
            <a:avLst/>
            <a:gdLst/>
            <a:ahLst/>
            <a:cxnLst/>
            <a:rect l="l" t="t" r="r" b="b"/>
            <a:pathLst>
              <a:path w="8509000" h="457200">
                <a:moveTo>
                  <a:pt x="0" y="0"/>
                </a:moveTo>
                <a:lnTo>
                  <a:pt x="8509000" y="0"/>
                </a:lnTo>
                <a:lnTo>
                  <a:pt x="85090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015460" y="3048000"/>
            <a:ext cx="839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‖x‖₂ = √(Σxᵢ²)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13860" y="3454400"/>
            <a:ext cx="858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物理含义：</a:t>
            </a: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表示向量到原点的欧氏距离（向量的模长）。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05910" y="3879850"/>
            <a:ext cx="8724900" cy="1282700"/>
          </a:xfrm>
          <a:custGeom>
            <a:avLst/>
            <a:gdLst/>
            <a:ahLst/>
            <a:cxnLst/>
            <a:rect l="l" t="t" r="r" b="b"/>
            <a:pathLst>
              <a:path w="8724900" h="1282700">
                <a:moveTo>
                  <a:pt x="0" y="0"/>
                </a:moveTo>
                <a:lnTo>
                  <a:pt x="8724900" y="0"/>
                </a:lnTo>
                <a:lnTo>
                  <a:pt x="8724900" y="1282700"/>
                </a:lnTo>
                <a:lnTo>
                  <a:pt x="0" y="12827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913860" y="3987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801" y="0"/>
                </a:moveTo>
                <a:lnTo>
                  <a:pt x="253999" y="0"/>
                </a:lnTo>
                <a:cubicBezTo>
                  <a:pt x="282056" y="0"/>
                  <a:pt x="304800" y="22744"/>
                  <a:pt x="304800" y="50801"/>
                </a:cubicBezTo>
                <a:lnTo>
                  <a:pt x="304800" y="253999"/>
                </a:lnTo>
                <a:cubicBezTo>
                  <a:pt x="304800" y="282056"/>
                  <a:pt x="282056" y="304800"/>
                  <a:pt x="253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875760" y="39878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20260" y="3987800"/>
            <a:ext cx="214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L₁ 范数（曼哈顿距离）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913860" y="4343400"/>
            <a:ext cx="8509000" cy="457200"/>
          </a:xfrm>
          <a:custGeom>
            <a:avLst/>
            <a:gdLst/>
            <a:ahLst/>
            <a:cxnLst/>
            <a:rect l="l" t="t" r="r" b="b"/>
            <a:pathLst>
              <a:path w="8509000" h="457200">
                <a:moveTo>
                  <a:pt x="0" y="0"/>
                </a:moveTo>
                <a:lnTo>
                  <a:pt x="8509000" y="0"/>
                </a:lnTo>
                <a:lnTo>
                  <a:pt x="85090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7015460" y="4445000"/>
            <a:ext cx="839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‖x‖₁ = Σ|xᵢ|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13860" y="4851400"/>
            <a:ext cx="858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物理含义：</a:t>
            </a: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向量各分量的绝对值之和，也称曼哈顿距离。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05910" y="5276850"/>
            <a:ext cx="4305300" cy="1231900"/>
          </a:xfrm>
          <a:custGeom>
            <a:avLst/>
            <a:gdLst/>
            <a:ahLst/>
            <a:cxnLst/>
            <a:rect l="l" t="t" r="r" b="b"/>
            <a:pathLst>
              <a:path w="4305300" h="1231900">
                <a:moveTo>
                  <a:pt x="0" y="0"/>
                </a:moveTo>
                <a:lnTo>
                  <a:pt x="4305300" y="0"/>
                </a:lnTo>
                <a:lnTo>
                  <a:pt x="4305300" y="1231900"/>
                </a:lnTo>
                <a:lnTo>
                  <a:pt x="0" y="1231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913860" y="5384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801" y="0"/>
                </a:moveTo>
                <a:lnTo>
                  <a:pt x="253999" y="0"/>
                </a:lnTo>
                <a:cubicBezTo>
                  <a:pt x="282056" y="0"/>
                  <a:pt x="304800" y="22744"/>
                  <a:pt x="304800" y="50801"/>
                </a:cubicBezTo>
                <a:lnTo>
                  <a:pt x="304800" y="253999"/>
                </a:lnTo>
                <a:cubicBezTo>
                  <a:pt x="304800" y="282056"/>
                  <a:pt x="282056" y="304800"/>
                  <a:pt x="253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875760" y="53848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∞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20260" y="5410200"/>
            <a:ext cx="73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L∞ 范数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913860" y="5740400"/>
            <a:ext cx="4089400" cy="406400"/>
          </a:xfrm>
          <a:custGeom>
            <a:avLst/>
            <a:gdLst/>
            <a:ahLst/>
            <a:cxnLst/>
            <a:rect l="l" t="t" r="r" b="b"/>
            <a:pathLst>
              <a:path w="4089400" h="406400">
                <a:moveTo>
                  <a:pt x="0" y="0"/>
                </a:moveTo>
                <a:lnTo>
                  <a:pt x="4089400" y="0"/>
                </a:lnTo>
                <a:lnTo>
                  <a:pt x="4089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015460" y="5842000"/>
            <a:ext cx="396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‖x‖∞ = max|xᵢ|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13860" y="6197600"/>
            <a:ext cx="416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向量中绝对值最大的分量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222930" y="5276850"/>
            <a:ext cx="4305300" cy="1231900"/>
          </a:xfrm>
          <a:custGeom>
            <a:avLst/>
            <a:gdLst/>
            <a:ahLst/>
            <a:cxnLst/>
            <a:rect l="l" t="t" r="r" b="b"/>
            <a:pathLst>
              <a:path w="4305300" h="1231900">
                <a:moveTo>
                  <a:pt x="0" y="0"/>
                </a:moveTo>
                <a:lnTo>
                  <a:pt x="4305300" y="0"/>
                </a:lnTo>
                <a:lnTo>
                  <a:pt x="4305300" y="1231900"/>
                </a:lnTo>
                <a:lnTo>
                  <a:pt x="0" y="1231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1330880" y="5384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801" y="0"/>
                </a:moveTo>
                <a:lnTo>
                  <a:pt x="253999" y="0"/>
                </a:lnTo>
                <a:cubicBezTo>
                  <a:pt x="282056" y="0"/>
                  <a:pt x="304800" y="22744"/>
                  <a:pt x="304800" y="50801"/>
                </a:cubicBezTo>
                <a:lnTo>
                  <a:pt x="304800" y="253999"/>
                </a:lnTo>
                <a:cubicBezTo>
                  <a:pt x="304800" y="282056"/>
                  <a:pt x="282056" y="304800"/>
                  <a:pt x="253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292780" y="53848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737280" y="5410200"/>
            <a:ext cx="66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L₀ 范数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330880" y="5740400"/>
            <a:ext cx="4089400" cy="406400"/>
          </a:xfrm>
          <a:custGeom>
            <a:avLst/>
            <a:gdLst/>
            <a:ahLst/>
            <a:cxnLst/>
            <a:rect l="l" t="t" r="r" b="b"/>
            <a:pathLst>
              <a:path w="4089400" h="406400">
                <a:moveTo>
                  <a:pt x="0" y="0"/>
                </a:moveTo>
                <a:lnTo>
                  <a:pt x="4089400" y="0"/>
                </a:lnTo>
                <a:lnTo>
                  <a:pt x="4089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1432480" y="5842000"/>
            <a:ext cx="396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‖x‖₀ = Σ𝟙(xᵢ≠0)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330880" y="6197600"/>
            <a:ext cx="416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向量中非零元素的个数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14350" y="8058150"/>
            <a:ext cx="15227300" cy="571500"/>
          </a:xfrm>
          <a:custGeom>
            <a:avLst/>
            <a:gdLst/>
            <a:ahLst/>
            <a:cxnLst/>
            <a:rect l="l" t="t" r="r" b="b"/>
            <a:pathLst>
              <a:path w="15227300" h="571500">
                <a:moveTo>
                  <a:pt x="0" y="0"/>
                </a:moveTo>
                <a:lnTo>
                  <a:pt x="15227300" y="0"/>
                </a:lnTo>
                <a:lnTo>
                  <a:pt x="152273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0196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733425" y="82296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111250" y="8216900"/>
            <a:ext cx="614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应用场景：L1范数促进稀疏性（特征选择），L2范数防止过拟合（正则化）。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geogebra.org/d19342d7ceb4c973cbafbc446b74dc68a1199d7c.png"/>
          <p:cNvPicPr>
            <a:picLocks noChangeAspect="1"/>
          </p:cNvPicPr>
          <p:nvPr/>
        </p:nvPicPr>
        <p:blipFill>
          <a:blip r:embed="rId3">
            <a:alphaModFix amt="25000"/>
          </a:blip>
          <a:srcRect t="10625" b="1062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508000" y="2565400"/>
            <a:ext cx="160528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800" dirty="0">
                <a:solidFill>
                  <a:srgbClr val="3D8F8A">
                    <a:alpha val="3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8000" y="4394200"/>
            <a:ext cx="1569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5613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矩阵与矩阵运算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65278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1016000" cy="419100"/>
          </a:xfrm>
          <a:custGeom>
            <a:avLst/>
            <a:gdLst/>
            <a:ahLst/>
            <a:cxnLst/>
            <a:rect l="l" t="t" r="r" b="b"/>
            <a:pathLst>
              <a:path w="1016000" h="419100">
                <a:moveTo>
                  <a:pt x="0" y="0"/>
                </a:moveTo>
                <a:lnTo>
                  <a:pt x="1016000" y="0"/>
                </a:lnTo>
                <a:lnTo>
                  <a:pt x="10160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3100" y="615950"/>
            <a:ext cx="78561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MATRIX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41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矩阵的基本概念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758950"/>
            <a:ext cx="7505700" cy="2374900"/>
          </a:xfrm>
          <a:custGeom>
            <a:avLst/>
            <a:gdLst/>
            <a:ahLst/>
            <a:cxnLst/>
            <a:rect l="l" t="t" r="r" b="b"/>
            <a:pathLst>
              <a:path w="7505700" h="2374900">
                <a:moveTo>
                  <a:pt x="0" y="0"/>
                </a:moveTo>
                <a:lnTo>
                  <a:pt x="7505700" y="0"/>
                </a:lnTo>
                <a:lnTo>
                  <a:pt x="7505700" y="2374900"/>
                </a:lnTo>
                <a:lnTo>
                  <a:pt x="0" y="23749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23900" y="1968500"/>
            <a:ext cx="721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矩阵的定义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3900" y="2476500"/>
            <a:ext cx="7188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向量是一维数组，</a:t>
            </a:r>
            <a:r>
              <a:rPr lang="en-US" sz="1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矩阵是二维扩展</a:t>
            </a: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。矩阵是由数构成的矩形元组。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3900" y="2959100"/>
            <a:ext cx="7086600" cy="609600"/>
          </a:xfrm>
          <a:custGeom>
            <a:avLst/>
            <a:gdLst/>
            <a:ahLst/>
            <a:cxnLst/>
            <a:rect l="l" t="t" r="r" b="b"/>
            <a:pathLst>
              <a:path w="7086600" h="609600">
                <a:moveTo>
                  <a:pt x="0" y="0"/>
                </a:moveTo>
                <a:lnTo>
                  <a:pt x="7086600" y="0"/>
                </a:lnTo>
                <a:lnTo>
                  <a:pt x="7086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25500" y="3111500"/>
            <a:ext cx="688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 ∈ ℝᵐˣⁿ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3900" y="3670300"/>
            <a:ext cx="717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m 行 n 列的矩阵，用 aᵢⱼ 表示第 i 行第 j 列的元素。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4350" y="4298950"/>
            <a:ext cx="7505700" cy="3594100"/>
          </a:xfrm>
          <a:custGeom>
            <a:avLst/>
            <a:gdLst/>
            <a:ahLst/>
            <a:cxnLst/>
            <a:rect l="l" t="t" r="r" b="b"/>
            <a:pathLst>
              <a:path w="7505700" h="3594100">
                <a:moveTo>
                  <a:pt x="0" y="0"/>
                </a:moveTo>
                <a:lnTo>
                  <a:pt x="7505700" y="0"/>
                </a:lnTo>
                <a:lnTo>
                  <a:pt x="7505700" y="3594100"/>
                </a:lnTo>
                <a:lnTo>
                  <a:pt x="0" y="35941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23900" y="5181600"/>
            <a:ext cx="721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矩阵与向量的关系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0250" y="5695950"/>
            <a:ext cx="7073900" cy="571500"/>
          </a:xfrm>
          <a:custGeom>
            <a:avLst/>
            <a:gdLst/>
            <a:ahLst/>
            <a:cxnLst/>
            <a:rect l="l" t="t" r="r" b="b"/>
            <a:pathLst>
              <a:path w="7073900" h="571500">
                <a:moveTo>
                  <a:pt x="0" y="0"/>
                </a:moveTo>
                <a:lnTo>
                  <a:pt x="7073900" y="0"/>
                </a:lnTo>
                <a:lnTo>
                  <a:pt x="70739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89000" y="585470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①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向量是特殊的矩阵：列向量是 n×1 矩阵，行向量是 1×n 矩阵。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0250" y="6432550"/>
            <a:ext cx="7073900" cy="571500"/>
          </a:xfrm>
          <a:custGeom>
            <a:avLst/>
            <a:gdLst/>
            <a:ahLst/>
            <a:cxnLst/>
            <a:rect l="l" t="t" r="r" b="b"/>
            <a:pathLst>
              <a:path w="7073900" h="571500">
                <a:moveTo>
                  <a:pt x="0" y="0"/>
                </a:moveTo>
                <a:lnTo>
                  <a:pt x="7073900" y="0"/>
                </a:lnTo>
                <a:lnTo>
                  <a:pt x="70739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89000" y="659130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②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矩阵可由向量构成：A = [a₁, a₂, ..., aₙ]，其中 aᵢ 是列向量。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35950" y="1758950"/>
            <a:ext cx="7505700" cy="6134100"/>
          </a:xfrm>
          <a:custGeom>
            <a:avLst/>
            <a:gdLst/>
            <a:ahLst/>
            <a:cxnLst/>
            <a:rect l="l" t="t" r="r" b="b"/>
            <a:pathLst>
              <a:path w="7505700" h="6134100">
                <a:moveTo>
                  <a:pt x="0" y="0"/>
                </a:moveTo>
                <a:lnTo>
                  <a:pt x="7505700" y="0"/>
                </a:lnTo>
                <a:lnTo>
                  <a:pt x="7505700" y="6134100"/>
                </a:lnTo>
                <a:lnTo>
                  <a:pt x="0" y="61341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45500" y="1968500"/>
            <a:ext cx="721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五种特殊矩阵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51850" y="2482850"/>
            <a:ext cx="7073900" cy="825500"/>
          </a:xfrm>
          <a:custGeom>
            <a:avLst/>
            <a:gdLst/>
            <a:ahLst/>
            <a:cxnLst/>
            <a:rect l="l" t="t" r="r" b="b"/>
            <a:pathLst>
              <a:path w="7073900" h="825500">
                <a:moveTo>
                  <a:pt x="0" y="0"/>
                </a:moveTo>
                <a:lnTo>
                  <a:pt x="7073900" y="0"/>
                </a:lnTo>
                <a:lnTo>
                  <a:pt x="70739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559800" y="2590800"/>
            <a:ext cx="695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① 转置矩阵 Aᵀ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59800" y="29464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将矩阵的行和列交换。m×n 矩阵转置后为 n×m 矩阵。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51850" y="3422650"/>
            <a:ext cx="7073900" cy="825500"/>
          </a:xfrm>
          <a:custGeom>
            <a:avLst/>
            <a:gdLst/>
            <a:ahLst/>
            <a:cxnLst/>
            <a:rect l="l" t="t" r="r" b="b"/>
            <a:pathLst>
              <a:path w="7073900" h="825500">
                <a:moveTo>
                  <a:pt x="0" y="0"/>
                </a:moveTo>
                <a:lnTo>
                  <a:pt x="7073900" y="0"/>
                </a:lnTo>
                <a:lnTo>
                  <a:pt x="70739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559800" y="3530600"/>
            <a:ext cx="695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② 方阵（Square Matrix）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59800" y="38862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行数和列数均为 n 的矩阵，称为 n 阶方阵。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51850" y="4362450"/>
            <a:ext cx="7073900" cy="825500"/>
          </a:xfrm>
          <a:custGeom>
            <a:avLst/>
            <a:gdLst/>
            <a:ahLst/>
            <a:cxnLst/>
            <a:rect l="l" t="t" r="r" b="b"/>
            <a:pathLst>
              <a:path w="7073900" h="825500">
                <a:moveTo>
                  <a:pt x="0" y="0"/>
                </a:moveTo>
                <a:lnTo>
                  <a:pt x="7073900" y="0"/>
                </a:lnTo>
                <a:lnTo>
                  <a:pt x="70739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59800" y="4470400"/>
            <a:ext cx="695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③ 对角矩阵（Diagonal）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59800" y="48260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只有主对角线元素不为 0 的方阵，记为 diag(a₁₁, ..., aₙₙ)。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51850" y="5302250"/>
            <a:ext cx="7073900" cy="825500"/>
          </a:xfrm>
          <a:custGeom>
            <a:avLst/>
            <a:gdLst/>
            <a:ahLst/>
            <a:cxnLst/>
            <a:rect l="l" t="t" r="r" b="b"/>
            <a:pathLst>
              <a:path w="7073900" h="825500">
                <a:moveTo>
                  <a:pt x="0" y="0"/>
                </a:moveTo>
                <a:lnTo>
                  <a:pt x="7073900" y="0"/>
                </a:lnTo>
                <a:lnTo>
                  <a:pt x="70739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559800" y="5410200"/>
            <a:ext cx="695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④ 单位矩阵 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59800" y="57658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对角线元素全为 1 的对角矩阵，用 I 或 Iₙ 表示。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51850" y="6242050"/>
            <a:ext cx="7073900" cy="825500"/>
          </a:xfrm>
          <a:custGeom>
            <a:avLst/>
            <a:gdLst/>
            <a:ahLst/>
            <a:cxnLst/>
            <a:rect l="l" t="t" r="r" b="b"/>
            <a:pathLst>
              <a:path w="7073900" h="825500">
                <a:moveTo>
                  <a:pt x="0" y="0"/>
                </a:moveTo>
                <a:lnTo>
                  <a:pt x="7073900" y="0"/>
                </a:lnTo>
                <a:lnTo>
                  <a:pt x="70739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559800" y="6350000"/>
            <a:ext cx="695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⑤ 零矩阵 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59800" y="67056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所有元素为零的矩阵，记为 O。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4350" y="8058150"/>
            <a:ext cx="15227300" cy="571500"/>
          </a:xfrm>
          <a:custGeom>
            <a:avLst/>
            <a:gdLst/>
            <a:ahLst/>
            <a:cxnLst/>
            <a:rect l="l" t="t" r="r" b="b"/>
            <a:pathLst>
              <a:path w="15227300" h="571500">
                <a:moveTo>
                  <a:pt x="0" y="0"/>
                </a:moveTo>
                <a:lnTo>
                  <a:pt x="15227300" y="0"/>
                </a:lnTo>
                <a:lnTo>
                  <a:pt x="152273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0196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704850" y="8229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146" y="-1116"/>
                </a:moveTo>
                <a:cubicBezTo>
                  <a:pt x="108987" y="-6206"/>
                  <a:pt x="119881" y="-6206"/>
                  <a:pt x="128721" y="-1116"/>
                </a:cubicBezTo>
                <a:lnTo>
                  <a:pt x="207258" y="44202"/>
                </a:lnTo>
                <a:cubicBezTo>
                  <a:pt x="216098" y="49292"/>
                  <a:pt x="221546" y="58757"/>
                  <a:pt x="221546" y="68937"/>
                </a:cubicBezTo>
                <a:lnTo>
                  <a:pt x="221546" y="159574"/>
                </a:lnTo>
                <a:cubicBezTo>
                  <a:pt x="221546" y="169798"/>
                  <a:pt x="216098" y="179219"/>
                  <a:pt x="207258" y="184309"/>
                </a:cubicBezTo>
                <a:lnTo>
                  <a:pt x="128721" y="229716"/>
                </a:lnTo>
                <a:cubicBezTo>
                  <a:pt x="119881" y="234806"/>
                  <a:pt x="108987" y="234806"/>
                  <a:pt x="100146" y="229716"/>
                </a:cubicBezTo>
                <a:lnTo>
                  <a:pt x="21654" y="184398"/>
                </a:lnTo>
                <a:cubicBezTo>
                  <a:pt x="12814" y="179308"/>
                  <a:pt x="7367" y="169843"/>
                  <a:pt x="7367" y="159663"/>
                </a:cubicBezTo>
                <a:lnTo>
                  <a:pt x="7367" y="69026"/>
                </a:lnTo>
                <a:cubicBezTo>
                  <a:pt x="7367" y="58802"/>
                  <a:pt x="12814" y="49381"/>
                  <a:pt x="21654" y="44291"/>
                </a:cubicBezTo>
                <a:lnTo>
                  <a:pt x="100146" y="-1116"/>
                </a:lnTo>
                <a:close/>
                <a:moveTo>
                  <a:pt x="192926" y="159618"/>
                </a:moveTo>
                <a:lnTo>
                  <a:pt x="192926" y="85457"/>
                </a:lnTo>
                <a:lnTo>
                  <a:pt x="128721" y="122515"/>
                </a:lnTo>
                <a:lnTo>
                  <a:pt x="128721" y="196676"/>
                </a:lnTo>
                <a:lnTo>
                  <a:pt x="192926" y="159618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11250" y="82169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应用视角：矩阵在机器学习中用于表示数据集（样本×特征）、权重参数、变换操作等。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2273300" cy="419100"/>
          </a:xfrm>
          <a:custGeom>
            <a:avLst/>
            <a:gdLst/>
            <a:ahLst/>
            <a:cxnLst/>
            <a:rect l="l" t="t" r="r" b="b"/>
            <a:pathLst>
              <a:path w="2273300" h="419100">
                <a:moveTo>
                  <a:pt x="0" y="0"/>
                </a:moveTo>
                <a:lnTo>
                  <a:pt x="2273300" y="0"/>
                </a:lnTo>
                <a:lnTo>
                  <a:pt x="22733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3100" y="615950"/>
            <a:ext cx="2041525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MATRIX OPERATIONS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41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矩阵的基本运算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758950"/>
            <a:ext cx="4927600" cy="6083300"/>
          </a:xfrm>
          <a:custGeom>
            <a:avLst/>
            <a:gdLst/>
            <a:ahLst/>
            <a:cxnLst/>
            <a:rect l="l" t="t" r="r" b="b"/>
            <a:pathLst>
              <a:path w="4927600" h="6083300">
                <a:moveTo>
                  <a:pt x="0" y="0"/>
                </a:moveTo>
                <a:lnTo>
                  <a:pt x="4927600" y="0"/>
                </a:lnTo>
                <a:lnTo>
                  <a:pt x="4927600" y="6083300"/>
                </a:lnTo>
                <a:lnTo>
                  <a:pt x="0" y="60833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23900" y="1968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52202" y="2095500"/>
            <a:ext cx="27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5900" y="19685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矩阵相加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85900" y="23241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对应元素相加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3900" y="2730500"/>
            <a:ext cx="459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条件：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两个矩阵行列数相同。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3900" y="3086100"/>
            <a:ext cx="4508500" cy="558800"/>
          </a:xfrm>
          <a:custGeom>
            <a:avLst/>
            <a:gdLst/>
            <a:ahLst/>
            <a:cxnLst/>
            <a:rect l="l" t="t" r="r" b="b"/>
            <a:pathLst>
              <a:path w="4508500" h="558800">
                <a:moveTo>
                  <a:pt x="0" y="0"/>
                </a:moveTo>
                <a:lnTo>
                  <a:pt x="4508500" y="0"/>
                </a:lnTo>
                <a:lnTo>
                  <a:pt x="45085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31850" y="3238500"/>
            <a:ext cx="429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(A+B)ᵢⱼ = aᵢⱼ + bᵢⱼ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0250" y="5924550"/>
            <a:ext cx="4495800" cy="1701800"/>
          </a:xfrm>
          <a:custGeom>
            <a:avLst/>
            <a:gdLst/>
            <a:ahLst/>
            <a:cxnLst/>
            <a:rect l="l" t="t" r="r" b="b"/>
            <a:pathLst>
              <a:path w="4495800" h="1701800">
                <a:moveTo>
                  <a:pt x="0" y="0"/>
                </a:moveTo>
                <a:lnTo>
                  <a:pt x="4495800" y="0"/>
                </a:lnTo>
                <a:lnTo>
                  <a:pt x="4495800" y="1701800"/>
                </a:lnTo>
                <a:lnTo>
                  <a:pt x="0" y="1701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89000" y="60833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示例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900" y="6438900"/>
            <a:ext cx="143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[1 2]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61989" y="6438900"/>
            <a:ext cx="143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73078" y="6438900"/>
            <a:ext cx="143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[5 6]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900" y="6692900"/>
            <a:ext cx="143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[3 4]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73078" y="6692900"/>
            <a:ext cx="143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[7 8]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9000" y="6953250"/>
            <a:ext cx="1358900" cy="12700"/>
          </a:xfrm>
          <a:custGeom>
            <a:avLst/>
            <a:gdLst/>
            <a:ahLst/>
            <a:cxnLst/>
            <a:rect l="l" t="t" r="r" b="b"/>
            <a:pathLst>
              <a:path w="1358900" h="12700">
                <a:moveTo>
                  <a:pt x="0" y="0"/>
                </a:moveTo>
                <a:lnTo>
                  <a:pt x="1358900" y="0"/>
                </a:lnTo>
                <a:lnTo>
                  <a:pt x="13589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0900" y="6946900"/>
            <a:ext cx="1435100" cy="2540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=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300089" y="6953250"/>
            <a:ext cx="1358900" cy="12700"/>
          </a:xfrm>
          <a:custGeom>
            <a:avLst/>
            <a:gdLst/>
            <a:ahLst/>
            <a:cxnLst/>
            <a:rect l="l" t="t" r="r" b="b"/>
            <a:pathLst>
              <a:path w="1358900" h="12700">
                <a:moveTo>
                  <a:pt x="0" y="0"/>
                </a:moveTo>
                <a:lnTo>
                  <a:pt x="1358900" y="0"/>
                </a:lnTo>
                <a:lnTo>
                  <a:pt x="13589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711178" y="6953250"/>
            <a:ext cx="1358900" cy="12700"/>
          </a:xfrm>
          <a:custGeom>
            <a:avLst/>
            <a:gdLst/>
            <a:ahLst/>
            <a:cxnLst/>
            <a:rect l="l" t="t" r="r" b="b"/>
            <a:pathLst>
              <a:path w="1358900" h="12700">
                <a:moveTo>
                  <a:pt x="0" y="0"/>
                </a:moveTo>
                <a:lnTo>
                  <a:pt x="1358900" y="0"/>
                </a:lnTo>
                <a:lnTo>
                  <a:pt x="13589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673078" y="6946900"/>
            <a:ext cx="1435100" cy="2540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[6 8]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73078" y="7264400"/>
            <a:ext cx="143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[10 12]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62017" y="1758950"/>
            <a:ext cx="4927600" cy="6083300"/>
          </a:xfrm>
          <a:custGeom>
            <a:avLst/>
            <a:gdLst/>
            <a:ahLst/>
            <a:cxnLst/>
            <a:rect l="l" t="t" r="r" b="b"/>
            <a:pathLst>
              <a:path w="4927600" h="6083300">
                <a:moveTo>
                  <a:pt x="0" y="0"/>
                </a:moveTo>
                <a:lnTo>
                  <a:pt x="4927600" y="0"/>
                </a:lnTo>
                <a:lnTo>
                  <a:pt x="4927600" y="6083300"/>
                </a:lnTo>
                <a:lnTo>
                  <a:pt x="0" y="60833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871567" y="1968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099870" y="2095500"/>
            <a:ext cx="27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×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33567" y="1968500"/>
            <a:ext cx="154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标量乘法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33567" y="2324100"/>
            <a:ext cx="151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每个元素乘以标量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71567" y="2730500"/>
            <a:ext cx="459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定义：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矩阵每个元素乘以标量 k。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71567" y="3086100"/>
            <a:ext cx="4508500" cy="558800"/>
          </a:xfrm>
          <a:custGeom>
            <a:avLst/>
            <a:gdLst/>
            <a:ahLst/>
            <a:cxnLst/>
            <a:rect l="l" t="t" r="r" b="b"/>
            <a:pathLst>
              <a:path w="4508500" h="558800">
                <a:moveTo>
                  <a:pt x="0" y="0"/>
                </a:moveTo>
                <a:lnTo>
                  <a:pt x="4508500" y="0"/>
                </a:lnTo>
                <a:lnTo>
                  <a:pt x="45085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979517" y="3238500"/>
            <a:ext cx="429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(kA)ᵢⱼ = k·aᵢⱼ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77917" y="5988050"/>
            <a:ext cx="4495800" cy="1638300"/>
          </a:xfrm>
          <a:custGeom>
            <a:avLst/>
            <a:gdLst/>
            <a:ahLst/>
            <a:cxnLst/>
            <a:rect l="l" t="t" r="r" b="b"/>
            <a:pathLst>
              <a:path w="4495800" h="1638300">
                <a:moveTo>
                  <a:pt x="0" y="0"/>
                </a:moveTo>
                <a:lnTo>
                  <a:pt x="4495800" y="0"/>
                </a:lnTo>
                <a:lnTo>
                  <a:pt x="4495800" y="1638300"/>
                </a:lnTo>
                <a:lnTo>
                  <a:pt x="0" y="16383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036667" y="61468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示例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98567" y="6502400"/>
            <a:ext cx="143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 ×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09656" y="6502400"/>
            <a:ext cx="143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[1 2]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20745" y="6502400"/>
            <a:ext cx="143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=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09656" y="6756400"/>
            <a:ext cx="143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[3 4]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09656" y="7010400"/>
            <a:ext cx="143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[2 4]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409656" y="7264400"/>
            <a:ext cx="143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[6 8]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809784" y="1758950"/>
            <a:ext cx="4927600" cy="6083300"/>
          </a:xfrm>
          <a:custGeom>
            <a:avLst/>
            <a:gdLst/>
            <a:ahLst/>
            <a:cxnLst/>
            <a:rect l="l" t="t" r="r" b="b"/>
            <a:pathLst>
              <a:path w="4927600" h="6083300">
                <a:moveTo>
                  <a:pt x="0" y="0"/>
                </a:moveTo>
                <a:lnTo>
                  <a:pt x="4927600" y="0"/>
                </a:lnTo>
                <a:lnTo>
                  <a:pt x="4927600" y="6083300"/>
                </a:lnTo>
                <a:lnTo>
                  <a:pt x="0" y="60833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1019334" y="1968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247636" y="2095500"/>
            <a:ext cx="27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×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781334" y="19685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矩阵乘法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781334" y="23241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行列内积运算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019334" y="2730500"/>
            <a:ext cx="459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条件：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 的列数 = B 的行数。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019334" y="3086100"/>
            <a:ext cx="4508500" cy="558800"/>
          </a:xfrm>
          <a:custGeom>
            <a:avLst/>
            <a:gdLst/>
            <a:ahLst/>
            <a:cxnLst/>
            <a:rect l="l" t="t" r="r" b="b"/>
            <a:pathLst>
              <a:path w="4508500" h="558800">
                <a:moveTo>
                  <a:pt x="0" y="0"/>
                </a:moveTo>
                <a:lnTo>
                  <a:pt x="4508500" y="0"/>
                </a:lnTo>
                <a:lnTo>
                  <a:pt x="45085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127284" y="3238500"/>
            <a:ext cx="429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(AB)ᵢⱼ = Σaᵢₖ·bₖⱼ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1025684" y="6699250"/>
            <a:ext cx="4495800" cy="927100"/>
          </a:xfrm>
          <a:custGeom>
            <a:avLst/>
            <a:gdLst/>
            <a:ahLst/>
            <a:cxnLst/>
            <a:rect l="l" t="t" r="r" b="b"/>
            <a:pathLst>
              <a:path w="4495800" h="927100">
                <a:moveTo>
                  <a:pt x="0" y="0"/>
                </a:moveTo>
                <a:lnTo>
                  <a:pt x="4495800" y="0"/>
                </a:lnTo>
                <a:lnTo>
                  <a:pt x="4495800" y="927100"/>
                </a:lnTo>
                <a:lnTo>
                  <a:pt x="0" y="927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1184434" y="68580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维度规则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139984" y="72136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A(m×n) × B(n×p) = C(m×p)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14350" y="8058150"/>
            <a:ext cx="15227300" cy="571500"/>
          </a:xfrm>
          <a:custGeom>
            <a:avLst/>
            <a:gdLst/>
            <a:ahLst/>
            <a:cxnLst/>
            <a:rect l="l" t="t" r="r" b="b"/>
            <a:pathLst>
              <a:path w="15227300" h="571500">
                <a:moveTo>
                  <a:pt x="0" y="0"/>
                </a:moveTo>
                <a:lnTo>
                  <a:pt x="15227300" y="0"/>
                </a:lnTo>
                <a:lnTo>
                  <a:pt x="152273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0196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704850" y="8229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111250" y="8216900"/>
            <a:ext cx="591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重要性质：矩阵乘法不满足交换律（AB ≠ BA），但满足结合律和分配律。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1663700" cy="419100"/>
          </a:xfrm>
          <a:custGeom>
            <a:avLst/>
            <a:gdLst/>
            <a:ahLst/>
            <a:cxnLst/>
            <a:rect l="l" t="t" r="r" b="b"/>
            <a:pathLst>
              <a:path w="1663700" h="419100">
                <a:moveTo>
                  <a:pt x="0" y="0"/>
                </a:moveTo>
                <a:lnTo>
                  <a:pt x="1663700" y="0"/>
                </a:lnTo>
                <a:lnTo>
                  <a:pt x="16637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3100" y="615950"/>
            <a:ext cx="1439168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41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矩阵运算的应用场景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758950"/>
            <a:ext cx="7505700" cy="3162300"/>
          </a:xfrm>
          <a:custGeom>
            <a:avLst/>
            <a:gdLst/>
            <a:ahLst/>
            <a:cxnLst/>
            <a:rect l="l" t="t" r="r" b="b"/>
            <a:pathLst>
              <a:path w="7505700" h="3162300">
                <a:moveTo>
                  <a:pt x="0" y="0"/>
                </a:moveTo>
                <a:lnTo>
                  <a:pt x="7505700" y="0"/>
                </a:lnTo>
                <a:lnTo>
                  <a:pt x="7505700" y="3162300"/>
                </a:lnTo>
                <a:lnTo>
                  <a:pt x="0" y="31623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23900" y="1968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81063" y="21082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384300" y="20447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数据表示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3900" y="2628900"/>
            <a:ext cx="718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机器学习数据集通常用矩阵表示，每一行是一个样本，每一列是一个特征。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3900" y="3086100"/>
            <a:ext cx="7086600" cy="1625600"/>
          </a:xfrm>
          <a:custGeom>
            <a:avLst/>
            <a:gdLst/>
            <a:ahLst/>
            <a:cxnLst/>
            <a:rect l="l" t="t" r="r" b="b"/>
            <a:pathLst>
              <a:path w="7086600" h="1625600">
                <a:moveTo>
                  <a:pt x="0" y="0"/>
                </a:moveTo>
                <a:lnTo>
                  <a:pt x="7086600" y="0"/>
                </a:lnTo>
                <a:lnTo>
                  <a:pt x="7086600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419376" y="3238500"/>
            <a:ext cx="170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X ∈ ℝᵐˣⁿ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19376" y="3594100"/>
            <a:ext cx="170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m 个样本，n 个特征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5726" y="3949700"/>
            <a:ext cx="168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样本1: [x₁₁, x₁₂, ..., x₁ₙ]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5726" y="4152900"/>
            <a:ext cx="168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样本2: [x₂₁, x₂₂, ..., x₂ₙ]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5726" y="4356100"/>
            <a:ext cx="168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...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4350" y="5086350"/>
            <a:ext cx="7505700" cy="2755900"/>
          </a:xfrm>
          <a:custGeom>
            <a:avLst/>
            <a:gdLst/>
            <a:ahLst/>
            <a:cxnLst/>
            <a:rect l="l" t="t" r="r" b="b"/>
            <a:pathLst>
              <a:path w="7505700" h="2755900">
                <a:moveTo>
                  <a:pt x="0" y="0"/>
                </a:moveTo>
                <a:lnTo>
                  <a:pt x="7505700" y="0"/>
                </a:lnTo>
                <a:lnTo>
                  <a:pt x="7505700" y="2755900"/>
                </a:lnTo>
                <a:lnTo>
                  <a:pt x="0" y="27559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23900" y="52959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66775" y="5435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384300" y="53721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线性变换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3900" y="5956300"/>
            <a:ext cx="718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矩阵乘法可以实现旋转、缩放、投影等线性变换操作。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3900" y="6413500"/>
            <a:ext cx="7086600" cy="1219200"/>
          </a:xfrm>
          <a:custGeom>
            <a:avLst/>
            <a:gdLst/>
            <a:ahLst/>
            <a:cxnLst/>
            <a:rect l="l" t="t" r="r" b="b"/>
            <a:pathLst>
              <a:path w="7086600" h="1219200">
                <a:moveTo>
                  <a:pt x="0" y="0"/>
                </a:moveTo>
                <a:lnTo>
                  <a:pt x="7086600" y="0"/>
                </a:lnTo>
                <a:lnTo>
                  <a:pt x="70866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2969816" y="6565900"/>
            <a:ext cx="259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y = Ax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969816" y="6921500"/>
            <a:ext cx="259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 x 通过矩阵 A 变换为向量 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976166" y="7277100"/>
            <a:ext cx="2578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几何意义：空间变换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35950" y="1758950"/>
            <a:ext cx="7505700" cy="2959100"/>
          </a:xfrm>
          <a:custGeom>
            <a:avLst/>
            <a:gdLst/>
            <a:ahLst/>
            <a:cxnLst/>
            <a:rect l="l" t="t" r="r" b="b"/>
            <a:pathLst>
              <a:path w="7505700" h="2959100">
                <a:moveTo>
                  <a:pt x="0" y="0"/>
                </a:moveTo>
                <a:lnTo>
                  <a:pt x="7505700" y="0"/>
                </a:lnTo>
                <a:lnTo>
                  <a:pt x="7505700" y="2959100"/>
                </a:lnTo>
                <a:lnTo>
                  <a:pt x="0" y="29591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445500" y="1968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588375" y="2108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105900" y="20447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神经网络权重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45500" y="2628900"/>
            <a:ext cx="718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神经网络的层间连接权重用矩阵表示，前向传播通过矩阵乘法实现。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45500" y="3086100"/>
            <a:ext cx="7086600" cy="1422400"/>
          </a:xfrm>
          <a:custGeom>
            <a:avLst/>
            <a:gdLst/>
            <a:ahLst/>
            <a:cxnLst/>
            <a:rect l="l" t="t" r="r" b="b"/>
            <a:pathLst>
              <a:path w="7086600" h="1422400">
                <a:moveTo>
                  <a:pt x="0" y="0"/>
                </a:moveTo>
                <a:lnTo>
                  <a:pt x="7086600" y="0"/>
                </a:lnTo>
                <a:lnTo>
                  <a:pt x="7086600" y="1422400"/>
                </a:lnTo>
                <a:lnTo>
                  <a:pt x="0" y="14224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873879" y="3340100"/>
            <a:ext cx="223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zˡ⁺¹ = Wˡ⁺¹aˡ + bˡ⁺¹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873879" y="3695700"/>
            <a:ext cx="223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第 l+1 层的线性计算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880229" y="4051300"/>
            <a:ext cx="2222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W: 权重矩阵, b: 偏置向量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35950" y="4883150"/>
            <a:ext cx="7505700" cy="2959100"/>
          </a:xfrm>
          <a:custGeom>
            <a:avLst/>
            <a:gdLst/>
            <a:ahLst/>
            <a:cxnLst/>
            <a:rect l="l" t="t" r="r" b="b"/>
            <a:pathLst>
              <a:path w="7505700" h="2959100">
                <a:moveTo>
                  <a:pt x="0" y="0"/>
                </a:moveTo>
                <a:lnTo>
                  <a:pt x="7505700" y="0"/>
                </a:lnTo>
                <a:lnTo>
                  <a:pt x="7505700" y="2959100"/>
                </a:lnTo>
                <a:lnTo>
                  <a:pt x="0" y="29591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445500" y="50927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559800" y="52324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105900" y="51689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协方差矩阵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45500" y="5753100"/>
            <a:ext cx="718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在PCA等算法中，协方差矩阵用于描述特征间的相关性。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45500" y="6210300"/>
            <a:ext cx="7086600" cy="1422400"/>
          </a:xfrm>
          <a:custGeom>
            <a:avLst/>
            <a:gdLst/>
            <a:ahLst/>
            <a:cxnLst/>
            <a:rect l="l" t="t" r="r" b="b"/>
            <a:pathLst>
              <a:path w="7086600" h="1422400">
                <a:moveTo>
                  <a:pt x="0" y="0"/>
                </a:moveTo>
                <a:lnTo>
                  <a:pt x="7086600" y="0"/>
                </a:lnTo>
                <a:lnTo>
                  <a:pt x="7086600" y="1422400"/>
                </a:lnTo>
                <a:lnTo>
                  <a:pt x="0" y="14224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0980936" y="6464300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Σ = E[(X-μ)(X-μ)ᵀ]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980936" y="6819900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协方差矩阵的定义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87286" y="7175500"/>
            <a:ext cx="2006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4A65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对称正定矩阵，特征分解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14350" y="8058150"/>
            <a:ext cx="15227300" cy="571500"/>
          </a:xfrm>
          <a:custGeom>
            <a:avLst/>
            <a:gdLst/>
            <a:ahLst/>
            <a:cxnLst/>
            <a:rect l="l" t="t" r="r" b="b"/>
            <a:pathLst>
              <a:path w="15227300" h="571500">
                <a:moveTo>
                  <a:pt x="0" y="0"/>
                </a:moveTo>
                <a:lnTo>
                  <a:pt x="15227300" y="0"/>
                </a:lnTo>
                <a:lnTo>
                  <a:pt x="152273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0196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690563" y="82296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111250" y="8216900"/>
            <a:ext cx="828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核心优势：矩阵运算可以高效利用现代硬件（GPU）进行并行计算，大幅提升机器学习算法的运行效率。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.sstatic.net/d0eb1f288a60692a9c595d1d0f3b8cf217cd079b.png"/>
          <p:cNvPicPr>
            <a:picLocks noChangeAspect="1"/>
          </p:cNvPicPr>
          <p:nvPr/>
        </p:nvPicPr>
        <p:blipFill>
          <a:blip r:embed="rId3">
            <a:alphaModFix amt="25000"/>
          </a:blip>
          <a:srcRect t="36332" b="3633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508000" y="2565400"/>
            <a:ext cx="160528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800" dirty="0">
                <a:solidFill>
                  <a:srgbClr val="3D8F8A">
                    <a:alpha val="3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8000" y="4394200"/>
            <a:ext cx="1569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线性代数进阶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5613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特征值、特征向量与SVD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65278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3276600" cy="419100"/>
          </a:xfrm>
          <a:custGeom>
            <a:avLst/>
            <a:gdLst/>
            <a:ahLst/>
            <a:cxnLst/>
            <a:rect l="l" t="t" r="r" b="b"/>
            <a:pathLst>
              <a:path w="3276600" h="419100">
                <a:moveTo>
                  <a:pt x="0" y="0"/>
                </a:moveTo>
                <a:lnTo>
                  <a:pt x="3276600" y="0"/>
                </a:lnTo>
                <a:lnTo>
                  <a:pt x="32766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3100" y="615950"/>
            <a:ext cx="305355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EIGENVALUES &amp; EIGENVECTORS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41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特征值与特征向量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758950"/>
            <a:ext cx="5981700" cy="3517900"/>
          </a:xfrm>
          <a:custGeom>
            <a:avLst/>
            <a:gdLst/>
            <a:ahLst/>
            <a:cxnLst/>
            <a:rect l="l" t="t" r="r" b="b"/>
            <a:pathLst>
              <a:path w="5981700" h="3517900">
                <a:moveTo>
                  <a:pt x="0" y="0"/>
                </a:moveTo>
                <a:lnTo>
                  <a:pt x="5981700" y="0"/>
                </a:lnTo>
                <a:lnTo>
                  <a:pt x="5981700" y="3517900"/>
                </a:lnTo>
                <a:lnTo>
                  <a:pt x="0" y="35179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23900" y="2247900"/>
            <a:ext cx="568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数学定义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3900" y="2755900"/>
            <a:ext cx="566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对于 n 阶方阵 A，如果存在非零向量 x 和标量 λ，使得：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3900" y="3213100"/>
            <a:ext cx="5562600" cy="812800"/>
          </a:xfrm>
          <a:custGeom>
            <a:avLst/>
            <a:gdLst/>
            <a:ahLst/>
            <a:cxnLst/>
            <a:rect l="l" t="t" r="r" b="b"/>
            <a:pathLst>
              <a:path w="5562600" h="812800">
                <a:moveTo>
                  <a:pt x="0" y="0"/>
                </a:moveTo>
                <a:lnTo>
                  <a:pt x="5562600" y="0"/>
                </a:lnTo>
                <a:lnTo>
                  <a:pt x="55626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50900" y="3416300"/>
            <a:ext cx="5308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Ax = λx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3900" y="4178300"/>
            <a:ext cx="565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λ：矩阵 A 的</a:t>
            </a: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特征值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（eigenvalue）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3900" y="4533900"/>
            <a:ext cx="565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x：对应于 λ 的</a:t>
            </a: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特征向量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（eigenvector）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4350" y="5492750"/>
            <a:ext cx="5981700" cy="3517900"/>
          </a:xfrm>
          <a:custGeom>
            <a:avLst/>
            <a:gdLst/>
            <a:ahLst/>
            <a:cxnLst/>
            <a:rect l="l" t="t" r="r" b="b"/>
            <a:pathLst>
              <a:path w="5981700" h="3517900">
                <a:moveTo>
                  <a:pt x="0" y="0"/>
                </a:moveTo>
                <a:lnTo>
                  <a:pt x="5981700" y="0"/>
                </a:lnTo>
                <a:lnTo>
                  <a:pt x="5981700" y="3517900"/>
                </a:lnTo>
                <a:lnTo>
                  <a:pt x="0" y="35179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23900" y="6527800"/>
            <a:ext cx="568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几何意义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0250" y="7042150"/>
            <a:ext cx="5549900" cy="927100"/>
          </a:xfrm>
          <a:custGeom>
            <a:avLst/>
            <a:gdLst/>
            <a:ahLst/>
            <a:cxnLst/>
            <a:rect l="l" t="t" r="r" b="b"/>
            <a:pathLst>
              <a:path w="5549900" h="927100">
                <a:moveTo>
                  <a:pt x="0" y="0"/>
                </a:moveTo>
                <a:lnTo>
                  <a:pt x="5549900" y="0"/>
                </a:lnTo>
                <a:lnTo>
                  <a:pt x="5549900" y="927100"/>
                </a:lnTo>
                <a:lnTo>
                  <a:pt x="0" y="927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89000" y="7200900"/>
            <a:ext cx="533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 A 作用在特征向量 x 上，</a:t>
            </a:r>
            <a:r>
              <a:rPr lang="en-US" sz="1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只改变其长度（伸缩），不改变其方向</a:t>
            </a: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62750" y="1758950"/>
            <a:ext cx="8978900" cy="3517900"/>
          </a:xfrm>
          <a:custGeom>
            <a:avLst/>
            <a:gdLst/>
            <a:ahLst/>
            <a:cxnLst/>
            <a:rect l="l" t="t" r="r" b="b"/>
            <a:pathLst>
              <a:path w="8978900" h="3517900">
                <a:moveTo>
                  <a:pt x="0" y="0"/>
                </a:moveTo>
                <a:lnTo>
                  <a:pt x="8978900" y="0"/>
                </a:lnTo>
                <a:lnTo>
                  <a:pt x="8978900" y="3517900"/>
                </a:lnTo>
                <a:lnTo>
                  <a:pt x="0" y="35179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972300" y="1968500"/>
            <a:ext cx="868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求解步骤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78650" y="2482850"/>
            <a:ext cx="8547100" cy="1231900"/>
          </a:xfrm>
          <a:custGeom>
            <a:avLst/>
            <a:gdLst/>
            <a:ahLst/>
            <a:cxnLst/>
            <a:rect l="l" t="t" r="r" b="b"/>
            <a:pathLst>
              <a:path w="8547100" h="1231900">
                <a:moveTo>
                  <a:pt x="0" y="0"/>
                </a:moveTo>
                <a:lnTo>
                  <a:pt x="8547100" y="0"/>
                </a:lnTo>
                <a:lnTo>
                  <a:pt x="8547100" y="1231900"/>
                </a:lnTo>
                <a:lnTo>
                  <a:pt x="0" y="1231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086600" y="2590800"/>
            <a:ext cx="842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步骤1：求特征值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86600" y="2895600"/>
            <a:ext cx="840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解特征方程 |A - λI| = 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86600" y="3149600"/>
            <a:ext cx="8331200" cy="457200"/>
          </a:xfrm>
          <a:custGeom>
            <a:avLst/>
            <a:gdLst/>
            <a:ahLst/>
            <a:cxnLst/>
            <a:rect l="l" t="t" r="r" b="b"/>
            <a:pathLst>
              <a:path w="8331200" h="457200">
                <a:moveTo>
                  <a:pt x="0" y="0"/>
                </a:moveTo>
                <a:lnTo>
                  <a:pt x="8331200" y="0"/>
                </a:lnTo>
                <a:lnTo>
                  <a:pt x="8331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143750" y="3251200"/>
            <a:ext cx="821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det(A - λI) = 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78650" y="3829050"/>
            <a:ext cx="8547100" cy="1231900"/>
          </a:xfrm>
          <a:custGeom>
            <a:avLst/>
            <a:gdLst/>
            <a:ahLst/>
            <a:cxnLst/>
            <a:rect l="l" t="t" r="r" b="b"/>
            <a:pathLst>
              <a:path w="8547100" h="1231900">
                <a:moveTo>
                  <a:pt x="0" y="0"/>
                </a:moveTo>
                <a:lnTo>
                  <a:pt x="8547100" y="0"/>
                </a:lnTo>
                <a:lnTo>
                  <a:pt x="8547100" y="1231900"/>
                </a:lnTo>
                <a:lnTo>
                  <a:pt x="0" y="1231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086600" y="3937000"/>
            <a:ext cx="842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步骤2：求特征向量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86600" y="4241800"/>
            <a:ext cx="840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对每个特征值 λ，解方程 (A - λI)x = 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0" y="4495800"/>
            <a:ext cx="8331200" cy="457200"/>
          </a:xfrm>
          <a:custGeom>
            <a:avLst/>
            <a:gdLst/>
            <a:ahLst/>
            <a:cxnLst/>
            <a:rect l="l" t="t" r="r" b="b"/>
            <a:pathLst>
              <a:path w="8331200" h="457200">
                <a:moveTo>
                  <a:pt x="0" y="0"/>
                </a:moveTo>
                <a:lnTo>
                  <a:pt x="8331200" y="0"/>
                </a:lnTo>
                <a:lnTo>
                  <a:pt x="8331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143750" y="4597400"/>
            <a:ext cx="821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(A - λI)x = 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62750" y="5492750"/>
            <a:ext cx="8978900" cy="3517900"/>
          </a:xfrm>
          <a:custGeom>
            <a:avLst/>
            <a:gdLst/>
            <a:ahLst/>
            <a:cxnLst/>
            <a:rect l="l" t="t" r="r" b="b"/>
            <a:pathLst>
              <a:path w="8978900" h="3517900">
                <a:moveTo>
                  <a:pt x="0" y="0"/>
                </a:moveTo>
                <a:lnTo>
                  <a:pt x="8978900" y="0"/>
                </a:lnTo>
                <a:lnTo>
                  <a:pt x="8978900" y="3517900"/>
                </a:lnTo>
                <a:lnTo>
                  <a:pt x="0" y="35179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972300" y="5702300"/>
            <a:ext cx="868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机器学习中的应用：PCA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78650" y="6216650"/>
            <a:ext cx="8547100" cy="1638300"/>
          </a:xfrm>
          <a:custGeom>
            <a:avLst/>
            <a:gdLst/>
            <a:ahLst/>
            <a:cxnLst/>
            <a:rect l="l" t="t" r="r" b="b"/>
            <a:pathLst>
              <a:path w="8547100" h="1638300">
                <a:moveTo>
                  <a:pt x="0" y="0"/>
                </a:moveTo>
                <a:lnTo>
                  <a:pt x="8547100" y="0"/>
                </a:lnTo>
                <a:lnTo>
                  <a:pt x="8547100" y="1638300"/>
                </a:lnTo>
                <a:lnTo>
                  <a:pt x="0" y="16383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137400" y="6375400"/>
            <a:ext cx="831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主成分分析 (PCA)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37400" y="6680200"/>
            <a:ext cx="830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利用特征值分解来提取数据的主要特征。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7400" y="6985000"/>
            <a:ext cx="830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对协方差矩阵进行特征值分解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7400" y="7239000"/>
            <a:ext cx="830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2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最大特征值对应的特征向量</a:t>
            </a: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就是第一主成分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37400" y="7493000"/>
            <a:ext cx="830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特征值大小表示该主成分解释的方差比例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78650" y="7969250"/>
            <a:ext cx="8547100" cy="825500"/>
          </a:xfrm>
          <a:custGeom>
            <a:avLst/>
            <a:gdLst/>
            <a:ahLst/>
            <a:cxnLst/>
            <a:rect l="l" t="t" r="r" b="b"/>
            <a:pathLst>
              <a:path w="8547100" h="825500">
                <a:moveTo>
                  <a:pt x="0" y="0"/>
                </a:moveTo>
                <a:lnTo>
                  <a:pt x="8547100" y="0"/>
                </a:lnTo>
                <a:lnTo>
                  <a:pt x="85471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7137400" y="8128000"/>
            <a:ext cx="831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优势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37400" y="8432800"/>
            <a:ext cx="830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降维、去噪、可视化高维数据。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2565400" cy="419100"/>
          </a:xfrm>
          <a:custGeom>
            <a:avLst/>
            <a:gdLst/>
            <a:ahLst/>
            <a:cxnLst/>
            <a:rect l="l" t="t" r="r" b="b"/>
            <a:pathLst>
              <a:path w="2565400" h="419100">
                <a:moveTo>
                  <a:pt x="0" y="0"/>
                </a:moveTo>
                <a:lnTo>
                  <a:pt x="2565400" y="0"/>
                </a:lnTo>
                <a:lnTo>
                  <a:pt x="25654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3100" y="615950"/>
            <a:ext cx="234186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MATRIX FACTORIZATION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41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奇异值分解 (SVD)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758950"/>
            <a:ext cx="5981700" cy="3327400"/>
          </a:xfrm>
          <a:custGeom>
            <a:avLst/>
            <a:gdLst/>
            <a:ahLst/>
            <a:cxnLst/>
            <a:rect l="l" t="t" r="r" b="b"/>
            <a:pathLst>
              <a:path w="5981700" h="3327400">
                <a:moveTo>
                  <a:pt x="0" y="0"/>
                </a:moveTo>
                <a:lnTo>
                  <a:pt x="5981700" y="0"/>
                </a:lnTo>
                <a:lnTo>
                  <a:pt x="5981700" y="3327400"/>
                </a:lnTo>
                <a:lnTo>
                  <a:pt x="0" y="33274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23900" y="1974850"/>
            <a:ext cx="568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数学定义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3900" y="2482850"/>
            <a:ext cx="566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奇异值分解将</a:t>
            </a:r>
            <a:r>
              <a:rPr lang="en-US" sz="1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任意矩阵 A</a:t>
            </a: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分解为三个矩阵的乘积：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3900" y="2940050"/>
            <a:ext cx="5562600" cy="812800"/>
          </a:xfrm>
          <a:custGeom>
            <a:avLst/>
            <a:gdLst/>
            <a:ahLst/>
            <a:cxnLst/>
            <a:rect l="l" t="t" r="r" b="b"/>
            <a:pathLst>
              <a:path w="5562600" h="812800">
                <a:moveTo>
                  <a:pt x="0" y="0"/>
                </a:moveTo>
                <a:lnTo>
                  <a:pt x="5562600" y="0"/>
                </a:lnTo>
                <a:lnTo>
                  <a:pt x="55626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50900" y="3143250"/>
            <a:ext cx="5308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= UΣVᵀ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3900" y="3905250"/>
            <a:ext cx="565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U：左奇异向量矩阵（正交矩阵）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3900" y="4260850"/>
            <a:ext cx="565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Σ：对角矩阵（对角线元素为奇异值）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3900" y="4616450"/>
            <a:ext cx="565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Vᵀ：右奇异向量矩阵的转置（正交矩阵）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4350" y="5302250"/>
            <a:ext cx="5981700" cy="3327400"/>
          </a:xfrm>
          <a:custGeom>
            <a:avLst/>
            <a:gdLst/>
            <a:ahLst/>
            <a:cxnLst/>
            <a:rect l="l" t="t" r="r" b="b"/>
            <a:pathLst>
              <a:path w="5981700" h="3327400">
                <a:moveTo>
                  <a:pt x="0" y="0"/>
                </a:moveTo>
                <a:lnTo>
                  <a:pt x="5981700" y="0"/>
                </a:lnTo>
                <a:lnTo>
                  <a:pt x="5981700" y="3327400"/>
                </a:lnTo>
                <a:lnTo>
                  <a:pt x="0" y="33274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23900" y="5886450"/>
            <a:ext cx="568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关键性质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0250" y="6400800"/>
            <a:ext cx="5549900" cy="469900"/>
          </a:xfrm>
          <a:custGeom>
            <a:avLst/>
            <a:gdLst/>
            <a:ahLst/>
            <a:cxnLst/>
            <a:rect l="l" t="t" r="r" b="b"/>
            <a:pathLst>
              <a:path w="5549900" h="469900">
                <a:moveTo>
                  <a:pt x="0" y="0"/>
                </a:moveTo>
                <a:lnTo>
                  <a:pt x="5549900" y="0"/>
                </a:lnTo>
                <a:lnTo>
                  <a:pt x="5549900" y="469900"/>
                </a:lnTo>
                <a:lnTo>
                  <a:pt x="0" y="469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38200" y="6508750"/>
            <a:ext cx="542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奇异值 σᵢ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按降序排列，表示重要性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0250" y="6985000"/>
            <a:ext cx="5549900" cy="469900"/>
          </a:xfrm>
          <a:custGeom>
            <a:avLst/>
            <a:gdLst/>
            <a:ahLst/>
            <a:cxnLst/>
            <a:rect l="l" t="t" r="r" b="b"/>
            <a:pathLst>
              <a:path w="5549900" h="469900">
                <a:moveTo>
                  <a:pt x="0" y="0"/>
                </a:moveTo>
                <a:lnTo>
                  <a:pt x="5549900" y="0"/>
                </a:lnTo>
                <a:lnTo>
                  <a:pt x="5549900" y="469900"/>
                </a:lnTo>
                <a:lnTo>
                  <a:pt x="0" y="469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38200" y="7092950"/>
            <a:ext cx="542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可用于</a:t>
            </a: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矩阵压缩和降维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（截断SVD）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0250" y="7569200"/>
            <a:ext cx="5549900" cy="469900"/>
          </a:xfrm>
          <a:custGeom>
            <a:avLst/>
            <a:gdLst/>
            <a:ahLst/>
            <a:cxnLst/>
            <a:rect l="l" t="t" r="r" b="b"/>
            <a:pathLst>
              <a:path w="5549900" h="469900">
                <a:moveTo>
                  <a:pt x="0" y="0"/>
                </a:moveTo>
                <a:lnTo>
                  <a:pt x="5549900" y="0"/>
                </a:lnTo>
                <a:lnTo>
                  <a:pt x="5549900" y="469900"/>
                </a:lnTo>
                <a:lnTo>
                  <a:pt x="0" y="469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38200" y="7677150"/>
            <a:ext cx="542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适用于</a:t>
            </a: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任意矩阵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（不要求方阵）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62750" y="1758950"/>
            <a:ext cx="8978900" cy="4838700"/>
          </a:xfrm>
          <a:custGeom>
            <a:avLst/>
            <a:gdLst/>
            <a:ahLst/>
            <a:cxnLst/>
            <a:rect l="l" t="t" r="r" b="b"/>
            <a:pathLst>
              <a:path w="8978900" h="4838700">
                <a:moveTo>
                  <a:pt x="0" y="0"/>
                </a:moveTo>
                <a:lnTo>
                  <a:pt x="8978900" y="0"/>
                </a:lnTo>
                <a:lnTo>
                  <a:pt x="8978900" y="4838700"/>
                </a:lnTo>
                <a:lnTo>
                  <a:pt x="0" y="48387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972300" y="1968500"/>
            <a:ext cx="868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机器学习中的应用：推荐系统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78650" y="2482850"/>
            <a:ext cx="8547100" cy="2501900"/>
          </a:xfrm>
          <a:custGeom>
            <a:avLst/>
            <a:gdLst/>
            <a:ahLst/>
            <a:cxnLst/>
            <a:rect l="l" t="t" r="r" b="b"/>
            <a:pathLst>
              <a:path w="8547100" h="2501900">
                <a:moveTo>
                  <a:pt x="0" y="0"/>
                </a:moveTo>
                <a:lnTo>
                  <a:pt x="8547100" y="0"/>
                </a:lnTo>
                <a:lnTo>
                  <a:pt x="8547100" y="2501900"/>
                </a:lnTo>
                <a:lnTo>
                  <a:pt x="0" y="2501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137400" y="2641600"/>
            <a:ext cx="833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矩阵分解推荐系统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7400" y="3048000"/>
            <a:ext cx="831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在推荐系统中，用户-物品评分矩阵 R 通常很稀疏。通过 SVD 进行矩阵分解：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37400" y="3403600"/>
            <a:ext cx="8229600" cy="457200"/>
          </a:xfrm>
          <a:custGeom>
            <a:avLst/>
            <a:gdLst/>
            <a:ahLst/>
            <a:cxnLst/>
            <a:rect l="l" t="t" r="r" b="b"/>
            <a:pathLst>
              <a:path w="8229600" h="457200">
                <a:moveTo>
                  <a:pt x="0" y="0"/>
                </a:moveTo>
                <a:lnTo>
                  <a:pt x="8229600" y="0"/>
                </a:lnTo>
                <a:lnTo>
                  <a:pt x="8229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194550" y="3505200"/>
            <a:ext cx="811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R ≈ P·Qᵀ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7400" y="3962400"/>
            <a:ext cx="831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P：用户隐因子矩阵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7400" y="4267200"/>
            <a:ext cx="831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Q：物品隐因子矩阵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37400" y="4572000"/>
            <a:ext cx="831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目标：预测缺失的评分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978650" y="5149850"/>
            <a:ext cx="4216400" cy="1231900"/>
          </a:xfrm>
          <a:custGeom>
            <a:avLst/>
            <a:gdLst/>
            <a:ahLst/>
            <a:cxnLst/>
            <a:rect l="l" t="t" r="r" b="b"/>
            <a:pathLst>
              <a:path w="4216400" h="1231900">
                <a:moveTo>
                  <a:pt x="0" y="0"/>
                </a:moveTo>
                <a:lnTo>
                  <a:pt x="4216400" y="0"/>
                </a:lnTo>
                <a:lnTo>
                  <a:pt x="4216400" y="1231900"/>
                </a:lnTo>
                <a:lnTo>
                  <a:pt x="0" y="1231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7086600" y="5257800"/>
            <a:ext cx="408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优势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86600" y="5562600"/>
            <a:ext cx="4076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发现潜在因子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86600" y="5816600"/>
            <a:ext cx="4076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缓解稀疏性问题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86600" y="6070600"/>
            <a:ext cx="4076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可扩展性强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309350" y="5149850"/>
            <a:ext cx="4216400" cy="1231900"/>
          </a:xfrm>
          <a:custGeom>
            <a:avLst/>
            <a:gdLst/>
            <a:ahLst/>
            <a:cxnLst/>
            <a:rect l="l" t="t" r="r" b="b"/>
            <a:pathLst>
              <a:path w="4216400" h="1231900">
                <a:moveTo>
                  <a:pt x="0" y="0"/>
                </a:moveTo>
                <a:lnTo>
                  <a:pt x="4216400" y="0"/>
                </a:lnTo>
                <a:lnTo>
                  <a:pt x="4216400" y="1231900"/>
                </a:lnTo>
                <a:lnTo>
                  <a:pt x="0" y="1231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417300" y="5257800"/>
            <a:ext cx="408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典型算法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417300" y="5562600"/>
            <a:ext cx="4076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Funk-SVD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417300" y="5816600"/>
            <a:ext cx="4076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Bias-SVD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417300" y="6070600"/>
            <a:ext cx="4076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SVD++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762750" y="6813550"/>
            <a:ext cx="8978900" cy="1079500"/>
          </a:xfrm>
          <a:custGeom>
            <a:avLst/>
            <a:gdLst/>
            <a:ahLst/>
            <a:cxnLst/>
            <a:rect l="l" t="t" r="r" b="b"/>
            <a:pathLst>
              <a:path w="8978900" h="1079500">
                <a:moveTo>
                  <a:pt x="0" y="0"/>
                </a:moveTo>
                <a:lnTo>
                  <a:pt x="8978900" y="0"/>
                </a:lnTo>
                <a:lnTo>
                  <a:pt x="89789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0196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972300" y="7023100"/>
            <a:ext cx="866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Netflix Prize 案例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72300" y="7429500"/>
            <a:ext cx="864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Netflix 百万美元推荐算法竞赛中，矩阵分解方法是冠军方案的核心组件之一。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ae2d2d2c114ca01320bfd9914fba708e41a598c4.jpg"/>
          <p:cNvPicPr>
            <a:picLocks noChangeAspect="1"/>
          </p:cNvPicPr>
          <p:nvPr/>
        </p:nvPicPr>
        <p:blipFill>
          <a:blip r:embed="rId3">
            <a:alphaModFix amt="25000"/>
          </a:blip>
          <a:srcRect l="3111" r="3111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508000" y="2565400"/>
            <a:ext cx="160528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800" dirty="0">
                <a:solidFill>
                  <a:srgbClr val="3D8F8A">
                    <a:alpha val="3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8000" y="4394200"/>
            <a:ext cx="1569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微积分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5613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导数、偏导数与梯度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65278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1308100" cy="419100"/>
          </a:xfrm>
          <a:custGeom>
            <a:avLst/>
            <a:gdLst/>
            <a:ahLst/>
            <a:cxnLst/>
            <a:rect l="l" t="t" r="r" b="b"/>
            <a:pathLst>
              <a:path w="1308100" h="419100">
                <a:moveTo>
                  <a:pt x="0" y="0"/>
                </a:moveTo>
                <a:lnTo>
                  <a:pt x="1308100" y="0"/>
                </a:lnTo>
                <a:lnTo>
                  <a:pt x="130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3100" y="615950"/>
            <a:ext cx="1079798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CALCULUS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41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导数与偏导数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758950"/>
            <a:ext cx="7480300" cy="6083300"/>
          </a:xfrm>
          <a:custGeom>
            <a:avLst/>
            <a:gdLst/>
            <a:ahLst/>
            <a:cxnLst/>
            <a:rect l="l" t="t" r="r" b="b"/>
            <a:pathLst>
              <a:path w="7480300" h="6083300">
                <a:moveTo>
                  <a:pt x="0" y="0"/>
                </a:moveTo>
                <a:lnTo>
                  <a:pt x="7480300" y="0"/>
                </a:lnTo>
                <a:lnTo>
                  <a:pt x="7480300" y="6083300"/>
                </a:lnTo>
                <a:lnTo>
                  <a:pt x="0" y="60833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74700" y="2070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73720" y="2197100"/>
            <a:ext cx="53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f'(x)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36700" y="2019300"/>
            <a:ext cx="2247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导数 Derivative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36700" y="2425700"/>
            <a:ext cx="219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单变量函数的变化率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4700" y="3166467"/>
            <a:ext cx="706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定义：</a:t>
            </a: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函数在某一点的切线斜率，反映函数值的变化率。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4700" y="3962301"/>
            <a:ext cx="6959600" cy="660400"/>
          </a:xfrm>
          <a:custGeom>
            <a:avLst/>
            <a:gdLst/>
            <a:ahLst/>
            <a:cxnLst/>
            <a:rect l="l" t="t" r="r" b="b"/>
            <a:pathLst>
              <a:path w="6959600" h="660400">
                <a:moveTo>
                  <a:pt x="0" y="0"/>
                </a:moveTo>
                <a:lnTo>
                  <a:pt x="6959600" y="0"/>
                </a:lnTo>
                <a:lnTo>
                  <a:pt x="69596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69950" y="4114701"/>
            <a:ext cx="676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f'(x) = lim[h→0] (f(x+h) - f(x))/h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1050" y="5094684"/>
            <a:ext cx="6946900" cy="2247900"/>
          </a:xfrm>
          <a:custGeom>
            <a:avLst/>
            <a:gdLst/>
            <a:ahLst/>
            <a:cxnLst/>
            <a:rect l="l" t="t" r="r" b="b"/>
            <a:pathLst>
              <a:path w="6946900" h="2247900">
                <a:moveTo>
                  <a:pt x="0" y="0"/>
                </a:moveTo>
                <a:lnTo>
                  <a:pt x="6946900" y="0"/>
                </a:lnTo>
                <a:lnTo>
                  <a:pt x="694690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39800" y="5253434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几何意义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9800" y="5659834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6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斜率：</a:t>
            </a: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切线倾斜程度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9800" y="6066234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6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正导数：</a:t>
            </a: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函数递增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9800" y="6472634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6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负导数：</a:t>
            </a: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函数递减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9800" y="6879034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6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零导数：</a:t>
            </a: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极值点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61350" y="1758950"/>
            <a:ext cx="7480300" cy="6083300"/>
          </a:xfrm>
          <a:custGeom>
            <a:avLst/>
            <a:gdLst/>
            <a:ahLst/>
            <a:cxnLst/>
            <a:rect l="l" t="t" r="r" b="b"/>
            <a:pathLst>
              <a:path w="7480300" h="6083300">
                <a:moveTo>
                  <a:pt x="0" y="0"/>
                </a:moveTo>
                <a:lnTo>
                  <a:pt x="7480300" y="0"/>
                </a:lnTo>
                <a:lnTo>
                  <a:pt x="7480300" y="6083300"/>
                </a:lnTo>
                <a:lnTo>
                  <a:pt x="0" y="60833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521700" y="2070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28248" y="2197100"/>
            <a:ext cx="72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∂f/∂x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83700" y="2019300"/>
            <a:ext cx="353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偏导数 Partial Derivative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83700" y="2425700"/>
            <a:ext cx="347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多变量函数的变化率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21700" y="2933700"/>
            <a:ext cx="706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定义：</a:t>
            </a: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多元函数对其中一个变量求导，而将其他变量视为常数。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21700" y="3399334"/>
            <a:ext cx="6959600" cy="660400"/>
          </a:xfrm>
          <a:custGeom>
            <a:avLst/>
            <a:gdLst/>
            <a:ahLst/>
            <a:cxnLst/>
            <a:rect l="l" t="t" r="r" b="b"/>
            <a:pathLst>
              <a:path w="6959600" h="660400">
                <a:moveTo>
                  <a:pt x="0" y="0"/>
                </a:moveTo>
                <a:lnTo>
                  <a:pt x="6959600" y="0"/>
                </a:lnTo>
                <a:lnTo>
                  <a:pt x="69596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616950" y="3551734"/>
            <a:ext cx="676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∂f/∂x = lim[h→0] (f(x+h,y) - f(x,y))/h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28050" y="4201517"/>
            <a:ext cx="6946900" cy="1739900"/>
          </a:xfrm>
          <a:custGeom>
            <a:avLst/>
            <a:gdLst/>
            <a:ahLst/>
            <a:cxnLst/>
            <a:rect l="l" t="t" r="r" b="b"/>
            <a:pathLst>
              <a:path w="6946900" h="1739900">
                <a:moveTo>
                  <a:pt x="0" y="0"/>
                </a:moveTo>
                <a:lnTo>
                  <a:pt x="6946900" y="0"/>
                </a:lnTo>
                <a:lnTo>
                  <a:pt x="6946900" y="1739900"/>
                </a:lnTo>
                <a:lnTo>
                  <a:pt x="0" y="1739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686800" y="4360267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计算方法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86800" y="4766667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对 x 求偏导：将 y 看作常数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0" y="5122267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对 y 求偏导：将 x 看作常数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0" y="5477867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分别求出各个偏导数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28050" y="6089551"/>
            <a:ext cx="6946900" cy="1485900"/>
          </a:xfrm>
          <a:custGeom>
            <a:avLst/>
            <a:gdLst/>
            <a:ahLst/>
            <a:cxnLst/>
            <a:rect l="l" t="t" r="r" b="b"/>
            <a:pathLst>
              <a:path w="6946900" h="1485900">
                <a:moveTo>
                  <a:pt x="0" y="0"/>
                </a:moveTo>
                <a:lnTo>
                  <a:pt x="6946900" y="0"/>
                </a:lnTo>
                <a:lnTo>
                  <a:pt x="6946900" y="1485900"/>
                </a:lnTo>
                <a:lnTo>
                  <a:pt x="0" y="1485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686800" y="6248301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示例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86800" y="6654701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f(x,y) = x²y + xy²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86800" y="6908701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∂f/∂x = 2xy + y²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86800" y="7162701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∂f/∂y = x² + 2xy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14350" y="8058150"/>
            <a:ext cx="15227300" cy="571500"/>
          </a:xfrm>
          <a:custGeom>
            <a:avLst/>
            <a:gdLst/>
            <a:ahLst/>
            <a:cxnLst/>
            <a:rect l="l" t="t" r="r" b="b"/>
            <a:pathLst>
              <a:path w="15227300" h="571500">
                <a:moveTo>
                  <a:pt x="0" y="0"/>
                </a:moveTo>
                <a:lnTo>
                  <a:pt x="15227300" y="0"/>
                </a:lnTo>
                <a:lnTo>
                  <a:pt x="152273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0196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90563" y="82296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7300" y="42863"/>
                </a:moveTo>
                <a:cubicBezTo>
                  <a:pt x="179889" y="42863"/>
                  <a:pt x="172700" y="44872"/>
                  <a:pt x="166405" y="48533"/>
                </a:cubicBezTo>
                <a:cubicBezTo>
                  <a:pt x="159350" y="41389"/>
                  <a:pt x="151135" y="35406"/>
                  <a:pt x="142071" y="30897"/>
                </a:cubicBezTo>
                <a:cubicBezTo>
                  <a:pt x="154662" y="20181"/>
                  <a:pt x="170691" y="14288"/>
                  <a:pt x="187300" y="14288"/>
                </a:cubicBezTo>
                <a:cubicBezTo>
                  <a:pt x="225876" y="14288"/>
                  <a:pt x="257175" y="45541"/>
                  <a:pt x="257175" y="84162"/>
                </a:cubicBezTo>
                <a:cubicBezTo>
                  <a:pt x="257175" y="102691"/>
                  <a:pt x="249808" y="120461"/>
                  <a:pt x="236726" y="133543"/>
                </a:cubicBezTo>
                <a:lnTo>
                  <a:pt x="204981" y="165289"/>
                </a:lnTo>
                <a:cubicBezTo>
                  <a:pt x="191899" y="178371"/>
                  <a:pt x="174129" y="185738"/>
                  <a:pt x="155600" y="185738"/>
                </a:cubicBezTo>
                <a:cubicBezTo>
                  <a:pt x="117024" y="185738"/>
                  <a:pt x="85725" y="154484"/>
                  <a:pt x="85725" y="115863"/>
                </a:cubicBezTo>
                <a:cubicBezTo>
                  <a:pt x="85725" y="115193"/>
                  <a:pt x="85725" y="114523"/>
                  <a:pt x="85770" y="113854"/>
                </a:cubicBezTo>
                <a:cubicBezTo>
                  <a:pt x="85993" y="105951"/>
                  <a:pt x="92556" y="99745"/>
                  <a:pt x="100459" y="99968"/>
                </a:cubicBezTo>
                <a:cubicBezTo>
                  <a:pt x="108362" y="100191"/>
                  <a:pt x="114568" y="106754"/>
                  <a:pt x="114345" y="114657"/>
                </a:cubicBezTo>
                <a:cubicBezTo>
                  <a:pt x="114345" y="115059"/>
                  <a:pt x="114345" y="115461"/>
                  <a:pt x="114345" y="115818"/>
                </a:cubicBezTo>
                <a:cubicBezTo>
                  <a:pt x="114345" y="138633"/>
                  <a:pt x="132829" y="157118"/>
                  <a:pt x="155644" y="157118"/>
                </a:cubicBezTo>
                <a:cubicBezTo>
                  <a:pt x="166583" y="157118"/>
                  <a:pt x="177076" y="152787"/>
                  <a:pt x="184845" y="145018"/>
                </a:cubicBezTo>
                <a:lnTo>
                  <a:pt x="216590" y="113273"/>
                </a:lnTo>
                <a:cubicBezTo>
                  <a:pt x="224314" y="105549"/>
                  <a:pt x="228689" y="95012"/>
                  <a:pt x="228689" y="84073"/>
                </a:cubicBezTo>
                <a:cubicBezTo>
                  <a:pt x="228689" y="61258"/>
                  <a:pt x="210205" y="42773"/>
                  <a:pt x="187389" y="42773"/>
                </a:cubicBezTo>
                <a:close/>
                <a:moveTo>
                  <a:pt x="122873" y="77376"/>
                </a:moveTo>
                <a:cubicBezTo>
                  <a:pt x="122024" y="77019"/>
                  <a:pt x="121176" y="76527"/>
                  <a:pt x="120417" y="75992"/>
                </a:cubicBezTo>
                <a:cubicBezTo>
                  <a:pt x="114791" y="73089"/>
                  <a:pt x="108362" y="71438"/>
                  <a:pt x="101620" y="71438"/>
                </a:cubicBezTo>
                <a:cubicBezTo>
                  <a:pt x="90681" y="71438"/>
                  <a:pt x="80189" y="75768"/>
                  <a:pt x="72420" y="83537"/>
                </a:cubicBezTo>
                <a:lnTo>
                  <a:pt x="40675" y="115282"/>
                </a:lnTo>
                <a:cubicBezTo>
                  <a:pt x="32951" y="123006"/>
                  <a:pt x="28575" y="133543"/>
                  <a:pt x="28575" y="144482"/>
                </a:cubicBezTo>
                <a:cubicBezTo>
                  <a:pt x="28575" y="167298"/>
                  <a:pt x="47059" y="185782"/>
                  <a:pt x="69875" y="185782"/>
                </a:cubicBezTo>
                <a:cubicBezTo>
                  <a:pt x="77242" y="185782"/>
                  <a:pt x="84430" y="183818"/>
                  <a:pt x="90726" y="180156"/>
                </a:cubicBezTo>
                <a:cubicBezTo>
                  <a:pt x="97780" y="187300"/>
                  <a:pt x="105995" y="193283"/>
                  <a:pt x="115104" y="197793"/>
                </a:cubicBezTo>
                <a:cubicBezTo>
                  <a:pt x="102513" y="208464"/>
                  <a:pt x="86529" y="214402"/>
                  <a:pt x="69875" y="214402"/>
                </a:cubicBezTo>
                <a:cubicBezTo>
                  <a:pt x="31299" y="214402"/>
                  <a:pt x="0" y="183148"/>
                  <a:pt x="0" y="144527"/>
                </a:cubicBezTo>
                <a:cubicBezTo>
                  <a:pt x="0" y="125998"/>
                  <a:pt x="7367" y="108228"/>
                  <a:pt x="20449" y="95146"/>
                </a:cubicBezTo>
                <a:lnTo>
                  <a:pt x="52194" y="63401"/>
                </a:lnTo>
                <a:cubicBezTo>
                  <a:pt x="65276" y="50319"/>
                  <a:pt x="83046" y="42952"/>
                  <a:pt x="101575" y="42952"/>
                </a:cubicBezTo>
                <a:cubicBezTo>
                  <a:pt x="140241" y="42952"/>
                  <a:pt x="171450" y="74474"/>
                  <a:pt x="171450" y="113005"/>
                </a:cubicBezTo>
                <a:cubicBezTo>
                  <a:pt x="171450" y="113586"/>
                  <a:pt x="171450" y="114166"/>
                  <a:pt x="171450" y="114746"/>
                </a:cubicBezTo>
                <a:cubicBezTo>
                  <a:pt x="171271" y="122649"/>
                  <a:pt x="164708" y="128855"/>
                  <a:pt x="156805" y="128677"/>
                </a:cubicBezTo>
                <a:cubicBezTo>
                  <a:pt x="148903" y="128498"/>
                  <a:pt x="142696" y="121935"/>
                  <a:pt x="142875" y="114032"/>
                </a:cubicBezTo>
                <a:cubicBezTo>
                  <a:pt x="142875" y="113675"/>
                  <a:pt x="142875" y="113362"/>
                  <a:pt x="142875" y="113005"/>
                </a:cubicBezTo>
                <a:cubicBezTo>
                  <a:pt x="142875" y="97959"/>
                  <a:pt x="134838" y="84743"/>
                  <a:pt x="122873" y="77465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111250" y="821690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联系：偏导数是梯度的组成部分，多个偏导数构成梯度向量，指向函数增长最快的方向。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ng.pngtree.com/91a1be34ce456b08412120de70af73bf227400a3.jpg"/>
          <p:cNvPicPr>
            <a:picLocks noChangeAspect="1"/>
          </p:cNvPicPr>
          <p:nvPr/>
        </p:nvPicPr>
        <p:blipFill>
          <a:blip r:embed="rId3">
            <a:alphaModFix amt="25000"/>
          </a:blip>
          <a:srcRect t="21875" b="2187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508000" y="2565400"/>
            <a:ext cx="160528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800" dirty="0">
                <a:solidFill>
                  <a:srgbClr val="3D8F8A">
                    <a:alpha val="3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8000" y="4394200"/>
            <a:ext cx="1569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信息论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5613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信息论入门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65278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2438400" cy="419100"/>
          </a:xfrm>
          <a:custGeom>
            <a:avLst/>
            <a:gdLst/>
            <a:ahLst/>
            <a:cxnLst/>
            <a:rect l="l" t="t" r="r" b="b"/>
            <a:pathLst>
              <a:path w="2438400" h="419100">
                <a:moveTo>
                  <a:pt x="0" y="0"/>
                </a:moveTo>
                <a:lnTo>
                  <a:pt x="2438400" y="0"/>
                </a:lnTo>
                <a:lnTo>
                  <a:pt x="24384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3100" y="615950"/>
            <a:ext cx="221148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INFORMATION THEORY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41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信息熵 (Entropy)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758950"/>
            <a:ext cx="5981700" cy="3416300"/>
          </a:xfrm>
          <a:custGeom>
            <a:avLst/>
            <a:gdLst/>
            <a:ahLst/>
            <a:cxnLst/>
            <a:rect l="l" t="t" r="r" b="b"/>
            <a:pathLst>
              <a:path w="5981700" h="3416300">
                <a:moveTo>
                  <a:pt x="0" y="0"/>
                </a:moveTo>
                <a:lnTo>
                  <a:pt x="5981700" y="0"/>
                </a:lnTo>
                <a:lnTo>
                  <a:pt x="59817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23900" y="2295525"/>
            <a:ext cx="568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3900" y="2803525"/>
            <a:ext cx="56769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信息熵用于</a:t>
            </a:r>
            <a:r>
              <a:rPr lang="en-US" sz="18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度量随机变量的不确定性</a:t>
            </a: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。熵越大，不确定性越大，包含的信息量越多。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0250" y="3705225"/>
            <a:ext cx="5549900" cy="927100"/>
          </a:xfrm>
          <a:custGeom>
            <a:avLst/>
            <a:gdLst/>
            <a:ahLst/>
            <a:cxnLst/>
            <a:rect l="l" t="t" r="r" b="b"/>
            <a:pathLst>
              <a:path w="5549900" h="927100">
                <a:moveTo>
                  <a:pt x="0" y="0"/>
                </a:moveTo>
                <a:lnTo>
                  <a:pt x="5549900" y="0"/>
                </a:lnTo>
                <a:lnTo>
                  <a:pt x="5549900" y="927100"/>
                </a:lnTo>
                <a:lnTo>
                  <a:pt x="0" y="927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89000" y="3863975"/>
            <a:ext cx="533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"一个事件的不确定性越高，它发生时所提供的信息量就越大。"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4350" y="5391150"/>
            <a:ext cx="5981700" cy="3416300"/>
          </a:xfrm>
          <a:custGeom>
            <a:avLst/>
            <a:gdLst/>
            <a:ahLst/>
            <a:cxnLst/>
            <a:rect l="l" t="t" r="r" b="b"/>
            <a:pathLst>
              <a:path w="5981700" h="3416300">
                <a:moveTo>
                  <a:pt x="0" y="0"/>
                </a:moveTo>
                <a:lnTo>
                  <a:pt x="5981700" y="0"/>
                </a:lnTo>
                <a:lnTo>
                  <a:pt x="59817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23900" y="5676900"/>
            <a:ext cx="568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数学定义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3900" y="6184900"/>
            <a:ext cx="566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对于离散随机变量 X，其信息熵定义为：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3900" y="6591300"/>
            <a:ext cx="5562600" cy="812800"/>
          </a:xfrm>
          <a:custGeom>
            <a:avLst/>
            <a:gdLst/>
            <a:ahLst/>
            <a:cxnLst/>
            <a:rect l="l" t="t" r="r" b="b"/>
            <a:pathLst>
              <a:path w="5562600" h="812800">
                <a:moveTo>
                  <a:pt x="0" y="0"/>
                </a:moveTo>
                <a:lnTo>
                  <a:pt x="5562600" y="0"/>
                </a:lnTo>
                <a:lnTo>
                  <a:pt x="55626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50900" y="6794500"/>
            <a:ext cx="5308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H(X) = -Σ pᵢ log₂ pᵢ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3900" y="7556500"/>
            <a:ext cx="565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pᵢ：第 i 个事件发生的概率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3900" y="7912100"/>
            <a:ext cx="565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log₂：以 2 为底的对数，单位为比特（bit）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3900" y="8267700"/>
            <a:ext cx="565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负号：确保熵值为正（因为 log pᵢ &lt; 0）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62750" y="1758950"/>
            <a:ext cx="8978900" cy="4330700"/>
          </a:xfrm>
          <a:custGeom>
            <a:avLst/>
            <a:gdLst/>
            <a:ahLst/>
            <a:cxnLst/>
            <a:rect l="l" t="t" r="r" b="b"/>
            <a:pathLst>
              <a:path w="8978900" h="4330700">
                <a:moveTo>
                  <a:pt x="0" y="0"/>
                </a:moveTo>
                <a:lnTo>
                  <a:pt x="8978900" y="0"/>
                </a:lnTo>
                <a:lnTo>
                  <a:pt x="8978900" y="4330700"/>
                </a:lnTo>
                <a:lnTo>
                  <a:pt x="0" y="43307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972300" y="1968500"/>
            <a:ext cx="868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直观理解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78650" y="2482850"/>
            <a:ext cx="8547100" cy="1638300"/>
          </a:xfrm>
          <a:custGeom>
            <a:avLst/>
            <a:gdLst/>
            <a:ahLst/>
            <a:cxnLst/>
            <a:rect l="l" t="t" r="r" b="b"/>
            <a:pathLst>
              <a:path w="8547100" h="1638300">
                <a:moveTo>
                  <a:pt x="0" y="0"/>
                </a:moveTo>
                <a:lnTo>
                  <a:pt x="8547100" y="0"/>
                </a:lnTo>
                <a:lnTo>
                  <a:pt x="8547100" y="1638300"/>
                </a:lnTo>
                <a:lnTo>
                  <a:pt x="0" y="16383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137400" y="2641600"/>
            <a:ext cx="831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极端情况1：确定性事件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7400" y="2946400"/>
            <a:ext cx="831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若 p₁ = 1，其他 pᵢ = 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37400" y="3251200"/>
            <a:ext cx="8229600" cy="457200"/>
          </a:xfrm>
          <a:custGeom>
            <a:avLst/>
            <a:gdLst/>
            <a:ahLst/>
            <a:cxnLst/>
            <a:rect l="l" t="t" r="r" b="b"/>
            <a:pathLst>
              <a:path w="8229600" h="457200">
                <a:moveTo>
                  <a:pt x="0" y="0"/>
                </a:moveTo>
                <a:lnTo>
                  <a:pt x="8229600" y="0"/>
                </a:lnTo>
                <a:lnTo>
                  <a:pt x="8229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194550" y="3352800"/>
            <a:ext cx="811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H(X) = -1·log₂1 = 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7400" y="3759200"/>
            <a:ext cx="830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结论：</a:t>
            </a: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确定性事件的熵为 0（无不确定性）。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78650" y="4235450"/>
            <a:ext cx="8547100" cy="1638300"/>
          </a:xfrm>
          <a:custGeom>
            <a:avLst/>
            <a:gdLst/>
            <a:ahLst/>
            <a:cxnLst/>
            <a:rect l="l" t="t" r="r" b="b"/>
            <a:pathLst>
              <a:path w="8547100" h="1638300">
                <a:moveTo>
                  <a:pt x="0" y="0"/>
                </a:moveTo>
                <a:lnTo>
                  <a:pt x="8547100" y="0"/>
                </a:lnTo>
                <a:lnTo>
                  <a:pt x="8547100" y="1638300"/>
                </a:lnTo>
                <a:lnTo>
                  <a:pt x="0" y="16383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137400" y="4394200"/>
            <a:ext cx="831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极端情况2：均匀分布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7400" y="4699000"/>
            <a:ext cx="831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若有 n 个等概率事件，pᵢ = 1/n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37400" y="5003800"/>
            <a:ext cx="8229600" cy="457200"/>
          </a:xfrm>
          <a:custGeom>
            <a:avLst/>
            <a:gdLst/>
            <a:ahLst/>
            <a:cxnLst/>
            <a:rect l="l" t="t" r="r" b="b"/>
            <a:pathLst>
              <a:path w="8229600" h="457200">
                <a:moveTo>
                  <a:pt x="0" y="0"/>
                </a:moveTo>
                <a:lnTo>
                  <a:pt x="8229600" y="0"/>
                </a:lnTo>
                <a:lnTo>
                  <a:pt x="8229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194550" y="5105400"/>
            <a:ext cx="811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H(X) = log₂n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37400" y="5511800"/>
            <a:ext cx="830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结论：</a:t>
            </a: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等概率事件的不确定性最大。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62750" y="6305550"/>
            <a:ext cx="8978900" cy="2501900"/>
          </a:xfrm>
          <a:custGeom>
            <a:avLst/>
            <a:gdLst/>
            <a:ahLst/>
            <a:cxnLst/>
            <a:rect l="l" t="t" r="r" b="b"/>
            <a:pathLst>
              <a:path w="8978900" h="2501900">
                <a:moveTo>
                  <a:pt x="0" y="0"/>
                </a:moveTo>
                <a:lnTo>
                  <a:pt x="8978900" y="0"/>
                </a:lnTo>
                <a:lnTo>
                  <a:pt x="8978900" y="2501900"/>
                </a:lnTo>
                <a:lnTo>
                  <a:pt x="0" y="25019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972300" y="6515100"/>
            <a:ext cx="868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机器学习中的应用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978650" y="7029450"/>
            <a:ext cx="8547100" cy="723900"/>
          </a:xfrm>
          <a:custGeom>
            <a:avLst/>
            <a:gdLst/>
            <a:ahLst/>
            <a:cxnLst/>
            <a:rect l="l" t="t" r="r" b="b"/>
            <a:pathLst>
              <a:path w="8547100" h="723900">
                <a:moveTo>
                  <a:pt x="0" y="0"/>
                </a:moveTo>
                <a:lnTo>
                  <a:pt x="8547100" y="0"/>
                </a:lnTo>
                <a:lnTo>
                  <a:pt x="85471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086600" y="7137400"/>
            <a:ext cx="842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决策树算法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86600" y="7442200"/>
            <a:ext cx="840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 ID3、C4.5 等算法中，用熵衡量样本集合的纯度。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978650" y="7867650"/>
            <a:ext cx="8547100" cy="723900"/>
          </a:xfrm>
          <a:custGeom>
            <a:avLst/>
            <a:gdLst/>
            <a:ahLst/>
            <a:cxnLst/>
            <a:rect l="l" t="t" r="r" b="b"/>
            <a:pathLst>
              <a:path w="8547100" h="723900">
                <a:moveTo>
                  <a:pt x="0" y="0"/>
                </a:moveTo>
                <a:lnTo>
                  <a:pt x="8547100" y="0"/>
                </a:lnTo>
                <a:lnTo>
                  <a:pt x="85471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086600" y="7975600"/>
            <a:ext cx="842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信息增益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6600" y="8280400"/>
            <a:ext cx="840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通过计算划分前后的熵变化，选择最优划分特征。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2247900" cy="419100"/>
          </a:xfrm>
          <a:custGeom>
            <a:avLst/>
            <a:gdLst/>
            <a:ahLst/>
            <a:cxnLst/>
            <a:rect l="l" t="t" r="r" b="b"/>
            <a:pathLst>
              <a:path w="2247900" h="419100">
                <a:moveTo>
                  <a:pt x="0" y="0"/>
                </a:moveTo>
                <a:lnTo>
                  <a:pt x="2247900" y="0"/>
                </a:lnTo>
                <a:lnTo>
                  <a:pt x="22479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3100" y="615950"/>
            <a:ext cx="202108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FEATURE SELECTION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41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信息增益 (Information Gain)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758950"/>
            <a:ext cx="5981700" cy="3327400"/>
          </a:xfrm>
          <a:custGeom>
            <a:avLst/>
            <a:gdLst/>
            <a:ahLst/>
            <a:cxnLst/>
            <a:rect l="l" t="t" r="r" b="b"/>
            <a:pathLst>
              <a:path w="5981700" h="3327400">
                <a:moveTo>
                  <a:pt x="0" y="0"/>
                </a:moveTo>
                <a:lnTo>
                  <a:pt x="5981700" y="0"/>
                </a:lnTo>
                <a:lnTo>
                  <a:pt x="5981700" y="3327400"/>
                </a:lnTo>
                <a:lnTo>
                  <a:pt x="0" y="33274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23900" y="2251075"/>
            <a:ext cx="568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3900" y="2759075"/>
            <a:ext cx="56769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信息增益表示</a:t>
            </a:r>
            <a:r>
              <a:rPr lang="en-US" sz="18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在得知特征 A 的信息后，类 Y 的信息不确定性减少的程度</a:t>
            </a: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0250" y="3660775"/>
            <a:ext cx="5549900" cy="927100"/>
          </a:xfrm>
          <a:custGeom>
            <a:avLst/>
            <a:gdLst/>
            <a:ahLst/>
            <a:cxnLst/>
            <a:rect l="l" t="t" r="r" b="b"/>
            <a:pathLst>
              <a:path w="5549900" h="927100">
                <a:moveTo>
                  <a:pt x="0" y="0"/>
                </a:moveTo>
                <a:lnTo>
                  <a:pt x="5549900" y="0"/>
                </a:lnTo>
                <a:lnTo>
                  <a:pt x="5549900" y="927100"/>
                </a:lnTo>
                <a:lnTo>
                  <a:pt x="0" y="927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89000" y="3819525"/>
            <a:ext cx="533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"一个特征的信息增益越大，意味着它越能帮助我们准确分类。"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4350" y="5302250"/>
            <a:ext cx="5981700" cy="3327400"/>
          </a:xfrm>
          <a:custGeom>
            <a:avLst/>
            <a:gdLst/>
            <a:ahLst/>
            <a:cxnLst/>
            <a:rect l="l" t="t" r="r" b="b"/>
            <a:pathLst>
              <a:path w="5981700" h="3327400">
                <a:moveTo>
                  <a:pt x="0" y="0"/>
                </a:moveTo>
                <a:lnTo>
                  <a:pt x="5981700" y="0"/>
                </a:lnTo>
                <a:lnTo>
                  <a:pt x="5981700" y="3327400"/>
                </a:lnTo>
                <a:lnTo>
                  <a:pt x="0" y="33274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23900" y="5746750"/>
            <a:ext cx="568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数学定义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3900" y="6254750"/>
            <a:ext cx="5562600" cy="812800"/>
          </a:xfrm>
          <a:custGeom>
            <a:avLst/>
            <a:gdLst/>
            <a:ahLst/>
            <a:cxnLst/>
            <a:rect l="l" t="t" r="r" b="b"/>
            <a:pathLst>
              <a:path w="5562600" h="812800">
                <a:moveTo>
                  <a:pt x="0" y="0"/>
                </a:moveTo>
                <a:lnTo>
                  <a:pt x="5562600" y="0"/>
                </a:lnTo>
                <a:lnTo>
                  <a:pt x="55626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50900" y="6457950"/>
            <a:ext cx="5308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IG(Y, A) = H(Y) - H(Y|A)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3900" y="7219950"/>
            <a:ext cx="565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H(Y)：原始样本集合的熵（不确定性）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3900" y="7575550"/>
            <a:ext cx="565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H(Y|A)：已知特征 A 后的条件熵（剩余不确定性）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3900" y="7931150"/>
            <a:ext cx="565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IG(Y, A)：信息增益（不确定性减少量）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62750" y="1758950"/>
            <a:ext cx="8978900" cy="4102100"/>
          </a:xfrm>
          <a:custGeom>
            <a:avLst/>
            <a:gdLst/>
            <a:ahLst/>
            <a:cxnLst/>
            <a:rect l="l" t="t" r="r" b="b"/>
            <a:pathLst>
              <a:path w="8978900" h="4102100">
                <a:moveTo>
                  <a:pt x="0" y="0"/>
                </a:moveTo>
                <a:lnTo>
                  <a:pt x="8978900" y="0"/>
                </a:lnTo>
                <a:lnTo>
                  <a:pt x="8978900" y="4102100"/>
                </a:lnTo>
                <a:lnTo>
                  <a:pt x="0" y="41021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972300" y="1968500"/>
            <a:ext cx="868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计算步骤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78650" y="2482850"/>
            <a:ext cx="8547100" cy="977900"/>
          </a:xfrm>
          <a:custGeom>
            <a:avLst/>
            <a:gdLst/>
            <a:ahLst/>
            <a:cxnLst/>
            <a:rect l="l" t="t" r="r" b="b"/>
            <a:pathLst>
              <a:path w="8547100" h="977900">
                <a:moveTo>
                  <a:pt x="0" y="0"/>
                </a:moveTo>
                <a:lnTo>
                  <a:pt x="8547100" y="0"/>
                </a:lnTo>
                <a:lnTo>
                  <a:pt x="85471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086600" y="2590800"/>
            <a:ext cx="842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步骤1：计算原始熵 H(Y)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86600" y="2895600"/>
            <a:ext cx="8331200" cy="457200"/>
          </a:xfrm>
          <a:custGeom>
            <a:avLst/>
            <a:gdLst/>
            <a:ahLst/>
            <a:cxnLst/>
            <a:rect l="l" t="t" r="r" b="b"/>
            <a:pathLst>
              <a:path w="8331200" h="457200">
                <a:moveTo>
                  <a:pt x="0" y="0"/>
                </a:moveTo>
                <a:lnTo>
                  <a:pt x="8331200" y="0"/>
                </a:lnTo>
                <a:lnTo>
                  <a:pt x="8331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143750" y="2997200"/>
            <a:ext cx="821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H(Y) = -Σ P(y) log₂ P(y)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78650" y="3575050"/>
            <a:ext cx="8547100" cy="977900"/>
          </a:xfrm>
          <a:custGeom>
            <a:avLst/>
            <a:gdLst/>
            <a:ahLst/>
            <a:cxnLst/>
            <a:rect l="l" t="t" r="r" b="b"/>
            <a:pathLst>
              <a:path w="8547100" h="977900">
                <a:moveTo>
                  <a:pt x="0" y="0"/>
                </a:moveTo>
                <a:lnTo>
                  <a:pt x="8547100" y="0"/>
                </a:lnTo>
                <a:lnTo>
                  <a:pt x="85471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086600" y="3683000"/>
            <a:ext cx="842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步骤2：计算条件熵 H(Y|A)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86600" y="3987800"/>
            <a:ext cx="8331200" cy="457200"/>
          </a:xfrm>
          <a:custGeom>
            <a:avLst/>
            <a:gdLst/>
            <a:ahLst/>
            <a:cxnLst/>
            <a:rect l="l" t="t" r="r" b="b"/>
            <a:pathLst>
              <a:path w="8331200" h="457200">
                <a:moveTo>
                  <a:pt x="0" y="0"/>
                </a:moveTo>
                <a:lnTo>
                  <a:pt x="8331200" y="0"/>
                </a:lnTo>
                <a:lnTo>
                  <a:pt x="8331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143750" y="4089400"/>
            <a:ext cx="821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H(Y|A) = Σ P(a) H(Y|A=a)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78650" y="4667250"/>
            <a:ext cx="8547100" cy="977900"/>
          </a:xfrm>
          <a:custGeom>
            <a:avLst/>
            <a:gdLst/>
            <a:ahLst/>
            <a:cxnLst/>
            <a:rect l="l" t="t" r="r" b="b"/>
            <a:pathLst>
              <a:path w="8547100" h="977900">
                <a:moveTo>
                  <a:pt x="0" y="0"/>
                </a:moveTo>
                <a:lnTo>
                  <a:pt x="8547100" y="0"/>
                </a:lnTo>
                <a:lnTo>
                  <a:pt x="854710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086600" y="4775200"/>
            <a:ext cx="842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步骤3：计算信息增益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86600" y="5080000"/>
            <a:ext cx="8331200" cy="457200"/>
          </a:xfrm>
          <a:custGeom>
            <a:avLst/>
            <a:gdLst/>
            <a:ahLst/>
            <a:cxnLst/>
            <a:rect l="l" t="t" r="r" b="b"/>
            <a:pathLst>
              <a:path w="8331200" h="457200">
                <a:moveTo>
                  <a:pt x="0" y="0"/>
                </a:moveTo>
                <a:lnTo>
                  <a:pt x="8331200" y="0"/>
                </a:lnTo>
                <a:lnTo>
                  <a:pt x="8331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143750" y="5181600"/>
            <a:ext cx="821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IG = H(Y) - H(Y|A)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62750" y="6076950"/>
            <a:ext cx="8978900" cy="2501900"/>
          </a:xfrm>
          <a:custGeom>
            <a:avLst/>
            <a:gdLst/>
            <a:ahLst/>
            <a:cxnLst/>
            <a:rect l="l" t="t" r="r" b="b"/>
            <a:pathLst>
              <a:path w="8978900" h="2501900">
                <a:moveTo>
                  <a:pt x="0" y="0"/>
                </a:moveTo>
                <a:lnTo>
                  <a:pt x="8978900" y="0"/>
                </a:lnTo>
                <a:lnTo>
                  <a:pt x="8978900" y="2501900"/>
                </a:lnTo>
                <a:lnTo>
                  <a:pt x="0" y="25019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972300" y="6286500"/>
            <a:ext cx="868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决策树中的应用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78650" y="6800850"/>
            <a:ext cx="8547100" cy="723900"/>
          </a:xfrm>
          <a:custGeom>
            <a:avLst/>
            <a:gdLst/>
            <a:ahLst/>
            <a:cxnLst/>
            <a:rect l="l" t="t" r="r" b="b"/>
            <a:pathLst>
              <a:path w="8547100" h="723900">
                <a:moveTo>
                  <a:pt x="0" y="0"/>
                </a:moveTo>
                <a:lnTo>
                  <a:pt x="8547100" y="0"/>
                </a:lnTo>
                <a:lnTo>
                  <a:pt x="85471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086600" y="6908800"/>
            <a:ext cx="842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特征选择策略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86600" y="7213600"/>
            <a:ext cx="840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计算每个特征的信息增益，选择增益最大的特征进行划分。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78650" y="7639050"/>
            <a:ext cx="8547100" cy="723900"/>
          </a:xfrm>
          <a:custGeom>
            <a:avLst/>
            <a:gdLst/>
            <a:ahLst/>
            <a:cxnLst/>
            <a:rect l="l" t="t" r="r" b="b"/>
            <a:pathLst>
              <a:path w="8547100" h="723900">
                <a:moveTo>
                  <a:pt x="0" y="0"/>
                </a:moveTo>
                <a:lnTo>
                  <a:pt x="8547100" y="0"/>
                </a:lnTo>
                <a:lnTo>
                  <a:pt x="85471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7086600" y="7747000"/>
            <a:ext cx="842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优势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86600" y="8051800"/>
            <a:ext cx="840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能够处理离散和连续特征，对数据类型无严格要求，解释性强。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785" y="508785"/>
            <a:ext cx="1645700" cy="414566"/>
          </a:xfrm>
          <a:custGeom>
            <a:avLst/>
            <a:gdLst/>
            <a:ahLst/>
            <a:cxnLst/>
            <a:rect l="l" t="t" r="r" b="b"/>
            <a:pathLst>
              <a:path w="1645700" h="414566">
                <a:moveTo>
                  <a:pt x="0" y="0"/>
                </a:moveTo>
                <a:lnTo>
                  <a:pt x="1645700" y="0"/>
                </a:lnTo>
                <a:lnTo>
                  <a:pt x="1645700" y="414566"/>
                </a:lnTo>
                <a:lnTo>
                  <a:pt x="0" y="414566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5818" y="609286"/>
            <a:ext cx="1413587" cy="232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kern="0" spc="6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504" y="1030133"/>
            <a:ext cx="15477119" cy="50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6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梯度 (Gradient)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785" y="1739920"/>
            <a:ext cx="5992359" cy="3178337"/>
          </a:xfrm>
          <a:custGeom>
            <a:avLst/>
            <a:gdLst/>
            <a:ahLst/>
            <a:cxnLst/>
            <a:rect l="l" t="t" r="r" b="b"/>
            <a:pathLst>
              <a:path w="5992359" h="3178337">
                <a:moveTo>
                  <a:pt x="0" y="0"/>
                </a:moveTo>
                <a:lnTo>
                  <a:pt x="5992359" y="0"/>
                </a:lnTo>
                <a:lnTo>
                  <a:pt x="5992359" y="3178337"/>
                </a:lnTo>
                <a:lnTo>
                  <a:pt x="0" y="3178337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16068" y="1947202"/>
            <a:ext cx="5703419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数学定义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6068" y="2449706"/>
            <a:ext cx="5678294" cy="603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对于多元函数 f(x₁, x₂, ..., xₙ)，其在某一点的梯度是一个向量，由所有偏导数构成：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6068" y="3203462"/>
            <a:ext cx="5577793" cy="1105509"/>
          </a:xfrm>
          <a:custGeom>
            <a:avLst/>
            <a:gdLst/>
            <a:ahLst/>
            <a:cxnLst/>
            <a:rect l="l" t="t" r="r" b="b"/>
            <a:pathLst>
              <a:path w="5577793" h="1105509">
                <a:moveTo>
                  <a:pt x="0" y="0"/>
                </a:moveTo>
                <a:lnTo>
                  <a:pt x="5577793" y="0"/>
                </a:lnTo>
                <a:lnTo>
                  <a:pt x="5577793" y="1105509"/>
                </a:lnTo>
                <a:lnTo>
                  <a:pt x="0" y="110550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54257" y="3404464"/>
            <a:ext cx="5301416" cy="70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78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∇f = [∂f/∂x₁, ∂f/∂x₂, ..., ∂f/∂xₙ]ᵀ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6068" y="4459722"/>
            <a:ext cx="5665731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记法：</a:t>
            </a:r>
            <a:r>
              <a:rPr lang="en-US" sz="138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∇f 读作 "nabla f" 或 "del f"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785" y="5131821"/>
            <a:ext cx="5992359" cy="4007468"/>
          </a:xfrm>
          <a:custGeom>
            <a:avLst/>
            <a:gdLst/>
            <a:ahLst/>
            <a:cxnLst/>
            <a:rect l="l" t="t" r="r" b="b"/>
            <a:pathLst>
              <a:path w="5992359" h="4007468">
                <a:moveTo>
                  <a:pt x="0" y="0"/>
                </a:moveTo>
                <a:lnTo>
                  <a:pt x="5992359" y="0"/>
                </a:lnTo>
                <a:lnTo>
                  <a:pt x="5992359" y="4007468"/>
                </a:lnTo>
                <a:lnTo>
                  <a:pt x="0" y="4007468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16068" y="5339104"/>
            <a:ext cx="5703419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几何意义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2349" y="5847889"/>
            <a:ext cx="5565230" cy="917070"/>
          </a:xfrm>
          <a:custGeom>
            <a:avLst/>
            <a:gdLst/>
            <a:ahLst/>
            <a:cxnLst/>
            <a:rect l="l" t="t" r="r" b="b"/>
            <a:pathLst>
              <a:path w="5565230" h="917070">
                <a:moveTo>
                  <a:pt x="0" y="0"/>
                </a:moveTo>
                <a:lnTo>
                  <a:pt x="5565230" y="0"/>
                </a:lnTo>
                <a:lnTo>
                  <a:pt x="5565230" y="917070"/>
                </a:lnTo>
                <a:lnTo>
                  <a:pt x="0" y="91707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79382" y="6004921"/>
            <a:ext cx="5351666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梯度方向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9382" y="6356674"/>
            <a:ext cx="5339104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函数值增长最快的方向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2349" y="6928272"/>
            <a:ext cx="5565230" cy="917070"/>
          </a:xfrm>
          <a:custGeom>
            <a:avLst/>
            <a:gdLst/>
            <a:ahLst/>
            <a:cxnLst/>
            <a:rect l="l" t="t" r="r" b="b"/>
            <a:pathLst>
              <a:path w="5565230" h="917070">
                <a:moveTo>
                  <a:pt x="0" y="0"/>
                </a:moveTo>
                <a:lnTo>
                  <a:pt x="5565230" y="0"/>
                </a:lnTo>
                <a:lnTo>
                  <a:pt x="5565230" y="917070"/>
                </a:lnTo>
                <a:lnTo>
                  <a:pt x="0" y="91707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79382" y="7085304"/>
            <a:ext cx="5351666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负梯度方向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9382" y="7437057"/>
            <a:ext cx="5339104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函数值下降最快的方向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2349" y="8008655"/>
            <a:ext cx="5565230" cy="917070"/>
          </a:xfrm>
          <a:custGeom>
            <a:avLst/>
            <a:gdLst/>
            <a:ahLst/>
            <a:cxnLst/>
            <a:rect l="l" t="t" r="r" b="b"/>
            <a:pathLst>
              <a:path w="5565230" h="917070">
                <a:moveTo>
                  <a:pt x="0" y="0"/>
                </a:moveTo>
                <a:lnTo>
                  <a:pt x="5565230" y="0"/>
                </a:lnTo>
                <a:lnTo>
                  <a:pt x="5565230" y="917070"/>
                </a:lnTo>
                <a:lnTo>
                  <a:pt x="0" y="91707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79382" y="8165688"/>
            <a:ext cx="5351666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梯度大小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9382" y="8517440"/>
            <a:ext cx="5339104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表示函数值变化的速度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61032" y="1739920"/>
            <a:ext cx="8994819" cy="4283845"/>
          </a:xfrm>
          <a:custGeom>
            <a:avLst/>
            <a:gdLst/>
            <a:ahLst/>
            <a:cxnLst/>
            <a:rect l="l" t="t" r="r" b="b"/>
            <a:pathLst>
              <a:path w="8994819" h="4283845">
                <a:moveTo>
                  <a:pt x="0" y="0"/>
                </a:moveTo>
                <a:lnTo>
                  <a:pt x="8994819" y="0"/>
                </a:lnTo>
                <a:lnTo>
                  <a:pt x="8994819" y="4283845"/>
                </a:lnTo>
                <a:lnTo>
                  <a:pt x="0" y="4283845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968315" y="1947202"/>
            <a:ext cx="8705879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机器学习中的应用：梯度下降法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74597" y="2455988"/>
            <a:ext cx="8567691" cy="2474832"/>
          </a:xfrm>
          <a:custGeom>
            <a:avLst/>
            <a:gdLst/>
            <a:ahLst/>
            <a:cxnLst/>
            <a:rect l="l" t="t" r="r" b="b"/>
            <a:pathLst>
              <a:path w="8567691" h="2474832">
                <a:moveTo>
                  <a:pt x="0" y="0"/>
                </a:moveTo>
                <a:lnTo>
                  <a:pt x="8567691" y="0"/>
                </a:lnTo>
                <a:lnTo>
                  <a:pt x="8567691" y="2474832"/>
                </a:lnTo>
                <a:lnTo>
                  <a:pt x="0" y="2474832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131629" y="2613020"/>
            <a:ext cx="8354127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梯度下降法 (Gradient Descent)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1629" y="3015023"/>
            <a:ext cx="8341564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机器学习中最常用的优化算法，用于最小化损失函数。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131629" y="3366776"/>
            <a:ext cx="8253626" cy="452253"/>
          </a:xfrm>
          <a:custGeom>
            <a:avLst/>
            <a:gdLst/>
            <a:ahLst/>
            <a:cxnLst/>
            <a:rect l="l" t="t" r="r" b="b"/>
            <a:pathLst>
              <a:path w="8253626" h="452253">
                <a:moveTo>
                  <a:pt x="0" y="0"/>
                </a:moveTo>
                <a:lnTo>
                  <a:pt x="8253626" y="0"/>
                </a:lnTo>
                <a:lnTo>
                  <a:pt x="8253626" y="452253"/>
                </a:lnTo>
                <a:lnTo>
                  <a:pt x="0" y="45225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188161" y="3467277"/>
            <a:ext cx="8140563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θ := θ - α·∇J(θ)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1629" y="3919530"/>
            <a:ext cx="8341564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θ：模型参数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31629" y="4221032"/>
            <a:ext cx="8341564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α：学习率（步长）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31629" y="4522535"/>
            <a:ext cx="8341564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J(θ)：损失函数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74597" y="5094133"/>
            <a:ext cx="2776334" cy="716068"/>
          </a:xfrm>
          <a:custGeom>
            <a:avLst/>
            <a:gdLst/>
            <a:ahLst/>
            <a:cxnLst/>
            <a:rect l="l" t="t" r="r" b="b"/>
            <a:pathLst>
              <a:path w="2776334" h="716068">
                <a:moveTo>
                  <a:pt x="0" y="0"/>
                </a:moveTo>
                <a:lnTo>
                  <a:pt x="2776334" y="0"/>
                </a:lnTo>
                <a:lnTo>
                  <a:pt x="2776334" y="716068"/>
                </a:lnTo>
                <a:lnTo>
                  <a:pt x="0" y="716068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7081379" y="5200915"/>
            <a:ext cx="2650708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批量梯度下降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81379" y="5502417"/>
            <a:ext cx="2638145" cy="201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使用全部样本计算梯度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866153" y="5094133"/>
            <a:ext cx="2776334" cy="716068"/>
          </a:xfrm>
          <a:custGeom>
            <a:avLst/>
            <a:gdLst/>
            <a:ahLst/>
            <a:cxnLst/>
            <a:rect l="l" t="t" r="r" b="b"/>
            <a:pathLst>
              <a:path w="2776334" h="716068">
                <a:moveTo>
                  <a:pt x="0" y="0"/>
                </a:moveTo>
                <a:lnTo>
                  <a:pt x="2776334" y="0"/>
                </a:lnTo>
                <a:lnTo>
                  <a:pt x="2776334" y="716068"/>
                </a:lnTo>
                <a:lnTo>
                  <a:pt x="0" y="716068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972935" y="5200915"/>
            <a:ext cx="2650708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随机梯度下降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972935" y="5502417"/>
            <a:ext cx="2638145" cy="201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使用单个样本计算梯度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757808" y="5094133"/>
            <a:ext cx="2776334" cy="716068"/>
          </a:xfrm>
          <a:custGeom>
            <a:avLst/>
            <a:gdLst/>
            <a:ahLst/>
            <a:cxnLst/>
            <a:rect l="l" t="t" r="r" b="b"/>
            <a:pathLst>
              <a:path w="2776334" h="716068">
                <a:moveTo>
                  <a:pt x="0" y="0"/>
                </a:moveTo>
                <a:lnTo>
                  <a:pt x="2776334" y="0"/>
                </a:lnTo>
                <a:lnTo>
                  <a:pt x="2776334" y="716068"/>
                </a:lnTo>
                <a:lnTo>
                  <a:pt x="0" y="716068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2864590" y="5200915"/>
            <a:ext cx="2650708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小批量梯度下降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864590" y="5502417"/>
            <a:ext cx="2638145" cy="201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7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使用小批量样本计算梯度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761032" y="6237329"/>
            <a:ext cx="8994819" cy="1319073"/>
          </a:xfrm>
          <a:custGeom>
            <a:avLst/>
            <a:gdLst/>
            <a:ahLst/>
            <a:cxnLst/>
            <a:rect l="l" t="t" r="r" b="b"/>
            <a:pathLst>
              <a:path w="8994819" h="1319073">
                <a:moveTo>
                  <a:pt x="0" y="0"/>
                </a:moveTo>
                <a:lnTo>
                  <a:pt x="8994819" y="0"/>
                </a:lnTo>
                <a:lnTo>
                  <a:pt x="8994819" y="1319073"/>
                </a:lnTo>
                <a:lnTo>
                  <a:pt x="0" y="1319073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0196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968315" y="6444612"/>
            <a:ext cx="8680754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应用广泛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68315" y="6846615"/>
            <a:ext cx="8668192" cy="50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线性回归、逻辑回归、神经网络等大多数机器学习模型都使用梯度下降或其变种（如Adam、RMSprop）进行优化。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2832100" cy="419100"/>
          </a:xfrm>
          <a:custGeom>
            <a:avLst/>
            <a:gdLst/>
            <a:ahLst/>
            <a:cxnLst/>
            <a:rect l="l" t="t" r="r" b="b"/>
            <a:pathLst>
              <a:path w="2832100" h="419100">
                <a:moveTo>
                  <a:pt x="0" y="0"/>
                </a:moveTo>
                <a:lnTo>
                  <a:pt x="2832100" y="0"/>
                </a:lnTo>
                <a:lnTo>
                  <a:pt x="2832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3100" y="615950"/>
            <a:ext cx="2597348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OPTIMIZATION ALGORITHM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41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梯度下降法原理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758950"/>
            <a:ext cx="5981700" cy="3327400"/>
          </a:xfrm>
          <a:custGeom>
            <a:avLst/>
            <a:gdLst/>
            <a:ahLst/>
            <a:cxnLst/>
            <a:rect l="l" t="t" r="r" b="b"/>
            <a:pathLst>
              <a:path w="5981700" h="3327400">
                <a:moveTo>
                  <a:pt x="0" y="0"/>
                </a:moveTo>
                <a:lnTo>
                  <a:pt x="5981700" y="0"/>
                </a:lnTo>
                <a:lnTo>
                  <a:pt x="5981700" y="3327400"/>
                </a:lnTo>
                <a:lnTo>
                  <a:pt x="0" y="33274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23900" y="2403475"/>
            <a:ext cx="568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3900" y="2911475"/>
            <a:ext cx="56769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沿着损失函数的</a:t>
            </a:r>
            <a:r>
              <a:rPr lang="en-US" sz="18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负梯度方向</a:t>
            </a:r>
            <a:r>
              <a:rPr lang="en-US" sz="18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不断调整参数，直到找到最小值或收敛。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0250" y="3813175"/>
            <a:ext cx="5549900" cy="622300"/>
          </a:xfrm>
          <a:custGeom>
            <a:avLst/>
            <a:gdLst/>
            <a:ahLst/>
            <a:cxnLst/>
            <a:rect l="l" t="t" r="r" b="b"/>
            <a:pathLst>
              <a:path w="5549900" h="622300">
                <a:moveTo>
                  <a:pt x="0" y="0"/>
                </a:moveTo>
                <a:lnTo>
                  <a:pt x="5549900" y="0"/>
                </a:lnTo>
                <a:lnTo>
                  <a:pt x="5549900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89000" y="3971925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"沿着最陡的下降方向走，最终能到达山谷的最低点。"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4350" y="5302250"/>
            <a:ext cx="5981700" cy="3327400"/>
          </a:xfrm>
          <a:custGeom>
            <a:avLst/>
            <a:gdLst/>
            <a:ahLst/>
            <a:cxnLst/>
            <a:rect l="l" t="t" r="r" b="b"/>
            <a:pathLst>
              <a:path w="5981700" h="3327400">
                <a:moveTo>
                  <a:pt x="0" y="0"/>
                </a:moveTo>
                <a:lnTo>
                  <a:pt x="5981700" y="0"/>
                </a:lnTo>
                <a:lnTo>
                  <a:pt x="5981700" y="3327400"/>
                </a:lnTo>
                <a:lnTo>
                  <a:pt x="0" y="33274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23900" y="5848350"/>
            <a:ext cx="568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算法步骤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3900" y="6356350"/>
            <a:ext cx="17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5371" y="6356350"/>
            <a:ext cx="219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初始化：随机初始化参数 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3900" y="6762750"/>
            <a:ext cx="21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9701" y="676275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计算梯度：计算损失函数 J(θ) 关于参数 θ 的梯度 ∇J(θ)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3900" y="7169150"/>
            <a:ext cx="21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5059" y="716915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更新参数：θ := θ - α·∇J(θ)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3900" y="7575550"/>
            <a:ext cx="21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4662" y="7575550"/>
            <a:ext cx="543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判断收敛：如果梯度足够小或达到最大迭代次数，停止；否则返回步骤2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62750" y="1758950"/>
            <a:ext cx="8978900" cy="3517900"/>
          </a:xfrm>
          <a:custGeom>
            <a:avLst/>
            <a:gdLst/>
            <a:ahLst/>
            <a:cxnLst/>
            <a:rect l="l" t="t" r="r" b="b"/>
            <a:pathLst>
              <a:path w="8978900" h="3517900">
                <a:moveTo>
                  <a:pt x="0" y="0"/>
                </a:moveTo>
                <a:lnTo>
                  <a:pt x="8978900" y="0"/>
                </a:lnTo>
                <a:lnTo>
                  <a:pt x="8978900" y="3517900"/>
                </a:lnTo>
                <a:lnTo>
                  <a:pt x="0" y="35179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972300" y="1968500"/>
            <a:ext cx="868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可视化理解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78650" y="2482850"/>
            <a:ext cx="4191000" cy="1689100"/>
          </a:xfrm>
          <a:custGeom>
            <a:avLst/>
            <a:gdLst/>
            <a:ahLst/>
            <a:cxnLst/>
            <a:rect l="l" t="t" r="r" b="b"/>
            <a:pathLst>
              <a:path w="4191000" h="1689100">
                <a:moveTo>
                  <a:pt x="0" y="0"/>
                </a:moveTo>
                <a:lnTo>
                  <a:pt x="4191000" y="0"/>
                </a:lnTo>
                <a:lnTo>
                  <a:pt x="4191000" y="1689100"/>
                </a:lnTo>
                <a:lnTo>
                  <a:pt x="0" y="1689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540750" y="26416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损失函数曲面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37400" y="2997200"/>
            <a:ext cx="3873500" cy="1016000"/>
          </a:xfrm>
          <a:custGeom>
            <a:avLst/>
            <a:gdLst/>
            <a:ahLst/>
            <a:cxnLst/>
            <a:rect l="l" t="t" r="r" b="b"/>
            <a:pathLst>
              <a:path w="3873500" h="1016000">
                <a:moveTo>
                  <a:pt x="0" y="0"/>
                </a:moveTo>
                <a:lnTo>
                  <a:pt x="3873500" y="0"/>
                </a:lnTo>
                <a:lnTo>
                  <a:pt x="38735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D8F8A"/>
              </a:gs>
              <a:gs pos="100000">
                <a:srgbClr val="1A1D21"/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540750" y="3403600"/>
            <a:ext cx="114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高低起伏的山地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334750" y="2482850"/>
            <a:ext cx="4191000" cy="1689100"/>
          </a:xfrm>
          <a:custGeom>
            <a:avLst/>
            <a:gdLst/>
            <a:ahLst/>
            <a:cxnLst/>
            <a:rect l="l" t="t" r="r" b="b"/>
            <a:pathLst>
              <a:path w="4191000" h="1689100">
                <a:moveTo>
                  <a:pt x="0" y="0"/>
                </a:moveTo>
                <a:lnTo>
                  <a:pt x="4191000" y="0"/>
                </a:lnTo>
                <a:lnTo>
                  <a:pt x="4191000" y="1689100"/>
                </a:lnTo>
                <a:lnTo>
                  <a:pt x="0" y="1689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2896850" y="26416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参数更新路径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499850" y="3003550"/>
            <a:ext cx="3860800" cy="1003300"/>
          </a:xfrm>
          <a:custGeom>
            <a:avLst/>
            <a:gdLst/>
            <a:ahLst/>
            <a:cxnLst/>
            <a:rect l="l" t="t" r="r" b="b"/>
            <a:pathLst>
              <a:path w="3860800" h="1003300">
                <a:moveTo>
                  <a:pt x="0" y="0"/>
                </a:moveTo>
                <a:lnTo>
                  <a:pt x="3860800" y="0"/>
                </a:lnTo>
                <a:lnTo>
                  <a:pt x="3860800" y="1003300"/>
                </a:lnTo>
                <a:lnTo>
                  <a:pt x="0" y="10033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2820650" y="3403600"/>
            <a:ext cx="1295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沿着最陡路径下降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78650" y="4337050"/>
            <a:ext cx="2768600" cy="723900"/>
          </a:xfrm>
          <a:custGeom>
            <a:avLst/>
            <a:gdLst/>
            <a:ahLst/>
            <a:cxnLst/>
            <a:rect l="l" t="t" r="r" b="b"/>
            <a:pathLst>
              <a:path w="2768600" h="723900">
                <a:moveTo>
                  <a:pt x="0" y="0"/>
                </a:moveTo>
                <a:lnTo>
                  <a:pt x="2768600" y="0"/>
                </a:lnTo>
                <a:lnTo>
                  <a:pt x="27686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086600" y="4445000"/>
            <a:ext cx="264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学习率 α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86600" y="4749800"/>
            <a:ext cx="2628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控制步长大小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865717" y="4337050"/>
            <a:ext cx="2768600" cy="723900"/>
          </a:xfrm>
          <a:custGeom>
            <a:avLst/>
            <a:gdLst/>
            <a:ahLst/>
            <a:cxnLst/>
            <a:rect l="l" t="t" r="r" b="b"/>
            <a:pathLst>
              <a:path w="2768600" h="723900">
                <a:moveTo>
                  <a:pt x="0" y="0"/>
                </a:moveTo>
                <a:lnTo>
                  <a:pt x="2768600" y="0"/>
                </a:lnTo>
                <a:lnTo>
                  <a:pt x="27686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973667" y="4445000"/>
            <a:ext cx="264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局部最小值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973667" y="4749800"/>
            <a:ext cx="2628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梯度为零的点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752884" y="4337050"/>
            <a:ext cx="2768600" cy="723900"/>
          </a:xfrm>
          <a:custGeom>
            <a:avLst/>
            <a:gdLst/>
            <a:ahLst/>
            <a:cxnLst/>
            <a:rect l="l" t="t" r="r" b="b"/>
            <a:pathLst>
              <a:path w="2768600" h="723900">
                <a:moveTo>
                  <a:pt x="0" y="0"/>
                </a:moveTo>
                <a:lnTo>
                  <a:pt x="2768600" y="0"/>
                </a:lnTo>
                <a:lnTo>
                  <a:pt x="27686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2860834" y="4445000"/>
            <a:ext cx="264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收敛条件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860834" y="4749800"/>
            <a:ext cx="2628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梯度接近零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762750" y="5492750"/>
            <a:ext cx="8978900" cy="2501900"/>
          </a:xfrm>
          <a:custGeom>
            <a:avLst/>
            <a:gdLst/>
            <a:ahLst/>
            <a:cxnLst/>
            <a:rect l="l" t="t" r="r" b="b"/>
            <a:pathLst>
              <a:path w="8978900" h="2501900">
                <a:moveTo>
                  <a:pt x="0" y="0"/>
                </a:moveTo>
                <a:lnTo>
                  <a:pt x="8978900" y="0"/>
                </a:lnTo>
                <a:lnTo>
                  <a:pt x="8978900" y="2501900"/>
                </a:lnTo>
                <a:lnTo>
                  <a:pt x="0" y="25019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972300" y="5702300"/>
            <a:ext cx="868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挑战与解决方案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978650" y="6216650"/>
            <a:ext cx="8547100" cy="723900"/>
          </a:xfrm>
          <a:custGeom>
            <a:avLst/>
            <a:gdLst/>
            <a:ahLst/>
            <a:cxnLst/>
            <a:rect l="l" t="t" r="r" b="b"/>
            <a:pathLst>
              <a:path w="8547100" h="723900">
                <a:moveTo>
                  <a:pt x="0" y="0"/>
                </a:moveTo>
                <a:lnTo>
                  <a:pt x="8547100" y="0"/>
                </a:lnTo>
                <a:lnTo>
                  <a:pt x="85471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086600" y="6324600"/>
            <a:ext cx="842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局部最小值 vs 全局最小值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86600" y="6629400"/>
            <a:ext cx="840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策略：随机初始化、模拟退火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978650" y="7054850"/>
            <a:ext cx="8547100" cy="723900"/>
          </a:xfrm>
          <a:custGeom>
            <a:avLst/>
            <a:gdLst/>
            <a:ahLst/>
            <a:cxnLst/>
            <a:rect l="l" t="t" r="r" b="b"/>
            <a:pathLst>
              <a:path w="8547100" h="723900">
                <a:moveTo>
                  <a:pt x="0" y="0"/>
                </a:moveTo>
                <a:lnTo>
                  <a:pt x="8547100" y="0"/>
                </a:lnTo>
                <a:lnTo>
                  <a:pt x="85471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7086600" y="7162800"/>
            <a:ext cx="842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学习率选择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86600" y="7467600"/>
            <a:ext cx="840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太大：震荡；太小：收敛慢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3.ftcdn.net/a8d1beeb9246c51254489fe206bccbd9eac346f1.jpg"/>
          <p:cNvPicPr>
            <a:picLocks noChangeAspect="1"/>
          </p:cNvPicPr>
          <p:nvPr/>
        </p:nvPicPr>
        <p:blipFill>
          <a:blip r:embed="rId3">
            <a:alphaModFix amt="25000"/>
          </a:blip>
          <a:srcRect t="78" b="78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508000" y="2565400"/>
            <a:ext cx="160528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800" dirty="0">
                <a:solidFill>
                  <a:srgbClr val="3D8F8A">
                    <a:alpha val="3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8000" y="4394200"/>
            <a:ext cx="1569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总结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5613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知识体系与展望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65278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4807" y="484807"/>
            <a:ext cx="1185084" cy="395028"/>
          </a:xfrm>
          <a:custGeom>
            <a:avLst/>
            <a:gdLst/>
            <a:ahLst/>
            <a:cxnLst/>
            <a:rect l="l" t="t" r="r" b="b"/>
            <a:pathLst>
              <a:path w="1185084" h="395028">
                <a:moveTo>
                  <a:pt x="0" y="0"/>
                </a:moveTo>
                <a:lnTo>
                  <a:pt x="1185084" y="0"/>
                </a:lnTo>
                <a:lnTo>
                  <a:pt x="1185084" y="395028"/>
                </a:lnTo>
                <a:lnTo>
                  <a:pt x="0" y="395028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34439" y="580571"/>
            <a:ext cx="971859" cy="221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kern="0" spc="66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8822" y="981585"/>
            <a:ext cx="15513826" cy="478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93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机器学习数学知识体系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4807" y="1657920"/>
            <a:ext cx="7541443" cy="3327811"/>
          </a:xfrm>
          <a:custGeom>
            <a:avLst/>
            <a:gdLst/>
            <a:ahLst/>
            <a:cxnLst/>
            <a:rect l="l" t="t" r="r" b="b"/>
            <a:pathLst>
              <a:path w="7541443" h="3327811">
                <a:moveTo>
                  <a:pt x="0" y="0"/>
                </a:moveTo>
                <a:lnTo>
                  <a:pt x="7541443" y="0"/>
                </a:lnTo>
                <a:lnTo>
                  <a:pt x="7541443" y="3327811"/>
                </a:lnTo>
                <a:lnTo>
                  <a:pt x="0" y="3327811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82321" y="1855434"/>
            <a:ext cx="478822" cy="478822"/>
          </a:xfrm>
          <a:custGeom>
            <a:avLst/>
            <a:gdLst/>
            <a:ahLst/>
            <a:cxnLst/>
            <a:rect l="l" t="t" r="r" b="b"/>
            <a:pathLst>
              <a:path w="478822" h="478822">
                <a:moveTo>
                  <a:pt x="47882" y="0"/>
                </a:moveTo>
                <a:lnTo>
                  <a:pt x="430940" y="0"/>
                </a:lnTo>
                <a:cubicBezTo>
                  <a:pt x="457384" y="0"/>
                  <a:pt x="478822" y="21438"/>
                  <a:pt x="478822" y="47882"/>
                </a:cubicBezTo>
                <a:lnTo>
                  <a:pt x="478822" y="430940"/>
                </a:lnTo>
                <a:cubicBezTo>
                  <a:pt x="478822" y="457384"/>
                  <a:pt x="457384" y="478822"/>
                  <a:pt x="430940" y="478822"/>
                </a:cubicBezTo>
                <a:lnTo>
                  <a:pt x="47882" y="478822"/>
                </a:lnTo>
                <a:cubicBezTo>
                  <a:pt x="21438" y="478822"/>
                  <a:pt x="0" y="457384"/>
                  <a:pt x="0" y="430940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02027" y="1927258"/>
            <a:ext cx="359116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4789" y="1927258"/>
            <a:ext cx="1077349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线性代数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8306" y="2483888"/>
            <a:ext cx="7134445" cy="682321"/>
          </a:xfrm>
          <a:custGeom>
            <a:avLst/>
            <a:gdLst/>
            <a:ahLst/>
            <a:cxnLst/>
            <a:rect l="l" t="t" r="r" b="b"/>
            <a:pathLst>
              <a:path w="7134445" h="682321">
                <a:moveTo>
                  <a:pt x="0" y="0"/>
                </a:moveTo>
                <a:lnTo>
                  <a:pt x="7134445" y="0"/>
                </a:lnTo>
                <a:lnTo>
                  <a:pt x="7134445" y="682321"/>
                </a:lnTo>
                <a:lnTo>
                  <a:pt x="0" y="682321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90056" y="2585638"/>
            <a:ext cx="7014739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向量与矩阵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0056" y="2872931"/>
            <a:ext cx="7002769" cy="191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数据表示、线性变换、神经网络权重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8306" y="3273944"/>
            <a:ext cx="7134445" cy="682321"/>
          </a:xfrm>
          <a:custGeom>
            <a:avLst/>
            <a:gdLst/>
            <a:ahLst/>
            <a:cxnLst/>
            <a:rect l="l" t="t" r="r" b="b"/>
            <a:pathLst>
              <a:path w="7134445" h="682321">
                <a:moveTo>
                  <a:pt x="0" y="0"/>
                </a:moveTo>
                <a:lnTo>
                  <a:pt x="7134445" y="0"/>
                </a:lnTo>
                <a:lnTo>
                  <a:pt x="7134445" y="682321"/>
                </a:lnTo>
                <a:lnTo>
                  <a:pt x="0" y="682321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90056" y="3375694"/>
            <a:ext cx="7014739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特征值与特征向量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0056" y="3662987"/>
            <a:ext cx="7002769" cy="191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PCA降维、主成分提取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8306" y="4064000"/>
            <a:ext cx="7134445" cy="682321"/>
          </a:xfrm>
          <a:custGeom>
            <a:avLst/>
            <a:gdLst/>
            <a:ahLst/>
            <a:cxnLst/>
            <a:rect l="l" t="t" r="r" b="b"/>
            <a:pathLst>
              <a:path w="7134445" h="682321">
                <a:moveTo>
                  <a:pt x="0" y="0"/>
                </a:moveTo>
                <a:lnTo>
                  <a:pt x="7134445" y="0"/>
                </a:lnTo>
                <a:lnTo>
                  <a:pt x="7134445" y="682321"/>
                </a:lnTo>
                <a:lnTo>
                  <a:pt x="0" y="682321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90056" y="4165750"/>
            <a:ext cx="7014739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SVD分解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0056" y="4453043"/>
            <a:ext cx="7002769" cy="191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矩阵分解、推荐系统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31059" y="1657920"/>
            <a:ext cx="7541443" cy="3327811"/>
          </a:xfrm>
          <a:custGeom>
            <a:avLst/>
            <a:gdLst/>
            <a:ahLst/>
            <a:cxnLst/>
            <a:rect l="l" t="t" r="r" b="b"/>
            <a:pathLst>
              <a:path w="7541443" h="3327811">
                <a:moveTo>
                  <a:pt x="0" y="0"/>
                </a:moveTo>
                <a:lnTo>
                  <a:pt x="7541443" y="0"/>
                </a:lnTo>
                <a:lnTo>
                  <a:pt x="7541443" y="3327811"/>
                </a:lnTo>
                <a:lnTo>
                  <a:pt x="0" y="3327811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428573" y="1855434"/>
            <a:ext cx="478822" cy="478822"/>
          </a:xfrm>
          <a:custGeom>
            <a:avLst/>
            <a:gdLst/>
            <a:ahLst/>
            <a:cxnLst/>
            <a:rect l="l" t="t" r="r" b="b"/>
            <a:pathLst>
              <a:path w="478822" h="478822">
                <a:moveTo>
                  <a:pt x="47882" y="0"/>
                </a:moveTo>
                <a:lnTo>
                  <a:pt x="430940" y="0"/>
                </a:lnTo>
                <a:cubicBezTo>
                  <a:pt x="457384" y="0"/>
                  <a:pt x="478822" y="21438"/>
                  <a:pt x="478822" y="47882"/>
                </a:cubicBezTo>
                <a:lnTo>
                  <a:pt x="478822" y="430940"/>
                </a:lnTo>
                <a:cubicBezTo>
                  <a:pt x="478822" y="457384"/>
                  <a:pt x="457384" y="478822"/>
                  <a:pt x="430940" y="478822"/>
                </a:cubicBezTo>
                <a:lnTo>
                  <a:pt x="47882" y="478822"/>
                </a:lnTo>
                <a:cubicBezTo>
                  <a:pt x="21438" y="478822"/>
                  <a:pt x="0" y="457384"/>
                  <a:pt x="0" y="430940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548278" y="1927258"/>
            <a:ext cx="359116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51041" y="1927258"/>
            <a:ext cx="1077349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概率统计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34558" y="2483888"/>
            <a:ext cx="7134445" cy="682321"/>
          </a:xfrm>
          <a:custGeom>
            <a:avLst/>
            <a:gdLst/>
            <a:ahLst/>
            <a:cxnLst/>
            <a:rect l="l" t="t" r="r" b="b"/>
            <a:pathLst>
              <a:path w="7134445" h="682321">
                <a:moveTo>
                  <a:pt x="0" y="0"/>
                </a:moveTo>
                <a:lnTo>
                  <a:pt x="7134445" y="0"/>
                </a:lnTo>
                <a:lnTo>
                  <a:pt x="7134445" y="682321"/>
                </a:lnTo>
                <a:lnTo>
                  <a:pt x="0" y="682321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536308" y="2585638"/>
            <a:ext cx="7014739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期望、方差、协方差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36308" y="2872931"/>
            <a:ext cx="7002769" cy="191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数据分布特征、相关性分析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34558" y="3273944"/>
            <a:ext cx="7134445" cy="682321"/>
          </a:xfrm>
          <a:custGeom>
            <a:avLst/>
            <a:gdLst/>
            <a:ahLst/>
            <a:cxnLst/>
            <a:rect l="l" t="t" r="r" b="b"/>
            <a:pathLst>
              <a:path w="7134445" h="682321">
                <a:moveTo>
                  <a:pt x="0" y="0"/>
                </a:moveTo>
                <a:lnTo>
                  <a:pt x="7134445" y="0"/>
                </a:lnTo>
                <a:lnTo>
                  <a:pt x="7134445" y="682321"/>
                </a:lnTo>
                <a:lnTo>
                  <a:pt x="0" y="682321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36308" y="3375694"/>
            <a:ext cx="7014739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概率分布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36308" y="3662987"/>
            <a:ext cx="7002769" cy="191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伯努利分布、正态分布建模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34558" y="4064000"/>
            <a:ext cx="7134445" cy="682321"/>
          </a:xfrm>
          <a:custGeom>
            <a:avLst/>
            <a:gdLst/>
            <a:ahLst/>
            <a:cxnLst/>
            <a:rect l="l" t="t" r="r" b="b"/>
            <a:pathLst>
              <a:path w="7134445" h="682321">
                <a:moveTo>
                  <a:pt x="0" y="0"/>
                </a:moveTo>
                <a:lnTo>
                  <a:pt x="7134445" y="0"/>
                </a:lnTo>
                <a:lnTo>
                  <a:pt x="7134445" y="682321"/>
                </a:lnTo>
                <a:lnTo>
                  <a:pt x="0" y="682321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536308" y="4165750"/>
            <a:ext cx="7014739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最大似然估计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36308" y="4453043"/>
            <a:ext cx="7002769" cy="191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参数估计、模型训练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4807" y="5193347"/>
            <a:ext cx="7541443" cy="3248134"/>
          </a:xfrm>
          <a:custGeom>
            <a:avLst/>
            <a:gdLst/>
            <a:ahLst/>
            <a:cxnLst/>
            <a:rect l="l" t="t" r="r" b="b"/>
            <a:pathLst>
              <a:path w="7541443" h="3327811">
                <a:moveTo>
                  <a:pt x="0" y="0"/>
                </a:moveTo>
                <a:lnTo>
                  <a:pt x="7541443" y="0"/>
                </a:lnTo>
                <a:lnTo>
                  <a:pt x="7541443" y="3327811"/>
                </a:lnTo>
                <a:lnTo>
                  <a:pt x="0" y="3327811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82321" y="5390860"/>
            <a:ext cx="478822" cy="478822"/>
          </a:xfrm>
          <a:custGeom>
            <a:avLst/>
            <a:gdLst/>
            <a:ahLst/>
            <a:cxnLst/>
            <a:rect l="l" t="t" r="r" b="b"/>
            <a:pathLst>
              <a:path w="478822" h="478822">
                <a:moveTo>
                  <a:pt x="47882" y="0"/>
                </a:moveTo>
                <a:lnTo>
                  <a:pt x="430940" y="0"/>
                </a:lnTo>
                <a:cubicBezTo>
                  <a:pt x="457384" y="0"/>
                  <a:pt x="478822" y="21438"/>
                  <a:pt x="478822" y="47882"/>
                </a:cubicBezTo>
                <a:lnTo>
                  <a:pt x="478822" y="430940"/>
                </a:lnTo>
                <a:cubicBezTo>
                  <a:pt x="478822" y="457384"/>
                  <a:pt x="457384" y="478822"/>
                  <a:pt x="430940" y="478822"/>
                </a:cubicBezTo>
                <a:lnTo>
                  <a:pt x="47882" y="478822"/>
                </a:lnTo>
                <a:cubicBezTo>
                  <a:pt x="21438" y="478822"/>
                  <a:pt x="0" y="457384"/>
                  <a:pt x="0" y="430940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02027" y="5462683"/>
            <a:ext cx="359116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③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04789" y="5462683"/>
            <a:ext cx="837938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信息论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8306" y="6019314"/>
            <a:ext cx="7134445" cy="682321"/>
          </a:xfrm>
          <a:custGeom>
            <a:avLst/>
            <a:gdLst/>
            <a:ahLst/>
            <a:cxnLst/>
            <a:rect l="l" t="t" r="r" b="b"/>
            <a:pathLst>
              <a:path w="7134445" h="682321">
                <a:moveTo>
                  <a:pt x="0" y="0"/>
                </a:moveTo>
                <a:lnTo>
                  <a:pt x="7134445" y="0"/>
                </a:lnTo>
                <a:lnTo>
                  <a:pt x="7134445" y="682321"/>
                </a:lnTo>
                <a:lnTo>
                  <a:pt x="0" y="682321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90056" y="6121063"/>
            <a:ext cx="7014739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信息熵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0056" y="6408356"/>
            <a:ext cx="7002769" cy="191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不确定性度量、决策树纯度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8306" y="6809370"/>
            <a:ext cx="7134445" cy="682321"/>
          </a:xfrm>
          <a:custGeom>
            <a:avLst/>
            <a:gdLst/>
            <a:ahLst/>
            <a:cxnLst/>
            <a:rect l="l" t="t" r="r" b="b"/>
            <a:pathLst>
              <a:path w="7134445" h="682321">
                <a:moveTo>
                  <a:pt x="0" y="0"/>
                </a:moveTo>
                <a:lnTo>
                  <a:pt x="7134445" y="0"/>
                </a:lnTo>
                <a:lnTo>
                  <a:pt x="7134445" y="682321"/>
                </a:lnTo>
                <a:lnTo>
                  <a:pt x="0" y="682321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90056" y="6911119"/>
            <a:ext cx="7014739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信息增益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90056" y="7198412"/>
            <a:ext cx="7002769" cy="191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特征选择、决策树划分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31059" y="5193347"/>
            <a:ext cx="7541443" cy="3248134"/>
          </a:xfrm>
          <a:custGeom>
            <a:avLst/>
            <a:gdLst/>
            <a:ahLst/>
            <a:cxnLst/>
            <a:rect l="l" t="t" r="r" b="b"/>
            <a:pathLst>
              <a:path w="7541443" h="3327811">
                <a:moveTo>
                  <a:pt x="0" y="0"/>
                </a:moveTo>
                <a:lnTo>
                  <a:pt x="7541443" y="0"/>
                </a:lnTo>
                <a:lnTo>
                  <a:pt x="7541443" y="3327811"/>
                </a:lnTo>
                <a:lnTo>
                  <a:pt x="0" y="3327811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428573" y="5390860"/>
            <a:ext cx="478822" cy="478822"/>
          </a:xfrm>
          <a:custGeom>
            <a:avLst/>
            <a:gdLst/>
            <a:ahLst/>
            <a:cxnLst/>
            <a:rect l="l" t="t" r="r" b="b"/>
            <a:pathLst>
              <a:path w="478822" h="478822">
                <a:moveTo>
                  <a:pt x="47882" y="0"/>
                </a:moveTo>
                <a:lnTo>
                  <a:pt x="430940" y="0"/>
                </a:lnTo>
                <a:cubicBezTo>
                  <a:pt x="457384" y="0"/>
                  <a:pt x="478822" y="21438"/>
                  <a:pt x="478822" y="47882"/>
                </a:cubicBezTo>
                <a:lnTo>
                  <a:pt x="478822" y="430940"/>
                </a:lnTo>
                <a:cubicBezTo>
                  <a:pt x="478822" y="457384"/>
                  <a:pt x="457384" y="478822"/>
                  <a:pt x="430940" y="478822"/>
                </a:cubicBezTo>
                <a:lnTo>
                  <a:pt x="47882" y="478822"/>
                </a:lnTo>
                <a:cubicBezTo>
                  <a:pt x="21438" y="478822"/>
                  <a:pt x="0" y="457384"/>
                  <a:pt x="0" y="430940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548278" y="5462683"/>
            <a:ext cx="359116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④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051041" y="5462683"/>
            <a:ext cx="837938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微积分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34558" y="6019314"/>
            <a:ext cx="7134445" cy="682321"/>
          </a:xfrm>
          <a:custGeom>
            <a:avLst/>
            <a:gdLst/>
            <a:ahLst/>
            <a:cxnLst/>
            <a:rect l="l" t="t" r="r" b="b"/>
            <a:pathLst>
              <a:path w="7134445" h="682321">
                <a:moveTo>
                  <a:pt x="0" y="0"/>
                </a:moveTo>
                <a:lnTo>
                  <a:pt x="7134445" y="0"/>
                </a:lnTo>
                <a:lnTo>
                  <a:pt x="7134445" y="682321"/>
                </a:lnTo>
                <a:lnTo>
                  <a:pt x="0" y="682321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536308" y="6121063"/>
            <a:ext cx="7014739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导数与偏导数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36308" y="6408356"/>
            <a:ext cx="7002769" cy="191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函数变化率、优化基础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34558" y="6809370"/>
            <a:ext cx="7134445" cy="682321"/>
          </a:xfrm>
          <a:custGeom>
            <a:avLst/>
            <a:gdLst/>
            <a:ahLst/>
            <a:cxnLst/>
            <a:rect l="l" t="t" r="r" b="b"/>
            <a:pathLst>
              <a:path w="7134445" h="682321">
                <a:moveTo>
                  <a:pt x="0" y="0"/>
                </a:moveTo>
                <a:lnTo>
                  <a:pt x="7134445" y="0"/>
                </a:lnTo>
                <a:lnTo>
                  <a:pt x="7134445" y="682321"/>
                </a:lnTo>
                <a:lnTo>
                  <a:pt x="0" y="682321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536308" y="6911119"/>
            <a:ext cx="7014739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梯度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536308" y="7198412"/>
            <a:ext cx="7002769" cy="191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最速上升方向、梯度下降法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434558" y="7599426"/>
            <a:ext cx="7134445" cy="682321"/>
          </a:xfrm>
          <a:custGeom>
            <a:avLst/>
            <a:gdLst/>
            <a:ahLst/>
            <a:cxnLst/>
            <a:rect l="l" t="t" r="r" b="b"/>
            <a:pathLst>
              <a:path w="7134445" h="682321">
                <a:moveTo>
                  <a:pt x="0" y="0"/>
                </a:moveTo>
                <a:lnTo>
                  <a:pt x="7134445" y="0"/>
                </a:lnTo>
                <a:lnTo>
                  <a:pt x="7134445" y="682321"/>
                </a:lnTo>
                <a:lnTo>
                  <a:pt x="0" y="682321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536308" y="7701175"/>
            <a:ext cx="7014739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梯度下降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36308" y="7988468"/>
            <a:ext cx="7002769" cy="191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1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模型优化、反向传播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84807" y="8554281"/>
            <a:ext cx="15286386" cy="538675"/>
          </a:xfrm>
          <a:custGeom>
            <a:avLst/>
            <a:gdLst/>
            <a:ahLst/>
            <a:cxnLst/>
            <a:rect l="l" t="t" r="r" b="b"/>
            <a:pathLst>
              <a:path w="15286386" h="538675">
                <a:moveTo>
                  <a:pt x="0" y="0"/>
                </a:moveTo>
                <a:lnTo>
                  <a:pt x="15286386" y="0"/>
                </a:lnTo>
                <a:lnTo>
                  <a:pt x="15286386" y="538675"/>
                </a:lnTo>
                <a:lnTo>
                  <a:pt x="0" y="538675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0196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664365" y="8715883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94268" y="0"/>
                </a:moveTo>
                <a:cubicBezTo>
                  <a:pt x="109124" y="0"/>
                  <a:pt x="121202" y="9048"/>
                  <a:pt x="121202" y="20200"/>
                </a:cubicBezTo>
                <a:cubicBezTo>
                  <a:pt x="121202" y="24577"/>
                  <a:pt x="119350" y="28617"/>
                  <a:pt x="116152" y="31942"/>
                </a:cubicBezTo>
                <a:cubicBezTo>
                  <a:pt x="113374" y="34846"/>
                  <a:pt x="111102" y="38381"/>
                  <a:pt x="111102" y="42421"/>
                </a:cubicBezTo>
                <a:cubicBezTo>
                  <a:pt x="111102" y="48733"/>
                  <a:pt x="116236" y="53867"/>
                  <a:pt x="122548" y="53867"/>
                </a:cubicBezTo>
                <a:lnTo>
                  <a:pt x="141402" y="53867"/>
                </a:lnTo>
                <a:cubicBezTo>
                  <a:pt x="152554" y="53867"/>
                  <a:pt x="161602" y="62916"/>
                  <a:pt x="161602" y="74068"/>
                </a:cubicBezTo>
                <a:lnTo>
                  <a:pt x="161602" y="92921"/>
                </a:lnTo>
                <a:cubicBezTo>
                  <a:pt x="161602" y="99234"/>
                  <a:pt x="166737" y="104368"/>
                  <a:pt x="173049" y="104368"/>
                </a:cubicBezTo>
                <a:cubicBezTo>
                  <a:pt x="177047" y="104368"/>
                  <a:pt x="180624" y="102096"/>
                  <a:pt x="183528" y="99318"/>
                </a:cubicBezTo>
                <a:cubicBezTo>
                  <a:pt x="186853" y="96162"/>
                  <a:pt x="190893" y="94268"/>
                  <a:pt x="195270" y="94268"/>
                </a:cubicBezTo>
                <a:cubicBezTo>
                  <a:pt x="206422" y="94268"/>
                  <a:pt x="215470" y="106346"/>
                  <a:pt x="215470" y="121202"/>
                </a:cubicBezTo>
                <a:cubicBezTo>
                  <a:pt x="215470" y="136057"/>
                  <a:pt x="206422" y="148135"/>
                  <a:pt x="195270" y="148135"/>
                </a:cubicBezTo>
                <a:cubicBezTo>
                  <a:pt x="190893" y="148135"/>
                  <a:pt x="186811" y="146284"/>
                  <a:pt x="183528" y="143085"/>
                </a:cubicBezTo>
                <a:cubicBezTo>
                  <a:pt x="180624" y="140308"/>
                  <a:pt x="177089" y="138035"/>
                  <a:pt x="173049" y="138035"/>
                </a:cubicBezTo>
                <a:cubicBezTo>
                  <a:pt x="166737" y="138035"/>
                  <a:pt x="161602" y="143170"/>
                  <a:pt x="161602" y="149482"/>
                </a:cubicBezTo>
                <a:lnTo>
                  <a:pt x="161602" y="195270"/>
                </a:lnTo>
                <a:cubicBezTo>
                  <a:pt x="161602" y="206422"/>
                  <a:pt x="152554" y="215470"/>
                  <a:pt x="141402" y="215470"/>
                </a:cubicBezTo>
                <a:lnTo>
                  <a:pt x="117498" y="215470"/>
                </a:lnTo>
                <a:cubicBezTo>
                  <a:pt x="112112" y="215470"/>
                  <a:pt x="107735" y="211093"/>
                  <a:pt x="107735" y="205706"/>
                </a:cubicBezTo>
                <a:cubicBezTo>
                  <a:pt x="107735" y="201835"/>
                  <a:pt x="110176" y="198426"/>
                  <a:pt x="113290" y="196111"/>
                </a:cubicBezTo>
                <a:cubicBezTo>
                  <a:pt x="118172" y="192450"/>
                  <a:pt x="121202" y="187400"/>
                  <a:pt x="121202" y="181803"/>
                </a:cubicBezTo>
                <a:cubicBezTo>
                  <a:pt x="121202" y="170650"/>
                  <a:pt x="109124" y="161602"/>
                  <a:pt x="94268" y="161602"/>
                </a:cubicBezTo>
                <a:cubicBezTo>
                  <a:pt x="79412" y="161602"/>
                  <a:pt x="67334" y="170650"/>
                  <a:pt x="67334" y="181803"/>
                </a:cubicBezTo>
                <a:cubicBezTo>
                  <a:pt x="67334" y="187400"/>
                  <a:pt x="70364" y="192450"/>
                  <a:pt x="75246" y="196111"/>
                </a:cubicBezTo>
                <a:cubicBezTo>
                  <a:pt x="78360" y="198426"/>
                  <a:pt x="80801" y="201793"/>
                  <a:pt x="80801" y="205706"/>
                </a:cubicBezTo>
                <a:cubicBezTo>
                  <a:pt x="80801" y="211093"/>
                  <a:pt x="76424" y="215470"/>
                  <a:pt x="71038" y="215470"/>
                </a:cubicBezTo>
                <a:lnTo>
                  <a:pt x="20200" y="215470"/>
                </a:lnTo>
                <a:cubicBezTo>
                  <a:pt x="9048" y="215470"/>
                  <a:pt x="0" y="206422"/>
                  <a:pt x="0" y="195270"/>
                </a:cubicBezTo>
                <a:lnTo>
                  <a:pt x="0" y="144432"/>
                </a:lnTo>
                <a:cubicBezTo>
                  <a:pt x="0" y="139045"/>
                  <a:pt x="4377" y="134669"/>
                  <a:pt x="9763" y="134669"/>
                </a:cubicBezTo>
                <a:cubicBezTo>
                  <a:pt x="13635" y="134669"/>
                  <a:pt x="17044" y="137109"/>
                  <a:pt x="19359" y="140224"/>
                </a:cubicBezTo>
                <a:cubicBezTo>
                  <a:pt x="23020" y="145105"/>
                  <a:pt x="28070" y="148135"/>
                  <a:pt x="33667" y="148135"/>
                </a:cubicBezTo>
                <a:cubicBezTo>
                  <a:pt x="44819" y="148135"/>
                  <a:pt x="53867" y="136057"/>
                  <a:pt x="53867" y="121202"/>
                </a:cubicBezTo>
                <a:cubicBezTo>
                  <a:pt x="53867" y="106346"/>
                  <a:pt x="44819" y="94268"/>
                  <a:pt x="33667" y="94268"/>
                </a:cubicBezTo>
                <a:cubicBezTo>
                  <a:pt x="28070" y="94268"/>
                  <a:pt x="23020" y="97298"/>
                  <a:pt x="19359" y="102180"/>
                </a:cubicBezTo>
                <a:cubicBezTo>
                  <a:pt x="17044" y="105294"/>
                  <a:pt x="13677" y="107735"/>
                  <a:pt x="9763" y="107735"/>
                </a:cubicBezTo>
                <a:cubicBezTo>
                  <a:pt x="4377" y="107735"/>
                  <a:pt x="0" y="103358"/>
                  <a:pt x="0" y="97971"/>
                </a:cubicBezTo>
                <a:lnTo>
                  <a:pt x="0" y="74068"/>
                </a:lnTo>
                <a:cubicBezTo>
                  <a:pt x="0" y="62916"/>
                  <a:pt x="9048" y="53867"/>
                  <a:pt x="20200" y="53867"/>
                </a:cubicBezTo>
                <a:lnTo>
                  <a:pt x="65988" y="53867"/>
                </a:lnTo>
                <a:cubicBezTo>
                  <a:pt x="72300" y="53867"/>
                  <a:pt x="77434" y="48733"/>
                  <a:pt x="77434" y="42421"/>
                </a:cubicBezTo>
                <a:cubicBezTo>
                  <a:pt x="77434" y="38423"/>
                  <a:pt x="75162" y="34846"/>
                  <a:pt x="72384" y="31942"/>
                </a:cubicBezTo>
                <a:cubicBezTo>
                  <a:pt x="69228" y="28617"/>
                  <a:pt x="67334" y="24577"/>
                  <a:pt x="67334" y="20200"/>
                </a:cubicBezTo>
                <a:cubicBezTo>
                  <a:pt x="67334" y="9048"/>
                  <a:pt x="79412" y="0"/>
                  <a:pt x="94268" y="0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047423" y="8703912"/>
            <a:ext cx="9301113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融会贯通：这些数学工具相互关联，共同构成机器学习的理论基础。掌握它们才能真正理解算法的本质，而不仅是调包调参。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1447800" cy="419100"/>
          </a:xfrm>
          <a:custGeom>
            <a:avLst/>
            <a:gdLst/>
            <a:ahLst/>
            <a:cxnLst/>
            <a:rect l="l" t="t" r="r" b="b"/>
            <a:pathLst>
              <a:path w="1447800" h="419100">
                <a:moveTo>
                  <a:pt x="0" y="0"/>
                </a:moveTo>
                <a:lnTo>
                  <a:pt x="1447800" y="0"/>
                </a:lnTo>
                <a:lnTo>
                  <a:pt x="14478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3100" y="615950"/>
            <a:ext cx="121741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7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41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学习建议与资源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758950"/>
            <a:ext cx="7480300" cy="6565900"/>
          </a:xfrm>
          <a:custGeom>
            <a:avLst/>
            <a:gdLst/>
            <a:ahLst/>
            <a:cxnLst/>
            <a:rect l="l" t="t" r="r" b="b"/>
            <a:pathLst>
              <a:path w="7480300" h="6565900">
                <a:moveTo>
                  <a:pt x="0" y="0"/>
                </a:moveTo>
                <a:lnTo>
                  <a:pt x="7480300" y="0"/>
                </a:lnTo>
                <a:lnTo>
                  <a:pt x="7480300" y="6565900"/>
                </a:lnTo>
                <a:lnTo>
                  <a:pt x="0" y="65659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74700" y="2019300"/>
            <a:ext cx="711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学习建议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1050" y="2635250"/>
            <a:ext cx="6946900" cy="1231900"/>
          </a:xfrm>
          <a:custGeom>
            <a:avLst/>
            <a:gdLst/>
            <a:ahLst/>
            <a:cxnLst/>
            <a:rect l="l" t="t" r="r" b="b"/>
            <a:pathLst>
              <a:path w="6946900" h="1231900">
                <a:moveTo>
                  <a:pt x="0" y="0"/>
                </a:moveTo>
                <a:lnTo>
                  <a:pt x="6946900" y="0"/>
                </a:lnTo>
                <a:lnTo>
                  <a:pt x="6946900" y="1231900"/>
                </a:lnTo>
                <a:lnTo>
                  <a:pt x="0" y="1231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52500" y="28448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43193" y="476"/>
                </a:moveTo>
                <a:cubicBezTo>
                  <a:pt x="136446" y="-1468"/>
                  <a:pt x="129421" y="2461"/>
                  <a:pt x="127476" y="9207"/>
                </a:cubicBezTo>
                <a:lnTo>
                  <a:pt x="76676" y="187008"/>
                </a:lnTo>
                <a:cubicBezTo>
                  <a:pt x="74732" y="193754"/>
                  <a:pt x="78661" y="200779"/>
                  <a:pt x="85408" y="202724"/>
                </a:cubicBezTo>
                <a:cubicBezTo>
                  <a:pt x="92154" y="204668"/>
                  <a:pt x="99179" y="200739"/>
                  <a:pt x="101124" y="193993"/>
                </a:cubicBezTo>
                <a:lnTo>
                  <a:pt x="151924" y="16193"/>
                </a:lnTo>
                <a:cubicBezTo>
                  <a:pt x="153868" y="9446"/>
                  <a:pt x="149939" y="2421"/>
                  <a:pt x="143192" y="476"/>
                </a:cubicBezTo>
                <a:close/>
                <a:moveTo>
                  <a:pt x="168831" y="54491"/>
                </a:moveTo>
                <a:cubicBezTo>
                  <a:pt x="163870" y="59452"/>
                  <a:pt x="163870" y="67508"/>
                  <a:pt x="168831" y="72469"/>
                </a:cubicBezTo>
                <a:lnTo>
                  <a:pt x="197961" y="101600"/>
                </a:lnTo>
                <a:lnTo>
                  <a:pt x="168831" y="130731"/>
                </a:lnTo>
                <a:cubicBezTo>
                  <a:pt x="163870" y="135692"/>
                  <a:pt x="163870" y="143748"/>
                  <a:pt x="168831" y="148709"/>
                </a:cubicBezTo>
                <a:cubicBezTo>
                  <a:pt x="173792" y="153670"/>
                  <a:pt x="181848" y="153670"/>
                  <a:pt x="186809" y="148709"/>
                </a:cubicBezTo>
                <a:lnTo>
                  <a:pt x="224909" y="110609"/>
                </a:lnTo>
                <a:cubicBezTo>
                  <a:pt x="229870" y="105648"/>
                  <a:pt x="229870" y="97592"/>
                  <a:pt x="224909" y="92631"/>
                </a:cubicBezTo>
                <a:lnTo>
                  <a:pt x="186809" y="54531"/>
                </a:lnTo>
                <a:cubicBezTo>
                  <a:pt x="181848" y="49570"/>
                  <a:pt x="173792" y="49570"/>
                  <a:pt x="168831" y="54531"/>
                </a:cubicBezTo>
                <a:close/>
                <a:moveTo>
                  <a:pt x="59809" y="54491"/>
                </a:moveTo>
                <a:cubicBezTo>
                  <a:pt x="54848" y="49530"/>
                  <a:pt x="46792" y="49530"/>
                  <a:pt x="41831" y="54491"/>
                </a:cubicBezTo>
                <a:lnTo>
                  <a:pt x="3731" y="92591"/>
                </a:lnTo>
                <a:cubicBezTo>
                  <a:pt x="-1230" y="97552"/>
                  <a:pt x="-1230" y="105608"/>
                  <a:pt x="3731" y="110569"/>
                </a:cubicBezTo>
                <a:lnTo>
                  <a:pt x="41831" y="148669"/>
                </a:lnTo>
                <a:cubicBezTo>
                  <a:pt x="46792" y="153630"/>
                  <a:pt x="54848" y="153630"/>
                  <a:pt x="59809" y="148669"/>
                </a:cubicBezTo>
                <a:cubicBezTo>
                  <a:pt x="64770" y="143708"/>
                  <a:pt x="64770" y="135652"/>
                  <a:pt x="59809" y="130691"/>
                </a:cubicBezTo>
                <a:lnTo>
                  <a:pt x="30678" y="101600"/>
                </a:lnTo>
                <a:lnTo>
                  <a:pt x="59769" y="72469"/>
                </a:lnTo>
                <a:cubicBezTo>
                  <a:pt x="64730" y="67508"/>
                  <a:pt x="64730" y="59452"/>
                  <a:pt x="59769" y="54491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95400" y="27940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理论与实践结合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9800" y="3200400"/>
            <a:ext cx="6718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不要只停留在数学公式，通过编程实现算法来加深理解。使用 NumPy、PyTorch 等工具亲手实现梯度下降、PCA 等算法。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1050" y="4032250"/>
            <a:ext cx="6946900" cy="1231900"/>
          </a:xfrm>
          <a:custGeom>
            <a:avLst/>
            <a:gdLst/>
            <a:ahLst/>
            <a:cxnLst/>
            <a:rect l="l" t="t" r="r" b="b"/>
            <a:pathLst>
              <a:path w="6946900" h="1231900">
                <a:moveTo>
                  <a:pt x="0" y="0"/>
                </a:moveTo>
                <a:lnTo>
                  <a:pt x="6946900" y="0"/>
                </a:lnTo>
                <a:lnTo>
                  <a:pt x="6946900" y="1231900"/>
                </a:lnTo>
                <a:lnTo>
                  <a:pt x="0" y="1231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965200" y="4241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25400"/>
                </a:moveTo>
                <a:cubicBezTo>
                  <a:pt x="25400" y="18375"/>
                  <a:pt x="19725" y="12700"/>
                  <a:pt x="12700" y="12700"/>
                </a:cubicBezTo>
                <a:cubicBezTo>
                  <a:pt x="5675" y="12700"/>
                  <a:pt x="0" y="18375"/>
                  <a:pt x="0" y="25400"/>
                </a:cubicBezTo>
                <a:lnTo>
                  <a:pt x="0" y="158750"/>
                </a:lnTo>
                <a:cubicBezTo>
                  <a:pt x="0" y="176292"/>
                  <a:pt x="14208" y="190500"/>
                  <a:pt x="31750" y="190500"/>
                </a:cubicBezTo>
                <a:lnTo>
                  <a:pt x="190500" y="190500"/>
                </a:lnTo>
                <a:cubicBezTo>
                  <a:pt x="197525" y="190500"/>
                  <a:pt x="203200" y="184825"/>
                  <a:pt x="203200" y="177800"/>
                </a:cubicBezTo>
                <a:cubicBezTo>
                  <a:pt x="203200" y="170775"/>
                  <a:pt x="197525" y="165100"/>
                  <a:pt x="190500" y="165100"/>
                </a:cubicBezTo>
                <a:lnTo>
                  <a:pt x="31750" y="165100"/>
                </a:lnTo>
                <a:cubicBezTo>
                  <a:pt x="28258" y="165100"/>
                  <a:pt x="25400" y="162243"/>
                  <a:pt x="25400" y="158750"/>
                </a:cubicBezTo>
                <a:lnTo>
                  <a:pt x="25400" y="25400"/>
                </a:lnTo>
                <a:close/>
                <a:moveTo>
                  <a:pt x="186769" y="59769"/>
                </a:moveTo>
                <a:cubicBezTo>
                  <a:pt x="191730" y="54808"/>
                  <a:pt x="191730" y="46752"/>
                  <a:pt x="186769" y="41791"/>
                </a:cubicBezTo>
                <a:cubicBezTo>
                  <a:pt x="181808" y="36830"/>
                  <a:pt x="173752" y="36830"/>
                  <a:pt x="168791" y="41791"/>
                </a:cubicBezTo>
                <a:lnTo>
                  <a:pt x="127000" y="83622"/>
                </a:lnTo>
                <a:lnTo>
                  <a:pt x="104219" y="60881"/>
                </a:lnTo>
                <a:cubicBezTo>
                  <a:pt x="99258" y="55920"/>
                  <a:pt x="91202" y="55920"/>
                  <a:pt x="86241" y="60881"/>
                </a:cubicBezTo>
                <a:lnTo>
                  <a:pt x="48141" y="98981"/>
                </a:lnTo>
                <a:cubicBezTo>
                  <a:pt x="43180" y="103942"/>
                  <a:pt x="43180" y="111998"/>
                  <a:pt x="48141" y="116959"/>
                </a:cubicBezTo>
                <a:cubicBezTo>
                  <a:pt x="53102" y="121920"/>
                  <a:pt x="61158" y="121920"/>
                  <a:pt x="66119" y="116959"/>
                </a:cubicBezTo>
                <a:lnTo>
                  <a:pt x="95250" y="87828"/>
                </a:lnTo>
                <a:lnTo>
                  <a:pt x="118031" y="110609"/>
                </a:lnTo>
                <a:cubicBezTo>
                  <a:pt x="122992" y="115570"/>
                  <a:pt x="131048" y="115570"/>
                  <a:pt x="136009" y="110609"/>
                </a:cubicBezTo>
                <a:lnTo>
                  <a:pt x="186809" y="59809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95400" y="41910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循序渐进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9800" y="4597400"/>
            <a:ext cx="6718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先掌握核心概念和直观理解，再深入数学证明和细节。从简单算法开始（如线性回归），逐步过渡到复杂模型（如神经网络）。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1050" y="5429250"/>
            <a:ext cx="6946900" cy="1231900"/>
          </a:xfrm>
          <a:custGeom>
            <a:avLst/>
            <a:gdLst/>
            <a:ahLst/>
            <a:cxnLst/>
            <a:rect l="l" t="t" r="r" b="b"/>
            <a:pathLst>
              <a:path w="6946900" h="1231900">
                <a:moveTo>
                  <a:pt x="0" y="0"/>
                </a:moveTo>
                <a:lnTo>
                  <a:pt x="6946900" y="0"/>
                </a:lnTo>
                <a:lnTo>
                  <a:pt x="6946900" y="1231900"/>
                </a:lnTo>
                <a:lnTo>
                  <a:pt x="0" y="1231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52500" y="56388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14300" y="12700"/>
                </a:moveTo>
                <a:cubicBezTo>
                  <a:pt x="82233" y="12700"/>
                  <a:pt x="56555" y="27305"/>
                  <a:pt x="37862" y="44688"/>
                </a:cubicBezTo>
                <a:cubicBezTo>
                  <a:pt x="19288" y="61952"/>
                  <a:pt x="6866" y="82550"/>
                  <a:pt x="953" y="96718"/>
                </a:cubicBezTo>
                <a:cubicBezTo>
                  <a:pt x="-357" y="99854"/>
                  <a:pt x="-357" y="103346"/>
                  <a:pt x="953" y="106482"/>
                </a:cubicBezTo>
                <a:cubicBezTo>
                  <a:pt x="6866" y="120650"/>
                  <a:pt x="19288" y="141288"/>
                  <a:pt x="37862" y="158512"/>
                </a:cubicBezTo>
                <a:cubicBezTo>
                  <a:pt x="56555" y="175855"/>
                  <a:pt x="82233" y="190500"/>
                  <a:pt x="114300" y="190500"/>
                </a:cubicBezTo>
                <a:cubicBezTo>
                  <a:pt x="146368" y="190500"/>
                  <a:pt x="172045" y="175895"/>
                  <a:pt x="190738" y="158512"/>
                </a:cubicBezTo>
                <a:cubicBezTo>
                  <a:pt x="209312" y="141248"/>
                  <a:pt x="221734" y="120650"/>
                  <a:pt x="227648" y="106482"/>
                </a:cubicBezTo>
                <a:cubicBezTo>
                  <a:pt x="228957" y="103346"/>
                  <a:pt x="228957" y="99854"/>
                  <a:pt x="227648" y="96718"/>
                </a:cubicBezTo>
                <a:cubicBezTo>
                  <a:pt x="221734" y="82550"/>
                  <a:pt x="209312" y="61912"/>
                  <a:pt x="190738" y="44688"/>
                </a:cubicBezTo>
                <a:cubicBezTo>
                  <a:pt x="172045" y="27345"/>
                  <a:pt x="146368" y="12700"/>
                  <a:pt x="114300" y="12700"/>
                </a:cubicBezTo>
                <a:close/>
                <a:moveTo>
                  <a:pt x="57150" y="101600"/>
                </a:moveTo>
                <a:cubicBezTo>
                  <a:pt x="57150" y="70058"/>
                  <a:pt x="82758" y="44450"/>
                  <a:pt x="114300" y="44450"/>
                </a:cubicBezTo>
                <a:cubicBezTo>
                  <a:pt x="145842" y="44450"/>
                  <a:pt x="171450" y="70058"/>
                  <a:pt x="171450" y="101600"/>
                </a:cubicBezTo>
                <a:cubicBezTo>
                  <a:pt x="171450" y="133142"/>
                  <a:pt x="145842" y="158750"/>
                  <a:pt x="114300" y="158750"/>
                </a:cubicBezTo>
                <a:cubicBezTo>
                  <a:pt x="82758" y="158750"/>
                  <a:pt x="57150" y="133142"/>
                  <a:pt x="57150" y="101600"/>
                </a:cubicBezTo>
                <a:close/>
                <a:moveTo>
                  <a:pt x="114300" y="76200"/>
                </a:moveTo>
                <a:cubicBezTo>
                  <a:pt x="114300" y="90210"/>
                  <a:pt x="102910" y="101600"/>
                  <a:pt x="88900" y="101600"/>
                </a:cubicBezTo>
                <a:cubicBezTo>
                  <a:pt x="84336" y="101600"/>
                  <a:pt x="80050" y="100409"/>
                  <a:pt x="76319" y="98266"/>
                </a:cubicBezTo>
                <a:cubicBezTo>
                  <a:pt x="75922" y="102592"/>
                  <a:pt x="76279" y="107037"/>
                  <a:pt x="77470" y="111443"/>
                </a:cubicBezTo>
                <a:cubicBezTo>
                  <a:pt x="82907" y="131763"/>
                  <a:pt x="103823" y="143828"/>
                  <a:pt x="124143" y="138390"/>
                </a:cubicBezTo>
                <a:cubicBezTo>
                  <a:pt x="144463" y="132953"/>
                  <a:pt x="156528" y="112038"/>
                  <a:pt x="151090" y="91718"/>
                </a:cubicBezTo>
                <a:cubicBezTo>
                  <a:pt x="146248" y="73581"/>
                  <a:pt x="129064" y="62032"/>
                  <a:pt x="110966" y="63619"/>
                </a:cubicBezTo>
                <a:cubicBezTo>
                  <a:pt x="113070" y="67310"/>
                  <a:pt x="114300" y="71596"/>
                  <a:pt x="114300" y="7620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295400" y="55880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可视化理解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9800" y="5994400"/>
            <a:ext cx="6718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使用可视化工具绘制损失函数曲面、梯度下降路径、向量变换等，建立直观的几何认知。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1050" y="6826250"/>
            <a:ext cx="6946900" cy="1231900"/>
          </a:xfrm>
          <a:custGeom>
            <a:avLst/>
            <a:gdLst/>
            <a:ahLst/>
            <a:cxnLst/>
            <a:rect l="l" t="t" r="r" b="b"/>
            <a:pathLst>
              <a:path w="6946900" h="1231900">
                <a:moveTo>
                  <a:pt x="0" y="0"/>
                </a:moveTo>
                <a:lnTo>
                  <a:pt x="6946900" y="0"/>
                </a:lnTo>
                <a:lnTo>
                  <a:pt x="6946900" y="1231900"/>
                </a:lnTo>
                <a:lnTo>
                  <a:pt x="0" y="12319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965200" y="7035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31750"/>
                </a:moveTo>
                <a:cubicBezTo>
                  <a:pt x="0" y="21233"/>
                  <a:pt x="8533" y="12700"/>
                  <a:pt x="19050" y="12700"/>
                </a:cubicBezTo>
                <a:lnTo>
                  <a:pt x="57150" y="12700"/>
                </a:lnTo>
                <a:cubicBezTo>
                  <a:pt x="67667" y="12700"/>
                  <a:pt x="76200" y="21233"/>
                  <a:pt x="76200" y="31750"/>
                </a:cubicBezTo>
                <a:lnTo>
                  <a:pt x="76200" y="38100"/>
                </a:lnTo>
                <a:lnTo>
                  <a:pt x="127000" y="38100"/>
                </a:lnTo>
                <a:lnTo>
                  <a:pt x="127000" y="31750"/>
                </a:lnTo>
                <a:cubicBezTo>
                  <a:pt x="127000" y="21233"/>
                  <a:pt x="135533" y="12700"/>
                  <a:pt x="146050" y="12700"/>
                </a:cubicBezTo>
                <a:lnTo>
                  <a:pt x="184150" y="12700"/>
                </a:lnTo>
                <a:cubicBezTo>
                  <a:pt x="194667" y="12700"/>
                  <a:pt x="203200" y="21233"/>
                  <a:pt x="203200" y="31750"/>
                </a:cubicBezTo>
                <a:lnTo>
                  <a:pt x="203200" y="69850"/>
                </a:lnTo>
                <a:cubicBezTo>
                  <a:pt x="203200" y="80367"/>
                  <a:pt x="194667" y="88900"/>
                  <a:pt x="184150" y="88900"/>
                </a:cubicBezTo>
                <a:lnTo>
                  <a:pt x="146050" y="88900"/>
                </a:lnTo>
                <a:cubicBezTo>
                  <a:pt x="135533" y="88900"/>
                  <a:pt x="127000" y="80367"/>
                  <a:pt x="127000" y="69850"/>
                </a:cubicBezTo>
                <a:lnTo>
                  <a:pt x="127000" y="63500"/>
                </a:lnTo>
                <a:lnTo>
                  <a:pt x="76200" y="63500"/>
                </a:lnTo>
                <a:lnTo>
                  <a:pt x="76200" y="69850"/>
                </a:lnTo>
                <a:cubicBezTo>
                  <a:pt x="76200" y="72747"/>
                  <a:pt x="75525" y="75525"/>
                  <a:pt x="74374" y="77986"/>
                </a:cubicBezTo>
                <a:lnTo>
                  <a:pt x="101600" y="114300"/>
                </a:lnTo>
                <a:lnTo>
                  <a:pt x="133350" y="114300"/>
                </a:lnTo>
                <a:cubicBezTo>
                  <a:pt x="143867" y="114300"/>
                  <a:pt x="152400" y="122833"/>
                  <a:pt x="152400" y="133350"/>
                </a:cubicBezTo>
                <a:lnTo>
                  <a:pt x="152400" y="171450"/>
                </a:lnTo>
                <a:cubicBezTo>
                  <a:pt x="152400" y="181967"/>
                  <a:pt x="143867" y="190500"/>
                  <a:pt x="133350" y="190500"/>
                </a:cubicBezTo>
                <a:lnTo>
                  <a:pt x="95250" y="190500"/>
                </a:lnTo>
                <a:cubicBezTo>
                  <a:pt x="84733" y="190500"/>
                  <a:pt x="76200" y="181967"/>
                  <a:pt x="76200" y="171450"/>
                </a:cubicBezTo>
                <a:lnTo>
                  <a:pt x="76200" y="133350"/>
                </a:lnTo>
                <a:cubicBezTo>
                  <a:pt x="76200" y="130453"/>
                  <a:pt x="76875" y="127675"/>
                  <a:pt x="78026" y="125214"/>
                </a:cubicBezTo>
                <a:lnTo>
                  <a:pt x="50800" y="88900"/>
                </a:lnTo>
                <a:lnTo>
                  <a:pt x="19050" y="88900"/>
                </a:lnTo>
                <a:cubicBezTo>
                  <a:pt x="8533" y="88900"/>
                  <a:pt x="0" y="80367"/>
                  <a:pt x="0" y="69850"/>
                </a:cubicBezTo>
                <a:lnTo>
                  <a:pt x="0" y="3175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295400" y="69850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建立知识网络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9800" y="7391400"/>
            <a:ext cx="6718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将不同数学工具联系起来理解，如梯度下降与偏导数、特征值与PCA、熵与信息增益等。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61350" y="1758950"/>
            <a:ext cx="7480300" cy="6565900"/>
          </a:xfrm>
          <a:custGeom>
            <a:avLst/>
            <a:gdLst/>
            <a:ahLst/>
            <a:cxnLst/>
            <a:rect l="l" t="t" r="r" b="b"/>
            <a:pathLst>
              <a:path w="7480300" h="6565900">
                <a:moveTo>
                  <a:pt x="0" y="0"/>
                </a:moveTo>
                <a:lnTo>
                  <a:pt x="7480300" y="0"/>
                </a:lnTo>
                <a:lnTo>
                  <a:pt x="7480300" y="6565900"/>
                </a:lnTo>
                <a:lnTo>
                  <a:pt x="0" y="65659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521700" y="2019300"/>
            <a:ext cx="711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推荐资源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28050" y="2635250"/>
            <a:ext cx="6946900" cy="1587500"/>
          </a:xfrm>
          <a:custGeom>
            <a:avLst/>
            <a:gdLst/>
            <a:ahLst/>
            <a:cxnLst/>
            <a:rect l="l" t="t" r="r" b="b"/>
            <a:pathLst>
              <a:path w="6946900" h="1587500">
                <a:moveTo>
                  <a:pt x="0" y="0"/>
                </a:moveTo>
                <a:lnTo>
                  <a:pt x="6946900" y="0"/>
                </a:lnTo>
                <a:lnTo>
                  <a:pt x="6946900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686800" y="2794000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在线课程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0" y="320040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动手学机器学习：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hml.boyuai.com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0" y="350520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3Blue1Brown：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线性代数和微积分可视化视频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86800" y="381000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Andrew Ng ML：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斯坦福机器学习课程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28050" y="4387850"/>
            <a:ext cx="6946900" cy="1587500"/>
          </a:xfrm>
          <a:custGeom>
            <a:avLst/>
            <a:gdLst/>
            <a:ahLst/>
            <a:cxnLst/>
            <a:rect l="l" t="t" r="r" b="b"/>
            <a:pathLst>
              <a:path w="6946900" h="1587500">
                <a:moveTo>
                  <a:pt x="0" y="0"/>
                </a:moveTo>
                <a:lnTo>
                  <a:pt x="6946900" y="0"/>
                </a:lnTo>
                <a:lnTo>
                  <a:pt x="6946900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686800" y="4546600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编程框架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86800" y="495300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NumPy：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Python数值计算基础库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86800" y="525780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PyTorch / TensorFlow：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深度学习框架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86800" y="556260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Matplotlib / Seaborn：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数据可视化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28050" y="6140450"/>
            <a:ext cx="6946900" cy="1587500"/>
          </a:xfrm>
          <a:custGeom>
            <a:avLst/>
            <a:gdLst/>
            <a:ahLst/>
            <a:cxnLst/>
            <a:rect l="l" t="t" r="r" b="b"/>
            <a:pathLst>
              <a:path w="6946900" h="1587500">
                <a:moveTo>
                  <a:pt x="0" y="0"/>
                </a:moveTo>
                <a:lnTo>
                  <a:pt x="6946900" y="0"/>
                </a:lnTo>
                <a:lnTo>
                  <a:pt x="6946900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686800" y="6299200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参考书籍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86800" y="670560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《统计学习方法》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（李航）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86800" y="701040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《机器学习》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（周志华）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86800" y="731520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4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《Pattern Recognition and Machine Learning》</a:t>
            </a: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（Bishop）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14350" y="8484478"/>
            <a:ext cx="15227300" cy="571500"/>
          </a:xfrm>
          <a:custGeom>
            <a:avLst/>
            <a:gdLst/>
            <a:ahLst/>
            <a:cxnLst/>
            <a:rect l="l" t="t" r="r" b="b"/>
            <a:pathLst>
              <a:path w="15227300" h="571500">
                <a:moveTo>
                  <a:pt x="0" y="0"/>
                </a:moveTo>
                <a:lnTo>
                  <a:pt x="15227300" y="0"/>
                </a:lnTo>
                <a:lnTo>
                  <a:pt x="152273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0196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704850" y="865592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B8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111250" y="8643228"/>
            <a:ext cx="1093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持续学习：数学基础是机器学习的根基，但也是需要不断回顾和深化的过程。随着学习的深入，你会发现这些数学工具越来越自然和直观。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7009705" y="317500"/>
            <a:ext cx="2235200" cy="673100"/>
          </a:xfrm>
          <a:custGeom>
            <a:avLst/>
            <a:gdLst/>
            <a:ahLst/>
            <a:cxnLst/>
            <a:rect l="l" t="t" r="r" b="b"/>
            <a:pathLst>
              <a:path w="2235200" h="673100">
                <a:moveTo>
                  <a:pt x="0" y="0"/>
                </a:moveTo>
                <a:lnTo>
                  <a:pt x="2235200" y="0"/>
                </a:lnTo>
                <a:lnTo>
                  <a:pt x="2235200" y="673100"/>
                </a:lnTo>
                <a:lnTo>
                  <a:pt x="0" y="673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257355" y="482600"/>
            <a:ext cx="174119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kern="0" spc="6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Summary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27800" y="1670050"/>
            <a:ext cx="3200400" cy="1212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数学是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699000" y="2813050"/>
            <a:ext cx="6858000" cy="1212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机器学习的基石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66693" y="4400550"/>
            <a:ext cx="472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B89A6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掌握数学基础，开启AI之旅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155950" y="5473700"/>
            <a:ext cx="2247900" cy="1282700"/>
          </a:xfrm>
          <a:custGeom>
            <a:avLst/>
            <a:gdLst/>
            <a:ahLst/>
            <a:cxnLst/>
            <a:rect l="l" t="t" r="r" b="b"/>
            <a:pathLst>
              <a:path w="2247900" h="1282700">
                <a:moveTo>
                  <a:pt x="0" y="0"/>
                </a:moveTo>
                <a:lnTo>
                  <a:pt x="2247900" y="0"/>
                </a:lnTo>
                <a:lnTo>
                  <a:pt x="2247900" y="1282700"/>
                </a:lnTo>
                <a:lnTo>
                  <a:pt x="0" y="12827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3251200" y="5683250"/>
            <a:ext cx="2057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线性代数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286125" y="6292850"/>
            <a:ext cx="19875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 · 矩阵 · 特征值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21350" y="5473700"/>
            <a:ext cx="2247900" cy="1282700"/>
          </a:xfrm>
          <a:custGeom>
            <a:avLst/>
            <a:gdLst/>
            <a:ahLst/>
            <a:cxnLst/>
            <a:rect l="l" t="t" r="r" b="b"/>
            <a:pathLst>
              <a:path w="2247900" h="1282700">
                <a:moveTo>
                  <a:pt x="0" y="0"/>
                </a:moveTo>
                <a:lnTo>
                  <a:pt x="2247900" y="0"/>
                </a:lnTo>
                <a:lnTo>
                  <a:pt x="2247900" y="1282700"/>
                </a:lnTo>
                <a:lnTo>
                  <a:pt x="0" y="12827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5816600" y="5683250"/>
            <a:ext cx="2057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概率统计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816600" y="6292850"/>
            <a:ext cx="205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分布 · 估计 · 相关性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86750" y="5473700"/>
            <a:ext cx="2247900" cy="1282700"/>
          </a:xfrm>
          <a:custGeom>
            <a:avLst/>
            <a:gdLst/>
            <a:ahLst/>
            <a:cxnLst/>
            <a:rect l="l" t="t" r="r" b="b"/>
            <a:pathLst>
              <a:path w="2247900" h="1282700">
                <a:moveTo>
                  <a:pt x="0" y="0"/>
                </a:moveTo>
                <a:lnTo>
                  <a:pt x="2247900" y="0"/>
                </a:lnTo>
                <a:lnTo>
                  <a:pt x="2247900" y="1282700"/>
                </a:lnTo>
                <a:lnTo>
                  <a:pt x="0" y="12827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8382000" y="5683250"/>
            <a:ext cx="2057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信息论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451850" y="6292850"/>
            <a:ext cx="191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熵 · 信息增益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852150" y="5473700"/>
            <a:ext cx="2247900" cy="1282700"/>
          </a:xfrm>
          <a:custGeom>
            <a:avLst/>
            <a:gdLst/>
            <a:ahLst/>
            <a:cxnLst/>
            <a:rect l="l" t="t" r="r" b="b"/>
            <a:pathLst>
              <a:path w="2247900" h="1282700">
                <a:moveTo>
                  <a:pt x="0" y="0"/>
                </a:moveTo>
                <a:lnTo>
                  <a:pt x="2247900" y="0"/>
                </a:lnTo>
                <a:lnTo>
                  <a:pt x="2247900" y="1282700"/>
                </a:lnTo>
                <a:lnTo>
                  <a:pt x="0" y="1282700"/>
                </a:lnTo>
                <a:lnTo>
                  <a:pt x="0" y="0"/>
                </a:lnTo>
                <a:close/>
              </a:path>
            </a:pathLst>
          </a:custGeom>
          <a:solidFill>
            <a:srgbClr val="4A6572">
              <a:alpha val="10196"/>
            </a:srgbClr>
          </a:solidFill>
          <a:ln w="12700">
            <a:solidFill>
              <a:srgbClr val="4A657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10947400" y="5683250"/>
            <a:ext cx="2057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微积分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017250" y="6292850"/>
            <a:ext cx="191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导数 · 梯度 · 优化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431778" y="7378700"/>
            <a:ext cx="13392444" cy="1447800"/>
          </a:xfrm>
          <a:custGeom>
            <a:avLst/>
            <a:gdLst/>
            <a:ahLst/>
            <a:cxnLst/>
            <a:rect l="l" t="t" r="r" b="b"/>
            <a:pathLst>
              <a:path w="11366500" h="1447800">
                <a:moveTo>
                  <a:pt x="0" y="0"/>
                </a:moveTo>
                <a:lnTo>
                  <a:pt x="11366500" y="0"/>
                </a:lnTo>
                <a:lnTo>
                  <a:pt x="113665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1900607" y="7809281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0" y="107156"/>
                </a:moveTo>
                <a:cubicBezTo>
                  <a:pt x="0" y="74265"/>
                  <a:pt x="26640" y="47625"/>
                  <a:pt x="59531" y="47625"/>
                </a:cubicBezTo>
                <a:lnTo>
                  <a:pt x="63500" y="47625"/>
                </a:lnTo>
                <a:cubicBezTo>
                  <a:pt x="72281" y="47625"/>
                  <a:pt x="79375" y="54719"/>
                  <a:pt x="79375" y="63500"/>
                </a:cubicBezTo>
                <a:cubicBezTo>
                  <a:pt x="79375" y="72281"/>
                  <a:pt x="72281" y="79375"/>
                  <a:pt x="63500" y="79375"/>
                </a:cubicBezTo>
                <a:lnTo>
                  <a:pt x="59531" y="79375"/>
                </a:lnTo>
                <a:cubicBezTo>
                  <a:pt x="44202" y="79375"/>
                  <a:pt x="31750" y="91827"/>
                  <a:pt x="31750" y="107156"/>
                </a:cubicBezTo>
                <a:lnTo>
                  <a:pt x="31750" y="111125"/>
                </a:lnTo>
                <a:lnTo>
                  <a:pt x="63500" y="111125"/>
                </a:lnTo>
                <a:cubicBezTo>
                  <a:pt x="81012" y="111125"/>
                  <a:pt x="95250" y="125363"/>
                  <a:pt x="95250" y="142875"/>
                </a:cubicBezTo>
                <a:lnTo>
                  <a:pt x="95250" y="174625"/>
                </a:lnTo>
                <a:cubicBezTo>
                  <a:pt x="95250" y="192137"/>
                  <a:pt x="81012" y="206375"/>
                  <a:pt x="63500" y="206375"/>
                </a:cubicBezTo>
                <a:lnTo>
                  <a:pt x="31750" y="206375"/>
                </a:lnTo>
                <a:cubicBezTo>
                  <a:pt x="14238" y="206375"/>
                  <a:pt x="0" y="192137"/>
                  <a:pt x="0" y="174625"/>
                </a:cubicBezTo>
                <a:lnTo>
                  <a:pt x="0" y="107156"/>
                </a:lnTo>
                <a:close/>
                <a:moveTo>
                  <a:pt x="127000" y="107156"/>
                </a:moveTo>
                <a:cubicBezTo>
                  <a:pt x="127000" y="74265"/>
                  <a:pt x="153640" y="47625"/>
                  <a:pt x="186531" y="47625"/>
                </a:cubicBezTo>
                <a:lnTo>
                  <a:pt x="190500" y="47625"/>
                </a:lnTo>
                <a:cubicBezTo>
                  <a:pt x="199281" y="47625"/>
                  <a:pt x="206375" y="54719"/>
                  <a:pt x="206375" y="63500"/>
                </a:cubicBezTo>
                <a:cubicBezTo>
                  <a:pt x="206375" y="72281"/>
                  <a:pt x="199281" y="79375"/>
                  <a:pt x="190500" y="79375"/>
                </a:cubicBezTo>
                <a:lnTo>
                  <a:pt x="186531" y="79375"/>
                </a:lnTo>
                <a:cubicBezTo>
                  <a:pt x="171202" y="79375"/>
                  <a:pt x="158750" y="91827"/>
                  <a:pt x="158750" y="107156"/>
                </a:cubicBezTo>
                <a:lnTo>
                  <a:pt x="158750" y="111125"/>
                </a:lnTo>
                <a:lnTo>
                  <a:pt x="190500" y="111125"/>
                </a:lnTo>
                <a:cubicBezTo>
                  <a:pt x="208012" y="111125"/>
                  <a:pt x="222250" y="125363"/>
                  <a:pt x="222250" y="142875"/>
                </a:cubicBezTo>
                <a:lnTo>
                  <a:pt x="222250" y="174625"/>
                </a:lnTo>
                <a:cubicBezTo>
                  <a:pt x="222250" y="192137"/>
                  <a:pt x="208012" y="206375"/>
                  <a:pt x="190500" y="206375"/>
                </a:cubicBezTo>
                <a:lnTo>
                  <a:pt x="158750" y="206375"/>
                </a:lnTo>
                <a:cubicBezTo>
                  <a:pt x="141238" y="206375"/>
                  <a:pt x="127000" y="192137"/>
                  <a:pt x="127000" y="174625"/>
                </a:cubicBezTo>
                <a:lnTo>
                  <a:pt x="127000" y="107156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2070393" y="7839812"/>
            <a:ext cx="12115214" cy="38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E0E0E0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数学不仅是工具，更是理解机器学习本质的钥匙。 只有深入掌握这些数学基础，才能在AI领域走得更远。</a:t>
            </a:r>
            <a:endParaRPr lang="en-US" sz="160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19FC2306-B56E-E44C-590D-A04205ED9CEC}"/>
              </a:ext>
            </a:extLst>
          </p:cNvPr>
          <p:cNvSpPr/>
          <p:nvPr/>
        </p:nvSpPr>
        <p:spPr>
          <a:xfrm rot="10800000">
            <a:off x="13963357" y="7778749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0" y="107156"/>
                </a:moveTo>
                <a:cubicBezTo>
                  <a:pt x="0" y="74265"/>
                  <a:pt x="26640" y="47625"/>
                  <a:pt x="59531" y="47625"/>
                </a:cubicBezTo>
                <a:lnTo>
                  <a:pt x="63500" y="47625"/>
                </a:lnTo>
                <a:cubicBezTo>
                  <a:pt x="72281" y="47625"/>
                  <a:pt x="79375" y="54719"/>
                  <a:pt x="79375" y="63500"/>
                </a:cubicBezTo>
                <a:cubicBezTo>
                  <a:pt x="79375" y="72281"/>
                  <a:pt x="72281" y="79375"/>
                  <a:pt x="63500" y="79375"/>
                </a:cubicBezTo>
                <a:lnTo>
                  <a:pt x="59531" y="79375"/>
                </a:lnTo>
                <a:cubicBezTo>
                  <a:pt x="44202" y="79375"/>
                  <a:pt x="31750" y="91827"/>
                  <a:pt x="31750" y="107156"/>
                </a:cubicBezTo>
                <a:lnTo>
                  <a:pt x="31750" y="111125"/>
                </a:lnTo>
                <a:lnTo>
                  <a:pt x="63500" y="111125"/>
                </a:lnTo>
                <a:cubicBezTo>
                  <a:pt x="81012" y="111125"/>
                  <a:pt x="95250" y="125363"/>
                  <a:pt x="95250" y="142875"/>
                </a:cubicBezTo>
                <a:lnTo>
                  <a:pt x="95250" y="174625"/>
                </a:lnTo>
                <a:cubicBezTo>
                  <a:pt x="95250" y="192137"/>
                  <a:pt x="81012" y="206375"/>
                  <a:pt x="63500" y="206375"/>
                </a:cubicBezTo>
                <a:lnTo>
                  <a:pt x="31750" y="206375"/>
                </a:lnTo>
                <a:cubicBezTo>
                  <a:pt x="14238" y="206375"/>
                  <a:pt x="0" y="192137"/>
                  <a:pt x="0" y="174625"/>
                </a:cubicBezTo>
                <a:lnTo>
                  <a:pt x="0" y="107156"/>
                </a:lnTo>
                <a:close/>
                <a:moveTo>
                  <a:pt x="127000" y="107156"/>
                </a:moveTo>
                <a:cubicBezTo>
                  <a:pt x="127000" y="74265"/>
                  <a:pt x="153640" y="47625"/>
                  <a:pt x="186531" y="47625"/>
                </a:cubicBezTo>
                <a:lnTo>
                  <a:pt x="190500" y="47625"/>
                </a:lnTo>
                <a:cubicBezTo>
                  <a:pt x="199281" y="47625"/>
                  <a:pt x="206375" y="54719"/>
                  <a:pt x="206375" y="63500"/>
                </a:cubicBezTo>
                <a:cubicBezTo>
                  <a:pt x="206375" y="72281"/>
                  <a:pt x="199281" y="79375"/>
                  <a:pt x="190500" y="79375"/>
                </a:cubicBezTo>
                <a:lnTo>
                  <a:pt x="186531" y="79375"/>
                </a:lnTo>
                <a:cubicBezTo>
                  <a:pt x="171202" y="79375"/>
                  <a:pt x="158750" y="91827"/>
                  <a:pt x="158750" y="107156"/>
                </a:cubicBezTo>
                <a:lnTo>
                  <a:pt x="158750" y="111125"/>
                </a:lnTo>
                <a:lnTo>
                  <a:pt x="190500" y="111125"/>
                </a:lnTo>
                <a:cubicBezTo>
                  <a:pt x="208012" y="111125"/>
                  <a:pt x="222250" y="125363"/>
                  <a:pt x="222250" y="142875"/>
                </a:cubicBezTo>
                <a:lnTo>
                  <a:pt x="222250" y="174625"/>
                </a:lnTo>
                <a:cubicBezTo>
                  <a:pt x="222250" y="192137"/>
                  <a:pt x="208012" y="206375"/>
                  <a:pt x="190500" y="206375"/>
                </a:cubicBezTo>
                <a:lnTo>
                  <a:pt x="158750" y="206375"/>
                </a:lnTo>
                <a:cubicBezTo>
                  <a:pt x="141238" y="206375"/>
                  <a:pt x="127000" y="192137"/>
                  <a:pt x="127000" y="174625"/>
                </a:cubicBezTo>
                <a:lnTo>
                  <a:pt x="127000" y="107156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2224</Words>
  <Application>Microsoft Macintosh PowerPoint</Application>
  <PresentationFormat>自定义</PresentationFormat>
  <Paragraphs>519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1" baseType="lpstr">
      <vt:lpstr>Arial</vt:lpstr>
      <vt:lpstr>KaiTi</vt:lpstr>
      <vt:lpstr>Calibri</vt:lpstr>
      <vt:lpstr>Noto Sans SC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机器学习数学基础</dc:title>
  <dc:subject>机器学习数学基础</dc:subject>
  <dc:creator>Kimi</dc:creator>
  <cp:lastModifiedBy>王 天青</cp:lastModifiedBy>
  <cp:revision>7</cp:revision>
  <dcterms:created xsi:type="dcterms:W3CDTF">2026-01-02T06:11:20Z</dcterms:created>
  <dcterms:modified xsi:type="dcterms:W3CDTF">2026-01-02T06:15:36Z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{"Label":"机器学习数学基础","ContentProducer":"001191110108MACG2KBH8F10000","ProduceID":"19b7d344-7852-8573-8000-0000667f2e09","ReservedCode1":"","ContentPropagator":"001191110108MACG2KBH8F20000","PropagateID":"19b7d344-7852-8573-8000-0000667f2e09","ReservedCode2":""}</vt:lpwstr>
  </property>
</Properties>
</file>