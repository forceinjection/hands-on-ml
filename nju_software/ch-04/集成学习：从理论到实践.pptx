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6256000" cy="9144000"/>
  <p:notesSz cx="9144000" cy="16256000"/>
  <p:embeddedFontLst>
    <p:embeddedFont>
      <p:font typeface="MiSans" charset="-122" pitchFamily="34"/>
      <p:regular r:id="rId68"/>
    </p:embeddedFont>
    <p:embeddedFont>
      <p:font typeface="阿里妈妈数黑体" charset="-122" pitchFamily="34"/>
      <p:regular r:id="rId69"/>
    </p:embeddedFont>
    <p:embeddedFont>
      <p:font typeface="Liter" charset="-122" pitchFamily="34"/>
      <p:regular r:id="rId70"/>
    </p:embeddedFont>
    <p:embeddedFont>
      <p:font typeface="Noto Sans SC" charset="-122" pitchFamily="34"/>
      <p:regular r:id="rId7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 Id="rId68" Type="http://schemas.openxmlformats.org/officeDocument/2006/relationships/font" Target="fonts/font1.fntdata"/><Relationship Id="rId69" Type="http://schemas.openxmlformats.org/officeDocument/2006/relationships/font" Target="fonts/font2.fntdata"/><Relationship Id="rId70" Type="http://schemas.openxmlformats.org/officeDocument/2006/relationships/font" Target="fonts/font3.fntdata"/><Relationship Id="rId71"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1A1F"/>
        </a:solidFill>
      </p:bgPr>
    </p:bg>
    <p:spTree>
      <p:nvGrpSpPr>
        <p:cNvPr id="1" name=""/>
        <p:cNvGrpSpPr/>
        <p:nvPr/>
      </p:nvGrpSpPr>
      <p:grpSpPr>
        <a:xfrm>
          <a:off x="0" y="0"/>
          <a:ext cx="0" cy="0"/>
          <a:chOff x="0" y="0"/>
          <a:chExt cx="0" cy="0"/>
        </a:xfrm>
      </p:grpSpPr>
      <p:pic>
        <p:nvPicPr>
          <p:cNvPr id="2" name="Image 0" descr="https://kimi-web-img.moonshot.cn/img/images.stockcake.com/40e8bf0b0eb4c40f60a5f66b1b99a268bf43c178.jpg">    </p:cNvPr>
          <p:cNvPicPr>
            <a:picLocks noChangeAspect="1"/>
          </p:cNvPicPr>
          <p:nvPr/>
        </p:nvPicPr>
        <p:blipFill>
          <a:blip r:embed="rId1">
            <a:alphaModFix amt="40000"/>
          </a:blip>
          <a:srcRect l="0" r="0" t="34238" b="34238"/>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rotWithShape="1" flip="none">
            <a:gsLst>
              <a:gs pos="0">
                <a:srgbClr val="181A1F">
                  <a:alpha val="95000"/>
                </a:srgbClr>
              </a:gs>
              <a:gs pos="50000">
                <a:srgbClr val="181A1F">
                  <a:alpha val="85000"/>
                </a:srgbClr>
              </a:gs>
              <a:gs pos="100000">
                <a:srgbClr val="4C7E9A">
                  <a:alpha val="40000"/>
                </a:srgbClr>
              </a:gs>
            </a:gsLst>
            <a:lin ang="2700000" scaled="1"/>
          </a:gradFill>
          <a:ln/>
        </p:spPr>
      </p:sp>
      <p:sp>
        <p:nvSpPr>
          <p:cNvPr id="4" name="Shape 1"/>
          <p:cNvSpPr/>
          <p:nvPr/>
        </p:nvSpPr>
        <p:spPr>
          <a:xfrm>
            <a:off x="514350" y="920750"/>
            <a:ext cx="2794000" cy="520700"/>
          </a:xfrm>
          <a:custGeom>
            <a:avLst/>
            <a:gdLst/>
            <a:ahLst/>
            <a:cxnLst/>
            <a:rect l="l" t="t" r="r" b="b"/>
            <a:pathLst>
              <a:path w="2794000" h="520700">
                <a:moveTo>
                  <a:pt x="50799" y="0"/>
                </a:moveTo>
                <a:lnTo>
                  <a:pt x="2743201" y="0"/>
                </a:lnTo>
                <a:cubicBezTo>
                  <a:pt x="2771256" y="0"/>
                  <a:pt x="2794000" y="22744"/>
                  <a:pt x="2794000" y="50799"/>
                </a:cubicBezTo>
                <a:lnTo>
                  <a:pt x="2794000" y="469901"/>
                </a:lnTo>
                <a:cubicBezTo>
                  <a:pt x="2794000" y="497956"/>
                  <a:pt x="2771256" y="520700"/>
                  <a:pt x="2743201" y="520700"/>
                </a:cubicBezTo>
                <a:lnTo>
                  <a:pt x="50799" y="520700"/>
                </a:lnTo>
                <a:cubicBezTo>
                  <a:pt x="22744" y="520700"/>
                  <a:pt x="0" y="497956"/>
                  <a:pt x="0" y="469901"/>
                </a:cubicBezTo>
                <a:lnTo>
                  <a:pt x="0" y="50799"/>
                </a:lnTo>
                <a:cubicBezTo>
                  <a:pt x="0" y="22762"/>
                  <a:pt x="22762" y="0"/>
                  <a:pt x="50799" y="0"/>
                </a:cubicBezTo>
                <a:close/>
              </a:path>
            </a:pathLst>
          </a:custGeom>
          <a:solidFill>
            <a:srgbClr val="4C7E9A">
              <a:alpha val="20000"/>
            </a:srgbClr>
          </a:solidFill>
          <a:ln w="12700">
            <a:solidFill>
              <a:srgbClr val="4C7E9A"/>
            </a:solidFill>
            <a:prstDash val="solid"/>
          </a:ln>
        </p:spPr>
      </p:sp>
      <p:sp>
        <p:nvSpPr>
          <p:cNvPr id="5" name="Text 2"/>
          <p:cNvSpPr/>
          <p:nvPr/>
        </p:nvSpPr>
        <p:spPr>
          <a:xfrm>
            <a:off x="774700" y="1028700"/>
            <a:ext cx="2374900" cy="304800"/>
          </a:xfrm>
          <a:prstGeom prst="rect">
            <a:avLst/>
          </a:prstGeom>
          <a:noFill/>
          <a:ln/>
        </p:spPr>
        <p:txBody>
          <a:bodyPr wrap="square" lIns="0" tIns="0" rIns="0" bIns="0" rtlCol="0" anchor="ctr"/>
          <a:lstStyle/>
          <a:p>
            <a:pPr>
              <a:lnSpc>
                <a:spcPct val="130000"/>
              </a:lnSpc>
            </a:pPr>
            <a:r>
              <a:rPr lang="en-US" sz="1600" b="1" spc="80" kern="0" dirty="0">
                <a:solidFill>
                  <a:srgbClr val="7E9AA8"/>
                </a:solidFill>
                <a:latin typeface="MiSans" pitchFamily="34" charset="0"/>
                <a:ea typeface="MiSans" pitchFamily="34" charset="-122"/>
                <a:cs typeface="MiSans" pitchFamily="34" charset="-120"/>
              </a:rPr>
              <a:t>ENSEMBLE LEARNING</a:t>
            </a:r>
            <a:endParaRPr lang="en-US" sz="1600" dirty="0"/>
          </a:p>
        </p:txBody>
      </p:sp>
      <p:sp>
        <p:nvSpPr>
          <p:cNvPr id="6" name="Text 3"/>
          <p:cNvSpPr/>
          <p:nvPr/>
        </p:nvSpPr>
        <p:spPr>
          <a:xfrm>
            <a:off x="508000" y="1797050"/>
            <a:ext cx="9105900" cy="1524000"/>
          </a:xfrm>
          <a:prstGeom prst="rect">
            <a:avLst/>
          </a:prstGeom>
          <a:noFill/>
          <a:ln/>
        </p:spPr>
        <p:txBody>
          <a:bodyPr wrap="square" lIns="0" tIns="0" rIns="0" bIns="0" rtlCol="0" anchor="ctr"/>
          <a:lstStyle/>
          <a:p>
            <a:pPr>
              <a:lnSpc>
                <a:spcPct val="100000"/>
              </a:lnSpc>
            </a:pPr>
            <a:r>
              <a:rPr lang="en-US" sz="9600" b="1" dirty="0">
                <a:solidFill>
                  <a:srgbClr val="D1D5DB"/>
                </a:solidFill>
                <a:latin typeface="阿里妈妈数黑体" pitchFamily="34" charset="0"/>
                <a:ea typeface="阿里妈妈数黑体" pitchFamily="34" charset="-122"/>
                <a:cs typeface="阿里妈妈数黑体" pitchFamily="34" charset="-120"/>
              </a:rPr>
              <a:t>集成学习</a:t>
            </a:r>
            <a:endParaRPr lang="en-US" sz="1600" dirty="0"/>
          </a:p>
        </p:txBody>
      </p:sp>
      <p:sp>
        <p:nvSpPr>
          <p:cNvPr id="7" name="Text 4"/>
          <p:cNvSpPr/>
          <p:nvPr/>
        </p:nvSpPr>
        <p:spPr>
          <a:xfrm>
            <a:off x="508000" y="3625850"/>
            <a:ext cx="8877300" cy="952500"/>
          </a:xfrm>
          <a:prstGeom prst="rect">
            <a:avLst/>
          </a:prstGeom>
          <a:noFill/>
          <a:ln/>
        </p:spPr>
        <p:txBody>
          <a:bodyPr wrap="square" lIns="0" tIns="0" rIns="0" bIns="0" rtlCol="0" anchor="ctr"/>
          <a:lstStyle/>
          <a:p>
            <a:pPr>
              <a:lnSpc>
                <a:spcPct val="100000"/>
              </a:lnSpc>
            </a:pPr>
            <a:r>
              <a:rPr lang="en-US" sz="6000" b="1" dirty="0">
                <a:solidFill>
                  <a:srgbClr val="4C7E9A"/>
                </a:solidFill>
                <a:latin typeface="阿里妈妈数黑体" pitchFamily="34" charset="0"/>
                <a:ea typeface="阿里妈妈数黑体" pitchFamily="34" charset="-122"/>
                <a:cs typeface="阿里妈妈数黑体" pitchFamily="34" charset="-120"/>
              </a:rPr>
              <a:t>从理论到实践</a:t>
            </a:r>
            <a:endParaRPr lang="en-US" sz="1600" dirty="0"/>
          </a:p>
        </p:txBody>
      </p:sp>
      <p:sp>
        <p:nvSpPr>
          <p:cNvPr id="8" name="Shape 5"/>
          <p:cNvSpPr/>
          <p:nvPr/>
        </p:nvSpPr>
        <p:spPr>
          <a:xfrm>
            <a:off x="508000" y="4984750"/>
            <a:ext cx="2032000" cy="101600"/>
          </a:xfrm>
          <a:custGeom>
            <a:avLst/>
            <a:gdLst/>
            <a:ahLst/>
            <a:cxnLst/>
            <a:rect l="l" t="t" r="r" b="b"/>
            <a:pathLst>
              <a:path w="2032000" h="101600">
                <a:moveTo>
                  <a:pt x="0" y="0"/>
                </a:moveTo>
                <a:lnTo>
                  <a:pt x="2032000" y="0"/>
                </a:lnTo>
                <a:lnTo>
                  <a:pt x="2032000" y="101600"/>
                </a:lnTo>
                <a:lnTo>
                  <a:pt x="0" y="101600"/>
                </a:lnTo>
                <a:lnTo>
                  <a:pt x="0" y="0"/>
                </a:lnTo>
                <a:close/>
              </a:path>
            </a:pathLst>
          </a:custGeom>
          <a:solidFill>
            <a:srgbClr val="4C7E9A"/>
          </a:solidFill>
          <a:ln/>
        </p:spPr>
      </p:sp>
      <p:sp>
        <p:nvSpPr>
          <p:cNvPr id="9" name="Text 6"/>
          <p:cNvSpPr/>
          <p:nvPr/>
        </p:nvSpPr>
        <p:spPr>
          <a:xfrm>
            <a:off x="508000" y="5492750"/>
            <a:ext cx="8724900" cy="508000"/>
          </a:xfrm>
          <a:prstGeom prst="rect">
            <a:avLst/>
          </a:prstGeom>
          <a:noFill/>
          <a:ln/>
        </p:spPr>
        <p:txBody>
          <a:bodyPr wrap="square" lIns="0" tIns="0" rIns="0" bIns="0" rtlCol="0" anchor="ctr"/>
          <a:lstStyle/>
          <a:p>
            <a:pPr>
              <a:lnSpc>
                <a:spcPct val="90000"/>
              </a:lnSpc>
            </a:pPr>
            <a:r>
              <a:rPr lang="en-US" sz="3600" spc="90" kern="0" dirty="0">
                <a:solidFill>
                  <a:srgbClr val="7E9AA8"/>
                </a:solidFill>
                <a:latin typeface="Liter" pitchFamily="34" charset="0"/>
                <a:ea typeface="Liter" pitchFamily="34" charset="-122"/>
                <a:cs typeface="Liter" pitchFamily="34" charset="-120"/>
              </a:rPr>
              <a:t>Ensemble Learning: Theory and Practice</a:t>
            </a:r>
            <a:endParaRPr lang="en-US" sz="1600" dirty="0"/>
          </a:p>
        </p:txBody>
      </p:sp>
      <p:sp>
        <p:nvSpPr>
          <p:cNvPr id="10" name="Shape 7"/>
          <p:cNvSpPr/>
          <p:nvPr/>
        </p:nvSpPr>
        <p:spPr>
          <a:xfrm>
            <a:off x="533400" y="6610350"/>
            <a:ext cx="2603500" cy="1270000"/>
          </a:xfrm>
          <a:custGeom>
            <a:avLst/>
            <a:gdLst/>
            <a:ahLst/>
            <a:cxnLst/>
            <a:rect l="l" t="t" r="r" b="b"/>
            <a:pathLst>
              <a:path w="2603500" h="1270000">
                <a:moveTo>
                  <a:pt x="50800" y="0"/>
                </a:moveTo>
                <a:lnTo>
                  <a:pt x="2501900" y="0"/>
                </a:lnTo>
                <a:cubicBezTo>
                  <a:pt x="2557975" y="0"/>
                  <a:pt x="2603500" y="45525"/>
                  <a:pt x="2603500" y="101600"/>
                </a:cubicBezTo>
                <a:lnTo>
                  <a:pt x="2603500" y="1168400"/>
                </a:lnTo>
                <a:cubicBezTo>
                  <a:pt x="2603500" y="1224475"/>
                  <a:pt x="2557975" y="1270000"/>
                  <a:pt x="2501900" y="1270000"/>
                </a:cubicBezTo>
                <a:lnTo>
                  <a:pt x="50800" y="1270000"/>
                </a:lnTo>
                <a:cubicBezTo>
                  <a:pt x="22763" y="1270000"/>
                  <a:pt x="0" y="1247237"/>
                  <a:pt x="0" y="1219200"/>
                </a:cubicBezTo>
                <a:lnTo>
                  <a:pt x="0" y="50800"/>
                </a:lnTo>
                <a:cubicBezTo>
                  <a:pt x="0" y="22763"/>
                  <a:pt x="22763" y="0"/>
                  <a:pt x="50800" y="0"/>
                </a:cubicBezTo>
                <a:close/>
              </a:path>
            </a:pathLst>
          </a:custGeom>
          <a:solidFill>
            <a:srgbClr val="3A5E78">
              <a:alpha val="30196"/>
            </a:srgbClr>
          </a:solidFill>
          <a:ln/>
        </p:spPr>
      </p:sp>
      <p:sp>
        <p:nvSpPr>
          <p:cNvPr id="11" name="Shape 8"/>
          <p:cNvSpPr/>
          <p:nvPr/>
        </p:nvSpPr>
        <p:spPr>
          <a:xfrm>
            <a:off x="533400" y="6610350"/>
            <a:ext cx="50800" cy="1270000"/>
          </a:xfrm>
          <a:custGeom>
            <a:avLst/>
            <a:gdLst/>
            <a:ahLst/>
            <a:cxnLst/>
            <a:rect l="l" t="t" r="r" b="b"/>
            <a:pathLst>
              <a:path w="50800" h="1270000">
                <a:moveTo>
                  <a:pt x="50800" y="0"/>
                </a:moveTo>
                <a:lnTo>
                  <a:pt x="50800" y="0"/>
                </a:lnTo>
                <a:lnTo>
                  <a:pt x="50800" y="1270000"/>
                </a:lnTo>
                <a:lnTo>
                  <a:pt x="50800" y="1270000"/>
                </a:lnTo>
                <a:cubicBezTo>
                  <a:pt x="22763" y="1270000"/>
                  <a:pt x="0" y="1247237"/>
                  <a:pt x="0" y="1219200"/>
                </a:cubicBezTo>
                <a:lnTo>
                  <a:pt x="0" y="50800"/>
                </a:lnTo>
                <a:cubicBezTo>
                  <a:pt x="0" y="22763"/>
                  <a:pt x="22763" y="0"/>
                  <a:pt x="50800" y="0"/>
                </a:cubicBezTo>
                <a:close/>
              </a:path>
            </a:pathLst>
          </a:custGeom>
          <a:solidFill>
            <a:srgbClr val="4C7E9A"/>
          </a:solidFill>
          <a:ln/>
        </p:spPr>
      </p:sp>
      <p:sp>
        <p:nvSpPr>
          <p:cNvPr id="12" name="Text 9"/>
          <p:cNvSpPr/>
          <p:nvPr/>
        </p:nvSpPr>
        <p:spPr>
          <a:xfrm>
            <a:off x="812800" y="6864350"/>
            <a:ext cx="2184400" cy="355600"/>
          </a:xfrm>
          <a:prstGeom prst="rect">
            <a:avLst/>
          </a:prstGeom>
          <a:noFill/>
          <a:ln/>
        </p:spPr>
        <p:txBody>
          <a:bodyPr wrap="square" lIns="0" tIns="0" rIns="0" bIns="0" rtlCol="0" anchor="ctr"/>
          <a:lstStyle/>
          <a:p>
            <a:pPr>
              <a:lnSpc>
                <a:spcPct val="130000"/>
              </a:lnSpc>
            </a:pPr>
            <a:r>
              <a:rPr lang="en-US" sz="1800" b="1" dirty="0">
                <a:solidFill>
                  <a:srgbClr val="7E9AA8"/>
                </a:solidFill>
                <a:latin typeface="MiSans" pitchFamily="34" charset="0"/>
                <a:ea typeface="MiSans" pitchFamily="34" charset="-122"/>
                <a:cs typeface="MiSans" pitchFamily="34" charset="-120"/>
              </a:rPr>
              <a:t>Bagging</a:t>
            </a:r>
            <a:endParaRPr lang="en-US" sz="1600" dirty="0"/>
          </a:p>
        </p:txBody>
      </p:sp>
      <p:sp>
        <p:nvSpPr>
          <p:cNvPr id="13" name="Text 10"/>
          <p:cNvSpPr/>
          <p:nvPr/>
        </p:nvSpPr>
        <p:spPr>
          <a:xfrm>
            <a:off x="812800" y="7321550"/>
            <a:ext cx="2171700" cy="304800"/>
          </a:xfrm>
          <a:prstGeom prst="rect">
            <a:avLst/>
          </a:prstGeom>
          <a:noFill/>
          <a:ln/>
        </p:spPr>
        <p:txBody>
          <a:bodyPr wrap="square" lIns="0" tIns="0" rIns="0" bIns="0" rtlCol="0" anchor="ctr"/>
          <a:lstStyle/>
          <a:p>
            <a:pPr>
              <a:lnSpc>
                <a:spcPct val="130000"/>
              </a:lnSpc>
            </a:pPr>
            <a:r>
              <a:rPr lang="en-US" sz="1600" dirty="0">
                <a:solidFill>
                  <a:srgbClr val="D1D5DB"/>
                </a:solidFill>
                <a:latin typeface="MiSans" pitchFamily="34" charset="0"/>
                <a:ea typeface="MiSans" pitchFamily="34" charset="-122"/>
                <a:cs typeface="MiSans" pitchFamily="34" charset="-120"/>
              </a:rPr>
              <a:t>并行集成</a:t>
            </a:r>
            <a:endParaRPr lang="en-US" sz="1600" dirty="0"/>
          </a:p>
        </p:txBody>
      </p:sp>
      <p:sp>
        <p:nvSpPr>
          <p:cNvPr id="14" name="Shape 11"/>
          <p:cNvSpPr/>
          <p:nvPr/>
        </p:nvSpPr>
        <p:spPr>
          <a:xfrm>
            <a:off x="3465016" y="6610350"/>
            <a:ext cx="2603500" cy="1270000"/>
          </a:xfrm>
          <a:custGeom>
            <a:avLst/>
            <a:gdLst/>
            <a:ahLst/>
            <a:cxnLst/>
            <a:rect l="l" t="t" r="r" b="b"/>
            <a:pathLst>
              <a:path w="2603500" h="1270000">
                <a:moveTo>
                  <a:pt x="50800" y="0"/>
                </a:moveTo>
                <a:lnTo>
                  <a:pt x="2501900" y="0"/>
                </a:lnTo>
                <a:cubicBezTo>
                  <a:pt x="2557975" y="0"/>
                  <a:pt x="2603500" y="45525"/>
                  <a:pt x="2603500" y="101600"/>
                </a:cubicBezTo>
                <a:lnTo>
                  <a:pt x="2603500" y="1168400"/>
                </a:lnTo>
                <a:cubicBezTo>
                  <a:pt x="2603500" y="1224475"/>
                  <a:pt x="2557975" y="1270000"/>
                  <a:pt x="2501900" y="1270000"/>
                </a:cubicBezTo>
                <a:lnTo>
                  <a:pt x="50800" y="1270000"/>
                </a:lnTo>
                <a:cubicBezTo>
                  <a:pt x="22763" y="1270000"/>
                  <a:pt x="0" y="1247237"/>
                  <a:pt x="0" y="1219200"/>
                </a:cubicBezTo>
                <a:lnTo>
                  <a:pt x="0" y="50800"/>
                </a:lnTo>
                <a:cubicBezTo>
                  <a:pt x="0" y="22763"/>
                  <a:pt x="22763" y="0"/>
                  <a:pt x="50800" y="0"/>
                </a:cubicBezTo>
                <a:close/>
              </a:path>
            </a:pathLst>
          </a:custGeom>
          <a:solidFill>
            <a:srgbClr val="3A5E78">
              <a:alpha val="30196"/>
            </a:srgbClr>
          </a:solidFill>
          <a:ln/>
        </p:spPr>
      </p:sp>
      <p:sp>
        <p:nvSpPr>
          <p:cNvPr id="15" name="Shape 12"/>
          <p:cNvSpPr/>
          <p:nvPr/>
        </p:nvSpPr>
        <p:spPr>
          <a:xfrm>
            <a:off x="3465016" y="6610350"/>
            <a:ext cx="50800" cy="1270000"/>
          </a:xfrm>
          <a:custGeom>
            <a:avLst/>
            <a:gdLst/>
            <a:ahLst/>
            <a:cxnLst/>
            <a:rect l="l" t="t" r="r" b="b"/>
            <a:pathLst>
              <a:path w="50800" h="1270000">
                <a:moveTo>
                  <a:pt x="50800" y="0"/>
                </a:moveTo>
                <a:lnTo>
                  <a:pt x="50800" y="0"/>
                </a:lnTo>
                <a:lnTo>
                  <a:pt x="50800" y="1270000"/>
                </a:lnTo>
                <a:lnTo>
                  <a:pt x="50800" y="1270000"/>
                </a:lnTo>
                <a:cubicBezTo>
                  <a:pt x="22763" y="1270000"/>
                  <a:pt x="0" y="1247237"/>
                  <a:pt x="0" y="1219200"/>
                </a:cubicBezTo>
                <a:lnTo>
                  <a:pt x="0" y="50800"/>
                </a:lnTo>
                <a:cubicBezTo>
                  <a:pt x="0" y="22763"/>
                  <a:pt x="22763" y="0"/>
                  <a:pt x="50800" y="0"/>
                </a:cubicBezTo>
                <a:close/>
              </a:path>
            </a:pathLst>
          </a:custGeom>
          <a:solidFill>
            <a:srgbClr val="4C7E9A"/>
          </a:solidFill>
          <a:ln/>
        </p:spPr>
      </p:sp>
      <p:sp>
        <p:nvSpPr>
          <p:cNvPr id="16" name="Text 13"/>
          <p:cNvSpPr/>
          <p:nvPr/>
        </p:nvSpPr>
        <p:spPr>
          <a:xfrm>
            <a:off x="3744416" y="6864350"/>
            <a:ext cx="2184400" cy="355600"/>
          </a:xfrm>
          <a:prstGeom prst="rect">
            <a:avLst/>
          </a:prstGeom>
          <a:noFill/>
          <a:ln/>
        </p:spPr>
        <p:txBody>
          <a:bodyPr wrap="square" lIns="0" tIns="0" rIns="0" bIns="0" rtlCol="0" anchor="ctr"/>
          <a:lstStyle/>
          <a:p>
            <a:pPr>
              <a:lnSpc>
                <a:spcPct val="130000"/>
              </a:lnSpc>
            </a:pPr>
            <a:r>
              <a:rPr lang="en-US" sz="1800" b="1" dirty="0">
                <a:solidFill>
                  <a:srgbClr val="7E9AA8"/>
                </a:solidFill>
                <a:latin typeface="MiSans" pitchFamily="34" charset="0"/>
                <a:ea typeface="MiSans" pitchFamily="34" charset="-122"/>
                <a:cs typeface="MiSans" pitchFamily="34" charset="-120"/>
              </a:rPr>
              <a:t>Boosting</a:t>
            </a:r>
            <a:endParaRPr lang="en-US" sz="1600" dirty="0"/>
          </a:p>
        </p:txBody>
      </p:sp>
      <p:sp>
        <p:nvSpPr>
          <p:cNvPr id="17" name="Text 14"/>
          <p:cNvSpPr/>
          <p:nvPr/>
        </p:nvSpPr>
        <p:spPr>
          <a:xfrm>
            <a:off x="3744416" y="7321550"/>
            <a:ext cx="2171700" cy="304800"/>
          </a:xfrm>
          <a:prstGeom prst="rect">
            <a:avLst/>
          </a:prstGeom>
          <a:noFill/>
          <a:ln/>
        </p:spPr>
        <p:txBody>
          <a:bodyPr wrap="square" lIns="0" tIns="0" rIns="0" bIns="0" rtlCol="0" anchor="ctr"/>
          <a:lstStyle/>
          <a:p>
            <a:pPr>
              <a:lnSpc>
                <a:spcPct val="130000"/>
              </a:lnSpc>
            </a:pPr>
            <a:r>
              <a:rPr lang="en-US" sz="1600" dirty="0">
                <a:solidFill>
                  <a:srgbClr val="D1D5DB"/>
                </a:solidFill>
                <a:latin typeface="MiSans" pitchFamily="34" charset="0"/>
                <a:ea typeface="MiSans" pitchFamily="34" charset="-122"/>
                <a:cs typeface="MiSans" pitchFamily="34" charset="-120"/>
              </a:rPr>
              <a:t>串行优化</a:t>
            </a:r>
            <a:endParaRPr lang="en-US" sz="1600" dirty="0"/>
          </a:p>
        </p:txBody>
      </p:sp>
      <p:sp>
        <p:nvSpPr>
          <p:cNvPr id="18" name="Shape 15"/>
          <p:cNvSpPr/>
          <p:nvPr/>
        </p:nvSpPr>
        <p:spPr>
          <a:xfrm>
            <a:off x="6396732" y="6610350"/>
            <a:ext cx="2603500" cy="1270000"/>
          </a:xfrm>
          <a:custGeom>
            <a:avLst/>
            <a:gdLst/>
            <a:ahLst/>
            <a:cxnLst/>
            <a:rect l="l" t="t" r="r" b="b"/>
            <a:pathLst>
              <a:path w="2603500" h="1270000">
                <a:moveTo>
                  <a:pt x="50800" y="0"/>
                </a:moveTo>
                <a:lnTo>
                  <a:pt x="2501900" y="0"/>
                </a:lnTo>
                <a:cubicBezTo>
                  <a:pt x="2557975" y="0"/>
                  <a:pt x="2603500" y="45525"/>
                  <a:pt x="2603500" y="101600"/>
                </a:cubicBezTo>
                <a:lnTo>
                  <a:pt x="2603500" y="1168400"/>
                </a:lnTo>
                <a:cubicBezTo>
                  <a:pt x="2603500" y="1224475"/>
                  <a:pt x="2557975" y="1270000"/>
                  <a:pt x="2501900" y="1270000"/>
                </a:cubicBezTo>
                <a:lnTo>
                  <a:pt x="50800" y="1270000"/>
                </a:lnTo>
                <a:cubicBezTo>
                  <a:pt x="22763" y="1270000"/>
                  <a:pt x="0" y="1247237"/>
                  <a:pt x="0" y="1219200"/>
                </a:cubicBezTo>
                <a:lnTo>
                  <a:pt x="0" y="50800"/>
                </a:lnTo>
                <a:cubicBezTo>
                  <a:pt x="0" y="22763"/>
                  <a:pt x="22763" y="0"/>
                  <a:pt x="50800" y="0"/>
                </a:cubicBezTo>
                <a:close/>
              </a:path>
            </a:pathLst>
          </a:custGeom>
          <a:solidFill>
            <a:srgbClr val="3A5E78">
              <a:alpha val="30196"/>
            </a:srgbClr>
          </a:solidFill>
          <a:ln/>
        </p:spPr>
      </p:sp>
      <p:sp>
        <p:nvSpPr>
          <p:cNvPr id="19" name="Shape 16"/>
          <p:cNvSpPr/>
          <p:nvPr/>
        </p:nvSpPr>
        <p:spPr>
          <a:xfrm>
            <a:off x="6396732" y="6610350"/>
            <a:ext cx="50800" cy="1270000"/>
          </a:xfrm>
          <a:custGeom>
            <a:avLst/>
            <a:gdLst/>
            <a:ahLst/>
            <a:cxnLst/>
            <a:rect l="l" t="t" r="r" b="b"/>
            <a:pathLst>
              <a:path w="50800" h="1270000">
                <a:moveTo>
                  <a:pt x="50800" y="0"/>
                </a:moveTo>
                <a:lnTo>
                  <a:pt x="50800" y="0"/>
                </a:lnTo>
                <a:lnTo>
                  <a:pt x="50800" y="1270000"/>
                </a:lnTo>
                <a:lnTo>
                  <a:pt x="50800" y="1270000"/>
                </a:lnTo>
                <a:cubicBezTo>
                  <a:pt x="22763" y="1270000"/>
                  <a:pt x="0" y="1247237"/>
                  <a:pt x="0" y="1219200"/>
                </a:cubicBezTo>
                <a:lnTo>
                  <a:pt x="0" y="50800"/>
                </a:lnTo>
                <a:cubicBezTo>
                  <a:pt x="0" y="22763"/>
                  <a:pt x="22763" y="0"/>
                  <a:pt x="50800" y="0"/>
                </a:cubicBezTo>
                <a:close/>
              </a:path>
            </a:pathLst>
          </a:custGeom>
          <a:solidFill>
            <a:srgbClr val="4C7E9A"/>
          </a:solidFill>
          <a:ln/>
        </p:spPr>
      </p:sp>
      <p:sp>
        <p:nvSpPr>
          <p:cNvPr id="20" name="Text 17"/>
          <p:cNvSpPr/>
          <p:nvPr/>
        </p:nvSpPr>
        <p:spPr>
          <a:xfrm>
            <a:off x="6676132" y="6864350"/>
            <a:ext cx="2184400" cy="355600"/>
          </a:xfrm>
          <a:prstGeom prst="rect">
            <a:avLst/>
          </a:prstGeom>
          <a:noFill/>
          <a:ln/>
        </p:spPr>
        <p:txBody>
          <a:bodyPr wrap="square" lIns="0" tIns="0" rIns="0" bIns="0" rtlCol="0" anchor="ctr"/>
          <a:lstStyle/>
          <a:p>
            <a:pPr>
              <a:lnSpc>
                <a:spcPct val="130000"/>
              </a:lnSpc>
            </a:pPr>
            <a:r>
              <a:rPr lang="en-US" sz="1800" b="1" dirty="0">
                <a:solidFill>
                  <a:srgbClr val="7E9AA8"/>
                </a:solidFill>
                <a:latin typeface="MiSans" pitchFamily="34" charset="0"/>
                <a:ea typeface="MiSans" pitchFamily="34" charset="-122"/>
                <a:cs typeface="MiSans" pitchFamily="34" charset="-120"/>
              </a:rPr>
              <a:t>Stacking</a:t>
            </a:r>
            <a:endParaRPr lang="en-US" sz="1600" dirty="0"/>
          </a:p>
        </p:txBody>
      </p:sp>
      <p:sp>
        <p:nvSpPr>
          <p:cNvPr id="21" name="Text 18"/>
          <p:cNvSpPr/>
          <p:nvPr/>
        </p:nvSpPr>
        <p:spPr>
          <a:xfrm>
            <a:off x="6676132" y="7321550"/>
            <a:ext cx="2171700" cy="304800"/>
          </a:xfrm>
          <a:prstGeom prst="rect">
            <a:avLst/>
          </a:prstGeom>
          <a:noFill/>
          <a:ln/>
        </p:spPr>
        <p:txBody>
          <a:bodyPr wrap="square" lIns="0" tIns="0" rIns="0" bIns="0" rtlCol="0" anchor="ctr"/>
          <a:lstStyle/>
          <a:p>
            <a:pPr>
              <a:lnSpc>
                <a:spcPct val="130000"/>
              </a:lnSpc>
            </a:pPr>
            <a:r>
              <a:rPr lang="en-US" sz="1600" dirty="0">
                <a:solidFill>
                  <a:srgbClr val="D1D5DB"/>
                </a:solidFill>
                <a:latin typeface="MiSans" pitchFamily="34" charset="0"/>
                <a:ea typeface="MiSans" pitchFamily="34" charset="-122"/>
                <a:cs typeface="MiSans" pitchFamily="34" charset="-120"/>
              </a:rPr>
              <a:t>层级融合</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68473" y="498667"/>
            <a:ext cx="15412749" cy="281084"/>
          </a:xfrm>
          <a:prstGeom prst="rect">
            <a:avLst/>
          </a:prstGeom>
          <a:noFill/>
          <a:ln/>
        </p:spPr>
        <p:txBody>
          <a:bodyPr wrap="square" lIns="0" tIns="0" rIns="0" bIns="0" rtlCol="0" anchor="ctr"/>
          <a:lstStyle/>
          <a:p>
            <a:pPr>
              <a:lnSpc>
                <a:spcPct val="130000"/>
              </a:lnSpc>
            </a:pPr>
            <a:r>
              <a:rPr lang="en-US" sz="1476" b="1" spc="74" kern="0" dirty="0">
                <a:solidFill>
                  <a:srgbClr val="7E9AA8"/>
                </a:solidFill>
                <a:latin typeface="MiSans" pitchFamily="34" charset="0"/>
                <a:ea typeface="MiSans" pitchFamily="34" charset="-122"/>
                <a:cs typeface="MiSans" pitchFamily="34" charset="-120"/>
              </a:rPr>
              <a:t>CONTENTS</a:t>
            </a:r>
            <a:endParaRPr lang="en-US" sz="1600" dirty="0"/>
          </a:p>
        </p:txBody>
      </p:sp>
      <p:sp>
        <p:nvSpPr>
          <p:cNvPr id="3" name="Text 1"/>
          <p:cNvSpPr/>
          <p:nvPr/>
        </p:nvSpPr>
        <p:spPr>
          <a:xfrm>
            <a:off x="468473" y="873445"/>
            <a:ext cx="15600138" cy="562167"/>
          </a:xfrm>
          <a:prstGeom prst="rect">
            <a:avLst/>
          </a:prstGeom>
          <a:noFill/>
          <a:ln/>
        </p:spPr>
        <p:txBody>
          <a:bodyPr wrap="square" lIns="0" tIns="0" rIns="0" bIns="0" rtlCol="0" anchor="ctr"/>
          <a:lstStyle/>
          <a:p>
            <a:pPr>
              <a:lnSpc>
                <a:spcPct val="80000"/>
              </a:lnSpc>
            </a:pPr>
            <a:r>
              <a:rPr lang="en-US" sz="4427" b="1" dirty="0">
                <a:solidFill>
                  <a:srgbClr val="D1D5DB"/>
                </a:solidFill>
                <a:latin typeface="阿里妈妈数黑体" pitchFamily="34" charset="0"/>
                <a:ea typeface="阿里妈妈数黑体" pitchFamily="34" charset="-122"/>
                <a:cs typeface="阿里妈妈数黑体" pitchFamily="34" charset="-120"/>
              </a:rPr>
              <a:t>目录</a:t>
            </a:r>
            <a:endParaRPr lang="en-US" sz="1600" dirty="0"/>
          </a:p>
        </p:txBody>
      </p:sp>
      <p:sp>
        <p:nvSpPr>
          <p:cNvPr id="4" name="Shape 2"/>
          <p:cNvSpPr/>
          <p:nvPr/>
        </p:nvSpPr>
        <p:spPr>
          <a:xfrm>
            <a:off x="468473" y="1623001"/>
            <a:ext cx="1124334" cy="46847"/>
          </a:xfrm>
          <a:custGeom>
            <a:avLst/>
            <a:gdLst/>
            <a:ahLst/>
            <a:cxnLst/>
            <a:rect l="l" t="t" r="r" b="b"/>
            <a:pathLst>
              <a:path w="1124334" h="46847">
                <a:moveTo>
                  <a:pt x="0" y="0"/>
                </a:moveTo>
                <a:lnTo>
                  <a:pt x="1124334" y="0"/>
                </a:lnTo>
                <a:lnTo>
                  <a:pt x="1124334" y="46847"/>
                </a:lnTo>
                <a:lnTo>
                  <a:pt x="0" y="46847"/>
                </a:lnTo>
                <a:lnTo>
                  <a:pt x="0" y="0"/>
                </a:lnTo>
                <a:close/>
              </a:path>
            </a:pathLst>
          </a:custGeom>
          <a:solidFill>
            <a:srgbClr val="4C7E9A"/>
          </a:solidFill>
          <a:ln/>
        </p:spPr>
      </p:sp>
      <p:sp>
        <p:nvSpPr>
          <p:cNvPr id="5" name="Shape 3"/>
          <p:cNvSpPr/>
          <p:nvPr/>
        </p:nvSpPr>
        <p:spPr>
          <a:xfrm>
            <a:off x="491896" y="2044627"/>
            <a:ext cx="7495562" cy="983793"/>
          </a:xfrm>
          <a:custGeom>
            <a:avLst/>
            <a:gdLst/>
            <a:ahLst/>
            <a:cxnLst/>
            <a:rect l="l" t="t" r="r" b="b"/>
            <a:pathLst>
              <a:path w="7495562" h="983793">
                <a:moveTo>
                  <a:pt x="46847" y="0"/>
                </a:moveTo>
                <a:lnTo>
                  <a:pt x="7401866" y="0"/>
                </a:lnTo>
                <a:cubicBezTo>
                  <a:pt x="7453613" y="0"/>
                  <a:pt x="7495562" y="41949"/>
                  <a:pt x="7495562" y="93696"/>
                </a:cubicBezTo>
                <a:lnTo>
                  <a:pt x="7495562" y="890096"/>
                </a:lnTo>
                <a:cubicBezTo>
                  <a:pt x="7495562" y="941843"/>
                  <a:pt x="7453613" y="983793"/>
                  <a:pt x="7401866" y="983793"/>
                </a:cubicBezTo>
                <a:lnTo>
                  <a:pt x="46847" y="983793"/>
                </a:lnTo>
                <a:cubicBezTo>
                  <a:pt x="20974" y="983793"/>
                  <a:pt x="0" y="962818"/>
                  <a:pt x="0" y="936945"/>
                </a:cubicBezTo>
                <a:lnTo>
                  <a:pt x="0" y="46847"/>
                </a:lnTo>
                <a:cubicBezTo>
                  <a:pt x="0" y="20974"/>
                  <a:pt x="20974" y="0"/>
                  <a:pt x="46847" y="0"/>
                </a:cubicBezTo>
                <a:close/>
              </a:path>
            </a:pathLst>
          </a:custGeom>
          <a:solidFill>
            <a:srgbClr val="3A5E78">
              <a:alpha val="20000"/>
            </a:srgbClr>
          </a:solidFill>
          <a:ln/>
        </p:spPr>
      </p:sp>
      <p:sp>
        <p:nvSpPr>
          <p:cNvPr id="6" name="Shape 4"/>
          <p:cNvSpPr/>
          <p:nvPr/>
        </p:nvSpPr>
        <p:spPr>
          <a:xfrm>
            <a:off x="491896" y="2044627"/>
            <a:ext cx="46847" cy="983793"/>
          </a:xfrm>
          <a:custGeom>
            <a:avLst/>
            <a:gdLst/>
            <a:ahLst/>
            <a:cxnLst/>
            <a:rect l="l" t="t" r="r" b="b"/>
            <a:pathLst>
              <a:path w="46847" h="983793">
                <a:moveTo>
                  <a:pt x="46847" y="0"/>
                </a:moveTo>
                <a:lnTo>
                  <a:pt x="46847" y="0"/>
                </a:lnTo>
                <a:lnTo>
                  <a:pt x="46847" y="983793"/>
                </a:lnTo>
                <a:lnTo>
                  <a:pt x="46847" y="983793"/>
                </a:lnTo>
                <a:cubicBezTo>
                  <a:pt x="20974" y="983793"/>
                  <a:pt x="0" y="962818"/>
                  <a:pt x="0" y="936945"/>
                </a:cubicBezTo>
                <a:lnTo>
                  <a:pt x="0" y="46847"/>
                </a:lnTo>
                <a:cubicBezTo>
                  <a:pt x="0" y="20992"/>
                  <a:pt x="20992" y="0"/>
                  <a:pt x="46847" y="0"/>
                </a:cubicBezTo>
                <a:close/>
              </a:path>
            </a:pathLst>
          </a:custGeom>
          <a:solidFill>
            <a:srgbClr val="4C7E9A"/>
          </a:solidFill>
          <a:ln/>
        </p:spPr>
      </p:sp>
      <p:sp>
        <p:nvSpPr>
          <p:cNvPr id="7" name="Shape 5"/>
          <p:cNvSpPr/>
          <p:nvPr/>
        </p:nvSpPr>
        <p:spPr>
          <a:xfrm>
            <a:off x="702709" y="2232016"/>
            <a:ext cx="468473" cy="468473"/>
          </a:xfrm>
          <a:custGeom>
            <a:avLst/>
            <a:gdLst/>
            <a:ahLst/>
            <a:cxnLst/>
            <a:rect l="l" t="t" r="r" b="b"/>
            <a:pathLst>
              <a:path w="468473" h="468473">
                <a:moveTo>
                  <a:pt x="234236" y="0"/>
                </a:moveTo>
                <a:lnTo>
                  <a:pt x="234236" y="0"/>
                </a:lnTo>
                <a:cubicBezTo>
                  <a:pt x="363601" y="0"/>
                  <a:pt x="468473" y="104871"/>
                  <a:pt x="468473" y="234236"/>
                </a:cubicBezTo>
                <a:lnTo>
                  <a:pt x="468473" y="234236"/>
                </a:lnTo>
                <a:cubicBezTo>
                  <a:pt x="468473" y="363601"/>
                  <a:pt x="363601" y="468473"/>
                  <a:pt x="234236" y="468473"/>
                </a:cubicBezTo>
                <a:lnTo>
                  <a:pt x="234236" y="468473"/>
                </a:lnTo>
                <a:cubicBezTo>
                  <a:pt x="104871" y="468473"/>
                  <a:pt x="0" y="363601"/>
                  <a:pt x="0" y="234236"/>
                </a:cubicBezTo>
                <a:lnTo>
                  <a:pt x="0" y="234236"/>
                </a:lnTo>
                <a:cubicBezTo>
                  <a:pt x="0" y="104871"/>
                  <a:pt x="104871" y="0"/>
                  <a:pt x="234236" y="0"/>
                </a:cubicBezTo>
                <a:close/>
              </a:path>
            </a:pathLst>
          </a:custGeom>
          <a:solidFill>
            <a:srgbClr val="4C7E9A"/>
          </a:solidFill>
          <a:ln/>
        </p:spPr>
      </p:sp>
      <p:sp>
        <p:nvSpPr>
          <p:cNvPr id="8" name="Text 6"/>
          <p:cNvSpPr/>
          <p:nvPr/>
        </p:nvSpPr>
        <p:spPr>
          <a:xfrm>
            <a:off x="650006" y="2232016"/>
            <a:ext cx="573879" cy="468473"/>
          </a:xfrm>
          <a:prstGeom prst="rect">
            <a:avLst/>
          </a:prstGeom>
          <a:noFill/>
          <a:ln/>
        </p:spPr>
        <p:txBody>
          <a:bodyPr wrap="square" lIns="0" tIns="0" rIns="0" bIns="0" rtlCol="0" anchor="ctr"/>
          <a:lstStyle/>
          <a:p>
            <a:pPr algn="ctr">
              <a:lnSpc>
                <a:spcPct val="130000"/>
              </a:lnSpc>
            </a:pPr>
            <a:r>
              <a:rPr lang="en-US" sz="1660" b="1" dirty="0">
                <a:solidFill>
                  <a:srgbClr val="181A1F"/>
                </a:solidFill>
                <a:latin typeface="MiSans" pitchFamily="34" charset="0"/>
                <a:ea typeface="MiSans" pitchFamily="34" charset="-122"/>
                <a:cs typeface="MiSans" pitchFamily="34" charset="-120"/>
              </a:rPr>
              <a:t>01</a:t>
            </a:r>
            <a:endParaRPr lang="en-US" sz="1600" dirty="0"/>
          </a:p>
        </p:txBody>
      </p:sp>
      <p:sp>
        <p:nvSpPr>
          <p:cNvPr id="9" name="Text 7"/>
          <p:cNvSpPr/>
          <p:nvPr/>
        </p:nvSpPr>
        <p:spPr>
          <a:xfrm>
            <a:off x="1311723" y="2232016"/>
            <a:ext cx="1745061" cy="327931"/>
          </a:xfrm>
          <a:prstGeom prst="rect">
            <a:avLst/>
          </a:prstGeom>
          <a:noFill/>
          <a:ln/>
        </p:spPr>
        <p:txBody>
          <a:bodyPr wrap="square" lIns="0" tIns="0" rIns="0" bIns="0" rtlCol="0" anchor="ctr"/>
          <a:lstStyle/>
          <a:p>
            <a:pPr>
              <a:lnSpc>
                <a:spcPct val="130000"/>
              </a:lnSpc>
            </a:pPr>
            <a:r>
              <a:rPr lang="en-US" sz="1660" b="1" dirty="0">
                <a:solidFill>
                  <a:srgbClr val="D1D5DB"/>
                </a:solidFill>
                <a:latin typeface="阿里妈妈数黑体" pitchFamily="34" charset="0"/>
                <a:ea typeface="阿里妈妈数黑体" pitchFamily="34" charset="-122"/>
                <a:cs typeface="阿里妈妈数黑体" pitchFamily="34" charset="-120"/>
              </a:rPr>
              <a:t>集成学习概述</a:t>
            </a:r>
            <a:endParaRPr lang="en-US" sz="1600" dirty="0"/>
          </a:p>
        </p:txBody>
      </p:sp>
      <p:sp>
        <p:nvSpPr>
          <p:cNvPr id="10" name="Text 8"/>
          <p:cNvSpPr/>
          <p:nvPr/>
        </p:nvSpPr>
        <p:spPr>
          <a:xfrm>
            <a:off x="1311723" y="2606794"/>
            <a:ext cx="1721637" cy="234236"/>
          </a:xfrm>
          <a:prstGeom prst="rect">
            <a:avLst/>
          </a:prstGeom>
          <a:noFill/>
          <a:ln/>
        </p:spPr>
        <p:txBody>
          <a:bodyPr wrap="square" lIns="0" tIns="0" rIns="0" bIns="0" rtlCol="0" anchor="ctr"/>
          <a:lstStyle/>
          <a:p>
            <a:pPr>
              <a:lnSpc>
                <a:spcPct val="120000"/>
              </a:lnSpc>
            </a:pPr>
            <a:r>
              <a:rPr lang="en-US" sz="1291" dirty="0">
                <a:solidFill>
                  <a:srgbClr val="7E9AA8"/>
                </a:solidFill>
                <a:latin typeface="MiSans" pitchFamily="34" charset="0"/>
                <a:ea typeface="MiSans" pitchFamily="34" charset="-122"/>
                <a:cs typeface="MiSans" pitchFamily="34" charset="-120"/>
              </a:rPr>
              <a:t>集体智慧优于个体决策</a:t>
            </a:r>
            <a:endParaRPr lang="en-US" sz="1600" dirty="0"/>
          </a:p>
        </p:txBody>
      </p:sp>
      <p:sp>
        <p:nvSpPr>
          <p:cNvPr id="11" name="Shape 9"/>
          <p:cNvSpPr/>
          <p:nvPr/>
        </p:nvSpPr>
        <p:spPr>
          <a:xfrm>
            <a:off x="8294527" y="2044627"/>
            <a:ext cx="7495562" cy="983793"/>
          </a:xfrm>
          <a:custGeom>
            <a:avLst/>
            <a:gdLst/>
            <a:ahLst/>
            <a:cxnLst/>
            <a:rect l="l" t="t" r="r" b="b"/>
            <a:pathLst>
              <a:path w="7495562" h="983793">
                <a:moveTo>
                  <a:pt x="46847" y="0"/>
                </a:moveTo>
                <a:lnTo>
                  <a:pt x="7401866" y="0"/>
                </a:lnTo>
                <a:cubicBezTo>
                  <a:pt x="7453613" y="0"/>
                  <a:pt x="7495562" y="41949"/>
                  <a:pt x="7495562" y="93696"/>
                </a:cubicBezTo>
                <a:lnTo>
                  <a:pt x="7495562" y="890096"/>
                </a:lnTo>
                <a:cubicBezTo>
                  <a:pt x="7495562" y="941843"/>
                  <a:pt x="7453613" y="983793"/>
                  <a:pt x="7401866" y="983793"/>
                </a:cubicBezTo>
                <a:lnTo>
                  <a:pt x="46847" y="983793"/>
                </a:lnTo>
                <a:cubicBezTo>
                  <a:pt x="20974" y="983793"/>
                  <a:pt x="0" y="962818"/>
                  <a:pt x="0" y="936945"/>
                </a:cubicBezTo>
                <a:lnTo>
                  <a:pt x="0" y="46847"/>
                </a:lnTo>
                <a:cubicBezTo>
                  <a:pt x="0" y="20974"/>
                  <a:pt x="20974" y="0"/>
                  <a:pt x="46847" y="0"/>
                </a:cubicBezTo>
                <a:close/>
              </a:path>
            </a:pathLst>
          </a:custGeom>
          <a:solidFill>
            <a:srgbClr val="3A5E78">
              <a:alpha val="20000"/>
            </a:srgbClr>
          </a:solidFill>
          <a:ln/>
        </p:spPr>
      </p:sp>
      <p:sp>
        <p:nvSpPr>
          <p:cNvPr id="12" name="Shape 10"/>
          <p:cNvSpPr/>
          <p:nvPr/>
        </p:nvSpPr>
        <p:spPr>
          <a:xfrm>
            <a:off x="8294527" y="2044627"/>
            <a:ext cx="46847" cy="983793"/>
          </a:xfrm>
          <a:custGeom>
            <a:avLst/>
            <a:gdLst/>
            <a:ahLst/>
            <a:cxnLst/>
            <a:rect l="l" t="t" r="r" b="b"/>
            <a:pathLst>
              <a:path w="46847" h="983793">
                <a:moveTo>
                  <a:pt x="46847" y="0"/>
                </a:moveTo>
                <a:lnTo>
                  <a:pt x="46847" y="0"/>
                </a:lnTo>
                <a:lnTo>
                  <a:pt x="46847" y="983793"/>
                </a:lnTo>
                <a:lnTo>
                  <a:pt x="46847" y="983793"/>
                </a:lnTo>
                <a:cubicBezTo>
                  <a:pt x="20974" y="983793"/>
                  <a:pt x="0" y="962818"/>
                  <a:pt x="0" y="936945"/>
                </a:cubicBezTo>
                <a:lnTo>
                  <a:pt x="0" y="46847"/>
                </a:lnTo>
                <a:cubicBezTo>
                  <a:pt x="0" y="20992"/>
                  <a:pt x="20992" y="0"/>
                  <a:pt x="46847" y="0"/>
                </a:cubicBezTo>
                <a:close/>
              </a:path>
            </a:pathLst>
          </a:custGeom>
          <a:solidFill>
            <a:srgbClr val="4C7E9A"/>
          </a:solidFill>
          <a:ln/>
        </p:spPr>
      </p:sp>
      <p:sp>
        <p:nvSpPr>
          <p:cNvPr id="13" name="Shape 11"/>
          <p:cNvSpPr/>
          <p:nvPr/>
        </p:nvSpPr>
        <p:spPr>
          <a:xfrm>
            <a:off x="8505340" y="2232016"/>
            <a:ext cx="468473" cy="468473"/>
          </a:xfrm>
          <a:custGeom>
            <a:avLst/>
            <a:gdLst/>
            <a:ahLst/>
            <a:cxnLst/>
            <a:rect l="l" t="t" r="r" b="b"/>
            <a:pathLst>
              <a:path w="468473" h="468473">
                <a:moveTo>
                  <a:pt x="234236" y="0"/>
                </a:moveTo>
                <a:lnTo>
                  <a:pt x="234236" y="0"/>
                </a:lnTo>
                <a:cubicBezTo>
                  <a:pt x="363601" y="0"/>
                  <a:pt x="468473" y="104871"/>
                  <a:pt x="468473" y="234236"/>
                </a:cubicBezTo>
                <a:lnTo>
                  <a:pt x="468473" y="234236"/>
                </a:lnTo>
                <a:cubicBezTo>
                  <a:pt x="468473" y="363601"/>
                  <a:pt x="363601" y="468473"/>
                  <a:pt x="234236" y="468473"/>
                </a:cubicBezTo>
                <a:lnTo>
                  <a:pt x="234236" y="468473"/>
                </a:lnTo>
                <a:cubicBezTo>
                  <a:pt x="104871" y="468473"/>
                  <a:pt x="0" y="363601"/>
                  <a:pt x="0" y="234236"/>
                </a:cubicBezTo>
                <a:lnTo>
                  <a:pt x="0" y="234236"/>
                </a:lnTo>
                <a:cubicBezTo>
                  <a:pt x="0" y="104871"/>
                  <a:pt x="104871" y="0"/>
                  <a:pt x="234236" y="0"/>
                </a:cubicBezTo>
                <a:close/>
              </a:path>
            </a:pathLst>
          </a:custGeom>
          <a:solidFill>
            <a:srgbClr val="4C7E9A"/>
          </a:solidFill>
          <a:ln/>
        </p:spPr>
      </p:sp>
      <p:sp>
        <p:nvSpPr>
          <p:cNvPr id="14" name="Text 12"/>
          <p:cNvSpPr/>
          <p:nvPr/>
        </p:nvSpPr>
        <p:spPr>
          <a:xfrm>
            <a:off x="8452637" y="2232016"/>
            <a:ext cx="573879" cy="468473"/>
          </a:xfrm>
          <a:prstGeom prst="rect">
            <a:avLst/>
          </a:prstGeom>
          <a:noFill/>
          <a:ln/>
        </p:spPr>
        <p:txBody>
          <a:bodyPr wrap="square" lIns="0" tIns="0" rIns="0" bIns="0" rtlCol="0" anchor="ctr"/>
          <a:lstStyle/>
          <a:p>
            <a:pPr algn="ctr">
              <a:lnSpc>
                <a:spcPct val="130000"/>
              </a:lnSpc>
            </a:pPr>
            <a:r>
              <a:rPr lang="en-US" sz="1660" b="1" dirty="0">
                <a:solidFill>
                  <a:srgbClr val="181A1F"/>
                </a:solidFill>
                <a:latin typeface="MiSans" pitchFamily="34" charset="0"/>
                <a:ea typeface="MiSans" pitchFamily="34" charset="-122"/>
                <a:cs typeface="MiSans" pitchFamily="34" charset="-120"/>
              </a:rPr>
              <a:t>02</a:t>
            </a:r>
            <a:endParaRPr lang="en-US" sz="1600" dirty="0"/>
          </a:p>
        </p:txBody>
      </p:sp>
      <p:sp>
        <p:nvSpPr>
          <p:cNvPr id="15" name="Text 13"/>
          <p:cNvSpPr/>
          <p:nvPr/>
        </p:nvSpPr>
        <p:spPr>
          <a:xfrm>
            <a:off x="9114354" y="2232016"/>
            <a:ext cx="2471193" cy="327931"/>
          </a:xfrm>
          <a:prstGeom prst="rect">
            <a:avLst/>
          </a:prstGeom>
          <a:noFill/>
          <a:ln/>
        </p:spPr>
        <p:txBody>
          <a:bodyPr wrap="square" lIns="0" tIns="0" rIns="0" bIns="0" rtlCol="0" anchor="ctr"/>
          <a:lstStyle/>
          <a:p>
            <a:pPr>
              <a:lnSpc>
                <a:spcPct val="130000"/>
              </a:lnSpc>
            </a:pPr>
            <a:r>
              <a:rPr lang="en-US" sz="1660" b="1" dirty="0">
                <a:solidFill>
                  <a:srgbClr val="D1D5DB"/>
                </a:solidFill>
                <a:latin typeface="阿里妈妈数黑体" pitchFamily="34" charset="0"/>
                <a:ea typeface="阿里妈妈数黑体" pitchFamily="34" charset="-122"/>
                <a:cs typeface="阿里妈妈数黑体" pitchFamily="34" charset="-120"/>
              </a:rPr>
              <a:t>模型评价</a:t>
            </a:r>
            <a:endParaRPr lang="en-US" sz="1600" dirty="0"/>
          </a:p>
        </p:txBody>
      </p:sp>
      <p:sp>
        <p:nvSpPr>
          <p:cNvPr id="16" name="Text 14"/>
          <p:cNvSpPr/>
          <p:nvPr/>
        </p:nvSpPr>
        <p:spPr>
          <a:xfrm>
            <a:off x="9114354" y="2606794"/>
            <a:ext cx="2447769" cy="234236"/>
          </a:xfrm>
          <a:prstGeom prst="rect">
            <a:avLst/>
          </a:prstGeom>
          <a:noFill/>
          <a:ln/>
        </p:spPr>
        <p:txBody>
          <a:bodyPr wrap="square" lIns="0" tIns="0" rIns="0" bIns="0" rtlCol="0" anchor="ctr"/>
          <a:lstStyle/>
          <a:p>
            <a:pPr>
              <a:lnSpc>
                <a:spcPct val="120000"/>
              </a:lnSpc>
            </a:pPr>
            <a:r>
              <a:rPr lang="en-US" sz="1291" dirty="0">
                <a:solidFill>
                  <a:srgbClr val="7E9AA8"/>
                </a:solidFill>
                <a:latin typeface="MiSans" pitchFamily="34" charset="0"/>
                <a:ea typeface="MiSans" pitchFamily="34" charset="-122"/>
                <a:cs typeface="MiSans" pitchFamily="34" charset="-120"/>
              </a:rPr>
              <a:t>过拟合、欠拟合与偏差-方差权衡</a:t>
            </a:r>
            <a:endParaRPr lang="en-US" sz="1600" dirty="0"/>
          </a:p>
        </p:txBody>
      </p:sp>
      <p:sp>
        <p:nvSpPr>
          <p:cNvPr id="17" name="Shape 15"/>
          <p:cNvSpPr/>
          <p:nvPr/>
        </p:nvSpPr>
        <p:spPr>
          <a:xfrm>
            <a:off x="491896" y="3262656"/>
            <a:ext cx="7495562" cy="983793"/>
          </a:xfrm>
          <a:custGeom>
            <a:avLst/>
            <a:gdLst/>
            <a:ahLst/>
            <a:cxnLst/>
            <a:rect l="l" t="t" r="r" b="b"/>
            <a:pathLst>
              <a:path w="7495562" h="983793">
                <a:moveTo>
                  <a:pt x="46847" y="0"/>
                </a:moveTo>
                <a:lnTo>
                  <a:pt x="7401866" y="0"/>
                </a:lnTo>
                <a:cubicBezTo>
                  <a:pt x="7453613" y="0"/>
                  <a:pt x="7495562" y="41949"/>
                  <a:pt x="7495562" y="93696"/>
                </a:cubicBezTo>
                <a:lnTo>
                  <a:pt x="7495562" y="890096"/>
                </a:lnTo>
                <a:cubicBezTo>
                  <a:pt x="7495562" y="941843"/>
                  <a:pt x="7453613" y="983793"/>
                  <a:pt x="7401866" y="983793"/>
                </a:cubicBezTo>
                <a:lnTo>
                  <a:pt x="46847" y="983793"/>
                </a:lnTo>
                <a:cubicBezTo>
                  <a:pt x="20974" y="983793"/>
                  <a:pt x="0" y="962818"/>
                  <a:pt x="0" y="936945"/>
                </a:cubicBezTo>
                <a:lnTo>
                  <a:pt x="0" y="46847"/>
                </a:lnTo>
                <a:cubicBezTo>
                  <a:pt x="0" y="20974"/>
                  <a:pt x="20974" y="0"/>
                  <a:pt x="46847" y="0"/>
                </a:cubicBezTo>
                <a:close/>
              </a:path>
            </a:pathLst>
          </a:custGeom>
          <a:solidFill>
            <a:srgbClr val="3A5E78">
              <a:alpha val="20000"/>
            </a:srgbClr>
          </a:solidFill>
          <a:ln/>
        </p:spPr>
      </p:sp>
      <p:sp>
        <p:nvSpPr>
          <p:cNvPr id="18" name="Shape 16"/>
          <p:cNvSpPr/>
          <p:nvPr/>
        </p:nvSpPr>
        <p:spPr>
          <a:xfrm>
            <a:off x="491896" y="3262656"/>
            <a:ext cx="46847" cy="983793"/>
          </a:xfrm>
          <a:custGeom>
            <a:avLst/>
            <a:gdLst/>
            <a:ahLst/>
            <a:cxnLst/>
            <a:rect l="l" t="t" r="r" b="b"/>
            <a:pathLst>
              <a:path w="46847" h="983793">
                <a:moveTo>
                  <a:pt x="46847" y="0"/>
                </a:moveTo>
                <a:lnTo>
                  <a:pt x="46847" y="0"/>
                </a:lnTo>
                <a:lnTo>
                  <a:pt x="46847" y="983793"/>
                </a:lnTo>
                <a:lnTo>
                  <a:pt x="46847" y="983793"/>
                </a:lnTo>
                <a:cubicBezTo>
                  <a:pt x="20974" y="983793"/>
                  <a:pt x="0" y="962818"/>
                  <a:pt x="0" y="936945"/>
                </a:cubicBezTo>
                <a:lnTo>
                  <a:pt x="0" y="46847"/>
                </a:lnTo>
                <a:cubicBezTo>
                  <a:pt x="0" y="20992"/>
                  <a:pt x="20992" y="0"/>
                  <a:pt x="46847" y="0"/>
                </a:cubicBezTo>
                <a:close/>
              </a:path>
            </a:pathLst>
          </a:custGeom>
          <a:solidFill>
            <a:srgbClr val="4C7E9A"/>
          </a:solidFill>
          <a:ln/>
        </p:spPr>
      </p:sp>
      <p:sp>
        <p:nvSpPr>
          <p:cNvPr id="19" name="Shape 17"/>
          <p:cNvSpPr/>
          <p:nvPr/>
        </p:nvSpPr>
        <p:spPr>
          <a:xfrm>
            <a:off x="702709" y="3450045"/>
            <a:ext cx="468473" cy="468473"/>
          </a:xfrm>
          <a:custGeom>
            <a:avLst/>
            <a:gdLst/>
            <a:ahLst/>
            <a:cxnLst/>
            <a:rect l="l" t="t" r="r" b="b"/>
            <a:pathLst>
              <a:path w="468473" h="468473">
                <a:moveTo>
                  <a:pt x="234236" y="0"/>
                </a:moveTo>
                <a:lnTo>
                  <a:pt x="234236" y="0"/>
                </a:lnTo>
                <a:cubicBezTo>
                  <a:pt x="363601" y="0"/>
                  <a:pt x="468473" y="104871"/>
                  <a:pt x="468473" y="234236"/>
                </a:cubicBezTo>
                <a:lnTo>
                  <a:pt x="468473" y="234236"/>
                </a:lnTo>
                <a:cubicBezTo>
                  <a:pt x="468473" y="363601"/>
                  <a:pt x="363601" y="468473"/>
                  <a:pt x="234236" y="468473"/>
                </a:cubicBezTo>
                <a:lnTo>
                  <a:pt x="234236" y="468473"/>
                </a:lnTo>
                <a:cubicBezTo>
                  <a:pt x="104871" y="468473"/>
                  <a:pt x="0" y="363601"/>
                  <a:pt x="0" y="234236"/>
                </a:cubicBezTo>
                <a:lnTo>
                  <a:pt x="0" y="234236"/>
                </a:lnTo>
                <a:cubicBezTo>
                  <a:pt x="0" y="104871"/>
                  <a:pt x="104871" y="0"/>
                  <a:pt x="234236" y="0"/>
                </a:cubicBezTo>
                <a:close/>
              </a:path>
            </a:pathLst>
          </a:custGeom>
          <a:solidFill>
            <a:srgbClr val="4C7E9A"/>
          </a:solidFill>
          <a:ln/>
        </p:spPr>
      </p:sp>
      <p:sp>
        <p:nvSpPr>
          <p:cNvPr id="20" name="Text 18"/>
          <p:cNvSpPr/>
          <p:nvPr/>
        </p:nvSpPr>
        <p:spPr>
          <a:xfrm>
            <a:off x="650006" y="3450045"/>
            <a:ext cx="573879" cy="468473"/>
          </a:xfrm>
          <a:prstGeom prst="rect">
            <a:avLst/>
          </a:prstGeom>
          <a:noFill/>
          <a:ln/>
        </p:spPr>
        <p:txBody>
          <a:bodyPr wrap="square" lIns="0" tIns="0" rIns="0" bIns="0" rtlCol="0" anchor="ctr"/>
          <a:lstStyle/>
          <a:p>
            <a:pPr algn="ctr">
              <a:lnSpc>
                <a:spcPct val="130000"/>
              </a:lnSpc>
            </a:pPr>
            <a:r>
              <a:rPr lang="en-US" sz="1660" b="1" dirty="0">
                <a:solidFill>
                  <a:srgbClr val="181A1F"/>
                </a:solidFill>
                <a:latin typeface="MiSans" pitchFamily="34" charset="0"/>
                <a:ea typeface="MiSans" pitchFamily="34" charset="-122"/>
                <a:cs typeface="MiSans" pitchFamily="34" charset="-120"/>
              </a:rPr>
              <a:t>03</a:t>
            </a:r>
            <a:endParaRPr lang="en-US" sz="1600" dirty="0"/>
          </a:p>
        </p:txBody>
      </p:sp>
      <p:sp>
        <p:nvSpPr>
          <p:cNvPr id="21" name="Text 19"/>
          <p:cNvSpPr/>
          <p:nvPr/>
        </p:nvSpPr>
        <p:spPr>
          <a:xfrm>
            <a:off x="1311723" y="3450045"/>
            <a:ext cx="2365787" cy="327931"/>
          </a:xfrm>
          <a:prstGeom prst="rect">
            <a:avLst/>
          </a:prstGeom>
          <a:noFill/>
          <a:ln/>
        </p:spPr>
        <p:txBody>
          <a:bodyPr wrap="square" lIns="0" tIns="0" rIns="0" bIns="0" rtlCol="0" anchor="ctr"/>
          <a:lstStyle/>
          <a:p>
            <a:pPr>
              <a:lnSpc>
                <a:spcPct val="130000"/>
              </a:lnSpc>
            </a:pPr>
            <a:r>
              <a:rPr lang="en-US" sz="1660" b="1" dirty="0">
                <a:solidFill>
                  <a:srgbClr val="D1D5DB"/>
                </a:solidFill>
                <a:latin typeface="阿里妈妈数黑体" pitchFamily="34" charset="0"/>
                <a:ea typeface="阿里妈妈数黑体" pitchFamily="34" charset="-122"/>
                <a:cs typeface="阿里妈妈数黑体" pitchFamily="34" charset="-120"/>
              </a:rPr>
              <a:t>模型融合方法</a:t>
            </a:r>
            <a:endParaRPr lang="en-US" sz="1600" dirty="0"/>
          </a:p>
        </p:txBody>
      </p:sp>
      <p:sp>
        <p:nvSpPr>
          <p:cNvPr id="22" name="Text 20"/>
          <p:cNvSpPr/>
          <p:nvPr/>
        </p:nvSpPr>
        <p:spPr>
          <a:xfrm>
            <a:off x="1311723" y="3824823"/>
            <a:ext cx="2342363" cy="234236"/>
          </a:xfrm>
          <a:prstGeom prst="rect">
            <a:avLst/>
          </a:prstGeom>
          <a:noFill/>
          <a:ln/>
        </p:spPr>
        <p:txBody>
          <a:bodyPr wrap="square" lIns="0" tIns="0" rIns="0" bIns="0" rtlCol="0" anchor="ctr"/>
          <a:lstStyle/>
          <a:p>
            <a:pPr>
              <a:lnSpc>
                <a:spcPct val="120000"/>
              </a:lnSpc>
            </a:pPr>
            <a:r>
              <a:rPr lang="en-US" sz="1291" dirty="0">
                <a:solidFill>
                  <a:srgbClr val="7E9AA8"/>
                </a:solidFill>
                <a:latin typeface="MiSans" pitchFamily="34" charset="0"/>
                <a:ea typeface="MiSans" pitchFamily="34" charset="-122"/>
                <a:cs typeface="MiSans" pitchFamily="34" charset="-120"/>
              </a:rPr>
              <a:t>Bagging、Boosting、Stacking</a:t>
            </a:r>
            <a:endParaRPr lang="en-US" sz="1600" dirty="0"/>
          </a:p>
        </p:txBody>
      </p:sp>
      <p:sp>
        <p:nvSpPr>
          <p:cNvPr id="23" name="Shape 21"/>
          <p:cNvSpPr/>
          <p:nvPr/>
        </p:nvSpPr>
        <p:spPr>
          <a:xfrm>
            <a:off x="8294527" y="3262656"/>
            <a:ext cx="7495562" cy="983793"/>
          </a:xfrm>
          <a:custGeom>
            <a:avLst/>
            <a:gdLst/>
            <a:ahLst/>
            <a:cxnLst/>
            <a:rect l="l" t="t" r="r" b="b"/>
            <a:pathLst>
              <a:path w="7495562" h="983793">
                <a:moveTo>
                  <a:pt x="46847" y="0"/>
                </a:moveTo>
                <a:lnTo>
                  <a:pt x="7401866" y="0"/>
                </a:lnTo>
                <a:cubicBezTo>
                  <a:pt x="7453613" y="0"/>
                  <a:pt x="7495562" y="41949"/>
                  <a:pt x="7495562" y="93696"/>
                </a:cubicBezTo>
                <a:lnTo>
                  <a:pt x="7495562" y="890096"/>
                </a:lnTo>
                <a:cubicBezTo>
                  <a:pt x="7495562" y="941843"/>
                  <a:pt x="7453613" y="983793"/>
                  <a:pt x="7401866" y="983793"/>
                </a:cubicBezTo>
                <a:lnTo>
                  <a:pt x="46847" y="983793"/>
                </a:lnTo>
                <a:cubicBezTo>
                  <a:pt x="20974" y="983793"/>
                  <a:pt x="0" y="962818"/>
                  <a:pt x="0" y="936945"/>
                </a:cubicBezTo>
                <a:lnTo>
                  <a:pt x="0" y="46847"/>
                </a:lnTo>
                <a:cubicBezTo>
                  <a:pt x="0" y="20974"/>
                  <a:pt x="20974" y="0"/>
                  <a:pt x="46847" y="0"/>
                </a:cubicBezTo>
                <a:close/>
              </a:path>
            </a:pathLst>
          </a:custGeom>
          <a:solidFill>
            <a:srgbClr val="3A5E78">
              <a:alpha val="20000"/>
            </a:srgbClr>
          </a:solidFill>
          <a:ln/>
        </p:spPr>
      </p:sp>
      <p:sp>
        <p:nvSpPr>
          <p:cNvPr id="24" name="Shape 22"/>
          <p:cNvSpPr/>
          <p:nvPr/>
        </p:nvSpPr>
        <p:spPr>
          <a:xfrm>
            <a:off x="8294527" y="3262656"/>
            <a:ext cx="46847" cy="983793"/>
          </a:xfrm>
          <a:custGeom>
            <a:avLst/>
            <a:gdLst/>
            <a:ahLst/>
            <a:cxnLst/>
            <a:rect l="l" t="t" r="r" b="b"/>
            <a:pathLst>
              <a:path w="46847" h="983793">
                <a:moveTo>
                  <a:pt x="46847" y="0"/>
                </a:moveTo>
                <a:lnTo>
                  <a:pt x="46847" y="0"/>
                </a:lnTo>
                <a:lnTo>
                  <a:pt x="46847" y="983793"/>
                </a:lnTo>
                <a:lnTo>
                  <a:pt x="46847" y="983793"/>
                </a:lnTo>
                <a:cubicBezTo>
                  <a:pt x="20974" y="983793"/>
                  <a:pt x="0" y="962818"/>
                  <a:pt x="0" y="936945"/>
                </a:cubicBezTo>
                <a:lnTo>
                  <a:pt x="0" y="46847"/>
                </a:lnTo>
                <a:cubicBezTo>
                  <a:pt x="0" y="20992"/>
                  <a:pt x="20992" y="0"/>
                  <a:pt x="46847" y="0"/>
                </a:cubicBezTo>
                <a:close/>
              </a:path>
            </a:pathLst>
          </a:custGeom>
          <a:solidFill>
            <a:srgbClr val="4C7E9A"/>
          </a:solidFill>
          <a:ln/>
        </p:spPr>
      </p:sp>
      <p:sp>
        <p:nvSpPr>
          <p:cNvPr id="25" name="Shape 23"/>
          <p:cNvSpPr/>
          <p:nvPr/>
        </p:nvSpPr>
        <p:spPr>
          <a:xfrm>
            <a:off x="8505340" y="3450045"/>
            <a:ext cx="468473" cy="468473"/>
          </a:xfrm>
          <a:custGeom>
            <a:avLst/>
            <a:gdLst/>
            <a:ahLst/>
            <a:cxnLst/>
            <a:rect l="l" t="t" r="r" b="b"/>
            <a:pathLst>
              <a:path w="468473" h="468473">
                <a:moveTo>
                  <a:pt x="234236" y="0"/>
                </a:moveTo>
                <a:lnTo>
                  <a:pt x="234236" y="0"/>
                </a:lnTo>
                <a:cubicBezTo>
                  <a:pt x="363601" y="0"/>
                  <a:pt x="468473" y="104871"/>
                  <a:pt x="468473" y="234236"/>
                </a:cubicBezTo>
                <a:lnTo>
                  <a:pt x="468473" y="234236"/>
                </a:lnTo>
                <a:cubicBezTo>
                  <a:pt x="468473" y="363601"/>
                  <a:pt x="363601" y="468473"/>
                  <a:pt x="234236" y="468473"/>
                </a:cubicBezTo>
                <a:lnTo>
                  <a:pt x="234236" y="468473"/>
                </a:lnTo>
                <a:cubicBezTo>
                  <a:pt x="104871" y="468473"/>
                  <a:pt x="0" y="363601"/>
                  <a:pt x="0" y="234236"/>
                </a:cubicBezTo>
                <a:lnTo>
                  <a:pt x="0" y="234236"/>
                </a:lnTo>
                <a:cubicBezTo>
                  <a:pt x="0" y="104871"/>
                  <a:pt x="104871" y="0"/>
                  <a:pt x="234236" y="0"/>
                </a:cubicBezTo>
                <a:close/>
              </a:path>
            </a:pathLst>
          </a:custGeom>
          <a:solidFill>
            <a:srgbClr val="4C7E9A"/>
          </a:solidFill>
          <a:ln/>
        </p:spPr>
      </p:sp>
      <p:sp>
        <p:nvSpPr>
          <p:cNvPr id="26" name="Text 24"/>
          <p:cNvSpPr/>
          <p:nvPr/>
        </p:nvSpPr>
        <p:spPr>
          <a:xfrm>
            <a:off x="8452637" y="3450045"/>
            <a:ext cx="573879" cy="468473"/>
          </a:xfrm>
          <a:prstGeom prst="rect">
            <a:avLst/>
          </a:prstGeom>
          <a:noFill/>
          <a:ln/>
        </p:spPr>
        <p:txBody>
          <a:bodyPr wrap="square" lIns="0" tIns="0" rIns="0" bIns="0" rtlCol="0" anchor="ctr"/>
          <a:lstStyle/>
          <a:p>
            <a:pPr algn="ctr">
              <a:lnSpc>
                <a:spcPct val="130000"/>
              </a:lnSpc>
            </a:pPr>
            <a:r>
              <a:rPr lang="en-US" sz="1660" b="1" dirty="0">
                <a:solidFill>
                  <a:srgbClr val="181A1F"/>
                </a:solidFill>
                <a:latin typeface="MiSans" pitchFamily="34" charset="0"/>
                <a:ea typeface="MiSans" pitchFamily="34" charset="-122"/>
                <a:cs typeface="MiSans" pitchFamily="34" charset="-120"/>
              </a:rPr>
              <a:t>04</a:t>
            </a:r>
            <a:endParaRPr lang="en-US" sz="1600" dirty="0"/>
          </a:p>
        </p:txBody>
      </p:sp>
      <p:sp>
        <p:nvSpPr>
          <p:cNvPr id="27" name="Text 25"/>
          <p:cNvSpPr/>
          <p:nvPr/>
        </p:nvSpPr>
        <p:spPr>
          <a:xfrm>
            <a:off x="9114354" y="3450045"/>
            <a:ext cx="1745061" cy="327931"/>
          </a:xfrm>
          <a:prstGeom prst="rect">
            <a:avLst/>
          </a:prstGeom>
          <a:noFill/>
          <a:ln/>
        </p:spPr>
        <p:txBody>
          <a:bodyPr wrap="square" lIns="0" tIns="0" rIns="0" bIns="0" rtlCol="0" anchor="ctr"/>
          <a:lstStyle/>
          <a:p>
            <a:pPr>
              <a:lnSpc>
                <a:spcPct val="130000"/>
              </a:lnSpc>
            </a:pPr>
            <a:r>
              <a:rPr lang="en-US" sz="1660" b="1" dirty="0">
                <a:solidFill>
                  <a:srgbClr val="D1D5DB"/>
                </a:solidFill>
                <a:latin typeface="阿里妈妈数黑体" pitchFamily="34" charset="0"/>
                <a:ea typeface="阿里妈妈数黑体" pitchFamily="34" charset="-122"/>
                <a:cs typeface="阿里妈妈数黑体" pitchFamily="34" charset="-120"/>
              </a:rPr>
              <a:t>结果整合策略</a:t>
            </a:r>
            <a:endParaRPr lang="en-US" sz="1600" dirty="0"/>
          </a:p>
        </p:txBody>
      </p:sp>
      <p:sp>
        <p:nvSpPr>
          <p:cNvPr id="28" name="Text 26"/>
          <p:cNvSpPr/>
          <p:nvPr/>
        </p:nvSpPr>
        <p:spPr>
          <a:xfrm>
            <a:off x="9114354" y="3824823"/>
            <a:ext cx="1721637" cy="234236"/>
          </a:xfrm>
          <a:prstGeom prst="rect">
            <a:avLst/>
          </a:prstGeom>
          <a:noFill/>
          <a:ln/>
        </p:spPr>
        <p:txBody>
          <a:bodyPr wrap="square" lIns="0" tIns="0" rIns="0" bIns="0" rtlCol="0" anchor="ctr"/>
          <a:lstStyle/>
          <a:p>
            <a:pPr>
              <a:lnSpc>
                <a:spcPct val="120000"/>
              </a:lnSpc>
            </a:pPr>
            <a:r>
              <a:rPr lang="en-US" sz="1291" dirty="0">
                <a:solidFill>
                  <a:srgbClr val="7E9AA8"/>
                </a:solidFill>
                <a:latin typeface="MiSans" pitchFamily="34" charset="0"/>
                <a:ea typeface="MiSans" pitchFamily="34" charset="-122"/>
                <a:cs typeface="MiSans" pitchFamily="34" charset="-120"/>
              </a:rPr>
              <a:t>如何有效组合模型预测</a:t>
            </a:r>
            <a:endParaRPr lang="en-US" sz="1600" dirty="0"/>
          </a:p>
        </p:txBody>
      </p:sp>
      <p:sp>
        <p:nvSpPr>
          <p:cNvPr id="29" name="Shape 27"/>
          <p:cNvSpPr/>
          <p:nvPr/>
        </p:nvSpPr>
        <p:spPr>
          <a:xfrm>
            <a:off x="491896" y="4480684"/>
            <a:ext cx="7495562" cy="983793"/>
          </a:xfrm>
          <a:custGeom>
            <a:avLst/>
            <a:gdLst/>
            <a:ahLst/>
            <a:cxnLst/>
            <a:rect l="l" t="t" r="r" b="b"/>
            <a:pathLst>
              <a:path w="7495562" h="983793">
                <a:moveTo>
                  <a:pt x="46847" y="0"/>
                </a:moveTo>
                <a:lnTo>
                  <a:pt x="7401866" y="0"/>
                </a:lnTo>
                <a:cubicBezTo>
                  <a:pt x="7453613" y="0"/>
                  <a:pt x="7495562" y="41949"/>
                  <a:pt x="7495562" y="93696"/>
                </a:cubicBezTo>
                <a:lnTo>
                  <a:pt x="7495562" y="890096"/>
                </a:lnTo>
                <a:cubicBezTo>
                  <a:pt x="7495562" y="941843"/>
                  <a:pt x="7453613" y="983793"/>
                  <a:pt x="7401866" y="983793"/>
                </a:cubicBezTo>
                <a:lnTo>
                  <a:pt x="46847" y="983793"/>
                </a:lnTo>
                <a:cubicBezTo>
                  <a:pt x="20974" y="983793"/>
                  <a:pt x="0" y="962818"/>
                  <a:pt x="0" y="936945"/>
                </a:cubicBezTo>
                <a:lnTo>
                  <a:pt x="0" y="46847"/>
                </a:lnTo>
                <a:cubicBezTo>
                  <a:pt x="0" y="20974"/>
                  <a:pt x="20974" y="0"/>
                  <a:pt x="46847" y="0"/>
                </a:cubicBezTo>
                <a:close/>
              </a:path>
            </a:pathLst>
          </a:custGeom>
          <a:solidFill>
            <a:srgbClr val="3A5E78">
              <a:alpha val="20000"/>
            </a:srgbClr>
          </a:solidFill>
          <a:ln/>
        </p:spPr>
      </p:sp>
      <p:sp>
        <p:nvSpPr>
          <p:cNvPr id="30" name="Shape 28"/>
          <p:cNvSpPr/>
          <p:nvPr/>
        </p:nvSpPr>
        <p:spPr>
          <a:xfrm>
            <a:off x="491896" y="4480684"/>
            <a:ext cx="46847" cy="983793"/>
          </a:xfrm>
          <a:custGeom>
            <a:avLst/>
            <a:gdLst/>
            <a:ahLst/>
            <a:cxnLst/>
            <a:rect l="l" t="t" r="r" b="b"/>
            <a:pathLst>
              <a:path w="46847" h="983793">
                <a:moveTo>
                  <a:pt x="46847" y="0"/>
                </a:moveTo>
                <a:lnTo>
                  <a:pt x="46847" y="0"/>
                </a:lnTo>
                <a:lnTo>
                  <a:pt x="46847" y="983793"/>
                </a:lnTo>
                <a:lnTo>
                  <a:pt x="46847" y="983793"/>
                </a:lnTo>
                <a:cubicBezTo>
                  <a:pt x="20974" y="983793"/>
                  <a:pt x="0" y="962818"/>
                  <a:pt x="0" y="936945"/>
                </a:cubicBezTo>
                <a:lnTo>
                  <a:pt x="0" y="46847"/>
                </a:lnTo>
                <a:cubicBezTo>
                  <a:pt x="0" y="20992"/>
                  <a:pt x="20992" y="0"/>
                  <a:pt x="46847" y="0"/>
                </a:cubicBezTo>
                <a:close/>
              </a:path>
            </a:pathLst>
          </a:custGeom>
          <a:solidFill>
            <a:srgbClr val="4C7E9A"/>
          </a:solidFill>
          <a:ln/>
        </p:spPr>
      </p:sp>
      <p:sp>
        <p:nvSpPr>
          <p:cNvPr id="31" name="Shape 29"/>
          <p:cNvSpPr/>
          <p:nvPr/>
        </p:nvSpPr>
        <p:spPr>
          <a:xfrm>
            <a:off x="702709" y="4668073"/>
            <a:ext cx="468473" cy="468473"/>
          </a:xfrm>
          <a:custGeom>
            <a:avLst/>
            <a:gdLst/>
            <a:ahLst/>
            <a:cxnLst/>
            <a:rect l="l" t="t" r="r" b="b"/>
            <a:pathLst>
              <a:path w="468473" h="468473">
                <a:moveTo>
                  <a:pt x="234236" y="0"/>
                </a:moveTo>
                <a:lnTo>
                  <a:pt x="234236" y="0"/>
                </a:lnTo>
                <a:cubicBezTo>
                  <a:pt x="363601" y="0"/>
                  <a:pt x="468473" y="104871"/>
                  <a:pt x="468473" y="234236"/>
                </a:cubicBezTo>
                <a:lnTo>
                  <a:pt x="468473" y="234236"/>
                </a:lnTo>
                <a:cubicBezTo>
                  <a:pt x="468473" y="363601"/>
                  <a:pt x="363601" y="468473"/>
                  <a:pt x="234236" y="468473"/>
                </a:cubicBezTo>
                <a:lnTo>
                  <a:pt x="234236" y="468473"/>
                </a:lnTo>
                <a:cubicBezTo>
                  <a:pt x="104871" y="468473"/>
                  <a:pt x="0" y="363601"/>
                  <a:pt x="0" y="234236"/>
                </a:cubicBezTo>
                <a:lnTo>
                  <a:pt x="0" y="234236"/>
                </a:lnTo>
                <a:cubicBezTo>
                  <a:pt x="0" y="104871"/>
                  <a:pt x="104871" y="0"/>
                  <a:pt x="234236" y="0"/>
                </a:cubicBezTo>
                <a:close/>
              </a:path>
            </a:pathLst>
          </a:custGeom>
          <a:solidFill>
            <a:srgbClr val="4C7E9A"/>
          </a:solidFill>
          <a:ln/>
        </p:spPr>
      </p:sp>
      <p:sp>
        <p:nvSpPr>
          <p:cNvPr id="32" name="Text 30"/>
          <p:cNvSpPr/>
          <p:nvPr/>
        </p:nvSpPr>
        <p:spPr>
          <a:xfrm>
            <a:off x="650006" y="4668073"/>
            <a:ext cx="573879" cy="468473"/>
          </a:xfrm>
          <a:prstGeom prst="rect">
            <a:avLst/>
          </a:prstGeom>
          <a:noFill/>
          <a:ln/>
        </p:spPr>
        <p:txBody>
          <a:bodyPr wrap="square" lIns="0" tIns="0" rIns="0" bIns="0" rtlCol="0" anchor="ctr"/>
          <a:lstStyle/>
          <a:p>
            <a:pPr algn="ctr">
              <a:lnSpc>
                <a:spcPct val="130000"/>
              </a:lnSpc>
            </a:pPr>
            <a:r>
              <a:rPr lang="en-US" sz="1660" b="1" dirty="0">
                <a:solidFill>
                  <a:srgbClr val="181A1F"/>
                </a:solidFill>
                <a:latin typeface="MiSans" pitchFamily="34" charset="0"/>
                <a:ea typeface="MiSans" pitchFamily="34" charset="-122"/>
                <a:cs typeface="MiSans" pitchFamily="34" charset="-120"/>
              </a:rPr>
              <a:t>05</a:t>
            </a:r>
            <a:endParaRPr lang="en-US" sz="1600" dirty="0"/>
          </a:p>
        </p:txBody>
      </p:sp>
      <p:sp>
        <p:nvSpPr>
          <p:cNvPr id="33" name="Text 31"/>
          <p:cNvSpPr/>
          <p:nvPr/>
        </p:nvSpPr>
        <p:spPr>
          <a:xfrm>
            <a:off x="1311723" y="4668073"/>
            <a:ext cx="2588311" cy="327931"/>
          </a:xfrm>
          <a:prstGeom prst="rect">
            <a:avLst/>
          </a:prstGeom>
          <a:noFill/>
          <a:ln/>
        </p:spPr>
        <p:txBody>
          <a:bodyPr wrap="square" lIns="0" tIns="0" rIns="0" bIns="0" rtlCol="0" anchor="ctr"/>
          <a:lstStyle/>
          <a:p>
            <a:pPr>
              <a:lnSpc>
                <a:spcPct val="130000"/>
              </a:lnSpc>
            </a:pPr>
            <a:r>
              <a:rPr lang="en-US" sz="1660" b="1" dirty="0">
                <a:solidFill>
                  <a:srgbClr val="D1D5DB"/>
                </a:solidFill>
                <a:latin typeface="阿里妈妈数黑体" pitchFamily="34" charset="0"/>
                <a:ea typeface="阿里妈妈数黑体" pitchFamily="34" charset="-122"/>
                <a:cs typeface="阿里妈妈数黑体" pitchFamily="34" charset="-120"/>
              </a:rPr>
              <a:t>核心方法解析 · Boosting</a:t>
            </a:r>
            <a:endParaRPr lang="en-US" sz="1600" dirty="0"/>
          </a:p>
        </p:txBody>
      </p:sp>
      <p:sp>
        <p:nvSpPr>
          <p:cNvPr id="34" name="Text 32"/>
          <p:cNvSpPr/>
          <p:nvPr/>
        </p:nvSpPr>
        <p:spPr>
          <a:xfrm>
            <a:off x="1311723" y="5042852"/>
            <a:ext cx="2564888" cy="234236"/>
          </a:xfrm>
          <a:prstGeom prst="rect">
            <a:avLst/>
          </a:prstGeom>
          <a:noFill/>
          <a:ln/>
        </p:spPr>
        <p:txBody>
          <a:bodyPr wrap="square" lIns="0" tIns="0" rIns="0" bIns="0" rtlCol="0" anchor="ctr"/>
          <a:lstStyle/>
          <a:p>
            <a:pPr>
              <a:lnSpc>
                <a:spcPct val="120000"/>
              </a:lnSpc>
            </a:pPr>
            <a:r>
              <a:rPr lang="en-US" sz="1291" dirty="0">
                <a:solidFill>
                  <a:srgbClr val="7E9AA8"/>
                </a:solidFill>
                <a:latin typeface="MiSans" pitchFamily="34" charset="0"/>
                <a:ea typeface="MiSans" pitchFamily="34" charset="-122"/>
                <a:cs typeface="MiSans" pitchFamily="34" charset="-120"/>
              </a:rPr>
              <a:t>串行优化的集成艺术</a:t>
            </a:r>
            <a:endParaRPr lang="en-US" sz="1600" dirty="0"/>
          </a:p>
        </p:txBody>
      </p:sp>
      <p:sp>
        <p:nvSpPr>
          <p:cNvPr id="35" name="Shape 33"/>
          <p:cNvSpPr/>
          <p:nvPr/>
        </p:nvSpPr>
        <p:spPr>
          <a:xfrm>
            <a:off x="8294527" y="4480684"/>
            <a:ext cx="7495562" cy="983793"/>
          </a:xfrm>
          <a:custGeom>
            <a:avLst/>
            <a:gdLst/>
            <a:ahLst/>
            <a:cxnLst/>
            <a:rect l="l" t="t" r="r" b="b"/>
            <a:pathLst>
              <a:path w="7495562" h="983793">
                <a:moveTo>
                  <a:pt x="46847" y="0"/>
                </a:moveTo>
                <a:lnTo>
                  <a:pt x="7401866" y="0"/>
                </a:lnTo>
                <a:cubicBezTo>
                  <a:pt x="7453613" y="0"/>
                  <a:pt x="7495562" y="41949"/>
                  <a:pt x="7495562" y="93696"/>
                </a:cubicBezTo>
                <a:lnTo>
                  <a:pt x="7495562" y="890096"/>
                </a:lnTo>
                <a:cubicBezTo>
                  <a:pt x="7495562" y="941843"/>
                  <a:pt x="7453613" y="983793"/>
                  <a:pt x="7401866" y="983793"/>
                </a:cubicBezTo>
                <a:lnTo>
                  <a:pt x="46847" y="983793"/>
                </a:lnTo>
                <a:cubicBezTo>
                  <a:pt x="20974" y="983793"/>
                  <a:pt x="0" y="962818"/>
                  <a:pt x="0" y="936945"/>
                </a:cubicBezTo>
                <a:lnTo>
                  <a:pt x="0" y="46847"/>
                </a:lnTo>
                <a:cubicBezTo>
                  <a:pt x="0" y="20974"/>
                  <a:pt x="20974" y="0"/>
                  <a:pt x="46847" y="0"/>
                </a:cubicBezTo>
                <a:close/>
              </a:path>
            </a:pathLst>
          </a:custGeom>
          <a:solidFill>
            <a:srgbClr val="3A5E78">
              <a:alpha val="20000"/>
            </a:srgbClr>
          </a:solidFill>
          <a:ln/>
        </p:spPr>
      </p:sp>
      <p:sp>
        <p:nvSpPr>
          <p:cNvPr id="36" name="Shape 34"/>
          <p:cNvSpPr/>
          <p:nvPr/>
        </p:nvSpPr>
        <p:spPr>
          <a:xfrm>
            <a:off x="8294527" y="4480684"/>
            <a:ext cx="46847" cy="983793"/>
          </a:xfrm>
          <a:custGeom>
            <a:avLst/>
            <a:gdLst/>
            <a:ahLst/>
            <a:cxnLst/>
            <a:rect l="l" t="t" r="r" b="b"/>
            <a:pathLst>
              <a:path w="46847" h="983793">
                <a:moveTo>
                  <a:pt x="46847" y="0"/>
                </a:moveTo>
                <a:lnTo>
                  <a:pt x="46847" y="0"/>
                </a:lnTo>
                <a:lnTo>
                  <a:pt x="46847" y="983793"/>
                </a:lnTo>
                <a:lnTo>
                  <a:pt x="46847" y="983793"/>
                </a:lnTo>
                <a:cubicBezTo>
                  <a:pt x="20974" y="983793"/>
                  <a:pt x="0" y="962818"/>
                  <a:pt x="0" y="936945"/>
                </a:cubicBezTo>
                <a:lnTo>
                  <a:pt x="0" y="46847"/>
                </a:lnTo>
                <a:cubicBezTo>
                  <a:pt x="0" y="20992"/>
                  <a:pt x="20992" y="0"/>
                  <a:pt x="46847" y="0"/>
                </a:cubicBezTo>
                <a:close/>
              </a:path>
            </a:pathLst>
          </a:custGeom>
          <a:solidFill>
            <a:srgbClr val="4C7E9A"/>
          </a:solidFill>
          <a:ln/>
        </p:spPr>
      </p:sp>
      <p:sp>
        <p:nvSpPr>
          <p:cNvPr id="37" name="Shape 35"/>
          <p:cNvSpPr/>
          <p:nvPr/>
        </p:nvSpPr>
        <p:spPr>
          <a:xfrm>
            <a:off x="8505340" y="4668073"/>
            <a:ext cx="468473" cy="468473"/>
          </a:xfrm>
          <a:custGeom>
            <a:avLst/>
            <a:gdLst/>
            <a:ahLst/>
            <a:cxnLst/>
            <a:rect l="l" t="t" r="r" b="b"/>
            <a:pathLst>
              <a:path w="468473" h="468473">
                <a:moveTo>
                  <a:pt x="234236" y="0"/>
                </a:moveTo>
                <a:lnTo>
                  <a:pt x="234236" y="0"/>
                </a:lnTo>
                <a:cubicBezTo>
                  <a:pt x="363601" y="0"/>
                  <a:pt x="468473" y="104871"/>
                  <a:pt x="468473" y="234236"/>
                </a:cubicBezTo>
                <a:lnTo>
                  <a:pt x="468473" y="234236"/>
                </a:lnTo>
                <a:cubicBezTo>
                  <a:pt x="468473" y="363601"/>
                  <a:pt x="363601" y="468473"/>
                  <a:pt x="234236" y="468473"/>
                </a:cubicBezTo>
                <a:lnTo>
                  <a:pt x="234236" y="468473"/>
                </a:lnTo>
                <a:cubicBezTo>
                  <a:pt x="104871" y="468473"/>
                  <a:pt x="0" y="363601"/>
                  <a:pt x="0" y="234236"/>
                </a:cubicBezTo>
                <a:lnTo>
                  <a:pt x="0" y="234236"/>
                </a:lnTo>
                <a:cubicBezTo>
                  <a:pt x="0" y="104871"/>
                  <a:pt x="104871" y="0"/>
                  <a:pt x="234236" y="0"/>
                </a:cubicBezTo>
                <a:close/>
              </a:path>
            </a:pathLst>
          </a:custGeom>
          <a:solidFill>
            <a:srgbClr val="4C7E9A"/>
          </a:solidFill>
          <a:ln/>
        </p:spPr>
      </p:sp>
      <p:sp>
        <p:nvSpPr>
          <p:cNvPr id="38" name="Text 36"/>
          <p:cNvSpPr/>
          <p:nvPr/>
        </p:nvSpPr>
        <p:spPr>
          <a:xfrm>
            <a:off x="8452637" y="4668073"/>
            <a:ext cx="573879" cy="468473"/>
          </a:xfrm>
          <a:prstGeom prst="rect">
            <a:avLst/>
          </a:prstGeom>
          <a:noFill/>
          <a:ln/>
        </p:spPr>
        <p:txBody>
          <a:bodyPr wrap="square" lIns="0" tIns="0" rIns="0" bIns="0" rtlCol="0" anchor="ctr"/>
          <a:lstStyle/>
          <a:p>
            <a:pPr algn="ctr">
              <a:lnSpc>
                <a:spcPct val="130000"/>
              </a:lnSpc>
            </a:pPr>
            <a:r>
              <a:rPr lang="en-US" sz="1660" b="1" dirty="0">
                <a:solidFill>
                  <a:srgbClr val="181A1F"/>
                </a:solidFill>
                <a:latin typeface="MiSans" pitchFamily="34" charset="0"/>
                <a:ea typeface="MiSans" pitchFamily="34" charset="-122"/>
                <a:cs typeface="MiSans" pitchFamily="34" charset="-120"/>
              </a:rPr>
              <a:t>06</a:t>
            </a:r>
            <a:endParaRPr lang="en-US" sz="1600" dirty="0"/>
          </a:p>
        </p:txBody>
      </p:sp>
      <p:sp>
        <p:nvSpPr>
          <p:cNvPr id="39" name="Text 37"/>
          <p:cNvSpPr/>
          <p:nvPr/>
        </p:nvSpPr>
        <p:spPr>
          <a:xfrm>
            <a:off x="9114354" y="4668073"/>
            <a:ext cx="2541464" cy="327931"/>
          </a:xfrm>
          <a:prstGeom prst="rect">
            <a:avLst/>
          </a:prstGeom>
          <a:noFill/>
          <a:ln/>
        </p:spPr>
        <p:txBody>
          <a:bodyPr wrap="square" lIns="0" tIns="0" rIns="0" bIns="0" rtlCol="0" anchor="ctr"/>
          <a:lstStyle/>
          <a:p>
            <a:pPr>
              <a:lnSpc>
                <a:spcPct val="130000"/>
              </a:lnSpc>
            </a:pPr>
            <a:r>
              <a:rPr lang="en-US" sz="1660" b="1" dirty="0">
                <a:solidFill>
                  <a:srgbClr val="D1D5DB"/>
                </a:solidFill>
                <a:latin typeface="阿里妈妈数黑体" pitchFamily="34" charset="0"/>
                <a:ea typeface="阿里妈妈数黑体" pitchFamily="34" charset="-122"/>
                <a:cs typeface="阿里妈妈数黑体" pitchFamily="34" charset="-120"/>
              </a:rPr>
              <a:t>核心方法解析 · Bagging</a:t>
            </a:r>
            <a:endParaRPr lang="en-US" sz="1600" dirty="0"/>
          </a:p>
        </p:txBody>
      </p:sp>
      <p:sp>
        <p:nvSpPr>
          <p:cNvPr id="40" name="Text 38"/>
          <p:cNvSpPr/>
          <p:nvPr/>
        </p:nvSpPr>
        <p:spPr>
          <a:xfrm>
            <a:off x="9114354" y="5042852"/>
            <a:ext cx="2518040" cy="234236"/>
          </a:xfrm>
          <a:prstGeom prst="rect">
            <a:avLst/>
          </a:prstGeom>
          <a:noFill/>
          <a:ln/>
        </p:spPr>
        <p:txBody>
          <a:bodyPr wrap="square" lIns="0" tIns="0" rIns="0" bIns="0" rtlCol="0" anchor="ctr"/>
          <a:lstStyle/>
          <a:p>
            <a:pPr>
              <a:lnSpc>
                <a:spcPct val="120000"/>
              </a:lnSpc>
            </a:pPr>
            <a:r>
              <a:rPr lang="en-US" sz="1291" dirty="0">
                <a:solidFill>
                  <a:srgbClr val="7E9AA8"/>
                </a:solidFill>
                <a:latin typeface="MiSans" pitchFamily="34" charset="0"/>
                <a:ea typeface="MiSans" pitchFamily="34" charset="-122"/>
                <a:cs typeface="MiSans" pitchFamily="34" charset="-120"/>
              </a:rPr>
              <a:t>并行集成的方差削减策略</a:t>
            </a:r>
            <a:endParaRPr lang="en-US" sz="1600" dirty="0"/>
          </a:p>
        </p:txBody>
      </p:sp>
      <p:sp>
        <p:nvSpPr>
          <p:cNvPr id="41" name="Shape 39"/>
          <p:cNvSpPr/>
          <p:nvPr/>
        </p:nvSpPr>
        <p:spPr>
          <a:xfrm>
            <a:off x="491896" y="5698713"/>
            <a:ext cx="7495562" cy="983793"/>
          </a:xfrm>
          <a:custGeom>
            <a:avLst/>
            <a:gdLst/>
            <a:ahLst/>
            <a:cxnLst/>
            <a:rect l="l" t="t" r="r" b="b"/>
            <a:pathLst>
              <a:path w="7495562" h="983793">
                <a:moveTo>
                  <a:pt x="46847" y="0"/>
                </a:moveTo>
                <a:lnTo>
                  <a:pt x="7401866" y="0"/>
                </a:lnTo>
                <a:cubicBezTo>
                  <a:pt x="7453613" y="0"/>
                  <a:pt x="7495562" y="41949"/>
                  <a:pt x="7495562" y="93696"/>
                </a:cubicBezTo>
                <a:lnTo>
                  <a:pt x="7495562" y="890096"/>
                </a:lnTo>
                <a:cubicBezTo>
                  <a:pt x="7495562" y="941843"/>
                  <a:pt x="7453613" y="983793"/>
                  <a:pt x="7401866" y="983793"/>
                </a:cubicBezTo>
                <a:lnTo>
                  <a:pt x="46847" y="983793"/>
                </a:lnTo>
                <a:cubicBezTo>
                  <a:pt x="20974" y="983793"/>
                  <a:pt x="0" y="962818"/>
                  <a:pt x="0" y="936945"/>
                </a:cubicBezTo>
                <a:lnTo>
                  <a:pt x="0" y="46847"/>
                </a:lnTo>
                <a:cubicBezTo>
                  <a:pt x="0" y="20974"/>
                  <a:pt x="20974" y="0"/>
                  <a:pt x="46847" y="0"/>
                </a:cubicBezTo>
                <a:close/>
              </a:path>
            </a:pathLst>
          </a:custGeom>
          <a:solidFill>
            <a:srgbClr val="3A5E78">
              <a:alpha val="20000"/>
            </a:srgbClr>
          </a:solidFill>
          <a:ln/>
        </p:spPr>
      </p:sp>
      <p:sp>
        <p:nvSpPr>
          <p:cNvPr id="42" name="Shape 40"/>
          <p:cNvSpPr/>
          <p:nvPr/>
        </p:nvSpPr>
        <p:spPr>
          <a:xfrm>
            <a:off x="491896" y="5698713"/>
            <a:ext cx="46847" cy="983793"/>
          </a:xfrm>
          <a:custGeom>
            <a:avLst/>
            <a:gdLst/>
            <a:ahLst/>
            <a:cxnLst/>
            <a:rect l="l" t="t" r="r" b="b"/>
            <a:pathLst>
              <a:path w="46847" h="983793">
                <a:moveTo>
                  <a:pt x="46847" y="0"/>
                </a:moveTo>
                <a:lnTo>
                  <a:pt x="46847" y="0"/>
                </a:lnTo>
                <a:lnTo>
                  <a:pt x="46847" y="983793"/>
                </a:lnTo>
                <a:lnTo>
                  <a:pt x="46847" y="983793"/>
                </a:lnTo>
                <a:cubicBezTo>
                  <a:pt x="20974" y="983793"/>
                  <a:pt x="0" y="962818"/>
                  <a:pt x="0" y="936945"/>
                </a:cubicBezTo>
                <a:lnTo>
                  <a:pt x="0" y="46847"/>
                </a:lnTo>
                <a:cubicBezTo>
                  <a:pt x="0" y="20992"/>
                  <a:pt x="20992" y="0"/>
                  <a:pt x="46847" y="0"/>
                </a:cubicBezTo>
                <a:close/>
              </a:path>
            </a:pathLst>
          </a:custGeom>
          <a:solidFill>
            <a:srgbClr val="4C7E9A"/>
          </a:solidFill>
          <a:ln/>
        </p:spPr>
      </p:sp>
      <p:sp>
        <p:nvSpPr>
          <p:cNvPr id="43" name="Shape 41"/>
          <p:cNvSpPr/>
          <p:nvPr/>
        </p:nvSpPr>
        <p:spPr>
          <a:xfrm>
            <a:off x="702709" y="5886102"/>
            <a:ext cx="468473" cy="468473"/>
          </a:xfrm>
          <a:custGeom>
            <a:avLst/>
            <a:gdLst/>
            <a:ahLst/>
            <a:cxnLst/>
            <a:rect l="l" t="t" r="r" b="b"/>
            <a:pathLst>
              <a:path w="468473" h="468473">
                <a:moveTo>
                  <a:pt x="234236" y="0"/>
                </a:moveTo>
                <a:lnTo>
                  <a:pt x="234236" y="0"/>
                </a:lnTo>
                <a:cubicBezTo>
                  <a:pt x="363601" y="0"/>
                  <a:pt x="468473" y="104871"/>
                  <a:pt x="468473" y="234236"/>
                </a:cubicBezTo>
                <a:lnTo>
                  <a:pt x="468473" y="234236"/>
                </a:lnTo>
                <a:cubicBezTo>
                  <a:pt x="468473" y="363601"/>
                  <a:pt x="363601" y="468473"/>
                  <a:pt x="234236" y="468473"/>
                </a:cubicBezTo>
                <a:lnTo>
                  <a:pt x="234236" y="468473"/>
                </a:lnTo>
                <a:cubicBezTo>
                  <a:pt x="104871" y="468473"/>
                  <a:pt x="0" y="363601"/>
                  <a:pt x="0" y="234236"/>
                </a:cubicBezTo>
                <a:lnTo>
                  <a:pt x="0" y="234236"/>
                </a:lnTo>
                <a:cubicBezTo>
                  <a:pt x="0" y="104871"/>
                  <a:pt x="104871" y="0"/>
                  <a:pt x="234236" y="0"/>
                </a:cubicBezTo>
                <a:close/>
              </a:path>
            </a:pathLst>
          </a:custGeom>
          <a:solidFill>
            <a:srgbClr val="4C7E9A"/>
          </a:solidFill>
          <a:ln/>
        </p:spPr>
      </p:sp>
      <p:sp>
        <p:nvSpPr>
          <p:cNvPr id="44" name="Text 42"/>
          <p:cNvSpPr/>
          <p:nvPr/>
        </p:nvSpPr>
        <p:spPr>
          <a:xfrm>
            <a:off x="650006" y="5886102"/>
            <a:ext cx="573879" cy="468473"/>
          </a:xfrm>
          <a:prstGeom prst="rect">
            <a:avLst/>
          </a:prstGeom>
          <a:noFill/>
          <a:ln/>
        </p:spPr>
        <p:txBody>
          <a:bodyPr wrap="square" lIns="0" tIns="0" rIns="0" bIns="0" rtlCol="0" anchor="ctr"/>
          <a:lstStyle/>
          <a:p>
            <a:pPr algn="ctr">
              <a:lnSpc>
                <a:spcPct val="130000"/>
              </a:lnSpc>
            </a:pPr>
            <a:r>
              <a:rPr lang="en-US" sz="1660" b="1" dirty="0">
                <a:solidFill>
                  <a:srgbClr val="181A1F"/>
                </a:solidFill>
                <a:latin typeface="MiSans" pitchFamily="34" charset="0"/>
                <a:ea typeface="MiSans" pitchFamily="34" charset="-122"/>
                <a:cs typeface="MiSans" pitchFamily="34" charset="-120"/>
              </a:rPr>
              <a:t>07</a:t>
            </a:r>
            <a:endParaRPr lang="en-US" sz="1600" dirty="0"/>
          </a:p>
        </p:txBody>
      </p:sp>
      <p:sp>
        <p:nvSpPr>
          <p:cNvPr id="45" name="Text 43"/>
          <p:cNvSpPr/>
          <p:nvPr/>
        </p:nvSpPr>
        <p:spPr>
          <a:xfrm>
            <a:off x="1311723" y="5886102"/>
            <a:ext cx="2564888" cy="327931"/>
          </a:xfrm>
          <a:prstGeom prst="rect">
            <a:avLst/>
          </a:prstGeom>
          <a:noFill/>
          <a:ln/>
        </p:spPr>
        <p:txBody>
          <a:bodyPr wrap="square" lIns="0" tIns="0" rIns="0" bIns="0" rtlCol="0" anchor="ctr"/>
          <a:lstStyle/>
          <a:p>
            <a:pPr>
              <a:lnSpc>
                <a:spcPct val="130000"/>
              </a:lnSpc>
            </a:pPr>
            <a:r>
              <a:rPr lang="en-US" sz="1660" b="1" dirty="0">
                <a:solidFill>
                  <a:srgbClr val="D1D5DB"/>
                </a:solidFill>
                <a:latin typeface="阿里妈妈数黑体" pitchFamily="34" charset="0"/>
                <a:ea typeface="阿里妈妈数黑体" pitchFamily="34" charset="-122"/>
                <a:cs typeface="阿里妈妈数黑体" pitchFamily="34" charset="-120"/>
              </a:rPr>
              <a:t>核心方法解析 · Stacking</a:t>
            </a:r>
            <a:endParaRPr lang="en-US" sz="1600" dirty="0"/>
          </a:p>
        </p:txBody>
      </p:sp>
      <p:sp>
        <p:nvSpPr>
          <p:cNvPr id="46" name="Text 44"/>
          <p:cNvSpPr/>
          <p:nvPr/>
        </p:nvSpPr>
        <p:spPr>
          <a:xfrm>
            <a:off x="1311723" y="6260880"/>
            <a:ext cx="2541464" cy="234236"/>
          </a:xfrm>
          <a:prstGeom prst="rect">
            <a:avLst/>
          </a:prstGeom>
          <a:noFill/>
          <a:ln/>
        </p:spPr>
        <p:txBody>
          <a:bodyPr wrap="square" lIns="0" tIns="0" rIns="0" bIns="0" rtlCol="0" anchor="ctr"/>
          <a:lstStyle/>
          <a:p>
            <a:pPr>
              <a:lnSpc>
                <a:spcPct val="120000"/>
              </a:lnSpc>
            </a:pPr>
            <a:r>
              <a:rPr lang="en-US" sz="1291" dirty="0">
                <a:solidFill>
                  <a:srgbClr val="7E9AA8"/>
                </a:solidFill>
                <a:latin typeface="MiSans" pitchFamily="34" charset="0"/>
                <a:ea typeface="MiSans" pitchFamily="34" charset="-122"/>
                <a:cs typeface="MiSans" pitchFamily="34" charset="-120"/>
              </a:rPr>
              <a:t>层级集成的元学习框架</a:t>
            </a:r>
            <a:endParaRPr lang="en-US" sz="1600" dirty="0"/>
          </a:p>
        </p:txBody>
      </p:sp>
      <p:sp>
        <p:nvSpPr>
          <p:cNvPr id="47" name="Shape 45"/>
          <p:cNvSpPr/>
          <p:nvPr/>
        </p:nvSpPr>
        <p:spPr>
          <a:xfrm>
            <a:off x="8294527" y="5698713"/>
            <a:ext cx="7495562" cy="983793"/>
          </a:xfrm>
          <a:custGeom>
            <a:avLst/>
            <a:gdLst/>
            <a:ahLst/>
            <a:cxnLst/>
            <a:rect l="l" t="t" r="r" b="b"/>
            <a:pathLst>
              <a:path w="7495562" h="983793">
                <a:moveTo>
                  <a:pt x="46847" y="0"/>
                </a:moveTo>
                <a:lnTo>
                  <a:pt x="7401866" y="0"/>
                </a:lnTo>
                <a:cubicBezTo>
                  <a:pt x="7453613" y="0"/>
                  <a:pt x="7495562" y="41949"/>
                  <a:pt x="7495562" y="93696"/>
                </a:cubicBezTo>
                <a:lnTo>
                  <a:pt x="7495562" y="890096"/>
                </a:lnTo>
                <a:cubicBezTo>
                  <a:pt x="7495562" y="941843"/>
                  <a:pt x="7453613" y="983793"/>
                  <a:pt x="7401866" y="983793"/>
                </a:cubicBezTo>
                <a:lnTo>
                  <a:pt x="46847" y="983793"/>
                </a:lnTo>
                <a:cubicBezTo>
                  <a:pt x="20974" y="983793"/>
                  <a:pt x="0" y="962818"/>
                  <a:pt x="0" y="936945"/>
                </a:cubicBezTo>
                <a:lnTo>
                  <a:pt x="0" y="46847"/>
                </a:lnTo>
                <a:cubicBezTo>
                  <a:pt x="0" y="20974"/>
                  <a:pt x="20974" y="0"/>
                  <a:pt x="46847" y="0"/>
                </a:cubicBezTo>
                <a:close/>
              </a:path>
            </a:pathLst>
          </a:custGeom>
          <a:solidFill>
            <a:srgbClr val="3A5E78">
              <a:alpha val="20000"/>
            </a:srgbClr>
          </a:solidFill>
          <a:ln/>
        </p:spPr>
      </p:sp>
      <p:sp>
        <p:nvSpPr>
          <p:cNvPr id="48" name="Shape 46"/>
          <p:cNvSpPr/>
          <p:nvPr/>
        </p:nvSpPr>
        <p:spPr>
          <a:xfrm>
            <a:off x="8294527" y="5698713"/>
            <a:ext cx="46847" cy="983793"/>
          </a:xfrm>
          <a:custGeom>
            <a:avLst/>
            <a:gdLst/>
            <a:ahLst/>
            <a:cxnLst/>
            <a:rect l="l" t="t" r="r" b="b"/>
            <a:pathLst>
              <a:path w="46847" h="983793">
                <a:moveTo>
                  <a:pt x="46847" y="0"/>
                </a:moveTo>
                <a:lnTo>
                  <a:pt x="46847" y="0"/>
                </a:lnTo>
                <a:lnTo>
                  <a:pt x="46847" y="983793"/>
                </a:lnTo>
                <a:lnTo>
                  <a:pt x="46847" y="983793"/>
                </a:lnTo>
                <a:cubicBezTo>
                  <a:pt x="20974" y="983793"/>
                  <a:pt x="0" y="962818"/>
                  <a:pt x="0" y="936945"/>
                </a:cubicBezTo>
                <a:lnTo>
                  <a:pt x="0" y="46847"/>
                </a:lnTo>
                <a:cubicBezTo>
                  <a:pt x="0" y="20992"/>
                  <a:pt x="20992" y="0"/>
                  <a:pt x="46847" y="0"/>
                </a:cubicBezTo>
                <a:close/>
              </a:path>
            </a:pathLst>
          </a:custGeom>
          <a:solidFill>
            <a:srgbClr val="4C7E9A"/>
          </a:solidFill>
          <a:ln/>
        </p:spPr>
      </p:sp>
      <p:sp>
        <p:nvSpPr>
          <p:cNvPr id="49" name="Shape 47"/>
          <p:cNvSpPr/>
          <p:nvPr/>
        </p:nvSpPr>
        <p:spPr>
          <a:xfrm>
            <a:off x="8505340" y="5886102"/>
            <a:ext cx="468473" cy="468473"/>
          </a:xfrm>
          <a:custGeom>
            <a:avLst/>
            <a:gdLst/>
            <a:ahLst/>
            <a:cxnLst/>
            <a:rect l="l" t="t" r="r" b="b"/>
            <a:pathLst>
              <a:path w="468473" h="468473">
                <a:moveTo>
                  <a:pt x="234236" y="0"/>
                </a:moveTo>
                <a:lnTo>
                  <a:pt x="234236" y="0"/>
                </a:lnTo>
                <a:cubicBezTo>
                  <a:pt x="363601" y="0"/>
                  <a:pt x="468473" y="104871"/>
                  <a:pt x="468473" y="234236"/>
                </a:cubicBezTo>
                <a:lnTo>
                  <a:pt x="468473" y="234236"/>
                </a:lnTo>
                <a:cubicBezTo>
                  <a:pt x="468473" y="363601"/>
                  <a:pt x="363601" y="468473"/>
                  <a:pt x="234236" y="468473"/>
                </a:cubicBezTo>
                <a:lnTo>
                  <a:pt x="234236" y="468473"/>
                </a:lnTo>
                <a:cubicBezTo>
                  <a:pt x="104871" y="468473"/>
                  <a:pt x="0" y="363601"/>
                  <a:pt x="0" y="234236"/>
                </a:cubicBezTo>
                <a:lnTo>
                  <a:pt x="0" y="234236"/>
                </a:lnTo>
                <a:cubicBezTo>
                  <a:pt x="0" y="104871"/>
                  <a:pt x="104871" y="0"/>
                  <a:pt x="234236" y="0"/>
                </a:cubicBezTo>
                <a:close/>
              </a:path>
            </a:pathLst>
          </a:custGeom>
          <a:solidFill>
            <a:srgbClr val="4C7E9A"/>
          </a:solidFill>
          <a:ln/>
        </p:spPr>
      </p:sp>
      <p:sp>
        <p:nvSpPr>
          <p:cNvPr id="50" name="Text 48"/>
          <p:cNvSpPr/>
          <p:nvPr/>
        </p:nvSpPr>
        <p:spPr>
          <a:xfrm>
            <a:off x="8452637" y="5886102"/>
            <a:ext cx="573879" cy="468473"/>
          </a:xfrm>
          <a:prstGeom prst="rect">
            <a:avLst/>
          </a:prstGeom>
          <a:noFill/>
          <a:ln/>
        </p:spPr>
        <p:txBody>
          <a:bodyPr wrap="square" lIns="0" tIns="0" rIns="0" bIns="0" rtlCol="0" anchor="ctr"/>
          <a:lstStyle/>
          <a:p>
            <a:pPr algn="ctr">
              <a:lnSpc>
                <a:spcPct val="130000"/>
              </a:lnSpc>
            </a:pPr>
            <a:r>
              <a:rPr lang="en-US" sz="1660" b="1" dirty="0">
                <a:solidFill>
                  <a:srgbClr val="181A1F"/>
                </a:solidFill>
                <a:latin typeface="MiSans" pitchFamily="34" charset="0"/>
                <a:ea typeface="MiSans" pitchFamily="34" charset="-122"/>
                <a:cs typeface="MiSans" pitchFamily="34" charset="-120"/>
              </a:rPr>
              <a:t>08</a:t>
            </a:r>
            <a:endParaRPr lang="en-US" sz="1600" dirty="0"/>
          </a:p>
        </p:txBody>
      </p:sp>
      <p:sp>
        <p:nvSpPr>
          <p:cNvPr id="51" name="Text 49"/>
          <p:cNvSpPr/>
          <p:nvPr/>
        </p:nvSpPr>
        <p:spPr>
          <a:xfrm>
            <a:off x="9114354" y="5886102"/>
            <a:ext cx="1791908" cy="327931"/>
          </a:xfrm>
          <a:prstGeom prst="rect">
            <a:avLst/>
          </a:prstGeom>
          <a:noFill/>
          <a:ln/>
        </p:spPr>
        <p:txBody>
          <a:bodyPr wrap="square" lIns="0" tIns="0" rIns="0" bIns="0" rtlCol="0" anchor="ctr"/>
          <a:lstStyle/>
          <a:p>
            <a:pPr>
              <a:lnSpc>
                <a:spcPct val="130000"/>
              </a:lnSpc>
            </a:pPr>
            <a:r>
              <a:rPr lang="en-US" sz="1660" b="1" dirty="0">
                <a:solidFill>
                  <a:srgbClr val="D1D5DB"/>
                </a:solidFill>
                <a:latin typeface="阿里妈妈数黑体" pitchFamily="34" charset="0"/>
                <a:ea typeface="阿里妈妈数黑体" pitchFamily="34" charset="-122"/>
                <a:cs typeface="阿里妈妈数黑体" pitchFamily="34" charset="-120"/>
              </a:rPr>
              <a:t>局限性与应对策略</a:t>
            </a:r>
            <a:endParaRPr lang="en-US" sz="1600" dirty="0"/>
          </a:p>
        </p:txBody>
      </p:sp>
      <p:sp>
        <p:nvSpPr>
          <p:cNvPr id="52" name="Text 50"/>
          <p:cNvSpPr/>
          <p:nvPr/>
        </p:nvSpPr>
        <p:spPr>
          <a:xfrm>
            <a:off x="9114354" y="6260880"/>
            <a:ext cx="1768484" cy="234236"/>
          </a:xfrm>
          <a:prstGeom prst="rect">
            <a:avLst/>
          </a:prstGeom>
          <a:noFill/>
          <a:ln/>
        </p:spPr>
        <p:txBody>
          <a:bodyPr wrap="square" lIns="0" tIns="0" rIns="0" bIns="0" rtlCol="0" anchor="ctr"/>
          <a:lstStyle/>
          <a:p>
            <a:pPr>
              <a:lnSpc>
                <a:spcPct val="120000"/>
              </a:lnSpc>
            </a:pPr>
            <a:r>
              <a:rPr lang="en-US" sz="1291" dirty="0">
                <a:solidFill>
                  <a:srgbClr val="7E9AA8"/>
                </a:solidFill>
                <a:latin typeface="MiSans" pitchFamily="34" charset="0"/>
                <a:ea typeface="MiSans" pitchFamily="34" charset="-122"/>
                <a:cs typeface="MiSans" pitchFamily="34" charset="-120"/>
              </a:rPr>
              <a:t>理解挑战，优化实践</a:t>
            </a:r>
            <a:endParaRPr lang="en-US" sz="1600" dirty="0"/>
          </a:p>
        </p:txBody>
      </p:sp>
      <p:sp>
        <p:nvSpPr>
          <p:cNvPr id="53" name="Shape 51"/>
          <p:cNvSpPr/>
          <p:nvPr/>
        </p:nvSpPr>
        <p:spPr>
          <a:xfrm>
            <a:off x="491896" y="6916742"/>
            <a:ext cx="7495562" cy="983793"/>
          </a:xfrm>
          <a:custGeom>
            <a:avLst/>
            <a:gdLst/>
            <a:ahLst/>
            <a:cxnLst/>
            <a:rect l="l" t="t" r="r" b="b"/>
            <a:pathLst>
              <a:path w="7495562" h="983793">
                <a:moveTo>
                  <a:pt x="46847" y="0"/>
                </a:moveTo>
                <a:lnTo>
                  <a:pt x="7401866" y="0"/>
                </a:lnTo>
                <a:cubicBezTo>
                  <a:pt x="7453613" y="0"/>
                  <a:pt x="7495562" y="41949"/>
                  <a:pt x="7495562" y="93696"/>
                </a:cubicBezTo>
                <a:lnTo>
                  <a:pt x="7495562" y="890096"/>
                </a:lnTo>
                <a:cubicBezTo>
                  <a:pt x="7495562" y="941843"/>
                  <a:pt x="7453613" y="983793"/>
                  <a:pt x="7401866" y="983793"/>
                </a:cubicBezTo>
                <a:lnTo>
                  <a:pt x="46847" y="983793"/>
                </a:lnTo>
                <a:cubicBezTo>
                  <a:pt x="20974" y="983793"/>
                  <a:pt x="0" y="962818"/>
                  <a:pt x="0" y="936945"/>
                </a:cubicBezTo>
                <a:lnTo>
                  <a:pt x="0" y="46847"/>
                </a:lnTo>
                <a:cubicBezTo>
                  <a:pt x="0" y="20974"/>
                  <a:pt x="20974" y="0"/>
                  <a:pt x="46847" y="0"/>
                </a:cubicBezTo>
                <a:close/>
              </a:path>
            </a:pathLst>
          </a:custGeom>
          <a:solidFill>
            <a:srgbClr val="3A5E78">
              <a:alpha val="20000"/>
            </a:srgbClr>
          </a:solidFill>
          <a:ln/>
        </p:spPr>
      </p:sp>
      <p:sp>
        <p:nvSpPr>
          <p:cNvPr id="54" name="Shape 52"/>
          <p:cNvSpPr/>
          <p:nvPr/>
        </p:nvSpPr>
        <p:spPr>
          <a:xfrm>
            <a:off x="491896" y="6916742"/>
            <a:ext cx="46847" cy="983793"/>
          </a:xfrm>
          <a:custGeom>
            <a:avLst/>
            <a:gdLst/>
            <a:ahLst/>
            <a:cxnLst/>
            <a:rect l="l" t="t" r="r" b="b"/>
            <a:pathLst>
              <a:path w="46847" h="983793">
                <a:moveTo>
                  <a:pt x="46847" y="0"/>
                </a:moveTo>
                <a:lnTo>
                  <a:pt x="46847" y="0"/>
                </a:lnTo>
                <a:lnTo>
                  <a:pt x="46847" y="983793"/>
                </a:lnTo>
                <a:lnTo>
                  <a:pt x="46847" y="983793"/>
                </a:lnTo>
                <a:cubicBezTo>
                  <a:pt x="20974" y="983793"/>
                  <a:pt x="0" y="962818"/>
                  <a:pt x="0" y="936945"/>
                </a:cubicBezTo>
                <a:lnTo>
                  <a:pt x="0" y="46847"/>
                </a:lnTo>
                <a:cubicBezTo>
                  <a:pt x="0" y="20992"/>
                  <a:pt x="20992" y="0"/>
                  <a:pt x="46847" y="0"/>
                </a:cubicBezTo>
                <a:close/>
              </a:path>
            </a:pathLst>
          </a:custGeom>
          <a:solidFill>
            <a:srgbClr val="4C7E9A"/>
          </a:solidFill>
          <a:ln/>
        </p:spPr>
      </p:sp>
      <p:sp>
        <p:nvSpPr>
          <p:cNvPr id="55" name="Shape 53"/>
          <p:cNvSpPr/>
          <p:nvPr/>
        </p:nvSpPr>
        <p:spPr>
          <a:xfrm>
            <a:off x="702709" y="7104131"/>
            <a:ext cx="468473" cy="468473"/>
          </a:xfrm>
          <a:custGeom>
            <a:avLst/>
            <a:gdLst/>
            <a:ahLst/>
            <a:cxnLst/>
            <a:rect l="l" t="t" r="r" b="b"/>
            <a:pathLst>
              <a:path w="468473" h="468473">
                <a:moveTo>
                  <a:pt x="234236" y="0"/>
                </a:moveTo>
                <a:lnTo>
                  <a:pt x="234236" y="0"/>
                </a:lnTo>
                <a:cubicBezTo>
                  <a:pt x="363601" y="0"/>
                  <a:pt x="468473" y="104871"/>
                  <a:pt x="468473" y="234236"/>
                </a:cubicBezTo>
                <a:lnTo>
                  <a:pt x="468473" y="234236"/>
                </a:lnTo>
                <a:cubicBezTo>
                  <a:pt x="468473" y="363601"/>
                  <a:pt x="363601" y="468473"/>
                  <a:pt x="234236" y="468473"/>
                </a:cubicBezTo>
                <a:lnTo>
                  <a:pt x="234236" y="468473"/>
                </a:lnTo>
                <a:cubicBezTo>
                  <a:pt x="104871" y="468473"/>
                  <a:pt x="0" y="363601"/>
                  <a:pt x="0" y="234236"/>
                </a:cubicBezTo>
                <a:lnTo>
                  <a:pt x="0" y="234236"/>
                </a:lnTo>
                <a:cubicBezTo>
                  <a:pt x="0" y="104871"/>
                  <a:pt x="104871" y="0"/>
                  <a:pt x="234236" y="0"/>
                </a:cubicBezTo>
                <a:close/>
              </a:path>
            </a:pathLst>
          </a:custGeom>
          <a:solidFill>
            <a:srgbClr val="4C7E9A"/>
          </a:solidFill>
          <a:ln/>
        </p:spPr>
      </p:sp>
      <p:sp>
        <p:nvSpPr>
          <p:cNvPr id="56" name="Text 54"/>
          <p:cNvSpPr/>
          <p:nvPr/>
        </p:nvSpPr>
        <p:spPr>
          <a:xfrm>
            <a:off x="650006" y="7104131"/>
            <a:ext cx="573879" cy="468473"/>
          </a:xfrm>
          <a:prstGeom prst="rect">
            <a:avLst/>
          </a:prstGeom>
          <a:noFill/>
          <a:ln/>
        </p:spPr>
        <p:txBody>
          <a:bodyPr wrap="square" lIns="0" tIns="0" rIns="0" bIns="0" rtlCol="0" anchor="ctr"/>
          <a:lstStyle/>
          <a:p>
            <a:pPr algn="ctr">
              <a:lnSpc>
                <a:spcPct val="130000"/>
              </a:lnSpc>
            </a:pPr>
            <a:r>
              <a:rPr lang="en-US" sz="1660" b="1" dirty="0">
                <a:solidFill>
                  <a:srgbClr val="181A1F"/>
                </a:solidFill>
                <a:latin typeface="MiSans" pitchFamily="34" charset="0"/>
                <a:ea typeface="MiSans" pitchFamily="34" charset="-122"/>
                <a:cs typeface="MiSans" pitchFamily="34" charset="-120"/>
              </a:rPr>
              <a:t>09</a:t>
            </a:r>
            <a:endParaRPr lang="en-US" sz="1600" dirty="0"/>
          </a:p>
        </p:txBody>
      </p:sp>
      <p:sp>
        <p:nvSpPr>
          <p:cNvPr id="57" name="Text 55"/>
          <p:cNvSpPr/>
          <p:nvPr/>
        </p:nvSpPr>
        <p:spPr>
          <a:xfrm>
            <a:off x="1311723" y="7104131"/>
            <a:ext cx="2260380" cy="327931"/>
          </a:xfrm>
          <a:prstGeom prst="rect">
            <a:avLst/>
          </a:prstGeom>
          <a:noFill/>
          <a:ln/>
        </p:spPr>
        <p:txBody>
          <a:bodyPr wrap="square" lIns="0" tIns="0" rIns="0" bIns="0" rtlCol="0" anchor="ctr"/>
          <a:lstStyle/>
          <a:p>
            <a:pPr>
              <a:lnSpc>
                <a:spcPct val="130000"/>
              </a:lnSpc>
            </a:pPr>
            <a:r>
              <a:rPr lang="en-US" sz="1660" b="1" dirty="0">
                <a:solidFill>
                  <a:srgbClr val="D1D5DB"/>
                </a:solidFill>
                <a:latin typeface="阿里妈妈数黑体" pitchFamily="34" charset="0"/>
                <a:ea typeface="阿里妈妈数黑体" pitchFamily="34" charset="-122"/>
                <a:cs typeface="阿里妈妈数黑体" pitchFamily="34" charset="-120"/>
              </a:rPr>
              <a:t>实战案例</a:t>
            </a:r>
            <a:endParaRPr lang="en-US" sz="1600" dirty="0"/>
          </a:p>
        </p:txBody>
      </p:sp>
      <p:sp>
        <p:nvSpPr>
          <p:cNvPr id="58" name="Text 56"/>
          <p:cNvSpPr/>
          <p:nvPr/>
        </p:nvSpPr>
        <p:spPr>
          <a:xfrm>
            <a:off x="1311723" y="7478909"/>
            <a:ext cx="2236957" cy="234236"/>
          </a:xfrm>
          <a:prstGeom prst="rect">
            <a:avLst/>
          </a:prstGeom>
          <a:noFill/>
          <a:ln/>
        </p:spPr>
        <p:txBody>
          <a:bodyPr wrap="square" lIns="0" tIns="0" rIns="0" bIns="0" rtlCol="0" anchor="ctr"/>
          <a:lstStyle/>
          <a:p>
            <a:pPr>
              <a:lnSpc>
                <a:spcPct val="120000"/>
              </a:lnSpc>
            </a:pPr>
            <a:r>
              <a:rPr lang="en-US" sz="1291" dirty="0">
                <a:solidFill>
                  <a:srgbClr val="7E9AA8"/>
                </a:solidFill>
                <a:latin typeface="MiSans" pitchFamily="34" charset="0"/>
                <a:ea typeface="MiSans" pitchFamily="34" charset="-122"/>
                <a:cs typeface="MiSans" pitchFamily="34" charset="-120"/>
              </a:rPr>
              <a:t>Kaggle房价预测中的集成技巧</a:t>
            </a:r>
            <a:endParaRPr lang="en-US" sz="1600" dirty="0"/>
          </a:p>
        </p:txBody>
      </p:sp>
      <p:sp>
        <p:nvSpPr>
          <p:cNvPr id="59" name="Shape 57"/>
          <p:cNvSpPr/>
          <p:nvPr/>
        </p:nvSpPr>
        <p:spPr>
          <a:xfrm>
            <a:off x="8294527" y="6916742"/>
            <a:ext cx="7495562" cy="983793"/>
          </a:xfrm>
          <a:custGeom>
            <a:avLst/>
            <a:gdLst/>
            <a:ahLst/>
            <a:cxnLst/>
            <a:rect l="l" t="t" r="r" b="b"/>
            <a:pathLst>
              <a:path w="7495562" h="983793">
                <a:moveTo>
                  <a:pt x="46847" y="0"/>
                </a:moveTo>
                <a:lnTo>
                  <a:pt x="7401866" y="0"/>
                </a:lnTo>
                <a:cubicBezTo>
                  <a:pt x="7453613" y="0"/>
                  <a:pt x="7495562" y="41949"/>
                  <a:pt x="7495562" y="93696"/>
                </a:cubicBezTo>
                <a:lnTo>
                  <a:pt x="7495562" y="890096"/>
                </a:lnTo>
                <a:cubicBezTo>
                  <a:pt x="7495562" y="941843"/>
                  <a:pt x="7453613" y="983793"/>
                  <a:pt x="7401866" y="983793"/>
                </a:cubicBezTo>
                <a:lnTo>
                  <a:pt x="46847" y="983793"/>
                </a:lnTo>
                <a:cubicBezTo>
                  <a:pt x="20974" y="983793"/>
                  <a:pt x="0" y="962818"/>
                  <a:pt x="0" y="936945"/>
                </a:cubicBezTo>
                <a:lnTo>
                  <a:pt x="0" y="46847"/>
                </a:lnTo>
                <a:cubicBezTo>
                  <a:pt x="0" y="20974"/>
                  <a:pt x="20974" y="0"/>
                  <a:pt x="46847" y="0"/>
                </a:cubicBezTo>
                <a:close/>
              </a:path>
            </a:pathLst>
          </a:custGeom>
          <a:solidFill>
            <a:srgbClr val="3A5E78">
              <a:alpha val="20000"/>
            </a:srgbClr>
          </a:solidFill>
          <a:ln/>
        </p:spPr>
      </p:sp>
      <p:sp>
        <p:nvSpPr>
          <p:cNvPr id="60" name="Shape 58"/>
          <p:cNvSpPr/>
          <p:nvPr/>
        </p:nvSpPr>
        <p:spPr>
          <a:xfrm>
            <a:off x="8294527" y="6916742"/>
            <a:ext cx="46847" cy="983793"/>
          </a:xfrm>
          <a:custGeom>
            <a:avLst/>
            <a:gdLst/>
            <a:ahLst/>
            <a:cxnLst/>
            <a:rect l="l" t="t" r="r" b="b"/>
            <a:pathLst>
              <a:path w="46847" h="983793">
                <a:moveTo>
                  <a:pt x="46847" y="0"/>
                </a:moveTo>
                <a:lnTo>
                  <a:pt x="46847" y="0"/>
                </a:lnTo>
                <a:lnTo>
                  <a:pt x="46847" y="983793"/>
                </a:lnTo>
                <a:lnTo>
                  <a:pt x="46847" y="983793"/>
                </a:lnTo>
                <a:cubicBezTo>
                  <a:pt x="20974" y="983793"/>
                  <a:pt x="0" y="962818"/>
                  <a:pt x="0" y="936945"/>
                </a:cubicBezTo>
                <a:lnTo>
                  <a:pt x="0" y="46847"/>
                </a:lnTo>
                <a:cubicBezTo>
                  <a:pt x="0" y="20992"/>
                  <a:pt x="20992" y="0"/>
                  <a:pt x="46847" y="0"/>
                </a:cubicBezTo>
                <a:close/>
              </a:path>
            </a:pathLst>
          </a:custGeom>
          <a:solidFill>
            <a:srgbClr val="4C7E9A"/>
          </a:solidFill>
          <a:ln/>
        </p:spPr>
      </p:sp>
      <p:sp>
        <p:nvSpPr>
          <p:cNvPr id="61" name="Shape 59"/>
          <p:cNvSpPr/>
          <p:nvPr/>
        </p:nvSpPr>
        <p:spPr>
          <a:xfrm>
            <a:off x="8505340" y="7104131"/>
            <a:ext cx="468473" cy="468473"/>
          </a:xfrm>
          <a:custGeom>
            <a:avLst/>
            <a:gdLst/>
            <a:ahLst/>
            <a:cxnLst/>
            <a:rect l="l" t="t" r="r" b="b"/>
            <a:pathLst>
              <a:path w="468473" h="468473">
                <a:moveTo>
                  <a:pt x="234236" y="0"/>
                </a:moveTo>
                <a:lnTo>
                  <a:pt x="234236" y="0"/>
                </a:lnTo>
                <a:cubicBezTo>
                  <a:pt x="363601" y="0"/>
                  <a:pt x="468473" y="104871"/>
                  <a:pt x="468473" y="234236"/>
                </a:cubicBezTo>
                <a:lnTo>
                  <a:pt x="468473" y="234236"/>
                </a:lnTo>
                <a:cubicBezTo>
                  <a:pt x="468473" y="363601"/>
                  <a:pt x="363601" y="468473"/>
                  <a:pt x="234236" y="468473"/>
                </a:cubicBezTo>
                <a:lnTo>
                  <a:pt x="234236" y="468473"/>
                </a:lnTo>
                <a:cubicBezTo>
                  <a:pt x="104871" y="468473"/>
                  <a:pt x="0" y="363601"/>
                  <a:pt x="0" y="234236"/>
                </a:cubicBezTo>
                <a:lnTo>
                  <a:pt x="0" y="234236"/>
                </a:lnTo>
                <a:cubicBezTo>
                  <a:pt x="0" y="104871"/>
                  <a:pt x="104871" y="0"/>
                  <a:pt x="234236" y="0"/>
                </a:cubicBezTo>
                <a:close/>
              </a:path>
            </a:pathLst>
          </a:custGeom>
          <a:solidFill>
            <a:srgbClr val="4C7E9A"/>
          </a:solidFill>
          <a:ln/>
        </p:spPr>
      </p:sp>
      <p:sp>
        <p:nvSpPr>
          <p:cNvPr id="62" name="Text 60"/>
          <p:cNvSpPr/>
          <p:nvPr/>
        </p:nvSpPr>
        <p:spPr>
          <a:xfrm>
            <a:off x="8452637" y="7104131"/>
            <a:ext cx="573879" cy="468473"/>
          </a:xfrm>
          <a:prstGeom prst="rect">
            <a:avLst/>
          </a:prstGeom>
          <a:noFill/>
          <a:ln/>
        </p:spPr>
        <p:txBody>
          <a:bodyPr wrap="square" lIns="0" tIns="0" rIns="0" bIns="0" rtlCol="0" anchor="ctr"/>
          <a:lstStyle/>
          <a:p>
            <a:pPr algn="ctr">
              <a:lnSpc>
                <a:spcPct val="130000"/>
              </a:lnSpc>
            </a:pPr>
            <a:r>
              <a:rPr lang="en-US" sz="1660" b="1" dirty="0">
                <a:solidFill>
                  <a:srgbClr val="181A1F"/>
                </a:solidFill>
                <a:latin typeface="MiSans" pitchFamily="34" charset="0"/>
                <a:ea typeface="MiSans" pitchFamily="34" charset="-122"/>
                <a:cs typeface="MiSans" pitchFamily="34" charset="-120"/>
              </a:rPr>
              <a:t>10</a:t>
            </a:r>
            <a:endParaRPr lang="en-US" sz="1600" dirty="0"/>
          </a:p>
        </p:txBody>
      </p:sp>
      <p:sp>
        <p:nvSpPr>
          <p:cNvPr id="63" name="Text 61"/>
          <p:cNvSpPr/>
          <p:nvPr/>
        </p:nvSpPr>
        <p:spPr>
          <a:xfrm>
            <a:off x="9114354" y="7104131"/>
            <a:ext cx="1909026" cy="327931"/>
          </a:xfrm>
          <a:prstGeom prst="rect">
            <a:avLst/>
          </a:prstGeom>
          <a:noFill/>
          <a:ln/>
        </p:spPr>
        <p:txBody>
          <a:bodyPr wrap="square" lIns="0" tIns="0" rIns="0" bIns="0" rtlCol="0" anchor="ctr"/>
          <a:lstStyle/>
          <a:p>
            <a:pPr>
              <a:lnSpc>
                <a:spcPct val="130000"/>
              </a:lnSpc>
            </a:pPr>
            <a:r>
              <a:rPr lang="en-US" sz="1660" b="1" dirty="0">
                <a:solidFill>
                  <a:srgbClr val="D1D5DB"/>
                </a:solidFill>
                <a:latin typeface="阿里妈妈数黑体" pitchFamily="34" charset="0"/>
                <a:ea typeface="阿里妈妈数黑体" pitchFamily="34" charset="-122"/>
                <a:cs typeface="阿里妈妈数黑体" pitchFamily="34" charset="-120"/>
              </a:rPr>
              <a:t>算法选择指南</a:t>
            </a:r>
            <a:endParaRPr lang="en-US" sz="1600" dirty="0"/>
          </a:p>
        </p:txBody>
      </p:sp>
      <p:sp>
        <p:nvSpPr>
          <p:cNvPr id="64" name="Text 62"/>
          <p:cNvSpPr/>
          <p:nvPr/>
        </p:nvSpPr>
        <p:spPr>
          <a:xfrm>
            <a:off x="9114354" y="7478909"/>
            <a:ext cx="1885602" cy="234236"/>
          </a:xfrm>
          <a:prstGeom prst="rect">
            <a:avLst/>
          </a:prstGeom>
          <a:noFill/>
          <a:ln/>
        </p:spPr>
        <p:txBody>
          <a:bodyPr wrap="square" lIns="0" tIns="0" rIns="0" bIns="0" rtlCol="0" anchor="ctr"/>
          <a:lstStyle/>
          <a:p>
            <a:pPr>
              <a:lnSpc>
                <a:spcPct val="120000"/>
              </a:lnSpc>
            </a:pPr>
            <a:r>
              <a:rPr lang="en-US" sz="1291" dirty="0">
                <a:solidFill>
                  <a:srgbClr val="7E9AA8"/>
                </a:solidFill>
                <a:latin typeface="MiSans" pitchFamily="34" charset="0"/>
                <a:ea typeface="MiSans" pitchFamily="34" charset="-122"/>
                <a:cs typeface="MiSans" pitchFamily="34" charset="-120"/>
              </a:rPr>
              <a:t>如何选择合适的集成策略</a:t>
            </a:r>
            <a:endParaRPr lang="en-US" sz="1600" dirty="0"/>
          </a:p>
        </p:txBody>
      </p:sp>
      <p:sp>
        <p:nvSpPr>
          <p:cNvPr id="65" name="Shape 63"/>
          <p:cNvSpPr/>
          <p:nvPr/>
        </p:nvSpPr>
        <p:spPr>
          <a:xfrm>
            <a:off x="474329" y="8281169"/>
            <a:ext cx="15307343" cy="1136046"/>
          </a:xfrm>
          <a:custGeom>
            <a:avLst/>
            <a:gdLst/>
            <a:ahLst/>
            <a:cxnLst/>
            <a:rect l="l" t="t" r="r" b="b"/>
            <a:pathLst>
              <a:path w="15307343" h="1136046">
                <a:moveTo>
                  <a:pt x="93690" y="0"/>
                </a:moveTo>
                <a:lnTo>
                  <a:pt x="15213653" y="0"/>
                </a:lnTo>
                <a:cubicBezTo>
                  <a:pt x="15265397" y="0"/>
                  <a:pt x="15307343" y="41946"/>
                  <a:pt x="15307343" y="93690"/>
                </a:cubicBezTo>
                <a:lnTo>
                  <a:pt x="15307343" y="1042356"/>
                </a:lnTo>
                <a:cubicBezTo>
                  <a:pt x="15307343" y="1094100"/>
                  <a:pt x="15265397" y="1136046"/>
                  <a:pt x="15213653" y="1136046"/>
                </a:cubicBezTo>
                <a:lnTo>
                  <a:pt x="93690" y="1136046"/>
                </a:lnTo>
                <a:cubicBezTo>
                  <a:pt x="41946" y="1136046"/>
                  <a:pt x="0" y="1094100"/>
                  <a:pt x="0" y="1042356"/>
                </a:cubicBezTo>
                <a:lnTo>
                  <a:pt x="0" y="93690"/>
                </a:lnTo>
                <a:cubicBezTo>
                  <a:pt x="0" y="41981"/>
                  <a:pt x="41981" y="0"/>
                  <a:pt x="93690" y="0"/>
                </a:cubicBezTo>
                <a:close/>
              </a:path>
            </a:pathLst>
          </a:custGeom>
          <a:solidFill>
            <a:srgbClr val="4C7E9A">
              <a:alpha val="10196"/>
            </a:srgbClr>
          </a:solidFill>
          <a:ln w="12700">
            <a:solidFill>
              <a:srgbClr val="4C7E9A">
                <a:alpha val="30196"/>
              </a:srgbClr>
            </a:solidFill>
            <a:prstDash val="solid"/>
          </a:ln>
        </p:spPr>
      </p:sp>
      <p:sp>
        <p:nvSpPr>
          <p:cNvPr id="66" name="Shape 64"/>
          <p:cNvSpPr/>
          <p:nvPr/>
        </p:nvSpPr>
        <p:spPr>
          <a:xfrm>
            <a:off x="784692" y="8708650"/>
            <a:ext cx="210813" cy="281084"/>
          </a:xfrm>
          <a:custGeom>
            <a:avLst/>
            <a:gdLst/>
            <a:ahLst/>
            <a:cxnLst/>
            <a:rect l="l" t="t" r="r" b="b"/>
            <a:pathLst>
              <a:path w="210813" h="281084">
                <a:moveTo>
                  <a:pt x="160800" y="210813"/>
                </a:moveTo>
                <a:cubicBezTo>
                  <a:pt x="164807" y="198570"/>
                  <a:pt x="172822" y="187481"/>
                  <a:pt x="181881" y="177928"/>
                </a:cubicBezTo>
                <a:cubicBezTo>
                  <a:pt x="199833" y="159043"/>
                  <a:pt x="210813" y="133515"/>
                  <a:pt x="210813" y="105406"/>
                </a:cubicBezTo>
                <a:cubicBezTo>
                  <a:pt x="210813" y="47213"/>
                  <a:pt x="163599" y="0"/>
                  <a:pt x="105406" y="0"/>
                </a:cubicBezTo>
                <a:cubicBezTo>
                  <a:pt x="47213" y="0"/>
                  <a:pt x="0" y="47213"/>
                  <a:pt x="0" y="105406"/>
                </a:cubicBezTo>
                <a:cubicBezTo>
                  <a:pt x="0" y="133515"/>
                  <a:pt x="10980" y="159043"/>
                  <a:pt x="28932" y="177928"/>
                </a:cubicBezTo>
                <a:cubicBezTo>
                  <a:pt x="37990" y="187481"/>
                  <a:pt x="46060" y="198570"/>
                  <a:pt x="50013" y="210813"/>
                </a:cubicBezTo>
                <a:lnTo>
                  <a:pt x="160745" y="210813"/>
                </a:lnTo>
                <a:close/>
                <a:moveTo>
                  <a:pt x="158110" y="237164"/>
                </a:moveTo>
                <a:lnTo>
                  <a:pt x="52703" y="237164"/>
                </a:lnTo>
                <a:lnTo>
                  <a:pt x="52703" y="245948"/>
                </a:lnTo>
                <a:cubicBezTo>
                  <a:pt x="52703" y="270214"/>
                  <a:pt x="72357" y="289867"/>
                  <a:pt x="96622" y="289867"/>
                </a:cubicBezTo>
                <a:lnTo>
                  <a:pt x="114190" y="289867"/>
                </a:lnTo>
                <a:cubicBezTo>
                  <a:pt x="138456" y="289867"/>
                  <a:pt x="158110" y="270214"/>
                  <a:pt x="158110" y="245948"/>
                </a:cubicBezTo>
                <a:lnTo>
                  <a:pt x="158110" y="237164"/>
                </a:lnTo>
                <a:close/>
                <a:moveTo>
                  <a:pt x="101014" y="61487"/>
                </a:moveTo>
                <a:cubicBezTo>
                  <a:pt x="79165" y="61487"/>
                  <a:pt x="61487" y="79165"/>
                  <a:pt x="61487" y="101014"/>
                </a:cubicBezTo>
                <a:cubicBezTo>
                  <a:pt x="61487" y="108316"/>
                  <a:pt x="55613" y="114190"/>
                  <a:pt x="48311" y="114190"/>
                </a:cubicBezTo>
                <a:cubicBezTo>
                  <a:pt x="41010" y="114190"/>
                  <a:pt x="35135" y="108316"/>
                  <a:pt x="35135" y="101014"/>
                </a:cubicBezTo>
                <a:cubicBezTo>
                  <a:pt x="35135" y="64616"/>
                  <a:pt x="64616" y="35135"/>
                  <a:pt x="101014" y="35135"/>
                </a:cubicBezTo>
                <a:cubicBezTo>
                  <a:pt x="108316" y="35135"/>
                  <a:pt x="114190" y="41010"/>
                  <a:pt x="114190" y="48311"/>
                </a:cubicBezTo>
                <a:cubicBezTo>
                  <a:pt x="114190" y="55613"/>
                  <a:pt x="108316" y="61487"/>
                  <a:pt x="101014" y="61487"/>
                </a:cubicBezTo>
                <a:close/>
              </a:path>
            </a:pathLst>
          </a:custGeom>
          <a:solidFill>
            <a:srgbClr val="4C7E9A"/>
          </a:solidFill>
          <a:ln/>
        </p:spPr>
      </p:sp>
      <p:sp>
        <p:nvSpPr>
          <p:cNvPr id="67" name="Text 65"/>
          <p:cNvSpPr/>
          <p:nvPr/>
        </p:nvSpPr>
        <p:spPr>
          <a:xfrm>
            <a:off x="1253164" y="8521261"/>
            <a:ext cx="7600968" cy="327931"/>
          </a:xfrm>
          <a:prstGeom prst="rect">
            <a:avLst/>
          </a:prstGeom>
          <a:noFill/>
          <a:ln/>
        </p:spPr>
        <p:txBody>
          <a:bodyPr wrap="square" lIns="0" tIns="0" rIns="0" bIns="0" rtlCol="0" anchor="ctr"/>
          <a:lstStyle/>
          <a:p>
            <a:pPr>
              <a:lnSpc>
                <a:spcPct val="130000"/>
              </a:lnSpc>
            </a:pPr>
            <a:r>
              <a:rPr lang="en-US" sz="1660" b="1" dirty="0">
                <a:solidFill>
                  <a:srgbClr val="D1D5DB"/>
                </a:solidFill>
                <a:latin typeface="MiSans" pitchFamily="34" charset="0"/>
                <a:ea typeface="MiSans" pitchFamily="34" charset="-122"/>
                <a:cs typeface="MiSans" pitchFamily="34" charset="-120"/>
              </a:rPr>
              <a:t>学习目标</a:t>
            </a:r>
            <a:endParaRPr lang="en-US" sz="1600" dirty="0"/>
          </a:p>
        </p:txBody>
      </p:sp>
      <p:sp>
        <p:nvSpPr>
          <p:cNvPr id="68" name="Text 66"/>
          <p:cNvSpPr/>
          <p:nvPr/>
        </p:nvSpPr>
        <p:spPr>
          <a:xfrm>
            <a:off x="1253164" y="8896039"/>
            <a:ext cx="7589256" cy="281084"/>
          </a:xfrm>
          <a:prstGeom prst="rect">
            <a:avLst/>
          </a:prstGeom>
          <a:noFill/>
          <a:ln/>
        </p:spPr>
        <p:txBody>
          <a:bodyPr wrap="square" lIns="0" tIns="0" rIns="0" bIns="0" rtlCol="0" anchor="ctr"/>
          <a:lstStyle/>
          <a:p>
            <a:pPr>
              <a:lnSpc>
                <a:spcPct val="130000"/>
              </a:lnSpc>
            </a:pPr>
            <a:r>
              <a:rPr lang="en-US" sz="1476" dirty="0">
                <a:solidFill>
                  <a:srgbClr val="7E9AA8"/>
                </a:solidFill>
                <a:latin typeface="MiSans" pitchFamily="34" charset="0"/>
                <a:ea typeface="MiSans" pitchFamily="34" charset="-122"/>
                <a:cs typeface="MiSans" pitchFamily="34" charset="-120"/>
              </a:rPr>
              <a:t>系统掌握集成学习的核心概念、算法原理与工程实践，理解不同集成策略的优势与适用场景</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81A1F"/>
        </a:solidFill>
      </p:bgPr>
    </p:bg>
    <p:spTree>
      <p:nvGrpSpPr>
        <p:cNvPr id="1" name=""/>
        <p:cNvGrpSpPr/>
        <p:nvPr/>
      </p:nvGrpSpPr>
      <p:grpSpPr>
        <a:xfrm>
          <a:off x="0" y="0"/>
          <a:ext cx="0" cy="0"/>
          <a:chOff x="0" y="0"/>
          <a:chExt cx="0" cy="0"/>
        </a:xfrm>
      </p:grpSpPr>
      <p:pic>
        <p:nvPicPr>
          <p:cNvPr id="2" name="Image 0" descr="https://kimi-web-img.moonshot.cn/img/static.vecteezy.com/60a6d54597b5224fc8783cfc135c416523ade08b.jpg">    </p:cNvPr>
          <p:cNvPicPr>
            <a:picLocks noChangeAspect="1"/>
          </p:cNvPicPr>
          <p:nvPr/>
        </p:nvPicPr>
        <p:blipFill>
          <a:blip r:embed="rId1">
            <a:alphaModFix amt="30000"/>
          </a:blip>
          <a:srcRect l="202" r="202" t="0" b="0"/>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rotWithShape="1" flip="none">
            <a:gsLst>
              <a:gs pos="0">
                <a:srgbClr val="181A1F"/>
              </a:gs>
              <a:gs pos="50000">
                <a:srgbClr val="181A1F">
                  <a:alpha val="95000"/>
                </a:srgbClr>
              </a:gs>
              <a:gs pos="100000">
                <a:srgbClr val="181A1F">
                  <a:alpha val="70000"/>
                </a:srgbClr>
              </a:gs>
            </a:gsLst>
            <a:lin ang="0" scaled="1"/>
          </a:gradFill>
          <a:ln/>
        </p:spPr>
      </p:sp>
      <p:sp>
        <p:nvSpPr>
          <p:cNvPr id="4" name="Shape 1"/>
          <p:cNvSpPr/>
          <p:nvPr/>
        </p:nvSpPr>
        <p:spPr>
          <a:xfrm>
            <a:off x="520700" y="1073150"/>
            <a:ext cx="2349500" cy="787400"/>
          </a:xfrm>
          <a:custGeom>
            <a:avLst/>
            <a:gdLst/>
            <a:ahLst/>
            <a:cxnLst/>
            <a:rect l="l" t="t" r="r" b="b"/>
            <a:pathLst>
              <a:path w="2349500" h="787400">
                <a:moveTo>
                  <a:pt x="101598" y="0"/>
                </a:moveTo>
                <a:lnTo>
                  <a:pt x="2247902" y="0"/>
                </a:lnTo>
                <a:cubicBezTo>
                  <a:pt x="2304013" y="0"/>
                  <a:pt x="2349500" y="45487"/>
                  <a:pt x="2349500" y="101598"/>
                </a:cubicBezTo>
                <a:lnTo>
                  <a:pt x="2349500" y="685802"/>
                </a:lnTo>
                <a:cubicBezTo>
                  <a:pt x="2349500" y="741913"/>
                  <a:pt x="2304013" y="787400"/>
                  <a:pt x="2247902" y="787400"/>
                </a:cubicBezTo>
                <a:lnTo>
                  <a:pt x="101598" y="787400"/>
                </a:lnTo>
                <a:cubicBezTo>
                  <a:pt x="45487" y="787400"/>
                  <a:pt x="0" y="741913"/>
                  <a:pt x="0" y="685802"/>
                </a:cubicBezTo>
                <a:lnTo>
                  <a:pt x="0" y="101598"/>
                </a:lnTo>
                <a:cubicBezTo>
                  <a:pt x="0" y="45525"/>
                  <a:pt x="45525" y="0"/>
                  <a:pt x="101598" y="0"/>
                </a:cubicBezTo>
                <a:close/>
              </a:path>
            </a:pathLst>
          </a:custGeom>
          <a:solidFill>
            <a:srgbClr val="4C7E9A">
              <a:alpha val="20000"/>
            </a:srgbClr>
          </a:solidFill>
          <a:ln w="25400">
            <a:solidFill>
              <a:srgbClr val="4C7E9A"/>
            </a:solidFill>
            <a:prstDash val="solid"/>
          </a:ln>
        </p:spPr>
      </p:sp>
      <p:sp>
        <p:nvSpPr>
          <p:cNvPr id="5" name="Text 2"/>
          <p:cNvSpPr/>
          <p:nvPr/>
        </p:nvSpPr>
        <p:spPr>
          <a:xfrm>
            <a:off x="838200" y="1238250"/>
            <a:ext cx="1905000" cy="457200"/>
          </a:xfrm>
          <a:prstGeom prst="rect">
            <a:avLst/>
          </a:prstGeom>
          <a:noFill/>
          <a:ln/>
        </p:spPr>
        <p:txBody>
          <a:bodyPr wrap="square" lIns="0" tIns="0" rIns="0" bIns="0" rtlCol="0" anchor="ctr"/>
          <a:lstStyle/>
          <a:p>
            <a:pPr>
              <a:lnSpc>
                <a:spcPct val="100000"/>
              </a:lnSpc>
            </a:pPr>
            <a:r>
              <a:rPr lang="en-US" sz="3000" b="1" dirty="0">
                <a:solidFill>
                  <a:srgbClr val="4C7E9A"/>
                </a:solidFill>
                <a:latin typeface="MiSans" pitchFamily="34" charset="0"/>
                <a:ea typeface="MiSans" pitchFamily="34" charset="-122"/>
                <a:cs typeface="MiSans" pitchFamily="34" charset="-120"/>
              </a:rPr>
              <a:t>CHAPTER</a:t>
            </a:r>
            <a:endParaRPr lang="en-US" sz="1600" dirty="0"/>
          </a:p>
        </p:txBody>
      </p:sp>
      <p:sp>
        <p:nvSpPr>
          <p:cNvPr id="6" name="Text 3"/>
          <p:cNvSpPr/>
          <p:nvPr/>
        </p:nvSpPr>
        <p:spPr>
          <a:xfrm>
            <a:off x="508000" y="2279650"/>
            <a:ext cx="5181600" cy="1219200"/>
          </a:xfrm>
          <a:prstGeom prst="rect">
            <a:avLst/>
          </a:prstGeom>
          <a:noFill/>
          <a:ln/>
        </p:spPr>
        <p:txBody>
          <a:bodyPr wrap="square" lIns="0" tIns="0" rIns="0" bIns="0" rtlCol="0" anchor="ctr"/>
          <a:lstStyle/>
          <a:p>
            <a:pPr>
              <a:lnSpc>
                <a:spcPct val="80000"/>
              </a:lnSpc>
            </a:pPr>
            <a:r>
              <a:rPr lang="en-US" sz="9600" b="1" dirty="0">
                <a:solidFill>
                  <a:srgbClr val="D1D5DB"/>
                </a:solidFill>
                <a:latin typeface="阿里妈妈数黑体" pitchFamily="34" charset="0"/>
                <a:ea typeface="阿里妈妈数黑体" pitchFamily="34" charset="-122"/>
                <a:cs typeface="阿里妈妈数黑体" pitchFamily="34" charset="-120"/>
              </a:rPr>
              <a:t>01</a:t>
            </a:r>
            <a:endParaRPr lang="en-US" sz="1600" dirty="0"/>
          </a:p>
        </p:txBody>
      </p:sp>
      <p:sp>
        <p:nvSpPr>
          <p:cNvPr id="7" name="Text 4"/>
          <p:cNvSpPr/>
          <p:nvPr/>
        </p:nvSpPr>
        <p:spPr>
          <a:xfrm>
            <a:off x="508000" y="3803650"/>
            <a:ext cx="4953000" cy="952500"/>
          </a:xfrm>
          <a:prstGeom prst="rect">
            <a:avLst/>
          </a:prstGeom>
          <a:noFill/>
          <a:ln/>
        </p:spPr>
        <p:txBody>
          <a:bodyPr wrap="square" lIns="0" tIns="0" rIns="0" bIns="0" rtlCol="0" anchor="ctr"/>
          <a:lstStyle/>
          <a:p>
            <a:pPr>
              <a:lnSpc>
                <a:spcPct val="100000"/>
              </a:lnSpc>
            </a:pPr>
            <a:r>
              <a:rPr lang="en-US" sz="6000" b="1" dirty="0">
                <a:solidFill>
                  <a:srgbClr val="4C7E9A"/>
                </a:solidFill>
                <a:latin typeface="阿里妈妈数黑体" pitchFamily="34" charset="0"/>
                <a:ea typeface="阿里妈妈数黑体" pitchFamily="34" charset="-122"/>
                <a:cs typeface="阿里妈妈数黑体" pitchFamily="34" charset="-120"/>
              </a:rPr>
              <a:t>集成学习概述</a:t>
            </a:r>
            <a:endParaRPr lang="en-US" sz="1600" dirty="0"/>
          </a:p>
        </p:txBody>
      </p:sp>
      <p:sp>
        <p:nvSpPr>
          <p:cNvPr id="8" name="Shape 5"/>
          <p:cNvSpPr/>
          <p:nvPr/>
        </p:nvSpPr>
        <p:spPr>
          <a:xfrm>
            <a:off x="508000" y="5162550"/>
            <a:ext cx="2438400" cy="101600"/>
          </a:xfrm>
          <a:custGeom>
            <a:avLst/>
            <a:gdLst/>
            <a:ahLst/>
            <a:cxnLst/>
            <a:rect l="l" t="t" r="r" b="b"/>
            <a:pathLst>
              <a:path w="2438400" h="101600">
                <a:moveTo>
                  <a:pt x="0" y="0"/>
                </a:moveTo>
                <a:lnTo>
                  <a:pt x="2438400" y="0"/>
                </a:lnTo>
                <a:lnTo>
                  <a:pt x="2438400" y="101600"/>
                </a:lnTo>
                <a:lnTo>
                  <a:pt x="0" y="101600"/>
                </a:lnTo>
                <a:lnTo>
                  <a:pt x="0" y="0"/>
                </a:lnTo>
                <a:close/>
              </a:path>
            </a:pathLst>
          </a:custGeom>
          <a:solidFill>
            <a:srgbClr val="4C7E9A"/>
          </a:solidFill>
          <a:ln/>
        </p:spPr>
      </p:sp>
      <p:sp>
        <p:nvSpPr>
          <p:cNvPr id="9" name="Text 6"/>
          <p:cNvSpPr/>
          <p:nvPr/>
        </p:nvSpPr>
        <p:spPr>
          <a:xfrm>
            <a:off x="508000" y="5568950"/>
            <a:ext cx="4800600" cy="508000"/>
          </a:xfrm>
          <a:prstGeom prst="rect">
            <a:avLst/>
          </a:prstGeom>
          <a:noFill/>
          <a:ln/>
        </p:spPr>
        <p:txBody>
          <a:bodyPr wrap="square" lIns="0" tIns="0" rIns="0" bIns="0" rtlCol="0" anchor="ctr"/>
          <a:lstStyle/>
          <a:p>
            <a:pPr>
              <a:lnSpc>
                <a:spcPct val="90000"/>
              </a:lnSpc>
            </a:pPr>
            <a:r>
              <a:rPr lang="en-US" sz="3600" dirty="0">
                <a:solidFill>
                  <a:srgbClr val="7E9AA8"/>
                </a:solidFill>
                <a:latin typeface="MiSans" pitchFamily="34" charset="0"/>
                <a:ea typeface="MiSans" pitchFamily="34" charset="-122"/>
                <a:cs typeface="MiSans" pitchFamily="34" charset="-120"/>
              </a:rPr>
              <a:t>集体智慧优于个体决策</a:t>
            </a:r>
            <a:endParaRPr lang="en-US" sz="1600" dirty="0"/>
          </a:p>
        </p:txBody>
      </p:sp>
      <p:sp>
        <p:nvSpPr>
          <p:cNvPr id="10" name="Shape 7"/>
          <p:cNvSpPr/>
          <p:nvPr/>
        </p:nvSpPr>
        <p:spPr>
          <a:xfrm>
            <a:off x="508000" y="6686550"/>
            <a:ext cx="2184400" cy="1397000"/>
          </a:xfrm>
          <a:custGeom>
            <a:avLst/>
            <a:gdLst/>
            <a:ahLst/>
            <a:cxnLst/>
            <a:rect l="l" t="t" r="r" b="b"/>
            <a:pathLst>
              <a:path w="2184400" h="1397000">
                <a:moveTo>
                  <a:pt x="101604" y="0"/>
                </a:moveTo>
                <a:lnTo>
                  <a:pt x="2082796" y="0"/>
                </a:lnTo>
                <a:cubicBezTo>
                  <a:pt x="2138910" y="0"/>
                  <a:pt x="2184400" y="45490"/>
                  <a:pt x="2184400" y="101604"/>
                </a:cubicBezTo>
                <a:lnTo>
                  <a:pt x="2184400" y="1295396"/>
                </a:lnTo>
                <a:cubicBezTo>
                  <a:pt x="2184400" y="1351510"/>
                  <a:pt x="2138910" y="1397000"/>
                  <a:pt x="20827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1" name="Shape 8"/>
          <p:cNvSpPr/>
          <p:nvPr/>
        </p:nvSpPr>
        <p:spPr>
          <a:xfrm>
            <a:off x="765175" y="6940550"/>
            <a:ext cx="476250" cy="381000"/>
          </a:xfrm>
          <a:custGeom>
            <a:avLst/>
            <a:gdLst/>
            <a:ahLst/>
            <a:cxnLst/>
            <a:rect l="l" t="t" r="r" b="b"/>
            <a:pathLst>
              <a:path w="476250" h="381000">
                <a:moveTo>
                  <a:pt x="238125" y="11906"/>
                </a:moveTo>
                <a:cubicBezTo>
                  <a:pt x="280838" y="11906"/>
                  <a:pt x="315516" y="46584"/>
                  <a:pt x="315516" y="89297"/>
                </a:cubicBezTo>
                <a:cubicBezTo>
                  <a:pt x="315516" y="132010"/>
                  <a:pt x="280838" y="166688"/>
                  <a:pt x="238125" y="166688"/>
                </a:cubicBezTo>
                <a:cubicBezTo>
                  <a:pt x="195412" y="166688"/>
                  <a:pt x="160734" y="132010"/>
                  <a:pt x="160734" y="89297"/>
                </a:cubicBezTo>
                <a:cubicBezTo>
                  <a:pt x="160734" y="46584"/>
                  <a:pt x="195412" y="11906"/>
                  <a:pt x="238125" y="11906"/>
                </a:cubicBezTo>
                <a:close/>
                <a:moveTo>
                  <a:pt x="71438" y="65484"/>
                </a:moveTo>
                <a:cubicBezTo>
                  <a:pt x="101008" y="65484"/>
                  <a:pt x="125016" y="89492"/>
                  <a:pt x="125016" y="119063"/>
                </a:cubicBezTo>
                <a:cubicBezTo>
                  <a:pt x="125016" y="148633"/>
                  <a:pt x="101008" y="172641"/>
                  <a:pt x="71438" y="172641"/>
                </a:cubicBezTo>
                <a:cubicBezTo>
                  <a:pt x="41867" y="172641"/>
                  <a:pt x="17859" y="148633"/>
                  <a:pt x="17859" y="119063"/>
                </a:cubicBezTo>
                <a:cubicBezTo>
                  <a:pt x="17859" y="89492"/>
                  <a:pt x="41867" y="65484"/>
                  <a:pt x="71437" y="65484"/>
                </a:cubicBezTo>
                <a:close/>
                <a:moveTo>
                  <a:pt x="0" y="309563"/>
                </a:moveTo>
                <a:cubicBezTo>
                  <a:pt x="0" y="256952"/>
                  <a:pt x="42639" y="214313"/>
                  <a:pt x="95250" y="214313"/>
                </a:cubicBezTo>
                <a:cubicBezTo>
                  <a:pt x="104775" y="214313"/>
                  <a:pt x="114002" y="215726"/>
                  <a:pt x="122709" y="218331"/>
                </a:cubicBezTo>
                <a:cubicBezTo>
                  <a:pt x="98227" y="245715"/>
                  <a:pt x="83344" y="281880"/>
                  <a:pt x="83344" y="321469"/>
                </a:cubicBezTo>
                <a:lnTo>
                  <a:pt x="83344" y="333375"/>
                </a:lnTo>
                <a:cubicBezTo>
                  <a:pt x="83344" y="341858"/>
                  <a:pt x="85130" y="349895"/>
                  <a:pt x="88329" y="357188"/>
                </a:cubicBezTo>
                <a:lnTo>
                  <a:pt x="23812" y="357188"/>
                </a:lnTo>
                <a:cubicBezTo>
                  <a:pt x="10641" y="357188"/>
                  <a:pt x="0" y="346546"/>
                  <a:pt x="0" y="333375"/>
                </a:cubicBezTo>
                <a:lnTo>
                  <a:pt x="0" y="309563"/>
                </a:lnTo>
                <a:close/>
                <a:moveTo>
                  <a:pt x="387921" y="357188"/>
                </a:moveTo>
                <a:cubicBezTo>
                  <a:pt x="391120" y="349895"/>
                  <a:pt x="392906" y="341858"/>
                  <a:pt x="392906" y="333375"/>
                </a:cubicBezTo>
                <a:lnTo>
                  <a:pt x="392906" y="321469"/>
                </a:lnTo>
                <a:cubicBezTo>
                  <a:pt x="392906" y="281880"/>
                  <a:pt x="378023" y="245715"/>
                  <a:pt x="353541" y="218331"/>
                </a:cubicBezTo>
                <a:cubicBezTo>
                  <a:pt x="362248" y="215726"/>
                  <a:pt x="371475" y="214313"/>
                  <a:pt x="381000" y="214313"/>
                </a:cubicBezTo>
                <a:cubicBezTo>
                  <a:pt x="433611" y="214313"/>
                  <a:pt x="476250" y="256952"/>
                  <a:pt x="476250" y="309563"/>
                </a:cubicBezTo>
                <a:lnTo>
                  <a:pt x="476250" y="333375"/>
                </a:lnTo>
                <a:cubicBezTo>
                  <a:pt x="476250" y="346546"/>
                  <a:pt x="465609" y="357188"/>
                  <a:pt x="452438" y="357188"/>
                </a:cubicBezTo>
                <a:lnTo>
                  <a:pt x="387921" y="357188"/>
                </a:lnTo>
                <a:close/>
                <a:moveTo>
                  <a:pt x="351234" y="119063"/>
                </a:moveTo>
                <a:cubicBezTo>
                  <a:pt x="351234" y="89492"/>
                  <a:pt x="375242" y="65484"/>
                  <a:pt x="404813" y="65484"/>
                </a:cubicBezTo>
                <a:cubicBezTo>
                  <a:pt x="434383" y="65484"/>
                  <a:pt x="458391" y="89492"/>
                  <a:pt x="458391" y="119062"/>
                </a:cubicBezTo>
                <a:cubicBezTo>
                  <a:pt x="458391" y="148633"/>
                  <a:pt x="434383" y="172641"/>
                  <a:pt x="404813" y="172641"/>
                </a:cubicBezTo>
                <a:cubicBezTo>
                  <a:pt x="375242" y="172641"/>
                  <a:pt x="351234" y="148633"/>
                  <a:pt x="351234" y="119063"/>
                </a:cubicBezTo>
                <a:close/>
                <a:moveTo>
                  <a:pt x="119063" y="321469"/>
                </a:moveTo>
                <a:cubicBezTo>
                  <a:pt x="119063" y="255687"/>
                  <a:pt x="172343" y="202406"/>
                  <a:pt x="238125" y="202406"/>
                </a:cubicBezTo>
                <a:cubicBezTo>
                  <a:pt x="303907" y="202406"/>
                  <a:pt x="357188" y="255687"/>
                  <a:pt x="357188" y="321469"/>
                </a:cubicBezTo>
                <a:lnTo>
                  <a:pt x="357188" y="333375"/>
                </a:lnTo>
                <a:cubicBezTo>
                  <a:pt x="357188" y="346546"/>
                  <a:pt x="346546" y="357188"/>
                  <a:pt x="333375" y="357188"/>
                </a:cubicBezTo>
                <a:lnTo>
                  <a:pt x="142875" y="357188"/>
                </a:lnTo>
                <a:cubicBezTo>
                  <a:pt x="129704" y="357188"/>
                  <a:pt x="119063" y="346546"/>
                  <a:pt x="119063" y="333375"/>
                </a:cubicBezTo>
                <a:lnTo>
                  <a:pt x="119063" y="321469"/>
                </a:lnTo>
                <a:close/>
              </a:path>
            </a:pathLst>
          </a:custGeom>
          <a:solidFill>
            <a:srgbClr val="4C7E9A"/>
          </a:solidFill>
          <a:ln/>
        </p:spPr>
      </p:sp>
      <p:sp>
        <p:nvSpPr>
          <p:cNvPr id="12" name="Text 9"/>
          <p:cNvSpPr/>
          <p:nvPr/>
        </p:nvSpPr>
        <p:spPr>
          <a:xfrm>
            <a:off x="762000" y="7473950"/>
            <a:ext cx="18034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群体智慧</a:t>
            </a:r>
            <a:endParaRPr lang="en-US" sz="1600" dirty="0"/>
          </a:p>
        </p:txBody>
      </p:sp>
      <p:sp>
        <p:nvSpPr>
          <p:cNvPr id="13" name="Shape 10"/>
          <p:cNvSpPr/>
          <p:nvPr/>
        </p:nvSpPr>
        <p:spPr>
          <a:xfrm>
            <a:off x="2895600" y="6686550"/>
            <a:ext cx="2184400" cy="1397000"/>
          </a:xfrm>
          <a:custGeom>
            <a:avLst/>
            <a:gdLst/>
            <a:ahLst/>
            <a:cxnLst/>
            <a:rect l="l" t="t" r="r" b="b"/>
            <a:pathLst>
              <a:path w="2184400" h="1397000">
                <a:moveTo>
                  <a:pt x="101604" y="0"/>
                </a:moveTo>
                <a:lnTo>
                  <a:pt x="2082796" y="0"/>
                </a:lnTo>
                <a:cubicBezTo>
                  <a:pt x="2138910" y="0"/>
                  <a:pt x="2184400" y="45490"/>
                  <a:pt x="2184400" y="101604"/>
                </a:cubicBezTo>
                <a:lnTo>
                  <a:pt x="2184400" y="1295396"/>
                </a:lnTo>
                <a:cubicBezTo>
                  <a:pt x="2184400" y="1351510"/>
                  <a:pt x="2138910" y="1397000"/>
                  <a:pt x="20827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4" name="Shape 11"/>
          <p:cNvSpPr/>
          <p:nvPr/>
        </p:nvSpPr>
        <p:spPr>
          <a:xfrm>
            <a:off x="3200400" y="6940550"/>
            <a:ext cx="381000" cy="381000"/>
          </a:xfrm>
          <a:custGeom>
            <a:avLst/>
            <a:gdLst/>
            <a:ahLst/>
            <a:cxnLst/>
            <a:rect l="l" t="t" r="r" b="b"/>
            <a:pathLst>
              <a:path w="381000" h="381000">
                <a:moveTo>
                  <a:pt x="173013" y="3870"/>
                </a:moveTo>
                <a:cubicBezTo>
                  <a:pt x="184100" y="-1265"/>
                  <a:pt x="196900" y="-1265"/>
                  <a:pt x="207987" y="3870"/>
                </a:cubicBezTo>
                <a:lnTo>
                  <a:pt x="370656" y="79028"/>
                </a:lnTo>
                <a:cubicBezTo>
                  <a:pt x="376982" y="81930"/>
                  <a:pt x="381000" y="88255"/>
                  <a:pt x="381000" y="95250"/>
                </a:cubicBezTo>
                <a:cubicBezTo>
                  <a:pt x="381000" y="102245"/>
                  <a:pt x="376982" y="108570"/>
                  <a:pt x="370656" y="111472"/>
                </a:cubicBezTo>
                <a:lnTo>
                  <a:pt x="207987" y="186630"/>
                </a:lnTo>
                <a:cubicBezTo>
                  <a:pt x="196900" y="191765"/>
                  <a:pt x="184100" y="191765"/>
                  <a:pt x="173013" y="186630"/>
                </a:cubicBezTo>
                <a:lnTo>
                  <a:pt x="10344" y="111472"/>
                </a:lnTo>
                <a:cubicBezTo>
                  <a:pt x="4018" y="108496"/>
                  <a:pt x="0" y="102171"/>
                  <a:pt x="0" y="95250"/>
                </a:cubicBezTo>
                <a:cubicBezTo>
                  <a:pt x="0" y="88329"/>
                  <a:pt x="4018" y="81930"/>
                  <a:pt x="10344" y="79028"/>
                </a:cubicBezTo>
                <a:lnTo>
                  <a:pt x="173013" y="3870"/>
                </a:lnTo>
                <a:close/>
                <a:moveTo>
                  <a:pt x="35793" y="162520"/>
                </a:moveTo>
                <a:lnTo>
                  <a:pt x="158055" y="219001"/>
                </a:lnTo>
                <a:cubicBezTo>
                  <a:pt x="178668" y="228526"/>
                  <a:pt x="202406" y="228526"/>
                  <a:pt x="223019" y="219001"/>
                </a:cubicBezTo>
                <a:lnTo>
                  <a:pt x="345281" y="162520"/>
                </a:lnTo>
                <a:lnTo>
                  <a:pt x="370656" y="174278"/>
                </a:lnTo>
                <a:cubicBezTo>
                  <a:pt x="376982" y="177180"/>
                  <a:pt x="381000" y="183505"/>
                  <a:pt x="381000" y="190500"/>
                </a:cubicBezTo>
                <a:cubicBezTo>
                  <a:pt x="381000" y="197495"/>
                  <a:pt x="376982" y="203820"/>
                  <a:pt x="370656" y="206722"/>
                </a:cubicBezTo>
                <a:lnTo>
                  <a:pt x="207987" y="281880"/>
                </a:lnTo>
                <a:cubicBezTo>
                  <a:pt x="196900" y="287015"/>
                  <a:pt x="184100" y="287015"/>
                  <a:pt x="173013" y="281880"/>
                </a:cubicBezTo>
                <a:lnTo>
                  <a:pt x="10344" y="206722"/>
                </a:lnTo>
                <a:cubicBezTo>
                  <a:pt x="4018" y="203746"/>
                  <a:pt x="0" y="197421"/>
                  <a:pt x="0" y="190500"/>
                </a:cubicBezTo>
                <a:cubicBezTo>
                  <a:pt x="0" y="183579"/>
                  <a:pt x="4018" y="177180"/>
                  <a:pt x="10344" y="174278"/>
                </a:cubicBezTo>
                <a:lnTo>
                  <a:pt x="35719" y="162520"/>
                </a:lnTo>
                <a:close/>
                <a:moveTo>
                  <a:pt x="10344" y="269528"/>
                </a:moveTo>
                <a:lnTo>
                  <a:pt x="35719" y="257770"/>
                </a:lnTo>
                <a:lnTo>
                  <a:pt x="157981" y="314251"/>
                </a:lnTo>
                <a:cubicBezTo>
                  <a:pt x="178594" y="323776"/>
                  <a:pt x="202332" y="323776"/>
                  <a:pt x="222945" y="314251"/>
                </a:cubicBezTo>
                <a:lnTo>
                  <a:pt x="345207" y="257770"/>
                </a:lnTo>
                <a:lnTo>
                  <a:pt x="370582" y="269528"/>
                </a:lnTo>
                <a:cubicBezTo>
                  <a:pt x="376907" y="272430"/>
                  <a:pt x="380926" y="278755"/>
                  <a:pt x="380926" y="285750"/>
                </a:cubicBezTo>
                <a:cubicBezTo>
                  <a:pt x="380926" y="292745"/>
                  <a:pt x="376907" y="299070"/>
                  <a:pt x="370582" y="301972"/>
                </a:cubicBezTo>
                <a:lnTo>
                  <a:pt x="207913" y="377130"/>
                </a:lnTo>
                <a:cubicBezTo>
                  <a:pt x="196825" y="382265"/>
                  <a:pt x="184026" y="382265"/>
                  <a:pt x="172938" y="377130"/>
                </a:cubicBezTo>
                <a:lnTo>
                  <a:pt x="10344" y="301972"/>
                </a:lnTo>
                <a:cubicBezTo>
                  <a:pt x="4018" y="298996"/>
                  <a:pt x="0" y="292671"/>
                  <a:pt x="0" y="285750"/>
                </a:cubicBezTo>
                <a:cubicBezTo>
                  <a:pt x="0" y="278829"/>
                  <a:pt x="4018" y="272430"/>
                  <a:pt x="10344" y="269528"/>
                </a:cubicBezTo>
                <a:close/>
              </a:path>
            </a:pathLst>
          </a:custGeom>
          <a:solidFill>
            <a:srgbClr val="4C7E9A"/>
          </a:solidFill>
          <a:ln/>
        </p:spPr>
      </p:sp>
      <p:sp>
        <p:nvSpPr>
          <p:cNvPr id="15" name="Text 12"/>
          <p:cNvSpPr/>
          <p:nvPr/>
        </p:nvSpPr>
        <p:spPr>
          <a:xfrm>
            <a:off x="3149600" y="7473950"/>
            <a:ext cx="18034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模型融合</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ENSEMBLE LEARNING OVERVIEW</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什么是集成学习？</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24000"/>
            <a:ext cx="10096500" cy="1957917"/>
          </a:xfrm>
          <a:custGeom>
            <a:avLst/>
            <a:gdLst/>
            <a:ahLst/>
            <a:cxnLst/>
            <a:rect l="l" t="t" r="r" b="b"/>
            <a:pathLst>
              <a:path w="10096500" h="1957917">
                <a:moveTo>
                  <a:pt x="42333" y="0"/>
                </a:moveTo>
                <a:lnTo>
                  <a:pt x="10011840" y="0"/>
                </a:lnTo>
                <a:cubicBezTo>
                  <a:pt x="10058596" y="0"/>
                  <a:pt x="10096500" y="37904"/>
                  <a:pt x="10096500" y="84660"/>
                </a:cubicBezTo>
                <a:lnTo>
                  <a:pt x="10096500" y="1873256"/>
                </a:lnTo>
                <a:cubicBezTo>
                  <a:pt x="10096500" y="1920013"/>
                  <a:pt x="10058596" y="1957917"/>
                  <a:pt x="10011840" y="1957917"/>
                </a:cubicBezTo>
                <a:lnTo>
                  <a:pt x="42333" y="1957917"/>
                </a:lnTo>
                <a:cubicBezTo>
                  <a:pt x="18953" y="1957917"/>
                  <a:pt x="0" y="1938963"/>
                  <a:pt x="0" y="1915583"/>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24000"/>
            <a:ext cx="42333" cy="1957917"/>
          </a:xfrm>
          <a:custGeom>
            <a:avLst/>
            <a:gdLst/>
            <a:ahLst/>
            <a:cxnLst/>
            <a:rect l="l" t="t" r="r" b="b"/>
            <a:pathLst>
              <a:path w="42333" h="1957917">
                <a:moveTo>
                  <a:pt x="42333" y="0"/>
                </a:moveTo>
                <a:lnTo>
                  <a:pt x="42333" y="0"/>
                </a:lnTo>
                <a:lnTo>
                  <a:pt x="42333" y="1957917"/>
                </a:lnTo>
                <a:lnTo>
                  <a:pt x="42333" y="1957917"/>
                </a:lnTo>
                <a:cubicBezTo>
                  <a:pt x="18953" y="1957917"/>
                  <a:pt x="0" y="1938963"/>
                  <a:pt x="0" y="1915583"/>
                </a:cubicBezTo>
                <a:lnTo>
                  <a:pt x="0" y="42333"/>
                </a:lnTo>
                <a:cubicBezTo>
                  <a:pt x="0" y="18953"/>
                  <a:pt x="18953" y="0"/>
                  <a:pt x="42333" y="0"/>
                </a:cubicBezTo>
                <a:close/>
              </a:path>
            </a:pathLst>
          </a:custGeom>
          <a:solidFill>
            <a:srgbClr val="4C7E9A"/>
          </a:solidFill>
          <a:ln/>
        </p:spPr>
      </p:sp>
      <p:sp>
        <p:nvSpPr>
          <p:cNvPr id="7" name="Text 5"/>
          <p:cNvSpPr/>
          <p:nvPr/>
        </p:nvSpPr>
        <p:spPr>
          <a:xfrm>
            <a:off x="677333" y="1735667"/>
            <a:ext cx="9779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核心概念</a:t>
            </a:r>
            <a:endParaRPr lang="en-US" sz="1600" dirty="0"/>
          </a:p>
        </p:txBody>
      </p:sp>
      <p:sp>
        <p:nvSpPr>
          <p:cNvPr id="8" name="Text 6"/>
          <p:cNvSpPr/>
          <p:nvPr/>
        </p:nvSpPr>
        <p:spPr>
          <a:xfrm>
            <a:off x="677333" y="2201333"/>
            <a:ext cx="9747250" cy="306917"/>
          </a:xfrm>
          <a:prstGeom prst="rect">
            <a:avLst/>
          </a:prstGeom>
          <a:noFill/>
          <a:ln/>
        </p:spPr>
        <p:txBody>
          <a:bodyPr wrap="square" lIns="0" tIns="0" rIns="0" bIns="0" rtlCol="0" anchor="ctr"/>
          <a:lstStyle/>
          <a:p>
            <a:pPr>
              <a:lnSpc>
                <a:spcPct val="140000"/>
              </a:lnSpc>
            </a:pPr>
            <a:r>
              <a:rPr lang="en-US" sz="1500" dirty="0">
                <a:solidFill>
                  <a:srgbClr val="D1D5DB"/>
                </a:solidFill>
                <a:latin typeface="MiSans" pitchFamily="34" charset="0"/>
                <a:ea typeface="MiSans" pitchFamily="34" charset="-122"/>
                <a:cs typeface="MiSans" pitchFamily="34" charset="-120"/>
              </a:rPr>
              <a:t>集成学习（Ensemble Learning）通过组合多个基学习器（决策树、SVM、神经网络等）来提升模型性能。</a:t>
            </a:r>
            <a:endParaRPr lang="en-US" sz="1600" dirty="0"/>
          </a:p>
        </p:txBody>
      </p:sp>
      <p:sp>
        <p:nvSpPr>
          <p:cNvPr id="9" name="Shape 7"/>
          <p:cNvSpPr/>
          <p:nvPr/>
        </p:nvSpPr>
        <p:spPr>
          <a:xfrm>
            <a:off x="677333" y="2637896"/>
            <a:ext cx="9652000" cy="635000"/>
          </a:xfrm>
          <a:custGeom>
            <a:avLst/>
            <a:gdLst/>
            <a:ahLst/>
            <a:cxnLst/>
            <a:rect l="l" t="t" r="r" b="b"/>
            <a:pathLst>
              <a:path w="9652000" h="635000">
                <a:moveTo>
                  <a:pt x="84665" y="0"/>
                </a:moveTo>
                <a:lnTo>
                  <a:pt x="9567335" y="0"/>
                </a:lnTo>
                <a:cubicBezTo>
                  <a:pt x="9614094" y="0"/>
                  <a:pt x="9652000" y="37906"/>
                  <a:pt x="9652000" y="84665"/>
                </a:cubicBezTo>
                <a:lnTo>
                  <a:pt x="9652000" y="550335"/>
                </a:lnTo>
                <a:cubicBezTo>
                  <a:pt x="9652000" y="597094"/>
                  <a:pt x="9614094" y="635000"/>
                  <a:pt x="9567335" y="635000"/>
                </a:cubicBezTo>
                <a:lnTo>
                  <a:pt x="84665" y="635000"/>
                </a:lnTo>
                <a:cubicBezTo>
                  <a:pt x="37937" y="635000"/>
                  <a:pt x="0" y="597063"/>
                  <a:pt x="0" y="550335"/>
                </a:cubicBezTo>
                <a:lnTo>
                  <a:pt x="0" y="84665"/>
                </a:lnTo>
                <a:cubicBezTo>
                  <a:pt x="0" y="37906"/>
                  <a:pt x="37906" y="0"/>
                  <a:pt x="84665" y="0"/>
                </a:cubicBezTo>
                <a:close/>
              </a:path>
            </a:pathLst>
          </a:custGeom>
          <a:solidFill>
            <a:srgbClr val="181A1F">
              <a:alpha val="50196"/>
            </a:srgbClr>
          </a:solidFill>
          <a:ln/>
        </p:spPr>
      </p:sp>
      <p:sp>
        <p:nvSpPr>
          <p:cNvPr id="10" name="Shape 8"/>
          <p:cNvSpPr/>
          <p:nvPr/>
        </p:nvSpPr>
        <p:spPr>
          <a:xfrm>
            <a:off x="4074253" y="2854854"/>
            <a:ext cx="185208" cy="211667"/>
          </a:xfrm>
          <a:custGeom>
            <a:avLst/>
            <a:gdLst/>
            <a:ahLst/>
            <a:cxnLst/>
            <a:rect l="l" t="t" r="r" b="b"/>
            <a:pathLst>
              <a:path w="185208" h="211667">
                <a:moveTo>
                  <a:pt x="0" y="89297"/>
                </a:moveTo>
                <a:cubicBezTo>
                  <a:pt x="0" y="61888"/>
                  <a:pt x="22200" y="39688"/>
                  <a:pt x="49609" y="39688"/>
                </a:cubicBezTo>
                <a:lnTo>
                  <a:pt x="52917" y="39688"/>
                </a:lnTo>
                <a:cubicBezTo>
                  <a:pt x="60234" y="39688"/>
                  <a:pt x="66146" y="45599"/>
                  <a:pt x="66146" y="52917"/>
                </a:cubicBezTo>
                <a:cubicBezTo>
                  <a:pt x="66146" y="60234"/>
                  <a:pt x="60234" y="66146"/>
                  <a:pt x="52917" y="66146"/>
                </a:cubicBezTo>
                <a:lnTo>
                  <a:pt x="49609" y="66146"/>
                </a:lnTo>
                <a:cubicBezTo>
                  <a:pt x="36835" y="66146"/>
                  <a:pt x="26458" y="76522"/>
                  <a:pt x="26458" y="89297"/>
                </a:cubicBezTo>
                <a:lnTo>
                  <a:pt x="26458" y="92604"/>
                </a:lnTo>
                <a:lnTo>
                  <a:pt x="52917" y="92604"/>
                </a:lnTo>
                <a:cubicBezTo>
                  <a:pt x="67510" y="92604"/>
                  <a:pt x="79375" y="104469"/>
                  <a:pt x="79375" y="119063"/>
                </a:cubicBezTo>
                <a:lnTo>
                  <a:pt x="79375" y="145521"/>
                </a:lnTo>
                <a:cubicBezTo>
                  <a:pt x="79375" y="160114"/>
                  <a:pt x="67510" y="171979"/>
                  <a:pt x="52917" y="171979"/>
                </a:cubicBezTo>
                <a:lnTo>
                  <a:pt x="26458" y="171979"/>
                </a:lnTo>
                <a:cubicBezTo>
                  <a:pt x="11865" y="171979"/>
                  <a:pt x="0" y="160114"/>
                  <a:pt x="0" y="145521"/>
                </a:cubicBezTo>
                <a:lnTo>
                  <a:pt x="0" y="89297"/>
                </a:lnTo>
                <a:close/>
                <a:moveTo>
                  <a:pt x="105833" y="89297"/>
                </a:moveTo>
                <a:cubicBezTo>
                  <a:pt x="105833" y="61888"/>
                  <a:pt x="128034" y="39688"/>
                  <a:pt x="155443" y="39688"/>
                </a:cubicBezTo>
                <a:lnTo>
                  <a:pt x="158750" y="39688"/>
                </a:lnTo>
                <a:cubicBezTo>
                  <a:pt x="166067" y="39688"/>
                  <a:pt x="171979" y="45599"/>
                  <a:pt x="171979" y="52917"/>
                </a:cubicBezTo>
                <a:cubicBezTo>
                  <a:pt x="171979" y="60234"/>
                  <a:pt x="166067" y="66146"/>
                  <a:pt x="158750" y="66146"/>
                </a:cubicBezTo>
                <a:lnTo>
                  <a:pt x="155443" y="66146"/>
                </a:lnTo>
                <a:cubicBezTo>
                  <a:pt x="142668" y="66146"/>
                  <a:pt x="132292" y="76522"/>
                  <a:pt x="132292" y="89297"/>
                </a:cubicBezTo>
                <a:lnTo>
                  <a:pt x="132292" y="92604"/>
                </a:lnTo>
                <a:lnTo>
                  <a:pt x="158750" y="92604"/>
                </a:lnTo>
                <a:cubicBezTo>
                  <a:pt x="173343" y="92604"/>
                  <a:pt x="185208" y="104469"/>
                  <a:pt x="185208" y="119063"/>
                </a:cubicBezTo>
                <a:lnTo>
                  <a:pt x="185208" y="145521"/>
                </a:lnTo>
                <a:cubicBezTo>
                  <a:pt x="185208" y="160114"/>
                  <a:pt x="173343" y="171979"/>
                  <a:pt x="158750" y="171979"/>
                </a:cubicBezTo>
                <a:lnTo>
                  <a:pt x="132292" y="171979"/>
                </a:lnTo>
                <a:cubicBezTo>
                  <a:pt x="117698" y="171979"/>
                  <a:pt x="105833" y="160114"/>
                  <a:pt x="105833" y="145521"/>
                </a:cubicBezTo>
                <a:lnTo>
                  <a:pt x="105833" y="89297"/>
                </a:lnTo>
                <a:close/>
              </a:path>
            </a:pathLst>
          </a:custGeom>
          <a:solidFill>
            <a:srgbClr val="4C7E9A"/>
          </a:solidFill>
          <a:ln/>
        </p:spPr>
      </p:sp>
      <p:sp>
        <p:nvSpPr>
          <p:cNvPr id="11" name="Text 9"/>
          <p:cNvSpPr/>
          <p:nvPr/>
        </p:nvSpPr>
        <p:spPr>
          <a:xfrm>
            <a:off x="1128889" y="2807229"/>
            <a:ext cx="9084028" cy="296333"/>
          </a:xfrm>
          <a:prstGeom prst="rect">
            <a:avLst/>
          </a:prstGeom>
          <a:noFill/>
          <a:ln/>
        </p:spPr>
        <p:txBody>
          <a:bodyPr wrap="square" lIns="0" tIns="0" rIns="0" bIns="0" rtlCol="0" anchor="ctr"/>
          <a:lstStyle/>
          <a:p>
            <a:pPr algn="ctr">
              <a:lnSpc>
                <a:spcPct val="120000"/>
              </a:lnSpc>
            </a:pPr>
            <a:r>
              <a:rPr lang="en-US" sz="1667" b="1" dirty="0">
                <a:solidFill>
                  <a:srgbClr val="7E9AA8"/>
                </a:solidFill>
                <a:latin typeface="MiSans" pitchFamily="34" charset="0"/>
                <a:ea typeface="MiSans" pitchFamily="34" charset="-122"/>
                <a:cs typeface="MiSans" pitchFamily="34" charset="-120"/>
              </a:rPr>
              <a:t>集体智慧优于个体决策</a:t>
            </a:r>
            <a:endParaRPr lang="en-US" sz="1600" dirty="0"/>
          </a:p>
        </p:txBody>
      </p:sp>
      <p:sp>
        <p:nvSpPr>
          <p:cNvPr id="12" name="Shape 10"/>
          <p:cNvSpPr/>
          <p:nvPr/>
        </p:nvSpPr>
        <p:spPr>
          <a:xfrm>
            <a:off x="444500" y="3653896"/>
            <a:ext cx="10096500" cy="2709333"/>
          </a:xfrm>
          <a:custGeom>
            <a:avLst/>
            <a:gdLst/>
            <a:ahLst/>
            <a:cxnLst/>
            <a:rect l="l" t="t" r="r" b="b"/>
            <a:pathLst>
              <a:path w="10096500" h="2709333">
                <a:moveTo>
                  <a:pt x="42333" y="0"/>
                </a:moveTo>
                <a:lnTo>
                  <a:pt x="10011833" y="0"/>
                </a:lnTo>
                <a:cubicBezTo>
                  <a:pt x="10058593" y="0"/>
                  <a:pt x="10096500" y="37907"/>
                  <a:pt x="10096500" y="84667"/>
                </a:cubicBezTo>
                <a:lnTo>
                  <a:pt x="10096500" y="2624667"/>
                </a:lnTo>
                <a:cubicBezTo>
                  <a:pt x="10096500" y="2671427"/>
                  <a:pt x="10058593" y="2709333"/>
                  <a:pt x="10011833" y="2709333"/>
                </a:cubicBezTo>
                <a:lnTo>
                  <a:pt x="42333" y="2709333"/>
                </a:lnTo>
                <a:cubicBezTo>
                  <a:pt x="18953" y="2709333"/>
                  <a:pt x="0" y="2690380"/>
                  <a:pt x="0" y="2667000"/>
                </a:cubicBezTo>
                <a:lnTo>
                  <a:pt x="0" y="42333"/>
                </a:lnTo>
                <a:cubicBezTo>
                  <a:pt x="0" y="18953"/>
                  <a:pt x="18953" y="0"/>
                  <a:pt x="42333" y="0"/>
                </a:cubicBezTo>
                <a:close/>
              </a:path>
            </a:pathLst>
          </a:custGeom>
          <a:solidFill>
            <a:srgbClr val="3A5E78">
              <a:alpha val="20000"/>
            </a:srgbClr>
          </a:solidFill>
          <a:ln/>
        </p:spPr>
      </p:sp>
      <p:sp>
        <p:nvSpPr>
          <p:cNvPr id="13" name="Shape 11"/>
          <p:cNvSpPr/>
          <p:nvPr/>
        </p:nvSpPr>
        <p:spPr>
          <a:xfrm>
            <a:off x="444500" y="3653896"/>
            <a:ext cx="42333" cy="2709333"/>
          </a:xfrm>
          <a:custGeom>
            <a:avLst/>
            <a:gdLst/>
            <a:ahLst/>
            <a:cxnLst/>
            <a:rect l="l" t="t" r="r" b="b"/>
            <a:pathLst>
              <a:path w="42333" h="2709333">
                <a:moveTo>
                  <a:pt x="42333" y="0"/>
                </a:moveTo>
                <a:lnTo>
                  <a:pt x="42333" y="0"/>
                </a:lnTo>
                <a:lnTo>
                  <a:pt x="42333" y="2709333"/>
                </a:lnTo>
                <a:lnTo>
                  <a:pt x="42333" y="2709333"/>
                </a:lnTo>
                <a:cubicBezTo>
                  <a:pt x="18953" y="2709333"/>
                  <a:pt x="0" y="2690380"/>
                  <a:pt x="0" y="2667000"/>
                </a:cubicBezTo>
                <a:lnTo>
                  <a:pt x="0" y="42333"/>
                </a:lnTo>
                <a:cubicBezTo>
                  <a:pt x="0" y="18953"/>
                  <a:pt x="18953" y="0"/>
                  <a:pt x="42333" y="0"/>
                </a:cubicBezTo>
                <a:close/>
              </a:path>
            </a:pathLst>
          </a:custGeom>
          <a:solidFill>
            <a:srgbClr val="7E9AA8"/>
          </a:solidFill>
          <a:ln/>
        </p:spPr>
      </p:sp>
      <p:sp>
        <p:nvSpPr>
          <p:cNvPr id="14" name="Text 12"/>
          <p:cNvSpPr/>
          <p:nvPr/>
        </p:nvSpPr>
        <p:spPr>
          <a:xfrm>
            <a:off x="677333" y="3865563"/>
            <a:ext cx="9779000"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核心价值</a:t>
            </a:r>
            <a:endParaRPr lang="en-US" sz="1600" dirty="0"/>
          </a:p>
        </p:txBody>
      </p:sp>
      <p:sp>
        <p:nvSpPr>
          <p:cNvPr id="15" name="Shape 13"/>
          <p:cNvSpPr/>
          <p:nvPr/>
        </p:nvSpPr>
        <p:spPr>
          <a:xfrm>
            <a:off x="730250" y="4373563"/>
            <a:ext cx="158750" cy="211667"/>
          </a:xfrm>
          <a:custGeom>
            <a:avLst/>
            <a:gdLst/>
            <a:ahLst/>
            <a:cxnLst/>
            <a:rect l="l" t="t" r="r" b="b"/>
            <a:pathLst>
              <a:path w="158750" h="211667">
                <a:moveTo>
                  <a:pt x="70032" y="207781"/>
                </a:moveTo>
                <a:cubicBezTo>
                  <a:pt x="75200" y="212948"/>
                  <a:pt x="83592" y="212948"/>
                  <a:pt x="88759" y="207781"/>
                </a:cubicBezTo>
                <a:lnTo>
                  <a:pt x="154905" y="141635"/>
                </a:lnTo>
                <a:cubicBezTo>
                  <a:pt x="160073" y="136467"/>
                  <a:pt x="160073" y="128075"/>
                  <a:pt x="154905" y="122907"/>
                </a:cubicBezTo>
                <a:cubicBezTo>
                  <a:pt x="149738" y="117740"/>
                  <a:pt x="141345" y="117740"/>
                  <a:pt x="136178" y="122907"/>
                </a:cubicBezTo>
                <a:lnTo>
                  <a:pt x="92604" y="166481"/>
                </a:lnTo>
                <a:lnTo>
                  <a:pt x="92604" y="13229"/>
                </a:lnTo>
                <a:cubicBezTo>
                  <a:pt x="92604" y="5912"/>
                  <a:pt x="86692" y="0"/>
                  <a:pt x="79375" y="0"/>
                </a:cubicBezTo>
                <a:cubicBezTo>
                  <a:pt x="72058" y="0"/>
                  <a:pt x="66146" y="5912"/>
                  <a:pt x="66146" y="13229"/>
                </a:cubicBezTo>
                <a:lnTo>
                  <a:pt x="66146" y="166481"/>
                </a:lnTo>
                <a:lnTo>
                  <a:pt x="22572" y="122907"/>
                </a:lnTo>
                <a:cubicBezTo>
                  <a:pt x="17405" y="117740"/>
                  <a:pt x="9012" y="117740"/>
                  <a:pt x="3845" y="122907"/>
                </a:cubicBezTo>
                <a:cubicBezTo>
                  <a:pt x="-1323" y="128075"/>
                  <a:pt x="-1323" y="136467"/>
                  <a:pt x="3845" y="141635"/>
                </a:cubicBezTo>
                <a:lnTo>
                  <a:pt x="69991" y="207781"/>
                </a:lnTo>
                <a:close/>
              </a:path>
            </a:pathLst>
          </a:custGeom>
          <a:solidFill>
            <a:srgbClr val="4C7E9A"/>
          </a:solidFill>
          <a:ln/>
        </p:spPr>
      </p:sp>
      <p:sp>
        <p:nvSpPr>
          <p:cNvPr id="16" name="Text 14"/>
          <p:cNvSpPr/>
          <p:nvPr/>
        </p:nvSpPr>
        <p:spPr>
          <a:xfrm>
            <a:off x="1068917" y="4331229"/>
            <a:ext cx="1957917"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降低方差</a:t>
            </a:r>
            <a:endParaRPr lang="en-US" sz="1600" dirty="0"/>
          </a:p>
        </p:txBody>
      </p:sp>
      <p:sp>
        <p:nvSpPr>
          <p:cNvPr id="17" name="Text 15"/>
          <p:cNvSpPr/>
          <p:nvPr/>
        </p:nvSpPr>
        <p:spPr>
          <a:xfrm>
            <a:off x="1068917" y="4627563"/>
            <a:ext cx="1947333"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减少过拟合，提高稳定性</a:t>
            </a:r>
            <a:endParaRPr lang="en-US" sz="1600" dirty="0"/>
          </a:p>
        </p:txBody>
      </p:sp>
      <p:sp>
        <p:nvSpPr>
          <p:cNvPr id="18" name="Shape 16"/>
          <p:cNvSpPr/>
          <p:nvPr/>
        </p:nvSpPr>
        <p:spPr>
          <a:xfrm>
            <a:off x="730250" y="5008563"/>
            <a:ext cx="158750" cy="211667"/>
          </a:xfrm>
          <a:custGeom>
            <a:avLst/>
            <a:gdLst/>
            <a:ahLst/>
            <a:cxnLst/>
            <a:rect l="l" t="t" r="r" b="b"/>
            <a:pathLst>
              <a:path w="158750" h="211667">
                <a:moveTo>
                  <a:pt x="88718" y="7193"/>
                </a:moveTo>
                <a:cubicBezTo>
                  <a:pt x="83550" y="2026"/>
                  <a:pt x="75158" y="2026"/>
                  <a:pt x="69991" y="7193"/>
                </a:cubicBezTo>
                <a:lnTo>
                  <a:pt x="3845" y="73339"/>
                </a:lnTo>
                <a:cubicBezTo>
                  <a:pt x="-1323" y="78507"/>
                  <a:pt x="-1323" y="86899"/>
                  <a:pt x="3845" y="92067"/>
                </a:cubicBezTo>
                <a:cubicBezTo>
                  <a:pt x="9012" y="97234"/>
                  <a:pt x="17405" y="97234"/>
                  <a:pt x="22572" y="92067"/>
                </a:cubicBezTo>
                <a:lnTo>
                  <a:pt x="66146" y="48493"/>
                </a:lnTo>
                <a:lnTo>
                  <a:pt x="66146" y="201745"/>
                </a:lnTo>
                <a:cubicBezTo>
                  <a:pt x="66146" y="209062"/>
                  <a:pt x="72058" y="214974"/>
                  <a:pt x="79375" y="214974"/>
                </a:cubicBezTo>
                <a:cubicBezTo>
                  <a:pt x="86692" y="214974"/>
                  <a:pt x="92604" y="209062"/>
                  <a:pt x="92604" y="201745"/>
                </a:cubicBezTo>
                <a:lnTo>
                  <a:pt x="92604" y="48493"/>
                </a:lnTo>
                <a:lnTo>
                  <a:pt x="136178" y="92067"/>
                </a:lnTo>
                <a:cubicBezTo>
                  <a:pt x="141345" y="97234"/>
                  <a:pt x="149738" y="97234"/>
                  <a:pt x="154905" y="92067"/>
                </a:cubicBezTo>
                <a:cubicBezTo>
                  <a:pt x="160073" y="86899"/>
                  <a:pt x="160073" y="78507"/>
                  <a:pt x="154905" y="73339"/>
                </a:cubicBezTo>
                <a:lnTo>
                  <a:pt x="88759" y="7193"/>
                </a:lnTo>
                <a:close/>
              </a:path>
            </a:pathLst>
          </a:custGeom>
          <a:solidFill>
            <a:srgbClr val="4C7E9A"/>
          </a:solidFill>
          <a:ln/>
        </p:spPr>
      </p:sp>
      <p:sp>
        <p:nvSpPr>
          <p:cNvPr id="19" name="Text 17"/>
          <p:cNvSpPr/>
          <p:nvPr/>
        </p:nvSpPr>
        <p:spPr>
          <a:xfrm>
            <a:off x="1068917" y="4966229"/>
            <a:ext cx="1957917"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降低偏差</a:t>
            </a:r>
            <a:endParaRPr lang="en-US" sz="1600" dirty="0"/>
          </a:p>
        </p:txBody>
      </p:sp>
      <p:sp>
        <p:nvSpPr>
          <p:cNvPr id="20" name="Text 18"/>
          <p:cNvSpPr/>
          <p:nvPr/>
        </p:nvSpPr>
        <p:spPr>
          <a:xfrm>
            <a:off x="1068917" y="5262563"/>
            <a:ext cx="1947333"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减少欠拟合，提升准确性</a:t>
            </a:r>
            <a:endParaRPr lang="en-US" sz="1600" dirty="0"/>
          </a:p>
        </p:txBody>
      </p:sp>
      <p:sp>
        <p:nvSpPr>
          <p:cNvPr id="21" name="Shape 19"/>
          <p:cNvSpPr/>
          <p:nvPr/>
        </p:nvSpPr>
        <p:spPr>
          <a:xfrm>
            <a:off x="703792" y="5643563"/>
            <a:ext cx="211667" cy="211667"/>
          </a:xfrm>
          <a:custGeom>
            <a:avLst/>
            <a:gdLst/>
            <a:ahLst/>
            <a:cxnLst/>
            <a:rect l="l" t="t" r="r" b="b"/>
            <a:pathLst>
              <a:path w="211667" h="211667">
                <a:moveTo>
                  <a:pt x="26458" y="26458"/>
                </a:moveTo>
                <a:cubicBezTo>
                  <a:pt x="26458" y="19141"/>
                  <a:pt x="20547" y="13229"/>
                  <a:pt x="13229" y="13229"/>
                </a:cubicBezTo>
                <a:cubicBezTo>
                  <a:pt x="5912" y="13229"/>
                  <a:pt x="0" y="19141"/>
                  <a:pt x="0" y="26458"/>
                </a:cubicBezTo>
                <a:lnTo>
                  <a:pt x="0" y="165365"/>
                </a:lnTo>
                <a:cubicBezTo>
                  <a:pt x="0" y="183637"/>
                  <a:pt x="14800" y="198438"/>
                  <a:pt x="33073" y="198438"/>
                </a:cubicBezTo>
                <a:lnTo>
                  <a:pt x="198438" y="198438"/>
                </a:lnTo>
                <a:cubicBezTo>
                  <a:pt x="205755" y="198438"/>
                  <a:pt x="211667" y="192526"/>
                  <a:pt x="211667" y="185208"/>
                </a:cubicBezTo>
                <a:cubicBezTo>
                  <a:pt x="211667" y="177891"/>
                  <a:pt x="205755" y="171979"/>
                  <a:pt x="198438" y="171979"/>
                </a:cubicBezTo>
                <a:lnTo>
                  <a:pt x="33073" y="171979"/>
                </a:lnTo>
                <a:cubicBezTo>
                  <a:pt x="29435" y="171979"/>
                  <a:pt x="26458" y="169003"/>
                  <a:pt x="26458" y="165365"/>
                </a:cubicBezTo>
                <a:lnTo>
                  <a:pt x="26458" y="26458"/>
                </a:lnTo>
                <a:close/>
                <a:moveTo>
                  <a:pt x="194551" y="62260"/>
                </a:moveTo>
                <a:cubicBezTo>
                  <a:pt x="199719" y="57092"/>
                  <a:pt x="199719" y="48700"/>
                  <a:pt x="194551" y="43532"/>
                </a:cubicBezTo>
                <a:cubicBezTo>
                  <a:pt x="189384" y="38365"/>
                  <a:pt x="180992" y="38365"/>
                  <a:pt x="175824" y="43532"/>
                </a:cubicBezTo>
                <a:lnTo>
                  <a:pt x="132292" y="87106"/>
                </a:lnTo>
                <a:lnTo>
                  <a:pt x="108562" y="63417"/>
                </a:lnTo>
                <a:cubicBezTo>
                  <a:pt x="103394" y="58250"/>
                  <a:pt x="95002" y="58250"/>
                  <a:pt x="89834" y="63417"/>
                </a:cubicBezTo>
                <a:lnTo>
                  <a:pt x="50147" y="103105"/>
                </a:lnTo>
                <a:cubicBezTo>
                  <a:pt x="44979" y="108272"/>
                  <a:pt x="44979" y="116665"/>
                  <a:pt x="50147" y="121832"/>
                </a:cubicBezTo>
                <a:cubicBezTo>
                  <a:pt x="55314" y="127000"/>
                  <a:pt x="63707" y="127000"/>
                  <a:pt x="68874" y="121832"/>
                </a:cubicBezTo>
                <a:lnTo>
                  <a:pt x="99219" y="91488"/>
                </a:lnTo>
                <a:lnTo>
                  <a:pt x="122949" y="115218"/>
                </a:lnTo>
                <a:cubicBezTo>
                  <a:pt x="128116" y="120385"/>
                  <a:pt x="136508" y="120385"/>
                  <a:pt x="141676" y="115218"/>
                </a:cubicBezTo>
                <a:lnTo>
                  <a:pt x="194593" y="62301"/>
                </a:lnTo>
                <a:close/>
              </a:path>
            </a:pathLst>
          </a:custGeom>
          <a:solidFill>
            <a:srgbClr val="4C7E9A"/>
          </a:solidFill>
          <a:ln/>
        </p:spPr>
      </p:sp>
      <p:sp>
        <p:nvSpPr>
          <p:cNvPr id="22" name="Text 20"/>
          <p:cNvSpPr/>
          <p:nvPr/>
        </p:nvSpPr>
        <p:spPr>
          <a:xfrm>
            <a:off x="1068917" y="5601229"/>
            <a:ext cx="1619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提升泛化能力</a:t>
            </a:r>
            <a:endParaRPr lang="en-US" sz="1600" dirty="0"/>
          </a:p>
        </p:txBody>
      </p:sp>
      <p:sp>
        <p:nvSpPr>
          <p:cNvPr id="23" name="Text 21"/>
          <p:cNvSpPr/>
          <p:nvPr/>
        </p:nvSpPr>
        <p:spPr>
          <a:xfrm>
            <a:off x="1068917" y="5897563"/>
            <a:ext cx="1608667"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在新数据上表现更好</a:t>
            </a:r>
            <a:endParaRPr lang="en-US" sz="1600" dirty="0"/>
          </a:p>
        </p:txBody>
      </p:sp>
      <p:sp>
        <p:nvSpPr>
          <p:cNvPr id="24" name="Shape 22"/>
          <p:cNvSpPr/>
          <p:nvPr/>
        </p:nvSpPr>
        <p:spPr>
          <a:xfrm>
            <a:off x="10757958" y="1529292"/>
            <a:ext cx="5069417" cy="6974417"/>
          </a:xfrm>
          <a:custGeom>
            <a:avLst/>
            <a:gdLst/>
            <a:ahLst/>
            <a:cxnLst/>
            <a:rect l="l" t="t" r="r" b="b"/>
            <a:pathLst>
              <a:path w="5069417" h="6974417">
                <a:moveTo>
                  <a:pt x="84659" y="0"/>
                </a:moveTo>
                <a:lnTo>
                  <a:pt x="4984757" y="0"/>
                </a:lnTo>
                <a:cubicBezTo>
                  <a:pt x="5031513" y="0"/>
                  <a:pt x="5069417" y="37903"/>
                  <a:pt x="5069417" y="84659"/>
                </a:cubicBezTo>
                <a:lnTo>
                  <a:pt x="5069417" y="6889757"/>
                </a:lnTo>
                <a:cubicBezTo>
                  <a:pt x="5069417" y="6936513"/>
                  <a:pt x="5031513" y="6974417"/>
                  <a:pt x="4984757" y="6974417"/>
                </a:cubicBezTo>
                <a:lnTo>
                  <a:pt x="84659" y="6974417"/>
                </a:lnTo>
                <a:cubicBezTo>
                  <a:pt x="37903" y="6974417"/>
                  <a:pt x="0" y="6936513"/>
                  <a:pt x="0" y="6889757"/>
                </a:cubicBezTo>
                <a:lnTo>
                  <a:pt x="0" y="84659"/>
                </a:lnTo>
                <a:cubicBezTo>
                  <a:pt x="0" y="37903"/>
                  <a:pt x="37903" y="0"/>
                  <a:pt x="84659" y="0"/>
                </a:cubicBezTo>
                <a:close/>
              </a:path>
            </a:pathLst>
          </a:custGeom>
          <a:solidFill>
            <a:srgbClr val="3A5E78">
              <a:alpha val="20000"/>
            </a:srgbClr>
          </a:solidFill>
          <a:ln w="12700">
            <a:solidFill>
              <a:srgbClr val="4C7E9A">
                <a:alpha val="50196"/>
              </a:srgbClr>
            </a:solidFill>
            <a:prstDash val="solid"/>
          </a:ln>
        </p:spPr>
      </p:sp>
      <p:sp>
        <p:nvSpPr>
          <p:cNvPr id="25" name="Text 23"/>
          <p:cNvSpPr/>
          <p:nvPr/>
        </p:nvSpPr>
        <p:spPr>
          <a:xfrm>
            <a:off x="10932583" y="1703917"/>
            <a:ext cx="4847167"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三种方法的生动类比</a:t>
            </a:r>
            <a:endParaRPr lang="en-US" sz="1600" dirty="0"/>
          </a:p>
        </p:txBody>
      </p:sp>
      <p:sp>
        <p:nvSpPr>
          <p:cNvPr id="26" name="Shape 24"/>
          <p:cNvSpPr/>
          <p:nvPr/>
        </p:nvSpPr>
        <p:spPr>
          <a:xfrm>
            <a:off x="10932583" y="2169583"/>
            <a:ext cx="4720167" cy="1968500"/>
          </a:xfrm>
          <a:custGeom>
            <a:avLst/>
            <a:gdLst/>
            <a:ahLst/>
            <a:cxnLst/>
            <a:rect l="l" t="t" r="r" b="b"/>
            <a:pathLst>
              <a:path w="4720167" h="1968500">
                <a:moveTo>
                  <a:pt x="84665" y="0"/>
                </a:moveTo>
                <a:lnTo>
                  <a:pt x="4635501" y="0"/>
                </a:lnTo>
                <a:cubicBezTo>
                  <a:pt x="4682261" y="0"/>
                  <a:pt x="4720167" y="37906"/>
                  <a:pt x="4720167" y="84665"/>
                </a:cubicBezTo>
                <a:lnTo>
                  <a:pt x="4720167" y="1883835"/>
                </a:lnTo>
                <a:cubicBezTo>
                  <a:pt x="4720167" y="1930594"/>
                  <a:pt x="4682261" y="1968500"/>
                  <a:pt x="4635501" y="1968500"/>
                </a:cubicBezTo>
                <a:lnTo>
                  <a:pt x="84665" y="1968500"/>
                </a:lnTo>
                <a:cubicBezTo>
                  <a:pt x="37906" y="1968500"/>
                  <a:pt x="0" y="1930594"/>
                  <a:pt x="0" y="1883835"/>
                </a:cubicBezTo>
                <a:lnTo>
                  <a:pt x="0" y="84665"/>
                </a:lnTo>
                <a:cubicBezTo>
                  <a:pt x="0" y="37937"/>
                  <a:pt x="37937" y="0"/>
                  <a:pt x="84665" y="0"/>
                </a:cubicBezTo>
                <a:close/>
              </a:path>
            </a:pathLst>
          </a:custGeom>
          <a:solidFill>
            <a:srgbClr val="181A1F">
              <a:alpha val="50196"/>
            </a:srgbClr>
          </a:solidFill>
          <a:ln/>
        </p:spPr>
      </p:sp>
      <p:sp>
        <p:nvSpPr>
          <p:cNvPr id="27" name="Shape 25"/>
          <p:cNvSpPr/>
          <p:nvPr/>
        </p:nvSpPr>
        <p:spPr>
          <a:xfrm>
            <a:off x="11101917" y="2338917"/>
            <a:ext cx="423333" cy="423333"/>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4C7E9A"/>
          </a:solidFill>
          <a:ln/>
        </p:spPr>
      </p:sp>
      <p:sp>
        <p:nvSpPr>
          <p:cNvPr id="28" name="Text 26"/>
          <p:cNvSpPr/>
          <p:nvPr/>
        </p:nvSpPr>
        <p:spPr>
          <a:xfrm>
            <a:off x="11054292" y="2338917"/>
            <a:ext cx="518583" cy="423333"/>
          </a:xfrm>
          <a:prstGeom prst="rect">
            <a:avLst/>
          </a:prstGeom>
          <a:noFill/>
          <a:ln/>
        </p:spPr>
        <p:txBody>
          <a:bodyPr wrap="square" lIns="0" tIns="0" rIns="0" bIns="0" rtlCol="0" anchor="ctr"/>
          <a:lstStyle/>
          <a:p>
            <a:pPr algn="ctr">
              <a:lnSpc>
                <a:spcPct val="130000"/>
              </a:lnSpc>
            </a:pPr>
            <a:r>
              <a:rPr lang="en-US" sz="1500" b="1" dirty="0">
                <a:solidFill>
                  <a:srgbClr val="181A1F"/>
                </a:solidFill>
                <a:latin typeface="MiSans" pitchFamily="34" charset="0"/>
                <a:ea typeface="MiSans" pitchFamily="34" charset="-122"/>
                <a:cs typeface="MiSans" pitchFamily="34" charset="-120"/>
              </a:rPr>
              <a:t>1</a:t>
            </a:r>
            <a:endParaRPr lang="en-US" sz="1600" dirty="0"/>
          </a:p>
        </p:txBody>
      </p:sp>
      <p:sp>
        <p:nvSpPr>
          <p:cNvPr id="29" name="Text 27"/>
          <p:cNvSpPr/>
          <p:nvPr/>
        </p:nvSpPr>
        <p:spPr>
          <a:xfrm>
            <a:off x="11652250" y="2402417"/>
            <a:ext cx="1756833"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Bagging（并行）</a:t>
            </a:r>
            <a:endParaRPr lang="en-US" sz="1600" dirty="0"/>
          </a:p>
        </p:txBody>
      </p:sp>
      <p:sp>
        <p:nvSpPr>
          <p:cNvPr id="30" name="Text 28"/>
          <p:cNvSpPr/>
          <p:nvPr/>
        </p:nvSpPr>
        <p:spPr>
          <a:xfrm>
            <a:off x="11101917" y="2846917"/>
            <a:ext cx="4466167" cy="825500"/>
          </a:xfrm>
          <a:prstGeom prst="rect">
            <a:avLst/>
          </a:prstGeom>
          <a:noFill/>
          <a:ln/>
        </p:spPr>
        <p:txBody>
          <a:bodyPr wrap="square" lIns="0" tIns="0" rIns="0" bIns="0" rtlCol="0" anchor="ctr"/>
          <a:lstStyle/>
          <a:p>
            <a:pPr>
              <a:lnSpc>
                <a:spcPct val="140000"/>
              </a:lnSpc>
            </a:pPr>
            <a:r>
              <a:rPr lang="en-US" sz="1333" dirty="0">
                <a:solidFill>
                  <a:srgbClr val="7E9AA8"/>
                </a:solidFill>
                <a:latin typeface="MiSans" pitchFamily="34" charset="0"/>
                <a:ea typeface="MiSans" pitchFamily="34" charset="-122"/>
                <a:cs typeface="MiSans" pitchFamily="34" charset="-120"/>
              </a:rPr>
              <a:t>就像是</a:t>
            </a:r>
            <a:pPr>
              <a:lnSpc>
                <a:spcPct val="140000"/>
              </a:lnSpc>
            </a:pPr>
            <a:r>
              <a:rPr lang="en-US" sz="1333" b="1" dirty="0">
                <a:solidFill>
                  <a:srgbClr val="4C7E9A"/>
                </a:solidFill>
                <a:latin typeface="MiSans" pitchFamily="34" charset="0"/>
                <a:ea typeface="MiSans" pitchFamily="34" charset="-122"/>
                <a:cs typeface="MiSans" pitchFamily="34" charset="-120"/>
              </a:rPr>
              <a:t>"专家会诊"</a:t>
            </a:r>
            <a:pPr>
              <a:lnSpc>
                <a:spcPct val="140000"/>
              </a:lnSpc>
            </a:pPr>
            <a:r>
              <a:rPr lang="en-US" sz="1333" dirty="0">
                <a:solidFill>
                  <a:srgbClr val="7E9AA8"/>
                </a:solidFill>
                <a:latin typeface="MiSans" pitchFamily="34" charset="0"/>
                <a:ea typeface="MiSans" pitchFamily="34" charset="-122"/>
                <a:cs typeface="MiSans" pitchFamily="34" charset="-120"/>
              </a:rPr>
              <a:t>。每个专家有自己的专长和偏见，但通过汇总所有专家的意见，可以消除个人的偏见，得到更稳健的诊断结果。</a:t>
            </a:r>
            <a:endParaRPr lang="en-US" sz="1600" dirty="0"/>
          </a:p>
        </p:txBody>
      </p:sp>
      <p:sp>
        <p:nvSpPr>
          <p:cNvPr id="31" name="Shape 29"/>
          <p:cNvSpPr/>
          <p:nvPr/>
        </p:nvSpPr>
        <p:spPr>
          <a:xfrm>
            <a:off x="11125729" y="3810000"/>
            <a:ext cx="111125" cy="127000"/>
          </a:xfrm>
          <a:custGeom>
            <a:avLst/>
            <a:gdLst/>
            <a:ahLst/>
            <a:cxnLst/>
            <a:rect l="l" t="t" r="r" b="b"/>
            <a:pathLst>
              <a:path w="111125" h="127000">
                <a:moveTo>
                  <a:pt x="0" y="53578"/>
                </a:moveTo>
                <a:cubicBezTo>
                  <a:pt x="0" y="37133"/>
                  <a:pt x="13320" y="23812"/>
                  <a:pt x="29766" y="23812"/>
                </a:cubicBezTo>
                <a:lnTo>
                  <a:pt x="31750" y="23812"/>
                </a:lnTo>
                <a:cubicBezTo>
                  <a:pt x="36140" y="23812"/>
                  <a:pt x="39688" y="27360"/>
                  <a:pt x="39688" y="31750"/>
                </a:cubicBezTo>
                <a:cubicBezTo>
                  <a:pt x="39688" y="36140"/>
                  <a:pt x="36140" y="39688"/>
                  <a:pt x="31750" y="39688"/>
                </a:cubicBezTo>
                <a:lnTo>
                  <a:pt x="29766" y="39688"/>
                </a:lnTo>
                <a:cubicBezTo>
                  <a:pt x="22101" y="39688"/>
                  <a:pt x="15875" y="45913"/>
                  <a:pt x="15875" y="53578"/>
                </a:cubicBezTo>
                <a:lnTo>
                  <a:pt x="15875" y="55563"/>
                </a:lnTo>
                <a:lnTo>
                  <a:pt x="31750" y="55563"/>
                </a:lnTo>
                <a:cubicBezTo>
                  <a:pt x="40506" y="55563"/>
                  <a:pt x="47625" y="62681"/>
                  <a:pt x="47625" y="71438"/>
                </a:cubicBezTo>
                <a:lnTo>
                  <a:pt x="47625" y="87313"/>
                </a:lnTo>
                <a:cubicBezTo>
                  <a:pt x="47625" y="96069"/>
                  <a:pt x="40506" y="103188"/>
                  <a:pt x="31750" y="103188"/>
                </a:cubicBezTo>
                <a:lnTo>
                  <a:pt x="15875" y="103188"/>
                </a:lnTo>
                <a:cubicBezTo>
                  <a:pt x="7119" y="103188"/>
                  <a:pt x="0" y="96069"/>
                  <a:pt x="0" y="87313"/>
                </a:cubicBezTo>
                <a:lnTo>
                  <a:pt x="0" y="53578"/>
                </a:lnTo>
                <a:close/>
                <a:moveTo>
                  <a:pt x="63500" y="53578"/>
                </a:moveTo>
                <a:cubicBezTo>
                  <a:pt x="63500" y="37133"/>
                  <a:pt x="76820" y="23812"/>
                  <a:pt x="93266" y="23812"/>
                </a:cubicBezTo>
                <a:lnTo>
                  <a:pt x="95250" y="23812"/>
                </a:lnTo>
                <a:cubicBezTo>
                  <a:pt x="99640" y="23812"/>
                  <a:pt x="103188" y="27360"/>
                  <a:pt x="103188" y="31750"/>
                </a:cubicBezTo>
                <a:cubicBezTo>
                  <a:pt x="103188" y="36140"/>
                  <a:pt x="99640" y="39688"/>
                  <a:pt x="95250" y="39688"/>
                </a:cubicBezTo>
                <a:lnTo>
                  <a:pt x="93266" y="39688"/>
                </a:lnTo>
                <a:cubicBezTo>
                  <a:pt x="85601" y="39688"/>
                  <a:pt x="79375" y="45913"/>
                  <a:pt x="79375" y="53578"/>
                </a:cubicBezTo>
                <a:lnTo>
                  <a:pt x="79375" y="55563"/>
                </a:lnTo>
                <a:lnTo>
                  <a:pt x="95250" y="55563"/>
                </a:lnTo>
                <a:cubicBezTo>
                  <a:pt x="104006" y="55563"/>
                  <a:pt x="111125" y="62681"/>
                  <a:pt x="111125" y="71438"/>
                </a:cubicBezTo>
                <a:lnTo>
                  <a:pt x="111125" y="87313"/>
                </a:lnTo>
                <a:cubicBezTo>
                  <a:pt x="111125" y="96069"/>
                  <a:pt x="104006" y="103188"/>
                  <a:pt x="95250" y="103188"/>
                </a:cubicBezTo>
                <a:lnTo>
                  <a:pt x="79375" y="103188"/>
                </a:lnTo>
                <a:cubicBezTo>
                  <a:pt x="70619" y="103188"/>
                  <a:pt x="63500" y="96069"/>
                  <a:pt x="63500" y="87313"/>
                </a:cubicBezTo>
                <a:lnTo>
                  <a:pt x="63500" y="53578"/>
                </a:lnTo>
                <a:close/>
              </a:path>
            </a:pathLst>
          </a:custGeom>
          <a:solidFill>
            <a:srgbClr val="4C7E9A"/>
          </a:solidFill>
          <a:ln/>
        </p:spPr>
      </p:sp>
      <p:sp>
        <p:nvSpPr>
          <p:cNvPr id="32" name="Text 30"/>
          <p:cNvSpPr/>
          <p:nvPr/>
        </p:nvSpPr>
        <p:spPr>
          <a:xfrm>
            <a:off x="11295944" y="3757083"/>
            <a:ext cx="4261556"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三个臭皮匠，顶个诸葛亮</a:t>
            </a:r>
            <a:endParaRPr lang="en-US" sz="1600" dirty="0"/>
          </a:p>
        </p:txBody>
      </p:sp>
      <p:sp>
        <p:nvSpPr>
          <p:cNvPr id="33" name="Shape 31"/>
          <p:cNvSpPr/>
          <p:nvPr/>
        </p:nvSpPr>
        <p:spPr>
          <a:xfrm>
            <a:off x="10932583" y="4265083"/>
            <a:ext cx="4720167" cy="1968500"/>
          </a:xfrm>
          <a:custGeom>
            <a:avLst/>
            <a:gdLst/>
            <a:ahLst/>
            <a:cxnLst/>
            <a:rect l="l" t="t" r="r" b="b"/>
            <a:pathLst>
              <a:path w="4720167" h="1968500">
                <a:moveTo>
                  <a:pt x="84665" y="0"/>
                </a:moveTo>
                <a:lnTo>
                  <a:pt x="4635501" y="0"/>
                </a:lnTo>
                <a:cubicBezTo>
                  <a:pt x="4682261" y="0"/>
                  <a:pt x="4720167" y="37906"/>
                  <a:pt x="4720167" y="84665"/>
                </a:cubicBezTo>
                <a:lnTo>
                  <a:pt x="4720167" y="1883835"/>
                </a:lnTo>
                <a:cubicBezTo>
                  <a:pt x="4720167" y="1930594"/>
                  <a:pt x="4682261" y="1968500"/>
                  <a:pt x="4635501" y="1968500"/>
                </a:cubicBezTo>
                <a:lnTo>
                  <a:pt x="84665" y="1968500"/>
                </a:lnTo>
                <a:cubicBezTo>
                  <a:pt x="37906" y="1968500"/>
                  <a:pt x="0" y="1930594"/>
                  <a:pt x="0" y="1883835"/>
                </a:cubicBezTo>
                <a:lnTo>
                  <a:pt x="0" y="84665"/>
                </a:lnTo>
                <a:cubicBezTo>
                  <a:pt x="0" y="37937"/>
                  <a:pt x="37937" y="0"/>
                  <a:pt x="84665" y="0"/>
                </a:cubicBezTo>
                <a:close/>
              </a:path>
            </a:pathLst>
          </a:custGeom>
          <a:solidFill>
            <a:srgbClr val="181A1F">
              <a:alpha val="50196"/>
            </a:srgbClr>
          </a:solidFill>
          <a:ln/>
        </p:spPr>
      </p:sp>
      <p:sp>
        <p:nvSpPr>
          <p:cNvPr id="34" name="Shape 32"/>
          <p:cNvSpPr/>
          <p:nvPr/>
        </p:nvSpPr>
        <p:spPr>
          <a:xfrm>
            <a:off x="11101917" y="4434417"/>
            <a:ext cx="423333" cy="423333"/>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4C7E9A"/>
          </a:solidFill>
          <a:ln/>
        </p:spPr>
      </p:sp>
      <p:sp>
        <p:nvSpPr>
          <p:cNvPr id="35" name="Text 33"/>
          <p:cNvSpPr/>
          <p:nvPr/>
        </p:nvSpPr>
        <p:spPr>
          <a:xfrm>
            <a:off x="11054292" y="4434417"/>
            <a:ext cx="518583" cy="423333"/>
          </a:xfrm>
          <a:prstGeom prst="rect">
            <a:avLst/>
          </a:prstGeom>
          <a:noFill/>
          <a:ln/>
        </p:spPr>
        <p:txBody>
          <a:bodyPr wrap="square" lIns="0" tIns="0" rIns="0" bIns="0" rtlCol="0" anchor="ctr"/>
          <a:lstStyle/>
          <a:p>
            <a:pPr algn="ctr">
              <a:lnSpc>
                <a:spcPct val="130000"/>
              </a:lnSpc>
            </a:pPr>
            <a:r>
              <a:rPr lang="en-US" sz="1500" b="1" dirty="0">
                <a:solidFill>
                  <a:srgbClr val="181A1F"/>
                </a:solidFill>
                <a:latin typeface="MiSans" pitchFamily="34" charset="0"/>
                <a:ea typeface="MiSans" pitchFamily="34" charset="-122"/>
                <a:cs typeface="MiSans" pitchFamily="34" charset="-120"/>
              </a:rPr>
              <a:t>2</a:t>
            </a:r>
            <a:endParaRPr lang="en-US" sz="1600" dirty="0"/>
          </a:p>
        </p:txBody>
      </p:sp>
      <p:sp>
        <p:nvSpPr>
          <p:cNvPr id="36" name="Text 34"/>
          <p:cNvSpPr/>
          <p:nvPr/>
        </p:nvSpPr>
        <p:spPr>
          <a:xfrm>
            <a:off x="11652250" y="4497917"/>
            <a:ext cx="1809750"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Boosting（串行）</a:t>
            </a:r>
            <a:endParaRPr lang="en-US" sz="1600" dirty="0"/>
          </a:p>
        </p:txBody>
      </p:sp>
      <p:sp>
        <p:nvSpPr>
          <p:cNvPr id="37" name="Text 35"/>
          <p:cNvSpPr/>
          <p:nvPr/>
        </p:nvSpPr>
        <p:spPr>
          <a:xfrm>
            <a:off x="11101917" y="4942417"/>
            <a:ext cx="4466167" cy="825500"/>
          </a:xfrm>
          <a:prstGeom prst="rect">
            <a:avLst/>
          </a:prstGeom>
          <a:noFill/>
          <a:ln/>
        </p:spPr>
        <p:txBody>
          <a:bodyPr wrap="square" lIns="0" tIns="0" rIns="0" bIns="0" rtlCol="0" anchor="ctr"/>
          <a:lstStyle/>
          <a:p>
            <a:pPr>
              <a:lnSpc>
                <a:spcPct val="140000"/>
              </a:lnSpc>
            </a:pPr>
            <a:r>
              <a:rPr lang="en-US" sz="1333" dirty="0">
                <a:solidFill>
                  <a:srgbClr val="7E9AA8"/>
                </a:solidFill>
                <a:latin typeface="MiSans" pitchFamily="34" charset="0"/>
                <a:ea typeface="MiSans" pitchFamily="34" charset="-122"/>
                <a:cs typeface="MiSans" pitchFamily="34" charset="-120"/>
              </a:rPr>
              <a:t>就像是</a:t>
            </a:r>
            <a:pPr>
              <a:lnSpc>
                <a:spcPct val="140000"/>
              </a:lnSpc>
            </a:pPr>
            <a:r>
              <a:rPr lang="en-US" sz="1333" b="1" dirty="0">
                <a:solidFill>
                  <a:srgbClr val="4C7E9A"/>
                </a:solidFill>
                <a:latin typeface="MiSans" pitchFamily="34" charset="0"/>
                <a:ea typeface="MiSans" pitchFamily="34" charset="-122"/>
                <a:cs typeface="MiSans" pitchFamily="34" charset="-120"/>
              </a:rPr>
              <a:t>"错题复习"</a:t>
            </a:r>
            <a:pPr>
              <a:lnSpc>
                <a:spcPct val="140000"/>
              </a:lnSpc>
            </a:pPr>
            <a:r>
              <a:rPr lang="en-US" sz="1333" dirty="0">
                <a:solidFill>
                  <a:srgbClr val="7E9AA8"/>
                </a:solidFill>
                <a:latin typeface="MiSans" pitchFamily="34" charset="0"/>
                <a:ea typeface="MiSans" pitchFamily="34" charset="-122"/>
                <a:cs typeface="MiSans" pitchFamily="34" charset="-120"/>
              </a:rPr>
              <a:t>。第一轮考试做错的题目，在第二轮复习时会得到重点关注。通过不断地查漏补缺，最终的成绩会越来越好。</a:t>
            </a:r>
            <a:endParaRPr lang="en-US" sz="1600" dirty="0"/>
          </a:p>
        </p:txBody>
      </p:sp>
      <p:sp>
        <p:nvSpPr>
          <p:cNvPr id="38" name="Shape 36"/>
          <p:cNvSpPr/>
          <p:nvPr/>
        </p:nvSpPr>
        <p:spPr>
          <a:xfrm>
            <a:off x="11125729" y="5905500"/>
            <a:ext cx="111125" cy="127000"/>
          </a:xfrm>
          <a:custGeom>
            <a:avLst/>
            <a:gdLst/>
            <a:ahLst/>
            <a:cxnLst/>
            <a:rect l="l" t="t" r="r" b="b"/>
            <a:pathLst>
              <a:path w="111125" h="127000">
                <a:moveTo>
                  <a:pt x="0" y="53578"/>
                </a:moveTo>
                <a:cubicBezTo>
                  <a:pt x="0" y="37133"/>
                  <a:pt x="13320" y="23812"/>
                  <a:pt x="29766" y="23812"/>
                </a:cubicBezTo>
                <a:lnTo>
                  <a:pt x="31750" y="23812"/>
                </a:lnTo>
                <a:cubicBezTo>
                  <a:pt x="36140" y="23812"/>
                  <a:pt x="39688" y="27360"/>
                  <a:pt x="39688" y="31750"/>
                </a:cubicBezTo>
                <a:cubicBezTo>
                  <a:pt x="39688" y="36140"/>
                  <a:pt x="36140" y="39688"/>
                  <a:pt x="31750" y="39688"/>
                </a:cubicBezTo>
                <a:lnTo>
                  <a:pt x="29766" y="39688"/>
                </a:lnTo>
                <a:cubicBezTo>
                  <a:pt x="22101" y="39688"/>
                  <a:pt x="15875" y="45913"/>
                  <a:pt x="15875" y="53578"/>
                </a:cubicBezTo>
                <a:lnTo>
                  <a:pt x="15875" y="55563"/>
                </a:lnTo>
                <a:lnTo>
                  <a:pt x="31750" y="55563"/>
                </a:lnTo>
                <a:cubicBezTo>
                  <a:pt x="40506" y="55563"/>
                  <a:pt x="47625" y="62681"/>
                  <a:pt x="47625" y="71438"/>
                </a:cubicBezTo>
                <a:lnTo>
                  <a:pt x="47625" y="87313"/>
                </a:lnTo>
                <a:cubicBezTo>
                  <a:pt x="47625" y="96069"/>
                  <a:pt x="40506" y="103188"/>
                  <a:pt x="31750" y="103188"/>
                </a:cubicBezTo>
                <a:lnTo>
                  <a:pt x="15875" y="103188"/>
                </a:lnTo>
                <a:cubicBezTo>
                  <a:pt x="7119" y="103188"/>
                  <a:pt x="0" y="96069"/>
                  <a:pt x="0" y="87313"/>
                </a:cubicBezTo>
                <a:lnTo>
                  <a:pt x="0" y="53578"/>
                </a:lnTo>
                <a:close/>
                <a:moveTo>
                  <a:pt x="63500" y="53578"/>
                </a:moveTo>
                <a:cubicBezTo>
                  <a:pt x="63500" y="37133"/>
                  <a:pt x="76820" y="23812"/>
                  <a:pt x="93266" y="23812"/>
                </a:cubicBezTo>
                <a:lnTo>
                  <a:pt x="95250" y="23812"/>
                </a:lnTo>
                <a:cubicBezTo>
                  <a:pt x="99640" y="23812"/>
                  <a:pt x="103188" y="27360"/>
                  <a:pt x="103188" y="31750"/>
                </a:cubicBezTo>
                <a:cubicBezTo>
                  <a:pt x="103188" y="36140"/>
                  <a:pt x="99640" y="39688"/>
                  <a:pt x="95250" y="39688"/>
                </a:cubicBezTo>
                <a:lnTo>
                  <a:pt x="93266" y="39688"/>
                </a:lnTo>
                <a:cubicBezTo>
                  <a:pt x="85601" y="39688"/>
                  <a:pt x="79375" y="45913"/>
                  <a:pt x="79375" y="53578"/>
                </a:cubicBezTo>
                <a:lnTo>
                  <a:pt x="79375" y="55563"/>
                </a:lnTo>
                <a:lnTo>
                  <a:pt x="95250" y="55563"/>
                </a:lnTo>
                <a:cubicBezTo>
                  <a:pt x="104006" y="55563"/>
                  <a:pt x="111125" y="62681"/>
                  <a:pt x="111125" y="71438"/>
                </a:cubicBezTo>
                <a:lnTo>
                  <a:pt x="111125" y="87313"/>
                </a:lnTo>
                <a:cubicBezTo>
                  <a:pt x="111125" y="96069"/>
                  <a:pt x="104006" y="103188"/>
                  <a:pt x="95250" y="103188"/>
                </a:cubicBezTo>
                <a:lnTo>
                  <a:pt x="79375" y="103188"/>
                </a:lnTo>
                <a:cubicBezTo>
                  <a:pt x="70619" y="103188"/>
                  <a:pt x="63500" y="96069"/>
                  <a:pt x="63500" y="87313"/>
                </a:cubicBezTo>
                <a:lnTo>
                  <a:pt x="63500" y="53578"/>
                </a:lnTo>
                <a:close/>
              </a:path>
            </a:pathLst>
          </a:custGeom>
          <a:solidFill>
            <a:srgbClr val="4C7E9A"/>
          </a:solidFill>
          <a:ln/>
        </p:spPr>
      </p:sp>
      <p:sp>
        <p:nvSpPr>
          <p:cNvPr id="39" name="Text 37"/>
          <p:cNvSpPr/>
          <p:nvPr/>
        </p:nvSpPr>
        <p:spPr>
          <a:xfrm>
            <a:off x="11295944" y="5852583"/>
            <a:ext cx="4261556"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知错能改，善莫大焉</a:t>
            </a:r>
            <a:endParaRPr lang="en-US" sz="1600" dirty="0"/>
          </a:p>
        </p:txBody>
      </p:sp>
      <p:sp>
        <p:nvSpPr>
          <p:cNvPr id="40" name="Shape 38"/>
          <p:cNvSpPr/>
          <p:nvPr/>
        </p:nvSpPr>
        <p:spPr>
          <a:xfrm>
            <a:off x="10932583" y="6360583"/>
            <a:ext cx="4720167" cy="1968500"/>
          </a:xfrm>
          <a:custGeom>
            <a:avLst/>
            <a:gdLst/>
            <a:ahLst/>
            <a:cxnLst/>
            <a:rect l="l" t="t" r="r" b="b"/>
            <a:pathLst>
              <a:path w="4720167" h="1968500">
                <a:moveTo>
                  <a:pt x="84665" y="0"/>
                </a:moveTo>
                <a:lnTo>
                  <a:pt x="4635501" y="0"/>
                </a:lnTo>
                <a:cubicBezTo>
                  <a:pt x="4682261" y="0"/>
                  <a:pt x="4720167" y="37906"/>
                  <a:pt x="4720167" y="84665"/>
                </a:cubicBezTo>
                <a:lnTo>
                  <a:pt x="4720167" y="1883835"/>
                </a:lnTo>
                <a:cubicBezTo>
                  <a:pt x="4720167" y="1930594"/>
                  <a:pt x="4682261" y="1968500"/>
                  <a:pt x="4635501" y="1968500"/>
                </a:cubicBezTo>
                <a:lnTo>
                  <a:pt x="84665" y="1968500"/>
                </a:lnTo>
                <a:cubicBezTo>
                  <a:pt x="37906" y="1968500"/>
                  <a:pt x="0" y="1930594"/>
                  <a:pt x="0" y="1883835"/>
                </a:cubicBezTo>
                <a:lnTo>
                  <a:pt x="0" y="84665"/>
                </a:lnTo>
                <a:cubicBezTo>
                  <a:pt x="0" y="37937"/>
                  <a:pt x="37937" y="0"/>
                  <a:pt x="84665" y="0"/>
                </a:cubicBezTo>
                <a:close/>
              </a:path>
            </a:pathLst>
          </a:custGeom>
          <a:solidFill>
            <a:srgbClr val="181A1F">
              <a:alpha val="50196"/>
            </a:srgbClr>
          </a:solidFill>
          <a:ln/>
        </p:spPr>
      </p:sp>
      <p:sp>
        <p:nvSpPr>
          <p:cNvPr id="41" name="Shape 39"/>
          <p:cNvSpPr/>
          <p:nvPr/>
        </p:nvSpPr>
        <p:spPr>
          <a:xfrm>
            <a:off x="11101917" y="6529917"/>
            <a:ext cx="423333" cy="423333"/>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4C7E9A"/>
          </a:solidFill>
          <a:ln/>
        </p:spPr>
      </p:sp>
      <p:sp>
        <p:nvSpPr>
          <p:cNvPr id="42" name="Text 40"/>
          <p:cNvSpPr/>
          <p:nvPr/>
        </p:nvSpPr>
        <p:spPr>
          <a:xfrm>
            <a:off x="11054292" y="6529917"/>
            <a:ext cx="518583" cy="423333"/>
          </a:xfrm>
          <a:prstGeom prst="rect">
            <a:avLst/>
          </a:prstGeom>
          <a:noFill/>
          <a:ln/>
        </p:spPr>
        <p:txBody>
          <a:bodyPr wrap="square" lIns="0" tIns="0" rIns="0" bIns="0" rtlCol="0" anchor="ctr"/>
          <a:lstStyle/>
          <a:p>
            <a:pPr algn="ctr">
              <a:lnSpc>
                <a:spcPct val="130000"/>
              </a:lnSpc>
            </a:pPr>
            <a:r>
              <a:rPr lang="en-US" sz="1500" b="1" dirty="0">
                <a:solidFill>
                  <a:srgbClr val="181A1F"/>
                </a:solidFill>
                <a:latin typeface="MiSans" pitchFamily="34" charset="0"/>
                <a:ea typeface="MiSans" pitchFamily="34" charset="-122"/>
                <a:cs typeface="MiSans" pitchFamily="34" charset="-120"/>
              </a:rPr>
              <a:t>3</a:t>
            </a:r>
            <a:endParaRPr lang="en-US" sz="1600" dirty="0"/>
          </a:p>
        </p:txBody>
      </p:sp>
      <p:sp>
        <p:nvSpPr>
          <p:cNvPr id="43" name="Text 41"/>
          <p:cNvSpPr/>
          <p:nvPr/>
        </p:nvSpPr>
        <p:spPr>
          <a:xfrm>
            <a:off x="11652250" y="6593417"/>
            <a:ext cx="1788583"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Stacking（层级）</a:t>
            </a:r>
            <a:endParaRPr lang="en-US" sz="1600" dirty="0"/>
          </a:p>
        </p:txBody>
      </p:sp>
      <p:sp>
        <p:nvSpPr>
          <p:cNvPr id="44" name="Text 42"/>
          <p:cNvSpPr/>
          <p:nvPr/>
        </p:nvSpPr>
        <p:spPr>
          <a:xfrm>
            <a:off x="11101917" y="7037917"/>
            <a:ext cx="4466167" cy="825500"/>
          </a:xfrm>
          <a:prstGeom prst="rect">
            <a:avLst/>
          </a:prstGeom>
          <a:noFill/>
          <a:ln/>
        </p:spPr>
        <p:txBody>
          <a:bodyPr wrap="square" lIns="0" tIns="0" rIns="0" bIns="0" rtlCol="0" anchor="ctr"/>
          <a:lstStyle/>
          <a:p>
            <a:pPr>
              <a:lnSpc>
                <a:spcPct val="140000"/>
              </a:lnSpc>
            </a:pPr>
            <a:r>
              <a:rPr lang="en-US" sz="1333" dirty="0">
                <a:solidFill>
                  <a:srgbClr val="7E9AA8"/>
                </a:solidFill>
                <a:latin typeface="MiSans" pitchFamily="34" charset="0"/>
                <a:ea typeface="MiSans" pitchFamily="34" charset="-122"/>
                <a:cs typeface="MiSans" pitchFamily="34" charset="-120"/>
              </a:rPr>
              <a:t>就像是</a:t>
            </a:r>
            <a:pPr>
              <a:lnSpc>
                <a:spcPct val="140000"/>
              </a:lnSpc>
            </a:pPr>
            <a:r>
              <a:rPr lang="en-US" sz="1333" b="1" dirty="0">
                <a:solidFill>
                  <a:srgbClr val="4C7E9A"/>
                </a:solidFill>
                <a:latin typeface="MiSans" pitchFamily="34" charset="0"/>
                <a:ea typeface="MiSans" pitchFamily="34" charset="-122"/>
                <a:cs typeface="MiSans" pitchFamily="34" charset="-120"/>
              </a:rPr>
              <a:t>"科研团队"</a:t>
            </a:r>
            <a:pPr>
              <a:lnSpc>
                <a:spcPct val="140000"/>
              </a:lnSpc>
            </a:pPr>
            <a:r>
              <a:rPr lang="en-US" sz="1333" dirty="0">
                <a:solidFill>
                  <a:srgbClr val="7E9AA8"/>
                </a:solidFill>
                <a:latin typeface="MiSans" pitchFamily="34" charset="0"/>
                <a:ea typeface="MiSans" pitchFamily="34" charset="-122"/>
                <a:cs typeface="MiSans" pitchFamily="34" charset="-120"/>
              </a:rPr>
              <a:t>。实习生先各自提出方案，然后由资深研究员分析这些方案的优缺点，综合得出一个最佳的最终方案。</a:t>
            </a:r>
            <a:endParaRPr lang="en-US" sz="1600" dirty="0"/>
          </a:p>
        </p:txBody>
      </p:sp>
      <p:sp>
        <p:nvSpPr>
          <p:cNvPr id="45" name="Shape 43"/>
          <p:cNvSpPr/>
          <p:nvPr/>
        </p:nvSpPr>
        <p:spPr>
          <a:xfrm>
            <a:off x="11125729" y="8001000"/>
            <a:ext cx="111125" cy="127000"/>
          </a:xfrm>
          <a:custGeom>
            <a:avLst/>
            <a:gdLst/>
            <a:ahLst/>
            <a:cxnLst/>
            <a:rect l="l" t="t" r="r" b="b"/>
            <a:pathLst>
              <a:path w="111125" h="127000">
                <a:moveTo>
                  <a:pt x="0" y="53578"/>
                </a:moveTo>
                <a:cubicBezTo>
                  <a:pt x="0" y="37133"/>
                  <a:pt x="13320" y="23812"/>
                  <a:pt x="29766" y="23812"/>
                </a:cubicBezTo>
                <a:lnTo>
                  <a:pt x="31750" y="23812"/>
                </a:lnTo>
                <a:cubicBezTo>
                  <a:pt x="36140" y="23812"/>
                  <a:pt x="39688" y="27360"/>
                  <a:pt x="39688" y="31750"/>
                </a:cubicBezTo>
                <a:cubicBezTo>
                  <a:pt x="39688" y="36140"/>
                  <a:pt x="36140" y="39688"/>
                  <a:pt x="31750" y="39688"/>
                </a:cubicBezTo>
                <a:lnTo>
                  <a:pt x="29766" y="39688"/>
                </a:lnTo>
                <a:cubicBezTo>
                  <a:pt x="22101" y="39688"/>
                  <a:pt x="15875" y="45913"/>
                  <a:pt x="15875" y="53578"/>
                </a:cubicBezTo>
                <a:lnTo>
                  <a:pt x="15875" y="55563"/>
                </a:lnTo>
                <a:lnTo>
                  <a:pt x="31750" y="55563"/>
                </a:lnTo>
                <a:cubicBezTo>
                  <a:pt x="40506" y="55563"/>
                  <a:pt x="47625" y="62681"/>
                  <a:pt x="47625" y="71438"/>
                </a:cubicBezTo>
                <a:lnTo>
                  <a:pt x="47625" y="87313"/>
                </a:lnTo>
                <a:cubicBezTo>
                  <a:pt x="47625" y="96069"/>
                  <a:pt x="40506" y="103188"/>
                  <a:pt x="31750" y="103188"/>
                </a:cubicBezTo>
                <a:lnTo>
                  <a:pt x="15875" y="103188"/>
                </a:lnTo>
                <a:cubicBezTo>
                  <a:pt x="7119" y="103188"/>
                  <a:pt x="0" y="96069"/>
                  <a:pt x="0" y="87313"/>
                </a:cubicBezTo>
                <a:lnTo>
                  <a:pt x="0" y="53578"/>
                </a:lnTo>
                <a:close/>
                <a:moveTo>
                  <a:pt x="63500" y="53578"/>
                </a:moveTo>
                <a:cubicBezTo>
                  <a:pt x="63500" y="37133"/>
                  <a:pt x="76820" y="23812"/>
                  <a:pt x="93266" y="23812"/>
                </a:cubicBezTo>
                <a:lnTo>
                  <a:pt x="95250" y="23812"/>
                </a:lnTo>
                <a:cubicBezTo>
                  <a:pt x="99640" y="23812"/>
                  <a:pt x="103188" y="27360"/>
                  <a:pt x="103188" y="31750"/>
                </a:cubicBezTo>
                <a:cubicBezTo>
                  <a:pt x="103188" y="36140"/>
                  <a:pt x="99640" y="39688"/>
                  <a:pt x="95250" y="39688"/>
                </a:cubicBezTo>
                <a:lnTo>
                  <a:pt x="93266" y="39688"/>
                </a:lnTo>
                <a:cubicBezTo>
                  <a:pt x="85601" y="39688"/>
                  <a:pt x="79375" y="45913"/>
                  <a:pt x="79375" y="53578"/>
                </a:cubicBezTo>
                <a:lnTo>
                  <a:pt x="79375" y="55563"/>
                </a:lnTo>
                <a:lnTo>
                  <a:pt x="95250" y="55563"/>
                </a:lnTo>
                <a:cubicBezTo>
                  <a:pt x="104006" y="55563"/>
                  <a:pt x="111125" y="62681"/>
                  <a:pt x="111125" y="71438"/>
                </a:cubicBezTo>
                <a:lnTo>
                  <a:pt x="111125" y="87313"/>
                </a:lnTo>
                <a:cubicBezTo>
                  <a:pt x="111125" y="96069"/>
                  <a:pt x="104006" y="103188"/>
                  <a:pt x="95250" y="103188"/>
                </a:cubicBezTo>
                <a:lnTo>
                  <a:pt x="79375" y="103188"/>
                </a:lnTo>
                <a:cubicBezTo>
                  <a:pt x="70619" y="103188"/>
                  <a:pt x="63500" y="96069"/>
                  <a:pt x="63500" y="87313"/>
                </a:cubicBezTo>
                <a:lnTo>
                  <a:pt x="63500" y="53578"/>
                </a:lnTo>
                <a:close/>
              </a:path>
            </a:pathLst>
          </a:custGeom>
          <a:solidFill>
            <a:srgbClr val="4C7E9A"/>
          </a:solidFill>
          <a:ln/>
        </p:spPr>
      </p:sp>
      <p:sp>
        <p:nvSpPr>
          <p:cNvPr id="46" name="Text 44"/>
          <p:cNvSpPr/>
          <p:nvPr/>
        </p:nvSpPr>
        <p:spPr>
          <a:xfrm>
            <a:off x="11295944" y="7948083"/>
            <a:ext cx="4261556"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集思广益，博采众长</a:t>
            </a:r>
            <a:endParaRPr lang="en-US" sz="1600" dirty="0"/>
          </a:p>
        </p:txBody>
      </p:sp>
      <p:sp>
        <p:nvSpPr>
          <p:cNvPr id="47" name="Shape 45"/>
          <p:cNvSpPr/>
          <p:nvPr/>
        </p:nvSpPr>
        <p:spPr>
          <a:xfrm>
            <a:off x="428625" y="8683625"/>
            <a:ext cx="15398750" cy="603250"/>
          </a:xfrm>
          <a:custGeom>
            <a:avLst/>
            <a:gdLst/>
            <a:ahLst/>
            <a:cxnLst/>
            <a:rect l="l" t="t" r="r" b="b"/>
            <a:pathLst>
              <a:path w="15398750" h="603250">
                <a:moveTo>
                  <a:pt x="84666" y="0"/>
                </a:moveTo>
                <a:lnTo>
                  <a:pt x="15314084" y="0"/>
                </a:lnTo>
                <a:cubicBezTo>
                  <a:pt x="15360844" y="0"/>
                  <a:pt x="15398750" y="37906"/>
                  <a:pt x="15398750" y="84666"/>
                </a:cubicBezTo>
                <a:lnTo>
                  <a:pt x="15398750" y="518584"/>
                </a:lnTo>
                <a:cubicBezTo>
                  <a:pt x="15398750" y="565344"/>
                  <a:pt x="15360844" y="603250"/>
                  <a:pt x="15314084" y="603250"/>
                </a:cubicBezTo>
                <a:lnTo>
                  <a:pt x="84666" y="603250"/>
                </a:lnTo>
                <a:cubicBezTo>
                  <a:pt x="37906" y="603250"/>
                  <a:pt x="0" y="565344"/>
                  <a:pt x="0" y="518584"/>
                </a:cubicBezTo>
                <a:lnTo>
                  <a:pt x="0" y="84666"/>
                </a:lnTo>
                <a:cubicBezTo>
                  <a:pt x="0" y="37938"/>
                  <a:pt x="37938" y="0"/>
                  <a:pt x="84666" y="0"/>
                </a:cubicBezTo>
                <a:close/>
              </a:path>
            </a:pathLst>
          </a:custGeom>
          <a:solidFill>
            <a:srgbClr val="4C7E9A">
              <a:alpha val="10196"/>
            </a:srgbClr>
          </a:solidFill>
          <a:ln w="12700">
            <a:solidFill>
              <a:srgbClr val="4C7E9A">
                <a:alpha val="30196"/>
              </a:srgbClr>
            </a:solidFill>
            <a:prstDash val="solid"/>
          </a:ln>
        </p:spPr>
      </p:sp>
      <p:sp>
        <p:nvSpPr>
          <p:cNvPr id="48" name="Shape 46"/>
          <p:cNvSpPr/>
          <p:nvPr/>
        </p:nvSpPr>
        <p:spPr>
          <a:xfrm>
            <a:off x="635000" y="8858250"/>
            <a:ext cx="254000" cy="254000"/>
          </a:xfrm>
          <a:custGeom>
            <a:avLst/>
            <a:gdLst/>
            <a:ahLst/>
            <a:cxnLst/>
            <a:rect l="l" t="t" r="r" b="b"/>
            <a:pathLst>
              <a:path w="254000" h="254000">
                <a:moveTo>
                  <a:pt x="71586" y="0"/>
                </a:moveTo>
                <a:lnTo>
                  <a:pt x="182711" y="0"/>
                </a:lnTo>
                <a:cubicBezTo>
                  <a:pt x="195858" y="0"/>
                  <a:pt x="206573" y="10815"/>
                  <a:pt x="206077" y="23912"/>
                </a:cubicBezTo>
                <a:cubicBezTo>
                  <a:pt x="205978" y="26541"/>
                  <a:pt x="205879" y="29170"/>
                  <a:pt x="205730" y="31750"/>
                </a:cubicBezTo>
                <a:lnTo>
                  <a:pt x="230336" y="31750"/>
                </a:lnTo>
                <a:cubicBezTo>
                  <a:pt x="243284" y="31750"/>
                  <a:pt x="254695" y="42466"/>
                  <a:pt x="253702" y="56455"/>
                </a:cubicBezTo>
                <a:cubicBezTo>
                  <a:pt x="249982" y="107900"/>
                  <a:pt x="223689" y="136178"/>
                  <a:pt x="195163" y="150961"/>
                </a:cubicBezTo>
                <a:cubicBezTo>
                  <a:pt x="187325" y="155029"/>
                  <a:pt x="179338" y="158055"/>
                  <a:pt x="171748" y="160288"/>
                </a:cubicBezTo>
                <a:cubicBezTo>
                  <a:pt x="161727" y="174476"/>
                  <a:pt x="151309" y="181967"/>
                  <a:pt x="143024" y="185986"/>
                </a:cubicBezTo>
                <a:lnTo>
                  <a:pt x="143024" y="222250"/>
                </a:lnTo>
                <a:lnTo>
                  <a:pt x="174774" y="222250"/>
                </a:lnTo>
                <a:cubicBezTo>
                  <a:pt x="183555" y="222250"/>
                  <a:pt x="190649" y="229344"/>
                  <a:pt x="190649" y="238125"/>
                </a:cubicBezTo>
                <a:cubicBezTo>
                  <a:pt x="190649" y="246906"/>
                  <a:pt x="183555" y="254000"/>
                  <a:pt x="174774" y="254000"/>
                </a:cubicBezTo>
                <a:lnTo>
                  <a:pt x="79524" y="254000"/>
                </a:lnTo>
                <a:cubicBezTo>
                  <a:pt x="70743" y="254000"/>
                  <a:pt x="63649" y="246906"/>
                  <a:pt x="63649" y="238125"/>
                </a:cubicBezTo>
                <a:cubicBezTo>
                  <a:pt x="63649" y="229344"/>
                  <a:pt x="70743" y="222250"/>
                  <a:pt x="79524" y="222250"/>
                </a:cubicBezTo>
                <a:lnTo>
                  <a:pt x="111274" y="222250"/>
                </a:lnTo>
                <a:lnTo>
                  <a:pt x="111274" y="185986"/>
                </a:lnTo>
                <a:cubicBezTo>
                  <a:pt x="103336" y="182166"/>
                  <a:pt x="93464" y="175071"/>
                  <a:pt x="83840" y="162024"/>
                </a:cubicBezTo>
                <a:cubicBezTo>
                  <a:pt x="74712" y="159643"/>
                  <a:pt x="64790" y="156021"/>
                  <a:pt x="55116" y="150564"/>
                </a:cubicBezTo>
                <a:cubicBezTo>
                  <a:pt x="28277" y="135533"/>
                  <a:pt x="4068" y="107206"/>
                  <a:pt x="595" y="56356"/>
                </a:cubicBezTo>
                <a:cubicBezTo>
                  <a:pt x="-347" y="42416"/>
                  <a:pt x="11013" y="31700"/>
                  <a:pt x="23961" y="31700"/>
                </a:cubicBezTo>
                <a:lnTo>
                  <a:pt x="48568" y="31700"/>
                </a:lnTo>
                <a:cubicBezTo>
                  <a:pt x="48419" y="29121"/>
                  <a:pt x="48320" y="26541"/>
                  <a:pt x="48220" y="23862"/>
                </a:cubicBezTo>
                <a:cubicBezTo>
                  <a:pt x="47724" y="10716"/>
                  <a:pt x="58440" y="-50"/>
                  <a:pt x="71586" y="-50"/>
                </a:cubicBezTo>
                <a:close/>
                <a:moveTo>
                  <a:pt x="50354" y="55563"/>
                </a:moveTo>
                <a:lnTo>
                  <a:pt x="24358" y="55563"/>
                </a:lnTo>
                <a:cubicBezTo>
                  <a:pt x="27434" y="97582"/>
                  <a:pt x="46732" y="118616"/>
                  <a:pt x="66625" y="129778"/>
                </a:cubicBezTo>
                <a:cubicBezTo>
                  <a:pt x="59482" y="111274"/>
                  <a:pt x="53578" y="87114"/>
                  <a:pt x="50354" y="55563"/>
                </a:cubicBezTo>
                <a:close/>
                <a:moveTo>
                  <a:pt x="188516" y="127397"/>
                </a:moveTo>
                <a:cubicBezTo>
                  <a:pt x="208607" y="115590"/>
                  <a:pt x="226764" y="94605"/>
                  <a:pt x="229840" y="55563"/>
                </a:cubicBezTo>
                <a:lnTo>
                  <a:pt x="203895" y="55563"/>
                </a:lnTo>
                <a:cubicBezTo>
                  <a:pt x="200819" y="85775"/>
                  <a:pt x="195263" y="109240"/>
                  <a:pt x="188516" y="127397"/>
                </a:cubicBezTo>
                <a:close/>
              </a:path>
            </a:pathLst>
          </a:custGeom>
          <a:solidFill>
            <a:srgbClr val="4C7E9A"/>
          </a:solidFill>
          <a:ln/>
        </p:spPr>
      </p:sp>
      <p:sp>
        <p:nvSpPr>
          <p:cNvPr id="49" name="Text 47"/>
          <p:cNvSpPr/>
          <p:nvPr/>
        </p:nvSpPr>
        <p:spPr>
          <a:xfrm>
            <a:off x="1047750" y="8858250"/>
            <a:ext cx="11800417" cy="254000"/>
          </a:xfrm>
          <a:prstGeom prst="rect">
            <a:avLst/>
          </a:prstGeom>
          <a:noFill/>
          <a:ln/>
        </p:spPr>
        <p:txBody>
          <a:bodyPr wrap="square" lIns="0" tIns="0" rIns="0" bIns="0" rtlCol="0" anchor="ctr"/>
          <a:lstStyle/>
          <a:p>
            <a:pPr>
              <a:lnSpc>
                <a:spcPct val="130000"/>
              </a:lnSpc>
            </a:pPr>
            <a:r>
              <a:rPr lang="en-US" sz="1333" b="1" dirty="0">
                <a:solidFill>
                  <a:srgbClr val="4C7E9A"/>
                </a:solidFill>
                <a:latin typeface="MiSans" pitchFamily="34" charset="0"/>
                <a:ea typeface="MiSans" pitchFamily="34" charset="-122"/>
                <a:cs typeface="MiSans" pitchFamily="34" charset="-120"/>
              </a:rPr>
              <a:t>广泛应用：</a:t>
            </a:r>
            <a:pPr>
              <a:lnSpc>
                <a:spcPct val="130000"/>
              </a:lnSpc>
            </a:pPr>
            <a:r>
              <a:rPr lang="en-US" sz="1333" dirty="0">
                <a:solidFill>
                  <a:srgbClr val="D1D5DB"/>
                </a:solidFill>
                <a:latin typeface="MiSans" pitchFamily="34" charset="0"/>
                <a:ea typeface="MiSans" pitchFamily="34" charset="-122"/>
                <a:cs typeface="MiSans" pitchFamily="34" charset="-120"/>
              </a:rPr>
              <a:t>由于集成学习在提升模型性能方面的显著优势，它被广泛应用于数据竞赛（Kaggle、天池等）和工业实践中，成为机器学习领域的重要技术手段。</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VALUE PROPOSITION</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为什么需要集成学习？</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66333"/>
            <a:ext cx="7577667" cy="3852333"/>
          </a:xfrm>
          <a:custGeom>
            <a:avLst/>
            <a:gdLst/>
            <a:ahLst/>
            <a:cxnLst/>
            <a:rect l="l" t="t" r="r" b="b"/>
            <a:pathLst>
              <a:path w="7577667" h="3852333">
                <a:moveTo>
                  <a:pt x="42333" y="0"/>
                </a:moveTo>
                <a:lnTo>
                  <a:pt x="7492992" y="0"/>
                </a:lnTo>
                <a:cubicBezTo>
                  <a:pt x="7539757" y="0"/>
                  <a:pt x="7577667" y="37910"/>
                  <a:pt x="7577667" y="84674"/>
                </a:cubicBezTo>
                <a:lnTo>
                  <a:pt x="7577667" y="3767659"/>
                </a:lnTo>
                <a:cubicBezTo>
                  <a:pt x="7577667" y="3814423"/>
                  <a:pt x="7539757" y="3852333"/>
                  <a:pt x="7492992" y="3852333"/>
                </a:cubicBezTo>
                <a:lnTo>
                  <a:pt x="42333" y="3852333"/>
                </a:lnTo>
                <a:cubicBezTo>
                  <a:pt x="18953" y="3852333"/>
                  <a:pt x="0" y="3833380"/>
                  <a:pt x="0" y="3810000"/>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66333"/>
            <a:ext cx="42333" cy="3852333"/>
          </a:xfrm>
          <a:custGeom>
            <a:avLst/>
            <a:gdLst/>
            <a:ahLst/>
            <a:cxnLst/>
            <a:rect l="l" t="t" r="r" b="b"/>
            <a:pathLst>
              <a:path w="42333" h="3852333">
                <a:moveTo>
                  <a:pt x="42333" y="0"/>
                </a:moveTo>
                <a:lnTo>
                  <a:pt x="42333" y="0"/>
                </a:lnTo>
                <a:lnTo>
                  <a:pt x="42333" y="3852333"/>
                </a:lnTo>
                <a:lnTo>
                  <a:pt x="42333" y="3852333"/>
                </a:lnTo>
                <a:cubicBezTo>
                  <a:pt x="18953" y="3852333"/>
                  <a:pt x="0" y="3833380"/>
                  <a:pt x="0" y="3810000"/>
                </a:cubicBezTo>
                <a:lnTo>
                  <a:pt x="0" y="42333"/>
                </a:lnTo>
                <a:cubicBezTo>
                  <a:pt x="0" y="18953"/>
                  <a:pt x="18953" y="0"/>
                  <a:pt x="42333" y="0"/>
                </a:cubicBezTo>
                <a:close/>
              </a:path>
            </a:pathLst>
          </a:custGeom>
          <a:solidFill>
            <a:srgbClr val="4C7E9A"/>
          </a:solidFill>
          <a:ln/>
        </p:spPr>
      </p:sp>
      <p:sp>
        <p:nvSpPr>
          <p:cNvPr id="7" name="Text 5"/>
          <p:cNvSpPr/>
          <p:nvPr/>
        </p:nvSpPr>
        <p:spPr>
          <a:xfrm>
            <a:off x="677333" y="1778000"/>
            <a:ext cx="7260167"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单一模型的局限性</a:t>
            </a:r>
            <a:endParaRPr lang="en-US" sz="1600" dirty="0"/>
          </a:p>
        </p:txBody>
      </p:sp>
      <p:sp>
        <p:nvSpPr>
          <p:cNvPr id="8" name="Shape 6"/>
          <p:cNvSpPr/>
          <p:nvPr/>
        </p:nvSpPr>
        <p:spPr>
          <a:xfrm>
            <a:off x="677333" y="2328333"/>
            <a:ext cx="211667" cy="211667"/>
          </a:xfrm>
          <a:custGeom>
            <a:avLst/>
            <a:gdLst/>
            <a:ahLst/>
            <a:cxnLst/>
            <a:rect l="l" t="t" r="r" b="b"/>
            <a:pathLst>
              <a:path w="211667" h="211667">
                <a:moveTo>
                  <a:pt x="105833" y="0"/>
                </a:moveTo>
                <a:cubicBezTo>
                  <a:pt x="111910" y="0"/>
                  <a:pt x="117492" y="3349"/>
                  <a:pt x="120385" y="8682"/>
                </a:cubicBezTo>
                <a:lnTo>
                  <a:pt x="209682" y="174046"/>
                </a:lnTo>
                <a:cubicBezTo>
                  <a:pt x="212452" y="179173"/>
                  <a:pt x="212328" y="185374"/>
                  <a:pt x="209352" y="190376"/>
                </a:cubicBezTo>
                <a:cubicBezTo>
                  <a:pt x="206375" y="195378"/>
                  <a:pt x="200959" y="198438"/>
                  <a:pt x="195130" y="198438"/>
                </a:cubicBezTo>
                <a:lnTo>
                  <a:pt x="16536" y="198438"/>
                </a:lnTo>
                <a:cubicBezTo>
                  <a:pt x="10707" y="198438"/>
                  <a:pt x="5333" y="195378"/>
                  <a:pt x="2315" y="190376"/>
                </a:cubicBezTo>
                <a:cubicBezTo>
                  <a:pt x="-703" y="185374"/>
                  <a:pt x="-785" y="179173"/>
                  <a:pt x="1984" y="174046"/>
                </a:cubicBezTo>
                <a:lnTo>
                  <a:pt x="91281" y="8682"/>
                </a:lnTo>
                <a:cubicBezTo>
                  <a:pt x="94175" y="3349"/>
                  <a:pt x="99756" y="0"/>
                  <a:pt x="105833" y="0"/>
                </a:cubicBezTo>
                <a:close/>
                <a:moveTo>
                  <a:pt x="105833" y="69453"/>
                </a:moveTo>
                <a:cubicBezTo>
                  <a:pt x="100335" y="69453"/>
                  <a:pt x="95911" y="73877"/>
                  <a:pt x="95911" y="79375"/>
                </a:cubicBezTo>
                <a:lnTo>
                  <a:pt x="95911" y="125677"/>
                </a:lnTo>
                <a:cubicBezTo>
                  <a:pt x="95911" y="131175"/>
                  <a:pt x="100335" y="135599"/>
                  <a:pt x="105833" y="135599"/>
                </a:cubicBezTo>
                <a:cubicBezTo>
                  <a:pt x="111332" y="135599"/>
                  <a:pt x="115755" y="131175"/>
                  <a:pt x="115755" y="125677"/>
                </a:cubicBezTo>
                <a:lnTo>
                  <a:pt x="115755" y="79375"/>
                </a:lnTo>
                <a:cubicBezTo>
                  <a:pt x="115755" y="73877"/>
                  <a:pt x="111332" y="69453"/>
                  <a:pt x="105833" y="69453"/>
                </a:cubicBezTo>
                <a:close/>
                <a:moveTo>
                  <a:pt x="116871" y="158750"/>
                </a:moveTo>
                <a:cubicBezTo>
                  <a:pt x="117123" y="154653"/>
                  <a:pt x="115079" y="150755"/>
                  <a:pt x="111567" y="148630"/>
                </a:cubicBezTo>
                <a:cubicBezTo>
                  <a:pt x="108055" y="146506"/>
                  <a:pt x="103653" y="146506"/>
                  <a:pt x="100141" y="148630"/>
                </a:cubicBezTo>
                <a:cubicBezTo>
                  <a:pt x="96629" y="150755"/>
                  <a:pt x="94585" y="154653"/>
                  <a:pt x="94837" y="158750"/>
                </a:cubicBezTo>
                <a:cubicBezTo>
                  <a:pt x="94585" y="162847"/>
                  <a:pt x="96629" y="166745"/>
                  <a:pt x="100141" y="168870"/>
                </a:cubicBezTo>
                <a:cubicBezTo>
                  <a:pt x="103653" y="170994"/>
                  <a:pt x="108055" y="170994"/>
                  <a:pt x="111567" y="168870"/>
                </a:cubicBezTo>
                <a:cubicBezTo>
                  <a:pt x="115079" y="166745"/>
                  <a:pt x="117123" y="162847"/>
                  <a:pt x="116871" y="158750"/>
                </a:cubicBezTo>
                <a:close/>
              </a:path>
            </a:pathLst>
          </a:custGeom>
          <a:solidFill>
            <a:srgbClr val="7E9AA8"/>
          </a:solidFill>
          <a:ln/>
        </p:spPr>
      </p:sp>
      <p:sp>
        <p:nvSpPr>
          <p:cNvPr id="9" name="Text 7"/>
          <p:cNvSpPr/>
          <p:nvPr/>
        </p:nvSpPr>
        <p:spPr>
          <a:xfrm>
            <a:off x="1016000" y="2286000"/>
            <a:ext cx="68897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过拟合风险</a:t>
            </a:r>
            <a:endParaRPr lang="en-US" sz="1600" dirty="0"/>
          </a:p>
        </p:txBody>
      </p:sp>
      <p:sp>
        <p:nvSpPr>
          <p:cNvPr id="10" name="Text 8"/>
          <p:cNvSpPr/>
          <p:nvPr/>
        </p:nvSpPr>
        <p:spPr>
          <a:xfrm>
            <a:off x="1016000" y="2624667"/>
            <a:ext cx="6879167" cy="550333"/>
          </a:xfrm>
          <a:prstGeom prst="rect">
            <a:avLst/>
          </a:prstGeom>
          <a:noFill/>
          <a:ln/>
        </p:spPr>
        <p:txBody>
          <a:bodyPr wrap="square" lIns="0" tIns="0" rIns="0" bIns="0" rtlCol="0" anchor="ctr"/>
          <a:lstStyle/>
          <a:p>
            <a:pPr>
              <a:lnSpc>
                <a:spcPct val="140000"/>
              </a:lnSpc>
            </a:pPr>
            <a:r>
              <a:rPr lang="en-US" sz="1333" dirty="0">
                <a:solidFill>
                  <a:srgbClr val="7E9AA8"/>
                </a:solidFill>
                <a:latin typeface="MiSans" pitchFamily="34" charset="0"/>
                <a:ea typeface="MiSans" pitchFamily="34" charset="-122"/>
                <a:cs typeface="MiSans" pitchFamily="34" charset="-120"/>
              </a:rPr>
              <a:t>复杂模型容易过度拟合训练数据，导致在新数据上表现不佳。单一决策树、深度神经网络等模型尤其容易受到数据噪声的干扰。</a:t>
            </a:r>
            <a:endParaRPr lang="en-US" sz="1600" dirty="0"/>
          </a:p>
        </p:txBody>
      </p:sp>
      <p:sp>
        <p:nvSpPr>
          <p:cNvPr id="11" name="Shape 9"/>
          <p:cNvSpPr/>
          <p:nvPr/>
        </p:nvSpPr>
        <p:spPr>
          <a:xfrm>
            <a:off x="687917" y="3344333"/>
            <a:ext cx="211667" cy="211667"/>
          </a:xfrm>
          <a:custGeom>
            <a:avLst/>
            <a:gdLst/>
            <a:ahLst/>
            <a:cxnLst/>
            <a:rect l="l" t="t" r="r" b="b"/>
            <a:pathLst>
              <a:path w="211667" h="211667">
                <a:moveTo>
                  <a:pt x="26458" y="26458"/>
                </a:moveTo>
                <a:cubicBezTo>
                  <a:pt x="26458" y="19141"/>
                  <a:pt x="20547" y="13229"/>
                  <a:pt x="13229" y="13229"/>
                </a:cubicBezTo>
                <a:cubicBezTo>
                  <a:pt x="5912" y="13229"/>
                  <a:pt x="0" y="19141"/>
                  <a:pt x="0" y="26458"/>
                </a:cubicBezTo>
                <a:lnTo>
                  <a:pt x="0" y="165365"/>
                </a:lnTo>
                <a:cubicBezTo>
                  <a:pt x="0" y="183637"/>
                  <a:pt x="14800" y="198438"/>
                  <a:pt x="33073" y="198438"/>
                </a:cubicBezTo>
                <a:lnTo>
                  <a:pt x="198438" y="198438"/>
                </a:lnTo>
                <a:cubicBezTo>
                  <a:pt x="205755" y="198438"/>
                  <a:pt x="211667" y="192526"/>
                  <a:pt x="211667" y="185208"/>
                </a:cubicBezTo>
                <a:cubicBezTo>
                  <a:pt x="211667" y="177891"/>
                  <a:pt x="205755" y="171979"/>
                  <a:pt x="198438" y="171979"/>
                </a:cubicBezTo>
                <a:lnTo>
                  <a:pt x="33073" y="171979"/>
                </a:lnTo>
                <a:cubicBezTo>
                  <a:pt x="29435" y="171979"/>
                  <a:pt x="26458" y="169003"/>
                  <a:pt x="26458" y="165365"/>
                </a:cubicBezTo>
                <a:lnTo>
                  <a:pt x="26458" y="26458"/>
                </a:lnTo>
                <a:close/>
                <a:moveTo>
                  <a:pt x="194551" y="62260"/>
                </a:moveTo>
                <a:cubicBezTo>
                  <a:pt x="199719" y="57092"/>
                  <a:pt x="199719" y="48700"/>
                  <a:pt x="194551" y="43532"/>
                </a:cubicBezTo>
                <a:cubicBezTo>
                  <a:pt x="189384" y="38365"/>
                  <a:pt x="180992" y="38365"/>
                  <a:pt x="175824" y="43532"/>
                </a:cubicBezTo>
                <a:lnTo>
                  <a:pt x="132292" y="87106"/>
                </a:lnTo>
                <a:lnTo>
                  <a:pt x="108562" y="63417"/>
                </a:lnTo>
                <a:cubicBezTo>
                  <a:pt x="103394" y="58250"/>
                  <a:pt x="95002" y="58250"/>
                  <a:pt x="89834" y="63417"/>
                </a:cubicBezTo>
                <a:lnTo>
                  <a:pt x="50147" y="103105"/>
                </a:lnTo>
                <a:cubicBezTo>
                  <a:pt x="44979" y="108272"/>
                  <a:pt x="44979" y="116665"/>
                  <a:pt x="50147" y="121832"/>
                </a:cubicBezTo>
                <a:cubicBezTo>
                  <a:pt x="55314" y="127000"/>
                  <a:pt x="63707" y="127000"/>
                  <a:pt x="68874" y="121832"/>
                </a:cubicBezTo>
                <a:lnTo>
                  <a:pt x="99219" y="91488"/>
                </a:lnTo>
                <a:lnTo>
                  <a:pt x="122949" y="115218"/>
                </a:lnTo>
                <a:cubicBezTo>
                  <a:pt x="128116" y="120385"/>
                  <a:pt x="136508" y="120385"/>
                  <a:pt x="141676" y="115218"/>
                </a:cubicBezTo>
                <a:lnTo>
                  <a:pt x="194593" y="62301"/>
                </a:lnTo>
                <a:close/>
              </a:path>
            </a:pathLst>
          </a:custGeom>
          <a:solidFill>
            <a:srgbClr val="7E9AA8"/>
          </a:solidFill>
          <a:ln/>
        </p:spPr>
      </p:sp>
      <p:sp>
        <p:nvSpPr>
          <p:cNvPr id="12" name="Text 10"/>
          <p:cNvSpPr/>
          <p:nvPr/>
        </p:nvSpPr>
        <p:spPr>
          <a:xfrm>
            <a:off x="1039399" y="3302000"/>
            <a:ext cx="68685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泛化能力有限</a:t>
            </a:r>
            <a:endParaRPr lang="en-US" sz="1600" dirty="0"/>
          </a:p>
        </p:txBody>
      </p:sp>
      <p:sp>
        <p:nvSpPr>
          <p:cNvPr id="13" name="Text 11"/>
          <p:cNvSpPr/>
          <p:nvPr/>
        </p:nvSpPr>
        <p:spPr>
          <a:xfrm>
            <a:off x="1039399" y="3640667"/>
            <a:ext cx="6858000" cy="550333"/>
          </a:xfrm>
          <a:prstGeom prst="rect">
            <a:avLst/>
          </a:prstGeom>
          <a:noFill/>
          <a:ln/>
        </p:spPr>
        <p:txBody>
          <a:bodyPr wrap="square" lIns="0" tIns="0" rIns="0" bIns="0" rtlCol="0" anchor="ctr"/>
          <a:lstStyle/>
          <a:p>
            <a:pPr>
              <a:lnSpc>
                <a:spcPct val="140000"/>
              </a:lnSpc>
            </a:pPr>
            <a:r>
              <a:rPr lang="en-US" sz="1333" dirty="0">
                <a:solidFill>
                  <a:srgbClr val="7E9AA8"/>
                </a:solidFill>
                <a:latin typeface="MiSans" pitchFamily="34" charset="0"/>
                <a:ea typeface="MiSans" pitchFamily="34" charset="-122"/>
                <a:cs typeface="MiSans" pitchFamily="34" charset="-120"/>
              </a:rPr>
              <a:t>单一模型往往只能学习到数据的某一方面的特征，难以全面把握数据的内在规律，导致泛化能力受限。</a:t>
            </a:r>
            <a:endParaRPr lang="en-US" sz="1600" dirty="0"/>
          </a:p>
        </p:txBody>
      </p:sp>
      <p:sp>
        <p:nvSpPr>
          <p:cNvPr id="14" name="Shape 12"/>
          <p:cNvSpPr/>
          <p:nvPr/>
        </p:nvSpPr>
        <p:spPr>
          <a:xfrm>
            <a:off x="650875" y="4360333"/>
            <a:ext cx="264583" cy="211667"/>
          </a:xfrm>
          <a:custGeom>
            <a:avLst/>
            <a:gdLst/>
            <a:ahLst/>
            <a:cxnLst/>
            <a:rect l="l" t="t" r="r" b="b"/>
            <a:pathLst>
              <a:path w="264583" h="211667">
                <a:moveTo>
                  <a:pt x="158750" y="13229"/>
                </a:moveTo>
                <a:lnTo>
                  <a:pt x="211667" y="13229"/>
                </a:lnTo>
                <a:cubicBezTo>
                  <a:pt x="218984" y="13229"/>
                  <a:pt x="224896" y="19141"/>
                  <a:pt x="224896" y="26458"/>
                </a:cubicBezTo>
                <a:cubicBezTo>
                  <a:pt x="224896" y="33776"/>
                  <a:pt x="218984" y="39688"/>
                  <a:pt x="211667" y="39688"/>
                </a:cubicBezTo>
                <a:lnTo>
                  <a:pt x="164703" y="39688"/>
                </a:lnTo>
                <a:cubicBezTo>
                  <a:pt x="162553" y="50354"/>
                  <a:pt x="155236" y="59159"/>
                  <a:pt x="145521" y="63376"/>
                </a:cubicBezTo>
                <a:lnTo>
                  <a:pt x="145521" y="185208"/>
                </a:lnTo>
                <a:lnTo>
                  <a:pt x="211667" y="185208"/>
                </a:lnTo>
                <a:cubicBezTo>
                  <a:pt x="218984" y="185208"/>
                  <a:pt x="224896" y="191120"/>
                  <a:pt x="224896" y="198438"/>
                </a:cubicBezTo>
                <a:cubicBezTo>
                  <a:pt x="224896" y="205755"/>
                  <a:pt x="218984" y="211667"/>
                  <a:pt x="211667" y="211667"/>
                </a:cubicBezTo>
                <a:lnTo>
                  <a:pt x="52917" y="211667"/>
                </a:lnTo>
                <a:cubicBezTo>
                  <a:pt x="45599" y="211667"/>
                  <a:pt x="39688" y="205755"/>
                  <a:pt x="39688" y="198438"/>
                </a:cubicBezTo>
                <a:cubicBezTo>
                  <a:pt x="39688" y="191120"/>
                  <a:pt x="45599" y="185208"/>
                  <a:pt x="52917" y="185208"/>
                </a:cubicBezTo>
                <a:lnTo>
                  <a:pt x="119063" y="185208"/>
                </a:lnTo>
                <a:lnTo>
                  <a:pt x="119063" y="63376"/>
                </a:lnTo>
                <a:cubicBezTo>
                  <a:pt x="109347" y="59118"/>
                  <a:pt x="102030" y="50312"/>
                  <a:pt x="99880" y="39688"/>
                </a:cubicBezTo>
                <a:lnTo>
                  <a:pt x="52917" y="39688"/>
                </a:lnTo>
                <a:cubicBezTo>
                  <a:pt x="45599" y="39688"/>
                  <a:pt x="39688" y="33776"/>
                  <a:pt x="39688" y="26458"/>
                </a:cubicBezTo>
                <a:cubicBezTo>
                  <a:pt x="39688" y="19141"/>
                  <a:pt x="45599" y="13229"/>
                  <a:pt x="52917" y="13229"/>
                </a:cubicBezTo>
                <a:lnTo>
                  <a:pt x="105833" y="13229"/>
                </a:lnTo>
                <a:cubicBezTo>
                  <a:pt x="111869" y="5209"/>
                  <a:pt x="121460" y="0"/>
                  <a:pt x="132292" y="0"/>
                </a:cubicBezTo>
                <a:cubicBezTo>
                  <a:pt x="143123" y="0"/>
                  <a:pt x="152714" y="5209"/>
                  <a:pt x="158750" y="13229"/>
                </a:cubicBezTo>
                <a:close/>
                <a:moveTo>
                  <a:pt x="181736" y="132292"/>
                </a:moveTo>
                <a:lnTo>
                  <a:pt x="241598" y="132292"/>
                </a:lnTo>
                <a:lnTo>
                  <a:pt x="211667" y="80946"/>
                </a:lnTo>
                <a:lnTo>
                  <a:pt x="181736" y="132292"/>
                </a:lnTo>
                <a:close/>
                <a:moveTo>
                  <a:pt x="211667" y="171979"/>
                </a:moveTo>
                <a:cubicBezTo>
                  <a:pt x="185663" y="171979"/>
                  <a:pt x="164042" y="157923"/>
                  <a:pt x="159577" y="139361"/>
                </a:cubicBezTo>
                <a:cubicBezTo>
                  <a:pt x="158502" y="134813"/>
                  <a:pt x="159990" y="130142"/>
                  <a:pt x="162347" y="126090"/>
                </a:cubicBezTo>
                <a:lnTo>
                  <a:pt x="201703" y="58622"/>
                </a:lnTo>
                <a:cubicBezTo>
                  <a:pt x="203771" y="55066"/>
                  <a:pt x="207574" y="52917"/>
                  <a:pt x="211667" y="52917"/>
                </a:cubicBezTo>
                <a:cubicBezTo>
                  <a:pt x="215759" y="52917"/>
                  <a:pt x="219563" y="55108"/>
                  <a:pt x="221630" y="58622"/>
                </a:cubicBezTo>
                <a:lnTo>
                  <a:pt x="260987" y="126090"/>
                </a:lnTo>
                <a:cubicBezTo>
                  <a:pt x="263343" y="130142"/>
                  <a:pt x="264831" y="134813"/>
                  <a:pt x="263757" y="139361"/>
                </a:cubicBezTo>
                <a:cubicBezTo>
                  <a:pt x="259292" y="157882"/>
                  <a:pt x="237670" y="171979"/>
                  <a:pt x="211667" y="171979"/>
                </a:cubicBezTo>
                <a:close/>
                <a:moveTo>
                  <a:pt x="52421" y="80946"/>
                </a:moveTo>
                <a:lnTo>
                  <a:pt x="22490" y="132292"/>
                </a:lnTo>
                <a:lnTo>
                  <a:pt x="82393" y="132292"/>
                </a:lnTo>
                <a:lnTo>
                  <a:pt x="52421" y="80946"/>
                </a:lnTo>
                <a:close/>
                <a:moveTo>
                  <a:pt x="372" y="139361"/>
                </a:moveTo>
                <a:cubicBezTo>
                  <a:pt x="-703" y="134813"/>
                  <a:pt x="785" y="130142"/>
                  <a:pt x="3142" y="126090"/>
                </a:cubicBezTo>
                <a:lnTo>
                  <a:pt x="42499" y="58622"/>
                </a:lnTo>
                <a:cubicBezTo>
                  <a:pt x="44566" y="55066"/>
                  <a:pt x="48369" y="52917"/>
                  <a:pt x="52462" y="52917"/>
                </a:cubicBezTo>
                <a:cubicBezTo>
                  <a:pt x="56555" y="52917"/>
                  <a:pt x="60358" y="55108"/>
                  <a:pt x="62425" y="58622"/>
                </a:cubicBezTo>
                <a:lnTo>
                  <a:pt x="101782" y="126090"/>
                </a:lnTo>
                <a:cubicBezTo>
                  <a:pt x="104138" y="130142"/>
                  <a:pt x="105627" y="134813"/>
                  <a:pt x="104552" y="139361"/>
                </a:cubicBezTo>
                <a:cubicBezTo>
                  <a:pt x="100087" y="157882"/>
                  <a:pt x="78465" y="171979"/>
                  <a:pt x="52462" y="171979"/>
                </a:cubicBezTo>
                <a:cubicBezTo>
                  <a:pt x="26458" y="171979"/>
                  <a:pt x="4837" y="157923"/>
                  <a:pt x="372" y="139361"/>
                </a:cubicBezTo>
                <a:close/>
              </a:path>
            </a:pathLst>
          </a:custGeom>
          <a:solidFill>
            <a:srgbClr val="7E9AA8"/>
          </a:solidFill>
          <a:ln/>
        </p:spPr>
      </p:sp>
      <p:sp>
        <p:nvSpPr>
          <p:cNvPr id="15" name="Text 13"/>
          <p:cNvSpPr/>
          <p:nvPr/>
        </p:nvSpPr>
        <p:spPr>
          <a:xfrm>
            <a:off x="1016000" y="4318000"/>
            <a:ext cx="68897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偏差-方差困境</a:t>
            </a:r>
            <a:endParaRPr lang="en-US" sz="1600" dirty="0"/>
          </a:p>
        </p:txBody>
      </p:sp>
      <p:sp>
        <p:nvSpPr>
          <p:cNvPr id="16" name="Text 14"/>
          <p:cNvSpPr/>
          <p:nvPr/>
        </p:nvSpPr>
        <p:spPr>
          <a:xfrm>
            <a:off x="1016000" y="4656667"/>
            <a:ext cx="6879167" cy="550333"/>
          </a:xfrm>
          <a:prstGeom prst="rect">
            <a:avLst/>
          </a:prstGeom>
          <a:noFill/>
          <a:ln/>
        </p:spPr>
        <p:txBody>
          <a:bodyPr wrap="square" lIns="0" tIns="0" rIns="0" bIns="0" rtlCol="0" anchor="ctr"/>
          <a:lstStyle/>
          <a:p>
            <a:pPr>
              <a:lnSpc>
                <a:spcPct val="140000"/>
              </a:lnSpc>
            </a:pPr>
            <a:r>
              <a:rPr lang="en-US" sz="1333" dirty="0">
                <a:solidFill>
                  <a:srgbClr val="7E9AA8"/>
                </a:solidFill>
                <a:latin typeface="MiSans" pitchFamily="34" charset="0"/>
                <a:ea typeface="MiSans" pitchFamily="34" charset="-122"/>
                <a:cs typeface="MiSans" pitchFamily="34" charset="-120"/>
              </a:rPr>
              <a:t>单一模型很难在偏差和方差之间取得理想的平衡。简单的模型可能导致欠拟合（高偏差），复杂的模型可能导致过拟合（高方差）。</a:t>
            </a:r>
            <a:endParaRPr lang="en-US" sz="1600" dirty="0"/>
          </a:p>
        </p:txBody>
      </p:sp>
      <p:pic>
        <p:nvPicPr>
          <p:cNvPr id="17" name="Image 0" descr="https://kimi-img.moonshot.cn/pub/slides/26-01-07-11:57:46-d5etjegi2d88tb9pgs30.png">    </p:cNvPr>
          <p:cNvPicPr>
            <a:picLocks noChangeAspect="1"/>
          </p:cNvPicPr>
          <p:nvPr/>
        </p:nvPicPr>
        <p:blipFill>
          <a:blip r:embed="rId1"/>
          <a:srcRect l="0" r="0" t="0" b="0"/>
          <a:stretch/>
        </p:blipFill>
        <p:spPr>
          <a:xfrm>
            <a:off x="8233833" y="1566333"/>
            <a:ext cx="6244167" cy="3810000"/>
          </a:xfrm>
          <a:prstGeom prst="roundRect">
            <a:avLst>
              <a:gd name="adj" fmla="val 0"/>
            </a:avLst>
          </a:prstGeom>
        </p:spPr>
      </p:pic>
      <p:sp>
        <p:nvSpPr>
          <p:cNvPr id="18" name="Shape 15"/>
          <p:cNvSpPr/>
          <p:nvPr/>
        </p:nvSpPr>
        <p:spPr>
          <a:xfrm>
            <a:off x="423333" y="5609167"/>
            <a:ext cx="5027083" cy="1651000"/>
          </a:xfrm>
          <a:custGeom>
            <a:avLst/>
            <a:gdLst/>
            <a:ahLst/>
            <a:cxnLst/>
            <a:rect l="l" t="t" r="r" b="b"/>
            <a:pathLst>
              <a:path w="5027083" h="1651000">
                <a:moveTo>
                  <a:pt x="42333" y="0"/>
                </a:moveTo>
                <a:lnTo>
                  <a:pt x="4984750" y="0"/>
                </a:lnTo>
                <a:cubicBezTo>
                  <a:pt x="5008130" y="0"/>
                  <a:pt x="5027083" y="18953"/>
                  <a:pt x="5027083" y="42333"/>
                </a:cubicBezTo>
                <a:lnTo>
                  <a:pt x="5027083" y="1566337"/>
                </a:lnTo>
                <a:cubicBezTo>
                  <a:pt x="5027083" y="1613095"/>
                  <a:pt x="4989178" y="1651000"/>
                  <a:pt x="4942420" y="1651000"/>
                </a:cubicBezTo>
                <a:lnTo>
                  <a:pt x="84663" y="1651000"/>
                </a:lnTo>
                <a:cubicBezTo>
                  <a:pt x="37905" y="1651000"/>
                  <a:pt x="0" y="1613095"/>
                  <a:pt x="0" y="1566337"/>
                </a:cubicBezTo>
                <a:lnTo>
                  <a:pt x="0" y="42333"/>
                </a:lnTo>
                <a:cubicBezTo>
                  <a:pt x="0" y="18953"/>
                  <a:pt x="18953" y="0"/>
                  <a:pt x="42333" y="0"/>
                </a:cubicBezTo>
                <a:close/>
              </a:path>
            </a:pathLst>
          </a:custGeom>
          <a:solidFill>
            <a:srgbClr val="3A5E78">
              <a:alpha val="20000"/>
            </a:srgbClr>
          </a:solidFill>
          <a:ln/>
        </p:spPr>
      </p:sp>
      <p:sp>
        <p:nvSpPr>
          <p:cNvPr id="19" name="Shape 16"/>
          <p:cNvSpPr/>
          <p:nvPr/>
        </p:nvSpPr>
        <p:spPr>
          <a:xfrm>
            <a:off x="423333" y="5609167"/>
            <a:ext cx="5027083" cy="42333"/>
          </a:xfrm>
          <a:custGeom>
            <a:avLst/>
            <a:gdLst/>
            <a:ahLst/>
            <a:cxnLst/>
            <a:rect l="l" t="t" r="r" b="b"/>
            <a:pathLst>
              <a:path w="5027083" h="42333">
                <a:moveTo>
                  <a:pt x="42333" y="0"/>
                </a:moveTo>
                <a:lnTo>
                  <a:pt x="4984750" y="0"/>
                </a:lnTo>
                <a:cubicBezTo>
                  <a:pt x="5008130" y="0"/>
                  <a:pt x="5027083" y="18953"/>
                  <a:pt x="5027083" y="42333"/>
                </a:cubicBezTo>
                <a:lnTo>
                  <a:pt x="5027083" y="42333"/>
                </a:lnTo>
                <a:lnTo>
                  <a:pt x="0" y="42333"/>
                </a:lnTo>
                <a:lnTo>
                  <a:pt x="0" y="42333"/>
                </a:lnTo>
                <a:cubicBezTo>
                  <a:pt x="0" y="18953"/>
                  <a:pt x="18953" y="0"/>
                  <a:pt x="42333" y="0"/>
                </a:cubicBezTo>
                <a:close/>
              </a:path>
            </a:pathLst>
          </a:custGeom>
          <a:solidFill>
            <a:srgbClr val="4C7E9A"/>
          </a:solidFill>
          <a:ln/>
        </p:spPr>
      </p:sp>
      <p:sp>
        <p:nvSpPr>
          <p:cNvPr id="20" name="Shape 17"/>
          <p:cNvSpPr/>
          <p:nvPr/>
        </p:nvSpPr>
        <p:spPr>
          <a:xfrm>
            <a:off x="635000" y="5799667"/>
            <a:ext cx="317500" cy="317500"/>
          </a:xfrm>
          <a:custGeom>
            <a:avLst/>
            <a:gdLst/>
            <a:ahLst/>
            <a:cxnLst/>
            <a:rect l="l" t="t" r="r" b="b"/>
            <a:pathLst>
              <a:path w="317500" h="317500">
                <a:moveTo>
                  <a:pt x="19844" y="19844"/>
                </a:moveTo>
                <a:cubicBezTo>
                  <a:pt x="30820" y="19844"/>
                  <a:pt x="39688" y="28711"/>
                  <a:pt x="39688" y="39688"/>
                </a:cubicBezTo>
                <a:lnTo>
                  <a:pt x="39688" y="248047"/>
                </a:lnTo>
                <a:cubicBezTo>
                  <a:pt x="39688" y="253504"/>
                  <a:pt x="44152" y="257969"/>
                  <a:pt x="49609" y="257969"/>
                </a:cubicBezTo>
                <a:lnTo>
                  <a:pt x="297656" y="257969"/>
                </a:lnTo>
                <a:cubicBezTo>
                  <a:pt x="308632" y="257969"/>
                  <a:pt x="317500" y="266836"/>
                  <a:pt x="317500" y="277813"/>
                </a:cubicBezTo>
                <a:cubicBezTo>
                  <a:pt x="317500" y="288789"/>
                  <a:pt x="308632" y="297656"/>
                  <a:pt x="297656" y="297656"/>
                </a:cubicBezTo>
                <a:lnTo>
                  <a:pt x="49609" y="297656"/>
                </a:lnTo>
                <a:cubicBezTo>
                  <a:pt x="22200" y="297656"/>
                  <a:pt x="0" y="275456"/>
                  <a:pt x="0" y="248047"/>
                </a:cubicBezTo>
                <a:lnTo>
                  <a:pt x="0" y="39688"/>
                </a:lnTo>
                <a:cubicBezTo>
                  <a:pt x="0" y="28711"/>
                  <a:pt x="8868" y="19844"/>
                  <a:pt x="19844" y="19844"/>
                </a:cubicBezTo>
                <a:close/>
                <a:moveTo>
                  <a:pt x="79375" y="59531"/>
                </a:moveTo>
                <a:cubicBezTo>
                  <a:pt x="79375" y="48555"/>
                  <a:pt x="88243" y="39688"/>
                  <a:pt x="99219" y="39688"/>
                </a:cubicBezTo>
                <a:lnTo>
                  <a:pt x="218281" y="39688"/>
                </a:lnTo>
                <a:cubicBezTo>
                  <a:pt x="229257" y="39688"/>
                  <a:pt x="238125" y="48555"/>
                  <a:pt x="238125" y="59531"/>
                </a:cubicBezTo>
                <a:cubicBezTo>
                  <a:pt x="238125" y="70507"/>
                  <a:pt x="229257" y="79375"/>
                  <a:pt x="218281" y="79375"/>
                </a:cubicBezTo>
                <a:lnTo>
                  <a:pt x="99219" y="79375"/>
                </a:lnTo>
                <a:cubicBezTo>
                  <a:pt x="88243" y="79375"/>
                  <a:pt x="79375" y="70507"/>
                  <a:pt x="79375" y="59531"/>
                </a:cubicBezTo>
                <a:close/>
                <a:moveTo>
                  <a:pt x="99219" y="109141"/>
                </a:moveTo>
                <a:lnTo>
                  <a:pt x="178594" y="109141"/>
                </a:lnTo>
                <a:cubicBezTo>
                  <a:pt x="189570" y="109141"/>
                  <a:pt x="198438" y="118008"/>
                  <a:pt x="198438" y="128984"/>
                </a:cubicBezTo>
                <a:cubicBezTo>
                  <a:pt x="198438" y="139960"/>
                  <a:pt x="189570" y="148828"/>
                  <a:pt x="178594" y="148828"/>
                </a:cubicBezTo>
                <a:lnTo>
                  <a:pt x="99219" y="148828"/>
                </a:lnTo>
                <a:cubicBezTo>
                  <a:pt x="88243" y="148828"/>
                  <a:pt x="79375" y="139960"/>
                  <a:pt x="79375" y="128984"/>
                </a:cubicBezTo>
                <a:cubicBezTo>
                  <a:pt x="79375" y="118008"/>
                  <a:pt x="88243" y="109141"/>
                  <a:pt x="99219" y="109141"/>
                </a:cubicBezTo>
                <a:close/>
                <a:moveTo>
                  <a:pt x="99219" y="178594"/>
                </a:moveTo>
                <a:lnTo>
                  <a:pt x="257969" y="178594"/>
                </a:lnTo>
                <a:cubicBezTo>
                  <a:pt x="268945" y="178594"/>
                  <a:pt x="277813" y="187461"/>
                  <a:pt x="277813" y="198438"/>
                </a:cubicBezTo>
                <a:cubicBezTo>
                  <a:pt x="277813" y="209414"/>
                  <a:pt x="268945" y="218281"/>
                  <a:pt x="257969" y="218281"/>
                </a:cubicBezTo>
                <a:lnTo>
                  <a:pt x="99219" y="218281"/>
                </a:lnTo>
                <a:cubicBezTo>
                  <a:pt x="88243" y="218281"/>
                  <a:pt x="79375" y="209414"/>
                  <a:pt x="79375" y="198438"/>
                </a:cubicBezTo>
                <a:cubicBezTo>
                  <a:pt x="79375" y="187461"/>
                  <a:pt x="88243" y="178594"/>
                  <a:pt x="99219" y="178594"/>
                </a:cubicBezTo>
                <a:close/>
              </a:path>
            </a:pathLst>
          </a:custGeom>
          <a:solidFill>
            <a:srgbClr val="4C7E9A"/>
          </a:solidFill>
          <a:ln/>
        </p:spPr>
      </p:sp>
      <p:sp>
        <p:nvSpPr>
          <p:cNvPr id="21" name="Text 18"/>
          <p:cNvSpPr/>
          <p:nvPr/>
        </p:nvSpPr>
        <p:spPr>
          <a:xfrm>
            <a:off x="1116542" y="5810250"/>
            <a:ext cx="952500"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性能突破</a:t>
            </a:r>
            <a:endParaRPr lang="en-US" sz="1600" dirty="0"/>
          </a:p>
        </p:txBody>
      </p:sp>
      <p:sp>
        <p:nvSpPr>
          <p:cNvPr id="22" name="Text 19"/>
          <p:cNvSpPr/>
          <p:nvPr/>
        </p:nvSpPr>
        <p:spPr>
          <a:xfrm>
            <a:off x="592667" y="6244167"/>
            <a:ext cx="4773083" cy="550333"/>
          </a:xfrm>
          <a:prstGeom prst="rect">
            <a:avLst/>
          </a:prstGeom>
          <a:noFill/>
          <a:ln/>
        </p:spPr>
        <p:txBody>
          <a:bodyPr wrap="square" lIns="0" tIns="0" rIns="0" bIns="0" rtlCol="0" anchor="ctr"/>
          <a:lstStyle/>
          <a:p>
            <a:pPr>
              <a:lnSpc>
                <a:spcPct val="140000"/>
              </a:lnSpc>
            </a:pPr>
            <a:r>
              <a:rPr lang="en-US" sz="1333" dirty="0">
                <a:solidFill>
                  <a:srgbClr val="7E9AA8"/>
                </a:solidFill>
                <a:latin typeface="MiSans" pitchFamily="34" charset="0"/>
                <a:ea typeface="MiSans" pitchFamily="34" charset="-122"/>
                <a:cs typeface="MiSans" pitchFamily="34" charset="-120"/>
              </a:rPr>
              <a:t>集成学习通过模型组合，能够突破单一模型的性能瓶颈，达到更高的预测准确性。</a:t>
            </a:r>
            <a:endParaRPr lang="en-US" sz="1600" dirty="0"/>
          </a:p>
        </p:txBody>
      </p:sp>
      <p:sp>
        <p:nvSpPr>
          <p:cNvPr id="23" name="Shape 20"/>
          <p:cNvSpPr/>
          <p:nvPr/>
        </p:nvSpPr>
        <p:spPr>
          <a:xfrm>
            <a:off x="632354" y="6910917"/>
            <a:ext cx="111125" cy="148167"/>
          </a:xfrm>
          <a:custGeom>
            <a:avLst/>
            <a:gdLst/>
            <a:ahLst/>
            <a:cxnLst/>
            <a:rect l="l" t="t" r="r" b="b"/>
            <a:pathLst>
              <a:path w="111125" h="148167">
                <a:moveTo>
                  <a:pt x="62103" y="5035"/>
                </a:moveTo>
                <a:cubicBezTo>
                  <a:pt x="58485" y="1418"/>
                  <a:pt x="52611" y="1418"/>
                  <a:pt x="48993" y="5035"/>
                </a:cubicBezTo>
                <a:lnTo>
                  <a:pt x="2691" y="51337"/>
                </a:lnTo>
                <a:cubicBezTo>
                  <a:pt x="-926" y="54955"/>
                  <a:pt x="-926" y="60829"/>
                  <a:pt x="2691" y="64447"/>
                </a:cubicBezTo>
                <a:cubicBezTo>
                  <a:pt x="6309" y="68064"/>
                  <a:pt x="12183" y="68064"/>
                  <a:pt x="15801" y="64447"/>
                </a:cubicBezTo>
                <a:lnTo>
                  <a:pt x="46302" y="33945"/>
                </a:lnTo>
                <a:lnTo>
                  <a:pt x="46302" y="141221"/>
                </a:lnTo>
                <a:cubicBezTo>
                  <a:pt x="46302" y="146344"/>
                  <a:pt x="50440" y="150482"/>
                  <a:pt x="55562" y="150482"/>
                </a:cubicBezTo>
                <a:cubicBezTo>
                  <a:pt x="60685" y="150482"/>
                  <a:pt x="64823" y="146344"/>
                  <a:pt x="64823" y="141221"/>
                </a:cubicBezTo>
                <a:lnTo>
                  <a:pt x="64823" y="33945"/>
                </a:lnTo>
                <a:lnTo>
                  <a:pt x="95324" y="64447"/>
                </a:lnTo>
                <a:cubicBezTo>
                  <a:pt x="98942" y="68064"/>
                  <a:pt x="104816" y="68064"/>
                  <a:pt x="108434" y="64447"/>
                </a:cubicBezTo>
                <a:cubicBezTo>
                  <a:pt x="112051" y="60829"/>
                  <a:pt x="112051" y="54955"/>
                  <a:pt x="108434" y="51337"/>
                </a:cubicBezTo>
                <a:lnTo>
                  <a:pt x="62132" y="5035"/>
                </a:lnTo>
                <a:close/>
              </a:path>
            </a:pathLst>
          </a:custGeom>
          <a:solidFill>
            <a:srgbClr val="4C7E9A"/>
          </a:solidFill>
          <a:ln/>
        </p:spPr>
      </p:sp>
      <p:sp>
        <p:nvSpPr>
          <p:cNvPr id="24" name="Text 21"/>
          <p:cNvSpPr/>
          <p:nvPr/>
        </p:nvSpPr>
        <p:spPr>
          <a:xfrm>
            <a:off x="818444" y="6879167"/>
            <a:ext cx="4536722"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准确率提升10-30%</a:t>
            </a:r>
            <a:endParaRPr lang="en-US" sz="1600" dirty="0"/>
          </a:p>
        </p:txBody>
      </p:sp>
      <p:sp>
        <p:nvSpPr>
          <p:cNvPr id="25" name="Shape 22"/>
          <p:cNvSpPr/>
          <p:nvPr/>
        </p:nvSpPr>
        <p:spPr>
          <a:xfrm>
            <a:off x="5616195" y="5609167"/>
            <a:ext cx="5027083" cy="1651000"/>
          </a:xfrm>
          <a:custGeom>
            <a:avLst/>
            <a:gdLst/>
            <a:ahLst/>
            <a:cxnLst/>
            <a:rect l="l" t="t" r="r" b="b"/>
            <a:pathLst>
              <a:path w="5027083" h="1651000">
                <a:moveTo>
                  <a:pt x="42333" y="0"/>
                </a:moveTo>
                <a:lnTo>
                  <a:pt x="4984750" y="0"/>
                </a:lnTo>
                <a:cubicBezTo>
                  <a:pt x="5008130" y="0"/>
                  <a:pt x="5027083" y="18953"/>
                  <a:pt x="5027083" y="42333"/>
                </a:cubicBezTo>
                <a:lnTo>
                  <a:pt x="5027083" y="1566337"/>
                </a:lnTo>
                <a:cubicBezTo>
                  <a:pt x="5027083" y="1613095"/>
                  <a:pt x="4989178" y="1651000"/>
                  <a:pt x="4942420" y="1651000"/>
                </a:cubicBezTo>
                <a:lnTo>
                  <a:pt x="84663" y="1651000"/>
                </a:lnTo>
                <a:cubicBezTo>
                  <a:pt x="37905" y="1651000"/>
                  <a:pt x="0" y="1613095"/>
                  <a:pt x="0" y="1566337"/>
                </a:cubicBezTo>
                <a:lnTo>
                  <a:pt x="0" y="42333"/>
                </a:lnTo>
                <a:cubicBezTo>
                  <a:pt x="0" y="18953"/>
                  <a:pt x="18953" y="0"/>
                  <a:pt x="42333" y="0"/>
                </a:cubicBezTo>
                <a:close/>
              </a:path>
            </a:pathLst>
          </a:custGeom>
          <a:solidFill>
            <a:srgbClr val="3A5E78">
              <a:alpha val="20000"/>
            </a:srgbClr>
          </a:solidFill>
          <a:ln/>
        </p:spPr>
      </p:sp>
      <p:sp>
        <p:nvSpPr>
          <p:cNvPr id="26" name="Shape 23"/>
          <p:cNvSpPr/>
          <p:nvPr/>
        </p:nvSpPr>
        <p:spPr>
          <a:xfrm>
            <a:off x="5616195" y="5609167"/>
            <a:ext cx="5027083" cy="42333"/>
          </a:xfrm>
          <a:custGeom>
            <a:avLst/>
            <a:gdLst/>
            <a:ahLst/>
            <a:cxnLst/>
            <a:rect l="l" t="t" r="r" b="b"/>
            <a:pathLst>
              <a:path w="5027083" h="42333">
                <a:moveTo>
                  <a:pt x="42333" y="0"/>
                </a:moveTo>
                <a:lnTo>
                  <a:pt x="4984750" y="0"/>
                </a:lnTo>
                <a:cubicBezTo>
                  <a:pt x="5008130" y="0"/>
                  <a:pt x="5027083" y="18953"/>
                  <a:pt x="5027083" y="42333"/>
                </a:cubicBezTo>
                <a:lnTo>
                  <a:pt x="5027083" y="42333"/>
                </a:lnTo>
                <a:lnTo>
                  <a:pt x="0" y="42333"/>
                </a:lnTo>
                <a:lnTo>
                  <a:pt x="0" y="42333"/>
                </a:lnTo>
                <a:cubicBezTo>
                  <a:pt x="0" y="18953"/>
                  <a:pt x="18953" y="0"/>
                  <a:pt x="42333" y="0"/>
                </a:cubicBezTo>
                <a:close/>
              </a:path>
            </a:pathLst>
          </a:custGeom>
          <a:solidFill>
            <a:srgbClr val="4C7E9A"/>
          </a:solidFill>
          <a:ln/>
        </p:spPr>
      </p:sp>
      <p:sp>
        <p:nvSpPr>
          <p:cNvPr id="27" name="Shape 24"/>
          <p:cNvSpPr/>
          <p:nvPr/>
        </p:nvSpPr>
        <p:spPr>
          <a:xfrm>
            <a:off x="5827861" y="5799667"/>
            <a:ext cx="317500" cy="317500"/>
          </a:xfrm>
          <a:custGeom>
            <a:avLst/>
            <a:gdLst/>
            <a:ahLst/>
            <a:cxnLst/>
            <a:rect l="l" t="t" r="r" b="b"/>
            <a:pathLst>
              <a:path w="317500" h="317500">
                <a:moveTo>
                  <a:pt x="158750" y="0"/>
                </a:moveTo>
                <a:cubicBezTo>
                  <a:pt x="161603" y="0"/>
                  <a:pt x="164455" y="620"/>
                  <a:pt x="167060" y="1798"/>
                </a:cubicBezTo>
                <a:lnTo>
                  <a:pt x="283890" y="51346"/>
                </a:lnTo>
                <a:cubicBezTo>
                  <a:pt x="297532" y="57113"/>
                  <a:pt x="307702" y="70569"/>
                  <a:pt x="307640" y="86816"/>
                </a:cubicBezTo>
                <a:cubicBezTo>
                  <a:pt x="307330" y="148332"/>
                  <a:pt x="282029" y="260883"/>
                  <a:pt x="175183" y="312043"/>
                </a:cubicBezTo>
                <a:cubicBezTo>
                  <a:pt x="164827" y="317004"/>
                  <a:pt x="152797" y="317004"/>
                  <a:pt x="142441" y="312043"/>
                </a:cubicBezTo>
                <a:cubicBezTo>
                  <a:pt x="35533" y="260883"/>
                  <a:pt x="10294" y="148332"/>
                  <a:pt x="9984" y="86816"/>
                </a:cubicBezTo>
                <a:cubicBezTo>
                  <a:pt x="9922" y="70569"/>
                  <a:pt x="20092" y="57113"/>
                  <a:pt x="33734" y="51346"/>
                </a:cubicBezTo>
                <a:lnTo>
                  <a:pt x="150502" y="1798"/>
                </a:lnTo>
                <a:cubicBezTo>
                  <a:pt x="153107" y="620"/>
                  <a:pt x="155897" y="0"/>
                  <a:pt x="158750" y="0"/>
                </a:cubicBezTo>
                <a:close/>
                <a:moveTo>
                  <a:pt x="158750" y="41424"/>
                </a:moveTo>
                <a:lnTo>
                  <a:pt x="158750" y="275890"/>
                </a:lnTo>
                <a:cubicBezTo>
                  <a:pt x="244326" y="234466"/>
                  <a:pt x="267333" y="142689"/>
                  <a:pt x="267891" y="87747"/>
                </a:cubicBezTo>
                <a:lnTo>
                  <a:pt x="158750" y="41486"/>
                </a:lnTo>
                <a:lnTo>
                  <a:pt x="158750" y="41486"/>
                </a:lnTo>
                <a:close/>
              </a:path>
            </a:pathLst>
          </a:custGeom>
          <a:solidFill>
            <a:srgbClr val="4C7E9A"/>
          </a:solidFill>
          <a:ln/>
        </p:spPr>
      </p:sp>
      <p:sp>
        <p:nvSpPr>
          <p:cNvPr id="28" name="Text 25"/>
          <p:cNvSpPr/>
          <p:nvPr/>
        </p:nvSpPr>
        <p:spPr>
          <a:xfrm>
            <a:off x="6309403" y="5810250"/>
            <a:ext cx="1164167"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鲁棒性增强</a:t>
            </a:r>
            <a:endParaRPr lang="en-US" sz="1600" dirty="0"/>
          </a:p>
        </p:txBody>
      </p:sp>
      <p:sp>
        <p:nvSpPr>
          <p:cNvPr id="29" name="Text 26"/>
          <p:cNvSpPr/>
          <p:nvPr/>
        </p:nvSpPr>
        <p:spPr>
          <a:xfrm>
            <a:off x="5785528" y="6244167"/>
            <a:ext cx="4773083" cy="550333"/>
          </a:xfrm>
          <a:prstGeom prst="rect">
            <a:avLst/>
          </a:prstGeom>
          <a:noFill/>
          <a:ln/>
        </p:spPr>
        <p:txBody>
          <a:bodyPr wrap="square" lIns="0" tIns="0" rIns="0" bIns="0" rtlCol="0" anchor="ctr"/>
          <a:lstStyle/>
          <a:p>
            <a:pPr>
              <a:lnSpc>
                <a:spcPct val="140000"/>
              </a:lnSpc>
            </a:pPr>
            <a:r>
              <a:rPr lang="en-US" sz="1333" dirty="0">
                <a:solidFill>
                  <a:srgbClr val="7E9AA8"/>
                </a:solidFill>
                <a:latin typeface="MiSans" pitchFamily="34" charset="0"/>
                <a:ea typeface="MiSans" pitchFamily="34" charset="-122"/>
                <a:cs typeface="MiSans" pitchFamily="34" charset="-120"/>
              </a:rPr>
              <a:t>多个模型的预测结果相互补充，能够有效降低数据噪声和异常值对预测结果的影响。</a:t>
            </a:r>
            <a:endParaRPr lang="en-US" sz="1600" dirty="0"/>
          </a:p>
        </p:txBody>
      </p:sp>
      <p:sp>
        <p:nvSpPr>
          <p:cNvPr id="30" name="Shape 27"/>
          <p:cNvSpPr/>
          <p:nvPr/>
        </p:nvSpPr>
        <p:spPr>
          <a:xfrm>
            <a:off x="5806695" y="6910917"/>
            <a:ext cx="148167" cy="148167"/>
          </a:xfrm>
          <a:custGeom>
            <a:avLst/>
            <a:gdLst/>
            <a:ahLst/>
            <a:cxnLst/>
            <a:rect l="l" t="t" r="r" b="b"/>
            <a:pathLst>
              <a:path w="148167" h="148167">
                <a:moveTo>
                  <a:pt x="74083" y="148167"/>
                </a:moveTo>
                <a:cubicBezTo>
                  <a:pt x="114971" y="148167"/>
                  <a:pt x="148167" y="114971"/>
                  <a:pt x="148167" y="74083"/>
                </a:cubicBezTo>
                <a:cubicBezTo>
                  <a:pt x="148167" y="33196"/>
                  <a:pt x="114971" y="0"/>
                  <a:pt x="74083" y="0"/>
                </a:cubicBezTo>
                <a:cubicBezTo>
                  <a:pt x="33196" y="0"/>
                  <a:pt x="0" y="33196"/>
                  <a:pt x="0" y="74083"/>
                </a:cubicBezTo>
                <a:cubicBezTo>
                  <a:pt x="0" y="114971"/>
                  <a:pt x="33196" y="148167"/>
                  <a:pt x="74083" y="148167"/>
                </a:cubicBezTo>
                <a:close/>
                <a:moveTo>
                  <a:pt x="98508" y="61553"/>
                </a:moveTo>
                <a:lnTo>
                  <a:pt x="75357" y="98594"/>
                </a:lnTo>
                <a:cubicBezTo>
                  <a:pt x="74141" y="100533"/>
                  <a:pt x="72058" y="101749"/>
                  <a:pt x="69771" y="101865"/>
                </a:cubicBezTo>
                <a:cubicBezTo>
                  <a:pt x="67485" y="101980"/>
                  <a:pt x="65286" y="100939"/>
                  <a:pt x="63926" y="99086"/>
                </a:cubicBezTo>
                <a:lnTo>
                  <a:pt x="50035" y="80566"/>
                </a:lnTo>
                <a:cubicBezTo>
                  <a:pt x="47720" y="77498"/>
                  <a:pt x="48357" y="73157"/>
                  <a:pt x="51424" y="70842"/>
                </a:cubicBezTo>
                <a:cubicBezTo>
                  <a:pt x="54492" y="68527"/>
                  <a:pt x="58833" y="69164"/>
                  <a:pt x="61148" y="72231"/>
                </a:cubicBezTo>
                <a:lnTo>
                  <a:pt x="68961" y="82649"/>
                </a:lnTo>
                <a:lnTo>
                  <a:pt x="86730" y="54202"/>
                </a:lnTo>
                <a:cubicBezTo>
                  <a:pt x="88755" y="50961"/>
                  <a:pt x="93038" y="49948"/>
                  <a:pt x="96308" y="52003"/>
                </a:cubicBezTo>
                <a:cubicBezTo>
                  <a:pt x="99578" y="54058"/>
                  <a:pt x="100562" y="58312"/>
                  <a:pt x="98508" y="61582"/>
                </a:cubicBezTo>
                <a:close/>
              </a:path>
            </a:pathLst>
          </a:custGeom>
          <a:solidFill>
            <a:srgbClr val="4C7E9A"/>
          </a:solidFill>
          <a:ln/>
        </p:spPr>
      </p:sp>
      <p:sp>
        <p:nvSpPr>
          <p:cNvPr id="31" name="Text 28"/>
          <p:cNvSpPr/>
          <p:nvPr/>
        </p:nvSpPr>
        <p:spPr>
          <a:xfrm>
            <a:off x="6011306" y="6879167"/>
            <a:ext cx="4536722"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对噪声不敏感</a:t>
            </a:r>
            <a:endParaRPr lang="en-US" sz="1600" dirty="0"/>
          </a:p>
        </p:txBody>
      </p:sp>
      <p:sp>
        <p:nvSpPr>
          <p:cNvPr id="32" name="Shape 29"/>
          <p:cNvSpPr/>
          <p:nvPr/>
        </p:nvSpPr>
        <p:spPr>
          <a:xfrm>
            <a:off x="10809056" y="5609167"/>
            <a:ext cx="5027083" cy="1651000"/>
          </a:xfrm>
          <a:custGeom>
            <a:avLst/>
            <a:gdLst/>
            <a:ahLst/>
            <a:cxnLst/>
            <a:rect l="l" t="t" r="r" b="b"/>
            <a:pathLst>
              <a:path w="5027083" h="1651000">
                <a:moveTo>
                  <a:pt x="42333" y="0"/>
                </a:moveTo>
                <a:lnTo>
                  <a:pt x="4984750" y="0"/>
                </a:lnTo>
                <a:cubicBezTo>
                  <a:pt x="5008130" y="0"/>
                  <a:pt x="5027083" y="18953"/>
                  <a:pt x="5027083" y="42333"/>
                </a:cubicBezTo>
                <a:lnTo>
                  <a:pt x="5027083" y="1566337"/>
                </a:lnTo>
                <a:cubicBezTo>
                  <a:pt x="5027083" y="1613095"/>
                  <a:pt x="4989178" y="1651000"/>
                  <a:pt x="4942420" y="1651000"/>
                </a:cubicBezTo>
                <a:lnTo>
                  <a:pt x="84663" y="1651000"/>
                </a:lnTo>
                <a:cubicBezTo>
                  <a:pt x="37905" y="1651000"/>
                  <a:pt x="0" y="1613095"/>
                  <a:pt x="0" y="1566337"/>
                </a:cubicBezTo>
                <a:lnTo>
                  <a:pt x="0" y="42333"/>
                </a:lnTo>
                <a:cubicBezTo>
                  <a:pt x="0" y="18953"/>
                  <a:pt x="18953" y="0"/>
                  <a:pt x="42333" y="0"/>
                </a:cubicBezTo>
                <a:close/>
              </a:path>
            </a:pathLst>
          </a:custGeom>
          <a:solidFill>
            <a:srgbClr val="3A5E78">
              <a:alpha val="20000"/>
            </a:srgbClr>
          </a:solidFill>
          <a:ln/>
        </p:spPr>
      </p:sp>
      <p:sp>
        <p:nvSpPr>
          <p:cNvPr id="33" name="Shape 30"/>
          <p:cNvSpPr/>
          <p:nvPr/>
        </p:nvSpPr>
        <p:spPr>
          <a:xfrm>
            <a:off x="10809056" y="5609167"/>
            <a:ext cx="5027083" cy="42333"/>
          </a:xfrm>
          <a:custGeom>
            <a:avLst/>
            <a:gdLst/>
            <a:ahLst/>
            <a:cxnLst/>
            <a:rect l="l" t="t" r="r" b="b"/>
            <a:pathLst>
              <a:path w="5027083" h="42333">
                <a:moveTo>
                  <a:pt x="42333" y="0"/>
                </a:moveTo>
                <a:lnTo>
                  <a:pt x="4984750" y="0"/>
                </a:lnTo>
                <a:cubicBezTo>
                  <a:pt x="5008130" y="0"/>
                  <a:pt x="5027083" y="18953"/>
                  <a:pt x="5027083" y="42333"/>
                </a:cubicBezTo>
                <a:lnTo>
                  <a:pt x="5027083" y="42333"/>
                </a:lnTo>
                <a:lnTo>
                  <a:pt x="0" y="42333"/>
                </a:lnTo>
                <a:lnTo>
                  <a:pt x="0" y="42333"/>
                </a:lnTo>
                <a:cubicBezTo>
                  <a:pt x="0" y="18953"/>
                  <a:pt x="18953" y="0"/>
                  <a:pt x="42333" y="0"/>
                </a:cubicBezTo>
                <a:close/>
              </a:path>
            </a:pathLst>
          </a:custGeom>
          <a:solidFill>
            <a:srgbClr val="4C7E9A"/>
          </a:solidFill>
          <a:ln/>
        </p:spPr>
      </p:sp>
      <p:sp>
        <p:nvSpPr>
          <p:cNvPr id="34" name="Shape 31"/>
          <p:cNvSpPr/>
          <p:nvPr/>
        </p:nvSpPr>
        <p:spPr>
          <a:xfrm>
            <a:off x="11020723" y="5799667"/>
            <a:ext cx="317500" cy="317500"/>
          </a:xfrm>
          <a:custGeom>
            <a:avLst/>
            <a:gdLst/>
            <a:ahLst/>
            <a:cxnLst/>
            <a:rect l="l" t="t" r="r" b="b"/>
            <a:pathLst>
              <a:path w="317500" h="317500">
                <a:moveTo>
                  <a:pt x="218219" y="173633"/>
                </a:moveTo>
                <a:lnTo>
                  <a:pt x="99839" y="173633"/>
                </a:lnTo>
                <a:cubicBezTo>
                  <a:pt x="101637" y="213630"/>
                  <a:pt x="110505" y="250465"/>
                  <a:pt x="123093" y="277440"/>
                </a:cubicBezTo>
                <a:cubicBezTo>
                  <a:pt x="130163" y="292633"/>
                  <a:pt x="137790" y="303361"/>
                  <a:pt x="144859" y="309935"/>
                </a:cubicBezTo>
                <a:cubicBezTo>
                  <a:pt x="151805" y="316446"/>
                  <a:pt x="156580" y="317500"/>
                  <a:pt x="159060" y="317500"/>
                </a:cubicBezTo>
                <a:cubicBezTo>
                  <a:pt x="161541" y="317500"/>
                  <a:pt x="166315" y="316446"/>
                  <a:pt x="173261" y="309935"/>
                </a:cubicBezTo>
                <a:cubicBezTo>
                  <a:pt x="180330" y="303361"/>
                  <a:pt x="187958" y="292571"/>
                  <a:pt x="195027" y="277440"/>
                </a:cubicBezTo>
                <a:cubicBezTo>
                  <a:pt x="207615" y="250465"/>
                  <a:pt x="216483" y="213630"/>
                  <a:pt x="218281" y="173633"/>
                </a:cubicBezTo>
                <a:close/>
                <a:moveTo>
                  <a:pt x="99777" y="143867"/>
                </a:moveTo>
                <a:lnTo>
                  <a:pt x="218157" y="143867"/>
                </a:lnTo>
                <a:cubicBezTo>
                  <a:pt x="216421" y="103870"/>
                  <a:pt x="207553" y="67035"/>
                  <a:pt x="194965" y="40060"/>
                </a:cubicBezTo>
                <a:cubicBezTo>
                  <a:pt x="187896" y="24929"/>
                  <a:pt x="180268" y="14139"/>
                  <a:pt x="173199" y="7565"/>
                </a:cubicBezTo>
                <a:cubicBezTo>
                  <a:pt x="166253" y="1054"/>
                  <a:pt x="161479" y="0"/>
                  <a:pt x="158998" y="0"/>
                </a:cubicBezTo>
                <a:cubicBezTo>
                  <a:pt x="156518" y="0"/>
                  <a:pt x="151743" y="1054"/>
                  <a:pt x="144797" y="7565"/>
                </a:cubicBezTo>
                <a:cubicBezTo>
                  <a:pt x="137728" y="14139"/>
                  <a:pt x="130101" y="24929"/>
                  <a:pt x="123031" y="40060"/>
                </a:cubicBezTo>
                <a:cubicBezTo>
                  <a:pt x="110443" y="67035"/>
                  <a:pt x="101575" y="103870"/>
                  <a:pt x="99777" y="143867"/>
                </a:cubicBezTo>
                <a:close/>
                <a:moveTo>
                  <a:pt x="70011" y="143867"/>
                </a:moveTo>
                <a:cubicBezTo>
                  <a:pt x="72182" y="90785"/>
                  <a:pt x="85886" y="41486"/>
                  <a:pt x="105916" y="9116"/>
                </a:cubicBezTo>
                <a:cubicBezTo>
                  <a:pt x="48803" y="29332"/>
                  <a:pt x="6759" y="81359"/>
                  <a:pt x="930" y="143867"/>
                </a:cubicBezTo>
                <a:lnTo>
                  <a:pt x="70011" y="143867"/>
                </a:lnTo>
                <a:close/>
                <a:moveTo>
                  <a:pt x="930" y="173633"/>
                </a:moveTo>
                <a:cubicBezTo>
                  <a:pt x="6759" y="236141"/>
                  <a:pt x="48803" y="288168"/>
                  <a:pt x="105916" y="308384"/>
                </a:cubicBezTo>
                <a:cubicBezTo>
                  <a:pt x="85886" y="276014"/>
                  <a:pt x="72182" y="226715"/>
                  <a:pt x="70011" y="173633"/>
                </a:cubicBezTo>
                <a:lnTo>
                  <a:pt x="930" y="173633"/>
                </a:lnTo>
                <a:close/>
                <a:moveTo>
                  <a:pt x="247985" y="173633"/>
                </a:moveTo>
                <a:cubicBezTo>
                  <a:pt x="245814" y="226715"/>
                  <a:pt x="232110" y="276014"/>
                  <a:pt x="212080" y="308384"/>
                </a:cubicBezTo>
                <a:cubicBezTo>
                  <a:pt x="269193" y="288106"/>
                  <a:pt x="311237" y="236141"/>
                  <a:pt x="317066" y="173633"/>
                </a:cubicBezTo>
                <a:lnTo>
                  <a:pt x="247985" y="173633"/>
                </a:lnTo>
                <a:close/>
                <a:moveTo>
                  <a:pt x="317066" y="143867"/>
                </a:moveTo>
                <a:cubicBezTo>
                  <a:pt x="311237" y="81359"/>
                  <a:pt x="269193" y="29332"/>
                  <a:pt x="212080" y="9116"/>
                </a:cubicBezTo>
                <a:cubicBezTo>
                  <a:pt x="232110" y="41486"/>
                  <a:pt x="245814" y="90785"/>
                  <a:pt x="247985" y="143867"/>
                </a:cubicBezTo>
                <a:lnTo>
                  <a:pt x="317066" y="143867"/>
                </a:lnTo>
                <a:close/>
              </a:path>
            </a:pathLst>
          </a:custGeom>
          <a:solidFill>
            <a:srgbClr val="4C7E9A"/>
          </a:solidFill>
          <a:ln/>
        </p:spPr>
      </p:sp>
      <p:sp>
        <p:nvSpPr>
          <p:cNvPr id="35" name="Text 32"/>
          <p:cNvSpPr/>
          <p:nvPr/>
        </p:nvSpPr>
        <p:spPr>
          <a:xfrm>
            <a:off x="11502264" y="5810250"/>
            <a:ext cx="1375833"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泛化能力提升</a:t>
            </a:r>
            <a:endParaRPr lang="en-US" sz="1600" dirty="0"/>
          </a:p>
        </p:txBody>
      </p:sp>
      <p:sp>
        <p:nvSpPr>
          <p:cNvPr id="36" name="Text 33"/>
          <p:cNvSpPr/>
          <p:nvPr/>
        </p:nvSpPr>
        <p:spPr>
          <a:xfrm>
            <a:off x="10978389" y="6244167"/>
            <a:ext cx="4773083" cy="550333"/>
          </a:xfrm>
          <a:prstGeom prst="rect">
            <a:avLst/>
          </a:prstGeom>
          <a:noFill/>
          <a:ln/>
        </p:spPr>
        <p:txBody>
          <a:bodyPr wrap="square" lIns="0" tIns="0" rIns="0" bIns="0" rtlCol="0" anchor="ctr"/>
          <a:lstStyle/>
          <a:p>
            <a:pPr>
              <a:lnSpc>
                <a:spcPct val="140000"/>
              </a:lnSpc>
            </a:pPr>
            <a:r>
              <a:rPr lang="en-US" sz="1333" dirty="0">
                <a:solidFill>
                  <a:srgbClr val="7E9AA8"/>
                </a:solidFill>
                <a:latin typeface="MiSans" pitchFamily="34" charset="0"/>
                <a:ea typeface="MiSans" pitchFamily="34" charset="-122"/>
                <a:cs typeface="MiSans" pitchFamily="34" charset="-120"/>
              </a:rPr>
              <a:t>通过多样化的模型组合，能够更全面地学习数据的内在规律，在新数据上表现更好。</a:t>
            </a:r>
            <a:endParaRPr lang="en-US" sz="1600" dirty="0"/>
          </a:p>
        </p:txBody>
      </p:sp>
      <p:sp>
        <p:nvSpPr>
          <p:cNvPr id="37" name="Shape 34"/>
          <p:cNvSpPr/>
          <p:nvPr/>
        </p:nvSpPr>
        <p:spPr>
          <a:xfrm>
            <a:off x="11008816" y="6910917"/>
            <a:ext cx="129646" cy="148167"/>
          </a:xfrm>
          <a:custGeom>
            <a:avLst/>
            <a:gdLst/>
            <a:ahLst/>
            <a:cxnLst/>
            <a:rect l="l" t="t" r="r" b="b"/>
            <a:pathLst>
              <a:path w="129646" h="148167">
                <a:moveTo>
                  <a:pt x="9260" y="9260"/>
                </a:moveTo>
                <a:cubicBezTo>
                  <a:pt x="4138" y="9260"/>
                  <a:pt x="0" y="13399"/>
                  <a:pt x="0" y="18521"/>
                </a:cubicBezTo>
                <a:lnTo>
                  <a:pt x="0" y="46302"/>
                </a:lnTo>
                <a:cubicBezTo>
                  <a:pt x="0" y="51424"/>
                  <a:pt x="4138" y="55562"/>
                  <a:pt x="9260" y="55562"/>
                </a:cubicBezTo>
                <a:cubicBezTo>
                  <a:pt x="14383" y="55562"/>
                  <a:pt x="18521" y="51424"/>
                  <a:pt x="18521" y="46302"/>
                </a:cubicBezTo>
                <a:lnTo>
                  <a:pt x="18521" y="27781"/>
                </a:lnTo>
                <a:lnTo>
                  <a:pt x="37042" y="27781"/>
                </a:lnTo>
                <a:cubicBezTo>
                  <a:pt x="42164" y="27781"/>
                  <a:pt x="46302" y="23643"/>
                  <a:pt x="46302" y="18521"/>
                </a:cubicBezTo>
                <a:cubicBezTo>
                  <a:pt x="46302" y="13399"/>
                  <a:pt x="42164" y="9260"/>
                  <a:pt x="37042" y="9260"/>
                </a:cubicBezTo>
                <a:lnTo>
                  <a:pt x="9260" y="9260"/>
                </a:lnTo>
                <a:close/>
                <a:moveTo>
                  <a:pt x="18521" y="101865"/>
                </a:moveTo>
                <a:cubicBezTo>
                  <a:pt x="18521" y="96742"/>
                  <a:pt x="14383" y="92604"/>
                  <a:pt x="9260" y="92604"/>
                </a:cubicBezTo>
                <a:cubicBezTo>
                  <a:pt x="4138" y="92604"/>
                  <a:pt x="0" y="96742"/>
                  <a:pt x="0" y="101865"/>
                </a:cubicBezTo>
                <a:lnTo>
                  <a:pt x="0" y="129646"/>
                </a:lnTo>
                <a:cubicBezTo>
                  <a:pt x="0" y="134768"/>
                  <a:pt x="4138" y="138906"/>
                  <a:pt x="9260" y="138906"/>
                </a:cubicBezTo>
                <a:lnTo>
                  <a:pt x="37042" y="138906"/>
                </a:lnTo>
                <a:cubicBezTo>
                  <a:pt x="42164" y="138906"/>
                  <a:pt x="46302" y="134768"/>
                  <a:pt x="46302" y="129646"/>
                </a:cubicBezTo>
                <a:cubicBezTo>
                  <a:pt x="46302" y="124524"/>
                  <a:pt x="42164" y="120385"/>
                  <a:pt x="37042" y="120385"/>
                </a:cubicBezTo>
                <a:lnTo>
                  <a:pt x="18521" y="120385"/>
                </a:lnTo>
                <a:lnTo>
                  <a:pt x="18521" y="101865"/>
                </a:lnTo>
                <a:close/>
                <a:moveTo>
                  <a:pt x="92604" y="9260"/>
                </a:moveTo>
                <a:cubicBezTo>
                  <a:pt x="87482" y="9260"/>
                  <a:pt x="83344" y="13399"/>
                  <a:pt x="83344" y="18521"/>
                </a:cubicBezTo>
                <a:cubicBezTo>
                  <a:pt x="83344" y="23643"/>
                  <a:pt x="87482" y="27781"/>
                  <a:pt x="92604" y="27781"/>
                </a:cubicBezTo>
                <a:lnTo>
                  <a:pt x="111125" y="27781"/>
                </a:lnTo>
                <a:lnTo>
                  <a:pt x="111125" y="46302"/>
                </a:lnTo>
                <a:cubicBezTo>
                  <a:pt x="111125" y="51424"/>
                  <a:pt x="115263" y="55562"/>
                  <a:pt x="120385" y="55562"/>
                </a:cubicBezTo>
                <a:cubicBezTo>
                  <a:pt x="125508" y="55562"/>
                  <a:pt x="129646" y="51424"/>
                  <a:pt x="129646" y="46302"/>
                </a:cubicBezTo>
                <a:lnTo>
                  <a:pt x="129646" y="18521"/>
                </a:lnTo>
                <a:cubicBezTo>
                  <a:pt x="129646" y="13399"/>
                  <a:pt x="125508" y="9260"/>
                  <a:pt x="120385" y="9260"/>
                </a:cubicBezTo>
                <a:lnTo>
                  <a:pt x="92604" y="9260"/>
                </a:lnTo>
                <a:close/>
                <a:moveTo>
                  <a:pt x="129646" y="101865"/>
                </a:moveTo>
                <a:cubicBezTo>
                  <a:pt x="129646" y="96742"/>
                  <a:pt x="125508" y="92604"/>
                  <a:pt x="120385" y="92604"/>
                </a:cubicBezTo>
                <a:cubicBezTo>
                  <a:pt x="115263" y="92604"/>
                  <a:pt x="111125" y="96742"/>
                  <a:pt x="111125" y="101865"/>
                </a:cubicBezTo>
                <a:lnTo>
                  <a:pt x="111125" y="120385"/>
                </a:lnTo>
                <a:lnTo>
                  <a:pt x="92604" y="120385"/>
                </a:lnTo>
                <a:cubicBezTo>
                  <a:pt x="87482" y="120385"/>
                  <a:pt x="83344" y="124524"/>
                  <a:pt x="83344" y="129646"/>
                </a:cubicBezTo>
                <a:cubicBezTo>
                  <a:pt x="83344" y="134768"/>
                  <a:pt x="87482" y="138906"/>
                  <a:pt x="92604" y="138906"/>
                </a:cubicBezTo>
                <a:lnTo>
                  <a:pt x="120385" y="138906"/>
                </a:lnTo>
                <a:cubicBezTo>
                  <a:pt x="125508" y="138906"/>
                  <a:pt x="129646" y="134768"/>
                  <a:pt x="129646" y="129646"/>
                </a:cubicBezTo>
                <a:lnTo>
                  <a:pt x="129646" y="101865"/>
                </a:lnTo>
                <a:close/>
              </a:path>
            </a:pathLst>
          </a:custGeom>
          <a:solidFill>
            <a:srgbClr val="4C7E9A"/>
          </a:solidFill>
          <a:ln/>
        </p:spPr>
      </p:sp>
      <p:sp>
        <p:nvSpPr>
          <p:cNvPr id="38" name="Text 35"/>
          <p:cNvSpPr/>
          <p:nvPr/>
        </p:nvSpPr>
        <p:spPr>
          <a:xfrm>
            <a:off x="11204167" y="6879167"/>
            <a:ext cx="4536722"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更强的适应能力</a:t>
            </a:r>
            <a:endParaRPr lang="en-US" sz="1600" dirty="0"/>
          </a:p>
        </p:txBody>
      </p:sp>
      <p:sp>
        <p:nvSpPr>
          <p:cNvPr id="39" name="Shape 36"/>
          <p:cNvSpPr/>
          <p:nvPr/>
        </p:nvSpPr>
        <p:spPr>
          <a:xfrm>
            <a:off x="428625" y="7434792"/>
            <a:ext cx="15398750" cy="1280583"/>
          </a:xfrm>
          <a:custGeom>
            <a:avLst/>
            <a:gdLst/>
            <a:ahLst/>
            <a:cxnLst/>
            <a:rect l="l" t="t" r="r" b="b"/>
            <a:pathLst>
              <a:path w="15398750" h="1280583">
                <a:moveTo>
                  <a:pt x="84672" y="0"/>
                </a:moveTo>
                <a:lnTo>
                  <a:pt x="15314078" y="0"/>
                </a:lnTo>
                <a:cubicBezTo>
                  <a:pt x="15360841" y="0"/>
                  <a:pt x="15398750" y="37909"/>
                  <a:pt x="15398750" y="84672"/>
                </a:cubicBezTo>
                <a:lnTo>
                  <a:pt x="15398750" y="1195911"/>
                </a:lnTo>
                <a:cubicBezTo>
                  <a:pt x="15398750" y="1242674"/>
                  <a:pt x="15360841" y="1280583"/>
                  <a:pt x="15314078" y="1280583"/>
                </a:cubicBezTo>
                <a:lnTo>
                  <a:pt x="84672" y="1280583"/>
                </a:lnTo>
                <a:cubicBezTo>
                  <a:pt x="37909" y="1280583"/>
                  <a:pt x="0" y="1242674"/>
                  <a:pt x="0" y="1195911"/>
                </a:cubicBezTo>
                <a:lnTo>
                  <a:pt x="0" y="84672"/>
                </a:lnTo>
                <a:cubicBezTo>
                  <a:pt x="0" y="37940"/>
                  <a:pt x="37940" y="0"/>
                  <a:pt x="84672" y="0"/>
                </a:cubicBezTo>
                <a:close/>
              </a:path>
            </a:pathLst>
          </a:custGeom>
          <a:solidFill>
            <a:srgbClr val="4C7E9A">
              <a:alpha val="10196"/>
            </a:srgbClr>
          </a:solidFill>
          <a:ln w="12700">
            <a:solidFill>
              <a:srgbClr val="4C7E9A">
                <a:alpha val="30196"/>
              </a:srgbClr>
            </a:solidFill>
            <a:prstDash val="solid"/>
          </a:ln>
        </p:spPr>
      </p:sp>
      <p:sp>
        <p:nvSpPr>
          <p:cNvPr id="40" name="Shape 37"/>
          <p:cNvSpPr/>
          <p:nvPr/>
        </p:nvSpPr>
        <p:spPr>
          <a:xfrm>
            <a:off x="645583" y="7916333"/>
            <a:ext cx="317500" cy="317500"/>
          </a:xfrm>
          <a:custGeom>
            <a:avLst/>
            <a:gdLst/>
            <a:ahLst/>
            <a:cxnLst/>
            <a:rect l="l" t="t" r="r" b="b"/>
            <a:pathLst>
              <a:path w="317500" h="317500">
                <a:moveTo>
                  <a:pt x="89483" y="0"/>
                </a:moveTo>
                <a:lnTo>
                  <a:pt x="228389" y="0"/>
                </a:lnTo>
                <a:cubicBezTo>
                  <a:pt x="244822" y="0"/>
                  <a:pt x="258217" y="13519"/>
                  <a:pt x="257597" y="29890"/>
                </a:cubicBezTo>
                <a:cubicBezTo>
                  <a:pt x="257473" y="33176"/>
                  <a:pt x="257349" y="36463"/>
                  <a:pt x="257163" y="39688"/>
                </a:cubicBezTo>
                <a:lnTo>
                  <a:pt x="287920" y="39688"/>
                </a:lnTo>
                <a:cubicBezTo>
                  <a:pt x="304105" y="39688"/>
                  <a:pt x="318368" y="53082"/>
                  <a:pt x="317128" y="70569"/>
                </a:cubicBezTo>
                <a:cubicBezTo>
                  <a:pt x="312477" y="134875"/>
                  <a:pt x="279611" y="170222"/>
                  <a:pt x="243954" y="188702"/>
                </a:cubicBezTo>
                <a:cubicBezTo>
                  <a:pt x="234156" y="193787"/>
                  <a:pt x="224172" y="197569"/>
                  <a:pt x="214685" y="200360"/>
                </a:cubicBezTo>
                <a:cubicBezTo>
                  <a:pt x="202158" y="218095"/>
                  <a:pt x="189136" y="227459"/>
                  <a:pt x="178780" y="232482"/>
                </a:cubicBezTo>
                <a:lnTo>
                  <a:pt x="178780" y="277813"/>
                </a:lnTo>
                <a:lnTo>
                  <a:pt x="218467" y="277813"/>
                </a:lnTo>
                <a:cubicBezTo>
                  <a:pt x="229443" y="277813"/>
                  <a:pt x="238311" y="286680"/>
                  <a:pt x="238311" y="297656"/>
                </a:cubicBezTo>
                <a:cubicBezTo>
                  <a:pt x="238311" y="308632"/>
                  <a:pt x="229443" y="317500"/>
                  <a:pt x="218467" y="317500"/>
                </a:cubicBezTo>
                <a:lnTo>
                  <a:pt x="99405" y="317500"/>
                </a:lnTo>
                <a:cubicBezTo>
                  <a:pt x="88429" y="317500"/>
                  <a:pt x="79561" y="308632"/>
                  <a:pt x="79561" y="297656"/>
                </a:cubicBezTo>
                <a:cubicBezTo>
                  <a:pt x="79561" y="286680"/>
                  <a:pt x="88429" y="277813"/>
                  <a:pt x="99405" y="277813"/>
                </a:cubicBezTo>
                <a:lnTo>
                  <a:pt x="139092" y="277813"/>
                </a:lnTo>
                <a:lnTo>
                  <a:pt x="139092" y="232482"/>
                </a:lnTo>
                <a:cubicBezTo>
                  <a:pt x="129170" y="227707"/>
                  <a:pt x="116830" y="218839"/>
                  <a:pt x="104800" y="202530"/>
                </a:cubicBezTo>
                <a:cubicBezTo>
                  <a:pt x="93390" y="199554"/>
                  <a:pt x="80987" y="195027"/>
                  <a:pt x="68895" y="188206"/>
                </a:cubicBezTo>
                <a:cubicBezTo>
                  <a:pt x="35347" y="169416"/>
                  <a:pt x="5085" y="134007"/>
                  <a:pt x="744" y="70445"/>
                </a:cubicBezTo>
                <a:cubicBezTo>
                  <a:pt x="-434" y="53020"/>
                  <a:pt x="13767" y="39625"/>
                  <a:pt x="29952" y="39625"/>
                </a:cubicBezTo>
                <a:lnTo>
                  <a:pt x="60709" y="39625"/>
                </a:lnTo>
                <a:cubicBezTo>
                  <a:pt x="60523" y="36401"/>
                  <a:pt x="60399" y="33176"/>
                  <a:pt x="60275" y="29828"/>
                </a:cubicBezTo>
                <a:cubicBezTo>
                  <a:pt x="59655" y="13395"/>
                  <a:pt x="73050" y="-62"/>
                  <a:pt x="89483" y="-62"/>
                </a:cubicBezTo>
                <a:close/>
                <a:moveTo>
                  <a:pt x="62942" y="69453"/>
                </a:moveTo>
                <a:lnTo>
                  <a:pt x="30448" y="69453"/>
                </a:lnTo>
                <a:cubicBezTo>
                  <a:pt x="34292" y="121977"/>
                  <a:pt x="58415" y="148270"/>
                  <a:pt x="83282" y="162223"/>
                </a:cubicBezTo>
                <a:cubicBezTo>
                  <a:pt x="74352" y="139092"/>
                  <a:pt x="66973" y="108893"/>
                  <a:pt x="62942" y="69453"/>
                </a:cubicBezTo>
                <a:close/>
                <a:moveTo>
                  <a:pt x="235645" y="159246"/>
                </a:moveTo>
                <a:cubicBezTo>
                  <a:pt x="260759" y="144487"/>
                  <a:pt x="283456" y="118256"/>
                  <a:pt x="287300" y="69453"/>
                </a:cubicBezTo>
                <a:lnTo>
                  <a:pt x="254868" y="69453"/>
                </a:lnTo>
                <a:cubicBezTo>
                  <a:pt x="251023" y="107218"/>
                  <a:pt x="244078" y="136550"/>
                  <a:pt x="235645" y="159246"/>
                </a:cubicBezTo>
                <a:close/>
              </a:path>
            </a:pathLst>
          </a:custGeom>
          <a:solidFill>
            <a:srgbClr val="4C7E9A"/>
          </a:solidFill>
          <a:ln/>
        </p:spPr>
      </p:sp>
      <p:sp>
        <p:nvSpPr>
          <p:cNvPr id="41" name="Text 38"/>
          <p:cNvSpPr/>
          <p:nvPr/>
        </p:nvSpPr>
        <p:spPr>
          <a:xfrm>
            <a:off x="1169458" y="7609417"/>
            <a:ext cx="14594417"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在数据竞赛中的成功应用</a:t>
            </a:r>
            <a:endParaRPr lang="en-US" sz="1600" dirty="0"/>
          </a:p>
        </p:txBody>
      </p:sp>
      <p:sp>
        <p:nvSpPr>
          <p:cNvPr id="42" name="Text 39"/>
          <p:cNvSpPr/>
          <p:nvPr/>
        </p:nvSpPr>
        <p:spPr>
          <a:xfrm>
            <a:off x="1169458" y="7990417"/>
            <a:ext cx="14573250" cy="550333"/>
          </a:xfrm>
          <a:prstGeom prst="rect">
            <a:avLst/>
          </a:prstGeom>
          <a:noFill/>
          <a:ln/>
        </p:spPr>
        <p:txBody>
          <a:bodyPr wrap="square" lIns="0" tIns="0" rIns="0" bIns="0" rtlCol="0" anchor="ctr"/>
          <a:lstStyle/>
          <a:p>
            <a:pPr>
              <a:lnSpc>
                <a:spcPct val="140000"/>
              </a:lnSpc>
            </a:pPr>
            <a:r>
              <a:rPr lang="en-US" sz="1333" dirty="0">
                <a:solidFill>
                  <a:srgbClr val="7E9AA8"/>
                </a:solidFill>
                <a:latin typeface="MiSans" pitchFamily="34" charset="0"/>
                <a:ea typeface="MiSans" pitchFamily="34" charset="-122"/>
                <a:cs typeface="MiSans" pitchFamily="34" charset="-120"/>
              </a:rPr>
              <a:t>在Kaggle、天池等数据科学竞赛中，集成学习是获胜的标配技术。几乎所有顶尖方案都采用了某种形式的模型集成策略，如梯度提升树（XGBoost、LightGBM）、随机森林、Stacking等。这充分证明了集成学习在解决复杂预测问题中的强大能力。</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81A1F"/>
        </a:solidFill>
      </p:bgPr>
    </p:bg>
    <p:spTree>
      <p:nvGrpSpPr>
        <p:cNvPr id="1" name=""/>
        <p:cNvGrpSpPr/>
        <p:nvPr/>
      </p:nvGrpSpPr>
      <p:grpSpPr>
        <a:xfrm>
          <a:off x="0" y="0"/>
          <a:ext cx="0" cy="0"/>
          <a:chOff x="0" y="0"/>
          <a:chExt cx="0" cy="0"/>
        </a:xfrm>
      </p:grpSpPr>
      <p:pic>
        <p:nvPicPr>
          <p:cNvPr id="2" name="Image 0" descr="https://kimi-web-img.moonshot.cn/img/img.freepik.com/91b4c933a3297652e56b6116361534672b3e31a3.jpg">    </p:cNvPr>
          <p:cNvPicPr>
            <a:picLocks noChangeAspect="1"/>
          </p:cNvPicPr>
          <p:nvPr/>
        </p:nvPicPr>
        <p:blipFill>
          <a:blip r:embed="rId1">
            <a:alphaModFix amt="30000"/>
          </a:blip>
          <a:srcRect l="160" r="160" t="0" b="0"/>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rotWithShape="1" flip="none">
            <a:gsLst>
              <a:gs pos="0">
                <a:srgbClr val="181A1F"/>
              </a:gs>
              <a:gs pos="50000">
                <a:srgbClr val="181A1F">
                  <a:alpha val="95000"/>
                </a:srgbClr>
              </a:gs>
              <a:gs pos="100000">
                <a:srgbClr val="181A1F">
                  <a:alpha val="70000"/>
                </a:srgbClr>
              </a:gs>
            </a:gsLst>
            <a:lin ang="0" scaled="1"/>
          </a:gradFill>
          <a:ln/>
        </p:spPr>
      </p:sp>
      <p:sp>
        <p:nvSpPr>
          <p:cNvPr id="4" name="Shape 1"/>
          <p:cNvSpPr/>
          <p:nvPr/>
        </p:nvSpPr>
        <p:spPr>
          <a:xfrm>
            <a:off x="520700" y="1073150"/>
            <a:ext cx="2349500" cy="787400"/>
          </a:xfrm>
          <a:custGeom>
            <a:avLst/>
            <a:gdLst/>
            <a:ahLst/>
            <a:cxnLst/>
            <a:rect l="l" t="t" r="r" b="b"/>
            <a:pathLst>
              <a:path w="2349500" h="787400">
                <a:moveTo>
                  <a:pt x="101598" y="0"/>
                </a:moveTo>
                <a:lnTo>
                  <a:pt x="2247902" y="0"/>
                </a:lnTo>
                <a:cubicBezTo>
                  <a:pt x="2304013" y="0"/>
                  <a:pt x="2349500" y="45487"/>
                  <a:pt x="2349500" y="101598"/>
                </a:cubicBezTo>
                <a:lnTo>
                  <a:pt x="2349500" y="685802"/>
                </a:lnTo>
                <a:cubicBezTo>
                  <a:pt x="2349500" y="741913"/>
                  <a:pt x="2304013" y="787400"/>
                  <a:pt x="2247902" y="787400"/>
                </a:cubicBezTo>
                <a:lnTo>
                  <a:pt x="101598" y="787400"/>
                </a:lnTo>
                <a:cubicBezTo>
                  <a:pt x="45487" y="787400"/>
                  <a:pt x="0" y="741913"/>
                  <a:pt x="0" y="685802"/>
                </a:cubicBezTo>
                <a:lnTo>
                  <a:pt x="0" y="101598"/>
                </a:lnTo>
                <a:cubicBezTo>
                  <a:pt x="0" y="45525"/>
                  <a:pt x="45525" y="0"/>
                  <a:pt x="101598" y="0"/>
                </a:cubicBezTo>
                <a:close/>
              </a:path>
            </a:pathLst>
          </a:custGeom>
          <a:solidFill>
            <a:srgbClr val="4C7E9A">
              <a:alpha val="20000"/>
            </a:srgbClr>
          </a:solidFill>
          <a:ln w="25400">
            <a:solidFill>
              <a:srgbClr val="4C7E9A"/>
            </a:solidFill>
            <a:prstDash val="solid"/>
          </a:ln>
        </p:spPr>
      </p:sp>
      <p:sp>
        <p:nvSpPr>
          <p:cNvPr id="5" name="Text 2"/>
          <p:cNvSpPr/>
          <p:nvPr/>
        </p:nvSpPr>
        <p:spPr>
          <a:xfrm>
            <a:off x="838200" y="1238250"/>
            <a:ext cx="1905000" cy="457200"/>
          </a:xfrm>
          <a:prstGeom prst="rect">
            <a:avLst/>
          </a:prstGeom>
          <a:noFill/>
          <a:ln/>
        </p:spPr>
        <p:txBody>
          <a:bodyPr wrap="square" lIns="0" tIns="0" rIns="0" bIns="0" rtlCol="0" anchor="ctr"/>
          <a:lstStyle/>
          <a:p>
            <a:pPr>
              <a:lnSpc>
                <a:spcPct val="100000"/>
              </a:lnSpc>
            </a:pPr>
            <a:r>
              <a:rPr lang="en-US" sz="3000" b="1" dirty="0">
                <a:solidFill>
                  <a:srgbClr val="4C7E9A"/>
                </a:solidFill>
                <a:latin typeface="MiSans" pitchFamily="34" charset="0"/>
                <a:ea typeface="MiSans" pitchFamily="34" charset="-122"/>
                <a:cs typeface="MiSans" pitchFamily="34" charset="-120"/>
              </a:rPr>
              <a:t>CHAPTER</a:t>
            </a:r>
            <a:endParaRPr lang="en-US" sz="1600" dirty="0"/>
          </a:p>
        </p:txBody>
      </p:sp>
      <p:sp>
        <p:nvSpPr>
          <p:cNvPr id="6" name="Text 3"/>
          <p:cNvSpPr/>
          <p:nvPr/>
        </p:nvSpPr>
        <p:spPr>
          <a:xfrm>
            <a:off x="508000" y="2279650"/>
            <a:ext cx="5638800" cy="1219200"/>
          </a:xfrm>
          <a:prstGeom prst="rect">
            <a:avLst/>
          </a:prstGeom>
          <a:noFill/>
          <a:ln/>
        </p:spPr>
        <p:txBody>
          <a:bodyPr wrap="square" lIns="0" tIns="0" rIns="0" bIns="0" rtlCol="0" anchor="ctr"/>
          <a:lstStyle/>
          <a:p>
            <a:pPr>
              <a:lnSpc>
                <a:spcPct val="80000"/>
              </a:lnSpc>
            </a:pPr>
            <a:r>
              <a:rPr lang="en-US" sz="9600" b="1" dirty="0">
                <a:solidFill>
                  <a:srgbClr val="D1D5DB"/>
                </a:solidFill>
                <a:latin typeface="阿里妈妈数黑体" pitchFamily="34" charset="0"/>
                <a:ea typeface="阿里妈妈数黑体" pitchFamily="34" charset="-122"/>
                <a:cs typeface="阿里妈妈数黑体" pitchFamily="34" charset="-120"/>
              </a:rPr>
              <a:t>02</a:t>
            </a:r>
            <a:endParaRPr lang="en-US" sz="1600" dirty="0"/>
          </a:p>
        </p:txBody>
      </p:sp>
      <p:sp>
        <p:nvSpPr>
          <p:cNvPr id="7" name="Text 4"/>
          <p:cNvSpPr/>
          <p:nvPr/>
        </p:nvSpPr>
        <p:spPr>
          <a:xfrm>
            <a:off x="508000" y="3803650"/>
            <a:ext cx="5410200" cy="952500"/>
          </a:xfrm>
          <a:prstGeom prst="rect">
            <a:avLst/>
          </a:prstGeom>
          <a:noFill/>
          <a:ln/>
        </p:spPr>
        <p:txBody>
          <a:bodyPr wrap="square" lIns="0" tIns="0" rIns="0" bIns="0" rtlCol="0" anchor="ctr"/>
          <a:lstStyle/>
          <a:p>
            <a:pPr>
              <a:lnSpc>
                <a:spcPct val="100000"/>
              </a:lnSpc>
            </a:pPr>
            <a:r>
              <a:rPr lang="en-US" sz="6000" b="1" dirty="0">
                <a:solidFill>
                  <a:srgbClr val="4C7E9A"/>
                </a:solidFill>
                <a:latin typeface="阿里妈妈数黑体" pitchFamily="34" charset="0"/>
                <a:ea typeface="阿里妈妈数黑体" pitchFamily="34" charset="-122"/>
                <a:cs typeface="阿里妈妈数黑体" pitchFamily="34" charset="-120"/>
              </a:rPr>
              <a:t>模型评价</a:t>
            </a:r>
            <a:endParaRPr lang="en-US" sz="1600" dirty="0"/>
          </a:p>
        </p:txBody>
      </p:sp>
      <p:sp>
        <p:nvSpPr>
          <p:cNvPr id="8" name="Shape 5"/>
          <p:cNvSpPr/>
          <p:nvPr/>
        </p:nvSpPr>
        <p:spPr>
          <a:xfrm>
            <a:off x="508000" y="5162550"/>
            <a:ext cx="2438400" cy="101600"/>
          </a:xfrm>
          <a:custGeom>
            <a:avLst/>
            <a:gdLst/>
            <a:ahLst/>
            <a:cxnLst/>
            <a:rect l="l" t="t" r="r" b="b"/>
            <a:pathLst>
              <a:path w="2438400" h="101600">
                <a:moveTo>
                  <a:pt x="0" y="0"/>
                </a:moveTo>
                <a:lnTo>
                  <a:pt x="2438400" y="0"/>
                </a:lnTo>
                <a:lnTo>
                  <a:pt x="2438400" y="101600"/>
                </a:lnTo>
                <a:lnTo>
                  <a:pt x="0" y="101600"/>
                </a:lnTo>
                <a:lnTo>
                  <a:pt x="0" y="0"/>
                </a:lnTo>
                <a:close/>
              </a:path>
            </a:pathLst>
          </a:custGeom>
          <a:solidFill>
            <a:srgbClr val="4C7E9A"/>
          </a:solidFill>
          <a:ln/>
        </p:spPr>
      </p:sp>
      <p:sp>
        <p:nvSpPr>
          <p:cNvPr id="9" name="Text 6"/>
          <p:cNvSpPr/>
          <p:nvPr/>
        </p:nvSpPr>
        <p:spPr>
          <a:xfrm>
            <a:off x="508000" y="5568950"/>
            <a:ext cx="5257800" cy="508000"/>
          </a:xfrm>
          <a:prstGeom prst="rect">
            <a:avLst/>
          </a:prstGeom>
          <a:noFill/>
          <a:ln/>
        </p:spPr>
        <p:txBody>
          <a:bodyPr wrap="square" lIns="0" tIns="0" rIns="0" bIns="0" rtlCol="0" anchor="ctr"/>
          <a:lstStyle/>
          <a:p>
            <a:pPr>
              <a:lnSpc>
                <a:spcPct val="90000"/>
              </a:lnSpc>
            </a:pPr>
            <a:r>
              <a:rPr lang="en-US" sz="3600" dirty="0">
                <a:solidFill>
                  <a:srgbClr val="7E9AA8"/>
                </a:solidFill>
                <a:latin typeface="MiSans" pitchFamily="34" charset="0"/>
                <a:ea typeface="MiSans" pitchFamily="34" charset="-122"/>
                <a:cs typeface="MiSans" pitchFamily="34" charset="-120"/>
              </a:rPr>
              <a:t>理解模型性能的关键指标</a:t>
            </a:r>
            <a:endParaRPr lang="en-US" sz="1600" dirty="0"/>
          </a:p>
        </p:txBody>
      </p:sp>
      <p:sp>
        <p:nvSpPr>
          <p:cNvPr id="10" name="Shape 7"/>
          <p:cNvSpPr/>
          <p:nvPr/>
        </p:nvSpPr>
        <p:spPr>
          <a:xfrm>
            <a:off x="508000" y="6686550"/>
            <a:ext cx="2413000" cy="1397000"/>
          </a:xfrm>
          <a:custGeom>
            <a:avLst/>
            <a:gdLst/>
            <a:ahLst/>
            <a:cxnLst/>
            <a:rect l="l" t="t" r="r" b="b"/>
            <a:pathLst>
              <a:path w="2413000" h="1397000">
                <a:moveTo>
                  <a:pt x="101604" y="0"/>
                </a:moveTo>
                <a:lnTo>
                  <a:pt x="2311396" y="0"/>
                </a:lnTo>
                <a:cubicBezTo>
                  <a:pt x="2367510" y="0"/>
                  <a:pt x="2413000" y="45490"/>
                  <a:pt x="2413000" y="101604"/>
                </a:cubicBezTo>
                <a:lnTo>
                  <a:pt x="2413000" y="1295396"/>
                </a:lnTo>
                <a:cubicBezTo>
                  <a:pt x="2413000" y="1351510"/>
                  <a:pt x="2367510" y="1397000"/>
                  <a:pt x="23113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1" name="Shape 8"/>
          <p:cNvSpPr/>
          <p:nvPr/>
        </p:nvSpPr>
        <p:spPr>
          <a:xfrm>
            <a:off x="812800" y="6940550"/>
            <a:ext cx="381000" cy="381000"/>
          </a:xfrm>
          <a:custGeom>
            <a:avLst/>
            <a:gdLst/>
            <a:ahLst/>
            <a:cxnLst/>
            <a:rect l="l" t="t" r="r" b="b"/>
            <a:pathLst>
              <a:path w="381000" h="381000">
                <a:moveTo>
                  <a:pt x="47625" y="47625"/>
                </a:moveTo>
                <a:cubicBezTo>
                  <a:pt x="47625" y="34454"/>
                  <a:pt x="36984" y="23812"/>
                  <a:pt x="23812" y="23812"/>
                </a:cubicBezTo>
                <a:cubicBezTo>
                  <a:pt x="10641" y="23812"/>
                  <a:pt x="0" y="34454"/>
                  <a:pt x="0" y="47625"/>
                </a:cubicBezTo>
                <a:lnTo>
                  <a:pt x="0" y="297656"/>
                </a:lnTo>
                <a:cubicBezTo>
                  <a:pt x="0" y="330547"/>
                  <a:pt x="26640" y="357188"/>
                  <a:pt x="59531" y="357188"/>
                </a:cubicBezTo>
                <a:lnTo>
                  <a:pt x="357188" y="357188"/>
                </a:lnTo>
                <a:cubicBezTo>
                  <a:pt x="370359" y="357188"/>
                  <a:pt x="381000" y="346546"/>
                  <a:pt x="381000" y="333375"/>
                </a:cubicBezTo>
                <a:cubicBezTo>
                  <a:pt x="381000" y="320204"/>
                  <a:pt x="370359" y="309563"/>
                  <a:pt x="357188" y="309563"/>
                </a:cubicBezTo>
                <a:lnTo>
                  <a:pt x="59531" y="309563"/>
                </a:lnTo>
                <a:cubicBezTo>
                  <a:pt x="52983" y="309563"/>
                  <a:pt x="47625" y="304205"/>
                  <a:pt x="47625" y="297656"/>
                </a:cubicBezTo>
                <a:lnTo>
                  <a:pt x="47625" y="47625"/>
                </a:lnTo>
                <a:close/>
                <a:moveTo>
                  <a:pt x="350193" y="112068"/>
                </a:moveTo>
                <a:cubicBezTo>
                  <a:pt x="359494" y="102766"/>
                  <a:pt x="359494" y="87660"/>
                  <a:pt x="350193" y="78358"/>
                </a:cubicBezTo>
                <a:cubicBezTo>
                  <a:pt x="340891" y="69056"/>
                  <a:pt x="325785" y="69056"/>
                  <a:pt x="316483" y="78358"/>
                </a:cubicBezTo>
                <a:lnTo>
                  <a:pt x="238125" y="156790"/>
                </a:lnTo>
                <a:lnTo>
                  <a:pt x="195411" y="114151"/>
                </a:lnTo>
                <a:cubicBezTo>
                  <a:pt x="186110" y="104849"/>
                  <a:pt x="171004" y="104849"/>
                  <a:pt x="161702" y="114151"/>
                </a:cubicBezTo>
                <a:lnTo>
                  <a:pt x="90264" y="185589"/>
                </a:lnTo>
                <a:cubicBezTo>
                  <a:pt x="80963" y="194890"/>
                  <a:pt x="80963" y="209996"/>
                  <a:pt x="90264" y="219298"/>
                </a:cubicBezTo>
                <a:cubicBezTo>
                  <a:pt x="99566" y="228600"/>
                  <a:pt x="114672" y="228600"/>
                  <a:pt x="123974" y="219298"/>
                </a:cubicBezTo>
                <a:lnTo>
                  <a:pt x="178594" y="164678"/>
                </a:lnTo>
                <a:lnTo>
                  <a:pt x="221307" y="207392"/>
                </a:lnTo>
                <a:cubicBezTo>
                  <a:pt x="230609" y="216694"/>
                  <a:pt x="245715" y="216694"/>
                  <a:pt x="255017" y="207392"/>
                </a:cubicBezTo>
                <a:lnTo>
                  <a:pt x="350267" y="112142"/>
                </a:lnTo>
                <a:close/>
              </a:path>
            </a:pathLst>
          </a:custGeom>
          <a:solidFill>
            <a:srgbClr val="4C7E9A"/>
          </a:solidFill>
          <a:ln/>
        </p:spPr>
      </p:sp>
      <p:sp>
        <p:nvSpPr>
          <p:cNvPr id="12" name="Text 9"/>
          <p:cNvSpPr/>
          <p:nvPr/>
        </p:nvSpPr>
        <p:spPr>
          <a:xfrm>
            <a:off x="762000" y="7473950"/>
            <a:ext cx="20320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过拟合与欠拟合</a:t>
            </a:r>
            <a:endParaRPr lang="en-US" sz="1600" dirty="0"/>
          </a:p>
        </p:txBody>
      </p:sp>
      <p:sp>
        <p:nvSpPr>
          <p:cNvPr id="13" name="Shape 10"/>
          <p:cNvSpPr/>
          <p:nvPr/>
        </p:nvSpPr>
        <p:spPr>
          <a:xfrm>
            <a:off x="3124200" y="6686550"/>
            <a:ext cx="2413000" cy="1397000"/>
          </a:xfrm>
          <a:custGeom>
            <a:avLst/>
            <a:gdLst/>
            <a:ahLst/>
            <a:cxnLst/>
            <a:rect l="l" t="t" r="r" b="b"/>
            <a:pathLst>
              <a:path w="2413000" h="1397000">
                <a:moveTo>
                  <a:pt x="101604" y="0"/>
                </a:moveTo>
                <a:lnTo>
                  <a:pt x="2311396" y="0"/>
                </a:lnTo>
                <a:cubicBezTo>
                  <a:pt x="2367510" y="0"/>
                  <a:pt x="2413000" y="45490"/>
                  <a:pt x="2413000" y="101604"/>
                </a:cubicBezTo>
                <a:lnTo>
                  <a:pt x="2413000" y="1295396"/>
                </a:lnTo>
                <a:cubicBezTo>
                  <a:pt x="2413000" y="1351510"/>
                  <a:pt x="2367510" y="1397000"/>
                  <a:pt x="23113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4" name="Shape 11"/>
          <p:cNvSpPr/>
          <p:nvPr/>
        </p:nvSpPr>
        <p:spPr>
          <a:xfrm>
            <a:off x="3381375" y="6940550"/>
            <a:ext cx="476250" cy="381000"/>
          </a:xfrm>
          <a:custGeom>
            <a:avLst/>
            <a:gdLst/>
            <a:ahLst/>
            <a:cxnLst/>
            <a:rect l="l" t="t" r="r" b="b"/>
            <a:pathLst>
              <a:path w="476250" h="381000">
                <a:moveTo>
                  <a:pt x="285750" y="23812"/>
                </a:moveTo>
                <a:lnTo>
                  <a:pt x="381000" y="23812"/>
                </a:lnTo>
                <a:cubicBezTo>
                  <a:pt x="394171" y="23812"/>
                  <a:pt x="404813" y="34454"/>
                  <a:pt x="404813" y="47625"/>
                </a:cubicBezTo>
                <a:cubicBezTo>
                  <a:pt x="404813" y="60796"/>
                  <a:pt x="394171" y="71438"/>
                  <a:pt x="381000" y="71438"/>
                </a:cubicBezTo>
                <a:lnTo>
                  <a:pt x="296466" y="71438"/>
                </a:lnTo>
                <a:cubicBezTo>
                  <a:pt x="292596" y="90636"/>
                  <a:pt x="279425" y="106487"/>
                  <a:pt x="261938" y="114077"/>
                </a:cubicBezTo>
                <a:lnTo>
                  <a:pt x="261938" y="333375"/>
                </a:lnTo>
                <a:lnTo>
                  <a:pt x="381000" y="333375"/>
                </a:lnTo>
                <a:cubicBezTo>
                  <a:pt x="394171" y="333375"/>
                  <a:pt x="404813" y="344016"/>
                  <a:pt x="404813" y="357188"/>
                </a:cubicBezTo>
                <a:cubicBezTo>
                  <a:pt x="404813" y="370359"/>
                  <a:pt x="394171" y="381000"/>
                  <a:pt x="381000" y="381000"/>
                </a:cubicBezTo>
                <a:lnTo>
                  <a:pt x="95250" y="381000"/>
                </a:lnTo>
                <a:cubicBezTo>
                  <a:pt x="82079" y="381000"/>
                  <a:pt x="71438" y="370359"/>
                  <a:pt x="71438" y="357188"/>
                </a:cubicBezTo>
                <a:cubicBezTo>
                  <a:pt x="71438" y="344016"/>
                  <a:pt x="82079" y="333375"/>
                  <a:pt x="95250" y="333375"/>
                </a:cubicBezTo>
                <a:lnTo>
                  <a:pt x="214313" y="333375"/>
                </a:lnTo>
                <a:lnTo>
                  <a:pt x="214313" y="114077"/>
                </a:lnTo>
                <a:cubicBezTo>
                  <a:pt x="196825" y="106412"/>
                  <a:pt x="183654" y="90562"/>
                  <a:pt x="179784" y="71438"/>
                </a:cubicBezTo>
                <a:lnTo>
                  <a:pt x="95250" y="71438"/>
                </a:lnTo>
                <a:cubicBezTo>
                  <a:pt x="82079" y="71438"/>
                  <a:pt x="71438" y="60796"/>
                  <a:pt x="71438" y="47625"/>
                </a:cubicBezTo>
                <a:cubicBezTo>
                  <a:pt x="71438" y="34454"/>
                  <a:pt x="82079" y="23812"/>
                  <a:pt x="95250" y="23812"/>
                </a:cubicBezTo>
                <a:lnTo>
                  <a:pt x="190500" y="23812"/>
                </a:lnTo>
                <a:cubicBezTo>
                  <a:pt x="201364" y="9376"/>
                  <a:pt x="218629" y="0"/>
                  <a:pt x="238125" y="0"/>
                </a:cubicBezTo>
                <a:cubicBezTo>
                  <a:pt x="257621" y="0"/>
                  <a:pt x="274886" y="9376"/>
                  <a:pt x="285750" y="23812"/>
                </a:cubicBezTo>
                <a:close/>
                <a:moveTo>
                  <a:pt x="327124" y="238125"/>
                </a:moveTo>
                <a:lnTo>
                  <a:pt x="434876" y="238125"/>
                </a:lnTo>
                <a:lnTo>
                  <a:pt x="381000" y="145703"/>
                </a:lnTo>
                <a:lnTo>
                  <a:pt x="327124" y="238125"/>
                </a:lnTo>
                <a:close/>
                <a:moveTo>
                  <a:pt x="381000" y="309563"/>
                </a:moveTo>
                <a:cubicBezTo>
                  <a:pt x="334194" y="309563"/>
                  <a:pt x="295275" y="284262"/>
                  <a:pt x="287238" y="250850"/>
                </a:cubicBezTo>
                <a:cubicBezTo>
                  <a:pt x="285304" y="242664"/>
                  <a:pt x="287982" y="234255"/>
                  <a:pt x="292224" y="226963"/>
                </a:cubicBezTo>
                <a:lnTo>
                  <a:pt x="363066" y="105519"/>
                </a:lnTo>
                <a:cubicBezTo>
                  <a:pt x="366787" y="99120"/>
                  <a:pt x="373633" y="95250"/>
                  <a:pt x="381000" y="95250"/>
                </a:cubicBezTo>
                <a:cubicBezTo>
                  <a:pt x="388367" y="95250"/>
                  <a:pt x="395213" y="99194"/>
                  <a:pt x="398934" y="105519"/>
                </a:cubicBezTo>
                <a:lnTo>
                  <a:pt x="469776" y="226963"/>
                </a:lnTo>
                <a:cubicBezTo>
                  <a:pt x="474018" y="234255"/>
                  <a:pt x="476696" y="242664"/>
                  <a:pt x="474762" y="250850"/>
                </a:cubicBezTo>
                <a:cubicBezTo>
                  <a:pt x="466725" y="284187"/>
                  <a:pt x="427806" y="309563"/>
                  <a:pt x="381000" y="309563"/>
                </a:cubicBezTo>
                <a:close/>
                <a:moveTo>
                  <a:pt x="94357" y="145703"/>
                </a:moveTo>
                <a:lnTo>
                  <a:pt x="40481" y="238125"/>
                </a:lnTo>
                <a:lnTo>
                  <a:pt x="148307" y="238125"/>
                </a:lnTo>
                <a:lnTo>
                  <a:pt x="94357" y="145703"/>
                </a:lnTo>
                <a:close/>
                <a:moveTo>
                  <a:pt x="670" y="250850"/>
                </a:moveTo>
                <a:cubicBezTo>
                  <a:pt x="-1265" y="242664"/>
                  <a:pt x="1414" y="234255"/>
                  <a:pt x="5655" y="226963"/>
                </a:cubicBezTo>
                <a:lnTo>
                  <a:pt x="76498" y="105519"/>
                </a:lnTo>
                <a:cubicBezTo>
                  <a:pt x="80218" y="99120"/>
                  <a:pt x="87064" y="95250"/>
                  <a:pt x="94431" y="95250"/>
                </a:cubicBezTo>
                <a:cubicBezTo>
                  <a:pt x="101798" y="95250"/>
                  <a:pt x="108645" y="99194"/>
                  <a:pt x="112365" y="105519"/>
                </a:cubicBezTo>
                <a:lnTo>
                  <a:pt x="183207" y="226963"/>
                </a:lnTo>
                <a:cubicBezTo>
                  <a:pt x="187449" y="234255"/>
                  <a:pt x="190128" y="242664"/>
                  <a:pt x="188193" y="250850"/>
                </a:cubicBezTo>
                <a:cubicBezTo>
                  <a:pt x="180156" y="284187"/>
                  <a:pt x="141238" y="309563"/>
                  <a:pt x="94431" y="309563"/>
                </a:cubicBezTo>
                <a:cubicBezTo>
                  <a:pt x="47625" y="309563"/>
                  <a:pt x="8706" y="284262"/>
                  <a:pt x="670" y="250850"/>
                </a:cubicBezTo>
                <a:close/>
              </a:path>
            </a:pathLst>
          </a:custGeom>
          <a:solidFill>
            <a:srgbClr val="4C7E9A"/>
          </a:solidFill>
          <a:ln/>
        </p:spPr>
      </p:sp>
      <p:sp>
        <p:nvSpPr>
          <p:cNvPr id="15" name="Text 12"/>
          <p:cNvSpPr/>
          <p:nvPr/>
        </p:nvSpPr>
        <p:spPr>
          <a:xfrm>
            <a:off x="3378200" y="7473950"/>
            <a:ext cx="20320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偏差与方差权衡</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MODEL EVALUATION</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过拟合与欠拟合</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66333"/>
            <a:ext cx="7577667" cy="3598333"/>
          </a:xfrm>
          <a:custGeom>
            <a:avLst/>
            <a:gdLst/>
            <a:ahLst/>
            <a:cxnLst/>
            <a:rect l="l" t="t" r="r" b="b"/>
            <a:pathLst>
              <a:path w="7577667" h="3598333">
                <a:moveTo>
                  <a:pt x="42333" y="0"/>
                </a:moveTo>
                <a:lnTo>
                  <a:pt x="7492998" y="0"/>
                </a:lnTo>
                <a:cubicBezTo>
                  <a:pt x="7539759" y="0"/>
                  <a:pt x="7577667" y="37908"/>
                  <a:pt x="7577667" y="84669"/>
                </a:cubicBezTo>
                <a:lnTo>
                  <a:pt x="7577667" y="3513665"/>
                </a:lnTo>
                <a:cubicBezTo>
                  <a:pt x="7577667" y="3560426"/>
                  <a:pt x="7539759" y="3598333"/>
                  <a:pt x="7492998" y="3598333"/>
                </a:cubicBezTo>
                <a:lnTo>
                  <a:pt x="42333" y="3598333"/>
                </a:lnTo>
                <a:cubicBezTo>
                  <a:pt x="18953" y="3598333"/>
                  <a:pt x="0" y="3579380"/>
                  <a:pt x="0" y="3556000"/>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66333"/>
            <a:ext cx="42333" cy="3598333"/>
          </a:xfrm>
          <a:custGeom>
            <a:avLst/>
            <a:gdLst/>
            <a:ahLst/>
            <a:cxnLst/>
            <a:rect l="l" t="t" r="r" b="b"/>
            <a:pathLst>
              <a:path w="42333" h="3598333">
                <a:moveTo>
                  <a:pt x="42333" y="0"/>
                </a:moveTo>
                <a:lnTo>
                  <a:pt x="42333" y="0"/>
                </a:lnTo>
                <a:lnTo>
                  <a:pt x="42333" y="3598333"/>
                </a:lnTo>
                <a:lnTo>
                  <a:pt x="42333" y="3598333"/>
                </a:lnTo>
                <a:cubicBezTo>
                  <a:pt x="18953" y="3598333"/>
                  <a:pt x="0" y="3579380"/>
                  <a:pt x="0" y="3556000"/>
                </a:cubicBezTo>
                <a:lnTo>
                  <a:pt x="0" y="42333"/>
                </a:lnTo>
                <a:cubicBezTo>
                  <a:pt x="0" y="18953"/>
                  <a:pt x="18953" y="0"/>
                  <a:pt x="42333" y="0"/>
                </a:cubicBezTo>
                <a:close/>
              </a:path>
            </a:pathLst>
          </a:custGeom>
          <a:solidFill>
            <a:srgbClr val="7E9AA8"/>
          </a:solidFill>
          <a:ln/>
        </p:spPr>
      </p:sp>
      <p:sp>
        <p:nvSpPr>
          <p:cNvPr id="7" name="Shape 5"/>
          <p:cNvSpPr/>
          <p:nvPr/>
        </p:nvSpPr>
        <p:spPr>
          <a:xfrm>
            <a:off x="677333" y="1746250"/>
            <a:ext cx="317500" cy="317500"/>
          </a:xfrm>
          <a:custGeom>
            <a:avLst/>
            <a:gdLst/>
            <a:ahLst/>
            <a:cxnLst/>
            <a:rect l="l" t="t" r="r" b="b"/>
            <a:pathLst>
              <a:path w="317500" h="317500">
                <a:moveTo>
                  <a:pt x="39688" y="39688"/>
                </a:moveTo>
                <a:cubicBezTo>
                  <a:pt x="39688" y="28711"/>
                  <a:pt x="30820" y="19844"/>
                  <a:pt x="19844" y="19844"/>
                </a:cubicBezTo>
                <a:cubicBezTo>
                  <a:pt x="8868" y="19844"/>
                  <a:pt x="0" y="28711"/>
                  <a:pt x="0" y="39688"/>
                </a:cubicBezTo>
                <a:lnTo>
                  <a:pt x="0" y="248047"/>
                </a:lnTo>
                <a:cubicBezTo>
                  <a:pt x="0" y="275456"/>
                  <a:pt x="22200" y="297656"/>
                  <a:pt x="49609" y="297656"/>
                </a:cubicBezTo>
                <a:lnTo>
                  <a:pt x="297656" y="297656"/>
                </a:lnTo>
                <a:cubicBezTo>
                  <a:pt x="308632" y="297656"/>
                  <a:pt x="317500" y="288789"/>
                  <a:pt x="317500" y="277813"/>
                </a:cubicBezTo>
                <a:cubicBezTo>
                  <a:pt x="317500" y="266836"/>
                  <a:pt x="308632" y="257969"/>
                  <a:pt x="297656" y="257969"/>
                </a:cubicBezTo>
                <a:lnTo>
                  <a:pt x="49609" y="257969"/>
                </a:lnTo>
                <a:cubicBezTo>
                  <a:pt x="44152" y="257969"/>
                  <a:pt x="39688" y="253504"/>
                  <a:pt x="39688" y="248047"/>
                </a:cubicBezTo>
                <a:lnTo>
                  <a:pt x="39688" y="39688"/>
                </a:lnTo>
                <a:close/>
                <a:moveTo>
                  <a:pt x="291827" y="93390"/>
                </a:moveTo>
                <a:cubicBezTo>
                  <a:pt x="299579" y="85638"/>
                  <a:pt x="299579" y="73050"/>
                  <a:pt x="291827" y="65298"/>
                </a:cubicBezTo>
                <a:cubicBezTo>
                  <a:pt x="284076" y="57547"/>
                  <a:pt x="271487" y="57547"/>
                  <a:pt x="263736" y="65298"/>
                </a:cubicBezTo>
                <a:lnTo>
                  <a:pt x="198438" y="130659"/>
                </a:lnTo>
                <a:lnTo>
                  <a:pt x="162843" y="95126"/>
                </a:lnTo>
                <a:cubicBezTo>
                  <a:pt x="155091" y="87375"/>
                  <a:pt x="142503" y="87375"/>
                  <a:pt x="134751" y="95126"/>
                </a:cubicBezTo>
                <a:lnTo>
                  <a:pt x="75220" y="154657"/>
                </a:lnTo>
                <a:cubicBezTo>
                  <a:pt x="67469" y="162409"/>
                  <a:pt x="67469" y="174997"/>
                  <a:pt x="75220" y="182749"/>
                </a:cubicBezTo>
                <a:cubicBezTo>
                  <a:pt x="82972" y="190500"/>
                  <a:pt x="95560" y="190500"/>
                  <a:pt x="103312" y="182749"/>
                </a:cubicBezTo>
                <a:lnTo>
                  <a:pt x="148828" y="137232"/>
                </a:lnTo>
                <a:lnTo>
                  <a:pt x="184423" y="172827"/>
                </a:lnTo>
                <a:cubicBezTo>
                  <a:pt x="192174" y="180578"/>
                  <a:pt x="204763" y="180578"/>
                  <a:pt x="212514" y="172827"/>
                </a:cubicBezTo>
                <a:lnTo>
                  <a:pt x="291889" y="93452"/>
                </a:lnTo>
                <a:close/>
              </a:path>
            </a:pathLst>
          </a:custGeom>
          <a:solidFill>
            <a:srgbClr val="7E9AA8"/>
          </a:solidFill>
          <a:ln/>
        </p:spPr>
      </p:sp>
      <p:sp>
        <p:nvSpPr>
          <p:cNvPr id="8" name="Text 6"/>
          <p:cNvSpPr/>
          <p:nvPr/>
        </p:nvSpPr>
        <p:spPr>
          <a:xfrm>
            <a:off x="1158875" y="1735667"/>
            <a:ext cx="2518833" cy="338667"/>
          </a:xfrm>
          <a:prstGeom prst="rect">
            <a:avLst/>
          </a:prstGeom>
          <a:noFill/>
          <a:ln/>
        </p:spPr>
        <p:txBody>
          <a:bodyPr wrap="square" lIns="0" tIns="0" rIns="0" bIns="0" rtlCol="0" anchor="ctr"/>
          <a:lstStyle/>
          <a:p>
            <a:pPr>
              <a:lnSpc>
                <a:spcPct val="110000"/>
              </a:lnSpc>
            </a:pPr>
            <a:r>
              <a:rPr lang="en-US" sz="2000" b="1" dirty="0">
                <a:solidFill>
                  <a:srgbClr val="D1D5DB"/>
                </a:solidFill>
                <a:latin typeface="MiSans" pitchFamily="34" charset="0"/>
                <a:ea typeface="MiSans" pitchFamily="34" charset="-122"/>
                <a:cs typeface="MiSans" pitchFamily="34" charset="-120"/>
              </a:rPr>
              <a:t>欠拟合 (Underfitting)</a:t>
            </a:r>
            <a:endParaRPr lang="en-US" sz="1600" dirty="0"/>
          </a:p>
        </p:txBody>
      </p:sp>
      <p:sp>
        <p:nvSpPr>
          <p:cNvPr id="9" name="Text 7"/>
          <p:cNvSpPr/>
          <p:nvPr/>
        </p:nvSpPr>
        <p:spPr>
          <a:xfrm>
            <a:off x="635000" y="2201333"/>
            <a:ext cx="7313083"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表现特征</a:t>
            </a:r>
            <a:endParaRPr lang="en-US" sz="1600" dirty="0"/>
          </a:p>
        </p:txBody>
      </p:sp>
      <p:sp>
        <p:nvSpPr>
          <p:cNvPr id="10" name="Text 8"/>
          <p:cNvSpPr/>
          <p:nvPr/>
        </p:nvSpPr>
        <p:spPr>
          <a:xfrm>
            <a:off x="635000" y="2582333"/>
            <a:ext cx="7302500" cy="550333"/>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训练误差和测试误差均较高，两者之间的差距很小。模型在训练集上的表现就不好，更不用说在新数据上了。</a:t>
            </a:r>
            <a:endParaRPr lang="en-US" sz="1600" dirty="0"/>
          </a:p>
        </p:txBody>
      </p:sp>
      <p:sp>
        <p:nvSpPr>
          <p:cNvPr id="11" name="Text 9"/>
          <p:cNvSpPr/>
          <p:nvPr/>
        </p:nvSpPr>
        <p:spPr>
          <a:xfrm>
            <a:off x="635000" y="3259667"/>
            <a:ext cx="7313083"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根本原因</a:t>
            </a:r>
            <a:endParaRPr lang="en-US" sz="1600" dirty="0"/>
          </a:p>
        </p:txBody>
      </p:sp>
      <p:sp>
        <p:nvSpPr>
          <p:cNvPr id="12" name="Text 10"/>
          <p:cNvSpPr/>
          <p:nvPr/>
        </p:nvSpPr>
        <p:spPr>
          <a:xfrm>
            <a:off x="635000" y="3640667"/>
            <a:ext cx="7302500" cy="550333"/>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模型过于简单，无法捕捉数据中的复杂模式。就像是学习能力不足的学生，无法掌握课程的核心内容。</a:t>
            </a:r>
            <a:endParaRPr lang="en-US" sz="1600" dirty="0"/>
          </a:p>
        </p:txBody>
      </p:sp>
      <p:sp>
        <p:nvSpPr>
          <p:cNvPr id="13" name="Text 11"/>
          <p:cNvSpPr/>
          <p:nvPr/>
        </p:nvSpPr>
        <p:spPr>
          <a:xfrm>
            <a:off x="635000" y="4318000"/>
            <a:ext cx="7313083"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改善方法</a:t>
            </a:r>
            <a:endParaRPr lang="en-US" sz="1600" dirty="0"/>
          </a:p>
        </p:txBody>
      </p:sp>
      <p:sp>
        <p:nvSpPr>
          <p:cNvPr id="14" name="Shape 12"/>
          <p:cNvSpPr/>
          <p:nvPr/>
        </p:nvSpPr>
        <p:spPr>
          <a:xfrm>
            <a:off x="635000" y="4699000"/>
            <a:ext cx="1143000" cy="296333"/>
          </a:xfrm>
          <a:custGeom>
            <a:avLst/>
            <a:gdLst/>
            <a:ahLst/>
            <a:cxnLst/>
            <a:rect l="l" t="t" r="r" b="b"/>
            <a:pathLst>
              <a:path w="1143000" h="296333">
                <a:moveTo>
                  <a:pt x="148167" y="0"/>
                </a:moveTo>
                <a:lnTo>
                  <a:pt x="994833" y="0"/>
                </a:lnTo>
                <a:cubicBezTo>
                  <a:pt x="1076664" y="0"/>
                  <a:pt x="1143000" y="66336"/>
                  <a:pt x="1143000" y="148167"/>
                </a:cubicBezTo>
                <a:lnTo>
                  <a:pt x="1143000" y="148167"/>
                </a:lnTo>
                <a:cubicBezTo>
                  <a:pt x="1143000" y="229997"/>
                  <a:pt x="1076664" y="296333"/>
                  <a:pt x="994833" y="296333"/>
                </a:cubicBezTo>
                <a:lnTo>
                  <a:pt x="148167" y="296333"/>
                </a:lnTo>
                <a:cubicBezTo>
                  <a:pt x="66391" y="296333"/>
                  <a:pt x="0" y="229942"/>
                  <a:pt x="0" y="148167"/>
                </a:cubicBezTo>
                <a:lnTo>
                  <a:pt x="0" y="148167"/>
                </a:lnTo>
                <a:cubicBezTo>
                  <a:pt x="0" y="66391"/>
                  <a:pt x="66391" y="0"/>
                  <a:pt x="148167" y="0"/>
                </a:cubicBezTo>
                <a:close/>
              </a:path>
            </a:pathLst>
          </a:custGeom>
          <a:solidFill>
            <a:srgbClr val="4C7E9A">
              <a:alpha val="20000"/>
            </a:srgbClr>
          </a:solidFill>
          <a:ln/>
        </p:spPr>
      </p:sp>
      <p:sp>
        <p:nvSpPr>
          <p:cNvPr id="15" name="Text 13"/>
          <p:cNvSpPr/>
          <p:nvPr/>
        </p:nvSpPr>
        <p:spPr>
          <a:xfrm>
            <a:off x="635000" y="4699000"/>
            <a:ext cx="1217083" cy="296333"/>
          </a:xfrm>
          <a:prstGeom prst="rect">
            <a:avLst/>
          </a:prstGeom>
          <a:noFill/>
          <a:ln/>
        </p:spPr>
        <p:txBody>
          <a:bodyPr wrap="square" lIns="127000" tIns="42333" rIns="127000" bIns="42333"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增加特征数量</a:t>
            </a:r>
            <a:endParaRPr lang="en-US" sz="1600" dirty="0"/>
          </a:p>
        </p:txBody>
      </p:sp>
      <p:sp>
        <p:nvSpPr>
          <p:cNvPr id="16" name="Shape 14"/>
          <p:cNvSpPr/>
          <p:nvPr/>
        </p:nvSpPr>
        <p:spPr>
          <a:xfrm>
            <a:off x="1862667" y="4699000"/>
            <a:ext cx="1291167" cy="296333"/>
          </a:xfrm>
          <a:custGeom>
            <a:avLst/>
            <a:gdLst/>
            <a:ahLst/>
            <a:cxnLst/>
            <a:rect l="l" t="t" r="r" b="b"/>
            <a:pathLst>
              <a:path w="1291167" h="296333">
                <a:moveTo>
                  <a:pt x="148167" y="0"/>
                </a:moveTo>
                <a:lnTo>
                  <a:pt x="1143000" y="0"/>
                </a:lnTo>
                <a:cubicBezTo>
                  <a:pt x="1224830" y="0"/>
                  <a:pt x="1291167" y="66336"/>
                  <a:pt x="1291167" y="148167"/>
                </a:cubicBezTo>
                <a:lnTo>
                  <a:pt x="1291167" y="148167"/>
                </a:lnTo>
                <a:cubicBezTo>
                  <a:pt x="1291167" y="229997"/>
                  <a:pt x="1224830" y="296333"/>
                  <a:pt x="1143000" y="296333"/>
                </a:cubicBezTo>
                <a:lnTo>
                  <a:pt x="148167" y="296333"/>
                </a:lnTo>
                <a:cubicBezTo>
                  <a:pt x="66391" y="296333"/>
                  <a:pt x="0" y="229942"/>
                  <a:pt x="0" y="148167"/>
                </a:cubicBezTo>
                <a:lnTo>
                  <a:pt x="0" y="148167"/>
                </a:lnTo>
                <a:cubicBezTo>
                  <a:pt x="0" y="66391"/>
                  <a:pt x="66391" y="0"/>
                  <a:pt x="148167" y="0"/>
                </a:cubicBezTo>
                <a:close/>
              </a:path>
            </a:pathLst>
          </a:custGeom>
          <a:solidFill>
            <a:srgbClr val="4C7E9A">
              <a:alpha val="20000"/>
            </a:srgbClr>
          </a:solidFill>
          <a:ln/>
        </p:spPr>
      </p:sp>
      <p:sp>
        <p:nvSpPr>
          <p:cNvPr id="17" name="Text 15"/>
          <p:cNvSpPr/>
          <p:nvPr/>
        </p:nvSpPr>
        <p:spPr>
          <a:xfrm>
            <a:off x="1862667" y="4699000"/>
            <a:ext cx="1365250" cy="296333"/>
          </a:xfrm>
          <a:prstGeom prst="rect">
            <a:avLst/>
          </a:prstGeom>
          <a:noFill/>
          <a:ln/>
        </p:spPr>
        <p:txBody>
          <a:bodyPr wrap="square" lIns="127000" tIns="42333" rIns="127000" bIns="42333"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提升模型复杂度</a:t>
            </a:r>
            <a:endParaRPr lang="en-US" sz="1600" dirty="0"/>
          </a:p>
        </p:txBody>
      </p:sp>
      <p:sp>
        <p:nvSpPr>
          <p:cNvPr id="18" name="Shape 16"/>
          <p:cNvSpPr/>
          <p:nvPr/>
        </p:nvSpPr>
        <p:spPr>
          <a:xfrm>
            <a:off x="3238500" y="4699000"/>
            <a:ext cx="1143000" cy="296333"/>
          </a:xfrm>
          <a:custGeom>
            <a:avLst/>
            <a:gdLst/>
            <a:ahLst/>
            <a:cxnLst/>
            <a:rect l="l" t="t" r="r" b="b"/>
            <a:pathLst>
              <a:path w="1143000" h="296333">
                <a:moveTo>
                  <a:pt x="148167" y="0"/>
                </a:moveTo>
                <a:lnTo>
                  <a:pt x="994833" y="0"/>
                </a:lnTo>
                <a:cubicBezTo>
                  <a:pt x="1076664" y="0"/>
                  <a:pt x="1143000" y="66336"/>
                  <a:pt x="1143000" y="148167"/>
                </a:cubicBezTo>
                <a:lnTo>
                  <a:pt x="1143000" y="148167"/>
                </a:lnTo>
                <a:cubicBezTo>
                  <a:pt x="1143000" y="229997"/>
                  <a:pt x="1076664" y="296333"/>
                  <a:pt x="994833" y="296333"/>
                </a:cubicBezTo>
                <a:lnTo>
                  <a:pt x="148167" y="296333"/>
                </a:lnTo>
                <a:cubicBezTo>
                  <a:pt x="66391" y="296333"/>
                  <a:pt x="0" y="229942"/>
                  <a:pt x="0" y="148167"/>
                </a:cubicBezTo>
                <a:lnTo>
                  <a:pt x="0" y="148167"/>
                </a:lnTo>
                <a:cubicBezTo>
                  <a:pt x="0" y="66391"/>
                  <a:pt x="66391" y="0"/>
                  <a:pt x="148167" y="0"/>
                </a:cubicBezTo>
                <a:close/>
              </a:path>
            </a:pathLst>
          </a:custGeom>
          <a:solidFill>
            <a:srgbClr val="4C7E9A">
              <a:alpha val="20000"/>
            </a:srgbClr>
          </a:solidFill>
          <a:ln/>
        </p:spPr>
      </p:sp>
      <p:sp>
        <p:nvSpPr>
          <p:cNvPr id="19" name="Text 17"/>
          <p:cNvSpPr/>
          <p:nvPr/>
        </p:nvSpPr>
        <p:spPr>
          <a:xfrm>
            <a:off x="3238500" y="4699000"/>
            <a:ext cx="1217083" cy="296333"/>
          </a:xfrm>
          <a:prstGeom prst="rect">
            <a:avLst/>
          </a:prstGeom>
          <a:noFill/>
          <a:ln/>
        </p:spPr>
        <p:txBody>
          <a:bodyPr wrap="square" lIns="127000" tIns="42333" rIns="127000" bIns="42333"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延长训练时间</a:t>
            </a:r>
            <a:endParaRPr lang="en-US" sz="1600" dirty="0"/>
          </a:p>
        </p:txBody>
      </p:sp>
      <p:sp>
        <p:nvSpPr>
          <p:cNvPr id="20" name="Shape 18"/>
          <p:cNvSpPr/>
          <p:nvPr/>
        </p:nvSpPr>
        <p:spPr>
          <a:xfrm>
            <a:off x="4466167" y="4699000"/>
            <a:ext cx="994833" cy="296333"/>
          </a:xfrm>
          <a:custGeom>
            <a:avLst/>
            <a:gdLst/>
            <a:ahLst/>
            <a:cxnLst/>
            <a:rect l="l" t="t" r="r" b="b"/>
            <a:pathLst>
              <a:path w="994833" h="296333">
                <a:moveTo>
                  <a:pt x="148167" y="0"/>
                </a:moveTo>
                <a:lnTo>
                  <a:pt x="846667" y="0"/>
                </a:lnTo>
                <a:cubicBezTo>
                  <a:pt x="928497" y="0"/>
                  <a:pt x="994833" y="66336"/>
                  <a:pt x="994833" y="148167"/>
                </a:cubicBezTo>
                <a:lnTo>
                  <a:pt x="994833" y="148167"/>
                </a:lnTo>
                <a:cubicBezTo>
                  <a:pt x="994833" y="229997"/>
                  <a:pt x="928497" y="296333"/>
                  <a:pt x="846667" y="296333"/>
                </a:cubicBezTo>
                <a:lnTo>
                  <a:pt x="148167" y="296333"/>
                </a:lnTo>
                <a:cubicBezTo>
                  <a:pt x="66391" y="296333"/>
                  <a:pt x="0" y="229942"/>
                  <a:pt x="0" y="148167"/>
                </a:cubicBezTo>
                <a:lnTo>
                  <a:pt x="0" y="148167"/>
                </a:lnTo>
                <a:cubicBezTo>
                  <a:pt x="0" y="66391"/>
                  <a:pt x="66391" y="0"/>
                  <a:pt x="148167" y="0"/>
                </a:cubicBezTo>
                <a:close/>
              </a:path>
            </a:pathLst>
          </a:custGeom>
          <a:solidFill>
            <a:srgbClr val="4C7E9A">
              <a:alpha val="20000"/>
            </a:srgbClr>
          </a:solidFill>
          <a:ln/>
        </p:spPr>
      </p:sp>
      <p:sp>
        <p:nvSpPr>
          <p:cNvPr id="21" name="Text 19"/>
          <p:cNvSpPr/>
          <p:nvPr/>
        </p:nvSpPr>
        <p:spPr>
          <a:xfrm>
            <a:off x="4466167" y="4699000"/>
            <a:ext cx="1068917" cy="296333"/>
          </a:xfrm>
          <a:prstGeom prst="rect">
            <a:avLst/>
          </a:prstGeom>
          <a:noFill/>
          <a:ln/>
        </p:spPr>
        <p:txBody>
          <a:bodyPr wrap="square" lIns="127000" tIns="42333" rIns="127000" bIns="42333"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减少正则化</a:t>
            </a:r>
            <a:endParaRPr lang="en-US" sz="1600" dirty="0"/>
          </a:p>
        </p:txBody>
      </p:sp>
      <p:sp>
        <p:nvSpPr>
          <p:cNvPr id="22" name="Shape 20"/>
          <p:cNvSpPr/>
          <p:nvPr/>
        </p:nvSpPr>
        <p:spPr>
          <a:xfrm>
            <a:off x="444500" y="5334000"/>
            <a:ext cx="7577667" cy="3598333"/>
          </a:xfrm>
          <a:custGeom>
            <a:avLst/>
            <a:gdLst/>
            <a:ahLst/>
            <a:cxnLst/>
            <a:rect l="l" t="t" r="r" b="b"/>
            <a:pathLst>
              <a:path w="7577667" h="3598333">
                <a:moveTo>
                  <a:pt x="42333" y="0"/>
                </a:moveTo>
                <a:lnTo>
                  <a:pt x="7492998" y="0"/>
                </a:lnTo>
                <a:cubicBezTo>
                  <a:pt x="7539759" y="0"/>
                  <a:pt x="7577667" y="37908"/>
                  <a:pt x="7577667" y="84669"/>
                </a:cubicBezTo>
                <a:lnTo>
                  <a:pt x="7577667" y="3513665"/>
                </a:lnTo>
                <a:cubicBezTo>
                  <a:pt x="7577667" y="3560426"/>
                  <a:pt x="7539759" y="3598333"/>
                  <a:pt x="7492998" y="3598333"/>
                </a:cubicBezTo>
                <a:lnTo>
                  <a:pt x="42333" y="3598333"/>
                </a:lnTo>
                <a:cubicBezTo>
                  <a:pt x="18953" y="3598333"/>
                  <a:pt x="0" y="3579380"/>
                  <a:pt x="0" y="3556000"/>
                </a:cubicBezTo>
                <a:lnTo>
                  <a:pt x="0" y="42333"/>
                </a:lnTo>
                <a:cubicBezTo>
                  <a:pt x="0" y="18953"/>
                  <a:pt x="18953" y="0"/>
                  <a:pt x="42333" y="0"/>
                </a:cubicBezTo>
                <a:close/>
              </a:path>
            </a:pathLst>
          </a:custGeom>
          <a:solidFill>
            <a:srgbClr val="3A5E78">
              <a:alpha val="20000"/>
            </a:srgbClr>
          </a:solidFill>
          <a:ln/>
        </p:spPr>
      </p:sp>
      <p:sp>
        <p:nvSpPr>
          <p:cNvPr id="23" name="Shape 21"/>
          <p:cNvSpPr/>
          <p:nvPr/>
        </p:nvSpPr>
        <p:spPr>
          <a:xfrm>
            <a:off x="444500" y="5334000"/>
            <a:ext cx="42333" cy="3598333"/>
          </a:xfrm>
          <a:custGeom>
            <a:avLst/>
            <a:gdLst/>
            <a:ahLst/>
            <a:cxnLst/>
            <a:rect l="l" t="t" r="r" b="b"/>
            <a:pathLst>
              <a:path w="42333" h="3598333">
                <a:moveTo>
                  <a:pt x="42333" y="0"/>
                </a:moveTo>
                <a:lnTo>
                  <a:pt x="42333" y="0"/>
                </a:lnTo>
                <a:lnTo>
                  <a:pt x="42333" y="3598333"/>
                </a:lnTo>
                <a:lnTo>
                  <a:pt x="42333" y="3598333"/>
                </a:lnTo>
                <a:cubicBezTo>
                  <a:pt x="18953" y="3598333"/>
                  <a:pt x="0" y="3579380"/>
                  <a:pt x="0" y="3556000"/>
                </a:cubicBezTo>
                <a:lnTo>
                  <a:pt x="0" y="42333"/>
                </a:lnTo>
                <a:cubicBezTo>
                  <a:pt x="0" y="18953"/>
                  <a:pt x="18953" y="0"/>
                  <a:pt x="42333" y="0"/>
                </a:cubicBezTo>
                <a:close/>
              </a:path>
            </a:pathLst>
          </a:custGeom>
          <a:solidFill>
            <a:srgbClr val="4C7E9A"/>
          </a:solidFill>
          <a:ln/>
        </p:spPr>
      </p:sp>
      <p:sp>
        <p:nvSpPr>
          <p:cNvPr id="24" name="Shape 22"/>
          <p:cNvSpPr/>
          <p:nvPr/>
        </p:nvSpPr>
        <p:spPr>
          <a:xfrm>
            <a:off x="677333" y="5513917"/>
            <a:ext cx="317500" cy="317500"/>
          </a:xfrm>
          <a:custGeom>
            <a:avLst/>
            <a:gdLst/>
            <a:ahLst/>
            <a:cxnLst/>
            <a:rect l="l" t="t" r="r" b="b"/>
            <a:pathLst>
              <a:path w="317500" h="317500">
                <a:moveTo>
                  <a:pt x="158750" y="0"/>
                </a:moveTo>
                <a:cubicBezTo>
                  <a:pt x="167866" y="0"/>
                  <a:pt x="176237" y="5023"/>
                  <a:pt x="180578" y="13022"/>
                </a:cubicBezTo>
                <a:lnTo>
                  <a:pt x="314523" y="261069"/>
                </a:lnTo>
                <a:cubicBezTo>
                  <a:pt x="318678" y="268759"/>
                  <a:pt x="318492" y="278061"/>
                  <a:pt x="314027" y="285564"/>
                </a:cubicBezTo>
                <a:cubicBezTo>
                  <a:pt x="309562" y="293067"/>
                  <a:pt x="301439" y="297656"/>
                  <a:pt x="292695" y="297656"/>
                </a:cubicBezTo>
                <a:lnTo>
                  <a:pt x="24805" y="297656"/>
                </a:lnTo>
                <a:cubicBezTo>
                  <a:pt x="16061" y="297656"/>
                  <a:pt x="8000" y="293067"/>
                  <a:pt x="3473" y="285564"/>
                </a:cubicBezTo>
                <a:cubicBezTo>
                  <a:pt x="-1054" y="278061"/>
                  <a:pt x="-1178" y="268759"/>
                  <a:pt x="2977" y="261069"/>
                </a:cubicBezTo>
                <a:lnTo>
                  <a:pt x="136922" y="13022"/>
                </a:lnTo>
                <a:cubicBezTo>
                  <a:pt x="141263" y="5023"/>
                  <a:pt x="149634" y="0"/>
                  <a:pt x="158750" y="0"/>
                </a:cubicBezTo>
                <a:close/>
                <a:moveTo>
                  <a:pt x="158750" y="104180"/>
                </a:moveTo>
                <a:cubicBezTo>
                  <a:pt x="150502" y="104180"/>
                  <a:pt x="143867" y="110815"/>
                  <a:pt x="143867" y="119062"/>
                </a:cubicBezTo>
                <a:lnTo>
                  <a:pt x="143867" y="188516"/>
                </a:lnTo>
                <a:cubicBezTo>
                  <a:pt x="143867" y="196763"/>
                  <a:pt x="150502" y="203398"/>
                  <a:pt x="158750" y="203398"/>
                </a:cubicBezTo>
                <a:cubicBezTo>
                  <a:pt x="166998" y="203398"/>
                  <a:pt x="173633" y="196763"/>
                  <a:pt x="173633" y="188516"/>
                </a:cubicBezTo>
                <a:lnTo>
                  <a:pt x="173633" y="119062"/>
                </a:lnTo>
                <a:cubicBezTo>
                  <a:pt x="173633" y="110815"/>
                  <a:pt x="166998" y="104180"/>
                  <a:pt x="158750" y="104180"/>
                </a:cubicBezTo>
                <a:close/>
                <a:moveTo>
                  <a:pt x="175307" y="238125"/>
                </a:moveTo>
                <a:cubicBezTo>
                  <a:pt x="175684" y="231979"/>
                  <a:pt x="172619" y="226132"/>
                  <a:pt x="167350" y="222945"/>
                </a:cubicBezTo>
                <a:cubicBezTo>
                  <a:pt x="162082" y="219758"/>
                  <a:pt x="155480" y="219758"/>
                  <a:pt x="150212" y="222945"/>
                </a:cubicBezTo>
                <a:cubicBezTo>
                  <a:pt x="144943" y="226132"/>
                  <a:pt x="141878" y="231979"/>
                  <a:pt x="142255" y="238125"/>
                </a:cubicBezTo>
                <a:cubicBezTo>
                  <a:pt x="141878" y="244271"/>
                  <a:pt x="144943" y="250118"/>
                  <a:pt x="150212" y="253305"/>
                </a:cubicBezTo>
                <a:cubicBezTo>
                  <a:pt x="155480" y="256492"/>
                  <a:pt x="162082" y="256492"/>
                  <a:pt x="167350" y="253305"/>
                </a:cubicBezTo>
                <a:cubicBezTo>
                  <a:pt x="172619" y="250118"/>
                  <a:pt x="175684" y="244271"/>
                  <a:pt x="175307" y="238125"/>
                </a:cubicBezTo>
                <a:close/>
              </a:path>
            </a:pathLst>
          </a:custGeom>
          <a:solidFill>
            <a:srgbClr val="4C7E9A"/>
          </a:solidFill>
          <a:ln/>
        </p:spPr>
      </p:sp>
      <p:sp>
        <p:nvSpPr>
          <p:cNvPr id="25" name="Text 23"/>
          <p:cNvSpPr/>
          <p:nvPr/>
        </p:nvSpPr>
        <p:spPr>
          <a:xfrm>
            <a:off x="1158875" y="5503333"/>
            <a:ext cx="2360083" cy="338667"/>
          </a:xfrm>
          <a:prstGeom prst="rect">
            <a:avLst/>
          </a:prstGeom>
          <a:noFill/>
          <a:ln/>
        </p:spPr>
        <p:txBody>
          <a:bodyPr wrap="square" lIns="0" tIns="0" rIns="0" bIns="0" rtlCol="0" anchor="ctr"/>
          <a:lstStyle/>
          <a:p>
            <a:pPr>
              <a:lnSpc>
                <a:spcPct val="110000"/>
              </a:lnSpc>
            </a:pPr>
            <a:r>
              <a:rPr lang="en-US" sz="2000" b="1" dirty="0">
                <a:solidFill>
                  <a:srgbClr val="D1D5DB"/>
                </a:solidFill>
                <a:latin typeface="MiSans" pitchFamily="34" charset="0"/>
                <a:ea typeface="MiSans" pitchFamily="34" charset="-122"/>
                <a:cs typeface="MiSans" pitchFamily="34" charset="-120"/>
              </a:rPr>
              <a:t>过拟合 (Overfitting)</a:t>
            </a:r>
            <a:endParaRPr lang="en-US" sz="1600" dirty="0"/>
          </a:p>
        </p:txBody>
      </p:sp>
      <p:sp>
        <p:nvSpPr>
          <p:cNvPr id="26" name="Text 24"/>
          <p:cNvSpPr/>
          <p:nvPr/>
        </p:nvSpPr>
        <p:spPr>
          <a:xfrm>
            <a:off x="635000" y="5969000"/>
            <a:ext cx="7313083"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表现特征</a:t>
            </a:r>
            <a:endParaRPr lang="en-US" sz="1600" dirty="0"/>
          </a:p>
        </p:txBody>
      </p:sp>
      <p:sp>
        <p:nvSpPr>
          <p:cNvPr id="27" name="Text 25"/>
          <p:cNvSpPr/>
          <p:nvPr/>
        </p:nvSpPr>
        <p:spPr>
          <a:xfrm>
            <a:off x="635000" y="6350000"/>
            <a:ext cx="7302500" cy="550333"/>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训练误差很小但测试误差较大，两者之间差距很大。模型在训练集上表现完美，但在新数据上表现糟糕。</a:t>
            </a:r>
            <a:endParaRPr lang="en-US" sz="1600" dirty="0"/>
          </a:p>
        </p:txBody>
      </p:sp>
      <p:sp>
        <p:nvSpPr>
          <p:cNvPr id="28" name="Text 26"/>
          <p:cNvSpPr/>
          <p:nvPr/>
        </p:nvSpPr>
        <p:spPr>
          <a:xfrm>
            <a:off x="635000" y="7027333"/>
            <a:ext cx="7313083"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根本原因</a:t>
            </a:r>
            <a:endParaRPr lang="en-US" sz="1600" dirty="0"/>
          </a:p>
        </p:txBody>
      </p:sp>
      <p:sp>
        <p:nvSpPr>
          <p:cNvPr id="29" name="Text 27"/>
          <p:cNvSpPr/>
          <p:nvPr/>
        </p:nvSpPr>
        <p:spPr>
          <a:xfrm>
            <a:off x="635000" y="7408333"/>
            <a:ext cx="7302500" cy="550333"/>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模型过度拟合训练数据，包括其中的噪声和随机波动，导致泛化能力下降。就像是死记硬背的学生。</a:t>
            </a:r>
            <a:endParaRPr lang="en-US" sz="1600" dirty="0"/>
          </a:p>
        </p:txBody>
      </p:sp>
      <p:sp>
        <p:nvSpPr>
          <p:cNvPr id="30" name="Text 28"/>
          <p:cNvSpPr/>
          <p:nvPr/>
        </p:nvSpPr>
        <p:spPr>
          <a:xfrm>
            <a:off x="635000" y="8085667"/>
            <a:ext cx="7313083"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改善方法</a:t>
            </a:r>
            <a:endParaRPr lang="en-US" sz="1600" dirty="0"/>
          </a:p>
        </p:txBody>
      </p:sp>
      <p:sp>
        <p:nvSpPr>
          <p:cNvPr id="31" name="Shape 29"/>
          <p:cNvSpPr/>
          <p:nvPr/>
        </p:nvSpPr>
        <p:spPr>
          <a:xfrm>
            <a:off x="635000" y="8466667"/>
            <a:ext cx="1143000" cy="296333"/>
          </a:xfrm>
          <a:custGeom>
            <a:avLst/>
            <a:gdLst/>
            <a:ahLst/>
            <a:cxnLst/>
            <a:rect l="l" t="t" r="r" b="b"/>
            <a:pathLst>
              <a:path w="1143000" h="296333">
                <a:moveTo>
                  <a:pt x="148167" y="0"/>
                </a:moveTo>
                <a:lnTo>
                  <a:pt x="994833" y="0"/>
                </a:lnTo>
                <a:cubicBezTo>
                  <a:pt x="1076664" y="0"/>
                  <a:pt x="1143000" y="66336"/>
                  <a:pt x="1143000" y="148167"/>
                </a:cubicBezTo>
                <a:lnTo>
                  <a:pt x="1143000" y="148167"/>
                </a:lnTo>
                <a:cubicBezTo>
                  <a:pt x="1143000" y="229997"/>
                  <a:pt x="1076664" y="296333"/>
                  <a:pt x="994833" y="296333"/>
                </a:cubicBezTo>
                <a:lnTo>
                  <a:pt x="148167" y="296333"/>
                </a:lnTo>
                <a:cubicBezTo>
                  <a:pt x="66391" y="296333"/>
                  <a:pt x="0" y="229942"/>
                  <a:pt x="0" y="148167"/>
                </a:cubicBezTo>
                <a:lnTo>
                  <a:pt x="0" y="148167"/>
                </a:lnTo>
                <a:cubicBezTo>
                  <a:pt x="0" y="66391"/>
                  <a:pt x="66391" y="0"/>
                  <a:pt x="148167" y="0"/>
                </a:cubicBezTo>
                <a:close/>
              </a:path>
            </a:pathLst>
          </a:custGeom>
          <a:solidFill>
            <a:srgbClr val="4C7E9A">
              <a:alpha val="20000"/>
            </a:srgbClr>
          </a:solidFill>
          <a:ln/>
        </p:spPr>
      </p:sp>
      <p:sp>
        <p:nvSpPr>
          <p:cNvPr id="32" name="Text 30"/>
          <p:cNvSpPr/>
          <p:nvPr/>
        </p:nvSpPr>
        <p:spPr>
          <a:xfrm>
            <a:off x="635000" y="8466667"/>
            <a:ext cx="1217083" cy="296333"/>
          </a:xfrm>
          <a:prstGeom prst="rect">
            <a:avLst/>
          </a:prstGeom>
          <a:noFill/>
          <a:ln/>
        </p:spPr>
        <p:txBody>
          <a:bodyPr wrap="square" lIns="127000" tIns="42333" rIns="127000" bIns="42333"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减少特征数量</a:t>
            </a:r>
            <a:endParaRPr lang="en-US" sz="1600" dirty="0"/>
          </a:p>
        </p:txBody>
      </p:sp>
      <p:sp>
        <p:nvSpPr>
          <p:cNvPr id="33" name="Shape 31"/>
          <p:cNvSpPr/>
          <p:nvPr/>
        </p:nvSpPr>
        <p:spPr>
          <a:xfrm>
            <a:off x="1862667" y="8466667"/>
            <a:ext cx="1291167" cy="296333"/>
          </a:xfrm>
          <a:custGeom>
            <a:avLst/>
            <a:gdLst/>
            <a:ahLst/>
            <a:cxnLst/>
            <a:rect l="l" t="t" r="r" b="b"/>
            <a:pathLst>
              <a:path w="1291167" h="296333">
                <a:moveTo>
                  <a:pt x="148167" y="0"/>
                </a:moveTo>
                <a:lnTo>
                  <a:pt x="1143000" y="0"/>
                </a:lnTo>
                <a:cubicBezTo>
                  <a:pt x="1224830" y="0"/>
                  <a:pt x="1291167" y="66336"/>
                  <a:pt x="1291167" y="148167"/>
                </a:cubicBezTo>
                <a:lnTo>
                  <a:pt x="1291167" y="148167"/>
                </a:lnTo>
                <a:cubicBezTo>
                  <a:pt x="1291167" y="229997"/>
                  <a:pt x="1224830" y="296333"/>
                  <a:pt x="1143000" y="296333"/>
                </a:cubicBezTo>
                <a:lnTo>
                  <a:pt x="148167" y="296333"/>
                </a:lnTo>
                <a:cubicBezTo>
                  <a:pt x="66391" y="296333"/>
                  <a:pt x="0" y="229942"/>
                  <a:pt x="0" y="148167"/>
                </a:cubicBezTo>
                <a:lnTo>
                  <a:pt x="0" y="148167"/>
                </a:lnTo>
                <a:cubicBezTo>
                  <a:pt x="0" y="66391"/>
                  <a:pt x="66391" y="0"/>
                  <a:pt x="148167" y="0"/>
                </a:cubicBezTo>
                <a:close/>
              </a:path>
            </a:pathLst>
          </a:custGeom>
          <a:solidFill>
            <a:srgbClr val="4C7E9A">
              <a:alpha val="20000"/>
            </a:srgbClr>
          </a:solidFill>
          <a:ln/>
        </p:spPr>
      </p:sp>
      <p:sp>
        <p:nvSpPr>
          <p:cNvPr id="34" name="Text 32"/>
          <p:cNvSpPr/>
          <p:nvPr/>
        </p:nvSpPr>
        <p:spPr>
          <a:xfrm>
            <a:off x="1862667" y="8466667"/>
            <a:ext cx="1365250" cy="296333"/>
          </a:xfrm>
          <a:prstGeom prst="rect">
            <a:avLst/>
          </a:prstGeom>
          <a:noFill/>
          <a:ln/>
        </p:spPr>
        <p:txBody>
          <a:bodyPr wrap="square" lIns="127000" tIns="42333" rIns="127000" bIns="42333"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加入正则化约束</a:t>
            </a:r>
            <a:endParaRPr lang="en-US" sz="1600" dirty="0"/>
          </a:p>
        </p:txBody>
      </p:sp>
      <p:sp>
        <p:nvSpPr>
          <p:cNvPr id="35" name="Shape 33"/>
          <p:cNvSpPr/>
          <p:nvPr/>
        </p:nvSpPr>
        <p:spPr>
          <a:xfrm>
            <a:off x="3238500" y="8466667"/>
            <a:ext cx="1143000" cy="296333"/>
          </a:xfrm>
          <a:custGeom>
            <a:avLst/>
            <a:gdLst/>
            <a:ahLst/>
            <a:cxnLst/>
            <a:rect l="l" t="t" r="r" b="b"/>
            <a:pathLst>
              <a:path w="1143000" h="296333">
                <a:moveTo>
                  <a:pt x="148167" y="0"/>
                </a:moveTo>
                <a:lnTo>
                  <a:pt x="994833" y="0"/>
                </a:lnTo>
                <a:cubicBezTo>
                  <a:pt x="1076664" y="0"/>
                  <a:pt x="1143000" y="66336"/>
                  <a:pt x="1143000" y="148167"/>
                </a:cubicBezTo>
                <a:lnTo>
                  <a:pt x="1143000" y="148167"/>
                </a:lnTo>
                <a:cubicBezTo>
                  <a:pt x="1143000" y="229997"/>
                  <a:pt x="1076664" y="296333"/>
                  <a:pt x="994833" y="296333"/>
                </a:cubicBezTo>
                <a:lnTo>
                  <a:pt x="148167" y="296333"/>
                </a:lnTo>
                <a:cubicBezTo>
                  <a:pt x="66391" y="296333"/>
                  <a:pt x="0" y="229942"/>
                  <a:pt x="0" y="148167"/>
                </a:cubicBezTo>
                <a:lnTo>
                  <a:pt x="0" y="148167"/>
                </a:lnTo>
                <a:cubicBezTo>
                  <a:pt x="0" y="66391"/>
                  <a:pt x="66391" y="0"/>
                  <a:pt x="148167" y="0"/>
                </a:cubicBezTo>
                <a:close/>
              </a:path>
            </a:pathLst>
          </a:custGeom>
          <a:solidFill>
            <a:srgbClr val="4C7E9A">
              <a:alpha val="20000"/>
            </a:srgbClr>
          </a:solidFill>
          <a:ln/>
        </p:spPr>
      </p:sp>
      <p:sp>
        <p:nvSpPr>
          <p:cNvPr id="36" name="Text 34"/>
          <p:cNvSpPr/>
          <p:nvPr/>
        </p:nvSpPr>
        <p:spPr>
          <a:xfrm>
            <a:off x="3238500" y="8466667"/>
            <a:ext cx="1217083" cy="296333"/>
          </a:xfrm>
          <a:prstGeom prst="rect">
            <a:avLst/>
          </a:prstGeom>
          <a:noFill/>
          <a:ln/>
        </p:spPr>
        <p:txBody>
          <a:bodyPr wrap="square" lIns="127000" tIns="42333" rIns="127000" bIns="42333"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增加训练数据</a:t>
            </a:r>
            <a:endParaRPr lang="en-US" sz="1600" dirty="0"/>
          </a:p>
        </p:txBody>
      </p:sp>
      <p:sp>
        <p:nvSpPr>
          <p:cNvPr id="37" name="Shape 35"/>
          <p:cNvSpPr/>
          <p:nvPr/>
        </p:nvSpPr>
        <p:spPr>
          <a:xfrm>
            <a:off x="4466167" y="8466667"/>
            <a:ext cx="1143000" cy="296333"/>
          </a:xfrm>
          <a:custGeom>
            <a:avLst/>
            <a:gdLst/>
            <a:ahLst/>
            <a:cxnLst/>
            <a:rect l="l" t="t" r="r" b="b"/>
            <a:pathLst>
              <a:path w="1143000" h="296333">
                <a:moveTo>
                  <a:pt x="148167" y="0"/>
                </a:moveTo>
                <a:lnTo>
                  <a:pt x="994833" y="0"/>
                </a:lnTo>
                <a:cubicBezTo>
                  <a:pt x="1076664" y="0"/>
                  <a:pt x="1143000" y="66336"/>
                  <a:pt x="1143000" y="148167"/>
                </a:cubicBezTo>
                <a:lnTo>
                  <a:pt x="1143000" y="148167"/>
                </a:lnTo>
                <a:cubicBezTo>
                  <a:pt x="1143000" y="229997"/>
                  <a:pt x="1076664" y="296333"/>
                  <a:pt x="994833" y="296333"/>
                </a:cubicBezTo>
                <a:lnTo>
                  <a:pt x="148167" y="296333"/>
                </a:lnTo>
                <a:cubicBezTo>
                  <a:pt x="66391" y="296333"/>
                  <a:pt x="0" y="229942"/>
                  <a:pt x="0" y="148167"/>
                </a:cubicBezTo>
                <a:lnTo>
                  <a:pt x="0" y="148167"/>
                </a:lnTo>
                <a:cubicBezTo>
                  <a:pt x="0" y="66391"/>
                  <a:pt x="66391" y="0"/>
                  <a:pt x="148167" y="0"/>
                </a:cubicBezTo>
                <a:close/>
              </a:path>
            </a:pathLst>
          </a:custGeom>
          <a:solidFill>
            <a:srgbClr val="4C7E9A">
              <a:alpha val="20000"/>
            </a:srgbClr>
          </a:solidFill>
          <a:ln/>
        </p:spPr>
      </p:sp>
      <p:sp>
        <p:nvSpPr>
          <p:cNvPr id="38" name="Text 36"/>
          <p:cNvSpPr/>
          <p:nvPr/>
        </p:nvSpPr>
        <p:spPr>
          <a:xfrm>
            <a:off x="4466167" y="8466667"/>
            <a:ext cx="1217083" cy="296333"/>
          </a:xfrm>
          <a:prstGeom prst="rect">
            <a:avLst/>
          </a:prstGeom>
          <a:noFill/>
          <a:ln/>
        </p:spPr>
        <p:txBody>
          <a:bodyPr wrap="square" lIns="127000" tIns="42333" rIns="127000" bIns="42333"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使用集成学习</a:t>
            </a:r>
            <a:endParaRPr lang="en-US" sz="1600" dirty="0"/>
          </a:p>
        </p:txBody>
      </p:sp>
      <p:pic>
        <p:nvPicPr>
          <p:cNvPr id="39" name="Image 0" descr="https://kimi-img.moonshot.cn/pub/slides/26-01-07-11:57:46-d5etjel3v89m4amh1h30.png">    </p:cNvPr>
          <p:cNvPicPr>
            <a:picLocks noChangeAspect="1"/>
          </p:cNvPicPr>
          <p:nvPr/>
        </p:nvPicPr>
        <p:blipFill>
          <a:blip r:embed="rId1"/>
          <a:srcRect l="0" r="0" t="0" b="0"/>
          <a:stretch/>
        </p:blipFill>
        <p:spPr>
          <a:xfrm>
            <a:off x="8233833" y="1566333"/>
            <a:ext cx="6244167" cy="5820833"/>
          </a:xfrm>
          <a:prstGeom prst="roundRect">
            <a:avLst>
              <a:gd name="adj" fmla="val 0"/>
            </a:avLst>
          </a:prstGeom>
        </p:spPr>
      </p:pic>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MODEL EVALUATION</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偏差与方差权衡</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24000"/>
            <a:ext cx="5270500" cy="3069167"/>
          </a:xfrm>
          <a:custGeom>
            <a:avLst/>
            <a:gdLst/>
            <a:ahLst/>
            <a:cxnLst/>
            <a:rect l="l" t="t" r="r" b="b"/>
            <a:pathLst>
              <a:path w="5270500" h="3069167">
                <a:moveTo>
                  <a:pt x="42333" y="0"/>
                </a:moveTo>
                <a:lnTo>
                  <a:pt x="5185822" y="0"/>
                </a:lnTo>
                <a:cubicBezTo>
                  <a:pt x="5232588" y="0"/>
                  <a:pt x="5270500" y="37912"/>
                  <a:pt x="5270500" y="84678"/>
                </a:cubicBezTo>
                <a:lnTo>
                  <a:pt x="5270500" y="2984488"/>
                </a:lnTo>
                <a:cubicBezTo>
                  <a:pt x="5270500" y="3031255"/>
                  <a:pt x="5232588" y="3069167"/>
                  <a:pt x="5185822" y="3069167"/>
                </a:cubicBezTo>
                <a:lnTo>
                  <a:pt x="42333" y="3069167"/>
                </a:lnTo>
                <a:cubicBezTo>
                  <a:pt x="18953" y="3069167"/>
                  <a:pt x="0" y="3050213"/>
                  <a:pt x="0" y="3026833"/>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24000"/>
            <a:ext cx="42333" cy="3069167"/>
          </a:xfrm>
          <a:custGeom>
            <a:avLst/>
            <a:gdLst/>
            <a:ahLst/>
            <a:cxnLst/>
            <a:rect l="l" t="t" r="r" b="b"/>
            <a:pathLst>
              <a:path w="42333" h="3069167">
                <a:moveTo>
                  <a:pt x="42333" y="0"/>
                </a:moveTo>
                <a:lnTo>
                  <a:pt x="42333" y="0"/>
                </a:lnTo>
                <a:lnTo>
                  <a:pt x="42333" y="3069167"/>
                </a:lnTo>
                <a:lnTo>
                  <a:pt x="42333" y="3069167"/>
                </a:lnTo>
                <a:cubicBezTo>
                  <a:pt x="18953" y="3069167"/>
                  <a:pt x="0" y="3050213"/>
                  <a:pt x="0" y="3026833"/>
                </a:cubicBezTo>
                <a:lnTo>
                  <a:pt x="0" y="42333"/>
                </a:lnTo>
                <a:cubicBezTo>
                  <a:pt x="0" y="18953"/>
                  <a:pt x="18953" y="0"/>
                  <a:pt x="42333" y="0"/>
                </a:cubicBezTo>
                <a:close/>
              </a:path>
            </a:pathLst>
          </a:custGeom>
          <a:solidFill>
            <a:srgbClr val="4C7E9A"/>
          </a:solidFill>
          <a:ln/>
        </p:spPr>
      </p:sp>
      <p:sp>
        <p:nvSpPr>
          <p:cNvPr id="7" name="Text 5"/>
          <p:cNvSpPr/>
          <p:nvPr/>
        </p:nvSpPr>
        <p:spPr>
          <a:xfrm>
            <a:off x="635000" y="1693333"/>
            <a:ext cx="5037667"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核心概念</a:t>
            </a:r>
            <a:endParaRPr lang="en-US" sz="1600" dirty="0"/>
          </a:p>
        </p:txBody>
      </p:sp>
      <p:sp>
        <p:nvSpPr>
          <p:cNvPr id="8" name="Shape 6"/>
          <p:cNvSpPr/>
          <p:nvPr/>
        </p:nvSpPr>
        <p:spPr>
          <a:xfrm>
            <a:off x="648229" y="2206625"/>
            <a:ext cx="238125" cy="211667"/>
          </a:xfrm>
          <a:custGeom>
            <a:avLst/>
            <a:gdLst/>
            <a:ahLst/>
            <a:cxnLst/>
            <a:rect l="l" t="t" r="r" b="b"/>
            <a:pathLst>
              <a:path w="238125" h="211667">
                <a:moveTo>
                  <a:pt x="119063" y="-6615"/>
                </a:moveTo>
                <a:cubicBezTo>
                  <a:pt x="126380" y="-6615"/>
                  <a:pt x="132292" y="-703"/>
                  <a:pt x="132292" y="6615"/>
                </a:cubicBezTo>
                <a:lnTo>
                  <a:pt x="132292" y="14180"/>
                </a:lnTo>
                <a:cubicBezTo>
                  <a:pt x="172847" y="19968"/>
                  <a:pt x="204928" y="52049"/>
                  <a:pt x="210716" y="92604"/>
                </a:cubicBezTo>
                <a:lnTo>
                  <a:pt x="218281" y="92604"/>
                </a:lnTo>
                <a:cubicBezTo>
                  <a:pt x="225599" y="92604"/>
                  <a:pt x="231510" y="98516"/>
                  <a:pt x="231510" y="105833"/>
                </a:cubicBezTo>
                <a:cubicBezTo>
                  <a:pt x="231510" y="113151"/>
                  <a:pt x="225599" y="119063"/>
                  <a:pt x="218281" y="119063"/>
                </a:cubicBezTo>
                <a:lnTo>
                  <a:pt x="210716" y="119063"/>
                </a:lnTo>
                <a:cubicBezTo>
                  <a:pt x="204928" y="159618"/>
                  <a:pt x="172847" y="191699"/>
                  <a:pt x="132292" y="197487"/>
                </a:cubicBezTo>
                <a:lnTo>
                  <a:pt x="132292" y="205052"/>
                </a:lnTo>
                <a:cubicBezTo>
                  <a:pt x="132292" y="212369"/>
                  <a:pt x="126380" y="218281"/>
                  <a:pt x="119063" y="218281"/>
                </a:cubicBezTo>
                <a:cubicBezTo>
                  <a:pt x="111745" y="218281"/>
                  <a:pt x="105833" y="212369"/>
                  <a:pt x="105833" y="205052"/>
                </a:cubicBezTo>
                <a:lnTo>
                  <a:pt x="105833" y="197487"/>
                </a:lnTo>
                <a:cubicBezTo>
                  <a:pt x="65278" y="191699"/>
                  <a:pt x="33197" y="159618"/>
                  <a:pt x="27409" y="119063"/>
                </a:cubicBezTo>
                <a:lnTo>
                  <a:pt x="19844" y="119063"/>
                </a:lnTo>
                <a:cubicBezTo>
                  <a:pt x="12526" y="119063"/>
                  <a:pt x="6615" y="113151"/>
                  <a:pt x="6615" y="105833"/>
                </a:cubicBezTo>
                <a:cubicBezTo>
                  <a:pt x="6615" y="98516"/>
                  <a:pt x="12526" y="92604"/>
                  <a:pt x="19844" y="92604"/>
                </a:cubicBezTo>
                <a:lnTo>
                  <a:pt x="27409" y="92604"/>
                </a:lnTo>
                <a:cubicBezTo>
                  <a:pt x="33197" y="52049"/>
                  <a:pt x="65278" y="19968"/>
                  <a:pt x="105833" y="14180"/>
                </a:cubicBezTo>
                <a:lnTo>
                  <a:pt x="105833" y="6615"/>
                </a:lnTo>
                <a:cubicBezTo>
                  <a:pt x="105833" y="-703"/>
                  <a:pt x="111745" y="-6615"/>
                  <a:pt x="119063" y="-6615"/>
                </a:cubicBezTo>
                <a:close/>
                <a:moveTo>
                  <a:pt x="54240" y="119063"/>
                </a:moveTo>
                <a:cubicBezTo>
                  <a:pt x="59490" y="144983"/>
                  <a:pt x="79912" y="165406"/>
                  <a:pt x="105833" y="170656"/>
                </a:cubicBezTo>
                <a:lnTo>
                  <a:pt x="105833" y="165365"/>
                </a:lnTo>
                <a:cubicBezTo>
                  <a:pt x="105833" y="158047"/>
                  <a:pt x="111745" y="152135"/>
                  <a:pt x="119063" y="152135"/>
                </a:cubicBezTo>
                <a:cubicBezTo>
                  <a:pt x="126380" y="152135"/>
                  <a:pt x="132292" y="158047"/>
                  <a:pt x="132292" y="165365"/>
                </a:cubicBezTo>
                <a:lnTo>
                  <a:pt x="132292" y="170656"/>
                </a:lnTo>
                <a:cubicBezTo>
                  <a:pt x="158213" y="165406"/>
                  <a:pt x="178635" y="144983"/>
                  <a:pt x="183885" y="119063"/>
                </a:cubicBezTo>
                <a:lnTo>
                  <a:pt x="178594" y="119063"/>
                </a:lnTo>
                <a:cubicBezTo>
                  <a:pt x="171276" y="119063"/>
                  <a:pt x="165365" y="113151"/>
                  <a:pt x="165365" y="105833"/>
                </a:cubicBezTo>
                <a:cubicBezTo>
                  <a:pt x="165365" y="98516"/>
                  <a:pt x="171276" y="92604"/>
                  <a:pt x="178594" y="92604"/>
                </a:cubicBezTo>
                <a:lnTo>
                  <a:pt x="183885" y="92604"/>
                </a:lnTo>
                <a:cubicBezTo>
                  <a:pt x="178635" y="66683"/>
                  <a:pt x="158213" y="46261"/>
                  <a:pt x="132292" y="41010"/>
                </a:cubicBezTo>
                <a:lnTo>
                  <a:pt x="132292" y="46302"/>
                </a:lnTo>
                <a:cubicBezTo>
                  <a:pt x="132292" y="53619"/>
                  <a:pt x="126380" y="59531"/>
                  <a:pt x="119063" y="59531"/>
                </a:cubicBezTo>
                <a:cubicBezTo>
                  <a:pt x="111745" y="59531"/>
                  <a:pt x="105833" y="53619"/>
                  <a:pt x="105833" y="46302"/>
                </a:cubicBezTo>
                <a:lnTo>
                  <a:pt x="105833" y="41010"/>
                </a:lnTo>
                <a:cubicBezTo>
                  <a:pt x="79912" y="46261"/>
                  <a:pt x="59490" y="66683"/>
                  <a:pt x="54240" y="92604"/>
                </a:cubicBezTo>
                <a:lnTo>
                  <a:pt x="59531" y="92604"/>
                </a:lnTo>
                <a:cubicBezTo>
                  <a:pt x="66849" y="92604"/>
                  <a:pt x="72760" y="98516"/>
                  <a:pt x="72760" y="105833"/>
                </a:cubicBezTo>
                <a:cubicBezTo>
                  <a:pt x="72760" y="113151"/>
                  <a:pt x="66849" y="119063"/>
                  <a:pt x="59531" y="119063"/>
                </a:cubicBezTo>
                <a:lnTo>
                  <a:pt x="54240" y="119063"/>
                </a:lnTo>
                <a:close/>
                <a:moveTo>
                  <a:pt x="119063" y="85990"/>
                </a:moveTo>
                <a:cubicBezTo>
                  <a:pt x="130015" y="85990"/>
                  <a:pt x="138906" y="94881"/>
                  <a:pt x="138906" y="105833"/>
                </a:cubicBezTo>
                <a:cubicBezTo>
                  <a:pt x="138906" y="116785"/>
                  <a:pt x="130015" y="125677"/>
                  <a:pt x="119063" y="125677"/>
                </a:cubicBezTo>
                <a:cubicBezTo>
                  <a:pt x="108110" y="125677"/>
                  <a:pt x="99219" y="116785"/>
                  <a:pt x="99219" y="105833"/>
                </a:cubicBezTo>
                <a:cubicBezTo>
                  <a:pt x="99219" y="94881"/>
                  <a:pt x="108110" y="85990"/>
                  <a:pt x="119063" y="85990"/>
                </a:cubicBezTo>
                <a:close/>
              </a:path>
            </a:pathLst>
          </a:custGeom>
          <a:solidFill>
            <a:srgbClr val="4C7E9A"/>
          </a:solidFill>
          <a:ln/>
        </p:spPr>
      </p:sp>
      <p:sp>
        <p:nvSpPr>
          <p:cNvPr id="9" name="Text 7"/>
          <p:cNvSpPr/>
          <p:nvPr/>
        </p:nvSpPr>
        <p:spPr>
          <a:xfrm>
            <a:off x="970139" y="2159000"/>
            <a:ext cx="4681361"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偏差 (Bias)</a:t>
            </a:r>
            <a:endParaRPr lang="en-US" sz="1600" dirty="0"/>
          </a:p>
        </p:txBody>
      </p:sp>
      <p:sp>
        <p:nvSpPr>
          <p:cNvPr id="10" name="Text 8"/>
          <p:cNvSpPr/>
          <p:nvPr/>
        </p:nvSpPr>
        <p:spPr>
          <a:xfrm>
            <a:off x="635000" y="2540000"/>
            <a:ext cx="4995333" cy="550333"/>
          </a:xfrm>
          <a:prstGeom prst="rect">
            <a:avLst/>
          </a:prstGeom>
          <a:noFill/>
          <a:ln/>
        </p:spPr>
        <p:txBody>
          <a:bodyPr wrap="square" lIns="0" tIns="0" rIns="0" bIns="0" rtlCol="0" anchor="ctr"/>
          <a:lstStyle/>
          <a:p>
            <a:pPr>
              <a:lnSpc>
                <a:spcPct val="140000"/>
              </a:lnSpc>
            </a:pPr>
            <a:r>
              <a:rPr lang="en-US" sz="1333" dirty="0">
                <a:solidFill>
                  <a:srgbClr val="7E9AA8"/>
                </a:solidFill>
                <a:latin typeface="MiSans" pitchFamily="34" charset="0"/>
                <a:ea typeface="MiSans" pitchFamily="34" charset="-122"/>
                <a:cs typeface="MiSans" pitchFamily="34" charset="-120"/>
              </a:rPr>
              <a:t>模型预测值与真实值之间的系统性误差。高偏差意味着模型无法准确捕捉数据中的基本关系，通常对应</a:t>
            </a:r>
            <a:pPr>
              <a:lnSpc>
                <a:spcPct val="140000"/>
              </a:lnSpc>
            </a:pPr>
            <a:r>
              <a:rPr lang="en-US" sz="1333" b="1" dirty="0">
                <a:solidFill>
                  <a:srgbClr val="4C7E9A"/>
                </a:solidFill>
                <a:latin typeface="MiSans" pitchFamily="34" charset="0"/>
                <a:ea typeface="MiSans" pitchFamily="34" charset="-122"/>
                <a:cs typeface="MiSans" pitchFamily="34" charset="-120"/>
              </a:rPr>
              <a:t>欠拟合</a:t>
            </a:r>
            <a:pPr>
              <a:lnSpc>
                <a:spcPct val="140000"/>
              </a:lnSpc>
            </a:pPr>
            <a:r>
              <a:rPr lang="en-US" sz="1333" dirty="0">
                <a:solidFill>
                  <a:srgbClr val="7E9AA8"/>
                </a:solidFill>
                <a:latin typeface="MiSans" pitchFamily="34" charset="0"/>
                <a:ea typeface="MiSans" pitchFamily="34" charset="-122"/>
                <a:cs typeface="MiSans" pitchFamily="34" charset="-120"/>
              </a:rPr>
              <a:t>。</a:t>
            </a:r>
            <a:endParaRPr lang="en-US" sz="1600" dirty="0"/>
          </a:p>
        </p:txBody>
      </p:sp>
      <p:sp>
        <p:nvSpPr>
          <p:cNvPr id="11" name="Shape 9"/>
          <p:cNvSpPr/>
          <p:nvPr/>
        </p:nvSpPr>
        <p:spPr>
          <a:xfrm>
            <a:off x="661458" y="3264958"/>
            <a:ext cx="211667" cy="211667"/>
          </a:xfrm>
          <a:custGeom>
            <a:avLst/>
            <a:gdLst/>
            <a:ahLst/>
            <a:cxnLst/>
            <a:rect l="l" t="t" r="r" b="b"/>
            <a:pathLst>
              <a:path w="211667" h="211667">
                <a:moveTo>
                  <a:pt x="26458" y="39688"/>
                </a:moveTo>
                <a:cubicBezTo>
                  <a:pt x="26458" y="32370"/>
                  <a:pt x="32370" y="26458"/>
                  <a:pt x="39688" y="26458"/>
                </a:cubicBezTo>
                <a:lnTo>
                  <a:pt x="105833" y="26458"/>
                </a:lnTo>
                <a:cubicBezTo>
                  <a:pt x="113151" y="26458"/>
                  <a:pt x="119063" y="32370"/>
                  <a:pt x="119063" y="39688"/>
                </a:cubicBezTo>
                <a:lnTo>
                  <a:pt x="119063" y="158750"/>
                </a:lnTo>
                <a:lnTo>
                  <a:pt x="158750" y="158750"/>
                </a:lnTo>
                <a:lnTo>
                  <a:pt x="158750" y="105833"/>
                </a:lnTo>
                <a:cubicBezTo>
                  <a:pt x="158750" y="98516"/>
                  <a:pt x="164662" y="92604"/>
                  <a:pt x="171979" y="92604"/>
                </a:cubicBezTo>
                <a:lnTo>
                  <a:pt x="198438" y="92604"/>
                </a:lnTo>
                <a:cubicBezTo>
                  <a:pt x="205755" y="92604"/>
                  <a:pt x="211667" y="98516"/>
                  <a:pt x="211667" y="105833"/>
                </a:cubicBezTo>
                <a:cubicBezTo>
                  <a:pt x="211667" y="113151"/>
                  <a:pt x="205755" y="119063"/>
                  <a:pt x="198438" y="119063"/>
                </a:cubicBezTo>
                <a:lnTo>
                  <a:pt x="185208" y="119063"/>
                </a:lnTo>
                <a:lnTo>
                  <a:pt x="185208" y="171979"/>
                </a:lnTo>
                <a:cubicBezTo>
                  <a:pt x="185208" y="179297"/>
                  <a:pt x="179297" y="185208"/>
                  <a:pt x="171979" y="185208"/>
                </a:cubicBezTo>
                <a:lnTo>
                  <a:pt x="105833" y="185208"/>
                </a:lnTo>
                <a:cubicBezTo>
                  <a:pt x="98516" y="185208"/>
                  <a:pt x="92604" y="179297"/>
                  <a:pt x="92604" y="171979"/>
                </a:cubicBezTo>
                <a:lnTo>
                  <a:pt x="92604" y="52917"/>
                </a:lnTo>
                <a:lnTo>
                  <a:pt x="52917" y="52917"/>
                </a:lnTo>
                <a:lnTo>
                  <a:pt x="52917" y="105833"/>
                </a:lnTo>
                <a:cubicBezTo>
                  <a:pt x="52917" y="113151"/>
                  <a:pt x="47005" y="119063"/>
                  <a:pt x="39688" y="119063"/>
                </a:cubicBezTo>
                <a:lnTo>
                  <a:pt x="13229" y="119063"/>
                </a:lnTo>
                <a:cubicBezTo>
                  <a:pt x="5912" y="119063"/>
                  <a:pt x="0" y="113151"/>
                  <a:pt x="0" y="105833"/>
                </a:cubicBezTo>
                <a:cubicBezTo>
                  <a:pt x="0" y="98516"/>
                  <a:pt x="5912" y="92604"/>
                  <a:pt x="13229" y="92604"/>
                </a:cubicBezTo>
                <a:lnTo>
                  <a:pt x="26458" y="92604"/>
                </a:lnTo>
                <a:lnTo>
                  <a:pt x="26458" y="39688"/>
                </a:lnTo>
                <a:close/>
              </a:path>
            </a:pathLst>
          </a:custGeom>
          <a:solidFill>
            <a:srgbClr val="4C7E9A"/>
          </a:solidFill>
          <a:ln/>
        </p:spPr>
      </p:sp>
      <p:sp>
        <p:nvSpPr>
          <p:cNvPr id="12" name="Text 10"/>
          <p:cNvSpPr/>
          <p:nvPr/>
        </p:nvSpPr>
        <p:spPr>
          <a:xfrm>
            <a:off x="970139" y="3217333"/>
            <a:ext cx="4681361"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方差 (Variance)</a:t>
            </a:r>
            <a:endParaRPr lang="en-US" sz="1600" dirty="0"/>
          </a:p>
        </p:txBody>
      </p:sp>
      <p:sp>
        <p:nvSpPr>
          <p:cNvPr id="13" name="Text 11"/>
          <p:cNvSpPr/>
          <p:nvPr/>
        </p:nvSpPr>
        <p:spPr>
          <a:xfrm>
            <a:off x="635000" y="3598333"/>
            <a:ext cx="4995333" cy="825500"/>
          </a:xfrm>
          <a:prstGeom prst="rect">
            <a:avLst/>
          </a:prstGeom>
          <a:noFill/>
          <a:ln/>
        </p:spPr>
        <p:txBody>
          <a:bodyPr wrap="square" lIns="0" tIns="0" rIns="0" bIns="0" rtlCol="0" anchor="ctr"/>
          <a:lstStyle/>
          <a:p>
            <a:pPr>
              <a:lnSpc>
                <a:spcPct val="140000"/>
              </a:lnSpc>
            </a:pPr>
            <a:r>
              <a:rPr lang="en-US" sz="1333" dirty="0">
                <a:solidFill>
                  <a:srgbClr val="7E9AA8"/>
                </a:solidFill>
                <a:latin typeface="MiSans" pitchFamily="34" charset="0"/>
                <a:ea typeface="MiSans" pitchFamily="34" charset="-122"/>
                <a:cs typeface="MiSans" pitchFamily="34" charset="-120"/>
              </a:rPr>
              <a:t>模型对训练数据的敏感度，即模型在不同训练集上表现的变化程度。高方差意味着模型对训练数据中的噪声过于敏感，通常对应</a:t>
            </a:r>
            <a:pPr>
              <a:lnSpc>
                <a:spcPct val="140000"/>
              </a:lnSpc>
            </a:pPr>
            <a:r>
              <a:rPr lang="en-US" sz="1333" b="1" dirty="0">
                <a:solidFill>
                  <a:srgbClr val="4C7E9A"/>
                </a:solidFill>
                <a:latin typeface="MiSans" pitchFamily="34" charset="0"/>
                <a:ea typeface="MiSans" pitchFamily="34" charset="-122"/>
                <a:cs typeface="MiSans" pitchFamily="34" charset="-120"/>
              </a:rPr>
              <a:t>过拟合</a:t>
            </a:r>
            <a:pPr>
              <a:lnSpc>
                <a:spcPct val="140000"/>
              </a:lnSpc>
            </a:pPr>
            <a:r>
              <a:rPr lang="en-US" sz="1333" dirty="0">
                <a:solidFill>
                  <a:srgbClr val="7E9AA8"/>
                </a:solidFill>
                <a:latin typeface="MiSans" pitchFamily="34" charset="0"/>
                <a:ea typeface="MiSans" pitchFamily="34" charset="-122"/>
                <a:cs typeface="MiSans" pitchFamily="34" charset="-120"/>
              </a:rPr>
              <a:t>。</a:t>
            </a:r>
            <a:endParaRPr lang="en-US" sz="1600" dirty="0"/>
          </a:p>
        </p:txBody>
      </p:sp>
      <p:sp>
        <p:nvSpPr>
          <p:cNvPr id="14" name="Shape 12"/>
          <p:cNvSpPr/>
          <p:nvPr/>
        </p:nvSpPr>
        <p:spPr>
          <a:xfrm>
            <a:off x="444500" y="4762500"/>
            <a:ext cx="5270500" cy="3132667"/>
          </a:xfrm>
          <a:custGeom>
            <a:avLst/>
            <a:gdLst/>
            <a:ahLst/>
            <a:cxnLst/>
            <a:rect l="l" t="t" r="r" b="b"/>
            <a:pathLst>
              <a:path w="5270500" h="3132667">
                <a:moveTo>
                  <a:pt x="42333" y="0"/>
                </a:moveTo>
                <a:lnTo>
                  <a:pt x="5185824" y="0"/>
                </a:lnTo>
                <a:cubicBezTo>
                  <a:pt x="5232589" y="0"/>
                  <a:pt x="5270500" y="37911"/>
                  <a:pt x="5270500" y="84676"/>
                </a:cubicBezTo>
                <a:lnTo>
                  <a:pt x="5270500" y="3047991"/>
                </a:lnTo>
                <a:cubicBezTo>
                  <a:pt x="5270500" y="3094756"/>
                  <a:pt x="5232589" y="3132667"/>
                  <a:pt x="5185824" y="3132667"/>
                </a:cubicBezTo>
                <a:lnTo>
                  <a:pt x="42333" y="3132667"/>
                </a:lnTo>
                <a:cubicBezTo>
                  <a:pt x="18953" y="3132667"/>
                  <a:pt x="0" y="3113713"/>
                  <a:pt x="0" y="3090333"/>
                </a:cubicBezTo>
                <a:lnTo>
                  <a:pt x="0" y="42333"/>
                </a:lnTo>
                <a:cubicBezTo>
                  <a:pt x="0" y="18953"/>
                  <a:pt x="18953" y="0"/>
                  <a:pt x="42333" y="0"/>
                </a:cubicBezTo>
                <a:close/>
              </a:path>
            </a:pathLst>
          </a:custGeom>
          <a:solidFill>
            <a:srgbClr val="3A5E78">
              <a:alpha val="20000"/>
            </a:srgbClr>
          </a:solidFill>
          <a:ln/>
        </p:spPr>
      </p:sp>
      <p:sp>
        <p:nvSpPr>
          <p:cNvPr id="15" name="Shape 13"/>
          <p:cNvSpPr/>
          <p:nvPr/>
        </p:nvSpPr>
        <p:spPr>
          <a:xfrm>
            <a:off x="444500" y="4762500"/>
            <a:ext cx="42333" cy="3132667"/>
          </a:xfrm>
          <a:custGeom>
            <a:avLst/>
            <a:gdLst/>
            <a:ahLst/>
            <a:cxnLst/>
            <a:rect l="l" t="t" r="r" b="b"/>
            <a:pathLst>
              <a:path w="42333" h="3132667">
                <a:moveTo>
                  <a:pt x="42333" y="0"/>
                </a:moveTo>
                <a:lnTo>
                  <a:pt x="42333" y="0"/>
                </a:lnTo>
                <a:lnTo>
                  <a:pt x="42333" y="3132667"/>
                </a:lnTo>
                <a:lnTo>
                  <a:pt x="42333" y="3132667"/>
                </a:lnTo>
                <a:cubicBezTo>
                  <a:pt x="18953" y="3132667"/>
                  <a:pt x="0" y="3113713"/>
                  <a:pt x="0" y="3090333"/>
                </a:cubicBezTo>
                <a:lnTo>
                  <a:pt x="0" y="42333"/>
                </a:lnTo>
                <a:cubicBezTo>
                  <a:pt x="0" y="18953"/>
                  <a:pt x="18953" y="0"/>
                  <a:pt x="42333" y="0"/>
                </a:cubicBezTo>
                <a:close/>
              </a:path>
            </a:pathLst>
          </a:custGeom>
          <a:solidFill>
            <a:srgbClr val="7E9AA8"/>
          </a:solidFill>
          <a:ln/>
        </p:spPr>
      </p:sp>
      <p:sp>
        <p:nvSpPr>
          <p:cNvPr id="16" name="Text 14"/>
          <p:cNvSpPr/>
          <p:nvPr/>
        </p:nvSpPr>
        <p:spPr>
          <a:xfrm>
            <a:off x="635000" y="4931833"/>
            <a:ext cx="5037667"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打靶模型：直观理解</a:t>
            </a:r>
            <a:endParaRPr lang="en-US" sz="1600" dirty="0"/>
          </a:p>
        </p:txBody>
      </p:sp>
      <p:sp>
        <p:nvSpPr>
          <p:cNvPr id="17" name="Shape 15"/>
          <p:cNvSpPr/>
          <p:nvPr/>
        </p:nvSpPr>
        <p:spPr>
          <a:xfrm>
            <a:off x="635000" y="5397500"/>
            <a:ext cx="2391833" cy="1100667"/>
          </a:xfrm>
          <a:custGeom>
            <a:avLst/>
            <a:gdLst/>
            <a:ahLst/>
            <a:cxnLst/>
            <a:rect l="l" t="t" r="r" b="b"/>
            <a:pathLst>
              <a:path w="2391833" h="1100667">
                <a:moveTo>
                  <a:pt x="84663" y="0"/>
                </a:moveTo>
                <a:lnTo>
                  <a:pt x="2307170" y="0"/>
                </a:lnTo>
                <a:cubicBezTo>
                  <a:pt x="2353928" y="0"/>
                  <a:pt x="2391833" y="37905"/>
                  <a:pt x="2391833" y="84663"/>
                </a:cubicBezTo>
                <a:lnTo>
                  <a:pt x="2391833" y="1016003"/>
                </a:lnTo>
                <a:cubicBezTo>
                  <a:pt x="2391833" y="1062762"/>
                  <a:pt x="2353928" y="1100667"/>
                  <a:pt x="2307170" y="1100667"/>
                </a:cubicBezTo>
                <a:lnTo>
                  <a:pt x="84663" y="1100667"/>
                </a:lnTo>
                <a:cubicBezTo>
                  <a:pt x="37905" y="1100667"/>
                  <a:pt x="0" y="1062762"/>
                  <a:pt x="0" y="1016003"/>
                </a:cubicBezTo>
                <a:lnTo>
                  <a:pt x="0" y="84663"/>
                </a:lnTo>
                <a:cubicBezTo>
                  <a:pt x="0" y="37936"/>
                  <a:pt x="37936" y="0"/>
                  <a:pt x="84663" y="0"/>
                </a:cubicBezTo>
                <a:close/>
              </a:path>
            </a:pathLst>
          </a:custGeom>
          <a:solidFill>
            <a:srgbClr val="181A1F">
              <a:alpha val="50196"/>
            </a:srgbClr>
          </a:solidFill>
          <a:ln/>
        </p:spPr>
      </p:sp>
      <p:sp>
        <p:nvSpPr>
          <p:cNvPr id="18" name="Text 16"/>
          <p:cNvSpPr/>
          <p:nvPr/>
        </p:nvSpPr>
        <p:spPr>
          <a:xfrm>
            <a:off x="762000" y="5524500"/>
            <a:ext cx="2233083"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低偏差 + 低方差</a:t>
            </a:r>
            <a:endParaRPr lang="en-US" sz="1600" dirty="0"/>
          </a:p>
        </p:txBody>
      </p:sp>
      <p:sp>
        <p:nvSpPr>
          <p:cNvPr id="19" name="Text 17"/>
          <p:cNvSpPr/>
          <p:nvPr/>
        </p:nvSpPr>
        <p:spPr>
          <a:xfrm>
            <a:off x="762000" y="5905500"/>
            <a:ext cx="2211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所有子弹紧密聚集在靶心</a:t>
            </a:r>
            <a:endParaRPr lang="en-US" sz="1600" dirty="0"/>
          </a:p>
        </p:txBody>
      </p:sp>
      <p:sp>
        <p:nvSpPr>
          <p:cNvPr id="20" name="Text 18"/>
          <p:cNvSpPr/>
          <p:nvPr/>
        </p:nvSpPr>
        <p:spPr>
          <a:xfrm>
            <a:off x="762000" y="6159500"/>
            <a:ext cx="2211917" cy="211667"/>
          </a:xfrm>
          <a:prstGeom prst="rect">
            <a:avLst/>
          </a:prstGeom>
          <a:noFill/>
          <a:ln/>
        </p:spPr>
        <p:txBody>
          <a:bodyPr wrap="square" lIns="0" tIns="0" rIns="0" bIns="0" rtlCol="0" anchor="ctr"/>
          <a:lstStyle/>
          <a:p>
            <a:pPr>
              <a:lnSpc>
                <a:spcPct val="120000"/>
              </a:lnSpc>
            </a:pPr>
            <a:r>
              <a:rPr lang="en-US" sz="1167" dirty="0">
                <a:solidFill>
                  <a:srgbClr val="D1D5DB"/>
                </a:solidFill>
                <a:latin typeface="MiSans" pitchFamily="34" charset="0"/>
                <a:ea typeface="MiSans" pitchFamily="34" charset="-122"/>
                <a:cs typeface="MiSans" pitchFamily="34" charset="-120"/>
              </a:rPr>
              <a:t>✓ 理想模型</a:t>
            </a:r>
            <a:endParaRPr lang="en-US" sz="1600" dirty="0"/>
          </a:p>
        </p:txBody>
      </p:sp>
      <p:sp>
        <p:nvSpPr>
          <p:cNvPr id="21" name="Shape 19"/>
          <p:cNvSpPr/>
          <p:nvPr/>
        </p:nvSpPr>
        <p:spPr>
          <a:xfrm>
            <a:off x="3153833" y="5397500"/>
            <a:ext cx="2391833" cy="1100667"/>
          </a:xfrm>
          <a:custGeom>
            <a:avLst/>
            <a:gdLst/>
            <a:ahLst/>
            <a:cxnLst/>
            <a:rect l="l" t="t" r="r" b="b"/>
            <a:pathLst>
              <a:path w="2391833" h="1100667">
                <a:moveTo>
                  <a:pt x="84663" y="0"/>
                </a:moveTo>
                <a:lnTo>
                  <a:pt x="2307170" y="0"/>
                </a:lnTo>
                <a:cubicBezTo>
                  <a:pt x="2353928" y="0"/>
                  <a:pt x="2391833" y="37905"/>
                  <a:pt x="2391833" y="84663"/>
                </a:cubicBezTo>
                <a:lnTo>
                  <a:pt x="2391833" y="1016003"/>
                </a:lnTo>
                <a:cubicBezTo>
                  <a:pt x="2391833" y="1062762"/>
                  <a:pt x="2353928" y="1100667"/>
                  <a:pt x="2307170" y="1100667"/>
                </a:cubicBezTo>
                <a:lnTo>
                  <a:pt x="84663" y="1100667"/>
                </a:lnTo>
                <a:cubicBezTo>
                  <a:pt x="37905" y="1100667"/>
                  <a:pt x="0" y="1062762"/>
                  <a:pt x="0" y="1016003"/>
                </a:cubicBezTo>
                <a:lnTo>
                  <a:pt x="0" y="84663"/>
                </a:lnTo>
                <a:cubicBezTo>
                  <a:pt x="0" y="37936"/>
                  <a:pt x="37936" y="0"/>
                  <a:pt x="84663" y="0"/>
                </a:cubicBezTo>
                <a:close/>
              </a:path>
            </a:pathLst>
          </a:custGeom>
          <a:solidFill>
            <a:srgbClr val="181A1F">
              <a:alpha val="50196"/>
            </a:srgbClr>
          </a:solidFill>
          <a:ln/>
        </p:spPr>
      </p:sp>
      <p:sp>
        <p:nvSpPr>
          <p:cNvPr id="22" name="Text 20"/>
          <p:cNvSpPr/>
          <p:nvPr/>
        </p:nvSpPr>
        <p:spPr>
          <a:xfrm>
            <a:off x="3280833" y="5524500"/>
            <a:ext cx="2233083"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低偏差 + 高方差</a:t>
            </a:r>
            <a:endParaRPr lang="en-US" sz="1600" dirty="0"/>
          </a:p>
        </p:txBody>
      </p:sp>
      <p:sp>
        <p:nvSpPr>
          <p:cNvPr id="23" name="Text 21"/>
          <p:cNvSpPr/>
          <p:nvPr/>
        </p:nvSpPr>
        <p:spPr>
          <a:xfrm>
            <a:off x="3280833" y="5905500"/>
            <a:ext cx="2211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子弹散布在靶心周围</a:t>
            </a:r>
            <a:endParaRPr lang="en-US" sz="1600" dirty="0"/>
          </a:p>
        </p:txBody>
      </p:sp>
      <p:sp>
        <p:nvSpPr>
          <p:cNvPr id="24" name="Text 22"/>
          <p:cNvSpPr/>
          <p:nvPr/>
        </p:nvSpPr>
        <p:spPr>
          <a:xfrm>
            <a:off x="3280833" y="6159500"/>
            <a:ext cx="2211917" cy="211667"/>
          </a:xfrm>
          <a:prstGeom prst="rect">
            <a:avLst/>
          </a:prstGeom>
          <a:noFill/>
          <a:ln/>
        </p:spPr>
        <p:txBody>
          <a:bodyPr wrap="square" lIns="0" tIns="0" rIns="0" bIns="0" rtlCol="0" anchor="ctr"/>
          <a:lstStyle/>
          <a:p>
            <a:pPr>
              <a:lnSpc>
                <a:spcPct val="120000"/>
              </a:lnSpc>
            </a:pPr>
            <a:r>
              <a:rPr lang="en-US" sz="1167" dirty="0">
                <a:solidFill>
                  <a:srgbClr val="D1D5DB"/>
                </a:solidFill>
                <a:latin typeface="MiSans" pitchFamily="34" charset="0"/>
                <a:ea typeface="MiSans" pitchFamily="34" charset="-122"/>
                <a:cs typeface="MiSans" pitchFamily="34" charset="-120"/>
              </a:rPr>
              <a:t>⚠ 过拟合</a:t>
            </a:r>
            <a:endParaRPr lang="en-US" sz="1600" dirty="0"/>
          </a:p>
        </p:txBody>
      </p:sp>
      <p:sp>
        <p:nvSpPr>
          <p:cNvPr id="25" name="Shape 23"/>
          <p:cNvSpPr/>
          <p:nvPr/>
        </p:nvSpPr>
        <p:spPr>
          <a:xfrm>
            <a:off x="635000" y="6625167"/>
            <a:ext cx="2391833" cy="1100667"/>
          </a:xfrm>
          <a:custGeom>
            <a:avLst/>
            <a:gdLst/>
            <a:ahLst/>
            <a:cxnLst/>
            <a:rect l="l" t="t" r="r" b="b"/>
            <a:pathLst>
              <a:path w="2391833" h="1100667">
                <a:moveTo>
                  <a:pt x="84663" y="0"/>
                </a:moveTo>
                <a:lnTo>
                  <a:pt x="2307170" y="0"/>
                </a:lnTo>
                <a:cubicBezTo>
                  <a:pt x="2353928" y="0"/>
                  <a:pt x="2391833" y="37905"/>
                  <a:pt x="2391833" y="84663"/>
                </a:cubicBezTo>
                <a:lnTo>
                  <a:pt x="2391833" y="1016003"/>
                </a:lnTo>
                <a:cubicBezTo>
                  <a:pt x="2391833" y="1062762"/>
                  <a:pt x="2353928" y="1100667"/>
                  <a:pt x="2307170" y="1100667"/>
                </a:cubicBezTo>
                <a:lnTo>
                  <a:pt x="84663" y="1100667"/>
                </a:lnTo>
                <a:cubicBezTo>
                  <a:pt x="37905" y="1100667"/>
                  <a:pt x="0" y="1062762"/>
                  <a:pt x="0" y="1016003"/>
                </a:cubicBezTo>
                <a:lnTo>
                  <a:pt x="0" y="84663"/>
                </a:lnTo>
                <a:cubicBezTo>
                  <a:pt x="0" y="37936"/>
                  <a:pt x="37936" y="0"/>
                  <a:pt x="84663" y="0"/>
                </a:cubicBezTo>
                <a:close/>
              </a:path>
            </a:pathLst>
          </a:custGeom>
          <a:solidFill>
            <a:srgbClr val="181A1F">
              <a:alpha val="50196"/>
            </a:srgbClr>
          </a:solidFill>
          <a:ln/>
        </p:spPr>
      </p:sp>
      <p:sp>
        <p:nvSpPr>
          <p:cNvPr id="26" name="Text 24"/>
          <p:cNvSpPr/>
          <p:nvPr/>
        </p:nvSpPr>
        <p:spPr>
          <a:xfrm>
            <a:off x="762000" y="6752167"/>
            <a:ext cx="2233083"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高偏差 + 低方差</a:t>
            </a:r>
            <a:endParaRPr lang="en-US" sz="1600" dirty="0"/>
          </a:p>
        </p:txBody>
      </p:sp>
      <p:sp>
        <p:nvSpPr>
          <p:cNvPr id="27" name="Text 25"/>
          <p:cNvSpPr/>
          <p:nvPr/>
        </p:nvSpPr>
        <p:spPr>
          <a:xfrm>
            <a:off x="762000" y="7133167"/>
            <a:ext cx="2211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子弹紧密但偏离靶心</a:t>
            </a:r>
            <a:endParaRPr lang="en-US" sz="1600" dirty="0"/>
          </a:p>
        </p:txBody>
      </p:sp>
      <p:sp>
        <p:nvSpPr>
          <p:cNvPr id="28" name="Text 26"/>
          <p:cNvSpPr/>
          <p:nvPr/>
        </p:nvSpPr>
        <p:spPr>
          <a:xfrm>
            <a:off x="762000" y="7387167"/>
            <a:ext cx="2211917" cy="211667"/>
          </a:xfrm>
          <a:prstGeom prst="rect">
            <a:avLst/>
          </a:prstGeom>
          <a:noFill/>
          <a:ln/>
        </p:spPr>
        <p:txBody>
          <a:bodyPr wrap="square" lIns="0" tIns="0" rIns="0" bIns="0" rtlCol="0" anchor="ctr"/>
          <a:lstStyle/>
          <a:p>
            <a:pPr>
              <a:lnSpc>
                <a:spcPct val="120000"/>
              </a:lnSpc>
            </a:pPr>
            <a:r>
              <a:rPr lang="en-US" sz="1167" dirty="0">
                <a:solidFill>
                  <a:srgbClr val="D1D5DB"/>
                </a:solidFill>
                <a:latin typeface="MiSans" pitchFamily="34" charset="0"/>
                <a:ea typeface="MiSans" pitchFamily="34" charset="-122"/>
                <a:cs typeface="MiSans" pitchFamily="34" charset="-120"/>
              </a:rPr>
              <a:t>⚠ 欠拟合</a:t>
            </a:r>
            <a:endParaRPr lang="en-US" sz="1600" dirty="0"/>
          </a:p>
        </p:txBody>
      </p:sp>
      <p:sp>
        <p:nvSpPr>
          <p:cNvPr id="29" name="Shape 27"/>
          <p:cNvSpPr/>
          <p:nvPr/>
        </p:nvSpPr>
        <p:spPr>
          <a:xfrm>
            <a:off x="3153833" y="6625167"/>
            <a:ext cx="2391833" cy="1100667"/>
          </a:xfrm>
          <a:custGeom>
            <a:avLst/>
            <a:gdLst/>
            <a:ahLst/>
            <a:cxnLst/>
            <a:rect l="l" t="t" r="r" b="b"/>
            <a:pathLst>
              <a:path w="2391833" h="1100667">
                <a:moveTo>
                  <a:pt x="84663" y="0"/>
                </a:moveTo>
                <a:lnTo>
                  <a:pt x="2307170" y="0"/>
                </a:lnTo>
                <a:cubicBezTo>
                  <a:pt x="2353928" y="0"/>
                  <a:pt x="2391833" y="37905"/>
                  <a:pt x="2391833" y="84663"/>
                </a:cubicBezTo>
                <a:lnTo>
                  <a:pt x="2391833" y="1016003"/>
                </a:lnTo>
                <a:cubicBezTo>
                  <a:pt x="2391833" y="1062762"/>
                  <a:pt x="2353928" y="1100667"/>
                  <a:pt x="2307170" y="1100667"/>
                </a:cubicBezTo>
                <a:lnTo>
                  <a:pt x="84663" y="1100667"/>
                </a:lnTo>
                <a:cubicBezTo>
                  <a:pt x="37905" y="1100667"/>
                  <a:pt x="0" y="1062762"/>
                  <a:pt x="0" y="1016003"/>
                </a:cubicBezTo>
                <a:lnTo>
                  <a:pt x="0" y="84663"/>
                </a:lnTo>
                <a:cubicBezTo>
                  <a:pt x="0" y="37936"/>
                  <a:pt x="37936" y="0"/>
                  <a:pt x="84663" y="0"/>
                </a:cubicBezTo>
                <a:close/>
              </a:path>
            </a:pathLst>
          </a:custGeom>
          <a:solidFill>
            <a:srgbClr val="181A1F">
              <a:alpha val="50196"/>
            </a:srgbClr>
          </a:solidFill>
          <a:ln/>
        </p:spPr>
      </p:sp>
      <p:sp>
        <p:nvSpPr>
          <p:cNvPr id="30" name="Text 28"/>
          <p:cNvSpPr/>
          <p:nvPr/>
        </p:nvSpPr>
        <p:spPr>
          <a:xfrm>
            <a:off x="3280833" y="6752167"/>
            <a:ext cx="2233083"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高偏差 + 高方差</a:t>
            </a:r>
            <a:endParaRPr lang="en-US" sz="1600" dirty="0"/>
          </a:p>
        </p:txBody>
      </p:sp>
      <p:sp>
        <p:nvSpPr>
          <p:cNvPr id="31" name="Text 29"/>
          <p:cNvSpPr/>
          <p:nvPr/>
        </p:nvSpPr>
        <p:spPr>
          <a:xfrm>
            <a:off x="3280833" y="7133167"/>
            <a:ext cx="2211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子弹散乱且偏离靶心</a:t>
            </a:r>
            <a:endParaRPr lang="en-US" sz="1600" dirty="0"/>
          </a:p>
        </p:txBody>
      </p:sp>
      <p:sp>
        <p:nvSpPr>
          <p:cNvPr id="32" name="Text 30"/>
          <p:cNvSpPr/>
          <p:nvPr/>
        </p:nvSpPr>
        <p:spPr>
          <a:xfrm>
            <a:off x="3280833" y="7387167"/>
            <a:ext cx="2211917" cy="211667"/>
          </a:xfrm>
          <a:prstGeom prst="rect">
            <a:avLst/>
          </a:prstGeom>
          <a:noFill/>
          <a:ln/>
        </p:spPr>
        <p:txBody>
          <a:bodyPr wrap="square" lIns="0" tIns="0" rIns="0" bIns="0" rtlCol="0" anchor="ctr"/>
          <a:lstStyle/>
          <a:p>
            <a:pPr>
              <a:lnSpc>
                <a:spcPct val="120000"/>
              </a:lnSpc>
            </a:pPr>
            <a:r>
              <a:rPr lang="en-US" sz="1167" dirty="0">
                <a:solidFill>
                  <a:srgbClr val="D1D5DB"/>
                </a:solidFill>
                <a:latin typeface="MiSans" pitchFamily="34" charset="0"/>
                <a:ea typeface="MiSans" pitchFamily="34" charset="-122"/>
                <a:cs typeface="MiSans" pitchFamily="34" charset="-120"/>
              </a:rPr>
              <a:t>✗ 最差模型</a:t>
            </a:r>
            <a:endParaRPr lang="en-US" sz="1600" dirty="0"/>
          </a:p>
        </p:txBody>
      </p:sp>
      <p:pic>
        <p:nvPicPr>
          <p:cNvPr id="33" name="Image 0" descr="https://kimi-img.moonshot.cn/pub/slides/26-01-07-11:57:46-d5etjekupvnr8dtf264g.png">    </p:cNvPr>
          <p:cNvPicPr>
            <a:picLocks noChangeAspect="1"/>
          </p:cNvPicPr>
          <p:nvPr/>
        </p:nvPicPr>
        <p:blipFill>
          <a:blip r:embed="rId1"/>
          <a:srcRect l="0" r="0" t="0" b="0"/>
          <a:stretch/>
        </p:blipFill>
        <p:spPr>
          <a:xfrm>
            <a:off x="5926667" y="1524000"/>
            <a:ext cx="7196667" cy="3175000"/>
          </a:xfrm>
          <a:prstGeom prst="roundRect">
            <a:avLst>
              <a:gd name="adj" fmla="val 0"/>
            </a:avLst>
          </a:prstGeom>
        </p:spPr>
      </p:pic>
      <p:sp>
        <p:nvSpPr>
          <p:cNvPr id="34" name="Shape 31"/>
          <p:cNvSpPr/>
          <p:nvPr/>
        </p:nvSpPr>
        <p:spPr>
          <a:xfrm>
            <a:off x="5931958" y="4873625"/>
            <a:ext cx="9895417" cy="2635250"/>
          </a:xfrm>
          <a:custGeom>
            <a:avLst/>
            <a:gdLst/>
            <a:ahLst/>
            <a:cxnLst/>
            <a:rect l="l" t="t" r="r" b="b"/>
            <a:pathLst>
              <a:path w="9895417" h="2635250">
                <a:moveTo>
                  <a:pt x="84671" y="0"/>
                </a:moveTo>
                <a:lnTo>
                  <a:pt x="9810746" y="0"/>
                </a:lnTo>
                <a:cubicBezTo>
                  <a:pt x="9857508" y="0"/>
                  <a:pt x="9895417" y="37908"/>
                  <a:pt x="9895417" y="84671"/>
                </a:cubicBezTo>
                <a:lnTo>
                  <a:pt x="9895417" y="2550579"/>
                </a:lnTo>
                <a:cubicBezTo>
                  <a:pt x="9895417" y="2597342"/>
                  <a:pt x="9857508" y="2635250"/>
                  <a:pt x="9810746" y="2635250"/>
                </a:cubicBezTo>
                <a:lnTo>
                  <a:pt x="84671" y="2635250"/>
                </a:lnTo>
                <a:cubicBezTo>
                  <a:pt x="37908" y="2635250"/>
                  <a:pt x="0" y="2597342"/>
                  <a:pt x="0" y="2550579"/>
                </a:cubicBezTo>
                <a:lnTo>
                  <a:pt x="0" y="84671"/>
                </a:lnTo>
                <a:cubicBezTo>
                  <a:pt x="0" y="37908"/>
                  <a:pt x="37908" y="0"/>
                  <a:pt x="84671" y="0"/>
                </a:cubicBezTo>
                <a:close/>
              </a:path>
            </a:pathLst>
          </a:custGeom>
          <a:solidFill>
            <a:srgbClr val="3A5E78">
              <a:alpha val="20000"/>
            </a:srgbClr>
          </a:solidFill>
          <a:ln w="12700">
            <a:solidFill>
              <a:srgbClr val="4C7E9A">
                <a:alpha val="50196"/>
              </a:srgbClr>
            </a:solidFill>
            <a:prstDash val="solid"/>
          </a:ln>
        </p:spPr>
      </p:sp>
      <p:sp>
        <p:nvSpPr>
          <p:cNvPr id="35" name="Text 32"/>
          <p:cNvSpPr/>
          <p:nvPr/>
        </p:nvSpPr>
        <p:spPr>
          <a:xfrm>
            <a:off x="6106583" y="5048250"/>
            <a:ext cx="9673167"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集成学习如何调和？</a:t>
            </a:r>
            <a:endParaRPr lang="en-US" sz="1600" dirty="0"/>
          </a:p>
        </p:txBody>
      </p:sp>
      <p:sp>
        <p:nvSpPr>
          <p:cNvPr id="36" name="Shape 33"/>
          <p:cNvSpPr/>
          <p:nvPr/>
        </p:nvSpPr>
        <p:spPr>
          <a:xfrm>
            <a:off x="6133042" y="5556250"/>
            <a:ext cx="211667" cy="211667"/>
          </a:xfrm>
          <a:custGeom>
            <a:avLst/>
            <a:gdLst/>
            <a:ahLst/>
            <a:cxnLst/>
            <a:rect l="l" t="t" r="r" b="b"/>
            <a:pathLst>
              <a:path w="211667" h="211667">
                <a:moveTo>
                  <a:pt x="188516" y="92604"/>
                </a:moveTo>
                <a:lnTo>
                  <a:pt x="128984" y="92604"/>
                </a:lnTo>
                <a:cubicBezTo>
                  <a:pt x="123486" y="92604"/>
                  <a:pt x="119063" y="88181"/>
                  <a:pt x="119063" y="82682"/>
                </a:cubicBezTo>
                <a:lnTo>
                  <a:pt x="119063" y="23151"/>
                </a:lnTo>
                <a:cubicBezTo>
                  <a:pt x="119063" y="19141"/>
                  <a:pt x="121460" y="15503"/>
                  <a:pt x="125181" y="13973"/>
                </a:cubicBezTo>
                <a:cubicBezTo>
                  <a:pt x="128902" y="12444"/>
                  <a:pt x="133160" y="13312"/>
                  <a:pt x="136012" y="16123"/>
                </a:cubicBezTo>
                <a:lnTo>
                  <a:pt x="152549" y="32660"/>
                </a:lnTo>
                <a:lnTo>
                  <a:pt x="182893" y="2315"/>
                </a:lnTo>
                <a:cubicBezTo>
                  <a:pt x="184382" y="827"/>
                  <a:pt x="186407" y="0"/>
                  <a:pt x="188516" y="0"/>
                </a:cubicBezTo>
                <a:cubicBezTo>
                  <a:pt x="190624" y="0"/>
                  <a:pt x="192650" y="827"/>
                  <a:pt x="194179" y="2356"/>
                </a:cubicBezTo>
                <a:lnTo>
                  <a:pt x="209352" y="17529"/>
                </a:lnTo>
                <a:cubicBezTo>
                  <a:pt x="210840" y="19017"/>
                  <a:pt x="211667" y="21043"/>
                  <a:pt x="211667" y="23151"/>
                </a:cubicBezTo>
                <a:cubicBezTo>
                  <a:pt x="211667" y="25259"/>
                  <a:pt x="210840" y="27285"/>
                  <a:pt x="209310" y="28815"/>
                </a:cubicBezTo>
                <a:lnTo>
                  <a:pt x="179007" y="59118"/>
                </a:lnTo>
                <a:lnTo>
                  <a:pt x="195544" y="75654"/>
                </a:lnTo>
                <a:cubicBezTo>
                  <a:pt x="198396" y="78507"/>
                  <a:pt x="199223" y="82765"/>
                  <a:pt x="197693" y="86486"/>
                </a:cubicBezTo>
                <a:cubicBezTo>
                  <a:pt x="196164" y="90206"/>
                  <a:pt x="192526" y="92604"/>
                  <a:pt x="188516" y="92604"/>
                </a:cubicBezTo>
                <a:close/>
                <a:moveTo>
                  <a:pt x="188516" y="119063"/>
                </a:moveTo>
                <a:cubicBezTo>
                  <a:pt x="192526" y="119063"/>
                  <a:pt x="196164" y="121460"/>
                  <a:pt x="197693" y="125181"/>
                </a:cubicBezTo>
                <a:cubicBezTo>
                  <a:pt x="199223" y="128902"/>
                  <a:pt x="198396" y="133160"/>
                  <a:pt x="195544" y="136012"/>
                </a:cubicBezTo>
                <a:lnTo>
                  <a:pt x="179007" y="152549"/>
                </a:lnTo>
                <a:lnTo>
                  <a:pt x="209352" y="182893"/>
                </a:lnTo>
                <a:cubicBezTo>
                  <a:pt x="210840" y="184382"/>
                  <a:pt x="211708" y="186407"/>
                  <a:pt x="211708" y="188557"/>
                </a:cubicBezTo>
                <a:cubicBezTo>
                  <a:pt x="211708" y="190707"/>
                  <a:pt x="210881" y="192691"/>
                  <a:pt x="209352" y="194221"/>
                </a:cubicBezTo>
                <a:lnTo>
                  <a:pt x="194179" y="209393"/>
                </a:lnTo>
                <a:cubicBezTo>
                  <a:pt x="192650" y="210840"/>
                  <a:pt x="190624" y="211667"/>
                  <a:pt x="188516" y="211667"/>
                </a:cubicBezTo>
                <a:cubicBezTo>
                  <a:pt x="186407" y="211667"/>
                  <a:pt x="184382" y="210840"/>
                  <a:pt x="182852" y="209310"/>
                </a:cubicBezTo>
                <a:lnTo>
                  <a:pt x="152549" y="179007"/>
                </a:lnTo>
                <a:lnTo>
                  <a:pt x="136012" y="195544"/>
                </a:lnTo>
                <a:cubicBezTo>
                  <a:pt x="133160" y="198396"/>
                  <a:pt x="128902" y="199223"/>
                  <a:pt x="125181" y="197693"/>
                </a:cubicBezTo>
                <a:cubicBezTo>
                  <a:pt x="121460" y="196164"/>
                  <a:pt x="119063" y="192526"/>
                  <a:pt x="119063" y="188516"/>
                </a:cubicBezTo>
                <a:lnTo>
                  <a:pt x="119063" y="128984"/>
                </a:lnTo>
                <a:cubicBezTo>
                  <a:pt x="119063" y="123486"/>
                  <a:pt x="123486" y="119063"/>
                  <a:pt x="128984" y="119063"/>
                </a:cubicBezTo>
                <a:lnTo>
                  <a:pt x="188516" y="119063"/>
                </a:lnTo>
                <a:close/>
                <a:moveTo>
                  <a:pt x="82682" y="119063"/>
                </a:moveTo>
                <a:cubicBezTo>
                  <a:pt x="88181" y="119063"/>
                  <a:pt x="92604" y="123486"/>
                  <a:pt x="92604" y="128984"/>
                </a:cubicBezTo>
                <a:lnTo>
                  <a:pt x="92604" y="188516"/>
                </a:lnTo>
                <a:cubicBezTo>
                  <a:pt x="92604" y="192526"/>
                  <a:pt x="90206" y="196164"/>
                  <a:pt x="86486" y="197693"/>
                </a:cubicBezTo>
                <a:cubicBezTo>
                  <a:pt x="82765" y="199223"/>
                  <a:pt x="78507" y="198396"/>
                  <a:pt x="75654" y="195544"/>
                </a:cubicBezTo>
                <a:lnTo>
                  <a:pt x="59118" y="179007"/>
                </a:lnTo>
                <a:lnTo>
                  <a:pt x="28773" y="209352"/>
                </a:lnTo>
                <a:cubicBezTo>
                  <a:pt x="27285" y="210840"/>
                  <a:pt x="25259" y="211667"/>
                  <a:pt x="23151" y="211667"/>
                </a:cubicBezTo>
                <a:cubicBezTo>
                  <a:pt x="21043" y="211667"/>
                  <a:pt x="19017" y="210840"/>
                  <a:pt x="17487" y="209310"/>
                </a:cubicBezTo>
                <a:lnTo>
                  <a:pt x="2356" y="194179"/>
                </a:lnTo>
                <a:cubicBezTo>
                  <a:pt x="827" y="192650"/>
                  <a:pt x="0" y="190624"/>
                  <a:pt x="0" y="188516"/>
                </a:cubicBezTo>
                <a:cubicBezTo>
                  <a:pt x="0" y="186407"/>
                  <a:pt x="827" y="184382"/>
                  <a:pt x="2356" y="182852"/>
                </a:cubicBezTo>
                <a:lnTo>
                  <a:pt x="32660" y="152549"/>
                </a:lnTo>
                <a:lnTo>
                  <a:pt x="16123" y="136012"/>
                </a:lnTo>
                <a:cubicBezTo>
                  <a:pt x="13271" y="133160"/>
                  <a:pt x="12444" y="128902"/>
                  <a:pt x="13973" y="125181"/>
                </a:cubicBezTo>
                <a:cubicBezTo>
                  <a:pt x="15503" y="121460"/>
                  <a:pt x="19141" y="119063"/>
                  <a:pt x="23151" y="119063"/>
                </a:cubicBezTo>
                <a:lnTo>
                  <a:pt x="82682" y="119063"/>
                </a:lnTo>
                <a:close/>
                <a:moveTo>
                  <a:pt x="23151" y="92604"/>
                </a:moveTo>
                <a:cubicBezTo>
                  <a:pt x="19141" y="92604"/>
                  <a:pt x="15503" y="90206"/>
                  <a:pt x="13973" y="86486"/>
                </a:cubicBezTo>
                <a:cubicBezTo>
                  <a:pt x="12444" y="82765"/>
                  <a:pt x="13312" y="78507"/>
                  <a:pt x="16123" y="75654"/>
                </a:cubicBezTo>
                <a:lnTo>
                  <a:pt x="32660" y="59118"/>
                </a:lnTo>
                <a:lnTo>
                  <a:pt x="2356" y="28815"/>
                </a:lnTo>
                <a:cubicBezTo>
                  <a:pt x="827" y="27285"/>
                  <a:pt x="0" y="25259"/>
                  <a:pt x="0" y="23151"/>
                </a:cubicBezTo>
                <a:cubicBezTo>
                  <a:pt x="0" y="21043"/>
                  <a:pt x="827" y="19017"/>
                  <a:pt x="2356" y="17487"/>
                </a:cubicBezTo>
                <a:lnTo>
                  <a:pt x="17487" y="2356"/>
                </a:lnTo>
                <a:cubicBezTo>
                  <a:pt x="19017" y="827"/>
                  <a:pt x="21043" y="0"/>
                  <a:pt x="23151" y="0"/>
                </a:cubicBezTo>
                <a:cubicBezTo>
                  <a:pt x="25259" y="0"/>
                  <a:pt x="27285" y="827"/>
                  <a:pt x="28815" y="2356"/>
                </a:cubicBezTo>
                <a:lnTo>
                  <a:pt x="59118" y="32660"/>
                </a:lnTo>
                <a:lnTo>
                  <a:pt x="75654" y="16123"/>
                </a:lnTo>
                <a:cubicBezTo>
                  <a:pt x="78507" y="13271"/>
                  <a:pt x="82765" y="12444"/>
                  <a:pt x="86486" y="13973"/>
                </a:cubicBezTo>
                <a:cubicBezTo>
                  <a:pt x="90206" y="15503"/>
                  <a:pt x="92604" y="19141"/>
                  <a:pt x="92604" y="23151"/>
                </a:cubicBezTo>
                <a:lnTo>
                  <a:pt x="92604" y="82682"/>
                </a:lnTo>
                <a:cubicBezTo>
                  <a:pt x="92604" y="88181"/>
                  <a:pt x="88181" y="92604"/>
                  <a:pt x="82682" y="92604"/>
                </a:cubicBezTo>
                <a:lnTo>
                  <a:pt x="23151" y="92604"/>
                </a:lnTo>
                <a:close/>
              </a:path>
            </a:pathLst>
          </a:custGeom>
          <a:solidFill>
            <a:srgbClr val="4C7E9A"/>
          </a:solidFill>
          <a:ln/>
        </p:spPr>
      </p:sp>
      <p:sp>
        <p:nvSpPr>
          <p:cNvPr id="37" name="Text 34"/>
          <p:cNvSpPr/>
          <p:nvPr/>
        </p:nvSpPr>
        <p:spPr>
          <a:xfrm>
            <a:off x="6498167" y="5513917"/>
            <a:ext cx="38205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Bagging：降低方差</a:t>
            </a:r>
            <a:endParaRPr lang="en-US" sz="1600" dirty="0"/>
          </a:p>
        </p:txBody>
      </p:sp>
      <p:sp>
        <p:nvSpPr>
          <p:cNvPr id="38" name="Text 35"/>
          <p:cNvSpPr/>
          <p:nvPr/>
        </p:nvSpPr>
        <p:spPr>
          <a:xfrm>
            <a:off x="6498167" y="5810250"/>
            <a:ext cx="3810000"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通过模型平均减少随机误差，特别适合高方差模型</a:t>
            </a:r>
            <a:endParaRPr lang="en-US" sz="1600" dirty="0"/>
          </a:p>
        </p:txBody>
      </p:sp>
      <p:sp>
        <p:nvSpPr>
          <p:cNvPr id="39" name="Shape 36"/>
          <p:cNvSpPr/>
          <p:nvPr/>
        </p:nvSpPr>
        <p:spPr>
          <a:xfrm>
            <a:off x="6146271" y="6191250"/>
            <a:ext cx="185208" cy="211667"/>
          </a:xfrm>
          <a:custGeom>
            <a:avLst/>
            <a:gdLst/>
            <a:ahLst/>
            <a:cxnLst/>
            <a:rect l="l" t="t" r="r" b="b"/>
            <a:pathLst>
              <a:path w="185208" h="211667">
                <a:moveTo>
                  <a:pt x="83261" y="43574"/>
                </a:moveTo>
                <a:cubicBezTo>
                  <a:pt x="88429" y="38406"/>
                  <a:pt x="96821" y="38406"/>
                  <a:pt x="101989" y="43574"/>
                </a:cubicBezTo>
                <a:lnTo>
                  <a:pt x="181364" y="122949"/>
                </a:lnTo>
                <a:cubicBezTo>
                  <a:pt x="186531" y="128116"/>
                  <a:pt x="186531" y="136508"/>
                  <a:pt x="181364" y="141676"/>
                </a:cubicBezTo>
                <a:cubicBezTo>
                  <a:pt x="176196" y="146844"/>
                  <a:pt x="167804" y="146844"/>
                  <a:pt x="162636" y="141676"/>
                </a:cubicBezTo>
                <a:lnTo>
                  <a:pt x="92604" y="71644"/>
                </a:lnTo>
                <a:lnTo>
                  <a:pt x="22572" y="141635"/>
                </a:lnTo>
                <a:cubicBezTo>
                  <a:pt x="17405" y="146802"/>
                  <a:pt x="9012" y="146802"/>
                  <a:pt x="3845" y="141635"/>
                </a:cubicBezTo>
                <a:cubicBezTo>
                  <a:pt x="-1323" y="136467"/>
                  <a:pt x="-1323" y="128075"/>
                  <a:pt x="3845" y="122907"/>
                </a:cubicBezTo>
                <a:lnTo>
                  <a:pt x="83220" y="43532"/>
                </a:lnTo>
                <a:close/>
              </a:path>
            </a:pathLst>
          </a:custGeom>
          <a:solidFill>
            <a:srgbClr val="4C7E9A"/>
          </a:solidFill>
          <a:ln/>
        </p:spPr>
      </p:sp>
      <p:sp>
        <p:nvSpPr>
          <p:cNvPr id="40" name="Text 37"/>
          <p:cNvSpPr/>
          <p:nvPr/>
        </p:nvSpPr>
        <p:spPr>
          <a:xfrm>
            <a:off x="6498167" y="6148917"/>
            <a:ext cx="43285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Boosting：降低偏差</a:t>
            </a:r>
            <a:endParaRPr lang="en-US" sz="1600" dirty="0"/>
          </a:p>
        </p:txBody>
      </p:sp>
      <p:sp>
        <p:nvSpPr>
          <p:cNvPr id="41" name="Text 38"/>
          <p:cNvSpPr/>
          <p:nvPr/>
        </p:nvSpPr>
        <p:spPr>
          <a:xfrm>
            <a:off x="6498167" y="6445250"/>
            <a:ext cx="4318000"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通过迭代修正错误逐步提升准确性，特别适合高偏差模型</a:t>
            </a:r>
            <a:endParaRPr lang="en-US" sz="1600" dirty="0"/>
          </a:p>
        </p:txBody>
      </p:sp>
      <p:sp>
        <p:nvSpPr>
          <p:cNvPr id="42" name="Shape 39"/>
          <p:cNvSpPr/>
          <p:nvPr/>
        </p:nvSpPr>
        <p:spPr>
          <a:xfrm>
            <a:off x="6133042" y="6826250"/>
            <a:ext cx="211667" cy="211667"/>
          </a:xfrm>
          <a:custGeom>
            <a:avLst/>
            <a:gdLst/>
            <a:ahLst/>
            <a:cxnLst/>
            <a:rect l="l" t="t" r="r" b="b"/>
            <a:pathLst>
              <a:path w="211667" h="211667">
                <a:moveTo>
                  <a:pt x="96118" y="2150"/>
                </a:moveTo>
                <a:cubicBezTo>
                  <a:pt x="102278" y="-703"/>
                  <a:pt x="109389" y="-703"/>
                  <a:pt x="115549" y="2150"/>
                </a:cubicBezTo>
                <a:lnTo>
                  <a:pt x="205920" y="43904"/>
                </a:lnTo>
                <a:cubicBezTo>
                  <a:pt x="209434" y="45517"/>
                  <a:pt x="211667" y="49031"/>
                  <a:pt x="211667" y="52917"/>
                </a:cubicBezTo>
                <a:cubicBezTo>
                  <a:pt x="211667" y="56803"/>
                  <a:pt x="209434" y="60317"/>
                  <a:pt x="205920" y="61929"/>
                </a:cubicBezTo>
                <a:lnTo>
                  <a:pt x="115549" y="103684"/>
                </a:lnTo>
                <a:cubicBezTo>
                  <a:pt x="109389" y="106536"/>
                  <a:pt x="102278" y="106536"/>
                  <a:pt x="96118" y="103684"/>
                </a:cubicBezTo>
                <a:lnTo>
                  <a:pt x="5746" y="61929"/>
                </a:lnTo>
                <a:cubicBezTo>
                  <a:pt x="2232" y="60275"/>
                  <a:pt x="0" y="56761"/>
                  <a:pt x="0" y="52917"/>
                </a:cubicBezTo>
                <a:cubicBezTo>
                  <a:pt x="0" y="49072"/>
                  <a:pt x="2232" y="45517"/>
                  <a:pt x="5746" y="43904"/>
                </a:cubicBezTo>
                <a:lnTo>
                  <a:pt x="96118" y="2150"/>
                </a:lnTo>
                <a:close/>
                <a:moveTo>
                  <a:pt x="19885" y="90289"/>
                </a:moveTo>
                <a:lnTo>
                  <a:pt x="87809" y="121667"/>
                </a:lnTo>
                <a:cubicBezTo>
                  <a:pt x="99260" y="126959"/>
                  <a:pt x="112448" y="126959"/>
                  <a:pt x="123899" y="121667"/>
                </a:cubicBezTo>
                <a:lnTo>
                  <a:pt x="191823" y="90289"/>
                </a:lnTo>
                <a:lnTo>
                  <a:pt x="205920" y="96821"/>
                </a:lnTo>
                <a:cubicBezTo>
                  <a:pt x="209434" y="98433"/>
                  <a:pt x="211667" y="101947"/>
                  <a:pt x="211667" y="105833"/>
                </a:cubicBezTo>
                <a:cubicBezTo>
                  <a:pt x="211667" y="109719"/>
                  <a:pt x="209434" y="113233"/>
                  <a:pt x="205920" y="114846"/>
                </a:cubicBezTo>
                <a:lnTo>
                  <a:pt x="115549" y="156600"/>
                </a:lnTo>
                <a:cubicBezTo>
                  <a:pt x="109389" y="159453"/>
                  <a:pt x="102278" y="159453"/>
                  <a:pt x="96118" y="156600"/>
                </a:cubicBezTo>
                <a:lnTo>
                  <a:pt x="5746" y="114846"/>
                </a:lnTo>
                <a:cubicBezTo>
                  <a:pt x="2232" y="113192"/>
                  <a:pt x="0" y="109678"/>
                  <a:pt x="0" y="105833"/>
                </a:cubicBezTo>
                <a:cubicBezTo>
                  <a:pt x="0" y="101989"/>
                  <a:pt x="2232" y="98433"/>
                  <a:pt x="5746" y="96821"/>
                </a:cubicBezTo>
                <a:lnTo>
                  <a:pt x="19844" y="90289"/>
                </a:lnTo>
                <a:close/>
                <a:moveTo>
                  <a:pt x="5746" y="149738"/>
                </a:moveTo>
                <a:lnTo>
                  <a:pt x="19844" y="143206"/>
                </a:lnTo>
                <a:lnTo>
                  <a:pt x="87767" y="174584"/>
                </a:lnTo>
                <a:cubicBezTo>
                  <a:pt x="99219" y="179875"/>
                  <a:pt x="112407" y="179875"/>
                  <a:pt x="123858" y="174584"/>
                </a:cubicBezTo>
                <a:lnTo>
                  <a:pt x="191782" y="143206"/>
                </a:lnTo>
                <a:lnTo>
                  <a:pt x="205879" y="149738"/>
                </a:lnTo>
                <a:cubicBezTo>
                  <a:pt x="209393" y="151350"/>
                  <a:pt x="211625" y="154864"/>
                  <a:pt x="211625" y="158750"/>
                </a:cubicBezTo>
                <a:cubicBezTo>
                  <a:pt x="211625" y="162636"/>
                  <a:pt x="209393" y="166150"/>
                  <a:pt x="205879" y="167762"/>
                </a:cubicBezTo>
                <a:lnTo>
                  <a:pt x="115507" y="209517"/>
                </a:lnTo>
                <a:cubicBezTo>
                  <a:pt x="109347" y="212369"/>
                  <a:pt x="102237" y="212369"/>
                  <a:pt x="96077" y="209517"/>
                </a:cubicBezTo>
                <a:lnTo>
                  <a:pt x="5746" y="167762"/>
                </a:lnTo>
                <a:cubicBezTo>
                  <a:pt x="2232" y="166109"/>
                  <a:pt x="0" y="162595"/>
                  <a:pt x="0" y="158750"/>
                </a:cubicBezTo>
                <a:cubicBezTo>
                  <a:pt x="0" y="154905"/>
                  <a:pt x="2232" y="151350"/>
                  <a:pt x="5746" y="149738"/>
                </a:cubicBezTo>
                <a:close/>
              </a:path>
            </a:pathLst>
          </a:custGeom>
          <a:solidFill>
            <a:srgbClr val="4C7E9A"/>
          </a:solidFill>
          <a:ln/>
        </p:spPr>
      </p:sp>
      <p:sp>
        <p:nvSpPr>
          <p:cNvPr id="43" name="Text 40"/>
          <p:cNvSpPr/>
          <p:nvPr/>
        </p:nvSpPr>
        <p:spPr>
          <a:xfrm>
            <a:off x="6498167" y="6783917"/>
            <a:ext cx="3894667"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Stacking：综合优化</a:t>
            </a:r>
            <a:endParaRPr lang="en-US" sz="1600" dirty="0"/>
          </a:p>
        </p:txBody>
      </p:sp>
      <p:sp>
        <p:nvSpPr>
          <p:cNvPr id="44" name="Text 41"/>
          <p:cNvSpPr/>
          <p:nvPr/>
        </p:nvSpPr>
        <p:spPr>
          <a:xfrm>
            <a:off x="6498167" y="7080250"/>
            <a:ext cx="3884083"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通过学习如何组合模型实现更精细的偏差-方差平衡</a:t>
            </a:r>
            <a:endParaRPr lang="en-US" sz="1600" dirty="0"/>
          </a:p>
        </p:txBody>
      </p:sp>
      <p:sp>
        <p:nvSpPr>
          <p:cNvPr id="45" name="Shape 42"/>
          <p:cNvSpPr/>
          <p:nvPr/>
        </p:nvSpPr>
        <p:spPr>
          <a:xfrm>
            <a:off x="5931958" y="7688792"/>
            <a:ext cx="9895417" cy="857250"/>
          </a:xfrm>
          <a:custGeom>
            <a:avLst/>
            <a:gdLst/>
            <a:ahLst/>
            <a:cxnLst/>
            <a:rect l="l" t="t" r="r" b="b"/>
            <a:pathLst>
              <a:path w="9895417" h="857250">
                <a:moveTo>
                  <a:pt x="84671" y="0"/>
                </a:moveTo>
                <a:lnTo>
                  <a:pt x="9810746" y="0"/>
                </a:lnTo>
                <a:cubicBezTo>
                  <a:pt x="9857508" y="0"/>
                  <a:pt x="9895417" y="37908"/>
                  <a:pt x="9895417" y="84671"/>
                </a:cubicBezTo>
                <a:lnTo>
                  <a:pt x="9895417" y="772579"/>
                </a:lnTo>
                <a:cubicBezTo>
                  <a:pt x="9895417" y="819342"/>
                  <a:pt x="9857508" y="857250"/>
                  <a:pt x="9810746" y="857250"/>
                </a:cubicBezTo>
                <a:lnTo>
                  <a:pt x="84671" y="857250"/>
                </a:lnTo>
                <a:cubicBezTo>
                  <a:pt x="37908" y="857250"/>
                  <a:pt x="0" y="819342"/>
                  <a:pt x="0" y="772579"/>
                </a:cubicBezTo>
                <a:lnTo>
                  <a:pt x="0" y="84671"/>
                </a:lnTo>
                <a:cubicBezTo>
                  <a:pt x="0" y="37908"/>
                  <a:pt x="37908" y="0"/>
                  <a:pt x="84671" y="0"/>
                </a:cubicBezTo>
                <a:close/>
              </a:path>
            </a:pathLst>
          </a:custGeom>
          <a:solidFill>
            <a:srgbClr val="4C7E9A">
              <a:alpha val="10196"/>
            </a:srgbClr>
          </a:solidFill>
          <a:ln w="12700">
            <a:solidFill>
              <a:srgbClr val="4C7E9A">
                <a:alpha val="30196"/>
              </a:srgbClr>
            </a:solidFill>
            <a:prstDash val="solid"/>
          </a:ln>
        </p:spPr>
      </p:sp>
      <p:sp>
        <p:nvSpPr>
          <p:cNvPr id="46" name="Shape 43"/>
          <p:cNvSpPr/>
          <p:nvPr/>
        </p:nvSpPr>
        <p:spPr>
          <a:xfrm>
            <a:off x="6148917" y="7911042"/>
            <a:ext cx="127000" cy="169333"/>
          </a:xfrm>
          <a:custGeom>
            <a:avLst/>
            <a:gdLst/>
            <a:ahLst/>
            <a:cxnLst/>
            <a:rect l="l" t="t" r="r" b="b"/>
            <a:pathLst>
              <a:path w="127000" h="169333">
                <a:moveTo>
                  <a:pt x="96871" y="127000"/>
                </a:moveTo>
                <a:cubicBezTo>
                  <a:pt x="99285" y="119625"/>
                  <a:pt x="104114" y="112944"/>
                  <a:pt x="109571" y="107189"/>
                </a:cubicBezTo>
                <a:cubicBezTo>
                  <a:pt x="120385" y="95812"/>
                  <a:pt x="127000" y="80433"/>
                  <a:pt x="127000" y="63500"/>
                </a:cubicBezTo>
                <a:cubicBezTo>
                  <a:pt x="127000" y="28443"/>
                  <a:pt x="98557" y="0"/>
                  <a:pt x="63500" y="0"/>
                </a:cubicBezTo>
                <a:cubicBezTo>
                  <a:pt x="28443" y="0"/>
                  <a:pt x="0" y="28443"/>
                  <a:pt x="0" y="63500"/>
                </a:cubicBezTo>
                <a:cubicBezTo>
                  <a:pt x="0" y="80433"/>
                  <a:pt x="6615" y="95812"/>
                  <a:pt x="17429" y="107189"/>
                </a:cubicBezTo>
                <a:cubicBezTo>
                  <a:pt x="22886" y="112944"/>
                  <a:pt x="27748" y="119625"/>
                  <a:pt x="30129" y="127000"/>
                </a:cubicBezTo>
                <a:lnTo>
                  <a:pt x="96838" y="127000"/>
                </a:lnTo>
                <a:close/>
                <a:moveTo>
                  <a:pt x="95250" y="142875"/>
                </a:moveTo>
                <a:lnTo>
                  <a:pt x="31750" y="142875"/>
                </a:lnTo>
                <a:lnTo>
                  <a:pt x="31750" y="148167"/>
                </a:lnTo>
                <a:cubicBezTo>
                  <a:pt x="31750" y="162785"/>
                  <a:pt x="43590" y="174625"/>
                  <a:pt x="58208" y="174625"/>
                </a:cubicBezTo>
                <a:lnTo>
                  <a:pt x="68792" y="174625"/>
                </a:lnTo>
                <a:cubicBezTo>
                  <a:pt x="83410" y="174625"/>
                  <a:pt x="95250" y="162785"/>
                  <a:pt x="95250" y="148167"/>
                </a:cubicBezTo>
                <a:lnTo>
                  <a:pt x="95250" y="142875"/>
                </a:lnTo>
                <a:close/>
                <a:moveTo>
                  <a:pt x="60854" y="37042"/>
                </a:moveTo>
                <a:cubicBezTo>
                  <a:pt x="47691" y="37042"/>
                  <a:pt x="37042" y="47691"/>
                  <a:pt x="37042" y="60854"/>
                </a:cubicBezTo>
                <a:cubicBezTo>
                  <a:pt x="37042" y="65253"/>
                  <a:pt x="33503" y="68792"/>
                  <a:pt x="29104" y="68792"/>
                </a:cubicBezTo>
                <a:cubicBezTo>
                  <a:pt x="24705" y="68792"/>
                  <a:pt x="21167" y="65253"/>
                  <a:pt x="21167" y="60854"/>
                </a:cubicBezTo>
                <a:cubicBezTo>
                  <a:pt x="21167" y="38927"/>
                  <a:pt x="38927" y="21167"/>
                  <a:pt x="60854" y="21167"/>
                </a:cubicBezTo>
                <a:cubicBezTo>
                  <a:pt x="65253" y="21167"/>
                  <a:pt x="68792" y="24705"/>
                  <a:pt x="68792" y="29104"/>
                </a:cubicBezTo>
                <a:cubicBezTo>
                  <a:pt x="68792" y="33503"/>
                  <a:pt x="65253" y="37042"/>
                  <a:pt x="60854" y="37042"/>
                </a:cubicBezTo>
                <a:close/>
              </a:path>
            </a:pathLst>
          </a:custGeom>
          <a:solidFill>
            <a:srgbClr val="4C7E9A"/>
          </a:solidFill>
          <a:ln/>
        </p:spPr>
      </p:sp>
      <p:sp>
        <p:nvSpPr>
          <p:cNvPr id="47" name="Text 44"/>
          <p:cNvSpPr/>
          <p:nvPr/>
        </p:nvSpPr>
        <p:spPr>
          <a:xfrm>
            <a:off x="6388806" y="7863417"/>
            <a:ext cx="9348611" cy="508000"/>
          </a:xfrm>
          <a:prstGeom prst="rect">
            <a:avLst/>
          </a:prstGeom>
          <a:noFill/>
          <a:ln/>
        </p:spPr>
        <p:txBody>
          <a:bodyPr wrap="square" lIns="0" tIns="0" rIns="0" bIns="0" rtlCol="0" anchor="ctr"/>
          <a:lstStyle/>
          <a:p>
            <a:pPr>
              <a:lnSpc>
                <a:spcPct val="130000"/>
              </a:lnSpc>
            </a:pPr>
            <a:r>
              <a:rPr lang="en-US" sz="1333" b="1" dirty="0">
                <a:solidFill>
                  <a:srgbClr val="4C7E9A"/>
                </a:solidFill>
                <a:latin typeface="MiSans" pitchFamily="34" charset="0"/>
                <a:ea typeface="MiSans" pitchFamily="34" charset="-122"/>
                <a:cs typeface="MiSans" pitchFamily="34" charset="-120"/>
              </a:rPr>
              <a:t>关键洞察：</a:t>
            </a:r>
            <a:pPr>
              <a:lnSpc>
                <a:spcPct val="130000"/>
              </a:lnSpc>
            </a:pPr>
            <a:r>
              <a:rPr lang="en-US" sz="1333" dirty="0">
                <a:solidFill>
                  <a:srgbClr val="D1D5DB"/>
                </a:solidFill>
                <a:latin typeface="MiSans" pitchFamily="34" charset="0"/>
                <a:ea typeface="MiSans" pitchFamily="34" charset="-122"/>
                <a:cs typeface="MiSans" pitchFamily="34" charset="-120"/>
              </a:rPr>
              <a:t> 优秀的机器学习模型应该在偏差和方差之间取得恰当平衡。集成学习正是调和这两者的重要方法，通过组合多个基学习器，既能够降低方差（减少过拟合），又能够控制偏差（避免欠拟合），从而实现更好的泛化性能。</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81A1F"/>
        </a:solidFill>
      </p:bgPr>
    </p:bg>
    <p:spTree>
      <p:nvGrpSpPr>
        <p:cNvPr id="1" name=""/>
        <p:cNvGrpSpPr/>
        <p:nvPr/>
      </p:nvGrpSpPr>
      <p:grpSpPr>
        <a:xfrm>
          <a:off x="0" y="0"/>
          <a:ext cx="0" cy="0"/>
          <a:chOff x="0" y="0"/>
          <a:chExt cx="0" cy="0"/>
        </a:xfrm>
      </p:grpSpPr>
      <p:pic>
        <p:nvPicPr>
          <p:cNvPr id="2" name="Image 0" descr="https://kimi-web-img.moonshot.cn/img/images.stockcake.com/6f485e75bafc7e19c540f81670dcdfb0eecc1d23.jpg">    </p:cNvPr>
          <p:cNvPicPr>
            <a:picLocks noChangeAspect="1"/>
          </p:cNvPicPr>
          <p:nvPr/>
        </p:nvPicPr>
        <p:blipFill>
          <a:blip r:embed="rId1">
            <a:alphaModFix amt="30000"/>
          </a:blip>
          <a:srcRect l="0" r="0" t="21875" b="21875"/>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rotWithShape="1" flip="none">
            <a:gsLst>
              <a:gs pos="0">
                <a:srgbClr val="181A1F"/>
              </a:gs>
              <a:gs pos="50000">
                <a:srgbClr val="181A1F">
                  <a:alpha val="95000"/>
                </a:srgbClr>
              </a:gs>
              <a:gs pos="100000">
                <a:srgbClr val="181A1F">
                  <a:alpha val="70000"/>
                </a:srgbClr>
              </a:gs>
            </a:gsLst>
            <a:lin ang="0" scaled="1"/>
          </a:gradFill>
          <a:ln/>
        </p:spPr>
      </p:sp>
      <p:sp>
        <p:nvSpPr>
          <p:cNvPr id="4" name="Shape 1"/>
          <p:cNvSpPr/>
          <p:nvPr/>
        </p:nvSpPr>
        <p:spPr>
          <a:xfrm>
            <a:off x="520700" y="1073150"/>
            <a:ext cx="2349500" cy="787400"/>
          </a:xfrm>
          <a:custGeom>
            <a:avLst/>
            <a:gdLst/>
            <a:ahLst/>
            <a:cxnLst/>
            <a:rect l="l" t="t" r="r" b="b"/>
            <a:pathLst>
              <a:path w="2349500" h="787400">
                <a:moveTo>
                  <a:pt x="101598" y="0"/>
                </a:moveTo>
                <a:lnTo>
                  <a:pt x="2247902" y="0"/>
                </a:lnTo>
                <a:cubicBezTo>
                  <a:pt x="2304013" y="0"/>
                  <a:pt x="2349500" y="45487"/>
                  <a:pt x="2349500" y="101598"/>
                </a:cubicBezTo>
                <a:lnTo>
                  <a:pt x="2349500" y="685802"/>
                </a:lnTo>
                <a:cubicBezTo>
                  <a:pt x="2349500" y="741913"/>
                  <a:pt x="2304013" y="787400"/>
                  <a:pt x="2247902" y="787400"/>
                </a:cubicBezTo>
                <a:lnTo>
                  <a:pt x="101598" y="787400"/>
                </a:lnTo>
                <a:cubicBezTo>
                  <a:pt x="45487" y="787400"/>
                  <a:pt x="0" y="741913"/>
                  <a:pt x="0" y="685802"/>
                </a:cubicBezTo>
                <a:lnTo>
                  <a:pt x="0" y="101598"/>
                </a:lnTo>
                <a:cubicBezTo>
                  <a:pt x="0" y="45525"/>
                  <a:pt x="45525" y="0"/>
                  <a:pt x="101598" y="0"/>
                </a:cubicBezTo>
                <a:close/>
              </a:path>
            </a:pathLst>
          </a:custGeom>
          <a:solidFill>
            <a:srgbClr val="4C7E9A">
              <a:alpha val="20000"/>
            </a:srgbClr>
          </a:solidFill>
          <a:ln w="25400">
            <a:solidFill>
              <a:srgbClr val="4C7E9A"/>
            </a:solidFill>
            <a:prstDash val="solid"/>
          </a:ln>
        </p:spPr>
      </p:sp>
      <p:sp>
        <p:nvSpPr>
          <p:cNvPr id="5" name="Text 2"/>
          <p:cNvSpPr/>
          <p:nvPr/>
        </p:nvSpPr>
        <p:spPr>
          <a:xfrm>
            <a:off x="838200" y="1238250"/>
            <a:ext cx="1905000" cy="457200"/>
          </a:xfrm>
          <a:prstGeom prst="rect">
            <a:avLst/>
          </a:prstGeom>
          <a:noFill/>
          <a:ln/>
        </p:spPr>
        <p:txBody>
          <a:bodyPr wrap="square" lIns="0" tIns="0" rIns="0" bIns="0" rtlCol="0" anchor="ctr"/>
          <a:lstStyle/>
          <a:p>
            <a:pPr>
              <a:lnSpc>
                <a:spcPct val="100000"/>
              </a:lnSpc>
            </a:pPr>
            <a:r>
              <a:rPr lang="en-US" sz="3000" b="1" dirty="0">
                <a:solidFill>
                  <a:srgbClr val="4C7E9A"/>
                </a:solidFill>
                <a:latin typeface="MiSans" pitchFamily="34" charset="0"/>
                <a:ea typeface="MiSans" pitchFamily="34" charset="-122"/>
                <a:cs typeface="MiSans" pitchFamily="34" charset="-120"/>
              </a:rPr>
              <a:t>CHAPTER</a:t>
            </a:r>
            <a:endParaRPr lang="en-US" sz="1600" dirty="0"/>
          </a:p>
        </p:txBody>
      </p:sp>
      <p:sp>
        <p:nvSpPr>
          <p:cNvPr id="6" name="Text 3"/>
          <p:cNvSpPr/>
          <p:nvPr/>
        </p:nvSpPr>
        <p:spPr>
          <a:xfrm>
            <a:off x="508000" y="2279650"/>
            <a:ext cx="5626100" cy="1219200"/>
          </a:xfrm>
          <a:prstGeom prst="rect">
            <a:avLst/>
          </a:prstGeom>
          <a:noFill/>
          <a:ln/>
        </p:spPr>
        <p:txBody>
          <a:bodyPr wrap="square" lIns="0" tIns="0" rIns="0" bIns="0" rtlCol="0" anchor="ctr"/>
          <a:lstStyle/>
          <a:p>
            <a:pPr>
              <a:lnSpc>
                <a:spcPct val="80000"/>
              </a:lnSpc>
            </a:pPr>
            <a:r>
              <a:rPr lang="en-US" sz="9600" b="1" dirty="0">
                <a:solidFill>
                  <a:srgbClr val="D1D5DB"/>
                </a:solidFill>
                <a:latin typeface="阿里妈妈数黑体" pitchFamily="34" charset="0"/>
                <a:ea typeface="阿里妈妈数黑体" pitchFamily="34" charset="-122"/>
                <a:cs typeface="阿里妈妈数黑体" pitchFamily="34" charset="-120"/>
              </a:rPr>
              <a:t>03</a:t>
            </a:r>
            <a:endParaRPr lang="en-US" sz="1600" dirty="0"/>
          </a:p>
        </p:txBody>
      </p:sp>
      <p:sp>
        <p:nvSpPr>
          <p:cNvPr id="7" name="Text 4"/>
          <p:cNvSpPr/>
          <p:nvPr/>
        </p:nvSpPr>
        <p:spPr>
          <a:xfrm>
            <a:off x="508000" y="3803650"/>
            <a:ext cx="5397500" cy="952500"/>
          </a:xfrm>
          <a:prstGeom prst="rect">
            <a:avLst/>
          </a:prstGeom>
          <a:noFill/>
          <a:ln/>
        </p:spPr>
        <p:txBody>
          <a:bodyPr wrap="square" lIns="0" tIns="0" rIns="0" bIns="0" rtlCol="0" anchor="ctr"/>
          <a:lstStyle/>
          <a:p>
            <a:pPr>
              <a:lnSpc>
                <a:spcPct val="100000"/>
              </a:lnSpc>
            </a:pPr>
            <a:r>
              <a:rPr lang="en-US" sz="6000" b="1" dirty="0">
                <a:solidFill>
                  <a:srgbClr val="4C7E9A"/>
                </a:solidFill>
                <a:latin typeface="阿里妈妈数黑体" pitchFamily="34" charset="0"/>
                <a:ea typeface="阿里妈妈数黑体" pitchFamily="34" charset="-122"/>
                <a:cs typeface="阿里妈妈数黑体" pitchFamily="34" charset="-120"/>
              </a:rPr>
              <a:t>模型融合方法</a:t>
            </a:r>
            <a:endParaRPr lang="en-US" sz="1600" dirty="0"/>
          </a:p>
        </p:txBody>
      </p:sp>
      <p:sp>
        <p:nvSpPr>
          <p:cNvPr id="8" name="Shape 5"/>
          <p:cNvSpPr/>
          <p:nvPr/>
        </p:nvSpPr>
        <p:spPr>
          <a:xfrm>
            <a:off x="508000" y="5162550"/>
            <a:ext cx="2438400" cy="101600"/>
          </a:xfrm>
          <a:custGeom>
            <a:avLst/>
            <a:gdLst/>
            <a:ahLst/>
            <a:cxnLst/>
            <a:rect l="l" t="t" r="r" b="b"/>
            <a:pathLst>
              <a:path w="2438400" h="101600">
                <a:moveTo>
                  <a:pt x="0" y="0"/>
                </a:moveTo>
                <a:lnTo>
                  <a:pt x="2438400" y="0"/>
                </a:lnTo>
                <a:lnTo>
                  <a:pt x="2438400" y="101600"/>
                </a:lnTo>
                <a:lnTo>
                  <a:pt x="0" y="101600"/>
                </a:lnTo>
                <a:lnTo>
                  <a:pt x="0" y="0"/>
                </a:lnTo>
                <a:close/>
              </a:path>
            </a:pathLst>
          </a:custGeom>
          <a:solidFill>
            <a:srgbClr val="4C7E9A"/>
          </a:solidFill>
          <a:ln/>
        </p:spPr>
      </p:sp>
      <p:sp>
        <p:nvSpPr>
          <p:cNvPr id="9" name="Text 6"/>
          <p:cNvSpPr/>
          <p:nvPr/>
        </p:nvSpPr>
        <p:spPr>
          <a:xfrm>
            <a:off x="508000" y="5568950"/>
            <a:ext cx="5245100" cy="508000"/>
          </a:xfrm>
          <a:prstGeom prst="rect">
            <a:avLst/>
          </a:prstGeom>
          <a:noFill/>
          <a:ln/>
        </p:spPr>
        <p:txBody>
          <a:bodyPr wrap="square" lIns="0" tIns="0" rIns="0" bIns="0" rtlCol="0" anchor="ctr"/>
          <a:lstStyle/>
          <a:p>
            <a:pPr>
              <a:lnSpc>
                <a:spcPct val="90000"/>
              </a:lnSpc>
            </a:pPr>
            <a:r>
              <a:rPr lang="en-US" sz="3600" dirty="0">
                <a:solidFill>
                  <a:srgbClr val="7E9AA8"/>
                </a:solidFill>
                <a:latin typeface="MiSans" pitchFamily="34" charset="0"/>
                <a:ea typeface="MiSans" pitchFamily="34" charset="-122"/>
                <a:cs typeface="MiSans" pitchFamily="34" charset="-120"/>
              </a:rPr>
              <a:t>三大主流集成策略</a:t>
            </a:r>
            <a:endParaRPr lang="en-US" sz="1600" dirty="0"/>
          </a:p>
        </p:txBody>
      </p:sp>
      <p:sp>
        <p:nvSpPr>
          <p:cNvPr id="10" name="Shape 7"/>
          <p:cNvSpPr/>
          <p:nvPr/>
        </p:nvSpPr>
        <p:spPr>
          <a:xfrm>
            <a:off x="508000" y="6686550"/>
            <a:ext cx="1536700" cy="1397000"/>
          </a:xfrm>
          <a:custGeom>
            <a:avLst/>
            <a:gdLst/>
            <a:ahLst/>
            <a:cxnLst/>
            <a:rect l="l" t="t" r="r" b="b"/>
            <a:pathLst>
              <a:path w="1536700" h="1397000">
                <a:moveTo>
                  <a:pt x="101604" y="0"/>
                </a:moveTo>
                <a:lnTo>
                  <a:pt x="1435096" y="0"/>
                </a:lnTo>
                <a:cubicBezTo>
                  <a:pt x="1491210" y="0"/>
                  <a:pt x="1536700" y="45490"/>
                  <a:pt x="1536700" y="101604"/>
                </a:cubicBezTo>
                <a:lnTo>
                  <a:pt x="1536700" y="1295396"/>
                </a:lnTo>
                <a:cubicBezTo>
                  <a:pt x="1536700" y="1351510"/>
                  <a:pt x="1491210" y="1397000"/>
                  <a:pt x="14350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1" name="Shape 8"/>
          <p:cNvSpPr/>
          <p:nvPr/>
        </p:nvSpPr>
        <p:spPr>
          <a:xfrm>
            <a:off x="812800" y="6940550"/>
            <a:ext cx="381000" cy="381000"/>
          </a:xfrm>
          <a:custGeom>
            <a:avLst/>
            <a:gdLst/>
            <a:ahLst/>
            <a:cxnLst/>
            <a:rect l="l" t="t" r="r" b="b"/>
            <a:pathLst>
              <a:path w="381000" h="381000">
                <a:moveTo>
                  <a:pt x="142875" y="47625"/>
                </a:moveTo>
                <a:cubicBezTo>
                  <a:pt x="142875" y="34454"/>
                  <a:pt x="153516" y="23812"/>
                  <a:pt x="166688" y="23812"/>
                </a:cubicBezTo>
                <a:lnTo>
                  <a:pt x="214313" y="23812"/>
                </a:lnTo>
                <a:cubicBezTo>
                  <a:pt x="227484" y="23812"/>
                  <a:pt x="238125" y="34454"/>
                  <a:pt x="238125" y="47625"/>
                </a:cubicBezTo>
                <a:lnTo>
                  <a:pt x="238125" y="95250"/>
                </a:lnTo>
                <a:cubicBezTo>
                  <a:pt x="238125" y="108421"/>
                  <a:pt x="227484" y="119063"/>
                  <a:pt x="214313" y="119063"/>
                </a:cubicBezTo>
                <a:lnTo>
                  <a:pt x="208359" y="119063"/>
                </a:lnTo>
                <a:lnTo>
                  <a:pt x="208359" y="166688"/>
                </a:lnTo>
                <a:lnTo>
                  <a:pt x="297656" y="166688"/>
                </a:lnTo>
                <a:cubicBezTo>
                  <a:pt x="327273" y="166688"/>
                  <a:pt x="351234" y="190649"/>
                  <a:pt x="351234" y="220266"/>
                </a:cubicBezTo>
                <a:lnTo>
                  <a:pt x="351234" y="261938"/>
                </a:lnTo>
                <a:lnTo>
                  <a:pt x="357188" y="261938"/>
                </a:lnTo>
                <a:cubicBezTo>
                  <a:pt x="370359" y="261938"/>
                  <a:pt x="381000" y="272579"/>
                  <a:pt x="381000" y="285750"/>
                </a:cubicBezTo>
                <a:lnTo>
                  <a:pt x="381000" y="333375"/>
                </a:lnTo>
                <a:cubicBezTo>
                  <a:pt x="381000" y="346546"/>
                  <a:pt x="370359" y="357188"/>
                  <a:pt x="357188" y="357188"/>
                </a:cubicBezTo>
                <a:lnTo>
                  <a:pt x="309563" y="357188"/>
                </a:lnTo>
                <a:cubicBezTo>
                  <a:pt x="296391" y="357188"/>
                  <a:pt x="285750" y="346546"/>
                  <a:pt x="285750" y="333375"/>
                </a:cubicBezTo>
                <a:lnTo>
                  <a:pt x="285750" y="285750"/>
                </a:lnTo>
                <a:cubicBezTo>
                  <a:pt x="285750" y="272579"/>
                  <a:pt x="296391" y="261938"/>
                  <a:pt x="309563" y="261938"/>
                </a:cubicBezTo>
                <a:lnTo>
                  <a:pt x="315516" y="261938"/>
                </a:lnTo>
                <a:lnTo>
                  <a:pt x="315516" y="220266"/>
                </a:lnTo>
                <a:cubicBezTo>
                  <a:pt x="315516" y="210369"/>
                  <a:pt x="307553" y="202406"/>
                  <a:pt x="297656" y="202406"/>
                </a:cubicBezTo>
                <a:lnTo>
                  <a:pt x="208359" y="202406"/>
                </a:lnTo>
                <a:lnTo>
                  <a:pt x="208359" y="261938"/>
                </a:lnTo>
                <a:lnTo>
                  <a:pt x="214313" y="261938"/>
                </a:lnTo>
                <a:cubicBezTo>
                  <a:pt x="227484" y="261938"/>
                  <a:pt x="238125" y="272579"/>
                  <a:pt x="238125" y="285750"/>
                </a:cubicBezTo>
                <a:lnTo>
                  <a:pt x="238125" y="333375"/>
                </a:lnTo>
                <a:cubicBezTo>
                  <a:pt x="238125" y="346546"/>
                  <a:pt x="227484" y="357188"/>
                  <a:pt x="214313" y="357188"/>
                </a:cubicBezTo>
                <a:lnTo>
                  <a:pt x="166688" y="357188"/>
                </a:lnTo>
                <a:cubicBezTo>
                  <a:pt x="153516" y="357188"/>
                  <a:pt x="142875" y="346546"/>
                  <a:pt x="142875" y="333375"/>
                </a:cubicBezTo>
                <a:lnTo>
                  <a:pt x="142875" y="285750"/>
                </a:lnTo>
                <a:cubicBezTo>
                  <a:pt x="142875" y="272579"/>
                  <a:pt x="153516" y="261938"/>
                  <a:pt x="166688" y="261938"/>
                </a:cubicBezTo>
                <a:lnTo>
                  <a:pt x="172641" y="261938"/>
                </a:lnTo>
                <a:lnTo>
                  <a:pt x="172641" y="202406"/>
                </a:lnTo>
                <a:lnTo>
                  <a:pt x="83344" y="202406"/>
                </a:lnTo>
                <a:cubicBezTo>
                  <a:pt x="73447" y="202406"/>
                  <a:pt x="65484" y="210369"/>
                  <a:pt x="65484" y="220266"/>
                </a:cubicBezTo>
                <a:lnTo>
                  <a:pt x="65484" y="261938"/>
                </a:lnTo>
                <a:lnTo>
                  <a:pt x="71438" y="261938"/>
                </a:lnTo>
                <a:cubicBezTo>
                  <a:pt x="84609" y="261938"/>
                  <a:pt x="95250" y="272579"/>
                  <a:pt x="95250" y="285750"/>
                </a:cubicBezTo>
                <a:lnTo>
                  <a:pt x="95250" y="333375"/>
                </a:lnTo>
                <a:cubicBezTo>
                  <a:pt x="95250" y="346546"/>
                  <a:pt x="84609" y="357188"/>
                  <a:pt x="71438" y="357188"/>
                </a:cubicBezTo>
                <a:lnTo>
                  <a:pt x="23812" y="357188"/>
                </a:lnTo>
                <a:cubicBezTo>
                  <a:pt x="10641" y="357188"/>
                  <a:pt x="0" y="346546"/>
                  <a:pt x="0" y="333375"/>
                </a:cubicBezTo>
                <a:lnTo>
                  <a:pt x="0" y="285750"/>
                </a:lnTo>
                <a:cubicBezTo>
                  <a:pt x="0" y="272579"/>
                  <a:pt x="10641" y="261938"/>
                  <a:pt x="23812" y="261938"/>
                </a:cubicBezTo>
                <a:lnTo>
                  <a:pt x="29766" y="261938"/>
                </a:lnTo>
                <a:lnTo>
                  <a:pt x="29766" y="220266"/>
                </a:lnTo>
                <a:cubicBezTo>
                  <a:pt x="29766" y="190649"/>
                  <a:pt x="53727" y="166688"/>
                  <a:pt x="83344" y="166688"/>
                </a:cubicBezTo>
                <a:lnTo>
                  <a:pt x="172641" y="166688"/>
                </a:lnTo>
                <a:lnTo>
                  <a:pt x="172641" y="119063"/>
                </a:lnTo>
                <a:lnTo>
                  <a:pt x="166688" y="119063"/>
                </a:lnTo>
                <a:cubicBezTo>
                  <a:pt x="153516" y="119063"/>
                  <a:pt x="142875" y="108421"/>
                  <a:pt x="142875" y="95250"/>
                </a:cubicBezTo>
                <a:lnTo>
                  <a:pt x="142875" y="47625"/>
                </a:lnTo>
                <a:close/>
              </a:path>
            </a:pathLst>
          </a:custGeom>
          <a:solidFill>
            <a:srgbClr val="4C7E9A"/>
          </a:solidFill>
          <a:ln/>
        </p:spPr>
      </p:sp>
      <p:sp>
        <p:nvSpPr>
          <p:cNvPr id="12" name="Text 9"/>
          <p:cNvSpPr/>
          <p:nvPr/>
        </p:nvSpPr>
        <p:spPr>
          <a:xfrm>
            <a:off x="762000" y="7473950"/>
            <a:ext cx="11557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Bagging</a:t>
            </a:r>
            <a:endParaRPr lang="en-US" sz="1600" dirty="0"/>
          </a:p>
        </p:txBody>
      </p:sp>
      <p:sp>
        <p:nvSpPr>
          <p:cNvPr id="13" name="Shape 10"/>
          <p:cNvSpPr/>
          <p:nvPr/>
        </p:nvSpPr>
        <p:spPr>
          <a:xfrm>
            <a:off x="2246412" y="6686550"/>
            <a:ext cx="1536700" cy="1397000"/>
          </a:xfrm>
          <a:custGeom>
            <a:avLst/>
            <a:gdLst/>
            <a:ahLst/>
            <a:cxnLst/>
            <a:rect l="l" t="t" r="r" b="b"/>
            <a:pathLst>
              <a:path w="1536700" h="1397000">
                <a:moveTo>
                  <a:pt x="101604" y="0"/>
                </a:moveTo>
                <a:lnTo>
                  <a:pt x="1435096" y="0"/>
                </a:lnTo>
                <a:cubicBezTo>
                  <a:pt x="1491210" y="0"/>
                  <a:pt x="1536700" y="45490"/>
                  <a:pt x="1536700" y="101604"/>
                </a:cubicBezTo>
                <a:lnTo>
                  <a:pt x="1536700" y="1295396"/>
                </a:lnTo>
                <a:cubicBezTo>
                  <a:pt x="1536700" y="1351510"/>
                  <a:pt x="1491210" y="1397000"/>
                  <a:pt x="14350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4" name="Shape 11"/>
          <p:cNvSpPr/>
          <p:nvPr/>
        </p:nvSpPr>
        <p:spPr>
          <a:xfrm>
            <a:off x="2551212" y="6940550"/>
            <a:ext cx="381000" cy="381000"/>
          </a:xfrm>
          <a:custGeom>
            <a:avLst/>
            <a:gdLst/>
            <a:ahLst/>
            <a:cxnLst/>
            <a:rect l="l" t="t" r="r" b="b"/>
            <a:pathLst>
              <a:path w="381000" h="381000">
                <a:moveTo>
                  <a:pt x="47625" y="47625"/>
                </a:moveTo>
                <a:cubicBezTo>
                  <a:pt x="47625" y="34454"/>
                  <a:pt x="36984" y="23812"/>
                  <a:pt x="23812" y="23812"/>
                </a:cubicBezTo>
                <a:cubicBezTo>
                  <a:pt x="10641" y="23812"/>
                  <a:pt x="0" y="34454"/>
                  <a:pt x="0" y="47625"/>
                </a:cubicBezTo>
                <a:lnTo>
                  <a:pt x="0" y="297656"/>
                </a:lnTo>
                <a:cubicBezTo>
                  <a:pt x="0" y="330547"/>
                  <a:pt x="26640" y="357188"/>
                  <a:pt x="59531" y="357188"/>
                </a:cubicBezTo>
                <a:lnTo>
                  <a:pt x="357188" y="357188"/>
                </a:lnTo>
                <a:cubicBezTo>
                  <a:pt x="370359" y="357188"/>
                  <a:pt x="381000" y="346546"/>
                  <a:pt x="381000" y="333375"/>
                </a:cubicBezTo>
                <a:cubicBezTo>
                  <a:pt x="381000" y="320204"/>
                  <a:pt x="370359" y="309563"/>
                  <a:pt x="357188" y="309563"/>
                </a:cubicBezTo>
                <a:lnTo>
                  <a:pt x="59531" y="309563"/>
                </a:lnTo>
                <a:cubicBezTo>
                  <a:pt x="52983" y="309563"/>
                  <a:pt x="47625" y="304205"/>
                  <a:pt x="47625" y="297656"/>
                </a:cubicBezTo>
                <a:lnTo>
                  <a:pt x="47625" y="47625"/>
                </a:lnTo>
                <a:close/>
                <a:moveTo>
                  <a:pt x="350193" y="112068"/>
                </a:moveTo>
                <a:cubicBezTo>
                  <a:pt x="359494" y="102766"/>
                  <a:pt x="359494" y="87660"/>
                  <a:pt x="350193" y="78358"/>
                </a:cubicBezTo>
                <a:cubicBezTo>
                  <a:pt x="340891" y="69056"/>
                  <a:pt x="325785" y="69056"/>
                  <a:pt x="316483" y="78358"/>
                </a:cubicBezTo>
                <a:lnTo>
                  <a:pt x="238125" y="156790"/>
                </a:lnTo>
                <a:lnTo>
                  <a:pt x="195411" y="114151"/>
                </a:lnTo>
                <a:cubicBezTo>
                  <a:pt x="186110" y="104849"/>
                  <a:pt x="171004" y="104849"/>
                  <a:pt x="161702" y="114151"/>
                </a:cubicBezTo>
                <a:lnTo>
                  <a:pt x="90264" y="185589"/>
                </a:lnTo>
                <a:cubicBezTo>
                  <a:pt x="80963" y="194890"/>
                  <a:pt x="80963" y="209996"/>
                  <a:pt x="90264" y="219298"/>
                </a:cubicBezTo>
                <a:cubicBezTo>
                  <a:pt x="99566" y="228600"/>
                  <a:pt x="114672" y="228600"/>
                  <a:pt x="123974" y="219298"/>
                </a:cubicBezTo>
                <a:lnTo>
                  <a:pt x="178594" y="164678"/>
                </a:lnTo>
                <a:lnTo>
                  <a:pt x="221307" y="207392"/>
                </a:lnTo>
                <a:cubicBezTo>
                  <a:pt x="230609" y="216694"/>
                  <a:pt x="245715" y="216694"/>
                  <a:pt x="255017" y="207392"/>
                </a:cubicBezTo>
                <a:lnTo>
                  <a:pt x="350267" y="112142"/>
                </a:lnTo>
                <a:close/>
              </a:path>
            </a:pathLst>
          </a:custGeom>
          <a:solidFill>
            <a:srgbClr val="4C7E9A"/>
          </a:solidFill>
          <a:ln/>
        </p:spPr>
      </p:sp>
      <p:sp>
        <p:nvSpPr>
          <p:cNvPr id="15" name="Text 12"/>
          <p:cNvSpPr/>
          <p:nvPr/>
        </p:nvSpPr>
        <p:spPr>
          <a:xfrm>
            <a:off x="2500412" y="7473950"/>
            <a:ext cx="11557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Boosting</a:t>
            </a:r>
            <a:endParaRPr lang="en-US" sz="1600" dirty="0"/>
          </a:p>
        </p:txBody>
      </p:sp>
      <p:sp>
        <p:nvSpPr>
          <p:cNvPr id="16" name="Shape 13"/>
          <p:cNvSpPr/>
          <p:nvPr/>
        </p:nvSpPr>
        <p:spPr>
          <a:xfrm>
            <a:off x="3984823" y="6686550"/>
            <a:ext cx="1536700" cy="1397000"/>
          </a:xfrm>
          <a:custGeom>
            <a:avLst/>
            <a:gdLst/>
            <a:ahLst/>
            <a:cxnLst/>
            <a:rect l="l" t="t" r="r" b="b"/>
            <a:pathLst>
              <a:path w="1536700" h="1397000">
                <a:moveTo>
                  <a:pt x="101604" y="0"/>
                </a:moveTo>
                <a:lnTo>
                  <a:pt x="1435096" y="0"/>
                </a:lnTo>
                <a:cubicBezTo>
                  <a:pt x="1491210" y="0"/>
                  <a:pt x="1536700" y="45490"/>
                  <a:pt x="1536700" y="101604"/>
                </a:cubicBezTo>
                <a:lnTo>
                  <a:pt x="1536700" y="1295396"/>
                </a:lnTo>
                <a:cubicBezTo>
                  <a:pt x="1536700" y="1351510"/>
                  <a:pt x="1491210" y="1397000"/>
                  <a:pt x="14350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7" name="Shape 14"/>
          <p:cNvSpPr/>
          <p:nvPr/>
        </p:nvSpPr>
        <p:spPr>
          <a:xfrm>
            <a:off x="4289623" y="6940550"/>
            <a:ext cx="381000" cy="381000"/>
          </a:xfrm>
          <a:custGeom>
            <a:avLst/>
            <a:gdLst/>
            <a:ahLst/>
            <a:cxnLst/>
            <a:rect l="l" t="t" r="r" b="b"/>
            <a:pathLst>
              <a:path w="381000" h="381000">
                <a:moveTo>
                  <a:pt x="173013" y="3870"/>
                </a:moveTo>
                <a:cubicBezTo>
                  <a:pt x="184100" y="-1265"/>
                  <a:pt x="196900" y="-1265"/>
                  <a:pt x="207987" y="3870"/>
                </a:cubicBezTo>
                <a:lnTo>
                  <a:pt x="370656" y="79028"/>
                </a:lnTo>
                <a:cubicBezTo>
                  <a:pt x="376982" y="81930"/>
                  <a:pt x="381000" y="88255"/>
                  <a:pt x="381000" y="95250"/>
                </a:cubicBezTo>
                <a:cubicBezTo>
                  <a:pt x="381000" y="102245"/>
                  <a:pt x="376982" y="108570"/>
                  <a:pt x="370656" y="111472"/>
                </a:cubicBezTo>
                <a:lnTo>
                  <a:pt x="207987" y="186630"/>
                </a:lnTo>
                <a:cubicBezTo>
                  <a:pt x="196900" y="191765"/>
                  <a:pt x="184100" y="191765"/>
                  <a:pt x="173013" y="186630"/>
                </a:cubicBezTo>
                <a:lnTo>
                  <a:pt x="10344" y="111472"/>
                </a:lnTo>
                <a:cubicBezTo>
                  <a:pt x="4018" y="108496"/>
                  <a:pt x="0" y="102171"/>
                  <a:pt x="0" y="95250"/>
                </a:cubicBezTo>
                <a:cubicBezTo>
                  <a:pt x="0" y="88329"/>
                  <a:pt x="4018" y="81930"/>
                  <a:pt x="10344" y="79028"/>
                </a:cubicBezTo>
                <a:lnTo>
                  <a:pt x="173013" y="3870"/>
                </a:lnTo>
                <a:close/>
                <a:moveTo>
                  <a:pt x="35793" y="162520"/>
                </a:moveTo>
                <a:lnTo>
                  <a:pt x="158055" y="219001"/>
                </a:lnTo>
                <a:cubicBezTo>
                  <a:pt x="178668" y="228526"/>
                  <a:pt x="202406" y="228526"/>
                  <a:pt x="223019" y="219001"/>
                </a:cubicBezTo>
                <a:lnTo>
                  <a:pt x="345281" y="162520"/>
                </a:lnTo>
                <a:lnTo>
                  <a:pt x="370656" y="174278"/>
                </a:lnTo>
                <a:cubicBezTo>
                  <a:pt x="376982" y="177180"/>
                  <a:pt x="381000" y="183505"/>
                  <a:pt x="381000" y="190500"/>
                </a:cubicBezTo>
                <a:cubicBezTo>
                  <a:pt x="381000" y="197495"/>
                  <a:pt x="376982" y="203820"/>
                  <a:pt x="370656" y="206722"/>
                </a:cubicBezTo>
                <a:lnTo>
                  <a:pt x="207987" y="281880"/>
                </a:lnTo>
                <a:cubicBezTo>
                  <a:pt x="196900" y="287015"/>
                  <a:pt x="184100" y="287015"/>
                  <a:pt x="173013" y="281880"/>
                </a:cubicBezTo>
                <a:lnTo>
                  <a:pt x="10344" y="206722"/>
                </a:lnTo>
                <a:cubicBezTo>
                  <a:pt x="4018" y="203746"/>
                  <a:pt x="0" y="197421"/>
                  <a:pt x="0" y="190500"/>
                </a:cubicBezTo>
                <a:cubicBezTo>
                  <a:pt x="0" y="183579"/>
                  <a:pt x="4018" y="177180"/>
                  <a:pt x="10344" y="174278"/>
                </a:cubicBezTo>
                <a:lnTo>
                  <a:pt x="35719" y="162520"/>
                </a:lnTo>
                <a:close/>
                <a:moveTo>
                  <a:pt x="10344" y="269528"/>
                </a:moveTo>
                <a:lnTo>
                  <a:pt x="35719" y="257770"/>
                </a:lnTo>
                <a:lnTo>
                  <a:pt x="157981" y="314251"/>
                </a:lnTo>
                <a:cubicBezTo>
                  <a:pt x="178594" y="323776"/>
                  <a:pt x="202332" y="323776"/>
                  <a:pt x="222945" y="314251"/>
                </a:cubicBezTo>
                <a:lnTo>
                  <a:pt x="345207" y="257770"/>
                </a:lnTo>
                <a:lnTo>
                  <a:pt x="370582" y="269528"/>
                </a:lnTo>
                <a:cubicBezTo>
                  <a:pt x="376907" y="272430"/>
                  <a:pt x="380926" y="278755"/>
                  <a:pt x="380926" y="285750"/>
                </a:cubicBezTo>
                <a:cubicBezTo>
                  <a:pt x="380926" y="292745"/>
                  <a:pt x="376907" y="299070"/>
                  <a:pt x="370582" y="301972"/>
                </a:cubicBezTo>
                <a:lnTo>
                  <a:pt x="207913" y="377130"/>
                </a:lnTo>
                <a:cubicBezTo>
                  <a:pt x="196825" y="382265"/>
                  <a:pt x="184026" y="382265"/>
                  <a:pt x="172938" y="377130"/>
                </a:cubicBezTo>
                <a:lnTo>
                  <a:pt x="10344" y="301972"/>
                </a:lnTo>
                <a:cubicBezTo>
                  <a:pt x="4018" y="298996"/>
                  <a:pt x="0" y="292671"/>
                  <a:pt x="0" y="285750"/>
                </a:cubicBezTo>
                <a:cubicBezTo>
                  <a:pt x="0" y="278829"/>
                  <a:pt x="4018" y="272430"/>
                  <a:pt x="10344" y="269528"/>
                </a:cubicBezTo>
                <a:close/>
              </a:path>
            </a:pathLst>
          </a:custGeom>
          <a:solidFill>
            <a:srgbClr val="4C7E9A"/>
          </a:solidFill>
          <a:ln/>
        </p:spPr>
      </p:sp>
      <p:sp>
        <p:nvSpPr>
          <p:cNvPr id="18" name="Text 15"/>
          <p:cNvSpPr/>
          <p:nvPr/>
        </p:nvSpPr>
        <p:spPr>
          <a:xfrm>
            <a:off x="4238823" y="7473950"/>
            <a:ext cx="11557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Stacking</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ENSEMBLE METHODS</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Bagging：自助聚合</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24000"/>
            <a:ext cx="9144000" cy="2868083"/>
          </a:xfrm>
          <a:custGeom>
            <a:avLst/>
            <a:gdLst/>
            <a:ahLst/>
            <a:cxnLst/>
            <a:rect l="l" t="t" r="r" b="b"/>
            <a:pathLst>
              <a:path w="9144000" h="2868083">
                <a:moveTo>
                  <a:pt x="42333" y="0"/>
                </a:moveTo>
                <a:lnTo>
                  <a:pt x="9059334" y="0"/>
                </a:lnTo>
                <a:cubicBezTo>
                  <a:pt x="9106094" y="0"/>
                  <a:pt x="9144000" y="37906"/>
                  <a:pt x="9144000" y="84666"/>
                </a:cubicBezTo>
                <a:lnTo>
                  <a:pt x="9144000" y="2783418"/>
                </a:lnTo>
                <a:cubicBezTo>
                  <a:pt x="9144000" y="2830177"/>
                  <a:pt x="9106094" y="2868083"/>
                  <a:pt x="9059334" y="2868083"/>
                </a:cubicBezTo>
                <a:lnTo>
                  <a:pt x="42333" y="2868083"/>
                </a:lnTo>
                <a:cubicBezTo>
                  <a:pt x="18953" y="2868083"/>
                  <a:pt x="0" y="2849130"/>
                  <a:pt x="0" y="2825750"/>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24000"/>
            <a:ext cx="42333" cy="2868083"/>
          </a:xfrm>
          <a:custGeom>
            <a:avLst/>
            <a:gdLst/>
            <a:ahLst/>
            <a:cxnLst/>
            <a:rect l="l" t="t" r="r" b="b"/>
            <a:pathLst>
              <a:path w="42333" h="2868083">
                <a:moveTo>
                  <a:pt x="42333" y="0"/>
                </a:moveTo>
                <a:lnTo>
                  <a:pt x="42333" y="0"/>
                </a:lnTo>
                <a:lnTo>
                  <a:pt x="42333" y="2868083"/>
                </a:lnTo>
                <a:lnTo>
                  <a:pt x="42333" y="2868083"/>
                </a:lnTo>
                <a:cubicBezTo>
                  <a:pt x="18953" y="2868083"/>
                  <a:pt x="0" y="2849130"/>
                  <a:pt x="0" y="2825750"/>
                </a:cubicBezTo>
                <a:lnTo>
                  <a:pt x="0" y="42333"/>
                </a:lnTo>
                <a:cubicBezTo>
                  <a:pt x="0" y="18953"/>
                  <a:pt x="18953" y="0"/>
                  <a:pt x="42333" y="0"/>
                </a:cubicBezTo>
                <a:close/>
              </a:path>
            </a:pathLst>
          </a:custGeom>
          <a:solidFill>
            <a:srgbClr val="4C7E9A"/>
          </a:solidFill>
          <a:ln/>
        </p:spPr>
      </p:sp>
      <p:sp>
        <p:nvSpPr>
          <p:cNvPr id="7" name="Text 5"/>
          <p:cNvSpPr/>
          <p:nvPr/>
        </p:nvSpPr>
        <p:spPr>
          <a:xfrm>
            <a:off x="635000" y="1693333"/>
            <a:ext cx="8911167"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核心思想</a:t>
            </a:r>
            <a:endParaRPr lang="en-US" sz="1600" dirty="0"/>
          </a:p>
        </p:txBody>
      </p:sp>
      <p:sp>
        <p:nvSpPr>
          <p:cNvPr id="8" name="Text 6"/>
          <p:cNvSpPr/>
          <p:nvPr/>
        </p:nvSpPr>
        <p:spPr>
          <a:xfrm>
            <a:off x="635000" y="2159000"/>
            <a:ext cx="8879417" cy="624417"/>
          </a:xfrm>
          <a:prstGeom prst="rect">
            <a:avLst/>
          </a:prstGeom>
          <a:noFill/>
          <a:ln/>
        </p:spPr>
        <p:txBody>
          <a:bodyPr wrap="square" lIns="0" tIns="0" rIns="0" bIns="0" rtlCol="0" anchor="ctr"/>
          <a:lstStyle/>
          <a:p>
            <a:pPr>
              <a:lnSpc>
                <a:spcPct val="140000"/>
              </a:lnSpc>
            </a:pPr>
            <a:r>
              <a:rPr lang="en-US" sz="1500" b="1" dirty="0">
                <a:solidFill>
                  <a:srgbClr val="4C7E9A"/>
                </a:solidFill>
                <a:latin typeface="MiSans" pitchFamily="34" charset="0"/>
                <a:ea typeface="MiSans" pitchFamily="34" charset="-122"/>
                <a:cs typeface="MiSans" pitchFamily="34" charset="-120"/>
              </a:rPr>
              <a:t>Bagging (Bootstrap Aggregating)</a:t>
            </a:r>
            <a:pPr>
              <a:lnSpc>
                <a:spcPct val="140000"/>
              </a:lnSpc>
            </a:pPr>
            <a:r>
              <a:rPr lang="en-US" sz="1500" dirty="0">
                <a:solidFill>
                  <a:srgbClr val="D1D5DB"/>
                </a:solidFill>
                <a:latin typeface="MiSans" pitchFamily="34" charset="0"/>
                <a:ea typeface="MiSans" pitchFamily="34" charset="-122"/>
                <a:cs typeface="MiSans" pitchFamily="34" charset="-120"/>
              </a:rPr>
              <a:t> 是一种基于自助采样的集成方法。通过构建多个差异化的训练子集来提升模型稳定性，特别适合高方差、低偏差的模型。</a:t>
            </a:r>
            <a:endParaRPr lang="en-US" sz="1600" dirty="0"/>
          </a:p>
        </p:txBody>
      </p:sp>
      <p:sp>
        <p:nvSpPr>
          <p:cNvPr id="9" name="Shape 7"/>
          <p:cNvSpPr/>
          <p:nvPr/>
        </p:nvSpPr>
        <p:spPr>
          <a:xfrm>
            <a:off x="635000" y="2905125"/>
            <a:ext cx="8784167" cy="1312333"/>
          </a:xfrm>
          <a:custGeom>
            <a:avLst/>
            <a:gdLst/>
            <a:ahLst/>
            <a:cxnLst/>
            <a:rect l="l" t="t" r="r" b="b"/>
            <a:pathLst>
              <a:path w="8784167" h="1312333">
                <a:moveTo>
                  <a:pt x="84672" y="0"/>
                </a:moveTo>
                <a:lnTo>
                  <a:pt x="8699495" y="0"/>
                </a:lnTo>
                <a:cubicBezTo>
                  <a:pt x="8746258" y="0"/>
                  <a:pt x="8784167" y="37909"/>
                  <a:pt x="8784167" y="84672"/>
                </a:cubicBezTo>
                <a:lnTo>
                  <a:pt x="8784167" y="1227662"/>
                </a:lnTo>
                <a:cubicBezTo>
                  <a:pt x="8784167" y="1274425"/>
                  <a:pt x="8746258" y="1312333"/>
                  <a:pt x="8699495" y="1312333"/>
                </a:cubicBezTo>
                <a:lnTo>
                  <a:pt x="84672" y="1312333"/>
                </a:lnTo>
                <a:cubicBezTo>
                  <a:pt x="37909" y="1312333"/>
                  <a:pt x="0" y="1274425"/>
                  <a:pt x="0" y="1227662"/>
                </a:cubicBezTo>
                <a:lnTo>
                  <a:pt x="0" y="84672"/>
                </a:lnTo>
                <a:cubicBezTo>
                  <a:pt x="0" y="37909"/>
                  <a:pt x="37909" y="0"/>
                  <a:pt x="84672" y="0"/>
                </a:cubicBezTo>
                <a:close/>
              </a:path>
            </a:pathLst>
          </a:custGeom>
          <a:solidFill>
            <a:srgbClr val="181A1F">
              <a:alpha val="50196"/>
            </a:srgbClr>
          </a:solidFill>
          <a:ln/>
        </p:spPr>
      </p:sp>
      <p:sp>
        <p:nvSpPr>
          <p:cNvPr id="10" name="Text 8"/>
          <p:cNvSpPr/>
          <p:nvPr/>
        </p:nvSpPr>
        <p:spPr>
          <a:xfrm>
            <a:off x="762000" y="3048000"/>
            <a:ext cx="931333" cy="22225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关键机制：</a:t>
            </a:r>
            <a:endParaRPr lang="en-US" sz="1600" dirty="0"/>
          </a:p>
        </p:txBody>
      </p:sp>
      <p:sp>
        <p:nvSpPr>
          <p:cNvPr id="11" name="Text 9"/>
          <p:cNvSpPr/>
          <p:nvPr/>
        </p:nvSpPr>
        <p:spPr>
          <a:xfrm>
            <a:off x="762000" y="3370792"/>
            <a:ext cx="86042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a:t>
            </a:r>
            <a:pPr>
              <a:lnSpc>
                <a:spcPct val="120000"/>
              </a:lnSpc>
            </a:pPr>
            <a:r>
              <a:rPr lang="en-US" sz="1167" b="1" dirty="0">
                <a:solidFill>
                  <a:srgbClr val="D1D5DB"/>
                </a:solidFill>
                <a:latin typeface="MiSans" pitchFamily="34" charset="0"/>
                <a:ea typeface="MiSans" pitchFamily="34" charset="-122"/>
                <a:cs typeface="MiSans" pitchFamily="34" charset="-120"/>
              </a:rPr>
              <a:t>Bootstrap采样：</a:t>
            </a:r>
            <a:pPr>
              <a:lnSpc>
                <a:spcPct val="120000"/>
              </a:lnSpc>
            </a:pPr>
            <a:r>
              <a:rPr lang="en-US" sz="1167" dirty="0">
                <a:solidFill>
                  <a:srgbClr val="7E9AA8"/>
                </a:solidFill>
                <a:latin typeface="MiSans" pitchFamily="34" charset="0"/>
                <a:ea typeface="MiSans" pitchFamily="34" charset="-122"/>
                <a:cs typeface="MiSans" pitchFamily="34" charset="-120"/>
              </a:rPr>
              <a:t>有放回地随机抽取多个子集</a:t>
            </a:r>
            <a:endParaRPr lang="en-US" sz="1600" dirty="0"/>
          </a:p>
        </p:txBody>
      </p:sp>
      <p:sp>
        <p:nvSpPr>
          <p:cNvPr id="12" name="Text 10"/>
          <p:cNvSpPr/>
          <p:nvPr/>
        </p:nvSpPr>
        <p:spPr>
          <a:xfrm>
            <a:off x="762000" y="3624792"/>
            <a:ext cx="86042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a:t>
            </a:r>
            <a:pPr>
              <a:lnSpc>
                <a:spcPct val="120000"/>
              </a:lnSpc>
            </a:pPr>
            <a:r>
              <a:rPr lang="en-US" sz="1167" b="1" dirty="0">
                <a:solidFill>
                  <a:srgbClr val="D1D5DB"/>
                </a:solidFill>
                <a:latin typeface="MiSans" pitchFamily="34" charset="0"/>
                <a:ea typeface="MiSans" pitchFamily="34" charset="-122"/>
                <a:cs typeface="MiSans" pitchFamily="34" charset="-120"/>
              </a:rPr>
              <a:t>并行训练：</a:t>
            </a:r>
            <a:pPr>
              <a:lnSpc>
                <a:spcPct val="120000"/>
              </a:lnSpc>
            </a:pPr>
            <a:r>
              <a:rPr lang="en-US" sz="1167" dirty="0">
                <a:solidFill>
                  <a:srgbClr val="7E9AA8"/>
                </a:solidFill>
                <a:latin typeface="MiSans" pitchFamily="34" charset="0"/>
                <a:ea typeface="MiSans" pitchFamily="34" charset="-122"/>
                <a:cs typeface="MiSans" pitchFamily="34" charset="-120"/>
              </a:rPr>
              <a:t>每个子集独立训练一个基学习器</a:t>
            </a:r>
            <a:endParaRPr lang="en-US" sz="1600" dirty="0"/>
          </a:p>
        </p:txBody>
      </p:sp>
      <p:sp>
        <p:nvSpPr>
          <p:cNvPr id="13" name="Text 11"/>
          <p:cNvSpPr/>
          <p:nvPr/>
        </p:nvSpPr>
        <p:spPr>
          <a:xfrm>
            <a:off x="762000" y="3878792"/>
            <a:ext cx="86042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a:t>
            </a:r>
            <a:pPr>
              <a:lnSpc>
                <a:spcPct val="120000"/>
              </a:lnSpc>
            </a:pPr>
            <a:r>
              <a:rPr lang="en-US" sz="1167" b="1" dirty="0">
                <a:solidFill>
                  <a:srgbClr val="D1D5DB"/>
                </a:solidFill>
                <a:latin typeface="MiSans" pitchFamily="34" charset="0"/>
                <a:ea typeface="MiSans" pitchFamily="34" charset="-122"/>
                <a:cs typeface="MiSans" pitchFamily="34" charset="-120"/>
              </a:rPr>
              <a:t>结果聚合：</a:t>
            </a:r>
            <a:pPr>
              <a:lnSpc>
                <a:spcPct val="120000"/>
              </a:lnSpc>
            </a:pPr>
            <a:r>
              <a:rPr lang="en-US" sz="1167" dirty="0">
                <a:solidFill>
                  <a:srgbClr val="7E9AA8"/>
                </a:solidFill>
                <a:latin typeface="MiSans" pitchFamily="34" charset="0"/>
                <a:ea typeface="MiSans" pitchFamily="34" charset="-122"/>
                <a:cs typeface="MiSans" pitchFamily="34" charset="-120"/>
              </a:rPr>
              <a:t>通过投票或平均整合预测结果</a:t>
            </a:r>
            <a:endParaRPr lang="en-US" sz="1600" dirty="0"/>
          </a:p>
        </p:txBody>
      </p:sp>
      <p:sp>
        <p:nvSpPr>
          <p:cNvPr id="14" name="Shape 12"/>
          <p:cNvSpPr/>
          <p:nvPr/>
        </p:nvSpPr>
        <p:spPr>
          <a:xfrm>
            <a:off x="444500" y="4556125"/>
            <a:ext cx="9144000" cy="2624667"/>
          </a:xfrm>
          <a:custGeom>
            <a:avLst/>
            <a:gdLst/>
            <a:ahLst/>
            <a:cxnLst/>
            <a:rect l="l" t="t" r="r" b="b"/>
            <a:pathLst>
              <a:path w="9144000" h="2624667">
                <a:moveTo>
                  <a:pt x="42333" y="0"/>
                </a:moveTo>
                <a:lnTo>
                  <a:pt x="9059328" y="0"/>
                </a:lnTo>
                <a:cubicBezTo>
                  <a:pt x="9106091" y="0"/>
                  <a:pt x="9144000" y="37909"/>
                  <a:pt x="9144000" y="84672"/>
                </a:cubicBezTo>
                <a:lnTo>
                  <a:pt x="9144000" y="2539995"/>
                </a:lnTo>
                <a:cubicBezTo>
                  <a:pt x="9144000" y="2586758"/>
                  <a:pt x="9106091" y="2624667"/>
                  <a:pt x="9059328" y="2624667"/>
                </a:cubicBezTo>
                <a:lnTo>
                  <a:pt x="42333" y="2624667"/>
                </a:lnTo>
                <a:cubicBezTo>
                  <a:pt x="18953" y="2624667"/>
                  <a:pt x="0" y="2605713"/>
                  <a:pt x="0" y="2582333"/>
                </a:cubicBezTo>
                <a:lnTo>
                  <a:pt x="0" y="42333"/>
                </a:lnTo>
                <a:cubicBezTo>
                  <a:pt x="0" y="18953"/>
                  <a:pt x="18953" y="0"/>
                  <a:pt x="42333" y="0"/>
                </a:cubicBezTo>
                <a:close/>
              </a:path>
            </a:pathLst>
          </a:custGeom>
          <a:solidFill>
            <a:srgbClr val="3A5E78">
              <a:alpha val="20000"/>
            </a:srgbClr>
          </a:solidFill>
          <a:ln/>
        </p:spPr>
      </p:sp>
      <p:sp>
        <p:nvSpPr>
          <p:cNvPr id="15" name="Shape 13"/>
          <p:cNvSpPr/>
          <p:nvPr/>
        </p:nvSpPr>
        <p:spPr>
          <a:xfrm>
            <a:off x="444500" y="4556125"/>
            <a:ext cx="42333" cy="2624667"/>
          </a:xfrm>
          <a:custGeom>
            <a:avLst/>
            <a:gdLst/>
            <a:ahLst/>
            <a:cxnLst/>
            <a:rect l="l" t="t" r="r" b="b"/>
            <a:pathLst>
              <a:path w="42333" h="2624667">
                <a:moveTo>
                  <a:pt x="42333" y="0"/>
                </a:moveTo>
                <a:lnTo>
                  <a:pt x="42333" y="0"/>
                </a:lnTo>
                <a:lnTo>
                  <a:pt x="42333" y="2624667"/>
                </a:lnTo>
                <a:lnTo>
                  <a:pt x="42333" y="2624667"/>
                </a:lnTo>
                <a:cubicBezTo>
                  <a:pt x="18953" y="2624667"/>
                  <a:pt x="0" y="2605713"/>
                  <a:pt x="0" y="2582333"/>
                </a:cubicBezTo>
                <a:lnTo>
                  <a:pt x="0" y="42333"/>
                </a:lnTo>
                <a:cubicBezTo>
                  <a:pt x="0" y="18953"/>
                  <a:pt x="18953" y="0"/>
                  <a:pt x="42333" y="0"/>
                </a:cubicBezTo>
                <a:close/>
              </a:path>
            </a:pathLst>
          </a:custGeom>
          <a:solidFill>
            <a:srgbClr val="7E9AA8"/>
          </a:solidFill>
          <a:ln/>
        </p:spPr>
      </p:sp>
      <p:sp>
        <p:nvSpPr>
          <p:cNvPr id="16" name="Text 14"/>
          <p:cNvSpPr/>
          <p:nvPr/>
        </p:nvSpPr>
        <p:spPr>
          <a:xfrm>
            <a:off x="635000" y="4725458"/>
            <a:ext cx="8911167"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核心优势</a:t>
            </a:r>
            <a:endParaRPr lang="en-US" sz="1600" dirty="0"/>
          </a:p>
        </p:txBody>
      </p:sp>
      <p:sp>
        <p:nvSpPr>
          <p:cNvPr id="17" name="Shape 15"/>
          <p:cNvSpPr/>
          <p:nvPr/>
        </p:nvSpPr>
        <p:spPr>
          <a:xfrm>
            <a:off x="687917" y="5233458"/>
            <a:ext cx="158750" cy="211667"/>
          </a:xfrm>
          <a:custGeom>
            <a:avLst/>
            <a:gdLst/>
            <a:ahLst/>
            <a:cxnLst/>
            <a:rect l="l" t="t" r="r" b="b"/>
            <a:pathLst>
              <a:path w="158750" h="211667">
                <a:moveTo>
                  <a:pt x="70032" y="207781"/>
                </a:moveTo>
                <a:cubicBezTo>
                  <a:pt x="75200" y="212948"/>
                  <a:pt x="83592" y="212948"/>
                  <a:pt x="88759" y="207781"/>
                </a:cubicBezTo>
                <a:lnTo>
                  <a:pt x="154905" y="141635"/>
                </a:lnTo>
                <a:cubicBezTo>
                  <a:pt x="160073" y="136467"/>
                  <a:pt x="160073" y="128075"/>
                  <a:pt x="154905" y="122907"/>
                </a:cubicBezTo>
                <a:cubicBezTo>
                  <a:pt x="149738" y="117740"/>
                  <a:pt x="141345" y="117740"/>
                  <a:pt x="136178" y="122907"/>
                </a:cubicBezTo>
                <a:lnTo>
                  <a:pt x="92604" y="166481"/>
                </a:lnTo>
                <a:lnTo>
                  <a:pt x="92604" y="13229"/>
                </a:lnTo>
                <a:cubicBezTo>
                  <a:pt x="92604" y="5912"/>
                  <a:pt x="86692" y="0"/>
                  <a:pt x="79375" y="0"/>
                </a:cubicBezTo>
                <a:cubicBezTo>
                  <a:pt x="72058" y="0"/>
                  <a:pt x="66146" y="5912"/>
                  <a:pt x="66146" y="13229"/>
                </a:cubicBezTo>
                <a:lnTo>
                  <a:pt x="66146" y="166481"/>
                </a:lnTo>
                <a:lnTo>
                  <a:pt x="22572" y="122907"/>
                </a:lnTo>
                <a:cubicBezTo>
                  <a:pt x="17405" y="117740"/>
                  <a:pt x="9012" y="117740"/>
                  <a:pt x="3845" y="122907"/>
                </a:cubicBezTo>
                <a:cubicBezTo>
                  <a:pt x="-1323" y="128075"/>
                  <a:pt x="-1323" y="136467"/>
                  <a:pt x="3845" y="141635"/>
                </a:cubicBezTo>
                <a:lnTo>
                  <a:pt x="69991" y="207781"/>
                </a:lnTo>
                <a:close/>
              </a:path>
            </a:pathLst>
          </a:custGeom>
          <a:solidFill>
            <a:srgbClr val="4C7E9A"/>
          </a:solidFill>
          <a:ln/>
        </p:spPr>
      </p:sp>
      <p:sp>
        <p:nvSpPr>
          <p:cNvPr id="18" name="Text 16"/>
          <p:cNvSpPr/>
          <p:nvPr/>
        </p:nvSpPr>
        <p:spPr>
          <a:xfrm>
            <a:off x="1026583" y="5191125"/>
            <a:ext cx="3481917"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降低方差</a:t>
            </a:r>
            <a:endParaRPr lang="en-US" sz="1600" dirty="0"/>
          </a:p>
        </p:txBody>
      </p:sp>
      <p:sp>
        <p:nvSpPr>
          <p:cNvPr id="19" name="Text 17"/>
          <p:cNvSpPr/>
          <p:nvPr/>
        </p:nvSpPr>
        <p:spPr>
          <a:xfrm>
            <a:off x="1026583" y="5487458"/>
            <a:ext cx="3471333"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通过模型平均减少随机误差，提高预测稳定性</a:t>
            </a:r>
            <a:endParaRPr lang="en-US" sz="1600" dirty="0"/>
          </a:p>
        </p:txBody>
      </p:sp>
      <p:sp>
        <p:nvSpPr>
          <p:cNvPr id="20" name="Shape 18"/>
          <p:cNvSpPr/>
          <p:nvPr/>
        </p:nvSpPr>
        <p:spPr>
          <a:xfrm>
            <a:off x="661458" y="5868458"/>
            <a:ext cx="211667" cy="211667"/>
          </a:xfrm>
          <a:custGeom>
            <a:avLst/>
            <a:gdLst/>
            <a:ahLst/>
            <a:cxnLst/>
            <a:rect l="l" t="t" r="r" b="b"/>
            <a:pathLst>
              <a:path w="211667" h="211667">
                <a:moveTo>
                  <a:pt x="105833" y="0"/>
                </a:moveTo>
                <a:cubicBezTo>
                  <a:pt x="107735" y="0"/>
                  <a:pt x="109637" y="413"/>
                  <a:pt x="111373" y="1199"/>
                </a:cubicBezTo>
                <a:lnTo>
                  <a:pt x="189260" y="34230"/>
                </a:lnTo>
                <a:cubicBezTo>
                  <a:pt x="198355" y="38075"/>
                  <a:pt x="205135" y="47046"/>
                  <a:pt x="205093" y="57878"/>
                </a:cubicBezTo>
                <a:cubicBezTo>
                  <a:pt x="204887" y="98888"/>
                  <a:pt x="188020" y="173922"/>
                  <a:pt x="116789" y="208029"/>
                </a:cubicBezTo>
                <a:cubicBezTo>
                  <a:pt x="109885" y="211336"/>
                  <a:pt x="101865" y="211336"/>
                  <a:pt x="94961" y="208029"/>
                </a:cubicBezTo>
                <a:cubicBezTo>
                  <a:pt x="23688" y="173922"/>
                  <a:pt x="6863" y="98888"/>
                  <a:pt x="6656" y="57878"/>
                </a:cubicBezTo>
                <a:cubicBezTo>
                  <a:pt x="6615" y="47046"/>
                  <a:pt x="13395" y="38075"/>
                  <a:pt x="22490" y="34230"/>
                </a:cubicBezTo>
                <a:lnTo>
                  <a:pt x="100335" y="1199"/>
                </a:lnTo>
                <a:cubicBezTo>
                  <a:pt x="102071" y="413"/>
                  <a:pt x="103932" y="0"/>
                  <a:pt x="105833" y="0"/>
                </a:cubicBezTo>
                <a:close/>
                <a:moveTo>
                  <a:pt x="105833" y="27616"/>
                </a:moveTo>
                <a:lnTo>
                  <a:pt x="105833" y="183927"/>
                </a:lnTo>
                <a:cubicBezTo>
                  <a:pt x="162884" y="156311"/>
                  <a:pt x="178222" y="95126"/>
                  <a:pt x="178594" y="58498"/>
                </a:cubicBezTo>
                <a:lnTo>
                  <a:pt x="105833" y="27657"/>
                </a:lnTo>
                <a:lnTo>
                  <a:pt x="105833" y="27657"/>
                </a:lnTo>
                <a:close/>
              </a:path>
            </a:pathLst>
          </a:custGeom>
          <a:solidFill>
            <a:srgbClr val="4C7E9A"/>
          </a:solidFill>
          <a:ln/>
        </p:spPr>
      </p:sp>
      <p:sp>
        <p:nvSpPr>
          <p:cNvPr id="21" name="Text 19"/>
          <p:cNvSpPr/>
          <p:nvPr/>
        </p:nvSpPr>
        <p:spPr>
          <a:xfrm>
            <a:off x="1026583" y="5826125"/>
            <a:ext cx="22965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抗过拟合</a:t>
            </a:r>
            <a:endParaRPr lang="en-US" sz="1600" dirty="0"/>
          </a:p>
        </p:txBody>
      </p:sp>
      <p:sp>
        <p:nvSpPr>
          <p:cNvPr id="22" name="Text 20"/>
          <p:cNvSpPr/>
          <p:nvPr/>
        </p:nvSpPr>
        <p:spPr>
          <a:xfrm>
            <a:off x="1026583" y="6122458"/>
            <a:ext cx="2286000"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对噪声数据具有较好的鲁棒性</a:t>
            </a:r>
            <a:endParaRPr lang="en-US" sz="1600" dirty="0"/>
          </a:p>
        </p:txBody>
      </p:sp>
      <p:sp>
        <p:nvSpPr>
          <p:cNvPr id="23" name="Shape 21"/>
          <p:cNvSpPr/>
          <p:nvPr/>
        </p:nvSpPr>
        <p:spPr>
          <a:xfrm>
            <a:off x="701146" y="6503458"/>
            <a:ext cx="132292" cy="211667"/>
          </a:xfrm>
          <a:custGeom>
            <a:avLst/>
            <a:gdLst/>
            <a:ahLst/>
            <a:cxnLst/>
            <a:rect l="l" t="t" r="r" b="b"/>
            <a:pathLst>
              <a:path w="132292" h="211667">
                <a:moveTo>
                  <a:pt x="66146" y="0"/>
                </a:moveTo>
                <a:cubicBezTo>
                  <a:pt x="44235" y="0"/>
                  <a:pt x="26458" y="17777"/>
                  <a:pt x="26458" y="39688"/>
                </a:cubicBezTo>
                <a:lnTo>
                  <a:pt x="26458" y="107776"/>
                </a:lnTo>
                <a:cubicBezTo>
                  <a:pt x="14263" y="118649"/>
                  <a:pt x="6615" y="134524"/>
                  <a:pt x="6615" y="152135"/>
                </a:cubicBezTo>
                <a:cubicBezTo>
                  <a:pt x="6615" y="185002"/>
                  <a:pt x="33280" y="211667"/>
                  <a:pt x="66146" y="211667"/>
                </a:cubicBezTo>
                <a:cubicBezTo>
                  <a:pt x="99012" y="211667"/>
                  <a:pt x="125677" y="185002"/>
                  <a:pt x="125677" y="152135"/>
                </a:cubicBezTo>
                <a:cubicBezTo>
                  <a:pt x="125677" y="134524"/>
                  <a:pt x="118029" y="118649"/>
                  <a:pt x="105833" y="107776"/>
                </a:cubicBezTo>
                <a:lnTo>
                  <a:pt x="105833" y="39688"/>
                </a:lnTo>
                <a:cubicBezTo>
                  <a:pt x="105833" y="17777"/>
                  <a:pt x="88057" y="0"/>
                  <a:pt x="66146" y="0"/>
                </a:cubicBezTo>
                <a:close/>
                <a:moveTo>
                  <a:pt x="92604" y="152135"/>
                </a:moveTo>
                <a:cubicBezTo>
                  <a:pt x="92604" y="166729"/>
                  <a:pt x="80739" y="178594"/>
                  <a:pt x="66146" y="178594"/>
                </a:cubicBezTo>
                <a:cubicBezTo>
                  <a:pt x="51552" y="178594"/>
                  <a:pt x="39688" y="166729"/>
                  <a:pt x="39688" y="152135"/>
                </a:cubicBezTo>
                <a:cubicBezTo>
                  <a:pt x="39688" y="141015"/>
                  <a:pt x="46509" y="131506"/>
                  <a:pt x="56224" y="127620"/>
                </a:cubicBezTo>
                <a:lnTo>
                  <a:pt x="56224" y="89297"/>
                </a:lnTo>
                <a:cubicBezTo>
                  <a:pt x="56224" y="83799"/>
                  <a:pt x="60647" y="79375"/>
                  <a:pt x="66146" y="79375"/>
                </a:cubicBezTo>
                <a:cubicBezTo>
                  <a:pt x="71644" y="79375"/>
                  <a:pt x="76068" y="83799"/>
                  <a:pt x="76068" y="89297"/>
                </a:cubicBezTo>
                <a:lnTo>
                  <a:pt x="76068" y="127620"/>
                </a:lnTo>
                <a:cubicBezTo>
                  <a:pt x="85783" y="131548"/>
                  <a:pt x="92604" y="141056"/>
                  <a:pt x="92604" y="152135"/>
                </a:cubicBezTo>
                <a:close/>
              </a:path>
            </a:pathLst>
          </a:custGeom>
          <a:solidFill>
            <a:srgbClr val="4C7E9A"/>
          </a:solidFill>
          <a:ln/>
        </p:spPr>
      </p:sp>
      <p:sp>
        <p:nvSpPr>
          <p:cNvPr id="24" name="Text 22"/>
          <p:cNvSpPr/>
          <p:nvPr/>
        </p:nvSpPr>
        <p:spPr>
          <a:xfrm>
            <a:off x="1026583" y="6461125"/>
            <a:ext cx="3143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OOB评估</a:t>
            </a:r>
            <a:endParaRPr lang="en-US" sz="1600" dirty="0"/>
          </a:p>
        </p:txBody>
      </p:sp>
      <p:sp>
        <p:nvSpPr>
          <p:cNvPr id="25" name="Text 23"/>
          <p:cNvSpPr/>
          <p:nvPr/>
        </p:nvSpPr>
        <p:spPr>
          <a:xfrm>
            <a:off x="1026583" y="6757458"/>
            <a:ext cx="3132667"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无需额外验证集，利用袋外样本评估性能</a:t>
            </a:r>
            <a:endParaRPr lang="en-US" sz="1600" dirty="0"/>
          </a:p>
        </p:txBody>
      </p:sp>
      <p:sp>
        <p:nvSpPr>
          <p:cNvPr id="26" name="Shape 24"/>
          <p:cNvSpPr/>
          <p:nvPr/>
        </p:nvSpPr>
        <p:spPr>
          <a:xfrm>
            <a:off x="428625" y="7355417"/>
            <a:ext cx="9154583" cy="1449917"/>
          </a:xfrm>
          <a:custGeom>
            <a:avLst/>
            <a:gdLst/>
            <a:ahLst/>
            <a:cxnLst/>
            <a:rect l="l" t="t" r="r" b="b"/>
            <a:pathLst>
              <a:path w="9154583" h="1449917">
                <a:moveTo>
                  <a:pt x="84661" y="0"/>
                </a:moveTo>
                <a:lnTo>
                  <a:pt x="9069923" y="0"/>
                </a:lnTo>
                <a:cubicBezTo>
                  <a:pt x="9116679" y="0"/>
                  <a:pt x="9154583" y="37904"/>
                  <a:pt x="9154583" y="84661"/>
                </a:cubicBezTo>
                <a:lnTo>
                  <a:pt x="9154583" y="1365256"/>
                </a:lnTo>
                <a:cubicBezTo>
                  <a:pt x="9154583" y="1412013"/>
                  <a:pt x="9116679" y="1449917"/>
                  <a:pt x="9069923" y="1449917"/>
                </a:cubicBezTo>
                <a:lnTo>
                  <a:pt x="84661" y="1449917"/>
                </a:lnTo>
                <a:cubicBezTo>
                  <a:pt x="37904" y="1449917"/>
                  <a:pt x="0" y="1412013"/>
                  <a:pt x="0" y="1365256"/>
                </a:cubicBezTo>
                <a:lnTo>
                  <a:pt x="0" y="84661"/>
                </a:lnTo>
                <a:cubicBezTo>
                  <a:pt x="0" y="37935"/>
                  <a:pt x="37935" y="0"/>
                  <a:pt x="84661" y="0"/>
                </a:cubicBezTo>
                <a:close/>
              </a:path>
            </a:pathLst>
          </a:custGeom>
          <a:solidFill>
            <a:srgbClr val="3A5E78">
              <a:alpha val="20000"/>
            </a:srgbClr>
          </a:solidFill>
          <a:ln w="12700">
            <a:solidFill>
              <a:srgbClr val="4C7E9A">
                <a:alpha val="50196"/>
              </a:srgbClr>
            </a:solidFill>
            <a:prstDash val="solid"/>
          </a:ln>
        </p:spPr>
      </p:sp>
      <p:sp>
        <p:nvSpPr>
          <p:cNvPr id="27" name="Text 25"/>
          <p:cNvSpPr/>
          <p:nvPr/>
        </p:nvSpPr>
        <p:spPr>
          <a:xfrm>
            <a:off x="603250" y="7530042"/>
            <a:ext cx="89323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典型算法</a:t>
            </a:r>
            <a:endParaRPr lang="en-US" sz="1600" dirty="0"/>
          </a:p>
        </p:txBody>
      </p:sp>
      <p:sp>
        <p:nvSpPr>
          <p:cNvPr id="28" name="Shape 26"/>
          <p:cNvSpPr/>
          <p:nvPr/>
        </p:nvSpPr>
        <p:spPr>
          <a:xfrm>
            <a:off x="665427" y="7953375"/>
            <a:ext cx="277813" cy="317500"/>
          </a:xfrm>
          <a:custGeom>
            <a:avLst/>
            <a:gdLst/>
            <a:ahLst/>
            <a:cxnLst/>
            <a:rect l="l" t="t" r="r" b="b"/>
            <a:pathLst>
              <a:path w="277813" h="317500">
                <a:moveTo>
                  <a:pt x="138906" y="-19844"/>
                </a:moveTo>
                <a:cubicBezTo>
                  <a:pt x="143247" y="-19844"/>
                  <a:pt x="147402" y="-17921"/>
                  <a:pt x="150254" y="-14573"/>
                </a:cubicBezTo>
                <a:lnTo>
                  <a:pt x="234590" y="84646"/>
                </a:lnTo>
                <a:cubicBezTo>
                  <a:pt x="238373" y="89049"/>
                  <a:pt x="239179" y="95250"/>
                  <a:pt x="236761" y="100521"/>
                </a:cubicBezTo>
                <a:cubicBezTo>
                  <a:pt x="234342" y="105792"/>
                  <a:pt x="229071" y="109141"/>
                  <a:pt x="223242" y="109141"/>
                </a:cubicBezTo>
                <a:lnTo>
                  <a:pt x="207801" y="109141"/>
                </a:lnTo>
                <a:lnTo>
                  <a:pt x="254434" y="164021"/>
                </a:lnTo>
                <a:cubicBezTo>
                  <a:pt x="258217" y="168424"/>
                  <a:pt x="259023" y="174625"/>
                  <a:pt x="256604" y="179896"/>
                </a:cubicBezTo>
                <a:cubicBezTo>
                  <a:pt x="254186" y="185167"/>
                  <a:pt x="248915" y="188516"/>
                  <a:pt x="243086" y="188516"/>
                </a:cubicBezTo>
                <a:lnTo>
                  <a:pt x="219211" y="188516"/>
                </a:lnTo>
                <a:lnTo>
                  <a:pt x="274278" y="253318"/>
                </a:lnTo>
                <a:cubicBezTo>
                  <a:pt x="278061" y="257721"/>
                  <a:pt x="278867" y="263922"/>
                  <a:pt x="276448" y="269193"/>
                </a:cubicBezTo>
                <a:cubicBezTo>
                  <a:pt x="274030" y="274464"/>
                  <a:pt x="268759" y="277813"/>
                  <a:pt x="262930" y="277813"/>
                </a:cubicBezTo>
                <a:lnTo>
                  <a:pt x="158750" y="277813"/>
                </a:lnTo>
                <a:lnTo>
                  <a:pt x="158750" y="317500"/>
                </a:lnTo>
                <a:cubicBezTo>
                  <a:pt x="158750" y="328476"/>
                  <a:pt x="149882" y="337344"/>
                  <a:pt x="138906" y="337344"/>
                </a:cubicBezTo>
                <a:cubicBezTo>
                  <a:pt x="127930" y="337344"/>
                  <a:pt x="119062" y="328476"/>
                  <a:pt x="119062" y="317500"/>
                </a:cubicBezTo>
                <a:lnTo>
                  <a:pt x="119062" y="277813"/>
                </a:lnTo>
                <a:lnTo>
                  <a:pt x="14883" y="277813"/>
                </a:lnTo>
                <a:cubicBezTo>
                  <a:pt x="9054" y="277813"/>
                  <a:pt x="3783" y="274464"/>
                  <a:pt x="1364" y="269193"/>
                </a:cubicBezTo>
                <a:cubicBezTo>
                  <a:pt x="-1054" y="263922"/>
                  <a:pt x="-248" y="257721"/>
                  <a:pt x="3535" y="253318"/>
                </a:cubicBezTo>
                <a:lnTo>
                  <a:pt x="58601" y="188516"/>
                </a:lnTo>
                <a:lnTo>
                  <a:pt x="34727" y="188516"/>
                </a:lnTo>
                <a:cubicBezTo>
                  <a:pt x="28897" y="188516"/>
                  <a:pt x="23626" y="185167"/>
                  <a:pt x="21208" y="179896"/>
                </a:cubicBezTo>
                <a:cubicBezTo>
                  <a:pt x="18790" y="174625"/>
                  <a:pt x="19596" y="168424"/>
                  <a:pt x="23378" y="164021"/>
                </a:cubicBezTo>
                <a:lnTo>
                  <a:pt x="70011" y="109141"/>
                </a:lnTo>
                <a:lnTo>
                  <a:pt x="54570" y="109141"/>
                </a:lnTo>
                <a:cubicBezTo>
                  <a:pt x="48741" y="109141"/>
                  <a:pt x="43470" y="105792"/>
                  <a:pt x="41052" y="100521"/>
                </a:cubicBezTo>
                <a:cubicBezTo>
                  <a:pt x="38633" y="95250"/>
                  <a:pt x="39439" y="89049"/>
                  <a:pt x="43222" y="84646"/>
                </a:cubicBezTo>
                <a:lnTo>
                  <a:pt x="127558" y="-14573"/>
                </a:lnTo>
                <a:cubicBezTo>
                  <a:pt x="130411" y="-17921"/>
                  <a:pt x="134565" y="-19844"/>
                  <a:pt x="138906" y="-19844"/>
                </a:cubicBezTo>
                <a:close/>
              </a:path>
            </a:pathLst>
          </a:custGeom>
          <a:solidFill>
            <a:srgbClr val="4C7E9A"/>
          </a:solidFill>
          <a:ln/>
        </p:spPr>
      </p:sp>
      <p:sp>
        <p:nvSpPr>
          <p:cNvPr id="29" name="Text 27"/>
          <p:cNvSpPr/>
          <p:nvPr/>
        </p:nvSpPr>
        <p:spPr>
          <a:xfrm>
            <a:off x="1127125" y="7963958"/>
            <a:ext cx="2614083"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随机森林 (Random Forest)</a:t>
            </a:r>
            <a:endParaRPr lang="en-US" sz="1600" dirty="0"/>
          </a:p>
        </p:txBody>
      </p:sp>
      <p:sp>
        <p:nvSpPr>
          <p:cNvPr id="30" name="Text 28"/>
          <p:cNvSpPr/>
          <p:nvPr/>
        </p:nvSpPr>
        <p:spPr>
          <a:xfrm>
            <a:off x="603250" y="8355542"/>
            <a:ext cx="8890000" cy="275167"/>
          </a:xfrm>
          <a:prstGeom prst="rect">
            <a:avLst/>
          </a:prstGeom>
          <a:noFill/>
          <a:ln/>
        </p:spPr>
        <p:txBody>
          <a:bodyPr wrap="square" lIns="0" tIns="0" rIns="0" bIns="0" rtlCol="0" anchor="ctr"/>
          <a:lstStyle/>
          <a:p>
            <a:pPr>
              <a:lnSpc>
                <a:spcPct val="140000"/>
              </a:lnSpc>
            </a:pPr>
            <a:r>
              <a:rPr lang="en-US" sz="1333" dirty="0">
                <a:solidFill>
                  <a:srgbClr val="7E9AA8"/>
                </a:solidFill>
                <a:latin typeface="MiSans" pitchFamily="34" charset="0"/>
                <a:ea typeface="MiSans" pitchFamily="34" charset="-122"/>
                <a:cs typeface="MiSans" pitchFamily="34" charset="-120"/>
              </a:rPr>
              <a:t>在决策树构建过程中加入特征随机选择，进一步增强多样性，是Bagging的经典实现。</a:t>
            </a:r>
            <a:endParaRPr lang="en-US" sz="1600" dirty="0"/>
          </a:p>
        </p:txBody>
      </p:sp>
      <p:sp>
        <p:nvSpPr>
          <p:cNvPr id="31" name="Shape 29"/>
          <p:cNvSpPr/>
          <p:nvPr/>
        </p:nvSpPr>
        <p:spPr>
          <a:xfrm>
            <a:off x="9801159" y="1529292"/>
            <a:ext cx="6021917" cy="7281333"/>
          </a:xfrm>
          <a:custGeom>
            <a:avLst/>
            <a:gdLst/>
            <a:ahLst/>
            <a:cxnLst/>
            <a:rect l="l" t="t" r="r" b="b"/>
            <a:pathLst>
              <a:path w="6021917" h="7281333">
                <a:moveTo>
                  <a:pt x="84668" y="0"/>
                </a:moveTo>
                <a:lnTo>
                  <a:pt x="5937249" y="0"/>
                </a:lnTo>
                <a:cubicBezTo>
                  <a:pt x="5984009" y="0"/>
                  <a:pt x="6021917" y="37907"/>
                  <a:pt x="6021917" y="84668"/>
                </a:cubicBezTo>
                <a:lnTo>
                  <a:pt x="6021917" y="7196665"/>
                </a:lnTo>
                <a:cubicBezTo>
                  <a:pt x="6021917" y="7243426"/>
                  <a:pt x="5984009" y="7281333"/>
                  <a:pt x="5937249" y="7281333"/>
                </a:cubicBezTo>
                <a:lnTo>
                  <a:pt x="84668" y="7281333"/>
                </a:lnTo>
                <a:cubicBezTo>
                  <a:pt x="37907" y="7281333"/>
                  <a:pt x="0" y="7243426"/>
                  <a:pt x="0" y="7196665"/>
                </a:cubicBezTo>
                <a:lnTo>
                  <a:pt x="0" y="84668"/>
                </a:lnTo>
                <a:cubicBezTo>
                  <a:pt x="0" y="37907"/>
                  <a:pt x="37907" y="0"/>
                  <a:pt x="84668" y="0"/>
                </a:cubicBezTo>
                <a:close/>
              </a:path>
            </a:pathLst>
          </a:custGeom>
          <a:solidFill>
            <a:srgbClr val="3A5E78">
              <a:alpha val="20000"/>
            </a:srgbClr>
          </a:solidFill>
          <a:ln w="12700">
            <a:solidFill>
              <a:srgbClr val="4C7E9A">
                <a:alpha val="50196"/>
              </a:srgbClr>
            </a:solidFill>
            <a:prstDash val="solid"/>
          </a:ln>
        </p:spPr>
      </p:sp>
      <p:sp>
        <p:nvSpPr>
          <p:cNvPr id="32" name="Text 30"/>
          <p:cNvSpPr/>
          <p:nvPr/>
        </p:nvSpPr>
        <p:spPr>
          <a:xfrm>
            <a:off x="9975784" y="1703917"/>
            <a:ext cx="5799667"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Bagging工作流程</a:t>
            </a:r>
            <a:endParaRPr lang="en-US" sz="1600" dirty="0"/>
          </a:p>
        </p:txBody>
      </p:sp>
      <p:sp>
        <p:nvSpPr>
          <p:cNvPr id="33" name="Shape 31"/>
          <p:cNvSpPr/>
          <p:nvPr/>
        </p:nvSpPr>
        <p:spPr>
          <a:xfrm>
            <a:off x="9975784" y="2169583"/>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34" name="Text 32"/>
          <p:cNvSpPr/>
          <p:nvPr/>
        </p:nvSpPr>
        <p:spPr>
          <a:xfrm>
            <a:off x="9933451" y="2169583"/>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1</a:t>
            </a:r>
            <a:endParaRPr lang="en-US" sz="1600" dirty="0"/>
          </a:p>
        </p:txBody>
      </p:sp>
      <p:sp>
        <p:nvSpPr>
          <p:cNvPr id="35" name="Text 33"/>
          <p:cNvSpPr/>
          <p:nvPr/>
        </p:nvSpPr>
        <p:spPr>
          <a:xfrm>
            <a:off x="10441451" y="2169583"/>
            <a:ext cx="5302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Bootstrap采样</a:t>
            </a:r>
            <a:endParaRPr lang="en-US" sz="1600" dirty="0"/>
          </a:p>
        </p:txBody>
      </p:sp>
      <p:sp>
        <p:nvSpPr>
          <p:cNvPr id="36" name="Text 34"/>
          <p:cNvSpPr/>
          <p:nvPr/>
        </p:nvSpPr>
        <p:spPr>
          <a:xfrm>
            <a:off x="10441451" y="2508250"/>
            <a:ext cx="5281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从原始训练集中有放回地抽取T个样本子集</a:t>
            </a:r>
            <a:endParaRPr lang="en-US" sz="1600" dirty="0"/>
          </a:p>
        </p:txBody>
      </p:sp>
      <p:sp>
        <p:nvSpPr>
          <p:cNvPr id="37" name="Shape 35"/>
          <p:cNvSpPr/>
          <p:nvPr/>
        </p:nvSpPr>
        <p:spPr>
          <a:xfrm>
            <a:off x="9975784" y="2804583"/>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38" name="Text 36"/>
          <p:cNvSpPr/>
          <p:nvPr/>
        </p:nvSpPr>
        <p:spPr>
          <a:xfrm>
            <a:off x="9933451" y="2804583"/>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2</a:t>
            </a:r>
            <a:endParaRPr lang="en-US" sz="1600" dirty="0"/>
          </a:p>
        </p:txBody>
      </p:sp>
      <p:sp>
        <p:nvSpPr>
          <p:cNvPr id="39" name="Text 37"/>
          <p:cNvSpPr/>
          <p:nvPr/>
        </p:nvSpPr>
        <p:spPr>
          <a:xfrm>
            <a:off x="10441451" y="2804583"/>
            <a:ext cx="5302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并行训练</a:t>
            </a:r>
            <a:endParaRPr lang="en-US" sz="1600" dirty="0"/>
          </a:p>
        </p:txBody>
      </p:sp>
      <p:sp>
        <p:nvSpPr>
          <p:cNvPr id="40" name="Text 38"/>
          <p:cNvSpPr/>
          <p:nvPr/>
        </p:nvSpPr>
        <p:spPr>
          <a:xfrm>
            <a:off x="10441451" y="3143250"/>
            <a:ext cx="5281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每个子集独立训练一个基学习器</a:t>
            </a:r>
            <a:endParaRPr lang="en-US" sz="1600" dirty="0"/>
          </a:p>
        </p:txBody>
      </p:sp>
      <p:sp>
        <p:nvSpPr>
          <p:cNvPr id="41" name="Shape 39"/>
          <p:cNvSpPr/>
          <p:nvPr/>
        </p:nvSpPr>
        <p:spPr>
          <a:xfrm>
            <a:off x="9975784" y="3439583"/>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42" name="Text 40"/>
          <p:cNvSpPr/>
          <p:nvPr/>
        </p:nvSpPr>
        <p:spPr>
          <a:xfrm>
            <a:off x="9933451" y="3439583"/>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3</a:t>
            </a:r>
            <a:endParaRPr lang="en-US" sz="1600" dirty="0"/>
          </a:p>
        </p:txBody>
      </p:sp>
      <p:sp>
        <p:nvSpPr>
          <p:cNvPr id="43" name="Text 41"/>
          <p:cNvSpPr/>
          <p:nvPr/>
        </p:nvSpPr>
        <p:spPr>
          <a:xfrm>
            <a:off x="10441451" y="3439583"/>
            <a:ext cx="5302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结果聚合</a:t>
            </a:r>
            <a:endParaRPr lang="en-US" sz="1600" dirty="0"/>
          </a:p>
        </p:txBody>
      </p:sp>
      <p:sp>
        <p:nvSpPr>
          <p:cNvPr id="44" name="Text 42"/>
          <p:cNvSpPr/>
          <p:nvPr/>
        </p:nvSpPr>
        <p:spPr>
          <a:xfrm>
            <a:off x="10441451" y="3778250"/>
            <a:ext cx="5281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分类：多数投票；回归：简单平均</a:t>
            </a:r>
            <a:endParaRPr lang="en-US" sz="1600" dirty="0"/>
          </a:p>
        </p:txBody>
      </p:sp>
      <p:sp>
        <p:nvSpPr>
          <p:cNvPr id="45" name="Shape 43"/>
          <p:cNvSpPr/>
          <p:nvPr/>
        </p:nvSpPr>
        <p:spPr>
          <a:xfrm>
            <a:off x="9975784" y="4159250"/>
            <a:ext cx="5672667" cy="1693333"/>
          </a:xfrm>
          <a:custGeom>
            <a:avLst/>
            <a:gdLst/>
            <a:ahLst/>
            <a:cxnLst/>
            <a:rect l="l" t="t" r="r" b="b"/>
            <a:pathLst>
              <a:path w="5672667" h="1693333">
                <a:moveTo>
                  <a:pt x="84667" y="0"/>
                </a:moveTo>
                <a:lnTo>
                  <a:pt x="5588000" y="0"/>
                </a:lnTo>
                <a:cubicBezTo>
                  <a:pt x="5634760" y="0"/>
                  <a:pt x="5672667" y="37907"/>
                  <a:pt x="5672667" y="84667"/>
                </a:cubicBezTo>
                <a:lnTo>
                  <a:pt x="5672667" y="1608667"/>
                </a:lnTo>
                <a:cubicBezTo>
                  <a:pt x="5672667" y="1655427"/>
                  <a:pt x="5634760" y="1693333"/>
                  <a:pt x="5588000" y="1693333"/>
                </a:cubicBezTo>
                <a:lnTo>
                  <a:pt x="84667" y="1693333"/>
                </a:lnTo>
                <a:cubicBezTo>
                  <a:pt x="37907" y="1693333"/>
                  <a:pt x="0" y="1655427"/>
                  <a:pt x="0" y="1608667"/>
                </a:cubicBezTo>
                <a:lnTo>
                  <a:pt x="0" y="84667"/>
                </a:lnTo>
                <a:cubicBezTo>
                  <a:pt x="0" y="37907"/>
                  <a:pt x="37907" y="0"/>
                  <a:pt x="84667" y="0"/>
                </a:cubicBezTo>
                <a:close/>
              </a:path>
            </a:pathLst>
          </a:custGeom>
          <a:solidFill>
            <a:srgbClr val="181A1F">
              <a:alpha val="50196"/>
            </a:srgbClr>
          </a:solidFill>
          <a:ln/>
        </p:spPr>
      </p:sp>
      <p:sp>
        <p:nvSpPr>
          <p:cNvPr id="46" name="Text 44"/>
          <p:cNvSpPr/>
          <p:nvPr/>
        </p:nvSpPr>
        <p:spPr>
          <a:xfrm>
            <a:off x="10102784" y="4286250"/>
            <a:ext cx="5513917"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数学表达</a:t>
            </a:r>
            <a:endParaRPr lang="en-US" sz="1600" dirty="0"/>
          </a:p>
        </p:txBody>
      </p:sp>
      <p:sp>
        <p:nvSpPr>
          <p:cNvPr id="47" name="Shape 45"/>
          <p:cNvSpPr/>
          <p:nvPr/>
        </p:nvSpPr>
        <p:spPr>
          <a:xfrm>
            <a:off x="10102784" y="4667250"/>
            <a:ext cx="5418667" cy="550333"/>
          </a:xfrm>
          <a:custGeom>
            <a:avLst/>
            <a:gdLst/>
            <a:ahLst/>
            <a:cxnLst/>
            <a:rect l="l" t="t" r="r" b="b"/>
            <a:pathLst>
              <a:path w="5418667" h="550333">
                <a:moveTo>
                  <a:pt x="42332" y="0"/>
                </a:moveTo>
                <a:lnTo>
                  <a:pt x="5376335" y="0"/>
                </a:lnTo>
                <a:cubicBezTo>
                  <a:pt x="5399714" y="0"/>
                  <a:pt x="5418667" y="18953"/>
                  <a:pt x="5418667" y="42332"/>
                </a:cubicBezTo>
                <a:lnTo>
                  <a:pt x="5418667" y="508002"/>
                </a:lnTo>
                <a:cubicBezTo>
                  <a:pt x="5418667" y="531381"/>
                  <a:pt x="5399714" y="550333"/>
                  <a:pt x="5376335" y="550333"/>
                </a:cubicBezTo>
                <a:lnTo>
                  <a:pt x="42332" y="550333"/>
                </a:lnTo>
                <a:cubicBezTo>
                  <a:pt x="18953" y="550333"/>
                  <a:pt x="0" y="531381"/>
                  <a:pt x="0" y="508002"/>
                </a:cubicBezTo>
                <a:lnTo>
                  <a:pt x="0" y="42332"/>
                </a:lnTo>
                <a:cubicBezTo>
                  <a:pt x="0" y="18968"/>
                  <a:pt x="18968" y="0"/>
                  <a:pt x="42332" y="0"/>
                </a:cubicBezTo>
                <a:close/>
              </a:path>
            </a:pathLst>
          </a:custGeom>
          <a:solidFill>
            <a:srgbClr val="181A1F"/>
          </a:solidFill>
          <a:ln/>
        </p:spPr>
      </p:sp>
      <p:sp>
        <p:nvSpPr>
          <p:cNvPr id="48" name="Text 46"/>
          <p:cNvSpPr/>
          <p:nvPr/>
        </p:nvSpPr>
        <p:spPr>
          <a:xfrm>
            <a:off x="10182159" y="4794250"/>
            <a:ext cx="5259917" cy="296333"/>
          </a:xfrm>
          <a:prstGeom prst="rect">
            <a:avLst/>
          </a:prstGeom>
          <a:noFill/>
          <a:ln/>
        </p:spPr>
        <p:txBody>
          <a:bodyPr wrap="square" lIns="0" tIns="0" rIns="0" bIns="0" rtlCol="0" anchor="ctr"/>
          <a:lstStyle/>
          <a:p>
            <a:pPr algn="ctr">
              <a:lnSpc>
                <a:spcPct val="130000"/>
              </a:lnSpc>
            </a:pPr>
            <a:r>
              <a:rPr lang="en-US" sz="1500" dirty="0">
                <a:solidFill>
                  <a:srgbClr val="7E9AA8"/>
                </a:solidFill>
                <a:latin typeface="MiSans" pitchFamily="34" charset="0"/>
                <a:ea typeface="MiSans" pitchFamily="34" charset="-122"/>
                <a:cs typeface="MiSans" pitchFamily="34" charset="-120"/>
              </a:rPr>
              <a:t>f(x) = (1/T) ∑ f_t(x)</a:t>
            </a:r>
            <a:endParaRPr lang="en-US" sz="1600" dirty="0"/>
          </a:p>
        </p:txBody>
      </p:sp>
      <p:sp>
        <p:nvSpPr>
          <p:cNvPr id="49" name="Text 47"/>
          <p:cNvSpPr/>
          <p:nvPr/>
        </p:nvSpPr>
        <p:spPr>
          <a:xfrm>
            <a:off x="10102784" y="5302250"/>
            <a:ext cx="5492750" cy="423333"/>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T：基学习器数量</a:t>
            </a:r>
            <a:endParaRPr lang="en-US" sz="1600" dirty="0"/>
          </a:p>
          <a:p>
            <a:pPr>
              <a:lnSpc>
                <a:spcPct val="120000"/>
              </a:lnSpc>
            </a:pPr>
            <a:r>
              <a:rPr lang="en-US" sz="1167" dirty="0">
                <a:solidFill>
                  <a:srgbClr val="7E9AA8"/>
                </a:solidFill>
                <a:latin typeface="MiSans" pitchFamily="34" charset="0"/>
                <a:ea typeface="MiSans" pitchFamily="34" charset="-122"/>
                <a:cs typeface="MiSans" pitchFamily="34" charset="-120"/>
              </a:rPr>
              <a:t>f_t：第t个基学习器</a:t>
            </a:r>
            <a:endParaRPr lang="en-US" sz="1600" dirty="0"/>
          </a:p>
        </p:txBody>
      </p:sp>
      <p:sp>
        <p:nvSpPr>
          <p:cNvPr id="50" name="Shape 48"/>
          <p:cNvSpPr/>
          <p:nvPr/>
        </p:nvSpPr>
        <p:spPr>
          <a:xfrm>
            <a:off x="9975784" y="6021917"/>
            <a:ext cx="5672667" cy="1354667"/>
          </a:xfrm>
          <a:custGeom>
            <a:avLst/>
            <a:gdLst/>
            <a:ahLst/>
            <a:cxnLst/>
            <a:rect l="l" t="t" r="r" b="b"/>
            <a:pathLst>
              <a:path w="5672667" h="1354667">
                <a:moveTo>
                  <a:pt x="84667" y="0"/>
                </a:moveTo>
                <a:lnTo>
                  <a:pt x="5588000" y="0"/>
                </a:lnTo>
                <a:cubicBezTo>
                  <a:pt x="5634760" y="0"/>
                  <a:pt x="5672667" y="37907"/>
                  <a:pt x="5672667" y="84667"/>
                </a:cubicBezTo>
                <a:lnTo>
                  <a:pt x="5672667" y="1270000"/>
                </a:lnTo>
                <a:cubicBezTo>
                  <a:pt x="5672667" y="1316760"/>
                  <a:pt x="5634760" y="1354667"/>
                  <a:pt x="5588000" y="1354667"/>
                </a:cubicBezTo>
                <a:lnTo>
                  <a:pt x="84667" y="1354667"/>
                </a:lnTo>
                <a:cubicBezTo>
                  <a:pt x="37907" y="1354667"/>
                  <a:pt x="0" y="1316760"/>
                  <a:pt x="0" y="1270000"/>
                </a:cubicBezTo>
                <a:lnTo>
                  <a:pt x="0" y="84667"/>
                </a:lnTo>
                <a:cubicBezTo>
                  <a:pt x="0" y="37907"/>
                  <a:pt x="37907" y="0"/>
                  <a:pt x="84667" y="0"/>
                </a:cubicBezTo>
                <a:close/>
              </a:path>
            </a:pathLst>
          </a:custGeom>
          <a:solidFill>
            <a:srgbClr val="4C7E9A">
              <a:alpha val="10196"/>
            </a:srgbClr>
          </a:solidFill>
          <a:ln/>
        </p:spPr>
      </p:sp>
      <p:sp>
        <p:nvSpPr>
          <p:cNvPr id="51" name="Text 49"/>
          <p:cNvSpPr/>
          <p:nvPr/>
        </p:nvSpPr>
        <p:spPr>
          <a:xfrm>
            <a:off x="10102784" y="6148917"/>
            <a:ext cx="551391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适用场景</a:t>
            </a:r>
            <a:endParaRPr lang="en-US" sz="1600" dirty="0"/>
          </a:p>
        </p:txBody>
      </p:sp>
      <p:sp>
        <p:nvSpPr>
          <p:cNvPr id="52" name="Text 50"/>
          <p:cNvSpPr/>
          <p:nvPr/>
        </p:nvSpPr>
        <p:spPr>
          <a:xfrm>
            <a:off x="10102784" y="6529917"/>
            <a:ext cx="54927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高方差模型（深度决策树）</a:t>
            </a:r>
            <a:endParaRPr lang="en-US" sz="1600" dirty="0"/>
          </a:p>
        </p:txBody>
      </p:sp>
      <p:sp>
        <p:nvSpPr>
          <p:cNvPr id="53" name="Text 51"/>
          <p:cNvSpPr/>
          <p:nvPr/>
        </p:nvSpPr>
        <p:spPr>
          <a:xfrm>
            <a:off x="10102784" y="6783917"/>
            <a:ext cx="54927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数据集存在噪声</a:t>
            </a:r>
            <a:endParaRPr lang="en-US" sz="1600" dirty="0"/>
          </a:p>
        </p:txBody>
      </p:sp>
      <p:sp>
        <p:nvSpPr>
          <p:cNvPr id="54" name="Text 52"/>
          <p:cNvSpPr/>
          <p:nvPr/>
        </p:nvSpPr>
        <p:spPr>
          <a:xfrm>
            <a:off x="10102784" y="7037917"/>
            <a:ext cx="54927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需要稳定的预测结果</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ENSEMBLE METHODS</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Boosting：提升方法</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24000"/>
            <a:ext cx="7577667" cy="2063750"/>
          </a:xfrm>
          <a:custGeom>
            <a:avLst/>
            <a:gdLst/>
            <a:ahLst/>
            <a:cxnLst/>
            <a:rect l="l" t="t" r="r" b="b"/>
            <a:pathLst>
              <a:path w="7577667" h="2063750">
                <a:moveTo>
                  <a:pt x="42333" y="0"/>
                </a:moveTo>
                <a:lnTo>
                  <a:pt x="7492991" y="0"/>
                </a:lnTo>
                <a:cubicBezTo>
                  <a:pt x="7539756" y="0"/>
                  <a:pt x="7577667" y="37911"/>
                  <a:pt x="7577667" y="84676"/>
                </a:cubicBezTo>
                <a:lnTo>
                  <a:pt x="7577667" y="1979074"/>
                </a:lnTo>
                <a:cubicBezTo>
                  <a:pt x="7577667" y="2025839"/>
                  <a:pt x="7539756" y="2063750"/>
                  <a:pt x="7492991" y="2063750"/>
                </a:cubicBezTo>
                <a:lnTo>
                  <a:pt x="42333" y="2063750"/>
                </a:lnTo>
                <a:cubicBezTo>
                  <a:pt x="18953" y="2063750"/>
                  <a:pt x="0" y="2044797"/>
                  <a:pt x="0" y="2021417"/>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24000"/>
            <a:ext cx="42333" cy="2063750"/>
          </a:xfrm>
          <a:custGeom>
            <a:avLst/>
            <a:gdLst/>
            <a:ahLst/>
            <a:cxnLst/>
            <a:rect l="l" t="t" r="r" b="b"/>
            <a:pathLst>
              <a:path w="42333" h="2063750">
                <a:moveTo>
                  <a:pt x="42333" y="0"/>
                </a:moveTo>
                <a:lnTo>
                  <a:pt x="42333" y="0"/>
                </a:lnTo>
                <a:lnTo>
                  <a:pt x="42333" y="2063750"/>
                </a:lnTo>
                <a:lnTo>
                  <a:pt x="42333" y="2063750"/>
                </a:lnTo>
                <a:cubicBezTo>
                  <a:pt x="18953" y="2063750"/>
                  <a:pt x="0" y="2044797"/>
                  <a:pt x="0" y="2021417"/>
                </a:cubicBezTo>
                <a:lnTo>
                  <a:pt x="0" y="42333"/>
                </a:lnTo>
                <a:cubicBezTo>
                  <a:pt x="0" y="18953"/>
                  <a:pt x="18953" y="0"/>
                  <a:pt x="42333" y="0"/>
                </a:cubicBezTo>
                <a:close/>
              </a:path>
            </a:pathLst>
          </a:custGeom>
          <a:solidFill>
            <a:srgbClr val="4C7E9A"/>
          </a:solidFill>
          <a:ln/>
        </p:spPr>
      </p:sp>
      <p:sp>
        <p:nvSpPr>
          <p:cNvPr id="7" name="Text 5"/>
          <p:cNvSpPr/>
          <p:nvPr/>
        </p:nvSpPr>
        <p:spPr>
          <a:xfrm>
            <a:off x="635000" y="1693333"/>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核心思想</a:t>
            </a:r>
            <a:endParaRPr lang="en-US" sz="1600" dirty="0"/>
          </a:p>
        </p:txBody>
      </p:sp>
      <p:sp>
        <p:nvSpPr>
          <p:cNvPr id="8" name="Text 6"/>
          <p:cNvSpPr/>
          <p:nvPr/>
        </p:nvSpPr>
        <p:spPr>
          <a:xfrm>
            <a:off x="635000" y="2159000"/>
            <a:ext cx="7313083" cy="624417"/>
          </a:xfrm>
          <a:prstGeom prst="rect">
            <a:avLst/>
          </a:prstGeom>
          <a:noFill/>
          <a:ln/>
        </p:spPr>
        <p:txBody>
          <a:bodyPr wrap="square" lIns="0" tIns="0" rIns="0" bIns="0" rtlCol="0" anchor="ctr"/>
          <a:lstStyle/>
          <a:p>
            <a:pPr>
              <a:lnSpc>
                <a:spcPct val="140000"/>
              </a:lnSpc>
            </a:pPr>
            <a:r>
              <a:rPr lang="en-US" sz="1500" b="1" dirty="0">
                <a:solidFill>
                  <a:srgbClr val="4C7E9A"/>
                </a:solidFill>
                <a:latin typeface="MiSans" pitchFamily="34" charset="0"/>
                <a:ea typeface="MiSans" pitchFamily="34" charset="-122"/>
                <a:cs typeface="MiSans" pitchFamily="34" charset="-120"/>
              </a:rPr>
              <a:t>Boosting</a:t>
            </a:r>
            <a:pPr>
              <a:lnSpc>
                <a:spcPct val="140000"/>
              </a:lnSpc>
            </a:pPr>
            <a:r>
              <a:rPr lang="en-US" sz="1500" dirty="0">
                <a:solidFill>
                  <a:srgbClr val="D1D5DB"/>
                </a:solidFill>
                <a:latin typeface="MiSans" pitchFamily="34" charset="0"/>
                <a:ea typeface="MiSans" pitchFamily="34" charset="-122"/>
                <a:cs typeface="MiSans" pitchFamily="34" charset="-120"/>
              </a:rPr>
              <a:t> 是一种迭代式的集成方法。通过顺序训练一系列弱学习器，</a:t>
            </a:r>
            <a:pPr>
              <a:lnSpc>
                <a:spcPct val="140000"/>
              </a:lnSpc>
            </a:pPr>
            <a:r>
              <a:rPr lang="en-US" sz="1500" b="1" dirty="0">
                <a:solidFill>
                  <a:srgbClr val="4C7E9A"/>
                </a:solidFill>
                <a:latin typeface="MiSans" pitchFamily="34" charset="0"/>
                <a:ea typeface="MiSans" pitchFamily="34" charset="-122"/>
                <a:cs typeface="MiSans" pitchFamily="34" charset="-120"/>
              </a:rPr>
              <a:t>每个新模型都专注于修正前一个模型的错误</a:t>
            </a:r>
            <a:pPr>
              <a:lnSpc>
                <a:spcPct val="140000"/>
              </a:lnSpc>
            </a:pPr>
            <a:r>
              <a:rPr lang="en-US" sz="1500" dirty="0">
                <a:solidFill>
                  <a:srgbClr val="D1D5DB"/>
                </a:solidFill>
                <a:latin typeface="MiSans" pitchFamily="34" charset="0"/>
                <a:ea typeface="MiSans" pitchFamily="34" charset="-122"/>
                <a:cs typeface="MiSans" pitchFamily="34" charset="-120"/>
              </a:rPr>
              <a:t>，从而逐步提升整体性能。</a:t>
            </a:r>
            <a:endParaRPr lang="en-US" sz="1600" dirty="0"/>
          </a:p>
        </p:txBody>
      </p:sp>
      <p:sp>
        <p:nvSpPr>
          <p:cNvPr id="9" name="Shape 7"/>
          <p:cNvSpPr/>
          <p:nvPr/>
        </p:nvSpPr>
        <p:spPr>
          <a:xfrm>
            <a:off x="635000" y="2905125"/>
            <a:ext cx="7217833" cy="508000"/>
          </a:xfrm>
          <a:custGeom>
            <a:avLst/>
            <a:gdLst/>
            <a:ahLst/>
            <a:cxnLst/>
            <a:rect l="l" t="t" r="r" b="b"/>
            <a:pathLst>
              <a:path w="7217833" h="508000">
                <a:moveTo>
                  <a:pt x="84668" y="0"/>
                </a:moveTo>
                <a:lnTo>
                  <a:pt x="7133165" y="0"/>
                </a:lnTo>
                <a:cubicBezTo>
                  <a:pt x="7179926" y="0"/>
                  <a:pt x="7217833" y="37907"/>
                  <a:pt x="7217833" y="84668"/>
                </a:cubicBezTo>
                <a:lnTo>
                  <a:pt x="7217833" y="423332"/>
                </a:lnTo>
                <a:cubicBezTo>
                  <a:pt x="7217833" y="470093"/>
                  <a:pt x="7179926" y="508000"/>
                  <a:pt x="7133165" y="508000"/>
                </a:cubicBezTo>
                <a:lnTo>
                  <a:pt x="84668" y="508000"/>
                </a:lnTo>
                <a:cubicBezTo>
                  <a:pt x="37907" y="508000"/>
                  <a:pt x="0" y="470093"/>
                  <a:pt x="0" y="423332"/>
                </a:cubicBezTo>
                <a:lnTo>
                  <a:pt x="0" y="84668"/>
                </a:lnTo>
                <a:cubicBezTo>
                  <a:pt x="0" y="37939"/>
                  <a:pt x="37939" y="0"/>
                  <a:pt x="84668" y="0"/>
                </a:cubicBezTo>
                <a:close/>
              </a:path>
            </a:pathLst>
          </a:custGeom>
          <a:solidFill>
            <a:srgbClr val="181A1F">
              <a:alpha val="50196"/>
            </a:srgbClr>
          </a:solidFill>
          <a:ln/>
        </p:spPr>
      </p:sp>
      <p:sp>
        <p:nvSpPr>
          <p:cNvPr id="10" name="Shape 8"/>
          <p:cNvSpPr/>
          <p:nvPr/>
        </p:nvSpPr>
        <p:spPr>
          <a:xfrm>
            <a:off x="793750" y="3079750"/>
            <a:ext cx="148167" cy="169333"/>
          </a:xfrm>
          <a:custGeom>
            <a:avLst/>
            <a:gdLst/>
            <a:ahLst/>
            <a:cxnLst/>
            <a:rect l="l" t="t" r="r" b="b"/>
            <a:pathLst>
              <a:path w="148167" h="169333">
                <a:moveTo>
                  <a:pt x="0" y="71438"/>
                </a:moveTo>
                <a:cubicBezTo>
                  <a:pt x="0" y="49510"/>
                  <a:pt x="17760" y="31750"/>
                  <a:pt x="39688" y="31750"/>
                </a:cubicBezTo>
                <a:lnTo>
                  <a:pt x="42333" y="31750"/>
                </a:lnTo>
                <a:cubicBezTo>
                  <a:pt x="48187" y="31750"/>
                  <a:pt x="52917" y="36479"/>
                  <a:pt x="52917" y="42333"/>
                </a:cubicBezTo>
                <a:cubicBezTo>
                  <a:pt x="52917" y="48187"/>
                  <a:pt x="48187" y="52917"/>
                  <a:pt x="42333" y="52917"/>
                </a:cubicBezTo>
                <a:lnTo>
                  <a:pt x="39688" y="52917"/>
                </a:lnTo>
                <a:cubicBezTo>
                  <a:pt x="29468" y="52917"/>
                  <a:pt x="21167" y="61218"/>
                  <a:pt x="21167" y="71438"/>
                </a:cubicBezTo>
                <a:lnTo>
                  <a:pt x="21167" y="74083"/>
                </a:lnTo>
                <a:lnTo>
                  <a:pt x="42333" y="74083"/>
                </a:lnTo>
                <a:cubicBezTo>
                  <a:pt x="54008" y="74083"/>
                  <a:pt x="63500" y="83575"/>
                  <a:pt x="63500" y="95250"/>
                </a:cubicBezTo>
                <a:lnTo>
                  <a:pt x="63500" y="116417"/>
                </a:lnTo>
                <a:cubicBezTo>
                  <a:pt x="63500" y="128091"/>
                  <a:pt x="54008" y="137583"/>
                  <a:pt x="42333" y="137583"/>
                </a:cubicBezTo>
                <a:lnTo>
                  <a:pt x="21167" y="137583"/>
                </a:lnTo>
                <a:cubicBezTo>
                  <a:pt x="9492" y="137583"/>
                  <a:pt x="0" y="128091"/>
                  <a:pt x="0" y="116417"/>
                </a:cubicBezTo>
                <a:lnTo>
                  <a:pt x="0" y="71438"/>
                </a:lnTo>
                <a:close/>
                <a:moveTo>
                  <a:pt x="84667" y="71438"/>
                </a:moveTo>
                <a:cubicBezTo>
                  <a:pt x="84667" y="49510"/>
                  <a:pt x="102427" y="31750"/>
                  <a:pt x="124354" y="31750"/>
                </a:cubicBezTo>
                <a:lnTo>
                  <a:pt x="127000" y="31750"/>
                </a:lnTo>
                <a:cubicBezTo>
                  <a:pt x="132854" y="31750"/>
                  <a:pt x="137583" y="36479"/>
                  <a:pt x="137583" y="42333"/>
                </a:cubicBezTo>
                <a:cubicBezTo>
                  <a:pt x="137583" y="48187"/>
                  <a:pt x="132854" y="52917"/>
                  <a:pt x="127000" y="52917"/>
                </a:cubicBezTo>
                <a:lnTo>
                  <a:pt x="124354" y="52917"/>
                </a:lnTo>
                <a:cubicBezTo>
                  <a:pt x="114135" y="52917"/>
                  <a:pt x="105833" y="61218"/>
                  <a:pt x="105833" y="71438"/>
                </a:cubicBezTo>
                <a:lnTo>
                  <a:pt x="105833" y="74083"/>
                </a:lnTo>
                <a:lnTo>
                  <a:pt x="127000" y="74083"/>
                </a:lnTo>
                <a:cubicBezTo>
                  <a:pt x="138675" y="74083"/>
                  <a:pt x="148167" y="83575"/>
                  <a:pt x="148167" y="95250"/>
                </a:cubicBezTo>
                <a:lnTo>
                  <a:pt x="148167" y="116417"/>
                </a:lnTo>
                <a:cubicBezTo>
                  <a:pt x="148167" y="128091"/>
                  <a:pt x="138675" y="137583"/>
                  <a:pt x="127000" y="137583"/>
                </a:cubicBezTo>
                <a:lnTo>
                  <a:pt x="105833" y="137583"/>
                </a:lnTo>
                <a:cubicBezTo>
                  <a:pt x="94159" y="137583"/>
                  <a:pt x="84667" y="128091"/>
                  <a:pt x="84667" y="116417"/>
                </a:cubicBezTo>
                <a:lnTo>
                  <a:pt x="84667" y="71438"/>
                </a:lnTo>
                <a:close/>
              </a:path>
            </a:pathLst>
          </a:custGeom>
          <a:solidFill>
            <a:srgbClr val="4C7E9A"/>
          </a:solidFill>
          <a:ln/>
        </p:spPr>
      </p:sp>
      <p:sp>
        <p:nvSpPr>
          <p:cNvPr id="11" name="Text 9"/>
          <p:cNvSpPr/>
          <p:nvPr/>
        </p:nvSpPr>
        <p:spPr>
          <a:xfrm>
            <a:off x="1044222" y="3032125"/>
            <a:ext cx="6766278"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体现</a:t>
            </a:r>
            <a:pPr>
              <a:lnSpc>
                <a:spcPct val="130000"/>
              </a:lnSpc>
            </a:pPr>
            <a:r>
              <a:rPr lang="en-US" sz="1333" b="1" dirty="0">
                <a:solidFill>
                  <a:srgbClr val="D1D5DB"/>
                </a:solidFill>
                <a:latin typeface="MiSans" pitchFamily="34" charset="0"/>
                <a:ea typeface="MiSans" pitchFamily="34" charset="-122"/>
                <a:cs typeface="MiSans" pitchFamily="34" charset="-120"/>
              </a:rPr>
              <a:t>"知错能改，善莫大焉"</a:t>
            </a:r>
            <a:pPr>
              <a:lnSpc>
                <a:spcPct val="130000"/>
              </a:lnSpc>
            </a:pPr>
            <a:r>
              <a:rPr lang="en-US" sz="1333" dirty="0">
                <a:solidFill>
                  <a:srgbClr val="7E9AA8"/>
                </a:solidFill>
                <a:latin typeface="MiSans" pitchFamily="34" charset="0"/>
                <a:ea typeface="MiSans" pitchFamily="34" charset="-122"/>
                <a:cs typeface="MiSans" pitchFamily="34" charset="-120"/>
              </a:rPr>
              <a:t>的学习理念</a:t>
            </a:r>
            <a:endParaRPr lang="en-US" sz="1600" dirty="0"/>
          </a:p>
        </p:txBody>
      </p:sp>
      <p:sp>
        <p:nvSpPr>
          <p:cNvPr id="12" name="Shape 10"/>
          <p:cNvSpPr/>
          <p:nvPr/>
        </p:nvSpPr>
        <p:spPr>
          <a:xfrm>
            <a:off x="444500" y="3751792"/>
            <a:ext cx="7577667" cy="2624667"/>
          </a:xfrm>
          <a:custGeom>
            <a:avLst/>
            <a:gdLst/>
            <a:ahLst/>
            <a:cxnLst/>
            <a:rect l="l" t="t" r="r" b="b"/>
            <a:pathLst>
              <a:path w="7577667" h="2624667">
                <a:moveTo>
                  <a:pt x="42333" y="0"/>
                </a:moveTo>
                <a:lnTo>
                  <a:pt x="7492995" y="0"/>
                </a:lnTo>
                <a:cubicBezTo>
                  <a:pt x="7539758" y="0"/>
                  <a:pt x="7577667" y="37909"/>
                  <a:pt x="7577667" y="84672"/>
                </a:cubicBezTo>
                <a:lnTo>
                  <a:pt x="7577667" y="2539995"/>
                </a:lnTo>
                <a:cubicBezTo>
                  <a:pt x="7577667" y="2586758"/>
                  <a:pt x="7539758" y="2624667"/>
                  <a:pt x="7492995" y="2624667"/>
                </a:cubicBezTo>
                <a:lnTo>
                  <a:pt x="42333" y="2624667"/>
                </a:lnTo>
                <a:cubicBezTo>
                  <a:pt x="18953" y="2624667"/>
                  <a:pt x="0" y="2605713"/>
                  <a:pt x="0" y="2582333"/>
                </a:cubicBezTo>
                <a:lnTo>
                  <a:pt x="0" y="42333"/>
                </a:lnTo>
                <a:cubicBezTo>
                  <a:pt x="0" y="18953"/>
                  <a:pt x="18953" y="0"/>
                  <a:pt x="42333" y="0"/>
                </a:cubicBezTo>
                <a:close/>
              </a:path>
            </a:pathLst>
          </a:custGeom>
          <a:solidFill>
            <a:srgbClr val="3A5E78">
              <a:alpha val="20000"/>
            </a:srgbClr>
          </a:solidFill>
          <a:ln/>
        </p:spPr>
      </p:sp>
      <p:sp>
        <p:nvSpPr>
          <p:cNvPr id="13" name="Shape 11"/>
          <p:cNvSpPr/>
          <p:nvPr/>
        </p:nvSpPr>
        <p:spPr>
          <a:xfrm>
            <a:off x="444500" y="3751792"/>
            <a:ext cx="42333" cy="2624667"/>
          </a:xfrm>
          <a:custGeom>
            <a:avLst/>
            <a:gdLst/>
            <a:ahLst/>
            <a:cxnLst/>
            <a:rect l="l" t="t" r="r" b="b"/>
            <a:pathLst>
              <a:path w="42333" h="2624667">
                <a:moveTo>
                  <a:pt x="42333" y="0"/>
                </a:moveTo>
                <a:lnTo>
                  <a:pt x="42333" y="0"/>
                </a:lnTo>
                <a:lnTo>
                  <a:pt x="42333" y="2624667"/>
                </a:lnTo>
                <a:lnTo>
                  <a:pt x="42333" y="2624667"/>
                </a:lnTo>
                <a:cubicBezTo>
                  <a:pt x="18953" y="2624667"/>
                  <a:pt x="0" y="2605713"/>
                  <a:pt x="0" y="2582333"/>
                </a:cubicBezTo>
                <a:lnTo>
                  <a:pt x="0" y="42333"/>
                </a:lnTo>
                <a:cubicBezTo>
                  <a:pt x="0" y="18953"/>
                  <a:pt x="18953" y="0"/>
                  <a:pt x="42333" y="0"/>
                </a:cubicBezTo>
                <a:close/>
              </a:path>
            </a:pathLst>
          </a:custGeom>
          <a:solidFill>
            <a:srgbClr val="7E9AA8"/>
          </a:solidFill>
          <a:ln/>
        </p:spPr>
      </p:sp>
      <p:sp>
        <p:nvSpPr>
          <p:cNvPr id="14" name="Text 12"/>
          <p:cNvSpPr/>
          <p:nvPr/>
        </p:nvSpPr>
        <p:spPr>
          <a:xfrm>
            <a:off x="635000" y="3921125"/>
            <a:ext cx="7344833"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核心机制</a:t>
            </a:r>
            <a:endParaRPr lang="en-US" sz="1600" dirty="0"/>
          </a:p>
        </p:txBody>
      </p:sp>
      <p:sp>
        <p:nvSpPr>
          <p:cNvPr id="15" name="Shape 13"/>
          <p:cNvSpPr/>
          <p:nvPr/>
        </p:nvSpPr>
        <p:spPr>
          <a:xfrm>
            <a:off x="661458" y="4429125"/>
            <a:ext cx="211667" cy="211667"/>
          </a:xfrm>
          <a:custGeom>
            <a:avLst/>
            <a:gdLst/>
            <a:ahLst/>
            <a:cxnLst/>
            <a:rect l="l" t="t" r="r" b="b"/>
            <a:pathLst>
              <a:path w="211667" h="211667">
                <a:moveTo>
                  <a:pt x="92604" y="39688"/>
                </a:moveTo>
                <a:cubicBezTo>
                  <a:pt x="92604" y="32386"/>
                  <a:pt x="98532" y="26458"/>
                  <a:pt x="105833" y="26458"/>
                </a:cubicBezTo>
                <a:cubicBezTo>
                  <a:pt x="113135" y="26458"/>
                  <a:pt x="119063" y="32386"/>
                  <a:pt x="119063" y="39687"/>
                </a:cubicBezTo>
                <a:cubicBezTo>
                  <a:pt x="119063" y="46989"/>
                  <a:pt x="113135" y="52917"/>
                  <a:pt x="105833" y="52917"/>
                </a:cubicBezTo>
                <a:cubicBezTo>
                  <a:pt x="98532" y="52917"/>
                  <a:pt x="92604" y="46989"/>
                  <a:pt x="92604" y="39688"/>
                </a:cubicBezTo>
                <a:close/>
                <a:moveTo>
                  <a:pt x="143247" y="52917"/>
                </a:moveTo>
                <a:cubicBezTo>
                  <a:pt x="144694" y="48783"/>
                  <a:pt x="145521" y="44318"/>
                  <a:pt x="145521" y="39688"/>
                </a:cubicBezTo>
                <a:cubicBezTo>
                  <a:pt x="145521" y="17777"/>
                  <a:pt x="127744" y="0"/>
                  <a:pt x="105833" y="0"/>
                </a:cubicBezTo>
                <a:cubicBezTo>
                  <a:pt x="83923" y="0"/>
                  <a:pt x="66146" y="17777"/>
                  <a:pt x="66146" y="39688"/>
                </a:cubicBezTo>
                <a:cubicBezTo>
                  <a:pt x="66146" y="44318"/>
                  <a:pt x="66931" y="48783"/>
                  <a:pt x="68420" y="52917"/>
                </a:cubicBezTo>
                <a:lnTo>
                  <a:pt x="59407" y="52917"/>
                </a:lnTo>
                <a:cubicBezTo>
                  <a:pt x="47708" y="52917"/>
                  <a:pt x="37414" y="60565"/>
                  <a:pt x="34065" y="71768"/>
                </a:cubicBezTo>
                <a:lnTo>
                  <a:pt x="992" y="181984"/>
                </a:lnTo>
                <a:cubicBezTo>
                  <a:pt x="331" y="184133"/>
                  <a:pt x="0" y="186366"/>
                  <a:pt x="0" y="188598"/>
                </a:cubicBezTo>
                <a:cubicBezTo>
                  <a:pt x="0" y="201331"/>
                  <a:pt x="10335" y="211667"/>
                  <a:pt x="23068" y="211667"/>
                </a:cubicBezTo>
                <a:lnTo>
                  <a:pt x="188598" y="211667"/>
                </a:lnTo>
                <a:cubicBezTo>
                  <a:pt x="201331" y="211667"/>
                  <a:pt x="211667" y="201331"/>
                  <a:pt x="211667" y="188598"/>
                </a:cubicBezTo>
                <a:cubicBezTo>
                  <a:pt x="211667" y="186366"/>
                  <a:pt x="211336" y="184133"/>
                  <a:pt x="210674" y="181984"/>
                </a:cubicBezTo>
                <a:lnTo>
                  <a:pt x="177602" y="71810"/>
                </a:lnTo>
                <a:cubicBezTo>
                  <a:pt x="174253" y="60606"/>
                  <a:pt x="163959" y="52958"/>
                  <a:pt x="152259" y="52958"/>
                </a:cubicBezTo>
                <a:lnTo>
                  <a:pt x="143247" y="52958"/>
                </a:lnTo>
                <a:close/>
              </a:path>
            </a:pathLst>
          </a:custGeom>
          <a:solidFill>
            <a:srgbClr val="4C7E9A"/>
          </a:solidFill>
          <a:ln/>
        </p:spPr>
      </p:sp>
      <p:sp>
        <p:nvSpPr>
          <p:cNvPr id="16" name="Text 14"/>
          <p:cNvSpPr/>
          <p:nvPr/>
        </p:nvSpPr>
        <p:spPr>
          <a:xfrm>
            <a:off x="1026583" y="4386792"/>
            <a:ext cx="22965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加权投票机制</a:t>
            </a:r>
            <a:endParaRPr lang="en-US" sz="1600" dirty="0"/>
          </a:p>
        </p:txBody>
      </p:sp>
      <p:sp>
        <p:nvSpPr>
          <p:cNvPr id="17" name="Text 15"/>
          <p:cNvSpPr/>
          <p:nvPr/>
        </p:nvSpPr>
        <p:spPr>
          <a:xfrm>
            <a:off x="1026583" y="4683125"/>
            <a:ext cx="2286000"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给表现好的模型赋予更高权重</a:t>
            </a:r>
            <a:endParaRPr lang="en-US" sz="1600" dirty="0"/>
          </a:p>
        </p:txBody>
      </p:sp>
      <p:sp>
        <p:nvSpPr>
          <p:cNvPr id="18" name="Shape 16"/>
          <p:cNvSpPr/>
          <p:nvPr/>
        </p:nvSpPr>
        <p:spPr>
          <a:xfrm>
            <a:off x="648229" y="5064125"/>
            <a:ext cx="238125" cy="211667"/>
          </a:xfrm>
          <a:custGeom>
            <a:avLst/>
            <a:gdLst/>
            <a:ahLst/>
            <a:cxnLst/>
            <a:rect l="l" t="t" r="r" b="b"/>
            <a:pathLst>
              <a:path w="238125" h="211667">
                <a:moveTo>
                  <a:pt x="119063" y="-6615"/>
                </a:moveTo>
                <a:cubicBezTo>
                  <a:pt x="126380" y="-6615"/>
                  <a:pt x="132292" y="-703"/>
                  <a:pt x="132292" y="6615"/>
                </a:cubicBezTo>
                <a:lnTo>
                  <a:pt x="132292" y="14180"/>
                </a:lnTo>
                <a:cubicBezTo>
                  <a:pt x="172847" y="19968"/>
                  <a:pt x="204928" y="52049"/>
                  <a:pt x="210716" y="92604"/>
                </a:cubicBezTo>
                <a:lnTo>
                  <a:pt x="218281" y="92604"/>
                </a:lnTo>
                <a:cubicBezTo>
                  <a:pt x="225599" y="92604"/>
                  <a:pt x="231510" y="98516"/>
                  <a:pt x="231510" y="105833"/>
                </a:cubicBezTo>
                <a:cubicBezTo>
                  <a:pt x="231510" y="113151"/>
                  <a:pt x="225599" y="119063"/>
                  <a:pt x="218281" y="119063"/>
                </a:cubicBezTo>
                <a:lnTo>
                  <a:pt x="210716" y="119063"/>
                </a:lnTo>
                <a:cubicBezTo>
                  <a:pt x="204928" y="159618"/>
                  <a:pt x="172847" y="191699"/>
                  <a:pt x="132292" y="197487"/>
                </a:cubicBezTo>
                <a:lnTo>
                  <a:pt x="132292" y="205052"/>
                </a:lnTo>
                <a:cubicBezTo>
                  <a:pt x="132292" y="212369"/>
                  <a:pt x="126380" y="218281"/>
                  <a:pt x="119063" y="218281"/>
                </a:cubicBezTo>
                <a:cubicBezTo>
                  <a:pt x="111745" y="218281"/>
                  <a:pt x="105833" y="212369"/>
                  <a:pt x="105833" y="205052"/>
                </a:cubicBezTo>
                <a:lnTo>
                  <a:pt x="105833" y="197487"/>
                </a:lnTo>
                <a:cubicBezTo>
                  <a:pt x="65278" y="191699"/>
                  <a:pt x="33197" y="159618"/>
                  <a:pt x="27409" y="119063"/>
                </a:cubicBezTo>
                <a:lnTo>
                  <a:pt x="19844" y="119063"/>
                </a:lnTo>
                <a:cubicBezTo>
                  <a:pt x="12526" y="119063"/>
                  <a:pt x="6615" y="113151"/>
                  <a:pt x="6615" y="105833"/>
                </a:cubicBezTo>
                <a:cubicBezTo>
                  <a:pt x="6615" y="98516"/>
                  <a:pt x="12526" y="92604"/>
                  <a:pt x="19844" y="92604"/>
                </a:cubicBezTo>
                <a:lnTo>
                  <a:pt x="27409" y="92604"/>
                </a:lnTo>
                <a:cubicBezTo>
                  <a:pt x="33197" y="52049"/>
                  <a:pt x="65278" y="19968"/>
                  <a:pt x="105833" y="14180"/>
                </a:cubicBezTo>
                <a:lnTo>
                  <a:pt x="105833" y="6615"/>
                </a:lnTo>
                <a:cubicBezTo>
                  <a:pt x="105833" y="-703"/>
                  <a:pt x="111745" y="-6615"/>
                  <a:pt x="119063" y="-6615"/>
                </a:cubicBezTo>
                <a:close/>
                <a:moveTo>
                  <a:pt x="54240" y="119063"/>
                </a:moveTo>
                <a:cubicBezTo>
                  <a:pt x="59490" y="144983"/>
                  <a:pt x="79912" y="165406"/>
                  <a:pt x="105833" y="170656"/>
                </a:cubicBezTo>
                <a:lnTo>
                  <a:pt x="105833" y="165365"/>
                </a:lnTo>
                <a:cubicBezTo>
                  <a:pt x="105833" y="158047"/>
                  <a:pt x="111745" y="152135"/>
                  <a:pt x="119063" y="152135"/>
                </a:cubicBezTo>
                <a:cubicBezTo>
                  <a:pt x="126380" y="152135"/>
                  <a:pt x="132292" y="158047"/>
                  <a:pt x="132292" y="165365"/>
                </a:cubicBezTo>
                <a:lnTo>
                  <a:pt x="132292" y="170656"/>
                </a:lnTo>
                <a:cubicBezTo>
                  <a:pt x="158213" y="165406"/>
                  <a:pt x="178635" y="144983"/>
                  <a:pt x="183885" y="119063"/>
                </a:cubicBezTo>
                <a:lnTo>
                  <a:pt x="178594" y="119063"/>
                </a:lnTo>
                <a:cubicBezTo>
                  <a:pt x="171276" y="119063"/>
                  <a:pt x="165365" y="113151"/>
                  <a:pt x="165365" y="105833"/>
                </a:cubicBezTo>
                <a:cubicBezTo>
                  <a:pt x="165365" y="98516"/>
                  <a:pt x="171276" y="92604"/>
                  <a:pt x="178594" y="92604"/>
                </a:cubicBezTo>
                <a:lnTo>
                  <a:pt x="183885" y="92604"/>
                </a:lnTo>
                <a:cubicBezTo>
                  <a:pt x="178635" y="66683"/>
                  <a:pt x="158213" y="46261"/>
                  <a:pt x="132292" y="41010"/>
                </a:cubicBezTo>
                <a:lnTo>
                  <a:pt x="132292" y="46302"/>
                </a:lnTo>
                <a:cubicBezTo>
                  <a:pt x="132292" y="53619"/>
                  <a:pt x="126380" y="59531"/>
                  <a:pt x="119063" y="59531"/>
                </a:cubicBezTo>
                <a:cubicBezTo>
                  <a:pt x="111745" y="59531"/>
                  <a:pt x="105833" y="53619"/>
                  <a:pt x="105833" y="46302"/>
                </a:cubicBezTo>
                <a:lnTo>
                  <a:pt x="105833" y="41010"/>
                </a:lnTo>
                <a:cubicBezTo>
                  <a:pt x="79912" y="46261"/>
                  <a:pt x="59490" y="66683"/>
                  <a:pt x="54240" y="92604"/>
                </a:cubicBezTo>
                <a:lnTo>
                  <a:pt x="59531" y="92604"/>
                </a:lnTo>
                <a:cubicBezTo>
                  <a:pt x="66849" y="92604"/>
                  <a:pt x="72760" y="98516"/>
                  <a:pt x="72760" y="105833"/>
                </a:cubicBezTo>
                <a:cubicBezTo>
                  <a:pt x="72760" y="113151"/>
                  <a:pt x="66849" y="119063"/>
                  <a:pt x="59531" y="119063"/>
                </a:cubicBezTo>
                <a:lnTo>
                  <a:pt x="54240" y="119063"/>
                </a:lnTo>
                <a:close/>
                <a:moveTo>
                  <a:pt x="119063" y="85990"/>
                </a:moveTo>
                <a:cubicBezTo>
                  <a:pt x="130015" y="85990"/>
                  <a:pt x="138906" y="94881"/>
                  <a:pt x="138906" y="105833"/>
                </a:cubicBezTo>
                <a:cubicBezTo>
                  <a:pt x="138906" y="116785"/>
                  <a:pt x="130015" y="125677"/>
                  <a:pt x="119063" y="125677"/>
                </a:cubicBezTo>
                <a:cubicBezTo>
                  <a:pt x="108110" y="125677"/>
                  <a:pt x="99219" y="116785"/>
                  <a:pt x="99219" y="105833"/>
                </a:cubicBezTo>
                <a:cubicBezTo>
                  <a:pt x="99219" y="94881"/>
                  <a:pt x="108110" y="85990"/>
                  <a:pt x="119063" y="85990"/>
                </a:cubicBezTo>
                <a:close/>
              </a:path>
            </a:pathLst>
          </a:custGeom>
          <a:solidFill>
            <a:srgbClr val="4C7E9A"/>
          </a:solidFill>
          <a:ln/>
        </p:spPr>
      </p:sp>
      <p:sp>
        <p:nvSpPr>
          <p:cNvPr id="19" name="Text 17"/>
          <p:cNvSpPr/>
          <p:nvPr/>
        </p:nvSpPr>
        <p:spPr>
          <a:xfrm>
            <a:off x="1026583" y="5021792"/>
            <a:ext cx="33125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关注错误样本</a:t>
            </a:r>
            <a:endParaRPr lang="en-US" sz="1600" dirty="0"/>
          </a:p>
        </p:txBody>
      </p:sp>
      <p:sp>
        <p:nvSpPr>
          <p:cNvPr id="20" name="Text 18"/>
          <p:cNvSpPr/>
          <p:nvPr/>
        </p:nvSpPr>
        <p:spPr>
          <a:xfrm>
            <a:off x="1026583" y="5318125"/>
            <a:ext cx="3302000"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每个新模型更加关注之前被错误分类的样本</a:t>
            </a:r>
            <a:endParaRPr lang="en-US" sz="1600" dirty="0"/>
          </a:p>
        </p:txBody>
      </p:sp>
      <p:sp>
        <p:nvSpPr>
          <p:cNvPr id="21" name="Shape 19"/>
          <p:cNvSpPr/>
          <p:nvPr/>
        </p:nvSpPr>
        <p:spPr>
          <a:xfrm>
            <a:off x="687917" y="5699125"/>
            <a:ext cx="158750" cy="211667"/>
          </a:xfrm>
          <a:custGeom>
            <a:avLst/>
            <a:gdLst/>
            <a:ahLst/>
            <a:cxnLst/>
            <a:rect l="l" t="t" r="r" b="b"/>
            <a:pathLst>
              <a:path w="158750" h="211667">
                <a:moveTo>
                  <a:pt x="88718" y="7193"/>
                </a:moveTo>
                <a:cubicBezTo>
                  <a:pt x="83550" y="2026"/>
                  <a:pt x="75158" y="2026"/>
                  <a:pt x="69991" y="7193"/>
                </a:cubicBezTo>
                <a:lnTo>
                  <a:pt x="3845" y="73339"/>
                </a:lnTo>
                <a:cubicBezTo>
                  <a:pt x="-1323" y="78507"/>
                  <a:pt x="-1323" y="86899"/>
                  <a:pt x="3845" y="92067"/>
                </a:cubicBezTo>
                <a:cubicBezTo>
                  <a:pt x="9012" y="97234"/>
                  <a:pt x="17405" y="97234"/>
                  <a:pt x="22572" y="92067"/>
                </a:cubicBezTo>
                <a:lnTo>
                  <a:pt x="66146" y="48493"/>
                </a:lnTo>
                <a:lnTo>
                  <a:pt x="66146" y="201745"/>
                </a:lnTo>
                <a:cubicBezTo>
                  <a:pt x="66146" y="209062"/>
                  <a:pt x="72058" y="214974"/>
                  <a:pt x="79375" y="214974"/>
                </a:cubicBezTo>
                <a:cubicBezTo>
                  <a:pt x="86692" y="214974"/>
                  <a:pt x="92604" y="209062"/>
                  <a:pt x="92604" y="201745"/>
                </a:cubicBezTo>
                <a:lnTo>
                  <a:pt x="92604" y="48493"/>
                </a:lnTo>
                <a:lnTo>
                  <a:pt x="136178" y="92067"/>
                </a:lnTo>
                <a:cubicBezTo>
                  <a:pt x="141345" y="97234"/>
                  <a:pt x="149738" y="97234"/>
                  <a:pt x="154905" y="92067"/>
                </a:cubicBezTo>
                <a:cubicBezTo>
                  <a:pt x="160073" y="86899"/>
                  <a:pt x="160073" y="78507"/>
                  <a:pt x="154905" y="73339"/>
                </a:cubicBezTo>
                <a:lnTo>
                  <a:pt x="88759" y="7193"/>
                </a:lnTo>
                <a:close/>
              </a:path>
            </a:pathLst>
          </a:custGeom>
          <a:solidFill>
            <a:srgbClr val="4C7E9A"/>
          </a:solidFill>
          <a:ln/>
        </p:spPr>
      </p:sp>
      <p:sp>
        <p:nvSpPr>
          <p:cNvPr id="22" name="Text 20"/>
          <p:cNvSpPr/>
          <p:nvPr/>
        </p:nvSpPr>
        <p:spPr>
          <a:xfrm>
            <a:off x="1026583" y="5656792"/>
            <a:ext cx="2127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弱学习器提升</a:t>
            </a:r>
            <a:endParaRPr lang="en-US" sz="1600" dirty="0"/>
          </a:p>
        </p:txBody>
      </p:sp>
      <p:sp>
        <p:nvSpPr>
          <p:cNvPr id="23" name="Text 21"/>
          <p:cNvSpPr/>
          <p:nvPr/>
        </p:nvSpPr>
        <p:spPr>
          <a:xfrm>
            <a:off x="1026583" y="5953125"/>
            <a:ext cx="2116667"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将弱学习器提升为强学习器</a:t>
            </a:r>
            <a:endParaRPr lang="en-US" sz="1600" dirty="0"/>
          </a:p>
        </p:txBody>
      </p:sp>
      <p:sp>
        <p:nvSpPr>
          <p:cNvPr id="24" name="Shape 22"/>
          <p:cNvSpPr/>
          <p:nvPr/>
        </p:nvSpPr>
        <p:spPr>
          <a:xfrm>
            <a:off x="428625" y="6551083"/>
            <a:ext cx="7588250" cy="2042583"/>
          </a:xfrm>
          <a:custGeom>
            <a:avLst/>
            <a:gdLst/>
            <a:ahLst/>
            <a:cxnLst/>
            <a:rect l="l" t="t" r="r" b="b"/>
            <a:pathLst>
              <a:path w="7588250" h="2042583">
                <a:moveTo>
                  <a:pt x="84665" y="0"/>
                </a:moveTo>
                <a:lnTo>
                  <a:pt x="7503585" y="0"/>
                </a:lnTo>
                <a:cubicBezTo>
                  <a:pt x="7550344" y="0"/>
                  <a:pt x="7588250" y="37906"/>
                  <a:pt x="7588250" y="84665"/>
                </a:cubicBezTo>
                <a:lnTo>
                  <a:pt x="7588250" y="1957918"/>
                </a:lnTo>
                <a:cubicBezTo>
                  <a:pt x="7588250" y="2004677"/>
                  <a:pt x="7550344" y="2042583"/>
                  <a:pt x="7503585" y="2042583"/>
                </a:cubicBezTo>
                <a:lnTo>
                  <a:pt x="84665" y="2042583"/>
                </a:lnTo>
                <a:cubicBezTo>
                  <a:pt x="37906" y="2042583"/>
                  <a:pt x="0" y="2004677"/>
                  <a:pt x="0" y="1957918"/>
                </a:cubicBezTo>
                <a:lnTo>
                  <a:pt x="0" y="84665"/>
                </a:lnTo>
                <a:cubicBezTo>
                  <a:pt x="0" y="37937"/>
                  <a:pt x="37937" y="0"/>
                  <a:pt x="84665" y="0"/>
                </a:cubicBezTo>
                <a:close/>
              </a:path>
            </a:pathLst>
          </a:custGeom>
          <a:solidFill>
            <a:srgbClr val="3A5E78">
              <a:alpha val="20000"/>
            </a:srgbClr>
          </a:solidFill>
          <a:ln w="12700">
            <a:solidFill>
              <a:srgbClr val="4C7E9A">
                <a:alpha val="50196"/>
              </a:srgbClr>
            </a:solidFill>
            <a:prstDash val="solid"/>
          </a:ln>
        </p:spPr>
      </p:sp>
      <p:sp>
        <p:nvSpPr>
          <p:cNvPr id="25" name="Text 23"/>
          <p:cNvSpPr/>
          <p:nvPr/>
        </p:nvSpPr>
        <p:spPr>
          <a:xfrm>
            <a:off x="603250" y="6725708"/>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算法家族</a:t>
            </a:r>
            <a:endParaRPr lang="en-US" sz="1600" dirty="0"/>
          </a:p>
        </p:txBody>
      </p:sp>
      <p:sp>
        <p:nvSpPr>
          <p:cNvPr id="26" name="Shape 24"/>
          <p:cNvSpPr/>
          <p:nvPr/>
        </p:nvSpPr>
        <p:spPr>
          <a:xfrm>
            <a:off x="603250" y="7149042"/>
            <a:ext cx="3577167" cy="592667"/>
          </a:xfrm>
          <a:custGeom>
            <a:avLst/>
            <a:gdLst/>
            <a:ahLst/>
            <a:cxnLst/>
            <a:rect l="l" t="t" r="r" b="b"/>
            <a:pathLst>
              <a:path w="3577167" h="592667">
                <a:moveTo>
                  <a:pt x="42334" y="0"/>
                </a:moveTo>
                <a:lnTo>
                  <a:pt x="3534832" y="0"/>
                </a:lnTo>
                <a:cubicBezTo>
                  <a:pt x="3558213" y="0"/>
                  <a:pt x="3577167" y="18954"/>
                  <a:pt x="3577167" y="42334"/>
                </a:cubicBezTo>
                <a:lnTo>
                  <a:pt x="3577167" y="550332"/>
                </a:lnTo>
                <a:cubicBezTo>
                  <a:pt x="3577167" y="573713"/>
                  <a:pt x="3558213" y="592667"/>
                  <a:pt x="3534832" y="592667"/>
                </a:cubicBezTo>
                <a:lnTo>
                  <a:pt x="42334" y="592667"/>
                </a:lnTo>
                <a:cubicBezTo>
                  <a:pt x="18954" y="592667"/>
                  <a:pt x="0" y="573713"/>
                  <a:pt x="0" y="550332"/>
                </a:cubicBezTo>
                <a:lnTo>
                  <a:pt x="0" y="42334"/>
                </a:lnTo>
                <a:cubicBezTo>
                  <a:pt x="0" y="18969"/>
                  <a:pt x="18969" y="0"/>
                  <a:pt x="42334" y="0"/>
                </a:cubicBezTo>
                <a:close/>
              </a:path>
            </a:pathLst>
          </a:custGeom>
          <a:solidFill>
            <a:srgbClr val="181A1F">
              <a:alpha val="50196"/>
            </a:srgbClr>
          </a:solidFill>
          <a:ln/>
        </p:spPr>
      </p:sp>
      <p:sp>
        <p:nvSpPr>
          <p:cNvPr id="27" name="Text 25"/>
          <p:cNvSpPr/>
          <p:nvPr/>
        </p:nvSpPr>
        <p:spPr>
          <a:xfrm>
            <a:off x="645583" y="7233708"/>
            <a:ext cx="3492500" cy="254000"/>
          </a:xfrm>
          <a:prstGeom prst="rect">
            <a:avLst/>
          </a:prstGeom>
          <a:noFill/>
          <a:ln/>
        </p:spPr>
        <p:txBody>
          <a:bodyPr wrap="square" lIns="0" tIns="0" rIns="0" bIns="0" rtlCol="0" anchor="ctr"/>
          <a:lstStyle/>
          <a:p>
            <a:pPr algn="ctr">
              <a:lnSpc>
                <a:spcPct val="130000"/>
              </a:lnSpc>
            </a:pPr>
            <a:r>
              <a:rPr lang="en-US" sz="1333" b="1" dirty="0">
                <a:solidFill>
                  <a:srgbClr val="D1D5DB"/>
                </a:solidFill>
                <a:latin typeface="MiSans" pitchFamily="34" charset="0"/>
                <a:ea typeface="MiSans" pitchFamily="34" charset="-122"/>
                <a:cs typeface="MiSans" pitchFamily="34" charset="-120"/>
              </a:rPr>
              <a:t>AdaBoost</a:t>
            </a:r>
            <a:endParaRPr lang="en-US" sz="1600" dirty="0"/>
          </a:p>
        </p:txBody>
      </p:sp>
      <p:sp>
        <p:nvSpPr>
          <p:cNvPr id="28" name="Text 26"/>
          <p:cNvSpPr/>
          <p:nvPr/>
        </p:nvSpPr>
        <p:spPr>
          <a:xfrm>
            <a:off x="656167" y="7487708"/>
            <a:ext cx="3471333" cy="169333"/>
          </a:xfrm>
          <a:prstGeom prst="rect">
            <a:avLst/>
          </a:prstGeom>
          <a:noFill/>
          <a:ln/>
        </p:spPr>
        <p:txBody>
          <a:bodyPr wrap="square" lIns="0" tIns="0" rIns="0" bIns="0" rtlCol="0" anchor="ctr"/>
          <a:lstStyle/>
          <a:p>
            <a:pPr algn="ctr">
              <a:lnSpc>
                <a:spcPct val="110000"/>
              </a:lnSpc>
            </a:pPr>
            <a:r>
              <a:rPr lang="en-US" sz="1000" dirty="0">
                <a:solidFill>
                  <a:srgbClr val="7E9AA8"/>
                </a:solidFill>
                <a:latin typeface="MiSans" pitchFamily="34" charset="0"/>
                <a:ea typeface="MiSans" pitchFamily="34" charset="-122"/>
                <a:cs typeface="MiSans" pitchFamily="34" charset="-120"/>
              </a:rPr>
              <a:t>自适应提升</a:t>
            </a:r>
            <a:endParaRPr lang="en-US" sz="1600" dirty="0"/>
          </a:p>
        </p:txBody>
      </p:sp>
      <p:sp>
        <p:nvSpPr>
          <p:cNvPr id="29" name="Shape 27"/>
          <p:cNvSpPr/>
          <p:nvPr/>
        </p:nvSpPr>
        <p:spPr>
          <a:xfrm>
            <a:off x="4265083" y="7149042"/>
            <a:ext cx="3577167" cy="592667"/>
          </a:xfrm>
          <a:custGeom>
            <a:avLst/>
            <a:gdLst/>
            <a:ahLst/>
            <a:cxnLst/>
            <a:rect l="l" t="t" r="r" b="b"/>
            <a:pathLst>
              <a:path w="3577167" h="592667">
                <a:moveTo>
                  <a:pt x="42334" y="0"/>
                </a:moveTo>
                <a:lnTo>
                  <a:pt x="3534832" y="0"/>
                </a:lnTo>
                <a:cubicBezTo>
                  <a:pt x="3558213" y="0"/>
                  <a:pt x="3577167" y="18954"/>
                  <a:pt x="3577167" y="42334"/>
                </a:cubicBezTo>
                <a:lnTo>
                  <a:pt x="3577167" y="550332"/>
                </a:lnTo>
                <a:cubicBezTo>
                  <a:pt x="3577167" y="573713"/>
                  <a:pt x="3558213" y="592667"/>
                  <a:pt x="3534832" y="592667"/>
                </a:cubicBezTo>
                <a:lnTo>
                  <a:pt x="42334" y="592667"/>
                </a:lnTo>
                <a:cubicBezTo>
                  <a:pt x="18954" y="592667"/>
                  <a:pt x="0" y="573713"/>
                  <a:pt x="0" y="550332"/>
                </a:cubicBezTo>
                <a:lnTo>
                  <a:pt x="0" y="42334"/>
                </a:lnTo>
                <a:cubicBezTo>
                  <a:pt x="0" y="18969"/>
                  <a:pt x="18969" y="0"/>
                  <a:pt x="42334" y="0"/>
                </a:cubicBezTo>
                <a:close/>
              </a:path>
            </a:pathLst>
          </a:custGeom>
          <a:solidFill>
            <a:srgbClr val="181A1F">
              <a:alpha val="50196"/>
            </a:srgbClr>
          </a:solidFill>
          <a:ln/>
        </p:spPr>
      </p:sp>
      <p:sp>
        <p:nvSpPr>
          <p:cNvPr id="30" name="Text 28"/>
          <p:cNvSpPr/>
          <p:nvPr/>
        </p:nvSpPr>
        <p:spPr>
          <a:xfrm>
            <a:off x="4307417" y="7233708"/>
            <a:ext cx="3492500" cy="254000"/>
          </a:xfrm>
          <a:prstGeom prst="rect">
            <a:avLst/>
          </a:prstGeom>
          <a:noFill/>
          <a:ln/>
        </p:spPr>
        <p:txBody>
          <a:bodyPr wrap="square" lIns="0" tIns="0" rIns="0" bIns="0" rtlCol="0" anchor="ctr"/>
          <a:lstStyle/>
          <a:p>
            <a:pPr algn="ctr">
              <a:lnSpc>
                <a:spcPct val="130000"/>
              </a:lnSpc>
            </a:pPr>
            <a:r>
              <a:rPr lang="en-US" sz="1333" b="1" dirty="0">
                <a:solidFill>
                  <a:srgbClr val="D1D5DB"/>
                </a:solidFill>
                <a:latin typeface="MiSans" pitchFamily="34" charset="0"/>
                <a:ea typeface="MiSans" pitchFamily="34" charset="-122"/>
                <a:cs typeface="MiSans" pitchFamily="34" charset="-120"/>
              </a:rPr>
              <a:t>GBM/GBDT</a:t>
            </a:r>
            <a:endParaRPr lang="en-US" sz="1600" dirty="0"/>
          </a:p>
        </p:txBody>
      </p:sp>
      <p:sp>
        <p:nvSpPr>
          <p:cNvPr id="31" name="Text 29"/>
          <p:cNvSpPr/>
          <p:nvPr/>
        </p:nvSpPr>
        <p:spPr>
          <a:xfrm>
            <a:off x="4318000" y="7487708"/>
            <a:ext cx="3471333" cy="169333"/>
          </a:xfrm>
          <a:prstGeom prst="rect">
            <a:avLst/>
          </a:prstGeom>
          <a:noFill/>
          <a:ln/>
        </p:spPr>
        <p:txBody>
          <a:bodyPr wrap="square" lIns="0" tIns="0" rIns="0" bIns="0" rtlCol="0" anchor="ctr"/>
          <a:lstStyle/>
          <a:p>
            <a:pPr algn="ctr">
              <a:lnSpc>
                <a:spcPct val="110000"/>
              </a:lnSpc>
            </a:pPr>
            <a:r>
              <a:rPr lang="en-US" sz="1000" dirty="0">
                <a:solidFill>
                  <a:srgbClr val="7E9AA8"/>
                </a:solidFill>
                <a:latin typeface="MiSans" pitchFamily="34" charset="0"/>
                <a:ea typeface="MiSans" pitchFamily="34" charset="-122"/>
                <a:cs typeface="MiSans" pitchFamily="34" charset="-120"/>
              </a:rPr>
              <a:t>梯度提升</a:t>
            </a:r>
            <a:endParaRPr lang="en-US" sz="1600" dirty="0"/>
          </a:p>
        </p:txBody>
      </p:sp>
      <p:sp>
        <p:nvSpPr>
          <p:cNvPr id="32" name="Shape 30"/>
          <p:cNvSpPr/>
          <p:nvPr/>
        </p:nvSpPr>
        <p:spPr>
          <a:xfrm>
            <a:off x="603250" y="7826375"/>
            <a:ext cx="3577167" cy="592667"/>
          </a:xfrm>
          <a:custGeom>
            <a:avLst/>
            <a:gdLst/>
            <a:ahLst/>
            <a:cxnLst/>
            <a:rect l="l" t="t" r="r" b="b"/>
            <a:pathLst>
              <a:path w="3577167" h="592667">
                <a:moveTo>
                  <a:pt x="42334" y="0"/>
                </a:moveTo>
                <a:lnTo>
                  <a:pt x="3534832" y="0"/>
                </a:lnTo>
                <a:cubicBezTo>
                  <a:pt x="3558213" y="0"/>
                  <a:pt x="3577167" y="18954"/>
                  <a:pt x="3577167" y="42334"/>
                </a:cubicBezTo>
                <a:lnTo>
                  <a:pt x="3577167" y="550332"/>
                </a:lnTo>
                <a:cubicBezTo>
                  <a:pt x="3577167" y="573713"/>
                  <a:pt x="3558213" y="592667"/>
                  <a:pt x="3534832" y="592667"/>
                </a:cubicBezTo>
                <a:lnTo>
                  <a:pt x="42334" y="592667"/>
                </a:lnTo>
                <a:cubicBezTo>
                  <a:pt x="18954" y="592667"/>
                  <a:pt x="0" y="573713"/>
                  <a:pt x="0" y="550332"/>
                </a:cubicBezTo>
                <a:lnTo>
                  <a:pt x="0" y="42334"/>
                </a:lnTo>
                <a:cubicBezTo>
                  <a:pt x="0" y="18969"/>
                  <a:pt x="18969" y="0"/>
                  <a:pt x="42334" y="0"/>
                </a:cubicBezTo>
                <a:close/>
              </a:path>
            </a:pathLst>
          </a:custGeom>
          <a:solidFill>
            <a:srgbClr val="181A1F">
              <a:alpha val="50196"/>
            </a:srgbClr>
          </a:solidFill>
          <a:ln/>
        </p:spPr>
      </p:sp>
      <p:sp>
        <p:nvSpPr>
          <p:cNvPr id="33" name="Text 31"/>
          <p:cNvSpPr/>
          <p:nvPr/>
        </p:nvSpPr>
        <p:spPr>
          <a:xfrm>
            <a:off x="645583" y="7911042"/>
            <a:ext cx="3492500" cy="254000"/>
          </a:xfrm>
          <a:prstGeom prst="rect">
            <a:avLst/>
          </a:prstGeom>
          <a:noFill/>
          <a:ln/>
        </p:spPr>
        <p:txBody>
          <a:bodyPr wrap="square" lIns="0" tIns="0" rIns="0" bIns="0" rtlCol="0" anchor="ctr"/>
          <a:lstStyle/>
          <a:p>
            <a:pPr algn="ctr">
              <a:lnSpc>
                <a:spcPct val="130000"/>
              </a:lnSpc>
            </a:pPr>
            <a:r>
              <a:rPr lang="en-US" sz="1333" b="1" dirty="0">
                <a:solidFill>
                  <a:srgbClr val="D1D5DB"/>
                </a:solidFill>
                <a:latin typeface="MiSans" pitchFamily="34" charset="0"/>
                <a:ea typeface="MiSans" pitchFamily="34" charset="-122"/>
                <a:cs typeface="MiSans" pitchFamily="34" charset="-120"/>
              </a:rPr>
              <a:t>XGBoost</a:t>
            </a:r>
            <a:endParaRPr lang="en-US" sz="1600" dirty="0"/>
          </a:p>
        </p:txBody>
      </p:sp>
      <p:sp>
        <p:nvSpPr>
          <p:cNvPr id="34" name="Text 32"/>
          <p:cNvSpPr/>
          <p:nvPr/>
        </p:nvSpPr>
        <p:spPr>
          <a:xfrm>
            <a:off x="656167" y="8165042"/>
            <a:ext cx="3471333" cy="169333"/>
          </a:xfrm>
          <a:prstGeom prst="rect">
            <a:avLst/>
          </a:prstGeom>
          <a:noFill/>
          <a:ln/>
        </p:spPr>
        <p:txBody>
          <a:bodyPr wrap="square" lIns="0" tIns="0" rIns="0" bIns="0" rtlCol="0" anchor="ctr"/>
          <a:lstStyle/>
          <a:p>
            <a:pPr algn="ctr">
              <a:lnSpc>
                <a:spcPct val="110000"/>
              </a:lnSpc>
            </a:pPr>
            <a:r>
              <a:rPr lang="en-US" sz="1000" dirty="0">
                <a:solidFill>
                  <a:srgbClr val="7E9AA8"/>
                </a:solidFill>
                <a:latin typeface="MiSans" pitchFamily="34" charset="0"/>
                <a:ea typeface="MiSans" pitchFamily="34" charset="-122"/>
                <a:cs typeface="MiSans" pitchFamily="34" charset="-120"/>
              </a:rPr>
              <a:t>极致梯度提升</a:t>
            </a:r>
            <a:endParaRPr lang="en-US" sz="1600" dirty="0"/>
          </a:p>
        </p:txBody>
      </p:sp>
      <p:sp>
        <p:nvSpPr>
          <p:cNvPr id="35" name="Shape 33"/>
          <p:cNvSpPr/>
          <p:nvPr/>
        </p:nvSpPr>
        <p:spPr>
          <a:xfrm>
            <a:off x="4265083" y="7826375"/>
            <a:ext cx="3577167" cy="592667"/>
          </a:xfrm>
          <a:custGeom>
            <a:avLst/>
            <a:gdLst/>
            <a:ahLst/>
            <a:cxnLst/>
            <a:rect l="l" t="t" r="r" b="b"/>
            <a:pathLst>
              <a:path w="3577167" h="592667">
                <a:moveTo>
                  <a:pt x="42334" y="0"/>
                </a:moveTo>
                <a:lnTo>
                  <a:pt x="3534832" y="0"/>
                </a:lnTo>
                <a:cubicBezTo>
                  <a:pt x="3558213" y="0"/>
                  <a:pt x="3577167" y="18954"/>
                  <a:pt x="3577167" y="42334"/>
                </a:cubicBezTo>
                <a:lnTo>
                  <a:pt x="3577167" y="550332"/>
                </a:lnTo>
                <a:cubicBezTo>
                  <a:pt x="3577167" y="573713"/>
                  <a:pt x="3558213" y="592667"/>
                  <a:pt x="3534832" y="592667"/>
                </a:cubicBezTo>
                <a:lnTo>
                  <a:pt x="42334" y="592667"/>
                </a:lnTo>
                <a:cubicBezTo>
                  <a:pt x="18954" y="592667"/>
                  <a:pt x="0" y="573713"/>
                  <a:pt x="0" y="550332"/>
                </a:cubicBezTo>
                <a:lnTo>
                  <a:pt x="0" y="42334"/>
                </a:lnTo>
                <a:cubicBezTo>
                  <a:pt x="0" y="18969"/>
                  <a:pt x="18969" y="0"/>
                  <a:pt x="42334" y="0"/>
                </a:cubicBezTo>
                <a:close/>
              </a:path>
            </a:pathLst>
          </a:custGeom>
          <a:solidFill>
            <a:srgbClr val="181A1F">
              <a:alpha val="50196"/>
            </a:srgbClr>
          </a:solidFill>
          <a:ln/>
        </p:spPr>
      </p:sp>
      <p:sp>
        <p:nvSpPr>
          <p:cNvPr id="36" name="Text 34"/>
          <p:cNvSpPr/>
          <p:nvPr/>
        </p:nvSpPr>
        <p:spPr>
          <a:xfrm>
            <a:off x="4307417" y="7911042"/>
            <a:ext cx="3492500" cy="254000"/>
          </a:xfrm>
          <a:prstGeom prst="rect">
            <a:avLst/>
          </a:prstGeom>
          <a:noFill/>
          <a:ln/>
        </p:spPr>
        <p:txBody>
          <a:bodyPr wrap="square" lIns="0" tIns="0" rIns="0" bIns="0" rtlCol="0" anchor="ctr"/>
          <a:lstStyle/>
          <a:p>
            <a:pPr algn="ctr">
              <a:lnSpc>
                <a:spcPct val="130000"/>
              </a:lnSpc>
            </a:pPr>
            <a:r>
              <a:rPr lang="en-US" sz="1333" b="1" dirty="0">
                <a:solidFill>
                  <a:srgbClr val="D1D5DB"/>
                </a:solidFill>
                <a:latin typeface="MiSans" pitchFamily="34" charset="0"/>
                <a:ea typeface="MiSans" pitchFamily="34" charset="-122"/>
                <a:cs typeface="MiSans" pitchFamily="34" charset="-120"/>
              </a:rPr>
              <a:t>LightGBM</a:t>
            </a:r>
            <a:endParaRPr lang="en-US" sz="1600" dirty="0"/>
          </a:p>
        </p:txBody>
      </p:sp>
      <p:sp>
        <p:nvSpPr>
          <p:cNvPr id="37" name="Text 35"/>
          <p:cNvSpPr/>
          <p:nvPr/>
        </p:nvSpPr>
        <p:spPr>
          <a:xfrm>
            <a:off x="4318000" y="8165042"/>
            <a:ext cx="3471333" cy="169333"/>
          </a:xfrm>
          <a:prstGeom prst="rect">
            <a:avLst/>
          </a:prstGeom>
          <a:noFill/>
          <a:ln/>
        </p:spPr>
        <p:txBody>
          <a:bodyPr wrap="square" lIns="0" tIns="0" rIns="0" bIns="0" rtlCol="0" anchor="ctr"/>
          <a:lstStyle/>
          <a:p>
            <a:pPr algn="ctr">
              <a:lnSpc>
                <a:spcPct val="110000"/>
              </a:lnSpc>
            </a:pPr>
            <a:r>
              <a:rPr lang="en-US" sz="1000" dirty="0">
                <a:solidFill>
                  <a:srgbClr val="7E9AA8"/>
                </a:solidFill>
                <a:latin typeface="MiSans" pitchFamily="34" charset="0"/>
                <a:ea typeface="MiSans" pitchFamily="34" charset="-122"/>
                <a:cs typeface="MiSans" pitchFamily="34" charset="-120"/>
              </a:rPr>
              <a:t>轻量级梯度提升</a:t>
            </a:r>
            <a:endParaRPr lang="en-US" sz="1600" dirty="0"/>
          </a:p>
        </p:txBody>
      </p:sp>
      <p:sp>
        <p:nvSpPr>
          <p:cNvPr id="38" name="Shape 36"/>
          <p:cNvSpPr/>
          <p:nvPr/>
        </p:nvSpPr>
        <p:spPr>
          <a:xfrm>
            <a:off x="8239125" y="1529292"/>
            <a:ext cx="7588250" cy="7069667"/>
          </a:xfrm>
          <a:custGeom>
            <a:avLst/>
            <a:gdLst/>
            <a:ahLst/>
            <a:cxnLst/>
            <a:rect l="l" t="t" r="r" b="b"/>
            <a:pathLst>
              <a:path w="7588250" h="7069667">
                <a:moveTo>
                  <a:pt x="84695" y="0"/>
                </a:moveTo>
                <a:lnTo>
                  <a:pt x="7503555" y="0"/>
                </a:lnTo>
                <a:cubicBezTo>
                  <a:pt x="7550331" y="0"/>
                  <a:pt x="7588250" y="37919"/>
                  <a:pt x="7588250" y="84695"/>
                </a:cubicBezTo>
                <a:lnTo>
                  <a:pt x="7588250" y="6984972"/>
                </a:lnTo>
                <a:cubicBezTo>
                  <a:pt x="7588250" y="7031748"/>
                  <a:pt x="7550331" y="7069667"/>
                  <a:pt x="7503555" y="7069667"/>
                </a:cubicBezTo>
                <a:lnTo>
                  <a:pt x="84695" y="7069667"/>
                </a:lnTo>
                <a:cubicBezTo>
                  <a:pt x="37919" y="7069667"/>
                  <a:pt x="0" y="7031748"/>
                  <a:pt x="0" y="6984972"/>
                </a:cubicBezTo>
                <a:lnTo>
                  <a:pt x="0" y="84695"/>
                </a:lnTo>
                <a:cubicBezTo>
                  <a:pt x="0" y="37919"/>
                  <a:pt x="37919" y="0"/>
                  <a:pt x="84695" y="0"/>
                </a:cubicBezTo>
                <a:close/>
              </a:path>
            </a:pathLst>
          </a:custGeom>
          <a:solidFill>
            <a:srgbClr val="3A5E78">
              <a:alpha val="20000"/>
            </a:srgbClr>
          </a:solidFill>
          <a:ln w="12700">
            <a:solidFill>
              <a:srgbClr val="4C7E9A">
                <a:alpha val="50196"/>
              </a:srgbClr>
            </a:solidFill>
            <a:prstDash val="solid"/>
          </a:ln>
        </p:spPr>
      </p:sp>
      <p:sp>
        <p:nvSpPr>
          <p:cNvPr id="39" name="Text 37"/>
          <p:cNvSpPr/>
          <p:nvPr/>
        </p:nvSpPr>
        <p:spPr>
          <a:xfrm>
            <a:off x="8413750" y="1703917"/>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Boosting工作流程</a:t>
            </a:r>
            <a:endParaRPr lang="en-US" sz="1600" dirty="0"/>
          </a:p>
        </p:txBody>
      </p:sp>
      <p:sp>
        <p:nvSpPr>
          <p:cNvPr id="40" name="Shape 38"/>
          <p:cNvSpPr/>
          <p:nvPr/>
        </p:nvSpPr>
        <p:spPr>
          <a:xfrm>
            <a:off x="8413750" y="2214563"/>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41" name="Text 39"/>
          <p:cNvSpPr/>
          <p:nvPr/>
        </p:nvSpPr>
        <p:spPr>
          <a:xfrm>
            <a:off x="8371417" y="2214563"/>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1</a:t>
            </a:r>
            <a:endParaRPr lang="en-US" sz="1600" dirty="0"/>
          </a:p>
        </p:txBody>
      </p:sp>
      <p:sp>
        <p:nvSpPr>
          <p:cNvPr id="42" name="Text 40"/>
          <p:cNvSpPr/>
          <p:nvPr/>
        </p:nvSpPr>
        <p:spPr>
          <a:xfrm>
            <a:off x="8879417" y="2214563"/>
            <a:ext cx="68685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初始化样本权重</a:t>
            </a:r>
            <a:endParaRPr lang="en-US" sz="1600" dirty="0"/>
          </a:p>
        </p:txBody>
      </p:sp>
      <p:sp>
        <p:nvSpPr>
          <p:cNvPr id="43" name="Text 41"/>
          <p:cNvSpPr/>
          <p:nvPr/>
        </p:nvSpPr>
        <p:spPr>
          <a:xfrm>
            <a:off x="8879417" y="2553229"/>
            <a:ext cx="68474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所有样本权重相等</a:t>
            </a:r>
            <a:endParaRPr lang="en-US" sz="1600" dirty="0"/>
          </a:p>
        </p:txBody>
      </p:sp>
      <p:sp>
        <p:nvSpPr>
          <p:cNvPr id="44" name="Shape 42"/>
          <p:cNvSpPr/>
          <p:nvPr/>
        </p:nvSpPr>
        <p:spPr>
          <a:xfrm>
            <a:off x="8413750" y="2854854"/>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45" name="Text 43"/>
          <p:cNvSpPr/>
          <p:nvPr/>
        </p:nvSpPr>
        <p:spPr>
          <a:xfrm>
            <a:off x="8371417" y="2854854"/>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2</a:t>
            </a:r>
            <a:endParaRPr lang="en-US" sz="1600" dirty="0"/>
          </a:p>
        </p:txBody>
      </p:sp>
      <p:sp>
        <p:nvSpPr>
          <p:cNvPr id="46" name="Text 44"/>
          <p:cNvSpPr/>
          <p:nvPr/>
        </p:nvSpPr>
        <p:spPr>
          <a:xfrm>
            <a:off x="8879417" y="2854854"/>
            <a:ext cx="68685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训练弱学习器</a:t>
            </a:r>
            <a:endParaRPr lang="en-US" sz="1600" dirty="0"/>
          </a:p>
        </p:txBody>
      </p:sp>
      <p:sp>
        <p:nvSpPr>
          <p:cNvPr id="47" name="Text 45"/>
          <p:cNvSpPr/>
          <p:nvPr/>
        </p:nvSpPr>
        <p:spPr>
          <a:xfrm>
            <a:off x="8879417" y="3193521"/>
            <a:ext cx="68474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基于当前权重训练模型</a:t>
            </a:r>
            <a:endParaRPr lang="en-US" sz="1600" dirty="0"/>
          </a:p>
        </p:txBody>
      </p:sp>
      <p:sp>
        <p:nvSpPr>
          <p:cNvPr id="48" name="Shape 46"/>
          <p:cNvSpPr/>
          <p:nvPr/>
        </p:nvSpPr>
        <p:spPr>
          <a:xfrm>
            <a:off x="8413750" y="3495146"/>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49" name="Text 47"/>
          <p:cNvSpPr/>
          <p:nvPr/>
        </p:nvSpPr>
        <p:spPr>
          <a:xfrm>
            <a:off x="8371417" y="3495146"/>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3</a:t>
            </a:r>
            <a:endParaRPr lang="en-US" sz="1600" dirty="0"/>
          </a:p>
        </p:txBody>
      </p:sp>
      <p:sp>
        <p:nvSpPr>
          <p:cNvPr id="50" name="Text 48"/>
          <p:cNvSpPr/>
          <p:nvPr/>
        </p:nvSpPr>
        <p:spPr>
          <a:xfrm>
            <a:off x="8879417" y="3495146"/>
            <a:ext cx="68685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计算模型权重</a:t>
            </a:r>
            <a:endParaRPr lang="en-US" sz="1600" dirty="0"/>
          </a:p>
        </p:txBody>
      </p:sp>
      <p:sp>
        <p:nvSpPr>
          <p:cNvPr id="51" name="Text 49"/>
          <p:cNvSpPr/>
          <p:nvPr/>
        </p:nvSpPr>
        <p:spPr>
          <a:xfrm>
            <a:off x="8879417" y="3833812"/>
            <a:ext cx="68474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根据准确率赋予投票权重</a:t>
            </a:r>
            <a:endParaRPr lang="en-US" sz="1600" dirty="0"/>
          </a:p>
        </p:txBody>
      </p:sp>
      <p:sp>
        <p:nvSpPr>
          <p:cNvPr id="52" name="Shape 50"/>
          <p:cNvSpPr/>
          <p:nvPr/>
        </p:nvSpPr>
        <p:spPr>
          <a:xfrm>
            <a:off x="8413750" y="4135438"/>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53" name="Text 51"/>
          <p:cNvSpPr/>
          <p:nvPr/>
        </p:nvSpPr>
        <p:spPr>
          <a:xfrm>
            <a:off x="8371417" y="4135438"/>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4</a:t>
            </a:r>
            <a:endParaRPr lang="en-US" sz="1600" dirty="0"/>
          </a:p>
        </p:txBody>
      </p:sp>
      <p:sp>
        <p:nvSpPr>
          <p:cNvPr id="54" name="Text 52"/>
          <p:cNvSpPr/>
          <p:nvPr/>
        </p:nvSpPr>
        <p:spPr>
          <a:xfrm>
            <a:off x="8879417" y="4135438"/>
            <a:ext cx="68685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更新样本权重</a:t>
            </a:r>
            <a:endParaRPr lang="en-US" sz="1600" dirty="0"/>
          </a:p>
        </p:txBody>
      </p:sp>
      <p:sp>
        <p:nvSpPr>
          <p:cNvPr id="55" name="Text 53"/>
          <p:cNvSpPr/>
          <p:nvPr/>
        </p:nvSpPr>
        <p:spPr>
          <a:xfrm>
            <a:off x="8879417" y="4474104"/>
            <a:ext cx="68474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错误样本权重增加</a:t>
            </a:r>
            <a:endParaRPr lang="en-US" sz="1600" dirty="0"/>
          </a:p>
        </p:txBody>
      </p:sp>
      <p:sp>
        <p:nvSpPr>
          <p:cNvPr id="56" name="Shape 54"/>
          <p:cNvSpPr/>
          <p:nvPr/>
        </p:nvSpPr>
        <p:spPr>
          <a:xfrm>
            <a:off x="8413750" y="4775729"/>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57" name="Text 55"/>
          <p:cNvSpPr/>
          <p:nvPr/>
        </p:nvSpPr>
        <p:spPr>
          <a:xfrm>
            <a:off x="8371417" y="4775729"/>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5</a:t>
            </a:r>
            <a:endParaRPr lang="en-US" sz="1600" dirty="0"/>
          </a:p>
        </p:txBody>
      </p:sp>
      <p:sp>
        <p:nvSpPr>
          <p:cNvPr id="58" name="Text 56"/>
          <p:cNvSpPr/>
          <p:nvPr/>
        </p:nvSpPr>
        <p:spPr>
          <a:xfrm>
            <a:off x="8879417" y="4775729"/>
            <a:ext cx="68685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重复迭代</a:t>
            </a:r>
            <a:endParaRPr lang="en-US" sz="1600" dirty="0"/>
          </a:p>
        </p:txBody>
      </p:sp>
      <p:sp>
        <p:nvSpPr>
          <p:cNvPr id="59" name="Text 57"/>
          <p:cNvSpPr/>
          <p:nvPr/>
        </p:nvSpPr>
        <p:spPr>
          <a:xfrm>
            <a:off x="8879417" y="5114396"/>
            <a:ext cx="68474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直到达到预定轮数或效果</a:t>
            </a:r>
            <a:endParaRPr lang="en-US" sz="1600" dirty="0"/>
          </a:p>
        </p:txBody>
      </p:sp>
      <p:sp>
        <p:nvSpPr>
          <p:cNvPr id="60" name="Shape 58"/>
          <p:cNvSpPr/>
          <p:nvPr/>
        </p:nvSpPr>
        <p:spPr>
          <a:xfrm>
            <a:off x="8413750" y="5540375"/>
            <a:ext cx="7239000" cy="1354667"/>
          </a:xfrm>
          <a:custGeom>
            <a:avLst/>
            <a:gdLst/>
            <a:ahLst/>
            <a:cxnLst/>
            <a:rect l="l" t="t" r="r" b="b"/>
            <a:pathLst>
              <a:path w="7239000" h="1354667">
                <a:moveTo>
                  <a:pt x="84667" y="0"/>
                </a:moveTo>
                <a:lnTo>
                  <a:pt x="7154333" y="0"/>
                </a:lnTo>
                <a:cubicBezTo>
                  <a:pt x="7201093" y="0"/>
                  <a:pt x="7239000" y="37907"/>
                  <a:pt x="7239000" y="84667"/>
                </a:cubicBezTo>
                <a:lnTo>
                  <a:pt x="7239000" y="1270000"/>
                </a:lnTo>
                <a:cubicBezTo>
                  <a:pt x="7239000" y="1316760"/>
                  <a:pt x="7201093" y="1354667"/>
                  <a:pt x="7154333" y="1354667"/>
                </a:cubicBezTo>
                <a:lnTo>
                  <a:pt x="84667" y="1354667"/>
                </a:lnTo>
                <a:cubicBezTo>
                  <a:pt x="37907" y="1354667"/>
                  <a:pt x="0" y="1316760"/>
                  <a:pt x="0" y="1270000"/>
                </a:cubicBezTo>
                <a:lnTo>
                  <a:pt x="0" y="84667"/>
                </a:lnTo>
                <a:cubicBezTo>
                  <a:pt x="0" y="37907"/>
                  <a:pt x="37907" y="0"/>
                  <a:pt x="84667" y="0"/>
                </a:cubicBezTo>
                <a:close/>
              </a:path>
            </a:pathLst>
          </a:custGeom>
          <a:solidFill>
            <a:srgbClr val="181A1F">
              <a:alpha val="50196"/>
            </a:srgbClr>
          </a:solidFill>
          <a:ln/>
        </p:spPr>
      </p:sp>
      <p:sp>
        <p:nvSpPr>
          <p:cNvPr id="61" name="Text 59"/>
          <p:cNvSpPr/>
          <p:nvPr/>
        </p:nvSpPr>
        <p:spPr>
          <a:xfrm>
            <a:off x="8540750" y="5667375"/>
            <a:ext cx="7080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关键区别</a:t>
            </a:r>
            <a:endParaRPr lang="en-US" sz="1600" dirty="0"/>
          </a:p>
        </p:txBody>
      </p:sp>
      <p:sp>
        <p:nvSpPr>
          <p:cNvPr id="62" name="Shape 60"/>
          <p:cNvSpPr/>
          <p:nvPr/>
        </p:nvSpPr>
        <p:spPr>
          <a:xfrm>
            <a:off x="8540750" y="6048375"/>
            <a:ext cx="6985000" cy="719667"/>
          </a:xfrm>
          <a:custGeom>
            <a:avLst/>
            <a:gdLst/>
            <a:ahLst/>
            <a:cxnLst/>
            <a:rect l="l" t="t" r="r" b="b"/>
            <a:pathLst>
              <a:path w="6985000" h="719667">
                <a:moveTo>
                  <a:pt x="42331" y="0"/>
                </a:moveTo>
                <a:lnTo>
                  <a:pt x="6942669" y="0"/>
                </a:lnTo>
                <a:cubicBezTo>
                  <a:pt x="6966048" y="0"/>
                  <a:pt x="6985000" y="18952"/>
                  <a:pt x="6985000" y="42331"/>
                </a:cubicBezTo>
                <a:lnTo>
                  <a:pt x="6985000" y="677336"/>
                </a:lnTo>
                <a:cubicBezTo>
                  <a:pt x="6985000" y="700715"/>
                  <a:pt x="6966048" y="719667"/>
                  <a:pt x="6942669" y="719667"/>
                </a:cubicBezTo>
                <a:lnTo>
                  <a:pt x="42331" y="719667"/>
                </a:lnTo>
                <a:cubicBezTo>
                  <a:pt x="18952" y="719667"/>
                  <a:pt x="0" y="700715"/>
                  <a:pt x="0" y="677336"/>
                </a:cubicBezTo>
                <a:lnTo>
                  <a:pt x="0" y="42331"/>
                </a:lnTo>
                <a:cubicBezTo>
                  <a:pt x="0" y="18952"/>
                  <a:pt x="18952" y="0"/>
                  <a:pt x="42331" y="0"/>
                </a:cubicBezTo>
                <a:close/>
              </a:path>
            </a:pathLst>
          </a:custGeom>
          <a:solidFill>
            <a:srgbClr val="181A1F"/>
          </a:solidFill>
          <a:ln/>
        </p:spPr>
      </p:sp>
      <p:sp>
        <p:nvSpPr>
          <p:cNvPr id="63" name="Text 61"/>
          <p:cNvSpPr/>
          <p:nvPr/>
        </p:nvSpPr>
        <p:spPr>
          <a:xfrm>
            <a:off x="8667750" y="6175375"/>
            <a:ext cx="6805083" cy="211667"/>
          </a:xfrm>
          <a:prstGeom prst="rect">
            <a:avLst/>
          </a:prstGeom>
          <a:noFill/>
          <a:ln/>
        </p:spPr>
        <p:txBody>
          <a:bodyPr wrap="square" lIns="0" tIns="0" rIns="0" bIns="0" rtlCol="0" anchor="ctr"/>
          <a:lstStyle/>
          <a:p>
            <a:pPr>
              <a:lnSpc>
                <a:spcPct val="120000"/>
              </a:lnSpc>
            </a:pPr>
            <a:r>
              <a:rPr lang="en-US" sz="1167" b="1" dirty="0">
                <a:solidFill>
                  <a:srgbClr val="D1D5DB"/>
                </a:solidFill>
                <a:latin typeface="MiSans" pitchFamily="34" charset="0"/>
                <a:ea typeface="MiSans" pitchFamily="34" charset="-122"/>
                <a:cs typeface="MiSans" pitchFamily="34" charset="-120"/>
              </a:rPr>
              <a:t>AdaBoost：</a:t>
            </a:r>
            <a:pPr>
              <a:lnSpc>
                <a:spcPct val="120000"/>
              </a:lnSpc>
            </a:pPr>
            <a:r>
              <a:rPr lang="en-US" sz="1167" dirty="0">
                <a:solidFill>
                  <a:srgbClr val="7E9AA8"/>
                </a:solidFill>
                <a:latin typeface="MiSans" pitchFamily="34" charset="0"/>
                <a:ea typeface="MiSans" pitchFamily="34" charset="-122"/>
                <a:cs typeface="MiSans" pitchFamily="34" charset="-120"/>
              </a:rPr>
              <a:t>加权投票的分类Boosting</a:t>
            </a:r>
            <a:endParaRPr lang="en-US" sz="1600" dirty="0"/>
          </a:p>
        </p:txBody>
      </p:sp>
      <p:sp>
        <p:nvSpPr>
          <p:cNvPr id="64" name="Text 62"/>
          <p:cNvSpPr/>
          <p:nvPr/>
        </p:nvSpPr>
        <p:spPr>
          <a:xfrm>
            <a:off x="8667750" y="6429375"/>
            <a:ext cx="6805083" cy="211667"/>
          </a:xfrm>
          <a:prstGeom prst="rect">
            <a:avLst/>
          </a:prstGeom>
          <a:noFill/>
          <a:ln/>
        </p:spPr>
        <p:txBody>
          <a:bodyPr wrap="square" lIns="0" tIns="0" rIns="0" bIns="0" rtlCol="0" anchor="ctr"/>
          <a:lstStyle/>
          <a:p>
            <a:pPr>
              <a:lnSpc>
                <a:spcPct val="120000"/>
              </a:lnSpc>
            </a:pPr>
            <a:r>
              <a:rPr lang="en-US" sz="1167" b="1" dirty="0">
                <a:solidFill>
                  <a:srgbClr val="D1D5DB"/>
                </a:solidFill>
                <a:latin typeface="MiSans" pitchFamily="34" charset="0"/>
                <a:ea typeface="MiSans" pitchFamily="34" charset="-122"/>
                <a:cs typeface="MiSans" pitchFamily="34" charset="-120"/>
              </a:rPr>
              <a:t>GBDT：</a:t>
            </a:r>
            <a:pPr>
              <a:lnSpc>
                <a:spcPct val="120000"/>
              </a:lnSpc>
            </a:pPr>
            <a:r>
              <a:rPr lang="en-US" sz="1167" dirty="0">
                <a:solidFill>
                  <a:srgbClr val="7E9AA8"/>
                </a:solidFill>
                <a:latin typeface="MiSans" pitchFamily="34" charset="0"/>
                <a:ea typeface="MiSans" pitchFamily="34" charset="-122"/>
                <a:cs typeface="MiSans" pitchFamily="34" charset="-120"/>
              </a:rPr>
              <a:t>加法模型框架，拟合残差</a:t>
            </a:r>
            <a:endParaRPr lang="en-US" sz="1600" dirty="0"/>
          </a:p>
        </p:txBody>
      </p:sp>
      <p:sp>
        <p:nvSpPr>
          <p:cNvPr id="65" name="Shape 63"/>
          <p:cNvSpPr/>
          <p:nvPr/>
        </p:nvSpPr>
        <p:spPr>
          <a:xfrm>
            <a:off x="8413750" y="7064375"/>
            <a:ext cx="7239000" cy="1354667"/>
          </a:xfrm>
          <a:custGeom>
            <a:avLst/>
            <a:gdLst/>
            <a:ahLst/>
            <a:cxnLst/>
            <a:rect l="l" t="t" r="r" b="b"/>
            <a:pathLst>
              <a:path w="7239000" h="1354667">
                <a:moveTo>
                  <a:pt x="84667" y="0"/>
                </a:moveTo>
                <a:lnTo>
                  <a:pt x="7154333" y="0"/>
                </a:lnTo>
                <a:cubicBezTo>
                  <a:pt x="7201093" y="0"/>
                  <a:pt x="7239000" y="37907"/>
                  <a:pt x="7239000" y="84667"/>
                </a:cubicBezTo>
                <a:lnTo>
                  <a:pt x="7239000" y="1270000"/>
                </a:lnTo>
                <a:cubicBezTo>
                  <a:pt x="7239000" y="1316760"/>
                  <a:pt x="7201093" y="1354667"/>
                  <a:pt x="7154333" y="1354667"/>
                </a:cubicBezTo>
                <a:lnTo>
                  <a:pt x="84667" y="1354667"/>
                </a:lnTo>
                <a:cubicBezTo>
                  <a:pt x="37907" y="1354667"/>
                  <a:pt x="0" y="1316760"/>
                  <a:pt x="0" y="1270000"/>
                </a:cubicBezTo>
                <a:lnTo>
                  <a:pt x="0" y="84667"/>
                </a:lnTo>
                <a:cubicBezTo>
                  <a:pt x="0" y="37907"/>
                  <a:pt x="37907" y="0"/>
                  <a:pt x="84667" y="0"/>
                </a:cubicBezTo>
                <a:close/>
              </a:path>
            </a:pathLst>
          </a:custGeom>
          <a:solidFill>
            <a:srgbClr val="4C7E9A">
              <a:alpha val="10196"/>
            </a:srgbClr>
          </a:solidFill>
          <a:ln/>
        </p:spPr>
      </p:sp>
      <p:sp>
        <p:nvSpPr>
          <p:cNvPr id="66" name="Text 64"/>
          <p:cNvSpPr/>
          <p:nvPr/>
        </p:nvSpPr>
        <p:spPr>
          <a:xfrm>
            <a:off x="8540750" y="7191375"/>
            <a:ext cx="7080250"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适用场景</a:t>
            </a:r>
            <a:endParaRPr lang="en-US" sz="1600" dirty="0"/>
          </a:p>
        </p:txBody>
      </p:sp>
      <p:sp>
        <p:nvSpPr>
          <p:cNvPr id="67" name="Text 65"/>
          <p:cNvSpPr/>
          <p:nvPr/>
        </p:nvSpPr>
        <p:spPr>
          <a:xfrm>
            <a:off x="8540750" y="7572375"/>
            <a:ext cx="7059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高偏差模型（线性回归）</a:t>
            </a:r>
            <a:endParaRPr lang="en-US" sz="1600" dirty="0"/>
          </a:p>
        </p:txBody>
      </p:sp>
      <p:sp>
        <p:nvSpPr>
          <p:cNvPr id="68" name="Text 66"/>
          <p:cNvSpPr/>
          <p:nvPr/>
        </p:nvSpPr>
        <p:spPr>
          <a:xfrm>
            <a:off x="8540750" y="7826375"/>
            <a:ext cx="7059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复杂数据分布</a:t>
            </a:r>
            <a:endParaRPr lang="en-US" sz="1600" dirty="0"/>
          </a:p>
        </p:txBody>
      </p:sp>
      <p:sp>
        <p:nvSpPr>
          <p:cNvPr id="69" name="Text 67"/>
          <p:cNvSpPr/>
          <p:nvPr/>
        </p:nvSpPr>
        <p:spPr>
          <a:xfrm>
            <a:off x="8540750" y="8080375"/>
            <a:ext cx="7059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需要高精度预测</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47208" y="447208"/>
            <a:ext cx="15451026" cy="268325"/>
          </a:xfrm>
          <a:prstGeom prst="rect">
            <a:avLst/>
          </a:prstGeom>
          <a:noFill/>
          <a:ln/>
        </p:spPr>
        <p:txBody>
          <a:bodyPr wrap="square" lIns="0" tIns="0" rIns="0" bIns="0" rtlCol="0" anchor="ctr"/>
          <a:lstStyle/>
          <a:p>
            <a:pPr>
              <a:lnSpc>
                <a:spcPct val="130000"/>
              </a:lnSpc>
            </a:pPr>
            <a:r>
              <a:rPr lang="en-US" sz="1409" b="1" spc="70" kern="0" dirty="0">
                <a:solidFill>
                  <a:srgbClr val="7E9AA8"/>
                </a:solidFill>
                <a:latin typeface="MiSans" pitchFamily="34" charset="0"/>
                <a:ea typeface="MiSans" pitchFamily="34" charset="-122"/>
                <a:cs typeface="MiSans" pitchFamily="34" charset="-120"/>
              </a:rPr>
              <a:t>ENSEMBLE METHODS</a:t>
            </a:r>
            <a:endParaRPr lang="en-US" sz="1600" dirty="0"/>
          </a:p>
        </p:txBody>
      </p:sp>
      <p:sp>
        <p:nvSpPr>
          <p:cNvPr id="3" name="Text 1"/>
          <p:cNvSpPr/>
          <p:nvPr/>
        </p:nvSpPr>
        <p:spPr>
          <a:xfrm>
            <a:off x="447208" y="804974"/>
            <a:ext cx="15562828" cy="447208"/>
          </a:xfrm>
          <a:prstGeom prst="rect">
            <a:avLst/>
          </a:prstGeom>
          <a:noFill/>
          <a:ln/>
        </p:spPr>
        <p:txBody>
          <a:bodyPr wrap="square" lIns="0" tIns="0" rIns="0" bIns="0" rtlCol="0" anchor="ctr"/>
          <a:lstStyle/>
          <a:p>
            <a:pPr>
              <a:lnSpc>
                <a:spcPct val="90000"/>
              </a:lnSpc>
            </a:pPr>
            <a:r>
              <a:rPr lang="en-US" sz="3169" b="1" dirty="0">
                <a:solidFill>
                  <a:srgbClr val="D1D5DB"/>
                </a:solidFill>
                <a:latin typeface="阿里妈妈数黑体" pitchFamily="34" charset="0"/>
                <a:ea typeface="阿里妈妈数黑体" pitchFamily="34" charset="-122"/>
                <a:cs typeface="阿里妈妈数黑体" pitchFamily="34" charset="-120"/>
              </a:rPr>
              <a:t>Stacking：堆叠泛化</a:t>
            </a:r>
            <a:endParaRPr lang="en-US" sz="1600" dirty="0"/>
          </a:p>
        </p:txBody>
      </p:sp>
      <p:sp>
        <p:nvSpPr>
          <p:cNvPr id="4" name="Shape 2"/>
          <p:cNvSpPr/>
          <p:nvPr/>
        </p:nvSpPr>
        <p:spPr>
          <a:xfrm>
            <a:off x="447208" y="1386344"/>
            <a:ext cx="1073298" cy="44721"/>
          </a:xfrm>
          <a:custGeom>
            <a:avLst/>
            <a:gdLst/>
            <a:ahLst/>
            <a:cxnLst/>
            <a:rect l="l" t="t" r="r" b="b"/>
            <a:pathLst>
              <a:path w="1073298" h="44721">
                <a:moveTo>
                  <a:pt x="0" y="0"/>
                </a:moveTo>
                <a:lnTo>
                  <a:pt x="1073298" y="0"/>
                </a:lnTo>
                <a:lnTo>
                  <a:pt x="1073298" y="44721"/>
                </a:lnTo>
                <a:lnTo>
                  <a:pt x="0" y="44721"/>
                </a:lnTo>
                <a:lnTo>
                  <a:pt x="0" y="0"/>
                </a:lnTo>
                <a:close/>
              </a:path>
            </a:pathLst>
          </a:custGeom>
          <a:solidFill>
            <a:srgbClr val="4C7E9A"/>
          </a:solidFill>
          <a:ln/>
        </p:spPr>
      </p:sp>
      <p:sp>
        <p:nvSpPr>
          <p:cNvPr id="5" name="Shape 3"/>
          <p:cNvSpPr/>
          <p:nvPr/>
        </p:nvSpPr>
        <p:spPr>
          <a:xfrm>
            <a:off x="469568" y="1609948"/>
            <a:ext cx="7546630" cy="2180138"/>
          </a:xfrm>
          <a:custGeom>
            <a:avLst/>
            <a:gdLst/>
            <a:ahLst/>
            <a:cxnLst/>
            <a:rect l="l" t="t" r="r" b="b"/>
            <a:pathLst>
              <a:path w="7546630" h="2180138">
                <a:moveTo>
                  <a:pt x="44721" y="0"/>
                </a:moveTo>
                <a:lnTo>
                  <a:pt x="7457179" y="0"/>
                </a:lnTo>
                <a:cubicBezTo>
                  <a:pt x="7506581" y="0"/>
                  <a:pt x="7546630" y="40049"/>
                  <a:pt x="7546630" y="89451"/>
                </a:cubicBezTo>
                <a:lnTo>
                  <a:pt x="7546630" y="2090687"/>
                </a:lnTo>
                <a:cubicBezTo>
                  <a:pt x="7546630" y="2140089"/>
                  <a:pt x="7506581" y="2180138"/>
                  <a:pt x="7457179" y="2180138"/>
                </a:cubicBezTo>
                <a:lnTo>
                  <a:pt x="44721" y="2180138"/>
                </a:lnTo>
                <a:cubicBezTo>
                  <a:pt x="20022" y="2180138"/>
                  <a:pt x="0" y="2160115"/>
                  <a:pt x="0" y="2135417"/>
                </a:cubicBezTo>
                <a:lnTo>
                  <a:pt x="0" y="44721"/>
                </a:lnTo>
                <a:cubicBezTo>
                  <a:pt x="0" y="20039"/>
                  <a:pt x="20039" y="0"/>
                  <a:pt x="44721" y="0"/>
                </a:cubicBezTo>
                <a:close/>
              </a:path>
            </a:pathLst>
          </a:custGeom>
          <a:solidFill>
            <a:srgbClr val="3A5E78">
              <a:alpha val="20000"/>
            </a:srgbClr>
          </a:solidFill>
          <a:ln/>
        </p:spPr>
      </p:sp>
      <p:sp>
        <p:nvSpPr>
          <p:cNvPr id="6" name="Shape 4"/>
          <p:cNvSpPr/>
          <p:nvPr/>
        </p:nvSpPr>
        <p:spPr>
          <a:xfrm>
            <a:off x="469568" y="1609948"/>
            <a:ext cx="44721" cy="2180138"/>
          </a:xfrm>
          <a:custGeom>
            <a:avLst/>
            <a:gdLst/>
            <a:ahLst/>
            <a:cxnLst/>
            <a:rect l="l" t="t" r="r" b="b"/>
            <a:pathLst>
              <a:path w="44721" h="2180138">
                <a:moveTo>
                  <a:pt x="44721" y="0"/>
                </a:moveTo>
                <a:lnTo>
                  <a:pt x="44721" y="0"/>
                </a:lnTo>
                <a:lnTo>
                  <a:pt x="44721" y="2180138"/>
                </a:lnTo>
                <a:lnTo>
                  <a:pt x="44721" y="2180138"/>
                </a:lnTo>
                <a:cubicBezTo>
                  <a:pt x="20022" y="2180138"/>
                  <a:pt x="0" y="2160115"/>
                  <a:pt x="0" y="2135417"/>
                </a:cubicBezTo>
                <a:lnTo>
                  <a:pt x="0" y="44721"/>
                </a:lnTo>
                <a:cubicBezTo>
                  <a:pt x="0" y="20039"/>
                  <a:pt x="20039" y="0"/>
                  <a:pt x="44721" y="0"/>
                </a:cubicBezTo>
                <a:close/>
              </a:path>
            </a:pathLst>
          </a:custGeom>
          <a:solidFill>
            <a:srgbClr val="4C7E9A"/>
          </a:solidFill>
          <a:ln/>
        </p:spPr>
      </p:sp>
      <p:sp>
        <p:nvSpPr>
          <p:cNvPr id="7" name="Text 5"/>
          <p:cNvSpPr/>
          <p:nvPr/>
        </p:nvSpPr>
        <p:spPr>
          <a:xfrm>
            <a:off x="670812" y="1788831"/>
            <a:ext cx="7300666" cy="357766"/>
          </a:xfrm>
          <a:prstGeom prst="rect">
            <a:avLst/>
          </a:prstGeom>
          <a:noFill/>
          <a:ln/>
        </p:spPr>
        <p:txBody>
          <a:bodyPr wrap="square" lIns="0" tIns="0" rIns="0" bIns="0" rtlCol="0" anchor="ctr"/>
          <a:lstStyle/>
          <a:p>
            <a:pPr>
              <a:lnSpc>
                <a:spcPct val="110000"/>
              </a:lnSpc>
            </a:pPr>
            <a:r>
              <a:rPr lang="en-US" sz="2113" b="1" dirty="0">
                <a:solidFill>
                  <a:srgbClr val="4C7E9A"/>
                </a:solidFill>
                <a:latin typeface="MiSans" pitchFamily="34" charset="0"/>
                <a:ea typeface="MiSans" pitchFamily="34" charset="-122"/>
                <a:cs typeface="MiSans" pitchFamily="34" charset="-120"/>
              </a:rPr>
              <a:t>核心思想</a:t>
            </a:r>
            <a:endParaRPr lang="en-US" sz="1600" dirty="0"/>
          </a:p>
        </p:txBody>
      </p:sp>
      <p:sp>
        <p:nvSpPr>
          <p:cNvPr id="8" name="Text 6"/>
          <p:cNvSpPr/>
          <p:nvPr/>
        </p:nvSpPr>
        <p:spPr>
          <a:xfrm>
            <a:off x="670812" y="2280759"/>
            <a:ext cx="7267125" cy="659631"/>
          </a:xfrm>
          <a:prstGeom prst="rect">
            <a:avLst/>
          </a:prstGeom>
          <a:noFill/>
          <a:ln/>
        </p:spPr>
        <p:txBody>
          <a:bodyPr wrap="square" lIns="0" tIns="0" rIns="0" bIns="0" rtlCol="0" anchor="ctr"/>
          <a:lstStyle/>
          <a:p>
            <a:pPr>
              <a:lnSpc>
                <a:spcPct val="140000"/>
              </a:lnSpc>
            </a:pPr>
            <a:r>
              <a:rPr lang="en-US" sz="1585" b="1" dirty="0">
                <a:solidFill>
                  <a:srgbClr val="4C7E9A"/>
                </a:solidFill>
                <a:latin typeface="MiSans" pitchFamily="34" charset="0"/>
                <a:ea typeface="MiSans" pitchFamily="34" charset="-122"/>
                <a:cs typeface="MiSans" pitchFamily="34" charset="-120"/>
              </a:rPr>
              <a:t>Stacking (Stacked Generalization)</a:t>
            </a:r>
            <a:pPr>
              <a:lnSpc>
                <a:spcPct val="140000"/>
              </a:lnSpc>
            </a:pPr>
            <a:r>
              <a:rPr lang="en-US" sz="1585" dirty="0">
                <a:solidFill>
                  <a:srgbClr val="D1D5DB"/>
                </a:solidFill>
                <a:latin typeface="MiSans" pitchFamily="34" charset="0"/>
                <a:ea typeface="MiSans" pitchFamily="34" charset="-122"/>
                <a:cs typeface="MiSans" pitchFamily="34" charset="-120"/>
              </a:rPr>
              <a:t> 是一种高级的元学习策略。通过构建多层次模型结构，引入元学习器来学习如何组织和利用不同基学习器的预测结果。</a:t>
            </a:r>
            <a:endParaRPr lang="en-US" sz="1600" dirty="0"/>
          </a:p>
        </p:txBody>
      </p:sp>
      <p:sp>
        <p:nvSpPr>
          <p:cNvPr id="9" name="Shape 7"/>
          <p:cNvSpPr/>
          <p:nvPr/>
        </p:nvSpPr>
        <p:spPr>
          <a:xfrm>
            <a:off x="670812" y="3068963"/>
            <a:ext cx="7166503" cy="536649"/>
          </a:xfrm>
          <a:custGeom>
            <a:avLst/>
            <a:gdLst/>
            <a:ahLst/>
            <a:cxnLst/>
            <a:rect l="l" t="t" r="r" b="b"/>
            <a:pathLst>
              <a:path w="7166503" h="536649">
                <a:moveTo>
                  <a:pt x="89443" y="0"/>
                </a:moveTo>
                <a:lnTo>
                  <a:pt x="7077060" y="0"/>
                </a:lnTo>
                <a:cubicBezTo>
                  <a:pt x="7126458" y="0"/>
                  <a:pt x="7166503" y="40045"/>
                  <a:pt x="7166503" y="89443"/>
                </a:cubicBezTo>
                <a:lnTo>
                  <a:pt x="7166503" y="447206"/>
                </a:lnTo>
                <a:cubicBezTo>
                  <a:pt x="7166503" y="496604"/>
                  <a:pt x="7126458" y="536649"/>
                  <a:pt x="7077060" y="536649"/>
                </a:cubicBezTo>
                <a:lnTo>
                  <a:pt x="89443" y="536649"/>
                </a:lnTo>
                <a:cubicBezTo>
                  <a:pt x="40045" y="536649"/>
                  <a:pt x="0" y="496604"/>
                  <a:pt x="0" y="447206"/>
                </a:cubicBezTo>
                <a:lnTo>
                  <a:pt x="0" y="89443"/>
                </a:lnTo>
                <a:cubicBezTo>
                  <a:pt x="0" y="40078"/>
                  <a:pt x="40078" y="0"/>
                  <a:pt x="89443" y="0"/>
                </a:cubicBezTo>
                <a:close/>
              </a:path>
            </a:pathLst>
          </a:custGeom>
          <a:solidFill>
            <a:srgbClr val="181A1F">
              <a:alpha val="50196"/>
            </a:srgbClr>
          </a:solidFill>
          <a:ln/>
        </p:spPr>
      </p:sp>
      <p:sp>
        <p:nvSpPr>
          <p:cNvPr id="10" name="Shape 8"/>
          <p:cNvSpPr/>
          <p:nvPr/>
        </p:nvSpPr>
        <p:spPr>
          <a:xfrm>
            <a:off x="838514" y="3253436"/>
            <a:ext cx="156523" cy="178883"/>
          </a:xfrm>
          <a:custGeom>
            <a:avLst/>
            <a:gdLst/>
            <a:ahLst/>
            <a:cxnLst/>
            <a:rect l="l" t="t" r="r" b="b"/>
            <a:pathLst>
              <a:path w="156523" h="178883">
                <a:moveTo>
                  <a:pt x="0" y="75466"/>
                </a:moveTo>
                <a:cubicBezTo>
                  <a:pt x="0" y="52302"/>
                  <a:pt x="18762" y="33541"/>
                  <a:pt x="41926" y="33541"/>
                </a:cubicBezTo>
                <a:lnTo>
                  <a:pt x="44721" y="33541"/>
                </a:lnTo>
                <a:cubicBezTo>
                  <a:pt x="50905" y="33541"/>
                  <a:pt x="55901" y="38537"/>
                  <a:pt x="55901" y="44721"/>
                </a:cubicBezTo>
                <a:cubicBezTo>
                  <a:pt x="55901" y="50905"/>
                  <a:pt x="50905" y="55901"/>
                  <a:pt x="44721" y="55901"/>
                </a:cubicBezTo>
                <a:lnTo>
                  <a:pt x="41926" y="55901"/>
                </a:lnTo>
                <a:cubicBezTo>
                  <a:pt x="31130" y="55901"/>
                  <a:pt x="22360" y="64670"/>
                  <a:pt x="22360" y="75466"/>
                </a:cubicBezTo>
                <a:lnTo>
                  <a:pt x="22360" y="78261"/>
                </a:lnTo>
                <a:lnTo>
                  <a:pt x="44721" y="78261"/>
                </a:lnTo>
                <a:cubicBezTo>
                  <a:pt x="57054" y="78261"/>
                  <a:pt x="67081" y="88289"/>
                  <a:pt x="67081" y="100622"/>
                </a:cubicBezTo>
                <a:lnTo>
                  <a:pt x="67081" y="122982"/>
                </a:lnTo>
                <a:cubicBezTo>
                  <a:pt x="67081" y="135315"/>
                  <a:pt x="57054" y="145343"/>
                  <a:pt x="44721" y="145343"/>
                </a:cubicBezTo>
                <a:lnTo>
                  <a:pt x="22360" y="145343"/>
                </a:lnTo>
                <a:cubicBezTo>
                  <a:pt x="10027" y="145343"/>
                  <a:pt x="0" y="135315"/>
                  <a:pt x="0" y="122982"/>
                </a:cubicBezTo>
                <a:lnTo>
                  <a:pt x="0" y="75466"/>
                </a:lnTo>
                <a:close/>
                <a:moveTo>
                  <a:pt x="89442" y="75466"/>
                </a:moveTo>
                <a:cubicBezTo>
                  <a:pt x="89442" y="52302"/>
                  <a:pt x="108203" y="33541"/>
                  <a:pt x="131367" y="33541"/>
                </a:cubicBezTo>
                <a:lnTo>
                  <a:pt x="134162" y="33541"/>
                </a:lnTo>
                <a:cubicBezTo>
                  <a:pt x="140346" y="33541"/>
                  <a:pt x="145343" y="38537"/>
                  <a:pt x="145343" y="44721"/>
                </a:cubicBezTo>
                <a:cubicBezTo>
                  <a:pt x="145343" y="50905"/>
                  <a:pt x="140346" y="55901"/>
                  <a:pt x="134162" y="55901"/>
                </a:cubicBezTo>
                <a:lnTo>
                  <a:pt x="131367" y="55901"/>
                </a:lnTo>
                <a:cubicBezTo>
                  <a:pt x="120571" y="55901"/>
                  <a:pt x="111802" y="64670"/>
                  <a:pt x="111802" y="75466"/>
                </a:cubicBezTo>
                <a:lnTo>
                  <a:pt x="111802" y="78261"/>
                </a:lnTo>
                <a:lnTo>
                  <a:pt x="134162" y="78261"/>
                </a:lnTo>
                <a:cubicBezTo>
                  <a:pt x="146495" y="78261"/>
                  <a:pt x="156523" y="88289"/>
                  <a:pt x="156523" y="100622"/>
                </a:cubicBezTo>
                <a:lnTo>
                  <a:pt x="156523" y="122982"/>
                </a:lnTo>
                <a:cubicBezTo>
                  <a:pt x="156523" y="135315"/>
                  <a:pt x="146495" y="145343"/>
                  <a:pt x="134162" y="145343"/>
                </a:cubicBezTo>
                <a:lnTo>
                  <a:pt x="111802" y="145343"/>
                </a:lnTo>
                <a:cubicBezTo>
                  <a:pt x="99469" y="145343"/>
                  <a:pt x="89442" y="135315"/>
                  <a:pt x="89442" y="122982"/>
                </a:cubicBezTo>
                <a:lnTo>
                  <a:pt x="89442" y="75466"/>
                </a:lnTo>
                <a:close/>
              </a:path>
            </a:pathLst>
          </a:custGeom>
          <a:solidFill>
            <a:srgbClr val="4C7E9A"/>
          </a:solidFill>
          <a:ln/>
        </p:spPr>
      </p:sp>
      <p:sp>
        <p:nvSpPr>
          <p:cNvPr id="11" name="Text 9"/>
          <p:cNvSpPr/>
          <p:nvPr/>
        </p:nvSpPr>
        <p:spPr>
          <a:xfrm>
            <a:off x="1107316" y="3203125"/>
            <a:ext cx="6685278" cy="268325"/>
          </a:xfrm>
          <a:prstGeom prst="rect">
            <a:avLst/>
          </a:prstGeom>
          <a:noFill/>
          <a:ln/>
        </p:spPr>
        <p:txBody>
          <a:bodyPr wrap="square" lIns="0" tIns="0" rIns="0" bIns="0" rtlCol="0" anchor="ctr"/>
          <a:lstStyle/>
          <a:p>
            <a:pPr>
              <a:lnSpc>
                <a:spcPct val="130000"/>
              </a:lnSpc>
            </a:pPr>
            <a:r>
              <a:rPr lang="en-US" sz="1409" dirty="0">
                <a:solidFill>
                  <a:srgbClr val="7E9AA8"/>
                </a:solidFill>
                <a:latin typeface="MiSans" pitchFamily="34" charset="0"/>
                <a:ea typeface="MiSans" pitchFamily="34" charset="-122"/>
                <a:cs typeface="MiSans" pitchFamily="34" charset="-120"/>
              </a:rPr>
              <a:t>实现</a:t>
            </a:r>
            <a:pPr>
              <a:lnSpc>
                <a:spcPct val="130000"/>
              </a:lnSpc>
            </a:pPr>
            <a:r>
              <a:rPr lang="en-US" sz="1409" b="1" dirty="0">
                <a:solidFill>
                  <a:srgbClr val="D1D5DB"/>
                </a:solidFill>
                <a:latin typeface="MiSans" pitchFamily="34" charset="0"/>
                <a:ea typeface="MiSans" pitchFamily="34" charset="-122"/>
                <a:cs typeface="MiSans" pitchFamily="34" charset="-120"/>
              </a:rPr>
              <a:t>"1+1&gt;2"</a:t>
            </a:r>
            <a:pPr>
              <a:lnSpc>
                <a:spcPct val="130000"/>
              </a:lnSpc>
            </a:pPr>
            <a:r>
              <a:rPr lang="en-US" sz="1409" dirty="0">
                <a:solidFill>
                  <a:srgbClr val="7E9AA8"/>
                </a:solidFill>
                <a:latin typeface="MiSans" pitchFamily="34" charset="0"/>
                <a:ea typeface="MiSans" pitchFamily="34" charset="-122"/>
                <a:cs typeface="MiSans" pitchFamily="34" charset="-120"/>
              </a:rPr>
              <a:t>的集成效果</a:t>
            </a:r>
            <a:endParaRPr lang="en-US" sz="1600" dirty="0"/>
          </a:p>
        </p:txBody>
      </p:sp>
      <p:sp>
        <p:nvSpPr>
          <p:cNvPr id="12" name="Shape 10"/>
          <p:cNvSpPr/>
          <p:nvPr/>
        </p:nvSpPr>
        <p:spPr>
          <a:xfrm>
            <a:off x="469568" y="3963378"/>
            <a:ext cx="7546630" cy="2146597"/>
          </a:xfrm>
          <a:custGeom>
            <a:avLst/>
            <a:gdLst/>
            <a:ahLst/>
            <a:cxnLst/>
            <a:rect l="l" t="t" r="r" b="b"/>
            <a:pathLst>
              <a:path w="7546630" h="2146597">
                <a:moveTo>
                  <a:pt x="44721" y="0"/>
                </a:moveTo>
                <a:lnTo>
                  <a:pt x="7457181" y="0"/>
                </a:lnTo>
                <a:cubicBezTo>
                  <a:pt x="7506582" y="0"/>
                  <a:pt x="7546630" y="40048"/>
                  <a:pt x="7546630" y="89449"/>
                </a:cubicBezTo>
                <a:lnTo>
                  <a:pt x="7546630" y="2057148"/>
                </a:lnTo>
                <a:cubicBezTo>
                  <a:pt x="7546630" y="2106549"/>
                  <a:pt x="7506582" y="2146597"/>
                  <a:pt x="7457181" y="2146597"/>
                </a:cubicBezTo>
                <a:lnTo>
                  <a:pt x="44721" y="2146597"/>
                </a:lnTo>
                <a:cubicBezTo>
                  <a:pt x="20022" y="2146597"/>
                  <a:pt x="0" y="2126575"/>
                  <a:pt x="0" y="2101876"/>
                </a:cubicBezTo>
                <a:lnTo>
                  <a:pt x="0" y="44721"/>
                </a:lnTo>
                <a:cubicBezTo>
                  <a:pt x="0" y="20039"/>
                  <a:pt x="20039" y="0"/>
                  <a:pt x="44721" y="0"/>
                </a:cubicBezTo>
                <a:close/>
              </a:path>
            </a:pathLst>
          </a:custGeom>
          <a:solidFill>
            <a:srgbClr val="3A5E78">
              <a:alpha val="20000"/>
            </a:srgbClr>
          </a:solidFill>
          <a:ln/>
        </p:spPr>
      </p:sp>
      <p:sp>
        <p:nvSpPr>
          <p:cNvPr id="13" name="Shape 11"/>
          <p:cNvSpPr/>
          <p:nvPr/>
        </p:nvSpPr>
        <p:spPr>
          <a:xfrm>
            <a:off x="469568" y="3963378"/>
            <a:ext cx="44721" cy="2146597"/>
          </a:xfrm>
          <a:custGeom>
            <a:avLst/>
            <a:gdLst/>
            <a:ahLst/>
            <a:cxnLst/>
            <a:rect l="l" t="t" r="r" b="b"/>
            <a:pathLst>
              <a:path w="44721" h="2146597">
                <a:moveTo>
                  <a:pt x="44721" y="0"/>
                </a:moveTo>
                <a:lnTo>
                  <a:pt x="44721" y="0"/>
                </a:lnTo>
                <a:lnTo>
                  <a:pt x="44721" y="2146597"/>
                </a:lnTo>
                <a:lnTo>
                  <a:pt x="44721" y="2146597"/>
                </a:lnTo>
                <a:cubicBezTo>
                  <a:pt x="20022" y="2146597"/>
                  <a:pt x="0" y="2126575"/>
                  <a:pt x="0" y="2101876"/>
                </a:cubicBezTo>
                <a:lnTo>
                  <a:pt x="0" y="44721"/>
                </a:lnTo>
                <a:cubicBezTo>
                  <a:pt x="0" y="20039"/>
                  <a:pt x="20039" y="0"/>
                  <a:pt x="44721" y="0"/>
                </a:cubicBezTo>
                <a:close/>
              </a:path>
            </a:pathLst>
          </a:custGeom>
          <a:solidFill>
            <a:srgbClr val="7E9AA8"/>
          </a:solidFill>
          <a:ln/>
        </p:spPr>
      </p:sp>
      <p:sp>
        <p:nvSpPr>
          <p:cNvPr id="14" name="Text 12"/>
          <p:cNvSpPr/>
          <p:nvPr/>
        </p:nvSpPr>
        <p:spPr>
          <a:xfrm>
            <a:off x="670812" y="4142261"/>
            <a:ext cx="7300666" cy="357766"/>
          </a:xfrm>
          <a:prstGeom prst="rect">
            <a:avLst/>
          </a:prstGeom>
          <a:noFill/>
          <a:ln/>
        </p:spPr>
        <p:txBody>
          <a:bodyPr wrap="square" lIns="0" tIns="0" rIns="0" bIns="0" rtlCol="0" anchor="ctr"/>
          <a:lstStyle/>
          <a:p>
            <a:pPr>
              <a:lnSpc>
                <a:spcPct val="110000"/>
              </a:lnSpc>
            </a:pPr>
            <a:r>
              <a:rPr lang="en-US" sz="2113" b="1" dirty="0">
                <a:solidFill>
                  <a:srgbClr val="7E9AA8"/>
                </a:solidFill>
                <a:latin typeface="MiSans" pitchFamily="34" charset="0"/>
                <a:ea typeface="MiSans" pitchFamily="34" charset="-122"/>
                <a:cs typeface="MiSans" pitchFamily="34" charset="-120"/>
              </a:rPr>
              <a:t>算法架构</a:t>
            </a:r>
            <a:endParaRPr lang="en-US" sz="1600" dirty="0"/>
          </a:p>
        </p:txBody>
      </p:sp>
      <p:sp>
        <p:nvSpPr>
          <p:cNvPr id="15" name="Shape 13"/>
          <p:cNvSpPr/>
          <p:nvPr/>
        </p:nvSpPr>
        <p:spPr>
          <a:xfrm>
            <a:off x="670812" y="4634190"/>
            <a:ext cx="357766" cy="357766"/>
          </a:xfrm>
          <a:custGeom>
            <a:avLst/>
            <a:gdLst/>
            <a:ahLst/>
            <a:cxnLst/>
            <a:rect l="l" t="t" r="r" b="b"/>
            <a:pathLst>
              <a:path w="357766" h="357766">
                <a:moveTo>
                  <a:pt x="178883" y="0"/>
                </a:moveTo>
                <a:lnTo>
                  <a:pt x="178883" y="0"/>
                </a:lnTo>
                <a:cubicBezTo>
                  <a:pt x="277611" y="0"/>
                  <a:pt x="357766" y="80155"/>
                  <a:pt x="357766" y="178883"/>
                </a:cubicBezTo>
                <a:lnTo>
                  <a:pt x="357766" y="178883"/>
                </a:lnTo>
                <a:cubicBezTo>
                  <a:pt x="357766" y="277611"/>
                  <a:pt x="277611" y="357766"/>
                  <a:pt x="178883" y="357766"/>
                </a:cubicBezTo>
                <a:lnTo>
                  <a:pt x="178883" y="357766"/>
                </a:lnTo>
                <a:cubicBezTo>
                  <a:pt x="80155" y="357766"/>
                  <a:pt x="0" y="277611"/>
                  <a:pt x="0" y="178883"/>
                </a:cubicBezTo>
                <a:lnTo>
                  <a:pt x="0" y="178883"/>
                </a:lnTo>
                <a:cubicBezTo>
                  <a:pt x="0" y="80155"/>
                  <a:pt x="80155" y="0"/>
                  <a:pt x="178883" y="0"/>
                </a:cubicBezTo>
                <a:close/>
              </a:path>
            </a:pathLst>
          </a:custGeom>
          <a:solidFill>
            <a:srgbClr val="4C7E9A"/>
          </a:solidFill>
          <a:ln/>
        </p:spPr>
      </p:sp>
      <p:sp>
        <p:nvSpPr>
          <p:cNvPr id="16" name="Text 14"/>
          <p:cNvSpPr/>
          <p:nvPr/>
        </p:nvSpPr>
        <p:spPr>
          <a:xfrm>
            <a:off x="626091" y="4634190"/>
            <a:ext cx="447208" cy="357766"/>
          </a:xfrm>
          <a:prstGeom prst="rect">
            <a:avLst/>
          </a:prstGeom>
          <a:noFill/>
          <a:ln/>
        </p:spPr>
        <p:txBody>
          <a:bodyPr wrap="square" lIns="0" tIns="0" rIns="0" bIns="0" rtlCol="0" anchor="ctr"/>
          <a:lstStyle/>
          <a:p>
            <a:pPr algn="ctr">
              <a:lnSpc>
                <a:spcPct val="130000"/>
              </a:lnSpc>
            </a:pPr>
            <a:r>
              <a:rPr lang="en-US" sz="1409" b="1" dirty="0">
                <a:solidFill>
                  <a:srgbClr val="181A1F"/>
                </a:solidFill>
                <a:latin typeface="MiSans" pitchFamily="34" charset="0"/>
                <a:ea typeface="MiSans" pitchFamily="34" charset="-122"/>
                <a:cs typeface="MiSans" pitchFamily="34" charset="-120"/>
              </a:rPr>
              <a:t>1</a:t>
            </a:r>
            <a:endParaRPr lang="en-US" sz="1600" dirty="0"/>
          </a:p>
        </p:txBody>
      </p:sp>
      <p:sp>
        <p:nvSpPr>
          <p:cNvPr id="17" name="Text 15"/>
          <p:cNvSpPr/>
          <p:nvPr/>
        </p:nvSpPr>
        <p:spPr>
          <a:xfrm>
            <a:off x="1162740" y="4634190"/>
            <a:ext cx="6775197" cy="313045"/>
          </a:xfrm>
          <a:prstGeom prst="rect">
            <a:avLst/>
          </a:prstGeom>
          <a:noFill/>
          <a:ln/>
        </p:spPr>
        <p:txBody>
          <a:bodyPr wrap="square" lIns="0" tIns="0" rIns="0" bIns="0" rtlCol="0" anchor="ctr"/>
          <a:lstStyle/>
          <a:p>
            <a:pPr>
              <a:lnSpc>
                <a:spcPct val="130000"/>
              </a:lnSpc>
            </a:pPr>
            <a:r>
              <a:rPr lang="en-US" sz="1585" b="1" dirty="0">
                <a:solidFill>
                  <a:srgbClr val="D1D5DB"/>
                </a:solidFill>
                <a:latin typeface="MiSans" pitchFamily="34" charset="0"/>
                <a:ea typeface="MiSans" pitchFamily="34" charset="-122"/>
                <a:cs typeface="MiSans" pitchFamily="34" charset="-120"/>
              </a:rPr>
              <a:t>第一层：基学习器</a:t>
            </a:r>
            <a:endParaRPr lang="en-US" sz="1600" dirty="0"/>
          </a:p>
        </p:txBody>
      </p:sp>
      <p:sp>
        <p:nvSpPr>
          <p:cNvPr id="18" name="Text 16"/>
          <p:cNvSpPr/>
          <p:nvPr/>
        </p:nvSpPr>
        <p:spPr>
          <a:xfrm>
            <a:off x="1162740" y="4947235"/>
            <a:ext cx="6764017" cy="268325"/>
          </a:xfrm>
          <a:prstGeom prst="rect">
            <a:avLst/>
          </a:prstGeom>
          <a:noFill/>
          <a:ln/>
        </p:spPr>
        <p:txBody>
          <a:bodyPr wrap="square" lIns="0" tIns="0" rIns="0" bIns="0" rtlCol="0" anchor="ctr"/>
          <a:lstStyle/>
          <a:p>
            <a:pPr>
              <a:lnSpc>
                <a:spcPct val="130000"/>
              </a:lnSpc>
            </a:pPr>
            <a:r>
              <a:rPr lang="en-US" sz="1409" dirty="0">
                <a:solidFill>
                  <a:srgbClr val="7E9AA8"/>
                </a:solidFill>
                <a:latin typeface="MiSans" pitchFamily="34" charset="0"/>
                <a:ea typeface="MiSans" pitchFamily="34" charset="-122"/>
                <a:cs typeface="MiSans" pitchFamily="34" charset="-120"/>
              </a:rPr>
              <a:t>异构模型（SVM、RF、NN），关键在于差异性</a:t>
            </a:r>
            <a:endParaRPr lang="en-US" sz="1600" dirty="0"/>
          </a:p>
        </p:txBody>
      </p:sp>
      <p:sp>
        <p:nvSpPr>
          <p:cNvPr id="19" name="Shape 17"/>
          <p:cNvSpPr/>
          <p:nvPr/>
        </p:nvSpPr>
        <p:spPr>
          <a:xfrm>
            <a:off x="670812" y="5349722"/>
            <a:ext cx="357766" cy="357766"/>
          </a:xfrm>
          <a:custGeom>
            <a:avLst/>
            <a:gdLst/>
            <a:ahLst/>
            <a:cxnLst/>
            <a:rect l="l" t="t" r="r" b="b"/>
            <a:pathLst>
              <a:path w="357766" h="357766">
                <a:moveTo>
                  <a:pt x="178883" y="0"/>
                </a:moveTo>
                <a:lnTo>
                  <a:pt x="178883" y="0"/>
                </a:lnTo>
                <a:cubicBezTo>
                  <a:pt x="277611" y="0"/>
                  <a:pt x="357766" y="80155"/>
                  <a:pt x="357766" y="178883"/>
                </a:cubicBezTo>
                <a:lnTo>
                  <a:pt x="357766" y="178883"/>
                </a:lnTo>
                <a:cubicBezTo>
                  <a:pt x="357766" y="277611"/>
                  <a:pt x="277611" y="357766"/>
                  <a:pt x="178883" y="357766"/>
                </a:cubicBezTo>
                <a:lnTo>
                  <a:pt x="178883" y="357766"/>
                </a:lnTo>
                <a:cubicBezTo>
                  <a:pt x="80155" y="357766"/>
                  <a:pt x="0" y="277611"/>
                  <a:pt x="0" y="178883"/>
                </a:cubicBezTo>
                <a:lnTo>
                  <a:pt x="0" y="178883"/>
                </a:lnTo>
                <a:cubicBezTo>
                  <a:pt x="0" y="80155"/>
                  <a:pt x="80155" y="0"/>
                  <a:pt x="178883" y="0"/>
                </a:cubicBezTo>
                <a:close/>
              </a:path>
            </a:pathLst>
          </a:custGeom>
          <a:solidFill>
            <a:srgbClr val="4C7E9A"/>
          </a:solidFill>
          <a:ln/>
        </p:spPr>
      </p:sp>
      <p:sp>
        <p:nvSpPr>
          <p:cNvPr id="20" name="Text 18"/>
          <p:cNvSpPr/>
          <p:nvPr/>
        </p:nvSpPr>
        <p:spPr>
          <a:xfrm>
            <a:off x="626091" y="5349722"/>
            <a:ext cx="447208" cy="357766"/>
          </a:xfrm>
          <a:prstGeom prst="rect">
            <a:avLst/>
          </a:prstGeom>
          <a:noFill/>
          <a:ln/>
        </p:spPr>
        <p:txBody>
          <a:bodyPr wrap="square" lIns="0" tIns="0" rIns="0" bIns="0" rtlCol="0" anchor="ctr"/>
          <a:lstStyle/>
          <a:p>
            <a:pPr algn="ctr">
              <a:lnSpc>
                <a:spcPct val="130000"/>
              </a:lnSpc>
            </a:pPr>
            <a:r>
              <a:rPr lang="en-US" sz="1409" b="1" dirty="0">
                <a:solidFill>
                  <a:srgbClr val="181A1F"/>
                </a:solidFill>
                <a:latin typeface="MiSans" pitchFamily="34" charset="0"/>
                <a:ea typeface="MiSans" pitchFamily="34" charset="-122"/>
                <a:cs typeface="MiSans" pitchFamily="34" charset="-120"/>
              </a:rPr>
              <a:t>2</a:t>
            </a:r>
            <a:endParaRPr lang="en-US" sz="1600" dirty="0"/>
          </a:p>
        </p:txBody>
      </p:sp>
      <p:sp>
        <p:nvSpPr>
          <p:cNvPr id="21" name="Text 19"/>
          <p:cNvSpPr/>
          <p:nvPr/>
        </p:nvSpPr>
        <p:spPr>
          <a:xfrm>
            <a:off x="1162740" y="5349722"/>
            <a:ext cx="6775197" cy="313045"/>
          </a:xfrm>
          <a:prstGeom prst="rect">
            <a:avLst/>
          </a:prstGeom>
          <a:noFill/>
          <a:ln/>
        </p:spPr>
        <p:txBody>
          <a:bodyPr wrap="square" lIns="0" tIns="0" rIns="0" bIns="0" rtlCol="0" anchor="ctr"/>
          <a:lstStyle/>
          <a:p>
            <a:pPr>
              <a:lnSpc>
                <a:spcPct val="130000"/>
              </a:lnSpc>
            </a:pPr>
            <a:r>
              <a:rPr lang="en-US" sz="1585" b="1" dirty="0">
                <a:solidFill>
                  <a:srgbClr val="D1D5DB"/>
                </a:solidFill>
                <a:latin typeface="MiSans" pitchFamily="34" charset="0"/>
                <a:ea typeface="MiSans" pitchFamily="34" charset="-122"/>
                <a:cs typeface="MiSans" pitchFamily="34" charset="-120"/>
              </a:rPr>
              <a:t>第二层：元学习器</a:t>
            </a:r>
            <a:endParaRPr lang="en-US" sz="1600" dirty="0"/>
          </a:p>
        </p:txBody>
      </p:sp>
      <p:sp>
        <p:nvSpPr>
          <p:cNvPr id="22" name="Text 20"/>
          <p:cNvSpPr/>
          <p:nvPr/>
        </p:nvSpPr>
        <p:spPr>
          <a:xfrm>
            <a:off x="1162740" y="5662768"/>
            <a:ext cx="6764017" cy="268325"/>
          </a:xfrm>
          <a:prstGeom prst="rect">
            <a:avLst/>
          </a:prstGeom>
          <a:noFill/>
          <a:ln/>
        </p:spPr>
        <p:txBody>
          <a:bodyPr wrap="square" lIns="0" tIns="0" rIns="0" bIns="0" rtlCol="0" anchor="ctr"/>
          <a:lstStyle/>
          <a:p>
            <a:pPr>
              <a:lnSpc>
                <a:spcPct val="130000"/>
              </a:lnSpc>
            </a:pPr>
            <a:r>
              <a:rPr lang="en-US" sz="1409" dirty="0">
                <a:solidFill>
                  <a:srgbClr val="7E9AA8"/>
                </a:solidFill>
                <a:latin typeface="MiSans" pitchFamily="34" charset="0"/>
                <a:ea typeface="MiSans" pitchFamily="34" charset="-122"/>
                <a:cs typeface="MiSans" pitchFamily="34" charset="-120"/>
              </a:rPr>
              <a:t>学习基学习器的预测与真实标签的映射关系</a:t>
            </a:r>
            <a:endParaRPr lang="en-US" sz="1600" dirty="0"/>
          </a:p>
        </p:txBody>
      </p:sp>
      <p:sp>
        <p:nvSpPr>
          <p:cNvPr id="23" name="Shape 21"/>
          <p:cNvSpPr/>
          <p:nvPr/>
        </p:nvSpPr>
        <p:spPr>
          <a:xfrm>
            <a:off x="452798" y="6294448"/>
            <a:ext cx="7557810" cy="2068336"/>
          </a:xfrm>
          <a:custGeom>
            <a:avLst/>
            <a:gdLst/>
            <a:ahLst/>
            <a:cxnLst/>
            <a:rect l="l" t="t" r="r" b="b"/>
            <a:pathLst>
              <a:path w="7557810" h="2068336">
                <a:moveTo>
                  <a:pt x="89435" y="0"/>
                </a:moveTo>
                <a:lnTo>
                  <a:pt x="7468375" y="0"/>
                </a:lnTo>
                <a:cubicBezTo>
                  <a:pt x="7517769" y="0"/>
                  <a:pt x="7557810" y="40041"/>
                  <a:pt x="7557810" y="89435"/>
                </a:cubicBezTo>
                <a:lnTo>
                  <a:pt x="7557810" y="1978901"/>
                </a:lnTo>
                <a:cubicBezTo>
                  <a:pt x="7557810" y="2028294"/>
                  <a:pt x="7517769" y="2068336"/>
                  <a:pt x="7468375" y="2068336"/>
                </a:cubicBezTo>
                <a:lnTo>
                  <a:pt x="89435" y="2068336"/>
                </a:lnTo>
                <a:cubicBezTo>
                  <a:pt x="40041" y="2068336"/>
                  <a:pt x="0" y="2028294"/>
                  <a:pt x="0" y="1978901"/>
                </a:cubicBezTo>
                <a:lnTo>
                  <a:pt x="0" y="89435"/>
                </a:lnTo>
                <a:cubicBezTo>
                  <a:pt x="0" y="40074"/>
                  <a:pt x="40074" y="0"/>
                  <a:pt x="89435" y="0"/>
                </a:cubicBezTo>
                <a:close/>
              </a:path>
            </a:pathLst>
          </a:custGeom>
          <a:solidFill>
            <a:srgbClr val="3A5E78">
              <a:alpha val="20000"/>
            </a:srgbClr>
          </a:solidFill>
          <a:ln w="12700">
            <a:solidFill>
              <a:srgbClr val="4C7E9A">
                <a:alpha val="50196"/>
              </a:srgbClr>
            </a:solidFill>
            <a:prstDash val="solid"/>
          </a:ln>
        </p:spPr>
      </p:sp>
      <p:sp>
        <p:nvSpPr>
          <p:cNvPr id="24" name="Text 22"/>
          <p:cNvSpPr/>
          <p:nvPr/>
        </p:nvSpPr>
        <p:spPr>
          <a:xfrm>
            <a:off x="637271" y="6478922"/>
            <a:ext cx="7323026" cy="357766"/>
          </a:xfrm>
          <a:prstGeom prst="rect">
            <a:avLst/>
          </a:prstGeom>
          <a:noFill/>
          <a:ln/>
        </p:spPr>
        <p:txBody>
          <a:bodyPr wrap="square" lIns="0" tIns="0" rIns="0" bIns="0" rtlCol="0" anchor="ctr"/>
          <a:lstStyle/>
          <a:p>
            <a:pPr>
              <a:lnSpc>
                <a:spcPct val="110000"/>
              </a:lnSpc>
            </a:pPr>
            <a:r>
              <a:rPr lang="en-US" sz="2113" b="1" dirty="0">
                <a:solidFill>
                  <a:srgbClr val="4C7E9A"/>
                </a:solidFill>
                <a:latin typeface="MiSans" pitchFamily="34" charset="0"/>
                <a:ea typeface="MiSans" pitchFamily="34" charset="-122"/>
                <a:cs typeface="MiSans" pitchFamily="34" charset="-120"/>
              </a:rPr>
              <a:t>关键技术</a:t>
            </a:r>
            <a:endParaRPr lang="en-US" sz="1600" dirty="0"/>
          </a:p>
        </p:txBody>
      </p:sp>
      <p:sp>
        <p:nvSpPr>
          <p:cNvPr id="25" name="Text 23"/>
          <p:cNvSpPr/>
          <p:nvPr/>
        </p:nvSpPr>
        <p:spPr>
          <a:xfrm>
            <a:off x="637271" y="6926129"/>
            <a:ext cx="7289486" cy="313045"/>
          </a:xfrm>
          <a:prstGeom prst="rect">
            <a:avLst/>
          </a:prstGeom>
          <a:noFill/>
          <a:ln/>
        </p:spPr>
        <p:txBody>
          <a:bodyPr wrap="square" lIns="0" tIns="0" rIns="0" bIns="0" rtlCol="0" anchor="ctr"/>
          <a:lstStyle/>
          <a:p>
            <a:pPr>
              <a:lnSpc>
                <a:spcPct val="130000"/>
              </a:lnSpc>
            </a:pPr>
            <a:r>
              <a:rPr lang="en-US" sz="1585" b="1" dirty="0">
                <a:solidFill>
                  <a:srgbClr val="D1D5DB"/>
                </a:solidFill>
                <a:latin typeface="MiSans" pitchFamily="34" charset="0"/>
                <a:ea typeface="MiSans" pitchFamily="34" charset="-122"/>
                <a:cs typeface="MiSans" pitchFamily="34" charset="-120"/>
              </a:rPr>
              <a:t>交叉验证生成元特征</a:t>
            </a:r>
            <a:endParaRPr lang="en-US" sz="1600" dirty="0"/>
          </a:p>
        </p:txBody>
      </p:sp>
      <p:sp>
        <p:nvSpPr>
          <p:cNvPr id="26" name="Text 24"/>
          <p:cNvSpPr/>
          <p:nvPr/>
        </p:nvSpPr>
        <p:spPr>
          <a:xfrm>
            <a:off x="637271" y="7283895"/>
            <a:ext cx="7267125" cy="223604"/>
          </a:xfrm>
          <a:prstGeom prst="rect">
            <a:avLst/>
          </a:prstGeom>
          <a:noFill/>
          <a:ln/>
        </p:spPr>
        <p:txBody>
          <a:bodyPr wrap="square" lIns="0" tIns="0" rIns="0" bIns="0" rtlCol="0" anchor="ctr"/>
          <a:lstStyle/>
          <a:p>
            <a:pPr>
              <a:lnSpc>
                <a:spcPct val="120000"/>
              </a:lnSpc>
            </a:pPr>
            <a:r>
              <a:rPr lang="en-US" sz="1232" dirty="0">
                <a:solidFill>
                  <a:srgbClr val="7E9AA8"/>
                </a:solidFill>
                <a:latin typeface="MiSans" pitchFamily="34" charset="0"/>
                <a:ea typeface="MiSans" pitchFamily="34" charset="-122"/>
                <a:cs typeface="MiSans" pitchFamily="34" charset="-120"/>
              </a:rPr>
              <a:t>使用K折交叉验证避免数据泄露，生成无偏的元特征矩阵</a:t>
            </a:r>
            <a:endParaRPr lang="en-US" sz="1600" dirty="0"/>
          </a:p>
        </p:txBody>
      </p:sp>
      <p:sp>
        <p:nvSpPr>
          <p:cNvPr id="27" name="Text 25"/>
          <p:cNvSpPr/>
          <p:nvPr/>
        </p:nvSpPr>
        <p:spPr>
          <a:xfrm>
            <a:off x="637271" y="7596941"/>
            <a:ext cx="7289486" cy="313045"/>
          </a:xfrm>
          <a:prstGeom prst="rect">
            <a:avLst/>
          </a:prstGeom>
          <a:noFill/>
          <a:ln/>
        </p:spPr>
        <p:txBody>
          <a:bodyPr wrap="square" lIns="0" tIns="0" rIns="0" bIns="0" rtlCol="0" anchor="ctr"/>
          <a:lstStyle/>
          <a:p>
            <a:pPr>
              <a:lnSpc>
                <a:spcPct val="130000"/>
              </a:lnSpc>
            </a:pPr>
            <a:r>
              <a:rPr lang="en-US" sz="1585" b="1" dirty="0">
                <a:solidFill>
                  <a:srgbClr val="D1D5DB"/>
                </a:solidFill>
                <a:latin typeface="MiSans" pitchFamily="34" charset="0"/>
                <a:ea typeface="MiSans" pitchFamily="34" charset="-122"/>
                <a:cs typeface="MiSans" pitchFamily="34" charset="-120"/>
              </a:rPr>
              <a:t>元学习器选择</a:t>
            </a:r>
            <a:endParaRPr lang="en-US" sz="1600" dirty="0"/>
          </a:p>
        </p:txBody>
      </p:sp>
      <p:sp>
        <p:nvSpPr>
          <p:cNvPr id="28" name="Text 26"/>
          <p:cNvSpPr/>
          <p:nvPr/>
        </p:nvSpPr>
        <p:spPr>
          <a:xfrm>
            <a:off x="637271" y="7954707"/>
            <a:ext cx="7267125" cy="223604"/>
          </a:xfrm>
          <a:prstGeom prst="rect">
            <a:avLst/>
          </a:prstGeom>
          <a:noFill/>
          <a:ln/>
        </p:spPr>
        <p:txBody>
          <a:bodyPr wrap="square" lIns="0" tIns="0" rIns="0" bIns="0" rtlCol="0" anchor="ctr"/>
          <a:lstStyle/>
          <a:p>
            <a:pPr>
              <a:lnSpc>
                <a:spcPct val="120000"/>
              </a:lnSpc>
            </a:pPr>
            <a:r>
              <a:rPr lang="en-US" sz="1232" dirty="0">
                <a:solidFill>
                  <a:srgbClr val="7E9AA8"/>
                </a:solidFill>
                <a:latin typeface="MiSans" pitchFamily="34" charset="0"/>
                <a:ea typeface="MiSans" pitchFamily="34" charset="-122"/>
                <a:cs typeface="MiSans" pitchFamily="34" charset="-120"/>
              </a:rPr>
              <a:t>通常选择简单线性模型（逻辑回归）以避免过拟合</a:t>
            </a:r>
            <a:endParaRPr lang="en-US" sz="1600" dirty="0"/>
          </a:p>
        </p:txBody>
      </p:sp>
      <p:pic>
        <p:nvPicPr>
          <p:cNvPr id="29" name="Image 0" descr="https://kimi-img.moonshot.cn/pub/slides/26-01-07-11:57:46-d5etjegnnlr5sv0ptbv0.png">    </p:cNvPr>
          <p:cNvPicPr>
            <a:picLocks noChangeAspect="1"/>
          </p:cNvPicPr>
          <p:nvPr/>
        </p:nvPicPr>
        <p:blipFill>
          <a:blip r:embed="rId1"/>
          <a:srcRect l="0" r="0" t="0" b="0"/>
          <a:stretch/>
        </p:blipFill>
        <p:spPr>
          <a:xfrm>
            <a:off x="8241025" y="1609948"/>
            <a:ext cx="6596314" cy="3130454"/>
          </a:xfrm>
          <a:prstGeom prst="roundRect">
            <a:avLst>
              <a:gd name="adj" fmla="val 0"/>
            </a:avLst>
          </a:prstGeom>
        </p:spPr>
      </p:pic>
      <p:sp>
        <p:nvSpPr>
          <p:cNvPr id="30" name="Shape 27"/>
          <p:cNvSpPr/>
          <p:nvPr/>
        </p:nvSpPr>
        <p:spPr>
          <a:xfrm>
            <a:off x="8246615" y="4924875"/>
            <a:ext cx="7557810" cy="2023615"/>
          </a:xfrm>
          <a:custGeom>
            <a:avLst/>
            <a:gdLst/>
            <a:ahLst/>
            <a:cxnLst/>
            <a:rect l="l" t="t" r="r" b="b"/>
            <a:pathLst>
              <a:path w="7557810" h="2023615">
                <a:moveTo>
                  <a:pt x="89444" y="0"/>
                </a:moveTo>
                <a:lnTo>
                  <a:pt x="7468366" y="0"/>
                </a:lnTo>
                <a:cubicBezTo>
                  <a:pt x="7517765" y="0"/>
                  <a:pt x="7557810" y="40045"/>
                  <a:pt x="7557810" y="89444"/>
                </a:cubicBezTo>
                <a:lnTo>
                  <a:pt x="7557810" y="1934171"/>
                </a:lnTo>
                <a:cubicBezTo>
                  <a:pt x="7557810" y="1983570"/>
                  <a:pt x="7517765" y="2023615"/>
                  <a:pt x="7468366" y="2023615"/>
                </a:cubicBezTo>
                <a:lnTo>
                  <a:pt x="89444" y="2023615"/>
                </a:lnTo>
                <a:cubicBezTo>
                  <a:pt x="40045" y="2023615"/>
                  <a:pt x="0" y="1983570"/>
                  <a:pt x="0" y="1934171"/>
                </a:cubicBezTo>
                <a:lnTo>
                  <a:pt x="0" y="89444"/>
                </a:lnTo>
                <a:cubicBezTo>
                  <a:pt x="0" y="40078"/>
                  <a:pt x="40078" y="0"/>
                  <a:pt x="89444" y="0"/>
                </a:cubicBezTo>
                <a:close/>
              </a:path>
            </a:pathLst>
          </a:custGeom>
          <a:solidFill>
            <a:srgbClr val="3A5E78">
              <a:alpha val="20000"/>
            </a:srgbClr>
          </a:solidFill>
          <a:ln w="12700">
            <a:solidFill>
              <a:srgbClr val="4C7E9A">
                <a:alpha val="50196"/>
              </a:srgbClr>
            </a:solidFill>
            <a:prstDash val="solid"/>
          </a:ln>
        </p:spPr>
      </p:sp>
      <p:sp>
        <p:nvSpPr>
          <p:cNvPr id="31" name="Text 28"/>
          <p:cNvSpPr/>
          <p:nvPr/>
        </p:nvSpPr>
        <p:spPr>
          <a:xfrm>
            <a:off x="8431088" y="5109348"/>
            <a:ext cx="7323026" cy="357766"/>
          </a:xfrm>
          <a:prstGeom prst="rect">
            <a:avLst/>
          </a:prstGeom>
          <a:noFill/>
          <a:ln/>
        </p:spPr>
        <p:txBody>
          <a:bodyPr wrap="square" lIns="0" tIns="0" rIns="0" bIns="0" rtlCol="0" anchor="ctr"/>
          <a:lstStyle/>
          <a:p>
            <a:pPr>
              <a:lnSpc>
                <a:spcPct val="110000"/>
              </a:lnSpc>
            </a:pPr>
            <a:r>
              <a:rPr lang="en-US" sz="2113" b="1" dirty="0">
                <a:solidFill>
                  <a:srgbClr val="4C7E9A"/>
                </a:solidFill>
                <a:latin typeface="MiSans" pitchFamily="34" charset="0"/>
                <a:ea typeface="MiSans" pitchFamily="34" charset="-122"/>
                <a:cs typeface="MiSans" pitchFamily="34" charset="-120"/>
              </a:rPr>
              <a:t>数学表达</a:t>
            </a:r>
            <a:endParaRPr lang="en-US" sz="1600" dirty="0"/>
          </a:p>
        </p:txBody>
      </p:sp>
      <p:sp>
        <p:nvSpPr>
          <p:cNvPr id="32" name="Shape 29"/>
          <p:cNvSpPr/>
          <p:nvPr/>
        </p:nvSpPr>
        <p:spPr>
          <a:xfrm>
            <a:off x="8431088" y="5601276"/>
            <a:ext cx="7188864" cy="581370"/>
          </a:xfrm>
          <a:custGeom>
            <a:avLst/>
            <a:gdLst/>
            <a:ahLst/>
            <a:cxnLst/>
            <a:rect l="l" t="t" r="r" b="b"/>
            <a:pathLst>
              <a:path w="7188864" h="581370">
                <a:moveTo>
                  <a:pt x="44719" y="0"/>
                </a:moveTo>
                <a:lnTo>
                  <a:pt x="7144145" y="0"/>
                </a:lnTo>
                <a:cubicBezTo>
                  <a:pt x="7168842" y="0"/>
                  <a:pt x="7188864" y="20021"/>
                  <a:pt x="7188864" y="44719"/>
                </a:cubicBezTo>
                <a:lnTo>
                  <a:pt x="7188864" y="536651"/>
                </a:lnTo>
                <a:cubicBezTo>
                  <a:pt x="7188864" y="561349"/>
                  <a:pt x="7168842" y="581370"/>
                  <a:pt x="7144145" y="581370"/>
                </a:cubicBezTo>
                <a:lnTo>
                  <a:pt x="44719" y="581370"/>
                </a:lnTo>
                <a:cubicBezTo>
                  <a:pt x="20021" y="581370"/>
                  <a:pt x="0" y="561349"/>
                  <a:pt x="0" y="536651"/>
                </a:cubicBezTo>
                <a:lnTo>
                  <a:pt x="0" y="44719"/>
                </a:lnTo>
                <a:cubicBezTo>
                  <a:pt x="0" y="20038"/>
                  <a:pt x="20038" y="0"/>
                  <a:pt x="44719" y="0"/>
                </a:cubicBezTo>
                <a:close/>
              </a:path>
            </a:pathLst>
          </a:custGeom>
          <a:solidFill>
            <a:srgbClr val="181A1F"/>
          </a:solidFill>
          <a:ln/>
        </p:spPr>
      </p:sp>
      <p:sp>
        <p:nvSpPr>
          <p:cNvPr id="33" name="Text 30"/>
          <p:cNvSpPr/>
          <p:nvPr/>
        </p:nvSpPr>
        <p:spPr>
          <a:xfrm>
            <a:off x="8514939" y="5735439"/>
            <a:ext cx="7021161" cy="313045"/>
          </a:xfrm>
          <a:prstGeom prst="rect">
            <a:avLst/>
          </a:prstGeom>
          <a:noFill/>
          <a:ln/>
        </p:spPr>
        <p:txBody>
          <a:bodyPr wrap="square" lIns="0" tIns="0" rIns="0" bIns="0" rtlCol="0" anchor="ctr"/>
          <a:lstStyle/>
          <a:p>
            <a:pPr algn="ctr">
              <a:lnSpc>
                <a:spcPct val="130000"/>
              </a:lnSpc>
            </a:pPr>
            <a:r>
              <a:rPr lang="en-US" sz="1585" dirty="0">
                <a:solidFill>
                  <a:srgbClr val="7E9AA8"/>
                </a:solidFill>
                <a:latin typeface="MiSans" pitchFamily="34" charset="0"/>
                <a:ea typeface="MiSans" pitchFamily="34" charset="-122"/>
                <a:cs typeface="MiSans" pitchFamily="34" charset="-120"/>
              </a:rPr>
              <a:t>f(x) = g(h₁(x), h₂(x), ..., h_M(x))</a:t>
            </a:r>
            <a:endParaRPr lang="en-US" sz="1600" dirty="0"/>
          </a:p>
        </p:txBody>
      </p:sp>
      <p:sp>
        <p:nvSpPr>
          <p:cNvPr id="34" name="Text 31"/>
          <p:cNvSpPr/>
          <p:nvPr/>
        </p:nvSpPr>
        <p:spPr>
          <a:xfrm>
            <a:off x="8431088" y="6272088"/>
            <a:ext cx="7267125" cy="223604"/>
          </a:xfrm>
          <a:prstGeom prst="rect">
            <a:avLst/>
          </a:prstGeom>
          <a:noFill/>
          <a:ln/>
        </p:spPr>
        <p:txBody>
          <a:bodyPr wrap="square" lIns="0" tIns="0" rIns="0" bIns="0" rtlCol="0" anchor="ctr"/>
          <a:lstStyle/>
          <a:p>
            <a:pPr>
              <a:lnSpc>
                <a:spcPct val="120000"/>
              </a:lnSpc>
            </a:pPr>
            <a:r>
              <a:rPr lang="en-US" sz="1232" b="1" dirty="0">
                <a:solidFill>
                  <a:srgbClr val="D1D5DB"/>
                </a:solidFill>
                <a:latin typeface="MiSans" pitchFamily="34" charset="0"/>
                <a:ea typeface="MiSans" pitchFamily="34" charset="-122"/>
                <a:cs typeface="MiSans" pitchFamily="34" charset="-120"/>
              </a:rPr>
              <a:t>h₁...h_M：</a:t>
            </a:r>
            <a:pPr>
              <a:lnSpc>
                <a:spcPct val="120000"/>
              </a:lnSpc>
            </a:pPr>
            <a:r>
              <a:rPr lang="en-US" sz="1232" dirty="0">
                <a:solidFill>
                  <a:srgbClr val="7E9AA8"/>
                </a:solidFill>
                <a:latin typeface="MiSans" pitchFamily="34" charset="0"/>
                <a:ea typeface="MiSans" pitchFamily="34" charset="-122"/>
                <a:cs typeface="MiSans" pitchFamily="34" charset="-120"/>
              </a:rPr>
              <a:t>基学习器</a:t>
            </a:r>
            <a:endParaRPr lang="en-US" sz="1600" dirty="0"/>
          </a:p>
        </p:txBody>
      </p:sp>
      <p:sp>
        <p:nvSpPr>
          <p:cNvPr id="35" name="Text 32"/>
          <p:cNvSpPr/>
          <p:nvPr/>
        </p:nvSpPr>
        <p:spPr>
          <a:xfrm>
            <a:off x="8431088" y="6540413"/>
            <a:ext cx="7267125" cy="223604"/>
          </a:xfrm>
          <a:prstGeom prst="rect">
            <a:avLst/>
          </a:prstGeom>
          <a:noFill/>
          <a:ln/>
        </p:spPr>
        <p:txBody>
          <a:bodyPr wrap="square" lIns="0" tIns="0" rIns="0" bIns="0" rtlCol="0" anchor="ctr"/>
          <a:lstStyle/>
          <a:p>
            <a:pPr>
              <a:lnSpc>
                <a:spcPct val="120000"/>
              </a:lnSpc>
            </a:pPr>
            <a:r>
              <a:rPr lang="en-US" sz="1232" b="1" dirty="0">
                <a:solidFill>
                  <a:srgbClr val="D1D5DB"/>
                </a:solidFill>
                <a:latin typeface="MiSans" pitchFamily="34" charset="0"/>
                <a:ea typeface="MiSans" pitchFamily="34" charset="-122"/>
                <a:cs typeface="MiSans" pitchFamily="34" charset="-120"/>
              </a:rPr>
              <a:t>g：</a:t>
            </a:r>
            <a:pPr>
              <a:lnSpc>
                <a:spcPct val="120000"/>
              </a:lnSpc>
            </a:pPr>
            <a:r>
              <a:rPr lang="en-US" sz="1232" dirty="0">
                <a:solidFill>
                  <a:srgbClr val="7E9AA8"/>
                </a:solidFill>
                <a:latin typeface="MiSans" pitchFamily="34" charset="0"/>
                <a:ea typeface="MiSans" pitchFamily="34" charset="-122"/>
                <a:cs typeface="MiSans" pitchFamily="34" charset="-120"/>
              </a:rPr>
              <a:t>元学习器</a:t>
            </a:r>
            <a:endParaRPr lang="en-US" sz="1600" dirty="0"/>
          </a:p>
        </p:txBody>
      </p:sp>
      <p:sp>
        <p:nvSpPr>
          <p:cNvPr id="36" name="Shape 33"/>
          <p:cNvSpPr/>
          <p:nvPr/>
        </p:nvSpPr>
        <p:spPr>
          <a:xfrm>
            <a:off x="8241025" y="7132963"/>
            <a:ext cx="3723004" cy="1431065"/>
          </a:xfrm>
          <a:custGeom>
            <a:avLst/>
            <a:gdLst/>
            <a:ahLst/>
            <a:cxnLst/>
            <a:rect l="l" t="t" r="r" b="b"/>
            <a:pathLst>
              <a:path w="3723004" h="1431065">
                <a:moveTo>
                  <a:pt x="89442" y="0"/>
                </a:moveTo>
                <a:lnTo>
                  <a:pt x="3633563" y="0"/>
                </a:lnTo>
                <a:cubicBezTo>
                  <a:pt x="3682960" y="0"/>
                  <a:pt x="3723004" y="40044"/>
                  <a:pt x="3723004" y="89442"/>
                </a:cubicBezTo>
                <a:lnTo>
                  <a:pt x="3723004" y="1341623"/>
                </a:lnTo>
                <a:cubicBezTo>
                  <a:pt x="3723004" y="1391020"/>
                  <a:pt x="3682960" y="1431065"/>
                  <a:pt x="3633563" y="1431065"/>
                </a:cubicBezTo>
                <a:lnTo>
                  <a:pt x="89442" y="1431065"/>
                </a:lnTo>
                <a:cubicBezTo>
                  <a:pt x="40044" y="1431065"/>
                  <a:pt x="0" y="1391020"/>
                  <a:pt x="0" y="1341623"/>
                </a:cubicBezTo>
                <a:lnTo>
                  <a:pt x="0" y="89442"/>
                </a:lnTo>
                <a:cubicBezTo>
                  <a:pt x="0" y="40077"/>
                  <a:pt x="40077" y="0"/>
                  <a:pt x="89442" y="0"/>
                </a:cubicBezTo>
                <a:close/>
              </a:path>
            </a:pathLst>
          </a:custGeom>
          <a:solidFill>
            <a:srgbClr val="3A5E78">
              <a:alpha val="20000"/>
            </a:srgbClr>
          </a:solidFill>
          <a:ln/>
        </p:spPr>
      </p:sp>
      <p:sp>
        <p:nvSpPr>
          <p:cNvPr id="37" name="Text 34"/>
          <p:cNvSpPr/>
          <p:nvPr/>
        </p:nvSpPr>
        <p:spPr>
          <a:xfrm>
            <a:off x="8375187" y="7267125"/>
            <a:ext cx="3555301" cy="313045"/>
          </a:xfrm>
          <a:prstGeom prst="rect">
            <a:avLst/>
          </a:prstGeom>
          <a:noFill/>
          <a:ln/>
        </p:spPr>
        <p:txBody>
          <a:bodyPr wrap="square" lIns="0" tIns="0" rIns="0" bIns="0" rtlCol="0" anchor="ctr"/>
          <a:lstStyle/>
          <a:p>
            <a:pPr>
              <a:lnSpc>
                <a:spcPct val="130000"/>
              </a:lnSpc>
            </a:pPr>
            <a:r>
              <a:rPr lang="en-US" sz="1585" b="1" dirty="0">
                <a:solidFill>
                  <a:srgbClr val="4C7E9A"/>
                </a:solidFill>
                <a:latin typeface="MiSans" pitchFamily="34" charset="0"/>
                <a:ea typeface="MiSans" pitchFamily="34" charset="-122"/>
                <a:cs typeface="MiSans" pitchFamily="34" charset="-120"/>
              </a:rPr>
              <a:t>变体方法</a:t>
            </a:r>
            <a:endParaRPr lang="en-US" sz="1600" dirty="0"/>
          </a:p>
        </p:txBody>
      </p:sp>
      <p:sp>
        <p:nvSpPr>
          <p:cNvPr id="38" name="Text 35"/>
          <p:cNvSpPr/>
          <p:nvPr/>
        </p:nvSpPr>
        <p:spPr>
          <a:xfrm>
            <a:off x="8375187" y="7669612"/>
            <a:ext cx="3544121" cy="536649"/>
          </a:xfrm>
          <a:prstGeom prst="rect">
            <a:avLst/>
          </a:prstGeom>
          <a:noFill/>
          <a:ln/>
        </p:spPr>
        <p:txBody>
          <a:bodyPr wrap="square" lIns="0" tIns="0" rIns="0" bIns="0" rtlCol="0" anchor="ctr"/>
          <a:lstStyle/>
          <a:p>
            <a:pPr>
              <a:lnSpc>
                <a:spcPct val="130000"/>
              </a:lnSpc>
            </a:pPr>
            <a:r>
              <a:rPr lang="en-US" sz="1409" b="1" dirty="0">
                <a:solidFill>
                  <a:srgbClr val="D1D5DB"/>
                </a:solidFill>
                <a:latin typeface="MiSans" pitchFamily="34" charset="0"/>
                <a:ea typeface="MiSans" pitchFamily="34" charset="-122"/>
                <a:cs typeface="MiSans" pitchFamily="34" charset="-120"/>
              </a:rPr>
              <a:t>Blending：</a:t>
            </a:r>
            <a:pPr>
              <a:lnSpc>
                <a:spcPct val="130000"/>
              </a:lnSpc>
            </a:pPr>
            <a:r>
              <a:rPr lang="en-US" sz="1409" dirty="0">
                <a:solidFill>
                  <a:srgbClr val="7E9AA8"/>
                </a:solidFill>
                <a:latin typeface="MiSans" pitchFamily="34" charset="0"/>
                <a:ea typeface="MiSans" pitchFamily="34" charset="-122"/>
                <a:cs typeface="MiSans" pitchFamily="34" charset="-120"/>
              </a:rPr>
              <a:t>使用简单的hold-out验证集，是Stacking的简化版本</a:t>
            </a:r>
            <a:endParaRPr lang="en-US" sz="1600" dirty="0"/>
          </a:p>
        </p:txBody>
      </p:sp>
      <p:sp>
        <p:nvSpPr>
          <p:cNvPr id="39" name="Shape 36"/>
          <p:cNvSpPr/>
          <p:nvPr/>
        </p:nvSpPr>
        <p:spPr>
          <a:xfrm>
            <a:off x="12093213" y="7132963"/>
            <a:ext cx="3723004" cy="1431065"/>
          </a:xfrm>
          <a:custGeom>
            <a:avLst/>
            <a:gdLst/>
            <a:ahLst/>
            <a:cxnLst/>
            <a:rect l="l" t="t" r="r" b="b"/>
            <a:pathLst>
              <a:path w="3723004" h="1431065">
                <a:moveTo>
                  <a:pt x="89442" y="0"/>
                </a:moveTo>
                <a:lnTo>
                  <a:pt x="3633563" y="0"/>
                </a:lnTo>
                <a:cubicBezTo>
                  <a:pt x="3682960" y="0"/>
                  <a:pt x="3723004" y="40044"/>
                  <a:pt x="3723004" y="89442"/>
                </a:cubicBezTo>
                <a:lnTo>
                  <a:pt x="3723004" y="1341623"/>
                </a:lnTo>
                <a:cubicBezTo>
                  <a:pt x="3723004" y="1391020"/>
                  <a:pt x="3682960" y="1431065"/>
                  <a:pt x="3633563" y="1431065"/>
                </a:cubicBezTo>
                <a:lnTo>
                  <a:pt x="89442" y="1431065"/>
                </a:lnTo>
                <a:cubicBezTo>
                  <a:pt x="40044" y="1431065"/>
                  <a:pt x="0" y="1391020"/>
                  <a:pt x="0" y="1341623"/>
                </a:cubicBezTo>
                <a:lnTo>
                  <a:pt x="0" y="89442"/>
                </a:lnTo>
                <a:cubicBezTo>
                  <a:pt x="0" y="40077"/>
                  <a:pt x="40077" y="0"/>
                  <a:pt x="89442" y="0"/>
                </a:cubicBezTo>
                <a:close/>
              </a:path>
            </a:pathLst>
          </a:custGeom>
          <a:solidFill>
            <a:srgbClr val="4C7E9A">
              <a:alpha val="10196"/>
            </a:srgbClr>
          </a:solidFill>
          <a:ln/>
        </p:spPr>
      </p:sp>
      <p:sp>
        <p:nvSpPr>
          <p:cNvPr id="40" name="Text 37"/>
          <p:cNvSpPr/>
          <p:nvPr/>
        </p:nvSpPr>
        <p:spPr>
          <a:xfrm>
            <a:off x="12227375" y="7267125"/>
            <a:ext cx="3555301" cy="313045"/>
          </a:xfrm>
          <a:prstGeom prst="rect">
            <a:avLst/>
          </a:prstGeom>
          <a:noFill/>
          <a:ln/>
        </p:spPr>
        <p:txBody>
          <a:bodyPr wrap="square" lIns="0" tIns="0" rIns="0" bIns="0" rtlCol="0" anchor="ctr"/>
          <a:lstStyle/>
          <a:p>
            <a:pPr>
              <a:lnSpc>
                <a:spcPct val="130000"/>
              </a:lnSpc>
            </a:pPr>
            <a:r>
              <a:rPr lang="en-US" sz="1585" b="1" dirty="0">
                <a:solidFill>
                  <a:srgbClr val="4C7E9A"/>
                </a:solidFill>
                <a:latin typeface="MiSans" pitchFamily="34" charset="0"/>
                <a:ea typeface="MiSans" pitchFamily="34" charset="-122"/>
                <a:cs typeface="MiSans" pitchFamily="34" charset="-120"/>
              </a:rPr>
              <a:t>适用场景</a:t>
            </a:r>
            <a:endParaRPr lang="en-US" sz="1600" dirty="0"/>
          </a:p>
        </p:txBody>
      </p:sp>
      <p:sp>
        <p:nvSpPr>
          <p:cNvPr id="41" name="Text 38"/>
          <p:cNvSpPr/>
          <p:nvPr/>
        </p:nvSpPr>
        <p:spPr>
          <a:xfrm>
            <a:off x="12227375" y="7669612"/>
            <a:ext cx="3532941" cy="223604"/>
          </a:xfrm>
          <a:prstGeom prst="rect">
            <a:avLst/>
          </a:prstGeom>
          <a:noFill/>
          <a:ln/>
        </p:spPr>
        <p:txBody>
          <a:bodyPr wrap="square" lIns="0" tIns="0" rIns="0" bIns="0" rtlCol="0" anchor="ctr"/>
          <a:lstStyle/>
          <a:p>
            <a:pPr>
              <a:lnSpc>
                <a:spcPct val="120000"/>
              </a:lnSpc>
            </a:pPr>
            <a:r>
              <a:rPr lang="en-US" sz="1232" dirty="0">
                <a:solidFill>
                  <a:srgbClr val="7E9AA8"/>
                </a:solidFill>
                <a:latin typeface="MiSans" pitchFamily="34" charset="0"/>
                <a:ea typeface="MiSans" pitchFamily="34" charset="-122"/>
                <a:cs typeface="MiSans" pitchFamily="34" charset="-120"/>
              </a:rPr>
              <a:t>✓ 复杂问题场景</a:t>
            </a:r>
            <a:endParaRPr lang="en-US" sz="1600" dirty="0"/>
          </a:p>
        </p:txBody>
      </p:sp>
      <p:sp>
        <p:nvSpPr>
          <p:cNvPr id="42" name="Text 39"/>
          <p:cNvSpPr/>
          <p:nvPr/>
        </p:nvSpPr>
        <p:spPr>
          <a:xfrm>
            <a:off x="12227375" y="7937937"/>
            <a:ext cx="3532941" cy="223604"/>
          </a:xfrm>
          <a:prstGeom prst="rect">
            <a:avLst/>
          </a:prstGeom>
          <a:noFill/>
          <a:ln/>
        </p:spPr>
        <p:txBody>
          <a:bodyPr wrap="square" lIns="0" tIns="0" rIns="0" bIns="0" rtlCol="0" anchor="ctr"/>
          <a:lstStyle/>
          <a:p>
            <a:pPr>
              <a:lnSpc>
                <a:spcPct val="120000"/>
              </a:lnSpc>
            </a:pPr>
            <a:r>
              <a:rPr lang="en-US" sz="1232" dirty="0">
                <a:solidFill>
                  <a:srgbClr val="7E9AA8"/>
                </a:solidFill>
                <a:latin typeface="MiSans" pitchFamily="34" charset="0"/>
                <a:ea typeface="MiSans" pitchFamily="34" charset="-122"/>
                <a:cs typeface="MiSans" pitchFamily="34" charset="-120"/>
              </a:rPr>
              <a:t>✓ 多模态数据</a:t>
            </a:r>
            <a:endParaRPr lang="en-US" sz="1600" dirty="0"/>
          </a:p>
        </p:txBody>
      </p:sp>
      <p:sp>
        <p:nvSpPr>
          <p:cNvPr id="43" name="Text 40"/>
          <p:cNvSpPr/>
          <p:nvPr/>
        </p:nvSpPr>
        <p:spPr>
          <a:xfrm>
            <a:off x="12227375" y="8206261"/>
            <a:ext cx="3532941" cy="223604"/>
          </a:xfrm>
          <a:prstGeom prst="rect">
            <a:avLst/>
          </a:prstGeom>
          <a:noFill/>
          <a:ln/>
        </p:spPr>
        <p:txBody>
          <a:bodyPr wrap="square" lIns="0" tIns="0" rIns="0" bIns="0" rtlCol="0" anchor="ctr"/>
          <a:lstStyle/>
          <a:p>
            <a:pPr>
              <a:lnSpc>
                <a:spcPct val="120000"/>
              </a:lnSpc>
            </a:pPr>
            <a:r>
              <a:rPr lang="en-US" sz="1232" dirty="0">
                <a:solidFill>
                  <a:srgbClr val="7E9AA8"/>
                </a:solidFill>
                <a:latin typeface="MiSans" pitchFamily="34" charset="0"/>
                <a:ea typeface="MiSans" pitchFamily="34" charset="-122"/>
                <a:cs typeface="MiSans" pitchFamily="34" charset="-120"/>
              </a:rPr>
              <a:t>✓ 极致精度要求</a:t>
            </a:r>
            <a:endParaRPr lang="en-US" sz="16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81A1F"/>
        </a:solidFill>
      </p:bgPr>
    </p:bg>
    <p:spTree>
      <p:nvGrpSpPr>
        <p:cNvPr id="1" name=""/>
        <p:cNvGrpSpPr/>
        <p:nvPr/>
      </p:nvGrpSpPr>
      <p:grpSpPr>
        <a:xfrm>
          <a:off x="0" y="0"/>
          <a:ext cx="0" cy="0"/>
          <a:chOff x="0" y="0"/>
          <a:chExt cx="0" cy="0"/>
        </a:xfrm>
      </p:grpSpPr>
      <p:pic>
        <p:nvPicPr>
          <p:cNvPr id="2" name="Image 0" descr="https://kimi-web-img.moonshot.cn/img/cdn.pixabay.com/306e733b7f43b357e2ccd83f18638da7ec298b7c.jpg">    </p:cNvPr>
          <p:cNvPicPr>
            <a:picLocks noChangeAspect="1"/>
          </p:cNvPicPr>
          <p:nvPr/>
        </p:nvPicPr>
        <p:blipFill>
          <a:blip r:embed="rId1">
            <a:alphaModFix amt="30000"/>
          </a:blip>
          <a:srcRect l="0" r="0" t="7796" b="7796"/>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rotWithShape="1" flip="none">
            <a:gsLst>
              <a:gs pos="0">
                <a:srgbClr val="181A1F"/>
              </a:gs>
              <a:gs pos="50000">
                <a:srgbClr val="181A1F">
                  <a:alpha val="95000"/>
                </a:srgbClr>
              </a:gs>
              <a:gs pos="100000">
                <a:srgbClr val="181A1F">
                  <a:alpha val="70000"/>
                </a:srgbClr>
              </a:gs>
            </a:gsLst>
            <a:lin ang="0" scaled="1"/>
          </a:gradFill>
          <a:ln/>
        </p:spPr>
      </p:sp>
      <p:sp>
        <p:nvSpPr>
          <p:cNvPr id="4" name="Shape 1"/>
          <p:cNvSpPr/>
          <p:nvPr/>
        </p:nvSpPr>
        <p:spPr>
          <a:xfrm>
            <a:off x="520700" y="1073150"/>
            <a:ext cx="2349500" cy="787400"/>
          </a:xfrm>
          <a:custGeom>
            <a:avLst/>
            <a:gdLst/>
            <a:ahLst/>
            <a:cxnLst/>
            <a:rect l="l" t="t" r="r" b="b"/>
            <a:pathLst>
              <a:path w="2349500" h="787400">
                <a:moveTo>
                  <a:pt x="101598" y="0"/>
                </a:moveTo>
                <a:lnTo>
                  <a:pt x="2247902" y="0"/>
                </a:lnTo>
                <a:cubicBezTo>
                  <a:pt x="2304013" y="0"/>
                  <a:pt x="2349500" y="45487"/>
                  <a:pt x="2349500" y="101598"/>
                </a:cubicBezTo>
                <a:lnTo>
                  <a:pt x="2349500" y="685802"/>
                </a:lnTo>
                <a:cubicBezTo>
                  <a:pt x="2349500" y="741913"/>
                  <a:pt x="2304013" y="787400"/>
                  <a:pt x="2247902" y="787400"/>
                </a:cubicBezTo>
                <a:lnTo>
                  <a:pt x="101598" y="787400"/>
                </a:lnTo>
                <a:cubicBezTo>
                  <a:pt x="45487" y="787400"/>
                  <a:pt x="0" y="741913"/>
                  <a:pt x="0" y="685802"/>
                </a:cubicBezTo>
                <a:lnTo>
                  <a:pt x="0" y="101598"/>
                </a:lnTo>
                <a:cubicBezTo>
                  <a:pt x="0" y="45525"/>
                  <a:pt x="45525" y="0"/>
                  <a:pt x="101598" y="0"/>
                </a:cubicBezTo>
                <a:close/>
              </a:path>
            </a:pathLst>
          </a:custGeom>
          <a:solidFill>
            <a:srgbClr val="4C7E9A">
              <a:alpha val="20000"/>
            </a:srgbClr>
          </a:solidFill>
          <a:ln w="25400">
            <a:solidFill>
              <a:srgbClr val="4C7E9A"/>
            </a:solidFill>
            <a:prstDash val="solid"/>
          </a:ln>
        </p:spPr>
      </p:sp>
      <p:sp>
        <p:nvSpPr>
          <p:cNvPr id="5" name="Text 2"/>
          <p:cNvSpPr/>
          <p:nvPr/>
        </p:nvSpPr>
        <p:spPr>
          <a:xfrm>
            <a:off x="838200" y="1238250"/>
            <a:ext cx="1905000" cy="457200"/>
          </a:xfrm>
          <a:prstGeom prst="rect">
            <a:avLst/>
          </a:prstGeom>
          <a:noFill/>
          <a:ln/>
        </p:spPr>
        <p:txBody>
          <a:bodyPr wrap="square" lIns="0" tIns="0" rIns="0" bIns="0" rtlCol="0" anchor="ctr"/>
          <a:lstStyle/>
          <a:p>
            <a:pPr>
              <a:lnSpc>
                <a:spcPct val="100000"/>
              </a:lnSpc>
            </a:pPr>
            <a:r>
              <a:rPr lang="en-US" sz="3000" b="1" dirty="0">
                <a:solidFill>
                  <a:srgbClr val="4C7E9A"/>
                </a:solidFill>
                <a:latin typeface="MiSans" pitchFamily="34" charset="0"/>
                <a:ea typeface="MiSans" pitchFamily="34" charset="-122"/>
                <a:cs typeface="MiSans" pitchFamily="34" charset="-120"/>
              </a:rPr>
              <a:t>CHAPTER</a:t>
            </a:r>
            <a:endParaRPr lang="en-US" sz="1600" dirty="0"/>
          </a:p>
        </p:txBody>
      </p:sp>
      <p:sp>
        <p:nvSpPr>
          <p:cNvPr id="6" name="Text 3"/>
          <p:cNvSpPr/>
          <p:nvPr/>
        </p:nvSpPr>
        <p:spPr>
          <a:xfrm>
            <a:off x="508000" y="2279650"/>
            <a:ext cx="5181600" cy="1219200"/>
          </a:xfrm>
          <a:prstGeom prst="rect">
            <a:avLst/>
          </a:prstGeom>
          <a:noFill/>
          <a:ln/>
        </p:spPr>
        <p:txBody>
          <a:bodyPr wrap="square" lIns="0" tIns="0" rIns="0" bIns="0" rtlCol="0" anchor="ctr"/>
          <a:lstStyle/>
          <a:p>
            <a:pPr>
              <a:lnSpc>
                <a:spcPct val="80000"/>
              </a:lnSpc>
            </a:pPr>
            <a:r>
              <a:rPr lang="en-US" sz="9600" b="1" dirty="0">
                <a:solidFill>
                  <a:srgbClr val="D1D5DB"/>
                </a:solidFill>
                <a:latin typeface="阿里妈妈数黑体" pitchFamily="34" charset="0"/>
                <a:ea typeface="阿里妈妈数黑体" pitchFamily="34" charset="-122"/>
                <a:cs typeface="阿里妈妈数黑体" pitchFamily="34" charset="-120"/>
              </a:rPr>
              <a:t>04</a:t>
            </a:r>
            <a:endParaRPr lang="en-US" sz="1600" dirty="0"/>
          </a:p>
        </p:txBody>
      </p:sp>
      <p:sp>
        <p:nvSpPr>
          <p:cNvPr id="7" name="Text 4"/>
          <p:cNvSpPr/>
          <p:nvPr/>
        </p:nvSpPr>
        <p:spPr>
          <a:xfrm>
            <a:off x="508000" y="3803650"/>
            <a:ext cx="4953000" cy="952500"/>
          </a:xfrm>
          <a:prstGeom prst="rect">
            <a:avLst/>
          </a:prstGeom>
          <a:noFill/>
          <a:ln/>
        </p:spPr>
        <p:txBody>
          <a:bodyPr wrap="square" lIns="0" tIns="0" rIns="0" bIns="0" rtlCol="0" anchor="ctr"/>
          <a:lstStyle/>
          <a:p>
            <a:pPr>
              <a:lnSpc>
                <a:spcPct val="100000"/>
              </a:lnSpc>
            </a:pPr>
            <a:r>
              <a:rPr lang="en-US" sz="6000" b="1" dirty="0">
                <a:solidFill>
                  <a:srgbClr val="4C7E9A"/>
                </a:solidFill>
                <a:latin typeface="阿里妈妈数黑体" pitchFamily="34" charset="0"/>
                <a:ea typeface="阿里妈妈数黑体" pitchFamily="34" charset="-122"/>
                <a:cs typeface="阿里妈妈数黑体" pitchFamily="34" charset="-120"/>
              </a:rPr>
              <a:t>结果整合策略</a:t>
            </a:r>
            <a:endParaRPr lang="en-US" sz="1600" dirty="0"/>
          </a:p>
        </p:txBody>
      </p:sp>
      <p:sp>
        <p:nvSpPr>
          <p:cNvPr id="8" name="Shape 5"/>
          <p:cNvSpPr/>
          <p:nvPr/>
        </p:nvSpPr>
        <p:spPr>
          <a:xfrm>
            <a:off x="508000" y="5162550"/>
            <a:ext cx="2438400" cy="101600"/>
          </a:xfrm>
          <a:custGeom>
            <a:avLst/>
            <a:gdLst/>
            <a:ahLst/>
            <a:cxnLst/>
            <a:rect l="l" t="t" r="r" b="b"/>
            <a:pathLst>
              <a:path w="2438400" h="101600">
                <a:moveTo>
                  <a:pt x="0" y="0"/>
                </a:moveTo>
                <a:lnTo>
                  <a:pt x="2438400" y="0"/>
                </a:lnTo>
                <a:lnTo>
                  <a:pt x="2438400" y="101600"/>
                </a:lnTo>
                <a:lnTo>
                  <a:pt x="0" y="101600"/>
                </a:lnTo>
                <a:lnTo>
                  <a:pt x="0" y="0"/>
                </a:lnTo>
                <a:close/>
              </a:path>
            </a:pathLst>
          </a:custGeom>
          <a:solidFill>
            <a:srgbClr val="4C7E9A"/>
          </a:solidFill>
          <a:ln/>
        </p:spPr>
      </p:sp>
      <p:sp>
        <p:nvSpPr>
          <p:cNvPr id="9" name="Text 6"/>
          <p:cNvSpPr/>
          <p:nvPr/>
        </p:nvSpPr>
        <p:spPr>
          <a:xfrm>
            <a:off x="508000" y="5568950"/>
            <a:ext cx="4800600" cy="508000"/>
          </a:xfrm>
          <a:prstGeom prst="rect">
            <a:avLst/>
          </a:prstGeom>
          <a:noFill/>
          <a:ln/>
        </p:spPr>
        <p:txBody>
          <a:bodyPr wrap="square" lIns="0" tIns="0" rIns="0" bIns="0" rtlCol="0" anchor="ctr"/>
          <a:lstStyle/>
          <a:p>
            <a:pPr>
              <a:lnSpc>
                <a:spcPct val="90000"/>
              </a:lnSpc>
            </a:pPr>
            <a:r>
              <a:rPr lang="en-US" sz="3600" dirty="0">
                <a:solidFill>
                  <a:srgbClr val="7E9AA8"/>
                </a:solidFill>
                <a:latin typeface="MiSans" pitchFamily="34" charset="0"/>
                <a:ea typeface="MiSans" pitchFamily="34" charset="-122"/>
                <a:cs typeface="MiSans" pitchFamily="34" charset="-120"/>
              </a:rPr>
              <a:t>如何有效组合模型预测</a:t>
            </a:r>
            <a:endParaRPr lang="en-US" sz="1600" dirty="0"/>
          </a:p>
        </p:txBody>
      </p:sp>
      <p:sp>
        <p:nvSpPr>
          <p:cNvPr id="10" name="Shape 7"/>
          <p:cNvSpPr/>
          <p:nvPr/>
        </p:nvSpPr>
        <p:spPr>
          <a:xfrm>
            <a:off x="508000" y="6686550"/>
            <a:ext cx="2184400" cy="1397000"/>
          </a:xfrm>
          <a:custGeom>
            <a:avLst/>
            <a:gdLst/>
            <a:ahLst/>
            <a:cxnLst/>
            <a:rect l="l" t="t" r="r" b="b"/>
            <a:pathLst>
              <a:path w="2184400" h="1397000">
                <a:moveTo>
                  <a:pt x="101604" y="0"/>
                </a:moveTo>
                <a:lnTo>
                  <a:pt x="2082796" y="0"/>
                </a:lnTo>
                <a:cubicBezTo>
                  <a:pt x="2138910" y="0"/>
                  <a:pt x="2184400" y="45490"/>
                  <a:pt x="2184400" y="101604"/>
                </a:cubicBezTo>
                <a:lnTo>
                  <a:pt x="2184400" y="1295396"/>
                </a:lnTo>
                <a:cubicBezTo>
                  <a:pt x="2184400" y="1351510"/>
                  <a:pt x="2138910" y="1397000"/>
                  <a:pt x="20827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1" name="Shape 8"/>
          <p:cNvSpPr/>
          <p:nvPr/>
        </p:nvSpPr>
        <p:spPr>
          <a:xfrm>
            <a:off x="812800" y="6940550"/>
            <a:ext cx="381000" cy="381000"/>
          </a:xfrm>
          <a:custGeom>
            <a:avLst/>
            <a:gdLst/>
            <a:ahLst/>
            <a:cxnLst/>
            <a:rect l="l" t="t" r="r" b="b"/>
            <a:pathLst>
              <a:path w="381000" h="381000">
                <a:moveTo>
                  <a:pt x="47625" y="47625"/>
                </a:moveTo>
                <a:cubicBezTo>
                  <a:pt x="47625" y="34454"/>
                  <a:pt x="36984" y="23812"/>
                  <a:pt x="23812" y="23812"/>
                </a:cubicBezTo>
                <a:cubicBezTo>
                  <a:pt x="10641" y="23812"/>
                  <a:pt x="0" y="34454"/>
                  <a:pt x="0" y="47625"/>
                </a:cubicBezTo>
                <a:lnTo>
                  <a:pt x="0" y="297656"/>
                </a:lnTo>
                <a:cubicBezTo>
                  <a:pt x="0" y="330547"/>
                  <a:pt x="26640" y="357188"/>
                  <a:pt x="59531" y="357188"/>
                </a:cubicBezTo>
                <a:lnTo>
                  <a:pt x="357188" y="357188"/>
                </a:lnTo>
                <a:cubicBezTo>
                  <a:pt x="370359" y="357188"/>
                  <a:pt x="381000" y="346546"/>
                  <a:pt x="381000" y="333375"/>
                </a:cubicBezTo>
                <a:cubicBezTo>
                  <a:pt x="381000" y="320204"/>
                  <a:pt x="370359" y="309563"/>
                  <a:pt x="357188" y="309563"/>
                </a:cubicBezTo>
                <a:lnTo>
                  <a:pt x="59531" y="309563"/>
                </a:lnTo>
                <a:cubicBezTo>
                  <a:pt x="52983" y="309563"/>
                  <a:pt x="47625" y="304205"/>
                  <a:pt x="47625" y="297656"/>
                </a:cubicBezTo>
                <a:lnTo>
                  <a:pt x="47625" y="47625"/>
                </a:lnTo>
                <a:close/>
                <a:moveTo>
                  <a:pt x="350193" y="112068"/>
                </a:moveTo>
                <a:cubicBezTo>
                  <a:pt x="359494" y="102766"/>
                  <a:pt x="359494" y="87660"/>
                  <a:pt x="350193" y="78358"/>
                </a:cubicBezTo>
                <a:cubicBezTo>
                  <a:pt x="340891" y="69056"/>
                  <a:pt x="325785" y="69056"/>
                  <a:pt x="316483" y="78358"/>
                </a:cubicBezTo>
                <a:lnTo>
                  <a:pt x="238125" y="156790"/>
                </a:lnTo>
                <a:lnTo>
                  <a:pt x="195411" y="114151"/>
                </a:lnTo>
                <a:cubicBezTo>
                  <a:pt x="186110" y="104849"/>
                  <a:pt x="171004" y="104849"/>
                  <a:pt x="161702" y="114151"/>
                </a:cubicBezTo>
                <a:lnTo>
                  <a:pt x="90264" y="185589"/>
                </a:lnTo>
                <a:cubicBezTo>
                  <a:pt x="80963" y="194890"/>
                  <a:pt x="80963" y="209996"/>
                  <a:pt x="90264" y="219298"/>
                </a:cubicBezTo>
                <a:cubicBezTo>
                  <a:pt x="99566" y="228600"/>
                  <a:pt x="114672" y="228600"/>
                  <a:pt x="123974" y="219298"/>
                </a:cubicBezTo>
                <a:lnTo>
                  <a:pt x="178594" y="164678"/>
                </a:lnTo>
                <a:lnTo>
                  <a:pt x="221307" y="207392"/>
                </a:lnTo>
                <a:cubicBezTo>
                  <a:pt x="230609" y="216694"/>
                  <a:pt x="245715" y="216694"/>
                  <a:pt x="255017" y="207392"/>
                </a:cubicBezTo>
                <a:lnTo>
                  <a:pt x="350267" y="112142"/>
                </a:lnTo>
                <a:close/>
              </a:path>
            </a:pathLst>
          </a:custGeom>
          <a:solidFill>
            <a:srgbClr val="4C7E9A"/>
          </a:solidFill>
          <a:ln/>
        </p:spPr>
      </p:sp>
      <p:sp>
        <p:nvSpPr>
          <p:cNvPr id="12" name="Text 9"/>
          <p:cNvSpPr/>
          <p:nvPr/>
        </p:nvSpPr>
        <p:spPr>
          <a:xfrm>
            <a:off x="762000" y="7473950"/>
            <a:ext cx="18034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回归预测</a:t>
            </a:r>
            <a:endParaRPr lang="en-US" sz="1600" dirty="0"/>
          </a:p>
        </p:txBody>
      </p:sp>
      <p:sp>
        <p:nvSpPr>
          <p:cNvPr id="13" name="Shape 10"/>
          <p:cNvSpPr/>
          <p:nvPr/>
        </p:nvSpPr>
        <p:spPr>
          <a:xfrm>
            <a:off x="2895600" y="6686550"/>
            <a:ext cx="2184400" cy="1397000"/>
          </a:xfrm>
          <a:custGeom>
            <a:avLst/>
            <a:gdLst/>
            <a:ahLst/>
            <a:cxnLst/>
            <a:rect l="l" t="t" r="r" b="b"/>
            <a:pathLst>
              <a:path w="2184400" h="1397000">
                <a:moveTo>
                  <a:pt x="101604" y="0"/>
                </a:moveTo>
                <a:lnTo>
                  <a:pt x="2082796" y="0"/>
                </a:lnTo>
                <a:cubicBezTo>
                  <a:pt x="2138910" y="0"/>
                  <a:pt x="2184400" y="45490"/>
                  <a:pt x="2184400" y="101604"/>
                </a:cubicBezTo>
                <a:lnTo>
                  <a:pt x="2184400" y="1295396"/>
                </a:lnTo>
                <a:cubicBezTo>
                  <a:pt x="2184400" y="1351510"/>
                  <a:pt x="2138910" y="1397000"/>
                  <a:pt x="20827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4" name="Shape 11"/>
          <p:cNvSpPr/>
          <p:nvPr/>
        </p:nvSpPr>
        <p:spPr>
          <a:xfrm>
            <a:off x="3176588" y="6940550"/>
            <a:ext cx="428625" cy="381000"/>
          </a:xfrm>
          <a:custGeom>
            <a:avLst/>
            <a:gdLst/>
            <a:ahLst/>
            <a:cxnLst/>
            <a:rect l="l" t="t" r="r" b="b"/>
            <a:pathLst>
              <a:path w="428625" h="381000">
                <a:moveTo>
                  <a:pt x="71438" y="71438"/>
                </a:moveTo>
                <a:cubicBezTo>
                  <a:pt x="71438" y="45169"/>
                  <a:pt x="92794" y="23812"/>
                  <a:pt x="119063" y="23812"/>
                </a:cubicBezTo>
                <a:lnTo>
                  <a:pt x="309563" y="23812"/>
                </a:lnTo>
                <a:cubicBezTo>
                  <a:pt x="335831" y="23812"/>
                  <a:pt x="357188" y="45169"/>
                  <a:pt x="357188" y="71438"/>
                </a:cubicBezTo>
                <a:lnTo>
                  <a:pt x="357188" y="238125"/>
                </a:lnTo>
                <a:cubicBezTo>
                  <a:pt x="357188" y="264393"/>
                  <a:pt x="335831" y="285750"/>
                  <a:pt x="309563" y="285750"/>
                </a:cubicBezTo>
                <a:lnTo>
                  <a:pt x="119063" y="285750"/>
                </a:lnTo>
                <a:cubicBezTo>
                  <a:pt x="92794" y="285750"/>
                  <a:pt x="71438" y="264393"/>
                  <a:pt x="71438" y="238125"/>
                </a:cubicBezTo>
                <a:lnTo>
                  <a:pt x="71438" y="71438"/>
                </a:lnTo>
                <a:close/>
                <a:moveTo>
                  <a:pt x="271388" y="86023"/>
                </a:moveTo>
                <a:cubicBezTo>
                  <a:pt x="263054" y="80814"/>
                  <a:pt x="252040" y="83344"/>
                  <a:pt x="246757" y="91678"/>
                </a:cubicBezTo>
                <a:lnTo>
                  <a:pt x="201067" y="164827"/>
                </a:lnTo>
                <a:lnTo>
                  <a:pt x="180975" y="138038"/>
                </a:lnTo>
                <a:cubicBezTo>
                  <a:pt x="175022" y="130150"/>
                  <a:pt x="163860" y="128513"/>
                  <a:pt x="155972" y="134466"/>
                </a:cubicBezTo>
                <a:cubicBezTo>
                  <a:pt x="148084" y="140419"/>
                  <a:pt x="146447" y="151581"/>
                  <a:pt x="152400" y="159469"/>
                </a:cubicBezTo>
                <a:lnTo>
                  <a:pt x="188119" y="207094"/>
                </a:lnTo>
                <a:cubicBezTo>
                  <a:pt x="191616" y="211782"/>
                  <a:pt x="197272" y="214461"/>
                  <a:pt x="203150" y="214238"/>
                </a:cubicBezTo>
                <a:cubicBezTo>
                  <a:pt x="209029" y="214015"/>
                  <a:pt x="214387" y="210889"/>
                  <a:pt x="217512" y="205829"/>
                </a:cubicBezTo>
                <a:lnTo>
                  <a:pt x="277044" y="110579"/>
                </a:lnTo>
                <a:cubicBezTo>
                  <a:pt x="282253" y="102245"/>
                  <a:pt x="279722" y="91232"/>
                  <a:pt x="271388" y="85948"/>
                </a:cubicBezTo>
                <a:close/>
                <a:moveTo>
                  <a:pt x="35719" y="232172"/>
                </a:moveTo>
                <a:lnTo>
                  <a:pt x="35719" y="309563"/>
                </a:lnTo>
                <a:cubicBezTo>
                  <a:pt x="35719" y="316111"/>
                  <a:pt x="41077" y="321469"/>
                  <a:pt x="47625" y="321469"/>
                </a:cubicBezTo>
                <a:lnTo>
                  <a:pt x="381000" y="321469"/>
                </a:lnTo>
                <a:cubicBezTo>
                  <a:pt x="387548" y="321469"/>
                  <a:pt x="392906" y="316111"/>
                  <a:pt x="392906" y="309563"/>
                </a:cubicBezTo>
                <a:lnTo>
                  <a:pt x="392906" y="232172"/>
                </a:lnTo>
                <a:cubicBezTo>
                  <a:pt x="392906" y="222275"/>
                  <a:pt x="400869" y="214313"/>
                  <a:pt x="410766" y="214313"/>
                </a:cubicBezTo>
                <a:cubicBezTo>
                  <a:pt x="420663" y="214313"/>
                  <a:pt x="428625" y="222275"/>
                  <a:pt x="428625" y="232172"/>
                </a:cubicBezTo>
                <a:lnTo>
                  <a:pt x="428625" y="309563"/>
                </a:lnTo>
                <a:cubicBezTo>
                  <a:pt x="428625" y="335831"/>
                  <a:pt x="407268" y="357188"/>
                  <a:pt x="381000" y="357188"/>
                </a:cubicBezTo>
                <a:lnTo>
                  <a:pt x="47625" y="357188"/>
                </a:lnTo>
                <a:cubicBezTo>
                  <a:pt x="21357" y="357188"/>
                  <a:pt x="0" y="335831"/>
                  <a:pt x="0" y="309563"/>
                </a:cubicBezTo>
                <a:lnTo>
                  <a:pt x="0" y="232172"/>
                </a:lnTo>
                <a:cubicBezTo>
                  <a:pt x="0" y="222275"/>
                  <a:pt x="7962" y="214313"/>
                  <a:pt x="17859" y="214313"/>
                </a:cubicBezTo>
                <a:cubicBezTo>
                  <a:pt x="27756" y="214313"/>
                  <a:pt x="35719" y="222275"/>
                  <a:pt x="35719" y="232172"/>
                </a:cubicBezTo>
                <a:close/>
              </a:path>
            </a:pathLst>
          </a:custGeom>
          <a:solidFill>
            <a:srgbClr val="4C7E9A"/>
          </a:solidFill>
          <a:ln/>
        </p:spPr>
      </p:sp>
      <p:sp>
        <p:nvSpPr>
          <p:cNvPr id="15" name="Text 12"/>
          <p:cNvSpPr/>
          <p:nvPr/>
        </p:nvSpPr>
        <p:spPr>
          <a:xfrm>
            <a:off x="3149600" y="7473950"/>
            <a:ext cx="18034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分类预测</a:t>
            </a:r>
            <a:endParaRPr lang="en-US" sz="16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RESULT INTEGRATION</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回归预测的结果整合</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66333"/>
            <a:ext cx="7577667" cy="5503333"/>
          </a:xfrm>
          <a:custGeom>
            <a:avLst/>
            <a:gdLst/>
            <a:ahLst/>
            <a:cxnLst/>
            <a:rect l="l" t="t" r="r" b="b"/>
            <a:pathLst>
              <a:path w="7577667" h="5503333">
                <a:moveTo>
                  <a:pt x="42333" y="0"/>
                </a:moveTo>
                <a:lnTo>
                  <a:pt x="7493025" y="0"/>
                </a:lnTo>
                <a:cubicBezTo>
                  <a:pt x="7539771" y="0"/>
                  <a:pt x="7577667" y="37895"/>
                  <a:pt x="7577667" y="84641"/>
                </a:cubicBezTo>
                <a:lnTo>
                  <a:pt x="7577667" y="5418692"/>
                </a:lnTo>
                <a:cubicBezTo>
                  <a:pt x="7577667" y="5465438"/>
                  <a:pt x="7539771" y="5503333"/>
                  <a:pt x="7493025" y="5503333"/>
                </a:cubicBezTo>
                <a:lnTo>
                  <a:pt x="42333" y="5503333"/>
                </a:lnTo>
                <a:cubicBezTo>
                  <a:pt x="18953" y="5503333"/>
                  <a:pt x="0" y="5484380"/>
                  <a:pt x="0" y="5461000"/>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66333"/>
            <a:ext cx="42333" cy="5503333"/>
          </a:xfrm>
          <a:custGeom>
            <a:avLst/>
            <a:gdLst/>
            <a:ahLst/>
            <a:cxnLst/>
            <a:rect l="l" t="t" r="r" b="b"/>
            <a:pathLst>
              <a:path w="42333" h="5503333">
                <a:moveTo>
                  <a:pt x="42333" y="0"/>
                </a:moveTo>
                <a:lnTo>
                  <a:pt x="42333" y="0"/>
                </a:lnTo>
                <a:lnTo>
                  <a:pt x="42333" y="5503333"/>
                </a:lnTo>
                <a:lnTo>
                  <a:pt x="42333" y="5503333"/>
                </a:lnTo>
                <a:cubicBezTo>
                  <a:pt x="18953" y="5503333"/>
                  <a:pt x="0" y="5484380"/>
                  <a:pt x="0" y="5461000"/>
                </a:cubicBezTo>
                <a:lnTo>
                  <a:pt x="0" y="42333"/>
                </a:lnTo>
                <a:cubicBezTo>
                  <a:pt x="0" y="18953"/>
                  <a:pt x="18953" y="0"/>
                  <a:pt x="42333" y="0"/>
                </a:cubicBezTo>
                <a:close/>
              </a:path>
            </a:pathLst>
          </a:custGeom>
          <a:solidFill>
            <a:srgbClr val="4C7E9A"/>
          </a:solidFill>
          <a:ln/>
        </p:spPr>
      </p:sp>
      <p:sp>
        <p:nvSpPr>
          <p:cNvPr id="7" name="Shape 5"/>
          <p:cNvSpPr/>
          <p:nvPr/>
        </p:nvSpPr>
        <p:spPr>
          <a:xfrm>
            <a:off x="759354" y="1809750"/>
            <a:ext cx="238125" cy="317500"/>
          </a:xfrm>
          <a:custGeom>
            <a:avLst/>
            <a:gdLst/>
            <a:ahLst/>
            <a:cxnLst/>
            <a:rect l="l" t="t" r="r" b="b"/>
            <a:pathLst>
              <a:path w="238125" h="317500">
                <a:moveTo>
                  <a:pt x="39688" y="0"/>
                </a:moveTo>
                <a:cubicBezTo>
                  <a:pt x="17797" y="0"/>
                  <a:pt x="0" y="17797"/>
                  <a:pt x="0" y="39688"/>
                </a:cubicBezTo>
                <a:lnTo>
                  <a:pt x="0" y="277813"/>
                </a:lnTo>
                <a:cubicBezTo>
                  <a:pt x="0" y="299703"/>
                  <a:pt x="17797" y="317500"/>
                  <a:pt x="39688" y="317500"/>
                </a:cubicBezTo>
                <a:lnTo>
                  <a:pt x="198438" y="317500"/>
                </a:lnTo>
                <a:cubicBezTo>
                  <a:pt x="220328" y="317500"/>
                  <a:pt x="238125" y="299703"/>
                  <a:pt x="238125" y="277813"/>
                </a:cubicBezTo>
                <a:lnTo>
                  <a:pt x="238125" y="39688"/>
                </a:lnTo>
                <a:cubicBezTo>
                  <a:pt x="238125" y="17797"/>
                  <a:pt x="220328" y="0"/>
                  <a:pt x="198438" y="0"/>
                </a:cubicBezTo>
                <a:lnTo>
                  <a:pt x="39688" y="0"/>
                </a:lnTo>
                <a:close/>
                <a:moveTo>
                  <a:pt x="59531" y="39688"/>
                </a:moveTo>
                <a:lnTo>
                  <a:pt x="178594" y="39688"/>
                </a:lnTo>
                <a:cubicBezTo>
                  <a:pt x="189570" y="39688"/>
                  <a:pt x="198438" y="48555"/>
                  <a:pt x="198438" y="59531"/>
                </a:cubicBezTo>
                <a:lnTo>
                  <a:pt x="198438" y="79375"/>
                </a:lnTo>
                <a:cubicBezTo>
                  <a:pt x="198438" y="90351"/>
                  <a:pt x="189570" y="99219"/>
                  <a:pt x="178594" y="99219"/>
                </a:cubicBezTo>
                <a:lnTo>
                  <a:pt x="59531" y="99219"/>
                </a:lnTo>
                <a:cubicBezTo>
                  <a:pt x="48555" y="99219"/>
                  <a:pt x="39688" y="90351"/>
                  <a:pt x="39688" y="79375"/>
                </a:cubicBezTo>
                <a:lnTo>
                  <a:pt x="39688" y="59531"/>
                </a:lnTo>
                <a:cubicBezTo>
                  <a:pt x="39688" y="48555"/>
                  <a:pt x="48555" y="39688"/>
                  <a:pt x="59531" y="39688"/>
                </a:cubicBezTo>
                <a:close/>
                <a:moveTo>
                  <a:pt x="69453" y="143867"/>
                </a:moveTo>
                <a:cubicBezTo>
                  <a:pt x="69453" y="152081"/>
                  <a:pt x="62784" y="158750"/>
                  <a:pt x="54570" y="158750"/>
                </a:cubicBezTo>
                <a:cubicBezTo>
                  <a:pt x="46356" y="158750"/>
                  <a:pt x="39688" y="152081"/>
                  <a:pt x="39688" y="143867"/>
                </a:cubicBezTo>
                <a:cubicBezTo>
                  <a:pt x="39688" y="135653"/>
                  <a:pt x="46356" y="128984"/>
                  <a:pt x="54570" y="128984"/>
                </a:cubicBezTo>
                <a:cubicBezTo>
                  <a:pt x="62784" y="128984"/>
                  <a:pt x="69453" y="135653"/>
                  <a:pt x="69453" y="143867"/>
                </a:cubicBezTo>
                <a:close/>
                <a:moveTo>
                  <a:pt x="119062" y="158750"/>
                </a:moveTo>
                <a:cubicBezTo>
                  <a:pt x="110848" y="158750"/>
                  <a:pt x="104180" y="152081"/>
                  <a:pt x="104180" y="143867"/>
                </a:cubicBezTo>
                <a:cubicBezTo>
                  <a:pt x="104180" y="135653"/>
                  <a:pt x="110848" y="128984"/>
                  <a:pt x="119062" y="128984"/>
                </a:cubicBezTo>
                <a:cubicBezTo>
                  <a:pt x="127277" y="128984"/>
                  <a:pt x="133945" y="135653"/>
                  <a:pt x="133945" y="143867"/>
                </a:cubicBezTo>
                <a:cubicBezTo>
                  <a:pt x="133945" y="152081"/>
                  <a:pt x="127277" y="158750"/>
                  <a:pt x="119062" y="158750"/>
                </a:cubicBezTo>
                <a:close/>
                <a:moveTo>
                  <a:pt x="198438" y="143867"/>
                </a:moveTo>
                <a:cubicBezTo>
                  <a:pt x="198438" y="152081"/>
                  <a:pt x="191769" y="158750"/>
                  <a:pt x="183555" y="158750"/>
                </a:cubicBezTo>
                <a:cubicBezTo>
                  <a:pt x="175341" y="158750"/>
                  <a:pt x="168672" y="152081"/>
                  <a:pt x="168672" y="143867"/>
                </a:cubicBezTo>
                <a:cubicBezTo>
                  <a:pt x="168672" y="135653"/>
                  <a:pt x="175341" y="128984"/>
                  <a:pt x="183555" y="128984"/>
                </a:cubicBezTo>
                <a:cubicBezTo>
                  <a:pt x="191769" y="128984"/>
                  <a:pt x="198438" y="135653"/>
                  <a:pt x="198438" y="143867"/>
                </a:cubicBezTo>
                <a:close/>
                <a:moveTo>
                  <a:pt x="54570" y="218281"/>
                </a:moveTo>
                <a:cubicBezTo>
                  <a:pt x="46356" y="218281"/>
                  <a:pt x="39688" y="211612"/>
                  <a:pt x="39688" y="203398"/>
                </a:cubicBezTo>
                <a:cubicBezTo>
                  <a:pt x="39688" y="195184"/>
                  <a:pt x="46356" y="188516"/>
                  <a:pt x="54570" y="188516"/>
                </a:cubicBezTo>
                <a:cubicBezTo>
                  <a:pt x="62784" y="188516"/>
                  <a:pt x="69453" y="195184"/>
                  <a:pt x="69453" y="203398"/>
                </a:cubicBezTo>
                <a:cubicBezTo>
                  <a:pt x="69453" y="211612"/>
                  <a:pt x="62784" y="218281"/>
                  <a:pt x="54570" y="218281"/>
                </a:cubicBezTo>
                <a:close/>
                <a:moveTo>
                  <a:pt x="133945" y="203398"/>
                </a:moveTo>
                <a:cubicBezTo>
                  <a:pt x="133945" y="211612"/>
                  <a:pt x="127277" y="218281"/>
                  <a:pt x="119062" y="218281"/>
                </a:cubicBezTo>
                <a:cubicBezTo>
                  <a:pt x="110848" y="218281"/>
                  <a:pt x="104180" y="211612"/>
                  <a:pt x="104180" y="203398"/>
                </a:cubicBezTo>
                <a:cubicBezTo>
                  <a:pt x="104180" y="195184"/>
                  <a:pt x="110848" y="188516"/>
                  <a:pt x="119062" y="188516"/>
                </a:cubicBezTo>
                <a:cubicBezTo>
                  <a:pt x="127277" y="188516"/>
                  <a:pt x="133945" y="195184"/>
                  <a:pt x="133945" y="203398"/>
                </a:cubicBezTo>
                <a:close/>
                <a:moveTo>
                  <a:pt x="183555" y="218281"/>
                </a:moveTo>
                <a:cubicBezTo>
                  <a:pt x="175341" y="218281"/>
                  <a:pt x="168672" y="211612"/>
                  <a:pt x="168672" y="203398"/>
                </a:cubicBezTo>
                <a:cubicBezTo>
                  <a:pt x="168672" y="195184"/>
                  <a:pt x="175341" y="188516"/>
                  <a:pt x="183555" y="188516"/>
                </a:cubicBezTo>
                <a:cubicBezTo>
                  <a:pt x="191769" y="188516"/>
                  <a:pt x="198438" y="195184"/>
                  <a:pt x="198438" y="203398"/>
                </a:cubicBezTo>
                <a:cubicBezTo>
                  <a:pt x="198438" y="211612"/>
                  <a:pt x="191769" y="218281"/>
                  <a:pt x="183555" y="218281"/>
                </a:cubicBezTo>
                <a:close/>
                <a:moveTo>
                  <a:pt x="39688" y="262930"/>
                </a:moveTo>
                <a:cubicBezTo>
                  <a:pt x="39688" y="254682"/>
                  <a:pt x="46323" y="248047"/>
                  <a:pt x="54570" y="248047"/>
                </a:cubicBezTo>
                <a:lnTo>
                  <a:pt x="124023" y="248047"/>
                </a:lnTo>
                <a:cubicBezTo>
                  <a:pt x="132271" y="248047"/>
                  <a:pt x="138906" y="254682"/>
                  <a:pt x="138906" y="262930"/>
                </a:cubicBezTo>
                <a:cubicBezTo>
                  <a:pt x="138906" y="271177"/>
                  <a:pt x="132271" y="277813"/>
                  <a:pt x="124023" y="277813"/>
                </a:cubicBezTo>
                <a:lnTo>
                  <a:pt x="54570" y="277813"/>
                </a:lnTo>
                <a:cubicBezTo>
                  <a:pt x="46323" y="277813"/>
                  <a:pt x="39688" y="271177"/>
                  <a:pt x="39688" y="262930"/>
                </a:cubicBezTo>
                <a:close/>
                <a:moveTo>
                  <a:pt x="183555" y="248047"/>
                </a:moveTo>
                <a:cubicBezTo>
                  <a:pt x="191802" y="248047"/>
                  <a:pt x="198438" y="254682"/>
                  <a:pt x="198438" y="262930"/>
                </a:cubicBezTo>
                <a:cubicBezTo>
                  <a:pt x="198438" y="271177"/>
                  <a:pt x="191802" y="277813"/>
                  <a:pt x="183555" y="277813"/>
                </a:cubicBezTo>
                <a:cubicBezTo>
                  <a:pt x="175307" y="277813"/>
                  <a:pt x="168672" y="271177"/>
                  <a:pt x="168672" y="262930"/>
                </a:cubicBezTo>
                <a:cubicBezTo>
                  <a:pt x="168672" y="254682"/>
                  <a:pt x="175307" y="248047"/>
                  <a:pt x="183555" y="248047"/>
                </a:cubicBezTo>
                <a:close/>
              </a:path>
            </a:pathLst>
          </a:custGeom>
          <a:solidFill>
            <a:srgbClr val="4C7E9A"/>
          </a:solidFill>
          <a:ln/>
        </p:spPr>
      </p:sp>
      <p:sp>
        <p:nvSpPr>
          <p:cNvPr id="8" name="Text 6"/>
          <p:cNvSpPr/>
          <p:nvPr/>
        </p:nvSpPr>
        <p:spPr>
          <a:xfrm>
            <a:off x="1201208" y="1778000"/>
            <a:ext cx="1746250" cy="381000"/>
          </a:xfrm>
          <a:prstGeom prst="rect">
            <a:avLst/>
          </a:prstGeom>
          <a:noFill/>
          <a:ln/>
        </p:spPr>
        <p:txBody>
          <a:bodyPr wrap="square" lIns="0" tIns="0" rIns="0" bIns="0" rtlCol="0" anchor="ctr"/>
          <a:lstStyle/>
          <a:p>
            <a:pPr>
              <a:lnSpc>
                <a:spcPct val="100000"/>
              </a:lnSpc>
            </a:pPr>
            <a:r>
              <a:rPr lang="en-US" sz="2500" b="1" dirty="0">
                <a:solidFill>
                  <a:srgbClr val="D1D5DB"/>
                </a:solidFill>
                <a:latin typeface="MiSans" pitchFamily="34" charset="0"/>
                <a:ea typeface="MiSans" pitchFamily="34" charset="-122"/>
                <a:cs typeface="MiSans" pitchFamily="34" charset="-120"/>
              </a:rPr>
              <a:t>简单平均法</a:t>
            </a:r>
            <a:endParaRPr lang="en-US" sz="1600" dirty="0"/>
          </a:p>
        </p:txBody>
      </p:sp>
      <p:sp>
        <p:nvSpPr>
          <p:cNvPr id="9" name="Text 7"/>
          <p:cNvSpPr/>
          <p:nvPr/>
        </p:nvSpPr>
        <p:spPr>
          <a:xfrm>
            <a:off x="677333" y="2328333"/>
            <a:ext cx="722841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核心思想</a:t>
            </a:r>
            <a:endParaRPr lang="en-US" sz="1600" dirty="0"/>
          </a:p>
        </p:txBody>
      </p:sp>
      <p:sp>
        <p:nvSpPr>
          <p:cNvPr id="10" name="Text 8"/>
          <p:cNvSpPr/>
          <p:nvPr/>
        </p:nvSpPr>
        <p:spPr>
          <a:xfrm>
            <a:off x="677333" y="2709333"/>
            <a:ext cx="7217833" cy="550333"/>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将所有基学习器的预测值相加后求平均，就像计算平均分一样。这种方法简单有效，能够平滑掉个别模型的极端预测，减少异常值的影响。</a:t>
            </a:r>
            <a:endParaRPr lang="en-US" sz="1600" dirty="0"/>
          </a:p>
        </p:txBody>
      </p:sp>
      <p:sp>
        <p:nvSpPr>
          <p:cNvPr id="11" name="Shape 9"/>
          <p:cNvSpPr/>
          <p:nvPr/>
        </p:nvSpPr>
        <p:spPr>
          <a:xfrm>
            <a:off x="677333" y="3386667"/>
            <a:ext cx="7133167" cy="1820333"/>
          </a:xfrm>
          <a:custGeom>
            <a:avLst/>
            <a:gdLst/>
            <a:ahLst/>
            <a:cxnLst/>
            <a:rect l="l" t="t" r="r" b="b"/>
            <a:pathLst>
              <a:path w="7133167" h="1820333">
                <a:moveTo>
                  <a:pt x="84664" y="0"/>
                </a:moveTo>
                <a:lnTo>
                  <a:pt x="7048503" y="0"/>
                </a:lnTo>
                <a:cubicBezTo>
                  <a:pt x="7095261" y="0"/>
                  <a:pt x="7133167" y="37905"/>
                  <a:pt x="7133167" y="84664"/>
                </a:cubicBezTo>
                <a:lnTo>
                  <a:pt x="7133167" y="1735670"/>
                </a:lnTo>
                <a:cubicBezTo>
                  <a:pt x="7133167" y="1782428"/>
                  <a:pt x="7095261" y="1820333"/>
                  <a:pt x="7048503" y="1820333"/>
                </a:cubicBezTo>
                <a:lnTo>
                  <a:pt x="84664" y="1820333"/>
                </a:lnTo>
                <a:cubicBezTo>
                  <a:pt x="37905" y="1820333"/>
                  <a:pt x="0" y="1782428"/>
                  <a:pt x="0" y="1735670"/>
                </a:cubicBezTo>
                <a:lnTo>
                  <a:pt x="0" y="84664"/>
                </a:lnTo>
                <a:cubicBezTo>
                  <a:pt x="0" y="37905"/>
                  <a:pt x="37905" y="0"/>
                  <a:pt x="84664" y="0"/>
                </a:cubicBezTo>
                <a:close/>
              </a:path>
            </a:pathLst>
          </a:custGeom>
          <a:solidFill>
            <a:srgbClr val="181A1F">
              <a:alpha val="50196"/>
            </a:srgbClr>
          </a:solidFill>
          <a:ln/>
        </p:spPr>
      </p:sp>
      <p:sp>
        <p:nvSpPr>
          <p:cNvPr id="12" name="Text 10"/>
          <p:cNvSpPr/>
          <p:nvPr/>
        </p:nvSpPr>
        <p:spPr>
          <a:xfrm>
            <a:off x="846667" y="3556000"/>
            <a:ext cx="6889750"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数学公式</a:t>
            </a:r>
            <a:endParaRPr lang="en-US" sz="1600" dirty="0"/>
          </a:p>
        </p:txBody>
      </p:sp>
      <p:sp>
        <p:nvSpPr>
          <p:cNvPr id="13" name="Shape 11"/>
          <p:cNvSpPr/>
          <p:nvPr/>
        </p:nvSpPr>
        <p:spPr>
          <a:xfrm>
            <a:off x="846667" y="3937000"/>
            <a:ext cx="6794500" cy="592667"/>
          </a:xfrm>
          <a:custGeom>
            <a:avLst/>
            <a:gdLst/>
            <a:ahLst/>
            <a:cxnLst/>
            <a:rect l="l" t="t" r="r" b="b"/>
            <a:pathLst>
              <a:path w="6794500" h="592667">
                <a:moveTo>
                  <a:pt x="42334" y="0"/>
                </a:moveTo>
                <a:lnTo>
                  <a:pt x="6752166" y="0"/>
                </a:lnTo>
                <a:cubicBezTo>
                  <a:pt x="6775546" y="0"/>
                  <a:pt x="6794500" y="18954"/>
                  <a:pt x="6794500" y="42334"/>
                </a:cubicBezTo>
                <a:lnTo>
                  <a:pt x="6794500" y="550332"/>
                </a:lnTo>
                <a:cubicBezTo>
                  <a:pt x="6794500" y="573713"/>
                  <a:pt x="6775546" y="592667"/>
                  <a:pt x="6752166" y="592667"/>
                </a:cubicBezTo>
                <a:lnTo>
                  <a:pt x="42334" y="592667"/>
                </a:lnTo>
                <a:cubicBezTo>
                  <a:pt x="18954" y="592667"/>
                  <a:pt x="0" y="573713"/>
                  <a:pt x="0" y="550332"/>
                </a:cubicBezTo>
                <a:lnTo>
                  <a:pt x="0" y="42334"/>
                </a:lnTo>
                <a:cubicBezTo>
                  <a:pt x="0" y="18969"/>
                  <a:pt x="18969" y="0"/>
                  <a:pt x="42334" y="0"/>
                </a:cubicBezTo>
                <a:close/>
              </a:path>
            </a:pathLst>
          </a:custGeom>
          <a:solidFill>
            <a:srgbClr val="181A1F"/>
          </a:solidFill>
          <a:ln/>
        </p:spPr>
      </p:sp>
      <p:sp>
        <p:nvSpPr>
          <p:cNvPr id="14" name="Text 12"/>
          <p:cNvSpPr/>
          <p:nvPr/>
        </p:nvSpPr>
        <p:spPr>
          <a:xfrm>
            <a:off x="910167" y="4064000"/>
            <a:ext cx="6667500" cy="338667"/>
          </a:xfrm>
          <a:prstGeom prst="rect">
            <a:avLst/>
          </a:prstGeom>
          <a:noFill/>
          <a:ln/>
        </p:spPr>
        <p:txBody>
          <a:bodyPr wrap="square" lIns="0" tIns="0" rIns="0" bIns="0" rtlCol="0" anchor="ctr"/>
          <a:lstStyle/>
          <a:p>
            <a:pPr algn="ctr">
              <a:lnSpc>
                <a:spcPct val="110000"/>
              </a:lnSpc>
            </a:pPr>
            <a:r>
              <a:rPr lang="en-US" sz="2000" dirty="0">
                <a:solidFill>
                  <a:srgbClr val="7E9AA8"/>
                </a:solidFill>
                <a:latin typeface="Noto Sans SC" pitchFamily="34" charset="0"/>
                <a:ea typeface="Noto Sans SC" pitchFamily="34" charset="-122"/>
                <a:cs typeface="Noto Sans SC" pitchFamily="34" charset="-120"/>
              </a:rPr>
              <a:t>y = (1/M) ∑ yᵢ</a:t>
            </a:r>
            <a:endParaRPr lang="en-US" sz="1600" dirty="0"/>
          </a:p>
        </p:txBody>
      </p:sp>
      <p:sp>
        <p:nvSpPr>
          <p:cNvPr id="15" name="Text 13"/>
          <p:cNvSpPr/>
          <p:nvPr/>
        </p:nvSpPr>
        <p:spPr>
          <a:xfrm>
            <a:off x="846667" y="4614333"/>
            <a:ext cx="6868583" cy="423333"/>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M：基学习器数量</a:t>
            </a:r>
            <a:endParaRPr lang="en-US" sz="1600" dirty="0"/>
          </a:p>
          <a:p>
            <a:pPr>
              <a:lnSpc>
                <a:spcPct val="120000"/>
              </a:lnSpc>
            </a:pPr>
            <a:r>
              <a:rPr lang="en-US" sz="1167" dirty="0">
                <a:solidFill>
                  <a:srgbClr val="7E9AA8"/>
                </a:solidFill>
                <a:latin typeface="MiSans" pitchFamily="34" charset="0"/>
                <a:ea typeface="MiSans" pitchFamily="34" charset="-122"/>
                <a:cs typeface="MiSans" pitchFamily="34" charset="-120"/>
              </a:rPr>
              <a:t>yᵢ：第i个基学习器的预测值</a:t>
            </a:r>
            <a:endParaRPr lang="en-US" sz="1600" dirty="0"/>
          </a:p>
        </p:txBody>
      </p:sp>
      <p:sp>
        <p:nvSpPr>
          <p:cNvPr id="16" name="Text 14"/>
          <p:cNvSpPr/>
          <p:nvPr/>
        </p:nvSpPr>
        <p:spPr>
          <a:xfrm>
            <a:off x="677333" y="5334000"/>
            <a:ext cx="722841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优势特点</a:t>
            </a:r>
            <a:endParaRPr lang="en-US" sz="1600" dirty="0"/>
          </a:p>
        </p:txBody>
      </p:sp>
      <p:sp>
        <p:nvSpPr>
          <p:cNvPr id="17" name="Shape 15"/>
          <p:cNvSpPr/>
          <p:nvPr/>
        </p:nvSpPr>
        <p:spPr>
          <a:xfrm>
            <a:off x="709083" y="5762625"/>
            <a:ext cx="148167" cy="169333"/>
          </a:xfrm>
          <a:custGeom>
            <a:avLst/>
            <a:gdLst/>
            <a:ahLst/>
            <a:cxnLst/>
            <a:rect l="l" t="t" r="r" b="b"/>
            <a:pathLst>
              <a:path w="148167" h="169333">
                <a:moveTo>
                  <a:pt x="143801" y="23184"/>
                </a:moveTo>
                <a:cubicBezTo>
                  <a:pt x="148530" y="26624"/>
                  <a:pt x="149589" y="33238"/>
                  <a:pt x="146149" y="37968"/>
                </a:cubicBezTo>
                <a:lnTo>
                  <a:pt x="61483" y="154384"/>
                </a:lnTo>
                <a:cubicBezTo>
                  <a:pt x="59664" y="156898"/>
                  <a:pt x="56852" y="158452"/>
                  <a:pt x="53743" y="158717"/>
                </a:cubicBezTo>
                <a:cubicBezTo>
                  <a:pt x="50635" y="158982"/>
                  <a:pt x="47625" y="157824"/>
                  <a:pt x="45442" y="155641"/>
                </a:cubicBezTo>
                <a:lnTo>
                  <a:pt x="3109" y="113308"/>
                </a:lnTo>
                <a:cubicBezTo>
                  <a:pt x="-1025" y="109174"/>
                  <a:pt x="-1025" y="102460"/>
                  <a:pt x="3109" y="98326"/>
                </a:cubicBezTo>
                <a:cubicBezTo>
                  <a:pt x="7243" y="94192"/>
                  <a:pt x="13957" y="94192"/>
                  <a:pt x="18091" y="98326"/>
                </a:cubicBezTo>
                <a:lnTo>
                  <a:pt x="51660" y="131895"/>
                </a:lnTo>
                <a:lnTo>
                  <a:pt x="129051" y="25499"/>
                </a:lnTo>
                <a:cubicBezTo>
                  <a:pt x="132490" y="20770"/>
                  <a:pt x="139105" y="19711"/>
                  <a:pt x="143834" y="23151"/>
                </a:cubicBezTo>
                <a:close/>
              </a:path>
            </a:pathLst>
          </a:custGeom>
          <a:solidFill>
            <a:srgbClr val="4C7E9A"/>
          </a:solidFill>
          <a:ln/>
        </p:spPr>
      </p:sp>
      <p:sp>
        <p:nvSpPr>
          <p:cNvPr id="18" name="Text 16"/>
          <p:cNvSpPr/>
          <p:nvPr/>
        </p:nvSpPr>
        <p:spPr>
          <a:xfrm>
            <a:off x="959556" y="5715000"/>
            <a:ext cx="6935611"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简单有效，易于实现</a:t>
            </a:r>
            <a:endParaRPr lang="en-US" sz="1600" dirty="0"/>
          </a:p>
        </p:txBody>
      </p:sp>
      <p:sp>
        <p:nvSpPr>
          <p:cNvPr id="19" name="Shape 17"/>
          <p:cNvSpPr/>
          <p:nvPr/>
        </p:nvSpPr>
        <p:spPr>
          <a:xfrm>
            <a:off x="709083" y="6058958"/>
            <a:ext cx="148167" cy="169333"/>
          </a:xfrm>
          <a:custGeom>
            <a:avLst/>
            <a:gdLst/>
            <a:ahLst/>
            <a:cxnLst/>
            <a:rect l="l" t="t" r="r" b="b"/>
            <a:pathLst>
              <a:path w="148167" h="169333">
                <a:moveTo>
                  <a:pt x="143801" y="23184"/>
                </a:moveTo>
                <a:cubicBezTo>
                  <a:pt x="148530" y="26624"/>
                  <a:pt x="149589" y="33238"/>
                  <a:pt x="146149" y="37968"/>
                </a:cubicBezTo>
                <a:lnTo>
                  <a:pt x="61483" y="154384"/>
                </a:lnTo>
                <a:cubicBezTo>
                  <a:pt x="59664" y="156898"/>
                  <a:pt x="56852" y="158452"/>
                  <a:pt x="53743" y="158717"/>
                </a:cubicBezTo>
                <a:cubicBezTo>
                  <a:pt x="50635" y="158982"/>
                  <a:pt x="47625" y="157824"/>
                  <a:pt x="45442" y="155641"/>
                </a:cubicBezTo>
                <a:lnTo>
                  <a:pt x="3109" y="113308"/>
                </a:lnTo>
                <a:cubicBezTo>
                  <a:pt x="-1025" y="109174"/>
                  <a:pt x="-1025" y="102460"/>
                  <a:pt x="3109" y="98326"/>
                </a:cubicBezTo>
                <a:cubicBezTo>
                  <a:pt x="7243" y="94192"/>
                  <a:pt x="13957" y="94192"/>
                  <a:pt x="18091" y="98326"/>
                </a:cubicBezTo>
                <a:lnTo>
                  <a:pt x="51660" y="131895"/>
                </a:lnTo>
                <a:lnTo>
                  <a:pt x="129051" y="25499"/>
                </a:lnTo>
                <a:cubicBezTo>
                  <a:pt x="132490" y="20770"/>
                  <a:pt x="139105" y="19711"/>
                  <a:pt x="143834" y="23151"/>
                </a:cubicBezTo>
                <a:close/>
              </a:path>
            </a:pathLst>
          </a:custGeom>
          <a:solidFill>
            <a:srgbClr val="4C7E9A"/>
          </a:solidFill>
          <a:ln/>
        </p:spPr>
      </p:sp>
      <p:sp>
        <p:nvSpPr>
          <p:cNvPr id="20" name="Text 18"/>
          <p:cNvSpPr/>
          <p:nvPr/>
        </p:nvSpPr>
        <p:spPr>
          <a:xfrm>
            <a:off x="959556" y="6011333"/>
            <a:ext cx="6935611"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平滑极端预测值</a:t>
            </a:r>
            <a:endParaRPr lang="en-US" sz="1600" dirty="0"/>
          </a:p>
        </p:txBody>
      </p:sp>
      <p:sp>
        <p:nvSpPr>
          <p:cNvPr id="21" name="Shape 19"/>
          <p:cNvSpPr/>
          <p:nvPr/>
        </p:nvSpPr>
        <p:spPr>
          <a:xfrm>
            <a:off x="709083" y="6355292"/>
            <a:ext cx="148167" cy="169333"/>
          </a:xfrm>
          <a:custGeom>
            <a:avLst/>
            <a:gdLst/>
            <a:ahLst/>
            <a:cxnLst/>
            <a:rect l="l" t="t" r="r" b="b"/>
            <a:pathLst>
              <a:path w="148167" h="169333">
                <a:moveTo>
                  <a:pt x="143801" y="23184"/>
                </a:moveTo>
                <a:cubicBezTo>
                  <a:pt x="148530" y="26624"/>
                  <a:pt x="149589" y="33238"/>
                  <a:pt x="146149" y="37968"/>
                </a:cubicBezTo>
                <a:lnTo>
                  <a:pt x="61483" y="154384"/>
                </a:lnTo>
                <a:cubicBezTo>
                  <a:pt x="59664" y="156898"/>
                  <a:pt x="56852" y="158452"/>
                  <a:pt x="53743" y="158717"/>
                </a:cubicBezTo>
                <a:cubicBezTo>
                  <a:pt x="50635" y="158982"/>
                  <a:pt x="47625" y="157824"/>
                  <a:pt x="45442" y="155641"/>
                </a:cubicBezTo>
                <a:lnTo>
                  <a:pt x="3109" y="113308"/>
                </a:lnTo>
                <a:cubicBezTo>
                  <a:pt x="-1025" y="109174"/>
                  <a:pt x="-1025" y="102460"/>
                  <a:pt x="3109" y="98326"/>
                </a:cubicBezTo>
                <a:cubicBezTo>
                  <a:pt x="7243" y="94192"/>
                  <a:pt x="13957" y="94192"/>
                  <a:pt x="18091" y="98326"/>
                </a:cubicBezTo>
                <a:lnTo>
                  <a:pt x="51660" y="131895"/>
                </a:lnTo>
                <a:lnTo>
                  <a:pt x="129051" y="25499"/>
                </a:lnTo>
                <a:cubicBezTo>
                  <a:pt x="132490" y="20770"/>
                  <a:pt x="139105" y="19711"/>
                  <a:pt x="143834" y="23151"/>
                </a:cubicBezTo>
                <a:close/>
              </a:path>
            </a:pathLst>
          </a:custGeom>
          <a:solidFill>
            <a:srgbClr val="4C7E9A"/>
          </a:solidFill>
          <a:ln/>
        </p:spPr>
      </p:sp>
      <p:sp>
        <p:nvSpPr>
          <p:cNvPr id="22" name="Text 20"/>
          <p:cNvSpPr/>
          <p:nvPr/>
        </p:nvSpPr>
        <p:spPr>
          <a:xfrm>
            <a:off x="959556" y="6307667"/>
            <a:ext cx="6935611"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减少异常值影响</a:t>
            </a:r>
            <a:endParaRPr lang="en-US" sz="1600" dirty="0"/>
          </a:p>
        </p:txBody>
      </p:sp>
      <p:sp>
        <p:nvSpPr>
          <p:cNvPr id="23" name="Shape 21"/>
          <p:cNvSpPr/>
          <p:nvPr/>
        </p:nvSpPr>
        <p:spPr>
          <a:xfrm>
            <a:off x="709083" y="6651625"/>
            <a:ext cx="148167" cy="169333"/>
          </a:xfrm>
          <a:custGeom>
            <a:avLst/>
            <a:gdLst/>
            <a:ahLst/>
            <a:cxnLst/>
            <a:rect l="l" t="t" r="r" b="b"/>
            <a:pathLst>
              <a:path w="148167" h="169333">
                <a:moveTo>
                  <a:pt x="143801" y="23184"/>
                </a:moveTo>
                <a:cubicBezTo>
                  <a:pt x="148530" y="26624"/>
                  <a:pt x="149589" y="33238"/>
                  <a:pt x="146149" y="37968"/>
                </a:cubicBezTo>
                <a:lnTo>
                  <a:pt x="61483" y="154384"/>
                </a:lnTo>
                <a:cubicBezTo>
                  <a:pt x="59664" y="156898"/>
                  <a:pt x="56852" y="158452"/>
                  <a:pt x="53743" y="158717"/>
                </a:cubicBezTo>
                <a:cubicBezTo>
                  <a:pt x="50635" y="158982"/>
                  <a:pt x="47625" y="157824"/>
                  <a:pt x="45442" y="155641"/>
                </a:cubicBezTo>
                <a:lnTo>
                  <a:pt x="3109" y="113308"/>
                </a:lnTo>
                <a:cubicBezTo>
                  <a:pt x="-1025" y="109174"/>
                  <a:pt x="-1025" y="102460"/>
                  <a:pt x="3109" y="98326"/>
                </a:cubicBezTo>
                <a:cubicBezTo>
                  <a:pt x="7243" y="94192"/>
                  <a:pt x="13957" y="94192"/>
                  <a:pt x="18091" y="98326"/>
                </a:cubicBezTo>
                <a:lnTo>
                  <a:pt x="51660" y="131895"/>
                </a:lnTo>
                <a:lnTo>
                  <a:pt x="129051" y="25499"/>
                </a:lnTo>
                <a:cubicBezTo>
                  <a:pt x="132490" y="20770"/>
                  <a:pt x="139105" y="19711"/>
                  <a:pt x="143834" y="23151"/>
                </a:cubicBezTo>
                <a:close/>
              </a:path>
            </a:pathLst>
          </a:custGeom>
          <a:solidFill>
            <a:srgbClr val="4C7E9A"/>
          </a:solidFill>
          <a:ln/>
        </p:spPr>
      </p:sp>
      <p:sp>
        <p:nvSpPr>
          <p:cNvPr id="24" name="Text 22"/>
          <p:cNvSpPr/>
          <p:nvPr/>
        </p:nvSpPr>
        <p:spPr>
          <a:xfrm>
            <a:off x="959556" y="6604000"/>
            <a:ext cx="6935611"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基学习器性能相近时效果好</a:t>
            </a:r>
            <a:endParaRPr lang="en-US" sz="1600" dirty="0"/>
          </a:p>
        </p:txBody>
      </p:sp>
      <p:sp>
        <p:nvSpPr>
          <p:cNvPr id="25" name="Shape 23"/>
          <p:cNvSpPr/>
          <p:nvPr/>
        </p:nvSpPr>
        <p:spPr>
          <a:xfrm>
            <a:off x="8255000" y="1566333"/>
            <a:ext cx="7577667" cy="5503333"/>
          </a:xfrm>
          <a:custGeom>
            <a:avLst/>
            <a:gdLst/>
            <a:ahLst/>
            <a:cxnLst/>
            <a:rect l="l" t="t" r="r" b="b"/>
            <a:pathLst>
              <a:path w="7577667" h="5503333">
                <a:moveTo>
                  <a:pt x="42333" y="0"/>
                </a:moveTo>
                <a:lnTo>
                  <a:pt x="7493025" y="0"/>
                </a:lnTo>
                <a:cubicBezTo>
                  <a:pt x="7539771" y="0"/>
                  <a:pt x="7577667" y="37895"/>
                  <a:pt x="7577667" y="84641"/>
                </a:cubicBezTo>
                <a:lnTo>
                  <a:pt x="7577667" y="5418692"/>
                </a:lnTo>
                <a:cubicBezTo>
                  <a:pt x="7577667" y="5465438"/>
                  <a:pt x="7539771" y="5503333"/>
                  <a:pt x="7493025" y="5503333"/>
                </a:cubicBezTo>
                <a:lnTo>
                  <a:pt x="42333" y="5503333"/>
                </a:lnTo>
                <a:cubicBezTo>
                  <a:pt x="18953" y="5503333"/>
                  <a:pt x="0" y="5484380"/>
                  <a:pt x="0" y="5461000"/>
                </a:cubicBezTo>
                <a:lnTo>
                  <a:pt x="0" y="42333"/>
                </a:lnTo>
                <a:cubicBezTo>
                  <a:pt x="0" y="18953"/>
                  <a:pt x="18953" y="0"/>
                  <a:pt x="42333" y="0"/>
                </a:cubicBezTo>
                <a:close/>
              </a:path>
            </a:pathLst>
          </a:custGeom>
          <a:solidFill>
            <a:srgbClr val="3A5E78">
              <a:alpha val="20000"/>
            </a:srgbClr>
          </a:solidFill>
          <a:ln/>
        </p:spPr>
      </p:sp>
      <p:sp>
        <p:nvSpPr>
          <p:cNvPr id="26" name="Shape 24"/>
          <p:cNvSpPr/>
          <p:nvPr/>
        </p:nvSpPr>
        <p:spPr>
          <a:xfrm>
            <a:off x="8255000" y="1566333"/>
            <a:ext cx="42333" cy="5503333"/>
          </a:xfrm>
          <a:custGeom>
            <a:avLst/>
            <a:gdLst/>
            <a:ahLst/>
            <a:cxnLst/>
            <a:rect l="l" t="t" r="r" b="b"/>
            <a:pathLst>
              <a:path w="42333" h="5503333">
                <a:moveTo>
                  <a:pt x="42333" y="0"/>
                </a:moveTo>
                <a:lnTo>
                  <a:pt x="42333" y="0"/>
                </a:lnTo>
                <a:lnTo>
                  <a:pt x="42333" y="5503333"/>
                </a:lnTo>
                <a:lnTo>
                  <a:pt x="42333" y="5503333"/>
                </a:lnTo>
                <a:cubicBezTo>
                  <a:pt x="18953" y="5503333"/>
                  <a:pt x="0" y="5484380"/>
                  <a:pt x="0" y="5461000"/>
                </a:cubicBezTo>
                <a:lnTo>
                  <a:pt x="0" y="42333"/>
                </a:lnTo>
                <a:cubicBezTo>
                  <a:pt x="0" y="18953"/>
                  <a:pt x="18953" y="0"/>
                  <a:pt x="42333" y="0"/>
                </a:cubicBezTo>
                <a:close/>
              </a:path>
            </a:pathLst>
          </a:custGeom>
          <a:solidFill>
            <a:srgbClr val="7E9AA8"/>
          </a:solidFill>
          <a:ln/>
        </p:spPr>
      </p:sp>
      <p:sp>
        <p:nvSpPr>
          <p:cNvPr id="27" name="Shape 25"/>
          <p:cNvSpPr/>
          <p:nvPr/>
        </p:nvSpPr>
        <p:spPr>
          <a:xfrm>
            <a:off x="8530167" y="1809750"/>
            <a:ext cx="317500" cy="317500"/>
          </a:xfrm>
          <a:custGeom>
            <a:avLst/>
            <a:gdLst/>
            <a:ahLst/>
            <a:cxnLst/>
            <a:rect l="l" t="t" r="r" b="b"/>
            <a:pathLst>
              <a:path w="317500" h="317500">
                <a:moveTo>
                  <a:pt x="138906" y="59531"/>
                </a:moveTo>
                <a:cubicBezTo>
                  <a:pt x="138906" y="48579"/>
                  <a:pt x="147798" y="39688"/>
                  <a:pt x="158750" y="39688"/>
                </a:cubicBezTo>
                <a:cubicBezTo>
                  <a:pt x="169702" y="39688"/>
                  <a:pt x="178594" y="48579"/>
                  <a:pt x="178594" y="59531"/>
                </a:cubicBezTo>
                <a:cubicBezTo>
                  <a:pt x="178594" y="70483"/>
                  <a:pt x="169702" y="79375"/>
                  <a:pt x="158750" y="79375"/>
                </a:cubicBezTo>
                <a:cubicBezTo>
                  <a:pt x="147798" y="79375"/>
                  <a:pt x="138906" y="70483"/>
                  <a:pt x="138906" y="59531"/>
                </a:cubicBezTo>
                <a:close/>
                <a:moveTo>
                  <a:pt x="214871" y="79375"/>
                </a:moveTo>
                <a:cubicBezTo>
                  <a:pt x="217041" y="73174"/>
                  <a:pt x="218281" y="66477"/>
                  <a:pt x="218281" y="59531"/>
                </a:cubicBezTo>
                <a:cubicBezTo>
                  <a:pt x="218281" y="26665"/>
                  <a:pt x="191616" y="0"/>
                  <a:pt x="158750" y="0"/>
                </a:cubicBezTo>
                <a:cubicBezTo>
                  <a:pt x="125884" y="0"/>
                  <a:pt x="99219" y="26665"/>
                  <a:pt x="99219" y="59531"/>
                </a:cubicBezTo>
                <a:cubicBezTo>
                  <a:pt x="99219" y="66477"/>
                  <a:pt x="100397" y="73174"/>
                  <a:pt x="102629" y="79375"/>
                </a:cubicBezTo>
                <a:lnTo>
                  <a:pt x="89111" y="79375"/>
                </a:lnTo>
                <a:cubicBezTo>
                  <a:pt x="71562" y="79375"/>
                  <a:pt x="56121" y="90847"/>
                  <a:pt x="51098" y="107652"/>
                </a:cubicBezTo>
                <a:lnTo>
                  <a:pt x="1488" y="272976"/>
                </a:lnTo>
                <a:cubicBezTo>
                  <a:pt x="496" y="276200"/>
                  <a:pt x="0" y="279549"/>
                  <a:pt x="0" y="282897"/>
                </a:cubicBezTo>
                <a:cubicBezTo>
                  <a:pt x="0" y="301997"/>
                  <a:pt x="15503" y="317500"/>
                  <a:pt x="34603" y="317500"/>
                </a:cubicBezTo>
                <a:lnTo>
                  <a:pt x="282897" y="317500"/>
                </a:lnTo>
                <a:cubicBezTo>
                  <a:pt x="301997" y="317500"/>
                  <a:pt x="317500" y="301997"/>
                  <a:pt x="317500" y="282897"/>
                </a:cubicBezTo>
                <a:cubicBezTo>
                  <a:pt x="317500" y="279549"/>
                  <a:pt x="317004" y="276200"/>
                  <a:pt x="316012" y="272976"/>
                </a:cubicBezTo>
                <a:lnTo>
                  <a:pt x="266402" y="107714"/>
                </a:lnTo>
                <a:cubicBezTo>
                  <a:pt x="261379" y="90909"/>
                  <a:pt x="245938" y="79437"/>
                  <a:pt x="228389" y="79437"/>
                </a:cubicBezTo>
                <a:lnTo>
                  <a:pt x="214871" y="79437"/>
                </a:lnTo>
                <a:close/>
              </a:path>
            </a:pathLst>
          </a:custGeom>
          <a:solidFill>
            <a:srgbClr val="7E9AA8"/>
          </a:solidFill>
          <a:ln/>
        </p:spPr>
      </p:sp>
      <p:sp>
        <p:nvSpPr>
          <p:cNvPr id="28" name="Text 26"/>
          <p:cNvSpPr/>
          <p:nvPr/>
        </p:nvSpPr>
        <p:spPr>
          <a:xfrm>
            <a:off x="9011708" y="1778000"/>
            <a:ext cx="1746250" cy="381000"/>
          </a:xfrm>
          <a:prstGeom prst="rect">
            <a:avLst/>
          </a:prstGeom>
          <a:noFill/>
          <a:ln/>
        </p:spPr>
        <p:txBody>
          <a:bodyPr wrap="square" lIns="0" tIns="0" rIns="0" bIns="0" rtlCol="0" anchor="ctr"/>
          <a:lstStyle/>
          <a:p>
            <a:pPr>
              <a:lnSpc>
                <a:spcPct val="100000"/>
              </a:lnSpc>
            </a:pPr>
            <a:r>
              <a:rPr lang="en-US" sz="2500" b="1" dirty="0">
                <a:solidFill>
                  <a:srgbClr val="D1D5DB"/>
                </a:solidFill>
                <a:latin typeface="MiSans" pitchFamily="34" charset="0"/>
                <a:ea typeface="MiSans" pitchFamily="34" charset="-122"/>
                <a:cs typeface="MiSans" pitchFamily="34" charset="-120"/>
              </a:rPr>
              <a:t>加权平均法</a:t>
            </a:r>
            <a:endParaRPr lang="en-US" sz="1600" dirty="0"/>
          </a:p>
        </p:txBody>
      </p:sp>
      <p:sp>
        <p:nvSpPr>
          <p:cNvPr id="29" name="Text 27"/>
          <p:cNvSpPr/>
          <p:nvPr/>
        </p:nvSpPr>
        <p:spPr>
          <a:xfrm>
            <a:off x="8487833" y="2328333"/>
            <a:ext cx="722841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核心思想</a:t>
            </a:r>
            <a:endParaRPr lang="en-US" sz="1600" dirty="0"/>
          </a:p>
        </p:txBody>
      </p:sp>
      <p:sp>
        <p:nvSpPr>
          <p:cNvPr id="30" name="Text 28"/>
          <p:cNvSpPr/>
          <p:nvPr/>
        </p:nvSpPr>
        <p:spPr>
          <a:xfrm>
            <a:off x="8487833" y="2709333"/>
            <a:ext cx="7217833" cy="550333"/>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给预测更准确的基学习器分配更高的权重。这就像在专家团队中，经验丰富的老专家拥有更高的话语权，而新手专家的意见权重相对较低。</a:t>
            </a:r>
            <a:endParaRPr lang="en-US" sz="1600" dirty="0"/>
          </a:p>
        </p:txBody>
      </p:sp>
      <p:sp>
        <p:nvSpPr>
          <p:cNvPr id="31" name="Shape 29"/>
          <p:cNvSpPr/>
          <p:nvPr/>
        </p:nvSpPr>
        <p:spPr>
          <a:xfrm>
            <a:off x="8487833" y="3386667"/>
            <a:ext cx="7133167" cy="1820333"/>
          </a:xfrm>
          <a:custGeom>
            <a:avLst/>
            <a:gdLst/>
            <a:ahLst/>
            <a:cxnLst/>
            <a:rect l="l" t="t" r="r" b="b"/>
            <a:pathLst>
              <a:path w="7133167" h="1820333">
                <a:moveTo>
                  <a:pt x="84664" y="0"/>
                </a:moveTo>
                <a:lnTo>
                  <a:pt x="7048503" y="0"/>
                </a:lnTo>
                <a:cubicBezTo>
                  <a:pt x="7095261" y="0"/>
                  <a:pt x="7133167" y="37905"/>
                  <a:pt x="7133167" y="84664"/>
                </a:cubicBezTo>
                <a:lnTo>
                  <a:pt x="7133167" y="1735670"/>
                </a:lnTo>
                <a:cubicBezTo>
                  <a:pt x="7133167" y="1782428"/>
                  <a:pt x="7095261" y="1820333"/>
                  <a:pt x="7048503" y="1820333"/>
                </a:cubicBezTo>
                <a:lnTo>
                  <a:pt x="84664" y="1820333"/>
                </a:lnTo>
                <a:cubicBezTo>
                  <a:pt x="37905" y="1820333"/>
                  <a:pt x="0" y="1782428"/>
                  <a:pt x="0" y="1735670"/>
                </a:cubicBezTo>
                <a:lnTo>
                  <a:pt x="0" y="84664"/>
                </a:lnTo>
                <a:cubicBezTo>
                  <a:pt x="0" y="37905"/>
                  <a:pt x="37905" y="0"/>
                  <a:pt x="84664" y="0"/>
                </a:cubicBezTo>
                <a:close/>
              </a:path>
            </a:pathLst>
          </a:custGeom>
          <a:solidFill>
            <a:srgbClr val="181A1F">
              <a:alpha val="50196"/>
            </a:srgbClr>
          </a:solidFill>
          <a:ln/>
        </p:spPr>
      </p:sp>
      <p:sp>
        <p:nvSpPr>
          <p:cNvPr id="32" name="Text 30"/>
          <p:cNvSpPr/>
          <p:nvPr/>
        </p:nvSpPr>
        <p:spPr>
          <a:xfrm>
            <a:off x="8657167" y="3556000"/>
            <a:ext cx="6889750"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数学公式</a:t>
            </a:r>
            <a:endParaRPr lang="en-US" sz="1600" dirty="0"/>
          </a:p>
        </p:txBody>
      </p:sp>
      <p:sp>
        <p:nvSpPr>
          <p:cNvPr id="33" name="Shape 31"/>
          <p:cNvSpPr/>
          <p:nvPr/>
        </p:nvSpPr>
        <p:spPr>
          <a:xfrm>
            <a:off x="8657167" y="3937000"/>
            <a:ext cx="6794500" cy="592667"/>
          </a:xfrm>
          <a:custGeom>
            <a:avLst/>
            <a:gdLst/>
            <a:ahLst/>
            <a:cxnLst/>
            <a:rect l="l" t="t" r="r" b="b"/>
            <a:pathLst>
              <a:path w="6794500" h="592667">
                <a:moveTo>
                  <a:pt x="42334" y="0"/>
                </a:moveTo>
                <a:lnTo>
                  <a:pt x="6752166" y="0"/>
                </a:lnTo>
                <a:cubicBezTo>
                  <a:pt x="6775546" y="0"/>
                  <a:pt x="6794500" y="18954"/>
                  <a:pt x="6794500" y="42334"/>
                </a:cubicBezTo>
                <a:lnTo>
                  <a:pt x="6794500" y="550332"/>
                </a:lnTo>
                <a:cubicBezTo>
                  <a:pt x="6794500" y="573713"/>
                  <a:pt x="6775546" y="592667"/>
                  <a:pt x="6752166" y="592667"/>
                </a:cubicBezTo>
                <a:lnTo>
                  <a:pt x="42334" y="592667"/>
                </a:lnTo>
                <a:cubicBezTo>
                  <a:pt x="18954" y="592667"/>
                  <a:pt x="0" y="573713"/>
                  <a:pt x="0" y="550332"/>
                </a:cubicBezTo>
                <a:lnTo>
                  <a:pt x="0" y="42334"/>
                </a:lnTo>
                <a:cubicBezTo>
                  <a:pt x="0" y="18969"/>
                  <a:pt x="18969" y="0"/>
                  <a:pt x="42334" y="0"/>
                </a:cubicBezTo>
                <a:close/>
              </a:path>
            </a:pathLst>
          </a:custGeom>
          <a:solidFill>
            <a:srgbClr val="181A1F"/>
          </a:solidFill>
          <a:ln/>
        </p:spPr>
      </p:sp>
      <p:sp>
        <p:nvSpPr>
          <p:cNvPr id="34" name="Text 32"/>
          <p:cNvSpPr/>
          <p:nvPr/>
        </p:nvSpPr>
        <p:spPr>
          <a:xfrm>
            <a:off x="8720667" y="4064000"/>
            <a:ext cx="6667500" cy="338667"/>
          </a:xfrm>
          <a:prstGeom prst="rect">
            <a:avLst/>
          </a:prstGeom>
          <a:noFill/>
          <a:ln/>
        </p:spPr>
        <p:txBody>
          <a:bodyPr wrap="square" lIns="0" tIns="0" rIns="0" bIns="0" rtlCol="0" anchor="ctr"/>
          <a:lstStyle/>
          <a:p>
            <a:pPr algn="ctr">
              <a:lnSpc>
                <a:spcPct val="110000"/>
              </a:lnSpc>
            </a:pPr>
            <a:r>
              <a:rPr lang="en-US" sz="2000" dirty="0">
                <a:solidFill>
                  <a:srgbClr val="7E9AA8"/>
                </a:solidFill>
                <a:latin typeface="Noto Sans SC" pitchFamily="34" charset="0"/>
                <a:ea typeface="Noto Sans SC" pitchFamily="34" charset="-122"/>
                <a:cs typeface="Noto Sans SC" pitchFamily="34" charset="-120"/>
              </a:rPr>
              <a:t>y = ∑ wᵢyᵢ</a:t>
            </a:r>
            <a:endParaRPr lang="en-US" sz="1600" dirty="0"/>
          </a:p>
        </p:txBody>
      </p:sp>
      <p:sp>
        <p:nvSpPr>
          <p:cNvPr id="35" name="Text 33"/>
          <p:cNvSpPr/>
          <p:nvPr/>
        </p:nvSpPr>
        <p:spPr>
          <a:xfrm>
            <a:off x="8657167" y="4614333"/>
            <a:ext cx="6868583" cy="423333"/>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wᵢ：第i个基学习器的权重（∑wᵢ=1）</a:t>
            </a:r>
            <a:endParaRPr lang="en-US" sz="1600" dirty="0"/>
          </a:p>
          <a:p>
            <a:pPr>
              <a:lnSpc>
                <a:spcPct val="120000"/>
              </a:lnSpc>
            </a:pPr>
            <a:r>
              <a:rPr lang="en-US" sz="1167" dirty="0">
                <a:solidFill>
                  <a:srgbClr val="7E9AA8"/>
                </a:solidFill>
                <a:latin typeface="MiSans" pitchFamily="34" charset="0"/>
                <a:ea typeface="MiSans" pitchFamily="34" charset="-122"/>
                <a:cs typeface="MiSans" pitchFamily="34" charset="-120"/>
              </a:rPr>
              <a:t>yᵢ：第i个基学习器的预测值</a:t>
            </a:r>
            <a:endParaRPr lang="en-US" sz="1600" dirty="0"/>
          </a:p>
        </p:txBody>
      </p:sp>
      <p:sp>
        <p:nvSpPr>
          <p:cNvPr id="36" name="Text 34"/>
          <p:cNvSpPr/>
          <p:nvPr/>
        </p:nvSpPr>
        <p:spPr>
          <a:xfrm>
            <a:off x="8487833" y="5334000"/>
            <a:ext cx="722841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权重确定</a:t>
            </a:r>
            <a:endParaRPr lang="en-US" sz="1600" dirty="0"/>
          </a:p>
        </p:txBody>
      </p:sp>
      <p:sp>
        <p:nvSpPr>
          <p:cNvPr id="37" name="Text 35"/>
          <p:cNvSpPr/>
          <p:nvPr/>
        </p:nvSpPr>
        <p:spPr>
          <a:xfrm>
            <a:off x="8487833" y="5715000"/>
            <a:ext cx="7217833" cy="254000"/>
          </a:xfrm>
          <a:prstGeom prst="rect">
            <a:avLst/>
          </a:prstGeom>
          <a:noFill/>
          <a:ln/>
        </p:spPr>
        <p:txBody>
          <a:bodyPr wrap="square" lIns="0" tIns="0" rIns="0" bIns="0" rtlCol="0" anchor="ctr"/>
          <a:lstStyle/>
          <a:p>
            <a:pPr>
              <a:lnSpc>
                <a:spcPct val="130000"/>
              </a:lnSpc>
            </a:pPr>
            <a:r>
              <a:rPr lang="en-US" sz="1333" dirty="0">
                <a:solidFill>
                  <a:srgbClr val="D1D5DB"/>
                </a:solidFill>
                <a:latin typeface="MiSans" pitchFamily="34" charset="0"/>
                <a:ea typeface="MiSans" pitchFamily="34" charset="-122"/>
                <a:cs typeface="MiSans" pitchFamily="34" charset="-120"/>
              </a:rPr>
              <a:t>权重通常基于模型在验证集上的表现来确定，性能越好的模型获得的权重越大。</a:t>
            </a:r>
            <a:endParaRPr lang="en-US" sz="1600" dirty="0"/>
          </a:p>
        </p:txBody>
      </p:sp>
      <p:sp>
        <p:nvSpPr>
          <p:cNvPr id="38" name="Shape 36"/>
          <p:cNvSpPr/>
          <p:nvPr/>
        </p:nvSpPr>
        <p:spPr>
          <a:xfrm>
            <a:off x="8530167" y="6101292"/>
            <a:ext cx="127000" cy="169333"/>
          </a:xfrm>
          <a:custGeom>
            <a:avLst/>
            <a:gdLst/>
            <a:ahLst/>
            <a:cxnLst/>
            <a:rect l="l" t="t" r="r" b="b"/>
            <a:pathLst>
              <a:path w="127000" h="169333">
                <a:moveTo>
                  <a:pt x="96871" y="127000"/>
                </a:moveTo>
                <a:cubicBezTo>
                  <a:pt x="99285" y="119625"/>
                  <a:pt x="104114" y="112944"/>
                  <a:pt x="109571" y="107189"/>
                </a:cubicBezTo>
                <a:cubicBezTo>
                  <a:pt x="120385" y="95812"/>
                  <a:pt x="127000" y="80433"/>
                  <a:pt x="127000" y="63500"/>
                </a:cubicBezTo>
                <a:cubicBezTo>
                  <a:pt x="127000" y="28443"/>
                  <a:pt x="98557" y="0"/>
                  <a:pt x="63500" y="0"/>
                </a:cubicBezTo>
                <a:cubicBezTo>
                  <a:pt x="28443" y="0"/>
                  <a:pt x="0" y="28443"/>
                  <a:pt x="0" y="63500"/>
                </a:cubicBezTo>
                <a:cubicBezTo>
                  <a:pt x="0" y="80433"/>
                  <a:pt x="6615" y="95812"/>
                  <a:pt x="17429" y="107189"/>
                </a:cubicBezTo>
                <a:cubicBezTo>
                  <a:pt x="22886" y="112944"/>
                  <a:pt x="27748" y="119625"/>
                  <a:pt x="30129" y="127000"/>
                </a:cubicBezTo>
                <a:lnTo>
                  <a:pt x="96838" y="127000"/>
                </a:lnTo>
                <a:close/>
                <a:moveTo>
                  <a:pt x="95250" y="142875"/>
                </a:moveTo>
                <a:lnTo>
                  <a:pt x="31750" y="142875"/>
                </a:lnTo>
                <a:lnTo>
                  <a:pt x="31750" y="148167"/>
                </a:lnTo>
                <a:cubicBezTo>
                  <a:pt x="31750" y="162785"/>
                  <a:pt x="43590" y="174625"/>
                  <a:pt x="58208" y="174625"/>
                </a:cubicBezTo>
                <a:lnTo>
                  <a:pt x="68792" y="174625"/>
                </a:lnTo>
                <a:cubicBezTo>
                  <a:pt x="83410" y="174625"/>
                  <a:pt x="95250" y="162785"/>
                  <a:pt x="95250" y="148167"/>
                </a:cubicBezTo>
                <a:lnTo>
                  <a:pt x="95250" y="142875"/>
                </a:lnTo>
                <a:close/>
                <a:moveTo>
                  <a:pt x="60854" y="37042"/>
                </a:moveTo>
                <a:cubicBezTo>
                  <a:pt x="47691" y="37042"/>
                  <a:pt x="37042" y="47691"/>
                  <a:pt x="37042" y="60854"/>
                </a:cubicBezTo>
                <a:cubicBezTo>
                  <a:pt x="37042" y="65253"/>
                  <a:pt x="33503" y="68792"/>
                  <a:pt x="29104" y="68792"/>
                </a:cubicBezTo>
                <a:cubicBezTo>
                  <a:pt x="24705" y="68792"/>
                  <a:pt x="21167" y="65253"/>
                  <a:pt x="21167" y="60854"/>
                </a:cubicBezTo>
                <a:cubicBezTo>
                  <a:pt x="21167" y="38927"/>
                  <a:pt x="38927" y="21167"/>
                  <a:pt x="60854" y="21167"/>
                </a:cubicBezTo>
                <a:cubicBezTo>
                  <a:pt x="65253" y="21167"/>
                  <a:pt x="68792" y="24705"/>
                  <a:pt x="68792" y="29104"/>
                </a:cubicBezTo>
                <a:cubicBezTo>
                  <a:pt x="68792" y="33503"/>
                  <a:pt x="65253" y="37042"/>
                  <a:pt x="60854" y="37042"/>
                </a:cubicBezTo>
                <a:close/>
              </a:path>
            </a:pathLst>
          </a:custGeom>
          <a:solidFill>
            <a:srgbClr val="4C7E9A"/>
          </a:solidFill>
          <a:ln/>
        </p:spPr>
      </p:sp>
      <p:sp>
        <p:nvSpPr>
          <p:cNvPr id="39" name="Text 37"/>
          <p:cNvSpPr/>
          <p:nvPr/>
        </p:nvSpPr>
        <p:spPr>
          <a:xfrm>
            <a:off x="8770056" y="6053667"/>
            <a:ext cx="6935611"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常用方法：准确率倒数、交叉验证性能、学习算法优化</a:t>
            </a:r>
            <a:endParaRPr lang="en-US" sz="1600" dirty="0"/>
          </a:p>
        </p:txBody>
      </p:sp>
      <p:sp>
        <p:nvSpPr>
          <p:cNvPr id="40" name="Shape 38"/>
          <p:cNvSpPr/>
          <p:nvPr/>
        </p:nvSpPr>
        <p:spPr>
          <a:xfrm>
            <a:off x="428625" y="7244292"/>
            <a:ext cx="15398750" cy="1322917"/>
          </a:xfrm>
          <a:custGeom>
            <a:avLst/>
            <a:gdLst/>
            <a:ahLst/>
            <a:cxnLst/>
            <a:rect l="l" t="t" r="r" b="b"/>
            <a:pathLst>
              <a:path w="15398750" h="1322917">
                <a:moveTo>
                  <a:pt x="84667" y="0"/>
                </a:moveTo>
                <a:lnTo>
                  <a:pt x="15314083" y="0"/>
                </a:lnTo>
                <a:cubicBezTo>
                  <a:pt x="15360843" y="0"/>
                  <a:pt x="15398750" y="37907"/>
                  <a:pt x="15398750" y="84667"/>
                </a:cubicBezTo>
                <a:lnTo>
                  <a:pt x="15398750" y="1238250"/>
                </a:lnTo>
                <a:cubicBezTo>
                  <a:pt x="15398750" y="1285010"/>
                  <a:pt x="15360843" y="1322917"/>
                  <a:pt x="15314083" y="1322917"/>
                </a:cubicBezTo>
                <a:lnTo>
                  <a:pt x="84667" y="1322917"/>
                </a:lnTo>
                <a:cubicBezTo>
                  <a:pt x="37907" y="1322917"/>
                  <a:pt x="0" y="1285010"/>
                  <a:pt x="0" y="1238250"/>
                </a:cubicBezTo>
                <a:lnTo>
                  <a:pt x="0" y="84667"/>
                </a:lnTo>
                <a:cubicBezTo>
                  <a:pt x="0" y="37907"/>
                  <a:pt x="37907" y="0"/>
                  <a:pt x="84667" y="0"/>
                </a:cubicBezTo>
                <a:close/>
              </a:path>
            </a:pathLst>
          </a:custGeom>
          <a:solidFill>
            <a:srgbClr val="4C7E9A">
              <a:alpha val="10196"/>
            </a:srgbClr>
          </a:solidFill>
          <a:ln w="12700">
            <a:solidFill>
              <a:srgbClr val="4C7E9A">
                <a:alpha val="30196"/>
              </a:srgbClr>
            </a:solidFill>
            <a:prstDash val="solid"/>
          </a:ln>
        </p:spPr>
      </p:sp>
      <p:sp>
        <p:nvSpPr>
          <p:cNvPr id="41" name="Shape 39"/>
          <p:cNvSpPr/>
          <p:nvPr/>
        </p:nvSpPr>
        <p:spPr>
          <a:xfrm>
            <a:off x="605896" y="7418917"/>
            <a:ext cx="396875" cy="317500"/>
          </a:xfrm>
          <a:custGeom>
            <a:avLst/>
            <a:gdLst/>
            <a:ahLst/>
            <a:cxnLst/>
            <a:rect l="l" t="t" r="r" b="b"/>
            <a:pathLst>
              <a:path w="396875" h="317500">
                <a:moveTo>
                  <a:pt x="238125" y="19844"/>
                </a:moveTo>
                <a:lnTo>
                  <a:pt x="317500" y="19844"/>
                </a:lnTo>
                <a:cubicBezTo>
                  <a:pt x="328476" y="19844"/>
                  <a:pt x="337344" y="28711"/>
                  <a:pt x="337344" y="39688"/>
                </a:cubicBezTo>
                <a:cubicBezTo>
                  <a:pt x="337344" y="50664"/>
                  <a:pt x="328476" y="59531"/>
                  <a:pt x="317500" y="59531"/>
                </a:cubicBezTo>
                <a:lnTo>
                  <a:pt x="247055" y="59531"/>
                </a:lnTo>
                <a:cubicBezTo>
                  <a:pt x="243830" y="75530"/>
                  <a:pt x="232854" y="88739"/>
                  <a:pt x="218281" y="95064"/>
                </a:cubicBezTo>
                <a:lnTo>
                  <a:pt x="218281" y="277813"/>
                </a:lnTo>
                <a:lnTo>
                  <a:pt x="317500" y="277813"/>
                </a:lnTo>
                <a:cubicBezTo>
                  <a:pt x="328476" y="277813"/>
                  <a:pt x="337344" y="286680"/>
                  <a:pt x="337344" y="297656"/>
                </a:cubicBezTo>
                <a:cubicBezTo>
                  <a:pt x="337344" y="308632"/>
                  <a:pt x="328476" y="317500"/>
                  <a:pt x="317500" y="317500"/>
                </a:cubicBezTo>
                <a:lnTo>
                  <a:pt x="79375" y="317500"/>
                </a:lnTo>
                <a:cubicBezTo>
                  <a:pt x="68399" y="317500"/>
                  <a:pt x="59531" y="308632"/>
                  <a:pt x="59531" y="297656"/>
                </a:cubicBezTo>
                <a:cubicBezTo>
                  <a:pt x="59531" y="286680"/>
                  <a:pt x="68399" y="277813"/>
                  <a:pt x="79375" y="277813"/>
                </a:cubicBezTo>
                <a:lnTo>
                  <a:pt x="178594" y="277813"/>
                </a:lnTo>
                <a:lnTo>
                  <a:pt x="178594" y="95064"/>
                </a:lnTo>
                <a:cubicBezTo>
                  <a:pt x="164021" y="88677"/>
                  <a:pt x="153045" y="75468"/>
                  <a:pt x="149820" y="59531"/>
                </a:cubicBezTo>
                <a:lnTo>
                  <a:pt x="79375" y="59531"/>
                </a:lnTo>
                <a:cubicBezTo>
                  <a:pt x="68399" y="59531"/>
                  <a:pt x="59531" y="50664"/>
                  <a:pt x="59531" y="39688"/>
                </a:cubicBezTo>
                <a:cubicBezTo>
                  <a:pt x="59531" y="28711"/>
                  <a:pt x="68399" y="19844"/>
                  <a:pt x="79375" y="19844"/>
                </a:cubicBezTo>
                <a:lnTo>
                  <a:pt x="158750" y="19844"/>
                </a:lnTo>
                <a:cubicBezTo>
                  <a:pt x="167804" y="7813"/>
                  <a:pt x="182190" y="0"/>
                  <a:pt x="198438" y="0"/>
                </a:cubicBezTo>
                <a:cubicBezTo>
                  <a:pt x="214685" y="0"/>
                  <a:pt x="229071" y="7813"/>
                  <a:pt x="238125" y="19844"/>
                </a:cubicBezTo>
                <a:close/>
                <a:moveTo>
                  <a:pt x="272604" y="198438"/>
                </a:moveTo>
                <a:lnTo>
                  <a:pt x="362396" y="198438"/>
                </a:lnTo>
                <a:lnTo>
                  <a:pt x="317500" y="121419"/>
                </a:lnTo>
                <a:lnTo>
                  <a:pt x="272604" y="198438"/>
                </a:lnTo>
                <a:close/>
                <a:moveTo>
                  <a:pt x="317500" y="257969"/>
                </a:moveTo>
                <a:cubicBezTo>
                  <a:pt x="278495" y="257969"/>
                  <a:pt x="246063" y="236885"/>
                  <a:pt x="239365" y="209042"/>
                </a:cubicBezTo>
                <a:cubicBezTo>
                  <a:pt x="237753" y="202220"/>
                  <a:pt x="239985" y="195213"/>
                  <a:pt x="243520" y="189136"/>
                </a:cubicBezTo>
                <a:lnTo>
                  <a:pt x="302555" y="87933"/>
                </a:lnTo>
                <a:cubicBezTo>
                  <a:pt x="305656" y="82600"/>
                  <a:pt x="311361" y="79375"/>
                  <a:pt x="317500" y="79375"/>
                </a:cubicBezTo>
                <a:cubicBezTo>
                  <a:pt x="323639" y="79375"/>
                  <a:pt x="329344" y="82662"/>
                  <a:pt x="332445" y="87933"/>
                </a:cubicBezTo>
                <a:lnTo>
                  <a:pt x="391480" y="189136"/>
                </a:lnTo>
                <a:cubicBezTo>
                  <a:pt x="395015" y="195213"/>
                  <a:pt x="397247" y="202220"/>
                  <a:pt x="395635" y="209042"/>
                </a:cubicBezTo>
                <a:cubicBezTo>
                  <a:pt x="388938" y="236823"/>
                  <a:pt x="356505" y="257969"/>
                  <a:pt x="317500" y="257969"/>
                </a:cubicBezTo>
                <a:close/>
                <a:moveTo>
                  <a:pt x="78631" y="121419"/>
                </a:moveTo>
                <a:lnTo>
                  <a:pt x="33734" y="198438"/>
                </a:lnTo>
                <a:lnTo>
                  <a:pt x="123589" y="198438"/>
                </a:lnTo>
                <a:lnTo>
                  <a:pt x="78631" y="121419"/>
                </a:lnTo>
                <a:close/>
                <a:moveTo>
                  <a:pt x="558" y="209042"/>
                </a:moveTo>
                <a:cubicBezTo>
                  <a:pt x="-1054" y="202220"/>
                  <a:pt x="1178" y="195213"/>
                  <a:pt x="4713" y="189136"/>
                </a:cubicBezTo>
                <a:lnTo>
                  <a:pt x="63748" y="87933"/>
                </a:lnTo>
                <a:cubicBezTo>
                  <a:pt x="66849" y="82600"/>
                  <a:pt x="72554" y="79375"/>
                  <a:pt x="78693" y="79375"/>
                </a:cubicBezTo>
                <a:cubicBezTo>
                  <a:pt x="84832" y="79375"/>
                  <a:pt x="90537" y="82662"/>
                  <a:pt x="93638" y="87933"/>
                </a:cubicBezTo>
                <a:lnTo>
                  <a:pt x="152673" y="189136"/>
                </a:lnTo>
                <a:cubicBezTo>
                  <a:pt x="156208" y="195213"/>
                  <a:pt x="158440" y="202220"/>
                  <a:pt x="156828" y="209042"/>
                </a:cubicBezTo>
                <a:cubicBezTo>
                  <a:pt x="150130" y="236823"/>
                  <a:pt x="117698" y="257969"/>
                  <a:pt x="78693" y="257969"/>
                </a:cubicBezTo>
                <a:cubicBezTo>
                  <a:pt x="39687" y="257969"/>
                  <a:pt x="7255" y="236885"/>
                  <a:pt x="558" y="209042"/>
                </a:cubicBezTo>
                <a:close/>
              </a:path>
            </a:pathLst>
          </a:custGeom>
          <a:solidFill>
            <a:srgbClr val="4C7E9A"/>
          </a:solidFill>
          <a:ln/>
        </p:spPr>
      </p:sp>
      <p:sp>
        <p:nvSpPr>
          <p:cNvPr id="42" name="Text 40"/>
          <p:cNvSpPr/>
          <p:nvPr/>
        </p:nvSpPr>
        <p:spPr>
          <a:xfrm>
            <a:off x="1169458" y="7418917"/>
            <a:ext cx="14594417"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两种方法的对比</a:t>
            </a:r>
            <a:endParaRPr lang="en-US" sz="1600" dirty="0"/>
          </a:p>
        </p:txBody>
      </p:sp>
      <p:sp>
        <p:nvSpPr>
          <p:cNvPr id="43" name="Text 41"/>
          <p:cNvSpPr/>
          <p:nvPr/>
        </p:nvSpPr>
        <p:spPr>
          <a:xfrm>
            <a:off x="1169458" y="7799917"/>
            <a:ext cx="7249583"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简单平均法</a:t>
            </a:r>
            <a:endParaRPr lang="en-US" sz="1600" dirty="0"/>
          </a:p>
        </p:txBody>
      </p:sp>
      <p:sp>
        <p:nvSpPr>
          <p:cNvPr id="44" name="Text 42"/>
          <p:cNvSpPr/>
          <p:nvPr/>
        </p:nvSpPr>
        <p:spPr>
          <a:xfrm>
            <a:off x="1169458" y="8138583"/>
            <a:ext cx="7239000"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假设所有基学习器同等重要，简单有效但无法充分利用性能差异</a:t>
            </a:r>
            <a:endParaRPr lang="en-US" sz="1600" dirty="0"/>
          </a:p>
        </p:txBody>
      </p:sp>
      <p:sp>
        <p:nvSpPr>
          <p:cNvPr id="45" name="Text 43"/>
          <p:cNvSpPr/>
          <p:nvPr/>
        </p:nvSpPr>
        <p:spPr>
          <a:xfrm>
            <a:off x="8495771" y="7799917"/>
            <a:ext cx="7249583"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加权平均法</a:t>
            </a:r>
            <a:endParaRPr lang="en-US" sz="1600" dirty="0"/>
          </a:p>
        </p:txBody>
      </p:sp>
      <p:sp>
        <p:nvSpPr>
          <p:cNvPr id="46" name="Text 44"/>
          <p:cNvSpPr/>
          <p:nvPr/>
        </p:nvSpPr>
        <p:spPr>
          <a:xfrm>
            <a:off x="8495771" y="8138583"/>
            <a:ext cx="7239000"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能够充分利用不同模型的优势，形成更可靠的综合预测，但需要可靠的权重估计</a:t>
            </a:r>
            <a:endParaRPr lang="en-US" sz="16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RESULT INTEGRATION</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分类预测的结果整合</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23333" y="1545167"/>
            <a:ext cx="5027083" cy="3429000"/>
          </a:xfrm>
          <a:custGeom>
            <a:avLst/>
            <a:gdLst/>
            <a:ahLst/>
            <a:cxnLst/>
            <a:rect l="l" t="t" r="r" b="b"/>
            <a:pathLst>
              <a:path w="5027083" h="3429000">
                <a:moveTo>
                  <a:pt x="42333" y="0"/>
                </a:moveTo>
                <a:lnTo>
                  <a:pt x="4984750" y="0"/>
                </a:lnTo>
                <a:cubicBezTo>
                  <a:pt x="5008130" y="0"/>
                  <a:pt x="5027083" y="18953"/>
                  <a:pt x="5027083" y="42333"/>
                </a:cubicBezTo>
                <a:lnTo>
                  <a:pt x="5027083" y="3344338"/>
                </a:lnTo>
                <a:cubicBezTo>
                  <a:pt x="5027083" y="3391096"/>
                  <a:pt x="4989179" y="3429000"/>
                  <a:pt x="4942421" y="3429000"/>
                </a:cubicBezTo>
                <a:lnTo>
                  <a:pt x="84662" y="3429000"/>
                </a:lnTo>
                <a:cubicBezTo>
                  <a:pt x="37904" y="3429000"/>
                  <a:pt x="0" y="3391096"/>
                  <a:pt x="0" y="3344338"/>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23333" y="1545167"/>
            <a:ext cx="5027083" cy="42333"/>
          </a:xfrm>
          <a:custGeom>
            <a:avLst/>
            <a:gdLst/>
            <a:ahLst/>
            <a:cxnLst/>
            <a:rect l="l" t="t" r="r" b="b"/>
            <a:pathLst>
              <a:path w="5027083" h="42333">
                <a:moveTo>
                  <a:pt x="42333" y="0"/>
                </a:moveTo>
                <a:lnTo>
                  <a:pt x="4984750" y="0"/>
                </a:lnTo>
                <a:cubicBezTo>
                  <a:pt x="5008130" y="0"/>
                  <a:pt x="5027083" y="18953"/>
                  <a:pt x="5027083" y="42333"/>
                </a:cubicBezTo>
                <a:lnTo>
                  <a:pt x="5027083" y="42333"/>
                </a:lnTo>
                <a:lnTo>
                  <a:pt x="0" y="42333"/>
                </a:lnTo>
                <a:lnTo>
                  <a:pt x="0" y="42333"/>
                </a:lnTo>
                <a:cubicBezTo>
                  <a:pt x="0" y="18953"/>
                  <a:pt x="18953" y="0"/>
                  <a:pt x="42333" y="0"/>
                </a:cubicBezTo>
                <a:close/>
              </a:path>
            </a:pathLst>
          </a:custGeom>
          <a:solidFill>
            <a:srgbClr val="4C7E9A"/>
          </a:solidFill>
          <a:ln/>
        </p:spPr>
      </p:sp>
      <p:sp>
        <p:nvSpPr>
          <p:cNvPr id="7" name="Shape 5"/>
          <p:cNvSpPr/>
          <p:nvPr/>
        </p:nvSpPr>
        <p:spPr>
          <a:xfrm>
            <a:off x="615156" y="1735667"/>
            <a:ext cx="357188" cy="317500"/>
          </a:xfrm>
          <a:custGeom>
            <a:avLst/>
            <a:gdLst/>
            <a:ahLst/>
            <a:cxnLst/>
            <a:rect l="l" t="t" r="r" b="b"/>
            <a:pathLst>
              <a:path w="357188" h="317500">
                <a:moveTo>
                  <a:pt x="59531" y="59531"/>
                </a:moveTo>
                <a:cubicBezTo>
                  <a:pt x="59531" y="37641"/>
                  <a:pt x="77329" y="19844"/>
                  <a:pt x="99219" y="19844"/>
                </a:cubicBezTo>
                <a:lnTo>
                  <a:pt x="257969" y="19844"/>
                </a:lnTo>
                <a:cubicBezTo>
                  <a:pt x="279859" y="19844"/>
                  <a:pt x="297656" y="37641"/>
                  <a:pt x="297656" y="59531"/>
                </a:cubicBezTo>
                <a:lnTo>
                  <a:pt x="297656" y="198438"/>
                </a:lnTo>
                <a:cubicBezTo>
                  <a:pt x="297656" y="220328"/>
                  <a:pt x="279859" y="238125"/>
                  <a:pt x="257969" y="238125"/>
                </a:cubicBezTo>
                <a:lnTo>
                  <a:pt x="99219" y="238125"/>
                </a:lnTo>
                <a:cubicBezTo>
                  <a:pt x="77329" y="238125"/>
                  <a:pt x="59531" y="220328"/>
                  <a:pt x="59531" y="198438"/>
                </a:cubicBezTo>
                <a:lnTo>
                  <a:pt x="59531" y="59531"/>
                </a:lnTo>
                <a:close/>
                <a:moveTo>
                  <a:pt x="226157" y="71686"/>
                </a:moveTo>
                <a:cubicBezTo>
                  <a:pt x="219211" y="67345"/>
                  <a:pt x="210034" y="69453"/>
                  <a:pt x="205631" y="76398"/>
                </a:cubicBezTo>
                <a:lnTo>
                  <a:pt x="167556" y="137356"/>
                </a:lnTo>
                <a:lnTo>
                  <a:pt x="150813" y="115032"/>
                </a:lnTo>
                <a:cubicBezTo>
                  <a:pt x="145852" y="108458"/>
                  <a:pt x="136550" y="107094"/>
                  <a:pt x="129977" y="112055"/>
                </a:cubicBezTo>
                <a:cubicBezTo>
                  <a:pt x="123403" y="117016"/>
                  <a:pt x="122039" y="126318"/>
                  <a:pt x="127000" y="132891"/>
                </a:cubicBezTo>
                <a:lnTo>
                  <a:pt x="156766" y="172579"/>
                </a:lnTo>
                <a:cubicBezTo>
                  <a:pt x="159680" y="176485"/>
                  <a:pt x="164393" y="178718"/>
                  <a:pt x="169292" y="178532"/>
                </a:cubicBezTo>
                <a:cubicBezTo>
                  <a:pt x="174191" y="178346"/>
                  <a:pt x="178656" y="175741"/>
                  <a:pt x="181260" y="171524"/>
                </a:cubicBezTo>
                <a:lnTo>
                  <a:pt x="230870" y="92149"/>
                </a:lnTo>
                <a:cubicBezTo>
                  <a:pt x="235210" y="85204"/>
                  <a:pt x="233102" y="76026"/>
                  <a:pt x="226157" y="71624"/>
                </a:cubicBezTo>
                <a:close/>
                <a:moveTo>
                  <a:pt x="29766" y="193477"/>
                </a:moveTo>
                <a:lnTo>
                  <a:pt x="29766" y="257969"/>
                </a:lnTo>
                <a:cubicBezTo>
                  <a:pt x="29766" y="263426"/>
                  <a:pt x="34230" y="267891"/>
                  <a:pt x="39688" y="267891"/>
                </a:cubicBezTo>
                <a:lnTo>
                  <a:pt x="317500" y="267891"/>
                </a:lnTo>
                <a:cubicBezTo>
                  <a:pt x="322957" y="267891"/>
                  <a:pt x="327422" y="263426"/>
                  <a:pt x="327422" y="257969"/>
                </a:cubicBezTo>
                <a:lnTo>
                  <a:pt x="327422" y="193477"/>
                </a:lnTo>
                <a:cubicBezTo>
                  <a:pt x="327422" y="185229"/>
                  <a:pt x="334057" y="178594"/>
                  <a:pt x="342305" y="178594"/>
                </a:cubicBezTo>
                <a:cubicBezTo>
                  <a:pt x="350552" y="178594"/>
                  <a:pt x="357188" y="185229"/>
                  <a:pt x="357188" y="193477"/>
                </a:cubicBezTo>
                <a:lnTo>
                  <a:pt x="357188" y="257969"/>
                </a:lnTo>
                <a:cubicBezTo>
                  <a:pt x="357188" y="279859"/>
                  <a:pt x="339390" y="297656"/>
                  <a:pt x="317500" y="297656"/>
                </a:cubicBezTo>
                <a:lnTo>
                  <a:pt x="39688" y="297656"/>
                </a:lnTo>
                <a:cubicBezTo>
                  <a:pt x="17797" y="297656"/>
                  <a:pt x="0" y="279859"/>
                  <a:pt x="0" y="257969"/>
                </a:cubicBezTo>
                <a:lnTo>
                  <a:pt x="0" y="193477"/>
                </a:lnTo>
                <a:cubicBezTo>
                  <a:pt x="0" y="185229"/>
                  <a:pt x="6635" y="178594"/>
                  <a:pt x="14883" y="178594"/>
                </a:cubicBezTo>
                <a:cubicBezTo>
                  <a:pt x="23130" y="178594"/>
                  <a:pt x="29766" y="185229"/>
                  <a:pt x="29766" y="193477"/>
                </a:cubicBezTo>
                <a:close/>
              </a:path>
            </a:pathLst>
          </a:custGeom>
          <a:solidFill>
            <a:srgbClr val="4C7E9A"/>
          </a:solidFill>
          <a:ln/>
        </p:spPr>
      </p:sp>
      <p:sp>
        <p:nvSpPr>
          <p:cNvPr id="8" name="Text 6"/>
          <p:cNvSpPr/>
          <p:nvPr/>
        </p:nvSpPr>
        <p:spPr>
          <a:xfrm>
            <a:off x="1116542" y="1746250"/>
            <a:ext cx="1164167"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简单投票法</a:t>
            </a:r>
            <a:endParaRPr lang="en-US" sz="1600" dirty="0"/>
          </a:p>
        </p:txBody>
      </p:sp>
      <p:sp>
        <p:nvSpPr>
          <p:cNvPr id="9" name="Text 7"/>
          <p:cNvSpPr/>
          <p:nvPr/>
        </p:nvSpPr>
        <p:spPr>
          <a:xfrm>
            <a:off x="592667" y="2180167"/>
            <a:ext cx="478366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核心机制</a:t>
            </a:r>
            <a:endParaRPr lang="en-US" sz="1600" dirty="0"/>
          </a:p>
        </p:txBody>
      </p:sp>
      <p:sp>
        <p:nvSpPr>
          <p:cNvPr id="10" name="Text 8"/>
          <p:cNvSpPr/>
          <p:nvPr/>
        </p:nvSpPr>
        <p:spPr>
          <a:xfrm>
            <a:off x="592667" y="2518833"/>
            <a:ext cx="4773083" cy="550333"/>
          </a:xfrm>
          <a:prstGeom prst="rect">
            <a:avLst/>
          </a:prstGeom>
          <a:noFill/>
          <a:ln/>
        </p:spPr>
        <p:txBody>
          <a:bodyPr wrap="square" lIns="0" tIns="0" rIns="0" bIns="0" rtlCol="0" anchor="ctr"/>
          <a:lstStyle/>
          <a:p>
            <a:pPr>
              <a:lnSpc>
                <a:spcPct val="140000"/>
              </a:lnSpc>
            </a:pPr>
            <a:r>
              <a:rPr lang="en-US" sz="1333" dirty="0">
                <a:solidFill>
                  <a:srgbClr val="7E9AA8"/>
                </a:solidFill>
                <a:latin typeface="MiSans" pitchFamily="34" charset="0"/>
                <a:ea typeface="MiSans" pitchFamily="34" charset="-122"/>
                <a:cs typeface="MiSans" pitchFamily="34" charset="-120"/>
              </a:rPr>
              <a:t>一人一票，少数服从多数。7位评委中如果有4位选择类别A，3位选择类别B，最终结果就是类别A。</a:t>
            </a:r>
            <a:endParaRPr lang="en-US" sz="1600" dirty="0"/>
          </a:p>
        </p:txBody>
      </p:sp>
      <p:sp>
        <p:nvSpPr>
          <p:cNvPr id="11" name="Shape 9"/>
          <p:cNvSpPr/>
          <p:nvPr/>
        </p:nvSpPr>
        <p:spPr>
          <a:xfrm>
            <a:off x="592667" y="3153833"/>
            <a:ext cx="4688417" cy="635000"/>
          </a:xfrm>
          <a:custGeom>
            <a:avLst/>
            <a:gdLst/>
            <a:ahLst/>
            <a:cxnLst/>
            <a:rect l="l" t="t" r="r" b="b"/>
            <a:pathLst>
              <a:path w="4688417" h="635000">
                <a:moveTo>
                  <a:pt x="42335" y="0"/>
                </a:moveTo>
                <a:lnTo>
                  <a:pt x="4646081" y="0"/>
                </a:lnTo>
                <a:cubicBezTo>
                  <a:pt x="4669462" y="0"/>
                  <a:pt x="4688417" y="18954"/>
                  <a:pt x="4688417" y="42335"/>
                </a:cubicBezTo>
                <a:lnTo>
                  <a:pt x="4688417" y="592665"/>
                </a:lnTo>
                <a:cubicBezTo>
                  <a:pt x="4688417" y="616046"/>
                  <a:pt x="4669462" y="635000"/>
                  <a:pt x="4646081" y="635000"/>
                </a:cubicBezTo>
                <a:lnTo>
                  <a:pt x="42335" y="635000"/>
                </a:lnTo>
                <a:cubicBezTo>
                  <a:pt x="18954" y="635000"/>
                  <a:pt x="0" y="616046"/>
                  <a:pt x="0" y="592665"/>
                </a:cubicBezTo>
                <a:lnTo>
                  <a:pt x="0" y="42335"/>
                </a:lnTo>
                <a:cubicBezTo>
                  <a:pt x="0" y="18970"/>
                  <a:pt x="18970" y="0"/>
                  <a:pt x="42335" y="0"/>
                </a:cubicBezTo>
                <a:close/>
              </a:path>
            </a:pathLst>
          </a:custGeom>
          <a:solidFill>
            <a:srgbClr val="181A1F">
              <a:alpha val="50196"/>
            </a:srgbClr>
          </a:solidFill>
          <a:ln/>
        </p:spPr>
      </p:sp>
      <p:sp>
        <p:nvSpPr>
          <p:cNvPr id="12" name="Text 10"/>
          <p:cNvSpPr/>
          <p:nvPr/>
        </p:nvSpPr>
        <p:spPr>
          <a:xfrm>
            <a:off x="677333" y="3243792"/>
            <a:ext cx="518583" cy="195792"/>
          </a:xfrm>
          <a:prstGeom prst="rect">
            <a:avLst/>
          </a:prstGeom>
          <a:noFill/>
          <a:ln/>
        </p:spPr>
        <p:txBody>
          <a:bodyPr wrap="square" lIns="0" tIns="0" rIns="0" bIns="0" rtlCol="0" anchor="ctr"/>
          <a:lstStyle/>
          <a:p>
            <a:pPr>
              <a:lnSpc>
                <a:spcPct val="120000"/>
              </a:lnSpc>
            </a:pPr>
            <a:r>
              <a:rPr lang="en-US" sz="1167" b="1" dirty="0">
                <a:solidFill>
                  <a:srgbClr val="D1D5DB"/>
                </a:solidFill>
                <a:latin typeface="MiSans" pitchFamily="34" charset="0"/>
                <a:ea typeface="MiSans" pitchFamily="34" charset="-122"/>
                <a:cs typeface="MiSans" pitchFamily="34" charset="-120"/>
              </a:rPr>
              <a:t>示例：</a:t>
            </a:r>
            <a:endParaRPr lang="en-US" sz="1600" dirty="0"/>
          </a:p>
        </p:txBody>
      </p:sp>
      <p:sp>
        <p:nvSpPr>
          <p:cNvPr id="13" name="Text 11"/>
          <p:cNvSpPr/>
          <p:nvPr/>
        </p:nvSpPr>
        <p:spPr>
          <a:xfrm>
            <a:off x="677333" y="3492500"/>
            <a:ext cx="459316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A: 4票, B: 3票 → 最终: A</a:t>
            </a:r>
            <a:endParaRPr lang="en-US" sz="1600" dirty="0"/>
          </a:p>
        </p:txBody>
      </p:sp>
      <p:sp>
        <p:nvSpPr>
          <p:cNvPr id="14" name="Text 12"/>
          <p:cNvSpPr/>
          <p:nvPr/>
        </p:nvSpPr>
        <p:spPr>
          <a:xfrm>
            <a:off x="592667" y="3873500"/>
            <a:ext cx="4773083" cy="254000"/>
          </a:xfrm>
          <a:prstGeom prst="rect">
            <a:avLst/>
          </a:prstGeom>
          <a:noFill/>
          <a:ln/>
        </p:spPr>
        <p:txBody>
          <a:bodyPr wrap="square" lIns="0" tIns="0" rIns="0" bIns="0" rtlCol="0" anchor="ctr"/>
          <a:lstStyle/>
          <a:p>
            <a:pPr>
              <a:lnSpc>
                <a:spcPct val="130000"/>
              </a:lnSpc>
            </a:pPr>
            <a:r>
              <a:rPr lang="en-US" sz="1333" b="1" dirty="0">
                <a:solidFill>
                  <a:srgbClr val="4C7E9A"/>
                </a:solidFill>
                <a:latin typeface="MiSans" pitchFamily="34" charset="0"/>
                <a:ea typeface="MiSans" pitchFamily="34" charset="-122"/>
                <a:cs typeface="MiSans" pitchFamily="34" charset="-120"/>
              </a:rPr>
              <a:t>适用场景</a:t>
            </a:r>
            <a:endParaRPr lang="en-US" sz="1600" dirty="0"/>
          </a:p>
        </p:txBody>
      </p:sp>
      <p:sp>
        <p:nvSpPr>
          <p:cNvPr id="15" name="Text 13"/>
          <p:cNvSpPr/>
          <p:nvPr/>
        </p:nvSpPr>
        <p:spPr>
          <a:xfrm>
            <a:off x="592667" y="4169833"/>
            <a:ext cx="476250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基学习器性能相对均衡的情况</a:t>
            </a:r>
            <a:endParaRPr lang="en-US" sz="1600" dirty="0"/>
          </a:p>
        </p:txBody>
      </p:sp>
      <p:sp>
        <p:nvSpPr>
          <p:cNvPr id="16" name="Shape 14"/>
          <p:cNvSpPr/>
          <p:nvPr/>
        </p:nvSpPr>
        <p:spPr>
          <a:xfrm>
            <a:off x="5616195" y="1545167"/>
            <a:ext cx="5027083" cy="3429000"/>
          </a:xfrm>
          <a:custGeom>
            <a:avLst/>
            <a:gdLst/>
            <a:ahLst/>
            <a:cxnLst/>
            <a:rect l="l" t="t" r="r" b="b"/>
            <a:pathLst>
              <a:path w="5027083" h="3429000">
                <a:moveTo>
                  <a:pt x="42333" y="0"/>
                </a:moveTo>
                <a:lnTo>
                  <a:pt x="4984750" y="0"/>
                </a:lnTo>
                <a:cubicBezTo>
                  <a:pt x="5008130" y="0"/>
                  <a:pt x="5027083" y="18953"/>
                  <a:pt x="5027083" y="42333"/>
                </a:cubicBezTo>
                <a:lnTo>
                  <a:pt x="5027083" y="3344338"/>
                </a:lnTo>
                <a:cubicBezTo>
                  <a:pt x="5027083" y="3391096"/>
                  <a:pt x="4989179" y="3429000"/>
                  <a:pt x="4942421" y="3429000"/>
                </a:cubicBezTo>
                <a:lnTo>
                  <a:pt x="84662" y="3429000"/>
                </a:lnTo>
                <a:cubicBezTo>
                  <a:pt x="37904" y="3429000"/>
                  <a:pt x="0" y="3391096"/>
                  <a:pt x="0" y="3344338"/>
                </a:cubicBezTo>
                <a:lnTo>
                  <a:pt x="0" y="42333"/>
                </a:lnTo>
                <a:cubicBezTo>
                  <a:pt x="0" y="18953"/>
                  <a:pt x="18953" y="0"/>
                  <a:pt x="42333" y="0"/>
                </a:cubicBezTo>
                <a:close/>
              </a:path>
            </a:pathLst>
          </a:custGeom>
          <a:solidFill>
            <a:srgbClr val="3A5E78">
              <a:alpha val="20000"/>
            </a:srgbClr>
          </a:solidFill>
          <a:ln/>
        </p:spPr>
      </p:sp>
      <p:sp>
        <p:nvSpPr>
          <p:cNvPr id="17" name="Shape 15"/>
          <p:cNvSpPr/>
          <p:nvPr/>
        </p:nvSpPr>
        <p:spPr>
          <a:xfrm>
            <a:off x="5616195" y="1545167"/>
            <a:ext cx="5027083" cy="42333"/>
          </a:xfrm>
          <a:custGeom>
            <a:avLst/>
            <a:gdLst/>
            <a:ahLst/>
            <a:cxnLst/>
            <a:rect l="l" t="t" r="r" b="b"/>
            <a:pathLst>
              <a:path w="5027083" h="42333">
                <a:moveTo>
                  <a:pt x="42333" y="0"/>
                </a:moveTo>
                <a:lnTo>
                  <a:pt x="4984750" y="0"/>
                </a:lnTo>
                <a:cubicBezTo>
                  <a:pt x="5008130" y="0"/>
                  <a:pt x="5027083" y="18953"/>
                  <a:pt x="5027083" y="42333"/>
                </a:cubicBezTo>
                <a:lnTo>
                  <a:pt x="5027083" y="42333"/>
                </a:lnTo>
                <a:lnTo>
                  <a:pt x="0" y="42333"/>
                </a:lnTo>
                <a:lnTo>
                  <a:pt x="0" y="42333"/>
                </a:lnTo>
                <a:cubicBezTo>
                  <a:pt x="0" y="18953"/>
                  <a:pt x="18953" y="0"/>
                  <a:pt x="42333" y="0"/>
                </a:cubicBezTo>
                <a:close/>
              </a:path>
            </a:pathLst>
          </a:custGeom>
          <a:solidFill>
            <a:srgbClr val="7E9AA8"/>
          </a:solidFill>
          <a:ln/>
        </p:spPr>
      </p:sp>
      <p:sp>
        <p:nvSpPr>
          <p:cNvPr id="18" name="Shape 16"/>
          <p:cNvSpPr/>
          <p:nvPr/>
        </p:nvSpPr>
        <p:spPr>
          <a:xfrm>
            <a:off x="5827861" y="1735667"/>
            <a:ext cx="317500" cy="317500"/>
          </a:xfrm>
          <a:custGeom>
            <a:avLst/>
            <a:gdLst/>
            <a:ahLst/>
            <a:cxnLst/>
            <a:rect l="l" t="t" r="r" b="b"/>
            <a:pathLst>
              <a:path w="317500" h="317500">
                <a:moveTo>
                  <a:pt x="138906" y="59531"/>
                </a:moveTo>
                <a:cubicBezTo>
                  <a:pt x="138906" y="48579"/>
                  <a:pt x="147798" y="39688"/>
                  <a:pt x="158750" y="39688"/>
                </a:cubicBezTo>
                <a:cubicBezTo>
                  <a:pt x="169702" y="39688"/>
                  <a:pt x="178594" y="48579"/>
                  <a:pt x="178594" y="59531"/>
                </a:cubicBezTo>
                <a:cubicBezTo>
                  <a:pt x="178594" y="70483"/>
                  <a:pt x="169702" y="79375"/>
                  <a:pt x="158750" y="79375"/>
                </a:cubicBezTo>
                <a:cubicBezTo>
                  <a:pt x="147798" y="79375"/>
                  <a:pt x="138906" y="70483"/>
                  <a:pt x="138906" y="59531"/>
                </a:cubicBezTo>
                <a:close/>
                <a:moveTo>
                  <a:pt x="214871" y="79375"/>
                </a:moveTo>
                <a:cubicBezTo>
                  <a:pt x="217041" y="73174"/>
                  <a:pt x="218281" y="66477"/>
                  <a:pt x="218281" y="59531"/>
                </a:cubicBezTo>
                <a:cubicBezTo>
                  <a:pt x="218281" y="26665"/>
                  <a:pt x="191616" y="0"/>
                  <a:pt x="158750" y="0"/>
                </a:cubicBezTo>
                <a:cubicBezTo>
                  <a:pt x="125884" y="0"/>
                  <a:pt x="99219" y="26665"/>
                  <a:pt x="99219" y="59531"/>
                </a:cubicBezTo>
                <a:cubicBezTo>
                  <a:pt x="99219" y="66477"/>
                  <a:pt x="100397" y="73174"/>
                  <a:pt x="102629" y="79375"/>
                </a:cubicBezTo>
                <a:lnTo>
                  <a:pt x="89111" y="79375"/>
                </a:lnTo>
                <a:cubicBezTo>
                  <a:pt x="71562" y="79375"/>
                  <a:pt x="56121" y="90847"/>
                  <a:pt x="51098" y="107652"/>
                </a:cubicBezTo>
                <a:lnTo>
                  <a:pt x="1488" y="272976"/>
                </a:lnTo>
                <a:cubicBezTo>
                  <a:pt x="496" y="276200"/>
                  <a:pt x="0" y="279549"/>
                  <a:pt x="0" y="282897"/>
                </a:cubicBezTo>
                <a:cubicBezTo>
                  <a:pt x="0" y="301997"/>
                  <a:pt x="15503" y="317500"/>
                  <a:pt x="34603" y="317500"/>
                </a:cubicBezTo>
                <a:lnTo>
                  <a:pt x="282897" y="317500"/>
                </a:lnTo>
                <a:cubicBezTo>
                  <a:pt x="301997" y="317500"/>
                  <a:pt x="317500" y="301997"/>
                  <a:pt x="317500" y="282897"/>
                </a:cubicBezTo>
                <a:cubicBezTo>
                  <a:pt x="317500" y="279549"/>
                  <a:pt x="317004" y="276200"/>
                  <a:pt x="316012" y="272976"/>
                </a:cubicBezTo>
                <a:lnTo>
                  <a:pt x="266402" y="107714"/>
                </a:lnTo>
                <a:cubicBezTo>
                  <a:pt x="261379" y="90909"/>
                  <a:pt x="245938" y="79437"/>
                  <a:pt x="228389" y="79437"/>
                </a:cubicBezTo>
                <a:lnTo>
                  <a:pt x="214871" y="79437"/>
                </a:lnTo>
                <a:close/>
              </a:path>
            </a:pathLst>
          </a:custGeom>
          <a:solidFill>
            <a:srgbClr val="7E9AA8"/>
          </a:solidFill>
          <a:ln/>
        </p:spPr>
      </p:sp>
      <p:sp>
        <p:nvSpPr>
          <p:cNvPr id="19" name="Text 17"/>
          <p:cNvSpPr/>
          <p:nvPr/>
        </p:nvSpPr>
        <p:spPr>
          <a:xfrm>
            <a:off x="6309403" y="1746250"/>
            <a:ext cx="1164167"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加权投票法</a:t>
            </a:r>
            <a:endParaRPr lang="en-US" sz="1600" dirty="0"/>
          </a:p>
        </p:txBody>
      </p:sp>
      <p:sp>
        <p:nvSpPr>
          <p:cNvPr id="20" name="Text 18"/>
          <p:cNvSpPr/>
          <p:nvPr/>
        </p:nvSpPr>
        <p:spPr>
          <a:xfrm>
            <a:off x="5785528" y="2180167"/>
            <a:ext cx="478366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核心机制</a:t>
            </a:r>
            <a:endParaRPr lang="en-US" sz="1600" dirty="0"/>
          </a:p>
        </p:txBody>
      </p:sp>
      <p:sp>
        <p:nvSpPr>
          <p:cNvPr id="21" name="Text 19"/>
          <p:cNvSpPr/>
          <p:nvPr/>
        </p:nvSpPr>
        <p:spPr>
          <a:xfrm>
            <a:off x="5785528" y="2518833"/>
            <a:ext cx="4773083" cy="550333"/>
          </a:xfrm>
          <a:prstGeom prst="rect">
            <a:avLst/>
          </a:prstGeom>
          <a:noFill/>
          <a:ln/>
        </p:spPr>
        <p:txBody>
          <a:bodyPr wrap="square" lIns="0" tIns="0" rIns="0" bIns="0" rtlCol="0" anchor="ctr"/>
          <a:lstStyle/>
          <a:p>
            <a:pPr>
              <a:lnSpc>
                <a:spcPct val="140000"/>
              </a:lnSpc>
            </a:pPr>
            <a:r>
              <a:rPr lang="en-US" sz="1333" dirty="0">
                <a:solidFill>
                  <a:srgbClr val="7E9AA8"/>
                </a:solidFill>
                <a:latin typeface="MiSans" pitchFamily="34" charset="0"/>
                <a:ea typeface="MiSans" pitchFamily="34" charset="-122"/>
                <a:cs typeface="MiSans" pitchFamily="34" charset="-120"/>
              </a:rPr>
              <a:t>考虑不同评委的专业水平差异，资深评委的投票权重更高。主评委的一票可能相当于普通评委的三票。</a:t>
            </a:r>
            <a:endParaRPr lang="en-US" sz="1600" dirty="0"/>
          </a:p>
        </p:txBody>
      </p:sp>
      <p:sp>
        <p:nvSpPr>
          <p:cNvPr id="22" name="Shape 20"/>
          <p:cNvSpPr/>
          <p:nvPr/>
        </p:nvSpPr>
        <p:spPr>
          <a:xfrm>
            <a:off x="5785528" y="3153833"/>
            <a:ext cx="4688417" cy="846667"/>
          </a:xfrm>
          <a:custGeom>
            <a:avLst/>
            <a:gdLst/>
            <a:ahLst/>
            <a:cxnLst/>
            <a:rect l="l" t="t" r="r" b="b"/>
            <a:pathLst>
              <a:path w="4688417" h="846667">
                <a:moveTo>
                  <a:pt x="42333" y="0"/>
                </a:moveTo>
                <a:lnTo>
                  <a:pt x="4646083" y="0"/>
                </a:lnTo>
                <a:cubicBezTo>
                  <a:pt x="4669463" y="0"/>
                  <a:pt x="4688417" y="18953"/>
                  <a:pt x="4688417" y="42333"/>
                </a:cubicBezTo>
                <a:lnTo>
                  <a:pt x="4688417" y="804333"/>
                </a:lnTo>
                <a:cubicBezTo>
                  <a:pt x="4688417" y="827713"/>
                  <a:pt x="4669463" y="846667"/>
                  <a:pt x="4646083" y="846667"/>
                </a:cubicBezTo>
                <a:lnTo>
                  <a:pt x="42333" y="846667"/>
                </a:lnTo>
                <a:cubicBezTo>
                  <a:pt x="18953" y="846667"/>
                  <a:pt x="0" y="827713"/>
                  <a:pt x="0" y="804333"/>
                </a:cubicBezTo>
                <a:lnTo>
                  <a:pt x="0" y="42333"/>
                </a:lnTo>
                <a:cubicBezTo>
                  <a:pt x="0" y="18953"/>
                  <a:pt x="18953" y="0"/>
                  <a:pt x="42333" y="0"/>
                </a:cubicBezTo>
                <a:close/>
              </a:path>
            </a:pathLst>
          </a:custGeom>
          <a:solidFill>
            <a:srgbClr val="181A1F">
              <a:alpha val="50196"/>
            </a:srgbClr>
          </a:solidFill>
          <a:ln/>
        </p:spPr>
      </p:sp>
      <p:sp>
        <p:nvSpPr>
          <p:cNvPr id="23" name="Text 21"/>
          <p:cNvSpPr/>
          <p:nvPr/>
        </p:nvSpPr>
        <p:spPr>
          <a:xfrm>
            <a:off x="5870195" y="3243792"/>
            <a:ext cx="518583" cy="195792"/>
          </a:xfrm>
          <a:prstGeom prst="rect">
            <a:avLst/>
          </a:prstGeom>
          <a:noFill/>
          <a:ln/>
        </p:spPr>
        <p:txBody>
          <a:bodyPr wrap="square" lIns="0" tIns="0" rIns="0" bIns="0" rtlCol="0" anchor="ctr"/>
          <a:lstStyle/>
          <a:p>
            <a:pPr>
              <a:lnSpc>
                <a:spcPct val="120000"/>
              </a:lnSpc>
            </a:pPr>
            <a:r>
              <a:rPr lang="en-US" sz="1167" b="1" dirty="0">
                <a:solidFill>
                  <a:srgbClr val="D1D5DB"/>
                </a:solidFill>
                <a:latin typeface="MiSans" pitchFamily="34" charset="0"/>
                <a:ea typeface="MiSans" pitchFamily="34" charset="-122"/>
                <a:cs typeface="MiSans" pitchFamily="34" charset="-120"/>
              </a:rPr>
              <a:t>示例：</a:t>
            </a:r>
            <a:endParaRPr lang="en-US" sz="1600" dirty="0"/>
          </a:p>
        </p:txBody>
      </p:sp>
      <p:sp>
        <p:nvSpPr>
          <p:cNvPr id="24" name="Text 22"/>
          <p:cNvSpPr/>
          <p:nvPr/>
        </p:nvSpPr>
        <p:spPr>
          <a:xfrm>
            <a:off x="5870195" y="3492500"/>
            <a:ext cx="4593167" cy="423333"/>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A: 2票×权重3, B: 4票×权重1</a:t>
            </a:r>
            <a:endParaRPr lang="en-US" sz="1600" dirty="0"/>
          </a:p>
          <a:p>
            <a:pPr>
              <a:lnSpc>
                <a:spcPct val="120000"/>
              </a:lnSpc>
            </a:pPr>
            <a:r>
              <a:rPr lang="en-US" sz="1167" dirty="0">
                <a:solidFill>
                  <a:srgbClr val="7E9AA8"/>
                </a:solidFill>
                <a:latin typeface="MiSans" pitchFamily="34" charset="0"/>
                <a:ea typeface="MiSans" pitchFamily="34" charset="-122"/>
                <a:cs typeface="MiSans" pitchFamily="34" charset="-120"/>
              </a:rPr>
              <a:t>→ A: 6分, B: 4分 → 最终: A</a:t>
            </a:r>
            <a:endParaRPr lang="en-US" sz="1600" dirty="0"/>
          </a:p>
        </p:txBody>
      </p:sp>
      <p:sp>
        <p:nvSpPr>
          <p:cNvPr id="25" name="Text 23"/>
          <p:cNvSpPr/>
          <p:nvPr/>
        </p:nvSpPr>
        <p:spPr>
          <a:xfrm>
            <a:off x="5785528" y="4085167"/>
            <a:ext cx="4773083" cy="254000"/>
          </a:xfrm>
          <a:prstGeom prst="rect">
            <a:avLst/>
          </a:prstGeom>
          <a:noFill/>
          <a:ln/>
        </p:spPr>
        <p:txBody>
          <a:bodyPr wrap="square" lIns="0" tIns="0" rIns="0" bIns="0" rtlCol="0" anchor="ctr"/>
          <a:lstStyle/>
          <a:p>
            <a:pPr>
              <a:lnSpc>
                <a:spcPct val="130000"/>
              </a:lnSpc>
            </a:pPr>
            <a:r>
              <a:rPr lang="en-US" sz="1333" b="1" dirty="0">
                <a:solidFill>
                  <a:srgbClr val="4C7E9A"/>
                </a:solidFill>
                <a:latin typeface="MiSans" pitchFamily="34" charset="0"/>
                <a:ea typeface="MiSans" pitchFamily="34" charset="-122"/>
                <a:cs typeface="MiSans" pitchFamily="34" charset="-120"/>
              </a:rPr>
              <a:t>权重确定</a:t>
            </a:r>
            <a:endParaRPr lang="en-US" sz="1600" dirty="0"/>
          </a:p>
        </p:txBody>
      </p:sp>
      <p:sp>
        <p:nvSpPr>
          <p:cNvPr id="26" name="Text 24"/>
          <p:cNvSpPr/>
          <p:nvPr/>
        </p:nvSpPr>
        <p:spPr>
          <a:xfrm>
            <a:off x="5785528" y="4381500"/>
            <a:ext cx="476250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根据模型的历史表现或验证集性能确定</a:t>
            </a:r>
            <a:endParaRPr lang="en-US" sz="1600" dirty="0"/>
          </a:p>
        </p:txBody>
      </p:sp>
      <p:sp>
        <p:nvSpPr>
          <p:cNvPr id="27" name="Shape 25"/>
          <p:cNvSpPr/>
          <p:nvPr/>
        </p:nvSpPr>
        <p:spPr>
          <a:xfrm>
            <a:off x="10809056" y="1545167"/>
            <a:ext cx="5027083" cy="3429000"/>
          </a:xfrm>
          <a:custGeom>
            <a:avLst/>
            <a:gdLst/>
            <a:ahLst/>
            <a:cxnLst/>
            <a:rect l="l" t="t" r="r" b="b"/>
            <a:pathLst>
              <a:path w="5027083" h="3429000">
                <a:moveTo>
                  <a:pt x="42333" y="0"/>
                </a:moveTo>
                <a:lnTo>
                  <a:pt x="4984750" y="0"/>
                </a:lnTo>
                <a:cubicBezTo>
                  <a:pt x="5008130" y="0"/>
                  <a:pt x="5027083" y="18953"/>
                  <a:pt x="5027083" y="42333"/>
                </a:cubicBezTo>
                <a:lnTo>
                  <a:pt x="5027083" y="3344338"/>
                </a:lnTo>
                <a:cubicBezTo>
                  <a:pt x="5027083" y="3391096"/>
                  <a:pt x="4989179" y="3429000"/>
                  <a:pt x="4942421" y="3429000"/>
                </a:cubicBezTo>
                <a:lnTo>
                  <a:pt x="84662" y="3429000"/>
                </a:lnTo>
                <a:cubicBezTo>
                  <a:pt x="37904" y="3429000"/>
                  <a:pt x="0" y="3391096"/>
                  <a:pt x="0" y="3344338"/>
                </a:cubicBezTo>
                <a:lnTo>
                  <a:pt x="0" y="42333"/>
                </a:lnTo>
                <a:cubicBezTo>
                  <a:pt x="0" y="18953"/>
                  <a:pt x="18953" y="0"/>
                  <a:pt x="42333" y="0"/>
                </a:cubicBezTo>
                <a:close/>
              </a:path>
            </a:pathLst>
          </a:custGeom>
          <a:solidFill>
            <a:srgbClr val="3A5E78">
              <a:alpha val="20000"/>
            </a:srgbClr>
          </a:solidFill>
          <a:ln/>
        </p:spPr>
      </p:sp>
      <p:sp>
        <p:nvSpPr>
          <p:cNvPr id="28" name="Shape 26"/>
          <p:cNvSpPr/>
          <p:nvPr/>
        </p:nvSpPr>
        <p:spPr>
          <a:xfrm>
            <a:off x="10809056" y="1545167"/>
            <a:ext cx="5027083" cy="42333"/>
          </a:xfrm>
          <a:custGeom>
            <a:avLst/>
            <a:gdLst/>
            <a:ahLst/>
            <a:cxnLst/>
            <a:rect l="l" t="t" r="r" b="b"/>
            <a:pathLst>
              <a:path w="5027083" h="42333">
                <a:moveTo>
                  <a:pt x="42333" y="0"/>
                </a:moveTo>
                <a:lnTo>
                  <a:pt x="4984750" y="0"/>
                </a:lnTo>
                <a:cubicBezTo>
                  <a:pt x="5008130" y="0"/>
                  <a:pt x="5027083" y="18953"/>
                  <a:pt x="5027083" y="42333"/>
                </a:cubicBezTo>
                <a:lnTo>
                  <a:pt x="5027083" y="42333"/>
                </a:lnTo>
                <a:lnTo>
                  <a:pt x="0" y="42333"/>
                </a:lnTo>
                <a:lnTo>
                  <a:pt x="0" y="42333"/>
                </a:lnTo>
                <a:cubicBezTo>
                  <a:pt x="0" y="18953"/>
                  <a:pt x="18953" y="0"/>
                  <a:pt x="42333" y="0"/>
                </a:cubicBezTo>
                <a:close/>
              </a:path>
            </a:pathLst>
          </a:custGeom>
          <a:solidFill>
            <a:srgbClr val="4C7E9A"/>
          </a:solidFill>
          <a:ln/>
        </p:spPr>
      </p:sp>
      <p:sp>
        <p:nvSpPr>
          <p:cNvPr id="29" name="Shape 27"/>
          <p:cNvSpPr/>
          <p:nvPr/>
        </p:nvSpPr>
        <p:spPr>
          <a:xfrm>
            <a:off x="11040566" y="1735667"/>
            <a:ext cx="277813" cy="317500"/>
          </a:xfrm>
          <a:custGeom>
            <a:avLst/>
            <a:gdLst/>
            <a:ahLst/>
            <a:cxnLst/>
            <a:rect l="l" t="t" r="r" b="b"/>
            <a:pathLst>
              <a:path w="277813" h="317500">
                <a:moveTo>
                  <a:pt x="119062" y="79375"/>
                </a:moveTo>
                <a:cubicBezTo>
                  <a:pt x="119062" y="46519"/>
                  <a:pt x="92387" y="19844"/>
                  <a:pt x="59531" y="19844"/>
                </a:cubicBezTo>
                <a:cubicBezTo>
                  <a:pt x="26675" y="19844"/>
                  <a:pt x="0" y="46519"/>
                  <a:pt x="0" y="79375"/>
                </a:cubicBezTo>
                <a:cubicBezTo>
                  <a:pt x="0" y="112231"/>
                  <a:pt x="26675" y="138906"/>
                  <a:pt x="59531" y="138906"/>
                </a:cubicBezTo>
                <a:cubicBezTo>
                  <a:pt x="92387" y="138906"/>
                  <a:pt x="119062" y="112231"/>
                  <a:pt x="119062" y="79375"/>
                </a:cubicBezTo>
                <a:close/>
                <a:moveTo>
                  <a:pt x="277813" y="238125"/>
                </a:moveTo>
                <a:cubicBezTo>
                  <a:pt x="277813" y="205269"/>
                  <a:pt x="251137" y="178594"/>
                  <a:pt x="218281" y="178594"/>
                </a:cubicBezTo>
                <a:cubicBezTo>
                  <a:pt x="185425" y="178594"/>
                  <a:pt x="158750" y="205269"/>
                  <a:pt x="158750" y="238125"/>
                </a:cubicBezTo>
                <a:cubicBezTo>
                  <a:pt x="158750" y="270981"/>
                  <a:pt x="185425" y="297656"/>
                  <a:pt x="218281" y="297656"/>
                </a:cubicBezTo>
                <a:cubicBezTo>
                  <a:pt x="251137" y="297656"/>
                  <a:pt x="277813" y="270981"/>
                  <a:pt x="277813" y="238125"/>
                </a:cubicBezTo>
                <a:close/>
                <a:moveTo>
                  <a:pt x="271983" y="53702"/>
                </a:moveTo>
                <a:cubicBezTo>
                  <a:pt x="279735" y="45951"/>
                  <a:pt x="279735" y="33362"/>
                  <a:pt x="271983" y="25611"/>
                </a:cubicBezTo>
                <a:cubicBezTo>
                  <a:pt x="264232" y="17859"/>
                  <a:pt x="251644" y="17859"/>
                  <a:pt x="243892" y="25611"/>
                </a:cubicBezTo>
                <a:lnTo>
                  <a:pt x="5767" y="263736"/>
                </a:lnTo>
                <a:cubicBezTo>
                  <a:pt x="-1984" y="271487"/>
                  <a:pt x="-1984" y="284076"/>
                  <a:pt x="5767" y="291827"/>
                </a:cubicBezTo>
                <a:cubicBezTo>
                  <a:pt x="13519" y="299579"/>
                  <a:pt x="26107" y="299579"/>
                  <a:pt x="33858" y="291827"/>
                </a:cubicBezTo>
                <a:lnTo>
                  <a:pt x="271983" y="53702"/>
                </a:lnTo>
                <a:close/>
              </a:path>
            </a:pathLst>
          </a:custGeom>
          <a:solidFill>
            <a:srgbClr val="4C7E9A"/>
          </a:solidFill>
          <a:ln/>
        </p:spPr>
      </p:sp>
      <p:sp>
        <p:nvSpPr>
          <p:cNvPr id="30" name="Text 28"/>
          <p:cNvSpPr/>
          <p:nvPr/>
        </p:nvSpPr>
        <p:spPr>
          <a:xfrm>
            <a:off x="11502264" y="1746250"/>
            <a:ext cx="1164167"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概率投票法</a:t>
            </a:r>
            <a:endParaRPr lang="en-US" sz="1600" dirty="0"/>
          </a:p>
        </p:txBody>
      </p:sp>
      <p:sp>
        <p:nvSpPr>
          <p:cNvPr id="31" name="Text 29"/>
          <p:cNvSpPr/>
          <p:nvPr/>
        </p:nvSpPr>
        <p:spPr>
          <a:xfrm>
            <a:off x="10978389" y="2180167"/>
            <a:ext cx="478366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核心机制</a:t>
            </a:r>
            <a:endParaRPr lang="en-US" sz="1600" dirty="0"/>
          </a:p>
        </p:txBody>
      </p:sp>
      <p:sp>
        <p:nvSpPr>
          <p:cNvPr id="32" name="Text 30"/>
          <p:cNvSpPr/>
          <p:nvPr/>
        </p:nvSpPr>
        <p:spPr>
          <a:xfrm>
            <a:off x="10978389" y="2518833"/>
            <a:ext cx="4773083" cy="550333"/>
          </a:xfrm>
          <a:prstGeom prst="rect">
            <a:avLst/>
          </a:prstGeom>
          <a:noFill/>
          <a:ln/>
        </p:spPr>
        <p:txBody>
          <a:bodyPr wrap="square" lIns="0" tIns="0" rIns="0" bIns="0" rtlCol="0" anchor="ctr"/>
          <a:lstStyle/>
          <a:p>
            <a:pPr>
              <a:lnSpc>
                <a:spcPct val="140000"/>
              </a:lnSpc>
            </a:pPr>
            <a:r>
              <a:rPr lang="en-US" sz="1333" dirty="0">
                <a:solidFill>
                  <a:srgbClr val="7E9AA8"/>
                </a:solidFill>
                <a:latin typeface="MiSans" pitchFamily="34" charset="0"/>
                <a:ea typeface="MiSans" pitchFamily="34" charset="-122"/>
                <a:cs typeface="MiSans" pitchFamily="34" charset="-120"/>
              </a:rPr>
              <a:t>不仅考虑投票结果，还考虑每个模型的预测置信度。充分利用模型的预测概率信息。</a:t>
            </a:r>
            <a:endParaRPr lang="en-US" sz="1600" dirty="0"/>
          </a:p>
        </p:txBody>
      </p:sp>
      <p:sp>
        <p:nvSpPr>
          <p:cNvPr id="33" name="Shape 31"/>
          <p:cNvSpPr/>
          <p:nvPr/>
        </p:nvSpPr>
        <p:spPr>
          <a:xfrm>
            <a:off x="10978389" y="3153833"/>
            <a:ext cx="4688417" cy="1058333"/>
          </a:xfrm>
          <a:custGeom>
            <a:avLst/>
            <a:gdLst/>
            <a:ahLst/>
            <a:cxnLst/>
            <a:rect l="l" t="t" r="r" b="b"/>
            <a:pathLst>
              <a:path w="4688417" h="1058333">
                <a:moveTo>
                  <a:pt x="42333" y="0"/>
                </a:moveTo>
                <a:lnTo>
                  <a:pt x="4646083" y="0"/>
                </a:lnTo>
                <a:cubicBezTo>
                  <a:pt x="4669463" y="0"/>
                  <a:pt x="4688417" y="18953"/>
                  <a:pt x="4688417" y="42333"/>
                </a:cubicBezTo>
                <a:lnTo>
                  <a:pt x="4688417" y="1016000"/>
                </a:lnTo>
                <a:cubicBezTo>
                  <a:pt x="4688417" y="1039380"/>
                  <a:pt x="4669463" y="1058333"/>
                  <a:pt x="4646083" y="1058333"/>
                </a:cubicBezTo>
                <a:lnTo>
                  <a:pt x="42333" y="1058333"/>
                </a:lnTo>
                <a:cubicBezTo>
                  <a:pt x="18953" y="1058333"/>
                  <a:pt x="0" y="1039380"/>
                  <a:pt x="0" y="1016000"/>
                </a:cubicBezTo>
                <a:lnTo>
                  <a:pt x="0" y="42333"/>
                </a:lnTo>
                <a:cubicBezTo>
                  <a:pt x="0" y="18953"/>
                  <a:pt x="18953" y="0"/>
                  <a:pt x="42333" y="0"/>
                </a:cubicBezTo>
                <a:close/>
              </a:path>
            </a:pathLst>
          </a:custGeom>
          <a:solidFill>
            <a:srgbClr val="181A1F">
              <a:alpha val="50196"/>
            </a:srgbClr>
          </a:solidFill>
          <a:ln/>
        </p:spPr>
      </p:sp>
      <p:sp>
        <p:nvSpPr>
          <p:cNvPr id="34" name="Text 32"/>
          <p:cNvSpPr/>
          <p:nvPr/>
        </p:nvSpPr>
        <p:spPr>
          <a:xfrm>
            <a:off x="11063056" y="3243792"/>
            <a:ext cx="518583" cy="195792"/>
          </a:xfrm>
          <a:prstGeom prst="rect">
            <a:avLst/>
          </a:prstGeom>
          <a:noFill/>
          <a:ln/>
        </p:spPr>
        <p:txBody>
          <a:bodyPr wrap="square" lIns="0" tIns="0" rIns="0" bIns="0" rtlCol="0" anchor="ctr"/>
          <a:lstStyle/>
          <a:p>
            <a:pPr>
              <a:lnSpc>
                <a:spcPct val="120000"/>
              </a:lnSpc>
            </a:pPr>
            <a:r>
              <a:rPr lang="en-US" sz="1167" b="1" dirty="0">
                <a:solidFill>
                  <a:srgbClr val="D1D5DB"/>
                </a:solidFill>
                <a:latin typeface="MiSans" pitchFamily="34" charset="0"/>
                <a:ea typeface="MiSans" pitchFamily="34" charset="-122"/>
                <a:cs typeface="MiSans" pitchFamily="34" charset="-120"/>
              </a:rPr>
              <a:t>示例：</a:t>
            </a:r>
            <a:endParaRPr lang="en-US" sz="1600" dirty="0"/>
          </a:p>
        </p:txBody>
      </p:sp>
      <p:sp>
        <p:nvSpPr>
          <p:cNvPr id="35" name="Text 33"/>
          <p:cNvSpPr/>
          <p:nvPr/>
        </p:nvSpPr>
        <p:spPr>
          <a:xfrm>
            <a:off x="11063056" y="3492500"/>
            <a:ext cx="4593167" cy="635000"/>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模型1: A(90%)</a:t>
            </a:r>
            <a:endParaRPr lang="en-US" sz="1600" dirty="0"/>
          </a:p>
          <a:p>
            <a:pPr>
              <a:lnSpc>
                <a:spcPct val="120000"/>
              </a:lnSpc>
            </a:pPr>
            <a:r>
              <a:rPr lang="en-US" sz="1167" dirty="0">
                <a:solidFill>
                  <a:srgbClr val="7E9AA8"/>
                </a:solidFill>
                <a:latin typeface="MiSans" pitchFamily="34" charset="0"/>
                <a:ea typeface="MiSans" pitchFamily="34" charset="-122"/>
                <a:cs typeface="MiSans" pitchFamily="34" charset="-120"/>
              </a:rPr>
              <a:t>模型2: A(51%)</a:t>
            </a:r>
            <a:endParaRPr lang="en-US" sz="1600" dirty="0"/>
          </a:p>
          <a:p>
            <a:pPr>
              <a:lnSpc>
                <a:spcPct val="120000"/>
              </a:lnSpc>
            </a:pPr>
            <a:r>
              <a:rPr lang="en-US" sz="1167" dirty="0">
                <a:solidFill>
                  <a:srgbClr val="7E9AA8"/>
                </a:solidFill>
                <a:latin typeface="MiSans" pitchFamily="34" charset="0"/>
                <a:ea typeface="MiSans" pitchFamily="34" charset="-122"/>
                <a:cs typeface="MiSans" pitchFamily="34" charset="-120"/>
              </a:rPr>
              <a:t>→ 综合分析 → 最终: A</a:t>
            </a:r>
            <a:endParaRPr lang="en-US" sz="1600" dirty="0"/>
          </a:p>
        </p:txBody>
      </p:sp>
      <p:sp>
        <p:nvSpPr>
          <p:cNvPr id="36" name="Text 34"/>
          <p:cNvSpPr/>
          <p:nvPr/>
        </p:nvSpPr>
        <p:spPr>
          <a:xfrm>
            <a:off x="10978389" y="4296833"/>
            <a:ext cx="4773083" cy="254000"/>
          </a:xfrm>
          <a:prstGeom prst="rect">
            <a:avLst/>
          </a:prstGeom>
          <a:noFill/>
          <a:ln/>
        </p:spPr>
        <p:txBody>
          <a:bodyPr wrap="square" lIns="0" tIns="0" rIns="0" bIns="0" rtlCol="0" anchor="ctr"/>
          <a:lstStyle/>
          <a:p>
            <a:pPr>
              <a:lnSpc>
                <a:spcPct val="130000"/>
              </a:lnSpc>
            </a:pPr>
            <a:r>
              <a:rPr lang="en-US" sz="1333" b="1" dirty="0">
                <a:solidFill>
                  <a:srgbClr val="4C7E9A"/>
                </a:solidFill>
                <a:latin typeface="MiSans" pitchFamily="34" charset="0"/>
                <a:ea typeface="MiSans" pitchFamily="34" charset="-122"/>
                <a:cs typeface="MiSans" pitchFamily="34" charset="-120"/>
              </a:rPr>
              <a:t>优势特点</a:t>
            </a:r>
            <a:endParaRPr lang="en-US" sz="1600" dirty="0"/>
          </a:p>
        </p:txBody>
      </p:sp>
      <p:sp>
        <p:nvSpPr>
          <p:cNvPr id="37" name="Text 35"/>
          <p:cNvSpPr/>
          <p:nvPr/>
        </p:nvSpPr>
        <p:spPr>
          <a:xfrm>
            <a:off x="10978389" y="4593167"/>
            <a:ext cx="476250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更精细的整合结果，充分利用置信度信息</a:t>
            </a:r>
            <a:endParaRPr lang="en-US" sz="1600" dirty="0"/>
          </a:p>
        </p:txBody>
      </p:sp>
      <p:sp>
        <p:nvSpPr>
          <p:cNvPr id="38" name="Shape 36"/>
          <p:cNvSpPr/>
          <p:nvPr/>
        </p:nvSpPr>
        <p:spPr>
          <a:xfrm>
            <a:off x="444500" y="5143500"/>
            <a:ext cx="7598833" cy="4085167"/>
          </a:xfrm>
          <a:custGeom>
            <a:avLst/>
            <a:gdLst/>
            <a:ahLst/>
            <a:cxnLst/>
            <a:rect l="l" t="t" r="r" b="b"/>
            <a:pathLst>
              <a:path w="7598833" h="4085167">
                <a:moveTo>
                  <a:pt x="42333" y="0"/>
                </a:moveTo>
                <a:lnTo>
                  <a:pt x="7514148" y="0"/>
                </a:lnTo>
                <a:cubicBezTo>
                  <a:pt x="7560918" y="0"/>
                  <a:pt x="7598833" y="37915"/>
                  <a:pt x="7598833" y="84686"/>
                </a:cubicBezTo>
                <a:lnTo>
                  <a:pt x="7598833" y="4000481"/>
                </a:lnTo>
                <a:cubicBezTo>
                  <a:pt x="7598833" y="4047252"/>
                  <a:pt x="7560918" y="4085167"/>
                  <a:pt x="7514148" y="4085167"/>
                </a:cubicBezTo>
                <a:lnTo>
                  <a:pt x="42333" y="4085167"/>
                </a:lnTo>
                <a:cubicBezTo>
                  <a:pt x="18953" y="4085167"/>
                  <a:pt x="0" y="4066213"/>
                  <a:pt x="0" y="4042833"/>
                </a:cubicBezTo>
                <a:lnTo>
                  <a:pt x="0" y="42333"/>
                </a:lnTo>
                <a:cubicBezTo>
                  <a:pt x="0" y="18953"/>
                  <a:pt x="18953" y="0"/>
                  <a:pt x="42333" y="0"/>
                </a:cubicBezTo>
                <a:close/>
              </a:path>
            </a:pathLst>
          </a:custGeom>
          <a:solidFill>
            <a:srgbClr val="3A5E78">
              <a:alpha val="20000"/>
            </a:srgbClr>
          </a:solidFill>
          <a:ln/>
        </p:spPr>
      </p:sp>
      <p:sp>
        <p:nvSpPr>
          <p:cNvPr id="39" name="Shape 37"/>
          <p:cNvSpPr/>
          <p:nvPr/>
        </p:nvSpPr>
        <p:spPr>
          <a:xfrm>
            <a:off x="444500" y="5143500"/>
            <a:ext cx="42333" cy="4085167"/>
          </a:xfrm>
          <a:custGeom>
            <a:avLst/>
            <a:gdLst/>
            <a:ahLst/>
            <a:cxnLst/>
            <a:rect l="l" t="t" r="r" b="b"/>
            <a:pathLst>
              <a:path w="42333" h="4085167">
                <a:moveTo>
                  <a:pt x="42333" y="0"/>
                </a:moveTo>
                <a:lnTo>
                  <a:pt x="42333" y="0"/>
                </a:lnTo>
                <a:lnTo>
                  <a:pt x="42333" y="4085167"/>
                </a:lnTo>
                <a:lnTo>
                  <a:pt x="42333" y="4085167"/>
                </a:lnTo>
                <a:cubicBezTo>
                  <a:pt x="18953" y="4085167"/>
                  <a:pt x="0" y="4066213"/>
                  <a:pt x="0" y="4042833"/>
                </a:cubicBezTo>
                <a:lnTo>
                  <a:pt x="0" y="42333"/>
                </a:lnTo>
                <a:cubicBezTo>
                  <a:pt x="0" y="18953"/>
                  <a:pt x="18953" y="0"/>
                  <a:pt x="42333" y="0"/>
                </a:cubicBezTo>
                <a:close/>
              </a:path>
            </a:pathLst>
          </a:custGeom>
          <a:solidFill>
            <a:srgbClr val="4C7E9A"/>
          </a:solidFill>
          <a:ln/>
        </p:spPr>
      </p:sp>
      <p:sp>
        <p:nvSpPr>
          <p:cNvPr id="40" name="Text 38"/>
          <p:cNvSpPr/>
          <p:nvPr/>
        </p:nvSpPr>
        <p:spPr>
          <a:xfrm>
            <a:off x="635000" y="5312833"/>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软投票 vs 硬投票</a:t>
            </a:r>
            <a:endParaRPr lang="en-US" sz="1600" dirty="0"/>
          </a:p>
        </p:txBody>
      </p:sp>
      <p:sp>
        <p:nvSpPr>
          <p:cNvPr id="41" name="Shape 39"/>
          <p:cNvSpPr/>
          <p:nvPr/>
        </p:nvSpPr>
        <p:spPr>
          <a:xfrm>
            <a:off x="635000" y="5778500"/>
            <a:ext cx="7239000" cy="846667"/>
          </a:xfrm>
          <a:custGeom>
            <a:avLst/>
            <a:gdLst/>
            <a:ahLst/>
            <a:cxnLst/>
            <a:rect l="l" t="t" r="r" b="b"/>
            <a:pathLst>
              <a:path w="7239000" h="846667">
                <a:moveTo>
                  <a:pt x="84667" y="0"/>
                </a:moveTo>
                <a:lnTo>
                  <a:pt x="7154333" y="0"/>
                </a:lnTo>
                <a:cubicBezTo>
                  <a:pt x="7201093" y="0"/>
                  <a:pt x="7239000" y="37907"/>
                  <a:pt x="7239000" y="84667"/>
                </a:cubicBezTo>
                <a:lnTo>
                  <a:pt x="7239000" y="762000"/>
                </a:lnTo>
                <a:cubicBezTo>
                  <a:pt x="7239000" y="808760"/>
                  <a:pt x="7201093" y="846667"/>
                  <a:pt x="7154333" y="846667"/>
                </a:cubicBezTo>
                <a:lnTo>
                  <a:pt x="84667" y="846667"/>
                </a:lnTo>
                <a:cubicBezTo>
                  <a:pt x="37907" y="846667"/>
                  <a:pt x="0" y="808760"/>
                  <a:pt x="0" y="762000"/>
                </a:cubicBezTo>
                <a:lnTo>
                  <a:pt x="0" y="84667"/>
                </a:lnTo>
                <a:cubicBezTo>
                  <a:pt x="0" y="37907"/>
                  <a:pt x="37907" y="0"/>
                  <a:pt x="84667" y="0"/>
                </a:cubicBezTo>
                <a:close/>
              </a:path>
            </a:pathLst>
          </a:custGeom>
          <a:solidFill>
            <a:srgbClr val="181A1F">
              <a:alpha val="50196"/>
            </a:srgbClr>
          </a:solidFill>
          <a:ln/>
        </p:spPr>
      </p:sp>
      <p:sp>
        <p:nvSpPr>
          <p:cNvPr id="42" name="Text 40"/>
          <p:cNvSpPr/>
          <p:nvPr/>
        </p:nvSpPr>
        <p:spPr>
          <a:xfrm>
            <a:off x="762000" y="5905500"/>
            <a:ext cx="7080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硬投票 (Hard Voting)</a:t>
            </a:r>
            <a:endParaRPr lang="en-US" sz="1600" dirty="0"/>
          </a:p>
        </p:txBody>
      </p:sp>
      <p:sp>
        <p:nvSpPr>
          <p:cNvPr id="43" name="Text 41"/>
          <p:cNvSpPr/>
          <p:nvPr/>
        </p:nvSpPr>
        <p:spPr>
          <a:xfrm>
            <a:off x="762000" y="6244167"/>
            <a:ext cx="7069667"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基于预测类别标签进行投票，简单直接</a:t>
            </a:r>
            <a:endParaRPr lang="en-US" sz="1600" dirty="0"/>
          </a:p>
        </p:txBody>
      </p:sp>
      <p:sp>
        <p:nvSpPr>
          <p:cNvPr id="44" name="Shape 42"/>
          <p:cNvSpPr/>
          <p:nvPr/>
        </p:nvSpPr>
        <p:spPr>
          <a:xfrm>
            <a:off x="635000" y="6752167"/>
            <a:ext cx="7239000" cy="846667"/>
          </a:xfrm>
          <a:custGeom>
            <a:avLst/>
            <a:gdLst/>
            <a:ahLst/>
            <a:cxnLst/>
            <a:rect l="l" t="t" r="r" b="b"/>
            <a:pathLst>
              <a:path w="7239000" h="846667">
                <a:moveTo>
                  <a:pt x="84667" y="0"/>
                </a:moveTo>
                <a:lnTo>
                  <a:pt x="7154333" y="0"/>
                </a:lnTo>
                <a:cubicBezTo>
                  <a:pt x="7201093" y="0"/>
                  <a:pt x="7239000" y="37907"/>
                  <a:pt x="7239000" y="84667"/>
                </a:cubicBezTo>
                <a:lnTo>
                  <a:pt x="7239000" y="762000"/>
                </a:lnTo>
                <a:cubicBezTo>
                  <a:pt x="7239000" y="808760"/>
                  <a:pt x="7201093" y="846667"/>
                  <a:pt x="7154333" y="846667"/>
                </a:cubicBezTo>
                <a:lnTo>
                  <a:pt x="84667" y="846667"/>
                </a:lnTo>
                <a:cubicBezTo>
                  <a:pt x="37907" y="846667"/>
                  <a:pt x="0" y="808760"/>
                  <a:pt x="0" y="762000"/>
                </a:cubicBezTo>
                <a:lnTo>
                  <a:pt x="0" y="84667"/>
                </a:lnTo>
                <a:cubicBezTo>
                  <a:pt x="0" y="37907"/>
                  <a:pt x="37907" y="0"/>
                  <a:pt x="84667" y="0"/>
                </a:cubicBezTo>
                <a:close/>
              </a:path>
            </a:pathLst>
          </a:custGeom>
          <a:solidFill>
            <a:srgbClr val="181A1F">
              <a:alpha val="50196"/>
            </a:srgbClr>
          </a:solidFill>
          <a:ln/>
        </p:spPr>
      </p:sp>
      <p:sp>
        <p:nvSpPr>
          <p:cNvPr id="45" name="Text 43"/>
          <p:cNvSpPr/>
          <p:nvPr/>
        </p:nvSpPr>
        <p:spPr>
          <a:xfrm>
            <a:off x="762000" y="6879167"/>
            <a:ext cx="7080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软投票 (Soft Voting)</a:t>
            </a:r>
            <a:endParaRPr lang="en-US" sz="1600" dirty="0"/>
          </a:p>
        </p:txBody>
      </p:sp>
      <p:sp>
        <p:nvSpPr>
          <p:cNvPr id="46" name="Text 44"/>
          <p:cNvSpPr/>
          <p:nvPr/>
        </p:nvSpPr>
        <p:spPr>
          <a:xfrm>
            <a:off x="762000" y="7217833"/>
            <a:ext cx="7069667"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基于预测概率进行加权平均，更精细</a:t>
            </a:r>
            <a:endParaRPr lang="en-US" sz="1600" dirty="0"/>
          </a:p>
        </p:txBody>
      </p:sp>
      <p:sp>
        <p:nvSpPr>
          <p:cNvPr id="47" name="Shape 45"/>
          <p:cNvSpPr/>
          <p:nvPr/>
        </p:nvSpPr>
        <p:spPr>
          <a:xfrm>
            <a:off x="674688" y="7757583"/>
            <a:ext cx="111125" cy="148167"/>
          </a:xfrm>
          <a:custGeom>
            <a:avLst/>
            <a:gdLst/>
            <a:ahLst/>
            <a:cxnLst/>
            <a:rect l="l" t="t" r="r" b="b"/>
            <a:pathLst>
              <a:path w="111125" h="148167">
                <a:moveTo>
                  <a:pt x="84762" y="111125"/>
                </a:moveTo>
                <a:cubicBezTo>
                  <a:pt x="86874" y="104672"/>
                  <a:pt x="91099" y="98826"/>
                  <a:pt x="95874" y="93791"/>
                </a:cubicBezTo>
                <a:cubicBezTo>
                  <a:pt x="105337" y="83836"/>
                  <a:pt x="111125" y="70379"/>
                  <a:pt x="111125" y="55563"/>
                </a:cubicBezTo>
                <a:cubicBezTo>
                  <a:pt x="111125" y="24887"/>
                  <a:pt x="86238" y="0"/>
                  <a:pt x="55562" y="0"/>
                </a:cubicBezTo>
                <a:cubicBezTo>
                  <a:pt x="24887" y="0"/>
                  <a:pt x="0" y="24887"/>
                  <a:pt x="0" y="55562"/>
                </a:cubicBezTo>
                <a:cubicBezTo>
                  <a:pt x="0" y="70379"/>
                  <a:pt x="5788" y="83836"/>
                  <a:pt x="15251" y="93791"/>
                </a:cubicBezTo>
                <a:cubicBezTo>
                  <a:pt x="20026" y="98826"/>
                  <a:pt x="24280" y="104672"/>
                  <a:pt x="26363" y="111125"/>
                </a:cubicBezTo>
                <a:lnTo>
                  <a:pt x="84733" y="111125"/>
                </a:lnTo>
                <a:close/>
                <a:moveTo>
                  <a:pt x="83344" y="125016"/>
                </a:moveTo>
                <a:lnTo>
                  <a:pt x="27781" y="125016"/>
                </a:lnTo>
                <a:lnTo>
                  <a:pt x="27781" y="129646"/>
                </a:lnTo>
                <a:cubicBezTo>
                  <a:pt x="27781" y="142437"/>
                  <a:pt x="38141" y="152797"/>
                  <a:pt x="50932" y="152797"/>
                </a:cubicBezTo>
                <a:lnTo>
                  <a:pt x="60193" y="152797"/>
                </a:lnTo>
                <a:cubicBezTo>
                  <a:pt x="72984" y="152797"/>
                  <a:pt x="83344" y="142437"/>
                  <a:pt x="83344" y="129646"/>
                </a:cubicBezTo>
                <a:lnTo>
                  <a:pt x="83344" y="125016"/>
                </a:lnTo>
                <a:close/>
                <a:moveTo>
                  <a:pt x="53247" y="32411"/>
                </a:moveTo>
                <a:cubicBezTo>
                  <a:pt x="41730" y="32411"/>
                  <a:pt x="32411" y="41730"/>
                  <a:pt x="32411" y="53247"/>
                </a:cubicBezTo>
                <a:cubicBezTo>
                  <a:pt x="32411" y="57096"/>
                  <a:pt x="29315" y="60193"/>
                  <a:pt x="25466" y="60193"/>
                </a:cubicBezTo>
                <a:cubicBezTo>
                  <a:pt x="21617" y="60193"/>
                  <a:pt x="18521" y="57096"/>
                  <a:pt x="18521" y="53247"/>
                </a:cubicBezTo>
                <a:cubicBezTo>
                  <a:pt x="18521" y="34061"/>
                  <a:pt x="34061" y="18521"/>
                  <a:pt x="53247" y="18521"/>
                </a:cubicBezTo>
                <a:cubicBezTo>
                  <a:pt x="57096" y="18521"/>
                  <a:pt x="60193" y="21617"/>
                  <a:pt x="60193" y="25466"/>
                </a:cubicBezTo>
                <a:cubicBezTo>
                  <a:pt x="60193" y="29315"/>
                  <a:pt x="57096" y="32411"/>
                  <a:pt x="53247" y="32411"/>
                </a:cubicBezTo>
                <a:close/>
              </a:path>
            </a:pathLst>
          </a:custGeom>
          <a:solidFill>
            <a:srgbClr val="4C7E9A"/>
          </a:solidFill>
          <a:ln/>
        </p:spPr>
      </p:sp>
      <p:sp>
        <p:nvSpPr>
          <p:cNvPr id="48" name="Text 46"/>
          <p:cNvSpPr/>
          <p:nvPr/>
        </p:nvSpPr>
        <p:spPr>
          <a:xfrm>
            <a:off x="896056" y="7725833"/>
            <a:ext cx="7052028"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软投票通常比硬投票表现更好，因为它保留了更多置信度信息</a:t>
            </a:r>
            <a:endParaRPr lang="en-US" sz="1600" dirty="0"/>
          </a:p>
        </p:txBody>
      </p:sp>
      <p:pic>
        <p:nvPicPr>
          <p:cNvPr id="49" name="Image 0" descr="https://kimi-img.moonshot.cn/pub/slides/26-01-07-11:57:46-d5etjegi2d88tb9pgs3g.png">    </p:cNvPr>
          <p:cNvPicPr>
            <a:picLocks noChangeAspect="1"/>
          </p:cNvPicPr>
          <p:nvPr/>
        </p:nvPicPr>
        <p:blipFill>
          <a:blip r:embed="rId1"/>
          <a:srcRect l="0" r="0" t="0" b="0"/>
          <a:stretch/>
        </p:blipFill>
        <p:spPr>
          <a:xfrm>
            <a:off x="8212667" y="5143500"/>
            <a:ext cx="6265333" cy="2645833"/>
          </a:xfrm>
          <a:prstGeom prst="roundRect">
            <a:avLst>
              <a:gd name="adj" fmla="val 0"/>
            </a:avLst>
          </a:prstGeom>
        </p:spPr>
      </p:pic>
      <p:sp>
        <p:nvSpPr>
          <p:cNvPr id="50" name="Shape 47"/>
          <p:cNvSpPr/>
          <p:nvPr/>
        </p:nvSpPr>
        <p:spPr>
          <a:xfrm>
            <a:off x="8212667" y="7874000"/>
            <a:ext cx="7620000" cy="1354667"/>
          </a:xfrm>
          <a:custGeom>
            <a:avLst/>
            <a:gdLst/>
            <a:ahLst/>
            <a:cxnLst/>
            <a:rect l="l" t="t" r="r" b="b"/>
            <a:pathLst>
              <a:path w="7620000" h="1354667">
                <a:moveTo>
                  <a:pt x="84667" y="0"/>
                </a:moveTo>
                <a:lnTo>
                  <a:pt x="7535333" y="0"/>
                </a:lnTo>
                <a:cubicBezTo>
                  <a:pt x="7582093" y="0"/>
                  <a:pt x="7620000" y="37907"/>
                  <a:pt x="7620000" y="84667"/>
                </a:cubicBezTo>
                <a:lnTo>
                  <a:pt x="7620000" y="1270000"/>
                </a:lnTo>
                <a:cubicBezTo>
                  <a:pt x="7620000" y="1316760"/>
                  <a:pt x="7582093" y="1354667"/>
                  <a:pt x="7535333" y="1354667"/>
                </a:cubicBezTo>
                <a:lnTo>
                  <a:pt x="84667" y="1354667"/>
                </a:lnTo>
                <a:cubicBezTo>
                  <a:pt x="37907" y="1354667"/>
                  <a:pt x="0" y="1316760"/>
                  <a:pt x="0" y="1270000"/>
                </a:cubicBezTo>
                <a:lnTo>
                  <a:pt x="0" y="84667"/>
                </a:lnTo>
                <a:cubicBezTo>
                  <a:pt x="0" y="37907"/>
                  <a:pt x="37907" y="0"/>
                  <a:pt x="84667" y="0"/>
                </a:cubicBezTo>
                <a:close/>
              </a:path>
            </a:pathLst>
          </a:custGeom>
          <a:solidFill>
            <a:srgbClr val="4C7E9A">
              <a:alpha val="10196"/>
            </a:srgbClr>
          </a:solidFill>
          <a:ln/>
        </p:spPr>
      </p:sp>
      <p:sp>
        <p:nvSpPr>
          <p:cNvPr id="51" name="Text 48"/>
          <p:cNvSpPr/>
          <p:nvPr/>
        </p:nvSpPr>
        <p:spPr>
          <a:xfrm>
            <a:off x="8339667" y="8001000"/>
            <a:ext cx="7461250"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选择建议</a:t>
            </a:r>
            <a:endParaRPr lang="en-US" sz="1600" dirty="0"/>
          </a:p>
        </p:txBody>
      </p:sp>
      <p:sp>
        <p:nvSpPr>
          <p:cNvPr id="52" name="Text 49"/>
          <p:cNvSpPr/>
          <p:nvPr/>
        </p:nvSpPr>
        <p:spPr>
          <a:xfrm>
            <a:off x="8339667" y="8382000"/>
            <a:ext cx="7440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基学习器性能差异大 → 加权投票/概率投票</a:t>
            </a:r>
            <a:endParaRPr lang="en-US" sz="1600" dirty="0"/>
          </a:p>
        </p:txBody>
      </p:sp>
      <p:sp>
        <p:nvSpPr>
          <p:cNvPr id="53" name="Text 50"/>
          <p:cNvSpPr/>
          <p:nvPr/>
        </p:nvSpPr>
        <p:spPr>
          <a:xfrm>
            <a:off x="8339667" y="8636000"/>
            <a:ext cx="7440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需要可解释性 → 简单投票/加权投票</a:t>
            </a:r>
            <a:endParaRPr lang="en-US" sz="1600" dirty="0"/>
          </a:p>
        </p:txBody>
      </p:sp>
      <p:sp>
        <p:nvSpPr>
          <p:cNvPr id="54" name="Text 51"/>
          <p:cNvSpPr/>
          <p:nvPr/>
        </p:nvSpPr>
        <p:spPr>
          <a:xfrm>
            <a:off x="8339667" y="8890000"/>
            <a:ext cx="7440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追求最佳性能 → 概率投票（软投票）</a:t>
            </a:r>
            <a:endParaRPr lang="en-US" sz="16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81A1F"/>
        </a:solidFill>
      </p:bgPr>
    </p:bg>
    <p:spTree>
      <p:nvGrpSpPr>
        <p:cNvPr id="1" name=""/>
        <p:cNvGrpSpPr/>
        <p:nvPr/>
      </p:nvGrpSpPr>
      <p:grpSpPr>
        <a:xfrm>
          <a:off x="0" y="0"/>
          <a:ext cx="0" cy="0"/>
          <a:chOff x="0" y="0"/>
          <a:chExt cx="0" cy="0"/>
        </a:xfrm>
      </p:grpSpPr>
      <p:pic>
        <p:nvPicPr>
          <p:cNvPr id="2" name="Image 0" descr="https://kimi-web-img.moonshot.cn/img/img.freepik.com/29534106026b0a34d6d6b91e863ea54ef163599d.jpg">    </p:cNvPr>
          <p:cNvPicPr>
            <a:picLocks noChangeAspect="1"/>
          </p:cNvPicPr>
          <p:nvPr/>
        </p:nvPicPr>
        <p:blipFill>
          <a:blip r:embed="rId1">
            <a:alphaModFix amt="30000"/>
          </a:blip>
          <a:srcRect l="178" r="178" t="0" b="0"/>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rotWithShape="1" flip="none">
            <a:gsLst>
              <a:gs pos="0">
                <a:srgbClr val="181A1F"/>
              </a:gs>
              <a:gs pos="50000">
                <a:srgbClr val="181A1F">
                  <a:alpha val="95000"/>
                </a:srgbClr>
              </a:gs>
              <a:gs pos="100000">
                <a:srgbClr val="181A1F">
                  <a:alpha val="70000"/>
                </a:srgbClr>
              </a:gs>
            </a:gsLst>
            <a:lin ang="0" scaled="1"/>
          </a:gradFill>
          <a:ln/>
        </p:spPr>
      </p:sp>
      <p:sp>
        <p:nvSpPr>
          <p:cNvPr id="4" name="Shape 1"/>
          <p:cNvSpPr/>
          <p:nvPr/>
        </p:nvSpPr>
        <p:spPr>
          <a:xfrm>
            <a:off x="520700" y="1073150"/>
            <a:ext cx="2349500" cy="787400"/>
          </a:xfrm>
          <a:custGeom>
            <a:avLst/>
            <a:gdLst/>
            <a:ahLst/>
            <a:cxnLst/>
            <a:rect l="l" t="t" r="r" b="b"/>
            <a:pathLst>
              <a:path w="2349500" h="787400">
                <a:moveTo>
                  <a:pt x="101598" y="0"/>
                </a:moveTo>
                <a:lnTo>
                  <a:pt x="2247902" y="0"/>
                </a:lnTo>
                <a:cubicBezTo>
                  <a:pt x="2304013" y="0"/>
                  <a:pt x="2349500" y="45487"/>
                  <a:pt x="2349500" y="101598"/>
                </a:cubicBezTo>
                <a:lnTo>
                  <a:pt x="2349500" y="685802"/>
                </a:lnTo>
                <a:cubicBezTo>
                  <a:pt x="2349500" y="741913"/>
                  <a:pt x="2304013" y="787400"/>
                  <a:pt x="2247902" y="787400"/>
                </a:cubicBezTo>
                <a:lnTo>
                  <a:pt x="101598" y="787400"/>
                </a:lnTo>
                <a:cubicBezTo>
                  <a:pt x="45487" y="787400"/>
                  <a:pt x="0" y="741913"/>
                  <a:pt x="0" y="685802"/>
                </a:cubicBezTo>
                <a:lnTo>
                  <a:pt x="0" y="101598"/>
                </a:lnTo>
                <a:cubicBezTo>
                  <a:pt x="0" y="45525"/>
                  <a:pt x="45525" y="0"/>
                  <a:pt x="101598" y="0"/>
                </a:cubicBezTo>
                <a:close/>
              </a:path>
            </a:pathLst>
          </a:custGeom>
          <a:solidFill>
            <a:srgbClr val="4C7E9A">
              <a:alpha val="20000"/>
            </a:srgbClr>
          </a:solidFill>
          <a:ln w="25400">
            <a:solidFill>
              <a:srgbClr val="4C7E9A"/>
            </a:solidFill>
            <a:prstDash val="solid"/>
          </a:ln>
        </p:spPr>
      </p:sp>
      <p:sp>
        <p:nvSpPr>
          <p:cNvPr id="5" name="Text 2"/>
          <p:cNvSpPr/>
          <p:nvPr/>
        </p:nvSpPr>
        <p:spPr>
          <a:xfrm>
            <a:off x="838200" y="1238250"/>
            <a:ext cx="1905000" cy="457200"/>
          </a:xfrm>
          <a:prstGeom prst="rect">
            <a:avLst/>
          </a:prstGeom>
          <a:noFill/>
          <a:ln/>
        </p:spPr>
        <p:txBody>
          <a:bodyPr wrap="square" lIns="0" tIns="0" rIns="0" bIns="0" rtlCol="0" anchor="ctr"/>
          <a:lstStyle/>
          <a:p>
            <a:pPr>
              <a:lnSpc>
                <a:spcPct val="100000"/>
              </a:lnSpc>
            </a:pPr>
            <a:r>
              <a:rPr lang="en-US" sz="3000" b="1" dirty="0">
                <a:solidFill>
                  <a:srgbClr val="4C7E9A"/>
                </a:solidFill>
                <a:latin typeface="MiSans" pitchFamily="34" charset="0"/>
                <a:ea typeface="MiSans" pitchFamily="34" charset="-122"/>
                <a:cs typeface="MiSans" pitchFamily="34" charset="-120"/>
              </a:rPr>
              <a:t>CHAPTER</a:t>
            </a:r>
            <a:endParaRPr lang="en-US" sz="1600" dirty="0"/>
          </a:p>
        </p:txBody>
      </p:sp>
      <p:sp>
        <p:nvSpPr>
          <p:cNvPr id="6" name="Text 3"/>
          <p:cNvSpPr/>
          <p:nvPr/>
        </p:nvSpPr>
        <p:spPr>
          <a:xfrm>
            <a:off x="508000" y="2279650"/>
            <a:ext cx="9601200" cy="1219200"/>
          </a:xfrm>
          <a:prstGeom prst="rect">
            <a:avLst/>
          </a:prstGeom>
          <a:noFill/>
          <a:ln/>
        </p:spPr>
        <p:txBody>
          <a:bodyPr wrap="square" lIns="0" tIns="0" rIns="0" bIns="0" rtlCol="0" anchor="ctr"/>
          <a:lstStyle/>
          <a:p>
            <a:pPr>
              <a:lnSpc>
                <a:spcPct val="80000"/>
              </a:lnSpc>
            </a:pPr>
            <a:r>
              <a:rPr lang="en-US" sz="9600" b="1" dirty="0">
                <a:solidFill>
                  <a:srgbClr val="D1D5DB"/>
                </a:solidFill>
                <a:latin typeface="阿里妈妈数黑体" pitchFamily="34" charset="0"/>
                <a:ea typeface="阿里妈妈数黑体" pitchFamily="34" charset="-122"/>
                <a:cs typeface="阿里妈妈数黑体" pitchFamily="34" charset="-120"/>
              </a:rPr>
              <a:t>05</a:t>
            </a:r>
            <a:endParaRPr lang="en-US" sz="1600" dirty="0"/>
          </a:p>
        </p:txBody>
      </p:sp>
      <p:sp>
        <p:nvSpPr>
          <p:cNvPr id="7" name="Text 4"/>
          <p:cNvSpPr/>
          <p:nvPr/>
        </p:nvSpPr>
        <p:spPr>
          <a:xfrm>
            <a:off x="508000" y="3803650"/>
            <a:ext cx="9372600" cy="952500"/>
          </a:xfrm>
          <a:prstGeom prst="rect">
            <a:avLst/>
          </a:prstGeom>
          <a:noFill/>
          <a:ln/>
        </p:spPr>
        <p:txBody>
          <a:bodyPr wrap="square" lIns="0" tIns="0" rIns="0" bIns="0" rtlCol="0" anchor="ctr"/>
          <a:lstStyle/>
          <a:p>
            <a:pPr>
              <a:lnSpc>
                <a:spcPct val="100000"/>
              </a:lnSpc>
            </a:pPr>
            <a:r>
              <a:rPr lang="en-US" sz="6000" b="1" dirty="0">
                <a:solidFill>
                  <a:srgbClr val="4C7E9A"/>
                </a:solidFill>
                <a:latin typeface="阿里妈妈数黑体" pitchFamily="34" charset="0"/>
                <a:ea typeface="阿里妈妈数黑体" pitchFamily="34" charset="-122"/>
                <a:cs typeface="阿里妈妈数黑体" pitchFamily="34" charset="-120"/>
              </a:rPr>
              <a:t>核心方法解析 · Boosting</a:t>
            </a:r>
            <a:endParaRPr lang="en-US" sz="1600" dirty="0"/>
          </a:p>
        </p:txBody>
      </p:sp>
      <p:sp>
        <p:nvSpPr>
          <p:cNvPr id="8" name="Shape 5"/>
          <p:cNvSpPr/>
          <p:nvPr/>
        </p:nvSpPr>
        <p:spPr>
          <a:xfrm>
            <a:off x="508000" y="5162550"/>
            <a:ext cx="2438400" cy="101600"/>
          </a:xfrm>
          <a:custGeom>
            <a:avLst/>
            <a:gdLst/>
            <a:ahLst/>
            <a:cxnLst/>
            <a:rect l="l" t="t" r="r" b="b"/>
            <a:pathLst>
              <a:path w="2438400" h="101600">
                <a:moveTo>
                  <a:pt x="0" y="0"/>
                </a:moveTo>
                <a:lnTo>
                  <a:pt x="2438400" y="0"/>
                </a:lnTo>
                <a:lnTo>
                  <a:pt x="2438400" y="101600"/>
                </a:lnTo>
                <a:lnTo>
                  <a:pt x="0" y="101600"/>
                </a:lnTo>
                <a:lnTo>
                  <a:pt x="0" y="0"/>
                </a:lnTo>
                <a:close/>
              </a:path>
            </a:pathLst>
          </a:custGeom>
          <a:solidFill>
            <a:srgbClr val="4C7E9A"/>
          </a:solidFill>
          <a:ln/>
        </p:spPr>
      </p:sp>
      <p:sp>
        <p:nvSpPr>
          <p:cNvPr id="9" name="Text 6"/>
          <p:cNvSpPr/>
          <p:nvPr/>
        </p:nvSpPr>
        <p:spPr>
          <a:xfrm>
            <a:off x="508000" y="5568950"/>
            <a:ext cx="9220200" cy="508000"/>
          </a:xfrm>
          <a:prstGeom prst="rect">
            <a:avLst/>
          </a:prstGeom>
          <a:noFill/>
          <a:ln/>
        </p:spPr>
        <p:txBody>
          <a:bodyPr wrap="square" lIns="0" tIns="0" rIns="0" bIns="0" rtlCol="0" anchor="ctr"/>
          <a:lstStyle/>
          <a:p>
            <a:pPr>
              <a:lnSpc>
                <a:spcPct val="90000"/>
              </a:lnSpc>
            </a:pPr>
            <a:r>
              <a:rPr lang="en-US" sz="3600" dirty="0">
                <a:solidFill>
                  <a:srgbClr val="7E9AA8"/>
                </a:solidFill>
                <a:latin typeface="MiSans" pitchFamily="34" charset="0"/>
                <a:ea typeface="MiSans" pitchFamily="34" charset="-122"/>
                <a:cs typeface="MiSans" pitchFamily="34" charset="-120"/>
              </a:rPr>
              <a:t>串行优化的集成艺术</a:t>
            </a:r>
            <a:endParaRPr lang="en-US" sz="1600" dirty="0"/>
          </a:p>
        </p:txBody>
      </p:sp>
      <p:sp>
        <p:nvSpPr>
          <p:cNvPr id="10" name="Shape 7"/>
          <p:cNvSpPr/>
          <p:nvPr/>
        </p:nvSpPr>
        <p:spPr>
          <a:xfrm>
            <a:off x="508000" y="6686550"/>
            <a:ext cx="3149600" cy="1397000"/>
          </a:xfrm>
          <a:custGeom>
            <a:avLst/>
            <a:gdLst/>
            <a:ahLst/>
            <a:cxnLst/>
            <a:rect l="l" t="t" r="r" b="b"/>
            <a:pathLst>
              <a:path w="3149600" h="1397000">
                <a:moveTo>
                  <a:pt x="101604" y="0"/>
                </a:moveTo>
                <a:lnTo>
                  <a:pt x="3047996" y="0"/>
                </a:lnTo>
                <a:cubicBezTo>
                  <a:pt x="3104110" y="0"/>
                  <a:pt x="3149600" y="45490"/>
                  <a:pt x="3149600" y="101604"/>
                </a:cubicBezTo>
                <a:lnTo>
                  <a:pt x="3149600" y="1295396"/>
                </a:lnTo>
                <a:cubicBezTo>
                  <a:pt x="3149600" y="1351510"/>
                  <a:pt x="3104110" y="1397000"/>
                  <a:pt x="30479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1" name="Shape 8"/>
          <p:cNvSpPr/>
          <p:nvPr/>
        </p:nvSpPr>
        <p:spPr>
          <a:xfrm>
            <a:off x="812800" y="6940550"/>
            <a:ext cx="381000" cy="381000"/>
          </a:xfrm>
          <a:custGeom>
            <a:avLst/>
            <a:gdLst/>
            <a:ahLst/>
            <a:cxnLst/>
            <a:rect l="l" t="t" r="r" b="b"/>
            <a:pathLst>
              <a:path w="381000" h="381000">
                <a:moveTo>
                  <a:pt x="357262" y="142875"/>
                </a:moveTo>
                <a:lnTo>
                  <a:pt x="363141" y="142875"/>
                </a:lnTo>
                <a:cubicBezTo>
                  <a:pt x="373038" y="142875"/>
                  <a:pt x="381000" y="134913"/>
                  <a:pt x="381000" y="125016"/>
                </a:cubicBezTo>
                <a:lnTo>
                  <a:pt x="381000" y="17859"/>
                </a:lnTo>
                <a:cubicBezTo>
                  <a:pt x="381000" y="10641"/>
                  <a:pt x="376684" y="4093"/>
                  <a:pt x="369987" y="1339"/>
                </a:cubicBezTo>
                <a:cubicBezTo>
                  <a:pt x="363289" y="-1414"/>
                  <a:pt x="355625" y="149"/>
                  <a:pt x="350490" y="5209"/>
                </a:cubicBezTo>
                <a:lnTo>
                  <a:pt x="312018" y="43755"/>
                </a:lnTo>
                <a:cubicBezTo>
                  <a:pt x="279053" y="16446"/>
                  <a:pt x="236637" y="0"/>
                  <a:pt x="190500" y="0"/>
                </a:cubicBezTo>
                <a:cubicBezTo>
                  <a:pt x="94506" y="0"/>
                  <a:pt x="15106" y="70991"/>
                  <a:pt x="1935" y="163339"/>
                </a:cubicBezTo>
                <a:cubicBezTo>
                  <a:pt x="74" y="176361"/>
                  <a:pt x="9079" y="188416"/>
                  <a:pt x="22101" y="190277"/>
                </a:cubicBezTo>
                <a:cubicBezTo>
                  <a:pt x="35123" y="192137"/>
                  <a:pt x="47179" y="183059"/>
                  <a:pt x="49039" y="170111"/>
                </a:cubicBezTo>
                <a:cubicBezTo>
                  <a:pt x="58936" y="100831"/>
                  <a:pt x="118542" y="47625"/>
                  <a:pt x="190500" y="47625"/>
                </a:cubicBezTo>
                <a:cubicBezTo>
                  <a:pt x="223540" y="47625"/>
                  <a:pt x="253901" y="58787"/>
                  <a:pt x="278085" y="77614"/>
                </a:cubicBezTo>
                <a:lnTo>
                  <a:pt x="243334" y="112365"/>
                </a:lnTo>
                <a:cubicBezTo>
                  <a:pt x="238199" y="117500"/>
                  <a:pt x="236711" y="125164"/>
                  <a:pt x="239464" y="131862"/>
                </a:cubicBezTo>
                <a:cubicBezTo>
                  <a:pt x="242218" y="138559"/>
                  <a:pt x="248766" y="142875"/>
                  <a:pt x="255984" y="142875"/>
                </a:cubicBezTo>
                <a:lnTo>
                  <a:pt x="357262" y="142875"/>
                </a:lnTo>
                <a:close/>
                <a:moveTo>
                  <a:pt x="379140" y="217661"/>
                </a:moveTo>
                <a:cubicBezTo>
                  <a:pt x="381000" y="204639"/>
                  <a:pt x="371921" y="192584"/>
                  <a:pt x="358973" y="190723"/>
                </a:cubicBezTo>
                <a:cubicBezTo>
                  <a:pt x="346025" y="188863"/>
                  <a:pt x="333896" y="197941"/>
                  <a:pt x="332036" y="210889"/>
                </a:cubicBezTo>
                <a:cubicBezTo>
                  <a:pt x="322138" y="280095"/>
                  <a:pt x="262533" y="333301"/>
                  <a:pt x="190574" y="333301"/>
                </a:cubicBezTo>
                <a:cubicBezTo>
                  <a:pt x="157535" y="333301"/>
                  <a:pt x="127174" y="322138"/>
                  <a:pt x="102989" y="303312"/>
                </a:cubicBezTo>
                <a:lnTo>
                  <a:pt x="137666" y="268635"/>
                </a:lnTo>
                <a:cubicBezTo>
                  <a:pt x="142801" y="263500"/>
                  <a:pt x="144289" y="255836"/>
                  <a:pt x="141536" y="249138"/>
                </a:cubicBezTo>
                <a:cubicBezTo>
                  <a:pt x="138782" y="242441"/>
                  <a:pt x="132234" y="238125"/>
                  <a:pt x="125016" y="238125"/>
                </a:cubicBezTo>
                <a:lnTo>
                  <a:pt x="17859" y="238125"/>
                </a:lnTo>
                <a:cubicBezTo>
                  <a:pt x="7962" y="238125"/>
                  <a:pt x="0" y="246087"/>
                  <a:pt x="0" y="255984"/>
                </a:cubicBezTo>
                <a:lnTo>
                  <a:pt x="0" y="363141"/>
                </a:lnTo>
                <a:cubicBezTo>
                  <a:pt x="0" y="370359"/>
                  <a:pt x="4316" y="376907"/>
                  <a:pt x="11013" y="379661"/>
                </a:cubicBezTo>
                <a:cubicBezTo>
                  <a:pt x="17711" y="382414"/>
                  <a:pt x="25375" y="380851"/>
                  <a:pt x="30510" y="375791"/>
                </a:cubicBezTo>
                <a:lnTo>
                  <a:pt x="69056" y="337245"/>
                </a:lnTo>
                <a:cubicBezTo>
                  <a:pt x="101947" y="364554"/>
                  <a:pt x="144363" y="381000"/>
                  <a:pt x="190500" y="381000"/>
                </a:cubicBezTo>
                <a:cubicBezTo>
                  <a:pt x="286494" y="381000"/>
                  <a:pt x="365894" y="310009"/>
                  <a:pt x="379065" y="217661"/>
                </a:cubicBezTo>
                <a:close/>
              </a:path>
            </a:pathLst>
          </a:custGeom>
          <a:solidFill>
            <a:srgbClr val="4C7E9A"/>
          </a:solidFill>
          <a:ln/>
        </p:spPr>
      </p:sp>
      <p:sp>
        <p:nvSpPr>
          <p:cNvPr id="12" name="Text 9"/>
          <p:cNvSpPr/>
          <p:nvPr/>
        </p:nvSpPr>
        <p:spPr>
          <a:xfrm>
            <a:off x="762000" y="7473950"/>
            <a:ext cx="27686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迭代优化</a:t>
            </a:r>
            <a:endParaRPr lang="en-US" sz="1600" dirty="0"/>
          </a:p>
        </p:txBody>
      </p:sp>
      <p:sp>
        <p:nvSpPr>
          <p:cNvPr id="13" name="Shape 10"/>
          <p:cNvSpPr/>
          <p:nvPr/>
        </p:nvSpPr>
        <p:spPr>
          <a:xfrm>
            <a:off x="3860800" y="6686550"/>
            <a:ext cx="3149600" cy="1397000"/>
          </a:xfrm>
          <a:custGeom>
            <a:avLst/>
            <a:gdLst/>
            <a:ahLst/>
            <a:cxnLst/>
            <a:rect l="l" t="t" r="r" b="b"/>
            <a:pathLst>
              <a:path w="3149600" h="1397000">
                <a:moveTo>
                  <a:pt x="101604" y="0"/>
                </a:moveTo>
                <a:lnTo>
                  <a:pt x="3047996" y="0"/>
                </a:lnTo>
                <a:cubicBezTo>
                  <a:pt x="3104110" y="0"/>
                  <a:pt x="3149600" y="45490"/>
                  <a:pt x="3149600" y="101604"/>
                </a:cubicBezTo>
                <a:lnTo>
                  <a:pt x="3149600" y="1295396"/>
                </a:lnTo>
                <a:cubicBezTo>
                  <a:pt x="3149600" y="1351510"/>
                  <a:pt x="3104110" y="1397000"/>
                  <a:pt x="30479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4" name="Shape 11"/>
          <p:cNvSpPr/>
          <p:nvPr/>
        </p:nvSpPr>
        <p:spPr>
          <a:xfrm>
            <a:off x="4165600" y="6940550"/>
            <a:ext cx="381000" cy="381000"/>
          </a:xfrm>
          <a:custGeom>
            <a:avLst/>
            <a:gdLst/>
            <a:ahLst/>
            <a:cxnLst/>
            <a:rect l="l" t="t" r="r" b="b"/>
            <a:pathLst>
              <a:path w="381000" h="381000">
                <a:moveTo>
                  <a:pt x="47625" y="47625"/>
                </a:moveTo>
                <a:cubicBezTo>
                  <a:pt x="47625" y="34454"/>
                  <a:pt x="36984" y="23812"/>
                  <a:pt x="23812" y="23812"/>
                </a:cubicBezTo>
                <a:cubicBezTo>
                  <a:pt x="10641" y="23812"/>
                  <a:pt x="0" y="34454"/>
                  <a:pt x="0" y="47625"/>
                </a:cubicBezTo>
                <a:lnTo>
                  <a:pt x="0" y="297656"/>
                </a:lnTo>
                <a:cubicBezTo>
                  <a:pt x="0" y="330547"/>
                  <a:pt x="26640" y="357188"/>
                  <a:pt x="59531" y="357188"/>
                </a:cubicBezTo>
                <a:lnTo>
                  <a:pt x="357188" y="357188"/>
                </a:lnTo>
                <a:cubicBezTo>
                  <a:pt x="370359" y="357188"/>
                  <a:pt x="381000" y="346546"/>
                  <a:pt x="381000" y="333375"/>
                </a:cubicBezTo>
                <a:cubicBezTo>
                  <a:pt x="381000" y="320204"/>
                  <a:pt x="370359" y="309563"/>
                  <a:pt x="357188" y="309563"/>
                </a:cubicBezTo>
                <a:lnTo>
                  <a:pt x="59531" y="309563"/>
                </a:lnTo>
                <a:cubicBezTo>
                  <a:pt x="52983" y="309563"/>
                  <a:pt x="47625" y="304205"/>
                  <a:pt x="47625" y="297656"/>
                </a:cubicBezTo>
                <a:lnTo>
                  <a:pt x="47625" y="47625"/>
                </a:lnTo>
                <a:close/>
                <a:moveTo>
                  <a:pt x="350193" y="112068"/>
                </a:moveTo>
                <a:cubicBezTo>
                  <a:pt x="359494" y="102766"/>
                  <a:pt x="359494" y="87660"/>
                  <a:pt x="350193" y="78358"/>
                </a:cubicBezTo>
                <a:cubicBezTo>
                  <a:pt x="340891" y="69056"/>
                  <a:pt x="325785" y="69056"/>
                  <a:pt x="316483" y="78358"/>
                </a:cubicBezTo>
                <a:lnTo>
                  <a:pt x="238125" y="156790"/>
                </a:lnTo>
                <a:lnTo>
                  <a:pt x="195411" y="114151"/>
                </a:lnTo>
                <a:cubicBezTo>
                  <a:pt x="186110" y="104849"/>
                  <a:pt x="171004" y="104849"/>
                  <a:pt x="161702" y="114151"/>
                </a:cubicBezTo>
                <a:lnTo>
                  <a:pt x="90264" y="185589"/>
                </a:lnTo>
                <a:cubicBezTo>
                  <a:pt x="80963" y="194890"/>
                  <a:pt x="80963" y="209996"/>
                  <a:pt x="90264" y="219298"/>
                </a:cubicBezTo>
                <a:cubicBezTo>
                  <a:pt x="99566" y="228600"/>
                  <a:pt x="114672" y="228600"/>
                  <a:pt x="123974" y="219298"/>
                </a:cubicBezTo>
                <a:lnTo>
                  <a:pt x="178594" y="164678"/>
                </a:lnTo>
                <a:lnTo>
                  <a:pt x="221307" y="207392"/>
                </a:lnTo>
                <a:cubicBezTo>
                  <a:pt x="230609" y="216694"/>
                  <a:pt x="245715" y="216694"/>
                  <a:pt x="255017" y="207392"/>
                </a:cubicBezTo>
                <a:lnTo>
                  <a:pt x="350267" y="112142"/>
                </a:lnTo>
                <a:close/>
              </a:path>
            </a:pathLst>
          </a:custGeom>
          <a:solidFill>
            <a:srgbClr val="4C7E9A"/>
          </a:solidFill>
          <a:ln/>
        </p:spPr>
      </p:sp>
      <p:sp>
        <p:nvSpPr>
          <p:cNvPr id="15" name="Text 12"/>
          <p:cNvSpPr/>
          <p:nvPr/>
        </p:nvSpPr>
        <p:spPr>
          <a:xfrm>
            <a:off x="4114800" y="7473950"/>
            <a:ext cx="27686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残差学习</a:t>
            </a:r>
            <a:endParaRPr lang="en-US" sz="16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BOOSTING</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Boosting的核心思想</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24000"/>
            <a:ext cx="7577667" cy="2063750"/>
          </a:xfrm>
          <a:custGeom>
            <a:avLst/>
            <a:gdLst/>
            <a:ahLst/>
            <a:cxnLst/>
            <a:rect l="l" t="t" r="r" b="b"/>
            <a:pathLst>
              <a:path w="7577667" h="2063750">
                <a:moveTo>
                  <a:pt x="42333" y="0"/>
                </a:moveTo>
                <a:lnTo>
                  <a:pt x="7492991" y="0"/>
                </a:lnTo>
                <a:cubicBezTo>
                  <a:pt x="7539756" y="0"/>
                  <a:pt x="7577667" y="37911"/>
                  <a:pt x="7577667" y="84676"/>
                </a:cubicBezTo>
                <a:lnTo>
                  <a:pt x="7577667" y="1979074"/>
                </a:lnTo>
                <a:cubicBezTo>
                  <a:pt x="7577667" y="2025839"/>
                  <a:pt x="7539756" y="2063750"/>
                  <a:pt x="7492991" y="2063750"/>
                </a:cubicBezTo>
                <a:lnTo>
                  <a:pt x="42333" y="2063750"/>
                </a:lnTo>
                <a:cubicBezTo>
                  <a:pt x="18953" y="2063750"/>
                  <a:pt x="0" y="2044797"/>
                  <a:pt x="0" y="2021417"/>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24000"/>
            <a:ext cx="42333" cy="2063750"/>
          </a:xfrm>
          <a:custGeom>
            <a:avLst/>
            <a:gdLst/>
            <a:ahLst/>
            <a:cxnLst/>
            <a:rect l="l" t="t" r="r" b="b"/>
            <a:pathLst>
              <a:path w="42333" h="2063750">
                <a:moveTo>
                  <a:pt x="42333" y="0"/>
                </a:moveTo>
                <a:lnTo>
                  <a:pt x="42333" y="0"/>
                </a:lnTo>
                <a:lnTo>
                  <a:pt x="42333" y="2063750"/>
                </a:lnTo>
                <a:lnTo>
                  <a:pt x="42333" y="2063750"/>
                </a:lnTo>
                <a:cubicBezTo>
                  <a:pt x="18953" y="2063750"/>
                  <a:pt x="0" y="2044797"/>
                  <a:pt x="0" y="2021417"/>
                </a:cubicBezTo>
                <a:lnTo>
                  <a:pt x="0" y="42333"/>
                </a:lnTo>
                <a:cubicBezTo>
                  <a:pt x="0" y="18953"/>
                  <a:pt x="18953" y="0"/>
                  <a:pt x="42333" y="0"/>
                </a:cubicBezTo>
                <a:close/>
              </a:path>
            </a:pathLst>
          </a:custGeom>
          <a:solidFill>
            <a:srgbClr val="4C7E9A"/>
          </a:solidFill>
          <a:ln/>
        </p:spPr>
      </p:sp>
      <p:sp>
        <p:nvSpPr>
          <p:cNvPr id="7" name="Text 5"/>
          <p:cNvSpPr/>
          <p:nvPr/>
        </p:nvSpPr>
        <p:spPr>
          <a:xfrm>
            <a:off x="635000" y="1693333"/>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串行优化机制</a:t>
            </a:r>
            <a:endParaRPr lang="en-US" sz="1600" dirty="0"/>
          </a:p>
        </p:txBody>
      </p:sp>
      <p:sp>
        <p:nvSpPr>
          <p:cNvPr id="8" name="Text 6"/>
          <p:cNvSpPr/>
          <p:nvPr/>
        </p:nvSpPr>
        <p:spPr>
          <a:xfrm>
            <a:off x="635000" y="2159000"/>
            <a:ext cx="7313083" cy="624417"/>
          </a:xfrm>
          <a:prstGeom prst="rect">
            <a:avLst/>
          </a:prstGeom>
          <a:noFill/>
          <a:ln/>
        </p:spPr>
        <p:txBody>
          <a:bodyPr wrap="square" lIns="0" tIns="0" rIns="0" bIns="0" rtlCol="0" anchor="ctr"/>
          <a:lstStyle/>
          <a:p>
            <a:pPr>
              <a:lnSpc>
                <a:spcPct val="140000"/>
              </a:lnSpc>
            </a:pPr>
            <a:r>
              <a:rPr lang="en-US" sz="1500" dirty="0">
                <a:solidFill>
                  <a:srgbClr val="D1D5DB"/>
                </a:solidFill>
                <a:latin typeface="MiSans" pitchFamily="34" charset="0"/>
                <a:ea typeface="MiSans" pitchFamily="34" charset="-122"/>
                <a:cs typeface="MiSans" pitchFamily="34" charset="-120"/>
              </a:rPr>
              <a:t>与Bagging的并行"纠错"逻辑不同，</a:t>
            </a:r>
            <a:pPr>
              <a:lnSpc>
                <a:spcPct val="140000"/>
              </a:lnSpc>
            </a:pPr>
            <a:r>
              <a:rPr lang="en-US" sz="1500" b="1" dirty="0">
                <a:solidFill>
                  <a:srgbClr val="4C7E9A"/>
                </a:solidFill>
                <a:latin typeface="MiSans" pitchFamily="34" charset="0"/>
                <a:ea typeface="MiSans" pitchFamily="34" charset="-122"/>
                <a:cs typeface="MiSans" pitchFamily="34" charset="-120"/>
              </a:rPr>
              <a:t>Boosting</a:t>
            </a:r>
            <a:pPr>
              <a:lnSpc>
                <a:spcPct val="140000"/>
              </a:lnSpc>
            </a:pPr>
            <a:r>
              <a:rPr lang="en-US" sz="1500" dirty="0">
                <a:solidFill>
                  <a:srgbClr val="D1D5DB"/>
                </a:solidFill>
                <a:latin typeface="MiSans" pitchFamily="34" charset="0"/>
                <a:ea typeface="MiSans" pitchFamily="34" charset="-122"/>
                <a:cs typeface="MiSans" pitchFamily="34" charset="-120"/>
              </a:rPr>
              <a:t> 采用</a:t>
            </a:r>
            <a:pPr>
              <a:lnSpc>
                <a:spcPct val="140000"/>
              </a:lnSpc>
            </a:pPr>
            <a:r>
              <a:rPr lang="en-US" sz="1500" b="1" dirty="0">
                <a:solidFill>
                  <a:srgbClr val="4C7E9A"/>
                </a:solidFill>
                <a:latin typeface="MiSans" pitchFamily="34" charset="0"/>
                <a:ea typeface="MiSans" pitchFamily="34" charset="-122"/>
                <a:cs typeface="MiSans" pitchFamily="34" charset="-120"/>
              </a:rPr>
              <a:t>"串行优化"</a:t>
            </a:r>
            <a:pPr>
              <a:lnSpc>
                <a:spcPct val="140000"/>
              </a:lnSpc>
            </a:pPr>
            <a:r>
              <a:rPr lang="en-US" sz="1500" dirty="0">
                <a:solidFill>
                  <a:srgbClr val="D1D5DB"/>
                </a:solidFill>
                <a:latin typeface="MiSans" pitchFamily="34" charset="0"/>
                <a:ea typeface="MiSans" pitchFamily="34" charset="-122"/>
                <a:cs typeface="MiSans" pitchFamily="34" charset="-120"/>
              </a:rPr>
              <a:t>的思路。通过迭代训练一系列弱学习器，</a:t>
            </a:r>
            <a:pPr>
              <a:lnSpc>
                <a:spcPct val="140000"/>
              </a:lnSpc>
            </a:pPr>
            <a:r>
              <a:rPr lang="en-US" sz="1500" b="1" dirty="0">
                <a:solidFill>
                  <a:srgbClr val="4C7E9A"/>
                </a:solidFill>
                <a:latin typeface="MiSans" pitchFamily="34" charset="0"/>
                <a:ea typeface="MiSans" pitchFamily="34" charset="-122"/>
                <a:cs typeface="MiSans" pitchFamily="34" charset="-120"/>
              </a:rPr>
              <a:t>每个后续模型都专注于修正前一个模型的错误</a:t>
            </a:r>
            <a:pPr>
              <a:lnSpc>
                <a:spcPct val="140000"/>
              </a:lnSpc>
            </a:pPr>
            <a:r>
              <a:rPr lang="en-US" sz="1500" dirty="0">
                <a:solidFill>
                  <a:srgbClr val="D1D5DB"/>
                </a:solidFill>
                <a:latin typeface="MiSans" pitchFamily="34" charset="0"/>
                <a:ea typeface="MiSans" pitchFamily="34" charset="-122"/>
                <a:cs typeface="MiSans" pitchFamily="34" charset="-120"/>
              </a:rPr>
              <a:t>。</a:t>
            </a:r>
            <a:endParaRPr lang="en-US" sz="1600" dirty="0"/>
          </a:p>
        </p:txBody>
      </p:sp>
      <p:sp>
        <p:nvSpPr>
          <p:cNvPr id="9" name="Shape 7"/>
          <p:cNvSpPr/>
          <p:nvPr/>
        </p:nvSpPr>
        <p:spPr>
          <a:xfrm>
            <a:off x="635000" y="2905125"/>
            <a:ext cx="7217833" cy="508000"/>
          </a:xfrm>
          <a:custGeom>
            <a:avLst/>
            <a:gdLst/>
            <a:ahLst/>
            <a:cxnLst/>
            <a:rect l="l" t="t" r="r" b="b"/>
            <a:pathLst>
              <a:path w="7217833" h="508000">
                <a:moveTo>
                  <a:pt x="84668" y="0"/>
                </a:moveTo>
                <a:lnTo>
                  <a:pt x="7133165" y="0"/>
                </a:lnTo>
                <a:cubicBezTo>
                  <a:pt x="7179926" y="0"/>
                  <a:pt x="7217833" y="37907"/>
                  <a:pt x="7217833" y="84668"/>
                </a:cubicBezTo>
                <a:lnTo>
                  <a:pt x="7217833" y="423332"/>
                </a:lnTo>
                <a:cubicBezTo>
                  <a:pt x="7217833" y="470093"/>
                  <a:pt x="7179926" y="508000"/>
                  <a:pt x="7133165" y="508000"/>
                </a:cubicBezTo>
                <a:lnTo>
                  <a:pt x="84668" y="508000"/>
                </a:lnTo>
                <a:cubicBezTo>
                  <a:pt x="37907" y="508000"/>
                  <a:pt x="0" y="470093"/>
                  <a:pt x="0" y="423332"/>
                </a:cubicBezTo>
                <a:lnTo>
                  <a:pt x="0" y="84668"/>
                </a:lnTo>
                <a:cubicBezTo>
                  <a:pt x="0" y="37939"/>
                  <a:pt x="37939" y="0"/>
                  <a:pt x="84668" y="0"/>
                </a:cubicBezTo>
                <a:close/>
              </a:path>
            </a:pathLst>
          </a:custGeom>
          <a:solidFill>
            <a:srgbClr val="181A1F">
              <a:alpha val="50196"/>
            </a:srgbClr>
          </a:solidFill>
          <a:ln/>
        </p:spPr>
      </p:sp>
      <p:sp>
        <p:nvSpPr>
          <p:cNvPr id="10" name="Shape 8"/>
          <p:cNvSpPr/>
          <p:nvPr/>
        </p:nvSpPr>
        <p:spPr>
          <a:xfrm>
            <a:off x="793750" y="3079750"/>
            <a:ext cx="148167" cy="169333"/>
          </a:xfrm>
          <a:custGeom>
            <a:avLst/>
            <a:gdLst/>
            <a:ahLst/>
            <a:cxnLst/>
            <a:rect l="l" t="t" r="r" b="b"/>
            <a:pathLst>
              <a:path w="148167" h="169333">
                <a:moveTo>
                  <a:pt x="0" y="71438"/>
                </a:moveTo>
                <a:cubicBezTo>
                  <a:pt x="0" y="49510"/>
                  <a:pt x="17760" y="31750"/>
                  <a:pt x="39688" y="31750"/>
                </a:cubicBezTo>
                <a:lnTo>
                  <a:pt x="42333" y="31750"/>
                </a:lnTo>
                <a:cubicBezTo>
                  <a:pt x="48187" y="31750"/>
                  <a:pt x="52917" y="36479"/>
                  <a:pt x="52917" y="42333"/>
                </a:cubicBezTo>
                <a:cubicBezTo>
                  <a:pt x="52917" y="48187"/>
                  <a:pt x="48187" y="52917"/>
                  <a:pt x="42333" y="52917"/>
                </a:cubicBezTo>
                <a:lnTo>
                  <a:pt x="39688" y="52917"/>
                </a:lnTo>
                <a:cubicBezTo>
                  <a:pt x="29468" y="52917"/>
                  <a:pt x="21167" y="61218"/>
                  <a:pt x="21167" y="71438"/>
                </a:cubicBezTo>
                <a:lnTo>
                  <a:pt x="21167" y="74083"/>
                </a:lnTo>
                <a:lnTo>
                  <a:pt x="42333" y="74083"/>
                </a:lnTo>
                <a:cubicBezTo>
                  <a:pt x="54008" y="74083"/>
                  <a:pt x="63500" y="83575"/>
                  <a:pt x="63500" y="95250"/>
                </a:cubicBezTo>
                <a:lnTo>
                  <a:pt x="63500" y="116417"/>
                </a:lnTo>
                <a:cubicBezTo>
                  <a:pt x="63500" y="128091"/>
                  <a:pt x="54008" y="137583"/>
                  <a:pt x="42333" y="137583"/>
                </a:cubicBezTo>
                <a:lnTo>
                  <a:pt x="21167" y="137583"/>
                </a:lnTo>
                <a:cubicBezTo>
                  <a:pt x="9492" y="137583"/>
                  <a:pt x="0" y="128091"/>
                  <a:pt x="0" y="116417"/>
                </a:cubicBezTo>
                <a:lnTo>
                  <a:pt x="0" y="71438"/>
                </a:lnTo>
                <a:close/>
                <a:moveTo>
                  <a:pt x="84667" y="71438"/>
                </a:moveTo>
                <a:cubicBezTo>
                  <a:pt x="84667" y="49510"/>
                  <a:pt x="102427" y="31750"/>
                  <a:pt x="124354" y="31750"/>
                </a:cubicBezTo>
                <a:lnTo>
                  <a:pt x="127000" y="31750"/>
                </a:lnTo>
                <a:cubicBezTo>
                  <a:pt x="132854" y="31750"/>
                  <a:pt x="137583" y="36479"/>
                  <a:pt x="137583" y="42333"/>
                </a:cubicBezTo>
                <a:cubicBezTo>
                  <a:pt x="137583" y="48187"/>
                  <a:pt x="132854" y="52917"/>
                  <a:pt x="127000" y="52917"/>
                </a:cubicBezTo>
                <a:lnTo>
                  <a:pt x="124354" y="52917"/>
                </a:lnTo>
                <a:cubicBezTo>
                  <a:pt x="114135" y="52917"/>
                  <a:pt x="105833" y="61218"/>
                  <a:pt x="105833" y="71438"/>
                </a:cubicBezTo>
                <a:lnTo>
                  <a:pt x="105833" y="74083"/>
                </a:lnTo>
                <a:lnTo>
                  <a:pt x="127000" y="74083"/>
                </a:lnTo>
                <a:cubicBezTo>
                  <a:pt x="138675" y="74083"/>
                  <a:pt x="148167" y="83575"/>
                  <a:pt x="148167" y="95250"/>
                </a:cubicBezTo>
                <a:lnTo>
                  <a:pt x="148167" y="116417"/>
                </a:lnTo>
                <a:cubicBezTo>
                  <a:pt x="148167" y="128091"/>
                  <a:pt x="138675" y="137583"/>
                  <a:pt x="127000" y="137583"/>
                </a:cubicBezTo>
                <a:lnTo>
                  <a:pt x="105833" y="137583"/>
                </a:lnTo>
                <a:cubicBezTo>
                  <a:pt x="94159" y="137583"/>
                  <a:pt x="84667" y="128091"/>
                  <a:pt x="84667" y="116417"/>
                </a:cubicBezTo>
                <a:lnTo>
                  <a:pt x="84667" y="71438"/>
                </a:lnTo>
                <a:close/>
              </a:path>
            </a:pathLst>
          </a:custGeom>
          <a:solidFill>
            <a:srgbClr val="4C7E9A"/>
          </a:solidFill>
          <a:ln/>
        </p:spPr>
      </p:sp>
      <p:sp>
        <p:nvSpPr>
          <p:cNvPr id="11" name="Text 9"/>
          <p:cNvSpPr/>
          <p:nvPr/>
        </p:nvSpPr>
        <p:spPr>
          <a:xfrm>
            <a:off x="1044222" y="3032125"/>
            <a:ext cx="6766278"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体现</a:t>
            </a:r>
            <a:pPr>
              <a:lnSpc>
                <a:spcPct val="130000"/>
              </a:lnSpc>
            </a:pPr>
            <a:r>
              <a:rPr lang="en-US" sz="1333" b="1" dirty="0">
                <a:solidFill>
                  <a:srgbClr val="D1D5DB"/>
                </a:solidFill>
                <a:latin typeface="MiSans" pitchFamily="34" charset="0"/>
                <a:ea typeface="MiSans" pitchFamily="34" charset="-122"/>
                <a:cs typeface="MiSans" pitchFamily="34" charset="-120"/>
              </a:rPr>
              <a:t>"知错能改，善莫大焉"</a:t>
            </a:r>
            <a:pPr>
              <a:lnSpc>
                <a:spcPct val="130000"/>
              </a:lnSpc>
            </a:pPr>
            <a:r>
              <a:rPr lang="en-US" sz="1333" dirty="0">
                <a:solidFill>
                  <a:srgbClr val="7E9AA8"/>
                </a:solidFill>
                <a:latin typeface="MiSans" pitchFamily="34" charset="0"/>
                <a:ea typeface="MiSans" pitchFamily="34" charset="-122"/>
                <a:cs typeface="MiSans" pitchFamily="34" charset="-120"/>
              </a:rPr>
              <a:t>的学习理念</a:t>
            </a:r>
            <a:endParaRPr lang="en-US" sz="1600" dirty="0"/>
          </a:p>
        </p:txBody>
      </p:sp>
      <p:sp>
        <p:nvSpPr>
          <p:cNvPr id="12" name="Shape 10"/>
          <p:cNvSpPr/>
          <p:nvPr/>
        </p:nvSpPr>
        <p:spPr>
          <a:xfrm>
            <a:off x="444500" y="3751792"/>
            <a:ext cx="7577667" cy="2624667"/>
          </a:xfrm>
          <a:custGeom>
            <a:avLst/>
            <a:gdLst/>
            <a:ahLst/>
            <a:cxnLst/>
            <a:rect l="l" t="t" r="r" b="b"/>
            <a:pathLst>
              <a:path w="7577667" h="2624667">
                <a:moveTo>
                  <a:pt x="42333" y="0"/>
                </a:moveTo>
                <a:lnTo>
                  <a:pt x="7492995" y="0"/>
                </a:lnTo>
                <a:cubicBezTo>
                  <a:pt x="7539758" y="0"/>
                  <a:pt x="7577667" y="37909"/>
                  <a:pt x="7577667" y="84672"/>
                </a:cubicBezTo>
                <a:lnTo>
                  <a:pt x="7577667" y="2539995"/>
                </a:lnTo>
                <a:cubicBezTo>
                  <a:pt x="7577667" y="2586758"/>
                  <a:pt x="7539758" y="2624667"/>
                  <a:pt x="7492995" y="2624667"/>
                </a:cubicBezTo>
                <a:lnTo>
                  <a:pt x="42333" y="2624667"/>
                </a:lnTo>
                <a:cubicBezTo>
                  <a:pt x="18953" y="2624667"/>
                  <a:pt x="0" y="2605713"/>
                  <a:pt x="0" y="2582333"/>
                </a:cubicBezTo>
                <a:lnTo>
                  <a:pt x="0" y="42333"/>
                </a:lnTo>
                <a:cubicBezTo>
                  <a:pt x="0" y="18953"/>
                  <a:pt x="18953" y="0"/>
                  <a:pt x="42333" y="0"/>
                </a:cubicBezTo>
                <a:close/>
              </a:path>
            </a:pathLst>
          </a:custGeom>
          <a:solidFill>
            <a:srgbClr val="3A5E78">
              <a:alpha val="20000"/>
            </a:srgbClr>
          </a:solidFill>
          <a:ln/>
        </p:spPr>
      </p:sp>
      <p:sp>
        <p:nvSpPr>
          <p:cNvPr id="13" name="Shape 11"/>
          <p:cNvSpPr/>
          <p:nvPr/>
        </p:nvSpPr>
        <p:spPr>
          <a:xfrm>
            <a:off x="444500" y="3751792"/>
            <a:ext cx="42333" cy="2624667"/>
          </a:xfrm>
          <a:custGeom>
            <a:avLst/>
            <a:gdLst/>
            <a:ahLst/>
            <a:cxnLst/>
            <a:rect l="l" t="t" r="r" b="b"/>
            <a:pathLst>
              <a:path w="42333" h="2624667">
                <a:moveTo>
                  <a:pt x="42333" y="0"/>
                </a:moveTo>
                <a:lnTo>
                  <a:pt x="42333" y="0"/>
                </a:lnTo>
                <a:lnTo>
                  <a:pt x="42333" y="2624667"/>
                </a:lnTo>
                <a:lnTo>
                  <a:pt x="42333" y="2624667"/>
                </a:lnTo>
                <a:cubicBezTo>
                  <a:pt x="18953" y="2624667"/>
                  <a:pt x="0" y="2605713"/>
                  <a:pt x="0" y="2582333"/>
                </a:cubicBezTo>
                <a:lnTo>
                  <a:pt x="0" y="42333"/>
                </a:lnTo>
                <a:cubicBezTo>
                  <a:pt x="0" y="18953"/>
                  <a:pt x="18953" y="0"/>
                  <a:pt x="42333" y="0"/>
                </a:cubicBezTo>
                <a:close/>
              </a:path>
            </a:pathLst>
          </a:custGeom>
          <a:solidFill>
            <a:srgbClr val="7E9AA8"/>
          </a:solidFill>
          <a:ln/>
        </p:spPr>
      </p:sp>
      <p:sp>
        <p:nvSpPr>
          <p:cNvPr id="14" name="Text 12"/>
          <p:cNvSpPr/>
          <p:nvPr/>
        </p:nvSpPr>
        <p:spPr>
          <a:xfrm>
            <a:off x="635000" y="3921125"/>
            <a:ext cx="7344833"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核心优势</a:t>
            </a:r>
            <a:endParaRPr lang="en-US" sz="1600" dirty="0"/>
          </a:p>
        </p:txBody>
      </p:sp>
      <p:sp>
        <p:nvSpPr>
          <p:cNvPr id="15" name="Shape 13"/>
          <p:cNvSpPr/>
          <p:nvPr/>
        </p:nvSpPr>
        <p:spPr>
          <a:xfrm>
            <a:off x="687917" y="4429125"/>
            <a:ext cx="158750" cy="211667"/>
          </a:xfrm>
          <a:custGeom>
            <a:avLst/>
            <a:gdLst/>
            <a:ahLst/>
            <a:cxnLst/>
            <a:rect l="l" t="t" r="r" b="b"/>
            <a:pathLst>
              <a:path w="158750" h="211667">
                <a:moveTo>
                  <a:pt x="88718" y="7193"/>
                </a:moveTo>
                <a:cubicBezTo>
                  <a:pt x="83550" y="2026"/>
                  <a:pt x="75158" y="2026"/>
                  <a:pt x="69991" y="7193"/>
                </a:cubicBezTo>
                <a:lnTo>
                  <a:pt x="3845" y="73339"/>
                </a:lnTo>
                <a:cubicBezTo>
                  <a:pt x="-1323" y="78507"/>
                  <a:pt x="-1323" y="86899"/>
                  <a:pt x="3845" y="92067"/>
                </a:cubicBezTo>
                <a:cubicBezTo>
                  <a:pt x="9012" y="97234"/>
                  <a:pt x="17405" y="97234"/>
                  <a:pt x="22572" y="92067"/>
                </a:cubicBezTo>
                <a:lnTo>
                  <a:pt x="66146" y="48493"/>
                </a:lnTo>
                <a:lnTo>
                  <a:pt x="66146" y="201745"/>
                </a:lnTo>
                <a:cubicBezTo>
                  <a:pt x="66146" y="209062"/>
                  <a:pt x="72058" y="214974"/>
                  <a:pt x="79375" y="214974"/>
                </a:cubicBezTo>
                <a:cubicBezTo>
                  <a:pt x="86692" y="214974"/>
                  <a:pt x="92604" y="209062"/>
                  <a:pt x="92604" y="201745"/>
                </a:cubicBezTo>
                <a:lnTo>
                  <a:pt x="92604" y="48493"/>
                </a:lnTo>
                <a:lnTo>
                  <a:pt x="136178" y="92067"/>
                </a:lnTo>
                <a:cubicBezTo>
                  <a:pt x="141345" y="97234"/>
                  <a:pt x="149738" y="97234"/>
                  <a:pt x="154905" y="92067"/>
                </a:cubicBezTo>
                <a:cubicBezTo>
                  <a:pt x="160073" y="86899"/>
                  <a:pt x="160073" y="78507"/>
                  <a:pt x="154905" y="73339"/>
                </a:cubicBezTo>
                <a:lnTo>
                  <a:pt x="88759" y="7193"/>
                </a:lnTo>
                <a:close/>
              </a:path>
            </a:pathLst>
          </a:custGeom>
          <a:solidFill>
            <a:srgbClr val="4C7E9A"/>
          </a:solidFill>
          <a:ln/>
        </p:spPr>
      </p:sp>
      <p:sp>
        <p:nvSpPr>
          <p:cNvPr id="16" name="Text 14"/>
          <p:cNvSpPr/>
          <p:nvPr/>
        </p:nvSpPr>
        <p:spPr>
          <a:xfrm>
            <a:off x="1026583" y="4386792"/>
            <a:ext cx="3989917"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降低偏差</a:t>
            </a:r>
            <a:endParaRPr lang="en-US" sz="1600" dirty="0"/>
          </a:p>
        </p:txBody>
      </p:sp>
      <p:sp>
        <p:nvSpPr>
          <p:cNvPr id="17" name="Text 15"/>
          <p:cNvSpPr/>
          <p:nvPr/>
        </p:nvSpPr>
        <p:spPr>
          <a:xfrm>
            <a:off x="1026583" y="4683125"/>
            <a:ext cx="3979333"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显著降低模型的偏差，特别适用于处理复杂数据分布</a:t>
            </a:r>
            <a:endParaRPr lang="en-US" sz="1600" dirty="0"/>
          </a:p>
        </p:txBody>
      </p:sp>
      <p:sp>
        <p:nvSpPr>
          <p:cNvPr id="18" name="Shape 16"/>
          <p:cNvSpPr/>
          <p:nvPr/>
        </p:nvSpPr>
        <p:spPr>
          <a:xfrm>
            <a:off x="661458" y="5064125"/>
            <a:ext cx="211667" cy="211667"/>
          </a:xfrm>
          <a:custGeom>
            <a:avLst/>
            <a:gdLst/>
            <a:ahLst/>
            <a:cxnLst/>
            <a:rect l="l" t="t" r="r" b="b"/>
            <a:pathLst>
              <a:path w="211667" h="211667">
                <a:moveTo>
                  <a:pt x="96118" y="2150"/>
                </a:moveTo>
                <a:cubicBezTo>
                  <a:pt x="102278" y="-703"/>
                  <a:pt x="109389" y="-703"/>
                  <a:pt x="115549" y="2150"/>
                </a:cubicBezTo>
                <a:lnTo>
                  <a:pt x="205920" y="43904"/>
                </a:lnTo>
                <a:cubicBezTo>
                  <a:pt x="209434" y="45517"/>
                  <a:pt x="211667" y="49031"/>
                  <a:pt x="211667" y="52917"/>
                </a:cubicBezTo>
                <a:cubicBezTo>
                  <a:pt x="211667" y="56803"/>
                  <a:pt x="209434" y="60317"/>
                  <a:pt x="205920" y="61929"/>
                </a:cubicBezTo>
                <a:lnTo>
                  <a:pt x="115549" y="103684"/>
                </a:lnTo>
                <a:cubicBezTo>
                  <a:pt x="109389" y="106536"/>
                  <a:pt x="102278" y="106536"/>
                  <a:pt x="96118" y="103684"/>
                </a:cubicBezTo>
                <a:lnTo>
                  <a:pt x="5746" y="61929"/>
                </a:lnTo>
                <a:cubicBezTo>
                  <a:pt x="2232" y="60275"/>
                  <a:pt x="0" y="56761"/>
                  <a:pt x="0" y="52917"/>
                </a:cubicBezTo>
                <a:cubicBezTo>
                  <a:pt x="0" y="49072"/>
                  <a:pt x="2232" y="45517"/>
                  <a:pt x="5746" y="43904"/>
                </a:cubicBezTo>
                <a:lnTo>
                  <a:pt x="96118" y="2150"/>
                </a:lnTo>
                <a:close/>
                <a:moveTo>
                  <a:pt x="19885" y="90289"/>
                </a:moveTo>
                <a:lnTo>
                  <a:pt x="87809" y="121667"/>
                </a:lnTo>
                <a:cubicBezTo>
                  <a:pt x="99260" y="126959"/>
                  <a:pt x="112448" y="126959"/>
                  <a:pt x="123899" y="121667"/>
                </a:cubicBezTo>
                <a:lnTo>
                  <a:pt x="191823" y="90289"/>
                </a:lnTo>
                <a:lnTo>
                  <a:pt x="205920" y="96821"/>
                </a:lnTo>
                <a:cubicBezTo>
                  <a:pt x="209434" y="98433"/>
                  <a:pt x="211667" y="101947"/>
                  <a:pt x="211667" y="105833"/>
                </a:cubicBezTo>
                <a:cubicBezTo>
                  <a:pt x="211667" y="109719"/>
                  <a:pt x="209434" y="113233"/>
                  <a:pt x="205920" y="114846"/>
                </a:cubicBezTo>
                <a:lnTo>
                  <a:pt x="115549" y="156600"/>
                </a:lnTo>
                <a:cubicBezTo>
                  <a:pt x="109389" y="159453"/>
                  <a:pt x="102278" y="159453"/>
                  <a:pt x="96118" y="156600"/>
                </a:cubicBezTo>
                <a:lnTo>
                  <a:pt x="5746" y="114846"/>
                </a:lnTo>
                <a:cubicBezTo>
                  <a:pt x="2232" y="113192"/>
                  <a:pt x="0" y="109678"/>
                  <a:pt x="0" y="105833"/>
                </a:cubicBezTo>
                <a:cubicBezTo>
                  <a:pt x="0" y="101989"/>
                  <a:pt x="2232" y="98433"/>
                  <a:pt x="5746" y="96821"/>
                </a:cubicBezTo>
                <a:lnTo>
                  <a:pt x="19844" y="90289"/>
                </a:lnTo>
                <a:close/>
                <a:moveTo>
                  <a:pt x="5746" y="149738"/>
                </a:moveTo>
                <a:lnTo>
                  <a:pt x="19844" y="143206"/>
                </a:lnTo>
                <a:lnTo>
                  <a:pt x="87767" y="174584"/>
                </a:lnTo>
                <a:cubicBezTo>
                  <a:pt x="99219" y="179875"/>
                  <a:pt x="112407" y="179875"/>
                  <a:pt x="123858" y="174584"/>
                </a:cubicBezTo>
                <a:lnTo>
                  <a:pt x="191782" y="143206"/>
                </a:lnTo>
                <a:lnTo>
                  <a:pt x="205879" y="149738"/>
                </a:lnTo>
                <a:cubicBezTo>
                  <a:pt x="209393" y="151350"/>
                  <a:pt x="211625" y="154864"/>
                  <a:pt x="211625" y="158750"/>
                </a:cubicBezTo>
                <a:cubicBezTo>
                  <a:pt x="211625" y="162636"/>
                  <a:pt x="209393" y="166150"/>
                  <a:pt x="205879" y="167762"/>
                </a:cubicBezTo>
                <a:lnTo>
                  <a:pt x="115507" y="209517"/>
                </a:lnTo>
                <a:cubicBezTo>
                  <a:pt x="109347" y="212369"/>
                  <a:pt x="102237" y="212369"/>
                  <a:pt x="96077" y="209517"/>
                </a:cubicBezTo>
                <a:lnTo>
                  <a:pt x="5746" y="167762"/>
                </a:lnTo>
                <a:cubicBezTo>
                  <a:pt x="2232" y="166109"/>
                  <a:pt x="0" y="162595"/>
                  <a:pt x="0" y="158750"/>
                </a:cubicBezTo>
                <a:cubicBezTo>
                  <a:pt x="0" y="154905"/>
                  <a:pt x="2232" y="151350"/>
                  <a:pt x="5746" y="149738"/>
                </a:cubicBezTo>
                <a:close/>
              </a:path>
            </a:pathLst>
          </a:custGeom>
          <a:solidFill>
            <a:srgbClr val="4C7E9A"/>
          </a:solidFill>
          <a:ln/>
        </p:spPr>
      </p:sp>
      <p:sp>
        <p:nvSpPr>
          <p:cNvPr id="19" name="Text 17"/>
          <p:cNvSpPr/>
          <p:nvPr/>
        </p:nvSpPr>
        <p:spPr>
          <a:xfrm>
            <a:off x="1026583" y="5021792"/>
            <a:ext cx="2465917"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弱学习器提升</a:t>
            </a:r>
            <a:endParaRPr lang="en-US" sz="1600" dirty="0"/>
          </a:p>
        </p:txBody>
      </p:sp>
      <p:sp>
        <p:nvSpPr>
          <p:cNvPr id="20" name="Text 18"/>
          <p:cNvSpPr/>
          <p:nvPr/>
        </p:nvSpPr>
        <p:spPr>
          <a:xfrm>
            <a:off x="1026583" y="5318125"/>
            <a:ext cx="2455333"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能够将弱学习器提升为强学习器</a:t>
            </a:r>
            <a:endParaRPr lang="en-US" sz="1600" dirty="0"/>
          </a:p>
        </p:txBody>
      </p:sp>
      <p:sp>
        <p:nvSpPr>
          <p:cNvPr id="21" name="Shape 19"/>
          <p:cNvSpPr/>
          <p:nvPr/>
        </p:nvSpPr>
        <p:spPr>
          <a:xfrm>
            <a:off x="661458" y="5699125"/>
            <a:ext cx="211667" cy="211667"/>
          </a:xfrm>
          <a:custGeom>
            <a:avLst/>
            <a:gdLst/>
            <a:ahLst/>
            <a:cxnLst/>
            <a:rect l="l" t="t" r="r" b="b"/>
            <a:pathLst>
              <a:path w="211667" h="211667">
                <a:moveTo>
                  <a:pt x="26458" y="26458"/>
                </a:moveTo>
                <a:cubicBezTo>
                  <a:pt x="26458" y="19141"/>
                  <a:pt x="20547" y="13229"/>
                  <a:pt x="13229" y="13229"/>
                </a:cubicBezTo>
                <a:cubicBezTo>
                  <a:pt x="5912" y="13229"/>
                  <a:pt x="0" y="19141"/>
                  <a:pt x="0" y="26458"/>
                </a:cubicBezTo>
                <a:lnTo>
                  <a:pt x="0" y="165365"/>
                </a:lnTo>
                <a:cubicBezTo>
                  <a:pt x="0" y="183637"/>
                  <a:pt x="14800" y="198438"/>
                  <a:pt x="33073" y="198438"/>
                </a:cubicBezTo>
                <a:lnTo>
                  <a:pt x="198438" y="198438"/>
                </a:lnTo>
                <a:cubicBezTo>
                  <a:pt x="205755" y="198438"/>
                  <a:pt x="211667" y="192526"/>
                  <a:pt x="211667" y="185208"/>
                </a:cubicBezTo>
                <a:cubicBezTo>
                  <a:pt x="211667" y="177891"/>
                  <a:pt x="205755" y="171979"/>
                  <a:pt x="198438" y="171979"/>
                </a:cubicBezTo>
                <a:lnTo>
                  <a:pt x="33073" y="171979"/>
                </a:lnTo>
                <a:cubicBezTo>
                  <a:pt x="29435" y="171979"/>
                  <a:pt x="26458" y="169003"/>
                  <a:pt x="26458" y="165365"/>
                </a:cubicBezTo>
                <a:lnTo>
                  <a:pt x="26458" y="26458"/>
                </a:lnTo>
                <a:close/>
                <a:moveTo>
                  <a:pt x="194551" y="62260"/>
                </a:moveTo>
                <a:cubicBezTo>
                  <a:pt x="199719" y="57092"/>
                  <a:pt x="199719" y="48700"/>
                  <a:pt x="194551" y="43532"/>
                </a:cubicBezTo>
                <a:cubicBezTo>
                  <a:pt x="189384" y="38365"/>
                  <a:pt x="180992" y="38365"/>
                  <a:pt x="175824" y="43532"/>
                </a:cubicBezTo>
                <a:lnTo>
                  <a:pt x="132292" y="87106"/>
                </a:lnTo>
                <a:lnTo>
                  <a:pt x="108562" y="63417"/>
                </a:lnTo>
                <a:cubicBezTo>
                  <a:pt x="103394" y="58250"/>
                  <a:pt x="95002" y="58250"/>
                  <a:pt x="89834" y="63417"/>
                </a:cubicBezTo>
                <a:lnTo>
                  <a:pt x="50147" y="103105"/>
                </a:lnTo>
                <a:cubicBezTo>
                  <a:pt x="44979" y="108272"/>
                  <a:pt x="44979" y="116665"/>
                  <a:pt x="50147" y="121832"/>
                </a:cubicBezTo>
                <a:cubicBezTo>
                  <a:pt x="55314" y="127000"/>
                  <a:pt x="63707" y="127000"/>
                  <a:pt x="68874" y="121832"/>
                </a:cubicBezTo>
                <a:lnTo>
                  <a:pt x="99219" y="91488"/>
                </a:lnTo>
                <a:lnTo>
                  <a:pt x="122949" y="115218"/>
                </a:lnTo>
                <a:cubicBezTo>
                  <a:pt x="128116" y="120385"/>
                  <a:pt x="136508" y="120385"/>
                  <a:pt x="141676" y="115218"/>
                </a:cubicBezTo>
                <a:lnTo>
                  <a:pt x="194593" y="62301"/>
                </a:lnTo>
                <a:close/>
              </a:path>
            </a:pathLst>
          </a:custGeom>
          <a:solidFill>
            <a:srgbClr val="4C7E9A"/>
          </a:solidFill>
          <a:ln/>
        </p:spPr>
      </p:sp>
      <p:sp>
        <p:nvSpPr>
          <p:cNvPr id="22" name="Text 20"/>
          <p:cNvSpPr/>
          <p:nvPr/>
        </p:nvSpPr>
        <p:spPr>
          <a:xfrm>
            <a:off x="1026583" y="5656792"/>
            <a:ext cx="17885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渐进式优化</a:t>
            </a:r>
            <a:endParaRPr lang="en-US" sz="1600" dirty="0"/>
          </a:p>
        </p:txBody>
      </p:sp>
      <p:sp>
        <p:nvSpPr>
          <p:cNvPr id="23" name="Text 21"/>
          <p:cNvSpPr/>
          <p:nvPr/>
        </p:nvSpPr>
        <p:spPr>
          <a:xfrm>
            <a:off x="1026583" y="5953125"/>
            <a:ext cx="1778000"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形成渐进式的优化过程</a:t>
            </a:r>
            <a:endParaRPr lang="en-US" sz="1600" dirty="0"/>
          </a:p>
        </p:txBody>
      </p:sp>
      <p:sp>
        <p:nvSpPr>
          <p:cNvPr id="24" name="Shape 22"/>
          <p:cNvSpPr/>
          <p:nvPr/>
        </p:nvSpPr>
        <p:spPr>
          <a:xfrm>
            <a:off x="428625" y="6551083"/>
            <a:ext cx="7588250" cy="2211917"/>
          </a:xfrm>
          <a:custGeom>
            <a:avLst/>
            <a:gdLst/>
            <a:ahLst/>
            <a:cxnLst/>
            <a:rect l="l" t="t" r="r" b="b"/>
            <a:pathLst>
              <a:path w="7588250" h="2211917">
                <a:moveTo>
                  <a:pt x="84672" y="0"/>
                </a:moveTo>
                <a:lnTo>
                  <a:pt x="7503578" y="0"/>
                </a:lnTo>
                <a:cubicBezTo>
                  <a:pt x="7550341" y="0"/>
                  <a:pt x="7588250" y="37909"/>
                  <a:pt x="7588250" y="84672"/>
                </a:cubicBezTo>
                <a:lnTo>
                  <a:pt x="7588250" y="2127244"/>
                </a:lnTo>
                <a:cubicBezTo>
                  <a:pt x="7588250" y="2174008"/>
                  <a:pt x="7550341" y="2211917"/>
                  <a:pt x="7503578" y="2211917"/>
                </a:cubicBezTo>
                <a:lnTo>
                  <a:pt x="84672" y="2211917"/>
                </a:lnTo>
                <a:cubicBezTo>
                  <a:pt x="37909" y="2211917"/>
                  <a:pt x="0" y="2174008"/>
                  <a:pt x="0" y="2127244"/>
                </a:cubicBezTo>
                <a:lnTo>
                  <a:pt x="0" y="84672"/>
                </a:lnTo>
                <a:cubicBezTo>
                  <a:pt x="0" y="37940"/>
                  <a:pt x="37940" y="0"/>
                  <a:pt x="84672" y="0"/>
                </a:cubicBezTo>
                <a:close/>
              </a:path>
            </a:pathLst>
          </a:custGeom>
          <a:solidFill>
            <a:srgbClr val="3A5E78">
              <a:alpha val="20000"/>
            </a:srgbClr>
          </a:solidFill>
          <a:ln w="12700">
            <a:solidFill>
              <a:srgbClr val="4C7E9A">
                <a:alpha val="50196"/>
              </a:srgbClr>
            </a:solidFill>
            <a:prstDash val="solid"/>
          </a:ln>
        </p:spPr>
      </p:sp>
      <p:sp>
        <p:nvSpPr>
          <p:cNvPr id="25" name="Text 23"/>
          <p:cNvSpPr/>
          <p:nvPr/>
        </p:nvSpPr>
        <p:spPr>
          <a:xfrm>
            <a:off x="603250" y="6725708"/>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与Bagging的关键区别</a:t>
            </a:r>
            <a:endParaRPr lang="en-US" sz="1600" dirty="0"/>
          </a:p>
        </p:txBody>
      </p:sp>
      <p:sp>
        <p:nvSpPr>
          <p:cNvPr id="26" name="Shape 24"/>
          <p:cNvSpPr/>
          <p:nvPr/>
        </p:nvSpPr>
        <p:spPr>
          <a:xfrm>
            <a:off x="603250" y="7149042"/>
            <a:ext cx="7239000" cy="677333"/>
          </a:xfrm>
          <a:custGeom>
            <a:avLst/>
            <a:gdLst/>
            <a:ahLst/>
            <a:cxnLst/>
            <a:rect l="l" t="t" r="r" b="b"/>
            <a:pathLst>
              <a:path w="7239000" h="677333">
                <a:moveTo>
                  <a:pt x="42333" y="0"/>
                </a:moveTo>
                <a:lnTo>
                  <a:pt x="7196667" y="0"/>
                </a:lnTo>
                <a:cubicBezTo>
                  <a:pt x="7220047" y="0"/>
                  <a:pt x="7239000" y="18953"/>
                  <a:pt x="7239000" y="42333"/>
                </a:cubicBezTo>
                <a:lnTo>
                  <a:pt x="7239000" y="635000"/>
                </a:lnTo>
                <a:cubicBezTo>
                  <a:pt x="7239000" y="658380"/>
                  <a:pt x="7220047" y="677333"/>
                  <a:pt x="7196667"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alpha val="50196"/>
            </a:srgbClr>
          </a:solidFill>
          <a:ln/>
        </p:spPr>
      </p:sp>
      <p:sp>
        <p:nvSpPr>
          <p:cNvPr id="27" name="Text 25"/>
          <p:cNvSpPr/>
          <p:nvPr/>
        </p:nvSpPr>
        <p:spPr>
          <a:xfrm>
            <a:off x="687917" y="7233708"/>
            <a:ext cx="7154333"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训练方式</a:t>
            </a:r>
            <a:endParaRPr lang="en-US" sz="1600" dirty="0"/>
          </a:p>
        </p:txBody>
      </p:sp>
      <p:sp>
        <p:nvSpPr>
          <p:cNvPr id="28" name="Text 26"/>
          <p:cNvSpPr/>
          <p:nvPr/>
        </p:nvSpPr>
        <p:spPr>
          <a:xfrm>
            <a:off x="687917" y="7530042"/>
            <a:ext cx="71437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Boosting：串行训练；Bagging：并行训练</a:t>
            </a:r>
            <a:endParaRPr lang="en-US" sz="1600" dirty="0"/>
          </a:p>
        </p:txBody>
      </p:sp>
      <p:sp>
        <p:nvSpPr>
          <p:cNvPr id="29" name="Shape 27"/>
          <p:cNvSpPr/>
          <p:nvPr/>
        </p:nvSpPr>
        <p:spPr>
          <a:xfrm>
            <a:off x="603250" y="7911042"/>
            <a:ext cx="7239000" cy="677333"/>
          </a:xfrm>
          <a:custGeom>
            <a:avLst/>
            <a:gdLst/>
            <a:ahLst/>
            <a:cxnLst/>
            <a:rect l="l" t="t" r="r" b="b"/>
            <a:pathLst>
              <a:path w="7239000" h="677333">
                <a:moveTo>
                  <a:pt x="42333" y="0"/>
                </a:moveTo>
                <a:lnTo>
                  <a:pt x="7196667" y="0"/>
                </a:lnTo>
                <a:cubicBezTo>
                  <a:pt x="7220047" y="0"/>
                  <a:pt x="7239000" y="18953"/>
                  <a:pt x="7239000" y="42333"/>
                </a:cubicBezTo>
                <a:lnTo>
                  <a:pt x="7239000" y="635000"/>
                </a:lnTo>
                <a:cubicBezTo>
                  <a:pt x="7239000" y="658380"/>
                  <a:pt x="7220047" y="677333"/>
                  <a:pt x="7196667"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alpha val="50196"/>
            </a:srgbClr>
          </a:solidFill>
          <a:ln/>
        </p:spPr>
      </p:sp>
      <p:sp>
        <p:nvSpPr>
          <p:cNvPr id="30" name="Text 28"/>
          <p:cNvSpPr/>
          <p:nvPr/>
        </p:nvSpPr>
        <p:spPr>
          <a:xfrm>
            <a:off x="687917" y="7995708"/>
            <a:ext cx="7154333"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优化目标</a:t>
            </a:r>
            <a:endParaRPr lang="en-US" sz="1600" dirty="0"/>
          </a:p>
        </p:txBody>
      </p:sp>
      <p:sp>
        <p:nvSpPr>
          <p:cNvPr id="31" name="Text 29"/>
          <p:cNvSpPr/>
          <p:nvPr/>
        </p:nvSpPr>
        <p:spPr>
          <a:xfrm>
            <a:off x="687917" y="8292042"/>
            <a:ext cx="71437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Boosting：降低偏差；Bagging：降低方差</a:t>
            </a:r>
            <a:endParaRPr lang="en-US" sz="1600" dirty="0"/>
          </a:p>
        </p:txBody>
      </p:sp>
      <p:pic>
        <p:nvPicPr>
          <p:cNvPr id="32" name="Image 0" descr="https://kimi-img.moonshot.cn/pub/slides/26-01-07-11:57:46-d5etjekcouafv9aomt70.png">    </p:cNvPr>
          <p:cNvPicPr>
            <a:picLocks noChangeAspect="1"/>
          </p:cNvPicPr>
          <p:nvPr/>
        </p:nvPicPr>
        <p:blipFill>
          <a:blip r:embed="rId1"/>
          <a:srcRect l="0" r="0" t="0" b="0"/>
          <a:stretch/>
        </p:blipFill>
        <p:spPr>
          <a:xfrm>
            <a:off x="8233833" y="1524000"/>
            <a:ext cx="6244167" cy="3386667"/>
          </a:xfrm>
          <a:prstGeom prst="roundRect">
            <a:avLst>
              <a:gd name="adj" fmla="val 0"/>
            </a:avLst>
          </a:prstGeom>
        </p:spPr>
      </p:pic>
      <p:sp>
        <p:nvSpPr>
          <p:cNvPr id="33" name="Shape 30"/>
          <p:cNvSpPr/>
          <p:nvPr/>
        </p:nvSpPr>
        <p:spPr>
          <a:xfrm>
            <a:off x="8239125" y="5085292"/>
            <a:ext cx="7588250" cy="3693583"/>
          </a:xfrm>
          <a:custGeom>
            <a:avLst/>
            <a:gdLst/>
            <a:ahLst/>
            <a:cxnLst/>
            <a:rect l="l" t="t" r="r" b="b"/>
            <a:pathLst>
              <a:path w="7588250" h="3693583">
                <a:moveTo>
                  <a:pt x="84657" y="0"/>
                </a:moveTo>
                <a:lnTo>
                  <a:pt x="7503593" y="0"/>
                </a:lnTo>
                <a:cubicBezTo>
                  <a:pt x="7550348" y="0"/>
                  <a:pt x="7588250" y="37902"/>
                  <a:pt x="7588250" y="84657"/>
                </a:cubicBezTo>
                <a:lnTo>
                  <a:pt x="7588250" y="3608926"/>
                </a:lnTo>
                <a:cubicBezTo>
                  <a:pt x="7588250" y="3655681"/>
                  <a:pt x="7550348" y="3693583"/>
                  <a:pt x="7503593" y="3693583"/>
                </a:cubicBezTo>
                <a:lnTo>
                  <a:pt x="84657" y="3693583"/>
                </a:lnTo>
                <a:cubicBezTo>
                  <a:pt x="37902" y="3693583"/>
                  <a:pt x="0" y="3655681"/>
                  <a:pt x="0" y="3608926"/>
                </a:cubicBezTo>
                <a:lnTo>
                  <a:pt x="0" y="84657"/>
                </a:lnTo>
                <a:cubicBezTo>
                  <a:pt x="0" y="37933"/>
                  <a:pt x="37933" y="0"/>
                  <a:pt x="84657" y="0"/>
                </a:cubicBezTo>
                <a:close/>
              </a:path>
            </a:pathLst>
          </a:custGeom>
          <a:solidFill>
            <a:srgbClr val="3A5E78">
              <a:alpha val="20000"/>
            </a:srgbClr>
          </a:solidFill>
          <a:ln w="12700">
            <a:solidFill>
              <a:srgbClr val="4C7E9A">
                <a:alpha val="50196"/>
              </a:srgbClr>
            </a:solidFill>
            <a:prstDash val="solid"/>
          </a:ln>
        </p:spPr>
      </p:sp>
      <p:sp>
        <p:nvSpPr>
          <p:cNvPr id="34" name="Text 31"/>
          <p:cNvSpPr/>
          <p:nvPr/>
        </p:nvSpPr>
        <p:spPr>
          <a:xfrm>
            <a:off x="8413750" y="5259917"/>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Boosting工作流程</a:t>
            </a:r>
            <a:endParaRPr lang="en-US" sz="1600" dirty="0"/>
          </a:p>
        </p:txBody>
      </p:sp>
      <p:sp>
        <p:nvSpPr>
          <p:cNvPr id="35" name="Shape 32"/>
          <p:cNvSpPr/>
          <p:nvPr/>
        </p:nvSpPr>
        <p:spPr>
          <a:xfrm>
            <a:off x="8413750" y="5725583"/>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36" name="Text 33"/>
          <p:cNvSpPr/>
          <p:nvPr/>
        </p:nvSpPr>
        <p:spPr>
          <a:xfrm>
            <a:off x="8371417" y="5725583"/>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1</a:t>
            </a:r>
            <a:endParaRPr lang="en-US" sz="1600" dirty="0"/>
          </a:p>
        </p:txBody>
      </p:sp>
      <p:sp>
        <p:nvSpPr>
          <p:cNvPr id="37" name="Text 34"/>
          <p:cNvSpPr/>
          <p:nvPr/>
        </p:nvSpPr>
        <p:spPr>
          <a:xfrm>
            <a:off x="8879417" y="5725583"/>
            <a:ext cx="68685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初始化权重</a:t>
            </a:r>
            <a:endParaRPr lang="en-US" sz="1600" dirty="0"/>
          </a:p>
        </p:txBody>
      </p:sp>
      <p:sp>
        <p:nvSpPr>
          <p:cNvPr id="38" name="Text 35"/>
          <p:cNvSpPr/>
          <p:nvPr/>
        </p:nvSpPr>
        <p:spPr>
          <a:xfrm>
            <a:off x="8879417" y="6021917"/>
            <a:ext cx="68474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所有样本权重相等</a:t>
            </a:r>
            <a:endParaRPr lang="en-US" sz="1600" dirty="0"/>
          </a:p>
        </p:txBody>
      </p:sp>
      <p:sp>
        <p:nvSpPr>
          <p:cNvPr id="39" name="Shape 36"/>
          <p:cNvSpPr/>
          <p:nvPr/>
        </p:nvSpPr>
        <p:spPr>
          <a:xfrm>
            <a:off x="8413750" y="6318250"/>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40" name="Text 37"/>
          <p:cNvSpPr/>
          <p:nvPr/>
        </p:nvSpPr>
        <p:spPr>
          <a:xfrm>
            <a:off x="8371417" y="6318250"/>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2</a:t>
            </a:r>
            <a:endParaRPr lang="en-US" sz="1600" dirty="0"/>
          </a:p>
        </p:txBody>
      </p:sp>
      <p:sp>
        <p:nvSpPr>
          <p:cNvPr id="41" name="Text 38"/>
          <p:cNvSpPr/>
          <p:nvPr/>
        </p:nvSpPr>
        <p:spPr>
          <a:xfrm>
            <a:off x="8879417" y="6318250"/>
            <a:ext cx="68685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训练模型</a:t>
            </a:r>
            <a:endParaRPr lang="en-US" sz="1600" dirty="0"/>
          </a:p>
        </p:txBody>
      </p:sp>
      <p:sp>
        <p:nvSpPr>
          <p:cNvPr id="42" name="Text 39"/>
          <p:cNvSpPr/>
          <p:nvPr/>
        </p:nvSpPr>
        <p:spPr>
          <a:xfrm>
            <a:off x="8879417" y="6614583"/>
            <a:ext cx="68474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基于当前权重训练弱学习器</a:t>
            </a:r>
            <a:endParaRPr lang="en-US" sz="1600" dirty="0"/>
          </a:p>
        </p:txBody>
      </p:sp>
      <p:sp>
        <p:nvSpPr>
          <p:cNvPr id="43" name="Shape 40"/>
          <p:cNvSpPr/>
          <p:nvPr/>
        </p:nvSpPr>
        <p:spPr>
          <a:xfrm>
            <a:off x="8413750" y="6910917"/>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44" name="Text 41"/>
          <p:cNvSpPr/>
          <p:nvPr/>
        </p:nvSpPr>
        <p:spPr>
          <a:xfrm>
            <a:off x="8371417" y="6910917"/>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3</a:t>
            </a:r>
            <a:endParaRPr lang="en-US" sz="1600" dirty="0"/>
          </a:p>
        </p:txBody>
      </p:sp>
      <p:sp>
        <p:nvSpPr>
          <p:cNvPr id="45" name="Text 42"/>
          <p:cNvSpPr/>
          <p:nvPr/>
        </p:nvSpPr>
        <p:spPr>
          <a:xfrm>
            <a:off x="8879417" y="6910917"/>
            <a:ext cx="68685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计算权重</a:t>
            </a:r>
            <a:endParaRPr lang="en-US" sz="1600" dirty="0"/>
          </a:p>
        </p:txBody>
      </p:sp>
      <p:sp>
        <p:nvSpPr>
          <p:cNvPr id="46" name="Text 43"/>
          <p:cNvSpPr/>
          <p:nvPr/>
        </p:nvSpPr>
        <p:spPr>
          <a:xfrm>
            <a:off x="8879417" y="7207250"/>
            <a:ext cx="68474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根据模型表现赋予投票权重</a:t>
            </a:r>
            <a:endParaRPr lang="en-US" sz="1600" dirty="0"/>
          </a:p>
        </p:txBody>
      </p:sp>
      <p:sp>
        <p:nvSpPr>
          <p:cNvPr id="47" name="Shape 44"/>
          <p:cNvSpPr/>
          <p:nvPr/>
        </p:nvSpPr>
        <p:spPr>
          <a:xfrm>
            <a:off x="8413750" y="7503583"/>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48" name="Text 45"/>
          <p:cNvSpPr/>
          <p:nvPr/>
        </p:nvSpPr>
        <p:spPr>
          <a:xfrm>
            <a:off x="8371417" y="7503583"/>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4</a:t>
            </a:r>
            <a:endParaRPr lang="en-US" sz="1600" dirty="0"/>
          </a:p>
        </p:txBody>
      </p:sp>
      <p:sp>
        <p:nvSpPr>
          <p:cNvPr id="49" name="Text 46"/>
          <p:cNvSpPr/>
          <p:nvPr/>
        </p:nvSpPr>
        <p:spPr>
          <a:xfrm>
            <a:off x="8879417" y="7503583"/>
            <a:ext cx="68685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更新样本权重</a:t>
            </a:r>
            <a:endParaRPr lang="en-US" sz="1600" dirty="0"/>
          </a:p>
        </p:txBody>
      </p:sp>
      <p:sp>
        <p:nvSpPr>
          <p:cNvPr id="50" name="Text 47"/>
          <p:cNvSpPr/>
          <p:nvPr/>
        </p:nvSpPr>
        <p:spPr>
          <a:xfrm>
            <a:off x="8879417" y="7799917"/>
            <a:ext cx="68474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错误样本权重增加</a:t>
            </a:r>
            <a:endParaRPr lang="en-US" sz="1600" dirty="0"/>
          </a:p>
        </p:txBody>
      </p:sp>
      <p:sp>
        <p:nvSpPr>
          <p:cNvPr id="51" name="Shape 48"/>
          <p:cNvSpPr/>
          <p:nvPr/>
        </p:nvSpPr>
        <p:spPr>
          <a:xfrm>
            <a:off x="8413750" y="8096250"/>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52" name="Text 49"/>
          <p:cNvSpPr/>
          <p:nvPr/>
        </p:nvSpPr>
        <p:spPr>
          <a:xfrm>
            <a:off x="8371417" y="8096250"/>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5</a:t>
            </a:r>
            <a:endParaRPr lang="en-US" sz="1600" dirty="0"/>
          </a:p>
        </p:txBody>
      </p:sp>
      <p:sp>
        <p:nvSpPr>
          <p:cNvPr id="53" name="Text 50"/>
          <p:cNvSpPr/>
          <p:nvPr/>
        </p:nvSpPr>
        <p:spPr>
          <a:xfrm>
            <a:off x="8879417" y="8096250"/>
            <a:ext cx="68685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重复迭代</a:t>
            </a:r>
            <a:endParaRPr lang="en-US" sz="1600" dirty="0"/>
          </a:p>
        </p:txBody>
      </p:sp>
      <p:sp>
        <p:nvSpPr>
          <p:cNvPr id="54" name="Text 51"/>
          <p:cNvSpPr/>
          <p:nvPr/>
        </p:nvSpPr>
        <p:spPr>
          <a:xfrm>
            <a:off x="8879417" y="8392583"/>
            <a:ext cx="68474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直到达到预定轮数</a:t>
            </a:r>
            <a:endParaRPr lang="en-US" sz="1600" dirty="0"/>
          </a:p>
        </p:txBody>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7227" y="427227"/>
            <a:ext cx="15486991" cy="256336"/>
          </a:xfrm>
          <a:prstGeom prst="rect">
            <a:avLst/>
          </a:prstGeom>
          <a:noFill/>
          <a:ln/>
        </p:spPr>
        <p:txBody>
          <a:bodyPr wrap="square" lIns="0" tIns="0" rIns="0" bIns="0" rtlCol="0" anchor="ctr"/>
          <a:lstStyle/>
          <a:p>
            <a:pPr>
              <a:lnSpc>
                <a:spcPct val="130000"/>
              </a:lnSpc>
            </a:pPr>
            <a:r>
              <a:rPr lang="en-US" sz="1346" b="1" spc="67" kern="0" dirty="0">
                <a:solidFill>
                  <a:srgbClr val="7E9AA8"/>
                </a:solidFill>
                <a:latin typeface="MiSans" pitchFamily="34" charset="0"/>
                <a:ea typeface="MiSans" pitchFamily="34" charset="-122"/>
                <a:cs typeface="MiSans" pitchFamily="34" charset="-120"/>
              </a:rPr>
              <a:t>BOOSTING</a:t>
            </a:r>
            <a:endParaRPr lang="en-US" sz="1600" dirty="0"/>
          </a:p>
        </p:txBody>
      </p:sp>
      <p:sp>
        <p:nvSpPr>
          <p:cNvPr id="3" name="Text 1"/>
          <p:cNvSpPr/>
          <p:nvPr/>
        </p:nvSpPr>
        <p:spPr>
          <a:xfrm>
            <a:off x="427227" y="769009"/>
            <a:ext cx="15593798" cy="427227"/>
          </a:xfrm>
          <a:prstGeom prst="rect">
            <a:avLst/>
          </a:prstGeom>
          <a:noFill/>
          <a:ln/>
        </p:spPr>
        <p:txBody>
          <a:bodyPr wrap="square" lIns="0" tIns="0" rIns="0" bIns="0" rtlCol="0" anchor="ctr"/>
          <a:lstStyle/>
          <a:p>
            <a:pPr>
              <a:lnSpc>
                <a:spcPct val="90000"/>
              </a:lnSpc>
            </a:pPr>
            <a:r>
              <a:rPr lang="en-US" sz="3028" b="1" dirty="0">
                <a:solidFill>
                  <a:srgbClr val="D1D5DB"/>
                </a:solidFill>
                <a:latin typeface="阿里妈妈数黑体" pitchFamily="34" charset="0"/>
                <a:ea typeface="阿里妈妈数黑体" pitchFamily="34" charset="-122"/>
                <a:cs typeface="阿里妈妈数黑体" pitchFamily="34" charset="-120"/>
              </a:rPr>
              <a:t>AdaBoost算法原理</a:t>
            </a:r>
            <a:endParaRPr lang="en-US" sz="1600" dirty="0"/>
          </a:p>
        </p:txBody>
      </p:sp>
      <p:sp>
        <p:nvSpPr>
          <p:cNvPr id="4" name="Shape 2"/>
          <p:cNvSpPr/>
          <p:nvPr/>
        </p:nvSpPr>
        <p:spPr>
          <a:xfrm>
            <a:off x="427227" y="1324405"/>
            <a:ext cx="1025346" cy="42723"/>
          </a:xfrm>
          <a:custGeom>
            <a:avLst/>
            <a:gdLst/>
            <a:ahLst/>
            <a:cxnLst/>
            <a:rect l="l" t="t" r="r" b="b"/>
            <a:pathLst>
              <a:path w="1025346" h="42723">
                <a:moveTo>
                  <a:pt x="0" y="0"/>
                </a:moveTo>
                <a:lnTo>
                  <a:pt x="1025346" y="0"/>
                </a:lnTo>
                <a:lnTo>
                  <a:pt x="1025346" y="42723"/>
                </a:lnTo>
                <a:lnTo>
                  <a:pt x="0" y="42723"/>
                </a:lnTo>
                <a:lnTo>
                  <a:pt x="0" y="0"/>
                </a:lnTo>
                <a:close/>
              </a:path>
            </a:pathLst>
          </a:custGeom>
          <a:solidFill>
            <a:srgbClr val="4C7E9A"/>
          </a:solidFill>
          <a:ln/>
        </p:spPr>
      </p:sp>
      <p:sp>
        <p:nvSpPr>
          <p:cNvPr id="5" name="Shape 3"/>
          <p:cNvSpPr/>
          <p:nvPr/>
        </p:nvSpPr>
        <p:spPr>
          <a:xfrm>
            <a:off x="448589" y="1538018"/>
            <a:ext cx="7572604" cy="2456557"/>
          </a:xfrm>
          <a:custGeom>
            <a:avLst/>
            <a:gdLst/>
            <a:ahLst/>
            <a:cxnLst/>
            <a:rect l="l" t="t" r="r" b="b"/>
            <a:pathLst>
              <a:path w="7572604" h="2456557">
                <a:moveTo>
                  <a:pt x="42723" y="0"/>
                </a:moveTo>
                <a:lnTo>
                  <a:pt x="7487165" y="0"/>
                </a:lnTo>
                <a:cubicBezTo>
                  <a:pt x="7534352" y="0"/>
                  <a:pt x="7572604" y="38252"/>
                  <a:pt x="7572604" y="85439"/>
                </a:cubicBezTo>
                <a:lnTo>
                  <a:pt x="7572604" y="2371118"/>
                </a:lnTo>
                <a:cubicBezTo>
                  <a:pt x="7572604" y="2418305"/>
                  <a:pt x="7534352" y="2456557"/>
                  <a:pt x="7487165" y="2456557"/>
                </a:cubicBezTo>
                <a:lnTo>
                  <a:pt x="42723" y="2456557"/>
                </a:lnTo>
                <a:cubicBezTo>
                  <a:pt x="19128" y="2456557"/>
                  <a:pt x="0" y="2437430"/>
                  <a:pt x="0" y="2413834"/>
                </a:cubicBezTo>
                <a:lnTo>
                  <a:pt x="0" y="42723"/>
                </a:lnTo>
                <a:cubicBezTo>
                  <a:pt x="0" y="19143"/>
                  <a:pt x="19143" y="0"/>
                  <a:pt x="42723" y="0"/>
                </a:cubicBezTo>
                <a:close/>
              </a:path>
            </a:pathLst>
          </a:custGeom>
          <a:solidFill>
            <a:srgbClr val="3A5E78">
              <a:alpha val="20000"/>
            </a:srgbClr>
          </a:solidFill>
          <a:ln/>
        </p:spPr>
      </p:sp>
      <p:sp>
        <p:nvSpPr>
          <p:cNvPr id="6" name="Shape 4"/>
          <p:cNvSpPr/>
          <p:nvPr/>
        </p:nvSpPr>
        <p:spPr>
          <a:xfrm>
            <a:off x="448589" y="1538018"/>
            <a:ext cx="42723" cy="2456557"/>
          </a:xfrm>
          <a:custGeom>
            <a:avLst/>
            <a:gdLst/>
            <a:ahLst/>
            <a:cxnLst/>
            <a:rect l="l" t="t" r="r" b="b"/>
            <a:pathLst>
              <a:path w="42723" h="2456557">
                <a:moveTo>
                  <a:pt x="42723" y="0"/>
                </a:moveTo>
                <a:lnTo>
                  <a:pt x="42723" y="0"/>
                </a:lnTo>
                <a:lnTo>
                  <a:pt x="42723" y="2456557"/>
                </a:lnTo>
                <a:lnTo>
                  <a:pt x="42723" y="2456557"/>
                </a:lnTo>
                <a:cubicBezTo>
                  <a:pt x="19128" y="2456557"/>
                  <a:pt x="0" y="2437430"/>
                  <a:pt x="0" y="2413834"/>
                </a:cubicBezTo>
                <a:lnTo>
                  <a:pt x="0" y="42723"/>
                </a:lnTo>
                <a:cubicBezTo>
                  <a:pt x="0" y="19143"/>
                  <a:pt x="19143" y="0"/>
                  <a:pt x="42723" y="0"/>
                </a:cubicBezTo>
                <a:close/>
              </a:path>
            </a:pathLst>
          </a:custGeom>
          <a:solidFill>
            <a:srgbClr val="4C7E9A"/>
          </a:solidFill>
          <a:ln/>
        </p:spPr>
      </p:sp>
      <p:sp>
        <p:nvSpPr>
          <p:cNvPr id="7" name="Text 5"/>
          <p:cNvSpPr/>
          <p:nvPr/>
        </p:nvSpPr>
        <p:spPr>
          <a:xfrm>
            <a:off x="640841" y="1708909"/>
            <a:ext cx="7337629" cy="341782"/>
          </a:xfrm>
          <a:prstGeom prst="rect">
            <a:avLst/>
          </a:prstGeom>
          <a:noFill/>
          <a:ln/>
        </p:spPr>
        <p:txBody>
          <a:bodyPr wrap="square" lIns="0" tIns="0" rIns="0" bIns="0" rtlCol="0" anchor="ctr"/>
          <a:lstStyle/>
          <a:p>
            <a:pPr>
              <a:lnSpc>
                <a:spcPct val="110000"/>
              </a:lnSpc>
            </a:pPr>
            <a:r>
              <a:rPr lang="en-US" sz="2018" b="1" dirty="0">
                <a:solidFill>
                  <a:srgbClr val="4C7E9A"/>
                </a:solidFill>
                <a:latin typeface="MiSans" pitchFamily="34" charset="0"/>
                <a:ea typeface="MiSans" pitchFamily="34" charset="-122"/>
                <a:cs typeface="MiSans" pitchFamily="34" charset="-120"/>
              </a:rPr>
              <a:t>双重加权策略</a:t>
            </a:r>
            <a:endParaRPr lang="en-US" sz="1600" dirty="0"/>
          </a:p>
        </p:txBody>
      </p:sp>
      <p:sp>
        <p:nvSpPr>
          <p:cNvPr id="8" name="Text 6"/>
          <p:cNvSpPr/>
          <p:nvPr/>
        </p:nvSpPr>
        <p:spPr>
          <a:xfrm>
            <a:off x="640841" y="2178859"/>
            <a:ext cx="7294907" cy="277698"/>
          </a:xfrm>
          <a:prstGeom prst="rect">
            <a:avLst/>
          </a:prstGeom>
          <a:noFill/>
          <a:ln/>
        </p:spPr>
        <p:txBody>
          <a:bodyPr wrap="square" lIns="0" tIns="0" rIns="0" bIns="0" rtlCol="0" anchor="ctr"/>
          <a:lstStyle/>
          <a:p>
            <a:pPr>
              <a:lnSpc>
                <a:spcPct val="140000"/>
              </a:lnSpc>
            </a:pPr>
            <a:r>
              <a:rPr lang="en-US" sz="1346" dirty="0">
                <a:solidFill>
                  <a:srgbClr val="D1D5DB"/>
                </a:solidFill>
                <a:latin typeface="MiSans" pitchFamily="34" charset="0"/>
                <a:ea typeface="MiSans" pitchFamily="34" charset="-122"/>
                <a:cs typeface="MiSans" pitchFamily="34" charset="-120"/>
              </a:rPr>
              <a:t>AdaBoost（Adaptive Boosting）的核心在于巧妙的</a:t>
            </a:r>
            <a:pPr>
              <a:lnSpc>
                <a:spcPct val="140000"/>
              </a:lnSpc>
            </a:pPr>
            <a:r>
              <a:rPr lang="en-US" sz="1346" b="1" dirty="0">
                <a:solidFill>
                  <a:srgbClr val="4C7E9A"/>
                </a:solidFill>
                <a:latin typeface="MiSans" pitchFamily="34" charset="0"/>
                <a:ea typeface="MiSans" pitchFamily="34" charset="-122"/>
                <a:cs typeface="MiSans" pitchFamily="34" charset="-120"/>
              </a:rPr>
              <a:t>双重加权策略</a:t>
            </a:r>
            <a:pPr>
              <a:lnSpc>
                <a:spcPct val="140000"/>
              </a:lnSpc>
            </a:pPr>
            <a:r>
              <a:rPr lang="en-US" sz="1346" dirty="0">
                <a:solidFill>
                  <a:srgbClr val="D1D5DB"/>
                </a:solidFill>
                <a:latin typeface="MiSans" pitchFamily="34" charset="0"/>
                <a:ea typeface="MiSans" pitchFamily="34" charset="-122"/>
                <a:cs typeface="MiSans" pitchFamily="34" charset="-120"/>
              </a:rPr>
              <a:t>：</a:t>
            </a:r>
            <a:endParaRPr lang="en-US" sz="1600" dirty="0"/>
          </a:p>
        </p:txBody>
      </p:sp>
      <p:sp>
        <p:nvSpPr>
          <p:cNvPr id="9" name="Shape 7"/>
          <p:cNvSpPr/>
          <p:nvPr/>
        </p:nvSpPr>
        <p:spPr>
          <a:xfrm>
            <a:off x="667543" y="2627448"/>
            <a:ext cx="213614" cy="213614"/>
          </a:xfrm>
          <a:custGeom>
            <a:avLst/>
            <a:gdLst/>
            <a:ahLst/>
            <a:cxnLst/>
            <a:rect l="l" t="t" r="r" b="b"/>
            <a:pathLst>
              <a:path w="213614" h="213614">
                <a:moveTo>
                  <a:pt x="93456" y="40053"/>
                </a:moveTo>
                <a:cubicBezTo>
                  <a:pt x="93456" y="32684"/>
                  <a:pt x="99438" y="26702"/>
                  <a:pt x="106807" y="26702"/>
                </a:cubicBezTo>
                <a:cubicBezTo>
                  <a:pt x="114175" y="26702"/>
                  <a:pt x="120158" y="32684"/>
                  <a:pt x="120158" y="40053"/>
                </a:cubicBezTo>
                <a:cubicBezTo>
                  <a:pt x="120158" y="47421"/>
                  <a:pt x="114175" y="53403"/>
                  <a:pt x="106807" y="53403"/>
                </a:cubicBezTo>
                <a:cubicBezTo>
                  <a:pt x="99438" y="53403"/>
                  <a:pt x="93456" y="47421"/>
                  <a:pt x="93456" y="40053"/>
                </a:cubicBezTo>
                <a:close/>
                <a:moveTo>
                  <a:pt x="144565" y="53403"/>
                </a:moveTo>
                <a:cubicBezTo>
                  <a:pt x="146025" y="49231"/>
                  <a:pt x="146859" y="44725"/>
                  <a:pt x="146859" y="40053"/>
                </a:cubicBezTo>
                <a:cubicBezTo>
                  <a:pt x="146859" y="17940"/>
                  <a:pt x="128919" y="0"/>
                  <a:pt x="106807" y="0"/>
                </a:cubicBezTo>
                <a:cubicBezTo>
                  <a:pt x="84694" y="0"/>
                  <a:pt x="66754" y="17940"/>
                  <a:pt x="66754" y="40053"/>
                </a:cubicBezTo>
                <a:cubicBezTo>
                  <a:pt x="66754" y="44725"/>
                  <a:pt x="67547" y="49231"/>
                  <a:pt x="69049" y="53403"/>
                </a:cubicBezTo>
                <a:lnTo>
                  <a:pt x="59954" y="53403"/>
                </a:lnTo>
                <a:cubicBezTo>
                  <a:pt x="48147" y="53403"/>
                  <a:pt x="37758" y="61122"/>
                  <a:pt x="34378" y="72428"/>
                </a:cubicBezTo>
                <a:lnTo>
                  <a:pt x="1001" y="183658"/>
                </a:lnTo>
                <a:cubicBezTo>
                  <a:pt x="334" y="185827"/>
                  <a:pt x="0" y="188080"/>
                  <a:pt x="0" y="190333"/>
                </a:cubicBezTo>
                <a:cubicBezTo>
                  <a:pt x="0" y="203183"/>
                  <a:pt x="10430" y="213614"/>
                  <a:pt x="23281" y="213614"/>
                </a:cubicBezTo>
                <a:lnTo>
                  <a:pt x="190333" y="213614"/>
                </a:lnTo>
                <a:cubicBezTo>
                  <a:pt x="203183" y="213614"/>
                  <a:pt x="213614" y="203183"/>
                  <a:pt x="213614" y="190333"/>
                </a:cubicBezTo>
                <a:cubicBezTo>
                  <a:pt x="213614" y="188080"/>
                  <a:pt x="213280" y="185827"/>
                  <a:pt x="212612" y="183658"/>
                </a:cubicBezTo>
                <a:lnTo>
                  <a:pt x="179235" y="72470"/>
                </a:lnTo>
                <a:cubicBezTo>
                  <a:pt x="175856" y="61164"/>
                  <a:pt x="165467" y="53445"/>
                  <a:pt x="153660" y="53445"/>
                </a:cubicBezTo>
                <a:lnTo>
                  <a:pt x="144565" y="53445"/>
                </a:lnTo>
                <a:close/>
              </a:path>
            </a:pathLst>
          </a:custGeom>
          <a:solidFill>
            <a:srgbClr val="4C7E9A"/>
          </a:solidFill>
          <a:ln/>
        </p:spPr>
      </p:sp>
      <p:sp>
        <p:nvSpPr>
          <p:cNvPr id="10" name="Text 8"/>
          <p:cNvSpPr/>
          <p:nvPr/>
        </p:nvSpPr>
        <p:spPr>
          <a:xfrm>
            <a:off x="1036026" y="2584725"/>
            <a:ext cx="4827669" cy="299059"/>
          </a:xfrm>
          <a:prstGeom prst="rect">
            <a:avLst/>
          </a:prstGeom>
          <a:noFill/>
          <a:ln/>
        </p:spPr>
        <p:txBody>
          <a:bodyPr wrap="square" lIns="0" tIns="0" rIns="0" bIns="0" rtlCol="0" anchor="ctr"/>
          <a:lstStyle/>
          <a:p>
            <a:pPr>
              <a:lnSpc>
                <a:spcPct val="130000"/>
              </a:lnSpc>
            </a:pPr>
            <a:r>
              <a:rPr lang="en-US" sz="1514" b="1" dirty="0">
                <a:solidFill>
                  <a:srgbClr val="D1D5DB"/>
                </a:solidFill>
                <a:latin typeface="MiSans" pitchFamily="34" charset="0"/>
                <a:ea typeface="MiSans" pitchFamily="34" charset="-122"/>
                <a:cs typeface="MiSans" pitchFamily="34" charset="-120"/>
              </a:rPr>
              <a:t>样本权重调整</a:t>
            </a:r>
            <a:endParaRPr lang="en-US" sz="1600" dirty="0"/>
          </a:p>
        </p:txBody>
      </p:sp>
      <p:sp>
        <p:nvSpPr>
          <p:cNvPr id="11" name="Text 9"/>
          <p:cNvSpPr/>
          <p:nvPr/>
        </p:nvSpPr>
        <p:spPr>
          <a:xfrm>
            <a:off x="1036026" y="2883784"/>
            <a:ext cx="4816988" cy="256336"/>
          </a:xfrm>
          <a:prstGeom prst="rect">
            <a:avLst/>
          </a:prstGeom>
          <a:noFill/>
          <a:ln/>
        </p:spPr>
        <p:txBody>
          <a:bodyPr wrap="square" lIns="0" tIns="0" rIns="0" bIns="0" rtlCol="0" anchor="ctr"/>
          <a:lstStyle/>
          <a:p>
            <a:pPr>
              <a:lnSpc>
                <a:spcPct val="130000"/>
              </a:lnSpc>
            </a:pPr>
            <a:r>
              <a:rPr lang="en-US" sz="1346" dirty="0">
                <a:solidFill>
                  <a:srgbClr val="7E9AA8"/>
                </a:solidFill>
                <a:latin typeface="MiSans" pitchFamily="34" charset="0"/>
                <a:ea typeface="MiSans" pitchFamily="34" charset="-122"/>
                <a:cs typeface="MiSans" pitchFamily="34" charset="-120"/>
              </a:rPr>
              <a:t>根据预测误差自适应调整样本权重，迫使模型关注"难分类"样本</a:t>
            </a:r>
            <a:endParaRPr lang="en-US" sz="1600" dirty="0"/>
          </a:p>
        </p:txBody>
      </p:sp>
      <p:sp>
        <p:nvSpPr>
          <p:cNvPr id="12" name="Shape 10"/>
          <p:cNvSpPr/>
          <p:nvPr/>
        </p:nvSpPr>
        <p:spPr>
          <a:xfrm>
            <a:off x="654192" y="3311012"/>
            <a:ext cx="240315" cy="213614"/>
          </a:xfrm>
          <a:custGeom>
            <a:avLst/>
            <a:gdLst/>
            <a:ahLst/>
            <a:cxnLst/>
            <a:rect l="l" t="t" r="r" b="b"/>
            <a:pathLst>
              <a:path w="240315" h="213614">
                <a:moveTo>
                  <a:pt x="40053" y="40053"/>
                </a:moveTo>
                <a:cubicBezTo>
                  <a:pt x="40053" y="25325"/>
                  <a:pt x="52027" y="13351"/>
                  <a:pt x="66754" y="13351"/>
                </a:cubicBezTo>
                <a:lnTo>
                  <a:pt x="173561" y="13351"/>
                </a:lnTo>
                <a:cubicBezTo>
                  <a:pt x="188289" y="13351"/>
                  <a:pt x="200263" y="25325"/>
                  <a:pt x="200263" y="40053"/>
                </a:cubicBezTo>
                <a:lnTo>
                  <a:pt x="200263" y="133509"/>
                </a:lnTo>
                <a:cubicBezTo>
                  <a:pt x="200263" y="148236"/>
                  <a:pt x="188289" y="160210"/>
                  <a:pt x="173561" y="160210"/>
                </a:cubicBezTo>
                <a:lnTo>
                  <a:pt x="66754" y="160210"/>
                </a:lnTo>
                <a:cubicBezTo>
                  <a:pt x="52027" y="160210"/>
                  <a:pt x="40053" y="148236"/>
                  <a:pt x="40053" y="133509"/>
                </a:cubicBezTo>
                <a:lnTo>
                  <a:pt x="40053" y="40053"/>
                </a:lnTo>
                <a:close/>
                <a:moveTo>
                  <a:pt x="152158" y="48230"/>
                </a:moveTo>
                <a:cubicBezTo>
                  <a:pt x="147485" y="45309"/>
                  <a:pt x="141310" y="46728"/>
                  <a:pt x="138348" y="51401"/>
                </a:cubicBezTo>
                <a:lnTo>
                  <a:pt x="112731" y="92413"/>
                </a:lnTo>
                <a:lnTo>
                  <a:pt x="101466" y="77393"/>
                </a:lnTo>
                <a:cubicBezTo>
                  <a:pt x="98129" y="72971"/>
                  <a:pt x="91871" y="72053"/>
                  <a:pt x="87448" y="75391"/>
                </a:cubicBezTo>
                <a:cubicBezTo>
                  <a:pt x="83026" y="78728"/>
                  <a:pt x="82108" y="84987"/>
                  <a:pt x="85445" y="89409"/>
                </a:cubicBezTo>
                <a:lnTo>
                  <a:pt x="105472" y="116111"/>
                </a:lnTo>
                <a:cubicBezTo>
                  <a:pt x="107433" y="118739"/>
                  <a:pt x="110603" y="120241"/>
                  <a:pt x="113899" y="120116"/>
                </a:cubicBezTo>
                <a:cubicBezTo>
                  <a:pt x="117195" y="119991"/>
                  <a:pt x="120199" y="118239"/>
                  <a:pt x="121952" y="115401"/>
                </a:cubicBezTo>
                <a:lnTo>
                  <a:pt x="155329" y="61998"/>
                </a:lnTo>
                <a:cubicBezTo>
                  <a:pt x="158249" y="57325"/>
                  <a:pt x="156831" y="51150"/>
                  <a:pt x="152158" y="48188"/>
                </a:cubicBezTo>
                <a:close/>
                <a:moveTo>
                  <a:pt x="20026" y="130171"/>
                </a:moveTo>
                <a:lnTo>
                  <a:pt x="20026" y="173561"/>
                </a:lnTo>
                <a:cubicBezTo>
                  <a:pt x="20026" y="177233"/>
                  <a:pt x="23030" y="180237"/>
                  <a:pt x="26702" y="180237"/>
                </a:cubicBezTo>
                <a:lnTo>
                  <a:pt x="213614" y="180237"/>
                </a:lnTo>
                <a:cubicBezTo>
                  <a:pt x="217285" y="180237"/>
                  <a:pt x="220289" y="177233"/>
                  <a:pt x="220289" y="173561"/>
                </a:cubicBezTo>
                <a:lnTo>
                  <a:pt x="220289" y="130171"/>
                </a:lnTo>
                <a:cubicBezTo>
                  <a:pt x="220289" y="124622"/>
                  <a:pt x="224753" y="120158"/>
                  <a:pt x="230302" y="120158"/>
                </a:cubicBezTo>
                <a:cubicBezTo>
                  <a:pt x="235851" y="120158"/>
                  <a:pt x="240315" y="124622"/>
                  <a:pt x="240315" y="130171"/>
                </a:cubicBezTo>
                <a:lnTo>
                  <a:pt x="240315" y="173561"/>
                </a:lnTo>
                <a:cubicBezTo>
                  <a:pt x="240315" y="188289"/>
                  <a:pt x="228341" y="200263"/>
                  <a:pt x="213614" y="200263"/>
                </a:cubicBezTo>
                <a:lnTo>
                  <a:pt x="26702" y="200263"/>
                </a:lnTo>
                <a:cubicBezTo>
                  <a:pt x="11974" y="200263"/>
                  <a:pt x="0" y="188289"/>
                  <a:pt x="0" y="173561"/>
                </a:cubicBezTo>
                <a:lnTo>
                  <a:pt x="0" y="130171"/>
                </a:lnTo>
                <a:cubicBezTo>
                  <a:pt x="0" y="124622"/>
                  <a:pt x="4464" y="120158"/>
                  <a:pt x="10013" y="120158"/>
                </a:cubicBezTo>
                <a:cubicBezTo>
                  <a:pt x="15562" y="120158"/>
                  <a:pt x="20026" y="124622"/>
                  <a:pt x="20026" y="130171"/>
                </a:cubicBezTo>
                <a:close/>
              </a:path>
            </a:pathLst>
          </a:custGeom>
          <a:solidFill>
            <a:srgbClr val="4C7E9A"/>
          </a:solidFill>
          <a:ln/>
        </p:spPr>
      </p:sp>
      <p:sp>
        <p:nvSpPr>
          <p:cNvPr id="13" name="Text 11"/>
          <p:cNvSpPr/>
          <p:nvPr/>
        </p:nvSpPr>
        <p:spPr>
          <a:xfrm>
            <a:off x="1036026" y="3268289"/>
            <a:ext cx="3343054" cy="299059"/>
          </a:xfrm>
          <a:prstGeom prst="rect">
            <a:avLst/>
          </a:prstGeom>
          <a:noFill/>
          <a:ln/>
        </p:spPr>
        <p:txBody>
          <a:bodyPr wrap="square" lIns="0" tIns="0" rIns="0" bIns="0" rtlCol="0" anchor="ctr"/>
          <a:lstStyle/>
          <a:p>
            <a:pPr>
              <a:lnSpc>
                <a:spcPct val="130000"/>
              </a:lnSpc>
            </a:pPr>
            <a:r>
              <a:rPr lang="en-US" sz="1514" b="1" dirty="0">
                <a:solidFill>
                  <a:srgbClr val="D1D5DB"/>
                </a:solidFill>
                <a:latin typeface="MiSans" pitchFamily="34" charset="0"/>
                <a:ea typeface="MiSans" pitchFamily="34" charset="-122"/>
                <a:cs typeface="MiSans" pitchFamily="34" charset="-120"/>
              </a:rPr>
              <a:t>模型权重分配</a:t>
            </a:r>
            <a:endParaRPr lang="en-US" sz="1600" dirty="0"/>
          </a:p>
        </p:txBody>
      </p:sp>
      <p:sp>
        <p:nvSpPr>
          <p:cNvPr id="14" name="Text 12"/>
          <p:cNvSpPr/>
          <p:nvPr/>
        </p:nvSpPr>
        <p:spPr>
          <a:xfrm>
            <a:off x="1036026" y="3567348"/>
            <a:ext cx="3332373" cy="256336"/>
          </a:xfrm>
          <a:prstGeom prst="rect">
            <a:avLst/>
          </a:prstGeom>
          <a:noFill/>
          <a:ln/>
        </p:spPr>
        <p:txBody>
          <a:bodyPr wrap="square" lIns="0" tIns="0" rIns="0" bIns="0" rtlCol="0" anchor="ctr"/>
          <a:lstStyle/>
          <a:p>
            <a:pPr>
              <a:lnSpc>
                <a:spcPct val="130000"/>
              </a:lnSpc>
            </a:pPr>
            <a:r>
              <a:rPr lang="en-US" sz="1346" dirty="0">
                <a:solidFill>
                  <a:srgbClr val="7E9AA8"/>
                </a:solidFill>
                <a:latin typeface="MiSans" pitchFamily="34" charset="0"/>
                <a:ea typeface="MiSans" pitchFamily="34" charset="-122"/>
                <a:cs typeface="MiSans" pitchFamily="34" charset="-120"/>
              </a:rPr>
              <a:t>根据基学习器的表现赋予其不同的投票权重</a:t>
            </a:r>
            <a:endParaRPr lang="en-US" sz="1600" dirty="0"/>
          </a:p>
        </p:txBody>
      </p:sp>
      <p:sp>
        <p:nvSpPr>
          <p:cNvPr id="15" name="Shape 13"/>
          <p:cNvSpPr/>
          <p:nvPr/>
        </p:nvSpPr>
        <p:spPr>
          <a:xfrm>
            <a:off x="448589" y="4165466"/>
            <a:ext cx="7572604" cy="2648809"/>
          </a:xfrm>
          <a:custGeom>
            <a:avLst/>
            <a:gdLst/>
            <a:ahLst/>
            <a:cxnLst/>
            <a:rect l="l" t="t" r="r" b="b"/>
            <a:pathLst>
              <a:path w="7572604" h="2648809">
                <a:moveTo>
                  <a:pt x="42723" y="0"/>
                </a:moveTo>
                <a:lnTo>
                  <a:pt x="7487154" y="0"/>
                </a:lnTo>
                <a:cubicBezTo>
                  <a:pt x="7534347" y="0"/>
                  <a:pt x="7572604" y="38258"/>
                  <a:pt x="7572604" y="85451"/>
                </a:cubicBezTo>
                <a:lnTo>
                  <a:pt x="7572604" y="2563359"/>
                </a:lnTo>
                <a:cubicBezTo>
                  <a:pt x="7572604" y="2610552"/>
                  <a:pt x="7534347" y="2648809"/>
                  <a:pt x="7487154" y="2648809"/>
                </a:cubicBezTo>
                <a:lnTo>
                  <a:pt x="42723" y="2648809"/>
                </a:lnTo>
                <a:cubicBezTo>
                  <a:pt x="19143" y="2648809"/>
                  <a:pt x="0" y="2629666"/>
                  <a:pt x="0" y="2606087"/>
                </a:cubicBezTo>
                <a:lnTo>
                  <a:pt x="0" y="42723"/>
                </a:lnTo>
                <a:cubicBezTo>
                  <a:pt x="0" y="19143"/>
                  <a:pt x="19143" y="0"/>
                  <a:pt x="42723" y="0"/>
                </a:cubicBezTo>
                <a:close/>
              </a:path>
            </a:pathLst>
          </a:custGeom>
          <a:solidFill>
            <a:srgbClr val="3A5E78">
              <a:alpha val="20000"/>
            </a:srgbClr>
          </a:solidFill>
          <a:ln/>
        </p:spPr>
      </p:sp>
      <p:sp>
        <p:nvSpPr>
          <p:cNvPr id="16" name="Shape 14"/>
          <p:cNvSpPr/>
          <p:nvPr/>
        </p:nvSpPr>
        <p:spPr>
          <a:xfrm>
            <a:off x="448589" y="4165466"/>
            <a:ext cx="42723" cy="2648809"/>
          </a:xfrm>
          <a:custGeom>
            <a:avLst/>
            <a:gdLst/>
            <a:ahLst/>
            <a:cxnLst/>
            <a:rect l="l" t="t" r="r" b="b"/>
            <a:pathLst>
              <a:path w="42723" h="2648809">
                <a:moveTo>
                  <a:pt x="42723" y="0"/>
                </a:moveTo>
                <a:lnTo>
                  <a:pt x="42723" y="0"/>
                </a:lnTo>
                <a:lnTo>
                  <a:pt x="42723" y="2648809"/>
                </a:lnTo>
                <a:lnTo>
                  <a:pt x="42723" y="2648809"/>
                </a:lnTo>
                <a:cubicBezTo>
                  <a:pt x="19128" y="2648809"/>
                  <a:pt x="0" y="2629682"/>
                  <a:pt x="0" y="2606087"/>
                </a:cubicBezTo>
                <a:lnTo>
                  <a:pt x="0" y="42723"/>
                </a:lnTo>
                <a:cubicBezTo>
                  <a:pt x="0" y="19143"/>
                  <a:pt x="19143" y="0"/>
                  <a:pt x="42723" y="0"/>
                </a:cubicBezTo>
                <a:close/>
              </a:path>
            </a:pathLst>
          </a:custGeom>
          <a:solidFill>
            <a:srgbClr val="7E9AA8"/>
          </a:solidFill>
          <a:ln/>
        </p:spPr>
      </p:sp>
      <p:sp>
        <p:nvSpPr>
          <p:cNvPr id="17" name="Text 15"/>
          <p:cNvSpPr/>
          <p:nvPr/>
        </p:nvSpPr>
        <p:spPr>
          <a:xfrm>
            <a:off x="640841" y="4336357"/>
            <a:ext cx="7337629" cy="341782"/>
          </a:xfrm>
          <a:prstGeom prst="rect">
            <a:avLst/>
          </a:prstGeom>
          <a:noFill/>
          <a:ln/>
        </p:spPr>
        <p:txBody>
          <a:bodyPr wrap="square" lIns="0" tIns="0" rIns="0" bIns="0" rtlCol="0" anchor="ctr"/>
          <a:lstStyle/>
          <a:p>
            <a:pPr>
              <a:lnSpc>
                <a:spcPct val="110000"/>
              </a:lnSpc>
            </a:pPr>
            <a:r>
              <a:rPr lang="en-US" sz="2018" b="1" dirty="0">
                <a:solidFill>
                  <a:srgbClr val="7E9AA8"/>
                </a:solidFill>
                <a:latin typeface="MiSans" pitchFamily="34" charset="0"/>
                <a:ea typeface="MiSans" pitchFamily="34" charset="-122"/>
                <a:cs typeface="MiSans" pitchFamily="34" charset="-120"/>
              </a:rPr>
              <a:t>核心优势</a:t>
            </a:r>
            <a:endParaRPr lang="en-US" sz="1600" dirty="0"/>
          </a:p>
        </p:txBody>
      </p:sp>
      <p:sp>
        <p:nvSpPr>
          <p:cNvPr id="18" name="Shape 16"/>
          <p:cNvSpPr/>
          <p:nvPr/>
        </p:nvSpPr>
        <p:spPr>
          <a:xfrm>
            <a:off x="667543" y="4849030"/>
            <a:ext cx="213614" cy="213614"/>
          </a:xfrm>
          <a:custGeom>
            <a:avLst/>
            <a:gdLst/>
            <a:ahLst/>
            <a:cxnLst/>
            <a:rect l="l" t="t" r="r" b="b"/>
            <a:pathLst>
              <a:path w="213614" h="213614">
                <a:moveTo>
                  <a:pt x="200305" y="80105"/>
                </a:moveTo>
                <a:lnTo>
                  <a:pt x="203601" y="80105"/>
                </a:lnTo>
                <a:cubicBezTo>
                  <a:pt x="209149" y="80105"/>
                  <a:pt x="213614" y="75641"/>
                  <a:pt x="213614" y="70092"/>
                </a:cubicBezTo>
                <a:lnTo>
                  <a:pt x="213614" y="10013"/>
                </a:lnTo>
                <a:cubicBezTo>
                  <a:pt x="213614" y="5966"/>
                  <a:pt x="211194" y="2295"/>
                  <a:pt x="207439" y="751"/>
                </a:cubicBezTo>
                <a:cubicBezTo>
                  <a:pt x="203684" y="-793"/>
                  <a:pt x="199387" y="83"/>
                  <a:pt x="196508" y="2920"/>
                </a:cubicBezTo>
                <a:lnTo>
                  <a:pt x="174938" y="24532"/>
                </a:lnTo>
                <a:cubicBezTo>
                  <a:pt x="156455" y="9220"/>
                  <a:pt x="132674" y="0"/>
                  <a:pt x="106807" y="0"/>
                </a:cubicBezTo>
                <a:cubicBezTo>
                  <a:pt x="52986" y="0"/>
                  <a:pt x="8469" y="39802"/>
                  <a:pt x="1085" y="91579"/>
                </a:cubicBezTo>
                <a:cubicBezTo>
                  <a:pt x="42" y="98880"/>
                  <a:pt x="5090" y="105639"/>
                  <a:pt x="12391" y="106682"/>
                </a:cubicBezTo>
                <a:cubicBezTo>
                  <a:pt x="19693" y="107725"/>
                  <a:pt x="26451" y="102635"/>
                  <a:pt x="27494" y="95375"/>
                </a:cubicBezTo>
                <a:cubicBezTo>
                  <a:pt x="33043" y="56533"/>
                  <a:pt x="66462" y="26702"/>
                  <a:pt x="106807" y="26702"/>
                </a:cubicBezTo>
                <a:cubicBezTo>
                  <a:pt x="125331" y="26702"/>
                  <a:pt x="142353" y="32960"/>
                  <a:pt x="155913" y="43515"/>
                </a:cubicBezTo>
                <a:lnTo>
                  <a:pt x="136429" y="62999"/>
                </a:lnTo>
                <a:cubicBezTo>
                  <a:pt x="133550" y="65878"/>
                  <a:pt x="132716" y="70175"/>
                  <a:pt x="134260" y="73930"/>
                </a:cubicBezTo>
                <a:cubicBezTo>
                  <a:pt x="135803" y="77685"/>
                  <a:pt x="139475" y="80105"/>
                  <a:pt x="143522" y="80105"/>
                </a:cubicBezTo>
                <a:lnTo>
                  <a:pt x="200305" y="80105"/>
                </a:lnTo>
                <a:close/>
                <a:moveTo>
                  <a:pt x="212571" y="122035"/>
                </a:moveTo>
                <a:cubicBezTo>
                  <a:pt x="213614" y="114734"/>
                  <a:pt x="208524" y="107975"/>
                  <a:pt x="201264" y="106932"/>
                </a:cubicBezTo>
                <a:cubicBezTo>
                  <a:pt x="194005" y="105889"/>
                  <a:pt x="187204" y="110979"/>
                  <a:pt x="186161" y="118239"/>
                </a:cubicBezTo>
                <a:cubicBezTo>
                  <a:pt x="180612" y="157039"/>
                  <a:pt x="147193" y="186870"/>
                  <a:pt x="106849" y="186870"/>
                </a:cubicBezTo>
                <a:cubicBezTo>
                  <a:pt x="88324" y="186870"/>
                  <a:pt x="71302" y="180612"/>
                  <a:pt x="57742" y="170057"/>
                </a:cubicBezTo>
                <a:lnTo>
                  <a:pt x="77185" y="150614"/>
                </a:lnTo>
                <a:cubicBezTo>
                  <a:pt x="80063" y="147736"/>
                  <a:pt x="80898" y="143438"/>
                  <a:pt x="79354" y="139683"/>
                </a:cubicBezTo>
                <a:cubicBezTo>
                  <a:pt x="77810" y="135928"/>
                  <a:pt x="74139" y="133509"/>
                  <a:pt x="70092" y="133509"/>
                </a:cubicBezTo>
                <a:lnTo>
                  <a:pt x="10013" y="133509"/>
                </a:lnTo>
                <a:cubicBezTo>
                  <a:pt x="4464" y="133509"/>
                  <a:pt x="0" y="137973"/>
                  <a:pt x="0" y="143522"/>
                </a:cubicBezTo>
                <a:lnTo>
                  <a:pt x="0" y="203601"/>
                </a:lnTo>
                <a:cubicBezTo>
                  <a:pt x="0" y="207648"/>
                  <a:pt x="2420" y="211319"/>
                  <a:pt x="6175" y="212863"/>
                </a:cubicBezTo>
                <a:cubicBezTo>
                  <a:pt x="9930" y="214406"/>
                  <a:pt x="14227" y="213530"/>
                  <a:pt x="17106" y="210693"/>
                </a:cubicBezTo>
                <a:lnTo>
                  <a:pt x="38717" y="189081"/>
                </a:lnTo>
                <a:cubicBezTo>
                  <a:pt x="57158" y="204393"/>
                  <a:pt x="80940" y="213614"/>
                  <a:pt x="106807" y="213614"/>
                </a:cubicBezTo>
                <a:cubicBezTo>
                  <a:pt x="160627" y="213614"/>
                  <a:pt x="205144" y="173811"/>
                  <a:pt x="212529" y="122035"/>
                </a:cubicBezTo>
                <a:close/>
              </a:path>
            </a:pathLst>
          </a:custGeom>
          <a:solidFill>
            <a:srgbClr val="4C7E9A"/>
          </a:solidFill>
          <a:ln/>
        </p:spPr>
      </p:sp>
      <p:sp>
        <p:nvSpPr>
          <p:cNvPr id="19" name="Text 17"/>
          <p:cNvSpPr/>
          <p:nvPr/>
        </p:nvSpPr>
        <p:spPr>
          <a:xfrm>
            <a:off x="1036026" y="4806307"/>
            <a:ext cx="3172163" cy="299059"/>
          </a:xfrm>
          <a:prstGeom prst="rect">
            <a:avLst/>
          </a:prstGeom>
          <a:noFill/>
          <a:ln/>
        </p:spPr>
        <p:txBody>
          <a:bodyPr wrap="square" lIns="0" tIns="0" rIns="0" bIns="0" rtlCol="0" anchor="ctr"/>
          <a:lstStyle/>
          <a:p>
            <a:pPr>
              <a:lnSpc>
                <a:spcPct val="130000"/>
              </a:lnSpc>
            </a:pPr>
            <a:r>
              <a:rPr lang="en-US" sz="1514" b="1" dirty="0">
                <a:solidFill>
                  <a:srgbClr val="D1D5DB"/>
                </a:solidFill>
                <a:latin typeface="MiSans" pitchFamily="34" charset="0"/>
                <a:ea typeface="MiSans" pitchFamily="34" charset="-122"/>
                <a:cs typeface="MiSans" pitchFamily="34" charset="-120"/>
              </a:rPr>
              <a:t>自适应性</a:t>
            </a:r>
            <a:endParaRPr lang="en-US" sz="1600" dirty="0"/>
          </a:p>
        </p:txBody>
      </p:sp>
      <p:sp>
        <p:nvSpPr>
          <p:cNvPr id="20" name="Text 18"/>
          <p:cNvSpPr/>
          <p:nvPr/>
        </p:nvSpPr>
        <p:spPr>
          <a:xfrm>
            <a:off x="1036026" y="5105367"/>
            <a:ext cx="3161482" cy="256336"/>
          </a:xfrm>
          <a:prstGeom prst="rect">
            <a:avLst/>
          </a:prstGeom>
          <a:noFill/>
          <a:ln/>
        </p:spPr>
        <p:txBody>
          <a:bodyPr wrap="square" lIns="0" tIns="0" rIns="0" bIns="0" rtlCol="0" anchor="ctr"/>
          <a:lstStyle/>
          <a:p>
            <a:pPr>
              <a:lnSpc>
                <a:spcPct val="130000"/>
              </a:lnSpc>
            </a:pPr>
            <a:r>
              <a:rPr lang="en-US" sz="1346" dirty="0">
                <a:solidFill>
                  <a:srgbClr val="7E9AA8"/>
                </a:solidFill>
                <a:latin typeface="MiSans" pitchFamily="34" charset="0"/>
                <a:ea typeface="MiSans" pitchFamily="34" charset="-122"/>
                <a:cs typeface="MiSans" pitchFamily="34" charset="-120"/>
              </a:rPr>
              <a:t>前序分类器分错的样本会被后续重点关注</a:t>
            </a:r>
            <a:endParaRPr lang="en-US" sz="1600" dirty="0"/>
          </a:p>
        </p:txBody>
      </p:sp>
      <p:sp>
        <p:nvSpPr>
          <p:cNvPr id="21" name="Shape 19"/>
          <p:cNvSpPr/>
          <p:nvPr/>
        </p:nvSpPr>
        <p:spPr>
          <a:xfrm>
            <a:off x="640841" y="5489871"/>
            <a:ext cx="267017" cy="213614"/>
          </a:xfrm>
          <a:custGeom>
            <a:avLst/>
            <a:gdLst/>
            <a:ahLst/>
            <a:cxnLst/>
            <a:rect l="l" t="t" r="r" b="b"/>
            <a:pathLst>
              <a:path w="267017" h="213614">
                <a:moveTo>
                  <a:pt x="173519" y="87824"/>
                </a:moveTo>
                <a:cubicBezTo>
                  <a:pt x="178609" y="86447"/>
                  <a:pt x="183950" y="88867"/>
                  <a:pt x="186244" y="93581"/>
                </a:cubicBezTo>
                <a:lnTo>
                  <a:pt x="194005" y="109268"/>
                </a:lnTo>
                <a:cubicBezTo>
                  <a:pt x="198302" y="109852"/>
                  <a:pt x="202516" y="111021"/>
                  <a:pt x="206479" y="112648"/>
                </a:cubicBezTo>
                <a:lnTo>
                  <a:pt x="221082" y="102927"/>
                </a:lnTo>
                <a:cubicBezTo>
                  <a:pt x="225463" y="100006"/>
                  <a:pt x="231262" y="100590"/>
                  <a:pt x="234975" y="104304"/>
                </a:cubicBezTo>
                <a:lnTo>
                  <a:pt x="242986" y="112314"/>
                </a:lnTo>
                <a:cubicBezTo>
                  <a:pt x="246699" y="116027"/>
                  <a:pt x="247283" y="121868"/>
                  <a:pt x="244362" y="126207"/>
                </a:cubicBezTo>
                <a:lnTo>
                  <a:pt x="234641" y="140768"/>
                </a:lnTo>
                <a:cubicBezTo>
                  <a:pt x="235434" y="142729"/>
                  <a:pt x="236143" y="144773"/>
                  <a:pt x="236727" y="146901"/>
                </a:cubicBezTo>
                <a:cubicBezTo>
                  <a:pt x="237311" y="149029"/>
                  <a:pt x="237687" y="151115"/>
                  <a:pt x="237979" y="153243"/>
                </a:cubicBezTo>
                <a:lnTo>
                  <a:pt x="253708" y="161003"/>
                </a:lnTo>
                <a:cubicBezTo>
                  <a:pt x="258422" y="163339"/>
                  <a:pt x="260842" y="168680"/>
                  <a:pt x="259466" y="173728"/>
                </a:cubicBezTo>
                <a:lnTo>
                  <a:pt x="256545" y="184659"/>
                </a:lnTo>
                <a:cubicBezTo>
                  <a:pt x="255168" y="189707"/>
                  <a:pt x="250454" y="193128"/>
                  <a:pt x="245197" y="192795"/>
                </a:cubicBezTo>
                <a:lnTo>
                  <a:pt x="227674" y="191668"/>
                </a:lnTo>
                <a:cubicBezTo>
                  <a:pt x="225045" y="195048"/>
                  <a:pt x="222000" y="198177"/>
                  <a:pt x="218537" y="200847"/>
                </a:cubicBezTo>
                <a:lnTo>
                  <a:pt x="219663" y="218328"/>
                </a:lnTo>
                <a:cubicBezTo>
                  <a:pt x="219997" y="223585"/>
                  <a:pt x="216576" y="228341"/>
                  <a:pt x="211528" y="229676"/>
                </a:cubicBezTo>
                <a:lnTo>
                  <a:pt x="200597" y="232597"/>
                </a:lnTo>
                <a:cubicBezTo>
                  <a:pt x="195507" y="233974"/>
                  <a:pt x="190208" y="231554"/>
                  <a:pt x="187872" y="226839"/>
                </a:cubicBezTo>
                <a:lnTo>
                  <a:pt x="180111" y="211152"/>
                </a:lnTo>
                <a:cubicBezTo>
                  <a:pt x="175814" y="210568"/>
                  <a:pt x="171600" y="209400"/>
                  <a:pt x="167637" y="207773"/>
                </a:cubicBezTo>
                <a:lnTo>
                  <a:pt x="153034" y="217494"/>
                </a:lnTo>
                <a:cubicBezTo>
                  <a:pt x="148653" y="220414"/>
                  <a:pt x="142854" y="219830"/>
                  <a:pt x="139141" y="216117"/>
                </a:cubicBezTo>
                <a:lnTo>
                  <a:pt x="131130" y="208106"/>
                </a:lnTo>
                <a:cubicBezTo>
                  <a:pt x="127417" y="204393"/>
                  <a:pt x="126833" y="198594"/>
                  <a:pt x="129754" y="194213"/>
                </a:cubicBezTo>
                <a:lnTo>
                  <a:pt x="139475" y="179611"/>
                </a:lnTo>
                <a:cubicBezTo>
                  <a:pt x="138682" y="177650"/>
                  <a:pt x="137973" y="175605"/>
                  <a:pt x="137389" y="173478"/>
                </a:cubicBezTo>
                <a:cubicBezTo>
                  <a:pt x="136805" y="171350"/>
                  <a:pt x="136429" y="169222"/>
                  <a:pt x="136137" y="167136"/>
                </a:cubicBezTo>
                <a:lnTo>
                  <a:pt x="120408" y="159376"/>
                </a:lnTo>
                <a:cubicBezTo>
                  <a:pt x="115693" y="157039"/>
                  <a:pt x="113315" y="151699"/>
                  <a:pt x="114650" y="146651"/>
                </a:cubicBezTo>
                <a:lnTo>
                  <a:pt x="117571" y="135720"/>
                </a:lnTo>
                <a:cubicBezTo>
                  <a:pt x="118948" y="130671"/>
                  <a:pt x="123662" y="127250"/>
                  <a:pt x="128919" y="127584"/>
                </a:cubicBezTo>
                <a:lnTo>
                  <a:pt x="146400" y="128711"/>
                </a:lnTo>
                <a:cubicBezTo>
                  <a:pt x="149029" y="125331"/>
                  <a:pt x="152075" y="122202"/>
                  <a:pt x="155537" y="119532"/>
                </a:cubicBezTo>
                <a:lnTo>
                  <a:pt x="154411" y="102092"/>
                </a:lnTo>
                <a:cubicBezTo>
                  <a:pt x="154077" y="96835"/>
                  <a:pt x="157498" y="92079"/>
                  <a:pt x="162547" y="90744"/>
                </a:cubicBezTo>
                <a:lnTo>
                  <a:pt x="173478" y="87824"/>
                </a:lnTo>
                <a:close/>
                <a:moveTo>
                  <a:pt x="187079" y="141853"/>
                </a:moveTo>
                <a:cubicBezTo>
                  <a:pt x="176947" y="141864"/>
                  <a:pt x="168731" y="150099"/>
                  <a:pt x="168742" y="160231"/>
                </a:cubicBezTo>
                <a:cubicBezTo>
                  <a:pt x="168754" y="170363"/>
                  <a:pt x="176989" y="178579"/>
                  <a:pt x="187121" y="178568"/>
                </a:cubicBezTo>
                <a:cubicBezTo>
                  <a:pt x="197252" y="178556"/>
                  <a:pt x="205469" y="170321"/>
                  <a:pt x="205457" y="160189"/>
                </a:cubicBezTo>
                <a:cubicBezTo>
                  <a:pt x="205446" y="150058"/>
                  <a:pt x="197211" y="141841"/>
                  <a:pt x="187079" y="141853"/>
                </a:cubicBezTo>
                <a:close/>
                <a:moveTo>
                  <a:pt x="93831" y="-18983"/>
                </a:moveTo>
                <a:lnTo>
                  <a:pt x="104762" y="-16063"/>
                </a:lnTo>
                <a:cubicBezTo>
                  <a:pt x="109811" y="-14686"/>
                  <a:pt x="113232" y="-9930"/>
                  <a:pt x="112898" y="-4715"/>
                </a:cubicBezTo>
                <a:lnTo>
                  <a:pt x="111772" y="12725"/>
                </a:lnTo>
                <a:cubicBezTo>
                  <a:pt x="115235" y="15395"/>
                  <a:pt x="118280" y="18483"/>
                  <a:pt x="120909" y="21904"/>
                </a:cubicBezTo>
                <a:lnTo>
                  <a:pt x="138432" y="20777"/>
                </a:lnTo>
                <a:cubicBezTo>
                  <a:pt x="143647" y="20443"/>
                  <a:pt x="148403" y="23865"/>
                  <a:pt x="149780" y="28913"/>
                </a:cubicBezTo>
                <a:lnTo>
                  <a:pt x="152700" y="39844"/>
                </a:lnTo>
                <a:cubicBezTo>
                  <a:pt x="154035" y="44892"/>
                  <a:pt x="151657" y="50233"/>
                  <a:pt x="146943" y="52569"/>
                </a:cubicBezTo>
                <a:lnTo>
                  <a:pt x="131214" y="60329"/>
                </a:lnTo>
                <a:cubicBezTo>
                  <a:pt x="130922" y="62457"/>
                  <a:pt x="130505" y="64585"/>
                  <a:pt x="129962" y="66671"/>
                </a:cubicBezTo>
                <a:cubicBezTo>
                  <a:pt x="129420" y="68757"/>
                  <a:pt x="128669" y="70843"/>
                  <a:pt x="127876" y="72804"/>
                </a:cubicBezTo>
                <a:lnTo>
                  <a:pt x="137597" y="87406"/>
                </a:lnTo>
                <a:cubicBezTo>
                  <a:pt x="140518" y="91787"/>
                  <a:pt x="139934" y="97586"/>
                  <a:pt x="136220" y="101300"/>
                </a:cubicBezTo>
                <a:lnTo>
                  <a:pt x="128210" y="109310"/>
                </a:lnTo>
                <a:cubicBezTo>
                  <a:pt x="124497" y="113023"/>
                  <a:pt x="118697" y="113607"/>
                  <a:pt x="114317" y="110687"/>
                </a:cubicBezTo>
                <a:lnTo>
                  <a:pt x="99714" y="100966"/>
                </a:lnTo>
                <a:cubicBezTo>
                  <a:pt x="95751" y="102593"/>
                  <a:pt x="91537" y="103761"/>
                  <a:pt x="87239" y="104345"/>
                </a:cubicBezTo>
                <a:lnTo>
                  <a:pt x="79479" y="120033"/>
                </a:lnTo>
                <a:cubicBezTo>
                  <a:pt x="77143" y="124747"/>
                  <a:pt x="71803" y="127125"/>
                  <a:pt x="66754" y="125790"/>
                </a:cubicBezTo>
                <a:lnTo>
                  <a:pt x="55823" y="122870"/>
                </a:lnTo>
                <a:cubicBezTo>
                  <a:pt x="50733" y="121493"/>
                  <a:pt x="47354" y="116737"/>
                  <a:pt x="47688" y="111521"/>
                </a:cubicBezTo>
                <a:lnTo>
                  <a:pt x="48814" y="94040"/>
                </a:lnTo>
                <a:cubicBezTo>
                  <a:pt x="45351" y="91370"/>
                  <a:pt x="42306" y="88283"/>
                  <a:pt x="39677" y="84861"/>
                </a:cubicBezTo>
                <a:lnTo>
                  <a:pt x="22154" y="85988"/>
                </a:lnTo>
                <a:cubicBezTo>
                  <a:pt x="16939" y="86322"/>
                  <a:pt x="12183" y="82900"/>
                  <a:pt x="10806" y="77852"/>
                </a:cubicBezTo>
                <a:lnTo>
                  <a:pt x="7885" y="66921"/>
                </a:lnTo>
                <a:cubicBezTo>
                  <a:pt x="6550" y="61873"/>
                  <a:pt x="8928" y="56533"/>
                  <a:pt x="13643" y="54196"/>
                </a:cubicBezTo>
                <a:lnTo>
                  <a:pt x="29372" y="46436"/>
                </a:lnTo>
                <a:cubicBezTo>
                  <a:pt x="29664" y="44308"/>
                  <a:pt x="30081" y="42222"/>
                  <a:pt x="30624" y="40094"/>
                </a:cubicBezTo>
                <a:cubicBezTo>
                  <a:pt x="31208" y="37966"/>
                  <a:pt x="31875" y="35922"/>
                  <a:pt x="32710" y="33961"/>
                </a:cubicBezTo>
                <a:lnTo>
                  <a:pt x="22989" y="19400"/>
                </a:lnTo>
                <a:cubicBezTo>
                  <a:pt x="20068" y="15020"/>
                  <a:pt x="20652" y="9220"/>
                  <a:pt x="24365" y="5507"/>
                </a:cubicBezTo>
                <a:lnTo>
                  <a:pt x="32376" y="-2503"/>
                </a:lnTo>
                <a:cubicBezTo>
                  <a:pt x="36089" y="-6216"/>
                  <a:pt x="41888" y="-6801"/>
                  <a:pt x="46269" y="-3880"/>
                </a:cubicBezTo>
                <a:lnTo>
                  <a:pt x="60872" y="5841"/>
                </a:lnTo>
                <a:cubicBezTo>
                  <a:pt x="64835" y="4214"/>
                  <a:pt x="69049" y="3046"/>
                  <a:pt x="73346" y="2462"/>
                </a:cubicBezTo>
                <a:lnTo>
                  <a:pt x="81106" y="-13226"/>
                </a:lnTo>
                <a:cubicBezTo>
                  <a:pt x="83443" y="-17940"/>
                  <a:pt x="88741" y="-20318"/>
                  <a:pt x="93831" y="-18983"/>
                </a:cubicBezTo>
                <a:close/>
                <a:moveTo>
                  <a:pt x="80272" y="35046"/>
                </a:moveTo>
                <a:cubicBezTo>
                  <a:pt x="70140" y="35046"/>
                  <a:pt x="61915" y="43272"/>
                  <a:pt x="61915" y="53403"/>
                </a:cubicBezTo>
                <a:cubicBezTo>
                  <a:pt x="61915" y="63535"/>
                  <a:pt x="70140" y="71761"/>
                  <a:pt x="80272" y="71761"/>
                </a:cubicBezTo>
                <a:cubicBezTo>
                  <a:pt x="90404" y="71761"/>
                  <a:pt x="98629" y="63535"/>
                  <a:pt x="98629" y="53403"/>
                </a:cubicBezTo>
                <a:cubicBezTo>
                  <a:pt x="98629" y="43272"/>
                  <a:pt x="90404" y="35046"/>
                  <a:pt x="80272" y="35046"/>
                </a:cubicBezTo>
                <a:close/>
              </a:path>
            </a:pathLst>
          </a:custGeom>
          <a:solidFill>
            <a:srgbClr val="4C7E9A"/>
          </a:solidFill>
          <a:ln/>
        </p:spPr>
      </p:sp>
      <p:sp>
        <p:nvSpPr>
          <p:cNvPr id="22" name="Text 20"/>
          <p:cNvSpPr/>
          <p:nvPr/>
        </p:nvSpPr>
        <p:spPr>
          <a:xfrm>
            <a:off x="1036026" y="5447148"/>
            <a:ext cx="4197509" cy="299059"/>
          </a:xfrm>
          <a:prstGeom prst="rect">
            <a:avLst/>
          </a:prstGeom>
          <a:noFill/>
          <a:ln/>
        </p:spPr>
        <p:txBody>
          <a:bodyPr wrap="square" lIns="0" tIns="0" rIns="0" bIns="0" rtlCol="0" anchor="ctr"/>
          <a:lstStyle/>
          <a:p>
            <a:pPr>
              <a:lnSpc>
                <a:spcPct val="130000"/>
              </a:lnSpc>
            </a:pPr>
            <a:r>
              <a:rPr lang="en-US" sz="1514" b="1" dirty="0">
                <a:solidFill>
                  <a:srgbClr val="D1D5DB"/>
                </a:solidFill>
                <a:latin typeface="MiSans" pitchFamily="34" charset="0"/>
                <a:ea typeface="MiSans" pitchFamily="34" charset="-122"/>
                <a:cs typeface="MiSans" pitchFamily="34" charset="-120"/>
              </a:rPr>
              <a:t>灵活性</a:t>
            </a:r>
            <a:endParaRPr lang="en-US" sz="1600" dirty="0"/>
          </a:p>
        </p:txBody>
      </p:sp>
      <p:sp>
        <p:nvSpPr>
          <p:cNvPr id="23" name="Text 21"/>
          <p:cNvSpPr/>
          <p:nvPr/>
        </p:nvSpPr>
        <p:spPr>
          <a:xfrm>
            <a:off x="1036026" y="5746208"/>
            <a:ext cx="4186828" cy="256336"/>
          </a:xfrm>
          <a:prstGeom prst="rect">
            <a:avLst/>
          </a:prstGeom>
          <a:noFill/>
          <a:ln/>
        </p:spPr>
        <p:txBody>
          <a:bodyPr wrap="square" lIns="0" tIns="0" rIns="0" bIns="0" rtlCol="0" anchor="ctr"/>
          <a:lstStyle/>
          <a:p>
            <a:pPr>
              <a:lnSpc>
                <a:spcPct val="130000"/>
              </a:lnSpc>
            </a:pPr>
            <a:r>
              <a:rPr lang="en-US" sz="1346" dirty="0">
                <a:solidFill>
                  <a:srgbClr val="7E9AA8"/>
                </a:solidFill>
                <a:latin typeface="MiSans" pitchFamily="34" charset="0"/>
                <a:ea typeface="MiSans" pitchFamily="34" charset="-122"/>
                <a:cs typeface="MiSans" pitchFamily="34" charset="-120"/>
              </a:rPr>
              <a:t>不局限于特定基学习器，支持样本权重的分类算法均可</a:t>
            </a:r>
            <a:endParaRPr lang="en-US" sz="1600" dirty="0"/>
          </a:p>
        </p:txBody>
      </p:sp>
      <p:sp>
        <p:nvSpPr>
          <p:cNvPr id="24" name="Shape 22"/>
          <p:cNvSpPr/>
          <p:nvPr/>
        </p:nvSpPr>
        <p:spPr>
          <a:xfrm>
            <a:off x="680894" y="6130712"/>
            <a:ext cx="186912" cy="213614"/>
          </a:xfrm>
          <a:custGeom>
            <a:avLst/>
            <a:gdLst/>
            <a:ahLst/>
            <a:cxnLst/>
            <a:rect l="l" t="t" r="r" b="b"/>
            <a:pathLst>
              <a:path w="186912" h="213614">
                <a:moveTo>
                  <a:pt x="141352" y="-4130"/>
                </a:moveTo>
                <a:cubicBezTo>
                  <a:pt x="146317" y="-542"/>
                  <a:pt x="148153" y="5966"/>
                  <a:pt x="145900" y="11640"/>
                </a:cubicBezTo>
                <a:lnTo>
                  <a:pt x="113190" y="93456"/>
                </a:lnTo>
                <a:lnTo>
                  <a:pt x="173561" y="93456"/>
                </a:lnTo>
                <a:cubicBezTo>
                  <a:pt x="179193" y="93456"/>
                  <a:pt x="184200" y="96961"/>
                  <a:pt x="186119" y="102259"/>
                </a:cubicBezTo>
                <a:cubicBezTo>
                  <a:pt x="188038" y="107558"/>
                  <a:pt x="186411" y="113482"/>
                  <a:pt x="182114" y="117070"/>
                </a:cubicBezTo>
                <a:lnTo>
                  <a:pt x="61956" y="217202"/>
                </a:lnTo>
                <a:cubicBezTo>
                  <a:pt x="57242" y="221124"/>
                  <a:pt x="50525" y="221332"/>
                  <a:pt x="45560" y="217744"/>
                </a:cubicBezTo>
                <a:cubicBezTo>
                  <a:pt x="40595" y="214156"/>
                  <a:pt x="38759" y="207648"/>
                  <a:pt x="41012" y="201973"/>
                </a:cubicBezTo>
                <a:lnTo>
                  <a:pt x="73722" y="120158"/>
                </a:lnTo>
                <a:lnTo>
                  <a:pt x="13351" y="120158"/>
                </a:lnTo>
                <a:cubicBezTo>
                  <a:pt x="7718" y="120158"/>
                  <a:pt x="2712" y="116653"/>
                  <a:pt x="793" y="111354"/>
                </a:cubicBezTo>
                <a:cubicBezTo>
                  <a:pt x="-1126" y="106056"/>
                  <a:pt x="501" y="100131"/>
                  <a:pt x="4798" y="96543"/>
                </a:cubicBezTo>
                <a:lnTo>
                  <a:pt x="124956" y="-3588"/>
                </a:lnTo>
                <a:cubicBezTo>
                  <a:pt x="129670" y="-7510"/>
                  <a:pt x="136387" y="-7718"/>
                  <a:pt x="141352" y="-4130"/>
                </a:cubicBezTo>
                <a:close/>
              </a:path>
            </a:pathLst>
          </a:custGeom>
          <a:solidFill>
            <a:srgbClr val="4C7E9A"/>
          </a:solidFill>
          <a:ln/>
        </p:spPr>
      </p:sp>
      <p:sp>
        <p:nvSpPr>
          <p:cNvPr id="25" name="Text 23"/>
          <p:cNvSpPr/>
          <p:nvPr/>
        </p:nvSpPr>
        <p:spPr>
          <a:xfrm>
            <a:off x="1036026" y="6087989"/>
            <a:ext cx="1975926" cy="299059"/>
          </a:xfrm>
          <a:prstGeom prst="rect">
            <a:avLst/>
          </a:prstGeom>
          <a:noFill/>
          <a:ln/>
        </p:spPr>
        <p:txBody>
          <a:bodyPr wrap="square" lIns="0" tIns="0" rIns="0" bIns="0" rtlCol="0" anchor="ctr"/>
          <a:lstStyle/>
          <a:p>
            <a:pPr>
              <a:lnSpc>
                <a:spcPct val="130000"/>
              </a:lnSpc>
            </a:pPr>
            <a:r>
              <a:rPr lang="en-US" sz="1514" b="1" dirty="0">
                <a:solidFill>
                  <a:srgbClr val="D1D5DB"/>
                </a:solidFill>
                <a:latin typeface="MiSans" pitchFamily="34" charset="0"/>
                <a:ea typeface="MiSans" pitchFamily="34" charset="-122"/>
                <a:cs typeface="MiSans" pitchFamily="34" charset="-120"/>
              </a:rPr>
              <a:t>快速收敛</a:t>
            </a:r>
            <a:endParaRPr lang="en-US" sz="1600" dirty="0"/>
          </a:p>
        </p:txBody>
      </p:sp>
      <p:sp>
        <p:nvSpPr>
          <p:cNvPr id="26" name="Text 24"/>
          <p:cNvSpPr/>
          <p:nvPr/>
        </p:nvSpPr>
        <p:spPr>
          <a:xfrm>
            <a:off x="1036026" y="6387049"/>
            <a:ext cx="1965246" cy="256336"/>
          </a:xfrm>
          <a:prstGeom prst="rect">
            <a:avLst/>
          </a:prstGeom>
          <a:noFill/>
          <a:ln/>
        </p:spPr>
        <p:txBody>
          <a:bodyPr wrap="square" lIns="0" tIns="0" rIns="0" bIns="0" rtlCol="0" anchor="ctr"/>
          <a:lstStyle/>
          <a:p>
            <a:pPr>
              <a:lnSpc>
                <a:spcPct val="130000"/>
              </a:lnSpc>
            </a:pPr>
            <a:r>
              <a:rPr lang="en-US" sz="1346" dirty="0">
                <a:solidFill>
                  <a:srgbClr val="7E9AA8"/>
                </a:solidFill>
                <a:latin typeface="MiSans" pitchFamily="34" charset="0"/>
                <a:ea typeface="MiSans" pitchFamily="34" charset="-122"/>
                <a:cs typeface="MiSans" pitchFamily="34" charset="-120"/>
              </a:rPr>
              <a:t>以指数速率减小训练误差</a:t>
            </a:r>
            <a:endParaRPr lang="en-US" sz="1600" dirty="0"/>
          </a:p>
        </p:txBody>
      </p:sp>
      <p:sp>
        <p:nvSpPr>
          <p:cNvPr id="27" name="Shape 25"/>
          <p:cNvSpPr/>
          <p:nvPr/>
        </p:nvSpPr>
        <p:spPr>
          <a:xfrm>
            <a:off x="8238896" y="1543359"/>
            <a:ext cx="7583285" cy="4667459"/>
          </a:xfrm>
          <a:custGeom>
            <a:avLst/>
            <a:gdLst/>
            <a:ahLst/>
            <a:cxnLst/>
            <a:rect l="l" t="t" r="r" b="b"/>
            <a:pathLst>
              <a:path w="7583285" h="4667459">
                <a:moveTo>
                  <a:pt x="85461" y="0"/>
                </a:moveTo>
                <a:lnTo>
                  <a:pt x="7497824" y="0"/>
                </a:lnTo>
                <a:cubicBezTo>
                  <a:pt x="7545023" y="0"/>
                  <a:pt x="7583285" y="38262"/>
                  <a:pt x="7583285" y="85461"/>
                </a:cubicBezTo>
                <a:lnTo>
                  <a:pt x="7583285" y="4581997"/>
                </a:lnTo>
                <a:cubicBezTo>
                  <a:pt x="7583285" y="4629196"/>
                  <a:pt x="7545023" y="4667459"/>
                  <a:pt x="7497824" y="4667459"/>
                </a:cubicBezTo>
                <a:lnTo>
                  <a:pt x="85461" y="4667459"/>
                </a:lnTo>
                <a:cubicBezTo>
                  <a:pt x="38262" y="4667459"/>
                  <a:pt x="0" y="4629196"/>
                  <a:pt x="0" y="4581997"/>
                </a:cubicBezTo>
                <a:lnTo>
                  <a:pt x="0" y="85461"/>
                </a:lnTo>
                <a:cubicBezTo>
                  <a:pt x="0" y="38294"/>
                  <a:pt x="38294" y="0"/>
                  <a:pt x="85461" y="0"/>
                </a:cubicBezTo>
                <a:close/>
              </a:path>
            </a:pathLst>
          </a:custGeom>
          <a:solidFill>
            <a:srgbClr val="3A5E78">
              <a:alpha val="20000"/>
            </a:srgbClr>
          </a:solidFill>
          <a:ln w="12700">
            <a:solidFill>
              <a:srgbClr val="4C7E9A">
                <a:alpha val="50196"/>
              </a:srgbClr>
            </a:solidFill>
            <a:prstDash val="solid"/>
          </a:ln>
        </p:spPr>
      </p:sp>
      <p:sp>
        <p:nvSpPr>
          <p:cNvPr id="28" name="Text 26"/>
          <p:cNvSpPr/>
          <p:nvPr/>
        </p:nvSpPr>
        <p:spPr>
          <a:xfrm>
            <a:off x="8415127" y="1719590"/>
            <a:ext cx="7358991" cy="341782"/>
          </a:xfrm>
          <a:prstGeom prst="rect">
            <a:avLst/>
          </a:prstGeom>
          <a:noFill/>
          <a:ln/>
        </p:spPr>
        <p:txBody>
          <a:bodyPr wrap="square" lIns="0" tIns="0" rIns="0" bIns="0" rtlCol="0" anchor="ctr"/>
          <a:lstStyle/>
          <a:p>
            <a:pPr>
              <a:lnSpc>
                <a:spcPct val="110000"/>
              </a:lnSpc>
            </a:pPr>
            <a:r>
              <a:rPr lang="en-US" sz="2018" b="1" dirty="0">
                <a:solidFill>
                  <a:srgbClr val="4C7E9A"/>
                </a:solidFill>
                <a:latin typeface="MiSans" pitchFamily="34" charset="0"/>
                <a:ea typeface="MiSans" pitchFamily="34" charset="-122"/>
                <a:cs typeface="MiSans" pitchFamily="34" charset="-120"/>
              </a:rPr>
              <a:t>三轮迭代过程</a:t>
            </a:r>
            <a:endParaRPr lang="en-US" sz="1600" dirty="0"/>
          </a:p>
        </p:txBody>
      </p:sp>
      <p:sp>
        <p:nvSpPr>
          <p:cNvPr id="29" name="Shape 27"/>
          <p:cNvSpPr/>
          <p:nvPr/>
        </p:nvSpPr>
        <p:spPr>
          <a:xfrm>
            <a:off x="8415127" y="2189540"/>
            <a:ext cx="7230823" cy="897177"/>
          </a:xfrm>
          <a:custGeom>
            <a:avLst/>
            <a:gdLst/>
            <a:ahLst/>
            <a:cxnLst/>
            <a:rect l="l" t="t" r="r" b="b"/>
            <a:pathLst>
              <a:path w="7230823" h="897177">
                <a:moveTo>
                  <a:pt x="85447" y="0"/>
                </a:moveTo>
                <a:lnTo>
                  <a:pt x="7145375" y="0"/>
                </a:lnTo>
                <a:cubicBezTo>
                  <a:pt x="7192567" y="0"/>
                  <a:pt x="7230823" y="38256"/>
                  <a:pt x="7230823" y="85447"/>
                </a:cubicBezTo>
                <a:lnTo>
                  <a:pt x="7230823" y="811730"/>
                </a:lnTo>
                <a:cubicBezTo>
                  <a:pt x="7230823" y="858921"/>
                  <a:pt x="7192567" y="897177"/>
                  <a:pt x="7145375" y="897177"/>
                </a:cubicBezTo>
                <a:lnTo>
                  <a:pt x="85447" y="897177"/>
                </a:lnTo>
                <a:cubicBezTo>
                  <a:pt x="38256" y="897177"/>
                  <a:pt x="0" y="858921"/>
                  <a:pt x="0" y="811730"/>
                </a:cubicBezTo>
                <a:lnTo>
                  <a:pt x="0" y="85447"/>
                </a:lnTo>
                <a:cubicBezTo>
                  <a:pt x="0" y="38288"/>
                  <a:pt x="38288" y="0"/>
                  <a:pt x="85447" y="0"/>
                </a:cubicBezTo>
                <a:close/>
              </a:path>
            </a:pathLst>
          </a:custGeom>
          <a:solidFill>
            <a:srgbClr val="181A1F">
              <a:alpha val="50196"/>
            </a:srgbClr>
          </a:solidFill>
          <a:ln/>
        </p:spPr>
      </p:sp>
      <p:sp>
        <p:nvSpPr>
          <p:cNvPr id="30" name="Shape 28"/>
          <p:cNvSpPr/>
          <p:nvPr/>
        </p:nvSpPr>
        <p:spPr>
          <a:xfrm>
            <a:off x="8569997" y="2376452"/>
            <a:ext cx="192252" cy="192252"/>
          </a:xfrm>
          <a:custGeom>
            <a:avLst/>
            <a:gdLst/>
            <a:ahLst/>
            <a:cxnLst/>
            <a:rect l="l" t="t" r="r" b="b"/>
            <a:pathLst>
              <a:path w="192252" h="192252">
                <a:moveTo>
                  <a:pt x="0" y="96126"/>
                </a:moveTo>
                <a:cubicBezTo>
                  <a:pt x="0" y="43073"/>
                  <a:pt x="43073" y="0"/>
                  <a:pt x="96126" y="0"/>
                </a:cubicBezTo>
                <a:cubicBezTo>
                  <a:pt x="149180" y="0"/>
                  <a:pt x="192252" y="43073"/>
                  <a:pt x="192252" y="96126"/>
                </a:cubicBezTo>
                <a:cubicBezTo>
                  <a:pt x="192252" y="149180"/>
                  <a:pt x="149180" y="192252"/>
                  <a:pt x="96126" y="192252"/>
                </a:cubicBezTo>
                <a:cubicBezTo>
                  <a:pt x="43073" y="192252"/>
                  <a:pt x="0" y="149180"/>
                  <a:pt x="0" y="96126"/>
                </a:cubicBezTo>
                <a:close/>
                <a:moveTo>
                  <a:pt x="70705" y="55235"/>
                </a:moveTo>
                <a:cubicBezTo>
                  <a:pt x="67852" y="56812"/>
                  <a:pt x="66087" y="59854"/>
                  <a:pt x="66087" y="63083"/>
                </a:cubicBezTo>
                <a:lnTo>
                  <a:pt x="66087" y="129170"/>
                </a:lnTo>
                <a:cubicBezTo>
                  <a:pt x="66087" y="132436"/>
                  <a:pt x="67852" y="135440"/>
                  <a:pt x="70705" y="137017"/>
                </a:cubicBezTo>
                <a:cubicBezTo>
                  <a:pt x="73559" y="138594"/>
                  <a:pt x="77014" y="138557"/>
                  <a:pt x="79830" y="136830"/>
                </a:cubicBezTo>
                <a:lnTo>
                  <a:pt x="133901" y="103786"/>
                </a:lnTo>
                <a:cubicBezTo>
                  <a:pt x="136567" y="102134"/>
                  <a:pt x="138219" y="99243"/>
                  <a:pt x="138219" y="96089"/>
                </a:cubicBezTo>
                <a:cubicBezTo>
                  <a:pt x="138219" y="92934"/>
                  <a:pt x="136567" y="90043"/>
                  <a:pt x="133901" y="88391"/>
                </a:cubicBezTo>
                <a:lnTo>
                  <a:pt x="79830" y="55348"/>
                </a:lnTo>
                <a:cubicBezTo>
                  <a:pt x="77051" y="53658"/>
                  <a:pt x="73559" y="53583"/>
                  <a:pt x="70705" y="55160"/>
                </a:cubicBezTo>
                <a:close/>
              </a:path>
            </a:pathLst>
          </a:custGeom>
          <a:solidFill>
            <a:srgbClr val="4C7E9A"/>
          </a:solidFill>
          <a:ln/>
        </p:spPr>
      </p:sp>
      <p:sp>
        <p:nvSpPr>
          <p:cNvPr id="31" name="Text 29"/>
          <p:cNvSpPr/>
          <p:nvPr/>
        </p:nvSpPr>
        <p:spPr>
          <a:xfrm>
            <a:off x="8860810" y="2317708"/>
            <a:ext cx="6753097" cy="299059"/>
          </a:xfrm>
          <a:prstGeom prst="rect">
            <a:avLst/>
          </a:prstGeom>
          <a:noFill/>
          <a:ln/>
        </p:spPr>
        <p:txBody>
          <a:bodyPr wrap="square" lIns="0" tIns="0" rIns="0" bIns="0" rtlCol="0" anchor="ctr"/>
          <a:lstStyle/>
          <a:p>
            <a:pPr>
              <a:lnSpc>
                <a:spcPct val="130000"/>
              </a:lnSpc>
            </a:pPr>
            <a:r>
              <a:rPr lang="en-US" sz="1514" b="1" dirty="0">
                <a:solidFill>
                  <a:srgbClr val="D1D5DB"/>
                </a:solidFill>
                <a:latin typeface="MiSans" pitchFamily="34" charset="0"/>
                <a:ea typeface="MiSans" pitchFamily="34" charset="-122"/>
                <a:cs typeface="MiSans" pitchFamily="34" charset="-120"/>
              </a:rPr>
              <a:t>1. 初始化与基准建立</a:t>
            </a:r>
            <a:endParaRPr lang="en-US" sz="1600" dirty="0"/>
          </a:p>
        </p:txBody>
      </p:sp>
      <p:sp>
        <p:nvSpPr>
          <p:cNvPr id="32" name="Text 30"/>
          <p:cNvSpPr/>
          <p:nvPr/>
        </p:nvSpPr>
        <p:spPr>
          <a:xfrm>
            <a:off x="8543295" y="2702213"/>
            <a:ext cx="7059932" cy="256336"/>
          </a:xfrm>
          <a:prstGeom prst="rect">
            <a:avLst/>
          </a:prstGeom>
          <a:noFill/>
          <a:ln/>
        </p:spPr>
        <p:txBody>
          <a:bodyPr wrap="square" lIns="0" tIns="0" rIns="0" bIns="0" rtlCol="0" anchor="ctr"/>
          <a:lstStyle/>
          <a:p>
            <a:pPr>
              <a:lnSpc>
                <a:spcPct val="130000"/>
              </a:lnSpc>
            </a:pPr>
            <a:r>
              <a:rPr lang="en-US" sz="1346" dirty="0">
                <a:solidFill>
                  <a:srgbClr val="7E9AA8"/>
                </a:solidFill>
                <a:latin typeface="MiSans" pitchFamily="34" charset="0"/>
                <a:ea typeface="MiSans" pitchFamily="34" charset="-122"/>
                <a:cs typeface="MiSans" pitchFamily="34" charset="-120"/>
              </a:rPr>
              <a:t>所有样本权重相等：wᵢ⁽¹⁾ = 1/N</a:t>
            </a:r>
            <a:endParaRPr lang="en-US" sz="1600" dirty="0"/>
          </a:p>
        </p:txBody>
      </p:sp>
      <p:sp>
        <p:nvSpPr>
          <p:cNvPr id="33" name="Shape 31"/>
          <p:cNvSpPr/>
          <p:nvPr/>
        </p:nvSpPr>
        <p:spPr>
          <a:xfrm>
            <a:off x="8415127" y="3214886"/>
            <a:ext cx="7230823" cy="1623464"/>
          </a:xfrm>
          <a:custGeom>
            <a:avLst/>
            <a:gdLst/>
            <a:ahLst/>
            <a:cxnLst/>
            <a:rect l="l" t="t" r="r" b="b"/>
            <a:pathLst>
              <a:path w="7230823" h="1623464">
                <a:moveTo>
                  <a:pt x="85443" y="0"/>
                </a:moveTo>
                <a:lnTo>
                  <a:pt x="7145380" y="0"/>
                </a:lnTo>
                <a:cubicBezTo>
                  <a:pt x="7192569" y="0"/>
                  <a:pt x="7230823" y="38254"/>
                  <a:pt x="7230823" y="85443"/>
                </a:cubicBezTo>
                <a:lnTo>
                  <a:pt x="7230823" y="1538021"/>
                </a:lnTo>
                <a:cubicBezTo>
                  <a:pt x="7230823" y="1585210"/>
                  <a:pt x="7192569" y="1623464"/>
                  <a:pt x="7145380" y="1623464"/>
                </a:cubicBezTo>
                <a:lnTo>
                  <a:pt x="85443" y="1623464"/>
                </a:lnTo>
                <a:cubicBezTo>
                  <a:pt x="38254" y="1623464"/>
                  <a:pt x="0" y="1585210"/>
                  <a:pt x="0" y="1538021"/>
                </a:cubicBezTo>
                <a:lnTo>
                  <a:pt x="0" y="85443"/>
                </a:lnTo>
                <a:cubicBezTo>
                  <a:pt x="0" y="38254"/>
                  <a:pt x="38254" y="0"/>
                  <a:pt x="85443" y="0"/>
                </a:cubicBezTo>
                <a:close/>
              </a:path>
            </a:pathLst>
          </a:custGeom>
          <a:solidFill>
            <a:srgbClr val="181A1F">
              <a:alpha val="50196"/>
            </a:srgbClr>
          </a:solidFill>
          <a:ln/>
        </p:spPr>
      </p:sp>
      <p:sp>
        <p:nvSpPr>
          <p:cNvPr id="34" name="Shape 32"/>
          <p:cNvSpPr/>
          <p:nvPr/>
        </p:nvSpPr>
        <p:spPr>
          <a:xfrm>
            <a:off x="8569997" y="3401798"/>
            <a:ext cx="192252" cy="192252"/>
          </a:xfrm>
          <a:custGeom>
            <a:avLst/>
            <a:gdLst/>
            <a:ahLst/>
            <a:cxnLst/>
            <a:rect l="l" t="t" r="r" b="b"/>
            <a:pathLst>
              <a:path w="192252" h="192252">
                <a:moveTo>
                  <a:pt x="163978" y="28049"/>
                </a:moveTo>
                <a:lnTo>
                  <a:pt x="168221" y="32067"/>
                </a:lnTo>
                <a:lnTo>
                  <a:pt x="168221" y="12016"/>
                </a:lnTo>
                <a:cubicBezTo>
                  <a:pt x="168221" y="5370"/>
                  <a:pt x="173590" y="0"/>
                  <a:pt x="180237" y="0"/>
                </a:cubicBezTo>
                <a:cubicBezTo>
                  <a:pt x="186883" y="0"/>
                  <a:pt x="192252" y="5370"/>
                  <a:pt x="192252" y="12016"/>
                </a:cubicBezTo>
                <a:lnTo>
                  <a:pt x="192252" y="60079"/>
                </a:lnTo>
                <a:cubicBezTo>
                  <a:pt x="192252" y="66725"/>
                  <a:pt x="186883" y="72095"/>
                  <a:pt x="180237" y="72095"/>
                </a:cubicBezTo>
                <a:lnTo>
                  <a:pt x="132173" y="72095"/>
                </a:lnTo>
                <a:cubicBezTo>
                  <a:pt x="125527" y="72095"/>
                  <a:pt x="120158" y="66725"/>
                  <a:pt x="120158" y="60079"/>
                </a:cubicBezTo>
                <a:cubicBezTo>
                  <a:pt x="120158" y="53433"/>
                  <a:pt x="125527" y="48063"/>
                  <a:pt x="132173" y="48063"/>
                </a:cubicBezTo>
                <a:lnTo>
                  <a:pt x="150160" y="48063"/>
                </a:lnTo>
                <a:lnTo>
                  <a:pt x="147306" y="45360"/>
                </a:lnTo>
                <a:cubicBezTo>
                  <a:pt x="147231" y="45284"/>
                  <a:pt x="147156" y="45209"/>
                  <a:pt x="147081" y="45134"/>
                </a:cubicBezTo>
                <a:cubicBezTo>
                  <a:pt x="118919" y="16972"/>
                  <a:pt x="73296" y="16972"/>
                  <a:pt x="45134" y="45134"/>
                </a:cubicBezTo>
                <a:cubicBezTo>
                  <a:pt x="16972" y="73296"/>
                  <a:pt x="16972" y="118919"/>
                  <a:pt x="45134" y="147081"/>
                </a:cubicBezTo>
                <a:cubicBezTo>
                  <a:pt x="73296" y="175242"/>
                  <a:pt x="118919" y="175242"/>
                  <a:pt x="147081" y="147081"/>
                </a:cubicBezTo>
                <a:cubicBezTo>
                  <a:pt x="150160" y="144001"/>
                  <a:pt x="152901" y="140735"/>
                  <a:pt x="155304" y="137280"/>
                </a:cubicBezTo>
                <a:cubicBezTo>
                  <a:pt x="159096" y="131836"/>
                  <a:pt x="166606" y="130521"/>
                  <a:pt x="172051" y="134314"/>
                </a:cubicBezTo>
                <a:cubicBezTo>
                  <a:pt x="177495" y="138106"/>
                  <a:pt x="178810" y="145616"/>
                  <a:pt x="175017" y="151061"/>
                </a:cubicBezTo>
                <a:cubicBezTo>
                  <a:pt x="171825" y="155642"/>
                  <a:pt x="168183" y="159997"/>
                  <a:pt x="164090" y="164090"/>
                </a:cubicBezTo>
                <a:cubicBezTo>
                  <a:pt x="126541" y="201640"/>
                  <a:pt x="65674" y="201640"/>
                  <a:pt x="28162" y="164090"/>
                </a:cubicBezTo>
                <a:cubicBezTo>
                  <a:pt x="-9350" y="126541"/>
                  <a:pt x="-9387" y="65711"/>
                  <a:pt x="28162" y="28162"/>
                </a:cubicBezTo>
                <a:cubicBezTo>
                  <a:pt x="65674" y="-9350"/>
                  <a:pt x="126428" y="-9387"/>
                  <a:pt x="163978" y="28049"/>
                </a:cubicBezTo>
                <a:close/>
              </a:path>
            </a:pathLst>
          </a:custGeom>
          <a:solidFill>
            <a:srgbClr val="4C7E9A"/>
          </a:solidFill>
          <a:ln/>
        </p:spPr>
      </p:sp>
      <p:sp>
        <p:nvSpPr>
          <p:cNvPr id="35" name="Text 33"/>
          <p:cNvSpPr/>
          <p:nvPr/>
        </p:nvSpPr>
        <p:spPr>
          <a:xfrm>
            <a:off x="8860810" y="3343054"/>
            <a:ext cx="6753097" cy="299059"/>
          </a:xfrm>
          <a:prstGeom prst="rect">
            <a:avLst/>
          </a:prstGeom>
          <a:noFill/>
          <a:ln/>
        </p:spPr>
        <p:txBody>
          <a:bodyPr wrap="square" lIns="0" tIns="0" rIns="0" bIns="0" rtlCol="0" anchor="ctr"/>
          <a:lstStyle/>
          <a:p>
            <a:pPr>
              <a:lnSpc>
                <a:spcPct val="130000"/>
              </a:lnSpc>
            </a:pPr>
            <a:r>
              <a:rPr lang="en-US" sz="1514" b="1" dirty="0">
                <a:solidFill>
                  <a:srgbClr val="D1D5DB"/>
                </a:solidFill>
                <a:latin typeface="MiSans" pitchFamily="34" charset="0"/>
                <a:ea typeface="MiSans" pitchFamily="34" charset="-122"/>
                <a:cs typeface="MiSans" pitchFamily="34" charset="-120"/>
              </a:rPr>
              <a:t>2. 迭代式的权重演化</a:t>
            </a:r>
            <a:endParaRPr lang="en-US" sz="1600" dirty="0"/>
          </a:p>
        </p:txBody>
      </p:sp>
      <p:sp>
        <p:nvSpPr>
          <p:cNvPr id="36" name="Text 34"/>
          <p:cNvSpPr/>
          <p:nvPr/>
        </p:nvSpPr>
        <p:spPr>
          <a:xfrm>
            <a:off x="8543295" y="3727558"/>
            <a:ext cx="7049251" cy="213614"/>
          </a:xfrm>
          <a:prstGeom prst="rect">
            <a:avLst/>
          </a:prstGeom>
          <a:noFill/>
          <a:ln/>
        </p:spPr>
        <p:txBody>
          <a:bodyPr wrap="square" lIns="0" tIns="0" rIns="0" bIns="0" rtlCol="0" anchor="ctr"/>
          <a:lstStyle/>
          <a:p>
            <a:pPr>
              <a:lnSpc>
                <a:spcPct val="120000"/>
              </a:lnSpc>
            </a:pPr>
            <a:r>
              <a:rPr lang="en-US" sz="1177" dirty="0">
                <a:solidFill>
                  <a:srgbClr val="7E9AA8"/>
                </a:solidFill>
                <a:latin typeface="MiSans" pitchFamily="34" charset="0"/>
                <a:ea typeface="MiSans" pitchFamily="34" charset="-122"/>
                <a:cs typeface="MiSans" pitchFamily="34" charset="-120"/>
              </a:rPr>
              <a:t>① 训练弱分类器 g_t(x)</a:t>
            </a:r>
            <a:endParaRPr lang="en-US" sz="1600" dirty="0"/>
          </a:p>
        </p:txBody>
      </p:sp>
      <p:sp>
        <p:nvSpPr>
          <p:cNvPr id="37" name="Text 35"/>
          <p:cNvSpPr/>
          <p:nvPr/>
        </p:nvSpPr>
        <p:spPr>
          <a:xfrm>
            <a:off x="8543295" y="3983895"/>
            <a:ext cx="7049251" cy="213614"/>
          </a:xfrm>
          <a:prstGeom prst="rect">
            <a:avLst/>
          </a:prstGeom>
          <a:noFill/>
          <a:ln/>
        </p:spPr>
        <p:txBody>
          <a:bodyPr wrap="square" lIns="0" tIns="0" rIns="0" bIns="0" rtlCol="0" anchor="ctr"/>
          <a:lstStyle/>
          <a:p>
            <a:pPr>
              <a:lnSpc>
                <a:spcPct val="120000"/>
              </a:lnSpc>
            </a:pPr>
            <a:r>
              <a:rPr lang="en-US" sz="1177" dirty="0">
                <a:solidFill>
                  <a:srgbClr val="7E9AA8"/>
                </a:solidFill>
                <a:latin typeface="MiSans" pitchFamily="34" charset="0"/>
                <a:ea typeface="MiSans" pitchFamily="34" charset="-122"/>
                <a:cs typeface="MiSans" pitchFamily="34" charset="-120"/>
              </a:rPr>
              <a:t>② 计算加权错误率 ε_t</a:t>
            </a:r>
            <a:endParaRPr lang="en-US" sz="1600" dirty="0"/>
          </a:p>
        </p:txBody>
      </p:sp>
      <p:sp>
        <p:nvSpPr>
          <p:cNvPr id="38" name="Text 36"/>
          <p:cNvSpPr/>
          <p:nvPr/>
        </p:nvSpPr>
        <p:spPr>
          <a:xfrm>
            <a:off x="8543295" y="4240231"/>
            <a:ext cx="7049251" cy="213614"/>
          </a:xfrm>
          <a:prstGeom prst="rect">
            <a:avLst/>
          </a:prstGeom>
          <a:noFill/>
          <a:ln/>
        </p:spPr>
        <p:txBody>
          <a:bodyPr wrap="square" lIns="0" tIns="0" rIns="0" bIns="0" rtlCol="0" anchor="ctr"/>
          <a:lstStyle/>
          <a:p>
            <a:pPr>
              <a:lnSpc>
                <a:spcPct val="120000"/>
              </a:lnSpc>
            </a:pPr>
            <a:r>
              <a:rPr lang="en-US" sz="1177" dirty="0">
                <a:solidFill>
                  <a:srgbClr val="7E9AA8"/>
                </a:solidFill>
                <a:latin typeface="MiSans" pitchFamily="34" charset="0"/>
                <a:ea typeface="MiSans" pitchFamily="34" charset="-122"/>
                <a:cs typeface="MiSans" pitchFamily="34" charset="-120"/>
              </a:rPr>
              <a:t>③ 确定投票权重 α_t</a:t>
            </a:r>
            <a:endParaRPr lang="en-US" sz="1600" dirty="0"/>
          </a:p>
        </p:txBody>
      </p:sp>
      <p:sp>
        <p:nvSpPr>
          <p:cNvPr id="39" name="Text 37"/>
          <p:cNvSpPr/>
          <p:nvPr/>
        </p:nvSpPr>
        <p:spPr>
          <a:xfrm>
            <a:off x="8543295" y="4496568"/>
            <a:ext cx="7049251" cy="213614"/>
          </a:xfrm>
          <a:prstGeom prst="rect">
            <a:avLst/>
          </a:prstGeom>
          <a:noFill/>
          <a:ln/>
        </p:spPr>
        <p:txBody>
          <a:bodyPr wrap="square" lIns="0" tIns="0" rIns="0" bIns="0" rtlCol="0" anchor="ctr"/>
          <a:lstStyle/>
          <a:p>
            <a:pPr>
              <a:lnSpc>
                <a:spcPct val="120000"/>
              </a:lnSpc>
            </a:pPr>
            <a:r>
              <a:rPr lang="en-US" sz="1177" dirty="0">
                <a:solidFill>
                  <a:srgbClr val="7E9AA8"/>
                </a:solidFill>
                <a:latin typeface="MiSans" pitchFamily="34" charset="0"/>
                <a:ea typeface="MiSans" pitchFamily="34" charset="-122"/>
                <a:cs typeface="MiSans" pitchFamily="34" charset="-120"/>
              </a:rPr>
              <a:t>④ 更新样本权重</a:t>
            </a:r>
            <a:endParaRPr lang="en-US" sz="1600" dirty="0"/>
          </a:p>
        </p:txBody>
      </p:sp>
      <p:sp>
        <p:nvSpPr>
          <p:cNvPr id="40" name="Shape 38"/>
          <p:cNvSpPr/>
          <p:nvPr/>
        </p:nvSpPr>
        <p:spPr>
          <a:xfrm>
            <a:off x="8415127" y="4966518"/>
            <a:ext cx="7230823" cy="1068068"/>
          </a:xfrm>
          <a:custGeom>
            <a:avLst/>
            <a:gdLst/>
            <a:ahLst/>
            <a:cxnLst/>
            <a:rect l="l" t="t" r="r" b="b"/>
            <a:pathLst>
              <a:path w="7230823" h="1068068">
                <a:moveTo>
                  <a:pt x="85445" y="0"/>
                </a:moveTo>
                <a:lnTo>
                  <a:pt x="7145377" y="0"/>
                </a:lnTo>
                <a:cubicBezTo>
                  <a:pt x="7192567" y="0"/>
                  <a:pt x="7230823" y="38255"/>
                  <a:pt x="7230823" y="85445"/>
                </a:cubicBezTo>
                <a:lnTo>
                  <a:pt x="7230823" y="982623"/>
                </a:lnTo>
                <a:cubicBezTo>
                  <a:pt x="7230823" y="1029813"/>
                  <a:pt x="7192567" y="1068068"/>
                  <a:pt x="7145377" y="1068068"/>
                </a:cubicBezTo>
                <a:lnTo>
                  <a:pt x="85445" y="1068068"/>
                </a:lnTo>
                <a:cubicBezTo>
                  <a:pt x="38255" y="1068068"/>
                  <a:pt x="0" y="1029813"/>
                  <a:pt x="0" y="982623"/>
                </a:cubicBezTo>
                <a:lnTo>
                  <a:pt x="0" y="85445"/>
                </a:lnTo>
                <a:cubicBezTo>
                  <a:pt x="0" y="38287"/>
                  <a:pt x="38287" y="0"/>
                  <a:pt x="85445" y="0"/>
                </a:cubicBezTo>
                <a:close/>
              </a:path>
            </a:pathLst>
          </a:custGeom>
          <a:solidFill>
            <a:srgbClr val="181A1F">
              <a:alpha val="50196"/>
            </a:srgbClr>
          </a:solidFill>
          <a:ln/>
        </p:spPr>
      </p:sp>
      <p:sp>
        <p:nvSpPr>
          <p:cNvPr id="41" name="Shape 39"/>
          <p:cNvSpPr/>
          <p:nvPr/>
        </p:nvSpPr>
        <p:spPr>
          <a:xfrm>
            <a:off x="8569997" y="5153430"/>
            <a:ext cx="192252" cy="192252"/>
          </a:xfrm>
          <a:custGeom>
            <a:avLst/>
            <a:gdLst/>
            <a:ahLst/>
            <a:cxnLst/>
            <a:rect l="l" t="t" r="r" b="b"/>
            <a:pathLst>
              <a:path w="192252" h="192252">
                <a:moveTo>
                  <a:pt x="96126" y="192252"/>
                </a:moveTo>
                <a:cubicBezTo>
                  <a:pt x="149180" y="192252"/>
                  <a:pt x="192252" y="149180"/>
                  <a:pt x="192252" y="96126"/>
                </a:cubicBezTo>
                <a:cubicBezTo>
                  <a:pt x="192252" y="43073"/>
                  <a:pt x="149180" y="0"/>
                  <a:pt x="96126" y="0"/>
                </a:cubicBezTo>
                <a:cubicBezTo>
                  <a:pt x="43073" y="0"/>
                  <a:pt x="0" y="43073"/>
                  <a:pt x="0" y="96126"/>
                </a:cubicBezTo>
                <a:cubicBezTo>
                  <a:pt x="0" y="149180"/>
                  <a:pt x="43073" y="192252"/>
                  <a:pt x="96126" y="192252"/>
                </a:cubicBezTo>
                <a:close/>
                <a:moveTo>
                  <a:pt x="127818" y="79867"/>
                </a:moveTo>
                <a:lnTo>
                  <a:pt x="97778" y="127930"/>
                </a:lnTo>
                <a:cubicBezTo>
                  <a:pt x="96201" y="130446"/>
                  <a:pt x="93498" y="132023"/>
                  <a:pt x="90531" y="132173"/>
                </a:cubicBezTo>
                <a:cubicBezTo>
                  <a:pt x="87565" y="132324"/>
                  <a:pt x="84711" y="130972"/>
                  <a:pt x="82946" y="128569"/>
                </a:cubicBezTo>
                <a:lnTo>
                  <a:pt x="64923" y="104537"/>
                </a:lnTo>
                <a:cubicBezTo>
                  <a:pt x="61919" y="100557"/>
                  <a:pt x="62745" y="94925"/>
                  <a:pt x="66725" y="91921"/>
                </a:cubicBezTo>
                <a:cubicBezTo>
                  <a:pt x="70705" y="88917"/>
                  <a:pt x="76338" y="89743"/>
                  <a:pt x="79342" y="93723"/>
                </a:cubicBezTo>
                <a:lnTo>
                  <a:pt x="89480" y="107241"/>
                </a:lnTo>
                <a:lnTo>
                  <a:pt x="112535" y="70330"/>
                </a:lnTo>
                <a:cubicBezTo>
                  <a:pt x="115164" y="66124"/>
                  <a:pt x="120721" y="64810"/>
                  <a:pt x="124964" y="67476"/>
                </a:cubicBezTo>
                <a:cubicBezTo>
                  <a:pt x="129207" y="70142"/>
                  <a:pt x="130484" y="75662"/>
                  <a:pt x="127818" y="79905"/>
                </a:cubicBezTo>
                <a:close/>
              </a:path>
            </a:pathLst>
          </a:custGeom>
          <a:solidFill>
            <a:srgbClr val="4C7E9A"/>
          </a:solidFill>
          <a:ln/>
        </p:spPr>
      </p:sp>
      <p:sp>
        <p:nvSpPr>
          <p:cNvPr id="42" name="Text 40"/>
          <p:cNvSpPr/>
          <p:nvPr/>
        </p:nvSpPr>
        <p:spPr>
          <a:xfrm>
            <a:off x="8860810" y="5094686"/>
            <a:ext cx="6753097" cy="299059"/>
          </a:xfrm>
          <a:prstGeom prst="rect">
            <a:avLst/>
          </a:prstGeom>
          <a:noFill/>
          <a:ln/>
        </p:spPr>
        <p:txBody>
          <a:bodyPr wrap="square" lIns="0" tIns="0" rIns="0" bIns="0" rtlCol="0" anchor="ctr"/>
          <a:lstStyle/>
          <a:p>
            <a:pPr>
              <a:lnSpc>
                <a:spcPct val="130000"/>
              </a:lnSpc>
            </a:pPr>
            <a:r>
              <a:rPr lang="en-US" sz="1514" b="1" dirty="0">
                <a:solidFill>
                  <a:srgbClr val="D1D5DB"/>
                </a:solidFill>
                <a:latin typeface="MiSans" pitchFamily="34" charset="0"/>
                <a:ea typeface="MiSans" pitchFamily="34" charset="-122"/>
                <a:cs typeface="MiSans" pitchFamily="34" charset="-120"/>
              </a:rPr>
              <a:t>3. 最终模型的线性组合</a:t>
            </a:r>
            <a:endParaRPr lang="en-US" sz="1600" dirty="0"/>
          </a:p>
        </p:txBody>
      </p:sp>
      <p:sp>
        <p:nvSpPr>
          <p:cNvPr id="43" name="Shape 41"/>
          <p:cNvSpPr/>
          <p:nvPr/>
        </p:nvSpPr>
        <p:spPr>
          <a:xfrm>
            <a:off x="8543295" y="5479191"/>
            <a:ext cx="6974486" cy="427227"/>
          </a:xfrm>
          <a:custGeom>
            <a:avLst/>
            <a:gdLst/>
            <a:ahLst/>
            <a:cxnLst/>
            <a:rect l="l" t="t" r="r" b="b"/>
            <a:pathLst>
              <a:path w="6974486" h="427227">
                <a:moveTo>
                  <a:pt x="42723" y="0"/>
                </a:moveTo>
                <a:lnTo>
                  <a:pt x="6931763" y="0"/>
                </a:lnTo>
                <a:cubicBezTo>
                  <a:pt x="6955359" y="0"/>
                  <a:pt x="6974486" y="19128"/>
                  <a:pt x="6974486" y="42723"/>
                </a:cubicBezTo>
                <a:lnTo>
                  <a:pt x="6974486" y="384505"/>
                </a:lnTo>
                <a:cubicBezTo>
                  <a:pt x="6974486" y="408100"/>
                  <a:pt x="6955359" y="427227"/>
                  <a:pt x="6931763" y="427227"/>
                </a:cubicBezTo>
                <a:lnTo>
                  <a:pt x="42723" y="427227"/>
                </a:lnTo>
                <a:cubicBezTo>
                  <a:pt x="19128" y="427227"/>
                  <a:pt x="0" y="408100"/>
                  <a:pt x="0" y="384505"/>
                </a:cubicBezTo>
                <a:lnTo>
                  <a:pt x="0" y="42723"/>
                </a:lnTo>
                <a:cubicBezTo>
                  <a:pt x="0" y="19143"/>
                  <a:pt x="19143" y="0"/>
                  <a:pt x="42723" y="0"/>
                </a:cubicBezTo>
                <a:close/>
              </a:path>
            </a:pathLst>
          </a:custGeom>
          <a:solidFill>
            <a:srgbClr val="181A1F"/>
          </a:solidFill>
          <a:ln/>
        </p:spPr>
      </p:sp>
      <p:sp>
        <p:nvSpPr>
          <p:cNvPr id="44" name="Text 42"/>
          <p:cNvSpPr/>
          <p:nvPr/>
        </p:nvSpPr>
        <p:spPr>
          <a:xfrm>
            <a:off x="8586018" y="5564636"/>
            <a:ext cx="6889041" cy="256336"/>
          </a:xfrm>
          <a:prstGeom prst="rect">
            <a:avLst/>
          </a:prstGeom>
          <a:noFill/>
          <a:ln/>
        </p:spPr>
        <p:txBody>
          <a:bodyPr wrap="square" lIns="0" tIns="0" rIns="0" bIns="0" rtlCol="0" anchor="ctr"/>
          <a:lstStyle/>
          <a:p>
            <a:pPr algn="ctr">
              <a:lnSpc>
                <a:spcPct val="130000"/>
              </a:lnSpc>
            </a:pPr>
            <a:r>
              <a:rPr lang="en-US" sz="1346" dirty="0">
                <a:solidFill>
                  <a:srgbClr val="7E9AA8"/>
                </a:solidFill>
                <a:latin typeface="MiSans" pitchFamily="34" charset="0"/>
                <a:ea typeface="MiSans" pitchFamily="34" charset="-122"/>
                <a:cs typeface="MiSans" pitchFamily="34" charset="-120"/>
              </a:rPr>
              <a:t>G(x) = sign(∑ α_t g_t(x))</a:t>
            </a:r>
            <a:endParaRPr lang="en-US" sz="1600" dirty="0"/>
          </a:p>
        </p:txBody>
      </p:sp>
      <p:sp>
        <p:nvSpPr>
          <p:cNvPr id="45" name="Shape 43"/>
          <p:cNvSpPr/>
          <p:nvPr/>
        </p:nvSpPr>
        <p:spPr>
          <a:xfrm>
            <a:off x="8238896" y="6392389"/>
            <a:ext cx="7583285" cy="2317708"/>
          </a:xfrm>
          <a:custGeom>
            <a:avLst/>
            <a:gdLst/>
            <a:ahLst/>
            <a:cxnLst/>
            <a:rect l="l" t="t" r="r" b="b"/>
            <a:pathLst>
              <a:path w="7583285" h="2317708">
                <a:moveTo>
                  <a:pt x="85454" y="0"/>
                </a:moveTo>
                <a:lnTo>
                  <a:pt x="7497831" y="0"/>
                </a:lnTo>
                <a:cubicBezTo>
                  <a:pt x="7545026" y="0"/>
                  <a:pt x="7583285" y="38259"/>
                  <a:pt x="7583285" y="85454"/>
                </a:cubicBezTo>
                <a:lnTo>
                  <a:pt x="7583285" y="2232254"/>
                </a:lnTo>
                <a:cubicBezTo>
                  <a:pt x="7583285" y="2279449"/>
                  <a:pt x="7545026" y="2317708"/>
                  <a:pt x="7497831" y="2317708"/>
                </a:cubicBezTo>
                <a:lnTo>
                  <a:pt x="85454" y="2317708"/>
                </a:lnTo>
                <a:cubicBezTo>
                  <a:pt x="38259" y="2317708"/>
                  <a:pt x="0" y="2279449"/>
                  <a:pt x="0" y="2232254"/>
                </a:cubicBezTo>
                <a:lnTo>
                  <a:pt x="0" y="85454"/>
                </a:lnTo>
                <a:cubicBezTo>
                  <a:pt x="0" y="38259"/>
                  <a:pt x="38259" y="0"/>
                  <a:pt x="85454" y="0"/>
                </a:cubicBezTo>
                <a:close/>
              </a:path>
            </a:pathLst>
          </a:custGeom>
          <a:solidFill>
            <a:srgbClr val="3A5E78">
              <a:alpha val="20000"/>
            </a:srgbClr>
          </a:solidFill>
          <a:ln w="12700">
            <a:solidFill>
              <a:srgbClr val="4C7E9A">
                <a:alpha val="50196"/>
              </a:srgbClr>
            </a:solidFill>
            <a:prstDash val="solid"/>
          </a:ln>
        </p:spPr>
      </p:sp>
      <p:sp>
        <p:nvSpPr>
          <p:cNvPr id="46" name="Text 44"/>
          <p:cNvSpPr/>
          <p:nvPr/>
        </p:nvSpPr>
        <p:spPr>
          <a:xfrm>
            <a:off x="8415127" y="6568620"/>
            <a:ext cx="7358991" cy="341782"/>
          </a:xfrm>
          <a:prstGeom prst="rect">
            <a:avLst/>
          </a:prstGeom>
          <a:noFill/>
          <a:ln/>
        </p:spPr>
        <p:txBody>
          <a:bodyPr wrap="square" lIns="0" tIns="0" rIns="0" bIns="0" rtlCol="0" anchor="ctr"/>
          <a:lstStyle/>
          <a:p>
            <a:pPr>
              <a:lnSpc>
                <a:spcPct val="110000"/>
              </a:lnSpc>
            </a:pPr>
            <a:r>
              <a:rPr lang="en-US" sz="2018" b="1" dirty="0">
                <a:solidFill>
                  <a:srgbClr val="4C7E9A"/>
                </a:solidFill>
                <a:latin typeface="MiSans" pitchFamily="34" charset="0"/>
                <a:ea typeface="MiSans" pitchFamily="34" charset="-122"/>
                <a:cs typeface="MiSans" pitchFamily="34" charset="-120"/>
              </a:rPr>
              <a:t>关键公式</a:t>
            </a:r>
            <a:endParaRPr lang="en-US" sz="1600" dirty="0"/>
          </a:p>
        </p:txBody>
      </p:sp>
      <p:sp>
        <p:nvSpPr>
          <p:cNvPr id="47" name="Text 45"/>
          <p:cNvSpPr/>
          <p:nvPr/>
        </p:nvSpPr>
        <p:spPr>
          <a:xfrm>
            <a:off x="8415127" y="7038570"/>
            <a:ext cx="7316268" cy="256336"/>
          </a:xfrm>
          <a:prstGeom prst="rect">
            <a:avLst/>
          </a:prstGeom>
          <a:noFill/>
          <a:ln/>
        </p:spPr>
        <p:txBody>
          <a:bodyPr wrap="square" lIns="0" tIns="0" rIns="0" bIns="0" rtlCol="0" anchor="ctr"/>
          <a:lstStyle/>
          <a:p>
            <a:pPr>
              <a:lnSpc>
                <a:spcPct val="130000"/>
              </a:lnSpc>
            </a:pPr>
            <a:r>
              <a:rPr lang="en-US" sz="1346" b="1" dirty="0">
                <a:solidFill>
                  <a:srgbClr val="D1D5DB"/>
                </a:solidFill>
                <a:latin typeface="MiSans" pitchFamily="34" charset="0"/>
                <a:ea typeface="MiSans" pitchFamily="34" charset="-122"/>
                <a:cs typeface="MiSans" pitchFamily="34" charset="-120"/>
              </a:rPr>
              <a:t>投票权重计算</a:t>
            </a:r>
            <a:endParaRPr lang="en-US" sz="1600" dirty="0"/>
          </a:p>
        </p:txBody>
      </p:sp>
      <p:sp>
        <p:nvSpPr>
          <p:cNvPr id="48" name="Shape 46"/>
          <p:cNvSpPr/>
          <p:nvPr/>
        </p:nvSpPr>
        <p:spPr>
          <a:xfrm>
            <a:off x="8415127" y="7337629"/>
            <a:ext cx="7230823" cy="427227"/>
          </a:xfrm>
          <a:custGeom>
            <a:avLst/>
            <a:gdLst/>
            <a:ahLst/>
            <a:cxnLst/>
            <a:rect l="l" t="t" r="r" b="b"/>
            <a:pathLst>
              <a:path w="7230823" h="427227">
                <a:moveTo>
                  <a:pt x="42723" y="0"/>
                </a:moveTo>
                <a:lnTo>
                  <a:pt x="7188100" y="0"/>
                </a:lnTo>
                <a:cubicBezTo>
                  <a:pt x="7211695" y="0"/>
                  <a:pt x="7230823" y="19128"/>
                  <a:pt x="7230823" y="42723"/>
                </a:cubicBezTo>
                <a:lnTo>
                  <a:pt x="7230823" y="384505"/>
                </a:lnTo>
                <a:cubicBezTo>
                  <a:pt x="7230823" y="408100"/>
                  <a:pt x="7211695" y="427227"/>
                  <a:pt x="7188100" y="427227"/>
                </a:cubicBezTo>
                <a:lnTo>
                  <a:pt x="42723" y="427227"/>
                </a:lnTo>
                <a:cubicBezTo>
                  <a:pt x="19128" y="427227"/>
                  <a:pt x="0" y="408100"/>
                  <a:pt x="0" y="384505"/>
                </a:cubicBezTo>
                <a:lnTo>
                  <a:pt x="0" y="42723"/>
                </a:lnTo>
                <a:cubicBezTo>
                  <a:pt x="0" y="19143"/>
                  <a:pt x="19143" y="0"/>
                  <a:pt x="42723" y="0"/>
                </a:cubicBezTo>
                <a:close/>
              </a:path>
            </a:pathLst>
          </a:custGeom>
          <a:solidFill>
            <a:srgbClr val="181A1F"/>
          </a:solidFill>
          <a:ln/>
        </p:spPr>
      </p:sp>
      <p:sp>
        <p:nvSpPr>
          <p:cNvPr id="49" name="Text 47"/>
          <p:cNvSpPr/>
          <p:nvPr/>
        </p:nvSpPr>
        <p:spPr>
          <a:xfrm>
            <a:off x="8457850" y="7423075"/>
            <a:ext cx="7145377" cy="256336"/>
          </a:xfrm>
          <a:prstGeom prst="rect">
            <a:avLst/>
          </a:prstGeom>
          <a:noFill/>
          <a:ln/>
        </p:spPr>
        <p:txBody>
          <a:bodyPr wrap="square" lIns="0" tIns="0" rIns="0" bIns="0" rtlCol="0" anchor="ctr"/>
          <a:lstStyle/>
          <a:p>
            <a:pPr algn="ctr">
              <a:lnSpc>
                <a:spcPct val="130000"/>
              </a:lnSpc>
            </a:pPr>
            <a:r>
              <a:rPr lang="en-US" sz="1346" dirty="0">
                <a:solidFill>
                  <a:srgbClr val="7E9AA8"/>
                </a:solidFill>
                <a:latin typeface="MiSans" pitchFamily="34" charset="0"/>
                <a:ea typeface="MiSans" pitchFamily="34" charset="-122"/>
                <a:cs typeface="MiSans" pitchFamily="34" charset="-120"/>
              </a:rPr>
              <a:t>α_t = ½ ln((1-ε_t)/ε_t)</a:t>
            </a:r>
            <a:endParaRPr lang="en-US" sz="1600" dirty="0"/>
          </a:p>
        </p:txBody>
      </p:sp>
      <p:sp>
        <p:nvSpPr>
          <p:cNvPr id="50" name="Text 48"/>
          <p:cNvSpPr/>
          <p:nvPr/>
        </p:nvSpPr>
        <p:spPr>
          <a:xfrm>
            <a:off x="8415127" y="7850302"/>
            <a:ext cx="7316268" cy="256336"/>
          </a:xfrm>
          <a:prstGeom prst="rect">
            <a:avLst/>
          </a:prstGeom>
          <a:noFill/>
          <a:ln/>
        </p:spPr>
        <p:txBody>
          <a:bodyPr wrap="square" lIns="0" tIns="0" rIns="0" bIns="0" rtlCol="0" anchor="ctr"/>
          <a:lstStyle/>
          <a:p>
            <a:pPr>
              <a:lnSpc>
                <a:spcPct val="130000"/>
              </a:lnSpc>
            </a:pPr>
            <a:r>
              <a:rPr lang="en-US" sz="1346" b="1" dirty="0">
                <a:solidFill>
                  <a:srgbClr val="D1D5DB"/>
                </a:solidFill>
                <a:latin typeface="MiSans" pitchFamily="34" charset="0"/>
                <a:ea typeface="MiSans" pitchFamily="34" charset="-122"/>
                <a:cs typeface="MiSans" pitchFamily="34" charset="-120"/>
              </a:rPr>
              <a:t>样本权重更新</a:t>
            </a:r>
            <a:endParaRPr lang="en-US" sz="1600" dirty="0"/>
          </a:p>
        </p:txBody>
      </p:sp>
      <p:sp>
        <p:nvSpPr>
          <p:cNvPr id="51" name="Shape 49"/>
          <p:cNvSpPr/>
          <p:nvPr/>
        </p:nvSpPr>
        <p:spPr>
          <a:xfrm>
            <a:off x="8415127" y="8149361"/>
            <a:ext cx="7230823" cy="384505"/>
          </a:xfrm>
          <a:custGeom>
            <a:avLst/>
            <a:gdLst/>
            <a:ahLst/>
            <a:cxnLst/>
            <a:rect l="l" t="t" r="r" b="b"/>
            <a:pathLst>
              <a:path w="7230823" h="384505">
                <a:moveTo>
                  <a:pt x="42722" y="0"/>
                </a:moveTo>
                <a:lnTo>
                  <a:pt x="7188100" y="0"/>
                </a:lnTo>
                <a:cubicBezTo>
                  <a:pt x="7211695" y="0"/>
                  <a:pt x="7230823" y="19127"/>
                  <a:pt x="7230823" y="42722"/>
                </a:cubicBezTo>
                <a:lnTo>
                  <a:pt x="7230823" y="341782"/>
                </a:lnTo>
                <a:cubicBezTo>
                  <a:pt x="7230823" y="365377"/>
                  <a:pt x="7211695" y="384505"/>
                  <a:pt x="7188100" y="384505"/>
                </a:cubicBezTo>
                <a:lnTo>
                  <a:pt x="42722" y="384505"/>
                </a:lnTo>
                <a:cubicBezTo>
                  <a:pt x="19127" y="384505"/>
                  <a:pt x="0" y="365377"/>
                  <a:pt x="0" y="341782"/>
                </a:cubicBezTo>
                <a:lnTo>
                  <a:pt x="0" y="42722"/>
                </a:lnTo>
                <a:cubicBezTo>
                  <a:pt x="0" y="19143"/>
                  <a:pt x="19143" y="0"/>
                  <a:pt x="42722" y="0"/>
                </a:cubicBezTo>
                <a:close/>
              </a:path>
            </a:pathLst>
          </a:custGeom>
          <a:solidFill>
            <a:srgbClr val="181A1F"/>
          </a:solidFill>
          <a:ln/>
        </p:spPr>
      </p:sp>
      <p:sp>
        <p:nvSpPr>
          <p:cNvPr id="52" name="Text 50"/>
          <p:cNvSpPr/>
          <p:nvPr/>
        </p:nvSpPr>
        <p:spPr>
          <a:xfrm>
            <a:off x="8463190" y="8234807"/>
            <a:ext cx="7134696" cy="213614"/>
          </a:xfrm>
          <a:prstGeom prst="rect">
            <a:avLst/>
          </a:prstGeom>
          <a:noFill/>
          <a:ln/>
        </p:spPr>
        <p:txBody>
          <a:bodyPr wrap="square" lIns="0" tIns="0" rIns="0" bIns="0" rtlCol="0" anchor="ctr"/>
          <a:lstStyle/>
          <a:p>
            <a:pPr algn="ctr">
              <a:lnSpc>
                <a:spcPct val="120000"/>
              </a:lnSpc>
            </a:pPr>
            <a:r>
              <a:rPr lang="en-US" sz="1177" dirty="0">
                <a:solidFill>
                  <a:srgbClr val="7E9AA8"/>
                </a:solidFill>
                <a:latin typeface="MiSans" pitchFamily="34" charset="0"/>
                <a:ea typeface="MiSans" pitchFamily="34" charset="-122"/>
                <a:cs typeface="MiSans" pitchFamily="34" charset="-120"/>
              </a:rPr>
              <a:t>wᵢ⁽ᵗ⁺¹⁾ ∝ wᵢ⁽ᵗ⁾ exp(-α_t y_i g_t(x_i))</a:t>
            </a:r>
            <a:endParaRPr lang="en-US" sz="1600" dirty="0"/>
          </a:p>
        </p:txBody>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BOOSTING</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梯度提升（Gradient Boosting）框架</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24000"/>
            <a:ext cx="7577667" cy="2063750"/>
          </a:xfrm>
          <a:custGeom>
            <a:avLst/>
            <a:gdLst/>
            <a:ahLst/>
            <a:cxnLst/>
            <a:rect l="l" t="t" r="r" b="b"/>
            <a:pathLst>
              <a:path w="7577667" h="2063750">
                <a:moveTo>
                  <a:pt x="42333" y="0"/>
                </a:moveTo>
                <a:lnTo>
                  <a:pt x="7492991" y="0"/>
                </a:lnTo>
                <a:cubicBezTo>
                  <a:pt x="7539756" y="0"/>
                  <a:pt x="7577667" y="37911"/>
                  <a:pt x="7577667" y="84676"/>
                </a:cubicBezTo>
                <a:lnTo>
                  <a:pt x="7577667" y="1979074"/>
                </a:lnTo>
                <a:cubicBezTo>
                  <a:pt x="7577667" y="2025839"/>
                  <a:pt x="7539756" y="2063750"/>
                  <a:pt x="7492991" y="2063750"/>
                </a:cubicBezTo>
                <a:lnTo>
                  <a:pt x="42333" y="2063750"/>
                </a:lnTo>
                <a:cubicBezTo>
                  <a:pt x="18953" y="2063750"/>
                  <a:pt x="0" y="2044797"/>
                  <a:pt x="0" y="2021417"/>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24000"/>
            <a:ext cx="42333" cy="2063750"/>
          </a:xfrm>
          <a:custGeom>
            <a:avLst/>
            <a:gdLst/>
            <a:ahLst/>
            <a:cxnLst/>
            <a:rect l="l" t="t" r="r" b="b"/>
            <a:pathLst>
              <a:path w="42333" h="2063750">
                <a:moveTo>
                  <a:pt x="42333" y="0"/>
                </a:moveTo>
                <a:lnTo>
                  <a:pt x="42333" y="0"/>
                </a:lnTo>
                <a:lnTo>
                  <a:pt x="42333" y="2063750"/>
                </a:lnTo>
                <a:lnTo>
                  <a:pt x="42333" y="2063750"/>
                </a:lnTo>
                <a:cubicBezTo>
                  <a:pt x="18953" y="2063750"/>
                  <a:pt x="0" y="2044797"/>
                  <a:pt x="0" y="2021417"/>
                </a:cubicBezTo>
                <a:lnTo>
                  <a:pt x="0" y="42333"/>
                </a:lnTo>
                <a:cubicBezTo>
                  <a:pt x="0" y="18953"/>
                  <a:pt x="18953" y="0"/>
                  <a:pt x="42333" y="0"/>
                </a:cubicBezTo>
                <a:close/>
              </a:path>
            </a:pathLst>
          </a:custGeom>
          <a:solidFill>
            <a:srgbClr val="4C7E9A"/>
          </a:solidFill>
          <a:ln/>
        </p:spPr>
      </p:sp>
      <p:sp>
        <p:nvSpPr>
          <p:cNvPr id="7" name="Text 5"/>
          <p:cNvSpPr/>
          <p:nvPr/>
        </p:nvSpPr>
        <p:spPr>
          <a:xfrm>
            <a:off x="635000" y="1693333"/>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核心思想</a:t>
            </a:r>
            <a:endParaRPr lang="en-US" sz="1600" dirty="0"/>
          </a:p>
        </p:txBody>
      </p:sp>
      <p:sp>
        <p:nvSpPr>
          <p:cNvPr id="8" name="Text 6"/>
          <p:cNvSpPr/>
          <p:nvPr/>
        </p:nvSpPr>
        <p:spPr>
          <a:xfrm>
            <a:off x="635000" y="2159000"/>
            <a:ext cx="7313083" cy="624417"/>
          </a:xfrm>
          <a:prstGeom prst="rect">
            <a:avLst/>
          </a:prstGeom>
          <a:noFill/>
          <a:ln/>
        </p:spPr>
        <p:txBody>
          <a:bodyPr wrap="square" lIns="0" tIns="0" rIns="0" bIns="0" rtlCol="0" anchor="ctr"/>
          <a:lstStyle/>
          <a:p>
            <a:pPr>
              <a:lnSpc>
                <a:spcPct val="140000"/>
              </a:lnSpc>
            </a:pPr>
            <a:r>
              <a:rPr lang="en-US" sz="1500" dirty="0">
                <a:solidFill>
                  <a:srgbClr val="D1D5DB"/>
                </a:solidFill>
                <a:latin typeface="MiSans" pitchFamily="34" charset="0"/>
                <a:ea typeface="MiSans" pitchFamily="34" charset="-122"/>
                <a:cs typeface="MiSans" pitchFamily="34" charset="-120"/>
              </a:rPr>
              <a:t>梯度提升的核心是将Boosting推广为</a:t>
            </a:r>
            <a:pPr>
              <a:lnSpc>
                <a:spcPct val="140000"/>
              </a:lnSpc>
            </a:pPr>
            <a:r>
              <a:rPr lang="en-US" sz="1500" b="1" dirty="0">
                <a:solidFill>
                  <a:srgbClr val="4C7E9A"/>
                </a:solidFill>
                <a:latin typeface="MiSans" pitchFamily="34" charset="0"/>
                <a:ea typeface="MiSans" pitchFamily="34" charset="-122"/>
                <a:cs typeface="MiSans" pitchFamily="34" charset="-120"/>
              </a:rPr>
              <a:t>函数空间中的梯度下降优化</a:t>
            </a:r>
            <a:pPr>
              <a:lnSpc>
                <a:spcPct val="140000"/>
              </a:lnSpc>
            </a:pPr>
            <a:r>
              <a:rPr lang="en-US" sz="1500" dirty="0">
                <a:solidFill>
                  <a:srgbClr val="D1D5DB"/>
                </a:solidFill>
                <a:latin typeface="MiSans" pitchFamily="34" charset="0"/>
                <a:ea typeface="MiSans" pitchFamily="34" charset="-122"/>
                <a:cs typeface="MiSans" pitchFamily="34" charset="-120"/>
              </a:rPr>
              <a:t>。对于任意可微损失函数，通过迭代添加基学习器来逼近损失函数的负梯度方向，逐步减小整体损失。</a:t>
            </a:r>
            <a:endParaRPr lang="en-US" sz="1600" dirty="0"/>
          </a:p>
        </p:txBody>
      </p:sp>
      <p:sp>
        <p:nvSpPr>
          <p:cNvPr id="9" name="Shape 7"/>
          <p:cNvSpPr/>
          <p:nvPr/>
        </p:nvSpPr>
        <p:spPr>
          <a:xfrm>
            <a:off x="635000" y="2905125"/>
            <a:ext cx="7217833" cy="508000"/>
          </a:xfrm>
          <a:custGeom>
            <a:avLst/>
            <a:gdLst/>
            <a:ahLst/>
            <a:cxnLst/>
            <a:rect l="l" t="t" r="r" b="b"/>
            <a:pathLst>
              <a:path w="7217833" h="508000">
                <a:moveTo>
                  <a:pt x="84668" y="0"/>
                </a:moveTo>
                <a:lnTo>
                  <a:pt x="7133165" y="0"/>
                </a:lnTo>
                <a:cubicBezTo>
                  <a:pt x="7179926" y="0"/>
                  <a:pt x="7217833" y="37907"/>
                  <a:pt x="7217833" y="84668"/>
                </a:cubicBezTo>
                <a:lnTo>
                  <a:pt x="7217833" y="423332"/>
                </a:lnTo>
                <a:cubicBezTo>
                  <a:pt x="7217833" y="470093"/>
                  <a:pt x="7179926" y="508000"/>
                  <a:pt x="7133165" y="508000"/>
                </a:cubicBezTo>
                <a:lnTo>
                  <a:pt x="84668" y="508000"/>
                </a:lnTo>
                <a:cubicBezTo>
                  <a:pt x="37907" y="508000"/>
                  <a:pt x="0" y="470093"/>
                  <a:pt x="0" y="423332"/>
                </a:cubicBezTo>
                <a:lnTo>
                  <a:pt x="0" y="84668"/>
                </a:lnTo>
                <a:cubicBezTo>
                  <a:pt x="0" y="37939"/>
                  <a:pt x="37939" y="0"/>
                  <a:pt x="84668" y="0"/>
                </a:cubicBezTo>
                <a:close/>
              </a:path>
            </a:pathLst>
          </a:custGeom>
          <a:solidFill>
            <a:srgbClr val="181A1F">
              <a:alpha val="50196"/>
            </a:srgbClr>
          </a:solidFill>
          <a:ln/>
        </p:spPr>
      </p:sp>
      <p:sp>
        <p:nvSpPr>
          <p:cNvPr id="10" name="Shape 8"/>
          <p:cNvSpPr/>
          <p:nvPr/>
        </p:nvSpPr>
        <p:spPr>
          <a:xfrm>
            <a:off x="804333" y="3079750"/>
            <a:ext cx="127000" cy="169333"/>
          </a:xfrm>
          <a:custGeom>
            <a:avLst/>
            <a:gdLst/>
            <a:ahLst/>
            <a:cxnLst/>
            <a:rect l="l" t="t" r="r" b="b"/>
            <a:pathLst>
              <a:path w="127000" h="169333">
                <a:moveTo>
                  <a:pt x="96871" y="127000"/>
                </a:moveTo>
                <a:cubicBezTo>
                  <a:pt x="99285" y="119625"/>
                  <a:pt x="104114" y="112944"/>
                  <a:pt x="109571" y="107189"/>
                </a:cubicBezTo>
                <a:cubicBezTo>
                  <a:pt x="120385" y="95812"/>
                  <a:pt x="127000" y="80433"/>
                  <a:pt x="127000" y="63500"/>
                </a:cubicBezTo>
                <a:cubicBezTo>
                  <a:pt x="127000" y="28443"/>
                  <a:pt x="98557" y="0"/>
                  <a:pt x="63500" y="0"/>
                </a:cubicBezTo>
                <a:cubicBezTo>
                  <a:pt x="28443" y="0"/>
                  <a:pt x="0" y="28443"/>
                  <a:pt x="0" y="63500"/>
                </a:cubicBezTo>
                <a:cubicBezTo>
                  <a:pt x="0" y="80433"/>
                  <a:pt x="6615" y="95812"/>
                  <a:pt x="17429" y="107189"/>
                </a:cubicBezTo>
                <a:cubicBezTo>
                  <a:pt x="22886" y="112944"/>
                  <a:pt x="27748" y="119625"/>
                  <a:pt x="30129" y="127000"/>
                </a:cubicBezTo>
                <a:lnTo>
                  <a:pt x="96838" y="127000"/>
                </a:lnTo>
                <a:close/>
                <a:moveTo>
                  <a:pt x="95250" y="142875"/>
                </a:moveTo>
                <a:lnTo>
                  <a:pt x="31750" y="142875"/>
                </a:lnTo>
                <a:lnTo>
                  <a:pt x="31750" y="148167"/>
                </a:lnTo>
                <a:cubicBezTo>
                  <a:pt x="31750" y="162785"/>
                  <a:pt x="43590" y="174625"/>
                  <a:pt x="58208" y="174625"/>
                </a:cubicBezTo>
                <a:lnTo>
                  <a:pt x="68792" y="174625"/>
                </a:lnTo>
                <a:cubicBezTo>
                  <a:pt x="83410" y="174625"/>
                  <a:pt x="95250" y="162785"/>
                  <a:pt x="95250" y="148167"/>
                </a:cubicBezTo>
                <a:lnTo>
                  <a:pt x="95250" y="142875"/>
                </a:lnTo>
                <a:close/>
                <a:moveTo>
                  <a:pt x="60854" y="37042"/>
                </a:moveTo>
                <a:cubicBezTo>
                  <a:pt x="47691" y="37042"/>
                  <a:pt x="37042" y="47691"/>
                  <a:pt x="37042" y="60854"/>
                </a:cubicBezTo>
                <a:cubicBezTo>
                  <a:pt x="37042" y="65253"/>
                  <a:pt x="33503" y="68792"/>
                  <a:pt x="29104" y="68792"/>
                </a:cubicBezTo>
                <a:cubicBezTo>
                  <a:pt x="24705" y="68792"/>
                  <a:pt x="21167" y="65253"/>
                  <a:pt x="21167" y="60854"/>
                </a:cubicBezTo>
                <a:cubicBezTo>
                  <a:pt x="21167" y="38927"/>
                  <a:pt x="38927" y="21167"/>
                  <a:pt x="60854" y="21167"/>
                </a:cubicBezTo>
                <a:cubicBezTo>
                  <a:pt x="65253" y="21167"/>
                  <a:pt x="68792" y="24705"/>
                  <a:pt x="68792" y="29104"/>
                </a:cubicBezTo>
                <a:cubicBezTo>
                  <a:pt x="68792" y="33503"/>
                  <a:pt x="65253" y="37042"/>
                  <a:pt x="60854" y="37042"/>
                </a:cubicBezTo>
                <a:close/>
              </a:path>
            </a:pathLst>
          </a:custGeom>
          <a:solidFill>
            <a:srgbClr val="4C7E9A"/>
          </a:solidFill>
          <a:ln/>
        </p:spPr>
      </p:sp>
      <p:sp>
        <p:nvSpPr>
          <p:cNvPr id="11" name="Text 9"/>
          <p:cNvSpPr/>
          <p:nvPr/>
        </p:nvSpPr>
        <p:spPr>
          <a:xfrm>
            <a:off x="1044222" y="3032125"/>
            <a:ext cx="6766278"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类比梯度下降：在函数空间中寻找最优方向</a:t>
            </a:r>
            <a:endParaRPr lang="en-US" sz="1600" dirty="0"/>
          </a:p>
        </p:txBody>
      </p:sp>
      <p:sp>
        <p:nvSpPr>
          <p:cNvPr id="12" name="Shape 10"/>
          <p:cNvSpPr/>
          <p:nvPr/>
        </p:nvSpPr>
        <p:spPr>
          <a:xfrm>
            <a:off x="444500" y="3751792"/>
            <a:ext cx="7577667" cy="3683000"/>
          </a:xfrm>
          <a:custGeom>
            <a:avLst/>
            <a:gdLst/>
            <a:ahLst/>
            <a:cxnLst/>
            <a:rect l="l" t="t" r="r" b="b"/>
            <a:pathLst>
              <a:path w="7577667" h="3683000">
                <a:moveTo>
                  <a:pt x="42333" y="0"/>
                </a:moveTo>
                <a:lnTo>
                  <a:pt x="7492994" y="0"/>
                </a:lnTo>
                <a:cubicBezTo>
                  <a:pt x="7539758" y="0"/>
                  <a:pt x="7577667" y="37909"/>
                  <a:pt x="7577667" y="84672"/>
                </a:cubicBezTo>
                <a:lnTo>
                  <a:pt x="7577667" y="3598328"/>
                </a:lnTo>
                <a:cubicBezTo>
                  <a:pt x="7577667" y="3645091"/>
                  <a:pt x="7539758" y="3683000"/>
                  <a:pt x="7492994" y="3683000"/>
                </a:cubicBezTo>
                <a:lnTo>
                  <a:pt x="42333" y="3683000"/>
                </a:lnTo>
                <a:cubicBezTo>
                  <a:pt x="18953" y="3683000"/>
                  <a:pt x="0" y="3664047"/>
                  <a:pt x="0" y="3640667"/>
                </a:cubicBezTo>
                <a:lnTo>
                  <a:pt x="0" y="42333"/>
                </a:lnTo>
                <a:cubicBezTo>
                  <a:pt x="0" y="18953"/>
                  <a:pt x="18953" y="0"/>
                  <a:pt x="42333" y="0"/>
                </a:cubicBezTo>
                <a:close/>
              </a:path>
            </a:pathLst>
          </a:custGeom>
          <a:solidFill>
            <a:srgbClr val="3A5E78">
              <a:alpha val="20000"/>
            </a:srgbClr>
          </a:solidFill>
          <a:ln/>
        </p:spPr>
      </p:sp>
      <p:sp>
        <p:nvSpPr>
          <p:cNvPr id="13" name="Shape 11"/>
          <p:cNvSpPr/>
          <p:nvPr/>
        </p:nvSpPr>
        <p:spPr>
          <a:xfrm>
            <a:off x="444500" y="3751792"/>
            <a:ext cx="42333" cy="3683000"/>
          </a:xfrm>
          <a:custGeom>
            <a:avLst/>
            <a:gdLst/>
            <a:ahLst/>
            <a:cxnLst/>
            <a:rect l="l" t="t" r="r" b="b"/>
            <a:pathLst>
              <a:path w="42333" h="3683000">
                <a:moveTo>
                  <a:pt x="42333" y="0"/>
                </a:moveTo>
                <a:lnTo>
                  <a:pt x="42333" y="0"/>
                </a:lnTo>
                <a:lnTo>
                  <a:pt x="42333" y="3683000"/>
                </a:lnTo>
                <a:lnTo>
                  <a:pt x="42333" y="3683000"/>
                </a:lnTo>
                <a:cubicBezTo>
                  <a:pt x="18953" y="3683000"/>
                  <a:pt x="0" y="3664047"/>
                  <a:pt x="0" y="3640667"/>
                </a:cubicBezTo>
                <a:lnTo>
                  <a:pt x="0" y="42333"/>
                </a:lnTo>
                <a:cubicBezTo>
                  <a:pt x="0" y="18953"/>
                  <a:pt x="18953" y="0"/>
                  <a:pt x="42333" y="0"/>
                </a:cubicBezTo>
                <a:close/>
              </a:path>
            </a:pathLst>
          </a:custGeom>
          <a:solidFill>
            <a:srgbClr val="7E9AA8"/>
          </a:solidFill>
          <a:ln/>
        </p:spPr>
      </p:sp>
      <p:sp>
        <p:nvSpPr>
          <p:cNvPr id="14" name="Text 12"/>
          <p:cNvSpPr/>
          <p:nvPr/>
        </p:nvSpPr>
        <p:spPr>
          <a:xfrm>
            <a:off x="635000" y="3921125"/>
            <a:ext cx="7344833"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关键流程</a:t>
            </a:r>
            <a:endParaRPr lang="en-US" sz="1600" dirty="0"/>
          </a:p>
        </p:txBody>
      </p:sp>
      <p:sp>
        <p:nvSpPr>
          <p:cNvPr id="15" name="Shape 13"/>
          <p:cNvSpPr/>
          <p:nvPr/>
        </p:nvSpPr>
        <p:spPr>
          <a:xfrm>
            <a:off x="635000" y="4386792"/>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16" name="Text 14"/>
          <p:cNvSpPr/>
          <p:nvPr/>
        </p:nvSpPr>
        <p:spPr>
          <a:xfrm>
            <a:off x="592667" y="4386792"/>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1</a:t>
            </a:r>
            <a:endParaRPr lang="en-US" sz="1600" dirty="0"/>
          </a:p>
        </p:txBody>
      </p:sp>
      <p:sp>
        <p:nvSpPr>
          <p:cNvPr id="17" name="Text 15"/>
          <p:cNvSpPr/>
          <p:nvPr/>
        </p:nvSpPr>
        <p:spPr>
          <a:xfrm>
            <a:off x="1100667" y="4386792"/>
            <a:ext cx="162983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初始化常量基准</a:t>
            </a:r>
            <a:endParaRPr lang="en-US" sz="1600" dirty="0"/>
          </a:p>
        </p:txBody>
      </p:sp>
      <p:sp>
        <p:nvSpPr>
          <p:cNvPr id="18" name="Text 16"/>
          <p:cNvSpPr/>
          <p:nvPr/>
        </p:nvSpPr>
        <p:spPr>
          <a:xfrm>
            <a:off x="1100667" y="4683125"/>
            <a:ext cx="160866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寻找最优常数模型 F₀(x)</a:t>
            </a:r>
            <a:endParaRPr lang="en-US" sz="1600" dirty="0"/>
          </a:p>
        </p:txBody>
      </p:sp>
      <p:sp>
        <p:nvSpPr>
          <p:cNvPr id="19" name="Shape 17"/>
          <p:cNvSpPr/>
          <p:nvPr/>
        </p:nvSpPr>
        <p:spPr>
          <a:xfrm>
            <a:off x="635000" y="4979458"/>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20" name="Text 18"/>
          <p:cNvSpPr/>
          <p:nvPr/>
        </p:nvSpPr>
        <p:spPr>
          <a:xfrm>
            <a:off x="592667" y="4979458"/>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2</a:t>
            </a:r>
            <a:endParaRPr lang="en-US" sz="1600" dirty="0"/>
          </a:p>
        </p:txBody>
      </p:sp>
      <p:sp>
        <p:nvSpPr>
          <p:cNvPr id="21" name="Text 19"/>
          <p:cNvSpPr/>
          <p:nvPr/>
        </p:nvSpPr>
        <p:spPr>
          <a:xfrm>
            <a:off x="1100667" y="4979458"/>
            <a:ext cx="14287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计算伪残差</a:t>
            </a:r>
            <a:endParaRPr lang="en-US" sz="1600" dirty="0"/>
          </a:p>
        </p:txBody>
      </p:sp>
      <p:sp>
        <p:nvSpPr>
          <p:cNvPr id="22" name="Text 20"/>
          <p:cNvSpPr/>
          <p:nvPr/>
        </p:nvSpPr>
        <p:spPr>
          <a:xfrm>
            <a:off x="1100667" y="5275792"/>
            <a:ext cx="1407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负梯度 r_it = -∂L/∂F</a:t>
            </a:r>
            <a:endParaRPr lang="en-US" sz="1600" dirty="0"/>
          </a:p>
        </p:txBody>
      </p:sp>
      <p:sp>
        <p:nvSpPr>
          <p:cNvPr id="23" name="Shape 21"/>
          <p:cNvSpPr/>
          <p:nvPr/>
        </p:nvSpPr>
        <p:spPr>
          <a:xfrm>
            <a:off x="635000" y="5572125"/>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24" name="Text 22"/>
          <p:cNvSpPr/>
          <p:nvPr/>
        </p:nvSpPr>
        <p:spPr>
          <a:xfrm>
            <a:off x="592667" y="5572125"/>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3</a:t>
            </a:r>
            <a:endParaRPr lang="en-US" sz="1600" dirty="0"/>
          </a:p>
        </p:txBody>
      </p:sp>
      <p:sp>
        <p:nvSpPr>
          <p:cNvPr id="25" name="Text 23"/>
          <p:cNvSpPr/>
          <p:nvPr/>
        </p:nvSpPr>
        <p:spPr>
          <a:xfrm>
            <a:off x="1100667" y="5572125"/>
            <a:ext cx="2180167"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拟合残差</a:t>
            </a:r>
            <a:endParaRPr lang="en-US" sz="1600" dirty="0"/>
          </a:p>
        </p:txBody>
      </p:sp>
      <p:sp>
        <p:nvSpPr>
          <p:cNvPr id="26" name="Text 24"/>
          <p:cNvSpPr/>
          <p:nvPr/>
        </p:nvSpPr>
        <p:spPr>
          <a:xfrm>
            <a:off x="1100667" y="5868458"/>
            <a:ext cx="215900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训练基学习器 h_t(x) 拟合伪残差</a:t>
            </a:r>
            <a:endParaRPr lang="en-US" sz="1600" dirty="0"/>
          </a:p>
        </p:txBody>
      </p:sp>
      <p:sp>
        <p:nvSpPr>
          <p:cNvPr id="27" name="Shape 25"/>
          <p:cNvSpPr/>
          <p:nvPr/>
        </p:nvSpPr>
        <p:spPr>
          <a:xfrm>
            <a:off x="635000" y="6164792"/>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28" name="Text 26"/>
          <p:cNvSpPr/>
          <p:nvPr/>
        </p:nvSpPr>
        <p:spPr>
          <a:xfrm>
            <a:off x="592667" y="6164792"/>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4</a:t>
            </a:r>
            <a:endParaRPr lang="en-US" sz="1600" dirty="0"/>
          </a:p>
        </p:txBody>
      </p:sp>
      <p:sp>
        <p:nvSpPr>
          <p:cNvPr id="29" name="Text 27"/>
          <p:cNvSpPr/>
          <p:nvPr/>
        </p:nvSpPr>
        <p:spPr>
          <a:xfrm>
            <a:off x="1100667" y="6164792"/>
            <a:ext cx="12170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线搜索步长</a:t>
            </a:r>
            <a:endParaRPr lang="en-US" sz="1600" dirty="0"/>
          </a:p>
        </p:txBody>
      </p:sp>
      <p:sp>
        <p:nvSpPr>
          <p:cNvPr id="30" name="Text 28"/>
          <p:cNvSpPr/>
          <p:nvPr/>
        </p:nvSpPr>
        <p:spPr>
          <a:xfrm>
            <a:off x="1100667" y="6461125"/>
            <a:ext cx="1195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寻找最佳步长 γ_t</a:t>
            </a:r>
            <a:endParaRPr lang="en-US" sz="1600" dirty="0"/>
          </a:p>
        </p:txBody>
      </p:sp>
      <p:sp>
        <p:nvSpPr>
          <p:cNvPr id="31" name="Shape 29"/>
          <p:cNvSpPr/>
          <p:nvPr/>
        </p:nvSpPr>
        <p:spPr>
          <a:xfrm>
            <a:off x="635000" y="6757458"/>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32" name="Text 30"/>
          <p:cNvSpPr/>
          <p:nvPr/>
        </p:nvSpPr>
        <p:spPr>
          <a:xfrm>
            <a:off x="592667" y="6757458"/>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5</a:t>
            </a:r>
            <a:endParaRPr lang="en-US" sz="1600" dirty="0"/>
          </a:p>
        </p:txBody>
      </p:sp>
      <p:sp>
        <p:nvSpPr>
          <p:cNvPr id="33" name="Text 31"/>
          <p:cNvSpPr/>
          <p:nvPr/>
        </p:nvSpPr>
        <p:spPr>
          <a:xfrm>
            <a:off x="1100667" y="6757458"/>
            <a:ext cx="207433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更新模型</a:t>
            </a:r>
            <a:endParaRPr lang="en-US" sz="1600" dirty="0"/>
          </a:p>
        </p:txBody>
      </p:sp>
      <p:sp>
        <p:nvSpPr>
          <p:cNvPr id="34" name="Text 32"/>
          <p:cNvSpPr/>
          <p:nvPr/>
        </p:nvSpPr>
        <p:spPr>
          <a:xfrm>
            <a:off x="1100667" y="7053792"/>
            <a:ext cx="205316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F_t(x) = F_{t-1}(x) + νγ_t h_t(x)</a:t>
            </a:r>
            <a:endParaRPr lang="en-US" sz="1600" dirty="0"/>
          </a:p>
        </p:txBody>
      </p:sp>
      <p:sp>
        <p:nvSpPr>
          <p:cNvPr id="35" name="Shape 33"/>
          <p:cNvSpPr/>
          <p:nvPr/>
        </p:nvSpPr>
        <p:spPr>
          <a:xfrm>
            <a:off x="8239125" y="1529292"/>
            <a:ext cx="7588250" cy="3270250"/>
          </a:xfrm>
          <a:custGeom>
            <a:avLst/>
            <a:gdLst/>
            <a:ahLst/>
            <a:cxnLst/>
            <a:rect l="l" t="t" r="r" b="b"/>
            <a:pathLst>
              <a:path w="7588250" h="3270250">
                <a:moveTo>
                  <a:pt x="84667" y="0"/>
                </a:moveTo>
                <a:lnTo>
                  <a:pt x="7503583" y="0"/>
                </a:lnTo>
                <a:cubicBezTo>
                  <a:pt x="7550343" y="0"/>
                  <a:pt x="7588250" y="37907"/>
                  <a:pt x="7588250" y="84667"/>
                </a:cubicBezTo>
                <a:lnTo>
                  <a:pt x="7588250" y="3185583"/>
                </a:lnTo>
                <a:cubicBezTo>
                  <a:pt x="7588250" y="3232343"/>
                  <a:pt x="7550343" y="3270250"/>
                  <a:pt x="7503583" y="3270250"/>
                </a:cubicBezTo>
                <a:lnTo>
                  <a:pt x="84667" y="3270250"/>
                </a:lnTo>
                <a:cubicBezTo>
                  <a:pt x="37907" y="3270250"/>
                  <a:pt x="0" y="3232343"/>
                  <a:pt x="0" y="3185583"/>
                </a:cubicBezTo>
                <a:lnTo>
                  <a:pt x="0" y="84667"/>
                </a:lnTo>
                <a:cubicBezTo>
                  <a:pt x="0" y="37938"/>
                  <a:pt x="37938" y="0"/>
                  <a:pt x="84667" y="0"/>
                </a:cubicBezTo>
                <a:close/>
              </a:path>
            </a:pathLst>
          </a:custGeom>
          <a:solidFill>
            <a:srgbClr val="3A5E78">
              <a:alpha val="20000"/>
            </a:srgbClr>
          </a:solidFill>
          <a:ln w="12700">
            <a:solidFill>
              <a:srgbClr val="4C7E9A">
                <a:alpha val="50196"/>
              </a:srgbClr>
            </a:solidFill>
            <a:prstDash val="solid"/>
          </a:ln>
        </p:spPr>
      </p:sp>
      <p:sp>
        <p:nvSpPr>
          <p:cNvPr id="36" name="Text 34"/>
          <p:cNvSpPr/>
          <p:nvPr/>
        </p:nvSpPr>
        <p:spPr>
          <a:xfrm>
            <a:off x="8413750" y="1703917"/>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伪残差驱动的优化</a:t>
            </a:r>
            <a:endParaRPr lang="en-US" sz="1600" dirty="0"/>
          </a:p>
        </p:txBody>
      </p:sp>
      <p:sp>
        <p:nvSpPr>
          <p:cNvPr id="37" name="Text 35"/>
          <p:cNvSpPr/>
          <p:nvPr/>
        </p:nvSpPr>
        <p:spPr>
          <a:xfrm>
            <a:off x="8413750" y="2169583"/>
            <a:ext cx="7334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伪残差计算</a:t>
            </a:r>
            <a:endParaRPr lang="en-US" sz="1600" dirty="0"/>
          </a:p>
        </p:txBody>
      </p:sp>
      <p:sp>
        <p:nvSpPr>
          <p:cNvPr id="38" name="Shape 36"/>
          <p:cNvSpPr/>
          <p:nvPr/>
        </p:nvSpPr>
        <p:spPr>
          <a:xfrm>
            <a:off x="8413750" y="2550583"/>
            <a:ext cx="7239000" cy="550333"/>
          </a:xfrm>
          <a:custGeom>
            <a:avLst/>
            <a:gdLst/>
            <a:ahLst/>
            <a:cxnLst/>
            <a:rect l="l" t="t" r="r" b="b"/>
            <a:pathLst>
              <a:path w="7239000" h="550333">
                <a:moveTo>
                  <a:pt x="42332" y="0"/>
                </a:moveTo>
                <a:lnTo>
                  <a:pt x="7196668" y="0"/>
                </a:lnTo>
                <a:cubicBezTo>
                  <a:pt x="7220047" y="0"/>
                  <a:pt x="7239000" y="18953"/>
                  <a:pt x="7239000" y="42332"/>
                </a:cubicBezTo>
                <a:lnTo>
                  <a:pt x="7239000" y="508002"/>
                </a:lnTo>
                <a:cubicBezTo>
                  <a:pt x="7239000" y="531381"/>
                  <a:pt x="7220047" y="550333"/>
                  <a:pt x="7196668" y="550333"/>
                </a:cubicBezTo>
                <a:lnTo>
                  <a:pt x="42332" y="550333"/>
                </a:lnTo>
                <a:cubicBezTo>
                  <a:pt x="18953" y="550333"/>
                  <a:pt x="0" y="531381"/>
                  <a:pt x="0" y="508002"/>
                </a:cubicBezTo>
                <a:lnTo>
                  <a:pt x="0" y="42332"/>
                </a:lnTo>
                <a:cubicBezTo>
                  <a:pt x="0" y="18968"/>
                  <a:pt x="18968" y="0"/>
                  <a:pt x="42332" y="0"/>
                </a:cubicBezTo>
                <a:close/>
              </a:path>
            </a:pathLst>
          </a:custGeom>
          <a:solidFill>
            <a:srgbClr val="181A1F"/>
          </a:solidFill>
          <a:ln/>
        </p:spPr>
      </p:sp>
      <p:sp>
        <p:nvSpPr>
          <p:cNvPr id="39" name="Text 37"/>
          <p:cNvSpPr/>
          <p:nvPr/>
        </p:nvSpPr>
        <p:spPr>
          <a:xfrm>
            <a:off x="8493125" y="2677583"/>
            <a:ext cx="7080250" cy="296333"/>
          </a:xfrm>
          <a:prstGeom prst="rect">
            <a:avLst/>
          </a:prstGeom>
          <a:noFill/>
          <a:ln/>
        </p:spPr>
        <p:txBody>
          <a:bodyPr wrap="square" lIns="0" tIns="0" rIns="0" bIns="0" rtlCol="0" anchor="ctr"/>
          <a:lstStyle/>
          <a:p>
            <a:pPr algn="ctr">
              <a:lnSpc>
                <a:spcPct val="130000"/>
              </a:lnSpc>
            </a:pPr>
            <a:r>
              <a:rPr lang="en-US" sz="1500" dirty="0">
                <a:solidFill>
                  <a:srgbClr val="7E9AA8"/>
                </a:solidFill>
                <a:latin typeface="MiSans" pitchFamily="34" charset="0"/>
                <a:ea typeface="MiSans" pitchFamily="34" charset="-122"/>
                <a:cs typeface="MiSans" pitchFamily="34" charset="-120"/>
              </a:rPr>
              <a:t>r_{it} = -[∂L(y_i, F(x_i))/∂F(x_i)]</a:t>
            </a:r>
            <a:endParaRPr lang="en-US" sz="1600" dirty="0"/>
          </a:p>
        </p:txBody>
      </p:sp>
      <p:sp>
        <p:nvSpPr>
          <p:cNvPr id="40" name="Text 38"/>
          <p:cNvSpPr/>
          <p:nvPr/>
        </p:nvSpPr>
        <p:spPr>
          <a:xfrm>
            <a:off x="8413750" y="3185583"/>
            <a:ext cx="7313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负梯度指明了模型预测值应该调整的方向和幅度</a:t>
            </a:r>
            <a:endParaRPr lang="en-US" sz="1600" dirty="0"/>
          </a:p>
        </p:txBody>
      </p:sp>
      <p:sp>
        <p:nvSpPr>
          <p:cNvPr id="41" name="Text 39"/>
          <p:cNvSpPr/>
          <p:nvPr/>
        </p:nvSpPr>
        <p:spPr>
          <a:xfrm>
            <a:off x="8413750" y="3524250"/>
            <a:ext cx="7334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常见损失函数的伪残差</a:t>
            </a:r>
            <a:endParaRPr lang="en-US" sz="1600" dirty="0"/>
          </a:p>
        </p:txBody>
      </p:sp>
      <p:sp>
        <p:nvSpPr>
          <p:cNvPr id="42" name="Text 40"/>
          <p:cNvSpPr/>
          <p:nvPr/>
        </p:nvSpPr>
        <p:spPr>
          <a:xfrm>
            <a:off x="8413750" y="3905250"/>
            <a:ext cx="7313083" cy="211667"/>
          </a:xfrm>
          <a:prstGeom prst="rect">
            <a:avLst/>
          </a:prstGeom>
          <a:noFill/>
          <a:ln/>
        </p:spPr>
        <p:txBody>
          <a:bodyPr wrap="square" lIns="0" tIns="0" rIns="0" bIns="0" rtlCol="0" anchor="ctr"/>
          <a:lstStyle/>
          <a:p>
            <a:pPr>
              <a:lnSpc>
                <a:spcPct val="120000"/>
              </a:lnSpc>
            </a:pPr>
            <a:r>
              <a:rPr lang="en-US" sz="1167" b="1" dirty="0">
                <a:solidFill>
                  <a:srgbClr val="D1D5DB"/>
                </a:solidFill>
                <a:latin typeface="MiSans" pitchFamily="34" charset="0"/>
                <a:ea typeface="MiSans" pitchFamily="34" charset="-122"/>
                <a:cs typeface="MiSans" pitchFamily="34" charset="-120"/>
              </a:rPr>
              <a:t>平方损失 (L2)：</a:t>
            </a:r>
            <a:pPr>
              <a:lnSpc>
                <a:spcPct val="120000"/>
              </a:lnSpc>
            </a:pPr>
            <a:r>
              <a:rPr lang="en-US" sz="1167" dirty="0">
                <a:solidFill>
                  <a:srgbClr val="7E9AA8"/>
                </a:solidFill>
                <a:latin typeface="MiSans" pitchFamily="34" charset="0"/>
                <a:ea typeface="MiSans" pitchFamily="34" charset="-122"/>
                <a:cs typeface="MiSans" pitchFamily="34" charset="-120"/>
              </a:rPr>
              <a:t>r = y - F(x)（普通残差）</a:t>
            </a:r>
            <a:endParaRPr lang="en-US" sz="1600" dirty="0"/>
          </a:p>
        </p:txBody>
      </p:sp>
      <p:sp>
        <p:nvSpPr>
          <p:cNvPr id="43" name="Text 41"/>
          <p:cNvSpPr/>
          <p:nvPr/>
        </p:nvSpPr>
        <p:spPr>
          <a:xfrm>
            <a:off x="8413750" y="4159250"/>
            <a:ext cx="7313083" cy="211667"/>
          </a:xfrm>
          <a:prstGeom prst="rect">
            <a:avLst/>
          </a:prstGeom>
          <a:noFill/>
          <a:ln/>
        </p:spPr>
        <p:txBody>
          <a:bodyPr wrap="square" lIns="0" tIns="0" rIns="0" bIns="0" rtlCol="0" anchor="ctr"/>
          <a:lstStyle/>
          <a:p>
            <a:pPr>
              <a:lnSpc>
                <a:spcPct val="120000"/>
              </a:lnSpc>
            </a:pPr>
            <a:r>
              <a:rPr lang="en-US" sz="1167" b="1" dirty="0">
                <a:solidFill>
                  <a:srgbClr val="D1D5DB"/>
                </a:solidFill>
                <a:latin typeface="MiSans" pitchFamily="34" charset="0"/>
                <a:ea typeface="MiSans" pitchFamily="34" charset="-122"/>
                <a:cs typeface="MiSans" pitchFamily="34" charset="-120"/>
              </a:rPr>
              <a:t>绝对损失 (L1)：</a:t>
            </a:r>
            <a:pPr>
              <a:lnSpc>
                <a:spcPct val="120000"/>
              </a:lnSpc>
            </a:pPr>
            <a:r>
              <a:rPr lang="en-US" sz="1167" dirty="0">
                <a:solidFill>
                  <a:srgbClr val="7E9AA8"/>
                </a:solidFill>
                <a:latin typeface="MiSans" pitchFamily="34" charset="0"/>
                <a:ea typeface="MiSans" pitchFamily="34" charset="-122"/>
                <a:cs typeface="MiSans" pitchFamily="34" charset="-120"/>
              </a:rPr>
              <a:t>r = sign(y - F(x))</a:t>
            </a:r>
            <a:endParaRPr lang="en-US" sz="1600" dirty="0"/>
          </a:p>
        </p:txBody>
      </p:sp>
      <p:sp>
        <p:nvSpPr>
          <p:cNvPr id="44" name="Text 42"/>
          <p:cNvSpPr/>
          <p:nvPr/>
        </p:nvSpPr>
        <p:spPr>
          <a:xfrm>
            <a:off x="8413750" y="4413250"/>
            <a:ext cx="7313083" cy="211667"/>
          </a:xfrm>
          <a:prstGeom prst="rect">
            <a:avLst/>
          </a:prstGeom>
          <a:noFill/>
          <a:ln/>
        </p:spPr>
        <p:txBody>
          <a:bodyPr wrap="square" lIns="0" tIns="0" rIns="0" bIns="0" rtlCol="0" anchor="ctr"/>
          <a:lstStyle/>
          <a:p>
            <a:pPr>
              <a:lnSpc>
                <a:spcPct val="120000"/>
              </a:lnSpc>
            </a:pPr>
            <a:r>
              <a:rPr lang="en-US" sz="1167" b="1" dirty="0">
                <a:solidFill>
                  <a:srgbClr val="D1D5DB"/>
                </a:solidFill>
                <a:latin typeface="MiSans" pitchFamily="34" charset="0"/>
                <a:ea typeface="MiSans" pitchFamily="34" charset="-122"/>
                <a:cs typeface="MiSans" pitchFamily="34" charset="-120"/>
              </a:rPr>
              <a:t>对数损失：</a:t>
            </a:r>
            <a:pPr>
              <a:lnSpc>
                <a:spcPct val="120000"/>
              </a:lnSpc>
            </a:pPr>
            <a:r>
              <a:rPr lang="en-US" sz="1167" dirty="0">
                <a:solidFill>
                  <a:srgbClr val="7E9AA8"/>
                </a:solidFill>
                <a:latin typeface="MiSans" pitchFamily="34" charset="0"/>
                <a:ea typeface="MiSans" pitchFamily="34" charset="-122"/>
                <a:cs typeface="MiSans" pitchFamily="34" charset="-120"/>
              </a:rPr>
              <a:t>用于分类任务</a:t>
            </a:r>
            <a:endParaRPr lang="en-US" sz="1600" dirty="0"/>
          </a:p>
        </p:txBody>
      </p:sp>
      <p:sp>
        <p:nvSpPr>
          <p:cNvPr id="45" name="Shape 43"/>
          <p:cNvSpPr/>
          <p:nvPr/>
        </p:nvSpPr>
        <p:spPr>
          <a:xfrm>
            <a:off x="8239125" y="4979458"/>
            <a:ext cx="7588250" cy="3566583"/>
          </a:xfrm>
          <a:custGeom>
            <a:avLst/>
            <a:gdLst/>
            <a:ahLst/>
            <a:cxnLst/>
            <a:rect l="l" t="t" r="r" b="b"/>
            <a:pathLst>
              <a:path w="7588250" h="3566583">
                <a:moveTo>
                  <a:pt x="84671" y="0"/>
                </a:moveTo>
                <a:lnTo>
                  <a:pt x="7503579" y="0"/>
                </a:lnTo>
                <a:cubicBezTo>
                  <a:pt x="7550342" y="0"/>
                  <a:pt x="7588250" y="37908"/>
                  <a:pt x="7588250" y="84671"/>
                </a:cubicBezTo>
                <a:lnTo>
                  <a:pt x="7588250" y="3481913"/>
                </a:lnTo>
                <a:cubicBezTo>
                  <a:pt x="7588250" y="3528675"/>
                  <a:pt x="7550342" y="3566583"/>
                  <a:pt x="7503579" y="3566583"/>
                </a:cubicBezTo>
                <a:lnTo>
                  <a:pt x="84671" y="3566583"/>
                </a:lnTo>
                <a:cubicBezTo>
                  <a:pt x="37908" y="3566583"/>
                  <a:pt x="0" y="3528675"/>
                  <a:pt x="0" y="3481913"/>
                </a:cubicBezTo>
                <a:lnTo>
                  <a:pt x="0" y="84671"/>
                </a:lnTo>
                <a:cubicBezTo>
                  <a:pt x="0" y="37908"/>
                  <a:pt x="37908" y="0"/>
                  <a:pt x="84671" y="0"/>
                </a:cubicBezTo>
                <a:close/>
              </a:path>
            </a:pathLst>
          </a:custGeom>
          <a:solidFill>
            <a:srgbClr val="3A5E78">
              <a:alpha val="20000"/>
            </a:srgbClr>
          </a:solidFill>
          <a:ln w="12700">
            <a:solidFill>
              <a:srgbClr val="4C7E9A">
                <a:alpha val="50196"/>
              </a:srgbClr>
            </a:solidFill>
            <a:prstDash val="solid"/>
          </a:ln>
        </p:spPr>
      </p:sp>
      <p:sp>
        <p:nvSpPr>
          <p:cNvPr id="46" name="Text 44"/>
          <p:cNvSpPr/>
          <p:nvPr/>
        </p:nvSpPr>
        <p:spPr>
          <a:xfrm>
            <a:off x="8413750" y="5154083"/>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损失函数的灵活适配</a:t>
            </a:r>
            <a:endParaRPr lang="en-US" sz="1600" dirty="0"/>
          </a:p>
        </p:txBody>
      </p:sp>
      <p:sp>
        <p:nvSpPr>
          <p:cNvPr id="47" name="Text 45"/>
          <p:cNvSpPr/>
          <p:nvPr/>
        </p:nvSpPr>
        <p:spPr>
          <a:xfrm>
            <a:off x="8413750" y="5619750"/>
            <a:ext cx="7323667" cy="550333"/>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Gradient Boosting的强大之处在于其对损失函数的普适性。只要损失函数可微，就可以推导出相应的伪残差公式。</a:t>
            </a:r>
            <a:endParaRPr lang="en-US" sz="1600" dirty="0"/>
          </a:p>
        </p:txBody>
      </p:sp>
      <p:sp>
        <p:nvSpPr>
          <p:cNvPr id="48" name="Shape 46"/>
          <p:cNvSpPr/>
          <p:nvPr/>
        </p:nvSpPr>
        <p:spPr>
          <a:xfrm>
            <a:off x="8413750" y="6297083"/>
            <a:ext cx="7239000" cy="635000"/>
          </a:xfrm>
          <a:custGeom>
            <a:avLst/>
            <a:gdLst/>
            <a:ahLst/>
            <a:cxnLst/>
            <a:rect l="l" t="t" r="r" b="b"/>
            <a:pathLst>
              <a:path w="7239000" h="635000">
                <a:moveTo>
                  <a:pt x="42335" y="0"/>
                </a:moveTo>
                <a:lnTo>
                  <a:pt x="7196665" y="0"/>
                </a:lnTo>
                <a:cubicBezTo>
                  <a:pt x="7220046" y="0"/>
                  <a:pt x="7239000" y="18954"/>
                  <a:pt x="7239000" y="42335"/>
                </a:cubicBezTo>
                <a:lnTo>
                  <a:pt x="7239000" y="592665"/>
                </a:lnTo>
                <a:cubicBezTo>
                  <a:pt x="7239000" y="616046"/>
                  <a:pt x="7220046" y="635000"/>
                  <a:pt x="7196665" y="635000"/>
                </a:cubicBezTo>
                <a:lnTo>
                  <a:pt x="42335" y="635000"/>
                </a:lnTo>
                <a:cubicBezTo>
                  <a:pt x="18954" y="635000"/>
                  <a:pt x="0" y="616046"/>
                  <a:pt x="0" y="592665"/>
                </a:cubicBezTo>
                <a:lnTo>
                  <a:pt x="0" y="42335"/>
                </a:lnTo>
                <a:cubicBezTo>
                  <a:pt x="0" y="18970"/>
                  <a:pt x="18970" y="0"/>
                  <a:pt x="42335" y="0"/>
                </a:cubicBezTo>
                <a:close/>
              </a:path>
            </a:pathLst>
          </a:custGeom>
          <a:solidFill>
            <a:srgbClr val="181A1F">
              <a:alpha val="50196"/>
            </a:srgbClr>
          </a:solidFill>
          <a:ln/>
        </p:spPr>
      </p:sp>
      <p:sp>
        <p:nvSpPr>
          <p:cNvPr id="49" name="Text 47"/>
          <p:cNvSpPr/>
          <p:nvPr/>
        </p:nvSpPr>
        <p:spPr>
          <a:xfrm>
            <a:off x="8498417" y="6381750"/>
            <a:ext cx="7154333"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平方损失 (L2)</a:t>
            </a:r>
            <a:endParaRPr lang="en-US" sz="1600" dirty="0"/>
          </a:p>
        </p:txBody>
      </p:sp>
      <p:sp>
        <p:nvSpPr>
          <p:cNvPr id="50" name="Text 48"/>
          <p:cNvSpPr/>
          <p:nvPr/>
        </p:nvSpPr>
        <p:spPr>
          <a:xfrm>
            <a:off x="8498417" y="6635750"/>
            <a:ext cx="71437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用于常规回归，伪残差退化为普通残差</a:t>
            </a:r>
            <a:endParaRPr lang="en-US" sz="1600" dirty="0"/>
          </a:p>
        </p:txBody>
      </p:sp>
      <p:sp>
        <p:nvSpPr>
          <p:cNvPr id="51" name="Shape 49"/>
          <p:cNvSpPr/>
          <p:nvPr/>
        </p:nvSpPr>
        <p:spPr>
          <a:xfrm>
            <a:off x="8413750" y="7016750"/>
            <a:ext cx="7239000" cy="635000"/>
          </a:xfrm>
          <a:custGeom>
            <a:avLst/>
            <a:gdLst/>
            <a:ahLst/>
            <a:cxnLst/>
            <a:rect l="l" t="t" r="r" b="b"/>
            <a:pathLst>
              <a:path w="7239000" h="635000">
                <a:moveTo>
                  <a:pt x="42335" y="0"/>
                </a:moveTo>
                <a:lnTo>
                  <a:pt x="7196665" y="0"/>
                </a:lnTo>
                <a:cubicBezTo>
                  <a:pt x="7220046" y="0"/>
                  <a:pt x="7239000" y="18954"/>
                  <a:pt x="7239000" y="42335"/>
                </a:cubicBezTo>
                <a:lnTo>
                  <a:pt x="7239000" y="592665"/>
                </a:lnTo>
                <a:cubicBezTo>
                  <a:pt x="7239000" y="616046"/>
                  <a:pt x="7220046" y="635000"/>
                  <a:pt x="7196665" y="635000"/>
                </a:cubicBezTo>
                <a:lnTo>
                  <a:pt x="42335" y="635000"/>
                </a:lnTo>
                <a:cubicBezTo>
                  <a:pt x="18954" y="635000"/>
                  <a:pt x="0" y="616046"/>
                  <a:pt x="0" y="592665"/>
                </a:cubicBezTo>
                <a:lnTo>
                  <a:pt x="0" y="42335"/>
                </a:lnTo>
                <a:cubicBezTo>
                  <a:pt x="0" y="18970"/>
                  <a:pt x="18970" y="0"/>
                  <a:pt x="42335" y="0"/>
                </a:cubicBezTo>
                <a:close/>
              </a:path>
            </a:pathLst>
          </a:custGeom>
          <a:solidFill>
            <a:srgbClr val="181A1F">
              <a:alpha val="50196"/>
            </a:srgbClr>
          </a:solidFill>
          <a:ln/>
        </p:spPr>
      </p:sp>
      <p:sp>
        <p:nvSpPr>
          <p:cNvPr id="52" name="Text 50"/>
          <p:cNvSpPr/>
          <p:nvPr/>
        </p:nvSpPr>
        <p:spPr>
          <a:xfrm>
            <a:off x="8498417" y="7101417"/>
            <a:ext cx="7154333"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绝对损失 (L1)</a:t>
            </a:r>
            <a:endParaRPr lang="en-US" sz="1600" dirty="0"/>
          </a:p>
        </p:txBody>
      </p:sp>
      <p:sp>
        <p:nvSpPr>
          <p:cNvPr id="53" name="Text 51"/>
          <p:cNvSpPr/>
          <p:nvPr/>
        </p:nvSpPr>
        <p:spPr>
          <a:xfrm>
            <a:off x="8498417" y="7355417"/>
            <a:ext cx="71437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用于鲁棒回归，对异常值更不敏感</a:t>
            </a:r>
            <a:endParaRPr lang="en-US" sz="1600" dirty="0"/>
          </a:p>
        </p:txBody>
      </p:sp>
      <p:sp>
        <p:nvSpPr>
          <p:cNvPr id="54" name="Shape 52"/>
          <p:cNvSpPr/>
          <p:nvPr/>
        </p:nvSpPr>
        <p:spPr>
          <a:xfrm>
            <a:off x="8413750" y="7736417"/>
            <a:ext cx="7239000" cy="635000"/>
          </a:xfrm>
          <a:custGeom>
            <a:avLst/>
            <a:gdLst/>
            <a:ahLst/>
            <a:cxnLst/>
            <a:rect l="l" t="t" r="r" b="b"/>
            <a:pathLst>
              <a:path w="7239000" h="635000">
                <a:moveTo>
                  <a:pt x="42335" y="0"/>
                </a:moveTo>
                <a:lnTo>
                  <a:pt x="7196665" y="0"/>
                </a:lnTo>
                <a:cubicBezTo>
                  <a:pt x="7220046" y="0"/>
                  <a:pt x="7239000" y="18954"/>
                  <a:pt x="7239000" y="42335"/>
                </a:cubicBezTo>
                <a:lnTo>
                  <a:pt x="7239000" y="592665"/>
                </a:lnTo>
                <a:cubicBezTo>
                  <a:pt x="7239000" y="616046"/>
                  <a:pt x="7220046" y="635000"/>
                  <a:pt x="7196665" y="635000"/>
                </a:cubicBezTo>
                <a:lnTo>
                  <a:pt x="42335" y="635000"/>
                </a:lnTo>
                <a:cubicBezTo>
                  <a:pt x="18954" y="635000"/>
                  <a:pt x="0" y="616046"/>
                  <a:pt x="0" y="592665"/>
                </a:cubicBezTo>
                <a:lnTo>
                  <a:pt x="0" y="42335"/>
                </a:lnTo>
                <a:cubicBezTo>
                  <a:pt x="0" y="18970"/>
                  <a:pt x="18970" y="0"/>
                  <a:pt x="42335" y="0"/>
                </a:cubicBezTo>
                <a:close/>
              </a:path>
            </a:pathLst>
          </a:custGeom>
          <a:solidFill>
            <a:srgbClr val="181A1F">
              <a:alpha val="50196"/>
            </a:srgbClr>
          </a:solidFill>
          <a:ln/>
        </p:spPr>
      </p:sp>
      <p:sp>
        <p:nvSpPr>
          <p:cNvPr id="55" name="Text 53"/>
          <p:cNvSpPr/>
          <p:nvPr/>
        </p:nvSpPr>
        <p:spPr>
          <a:xfrm>
            <a:off x="8498417" y="7821083"/>
            <a:ext cx="7154333"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对数损失</a:t>
            </a:r>
            <a:endParaRPr lang="en-US" sz="1600" dirty="0"/>
          </a:p>
        </p:txBody>
      </p:sp>
      <p:sp>
        <p:nvSpPr>
          <p:cNvPr id="56" name="Text 54"/>
          <p:cNvSpPr/>
          <p:nvPr/>
        </p:nvSpPr>
        <p:spPr>
          <a:xfrm>
            <a:off x="8498417" y="8075083"/>
            <a:ext cx="71437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用于分类任务，优化类概率的对数似然</a:t>
            </a:r>
            <a:endParaRPr lang="en-US" sz="1600" dirty="0"/>
          </a:p>
        </p:txBody>
      </p:sp>
      <p:sp>
        <p:nvSpPr>
          <p:cNvPr id="57" name="Shape 55"/>
          <p:cNvSpPr/>
          <p:nvPr/>
        </p:nvSpPr>
        <p:spPr>
          <a:xfrm>
            <a:off x="8239125" y="8725958"/>
            <a:ext cx="7588250" cy="772583"/>
          </a:xfrm>
          <a:custGeom>
            <a:avLst/>
            <a:gdLst/>
            <a:ahLst/>
            <a:cxnLst/>
            <a:rect l="l" t="t" r="r" b="b"/>
            <a:pathLst>
              <a:path w="7588250" h="772583">
                <a:moveTo>
                  <a:pt x="84667" y="0"/>
                </a:moveTo>
                <a:lnTo>
                  <a:pt x="7503583" y="0"/>
                </a:lnTo>
                <a:cubicBezTo>
                  <a:pt x="7550343" y="0"/>
                  <a:pt x="7588250" y="37907"/>
                  <a:pt x="7588250" y="84667"/>
                </a:cubicBezTo>
                <a:lnTo>
                  <a:pt x="7588250" y="687916"/>
                </a:lnTo>
                <a:cubicBezTo>
                  <a:pt x="7588250" y="734676"/>
                  <a:pt x="7550343" y="772583"/>
                  <a:pt x="7503583" y="772583"/>
                </a:cubicBezTo>
                <a:lnTo>
                  <a:pt x="84667" y="772583"/>
                </a:lnTo>
                <a:cubicBezTo>
                  <a:pt x="37938" y="772583"/>
                  <a:pt x="0" y="734645"/>
                  <a:pt x="0" y="687916"/>
                </a:cubicBezTo>
                <a:lnTo>
                  <a:pt x="0" y="84667"/>
                </a:lnTo>
                <a:cubicBezTo>
                  <a:pt x="0" y="37938"/>
                  <a:pt x="37938" y="0"/>
                  <a:pt x="84667" y="0"/>
                </a:cubicBezTo>
                <a:close/>
              </a:path>
            </a:pathLst>
          </a:custGeom>
          <a:solidFill>
            <a:srgbClr val="4C7E9A">
              <a:alpha val="10196"/>
            </a:srgbClr>
          </a:solidFill>
          <a:ln w="12700">
            <a:solidFill>
              <a:srgbClr val="4C7E9A">
                <a:alpha val="30196"/>
              </a:srgbClr>
            </a:solidFill>
            <a:prstDash val="solid"/>
          </a:ln>
        </p:spPr>
      </p:sp>
      <p:sp>
        <p:nvSpPr>
          <p:cNvPr id="58" name="Shape 56"/>
          <p:cNvSpPr/>
          <p:nvPr/>
        </p:nvSpPr>
        <p:spPr>
          <a:xfrm>
            <a:off x="8382000" y="8905875"/>
            <a:ext cx="190500" cy="169333"/>
          </a:xfrm>
          <a:custGeom>
            <a:avLst/>
            <a:gdLst/>
            <a:ahLst/>
            <a:cxnLst/>
            <a:rect l="l" t="t" r="r" b="b"/>
            <a:pathLst>
              <a:path w="190500" h="169333">
                <a:moveTo>
                  <a:pt x="102361" y="-6251"/>
                </a:moveTo>
                <a:cubicBezTo>
                  <a:pt x="101005" y="-8897"/>
                  <a:pt x="98260" y="-10583"/>
                  <a:pt x="95283" y="-10583"/>
                </a:cubicBezTo>
                <a:cubicBezTo>
                  <a:pt x="92307" y="-10583"/>
                  <a:pt x="89561" y="-8897"/>
                  <a:pt x="88205" y="-6251"/>
                </a:cubicBezTo>
                <a:lnTo>
                  <a:pt x="63864" y="41440"/>
                </a:lnTo>
                <a:lnTo>
                  <a:pt x="10980" y="49841"/>
                </a:lnTo>
                <a:cubicBezTo>
                  <a:pt x="8037" y="50304"/>
                  <a:pt x="5589" y="52388"/>
                  <a:pt x="4663" y="55232"/>
                </a:cubicBezTo>
                <a:cubicBezTo>
                  <a:pt x="3737" y="58076"/>
                  <a:pt x="4498" y="61185"/>
                  <a:pt x="6582" y="63302"/>
                </a:cubicBezTo>
                <a:lnTo>
                  <a:pt x="44417" y="101170"/>
                </a:lnTo>
                <a:lnTo>
                  <a:pt x="36083" y="154054"/>
                </a:lnTo>
                <a:cubicBezTo>
                  <a:pt x="35620" y="156997"/>
                  <a:pt x="36843" y="159974"/>
                  <a:pt x="39258" y="161727"/>
                </a:cubicBezTo>
                <a:cubicBezTo>
                  <a:pt x="41672" y="163479"/>
                  <a:pt x="44847" y="163744"/>
                  <a:pt x="47526" y="162388"/>
                </a:cubicBezTo>
                <a:lnTo>
                  <a:pt x="95283" y="138113"/>
                </a:lnTo>
                <a:lnTo>
                  <a:pt x="143007" y="162388"/>
                </a:lnTo>
                <a:cubicBezTo>
                  <a:pt x="145653" y="163744"/>
                  <a:pt x="148861" y="163479"/>
                  <a:pt x="151276" y="161727"/>
                </a:cubicBezTo>
                <a:cubicBezTo>
                  <a:pt x="153690" y="159974"/>
                  <a:pt x="154914" y="157030"/>
                  <a:pt x="154451" y="154054"/>
                </a:cubicBezTo>
                <a:lnTo>
                  <a:pt x="146083" y="101170"/>
                </a:lnTo>
                <a:lnTo>
                  <a:pt x="183918" y="63302"/>
                </a:lnTo>
                <a:cubicBezTo>
                  <a:pt x="186035" y="61185"/>
                  <a:pt x="186763" y="58076"/>
                  <a:pt x="185837" y="55232"/>
                </a:cubicBezTo>
                <a:cubicBezTo>
                  <a:pt x="184911" y="52388"/>
                  <a:pt x="182496" y="50304"/>
                  <a:pt x="179520" y="49841"/>
                </a:cubicBezTo>
                <a:lnTo>
                  <a:pt x="126669" y="41440"/>
                </a:lnTo>
                <a:lnTo>
                  <a:pt x="102361" y="-6251"/>
                </a:lnTo>
                <a:close/>
              </a:path>
            </a:pathLst>
          </a:custGeom>
          <a:solidFill>
            <a:srgbClr val="4C7E9A"/>
          </a:solidFill>
          <a:ln/>
        </p:spPr>
      </p:sp>
      <p:sp>
        <p:nvSpPr>
          <p:cNvPr id="59" name="Text 57"/>
          <p:cNvSpPr/>
          <p:nvPr/>
        </p:nvSpPr>
        <p:spPr>
          <a:xfrm>
            <a:off x="8653639" y="8858250"/>
            <a:ext cx="7126111" cy="508000"/>
          </a:xfrm>
          <a:prstGeom prst="rect">
            <a:avLst/>
          </a:prstGeom>
          <a:noFill/>
          <a:ln/>
        </p:spPr>
        <p:txBody>
          <a:bodyPr wrap="square" lIns="0" tIns="0" rIns="0" bIns="0" rtlCol="0" anchor="ctr"/>
          <a:lstStyle/>
          <a:p>
            <a:pPr>
              <a:lnSpc>
                <a:spcPct val="130000"/>
              </a:lnSpc>
            </a:pPr>
            <a:r>
              <a:rPr lang="en-US" sz="1333" b="1" dirty="0">
                <a:solidFill>
                  <a:srgbClr val="4C7E9A"/>
                </a:solidFill>
                <a:latin typeface="MiSans" pitchFamily="34" charset="0"/>
                <a:ea typeface="MiSans" pitchFamily="34" charset="-122"/>
                <a:cs typeface="MiSans" pitchFamily="34" charset="-120"/>
              </a:rPr>
              <a:t>通用性强：</a:t>
            </a:r>
            <a:pPr>
              <a:lnSpc>
                <a:spcPct val="130000"/>
              </a:lnSpc>
            </a:pPr>
            <a:r>
              <a:rPr lang="en-US" sz="1333" dirty="0">
                <a:solidFill>
                  <a:srgbClr val="D1D5DB"/>
                </a:solidFill>
                <a:latin typeface="MiSans" pitchFamily="34" charset="0"/>
                <a:ea typeface="MiSans" pitchFamily="34" charset="-122"/>
                <a:cs typeface="MiSans" pitchFamily="34" charset="-120"/>
              </a:rPr>
              <a:t>通过定制损失函数满足特定业务需求（如分位数回归），是工业界应用最广泛的算法框架之一</a:t>
            </a:r>
            <a:endParaRPr lang="en-US" sz="1600" dirty="0"/>
          </a:p>
        </p:txBody>
      </p:sp>
    </p:spTree>
  </p:cSld>
  <p:clrMapOvr>
    <a:masterClrMapping/>
  </p:clrMapOvr>
  <p:transition>
    <p:fade/>
    <p:spd val="med"/>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MODERN BOOSTING</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现代梯度提升框架：XGBoost</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24000"/>
            <a:ext cx="7577667" cy="3831167"/>
          </a:xfrm>
          <a:custGeom>
            <a:avLst/>
            <a:gdLst/>
            <a:ahLst/>
            <a:cxnLst/>
            <a:rect l="l" t="t" r="r" b="b"/>
            <a:pathLst>
              <a:path w="7577667" h="3831167">
                <a:moveTo>
                  <a:pt x="42333" y="0"/>
                </a:moveTo>
                <a:lnTo>
                  <a:pt x="7492998" y="0"/>
                </a:lnTo>
                <a:cubicBezTo>
                  <a:pt x="7539759" y="0"/>
                  <a:pt x="7577667" y="37908"/>
                  <a:pt x="7577667" y="84669"/>
                </a:cubicBezTo>
                <a:lnTo>
                  <a:pt x="7577667" y="3746498"/>
                </a:lnTo>
                <a:cubicBezTo>
                  <a:pt x="7577667" y="3793259"/>
                  <a:pt x="7539759" y="3831167"/>
                  <a:pt x="7492998" y="3831167"/>
                </a:cubicBezTo>
                <a:lnTo>
                  <a:pt x="42333" y="3831167"/>
                </a:lnTo>
                <a:cubicBezTo>
                  <a:pt x="18953" y="3831167"/>
                  <a:pt x="0" y="3812213"/>
                  <a:pt x="0" y="3788833"/>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24000"/>
            <a:ext cx="42333" cy="3831167"/>
          </a:xfrm>
          <a:custGeom>
            <a:avLst/>
            <a:gdLst/>
            <a:ahLst/>
            <a:cxnLst/>
            <a:rect l="l" t="t" r="r" b="b"/>
            <a:pathLst>
              <a:path w="42333" h="3831167">
                <a:moveTo>
                  <a:pt x="42333" y="0"/>
                </a:moveTo>
                <a:lnTo>
                  <a:pt x="42333" y="0"/>
                </a:lnTo>
                <a:lnTo>
                  <a:pt x="42333" y="3831167"/>
                </a:lnTo>
                <a:lnTo>
                  <a:pt x="42333" y="3831167"/>
                </a:lnTo>
                <a:cubicBezTo>
                  <a:pt x="18953" y="3831167"/>
                  <a:pt x="0" y="3812213"/>
                  <a:pt x="0" y="3788833"/>
                </a:cubicBezTo>
                <a:lnTo>
                  <a:pt x="0" y="42333"/>
                </a:lnTo>
                <a:cubicBezTo>
                  <a:pt x="0" y="18953"/>
                  <a:pt x="18953" y="0"/>
                  <a:pt x="42333" y="0"/>
                </a:cubicBezTo>
                <a:close/>
              </a:path>
            </a:pathLst>
          </a:custGeom>
          <a:solidFill>
            <a:srgbClr val="4C7E9A"/>
          </a:solidFill>
          <a:ln/>
        </p:spPr>
      </p:sp>
      <p:sp>
        <p:nvSpPr>
          <p:cNvPr id="7" name="Text 5"/>
          <p:cNvSpPr/>
          <p:nvPr/>
        </p:nvSpPr>
        <p:spPr>
          <a:xfrm>
            <a:off x="635000" y="1693333"/>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算法层面的精进</a:t>
            </a:r>
            <a:endParaRPr lang="en-US" sz="1600" dirty="0"/>
          </a:p>
        </p:txBody>
      </p:sp>
      <p:sp>
        <p:nvSpPr>
          <p:cNvPr id="8" name="Text 6"/>
          <p:cNvSpPr/>
          <p:nvPr/>
        </p:nvSpPr>
        <p:spPr>
          <a:xfrm>
            <a:off x="635000" y="2159000"/>
            <a:ext cx="7302500" cy="550333"/>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XGBoost（eXtreme Gradient Boosting）不仅仅是对GBDT的高效实现，更是</a:t>
            </a:r>
            <a:pPr>
              <a:lnSpc>
                <a:spcPct val="140000"/>
              </a:lnSpc>
            </a:pPr>
            <a:r>
              <a:rPr lang="en-US" sz="1333" b="1" dirty="0">
                <a:solidFill>
                  <a:srgbClr val="4C7E9A"/>
                </a:solidFill>
                <a:latin typeface="MiSans" pitchFamily="34" charset="0"/>
                <a:ea typeface="MiSans" pitchFamily="34" charset="-122"/>
                <a:cs typeface="MiSans" pitchFamily="34" charset="-120"/>
              </a:rPr>
              <a:t>算法与系统设计的深度融合</a:t>
            </a:r>
            <a:pPr>
              <a:lnSpc>
                <a:spcPct val="140000"/>
              </a:lnSpc>
            </a:pPr>
            <a:r>
              <a:rPr lang="en-US" sz="1333" dirty="0">
                <a:solidFill>
                  <a:srgbClr val="D1D5DB"/>
                </a:solidFill>
                <a:latin typeface="MiSans" pitchFamily="34" charset="0"/>
                <a:ea typeface="MiSans" pitchFamily="34" charset="-122"/>
                <a:cs typeface="MiSans" pitchFamily="34" charset="-120"/>
              </a:rPr>
              <a:t>。</a:t>
            </a:r>
            <a:endParaRPr lang="en-US" sz="1600" dirty="0"/>
          </a:p>
        </p:txBody>
      </p:sp>
      <p:sp>
        <p:nvSpPr>
          <p:cNvPr id="9" name="Shape 7"/>
          <p:cNvSpPr/>
          <p:nvPr/>
        </p:nvSpPr>
        <p:spPr>
          <a:xfrm>
            <a:off x="635000" y="2836333"/>
            <a:ext cx="7217833" cy="1344083"/>
          </a:xfrm>
          <a:custGeom>
            <a:avLst/>
            <a:gdLst/>
            <a:ahLst/>
            <a:cxnLst/>
            <a:rect l="l" t="t" r="r" b="b"/>
            <a:pathLst>
              <a:path w="7217833" h="1344083">
                <a:moveTo>
                  <a:pt x="84664" y="0"/>
                </a:moveTo>
                <a:lnTo>
                  <a:pt x="7133170" y="0"/>
                </a:lnTo>
                <a:cubicBezTo>
                  <a:pt x="7179928" y="0"/>
                  <a:pt x="7217833" y="37905"/>
                  <a:pt x="7217833" y="84664"/>
                </a:cubicBezTo>
                <a:lnTo>
                  <a:pt x="7217833" y="1259420"/>
                </a:lnTo>
                <a:cubicBezTo>
                  <a:pt x="7217833" y="1306178"/>
                  <a:pt x="7179928" y="1344083"/>
                  <a:pt x="7133170" y="1344083"/>
                </a:cubicBezTo>
                <a:lnTo>
                  <a:pt x="84664" y="1344083"/>
                </a:lnTo>
                <a:cubicBezTo>
                  <a:pt x="37905" y="1344083"/>
                  <a:pt x="0" y="1306178"/>
                  <a:pt x="0" y="1259420"/>
                </a:cubicBezTo>
                <a:lnTo>
                  <a:pt x="0" y="84664"/>
                </a:lnTo>
                <a:cubicBezTo>
                  <a:pt x="0" y="37937"/>
                  <a:pt x="37937" y="0"/>
                  <a:pt x="84664" y="0"/>
                </a:cubicBezTo>
                <a:close/>
              </a:path>
            </a:pathLst>
          </a:custGeom>
          <a:solidFill>
            <a:srgbClr val="181A1F">
              <a:alpha val="50196"/>
            </a:srgbClr>
          </a:solidFill>
          <a:ln/>
        </p:spPr>
      </p:sp>
      <p:sp>
        <p:nvSpPr>
          <p:cNvPr id="10" name="Shape 8"/>
          <p:cNvSpPr/>
          <p:nvPr/>
        </p:nvSpPr>
        <p:spPr>
          <a:xfrm>
            <a:off x="788458" y="3021542"/>
            <a:ext cx="190500" cy="190500"/>
          </a:xfrm>
          <a:custGeom>
            <a:avLst/>
            <a:gdLst/>
            <a:ahLst/>
            <a:cxnLst/>
            <a:rect l="l" t="t" r="r" b="b"/>
            <a:pathLst>
              <a:path w="190500" h="190500">
                <a:moveTo>
                  <a:pt x="95250" y="0"/>
                </a:moveTo>
                <a:cubicBezTo>
                  <a:pt x="96962" y="0"/>
                  <a:pt x="98673" y="372"/>
                  <a:pt x="100236" y="1079"/>
                </a:cubicBezTo>
                <a:lnTo>
                  <a:pt x="170334" y="30807"/>
                </a:lnTo>
                <a:cubicBezTo>
                  <a:pt x="178519" y="34268"/>
                  <a:pt x="184621" y="42342"/>
                  <a:pt x="184584" y="52090"/>
                </a:cubicBezTo>
                <a:cubicBezTo>
                  <a:pt x="184398" y="88999"/>
                  <a:pt x="169218" y="156530"/>
                  <a:pt x="105110" y="187226"/>
                </a:cubicBezTo>
                <a:cubicBezTo>
                  <a:pt x="98896" y="190202"/>
                  <a:pt x="91678" y="190202"/>
                  <a:pt x="85465" y="187226"/>
                </a:cubicBezTo>
                <a:cubicBezTo>
                  <a:pt x="21320" y="156530"/>
                  <a:pt x="6176" y="88999"/>
                  <a:pt x="5990" y="52090"/>
                </a:cubicBezTo>
                <a:cubicBezTo>
                  <a:pt x="5953" y="42342"/>
                  <a:pt x="12055" y="34268"/>
                  <a:pt x="20241" y="30807"/>
                </a:cubicBezTo>
                <a:lnTo>
                  <a:pt x="90301" y="1079"/>
                </a:lnTo>
                <a:cubicBezTo>
                  <a:pt x="91864" y="372"/>
                  <a:pt x="93538" y="0"/>
                  <a:pt x="95250" y="0"/>
                </a:cubicBezTo>
                <a:close/>
                <a:moveTo>
                  <a:pt x="95250" y="24854"/>
                </a:moveTo>
                <a:lnTo>
                  <a:pt x="95250" y="165534"/>
                </a:lnTo>
                <a:cubicBezTo>
                  <a:pt x="146596" y="140680"/>
                  <a:pt x="160400" y="85613"/>
                  <a:pt x="160734" y="52648"/>
                </a:cubicBezTo>
                <a:lnTo>
                  <a:pt x="95250" y="24892"/>
                </a:lnTo>
                <a:lnTo>
                  <a:pt x="95250" y="24892"/>
                </a:lnTo>
                <a:close/>
              </a:path>
            </a:pathLst>
          </a:custGeom>
          <a:solidFill>
            <a:srgbClr val="4C7E9A"/>
          </a:solidFill>
          <a:ln/>
        </p:spPr>
      </p:sp>
      <p:sp>
        <p:nvSpPr>
          <p:cNvPr id="11" name="Text 9"/>
          <p:cNvSpPr/>
          <p:nvPr/>
        </p:nvSpPr>
        <p:spPr>
          <a:xfrm>
            <a:off x="1075972" y="2963333"/>
            <a:ext cx="6745111"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显式正则化项</a:t>
            </a:r>
            <a:endParaRPr lang="en-US" sz="1600" dirty="0"/>
          </a:p>
        </p:txBody>
      </p:sp>
      <p:sp>
        <p:nvSpPr>
          <p:cNvPr id="12" name="Text 10"/>
          <p:cNvSpPr/>
          <p:nvPr/>
        </p:nvSpPr>
        <p:spPr>
          <a:xfrm>
            <a:off x="762000" y="3344333"/>
            <a:ext cx="7037917" cy="243417"/>
          </a:xfrm>
          <a:prstGeom prst="rect">
            <a:avLst/>
          </a:prstGeom>
          <a:noFill/>
          <a:ln/>
        </p:spPr>
        <p:txBody>
          <a:bodyPr wrap="square" lIns="0" tIns="0" rIns="0" bIns="0" rtlCol="0" anchor="ctr"/>
          <a:lstStyle/>
          <a:p>
            <a:pPr>
              <a:lnSpc>
                <a:spcPct val="140000"/>
              </a:lnSpc>
            </a:pPr>
            <a:r>
              <a:rPr lang="en-US" sz="1167" dirty="0">
                <a:solidFill>
                  <a:srgbClr val="7E9AA8"/>
                </a:solidFill>
                <a:latin typeface="MiSans" pitchFamily="34" charset="0"/>
                <a:ea typeface="MiSans" pitchFamily="34" charset="-122"/>
                <a:cs typeface="MiSans" pitchFamily="34" charset="-120"/>
              </a:rPr>
              <a:t>在损失函数中引入L1和L2正则化项，有效控制模型复杂度，从根本上降低过拟合风险。</a:t>
            </a:r>
            <a:endParaRPr lang="en-US" sz="1600" dirty="0"/>
          </a:p>
        </p:txBody>
      </p:sp>
      <p:sp>
        <p:nvSpPr>
          <p:cNvPr id="13" name="Shape 11"/>
          <p:cNvSpPr/>
          <p:nvPr/>
        </p:nvSpPr>
        <p:spPr>
          <a:xfrm>
            <a:off x="762000" y="3669771"/>
            <a:ext cx="6963833" cy="381000"/>
          </a:xfrm>
          <a:custGeom>
            <a:avLst/>
            <a:gdLst/>
            <a:ahLst/>
            <a:cxnLst/>
            <a:rect l="l" t="t" r="r" b="b"/>
            <a:pathLst>
              <a:path w="6963833" h="381000">
                <a:moveTo>
                  <a:pt x="42333" y="0"/>
                </a:moveTo>
                <a:lnTo>
                  <a:pt x="6921500" y="0"/>
                </a:lnTo>
                <a:cubicBezTo>
                  <a:pt x="6944880" y="0"/>
                  <a:pt x="6963833" y="18953"/>
                  <a:pt x="6963833" y="42333"/>
                </a:cubicBezTo>
                <a:lnTo>
                  <a:pt x="6963833" y="338667"/>
                </a:lnTo>
                <a:cubicBezTo>
                  <a:pt x="6963833" y="362047"/>
                  <a:pt x="6944880" y="381000"/>
                  <a:pt x="6921500" y="381000"/>
                </a:cubicBezTo>
                <a:lnTo>
                  <a:pt x="42333" y="381000"/>
                </a:lnTo>
                <a:cubicBezTo>
                  <a:pt x="18953" y="381000"/>
                  <a:pt x="0" y="362047"/>
                  <a:pt x="0" y="338667"/>
                </a:cubicBezTo>
                <a:lnTo>
                  <a:pt x="0" y="42333"/>
                </a:lnTo>
                <a:cubicBezTo>
                  <a:pt x="0" y="18969"/>
                  <a:pt x="18969" y="0"/>
                  <a:pt x="42333" y="0"/>
                </a:cubicBezTo>
                <a:close/>
              </a:path>
            </a:pathLst>
          </a:custGeom>
          <a:solidFill>
            <a:srgbClr val="181A1F"/>
          </a:solidFill>
          <a:ln/>
        </p:spPr>
      </p:sp>
      <p:sp>
        <p:nvSpPr>
          <p:cNvPr id="14" name="Text 12"/>
          <p:cNvSpPr/>
          <p:nvPr/>
        </p:nvSpPr>
        <p:spPr>
          <a:xfrm>
            <a:off x="809625" y="3754438"/>
            <a:ext cx="6868583" cy="211667"/>
          </a:xfrm>
          <a:prstGeom prst="rect">
            <a:avLst/>
          </a:prstGeom>
          <a:noFill/>
          <a:ln/>
        </p:spPr>
        <p:txBody>
          <a:bodyPr wrap="square" lIns="0" tIns="0" rIns="0" bIns="0" rtlCol="0" anchor="ctr"/>
          <a:lstStyle/>
          <a:p>
            <a:pPr algn="ctr">
              <a:lnSpc>
                <a:spcPct val="120000"/>
              </a:lnSpc>
            </a:pPr>
            <a:r>
              <a:rPr lang="en-US" sz="1167" dirty="0">
                <a:solidFill>
                  <a:srgbClr val="7E9AA8"/>
                </a:solidFill>
                <a:latin typeface="MiSans" pitchFamily="34" charset="0"/>
                <a:ea typeface="MiSans" pitchFamily="34" charset="-122"/>
                <a:cs typeface="MiSans" pitchFamily="34" charset="-120"/>
              </a:rPr>
              <a:t>L(θ) + λ||θ||² + α||θ||₁</a:t>
            </a:r>
            <a:endParaRPr lang="en-US" sz="1600" dirty="0"/>
          </a:p>
        </p:txBody>
      </p:sp>
      <p:sp>
        <p:nvSpPr>
          <p:cNvPr id="15" name="Shape 13"/>
          <p:cNvSpPr/>
          <p:nvPr/>
        </p:nvSpPr>
        <p:spPr>
          <a:xfrm>
            <a:off x="635000" y="4304771"/>
            <a:ext cx="7217833" cy="878417"/>
          </a:xfrm>
          <a:custGeom>
            <a:avLst/>
            <a:gdLst/>
            <a:ahLst/>
            <a:cxnLst/>
            <a:rect l="l" t="t" r="r" b="b"/>
            <a:pathLst>
              <a:path w="7217833" h="878417">
                <a:moveTo>
                  <a:pt x="84671" y="0"/>
                </a:moveTo>
                <a:lnTo>
                  <a:pt x="7133163" y="0"/>
                </a:lnTo>
                <a:cubicBezTo>
                  <a:pt x="7179925" y="0"/>
                  <a:pt x="7217833" y="37908"/>
                  <a:pt x="7217833" y="84671"/>
                </a:cubicBezTo>
                <a:lnTo>
                  <a:pt x="7217833" y="793746"/>
                </a:lnTo>
                <a:cubicBezTo>
                  <a:pt x="7217833" y="840508"/>
                  <a:pt x="7179925" y="878417"/>
                  <a:pt x="7133163" y="878417"/>
                </a:cubicBezTo>
                <a:lnTo>
                  <a:pt x="84671" y="878417"/>
                </a:lnTo>
                <a:cubicBezTo>
                  <a:pt x="37908" y="878417"/>
                  <a:pt x="0" y="840508"/>
                  <a:pt x="0" y="793746"/>
                </a:cubicBezTo>
                <a:lnTo>
                  <a:pt x="0" y="84671"/>
                </a:lnTo>
                <a:cubicBezTo>
                  <a:pt x="0" y="37908"/>
                  <a:pt x="37908" y="0"/>
                  <a:pt x="84671" y="0"/>
                </a:cubicBezTo>
                <a:close/>
              </a:path>
            </a:pathLst>
          </a:custGeom>
          <a:solidFill>
            <a:srgbClr val="181A1F">
              <a:alpha val="50196"/>
            </a:srgbClr>
          </a:solidFill>
          <a:ln/>
        </p:spPr>
      </p:sp>
      <p:sp>
        <p:nvSpPr>
          <p:cNvPr id="16" name="Shape 14"/>
          <p:cNvSpPr/>
          <p:nvPr/>
        </p:nvSpPr>
        <p:spPr>
          <a:xfrm>
            <a:off x="788458" y="4489979"/>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4C7E9A"/>
          </a:solidFill>
          <a:ln/>
        </p:spPr>
      </p:sp>
      <p:sp>
        <p:nvSpPr>
          <p:cNvPr id="17" name="Text 15"/>
          <p:cNvSpPr/>
          <p:nvPr/>
        </p:nvSpPr>
        <p:spPr>
          <a:xfrm>
            <a:off x="1075972" y="4431771"/>
            <a:ext cx="6745111"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二阶泰勒展开</a:t>
            </a:r>
            <a:endParaRPr lang="en-US" sz="1600" dirty="0"/>
          </a:p>
        </p:txBody>
      </p:sp>
      <p:sp>
        <p:nvSpPr>
          <p:cNvPr id="18" name="Text 16"/>
          <p:cNvSpPr/>
          <p:nvPr/>
        </p:nvSpPr>
        <p:spPr>
          <a:xfrm>
            <a:off x="762000" y="4812771"/>
            <a:ext cx="7037917" cy="243417"/>
          </a:xfrm>
          <a:prstGeom prst="rect">
            <a:avLst/>
          </a:prstGeom>
          <a:noFill/>
          <a:ln/>
        </p:spPr>
        <p:txBody>
          <a:bodyPr wrap="square" lIns="0" tIns="0" rIns="0" bIns="0" rtlCol="0" anchor="ctr"/>
          <a:lstStyle/>
          <a:p>
            <a:pPr>
              <a:lnSpc>
                <a:spcPct val="140000"/>
              </a:lnSpc>
            </a:pPr>
            <a:r>
              <a:rPr lang="en-US" sz="1167" dirty="0">
                <a:solidFill>
                  <a:srgbClr val="7E9AA8"/>
                </a:solidFill>
                <a:latin typeface="MiSans" pitchFamily="34" charset="0"/>
                <a:ea typeface="MiSans" pitchFamily="34" charset="-122"/>
                <a:cs typeface="MiSans" pitchFamily="34" charset="-120"/>
              </a:rPr>
              <a:t>利用二阶泰勒展开替代传统一阶梯度，使目标函数的逼近更加精准，收敛速度大幅提升。</a:t>
            </a:r>
            <a:endParaRPr lang="en-US" sz="1600" dirty="0"/>
          </a:p>
        </p:txBody>
      </p:sp>
      <p:sp>
        <p:nvSpPr>
          <p:cNvPr id="19" name="Shape 17"/>
          <p:cNvSpPr/>
          <p:nvPr/>
        </p:nvSpPr>
        <p:spPr>
          <a:xfrm>
            <a:off x="444500" y="5519208"/>
            <a:ext cx="7577667" cy="2497667"/>
          </a:xfrm>
          <a:custGeom>
            <a:avLst/>
            <a:gdLst/>
            <a:ahLst/>
            <a:cxnLst/>
            <a:rect l="l" t="t" r="r" b="b"/>
            <a:pathLst>
              <a:path w="7577667" h="2497667">
                <a:moveTo>
                  <a:pt x="42333" y="0"/>
                </a:moveTo>
                <a:lnTo>
                  <a:pt x="7492996" y="0"/>
                </a:lnTo>
                <a:cubicBezTo>
                  <a:pt x="7539758" y="0"/>
                  <a:pt x="7577667" y="37908"/>
                  <a:pt x="7577667" y="84671"/>
                </a:cubicBezTo>
                <a:lnTo>
                  <a:pt x="7577667" y="2412996"/>
                </a:lnTo>
                <a:cubicBezTo>
                  <a:pt x="7577667" y="2459758"/>
                  <a:pt x="7539758" y="2497667"/>
                  <a:pt x="7492996" y="2497667"/>
                </a:cubicBezTo>
                <a:lnTo>
                  <a:pt x="42333" y="2497667"/>
                </a:lnTo>
                <a:cubicBezTo>
                  <a:pt x="18953" y="2497667"/>
                  <a:pt x="0" y="2478713"/>
                  <a:pt x="0" y="2455333"/>
                </a:cubicBezTo>
                <a:lnTo>
                  <a:pt x="0" y="42333"/>
                </a:lnTo>
                <a:cubicBezTo>
                  <a:pt x="0" y="18953"/>
                  <a:pt x="18953" y="0"/>
                  <a:pt x="42333" y="0"/>
                </a:cubicBezTo>
                <a:close/>
              </a:path>
            </a:pathLst>
          </a:custGeom>
          <a:solidFill>
            <a:srgbClr val="3A5E78">
              <a:alpha val="20000"/>
            </a:srgbClr>
          </a:solidFill>
          <a:ln/>
        </p:spPr>
      </p:sp>
      <p:sp>
        <p:nvSpPr>
          <p:cNvPr id="20" name="Shape 18"/>
          <p:cNvSpPr/>
          <p:nvPr/>
        </p:nvSpPr>
        <p:spPr>
          <a:xfrm>
            <a:off x="444500" y="5519208"/>
            <a:ext cx="42333" cy="2497667"/>
          </a:xfrm>
          <a:custGeom>
            <a:avLst/>
            <a:gdLst/>
            <a:ahLst/>
            <a:cxnLst/>
            <a:rect l="l" t="t" r="r" b="b"/>
            <a:pathLst>
              <a:path w="42333" h="2497667">
                <a:moveTo>
                  <a:pt x="42333" y="0"/>
                </a:moveTo>
                <a:lnTo>
                  <a:pt x="42333" y="0"/>
                </a:lnTo>
                <a:lnTo>
                  <a:pt x="42333" y="2497667"/>
                </a:lnTo>
                <a:lnTo>
                  <a:pt x="42333" y="2497667"/>
                </a:lnTo>
                <a:cubicBezTo>
                  <a:pt x="18953" y="2497667"/>
                  <a:pt x="0" y="2478713"/>
                  <a:pt x="0" y="2455333"/>
                </a:cubicBezTo>
                <a:lnTo>
                  <a:pt x="0" y="42333"/>
                </a:lnTo>
                <a:cubicBezTo>
                  <a:pt x="0" y="18953"/>
                  <a:pt x="18953" y="0"/>
                  <a:pt x="42333" y="0"/>
                </a:cubicBezTo>
                <a:close/>
              </a:path>
            </a:pathLst>
          </a:custGeom>
          <a:solidFill>
            <a:srgbClr val="7E9AA8"/>
          </a:solidFill>
          <a:ln/>
        </p:spPr>
      </p:sp>
      <p:sp>
        <p:nvSpPr>
          <p:cNvPr id="21" name="Text 19"/>
          <p:cNvSpPr/>
          <p:nvPr/>
        </p:nvSpPr>
        <p:spPr>
          <a:xfrm>
            <a:off x="635000" y="5688542"/>
            <a:ext cx="7344833"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系统层面的突破</a:t>
            </a:r>
            <a:endParaRPr lang="en-US" sz="1600" dirty="0"/>
          </a:p>
        </p:txBody>
      </p:sp>
      <p:sp>
        <p:nvSpPr>
          <p:cNvPr id="22" name="Shape 20"/>
          <p:cNvSpPr/>
          <p:nvPr/>
        </p:nvSpPr>
        <p:spPr>
          <a:xfrm>
            <a:off x="648229" y="6196542"/>
            <a:ext cx="238125" cy="211667"/>
          </a:xfrm>
          <a:custGeom>
            <a:avLst/>
            <a:gdLst/>
            <a:ahLst/>
            <a:cxnLst/>
            <a:rect l="l" t="t" r="r" b="b"/>
            <a:pathLst>
              <a:path w="238125" h="211667">
                <a:moveTo>
                  <a:pt x="211832" y="99219"/>
                </a:moveTo>
                <a:lnTo>
                  <a:pt x="139072" y="99219"/>
                </a:lnTo>
                <a:cubicBezTo>
                  <a:pt x="131754" y="99219"/>
                  <a:pt x="125842" y="93307"/>
                  <a:pt x="125842" y="85990"/>
                </a:cubicBezTo>
                <a:lnTo>
                  <a:pt x="125842" y="13229"/>
                </a:lnTo>
                <a:cubicBezTo>
                  <a:pt x="125842" y="5912"/>
                  <a:pt x="131796" y="-83"/>
                  <a:pt x="139030" y="868"/>
                </a:cubicBezTo>
                <a:cubicBezTo>
                  <a:pt x="183265" y="6739"/>
                  <a:pt x="218323" y="41796"/>
                  <a:pt x="224193" y="86031"/>
                </a:cubicBezTo>
                <a:cubicBezTo>
                  <a:pt x="225144" y="93266"/>
                  <a:pt x="219149" y="99219"/>
                  <a:pt x="211832" y="99219"/>
                </a:cubicBezTo>
                <a:close/>
                <a:moveTo>
                  <a:pt x="92025" y="15379"/>
                </a:moveTo>
                <a:cubicBezTo>
                  <a:pt x="99508" y="13808"/>
                  <a:pt x="105999" y="19926"/>
                  <a:pt x="105999" y="27575"/>
                </a:cubicBezTo>
                <a:lnTo>
                  <a:pt x="105999" y="109141"/>
                </a:lnTo>
                <a:cubicBezTo>
                  <a:pt x="105999" y="111456"/>
                  <a:pt x="106826" y="113688"/>
                  <a:pt x="108272" y="115466"/>
                </a:cubicBezTo>
                <a:lnTo>
                  <a:pt x="162884" y="181364"/>
                </a:lnTo>
                <a:cubicBezTo>
                  <a:pt x="167721" y="187193"/>
                  <a:pt x="166688" y="195998"/>
                  <a:pt x="160032" y="199595"/>
                </a:cubicBezTo>
                <a:cubicBezTo>
                  <a:pt x="145934" y="207285"/>
                  <a:pt x="129770" y="211667"/>
                  <a:pt x="112613" y="211667"/>
                </a:cubicBezTo>
                <a:cubicBezTo>
                  <a:pt x="57836" y="211667"/>
                  <a:pt x="13395" y="167225"/>
                  <a:pt x="13395" y="112448"/>
                </a:cubicBezTo>
                <a:cubicBezTo>
                  <a:pt x="13395" y="64699"/>
                  <a:pt x="47088" y="24846"/>
                  <a:pt x="92025" y="15379"/>
                </a:cubicBezTo>
                <a:close/>
                <a:moveTo>
                  <a:pt x="197528" y="119063"/>
                </a:moveTo>
                <a:lnTo>
                  <a:pt x="223986" y="119063"/>
                </a:lnTo>
                <a:cubicBezTo>
                  <a:pt x="231634" y="119063"/>
                  <a:pt x="237753" y="125553"/>
                  <a:pt x="236182" y="133036"/>
                </a:cubicBezTo>
                <a:cubicBezTo>
                  <a:pt x="231965" y="153045"/>
                  <a:pt x="221713" y="170822"/>
                  <a:pt x="207409" y="184382"/>
                </a:cubicBezTo>
                <a:cubicBezTo>
                  <a:pt x="202324" y="189218"/>
                  <a:pt x="194345" y="188185"/>
                  <a:pt x="189880" y="182769"/>
                </a:cubicBezTo>
                <a:lnTo>
                  <a:pt x="154988" y="140725"/>
                </a:lnTo>
                <a:cubicBezTo>
                  <a:pt x="147836" y="132085"/>
                  <a:pt x="153996" y="119063"/>
                  <a:pt x="165158" y="119063"/>
                </a:cubicBezTo>
                <a:lnTo>
                  <a:pt x="197487" y="119063"/>
                </a:lnTo>
                <a:close/>
              </a:path>
            </a:pathLst>
          </a:custGeom>
          <a:solidFill>
            <a:srgbClr val="4C7E9A"/>
          </a:solidFill>
          <a:ln/>
        </p:spPr>
      </p:sp>
      <p:sp>
        <p:nvSpPr>
          <p:cNvPr id="23" name="Text 21"/>
          <p:cNvSpPr/>
          <p:nvPr/>
        </p:nvSpPr>
        <p:spPr>
          <a:xfrm>
            <a:off x="1026583" y="6154208"/>
            <a:ext cx="14287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加权分位数草图</a:t>
            </a:r>
            <a:endParaRPr lang="en-US" sz="1600" dirty="0"/>
          </a:p>
        </p:txBody>
      </p:sp>
      <p:sp>
        <p:nvSpPr>
          <p:cNvPr id="24" name="Text 22"/>
          <p:cNvSpPr/>
          <p:nvPr/>
        </p:nvSpPr>
        <p:spPr>
          <a:xfrm>
            <a:off x="1026583" y="6450542"/>
            <a:ext cx="1407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快速定位最佳分裂点</a:t>
            </a:r>
            <a:endParaRPr lang="en-US" sz="1600" dirty="0"/>
          </a:p>
        </p:txBody>
      </p:sp>
      <p:sp>
        <p:nvSpPr>
          <p:cNvPr id="25" name="Shape 23"/>
          <p:cNvSpPr/>
          <p:nvPr/>
        </p:nvSpPr>
        <p:spPr>
          <a:xfrm>
            <a:off x="661458" y="6789208"/>
            <a:ext cx="211667" cy="211667"/>
          </a:xfrm>
          <a:custGeom>
            <a:avLst/>
            <a:gdLst/>
            <a:ahLst/>
            <a:cxnLst/>
            <a:rect l="l" t="t" r="r" b="b"/>
            <a:pathLst>
              <a:path w="211667" h="211667">
                <a:moveTo>
                  <a:pt x="92604" y="0"/>
                </a:moveTo>
                <a:cubicBezTo>
                  <a:pt x="107198" y="0"/>
                  <a:pt x="119063" y="8888"/>
                  <a:pt x="119063" y="19844"/>
                </a:cubicBezTo>
                <a:cubicBezTo>
                  <a:pt x="119063" y="24143"/>
                  <a:pt x="117243" y="28112"/>
                  <a:pt x="114102" y="31378"/>
                </a:cubicBezTo>
                <a:cubicBezTo>
                  <a:pt x="111373" y="34230"/>
                  <a:pt x="109141" y="37703"/>
                  <a:pt x="109141" y="41672"/>
                </a:cubicBezTo>
                <a:cubicBezTo>
                  <a:pt x="109141" y="47873"/>
                  <a:pt x="114184" y="52917"/>
                  <a:pt x="120385" y="52917"/>
                </a:cubicBezTo>
                <a:lnTo>
                  <a:pt x="138906" y="52917"/>
                </a:lnTo>
                <a:cubicBezTo>
                  <a:pt x="149862" y="52917"/>
                  <a:pt x="158750" y="61805"/>
                  <a:pt x="158750" y="72760"/>
                </a:cubicBezTo>
                <a:lnTo>
                  <a:pt x="158750" y="91281"/>
                </a:lnTo>
                <a:cubicBezTo>
                  <a:pt x="158750" y="97482"/>
                  <a:pt x="163794" y="102526"/>
                  <a:pt x="169995" y="102526"/>
                </a:cubicBezTo>
                <a:cubicBezTo>
                  <a:pt x="173922" y="102526"/>
                  <a:pt x="177436" y="100294"/>
                  <a:pt x="180289" y="97565"/>
                </a:cubicBezTo>
                <a:cubicBezTo>
                  <a:pt x="183555" y="94465"/>
                  <a:pt x="187523" y="92604"/>
                  <a:pt x="191823" y="92604"/>
                </a:cubicBezTo>
                <a:cubicBezTo>
                  <a:pt x="202778" y="92604"/>
                  <a:pt x="211667" y="104469"/>
                  <a:pt x="211667" y="119063"/>
                </a:cubicBezTo>
                <a:cubicBezTo>
                  <a:pt x="211667" y="133656"/>
                  <a:pt x="202778" y="145521"/>
                  <a:pt x="191823" y="145521"/>
                </a:cubicBezTo>
                <a:cubicBezTo>
                  <a:pt x="187523" y="145521"/>
                  <a:pt x="183513" y="143702"/>
                  <a:pt x="180289" y="140560"/>
                </a:cubicBezTo>
                <a:cubicBezTo>
                  <a:pt x="177436" y="137831"/>
                  <a:pt x="173964" y="135599"/>
                  <a:pt x="169995" y="135599"/>
                </a:cubicBezTo>
                <a:cubicBezTo>
                  <a:pt x="163794" y="135599"/>
                  <a:pt x="158750" y="140643"/>
                  <a:pt x="158750" y="146844"/>
                </a:cubicBezTo>
                <a:lnTo>
                  <a:pt x="158750" y="191823"/>
                </a:lnTo>
                <a:cubicBezTo>
                  <a:pt x="158750" y="202778"/>
                  <a:pt x="149862" y="211667"/>
                  <a:pt x="138906" y="211667"/>
                </a:cubicBezTo>
                <a:lnTo>
                  <a:pt x="115424" y="211667"/>
                </a:lnTo>
                <a:cubicBezTo>
                  <a:pt x="110133" y="211667"/>
                  <a:pt x="105833" y="207367"/>
                  <a:pt x="105833" y="202076"/>
                </a:cubicBezTo>
                <a:cubicBezTo>
                  <a:pt x="105833" y="198272"/>
                  <a:pt x="108231" y="194924"/>
                  <a:pt x="111290" y="192650"/>
                </a:cubicBezTo>
                <a:cubicBezTo>
                  <a:pt x="116086" y="189053"/>
                  <a:pt x="119063" y="184092"/>
                  <a:pt x="119063" y="178594"/>
                </a:cubicBezTo>
                <a:cubicBezTo>
                  <a:pt x="119063" y="167638"/>
                  <a:pt x="107198" y="158750"/>
                  <a:pt x="92604" y="158750"/>
                </a:cubicBezTo>
                <a:cubicBezTo>
                  <a:pt x="78011" y="158750"/>
                  <a:pt x="66146" y="167638"/>
                  <a:pt x="66146" y="178594"/>
                </a:cubicBezTo>
                <a:cubicBezTo>
                  <a:pt x="66146" y="184092"/>
                  <a:pt x="69122" y="189053"/>
                  <a:pt x="73918" y="192650"/>
                </a:cubicBezTo>
                <a:cubicBezTo>
                  <a:pt x="76977" y="194924"/>
                  <a:pt x="79375" y="198231"/>
                  <a:pt x="79375" y="202076"/>
                </a:cubicBezTo>
                <a:cubicBezTo>
                  <a:pt x="79375" y="207367"/>
                  <a:pt x="75076" y="211667"/>
                  <a:pt x="69784" y="211667"/>
                </a:cubicBezTo>
                <a:lnTo>
                  <a:pt x="19844" y="211667"/>
                </a:lnTo>
                <a:cubicBezTo>
                  <a:pt x="8888" y="211667"/>
                  <a:pt x="0" y="202778"/>
                  <a:pt x="0" y="191823"/>
                </a:cubicBezTo>
                <a:lnTo>
                  <a:pt x="0" y="141883"/>
                </a:lnTo>
                <a:cubicBezTo>
                  <a:pt x="0" y="136591"/>
                  <a:pt x="4299" y="132292"/>
                  <a:pt x="9591" y="132292"/>
                </a:cubicBezTo>
                <a:cubicBezTo>
                  <a:pt x="13395" y="132292"/>
                  <a:pt x="16743" y="134689"/>
                  <a:pt x="19017" y="137749"/>
                </a:cubicBezTo>
                <a:cubicBezTo>
                  <a:pt x="22614" y="142544"/>
                  <a:pt x="27575" y="145521"/>
                  <a:pt x="33073" y="145521"/>
                </a:cubicBezTo>
                <a:cubicBezTo>
                  <a:pt x="44028" y="145521"/>
                  <a:pt x="52917" y="133656"/>
                  <a:pt x="52917" y="119063"/>
                </a:cubicBezTo>
                <a:cubicBezTo>
                  <a:pt x="52917" y="104469"/>
                  <a:pt x="44028" y="92604"/>
                  <a:pt x="33073" y="92604"/>
                </a:cubicBezTo>
                <a:cubicBezTo>
                  <a:pt x="27575" y="92604"/>
                  <a:pt x="22614" y="95581"/>
                  <a:pt x="19017" y="100376"/>
                </a:cubicBezTo>
                <a:cubicBezTo>
                  <a:pt x="16743" y="103436"/>
                  <a:pt x="13436" y="105833"/>
                  <a:pt x="9591" y="105833"/>
                </a:cubicBezTo>
                <a:cubicBezTo>
                  <a:pt x="4299" y="105833"/>
                  <a:pt x="0" y="101534"/>
                  <a:pt x="0" y="96242"/>
                </a:cubicBezTo>
                <a:lnTo>
                  <a:pt x="0" y="72760"/>
                </a:lnTo>
                <a:cubicBezTo>
                  <a:pt x="0" y="61805"/>
                  <a:pt x="8888" y="52917"/>
                  <a:pt x="19844" y="52917"/>
                </a:cubicBezTo>
                <a:lnTo>
                  <a:pt x="64823" y="52917"/>
                </a:lnTo>
                <a:cubicBezTo>
                  <a:pt x="71024" y="52917"/>
                  <a:pt x="76068" y="47873"/>
                  <a:pt x="76068" y="41672"/>
                </a:cubicBezTo>
                <a:cubicBezTo>
                  <a:pt x="76068" y="37744"/>
                  <a:pt x="73835" y="34230"/>
                  <a:pt x="71107" y="31378"/>
                </a:cubicBezTo>
                <a:cubicBezTo>
                  <a:pt x="68006" y="28112"/>
                  <a:pt x="66146" y="24143"/>
                  <a:pt x="66146" y="19844"/>
                </a:cubicBezTo>
                <a:cubicBezTo>
                  <a:pt x="66146" y="8888"/>
                  <a:pt x="78011" y="0"/>
                  <a:pt x="92604" y="0"/>
                </a:cubicBezTo>
                <a:close/>
              </a:path>
            </a:pathLst>
          </a:custGeom>
          <a:solidFill>
            <a:srgbClr val="4C7E9A"/>
          </a:solidFill>
          <a:ln/>
        </p:spPr>
      </p:sp>
      <p:sp>
        <p:nvSpPr>
          <p:cNvPr id="26" name="Text 24"/>
          <p:cNvSpPr/>
          <p:nvPr/>
        </p:nvSpPr>
        <p:spPr>
          <a:xfrm>
            <a:off x="1026583" y="6746875"/>
            <a:ext cx="1238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稀疏感知机制</a:t>
            </a:r>
            <a:endParaRPr lang="en-US" sz="1600" dirty="0"/>
          </a:p>
        </p:txBody>
      </p:sp>
      <p:sp>
        <p:nvSpPr>
          <p:cNvPr id="27" name="Text 25"/>
          <p:cNvSpPr/>
          <p:nvPr/>
        </p:nvSpPr>
        <p:spPr>
          <a:xfrm>
            <a:off x="1026583" y="7043208"/>
            <a:ext cx="1217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自动处理缺失值</a:t>
            </a:r>
            <a:endParaRPr lang="en-US" sz="1600" dirty="0"/>
          </a:p>
        </p:txBody>
      </p:sp>
      <p:sp>
        <p:nvSpPr>
          <p:cNvPr id="28" name="Shape 26"/>
          <p:cNvSpPr/>
          <p:nvPr/>
        </p:nvSpPr>
        <p:spPr>
          <a:xfrm>
            <a:off x="661458" y="7381875"/>
            <a:ext cx="211667" cy="211667"/>
          </a:xfrm>
          <a:custGeom>
            <a:avLst/>
            <a:gdLst/>
            <a:ahLst/>
            <a:cxnLst/>
            <a:rect l="l" t="t" r="r" b="b"/>
            <a:pathLst>
              <a:path w="211667" h="211667">
                <a:moveTo>
                  <a:pt x="72760" y="9922"/>
                </a:moveTo>
                <a:cubicBezTo>
                  <a:pt x="72760" y="4424"/>
                  <a:pt x="68337" y="0"/>
                  <a:pt x="62839" y="0"/>
                </a:cubicBezTo>
                <a:cubicBezTo>
                  <a:pt x="57340" y="0"/>
                  <a:pt x="52917" y="4424"/>
                  <a:pt x="52917" y="9922"/>
                </a:cubicBezTo>
                <a:lnTo>
                  <a:pt x="52917" y="26458"/>
                </a:lnTo>
                <a:cubicBezTo>
                  <a:pt x="38323" y="26458"/>
                  <a:pt x="26458" y="38323"/>
                  <a:pt x="26458" y="52917"/>
                </a:cubicBezTo>
                <a:lnTo>
                  <a:pt x="9922" y="52917"/>
                </a:lnTo>
                <a:cubicBezTo>
                  <a:pt x="4424" y="52917"/>
                  <a:pt x="0" y="57340"/>
                  <a:pt x="0" y="62839"/>
                </a:cubicBezTo>
                <a:cubicBezTo>
                  <a:pt x="0" y="68337"/>
                  <a:pt x="4424" y="72760"/>
                  <a:pt x="9922" y="72760"/>
                </a:cubicBezTo>
                <a:lnTo>
                  <a:pt x="26458" y="72760"/>
                </a:lnTo>
                <a:lnTo>
                  <a:pt x="26458" y="95911"/>
                </a:lnTo>
                <a:lnTo>
                  <a:pt x="9922" y="95911"/>
                </a:lnTo>
                <a:cubicBezTo>
                  <a:pt x="4424" y="95911"/>
                  <a:pt x="0" y="100335"/>
                  <a:pt x="0" y="105833"/>
                </a:cubicBezTo>
                <a:cubicBezTo>
                  <a:pt x="0" y="111332"/>
                  <a:pt x="4424" y="115755"/>
                  <a:pt x="9922" y="115755"/>
                </a:cubicBezTo>
                <a:lnTo>
                  <a:pt x="26458" y="115755"/>
                </a:lnTo>
                <a:lnTo>
                  <a:pt x="26458" y="138906"/>
                </a:lnTo>
                <a:lnTo>
                  <a:pt x="9922" y="138906"/>
                </a:lnTo>
                <a:cubicBezTo>
                  <a:pt x="4424" y="138906"/>
                  <a:pt x="0" y="143330"/>
                  <a:pt x="0" y="148828"/>
                </a:cubicBezTo>
                <a:cubicBezTo>
                  <a:pt x="0" y="154326"/>
                  <a:pt x="4424" y="158750"/>
                  <a:pt x="9922" y="158750"/>
                </a:cubicBezTo>
                <a:lnTo>
                  <a:pt x="26458" y="158750"/>
                </a:lnTo>
                <a:cubicBezTo>
                  <a:pt x="26458" y="173343"/>
                  <a:pt x="38323" y="185208"/>
                  <a:pt x="52917" y="185208"/>
                </a:cubicBezTo>
                <a:lnTo>
                  <a:pt x="52917" y="201745"/>
                </a:lnTo>
                <a:cubicBezTo>
                  <a:pt x="52917" y="207243"/>
                  <a:pt x="57340" y="211667"/>
                  <a:pt x="62839" y="211667"/>
                </a:cubicBezTo>
                <a:cubicBezTo>
                  <a:pt x="68337" y="211667"/>
                  <a:pt x="72760" y="207243"/>
                  <a:pt x="72760" y="201745"/>
                </a:cubicBezTo>
                <a:lnTo>
                  <a:pt x="72760" y="185208"/>
                </a:lnTo>
                <a:lnTo>
                  <a:pt x="95911" y="185208"/>
                </a:lnTo>
                <a:lnTo>
                  <a:pt x="95911" y="201745"/>
                </a:lnTo>
                <a:cubicBezTo>
                  <a:pt x="95911" y="207243"/>
                  <a:pt x="100335" y="211667"/>
                  <a:pt x="105833" y="211667"/>
                </a:cubicBezTo>
                <a:cubicBezTo>
                  <a:pt x="111332" y="211667"/>
                  <a:pt x="115755" y="207243"/>
                  <a:pt x="115755" y="201745"/>
                </a:cubicBezTo>
                <a:lnTo>
                  <a:pt x="115755" y="185208"/>
                </a:lnTo>
                <a:lnTo>
                  <a:pt x="138906" y="185208"/>
                </a:lnTo>
                <a:lnTo>
                  <a:pt x="138906" y="201745"/>
                </a:lnTo>
                <a:cubicBezTo>
                  <a:pt x="138906" y="207243"/>
                  <a:pt x="143330" y="211667"/>
                  <a:pt x="148828" y="211667"/>
                </a:cubicBezTo>
                <a:cubicBezTo>
                  <a:pt x="154326" y="211667"/>
                  <a:pt x="158750" y="207243"/>
                  <a:pt x="158750" y="201745"/>
                </a:cubicBezTo>
                <a:lnTo>
                  <a:pt x="158750" y="185208"/>
                </a:lnTo>
                <a:cubicBezTo>
                  <a:pt x="173343" y="185208"/>
                  <a:pt x="185208" y="173343"/>
                  <a:pt x="185208" y="158750"/>
                </a:cubicBezTo>
                <a:lnTo>
                  <a:pt x="201745" y="158750"/>
                </a:lnTo>
                <a:cubicBezTo>
                  <a:pt x="207243" y="158750"/>
                  <a:pt x="211667" y="154326"/>
                  <a:pt x="211667" y="148828"/>
                </a:cubicBezTo>
                <a:cubicBezTo>
                  <a:pt x="211667" y="143330"/>
                  <a:pt x="207243" y="138906"/>
                  <a:pt x="201745" y="138906"/>
                </a:cubicBezTo>
                <a:lnTo>
                  <a:pt x="185208" y="138906"/>
                </a:lnTo>
                <a:lnTo>
                  <a:pt x="185208" y="115755"/>
                </a:lnTo>
                <a:lnTo>
                  <a:pt x="201745" y="115755"/>
                </a:lnTo>
                <a:cubicBezTo>
                  <a:pt x="207243" y="115755"/>
                  <a:pt x="211667" y="111332"/>
                  <a:pt x="211667" y="105833"/>
                </a:cubicBezTo>
                <a:cubicBezTo>
                  <a:pt x="211667" y="100335"/>
                  <a:pt x="207243" y="95911"/>
                  <a:pt x="201745" y="95911"/>
                </a:cubicBezTo>
                <a:lnTo>
                  <a:pt x="185208" y="95911"/>
                </a:lnTo>
                <a:lnTo>
                  <a:pt x="185208" y="72760"/>
                </a:lnTo>
                <a:lnTo>
                  <a:pt x="201745" y="72760"/>
                </a:lnTo>
                <a:cubicBezTo>
                  <a:pt x="207243" y="72760"/>
                  <a:pt x="211667" y="68337"/>
                  <a:pt x="211667" y="62839"/>
                </a:cubicBezTo>
                <a:cubicBezTo>
                  <a:pt x="211667" y="57340"/>
                  <a:pt x="207243" y="52917"/>
                  <a:pt x="201745" y="52917"/>
                </a:cubicBezTo>
                <a:lnTo>
                  <a:pt x="185208" y="52917"/>
                </a:lnTo>
                <a:cubicBezTo>
                  <a:pt x="185208" y="38323"/>
                  <a:pt x="173343" y="26458"/>
                  <a:pt x="158750" y="26458"/>
                </a:cubicBezTo>
                <a:lnTo>
                  <a:pt x="158750" y="9922"/>
                </a:lnTo>
                <a:cubicBezTo>
                  <a:pt x="158750" y="4424"/>
                  <a:pt x="154326" y="0"/>
                  <a:pt x="148828" y="0"/>
                </a:cubicBezTo>
                <a:cubicBezTo>
                  <a:pt x="143330" y="0"/>
                  <a:pt x="138906" y="4424"/>
                  <a:pt x="138906" y="9922"/>
                </a:cubicBezTo>
                <a:lnTo>
                  <a:pt x="138906" y="26458"/>
                </a:lnTo>
                <a:lnTo>
                  <a:pt x="115755" y="26458"/>
                </a:lnTo>
                <a:lnTo>
                  <a:pt x="115755" y="9922"/>
                </a:lnTo>
                <a:cubicBezTo>
                  <a:pt x="115755" y="4424"/>
                  <a:pt x="111332" y="0"/>
                  <a:pt x="105833" y="0"/>
                </a:cubicBezTo>
                <a:cubicBezTo>
                  <a:pt x="100335" y="0"/>
                  <a:pt x="95911" y="4424"/>
                  <a:pt x="95911" y="9922"/>
                </a:cubicBezTo>
                <a:lnTo>
                  <a:pt x="95911" y="26458"/>
                </a:lnTo>
                <a:lnTo>
                  <a:pt x="72760" y="26458"/>
                </a:lnTo>
                <a:lnTo>
                  <a:pt x="72760" y="9922"/>
                </a:lnTo>
                <a:close/>
                <a:moveTo>
                  <a:pt x="66146" y="52917"/>
                </a:moveTo>
                <a:lnTo>
                  <a:pt x="145521" y="52917"/>
                </a:lnTo>
                <a:cubicBezTo>
                  <a:pt x="152838" y="52917"/>
                  <a:pt x="158750" y="58828"/>
                  <a:pt x="158750" y="66146"/>
                </a:cubicBezTo>
                <a:lnTo>
                  <a:pt x="158750" y="145521"/>
                </a:lnTo>
                <a:cubicBezTo>
                  <a:pt x="158750" y="152838"/>
                  <a:pt x="152838" y="158750"/>
                  <a:pt x="145521" y="158750"/>
                </a:cubicBezTo>
                <a:lnTo>
                  <a:pt x="66146" y="158750"/>
                </a:lnTo>
                <a:cubicBezTo>
                  <a:pt x="58828" y="158750"/>
                  <a:pt x="52917" y="152838"/>
                  <a:pt x="52917" y="145521"/>
                </a:cubicBezTo>
                <a:lnTo>
                  <a:pt x="52917" y="66146"/>
                </a:lnTo>
                <a:cubicBezTo>
                  <a:pt x="52917" y="58828"/>
                  <a:pt x="58828" y="52917"/>
                  <a:pt x="66146" y="52917"/>
                </a:cubicBezTo>
                <a:close/>
                <a:moveTo>
                  <a:pt x="72760" y="72760"/>
                </a:moveTo>
                <a:lnTo>
                  <a:pt x="72760" y="138906"/>
                </a:lnTo>
                <a:lnTo>
                  <a:pt x="138906" y="138906"/>
                </a:lnTo>
                <a:lnTo>
                  <a:pt x="138906" y="72760"/>
                </a:lnTo>
                <a:lnTo>
                  <a:pt x="72760" y="72760"/>
                </a:lnTo>
                <a:close/>
              </a:path>
            </a:pathLst>
          </a:custGeom>
          <a:solidFill>
            <a:srgbClr val="4C7E9A"/>
          </a:solidFill>
          <a:ln/>
        </p:spPr>
      </p:sp>
      <p:sp>
        <p:nvSpPr>
          <p:cNvPr id="29" name="Text 27"/>
          <p:cNvSpPr/>
          <p:nvPr/>
        </p:nvSpPr>
        <p:spPr>
          <a:xfrm>
            <a:off x="1026583" y="7339542"/>
            <a:ext cx="1619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特征粒度并行计算</a:t>
            </a:r>
            <a:endParaRPr lang="en-US" sz="1600" dirty="0"/>
          </a:p>
        </p:txBody>
      </p:sp>
      <p:sp>
        <p:nvSpPr>
          <p:cNvPr id="30" name="Text 28"/>
          <p:cNvSpPr/>
          <p:nvPr/>
        </p:nvSpPr>
        <p:spPr>
          <a:xfrm>
            <a:off x="1026583" y="7635875"/>
            <a:ext cx="1598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充分释放多核CPU算力</a:t>
            </a:r>
            <a:endParaRPr lang="en-US" sz="1600" dirty="0"/>
          </a:p>
        </p:txBody>
      </p:sp>
      <p:pic>
        <p:nvPicPr>
          <p:cNvPr id="31" name="Image 0" descr="https://kimi-img.moonshot.cn/pub/slides/26-01-07-11:57:46-d5etjengt7e5brrc7dkg.png">    </p:cNvPr>
          <p:cNvPicPr>
            <a:picLocks noChangeAspect="1"/>
          </p:cNvPicPr>
          <p:nvPr/>
        </p:nvPicPr>
        <p:blipFill>
          <a:blip r:embed="rId1"/>
          <a:srcRect l="0" r="0" t="0" b="0"/>
          <a:stretch/>
        </p:blipFill>
        <p:spPr>
          <a:xfrm>
            <a:off x="8233833" y="1524000"/>
            <a:ext cx="6244167" cy="2963333"/>
          </a:xfrm>
          <a:prstGeom prst="roundRect">
            <a:avLst>
              <a:gd name="adj" fmla="val 0"/>
            </a:avLst>
          </a:prstGeom>
        </p:spPr>
      </p:pic>
      <p:sp>
        <p:nvSpPr>
          <p:cNvPr id="32" name="Shape 29"/>
          <p:cNvSpPr/>
          <p:nvPr/>
        </p:nvSpPr>
        <p:spPr>
          <a:xfrm>
            <a:off x="8239125" y="4661958"/>
            <a:ext cx="7588250" cy="2423583"/>
          </a:xfrm>
          <a:custGeom>
            <a:avLst/>
            <a:gdLst/>
            <a:ahLst/>
            <a:cxnLst/>
            <a:rect l="l" t="t" r="r" b="b"/>
            <a:pathLst>
              <a:path w="7588250" h="2423583">
                <a:moveTo>
                  <a:pt x="84656" y="0"/>
                </a:moveTo>
                <a:lnTo>
                  <a:pt x="7503594" y="0"/>
                </a:lnTo>
                <a:cubicBezTo>
                  <a:pt x="7550348" y="0"/>
                  <a:pt x="7588250" y="37902"/>
                  <a:pt x="7588250" y="84656"/>
                </a:cubicBezTo>
                <a:lnTo>
                  <a:pt x="7588250" y="2338928"/>
                </a:lnTo>
                <a:cubicBezTo>
                  <a:pt x="7588250" y="2385682"/>
                  <a:pt x="7550348" y="2423583"/>
                  <a:pt x="7503594" y="2423583"/>
                </a:cubicBezTo>
                <a:lnTo>
                  <a:pt x="84656" y="2423583"/>
                </a:lnTo>
                <a:cubicBezTo>
                  <a:pt x="37902" y="2423583"/>
                  <a:pt x="0" y="2385682"/>
                  <a:pt x="0" y="2338928"/>
                </a:cubicBezTo>
                <a:lnTo>
                  <a:pt x="0" y="84656"/>
                </a:lnTo>
                <a:cubicBezTo>
                  <a:pt x="0" y="37902"/>
                  <a:pt x="37902" y="0"/>
                  <a:pt x="84656" y="0"/>
                </a:cubicBezTo>
                <a:close/>
              </a:path>
            </a:pathLst>
          </a:custGeom>
          <a:solidFill>
            <a:srgbClr val="3A5E78">
              <a:alpha val="20000"/>
            </a:srgbClr>
          </a:solidFill>
          <a:ln w="12700">
            <a:solidFill>
              <a:srgbClr val="4C7E9A">
                <a:alpha val="50196"/>
              </a:srgbClr>
            </a:solidFill>
            <a:prstDash val="solid"/>
          </a:ln>
        </p:spPr>
      </p:sp>
      <p:sp>
        <p:nvSpPr>
          <p:cNvPr id="33" name="Text 30"/>
          <p:cNvSpPr/>
          <p:nvPr/>
        </p:nvSpPr>
        <p:spPr>
          <a:xfrm>
            <a:off x="8413750" y="4836583"/>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XGBoost vs 传统GBDT</a:t>
            </a:r>
            <a:endParaRPr lang="en-US" sz="1600" dirty="0"/>
          </a:p>
        </p:txBody>
      </p:sp>
      <p:sp>
        <p:nvSpPr>
          <p:cNvPr id="34" name="Shape 31"/>
          <p:cNvSpPr/>
          <p:nvPr/>
        </p:nvSpPr>
        <p:spPr>
          <a:xfrm>
            <a:off x="8413750" y="5302250"/>
            <a:ext cx="3556000" cy="1608667"/>
          </a:xfrm>
          <a:custGeom>
            <a:avLst/>
            <a:gdLst/>
            <a:ahLst/>
            <a:cxnLst/>
            <a:rect l="l" t="t" r="r" b="b"/>
            <a:pathLst>
              <a:path w="3556000" h="1608667">
                <a:moveTo>
                  <a:pt x="84664" y="0"/>
                </a:moveTo>
                <a:lnTo>
                  <a:pt x="3471336" y="0"/>
                </a:lnTo>
                <a:cubicBezTo>
                  <a:pt x="3518095" y="0"/>
                  <a:pt x="3556000" y="37905"/>
                  <a:pt x="3556000" y="84664"/>
                </a:cubicBezTo>
                <a:lnTo>
                  <a:pt x="3556000" y="1524003"/>
                </a:lnTo>
                <a:cubicBezTo>
                  <a:pt x="3556000" y="1570761"/>
                  <a:pt x="3518095" y="1608667"/>
                  <a:pt x="3471336" y="1608667"/>
                </a:cubicBezTo>
                <a:lnTo>
                  <a:pt x="84664" y="1608667"/>
                </a:lnTo>
                <a:cubicBezTo>
                  <a:pt x="37905" y="1608667"/>
                  <a:pt x="0" y="1570761"/>
                  <a:pt x="0" y="1524003"/>
                </a:cubicBezTo>
                <a:lnTo>
                  <a:pt x="0" y="84664"/>
                </a:lnTo>
                <a:cubicBezTo>
                  <a:pt x="0" y="37937"/>
                  <a:pt x="37937" y="0"/>
                  <a:pt x="84664" y="0"/>
                </a:cubicBezTo>
                <a:close/>
              </a:path>
            </a:pathLst>
          </a:custGeom>
          <a:solidFill>
            <a:srgbClr val="181A1F">
              <a:alpha val="50196"/>
            </a:srgbClr>
          </a:solidFill>
          <a:ln/>
        </p:spPr>
      </p:sp>
      <p:sp>
        <p:nvSpPr>
          <p:cNvPr id="35" name="Text 32"/>
          <p:cNvSpPr/>
          <p:nvPr/>
        </p:nvSpPr>
        <p:spPr>
          <a:xfrm>
            <a:off x="8540750" y="5429250"/>
            <a:ext cx="3397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传统GBDT</a:t>
            </a:r>
            <a:endParaRPr lang="en-US" sz="1600" dirty="0"/>
          </a:p>
        </p:txBody>
      </p:sp>
      <p:sp>
        <p:nvSpPr>
          <p:cNvPr id="36" name="Text 33"/>
          <p:cNvSpPr/>
          <p:nvPr/>
        </p:nvSpPr>
        <p:spPr>
          <a:xfrm>
            <a:off x="8540750" y="5810250"/>
            <a:ext cx="3376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仅一阶梯度</a:t>
            </a:r>
            <a:endParaRPr lang="en-US" sz="1600" dirty="0"/>
          </a:p>
        </p:txBody>
      </p:sp>
      <p:sp>
        <p:nvSpPr>
          <p:cNvPr id="37" name="Text 34"/>
          <p:cNvSpPr/>
          <p:nvPr/>
        </p:nvSpPr>
        <p:spPr>
          <a:xfrm>
            <a:off x="8540750" y="6064250"/>
            <a:ext cx="3376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无正则化</a:t>
            </a:r>
            <a:endParaRPr lang="en-US" sz="1600" dirty="0"/>
          </a:p>
        </p:txBody>
      </p:sp>
      <p:sp>
        <p:nvSpPr>
          <p:cNvPr id="38" name="Text 35"/>
          <p:cNvSpPr/>
          <p:nvPr/>
        </p:nvSpPr>
        <p:spPr>
          <a:xfrm>
            <a:off x="8540750" y="6318250"/>
            <a:ext cx="3376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串行训练</a:t>
            </a:r>
            <a:endParaRPr lang="en-US" sz="1600" dirty="0"/>
          </a:p>
        </p:txBody>
      </p:sp>
      <p:sp>
        <p:nvSpPr>
          <p:cNvPr id="39" name="Text 36"/>
          <p:cNvSpPr/>
          <p:nvPr/>
        </p:nvSpPr>
        <p:spPr>
          <a:xfrm>
            <a:off x="8540750" y="6572250"/>
            <a:ext cx="3376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处理缺失值能力弱</a:t>
            </a:r>
            <a:endParaRPr lang="en-US" sz="1600" dirty="0"/>
          </a:p>
        </p:txBody>
      </p:sp>
      <p:sp>
        <p:nvSpPr>
          <p:cNvPr id="40" name="Shape 37"/>
          <p:cNvSpPr/>
          <p:nvPr/>
        </p:nvSpPr>
        <p:spPr>
          <a:xfrm>
            <a:off x="12096750" y="5302250"/>
            <a:ext cx="3556000" cy="1608667"/>
          </a:xfrm>
          <a:custGeom>
            <a:avLst/>
            <a:gdLst/>
            <a:ahLst/>
            <a:cxnLst/>
            <a:rect l="l" t="t" r="r" b="b"/>
            <a:pathLst>
              <a:path w="3556000" h="1608667">
                <a:moveTo>
                  <a:pt x="84664" y="0"/>
                </a:moveTo>
                <a:lnTo>
                  <a:pt x="3471336" y="0"/>
                </a:lnTo>
                <a:cubicBezTo>
                  <a:pt x="3518095" y="0"/>
                  <a:pt x="3556000" y="37905"/>
                  <a:pt x="3556000" y="84664"/>
                </a:cubicBezTo>
                <a:lnTo>
                  <a:pt x="3556000" y="1524003"/>
                </a:lnTo>
                <a:cubicBezTo>
                  <a:pt x="3556000" y="1570761"/>
                  <a:pt x="3518095" y="1608667"/>
                  <a:pt x="3471336" y="1608667"/>
                </a:cubicBezTo>
                <a:lnTo>
                  <a:pt x="84664" y="1608667"/>
                </a:lnTo>
                <a:cubicBezTo>
                  <a:pt x="37905" y="1608667"/>
                  <a:pt x="0" y="1570761"/>
                  <a:pt x="0" y="1524003"/>
                </a:cubicBezTo>
                <a:lnTo>
                  <a:pt x="0" y="84664"/>
                </a:lnTo>
                <a:cubicBezTo>
                  <a:pt x="0" y="37937"/>
                  <a:pt x="37937" y="0"/>
                  <a:pt x="84664" y="0"/>
                </a:cubicBezTo>
                <a:close/>
              </a:path>
            </a:pathLst>
          </a:custGeom>
          <a:solidFill>
            <a:srgbClr val="181A1F">
              <a:alpha val="50196"/>
            </a:srgbClr>
          </a:solidFill>
          <a:ln/>
        </p:spPr>
      </p:sp>
      <p:sp>
        <p:nvSpPr>
          <p:cNvPr id="41" name="Text 38"/>
          <p:cNvSpPr/>
          <p:nvPr/>
        </p:nvSpPr>
        <p:spPr>
          <a:xfrm>
            <a:off x="12223750" y="5429250"/>
            <a:ext cx="3397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XGBoost</a:t>
            </a:r>
            <a:endParaRPr lang="en-US" sz="1600" dirty="0"/>
          </a:p>
        </p:txBody>
      </p:sp>
      <p:sp>
        <p:nvSpPr>
          <p:cNvPr id="42" name="Text 39"/>
          <p:cNvSpPr/>
          <p:nvPr/>
        </p:nvSpPr>
        <p:spPr>
          <a:xfrm>
            <a:off x="12223750" y="5810250"/>
            <a:ext cx="3376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二阶泰勒展开</a:t>
            </a:r>
            <a:endParaRPr lang="en-US" sz="1600" dirty="0"/>
          </a:p>
        </p:txBody>
      </p:sp>
      <p:sp>
        <p:nvSpPr>
          <p:cNvPr id="43" name="Text 40"/>
          <p:cNvSpPr/>
          <p:nvPr/>
        </p:nvSpPr>
        <p:spPr>
          <a:xfrm>
            <a:off x="12223750" y="6064250"/>
            <a:ext cx="3376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显式正则化</a:t>
            </a:r>
            <a:endParaRPr lang="en-US" sz="1600" dirty="0"/>
          </a:p>
        </p:txBody>
      </p:sp>
      <p:sp>
        <p:nvSpPr>
          <p:cNvPr id="44" name="Text 41"/>
          <p:cNvSpPr/>
          <p:nvPr/>
        </p:nvSpPr>
        <p:spPr>
          <a:xfrm>
            <a:off x="12223750" y="6318250"/>
            <a:ext cx="3376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特征并行</a:t>
            </a:r>
            <a:endParaRPr lang="en-US" sz="1600" dirty="0"/>
          </a:p>
        </p:txBody>
      </p:sp>
      <p:sp>
        <p:nvSpPr>
          <p:cNvPr id="45" name="Text 42"/>
          <p:cNvSpPr/>
          <p:nvPr/>
        </p:nvSpPr>
        <p:spPr>
          <a:xfrm>
            <a:off x="12223750" y="6572250"/>
            <a:ext cx="3376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稀疏感知机制</a:t>
            </a:r>
            <a:endParaRPr lang="en-US" sz="1600" dirty="0"/>
          </a:p>
        </p:txBody>
      </p:sp>
      <p:sp>
        <p:nvSpPr>
          <p:cNvPr id="46" name="Shape 43"/>
          <p:cNvSpPr/>
          <p:nvPr/>
        </p:nvSpPr>
        <p:spPr>
          <a:xfrm>
            <a:off x="8239125" y="7265458"/>
            <a:ext cx="7588250" cy="1873250"/>
          </a:xfrm>
          <a:custGeom>
            <a:avLst/>
            <a:gdLst/>
            <a:ahLst/>
            <a:cxnLst/>
            <a:rect l="l" t="t" r="r" b="b"/>
            <a:pathLst>
              <a:path w="7588250" h="1873250">
                <a:moveTo>
                  <a:pt x="84671" y="0"/>
                </a:moveTo>
                <a:lnTo>
                  <a:pt x="7503579" y="0"/>
                </a:lnTo>
                <a:cubicBezTo>
                  <a:pt x="7550342" y="0"/>
                  <a:pt x="7588250" y="37908"/>
                  <a:pt x="7588250" y="84671"/>
                </a:cubicBezTo>
                <a:lnTo>
                  <a:pt x="7588250" y="1788579"/>
                </a:lnTo>
                <a:cubicBezTo>
                  <a:pt x="7588250" y="1835342"/>
                  <a:pt x="7550342" y="1873250"/>
                  <a:pt x="7503579" y="1873250"/>
                </a:cubicBezTo>
                <a:lnTo>
                  <a:pt x="84671" y="1873250"/>
                </a:lnTo>
                <a:cubicBezTo>
                  <a:pt x="37908" y="1873250"/>
                  <a:pt x="0" y="1835342"/>
                  <a:pt x="0" y="1788579"/>
                </a:cubicBezTo>
                <a:lnTo>
                  <a:pt x="0" y="84671"/>
                </a:lnTo>
                <a:cubicBezTo>
                  <a:pt x="0" y="37940"/>
                  <a:pt x="37940" y="0"/>
                  <a:pt x="84671" y="0"/>
                </a:cubicBezTo>
                <a:close/>
              </a:path>
            </a:pathLst>
          </a:custGeom>
          <a:solidFill>
            <a:srgbClr val="4C7E9A">
              <a:alpha val="10196"/>
            </a:srgbClr>
          </a:solidFill>
          <a:ln w="12700">
            <a:solidFill>
              <a:srgbClr val="4C7E9A">
                <a:alpha val="30196"/>
              </a:srgbClr>
            </a:solidFill>
            <a:prstDash val="solid"/>
          </a:ln>
        </p:spPr>
      </p:sp>
      <p:sp>
        <p:nvSpPr>
          <p:cNvPr id="47" name="Text 44"/>
          <p:cNvSpPr/>
          <p:nvPr/>
        </p:nvSpPr>
        <p:spPr>
          <a:xfrm>
            <a:off x="8413750" y="7440083"/>
            <a:ext cx="7344833" cy="296333"/>
          </a:xfrm>
          <a:prstGeom prst="rect">
            <a:avLst/>
          </a:prstGeom>
          <a:noFill/>
          <a:ln/>
        </p:spPr>
        <p:txBody>
          <a:bodyPr wrap="square" lIns="0" tIns="0" rIns="0" bIns="0" rtlCol="0" anchor="ctr"/>
          <a:lstStyle/>
          <a:p>
            <a:pPr>
              <a:lnSpc>
                <a:spcPct val="120000"/>
              </a:lnSpc>
            </a:pPr>
            <a:r>
              <a:rPr lang="en-US" sz="1667" b="1" dirty="0">
                <a:solidFill>
                  <a:srgbClr val="4C7E9A"/>
                </a:solidFill>
                <a:latin typeface="MiSans" pitchFamily="34" charset="0"/>
                <a:ea typeface="MiSans" pitchFamily="34" charset="-122"/>
                <a:cs typeface="MiSans" pitchFamily="34" charset="-120"/>
              </a:rPr>
              <a:t>适用场景</a:t>
            </a:r>
            <a:endParaRPr lang="en-US" sz="1600" dirty="0"/>
          </a:p>
        </p:txBody>
      </p:sp>
      <p:sp>
        <p:nvSpPr>
          <p:cNvPr id="48" name="Shape 45"/>
          <p:cNvSpPr/>
          <p:nvPr/>
        </p:nvSpPr>
        <p:spPr>
          <a:xfrm>
            <a:off x="8445500" y="7868708"/>
            <a:ext cx="148167" cy="169333"/>
          </a:xfrm>
          <a:custGeom>
            <a:avLst/>
            <a:gdLst/>
            <a:ahLst/>
            <a:cxnLst/>
            <a:rect l="l" t="t" r="r" b="b"/>
            <a:pathLst>
              <a:path w="148167" h="169333">
                <a:moveTo>
                  <a:pt x="143801" y="23184"/>
                </a:moveTo>
                <a:cubicBezTo>
                  <a:pt x="148530" y="26624"/>
                  <a:pt x="149589" y="33238"/>
                  <a:pt x="146149" y="37968"/>
                </a:cubicBezTo>
                <a:lnTo>
                  <a:pt x="61483" y="154384"/>
                </a:lnTo>
                <a:cubicBezTo>
                  <a:pt x="59664" y="156898"/>
                  <a:pt x="56852" y="158452"/>
                  <a:pt x="53743" y="158717"/>
                </a:cubicBezTo>
                <a:cubicBezTo>
                  <a:pt x="50635" y="158982"/>
                  <a:pt x="47625" y="157824"/>
                  <a:pt x="45442" y="155641"/>
                </a:cubicBezTo>
                <a:lnTo>
                  <a:pt x="3109" y="113308"/>
                </a:lnTo>
                <a:cubicBezTo>
                  <a:pt x="-1025" y="109174"/>
                  <a:pt x="-1025" y="102460"/>
                  <a:pt x="3109" y="98326"/>
                </a:cubicBezTo>
                <a:cubicBezTo>
                  <a:pt x="7243" y="94192"/>
                  <a:pt x="13957" y="94192"/>
                  <a:pt x="18091" y="98326"/>
                </a:cubicBezTo>
                <a:lnTo>
                  <a:pt x="51660" y="131895"/>
                </a:lnTo>
                <a:lnTo>
                  <a:pt x="129051" y="25499"/>
                </a:lnTo>
                <a:cubicBezTo>
                  <a:pt x="132490" y="20770"/>
                  <a:pt x="139105" y="19711"/>
                  <a:pt x="143834" y="23151"/>
                </a:cubicBezTo>
                <a:close/>
              </a:path>
            </a:pathLst>
          </a:custGeom>
          <a:solidFill>
            <a:srgbClr val="4C7E9A"/>
          </a:solidFill>
          <a:ln/>
        </p:spPr>
      </p:sp>
      <p:sp>
        <p:nvSpPr>
          <p:cNvPr id="49" name="Text 46"/>
          <p:cNvSpPr/>
          <p:nvPr/>
        </p:nvSpPr>
        <p:spPr>
          <a:xfrm>
            <a:off x="8695972" y="7821083"/>
            <a:ext cx="7041444"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中等规模数据集</a:t>
            </a:r>
            <a:endParaRPr lang="en-US" sz="1600" dirty="0"/>
          </a:p>
        </p:txBody>
      </p:sp>
      <p:sp>
        <p:nvSpPr>
          <p:cNvPr id="50" name="Shape 47"/>
          <p:cNvSpPr/>
          <p:nvPr/>
        </p:nvSpPr>
        <p:spPr>
          <a:xfrm>
            <a:off x="8445500" y="8165042"/>
            <a:ext cx="148167" cy="169333"/>
          </a:xfrm>
          <a:custGeom>
            <a:avLst/>
            <a:gdLst/>
            <a:ahLst/>
            <a:cxnLst/>
            <a:rect l="l" t="t" r="r" b="b"/>
            <a:pathLst>
              <a:path w="148167" h="169333">
                <a:moveTo>
                  <a:pt x="143801" y="23184"/>
                </a:moveTo>
                <a:cubicBezTo>
                  <a:pt x="148530" y="26624"/>
                  <a:pt x="149589" y="33238"/>
                  <a:pt x="146149" y="37968"/>
                </a:cubicBezTo>
                <a:lnTo>
                  <a:pt x="61483" y="154384"/>
                </a:lnTo>
                <a:cubicBezTo>
                  <a:pt x="59664" y="156898"/>
                  <a:pt x="56852" y="158452"/>
                  <a:pt x="53743" y="158717"/>
                </a:cubicBezTo>
                <a:cubicBezTo>
                  <a:pt x="50635" y="158982"/>
                  <a:pt x="47625" y="157824"/>
                  <a:pt x="45442" y="155641"/>
                </a:cubicBezTo>
                <a:lnTo>
                  <a:pt x="3109" y="113308"/>
                </a:lnTo>
                <a:cubicBezTo>
                  <a:pt x="-1025" y="109174"/>
                  <a:pt x="-1025" y="102460"/>
                  <a:pt x="3109" y="98326"/>
                </a:cubicBezTo>
                <a:cubicBezTo>
                  <a:pt x="7243" y="94192"/>
                  <a:pt x="13957" y="94192"/>
                  <a:pt x="18091" y="98326"/>
                </a:cubicBezTo>
                <a:lnTo>
                  <a:pt x="51660" y="131895"/>
                </a:lnTo>
                <a:lnTo>
                  <a:pt x="129051" y="25499"/>
                </a:lnTo>
                <a:cubicBezTo>
                  <a:pt x="132490" y="20770"/>
                  <a:pt x="139105" y="19711"/>
                  <a:pt x="143834" y="23151"/>
                </a:cubicBezTo>
                <a:close/>
              </a:path>
            </a:pathLst>
          </a:custGeom>
          <a:solidFill>
            <a:srgbClr val="4C7E9A"/>
          </a:solidFill>
          <a:ln/>
        </p:spPr>
      </p:sp>
      <p:sp>
        <p:nvSpPr>
          <p:cNvPr id="51" name="Text 48"/>
          <p:cNvSpPr/>
          <p:nvPr/>
        </p:nvSpPr>
        <p:spPr>
          <a:xfrm>
            <a:off x="8695972" y="8117417"/>
            <a:ext cx="7041444"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对精度要求极高</a:t>
            </a:r>
            <a:endParaRPr lang="en-US" sz="1600" dirty="0"/>
          </a:p>
        </p:txBody>
      </p:sp>
      <p:sp>
        <p:nvSpPr>
          <p:cNvPr id="52" name="Shape 49"/>
          <p:cNvSpPr/>
          <p:nvPr/>
        </p:nvSpPr>
        <p:spPr>
          <a:xfrm>
            <a:off x="8445500" y="8461375"/>
            <a:ext cx="148167" cy="169333"/>
          </a:xfrm>
          <a:custGeom>
            <a:avLst/>
            <a:gdLst/>
            <a:ahLst/>
            <a:cxnLst/>
            <a:rect l="l" t="t" r="r" b="b"/>
            <a:pathLst>
              <a:path w="148167" h="169333">
                <a:moveTo>
                  <a:pt x="143801" y="23184"/>
                </a:moveTo>
                <a:cubicBezTo>
                  <a:pt x="148530" y="26624"/>
                  <a:pt x="149589" y="33238"/>
                  <a:pt x="146149" y="37968"/>
                </a:cubicBezTo>
                <a:lnTo>
                  <a:pt x="61483" y="154384"/>
                </a:lnTo>
                <a:cubicBezTo>
                  <a:pt x="59664" y="156898"/>
                  <a:pt x="56852" y="158452"/>
                  <a:pt x="53743" y="158717"/>
                </a:cubicBezTo>
                <a:cubicBezTo>
                  <a:pt x="50635" y="158982"/>
                  <a:pt x="47625" y="157824"/>
                  <a:pt x="45442" y="155641"/>
                </a:cubicBezTo>
                <a:lnTo>
                  <a:pt x="3109" y="113308"/>
                </a:lnTo>
                <a:cubicBezTo>
                  <a:pt x="-1025" y="109174"/>
                  <a:pt x="-1025" y="102460"/>
                  <a:pt x="3109" y="98326"/>
                </a:cubicBezTo>
                <a:cubicBezTo>
                  <a:pt x="7243" y="94192"/>
                  <a:pt x="13957" y="94192"/>
                  <a:pt x="18091" y="98326"/>
                </a:cubicBezTo>
                <a:lnTo>
                  <a:pt x="51660" y="131895"/>
                </a:lnTo>
                <a:lnTo>
                  <a:pt x="129051" y="25499"/>
                </a:lnTo>
                <a:cubicBezTo>
                  <a:pt x="132490" y="20770"/>
                  <a:pt x="139105" y="19711"/>
                  <a:pt x="143834" y="23151"/>
                </a:cubicBezTo>
                <a:close/>
              </a:path>
            </a:pathLst>
          </a:custGeom>
          <a:solidFill>
            <a:srgbClr val="4C7E9A"/>
          </a:solidFill>
          <a:ln/>
        </p:spPr>
      </p:sp>
      <p:sp>
        <p:nvSpPr>
          <p:cNvPr id="53" name="Text 50"/>
          <p:cNvSpPr/>
          <p:nvPr/>
        </p:nvSpPr>
        <p:spPr>
          <a:xfrm>
            <a:off x="8695972" y="8413750"/>
            <a:ext cx="7041444"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需要正则化控制过拟合</a:t>
            </a:r>
            <a:endParaRPr lang="en-US" sz="1600" dirty="0"/>
          </a:p>
        </p:txBody>
      </p:sp>
      <p:sp>
        <p:nvSpPr>
          <p:cNvPr id="54" name="Shape 51"/>
          <p:cNvSpPr/>
          <p:nvPr/>
        </p:nvSpPr>
        <p:spPr>
          <a:xfrm>
            <a:off x="8445500" y="8757708"/>
            <a:ext cx="148167" cy="169333"/>
          </a:xfrm>
          <a:custGeom>
            <a:avLst/>
            <a:gdLst/>
            <a:ahLst/>
            <a:cxnLst/>
            <a:rect l="l" t="t" r="r" b="b"/>
            <a:pathLst>
              <a:path w="148167" h="169333">
                <a:moveTo>
                  <a:pt x="143801" y="23184"/>
                </a:moveTo>
                <a:cubicBezTo>
                  <a:pt x="148530" y="26624"/>
                  <a:pt x="149589" y="33238"/>
                  <a:pt x="146149" y="37968"/>
                </a:cubicBezTo>
                <a:lnTo>
                  <a:pt x="61483" y="154384"/>
                </a:lnTo>
                <a:cubicBezTo>
                  <a:pt x="59664" y="156898"/>
                  <a:pt x="56852" y="158452"/>
                  <a:pt x="53743" y="158717"/>
                </a:cubicBezTo>
                <a:cubicBezTo>
                  <a:pt x="50635" y="158982"/>
                  <a:pt x="47625" y="157824"/>
                  <a:pt x="45442" y="155641"/>
                </a:cubicBezTo>
                <a:lnTo>
                  <a:pt x="3109" y="113308"/>
                </a:lnTo>
                <a:cubicBezTo>
                  <a:pt x="-1025" y="109174"/>
                  <a:pt x="-1025" y="102460"/>
                  <a:pt x="3109" y="98326"/>
                </a:cubicBezTo>
                <a:cubicBezTo>
                  <a:pt x="7243" y="94192"/>
                  <a:pt x="13957" y="94192"/>
                  <a:pt x="18091" y="98326"/>
                </a:cubicBezTo>
                <a:lnTo>
                  <a:pt x="51660" y="131895"/>
                </a:lnTo>
                <a:lnTo>
                  <a:pt x="129051" y="25499"/>
                </a:lnTo>
                <a:cubicBezTo>
                  <a:pt x="132490" y="20770"/>
                  <a:pt x="139105" y="19711"/>
                  <a:pt x="143834" y="23151"/>
                </a:cubicBezTo>
                <a:close/>
              </a:path>
            </a:pathLst>
          </a:custGeom>
          <a:solidFill>
            <a:srgbClr val="4C7E9A"/>
          </a:solidFill>
          <a:ln/>
        </p:spPr>
      </p:sp>
      <p:sp>
        <p:nvSpPr>
          <p:cNvPr id="55" name="Text 52"/>
          <p:cNvSpPr/>
          <p:nvPr/>
        </p:nvSpPr>
        <p:spPr>
          <a:xfrm>
            <a:off x="8695972" y="8710083"/>
            <a:ext cx="7041444"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需要深入的可解释性分析</a:t>
            </a:r>
            <a:endParaRPr lang="en-US" sz="1600" dirty="0"/>
          </a:p>
        </p:txBody>
      </p:sp>
    </p:spTree>
  </p:cSld>
  <p:clrMapOvr>
    <a:masterClrMapping/>
  </p:clrMapOvr>
  <p:transition>
    <p:fade/>
    <p:spd val="med"/>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42340" y="442340"/>
            <a:ext cx="15459788" cy="265404"/>
          </a:xfrm>
          <a:prstGeom prst="rect">
            <a:avLst/>
          </a:prstGeom>
          <a:noFill/>
          <a:ln/>
        </p:spPr>
        <p:txBody>
          <a:bodyPr wrap="square" lIns="0" tIns="0" rIns="0" bIns="0" rtlCol="0" anchor="ctr"/>
          <a:lstStyle/>
          <a:p>
            <a:pPr>
              <a:lnSpc>
                <a:spcPct val="130000"/>
              </a:lnSpc>
            </a:pPr>
            <a:r>
              <a:rPr lang="en-US" sz="1393" b="1" spc="70" kern="0" dirty="0">
                <a:solidFill>
                  <a:srgbClr val="7E9AA8"/>
                </a:solidFill>
                <a:latin typeface="MiSans" pitchFamily="34" charset="0"/>
                <a:ea typeface="MiSans" pitchFamily="34" charset="-122"/>
                <a:cs typeface="MiSans" pitchFamily="34" charset="-120"/>
              </a:rPr>
              <a:t>MODERN BOOSTING</a:t>
            </a:r>
            <a:endParaRPr lang="en-US" sz="1600" dirty="0"/>
          </a:p>
        </p:txBody>
      </p:sp>
      <p:sp>
        <p:nvSpPr>
          <p:cNvPr id="3" name="Text 1"/>
          <p:cNvSpPr/>
          <p:nvPr/>
        </p:nvSpPr>
        <p:spPr>
          <a:xfrm>
            <a:off x="442340" y="796212"/>
            <a:ext cx="15570373" cy="442340"/>
          </a:xfrm>
          <a:prstGeom prst="rect">
            <a:avLst/>
          </a:prstGeom>
          <a:noFill/>
          <a:ln/>
        </p:spPr>
        <p:txBody>
          <a:bodyPr wrap="square" lIns="0" tIns="0" rIns="0" bIns="0" rtlCol="0" anchor="ctr"/>
          <a:lstStyle/>
          <a:p>
            <a:pPr>
              <a:lnSpc>
                <a:spcPct val="90000"/>
              </a:lnSpc>
            </a:pPr>
            <a:r>
              <a:rPr lang="en-US" sz="3135" b="1" dirty="0">
                <a:solidFill>
                  <a:srgbClr val="D1D5DB"/>
                </a:solidFill>
                <a:latin typeface="阿里妈妈数黑体" pitchFamily="34" charset="0"/>
                <a:ea typeface="阿里妈妈数黑体" pitchFamily="34" charset="-122"/>
                <a:cs typeface="阿里妈妈数黑体" pitchFamily="34" charset="-120"/>
              </a:rPr>
              <a:t>现代梯度提升框架：LightGBM</a:t>
            </a:r>
            <a:endParaRPr lang="en-US" sz="1600" dirty="0"/>
          </a:p>
        </p:txBody>
      </p:sp>
      <p:sp>
        <p:nvSpPr>
          <p:cNvPr id="4" name="Shape 2"/>
          <p:cNvSpPr/>
          <p:nvPr/>
        </p:nvSpPr>
        <p:spPr>
          <a:xfrm>
            <a:off x="442340" y="1371254"/>
            <a:ext cx="1061616" cy="44234"/>
          </a:xfrm>
          <a:custGeom>
            <a:avLst/>
            <a:gdLst/>
            <a:ahLst/>
            <a:cxnLst/>
            <a:rect l="l" t="t" r="r" b="b"/>
            <a:pathLst>
              <a:path w="1061616" h="44234">
                <a:moveTo>
                  <a:pt x="0" y="0"/>
                </a:moveTo>
                <a:lnTo>
                  <a:pt x="1061616" y="0"/>
                </a:lnTo>
                <a:lnTo>
                  <a:pt x="1061616" y="44234"/>
                </a:lnTo>
                <a:lnTo>
                  <a:pt x="0" y="44234"/>
                </a:lnTo>
                <a:lnTo>
                  <a:pt x="0" y="0"/>
                </a:lnTo>
                <a:close/>
              </a:path>
            </a:pathLst>
          </a:custGeom>
          <a:solidFill>
            <a:srgbClr val="4C7E9A"/>
          </a:solidFill>
          <a:ln/>
        </p:spPr>
      </p:sp>
      <p:sp>
        <p:nvSpPr>
          <p:cNvPr id="5" name="Shape 3"/>
          <p:cNvSpPr/>
          <p:nvPr/>
        </p:nvSpPr>
        <p:spPr>
          <a:xfrm>
            <a:off x="464457" y="1592424"/>
            <a:ext cx="7552958" cy="2156408"/>
          </a:xfrm>
          <a:custGeom>
            <a:avLst/>
            <a:gdLst/>
            <a:ahLst/>
            <a:cxnLst/>
            <a:rect l="l" t="t" r="r" b="b"/>
            <a:pathLst>
              <a:path w="7552958" h="2156408">
                <a:moveTo>
                  <a:pt x="44234" y="0"/>
                </a:moveTo>
                <a:lnTo>
                  <a:pt x="7464480" y="0"/>
                </a:lnTo>
                <a:cubicBezTo>
                  <a:pt x="7513345" y="0"/>
                  <a:pt x="7552958" y="39613"/>
                  <a:pt x="7552958" y="88477"/>
                </a:cubicBezTo>
                <a:lnTo>
                  <a:pt x="7552958" y="2067931"/>
                </a:lnTo>
                <a:cubicBezTo>
                  <a:pt x="7552958" y="2116795"/>
                  <a:pt x="7513345" y="2156408"/>
                  <a:pt x="7464480" y="2156408"/>
                </a:cubicBezTo>
                <a:lnTo>
                  <a:pt x="44234" y="2156408"/>
                </a:lnTo>
                <a:cubicBezTo>
                  <a:pt x="19804" y="2156408"/>
                  <a:pt x="0" y="2136604"/>
                  <a:pt x="0" y="2112174"/>
                </a:cubicBezTo>
                <a:lnTo>
                  <a:pt x="0" y="44234"/>
                </a:lnTo>
                <a:cubicBezTo>
                  <a:pt x="0" y="19804"/>
                  <a:pt x="19804" y="0"/>
                  <a:pt x="44234" y="0"/>
                </a:cubicBezTo>
                <a:close/>
              </a:path>
            </a:pathLst>
          </a:custGeom>
          <a:solidFill>
            <a:srgbClr val="3A5E78">
              <a:alpha val="20000"/>
            </a:srgbClr>
          </a:solidFill>
          <a:ln/>
        </p:spPr>
      </p:sp>
      <p:sp>
        <p:nvSpPr>
          <p:cNvPr id="6" name="Shape 4"/>
          <p:cNvSpPr/>
          <p:nvPr/>
        </p:nvSpPr>
        <p:spPr>
          <a:xfrm>
            <a:off x="464457" y="1592424"/>
            <a:ext cx="44234" cy="2156408"/>
          </a:xfrm>
          <a:custGeom>
            <a:avLst/>
            <a:gdLst/>
            <a:ahLst/>
            <a:cxnLst/>
            <a:rect l="l" t="t" r="r" b="b"/>
            <a:pathLst>
              <a:path w="44234" h="2156408">
                <a:moveTo>
                  <a:pt x="44234" y="0"/>
                </a:moveTo>
                <a:lnTo>
                  <a:pt x="44234" y="0"/>
                </a:lnTo>
                <a:lnTo>
                  <a:pt x="44234" y="2156408"/>
                </a:lnTo>
                <a:lnTo>
                  <a:pt x="44234" y="2156408"/>
                </a:lnTo>
                <a:cubicBezTo>
                  <a:pt x="19804" y="2156408"/>
                  <a:pt x="0" y="2136604"/>
                  <a:pt x="0" y="2112174"/>
                </a:cubicBezTo>
                <a:lnTo>
                  <a:pt x="0" y="44234"/>
                </a:lnTo>
                <a:cubicBezTo>
                  <a:pt x="0" y="19804"/>
                  <a:pt x="19804" y="0"/>
                  <a:pt x="44234" y="0"/>
                </a:cubicBezTo>
                <a:close/>
              </a:path>
            </a:pathLst>
          </a:custGeom>
          <a:solidFill>
            <a:srgbClr val="4C7E9A"/>
          </a:solidFill>
          <a:ln/>
        </p:spPr>
      </p:sp>
      <p:sp>
        <p:nvSpPr>
          <p:cNvPr id="7" name="Text 5"/>
          <p:cNvSpPr/>
          <p:nvPr/>
        </p:nvSpPr>
        <p:spPr>
          <a:xfrm>
            <a:off x="663510" y="1769361"/>
            <a:ext cx="7309671" cy="353872"/>
          </a:xfrm>
          <a:prstGeom prst="rect">
            <a:avLst/>
          </a:prstGeom>
          <a:noFill/>
          <a:ln/>
        </p:spPr>
        <p:txBody>
          <a:bodyPr wrap="square" lIns="0" tIns="0" rIns="0" bIns="0" rtlCol="0" anchor="ctr"/>
          <a:lstStyle/>
          <a:p>
            <a:pPr>
              <a:lnSpc>
                <a:spcPct val="110000"/>
              </a:lnSpc>
            </a:pPr>
            <a:r>
              <a:rPr lang="en-US" sz="2090" b="1" dirty="0">
                <a:solidFill>
                  <a:srgbClr val="4C7E9A"/>
                </a:solidFill>
                <a:latin typeface="MiSans" pitchFamily="34" charset="0"/>
                <a:ea typeface="MiSans" pitchFamily="34" charset="-122"/>
                <a:cs typeface="MiSans" pitchFamily="34" charset="-120"/>
              </a:rPr>
              <a:t>设计目标</a:t>
            </a:r>
            <a:endParaRPr lang="en-US" sz="1600" dirty="0"/>
          </a:p>
        </p:txBody>
      </p:sp>
      <p:sp>
        <p:nvSpPr>
          <p:cNvPr id="8" name="Text 6"/>
          <p:cNvSpPr/>
          <p:nvPr/>
        </p:nvSpPr>
        <p:spPr>
          <a:xfrm>
            <a:off x="663510" y="2255935"/>
            <a:ext cx="7276495" cy="652452"/>
          </a:xfrm>
          <a:prstGeom prst="rect">
            <a:avLst/>
          </a:prstGeom>
          <a:noFill/>
          <a:ln/>
        </p:spPr>
        <p:txBody>
          <a:bodyPr wrap="square" lIns="0" tIns="0" rIns="0" bIns="0" rtlCol="0" anchor="ctr"/>
          <a:lstStyle/>
          <a:p>
            <a:pPr>
              <a:lnSpc>
                <a:spcPct val="140000"/>
              </a:lnSpc>
            </a:pPr>
            <a:r>
              <a:rPr lang="en-US" sz="1567" dirty="0">
                <a:solidFill>
                  <a:srgbClr val="D1D5DB"/>
                </a:solidFill>
                <a:latin typeface="MiSans" pitchFamily="34" charset="0"/>
                <a:ea typeface="MiSans" pitchFamily="34" charset="-122"/>
                <a:cs typeface="MiSans" pitchFamily="34" charset="-120"/>
              </a:rPr>
              <a:t>LightGBM（Light Gradient Boosting Machine）旨在</a:t>
            </a:r>
            <a:pPr>
              <a:lnSpc>
                <a:spcPct val="140000"/>
              </a:lnSpc>
            </a:pPr>
            <a:r>
              <a:rPr lang="en-US" sz="1567" b="1" dirty="0">
                <a:solidFill>
                  <a:srgbClr val="4C7E9A"/>
                </a:solidFill>
                <a:latin typeface="MiSans" pitchFamily="34" charset="0"/>
                <a:ea typeface="MiSans" pitchFamily="34" charset="-122"/>
                <a:cs typeface="MiSans" pitchFamily="34" charset="-120"/>
              </a:rPr>
              <a:t>解决XGBoost在超大规模数据集上的性能瓶颈</a:t>
            </a:r>
            <a:pPr>
              <a:lnSpc>
                <a:spcPct val="140000"/>
              </a:lnSpc>
            </a:pPr>
            <a:r>
              <a:rPr lang="en-US" sz="1567" dirty="0">
                <a:solidFill>
                  <a:srgbClr val="D1D5DB"/>
                </a:solidFill>
                <a:latin typeface="MiSans" pitchFamily="34" charset="0"/>
                <a:ea typeface="MiSans" pitchFamily="34" charset="-122"/>
                <a:cs typeface="MiSans" pitchFamily="34" charset="-120"/>
              </a:rPr>
              <a:t>，追求极致的训练速度和低内存占用。</a:t>
            </a:r>
            <a:endParaRPr lang="en-US" sz="1600" dirty="0"/>
          </a:p>
        </p:txBody>
      </p:sp>
      <p:sp>
        <p:nvSpPr>
          <p:cNvPr id="9" name="Shape 7"/>
          <p:cNvSpPr/>
          <p:nvPr/>
        </p:nvSpPr>
        <p:spPr>
          <a:xfrm>
            <a:off x="663510" y="3035559"/>
            <a:ext cx="7176969" cy="530808"/>
          </a:xfrm>
          <a:custGeom>
            <a:avLst/>
            <a:gdLst/>
            <a:ahLst/>
            <a:cxnLst/>
            <a:rect l="l" t="t" r="r" b="b"/>
            <a:pathLst>
              <a:path w="7176969" h="530808">
                <a:moveTo>
                  <a:pt x="88470" y="0"/>
                </a:moveTo>
                <a:lnTo>
                  <a:pt x="7088499" y="0"/>
                </a:lnTo>
                <a:cubicBezTo>
                  <a:pt x="7137359" y="0"/>
                  <a:pt x="7176969" y="39609"/>
                  <a:pt x="7176969" y="88470"/>
                </a:cubicBezTo>
                <a:lnTo>
                  <a:pt x="7176969" y="442338"/>
                </a:lnTo>
                <a:cubicBezTo>
                  <a:pt x="7176969" y="491199"/>
                  <a:pt x="7137359" y="530808"/>
                  <a:pt x="7088499" y="530808"/>
                </a:cubicBezTo>
                <a:lnTo>
                  <a:pt x="88470" y="530808"/>
                </a:lnTo>
                <a:cubicBezTo>
                  <a:pt x="39609" y="530808"/>
                  <a:pt x="0" y="491199"/>
                  <a:pt x="0" y="442338"/>
                </a:cubicBezTo>
                <a:lnTo>
                  <a:pt x="0" y="88470"/>
                </a:lnTo>
                <a:cubicBezTo>
                  <a:pt x="0" y="39609"/>
                  <a:pt x="39609" y="0"/>
                  <a:pt x="88470" y="0"/>
                </a:cubicBezTo>
                <a:close/>
              </a:path>
            </a:pathLst>
          </a:custGeom>
          <a:solidFill>
            <a:srgbClr val="181A1F">
              <a:alpha val="50196"/>
            </a:srgbClr>
          </a:solidFill>
          <a:ln/>
        </p:spPr>
      </p:sp>
      <p:sp>
        <p:nvSpPr>
          <p:cNvPr id="10" name="Shape 8"/>
          <p:cNvSpPr/>
          <p:nvPr/>
        </p:nvSpPr>
        <p:spPr>
          <a:xfrm>
            <a:off x="829388" y="3218024"/>
            <a:ext cx="154819" cy="176936"/>
          </a:xfrm>
          <a:custGeom>
            <a:avLst/>
            <a:gdLst/>
            <a:ahLst/>
            <a:cxnLst/>
            <a:rect l="l" t="t" r="r" b="b"/>
            <a:pathLst>
              <a:path w="154819" h="176936">
                <a:moveTo>
                  <a:pt x="117082" y="-3421"/>
                </a:moveTo>
                <a:cubicBezTo>
                  <a:pt x="121194" y="-449"/>
                  <a:pt x="122715" y="4942"/>
                  <a:pt x="120849" y="9642"/>
                </a:cubicBezTo>
                <a:lnTo>
                  <a:pt x="93755" y="77410"/>
                </a:lnTo>
                <a:lnTo>
                  <a:pt x="143761" y="77410"/>
                </a:lnTo>
                <a:cubicBezTo>
                  <a:pt x="148426" y="77410"/>
                  <a:pt x="152573" y="80312"/>
                  <a:pt x="154162" y="84701"/>
                </a:cubicBezTo>
                <a:cubicBezTo>
                  <a:pt x="155752" y="89090"/>
                  <a:pt x="154404" y="93997"/>
                  <a:pt x="150845" y="96969"/>
                </a:cubicBezTo>
                <a:lnTo>
                  <a:pt x="51318" y="179908"/>
                </a:lnTo>
                <a:cubicBezTo>
                  <a:pt x="47413" y="183156"/>
                  <a:pt x="41850" y="183329"/>
                  <a:pt x="37737" y="180357"/>
                </a:cubicBezTo>
                <a:cubicBezTo>
                  <a:pt x="33625" y="177385"/>
                  <a:pt x="32104" y="171994"/>
                  <a:pt x="33970" y="167294"/>
                </a:cubicBezTo>
                <a:lnTo>
                  <a:pt x="61064" y="99527"/>
                </a:lnTo>
                <a:lnTo>
                  <a:pt x="11059" y="99527"/>
                </a:lnTo>
                <a:cubicBezTo>
                  <a:pt x="6393" y="99527"/>
                  <a:pt x="2246" y="96624"/>
                  <a:pt x="657" y="92235"/>
                </a:cubicBezTo>
                <a:cubicBezTo>
                  <a:pt x="-933" y="87846"/>
                  <a:pt x="415" y="82939"/>
                  <a:pt x="3974" y="79967"/>
                </a:cubicBezTo>
                <a:lnTo>
                  <a:pt x="103501" y="-2972"/>
                </a:lnTo>
                <a:cubicBezTo>
                  <a:pt x="107406" y="-6220"/>
                  <a:pt x="112970" y="-6393"/>
                  <a:pt x="117082" y="-3421"/>
                </a:cubicBezTo>
                <a:close/>
              </a:path>
            </a:pathLst>
          </a:custGeom>
          <a:solidFill>
            <a:srgbClr val="4C7E9A"/>
          </a:solidFill>
          <a:ln/>
        </p:spPr>
      </p:sp>
      <p:sp>
        <p:nvSpPr>
          <p:cNvPr id="11" name="Text 9"/>
          <p:cNvSpPr/>
          <p:nvPr/>
        </p:nvSpPr>
        <p:spPr>
          <a:xfrm>
            <a:off x="1094416" y="3168261"/>
            <a:ext cx="6701829" cy="265404"/>
          </a:xfrm>
          <a:prstGeom prst="rect">
            <a:avLst/>
          </a:prstGeom>
          <a:noFill/>
          <a:ln/>
        </p:spPr>
        <p:txBody>
          <a:bodyPr wrap="square" lIns="0" tIns="0" rIns="0" bIns="0" rtlCol="0" anchor="ctr"/>
          <a:lstStyle/>
          <a:p>
            <a:pPr>
              <a:lnSpc>
                <a:spcPct val="130000"/>
              </a:lnSpc>
            </a:pPr>
            <a:r>
              <a:rPr lang="en-US" sz="1393" dirty="0">
                <a:solidFill>
                  <a:srgbClr val="7E9AA8"/>
                </a:solidFill>
                <a:latin typeface="MiSans" pitchFamily="34" charset="0"/>
                <a:ea typeface="MiSans" pitchFamily="34" charset="-122"/>
                <a:cs typeface="MiSans" pitchFamily="34" charset="-120"/>
              </a:rPr>
              <a:t>训练速度提升2-10倍，内存占用降低50%以上</a:t>
            </a:r>
            <a:endParaRPr lang="en-US" sz="1600" dirty="0"/>
          </a:p>
        </p:txBody>
      </p:sp>
      <p:sp>
        <p:nvSpPr>
          <p:cNvPr id="12" name="Shape 10"/>
          <p:cNvSpPr/>
          <p:nvPr/>
        </p:nvSpPr>
        <p:spPr>
          <a:xfrm>
            <a:off x="464457" y="3920239"/>
            <a:ext cx="7552958" cy="2012648"/>
          </a:xfrm>
          <a:custGeom>
            <a:avLst/>
            <a:gdLst/>
            <a:ahLst/>
            <a:cxnLst/>
            <a:rect l="l" t="t" r="r" b="b"/>
            <a:pathLst>
              <a:path w="7552958" h="2012648">
                <a:moveTo>
                  <a:pt x="44234" y="0"/>
                </a:moveTo>
                <a:lnTo>
                  <a:pt x="7464482" y="0"/>
                </a:lnTo>
                <a:cubicBezTo>
                  <a:pt x="7513346" y="0"/>
                  <a:pt x="7552958" y="39612"/>
                  <a:pt x="7552958" y="88476"/>
                </a:cubicBezTo>
                <a:lnTo>
                  <a:pt x="7552958" y="1924172"/>
                </a:lnTo>
                <a:cubicBezTo>
                  <a:pt x="7552958" y="1973036"/>
                  <a:pt x="7513346" y="2012648"/>
                  <a:pt x="7464482" y="2012648"/>
                </a:cubicBezTo>
                <a:lnTo>
                  <a:pt x="44234" y="2012648"/>
                </a:lnTo>
                <a:cubicBezTo>
                  <a:pt x="19804" y="2012648"/>
                  <a:pt x="0" y="1992843"/>
                  <a:pt x="0" y="1968414"/>
                </a:cubicBezTo>
                <a:lnTo>
                  <a:pt x="0" y="44234"/>
                </a:lnTo>
                <a:cubicBezTo>
                  <a:pt x="0" y="19821"/>
                  <a:pt x="19821" y="0"/>
                  <a:pt x="44234" y="0"/>
                </a:cubicBezTo>
                <a:close/>
              </a:path>
            </a:pathLst>
          </a:custGeom>
          <a:solidFill>
            <a:srgbClr val="3A5E78">
              <a:alpha val="20000"/>
            </a:srgbClr>
          </a:solidFill>
          <a:ln/>
        </p:spPr>
      </p:sp>
      <p:sp>
        <p:nvSpPr>
          <p:cNvPr id="13" name="Shape 11"/>
          <p:cNvSpPr/>
          <p:nvPr/>
        </p:nvSpPr>
        <p:spPr>
          <a:xfrm>
            <a:off x="464457" y="3920239"/>
            <a:ext cx="44234" cy="2012648"/>
          </a:xfrm>
          <a:custGeom>
            <a:avLst/>
            <a:gdLst/>
            <a:ahLst/>
            <a:cxnLst/>
            <a:rect l="l" t="t" r="r" b="b"/>
            <a:pathLst>
              <a:path w="44234" h="2012648">
                <a:moveTo>
                  <a:pt x="44234" y="0"/>
                </a:moveTo>
                <a:lnTo>
                  <a:pt x="44234" y="0"/>
                </a:lnTo>
                <a:lnTo>
                  <a:pt x="44234" y="2012648"/>
                </a:lnTo>
                <a:lnTo>
                  <a:pt x="44234" y="2012648"/>
                </a:lnTo>
                <a:cubicBezTo>
                  <a:pt x="19804" y="2012648"/>
                  <a:pt x="0" y="1992843"/>
                  <a:pt x="0" y="1968414"/>
                </a:cubicBezTo>
                <a:lnTo>
                  <a:pt x="0" y="44234"/>
                </a:lnTo>
                <a:cubicBezTo>
                  <a:pt x="0" y="19804"/>
                  <a:pt x="19804" y="0"/>
                  <a:pt x="44234" y="0"/>
                </a:cubicBezTo>
                <a:close/>
              </a:path>
            </a:pathLst>
          </a:custGeom>
          <a:solidFill>
            <a:srgbClr val="4C7E9A"/>
          </a:solidFill>
          <a:ln/>
        </p:spPr>
      </p:sp>
      <p:sp>
        <p:nvSpPr>
          <p:cNvPr id="14" name="Text 12"/>
          <p:cNvSpPr/>
          <p:nvPr/>
        </p:nvSpPr>
        <p:spPr>
          <a:xfrm>
            <a:off x="663510" y="4097176"/>
            <a:ext cx="7309671" cy="353872"/>
          </a:xfrm>
          <a:prstGeom prst="rect">
            <a:avLst/>
          </a:prstGeom>
          <a:noFill/>
          <a:ln/>
        </p:spPr>
        <p:txBody>
          <a:bodyPr wrap="square" lIns="0" tIns="0" rIns="0" bIns="0" rtlCol="0" anchor="ctr"/>
          <a:lstStyle/>
          <a:p>
            <a:pPr>
              <a:lnSpc>
                <a:spcPct val="110000"/>
              </a:lnSpc>
            </a:pPr>
            <a:r>
              <a:rPr lang="en-US" sz="2090" b="1" dirty="0">
                <a:solidFill>
                  <a:srgbClr val="4C7E9A"/>
                </a:solidFill>
                <a:latin typeface="MiSans" pitchFamily="34" charset="0"/>
                <a:ea typeface="MiSans" pitchFamily="34" charset="-122"/>
                <a:cs typeface="MiSans" pitchFamily="34" charset="-120"/>
              </a:rPr>
              <a:t>核心技术1：GOSS</a:t>
            </a:r>
            <a:endParaRPr lang="en-US" sz="1600" dirty="0"/>
          </a:p>
        </p:txBody>
      </p:sp>
      <p:sp>
        <p:nvSpPr>
          <p:cNvPr id="15" name="Shape 13"/>
          <p:cNvSpPr/>
          <p:nvPr/>
        </p:nvSpPr>
        <p:spPr>
          <a:xfrm>
            <a:off x="691156" y="4644571"/>
            <a:ext cx="199053" cy="199053"/>
          </a:xfrm>
          <a:custGeom>
            <a:avLst/>
            <a:gdLst/>
            <a:ahLst/>
            <a:cxnLst/>
            <a:rect l="l" t="t" r="r" b="b"/>
            <a:pathLst>
              <a:path w="199053" h="199053">
                <a:moveTo>
                  <a:pt x="12441" y="24882"/>
                </a:moveTo>
                <a:cubicBezTo>
                  <a:pt x="7426" y="24882"/>
                  <a:pt x="2877" y="27914"/>
                  <a:pt x="933" y="32579"/>
                </a:cubicBezTo>
                <a:cubicBezTo>
                  <a:pt x="-1011" y="37245"/>
                  <a:pt x="78" y="42571"/>
                  <a:pt x="3654" y="46109"/>
                </a:cubicBezTo>
                <a:lnTo>
                  <a:pt x="74645" y="117138"/>
                </a:lnTo>
                <a:lnTo>
                  <a:pt x="74645" y="161731"/>
                </a:lnTo>
                <a:cubicBezTo>
                  <a:pt x="74645" y="165035"/>
                  <a:pt x="75967" y="168184"/>
                  <a:pt x="78299" y="170517"/>
                </a:cubicBezTo>
                <a:lnTo>
                  <a:pt x="103181" y="195399"/>
                </a:lnTo>
                <a:cubicBezTo>
                  <a:pt x="106758" y="198975"/>
                  <a:pt x="112084" y="200025"/>
                  <a:pt x="116749" y="198081"/>
                </a:cubicBezTo>
                <a:cubicBezTo>
                  <a:pt x="121415" y="196137"/>
                  <a:pt x="124408" y="191627"/>
                  <a:pt x="124408" y="186612"/>
                </a:cubicBezTo>
                <a:lnTo>
                  <a:pt x="124408" y="117138"/>
                </a:lnTo>
                <a:lnTo>
                  <a:pt x="195399" y="46148"/>
                </a:lnTo>
                <a:cubicBezTo>
                  <a:pt x="198975" y="42571"/>
                  <a:pt x="200025" y="37245"/>
                  <a:pt x="198081" y="32579"/>
                </a:cubicBezTo>
                <a:cubicBezTo>
                  <a:pt x="196137" y="27914"/>
                  <a:pt x="191627" y="24882"/>
                  <a:pt x="186612" y="24882"/>
                </a:cubicBezTo>
                <a:lnTo>
                  <a:pt x="12441" y="24882"/>
                </a:lnTo>
                <a:close/>
              </a:path>
            </a:pathLst>
          </a:custGeom>
          <a:solidFill>
            <a:srgbClr val="4C7E9A"/>
          </a:solidFill>
          <a:ln/>
        </p:spPr>
      </p:sp>
      <p:sp>
        <p:nvSpPr>
          <p:cNvPr id="16" name="Text 14"/>
          <p:cNvSpPr/>
          <p:nvPr/>
        </p:nvSpPr>
        <p:spPr>
          <a:xfrm>
            <a:off x="994889" y="4583750"/>
            <a:ext cx="6945116" cy="309638"/>
          </a:xfrm>
          <a:prstGeom prst="rect">
            <a:avLst/>
          </a:prstGeom>
          <a:noFill/>
          <a:ln/>
        </p:spPr>
        <p:txBody>
          <a:bodyPr wrap="square" lIns="0" tIns="0" rIns="0" bIns="0" rtlCol="0" anchor="ctr"/>
          <a:lstStyle/>
          <a:p>
            <a:pPr>
              <a:lnSpc>
                <a:spcPct val="130000"/>
              </a:lnSpc>
            </a:pPr>
            <a:r>
              <a:rPr lang="en-US" sz="1567" b="1" dirty="0">
                <a:solidFill>
                  <a:srgbClr val="D1D5DB"/>
                </a:solidFill>
                <a:latin typeface="MiSans" pitchFamily="34" charset="0"/>
                <a:ea typeface="MiSans" pitchFamily="34" charset="-122"/>
                <a:cs typeface="MiSans" pitchFamily="34" charset="-120"/>
              </a:rPr>
              <a:t>单边梯度采样 (Gradient-based One-Side Sampling)</a:t>
            </a:r>
            <a:endParaRPr lang="en-US" sz="1600" dirty="0"/>
          </a:p>
        </p:txBody>
      </p:sp>
      <p:sp>
        <p:nvSpPr>
          <p:cNvPr id="17" name="Text 15"/>
          <p:cNvSpPr/>
          <p:nvPr/>
        </p:nvSpPr>
        <p:spPr>
          <a:xfrm>
            <a:off x="663510" y="4981856"/>
            <a:ext cx="7265437" cy="287521"/>
          </a:xfrm>
          <a:prstGeom prst="rect">
            <a:avLst/>
          </a:prstGeom>
          <a:noFill/>
          <a:ln/>
        </p:spPr>
        <p:txBody>
          <a:bodyPr wrap="square" lIns="0" tIns="0" rIns="0" bIns="0" rtlCol="0" anchor="ctr"/>
          <a:lstStyle/>
          <a:p>
            <a:pPr>
              <a:lnSpc>
                <a:spcPct val="140000"/>
              </a:lnSpc>
            </a:pPr>
            <a:r>
              <a:rPr lang="en-US" sz="1393" dirty="0">
                <a:solidFill>
                  <a:srgbClr val="7E9AA8"/>
                </a:solidFill>
                <a:latin typeface="MiSans" pitchFamily="34" charset="0"/>
                <a:ea typeface="MiSans" pitchFamily="34" charset="-122"/>
                <a:cs typeface="MiSans" pitchFamily="34" charset="-120"/>
              </a:rPr>
              <a:t>基于</a:t>
            </a:r>
            <a:pPr>
              <a:lnSpc>
                <a:spcPct val="140000"/>
              </a:lnSpc>
            </a:pPr>
            <a:r>
              <a:rPr lang="en-US" sz="1393" b="1" dirty="0">
                <a:solidFill>
                  <a:srgbClr val="4C7E9A"/>
                </a:solidFill>
                <a:latin typeface="MiSans" pitchFamily="34" charset="0"/>
                <a:ea typeface="MiSans" pitchFamily="34" charset="-122"/>
                <a:cs typeface="MiSans" pitchFamily="34" charset="-120"/>
              </a:rPr>
              <a:t>"大梯度样本对误差贡献大"</a:t>
            </a:r>
            <a:pPr>
              <a:lnSpc>
                <a:spcPct val="140000"/>
              </a:lnSpc>
            </a:pPr>
            <a:r>
              <a:rPr lang="en-US" sz="1393" dirty="0">
                <a:solidFill>
                  <a:srgbClr val="7E9AA8"/>
                </a:solidFill>
                <a:latin typeface="MiSans" pitchFamily="34" charset="0"/>
                <a:ea typeface="MiSans" pitchFamily="34" charset="-122"/>
                <a:cs typeface="MiSans" pitchFamily="34" charset="-120"/>
              </a:rPr>
              <a:t>的假设，保留大梯度样本，仅随机采样少量小梯度样本。</a:t>
            </a:r>
            <a:endParaRPr lang="en-US" sz="1600" dirty="0"/>
          </a:p>
        </p:txBody>
      </p:sp>
      <p:sp>
        <p:nvSpPr>
          <p:cNvPr id="18" name="Shape 16"/>
          <p:cNvSpPr/>
          <p:nvPr/>
        </p:nvSpPr>
        <p:spPr>
          <a:xfrm>
            <a:off x="663510" y="5357845"/>
            <a:ext cx="7176969" cy="398106"/>
          </a:xfrm>
          <a:custGeom>
            <a:avLst/>
            <a:gdLst/>
            <a:ahLst/>
            <a:cxnLst/>
            <a:rect l="l" t="t" r="r" b="b"/>
            <a:pathLst>
              <a:path w="7176969" h="398106">
                <a:moveTo>
                  <a:pt x="44234" y="0"/>
                </a:moveTo>
                <a:lnTo>
                  <a:pt x="7132735" y="0"/>
                </a:lnTo>
                <a:cubicBezTo>
                  <a:pt x="7157165" y="0"/>
                  <a:pt x="7176969" y="19804"/>
                  <a:pt x="7176969" y="44234"/>
                </a:cubicBezTo>
                <a:lnTo>
                  <a:pt x="7176969" y="353873"/>
                </a:lnTo>
                <a:cubicBezTo>
                  <a:pt x="7176969" y="378302"/>
                  <a:pt x="7157165" y="398106"/>
                  <a:pt x="7132735" y="398106"/>
                </a:cubicBezTo>
                <a:lnTo>
                  <a:pt x="44234" y="398106"/>
                </a:lnTo>
                <a:cubicBezTo>
                  <a:pt x="19804" y="398106"/>
                  <a:pt x="0" y="378302"/>
                  <a:pt x="0" y="353873"/>
                </a:cubicBezTo>
                <a:lnTo>
                  <a:pt x="0" y="44234"/>
                </a:lnTo>
                <a:cubicBezTo>
                  <a:pt x="0" y="19804"/>
                  <a:pt x="19804" y="0"/>
                  <a:pt x="44234" y="0"/>
                </a:cubicBezTo>
                <a:close/>
              </a:path>
            </a:pathLst>
          </a:custGeom>
          <a:solidFill>
            <a:srgbClr val="181A1F">
              <a:alpha val="50196"/>
            </a:srgbClr>
          </a:solidFill>
          <a:ln/>
        </p:spPr>
      </p:sp>
      <p:sp>
        <p:nvSpPr>
          <p:cNvPr id="19" name="Text 17"/>
          <p:cNvSpPr/>
          <p:nvPr/>
        </p:nvSpPr>
        <p:spPr>
          <a:xfrm>
            <a:off x="751978" y="5446313"/>
            <a:ext cx="7077442" cy="221170"/>
          </a:xfrm>
          <a:prstGeom prst="rect">
            <a:avLst/>
          </a:prstGeom>
          <a:noFill/>
          <a:ln/>
        </p:spPr>
        <p:txBody>
          <a:bodyPr wrap="square" lIns="0" tIns="0" rIns="0" bIns="0" rtlCol="0" anchor="ctr"/>
          <a:lstStyle/>
          <a:p>
            <a:pPr>
              <a:lnSpc>
                <a:spcPct val="120000"/>
              </a:lnSpc>
            </a:pPr>
            <a:r>
              <a:rPr lang="en-US" sz="1219" b="1" dirty="0">
                <a:solidFill>
                  <a:srgbClr val="D1D5DB"/>
                </a:solidFill>
                <a:latin typeface="MiSans" pitchFamily="34" charset="0"/>
                <a:ea typeface="MiSans" pitchFamily="34" charset="-122"/>
                <a:cs typeface="MiSans" pitchFamily="34" charset="-120"/>
              </a:rPr>
              <a:t>优势：</a:t>
            </a:r>
            <a:pPr>
              <a:lnSpc>
                <a:spcPct val="120000"/>
              </a:lnSpc>
            </a:pPr>
            <a:r>
              <a:rPr lang="en-US" sz="1219" dirty="0">
                <a:solidFill>
                  <a:srgbClr val="7E9AA8"/>
                </a:solidFill>
                <a:latin typeface="MiSans" pitchFamily="34" charset="0"/>
                <a:ea typeface="MiSans" pitchFamily="34" charset="-122"/>
                <a:cs typeface="MiSans" pitchFamily="34" charset="-120"/>
              </a:rPr>
              <a:t>大幅减少数据量同时保证精度</a:t>
            </a:r>
            <a:endParaRPr lang="en-US" sz="1600" dirty="0"/>
          </a:p>
        </p:txBody>
      </p:sp>
      <p:sp>
        <p:nvSpPr>
          <p:cNvPr id="20" name="Shape 18"/>
          <p:cNvSpPr/>
          <p:nvPr/>
        </p:nvSpPr>
        <p:spPr>
          <a:xfrm>
            <a:off x="464457" y="6109823"/>
            <a:ext cx="7552958" cy="2012648"/>
          </a:xfrm>
          <a:custGeom>
            <a:avLst/>
            <a:gdLst/>
            <a:ahLst/>
            <a:cxnLst/>
            <a:rect l="l" t="t" r="r" b="b"/>
            <a:pathLst>
              <a:path w="7552958" h="2012648">
                <a:moveTo>
                  <a:pt x="44234" y="0"/>
                </a:moveTo>
                <a:lnTo>
                  <a:pt x="7464482" y="0"/>
                </a:lnTo>
                <a:cubicBezTo>
                  <a:pt x="7513346" y="0"/>
                  <a:pt x="7552958" y="39612"/>
                  <a:pt x="7552958" y="88476"/>
                </a:cubicBezTo>
                <a:lnTo>
                  <a:pt x="7552958" y="1924172"/>
                </a:lnTo>
                <a:cubicBezTo>
                  <a:pt x="7552958" y="1973036"/>
                  <a:pt x="7513346" y="2012648"/>
                  <a:pt x="7464482" y="2012648"/>
                </a:cubicBezTo>
                <a:lnTo>
                  <a:pt x="44234" y="2012648"/>
                </a:lnTo>
                <a:cubicBezTo>
                  <a:pt x="19804" y="2012648"/>
                  <a:pt x="0" y="1992843"/>
                  <a:pt x="0" y="1968414"/>
                </a:cubicBezTo>
                <a:lnTo>
                  <a:pt x="0" y="44234"/>
                </a:lnTo>
                <a:cubicBezTo>
                  <a:pt x="0" y="19821"/>
                  <a:pt x="19821" y="0"/>
                  <a:pt x="44234" y="0"/>
                </a:cubicBezTo>
                <a:close/>
              </a:path>
            </a:pathLst>
          </a:custGeom>
          <a:solidFill>
            <a:srgbClr val="3A5E78">
              <a:alpha val="20000"/>
            </a:srgbClr>
          </a:solidFill>
          <a:ln/>
        </p:spPr>
      </p:sp>
      <p:sp>
        <p:nvSpPr>
          <p:cNvPr id="21" name="Shape 19"/>
          <p:cNvSpPr/>
          <p:nvPr/>
        </p:nvSpPr>
        <p:spPr>
          <a:xfrm>
            <a:off x="464457" y="6109823"/>
            <a:ext cx="44234" cy="2012648"/>
          </a:xfrm>
          <a:custGeom>
            <a:avLst/>
            <a:gdLst/>
            <a:ahLst/>
            <a:cxnLst/>
            <a:rect l="l" t="t" r="r" b="b"/>
            <a:pathLst>
              <a:path w="44234" h="2012648">
                <a:moveTo>
                  <a:pt x="44234" y="0"/>
                </a:moveTo>
                <a:lnTo>
                  <a:pt x="44234" y="0"/>
                </a:lnTo>
                <a:lnTo>
                  <a:pt x="44234" y="2012648"/>
                </a:lnTo>
                <a:lnTo>
                  <a:pt x="44234" y="2012648"/>
                </a:lnTo>
                <a:cubicBezTo>
                  <a:pt x="19804" y="2012648"/>
                  <a:pt x="0" y="1992843"/>
                  <a:pt x="0" y="1968414"/>
                </a:cubicBezTo>
                <a:lnTo>
                  <a:pt x="0" y="44234"/>
                </a:lnTo>
                <a:cubicBezTo>
                  <a:pt x="0" y="19804"/>
                  <a:pt x="19804" y="0"/>
                  <a:pt x="44234" y="0"/>
                </a:cubicBezTo>
                <a:close/>
              </a:path>
            </a:pathLst>
          </a:custGeom>
          <a:solidFill>
            <a:srgbClr val="7E9AA8"/>
          </a:solidFill>
          <a:ln/>
        </p:spPr>
      </p:sp>
      <p:sp>
        <p:nvSpPr>
          <p:cNvPr id="22" name="Text 20"/>
          <p:cNvSpPr/>
          <p:nvPr/>
        </p:nvSpPr>
        <p:spPr>
          <a:xfrm>
            <a:off x="663510" y="6286759"/>
            <a:ext cx="7309671" cy="353872"/>
          </a:xfrm>
          <a:prstGeom prst="rect">
            <a:avLst/>
          </a:prstGeom>
          <a:noFill/>
          <a:ln/>
        </p:spPr>
        <p:txBody>
          <a:bodyPr wrap="square" lIns="0" tIns="0" rIns="0" bIns="0" rtlCol="0" anchor="ctr"/>
          <a:lstStyle/>
          <a:p>
            <a:pPr>
              <a:lnSpc>
                <a:spcPct val="110000"/>
              </a:lnSpc>
            </a:pPr>
            <a:r>
              <a:rPr lang="en-US" sz="2090" b="1" dirty="0">
                <a:solidFill>
                  <a:srgbClr val="7E9AA8"/>
                </a:solidFill>
                <a:latin typeface="MiSans" pitchFamily="34" charset="0"/>
                <a:ea typeface="MiSans" pitchFamily="34" charset="-122"/>
                <a:cs typeface="MiSans" pitchFamily="34" charset="-120"/>
              </a:rPr>
              <a:t>核心技术2：EFB</a:t>
            </a:r>
            <a:endParaRPr lang="en-US" sz="1600" dirty="0"/>
          </a:p>
        </p:txBody>
      </p:sp>
      <p:sp>
        <p:nvSpPr>
          <p:cNvPr id="23" name="Shape 21"/>
          <p:cNvSpPr/>
          <p:nvPr/>
        </p:nvSpPr>
        <p:spPr>
          <a:xfrm>
            <a:off x="691156" y="6834155"/>
            <a:ext cx="199053" cy="199053"/>
          </a:xfrm>
          <a:custGeom>
            <a:avLst/>
            <a:gdLst/>
            <a:ahLst/>
            <a:cxnLst/>
            <a:rect l="l" t="t" r="r" b="b"/>
            <a:pathLst>
              <a:path w="199053" h="199053">
                <a:moveTo>
                  <a:pt x="90390" y="2022"/>
                </a:moveTo>
                <a:cubicBezTo>
                  <a:pt x="96183" y="-661"/>
                  <a:pt x="102870" y="-661"/>
                  <a:pt x="108663" y="2022"/>
                </a:cubicBezTo>
                <a:lnTo>
                  <a:pt x="193649" y="41288"/>
                </a:lnTo>
                <a:cubicBezTo>
                  <a:pt x="196954" y="42804"/>
                  <a:pt x="199053" y="46109"/>
                  <a:pt x="199053" y="49763"/>
                </a:cubicBezTo>
                <a:cubicBezTo>
                  <a:pt x="199053" y="53418"/>
                  <a:pt x="196954" y="56722"/>
                  <a:pt x="193649" y="58239"/>
                </a:cubicBezTo>
                <a:lnTo>
                  <a:pt x="108663" y="97505"/>
                </a:lnTo>
                <a:cubicBezTo>
                  <a:pt x="102870" y="100187"/>
                  <a:pt x="96183" y="100187"/>
                  <a:pt x="90390" y="97505"/>
                </a:cubicBezTo>
                <a:lnTo>
                  <a:pt x="5404" y="58239"/>
                </a:lnTo>
                <a:cubicBezTo>
                  <a:pt x="2099" y="56683"/>
                  <a:pt x="0" y="53379"/>
                  <a:pt x="0" y="49763"/>
                </a:cubicBezTo>
                <a:cubicBezTo>
                  <a:pt x="0" y="46148"/>
                  <a:pt x="2099" y="42804"/>
                  <a:pt x="5404" y="41288"/>
                </a:cubicBezTo>
                <a:lnTo>
                  <a:pt x="90390" y="2022"/>
                </a:lnTo>
                <a:close/>
                <a:moveTo>
                  <a:pt x="18700" y="84909"/>
                </a:moveTo>
                <a:lnTo>
                  <a:pt x="82576" y="114417"/>
                </a:lnTo>
                <a:cubicBezTo>
                  <a:pt x="93345" y="119393"/>
                  <a:pt x="105747" y="119393"/>
                  <a:pt x="116516" y="114417"/>
                </a:cubicBezTo>
                <a:lnTo>
                  <a:pt x="180392" y="84909"/>
                </a:lnTo>
                <a:lnTo>
                  <a:pt x="193649" y="91051"/>
                </a:lnTo>
                <a:cubicBezTo>
                  <a:pt x="196954" y="92567"/>
                  <a:pt x="199053" y="95872"/>
                  <a:pt x="199053" y="99527"/>
                </a:cubicBezTo>
                <a:cubicBezTo>
                  <a:pt x="199053" y="103181"/>
                  <a:pt x="196954" y="106486"/>
                  <a:pt x="193649" y="108002"/>
                </a:cubicBezTo>
                <a:lnTo>
                  <a:pt x="108663" y="147268"/>
                </a:lnTo>
                <a:cubicBezTo>
                  <a:pt x="102870" y="149951"/>
                  <a:pt x="96183" y="149951"/>
                  <a:pt x="90390" y="147268"/>
                </a:cubicBezTo>
                <a:lnTo>
                  <a:pt x="5404" y="108002"/>
                </a:lnTo>
                <a:cubicBezTo>
                  <a:pt x="2099" y="106447"/>
                  <a:pt x="0" y="103142"/>
                  <a:pt x="0" y="99527"/>
                </a:cubicBezTo>
                <a:cubicBezTo>
                  <a:pt x="0" y="95911"/>
                  <a:pt x="2099" y="92567"/>
                  <a:pt x="5404" y="91051"/>
                </a:cubicBezTo>
                <a:lnTo>
                  <a:pt x="18661" y="84909"/>
                </a:lnTo>
                <a:close/>
                <a:moveTo>
                  <a:pt x="5404" y="140814"/>
                </a:moveTo>
                <a:lnTo>
                  <a:pt x="18661" y="134672"/>
                </a:lnTo>
                <a:lnTo>
                  <a:pt x="82537" y="164180"/>
                </a:lnTo>
                <a:cubicBezTo>
                  <a:pt x="93306" y="169156"/>
                  <a:pt x="105708" y="169156"/>
                  <a:pt x="116477" y="164180"/>
                </a:cubicBezTo>
                <a:lnTo>
                  <a:pt x="180353" y="134672"/>
                </a:lnTo>
                <a:lnTo>
                  <a:pt x="193610" y="140814"/>
                </a:lnTo>
                <a:cubicBezTo>
                  <a:pt x="196915" y="142331"/>
                  <a:pt x="199014" y="145635"/>
                  <a:pt x="199014" y="149290"/>
                </a:cubicBezTo>
                <a:cubicBezTo>
                  <a:pt x="199014" y="152944"/>
                  <a:pt x="196915" y="156249"/>
                  <a:pt x="193610" y="157765"/>
                </a:cubicBezTo>
                <a:lnTo>
                  <a:pt x="108624" y="197031"/>
                </a:lnTo>
                <a:cubicBezTo>
                  <a:pt x="102831" y="199714"/>
                  <a:pt x="96144" y="199714"/>
                  <a:pt x="90351" y="197031"/>
                </a:cubicBezTo>
                <a:lnTo>
                  <a:pt x="5404" y="157765"/>
                </a:lnTo>
                <a:cubicBezTo>
                  <a:pt x="2099" y="156210"/>
                  <a:pt x="0" y="152905"/>
                  <a:pt x="0" y="149290"/>
                </a:cubicBezTo>
                <a:cubicBezTo>
                  <a:pt x="0" y="145674"/>
                  <a:pt x="2099" y="142331"/>
                  <a:pt x="5404" y="140814"/>
                </a:cubicBezTo>
                <a:close/>
              </a:path>
            </a:pathLst>
          </a:custGeom>
          <a:solidFill>
            <a:srgbClr val="4C7E9A"/>
          </a:solidFill>
          <a:ln/>
        </p:spPr>
      </p:sp>
      <p:sp>
        <p:nvSpPr>
          <p:cNvPr id="24" name="Text 22"/>
          <p:cNvSpPr/>
          <p:nvPr/>
        </p:nvSpPr>
        <p:spPr>
          <a:xfrm>
            <a:off x="994889" y="6773333"/>
            <a:ext cx="6945116" cy="309638"/>
          </a:xfrm>
          <a:prstGeom prst="rect">
            <a:avLst/>
          </a:prstGeom>
          <a:noFill/>
          <a:ln/>
        </p:spPr>
        <p:txBody>
          <a:bodyPr wrap="square" lIns="0" tIns="0" rIns="0" bIns="0" rtlCol="0" anchor="ctr"/>
          <a:lstStyle/>
          <a:p>
            <a:pPr>
              <a:lnSpc>
                <a:spcPct val="130000"/>
              </a:lnSpc>
            </a:pPr>
            <a:r>
              <a:rPr lang="en-US" sz="1567" b="1" dirty="0">
                <a:solidFill>
                  <a:srgbClr val="D1D5DB"/>
                </a:solidFill>
                <a:latin typeface="MiSans" pitchFamily="34" charset="0"/>
                <a:ea typeface="MiSans" pitchFamily="34" charset="-122"/>
                <a:cs typeface="MiSans" pitchFamily="34" charset="-120"/>
              </a:rPr>
              <a:t>互斥特征捆绑 (Exclusive Feature Bundling)</a:t>
            </a:r>
            <a:endParaRPr lang="en-US" sz="1600" dirty="0"/>
          </a:p>
        </p:txBody>
      </p:sp>
      <p:sp>
        <p:nvSpPr>
          <p:cNvPr id="25" name="Text 23"/>
          <p:cNvSpPr/>
          <p:nvPr/>
        </p:nvSpPr>
        <p:spPr>
          <a:xfrm>
            <a:off x="663510" y="7171439"/>
            <a:ext cx="7265437" cy="287521"/>
          </a:xfrm>
          <a:prstGeom prst="rect">
            <a:avLst/>
          </a:prstGeom>
          <a:noFill/>
          <a:ln/>
        </p:spPr>
        <p:txBody>
          <a:bodyPr wrap="square" lIns="0" tIns="0" rIns="0" bIns="0" rtlCol="0" anchor="ctr"/>
          <a:lstStyle/>
          <a:p>
            <a:pPr>
              <a:lnSpc>
                <a:spcPct val="140000"/>
              </a:lnSpc>
            </a:pPr>
            <a:r>
              <a:rPr lang="en-US" sz="1393" dirty="0">
                <a:solidFill>
                  <a:srgbClr val="7E9AA8"/>
                </a:solidFill>
                <a:latin typeface="MiSans" pitchFamily="34" charset="0"/>
                <a:ea typeface="MiSans" pitchFamily="34" charset="-122"/>
                <a:cs typeface="MiSans" pitchFamily="34" charset="-120"/>
              </a:rPr>
              <a:t>将互斥的高维稀疏特征（如One-Hot编码）捆绑为单一特征，显著降低特征维度。</a:t>
            </a:r>
            <a:endParaRPr lang="en-US" sz="1600" dirty="0"/>
          </a:p>
        </p:txBody>
      </p:sp>
      <p:sp>
        <p:nvSpPr>
          <p:cNvPr id="26" name="Shape 24"/>
          <p:cNvSpPr/>
          <p:nvPr/>
        </p:nvSpPr>
        <p:spPr>
          <a:xfrm>
            <a:off x="663510" y="7547429"/>
            <a:ext cx="7176969" cy="398106"/>
          </a:xfrm>
          <a:custGeom>
            <a:avLst/>
            <a:gdLst/>
            <a:ahLst/>
            <a:cxnLst/>
            <a:rect l="l" t="t" r="r" b="b"/>
            <a:pathLst>
              <a:path w="7176969" h="398106">
                <a:moveTo>
                  <a:pt x="44234" y="0"/>
                </a:moveTo>
                <a:lnTo>
                  <a:pt x="7132735" y="0"/>
                </a:lnTo>
                <a:cubicBezTo>
                  <a:pt x="7157165" y="0"/>
                  <a:pt x="7176969" y="19804"/>
                  <a:pt x="7176969" y="44234"/>
                </a:cubicBezTo>
                <a:lnTo>
                  <a:pt x="7176969" y="353873"/>
                </a:lnTo>
                <a:cubicBezTo>
                  <a:pt x="7176969" y="378302"/>
                  <a:pt x="7157165" y="398106"/>
                  <a:pt x="7132735" y="398106"/>
                </a:cubicBezTo>
                <a:lnTo>
                  <a:pt x="44234" y="398106"/>
                </a:lnTo>
                <a:cubicBezTo>
                  <a:pt x="19804" y="398106"/>
                  <a:pt x="0" y="378302"/>
                  <a:pt x="0" y="353873"/>
                </a:cubicBezTo>
                <a:lnTo>
                  <a:pt x="0" y="44234"/>
                </a:lnTo>
                <a:cubicBezTo>
                  <a:pt x="0" y="19804"/>
                  <a:pt x="19804" y="0"/>
                  <a:pt x="44234" y="0"/>
                </a:cubicBezTo>
                <a:close/>
              </a:path>
            </a:pathLst>
          </a:custGeom>
          <a:solidFill>
            <a:srgbClr val="181A1F">
              <a:alpha val="50196"/>
            </a:srgbClr>
          </a:solidFill>
          <a:ln/>
        </p:spPr>
      </p:sp>
      <p:sp>
        <p:nvSpPr>
          <p:cNvPr id="27" name="Text 25"/>
          <p:cNvSpPr/>
          <p:nvPr/>
        </p:nvSpPr>
        <p:spPr>
          <a:xfrm>
            <a:off x="751978" y="7635897"/>
            <a:ext cx="7077442" cy="221170"/>
          </a:xfrm>
          <a:prstGeom prst="rect">
            <a:avLst/>
          </a:prstGeom>
          <a:noFill/>
          <a:ln/>
        </p:spPr>
        <p:txBody>
          <a:bodyPr wrap="square" lIns="0" tIns="0" rIns="0" bIns="0" rtlCol="0" anchor="ctr"/>
          <a:lstStyle/>
          <a:p>
            <a:pPr>
              <a:lnSpc>
                <a:spcPct val="120000"/>
              </a:lnSpc>
            </a:pPr>
            <a:r>
              <a:rPr lang="en-US" sz="1219" b="1" dirty="0">
                <a:solidFill>
                  <a:srgbClr val="D1D5DB"/>
                </a:solidFill>
                <a:latin typeface="MiSans" pitchFamily="34" charset="0"/>
                <a:ea typeface="MiSans" pitchFamily="34" charset="-122"/>
                <a:cs typeface="MiSans" pitchFamily="34" charset="-120"/>
              </a:rPr>
              <a:t>优势：</a:t>
            </a:r>
            <a:pPr>
              <a:lnSpc>
                <a:spcPct val="120000"/>
              </a:lnSpc>
            </a:pPr>
            <a:r>
              <a:rPr lang="en-US" sz="1219" dirty="0">
                <a:solidFill>
                  <a:srgbClr val="7E9AA8"/>
                </a:solidFill>
                <a:latin typeface="MiSans" pitchFamily="34" charset="0"/>
                <a:ea typeface="MiSans" pitchFamily="34" charset="-122"/>
                <a:cs typeface="MiSans" pitchFamily="34" charset="-120"/>
              </a:rPr>
              <a:t>减少特征数量，加速训练</a:t>
            </a:r>
            <a:endParaRPr lang="en-US" sz="1600" dirty="0"/>
          </a:p>
        </p:txBody>
      </p:sp>
      <p:sp>
        <p:nvSpPr>
          <p:cNvPr id="28" name="Shape 26"/>
          <p:cNvSpPr/>
          <p:nvPr/>
        </p:nvSpPr>
        <p:spPr>
          <a:xfrm>
            <a:off x="8261912" y="1592424"/>
            <a:ext cx="7552958" cy="2233818"/>
          </a:xfrm>
          <a:custGeom>
            <a:avLst/>
            <a:gdLst/>
            <a:ahLst/>
            <a:cxnLst/>
            <a:rect l="l" t="t" r="r" b="b"/>
            <a:pathLst>
              <a:path w="7552958" h="2233818">
                <a:moveTo>
                  <a:pt x="44234" y="0"/>
                </a:moveTo>
                <a:lnTo>
                  <a:pt x="7464499" y="0"/>
                </a:lnTo>
                <a:cubicBezTo>
                  <a:pt x="7513353" y="0"/>
                  <a:pt x="7552958" y="39605"/>
                  <a:pt x="7552958" y="88459"/>
                </a:cubicBezTo>
                <a:lnTo>
                  <a:pt x="7552958" y="2145359"/>
                </a:lnTo>
                <a:cubicBezTo>
                  <a:pt x="7552958" y="2194213"/>
                  <a:pt x="7513353" y="2233818"/>
                  <a:pt x="7464499" y="2233818"/>
                </a:cubicBezTo>
                <a:lnTo>
                  <a:pt x="44234" y="2233818"/>
                </a:lnTo>
                <a:cubicBezTo>
                  <a:pt x="19804" y="2233818"/>
                  <a:pt x="0" y="2214013"/>
                  <a:pt x="0" y="2189584"/>
                </a:cubicBezTo>
                <a:lnTo>
                  <a:pt x="0" y="44234"/>
                </a:lnTo>
                <a:cubicBezTo>
                  <a:pt x="0" y="19821"/>
                  <a:pt x="19821" y="0"/>
                  <a:pt x="44234" y="0"/>
                </a:cubicBezTo>
                <a:close/>
              </a:path>
            </a:pathLst>
          </a:custGeom>
          <a:solidFill>
            <a:srgbClr val="3A5E78">
              <a:alpha val="20000"/>
            </a:srgbClr>
          </a:solidFill>
          <a:ln/>
        </p:spPr>
      </p:sp>
      <p:sp>
        <p:nvSpPr>
          <p:cNvPr id="29" name="Shape 27"/>
          <p:cNvSpPr/>
          <p:nvPr/>
        </p:nvSpPr>
        <p:spPr>
          <a:xfrm>
            <a:off x="8261912" y="1592424"/>
            <a:ext cx="44234" cy="2233818"/>
          </a:xfrm>
          <a:custGeom>
            <a:avLst/>
            <a:gdLst/>
            <a:ahLst/>
            <a:cxnLst/>
            <a:rect l="l" t="t" r="r" b="b"/>
            <a:pathLst>
              <a:path w="44234" h="2233818">
                <a:moveTo>
                  <a:pt x="44234" y="0"/>
                </a:moveTo>
                <a:lnTo>
                  <a:pt x="44234" y="0"/>
                </a:lnTo>
                <a:lnTo>
                  <a:pt x="44234" y="2233818"/>
                </a:lnTo>
                <a:lnTo>
                  <a:pt x="44234" y="2233818"/>
                </a:lnTo>
                <a:cubicBezTo>
                  <a:pt x="19804" y="2233818"/>
                  <a:pt x="0" y="2214013"/>
                  <a:pt x="0" y="2189584"/>
                </a:cubicBezTo>
                <a:lnTo>
                  <a:pt x="0" y="44234"/>
                </a:lnTo>
                <a:cubicBezTo>
                  <a:pt x="0" y="19804"/>
                  <a:pt x="19804" y="0"/>
                  <a:pt x="44234" y="0"/>
                </a:cubicBezTo>
                <a:close/>
              </a:path>
            </a:pathLst>
          </a:custGeom>
          <a:solidFill>
            <a:srgbClr val="4C7E9A"/>
          </a:solidFill>
          <a:ln/>
        </p:spPr>
      </p:sp>
      <p:sp>
        <p:nvSpPr>
          <p:cNvPr id="30" name="Text 28"/>
          <p:cNvSpPr/>
          <p:nvPr/>
        </p:nvSpPr>
        <p:spPr>
          <a:xfrm>
            <a:off x="8460965" y="1769361"/>
            <a:ext cx="7309671" cy="353872"/>
          </a:xfrm>
          <a:prstGeom prst="rect">
            <a:avLst/>
          </a:prstGeom>
          <a:noFill/>
          <a:ln/>
        </p:spPr>
        <p:txBody>
          <a:bodyPr wrap="square" lIns="0" tIns="0" rIns="0" bIns="0" rtlCol="0" anchor="ctr"/>
          <a:lstStyle/>
          <a:p>
            <a:pPr>
              <a:lnSpc>
                <a:spcPct val="110000"/>
              </a:lnSpc>
            </a:pPr>
            <a:r>
              <a:rPr lang="en-US" sz="2090" b="1" dirty="0">
                <a:solidFill>
                  <a:srgbClr val="4C7E9A"/>
                </a:solidFill>
                <a:latin typeface="MiSans" pitchFamily="34" charset="0"/>
                <a:ea typeface="MiSans" pitchFamily="34" charset="-122"/>
                <a:cs typeface="MiSans" pitchFamily="34" charset="-120"/>
              </a:rPr>
              <a:t>核心技术3：直方图优化</a:t>
            </a:r>
            <a:endParaRPr lang="en-US" sz="1600" dirty="0"/>
          </a:p>
        </p:txBody>
      </p:sp>
      <p:sp>
        <p:nvSpPr>
          <p:cNvPr id="31" name="Shape 29"/>
          <p:cNvSpPr/>
          <p:nvPr/>
        </p:nvSpPr>
        <p:spPr>
          <a:xfrm>
            <a:off x="8488611" y="2316756"/>
            <a:ext cx="199053" cy="199053"/>
          </a:xfrm>
          <a:custGeom>
            <a:avLst/>
            <a:gdLst/>
            <a:ahLst/>
            <a:cxnLst/>
            <a:rect l="l" t="t" r="r" b="b"/>
            <a:pathLst>
              <a:path w="199053" h="199053">
                <a:moveTo>
                  <a:pt x="12441" y="12441"/>
                </a:moveTo>
                <a:cubicBezTo>
                  <a:pt x="19322" y="12441"/>
                  <a:pt x="24882" y="18000"/>
                  <a:pt x="24882" y="24882"/>
                </a:cubicBezTo>
                <a:lnTo>
                  <a:pt x="24882" y="155510"/>
                </a:lnTo>
                <a:cubicBezTo>
                  <a:pt x="24882" y="158931"/>
                  <a:pt x="27681" y="161731"/>
                  <a:pt x="31102" y="161731"/>
                </a:cubicBezTo>
                <a:lnTo>
                  <a:pt x="186612" y="161731"/>
                </a:lnTo>
                <a:cubicBezTo>
                  <a:pt x="193494" y="161731"/>
                  <a:pt x="199053" y="167290"/>
                  <a:pt x="199053" y="174171"/>
                </a:cubicBezTo>
                <a:cubicBezTo>
                  <a:pt x="199053" y="181053"/>
                  <a:pt x="193494" y="186612"/>
                  <a:pt x="186612" y="186612"/>
                </a:cubicBezTo>
                <a:lnTo>
                  <a:pt x="31102" y="186612"/>
                </a:lnTo>
                <a:cubicBezTo>
                  <a:pt x="13918" y="186612"/>
                  <a:pt x="0" y="172694"/>
                  <a:pt x="0" y="155510"/>
                </a:cubicBezTo>
                <a:lnTo>
                  <a:pt x="0" y="24882"/>
                </a:lnTo>
                <a:cubicBezTo>
                  <a:pt x="0" y="18000"/>
                  <a:pt x="5559" y="12441"/>
                  <a:pt x="12441" y="12441"/>
                </a:cubicBezTo>
                <a:close/>
                <a:moveTo>
                  <a:pt x="49763" y="37322"/>
                </a:moveTo>
                <a:cubicBezTo>
                  <a:pt x="49763" y="30441"/>
                  <a:pt x="55323" y="24882"/>
                  <a:pt x="62204" y="24882"/>
                </a:cubicBezTo>
                <a:lnTo>
                  <a:pt x="136849" y="24882"/>
                </a:lnTo>
                <a:cubicBezTo>
                  <a:pt x="143730" y="24882"/>
                  <a:pt x="149290" y="30441"/>
                  <a:pt x="149290" y="37322"/>
                </a:cubicBezTo>
                <a:cubicBezTo>
                  <a:pt x="149290" y="44204"/>
                  <a:pt x="143730" y="49763"/>
                  <a:pt x="136849" y="49763"/>
                </a:cubicBezTo>
                <a:lnTo>
                  <a:pt x="62204" y="49763"/>
                </a:lnTo>
                <a:cubicBezTo>
                  <a:pt x="55323" y="49763"/>
                  <a:pt x="49763" y="44204"/>
                  <a:pt x="49763" y="37322"/>
                </a:cubicBezTo>
                <a:close/>
                <a:moveTo>
                  <a:pt x="62204" y="68424"/>
                </a:moveTo>
                <a:lnTo>
                  <a:pt x="111967" y="68424"/>
                </a:lnTo>
                <a:cubicBezTo>
                  <a:pt x="118849" y="68424"/>
                  <a:pt x="124408" y="73984"/>
                  <a:pt x="124408" y="80865"/>
                </a:cubicBezTo>
                <a:cubicBezTo>
                  <a:pt x="124408" y="87747"/>
                  <a:pt x="118849" y="93306"/>
                  <a:pt x="111967" y="93306"/>
                </a:cubicBezTo>
                <a:lnTo>
                  <a:pt x="62204" y="93306"/>
                </a:lnTo>
                <a:cubicBezTo>
                  <a:pt x="55323" y="93306"/>
                  <a:pt x="49763" y="87747"/>
                  <a:pt x="49763" y="80865"/>
                </a:cubicBezTo>
                <a:cubicBezTo>
                  <a:pt x="49763" y="73984"/>
                  <a:pt x="55323" y="68424"/>
                  <a:pt x="62204" y="68424"/>
                </a:cubicBezTo>
                <a:close/>
                <a:moveTo>
                  <a:pt x="62204" y="111967"/>
                </a:moveTo>
                <a:lnTo>
                  <a:pt x="161731" y="111967"/>
                </a:lnTo>
                <a:cubicBezTo>
                  <a:pt x="168612" y="111967"/>
                  <a:pt x="174171" y="117527"/>
                  <a:pt x="174171" y="124408"/>
                </a:cubicBezTo>
                <a:cubicBezTo>
                  <a:pt x="174171" y="131289"/>
                  <a:pt x="168612" y="136849"/>
                  <a:pt x="161731" y="136849"/>
                </a:cubicBezTo>
                <a:lnTo>
                  <a:pt x="62204" y="136849"/>
                </a:lnTo>
                <a:cubicBezTo>
                  <a:pt x="55323" y="136849"/>
                  <a:pt x="49763" y="131289"/>
                  <a:pt x="49763" y="124408"/>
                </a:cubicBezTo>
                <a:cubicBezTo>
                  <a:pt x="49763" y="117527"/>
                  <a:pt x="55323" y="111967"/>
                  <a:pt x="62204" y="111967"/>
                </a:cubicBezTo>
                <a:close/>
              </a:path>
            </a:pathLst>
          </a:custGeom>
          <a:solidFill>
            <a:srgbClr val="4C7E9A"/>
          </a:solidFill>
          <a:ln/>
        </p:spPr>
      </p:sp>
      <p:sp>
        <p:nvSpPr>
          <p:cNvPr id="32" name="Text 30"/>
          <p:cNvSpPr/>
          <p:nvPr/>
        </p:nvSpPr>
        <p:spPr>
          <a:xfrm>
            <a:off x="8792344" y="2255935"/>
            <a:ext cx="6945116" cy="309638"/>
          </a:xfrm>
          <a:prstGeom prst="rect">
            <a:avLst/>
          </a:prstGeom>
          <a:noFill/>
          <a:ln/>
        </p:spPr>
        <p:txBody>
          <a:bodyPr wrap="square" lIns="0" tIns="0" rIns="0" bIns="0" rtlCol="0" anchor="ctr"/>
          <a:lstStyle/>
          <a:p>
            <a:pPr>
              <a:lnSpc>
                <a:spcPct val="130000"/>
              </a:lnSpc>
            </a:pPr>
            <a:r>
              <a:rPr lang="en-US" sz="1567" b="1" dirty="0">
                <a:solidFill>
                  <a:srgbClr val="D1D5DB"/>
                </a:solidFill>
                <a:latin typeface="MiSans" pitchFamily="34" charset="0"/>
                <a:ea typeface="MiSans" pitchFamily="34" charset="-122"/>
                <a:cs typeface="MiSans" pitchFamily="34" charset="-120"/>
              </a:rPr>
              <a:t>Histogram-based Algorithm</a:t>
            </a:r>
            <a:endParaRPr lang="en-US" sz="1600" dirty="0"/>
          </a:p>
        </p:txBody>
      </p:sp>
      <p:sp>
        <p:nvSpPr>
          <p:cNvPr id="33" name="Text 31"/>
          <p:cNvSpPr/>
          <p:nvPr/>
        </p:nvSpPr>
        <p:spPr>
          <a:xfrm>
            <a:off x="8460965" y="2654041"/>
            <a:ext cx="7265437" cy="287521"/>
          </a:xfrm>
          <a:prstGeom prst="rect">
            <a:avLst/>
          </a:prstGeom>
          <a:noFill/>
          <a:ln/>
        </p:spPr>
        <p:txBody>
          <a:bodyPr wrap="square" lIns="0" tIns="0" rIns="0" bIns="0" rtlCol="0" anchor="ctr"/>
          <a:lstStyle/>
          <a:p>
            <a:pPr>
              <a:lnSpc>
                <a:spcPct val="140000"/>
              </a:lnSpc>
            </a:pPr>
            <a:r>
              <a:rPr lang="en-US" sz="1393" dirty="0">
                <a:solidFill>
                  <a:srgbClr val="7E9AA8"/>
                </a:solidFill>
                <a:latin typeface="MiSans" pitchFamily="34" charset="0"/>
                <a:ea typeface="MiSans" pitchFamily="34" charset="-122"/>
                <a:cs typeface="MiSans" pitchFamily="34" charset="-120"/>
              </a:rPr>
              <a:t>将连续特征离散化为直方图，极大地加速分裂点的寻找过程，并大幅降低了内存消耗。</a:t>
            </a:r>
            <a:endParaRPr lang="en-US" sz="1600" dirty="0"/>
          </a:p>
        </p:txBody>
      </p:sp>
      <p:sp>
        <p:nvSpPr>
          <p:cNvPr id="34" name="Shape 32"/>
          <p:cNvSpPr/>
          <p:nvPr/>
        </p:nvSpPr>
        <p:spPr>
          <a:xfrm>
            <a:off x="8460965" y="3074264"/>
            <a:ext cx="3549780" cy="575042"/>
          </a:xfrm>
          <a:custGeom>
            <a:avLst/>
            <a:gdLst/>
            <a:ahLst/>
            <a:cxnLst/>
            <a:rect l="l" t="t" r="r" b="b"/>
            <a:pathLst>
              <a:path w="3549780" h="575042">
                <a:moveTo>
                  <a:pt x="44232" y="0"/>
                </a:moveTo>
                <a:lnTo>
                  <a:pt x="3505547" y="0"/>
                </a:lnTo>
                <a:cubicBezTo>
                  <a:pt x="3529976" y="0"/>
                  <a:pt x="3549780" y="19803"/>
                  <a:pt x="3549780" y="44232"/>
                </a:cubicBezTo>
                <a:lnTo>
                  <a:pt x="3549780" y="530810"/>
                </a:lnTo>
                <a:cubicBezTo>
                  <a:pt x="3549780" y="555239"/>
                  <a:pt x="3529976" y="575042"/>
                  <a:pt x="3505547" y="575042"/>
                </a:cubicBezTo>
                <a:lnTo>
                  <a:pt x="44232" y="575042"/>
                </a:lnTo>
                <a:cubicBezTo>
                  <a:pt x="19803" y="575042"/>
                  <a:pt x="0" y="555239"/>
                  <a:pt x="0" y="530810"/>
                </a:cubicBezTo>
                <a:lnTo>
                  <a:pt x="0" y="44232"/>
                </a:lnTo>
                <a:cubicBezTo>
                  <a:pt x="0" y="19803"/>
                  <a:pt x="19803" y="0"/>
                  <a:pt x="44232" y="0"/>
                </a:cubicBezTo>
                <a:close/>
              </a:path>
            </a:pathLst>
          </a:custGeom>
          <a:solidFill>
            <a:srgbClr val="181A1F">
              <a:alpha val="50196"/>
            </a:srgbClr>
          </a:solidFill>
          <a:ln/>
        </p:spPr>
      </p:sp>
      <p:sp>
        <p:nvSpPr>
          <p:cNvPr id="35" name="Text 33"/>
          <p:cNvSpPr/>
          <p:nvPr/>
        </p:nvSpPr>
        <p:spPr>
          <a:xfrm>
            <a:off x="8510728" y="3162732"/>
            <a:ext cx="3450253" cy="221170"/>
          </a:xfrm>
          <a:prstGeom prst="rect">
            <a:avLst/>
          </a:prstGeom>
          <a:noFill/>
          <a:ln/>
        </p:spPr>
        <p:txBody>
          <a:bodyPr wrap="square" lIns="0" tIns="0" rIns="0" bIns="0" rtlCol="0" anchor="ctr"/>
          <a:lstStyle/>
          <a:p>
            <a:pPr algn="ctr">
              <a:lnSpc>
                <a:spcPct val="120000"/>
              </a:lnSpc>
            </a:pPr>
            <a:r>
              <a:rPr lang="en-US" sz="1219" b="1" dirty="0">
                <a:solidFill>
                  <a:srgbClr val="D1D5DB"/>
                </a:solidFill>
                <a:latin typeface="MiSans" pitchFamily="34" charset="0"/>
                <a:ea typeface="MiSans" pitchFamily="34" charset="-122"/>
                <a:cs typeface="MiSans" pitchFamily="34" charset="-120"/>
              </a:rPr>
              <a:t>传统方法</a:t>
            </a:r>
            <a:endParaRPr lang="en-US" sz="1600" dirty="0"/>
          </a:p>
        </p:txBody>
      </p:sp>
      <p:sp>
        <p:nvSpPr>
          <p:cNvPr id="36" name="Text 34"/>
          <p:cNvSpPr/>
          <p:nvPr/>
        </p:nvSpPr>
        <p:spPr>
          <a:xfrm>
            <a:off x="8516257" y="3383902"/>
            <a:ext cx="3439195" cy="176936"/>
          </a:xfrm>
          <a:prstGeom prst="rect">
            <a:avLst/>
          </a:prstGeom>
          <a:noFill/>
          <a:ln/>
        </p:spPr>
        <p:txBody>
          <a:bodyPr wrap="square" lIns="0" tIns="0" rIns="0" bIns="0" rtlCol="0" anchor="ctr"/>
          <a:lstStyle/>
          <a:p>
            <a:pPr algn="ctr">
              <a:lnSpc>
                <a:spcPct val="110000"/>
              </a:lnSpc>
            </a:pPr>
            <a:r>
              <a:rPr lang="en-US" sz="1045" dirty="0">
                <a:solidFill>
                  <a:srgbClr val="7E9AA8"/>
                </a:solidFill>
                <a:latin typeface="MiSans" pitchFamily="34" charset="0"/>
                <a:ea typeface="MiSans" pitchFamily="34" charset="-122"/>
                <a:cs typeface="MiSans" pitchFamily="34" charset="-120"/>
              </a:rPr>
              <a:t>逐个特征值扫描</a:t>
            </a:r>
            <a:endParaRPr lang="en-US" sz="1600" dirty="0"/>
          </a:p>
        </p:txBody>
      </p:sp>
      <p:sp>
        <p:nvSpPr>
          <p:cNvPr id="37" name="Shape 35"/>
          <p:cNvSpPr/>
          <p:nvPr/>
        </p:nvSpPr>
        <p:spPr>
          <a:xfrm>
            <a:off x="12094288" y="3074264"/>
            <a:ext cx="3549780" cy="575042"/>
          </a:xfrm>
          <a:custGeom>
            <a:avLst/>
            <a:gdLst/>
            <a:ahLst/>
            <a:cxnLst/>
            <a:rect l="l" t="t" r="r" b="b"/>
            <a:pathLst>
              <a:path w="3549780" h="575042">
                <a:moveTo>
                  <a:pt x="44232" y="0"/>
                </a:moveTo>
                <a:lnTo>
                  <a:pt x="3505547" y="0"/>
                </a:lnTo>
                <a:cubicBezTo>
                  <a:pt x="3529976" y="0"/>
                  <a:pt x="3549780" y="19803"/>
                  <a:pt x="3549780" y="44232"/>
                </a:cubicBezTo>
                <a:lnTo>
                  <a:pt x="3549780" y="530810"/>
                </a:lnTo>
                <a:cubicBezTo>
                  <a:pt x="3549780" y="555239"/>
                  <a:pt x="3529976" y="575042"/>
                  <a:pt x="3505547" y="575042"/>
                </a:cubicBezTo>
                <a:lnTo>
                  <a:pt x="44232" y="575042"/>
                </a:lnTo>
                <a:cubicBezTo>
                  <a:pt x="19803" y="575042"/>
                  <a:pt x="0" y="555239"/>
                  <a:pt x="0" y="530810"/>
                </a:cubicBezTo>
                <a:lnTo>
                  <a:pt x="0" y="44232"/>
                </a:lnTo>
                <a:cubicBezTo>
                  <a:pt x="0" y="19803"/>
                  <a:pt x="19803" y="0"/>
                  <a:pt x="44232" y="0"/>
                </a:cubicBezTo>
                <a:close/>
              </a:path>
            </a:pathLst>
          </a:custGeom>
          <a:solidFill>
            <a:srgbClr val="181A1F">
              <a:alpha val="50196"/>
            </a:srgbClr>
          </a:solidFill>
          <a:ln/>
        </p:spPr>
      </p:sp>
      <p:sp>
        <p:nvSpPr>
          <p:cNvPr id="38" name="Text 36"/>
          <p:cNvSpPr/>
          <p:nvPr/>
        </p:nvSpPr>
        <p:spPr>
          <a:xfrm>
            <a:off x="12144051" y="3162732"/>
            <a:ext cx="3450253" cy="221170"/>
          </a:xfrm>
          <a:prstGeom prst="rect">
            <a:avLst/>
          </a:prstGeom>
          <a:noFill/>
          <a:ln/>
        </p:spPr>
        <p:txBody>
          <a:bodyPr wrap="square" lIns="0" tIns="0" rIns="0" bIns="0" rtlCol="0" anchor="ctr"/>
          <a:lstStyle/>
          <a:p>
            <a:pPr algn="ctr">
              <a:lnSpc>
                <a:spcPct val="120000"/>
              </a:lnSpc>
            </a:pPr>
            <a:r>
              <a:rPr lang="en-US" sz="1219" b="1" dirty="0">
                <a:solidFill>
                  <a:srgbClr val="D1D5DB"/>
                </a:solidFill>
                <a:latin typeface="MiSans" pitchFamily="34" charset="0"/>
                <a:ea typeface="MiSans" pitchFamily="34" charset="-122"/>
                <a:cs typeface="MiSans" pitchFamily="34" charset="-120"/>
              </a:rPr>
              <a:t>直方图算法</a:t>
            </a:r>
            <a:endParaRPr lang="en-US" sz="1600" dirty="0"/>
          </a:p>
        </p:txBody>
      </p:sp>
      <p:sp>
        <p:nvSpPr>
          <p:cNvPr id="39" name="Text 37"/>
          <p:cNvSpPr/>
          <p:nvPr/>
        </p:nvSpPr>
        <p:spPr>
          <a:xfrm>
            <a:off x="12149580" y="3383902"/>
            <a:ext cx="3439195" cy="176936"/>
          </a:xfrm>
          <a:prstGeom prst="rect">
            <a:avLst/>
          </a:prstGeom>
          <a:noFill/>
          <a:ln/>
        </p:spPr>
        <p:txBody>
          <a:bodyPr wrap="square" lIns="0" tIns="0" rIns="0" bIns="0" rtlCol="0" anchor="ctr"/>
          <a:lstStyle/>
          <a:p>
            <a:pPr algn="ctr">
              <a:lnSpc>
                <a:spcPct val="110000"/>
              </a:lnSpc>
            </a:pPr>
            <a:r>
              <a:rPr lang="en-US" sz="1045" dirty="0">
                <a:solidFill>
                  <a:srgbClr val="7E9AA8"/>
                </a:solidFill>
                <a:latin typeface="MiSans" pitchFamily="34" charset="0"/>
                <a:ea typeface="MiSans" pitchFamily="34" charset="-122"/>
                <a:cs typeface="MiSans" pitchFamily="34" charset="-120"/>
              </a:rPr>
              <a:t>离散化后快速查找</a:t>
            </a:r>
            <a:endParaRPr lang="en-US" sz="1600" dirty="0"/>
          </a:p>
        </p:txBody>
      </p:sp>
      <p:pic>
        <p:nvPicPr>
          <p:cNvPr id="40" name="Image 0" descr="https://kimi-img.moonshot.cn/pub/slides/26-01-07-11:57:46-d5etjentuanqsl0loas0.png">    </p:cNvPr>
          <p:cNvPicPr>
            <a:picLocks noChangeAspect="1"/>
          </p:cNvPicPr>
          <p:nvPr/>
        </p:nvPicPr>
        <p:blipFill>
          <a:blip r:embed="rId1"/>
          <a:srcRect l="0" r="0" t="0" b="0"/>
          <a:stretch/>
        </p:blipFill>
        <p:spPr>
          <a:xfrm>
            <a:off x="8239795" y="4003178"/>
            <a:ext cx="6524517" cy="2654041"/>
          </a:xfrm>
          <a:prstGeom prst="roundRect">
            <a:avLst>
              <a:gd name="adj" fmla="val 0"/>
            </a:avLst>
          </a:prstGeom>
        </p:spPr>
      </p:pic>
      <p:sp>
        <p:nvSpPr>
          <p:cNvPr id="41" name="Shape 38"/>
          <p:cNvSpPr/>
          <p:nvPr/>
        </p:nvSpPr>
        <p:spPr>
          <a:xfrm>
            <a:off x="8239795" y="6834155"/>
            <a:ext cx="3726716" cy="1415488"/>
          </a:xfrm>
          <a:custGeom>
            <a:avLst/>
            <a:gdLst/>
            <a:ahLst/>
            <a:cxnLst/>
            <a:rect l="l" t="t" r="r" b="b"/>
            <a:pathLst>
              <a:path w="3726716" h="1415488">
                <a:moveTo>
                  <a:pt x="88468" y="0"/>
                </a:moveTo>
                <a:lnTo>
                  <a:pt x="3638248" y="0"/>
                </a:lnTo>
                <a:cubicBezTo>
                  <a:pt x="3687107" y="0"/>
                  <a:pt x="3726716" y="39608"/>
                  <a:pt x="3726716" y="88468"/>
                </a:cubicBezTo>
                <a:lnTo>
                  <a:pt x="3726716" y="1327020"/>
                </a:lnTo>
                <a:cubicBezTo>
                  <a:pt x="3726716" y="1375880"/>
                  <a:pt x="3687107" y="1415488"/>
                  <a:pt x="3638248" y="1415488"/>
                </a:cubicBezTo>
                <a:lnTo>
                  <a:pt x="88468" y="1415488"/>
                </a:lnTo>
                <a:cubicBezTo>
                  <a:pt x="39608" y="1415488"/>
                  <a:pt x="0" y="1375880"/>
                  <a:pt x="0" y="1327020"/>
                </a:cubicBezTo>
                <a:lnTo>
                  <a:pt x="0" y="88468"/>
                </a:lnTo>
                <a:cubicBezTo>
                  <a:pt x="0" y="39608"/>
                  <a:pt x="39608" y="0"/>
                  <a:pt x="88468" y="0"/>
                </a:cubicBezTo>
                <a:close/>
              </a:path>
            </a:pathLst>
          </a:custGeom>
          <a:solidFill>
            <a:srgbClr val="4C7E9A">
              <a:alpha val="10196"/>
            </a:srgbClr>
          </a:solidFill>
          <a:ln/>
        </p:spPr>
      </p:sp>
      <p:sp>
        <p:nvSpPr>
          <p:cNvPr id="42" name="Text 39"/>
          <p:cNvSpPr/>
          <p:nvPr/>
        </p:nvSpPr>
        <p:spPr>
          <a:xfrm>
            <a:off x="8372497" y="6966857"/>
            <a:ext cx="3560838" cy="309638"/>
          </a:xfrm>
          <a:prstGeom prst="rect">
            <a:avLst/>
          </a:prstGeom>
          <a:noFill/>
          <a:ln/>
        </p:spPr>
        <p:txBody>
          <a:bodyPr wrap="square" lIns="0" tIns="0" rIns="0" bIns="0" rtlCol="0" anchor="ctr"/>
          <a:lstStyle/>
          <a:p>
            <a:pPr>
              <a:lnSpc>
                <a:spcPct val="130000"/>
              </a:lnSpc>
            </a:pPr>
            <a:r>
              <a:rPr lang="en-US" sz="1567" b="1" dirty="0">
                <a:solidFill>
                  <a:srgbClr val="4C7E9A"/>
                </a:solidFill>
                <a:latin typeface="MiSans" pitchFamily="34" charset="0"/>
                <a:ea typeface="MiSans" pitchFamily="34" charset="-122"/>
                <a:cs typeface="MiSans" pitchFamily="34" charset="-120"/>
              </a:rPr>
              <a:t>LightGBM优势</a:t>
            </a:r>
            <a:endParaRPr lang="en-US" sz="1600" dirty="0"/>
          </a:p>
        </p:txBody>
      </p:sp>
      <p:sp>
        <p:nvSpPr>
          <p:cNvPr id="43" name="Text 40"/>
          <p:cNvSpPr/>
          <p:nvPr/>
        </p:nvSpPr>
        <p:spPr>
          <a:xfrm>
            <a:off x="8372497" y="7364963"/>
            <a:ext cx="3538721" cy="221170"/>
          </a:xfrm>
          <a:prstGeom prst="rect">
            <a:avLst/>
          </a:prstGeom>
          <a:noFill/>
          <a:ln/>
        </p:spPr>
        <p:txBody>
          <a:bodyPr wrap="square" lIns="0" tIns="0" rIns="0" bIns="0" rtlCol="0" anchor="ctr"/>
          <a:lstStyle/>
          <a:p>
            <a:pPr>
              <a:lnSpc>
                <a:spcPct val="120000"/>
              </a:lnSpc>
            </a:pPr>
            <a:r>
              <a:rPr lang="en-US" sz="1219" dirty="0">
                <a:solidFill>
                  <a:srgbClr val="7E9AA8"/>
                </a:solidFill>
                <a:latin typeface="MiSans" pitchFamily="34" charset="0"/>
                <a:ea typeface="MiSans" pitchFamily="34" charset="-122"/>
                <a:cs typeface="MiSans" pitchFamily="34" charset="-120"/>
              </a:rPr>
              <a:t>✓ 训练速度快2-10倍</a:t>
            </a:r>
            <a:endParaRPr lang="en-US" sz="1600" dirty="0"/>
          </a:p>
        </p:txBody>
      </p:sp>
      <p:sp>
        <p:nvSpPr>
          <p:cNvPr id="44" name="Text 41"/>
          <p:cNvSpPr/>
          <p:nvPr/>
        </p:nvSpPr>
        <p:spPr>
          <a:xfrm>
            <a:off x="8372497" y="7630367"/>
            <a:ext cx="3538721" cy="221170"/>
          </a:xfrm>
          <a:prstGeom prst="rect">
            <a:avLst/>
          </a:prstGeom>
          <a:noFill/>
          <a:ln/>
        </p:spPr>
        <p:txBody>
          <a:bodyPr wrap="square" lIns="0" tIns="0" rIns="0" bIns="0" rtlCol="0" anchor="ctr"/>
          <a:lstStyle/>
          <a:p>
            <a:pPr>
              <a:lnSpc>
                <a:spcPct val="120000"/>
              </a:lnSpc>
            </a:pPr>
            <a:r>
              <a:rPr lang="en-US" sz="1219" dirty="0">
                <a:solidFill>
                  <a:srgbClr val="7E9AA8"/>
                </a:solidFill>
                <a:latin typeface="MiSans" pitchFamily="34" charset="0"/>
                <a:ea typeface="MiSans" pitchFamily="34" charset="-122"/>
                <a:cs typeface="MiSans" pitchFamily="34" charset="-120"/>
              </a:rPr>
              <a:t>✓ 内存占用低50%+</a:t>
            </a:r>
            <a:endParaRPr lang="en-US" sz="1600" dirty="0"/>
          </a:p>
        </p:txBody>
      </p:sp>
      <p:sp>
        <p:nvSpPr>
          <p:cNvPr id="45" name="Text 42"/>
          <p:cNvSpPr/>
          <p:nvPr/>
        </p:nvSpPr>
        <p:spPr>
          <a:xfrm>
            <a:off x="8372497" y="7895771"/>
            <a:ext cx="3538721" cy="221170"/>
          </a:xfrm>
          <a:prstGeom prst="rect">
            <a:avLst/>
          </a:prstGeom>
          <a:noFill/>
          <a:ln/>
        </p:spPr>
        <p:txBody>
          <a:bodyPr wrap="square" lIns="0" tIns="0" rIns="0" bIns="0" rtlCol="0" anchor="ctr"/>
          <a:lstStyle/>
          <a:p>
            <a:pPr>
              <a:lnSpc>
                <a:spcPct val="120000"/>
              </a:lnSpc>
            </a:pPr>
            <a:r>
              <a:rPr lang="en-US" sz="1219" dirty="0">
                <a:solidFill>
                  <a:srgbClr val="7E9AA8"/>
                </a:solidFill>
                <a:latin typeface="MiSans" pitchFamily="34" charset="0"/>
                <a:ea typeface="MiSans" pitchFamily="34" charset="-122"/>
                <a:cs typeface="MiSans" pitchFamily="34" charset="-120"/>
              </a:rPr>
              <a:t>✓ 支持海量数据</a:t>
            </a:r>
            <a:endParaRPr lang="en-US" sz="1600" dirty="0"/>
          </a:p>
        </p:txBody>
      </p:sp>
      <p:sp>
        <p:nvSpPr>
          <p:cNvPr id="46" name="Shape 43"/>
          <p:cNvSpPr/>
          <p:nvPr/>
        </p:nvSpPr>
        <p:spPr>
          <a:xfrm>
            <a:off x="12094288" y="6834155"/>
            <a:ext cx="3726716" cy="1415488"/>
          </a:xfrm>
          <a:custGeom>
            <a:avLst/>
            <a:gdLst/>
            <a:ahLst/>
            <a:cxnLst/>
            <a:rect l="l" t="t" r="r" b="b"/>
            <a:pathLst>
              <a:path w="3726716" h="1415488">
                <a:moveTo>
                  <a:pt x="88468" y="0"/>
                </a:moveTo>
                <a:lnTo>
                  <a:pt x="3638248" y="0"/>
                </a:lnTo>
                <a:cubicBezTo>
                  <a:pt x="3687107" y="0"/>
                  <a:pt x="3726716" y="39608"/>
                  <a:pt x="3726716" y="88468"/>
                </a:cubicBezTo>
                <a:lnTo>
                  <a:pt x="3726716" y="1327020"/>
                </a:lnTo>
                <a:cubicBezTo>
                  <a:pt x="3726716" y="1375880"/>
                  <a:pt x="3687107" y="1415488"/>
                  <a:pt x="3638248" y="1415488"/>
                </a:cubicBezTo>
                <a:lnTo>
                  <a:pt x="88468" y="1415488"/>
                </a:lnTo>
                <a:cubicBezTo>
                  <a:pt x="39608" y="1415488"/>
                  <a:pt x="0" y="1375880"/>
                  <a:pt x="0" y="1327020"/>
                </a:cubicBezTo>
                <a:lnTo>
                  <a:pt x="0" y="88468"/>
                </a:lnTo>
                <a:cubicBezTo>
                  <a:pt x="0" y="39608"/>
                  <a:pt x="39608" y="0"/>
                  <a:pt x="88468" y="0"/>
                </a:cubicBezTo>
                <a:close/>
              </a:path>
            </a:pathLst>
          </a:custGeom>
          <a:solidFill>
            <a:srgbClr val="4C7E9A">
              <a:alpha val="10196"/>
            </a:srgbClr>
          </a:solidFill>
          <a:ln/>
        </p:spPr>
      </p:sp>
      <p:sp>
        <p:nvSpPr>
          <p:cNvPr id="47" name="Text 44"/>
          <p:cNvSpPr/>
          <p:nvPr/>
        </p:nvSpPr>
        <p:spPr>
          <a:xfrm>
            <a:off x="12226990" y="6966857"/>
            <a:ext cx="3560838" cy="309638"/>
          </a:xfrm>
          <a:prstGeom prst="rect">
            <a:avLst/>
          </a:prstGeom>
          <a:noFill/>
          <a:ln/>
        </p:spPr>
        <p:txBody>
          <a:bodyPr wrap="square" lIns="0" tIns="0" rIns="0" bIns="0" rtlCol="0" anchor="ctr"/>
          <a:lstStyle/>
          <a:p>
            <a:pPr>
              <a:lnSpc>
                <a:spcPct val="130000"/>
              </a:lnSpc>
            </a:pPr>
            <a:r>
              <a:rPr lang="en-US" sz="1567" b="1" dirty="0">
                <a:solidFill>
                  <a:srgbClr val="4C7E9A"/>
                </a:solidFill>
                <a:latin typeface="MiSans" pitchFamily="34" charset="0"/>
                <a:ea typeface="MiSans" pitchFamily="34" charset="-122"/>
                <a:cs typeface="MiSans" pitchFamily="34" charset="-120"/>
              </a:rPr>
              <a:t>适用场景</a:t>
            </a:r>
            <a:endParaRPr lang="en-US" sz="1600" dirty="0"/>
          </a:p>
        </p:txBody>
      </p:sp>
      <p:sp>
        <p:nvSpPr>
          <p:cNvPr id="48" name="Text 45"/>
          <p:cNvSpPr/>
          <p:nvPr/>
        </p:nvSpPr>
        <p:spPr>
          <a:xfrm>
            <a:off x="12226990" y="7364963"/>
            <a:ext cx="3538721" cy="221170"/>
          </a:xfrm>
          <a:prstGeom prst="rect">
            <a:avLst/>
          </a:prstGeom>
          <a:noFill/>
          <a:ln/>
        </p:spPr>
        <p:txBody>
          <a:bodyPr wrap="square" lIns="0" tIns="0" rIns="0" bIns="0" rtlCol="0" anchor="ctr"/>
          <a:lstStyle/>
          <a:p>
            <a:pPr>
              <a:lnSpc>
                <a:spcPct val="120000"/>
              </a:lnSpc>
            </a:pPr>
            <a:r>
              <a:rPr lang="en-US" sz="1219" dirty="0">
                <a:solidFill>
                  <a:srgbClr val="7E9AA8"/>
                </a:solidFill>
                <a:latin typeface="MiSans" pitchFamily="34" charset="0"/>
                <a:ea typeface="MiSans" pitchFamily="34" charset="-122"/>
                <a:cs typeface="MiSans" pitchFamily="34" charset="-120"/>
              </a:rPr>
              <a:t>✓ 超大规模数据集</a:t>
            </a:r>
            <a:endParaRPr lang="en-US" sz="1600" dirty="0"/>
          </a:p>
        </p:txBody>
      </p:sp>
      <p:sp>
        <p:nvSpPr>
          <p:cNvPr id="49" name="Text 46"/>
          <p:cNvSpPr/>
          <p:nvPr/>
        </p:nvSpPr>
        <p:spPr>
          <a:xfrm>
            <a:off x="12226990" y="7630367"/>
            <a:ext cx="3538721" cy="221170"/>
          </a:xfrm>
          <a:prstGeom prst="rect">
            <a:avLst/>
          </a:prstGeom>
          <a:noFill/>
          <a:ln/>
        </p:spPr>
        <p:txBody>
          <a:bodyPr wrap="square" lIns="0" tIns="0" rIns="0" bIns="0" rtlCol="0" anchor="ctr"/>
          <a:lstStyle/>
          <a:p>
            <a:pPr>
              <a:lnSpc>
                <a:spcPct val="120000"/>
              </a:lnSpc>
            </a:pPr>
            <a:r>
              <a:rPr lang="en-US" sz="1219" dirty="0">
                <a:solidFill>
                  <a:srgbClr val="7E9AA8"/>
                </a:solidFill>
                <a:latin typeface="MiSans" pitchFamily="34" charset="0"/>
                <a:ea typeface="MiSans" pitchFamily="34" charset="-122"/>
                <a:cs typeface="MiSans" pitchFamily="34" charset="-120"/>
              </a:rPr>
              <a:t>✓ 高维稀疏特征</a:t>
            </a:r>
            <a:endParaRPr lang="en-US" sz="1600" dirty="0"/>
          </a:p>
        </p:txBody>
      </p:sp>
      <p:sp>
        <p:nvSpPr>
          <p:cNvPr id="50" name="Text 47"/>
          <p:cNvSpPr/>
          <p:nvPr/>
        </p:nvSpPr>
        <p:spPr>
          <a:xfrm>
            <a:off x="12226990" y="7895771"/>
            <a:ext cx="3538721" cy="221170"/>
          </a:xfrm>
          <a:prstGeom prst="rect">
            <a:avLst/>
          </a:prstGeom>
          <a:noFill/>
          <a:ln/>
        </p:spPr>
        <p:txBody>
          <a:bodyPr wrap="square" lIns="0" tIns="0" rIns="0" bIns="0" rtlCol="0" anchor="ctr"/>
          <a:lstStyle/>
          <a:p>
            <a:pPr>
              <a:lnSpc>
                <a:spcPct val="120000"/>
              </a:lnSpc>
            </a:pPr>
            <a:r>
              <a:rPr lang="en-US" sz="1219" dirty="0">
                <a:solidFill>
                  <a:srgbClr val="7E9AA8"/>
                </a:solidFill>
                <a:latin typeface="MiSans" pitchFamily="34" charset="0"/>
                <a:ea typeface="MiSans" pitchFamily="34" charset="-122"/>
                <a:cs typeface="MiSans" pitchFamily="34" charset="-120"/>
              </a:rPr>
              <a:t>✓ 实时预测需求</a:t>
            </a:r>
            <a:endParaRPr lang="en-US" sz="1600" dirty="0"/>
          </a:p>
        </p:txBody>
      </p:sp>
    </p:spTree>
  </p:cSld>
  <p:clrMapOvr>
    <a:masterClrMapping/>
  </p:clrMapOvr>
  <p:transition>
    <p:fade/>
    <p:spd val="med"/>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81A1F"/>
        </a:solidFill>
      </p:bgPr>
    </p:bg>
    <p:spTree>
      <p:nvGrpSpPr>
        <p:cNvPr id="1" name=""/>
        <p:cNvGrpSpPr/>
        <p:nvPr/>
      </p:nvGrpSpPr>
      <p:grpSpPr>
        <a:xfrm>
          <a:off x="0" y="0"/>
          <a:ext cx="0" cy="0"/>
          <a:chOff x="0" y="0"/>
          <a:chExt cx="0" cy="0"/>
        </a:xfrm>
      </p:grpSpPr>
      <p:pic>
        <p:nvPicPr>
          <p:cNvPr id="2" name="Image 0" descr="https://kimi-web-img.moonshot.cn/img/i-blog.csdnimg.cn/b45d66230f165fb4dfa0246e46aaeee9857d4de3.png">    </p:cNvPr>
          <p:cNvPicPr>
            <a:picLocks noChangeAspect="1"/>
          </p:cNvPicPr>
          <p:nvPr/>
        </p:nvPicPr>
        <p:blipFill>
          <a:blip r:embed="rId1">
            <a:alphaModFix amt="30000"/>
          </a:blip>
          <a:srcRect l="0" r="0" t="24963" b="24963"/>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rotWithShape="1" flip="none">
            <a:gsLst>
              <a:gs pos="0">
                <a:srgbClr val="181A1F"/>
              </a:gs>
              <a:gs pos="50000">
                <a:srgbClr val="181A1F">
                  <a:alpha val="95000"/>
                </a:srgbClr>
              </a:gs>
              <a:gs pos="100000">
                <a:srgbClr val="181A1F">
                  <a:alpha val="70000"/>
                </a:srgbClr>
              </a:gs>
            </a:gsLst>
            <a:lin ang="0" scaled="1"/>
          </a:gradFill>
          <a:ln/>
        </p:spPr>
      </p:sp>
      <p:sp>
        <p:nvSpPr>
          <p:cNvPr id="4" name="Shape 1"/>
          <p:cNvSpPr/>
          <p:nvPr/>
        </p:nvSpPr>
        <p:spPr>
          <a:xfrm>
            <a:off x="520700" y="1073150"/>
            <a:ext cx="2349500" cy="787400"/>
          </a:xfrm>
          <a:custGeom>
            <a:avLst/>
            <a:gdLst/>
            <a:ahLst/>
            <a:cxnLst/>
            <a:rect l="l" t="t" r="r" b="b"/>
            <a:pathLst>
              <a:path w="2349500" h="787400">
                <a:moveTo>
                  <a:pt x="101598" y="0"/>
                </a:moveTo>
                <a:lnTo>
                  <a:pt x="2247902" y="0"/>
                </a:lnTo>
                <a:cubicBezTo>
                  <a:pt x="2304013" y="0"/>
                  <a:pt x="2349500" y="45487"/>
                  <a:pt x="2349500" y="101598"/>
                </a:cubicBezTo>
                <a:lnTo>
                  <a:pt x="2349500" y="685802"/>
                </a:lnTo>
                <a:cubicBezTo>
                  <a:pt x="2349500" y="741913"/>
                  <a:pt x="2304013" y="787400"/>
                  <a:pt x="2247902" y="787400"/>
                </a:cubicBezTo>
                <a:lnTo>
                  <a:pt x="101598" y="787400"/>
                </a:lnTo>
                <a:cubicBezTo>
                  <a:pt x="45487" y="787400"/>
                  <a:pt x="0" y="741913"/>
                  <a:pt x="0" y="685802"/>
                </a:cubicBezTo>
                <a:lnTo>
                  <a:pt x="0" y="101598"/>
                </a:lnTo>
                <a:cubicBezTo>
                  <a:pt x="0" y="45525"/>
                  <a:pt x="45525" y="0"/>
                  <a:pt x="101598" y="0"/>
                </a:cubicBezTo>
                <a:close/>
              </a:path>
            </a:pathLst>
          </a:custGeom>
          <a:solidFill>
            <a:srgbClr val="4C7E9A">
              <a:alpha val="20000"/>
            </a:srgbClr>
          </a:solidFill>
          <a:ln w="25400">
            <a:solidFill>
              <a:srgbClr val="4C7E9A"/>
            </a:solidFill>
            <a:prstDash val="solid"/>
          </a:ln>
        </p:spPr>
      </p:sp>
      <p:sp>
        <p:nvSpPr>
          <p:cNvPr id="5" name="Text 2"/>
          <p:cNvSpPr/>
          <p:nvPr/>
        </p:nvSpPr>
        <p:spPr>
          <a:xfrm>
            <a:off x="838200" y="1238250"/>
            <a:ext cx="1905000" cy="457200"/>
          </a:xfrm>
          <a:prstGeom prst="rect">
            <a:avLst/>
          </a:prstGeom>
          <a:noFill/>
          <a:ln/>
        </p:spPr>
        <p:txBody>
          <a:bodyPr wrap="square" lIns="0" tIns="0" rIns="0" bIns="0" rtlCol="0" anchor="ctr"/>
          <a:lstStyle/>
          <a:p>
            <a:pPr>
              <a:lnSpc>
                <a:spcPct val="100000"/>
              </a:lnSpc>
            </a:pPr>
            <a:r>
              <a:rPr lang="en-US" sz="3000" b="1" dirty="0">
                <a:solidFill>
                  <a:srgbClr val="4C7E9A"/>
                </a:solidFill>
                <a:latin typeface="MiSans" pitchFamily="34" charset="0"/>
                <a:ea typeface="MiSans" pitchFamily="34" charset="-122"/>
                <a:cs typeface="MiSans" pitchFamily="34" charset="-120"/>
              </a:rPr>
              <a:t>CHAPTER</a:t>
            </a:r>
            <a:endParaRPr lang="en-US" sz="1600" dirty="0"/>
          </a:p>
        </p:txBody>
      </p:sp>
      <p:sp>
        <p:nvSpPr>
          <p:cNvPr id="6" name="Text 3"/>
          <p:cNvSpPr/>
          <p:nvPr/>
        </p:nvSpPr>
        <p:spPr>
          <a:xfrm>
            <a:off x="508000" y="2279650"/>
            <a:ext cx="9410700" cy="1219200"/>
          </a:xfrm>
          <a:prstGeom prst="rect">
            <a:avLst/>
          </a:prstGeom>
          <a:noFill/>
          <a:ln/>
        </p:spPr>
        <p:txBody>
          <a:bodyPr wrap="square" lIns="0" tIns="0" rIns="0" bIns="0" rtlCol="0" anchor="ctr"/>
          <a:lstStyle/>
          <a:p>
            <a:pPr>
              <a:lnSpc>
                <a:spcPct val="80000"/>
              </a:lnSpc>
            </a:pPr>
            <a:r>
              <a:rPr lang="en-US" sz="9600" b="1" dirty="0">
                <a:solidFill>
                  <a:srgbClr val="D1D5DB"/>
                </a:solidFill>
                <a:latin typeface="阿里妈妈数黑体" pitchFamily="34" charset="0"/>
                <a:ea typeface="阿里妈妈数黑体" pitchFamily="34" charset="-122"/>
                <a:cs typeface="阿里妈妈数黑体" pitchFamily="34" charset="-120"/>
              </a:rPr>
              <a:t>06</a:t>
            </a:r>
            <a:endParaRPr lang="en-US" sz="1600" dirty="0"/>
          </a:p>
        </p:txBody>
      </p:sp>
      <p:sp>
        <p:nvSpPr>
          <p:cNvPr id="7" name="Text 4"/>
          <p:cNvSpPr/>
          <p:nvPr/>
        </p:nvSpPr>
        <p:spPr>
          <a:xfrm>
            <a:off x="508000" y="3803650"/>
            <a:ext cx="9182100" cy="952500"/>
          </a:xfrm>
          <a:prstGeom prst="rect">
            <a:avLst/>
          </a:prstGeom>
          <a:noFill/>
          <a:ln/>
        </p:spPr>
        <p:txBody>
          <a:bodyPr wrap="square" lIns="0" tIns="0" rIns="0" bIns="0" rtlCol="0" anchor="ctr"/>
          <a:lstStyle/>
          <a:p>
            <a:pPr>
              <a:lnSpc>
                <a:spcPct val="100000"/>
              </a:lnSpc>
            </a:pPr>
            <a:r>
              <a:rPr lang="en-US" sz="6000" b="1" dirty="0">
                <a:solidFill>
                  <a:srgbClr val="4C7E9A"/>
                </a:solidFill>
                <a:latin typeface="阿里妈妈数黑体" pitchFamily="34" charset="0"/>
                <a:ea typeface="阿里妈妈数黑体" pitchFamily="34" charset="-122"/>
                <a:cs typeface="阿里妈妈数黑体" pitchFamily="34" charset="-120"/>
              </a:rPr>
              <a:t>核心方法解析 · Bagging</a:t>
            </a:r>
            <a:endParaRPr lang="en-US" sz="1600" dirty="0"/>
          </a:p>
        </p:txBody>
      </p:sp>
      <p:sp>
        <p:nvSpPr>
          <p:cNvPr id="8" name="Shape 5"/>
          <p:cNvSpPr/>
          <p:nvPr/>
        </p:nvSpPr>
        <p:spPr>
          <a:xfrm>
            <a:off x="508000" y="5162550"/>
            <a:ext cx="2438400" cy="101600"/>
          </a:xfrm>
          <a:custGeom>
            <a:avLst/>
            <a:gdLst/>
            <a:ahLst/>
            <a:cxnLst/>
            <a:rect l="l" t="t" r="r" b="b"/>
            <a:pathLst>
              <a:path w="2438400" h="101600">
                <a:moveTo>
                  <a:pt x="0" y="0"/>
                </a:moveTo>
                <a:lnTo>
                  <a:pt x="2438400" y="0"/>
                </a:lnTo>
                <a:lnTo>
                  <a:pt x="2438400" y="101600"/>
                </a:lnTo>
                <a:lnTo>
                  <a:pt x="0" y="101600"/>
                </a:lnTo>
                <a:lnTo>
                  <a:pt x="0" y="0"/>
                </a:lnTo>
                <a:close/>
              </a:path>
            </a:pathLst>
          </a:custGeom>
          <a:solidFill>
            <a:srgbClr val="4C7E9A"/>
          </a:solidFill>
          <a:ln/>
        </p:spPr>
      </p:sp>
      <p:sp>
        <p:nvSpPr>
          <p:cNvPr id="9" name="Text 6"/>
          <p:cNvSpPr/>
          <p:nvPr/>
        </p:nvSpPr>
        <p:spPr>
          <a:xfrm>
            <a:off x="508000" y="5568950"/>
            <a:ext cx="9029700" cy="508000"/>
          </a:xfrm>
          <a:prstGeom prst="rect">
            <a:avLst/>
          </a:prstGeom>
          <a:noFill/>
          <a:ln/>
        </p:spPr>
        <p:txBody>
          <a:bodyPr wrap="square" lIns="0" tIns="0" rIns="0" bIns="0" rtlCol="0" anchor="ctr"/>
          <a:lstStyle/>
          <a:p>
            <a:pPr>
              <a:lnSpc>
                <a:spcPct val="90000"/>
              </a:lnSpc>
            </a:pPr>
            <a:r>
              <a:rPr lang="en-US" sz="3600" dirty="0">
                <a:solidFill>
                  <a:srgbClr val="7E9AA8"/>
                </a:solidFill>
                <a:latin typeface="MiSans" pitchFamily="34" charset="0"/>
                <a:ea typeface="MiSans" pitchFamily="34" charset="-122"/>
                <a:cs typeface="MiSans" pitchFamily="34" charset="-120"/>
              </a:rPr>
              <a:t>并行集成的方差削减策略</a:t>
            </a:r>
            <a:endParaRPr lang="en-US" sz="1600" dirty="0"/>
          </a:p>
        </p:txBody>
      </p:sp>
      <p:sp>
        <p:nvSpPr>
          <p:cNvPr id="10" name="Shape 7"/>
          <p:cNvSpPr/>
          <p:nvPr/>
        </p:nvSpPr>
        <p:spPr>
          <a:xfrm>
            <a:off x="508000" y="6686550"/>
            <a:ext cx="3149600" cy="1397000"/>
          </a:xfrm>
          <a:custGeom>
            <a:avLst/>
            <a:gdLst/>
            <a:ahLst/>
            <a:cxnLst/>
            <a:rect l="l" t="t" r="r" b="b"/>
            <a:pathLst>
              <a:path w="3149600" h="1397000">
                <a:moveTo>
                  <a:pt x="101604" y="0"/>
                </a:moveTo>
                <a:lnTo>
                  <a:pt x="3047996" y="0"/>
                </a:lnTo>
                <a:cubicBezTo>
                  <a:pt x="3104110" y="0"/>
                  <a:pt x="3149600" y="45490"/>
                  <a:pt x="3149600" y="101604"/>
                </a:cubicBezTo>
                <a:lnTo>
                  <a:pt x="3149600" y="1295396"/>
                </a:lnTo>
                <a:cubicBezTo>
                  <a:pt x="3149600" y="1351510"/>
                  <a:pt x="3104110" y="1397000"/>
                  <a:pt x="30479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1" name="Shape 8"/>
          <p:cNvSpPr/>
          <p:nvPr/>
        </p:nvSpPr>
        <p:spPr>
          <a:xfrm>
            <a:off x="812800" y="6940550"/>
            <a:ext cx="381000" cy="381000"/>
          </a:xfrm>
          <a:custGeom>
            <a:avLst/>
            <a:gdLst/>
            <a:ahLst/>
            <a:cxnLst/>
            <a:rect l="l" t="t" r="r" b="b"/>
            <a:pathLst>
              <a:path w="381000" h="381000">
                <a:moveTo>
                  <a:pt x="142875" y="47625"/>
                </a:moveTo>
                <a:cubicBezTo>
                  <a:pt x="142875" y="34454"/>
                  <a:pt x="153516" y="23812"/>
                  <a:pt x="166688" y="23812"/>
                </a:cubicBezTo>
                <a:lnTo>
                  <a:pt x="214313" y="23812"/>
                </a:lnTo>
                <a:cubicBezTo>
                  <a:pt x="227484" y="23812"/>
                  <a:pt x="238125" y="34454"/>
                  <a:pt x="238125" y="47625"/>
                </a:cubicBezTo>
                <a:lnTo>
                  <a:pt x="238125" y="95250"/>
                </a:lnTo>
                <a:cubicBezTo>
                  <a:pt x="238125" y="108421"/>
                  <a:pt x="227484" y="119063"/>
                  <a:pt x="214313" y="119063"/>
                </a:cubicBezTo>
                <a:lnTo>
                  <a:pt x="208359" y="119063"/>
                </a:lnTo>
                <a:lnTo>
                  <a:pt x="208359" y="166688"/>
                </a:lnTo>
                <a:lnTo>
                  <a:pt x="297656" y="166688"/>
                </a:lnTo>
                <a:cubicBezTo>
                  <a:pt x="327273" y="166688"/>
                  <a:pt x="351234" y="190649"/>
                  <a:pt x="351234" y="220266"/>
                </a:cubicBezTo>
                <a:lnTo>
                  <a:pt x="351234" y="261938"/>
                </a:lnTo>
                <a:lnTo>
                  <a:pt x="357188" y="261938"/>
                </a:lnTo>
                <a:cubicBezTo>
                  <a:pt x="370359" y="261938"/>
                  <a:pt x="381000" y="272579"/>
                  <a:pt x="381000" y="285750"/>
                </a:cubicBezTo>
                <a:lnTo>
                  <a:pt x="381000" y="333375"/>
                </a:lnTo>
                <a:cubicBezTo>
                  <a:pt x="381000" y="346546"/>
                  <a:pt x="370359" y="357188"/>
                  <a:pt x="357188" y="357188"/>
                </a:cubicBezTo>
                <a:lnTo>
                  <a:pt x="309563" y="357188"/>
                </a:lnTo>
                <a:cubicBezTo>
                  <a:pt x="296391" y="357188"/>
                  <a:pt x="285750" y="346546"/>
                  <a:pt x="285750" y="333375"/>
                </a:cubicBezTo>
                <a:lnTo>
                  <a:pt x="285750" y="285750"/>
                </a:lnTo>
                <a:cubicBezTo>
                  <a:pt x="285750" y="272579"/>
                  <a:pt x="296391" y="261938"/>
                  <a:pt x="309563" y="261938"/>
                </a:cubicBezTo>
                <a:lnTo>
                  <a:pt x="315516" y="261938"/>
                </a:lnTo>
                <a:lnTo>
                  <a:pt x="315516" y="220266"/>
                </a:lnTo>
                <a:cubicBezTo>
                  <a:pt x="315516" y="210369"/>
                  <a:pt x="307553" y="202406"/>
                  <a:pt x="297656" y="202406"/>
                </a:cubicBezTo>
                <a:lnTo>
                  <a:pt x="208359" y="202406"/>
                </a:lnTo>
                <a:lnTo>
                  <a:pt x="208359" y="261938"/>
                </a:lnTo>
                <a:lnTo>
                  <a:pt x="214313" y="261938"/>
                </a:lnTo>
                <a:cubicBezTo>
                  <a:pt x="227484" y="261938"/>
                  <a:pt x="238125" y="272579"/>
                  <a:pt x="238125" y="285750"/>
                </a:cubicBezTo>
                <a:lnTo>
                  <a:pt x="238125" y="333375"/>
                </a:lnTo>
                <a:cubicBezTo>
                  <a:pt x="238125" y="346546"/>
                  <a:pt x="227484" y="357188"/>
                  <a:pt x="214313" y="357188"/>
                </a:cubicBezTo>
                <a:lnTo>
                  <a:pt x="166688" y="357188"/>
                </a:lnTo>
                <a:cubicBezTo>
                  <a:pt x="153516" y="357188"/>
                  <a:pt x="142875" y="346546"/>
                  <a:pt x="142875" y="333375"/>
                </a:cubicBezTo>
                <a:lnTo>
                  <a:pt x="142875" y="285750"/>
                </a:lnTo>
                <a:cubicBezTo>
                  <a:pt x="142875" y="272579"/>
                  <a:pt x="153516" y="261938"/>
                  <a:pt x="166688" y="261938"/>
                </a:cubicBezTo>
                <a:lnTo>
                  <a:pt x="172641" y="261938"/>
                </a:lnTo>
                <a:lnTo>
                  <a:pt x="172641" y="202406"/>
                </a:lnTo>
                <a:lnTo>
                  <a:pt x="83344" y="202406"/>
                </a:lnTo>
                <a:cubicBezTo>
                  <a:pt x="73447" y="202406"/>
                  <a:pt x="65484" y="210369"/>
                  <a:pt x="65484" y="220266"/>
                </a:cubicBezTo>
                <a:lnTo>
                  <a:pt x="65484" y="261938"/>
                </a:lnTo>
                <a:lnTo>
                  <a:pt x="71438" y="261938"/>
                </a:lnTo>
                <a:cubicBezTo>
                  <a:pt x="84609" y="261938"/>
                  <a:pt x="95250" y="272579"/>
                  <a:pt x="95250" y="285750"/>
                </a:cubicBezTo>
                <a:lnTo>
                  <a:pt x="95250" y="333375"/>
                </a:lnTo>
                <a:cubicBezTo>
                  <a:pt x="95250" y="346546"/>
                  <a:pt x="84609" y="357188"/>
                  <a:pt x="71438" y="357188"/>
                </a:cubicBezTo>
                <a:lnTo>
                  <a:pt x="23812" y="357188"/>
                </a:lnTo>
                <a:cubicBezTo>
                  <a:pt x="10641" y="357188"/>
                  <a:pt x="0" y="346546"/>
                  <a:pt x="0" y="333375"/>
                </a:cubicBezTo>
                <a:lnTo>
                  <a:pt x="0" y="285750"/>
                </a:lnTo>
                <a:cubicBezTo>
                  <a:pt x="0" y="272579"/>
                  <a:pt x="10641" y="261938"/>
                  <a:pt x="23812" y="261938"/>
                </a:cubicBezTo>
                <a:lnTo>
                  <a:pt x="29766" y="261938"/>
                </a:lnTo>
                <a:lnTo>
                  <a:pt x="29766" y="220266"/>
                </a:lnTo>
                <a:cubicBezTo>
                  <a:pt x="29766" y="190649"/>
                  <a:pt x="53727" y="166688"/>
                  <a:pt x="83344" y="166688"/>
                </a:cubicBezTo>
                <a:lnTo>
                  <a:pt x="172641" y="166688"/>
                </a:lnTo>
                <a:lnTo>
                  <a:pt x="172641" y="119063"/>
                </a:lnTo>
                <a:lnTo>
                  <a:pt x="166688" y="119063"/>
                </a:lnTo>
                <a:cubicBezTo>
                  <a:pt x="153516" y="119063"/>
                  <a:pt x="142875" y="108421"/>
                  <a:pt x="142875" y="95250"/>
                </a:cubicBezTo>
                <a:lnTo>
                  <a:pt x="142875" y="47625"/>
                </a:lnTo>
                <a:close/>
              </a:path>
            </a:pathLst>
          </a:custGeom>
          <a:solidFill>
            <a:srgbClr val="4C7E9A"/>
          </a:solidFill>
          <a:ln/>
        </p:spPr>
      </p:sp>
      <p:sp>
        <p:nvSpPr>
          <p:cNvPr id="12" name="Text 9"/>
          <p:cNvSpPr/>
          <p:nvPr/>
        </p:nvSpPr>
        <p:spPr>
          <a:xfrm>
            <a:off x="762000" y="7473950"/>
            <a:ext cx="27686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Bootstrap采样</a:t>
            </a:r>
            <a:endParaRPr lang="en-US" sz="1600" dirty="0"/>
          </a:p>
        </p:txBody>
      </p:sp>
      <p:sp>
        <p:nvSpPr>
          <p:cNvPr id="13" name="Shape 10"/>
          <p:cNvSpPr/>
          <p:nvPr/>
        </p:nvSpPr>
        <p:spPr>
          <a:xfrm>
            <a:off x="3860800" y="6686550"/>
            <a:ext cx="3149600" cy="1397000"/>
          </a:xfrm>
          <a:custGeom>
            <a:avLst/>
            <a:gdLst/>
            <a:ahLst/>
            <a:cxnLst/>
            <a:rect l="l" t="t" r="r" b="b"/>
            <a:pathLst>
              <a:path w="3149600" h="1397000">
                <a:moveTo>
                  <a:pt x="101604" y="0"/>
                </a:moveTo>
                <a:lnTo>
                  <a:pt x="3047996" y="0"/>
                </a:lnTo>
                <a:cubicBezTo>
                  <a:pt x="3104110" y="0"/>
                  <a:pt x="3149600" y="45490"/>
                  <a:pt x="3149600" y="101604"/>
                </a:cubicBezTo>
                <a:lnTo>
                  <a:pt x="3149600" y="1295396"/>
                </a:lnTo>
                <a:cubicBezTo>
                  <a:pt x="3149600" y="1351510"/>
                  <a:pt x="3104110" y="1397000"/>
                  <a:pt x="30479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4" name="Shape 11"/>
          <p:cNvSpPr/>
          <p:nvPr/>
        </p:nvSpPr>
        <p:spPr>
          <a:xfrm>
            <a:off x="4189413" y="6940550"/>
            <a:ext cx="333375" cy="381000"/>
          </a:xfrm>
          <a:custGeom>
            <a:avLst/>
            <a:gdLst/>
            <a:ahLst/>
            <a:cxnLst/>
            <a:rect l="l" t="t" r="r" b="b"/>
            <a:pathLst>
              <a:path w="333375" h="381000">
                <a:moveTo>
                  <a:pt x="166688" y="-23812"/>
                </a:moveTo>
                <a:cubicBezTo>
                  <a:pt x="171896" y="-23812"/>
                  <a:pt x="176882" y="-21506"/>
                  <a:pt x="180305" y="-17487"/>
                </a:cubicBezTo>
                <a:lnTo>
                  <a:pt x="281508" y="101575"/>
                </a:lnTo>
                <a:cubicBezTo>
                  <a:pt x="286048" y="106859"/>
                  <a:pt x="287015" y="114300"/>
                  <a:pt x="284113" y="120625"/>
                </a:cubicBezTo>
                <a:cubicBezTo>
                  <a:pt x="281211" y="126950"/>
                  <a:pt x="274886" y="130969"/>
                  <a:pt x="267891" y="130969"/>
                </a:cubicBezTo>
                <a:lnTo>
                  <a:pt x="249362" y="130969"/>
                </a:lnTo>
                <a:lnTo>
                  <a:pt x="305321" y="196825"/>
                </a:lnTo>
                <a:cubicBezTo>
                  <a:pt x="309860" y="202109"/>
                  <a:pt x="310828" y="209550"/>
                  <a:pt x="307925" y="215875"/>
                </a:cubicBezTo>
                <a:cubicBezTo>
                  <a:pt x="305023" y="222200"/>
                  <a:pt x="298698" y="226219"/>
                  <a:pt x="291703" y="226219"/>
                </a:cubicBezTo>
                <a:lnTo>
                  <a:pt x="263054" y="226219"/>
                </a:lnTo>
                <a:lnTo>
                  <a:pt x="329133" y="303981"/>
                </a:lnTo>
                <a:cubicBezTo>
                  <a:pt x="333673" y="309265"/>
                  <a:pt x="334640" y="316706"/>
                  <a:pt x="331738" y="323031"/>
                </a:cubicBezTo>
                <a:cubicBezTo>
                  <a:pt x="328836" y="329357"/>
                  <a:pt x="322511" y="333375"/>
                  <a:pt x="315516" y="333375"/>
                </a:cubicBezTo>
                <a:lnTo>
                  <a:pt x="190500" y="333375"/>
                </a:lnTo>
                <a:lnTo>
                  <a:pt x="190500" y="381000"/>
                </a:lnTo>
                <a:cubicBezTo>
                  <a:pt x="190500" y="394171"/>
                  <a:pt x="179859" y="404813"/>
                  <a:pt x="166688" y="404813"/>
                </a:cubicBezTo>
                <a:cubicBezTo>
                  <a:pt x="153516" y="404813"/>
                  <a:pt x="142875" y="394171"/>
                  <a:pt x="142875" y="381000"/>
                </a:cubicBezTo>
                <a:lnTo>
                  <a:pt x="142875" y="333375"/>
                </a:lnTo>
                <a:lnTo>
                  <a:pt x="17859" y="333375"/>
                </a:lnTo>
                <a:cubicBezTo>
                  <a:pt x="10864" y="333375"/>
                  <a:pt x="4539" y="329357"/>
                  <a:pt x="1637" y="323031"/>
                </a:cubicBezTo>
                <a:cubicBezTo>
                  <a:pt x="-1265" y="316706"/>
                  <a:pt x="-298" y="309265"/>
                  <a:pt x="4242" y="303981"/>
                </a:cubicBezTo>
                <a:lnTo>
                  <a:pt x="70321" y="226219"/>
                </a:lnTo>
                <a:lnTo>
                  <a:pt x="41672" y="226219"/>
                </a:lnTo>
                <a:cubicBezTo>
                  <a:pt x="34677" y="226219"/>
                  <a:pt x="28352" y="222200"/>
                  <a:pt x="25450" y="215875"/>
                </a:cubicBezTo>
                <a:cubicBezTo>
                  <a:pt x="22547" y="209550"/>
                  <a:pt x="23515" y="202109"/>
                  <a:pt x="28054" y="196825"/>
                </a:cubicBezTo>
                <a:lnTo>
                  <a:pt x="84013" y="130969"/>
                </a:lnTo>
                <a:lnTo>
                  <a:pt x="65484" y="130969"/>
                </a:lnTo>
                <a:cubicBezTo>
                  <a:pt x="58489" y="130969"/>
                  <a:pt x="52164" y="126950"/>
                  <a:pt x="49262" y="120625"/>
                </a:cubicBezTo>
                <a:cubicBezTo>
                  <a:pt x="46360" y="114300"/>
                  <a:pt x="47327" y="106859"/>
                  <a:pt x="51867" y="101575"/>
                </a:cubicBezTo>
                <a:lnTo>
                  <a:pt x="153070" y="-17487"/>
                </a:lnTo>
                <a:cubicBezTo>
                  <a:pt x="156493" y="-21506"/>
                  <a:pt x="161479" y="-23812"/>
                  <a:pt x="166688" y="-23812"/>
                </a:cubicBezTo>
                <a:close/>
              </a:path>
            </a:pathLst>
          </a:custGeom>
          <a:solidFill>
            <a:srgbClr val="4C7E9A"/>
          </a:solidFill>
          <a:ln/>
        </p:spPr>
      </p:sp>
      <p:sp>
        <p:nvSpPr>
          <p:cNvPr id="15" name="Text 12"/>
          <p:cNvSpPr/>
          <p:nvPr/>
        </p:nvSpPr>
        <p:spPr>
          <a:xfrm>
            <a:off x="4114800" y="7473950"/>
            <a:ext cx="27686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随机森林</a:t>
            </a:r>
            <a:endParaRPr lang="en-US" sz="1600" dirty="0"/>
          </a:p>
        </p:txBody>
      </p:sp>
    </p:spTree>
  </p:cSld>
  <p:clrMapOvr>
    <a:masterClrMapping/>
  </p:clrMapOvr>
  <p:transition>
    <p:fade/>
    <p:spd val="med"/>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42943" y="442943"/>
            <a:ext cx="15458703" cy="265766"/>
          </a:xfrm>
          <a:prstGeom prst="rect">
            <a:avLst/>
          </a:prstGeom>
          <a:noFill/>
          <a:ln/>
        </p:spPr>
        <p:txBody>
          <a:bodyPr wrap="square" lIns="0" tIns="0" rIns="0" bIns="0" rtlCol="0" anchor="ctr"/>
          <a:lstStyle/>
          <a:p>
            <a:pPr>
              <a:lnSpc>
                <a:spcPct val="130000"/>
              </a:lnSpc>
            </a:pPr>
            <a:r>
              <a:rPr lang="en-US" sz="1395" b="1" spc="70" kern="0" dirty="0">
                <a:solidFill>
                  <a:srgbClr val="7E9AA8"/>
                </a:solidFill>
                <a:latin typeface="MiSans" pitchFamily="34" charset="0"/>
                <a:ea typeface="MiSans" pitchFamily="34" charset="-122"/>
                <a:cs typeface="MiSans" pitchFamily="34" charset="-120"/>
              </a:rPr>
              <a:t>BAGGING</a:t>
            </a:r>
            <a:endParaRPr lang="en-US" sz="1600" dirty="0"/>
          </a:p>
        </p:txBody>
      </p:sp>
      <p:sp>
        <p:nvSpPr>
          <p:cNvPr id="3" name="Text 1"/>
          <p:cNvSpPr/>
          <p:nvPr/>
        </p:nvSpPr>
        <p:spPr>
          <a:xfrm>
            <a:off x="442943" y="797297"/>
            <a:ext cx="15569439" cy="442943"/>
          </a:xfrm>
          <a:prstGeom prst="rect">
            <a:avLst/>
          </a:prstGeom>
          <a:noFill/>
          <a:ln/>
        </p:spPr>
        <p:txBody>
          <a:bodyPr wrap="square" lIns="0" tIns="0" rIns="0" bIns="0" rtlCol="0" anchor="ctr"/>
          <a:lstStyle/>
          <a:p>
            <a:pPr>
              <a:lnSpc>
                <a:spcPct val="90000"/>
              </a:lnSpc>
            </a:pPr>
            <a:r>
              <a:rPr lang="en-US" sz="3139" b="1" dirty="0">
                <a:solidFill>
                  <a:srgbClr val="D1D5DB"/>
                </a:solidFill>
                <a:latin typeface="阿里妈妈数黑体" pitchFamily="34" charset="0"/>
                <a:ea typeface="阿里妈妈数黑体" pitchFamily="34" charset="-122"/>
                <a:cs typeface="阿里妈妈数黑体" pitchFamily="34" charset="-120"/>
              </a:rPr>
              <a:t>Bagging的核心思想</a:t>
            </a:r>
            <a:endParaRPr lang="en-US" sz="1600" dirty="0"/>
          </a:p>
        </p:txBody>
      </p:sp>
      <p:sp>
        <p:nvSpPr>
          <p:cNvPr id="4" name="Shape 2"/>
          <p:cNvSpPr/>
          <p:nvPr/>
        </p:nvSpPr>
        <p:spPr>
          <a:xfrm>
            <a:off x="442943" y="1373123"/>
            <a:ext cx="1063063" cy="44294"/>
          </a:xfrm>
          <a:custGeom>
            <a:avLst/>
            <a:gdLst/>
            <a:ahLst/>
            <a:cxnLst/>
            <a:rect l="l" t="t" r="r" b="b"/>
            <a:pathLst>
              <a:path w="1063063" h="44294">
                <a:moveTo>
                  <a:pt x="0" y="0"/>
                </a:moveTo>
                <a:lnTo>
                  <a:pt x="1063063" y="0"/>
                </a:lnTo>
                <a:lnTo>
                  <a:pt x="1063063" y="44294"/>
                </a:lnTo>
                <a:lnTo>
                  <a:pt x="0" y="44294"/>
                </a:lnTo>
                <a:lnTo>
                  <a:pt x="0" y="0"/>
                </a:lnTo>
                <a:close/>
              </a:path>
            </a:pathLst>
          </a:custGeom>
          <a:solidFill>
            <a:srgbClr val="4C7E9A"/>
          </a:solidFill>
          <a:ln/>
        </p:spPr>
      </p:sp>
      <p:sp>
        <p:nvSpPr>
          <p:cNvPr id="5" name="Shape 3"/>
          <p:cNvSpPr/>
          <p:nvPr/>
        </p:nvSpPr>
        <p:spPr>
          <a:xfrm>
            <a:off x="465090" y="1594594"/>
            <a:ext cx="7552174" cy="2159346"/>
          </a:xfrm>
          <a:custGeom>
            <a:avLst/>
            <a:gdLst/>
            <a:ahLst/>
            <a:cxnLst/>
            <a:rect l="l" t="t" r="r" b="b"/>
            <a:pathLst>
              <a:path w="7552174" h="2159346">
                <a:moveTo>
                  <a:pt x="44294" y="0"/>
                </a:moveTo>
                <a:lnTo>
                  <a:pt x="7463576" y="0"/>
                </a:lnTo>
                <a:cubicBezTo>
                  <a:pt x="7512508" y="0"/>
                  <a:pt x="7552174" y="39667"/>
                  <a:pt x="7552174" y="88598"/>
                </a:cubicBezTo>
                <a:lnTo>
                  <a:pt x="7552174" y="2070748"/>
                </a:lnTo>
                <a:cubicBezTo>
                  <a:pt x="7552174" y="2119679"/>
                  <a:pt x="7512508" y="2159346"/>
                  <a:pt x="7463576" y="2159346"/>
                </a:cubicBezTo>
                <a:lnTo>
                  <a:pt x="44294" y="2159346"/>
                </a:lnTo>
                <a:cubicBezTo>
                  <a:pt x="19831" y="2159346"/>
                  <a:pt x="0" y="2139515"/>
                  <a:pt x="0" y="2115052"/>
                </a:cubicBezTo>
                <a:lnTo>
                  <a:pt x="0" y="44294"/>
                </a:lnTo>
                <a:cubicBezTo>
                  <a:pt x="0" y="19831"/>
                  <a:pt x="19831" y="0"/>
                  <a:pt x="44294" y="0"/>
                </a:cubicBezTo>
                <a:close/>
              </a:path>
            </a:pathLst>
          </a:custGeom>
          <a:solidFill>
            <a:srgbClr val="3A5E78">
              <a:alpha val="20000"/>
            </a:srgbClr>
          </a:solidFill>
          <a:ln/>
        </p:spPr>
      </p:sp>
      <p:sp>
        <p:nvSpPr>
          <p:cNvPr id="6" name="Shape 4"/>
          <p:cNvSpPr/>
          <p:nvPr/>
        </p:nvSpPr>
        <p:spPr>
          <a:xfrm>
            <a:off x="465090" y="1594594"/>
            <a:ext cx="44294" cy="2159346"/>
          </a:xfrm>
          <a:custGeom>
            <a:avLst/>
            <a:gdLst/>
            <a:ahLst/>
            <a:cxnLst/>
            <a:rect l="l" t="t" r="r" b="b"/>
            <a:pathLst>
              <a:path w="44294" h="2159346">
                <a:moveTo>
                  <a:pt x="44294" y="0"/>
                </a:moveTo>
                <a:lnTo>
                  <a:pt x="44294" y="0"/>
                </a:lnTo>
                <a:lnTo>
                  <a:pt x="44294" y="2159346"/>
                </a:lnTo>
                <a:lnTo>
                  <a:pt x="44294" y="2159346"/>
                </a:lnTo>
                <a:cubicBezTo>
                  <a:pt x="19831" y="2159346"/>
                  <a:pt x="0" y="2139515"/>
                  <a:pt x="0" y="2115052"/>
                </a:cubicBezTo>
                <a:lnTo>
                  <a:pt x="0" y="44294"/>
                </a:lnTo>
                <a:cubicBezTo>
                  <a:pt x="0" y="19831"/>
                  <a:pt x="19831" y="0"/>
                  <a:pt x="44294" y="0"/>
                </a:cubicBezTo>
                <a:close/>
              </a:path>
            </a:pathLst>
          </a:custGeom>
          <a:solidFill>
            <a:srgbClr val="4C7E9A"/>
          </a:solidFill>
          <a:ln/>
        </p:spPr>
      </p:sp>
      <p:sp>
        <p:nvSpPr>
          <p:cNvPr id="7" name="Text 5"/>
          <p:cNvSpPr/>
          <p:nvPr/>
        </p:nvSpPr>
        <p:spPr>
          <a:xfrm>
            <a:off x="664414" y="1771771"/>
            <a:ext cx="7308556" cy="354354"/>
          </a:xfrm>
          <a:prstGeom prst="rect">
            <a:avLst/>
          </a:prstGeom>
          <a:noFill/>
          <a:ln/>
        </p:spPr>
        <p:txBody>
          <a:bodyPr wrap="square" lIns="0" tIns="0" rIns="0" bIns="0" rtlCol="0" anchor="ctr"/>
          <a:lstStyle/>
          <a:p>
            <a:pPr>
              <a:lnSpc>
                <a:spcPct val="110000"/>
              </a:lnSpc>
            </a:pPr>
            <a:r>
              <a:rPr lang="en-US" sz="2093" b="1" dirty="0">
                <a:solidFill>
                  <a:srgbClr val="4C7E9A"/>
                </a:solidFill>
                <a:latin typeface="MiSans" pitchFamily="34" charset="0"/>
                <a:ea typeface="MiSans" pitchFamily="34" charset="-122"/>
                <a:cs typeface="MiSans" pitchFamily="34" charset="-120"/>
              </a:rPr>
              <a:t>并行集成机制</a:t>
            </a:r>
            <a:endParaRPr lang="en-US" sz="1600" dirty="0"/>
          </a:p>
        </p:txBody>
      </p:sp>
      <p:sp>
        <p:nvSpPr>
          <p:cNvPr id="8" name="Text 6"/>
          <p:cNvSpPr/>
          <p:nvPr/>
        </p:nvSpPr>
        <p:spPr>
          <a:xfrm>
            <a:off x="664414" y="2259008"/>
            <a:ext cx="7275335" cy="653341"/>
          </a:xfrm>
          <a:prstGeom prst="rect">
            <a:avLst/>
          </a:prstGeom>
          <a:noFill/>
          <a:ln/>
        </p:spPr>
        <p:txBody>
          <a:bodyPr wrap="square" lIns="0" tIns="0" rIns="0" bIns="0" rtlCol="0" anchor="ctr"/>
          <a:lstStyle/>
          <a:p>
            <a:pPr>
              <a:lnSpc>
                <a:spcPct val="140000"/>
              </a:lnSpc>
            </a:pPr>
            <a:r>
              <a:rPr lang="en-US" sz="1569" dirty="0">
                <a:solidFill>
                  <a:srgbClr val="D1D5DB"/>
                </a:solidFill>
                <a:latin typeface="MiSans" pitchFamily="34" charset="0"/>
                <a:ea typeface="MiSans" pitchFamily="34" charset="-122"/>
                <a:cs typeface="MiSans" pitchFamily="34" charset="-120"/>
              </a:rPr>
              <a:t>与Boosting的串行"纠错"逻辑不同，</a:t>
            </a:r>
            <a:pPr>
              <a:lnSpc>
                <a:spcPct val="140000"/>
              </a:lnSpc>
            </a:pPr>
            <a:r>
              <a:rPr lang="en-US" sz="1569" b="1" dirty="0">
                <a:solidFill>
                  <a:srgbClr val="4C7E9A"/>
                </a:solidFill>
                <a:latin typeface="MiSans" pitchFamily="34" charset="0"/>
                <a:ea typeface="MiSans" pitchFamily="34" charset="-122"/>
                <a:cs typeface="MiSans" pitchFamily="34" charset="-120"/>
              </a:rPr>
              <a:t>Bagging</a:t>
            </a:r>
            <a:pPr>
              <a:lnSpc>
                <a:spcPct val="140000"/>
              </a:lnSpc>
            </a:pPr>
            <a:r>
              <a:rPr lang="en-US" sz="1569" dirty="0">
                <a:solidFill>
                  <a:srgbClr val="D1D5DB"/>
                </a:solidFill>
                <a:latin typeface="MiSans" pitchFamily="34" charset="0"/>
                <a:ea typeface="MiSans" pitchFamily="34" charset="-122"/>
                <a:cs typeface="MiSans" pitchFamily="34" charset="-120"/>
              </a:rPr>
              <a:t> 采用</a:t>
            </a:r>
            <a:pPr>
              <a:lnSpc>
                <a:spcPct val="140000"/>
              </a:lnSpc>
            </a:pPr>
            <a:r>
              <a:rPr lang="en-US" sz="1569" b="1" dirty="0">
                <a:solidFill>
                  <a:srgbClr val="4C7E9A"/>
                </a:solidFill>
                <a:latin typeface="MiSans" pitchFamily="34" charset="0"/>
                <a:ea typeface="MiSans" pitchFamily="34" charset="-122"/>
                <a:cs typeface="MiSans" pitchFamily="34" charset="-120"/>
              </a:rPr>
              <a:t>"并行集成"</a:t>
            </a:r>
            <a:pPr>
              <a:lnSpc>
                <a:spcPct val="140000"/>
              </a:lnSpc>
            </a:pPr>
            <a:r>
              <a:rPr lang="en-US" sz="1569" dirty="0">
                <a:solidFill>
                  <a:srgbClr val="D1D5DB"/>
                </a:solidFill>
                <a:latin typeface="MiSans" pitchFamily="34" charset="0"/>
                <a:ea typeface="MiSans" pitchFamily="34" charset="-122"/>
                <a:cs typeface="MiSans" pitchFamily="34" charset="-120"/>
              </a:rPr>
              <a:t>的思路。通过构建多个相互独立的基学习器，利用</a:t>
            </a:r>
            <a:pPr>
              <a:lnSpc>
                <a:spcPct val="140000"/>
              </a:lnSpc>
            </a:pPr>
            <a:r>
              <a:rPr lang="en-US" sz="1569" b="1" dirty="0">
                <a:solidFill>
                  <a:srgbClr val="4C7E9A"/>
                </a:solidFill>
                <a:latin typeface="MiSans" pitchFamily="34" charset="0"/>
                <a:ea typeface="MiSans" pitchFamily="34" charset="-122"/>
                <a:cs typeface="MiSans" pitchFamily="34" charset="-120"/>
              </a:rPr>
              <a:t>"群体智慧"</a:t>
            </a:r>
            <a:pPr>
              <a:lnSpc>
                <a:spcPct val="140000"/>
              </a:lnSpc>
            </a:pPr>
            <a:r>
              <a:rPr lang="en-US" sz="1569" dirty="0">
                <a:solidFill>
                  <a:srgbClr val="D1D5DB"/>
                </a:solidFill>
                <a:latin typeface="MiSans" pitchFamily="34" charset="0"/>
                <a:ea typeface="MiSans" pitchFamily="34" charset="-122"/>
                <a:cs typeface="MiSans" pitchFamily="34" charset="-120"/>
              </a:rPr>
              <a:t>来抵消个体模型的随机误差。</a:t>
            </a:r>
            <a:endParaRPr lang="en-US" sz="1600" dirty="0"/>
          </a:p>
        </p:txBody>
      </p:sp>
      <p:sp>
        <p:nvSpPr>
          <p:cNvPr id="9" name="Shape 7"/>
          <p:cNvSpPr/>
          <p:nvPr/>
        </p:nvSpPr>
        <p:spPr>
          <a:xfrm>
            <a:off x="664414" y="3039695"/>
            <a:ext cx="7175673" cy="531531"/>
          </a:xfrm>
          <a:custGeom>
            <a:avLst/>
            <a:gdLst/>
            <a:ahLst/>
            <a:cxnLst/>
            <a:rect l="l" t="t" r="r" b="b"/>
            <a:pathLst>
              <a:path w="7175673" h="531531">
                <a:moveTo>
                  <a:pt x="88590" y="0"/>
                </a:moveTo>
                <a:lnTo>
                  <a:pt x="7087083" y="0"/>
                </a:lnTo>
                <a:cubicBezTo>
                  <a:pt x="7136010" y="0"/>
                  <a:pt x="7175673" y="39663"/>
                  <a:pt x="7175673" y="88590"/>
                </a:cubicBezTo>
                <a:lnTo>
                  <a:pt x="7175673" y="442941"/>
                </a:lnTo>
                <a:cubicBezTo>
                  <a:pt x="7175673" y="491868"/>
                  <a:pt x="7136010" y="531531"/>
                  <a:pt x="7087083" y="531531"/>
                </a:cubicBezTo>
                <a:lnTo>
                  <a:pt x="88590" y="531531"/>
                </a:lnTo>
                <a:cubicBezTo>
                  <a:pt x="39663" y="531531"/>
                  <a:pt x="0" y="491868"/>
                  <a:pt x="0" y="442941"/>
                </a:cubicBezTo>
                <a:lnTo>
                  <a:pt x="0" y="88590"/>
                </a:lnTo>
                <a:cubicBezTo>
                  <a:pt x="0" y="39663"/>
                  <a:pt x="39663" y="0"/>
                  <a:pt x="88590" y="0"/>
                </a:cubicBezTo>
                <a:close/>
              </a:path>
            </a:pathLst>
          </a:custGeom>
          <a:solidFill>
            <a:srgbClr val="181A1F">
              <a:alpha val="50196"/>
            </a:srgbClr>
          </a:solidFill>
          <a:ln/>
        </p:spPr>
      </p:sp>
      <p:sp>
        <p:nvSpPr>
          <p:cNvPr id="10" name="Shape 8"/>
          <p:cNvSpPr/>
          <p:nvPr/>
        </p:nvSpPr>
        <p:spPr>
          <a:xfrm>
            <a:off x="830518" y="3222409"/>
            <a:ext cx="155030" cy="177177"/>
          </a:xfrm>
          <a:custGeom>
            <a:avLst/>
            <a:gdLst/>
            <a:ahLst/>
            <a:cxnLst/>
            <a:rect l="l" t="t" r="r" b="b"/>
            <a:pathLst>
              <a:path w="155030" h="177177">
                <a:moveTo>
                  <a:pt x="0" y="74747"/>
                </a:moveTo>
                <a:cubicBezTo>
                  <a:pt x="0" y="51804"/>
                  <a:pt x="18583" y="33221"/>
                  <a:pt x="41526" y="33221"/>
                </a:cubicBezTo>
                <a:lnTo>
                  <a:pt x="44294" y="33221"/>
                </a:lnTo>
                <a:cubicBezTo>
                  <a:pt x="50419" y="33221"/>
                  <a:pt x="55368" y="38169"/>
                  <a:pt x="55368" y="44294"/>
                </a:cubicBezTo>
                <a:cubicBezTo>
                  <a:pt x="55368" y="50419"/>
                  <a:pt x="50419" y="55368"/>
                  <a:pt x="44294" y="55368"/>
                </a:cubicBezTo>
                <a:lnTo>
                  <a:pt x="41526" y="55368"/>
                </a:lnTo>
                <a:cubicBezTo>
                  <a:pt x="30833" y="55368"/>
                  <a:pt x="22147" y="64054"/>
                  <a:pt x="22147" y="74747"/>
                </a:cubicBezTo>
                <a:lnTo>
                  <a:pt x="22147" y="77515"/>
                </a:lnTo>
                <a:lnTo>
                  <a:pt x="44294" y="77515"/>
                </a:lnTo>
                <a:cubicBezTo>
                  <a:pt x="56510" y="77515"/>
                  <a:pt x="66441" y="87447"/>
                  <a:pt x="66441" y="99662"/>
                </a:cubicBezTo>
                <a:lnTo>
                  <a:pt x="66441" y="121809"/>
                </a:lnTo>
                <a:cubicBezTo>
                  <a:pt x="66441" y="134025"/>
                  <a:pt x="56510" y="143956"/>
                  <a:pt x="44294" y="143956"/>
                </a:cubicBezTo>
                <a:lnTo>
                  <a:pt x="22147" y="143956"/>
                </a:lnTo>
                <a:cubicBezTo>
                  <a:pt x="9932" y="143956"/>
                  <a:pt x="0" y="134025"/>
                  <a:pt x="0" y="121809"/>
                </a:cubicBezTo>
                <a:lnTo>
                  <a:pt x="0" y="74747"/>
                </a:lnTo>
                <a:close/>
                <a:moveTo>
                  <a:pt x="88589" y="74747"/>
                </a:moveTo>
                <a:cubicBezTo>
                  <a:pt x="88589" y="51804"/>
                  <a:pt x="107171" y="33221"/>
                  <a:pt x="130114" y="33221"/>
                </a:cubicBezTo>
                <a:lnTo>
                  <a:pt x="132883" y="33221"/>
                </a:lnTo>
                <a:cubicBezTo>
                  <a:pt x="139008" y="33221"/>
                  <a:pt x="143956" y="38169"/>
                  <a:pt x="143956" y="44294"/>
                </a:cubicBezTo>
                <a:cubicBezTo>
                  <a:pt x="143956" y="50419"/>
                  <a:pt x="139008" y="55368"/>
                  <a:pt x="132883" y="55368"/>
                </a:cubicBezTo>
                <a:lnTo>
                  <a:pt x="130114" y="55368"/>
                </a:lnTo>
                <a:cubicBezTo>
                  <a:pt x="119422" y="55368"/>
                  <a:pt x="110736" y="64054"/>
                  <a:pt x="110736" y="74747"/>
                </a:cubicBezTo>
                <a:lnTo>
                  <a:pt x="110736" y="77515"/>
                </a:lnTo>
                <a:lnTo>
                  <a:pt x="132883" y="77515"/>
                </a:lnTo>
                <a:cubicBezTo>
                  <a:pt x="145098" y="77515"/>
                  <a:pt x="155030" y="87447"/>
                  <a:pt x="155030" y="99662"/>
                </a:cubicBezTo>
                <a:lnTo>
                  <a:pt x="155030" y="121809"/>
                </a:lnTo>
                <a:cubicBezTo>
                  <a:pt x="155030" y="134025"/>
                  <a:pt x="145098" y="143956"/>
                  <a:pt x="132883" y="143956"/>
                </a:cubicBezTo>
                <a:lnTo>
                  <a:pt x="110736" y="143956"/>
                </a:lnTo>
                <a:cubicBezTo>
                  <a:pt x="98520" y="143956"/>
                  <a:pt x="88589" y="134025"/>
                  <a:pt x="88589" y="121809"/>
                </a:cubicBezTo>
                <a:lnTo>
                  <a:pt x="88589" y="74747"/>
                </a:lnTo>
                <a:close/>
              </a:path>
            </a:pathLst>
          </a:custGeom>
          <a:solidFill>
            <a:srgbClr val="4C7E9A"/>
          </a:solidFill>
          <a:ln/>
        </p:spPr>
      </p:sp>
      <p:sp>
        <p:nvSpPr>
          <p:cNvPr id="11" name="Text 9"/>
          <p:cNvSpPr/>
          <p:nvPr/>
        </p:nvSpPr>
        <p:spPr>
          <a:xfrm>
            <a:off x="1096012" y="3172578"/>
            <a:ext cx="6699781" cy="265766"/>
          </a:xfrm>
          <a:prstGeom prst="rect">
            <a:avLst/>
          </a:prstGeom>
          <a:noFill/>
          <a:ln/>
        </p:spPr>
        <p:txBody>
          <a:bodyPr wrap="square" lIns="0" tIns="0" rIns="0" bIns="0" rtlCol="0" anchor="ctr"/>
          <a:lstStyle/>
          <a:p>
            <a:pPr>
              <a:lnSpc>
                <a:spcPct val="130000"/>
              </a:lnSpc>
            </a:pPr>
            <a:r>
              <a:rPr lang="en-US" sz="1395" dirty="0">
                <a:solidFill>
                  <a:srgbClr val="7E9AA8"/>
                </a:solidFill>
                <a:latin typeface="MiSans" pitchFamily="34" charset="0"/>
                <a:ea typeface="MiSans" pitchFamily="34" charset="-122"/>
                <a:cs typeface="MiSans" pitchFamily="34" charset="-120"/>
              </a:rPr>
              <a:t>核心目标：</a:t>
            </a:r>
            <a:pPr>
              <a:lnSpc>
                <a:spcPct val="130000"/>
              </a:lnSpc>
            </a:pPr>
            <a:r>
              <a:rPr lang="en-US" sz="1395" b="1" dirty="0">
                <a:solidFill>
                  <a:srgbClr val="D1D5DB"/>
                </a:solidFill>
                <a:latin typeface="MiSans" pitchFamily="34" charset="0"/>
                <a:ea typeface="MiSans" pitchFamily="34" charset="-122"/>
                <a:cs typeface="MiSans" pitchFamily="34" charset="-120"/>
              </a:rPr>
              <a:t>降低方差（Variance Reduction）</a:t>
            </a:r>
            <a:endParaRPr lang="en-US" sz="1600" dirty="0"/>
          </a:p>
        </p:txBody>
      </p:sp>
      <p:sp>
        <p:nvSpPr>
          <p:cNvPr id="12" name="Shape 10"/>
          <p:cNvSpPr/>
          <p:nvPr/>
        </p:nvSpPr>
        <p:spPr>
          <a:xfrm>
            <a:off x="465090" y="3925580"/>
            <a:ext cx="7552174" cy="2746245"/>
          </a:xfrm>
          <a:custGeom>
            <a:avLst/>
            <a:gdLst/>
            <a:ahLst/>
            <a:cxnLst/>
            <a:rect l="l" t="t" r="r" b="b"/>
            <a:pathLst>
              <a:path w="7552174" h="2746245">
                <a:moveTo>
                  <a:pt x="44294" y="0"/>
                </a:moveTo>
                <a:lnTo>
                  <a:pt x="7463581" y="0"/>
                </a:lnTo>
                <a:cubicBezTo>
                  <a:pt x="7512510" y="0"/>
                  <a:pt x="7552174" y="39665"/>
                  <a:pt x="7552174" y="88594"/>
                </a:cubicBezTo>
                <a:lnTo>
                  <a:pt x="7552174" y="2657651"/>
                </a:lnTo>
                <a:cubicBezTo>
                  <a:pt x="7552174" y="2706580"/>
                  <a:pt x="7512510" y="2746245"/>
                  <a:pt x="7463581" y="2746245"/>
                </a:cubicBezTo>
                <a:lnTo>
                  <a:pt x="44294" y="2746245"/>
                </a:lnTo>
                <a:cubicBezTo>
                  <a:pt x="19831" y="2746245"/>
                  <a:pt x="0" y="2726414"/>
                  <a:pt x="0" y="2701951"/>
                </a:cubicBezTo>
                <a:lnTo>
                  <a:pt x="0" y="44294"/>
                </a:lnTo>
                <a:cubicBezTo>
                  <a:pt x="0" y="19831"/>
                  <a:pt x="19831" y="0"/>
                  <a:pt x="44294" y="0"/>
                </a:cubicBezTo>
                <a:close/>
              </a:path>
            </a:pathLst>
          </a:custGeom>
          <a:solidFill>
            <a:srgbClr val="3A5E78">
              <a:alpha val="20000"/>
            </a:srgbClr>
          </a:solidFill>
          <a:ln/>
        </p:spPr>
      </p:sp>
      <p:sp>
        <p:nvSpPr>
          <p:cNvPr id="13" name="Shape 11"/>
          <p:cNvSpPr/>
          <p:nvPr/>
        </p:nvSpPr>
        <p:spPr>
          <a:xfrm>
            <a:off x="465090" y="3925580"/>
            <a:ext cx="44294" cy="2746245"/>
          </a:xfrm>
          <a:custGeom>
            <a:avLst/>
            <a:gdLst/>
            <a:ahLst/>
            <a:cxnLst/>
            <a:rect l="l" t="t" r="r" b="b"/>
            <a:pathLst>
              <a:path w="44294" h="2746245">
                <a:moveTo>
                  <a:pt x="44294" y="0"/>
                </a:moveTo>
                <a:lnTo>
                  <a:pt x="44294" y="0"/>
                </a:lnTo>
                <a:lnTo>
                  <a:pt x="44294" y="2746245"/>
                </a:lnTo>
                <a:lnTo>
                  <a:pt x="44294" y="2746245"/>
                </a:lnTo>
                <a:cubicBezTo>
                  <a:pt x="19831" y="2746245"/>
                  <a:pt x="0" y="2726414"/>
                  <a:pt x="0" y="2701951"/>
                </a:cubicBezTo>
                <a:lnTo>
                  <a:pt x="0" y="44294"/>
                </a:lnTo>
                <a:cubicBezTo>
                  <a:pt x="0" y="19831"/>
                  <a:pt x="19831" y="0"/>
                  <a:pt x="44294" y="0"/>
                </a:cubicBezTo>
                <a:close/>
              </a:path>
            </a:pathLst>
          </a:custGeom>
          <a:solidFill>
            <a:srgbClr val="7E9AA8"/>
          </a:solidFill>
          <a:ln/>
        </p:spPr>
      </p:sp>
      <p:sp>
        <p:nvSpPr>
          <p:cNvPr id="14" name="Text 12"/>
          <p:cNvSpPr/>
          <p:nvPr/>
        </p:nvSpPr>
        <p:spPr>
          <a:xfrm>
            <a:off x="664414" y="4102757"/>
            <a:ext cx="7308556" cy="354354"/>
          </a:xfrm>
          <a:prstGeom prst="rect">
            <a:avLst/>
          </a:prstGeom>
          <a:noFill/>
          <a:ln/>
        </p:spPr>
        <p:txBody>
          <a:bodyPr wrap="square" lIns="0" tIns="0" rIns="0" bIns="0" rtlCol="0" anchor="ctr"/>
          <a:lstStyle/>
          <a:p>
            <a:pPr>
              <a:lnSpc>
                <a:spcPct val="110000"/>
              </a:lnSpc>
            </a:pPr>
            <a:r>
              <a:rPr lang="en-US" sz="2093" b="1" dirty="0">
                <a:solidFill>
                  <a:srgbClr val="7E9AA8"/>
                </a:solidFill>
                <a:latin typeface="MiSans" pitchFamily="34" charset="0"/>
                <a:ea typeface="MiSans" pitchFamily="34" charset="-122"/>
                <a:cs typeface="MiSans" pitchFamily="34" charset="-120"/>
              </a:rPr>
              <a:t>核心优势</a:t>
            </a:r>
            <a:endParaRPr lang="en-US" sz="1600" dirty="0"/>
          </a:p>
        </p:txBody>
      </p:sp>
      <p:sp>
        <p:nvSpPr>
          <p:cNvPr id="15" name="Shape 13"/>
          <p:cNvSpPr/>
          <p:nvPr/>
        </p:nvSpPr>
        <p:spPr>
          <a:xfrm>
            <a:off x="719782" y="4634289"/>
            <a:ext cx="166104" cy="221471"/>
          </a:xfrm>
          <a:custGeom>
            <a:avLst/>
            <a:gdLst/>
            <a:ahLst/>
            <a:cxnLst/>
            <a:rect l="l" t="t" r="r" b="b"/>
            <a:pathLst>
              <a:path w="166104" h="221471">
                <a:moveTo>
                  <a:pt x="73276" y="217405"/>
                </a:moveTo>
                <a:cubicBezTo>
                  <a:pt x="78683" y="222812"/>
                  <a:pt x="87464" y="222812"/>
                  <a:pt x="92871" y="217405"/>
                </a:cubicBezTo>
                <a:lnTo>
                  <a:pt x="162081" y="148196"/>
                </a:lnTo>
                <a:cubicBezTo>
                  <a:pt x="167488" y="142788"/>
                  <a:pt x="167488" y="134007"/>
                  <a:pt x="162081" y="128600"/>
                </a:cubicBezTo>
                <a:cubicBezTo>
                  <a:pt x="156674" y="123193"/>
                  <a:pt x="147893" y="123193"/>
                  <a:pt x="142486" y="128600"/>
                </a:cubicBezTo>
                <a:lnTo>
                  <a:pt x="96894" y="174192"/>
                </a:lnTo>
                <a:lnTo>
                  <a:pt x="96894" y="13842"/>
                </a:lnTo>
                <a:cubicBezTo>
                  <a:pt x="96894" y="6186"/>
                  <a:pt x="90708" y="0"/>
                  <a:pt x="83052" y="0"/>
                </a:cubicBezTo>
                <a:cubicBezTo>
                  <a:pt x="75395" y="0"/>
                  <a:pt x="69210" y="6186"/>
                  <a:pt x="69210" y="13842"/>
                </a:cubicBezTo>
                <a:lnTo>
                  <a:pt x="69210" y="174192"/>
                </a:lnTo>
                <a:lnTo>
                  <a:pt x="23618" y="128600"/>
                </a:lnTo>
                <a:cubicBezTo>
                  <a:pt x="18211" y="123193"/>
                  <a:pt x="9430" y="123193"/>
                  <a:pt x="4023" y="128600"/>
                </a:cubicBezTo>
                <a:cubicBezTo>
                  <a:pt x="-1384" y="134007"/>
                  <a:pt x="-1384" y="142788"/>
                  <a:pt x="4023" y="148196"/>
                </a:cubicBezTo>
                <a:lnTo>
                  <a:pt x="73233" y="217405"/>
                </a:lnTo>
                <a:close/>
              </a:path>
            </a:pathLst>
          </a:custGeom>
          <a:solidFill>
            <a:srgbClr val="4C7E9A"/>
          </a:solidFill>
          <a:ln/>
        </p:spPr>
      </p:sp>
      <p:sp>
        <p:nvSpPr>
          <p:cNvPr id="16" name="Text 14"/>
          <p:cNvSpPr/>
          <p:nvPr/>
        </p:nvSpPr>
        <p:spPr>
          <a:xfrm>
            <a:off x="1074136" y="4589995"/>
            <a:ext cx="3643204" cy="310060"/>
          </a:xfrm>
          <a:prstGeom prst="rect">
            <a:avLst/>
          </a:prstGeom>
          <a:noFill/>
          <a:ln/>
        </p:spPr>
        <p:txBody>
          <a:bodyPr wrap="square" lIns="0" tIns="0" rIns="0" bIns="0" rtlCol="0" anchor="ctr"/>
          <a:lstStyle/>
          <a:p>
            <a:pPr>
              <a:lnSpc>
                <a:spcPct val="130000"/>
              </a:lnSpc>
            </a:pPr>
            <a:r>
              <a:rPr lang="en-US" sz="1569" b="1" dirty="0">
                <a:solidFill>
                  <a:srgbClr val="D1D5DB"/>
                </a:solidFill>
                <a:latin typeface="MiSans" pitchFamily="34" charset="0"/>
                <a:ea typeface="MiSans" pitchFamily="34" charset="-122"/>
                <a:cs typeface="MiSans" pitchFamily="34" charset="-120"/>
              </a:rPr>
              <a:t>降低方差</a:t>
            </a:r>
            <a:endParaRPr lang="en-US" sz="1600" dirty="0"/>
          </a:p>
        </p:txBody>
      </p:sp>
      <p:sp>
        <p:nvSpPr>
          <p:cNvPr id="17" name="Text 15"/>
          <p:cNvSpPr/>
          <p:nvPr/>
        </p:nvSpPr>
        <p:spPr>
          <a:xfrm>
            <a:off x="1074136" y="4900054"/>
            <a:ext cx="3632131" cy="265766"/>
          </a:xfrm>
          <a:prstGeom prst="rect">
            <a:avLst/>
          </a:prstGeom>
          <a:noFill/>
          <a:ln/>
        </p:spPr>
        <p:txBody>
          <a:bodyPr wrap="square" lIns="0" tIns="0" rIns="0" bIns="0" rtlCol="0" anchor="ctr"/>
          <a:lstStyle/>
          <a:p>
            <a:pPr>
              <a:lnSpc>
                <a:spcPct val="130000"/>
              </a:lnSpc>
            </a:pPr>
            <a:r>
              <a:rPr lang="en-US" sz="1395" dirty="0">
                <a:solidFill>
                  <a:srgbClr val="7E9AA8"/>
                </a:solidFill>
                <a:latin typeface="MiSans" pitchFamily="34" charset="0"/>
                <a:ea typeface="MiSans" pitchFamily="34" charset="-122"/>
                <a:cs typeface="MiSans" pitchFamily="34" charset="-120"/>
              </a:rPr>
              <a:t>通过模型平均减少随机误差，提高预测稳定性</a:t>
            </a:r>
            <a:endParaRPr lang="en-US" sz="1600" dirty="0"/>
          </a:p>
        </p:txBody>
      </p:sp>
      <p:sp>
        <p:nvSpPr>
          <p:cNvPr id="18" name="Shape 16"/>
          <p:cNvSpPr/>
          <p:nvPr/>
        </p:nvSpPr>
        <p:spPr>
          <a:xfrm>
            <a:off x="692098" y="5298703"/>
            <a:ext cx="221471" cy="221471"/>
          </a:xfrm>
          <a:custGeom>
            <a:avLst/>
            <a:gdLst/>
            <a:ahLst/>
            <a:cxnLst/>
            <a:rect l="l" t="t" r="r" b="b"/>
            <a:pathLst>
              <a:path w="221471" h="221471">
                <a:moveTo>
                  <a:pt x="110736" y="0"/>
                </a:moveTo>
                <a:cubicBezTo>
                  <a:pt x="112725" y="0"/>
                  <a:pt x="114715" y="433"/>
                  <a:pt x="116532" y="1254"/>
                </a:cubicBezTo>
                <a:lnTo>
                  <a:pt x="198027" y="35816"/>
                </a:lnTo>
                <a:cubicBezTo>
                  <a:pt x="207543" y="39839"/>
                  <a:pt x="214637" y="49225"/>
                  <a:pt x="214594" y="60559"/>
                </a:cubicBezTo>
                <a:cubicBezTo>
                  <a:pt x="214377" y="103469"/>
                  <a:pt x="196729" y="181979"/>
                  <a:pt x="122199" y="217665"/>
                </a:cubicBezTo>
                <a:cubicBezTo>
                  <a:pt x="114975" y="221125"/>
                  <a:pt x="106583" y="221125"/>
                  <a:pt x="99359" y="217665"/>
                </a:cubicBezTo>
                <a:cubicBezTo>
                  <a:pt x="24786" y="181979"/>
                  <a:pt x="7181" y="103469"/>
                  <a:pt x="6964" y="60559"/>
                </a:cubicBezTo>
                <a:cubicBezTo>
                  <a:pt x="6921" y="49225"/>
                  <a:pt x="14015" y="39839"/>
                  <a:pt x="23531" y="35816"/>
                </a:cubicBezTo>
                <a:lnTo>
                  <a:pt x="104983" y="1254"/>
                </a:lnTo>
                <a:cubicBezTo>
                  <a:pt x="106799" y="433"/>
                  <a:pt x="108746" y="0"/>
                  <a:pt x="110736" y="0"/>
                </a:cubicBezTo>
                <a:close/>
                <a:moveTo>
                  <a:pt x="110736" y="28895"/>
                </a:moveTo>
                <a:lnTo>
                  <a:pt x="110736" y="192447"/>
                </a:lnTo>
                <a:cubicBezTo>
                  <a:pt x="170429" y="163551"/>
                  <a:pt x="186477" y="99532"/>
                  <a:pt x="186866" y="61207"/>
                </a:cubicBezTo>
                <a:lnTo>
                  <a:pt x="110736" y="28938"/>
                </a:lnTo>
                <a:lnTo>
                  <a:pt x="110736" y="28938"/>
                </a:lnTo>
                <a:close/>
              </a:path>
            </a:pathLst>
          </a:custGeom>
          <a:solidFill>
            <a:srgbClr val="4C7E9A"/>
          </a:solidFill>
          <a:ln/>
        </p:spPr>
      </p:sp>
      <p:sp>
        <p:nvSpPr>
          <p:cNvPr id="19" name="Text 17"/>
          <p:cNvSpPr/>
          <p:nvPr/>
        </p:nvSpPr>
        <p:spPr>
          <a:xfrm>
            <a:off x="1074136" y="5254409"/>
            <a:ext cx="2402965" cy="310060"/>
          </a:xfrm>
          <a:prstGeom prst="rect">
            <a:avLst/>
          </a:prstGeom>
          <a:noFill/>
          <a:ln/>
        </p:spPr>
        <p:txBody>
          <a:bodyPr wrap="square" lIns="0" tIns="0" rIns="0" bIns="0" rtlCol="0" anchor="ctr"/>
          <a:lstStyle/>
          <a:p>
            <a:pPr>
              <a:lnSpc>
                <a:spcPct val="130000"/>
              </a:lnSpc>
            </a:pPr>
            <a:r>
              <a:rPr lang="en-US" sz="1569" b="1" dirty="0">
                <a:solidFill>
                  <a:srgbClr val="D1D5DB"/>
                </a:solidFill>
                <a:latin typeface="MiSans" pitchFamily="34" charset="0"/>
                <a:ea typeface="MiSans" pitchFamily="34" charset="-122"/>
                <a:cs typeface="MiSans" pitchFamily="34" charset="-120"/>
              </a:rPr>
              <a:t>抗过拟合</a:t>
            </a:r>
            <a:endParaRPr lang="en-US" sz="1600" dirty="0"/>
          </a:p>
        </p:txBody>
      </p:sp>
      <p:sp>
        <p:nvSpPr>
          <p:cNvPr id="20" name="Text 18"/>
          <p:cNvSpPr/>
          <p:nvPr/>
        </p:nvSpPr>
        <p:spPr>
          <a:xfrm>
            <a:off x="1074136" y="5564469"/>
            <a:ext cx="2391891" cy="265766"/>
          </a:xfrm>
          <a:prstGeom prst="rect">
            <a:avLst/>
          </a:prstGeom>
          <a:noFill/>
          <a:ln/>
        </p:spPr>
        <p:txBody>
          <a:bodyPr wrap="square" lIns="0" tIns="0" rIns="0" bIns="0" rtlCol="0" anchor="ctr"/>
          <a:lstStyle/>
          <a:p>
            <a:pPr>
              <a:lnSpc>
                <a:spcPct val="130000"/>
              </a:lnSpc>
            </a:pPr>
            <a:r>
              <a:rPr lang="en-US" sz="1395" dirty="0">
                <a:solidFill>
                  <a:srgbClr val="7E9AA8"/>
                </a:solidFill>
                <a:latin typeface="MiSans" pitchFamily="34" charset="0"/>
                <a:ea typeface="MiSans" pitchFamily="34" charset="-122"/>
                <a:cs typeface="MiSans" pitchFamily="34" charset="-120"/>
              </a:rPr>
              <a:t>对噪声数据具有较好的鲁棒性</a:t>
            </a:r>
            <a:endParaRPr lang="en-US" sz="1600" dirty="0"/>
          </a:p>
        </p:txBody>
      </p:sp>
      <p:sp>
        <p:nvSpPr>
          <p:cNvPr id="21" name="Shape 19"/>
          <p:cNvSpPr/>
          <p:nvPr/>
        </p:nvSpPr>
        <p:spPr>
          <a:xfrm>
            <a:off x="664414" y="5963117"/>
            <a:ext cx="276839" cy="221471"/>
          </a:xfrm>
          <a:custGeom>
            <a:avLst/>
            <a:gdLst/>
            <a:ahLst/>
            <a:cxnLst/>
            <a:rect l="l" t="t" r="r" b="b"/>
            <a:pathLst>
              <a:path w="276839" h="221471">
                <a:moveTo>
                  <a:pt x="138420" y="6921"/>
                </a:moveTo>
                <a:cubicBezTo>
                  <a:pt x="163248" y="6921"/>
                  <a:pt x="183406" y="27079"/>
                  <a:pt x="183406" y="51907"/>
                </a:cubicBezTo>
                <a:cubicBezTo>
                  <a:pt x="183406" y="76736"/>
                  <a:pt x="163248" y="96894"/>
                  <a:pt x="138420" y="96894"/>
                </a:cubicBezTo>
                <a:cubicBezTo>
                  <a:pt x="113591" y="96894"/>
                  <a:pt x="93433" y="76736"/>
                  <a:pt x="93433" y="51907"/>
                </a:cubicBezTo>
                <a:cubicBezTo>
                  <a:pt x="93433" y="27079"/>
                  <a:pt x="113591" y="6921"/>
                  <a:pt x="138420" y="6921"/>
                </a:cubicBezTo>
                <a:close/>
                <a:moveTo>
                  <a:pt x="41526" y="38065"/>
                </a:moveTo>
                <a:cubicBezTo>
                  <a:pt x="58715" y="38065"/>
                  <a:pt x="72670" y="52021"/>
                  <a:pt x="72670" y="69210"/>
                </a:cubicBezTo>
                <a:cubicBezTo>
                  <a:pt x="72670" y="86399"/>
                  <a:pt x="58715" y="100354"/>
                  <a:pt x="41526" y="100354"/>
                </a:cubicBezTo>
                <a:cubicBezTo>
                  <a:pt x="24337" y="100354"/>
                  <a:pt x="10381" y="86399"/>
                  <a:pt x="10381" y="69210"/>
                </a:cubicBezTo>
                <a:cubicBezTo>
                  <a:pt x="10381" y="52021"/>
                  <a:pt x="24337" y="38065"/>
                  <a:pt x="41526" y="38065"/>
                </a:cubicBezTo>
                <a:close/>
                <a:moveTo>
                  <a:pt x="0" y="179946"/>
                </a:moveTo>
                <a:cubicBezTo>
                  <a:pt x="0" y="149363"/>
                  <a:pt x="24786" y="124578"/>
                  <a:pt x="55368" y="124578"/>
                </a:cubicBezTo>
                <a:cubicBezTo>
                  <a:pt x="60905" y="124578"/>
                  <a:pt x="66268" y="125400"/>
                  <a:pt x="71329" y="126913"/>
                </a:cubicBezTo>
                <a:cubicBezTo>
                  <a:pt x="57098" y="142832"/>
                  <a:pt x="48447" y="163854"/>
                  <a:pt x="48447" y="186866"/>
                </a:cubicBezTo>
                <a:lnTo>
                  <a:pt x="48447" y="193787"/>
                </a:lnTo>
                <a:cubicBezTo>
                  <a:pt x="48447" y="198719"/>
                  <a:pt x="49485" y="203390"/>
                  <a:pt x="51345" y="207629"/>
                </a:cubicBezTo>
                <a:lnTo>
                  <a:pt x="13842" y="207629"/>
                </a:lnTo>
                <a:cubicBezTo>
                  <a:pt x="6186" y="207629"/>
                  <a:pt x="0" y="201444"/>
                  <a:pt x="0" y="193787"/>
                </a:cubicBezTo>
                <a:lnTo>
                  <a:pt x="0" y="179946"/>
                </a:lnTo>
                <a:close/>
                <a:moveTo>
                  <a:pt x="225494" y="207629"/>
                </a:moveTo>
                <a:cubicBezTo>
                  <a:pt x="227354" y="203390"/>
                  <a:pt x="228392" y="198719"/>
                  <a:pt x="228392" y="193787"/>
                </a:cubicBezTo>
                <a:lnTo>
                  <a:pt x="228392" y="186866"/>
                </a:lnTo>
                <a:cubicBezTo>
                  <a:pt x="228392" y="163854"/>
                  <a:pt x="219741" y="142832"/>
                  <a:pt x="205510" y="126913"/>
                </a:cubicBezTo>
                <a:cubicBezTo>
                  <a:pt x="210571" y="125400"/>
                  <a:pt x="215935" y="124578"/>
                  <a:pt x="221471" y="124578"/>
                </a:cubicBezTo>
                <a:cubicBezTo>
                  <a:pt x="252053" y="124578"/>
                  <a:pt x="276839" y="149363"/>
                  <a:pt x="276839" y="179946"/>
                </a:cubicBezTo>
                <a:lnTo>
                  <a:pt x="276839" y="193787"/>
                </a:lnTo>
                <a:cubicBezTo>
                  <a:pt x="276839" y="201444"/>
                  <a:pt x="270654" y="207629"/>
                  <a:pt x="262997" y="207629"/>
                </a:cubicBezTo>
                <a:lnTo>
                  <a:pt x="225494" y="207629"/>
                </a:lnTo>
                <a:close/>
                <a:moveTo>
                  <a:pt x="204169" y="69210"/>
                </a:moveTo>
                <a:cubicBezTo>
                  <a:pt x="204169" y="52021"/>
                  <a:pt x="218124" y="38065"/>
                  <a:pt x="235313" y="38065"/>
                </a:cubicBezTo>
                <a:cubicBezTo>
                  <a:pt x="252502" y="38065"/>
                  <a:pt x="266458" y="52021"/>
                  <a:pt x="266458" y="69210"/>
                </a:cubicBezTo>
                <a:cubicBezTo>
                  <a:pt x="266458" y="86399"/>
                  <a:pt x="252502" y="100354"/>
                  <a:pt x="235313" y="100354"/>
                </a:cubicBezTo>
                <a:cubicBezTo>
                  <a:pt x="218124" y="100354"/>
                  <a:pt x="204169" y="86399"/>
                  <a:pt x="204169" y="69210"/>
                </a:cubicBezTo>
                <a:close/>
                <a:moveTo>
                  <a:pt x="69210" y="186866"/>
                </a:moveTo>
                <a:cubicBezTo>
                  <a:pt x="69210" y="148628"/>
                  <a:pt x="100181" y="117657"/>
                  <a:pt x="138420" y="117657"/>
                </a:cubicBezTo>
                <a:cubicBezTo>
                  <a:pt x="176658" y="117657"/>
                  <a:pt x="207629" y="148628"/>
                  <a:pt x="207629" y="186866"/>
                </a:cubicBezTo>
                <a:lnTo>
                  <a:pt x="207629" y="193787"/>
                </a:lnTo>
                <a:cubicBezTo>
                  <a:pt x="207629" y="201444"/>
                  <a:pt x="201444" y="207629"/>
                  <a:pt x="193787" y="207629"/>
                </a:cubicBezTo>
                <a:lnTo>
                  <a:pt x="83052" y="207629"/>
                </a:lnTo>
                <a:cubicBezTo>
                  <a:pt x="75395" y="207629"/>
                  <a:pt x="69210" y="201444"/>
                  <a:pt x="69210" y="193787"/>
                </a:cubicBezTo>
                <a:lnTo>
                  <a:pt x="69210" y="186866"/>
                </a:lnTo>
                <a:close/>
              </a:path>
            </a:pathLst>
          </a:custGeom>
          <a:solidFill>
            <a:srgbClr val="4C7E9A"/>
          </a:solidFill>
          <a:ln/>
        </p:spPr>
      </p:sp>
      <p:sp>
        <p:nvSpPr>
          <p:cNvPr id="22" name="Text 20"/>
          <p:cNvSpPr/>
          <p:nvPr/>
        </p:nvSpPr>
        <p:spPr>
          <a:xfrm>
            <a:off x="1074136" y="5918823"/>
            <a:ext cx="2934496" cy="310060"/>
          </a:xfrm>
          <a:prstGeom prst="rect">
            <a:avLst/>
          </a:prstGeom>
          <a:noFill/>
          <a:ln/>
        </p:spPr>
        <p:txBody>
          <a:bodyPr wrap="square" lIns="0" tIns="0" rIns="0" bIns="0" rtlCol="0" anchor="ctr"/>
          <a:lstStyle/>
          <a:p>
            <a:pPr>
              <a:lnSpc>
                <a:spcPct val="130000"/>
              </a:lnSpc>
            </a:pPr>
            <a:r>
              <a:rPr lang="en-US" sz="1569" b="1" dirty="0">
                <a:solidFill>
                  <a:srgbClr val="D1D5DB"/>
                </a:solidFill>
                <a:latin typeface="MiSans" pitchFamily="34" charset="0"/>
                <a:ea typeface="MiSans" pitchFamily="34" charset="-122"/>
                <a:cs typeface="MiSans" pitchFamily="34" charset="-120"/>
              </a:rPr>
              <a:t>群体智慧</a:t>
            </a:r>
            <a:endParaRPr lang="en-US" sz="1600" dirty="0"/>
          </a:p>
        </p:txBody>
      </p:sp>
      <p:sp>
        <p:nvSpPr>
          <p:cNvPr id="23" name="Text 21"/>
          <p:cNvSpPr/>
          <p:nvPr/>
        </p:nvSpPr>
        <p:spPr>
          <a:xfrm>
            <a:off x="1074136" y="6228883"/>
            <a:ext cx="2923422" cy="265766"/>
          </a:xfrm>
          <a:prstGeom prst="rect">
            <a:avLst/>
          </a:prstGeom>
          <a:noFill/>
          <a:ln/>
        </p:spPr>
        <p:txBody>
          <a:bodyPr wrap="square" lIns="0" tIns="0" rIns="0" bIns="0" rtlCol="0" anchor="ctr"/>
          <a:lstStyle/>
          <a:p>
            <a:pPr>
              <a:lnSpc>
                <a:spcPct val="130000"/>
              </a:lnSpc>
            </a:pPr>
            <a:r>
              <a:rPr lang="en-US" sz="1395" dirty="0">
                <a:solidFill>
                  <a:srgbClr val="7E9AA8"/>
                </a:solidFill>
                <a:latin typeface="MiSans" pitchFamily="34" charset="0"/>
                <a:ea typeface="MiSans" pitchFamily="34" charset="-122"/>
                <a:cs typeface="MiSans" pitchFamily="34" charset="-120"/>
              </a:rPr>
              <a:t>通过投票或平均整合多个模型的预测</a:t>
            </a:r>
            <a:endParaRPr lang="en-US" sz="1600" dirty="0"/>
          </a:p>
        </p:txBody>
      </p:sp>
      <p:sp>
        <p:nvSpPr>
          <p:cNvPr id="24" name="Shape 22"/>
          <p:cNvSpPr/>
          <p:nvPr/>
        </p:nvSpPr>
        <p:spPr>
          <a:xfrm>
            <a:off x="448480" y="6854540"/>
            <a:ext cx="7563248" cy="1517079"/>
          </a:xfrm>
          <a:custGeom>
            <a:avLst/>
            <a:gdLst/>
            <a:ahLst/>
            <a:cxnLst/>
            <a:rect l="l" t="t" r="r" b="b"/>
            <a:pathLst>
              <a:path w="7563248" h="1517079">
                <a:moveTo>
                  <a:pt x="88582" y="0"/>
                </a:moveTo>
                <a:lnTo>
                  <a:pt x="7474666" y="0"/>
                </a:lnTo>
                <a:cubicBezTo>
                  <a:pt x="7523556" y="0"/>
                  <a:pt x="7563248" y="39692"/>
                  <a:pt x="7563248" y="88582"/>
                </a:cubicBezTo>
                <a:lnTo>
                  <a:pt x="7563248" y="1428497"/>
                </a:lnTo>
                <a:cubicBezTo>
                  <a:pt x="7563248" y="1477387"/>
                  <a:pt x="7523556" y="1517079"/>
                  <a:pt x="7474666" y="1517079"/>
                </a:cubicBezTo>
                <a:lnTo>
                  <a:pt x="88582" y="1517079"/>
                </a:lnTo>
                <a:cubicBezTo>
                  <a:pt x="39692" y="1517079"/>
                  <a:pt x="0" y="1477387"/>
                  <a:pt x="0" y="1428497"/>
                </a:cubicBezTo>
                <a:lnTo>
                  <a:pt x="0" y="88582"/>
                </a:lnTo>
                <a:cubicBezTo>
                  <a:pt x="0" y="39692"/>
                  <a:pt x="39692" y="0"/>
                  <a:pt x="88582" y="0"/>
                </a:cubicBezTo>
                <a:close/>
              </a:path>
            </a:pathLst>
          </a:custGeom>
          <a:solidFill>
            <a:srgbClr val="3A5E78">
              <a:alpha val="20000"/>
            </a:srgbClr>
          </a:solidFill>
          <a:ln w="12700">
            <a:solidFill>
              <a:srgbClr val="4C7E9A">
                <a:alpha val="50196"/>
              </a:srgbClr>
            </a:solidFill>
            <a:prstDash val="solid"/>
          </a:ln>
        </p:spPr>
      </p:sp>
      <p:sp>
        <p:nvSpPr>
          <p:cNvPr id="25" name="Text 23"/>
          <p:cNvSpPr/>
          <p:nvPr/>
        </p:nvSpPr>
        <p:spPr>
          <a:xfrm>
            <a:off x="631193" y="7037253"/>
            <a:ext cx="7330703" cy="354354"/>
          </a:xfrm>
          <a:prstGeom prst="rect">
            <a:avLst/>
          </a:prstGeom>
          <a:noFill/>
          <a:ln/>
        </p:spPr>
        <p:txBody>
          <a:bodyPr wrap="square" lIns="0" tIns="0" rIns="0" bIns="0" rtlCol="0" anchor="ctr"/>
          <a:lstStyle/>
          <a:p>
            <a:pPr>
              <a:lnSpc>
                <a:spcPct val="110000"/>
              </a:lnSpc>
            </a:pPr>
            <a:r>
              <a:rPr lang="en-US" sz="2093" b="1" dirty="0">
                <a:solidFill>
                  <a:srgbClr val="4C7E9A"/>
                </a:solidFill>
                <a:latin typeface="MiSans" pitchFamily="34" charset="0"/>
                <a:ea typeface="MiSans" pitchFamily="34" charset="-122"/>
                <a:cs typeface="MiSans" pitchFamily="34" charset="-120"/>
              </a:rPr>
              <a:t>与Boosting的关键区别</a:t>
            </a:r>
            <a:endParaRPr lang="en-US" sz="1600" dirty="0"/>
          </a:p>
        </p:txBody>
      </p:sp>
      <p:sp>
        <p:nvSpPr>
          <p:cNvPr id="26" name="Shape 24"/>
          <p:cNvSpPr/>
          <p:nvPr/>
        </p:nvSpPr>
        <p:spPr>
          <a:xfrm>
            <a:off x="631193" y="7480196"/>
            <a:ext cx="3554616" cy="708708"/>
          </a:xfrm>
          <a:custGeom>
            <a:avLst/>
            <a:gdLst/>
            <a:ahLst/>
            <a:cxnLst/>
            <a:rect l="l" t="t" r="r" b="b"/>
            <a:pathLst>
              <a:path w="3554616" h="708708">
                <a:moveTo>
                  <a:pt x="44294" y="0"/>
                </a:moveTo>
                <a:lnTo>
                  <a:pt x="3510322" y="0"/>
                </a:lnTo>
                <a:cubicBezTo>
                  <a:pt x="3534785" y="0"/>
                  <a:pt x="3554616" y="19831"/>
                  <a:pt x="3554616" y="44294"/>
                </a:cubicBezTo>
                <a:lnTo>
                  <a:pt x="3554616" y="664414"/>
                </a:lnTo>
                <a:cubicBezTo>
                  <a:pt x="3554616" y="688877"/>
                  <a:pt x="3534785" y="708708"/>
                  <a:pt x="3510322" y="708708"/>
                </a:cubicBezTo>
                <a:lnTo>
                  <a:pt x="44294" y="708708"/>
                </a:lnTo>
                <a:cubicBezTo>
                  <a:pt x="19831" y="708708"/>
                  <a:pt x="0" y="688877"/>
                  <a:pt x="0" y="664414"/>
                </a:cubicBezTo>
                <a:lnTo>
                  <a:pt x="0" y="44294"/>
                </a:lnTo>
                <a:cubicBezTo>
                  <a:pt x="0" y="19831"/>
                  <a:pt x="19831" y="0"/>
                  <a:pt x="44294" y="0"/>
                </a:cubicBezTo>
                <a:close/>
              </a:path>
            </a:pathLst>
          </a:custGeom>
          <a:solidFill>
            <a:srgbClr val="181A1F">
              <a:alpha val="50196"/>
            </a:srgbClr>
          </a:solidFill>
          <a:ln/>
        </p:spPr>
      </p:sp>
      <p:sp>
        <p:nvSpPr>
          <p:cNvPr id="27" name="Text 25"/>
          <p:cNvSpPr/>
          <p:nvPr/>
        </p:nvSpPr>
        <p:spPr>
          <a:xfrm>
            <a:off x="719782" y="7568785"/>
            <a:ext cx="3466027" cy="265766"/>
          </a:xfrm>
          <a:prstGeom prst="rect">
            <a:avLst/>
          </a:prstGeom>
          <a:noFill/>
          <a:ln/>
        </p:spPr>
        <p:txBody>
          <a:bodyPr wrap="square" lIns="0" tIns="0" rIns="0" bIns="0" rtlCol="0" anchor="ctr"/>
          <a:lstStyle/>
          <a:p>
            <a:pPr>
              <a:lnSpc>
                <a:spcPct val="130000"/>
              </a:lnSpc>
            </a:pPr>
            <a:r>
              <a:rPr lang="en-US" sz="1395" b="1" dirty="0">
                <a:solidFill>
                  <a:srgbClr val="D1D5DB"/>
                </a:solidFill>
                <a:latin typeface="MiSans" pitchFamily="34" charset="0"/>
                <a:ea typeface="MiSans" pitchFamily="34" charset="-122"/>
                <a:cs typeface="MiSans" pitchFamily="34" charset="-120"/>
              </a:rPr>
              <a:t>训练方式</a:t>
            </a:r>
            <a:endParaRPr lang="en-US" sz="1600" dirty="0"/>
          </a:p>
        </p:txBody>
      </p:sp>
      <p:sp>
        <p:nvSpPr>
          <p:cNvPr id="28" name="Text 26"/>
          <p:cNvSpPr/>
          <p:nvPr/>
        </p:nvSpPr>
        <p:spPr>
          <a:xfrm>
            <a:off x="719782" y="7878845"/>
            <a:ext cx="3454954" cy="221471"/>
          </a:xfrm>
          <a:prstGeom prst="rect">
            <a:avLst/>
          </a:prstGeom>
          <a:noFill/>
          <a:ln/>
        </p:spPr>
        <p:txBody>
          <a:bodyPr wrap="square" lIns="0" tIns="0" rIns="0" bIns="0" rtlCol="0" anchor="ctr"/>
          <a:lstStyle/>
          <a:p>
            <a:pPr>
              <a:lnSpc>
                <a:spcPct val="120000"/>
              </a:lnSpc>
            </a:pPr>
            <a:r>
              <a:rPr lang="en-US" sz="1221" dirty="0">
                <a:solidFill>
                  <a:srgbClr val="7E9AA8"/>
                </a:solidFill>
                <a:latin typeface="MiSans" pitchFamily="34" charset="0"/>
                <a:ea typeface="MiSans" pitchFamily="34" charset="-122"/>
                <a:cs typeface="MiSans" pitchFamily="34" charset="-120"/>
              </a:rPr>
              <a:t>Bagging：并行训练</a:t>
            </a:r>
            <a:endParaRPr lang="en-US" sz="1600" dirty="0"/>
          </a:p>
        </p:txBody>
      </p:sp>
      <p:sp>
        <p:nvSpPr>
          <p:cNvPr id="29" name="Shape 27"/>
          <p:cNvSpPr/>
          <p:nvPr/>
        </p:nvSpPr>
        <p:spPr>
          <a:xfrm>
            <a:off x="4275609" y="7480196"/>
            <a:ext cx="3554616" cy="708708"/>
          </a:xfrm>
          <a:custGeom>
            <a:avLst/>
            <a:gdLst/>
            <a:ahLst/>
            <a:cxnLst/>
            <a:rect l="l" t="t" r="r" b="b"/>
            <a:pathLst>
              <a:path w="3554616" h="708708">
                <a:moveTo>
                  <a:pt x="44294" y="0"/>
                </a:moveTo>
                <a:lnTo>
                  <a:pt x="3510322" y="0"/>
                </a:lnTo>
                <a:cubicBezTo>
                  <a:pt x="3534785" y="0"/>
                  <a:pt x="3554616" y="19831"/>
                  <a:pt x="3554616" y="44294"/>
                </a:cubicBezTo>
                <a:lnTo>
                  <a:pt x="3554616" y="664414"/>
                </a:lnTo>
                <a:cubicBezTo>
                  <a:pt x="3554616" y="688877"/>
                  <a:pt x="3534785" y="708708"/>
                  <a:pt x="3510322" y="708708"/>
                </a:cubicBezTo>
                <a:lnTo>
                  <a:pt x="44294" y="708708"/>
                </a:lnTo>
                <a:cubicBezTo>
                  <a:pt x="19831" y="708708"/>
                  <a:pt x="0" y="688877"/>
                  <a:pt x="0" y="664414"/>
                </a:cubicBezTo>
                <a:lnTo>
                  <a:pt x="0" y="44294"/>
                </a:lnTo>
                <a:cubicBezTo>
                  <a:pt x="0" y="19831"/>
                  <a:pt x="19831" y="0"/>
                  <a:pt x="44294" y="0"/>
                </a:cubicBezTo>
                <a:close/>
              </a:path>
            </a:pathLst>
          </a:custGeom>
          <a:solidFill>
            <a:srgbClr val="181A1F">
              <a:alpha val="50196"/>
            </a:srgbClr>
          </a:solidFill>
          <a:ln/>
        </p:spPr>
      </p:sp>
      <p:sp>
        <p:nvSpPr>
          <p:cNvPr id="30" name="Text 28"/>
          <p:cNvSpPr/>
          <p:nvPr/>
        </p:nvSpPr>
        <p:spPr>
          <a:xfrm>
            <a:off x="4364198" y="7568785"/>
            <a:ext cx="3466027" cy="265766"/>
          </a:xfrm>
          <a:prstGeom prst="rect">
            <a:avLst/>
          </a:prstGeom>
          <a:noFill/>
          <a:ln/>
        </p:spPr>
        <p:txBody>
          <a:bodyPr wrap="square" lIns="0" tIns="0" rIns="0" bIns="0" rtlCol="0" anchor="ctr"/>
          <a:lstStyle/>
          <a:p>
            <a:pPr>
              <a:lnSpc>
                <a:spcPct val="130000"/>
              </a:lnSpc>
            </a:pPr>
            <a:r>
              <a:rPr lang="en-US" sz="1395" b="1" dirty="0">
                <a:solidFill>
                  <a:srgbClr val="D1D5DB"/>
                </a:solidFill>
                <a:latin typeface="MiSans" pitchFamily="34" charset="0"/>
                <a:ea typeface="MiSans" pitchFamily="34" charset="-122"/>
                <a:cs typeface="MiSans" pitchFamily="34" charset="-120"/>
              </a:rPr>
              <a:t>优化目标</a:t>
            </a:r>
            <a:endParaRPr lang="en-US" sz="1600" dirty="0"/>
          </a:p>
        </p:txBody>
      </p:sp>
      <p:sp>
        <p:nvSpPr>
          <p:cNvPr id="31" name="Text 29"/>
          <p:cNvSpPr/>
          <p:nvPr/>
        </p:nvSpPr>
        <p:spPr>
          <a:xfrm>
            <a:off x="4364198" y="7878845"/>
            <a:ext cx="3454954" cy="221471"/>
          </a:xfrm>
          <a:prstGeom prst="rect">
            <a:avLst/>
          </a:prstGeom>
          <a:noFill/>
          <a:ln/>
        </p:spPr>
        <p:txBody>
          <a:bodyPr wrap="square" lIns="0" tIns="0" rIns="0" bIns="0" rtlCol="0" anchor="ctr"/>
          <a:lstStyle/>
          <a:p>
            <a:pPr>
              <a:lnSpc>
                <a:spcPct val="120000"/>
              </a:lnSpc>
            </a:pPr>
            <a:r>
              <a:rPr lang="en-US" sz="1221" dirty="0">
                <a:solidFill>
                  <a:srgbClr val="7E9AA8"/>
                </a:solidFill>
                <a:latin typeface="MiSans" pitchFamily="34" charset="0"/>
                <a:ea typeface="MiSans" pitchFamily="34" charset="-122"/>
                <a:cs typeface="MiSans" pitchFamily="34" charset="-120"/>
              </a:rPr>
              <a:t>Bagging：降低方差</a:t>
            </a:r>
            <a:endParaRPr lang="en-US" sz="1600" dirty="0"/>
          </a:p>
        </p:txBody>
      </p:sp>
      <p:sp>
        <p:nvSpPr>
          <p:cNvPr id="32" name="Shape 30"/>
          <p:cNvSpPr/>
          <p:nvPr/>
        </p:nvSpPr>
        <p:spPr>
          <a:xfrm>
            <a:off x="8246695" y="1600131"/>
            <a:ext cx="7563248" cy="6777025"/>
          </a:xfrm>
          <a:custGeom>
            <a:avLst/>
            <a:gdLst/>
            <a:ahLst/>
            <a:cxnLst/>
            <a:rect l="l" t="t" r="r" b="b"/>
            <a:pathLst>
              <a:path w="7563248" h="6777025">
                <a:moveTo>
                  <a:pt x="88576" y="0"/>
                </a:moveTo>
                <a:lnTo>
                  <a:pt x="7474672" y="0"/>
                </a:lnTo>
                <a:cubicBezTo>
                  <a:pt x="7523591" y="0"/>
                  <a:pt x="7563248" y="39657"/>
                  <a:pt x="7563248" y="88576"/>
                </a:cubicBezTo>
                <a:lnTo>
                  <a:pt x="7563248" y="6688449"/>
                </a:lnTo>
                <a:cubicBezTo>
                  <a:pt x="7563248" y="6737368"/>
                  <a:pt x="7523591" y="6777025"/>
                  <a:pt x="7474672" y="6777025"/>
                </a:cubicBezTo>
                <a:lnTo>
                  <a:pt x="88576" y="6777025"/>
                </a:lnTo>
                <a:cubicBezTo>
                  <a:pt x="39657" y="6777025"/>
                  <a:pt x="0" y="6737368"/>
                  <a:pt x="0" y="6688449"/>
                </a:cubicBezTo>
                <a:lnTo>
                  <a:pt x="0" y="88576"/>
                </a:lnTo>
                <a:cubicBezTo>
                  <a:pt x="0" y="39689"/>
                  <a:pt x="39689" y="0"/>
                  <a:pt x="88576" y="0"/>
                </a:cubicBezTo>
                <a:close/>
              </a:path>
            </a:pathLst>
          </a:custGeom>
          <a:solidFill>
            <a:srgbClr val="3A5E78">
              <a:alpha val="20000"/>
            </a:srgbClr>
          </a:solidFill>
          <a:ln w="12700">
            <a:solidFill>
              <a:srgbClr val="4C7E9A">
                <a:alpha val="50196"/>
              </a:srgbClr>
            </a:solidFill>
            <a:prstDash val="solid"/>
          </a:ln>
        </p:spPr>
      </p:sp>
      <p:sp>
        <p:nvSpPr>
          <p:cNvPr id="33" name="Text 31"/>
          <p:cNvSpPr/>
          <p:nvPr/>
        </p:nvSpPr>
        <p:spPr>
          <a:xfrm>
            <a:off x="8473703" y="1827139"/>
            <a:ext cx="7242114" cy="354354"/>
          </a:xfrm>
          <a:prstGeom prst="rect">
            <a:avLst/>
          </a:prstGeom>
          <a:noFill/>
          <a:ln/>
        </p:spPr>
        <p:txBody>
          <a:bodyPr wrap="square" lIns="0" tIns="0" rIns="0" bIns="0" rtlCol="0" anchor="ctr"/>
          <a:lstStyle/>
          <a:p>
            <a:pPr>
              <a:lnSpc>
                <a:spcPct val="110000"/>
              </a:lnSpc>
            </a:pPr>
            <a:r>
              <a:rPr lang="en-US" sz="2093" b="1" dirty="0">
                <a:solidFill>
                  <a:srgbClr val="4C7E9A"/>
                </a:solidFill>
                <a:latin typeface="MiSans" pitchFamily="34" charset="0"/>
                <a:ea typeface="MiSans" pitchFamily="34" charset="-122"/>
                <a:cs typeface="MiSans" pitchFamily="34" charset="-120"/>
              </a:rPr>
              <a:t>Bagging工作流程</a:t>
            </a:r>
            <a:endParaRPr lang="en-US" sz="1600" dirty="0"/>
          </a:p>
        </p:txBody>
      </p:sp>
      <p:sp>
        <p:nvSpPr>
          <p:cNvPr id="34" name="Shape 32"/>
          <p:cNvSpPr/>
          <p:nvPr/>
        </p:nvSpPr>
        <p:spPr>
          <a:xfrm>
            <a:off x="8473703" y="2358670"/>
            <a:ext cx="442943" cy="442943"/>
          </a:xfrm>
          <a:custGeom>
            <a:avLst/>
            <a:gdLst/>
            <a:ahLst/>
            <a:cxnLst/>
            <a:rect l="l" t="t" r="r" b="b"/>
            <a:pathLst>
              <a:path w="442943" h="442943">
                <a:moveTo>
                  <a:pt x="221471" y="0"/>
                </a:moveTo>
                <a:lnTo>
                  <a:pt x="221471" y="0"/>
                </a:lnTo>
                <a:cubicBezTo>
                  <a:pt x="343705" y="0"/>
                  <a:pt x="442943" y="99238"/>
                  <a:pt x="442943" y="221471"/>
                </a:cubicBezTo>
                <a:lnTo>
                  <a:pt x="442943" y="221471"/>
                </a:lnTo>
                <a:cubicBezTo>
                  <a:pt x="442943" y="343705"/>
                  <a:pt x="343705" y="442943"/>
                  <a:pt x="221471" y="442943"/>
                </a:cubicBezTo>
                <a:lnTo>
                  <a:pt x="221471" y="442943"/>
                </a:lnTo>
                <a:cubicBezTo>
                  <a:pt x="99238" y="442943"/>
                  <a:pt x="0" y="343705"/>
                  <a:pt x="0" y="221471"/>
                </a:cubicBezTo>
                <a:lnTo>
                  <a:pt x="0" y="221471"/>
                </a:lnTo>
                <a:cubicBezTo>
                  <a:pt x="0" y="99238"/>
                  <a:pt x="99238" y="0"/>
                  <a:pt x="221471" y="0"/>
                </a:cubicBezTo>
                <a:close/>
              </a:path>
            </a:pathLst>
          </a:custGeom>
          <a:solidFill>
            <a:srgbClr val="4C7E9A"/>
          </a:solidFill>
          <a:ln/>
        </p:spPr>
      </p:sp>
      <p:sp>
        <p:nvSpPr>
          <p:cNvPr id="35" name="Text 33"/>
          <p:cNvSpPr/>
          <p:nvPr/>
        </p:nvSpPr>
        <p:spPr>
          <a:xfrm>
            <a:off x="8423872" y="2358670"/>
            <a:ext cx="542605" cy="442943"/>
          </a:xfrm>
          <a:prstGeom prst="rect">
            <a:avLst/>
          </a:prstGeom>
          <a:noFill/>
          <a:ln/>
        </p:spPr>
        <p:txBody>
          <a:bodyPr wrap="square" lIns="0" tIns="0" rIns="0" bIns="0" rtlCol="0" anchor="ctr"/>
          <a:lstStyle/>
          <a:p>
            <a:pPr algn="ctr">
              <a:lnSpc>
                <a:spcPct val="130000"/>
              </a:lnSpc>
            </a:pPr>
            <a:r>
              <a:rPr lang="en-US" sz="1569" b="1" dirty="0">
                <a:solidFill>
                  <a:srgbClr val="181A1F"/>
                </a:solidFill>
                <a:latin typeface="MiSans" pitchFamily="34" charset="0"/>
                <a:ea typeface="MiSans" pitchFamily="34" charset="-122"/>
                <a:cs typeface="MiSans" pitchFamily="34" charset="-120"/>
              </a:rPr>
              <a:t>1</a:t>
            </a:r>
            <a:endParaRPr lang="en-US" sz="1600" dirty="0"/>
          </a:p>
        </p:txBody>
      </p:sp>
      <p:sp>
        <p:nvSpPr>
          <p:cNvPr id="36" name="Text 34"/>
          <p:cNvSpPr/>
          <p:nvPr/>
        </p:nvSpPr>
        <p:spPr>
          <a:xfrm>
            <a:off x="9049529" y="2358670"/>
            <a:ext cx="6633068" cy="310060"/>
          </a:xfrm>
          <a:prstGeom prst="rect">
            <a:avLst/>
          </a:prstGeom>
          <a:noFill/>
          <a:ln/>
        </p:spPr>
        <p:txBody>
          <a:bodyPr wrap="square" lIns="0" tIns="0" rIns="0" bIns="0" rtlCol="0" anchor="ctr"/>
          <a:lstStyle/>
          <a:p>
            <a:pPr>
              <a:lnSpc>
                <a:spcPct val="130000"/>
              </a:lnSpc>
            </a:pPr>
            <a:r>
              <a:rPr lang="en-US" sz="1569" b="1" dirty="0">
                <a:solidFill>
                  <a:srgbClr val="D1D5DB"/>
                </a:solidFill>
                <a:latin typeface="MiSans" pitchFamily="34" charset="0"/>
                <a:ea typeface="MiSans" pitchFamily="34" charset="-122"/>
                <a:cs typeface="MiSans" pitchFamily="34" charset="-120"/>
              </a:rPr>
              <a:t>Bootstrap采样</a:t>
            </a:r>
            <a:endParaRPr lang="en-US" sz="1600" dirty="0"/>
          </a:p>
        </p:txBody>
      </p:sp>
      <p:sp>
        <p:nvSpPr>
          <p:cNvPr id="37" name="Text 35"/>
          <p:cNvSpPr/>
          <p:nvPr/>
        </p:nvSpPr>
        <p:spPr>
          <a:xfrm>
            <a:off x="9049529" y="2713025"/>
            <a:ext cx="6610921" cy="221471"/>
          </a:xfrm>
          <a:prstGeom prst="rect">
            <a:avLst/>
          </a:prstGeom>
          <a:noFill/>
          <a:ln/>
        </p:spPr>
        <p:txBody>
          <a:bodyPr wrap="square" lIns="0" tIns="0" rIns="0" bIns="0" rtlCol="0" anchor="ctr"/>
          <a:lstStyle/>
          <a:p>
            <a:pPr>
              <a:lnSpc>
                <a:spcPct val="120000"/>
              </a:lnSpc>
            </a:pPr>
            <a:r>
              <a:rPr lang="en-US" sz="1221" dirty="0">
                <a:solidFill>
                  <a:srgbClr val="7E9AA8"/>
                </a:solidFill>
                <a:latin typeface="MiSans" pitchFamily="34" charset="0"/>
                <a:ea typeface="MiSans" pitchFamily="34" charset="-122"/>
                <a:cs typeface="MiSans" pitchFamily="34" charset="-120"/>
              </a:rPr>
              <a:t>从原始训练集中有放回地抽取T个样本子集，每个子集大小与原始数据集相同</a:t>
            </a:r>
            <a:endParaRPr lang="en-US" sz="1600" dirty="0"/>
          </a:p>
        </p:txBody>
      </p:sp>
      <p:sp>
        <p:nvSpPr>
          <p:cNvPr id="38" name="Shape 36"/>
          <p:cNvSpPr/>
          <p:nvPr/>
        </p:nvSpPr>
        <p:spPr>
          <a:xfrm>
            <a:off x="8473703" y="3067379"/>
            <a:ext cx="442943" cy="442943"/>
          </a:xfrm>
          <a:custGeom>
            <a:avLst/>
            <a:gdLst/>
            <a:ahLst/>
            <a:cxnLst/>
            <a:rect l="l" t="t" r="r" b="b"/>
            <a:pathLst>
              <a:path w="442943" h="442943">
                <a:moveTo>
                  <a:pt x="221471" y="0"/>
                </a:moveTo>
                <a:lnTo>
                  <a:pt x="221471" y="0"/>
                </a:lnTo>
                <a:cubicBezTo>
                  <a:pt x="343705" y="0"/>
                  <a:pt x="442943" y="99238"/>
                  <a:pt x="442943" y="221471"/>
                </a:cubicBezTo>
                <a:lnTo>
                  <a:pt x="442943" y="221471"/>
                </a:lnTo>
                <a:cubicBezTo>
                  <a:pt x="442943" y="343705"/>
                  <a:pt x="343705" y="442943"/>
                  <a:pt x="221471" y="442943"/>
                </a:cubicBezTo>
                <a:lnTo>
                  <a:pt x="221471" y="442943"/>
                </a:lnTo>
                <a:cubicBezTo>
                  <a:pt x="99238" y="442943"/>
                  <a:pt x="0" y="343705"/>
                  <a:pt x="0" y="221471"/>
                </a:cubicBezTo>
                <a:lnTo>
                  <a:pt x="0" y="221471"/>
                </a:lnTo>
                <a:cubicBezTo>
                  <a:pt x="0" y="99238"/>
                  <a:pt x="99238" y="0"/>
                  <a:pt x="221471" y="0"/>
                </a:cubicBezTo>
                <a:close/>
              </a:path>
            </a:pathLst>
          </a:custGeom>
          <a:solidFill>
            <a:srgbClr val="4C7E9A"/>
          </a:solidFill>
          <a:ln/>
        </p:spPr>
      </p:sp>
      <p:sp>
        <p:nvSpPr>
          <p:cNvPr id="39" name="Text 37"/>
          <p:cNvSpPr/>
          <p:nvPr/>
        </p:nvSpPr>
        <p:spPr>
          <a:xfrm>
            <a:off x="8423872" y="3067379"/>
            <a:ext cx="542605" cy="442943"/>
          </a:xfrm>
          <a:prstGeom prst="rect">
            <a:avLst/>
          </a:prstGeom>
          <a:noFill/>
          <a:ln/>
        </p:spPr>
        <p:txBody>
          <a:bodyPr wrap="square" lIns="0" tIns="0" rIns="0" bIns="0" rtlCol="0" anchor="ctr"/>
          <a:lstStyle/>
          <a:p>
            <a:pPr algn="ctr">
              <a:lnSpc>
                <a:spcPct val="130000"/>
              </a:lnSpc>
            </a:pPr>
            <a:r>
              <a:rPr lang="en-US" sz="1569" b="1" dirty="0">
                <a:solidFill>
                  <a:srgbClr val="181A1F"/>
                </a:solidFill>
                <a:latin typeface="MiSans" pitchFamily="34" charset="0"/>
                <a:ea typeface="MiSans" pitchFamily="34" charset="-122"/>
                <a:cs typeface="MiSans" pitchFamily="34" charset="-120"/>
              </a:rPr>
              <a:t>2</a:t>
            </a:r>
            <a:endParaRPr lang="en-US" sz="1600" dirty="0"/>
          </a:p>
        </p:txBody>
      </p:sp>
      <p:sp>
        <p:nvSpPr>
          <p:cNvPr id="40" name="Text 38"/>
          <p:cNvSpPr/>
          <p:nvPr/>
        </p:nvSpPr>
        <p:spPr>
          <a:xfrm>
            <a:off x="9049529" y="3067379"/>
            <a:ext cx="6633068" cy="310060"/>
          </a:xfrm>
          <a:prstGeom prst="rect">
            <a:avLst/>
          </a:prstGeom>
          <a:noFill/>
          <a:ln/>
        </p:spPr>
        <p:txBody>
          <a:bodyPr wrap="square" lIns="0" tIns="0" rIns="0" bIns="0" rtlCol="0" anchor="ctr"/>
          <a:lstStyle/>
          <a:p>
            <a:pPr>
              <a:lnSpc>
                <a:spcPct val="130000"/>
              </a:lnSpc>
            </a:pPr>
            <a:r>
              <a:rPr lang="en-US" sz="1569" b="1" dirty="0">
                <a:solidFill>
                  <a:srgbClr val="D1D5DB"/>
                </a:solidFill>
                <a:latin typeface="MiSans" pitchFamily="34" charset="0"/>
                <a:ea typeface="MiSans" pitchFamily="34" charset="-122"/>
                <a:cs typeface="MiSans" pitchFamily="34" charset="-120"/>
              </a:rPr>
              <a:t>并行训练</a:t>
            </a:r>
            <a:endParaRPr lang="en-US" sz="1600" dirty="0"/>
          </a:p>
        </p:txBody>
      </p:sp>
      <p:sp>
        <p:nvSpPr>
          <p:cNvPr id="41" name="Text 39"/>
          <p:cNvSpPr/>
          <p:nvPr/>
        </p:nvSpPr>
        <p:spPr>
          <a:xfrm>
            <a:off x="9049529" y="3421733"/>
            <a:ext cx="6610921" cy="221471"/>
          </a:xfrm>
          <a:prstGeom prst="rect">
            <a:avLst/>
          </a:prstGeom>
          <a:noFill/>
          <a:ln/>
        </p:spPr>
        <p:txBody>
          <a:bodyPr wrap="square" lIns="0" tIns="0" rIns="0" bIns="0" rtlCol="0" anchor="ctr"/>
          <a:lstStyle/>
          <a:p>
            <a:pPr>
              <a:lnSpc>
                <a:spcPct val="120000"/>
              </a:lnSpc>
            </a:pPr>
            <a:r>
              <a:rPr lang="en-US" sz="1221" dirty="0">
                <a:solidFill>
                  <a:srgbClr val="7E9AA8"/>
                </a:solidFill>
                <a:latin typeface="MiSans" pitchFamily="34" charset="0"/>
                <a:ea typeface="MiSans" pitchFamily="34" charset="-122"/>
                <a:cs typeface="MiSans" pitchFamily="34" charset="-120"/>
              </a:rPr>
              <a:t>每个子集独立训练一个基学习器，各基学习器之间无依赖关系</a:t>
            </a:r>
            <a:endParaRPr lang="en-US" sz="1600" dirty="0"/>
          </a:p>
        </p:txBody>
      </p:sp>
      <p:sp>
        <p:nvSpPr>
          <p:cNvPr id="42" name="Shape 40"/>
          <p:cNvSpPr/>
          <p:nvPr/>
        </p:nvSpPr>
        <p:spPr>
          <a:xfrm>
            <a:off x="8473703" y="3776087"/>
            <a:ext cx="442943" cy="442943"/>
          </a:xfrm>
          <a:custGeom>
            <a:avLst/>
            <a:gdLst/>
            <a:ahLst/>
            <a:cxnLst/>
            <a:rect l="l" t="t" r="r" b="b"/>
            <a:pathLst>
              <a:path w="442943" h="442943">
                <a:moveTo>
                  <a:pt x="221471" y="0"/>
                </a:moveTo>
                <a:lnTo>
                  <a:pt x="221471" y="0"/>
                </a:lnTo>
                <a:cubicBezTo>
                  <a:pt x="343705" y="0"/>
                  <a:pt x="442943" y="99238"/>
                  <a:pt x="442943" y="221471"/>
                </a:cubicBezTo>
                <a:lnTo>
                  <a:pt x="442943" y="221471"/>
                </a:lnTo>
                <a:cubicBezTo>
                  <a:pt x="442943" y="343705"/>
                  <a:pt x="343705" y="442943"/>
                  <a:pt x="221471" y="442943"/>
                </a:cubicBezTo>
                <a:lnTo>
                  <a:pt x="221471" y="442943"/>
                </a:lnTo>
                <a:cubicBezTo>
                  <a:pt x="99238" y="442943"/>
                  <a:pt x="0" y="343705"/>
                  <a:pt x="0" y="221471"/>
                </a:cubicBezTo>
                <a:lnTo>
                  <a:pt x="0" y="221471"/>
                </a:lnTo>
                <a:cubicBezTo>
                  <a:pt x="0" y="99238"/>
                  <a:pt x="99238" y="0"/>
                  <a:pt x="221471" y="0"/>
                </a:cubicBezTo>
                <a:close/>
              </a:path>
            </a:pathLst>
          </a:custGeom>
          <a:solidFill>
            <a:srgbClr val="4C7E9A"/>
          </a:solidFill>
          <a:ln/>
        </p:spPr>
      </p:sp>
      <p:sp>
        <p:nvSpPr>
          <p:cNvPr id="43" name="Text 41"/>
          <p:cNvSpPr/>
          <p:nvPr/>
        </p:nvSpPr>
        <p:spPr>
          <a:xfrm>
            <a:off x="8423872" y="3776087"/>
            <a:ext cx="542605" cy="442943"/>
          </a:xfrm>
          <a:prstGeom prst="rect">
            <a:avLst/>
          </a:prstGeom>
          <a:noFill/>
          <a:ln/>
        </p:spPr>
        <p:txBody>
          <a:bodyPr wrap="square" lIns="0" tIns="0" rIns="0" bIns="0" rtlCol="0" anchor="ctr"/>
          <a:lstStyle/>
          <a:p>
            <a:pPr algn="ctr">
              <a:lnSpc>
                <a:spcPct val="130000"/>
              </a:lnSpc>
            </a:pPr>
            <a:r>
              <a:rPr lang="en-US" sz="1569" b="1" dirty="0">
                <a:solidFill>
                  <a:srgbClr val="181A1F"/>
                </a:solidFill>
                <a:latin typeface="MiSans" pitchFamily="34" charset="0"/>
                <a:ea typeface="MiSans" pitchFamily="34" charset="-122"/>
                <a:cs typeface="MiSans" pitchFamily="34" charset="-120"/>
              </a:rPr>
              <a:t>3</a:t>
            </a:r>
            <a:endParaRPr lang="en-US" sz="1600" dirty="0"/>
          </a:p>
        </p:txBody>
      </p:sp>
      <p:sp>
        <p:nvSpPr>
          <p:cNvPr id="44" name="Text 42"/>
          <p:cNvSpPr/>
          <p:nvPr/>
        </p:nvSpPr>
        <p:spPr>
          <a:xfrm>
            <a:off x="9049529" y="3776087"/>
            <a:ext cx="6633068" cy="310060"/>
          </a:xfrm>
          <a:prstGeom prst="rect">
            <a:avLst/>
          </a:prstGeom>
          <a:noFill/>
          <a:ln/>
        </p:spPr>
        <p:txBody>
          <a:bodyPr wrap="square" lIns="0" tIns="0" rIns="0" bIns="0" rtlCol="0" anchor="ctr"/>
          <a:lstStyle/>
          <a:p>
            <a:pPr>
              <a:lnSpc>
                <a:spcPct val="130000"/>
              </a:lnSpc>
            </a:pPr>
            <a:r>
              <a:rPr lang="en-US" sz="1569" b="1" dirty="0">
                <a:solidFill>
                  <a:srgbClr val="D1D5DB"/>
                </a:solidFill>
                <a:latin typeface="MiSans" pitchFamily="34" charset="0"/>
                <a:ea typeface="MiSans" pitchFamily="34" charset="-122"/>
                <a:cs typeface="MiSans" pitchFamily="34" charset="-120"/>
              </a:rPr>
              <a:t>结果聚合</a:t>
            </a:r>
            <a:endParaRPr lang="en-US" sz="1600" dirty="0"/>
          </a:p>
        </p:txBody>
      </p:sp>
      <p:sp>
        <p:nvSpPr>
          <p:cNvPr id="45" name="Text 43"/>
          <p:cNvSpPr/>
          <p:nvPr/>
        </p:nvSpPr>
        <p:spPr>
          <a:xfrm>
            <a:off x="9049529" y="4130441"/>
            <a:ext cx="6610921" cy="221471"/>
          </a:xfrm>
          <a:prstGeom prst="rect">
            <a:avLst/>
          </a:prstGeom>
          <a:noFill/>
          <a:ln/>
        </p:spPr>
        <p:txBody>
          <a:bodyPr wrap="square" lIns="0" tIns="0" rIns="0" bIns="0" rtlCol="0" anchor="ctr"/>
          <a:lstStyle/>
          <a:p>
            <a:pPr>
              <a:lnSpc>
                <a:spcPct val="120000"/>
              </a:lnSpc>
            </a:pPr>
            <a:r>
              <a:rPr lang="en-US" sz="1221" dirty="0">
                <a:solidFill>
                  <a:srgbClr val="7E9AA8"/>
                </a:solidFill>
                <a:latin typeface="MiSans" pitchFamily="34" charset="0"/>
                <a:ea typeface="MiSans" pitchFamily="34" charset="-122"/>
                <a:cs typeface="MiSans" pitchFamily="34" charset="-120"/>
              </a:rPr>
              <a:t>分类：多数投票；回归：简单平均</a:t>
            </a:r>
            <a:endParaRPr lang="en-US" sz="1600" dirty="0"/>
          </a:p>
        </p:txBody>
      </p:sp>
      <p:sp>
        <p:nvSpPr>
          <p:cNvPr id="46" name="Shape 44"/>
          <p:cNvSpPr/>
          <p:nvPr/>
        </p:nvSpPr>
        <p:spPr>
          <a:xfrm>
            <a:off x="8473703" y="4573384"/>
            <a:ext cx="7109232" cy="1860360"/>
          </a:xfrm>
          <a:custGeom>
            <a:avLst/>
            <a:gdLst/>
            <a:ahLst/>
            <a:cxnLst/>
            <a:rect l="l" t="t" r="r" b="b"/>
            <a:pathLst>
              <a:path w="7109232" h="1860360">
                <a:moveTo>
                  <a:pt x="88590" y="0"/>
                </a:moveTo>
                <a:lnTo>
                  <a:pt x="7020641" y="0"/>
                </a:lnTo>
                <a:cubicBezTo>
                  <a:pt x="7069568" y="0"/>
                  <a:pt x="7109232" y="39663"/>
                  <a:pt x="7109232" y="88590"/>
                </a:cubicBezTo>
                <a:lnTo>
                  <a:pt x="7109232" y="1771769"/>
                </a:lnTo>
                <a:cubicBezTo>
                  <a:pt x="7109232" y="1820696"/>
                  <a:pt x="7069568" y="1860360"/>
                  <a:pt x="7020641" y="1860360"/>
                </a:cubicBezTo>
                <a:lnTo>
                  <a:pt x="88590" y="1860360"/>
                </a:lnTo>
                <a:cubicBezTo>
                  <a:pt x="39663" y="1860360"/>
                  <a:pt x="0" y="1820696"/>
                  <a:pt x="0" y="1771769"/>
                </a:cubicBezTo>
                <a:lnTo>
                  <a:pt x="0" y="88590"/>
                </a:lnTo>
                <a:cubicBezTo>
                  <a:pt x="0" y="39663"/>
                  <a:pt x="39663" y="0"/>
                  <a:pt x="88590" y="0"/>
                </a:cubicBezTo>
                <a:close/>
              </a:path>
            </a:pathLst>
          </a:custGeom>
          <a:solidFill>
            <a:srgbClr val="181A1F">
              <a:alpha val="50196"/>
            </a:srgbClr>
          </a:solidFill>
          <a:ln/>
        </p:spPr>
      </p:sp>
      <p:sp>
        <p:nvSpPr>
          <p:cNvPr id="47" name="Text 45"/>
          <p:cNvSpPr/>
          <p:nvPr/>
        </p:nvSpPr>
        <p:spPr>
          <a:xfrm>
            <a:off x="8650880" y="4750561"/>
            <a:ext cx="6854540" cy="310060"/>
          </a:xfrm>
          <a:prstGeom prst="rect">
            <a:avLst/>
          </a:prstGeom>
          <a:noFill/>
          <a:ln/>
        </p:spPr>
        <p:txBody>
          <a:bodyPr wrap="square" lIns="0" tIns="0" rIns="0" bIns="0" rtlCol="0" anchor="ctr"/>
          <a:lstStyle/>
          <a:p>
            <a:pPr>
              <a:lnSpc>
                <a:spcPct val="130000"/>
              </a:lnSpc>
            </a:pPr>
            <a:r>
              <a:rPr lang="en-US" sz="1569" b="1" dirty="0">
                <a:solidFill>
                  <a:srgbClr val="D1D5DB"/>
                </a:solidFill>
                <a:latin typeface="MiSans" pitchFamily="34" charset="0"/>
                <a:ea typeface="MiSans" pitchFamily="34" charset="-122"/>
                <a:cs typeface="MiSans" pitchFamily="34" charset="-120"/>
              </a:rPr>
              <a:t>数学表达</a:t>
            </a:r>
            <a:endParaRPr lang="en-US" sz="1600" dirty="0"/>
          </a:p>
        </p:txBody>
      </p:sp>
      <p:sp>
        <p:nvSpPr>
          <p:cNvPr id="48" name="Shape 46"/>
          <p:cNvSpPr/>
          <p:nvPr/>
        </p:nvSpPr>
        <p:spPr>
          <a:xfrm>
            <a:off x="8650880" y="5149210"/>
            <a:ext cx="6754877" cy="575826"/>
          </a:xfrm>
          <a:custGeom>
            <a:avLst/>
            <a:gdLst/>
            <a:ahLst/>
            <a:cxnLst/>
            <a:rect l="l" t="t" r="r" b="b"/>
            <a:pathLst>
              <a:path w="6754877" h="575826">
                <a:moveTo>
                  <a:pt x="44293" y="0"/>
                </a:moveTo>
                <a:lnTo>
                  <a:pt x="6710585" y="0"/>
                </a:lnTo>
                <a:cubicBezTo>
                  <a:pt x="6735047" y="0"/>
                  <a:pt x="6754877" y="19830"/>
                  <a:pt x="6754877" y="44293"/>
                </a:cubicBezTo>
                <a:lnTo>
                  <a:pt x="6754877" y="531533"/>
                </a:lnTo>
                <a:cubicBezTo>
                  <a:pt x="6754877" y="555995"/>
                  <a:pt x="6735047" y="575826"/>
                  <a:pt x="6710585" y="575826"/>
                </a:cubicBezTo>
                <a:lnTo>
                  <a:pt x="44293" y="575826"/>
                </a:lnTo>
                <a:cubicBezTo>
                  <a:pt x="19830" y="575826"/>
                  <a:pt x="0" y="555995"/>
                  <a:pt x="0" y="531533"/>
                </a:cubicBezTo>
                <a:lnTo>
                  <a:pt x="0" y="44293"/>
                </a:lnTo>
                <a:cubicBezTo>
                  <a:pt x="0" y="19847"/>
                  <a:pt x="19847" y="0"/>
                  <a:pt x="44293" y="0"/>
                </a:cubicBezTo>
                <a:close/>
              </a:path>
            </a:pathLst>
          </a:custGeom>
          <a:solidFill>
            <a:srgbClr val="181A1F"/>
          </a:solidFill>
          <a:ln/>
        </p:spPr>
      </p:sp>
      <p:sp>
        <p:nvSpPr>
          <p:cNvPr id="49" name="Text 47"/>
          <p:cNvSpPr/>
          <p:nvPr/>
        </p:nvSpPr>
        <p:spPr>
          <a:xfrm>
            <a:off x="8728395" y="5282093"/>
            <a:ext cx="6599847" cy="310060"/>
          </a:xfrm>
          <a:prstGeom prst="rect">
            <a:avLst/>
          </a:prstGeom>
          <a:noFill/>
          <a:ln/>
        </p:spPr>
        <p:txBody>
          <a:bodyPr wrap="square" lIns="0" tIns="0" rIns="0" bIns="0" rtlCol="0" anchor="ctr"/>
          <a:lstStyle/>
          <a:p>
            <a:pPr algn="ctr">
              <a:lnSpc>
                <a:spcPct val="120000"/>
              </a:lnSpc>
            </a:pPr>
            <a:r>
              <a:rPr lang="en-US" sz="1744" dirty="0">
                <a:solidFill>
                  <a:srgbClr val="7E9AA8"/>
                </a:solidFill>
                <a:latin typeface="Noto Sans SC" pitchFamily="34" charset="0"/>
                <a:ea typeface="Noto Sans SC" pitchFamily="34" charset="-122"/>
                <a:cs typeface="Noto Sans SC" pitchFamily="34" charset="-120"/>
              </a:rPr>
              <a:t>f(x) = (1/T) ∑ f_t(x)</a:t>
            </a:r>
            <a:endParaRPr lang="en-US" sz="1600" dirty="0"/>
          </a:p>
        </p:txBody>
      </p:sp>
      <p:sp>
        <p:nvSpPr>
          <p:cNvPr id="50" name="Text 48"/>
          <p:cNvSpPr/>
          <p:nvPr/>
        </p:nvSpPr>
        <p:spPr>
          <a:xfrm>
            <a:off x="8650880" y="5813624"/>
            <a:ext cx="6832392" cy="442943"/>
          </a:xfrm>
          <a:prstGeom prst="rect">
            <a:avLst/>
          </a:prstGeom>
          <a:noFill/>
          <a:ln/>
        </p:spPr>
        <p:txBody>
          <a:bodyPr wrap="square" lIns="0" tIns="0" rIns="0" bIns="0" rtlCol="0" anchor="ctr"/>
          <a:lstStyle/>
          <a:p>
            <a:pPr>
              <a:lnSpc>
                <a:spcPct val="120000"/>
              </a:lnSpc>
            </a:pPr>
            <a:r>
              <a:rPr lang="en-US" sz="1221" dirty="0">
                <a:solidFill>
                  <a:srgbClr val="7E9AA8"/>
                </a:solidFill>
                <a:latin typeface="MiSans" pitchFamily="34" charset="0"/>
                <a:ea typeface="MiSans" pitchFamily="34" charset="-122"/>
                <a:cs typeface="MiSans" pitchFamily="34" charset="-120"/>
              </a:rPr>
              <a:t>T：基学习器数量</a:t>
            </a:r>
            <a:endParaRPr lang="en-US" sz="1600" dirty="0"/>
          </a:p>
          <a:p>
            <a:pPr>
              <a:lnSpc>
                <a:spcPct val="120000"/>
              </a:lnSpc>
            </a:pPr>
            <a:r>
              <a:rPr lang="en-US" sz="1221" dirty="0">
                <a:solidFill>
                  <a:srgbClr val="7E9AA8"/>
                </a:solidFill>
                <a:latin typeface="MiSans" pitchFamily="34" charset="0"/>
                <a:ea typeface="MiSans" pitchFamily="34" charset="-122"/>
                <a:cs typeface="MiSans" pitchFamily="34" charset="-120"/>
              </a:rPr>
              <a:t>f_t：第t个基学习器</a:t>
            </a:r>
            <a:endParaRPr lang="en-US" sz="1600" dirty="0"/>
          </a:p>
        </p:txBody>
      </p:sp>
      <p:sp>
        <p:nvSpPr>
          <p:cNvPr id="51" name="Shape 49"/>
          <p:cNvSpPr/>
          <p:nvPr/>
        </p:nvSpPr>
        <p:spPr>
          <a:xfrm>
            <a:off x="8473703" y="6610921"/>
            <a:ext cx="7109232" cy="1506005"/>
          </a:xfrm>
          <a:custGeom>
            <a:avLst/>
            <a:gdLst/>
            <a:ahLst/>
            <a:cxnLst/>
            <a:rect l="l" t="t" r="r" b="b"/>
            <a:pathLst>
              <a:path w="7109232" h="1506005">
                <a:moveTo>
                  <a:pt x="88583" y="0"/>
                </a:moveTo>
                <a:lnTo>
                  <a:pt x="7020648" y="0"/>
                </a:lnTo>
                <a:cubicBezTo>
                  <a:pt x="7069572" y="0"/>
                  <a:pt x="7109232" y="39660"/>
                  <a:pt x="7109232" y="88583"/>
                </a:cubicBezTo>
                <a:lnTo>
                  <a:pt x="7109232" y="1417422"/>
                </a:lnTo>
                <a:cubicBezTo>
                  <a:pt x="7109232" y="1466345"/>
                  <a:pt x="7069572" y="1506005"/>
                  <a:pt x="7020648" y="1506005"/>
                </a:cubicBezTo>
                <a:lnTo>
                  <a:pt x="88583" y="1506005"/>
                </a:lnTo>
                <a:cubicBezTo>
                  <a:pt x="39660" y="1506005"/>
                  <a:pt x="0" y="1466345"/>
                  <a:pt x="0" y="1417422"/>
                </a:cubicBezTo>
                <a:lnTo>
                  <a:pt x="0" y="88583"/>
                </a:lnTo>
                <a:cubicBezTo>
                  <a:pt x="0" y="39693"/>
                  <a:pt x="39693" y="0"/>
                  <a:pt x="88583" y="0"/>
                </a:cubicBezTo>
                <a:close/>
              </a:path>
            </a:pathLst>
          </a:custGeom>
          <a:solidFill>
            <a:srgbClr val="4C7E9A">
              <a:alpha val="10196"/>
            </a:srgbClr>
          </a:solidFill>
          <a:ln/>
        </p:spPr>
      </p:sp>
      <p:sp>
        <p:nvSpPr>
          <p:cNvPr id="52" name="Text 50"/>
          <p:cNvSpPr/>
          <p:nvPr/>
        </p:nvSpPr>
        <p:spPr>
          <a:xfrm>
            <a:off x="8650880" y="6788098"/>
            <a:ext cx="6854540" cy="310060"/>
          </a:xfrm>
          <a:prstGeom prst="rect">
            <a:avLst/>
          </a:prstGeom>
          <a:noFill/>
          <a:ln/>
        </p:spPr>
        <p:txBody>
          <a:bodyPr wrap="square" lIns="0" tIns="0" rIns="0" bIns="0" rtlCol="0" anchor="ctr"/>
          <a:lstStyle/>
          <a:p>
            <a:pPr>
              <a:lnSpc>
                <a:spcPct val="130000"/>
              </a:lnSpc>
            </a:pPr>
            <a:r>
              <a:rPr lang="en-US" sz="1569" b="1" dirty="0">
                <a:solidFill>
                  <a:srgbClr val="4C7E9A"/>
                </a:solidFill>
                <a:latin typeface="MiSans" pitchFamily="34" charset="0"/>
                <a:ea typeface="MiSans" pitchFamily="34" charset="-122"/>
                <a:cs typeface="MiSans" pitchFamily="34" charset="-120"/>
              </a:rPr>
              <a:t>适用场景</a:t>
            </a:r>
            <a:endParaRPr lang="en-US" sz="1600" dirty="0"/>
          </a:p>
        </p:txBody>
      </p:sp>
      <p:sp>
        <p:nvSpPr>
          <p:cNvPr id="53" name="Shape 51"/>
          <p:cNvSpPr/>
          <p:nvPr/>
        </p:nvSpPr>
        <p:spPr>
          <a:xfrm>
            <a:off x="8682717" y="7219967"/>
            <a:ext cx="135651" cy="155030"/>
          </a:xfrm>
          <a:custGeom>
            <a:avLst/>
            <a:gdLst/>
            <a:ahLst/>
            <a:cxnLst/>
            <a:rect l="l" t="t" r="r" b="b"/>
            <a:pathLst>
              <a:path w="135651" h="155030">
                <a:moveTo>
                  <a:pt x="131654" y="21226"/>
                </a:moveTo>
                <a:cubicBezTo>
                  <a:pt x="135984" y="24375"/>
                  <a:pt x="136953" y="30431"/>
                  <a:pt x="133804" y="34761"/>
                </a:cubicBezTo>
                <a:lnTo>
                  <a:pt x="56289" y="141344"/>
                </a:lnTo>
                <a:cubicBezTo>
                  <a:pt x="54624" y="143645"/>
                  <a:pt x="52050" y="145068"/>
                  <a:pt x="49204" y="145310"/>
                </a:cubicBezTo>
                <a:cubicBezTo>
                  <a:pt x="46358" y="145553"/>
                  <a:pt x="43602" y="144493"/>
                  <a:pt x="41604" y="142494"/>
                </a:cubicBezTo>
                <a:lnTo>
                  <a:pt x="2846" y="103737"/>
                </a:lnTo>
                <a:cubicBezTo>
                  <a:pt x="-939" y="99952"/>
                  <a:pt x="-939" y="93805"/>
                  <a:pt x="2846" y="90020"/>
                </a:cubicBezTo>
                <a:cubicBezTo>
                  <a:pt x="6631" y="86235"/>
                  <a:pt x="12778" y="86235"/>
                  <a:pt x="16563" y="90020"/>
                </a:cubicBezTo>
                <a:lnTo>
                  <a:pt x="47296" y="120754"/>
                </a:lnTo>
                <a:lnTo>
                  <a:pt x="118150" y="23345"/>
                </a:lnTo>
                <a:cubicBezTo>
                  <a:pt x="121299" y="19015"/>
                  <a:pt x="127355" y="18046"/>
                  <a:pt x="131685" y="21196"/>
                </a:cubicBezTo>
                <a:close/>
              </a:path>
            </a:pathLst>
          </a:custGeom>
          <a:solidFill>
            <a:srgbClr val="4C7E9A"/>
          </a:solidFill>
          <a:ln/>
        </p:spPr>
      </p:sp>
      <p:sp>
        <p:nvSpPr>
          <p:cNvPr id="54" name="Text 52"/>
          <p:cNvSpPr/>
          <p:nvPr/>
        </p:nvSpPr>
        <p:spPr>
          <a:xfrm>
            <a:off x="8927448" y="7186747"/>
            <a:ext cx="6555825" cy="221471"/>
          </a:xfrm>
          <a:prstGeom prst="rect">
            <a:avLst/>
          </a:prstGeom>
          <a:noFill/>
          <a:ln/>
        </p:spPr>
        <p:txBody>
          <a:bodyPr wrap="square" lIns="0" tIns="0" rIns="0" bIns="0" rtlCol="0" anchor="ctr"/>
          <a:lstStyle/>
          <a:p>
            <a:pPr>
              <a:lnSpc>
                <a:spcPct val="120000"/>
              </a:lnSpc>
            </a:pPr>
            <a:r>
              <a:rPr lang="en-US" sz="1221" dirty="0">
                <a:solidFill>
                  <a:srgbClr val="7E9AA8"/>
                </a:solidFill>
                <a:latin typeface="MiSans" pitchFamily="34" charset="0"/>
                <a:ea typeface="MiSans" pitchFamily="34" charset="-122"/>
                <a:cs typeface="MiSans" pitchFamily="34" charset="-120"/>
              </a:rPr>
              <a:t>高方差模型（深度决策树）</a:t>
            </a:r>
            <a:endParaRPr lang="en-US" sz="1600" dirty="0"/>
          </a:p>
        </p:txBody>
      </p:sp>
      <p:sp>
        <p:nvSpPr>
          <p:cNvPr id="55" name="Shape 53"/>
          <p:cNvSpPr/>
          <p:nvPr/>
        </p:nvSpPr>
        <p:spPr>
          <a:xfrm>
            <a:off x="8682717" y="7485733"/>
            <a:ext cx="135651" cy="155030"/>
          </a:xfrm>
          <a:custGeom>
            <a:avLst/>
            <a:gdLst/>
            <a:ahLst/>
            <a:cxnLst/>
            <a:rect l="l" t="t" r="r" b="b"/>
            <a:pathLst>
              <a:path w="135651" h="155030">
                <a:moveTo>
                  <a:pt x="131654" y="21226"/>
                </a:moveTo>
                <a:cubicBezTo>
                  <a:pt x="135984" y="24375"/>
                  <a:pt x="136953" y="30431"/>
                  <a:pt x="133804" y="34761"/>
                </a:cubicBezTo>
                <a:lnTo>
                  <a:pt x="56289" y="141344"/>
                </a:lnTo>
                <a:cubicBezTo>
                  <a:pt x="54624" y="143645"/>
                  <a:pt x="52050" y="145068"/>
                  <a:pt x="49204" y="145310"/>
                </a:cubicBezTo>
                <a:cubicBezTo>
                  <a:pt x="46358" y="145553"/>
                  <a:pt x="43602" y="144493"/>
                  <a:pt x="41604" y="142494"/>
                </a:cubicBezTo>
                <a:lnTo>
                  <a:pt x="2846" y="103737"/>
                </a:lnTo>
                <a:cubicBezTo>
                  <a:pt x="-939" y="99952"/>
                  <a:pt x="-939" y="93805"/>
                  <a:pt x="2846" y="90020"/>
                </a:cubicBezTo>
                <a:cubicBezTo>
                  <a:pt x="6631" y="86235"/>
                  <a:pt x="12778" y="86235"/>
                  <a:pt x="16563" y="90020"/>
                </a:cubicBezTo>
                <a:lnTo>
                  <a:pt x="47296" y="120754"/>
                </a:lnTo>
                <a:lnTo>
                  <a:pt x="118150" y="23345"/>
                </a:lnTo>
                <a:cubicBezTo>
                  <a:pt x="121299" y="19015"/>
                  <a:pt x="127355" y="18046"/>
                  <a:pt x="131685" y="21196"/>
                </a:cubicBezTo>
                <a:close/>
              </a:path>
            </a:pathLst>
          </a:custGeom>
          <a:solidFill>
            <a:srgbClr val="4C7E9A"/>
          </a:solidFill>
          <a:ln/>
        </p:spPr>
      </p:sp>
      <p:sp>
        <p:nvSpPr>
          <p:cNvPr id="56" name="Text 54"/>
          <p:cNvSpPr/>
          <p:nvPr/>
        </p:nvSpPr>
        <p:spPr>
          <a:xfrm>
            <a:off x="8927448" y="7452512"/>
            <a:ext cx="6555825" cy="221471"/>
          </a:xfrm>
          <a:prstGeom prst="rect">
            <a:avLst/>
          </a:prstGeom>
          <a:noFill/>
          <a:ln/>
        </p:spPr>
        <p:txBody>
          <a:bodyPr wrap="square" lIns="0" tIns="0" rIns="0" bIns="0" rtlCol="0" anchor="ctr"/>
          <a:lstStyle/>
          <a:p>
            <a:pPr>
              <a:lnSpc>
                <a:spcPct val="120000"/>
              </a:lnSpc>
            </a:pPr>
            <a:r>
              <a:rPr lang="en-US" sz="1221" dirty="0">
                <a:solidFill>
                  <a:srgbClr val="7E9AA8"/>
                </a:solidFill>
                <a:latin typeface="MiSans" pitchFamily="34" charset="0"/>
                <a:ea typeface="MiSans" pitchFamily="34" charset="-122"/>
                <a:cs typeface="MiSans" pitchFamily="34" charset="-120"/>
              </a:rPr>
              <a:t>数据集存在噪声</a:t>
            </a:r>
            <a:endParaRPr lang="en-US" sz="1600" dirty="0"/>
          </a:p>
        </p:txBody>
      </p:sp>
      <p:sp>
        <p:nvSpPr>
          <p:cNvPr id="57" name="Shape 55"/>
          <p:cNvSpPr/>
          <p:nvPr/>
        </p:nvSpPr>
        <p:spPr>
          <a:xfrm>
            <a:off x="8682717" y="7751499"/>
            <a:ext cx="135651" cy="155030"/>
          </a:xfrm>
          <a:custGeom>
            <a:avLst/>
            <a:gdLst/>
            <a:ahLst/>
            <a:cxnLst/>
            <a:rect l="l" t="t" r="r" b="b"/>
            <a:pathLst>
              <a:path w="135651" h="155030">
                <a:moveTo>
                  <a:pt x="131654" y="21226"/>
                </a:moveTo>
                <a:cubicBezTo>
                  <a:pt x="135984" y="24375"/>
                  <a:pt x="136953" y="30431"/>
                  <a:pt x="133804" y="34761"/>
                </a:cubicBezTo>
                <a:lnTo>
                  <a:pt x="56289" y="141344"/>
                </a:lnTo>
                <a:cubicBezTo>
                  <a:pt x="54624" y="143645"/>
                  <a:pt x="52050" y="145068"/>
                  <a:pt x="49204" y="145310"/>
                </a:cubicBezTo>
                <a:cubicBezTo>
                  <a:pt x="46358" y="145553"/>
                  <a:pt x="43602" y="144493"/>
                  <a:pt x="41604" y="142494"/>
                </a:cubicBezTo>
                <a:lnTo>
                  <a:pt x="2846" y="103737"/>
                </a:lnTo>
                <a:cubicBezTo>
                  <a:pt x="-939" y="99952"/>
                  <a:pt x="-939" y="93805"/>
                  <a:pt x="2846" y="90020"/>
                </a:cubicBezTo>
                <a:cubicBezTo>
                  <a:pt x="6631" y="86235"/>
                  <a:pt x="12778" y="86235"/>
                  <a:pt x="16563" y="90020"/>
                </a:cubicBezTo>
                <a:lnTo>
                  <a:pt x="47296" y="120754"/>
                </a:lnTo>
                <a:lnTo>
                  <a:pt x="118150" y="23345"/>
                </a:lnTo>
                <a:cubicBezTo>
                  <a:pt x="121299" y="19015"/>
                  <a:pt x="127355" y="18046"/>
                  <a:pt x="131685" y="21196"/>
                </a:cubicBezTo>
                <a:close/>
              </a:path>
            </a:pathLst>
          </a:custGeom>
          <a:solidFill>
            <a:srgbClr val="4C7E9A"/>
          </a:solidFill>
          <a:ln/>
        </p:spPr>
      </p:sp>
      <p:sp>
        <p:nvSpPr>
          <p:cNvPr id="58" name="Text 56"/>
          <p:cNvSpPr/>
          <p:nvPr/>
        </p:nvSpPr>
        <p:spPr>
          <a:xfrm>
            <a:off x="8927448" y="7718278"/>
            <a:ext cx="6555825" cy="221471"/>
          </a:xfrm>
          <a:prstGeom prst="rect">
            <a:avLst/>
          </a:prstGeom>
          <a:noFill/>
          <a:ln/>
        </p:spPr>
        <p:txBody>
          <a:bodyPr wrap="square" lIns="0" tIns="0" rIns="0" bIns="0" rtlCol="0" anchor="ctr"/>
          <a:lstStyle/>
          <a:p>
            <a:pPr>
              <a:lnSpc>
                <a:spcPct val="120000"/>
              </a:lnSpc>
            </a:pPr>
            <a:r>
              <a:rPr lang="en-US" sz="1221" dirty="0">
                <a:solidFill>
                  <a:srgbClr val="7E9AA8"/>
                </a:solidFill>
                <a:latin typeface="MiSans" pitchFamily="34" charset="0"/>
                <a:ea typeface="MiSans" pitchFamily="34" charset="-122"/>
                <a:cs typeface="MiSans" pitchFamily="34" charset="-120"/>
              </a:rPr>
              <a:t>需要稳定的预测结果</a:t>
            </a:r>
            <a:endParaRPr lang="en-US" sz="1600" dirty="0"/>
          </a:p>
        </p:txBody>
      </p:sp>
    </p:spTree>
  </p:cSld>
  <p:clrMapOvr>
    <a:masterClrMapping/>
  </p:clrMapOvr>
  <p:transition>
    <p:fade/>
    <p:spd val="med"/>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BAGGING</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Bootstrap采样与OOB样本</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24000"/>
            <a:ext cx="7577667" cy="3164417"/>
          </a:xfrm>
          <a:custGeom>
            <a:avLst/>
            <a:gdLst/>
            <a:ahLst/>
            <a:cxnLst/>
            <a:rect l="l" t="t" r="r" b="b"/>
            <a:pathLst>
              <a:path w="7577667" h="3164417">
                <a:moveTo>
                  <a:pt x="42333" y="0"/>
                </a:moveTo>
                <a:lnTo>
                  <a:pt x="7492987" y="0"/>
                </a:lnTo>
                <a:cubicBezTo>
                  <a:pt x="7539754" y="0"/>
                  <a:pt x="7577667" y="37912"/>
                  <a:pt x="7577667" y="84680"/>
                </a:cubicBezTo>
                <a:lnTo>
                  <a:pt x="7577667" y="3079737"/>
                </a:lnTo>
                <a:cubicBezTo>
                  <a:pt x="7577667" y="3126504"/>
                  <a:pt x="7539754" y="3164417"/>
                  <a:pt x="7492987" y="3164417"/>
                </a:cubicBezTo>
                <a:lnTo>
                  <a:pt x="42333" y="3164417"/>
                </a:lnTo>
                <a:cubicBezTo>
                  <a:pt x="18953" y="3164417"/>
                  <a:pt x="0" y="3145463"/>
                  <a:pt x="0" y="3122083"/>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24000"/>
            <a:ext cx="42333" cy="3164417"/>
          </a:xfrm>
          <a:custGeom>
            <a:avLst/>
            <a:gdLst/>
            <a:ahLst/>
            <a:cxnLst/>
            <a:rect l="l" t="t" r="r" b="b"/>
            <a:pathLst>
              <a:path w="42333" h="3164417">
                <a:moveTo>
                  <a:pt x="42333" y="0"/>
                </a:moveTo>
                <a:lnTo>
                  <a:pt x="42333" y="0"/>
                </a:lnTo>
                <a:lnTo>
                  <a:pt x="42333" y="3164417"/>
                </a:lnTo>
                <a:lnTo>
                  <a:pt x="42333" y="3164417"/>
                </a:lnTo>
                <a:cubicBezTo>
                  <a:pt x="18953" y="3164417"/>
                  <a:pt x="0" y="3145463"/>
                  <a:pt x="0" y="3122083"/>
                </a:cubicBezTo>
                <a:lnTo>
                  <a:pt x="0" y="42333"/>
                </a:lnTo>
                <a:cubicBezTo>
                  <a:pt x="0" y="18953"/>
                  <a:pt x="18953" y="0"/>
                  <a:pt x="42333" y="0"/>
                </a:cubicBezTo>
                <a:close/>
              </a:path>
            </a:pathLst>
          </a:custGeom>
          <a:solidFill>
            <a:srgbClr val="4C7E9A"/>
          </a:solidFill>
          <a:ln/>
        </p:spPr>
      </p:sp>
      <p:sp>
        <p:nvSpPr>
          <p:cNvPr id="7" name="Text 5"/>
          <p:cNvSpPr/>
          <p:nvPr/>
        </p:nvSpPr>
        <p:spPr>
          <a:xfrm>
            <a:off x="635000" y="1693333"/>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Bootstrap采样机制</a:t>
            </a:r>
            <a:endParaRPr lang="en-US" sz="1600" dirty="0"/>
          </a:p>
        </p:txBody>
      </p:sp>
      <p:sp>
        <p:nvSpPr>
          <p:cNvPr id="8" name="Text 6"/>
          <p:cNvSpPr/>
          <p:nvPr/>
        </p:nvSpPr>
        <p:spPr>
          <a:xfrm>
            <a:off x="635000" y="2159000"/>
            <a:ext cx="7313083" cy="624417"/>
          </a:xfrm>
          <a:prstGeom prst="rect">
            <a:avLst/>
          </a:prstGeom>
          <a:noFill/>
          <a:ln/>
        </p:spPr>
        <p:txBody>
          <a:bodyPr wrap="square" lIns="0" tIns="0" rIns="0" bIns="0" rtlCol="0" anchor="ctr"/>
          <a:lstStyle/>
          <a:p>
            <a:pPr>
              <a:lnSpc>
                <a:spcPct val="140000"/>
              </a:lnSpc>
            </a:pPr>
            <a:r>
              <a:rPr lang="en-US" sz="1500" dirty="0">
                <a:solidFill>
                  <a:srgbClr val="D1D5DB"/>
                </a:solidFill>
                <a:latin typeface="MiSans" pitchFamily="34" charset="0"/>
                <a:ea typeface="MiSans" pitchFamily="34" charset="-122"/>
                <a:cs typeface="MiSans" pitchFamily="34" charset="-120"/>
              </a:rPr>
              <a:t>Bootstrap采样（自助采样）是Bagging的基石，它通过</a:t>
            </a:r>
            <a:pPr>
              <a:lnSpc>
                <a:spcPct val="140000"/>
              </a:lnSpc>
            </a:pPr>
            <a:r>
              <a:rPr lang="en-US" sz="1500" b="1" dirty="0">
                <a:solidFill>
                  <a:srgbClr val="4C7E9A"/>
                </a:solidFill>
                <a:latin typeface="MiSans" pitchFamily="34" charset="0"/>
                <a:ea typeface="MiSans" pitchFamily="34" charset="-122"/>
                <a:cs typeface="MiSans" pitchFamily="34" charset="-120"/>
              </a:rPr>
              <a:t>有放回抽样</a:t>
            </a:r>
            <a:pPr>
              <a:lnSpc>
                <a:spcPct val="140000"/>
              </a:lnSpc>
            </a:pPr>
            <a:r>
              <a:rPr lang="en-US" sz="1500" dirty="0">
                <a:solidFill>
                  <a:srgbClr val="D1D5DB"/>
                </a:solidFill>
                <a:latin typeface="MiSans" pitchFamily="34" charset="0"/>
                <a:ea typeface="MiSans" pitchFamily="34" charset="-122"/>
                <a:cs typeface="MiSans" pitchFamily="34" charset="-120"/>
              </a:rPr>
              <a:t>为每个基学习器构建了独特的训练环境，从而保证了模型的多样性。</a:t>
            </a:r>
            <a:endParaRPr lang="en-US" sz="1600" dirty="0"/>
          </a:p>
        </p:txBody>
      </p:sp>
      <p:sp>
        <p:nvSpPr>
          <p:cNvPr id="9" name="Shape 7"/>
          <p:cNvSpPr/>
          <p:nvPr/>
        </p:nvSpPr>
        <p:spPr>
          <a:xfrm>
            <a:off x="635000" y="2905125"/>
            <a:ext cx="7217833" cy="762000"/>
          </a:xfrm>
          <a:custGeom>
            <a:avLst/>
            <a:gdLst/>
            <a:ahLst/>
            <a:cxnLst/>
            <a:rect l="l" t="t" r="r" b="b"/>
            <a:pathLst>
              <a:path w="7217833" h="762000">
                <a:moveTo>
                  <a:pt x="42337" y="0"/>
                </a:moveTo>
                <a:lnTo>
                  <a:pt x="7175497" y="0"/>
                </a:lnTo>
                <a:cubicBezTo>
                  <a:pt x="7198879" y="0"/>
                  <a:pt x="7217833" y="18955"/>
                  <a:pt x="7217833" y="42337"/>
                </a:cubicBezTo>
                <a:lnTo>
                  <a:pt x="7217833" y="719663"/>
                </a:lnTo>
                <a:cubicBezTo>
                  <a:pt x="7217833" y="743045"/>
                  <a:pt x="7198879" y="762000"/>
                  <a:pt x="7175497" y="762000"/>
                </a:cubicBezTo>
                <a:lnTo>
                  <a:pt x="42337" y="762000"/>
                </a:lnTo>
                <a:cubicBezTo>
                  <a:pt x="18955" y="762000"/>
                  <a:pt x="0" y="743045"/>
                  <a:pt x="0" y="719663"/>
                </a:cubicBezTo>
                <a:lnTo>
                  <a:pt x="0" y="42337"/>
                </a:lnTo>
                <a:cubicBezTo>
                  <a:pt x="0" y="18955"/>
                  <a:pt x="18955" y="0"/>
                  <a:pt x="42337" y="0"/>
                </a:cubicBezTo>
                <a:close/>
              </a:path>
            </a:pathLst>
          </a:custGeom>
          <a:solidFill>
            <a:srgbClr val="181A1F">
              <a:alpha val="50196"/>
            </a:srgbClr>
          </a:solidFill>
          <a:ln/>
        </p:spPr>
      </p:sp>
      <p:sp>
        <p:nvSpPr>
          <p:cNvPr id="10" name="Text 8"/>
          <p:cNvSpPr/>
          <p:nvPr/>
        </p:nvSpPr>
        <p:spPr>
          <a:xfrm>
            <a:off x="762000" y="3032125"/>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采样过程</a:t>
            </a:r>
            <a:endParaRPr lang="en-US" sz="1600" dirty="0"/>
          </a:p>
        </p:txBody>
      </p:sp>
      <p:sp>
        <p:nvSpPr>
          <p:cNvPr id="11" name="Text 9"/>
          <p:cNvSpPr/>
          <p:nvPr/>
        </p:nvSpPr>
        <p:spPr>
          <a:xfrm>
            <a:off x="762000" y="3328458"/>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从包含N个样本的数据集D中，通过有放回抽样生成T个样本集D₁,...,D_T</a:t>
            </a:r>
            <a:endParaRPr lang="en-US" sz="1600" dirty="0"/>
          </a:p>
        </p:txBody>
      </p:sp>
      <p:sp>
        <p:nvSpPr>
          <p:cNvPr id="12" name="Shape 10"/>
          <p:cNvSpPr/>
          <p:nvPr/>
        </p:nvSpPr>
        <p:spPr>
          <a:xfrm>
            <a:off x="635000" y="3751792"/>
            <a:ext cx="7217833" cy="762000"/>
          </a:xfrm>
          <a:custGeom>
            <a:avLst/>
            <a:gdLst/>
            <a:ahLst/>
            <a:cxnLst/>
            <a:rect l="l" t="t" r="r" b="b"/>
            <a:pathLst>
              <a:path w="7217833" h="762000">
                <a:moveTo>
                  <a:pt x="42337" y="0"/>
                </a:moveTo>
                <a:lnTo>
                  <a:pt x="7175497" y="0"/>
                </a:lnTo>
                <a:cubicBezTo>
                  <a:pt x="7198879" y="0"/>
                  <a:pt x="7217833" y="18955"/>
                  <a:pt x="7217833" y="42337"/>
                </a:cubicBezTo>
                <a:lnTo>
                  <a:pt x="7217833" y="719663"/>
                </a:lnTo>
                <a:cubicBezTo>
                  <a:pt x="7217833" y="743045"/>
                  <a:pt x="7198879" y="762000"/>
                  <a:pt x="7175497" y="762000"/>
                </a:cubicBezTo>
                <a:lnTo>
                  <a:pt x="42337" y="762000"/>
                </a:lnTo>
                <a:cubicBezTo>
                  <a:pt x="18955" y="762000"/>
                  <a:pt x="0" y="743045"/>
                  <a:pt x="0" y="719663"/>
                </a:cubicBezTo>
                <a:lnTo>
                  <a:pt x="0" y="42337"/>
                </a:lnTo>
                <a:cubicBezTo>
                  <a:pt x="0" y="18955"/>
                  <a:pt x="18955" y="0"/>
                  <a:pt x="42337" y="0"/>
                </a:cubicBezTo>
                <a:close/>
              </a:path>
            </a:pathLst>
          </a:custGeom>
          <a:solidFill>
            <a:srgbClr val="181A1F">
              <a:alpha val="50196"/>
            </a:srgbClr>
          </a:solidFill>
          <a:ln/>
        </p:spPr>
      </p:sp>
      <p:sp>
        <p:nvSpPr>
          <p:cNvPr id="13" name="Text 11"/>
          <p:cNvSpPr/>
          <p:nvPr/>
        </p:nvSpPr>
        <p:spPr>
          <a:xfrm>
            <a:off x="762000" y="3878792"/>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重要特性</a:t>
            </a:r>
            <a:endParaRPr lang="en-US" sz="1600" dirty="0"/>
          </a:p>
        </p:txBody>
      </p:sp>
      <p:sp>
        <p:nvSpPr>
          <p:cNvPr id="14" name="Text 12"/>
          <p:cNvSpPr/>
          <p:nvPr/>
        </p:nvSpPr>
        <p:spPr>
          <a:xfrm>
            <a:off x="762000" y="4175125"/>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由于是有放回抽样，每个D_i可能包含重复样本，也可能遗漏一些样本</a:t>
            </a:r>
            <a:endParaRPr lang="en-US" sz="1600" dirty="0"/>
          </a:p>
        </p:txBody>
      </p:sp>
      <p:sp>
        <p:nvSpPr>
          <p:cNvPr id="15" name="Shape 13"/>
          <p:cNvSpPr/>
          <p:nvPr/>
        </p:nvSpPr>
        <p:spPr>
          <a:xfrm>
            <a:off x="444500" y="4852458"/>
            <a:ext cx="7577667" cy="2825750"/>
          </a:xfrm>
          <a:custGeom>
            <a:avLst/>
            <a:gdLst/>
            <a:ahLst/>
            <a:cxnLst/>
            <a:rect l="l" t="t" r="r" b="b"/>
            <a:pathLst>
              <a:path w="7577667" h="2825750">
                <a:moveTo>
                  <a:pt x="42333" y="0"/>
                </a:moveTo>
                <a:lnTo>
                  <a:pt x="7493007" y="0"/>
                </a:lnTo>
                <a:cubicBezTo>
                  <a:pt x="7539763" y="0"/>
                  <a:pt x="7577667" y="37903"/>
                  <a:pt x="7577667" y="84659"/>
                </a:cubicBezTo>
                <a:lnTo>
                  <a:pt x="7577667" y="2741091"/>
                </a:lnTo>
                <a:cubicBezTo>
                  <a:pt x="7577667" y="2787847"/>
                  <a:pt x="7539763" y="2825750"/>
                  <a:pt x="7493007" y="2825750"/>
                </a:cubicBezTo>
                <a:lnTo>
                  <a:pt x="42333" y="2825750"/>
                </a:lnTo>
                <a:cubicBezTo>
                  <a:pt x="18953" y="2825750"/>
                  <a:pt x="0" y="2806797"/>
                  <a:pt x="0" y="2783417"/>
                </a:cubicBezTo>
                <a:lnTo>
                  <a:pt x="0" y="42333"/>
                </a:lnTo>
                <a:cubicBezTo>
                  <a:pt x="0" y="18953"/>
                  <a:pt x="18953" y="0"/>
                  <a:pt x="42333" y="0"/>
                </a:cubicBezTo>
                <a:close/>
              </a:path>
            </a:pathLst>
          </a:custGeom>
          <a:solidFill>
            <a:srgbClr val="3A5E78">
              <a:alpha val="20000"/>
            </a:srgbClr>
          </a:solidFill>
          <a:ln/>
        </p:spPr>
      </p:sp>
      <p:sp>
        <p:nvSpPr>
          <p:cNvPr id="16" name="Shape 14"/>
          <p:cNvSpPr/>
          <p:nvPr/>
        </p:nvSpPr>
        <p:spPr>
          <a:xfrm>
            <a:off x="444500" y="4852458"/>
            <a:ext cx="42333" cy="2825750"/>
          </a:xfrm>
          <a:custGeom>
            <a:avLst/>
            <a:gdLst/>
            <a:ahLst/>
            <a:cxnLst/>
            <a:rect l="l" t="t" r="r" b="b"/>
            <a:pathLst>
              <a:path w="42333" h="2825750">
                <a:moveTo>
                  <a:pt x="42333" y="0"/>
                </a:moveTo>
                <a:lnTo>
                  <a:pt x="42333" y="0"/>
                </a:lnTo>
                <a:lnTo>
                  <a:pt x="42333" y="2825750"/>
                </a:lnTo>
                <a:lnTo>
                  <a:pt x="42333" y="2825750"/>
                </a:lnTo>
                <a:cubicBezTo>
                  <a:pt x="18953" y="2825750"/>
                  <a:pt x="0" y="2806797"/>
                  <a:pt x="0" y="2783417"/>
                </a:cubicBezTo>
                <a:lnTo>
                  <a:pt x="0" y="42333"/>
                </a:lnTo>
                <a:cubicBezTo>
                  <a:pt x="0" y="18953"/>
                  <a:pt x="18953" y="0"/>
                  <a:pt x="42333" y="0"/>
                </a:cubicBezTo>
                <a:close/>
              </a:path>
            </a:pathLst>
          </a:custGeom>
          <a:solidFill>
            <a:srgbClr val="7E9AA8"/>
          </a:solidFill>
          <a:ln/>
        </p:spPr>
      </p:sp>
      <p:sp>
        <p:nvSpPr>
          <p:cNvPr id="17" name="Text 15"/>
          <p:cNvSpPr/>
          <p:nvPr/>
        </p:nvSpPr>
        <p:spPr>
          <a:xfrm>
            <a:off x="635000" y="5021792"/>
            <a:ext cx="7344833"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OOB样本：天然的验证集</a:t>
            </a:r>
            <a:endParaRPr lang="en-US" sz="1600" dirty="0"/>
          </a:p>
        </p:txBody>
      </p:sp>
      <p:sp>
        <p:nvSpPr>
          <p:cNvPr id="18" name="Text 16"/>
          <p:cNvSpPr/>
          <p:nvPr/>
        </p:nvSpPr>
        <p:spPr>
          <a:xfrm>
            <a:off x="635000" y="5487458"/>
            <a:ext cx="7313083" cy="624417"/>
          </a:xfrm>
          <a:prstGeom prst="rect">
            <a:avLst/>
          </a:prstGeom>
          <a:noFill/>
          <a:ln/>
        </p:spPr>
        <p:txBody>
          <a:bodyPr wrap="square" lIns="0" tIns="0" rIns="0" bIns="0" rtlCol="0" anchor="ctr"/>
          <a:lstStyle/>
          <a:p>
            <a:pPr>
              <a:lnSpc>
                <a:spcPct val="140000"/>
              </a:lnSpc>
            </a:pPr>
            <a:r>
              <a:rPr lang="en-US" sz="1500" dirty="0">
                <a:solidFill>
                  <a:srgbClr val="D1D5DB"/>
                </a:solidFill>
                <a:latin typeface="MiSans" pitchFamily="34" charset="0"/>
                <a:ea typeface="MiSans" pitchFamily="34" charset="-122"/>
                <a:cs typeface="MiSans" pitchFamily="34" charset="-120"/>
              </a:rPr>
              <a:t>在Bootstrap采样过程中，约</a:t>
            </a:r>
            <a:pPr>
              <a:lnSpc>
                <a:spcPct val="140000"/>
              </a:lnSpc>
            </a:pPr>
            <a:r>
              <a:rPr lang="en-US" sz="1500" b="1" dirty="0">
                <a:solidFill>
                  <a:srgbClr val="4C7E9A"/>
                </a:solidFill>
                <a:latin typeface="MiSans" pitchFamily="34" charset="0"/>
                <a:ea typeface="MiSans" pitchFamily="34" charset="-122"/>
                <a:cs typeface="MiSans" pitchFamily="34" charset="-120"/>
              </a:rPr>
              <a:t>36.8%</a:t>
            </a:r>
            <a:pPr>
              <a:lnSpc>
                <a:spcPct val="140000"/>
              </a:lnSpc>
            </a:pPr>
            <a:r>
              <a:rPr lang="en-US" sz="1500" dirty="0">
                <a:solidFill>
                  <a:srgbClr val="D1D5DB"/>
                </a:solidFill>
                <a:latin typeface="MiSans" pitchFamily="34" charset="0"/>
                <a:ea typeface="MiSans" pitchFamily="34" charset="-122"/>
                <a:cs typeface="MiSans" pitchFamily="34" charset="-120"/>
              </a:rPr>
              <a:t>的样本未被使用。这些"被遗忘"的样本并非无用，而是天然的、高质量的</a:t>
            </a:r>
            <a:pPr>
              <a:lnSpc>
                <a:spcPct val="140000"/>
              </a:lnSpc>
            </a:pPr>
            <a:r>
              <a:rPr lang="en-US" sz="1500" b="1" dirty="0">
                <a:solidFill>
                  <a:srgbClr val="4C7E9A"/>
                </a:solidFill>
                <a:latin typeface="MiSans" pitchFamily="34" charset="0"/>
                <a:ea typeface="MiSans" pitchFamily="34" charset="-122"/>
                <a:cs typeface="MiSans" pitchFamily="34" charset="-120"/>
              </a:rPr>
              <a:t>验证集</a:t>
            </a:r>
            <a:pPr>
              <a:lnSpc>
                <a:spcPct val="140000"/>
              </a:lnSpc>
            </a:pPr>
            <a:r>
              <a:rPr lang="en-US" sz="1500" dirty="0">
                <a:solidFill>
                  <a:srgbClr val="D1D5DB"/>
                </a:solidFill>
                <a:latin typeface="MiSans" pitchFamily="34" charset="0"/>
                <a:ea typeface="MiSans" pitchFamily="34" charset="-122"/>
                <a:cs typeface="MiSans" pitchFamily="34" charset="-120"/>
              </a:rPr>
              <a:t>。</a:t>
            </a:r>
            <a:endParaRPr lang="en-US" sz="1600" dirty="0"/>
          </a:p>
        </p:txBody>
      </p:sp>
      <p:sp>
        <p:nvSpPr>
          <p:cNvPr id="19" name="Shape 17"/>
          <p:cNvSpPr/>
          <p:nvPr/>
        </p:nvSpPr>
        <p:spPr>
          <a:xfrm>
            <a:off x="635000" y="6233583"/>
            <a:ext cx="7217833" cy="1270000"/>
          </a:xfrm>
          <a:custGeom>
            <a:avLst/>
            <a:gdLst/>
            <a:ahLst/>
            <a:cxnLst/>
            <a:rect l="l" t="t" r="r" b="b"/>
            <a:pathLst>
              <a:path w="7217833" h="1270000">
                <a:moveTo>
                  <a:pt x="42329" y="0"/>
                </a:moveTo>
                <a:lnTo>
                  <a:pt x="7175504" y="0"/>
                </a:lnTo>
                <a:cubicBezTo>
                  <a:pt x="7198882" y="0"/>
                  <a:pt x="7217833" y="18951"/>
                  <a:pt x="7217833" y="42329"/>
                </a:cubicBezTo>
                <a:lnTo>
                  <a:pt x="7217833" y="1227671"/>
                </a:lnTo>
                <a:cubicBezTo>
                  <a:pt x="7217833" y="1251049"/>
                  <a:pt x="7198882" y="1270000"/>
                  <a:pt x="7175504" y="1270000"/>
                </a:cubicBezTo>
                <a:lnTo>
                  <a:pt x="42329" y="1270000"/>
                </a:lnTo>
                <a:cubicBezTo>
                  <a:pt x="18951" y="1270000"/>
                  <a:pt x="0" y="1251049"/>
                  <a:pt x="0" y="1227671"/>
                </a:cubicBezTo>
                <a:lnTo>
                  <a:pt x="0" y="42329"/>
                </a:lnTo>
                <a:cubicBezTo>
                  <a:pt x="0" y="18951"/>
                  <a:pt x="18951" y="0"/>
                  <a:pt x="42329" y="0"/>
                </a:cubicBezTo>
                <a:close/>
              </a:path>
            </a:pathLst>
          </a:custGeom>
          <a:solidFill>
            <a:srgbClr val="181A1F">
              <a:alpha val="50196"/>
            </a:srgbClr>
          </a:solidFill>
          <a:ln/>
        </p:spPr>
      </p:sp>
      <p:sp>
        <p:nvSpPr>
          <p:cNvPr id="20" name="Text 18"/>
          <p:cNvSpPr/>
          <p:nvPr/>
        </p:nvSpPr>
        <p:spPr>
          <a:xfrm>
            <a:off x="762000" y="6360583"/>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数学推导</a:t>
            </a:r>
            <a:endParaRPr lang="en-US" sz="1600" dirty="0"/>
          </a:p>
        </p:txBody>
      </p:sp>
      <p:sp>
        <p:nvSpPr>
          <p:cNvPr id="21" name="Text 19"/>
          <p:cNvSpPr/>
          <p:nvPr/>
        </p:nvSpPr>
        <p:spPr>
          <a:xfrm>
            <a:off x="762000" y="6656917"/>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每个样本在特定采样集中不被选中的概率为(1-1/N)^N</a:t>
            </a:r>
            <a:endParaRPr lang="en-US" sz="1600" dirty="0"/>
          </a:p>
        </p:txBody>
      </p:sp>
      <p:sp>
        <p:nvSpPr>
          <p:cNvPr id="22" name="Shape 20"/>
          <p:cNvSpPr/>
          <p:nvPr/>
        </p:nvSpPr>
        <p:spPr>
          <a:xfrm>
            <a:off x="762000" y="6953250"/>
            <a:ext cx="6963833" cy="423333"/>
          </a:xfrm>
          <a:custGeom>
            <a:avLst/>
            <a:gdLst/>
            <a:ahLst/>
            <a:cxnLst/>
            <a:rect l="l" t="t" r="r" b="b"/>
            <a:pathLst>
              <a:path w="6963833" h="423333">
                <a:moveTo>
                  <a:pt x="42333" y="0"/>
                </a:moveTo>
                <a:lnTo>
                  <a:pt x="6921500" y="0"/>
                </a:lnTo>
                <a:cubicBezTo>
                  <a:pt x="6944880" y="0"/>
                  <a:pt x="6963833" y="18953"/>
                  <a:pt x="6963833" y="42333"/>
                </a:cubicBezTo>
                <a:lnTo>
                  <a:pt x="6963833" y="381000"/>
                </a:lnTo>
                <a:cubicBezTo>
                  <a:pt x="6963833" y="404380"/>
                  <a:pt x="6944880" y="423333"/>
                  <a:pt x="6921500" y="423333"/>
                </a:cubicBezTo>
                <a:lnTo>
                  <a:pt x="42333" y="423333"/>
                </a:lnTo>
                <a:cubicBezTo>
                  <a:pt x="18953" y="423333"/>
                  <a:pt x="0" y="404380"/>
                  <a:pt x="0" y="381000"/>
                </a:cubicBezTo>
                <a:lnTo>
                  <a:pt x="0" y="42333"/>
                </a:lnTo>
                <a:cubicBezTo>
                  <a:pt x="0" y="18953"/>
                  <a:pt x="18953" y="0"/>
                  <a:pt x="42333" y="0"/>
                </a:cubicBezTo>
                <a:close/>
              </a:path>
            </a:pathLst>
          </a:custGeom>
          <a:solidFill>
            <a:srgbClr val="181A1F"/>
          </a:solidFill>
          <a:ln/>
        </p:spPr>
      </p:sp>
      <p:sp>
        <p:nvSpPr>
          <p:cNvPr id="23" name="Text 21"/>
          <p:cNvSpPr/>
          <p:nvPr/>
        </p:nvSpPr>
        <p:spPr>
          <a:xfrm>
            <a:off x="804333" y="7037917"/>
            <a:ext cx="6879167" cy="254000"/>
          </a:xfrm>
          <a:prstGeom prst="rect">
            <a:avLst/>
          </a:prstGeom>
          <a:noFill/>
          <a:ln/>
        </p:spPr>
        <p:txBody>
          <a:bodyPr wrap="square" lIns="0" tIns="0" rIns="0" bIns="0" rtlCol="0" anchor="ctr"/>
          <a:lstStyle/>
          <a:p>
            <a:pPr algn="ctr">
              <a:lnSpc>
                <a:spcPct val="130000"/>
              </a:lnSpc>
            </a:pPr>
            <a:r>
              <a:rPr lang="en-US" sz="1333" dirty="0">
                <a:solidFill>
                  <a:srgbClr val="7E9AA8"/>
                </a:solidFill>
                <a:latin typeface="MiSans" pitchFamily="34" charset="0"/>
                <a:ea typeface="MiSans" pitchFamily="34" charset="-122"/>
                <a:cs typeface="MiSans" pitchFamily="34" charset="-120"/>
              </a:rPr>
              <a:t>lim(N→∞) (1-1/N)^N = 1/e ≈ 0.368</a:t>
            </a:r>
            <a:endParaRPr lang="en-US" sz="1600" dirty="0"/>
          </a:p>
        </p:txBody>
      </p:sp>
      <p:sp>
        <p:nvSpPr>
          <p:cNvPr id="24" name="Shape 22"/>
          <p:cNvSpPr/>
          <p:nvPr/>
        </p:nvSpPr>
        <p:spPr>
          <a:xfrm>
            <a:off x="8239125" y="1529292"/>
            <a:ext cx="7588250" cy="3291417"/>
          </a:xfrm>
          <a:custGeom>
            <a:avLst/>
            <a:gdLst/>
            <a:ahLst/>
            <a:cxnLst/>
            <a:rect l="l" t="t" r="r" b="b"/>
            <a:pathLst>
              <a:path w="7588250" h="3291417">
                <a:moveTo>
                  <a:pt x="84655" y="0"/>
                </a:moveTo>
                <a:lnTo>
                  <a:pt x="7503595" y="0"/>
                </a:lnTo>
                <a:cubicBezTo>
                  <a:pt x="7550349" y="0"/>
                  <a:pt x="7588250" y="37901"/>
                  <a:pt x="7588250" y="84655"/>
                </a:cubicBezTo>
                <a:lnTo>
                  <a:pt x="7588250" y="3206761"/>
                </a:lnTo>
                <a:cubicBezTo>
                  <a:pt x="7588250" y="3253515"/>
                  <a:pt x="7550349" y="3291417"/>
                  <a:pt x="7503595" y="3291417"/>
                </a:cubicBezTo>
                <a:lnTo>
                  <a:pt x="84655" y="3291417"/>
                </a:lnTo>
                <a:cubicBezTo>
                  <a:pt x="37901" y="3291417"/>
                  <a:pt x="0" y="3253515"/>
                  <a:pt x="0" y="3206761"/>
                </a:cubicBezTo>
                <a:lnTo>
                  <a:pt x="0" y="84655"/>
                </a:lnTo>
                <a:cubicBezTo>
                  <a:pt x="0" y="37933"/>
                  <a:pt x="37933" y="0"/>
                  <a:pt x="84655" y="0"/>
                </a:cubicBezTo>
                <a:close/>
              </a:path>
            </a:pathLst>
          </a:custGeom>
          <a:solidFill>
            <a:srgbClr val="3A5E78">
              <a:alpha val="20000"/>
            </a:srgbClr>
          </a:solidFill>
          <a:ln w="12700">
            <a:solidFill>
              <a:srgbClr val="4C7E9A">
                <a:alpha val="50196"/>
              </a:srgbClr>
            </a:solidFill>
            <a:prstDash val="solid"/>
          </a:ln>
        </p:spPr>
      </p:sp>
      <p:sp>
        <p:nvSpPr>
          <p:cNvPr id="25" name="Text 23"/>
          <p:cNvSpPr/>
          <p:nvPr/>
        </p:nvSpPr>
        <p:spPr>
          <a:xfrm>
            <a:off x="8413750" y="1703917"/>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方差削减的数学直觉</a:t>
            </a:r>
            <a:endParaRPr lang="en-US" sz="1600" dirty="0"/>
          </a:p>
        </p:txBody>
      </p:sp>
      <p:sp>
        <p:nvSpPr>
          <p:cNvPr id="26" name="Text 24"/>
          <p:cNvSpPr/>
          <p:nvPr/>
        </p:nvSpPr>
        <p:spPr>
          <a:xfrm>
            <a:off x="8413750" y="2169583"/>
            <a:ext cx="7323667" cy="275167"/>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为什么Bagging能有效降低方差？我们可以从方差分解公式中找到答案。</a:t>
            </a:r>
            <a:endParaRPr lang="en-US" sz="1600" dirty="0"/>
          </a:p>
        </p:txBody>
      </p:sp>
      <p:sp>
        <p:nvSpPr>
          <p:cNvPr id="27" name="Shape 25"/>
          <p:cNvSpPr/>
          <p:nvPr/>
        </p:nvSpPr>
        <p:spPr>
          <a:xfrm>
            <a:off x="8413750" y="2571750"/>
            <a:ext cx="7239000" cy="1143000"/>
          </a:xfrm>
          <a:custGeom>
            <a:avLst/>
            <a:gdLst/>
            <a:ahLst/>
            <a:cxnLst/>
            <a:rect l="l" t="t" r="r" b="b"/>
            <a:pathLst>
              <a:path w="7239000" h="1143000">
                <a:moveTo>
                  <a:pt x="84662" y="0"/>
                </a:moveTo>
                <a:lnTo>
                  <a:pt x="7154338" y="0"/>
                </a:lnTo>
                <a:cubicBezTo>
                  <a:pt x="7201096" y="0"/>
                  <a:pt x="7239000" y="37904"/>
                  <a:pt x="7239000" y="84662"/>
                </a:cubicBezTo>
                <a:lnTo>
                  <a:pt x="7239000" y="1058338"/>
                </a:lnTo>
                <a:cubicBezTo>
                  <a:pt x="7239000" y="1105096"/>
                  <a:pt x="7201096" y="1143000"/>
                  <a:pt x="7154338" y="1143000"/>
                </a:cubicBezTo>
                <a:lnTo>
                  <a:pt x="84662" y="1143000"/>
                </a:lnTo>
                <a:cubicBezTo>
                  <a:pt x="37904" y="1143000"/>
                  <a:pt x="0" y="1105096"/>
                  <a:pt x="0" y="1058338"/>
                </a:cubicBezTo>
                <a:lnTo>
                  <a:pt x="0" y="84662"/>
                </a:lnTo>
                <a:cubicBezTo>
                  <a:pt x="0" y="37936"/>
                  <a:pt x="37936" y="0"/>
                  <a:pt x="84662" y="0"/>
                </a:cubicBezTo>
                <a:close/>
              </a:path>
            </a:pathLst>
          </a:custGeom>
          <a:solidFill>
            <a:srgbClr val="181A1F">
              <a:alpha val="50196"/>
            </a:srgbClr>
          </a:solidFill>
          <a:ln/>
        </p:spPr>
      </p:sp>
      <p:sp>
        <p:nvSpPr>
          <p:cNvPr id="28" name="Text 26"/>
          <p:cNvSpPr/>
          <p:nvPr/>
        </p:nvSpPr>
        <p:spPr>
          <a:xfrm>
            <a:off x="8540750" y="2698750"/>
            <a:ext cx="7069667"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方差分解公式</a:t>
            </a:r>
            <a:endParaRPr lang="en-US" sz="1600" dirty="0"/>
          </a:p>
        </p:txBody>
      </p:sp>
      <p:sp>
        <p:nvSpPr>
          <p:cNvPr id="29" name="Shape 27"/>
          <p:cNvSpPr/>
          <p:nvPr/>
        </p:nvSpPr>
        <p:spPr>
          <a:xfrm>
            <a:off x="8540750" y="3037417"/>
            <a:ext cx="6985000" cy="550333"/>
          </a:xfrm>
          <a:custGeom>
            <a:avLst/>
            <a:gdLst/>
            <a:ahLst/>
            <a:cxnLst/>
            <a:rect l="l" t="t" r="r" b="b"/>
            <a:pathLst>
              <a:path w="6985000" h="550333">
                <a:moveTo>
                  <a:pt x="42332" y="0"/>
                </a:moveTo>
                <a:lnTo>
                  <a:pt x="6942668" y="0"/>
                </a:lnTo>
                <a:cubicBezTo>
                  <a:pt x="6966047" y="0"/>
                  <a:pt x="6985000" y="18953"/>
                  <a:pt x="6985000" y="42332"/>
                </a:cubicBezTo>
                <a:lnTo>
                  <a:pt x="6985000" y="508002"/>
                </a:lnTo>
                <a:cubicBezTo>
                  <a:pt x="6985000" y="531381"/>
                  <a:pt x="6966047" y="550333"/>
                  <a:pt x="6942668" y="550333"/>
                </a:cubicBezTo>
                <a:lnTo>
                  <a:pt x="42332" y="550333"/>
                </a:lnTo>
                <a:cubicBezTo>
                  <a:pt x="18953" y="550333"/>
                  <a:pt x="0" y="531381"/>
                  <a:pt x="0" y="508002"/>
                </a:cubicBezTo>
                <a:lnTo>
                  <a:pt x="0" y="42332"/>
                </a:lnTo>
                <a:cubicBezTo>
                  <a:pt x="0" y="18968"/>
                  <a:pt x="18968" y="0"/>
                  <a:pt x="42332" y="0"/>
                </a:cubicBezTo>
                <a:close/>
              </a:path>
            </a:pathLst>
          </a:custGeom>
          <a:solidFill>
            <a:srgbClr val="181A1F"/>
          </a:solidFill>
          <a:ln/>
        </p:spPr>
      </p:sp>
      <p:sp>
        <p:nvSpPr>
          <p:cNvPr id="30" name="Text 28"/>
          <p:cNvSpPr/>
          <p:nvPr/>
        </p:nvSpPr>
        <p:spPr>
          <a:xfrm>
            <a:off x="8620125" y="3164417"/>
            <a:ext cx="6826250" cy="296333"/>
          </a:xfrm>
          <a:prstGeom prst="rect">
            <a:avLst/>
          </a:prstGeom>
          <a:noFill/>
          <a:ln/>
        </p:spPr>
        <p:txBody>
          <a:bodyPr wrap="square" lIns="0" tIns="0" rIns="0" bIns="0" rtlCol="0" anchor="ctr"/>
          <a:lstStyle/>
          <a:p>
            <a:pPr algn="ctr">
              <a:lnSpc>
                <a:spcPct val="130000"/>
              </a:lnSpc>
            </a:pPr>
            <a:r>
              <a:rPr lang="en-US" sz="1500" dirty="0">
                <a:solidFill>
                  <a:srgbClr val="7E9AA8"/>
                </a:solidFill>
                <a:latin typeface="MiSans" pitchFamily="34" charset="0"/>
                <a:ea typeface="MiSans" pitchFamily="34" charset="-122"/>
                <a:cs typeface="MiSans" pitchFamily="34" charset="-120"/>
              </a:rPr>
              <a:t>Var((1/T)∑f_t) = ρσ² + (1-ρ)/T σ²</a:t>
            </a:r>
            <a:endParaRPr lang="en-US" sz="1600" dirty="0"/>
          </a:p>
        </p:txBody>
      </p:sp>
      <p:sp>
        <p:nvSpPr>
          <p:cNvPr id="31" name="Text 29"/>
          <p:cNvSpPr/>
          <p:nvPr/>
        </p:nvSpPr>
        <p:spPr>
          <a:xfrm>
            <a:off x="8413750" y="3841750"/>
            <a:ext cx="7313083" cy="211667"/>
          </a:xfrm>
          <a:prstGeom prst="rect">
            <a:avLst/>
          </a:prstGeom>
          <a:noFill/>
          <a:ln/>
        </p:spPr>
        <p:txBody>
          <a:bodyPr wrap="square" lIns="0" tIns="0" rIns="0" bIns="0" rtlCol="0" anchor="ctr"/>
          <a:lstStyle/>
          <a:p>
            <a:pPr>
              <a:lnSpc>
                <a:spcPct val="120000"/>
              </a:lnSpc>
            </a:pPr>
            <a:r>
              <a:rPr lang="en-US" sz="1167" b="1" dirty="0">
                <a:solidFill>
                  <a:srgbClr val="D1D5DB"/>
                </a:solidFill>
                <a:latin typeface="MiSans" pitchFamily="34" charset="0"/>
                <a:ea typeface="MiSans" pitchFamily="34" charset="-122"/>
                <a:cs typeface="MiSans" pitchFamily="34" charset="-120"/>
              </a:rPr>
              <a:t>ρ：</a:t>
            </a:r>
            <a:pPr>
              <a:lnSpc>
                <a:spcPct val="120000"/>
              </a:lnSpc>
            </a:pPr>
            <a:r>
              <a:rPr lang="en-US" sz="1167" dirty="0">
                <a:solidFill>
                  <a:srgbClr val="7E9AA8"/>
                </a:solidFill>
                <a:latin typeface="MiSans" pitchFamily="34" charset="0"/>
                <a:ea typeface="MiSans" pitchFamily="34" charset="-122"/>
                <a:cs typeface="MiSans" pitchFamily="34" charset="-120"/>
              </a:rPr>
              <a:t>基学习器之间的相关系数</a:t>
            </a:r>
            <a:endParaRPr lang="en-US" sz="1600" dirty="0"/>
          </a:p>
        </p:txBody>
      </p:sp>
      <p:sp>
        <p:nvSpPr>
          <p:cNvPr id="32" name="Text 30"/>
          <p:cNvSpPr/>
          <p:nvPr/>
        </p:nvSpPr>
        <p:spPr>
          <a:xfrm>
            <a:off x="8413750" y="4138083"/>
            <a:ext cx="7313083" cy="211667"/>
          </a:xfrm>
          <a:prstGeom prst="rect">
            <a:avLst/>
          </a:prstGeom>
          <a:noFill/>
          <a:ln/>
        </p:spPr>
        <p:txBody>
          <a:bodyPr wrap="square" lIns="0" tIns="0" rIns="0" bIns="0" rtlCol="0" anchor="ctr"/>
          <a:lstStyle/>
          <a:p>
            <a:pPr>
              <a:lnSpc>
                <a:spcPct val="120000"/>
              </a:lnSpc>
            </a:pPr>
            <a:r>
              <a:rPr lang="en-US" sz="1167" b="1" dirty="0">
                <a:solidFill>
                  <a:srgbClr val="D1D5DB"/>
                </a:solidFill>
                <a:latin typeface="MiSans" pitchFamily="34" charset="0"/>
                <a:ea typeface="MiSans" pitchFamily="34" charset="-122"/>
                <a:cs typeface="MiSans" pitchFamily="34" charset="-120"/>
              </a:rPr>
              <a:t>σ²：</a:t>
            </a:r>
            <a:pPr>
              <a:lnSpc>
                <a:spcPct val="120000"/>
              </a:lnSpc>
            </a:pPr>
            <a:r>
              <a:rPr lang="en-US" sz="1167" dirty="0">
                <a:solidFill>
                  <a:srgbClr val="7E9AA8"/>
                </a:solidFill>
                <a:latin typeface="MiSans" pitchFamily="34" charset="0"/>
                <a:ea typeface="MiSans" pitchFamily="34" charset="-122"/>
                <a:cs typeface="MiSans" pitchFamily="34" charset="-120"/>
              </a:rPr>
              <a:t>单个学习器的方差</a:t>
            </a:r>
            <a:endParaRPr lang="en-US" sz="1600" dirty="0"/>
          </a:p>
        </p:txBody>
      </p:sp>
      <p:sp>
        <p:nvSpPr>
          <p:cNvPr id="33" name="Text 31"/>
          <p:cNvSpPr/>
          <p:nvPr/>
        </p:nvSpPr>
        <p:spPr>
          <a:xfrm>
            <a:off x="8413750" y="4434417"/>
            <a:ext cx="7313083" cy="211667"/>
          </a:xfrm>
          <a:prstGeom prst="rect">
            <a:avLst/>
          </a:prstGeom>
          <a:noFill/>
          <a:ln/>
        </p:spPr>
        <p:txBody>
          <a:bodyPr wrap="square" lIns="0" tIns="0" rIns="0" bIns="0" rtlCol="0" anchor="ctr"/>
          <a:lstStyle/>
          <a:p>
            <a:pPr>
              <a:lnSpc>
                <a:spcPct val="120000"/>
              </a:lnSpc>
            </a:pPr>
            <a:r>
              <a:rPr lang="en-US" sz="1167" b="1" dirty="0">
                <a:solidFill>
                  <a:srgbClr val="D1D5DB"/>
                </a:solidFill>
                <a:latin typeface="MiSans" pitchFamily="34" charset="0"/>
                <a:ea typeface="MiSans" pitchFamily="34" charset="-122"/>
                <a:cs typeface="MiSans" pitchFamily="34" charset="-120"/>
              </a:rPr>
              <a:t>T：</a:t>
            </a:r>
            <a:pPr>
              <a:lnSpc>
                <a:spcPct val="120000"/>
              </a:lnSpc>
            </a:pPr>
            <a:r>
              <a:rPr lang="en-US" sz="1167" dirty="0">
                <a:solidFill>
                  <a:srgbClr val="7E9AA8"/>
                </a:solidFill>
                <a:latin typeface="MiSans" pitchFamily="34" charset="0"/>
                <a:ea typeface="MiSans" pitchFamily="34" charset="-122"/>
                <a:cs typeface="MiSans" pitchFamily="34" charset="-120"/>
              </a:rPr>
              <a:t>基学习器数量</a:t>
            </a:r>
            <a:endParaRPr lang="en-US" sz="1600" dirty="0"/>
          </a:p>
        </p:txBody>
      </p:sp>
      <p:sp>
        <p:nvSpPr>
          <p:cNvPr id="34" name="Shape 32"/>
          <p:cNvSpPr/>
          <p:nvPr/>
        </p:nvSpPr>
        <p:spPr>
          <a:xfrm>
            <a:off x="8239125" y="5000625"/>
            <a:ext cx="7588250" cy="3354917"/>
          </a:xfrm>
          <a:custGeom>
            <a:avLst/>
            <a:gdLst/>
            <a:ahLst/>
            <a:cxnLst/>
            <a:rect l="l" t="t" r="r" b="b"/>
            <a:pathLst>
              <a:path w="7588250" h="3354917">
                <a:moveTo>
                  <a:pt x="84678" y="0"/>
                </a:moveTo>
                <a:lnTo>
                  <a:pt x="7503572" y="0"/>
                </a:lnTo>
                <a:cubicBezTo>
                  <a:pt x="7550338" y="0"/>
                  <a:pt x="7588250" y="37912"/>
                  <a:pt x="7588250" y="84678"/>
                </a:cubicBezTo>
                <a:lnTo>
                  <a:pt x="7588250" y="3270239"/>
                </a:lnTo>
                <a:cubicBezTo>
                  <a:pt x="7588250" y="3317005"/>
                  <a:pt x="7550338" y="3354917"/>
                  <a:pt x="7503572" y="3354917"/>
                </a:cubicBezTo>
                <a:lnTo>
                  <a:pt x="84678" y="3354917"/>
                </a:lnTo>
                <a:cubicBezTo>
                  <a:pt x="37912" y="3354917"/>
                  <a:pt x="0" y="3317005"/>
                  <a:pt x="0" y="3270239"/>
                </a:cubicBezTo>
                <a:lnTo>
                  <a:pt x="0" y="84678"/>
                </a:lnTo>
                <a:cubicBezTo>
                  <a:pt x="0" y="37943"/>
                  <a:pt x="37943" y="0"/>
                  <a:pt x="84678" y="0"/>
                </a:cubicBezTo>
                <a:close/>
              </a:path>
            </a:pathLst>
          </a:custGeom>
          <a:solidFill>
            <a:srgbClr val="3A5E78">
              <a:alpha val="20000"/>
            </a:srgbClr>
          </a:solidFill>
          <a:ln w="12700">
            <a:solidFill>
              <a:srgbClr val="4C7E9A">
                <a:alpha val="50196"/>
              </a:srgbClr>
            </a:solidFill>
            <a:prstDash val="solid"/>
          </a:ln>
        </p:spPr>
      </p:sp>
      <p:sp>
        <p:nvSpPr>
          <p:cNvPr id="35" name="Text 33"/>
          <p:cNvSpPr/>
          <p:nvPr/>
        </p:nvSpPr>
        <p:spPr>
          <a:xfrm>
            <a:off x="8413750" y="5175250"/>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公式解读</a:t>
            </a:r>
            <a:endParaRPr lang="en-US" sz="1600" dirty="0"/>
          </a:p>
        </p:txBody>
      </p:sp>
      <p:sp>
        <p:nvSpPr>
          <p:cNvPr id="36" name="Shape 34"/>
          <p:cNvSpPr/>
          <p:nvPr/>
        </p:nvSpPr>
        <p:spPr>
          <a:xfrm>
            <a:off x="8413750" y="5640917"/>
            <a:ext cx="7239000" cy="762000"/>
          </a:xfrm>
          <a:custGeom>
            <a:avLst/>
            <a:gdLst/>
            <a:ahLst/>
            <a:cxnLst/>
            <a:rect l="l" t="t" r="r" b="b"/>
            <a:pathLst>
              <a:path w="7239000" h="762000">
                <a:moveTo>
                  <a:pt x="42337" y="0"/>
                </a:moveTo>
                <a:lnTo>
                  <a:pt x="7196663" y="0"/>
                </a:lnTo>
                <a:cubicBezTo>
                  <a:pt x="7220045" y="0"/>
                  <a:pt x="7239000" y="18955"/>
                  <a:pt x="7239000" y="42337"/>
                </a:cubicBezTo>
                <a:lnTo>
                  <a:pt x="7239000" y="719663"/>
                </a:lnTo>
                <a:cubicBezTo>
                  <a:pt x="7239000" y="743045"/>
                  <a:pt x="7220045" y="762000"/>
                  <a:pt x="7196663" y="762000"/>
                </a:cubicBezTo>
                <a:lnTo>
                  <a:pt x="42337" y="762000"/>
                </a:lnTo>
                <a:cubicBezTo>
                  <a:pt x="18955" y="762000"/>
                  <a:pt x="0" y="743045"/>
                  <a:pt x="0" y="719663"/>
                </a:cubicBezTo>
                <a:lnTo>
                  <a:pt x="0" y="42337"/>
                </a:lnTo>
                <a:cubicBezTo>
                  <a:pt x="0" y="18955"/>
                  <a:pt x="18955" y="0"/>
                  <a:pt x="42337" y="0"/>
                </a:cubicBezTo>
                <a:close/>
              </a:path>
            </a:pathLst>
          </a:custGeom>
          <a:solidFill>
            <a:srgbClr val="181A1F">
              <a:alpha val="50196"/>
            </a:srgbClr>
          </a:solidFill>
          <a:ln/>
        </p:spPr>
      </p:sp>
      <p:sp>
        <p:nvSpPr>
          <p:cNvPr id="37" name="Text 35"/>
          <p:cNvSpPr/>
          <p:nvPr/>
        </p:nvSpPr>
        <p:spPr>
          <a:xfrm>
            <a:off x="8540750" y="5767917"/>
            <a:ext cx="7069667"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随着T增加</a:t>
            </a:r>
            <a:endParaRPr lang="en-US" sz="1600" dirty="0"/>
          </a:p>
        </p:txBody>
      </p:sp>
      <p:sp>
        <p:nvSpPr>
          <p:cNvPr id="38" name="Text 36"/>
          <p:cNvSpPr/>
          <p:nvPr/>
        </p:nvSpPr>
        <p:spPr>
          <a:xfrm>
            <a:off x="8540750" y="6064250"/>
            <a:ext cx="7059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第二项(1-ρ)/T σ²趋于零，方差主要取决于ρσ²</a:t>
            </a:r>
            <a:endParaRPr lang="en-US" sz="1600" dirty="0"/>
          </a:p>
        </p:txBody>
      </p:sp>
      <p:sp>
        <p:nvSpPr>
          <p:cNvPr id="39" name="Shape 37"/>
          <p:cNvSpPr/>
          <p:nvPr/>
        </p:nvSpPr>
        <p:spPr>
          <a:xfrm>
            <a:off x="8413750" y="6529917"/>
            <a:ext cx="7239000" cy="762000"/>
          </a:xfrm>
          <a:custGeom>
            <a:avLst/>
            <a:gdLst/>
            <a:ahLst/>
            <a:cxnLst/>
            <a:rect l="l" t="t" r="r" b="b"/>
            <a:pathLst>
              <a:path w="7239000" h="762000">
                <a:moveTo>
                  <a:pt x="42337" y="0"/>
                </a:moveTo>
                <a:lnTo>
                  <a:pt x="7196663" y="0"/>
                </a:lnTo>
                <a:cubicBezTo>
                  <a:pt x="7220045" y="0"/>
                  <a:pt x="7239000" y="18955"/>
                  <a:pt x="7239000" y="42337"/>
                </a:cubicBezTo>
                <a:lnTo>
                  <a:pt x="7239000" y="719663"/>
                </a:lnTo>
                <a:cubicBezTo>
                  <a:pt x="7239000" y="743045"/>
                  <a:pt x="7220045" y="762000"/>
                  <a:pt x="7196663" y="762000"/>
                </a:cubicBezTo>
                <a:lnTo>
                  <a:pt x="42337" y="762000"/>
                </a:lnTo>
                <a:cubicBezTo>
                  <a:pt x="18955" y="762000"/>
                  <a:pt x="0" y="743045"/>
                  <a:pt x="0" y="719663"/>
                </a:cubicBezTo>
                <a:lnTo>
                  <a:pt x="0" y="42337"/>
                </a:lnTo>
                <a:cubicBezTo>
                  <a:pt x="0" y="18955"/>
                  <a:pt x="18955" y="0"/>
                  <a:pt x="42337" y="0"/>
                </a:cubicBezTo>
                <a:close/>
              </a:path>
            </a:pathLst>
          </a:custGeom>
          <a:solidFill>
            <a:srgbClr val="181A1F">
              <a:alpha val="50196"/>
            </a:srgbClr>
          </a:solidFill>
          <a:ln/>
        </p:spPr>
      </p:sp>
      <p:sp>
        <p:nvSpPr>
          <p:cNvPr id="40" name="Text 38"/>
          <p:cNvSpPr/>
          <p:nvPr/>
        </p:nvSpPr>
        <p:spPr>
          <a:xfrm>
            <a:off x="8540750" y="6656917"/>
            <a:ext cx="7069667"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Bootstrap的作用</a:t>
            </a:r>
            <a:endParaRPr lang="en-US" sz="1600" dirty="0"/>
          </a:p>
        </p:txBody>
      </p:sp>
      <p:sp>
        <p:nvSpPr>
          <p:cNvPr id="41" name="Text 39"/>
          <p:cNvSpPr/>
          <p:nvPr/>
        </p:nvSpPr>
        <p:spPr>
          <a:xfrm>
            <a:off x="8540750" y="6953250"/>
            <a:ext cx="7059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通过引入样本扰动，有效降低基学习器之间的相关性ρ</a:t>
            </a:r>
            <a:endParaRPr lang="en-US" sz="1600" dirty="0"/>
          </a:p>
        </p:txBody>
      </p:sp>
      <p:sp>
        <p:nvSpPr>
          <p:cNvPr id="42" name="Shape 40"/>
          <p:cNvSpPr/>
          <p:nvPr/>
        </p:nvSpPr>
        <p:spPr>
          <a:xfrm>
            <a:off x="8413750" y="7418917"/>
            <a:ext cx="7239000" cy="762000"/>
          </a:xfrm>
          <a:custGeom>
            <a:avLst/>
            <a:gdLst/>
            <a:ahLst/>
            <a:cxnLst/>
            <a:rect l="l" t="t" r="r" b="b"/>
            <a:pathLst>
              <a:path w="7239000" h="762000">
                <a:moveTo>
                  <a:pt x="42337" y="0"/>
                </a:moveTo>
                <a:lnTo>
                  <a:pt x="7196663" y="0"/>
                </a:lnTo>
                <a:cubicBezTo>
                  <a:pt x="7220045" y="0"/>
                  <a:pt x="7239000" y="18955"/>
                  <a:pt x="7239000" y="42337"/>
                </a:cubicBezTo>
                <a:lnTo>
                  <a:pt x="7239000" y="719663"/>
                </a:lnTo>
                <a:cubicBezTo>
                  <a:pt x="7239000" y="743045"/>
                  <a:pt x="7220045" y="762000"/>
                  <a:pt x="7196663" y="762000"/>
                </a:cubicBezTo>
                <a:lnTo>
                  <a:pt x="42337" y="762000"/>
                </a:lnTo>
                <a:cubicBezTo>
                  <a:pt x="18955" y="762000"/>
                  <a:pt x="0" y="743045"/>
                  <a:pt x="0" y="719663"/>
                </a:cubicBezTo>
                <a:lnTo>
                  <a:pt x="0" y="42337"/>
                </a:lnTo>
                <a:cubicBezTo>
                  <a:pt x="0" y="18955"/>
                  <a:pt x="18955" y="0"/>
                  <a:pt x="42337" y="0"/>
                </a:cubicBezTo>
                <a:close/>
              </a:path>
            </a:pathLst>
          </a:custGeom>
          <a:solidFill>
            <a:srgbClr val="181A1F">
              <a:alpha val="50196"/>
            </a:srgbClr>
          </a:solidFill>
          <a:ln/>
        </p:spPr>
      </p:sp>
      <p:sp>
        <p:nvSpPr>
          <p:cNvPr id="43" name="Text 41"/>
          <p:cNvSpPr/>
          <p:nvPr/>
        </p:nvSpPr>
        <p:spPr>
          <a:xfrm>
            <a:off x="8540750" y="7545917"/>
            <a:ext cx="7069667"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最终结果</a:t>
            </a:r>
            <a:endParaRPr lang="en-US" sz="1600" dirty="0"/>
          </a:p>
        </p:txBody>
      </p:sp>
      <p:sp>
        <p:nvSpPr>
          <p:cNvPr id="44" name="Text 42"/>
          <p:cNvSpPr/>
          <p:nvPr/>
        </p:nvSpPr>
        <p:spPr>
          <a:xfrm>
            <a:off x="8540750" y="7842250"/>
            <a:ext cx="7059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从根本上削减整体方差，提升模型稳定性</a:t>
            </a:r>
            <a:endParaRPr lang="en-US" sz="1600" dirty="0"/>
          </a:p>
        </p:txBody>
      </p:sp>
      <p:sp>
        <p:nvSpPr>
          <p:cNvPr id="45" name="Shape 43"/>
          <p:cNvSpPr/>
          <p:nvPr/>
        </p:nvSpPr>
        <p:spPr>
          <a:xfrm>
            <a:off x="8239125" y="8535458"/>
            <a:ext cx="7588250" cy="772583"/>
          </a:xfrm>
          <a:custGeom>
            <a:avLst/>
            <a:gdLst/>
            <a:ahLst/>
            <a:cxnLst/>
            <a:rect l="l" t="t" r="r" b="b"/>
            <a:pathLst>
              <a:path w="7588250" h="772583">
                <a:moveTo>
                  <a:pt x="84667" y="0"/>
                </a:moveTo>
                <a:lnTo>
                  <a:pt x="7503583" y="0"/>
                </a:lnTo>
                <a:cubicBezTo>
                  <a:pt x="7550343" y="0"/>
                  <a:pt x="7588250" y="37907"/>
                  <a:pt x="7588250" y="84667"/>
                </a:cubicBezTo>
                <a:lnTo>
                  <a:pt x="7588250" y="687916"/>
                </a:lnTo>
                <a:cubicBezTo>
                  <a:pt x="7588250" y="734676"/>
                  <a:pt x="7550343" y="772583"/>
                  <a:pt x="7503583" y="772583"/>
                </a:cubicBezTo>
                <a:lnTo>
                  <a:pt x="84667" y="772583"/>
                </a:lnTo>
                <a:cubicBezTo>
                  <a:pt x="37938" y="772583"/>
                  <a:pt x="0" y="734645"/>
                  <a:pt x="0" y="687916"/>
                </a:cubicBezTo>
                <a:lnTo>
                  <a:pt x="0" y="84667"/>
                </a:lnTo>
                <a:cubicBezTo>
                  <a:pt x="0" y="37938"/>
                  <a:pt x="37938" y="0"/>
                  <a:pt x="84667" y="0"/>
                </a:cubicBezTo>
                <a:close/>
              </a:path>
            </a:pathLst>
          </a:custGeom>
          <a:solidFill>
            <a:srgbClr val="4C7E9A">
              <a:alpha val="10196"/>
            </a:srgbClr>
          </a:solidFill>
          <a:ln w="12700">
            <a:solidFill>
              <a:srgbClr val="4C7E9A">
                <a:alpha val="30196"/>
              </a:srgbClr>
            </a:solidFill>
            <a:prstDash val="solid"/>
          </a:ln>
        </p:spPr>
      </p:sp>
      <p:sp>
        <p:nvSpPr>
          <p:cNvPr id="46" name="Shape 44"/>
          <p:cNvSpPr/>
          <p:nvPr/>
        </p:nvSpPr>
        <p:spPr>
          <a:xfrm>
            <a:off x="8382000" y="8715375"/>
            <a:ext cx="190500" cy="169333"/>
          </a:xfrm>
          <a:custGeom>
            <a:avLst/>
            <a:gdLst/>
            <a:ahLst/>
            <a:cxnLst/>
            <a:rect l="l" t="t" r="r" b="b"/>
            <a:pathLst>
              <a:path w="190500" h="169333">
                <a:moveTo>
                  <a:pt x="102361" y="-6251"/>
                </a:moveTo>
                <a:cubicBezTo>
                  <a:pt x="101005" y="-8897"/>
                  <a:pt x="98260" y="-10583"/>
                  <a:pt x="95283" y="-10583"/>
                </a:cubicBezTo>
                <a:cubicBezTo>
                  <a:pt x="92307" y="-10583"/>
                  <a:pt x="89561" y="-8897"/>
                  <a:pt x="88205" y="-6251"/>
                </a:cubicBezTo>
                <a:lnTo>
                  <a:pt x="63864" y="41440"/>
                </a:lnTo>
                <a:lnTo>
                  <a:pt x="10980" y="49841"/>
                </a:lnTo>
                <a:cubicBezTo>
                  <a:pt x="8037" y="50304"/>
                  <a:pt x="5589" y="52388"/>
                  <a:pt x="4663" y="55232"/>
                </a:cubicBezTo>
                <a:cubicBezTo>
                  <a:pt x="3737" y="58076"/>
                  <a:pt x="4498" y="61185"/>
                  <a:pt x="6582" y="63302"/>
                </a:cubicBezTo>
                <a:lnTo>
                  <a:pt x="44417" y="101170"/>
                </a:lnTo>
                <a:lnTo>
                  <a:pt x="36083" y="154054"/>
                </a:lnTo>
                <a:cubicBezTo>
                  <a:pt x="35620" y="156997"/>
                  <a:pt x="36843" y="159974"/>
                  <a:pt x="39258" y="161727"/>
                </a:cubicBezTo>
                <a:cubicBezTo>
                  <a:pt x="41672" y="163479"/>
                  <a:pt x="44847" y="163744"/>
                  <a:pt x="47526" y="162388"/>
                </a:cubicBezTo>
                <a:lnTo>
                  <a:pt x="95283" y="138113"/>
                </a:lnTo>
                <a:lnTo>
                  <a:pt x="143007" y="162388"/>
                </a:lnTo>
                <a:cubicBezTo>
                  <a:pt x="145653" y="163744"/>
                  <a:pt x="148861" y="163479"/>
                  <a:pt x="151276" y="161727"/>
                </a:cubicBezTo>
                <a:cubicBezTo>
                  <a:pt x="153690" y="159974"/>
                  <a:pt x="154914" y="157030"/>
                  <a:pt x="154451" y="154054"/>
                </a:cubicBezTo>
                <a:lnTo>
                  <a:pt x="146083" y="101170"/>
                </a:lnTo>
                <a:lnTo>
                  <a:pt x="183918" y="63302"/>
                </a:lnTo>
                <a:cubicBezTo>
                  <a:pt x="186035" y="61185"/>
                  <a:pt x="186763" y="58076"/>
                  <a:pt x="185837" y="55232"/>
                </a:cubicBezTo>
                <a:cubicBezTo>
                  <a:pt x="184911" y="52388"/>
                  <a:pt x="182496" y="50304"/>
                  <a:pt x="179520" y="49841"/>
                </a:cubicBezTo>
                <a:lnTo>
                  <a:pt x="126669" y="41440"/>
                </a:lnTo>
                <a:lnTo>
                  <a:pt x="102361" y="-6251"/>
                </a:lnTo>
                <a:close/>
              </a:path>
            </a:pathLst>
          </a:custGeom>
          <a:solidFill>
            <a:srgbClr val="4C7E9A"/>
          </a:solidFill>
          <a:ln/>
        </p:spPr>
      </p:sp>
      <p:sp>
        <p:nvSpPr>
          <p:cNvPr id="47" name="Text 45"/>
          <p:cNvSpPr/>
          <p:nvPr/>
        </p:nvSpPr>
        <p:spPr>
          <a:xfrm>
            <a:off x="8653639" y="8667750"/>
            <a:ext cx="7126111" cy="508000"/>
          </a:xfrm>
          <a:prstGeom prst="rect">
            <a:avLst/>
          </a:prstGeom>
          <a:noFill/>
          <a:ln/>
        </p:spPr>
        <p:txBody>
          <a:bodyPr wrap="square" lIns="0" tIns="0" rIns="0" bIns="0" rtlCol="0" anchor="ctr"/>
          <a:lstStyle/>
          <a:p>
            <a:pPr>
              <a:lnSpc>
                <a:spcPct val="130000"/>
              </a:lnSpc>
            </a:pPr>
            <a:r>
              <a:rPr lang="en-US" sz="1333" b="1" dirty="0">
                <a:solidFill>
                  <a:srgbClr val="4C7E9A"/>
                </a:solidFill>
                <a:latin typeface="MiSans" pitchFamily="34" charset="0"/>
                <a:ea typeface="MiSans" pitchFamily="34" charset="-122"/>
                <a:cs typeface="MiSans" pitchFamily="34" charset="-120"/>
              </a:rPr>
              <a:t>关键优势：</a:t>
            </a:r>
            <a:pPr>
              <a:lnSpc>
                <a:spcPct val="130000"/>
              </a:lnSpc>
            </a:pPr>
            <a:r>
              <a:rPr lang="en-US" sz="1333" dirty="0">
                <a:solidFill>
                  <a:srgbClr val="D1D5DB"/>
                </a:solidFill>
                <a:latin typeface="MiSans" pitchFamily="34" charset="0"/>
                <a:ea typeface="MiSans" pitchFamily="34" charset="-122"/>
                <a:cs typeface="MiSans" pitchFamily="34" charset="-120"/>
              </a:rPr>
              <a:t>OOB误差无需额外验证集，提高数据利用效率，可在训练过程中同时进行性能评估</a:t>
            </a:r>
            <a:endParaRPr lang="en-US" sz="1600" dirty="0"/>
          </a:p>
        </p:txBody>
      </p:sp>
    </p:spTree>
  </p:cSld>
  <p:clrMapOvr>
    <a:masterClrMapping/>
  </p:clrMapOvr>
  <p:transition>
    <p:fade/>
    <p:spd val="med"/>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55989" y="455989"/>
            <a:ext cx="15435220" cy="273593"/>
          </a:xfrm>
          <a:prstGeom prst="rect">
            <a:avLst/>
          </a:prstGeom>
          <a:noFill/>
          <a:ln/>
        </p:spPr>
        <p:txBody>
          <a:bodyPr wrap="square" lIns="0" tIns="0" rIns="0" bIns="0" rtlCol="0" anchor="ctr"/>
          <a:lstStyle/>
          <a:p>
            <a:pPr>
              <a:lnSpc>
                <a:spcPct val="130000"/>
              </a:lnSpc>
            </a:pPr>
            <a:r>
              <a:rPr lang="en-US" sz="1436" b="1" spc="72" kern="0" dirty="0">
                <a:solidFill>
                  <a:srgbClr val="7E9AA8"/>
                </a:solidFill>
                <a:latin typeface="MiSans" pitchFamily="34" charset="0"/>
                <a:ea typeface="MiSans" pitchFamily="34" charset="-122"/>
                <a:cs typeface="MiSans" pitchFamily="34" charset="-120"/>
              </a:rPr>
              <a:t>BAGGING</a:t>
            </a:r>
            <a:endParaRPr lang="en-US" sz="1600" dirty="0"/>
          </a:p>
        </p:txBody>
      </p:sp>
      <p:sp>
        <p:nvSpPr>
          <p:cNvPr id="3" name="Text 1"/>
          <p:cNvSpPr/>
          <p:nvPr/>
        </p:nvSpPr>
        <p:spPr>
          <a:xfrm>
            <a:off x="455989" y="820780"/>
            <a:ext cx="15549217" cy="455989"/>
          </a:xfrm>
          <a:prstGeom prst="rect">
            <a:avLst/>
          </a:prstGeom>
          <a:noFill/>
          <a:ln/>
        </p:spPr>
        <p:txBody>
          <a:bodyPr wrap="square" lIns="0" tIns="0" rIns="0" bIns="0" rtlCol="0" anchor="ctr"/>
          <a:lstStyle/>
          <a:p>
            <a:pPr>
              <a:lnSpc>
                <a:spcPct val="90000"/>
              </a:lnSpc>
            </a:pPr>
            <a:r>
              <a:rPr lang="en-US" sz="3231" b="1" dirty="0">
                <a:solidFill>
                  <a:srgbClr val="D1D5DB"/>
                </a:solidFill>
                <a:latin typeface="阿里妈妈数黑体" pitchFamily="34" charset="0"/>
                <a:ea typeface="阿里妈妈数黑体" pitchFamily="34" charset="-122"/>
                <a:cs typeface="阿里妈妈数黑体" pitchFamily="34" charset="-120"/>
              </a:rPr>
              <a:t>随机森林：Bagging的卓越实践</a:t>
            </a:r>
            <a:endParaRPr lang="en-US" sz="1600" dirty="0"/>
          </a:p>
        </p:txBody>
      </p:sp>
      <p:sp>
        <p:nvSpPr>
          <p:cNvPr id="4" name="Shape 2"/>
          <p:cNvSpPr/>
          <p:nvPr/>
        </p:nvSpPr>
        <p:spPr>
          <a:xfrm>
            <a:off x="455989" y="1413565"/>
            <a:ext cx="1094373" cy="45599"/>
          </a:xfrm>
          <a:custGeom>
            <a:avLst/>
            <a:gdLst/>
            <a:ahLst/>
            <a:cxnLst/>
            <a:rect l="l" t="t" r="r" b="b"/>
            <a:pathLst>
              <a:path w="1094373" h="45599">
                <a:moveTo>
                  <a:pt x="0" y="0"/>
                </a:moveTo>
                <a:lnTo>
                  <a:pt x="1094373" y="0"/>
                </a:lnTo>
                <a:lnTo>
                  <a:pt x="1094373" y="45599"/>
                </a:lnTo>
                <a:lnTo>
                  <a:pt x="0" y="45599"/>
                </a:lnTo>
                <a:lnTo>
                  <a:pt x="0" y="0"/>
                </a:lnTo>
                <a:close/>
              </a:path>
            </a:pathLst>
          </a:custGeom>
          <a:solidFill>
            <a:srgbClr val="4C7E9A"/>
          </a:solidFill>
          <a:ln/>
        </p:spPr>
      </p:sp>
      <p:sp>
        <p:nvSpPr>
          <p:cNvPr id="5" name="Shape 3"/>
          <p:cNvSpPr/>
          <p:nvPr/>
        </p:nvSpPr>
        <p:spPr>
          <a:xfrm>
            <a:off x="478788" y="1641560"/>
            <a:ext cx="7535215" cy="2906928"/>
          </a:xfrm>
          <a:custGeom>
            <a:avLst/>
            <a:gdLst/>
            <a:ahLst/>
            <a:cxnLst/>
            <a:rect l="l" t="t" r="r" b="b"/>
            <a:pathLst>
              <a:path w="7535215" h="2906928">
                <a:moveTo>
                  <a:pt x="45599" y="0"/>
                </a:moveTo>
                <a:lnTo>
                  <a:pt x="7444024" y="0"/>
                </a:lnTo>
                <a:cubicBezTo>
                  <a:pt x="7494387" y="0"/>
                  <a:pt x="7535215" y="40827"/>
                  <a:pt x="7535215" y="91190"/>
                </a:cubicBezTo>
                <a:lnTo>
                  <a:pt x="7535215" y="2815738"/>
                </a:lnTo>
                <a:cubicBezTo>
                  <a:pt x="7535215" y="2866101"/>
                  <a:pt x="7494387" y="2906928"/>
                  <a:pt x="7444024" y="2906928"/>
                </a:cubicBezTo>
                <a:lnTo>
                  <a:pt x="45599" y="2906928"/>
                </a:lnTo>
                <a:cubicBezTo>
                  <a:pt x="20415" y="2906928"/>
                  <a:pt x="0" y="2886513"/>
                  <a:pt x="0" y="2861330"/>
                </a:cubicBezTo>
                <a:lnTo>
                  <a:pt x="0" y="45599"/>
                </a:lnTo>
                <a:cubicBezTo>
                  <a:pt x="0" y="20432"/>
                  <a:pt x="20432" y="0"/>
                  <a:pt x="45599" y="0"/>
                </a:cubicBezTo>
                <a:close/>
              </a:path>
            </a:pathLst>
          </a:custGeom>
          <a:solidFill>
            <a:srgbClr val="3A5E78">
              <a:alpha val="20000"/>
            </a:srgbClr>
          </a:solidFill>
          <a:ln/>
        </p:spPr>
      </p:sp>
      <p:sp>
        <p:nvSpPr>
          <p:cNvPr id="6" name="Shape 4"/>
          <p:cNvSpPr/>
          <p:nvPr/>
        </p:nvSpPr>
        <p:spPr>
          <a:xfrm>
            <a:off x="478788" y="1641560"/>
            <a:ext cx="45599" cy="2906928"/>
          </a:xfrm>
          <a:custGeom>
            <a:avLst/>
            <a:gdLst/>
            <a:ahLst/>
            <a:cxnLst/>
            <a:rect l="l" t="t" r="r" b="b"/>
            <a:pathLst>
              <a:path w="45599" h="2906928">
                <a:moveTo>
                  <a:pt x="45599" y="0"/>
                </a:moveTo>
                <a:lnTo>
                  <a:pt x="45599" y="0"/>
                </a:lnTo>
                <a:lnTo>
                  <a:pt x="45599" y="2906928"/>
                </a:lnTo>
                <a:lnTo>
                  <a:pt x="45599" y="2906928"/>
                </a:lnTo>
                <a:cubicBezTo>
                  <a:pt x="20415" y="2906928"/>
                  <a:pt x="0" y="2886513"/>
                  <a:pt x="0" y="2861330"/>
                </a:cubicBezTo>
                <a:lnTo>
                  <a:pt x="0" y="45599"/>
                </a:lnTo>
                <a:cubicBezTo>
                  <a:pt x="0" y="20432"/>
                  <a:pt x="20432" y="0"/>
                  <a:pt x="45599" y="0"/>
                </a:cubicBezTo>
                <a:close/>
              </a:path>
            </a:pathLst>
          </a:custGeom>
          <a:solidFill>
            <a:srgbClr val="4C7E9A"/>
          </a:solidFill>
          <a:ln/>
        </p:spPr>
      </p:sp>
      <p:sp>
        <p:nvSpPr>
          <p:cNvPr id="7" name="Text 5"/>
          <p:cNvSpPr/>
          <p:nvPr/>
        </p:nvSpPr>
        <p:spPr>
          <a:xfrm>
            <a:off x="683983" y="1823955"/>
            <a:ext cx="7284421" cy="364791"/>
          </a:xfrm>
          <a:prstGeom prst="rect">
            <a:avLst/>
          </a:prstGeom>
          <a:noFill/>
          <a:ln/>
        </p:spPr>
        <p:txBody>
          <a:bodyPr wrap="square" lIns="0" tIns="0" rIns="0" bIns="0" rtlCol="0" anchor="ctr"/>
          <a:lstStyle/>
          <a:p>
            <a:pPr>
              <a:lnSpc>
                <a:spcPct val="110000"/>
              </a:lnSpc>
            </a:pPr>
            <a:r>
              <a:rPr lang="en-US" sz="2154" b="1" dirty="0">
                <a:solidFill>
                  <a:srgbClr val="4C7E9A"/>
                </a:solidFill>
                <a:latin typeface="MiSans" pitchFamily="34" charset="0"/>
                <a:ea typeface="MiSans" pitchFamily="34" charset="-122"/>
                <a:cs typeface="MiSans" pitchFamily="34" charset="-120"/>
              </a:rPr>
              <a:t>双重随机机制</a:t>
            </a:r>
            <a:endParaRPr lang="en-US" sz="1600" dirty="0"/>
          </a:p>
        </p:txBody>
      </p:sp>
      <p:sp>
        <p:nvSpPr>
          <p:cNvPr id="8" name="Text 6"/>
          <p:cNvSpPr/>
          <p:nvPr/>
        </p:nvSpPr>
        <p:spPr>
          <a:xfrm>
            <a:off x="683983" y="2325543"/>
            <a:ext cx="7250222" cy="672583"/>
          </a:xfrm>
          <a:prstGeom prst="rect">
            <a:avLst/>
          </a:prstGeom>
          <a:noFill/>
          <a:ln/>
        </p:spPr>
        <p:txBody>
          <a:bodyPr wrap="square" lIns="0" tIns="0" rIns="0" bIns="0" rtlCol="0" anchor="ctr"/>
          <a:lstStyle/>
          <a:p>
            <a:pPr>
              <a:lnSpc>
                <a:spcPct val="140000"/>
              </a:lnSpc>
            </a:pPr>
            <a:r>
              <a:rPr lang="en-US" sz="1616" dirty="0">
                <a:solidFill>
                  <a:srgbClr val="D1D5DB"/>
                </a:solidFill>
                <a:latin typeface="MiSans" pitchFamily="34" charset="0"/>
                <a:ea typeface="MiSans" pitchFamily="34" charset="-122"/>
                <a:cs typeface="MiSans" pitchFamily="34" charset="-120"/>
              </a:rPr>
              <a:t>随机森林在Bootstrap样本随机性的基础上，进一步引入了</a:t>
            </a:r>
            <a:pPr>
              <a:lnSpc>
                <a:spcPct val="140000"/>
              </a:lnSpc>
            </a:pPr>
            <a:r>
              <a:rPr lang="en-US" sz="1616" b="1" dirty="0">
                <a:solidFill>
                  <a:srgbClr val="4C7E9A"/>
                </a:solidFill>
                <a:latin typeface="MiSans" pitchFamily="34" charset="0"/>
                <a:ea typeface="MiSans" pitchFamily="34" charset="-122"/>
                <a:cs typeface="MiSans" pitchFamily="34" charset="-120"/>
              </a:rPr>
              <a:t>特征随机性</a:t>
            </a:r>
            <a:pPr>
              <a:lnSpc>
                <a:spcPct val="140000"/>
              </a:lnSpc>
            </a:pPr>
            <a:r>
              <a:rPr lang="en-US" sz="1616" dirty="0">
                <a:solidFill>
                  <a:srgbClr val="D1D5DB"/>
                </a:solidFill>
                <a:latin typeface="MiSans" pitchFamily="34" charset="0"/>
                <a:ea typeface="MiSans" pitchFamily="34" charset="-122"/>
                <a:cs typeface="MiSans" pitchFamily="34" charset="-120"/>
              </a:rPr>
              <a:t>，通过"双重随机"机制将集成学习发挥到极致。</a:t>
            </a:r>
            <a:endParaRPr lang="en-US" sz="1600" dirty="0"/>
          </a:p>
        </p:txBody>
      </p:sp>
      <p:sp>
        <p:nvSpPr>
          <p:cNvPr id="9" name="Shape 7"/>
          <p:cNvSpPr/>
          <p:nvPr/>
        </p:nvSpPr>
        <p:spPr>
          <a:xfrm>
            <a:off x="683983" y="3129223"/>
            <a:ext cx="364791" cy="364791"/>
          </a:xfrm>
          <a:custGeom>
            <a:avLst/>
            <a:gdLst/>
            <a:ahLst/>
            <a:cxnLst/>
            <a:rect l="l" t="t" r="r" b="b"/>
            <a:pathLst>
              <a:path w="364791" h="364791">
                <a:moveTo>
                  <a:pt x="182396" y="0"/>
                </a:moveTo>
                <a:lnTo>
                  <a:pt x="182396" y="0"/>
                </a:lnTo>
                <a:cubicBezTo>
                  <a:pt x="283062" y="0"/>
                  <a:pt x="364791" y="81729"/>
                  <a:pt x="364791" y="182396"/>
                </a:cubicBezTo>
                <a:lnTo>
                  <a:pt x="364791" y="182396"/>
                </a:lnTo>
                <a:cubicBezTo>
                  <a:pt x="364791" y="283062"/>
                  <a:pt x="283062" y="364791"/>
                  <a:pt x="182396" y="364791"/>
                </a:cubicBezTo>
                <a:lnTo>
                  <a:pt x="182396" y="364791"/>
                </a:lnTo>
                <a:cubicBezTo>
                  <a:pt x="81729" y="364791"/>
                  <a:pt x="0" y="283062"/>
                  <a:pt x="0" y="182396"/>
                </a:cubicBezTo>
                <a:lnTo>
                  <a:pt x="0" y="182396"/>
                </a:lnTo>
                <a:cubicBezTo>
                  <a:pt x="0" y="81729"/>
                  <a:pt x="81729" y="0"/>
                  <a:pt x="182396" y="0"/>
                </a:cubicBezTo>
                <a:close/>
              </a:path>
            </a:pathLst>
          </a:custGeom>
          <a:solidFill>
            <a:srgbClr val="4C7E9A"/>
          </a:solidFill>
          <a:ln/>
        </p:spPr>
      </p:sp>
      <p:sp>
        <p:nvSpPr>
          <p:cNvPr id="10" name="Text 8"/>
          <p:cNvSpPr/>
          <p:nvPr/>
        </p:nvSpPr>
        <p:spPr>
          <a:xfrm>
            <a:off x="638384" y="3129223"/>
            <a:ext cx="455989" cy="364791"/>
          </a:xfrm>
          <a:prstGeom prst="rect">
            <a:avLst/>
          </a:prstGeom>
          <a:noFill/>
          <a:ln/>
        </p:spPr>
        <p:txBody>
          <a:bodyPr wrap="square" lIns="0" tIns="0" rIns="0" bIns="0" rtlCol="0" anchor="ctr"/>
          <a:lstStyle/>
          <a:p>
            <a:pPr algn="ctr">
              <a:lnSpc>
                <a:spcPct val="130000"/>
              </a:lnSpc>
            </a:pPr>
            <a:r>
              <a:rPr lang="en-US" sz="1436" b="1" dirty="0">
                <a:solidFill>
                  <a:srgbClr val="181A1F"/>
                </a:solidFill>
                <a:latin typeface="MiSans" pitchFamily="34" charset="0"/>
                <a:ea typeface="MiSans" pitchFamily="34" charset="-122"/>
                <a:cs typeface="MiSans" pitchFamily="34" charset="-120"/>
              </a:rPr>
              <a:t>1</a:t>
            </a:r>
            <a:endParaRPr lang="en-US" sz="1600" dirty="0"/>
          </a:p>
        </p:txBody>
      </p:sp>
      <p:sp>
        <p:nvSpPr>
          <p:cNvPr id="11" name="Text 9"/>
          <p:cNvSpPr/>
          <p:nvPr/>
        </p:nvSpPr>
        <p:spPr>
          <a:xfrm>
            <a:off x="1185571" y="3129223"/>
            <a:ext cx="6748634" cy="319192"/>
          </a:xfrm>
          <a:prstGeom prst="rect">
            <a:avLst/>
          </a:prstGeom>
          <a:noFill/>
          <a:ln/>
        </p:spPr>
        <p:txBody>
          <a:bodyPr wrap="square" lIns="0" tIns="0" rIns="0" bIns="0" rtlCol="0" anchor="ctr"/>
          <a:lstStyle/>
          <a:p>
            <a:pPr>
              <a:lnSpc>
                <a:spcPct val="130000"/>
              </a:lnSpc>
            </a:pPr>
            <a:r>
              <a:rPr lang="en-US" sz="1616" b="1" dirty="0">
                <a:solidFill>
                  <a:srgbClr val="D1D5DB"/>
                </a:solidFill>
                <a:latin typeface="MiSans" pitchFamily="34" charset="0"/>
                <a:ea typeface="MiSans" pitchFamily="34" charset="-122"/>
                <a:cs typeface="MiSans" pitchFamily="34" charset="-120"/>
              </a:rPr>
              <a:t>样本随机 (Row Sampling)</a:t>
            </a:r>
            <a:endParaRPr lang="en-US" sz="1600" dirty="0"/>
          </a:p>
        </p:txBody>
      </p:sp>
      <p:sp>
        <p:nvSpPr>
          <p:cNvPr id="12" name="Text 10"/>
          <p:cNvSpPr/>
          <p:nvPr/>
        </p:nvSpPr>
        <p:spPr>
          <a:xfrm>
            <a:off x="1185571" y="3448415"/>
            <a:ext cx="6725835" cy="227994"/>
          </a:xfrm>
          <a:prstGeom prst="rect">
            <a:avLst/>
          </a:prstGeom>
          <a:noFill/>
          <a:ln/>
        </p:spPr>
        <p:txBody>
          <a:bodyPr wrap="square" lIns="0" tIns="0" rIns="0" bIns="0" rtlCol="0" anchor="ctr"/>
          <a:lstStyle/>
          <a:p>
            <a:pPr>
              <a:lnSpc>
                <a:spcPct val="120000"/>
              </a:lnSpc>
            </a:pPr>
            <a:r>
              <a:rPr lang="en-US" sz="1257" dirty="0">
                <a:solidFill>
                  <a:srgbClr val="7E9AA8"/>
                </a:solidFill>
                <a:latin typeface="MiSans" pitchFamily="34" charset="0"/>
                <a:ea typeface="MiSans" pitchFamily="34" charset="-122"/>
                <a:cs typeface="MiSans" pitchFamily="34" charset="-120"/>
              </a:rPr>
              <a:t>沿用Bagging的Bootstrap采样，确保每棵树的训练数据略有不同</a:t>
            </a:r>
            <a:endParaRPr lang="en-US" sz="1600" dirty="0"/>
          </a:p>
        </p:txBody>
      </p:sp>
      <p:sp>
        <p:nvSpPr>
          <p:cNvPr id="13" name="Shape 11"/>
          <p:cNvSpPr/>
          <p:nvPr/>
        </p:nvSpPr>
        <p:spPr>
          <a:xfrm>
            <a:off x="683983" y="3813206"/>
            <a:ext cx="364791" cy="364791"/>
          </a:xfrm>
          <a:custGeom>
            <a:avLst/>
            <a:gdLst/>
            <a:ahLst/>
            <a:cxnLst/>
            <a:rect l="l" t="t" r="r" b="b"/>
            <a:pathLst>
              <a:path w="364791" h="364791">
                <a:moveTo>
                  <a:pt x="182396" y="0"/>
                </a:moveTo>
                <a:lnTo>
                  <a:pt x="182396" y="0"/>
                </a:lnTo>
                <a:cubicBezTo>
                  <a:pt x="283062" y="0"/>
                  <a:pt x="364791" y="81729"/>
                  <a:pt x="364791" y="182396"/>
                </a:cubicBezTo>
                <a:lnTo>
                  <a:pt x="364791" y="182396"/>
                </a:lnTo>
                <a:cubicBezTo>
                  <a:pt x="364791" y="283062"/>
                  <a:pt x="283062" y="364791"/>
                  <a:pt x="182396" y="364791"/>
                </a:cubicBezTo>
                <a:lnTo>
                  <a:pt x="182396" y="364791"/>
                </a:lnTo>
                <a:cubicBezTo>
                  <a:pt x="81729" y="364791"/>
                  <a:pt x="0" y="283062"/>
                  <a:pt x="0" y="182396"/>
                </a:cubicBezTo>
                <a:lnTo>
                  <a:pt x="0" y="182396"/>
                </a:lnTo>
                <a:cubicBezTo>
                  <a:pt x="0" y="81729"/>
                  <a:pt x="81729" y="0"/>
                  <a:pt x="182396" y="0"/>
                </a:cubicBezTo>
                <a:close/>
              </a:path>
            </a:pathLst>
          </a:custGeom>
          <a:solidFill>
            <a:srgbClr val="4C7E9A"/>
          </a:solidFill>
          <a:ln/>
        </p:spPr>
      </p:sp>
      <p:sp>
        <p:nvSpPr>
          <p:cNvPr id="14" name="Text 12"/>
          <p:cNvSpPr/>
          <p:nvPr/>
        </p:nvSpPr>
        <p:spPr>
          <a:xfrm>
            <a:off x="638384" y="3813206"/>
            <a:ext cx="455989" cy="364791"/>
          </a:xfrm>
          <a:prstGeom prst="rect">
            <a:avLst/>
          </a:prstGeom>
          <a:noFill/>
          <a:ln/>
        </p:spPr>
        <p:txBody>
          <a:bodyPr wrap="square" lIns="0" tIns="0" rIns="0" bIns="0" rtlCol="0" anchor="ctr"/>
          <a:lstStyle/>
          <a:p>
            <a:pPr algn="ctr">
              <a:lnSpc>
                <a:spcPct val="130000"/>
              </a:lnSpc>
            </a:pPr>
            <a:r>
              <a:rPr lang="en-US" sz="1436" b="1" dirty="0">
                <a:solidFill>
                  <a:srgbClr val="181A1F"/>
                </a:solidFill>
                <a:latin typeface="MiSans" pitchFamily="34" charset="0"/>
                <a:ea typeface="MiSans" pitchFamily="34" charset="-122"/>
                <a:cs typeface="MiSans" pitchFamily="34" charset="-120"/>
              </a:rPr>
              <a:t>2</a:t>
            </a:r>
            <a:endParaRPr lang="en-US" sz="1600" dirty="0"/>
          </a:p>
        </p:txBody>
      </p:sp>
      <p:sp>
        <p:nvSpPr>
          <p:cNvPr id="15" name="Text 13"/>
          <p:cNvSpPr/>
          <p:nvPr/>
        </p:nvSpPr>
        <p:spPr>
          <a:xfrm>
            <a:off x="1185571" y="3813206"/>
            <a:ext cx="6748634" cy="319192"/>
          </a:xfrm>
          <a:prstGeom prst="rect">
            <a:avLst/>
          </a:prstGeom>
          <a:noFill/>
          <a:ln/>
        </p:spPr>
        <p:txBody>
          <a:bodyPr wrap="square" lIns="0" tIns="0" rIns="0" bIns="0" rtlCol="0" anchor="ctr"/>
          <a:lstStyle/>
          <a:p>
            <a:pPr>
              <a:lnSpc>
                <a:spcPct val="130000"/>
              </a:lnSpc>
            </a:pPr>
            <a:r>
              <a:rPr lang="en-US" sz="1616" b="1" dirty="0">
                <a:solidFill>
                  <a:srgbClr val="D1D5DB"/>
                </a:solidFill>
                <a:latin typeface="MiSans" pitchFamily="34" charset="0"/>
                <a:ea typeface="MiSans" pitchFamily="34" charset="-122"/>
                <a:cs typeface="MiSans" pitchFamily="34" charset="-120"/>
              </a:rPr>
              <a:t>特征随机 (Column Sampling)</a:t>
            </a:r>
            <a:endParaRPr lang="en-US" sz="1600" dirty="0"/>
          </a:p>
        </p:txBody>
      </p:sp>
      <p:sp>
        <p:nvSpPr>
          <p:cNvPr id="16" name="Text 14"/>
          <p:cNvSpPr/>
          <p:nvPr/>
        </p:nvSpPr>
        <p:spPr>
          <a:xfrm>
            <a:off x="1185571" y="4132398"/>
            <a:ext cx="6725835" cy="227994"/>
          </a:xfrm>
          <a:prstGeom prst="rect">
            <a:avLst/>
          </a:prstGeom>
          <a:noFill/>
          <a:ln/>
        </p:spPr>
        <p:txBody>
          <a:bodyPr wrap="square" lIns="0" tIns="0" rIns="0" bIns="0" rtlCol="0" anchor="ctr"/>
          <a:lstStyle/>
          <a:p>
            <a:pPr>
              <a:lnSpc>
                <a:spcPct val="120000"/>
              </a:lnSpc>
            </a:pPr>
            <a:r>
              <a:rPr lang="en-US" sz="1257" dirty="0">
                <a:solidFill>
                  <a:srgbClr val="7E9AA8"/>
                </a:solidFill>
                <a:latin typeface="MiSans" pitchFamily="34" charset="0"/>
                <a:ea typeface="MiSans" pitchFamily="34" charset="-122"/>
                <a:cs typeface="MiSans" pitchFamily="34" charset="-120"/>
              </a:rPr>
              <a:t>在决策树的每个节点分裂时，随机选择特征子集（分类常用√p）</a:t>
            </a:r>
            <a:endParaRPr lang="en-US" sz="1600" dirty="0"/>
          </a:p>
        </p:txBody>
      </p:sp>
      <p:sp>
        <p:nvSpPr>
          <p:cNvPr id="17" name="Shape 15"/>
          <p:cNvSpPr/>
          <p:nvPr/>
        </p:nvSpPr>
        <p:spPr>
          <a:xfrm>
            <a:off x="478788" y="4725184"/>
            <a:ext cx="7535215" cy="2713133"/>
          </a:xfrm>
          <a:custGeom>
            <a:avLst/>
            <a:gdLst/>
            <a:ahLst/>
            <a:cxnLst/>
            <a:rect l="l" t="t" r="r" b="b"/>
            <a:pathLst>
              <a:path w="7535215" h="2713133">
                <a:moveTo>
                  <a:pt x="45599" y="0"/>
                </a:moveTo>
                <a:lnTo>
                  <a:pt x="7444026" y="0"/>
                </a:lnTo>
                <a:cubicBezTo>
                  <a:pt x="7494388" y="0"/>
                  <a:pt x="7535215" y="40826"/>
                  <a:pt x="7535215" y="91188"/>
                </a:cubicBezTo>
                <a:lnTo>
                  <a:pt x="7535215" y="2621945"/>
                </a:lnTo>
                <a:cubicBezTo>
                  <a:pt x="7535215" y="2672307"/>
                  <a:pt x="7494388" y="2713133"/>
                  <a:pt x="7444026" y="2713133"/>
                </a:cubicBezTo>
                <a:lnTo>
                  <a:pt x="45599" y="2713133"/>
                </a:lnTo>
                <a:cubicBezTo>
                  <a:pt x="20415" y="2713133"/>
                  <a:pt x="0" y="2692718"/>
                  <a:pt x="0" y="2667534"/>
                </a:cubicBezTo>
                <a:lnTo>
                  <a:pt x="0" y="45599"/>
                </a:lnTo>
                <a:cubicBezTo>
                  <a:pt x="0" y="20432"/>
                  <a:pt x="20432" y="0"/>
                  <a:pt x="45599" y="0"/>
                </a:cubicBezTo>
                <a:close/>
              </a:path>
            </a:pathLst>
          </a:custGeom>
          <a:solidFill>
            <a:srgbClr val="3A5E78">
              <a:alpha val="20000"/>
            </a:srgbClr>
          </a:solidFill>
          <a:ln/>
        </p:spPr>
      </p:sp>
      <p:sp>
        <p:nvSpPr>
          <p:cNvPr id="18" name="Shape 16"/>
          <p:cNvSpPr/>
          <p:nvPr/>
        </p:nvSpPr>
        <p:spPr>
          <a:xfrm>
            <a:off x="478788" y="4725184"/>
            <a:ext cx="45599" cy="2713133"/>
          </a:xfrm>
          <a:custGeom>
            <a:avLst/>
            <a:gdLst/>
            <a:ahLst/>
            <a:cxnLst/>
            <a:rect l="l" t="t" r="r" b="b"/>
            <a:pathLst>
              <a:path w="45599" h="2713133">
                <a:moveTo>
                  <a:pt x="45599" y="0"/>
                </a:moveTo>
                <a:lnTo>
                  <a:pt x="45599" y="0"/>
                </a:lnTo>
                <a:lnTo>
                  <a:pt x="45599" y="2713133"/>
                </a:lnTo>
                <a:lnTo>
                  <a:pt x="45599" y="2713133"/>
                </a:lnTo>
                <a:cubicBezTo>
                  <a:pt x="20415" y="2713133"/>
                  <a:pt x="0" y="2692718"/>
                  <a:pt x="0" y="2667534"/>
                </a:cubicBezTo>
                <a:lnTo>
                  <a:pt x="0" y="45599"/>
                </a:lnTo>
                <a:cubicBezTo>
                  <a:pt x="0" y="20432"/>
                  <a:pt x="20432" y="0"/>
                  <a:pt x="45599" y="0"/>
                </a:cubicBezTo>
                <a:close/>
              </a:path>
            </a:pathLst>
          </a:custGeom>
          <a:solidFill>
            <a:srgbClr val="7E9AA8"/>
          </a:solidFill>
          <a:ln/>
        </p:spPr>
      </p:sp>
      <p:sp>
        <p:nvSpPr>
          <p:cNvPr id="19" name="Text 17"/>
          <p:cNvSpPr/>
          <p:nvPr/>
        </p:nvSpPr>
        <p:spPr>
          <a:xfrm>
            <a:off x="683983" y="4907579"/>
            <a:ext cx="7284421" cy="364791"/>
          </a:xfrm>
          <a:prstGeom prst="rect">
            <a:avLst/>
          </a:prstGeom>
          <a:noFill/>
          <a:ln/>
        </p:spPr>
        <p:txBody>
          <a:bodyPr wrap="square" lIns="0" tIns="0" rIns="0" bIns="0" rtlCol="0" anchor="ctr"/>
          <a:lstStyle/>
          <a:p>
            <a:pPr>
              <a:lnSpc>
                <a:spcPct val="110000"/>
              </a:lnSpc>
            </a:pPr>
            <a:r>
              <a:rPr lang="en-US" sz="2154" b="1" dirty="0">
                <a:solidFill>
                  <a:srgbClr val="7E9AA8"/>
                </a:solidFill>
                <a:latin typeface="MiSans" pitchFamily="34" charset="0"/>
                <a:ea typeface="MiSans" pitchFamily="34" charset="-122"/>
                <a:cs typeface="MiSans" pitchFamily="34" charset="-120"/>
              </a:rPr>
              <a:t>机制背后的深意</a:t>
            </a:r>
            <a:endParaRPr lang="en-US" sz="1600" dirty="0"/>
          </a:p>
        </p:txBody>
      </p:sp>
      <p:sp>
        <p:nvSpPr>
          <p:cNvPr id="20" name="Text 18"/>
          <p:cNvSpPr/>
          <p:nvPr/>
        </p:nvSpPr>
        <p:spPr>
          <a:xfrm>
            <a:off x="683983" y="5409167"/>
            <a:ext cx="7238822" cy="296393"/>
          </a:xfrm>
          <a:prstGeom prst="rect">
            <a:avLst/>
          </a:prstGeom>
          <a:noFill/>
          <a:ln/>
        </p:spPr>
        <p:txBody>
          <a:bodyPr wrap="square" lIns="0" tIns="0" rIns="0" bIns="0" rtlCol="0" anchor="ctr"/>
          <a:lstStyle/>
          <a:p>
            <a:pPr>
              <a:lnSpc>
                <a:spcPct val="140000"/>
              </a:lnSpc>
            </a:pPr>
            <a:r>
              <a:rPr lang="en-US" sz="1436" dirty="0">
                <a:solidFill>
                  <a:srgbClr val="D1D5DB"/>
                </a:solidFill>
                <a:latin typeface="MiSans" pitchFamily="34" charset="0"/>
                <a:ea typeface="MiSans" pitchFamily="34" charset="-122"/>
                <a:cs typeface="MiSans" pitchFamily="34" charset="-120"/>
              </a:rPr>
              <a:t>这种看似"不精确"的特征选择策略，实则是为了</a:t>
            </a:r>
            <a:pPr>
              <a:lnSpc>
                <a:spcPct val="140000"/>
              </a:lnSpc>
            </a:pPr>
            <a:r>
              <a:rPr lang="en-US" sz="1436" b="1" dirty="0">
                <a:solidFill>
                  <a:srgbClr val="4C7E9A"/>
                </a:solidFill>
                <a:latin typeface="MiSans" pitchFamily="34" charset="0"/>
                <a:ea typeface="MiSans" pitchFamily="34" charset="-122"/>
                <a:cs typeface="MiSans" pitchFamily="34" charset="-120"/>
              </a:rPr>
              <a:t>打破强特征对树结构的"垄断"</a:t>
            </a:r>
            <a:pPr>
              <a:lnSpc>
                <a:spcPct val="140000"/>
              </a:lnSpc>
            </a:pPr>
            <a:r>
              <a:rPr lang="en-US" sz="1436" dirty="0">
                <a:solidFill>
                  <a:srgbClr val="D1D5DB"/>
                </a:solidFill>
                <a:latin typeface="MiSans" pitchFamily="34" charset="0"/>
                <a:ea typeface="MiSans" pitchFamily="34" charset="-122"/>
                <a:cs typeface="MiSans" pitchFamily="34" charset="-120"/>
              </a:rPr>
              <a:t>。</a:t>
            </a:r>
            <a:endParaRPr lang="en-US" sz="1600" dirty="0"/>
          </a:p>
        </p:txBody>
      </p:sp>
      <p:sp>
        <p:nvSpPr>
          <p:cNvPr id="21" name="Shape 19"/>
          <p:cNvSpPr/>
          <p:nvPr/>
        </p:nvSpPr>
        <p:spPr>
          <a:xfrm>
            <a:off x="683983" y="5842356"/>
            <a:ext cx="7147624" cy="410390"/>
          </a:xfrm>
          <a:custGeom>
            <a:avLst/>
            <a:gdLst/>
            <a:ahLst/>
            <a:cxnLst/>
            <a:rect l="l" t="t" r="r" b="b"/>
            <a:pathLst>
              <a:path w="7147624" h="410390">
                <a:moveTo>
                  <a:pt x="45598" y="0"/>
                </a:moveTo>
                <a:lnTo>
                  <a:pt x="7102026" y="0"/>
                </a:lnTo>
                <a:cubicBezTo>
                  <a:pt x="7127209" y="0"/>
                  <a:pt x="7147624" y="20415"/>
                  <a:pt x="7147624" y="45598"/>
                </a:cubicBezTo>
                <a:lnTo>
                  <a:pt x="7147624" y="364791"/>
                </a:lnTo>
                <a:cubicBezTo>
                  <a:pt x="7147624" y="389975"/>
                  <a:pt x="7127209" y="410390"/>
                  <a:pt x="7102026" y="410390"/>
                </a:cubicBezTo>
                <a:lnTo>
                  <a:pt x="45598" y="410390"/>
                </a:lnTo>
                <a:cubicBezTo>
                  <a:pt x="20415" y="410390"/>
                  <a:pt x="0" y="389975"/>
                  <a:pt x="0" y="364791"/>
                </a:cubicBezTo>
                <a:lnTo>
                  <a:pt x="0" y="45598"/>
                </a:lnTo>
                <a:cubicBezTo>
                  <a:pt x="0" y="20432"/>
                  <a:pt x="20432" y="0"/>
                  <a:pt x="45598" y="0"/>
                </a:cubicBezTo>
                <a:close/>
              </a:path>
            </a:pathLst>
          </a:custGeom>
          <a:solidFill>
            <a:srgbClr val="181A1F">
              <a:alpha val="50196"/>
            </a:srgbClr>
          </a:solidFill>
          <a:ln/>
        </p:spPr>
      </p:sp>
      <p:sp>
        <p:nvSpPr>
          <p:cNvPr id="22" name="Text 20"/>
          <p:cNvSpPr/>
          <p:nvPr/>
        </p:nvSpPr>
        <p:spPr>
          <a:xfrm>
            <a:off x="775181" y="5933554"/>
            <a:ext cx="7045027" cy="227994"/>
          </a:xfrm>
          <a:prstGeom prst="rect">
            <a:avLst/>
          </a:prstGeom>
          <a:noFill/>
          <a:ln/>
        </p:spPr>
        <p:txBody>
          <a:bodyPr wrap="square" lIns="0" tIns="0" rIns="0" bIns="0" rtlCol="0" anchor="ctr"/>
          <a:lstStyle/>
          <a:p>
            <a:pPr>
              <a:lnSpc>
                <a:spcPct val="120000"/>
              </a:lnSpc>
            </a:pPr>
            <a:r>
              <a:rPr lang="en-US" sz="1257" b="1" dirty="0">
                <a:solidFill>
                  <a:srgbClr val="D1D5DB"/>
                </a:solidFill>
                <a:latin typeface="MiSans" pitchFamily="34" charset="0"/>
                <a:ea typeface="MiSans" pitchFamily="34" charset="-122"/>
                <a:cs typeface="MiSans" pitchFamily="34" charset="-120"/>
              </a:rPr>
              <a:t>问题：</a:t>
            </a:r>
            <a:pPr>
              <a:lnSpc>
                <a:spcPct val="120000"/>
              </a:lnSpc>
            </a:pPr>
            <a:r>
              <a:rPr lang="en-US" sz="1257" dirty="0">
                <a:solidFill>
                  <a:srgbClr val="7E9AA8"/>
                </a:solidFill>
                <a:latin typeface="MiSans" pitchFamily="34" charset="0"/>
                <a:ea typeface="MiSans" pitchFamily="34" charset="-122"/>
                <a:cs typeface="MiSans" pitchFamily="34" charset="-120"/>
              </a:rPr>
              <a:t>如果某个特征预测能力极强，普通Bagging生成的所有树都会优先选用它</a:t>
            </a:r>
            <a:endParaRPr lang="en-US" sz="1600" dirty="0"/>
          </a:p>
        </p:txBody>
      </p:sp>
      <p:sp>
        <p:nvSpPr>
          <p:cNvPr id="23" name="Shape 21"/>
          <p:cNvSpPr/>
          <p:nvPr/>
        </p:nvSpPr>
        <p:spPr>
          <a:xfrm>
            <a:off x="683983" y="6343944"/>
            <a:ext cx="7147624" cy="410390"/>
          </a:xfrm>
          <a:custGeom>
            <a:avLst/>
            <a:gdLst/>
            <a:ahLst/>
            <a:cxnLst/>
            <a:rect l="l" t="t" r="r" b="b"/>
            <a:pathLst>
              <a:path w="7147624" h="410390">
                <a:moveTo>
                  <a:pt x="45598" y="0"/>
                </a:moveTo>
                <a:lnTo>
                  <a:pt x="7102026" y="0"/>
                </a:lnTo>
                <a:cubicBezTo>
                  <a:pt x="7127209" y="0"/>
                  <a:pt x="7147624" y="20415"/>
                  <a:pt x="7147624" y="45598"/>
                </a:cubicBezTo>
                <a:lnTo>
                  <a:pt x="7147624" y="364791"/>
                </a:lnTo>
                <a:cubicBezTo>
                  <a:pt x="7147624" y="389975"/>
                  <a:pt x="7127209" y="410390"/>
                  <a:pt x="7102026" y="410390"/>
                </a:cubicBezTo>
                <a:lnTo>
                  <a:pt x="45598" y="410390"/>
                </a:lnTo>
                <a:cubicBezTo>
                  <a:pt x="20415" y="410390"/>
                  <a:pt x="0" y="389975"/>
                  <a:pt x="0" y="364791"/>
                </a:cubicBezTo>
                <a:lnTo>
                  <a:pt x="0" y="45598"/>
                </a:lnTo>
                <a:cubicBezTo>
                  <a:pt x="0" y="20432"/>
                  <a:pt x="20432" y="0"/>
                  <a:pt x="45598" y="0"/>
                </a:cubicBezTo>
                <a:close/>
              </a:path>
            </a:pathLst>
          </a:custGeom>
          <a:solidFill>
            <a:srgbClr val="181A1F">
              <a:alpha val="50196"/>
            </a:srgbClr>
          </a:solidFill>
          <a:ln/>
        </p:spPr>
      </p:sp>
      <p:sp>
        <p:nvSpPr>
          <p:cNvPr id="24" name="Text 22"/>
          <p:cNvSpPr/>
          <p:nvPr/>
        </p:nvSpPr>
        <p:spPr>
          <a:xfrm>
            <a:off x="775181" y="6435142"/>
            <a:ext cx="7045027" cy="227994"/>
          </a:xfrm>
          <a:prstGeom prst="rect">
            <a:avLst/>
          </a:prstGeom>
          <a:noFill/>
          <a:ln/>
        </p:spPr>
        <p:txBody>
          <a:bodyPr wrap="square" lIns="0" tIns="0" rIns="0" bIns="0" rtlCol="0" anchor="ctr"/>
          <a:lstStyle/>
          <a:p>
            <a:pPr>
              <a:lnSpc>
                <a:spcPct val="120000"/>
              </a:lnSpc>
            </a:pPr>
            <a:r>
              <a:rPr lang="en-US" sz="1257" b="1" dirty="0">
                <a:solidFill>
                  <a:srgbClr val="D1D5DB"/>
                </a:solidFill>
                <a:latin typeface="MiSans" pitchFamily="34" charset="0"/>
                <a:ea typeface="MiSans" pitchFamily="34" charset="-122"/>
                <a:cs typeface="MiSans" pitchFamily="34" charset="-120"/>
              </a:rPr>
              <a:t>解决：</a:t>
            </a:r>
            <a:pPr>
              <a:lnSpc>
                <a:spcPct val="120000"/>
              </a:lnSpc>
            </a:pPr>
            <a:r>
              <a:rPr lang="en-US" sz="1257" dirty="0">
                <a:solidFill>
                  <a:srgbClr val="7E9AA8"/>
                </a:solidFill>
                <a:latin typeface="MiSans" pitchFamily="34" charset="0"/>
                <a:ea typeface="MiSans" pitchFamily="34" charset="-122"/>
                <a:cs typeface="MiSans" pitchFamily="34" charset="-120"/>
              </a:rPr>
              <a:t>随机森林通过强制随机选择，迫使模型去关注那些次优但互补的特征</a:t>
            </a:r>
            <a:endParaRPr lang="en-US" sz="1600" dirty="0"/>
          </a:p>
        </p:txBody>
      </p:sp>
      <p:sp>
        <p:nvSpPr>
          <p:cNvPr id="25" name="Shape 23"/>
          <p:cNvSpPr/>
          <p:nvPr/>
        </p:nvSpPr>
        <p:spPr>
          <a:xfrm>
            <a:off x="683983" y="6845532"/>
            <a:ext cx="7147624" cy="410390"/>
          </a:xfrm>
          <a:custGeom>
            <a:avLst/>
            <a:gdLst/>
            <a:ahLst/>
            <a:cxnLst/>
            <a:rect l="l" t="t" r="r" b="b"/>
            <a:pathLst>
              <a:path w="7147624" h="410390">
                <a:moveTo>
                  <a:pt x="45598" y="0"/>
                </a:moveTo>
                <a:lnTo>
                  <a:pt x="7102026" y="0"/>
                </a:lnTo>
                <a:cubicBezTo>
                  <a:pt x="7127209" y="0"/>
                  <a:pt x="7147624" y="20415"/>
                  <a:pt x="7147624" y="45598"/>
                </a:cubicBezTo>
                <a:lnTo>
                  <a:pt x="7147624" y="364791"/>
                </a:lnTo>
                <a:cubicBezTo>
                  <a:pt x="7147624" y="389975"/>
                  <a:pt x="7127209" y="410390"/>
                  <a:pt x="7102026" y="410390"/>
                </a:cubicBezTo>
                <a:lnTo>
                  <a:pt x="45598" y="410390"/>
                </a:lnTo>
                <a:cubicBezTo>
                  <a:pt x="20415" y="410390"/>
                  <a:pt x="0" y="389975"/>
                  <a:pt x="0" y="364791"/>
                </a:cubicBezTo>
                <a:lnTo>
                  <a:pt x="0" y="45598"/>
                </a:lnTo>
                <a:cubicBezTo>
                  <a:pt x="0" y="20432"/>
                  <a:pt x="20432" y="0"/>
                  <a:pt x="45598" y="0"/>
                </a:cubicBezTo>
                <a:close/>
              </a:path>
            </a:pathLst>
          </a:custGeom>
          <a:solidFill>
            <a:srgbClr val="181A1F">
              <a:alpha val="50196"/>
            </a:srgbClr>
          </a:solidFill>
          <a:ln/>
        </p:spPr>
      </p:sp>
      <p:sp>
        <p:nvSpPr>
          <p:cNvPr id="26" name="Text 24"/>
          <p:cNvSpPr/>
          <p:nvPr/>
        </p:nvSpPr>
        <p:spPr>
          <a:xfrm>
            <a:off x="775181" y="6936729"/>
            <a:ext cx="7045027" cy="227994"/>
          </a:xfrm>
          <a:prstGeom prst="rect">
            <a:avLst/>
          </a:prstGeom>
          <a:noFill/>
          <a:ln/>
        </p:spPr>
        <p:txBody>
          <a:bodyPr wrap="square" lIns="0" tIns="0" rIns="0" bIns="0" rtlCol="0" anchor="ctr"/>
          <a:lstStyle/>
          <a:p>
            <a:pPr>
              <a:lnSpc>
                <a:spcPct val="120000"/>
              </a:lnSpc>
            </a:pPr>
            <a:r>
              <a:rPr lang="en-US" sz="1257" b="1" dirty="0">
                <a:solidFill>
                  <a:srgbClr val="D1D5DB"/>
                </a:solidFill>
                <a:latin typeface="MiSans" pitchFamily="34" charset="0"/>
                <a:ea typeface="MiSans" pitchFamily="34" charset="-122"/>
                <a:cs typeface="MiSans" pitchFamily="34" charset="-120"/>
              </a:rPr>
              <a:t>效果：</a:t>
            </a:r>
            <a:pPr>
              <a:lnSpc>
                <a:spcPct val="120000"/>
              </a:lnSpc>
            </a:pPr>
            <a:r>
              <a:rPr lang="en-US" sz="1257" dirty="0">
                <a:solidFill>
                  <a:srgbClr val="7E9AA8"/>
                </a:solidFill>
                <a:latin typeface="MiSans" pitchFamily="34" charset="0"/>
                <a:ea typeface="MiSans" pitchFamily="34" charset="-122"/>
                <a:cs typeface="MiSans" pitchFamily="34" charset="-120"/>
              </a:rPr>
              <a:t>大幅降低学习器间相关性ρ，使集成模型更加健壮</a:t>
            </a:r>
            <a:endParaRPr lang="en-US" sz="1600" dirty="0"/>
          </a:p>
        </p:txBody>
      </p:sp>
      <p:sp>
        <p:nvSpPr>
          <p:cNvPr id="27" name="Shape 25"/>
          <p:cNvSpPr/>
          <p:nvPr/>
        </p:nvSpPr>
        <p:spPr>
          <a:xfrm>
            <a:off x="8246361" y="1647259"/>
            <a:ext cx="7546614" cy="3385717"/>
          </a:xfrm>
          <a:custGeom>
            <a:avLst/>
            <a:gdLst/>
            <a:ahLst/>
            <a:cxnLst/>
            <a:rect l="l" t="t" r="r" b="b"/>
            <a:pathLst>
              <a:path w="7546614" h="3385717">
                <a:moveTo>
                  <a:pt x="91211" y="0"/>
                </a:moveTo>
                <a:lnTo>
                  <a:pt x="7455403" y="0"/>
                </a:lnTo>
                <a:cubicBezTo>
                  <a:pt x="7505778" y="0"/>
                  <a:pt x="7546614" y="40837"/>
                  <a:pt x="7546614" y="91211"/>
                </a:cubicBezTo>
                <a:lnTo>
                  <a:pt x="7546614" y="3294505"/>
                </a:lnTo>
                <a:cubicBezTo>
                  <a:pt x="7546614" y="3344880"/>
                  <a:pt x="7505778" y="3385717"/>
                  <a:pt x="7455403" y="3385717"/>
                </a:cubicBezTo>
                <a:lnTo>
                  <a:pt x="91211" y="3385717"/>
                </a:lnTo>
                <a:cubicBezTo>
                  <a:pt x="40837" y="3385717"/>
                  <a:pt x="0" y="3344880"/>
                  <a:pt x="0" y="3294505"/>
                </a:cubicBezTo>
                <a:lnTo>
                  <a:pt x="0" y="91211"/>
                </a:lnTo>
                <a:cubicBezTo>
                  <a:pt x="0" y="40870"/>
                  <a:pt x="40870" y="0"/>
                  <a:pt x="91211" y="0"/>
                </a:cubicBezTo>
                <a:close/>
              </a:path>
            </a:pathLst>
          </a:custGeom>
          <a:solidFill>
            <a:srgbClr val="3A5E78">
              <a:alpha val="20000"/>
            </a:srgbClr>
          </a:solidFill>
          <a:ln w="12700">
            <a:solidFill>
              <a:srgbClr val="4C7E9A">
                <a:alpha val="50196"/>
              </a:srgbClr>
            </a:solidFill>
            <a:prstDash val="solid"/>
          </a:ln>
        </p:spPr>
      </p:sp>
      <p:sp>
        <p:nvSpPr>
          <p:cNvPr id="28" name="Text 26"/>
          <p:cNvSpPr/>
          <p:nvPr/>
        </p:nvSpPr>
        <p:spPr>
          <a:xfrm>
            <a:off x="8434457" y="1835355"/>
            <a:ext cx="7307220" cy="364791"/>
          </a:xfrm>
          <a:prstGeom prst="rect">
            <a:avLst/>
          </a:prstGeom>
          <a:noFill/>
          <a:ln/>
        </p:spPr>
        <p:txBody>
          <a:bodyPr wrap="square" lIns="0" tIns="0" rIns="0" bIns="0" rtlCol="0" anchor="ctr"/>
          <a:lstStyle/>
          <a:p>
            <a:pPr>
              <a:lnSpc>
                <a:spcPct val="110000"/>
              </a:lnSpc>
            </a:pPr>
            <a:r>
              <a:rPr lang="en-US" sz="2154" b="1" dirty="0">
                <a:solidFill>
                  <a:srgbClr val="4C7E9A"/>
                </a:solidFill>
                <a:latin typeface="MiSans" pitchFamily="34" charset="0"/>
                <a:ea typeface="MiSans" pitchFamily="34" charset="-122"/>
                <a:cs typeface="MiSans" pitchFamily="34" charset="-120"/>
              </a:rPr>
              <a:t>工程实践建议</a:t>
            </a:r>
            <a:endParaRPr lang="en-US" sz="1600" dirty="0"/>
          </a:p>
        </p:txBody>
      </p:sp>
      <p:sp>
        <p:nvSpPr>
          <p:cNvPr id="29" name="Shape 27"/>
          <p:cNvSpPr/>
          <p:nvPr/>
        </p:nvSpPr>
        <p:spPr>
          <a:xfrm>
            <a:off x="8434457" y="2336942"/>
            <a:ext cx="7170424" cy="1094373"/>
          </a:xfrm>
          <a:custGeom>
            <a:avLst/>
            <a:gdLst/>
            <a:ahLst/>
            <a:cxnLst/>
            <a:rect l="l" t="t" r="r" b="b"/>
            <a:pathLst>
              <a:path w="7170424" h="1094373">
                <a:moveTo>
                  <a:pt x="45603" y="0"/>
                </a:moveTo>
                <a:lnTo>
                  <a:pt x="7124821" y="0"/>
                </a:lnTo>
                <a:cubicBezTo>
                  <a:pt x="7150007" y="0"/>
                  <a:pt x="7170424" y="20417"/>
                  <a:pt x="7170424" y="45603"/>
                </a:cubicBezTo>
                <a:lnTo>
                  <a:pt x="7170424" y="1048771"/>
                </a:lnTo>
                <a:cubicBezTo>
                  <a:pt x="7170424" y="1073956"/>
                  <a:pt x="7150007" y="1094373"/>
                  <a:pt x="7124821" y="1094373"/>
                </a:cubicBezTo>
                <a:lnTo>
                  <a:pt x="45603" y="1094373"/>
                </a:lnTo>
                <a:cubicBezTo>
                  <a:pt x="20417" y="1094373"/>
                  <a:pt x="0" y="1073956"/>
                  <a:pt x="0" y="1048771"/>
                </a:cubicBezTo>
                <a:lnTo>
                  <a:pt x="0" y="45603"/>
                </a:lnTo>
                <a:cubicBezTo>
                  <a:pt x="0" y="20434"/>
                  <a:pt x="20434" y="0"/>
                  <a:pt x="45603" y="0"/>
                </a:cubicBezTo>
                <a:close/>
              </a:path>
            </a:pathLst>
          </a:custGeom>
          <a:solidFill>
            <a:srgbClr val="181A1F">
              <a:alpha val="50196"/>
            </a:srgbClr>
          </a:solidFill>
          <a:ln/>
        </p:spPr>
      </p:sp>
      <p:sp>
        <p:nvSpPr>
          <p:cNvPr id="30" name="Shape 28"/>
          <p:cNvSpPr/>
          <p:nvPr/>
        </p:nvSpPr>
        <p:spPr>
          <a:xfrm>
            <a:off x="8612577" y="2536438"/>
            <a:ext cx="179546" cy="205195"/>
          </a:xfrm>
          <a:custGeom>
            <a:avLst/>
            <a:gdLst/>
            <a:ahLst/>
            <a:cxnLst/>
            <a:rect l="l" t="t" r="r" b="b"/>
            <a:pathLst>
              <a:path w="179546" h="205195">
                <a:moveTo>
                  <a:pt x="89773" y="-12825"/>
                </a:moveTo>
                <a:cubicBezTo>
                  <a:pt x="92578" y="-12825"/>
                  <a:pt x="95263" y="-11582"/>
                  <a:pt x="97107" y="-9418"/>
                </a:cubicBezTo>
                <a:lnTo>
                  <a:pt x="151612" y="54705"/>
                </a:lnTo>
                <a:cubicBezTo>
                  <a:pt x="154057" y="57551"/>
                  <a:pt x="154578" y="61558"/>
                  <a:pt x="153015" y="64965"/>
                </a:cubicBezTo>
                <a:cubicBezTo>
                  <a:pt x="151452" y="68372"/>
                  <a:pt x="148045" y="70536"/>
                  <a:pt x="144278" y="70536"/>
                </a:cubicBezTo>
                <a:lnTo>
                  <a:pt x="134298" y="70536"/>
                </a:lnTo>
                <a:lnTo>
                  <a:pt x="164437" y="106004"/>
                </a:lnTo>
                <a:cubicBezTo>
                  <a:pt x="166881" y="108850"/>
                  <a:pt x="167402" y="112857"/>
                  <a:pt x="165839" y="116264"/>
                </a:cubicBezTo>
                <a:cubicBezTo>
                  <a:pt x="164276" y="119670"/>
                  <a:pt x="160870" y="121835"/>
                  <a:pt x="157102" y="121835"/>
                </a:cubicBezTo>
                <a:lnTo>
                  <a:pt x="141673" y="121835"/>
                </a:lnTo>
                <a:lnTo>
                  <a:pt x="177261" y="163715"/>
                </a:lnTo>
                <a:cubicBezTo>
                  <a:pt x="179706" y="166561"/>
                  <a:pt x="180227" y="170568"/>
                  <a:pt x="178664" y="173975"/>
                </a:cubicBezTo>
                <a:cubicBezTo>
                  <a:pt x="177101" y="177381"/>
                  <a:pt x="173694" y="179546"/>
                  <a:pt x="169927" y="179546"/>
                </a:cubicBezTo>
                <a:lnTo>
                  <a:pt x="102597" y="179546"/>
                </a:lnTo>
                <a:lnTo>
                  <a:pt x="102597" y="205195"/>
                </a:lnTo>
                <a:cubicBezTo>
                  <a:pt x="102597" y="212289"/>
                  <a:pt x="96866" y="218020"/>
                  <a:pt x="89773" y="218020"/>
                </a:cubicBezTo>
                <a:cubicBezTo>
                  <a:pt x="82679" y="218020"/>
                  <a:pt x="76948" y="212289"/>
                  <a:pt x="76948" y="205195"/>
                </a:cubicBezTo>
                <a:lnTo>
                  <a:pt x="76948" y="179546"/>
                </a:lnTo>
                <a:lnTo>
                  <a:pt x="9619" y="179546"/>
                </a:lnTo>
                <a:cubicBezTo>
                  <a:pt x="5851" y="179546"/>
                  <a:pt x="2445" y="177381"/>
                  <a:pt x="882" y="173975"/>
                </a:cubicBezTo>
                <a:cubicBezTo>
                  <a:pt x="-681" y="170568"/>
                  <a:pt x="-160" y="166561"/>
                  <a:pt x="2284" y="163715"/>
                </a:cubicBezTo>
                <a:lnTo>
                  <a:pt x="37873" y="121835"/>
                </a:lnTo>
                <a:lnTo>
                  <a:pt x="22443" y="121835"/>
                </a:lnTo>
                <a:cubicBezTo>
                  <a:pt x="18676" y="121835"/>
                  <a:pt x="15269" y="119670"/>
                  <a:pt x="13706" y="116264"/>
                </a:cubicBezTo>
                <a:cubicBezTo>
                  <a:pt x="12143" y="112857"/>
                  <a:pt x="12664" y="108850"/>
                  <a:pt x="15109" y="106004"/>
                </a:cubicBezTo>
                <a:lnTo>
                  <a:pt x="45247" y="70536"/>
                </a:lnTo>
                <a:lnTo>
                  <a:pt x="35268" y="70536"/>
                </a:lnTo>
                <a:cubicBezTo>
                  <a:pt x="31501" y="70536"/>
                  <a:pt x="28094" y="68372"/>
                  <a:pt x="26531" y="64965"/>
                </a:cubicBezTo>
                <a:cubicBezTo>
                  <a:pt x="24968" y="61558"/>
                  <a:pt x="25489" y="57551"/>
                  <a:pt x="27934" y="54705"/>
                </a:cubicBezTo>
                <a:lnTo>
                  <a:pt x="82439" y="-9418"/>
                </a:lnTo>
                <a:cubicBezTo>
                  <a:pt x="84282" y="-11582"/>
                  <a:pt x="86967" y="-12825"/>
                  <a:pt x="89773" y="-12825"/>
                </a:cubicBezTo>
                <a:close/>
              </a:path>
            </a:pathLst>
          </a:custGeom>
          <a:solidFill>
            <a:srgbClr val="4C7E9A"/>
          </a:solidFill>
          <a:ln/>
        </p:spPr>
      </p:sp>
      <p:sp>
        <p:nvSpPr>
          <p:cNvPr id="31" name="Text 29"/>
          <p:cNvSpPr/>
          <p:nvPr/>
        </p:nvSpPr>
        <p:spPr>
          <a:xfrm>
            <a:off x="8915307" y="2473739"/>
            <a:ext cx="6655374" cy="319192"/>
          </a:xfrm>
          <a:prstGeom prst="rect">
            <a:avLst/>
          </a:prstGeom>
          <a:noFill/>
          <a:ln/>
        </p:spPr>
        <p:txBody>
          <a:bodyPr wrap="square" lIns="0" tIns="0" rIns="0" bIns="0" rtlCol="0" anchor="ctr"/>
          <a:lstStyle/>
          <a:p>
            <a:pPr>
              <a:lnSpc>
                <a:spcPct val="130000"/>
              </a:lnSpc>
            </a:pPr>
            <a:r>
              <a:rPr lang="en-US" sz="1616" b="1" dirty="0">
                <a:solidFill>
                  <a:srgbClr val="D1D5DB"/>
                </a:solidFill>
                <a:latin typeface="MiSans" pitchFamily="34" charset="0"/>
                <a:ea typeface="MiSans" pitchFamily="34" charset="-122"/>
                <a:cs typeface="MiSans" pitchFamily="34" charset="-120"/>
              </a:rPr>
              <a:t>树的数量</a:t>
            </a:r>
            <a:endParaRPr lang="en-US" sz="1600" dirty="0"/>
          </a:p>
        </p:txBody>
      </p:sp>
      <p:sp>
        <p:nvSpPr>
          <p:cNvPr id="32" name="Text 30"/>
          <p:cNvSpPr/>
          <p:nvPr/>
        </p:nvSpPr>
        <p:spPr>
          <a:xfrm>
            <a:off x="8571253" y="2838530"/>
            <a:ext cx="6976628" cy="227994"/>
          </a:xfrm>
          <a:prstGeom prst="rect">
            <a:avLst/>
          </a:prstGeom>
          <a:noFill/>
          <a:ln/>
        </p:spPr>
        <p:txBody>
          <a:bodyPr wrap="square" lIns="0" tIns="0" rIns="0" bIns="0" rtlCol="0" anchor="ctr"/>
          <a:lstStyle/>
          <a:p>
            <a:pPr>
              <a:lnSpc>
                <a:spcPct val="120000"/>
              </a:lnSpc>
            </a:pPr>
            <a:r>
              <a:rPr lang="en-US" sz="1257" dirty="0">
                <a:solidFill>
                  <a:srgbClr val="7E9AA8"/>
                </a:solidFill>
                <a:latin typeface="MiSans" pitchFamily="34" charset="0"/>
                <a:ea typeface="MiSans" pitchFamily="34" charset="-122"/>
                <a:cs typeface="MiSans" pitchFamily="34" charset="-120"/>
              </a:rPr>
              <a:t>常见经验是至少100棵，具体以OOB估计或验证集误差趋稳为准</a:t>
            </a:r>
            <a:endParaRPr lang="en-US" sz="1600" dirty="0"/>
          </a:p>
        </p:txBody>
      </p:sp>
      <p:sp>
        <p:nvSpPr>
          <p:cNvPr id="33" name="Shape 31"/>
          <p:cNvSpPr/>
          <p:nvPr/>
        </p:nvSpPr>
        <p:spPr>
          <a:xfrm>
            <a:off x="8605452" y="3140623"/>
            <a:ext cx="102597" cy="136797"/>
          </a:xfrm>
          <a:custGeom>
            <a:avLst/>
            <a:gdLst/>
            <a:ahLst/>
            <a:cxnLst/>
            <a:rect l="l" t="t" r="r" b="b"/>
            <a:pathLst>
              <a:path w="102597" h="136797">
                <a:moveTo>
                  <a:pt x="78257" y="102597"/>
                </a:moveTo>
                <a:cubicBezTo>
                  <a:pt x="80208" y="96639"/>
                  <a:pt x="84109" y="91242"/>
                  <a:pt x="88517" y="86593"/>
                </a:cubicBezTo>
                <a:cubicBezTo>
                  <a:pt x="97254" y="77402"/>
                  <a:pt x="102597" y="64978"/>
                  <a:pt x="102597" y="51299"/>
                </a:cubicBezTo>
                <a:cubicBezTo>
                  <a:pt x="102597" y="22978"/>
                  <a:pt x="79620" y="0"/>
                  <a:pt x="51299" y="0"/>
                </a:cubicBezTo>
                <a:cubicBezTo>
                  <a:pt x="22978" y="0"/>
                  <a:pt x="0" y="22978"/>
                  <a:pt x="0" y="51299"/>
                </a:cubicBezTo>
                <a:cubicBezTo>
                  <a:pt x="0" y="64978"/>
                  <a:pt x="5344" y="77402"/>
                  <a:pt x="14080" y="86593"/>
                </a:cubicBezTo>
                <a:cubicBezTo>
                  <a:pt x="18489" y="91242"/>
                  <a:pt x="22416" y="96639"/>
                  <a:pt x="24340" y="102597"/>
                </a:cubicBezTo>
                <a:lnTo>
                  <a:pt x="78231" y="102597"/>
                </a:lnTo>
                <a:close/>
                <a:moveTo>
                  <a:pt x="76948" y="115422"/>
                </a:moveTo>
                <a:lnTo>
                  <a:pt x="25649" y="115422"/>
                </a:lnTo>
                <a:lnTo>
                  <a:pt x="25649" y="119697"/>
                </a:lnTo>
                <a:cubicBezTo>
                  <a:pt x="25649" y="131506"/>
                  <a:pt x="35214" y="141072"/>
                  <a:pt x="47024" y="141072"/>
                </a:cubicBezTo>
                <a:lnTo>
                  <a:pt x="55574" y="141072"/>
                </a:lnTo>
                <a:cubicBezTo>
                  <a:pt x="67383" y="141072"/>
                  <a:pt x="76948" y="131506"/>
                  <a:pt x="76948" y="119697"/>
                </a:cubicBezTo>
                <a:lnTo>
                  <a:pt x="76948" y="115422"/>
                </a:lnTo>
                <a:close/>
                <a:moveTo>
                  <a:pt x="49161" y="29924"/>
                </a:moveTo>
                <a:cubicBezTo>
                  <a:pt x="38527" y="29924"/>
                  <a:pt x="29924" y="38527"/>
                  <a:pt x="29924" y="49161"/>
                </a:cubicBezTo>
                <a:cubicBezTo>
                  <a:pt x="29924" y="52715"/>
                  <a:pt x="27065" y="55574"/>
                  <a:pt x="23512" y="55574"/>
                </a:cubicBezTo>
                <a:cubicBezTo>
                  <a:pt x="19958" y="55574"/>
                  <a:pt x="17100" y="52715"/>
                  <a:pt x="17100" y="49161"/>
                </a:cubicBezTo>
                <a:cubicBezTo>
                  <a:pt x="17100" y="31447"/>
                  <a:pt x="31447" y="17100"/>
                  <a:pt x="49161" y="17100"/>
                </a:cubicBezTo>
                <a:cubicBezTo>
                  <a:pt x="52715" y="17100"/>
                  <a:pt x="55574" y="19958"/>
                  <a:pt x="55574" y="23512"/>
                </a:cubicBezTo>
                <a:cubicBezTo>
                  <a:pt x="55574" y="27065"/>
                  <a:pt x="52715" y="29924"/>
                  <a:pt x="49161" y="29924"/>
                </a:cubicBezTo>
                <a:close/>
              </a:path>
            </a:pathLst>
          </a:custGeom>
          <a:solidFill>
            <a:srgbClr val="4C7E9A"/>
          </a:solidFill>
          <a:ln/>
        </p:spPr>
      </p:sp>
      <p:sp>
        <p:nvSpPr>
          <p:cNvPr id="34" name="Text 32"/>
          <p:cNvSpPr/>
          <p:nvPr/>
        </p:nvSpPr>
        <p:spPr>
          <a:xfrm>
            <a:off x="8783179" y="3112123"/>
            <a:ext cx="6753303" cy="182396"/>
          </a:xfrm>
          <a:prstGeom prst="rect">
            <a:avLst/>
          </a:prstGeom>
          <a:noFill/>
          <a:ln/>
        </p:spPr>
        <p:txBody>
          <a:bodyPr wrap="square" lIns="0" tIns="0" rIns="0" bIns="0" rtlCol="0" anchor="ctr"/>
          <a:lstStyle/>
          <a:p>
            <a:pPr>
              <a:lnSpc>
                <a:spcPct val="110000"/>
              </a:lnSpc>
            </a:pPr>
            <a:r>
              <a:rPr lang="en-US" sz="1077" dirty="0">
                <a:solidFill>
                  <a:srgbClr val="7E9AA8"/>
                </a:solidFill>
                <a:latin typeface="MiSans" pitchFamily="34" charset="0"/>
                <a:ea typeface="MiSans" pitchFamily="34" charset="-122"/>
                <a:cs typeface="MiSans" pitchFamily="34" charset="-120"/>
              </a:rPr>
              <a:t>树越多模型越稳定，代价主要是计算成本</a:t>
            </a:r>
            <a:endParaRPr lang="en-US" sz="1600" dirty="0"/>
          </a:p>
        </p:txBody>
      </p:sp>
      <p:sp>
        <p:nvSpPr>
          <p:cNvPr id="35" name="Shape 33"/>
          <p:cNvSpPr/>
          <p:nvPr/>
        </p:nvSpPr>
        <p:spPr>
          <a:xfrm>
            <a:off x="8434457" y="3568112"/>
            <a:ext cx="7170424" cy="1276769"/>
          </a:xfrm>
          <a:custGeom>
            <a:avLst/>
            <a:gdLst/>
            <a:ahLst/>
            <a:cxnLst/>
            <a:rect l="l" t="t" r="r" b="b"/>
            <a:pathLst>
              <a:path w="7170424" h="1276769">
                <a:moveTo>
                  <a:pt x="45593" y="0"/>
                </a:moveTo>
                <a:lnTo>
                  <a:pt x="7124830" y="0"/>
                </a:lnTo>
                <a:cubicBezTo>
                  <a:pt x="7150011" y="0"/>
                  <a:pt x="7170424" y="20413"/>
                  <a:pt x="7170424" y="45593"/>
                </a:cubicBezTo>
                <a:lnTo>
                  <a:pt x="7170424" y="1231175"/>
                </a:lnTo>
                <a:cubicBezTo>
                  <a:pt x="7170424" y="1256356"/>
                  <a:pt x="7150011" y="1276769"/>
                  <a:pt x="7124830" y="1276769"/>
                </a:cubicBezTo>
                <a:lnTo>
                  <a:pt x="45593" y="1276769"/>
                </a:lnTo>
                <a:cubicBezTo>
                  <a:pt x="20413" y="1276769"/>
                  <a:pt x="0" y="1256356"/>
                  <a:pt x="0" y="1231175"/>
                </a:cubicBezTo>
                <a:lnTo>
                  <a:pt x="0" y="45593"/>
                </a:lnTo>
                <a:cubicBezTo>
                  <a:pt x="0" y="20430"/>
                  <a:pt x="20430" y="0"/>
                  <a:pt x="45593" y="0"/>
                </a:cubicBezTo>
                <a:close/>
              </a:path>
            </a:pathLst>
          </a:custGeom>
          <a:solidFill>
            <a:srgbClr val="181A1F">
              <a:alpha val="50196"/>
            </a:srgbClr>
          </a:solidFill>
          <a:ln/>
        </p:spPr>
      </p:sp>
      <p:sp>
        <p:nvSpPr>
          <p:cNvPr id="36" name="Shape 34"/>
          <p:cNvSpPr/>
          <p:nvPr/>
        </p:nvSpPr>
        <p:spPr>
          <a:xfrm>
            <a:off x="8599752" y="3767607"/>
            <a:ext cx="205195" cy="205195"/>
          </a:xfrm>
          <a:custGeom>
            <a:avLst/>
            <a:gdLst/>
            <a:ahLst/>
            <a:cxnLst/>
            <a:rect l="l" t="t" r="r" b="b"/>
            <a:pathLst>
              <a:path w="205195" h="205195">
                <a:moveTo>
                  <a:pt x="12825" y="25649"/>
                </a:moveTo>
                <a:cubicBezTo>
                  <a:pt x="5731" y="25649"/>
                  <a:pt x="0" y="31380"/>
                  <a:pt x="0" y="38474"/>
                </a:cubicBezTo>
                <a:cubicBezTo>
                  <a:pt x="0" y="45568"/>
                  <a:pt x="5731" y="51299"/>
                  <a:pt x="12825" y="51299"/>
                </a:cubicBezTo>
                <a:lnTo>
                  <a:pt x="47572" y="51299"/>
                </a:lnTo>
                <a:cubicBezTo>
                  <a:pt x="52501" y="62641"/>
                  <a:pt x="63803" y="70536"/>
                  <a:pt x="76948" y="70536"/>
                </a:cubicBezTo>
                <a:cubicBezTo>
                  <a:pt x="90093" y="70536"/>
                  <a:pt x="101395" y="62641"/>
                  <a:pt x="106325" y="51299"/>
                </a:cubicBezTo>
                <a:lnTo>
                  <a:pt x="192370" y="51299"/>
                </a:lnTo>
                <a:cubicBezTo>
                  <a:pt x="199464" y="51299"/>
                  <a:pt x="205195" y="45568"/>
                  <a:pt x="205195" y="38474"/>
                </a:cubicBezTo>
                <a:cubicBezTo>
                  <a:pt x="205195" y="31380"/>
                  <a:pt x="199464" y="25649"/>
                  <a:pt x="192370" y="25649"/>
                </a:cubicBezTo>
                <a:lnTo>
                  <a:pt x="106325" y="25649"/>
                </a:lnTo>
                <a:cubicBezTo>
                  <a:pt x="101395" y="14308"/>
                  <a:pt x="90093" y="6412"/>
                  <a:pt x="76948" y="6412"/>
                </a:cubicBezTo>
                <a:cubicBezTo>
                  <a:pt x="63803" y="6412"/>
                  <a:pt x="52501" y="14308"/>
                  <a:pt x="47572" y="25649"/>
                </a:cubicBezTo>
                <a:lnTo>
                  <a:pt x="12825" y="25649"/>
                </a:lnTo>
                <a:close/>
                <a:moveTo>
                  <a:pt x="12825" y="89773"/>
                </a:moveTo>
                <a:cubicBezTo>
                  <a:pt x="5731" y="89773"/>
                  <a:pt x="0" y="95504"/>
                  <a:pt x="0" y="102597"/>
                </a:cubicBezTo>
                <a:cubicBezTo>
                  <a:pt x="0" y="109691"/>
                  <a:pt x="5731" y="115422"/>
                  <a:pt x="12825" y="115422"/>
                </a:cubicBezTo>
                <a:lnTo>
                  <a:pt x="111695" y="115422"/>
                </a:lnTo>
                <a:cubicBezTo>
                  <a:pt x="116624" y="126764"/>
                  <a:pt x="127926" y="134659"/>
                  <a:pt x="141072" y="134659"/>
                </a:cubicBezTo>
                <a:cubicBezTo>
                  <a:pt x="154217" y="134659"/>
                  <a:pt x="165519" y="126764"/>
                  <a:pt x="170448" y="115422"/>
                </a:cubicBezTo>
                <a:lnTo>
                  <a:pt x="192370" y="115422"/>
                </a:lnTo>
                <a:cubicBezTo>
                  <a:pt x="199464" y="115422"/>
                  <a:pt x="205195" y="109691"/>
                  <a:pt x="205195" y="102597"/>
                </a:cubicBezTo>
                <a:cubicBezTo>
                  <a:pt x="205195" y="95504"/>
                  <a:pt x="199464" y="89773"/>
                  <a:pt x="192370" y="89773"/>
                </a:cubicBezTo>
                <a:lnTo>
                  <a:pt x="170448" y="89773"/>
                </a:lnTo>
                <a:cubicBezTo>
                  <a:pt x="165519" y="78431"/>
                  <a:pt x="154217" y="70536"/>
                  <a:pt x="141072" y="70536"/>
                </a:cubicBezTo>
                <a:cubicBezTo>
                  <a:pt x="127926" y="70536"/>
                  <a:pt x="116624" y="78431"/>
                  <a:pt x="111695" y="89773"/>
                </a:cubicBezTo>
                <a:lnTo>
                  <a:pt x="12825" y="89773"/>
                </a:lnTo>
                <a:close/>
                <a:moveTo>
                  <a:pt x="12825" y="153896"/>
                </a:moveTo>
                <a:cubicBezTo>
                  <a:pt x="5731" y="153896"/>
                  <a:pt x="0" y="159627"/>
                  <a:pt x="0" y="166721"/>
                </a:cubicBezTo>
                <a:cubicBezTo>
                  <a:pt x="0" y="173815"/>
                  <a:pt x="5731" y="179546"/>
                  <a:pt x="12825" y="179546"/>
                </a:cubicBezTo>
                <a:lnTo>
                  <a:pt x="34747" y="179546"/>
                </a:lnTo>
                <a:cubicBezTo>
                  <a:pt x="39676" y="190887"/>
                  <a:pt x="50978" y="198783"/>
                  <a:pt x="64123" y="198783"/>
                </a:cubicBezTo>
                <a:cubicBezTo>
                  <a:pt x="77269" y="198783"/>
                  <a:pt x="88570" y="190887"/>
                  <a:pt x="93500" y="179546"/>
                </a:cubicBezTo>
                <a:lnTo>
                  <a:pt x="192370" y="179546"/>
                </a:lnTo>
                <a:cubicBezTo>
                  <a:pt x="199464" y="179546"/>
                  <a:pt x="205195" y="173815"/>
                  <a:pt x="205195" y="166721"/>
                </a:cubicBezTo>
                <a:cubicBezTo>
                  <a:pt x="205195" y="159627"/>
                  <a:pt x="199464" y="153896"/>
                  <a:pt x="192370" y="153896"/>
                </a:cubicBezTo>
                <a:lnTo>
                  <a:pt x="93500" y="153896"/>
                </a:lnTo>
                <a:cubicBezTo>
                  <a:pt x="88570" y="142554"/>
                  <a:pt x="77269" y="134659"/>
                  <a:pt x="64123" y="134659"/>
                </a:cubicBezTo>
                <a:cubicBezTo>
                  <a:pt x="50978" y="134659"/>
                  <a:pt x="39676" y="142554"/>
                  <a:pt x="34747" y="153896"/>
                </a:cubicBezTo>
                <a:lnTo>
                  <a:pt x="12825" y="153896"/>
                </a:lnTo>
                <a:close/>
              </a:path>
            </a:pathLst>
          </a:custGeom>
          <a:solidFill>
            <a:srgbClr val="4C7E9A"/>
          </a:solidFill>
          <a:ln/>
        </p:spPr>
      </p:sp>
      <p:sp>
        <p:nvSpPr>
          <p:cNvPr id="37" name="Text 35"/>
          <p:cNvSpPr/>
          <p:nvPr/>
        </p:nvSpPr>
        <p:spPr>
          <a:xfrm>
            <a:off x="8915307" y="3704909"/>
            <a:ext cx="6655374" cy="319192"/>
          </a:xfrm>
          <a:prstGeom prst="rect">
            <a:avLst/>
          </a:prstGeom>
          <a:noFill/>
          <a:ln/>
        </p:spPr>
        <p:txBody>
          <a:bodyPr wrap="square" lIns="0" tIns="0" rIns="0" bIns="0" rtlCol="0" anchor="ctr"/>
          <a:lstStyle/>
          <a:p>
            <a:pPr>
              <a:lnSpc>
                <a:spcPct val="130000"/>
              </a:lnSpc>
            </a:pPr>
            <a:r>
              <a:rPr lang="en-US" sz="1616" b="1" dirty="0">
                <a:solidFill>
                  <a:srgbClr val="D1D5DB"/>
                </a:solidFill>
                <a:latin typeface="MiSans" pitchFamily="34" charset="0"/>
                <a:ea typeface="MiSans" pitchFamily="34" charset="-122"/>
                <a:cs typeface="MiSans" pitchFamily="34" charset="-120"/>
              </a:rPr>
              <a:t>特征子集大小</a:t>
            </a:r>
            <a:endParaRPr lang="en-US" sz="1600" dirty="0"/>
          </a:p>
        </p:txBody>
      </p:sp>
      <p:sp>
        <p:nvSpPr>
          <p:cNvPr id="38" name="Text 36"/>
          <p:cNvSpPr/>
          <p:nvPr/>
        </p:nvSpPr>
        <p:spPr>
          <a:xfrm>
            <a:off x="8571253" y="4069700"/>
            <a:ext cx="6976628" cy="227994"/>
          </a:xfrm>
          <a:prstGeom prst="rect">
            <a:avLst/>
          </a:prstGeom>
          <a:noFill/>
          <a:ln/>
        </p:spPr>
        <p:txBody>
          <a:bodyPr wrap="square" lIns="0" tIns="0" rIns="0" bIns="0" rtlCol="0" anchor="ctr"/>
          <a:lstStyle/>
          <a:p>
            <a:pPr>
              <a:lnSpc>
                <a:spcPct val="120000"/>
              </a:lnSpc>
            </a:pPr>
            <a:r>
              <a:rPr lang="en-US" sz="1257" dirty="0">
                <a:solidFill>
                  <a:srgbClr val="7E9AA8"/>
                </a:solidFill>
                <a:latin typeface="MiSans" pitchFamily="34" charset="0"/>
                <a:ea typeface="MiSans" pitchFamily="34" charset="-122"/>
                <a:cs typeface="MiSans" pitchFamily="34" charset="-120"/>
              </a:rPr>
              <a:t>这是权衡偏差与方差的关键</a:t>
            </a:r>
            <a:endParaRPr lang="en-US" sz="1600" dirty="0"/>
          </a:p>
        </p:txBody>
      </p:sp>
      <p:sp>
        <p:nvSpPr>
          <p:cNvPr id="39" name="Text 37"/>
          <p:cNvSpPr/>
          <p:nvPr/>
        </p:nvSpPr>
        <p:spPr>
          <a:xfrm>
            <a:off x="8571253" y="4343293"/>
            <a:ext cx="6965229" cy="182396"/>
          </a:xfrm>
          <a:prstGeom prst="rect">
            <a:avLst/>
          </a:prstGeom>
          <a:noFill/>
          <a:ln/>
        </p:spPr>
        <p:txBody>
          <a:bodyPr wrap="square" lIns="0" tIns="0" rIns="0" bIns="0" rtlCol="0" anchor="ctr"/>
          <a:lstStyle/>
          <a:p>
            <a:pPr>
              <a:lnSpc>
                <a:spcPct val="110000"/>
              </a:lnSpc>
            </a:pPr>
            <a:r>
              <a:rPr lang="en-US" sz="1077" dirty="0">
                <a:solidFill>
                  <a:srgbClr val="7E9AA8"/>
                </a:solidFill>
                <a:latin typeface="MiSans" pitchFamily="34" charset="0"/>
                <a:ea typeface="MiSans" pitchFamily="34" charset="-122"/>
                <a:cs typeface="MiSans" pitchFamily="34" charset="-120"/>
              </a:rPr>
              <a:t>• 分类任务：特征子集大小 ≈ √p</a:t>
            </a:r>
            <a:endParaRPr lang="en-US" sz="1600" dirty="0"/>
          </a:p>
        </p:txBody>
      </p:sp>
      <p:sp>
        <p:nvSpPr>
          <p:cNvPr id="40" name="Text 38"/>
          <p:cNvSpPr/>
          <p:nvPr/>
        </p:nvSpPr>
        <p:spPr>
          <a:xfrm>
            <a:off x="8571253" y="4525689"/>
            <a:ext cx="6965229" cy="182396"/>
          </a:xfrm>
          <a:prstGeom prst="rect">
            <a:avLst/>
          </a:prstGeom>
          <a:noFill/>
          <a:ln/>
        </p:spPr>
        <p:txBody>
          <a:bodyPr wrap="square" lIns="0" tIns="0" rIns="0" bIns="0" rtlCol="0" anchor="ctr"/>
          <a:lstStyle/>
          <a:p>
            <a:pPr>
              <a:lnSpc>
                <a:spcPct val="110000"/>
              </a:lnSpc>
            </a:pPr>
            <a:r>
              <a:rPr lang="en-US" sz="1077" dirty="0">
                <a:solidFill>
                  <a:srgbClr val="7E9AA8"/>
                </a:solidFill>
                <a:latin typeface="MiSans" pitchFamily="34" charset="0"/>
                <a:ea typeface="MiSans" pitchFamily="34" charset="-122"/>
                <a:cs typeface="MiSans" pitchFamily="34" charset="-120"/>
              </a:rPr>
              <a:t>• 回归任务：特征子集大小 ≈ p/3</a:t>
            </a:r>
            <a:endParaRPr lang="en-US" sz="1600" dirty="0"/>
          </a:p>
        </p:txBody>
      </p:sp>
      <p:sp>
        <p:nvSpPr>
          <p:cNvPr id="41" name="Shape 39"/>
          <p:cNvSpPr/>
          <p:nvPr/>
        </p:nvSpPr>
        <p:spPr>
          <a:xfrm>
            <a:off x="8246361" y="5226771"/>
            <a:ext cx="7546614" cy="2428140"/>
          </a:xfrm>
          <a:custGeom>
            <a:avLst/>
            <a:gdLst/>
            <a:ahLst/>
            <a:cxnLst/>
            <a:rect l="l" t="t" r="r" b="b"/>
            <a:pathLst>
              <a:path w="7546614" h="2428140">
                <a:moveTo>
                  <a:pt x="91201" y="0"/>
                </a:moveTo>
                <a:lnTo>
                  <a:pt x="7455413" y="0"/>
                </a:lnTo>
                <a:cubicBezTo>
                  <a:pt x="7505782" y="0"/>
                  <a:pt x="7546614" y="40832"/>
                  <a:pt x="7546614" y="91201"/>
                </a:cubicBezTo>
                <a:lnTo>
                  <a:pt x="7546614" y="2336939"/>
                </a:lnTo>
                <a:cubicBezTo>
                  <a:pt x="7546614" y="2387308"/>
                  <a:pt x="7505782" y="2428140"/>
                  <a:pt x="7455413" y="2428140"/>
                </a:cubicBezTo>
                <a:lnTo>
                  <a:pt x="91201" y="2428140"/>
                </a:lnTo>
                <a:cubicBezTo>
                  <a:pt x="40832" y="2428140"/>
                  <a:pt x="0" y="2387308"/>
                  <a:pt x="0" y="2336939"/>
                </a:cubicBezTo>
                <a:lnTo>
                  <a:pt x="0" y="91201"/>
                </a:lnTo>
                <a:cubicBezTo>
                  <a:pt x="0" y="40832"/>
                  <a:pt x="40832" y="0"/>
                  <a:pt x="91201" y="0"/>
                </a:cubicBezTo>
                <a:close/>
              </a:path>
            </a:pathLst>
          </a:custGeom>
          <a:solidFill>
            <a:srgbClr val="3A5E78">
              <a:alpha val="20000"/>
            </a:srgbClr>
          </a:solidFill>
          <a:ln w="12700">
            <a:solidFill>
              <a:srgbClr val="4C7E9A">
                <a:alpha val="50196"/>
              </a:srgbClr>
            </a:solidFill>
            <a:prstDash val="solid"/>
          </a:ln>
        </p:spPr>
      </p:sp>
      <p:sp>
        <p:nvSpPr>
          <p:cNvPr id="42" name="Text 40"/>
          <p:cNvSpPr/>
          <p:nvPr/>
        </p:nvSpPr>
        <p:spPr>
          <a:xfrm>
            <a:off x="8434457" y="5414867"/>
            <a:ext cx="7307220" cy="364791"/>
          </a:xfrm>
          <a:prstGeom prst="rect">
            <a:avLst/>
          </a:prstGeom>
          <a:noFill/>
          <a:ln/>
        </p:spPr>
        <p:txBody>
          <a:bodyPr wrap="square" lIns="0" tIns="0" rIns="0" bIns="0" rtlCol="0" anchor="ctr"/>
          <a:lstStyle/>
          <a:p>
            <a:pPr>
              <a:lnSpc>
                <a:spcPct val="110000"/>
              </a:lnSpc>
            </a:pPr>
            <a:r>
              <a:rPr lang="en-US" sz="2154" b="1" dirty="0">
                <a:solidFill>
                  <a:srgbClr val="4C7E9A"/>
                </a:solidFill>
                <a:latin typeface="MiSans" pitchFamily="34" charset="0"/>
                <a:ea typeface="MiSans" pitchFamily="34" charset="-122"/>
                <a:cs typeface="MiSans" pitchFamily="34" charset="-120"/>
              </a:rPr>
              <a:t>随机森林的优势</a:t>
            </a:r>
            <a:endParaRPr lang="en-US" sz="1600" dirty="0"/>
          </a:p>
        </p:txBody>
      </p:sp>
      <p:sp>
        <p:nvSpPr>
          <p:cNvPr id="43" name="Shape 41"/>
          <p:cNvSpPr/>
          <p:nvPr/>
        </p:nvSpPr>
        <p:spPr>
          <a:xfrm>
            <a:off x="8434457" y="5916454"/>
            <a:ext cx="3533913" cy="729582"/>
          </a:xfrm>
          <a:custGeom>
            <a:avLst/>
            <a:gdLst/>
            <a:ahLst/>
            <a:cxnLst/>
            <a:rect l="l" t="t" r="r" b="b"/>
            <a:pathLst>
              <a:path w="3533913" h="729582">
                <a:moveTo>
                  <a:pt x="45599" y="0"/>
                </a:moveTo>
                <a:lnTo>
                  <a:pt x="3488314" y="0"/>
                </a:lnTo>
                <a:cubicBezTo>
                  <a:pt x="3513498" y="0"/>
                  <a:pt x="3533913" y="20415"/>
                  <a:pt x="3533913" y="45599"/>
                </a:cubicBezTo>
                <a:lnTo>
                  <a:pt x="3533913" y="683983"/>
                </a:lnTo>
                <a:cubicBezTo>
                  <a:pt x="3533913" y="709167"/>
                  <a:pt x="3513498" y="729582"/>
                  <a:pt x="3488314" y="729582"/>
                </a:cubicBezTo>
                <a:lnTo>
                  <a:pt x="45599" y="729582"/>
                </a:lnTo>
                <a:cubicBezTo>
                  <a:pt x="20415" y="729582"/>
                  <a:pt x="0" y="709167"/>
                  <a:pt x="0" y="683983"/>
                </a:cubicBezTo>
                <a:lnTo>
                  <a:pt x="0" y="45599"/>
                </a:lnTo>
                <a:cubicBezTo>
                  <a:pt x="0" y="20432"/>
                  <a:pt x="20432" y="0"/>
                  <a:pt x="45599" y="0"/>
                </a:cubicBezTo>
                <a:close/>
              </a:path>
            </a:pathLst>
          </a:custGeom>
          <a:solidFill>
            <a:srgbClr val="181A1F">
              <a:alpha val="50196"/>
            </a:srgbClr>
          </a:solidFill>
          <a:ln/>
        </p:spPr>
      </p:sp>
      <p:sp>
        <p:nvSpPr>
          <p:cNvPr id="44" name="Shape 42"/>
          <p:cNvSpPr/>
          <p:nvPr/>
        </p:nvSpPr>
        <p:spPr>
          <a:xfrm>
            <a:off x="10067110" y="6007652"/>
            <a:ext cx="273593" cy="273593"/>
          </a:xfrm>
          <a:custGeom>
            <a:avLst/>
            <a:gdLst/>
            <a:ahLst/>
            <a:cxnLst/>
            <a:rect l="l" t="t" r="r" b="b"/>
            <a:pathLst>
              <a:path w="273593" h="273593">
                <a:moveTo>
                  <a:pt x="17100" y="17100"/>
                </a:moveTo>
                <a:cubicBezTo>
                  <a:pt x="26558" y="17100"/>
                  <a:pt x="34199" y="24741"/>
                  <a:pt x="34199" y="34199"/>
                </a:cubicBezTo>
                <a:lnTo>
                  <a:pt x="34199" y="213745"/>
                </a:lnTo>
                <a:cubicBezTo>
                  <a:pt x="34199" y="218447"/>
                  <a:pt x="38047" y="222295"/>
                  <a:pt x="42749" y="222295"/>
                </a:cubicBezTo>
                <a:lnTo>
                  <a:pt x="256494" y="222295"/>
                </a:lnTo>
                <a:cubicBezTo>
                  <a:pt x="265952" y="222295"/>
                  <a:pt x="273593" y="229936"/>
                  <a:pt x="273593" y="239394"/>
                </a:cubicBezTo>
                <a:cubicBezTo>
                  <a:pt x="273593" y="248852"/>
                  <a:pt x="265952" y="256494"/>
                  <a:pt x="256494" y="256494"/>
                </a:cubicBezTo>
                <a:lnTo>
                  <a:pt x="42749" y="256494"/>
                </a:lnTo>
                <a:cubicBezTo>
                  <a:pt x="19130" y="256494"/>
                  <a:pt x="0" y="237364"/>
                  <a:pt x="0" y="213745"/>
                </a:cubicBezTo>
                <a:lnTo>
                  <a:pt x="0" y="34199"/>
                </a:lnTo>
                <a:cubicBezTo>
                  <a:pt x="0" y="24741"/>
                  <a:pt x="7641" y="17100"/>
                  <a:pt x="17100" y="17100"/>
                </a:cubicBezTo>
                <a:close/>
                <a:moveTo>
                  <a:pt x="68398" y="51299"/>
                </a:moveTo>
                <a:cubicBezTo>
                  <a:pt x="68398" y="41841"/>
                  <a:pt x="76040" y="34199"/>
                  <a:pt x="85498" y="34199"/>
                </a:cubicBezTo>
                <a:lnTo>
                  <a:pt x="188095" y="34199"/>
                </a:lnTo>
                <a:cubicBezTo>
                  <a:pt x="197554" y="34199"/>
                  <a:pt x="205195" y="41841"/>
                  <a:pt x="205195" y="51299"/>
                </a:cubicBezTo>
                <a:cubicBezTo>
                  <a:pt x="205195" y="60757"/>
                  <a:pt x="197554" y="68398"/>
                  <a:pt x="188095" y="68398"/>
                </a:cubicBezTo>
                <a:lnTo>
                  <a:pt x="85498" y="68398"/>
                </a:lnTo>
                <a:cubicBezTo>
                  <a:pt x="76040" y="68398"/>
                  <a:pt x="68398" y="60757"/>
                  <a:pt x="68398" y="51299"/>
                </a:cubicBezTo>
                <a:close/>
                <a:moveTo>
                  <a:pt x="85498" y="94048"/>
                </a:moveTo>
                <a:lnTo>
                  <a:pt x="153896" y="94048"/>
                </a:lnTo>
                <a:cubicBezTo>
                  <a:pt x="163354" y="94048"/>
                  <a:pt x="170996" y="101689"/>
                  <a:pt x="170996" y="111147"/>
                </a:cubicBezTo>
                <a:cubicBezTo>
                  <a:pt x="170996" y="120605"/>
                  <a:pt x="163354" y="128247"/>
                  <a:pt x="153896" y="128247"/>
                </a:cubicBezTo>
                <a:lnTo>
                  <a:pt x="85498" y="128247"/>
                </a:lnTo>
                <a:cubicBezTo>
                  <a:pt x="76040" y="128247"/>
                  <a:pt x="68398" y="120605"/>
                  <a:pt x="68398" y="111147"/>
                </a:cubicBezTo>
                <a:cubicBezTo>
                  <a:pt x="68398" y="101689"/>
                  <a:pt x="76040" y="94048"/>
                  <a:pt x="85498" y="94048"/>
                </a:cubicBezTo>
                <a:close/>
                <a:moveTo>
                  <a:pt x="85498" y="153896"/>
                </a:moveTo>
                <a:lnTo>
                  <a:pt x="222295" y="153896"/>
                </a:lnTo>
                <a:cubicBezTo>
                  <a:pt x="231753" y="153896"/>
                  <a:pt x="239394" y="161538"/>
                  <a:pt x="239394" y="170996"/>
                </a:cubicBezTo>
                <a:cubicBezTo>
                  <a:pt x="239394" y="180454"/>
                  <a:pt x="231753" y="188095"/>
                  <a:pt x="222295" y="188095"/>
                </a:cubicBezTo>
                <a:lnTo>
                  <a:pt x="85498" y="188095"/>
                </a:lnTo>
                <a:cubicBezTo>
                  <a:pt x="76040" y="188095"/>
                  <a:pt x="68398" y="180454"/>
                  <a:pt x="68398" y="170996"/>
                </a:cubicBezTo>
                <a:cubicBezTo>
                  <a:pt x="68398" y="161538"/>
                  <a:pt x="76040" y="153896"/>
                  <a:pt x="85498" y="153896"/>
                </a:cubicBezTo>
                <a:close/>
              </a:path>
            </a:pathLst>
          </a:custGeom>
          <a:solidFill>
            <a:srgbClr val="4C7E9A"/>
          </a:solidFill>
          <a:ln/>
        </p:spPr>
      </p:sp>
      <p:sp>
        <p:nvSpPr>
          <p:cNvPr id="45" name="Text 43"/>
          <p:cNvSpPr/>
          <p:nvPr/>
        </p:nvSpPr>
        <p:spPr>
          <a:xfrm>
            <a:off x="8485755" y="6326844"/>
            <a:ext cx="3431316" cy="227994"/>
          </a:xfrm>
          <a:prstGeom prst="rect">
            <a:avLst/>
          </a:prstGeom>
          <a:noFill/>
          <a:ln/>
        </p:spPr>
        <p:txBody>
          <a:bodyPr wrap="square" lIns="0" tIns="0" rIns="0" bIns="0" rtlCol="0" anchor="ctr"/>
          <a:lstStyle/>
          <a:p>
            <a:pPr algn="ctr">
              <a:lnSpc>
                <a:spcPct val="120000"/>
              </a:lnSpc>
            </a:pPr>
            <a:r>
              <a:rPr lang="en-US" sz="1257" b="1" dirty="0">
                <a:solidFill>
                  <a:srgbClr val="D1D5DB"/>
                </a:solidFill>
                <a:latin typeface="MiSans" pitchFamily="34" charset="0"/>
                <a:ea typeface="MiSans" pitchFamily="34" charset="-122"/>
                <a:cs typeface="MiSans" pitchFamily="34" charset="-120"/>
              </a:rPr>
              <a:t>高准确性</a:t>
            </a:r>
            <a:endParaRPr lang="en-US" sz="1600" dirty="0"/>
          </a:p>
        </p:txBody>
      </p:sp>
      <p:sp>
        <p:nvSpPr>
          <p:cNvPr id="46" name="Shape 44"/>
          <p:cNvSpPr/>
          <p:nvPr/>
        </p:nvSpPr>
        <p:spPr>
          <a:xfrm>
            <a:off x="12064644" y="5916454"/>
            <a:ext cx="3533913" cy="729582"/>
          </a:xfrm>
          <a:custGeom>
            <a:avLst/>
            <a:gdLst/>
            <a:ahLst/>
            <a:cxnLst/>
            <a:rect l="l" t="t" r="r" b="b"/>
            <a:pathLst>
              <a:path w="3533913" h="729582">
                <a:moveTo>
                  <a:pt x="45599" y="0"/>
                </a:moveTo>
                <a:lnTo>
                  <a:pt x="3488314" y="0"/>
                </a:lnTo>
                <a:cubicBezTo>
                  <a:pt x="3513498" y="0"/>
                  <a:pt x="3533913" y="20415"/>
                  <a:pt x="3533913" y="45599"/>
                </a:cubicBezTo>
                <a:lnTo>
                  <a:pt x="3533913" y="683983"/>
                </a:lnTo>
                <a:cubicBezTo>
                  <a:pt x="3533913" y="709167"/>
                  <a:pt x="3513498" y="729582"/>
                  <a:pt x="3488314" y="729582"/>
                </a:cubicBezTo>
                <a:lnTo>
                  <a:pt x="45599" y="729582"/>
                </a:lnTo>
                <a:cubicBezTo>
                  <a:pt x="20415" y="729582"/>
                  <a:pt x="0" y="709167"/>
                  <a:pt x="0" y="683983"/>
                </a:cubicBezTo>
                <a:lnTo>
                  <a:pt x="0" y="45599"/>
                </a:lnTo>
                <a:cubicBezTo>
                  <a:pt x="0" y="20432"/>
                  <a:pt x="20432" y="0"/>
                  <a:pt x="45599" y="0"/>
                </a:cubicBezTo>
                <a:close/>
              </a:path>
            </a:pathLst>
          </a:custGeom>
          <a:solidFill>
            <a:srgbClr val="181A1F">
              <a:alpha val="50196"/>
            </a:srgbClr>
          </a:solidFill>
          <a:ln/>
        </p:spPr>
      </p:sp>
      <p:sp>
        <p:nvSpPr>
          <p:cNvPr id="47" name="Shape 45"/>
          <p:cNvSpPr/>
          <p:nvPr/>
        </p:nvSpPr>
        <p:spPr>
          <a:xfrm>
            <a:off x="13697297" y="6007652"/>
            <a:ext cx="273593" cy="273593"/>
          </a:xfrm>
          <a:custGeom>
            <a:avLst/>
            <a:gdLst/>
            <a:ahLst/>
            <a:cxnLst/>
            <a:rect l="l" t="t" r="r" b="b"/>
            <a:pathLst>
              <a:path w="273593" h="273593">
                <a:moveTo>
                  <a:pt x="136797" y="0"/>
                </a:moveTo>
                <a:cubicBezTo>
                  <a:pt x="139255" y="0"/>
                  <a:pt x="141713" y="534"/>
                  <a:pt x="143957" y="1550"/>
                </a:cubicBezTo>
                <a:lnTo>
                  <a:pt x="244631" y="44245"/>
                </a:lnTo>
                <a:cubicBezTo>
                  <a:pt x="256387" y="49215"/>
                  <a:pt x="265150" y="60810"/>
                  <a:pt x="265097" y="74811"/>
                </a:cubicBezTo>
                <a:cubicBezTo>
                  <a:pt x="264830" y="127819"/>
                  <a:pt x="243028" y="224806"/>
                  <a:pt x="150957" y="268891"/>
                </a:cubicBezTo>
                <a:cubicBezTo>
                  <a:pt x="142033" y="273166"/>
                  <a:pt x="131667" y="273166"/>
                  <a:pt x="122743" y="268891"/>
                </a:cubicBezTo>
                <a:cubicBezTo>
                  <a:pt x="30619" y="224806"/>
                  <a:pt x="8870" y="127819"/>
                  <a:pt x="8603" y="74811"/>
                </a:cubicBezTo>
                <a:cubicBezTo>
                  <a:pt x="8550" y="60810"/>
                  <a:pt x="17313" y="49215"/>
                  <a:pt x="29069" y="44245"/>
                </a:cubicBezTo>
                <a:lnTo>
                  <a:pt x="129690" y="1550"/>
                </a:lnTo>
                <a:cubicBezTo>
                  <a:pt x="131934" y="534"/>
                  <a:pt x="134339" y="0"/>
                  <a:pt x="136797" y="0"/>
                </a:cubicBezTo>
                <a:close/>
                <a:moveTo>
                  <a:pt x="136797" y="35695"/>
                </a:moveTo>
                <a:lnTo>
                  <a:pt x="136797" y="237738"/>
                </a:lnTo>
                <a:cubicBezTo>
                  <a:pt x="210539" y="202042"/>
                  <a:pt x="230363" y="122957"/>
                  <a:pt x="230844" y="75612"/>
                </a:cubicBezTo>
                <a:lnTo>
                  <a:pt x="136797" y="35749"/>
                </a:lnTo>
                <a:lnTo>
                  <a:pt x="136797" y="35749"/>
                </a:lnTo>
                <a:close/>
              </a:path>
            </a:pathLst>
          </a:custGeom>
          <a:solidFill>
            <a:srgbClr val="4C7E9A"/>
          </a:solidFill>
          <a:ln/>
        </p:spPr>
      </p:sp>
      <p:sp>
        <p:nvSpPr>
          <p:cNvPr id="48" name="Text 46"/>
          <p:cNvSpPr/>
          <p:nvPr/>
        </p:nvSpPr>
        <p:spPr>
          <a:xfrm>
            <a:off x="12115942" y="6326844"/>
            <a:ext cx="3431316" cy="227994"/>
          </a:xfrm>
          <a:prstGeom prst="rect">
            <a:avLst/>
          </a:prstGeom>
          <a:noFill/>
          <a:ln/>
        </p:spPr>
        <p:txBody>
          <a:bodyPr wrap="square" lIns="0" tIns="0" rIns="0" bIns="0" rtlCol="0" anchor="ctr"/>
          <a:lstStyle/>
          <a:p>
            <a:pPr algn="ctr">
              <a:lnSpc>
                <a:spcPct val="120000"/>
              </a:lnSpc>
            </a:pPr>
            <a:r>
              <a:rPr lang="en-US" sz="1257" b="1" dirty="0">
                <a:solidFill>
                  <a:srgbClr val="D1D5DB"/>
                </a:solidFill>
                <a:latin typeface="MiSans" pitchFamily="34" charset="0"/>
                <a:ea typeface="MiSans" pitchFamily="34" charset="-122"/>
                <a:cs typeface="MiSans" pitchFamily="34" charset="-120"/>
              </a:rPr>
              <a:t>抗过拟合</a:t>
            </a:r>
            <a:endParaRPr lang="en-US" sz="1600" dirty="0"/>
          </a:p>
        </p:txBody>
      </p:sp>
      <p:sp>
        <p:nvSpPr>
          <p:cNvPr id="49" name="Shape 47"/>
          <p:cNvSpPr/>
          <p:nvPr/>
        </p:nvSpPr>
        <p:spPr>
          <a:xfrm>
            <a:off x="8434457" y="6737234"/>
            <a:ext cx="3533913" cy="729582"/>
          </a:xfrm>
          <a:custGeom>
            <a:avLst/>
            <a:gdLst/>
            <a:ahLst/>
            <a:cxnLst/>
            <a:rect l="l" t="t" r="r" b="b"/>
            <a:pathLst>
              <a:path w="3533913" h="729582">
                <a:moveTo>
                  <a:pt x="45599" y="0"/>
                </a:moveTo>
                <a:lnTo>
                  <a:pt x="3488314" y="0"/>
                </a:lnTo>
                <a:cubicBezTo>
                  <a:pt x="3513498" y="0"/>
                  <a:pt x="3533913" y="20415"/>
                  <a:pt x="3533913" y="45599"/>
                </a:cubicBezTo>
                <a:lnTo>
                  <a:pt x="3533913" y="683983"/>
                </a:lnTo>
                <a:cubicBezTo>
                  <a:pt x="3533913" y="709167"/>
                  <a:pt x="3513498" y="729582"/>
                  <a:pt x="3488314" y="729582"/>
                </a:cubicBezTo>
                <a:lnTo>
                  <a:pt x="45599" y="729582"/>
                </a:lnTo>
                <a:cubicBezTo>
                  <a:pt x="20415" y="729582"/>
                  <a:pt x="0" y="709167"/>
                  <a:pt x="0" y="683983"/>
                </a:cubicBezTo>
                <a:lnTo>
                  <a:pt x="0" y="45599"/>
                </a:lnTo>
                <a:cubicBezTo>
                  <a:pt x="0" y="20432"/>
                  <a:pt x="20432" y="0"/>
                  <a:pt x="45599" y="0"/>
                </a:cubicBezTo>
                <a:close/>
              </a:path>
            </a:pathLst>
          </a:custGeom>
          <a:solidFill>
            <a:srgbClr val="181A1F">
              <a:alpha val="50196"/>
            </a:srgbClr>
          </a:solidFill>
          <a:ln/>
        </p:spPr>
      </p:sp>
      <p:sp>
        <p:nvSpPr>
          <p:cNvPr id="50" name="Shape 48"/>
          <p:cNvSpPr/>
          <p:nvPr/>
        </p:nvSpPr>
        <p:spPr>
          <a:xfrm>
            <a:off x="10032911" y="6828432"/>
            <a:ext cx="341992" cy="273593"/>
          </a:xfrm>
          <a:custGeom>
            <a:avLst/>
            <a:gdLst/>
            <a:ahLst/>
            <a:cxnLst/>
            <a:rect l="l" t="t" r="r" b="b"/>
            <a:pathLst>
              <a:path w="341992" h="273593">
                <a:moveTo>
                  <a:pt x="222241" y="112483"/>
                </a:moveTo>
                <a:cubicBezTo>
                  <a:pt x="228760" y="110720"/>
                  <a:pt x="235600" y="113819"/>
                  <a:pt x="238539" y="119857"/>
                </a:cubicBezTo>
                <a:lnTo>
                  <a:pt x="248478" y="139949"/>
                </a:lnTo>
                <a:cubicBezTo>
                  <a:pt x="253982" y="140697"/>
                  <a:pt x="259379" y="142194"/>
                  <a:pt x="264456" y="144278"/>
                </a:cubicBezTo>
                <a:lnTo>
                  <a:pt x="283158" y="131827"/>
                </a:lnTo>
                <a:cubicBezTo>
                  <a:pt x="288769" y="128087"/>
                  <a:pt x="296197" y="128835"/>
                  <a:pt x="300953" y="133590"/>
                </a:cubicBezTo>
                <a:lnTo>
                  <a:pt x="311212" y="143850"/>
                </a:lnTo>
                <a:cubicBezTo>
                  <a:pt x="315968" y="148606"/>
                  <a:pt x="316716" y="156087"/>
                  <a:pt x="312976" y="161644"/>
                </a:cubicBezTo>
                <a:lnTo>
                  <a:pt x="300525" y="180294"/>
                </a:lnTo>
                <a:cubicBezTo>
                  <a:pt x="301540" y="182805"/>
                  <a:pt x="302449" y="185424"/>
                  <a:pt x="303197" y="188149"/>
                </a:cubicBezTo>
                <a:cubicBezTo>
                  <a:pt x="303945" y="190874"/>
                  <a:pt x="304426" y="193546"/>
                  <a:pt x="304800" y="196271"/>
                </a:cubicBezTo>
                <a:lnTo>
                  <a:pt x="324945" y="206210"/>
                </a:lnTo>
                <a:cubicBezTo>
                  <a:pt x="330984" y="209203"/>
                  <a:pt x="334083" y="216042"/>
                  <a:pt x="332320" y="222508"/>
                </a:cubicBezTo>
                <a:lnTo>
                  <a:pt x="328579" y="236509"/>
                </a:lnTo>
                <a:cubicBezTo>
                  <a:pt x="326816" y="242974"/>
                  <a:pt x="320777" y="247356"/>
                  <a:pt x="314044" y="246929"/>
                </a:cubicBezTo>
                <a:lnTo>
                  <a:pt x="291601" y="245486"/>
                </a:lnTo>
                <a:cubicBezTo>
                  <a:pt x="288235" y="249814"/>
                  <a:pt x="284334" y="253822"/>
                  <a:pt x="279899" y="257242"/>
                </a:cubicBezTo>
                <a:lnTo>
                  <a:pt x="281342" y="279632"/>
                </a:lnTo>
                <a:cubicBezTo>
                  <a:pt x="281769" y="286365"/>
                  <a:pt x="277387" y="292456"/>
                  <a:pt x="270921" y="294166"/>
                </a:cubicBezTo>
                <a:lnTo>
                  <a:pt x="256921" y="297907"/>
                </a:lnTo>
                <a:cubicBezTo>
                  <a:pt x="250402" y="299670"/>
                  <a:pt x="243616" y="296571"/>
                  <a:pt x="240623" y="290533"/>
                </a:cubicBezTo>
                <a:lnTo>
                  <a:pt x="230684" y="270441"/>
                </a:lnTo>
                <a:cubicBezTo>
                  <a:pt x="225180" y="269692"/>
                  <a:pt x="219783" y="268196"/>
                  <a:pt x="214707" y="266112"/>
                </a:cubicBezTo>
                <a:lnTo>
                  <a:pt x="196004" y="278563"/>
                </a:lnTo>
                <a:cubicBezTo>
                  <a:pt x="190393" y="282303"/>
                  <a:pt x="182965" y="281555"/>
                  <a:pt x="178210" y="276799"/>
                </a:cubicBezTo>
                <a:lnTo>
                  <a:pt x="167950" y="266540"/>
                </a:lnTo>
                <a:cubicBezTo>
                  <a:pt x="163194" y="261784"/>
                  <a:pt x="162446" y="254356"/>
                  <a:pt x="166187" y="248745"/>
                </a:cubicBezTo>
                <a:lnTo>
                  <a:pt x="178637" y="230043"/>
                </a:lnTo>
                <a:cubicBezTo>
                  <a:pt x="177622" y="227531"/>
                  <a:pt x="176713" y="224913"/>
                  <a:pt x="175965" y="222188"/>
                </a:cubicBezTo>
                <a:cubicBezTo>
                  <a:pt x="175217" y="219462"/>
                  <a:pt x="174736" y="216737"/>
                  <a:pt x="174362" y="214065"/>
                </a:cubicBezTo>
                <a:lnTo>
                  <a:pt x="154217" y="204126"/>
                </a:lnTo>
                <a:cubicBezTo>
                  <a:pt x="148179" y="201134"/>
                  <a:pt x="145133" y="194294"/>
                  <a:pt x="146843" y="187828"/>
                </a:cubicBezTo>
                <a:lnTo>
                  <a:pt x="150583" y="173828"/>
                </a:lnTo>
                <a:cubicBezTo>
                  <a:pt x="152347" y="167362"/>
                  <a:pt x="158385" y="162980"/>
                  <a:pt x="165118" y="163408"/>
                </a:cubicBezTo>
                <a:lnTo>
                  <a:pt x="187508" y="164851"/>
                </a:lnTo>
                <a:cubicBezTo>
                  <a:pt x="190874" y="160522"/>
                  <a:pt x="194775" y="156515"/>
                  <a:pt x="199210" y="153095"/>
                </a:cubicBezTo>
                <a:lnTo>
                  <a:pt x="197767" y="130758"/>
                </a:lnTo>
                <a:cubicBezTo>
                  <a:pt x="197340" y="124025"/>
                  <a:pt x="201722" y="117934"/>
                  <a:pt x="208187" y="116224"/>
                </a:cubicBezTo>
                <a:lnTo>
                  <a:pt x="222188" y="112483"/>
                </a:lnTo>
                <a:close/>
                <a:moveTo>
                  <a:pt x="239608" y="181683"/>
                </a:moveTo>
                <a:cubicBezTo>
                  <a:pt x="226631" y="181698"/>
                  <a:pt x="216108" y="192245"/>
                  <a:pt x="216123" y="205222"/>
                </a:cubicBezTo>
                <a:cubicBezTo>
                  <a:pt x="216137" y="218198"/>
                  <a:pt x="226685" y="228722"/>
                  <a:pt x="239661" y="228707"/>
                </a:cubicBezTo>
                <a:cubicBezTo>
                  <a:pt x="252638" y="228692"/>
                  <a:pt x="263161" y="218145"/>
                  <a:pt x="263146" y="205168"/>
                </a:cubicBezTo>
                <a:cubicBezTo>
                  <a:pt x="263132" y="192192"/>
                  <a:pt x="252584" y="181668"/>
                  <a:pt x="239608" y="181683"/>
                </a:cubicBezTo>
                <a:close/>
                <a:moveTo>
                  <a:pt x="120178" y="-24313"/>
                </a:moveTo>
                <a:lnTo>
                  <a:pt x="134178" y="-20573"/>
                </a:lnTo>
                <a:cubicBezTo>
                  <a:pt x="140644" y="-18810"/>
                  <a:pt x="145026" y="-12718"/>
                  <a:pt x="144598" y="-6038"/>
                </a:cubicBezTo>
                <a:lnTo>
                  <a:pt x="143156" y="16298"/>
                </a:lnTo>
                <a:cubicBezTo>
                  <a:pt x="147591" y="19718"/>
                  <a:pt x="151492" y="23672"/>
                  <a:pt x="154858" y="28054"/>
                </a:cubicBezTo>
                <a:lnTo>
                  <a:pt x="177301" y="26611"/>
                </a:lnTo>
                <a:cubicBezTo>
                  <a:pt x="183981" y="26184"/>
                  <a:pt x="190073" y="30565"/>
                  <a:pt x="191836" y="37031"/>
                </a:cubicBezTo>
                <a:lnTo>
                  <a:pt x="195576" y="51032"/>
                </a:lnTo>
                <a:cubicBezTo>
                  <a:pt x="197286" y="57497"/>
                  <a:pt x="194241" y="64337"/>
                  <a:pt x="188202" y="67330"/>
                </a:cubicBezTo>
                <a:lnTo>
                  <a:pt x="168057" y="77269"/>
                </a:lnTo>
                <a:cubicBezTo>
                  <a:pt x="167683" y="79994"/>
                  <a:pt x="167148" y="82719"/>
                  <a:pt x="166454" y="85391"/>
                </a:cubicBezTo>
                <a:cubicBezTo>
                  <a:pt x="165759" y="88063"/>
                  <a:pt x="164797" y="90735"/>
                  <a:pt x="163782" y="93246"/>
                </a:cubicBezTo>
                <a:lnTo>
                  <a:pt x="176233" y="111949"/>
                </a:lnTo>
                <a:cubicBezTo>
                  <a:pt x="179973" y="117560"/>
                  <a:pt x="179225" y="124987"/>
                  <a:pt x="174469" y="129743"/>
                </a:cubicBezTo>
                <a:lnTo>
                  <a:pt x="164209" y="140003"/>
                </a:lnTo>
                <a:cubicBezTo>
                  <a:pt x="159454" y="144759"/>
                  <a:pt x="152026" y="145507"/>
                  <a:pt x="146415" y="141766"/>
                </a:cubicBezTo>
                <a:lnTo>
                  <a:pt x="127712" y="129316"/>
                </a:lnTo>
                <a:cubicBezTo>
                  <a:pt x="122636" y="131400"/>
                  <a:pt x="117239" y="132896"/>
                  <a:pt x="111735" y="133644"/>
                </a:cubicBezTo>
                <a:lnTo>
                  <a:pt x="101796" y="153736"/>
                </a:lnTo>
                <a:cubicBezTo>
                  <a:pt x="98804" y="159774"/>
                  <a:pt x="91964" y="162820"/>
                  <a:pt x="85498" y="161110"/>
                </a:cubicBezTo>
                <a:lnTo>
                  <a:pt x="71498" y="157370"/>
                </a:lnTo>
                <a:cubicBezTo>
                  <a:pt x="64978" y="155606"/>
                  <a:pt x="60650" y="149514"/>
                  <a:pt x="61078" y="142835"/>
                </a:cubicBezTo>
                <a:lnTo>
                  <a:pt x="62520" y="120445"/>
                </a:lnTo>
                <a:cubicBezTo>
                  <a:pt x="58085" y="117025"/>
                  <a:pt x="54184" y="113071"/>
                  <a:pt x="50818" y="108689"/>
                </a:cubicBezTo>
                <a:lnTo>
                  <a:pt x="28375" y="110132"/>
                </a:lnTo>
                <a:cubicBezTo>
                  <a:pt x="21695" y="110559"/>
                  <a:pt x="15603" y="106178"/>
                  <a:pt x="13840" y="99712"/>
                </a:cubicBezTo>
                <a:lnTo>
                  <a:pt x="10099" y="85712"/>
                </a:lnTo>
                <a:cubicBezTo>
                  <a:pt x="8389" y="79246"/>
                  <a:pt x="11435" y="72406"/>
                  <a:pt x="17474" y="69414"/>
                </a:cubicBezTo>
                <a:lnTo>
                  <a:pt x="37619" y="59474"/>
                </a:lnTo>
                <a:cubicBezTo>
                  <a:pt x="37993" y="56749"/>
                  <a:pt x="38527" y="54077"/>
                  <a:pt x="39222" y="51352"/>
                </a:cubicBezTo>
                <a:cubicBezTo>
                  <a:pt x="39970" y="48627"/>
                  <a:pt x="40825" y="46009"/>
                  <a:pt x="41894" y="43497"/>
                </a:cubicBezTo>
                <a:lnTo>
                  <a:pt x="29443" y="24848"/>
                </a:lnTo>
                <a:cubicBezTo>
                  <a:pt x="25703" y="19237"/>
                  <a:pt x="26451" y="11809"/>
                  <a:pt x="31207" y="7054"/>
                </a:cubicBezTo>
                <a:lnTo>
                  <a:pt x="41466" y="-3206"/>
                </a:lnTo>
                <a:cubicBezTo>
                  <a:pt x="46222" y="-7962"/>
                  <a:pt x="53650" y="-8710"/>
                  <a:pt x="59261" y="-4970"/>
                </a:cubicBezTo>
                <a:lnTo>
                  <a:pt x="77963" y="7481"/>
                </a:lnTo>
                <a:cubicBezTo>
                  <a:pt x="83040" y="5397"/>
                  <a:pt x="88437" y="3901"/>
                  <a:pt x="93941" y="3153"/>
                </a:cubicBezTo>
                <a:lnTo>
                  <a:pt x="103880" y="-16939"/>
                </a:lnTo>
                <a:cubicBezTo>
                  <a:pt x="106872" y="-22978"/>
                  <a:pt x="113659" y="-26023"/>
                  <a:pt x="120178" y="-24313"/>
                </a:cubicBezTo>
                <a:close/>
                <a:moveTo>
                  <a:pt x="102811" y="44886"/>
                </a:moveTo>
                <a:cubicBezTo>
                  <a:pt x="89835" y="44886"/>
                  <a:pt x="79299" y="55422"/>
                  <a:pt x="79299" y="68398"/>
                </a:cubicBezTo>
                <a:cubicBezTo>
                  <a:pt x="79299" y="81375"/>
                  <a:pt x="89835" y="91910"/>
                  <a:pt x="102811" y="91910"/>
                </a:cubicBezTo>
                <a:cubicBezTo>
                  <a:pt x="115788" y="91910"/>
                  <a:pt x="126323" y="81375"/>
                  <a:pt x="126323" y="68398"/>
                </a:cubicBezTo>
                <a:cubicBezTo>
                  <a:pt x="126323" y="55422"/>
                  <a:pt x="115788" y="44886"/>
                  <a:pt x="102811" y="44886"/>
                </a:cubicBezTo>
                <a:close/>
              </a:path>
            </a:pathLst>
          </a:custGeom>
          <a:solidFill>
            <a:srgbClr val="4C7E9A"/>
          </a:solidFill>
          <a:ln/>
        </p:spPr>
      </p:sp>
      <p:sp>
        <p:nvSpPr>
          <p:cNvPr id="51" name="Text 49"/>
          <p:cNvSpPr/>
          <p:nvPr/>
        </p:nvSpPr>
        <p:spPr>
          <a:xfrm>
            <a:off x="8485755" y="7147624"/>
            <a:ext cx="3431316" cy="227994"/>
          </a:xfrm>
          <a:prstGeom prst="rect">
            <a:avLst/>
          </a:prstGeom>
          <a:noFill/>
          <a:ln/>
        </p:spPr>
        <p:txBody>
          <a:bodyPr wrap="square" lIns="0" tIns="0" rIns="0" bIns="0" rtlCol="0" anchor="ctr"/>
          <a:lstStyle/>
          <a:p>
            <a:pPr algn="ctr">
              <a:lnSpc>
                <a:spcPct val="120000"/>
              </a:lnSpc>
            </a:pPr>
            <a:r>
              <a:rPr lang="en-US" sz="1257" b="1" dirty="0">
                <a:solidFill>
                  <a:srgbClr val="D1D5DB"/>
                </a:solidFill>
                <a:latin typeface="MiSans" pitchFamily="34" charset="0"/>
                <a:ea typeface="MiSans" pitchFamily="34" charset="-122"/>
                <a:cs typeface="MiSans" pitchFamily="34" charset="-120"/>
              </a:rPr>
              <a:t>处理高维数据</a:t>
            </a:r>
            <a:endParaRPr lang="en-US" sz="1600" dirty="0"/>
          </a:p>
        </p:txBody>
      </p:sp>
      <p:sp>
        <p:nvSpPr>
          <p:cNvPr id="52" name="Shape 50"/>
          <p:cNvSpPr/>
          <p:nvPr/>
        </p:nvSpPr>
        <p:spPr>
          <a:xfrm>
            <a:off x="12064644" y="6737234"/>
            <a:ext cx="3533913" cy="729582"/>
          </a:xfrm>
          <a:custGeom>
            <a:avLst/>
            <a:gdLst/>
            <a:ahLst/>
            <a:cxnLst/>
            <a:rect l="l" t="t" r="r" b="b"/>
            <a:pathLst>
              <a:path w="3533913" h="729582">
                <a:moveTo>
                  <a:pt x="45599" y="0"/>
                </a:moveTo>
                <a:lnTo>
                  <a:pt x="3488314" y="0"/>
                </a:lnTo>
                <a:cubicBezTo>
                  <a:pt x="3513498" y="0"/>
                  <a:pt x="3533913" y="20415"/>
                  <a:pt x="3533913" y="45599"/>
                </a:cubicBezTo>
                <a:lnTo>
                  <a:pt x="3533913" y="683983"/>
                </a:lnTo>
                <a:cubicBezTo>
                  <a:pt x="3533913" y="709167"/>
                  <a:pt x="3513498" y="729582"/>
                  <a:pt x="3488314" y="729582"/>
                </a:cubicBezTo>
                <a:lnTo>
                  <a:pt x="45599" y="729582"/>
                </a:lnTo>
                <a:cubicBezTo>
                  <a:pt x="20415" y="729582"/>
                  <a:pt x="0" y="709167"/>
                  <a:pt x="0" y="683983"/>
                </a:cubicBezTo>
                <a:lnTo>
                  <a:pt x="0" y="45599"/>
                </a:lnTo>
                <a:cubicBezTo>
                  <a:pt x="0" y="20432"/>
                  <a:pt x="20432" y="0"/>
                  <a:pt x="45599" y="0"/>
                </a:cubicBezTo>
                <a:close/>
              </a:path>
            </a:pathLst>
          </a:custGeom>
          <a:solidFill>
            <a:srgbClr val="181A1F">
              <a:alpha val="50196"/>
            </a:srgbClr>
          </a:solidFill>
          <a:ln/>
        </p:spPr>
      </p:sp>
      <p:sp>
        <p:nvSpPr>
          <p:cNvPr id="53" name="Shape 51"/>
          <p:cNvSpPr/>
          <p:nvPr/>
        </p:nvSpPr>
        <p:spPr>
          <a:xfrm>
            <a:off x="13680198" y="6828432"/>
            <a:ext cx="307792" cy="273593"/>
          </a:xfrm>
          <a:custGeom>
            <a:avLst/>
            <a:gdLst/>
            <a:ahLst/>
            <a:cxnLst/>
            <a:rect l="l" t="t" r="r" b="b"/>
            <a:pathLst>
              <a:path w="307792" h="273593">
                <a:moveTo>
                  <a:pt x="153896" y="17100"/>
                </a:moveTo>
                <a:cubicBezTo>
                  <a:pt x="110720" y="17100"/>
                  <a:pt x="76147" y="36764"/>
                  <a:pt x="50978" y="60169"/>
                </a:cubicBezTo>
                <a:cubicBezTo>
                  <a:pt x="25970" y="83414"/>
                  <a:pt x="9244" y="111147"/>
                  <a:pt x="1282" y="130224"/>
                </a:cubicBezTo>
                <a:cubicBezTo>
                  <a:pt x="-481" y="134445"/>
                  <a:pt x="-481" y="139148"/>
                  <a:pt x="1282" y="143369"/>
                </a:cubicBezTo>
                <a:cubicBezTo>
                  <a:pt x="9244" y="162446"/>
                  <a:pt x="25970" y="190233"/>
                  <a:pt x="50978" y="213424"/>
                </a:cubicBezTo>
                <a:cubicBezTo>
                  <a:pt x="76147" y="236776"/>
                  <a:pt x="110720" y="256494"/>
                  <a:pt x="153896" y="256494"/>
                </a:cubicBezTo>
                <a:cubicBezTo>
                  <a:pt x="197073" y="256494"/>
                  <a:pt x="231646" y="236829"/>
                  <a:pt x="256814" y="213424"/>
                </a:cubicBezTo>
                <a:cubicBezTo>
                  <a:pt x="281822" y="190179"/>
                  <a:pt x="298548" y="162446"/>
                  <a:pt x="306510" y="143369"/>
                </a:cubicBezTo>
                <a:cubicBezTo>
                  <a:pt x="308273" y="139148"/>
                  <a:pt x="308273" y="134445"/>
                  <a:pt x="306510" y="130224"/>
                </a:cubicBezTo>
                <a:cubicBezTo>
                  <a:pt x="298548" y="111147"/>
                  <a:pt x="281822" y="83360"/>
                  <a:pt x="256814" y="60169"/>
                </a:cubicBezTo>
                <a:cubicBezTo>
                  <a:pt x="231646" y="36818"/>
                  <a:pt x="197073" y="17100"/>
                  <a:pt x="153896" y="17100"/>
                </a:cubicBezTo>
                <a:close/>
                <a:moveTo>
                  <a:pt x="76948" y="136797"/>
                </a:moveTo>
                <a:cubicBezTo>
                  <a:pt x="76948" y="94328"/>
                  <a:pt x="111427" y="59849"/>
                  <a:pt x="153896" y="59849"/>
                </a:cubicBezTo>
                <a:cubicBezTo>
                  <a:pt x="196365" y="59849"/>
                  <a:pt x="230844" y="94328"/>
                  <a:pt x="230844" y="136797"/>
                </a:cubicBezTo>
                <a:cubicBezTo>
                  <a:pt x="230844" y="179265"/>
                  <a:pt x="196365" y="213745"/>
                  <a:pt x="153896" y="213745"/>
                </a:cubicBezTo>
                <a:cubicBezTo>
                  <a:pt x="111427" y="213745"/>
                  <a:pt x="76948" y="179265"/>
                  <a:pt x="76948" y="136797"/>
                </a:cubicBezTo>
                <a:close/>
                <a:moveTo>
                  <a:pt x="153896" y="102597"/>
                </a:moveTo>
                <a:cubicBezTo>
                  <a:pt x="153896" y="121460"/>
                  <a:pt x="138560" y="136797"/>
                  <a:pt x="119697" y="136797"/>
                </a:cubicBezTo>
                <a:cubicBezTo>
                  <a:pt x="113552" y="136797"/>
                  <a:pt x="107781" y="135194"/>
                  <a:pt x="102758" y="132308"/>
                </a:cubicBezTo>
                <a:cubicBezTo>
                  <a:pt x="102223" y="138133"/>
                  <a:pt x="102704" y="144117"/>
                  <a:pt x="104307" y="150049"/>
                </a:cubicBezTo>
                <a:cubicBezTo>
                  <a:pt x="111628" y="177408"/>
                  <a:pt x="139789" y="193653"/>
                  <a:pt x="167148" y="186332"/>
                </a:cubicBezTo>
                <a:cubicBezTo>
                  <a:pt x="194508" y="179011"/>
                  <a:pt x="210752" y="150850"/>
                  <a:pt x="203432" y="123491"/>
                </a:cubicBezTo>
                <a:cubicBezTo>
                  <a:pt x="196912" y="99071"/>
                  <a:pt x="173774" y="83521"/>
                  <a:pt x="149408" y="85658"/>
                </a:cubicBezTo>
                <a:cubicBezTo>
                  <a:pt x="152240" y="90628"/>
                  <a:pt x="153896" y="96399"/>
                  <a:pt x="153896" y="102597"/>
                </a:cubicBezTo>
                <a:close/>
              </a:path>
            </a:pathLst>
          </a:custGeom>
          <a:solidFill>
            <a:srgbClr val="4C7E9A"/>
          </a:solidFill>
          <a:ln/>
        </p:spPr>
      </p:sp>
      <p:sp>
        <p:nvSpPr>
          <p:cNvPr id="54" name="Text 52"/>
          <p:cNvSpPr/>
          <p:nvPr/>
        </p:nvSpPr>
        <p:spPr>
          <a:xfrm>
            <a:off x="12115942" y="7147624"/>
            <a:ext cx="3431316" cy="227994"/>
          </a:xfrm>
          <a:prstGeom prst="rect">
            <a:avLst/>
          </a:prstGeom>
          <a:noFill/>
          <a:ln/>
        </p:spPr>
        <p:txBody>
          <a:bodyPr wrap="square" lIns="0" tIns="0" rIns="0" bIns="0" rtlCol="0" anchor="ctr"/>
          <a:lstStyle/>
          <a:p>
            <a:pPr algn="ctr">
              <a:lnSpc>
                <a:spcPct val="120000"/>
              </a:lnSpc>
            </a:pPr>
            <a:r>
              <a:rPr lang="en-US" sz="1257" b="1" dirty="0">
                <a:solidFill>
                  <a:srgbClr val="D1D5DB"/>
                </a:solidFill>
                <a:latin typeface="MiSans" pitchFamily="34" charset="0"/>
                <a:ea typeface="MiSans" pitchFamily="34" charset="-122"/>
                <a:cs typeface="MiSans" pitchFamily="34" charset="-120"/>
              </a:rPr>
              <a:t>特征重要性</a:t>
            </a:r>
            <a:endParaRPr lang="en-US" sz="1600" dirty="0"/>
          </a:p>
        </p:txBody>
      </p:sp>
      <p:sp>
        <p:nvSpPr>
          <p:cNvPr id="55" name="Shape 53"/>
          <p:cNvSpPr/>
          <p:nvPr/>
        </p:nvSpPr>
        <p:spPr>
          <a:xfrm>
            <a:off x="8246361" y="7848707"/>
            <a:ext cx="7546614" cy="832180"/>
          </a:xfrm>
          <a:custGeom>
            <a:avLst/>
            <a:gdLst/>
            <a:ahLst/>
            <a:cxnLst/>
            <a:rect l="l" t="t" r="r" b="b"/>
            <a:pathLst>
              <a:path w="7546614" h="832180">
                <a:moveTo>
                  <a:pt x="91199" y="0"/>
                </a:moveTo>
                <a:lnTo>
                  <a:pt x="7455416" y="0"/>
                </a:lnTo>
                <a:cubicBezTo>
                  <a:pt x="7505783" y="0"/>
                  <a:pt x="7546614" y="40831"/>
                  <a:pt x="7546614" y="91199"/>
                </a:cubicBezTo>
                <a:lnTo>
                  <a:pt x="7546614" y="740981"/>
                </a:lnTo>
                <a:cubicBezTo>
                  <a:pt x="7546614" y="791349"/>
                  <a:pt x="7505783" y="832180"/>
                  <a:pt x="7455416" y="832180"/>
                </a:cubicBezTo>
                <a:lnTo>
                  <a:pt x="91199" y="832180"/>
                </a:lnTo>
                <a:cubicBezTo>
                  <a:pt x="40831" y="832180"/>
                  <a:pt x="0" y="791349"/>
                  <a:pt x="0" y="740981"/>
                </a:cubicBezTo>
                <a:lnTo>
                  <a:pt x="0" y="91199"/>
                </a:lnTo>
                <a:cubicBezTo>
                  <a:pt x="0" y="40865"/>
                  <a:pt x="40865" y="0"/>
                  <a:pt x="91199" y="0"/>
                </a:cubicBezTo>
                <a:close/>
              </a:path>
            </a:pathLst>
          </a:custGeom>
          <a:solidFill>
            <a:srgbClr val="4C7E9A">
              <a:alpha val="10196"/>
            </a:srgbClr>
          </a:solidFill>
          <a:ln w="12700">
            <a:solidFill>
              <a:srgbClr val="4C7E9A">
                <a:alpha val="30196"/>
              </a:srgbClr>
            </a:solidFill>
            <a:prstDash val="solid"/>
          </a:ln>
        </p:spPr>
      </p:sp>
      <p:sp>
        <p:nvSpPr>
          <p:cNvPr id="56" name="Shape 54"/>
          <p:cNvSpPr/>
          <p:nvPr/>
        </p:nvSpPr>
        <p:spPr>
          <a:xfrm>
            <a:off x="8400257" y="8042502"/>
            <a:ext cx="205195" cy="182396"/>
          </a:xfrm>
          <a:custGeom>
            <a:avLst/>
            <a:gdLst/>
            <a:ahLst/>
            <a:cxnLst/>
            <a:rect l="l" t="t" r="r" b="b"/>
            <a:pathLst>
              <a:path w="205195" h="182396">
                <a:moveTo>
                  <a:pt x="110257" y="-6733"/>
                </a:moveTo>
                <a:cubicBezTo>
                  <a:pt x="108796" y="-9583"/>
                  <a:pt x="105839" y="-11400"/>
                  <a:pt x="102633" y="-11400"/>
                </a:cubicBezTo>
                <a:cubicBezTo>
                  <a:pt x="99427" y="-11400"/>
                  <a:pt x="96470" y="-9583"/>
                  <a:pt x="95010" y="-6733"/>
                </a:cubicBezTo>
                <a:lnTo>
                  <a:pt x="68790" y="44637"/>
                </a:lnTo>
                <a:lnTo>
                  <a:pt x="11827" y="53686"/>
                </a:lnTo>
                <a:cubicBezTo>
                  <a:pt x="8657" y="54184"/>
                  <a:pt x="6020" y="56429"/>
                  <a:pt x="5023" y="59492"/>
                </a:cubicBezTo>
                <a:cubicBezTo>
                  <a:pt x="4026" y="62556"/>
                  <a:pt x="4845" y="65905"/>
                  <a:pt x="7089" y="68185"/>
                </a:cubicBezTo>
                <a:lnTo>
                  <a:pt x="47843" y="108974"/>
                </a:lnTo>
                <a:lnTo>
                  <a:pt x="38866" y="165937"/>
                </a:lnTo>
                <a:cubicBezTo>
                  <a:pt x="38367" y="169108"/>
                  <a:pt x="39685" y="172314"/>
                  <a:pt x="42286" y="174202"/>
                </a:cubicBezTo>
                <a:cubicBezTo>
                  <a:pt x="44886" y="176090"/>
                  <a:pt x="48306" y="176375"/>
                  <a:pt x="51192" y="174914"/>
                </a:cubicBezTo>
                <a:lnTo>
                  <a:pt x="102633" y="148766"/>
                </a:lnTo>
                <a:lnTo>
                  <a:pt x="154039" y="174914"/>
                </a:lnTo>
                <a:cubicBezTo>
                  <a:pt x="156889" y="176375"/>
                  <a:pt x="160344" y="176090"/>
                  <a:pt x="162945" y="174202"/>
                </a:cubicBezTo>
                <a:cubicBezTo>
                  <a:pt x="165545" y="172314"/>
                  <a:pt x="166863" y="169143"/>
                  <a:pt x="166365" y="165937"/>
                </a:cubicBezTo>
                <a:lnTo>
                  <a:pt x="157352" y="108974"/>
                </a:lnTo>
                <a:lnTo>
                  <a:pt x="198106" y="68185"/>
                </a:lnTo>
                <a:cubicBezTo>
                  <a:pt x="200386" y="65905"/>
                  <a:pt x="201169" y="62556"/>
                  <a:pt x="200172" y="59492"/>
                </a:cubicBezTo>
                <a:cubicBezTo>
                  <a:pt x="199174" y="56429"/>
                  <a:pt x="196574" y="54184"/>
                  <a:pt x="193368" y="53686"/>
                </a:cubicBezTo>
                <a:lnTo>
                  <a:pt x="136440" y="44637"/>
                </a:lnTo>
                <a:lnTo>
                  <a:pt x="110257" y="-6733"/>
                </a:lnTo>
                <a:close/>
              </a:path>
            </a:pathLst>
          </a:custGeom>
          <a:solidFill>
            <a:srgbClr val="4C7E9A"/>
          </a:solidFill>
          <a:ln/>
        </p:spPr>
      </p:sp>
      <p:sp>
        <p:nvSpPr>
          <p:cNvPr id="57" name="Text 55"/>
          <p:cNvSpPr/>
          <p:nvPr/>
        </p:nvSpPr>
        <p:spPr>
          <a:xfrm>
            <a:off x="8698713" y="7991203"/>
            <a:ext cx="7042964" cy="547187"/>
          </a:xfrm>
          <a:prstGeom prst="rect">
            <a:avLst/>
          </a:prstGeom>
          <a:noFill/>
          <a:ln/>
        </p:spPr>
        <p:txBody>
          <a:bodyPr wrap="square" lIns="0" tIns="0" rIns="0" bIns="0" rtlCol="0" anchor="ctr"/>
          <a:lstStyle/>
          <a:p>
            <a:pPr>
              <a:lnSpc>
                <a:spcPct val="130000"/>
              </a:lnSpc>
            </a:pPr>
            <a:r>
              <a:rPr lang="en-US" sz="1436" b="1" dirty="0">
                <a:solidFill>
                  <a:srgbClr val="4C7E9A"/>
                </a:solidFill>
                <a:latin typeface="MiSans" pitchFamily="34" charset="0"/>
                <a:ea typeface="MiSans" pitchFamily="34" charset="-122"/>
                <a:cs typeface="MiSans" pitchFamily="34" charset="-120"/>
              </a:rPr>
              <a:t>关键洞察：</a:t>
            </a:r>
            <a:pPr>
              <a:lnSpc>
                <a:spcPct val="130000"/>
              </a:lnSpc>
            </a:pPr>
            <a:r>
              <a:rPr lang="en-US" sz="1436" dirty="0">
                <a:solidFill>
                  <a:srgbClr val="D1D5DB"/>
                </a:solidFill>
                <a:latin typeface="MiSans" pitchFamily="34" charset="0"/>
                <a:ea typeface="MiSans" pitchFamily="34" charset="-122"/>
                <a:cs typeface="MiSans" pitchFamily="34" charset="-120"/>
              </a:rPr>
              <a:t>随机森林通过"双重随机"机制，在降低方差的同时保持了较低的偏差，实现了偏差-方差的优秀平衡</a:t>
            </a:r>
            <a:endParaRPr lang="en-US" sz="1600" dirty="0"/>
          </a:p>
        </p:txBody>
      </p:sp>
    </p:spTree>
  </p:cSld>
  <p:clrMapOvr>
    <a:masterClrMapping/>
  </p:clrMapOvr>
  <p:transition>
    <p:fade/>
    <p:spd val="med"/>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81A1F"/>
        </a:solidFill>
      </p:bgPr>
    </p:bg>
    <p:spTree>
      <p:nvGrpSpPr>
        <p:cNvPr id="1" name=""/>
        <p:cNvGrpSpPr/>
        <p:nvPr/>
      </p:nvGrpSpPr>
      <p:grpSpPr>
        <a:xfrm>
          <a:off x="0" y="0"/>
          <a:ext cx="0" cy="0"/>
          <a:chOff x="0" y="0"/>
          <a:chExt cx="0" cy="0"/>
        </a:xfrm>
      </p:grpSpPr>
      <p:pic>
        <p:nvPicPr>
          <p:cNvPr id="2" name="Image 0" descr="https://kimi-web-img.moonshot.cn/img/img.freepik.com/7eb9fc4f96833e75be9049f0199c1111c514a38e.jpg">    </p:cNvPr>
          <p:cNvPicPr>
            <a:picLocks noChangeAspect="1"/>
          </p:cNvPicPr>
          <p:nvPr/>
        </p:nvPicPr>
        <p:blipFill>
          <a:blip r:embed="rId1">
            <a:alphaModFix amt="30000"/>
          </a:blip>
          <a:srcRect l="0" r="0" t="7779" b="7779"/>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rotWithShape="1" flip="none">
            <a:gsLst>
              <a:gs pos="0">
                <a:srgbClr val="181A1F"/>
              </a:gs>
              <a:gs pos="50000">
                <a:srgbClr val="181A1F">
                  <a:alpha val="95000"/>
                </a:srgbClr>
              </a:gs>
              <a:gs pos="100000">
                <a:srgbClr val="181A1F">
                  <a:alpha val="70000"/>
                </a:srgbClr>
              </a:gs>
            </a:gsLst>
            <a:lin ang="0" scaled="1"/>
          </a:gradFill>
          <a:ln/>
        </p:spPr>
      </p:sp>
      <p:sp>
        <p:nvSpPr>
          <p:cNvPr id="4" name="Shape 1"/>
          <p:cNvSpPr/>
          <p:nvPr/>
        </p:nvSpPr>
        <p:spPr>
          <a:xfrm>
            <a:off x="520700" y="1073150"/>
            <a:ext cx="2349500" cy="787400"/>
          </a:xfrm>
          <a:custGeom>
            <a:avLst/>
            <a:gdLst/>
            <a:ahLst/>
            <a:cxnLst/>
            <a:rect l="l" t="t" r="r" b="b"/>
            <a:pathLst>
              <a:path w="2349500" h="787400">
                <a:moveTo>
                  <a:pt x="101598" y="0"/>
                </a:moveTo>
                <a:lnTo>
                  <a:pt x="2247902" y="0"/>
                </a:lnTo>
                <a:cubicBezTo>
                  <a:pt x="2304013" y="0"/>
                  <a:pt x="2349500" y="45487"/>
                  <a:pt x="2349500" y="101598"/>
                </a:cubicBezTo>
                <a:lnTo>
                  <a:pt x="2349500" y="685802"/>
                </a:lnTo>
                <a:cubicBezTo>
                  <a:pt x="2349500" y="741913"/>
                  <a:pt x="2304013" y="787400"/>
                  <a:pt x="2247902" y="787400"/>
                </a:cubicBezTo>
                <a:lnTo>
                  <a:pt x="101598" y="787400"/>
                </a:lnTo>
                <a:cubicBezTo>
                  <a:pt x="45487" y="787400"/>
                  <a:pt x="0" y="741913"/>
                  <a:pt x="0" y="685802"/>
                </a:cubicBezTo>
                <a:lnTo>
                  <a:pt x="0" y="101598"/>
                </a:lnTo>
                <a:cubicBezTo>
                  <a:pt x="0" y="45525"/>
                  <a:pt x="45525" y="0"/>
                  <a:pt x="101598" y="0"/>
                </a:cubicBezTo>
                <a:close/>
              </a:path>
            </a:pathLst>
          </a:custGeom>
          <a:solidFill>
            <a:srgbClr val="4C7E9A">
              <a:alpha val="20000"/>
            </a:srgbClr>
          </a:solidFill>
          <a:ln w="25400">
            <a:solidFill>
              <a:srgbClr val="4C7E9A"/>
            </a:solidFill>
            <a:prstDash val="solid"/>
          </a:ln>
        </p:spPr>
      </p:sp>
      <p:sp>
        <p:nvSpPr>
          <p:cNvPr id="5" name="Text 2"/>
          <p:cNvSpPr/>
          <p:nvPr/>
        </p:nvSpPr>
        <p:spPr>
          <a:xfrm>
            <a:off x="838200" y="1238250"/>
            <a:ext cx="1905000" cy="457200"/>
          </a:xfrm>
          <a:prstGeom prst="rect">
            <a:avLst/>
          </a:prstGeom>
          <a:noFill/>
          <a:ln/>
        </p:spPr>
        <p:txBody>
          <a:bodyPr wrap="square" lIns="0" tIns="0" rIns="0" bIns="0" rtlCol="0" anchor="ctr"/>
          <a:lstStyle/>
          <a:p>
            <a:pPr>
              <a:lnSpc>
                <a:spcPct val="100000"/>
              </a:lnSpc>
            </a:pPr>
            <a:r>
              <a:rPr lang="en-US" sz="3000" b="1" dirty="0">
                <a:solidFill>
                  <a:srgbClr val="4C7E9A"/>
                </a:solidFill>
                <a:latin typeface="MiSans" pitchFamily="34" charset="0"/>
                <a:ea typeface="MiSans" pitchFamily="34" charset="-122"/>
                <a:cs typeface="MiSans" pitchFamily="34" charset="-120"/>
              </a:rPr>
              <a:t>CHAPTER</a:t>
            </a:r>
            <a:endParaRPr lang="en-US" sz="1600" dirty="0"/>
          </a:p>
        </p:txBody>
      </p:sp>
      <p:sp>
        <p:nvSpPr>
          <p:cNvPr id="6" name="Text 3"/>
          <p:cNvSpPr/>
          <p:nvPr/>
        </p:nvSpPr>
        <p:spPr>
          <a:xfrm>
            <a:off x="508000" y="2279650"/>
            <a:ext cx="9486900" cy="1219200"/>
          </a:xfrm>
          <a:prstGeom prst="rect">
            <a:avLst/>
          </a:prstGeom>
          <a:noFill/>
          <a:ln/>
        </p:spPr>
        <p:txBody>
          <a:bodyPr wrap="square" lIns="0" tIns="0" rIns="0" bIns="0" rtlCol="0" anchor="ctr"/>
          <a:lstStyle/>
          <a:p>
            <a:pPr>
              <a:lnSpc>
                <a:spcPct val="80000"/>
              </a:lnSpc>
            </a:pPr>
            <a:r>
              <a:rPr lang="en-US" sz="9600" b="1" dirty="0">
                <a:solidFill>
                  <a:srgbClr val="D1D5DB"/>
                </a:solidFill>
                <a:latin typeface="阿里妈妈数黑体" pitchFamily="34" charset="0"/>
                <a:ea typeface="阿里妈妈数黑体" pitchFamily="34" charset="-122"/>
                <a:cs typeface="阿里妈妈数黑体" pitchFamily="34" charset="-120"/>
              </a:rPr>
              <a:t>07</a:t>
            </a:r>
            <a:endParaRPr lang="en-US" sz="1600" dirty="0"/>
          </a:p>
        </p:txBody>
      </p:sp>
      <p:sp>
        <p:nvSpPr>
          <p:cNvPr id="7" name="Text 4"/>
          <p:cNvSpPr/>
          <p:nvPr/>
        </p:nvSpPr>
        <p:spPr>
          <a:xfrm>
            <a:off x="508000" y="3803650"/>
            <a:ext cx="9258300" cy="952500"/>
          </a:xfrm>
          <a:prstGeom prst="rect">
            <a:avLst/>
          </a:prstGeom>
          <a:noFill/>
          <a:ln/>
        </p:spPr>
        <p:txBody>
          <a:bodyPr wrap="square" lIns="0" tIns="0" rIns="0" bIns="0" rtlCol="0" anchor="ctr"/>
          <a:lstStyle/>
          <a:p>
            <a:pPr>
              <a:lnSpc>
                <a:spcPct val="100000"/>
              </a:lnSpc>
            </a:pPr>
            <a:r>
              <a:rPr lang="en-US" sz="6000" b="1" dirty="0">
                <a:solidFill>
                  <a:srgbClr val="4C7E9A"/>
                </a:solidFill>
                <a:latin typeface="阿里妈妈数黑体" pitchFamily="34" charset="0"/>
                <a:ea typeface="阿里妈妈数黑体" pitchFamily="34" charset="-122"/>
                <a:cs typeface="阿里妈妈数黑体" pitchFamily="34" charset="-120"/>
              </a:rPr>
              <a:t>核心方法解析 · Stacking</a:t>
            </a:r>
            <a:endParaRPr lang="en-US" sz="1600" dirty="0"/>
          </a:p>
        </p:txBody>
      </p:sp>
      <p:sp>
        <p:nvSpPr>
          <p:cNvPr id="8" name="Shape 5"/>
          <p:cNvSpPr/>
          <p:nvPr/>
        </p:nvSpPr>
        <p:spPr>
          <a:xfrm>
            <a:off x="508000" y="5162550"/>
            <a:ext cx="2438400" cy="101600"/>
          </a:xfrm>
          <a:custGeom>
            <a:avLst/>
            <a:gdLst/>
            <a:ahLst/>
            <a:cxnLst/>
            <a:rect l="l" t="t" r="r" b="b"/>
            <a:pathLst>
              <a:path w="2438400" h="101600">
                <a:moveTo>
                  <a:pt x="0" y="0"/>
                </a:moveTo>
                <a:lnTo>
                  <a:pt x="2438400" y="0"/>
                </a:lnTo>
                <a:lnTo>
                  <a:pt x="2438400" y="101600"/>
                </a:lnTo>
                <a:lnTo>
                  <a:pt x="0" y="101600"/>
                </a:lnTo>
                <a:lnTo>
                  <a:pt x="0" y="0"/>
                </a:lnTo>
                <a:close/>
              </a:path>
            </a:pathLst>
          </a:custGeom>
          <a:solidFill>
            <a:srgbClr val="4C7E9A"/>
          </a:solidFill>
          <a:ln/>
        </p:spPr>
      </p:sp>
      <p:sp>
        <p:nvSpPr>
          <p:cNvPr id="9" name="Text 6"/>
          <p:cNvSpPr/>
          <p:nvPr/>
        </p:nvSpPr>
        <p:spPr>
          <a:xfrm>
            <a:off x="508000" y="5568950"/>
            <a:ext cx="9105900" cy="508000"/>
          </a:xfrm>
          <a:prstGeom prst="rect">
            <a:avLst/>
          </a:prstGeom>
          <a:noFill/>
          <a:ln/>
        </p:spPr>
        <p:txBody>
          <a:bodyPr wrap="square" lIns="0" tIns="0" rIns="0" bIns="0" rtlCol="0" anchor="ctr"/>
          <a:lstStyle/>
          <a:p>
            <a:pPr>
              <a:lnSpc>
                <a:spcPct val="90000"/>
              </a:lnSpc>
            </a:pPr>
            <a:r>
              <a:rPr lang="en-US" sz="3600" dirty="0">
                <a:solidFill>
                  <a:srgbClr val="7E9AA8"/>
                </a:solidFill>
                <a:latin typeface="MiSans" pitchFamily="34" charset="0"/>
                <a:ea typeface="MiSans" pitchFamily="34" charset="-122"/>
                <a:cs typeface="MiSans" pitchFamily="34" charset="-120"/>
              </a:rPr>
              <a:t>层级集成的元学习框架</a:t>
            </a:r>
            <a:endParaRPr lang="en-US" sz="1600" dirty="0"/>
          </a:p>
        </p:txBody>
      </p:sp>
      <p:sp>
        <p:nvSpPr>
          <p:cNvPr id="10" name="Shape 7"/>
          <p:cNvSpPr/>
          <p:nvPr/>
        </p:nvSpPr>
        <p:spPr>
          <a:xfrm>
            <a:off x="508000" y="6686550"/>
            <a:ext cx="3149600" cy="1397000"/>
          </a:xfrm>
          <a:custGeom>
            <a:avLst/>
            <a:gdLst/>
            <a:ahLst/>
            <a:cxnLst/>
            <a:rect l="l" t="t" r="r" b="b"/>
            <a:pathLst>
              <a:path w="3149600" h="1397000">
                <a:moveTo>
                  <a:pt x="101604" y="0"/>
                </a:moveTo>
                <a:lnTo>
                  <a:pt x="3047996" y="0"/>
                </a:lnTo>
                <a:cubicBezTo>
                  <a:pt x="3104110" y="0"/>
                  <a:pt x="3149600" y="45490"/>
                  <a:pt x="3149600" y="101604"/>
                </a:cubicBezTo>
                <a:lnTo>
                  <a:pt x="3149600" y="1295396"/>
                </a:lnTo>
                <a:cubicBezTo>
                  <a:pt x="3149600" y="1351510"/>
                  <a:pt x="3104110" y="1397000"/>
                  <a:pt x="30479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1" name="Shape 8"/>
          <p:cNvSpPr/>
          <p:nvPr/>
        </p:nvSpPr>
        <p:spPr>
          <a:xfrm>
            <a:off x="812800" y="6940550"/>
            <a:ext cx="381000" cy="381000"/>
          </a:xfrm>
          <a:custGeom>
            <a:avLst/>
            <a:gdLst/>
            <a:ahLst/>
            <a:cxnLst/>
            <a:rect l="l" t="t" r="r" b="b"/>
            <a:pathLst>
              <a:path w="381000" h="381000">
                <a:moveTo>
                  <a:pt x="173013" y="3870"/>
                </a:moveTo>
                <a:cubicBezTo>
                  <a:pt x="184100" y="-1265"/>
                  <a:pt x="196900" y="-1265"/>
                  <a:pt x="207987" y="3870"/>
                </a:cubicBezTo>
                <a:lnTo>
                  <a:pt x="370656" y="79028"/>
                </a:lnTo>
                <a:cubicBezTo>
                  <a:pt x="376982" y="81930"/>
                  <a:pt x="381000" y="88255"/>
                  <a:pt x="381000" y="95250"/>
                </a:cubicBezTo>
                <a:cubicBezTo>
                  <a:pt x="381000" y="102245"/>
                  <a:pt x="376982" y="108570"/>
                  <a:pt x="370656" y="111472"/>
                </a:cubicBezTo>
                <a:lnTo>
                  <a:pt x="207987" y="186630"/>
                </a:lnTo>
                <a:cubicBezTo>
                  <a:pt x="196900" y="191765"/>
                  <a:pt x="184100" y="191765"/>
                  <a:pt x="173013" y="186630"/>
                </a:cubicBezTo>
                <a:lnTo>
                  <a:pt x="10344" y="111472"/>
                </a:lnTo>
                <a:cubicBezTo>
                  <a:pt x="4018" y="108496"/>
                  <a:pt x="0" y="102171"/>
                  <a:pt x="0" y="95250"/>
                </a:cubicBezTo>
                <a:cubicBezTo>
                  <a:pt x="0" y="88329"/>
                  <a:pt x="4018" y="81930"/>
                  <a:pt x="10344" y="79028"/>
                </a:cubicBezTo>
                <a:lnTo>
                  <a:pt x="173013" y="3870"/>
                </a:lnTo>
                <a:close/>
                <a:moveTo>
                  <a:pt x="35793" y="162520"/>
                </a:moveTo>
                <a:lnTo>
                  <a:pt x="158055" y="219001"/>
                </a:lnTo>
                <a:cubicBezTo>
                  <a:pt x="178668" y="228526"/>
                  <a:pt x="202406" y="228526"/>
                  <a:pt x="223019" y="219001"/>
                </a:cubicBezTo>
                <a:lnTo>
                  <a:pt x="345281" y="162520"/>
                </a:lnTo>
                <a:lnTo>
                  <a:pt x="370656" y="174278"/>
                </a:lnTo>
                <a:cubicBezTo>
                  <a:pt x="376982" y="177180"/>
                  <a:pt x="381000" y="183505"/>
                  <a:pt x="381000" y="190500"/>
                </a:cubicBezTo>
                <a:cubicBezTo>
                  <a:pt x="381000" y="197495"/>
                  <a:pt x="376982" y="203820"/>
                  <a:pt x="370656" y="206722"/>
                </a:cubicBezTo>
                <a:lnTo>
                  <a:pt x="207987" y="281880"/>
                </a:lnTo>
                <a:cubicBezTo>
                  <a:pt x="196900" y="287015"/>
                  <a:pt x="184100" y="287015"/>
                  <a:pt x="173013" y="281880"/>
                </a:cubicBezTo>
                <a:lnTo>
                  <a:pt x="10344" y="206722"/>
                </a:lnTo>
                <a:cubicBezTo>
                  <a:pt x="4018" y="203746"/>
                  <a:pt x="0" y="197421"/>
                  <a:pt x="0" y="190500"/>
                </a:cubicBezTo>
                <a:cubicBezTo>
                  <a:pt x="0" y="183579"/>
                  <a:pt x="4018" y="177180"/>
                  <a:pt x="10344" y="174278"/>
                </a:cubicBezTo>
                <a:lnTo>
                  <a:pt x="35719" y="162520"/>
                </a:lnTo>
                <a:close/>
                <a:moveTo>
                  <a:pt x="10344" y="269528"/>
                </a:moveTo>
                <a:lnTo>
                  <a:pt x="35719" y="257770"/>
                </a:lnTo>
                <a:lnTo>
                  <a:pt x="157981" y="314251"/>
                </a:lnTo>
                <a:cubicBezTo>
                  <a:pt x="178594" y="323776"/>
                  <a:pt x="202332" y="323776"/>
                  <a:pt x="222945" y="314251"/>
                </a:cubicBezTo>
                <a:lnTo>
                  <a:pt x="345207" y="257770"/>
                </a:lnTo>
                <a:lnTo>
                  <a:pt x="370582" y="269528"/>
                </a:lnTo>
                <a:cubicBezTo>
                  <a:pt x="376907" y="272430"/>
                  <a:pt x="380926" y="278755"/>
                  <a:pt x="380926" y="285750"/>
                </a:cubicBezTo>
                <a:cubicBezTo>
                  <a:pt x="380926" y="292745"/>
                  <a:pt x="376907" y="299070"/>
                  <a:pt x="370582" y="301972"/>
                </a:cubicBezTo>
                <a:lnTo>
                  <a:pt x="207913" y="377130"/>
                </a:lnTo>
                <a:cubicBezTo>
                  <a:pt x="196825" y="382265"/>
                  <a:pt x="184026" y="382265"/>
                  <a:pt x="172938" y="377130"/>
                </a:cubicBezTo>
                <a:lnTo>
                  <a:pt x="10344" y="301972"/>
                </a:lnTo>
                <a:cubicBezTo>
                  <a:pt x="4018" y="298996"/>
                  <a:pt x="0" y="292671"/>
                  <a:pt x="0" y="285750"/>
                </a:cubicBezTo>
                <a:cubicBezTo>
                  <a:pt x="0" y="278829"/>
                  <a:pt x="4018" y="272430"/>
                  <a:pt x="10344" y="269528"/>
                </a:cubicBezTo>
                <a:close/>
              </a:path>
            </a:pathLst>
          </a:custGeom>
          <a:solidFill>
            <a:srgbClr val="4C7E9A"/>
          </a:solidFill>
          <a:ln/>
        </p:spPr>
      </p:sp>
      <p:sp>
        <p:nvSpPr>
          <p:cNvPr id="12" name="Text 9"/>
          <p:cNvSpPr/>
          <p:nvPr/>
        </p:nvSpPr>
        <p:spPr>
          <a:xfrm>
            <a:off x="762000" y="7473950"/>
            <a:ext cx="27686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元学习</a:t>
            </a:r>
            <a:endParaRPr lang="en-US" sz="1600" dirty="0"/>
          </a:p>
        </p:txBody>
      </p:sp>
      <p:sp>
        <p:nvSpPr>
          <p:cNvPr id="13" name="Shape 10"/>
          <p:cNvSpPr/>
          <p:nvPr/>
        </p:nvSpPr>
        <p:spPr>
          <a:xfrm>
            <a:off x="3860800" y="6686550"/>
            <a:ext cx="3149600" cy="1397000"/>
          </a:xfrm>
          <a:custGeom>
            <a:avLst/>
            <a:gdLst/>
            <a:ahLst/>
            <a:cxnLst/>
            <a:rect l="l" t="t" r="r" b="b"/>
            <a:pathLst>
              <a:path w="3149600" h="1397000">
                <a:moveTo>
                  <a:pt x="101604" y="0"/>
                </a:moveTo>
                <a:lnTo>
                  <a:pt x="3047996" y="0"/>
                </a:lnTo>
                <a:cubicBezTo>
                  <a:pt x="3104110" y="0"/>
                  <a:pt x="3149600" y="45490"/>
                  <a:pt x="3149600" y="101604"/>
                </a:cubicBezTo>
                <a:lnTo>
                  <a:pt x="3149600" y="1295396"/>
                </a:lnTo>
                <a:cubicBezTo>
                  <a:pt x="3149600" y="1351510"/>
                  <a:pt x="3104110" y="1397000"/>
                  <a:pt x="30479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4" name="Shape 11"/>
          <p:cNvSpPr/>
          <p:nvPr/>
        </p:nvSpPr>
        <p:spPr>
          <a:xfrm>
            <a:off x="4165600" y="6940550"/>
            <a:ext cx="381000" cy="381000"/>
          </a:xfrm>
          <a:custGeom>
            <a:avLst/>
            <a:gdLst/>
            <a:ahLst/>
            <a:cxnLst/>
            <a:rect l="l" t="t" r="r" b="b"/>
            <a:pathLst>
              <a:path w="381000" h="381000">
                <a:moveTo>
                  <a:pt x="89297" y="41672"/>
                </a:moveTo>
                <a:cubicBezTo>
                  <a:pt x="89297" y="18678"/>
                  <a:pt x="107975" y="0"/>
                  <a:pt x="130969" y="0"/>
                </a:cubicBezTo>
                <a:lnTo>
                  <a:pt x="148828" y="0"/>
                </a:lnTo>
                <a:cubicBezTo>
                  <a:pt x="161999" y="0"/>
                  <a:pt x="172641" y="10641"/>
                  <a:pt x="172641" y="23812"/>
                </a:cubicBezTo>
                <a:lnTo>
                  <a:pt x="172641" y="357188"/>
                </a:lnTo>
                <a:cubicBezTo>
                  <a:pt x="172641" y="370359"/>
                  <a:pt x="161999" y="381000"/>
                  <a:pt x="148828" y="381000"/>
                </a:cubicBezTo>
                <a:lnTo>
                  <a:pt x="125016" y="381000"/>
                </a:lnTo>
                <a:cubicBezTo>
                  <a:pt x="102840" y="381000"/>
                  <a:pt x="84162" y="365820"/>
                  <a:pt x="78879" y="345281"/>
                </a:cubicBezTo>
                <a:cubicBezTo>
                  <a:pt x="78358" y="345281"/>
                  <a:pt x="77912" y="345281"/>
                  <a:pt x="77391" y="345281"/>
                </a:cubicBezTo>
                <a:cubicBezTo>
                  <a:pt x="44500" y="345281"/>
                  <a:pt x="17859" y="318641"/>
                  <a:pt x="17859" y="285750"/>
                </a:cubicBezTo>
                <a:cubicBezTo>
                  <a:pt x="17859" y="272355"/>
                  <a:pt x="22324" y="260003"/>
                  <a:pt x="29766" y="250031"/>
                </a:cubicBezTo>
                <a:cubicBezTo>
                  <a:pt x="15329" y="239167"/>
                  <a:pt x="5953" y="221903"/>
                  <a:pt x="5953" y="202406"/>
                </a:cubicBezTo>
                <a:cubicBezTo>
                  <a:pt x="5953" y="179412"/>
                  <a:pt x="19050" y="159395"/>
                  <a:pt x="38100" y="149498"/>
                </a:cubicBezTo>
                <a:cubicBezTo>
                  <a:pt x="32817" y="140568"/>
                  <a:pt x="29766" y="130150"/>
                  <a:pt x="29766" y="119063"/>
                </a:cubicBezTo>
                <a:cubicBezTo>
                  <a:pt x="29766" y="86171"/>
                  <a:pt x="56406" y="59531"/>
                  <a:pt x="89297" y="59531"/>
                </a:cubicBezTo>
                <a:lnTo>
                  <a:pt x="89297" y="41672"/>
                </a:lnTo>
                <a:close/>
                <a:moveTo>
                  <a:pt x="291703" y="41672"/>
                </a:moveTo>
                <a:lnTo>
                  <a:pt x="291703" y="59531"/>
                </a:lnTo>
                <a:cubicBezTo>
                  <a:pt x="324594" y="59531"/>
                  <a:pt x="351234" y="86171"/>
                  <a:pt x="351234" y="119063"/>
                </a:cubicBezTo>
                <a:cubicBezTo>
                  <a:pt x="351234" y="130225"/>
                  <a:pt x="348183" y="140643"/>
                  <a:pt x="342900" y="149498"/>
                </a:cubicBezTo>
                <a:cubicBezTo>
                  <a:pt x="362024" y="159395"/>
                  <a:pt x="375047" y="179338"/>
                  <a:pt x="375047" y="202406"/>
                </a:cubicBezTo>
                <a:cubicBezTo>
                  <a:pt x="375047" y="221903"/>
                  <a:pt x="365671" y="239167"/>
                  <a:pt x="351234" y="250031"/>
                </a:cubicBezTo>
                <a:cubicBezTo>
                  <a:pt x="358676" y="260003"/>
                  <a:pt x="363141" y="272355"/>
                  <a:pt x="363141" y="285750"/>
                </a:cubicBezTo>
                <a:cubicBezTo>
                  <a:pt x="363141" y="318641"/>
                  <a:pt x="336500" y="345281"/>
                  <a:pt x="303609" y="345281"/>
                </a:cubicBezTo>
                <a:cubicBezTo>
                  <a:pt x="303088" y="345281"/>
                  <a:pt x="302642" y="345281"/>
                  <a:pt x="302121" y="345281"/>
                </a:cubicBezTo>
                <a:cubicBezTo>
                  <a:pt x="296838" y="365820"/>
                  <a:pt x="278160" y="381000"/>
                  <a:pt x="255984" y="381000"/>
                </a:cubicBezTo>
                <a:lnTo>
                  <a:pt x="232172" y="381000"/>
                </a:lnTo>
                <a:cubicBezTo>
                  <a:pt x="219001" y="381000"/>
                  <a:pt x="208359" y="370359"/>
                  <a:pt x="208359" y="357188"/>
                </a:cubicBezTo>
                <a:lnTo>
                  <a:pt x="208359" y="23812"/>
                </a:lnTo>
                <a:cubicBezTo>
                  <a:pt x="208359" y="10641"/>
                  <a:pt x="219001" y="0"/>
                  <a:pt x="232172" y="0"/>
                </a:cubicBezTo>
                <a:lnTo>
                  <a:pt x="250031" y="0"/>
                </a:lnTo>
                <a:cubicBezTo>
                  <a:pt x="273025" y="0"/>
                  <a:pt x="291703" y="18678"/>
                  <a:pt x="291703" y="41672"/>
                </a:cubicBezTo>
                <a:close/>
              </a:path>
            </a:pathLst>
          </a:custGeom>
          <a:solidFill>
            <a:srgbClr val="4C7E9A"/>
          </a:solidFill>
          <a:ln/>
        </p:spPr>
      </p:sp>
      <p:sp>
        <p:nvSpPr>
          <p:cNvPr id="15" name="Text 12"/>
          <p:cNvSpPr/>
          <p:nvPr/>
        </p:nvSpPr>
        <p:spPr>
          <a:xfrm>
            <a:off x="4114800" y="7473950"/>
            <a:ext cx="27686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智慧融合</a:t>
            </a:r>
            <a:endParaRPr lang="en-US" sz="1600" dirty="0"/>
          </a:p>
        </p:txBody>
      </p:sp>
    </p:spTree>
  </p:cSld>
  <p:clrMapOvr>
    <a:masterClrMapping/>
  </p:clrMapOvr>
  <p:transition>
    <p:fade/>
    <p:spd val="med"/>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STACKING</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Stacking的核心思想</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24000"/>
            <a:ext cx="7577667" cy="2000250"/>
          </a:xfrm>
          <a:custGeom>
            <a:avLst/>
            <a:gdLst/>
            <a:ahLst/>
            <a:cxnLst/>
            <a:rect l="l" t="t" r="r" b="b"/>
            <a:pathLst>
              <a:path w="7577667" h="2000250">
                <a:moveTo>
                  <a:pt x="42333" y="0"/>
                </a:moveTo>
                <a:lnTo>
                  <a:pt x="7492996" y="0"/>
                </a:lnTo>
                <a:cubicBezTo>
                  <a:pt x="7539758" y="0"/>
                  <a:pt x="7577667" y="37908"/>
                  <a:pt x="7577667" y="84671"/>
                </a:cubicBezTo>
                <a:lnTo>
                  <a:pt x="7577667" y="1915579"/>
                </a:lnTo>
                <a:cubicBezTo>
                  <a:pt x="7577667" y="1962342"/>
                  <a:pt x="7539758" y="2000250"/>
                  <a:pt x="7492996" y="2000250"/>
                </a:cubicBezTo>
                <a:lnTo>
                  <a:pt x="42333" y="2000250"/>
                </a:lnTo>
                <a:cubicBezTo>
                  <a:pt x="18953" y="2000250"/>
                  <a:pt x="0" y="1981297"/>
                  <a:pt x="0" y="1957917"/>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24000"/>
            <a:ext cx="42333" cy="2000250"/>
          </a:xfrm>
          <a:custGeom>
            <a:avLst/>
            <a:gdLst/>
            <a:ahLst/>
            <a:cxnLst/>
            <a:rect l="l" t="t" r="r" b="b"/>
            <a:pathLst>
              <a:path w="42333" h="2000250">
                <a:moveTo>
                  <a:pt x="42333" y="0"/>
                </a:moveTo>
                <a:lnTo>
                  <a:pt x="42333" y="0"/>
                </a:lnTo>
                <a:lnTo>
                  <a:pt x="42333" y="2000250"/>
                </a:lnTo>
                <a:lnTo>
                  <a:pt x="42333" y="2000250"/>
                </a:lnTo>
                <a:cubicBezTo>
                  <a:pt x="18953" y="2000250"/>
                  <a:pt x="0" y="1981297"/>
                  <a:pt x="0" y="1957917"/>
                </a:cubicBezTo>
                <a:lnTo>
                  <a:pt x="0" y="42333"/>
                </a:lnTo>
                <a:cubicBezTo>
                  <a:pt x="0" y="18953"/>
                  <a:pt x="18953" y="0"/>
                  <a:pt x="42333" y="0"/>
                </a:cubicBezTo>
                <a:close/>
              </a:path>
            </a:pathLst>
          </a:custGeom>
          <a:solidFill>
            <a:srgbClr val="4C7E9A"/>
          </a:solidFill>
          <a:ln/>
        </p:spPr>
      </p:sp>
      <p:sp>
        <p:nvSpPr>
          <p:cNvPr id="7" name="Text 5"/>
          <p:cNvSpPr/>
          <p:nvPr/>
        </p:nvSpPr>
        <p:spPr>
          <a:xfrm>
            <a:off x="635000" y="1693333"/>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元学习策略</a:t>
            </a:r>
            <a:endParaRPr lang="en-US" sz="1600" dirty="0"/>
          </a:p>
        </p:txBody>
      </p:sp>
      <p:sp>
        <p:nvSpPr>
          <p:cNvPr id="8" name="Text 6"/>
          <p:cNvSpPr/>
          <p:nvPr/>
        </p:nvSpPr>
        <p:spPr>
          <a:xfrm>
            <a:off x="635000" y="2159000"/>
            <a:ext cx="7313083" cy="306917"/>
          </a:xfrm>
          <a:prstGeom prst="rect">
            <a:avLst/>
          </a:prstGeom>
          <a:noFill/>
          <a:ln/>
        </p:spPr>
        <p:txBody>
          <a:bodyPr wrap="square" lIns="0" tIns="0" rIns="0" bIns="0" rtlCol="0" anchor="ctr"/>
          <a:lstStyle/>
          <a:p>
            <a:pPr>
              <a:lnSpc>
                <a:spcPct val="140000"/>
              </a:lnSpc>
            </a:pPr>
            <a:r>
              <a:rPr lang="en-US" sz="1500" b="1" dirty="0">
                <a:solidFill>
                  <a:srgbClr val="4C7E9A"/>
                </a:solidFill>
                <a:latin typeface="MiSans" pitchFamily="34" charset="0"/>
                <a:ea typeface="MiSans" pitchFamily="34" charset="-122"/>
                <a:cs typeface="MiSans" pitchFamily="34" charset="-120"/>
              </a:rPr>
              <a:t>Stacking</a:t>
            </a:r>
            <a:pPr>
              <a:lnSpc>
                <a:spcPct val="140000"/>
              </a:lnSpc>
            </a:pPr>
            <a:r>
              <a:rPr lang="en-US" sz="1500" dirty="0">
                <a:solidFill>
                  <a:srgbClr val="D1D5DB"/>
                </a:solidFill>
                <a:latin typeface="MiSans" pitchFamily="34" charset="0"/>
                <a:ea typeface="MiSans" pitchFamily="34" charset="-122"/>
                <a:cs typeface="MiSans" pitchFamily="34" charset="-120"/>
              </a:rPr>
              <a:t>不仅仅是模型的简单堆砌，而是一种高级的</a:t>
            </a:r>
            <a:pPr>
              <a:lnSpc>
                <a:spcPct val="140000"/>
              </a:lnSpc>
            </a:pPr>
            <a:r>
              <a:rPr lang="en-US" sz="1500" b="1" dirty="0">
                <a:solidFill>
                  <a:srgbClr val="4C7E9A"/>
                </a:solidFill>
                <a:latin typeface="MiSans" pitchFamily="34" charset="0"/>
                <a:ea typeface="MiSans" pitchFamily="34" charset="-122"/>
                <a:cs typeface="MiSans" pitchFamily="34" charset="-120"/>
              </a:rPr>
              <a:t>元学习（Meta-learning）</a:t>
            </a:r>
            <a:pPr>
              <a:lnSpc>
                <a:spcPct val="140000"/>
              </a:lnSpc>
            </a:pPr>
            <a:r>
              <a:rPr lang="en-US" sz="1500" dirty="0">
                <a:solidFill>
                  <a:srgbClr val="D1D5DB"/>
                </a:solidFill>
                <a:latin typeface="MiSans" pitchFamily="34" charset="0"/>
                <a:ea typeface="MiSans" pitchFamily="34" charset="-122"/>
                <a:cs typeface="MiSans" pitchFamily="34" charset="-120"/>
              </a:rPr>
              <a:t>策略。</a:t>
            </a:r>
            <a:endParaRPr lang="en-US" sz="1600" dirty="0"/>
          </a:p>
        </p:txBody>
      </p:sp>
      <p:sp>
        <p:nvSpPr>
          <p:cNvPr id="9" name="Shape 7"/>
          <p:cNvSpPr/>
          <p:nvPr/>
        </p:nvSpPr>
        <p:spPr>
          <a:xfrm>
            <a:off x="635000" y="2595563"/>
            <a:ext cx="7217833" cy="762000"/>
          </a:xfrm>
          <a:custGeom>
            <a:avLst/>
            <a:gdLst/>
            <a:ahLst/>
            <a:cxnLst/>
            <a:rect l="l" t="t" r="r" b="b"/>
            <a:pathLst>
              <a:path w="7217833" h="762000">
                <a:moveTo>
                  <a:pt x="84666" y="0"/>
                </a:moveTo>
                <a:lnTo>
                  <a:pt x="7133168" y="0"/>
                </a:lnTo>
                <a:cubicBezTo>
                  <a:pt x="7179927" y="0"/>
                  <a:pt x="7217833" y="37906"/>
                  <a:pt x="7217833" y="84666"/>
                </a:cubicBezTo>
                <a:lnTo>
                  <a:pt x="7217833" y="677334"/>
                </a:lnTo>
                <a:cubicBezTo>
                  <a:pt x="7217833" y="724094"/>
                  <a:pt x="7179927" y="762000"/>
                  <a:pt x="7133168" y="762000"/>
                </a:cubicBezTo>
                <a:lnTo>
                  <a:pt x="84666" y="762000"/>
                </a:lnTo>
                <a:cubicBezTo>
                  <a:pt x="37906" y="762000"/>
                  <a:pt x="0" y="724094"/>
                  <a:pt x="0" y="677334"/>
                </a:cubicBezTo>
                <a:lnTo>
                  <a:pt x="0" y="84666"/>
                </a:lnTo>
                <a:cubicBezTo>
                  <a:pt x="0" y="37937"/>
                  <a:pt x="37937" y="0"/>
                  <a:pt x="84666" y="0"/>
                </a:cubicBezTo>
                <a:close/>
              </a:path>
            </a:pathLst>
          </a:custGeom>
          <a:solidFill>
            <a:srgbClr val="181A1F">
              <a:alpha val="50196"/>
            </a:srgbClr>
          </a:solidFill>
          <a:ln/>
        </p:spPr>
      </p:sp>
      <p:sp>
        <p:nvSpPr>
          <p:cNvPr id="10" name="Shape 8"/>
          <p:cNvSpPr/>
          <p:nvPr/>
        </p:nvSpPr>
        <p:spPr>
          <a:xfrm>
            <a:off x="793750" y="2770188"/>
            <a:ext cx="148167" cy="169333"/>
          </a:xfrm>
          <a:custGeom>
            <a:avLst/>
            <a:gdLst/>
            <a:ahLst/>
            <a:cxnLst/>
            <a:rect l="l" t="t" r="r" b="b"/>
            <a:pathLst>
              <a:path w="148167" h="169333">
                <a:moveTo>
                  <a:pt x="0" y="71438"/>
                </a:moveTo>
                <a:cubicBezTo>
                  <a:pt x="0" y="49510"/>
                  <a:pt x="17760" y="31750"/>
                  <a:pt x="39688" y="31750"/>
                </a:cubicBezTo>
                <a:lnTo>
                  <a:pt x="42333" y="31750"/>
                </a:lnTo>
                <a:cubicBezTo>
                  <a:pt x="48187" y="31750"/>
                  <a:pt x="52917" y="36479"/>
                  <a:pt x="52917" y="42333"/>
                </a:cubicBezTo>
                <a:cubicBezTo>
                  <a:pt x="52917" y="48187"/>
                  <a:pt x="48187" y="52917"/>
                  <a:pt x="42333" y="52917"/>
                </a:cubicBezTo>
                <a:lnTo>
                  <a:pt x="39688" y="52917"/>
                </a:lnTo>
                <a:cubicBezTo>
                  <a:pt x="29468" y="52917"/>
                  <a:pt x="21167" y="61218"/>
                  <a:pt x="21167" y="71438"/>
                </a:cubicBezTo>
                <a:lnTo>
                  <a:pt x="21167" y="74083"/>
                </a:lnTo>
                <a:lnTo>
                  <a:pt x="42333" y="74083"/>
                </a:lnTo>
                <a:cubicBezTo>
                  <a:pt x="54008" y="74083"/>
                  <a:pt x="63500" y="83575"/>
                  <a:pt x="63500" y="95250"/>
                </a:cubicBezTo>
                <a:lnTo>
                  <a:pt x="63500" y="116417"/>
                </a:lnTo>
                <a:cubicBezTo>
                  <a:pt x="63500" y="128091"/>
                  <a:pt x="54008" y="137583"/>
                  <a:pt x="42333" y="137583"/>
                </a:cubicBezTo>
                <a:lnTo>
                  <a:pt x="21167" y="137583"/>
                </a:lnTo>
                <a:cubicBezTo>
                  <a:pt x="9492" y="137583"/>
                  <a:pt x="0" y="128091"/>
                  <a:pt x="0" y="116417"/>
                </a:cubicBezTo>
                <a:lnTo>
                  <a:pt x="0" y="71438"/>
                </a:lnTo>
                <a:close/>
                <a:moveTo>
                  <a:pt x="84667" y="71438"/>
                </a:moveTo>
                <a:cubicBezTo>
                  <a:pt x="84667" y="49510"/>
                  <a:pt x="102427" y="31750"/>
                  <a:pt x="124354" y="31750"/>
                </a:cubicBezTo>
                <a:lnTo>
                  <a:pt x="127000" y="31750"/>
                </a:lnTo>
                <a:cubicBezTo>
                  <a:pt x="132854" y="31750"/>
                  <a:pt x="137583" y="36479"/>
                  <a:pt x="137583" y="42333"/>
                </a:cubicBezTo>
                <a:cubicBezTo>
                  <a:pt x="137583" y="48187"/>
                  <a:pt x="132854" y="52917"/>
                  <a:pt x="127000" y="52917"/>
                </a:cubicBezTo>
                <a:lnTo>
                  <a:pt x="124354" y="52917"/>
                </a:lnTo>
                <a:cubicBezTo>
                  <a:pt x="114135" y="52917"/>
                  <a:pt x="105833" y="61218"/>
                  <a:pt x="105833" y="71438"/>
                </a:cubicBezTo>
                <a:lnTo>
                  <a:pt x="105833" y="74083"/>
                </a:lnTo>
                <a:lnTo>
                  <a:pt x="127000" y="74083"/>
                </a:lnTo>
                <a:cubicBezTo>
                  <a:pt x="138675" y="74083"/>
                  <a:pt x="148167" y="83575"/>
                  <a:pt x="148167" y="95250"/>
                </a:cubicBezTo>
                <a:lnTo>
                  <a:pt x="148167" y="116417"/>
                </a:lnTo>
                <a:cubicBezTo>
                  <a:pt x="148167" y="128091"/>
                  <a:pt x="138675" y="137583"/>
                  <a:pt x="127000" y="137583"/>
                </a:cubicBezTo>
                <a:lnTo>
                  <a:pt x="105833" y="137583"/>
                </a:lnTo>
                <a:cubicBezTo>
                  <a:pt x="94159" y="137583"/>
                  <a:pt x="84667" y="128091"/>
                  <a:pt x="84667" y="116417"/>
                </a:cubicBezTo>
                <a:lnTo>
                  <a:pt x="84667" y="71438"/>
                </a:lnTo>
                <a:close/>
              </a:path>
            </a:pathLst>
          </a:custGeom>
          <a:solidFill>
            <a:srgbClr val="4C7E9A"/>
          </a:solidFill>
          <a:ln/>
        </p:spPr>
      </p:sp>
      <p:sp>
        <p:nvSpPr>
          <p:cNvPr id="11" name="Text 9"/>
          <p:cNvSpPr/>
          <p:nvPr/>
        </p:nvSpPr>
        <p:spPr>
          <a:xfrm>
            <a:off x="1044222" y="2722563"/>
            <a:ext cx="6766278" cy="508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如果说Bagging是"民主投票"，Boosting是"接力修正"，那么Stacking则是"集思广益的经理人"</a:t>
            </a:r>
            <a:endParaRPr lang="en-US" sz="1600" dirty="0"/>
          </a:p>
        </p:txBody>
      </p:sp>
      <p:sp>
        <p:nvSpPr>
          <p:cNvPr id="12" name="Shape 10"/>
          <p:cNvSpPr/>
          <p:nvPr/>
        </p:nvSpPr>
        <p:spPr>
          <a:xfrm>
            <a:off x="444500" y="3696229"/>
            <a:ext cx="7577667" cy="2624667"/>
          </a:xfrm>
          <a:custGeom>
            <a:avLst/>
            <a:gdLst/>
            <a:ahLst/>
            <a:cxnLst/>
            <a:rect l="l" t="t" r="r" b="b"/>
            <a:pathLst>
              <a:path w="7577667" h="2624667">
                <a:moveTo>
                  <a:pt x="42333" y="0"/>
                </a:moveTo>
                <a:lnTo>
                  <a:pt x="7492995" y="0"/>
                </a:lnTo>
                <a:cubicBezTo>
                  <a:pt x="7539758" y="0"/>
                  <a:pt x="7577667" y="37909"/>
                  <a:pt x="7577667" y="84672"/>
                </a:cubicBezTo>
                <a:lnTo>
                  <a:pt x="7577667" y="2539995"/>
                </a:lnTo>
                <a:cubicBezTo>
                  <a:pt x="7577667" y="2586758"/>
                  <a:pt x="7539758" y="2624667"/>
                  <a:pt x="7492995" y="2624667"/>
                </a:cubicBezTo>
                <a:lnTo>
                  <a:pt x="42333" y="2624667"/>
                </a:lnTo>
                <a:cubicBezTo>
                  <a:pt x="18953" y="2624667"/>
                  <a:pt x="0" y="2605713"/>
                  <a:pt x="0" y="2582333"/>
                </a:cubicBezTo>
                <a:lnTo>
                  <a:pt x="0" y="42333"/>
                </a:lnTo>
                <a:cubicBezTo>
                  <a:pt x="0" y="18953"/>
                  <a:pt x="18953" y="0"/>
                  <a:pt x="42333" y="0"/>
                </a:cubicBezTo>
                <a:close/>
              </a:path>
            </a:pathLst>
          </a:custGeom>
          <a:solidFill>
            <a:srgbClr val="3A5E78">
              <a:alpha val="20000"/>
            </a:srgbClr>
          </a:solidFill>
          <a:ln/>
        </p:spPr>
      </p:sp>
      <p:sp>
        <p:nvSpPr>
          <p:cNvPr id="13" name="Shape 11"/>
          <p:cNvSpPr/>
          <p:nvPr/>
        </p:nvSpPr>
        <p:spPr>
          <a:xfrm>
            <a:off x="444500" y="3696229"/>
            <a:ext cx="42333" cy="2624667"/>
          </a:xfrm>
          <a:custGeom>
            <a:avLst/>
            <a:gdLst/>
            <a:ahLst/>
            <a:cxnLst/>
            <a:rect l="l" t="t" r="r" b="b"/>
            <a:pathLst>
              <a:path w="42333" h="2624667">
                <a:moveTo>
                  <a:pt x="42333" y="0"/>
                </a:moveTo>
                <a:lnTo>
                  <a:pt x="42333" y="0"/>
                </a:lnTo>
                <a:lnTo>
                  <a:pt x="42333" y="2624667"/>
                </a:lnTo>
                <a:lnTo>
                  <a:pt x="42333" y="2624667"/>
                </a:lnTo>
                <a:cubicBezTo>
                  <a:pt x="18953" y="2624667"/>
                  <a:pt x="0" y="2605713"/>
                  <a:pt x="0" y="2582333"/>
                </a:cubicBezTo>
                <a:lnTo>
                  <a:pt x="0" y="42333"/>
                </a:lnTo>
                <a:cubicBezTo>
                  <a:pt x="0" y="18953"/>
                  <a:pt x="18953" y="0"/>
                  <a:pt x="42333" y="0"/>
                </a:cubicBezTo>
                <a:close/>
              </a:path>
            </a:pathLst>
          </a:custGeom>
          <a:solidFill>
            <a:srgbClr val="7E9AA8"/>
          </a:solidFill>
          <a:ln/>
        </p:spPr>
      </p:sp>
      <p:sp>
        <p:nvSpPr>
          <p:cNvPr id="14" name="Text 12"/>
          <p:cNvSpPr/>
          <p:nvPr/>
        </p:nvSpPr>
        <p:spPr>
          <a:xfrm>
            <a:off x="635000" y="3865563"/>
            <a:ext cx="7344833"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核心机制</a:t>
            </a:r>
            <a:endParaRPr lang="en-US" sz="1600" dirty="0"/>
          </a:p>
        </p:txBody>
      </p:sp>
      <p:sp>
        <p:nvSpPr>
          <p:cNvPr id="15" name="Shape 13"/>
          <p:cNvSpPr/>
          <p:nvPr/>
        </p:nvSpPr>
        <p:spPr>
          <a:xfrm>
            <a:off x="661458" y="4373563"/>
            <a:ext cx="211667" cy="211667"/>
          </a:xfrm>
          <a:custGeom>
            <a:avLst/>
            <a:gdLst/>
            <a:ahLst/>
            <a:cxnLst/>
            <a:rect l="l" t="t" r="r" b="b"/>
            <a:pathLst>
              <a:path w="211667" h="211667">
                <a:moveTo>
                  <a:pt x="96118" y="2150"/>
                </a:moveTo>
                <a:cubicBezTo>
                  <a:pt x="102278" y="-703"/>
                  <a:pt x="109389" y="-703"/>
                  <a:pt x="115549" y="2150"/>
                </a:cubicBezTo>
                <a:lnTo>
                  <a:pt x="205920" y="43904"/>
                </a:lnTo>
                <a:cubicBezTo>
                  <a:pt x="209434" y="45517"/>
                  <a:pt x="211667" y="49031"/>
                  <a:pt x="211667" y="52917"/>
                </a:cubicBezTo>
                <a:cubicBezTo>
                  <a:pt x="211667" y="56803"/>
                  <a:pt x="209434" y="60317"/>
                  <a:pt x="205920" y="61929"/>
                </a:cubicBezTo>
                <a:lnTo>
                  <a:pt x="115549" y="103684"/>
                </a:lnTo>
                <a:cubicBezTo>
                  <a:pt x="109389" y="106536"/>
                  <a:pt x="102278" y="106536"/>
                  <a:pt x="96118" y="103684"/>
                </a:cubicBezTo>
                <a:lnTo>
                  <a:pt x="5746" y="61929"/>
                </a:lnTo>
                <a:cubicBezTo>
                  <a:pt x="2232" y="60275"/>
                  <a:pt x="0" y="56761"/>
                  <a:pt x="0" y="52917"/>
                </a:cubicBezTo>
                <a:cubicBezTo>
                  <a:pt x="0" y="49072"/>
                  <a:pt x="2232" y="45517"/>
                  <a:pt x="5746" y="43904"/>
                </a:cubicBezTo>
                <a:lnTo>
                  <a:pt x="96118" y="2150"/>
                </a:lnTo>
                <a:close/>
                <a:moveTo>
                  <a:pt x="19885" y="90289"/>
                </a:moveTo>
                <a:lnTo>
                  <a:pt x="87809" y="121667"/>
                </a:lnTo>
                <a:cubicBezTo>
                  <a:pt x="99260" y="126959"/>
                  <a:pt x="112448" y="126959"/>
                  <a:pt x="123899" y="121667"/>
                </a:cubicBezTo>
                <a:lnTo>
                  <a:pt x="191823" y="90289"/>
                </a:lnTo>
                <a:lnTo>
                  <a:pt x="205920" y="96821"/>
                </a:lnTo>
                <a:cubicBezTo>
                  <a:pt x="209434" y="98433"/>
                  <a:pt x="211667" y="101947"/>
                  <a:pt x="211667" y="105833"/>
                </a:cubicBezTo>
                <a:cubicBezTo>
                  <a:pt x="211667" y="109719"/>
                  <a:pt x="209434" y="113233"/>
                  <a:pt x="205920" y="114846"/>
                </a:cubicBezTo>
                <a:lnTo>
                  <a:pt x="115549" y="156600"/>
                </a:lnTo>
                <a:cubicBezTo>
                  <a:pt x="109389" y="159453"/>
                  <a:pt x="102278" y="159453"/>
                  <a:pt x="96118" y="156600"/>
                </a:cubicBezTo>
                <a:lnTo>
                  <a:pt x="5746" y="114846"/>
                </a:lnTo>
                <a:cubicBezTo>
                  <a:pt x="2232" y="113192"/>
                  <a:pt x="0" y="109678"/>
                  <a:pt x="0" y="105833"/>
                </a:cubicBezTo>
                <a:cubicBezTo>
                  <a:pt x="0" y="101989"/>
                  <a:pt x="2232" y="98433"/>
                  <a:pt x="5746" y="96821"/>
                </a:cubicBezTo>
                <a:lnTo>
                  <a:pt x="19844" y="90289"/>
                </a:lnTo>
                <a:close/>
                <a:moveTo>
                  <a:pt x="5746" y="149738"/>
                </a:moveTo>
                <a:lnTo>
                  <a:pt x="19844" y="143206"/>
                </a:lnTo>
                <a:lnTo>
                  <a:pt x="87767" y="174584"/>
                </a:lnTo>
                <a:cubicBezTo>
                  <a:pt x="99219" y="179875"/>
                  <a:pt x="112407" y="179875"/>
                  <a:pt x="123858" y="174584"/>
                </a:cubicBezTo>
                <a:lnTo>
                  <a:pt x="191782" y="143206"/>
                </a:lnTo>
                <a:lnTo>
                  <a:pt x="205879" y="149738"/>
                </a:lnTo>
                <a:cubicBezTo>
                  <a:pt x="209393" y="151350"/>
                  <a:pt x="211625" y="154864"/>
                  <a:pt x="211625" y="158750"/>
                </a:cubicBezTo>
                <a:cubicBezTo>
                  <a:pt x="211625" y="162636"/>
                  <a:pt x="209393" y="166150"/>
                  <a:pt x="205879" y="167762"/>
                </a:cubicBezTo>
                <a:lnTo>
                  <a:pt x="115507" y="209517"/>
                </a:lnTo>
                <a:cubicBezTo>
                  <a:pt x="109347" y="212369"/>
                  <a:pt x="102237" y="212369"/>
                  <a:pt x="96077" y="209517"/>
                </a:cubicBezTo>
                <a:lnTo>
                  <a:pt x="5746" y="167762"/>
                </a:lnTo>
                <a:cubicBezTo>
                  <a:pt x="2232" y="166109"/>
                  <a:pt x="0" y="162595"/>
                  <a:pt x="0" y="158750"/>
                </a:cubicBezTo>
                <a:cubicBezTo>
                  <a:pt x="0" y="154905"/>
                  <a:pt x="2232" y="151350"/>
                  <a:pt x="5746" y="149738"/>
                </a:cubicBezTo>
                <a:close/>
              </a:path>
            </a:pathLst>
          </a:custGeom>
          <a:solidFill>
            <a:srgbClr val="4C7E9A"/>
          </a:solidFill>
          <a:ln/>
        </p:spPr>
      </p:sp>
      <p:sp>
        <p:nvSpPr>
          <p:cNvPr id="16" name="Text 14"/>
          <p:cNvSpPr/>
          <p:nvPr/>
        </p:nvSpPr>
        <p:spPr>
          <a:xfrm>
            <a:off x="1026583" y="4331229"/>
            <a:ext cx="33125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分层学习系统</a:t>
            </a:r>
            <a:endParaRPr lang="en-US" sz="1600" dirty="0"/>
          </a:p>
        </p:txBody>
      </p:sp>
      <p:sp>
        <p:nvSpPr>
          <p:cNvPr id="17" name="Text 15"/>
          <p:cNvSpPr/>
          <p:nvPr/>
        </p:nvSpPr>
        <p:spPr>
          <a:xfrm>
            <a:off x="1026583" y="4627563"/>
            <a:ext cx="3302000"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构建多层次模型结构实现更精细的预测融合</a:t>
            </a:r>
            <a:endParaRPr lang="en-US" sz="1600" dirty="0"/>
          </a:p>
        </p:txBody>
      </p:sp>
      <p:sp>
        <p:nvSpPr>
          <p:cNvPr id="18" name="Shape 16"/>
          <p:cNvSpPr/>
          <p:nvPr/>
        </p:nvSpPr>
        <p:spPr>
          <a:xfrm>
            <a:off x="661458" y="5008563"/>
            <a:ext cx="211667" cy="211667"/>
          </a:xfrm>
          <a:custGeom>
            <a:avLst/>
            <a:gdLst/>
            <a:ahLst/>
            <a:cxnLst/>
            <a:rect l="l" t="t" r="r" b="b"/>
            <a:pathLst>
              <a:path w="211667" h="211667">
                <a:moveTo>
                  <a:pt x="49609" y="23151"/>
                </a:moveTo>
                <a:cubicBezTo>
                  <a:pt x="49609" y="10377"/>
                  <a:pt x="59986" y="0"/>
                  <a:pt x="72760" y="0"/>
                </a:cubicBezTo>
                <a:lnTo>
                  <a:pt x="82682" y="0"/>
                </a:lnTo>
                <a:cubicBezTo>
                  <a:pt x="90000" y="0"/>
                  <a:pt x="95911" y="5912"/>
                  <a:pt x="95911" y="13229"/>
                </a:cubicBezTo>
                <a:lnTo>
                  <a:pt x="95911" y="198438"/>
                </a:lnTo>
                <a:cubicBezTo>
                  <a:pt x="95911" y="205755"/>
                  <a:pt x="90000" y="211667"/>
                  <a:pt x="82682" y="211667"/>
                </a:cubicBezTo>
                <a:lnTo>
                  <a:pt x="69453" y="211667"/>
                </a:lnTo>
                <a:cubicBezTo>
                  <a:pt x="57133" y="211667"/>
                  <a:pt x="46757" y="203233"/>
                  <a:pt x="43822" y="191823"/>
                </a:cubicBezTo>
                <a:cubicBezTo>
                  <a:pt x="43532" y="191823"/>
                  <a:pt x="43284" y="191823"/>
                  <a:pt x="42995" y="191823"/>
                </a:cubicBezTo>
                <a:cubicBezTo>
                  <a:pt x="24722" y="191823"/>
                  <a:pt x="9922" y="177023"/>
                  <a:pt x="9922" y="158750"/>
                </a:cubicBezTo>
                <a:cubicBezTo>
                  <a:pt x="9922" y="151309"/>
                  <a:pt x="12402" y="144446"/>
                  <a:pt x="16536" y="138906"/>
                </a:cubicBezTo>
                <a:cubicBezTo>
                  <a:pt x="8516" y="132870"/>
                  <a:pt x="3307" y="123279"/>
                  <a:pt x="3307" y="112448"/>
                </a:cubicBezTo>
                <a:cubicBezTo>
                  <a:pt x="3307" y="99674"/>
                  <a:pt x="10583" y="88553"/>
                  <a:pt x="21167" y="83054"/>
                </a:cubicBezTo>
                <a:cubicBezTo>
                  <a:pt x="18231" y="78093"/>
                  <a:pt x="16536" y="72306"/>
                  <a:pt x="16536" y="66146"/>
                </a:cubicBezTo>
                <a:cubicBezTo>
                  <a:pt x="16536" y="47873"/>
                  <a:pt x="31337" y="33073"/>
                  <a:pt x="49609" y="33073"/>
                </a:cubicBezTo>
                <a:lnTo>
                  <a:pt x="49609" y="23151"/>
                </a:lnTo>
                <a:close/>
                <a:moveTo>
                  <a:pt x="162057" y="23151"/>
                </a:moveTo>
                <a:lnTo>
                  <a:pt x="162057" y="33073"/>
                </a:lnTo>
                <a:cubicBezTo>
                  <a:pt x="180330" y="33073"/>
                  <a:pt x="195130" y="47873"/>
                  <a:pt x="195130" y="66146"/>
                </a:cubicBezTo>
                <a:cubicBezTo>
                  <a:pt x="195130" y="72347"/>
                  <a:pt x="193435" y="78135"/>
                  <a:pt x="190500" y="83054"/>
                </a:cubicBezTo>
                <a:cubicBezTo>
                  <a:pt x="201125" y="88553"/>
                  <a:pt x="208359" y="99632"/>
                  <a:pt x="208359" y="112448"/>
                </a:cubicBezTo>
                <a:cubicBezTo>
                  <a:pt x="208359" y="123279"/>
                  <a:pt x="203150" y="132870"/>
                  <a:pt x="195130" y="138906"/>
                </a:cubicBezTo>
                <a:cubicBezTo>
                  <a:pt x="199264" y="144446"/>
                  <a:pt x="201745" y="151309"/>
                  <a:pt x="201745" y="158750"/>
                </a:cubicBezTo>
                <a:cubicBezTo>
                  <a:pt x="201745" y="177023"/>
                  <a:pt x="186945" y="191823"/>
                  <a:pt x="168672" y="191823"/>
                </a:cubicBezTo>
                <a:cubicBezTo>
                  <a:pt x="168382" y="191823"/>
                  <a:pt x="168134" y="191823"/>
                  <a:pt x="167845" y="191823"/>
                </a:cubicBezTo>
                <a:cubicBezTo>
                  <a:pt x="164910" y="203233"/>
                  <a:pt x="154533" y="211667"/>
                  <a:pt x="142214" y="211667"/>
                </a:cubicBezTo>
                <a:lnTo>
                  <a:pt x="128984" y="211667"/>
                </a:lnTo>
                <a:cubicBezTo>
                  <a:pt x="121667" y="211667"/>
                  <a:pt x="115755" y="205755"/>
                  <a:pt x="115755" y="198438"/>
                </a:cubicBezTo>
                <a:lnTo>
                  <a:pt x="115755" y="13229"/>
                </a:lnTo>
                <a:cubicBezTo>
                  <a:pt x="115755" y="5912"/>
                  <a:pt x="121667" y="0"/>
                  <a:pt x="128984" y="0"/>
                </a:cubicBezTo>
                <a:lnTo>
                  <a:pt x="138906" y="0"/>
                </a:lnTo>
                <a:cubicBezTo>
                  <a:pt x="151681" y="0"/>
                  <a:pt x="162057" y="10377"/>
                  <a:pt x="162057" y="23151"/>
                </a:cubicBezTo>
                <a:close/>
              </a:path>
            </a:pathLst>
          </a:custGeom>
          <a:solidFill>
            <a:srgbClr val="4C7E9A"/>
          </a:solidFill>
          <a:ln/>
        </p:spPr>
      </p:sp>
      <p:sp>
        <p:nvSpPr>
          <p:cNvPr id="19" name="Text 17"/>
          <p:cNvSpPr/>
          <p:nvPr/>
        </p:nvSpPr>
        <p:spPr>
          <a:xfrm>
            <a:off x="1026583" y="4966229"/>
            <a:ext cx="3481917"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元学习器</a:t>
            </a:r>
            <a:endParaRPr lang="en-US" sz="1600" dirty="0"/>
          </a:p>
        </p:txBody>
      </p:sp>
      <p:sp>
        <p:nvSpPr>
          <p:cNvPr id="20" name="Text 18"/>
          <p:cNvSpPr/>
          <p:nvPr/>
        </p:nvSpPr>
        <p:spPr>
          <a:xfrm>
            <a:off x="1026583" y="5262563"/>
            <a:ext cx="3471333"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学习如何组织和利用不同基学习器的预测结果</a:t>
            </a:r>
            <a:endParaRPr lang="en-US" sz="1600" dirty="0"/>
          </a:p>
        </p:txBody>
      </p:sp>
      <p:sp>
        <p:nvSpPr>
          <p:cNvPr id="21" name="Shape 19"/>
          <p:cNvSpPr/>
          <p:nvPr/>
        </p:nvSpPr>
        <p:spPr>
          <a:xfrm>
            <a:off x="661458" y="5643563"/>
            <a:ext cx="211667" cy="211667"/>
          </a:xfrm>
          <a:custGeom>
            <a:avLst/>
            <a:gdLst/>
            <a:ahLst/>
            <a:cxnLst/>
            <a:rect l="l" t="t" r="r" b="b"/>
            <a:pathLst>
              <a:path w="211667" h="211667">
                <a:moveTo>
                  <a:pt x="26458" y="26458"/>
                </a:moveTo>
                <a:cubicBezTo>
                  <a:pt x="26458" y="19141"/>
                  <a:pt x="20547" y="13229"/>
                  <a:pt x="13229" y="13229"/>
                </a:cubicBezTo>
                <a:cubicBezTo>
                  <a:pt x="5912" y="13229"/>
                  <a:pt x="0" y="19141"/>
                  <a:pt x="0" y="26458"/>
                </a:cubicBezTo>
                <a:lnTo>
                  <a:pt x="0" y="165365"/>
                </a:lnTo>
                <a:cubicBezTo>
                  <a:pt x="0" y="183637"/>
                  <a:pt x="14800" y="198438"/>
                  <a:pt x="33073" y="198438"/>
                </a:cubicBezTo>
                <a:lnTo>
                  <a:pt x="198438" y="198438"/>
                </a:lnTo>
                <a:cubicBezTo>
                  <a:pt x="205755" y="198438"/>
                  <a:pt x="211667" y="192526"/>
                  <a:pt x="211667" y="185208"/>
                </a:cubicBezTo>
                <a:cubicBezTo>
                  <a:pt x="211667" y="177891"/>
                  <a:pt x="205755" y="171979"/>
                  <a:pt x="198438" y="171979"/>
                </a:cubicBezTo>
                <a:lnTo>
                  <a:pt x="33073" y="171979"/>
                </a:lnTo>
                <a:cubicBezTo>
                  <a:pt x="29435" y="171979"/>
                  <a:pt x="26458" y="169003"/>
                  <a:pt x="26458" y="165365"/>
                </a:cubicBezTo>
                <a:lnTo>
                  <a:pt x="26458" y="26458"/>
                </a:lnTo>
                <a:close/>
                <a:moveTo>
                  <a:pt x="194551" y="62260"/>
                </a:moveTo>
                <a:cubicBezTo>
                  <a:pt x="199719" y="57092"/>
                  <a:pt x="199719" y="48700"/>
                  <a:pt x="194551" y="43532"/>
                </a:cubicBezTo>
                <a:cubicBezTo>
                  <a:pt x="189384" y="38365"/>
                  <a:pt x="180992" y="38365"/>
                  <a:pt x="175824" y="43532"/>
                </a:cubicBezTo>
                <a:lnTo>
                  <a:pt x="132292" y="87106"/>
                </a:lnTo>
                <a:lnTo>
                  <a:pt x="108562" y="63417"/>
                </a:lnTo>
                <a:cubicBezTo>
                  <a:pt x="103394" y="58250"/>
                  <a:pt x="95002" y="58250"/>
                  <a:pt x="89834" y="63417"/>
                </a:cubicBezTo>
                <a:lnTo>
                  <a:pt x="50147" y="103105"/>
                </a:lnTo>
                <a:cubicBezTo>
                  <a:pt x="44979" y="108272"/>
                  <a:pt x="44979" y="116665"/>
                  <a:pt x="50147" y="121832"/>
                </a:cubicBezTo>
                <a:cubicBezTo>
                  <a:pt x="55314" y="127000"/>
                  <a:pt x="63707" y="127000"/>
                  <a:pt x="68874" y="121832"/>
                </a:cubicBezTo>
                <a:lnTo>
                  <a:pt x="99219" y="91488"/>
                </a:lnTo>
                <a:lnTo>
                  <a:pt x="122949" y="115218"/>
                </a:lnTo>
                <a:cubicBezTo>
                  <a:pt x="128116" y="120385"/>
                  <a:pt x="136508" y="120385"/>
                  <a:pt x="141676" y="115218"/>
                </a:cubicBezTo>
                <a:lnTo>
                  <a:pt x="194593" y="62301"/>
                </a:lnTo>
                <a:close/>
              </a:path>
            </a:pathLst>
          </a:custGeom>
          <a:solidFill>
            <a:srgbClr val="4C7E9A"/>
          </a:solidFill>
          <a:ln/>
        </p:spPr>
      </p:sp>
      <p:sp>
        <p:nvSpPr>
          <p:cNvPr id="22" name="Text 20"/>
          <p:cNvSpPr/>
          <p:nvPr/>
        </p:nvSpPr>
        <p:spPr>
          <a:xfrm>
            <a:off x="1026583" y="5601229"/>
            <a:ext cx="17885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1+1&gt;2效应</a:t>
            </a:r>
            <a:endParaRPr lang="en-US" sz="1600" dirty="0"/>
          </a:p>
        </p:txBody>
      </p:sp>
      <p:sp>
        <p:nvSpPr>
          <p:cNvPr id="23" name="Text 21"/>
          <p:cNvSpPr/>
          <p:nvPr/>
        </p:nvSpPr>
        <p:spPr>
          <a:xfrm>
            <a:off x="1026583" y="5897563"/>
            <a:ext cx="1778000"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实现更强大的集成效果</a:t>
            </a:r>
            <a:endParaRPr lang="en-US" sz="1600" dirty="0"/>
          </a:p>
        </p:txBody>
      </p:sp>
      <p:sp>
        <p:nvSpPr>
          <p:cNvPr id="24" name="Shape 22"/>
          <p:cNvSpPr/>
          <p:nvPr/>
        </p:nvSpPr>
        <p:spPr>
          <a:xfrm>
            <a:off x="428625" y="6495521"/>
            <a:ext cx="7588250" cy="2211917"/>
          </a:xfrm>
          <a:custGeom>
            <a:avLst/>
            <a:gdLst/>
            <a:ahLst/>
            <a:cxnLst/>
            <a:rect l="l" t="t" r="r" b="b"/>
            <a:pathLst>
              <a:path w="7588250" h="2211917">
                <a:moveTo>
                  <a:pt x="84672" y="0"/>
                </a:moveTo>
                <a:lnTo>
                  <a:pt x="7503578" y="0"/>
                </a:lnTo>
                <a:cubicBezTo>
                  <a:pt x="7550341" y="0"/>
                  <a:pt x="7588250" y="37909"/>
                  <a:pt x="7588250" y="84672"/>
                </a:cubicBezTo>
                <a:lnTo>
                  <a:pt x="7588250" y="2127244"/>
                </a:lnTo>
                <a:cubicBezTo>
                  <a:pt x="7588250" y="2174008"/>
                  <a:pt x="7550341" y="2211917"/>
                  <a:pt x="7503578" y="2211917"/>
                </a:cubicBezTo>
                <a:lnTo>
                  <a:pt x="84672" y="2211917"/>
                </a:lnTo>
                <a:cubicBezTo>
                  <a:pt x="37909" y="2211917"/>
                  <a:pt x="0" y="2174008"/>
                  <a:pt x="0" y="2127244"/>
                </a:cubicBezTo>
                <a:lnTo>
                  <a:pt x="0" y="84672"/>
                </a:lnTo>
                <a:cubicBezTo>
                  <a:pt x="0" y="37940"/>
                  <a:pt x="37940" y="0"/>
                  <a:pt x="84672" y="0"/>
                </a:cubicBezTo>
                <a:close/>
              </a:path>
            </a:pathLst>
          </a:custGeom>
          <a:solidFill>
            <a:srgbClr val="3A5E78">
              <a:alpha val="20000"/>
            </a:srgbClr>
          </a:solidFill>
          <a:ln w="12700">
            <a:solidFill>
              <a:srgbClr val="4C7E9A">
                <a:alpha val="50196"/>
              </a:srgbClr>
            </a:solidFill>
            <a:prstDash val="solid"/>
          </a:ln>
        </p:spPr>
      </p:sp>
      <p:sp>
        <p:nvSpPr>
          <p:cNvPr id="25" name="Text 23"/>
          <p:cNvSpPr/>
          <p:nvPr/>
        </p:nvSpPr>
        <p:spPr>
          <a:xfrm>
            <a:off x="603250" y="6670146"/>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与Bagging/Boosting的区别</a:t>
            </a:r>
            <a:endParaRPr lang="en-US" sz="1600" dirty="0"/>
          </a:p>
        </p:txBody>
      </p:sp>
      <p:sp>
        <p:nvSpPr>
          <p:cNvPr id="26" name="Shape 24"/>
          <p:cNvSpPr/>
          <p:nvPr/>
        </p:nvSpPr>
        <p:spPr>
          <a:xfrm>
            <a:off x="603250" y="7093479"/>
            <a:ext cx="7239000" cy="423333"/>
          </a:xfrm>
          <a:custGeom>
            <a:avLst/>
            <a:gdLst/>
            <a:ahLst/>
            <a:cxnLst/>
            <a:rect l="l" t="t" r="r" b="b"/>
            <a:pathLst>
              <a:path w="7239000" h="423333">
                <a:moveTo>
                  <a:pt x="42333" y="0"/>
                </a:moveTo>
                <a:lnTo>
                  <a:pt x="7196667" y="0"/>
                </a:lnTo>
                <a:cubicBezTo>
                  <a:pt x="7220047" y="0"/>
                  <a:pt x="7239000" y="18953"/>
                  <a:pt x="7239000" y="42333"/>
                </a:cubicBezTo>
                <a:lnTo>
                  <a:pt x="7239000" y="381000"/>
                </a:lnTo>
                <a:cubicBezTo>
                  <a:pt x="7239000" y="404380"/>
                  <a:pt x="7220047" y="423333"/>
                  <a:pt x="7196667" y="423333"/>
                </a:cubicBezTo>
                <a:lnTo>
                  <a:pt x="42333" y="423333"/>
                </a:lnTo>
                <a:cubicBezTo>
                  <a:pt x="18953" y="423333"/>
                  <a:pt x="0" y="404380"/>
                  <a:pt x="0" y="381000"/>
                </a:cubicBezTo>
                <a:lnTo>
                  <a:pt x="0" y="42333"/>
                </a:lnTo>
                <a:cubicBezTo>
                  <a:pt x="0" y="18953"/>
                  <a:pt x="18953" y="0"/>
                  <a:pt x="42333" y="0"/>
                </a:cubicBezTo>
                <a:close/>
              </a:path>
            </a:pathLst>
          </a:custGeom>
          <a:solidFill>
            <a:srgbClr val="181A1F">
              <a:alpha val="50196"/>
            </a:srgbClr>
          </a:solidFill>
          <a:ln/>
        </p:spPr>
      </p:sp>
      <p:sp>
        <p:nvSpPr>
          <p:cNvPr id="27" name="Text 25"/>
          <p:cNvSpPr/>
          <p:nvPr/>
        </p:nvSpPr>
        <p:spPr>
          <a:xfrm>
            <a:off x="687917" y="7178146"/>
            <a:ext cx="7154333"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Bagging：民主投票</a:t>
            </a:r>
            <a:endParaRPr lang="en-US" sz="1600" dirty="0"/>
          </a:p>
        </p:txBody>
      </p:sp>
      <p:sp>
        <p:nvSpPr>
          <p:cNvPr id="28" name="Shape 26"/>
          <p:cNvSpPr/>
          <p:nvPr/>
        </p:nvSpPr>
        <p:spPr>
          <a:xfrm>
            <a:off x="603250" y="7601479"/>
            <a:ext cx="7239000" cy="423333"/>
          </a:xfrm>
          <a:custGeom>
            <a:avLst/>
            <a:gdLst/>
            <a:ahLst/>
            <a:cxnLst/>
            <a:rect l="l" t="t" r="r" b="b"/>
            <a:pathLst>
              <a:path w="7239000" h="423333">
                <a:moveTo>
                  <a:pt x="42333" y="0"/>
                </a:moveTo>
                <a:lnTo>
                  <a:pt x="7196667" y="0"/>
                </a:lnTo>
                <a:cubicBezTo>
                  <a:pt x="7220047" y="0"/>
                  <a:pt x="7239000" y="18953"/>
                  <a:pt x="7239000" y="42333"/>
                </a:cubicBezTo>
                <a:lnTo>
                  <a:pt x="7239000" y="381000"/>
                </a:lnTo>
                <a:cubicBezTo>
                  <a:pt x="7239000" y="404380"/>
                  <a:pt x="7220047" y="423333"/>
                  <a:pt x="7196667" y="423333"/>
                </a:cubicBezTo>
                <a:lnTo>
                  <a:pt x="42333" y="423333"/>
                </a:lnTo>
                <a:cubicBezTo>
                  <a:pt x="18953" y="423333"/>
                  <a:pt x="0" y="404380"/>
                  <a:pt x="0" y="381000"/>
                </a:cubicBezTo>
                <a:lnTo>
                  <a:pt x="0" y="42333"/>
                </a:lnTo>
                <a:cubicBezTo>
                  <a:pt x="0" y="18953"/>
                  <a:pt x="18953" y="0"/>
                  <a:pt x="42333" y="0"/>
                </a:cubicBezTo>
                <a:close/>
              </a:path>
            </a:pathLst>
          </a:custGeom>
          <a:solidFill>
            <a:srgbClr val="181A1F">
              <a:alpha val="50196"/>
            </a:srgbClr>
          </a:solidFill>
          <a:ln/>
        </p:spPr>
      </p:sp>
      <p:sp>
        <p:nvSpPr>
          <p:cNvPr id="29" name="Text 27"/>
          <p:cNvSpPr/>
          <p:nvPr/>
        </p:nvSpPr>
        <p:spPr>
          <a:xfrm>
            <a:off x="687917" y="7686146"/>
            <a:ext cx="7154333"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Boosting：接力修正</a:t>
            </a:r>
            <a:endParaRPr lang="en-US" sz="1600" dirty="0"/>
          </a:p>
        </p:txBody>
      </p:sp>
      <p:sp>
        <p:nvSpPr>
          <p:cNvPr id="30" name="Shape 28"/>
          <p:cNvSpPr/>
          <p:nvPr/>
        </p:nvSpPr>
        <p:spPr>
          <a:xfrm>
            <a:off x="603250" y="8109479"/>
            <a:ext cx="7239000" cy="423333"/>
          </a:xfrm>
          <a:custGeom>
            <a:avLst/>
            <a:gdLst/>
            <a:ahLst/>
            <a:cxnLst/>
            <a:rect l="l" t="t" r="r" b="b"/>
            <a:pathLst>
              <a:path w="7239000" h="423333">
                <a:moveTo>
                  <a:pt x="42333" y="0"/>
                </a:moveTo>
                <a:lnTo>
                  <a:pt x="7196667" y="0"/>
                </a:lnTo>
                <a:cubicBezTo>
                  <a:pt x="7220047" y="0"/>
                  <a:pt x="7239000" y="18953"/>
                  <a:pt x="7239000" y="42333"/>
                </a:cubicBezTo>
                <a:lnTo>
                  <a:pt x="7239000" y="381000"/>
                </a:lnTo>
                <a:cubicBezTo>
                  <a:pt x="7239000" y="404380"/>
                  <a:pt x="7220047" y="423333"/>
                  <a:pt x="7196667" y="423333"/>
                </a:cubicBezTo>
                <a:lnTo>
                  <a:pt x="42333" y="423333"/>
                </a:lnTo>
                <a:cubicBezTo>
                  <a:pt x="18953" y="423333"/>
                  <a:pt x="0" y="404380"/>
                  <a:pt x="0" y="381000"/>
                </a:cubicBezTo>
                <a:lnTo>
                  <a:pt x="0" y="42333"/>
                </a:lnTo>
                <a:cubicBezTo>
                  <a:pt x="0" y="18953"/>
                  <a:pt x="18953" y="0"/>
                  <a:pt x="42333" y="0"/>
                </a:cubicBezTo>
                <a:close/>
              </a:path>
            </a:pathLst>
          </a:custGeom>
          <a:solidFill>
            <a:srgbClr val="181A1F">
              <a:alpha val="50196"/>
            </a:srgbClr>
          </a:solidFill>
          <a:ln/>
        </p:spPr>
      </p:sp>
      <p:sp>
        <p:nvSpPr>
          <p:cNvPr id="31" name="Text 29"/>
          <p:cNvSpPr/>
          <p:nvPr/>
        </p:nvSpPr>
        <p:spPr>
          <a:xfrm>
            <a:off x="687917" y="8194146"/>
            <a:ext cx="7154333"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Stacking：经理人决策</a:t>
            </a:r>
            <a:endParaRPr lang="en-US" sz="1600" dirty="0"/>
          </a:p>
        </p:txBody>
      </p:sp>
      <p:sp>
        <p:nvSpPr>
          <p:cNvPr id="32" name="Shape 30"/>
          <p:cNvSpPr/>
          <p:nvPr/>
        </p:nvSpPr>
        <p:spPr>
          <a:xfrm>
            <a:off x="8239125" y="1529292"/>
            <a:ext cx="7588250" cy="7175500"/>
          </a:xfrm>
          <a:custGeom>
            <a:avLst/>
            <a:gdLst/>
            <a:ahLst/>
            <a:cxnLst/>
            <a:rect l="l" t="t" r="r" b="b"/>
            <a:pathLst>
              <a:path w="7588250" h="7175500">
                <a:moveTo>
                  <a:pt x="84671" y="0"/>
                </a:moveTo>
                <a:lnTo>
                  <a:pt x="7503579" y="0"/>
                </a:lnTo>
                <a:cubicBezTo>
                  <a:pt x="7550342" y="0"/>
                  <a:pt x="7588250" y="37908"/>
                  <a:pt x="7588250" y="84671"/>
                </a:cubicBezTo>
                <a:lnTo>
                  <a:pt x="7588250" y="7090829"/>
                </a:lnTo>
                <a:cubicBezTo>
                  <a:pt x="7588250" y="7137592"/>
                  <a:pt x="7550342" y="7175500"/>
                  <a:pt x="7503579" y="7175500"/>
                </a:cubicBezTo>
                <a:lnTo>
                  <a:pt x="84671" y="7175500"/>
                </a:lnTo>
                <a:cubicBezTo>
                  <a:pt x="37908" y="7175500"/>
                  <a:pt x="0" y="7137592"/>
                  <a:pt x="0" y="7090829"/>
                </a:cubicBezTo>
                <a:lnTo>
                  <a:pt x="0" y="84671"/>
                </a:lnTo>
                <a:cubicBezTo>
                  <a:pt x="0" y="37940"/>
                  <a:pt x="37940" y="0"/>
                  <a:pt x="84671" y="0"/>
                </a:cubicBezTo>
                <a:close/>
              </a:path>
            </a:pathLst>
          </a:custGeom>
          <a:solidFill>
            <a:srgbClr val="3A5E78">
              <a:alpha val="20000"/>
            </a:srgbClr>
          </a:solidFill>
          <a:ln w="12700">
            <a:solidFill>
              <a:srgbClr val="4C7E9A">
                <a:alpha val="50196"/>
              </a:srgbClr>
            </a:solidFill>
            <a:prstDash val="solid"/>
          </a:ln>
        </p:spPr>
      </p:sp>
      <p:sp>
        <p:nvSpPr>
          <p:cNvPr id="33" name="Text 31"/>
          <p:cNvSpPr/>
          <p:nvPr/>
        </p:nvSpPr>
        <p:spPr>
          <a:xfrm>
            <a:off x="8456083" y="1746250"/>
            <a:ext cx="72813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Stacking工作流程</a:t>
            </a:r>
            <a:endParaRPr lang="en-US" sz="1600" dirty="0"/>
          </a:p>
        </p:txBody>
      </p:sp>
      <p:sp>
        <p:nvSpPr>
          <p:cNvPr id="34" name="Shape 32"/>
          <p:cNvSpPr/>
          <p:nvPr/>
        </p:nvSpPr>
        <p:spPr>
          <a:xfrm>
            <a:off x="8456083" y="2254250"/>
            <a:ext cx="423333" cy="423333"/>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4C7E9A"/>
          </a:solidFill>
          <a:ln/>
        </p:spPr>
      </p:sp>
      <p:sp>
        <p:nvSpPr>
          <p:cNvPr id="35" name="Text 33"/>
          <p:cNvSpPr/>
          <p:nvPr/>
        </p:nvSpPr>
        <p:spPr>
          <a:xfrm>
            <a:off x="8408458" y="2254250"/>
            <a:ext cx="518583" cy="423333"/>
          </a:xfrm>
          <a:prstGeom prst="rect">
            <a:avLst/>
          </a:prstGeom>
          <a:noFill/>
          <a:ln/>
        </p:spPr>
        <p:txBody>
          <a:bodyPr wrap="square" lIns="0" tIns="0" rIns="0" bIns="0" rtlCol="0" anchor="ctr"/>
          <a:lstStyle/>
          <a:p>
            <a:pPr algn="ctr">
              <a:lnSpc>
                <a:spcPct val="130000"/>
              </a:lnSpc>
            </a:pPr>
            <a:r>
              <a:rPr lang="en-US" sz="1500" b="1" dirty="0">
                <a:solidFill>
                  <a:srgbClr val="181A1F"/>
                </a:solidFill>
                <a:latin typeface="MiSans" pitchFamily="34" charset="0"/>
                <a:ea typeface="MiSans" pitchFamily="34" charset="-122"/>
                <a:cs typeface="MiSans" pitchFamily="34" charset="-120"/>
              </a:rPr>
              <a:t>1</a:t>
            </a:r>
            <a:endParaRPr lang="en-US" sz="1600" dirty="0"/>
          </a:p>
        </p:txBody>
      </p:sp>
      <p:sp>
        <p:nvSpPr>
          <p:cNvPr id="36" name="Text 34"/>
          <p:cNvSpPr/>
          <p:nvPr/>
        </p:nvSpPr>
        <p:spPr>
          <a:xfrm>
            <a:off x="9006417" y="2254250"/>
            <a:ext cx="6699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训练基学习器</a:t>
            </a:r>
            <a:endParaRPr lang="en-US" sz="1600" dirty="0"/>
          </a:p>
        </p:txBody>
      </p:sp>
      <p:sp>
        <p:nvSpPr>
          <p:cNvPr id="37" name="Text 35"/>
          <p:cNvSpPr/>
          <p:nvPr/>
        </p:nvSpPr>
        <p:spPr>
          <a:xfrm>
            <a:off x="9006417" y="2592917"/>
            <a:ext cx="6678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使用不同的算法（SVM、RF、NN）训练多个异构基学习器</a:t>
            </a:r>
            <a:endParaRPr lang="en-US" sz="1600" dirty="0"/>
          </a:p>
        </p:txBody>
      </p:sp>
      <p:sp>
        <p:nvSpPr>
          <p:cNvPr id="38" name="Shape 36"/>
          <p:cNvSpPr/>
          <p:nvPr/>
        </p:nvSpPr>
        <p:spPr>
          <a:xfrm>
            <a:off x="8456083" y="2931583"/>
            <a:ext cx="423333" cy="423333"/>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4C7E9A"/>
          </a:solidFill>
          <a:ln/>
        </p:spPr>
      </p:sp>
      <p:sp>
        <p:nvSpPr>
          <p:cNvPr id="39" name="Text 37"/>
          <p:cNvSpPr/>
          <p:nvPr/>
        </p:nvSpPr>
        <p:spPr>
          <a:xfrm>
            <a:off x="8408458" y="2931583"/>
            <a:ext cx="518583" cy="423333"/>
          </a:xfrm>
          <a:prstGeom prst="rect">
            <a:avLst/>
          </a:prstGeom>
          <a:noFill/>
          <a:ln/>
        </p:spPr>
        <p:txBody>
          <a:bodyPr wrap="square" lIns="0" tIns="0" rIns="0" bIns="0" rtlCol="0" anchor="ctr"/>
          <a:lstStyle/>
          <a:p>
            <a:pPr algn="ctr">
              <a:lnSpc>
                <a:spcPct val="130000"/>
              </a:lnSpc>
            </a:pPr>
            <a:r>
              <a:rPr lang="en-US" sz="1500" b="1" dirty="0">
                <a:solidFill>
                  <a:srgbClr val="181A1F"/>
                </a:solidFill>
                <a:latin typeface="MiSans" pitchFamily="34" charset="0"/>
                <a:ea typeface="MiSans" pitchFamily="34" charset="-122"/>
                <a:cs typeface="MiSans" pitchFamily="34" charset="-120"/>
              </a:rPr>
              <a:t>2</a:t>
            </a:r>
            <a:endParaRPr lang="en-US" sz="1600" dirty="0"/>
          </a:p>
        </p:txBody>
      </p:sp>
      <p:sp>
        <p:nvSpPr>
          <p:cNvPr id="40" name="Text 38"/>
          <p:cNvSpPr/>
          <p:nvPr/>
        </p:nvSpPr>
        <p:spPr>
          <a:xfrm>
            <a:off x="9006417" y="2931583"/>
            <a:ext cx="6699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生成元特征</a:t>
            </a:r>
            <a:endParaRPr lang="en-US" sz="1600" dirty="0"/>
          </a:p>
        </p:txBody>
      </p:sp>
      <p:sp>
        <p:nvSpPr>
          <p:cNvPr id="41" name="Text 39"/>
          <p:cNvSpPr/>
          <p:nvPr/>
        </p:nvSpPr>
        <p:spPr>
          <a:xfrm>
            <a:off x="9006417" y="3270250"/>
            <a:ext cx="6678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通过交叉验证生成无偏的预测结果作为元特征</a:t>
            </a:r>
            <a:endParaRPr lang="en-US" sz="1600" dirty="0"/>
          </a:p>
        </p:txBody>
      </p:sp>
      <p:sp>
        <p:nvSpPr>
          <p:cNvPr id="42" name="Shape 40"/>
          <p:cNvSpPr/>
          <p:nvPr/>
        </p:nvSpPr>
        <p:spPr>
          <a:xfrm>
            <a:off x="8456083" y="3608917"/>
            <a:ext cx="423333" cy="423333"/>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4C7E9A"/>
          </a:solidFill>
          <a:ln/>
        </p:spPr>
      </p:sp>
      <p:sp>
        <p:nvSpPr>
          <p:cNvPr id="43" name="Text 41"/>
          <p:cNvSpPr/>
          <p:nvPr/>
        </p:nvSpPr>
        <p:spPr>
          <a:xfrm>
            <a:off x="8408458" y="3608917"/>
            <a:ext cx="518583" cy="423333"/>
          </a:xfrm>
          <a:prstGeom prst="rect">
            <a:avLst/>
          </a:prstGeom>
          <a:noFill/>
          <a:ln/>
        </p:spPr>
        <p:txBody>
          <a:bodyPr wrap="square" lIns="0" tIns="0" rIns="0" bIns="0" rtlCol="0" anchor="ctr"/>
          <a:lstStyle/>
          <a:p>
            <a:pPr algn="ctr">
              <a:lnSpc>
                <a:spcPct val="130000"/>
              </a:lnSpc>
            </a:pPr>
            <a:r>
              <a:rPr lang="en-US" sz="1500" b="1" dirty="0">
                <a:solidFill>
                  <a:srgbClr val="181A1F"/>
                </a:solidFill>
                <a:latin typeface="MiSans" pitchFamily="34" charset="0"/>
                <a:ea typeface="MiSans" pitchFamily="34" charset="-122"/>
                <a:cs typeface="MiSans" pitchFamily="34" charset="-120"/>
              </a:rPr>
              <a:t>3</a:t>
            </a:r>
            <a:endParaRPr lang="en-US" sz="1600" dirty="0"/>
          </a:p>
        </p:txBody>
      </p:sp>
      <p:sp>
        <p:nvSpPr>
          <p:cNvPr id="44" name="Text 42"/>
          <p:cNvSpPr/>
          <p:nvPr/>
        </p:nvSpPr>
        <p:spPr>
          <a:xfrm>
            <a:off x="9006417" y="3608917"/>
            <a:ext cx="6699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训练元学习器</a:t>
            </a:r>
            <a:endParaRPr lang="en-US" sz="1600" dirty="0"/>
          </a:p>
        </p:txBody>
      </p:sp>
      <p:sp>
        <p:nvSpPr>
          <p:cNvPr id="45" name="Text 43"/>
          <p:cNvSpPr/>
          <p:nvPr/>
        </p:nvSpPr>
        <p:spPr>
          <a:xfrm>
            <a:off x="9006417" y="3947583"/>
            <a:ext cx="6678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使用元特征训练第二层模型（元学习器）</a:t>
            </a:r>
            <a:endParaRPr lang="en-US" sz="1600" dirty="0"/>
          </a:p>
        </p:txBody>
      </p:sp>
      <p:sp>
        <p:nvSpPr>
          <p:cNvPr id="46" name="Shape 44"/>
          <p:cNvSpPr/>
          <p:nvPr/>
        </p:nvSpPr>
        <p:spPr>
          <a:xfrm>
            <a:off x="8456083" y="4286250"/>
            <a:ext cx="423333" cy="423333"/>
          </a:xfrm>
          <a:custGeom>
            <a:avLst/>
            <a:gdLst/>
            <a:ahLst/>
            <a:cxnLst/>
            <a:rect l="l" t="t" r="r" b="b"/>
            <a:pathLst>
              <a:path w="423333" h="423333">
                <a:moveTo>
                  <a:pt x="211667" y="0"/>
                </a:moveTo>
                <a:lnTo>
                  <a:pt x="211667" y="0"/>
                </a:lnTo>
                <a:cubicBezTo>
                  <a:pt x="328489" y="0"/>
                  <a:pt x="423333" y="94845"/>
                  <a:pt x="423333" y="211667"/>
                </a:cubicBezTo>
                <a:lnTo>
                  <a:pt x="423333" y="211667"/>
                </a:lnTo>
                <a:cubicBezTo>
                  <a:pt x="423333" y="328489"/>
                  <a:pt x="328489" y="423333"/>
                  <a:pt x="211667" y="423333"/>
                </a:cubicBezTo>
                <a:lnTo>
                  <a:pt x="211667" y="423333"/>
                </a:lnTo>
                <a:cubicBezTo>
                  <a:pt x="94845" y="423333"/>
                  <a:pt x="0" y="328489"/>
                  <a:pt x="0" y="211667"/>
                </a:cubicBezTo>
                <a:lnTo>
                  <a:pt x="0" y="211667"/>
                </a:lnTo>
                <a:cubicBezTo>
                  <a:pt x="0" y="94845"/>
                  <a:pt x="94845" y="0"/>
                  <a:pt x="211667" y="0"/>
                </a:cubicBezTo>
                <a:close/>
              </a:path>
            </a:pathLst>
          </a:custGeom>
          <a:solidFill>
            <a:srgbClr val="4C7E9A"/>
          </a:solidFill>
          <a:ln/>
        </p:spPr>
      </p:sp>
      <p:sp>
        <p:nvSpPr>
          <p:cNvPr id="47" name="Text 45"/>
          <p:cNvSpPr/>
          <p:nvPr/>
        </p:nvSpPr>
        <p:spPr>
          <a:xfrm>
            <a:off x="8408458" y="4286250"/>
            <a:ext cx="518583" cy="423333"/>
          </a:xfrm>
          <a:prstGeom prst="rect">
            <a:avLst/>
          </a:prstGeom>
          <a:noFill/>
          <a:ln/>
        </p:spPr>
        <p:txBody>
          <a:bodyPr wrap="square" lIns="0" tIns="0" rIns="0" bIns="0" rtlCol="0" anchor="ctr"/>
          <a:lstStyle/>
          <a:p>
            <a:pPr algn="ctr">
              <a:lnSpc>
                <a:spcPct val="130000"/>
              </a:lnSpc>
            </a:pPr>
            <a:r>
              <a:rPr lang="en-US" sz="1500" b="1" dirty="0">
                <a:solidFill>
                  <a:srgbClr val="181A1F"/>
                </a:solidFill>
                <a:latin typeface="MiSans" pitchFamily="34" charset="0"/>
                <a:ea typeface="MiSans" pitchFamily="34" charset="-122"/>
                <a:cs typeface="MiSans" pitchFamily="34" charset="-120"/>
              </a:rPr>
              <a:t>4</a:t>
            </a:r>
            <a:endParaRPr lang="en-US" sz="1600" dirty="0"/>
          </a:p>
        </p:txBody>
      </p:sp>
      <p:sp>
        <p:nvSpPr>
          <p:cNvPr id="48" name="Text 46"/>
          <p:cNvSpPr/>
          <p:nvPr/>
        </p:nvSpPr>
        <p:spPr>
          <a:xfrm>
            <a:off x="9006417" y="4286250"/>
            <a:ext cx="6699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最终预测</a:t>
            </a:r>
            <a:endParaRPr lang="en-US" sz="1600" dirty="0"/>
          </a:p>
        </p:txBody>
      </p:sp>
      <p:sp>
        <p:nvSpPr>
          <p:cNvPr id="49" name="Text 47"/>
          <p:cNvSpPr/>
          <p:nvPr/>
        </p:nvSpPr>
        <p:spPr>
          <a:xfrm>
            <a:off x="9006417" y="4624917"/>
            <a:ext cx="6678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基学习器预测 → 元学习器融合 → 最终结果</a:t>
            </a:r>
            <a:endParaRPr lang="en-US" sz="1600" dirty="0"/>
          </a:p>
        </p:txBody>
      </p:sp>
      <p:sp>
        <p:nvSpPr>
          <p:cNvPr id="50" name="Shape 48"/>
          <p:cNvSpPr/>
          <p:nvPr/>
        </p:nvSpPr>
        <p:spPr>
          <a:xfrm>
            <a:off x="8456083" y="5048250"/>
            <a:ext cx="7154333" cy="1778000"/>
          </a:xfrm>
          <a:custGeom>
            <a:avLst/>
            <a:gdLst/>
            <a:ahLst/>
            <a:cxnLst/>
            <a:rect l="l" t="t" r="r" b="b"/>
            <a:pathLst>
              <a:path w="7154333" h="1778000">
                <a:moveTo>
                  <a:pt x="84668" y="0"/>
                </a:moveTo>
                <a:lnTo>
                  <a:pt x="7069665" y="0"/>
                </a:lnTo>
                <a:cubicBezTo>
                  <a:pt x="7116426" y="0"/>
                  <a:pt x="7154333" y="37907"/>
                  <a:pt x="7154333" y="84668"/>
                </a:cubicBezTo>
                <a:lnTo>
                  <a:pt x="7154333" y="1693332"/>
                </a:lnTo>
                <a:cubicBezTo>
                  <a:pt x="7154333" y="1740093"/>
                  <a:pt x="7116426" y="1778000"/>
                  <a:pt x="7069665" y="1778000"/>
                </a:cubicBezTo>
                <a:lnTo>
                  <a:pt x="84668" y="1778000"/>
                </a:lnTo>
                <a:cubicBezTo>
                  <a:pt x="37907" y="1778000"/>
                  <a:pt x="0" y="1740093"/>
                  <a:pt x="0" y="1693332"/>
                </a:cubicBezTo>
                <a:lnTo>
                  <a:pt x="0" y="84668"/>
                </a:lnTo>
                <a:cubicBezTo>
                  <a:pt x="0" y="37939"/>
                  <a:pt x="37939" y="0"/>
                  <a:pt x="84668" y="0"/>
                </a:cubicBezTo>
                <a:close/>
              </a:path>
            </a:pathLst>
          </a:custGeom>
          <a:solidFill>
            <a:srgbClr val="181A1F">
              <a:alpha val="50196"/>
            </a:srgbClr>
          </a:solidFill>
          <a:ln/>
        </p:spPr>
      </p:sp>
      <p:sp>
        <p:nvSpPr>
          <p:cNvPr id="51" name="Text 49"/>
          <p:cNvSpPr/>
          <p:nvPr/>
        </p:nvSpPr>
        <p:spPr>
          <a:xfrm>
            <a:off x="8625417" y="5217583"/>
            <a:ext cx="6910917"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数学表达</a:t>
            </a:r>
            <a:endParaRPr lang="en-US" sz="1600" dirty="0"/>
          </a:p>
        </p:txBody>
      </p:sp>
      <p:sp>
        <p:nvSpPr>
          <p:cNvPr id="52" name="Shape 50"/>
          <p:cNvSpPr/>
          <p:nvPr/>
        </p:nvSpPr>
        <p:spPr>
          <a:xfrm>
            <a:off x="8625417" y="5598583"/>
            <a:ext cx="6815667" cy="550333"/>
          </a:xfrm>
          <a:custGeom>
            <a:avLst/>
            <a:gdLst/>
            <a:ahLst/>
            <a:cxnLst/>
            <a:rect l="l" t="t" r="r" b="b"/>
            <a:pathLst>
              <a:path w="6815667" h="550333">
                <a:moveTo>
                  <a:pt x="42332" y="0"/>
                </a:moveTo>
                <a:lnTo>
                  <a:pt x="6773335" y="0"/>
                </a:lnTo>
                <a:cubicBezTo>
                  <a:pt x="6796714" y="0"/>
                  <a:pt x="6815667" y="18953"/>
                  <a:pt x="6815667" y="42332"/>
                </a:cubicBezTo>
                <a:lnTo>
                  <a:pt x="6815667" y="508002"/>
                </a:lnTo>
                <a:cubicBezTo>
                  <a:pt x="6815667" y="531381"/>
                  <a:pt x="6796714" y="550333"/>
                  <a:pt x="6773335" y="550333"/>
                </a:cubicBezTo>
                <a:lnTo>
                  <a:pt x="42332" y="550333"/>
                </a:lnTo>
                <a:cubicBezTo>
                  <a:pt x="18953" y="550333"/>
                  <a:pt x="0" y="531381"/>
                  <a:pt x="0" y="508002"/>
                </a:cubicBezTo>
                <a:lnTo>
                  <a:pt x="0" y="42332"/>
                </a:lnTo>
                <a:cubicBezTo>
                  <a:pt x="0" y="18968"/>
                  <a:pt x="18968" y="0"/>
                  <a:pt x="42332" y="0"/>
                </a:cubicBezTo>
                <a:close/>
              </a:path>
            </a:pathLst>
          </a:custGeom>
          <a:solidFill>
            <a:srgbClr val="181A1F"/>
          </a:solidFill>
          <a:ln/>
        </p:spPr>
      </p:sp>
      <p:sp>
        <p:nvSpPr>
          <p:cNvPr id="53" name="Text 51"/>
          <p:cNvSpPr/>
          <p:nvPr/>
        </p:nvSpPr>
        <p:spPr>
          <a:xfrm>
            <a:off x="8699500" y="5725583"/>
            <a:ext cx="6667500" cy="296333"/>
          </a:xfrm>
          <a:prstGeom prst="rect">
            <a:avLst/>
          </a:prstGeom>
          <a:noFill/>
          <a:ln/>
        </p:spPr>
        <p:txBody>
          <a:bodyPr wrap="square" lIns="0" tIns="0" rIns="0" bIns="0" rtlCol="0" anchor="ctr"/>
          <a:lstStyle/>
          <a:p>
            <a:pPr algn="ctr">
              <a:lnSpc>
                <a:spcPct val="120000"/>
              </a:lnSpc>
            </a:pPr>
            <a:r>
              <a:rPr lang="en-US" sz="1667" dirty="0">
                <a:solidFill>
                  <a:srgbClr val="7E9AA8"/>
                </a:solidFill>
                <a:latin typeface="Noto Sans SC" pitchFamily="34" charset="0"/>
                <a:ea typeface="Noto Sans SC" pitchFamily="34" charset="-122"/>
                <a:cs typeface="Noto Sans SC" pitchFamily="34" charset="-120"/>
              </a:rPr>
              <a:t>f(x) = g(h₁(x), h₂(x), ..., h_M(x))</a:t>
            </a:r>
            <a:endParaRPr lang="en-US" sz="1600" dirty="0"/>
          </a:p>
        </p:txBody>
      </p:sp>
      <p:sp>
        <p:nvSpPr>
          <p:cNvPr id="54" name="Text 52"/>
          <p:cNvSpPr/>
          <p:nvPr/>
        </p:nvSpPr>
        <p:spPr>
          <a:xfrm>
            <a:off x="8625417" y="6233583"/>
            <a:ext cx="6889750" cy="423333"/>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h₁...h_M：基学习器</a:t>
            </a:r>
            <a:endParaRPr lang="en-US" sz="1600" dirty="0"/>
          </a:p>
          <a:p>
            <a:pPr>
              <a:lnSpc>
                <a:spcPct val="120000"/>
              </a:lnSpc>
            </a:pPr>
            <a:r>
              <a:rPr lang="en-US" sz="1167" dirty="0">
                <a:solidFill>
                  <a:srgbClr val="7E9AA8"/>
                </a:solidFill>
                <a:latin typeface="MiSans" pitchFamily="34" charset="0"/>
                <a:ea typeface="MiSans" pitchFamily="34" charset="-122"/>
                <a:cs typeface="MiSans" pitchFamily="34" charset="-120"/>
              </a:rPr>
              <a:t>g：元学习器</a:t>
            </a:r>
            <a:endParaRPr lang="en-US" sz="1600" dirty="0"/>
          </a:p>
        </p:txBody>
      </p:sp>
      <p:sp>
        <p:nvSpPr>
          <p:cNvPr id="55" name="Shape 53"/>
          <p:cNvSpPr/>
          <p:nvPr/>
        </p:nvSpPr>
        <p:spPr>
          <a:xfrm>
            <a:off x="8456083" y="6995583"/>
            <a:ext cx="7154333" cy="1439333"/>
          </a:xfrm>
          <a:custGeom>
            <a:avLst/>
            <a:gdLst/>
            <a:ahLst/>
            <a:cxnLst/>
            <a:rect l="l" t="t" r="r" b="b"/>
            <a:pathLst>
              <a:path w="7154333" h="1439333">
                <a:moveTo>
                  <a:pt x="84662" y="0"/>
                </a:moveTo>
                <a:lnTo>
                  <a:pt x="7069672" y="0"/>
                </a:lnTo>
                <a:cubicBezTo>
                  <a:pt x="7116429" y="0"/>
                  <a:pt x="7154333" y="37904"/>
                  <a:pt x="7154333" y="84662"/>
                </a:cubicBezTo>
                <a:lnTo>
                  <a:pt x="7154333" y="1354672"/>
                </a:lnTo>
                <a:cubicBezTo>
                  <a:pt x="7154333" y="1401429"/>
                  <a:pt x="7116429" y="1439333"/>
                  <a:pt x="7069672" y="1439333"/>
                </a:cubicBezTo>
                <a:lnTo>
                  <a:pt x="84662" y="1439333"/>
                </a:lnTo>
                <a:cubicBezTo>
                  <a:pt x="37904" y="1439333"/>
                  <a:pt x="0" y="1401429"/>
                  <a:pt x="0" y="1354672"/>
                </a:cubicBezTo>
                <a:lnTo>
                  <a:pt x="0" y="84662"/>
                </a:lnTo>
                <a:cubicBezTo>
                  <a:pt x="0" y="37904"/>
                  <a:pt x="37904" y="0"/>
                  <a:pt x="84662" y="0"/>
                </a:cubicBezTo>
                <a:close/>
              </a:path>
            </a:pathLst>
          </a:custGeom>
          <a:solidFill>
            <a:srgbClr val="4C7E9A">
              <a:alpha val="10196"/>
            </a:srgbClr>
          </a:solidFill>
          <a:ln/>
        </p:spPr>
      </p:sp>
      <p:sp>
        <p:nvSpPr>
          <p:cNvPr id="56" name="Text 54"/>
          <p:cNvSpPr/>
          <p:nvPr/>
        </p:nvSpPr>
        <p:spPr>
          <a:xfrm>
            <a:off x="8625417" y="7164917"/>
            <a:ext cx="691091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适用场景</a:t>
            </a:r>
            <a:endParaRPr lang="en-US" sz="1600" dirty="0"/>
          </a:p>
        </p:txBody>
      </p:sp>
      <p:sp>
        <p:nvSpPr>
          <p:cNvPr id="57" name="Shape 55"/>
          <p:cNvSpPr/>
          <p:nvPr/>
        </p:nvSpPr>
        <p:spPr>
          <a:xfrm>
            <a:off x="8655844" y="7577667"/>
            <a:ext cx="129646" cy="148167"/>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4C7E9A"/>
          </a:solidFill>
          <a:ln/>
        </p:spPr>
      </p:sp>
      <p:sp>
        <p:nvSpPr>
          <p:cNvPr id="58" name="Text 56"/>
          <p:cNvSpPr/>
          <p:nvPr/>
        </p:nvSpPr>
        <p:spPr>
          <a:xfrm>
            <a:off x="8886472" y="7545917"/>
            <a:ext cx="6628694"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复杂问题场景</a:t>
            </a:r>
            <a:endParaRPr lang="en-US" sz="1600" dirty="0"/>
          </a:p>
        </p:txBody>
      </p:sp>
      <p:sp>
        <p:nvSpPr>
          <p:cNvPr id="59" name="Shape 57"/>
          <p:cNvSpPr/>
          <p:nvPr/>
        </p:nvSpPr>
        <p:spPr>
          <a:xfrm>
            <a:off x="8655844" y="7831667"/>
            <a:ext cx="129646" cy="148167"/>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4C7E9A"/>
          </a:solidFill>
          <a:ln/>
        </p:spPr>
      </p:sp>
      <p:sp>
        <p:nvSpPr>
          <p:cNvPr id="60" name="Text 58"/>
          <p:cNvSpPr/>
          <p:nvPr/>
        </p:nvSpPr>
        <p:spPr>
          <a:xfrm>
            <a:off x="8886472" y="7799917"/>
            <a:ext cx="6628694"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多模态数据（图像+文本）</a:t>
            </a:r>
            <a:endParaRPr lang="en-US" sz="1600" dirty="0"/>
          </a:p>
        </p:txBody>
      </p:sp>
      <p:sp>
        <p:nvSpPr>
          <p:cNvPr id="61" name="Shape 59"/>
          <p:cNvSpPr/>
          <p:nvPr/>
        </p:nvSpPr>
        <p:spPr>
          <a:xfrm>
            <a:off x="8655844" y="8085667"/>
            <a:ext cx="129646" cy="148167"/>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4C7E9A"/>
          </a:solidFill>
          <a:ln/>
        </p:spPr>
      </p:sp>
      <p:sp>
        <p:nvSpPr>
          <p:cNvPr id="62" name="Text 60"/>
          <p:cNvSpPr/>
          <p:nvPr/>
        </p:nvSpPr>
        <p:spPr>
          <a:xfrm>
            <a:off x="8886472" y="8053917"/>
            <a:ext cx="6628694"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极致精度要求</a:t>
            </a:r>
            <a:endParaRPr lang="en-US" sz="1600" dirty="0"/>
          </a:p>
        </p:txBody>
      </p:sp>
    </p:spTree>
  </p:cSld>
  <p:clrMapOvr>
    <a:masterClrMapping/>
  </p:clrMapOvr>
  <p:transition>
    <p:fade/>
    <p:spd val="med"/>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63134" y="463134"/>
            <a:ext cx="15422359" cy="277880"/>
          </a:xfrm>
          <a:prstGeom prst="rect">
            <a:avLst/>
          </a:prstGeom>
          <a:noFill/>
          <a:ln/>
        </p:spPr>
        <p:txBody>
          <a:bodyPr wrap="square" lIns="0" tIns="0" rIns="0" bIns="0" rtlCol="0" anchor="ctr"/>
          <a:lstStyle/>
          <a:p>
            <a:pPr>
              <a:lnSpc>
                <a:spcPct val="130000"/>
              </a:lnSpc>
            </a:pPr>
            <a:r>
              <a:rPr lang="en-US" sz="1459" b="1" spc="73" kern="0" dirty="0">
                <a:solidFill>
                  <a:srgbClr val="7E9AA8"/>
                </a:solidFill>
                <a:latin typeface="MiSans" pitchFamily="34" charset="0"/>
                <a:ea typeface="MiSans" pitchFamily="34" charset="-122"/>
                <a:cs typeface="MiSans" pitchFamily="34" charset="-120"/>
              </a:rPr>
              <a:t>STACKING</a:t>
            </a:r>
            <a:endParaRPr lang="en-US" sz="1600" dirty="0"/>
          </a:p>
        </p:txBody>
      </p:sp>
      <p:sp>
        <p:nvSpPr>
          <p:cNvPr id="3" name="Text 1"/>
          <p:cNvSpPr/>
          <p:nvPr/>
        </p:nvSpPr>
        <p:spPr>
          <a:xfrm>
            <a:off x="463134" y="833641"/>
            <a:ext cx="15538142" cy="463134"/>
          </a:xfrm>
          <a:prstGeom prst="rect">
            <a:avLst/>
          </a:prstGeom>
          <a:noFill/>
          <a:ln/>
        </p:spPr>
        <p:txBody>
          <a:bodyPr wrap="square" lIns="0" tIns="0" rIns="0" bIns="0" rtlCol="0" anchor="ctr"/>
          <a:lstStyle/>
          <a:p>
            <a:pPr>
              <a:lnSpc>
                <a:spcPct val="90000"/>
              </a:lnSpc>
            </a:pPr>
            <a:r>
              <a:rPr lang="en-US" sz="3282" b="1" dirty="0">
                <a:solidFill>
                  <a:srgbClr val="D1D5DB"/>
                </a:solidFill>
                <a:latin typeface="阿里妈妈数黑体" pitchFamily="34" charset="0"/>
                <a:ea typeface="阿里妈妈数黑体" pitchFamily="34" charset="-122"/>
                <a:cs typeface="阿里妈妈数黑体" pitchFamily="34" charset="-120"/>
              </a:rPr>
              <a:t>Stacking的算法架构</a:t>
            </a:r>
            <a:endParaRPr lang="en-US" sz="1600" dirty="0"/>
          </a:p>
        </p:txBody>
      </p:sp>
      <p:sp>
        <p:nvSpPr>
          <p:cNvPr id="4" name="Shape 2"/>
          <p:cNvSpPr/>
          <p:nvPr/>
        </p:nvSpPr>
        <p:spPr>
          <a:xfrm>
            <a:off x="463134" y="1435715"/>
            <a:ext cx="1111521" cy="46313"/>
          </a:xfrm>
          <a:custGeom>
            <a:avLst/>
            <a:gdLst/>
            <a:ahLst/>
            <a:cxnLst/>
            <a:rect l="l" t="t" r="r" b="b"/>
            <a:pathLst>
              <a:path w="1111521" h="46313">
                <a:moveTo>
                  <a:pt x="0" y="0"/>
                </a:moveTo>
                <a:lnTo>
                  <a:pt x="1111521" y="0"/>
                </a:lnTo>
                <a:lnTo>
                  <a:pt x="1111521" y="46313"/>
                </a:lnTo>
                <a:lnTo>
                  <a:pt x="0" y="46313"/>
                </a:lnTo>
                <a:lnTo>
                  <a:pt x="0" y="0"/>
                </a:lnTo>
                <a:close/>
              </a:path>
            </a:pathLst>
          </a:custGeom>
          <a:solidFill>
            <a:srgbClr val="4C7E9A"/>
          </a:solidFill>
          <a:ln/>
        </p:spPr>
      </p:sp>
      <p:sp>
        <p:nvSpPr>
          <p:cNvPr id="5" name="Shape 3"/>
          <p:cNvSpPr/>
          <p:nvPr/>
        </p:nvSpPr>
        <p:spPr>
          <a:xfrm>
            <a:off x="486291" y="1667282"/>
            <a:ext cx="7525926" cy="4631339"/>
          </a:xfrm>
          <a:custGeom>
            <a:avLst/>
            <a:gdLst/>
            <a:ahLst/>
            <a:cxnLst/>
            <a:rect l="l" t="t" r="r" b="b"/>
            <a:pathLst>
              <a:path w="7525926" h="4631339">
                <a:moveTo>
                  <a:pt x="46313" y="0"/>
                </a:moveTo>
                <a:lnTo>
                  <a:pt x="7433299" y="0"/>
                </a:lnTo>
                <a:cubicBezTo>
                  <a:pt x="7484456" y="0"/>
                  <a:pt x="7525926" y="41470"/>
                  <a:pt x="7525926" y="92627"/>
                </a:cubicBezTo>
                <a:lnTo>
                  <a:pt x="7525926" y="4538712"/>
                </a:lnTo>
                <a:cubicBezTo>
                  <a:pt x="7525926" y="4589869"/>
                  <a:pt x="7484456" y="4631339"/>
                  <a:pt x="7433299" y="4631339"/>
                </a:cubicBezTo>
                <a:lnTo>
                  <a:pt x="46313" y="4631339"/>
                </a:lnTo>
                <a:cubicBezTo>
                  <a:pt x="20735" y="4631339"/>
                  <a:pt x="0" y="4610604"/>
                  <a:pt x="0" y="4585026"/>
                </a:cubicBezTo>
                <a:lnTo>
                  <a:pt x="0" y="46313"/>
                </a:lnTo>
                <a:cubicBezTo>
                  <a:pt x="0" y="20752"/>
                  <a:pt x="20752" y="0"/>
                  <a:pt x="46313" y="0"/>
                </a:cubicBezTo>
                <a:close/>
              </a:path>
            </a:pathLst>
          </a:custGeom>
          <a:solidFill>
            <a:srgbClr val="3A5E78">
              <a:alpha val="20000"/>
            </a:srgbClr>
          </a:solidFill>
          <a:ln/>
        </p:spPr>
      </p:sp>
      <p:sp>
        <p:nvSpPr>
          <p:cNvPr id="6" name="Shape 4"/>
          <p:cNvSpPr/>
          <p:nvPr/>
        </p:nvSpPr>
        <p:spPr>
          <a:xfrm>
            <a:off x="486291" y="1667282"/>
            <a:ext cx="46313" cy="4631339"/>
          </a:xfrm>
          <a:custGeom>
            <a:avLst/>
            <a:gdLst/>
            <a:ahLst/>
            <a:cxnLst/>
            <a:rect l="l" t="t" r="r" b="b"/>
            <a:pathLst>
              <a:path w="46313" h="4631339">
                <a:moveTo>
                  <a:pt x="46313" y="0"/>
                </a:moveTo>
                <a:lnTo>
                  <a:pt x="46313" y="0"/>
                </a:lnTo>
                <a:lnTo>
                  <a:pt x="46313" y="4631339"/>
                </a:lnTo>
                <a:lnTo>
                  <a:pt x="46313" y="4631339"/>
                </a:lnTo>
                <a:cubicBezTo>
                  <a:pt x="20735" y="4631339"/>
                  <a:pt x="0" y="4610604"/>
                  <a:pt x="0" y="4585026"/>
                </a:cubicBezTo>
                <a:lnTo>
                  <a:pt x="0" y="46313"/>
                </a:lnTo>
                <a:cubicBezTo>
                  <a:pt x="0" y="20752"/>
                  <a:pt x="20752" y="0"/>
                  <a:pt x="46313" y="0"/>
                </a:cubicBezTo>
                <a:close/>
              </a:path>
            </a:pathLst>
          </a:custGeom>
          <a:solidFill>
            <a:srgbClr val="4C7E9A"/>
          </a:solidFill>
          <a:ln/>
        </p:spPr>
      </p:sp>
      <p:sp>
        <p:nvSpPr>
          <p:cNvPr id="7" name="Text 5"/>
          <p:cNvSpPr/>
          <p:nvPr/>
        </p:nvSpPr>
        <p:spPr>
          <a:xfrm>
            <a:off x="694701" y="1852536"/>
            <a:ext cx="7271202" cy="370507"/>
          </a:xfrm>
          <a:prstGeom prst="rect">
            <a:avLst/>
          </a:prstGeom>
          <a:noFill/>
          <a:ln/>
        </p:spPr>
        <p:txBody>
          <a:bodyPr wrap="square" lIns="0" tIns="0" rIns="0" bIns="0" rtlCol="0" anchor="ctr"/>
          <a:lstStyle/>
          <a:p>
            <a:pPr>
              <a:lnSpc>
                <a:spcPct val="110000"/>
              </a:lnSpc>
            </a:pPr>
            <a:r>
              <a:rPr lang="en-US" sz="2188" b="1" dirty="0">
                <a:solidFill>
                  <a:srgbClr val="4C7E9A"/>
                </a:solidFill>
                <a:latin typeface="MiSans" pitchFamily="34" charset="0"/>
                <a:ea typeface="MiSans" pitchFamily="34" charset="-122"/>
                <a:cs typeface="MiSans" pitchFamily="34" charset="-120"/>
              </a:rPr>
              <a:t>两层架构</a:t>
            </a:r>
            <a:endParaRPr lang="en-US" sz="1600" dirty="0"/>
          </a:p>
        </p:txBody>
      </p:sp>
      <p:sp>
        <p:nvSpPr>
          <p:cNvPr id="8" name="Shape 6"/>
          <p:cNvSpPr/>
          <p:nvPr/>
        </p:nvSpPr>
        <p:spPr>
          <a:xfrm>
            <a:off x="694701" y="2361983"/>
            <a:ext cx="7132262" cy="1806222"/>
          </a:xfrm>
          <a:custGeom>
            <a:avLst/>
            <a:gdLst/>
            <a:ahLst/>
            <a:cxnLst/>
            <a:rect l="l" t="t" r="r" b="b"/>
            <a:pathLst>
              <a:path w="7132262" h="1806222">
                <a:moveTo>
                  <a:pt x="92623" y="0"/>
                </a:moveTo>
                <a:lnTo>
                  <a:pt x="7039639" y="0"/>
                </a:lnTo>
                <a:cubicBezTo>
                  <a:pt x="7090793" y="0"/>
                  <a:pt x="7132262" y="41469"/>
                  <a:pt x="7132262" y="92623"/>
                </a:cubicBezTo>
                <a:lnTo>
                  <a:pt x="7132262" y="1713599"/>
                </a:lnTo>
                <a:cubicBezTo>
                  <a:pt x="7132262" y="1764753"/>
                  <a:pt x="7090793" y="1806222"/>
                  <a:pt x="7039639" y="1806222"/>
                </a:cubicBezTo>
                <a:lnTo>
                  <a:pt x="92623" y="1806222"/>
                </a:lnTo>
                <a:cubicBezTo>
                  <a:pt x="41469" y="1806222"/>
                  <a:pt x="0" y="1764753"/>
                  <a:pt x="0" y="1713599"/>
                </a:cubicBezTo>
                <a:lnTo>
                  <a:pt x="0" y="92623"/>
                </a:lnTo>
                <a:cubicBezTo>
                  <a:pt x="0" y="41503"/>
                  <a:pt x="41503" y="0"/>
                  <a:pt x="92623" y="0"/>
                </a:cubicBezTo>
                <a:close/>
              </a:path>
            </a:pathLst>
          </a:custGeom>
          <a:solidFill>
            <a:srgbClr val="181A1F">
              <a:alpha val="50196"/>
            </a:srgbClr>
          </a:solidFill>
          <a:ln/>
        </p:spPr>
      </p:sp>
      <p:sp>
        <p:nvSpPr>
          <p:cNvPr id="9" name="Shape 7"/>
          <p:cNvSpPr/>
          <p:nvPr/>
        </p:nvSpPr>
        <p:spPr>
          <a:xfrm>
            <a:off x="862587" y="2564604"/>
            <a:ext cx="208410" cy="208410"/>
          </a:xfrm>
          <a:custGeom>
            <a:avLst/>
            <a:gdLst/>
            <a:ahLst/>
            <a:cxnLst/>
            <a:rect l="l" t="t" r="r" b="b"/>
            <a:pathLst>
              <a:path w="208410" h="208410">
                <a:moveTo>
                  <a:pt x="94639" y="2117"/>
                </a:moveTo>
                <a:cubicBezTo>
                  <a:pt x="100704" y="-692"/>
                  <a:pt x="107706" y="-692"/>
                  <a:pt x="113771" y="2117"/>
                </a:cubicBezTo>
                <a:lnTo>
                  <a:pt x="202752" y="43229"/>
                </a:lnTo>
                <a:cubicBezTo>
                  <a:pt x="206212" y="44816"/>
                  <a:pt x="208410" y="48276"/>
                  <a:pt x="208410" y="52103"/>
                </a:cubicBezTo>
                <a:cubicBezTo>
                  <a:pt x="208410" y="55929"/>
                  <a:pt x="206212" y="59389"/>
                  <a:pt x="202752" y="60976"/>
                </a:cubicBezTo>
                <a:lnTo>
                  <a:pt x="113771" y="102088"/>
                </a:lnTo>
                <a:cubicBezTo>
                  <a:pt x="107706" y="104897"/>
                  <a:pt x="100704" y="104897"/>
                  <a:pt x="94639" y="102088"/>
                </a:cubicBezTo>
                <a:lnTo>
                  <a:pt x="5658" y="60976"/>
                </a:lnTo>
                <a:cubicBezTo>
                  <a:pt x="2198" y="59348"/>
                  <a:pt x="0" y="55888"/>
                  <a:pt x="0" y="52103"/>
                </a:cubicBezTo>
                <a:cubicBezTo>
                  <a:pt x="0" y="48317"/>
                  <a:pt x="2198" y="44816"/>
                  <a:pt x="5658" y="43229"/>
                </a:cubicBezTo>
                <a:lnTo>
                  <a:pt x="94639" y="2117"/>
                </a:lnTo>
                <a:close/>
                <a:moveTo>
                  <a:pt x="19579" y="88900"/>
                </a:moveTo>
                <a:lnTo>
                  <a:pt x="86458" y="119795"/>
                </a:lnTo>
                <a:cubicBezTo>
                  <a:pt x="97733" y="125005"/>
                  <a:pt x="110718" y="125005"/>
                  <a:pt x="121993" y="119795"/>
                </a:cubicBezTo>
                <a:lnTo>
                  <a:pt x="188872" y="88900"/>
                </a:lnTo>
                <a:lnTo>
                  <a:pt x="202752" y="95331"/>
                </a:lnTo>
                <a:cubicBezTo>
                  <a:pt x="206212" y="96919"/>
                  <a:pt x="208410" y="100379"/>
                  <a:pt x="208410" y="104205"/>
                </a:cubicBezTo>
                <a:cubicBezTo>
                  <a:pt x="208410" y="108031"/>
                  <a:pt x="206212" y="111491"/>
                  <a:pt x="202752" y="113079"/>
                </a:cubicBezTo>
                <a:lnTo>
                  <a:pt x="113771" y="154191"/>
                </a:lnTo>
                <a:cubicBezTo>
                  <a:pt x="107706" y="157000"/>
                  <a:pt x="100704" y="157000"/>
                  <a:pt x="94639" y="154191"/>
                </a:cubicBezTo>
                <a:lnTo>
                  <a:pt x="5658" y="113079"/>
                </a:lnTo>
                <a:cubicBezTo>
                  <a:pt x="2198" y="111451"/>
                  <a:pt x="0" y="107991"/>
                  <a:pt x="0" y="104205"/>
                </a:cubicBezTo>
                <a:cubicBezTo>
                  <a:pt x="0" y="100420"/>
                  <a:pt x="2198" y="96919"/>
                  <a:pt x="5658" y="95331"/>
                </a:cubicBezTo>
                <a:lnTo>
                  <a:pt x="19538" y="88900"/>
                </a:lnTo>
                <a:close/>
                <a:moveTo>
                  <a:pt x="5658" y="147434"/>
                </a:moveTo>
                <a:lnTo>
                  <a:pt x="19538" y="141003"/>
                </a:lnTo>
                <a:lnTo>
                  <a:pt x="86417" y="171898"/>
                </a:lnTo>
                <a:cubicBezTo>
                  <a:pt x="97692" y="177108"/>
                  <a:pt x="110677" y="177108"/>
                  <a:pt x="121953" y="171898"/>
                </a:cubicBezTo>
                <a:lnTo>
                  <a:pt x="188831" y="141003"/>
                </a:lnTo>
                <a:lnTo>
                  <a:pt x="202712" y="147434"/>
                </a:lnTo>
                <a:cubicBezTo>
                  <a:pt x="206171" y="149021"/>
                  <a:pt x="208370" y="152481"/>
                  <a:pt x="208370" y="156308"/>
                </a:cubicBezTo>
                <a:cubicBezTo>
                  <a:pt x="208370" y="160134"/>
                  <a:pt x="206171" y="163594"/>
                  <a:pt x="202712" y="165181"/>
                </a:cubicBezTo>
                <a:lnTo>
                  <a:pt x="113730" y="206294"/>
                </a:lnTo>
                <a:cubicBezTo>
                  <a:pt x="107665" y="209102"/>
                  <a:pt x="100664" y="209102"/>
                  <a:pt x="94599" y="206294"/>
                </a:cubicBezTo>
                <a:lnTo>
                  <a:pt x="5658" y="165181"/>
                </a:lnTo>
                <a:cubicBezTo>
                  <a:pt x="2198" y="163553"/>
                  <a:pt x="0" y="160093"/>
                  <a:pt x="0" y="156308"/>
                </a:cubicBezTo>
                <a:cubicBezTo>
                  <a:pt x="0" y="152522"/>
                  <a:pt x="2198" y="149021"/>
                  <a:pt x="5658" y="147434"/>
                </a:cubicBezTo>
                <a:close/>
              </a:path>
            </a:pathLst>
          </a:custGeom>
          <a:solidFill>
            <a:srgbClr val="4C7E9A"/>
          </a:solidFill>
          <a:ln/>
        </p:spPr>
      </p:sp>
      <p:sp>
        <p:nvSpPr>
          <p:cNvPr id="10" name="Text 8"/>
          <p:cNvSpPr/>
          <p:nvPr/>
        </p:nvSpPr>
        <p:spPr>
          <a:xfrm>
            <a:off x="1184389" y="2500923"/>
            <a:ext cx="6607839"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第一层：基学习器的多元视角</a:t>
            </a:r>
            <a:endParaRPr lang="en-US" sz="1600" dirty="0"/>
          </a:p>
        </p:txBody>
      </p:sp>
      <p:sp>
        <p:nvSpPr>
          <p:cNvPr id="11" name="Text 9"/>
          <p:cNvSpPr/>
          <p:nvPr/>
        </p:nvSpPr>
        <p:spPr>
          <a:xfrm>
            <a:off x="833641" y="2917744"/>
            <a:ext cx="6947009" cy="602074"/>
          </a:xfrm>
          <a:prstGeom prst="rect">
            <a:avLst/>
          </a:prstGeom>
          <a:noFill/>
          <a:ln/>
        </p:spPr>
        <p:txBody>
          <a:bodyPr wrap="square" lIns="0" tIns="0" rIns="0" bIns="0" rtlCol="0" anchor="ctr"/>
          <a:lstStyle/>
          <a:p>
            <a:pPr>
              <a:lnSpc>
                <a:spcPct val="140000"/>
              </a:lnSpc>
            </a:pPr>
            <a:r>
              <a:rPr lang="en-US" sz="1459" dirty="0">
                <a:solidFill>
                  <a:srgbClr val="7E9AA8"/>
                </a:solidFill>
                <a:latin typeface="MiSans" pitchFamily="34" charset="0"/>
                <a:ea typeface="MiSans" pitchFamily="34" charset="-122"/>
                <a:cs typeface="MiSans" pitchFamily="34" charset="-120"/>
              </a:rPr>
              <a:t>处于底层的是一组</a:t>
            </a:r>
            <a:pPr>
              <a:lnSpc>
                <a:spcPct val="140000"/>
              </a:lnSpc>
            </a:pPr>
            <a:r>
              <a:rPr lang="en-US" sz="1459" b="1" dirty="0">
                <a:solidFill>
                  <a:srgbClr val="D1D5DB"/>
                </a:solidFill>
                <a:latin typeface="MiSans" pitchFamily="34" charset="0"/>
                <a:ea typeface="MiSans" pitchFamily="34" charset="-122"/>
                <a:cs typeface="MiSans" pitchFamily="34" charset="-120"/>
              </a:rPr>
              <a:t>异构</a:t>
            </a:r>
            <a:pPr>
              <a:lnSpc>
                <a:spcPct val="140000"/>
              </a:lnSpc>
            </a:pPr>
            <a:r>
              <a:rPr lang="en-US" sz="1459" dirty="0">
                <a:solidFill>
                  <a:srgbClr val="7E9AA8"/>
                </a:solidFill>
                <a:latin typeface="MiSans" pitchFamily="34" charset="0"/>
                <a:ea typeface="MiSans" pitchFamily="34" charset="-122"/>
                <a:cs typeface="MiSans" pitchFamily="34" charset="-120"/>
              </a:rPr>
              <a:t>的基学习器（SVM、随机森林、神经网络等）。它们就像是拥有不同背景的专家，从各自的视角对数据进行观察和理解。</a:t>
            </a:r>
            <a:endParaRPr lang="en-US" sz="1600" dirty="0"/>
          </a:p>
        </p:txBody>
      </p:sp>
      <p:sp>
        <p:nvSpPr>
          <p:cNvPr id="12" name="Shape 10"/>
          <p:cNvSpPr/>
          <p:nvPr/>
        </p:nvSpPr>
        <p:spPr>
          <a:xfrm>
            <a:off x="833641" y="3612444"/>
            <a:ext cx="6854382" cy="416821"/>
          </a:xfrm>
          <a:custGeom>
            <a:avLst/>
            <a:gdLst/>
            <a:ahLst/>
            <a:cxnLst/>
            <a:rect l="l" t="t" r="r" b="b"/>
            <a:pathLst>
              <a:path w="6854382" h="416821">
                <a:moveTo>
                  <a:pt x="46313" y="0"/>
                </a:moveTo>
                <a:lnTo>
                  <a:pt x="6808069" y="0"/>
                </a:lnTo>
                <a:cubicBezTo>
                  <a:pt x="6833647" y="0"/>
                  <a:pt x="6854382" y="20735"/>
                  <a:pt x="6854382" y="46313"/>
                </a:cubicBezTo>
                <a:lnTo>
                  <a:pt x="6854382" y="370508"/>
                </a:lnTo>
                <a:cubicBezTo>
                  <a:pt x="6854382" y="396086"/>
                  <a:pt x="6833647" y="416821"/>
                  <a:pt x="6808069" y="416821"/>
                </a:cubicBezTo>
                <a:lnTo>
                  <a:pt x="46313" y="416821"/>
                </a:lnTo>
                <a:cubicBezTo>
                  <a:pt x="20735" y="416821"/>
                  <a:pt x="0" y="396086"/>
                  <a:pt x="0" y="370508"/>
                </a:cubicBezTo>
                <a:lnTo>
                  <a:pt x="0" y="46313"/>
                </a:lnTo>
                <a:cubicBezTo>
                  <a:pt x="0" y="20735"/>
                  <a:pt x="20735" y="0"/>
                  <a:pt x="46313" y="0"/>
                </a:cubicBezTo>
                <a:close/>
              </a:path>
            </a:pathLst>
          </a:custGeom>
          <a:solidFill>
            <a:srgbClr val="181A1F"/>
          </a:solidFill>
          <a:ln/>
        </p:spPr>
      </p:sp>
      <p:sp>
        <p:nvSpPr>
          <p:cNvPr id="13" name="Text 11"/>
          <p:cNvSpPr/>
          <p:nvPr/>
        </p:nvSpPr>
        <p:spPr>
          <a:xfrm>
            <a:off x="926268" y="3705071"/>
            <a:ext cx="6750177" cy="231567"/>
          </a:xfrm>
          <a:prstGeom prst="rect">
            <a:avLst/>
          </a:prstGeom>
          <a:noFill/>
          <a:ln/>
        </p:spPr>
        <p:txBody>
          <a:bodyPr wrap="square" lIns="0" tIns="0" rIns="0" bIns="0" rtlCol="0" anchor="ctr"/>
          <a:lstStyle/>
          <a:p>
            <a:pPr>
              <a:lnSpc>
                <a:spcPct val="120000"/>
              </a:lnSpc>
            </a:pPr>
            <a:r>
              <a:rPr lang="en-US" sz="1276" b="1" dirty="0">
                <a:solidFill>
                  <a:srgbClr val="D1D5DB"/>
                </a:solidFill>
                <a:latin typeface="MiSans" pitchFamily="34" charset="0"/>
                <a:ea typeface="MiSans" pitchFamily="34" charset="-122"/>
                <a:cs typeface="MiSans" pitchFamily="34" charset="-120"/>
              </a:rPr>
              <a:t>关键：</a:t>
            </a:r>
            <a:pPr>
              <a:lnSpc>
                <a:spcPct val="120000"/>
              </a:lnSpc>
            </a:pPr>
            <a:r>
              <a:rPr lang="en-US" sz="1276" dirty="0">
                <a:solidFill>
                  <a:srgbClr val="7E9AA8"/>
                </a:solidFill>
                <a:latin typeface="MiSans" pitchFamily="34" charset="0"/>
                <a:ea typeface="MiSans" pitchFamily="34" charset="-122"/>
                <a:cs typeface="MiSans" pitchFamily="34" charset="-120"/>
              </a:rPr>
              <a:t>基学习器之间的相关性越低，能够提供的互补信息就越多</a:t>
            </a:r>
            <a:endParaRPr lang="en-US" sz="1600" dirty="0"/>
          </a:p>
        </p:txBody>
      </p:sp>
      <p:sp>
        <p:nvSpPr>
          <p:cNvPr id="14" name="Shape 12"/>
          <p:cNvSpPr/>
          <p:nvPr/>
        </p:nvSpPr>
        <p:spPr>
          <a:xfrm>
            <a:off x="694701" y="4307145"/>
            <a:ext cx="7132262" cy="1806222"/>
          </a:xfrm>
          <a:custGeom>
            <a:avLst/>
            <a:gdLst/>
            <a:ahLst/>
            <a:cxnLst/>
            <a:rect l="l" t="t" r="r" b="b"/>
            <a:pathLst>
              <a:path w="7132262" h="1806222">
                <a:moveTo>
                  <a:pt x="92623" y="0"/>
                </a:moveTo>
                <a:lnTo>
                  <a:pt x="7039639" y="0"/>
                </a:lnTo>
                <a:cubicBezTo>
                  <a:pt x="7090793" y="0"/>
                  <a:pt x="7132262" y="41469"/>
                  <a:pt x="7132262" y="92623"/>
                </a:cubicBezTo>
                <a:lnTo>
                  <a:pt x="7132262" y="1713599"/>
                </a:lnTo>
                <a:cubicBezTo>
                  <a:pt x="7132262" y="1764753"/>
                  <a:pt x="7090793" y="1806222"/>
                  <a:pt x="7039639" y="1806222"/>
                </a:cubicBezTo>
                <a:lnTo>
                  <a:pt x="92623" y="1806222"/>
                </a:lnTo>
                <a:cubicBezTo>
                  <a:pt x="41469" y="1806222"/>
                  <a:pt x="0" y="1764753"/>
                  <a:pt x="0" y="1713599"/>
                </a:cubicBezTo>
                <a:lnTo>
                  <a:pt x="0" y="92623"/>
                </a:lnTo>
                <a:cubicBezTo>
                  <a:pt x="0" y="41503"/>
                  <a:pt x="41503" y="0"/>
                  <a:pt x="92623" y="0"/>
                </a:cubicBezTo>
                <a:close/>
              </a:path>
            </a:pathLst>
          </a:custGeom>
          <a:solidFill>
            <a:srgbClr val="181A1F">
              <a:alpha val="50196"/>
            </a:srgbClr>
          </a:solidFill>
          <a:ln/>
        </p:spPr>
      </p:sp>
      <p:sp>
        <p:nvSpPr>
          <p:cNvPr id="15" name="Shape 13"/>
          <p:cNvSpPr/>
          <p:nvPr/>
        </p:nvSpPr>
        <p:spPr>
          <a:xfrm>
            <a:off x="862587" y="4509766"/>
            <a:ext cx="208410" cy="208410"/>
          </a:xfrm>
          <a:custGeom>
            <a:avLst/>
            <a:gdLst/>
            <a:ahLst/>
            <a:cxnLst/>
            <a:rect l="l" t="t" r="r" b="b"/>
            <a:pathLst>
              <a:path w="208410" h="208410">
                <a:moveTo>
                  <a:pt x="48846" y="22795"/>
                </a:moveTo>
                <a:cubicBezTo>
                  <a:pt x="48846" y="10217"/>
                  <a:pt x="59063" y="0"/>
                  <a:pt x="71641" y="0"/>
                </a:cubicBezTo>
                <a:lnTo>
                  <a:pt x="81410" y="0"/>
                </a:lnTo>
                <a:cubicBezTo>
                  <a:pt x="88615" y="0"/>
                  <a:pt x="94436" y="5821"/>
                  <a:pt x="94436" y="13026"/>
                </a:cubicBezTo>
                <a:lnTo>
                  <a:pt x="94436" y="195385"/>
                </a:lnTo>
                <a:cubicBezTo>
                  <a:pt x="94436" y="202589"/>
                  <a:pt x="88615" y="208410"/>
                  <a:pt x="81410" y="208410"/>
                </a:cubicBezTo>
                <a:lnTo>
                  <a:pt x="68385" y="208410"/>
                </a:lnTo>
                <a:cubicBezTo>
                  <a:pt x="56254" y="208410"/>
                  <a:pt x="46037" y="200106"/>
                  <a:pt x="43147" y="188872"/>
                </a:cubicBezTo>
                <a:cubicBezTo>
                  <a:pt x="42862" y="188872"/>
                  <a:pt x="42618" y="188872"/>
                  <a:pt x="42333" y="188872"/>
                </a:cubicBezTo>
                <a:cubicBezTo>
                  <a:pt x="24342" y="188872"/>
                  <a:pt x="9769" y="174299"/>
                  <a:pt x="9769" y="156308"/>
                </a:cubicBezTo>
                <a:cubicBezTo>
                  <a:pt x="9769" y="148981"/>
                  <a:pt x="12212" y="142224"/>
                  <a:pt x="16282" y="136769"/>
                </a:cubicBezTo>
                <a:cubicBezTo>
                  <a:pt x="8385" y="130826"/>
                  <a:pt x="3256" y="121383"/>
                  <a:pt x="3256" y="110718"/>
                </a:cubicBezTo>
                <a:cubicBezTo>
                  <a:pt x="3256" y="98140"/>
                  <a:pt x="10421" y="87190"/>
                  <a:pt x="20841" y="81777"/>
                </a:cubicBezTo>
                <a:cubicBezTo>
                  <a:pt x="17951" y="76892"/>
                  <a:pt x="16282" y="71193"/>
                  <a:pt x="16282" y="65128"/>
                </a:cubicBezTo>
                <a:cubicBezTo>
                  <a:pt x="16282" y="47137"/>
                  <a:pt x="30854" y="32564"/>
                  <a:pt x="48846" y="32564"/>
                </a:cubicBezTo>
                <a:lnTo>
                  <a:pt x="48846" y="22795"/>
                </a:lnTo>
                <a:close/>
                <a:moveTo>
                  <a:pt x="159564" y="22795"/>
                </a:moveTo>
                <a:lnTo>
                  <a:pt x="159564" y="32564"/>
                </a:lnTo>
                <a:cubicBezTo>
                  <a:pt x="177556" y="32564"/>
                  <a:pt x="192128" y="47137"/>
                  <a:pt x="192128" y="65128"/>
                </a:cubicBezTo>
                <a:cubicBezTo>
                  <a:pt x="192128" y="71234"/>
                  <a:pt x="190459" y="76933"/>
                  <a:pt x="187569" y="81777"/>
                </a:cubicBezTo>
                <a:cubicBezTo>
                  <a:pt x="198030" y="87190"/>
                  <a:pt x="205154" y="98099"/>
                  <a:pt x="205154" y="110718"/>
                </a:cubicBezTo>
                <a:cubicBezTo>
                  <a:pt x="205154" y="121383"/>
                  <a:pt x="200025" y="130826"/>
                  <a:pt x="192128" y="136769"/>
                </a:cubicBezTo>
                <a:cubicBezTo>
                  <a:pt x="196199" y="142224"/>
                  <a:pt x="198641" y="148981"/>
                  <a:pt x="198641" y="156308"/>
                </a:cubicBezTo>
                <a:cubicBezTo>
                  <a:pt x="198641" y="174299"/>
                  <a:pt x="184069" y="188872"/>
                  <a:pt x="166077" y="188872"/>
                </a:cubicBezTo>
                <a:cubicBezTo>
                  <a:pt x="165792" y="188872"/>
                  <a:pt x="165548" y="188872"/>
                  <a:pt x="165263" y="188872"/>
                </a:cubicBezTo>
                <a:cubicBezTo>
                  <a:pt x="162373" y="200106"/>
                  <a:pt x="152156" y="208410"/>
                  <a:pt x="140026" y="208410"/>
                </a:cubicBezTo>
                <a:lnTo>
                  <a:pt x="127000" y="208410"/>
                </a:lnTo>
                <a:cubicBezTo>
                  <a:pt x="119795" y="208410"/>
                  <a:pt x="113974" y="202589"/>
                  <a:pt x="113974" y="195385"/>
                </a:cubicBezTo>
                <a:lnTo>
                  <a:pt x="113974" y="13026"/>
                </a:lnTo>
                <a:cubicBezTo>
                  <a:pt x="113974" y="5821"/>
                  <a:pt x="119795" y="0"/>
                  <a:pt x="127000" y="0"/>
                </a:cubicBezTo>
                <a:lnTo>
                  <a:pt x="136769" y="0"/>
                </a:lnTo>
                <a:cubicBezTo>
                  <a:pt x="149347" y="0"/>
                  <a:pt x="159564" y="10217"/>
                  <a:pt x="159564" y="22795"/>
                </a:cubicBezTo>
                <a:close/>
              </a:path>
            </a:pathLst>
          </a:custGeom>
          <a:solidFill>
            <a:srgbClr val="4C7E9A"/>
          </a:solidFill>
          <a:ln/>
        </p:spPr>
      </p:sp>
      <p:sp>
        <p:nvSpPr>
          <p:cNvPr id="16" name="Text 14"/>
          <p:cNvSpPr/>
          <p:nvPr/>
        </p:nvSpPr>
        <p:spPr>
          <a:xfrm>
            <a:off x="1184389" y="4446085"/>
            <a:ext cx="6607839"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第二层：元学习器的智慧融合</a:t>
            </a:r>
            <a:endParaRPr lang="en-US" sz="1600" dirty="0"/>
          </a:p>
        </p:txBody>
      </p:sp>
      <p:sp>
        <p:nvSpPr>
          <p:cNvPr id="17" name="Text 15"/>
          <p:cNvSpPr/>
          <p:nvPr/>
        </p:nvSpPr>
        <p:spPr>
          <a:xfrm>
            <a:off x="833641" y="4862906"/>
            <a:ext cx="6947009" cy="602074"/>
          </a:xfrm>
          <a:prstGeom prst="rect">
            <a:avLst/>
          </a:prstGeom>
          <a:noFill/>
          <a:ln/>
        </p:spPr>
        <p:txBody>
          <a:bodyPr wrap="square" lIns="0" tIns="0" rIns="0" bIns="0" rtlCol="0" anchor="ctr"/>
          <a:lstStyle/>
          <a:p>
            <a:pPr>
              <a:lnSpc>
                <a:spcPct val="140000"/>
              </a:lnSpc>
            </a:pPr>
            <a:r>
              <a:rPr lang="en-US" sz="1459" dirty="0">
                <a:solidFill>
                  <a:srgbClr val="7E9AA8"/>
                </a:solidFill>
                <a:latin typeface="MiSans" pitchFamily="34" charset="0"/>
                <a:ea typeface="MiSans" pitchFamily="34" charset="-122"/>
                <a:cs typeface="MiSans" pitchFamily="34" charset="-120"/>
              </a:rPr>
              <a:t>处于顶层的是</a:t>
            </a:r>
            <a:pPr>
              <a:lnSpc>
                <a:spcPct val="140000"/>
              </a:lnSpc>
            </a:pPr>
            <a:r>
              <a:rPr lang="en-US" sz="1459" b="1" dirty="0">
                <a:solidFill>
                  <a:srgbClr val="D1D5DB"/>
                </a:solidFill>
                <a:latin typeface="MiSans" pitchFamily="34" charset="0"/>
                <a:ea typeface="MiSans" pitchFamily="34" charset="-122"/>
                <a:cs typeface="MiSans" pitchFamily="34" charset="-120"/>
              </a:rPr>
              <a:t>元学习器</a:t>
            </a:r>
            <a:pPr>
              <a:lnSpc>
                <a:spcPct val="140000"/>
              </a:lnSpc>
            </a:pPr>
            <a:r>
              <a:rPr lang="en-US" sz="1459" dirty="0">
                <a:solidFill>
                  <a:srgbClr val="7E9AA8"/>
                </a:solidFill>
                <a:latin typeface="MiSans" pitchFamily="34" charset="0"/>
                <a:ea typeface="MiSans" pitchFamily="34" charset="-122"/>
                <a:cs typeface="MiSans" pitchFamily="34" charset="-120"/>
              </a:rPr>
              <a:t>。它的输入不再是原始数据，而是第一级所有基学习器的预测输出。</a:t>
            </a:r>
            <a:endParaRPr lang="en-US" sz="1600" dirty="0"/>
          </a:p>
        </p:txBody>
      </p:sp>
      <p:sp>
        <p:nvSpPr>
          <p:cNvPr id="18" name="Shape 16"/>
          <p:cNvSpPr/>
          <p:nvPr/>
        </p:nvSpPr>
        <p:spPr>
          <a:xfrm>
            <a:off x="833641" y="5557607"/>
            <a:ext cx="6854382" cy="416821"/>
          </a:xfrm>
          <a:custGeom>
            <a:avLst/>
            <a:gdLst/>
            <a:ahLst/>
            <a:cxnLst/>
            <a:rect l="l" t="t" r="r" b="b"/>
            <a:pathLst>
              <a:path w="6854382" h="416821">
                <a:moveTo>
                  <a:pt x="46313" y="0"/>
                </a:moveTo>
                <a:lnTo>
                  <a:pt x="6808069" y="0"/>
                </a:lnTo>
                <a:cubicBezTo>
                  <a:pt x="6833647" y="0"/>
                  <a:pt x="6854382" y="20735"/>
                  <a:pt x="6854382" y="46313"/>
                </a:cubicBezTo>
                <a:lnTo>
                  <a:pt x="6854382" y="370508"/>
                </a:lnTo>
                <a:cubicBezTo>
                  <a:pt x="6854382" y="396086"/>
                  <a:pt x="6833647" y="416821"/>
                  <a:pt x="6808069" y="416821"/>
                </a:cubicBezTo>
                <a:lnTo>
                  <a:pt x="46313" y="416821"/>
                </a:lnTo>
                <a:cubicBezTo>
                  <a:pt x="20735" y="416821"/>
                  <a:pt x="0" y="396086"/>
                  <a:pt x="0" y="370508"/>
                </a:cubicBezTo>
                <a:lnTo>
                  <a:pt x="0" y="46313"/>
                </a:lnTo>
                <a:cubicBezTo>
                  <a:pt x="0" y="20735"/>
                  <a:pt x="20735" y="0"/>
                  <a:pt x="46313" y="0"/>
                </a:cubicBezTo>
                <a:close/>
              </a:path>
            </a:pathLst>
          </a:custGeom>
          <a:solidFill>
            <a:srgbClr val="181A1F"/>
          </a:solidFill>
          <a:ln/>
        </p:spPr>
      </p:sp>
      <p:sp>
        <p:nvSpPr>
          <p:cNvPr id="19" name="Text 17"/>
          <p:cNvSpPr/>
          <p:nvPr/>
        </p:nvSpPr>
        <p:spPr>
          <a:xfrm>
            <a:off x="926268" y="5650234"/>
            <a:ext cx="6750177" cy="231567"/>
          </a:xfrm>
          <a:prstGeom prst="rect">
            <a:avLst/>
          </a:prstGeom>
          <a:noFill/>
          <a:ln/>
        </p:spPr>
        <p:txBody>
          <a:bodyPr wrap="square" lIns="0" tIns="0" rIns="0" bIns="0" rtlCol="0" anchor="ctr"/>
          <a:lstStyle/>
          <a:p>
            <a:pPr>
              <a:lnSpc>
                <a:spcPct val="120000"/>
              </a:lnSpc>
            </a:pPr>
            <a:r>
              <a:rPr lang="en-US" sz="1276" b="1" dirty="0">
                <a:solidFill>
                  <a:srgbClr val="D1D5DB"/>
                </a:solidFill>
                <a:latin typeface="MiSans" pitchFamily="34" charset="0"/>
                <a:ea typeface="MiSans" pitchFamily="34" charset="-122"/>
                <a:cs typeface="MiSans" pitchFamily="34" charset="-120"/>
              </a:rPr>
              <a:t>任务：</a:t>
            </a:r>
            <a:pPr>
              <a:lnSpc>
                <a:spcPct val="120000"/>
              </a:lnSpc>
            </a:pPr>
            <a:r>
              <a:rPr lang="en-US" sz="1276" dirty="0">
                <a:solidFill>
                  <a:srgbClr val="7E9AA8"/>
                </a:solidFill>
                <a:latin typeface="MiSans" pitchFamily="34" charset="0"/>
                <a:ea typeface="MiSans" pitchFamily="34" charset="-122"/>
                <a:cs typeface="MiSans" pitchFamily="34" charset="-120"/>
              </a:rPr>
              <a:t>学习"专家意见"与真实标签的映射关系，自动判断在何种情况下应该信任哪位专家</a:t>
            </a:r>
            <a:endParaRPr lang="en-US" sz="1600" dirty="0"/>
          </a:p>
        </p:txBody>
      </p:sp>
      <p:sp>
        <p:nvSpPr>
          <p:cNvPr id="20" name="Shape 18"/>
          <p:cNvSpPr/>
          <p:nvPr/>
        </p:nvSpPr>
        <p:spPr>
          <a:xfrm>
            <a:off x="468923" y="6489664"/>
            <a:ext cx="7537504" cy="1956741"/>
          </a:xfrm>
          <a:custGeom>
            <a:avLst/>
            <a:gdLst/>
            <a:ahLst/>
            <a:cxnLst/>
            <a:rect l="l" t="t" r="r" b="b"/>
            <a:pathLst>
              <a:path w="7537504" h="1956741">
                <a:moveTo>
                  <a:pt x="92632" y="0"/>
                </a:moveTo>
                <a:lnTo>
                  <a:pt x="7444872" y="0"/>
                </a:lnTo>
                <a:cubicBezTo>
                  <a:pt x="7496031" y="0"/>
                  <a:pt x="7537504" y="41473"/>
                  <a:pt x="7537504" y="92632"/>
                </a:cubicBezTo>
                <a:lnTo>
                  <a:pt x="7537504" y="1864109"/>
                </a:lnTo>
                <a:cubicBezTo>
                  <a:pt x="7537504" y="1915268"/>
                  <a:pt x="7496031" y="1956741"/>
                  <a:pt x="7444872" y="1956741"/>
                </a:cubicBezTo>
                <a:lnTo>
                  <a:pt x="92632" y="1956741"/>
                </a:lnTo>
                <a:cubicBezTo>
                  <a:pt x="41473" y="1956741"/>
                  <a:pt x="0" y="1915268"/>
                  <a:pt x="0" y="1864109"/>
                </a:cubicBezTo>
                <a:lnTo>
                  <a:pt x="0" y="92632"/>
                </a:lnTo>
                <a:cubicBezTo>
                  <a:pt x="0" y="41507"/>
                  <a:pt x="41507" y="0"/>
                  <a:pt x="92632" y="0"/>
                </a:cubicBezTo>
                <a:close/>
              </a:path>
            </a:pathLst>
          </a:custGeom>
          <a:solidFill>
            <a:srgbClr val="3A5E78">
              <a:alpha val="20000"/>
            </a:srgbClr>
          </a:solidFill>
          <a:ln w="12700">
            <a:solidFill>
              <a:srgbClr val="4C7E9A">
                <a:alpha val="50196"/>
              </a:srgbClr>
            </a:solidFill>
            <a:prstDash val="solid"/>
          </a:ln>
        </p:spPr>
      </p:sp>
      <p:sp>
        <p:nvSpPr>
          <p:cNvPr id="21" name="Text 19"/>
          <p:cNvSpPr/>
          <p:nvPr/>
        </p:nvSpPr>
        <p:spPr>
          <a:xfrm>
            <a:off x="613652" y="6634393"/>
            <a:ext cx="7386986" cy="370507"/>
          </a:xfrm>
          <a:prstGeom prst="rect">
            <a:avLst/>
          </a:prstGeom>
          <a:noFill/>
          <a:ln/>
        </p:spPr>
        <p:txBody>
          <a:bodyPr wrap="square" lIns="0" tIns="0" rIns="0" bIns="0" rtlCol="0" anchor="ctr"/>
          <a:lstStyle/>
          <a:p>
            <a:pPr>
              <a:lnSpc>
                <a:spcPct val="110000"/>
              </a:lnSpc>
            </a:pPr>
            <a:r>
              <a:rPr lang="en-US" sz="2188" b="1" dirty="0">
                <a:solidFill>
                  <a:srgbClr val="4C7E9A"/>
                </a:solidFill>
                <a:latin typeface="MiSans" pitchFamily="34" charset="0"/>
                <a:ea typeface="MiSans" pitchFamily="34" charset="-122"/>
                <a:cs typeface="MiSans" pitchFamily="34" charset="-120"/>
              </a:rPr>
              <a:t>数学表达</a:t>
            </a:r>
            <a:endParaRPr lang="en-US" sz="1600" dirty="0"/>
          </a:p>
        </p:txBody>
      </p:sp>
      <p:sp>
        <p:nvSpPr>
          <p:cNvPr id="22" name="Shape 20"/>
          <p:cNvSpPr/>
          <p:nvPr/>
        </p:nvSpPr>
        <p:spPr>
          <a:xfrm>
            <a:off x="613652" y="7097527"/>
            <a:ext cx="7248046" cy="602074"/>
          </a:xfrm>
          <a:custGeom>
            <a:avLst/>
            <a:gdLst/>
            <a:ahLst/>
            <a:cxnLst/>
            <a:rect l="l" t="t" r="r" b="b"/>
            <a:pathLst>
              <a:path w="7248046" h="602074">
                <a:moveTo>
                  <a:pt x="46312" y="0"/>
                </a:moveTo>
                <a:lnTo>
                  <a:pt x="7201734" y="0"/>
                </a:lnTo>
                <a:cubicBezTo>
                  <a:pt x="7227311" y="0"/>
                  <a:pt x="7248046" y="20734"/>
                  <a:pt x="7248046" y="46312"/>
                </a:cubicBezTo>
                <a:lnTo>
                  <a:pt x="7248046" y="555763"/>
                </a:lnTo>
                <a:cubicBezTo>
                  <a:pt x="7248046" y="581340"/>
                  <a:pt x="7227311" y="602074"/>
                  <a:pt x="7201734" y="602074"/>
                </a:cubicBezTo>
                <a:lnTo>
                  <a:pt x="46312" y="602074"/>
                </a:lnTo>
                <a:cubicBezTo>
                  <a:pt x="20734" y="602074"/>
                  <a:pt x="0" y="581340"/>
                  <a:pt x="0" y="555763"/>
                </a:cubicBezTo>
                <a:lnTo>
                  <a:pt x="0" y="46312"/>
                </a:lnTo>
                <a:cubicBezTo>
                  <a:pt x="0" y="20734"/>
                  <a:pt x="20734" y="0"/>
                  <a:pt x="46312" y="0"/>
                </a:cubicBezTo>
                <a:close/>
              </a:path>
            </a:pathLst>
          </a:custGeom>
          <a:solidFill>
            <a:srgbClr val="181A1F"/>
          </a:solidFill>
          <a:ln/>
        </p:spPr>
      </p:sp>
      <p:sp>
        <p:nvSpPr>
          <p:cNvPr id="23" name="Text 21"/>
          <p:cNvSpPr/>
          <p:nvPr/>
        </p:nvSpPr>
        <p:spPr>
          <a:xfrm>
            <a:off x="700490" y="7236467"/>
            <a:ext cx="7074370" cy="324194"/>
          </a:xfrm>
          <a:prstGeom prst="rect">
            <a:avLst/>
          </a:prstGeom>
          <a:noFill/>
          <a:ln/>
        </p:spPr>
        <p:txBody>
          <a:bodyPr wrap="square" lIns="0" tIns="0" rIns="0" bIns="0" rtlCol="0" anchor="ctr"/>
          <a:lstStyle/>
          <a:p>
            <a:pPr algn="ctr">
              <a:lnSpc>
                <a:spcPct val="130000"/>
              </a:lnSpc>
            </a:pPr>
            <a:r>
              <a:rPr lang="en-US" sz="1641" dirty="0">
                <a:solidFill>
                  <a:srgbClr val="7E9AA8"/>
                </a:solidFill>
                <a:latin typeface="MiSans" pitchFamily="34" charset="0"/>
                <a:ea typeface="MiSans" pitchFamily="34" charset="-122"/>
                <a:cs typeface="MiSans" pitchFamily="34" charset="-120"/>
              </a:rPr>
              <a:t>f_stacking(x) = g(h₁(x), h₂(x), ..., h_M(x))</a:t>
            </a:r>
            <a:endParaRPr lang="en-US" sz="1600" dirty="0"/>
          </a:p>
        </p:txBody>
      </p:sp>
      <p:sp>
        <p:nvSpPr>
          <p:cNvPr id="24" name="Text 22"/>
          <p:cNvSpPr/>
          <p:nvPr/>
        </p:nvSpPr>
        <p:spPr>
          <a:xfrm>
            <a:off x="613652" y="7792228"/>
            <a:ext cx="7329094" cy="231567"/>
          </a:xfrm>
          <a:prstGeom prst="rect">
            <a:avLst/>
          </a:prstGeom>
          <a:noFill/>
          <a:ln/>
        </p:spPr>
        <p:txBody>
          <a:bodyPr wrap="square" lIns="0" tIns="0" rIns="0" bIns="0" rtlCol="0" anchor="ctr"/>
          <a:lstStyle/>
          <a:p>
            <a:pPr>
              <a:lnSpc>
                <a:spcPct val="120000"/>
              </a:lnSpc>
            </a:pPr>
            <a:r>
              <a:rPr lang="en-US" sz="1276" b="1" dirty="0">
                <a:solidFill>
                  <a:srgbClr val="D1D5DB"/>
                </a:solidFill>
                <a:latin typeface="MiSans" pitchFamily="34" charset="0"/>
                <a:ea typeface="MiSans" pitchFamily="34" charset="-122"/>
                <a:cs typeface="MiSans" pitchFamily="34" charset="-120"/>
              </a:rPr>
              <a:t>h₁...h_M：</a:t>
            </a:r>
            <a:pPr>
              <a:lnSpc>
                <a:spcPct val="120000"/>
              </a:lnSpc>
            </a:pPr>
            <a:r>
              <a:rPr lang="en-US" sz="1276" dirty="0">
                <a:solidFill>
                  <a:srgbClr val="7E9AA8"/>
                </a:solidFill>
                <a:latin typeface="MiSans" pitchFamily="34" charset="0"/>
                <a:ea typeface="MiSans" pitchFamily="34" charset="-122"/>
                <a:cs typeface="MiSans" pitchFamily="34" charset="-120"/>
              </a:rPr>
              <a:t>基学习器</a:t>
            </a:r>
            <a:endParaRPr lang="en-US" sz="1600" dirty="0"/>
          </a:p>
        </p:txBody>
      </p:sp>
      <p:sp>
        <p:nvSpPr>
          <p:cNvPr id="25" name="Text 23"/>
          <p:cNvSpPr/>
          <p:nvPr/>
        </p:nvSpPr>
        <p:spPr>
          <a:xfrm>
            <a:off x="613652" y="8070108"/>
            <a:ext cx="7329094" cy="231567"/>
          </a:xfrm>
          <a:prstGeom prst="rect">
            <a:avLst/>
          </a:prstGeom>
          <a:noFill/>
          <a:ln/>
        </p:spPr>
        <p:txBody>
          <a:bodyPr wrap="square" lIns="0" tIns="0" rIns="0" bIns="0" rtlCol="0" anchor="ctr"/>
          <a:lstStyle/>
          <a:p>
            <a:pPr>
              <a:lnSpc>
                <a:spcPct val="120000"/>
              </a:lnSpc>
            </a:pPr>
            <a:r>
              <a:rPr lang="en-US" sz="1276" b="1" dirty="0">
                <a:solidFill>
                  <a:srgbClr val="D1D5DB"/>
                </a:solidFill>
                <a:latin typeface="MiSans" pitchFamily="34" charset="0"/>
                <a:ea typeface="MiSans" pitchFamily="34" charset="-122"/>
                <a:cs typeface="MiSans" pitchFamily="34" charset="-120"/>
              </a:rPr>
              <a:t>g：</a:t>
            </a:r>
            <a:pPr>
              <a:lnSpc>
                <a:spcPct val="120000"/>
              </a:lnSpc>
            </a:pPr>
            <a:r>
              <a:rPr lang="en-US" sz="1276" dirty="0">
                <a:solidFill>
                  <a:srgbClr val="7E9AA8"/>
                </a:solidFill>
                <a:latin typeface="MiSans" pitchFamily="34" charset="0"/>
                <a:ea typeface="MiSans" pitchFamily="34" charset="-122"/>
                <a:cs typeface="MiSans" pitchFamily="34" charset="-120"/>
              </a:rPr>
              <a:t>元学习器</a:t>
            </a:r>
            <a:endParaRPr lang="en-US" sz="1600" dirty="0"/>
          </a:p>
        </p:txBody>
      </p:sp>
      <p:pic>
        <p:nvPicPr>
          <p:cNvPr id="26" name="Image 0" descr="https://kimi-img.moonshot.cn/pub/slides/26-01-07-11:57:46-d5etjelkfv3su96chu70.png">    </p:cNvPr>
          <p:cNvPicPr>
            <a:picLocks noChangeAspect="1"/>
          </p:cNvPicPr>
          <p:nvPr/>
        </p:nvPicPr>
        <p:blipFill>
          <a:blip r:embed="rId1"/>
          <a:srcRect l="0" r="0" t="0" b="0"/>
          <a:stretch/>
        </p:blipFill>
        <p:spPr>
          <a:xfrm>
            <a:off x="8246316" y="1667282"/>
            <a:ext cx="6831225" cy="3705071"/>
          </a:xfrm>
          <a:prstGeom prst="roundRect">
            <a:avLst>
              <a:gd name="adj" fmla="val 0"/>
            </a:avLst>
          </a:prstGeom>
        </p:spPr>
      </p:pic>
      <p:sp>
        <p:nvSpPr>
          <p:cNvPr id="27" name="Shape 24"/>
          <p:cNvSpPr/>
          <p:nvPr/>
        </p:nvSpPr>
        <p:spPr>
          <a:xfrm>
            <a:off x="8252105" y="5563396"/>
            <a:ext cx="7537504" cy="2744068"/>
          </a:xfrm>
          <a:custGeom>
            <a:avLst/>
            <a:gdLst/>
            <a:ahLst/>
            <a:cxnLst/>
            <a:rect l="l" t="t" r="r" b="b"/>
            <a:pathLst>
              <a:path w="7537504" h="2744068">
                <a:moveTo>
                  <a:pt x="92640" y="0"/>
                </a:moveTo>
                <a:lnTo>
                  <a:pt x="7444865" y="0"/>
                </a:lnTo>
                <a:cubicBezTo>
                  <a:pt x="7496028" y="0"/>
                  <a:pt x="7537504" y="41476"/>
                  <a:pt x="7537504" y="92640"/>
                </a:cubicBezTo>
                <a:lnTo>
                  <a:pt x="7537504" y="2651429"/>
                </a:lnTo>
                <a:cubicBezTo>
                  <a:pt x="7537504" y="2702592"/>
                  <a:pt x="7496028" y="2744068"/>
                  <a:pt x="7444865" y="2744068"/>
                </a:cubicBezTo>
                <a:lnTo>
                  <a:pt x="92640" y="2744068"/>
                </a:lnTo>
                <a:cubicBezTo>
                  <a:pt x="41476" y="2744068"/>
                  <a:pt x="0" y="2702592"/>
                  <a:pt x="0" y="2651429"/>
                </a:cubicBezTo>
                <a:lnTo>
                  <a:pt x="0" y="92640"/>
                </a:lnTo>
                <a:cubicBezTo>
                  <a:pt x="0" y="41476"/>
                  <a:pt x="41476" y="0"/>
                  <a:pt x="92640" y="0"/>
                </a:cubicBezTo>
                <a:close/>
              </a:path>
            </a:pathLst>
          </a:custGeom>
          <a:solidFill>
            <a:srgbClr val="3A5E78">
              <a:alpha val="20000"/>
            </a:srgbClr>
          </a:solidFill>
          <a:ln w="12700">
            <a:solidFill>
              <a:srgbClr val="4C7E9A">
                <a:alpha val="50196"/>
              </a:srgbClr>
            </a:solidFill>
            <a:prstDash val="solid"/>
          </a:ln>
        </p:spPr>
      </p:sp>
      <p:sp>
        <p:nvSpPr>
          <p:cNvPr id="28" name="Text 25"/>
          <p:cNvSpPr/>
          <p:nvPr/>
        </p:nvSpPr>
        <p:spPr>
          <a:xfrm>
            <a:off x="8443148" y="5754439"/>
            <a:ext cx="7294359" cy="370507"/>
          </a:xfrm>
          <a:prstGeom prst="rect">
            <a:avLst/>
          </a:prstGeom>
          <a:noFill/>
          <a:ln/>
        </p:spPr>
        <p:txBody>
          <a:bodyPr wrap="square" lIns="0" tIns="0" rIns="0" bIns="0" rtlCol="0" anchor="ctr"/>
          <a:lstStyle/>
          <a:p>
            <a:pPr>
              <a:lnSpc>
                <a:spcPct val="110000"/>
              </a:lnSpc>
            </a:pPr>
            <a:r>
              <a:rPr lang="en-US" sz="2188" b="1" dirty="0">
                <a:solidFill>
                  <a:srgbClr val="4C7E9A"/>
                </a:solidFill>
                <a:latin typeface="MiSans" pitchFamily="34" charset="0"/>
                <a:ea typeface="MiSans" pitchFamily="34" charset="-122"/>
                <a:cs typeface="MiSans" pitchFamily="34" charset="-120"/>
              </a:rPr>
              <a:t>关键设计原则</a:t>
            </a:r>
            <a:endParaRPr lang="en-US" sz="1600" dirty="0"/>
          </a:p>
        </p:txBody>
      </p:sp>
      <p:sp>
        <p:nvSpPr>
          <p:cNvPr id="29" name="Shape 26"/>
          <p:cNvSpPr/>
          <p:nvPr/>
        </p:nvSpPr>
        <p:spPr>
          <a:xfrm>
            <a:off x="8472094" y="6310199"/>
            <a:ext cx="231567" cy="231567"/>
          </a:xfrm>
          <a:custGeom>
            <a:avLst/>
            <a:gdLst/>
            <a:ahLst/>
            <a:cxnLst/>
            <a:rect l="l" t="t" r="r" b="b"/>
            <a:pathLst>
              <a:path w="231567" h="231567">
                <a:moveTo>
                  <a:pt x="182630" y="15558"/>
                </a:moveTo>
                <a:cubicBezTo>
                  <a:pt x="188058" y="13297"/>
                  <a:pt x="194254" y="14563"/>
                  <a:pt x="198415" y="18679"/>
                </a:cubicBezTo>
                <a:lnTo>
                  <a:pt x="227361" y="47625"/>
                </a:lnTo>
                <a:cubicBezTo>
                  <a:pt x="230074" y="50339"/>
                  <a:pt x="231612" y="54002"/>
                  <a:pt x="231612" y="57847"/>
                </a:cubicBezTo>
                <a:cubicBezTo>
                  <a:pt x="231612" y="61691"/>
                  <a:pt x="230074" y="65354"/>
                  <a:pt x="227361" y="68068"/>
                </a:cubicBezTo>
                <a:lnTo>
                  <a:pt x="198415" y="97014"/>
                </a:lnTo>
                <a:cubicBezTo>
                  <a:pt x="194254" y="101175"/>
                  <a:pt x="188058" y="102396"/>
                  <a:pt x="182630" y="100135"/>
                </a:cubicBezTo>
                <a:cubicBezTo>
                  <a:pt x="177203" y="97873"/>
                  <a:pt x="173675" y="92672"/>
                  <a:pt x="173675" y="86838"/>
                </a:cubicBezTo>
                <a:lnTo>
                  <a:pt x="173675" y="72365"/>
                </a:lnTo>
                <a:lnTo>
                  <a:pt x="159202" y="72365"/>
                </a:lnTo>
                <a:cubicBezTo>
                  <a:pt x="154634" y="72365"/>
                  <a:pt x="150338" y="74490"/>
                  <a:pt x="147624" y="78154"/>
                </a:cubicBezTo>
                <a:lnTo>
                  <a:pt x="132970" y="97692"/>
                </a:lnTo>
                <a:lnTo>
                  <a:pt x="114879" y="73586"/>
                </a:lnTo>
                <a:lnTo>
                  <a:pt x="124467" y="60786"/>
                </a:lnTo>
                <a:cubicBezTo>
                  <a:pt x="132653" y="49841"/>
                  <a:pt x="145543" y="43419"/>
                  <a:pt x="159202" y="43419"/>
                </a:cubicBezTo>
                <a:lnTo>
                  <a:pt x="173675" y="43419"/>
                </a:lnTo>
                <a:lnTo>
                  <a:pt x="173675" y="28946"/>
                </a:lnTo>
                <a:cubicBezTo>
                  <a:pt x="173675" y="23111"/>
                  <a:pt x="177203" y="17820"/>
                  <a:pt x="182630" y="15558"/>
                </a:cubicBezTo>
                <a:close/>
                <a:moveTo>
                  <a:pt x="69651" y="133875"/>
                </a:moveTo>
                <a:lnTo>
                  <a:pt x="87742" y="157981"/>
                </a:lnTo>
                <a:lnTo>
                  <a:pt x="78154" y="170781"/>
                </a:lnTo>
                <a:cubicBezTo>
                  <a:pt x="69968" y="181726"/>
                  <a:pt x="57078" y="188148"/>
                  <a:pt x="43419" y="188148"/>
                </a:cubicBezTo>
                <a:lnTo>
                  <a:pt x="14473" y="188148"/>
                </a:lnTo>
                <a:cubicBezTo>
                  <a:pt x="6468" y="188148"/>
                  <a:pt x="0" y="181681"/>
                  <a:pt x="0" y="173675"/>
                </a:cubicBezTo>
                <a:cubicBezTo>
                  <a:pt x="0" y="165670"/>
                  <a:pt x="6468" y="159202"/>
                  <a:pt x="14473" y="159202"/>
                </a:cubicBezTo>
                <a:lnTo>
                  <a:pt x="43419" y="159202"/>
                </a:lnTo>
                <a:cubicBezTo>
                  <a:pt x="47987" y="159202"/>
                  <a:pt x="52283" y="157077"/>
                  <a:pt x="54997" y="153413"/>
                </a:cubicBezTo>
                <a:lnTo>
                  <a:pt x="69651" y="133875"/>
                </a:lnTo>
                <a:close/>
                <a:moveTo>
                  <a:pt x="198370" y="212843"/>
                </a:moveTo>
                <a:cubicBezTo>
                  <a:pt x="194209" y="217004"/>
                  <a:pt x="188012" y="218225"/>
                  <a:pt x="182585" y="215963"/>
                </a:cubicBezTo>
                <a:cubicBezTo>
                  <a:pt x="177158" y="213702"/>
                  <a:pt x="173675" y="208455"/>
                  <a:pt x="173675" y="202621"/>
                </a:cubicBezTo>
                <a:lnTo>
                  <a:pt x="173675" y="188148"/>
                </a:lnTo>
                <a:lnTo>
                  <a:pt x="159202" y="188148"/>
                </a:lnTo>
                <a:cubicBezTo>
                  <a:pt x="145543" y="188148"/>
                  <a:pt x="132653" y="181726"/>
                  <a:pt x="124467" y="170781"/>
                </a:cubicBezTo>
                <a:lnTo>
                  <a:pt x="54997" y="78154"/>
                </a:lnTo>
                <a:cubicBezTo>
                  <a:pt x="52283" y="74490"/>
                  <a:pt x="47987" y="72365"/>
                  <a:pt x="43419" y="72365"/>
                </a:cubicBezTo>
                <a:lnTo>
                  <a:pt x="14473" y="72365"/>
                </a:lnTo>
                <a:cubicBezTo>
                  <a:pt x="6468" y="72365"/>
                  <a:pt x="0" y="65897"/>
                  <a:pt x="0" y="57892"/>
                </a:cubicBezTo>
                <a:cubicBezTo>
                  <a:pt x="0" y="49886"/>
                  <a:pt x="6468" y="43419"/>
                  <a:pt x="14473" y="43419"/>
                </a:cubicBezTo>
                <a:lnTo>
                  <a:pt x="43419" y="43419"/>
                </a:lnTo>
                <a:cubicBezTo>
                  <a:pt x="57078" y="43419"/>
                  <a:pt x="69968" y="49841"/>
                  <a:pt x="78154" y="60786"/>
                </a:cubicBezTo>
                <a:lnTo>
                  <a:pt x="147624" y="153413"/>
                </a:lnTo>
                <a:cubicBezTo>
                  <a:pt x="150338" y="157077"/>
                  <a:pt x="154634" y="159202"/>
                  <a:pt x="159202" y="159202"/>
                </a:cubicBezTo>
                <a:lnTo>
                  <a:pt x="173675" y="159202"/>
                </a:lnTo>
                <a:lnTo>
                  <a:pt x="173675" y="144729"/>
                </a:lnTo>
                <a:cubicBezTo>
                  <a:pt x="173675" y="138895"/>
                  <a:pt x="177203" y="133603"/>
                  <a:pt x="182630" y="131342"/>
                </a:cubicBezTo>
                <a:cubicBezTo>
                  <a:pt x="188058" y="129080"/>
                  <a:pt x="194254" y="130347"/>
                  <a:pt x="198415" y="134463"/>
                </a:cubicBezTo>
                <a:lnTo>
                  <a:pt x="227361" y="163408"/>
                </a:lnTo>
                <a:cubicBezTo>
                  <a:pt x="230074" y="166122"/>
                  <a:pt x="231612" y="169786"/>
                  <a:pt x="231612" y="173630"/>
                </a:cubicBezTo>
                <a:cubicBezTo>
                  <a:pt x="231612" y="177474"/>
                  <a:pt x="230074" y="181138"/>
                  <a:pt x="227361" y="183851"/>
                </a:cubicBezTo>
                <a:lnTo>
                  <a:pt x="198415" y="212797"/>
                </a:lnTo>
                <a:close/>
              </a:path>
            </a:pathLst>
          </a:custGeom>
          <a:solidFill>
            <a:srgbClr val="4C7E9A"/>
          </a:solidFill>
          <a:ln/>
        </p:spPr>
      </p:sp>
      <p:sp>
        <p:nvSpPr>
          <p:cNvPr id="30" name="Text 27"/>
          <p:cNvSpPr/>
          <p:nvPr/>
        </p:nvSpPr>
        <p:spPr>
          <a:xfrm>
            <a:off x="8871547" y="6263886"/>
            <a:ext cx="3832433"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多样性</a:t>
            </a:r>
            <a:endParaRPr lang="en-US" sz="1600" dirty="0"/>
          </a:p>
        </p:txBody>
      </p:sp>
      <p:sp>
        <p:nvSpPr>
          <p:cNvPr id="31" name="Text 28"/>
          <p:cNvSpPr/>
          <p:nvPr/>
        </p:nvSpPr>
        <p:spPr>
          <a:xfrm>
            <a:off x="8871547" y="6588080"/>
            <a:ext cx="3809276" cy="231567"/>
          </a:xfrm>
          <a:prstGeom prst="rect">
            <a:avLst/>
          </a:prstGeom>
          <a:noFill/>
          <a:ln/>
        </p:spPr>
        <p:txBody>
          <a:bodyPr wrap="square" lIns="0" tIns="0" rIns="0" bIns="0" rtlCol="0" anchor="ctr"/>
          <a:lstStyle/>
          <a:p>
            <a:pPr>
              <a:lnSpc>
                <a:spcPct val="120000"/>
              </a:lnSpc>
            </a:pPr>
            <a:r>
              <a:rPr lang="en-US" sz="1276" dirty="0">
                <a:solidFill>
                  <a:srgbClr val="7E9AA8"/>
                </a:solidFill>
                <a:latin typeface="MiSans" pitchFamily="34" charset="0"/>
                <a:ea typeface="MiSans" pitchFamily="34" charset="-122"/>
                <a:cs typeface="MiSans" pitchFamily="34" charset="-120"/>
              </a:rPr>
              <a:t>基学习器必须是异构的，使用不同的算法或特征子集</a:t>
            </a:r>
            <a:endParaRPr lang="en-US" sz="1600" dirty="0"/>
          </a:p>
        </p:txBody>
      </p:sp>
      <p:sp>
        <p:nvSpPr>
          <p:cNvPr id="32" name="Shape 29"/>
          <p:cNvSpPr/>
          <p:nvPr/>
        </p:nvSpPr>
        <p:spPr>
          <a:xfrm>
            <a:off x="8443148" y="6958587"/>
            <a:ext cx="289459" cy="231567"/>
          </a:xfrm>
          <a:custGeom>
            <a:avLst/>
            <a:gdLst/>
            <a:ahLst/>
            <a:cxnLst/>
            <a:rect l="l" t="t" r="r" b="b"/>
            <a:pathLst>
              <a:path w="289459" h="231567">
                <a:moveTo>
                  <a:pt x="173675" y="14473"/>
                </a:moveTo>
                <a:lnTo>
                  <a:pt x="231567" y="14473"/>
                </a:lnTo>
                <a:cubicBezTo>
                  <a:pt x="239572" y="14473"/>
                  <a:pt x="246040" y="20941"/>
                  <a:pt x="246040" y="28946"/>
                </a:cubicBezTo>
                <a:cubicBezTo>
                  <a:pt x="246040" y="36951"/>
                  <a:pt x="239572" y="43419"/>
                  <a:pt x="231567" y="43419"/>
                </a:cubicBezTo>
                <a:lnTo>
                  <a:pt x="180188" y="43419"/>
                </a:lnTo>
                <a:cubicBezTo>
                  <a:pt x="177836" y="55088"/>
                  <a:pt x="169831" y="64721"/>
                  <a:pt x="159202" y="69334"/>
                </a:cubicBezTo>
                <a:lnTo>
                  <a:pt x="159202" y="202621"/>
                </a:lnTo>
                <a:lnTo>
                  <a:pt x="231567" y="202621"/>
                </a:lnTo>
                <a:cubicBezTo>
                  <a:pt x="239572" y="202621"/>
                  <a:pt x="246040" y="209089"/>
                  <a:pt x="246040" y="217094"/>
                </a:cubicBezTo>
                <a:cubicBezTo>
                  <a:pt x="246040" y="225099"/>
                  <a:pt x="239572" y="231567"/>
                  <a:pt x="231567" y="231567"/>
                </a:cubicBezTo>
                <a:lnTo>
                  <a:pt x="57892" y="231567"/>
                </a:lnTo>
                <a:cubicBezTo>
                  <a:pt x="49886" y="231567"/>
                  <a:pt x="43419" y="225099"/>
                  <a:pt x="43419" y="217094"/>
                </a:cubicBezTo>
                <a:cubicBezTo>
                  <a:pt x="43419" y="209089"/>
                  <a:pt x="49886" y="202621"/>
                  <a:pt x="57892" y="202621"/>
                </a:cubicBezTo>
                <a:lnTo>
                  <a:pt x="130256" y="202621"/>
                </a:lnTo>
                <a:lnTo>
                  <a:pt x="130256" y="69334"/>
                </a:lnTo>
                <a:cubicBezTo>
                  <a:pt x="119628" y="64676"/>
                  <a:pt x="111623" y="55042"/>
                  <a:pt x="109271" y="43419"/>
                </a:cubicBezTo>
                <a:lnTo>
                  <a:pt x="57892" y="43419"/>
                </a:lnTo>
                <a:cubicBezTo>
                  <a:pt x="49886" y="43419"/>
                  <a:pt x="43419" y="36951"/>
                  <a:pt x="43419" y="28946"/>
                </a:cubicBezTo>
                <a:cubicBezTo>
                  <a:pt x="43419" y="20941"/>
                  <a:pt x="49886" y="14473"/>
                  <a:pt x="57892" y="14473"/>
                </a:cubicBezTo>
                <a:lnTo>
                  <a:pt x="115783" y="14473"/>
                </a:lnTo>
                <a:cubicBezTo>
                  <a:pt x="122387" y="5699"/>
                  <a:pt x="132880" y="0"/>
                  <a:pt x="144729" y="0"/>
                </a:cubicBezTo>
                <a:cubicBezTo>
                  <a:pt x="156579" y="0"/>
                  <a:pt x="167072" y="5699"/>
                  <a:pt x="173675" y="14473"/>
                </a:cubicBezTo>
                <a:close/>
                <a:moveTo>
                  <a:pt x="198822" y="144729"/>
                </a:moveTo>
                <a:lnTo>
                  <a:pt x="264312" y="144729"/>
                </a:lnTo>
                <a:lnTo>
                  <a:pt x="231567" y="88556"/>
                </a:lnTo>
                <a:lnTo>
                  <a:pt x="198822" y="144729"/>
                </a:lnTo>
                <a:close/>
                <a:moveTo>
                  <a:pt x="231567" y="188148"/>
                </a:moveTo>
                <a:cubicBezTo>
                  <a:pt x="203119" y="188148"/>
                  <a:pt x="179464" y="172771"/>
                  <a:pt x="174580" y="152463"/>
                </a:cubicBezTo>
                <a:cubicBezTo>
                  <a:pt x="173404" y="147488"/>
                  <a:pt x="175032" y="142377"/>
                  <a:pt x="177610" y="137945"/>
                </a:cubicBezTo>
                <a:lnTo>
                  <a:pt x="220667" y="64133"/>
                </a:lnTo>
                <a:cubicBezTo>
                  <a:pt x="222928" y="60244"/>
                  <a:pt x="227089" y="57892"/>
                  <a:pt x="231567" y="57892"/>
                </a:cubicBezTo>
                <a:cubicBezTo>
                  <a:pt x="236045" y="57892"/>
                  <a:pt x="240205" y="60289"/>
                  <a:pt x="242467" y="64133"/>
                </a:cubicBezTo>
                <a:lnTo>
                  <a:pt x="285524" y="137945"/>
                </a:lnTo>
                <a:cubicBezTo>
                  <a:pt x="288102" y="142377"/>
                  <a:pt x="289730" y="147488"/>
                  <a:pt x="288554" y="152463"/>
                </a:cubicBezTo>
                <a:cubicBezTo>
                  <a:pt x="283670" y="172725"/>
                  <a:pt x="260015" y="188148"/>
                  <a:pt x="231567" y="188148"/>
                </a:cubicBezTo>
                <a:close/>
                <a:moveTo>
                  <a:pt x="57349" y="88556"/>
                </a:moveTo>
                <a:lnTo>
                  <a:pt x="24604" y="144729"/>
                </a:lnTo>
                <a:lnTo>
                  <a:pt x="90139" y="144729"/>
                </a:lnTo>
                <a:lnTo>
                  <a:pt x="57349" y="88556"/>
                </a:lnTo>
                <a:close/>
                <a:moveTo>
                  <a:pt x="407" y="152463"/>
                </a:moveTo>
                <a:cubicBezTo>
                  <a:pt x="-769" y="147488"/>
                  <a:pt x="859" y="142377"/>
                  <a:pt x="3437" y="137945"/>
                </a:cubicBezTo>
                <a:lnTo>
                  <a:pt x="46494" y="64133"/>
                </a:lnTo>
                <a:cubicBezTo>
                  <a:pt x="48756" y="60244"/>
                  <a:pt x="52917" y="57892"/>
                  <a:pt x="57394" y="57892"/>
                </a:cubicBezTo>
                <a:cubicBezTo>
                  <a:pt x="61872" y="57892"/>
                  <a:pt x="66033" y="60289"/>
                  <a:pt x="68294" y="64133"/>
                </a:cubicBezTo>
                <a:lnTo>
                  <a:pt x="111351" y="137945"/>
                </a:lnTo>
                <a:cubicBezTo>
                  <a:pt x="113929" y="142377"/>
                  <a:pt x="115557" y="147488"/>
                  <a:pt x="114381" y="152463"/>
                </a:cubicBezTo>
                <a:cubicBezTo>
                  <a:pt x="109497" y="172725"/>
                  <a:pt x="85843" y="188148"/>
                  <a:pt x="57394" y="188148"/>
                </a:cubicBezTo>
                <a:cubicBezTo>
                  <a:pt x="28946" y="188148"/>
                  <a:pt x="5292" y="172771"/>
                  <a:pt x="407" y="152463"/>
                </a:cubicBezTo>
                <a:close/>
              </a:path>
            </a:pathLst>
          </a:custGeom>
          <a:solidFill>
            <a:srgbClr val="4C7E9A"/>
          </a:solidFill>
          <a:ln/>
        </p:spPr>
      </p:sp>
      <p:sp>
        <p:nvSpPr>
          <p:cNvPr id="33" name="Text 30"/>
          <p:cNvSpPr/>
          <p:nvPr/>
        </p:nvSpPr>
        <p:spPr>
          <a:xfrm>
            <a:off x="8871547" y="6912274"/>
            <a:ext cx="3994530"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互补性</a:t>
            </a:r>
            <a:endParaRPr lang="en-US" sz="1600" dirty="0"/>
          </a:p>
        </p:txBody>
      </p:sp>
      <p:sp>
        <p:nvSpPr>
          <p:cNvPr id="34" name="Text 31"/>
          <p:cNvSpPr/>
          <p:nvPr/>
        </p:nvSpPr>
        <p:spPr>
          <a:xfrm>
            <a:off x="8871547" y="7236467"/>
            <a:ext cx="3971373" cy="231567"/>
          </a:xfrm>
          <a:prstGeom prst="rect">
            <a:avLst/>
          </a:prstGeom>
          <a:noFill/>
          <a:ln/>
        </p:spPr>
        <p:txBody>
          <a:bodyPr wrap="square" lIns="0" tIns="0" rIns="0" bIns="0" rtlCol="0" anchor="ctr"/>
          <a:lstStyle/>
          <a:p>
            <a:pPr>
              <a:lnSpc>
                <a:spcPct val="120000"/>
              </a:lnSpc>
            </a:pPr>
            <a:r>
              <a:rPr lang="en-US" sz="1276" dirty="0">
                <a:solidFill>
                  <a:srgbClr val="7E9AA8"/>
                </a:solidFill>
                <a:latin typeface="MiSans" pitchFamily="34" charset="0"/>
                <a:ea typeface="MiSans" pitchFamily="34" charset="-122"/>
                <a:cs typeface="MiSans" pitchFamily="34" charset="-120"/>
              </a:rPr>
              <a:t>不同基学习器应该在不同的样本或特征子集上表现良好</a:t>
            </a:r>
            <a:endParaRPr lang="en-US" sz="1600" dirty="0"/>
          </a:p>
        </p:txBody>
      </p:sp>
      <p:sp>
        <p:nvSpPr>
          <p:cNvPr id="35" name="Shape 32"/>
          <p:cNvSpPr/>
          <p:nvPr/>
        </p:nvSpPr>
        <p:spPr>
          <a:xfrm>
            <a:off x="8486567" y="7606974"/>
            <a:ext cx="202621" cy="231567"/>
          </a:xfrm>
          <a:custGeom>
            <a:avLst/>
            <a:gdLst/>
            <a:ahLst/>
            <a:cxnLst/>
            <a:rect l="l" t="t" r="r" b="b"/>
            <a:pathLst>
              <a:path w="202621" h="231567">
                <a:moveTo>
                  <a:pt x="109135" y="-5880"/>
                </a:moveTo>
                <a:cubicBezTo>
                  <a:pt x="103979" y="-6920"/>
                  <a:pt x="98687" y="-6920"/>
                  <a:pt x="93531" y="-5880"/>
                </a:cubicBezTo>
                <a:lnTo>
                  <a:pt x="8729" y="11081"/>
                </a:lnTo>
                <a:cubicBezTo>
                  <a:pt x="3663" y="12076"/>
                  <a:pt x="0" y="16553"/>
                  <a:pt x="0" y="21709"/>
                </a:cubicBezTo>
                <a:cubicBezTo>
                  <a:pt x="0" y="26368"/>
                  <a:pt x="2940" y="30438"/>
                  <a:pt x="7236" y="31931"/>
                </a:cubicBezTo>
                <a:lnTo>
                  <a:pt x="7236" y="65128"/>
                </a:lnTo>
                <a:lnTo>
                  <a:pt x="136" y="100677"/>
                </a:lnTo>
                <a:cubicBezTo>
                  <a:pt x="45" y="101084"/>
                  <a:pt x="0" y="101537"/>
                  <a:pt x="0" y="101989"/>
                </a:cubicBezTo>
                <a:cubicBezTo>
                  <a:pt x="0" y="105607"/>
                  <a:pt x="2940" y="108592"/>
                  <a:pt x="6603" y="108592"/>
                </a:cubicBezTo>
                <a:lnTo>
                  <a:pt x="22388" y="108592"/>
                </a:lnTo>
                <a:cubicBezTo>
                  <a:pt x="26006" y="108592"/>
                  <a:pt x="28991" y="105652"/>
                  <a:pt x="28991" y="101989"/>
                </a:cubicBezTo>
                <a:cubicBezTo>
                  <a:pt x="28991" y="101537"/>
                  <a:pt x="28946" y="101130"/>
                  <a:pt x="28855" y="100677"/>
                </a:cubicBezTo>
                <a:lnTo>
                  <a:pt x="21709" y="65128"/>
                </a:lnTo>
                <a:lnTo>
                  <a:pt x="21709" y="34961"/>
                </a:lnTo>
                <a:lnTo>
                  <a:pt x="43419" y="39303"/>
                </a:lnTo>
                <a:lnTo>
                  <a:pt x="43419" y="65128"/>
                </a:lnTo>
                <a:cubicBezTo>
                  <a:pt x="43419" y="97104"/>
                  <a:pt x="69334" y="123020"/>
                  <a:pt x="101311" y="123020"/>
                </a:cubicBezTo>
                <a:cubicBezTo>
                  <a:pt x="133287" y="123020"/>
                  <a:pt x="159202" y="97104"/>
                  <a:pt x="159202" y="65128"/>
                </a:cubicBezTo>
                <a:lnTo>
                  <a:pt x="159202" y="39303"/>
                </a:lnTo>
                <a:lnTo>
                  <a:pt x="193892" y="32383"/>
                </a:lnTo>
                <a:cubicBezTo>
                  <a:pt x="198958" y="31343"/>
                  <a:pt x="202621" y="26865"/>
                  <a:pt x="202621" y="21709"/>
                </a:cubicBezTo>
                <a:cubicBezTo>
                  <a:pt x="202621" y="16553"/>
                  <a:pt x="198958" y="12076"/>
                  <a:pt x="193892" y="11081"/>
                </a:cubicBezTo>
                <a:lnTo>
                  <a:pt x="109135" y="-5880"/>
                </a:lnTo>
                <a:close/>
                <a:moveTo>
                  <a:pt x="101311" y="101311"/>
                </a:moveTo>
                <a:cubicBezTo>
                  <a:pt x="81320" y="101311"/>
                  <a:pt x="65128" y="85119"/>
                  <a:pt x="65128" y="65128"/>
                </a:cubicBezTo>
                <a:lnTo>
                  <a:pt x="137493" y="65128"/>
                </a:lnTo>
                <a:cubicBezTo>
                  <a:pt x="137493" y="85119"/>
                  <a:pt x="121301" y="101311"/>
                  <a:pt x="101311" y="101311"/>
                </a:cubicBezTo>
                <a:close/>
                <a:moveTo>
                  <a:pt x="54319" y="144775"/>
                </a:moveTo>
                <a:cubicBezTo>
                  <a:pt x="26549" y="157529"/>
                  <a:pt x="7236" y="185570"/>
                  <a:pt x="7236" y="218134"/>
                </a:cubicBezTo>
                <a:cubicBezTo>
                  <a:pt x="7236" y="225552"/>
                  <a:pt x="13252" y="231567"/>
                  <a:pt x="20669" y="231567"/>
                </a:cubicBezTo>
                <a:lnTo>
                  <a:pt x="90456" y="231567"/>
                </a:lnTo>
                <a:lnTo>
                  <a:pt x="90456" y="165534"/>
                </a:lnTo>
                <a:lnTo>
                  <a:pt x="64495" y="146086"/>
                </a:lnTo>
                <a:cubicBezTo>
                  <a:pt x="61555" y="143870"/>
                  <a:pt x="57620" y="143282"/>
                  <a:pt x="54274" y="144820"/>
                </a:cubicBezTo>
                <a:close/>
                <a:moveTo>
                  <a:pt x="112165" y="231567"/>
                </a:moveTo>
                <a:lnTo>
                  <a:pt x="181952" y="231567"/>
                </a:lnTo>
                <a:cubicBezTo>
                  <a:pt x="189369" y="231567"/>
                  <a:pt x="195385" y="225552"/>
                  <a:pt x="195385" y="218134"/>
                </a:cubicBezTo>
                <a:cubicBezTo>
                  <a:pt x="195385" y="185570"/>
                  <a:pt x="176072" y="157529"/>
                  <a:pt x="148302" y="144820"/>
                </a:cubicBezTo>
                <a:cubicBezTo>
                  <a:pt x="144955" y="143282"/>
                  <a:pt x="141021" y="143870"/>
                  <a:pt x="138081" y="146086"/>
                </a:cubicBezTo>
                <a:lnTo>
                  <a:pt x="112120" y="165534"/>
                </a:lnTo>
                <a:lnTo>
                  <a:pt x="112120" y="231567"/>
                </a:lnTo>
                <a:close/>
              </a:path>
            </a:pathLst>
          </a:custGeom>
          <a:solidFill>
            <a:srgbClr val="4C7E9A"/>
          </a:solidFill>
          <a:ln/>
        </p:spPr>
      </p:sp>
      <p:sp>
        <p:nvSpPr>
          <p:cNvPr id="36" name="Text 33"/>
          <p:cNvSpPr/>
          <p:nvPr/>
        </p:nvSpPr>
        <p:spPr>
          <a:xfrm>
            <a:off x="8871547" y="7560661"/>
            <a:ext cx="2697755"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元学习器选择</a:t>
            </a:r>
            <a:endParaRPr lang="en-US" sz="1600" dirty="0"/>
          </a:p>
        </p:txBody>
      </p:sp>
      <p:sp>
        <p:nvSpPr>
          <p:cNvPr id="37" name="Text 34"/>
          <p:cNvSpPr/>
          <p:nvPr/>
        </p:nvSpPr>
        <p:spPr>
          <a:xfrm>
            <a:off x="8871547" y="7884855"/>
            <a:ext cx="2674598" cy="231567"/>
          </a:xfrm>
          <a:prstGeom prst="rect">
            <a:avLst/>
          </a:prstGeom>
          <a:noFill/>
          <a:ln/>
        </p:spPr>
        <p:txBody>
          <a:bodyPr wrap="square" lIns="0" tIns="0" rIns="0" bIns="0" rtlCol="0" anchor="ctr"/>
          <a:lstStyle/>
          <a:p>
            <a:pPr>
              <a:lnSpc>
                <a:spcPct val="120000"/>
              </a:lnSpc>
            </a:pPr>
            <a:r>
              <a:rPr lang="en-US" sz="1276" dirty="0">
                <a:solidFill>
                  <a:srgbClr val="7E9AA8"/>
                </a:solidFill>
                <a:latin typeface="MiSans" pitchFamily="34" charset="0"/>
                <a:ea typeface="MiSans" pitchFamily="34" charset="-122"/>
                <a:cs typeface="MiSans" pitchFamily="34" charset="-120"/>
              </a:rPr>
              <a:t>通常选择简单线性模型以避免过拟合</a:t>
            </a:r>
            <a:endParaRPr lang="en-US" sz="1600" dirty="0"/>
          </a:p>
        </p:txBody>
      </p:sp>
    </p:spTree>
  </p:cSld>
  <p:clrMapOvr>
    <a:masterClrMapping/>
  </p:clrMapOvr>
  <p:transition>
    <p:fade/>
    <p:spd val="med"/>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STACKING</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交叉验证：构建无偏的元特征</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24000"/>
            <a:ext cx="7577667" cy="2656417"/>
          </a:xfrm>
          <a:custGeom>
            <a:avLst/>
            <a:gdLst/>
            <a:ahLst/>
            <a:cxnLst/>
            <a:rect l="l" t="t" r="r" b="b"/>
            <a:pathLst>
              <a:path w="7577667" h="2656417">
                <a:moveTo>
                  <a:pt x="42333" y="0"/>
                </a:moveTo>
                <a:lnTo>
                  <a:pt x="7493007" y="0"/>
                </a:lnTo>
                <a:cubicBezTo>
                  <a:pt x="7539763" y="0"/>
                  <a:pt x="7577667" y="37904"/>
                  <a:pt x="7577667" y="84660"/>
                </a:cubicBezTo>
                <a:lnTo>
                  <a:pt x="7577667" y="2571757"/>
                </a:lnTo>
                <a:cubicBezTo>
                  <a:pt x="7577667" y="2618513"/>
                  <a:pt x="7539763" y="2656417"/>
                  <a:pt x="7493007" y="2656417"/>
                </a:cubicBezTo>
                <a:lnTo>
                  <a:pt x="42333" y="2656417"/>
                </a:lnTo>
                <a:cubicBezTo>
                  <a:pt x="18953" y="2656417"/>
                  <a:pt x="0" y="2637463"/>
                  <a:pt x="0" y="2614083"/>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24000"/>
            <a:ext cx="42333" cy="2656417"/>
          </a:xfrm>
          <a:custGeom>
            <a:avLst/>
            <a:gdLst/>
            <a:ahLst/>
            <a:cxnLst/>
            <a:rect l="l" t="t" r="r" b="b"/>
            <a:pathLst>
              <a:path w="42333" h="2656417">
                <a:moveTo>
                  <a:pt x="42333" y="0"/>
                </a:moveTo>
                <a:lnTo>
                  <a:pt x="42333" y="0"/>
                </a:lnTo>
                <a:lnTo>
                  <a:pt x="42333" y="2656417"/>
                </a:lnTo>
                <a:lnTo>
                  <a:pt x="42333" y="2656417"/>
                </a:lnTo>
                <a:cubicBezTo>
                  <a:pt x="18953" y="2656417"/>
                  <a:pt x="0" y="2637463"/>
                  <a:pt x="0" y="2614083"/>
                </a:cubicBezTo>
                <a:lnTo>
                  <a:pt x="0" y="42333"/>
                </a:lnTo>
                <a:cubicBezTo>
                  <a:pt x="0" y="18953"/>
                  <a:pt x="18953" y="0"/>
                  <a:pt x="42333" y="0"/>
                </a:cubicBezTo>
                <a:close/>
              </a:path>
            </a:pathLst>
          </a:custGeom>
          <a:solidFill>
            <a:srgbClr val="4C7E9A"/>
          </a:solidFill>
          <a:ln/>
        </p:spPr>
      </p:sp>
      <p:sp>
        <p:nvSpPr>
          <p:cNvPr id="7" name="Text 5"/>
          <p:cNvSpPr/>
          <p:nvPr/>
        </p:nvSpPr>
        <p:spPr>
          <a:xfrm>
            <a:off x="635000" y="1693333"/>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关键问题：数据泄露</a:t>
            </a:r>
            <a:endParaRPr lang="en-US" sz="1600" dirty="0"/>
          </a:p>
        </p:txBody>
      </p:sp>
      <p:sp>
        <p:nvSpPr>
          <p:cNvPr id="8" name="Text 6"/>
          <p:cNvSpPr/>
          <p:nvPr/>
        </p:nvSpPr>
        <p:spPr>
          <a:xfrm>
            <a:off x="635000" y="2159000"/>
            <a:ext cx="7313083" cy="624417"/>
          </a:xfrm>
          <a:prstGeom prst="rect">
            <a:avLst/>
          </a:prstGeom>
          <a:noFill/>
          <a:ln/>
        </p:spPr>
        <p:txBody>
          <a:bodyPr wrap="square" lIns="0" tIns="0" rIns="0" bIns="0" rtlCol="0" anchor="ctr"/>
          <a:lstStyle/>
          <a:p>
            <a:pPr>
              <a:lnSpc>
                <a:spcPct val="140000"/>
              </a:lnSpc>
            </a:pPr>
            <a:r>
              <a:rPr lang="en-US" sz="1500" dirty="0">
                <a:solidFill>
                  <a:srgbClr val="D1D5DB"/>
                </a:solidFill>
                <a:latin typeface="MiSans" pitchFamily="34" charset="0"/>
                <a:ea typeface="MiSans" pitchFamily="34" charset="-122"/>
                <a:cs typeface="MiSans" pitchFamily="34" charset="-120"/>
              </a:rPr>
              <a:t>在构建元学习器的训练集时，</a:t>
            </a:r>
            <a:pPr>
              <a:lnSpc>
                <a:spcPct val="140000"/>
              </a:lnSpc>
            </a:pPr>
            <a:r>
              <a:rPr lang="en-US" sz="1500" b="1" dirty="0">
                <a:solidFill>
                  <a:srgbClr val="4C7E9A"/>
                </a:solidFill>
                <a:latin typeface="MiSans" pitchFamily="34" charset="0"/>
                <a:ea typeface="MiSans" pitchFamily="34" charset="-122"/>
                <a:cs typeface="MiSans" pitchFamily="34" charset="-120"/>
              </a:rPr>
              <a:t>不能直接使用训练集上的预测结果</a:t>
            </a:r>
            <a:pPr>
              <a:lnSpc>
                <a:spcPct val="140000"/>
              </a:lnSpc>
            </a:pPr>
            <a:r>
              <a:rPr lang="en-US" sz="1500" dirty="0">
                <a:solidFill>
                  <a:srgbClr val="D1D5DB"/>
                </a:solidFill>
                <a:latin typeface="MiSans" pitchFamily="34" charset="0"/>
                <a:ea typeface="MiSans" pitchFamily="34" charset="-122"/>
                <a:cs typeface="MiSans" pitchFamily="34" charset="-120"/>
              </a:rPr>
              <a:t>，因为这会导致严重的</a:t>
            </a:r>
            <a:pPr>
              <a:lnSpc>
                <a:spcPct val="140000"/>
              </a:lnSpc>
            </a:pPr>
            <a:r>
              <a:rPr lang="en-US" sz="1500" b="1" dirty="0">
                <a:solidFill>
                  <a:srgbClr val="4C7E9A"/>
                </a:solidFill>
                <a:latin typeface="MiSans" pitchFamily="34" charset="0"/>
                <a:ea typeface="MiSans" pitchFamily="34" charset="-122"/>
                <a:cs typeface="MiSans" pitchFamily="34" charset="-120"/>
              </a:rPr>
              <a:t>数据泄露（Data Leakage）</a:t>
            </a:r>
            <a:pPr>
              <a:lnSpc>
                <a:spcPct val="140000"/>
              </a:lnSpc>
            </a:pPr>
            <a:r>
              <a:rPr lang="en-US" sz="1500" dirty="0">
                <a:solidFill>
                  <a:srgbClr val="D1D5DB"/>
                </a:solidFill>
                <a:latin typeface="MiSans" pitchFamily="34" charset="0"/>
                <a:ea typeface="MiSans" pitchFamily="34" charset="-122"/>
                <a:cs typeface="MiSans" pitchFamily="34" charset="-120"/>
              </a:rPr>
              <a:t>。</a:t>
            </a:r>
            <a:endParaRPr lang="en-US" sz="1600" dirty="0"/>
          </a:p>
        </p:txBody>
      </p:sp>
      <p:sp>
        <p:nvSpPr>
          <p:cNvPr id="9" name="Shape 7"/>
          <p:cNvSpPr/>
          <p:nvPr/>
        </p:nvSpPr>
        <p:spPr>
          <a:xfrm>
            <a:off x="635000" y="2905125"/>
            <a:ext cx="7217833" cy="1100667"/>
          </a:xfrm>
          <a:custGeom>
            <a:avLst/>
            <a:gdLst/>
            <a:ahLst/>
            <a:cxnLst/>
            <a:rect l="l" t="t" r="r" b="b"/>
            <a:pathLst>
              <a:path w="7217833" h="1100667">
                <a:moveTo>
                  <a:pt x="84663" y="0"/>
                </a:moveTo>
                <a:lnTo>
                  <a:pt x="7133170" y="0"/>
                </a:lnTo>
                <a:cubicBezTo>
                  <a:pt x="7179928" y="0"/>
                  <a:pt x="7217833" y="37905"/>
                  <a:pt x="7217833" y="84663"/>
                </a:cubicBezTo>
                <a:lnTo>
                  <a:pt x="7217833" y="1016003"/>
                </a:lnTo>
                <a:cubicBezTo>
                  <a:pt x="7217833" y="1062762"/>
                  <a:pt x="7179928" y="1100667"/>
                  <a:pt x="7133170" y="1100667"/>
                </a:cubicBezTo>
                <a:lnTo>
                  <a:pt x="84663" y="1100667"/>
                </a:lnTo>
                <a:cubicBezTo>
                  <a:pt x="37905" y="1100667"/>
                  <a:pt x="0" y="1062762"/>
                  <a:pt x="0" y="1016003"/>
                </a:cubicBezTo>
                <a:lnTo>
                  <a:pt x="0" y="84663"/>
                </a:lnTo>
                <a:cubicBezTo>
                  <a:pt x="0" y="37936"/>
                  <a:pt x="37936" y="0"/>
                  <a:pt x="84663" y="0"/>
                </a:cubicBezTo>
                <a:close/>
              </a:path>
            </a:pathLst>
          </a:custGeom>
          <a:solidFill>
            <a:srgbClr val="181A1F">
              <a:alpha val="50196"/>
            </a:srgbClr>
          </a:solidFill>
          <a:ln/>
        </p:spPr>
      </p:sp>
      <p:sp>
        <p:nvSpPr>
          <p:cNvPr id="10" name="Text 8"/>
          <p:cNvSpPr/>
          <p:nvPr/>
        </p:nvSpPr>
        <p:spPr>
          <a:xfrm>
            <a:off x="762000" y="3032125"/>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为什么？</a:t>
            </a:r>
            <a:endParaRPr lang="en-US" sz="1600" dirty="0"/>
          </a:p>
        </p:txBody>
      </p:sp>
      <p:sp>
        <p:nvSpPr>
          <p:cNvPr id="11" name="Text 9"/>
          <p:cNvSpPr/>
          <p:nvPr/>
        </p:nvSpPr>
        <p:spPr>
          <a:xfrm>
            <a:off x="762000" y="3370792"/>
            <a:ext cx="7048500" cy="508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基学习器在训练集上通常表现过好（过拟合），直接使用这些预测结果会高估模型性能，导致元学习器学到虚假的映射关系。</a:t>
            </a:r>
            <a:endParaRPr lang="en-US" sz="1600" dirty="0"/>
          </a:p>
        </p:txBody>
      </p:sp>
      <p:sp>
        <p:nvSpPr>
          <p:cNvPr id="12" name="Shape 10"/>
          <p:cNvSpPr/>
          <p:nvPr/>
        </p:nvSpPr>
        <p:spPr>
          <a:xfrm>
            <a:off x="444500" y="4344458"/>
            <a:ext cx="7577667" cy="3524250"/>
          </a:xfrm>
          <a:custGeom>
            <a:avLst/>
            <a:gdLst/>
            <a:ahLst/>
            <a:cxnLst/>
            <a:rect l="l" t="t" r="r" b="b"/>
            <a:pathLst>
              <a:path w="7577667" h="3524250">
                <a:moveTo>
                  <a:pt x="42333" y="0"/>
                </a:moveTo>
                <a:lnTo>
                  <a:pt x="7493014" y="0"/>
                </a:lnTo>
                <a:cubicBezTo>
                  <a:pt x="7539766" y="0"/>
                  <a:pt x="7577667" y="37900"/>
                  <a:pt x="7577667" y="84652"/>
                </a:cubicBezTo>
                <a:lnTo>
                  <a:pt x="7577667" y="3439598"/>
                </a:lnTo>
                <a:cubicBezTo>
                  <a:pt x="7577667" y="3486350"/>
                  <a:pt x="7539766" y="3524250"/>
                  <a:pt x="7493014" y="3524250"/>
                </a:cubicBezTo>
                <a:lnTo>
                  <a:pt x="42333" y="3524250"/>
                </a:lnTo>
                <a:cubicBezTo>
                  <a:pt x="18953" y="3524250"/>
                  <a:pt x="0" y="3505297"/>
                  <a:pt x="0" y="3481917"/>
                </a:cubicBezTo>
                <a:lnTo>
                  <a:pt x="0" y="42333"/>
                </a:lnTo>
                <a:cubicBezTo>
                  <a:pt x="0" y="18953"/>
                  <a:pt x="18953" y="0"/>
                  <a:pt x="42333" y="0"/>
                </a:cubicBezTo>
                <a:close/>
              </a:path>
            </a:pathLst>
          </a:custGeom>
          <a:solidFill>
            <a:srgbClr val="3A5E78">
              <a:alpha val="20000"/>
            </a:srgbClr>
          </a:solidFill>
          <a:ln/>
        </p:spPr>
      </p:sp>
      <p:sp>
        <p:nvSpPr>
          <p:cNvPr id="13" name="Shape 11"/>
          <p:cNvSpPr/>
          <p:nvPr/>
        </p:nvSpPr>
        <p:spPr>
          <a:xfrm>
            <a:off x="444500" y="4344458"/>
            <a:ext cx="42333" cy="3524250"/>
          </a:xfrm>
          <a:custGeom>
            <a:avLst/>
            <a:gdLst/>
            <a:ahLst/>
            <a:cxnLst/>
            <a:rect l="l" t="t" r="r" b="b"/>
            <a:pathLst>
              <a:path w="42333" h="3524250">
                <a:moveTo>
                  <a:pt x="42333" y="0"/>
                </a:moveTo>
                <a:lnTo>
                  <a:pt x="42333" y="0"/>
                </a:lnTo>
                <a:lnTo>
                  <a:pt x="42333" y="3524250"/>
                </a:lnTo>
                <a:lnTo>
                  <a:pt x="42333" y="3524250"/>
                </a:lnTo>
                <a:cubicBezTo>
                  <a:pt x="18953" y="3524250"/>
                  <a:pt x="0" y="3505297"/>
                  <a:pt x="0" y="3481917"/>
                </a:cubicBezTo>
                <a:lnTo>
                  <a:pt x="0" y="42333"/>
                </a:lnTo>
                <a:cubicBezTo>
                  <a:pt x="0" y="18953"/>
                  <a:pt x="18953" y="0"/>
                  <a:pt x="42333" y="0"/>
                </a:cubicBezTo>
                <a:close/>
              </a:path>
            </a:pathLst>
          </a:custGeom>
          <a:solidFill>
            <a:srgbClr val="7E9AA8"/>
          </a:solidFill>
          <a:ln/>
        </p:spPr>
      </p:sp>
      <p:sp>
        <p:nvSpPr>
          <p:cNvPr id="14" name="Text 12"/>
          <p:cNvSpPr/>
          <p:nvPr/>
        </p:nvSpPr>
        <p:spPr>
          <a:xfrm>
            <a:off x="635000" y="4513792"/>
            <a:ext cx="7344833"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解决方案：K折交叉验证</a:t>
            </a:r>
            <a:endParaRPr lang="en-US" sz="1600" dirty="0"/>
          </a:p>
        </p:txBody>
      </p:sp>
      <p:sp>
        <p:nvSpPr>
          <p:cNvPr id="15" name="Text 13"/>
          <p:cNvSpPr/>
          <p:nvPr/>
        </p:nvSpPr>
        <p:spPr>
          <a:xfrm>
            <a:off x="635000" y="4979458"/>
            <a:ext cx="7313083" cy="306917"/>
          </a:xfrm>
          <a:prstGeom prst="rect">
            <a:avLst/>
          </a:prstGeom>
          <a:noFill/>
          <a:ln/>
        </p:spPr>
        <p:txBody>
          <a:bodyPr wrap="square" lIns="0" tIns="0" rIns="0" bIns="0" rtlCol="0" anchor="ctr"/>
          <a:lstStyle/>
          <a:p>
            <a:pPr>
              <a:lnSpc>
                <a:spcPct val="140000"/>
              </a:lnSpc>
            </a:pPr>
            <a:r>
              <a:rPr lang="en-US" sz="1500" dirty="0">
                <a:solidFill>
                  <a:srgbClr val="D1D5DB"/>
                </a:solidFill>
                <a:latin typeface="MiSans" pitchFamily="34" charset="0"/>
                <a:ea typeface="MiSans" pitchFamily="34" charset="-122"/>
                <a:cs typeface="MiSans" pitchFamily="34" charset="-120"/>
              </a:rPr>
              <a:t>为了获得</a:t>
            </a:r>
            <a:pPr>
              <a:lnSpc>
                <a:spcPct val="140000"/>
              </a:lnSpc>
            </a:pPr>
            <a:r>
              <a:rPr lang="en-US" sz="1500" b="1" dirty="0">
                <a:solidFill>
                  <a:srgbClr val="4C7E9A"/>
                </a:solidFill>
                <a:latin typeface="MiSans" pitchFamily="34" charset="0"/>
                <a:ea typeface="MiSans" pitchFamily="34" charset="-122"/>
                <a:cs typeface="MiSans" pitchFamily="34" charset="-120"/>
              </a:rPr>
              <a:t>"干净"</a:t>
            </a:r>
            <a:pPr>
              <a:lnSpc>
                <a:spcPct val="140000"/>
              </a:lnSpc>
            </a:pPr>
            <a:r>
              <a:rPr lang="en-US" sz="1500" dirty="0">
                <a:solidFill>
                  <a:srgbClr val="D1D5DB"/>
                </a:solidFill>
                <a:latin typeface="MiSans" pitchFamily="34" charset="0"/>
                <a:ea typeface="MiSans" pitchFamily="34" charset="-122"/>
                <a:cs typeface="MiSans" pitchFamily="34" charset="-120"/>
              </a:rPr>
              <a:t>的预测特征，必须严格采用</a:t>
            </a:r>
            <a:pPr>
              <a:lnSpc>
                <a:spcPct val="140000"/>
              </a:lnSpc>
            </a:pPr>
            <a:r>
              <a:rPr lang="en-US" sz="1500" b="1" dirty="0">
                <a:solidFill>
                  <a:srgbClr val="4C7E9A"/>
                </a:solidFill>
                <a:latin typeface="MiSans" pitchFamily="34" charset="0"/>
                <a:ea typeface="MiSans" pitchFamily="34" charset="-122"/>
                <a:cs typeface="MiSans" pitchFamily="34" charset="-120"/>
              </a:rPr>
              <a:t>K折交叉验证（K-Fold CV）</a:t>
            </a:r>
            <a:pPr>
              <a:lnSpc>
                <a:spcPct val="140000"/>
              </a:lnSpc>
            </a:pPr>
            <a:r>
              <a:rPr lang="en-US" sz="1500" dirty="0">
                <a:solidFill>
                  <a:srgbClr val="D1D5DB"/>
                </a:solidFill>
                <a:latin typeface="MiSans" pitchFamily="34" charset="0"/>
                <a:ea typeface="MiSans" pitchFamily="34" charset="-122"/>
                <a:cs typeface="MiSans" pitchFamily="34" charset="-120"/>
              </a:rPr>
              <a:t>策略：</a:t>
            </a:r>
            <a:endParaRPr lang="en-US" sz="1600" dirty="0"/>
          </a:p>
        </p:txBody>
      </p:sp>
      <p:sp>
        <p:nvSpPr>
          <p:cNvPr id="16" name="Shape 14"/>
          <p:cNvSpPr/>
          <p:nvPr/>
        </p:nvSpPr>
        <p:spPr>
          <a:xfrm>
            <a:off x="635000" y="5416021"/>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17" name="Text 15"/>
          <p:cNvSpPr/>
          <p:nvPr/>
        </p:nvSpPr>
        <p:spPr>
          <a:xfrm>
            <a:off x="592667" y="5416021"/>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1</a:t>
            </a:r>
            <a:endParaRPr lang="en-US" sz="1600" dirty="0"/>
          </a:p>
        </p:txBody>
      </p:sp>
      <p:sp>
        <p:nvSpPr>
          <p:cNvPr id="18" name="Text 16"/>
          <p:cNvSpPr/>
          <p:nvPr/>
        </p:nvSpPr>
        <p:spPr>
          <a:xfrm>
            <a:off x="1100667" y="5416021"/>
            <a:ext cx="209550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划分数据</a:t>
            </a:r>
            <a:endParaRPr lang="en-US" sz="1600" dirty="0"/>
          </a:p>
        </p:txBody>
      </p:sp>
      <p:sp>
        <p:nvSpPr>
          <p:cNvPr id="19" name="Text 17"/>
          <p:cNvSpPr/>
          <p:nvPr/>
        </p:nvSpPr>
        <p:spPr>
          <a:xfrm>
            <a:off x="1100667" y="5712354"/>
            <a:ext cx="207433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将训练集分为K份（例如K=5）</a:t>
            </a:r>
            <a:endParaRPr lang="en-US" sz="1600" dirty="0"/>
          </a:p>
        </p:txBody>
      </p:sp>
      <p:sp>
        <p:nvSpPr>
          <p:cNvPr id="20" name="Shape 18"/>
          <p:cNvSpPr/>
          <p:nvPr/>
        </p:nvSpPr>
        <p:spPr>
          <a:xfrm>
            <a:off x="635000" y="6008688"/>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21" name="Text 19"/>
          <p:cNvSpPr/>
          <p:nvPr/>
        </p:nvSpPr>
        <p:spPr>
          <a:xfrm>
            <a:off x="592667" y="6008688"/>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2</a:t>
            </a:r>
            <a:endParaRPr lang="en-US" sz="1600" dirty="0"/>
          </a:p>
        </p:txBody>
      </p:sp>
      <p:sp>
        <p:nvSpPr>
          <p:cNvPr id="22" name="Text 20"/>
          <p:cNvSpPr/>
          <p:nvPr/>
        </p:nvSpPr>
        <p:spPr>
          <a:xfrm>
            <a:off x="1100667" y="6008688"/>
            <a:ext cx="22965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循环预测</a:t>
            </a:r>
            <a:endParaRPr lang="en-US" sz="1600" dirty="0"/>
          </a:p>
        </p:txBody>
      </p:sp>
      <p:sp>
        <p:nvSpPr>
          <p:cNvPr id="23" name="Text 21"/>
          <p:cNvSpPr/>
          <p:nvPr/>
        </p:nvSpPr>
        <p:spPr>
          <a:xfrm>
            <a:off x="1100667" y="6305021"/>
            <a:ext cx="22754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每次取K-1份训练，预测剩下的1份</a:t>
            </a:r>
            <a:endParaRPr lang="en-US" sz="1600" dirty="0"/>
          </a:p>
        </p:txBody>
      </p:sp>
      <p:sp>
        <p:nvSpPr>
          <p:cNvPr id="24" name="Shape 22"/>
          <p:cNvSpPr/>
          <p:nvPr/>
        </p:nvSpPr>
        <p:spPr>
          <a:xfrm>
            <a:off x="635000" y="6601354"/>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25" name="Text 23"/>
          <p:cNvSpPr/>
          <p:nvPr/>
        </p:nvSpPr>
        <p:spPr>
          <a:xfrm>
            <a:off x="592667" y="6601354"/>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3</a:t>
            </a:r>
            <a:endParaRPr lang="en-US" sz="1600" dirty="0"/>
          </a:p>
        </p:txBody>
      </p:sp>
      <p:sp>
        <p:nvSpPr>
          <p:cNvPr id="26" name="Text 24"/>
          <p:cNvSpPr/>
          <p:nvPr/>
        </p:nvSpPr>
        <p:spPr>
          <a:xfrm>
            <a:off x="1100667" y="6601354"/>
            <a:ext cx="2561167"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拼接特征</a:t>
            </a:r>
            <a:endParaRPr lang="en-US" sz="1600" dirty="0"/>
          </a:p>
        </p:txBody>
      </p:sp>
      <p:sp>
        <p:nvSpPr>
          <p:cNvPr id="27" name="Text 25"/>
          <p:cNvSpPr/>
          <p:nvPr/>
        </p:nvSpPr>
        <p:spPr>
          <a:xfrm>
            <a:off x="1100667" y="6897688"/>
            <a:ext cx="254000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将K次预测结果拼接，形成元特征矩阵</a:t>
            </a:r>
            <a:endParaRPr lang="en-US" sz="1600" dirty="0"/>
          </a:p>
        </p:txBody>
      </p:sp>
      <p:sp>
        <p:nvSpPr>
          <p:cNvPr id="28" name="Shape 26"/>
          <p:cNvSpPr/>
          <p:nvPr/>
        </p:nvSpPr>
        <p:spPr>
          <a:xfrm>
            <a:off x="635000" y="7194021"/>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29" name="Text 27"/>
          <p:cNvSpPr/>
          <p:nvPr/>
        </p:nvSpPr>
        <p:spPr>
          <a:xfrm>
            <a:off x="592667" y="7194021"/>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4</a:t>
            </a:r>
            <a:endParaRPr lang="en-US" sz="1600" dirty="0"/>
          </a:p>
        </p:txBody>
      </p:sp>
      <p:sp>
        <p:nvSpPr>
          <p:cNvPr id="30" name="Text 28"/>
          <p:cNvSpPr/>
          <p:nvPr/>
        </p:nvSpPr>
        <p:spPr>
          <a:xfrm>
            <a:off x="1100667" y="7194021"/>
            <a:ext cx="23177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训练元模型</a:t>
            </a:r>
            <a:endParaRPr lang="en-US" sz="1600" dirty="0"/>
          </a:p>
        </p:txBody>
      </p:sp>
      <p:sp>
        <p:nvSpPr>
          <p:cNvPr id="31" name="Text 29"/>
          <p:cNvSpPr/>
          <p:nvPr/>
        </p:nvSpPr>
        <p:spPr>
          <a:xfrm>
            <a:off x="1100667" y="7490354"/>
            <a:ext cx="2296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使用元特征训练第二级的元学习器</a:t>
            </a:r>
            <a:endParaRPr lang="en-US" sz="1600" dirty="0"/>
          </a:p>
        </p:txBody>
      </p:sp>
      <p:pic>
        <p:nvPicPr>
          <p:cNvPr id="32" name="Image 0" descr="https://kimi-img.moonshot.cn/pub/slides/26-01-07-11:57:46-d5etjemqvl72ke3a7eog.png">    </p:cNvPr>
          <p:cNvPicPr>
            <a:picLocks noChangeAspect="1"/>
          </p:cNvPicPr>
          <p:nvPr/>
        </p:nvPicPr>
        <p:blipFill>
          <a:blip r:embed="rId1"/>
          <a:srcRect l="0" r="0" t="0" b="0"/>
          <a:stretch/>
        </p:blipFill>
        <p:spPr>
          <a:xfrm>
            <a:off x="8233833" y="1524000"/>
            <a:ext cx="6244167" cy="4233333"/>
          </a:xfrm>
          <a:prstGeom prst="roundRect">
            <a:avLst>
              <a:gd name="adj" fmla="val 0"/>
            </a:avLst>
          </a:prstGeom>
        </p:spPr>
      </p:pic>
      <p:sp>
        <p:nvSpPr>
          <p:cNvPr id="33" name="Shape 30"/>
          <p:cNvSpPr/>
          <p:nvPr/>
        </p:nvSpPr>
        <p:spPr>
          <a:xfrm>
            <a:off x="8239125" y="5931958"/>
            <a:ext cx="7588250" cy="2254250"/>
          </a:xfrm>
          <a:custGeom>
            <a:avLst/>
            <a:gdLst/>
            <a:ahLst/>
            <a:cxnLst/>
            <a:rect l="l" t="t" r="r" b="b"/>
            <a:pathLst>
              <a:path w="7588250" h="2254250">
                <a:moveTo>
                  <a:pt x="84670" y="0"/>
                </a:moveTo>
                <a:lnTo>
                  <a:pt x="7503580" y="0"/>
                </a:lnTo>
                <a:cubicBezTo>
                  <a:pt x="7550342" y="0"/>
                  <a:pt x="7588250" y="37908"/>
                  <a:pt x="7588250" y="84670"/>
                </a:cubicBezTo>
                <a:lnTo>
                  <a:pt x="7588250" y="2169580"/>
                </a:lnTo>
                <a:cubicBezTo>
                  <a:pt x="7588250" y="2216342"/>
                  <a:pt x="7550342" y="2254250"/>
                  <a:pt x="7503580" y="2254250"/>
                </a:cubicBezTo>
                <a:lnTo>
                  <a:pt x="84670" y="2254250"/>
                </a:lnTo>
                <a:cubicBezTo>
                  <a:pt x="37908" y="2254250"/>
                  <a:pt x="0" y="2216342"/>
                  <a:pt x="0" y="2169580"/>
                </a:cubicBezTo>
                <a:lnTo>
                  <a:pt x="0" y="84670"/>
                </a:lnTo>
                <a:cubicBezTo>
                  <a:pt x="0" y="37939"/>
                  <a:pt x="37939" y="0"/>
                  <a:pt x="84670" y="0"/>
                </a:cubicBezTo>
                <a:close/>
              </a:path>
            </a:pathLst>
          </a:custGeom>
          <a:solidFill>
            <a:srgbClr val="3A5E78">
              <a:alpha val="20000"/>
            </a:srgbClr>
          </a:solidFill>
          <a:ln w="12700">
            <a:solidFill>
              <a:srgbClr val="4C7E9A">
                <a:alpha val="50196"/>
              </a:srgbClr>
            </a:solidFill>
            <a:prstDash val="solid"/>
          </a:ln>
        </p:spPr>
      </p:sp>
      <p:sp>
        <p:nvSpPr>
          <p:cNvPr id="34" name="Text 31"/>
          <p:cNvSpPr/>
          <p:nvPr/>
        </p:nvSpPr>
        <p:spPr>
          <a:xfrm>
            <a:off x="8413750" y="6106583"/>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预测阶段的处理</a:t>
            </a:r>
            <a:endParaRPr lang="en-US" sz="1600" dirty="0"/>
          </a:p>
        </p:txBody>
      </p:sp>
      <p:sp>
        <p:nvSpPr>
          <p:cNvPr id="35" name="Text 32"/>
          <p:cNvSpPr/>
          <p:nvPr/>
        </p:nvSpPr>
        <p:spPr>
          <a:xfrm>
            <a:off x="8413750" y="6572250"/>
            <a:ext cx="7323667" cy="550333"/>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为了给测试集构造元特征，需要对每个基学习器在K折训练中得到的K个模型分别预测测试集，然后对这K次预测结果取平均（回归）或概率均值（分类）。</a:t>
            </a:r>
            <a:endParaRPr lang="en-US" sz="1600" dirty="0"/>
          </a:p>
        </p:txBody>
      </p:sp>
      <p:sp>
        <p:nvSpPr>
          <p:cNvPr id="36" name="Shape 33"/>
          <p:cNvSpPr/>
          <p:nvPr/>
        </p:nvSpPr>
        <p:spPr>
          <a:xfrm>
            <a:off x="8413750" y="7249583"/>
            <a:ext cx="7239000" cy="762000"/>
          </a:xfrm>
          <a:custGeom>
            <a:avLst/>
            <a:gdLst/>
            <a:ahLst/>
            <a:cxnLst/>
            <a:rect l="l" t="t" r="r" b="b"/>
            <a:pathLst>
              <a:path w="7239000" h="762000">
                <a:moveTo>
                  <a:pt x="42337" y="0"/>
                </a:moveTo>
                <a:lnTo>
                  <a:pt x="7196663" y="0"/>
                </a:lnTo>
                <a:cubicBezTo>
                  <a:pt x="7220045" y="0"/>
                  <a:pt x="7239000" y="18955"/>
                  <a:pt x="7239000" y="42337"/>
                </a:cubicBezTo>
                <a:lnTo>
                  <a:pt x="7239000" y="719663"/>
                </a:lnTo>
                <a:cubicBezTo>
                  <a:pt x="7239000" y="743045"/>
                  <a:pt x="7220045" y="762000"/>
                  <a:pt x="7196663" y="762000"/>
                </a:cubicBezTo>
                <a:lnTo>
                  <a:pt x="42337" y="762000"/>
                </a:lnTo>
                <a:cubicBezTo>
                  <a:pt x="18955" y="762000"/>
                  <a:pt x="0" y="743045"/>
                  <a:pt x="0" y="719663"/>
                </a:cubicBezTo>
                <a:lnTo>
                  <a:pt x="0" y="42337"/>
                </a:lnTo>
                <a:cubicBezTo>
                  <a:pt x="0" y="18955"/>
                  <a:pt x="18955" y="0"/>
                  <a:pt x="42337" y="0"/>
                </a:cubicBezTo>
                <a:close/>
              </a:path>
            </a:pathLst>
          </a:custGeom>
          <a:solidFill>
            <a:srgbClr val="181A1F">
              <a:alpha val="50196"/>
            </a:srgbClr>
          </a:solidFill>
          <a:ln/>
        </p:spPr>
      </p:sp>
      <p:sp>
        <p:nvSpPr>
          <p:cNvPr id="37" name="Text 34"/>
          <p:cNvSpPr/>
          <p:nvPr/>
        </p:nvSpPr>
        <p:spPr>
          <a:xfrm>
            <a:off x="8540750" y="7376583"/>
            <a:ext cx="7069667"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为什么这样做？</a:t>
            </a:r>
            <a:endParaRPr lang="en-US" sz="1600" dirty="0"/>
          </a:p>
        </p:txBody>
      </p:sp>
      <p:sp>
        <p:nvSpPr>
          <p:cNvPr id="38" name="Text 35"/>
          <p:cNvSpPr/>
          <p:nvPr/>
        </p:nvSpPr>
        <p:spPr>
          <a:xfrm>
            <a:off x="8540750" y="7672917"/>
            <a:ext cx="7059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确保测试集的元特征生成方式与训练集保持一致，避免数据泄露</a:t>
            </a:r>
            <a:endParaRPr lang="en-US" sz="1600" dirty="0"/>
          </a:p>
        </p:txBody>
      </p:sp>
      <p:sp>
        <p:nvSpPr>
          <p:cNvPr id="39" name="Shape 36"/>
          <p:cNvSpPr/>
          <p:nvPr/>
        </p:nvSpPr>
        <p:spPr>
          <a:xfrm>
            <a:off x="8239125" y="8366125"/>
            <a:ext cx="7588250" cy="772583"/>
          </a:xfrm>
          <a:custGeom>
            <a:avLst/>
            <a:gdLst/>
            <a:ahLst/>
            <a:cxnLst/>
            <a:rect l="l" t="t" r="r" b="b"/>
            <a:pathLst>
              <a:path w="7588250" h="772583">
                <a:moveTo>
                  <a:pt x="84667" y="0"/>
                </a:moveTo>
                <a:lnTo>
                  <a:pt x="7503583" y="0"/>
                </a:lnTo>
                <a:cubicBezTo>
                  <a:pt x="7550343" y="0"/>
                  <a:pt x="7588250" y="37907"/>
                  <a:pt x="7588250" y="84667"/>
                </a:cubicBezTo>
                <a:lnTo>
                  <a:pt x="7588250" y="687916"/>
                </a:lnTo>
                <a:cubicBezTo>
                  <a:pt x="7588250" y="734676"/>
                  <a:pt x="7550343" y="772583"/>
                  <a:pt x="7503583" y="772583"/>
                </a:cubicBezTo>
                <a:lnTo>
                  <a:pt x="84667" y="772583"/>
                </a:lnTo>
                <a:cubicBezTo>
                  <a:pt x="37938" y="772583"/>
                  <a:pt x="0" y="734645"/>
                  <a:pt x="0" y="687916"/>
                </a:cubicBezTo>
                <a:lnTo>
                  <a:pt x="0" y="84667"/>
                </a:lnTo>
                <a:cubicBezTo>
                  <a:pt x="0" y="37938"/>
                  <a:pt x="37938" y="0"/>
                  <a:pt x="84667" y="0"/>
                </a:cubicBezTo>
                <a:close/>
              </a:path>
            </a:pathLst>
          </a:custGeom>
          <a:solidFill>
            <a:srgbClr val="4C7E9A">
              <a:alpha val="10196"/>
            </a:srgbClr>
          </a:solidFill>
          <a:ln w="12700">
            <a:solidFill>
              <a:srgbClr val="4C7E9A">
                <a:alpha val="30196"/>
              </a:srgbClr>
            </a:solidFill>
            <a:prstDash val="solid"/>
          </a:ln>
        </p:spPr>
      </p:sp>
      <p:sp>
        <p:nvSpPr>
          <p:cNvPr id="40" name="Shape 37"/>
          <p:cNvSpPr/>
          <p:nvPr/>
        </p:nvSpPr>
        <p:spPr>
          <a:xfrm>
            <a:off x="8392583" y="8546042"/>
            <a:ext cx="169333" cy="169333"/>
          </a:xfrm>
          <a:custGeom>
            <a:avLst/>
            <a:gdLst/>
            <a:ahLst/>
            <a:cxnLst/>
            <a:rect l="l" t="t" r="r" b="b"/>
            <a:pathLst>
              <a:path w="169333" h="169333">
                <a:moveTo>
                  <a:pt x="84667" y="0"/>
                </a:moveTo>
                <a:cubicBezTo>
                  <a:pt x="89528" y="0"/>
                  <a:pt x="93993" y="2679"/>
                  <a:pt x="96308" y="6945"/>
                </a:cubicBezTo>
                <a:lnTo>
                  <a:pt x="167746" y="139237"/>
                </a:lnTo>
                <a:cubicBezTo>
                  <a:pt x="169962" y="143338"/>
                  <a:pt x="169863" y="148299"/>
                  <a:pt x="167481" y="152301"/>
                </a:cubicBezTo>
                <a:cubicBezTo>
                  <a:pt x="165100" y="156303"/>
                  <a:pt x="160767" y="158750"/>
                  <a:pt x="156104" y="158750"/>
                </a:cubicBezTo>
                <a:lnTo>
                  <a:pt x="13229" y="158750"/>
                </a:lnTo>
                <a:cubicBezTo>
                  <a:pt x="8566" y="158750"/>
                  <a:pt x="4266" y="156303"/>
                  <a:pt x="1852" y="152301"/>
                </a:cubicBezTo>
                <a:cubicBezTo>
                  <a:pt x="-562" y="148299"/>
                  <a:pt x="-628" y="143338"/>
                  <a:pt x="1588" y="139237"/>
                </a:cubicBezTo>
                <a:lnTo>
                  <a:pt x="73025" y="6945"/>
                </a:lnTo>
                <a:cubicBezTo>
                  <a:pt x="75340" y="2679"/>
                  <a:pt x="79805" y="0"/>
                  <a:pt x="84667" y="0"/>
                </a:cubicBezTo>
                <a:close/>
                <a:moveTo>
                  <a:pt x="84667" y="55563"/>
                </a:moveTo>
                <a:cubicBezTo>
                  <a:pt x="80268" y="55563"/>
                  <a:pt x="76729" y="59101"/>
                  <a:pt x="76729" y="63500"/>
                </a:cubicBezTo>
                <a:lnTo>
                  <a:pt x="76729" y="100542"/>
                </a:lnTo>
                <a:cubicBezTo>
                  <a:pt x="76729" y="104940"/>
                  <a:pt x="80268" y="108479"/>
                  <a:pt x="84667" y="108479"/>
                </a:cubicBezTo>
                <a:cubicBezTo>
                  <a:pt x="89065" y="108479"/>
                  <a:pt x="92604" y="104940"/>
                  <a:pt x="92604" y="100542"/>
                </a:cubicBezTo>
                <a:lnTo>
                  <a:pt x="92604" y="63500"/>
                </a:lnTo>
                <a:cubicBezTo>
                  <a:pt x="92604" y="59101"/>
                  <a:pt x="89065" y="55563"/>
                  <a:pt x="84667" y="55563"/>
                </a:cubicBezTo>
                <a:close/>
                <a:moveTo>
                  <a:pt x="93497" y="127000"/>
                </a:moveTo>
                <a:cubicBezTo>
                  <a:pt x="93698" y="123722"/>
                  <a:pt x="92063" y="120604"/>
                  <a:pt x="89254" y="118904"/>
                </a:cubicBezTo>
                <a:cubicBezTo>
                  <a:pt x="86444" y="117204"/>
                  <a:pt x="82923" y="117204"/>
                  <a:pt x="80113" y="118904"/>
                </a:cubicBezTo>
                <a:cubicBezTo>
                  <a:pt x="77303" y="120604"/>
                  <a:pt x="75668" y="123722"/>
                  <a:pt x="75869" y="127000"/>
                </a:cubicBezTo>
                <a:cubicBezTo>
                  <a:pt x="75668" y="130278"/>
                  <a:pt x="77303" y="133396"/>
                  <a:pt x="80113" y="135096"/>
                </a:cubicBezTo>
                <a:cubicBezTo>
                  <a:pt x="82923" y="136796"/>
                  <a:pt x="86444" y="136796"/>
                  <a:pt x="89254" y="135096"/>
                </a:cubicBezTo>
                <a:cubicBezTo>
                  <a:pt x="92063" y="133396"/>
                  <a:pt x="93698" y="130278"/>
                  <a:pt x="93497" y="127000"/>
                </a:cubicBezTo>
                <a:close/>
              </a:path>
            </a:pathLst>
          </a:custGeom>
          <a:solidFill>
            <a:srgbClr val="4C7E9A"/>
          </a:solidFill>
          <a:ln/>
        </p:spPr>
      </p:sp>
      <p:sp>
        <p:nvSpPr>
          <p:cNvPr id="41" name="Text 38"/>
          <p:cNvSpPr/>
          <p:nvPr/>
        </p:nvSpPr>
        <p:spPr>
          <a:xfrm>
            <a:off x="8653639" y="8498417"/>
            <a:ext cx="7126111" cy="508000"/>
          </a:xfrm>
          <a:prstGeom prst="rect">
            <a:avLst/>
          </a:prstGeom>
          <a:noFill/>
          <a:ln/>
        </p:spPr>
        <p:txBody>
          <a:bodyPr wrap="square" lIns="0" tIns="0" rIns="0" bIns="0" rtlCol="0" anchor="ctr"/>
          <a:lstStyle/>
          <a:p>
            <a:pPr>
              <a:lnSpc>
                <a:spcPct val="130000"/>
              </a:lnSpc>
            </a:pPr>
            <a:r>
              <a:rPr lang="en-US" sz="1333" b="1" dirty="0">
                <a:solidFill>
                  <a:srgbClr val="4C7E9A"/>
                </a:solidFill>
                <a:latin typeface="MiSans" pitchFamily="34" charset="0"/>
                <a:ea typeface="MiSans" pitchFamily="34" charset="-122"/>
                <a:cs typeface="MiSans" pitchFamily="34" charset="-120"/>
              </a:rPr>
              <a:t>关键要点：</a:t>
            </a:r>
            <a:pPr>
              <a:lnSpc>
                <a:spcPct val="130000"/>
              </a:lnSpc>
            </a:pPr>
            <a:r>
              <a:rPr lang="en-US" sz="1333" dirty="0">
                <a:solidFill>
                  <a:srgbClr val="D1D5DB"/>
                </a:solidFill>
                <a:latin typeface="MiSans" pitchFamily="34" charset="0"/>
                <a:ea typeface="MiSans" pitchFamily="34" charset="-122"/>
                <a:cs typeface="MiSans" pitchFamily="34" charset="-120"/>
              </a:rPr>
              <a:t>mlxtend库的StackingClassifier内部自动封装了这一过程，确保了数据流转的正确性</a:t>
            </a:r>
            <a:endParaRPr lang="en-US" sz="1600" dirty="0"/>
          </a:p>
        </p:txBody>
      </p:sp>
    </p:spTree>
  </p:cSld>
  <p:clrMapOvr>
    <a:masterClrMapping/>
  </p:clrMapOvr>
  <p:transition>
    <p:fade/>
    <p:spd val="med"/>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41140" y="441140"/>
            <a:ext cx="15461948" cy="264684"/>
          </a:xfrm>
          <a:prstGeom prst="rect">
            <a:avLst/>
          </a:prstGeom>
          <a:noFill/>
          <a:ln/>
        </p:spPr>
        <p:txBody>
          <a:bodyPr wrap="square" lIns="0" tIns="0" rIns="0" bIns="0" rtlCol="0" anchor="ctr"/>
          <a:lstStyle/>
          <a:p>
            <a:pPr>
              <a:lnSpc>
                <a:spcPct val="130000"/>
              </a:lnSpc>
            </a:pPr>
            <a:r>
              <a:rPr lang="en-US" sz="1389" b="1" spc="69" kern="0" dirty="0">
                <a:solidFill>
                  <a:srgbClr val="7E9AA8"/>
                </a:solidFill>
                <a:latin typeface="MiSans" pitchFamily="34" charset="0"/>
                <a:ea typeface="MiSans" pitchFamily="34" charset="-122"/>
                <a:cs typeface="MiSans" pitchFamily="34" charset="-120"/>
              </a:rPr>
              <a:t>STACKING</a:t>
            </a:r>
            <a:endParaRPr lang="en-US" sz="1600" dirty="0"/>
          </a:p>
        </p:txBody>
      </p:sp>
      <p:sp>
        <p:nvSpPr>
          <p:cNvPr id="3" name="Text 1"/>
          <p:cNvSpPr/>
          <p:nvPr/>
        </p:nvSpPr>
        <p:spPr>
          <a:xfrm>
            <a:off x="441140" y="794052"/>
            <a:ext cx="15572233" cy="441140"/>
          </a:xfrm>
          <a:prstGeom prst="rect">
            <a:avLst/>
          </a:prstGeom>
          <a:noFill/>
          <a:ln/>
        </p:spPr>
        <p:txBody>
          <a:bodyPr wrap="square" lIns="0" tIns="0" rIns="0" bIns="0" rtlCol="0" anchor="ctr"/>
          <a:lstStyle/>
          <a:p>
            <a:pPr>
              <a:lnSpc>
                <a:spcPct val="90000"/>
              </a:lnSpc>
            </a:pPr>
            <a:r>
              <a:rPr lang="en-US" sz="3126" b="1" dirty="0">
                <a:solidFill>
                  <a:srgbClr val="D1D5DB"/>
                </a:solidFill>
                <a:latin typeface="阿里妈妈数黑体" pitchFamily="34" charset="0"/>
                <a:ea typeface="阿里妈妈数黑体" pitchFamily="34" charset="-122"/>
                <a:cs typeface="阿里妈妈数黑体" pitchFamily="34" charset="-120"/>
              </a:rPr>
              <a:t>元学习器的选型哲学</a:t>
            </a:r>
            <a:endParaRPr lang="en-US" sz="1600" dirty="0"/>
          </a:p>
        </p:txBody>
      </p:sp>
      <p:sp>
        <p:nvSpPr>
          <p:cNvPr id="4" name="Shape 2"/>
          <p:cNvSpPr/>
          <p:nvPr/>
        </p:nvSpPr>
        <p:spPr>
          <a:xfrm>
            <a:off x="441140" y="1367533"/>
            <a:ext cx="1058735" cy="44114"/>
          </a:xfrm>
          <a:custGeom>
            <a:avLst/>
            <a:gdLst/>
            <a:ahLst/>
            <a:cxnLst/>
            <a:rect l="l" t="t" r="r" b="b"/>
            <a:pathLst>
              <a:path w="1058735" h="44114">
                <a:moveTo>
                  <a:pt x="0" y="0"/>
                </a:moveTo>
                <a:lnTo>
                  <a:pt x="1058735" y="0"/>
                </a:lnTo>
                <a:lnTo>
                  <a:pt x="1058735" y="44114"/>
                </a:lnTo>
                <a:lnTo>
                  <a:pt x="0" y="44114"/>
                </a:lnTo>
                <a:lnTo>
                  <a:pt x="0" y="0"/>
                </a:lnTo>
                <a:close/>
              </a:path>
            </a:pathLst>
          </a:custGeom>
          <a:solidFill>
            <a:srgbClr val="4C7E9A"/>
          </a:solidFill>
          <a:ln/>
        </p:spPr>
      </p:sp>
      <p:sp>
        <p:nvSpPr>
          <p:cNvPr id="5" name="Shape 3"/>
          <p:cNvSpPr/>
          <p:nvPr/>
        </p:nvSpPr>
        <p:spPr>
          <a:xfrm>
            <a:off x="463197" y="1588103"/>
            <a:ext cx="7554518" cy="7113379"/>
          </a:xfrm>
          <a:custGeom>
            <a:avLst/>
            <a:gdLst/>
            <a:ahLst/>
            <a:cxnLst/>
            <a:rect l="l" t="t" r="r" b="b"/>
            <a:pathLst>
              <a:path w="7554518" h="7113379">
                <a:moveTo>
                  <a:pt x="44114" y="0"/>
                </a:moveTo>
                <a:lnTo>
                  <a:pt x="7466312" y="0"/>
                </a:lnTo>
                <a:cubicBezTo>
                  <a:pt x="7515027" y="0"/>
                  <a:pt x="7554518" y="39491"/>
                  <a:pt x="7554518" y="88206"/>
                </a:cubicBezTo>
                <a:lnTo>
                  <a:pt x="7554518" y="7025173"/>
                </a:lnTo>
                <a:cubicBezTo>
                  <a:pt x="7554518" y="7073887"/>
                  <a:pt x="7515027" y="7113379"/>
                  <a:pt x="7466312" y="7113379"/>
                </a:cubicBezTo>
                <a:lnTo>
                  <a:pt x="44114" y="7113379"/>
                </a:lnTo>
                <a:cubicBezTo>
                  <a:pt x="19750" y="7113379"/>
                  <a:pt x="0" y="7093628"/>
                  <a:pt x="0" y="7069265"/>
                </a:cubicBezTo>
                <a:lnTo>
                  <a:pt x="0" y="44114"/>
                </a:lnTo>
                <a:cubicBezTo>
                  <a:pt x="0" y="19767"/>
                  <a:pt x="19767" y="0"/>
                  <a:pt x="44114" y="0"/>
                </a:cubicBezTo>
                <a:close/>
              </a:path>
            </a:pathLst>
          </a:custGeom>
          <a:solidFill>
            <a:srgbClr val="3A5E78">
              <a:alpha val="20000"/>
            </a:srgbClr>
          </a:solidFill>
          <a:ln/>
        </p:spPr>
      </p:sp>
      <p:sp>
        <p:nvSpPr>
          <p:cNvPr id="6" name="Shape 4"/>
          <p:cNvSpPr/>
          <p:nvPr/>
        </p:nvSpPr>
        <p:spPr>
          <a:xfrm>
            <a:off x="463197" y="1588103"/>
            <a:ext cx="44114" cy="7113379"/>
          </a:xfrm>
          <a:custGeom>
            <a:avLst/>
            <a:gdLst/>
            <a:ahLst/>
            <a:cxnLst/>
            <a:rect l="l" t="t" r="r" b="b"/>
            <a:pathLst>
              <a:path w="44114" h="7113379">
                <a:moveTo>
                  <a:pt x="44114" y="0"/>
                </a:moveTo>
                <a:lnTo>
                  <a:pt x="44114" y="0"/>
                </a:lnTo>
                <a:lnTo>
                  <a:pt x="44114" y="7113379"/>
                </a:lnTo>
                <a:lnTo>
                  <a:pt x="44114" y="7113379"/>
                </a:lnTo>
                <a:cubicBezTo>
                  <a:pt x="19750" y="7113379"/>
                  <a:pt x="0" y="7093628"/>
                  <a:pt x="0" y="7069265"/>
                </a:cubicBezTo>
                <a:lnTo>
                  <a:pt x="0" y="44114"/>
                </a:lnTo>
                <a:cubicBezTo>
                  <a:pt x="0" y="19750"/>
                  <a:pt x="19750" y="0"/>
                  <a:pt x="44114" y="0"/>
                </a:cubicBezTo>
                <a:close/>
              </a:path>
            </a:pathLst>
          </a:custGeom>
          <a:solidFill>
            <a:srgbClr val="4C7E9A"/>
          </a:solidFill>
          <a:ln/>
        </p:spPr>
      </p:sp>
      <p:sp>
        <p:nvSpPr>
          <p:cNvPr id="7" name="Text 5"/>
          <p:cNvSpPr/>
          <p:nvPr/>
        </p:nvSpPr>
        <p:spPr>
          <a:xfrm>
            <a:off x="705824" y="1808673"/>
            <a:ext cx="7223664" cy="352912"/>
          </a:xfrm>
          <a:prstGeom prst="rect">
            <a:avLst/>
          </a:prstGeom>
          <a:noFill/>
          <a:ln/>
        </p:spPr>
        <p:txBody>
          <a:bodyPr wrap="square" lIns="0" tIns="0" rIns="0" bIns="0" rtlCol="0" anchor="ctr"/>
          <a:lstStyle/>
          <a:p>
            <a:pPr>
              <a:lnSpc>
                <a:spcPct val="110000"/>
              </a:lnSpc>
            </a:pPr>
            <a:r>
              <a:rPr lang="en-US" sz="2084" b="1" dirty="0">
                <a:solidFill>
                  <a:srgbClr val="4C7E9A"/>
                </a:solidFill>
                <a:latin typeface="MiSans" pitchFamily="34" charset="0"/>
                <a:ea typeface="MiSans" pitchFamily="34" charset="-122"/>
                <a:cs typeface="MiSans" pitchFamily="34" charset="-120"/>
              </a:rPr>
              <a:t>首选：线性模型</a:t>
            </a:r>
            <a:endParaRPr lang="en-US" sz="1600" dirty="0"/>
          </a:p>
        </p:txBody>
      </p:sp>
      <p:sp>
        <p:nvSpPr>
          <p:cNvPr id="8" name="Text 6"/>
          <p:cNvSpPr/>
          <p:nvPr/>
        </p:nvSpPr>
        <p:spPr>
          <a:xfrm>
            <a:off x="705824" y="2338041"/>
            <a:ext cx="7190578" cy="650681"/>
          </a:xfrm>
          <a:prstGeom prst="rect">
            <a:avLst/>
          </a:prstGeom>
          <a:noFill/>
          <a:ln/>
        </p:spPr>
        <p:txBody>
          <a:bodyPr wrap="square" lIns="0" tIns="0" rIns="0" bIns="0" rtlCol="0" anchor="ctr"/>
          <a:lstStyle/>
          <a:p>
            <a:pPr>
              <a:lnSpc>
                <a:spcPct val="140000"/>
              </a:lnSpc>
            </a:pPr>
            <a:r>
              <a:rPr lang="en-US" sz="1563" dirty="0">
                <a:solidFill>
                  <a:srgbClr val="D1D5DB"/>
                </a:solidFill>
                <a:latin typeface="MiSans" pitchFamily="34" charset="0"/>
                <a:ea typeface="MiSans" pitchFamily="34" charset="-122"/>
                <a:cs typeface="MiSans" pitchFamily="34" charset="-120"/>
              </a:rPr>
              <a:t>业界通常遵循</a:t>
            </a:r>
            <a:pPr>
              <a:lnSpc>
                <a:spcPct val="140000"/>
              </a:lnSpc>
            </a:pPr>
            <a:r>
              <a:rPr lang="en-US" sz="1563" b="1" dirty="0">
                <a:solidFill>
                  <a:srgbClr val="4C7E9A"/>
                </a:solidFill>
                <a:latin typeface="MiSans" pitchFamily="34" charset="0"/>
                <a:ea typeface="MiSans" pitchFamily="34" charset="-122"/>
                <a:cs typeface="MiSans" pitchFamily="34" charset="-120"/>
              </a:rPr>
              <a:t>"简单至上"</a:t>
            </a:r>
            <a:pPr>
              <a:lnSpc>
                <a:spcPct val="140000"/>
              </a:lnSpc>
            </a:pPr>
            <a:r>
              <a:rPr lang="en-US" sz="1563" dirty="0">
                <a:solidFill>
                  <a:srgbClr val="D1D5DB"/>
                </a:solidFill>
                <a:latin typeface="MiSans" pitchFamily="34" charset="0"/>
                <a:ea typeface="MiSans" pitchFamily="34" charset="-122"/>
                <a:cs typeface="MiSans" pitchFamily="34" charset="-120"/>
              </a:rPr>
              <a:t>（Occam's Razor）的原则，</a:t>
            </a:r>
            <a:pPr>
              <a:lnSpc>
                <a:spcPct val="140000"/>
              </a:lnSpc>
            </a:pPr>
            <a:r>
              <a:rPr lang="en-US" sz="1563" b="1" dirty="0">
                <a:solidFill>
                  <a:srgbClr val="4C7E9A"/>
                </a:solidFill>
                <a:latin typeface="MiSans" pitchFamily="34" charset="0"/>
                <a:ea typeface="MiSans" pitchFamily="34" charset="-122"/>
                <a:cs typeface="MiSans" pitchFamily="34" charset="-120"/>
              </a:rPr>
              <a:t>逻辑回归（LR）</a:t>
            </a:r>
            <a:pPr>
              <a:lnSpc>
                <a:spcPct val="140000"/>
              </a:lnSpc>
            </a:pPr>
            <a:r>
              <a:rPr lang="en-US" sz="1563" dirty="0">
                <a:solidFill>
                  <a:srgbClr val="D1D5DB"/>
                </a:solidFill>
                <a:latin typeface="MiSans" pitchFamily="34" charset="0"/>
                <a:ea typeface="MiSans" pitchFamily="34" charset="-122"/>
                <a:cs typeface="MiSans" pitchFamily="34" charset="-120"/>
              </a:rPr>
              <a:t>或</a:t>
            </a:r>
            <a:pPr>
              <a:lnSpc>
                <a:spcPct val="140000"/>
              </a:lnSpc>
            </a:pPr>
            <a:r>
              <a:rPr lang="en-US" sz="1563" b="1" dirty="0">
                <a:solidFill>
                  <a:srgbClr val="4C7E9A"/>
                </a:solidFill>
                <a:latin typeface="MiSans" pitchFamily="34" charset="0"/>
                <a:ea typeface="MiSans" pitchFamily="34" charset="-122"/>
                <a:cs typeface="MiSans" pitchFamily="34" charset="-120"/>
              </a:rPr>
              <a:t>线性回归</a:t>
            </a:r>
            <a:pPr>
              <a:lnSpc>
                <a:spcPct val="140000"/>
              </a:lnSpc>
            </a:pPr>
            <a:r>
              <a:rPr lang="en-US" sz="1563" dirty="0">
                <a:solidFill>
                  <a:srgbClr val="D1D5DB"/>
                </a:solidFill>
                <a:latin typeface="MiSans" pitchFamily="34" charset="0"/>
                <a:ea typeface="MiSans" pitchFamily="34" charset="-122"/>
                <a:cs typeface="MiSans" pitchFamily="34" charset="-120"/>
              </a:rPr>
              <a:t>通常是最佳起手式。</a:t>
            </a:r>
            <a:endParaRPr lang="en-US" sz="1600" dirty="0"/>
          </a:p>
        </p:txBody>
      </p:sp>
      <p:sp>
        <p:nvSpPr>
          <p:cNvPr id="9" name="Shape 7"/>
          <p:cNvSpPr/>
          <p:nvPr/>
        </p:nvSpPr>
        <p:spPr>
          <a:xfrm>
            <a:off x="705824" y="3159664"/>
            <a:ext cx="7091322" cy="1808673"/>
          </a:xfrm>
          <a:custGeom>
            <a:avLst/>
            <a:gdLst/>
            <a:ahLst/>
            <a:cxnLst/>
            <a:rect l="l" t="t" r="r" b="b"/>
            <a:pathLst>
              <a:path w="7091322" h="1808673">
                <a:moveTo>
                  <a:pt x="44114" y="0"/>
                </a:moveTo>
                <a:lnTo>
                  <a:pt x="7047208" y="0"/>
                </a:lnTo>
                <a:cubicBezTo>
                  <a:pt x="7071571" y="0"/>
                  <a:pt x="7091322" y="19750"/>
                  <a:pt x="7091322" y="44114"/>
                </a:cubicBezTo>
                <a:lnTo>
                  <a:pt x="7091322" y="1764559"/>
                </a:lnTo>
                <a:cubicBezTo>
                  <a:pt x="7091322" y="1788923"/>
                  <a:pt x="7071571" y="1808673"/>
                  <a:pt x="7047208" y="1808673"/>
                </a:cubicBezTo>
                <a:lnTo>
                  <a:pt x="44114" y="1808673"/>
                </a:lnTo>
                <a:cubicBezTo>
                  <a:pt x="19750" y="1808673"/>
                  <a:pt x="0" y="1788923"/>
                  <a:pt x="0" y="1764559"/>
                </a:cubicBezTo>
                <a:lnTo>
                  <a:pt x="0" y="44114"/>
                </a:lnTo>
                <a:cubicBezTo>
                  <a:pt x="0" y="19767"/>
                  <a:pt x="19767" y="0"/>
                  <a:pt x="44114" y="0"/>
                </a:cubicBezTo>
                <a:close/>
              </a:path>
            </a:pathLst>
          </a:custGeom>
          <a:solidFill>
            <a:srgbClr val="181A1F">
              <a:alpha val="50196"/>
            </a:srgbClr>
          </a:solidFill>
          <a:ln/>
        </p:spPr>
      </p:sp>
      <p:sp>
        <p:nvSpPr>
          <p:cNvPr id="10" name="Text 8"/>
          <p:cNvSpPr/>
          <p:nvPr/>
        </p:nvSpPr>
        <p:spPr>
          <a:xfrm>
            <a:off x="838166" y="3292005"/>
            <a:ext cx="6925894" cy="308798"/>
          </a:xfrm>
          <a:prstGeom prst="rect">
            <a:avLst/>
          </a:prstGeom>
          <a:noFill/>
          <a:ln/>
        </p:spPr>
        <p:txBody>
          <a:bodyPr wrap="square" lIns="0" tIns="0" rIns="0" bIns="0" rtlCol="0" anchor="ctr"/>
          <a:lstStyle/>
          <a:p>
            <a:pPr>
              <a:lnSpc>
                <a:spcPct val="130000"/>
              </a:lnSpc>
            </a:pPr>
            <a:r>
              <a:rPr lang="en-US" sz="1563" b="1" dirty="0">
                <a:solidFill>
                  <a:srgbClr val="D1D5DB"/>
                </a:solidFill>
                <a:latin typeface="MiSans" pitchFamily="34" charset="0"/>
                <a:ea typeface="MiSans" pitchFamily="34" charset="-122"/>
                <a:cs typeface="MiSans" pitchFamily="34" charset="-120"/>
              </a:rPr>
              <a:t>为什么首选线性模型？</a:t>
            </a:r>
            <a:endParaRPr lang="en-US" sz="1600" dirty="0"/>
          </a:p>
        </p:txBody>
      </p:sp>
      <p:sp>
        <p:nvSpPr>
          <p:cNvPr id="11" name="Text 9"/>
          <p:cNvSpPr/>
          <p:nvPr/>
        </p:nvSpPr>
        <p:spPr>
          <a:xfrm>
            <a:off x="838166" y="3689031"/>
            <a:ext cx="6903837" cy="220570"/>
          </a:xfrm>
          <a:prstGeom prst="rect">
            <a:avLst/>
          </a:prstGeom>
          <a:noFill/>
          <a:ln/>
        </p:spPr>
        <p:txBody>
          <a:bodyPr wrap="square" lIns="0" tIns="0" rIns="0" bIns="0" rtlCol="0" anchor="ctr"/>
          <a:lstStyle/>
          <a:p>
            <a:pPr>
              <a:lnSpc>
                <a:spcPct val="120000"/>
              </a:lnSpc>
            </a:pPr>
            <a:r>
              <a:rPr lang="en-US" sz="1216" dirty="0">
                <a:solidFill>
                  <a:srgbClr val="7E9AA8"/>
                </a:solidFill>
                <a:latin typeface="MiSans" pitchFamily="34" charset="0"/>
                <a:ea typeface="MiSans" pitchFamily="34" charset="-122"/>
                <a:cs typeface="MiSans" pitchFamily="34" charset="-120"/>
              </a:rPr>
              <a:t>• 第一级基学习器的预测值通常已经具有很高的抽象度和准确性</a:t>
            </a:r>
            <a:endParaRPr lang="en-US" sz="1600" dirty="0"/>
          </a:p>
        </p:txBody>
      </p:sp>
      <p:sp>
        <p:nvSpPr>
          <p:cNvPr id="12" name="Text 10"/>
          <p:cNvSpPr/>
          <p:nvPr/>
        </p:nvSpPr>
        <p:spPr>
          <a:xfrm>
            <a:off x="838166" y="3997829"/>
            <a:ext cx="6903837" cy="220570"/>
          </a:xfrm>
          <a:prstGeom prst="rect">
            <a:avLst/>
          </a:prstGeom>
          <a:noFill/>
          <a:ln/>
        </p:spPr>
        <p:txBody>
          <a:bodyPr wrap="square" lIns="0" tIns="0" rIns="0" bIns="0" rtlCol="0" anchor="ctr"/>
          <a:lstStyle/>
          <a:p>
            <a:pPr>
              <a:lnSpc>
                <a:spcPct val="120000"/>
              </a:lnSpc>
            </a:pPr>
            <a:r>
              <a:rPr lang="en-US" sz="1216" dirty="0">
                <a:solidFill>
                  <a:srgbClr val="7E9AA8"/>
                </a:solidFill>
                <a:latin typeface="MiSans" pitchFamily="34" charset="0"/>
                <a:ea typeface="MiSans" pitchFamily="34" charset="-122"/>
                <a:cs typeface="MiSans" pitchFamily="34" charset="-120"/>
              </a:rPr>
              <a:t>• 简单的线性组合足以提取其互补信息</a:t>
            </a:r>
            <a:endParaRPr lang="en-US" sz="1600" dirty="0"/>
          </a:p>
        </p:txBody>
      </p:sp>
      <p:sp>
        <p:nvSpPr>
          <p:cNvPr id="13" name="Text 11"/>
          <p:cNvSpPr/>
          <p:nvPr/>
        </p:nvSpPr>
        <p:spPr>
          <a:xfrm>
            <a:off x="838166" y="4306627"/>
            <a:ext cx="6903837" cy="220570"/>
          </a:xfrm>
          <a:prstGeom prst="rect">
            <a:avLst/>
          </a:prstGeom>
          <a:noFill/>
          <a:ln/>
        </p:spPr>
        <p:txBody>
          <a:bodyPr wrap="square" lIns="0" tIns="0" rIns="0" bIns="0" rtlCol="0" anchor="ctr"/>
          <a:lstStyle/>
          <a:p>
            <a:pPr>
              <a:lnSpc>
                <a:spcPct val="120000"/>
              </a:lnSpc>
            </a:pPr>
            <a:r>
              <a:rPr lang="en-US" sz="1216" dirty="0">
                <a:solidFill>
                  <a:srgbClr val="7E9AA8"/>
                </a:solidFill>
                <a:latin typeface="MiSans" pitchFamily="34" charset="0"/>
                <a:ea typeface="MiSans" pitchFamily="34" charset="-122"/>
                <a:cs typeface="MiSans" pitchFamily="34" charset="-120"/>
              </a:rPr>
              <a:t>• 不易过拟合，泛化能力强</a:t>
            </a:r>
            <a:endParaRPr lang="en-US" sz="1600" dirty="0"/>
          </a:p>
        </p:txBody>
      </p:sp>
      <p:sp>
        <p:nvSpPr>
          <p:cNvPr id="14" name="Text 12"/>
          <p:cNvSpPr/>
          <p:nvPr/>
        </p:nvSpPr>
        <p:spPr>
          <a:xfrm>
            <a:off x="838166" y="4615425"/>
            <a:ext cx="6903837" cy="220570"/>
          </a:xfrm>
          <a:prstGeom prst="rect">
            <a:avLst/>
          </a:prstGeom>
          <a:noFill/>
          <a:ln/>
        </p:spPr>
        <p:txBody>
          <a:bodyPr wrap="square" lIns="0" tIns="0" rIns="0" bIns="0" rtlCol="0" anchor="ctr"/>
          <a:lstStyle/>
          <a:p>
            <a:pPr>
              <a:lnSpc>
                <a:spcPct val="120000"/>
              </a:lnSpc>
            </a:pPr>
            <a:r>
              <a:rPr lang="en-US" sz="1216" dirty="0">
                <a:solidFill>
                  <a:srgbClr val="7E9AA8"/>
                </a:solidFill>
                <a:latin typeface="MiSans" pitchFamily="34" charset="0"/>
                <a:ea typeface="MiSans" pitchFamily="34" charset="-122"/>
                <a:cs typeface="MiSans" pitchFamily="34" charset="-120"/>
              </a:rPr>
              <a:t>• 计算开销小，易于解释</a:t>
            </a:r>
            <a:endParaRPr lang="en-US" sz="1600" dirty="0"/>
          </a:p>
        </p:txBody>
      </p:sp>
      <p:sp>
        <p:nvSpPr>
          <p:cNvPr id="15" name="Shape 13"/>
          <p:cNvSpPr/>
          <p:nvPr/>
        </p:nvSpPr>
        <p:spPr>
          <a:xfrm>
            <a:off x="705824" y="5100678"/>
            <a:ext cx="7091322" cy="1499875"/>
          </a:xfrm>
          <a:custGeom>
            <a:avLst/>
            <a:gdLst/>
            <a:ahLst/>
            <a:cxnLst/>
            <a:rect l="l" t="t" r="r" b="b"/>
            <a:pathLst>
              <a:path w="7091322" h="1499875">
                <a:moveTo>
                  <a:pt x="44111" y="0"/>
                </a:moveTo>
                <a:lnTo>
                  <a:pt x="7047210" y="0"/>
                </a:lnTo>
                <a:cubicBezTo>
                  <a:pt x="7071572" y="0"/>
                  <a:pt x="7091322" y="19749"/>
                  <a:pt x="7091322" y="44111"/>
                </a:cubicBezTo>
                <a:lnTo>
                  <a:pt x="7091322" y="1455764"/>
                </a:lnTo>
                <a:cubicBezTo>
                  <a:pt x="7091322" y="1480126"/>
                  <a:pt x="7071572" y="1499875"/>
                  <a:pt x="7047210" y="1499875"/>
                </a:cubicBezTo>
                <a:lnTo>
                  <a:pt x="44111" y="1499875"/>
                </a:lnTo>
                <a:cubicBezTo>
                  <a:pt x="19749" y="1499875"/>
                  <a:pt x="0" y="1480126"/>
                  <a:pt x="0" y="1455764"/>
                </a:cubicBezTo>
                <a:lnTo>
                  <a:pt x="0" y="44111"/>
                </a:lnTo>
                <a:cubicBezTo>
                  <a:pt x="0" y="19766"/>
                  <a:pt x="19766" y="0"/>
                  <a:pt x="44111" y="0"/>
                </a:cubicBezTo>
                <a:close/>
              </a:path>
            </a:pathLst>
          </a:custGeom>
          <a:solidFill>
            <a:srgbClr val="181A1F">
              <a:alpha val="50196"/>
            </a:srgbClr>
          </a:solidFill>
          <a:ln/>
        </p:spPr>
      </p:sp>
      <p:sp>
        <p:nvSpPr>
          <p:cNvPr id="16" name="Text 14"/>
          <p:cNvSpPr/>
          <p:nvPr/>
        </p:nvSpPr>
        <p:spPr>
          <a:xfrm>
            <a:off x="838166" y="5233020"/>
            <a:ext cx="6914866" cy="264684"/>
          </a:xfrm>
          <a:prstGeom prst="rect">
            <a:avLst/>
          </a:prstGeom>
          <a:noFill/>
          <a:ln/>
        </p:spPr>
        <p:txBody>
          <a:bodyPr wrap="square" lIns="0" tIns="0" rIns="0" bIns="0" rtlCol="0" anchor="ctr"/>
          <a:lstStyle/>
          <a:p>
            <a:pPr>
              <a:lnSpc>
                <a:spcPct val="130000"/>
              </a:lnSpc>
            </a:pPr>
            <a:r>
              <a:rPr lang="en-US" sz="1389" b="1" dirty="0">
                <a:solidFill>
                  <a:srgbClr val="D1D5DB"/>
                </a:solidFill>
                <a:latin typeface="MiSans" pitchFamily="34" charset="0"/>
                <a:ea typeface="MiSans" pitchFamily="34" charset="-122"/>
                <a:cs typeface="MiSans" pitchFamily="34" charset="-120"/>
              </a:rPr>
              <a:t>处理共线性问题</a:t>
            </a:r>
            <a:endParaRPr lang="en-US" sz="1600" dirty="0"/>
          </a:p>
        </p:txBody>
      </p:sp>
      <p:sp>
        <p:nvSpPr>
          <p:cNvPr id="17" name="Text 15"/>
          <p:cNvSpPr/>
          <p:nvPr/>
        </p:nvSpPr>
        <p:spPr>
          <a:xfrm>
            <a:off x="838166" y="5585932"/>
            <a:ext cx="6903837" cy="220570"/>
          </a:xfrm>
          <a:prstGeom prst="rect">
            <a:avLst/>
          </a:prstGeom>
          <a:noFill/>
          <a:ln/>
        </p:spPr>
        <p:txBody>
          <a:bodyPr wrap="square" lIns="0" tIns="0" rIns="0" bIns="0" rtlCol="0" anchor="ctr"/>
          <a:lstStyle/>
          <a:p>
            <a:pPr>
              <a:lnSpc>
                <a:spcPct val="120000"/>
              </a:lnSpc>
            </a:pPr>
            <a:r>
              <a:rPr lang="en-US" sz="1216" dirty="0">
                <a:solidFill>
                  <a:srgbClr val="7E9AA8"/>
                </a:solidFill>
                <a:latin typeface="MiSans" pitchFamily="34" charset="0"/>
                <a:ea typeface="MiSans" pitchFamily="34" charset="-122"/>
                <a:cs typeface="MiSans" pitchFamily="34" charset="-120"/>
              </a:rPr>
              <a:t>如果基模型之间存在共线性，带有L1/L2正则化的模型是更稳健的选择：</a:t>
            </a:r>
            <a:endParaRPr lang="en-US" sz="1600" dirty="0"/>
          </a:p>
        </p:txBody>
      </p:sp>
      <p:sp>
        <p:nvSpPr>
          <p:cNvPr id="18" name="Shape 16"/>
          <p:cNvSpPr/>
          <p:nvPr/>
        </p:nvSpPr>
        <p:spPr>
          <a:xfrm>
            <a:off x="838166" y="5894730"/>
            <a:ext cx="3363691" cy="573482"/>
          </a:xfrm>
          <a:custGeom>
            <a:avLst/>
            <a:gdLst/>
            <a:ahLst/>
            <a:cxnLst/>
            <a:rect l="l" t="t" r="r" b="b"/>
            <a:pathLst>
              <a:path w="3363691" h="573482">
                <a:moveTo>
                  <a:pt x="44112" y="0"/>
                </a:moveTo>
                <a:lnTo>
                  <a:pt x="3319578" y="0"/>
                </a:lnTo>
                <a:cubicBezTo>
                  <a:pt x="3343941" y="0"/>
                  <a:pt x="3363691" y="19750"/>
                  <a:pt x="3363691" y="44112"/>
                </a:cubicBezTo>
                <a:lnTo>
                  <a:pt x="3363691" y="529369"/>
                </a:lnTo>
                <a:cubicBezTo>
                  <a:pt x="3363691" y="553732"/>
                  <a:pt x="3343941" y="573482"/>
                  <a:pt x="3319578" y="573482"/>
                </a:cubicBezTo>
                <a:lnTo>
                  <a:pt x="44112" y="573482"/>
                </a:lnTo>
                <a:cubicBezTo>
                  <a:pt x="19766" y="573482"/>
                  <a:pt x="0" y="553716"/>
                  <a:pt x="0" y="529369"/>
                </a:cubicBezTo>
                <a:lnTo>
                  <a:pt x="0" y="44112"/>
                </a:lnTo>
                <a:cubicBezTo>
                  <a:pt x="0" y="19766"/>
                  <a:pt x="19766" y="0"/>
                  <a:pt x="44112" y="0"/>
                </a:cubicBezTo>
                <a:close/>
              </a:path>
            </a:pathLst>
          </a:custGeom>
          <a:solidFill>
            <a:srgbClr val="181A1F"/>
          </a:solidFill>
          <a:ln/>
        </p:spPr>
      </p:sp>
      <p:sp>
        <p:nvSpPr>
          <p:cNvPr id="19" name="Text 17"/>
          <p:cNvSpPr/>
          <p:nvPr/>
        </p:nvSpPr>
        <p:spPr>
          <a:xfrm>
            <a:off x="887794" y="5982958"/>
            <a:ext cx="3264434" cy="220570"/>
          </a:xfrm>
          <a:prstGeom prst="rect">
            <a:avLst/>
          </a:prstGeom>
          <a:noFill/>
          <a:ln/>
        </p:spPr>
        <p:txBody>
          <a:bodyPr wrap="square" lIns="0" tIns="0" rIns="0" bIns="0" rtlCol="0" anchor="ctr"/>
          <a:lstStyle/>
          <a:p>
            <a:pPr algn="ctr">
              <a:lnSpc>
                <a:spcPct val="120000"/>
              </a:lnSpc>
            </a:pPr>
            <a:r>
              <a:rPr lang="en-US" sz="1216" b="1" dirty="0">
                <a:solidFill>
                  <a:srgbClr val="D1D5DB"/>
                </a:solidFill>
                <a:latin typeface="MiSans" pitchFamily="34" charset="0"/>
                <a:ea typeface="MiSans" pitchFamily="34" charset="-122"/>
                <a:cs typeface="MiSans" pitchFamily="34" charset="-120"/>
              </a:rPr>
              <a:t>Lasso (L1)</a:t>
            </a:r>
            <a:endParaRPr lang="en-US" sz="1600" dirty="0"/>
          </a:p>
        </p:txBody>
      </p:sp>
      <p:sp>
        <p:nvSpPr>
          <p:cNvPr id="20" name="Text 18"/>
          <p:cNvSpPr/>
          <p:nvPr/>
        </p:nvSpPr>
        <p:spPr>
          <a:xfrm>
            <a:off x="893308" y="6203528"/>
            <a:ext cx="3253406" cy="176456"/>
          </a:xfrm>
          <a:prstGeom prst="rect">
            <a:avLst/>
          </a:prstGeom>
          <a:noFill/>
          <a:ln/>
        </p:spPr>
        <p:txBody>
          <a:bodyPr wrap="square" lIns="0" tIns="0" rIns="0" bIns="0" rtlCol="0" anchor="ctr"/>
          <a:lstStyle/>
          <a:p>
            <a:pPr algn="ctr">
              <a:lnSpc>
                <a:spcPct val="110000"/>
              </a:lnSpc>
            </a:pPr>
            <a:r>
              <a:rPr lang="en-US" sz="1042" dirty="0">
                <a:solidFill>
                  <a:srgbClr val="7E9AA8"/>
                </a:solidFill>
                <a:latin typeface="MiSans" pitchFamily="34" charset="0"/>
                <a:ea typeface="MiSans" pitchFamily="34" charset="-122"/>
                <a:cs typeface="MiSans" pitchFamily="34" charset="-120"/>
              </a:rPr>
              <a:t>特征选择</a:t>
            </a:r>
            <a:endParaRPr lang="en-US" sz="1600" dirty="0"/>
          </a:p>
        </p:txBody>
      </p:sp>
      <p:sp>
        <p:nvSpPr>
          <p:cNvPr id="21" name="Shape 19"/>
          <p:cNvSpPr/>
          <p:nvPr/>
        </p:nvSpPr>
        <p:spPr>
          <a:xfrm>
            <a:off x="4294909" y="5894730"/>
            <a:ext cx="3363691" cy="573482"/>
          </a:xfrm>
          <a:custGeom>
            <a:avLst/>
            <a:gdLst/>
            <a:ahLst/>
            <a:cxnLst/>
            <a:rect l="l" t="t" r="r" b="b"/>
            <a:pathLst>
              <a:path w="3363691" h="573482">
                <a:moveTo>
                  <a:pt x="44112" y="0"/>
                </a:moveTo>
                <a:lnTo>
                  <a:pt x="3319578" y="0"/>
                </a:lnTo>
                <a:cubicBezTo>
                  <a:pt x="3343941" y="0"/>
                  <a:pt x="3363691" y="19750"/>
                  <a:pt x="3363691" y="44112"/>
                </a:cubicBezTo>
                <a:lnTo>
                  <a:pt x="3363691" y="529369"/>
                </a:lnTo>
                <a:cubicBezTo>
                  <a:pt x="3363691" y="553732"/>
                  <a:pt x="3343941" y="573482"/>
                  <a:pt x="3319578" y="573482"/>
                </a:cubicBezTo>
                <a:lnTo>
                  <a:pt x="44112" y="573482"/>
                </a:lnTo>
                <a:cubicBezTo>
                  <a:pt x="19766" y="573482"/>
                  <a:pt x="0" y="553716"/>
                  <a:pt x="0" y="529369"/>
                </a:cubicBezTo>
                <a:lnTo>
                  <a:pt x="0" y="44112"/>
                </a:lnTo>
                <a:cubicBezTo>
                  <a:pt x="0" y="19766"/>
                  <a:pt x="19766" y="0"/>
                  <a:pt x="44112" y="0"/>
                </a:cubicBezTo>
                <a:close/>
              </a:path>
            </a:pathLst>
          </a:custGeom>
          <a:solidFill>
            <a:srgbClr val="181A1F"/>
          </a:solidFill>
          <a:ln/>
        </p:spPr>
      </p:sp>
      <p:sp>
        <p:nvSpPr>
          <p:cNvPr id="22" name="Text 20"/>
          <p:cNvSpPr/>
          <p:nvPr/>
        </p:nvSpPr>
        <p:spPr>
          <a:xfrm>
            <a:off x="4344537" y="5982958"/>
            <a:ext cx="3264434" cy="220570"/>
          </a:xfrm>
          <a:prstGeom prst="rect">
            <a:avLst/>
          </a:prstGeom>
          <a:noFill/>
          <a:ln/>
        </p:spPr>
        <p:txBody>
          <a:bodyPr wrap="square" lIns="0" tIns="0" rIns="0" bIns="0" rtlCol="0" anchor="ctr"/>
          <a:lstStyle/>
          <a:p>
            <a:pPr algn="ctr">
              <a:lnSpc>
                <a:spcPct val="120000"/>
              </a:lnSpc>
            </a:pPr>
            <a:r>
              <a:rPr lang="en-US" sz="1216" b="1" dirty="0">
                <a:solidFill>
                  <a:srgbClr val="D1D5DB"/>
                </a:solidFill>
                <a:latin typeface="MiSans" pitchFamily="34" charset="0"/>
                <a:ea typeface="MiSans" pitchFamily="34" charset="-122"/>
                <a:cs typeface="MiSans" pitchFamily="34" charset="-120"/>
              </a:rPr>
              <a:t>Ridge (L2)</a:t>
            </a:r>
            <a:endParaRPr lang="en-US" sz="1600" dirty="0"/>
          </a:p>
        </p:txBody>
      </p:sp>
      <p:sp>
        <p:nvSpPr>
          <p:cNvPr id="23" name="Text 21"/>
          <p:cNvSpPr/>
          <p:nvPr/>
        </p:nvSpPr>
        <p:spPr>
          <a:xfrm>
            <a:off x="4350052" y="6203528"/>
            <a:ext cx="3253406" cy="176456"/>
          </a:xfrm>
          <a:prstGeom prst="rect">
            <a:avLst/>
          </a:prstGeom>
          <a:noFill/>
          <a:ln/>
        </p:spPr>
        <p:txBody>
          <a:bodyPr wrap="square" lIns="0" tIns="0" rIns="0" bIns="0" rtlCol="0" anchor="ctr"/>
          <a:lstStyle/>
          <a:p>
            <a:pPr algn="ctr">
              <a:lnSpc>
                <a:spcPct val="110000"/>
              </a:lnSpc>
            </a:pPr>
            <a:r>
              <a:rPr lang="en-US" sz="1042" dirty="0">
                <a:solidFill>
                  <a:srgbClr val="7E9AA8"/>
                </a:solidFill>
                <a:latin typeface="MiSans" pitchFamily="34" charset="0"/>
                <a:ea typeface="MiSans" pitchFamily="34" charset="-122"/>
                <a:cs typeface="MiSans" pitchFamily="34" charset="-120"/>
              </a:rPr>
              <a:t>权重衰减</a:t>
            </a:r>
            <a:endParaRPr lang="en-US" sz="1600" dirty="0"/>
          </a:p>
        </p:txBody>
      </p:sp>
      <p:sp>
        <p:nvSpPr>
          <p:cNvPr id="24" name="Shape 22"/>
          <p:cNvSpPr/>
          <p:nvPr/>
        </p:nvSpPr>
        <p:spPr>
          <a:xfrm>
            <a:off x="8259050" y="1588103"/>
            <a:ext cx="7554518" cy="3584261"/>
          </a:xfrm>
          <a:custGeom>
            <a:avLst/>
            <a:gdLst/>
            <a:ahLst/>
            <a:cxnLst/>
            <a:rect l="l" t="t" r="r" b="b"/>
            <a:pathLst>
              <a:path w="7554518" h="3584261">
                <a:moveTo>
                  <a:pt x="44114" y="0"/>
                </a:moveTo>
                <a:lnTo>
                  <a:pt x="7466274" y="0"/>
                </a:lnTo>
                <a:cubicBezTo>
                  <a:pt x="7515010" y="0"/>
                  <a:pt x="7554518" y="39508"/>
                  <a:pt x="7554518" y="88244"/>
                </a:cubicBezTo>
                <a:lnTo>
                  <a:pt x="7554518" y="3496016"/>
                </a:lnTo>
                <a:cubicBezTo>
                  <a:pt x="7554518" y="3544752"/>
                  <a:pt x="7515010" y="3584261"/>
                  <a:pt x="7466274" y="3584261"/>
                </a:cubicBezTo>
                <a:lnTo>
                  <a:pt x="44114" y="3584261"/>
                </a:lnTo>
                <a:cubicBezTo>
                  <a:pt x="19750" y="3584261"/>
                  <a:pt x="0" y="3564510"/>
                  <a:pt x="0" y="3540147"/>
                </a:cubicBezTo>
                <a:lnTo>
                  <a:pt x="0" y="44114"/>
                </a:lnTo>
                <a:cubicBezTo>
                  <a:pt x="0" y="19767"/>
                  <a:pt x="19767" y="0"/>
                  <a:pt x="44114" y="0"/>
                </a:cubicBezTo>
                <a:close/>
              </a:path>
            </a:pathLst>
          </a:custGeom>
          <a:solidFill>
            <a:srgbClr val="3A5E78">
              <a:alpha val="20000"/>
            </a:srgbClr>
          </a:solidFill>
          <a:ln/>
        </p:spPr>
      </p:sp>
      <p:sp>
        <p:nvSpPr>
          <p:cNvPr id="25" name="Shape 23"/>
          <p:cNvSpPr/>
          <p:nvPr/>
        </p:nvSpPr>
        <p:spPr>
          <a:xfrm>
            <a:off x="8259050" y="1588103"/>
            <a:ext cx="44114" cy="3584261"/>
          </a:xfrm>
          <a:custGeom>
            <a:avLst/>
            <a:gdLst/>
            <a:ahLst/>
            <a:cxnLst/>
            <a:rect l="l" t="t" r="r" b="b"/>
            <a:pathLst>
              <a:path w="44114" h="3584261">
                <a:moveTo>
                  <a:pt x="44114" y="0"/>
                </a:moveTo>
                <a:lnTo>
                  <a:pt x="44114" y="0"/>
                </a:lnTo>
                <a:lnTo>
                  <a:pt x="44114" y="3584261"/>
                </a:lnTo>
                <a:lnTo>
                  <a:pt x="44114" y="3584261"/>
                </a:lnTo>
                <a:cubicBezTo>
                  <a:pt x="19750" y="3584261"/>
                  <a:pt x="0" y="3564510"/>
                  <a:pt x="0" y="3540147"/>
                </a:cubicBezTo>
                <a:lnTo>
                  <a:pt x="0" y="44114"/>
                </a:lnTo>
                <a:cubicBezTo>
                  <a:pt x="0" y="19750"/>
                  <a:pt x="19750" y="0"/>
                  <a:pt x="44114" y="0"/>
                </a:cubicBezTo>
                <a:close/>
              </a:path>
            </a:pathLst>
          </a:custGeom>
          <a:solidFill>
            <a:srgbClr val="7E9AA8"/>
          </a:solidFill>
          <a:ln/>
        </p:spPr>
      </p:sp>
      <p:sp>
        <p:nvSpPr>
          <p:cNvPr id="26" name="Text 24"/>
          <p:cNvSpPr/>
          <p:nvPr/>
        </p:nvSpPr>
        <p:spPr>
          <a:xfrm>
            <a:off x="8457562" y="1764559"/>
            <a:ext cx="7311891" cy="352912"/>
          </a:xfrm>
          <a:prstGeom prst="rect">
            <a:avLst/>
          </a:prstGeom>
          <a:noFill/>
          <a:ln/>
        </p:spPr>
        <p:txBody>
          <a:bodyPr wrap="square" lIns="0" tIns="0" rIns="0" bIns="0" rtlCol="0" anchor="ctr"/>
          <a:lstStyle/>
          <a:p>
            <a:pPr>
              <a:lnSpc>
                <a:spcPct val="110000"/>
              </a:lnSpc>
            </a:pPr>
            <a:r>
              <a:rPr lang="en-US" sz="2084" b="1" dirty="0">
                <a:solidFill>
                  <a:srgbClr val="7E9AA8"/>
                </a:solidFill>
                <a:latin typeface="MiSans" pitchFamily="34" charset="0"/>
                <a:ea typeface="MiSans" pitchFamily="34" charset="-122"/>
                <a:cs typeface="MiSans" pitchFamily="34" charset="-120"/>
              </a:rPr>
              <a:t>慎用：复杂模型</a:t>
            </a:r>
            <a:endParaRPr lang="en-US" sz="1600" dirty="0"/>
          </a:p>
        </p:txBody>
      </p:sp>
      <p:sp>
        <p:nvSpPr>
          <p:cNvPr id="27" name="Text 25"/>
          <p:cNvSpPr/>
          <p:nvPr/>
        </p:nvSpPr>
        <p:spPr>
          <a:xfrm>
            <a:off x="8457562" y="2249813"/>
            <a:ext cx="7278806" cy="319826"/>
          </a:xfrm>
          <a:prstGeom prst="rect">
            <a:avLst/>
          </a:prstGeom>
          <a:noFill/>
          <a:ln/>
        </p:spPr>
        <p:txBody>
          <a:bodyPr wrap="square" lIns="0" tIns="0" rIns="0" bIns="0" rtlCol="0" anchor="ctr"/>
          <a:lstStyle/>
          <a:p>
            <a:pPr>
              <a:lnSpc>
                <a:spcPct val="140000"/>
              </a:lnSpc>
            </a:pPr>
            <a:r>
              <a:rPr lang="en-US" sz="1563" dirty="0">
                <a:solidFill>
                  <a:srgbClr val="D1D5DB"/>
                </a:solidFill>
                <a:latin typeface="MiSans" pitchFamily="34" charset="0"/>
                <a:ea typeface="MiSans" pitchFamily="34" charset="-122"/>
                <a:cs typeface="MiSans" pitchFamily="34" charset="-120"/>
              </a:rPr>
              <a:t>仅在特定条件下才考虑使用复杂模型作为元学习器：</a:t>
            </a:r>
            <a:endParaRPr lang="en-US" sz="1600" dirty="0"/>
          </a:p>
        </p:txBody>
      </p:sp>
      <p:sp>
        <p:nvSpPr>
          <p:cNvPr id="28" name="Shape 26"/>
          <p:cNvSpPr/>
          <p:nvPr/>
        </p:nvSpPr>
        <p:spPr>
          <a:xfrm>
            <a:off x="8457562" y="2704738"/>
            <a:ext cx="7179550" cy="1367533"/>
          </a:xfrm>
          <a:custGeom>
            <a:avLst/>
            <a:gdLst/>
            <a:ahLst/>
            <a:cxnLst/>
            <a:rect l="l" t="t" r="r" b="b"/>
            <a:pathLst>
              <a:path w="7179550" h="1367533">
                <a:moveTo>
                  <a:pt x="44117" y="0"/>
                </a:moveTo>
                <a:lnTo>
                  <a:pt x="7135433" y="0"/>
                </a:lnTo>
                <a:cubicBezTo>
                  <a:pt x="7159798" y="0"/>
                  <a:pt x="7179550" y="19752"/>
                  <a:pt x="7179550" y="44117"/>
                </a:cubicBezTo>
                <a:lnTo>
                  <a:pt x="7179550" y="1323417"/>
                </a:lnTo>
                <a:cubicBezTo>
                  <a:pt x="7179550" y="1347782"/>
                  <a:pt x="7159798" y="1367533"/>
                  <a:pt x="7135433" y="1367533"/>
                </a:cubicBezTo>
                <a:lnTo>
                  <a:pt x="44117" y="1367533"/>
                </a:lnTo>
                <a:cubicBezTo>
                  <a:pt x="19752" y="1367533"/>
                  <a:pt x="0" y="1347782"/>
                  <a:pt x="0" y="1323417"/>
                </a:cubicBezTo>
                <a:lnTo>
                  <a:pt x="0" y="44117"/>
                </a:lnTo>
                <a:cubicBezTo>
                  <a:pt x="0" y="19752"/>
                  <a:pt x="19752" y="0"/>
                  <a:pt x="44117" y="0"/>
                </a:cubicBezTo>
                <a:close/>
              </a:path>
            </a:pathLst>
          </a:custGeom>
          <a:solidFill>
            <a:srgbClr val="181A1F">
              <a:alpha val="50196"/>
            </a:srgbClr>
          </a:solidFill>
          <a:ln/>
        </p:spPr>
      </p:sp>
      <p:sp>
        <p:nvSpPr>
          <p:cNvPr id="29" name="Text 27"/>
          <p:cNvSpPr/>
          <p:nvPr/>
        </p:nvSpPr>
        <p:spPr>
          <a:xfrm>
            <a:off x="8589904" y="2837080"/>
            <a:ext cx="7003094" cy="264684"/>
          </a:xfrm>
          <a:prstGeom prst="rect">
            <a:avLst/>
          </a:prstGeom>
          <a:noFill/>
          <a:ln/>
        </p:spPr>
        <p:txBody>
          <a:bodyPr wrap="square" lIns="0" tIns="0" rIns="0" bIns="0" rtlCol="0" anchor="ctr"/>
          <a:lstStyle/>
          <a:p>
            <a:pPr>
              <a:lnSpc>
                <a:spcPct val="130000"/>
              </a:lnSpc>
            </a:pPr>
            <a:r>
              <a:rPr lang="en-US" sz="1389" b="1" dirty="0">
                <a:solidFill>
                  <a:srgbClr val="D1D5DB"/>
                </a:solidFill>
                <a:latin typeface="MiSans" pitchFamily="34" charset="0"/>
                <a:ea typeface="MiSans" pitchFamily="34" charset="-122"/>
                <a:cs typeface="MiSans" pitchFamily="34" charset="-120"/>
              </a:rPr>
              <a:t>适用条件</a:t>
            </a:r>
            <a:endParaRPr lang="en-US" sz="1600" dirty="0"/>
          </a:p>
        </p:txBody>
      </p:sp>
      <p:sp>
        <p:nvSpPr>
          <p:cNvPr id="30" name="Text 28"/>
          <p:cNvSpPr/>
          <p:nvPr/>
        </p:nvSpPr>
        <p:spPr>
          <a:xfrm>
            <a:off x="8589904" y="3189992"/>
            <a:ext cx="6992065" cy="220570"/>
          </a:xfrm>
          <a:prstGeom prst="rect">
            <a:avLst/>
          </a:prstGeom>
          <a:noFill/>
          <a:ln/>
        </p:spPr>
        <p:txBody>
          <a:bodyPr wrap="square" lIns="0" tIns="0" rIns="0" bIns="0" rtlCol="0" anchor="ctr"/>
          <a:lstStyle/>
          <a:p>
            <a:pPr>
              <a:lnSpc>
                <a:spcPct val="120000"/>
              </a:lnSpc>
            </a:pPr>
            <a:r>
              <a:rPr lang="en-US" sz="1216" dirty="0">
                <a:solidFill>
                  <a:srgbClr val="7E9AA8"/>
                </a:solidFill>
                <a:latin typeface="MiSans" pitchFamily="34" charset="0"/>
                <a:ea typeface="MiSans" pitchFamily="34" charset="-122"/>
                <a:cs typeface="MiSans" pitchFamily="34" charset="-120"/>
              </a:rPr>
              <a:t>• 数据量极大</a:t>
            </a:r>
            <a:endParaRPr lang="en-US" sz="1600" dirty="0"/>
          </a:p>
        </p:txBody>
      </p:sp>
      <p:sp>
        <p:nvSpPr>
          <p:cNvPr id="31" name="Text 29"/>
          <p:cNvSpPr/>
          <p:nvPr/>
        </p:nvSpPr>
        <p:spPr>
          <a:xfrm>
            <a:off x="8589904" y="3454676"/>
            <a:ext cx="6992065" cy="220570"/>
          </a:xfrm>
          <a:prstGeom prst="rect">
            <a:avLst/>
          </a:prstGeom>
          <a:noFill/>
          <a:ln/>
        </p:spPr>
        <p:txBody>
          <a:bodyPr wrap="square" lIns="0" tIns="0" rIns="0" bIns="0" rtlCol="0" anchor="ctr"/>
          <a:lstStyle/>
          <a:p>
            <a:pPr>
              <a:lnSpc>
                <a:spcPct val="120000"/>
              </a:lnSpc>
            </a:pPr>
            <a:r>
              <a:rPr lang="en-US" sz="1216" dirty="0">
                <a:solidFill>
                  <a:srgbClr val="7E9AA8"/>
                </a:solidFill>
                <a:latin typeface="MiSans" pitchFamily="34" charset="0"/>
                <a:ea typeface="MiSans" pitchFamily="34" charset="-122"/>
                <a:cs typeface="MiSans" pitchFamily="34" charset="-120"/>
              </a:rPr>
              <a:t>• 基模型间存在显著的非线性互补关系</a:t>
            </a:r>
            <a:endParaRPr lang="en-US" sz="1600" dirty="0"/>
          </a:p>
        </p:txBody>
      </p:sp>
      <p:sp>
        <p:nvSpPr>
          <p:cNvPr id="32" name="Text 30"/>
          <p:cNvSpPr/>
          <p:nvPr/>
        </p:nvSpPr>
        <p:spPr>
          <a:xfrm>
            <a:off x="8589904" y="3719360"/>
            <a:ext cx="6992065" cy="220570"/>
          </a:xfrm>
          <a:prstGeom prst="rect">
            <a:avLst/>
          </a:prstGeom>
          <a:noFill/>
          <a:ln/>
        </p:spPr>
        <p:txBody>
          <a:bodyPr wrap="square" lIns="0" tIns="0" rIns="0" bIns="0" rtlCol="0" anchor="ctr"/>
          <a:lstStyle/>
          <a:p>
            <a:pPr>
              <a:lnSpc>
                <a:spcPct val="120000"/>
              </a:lnSpc>
            </a:pPr>
            <a:r>
              <a:rPr lang="en-US" sz="1216" dirty="0">
                <a:solidFill>
                  <a:srgbClr val="7E9AA8"/>
                </a:solidFill>
                <a:latin typeface="MiSans" pitchFamily="34" charset="0"/>
                <a:ea typeface="MiSans" pitchFamily="34" charset="-122"/>
                <a:cs typeface="MiSans" pitchFamily="34" charset="-120"/>
              </a:rPr>
              <a:t>• 必须配合严格的正则化措施</a:t>
            </a:r>
            <a:endParaRPr lang="en-US" sz="1600" dirty="0"/>
          </a:p>
        </p:txBody>
      </p:sp>
      <p:sp>
        <p:nvSpPr>
          <p:cNvPr id="33" name="Shape 31"/>
          <p:cNvSpPr/>
          <p:nvPr/>
        </p:nvSpPr>
        <p:spPr>
          <a:xfrm>
            <a:off x="8457562" y="4160499"/>
            <a:ext cx="7179550" cy="838166"/>
          </a:xfrm>
          <a:custGeom>
            <a:avLst/>
            <a:gdLst/>
            <a:ahLst/>
            <a:cxnLst/>
            <a:rect l="l" t="t" r="r" b="b"/>
            <a:pathLst>
              <a:path w="7179550" h="838166">
                <a:moveTo>
                  <a:pt x="44113" y="0"/>
                </a:moveTo>
                <a:lnTo>
                  <a:pt x="7135437" y="0"/>
                </a:lnTo>
                <a:cubicBezTo>
                  <a:pt x="7159800" y="0"/>
                  <a:pt x="7179550" y="19750"/>
                  <a:pt x="7179550" y="44113"/>
                </a:cubicBezTo>
                <a:lnTo>
                  <a:pt x="7179550" y="794053"/>
                </a:lnTo>
                <a:cubicBezTo>
                  <a:pt x="7179550" y="818416"/>
                  <a:pt x="7159800" y="838166"/>
                  <a:pt x="7135437" y="838166"/>
                </a:cubicBezTo>
                <a:lnTo>
                  <a:pt x="44113" y="838166"/>
                </a:lnTo>
                <a:cubicBezTo>
                  <a:pt x="19750" y="838166"/>
                  <a:pt x="0" y="818416"/>
                  <a:pt x="0" y="794053"/>
                </a:cubicBezTo>
                <a:lnTo>
                  <a:pt x="0" y="44113"/>
                </a:lnTo>
                <a:cubicBezTo>
                  <a:pt x="0" y="19766"/>
                  <a:pt x="19766" y="0"/>
                  <a:pt x="44113" y="0"/>
                </a:cubicBezTo>
                <a:close/>
              </a:path>
            </a:pathLst>
          </a:custGeom>
          <a:solidFill>
            <a:srgbClr val="181A1F">
              <a:alpha val="50196"/>
            </a:srgbClr>
          </a:solidFill>
          <a:ln/>
        </p:spPr>
      </p:sp>
      <p:sp>
        <p:nvSpPr>
          <p:cNvPr id="34" name="Text 32"/>
          <p:cNvSpPr/>
          <p:nvPr/>
        </p:nvSpPr>
        <p:spPr>
          <a:xfrm>
            <a:off x="8589904" y="4292841"/>
            <a:ext cx="7003094" cy="264684"/>
          </a:xfrm>
          <a:prstGeom prst="rect">
            <a:avLst/>
          </a:prstGeom>
          <a:noFill/>
          <a:ln/>
        </p:spPr>
        <p:txBody>
          <a:bodyPr wrap="square" lIns="0" tIns="0" rIns="0" bIns="0" rtlCol="0" anchor="ctr"/>
          <a:lstStyle/>
          <a:p>
            <a:pPr>
              <a:lnSpc>
                <a:spcPct val="130000"/>
              </a:lnSpc>
            </a:pPr>
            <a:r>
              <a:rPr lang="en-US" sz="1389" b="1" dirty="0">
                <a:solidFill>
                  <a:srgbClr val="D1D5DB"/>
                </a:solidFill>
                <a:latin typeface="MiSans" pitchFamily="34" charset="0"/>
                <a:ea typeface="MiSans" pitchFamily="34" charset="-122"/>
                <a:cs typeface="MiSans" pitchFamily="34" charset="-120"/>
              </a:rPr>
              <a:t>风险警示</a:t>
            </a:r>
            <a:endParaRPr lang="en-US" sz="1600" dirty="0"/>
          </a:p>
        </p:txBody>
      </p:sp>
      <p:sp>
        <p:nvSpPr>
          <p:cNvPr id="35" name="Text 33"/>
          <p:cNvSpPr/>
          <p:nvPr/>
        </p:nvSpPr>
        <p:spPr>
          <a:xfrm>
            <a:off x="8589904" y="4645753"/>
            <a:ext cx="6992065" cy="220570"/>
          </a:xfrm>
          <a:prstGeom prst="rect">
            <a:avLst/>
          </a:prstGeom>
          <a:noFill/>
          <a:ln/>
        </p:spPr>
        <p:txBody>
          <a:bodyPr wrap="square" lIns="0" tIns="0" rIns="0" bIns="0" rtlCol="0" anchor="ctr"/>
          <a:lstStyle/>
          <a:p>
            <a:pPr>
              <a:lnSpc>
                <a:spcPct val="120000"/>
              </a:lnSpc>
            </a:pPr>
            <a:r>
              <a:rPr lang="en-US" sz="1216" dirty="0">
                <a:solidFill>
                  <a:srgbClr val="7E9AA8"/>
                </a:solidFill>
                <a:latin typeface="MiSans" pitchFamily="34" charset="0"/>
                <a:ea typeface="MiSans" pitchFamily="34" charset="-122"/>
                <a:cs typeface="MiSans" pitchFamily="34" charset="-120"/>
              </a:rPr>
              <a:t>复杂元学习器极易导致直接</a:t>
            </a:r>
            <a:pPr>
              <a:lnSpc>
                <a:spcPct val="120000"/>
              </a:lnSpc>
            </a:pPr>
            <a:r>
              <a:rPr lang="en-US" sz="1216" b="1" dirty="0">
                <a:solidFill>
                  <a:srgbClr val="4C7E9A"/>
                </a:solidFill>
                <a:latin typeface="MiSans" pitchFamily="34" charset="0"/>
                <a:ea typeface="MiSans" pitchFamily="34" charset="-122"/>
                <a:cs typeface="MiSans" pitchFamily="34" charset="-120"/>
              </a:rPr>
              <a:t>"记住"</a:t>
            </a:r>
            <a:pPr>
              <a:lnSpc>
                <a:spcPct val="120000"/>
              </a:lnSpc>
            </a:pPr>
            <a:r>
              <a:rPr lang="en-US" sz="1216" dirty="0">
                <a:solidFill>
                  <a:srgbClr val="7E9AA8"/>
                </a:solidFill>
                <a:latin typeface="MiSans" pitchFamily="34" charset="0"/>
                <a:ea typeface="MiSans" pitchFamily="34" charset="-122"/>
                <a:cs typeface="MiSans" pitchFamily="34" charset="-120"/>
              </a:rPr>
              <a:t>了基模型的噪声，而非其规律</a:t>
            </a:r>
            <a:endParaRPr lang="en-US" sz="1600" dirty="0"/>
          </a:p>
        </p:txBody>
      </p:sp>
      <p:sp>
        <p:nvSpPr>
          <p:cNvPr id="36" name="Shape 34"/>
          <p:cNvSpPr/>
          <p:nvPr/>
        </p:nvSpPr>
        <p:spPr>
          <a:xfrm>
            <a:off x="8242507" y="5357091"/>
            <a:ext cx="7565547" cy="2349069"/>
          </a:xfrm>
          <a:custGeom>
            <a:avLst/>
            <a:gdLst/>
            <a:ahLst/>
            <a:cxnLst/>
            <a:rect l="l" t="t" r="r" b="b"/>
            <a:pathLst>
              <a:path w="7565547" h="2349069">
                <a:moveTo>
                  <a:pt x="88231" y="0"/>
                </a:moveTo>
                <a:lnTo>
                  <a:pt x="7477316" y="0"/>
                </a:lnTo>
                <a:cubicBezTo>
                  <a:pt x="7526044" y="0"/>
                  <a:pt x="7565547" y="39502"/>
                  <a:pt x="7565547" y="88231"/>
                </a:cubicBezTo>
                <a:lnTo>
                  <a:pt x="7565547" y="2260838"/>
                </a:lnTo>
                <a:cubicBezTo>
                  <a:pt x="7565547" y="2309567"/>
                  <a:pt x="7526044" y="2349069"/>
                  <a:pt x="7477316" y="2349069"/>
                </a:cubicBezTo>
                <a:lnTo>
                  <a:pt x="88231" y="2349069"/>
                </a:lnTo>
                <a:cubicBezTo>
                  <a:pt x="39502" y="2349069"/>
                  <a:pt x="0" y="2309567"/>
                  <a:pt x="0" y="2260838"/>
                </a:cubicBezTo>
                <a:lnTo>
                  <a:pt x="0" y="88231"/>
                </a:lnTo>
                <a:cubicBezTo>
                  <a:pt x="0" y="39535"/>
                  <a:pt x="39535" y="0"/>
                  <a:pt x="88231" y="0"/>
                </a:cubicBezTo>
                <a:close/>
              </a:path>
            </a:pathLst>
          </a:custGeom>
          <a:solidFill>
            <a:srgbClr val="3A5E78">
              <a:alpha val="20000"/>
            </a:srgbClr>
          </a:solidFill>
          <a:ln w="12700">
            <a:solidFill>
              <a:srgbClr val="4C7E9A">
                <a:alpha val="50196"/>
              </a:srgbClr>
            </a:solidFill>
            <a:prstDash val="solid"/>
          </a:ln>
        </p:spPr>
      </p:sp>
      <p:sp>
        <p:nvSpPr>
          <p:cNvPr id="37" name="Text 35"/>
          <p:cNvSpPr/>
          <p:nvPr/>
        </p:nvSpPr>
        <p:spPr>
          <a:xfrm>
            <a:off x="8424477" y="5539061"/>
            <a:ext cx="7333948" cy="352912"/>
          </a:xfrm>
          <a:prstGeom prst="rect">
            <a:avLst/>
          </a:prstGeom>
          <a:noFill/>
          <a:ln/>
        </p:spPr>
        <p:txBody>
          <a:bodyPr wrap="square" lIns="0" tIns="0" rIns="0" bIns="0" rtlCol="0" anchor="ctr"/>
          <a:lstStyle/>
          <a:p>
            <a:pPr>
              <a:lnSpc>
                <a:spcPct val="110000"/>
              </a:lnSpc>
            </a:pPr>
            <a:r>
              <a:rPr lang="en-US" sz="2084" b="1" dirty="0">
                <a:solidFill>
                  <a:srgbClr val="4C7E9A"/>
                </a:solidFill>
                <a:latin typeface="MiSans" pitchFamily="34" charset="0"/>
                <a:ea typeface="MiSans" pitchFamily="34" charset="-122"/>
                <a:cs typeface="MiSans" pitchFamily="34" charset="-120"/>
              </a:rPr>
              <a:t>进阶策略</a:t>
            </a:r>
            <a:endParaRPr lang="en-US" sz="1600" dirty="0"/>
          </a:p>
        </p:txBody>
      </p:sp>
      <p:sp>
        <p:nvSpPr>
          <p:cNvPr id="38" name="Shape 36"/>
          <p:cNvSpPr/>
          <p:nvPr/>
        </p:nvSpPr>
        <p:spPr>
          <a:xfrm>
            <a:off x="8424477" y="6024315"/>
            <a:ext cx="7201607" cy="705824"/>
          </a:xfrm>
          <a:custGeom>
            <a:avLst/>
            <a:gdLst/>
            <a:ahLst/>
            <a:cxnLst/>
            <a:rect l="l" t="t" r="r" b="b"/>
            <a:pathLst>
              <a:path w="7201607" h="705824">
                <a:moveTo>
                  <a:pt x="44114" y="0"/>
                </a:moveTo>
                <a:lnTo>
                  <a:pt x="7157493" y="0"/>
                </a:lnTo>
                <a:cubicBezTo>
                  <a:pt x="7181856" y="0"/>
                  <a:pt x="7201607" y="19750"/>
                  <a:pt x="7201607" y="44114"/>
                </a:cubicBezTo>
                <a:lnTo>
                  <a:pt x="7201607" y="661710"/>
                </a:lnTo>
                <a:cubicBezTo>
                  <a:pt x="7201607" y="686073"/>
                  <a:pt x="7181856" y="705824"/>
                  <a:pt x="7157493" y="705824"/>
                </a:cubicBezTo>
                <a:lnTo>
                  <a:pt x="44114" y="705824"/>
                </a:lnTo>
                <a:cubicBezTo>
                  <a:pt x="19750" y="705824"/>
                  <a:pt x="0" y="686073"/>
                  <a:pt x="0" y="661710"/>
                </a:cubicBezTo>
                <a:lnTo>
                  <a:pt x="0" y="44114"/>
                </a:lnTo>
                <a:cubicBezTo>
                  <a:pt x="0" y="19750"/>
                  <a:pt x="19750" y="0"/>
                  <a:pt x="44114" y="0"/>
                </a:cubicBezTo>
                <a:close/>
              </a:path>
            </a:pathLst>
          </a:custGeom>
          <a:solidFill>
            <a:srgbClr val="181A1F">
              <a:alpha val="50196"/>
            </a:srgbClr>
          </a:solidFill>
          <a:ln/>
        </p:spPr>
      </p:sp>
      <p:sp>
        <p:nvSpPr>
          <p:cNvPr id="39" name="Text 37"/>
          <p:cNvSpPr/>
          <p:nvPr/>
        </p:nvSpPr>
        <p:spPr>
          <a:xfrm>
            <a:off x="8512705" y="6112543"/>
            <a:ext cx="7113379" cy="264684"/>
          </a:xfrm>
          <a:prstGeom prst="rect">
            <a:avLst/>
          </a:prstGeom>
          <a:noFill/>
          <a:ln/>
        </p:spPr>
        <p:txBody>
          <a:bodyPr wrap="square" lIns="0" tIns="0" rIns="0" bIns="0" rtlCol="0" anchor="ctr"/>
          <a:lstStyle/>
          <a:p>
            <a:pPr>
              <a:lnSpc>
                <a:spcPct val="130000"/>
              </a:lnSpc>
            </a:pPr>
            <a:r>
              <a:rPr lang="en-US" sz="1389" b="1" dirty="0">
                <a:solidFill>
                  <a:srgbClr val="D1D5DB"/>
                </a:solidFill>
                <a:latin typeface="MiSans" pitchFamily="34" charset="0"/>
                <a:ea typeface="MiSans" pitchFamily="34" charset="-122"/>
                <a:cs typeface="MiSans" pitchFamily="34" charset="-120"/>
              </a:rPr>
              <a:t>特征增强</a:t>
            </a:r>
            <a:endParaRPr lang="en-US" sz="1600" dirty="0"/>
          </a:p>
        </p:txBody>
      </p:sp>
      <p:sp>
        <p:nvSpPr>
          <p:cNvPr id="40" name="Text 38"/>
          <p:cNvSpPr/>
          <p:nvPr/>
        </p:nvSpPr>
        <p:spPr>
          <a:xfrm>
            <a:off x="8512705" y="6421341"/>
            <a:ext cx="7102350" cy="220570"/>
          </a:xfrm>
          <a:prstGeom prst="rect">
            <a:avLst/>
          </a:prstGeom>
          <a:noFill/>
          <a:ln/>
        </p:spPr>
        <p:txBody>
          <a:bodyPr wrap="square" lIns="0" tIns="0" rIns="0" bIns="0" rtlCol="0" anchor="ctr"/>
          <a:lstStyle/>
          <a:p>
            <a:pPr>
              <a:lnSpc>
                <a:spcPct val="120000"/>
              </a:lnSpc>
            </a:pPr>
            <a:r>
              <a:rPr lang="en-US" sz="1216" dirty="0">
                <a:solidFill>
                  <a:srgbClr val="7E9AA8"/>
                </a:solidFill>
                <a:latin typeface="MiSans" pitchFamily="34" charset="0"/>
                <a:ea typeface="MiSans" pitchFamily="34" charset="-122"/>
                <a:cs typeface="MiSans" pitchFamily="34" charset="-120"/>
              </a:rPr>
              <a:t>将原始特征与元特征拼接，一同输入元学习器</a:t>
            </a:r>
            <a:endParaRPr lang="en-US" sz="1600" dirty="0"/>
          </a:p>
        </p:txBody>
      </p:sp>
      <p:sp>
        <p:nvSpPr>
          <p:cNvPr id="41" name="Shape 39"/>
          <p:cNvSpPr/>
          <p:nvPr/>
        </p:nvSpPr>
        <p:spPr>
          <a:xfrm>
            <a:off x="8424477" y="6818366"/>
            <a:ext cx="7201607" cy="705824"/>
          </a:xfrm>
          <a:custGeom>
            <a:avLst/>
            <a:gdLst/>
            <a:ahLst/>
            <a:cxnLst/>
            <a:rect l="l" t="t" r="r" b="b"/>
            <a:pathLst>
              <a:path w="7201607" h="705824">
                <a:moveTo>
                  <a:pt x="44114" y="0"/>
                </a:moveTo>
                <a:lnTo>
                  <a:pt x="7157493" y="0"/>
                </a:lnTo>
                <a:cubicBezTo>
                  <a:pt x="7181856" y="0"/>
                  <a:pt x="7201607" y="19750"/>
                  <a:pt x="7201607" y="44114"/>
                </a:cubicBezTo>
                <a:lnTo>
                  <a:pt x="7201607" y="661710"/>
                </a:lnTo>
                <a:cubicBezTo>
                  <a:pt x="7201607" y="686073"/>
                  <a:pt x="7181856" y="705824"/>
                  <a:pt x="7157493" y="705824"/>
                </a:cubicBezTo>
                <a:lnTo>
                  <a:pt x="44114" y="705824"/>
                </a:lnTo>
                <a:cubicBezTo>
                  <a:pt x="19750" y="705824"/>
                  <a:pt x="0" y="686073"/>
                  <a:pt x="0" y="661710"/>
                </a:cubicBezTo>
                <a:lnTo>
                  <a:pt x="0" y="44114"/>
                </a:lnTo>
                <a:cubicBezTo>
                  <a:pt x="0" y="19750"/>
                  <a:pt x="19750" y="0"/>
                  <a:pt x="44114" y="0"/>
                </a:cubicBezTo>
                <a:close/>
              </a:path>
            </a:pathLst>
          </a:custGeom>
          <a:solidFill>
            <a:srgbClr val="181A1F">
              <a:alpha val="50196"/>
            </a:srgbClr>
          </a:solidFill>
          <a:ln/>
        </p:spPr>
      </p:sp>
      <p:sp>
        <p:nvSpPr>
          <p:cNvPr id="42" name="Text 40"/>
          <p:cNvSpPr/>
          <p:nvPr/>
        </p:nvSpPr>
        <p:spPr>
          <a:xfrm>
            <a:off x="8512705" y="6906594"/>
            <a:ext cx="7113379" cy="264684"/>
          </a:xfrm>
          <a:prstGeom prst="rect">
            <a:avLst/>
          </a:prstGeom>
          <a:noFill/>
          <a:ln/>
        </p:spPr>
        <p:txBody>
          <a:bodyPr wrap="square" lIns="0" tIns="0" rIns="0" bIns="0" rtlCol="0" anchor="ctr"/>
          <a:lstStyle/>
          <a:p>
            <a:pPr>
              <a:lnSpc>
                <a:spcPct val="130000"/>
              </a:lnSpc>
            </a:pPr>
            <a:r>
              <a:rPr lang="en-US" sz="1389" b="1" dirty="0">
                <a:solidFill>
                  <a:srgbClr val="D1D5DB"/>
                </a:solidFill>
                <a:latin typeface="MiSans" pitchFamily="34" charset="0"/>
                <a:ea typeface="MiSans" pitchFamily="34" charset="-122"/>
                <a:cs typeface="MiSans" pitchFamily="34" charset="-120"/>
              </a:rPr>
              <a:t>多层堆叠</a:t>
            </a:r>
            <a:endParaRPr lang="en-US" sz="1600" dirty="0"/>
          </a:p>
        </p:txBody>
      </p:sp>
      <p:sp>
        <p:nvSpPr>
          <p:cNvPr id="43" name="Text 41"/>
          <p:cNvSpPr/>
          <p:nvPr/>
        </p:nvSpPr>
        <p:spPr>
          <a:xfrm>
            <a:off x="8512705" y="7215392"/>
            <a:ext cx="7102350" cy="220570"/>
          </a:xfrm>
          <a:prstGeom prst="rect">
            <a:avLst/>
          </a:prstGeom>
          <a:noFill/>
          <a:ln/>
        </p:spPr>
        <p:txBody>
          <a:bodyPr wrap="square" lIns="0" tIns="0" rIns="0" bIns="0" rtlCol="0" anchor="ctr"/>
          <a:lstStyle/>
          <a:p>
            <a:pPr>
              <a:lnSpc>
                <a:spcPct val="120000"/>
              </a:lnSpc>
            </a:pPr>
            <a:r>
              <a:rPr lang="en-US" sz="1216" dirty="0">
                <a:solidFill>
                  <a:srgbClr val="7E9AA8"/>
                </a:solidFill>
                <a:latin typeface="MiSans" pitchFamily="34" charset="0"/>
                <a:ea typeface="MiSans" pitchFamily="34" charset="-122"/>
                <a:cs typeface="MiSans" pitchFamily="34" charset="-120"/>
              </a:rPr>
              <a:t>构建3层甚至更深的结构，但维护成本通常远超性能提升</a:t>
            </a:r>
            <a:endParaRPr lang="en-US" sz="1600" dirty="0"/>
          </a:p>
        </p:txBody>
      </p:sp>
      <p:sp>
        <p:nvSpPr>
          <p:cNvPr id="44" name="Shape 42"/>
          <p:cNvSpPr/>
          <p:nvPr/>
        </p:nvSpPr>
        <p:spPr>
          <a:xfrm>
            <a:off x="8242507" y="7893645"/>
            <a:ext cx="7565547" cy="805080"/>
          </a:xfrm>
          <a:custGeom>
            <a:avLst/>
            <a:gdLst/>
            <a:ahLst/>
            <a:cxnLst/>
            <a:rect l="l" t="t" r="r" b="b"/>
            <a:pathLst>
              <a:path w="7565547" h="805080">
                <a:moveTo>
                  <a:pt x="88229" y="0"/>
                </a:moveTo>
                <a:lnTo>
                  <a:pt x="7477318" y="0"/>
                </a:lnTo>
                <a:cubicBezTo>
                  <a:pt x="7526045" y="0"/>
                  <a:pt x="7565547" y="39501"/>
                  <a:pt x="7565547" y="88229"/>
                </a:cubicBezTo>
                <a:lnTo>
                  <a:pt x="7565547" y="716851"/>
                </a:lnTo>
                <a:cubicBezTo>
                  <a:pt x="7565547" y="765579"/>
                  <a:pt x="7526045" y="805080"/>
                  <a:pt x="7477318" y="805080"/>
                </a:cubicBezTo>
                <a:lnTo>
                  <a:pt x="88229" y="805080"/>
                </a:lnTo>
                <a:cubicBezTo>
                  <a:pt x="39501" y="805080"/>
                  <a:pt x="0" y="765579"/>
                  <a:pt x="0" y="716851"/>
                </a:cubicBezTo>
                <a:lnTo>
                  <a:pt x="0" y="88229"/>
                </a:lnTo>
                <a:cubicBezTo>
                  <a:pt x="0" y="39501"/>
                  <a:pt x="39501" y="0"/>
                  <a:pt x="88229" y="0"/>
                </a:cubicBezTo>
                <a:close/>
              </a:path>
            </a:pathLst>
          </a:custGeom>
          <a:solidFill>
            <a:srgbClr val="4C7E9A">
              <a:alpha val="10196"/>
            </a:srgbClr>
          </a:solidFill>
          <a:ln w="12700">
            <a:solidFill>
              <a:srgbClr val="4C7E9A">
                <a:alpha val="30196"/>
              </a:srgbClr>
            </a:solidFill>
            <a:prstDash val="solid"/>
          </a:ln>
        </p:spPr>
      </p:sp>
      <p:sp>
        <p:nvSpPr>
          <p:cNvPr id="45" name="Shape 43"/>
          <p:cNvSpPr/>
          <p:nvPr/>
        </p:nvSpPr>
        <p:spPr>
          <a:xfrm>
            <a:off x="8424477" y="8081129"/>
            <a:ext cx="132342" cy="176456"/>
          </a:xfrm>
          <a:custGeom>
            <a:avLst/>
            <a:gdLst/>
            <a:ahLst/>
            <a:cxnLst/>
            <a:rect l="l" t="t" r="r" b="b"/>
            <a:pathLst>
              <a:path w="132342" h="176456">
                <a:moveTo>
                  <a:pt x="100945" y="132342"/>
                </a:moveTo>
                <a:cubicBezTo>
                  <a:pt x="103461" y="124656"/>
                  <a:pt x="108493" y="117695"/>
                  <a:pt x="114179" y="111698"/>
                </a:cubicBezTo>
                <a:cubicBezTo>
                  <a:pt x="125449" y="99842"/>
                  <a:pt x="132342" y="83817"/>
                  <a:pt x="132342" y="66171"/>
                </a:cubicBezTo>
                <a:cubicBezTo>
                  <a:pt x="132342" y="29639"/>
                  <a:pt x="102703" y="0"/>
                  <a:pt x="66171" y="0"/>
                </a:cubicBezTo>
                <a:cubicBezTo>
                  <a:pt x="29639" y="0"/>
                  <a:pt x="0" y="29639"/>
                  <a:pt x="0" y="66171"/>
                </a:cubicBezTo>
                <a:cubicBezTo>
                  <a:pt x="0" y="83817"/>
                  <a:pt x="6893" y="99842"/>
                  <a:pt x="18163" y="111698"/>
                </a:cubicBezTo>
                <a:cubicBezTo>
                  <a:pt x="23849" y="117695"/>
                  <a:pt x="28915" y="124656"/>
                  <a:pt x="31397" y="132342"/>
                </a:cubicBezTo>
                <a:lnTo>
                  <a:pt x="100911" y="132342"/>
                </a:lnTo>
                <a:close/>
                <a:moveTo>
                  <a:pt x="99256" y="148885"/>
                </a:moveTo>
                <a:lnTo>
                  <a:pt x="33085" y="148885"/>
                </a:lnTo>
                <a:lnTo>
                  <a:pt x="33085" y="154399"/>
                </a:lnTo>
                <a:cubicBezTo>
                  <a:pt x="33085" y="169632"/>
                  <a:pt x="45424" y="181970"/>
                  <a:pt x="60657" y="181970"/>
                </a:cubicBezTo>
                <a:lnTo>
                  <a:pt x="71685" y="181970"/>
                </a:lnTo>
                <a:cubicBezTo>
                  <a:pt x="86918" y="181970"/>
                  <a:pt x="99256" y="169632"/>
                  <a:pt x="99256" y="154399"/>
                </a:cubicBezTo>
                <a:lnTo>
                  <a:pt x="99256" y="148885"/>
                </a:lnTo>
                <a:close/>
                <a:moveTo>
                  <a:pt x="63414" y="38600"/>
                </a:moveTo>
                <a:cubicBezTo>
                  <a:pt x="49697" y="38600"/>
                  <a:pt x="38600" y="49697"/>
                  <a:pt x="38600" y="63414"/>
                </a:cubicBezTo>
                <a:cubicBezTo>
                  <a:pt x="38600" y="67998"/>
                  <a:pt x="34912" y="71685"/>
                  <a:pt x="30328" y="71685"/>
                </a:cubicBezTo>
                <a:cubicBezTo>
                  <a:pt x="25745" y="71685"/>
                  <a:pt x="22057" y="67998"/>
                  <a:pt x="22057" y="63414"/>
                </a:cubicBezTo>
                <a:cubicBezTo>
                  <a:pt x="22057" y="40564"/>
                  <a:pt x="40564" y="22057"/>
                  <a:pt x="63414" y="22057"/>
                </a:cubicBezTo>
                <a:cubicBezTo>
                  <a:pt x="67998" y="22057"/>
                  <a:pt x="71685" y="25745"/>
                  <a:pt x="71685" y="30328"/>
                </a:cubicBezTo>
                <a:cubicBezTo>
                  <a:pt x="71685" y="34912"/>
                  <a:pt x="67998" y="38600"/>
                  <a:pt x="63414" y="38600"/>
                </a:cubicBezTo>
                <a:close/>
              </a:path>
            </a:pathLst>
          </a:custGeom>
          <a:solidFill>
            <a:srgbClr val="4C7E9A"/>
          </a:solidFill>
          <a:ln/>
        </p:spPr>
      </p:sp>
      <p:sp>
        <p:nvSpPr>
          <p:cNvPr id="46" name="Text 44"/>
          <p:cNvSpPr/>
          <p:nvPr/>
        </p:nvSpPr>
        <p:spPr>
          <a:xfrm>
            <a:off x="8677549" y="8031501"/>
            <a:ext cx="7080877" cy="529368"/>
          </a:xfrm>
          <a:prstGeom prst="rect">
            <a:avLst/>
          </a:prstGeom>
          <a:noFill/>
          <a:ln/>
        </p:spPr>
        <p:txBody>
          <a:bodyPr wrap="square" lIns="0" tIns="0" rIns="0" bIns="0" rtlCol="0" anchor="ctr"/>
          <a:lstStyle/>
          <a:p>
            <a:pPr>
              <a:lnSpc>
                <a:spcPct val="130000"/>
              </a:lnSpc>
            </a:pPr>
            <a:r>
              <a:rPr lang="en-US" sz="1389" b="1" dirty="0">
                <a:solidFill>
                  <a:srgbClr val="4C7E9A"/>
                </a:solidFill>
                <a:latin typeface="MiSans" pitchFamily="34" charset="0"/>
                <a:ea typeface="MiSans" pitchFamily="34" charset="-122"/>
                <a:cs typeface="MiSans" pitchFamily="34" charset="-120"/>
              </a:rPr>
              <a:t>实践建议：</a:t>
            </a:r>
            <a:pPr>
              <a:lnSpc>
                <a:spcPct val="130000"/>
              </a:lnSpc>
            </a:pPr>
            <a:r>
              <a:rPr lang="en-US" sz="1389" dirty="0">
                <a:solidFill>
                  <a:srgbClr val="D1D5DB"/>
                </a:solidFill>
                <a:latin typeface="MiSans" pitchFamily="34" charset="0"/>
                <a:ea typeface="MiSans" pitchFamily="34" charset="-122"/>
                <a:cs typeface="MiSans" pitchFamily="34" charset="-120"/>
              </a:rPr>
              <a:t>Stacking是提升模型上限的"核武器"，但系统复杂度极高，建议仅在单一模型调优遇到瓶颈且业务对精度有极致要求时谨慎使用</a:t>
            </a:r>
            <a:endParaRPr lang="en-US" sz="1600" dirty="0"/>
          </a:p>
        </p:txBody>
      </p:sp>
    </p:spTree>
  </p:cSld>
  <p:clrMapOvr>
    <a:masterClrMapping/>
  </p:clrMapOvr>
  <p:transition>
    <p:fade/>
    <p:spd val="med"/>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81A1F"/>
        </a:solidFill>
      </p:bgPr>
    </p:bg>
    <p:spTree>
      <p:nvGrpSpPr>
        <p:cNvPr id="1" name=""/>
        <p:cNvGrpSpPr/>
        <p:nvPr/>
      </p:nvGrpSpPr>
      <p:grpSpPr>
        <a:xfrm>
          <a:off x="0" y="0"/>
          <a:ext cx="0" cy="0"/>
          <a:chOff x="0" y="0"/>
          <a:chExt cx="0" cy="0"/>
        </a:xfrm>
      </p:grpSpPr>
      <p:pic>
        <p:nvPicPr>
          <p:cNvPr id="2" name="Image 0" descr="https://kimi-web-img.moonshot.cn/img/images.stockcake.com/6b9ada53c3c37ab69d877fcf68a69f20245b1f8c.jpg">    </p:cNvPr>
          <p:cNvPicPr>
            <a:picLocks noChangeAspect="1"/>
          </p:cNvPicPr>
          <p:nvPr/>
        </p:nvPicPr>
        <p:blipFill>
          <a:blip r:embed="rId1">
            <a:alphaModFix amt="30000"/>
          </a:blip>
          <a:srcRect l="0" r="0" t="21875" b="21875"/>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rotWithShape="1" flip="none">
            <a:gsLst>
              <a:gs pos="0">
                <a:srgbClr val="181A1F"/>
              </a:gs>
              <a:gs pos="50000">
                <a:srgbClr val="181A1F">
                  <a:alpha val="95000"/>
                </a:srgbClr>
              </a:gs>
              <a:gs pos="100000">
                <a:srgbClr val="181A1F">
                  <a:alpha val="70000"/>
                </a:srgbClr>
              </a:gs>
            </a:gsLst>
            <a:lin ang="0" scaled="1"/>
          </a:gradFill>
          <a:ln/>
        </p:spPr>
      </p:sp>
      <p:sp>
        <p:nvSpPr>
          <p:cNvPr id="4" name="Shape 1"/>
          <p:cNvSpPr/>
          <p:nvPr/>
        </p:nvSpPr>
        <p:spPr>
          <a:xfrm>
            <a:off x="520700" y="1073150"/>
            <a:ext cx="2349500" cy="787400"/>
          </a:xfrm>
          <a:custGeom>
            <a:avLst/>
            <a:gdLst/>
            <a:ahLst/>
            <a:cxnLst/>
            <a:rect l="l" t="t" r="r" b="b"/>
            <a:pathLst>
              <a:path w="2349500" h="787400">
                <a:moveTo>
                  <a:pt x="101598" y="0"/>
                </a:moveTo>
                <a:lnTo>
                  <a:pt x="2247902" y="0"/>
                </a:lnTo>
                <a:cubicBezTo>
                  <a:pt x="2304013" y="0"/>
                  <a:pt x="2349500" y="45487"/>
                  <a:pt x="2349500" y="101598"/>
                </a:cubicBezTo>
                <a:lnTo>
                  <a:pt x="2349500" y="685802"/>
                </a:lnTo>
                <a:cubicBezTo>
                  <a:pt x="2349500" y="741913"/>
                  <a:pt x="2304013" y="787400"/>
                  <a:pt x="2247902" y="787400"/>
                </a:cubicBezTo>
                <a:lnTo>
                  <a:pt x="101598" y="787400"/>
                </a:lnTo>
                <a:cubicBezTo>
                  <a:pt x="45487" y="787400"/>
                  <a:pt x="0" y="741913"/>
                  <a:pt x="0" y="685802"/>
                </a:cubicBezTo>
                <a:lnTo>
                  <a:pt x="0" y="101598"/>
                </a:lnTo>
                <a:cubicBezTo>
                  <a:pt x="0" y="45525"/>
                  <a:pt x="45525" y="0"/>
                  <a:pt x="101598" y="0"/>
                </a:cubicBezTo>
                <a:close/>
              </a:path>
            </a:pathLst>
          </a:custGeom>
          <a:solidFill>
            <a:srgbClr val="4C7E9A">
              <a:alpha val="20000"/>
            </a:srgbClr>
          </a:solidFill>
          <a:ln w="25400">
            <a:solidFill>
              <a:srgbClr val="4C7E9A"/>
            </a:solidFill>
            <a:prstDash val="solid"/>
          </a:ln>
        </p:spPr>
      </p:sp>
      <p:sp>
        <p:nvSpPr>
          <p:cNvPr id="5" name="Text 2"/>
          <p:cNvSpPr/>
          <p:nvPr/>
        </p:nvSpPr>
        <p:spPr>
          <a:xfrm>
            <a:off x="838200" y="1238250"/>
            <a:ext cx="1905000" cy="457200"/>
          </a:xfrm>
          <a:prstGeom prst="rect">
            <a:avLst/>
          </a:prstGeom>
          <a:noFill/>
          <a:ln/>
        </p:spPr>
        <p:txBody>
          <a:bodyPr wrap="square" lIns="0" tIns="0" rIns="0" bIns="0" rtlCol="0" anchor="ctr"/>
          <a:lstStyle/>
          <a:p>
            <a:pPr>
              <a:lnSpc>
                <a:spcPct val="100000"/>
              </a:lnSpc>
            </a:pPr>
            <a:r>
              <a:rPr lang="en-US" sz="3000" b="1" dirty="0">
                <a:solidFill>
                  <a:srgbClr val="4C7E9A"/>
                </a:solidFill>
                <a:latin typeface="MiSans" pitchFamily="34" charset="0"/>
                <a:ea typeface="MiSans" pitchFamily="34" charset="-122"/>
                <a:cs typeface="MiSans" pitchFamily="34" charset="-120"/>
              </a:rPr>
              <a:t>CHAPTER</a:t>
            </a:r>
            <a:endParaRPr lang="en-US" sz="1600" dirty="0"/>
          </a:p>
        </p:txBody>
      </p:sp>
      <p:sp>
        <p:nvSpPr>
          <p:cNvPr id="6" name="Text 3"/>
          <p:cNvSpPr/>
          <p:nvPr/>
        </p:nvSpPr>
        <p:spPr>
          <a:xfrm>
            <a:off x="508000" y="2279650"/>
            <a:ext cx="6705600" cy="1219200"/>
          </a:xfrm>
          <a:prstGeom prst="rect">
            <a:avLst/>
          </a:prstGeom>
          <a:noFill/>
          <a:ln/>
        </p:spPr>
        <p:txBody>
          <a:bodyPr wrap="square" lIns="0" tIns="0" rIns="0" bIns="0" rtlCol="0" anchor="ctr"/>
          <a:lstStyle/>
          <a:p>
            <a:pPr>
              <a:lnSpc>
                <a:spcPct val="80000"/>
              </a:lnSpc>
            </a:pPr>
            <a:r>
              <a:rPr lang="en-US" sz="9600" b="1" dirty="0">
                <a:solidFill>
                  <a:srgbClr val="D1D5DB"/>
                </a:solidFill>
                <a:latin typeface="阿里妈妈数黑体" pitchFamily="34" charset="0"/>
                <a:ea typeface="阿里妈妈数黑体" pitchFamily="34" charset="-122"/>
                <a:cs typeface="阿里妈妈数黑体" pitchFamily="34" charset="-120"/>
              </a:rPr>
              <a:t>08</a:t>
            </a:r>
            <a:endParaRPr lang="en-US" sz="1600" dirty="0"/>
          </a:p>
        </p:txBody>
      </p:sp>
      <p:sp>
        <p:nvSpPr>
          <p:cNvPr id="7" name="Text 4"/>
          <p:cNvSpPr/>
          <p:nvPr/>
        </p:nvSpPr>
        <p:spPr>
          <a:xfrm>
            <a:off x="508000" y="3803650"/>
            <a:ext cx="6477000" cy="952500"/>
          </a:xfrm>
          <a:prstGeom prst="rect">
            <a:avLst/>
          </a:prstGeom>
          <a:noFill/>
          <a:ln/>
        </p:spPr>
        <p:txBody>
          <a:bodyPr wrap="square" lIns="0" tIns="0" rIns="0" bIns="0" rtlCol="0" anchor="ctr"/>
          <a:lstStyle/>
          <a:p>
            <a:pPr>
              <a:lnSpc>
                <a:spcPct val="100000"/>
              </a:lnSpc>
            </a:pPr>
            <a:r>
              <a:rPr lang="en-US" sz="6000" b="1" dirty="0">
                <a:solidFill>
                  <a:srgbClr val="4C7E9A"/>
                </a:solidFill>
                <a:latin typeface="阿里妈妈数黑体" pitchFamily="34" charset="0"/>
                <a:ea typeface="阿里妈妈数黑体" pitchFamily="34" charset="-122"/>
                <a:cs typeface="阿里妈妈数黑体" pitchFamily="34" charset="-120"/>
              </a:rPr>
              <a:t>局限性与应对策略</a:t>
            </a:r>
            <a:endParaRPr lang="en-US" sz="1600" dirty="0"/>
          </a:p>
        </p:txBody>
      </p:sp>
      <p:sp>
        <p:nvSpPr>
          <p:cNvPr id="8" name="Shape 5"/>
          <p:cNvSpPr/>
          <p:nvPr/>
        </p:nvSpPr>
        <p:spPr>
          <a:xfrm>
            <a:off x="508000" y="5162550"/>
            <a:ext cx="2438400" cy="101600"/>
          </a:xfrm>
          <a:custGeom>
            <a:avLst/>
            <a:gdLst/>
            <a:ahLst/>
            <a:cxnLst/>
            <a:rect l="l" t="t" r="r" b="b"/>
            <a:pathLst>
              <a:path w="2438400" h="101600">
                <a:moveTo>
                  <a:pt x="0" y="0"/>
                </a:moveTo>
                <a:lnTo>
                  <a:pt x="2438400" y="0"/>
                </a:lnTo>
                <a:lnTo>
                  <a:pt x="2438400" y="101600"/>
                </a:lnTo>
                <a:lnTo>
                  <a:pt x="0" y="101600"/>
                </a:lnTo>
                <a:lnTo>
                  <a:pt x="0" y="0"/>
                </a:lnTo>
                <a:close/>
              </a:path>
            </a:pathLst>
          </a:custGeom>
          <a:solidFill>
            <a:srgbClr val="4C7E9A"/>
          </a:solidFill>
          <a:ln/>
        </p:spPr>
      </p:sp>
      <p:sp>
        <p:nvSpPr>
          <p:cNvPr id="9" name="Text 6"/>
          <p:cNvSpPr/>
          <p:nvPr/>
        </p:nvSpPr>
        <p:spPr>
          <a:xfrm>
            <a:off x="508000" y="5568950"/>
            <a:ext cx="6324600" cy="508000"/>
          </a:xfrm>
          <a:prstGeom prst="rect">
            <a:avLst/>
          </a:prstGeom>
          <a:noFill/>
          <a:ln/>
        </p:spPr>
        <p:txBody>
          <a:bodyPr wrap="square" lIns="0" tIns="0" rIns="0" bIns="0" rtlCol="0" anchor="ctr"/>
          <a:lstStyle/>
          <a:p>
            <a:pPr>
              <a:lnSpc>
                <a:spcPct val="90000"/>
              </a:lnSpc>
            </a:pPr>
            <a:r>
              <a:rPr lang="en-US" sz="3600" dirty="0">
                <a:solidFill>
                  <a:srgbClr val="7E9AA8"/>
                </a:solidFill>
                <a:latin typeface="MiSans" pitchFamily="34" charset="0"/>
                <a:ea typeface="MiSans" pitchFamily="34" charset="-122"/>
                <a:cs typeface="MiSans" pitchFamily="34" charset="-120"/>
              </a:rPr>
              <a:t>理解挑战，优化实践</a:t>
            </a:r>
            <a:endParaRPr lang="en-US" sz="1600" dirty="0"/>
          </a:p>
        </p:txBody>
      </p:sp>
      <p:sp>
        <p:nvSpPr>
          <p:cNvPr id="10" name="Shape 7"/>
          <p:cNvSpPr/>
          <p:nvPr/>
        </p:nvSpPr>
        <p:spPr>
          <a:xfrm>
            <a:off x="508000" y="6686550"/>
            <a:ext cx="2946400" cy="1397000"/>
          </a:xfrm>
          <a:custGeom>
            <a:avLst/>
            <a:gdLst/>
            <a:ahLst/>
            <a:cxnLst/>
            <a:rect l="l" t="t" r="r" b="b"/>
            <a:pathLst>
              <a:path w="2946400" h="1397000">
                <a:moveTo>
                  <a:pt x="101604" y="0"/>
                </a:moveTo>
                <a:lnTo>
                  <a:pt x="2844796" y="0"/>
                </a:lnTo>
                <a:cubicBezTo>
                  <a:pt x="2900910" y="0"/>
                  <a:pt x="2946400" y="45490"/>
                  <a:pt x="2946400" y="101604"/>
                </a:cubicBezTo>
                <a:lnTo>
                  <a:pt x="2946400" y="1295396"/>
                </a:lnTo>
                <a:cubicBezTo>
                  <a:pt x="2946400" y="1351510"/>
                  <a:pt x="2900910" y="1397000"/>
                  <a:pt x="28447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1" name="Shape 8"/>
          <p:cNvSpPr/>
          <p:nvPr/>
        </p:nvSpPr>
        <p:spPr>
          <a:xfrm>
            <a:off x="812800" y="6940550"/>
            <a:ext cx="381000" cy="381000"/>
          </a:xfrm>
          <a:custGeom>
            <a:avLst/>
            <a:gdLst/>
            <a:ahLst/>
            <a:cxnLst/>
            <a:rect l="l" t="t" r="r" b="b"/>
            <a:pathLst>
              <a:path w="381000" h="381000">
                <a:moveTo>
                  <a:pt x="190500" y="0"/>
                </a:moveTo>
                <a:cubicBezTo>
                  <a:pt x="201439" y="0"/>
                  <a:pt x="211485" y="6028"/>
                  <a:pt x="216694" y="15627"/>
                </a:cubicBezTo>
                <a:lnTo>
                  <a:pt x="377428" y="313283"/>
                </a:lnTo>
                <a:cubicBezTo>
                  <a:pt x="382414" y="322511"/>
                  <a:pt x="382191" y="333673"/>
                  <a:pt x="376833" y="342677"/>
                </a:cubicBezTo>
                <a:cubicBezTo>
                  <a:pt x="371475" y="351681"/>
                  <a:pt x="361727" y="357188"/>
                  <a:pt x="351234" y="357188"/>
                </a:cubicBezTo>
                <a:lnTo>
                  <a:pt x="29766" y="357188"/>
                </a:lnTo>
                <a:cubicBezTo>
                  <a:pt x="19273" y="357188"/>
                  <a:pt x="9599" y="351681"/>
                  <a:pt x="4167" y="342677"/>
                </a:cubicBezTo>
                <a:cubicBezTo>
                  <a:pt x="-1265" y="333673"/>
                  <a:pt x="-1414" y="322511"/>
                  <a:pt x="3572" y="313283"/>
                </a:cubicBezTo>
                <a:lnTo>
                  <a:pt x="164306" y="15627"/>
                </a:lnTo>
                <a:cubicBezTo>
                  <a:pt x="169515" y="6028"/>
                  <a:pt x="179561" y="0"/>
                  <a:pt x="190500" y="0"/>
                </a:cubicBezTo>
                <a:close/>
                <a:moveTo>
                  <a:pt x="190500" y="125016"/>
                </a:moveTo>
                <a:cubicBezTo>
                  <a:pt x="180603" y="125016"/>
                  <a:pt x="172641" y="132978"/>
                  <a:pt x="172641" y="142875"/>
                </a:cubicBezTo>
                <a:lnTo>
                  <a:pt x="172641" y="226219"/>
                </a:lnTo>
                <a:cubicBezTo>
                  <a:pt x="172641" y="236116"/>
                  <a:pt x="180603" y="244078"/>
                  <a:pt x="190500" y="244078"/>
                </a:cubicBezTo>
                <a:cubicBezTo>
                  <a:pt x="200397" y="244078"/>
                  <a:pt x="208359" y="236116"/>
                  <a:pt x="208359" y="226219"/>
                </a:cubicBezTo>
                <a:lnTo>
                  <a:pt x="208359" y="142875"/>
                </a:lnTo>
                <a:cubicBezTo>
                  <a:pt x="208359" y="132978"/>
                  <a:pt x="200397" y="125016"/>
                  <a:pt x="190500" y="125016"/>
                </a:cubicBezTo>
                <a:close/>
                <a:moveTo>
                  <a:pt x="210369" y="285750"/>
                </a:moveTo>
                <a:cubicBezTo>
                  <a:pt x="210821" y="278375"/>
                  <a:pt x="207143" y="271358"/>
                  <a:pt x="200820" y="267534"/>
                </a:cubicBezTo>
                <a:cubicBezTo>
                  <a:pt x="194498" y="263710"/>
                  <a:pt x="186576" y="263710"/>
                  <a:pt x="180254" y="267534"/>
                </a:cubicBezTo>
                <a:cubicBezTo>
                  <a:pt x="173932" y="271358"/>
                  <a:pt x="170254" y="278375"/>
                  <a:pt x="170706" y="285750"/>
                </a:cubicBezTo>
                <a:cubicBezTo>
                  <a:pt x="170254" y="293125"/>
                  <a:pt x="173932" y="300142"/>
                  <a:pt x="180254" y="303966"/>
                </a:cubicBezTo>
                <a:cubicBezTo>
                  <a:pt x="186576" y="307790"/>
                  <a:pt x="194498" y="307790"/>
                  <a:pt x="200820" y="303966"/>
                </a:cubicBezTo>
                <a:cubicBezTo>
                  <a:pt x="207143" y="300142"/>
                  <a:pt x="210821" y="293125"/>
                  <a:pt x="210369" y="285750"/>
                </a:cubicBezTo>
                <a:close/>
              </a:path>
            </a:pathLst>
          </a:custGeom>
          <a:solidFill>
            <a:srgbClr val="4C7E9A"/>
          </a:solidFill>
          <a:ln/>
        </p:spPr>
      </p:sp>
      <p:sp>
        <p:nvSpPr>
          <p:cNvPr id="12" name="Text 9"/>
          <p:cNvSpPr/>
          <p:nvPr/>
        </p:nvSpPr>
        <p:spPr>
          <a:xfrm>
            <a:off x="762000" y="7473950"/>
            <a:ext cx="25654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局限性分析</a:t>
            </a:r>
            <a:endParaRPr lang="en-US" sz="1600" dirty="0"/>
          </a:p>
        </p:txBody>
      </p:sp>
      <p:sp>
        <p:nvSpPr>
          <p:cNvPr id="13" name="Shape 10"/>
          <p:cNvSpPr/>
          <p:nvPr/>
        </p:nvSpPr>
        <p:spPr>
          <a:xfrm>
            <a:off x="3657600" y="6686550"/>
            <a:ext cx="2946400" cy="1397000"/>
          </a:xfrm>
          <a:custGeom>
            <a:avLst/>
            <a:gdLst/>
            <a:ahLst/>
            <a:cxnLst/>
            <a:rect l="l" t="t" r="r" b="b"/>
            <a:pathLst>
              <a:path w="2946400" h="1397000">
                <a:moveTo>
                  <a:pt x="101604" y="0"/>
                </a:moveTo>
                <a:lnTo>
                  <a:pt x="2844796" y="0"/>
                </a:lnTo>
                <a:cubicBezTo>
                  <a:pt x="2900910" y="0"/>
                  <a:pt x="2946400" y="45490"/>
                  <a:pt x="2946400" y="101604"/>
                </a:cubicBezTo>
                <a:lnTo>
                  <a:pt x="2946400" y="1295396"/>
                </a:lnTo>
                <a:cubicBezTo>
                  <a:pt x="2946400" y="1351510"/>
                  <a:pt x="2900910" y="1397000"/>
                  <a:pt x="28447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4" name="Shape 11"/>
          <p:cNvSpPr/>
          <p:nvPr/>
        </p:nvSpPr>
        <p:spPr>
          <a:xfrm>
            <a:off x="3938588" y="6940550"/>
            <a:ext cx="428625" cy="381000"/>
          </a:xfrm>
          <a:custGeom>
            <a:avLst/>
            <a:gdLst/>
            <a:ahLst/>
            <a:cxnLst/>
            <a:rect l="l" t="t" r="r" b="b"/>
            <a:pathLst>
              <a:path w="428625" h="381000">
                <a:moveTo>
                  <a:pt x="166762" y="72256"/>
                </a:moveTo>
                <a:lnTo>
                  <a:pt x="166762" y="109165"/>
                </a:lnTo>
                <a:lnTo>
                  <a:pt x="167134" y="109537"/>
                </a:lnTo>
                <a:cubicBezTo>
                  <a:pt x="171971" y="48220"/>
                  <a:pt x="223242" y="0"/>
                  <a:pt x="285824" y="0"/>
                </a:cubicBezTo>
                <a:cubicBezTo>
                  <a:pt x="300782" y="0"/>
                  <a:pt x="315144" y="2753"/>
                  <a:pt x="328315" y="7813"/>
                </a:cubicBezTo>
                <a:cubicBezTo>
                  <a:pt x="335756" y="10641"/>
                  <a:pt x="337096" y="20092"/>
                  <a:pt x="331515" y="25747"/>
                </a:cubicBezTo>
                <a:lnTo>
                  <a:pt x="265509" y="91753"/>
                </a:lnTo>
                <a:cubicBezTo>
                  <a:pt x="263277" y="93985"/>
                  <a:pt x="262012" y="97036"/>
                  <a:pt x="262012" y="100161"/>
                </a:cubicBezTo>
                <a:lnTo>
                  <a:pt x="262012" y="130969"/>
                </a:lnTo>
                <a:cubicBezTo>
                  <a:pt x="262012" y="137517"/>
                  <a:pt x="267370" y="142875"/>
                  <a:pt x="273918" y="142875"/>
                </a:cubicBezTo>
                <a:lnTo>
                  <a:pt x="304726" y="142875"/>
                </a:lnTo>
                <a:cubicBezTo>
                  <a:pt x="307851" y="142875"/>
                  <a:pt x="310902" y="141610"/>
                  <a:pt x="313134" y="139378"/>
                </a:cubicBezTo>
                <a:lnTo>
                  <a:pt x="379140" y="73372"/>
                </a:lnTo>
                <a:cubicBezTo>
                  <a:pt x="384795" y="67717"/>
                  <a:pt x="394246" y="69131"/>
                  <a:pt x="397073" y="76572"/>
                </a:cubicBezTo>
                <a:cubicBezTo>
                  <a:pt x="402134" y="89743"/>
                  <a:pt x="404887" y="104105"/>
                  <a:pt x="404887" y="119063"/>
                </a:cubicBezTo>
                <a:cubicBezTo>
                  <a:pt x="404887" y="164157"/>
                  <a:pt x="379809" y="203448"/>
                  <a:pt x="342751" y="223614"/>
                </a:cubicBezTo>
                <a:lnTo>
                  <a:pt x="403399" y="284262"/>
                </a:lnTo>
                <a:cubicBezTo>
                  <a:pt x="417314" y="298177"/>
                  <a:pt x="417314" y="320799"/>
                  <a:pt x="403399" y="334789"/>
                </a:cubicBezTo>
                <a:lnTo>
                  <a:pt x="358676" y="379512"/>
                </a:lnTo>
                <a:cubicBezTo>
                  <a:pt x="344760" y="393427"/>
                  <a:pt x="322138" y="393427"/>
                  <a:pt x="308149" y="379512"/>
                </a:cubicBezTo>
                <a:lnTo>
                  <a:pt x="214387" y="285750"/>
                </a:lnTo>
                <a:cubicBezTo>
                  <a:pt x="193997" y="265361"/>
                  <a:pt x="189384" y="235223"/>
                  <a:pt x="200620" y="210369"/>
                </a:cubicBezTo>
                <a:lnTo>
                  <a:pt x="133127" y="142875"/>
                </a:lnTo>
                <a:lnTo>
                  <a:pt x="96217" y="142875"/>
                </a:lnTo>
                <a:cubicBezTo>
                  <a:pt x="88255" y="142875"/>
                  <a:pt x="80814" y="138931"/>
                  <a:pt x="76423" y="132308"/>
                </a:cubicBezTo>
                <a:lnTo>
                  <a:pt x="17413" y="43830"/>
                </a:lnTo>
                <a:cubicBezTo>
                  <a:pt x="14288" y="39142"/>
                  <a:pt x="14883" y="32817"/>
                  <a:pt x="18901" y="28798"/>
                </a:cubicBezTo>
                <a:lnTo>
                  <a:pt x="52685" y="-4986"/>
                </a:lnTo>
                <a:cubicBezTo>
                  <a:pt x="56704" y="-9004"/>
                  <a:pt x="62954" y="-9599"/>
                  <a:pt x="67717" y="-6474"/>
                </a:cubicBezTo>
                <a:lnTo>
                  <a:pt x="156195" y="52462"/>
                </a:lnTo>
                <a:cubicBezTo>
                  <a:pt x="162818" y="56852"/>
                  <a:pt x="166762" y="64294"/>
                  <a:pt x="166762" y="72256"/>
                </a:cubicBezTo>
                <a:close/>
                <a:moveTo>
                  <a:pt x="160437" y="220712"/>
                </a:moveTo>
                <a:cubicBezTo>
                  <a:pt x="155749" y="248245"/>
                  <a:pt x="162223" y="277341"/>
                  <a:pt x="180082" y="300633"/>
                </a:cubicBezTo>
                <a:lnTo>
                  <a:pt x="109389" y="371252"/>
                </a:lnTo>
                <a:cubicBezTo>
                  <a:pt x="88478" y="392162"/>
                  <a:pt x="54546" y="392162"/>
                  <a:pt x="33635" y="371252"/>
                </a:cubicBezTo>
                <a:cubicBezTo>
                  <a:pt x="12725" y="350341"/>
                  <a:pt x="12725" y="316409"/>
                  <a:pt x="33635" y="295498"/>
                </a:cubicBezTo>
                <a:lnTo>
                  <a:pt x="134392" y="194742"/>
                </a:lnTo>
                <a:lnTo>
                  <a:pt x="160437" y="220787"/>
                </a:lnTo>
                <a:close/>
              </a:path>
            </a:pathLst>
          </a:custGeom>
          <a:solidFill>
            <a:srgbClr val="4C7E9A"/>
          </a:solidFill>
          <a:ln/>
        </p:spPr>
      </p:sp>
      <p:sp>
        <p:nvSpPr>
          <p:cNvPr id="15" name="Text 12"/>
          <p:cNvSpPr/>
          <p:nvPr/>
        </p:nvSpPr>
        <p:spPr>
          <a:xfrm>
            <a:off x="3911600" y="7473950"/>
            <a:ext cx="25654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应对策略</a:t>
            </a:r>
            <a:endParaRPr lang="en-US" sz="1600" dirty="0"/>
          </a:p>
        </p:txBody>
      </p:sp>
    </p:spTree>
  </p:cSld>
  <p:clrMapOvr>
    <a:masterClrMapping/>
  </p:clrMapOvr>
  <p:transition>
    <p:fade/>
    <p:spd val="med"/>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64126" y="464126"/>
            <a:ext cx="15420574" cy="278475"/>
          </a:xfrm>
          <a:prstGeom prst="rect">
            <a:avLst/>
          </a:prstGeom>
          <a:noFill/>
          <a:ln/>
        </p:spPr>
        <p:txBody>
          <a:bodyPr wrap="square" lIns="0" tIns="0" rIns="0" bIns="0" rtlCol="0" anchor="ctr"/>
          <a:lstStyle/>
          <a:p>
            <a:pPr>
              <a:lnSpc>
                <a:spcPct val="120000"/>
              </a:lnSpc>
            </a:pPr>
            <a:r>
              <a:rPr lang="en-US" sz="1462" b="1" spc="73" kern="0" dirty="0">
                <a:solidFill>
                  <a:srgbClr val="7E9AA8"/>
                </a:solidFill>
                <a:latin typeface="MiSans" pitchFamily="34" charset="0"/>
                <a:ea typeface="MiSans" pitchFamily="34" charset="-122"/>
                <a:cs typeface="MiSans" pitchFamily="34" charset="-120"/>
              </a:rPr>
              <a:t>LIMITATIONS &amp; SOLUTIONS</a:t>
            </a:r>
            <a:endParaRPr lang="en-US" sz="1600" dirty="0"/>
          </a:p>
        </p:txBody>
      </p:sp>
      <p:sp>
        <p:nvSpPr>
          <p:cNvPr id="3" name="Text 1"/>
          <p:cNvSpPr/>
          <p:nvPr/>
        </p:nvSpPr>
        <p:spPr>
          <a:xfrm>
            <a:off x="464126" y="835426"/>
            <a:ext cx="15536605" cy="464126"/>
          </a:xfrm>
          <a:prstGeom prst="rect">
            <a:avLst/>
          </a:prstGeom>
          <a:noFill/>
          <a:ln/>
        </p:spPr>
        <p:txBody>
          <a:bodyPr wrap="square" lIns="0" tIns="0" rIns="0" bIns="0" rtlCol="0" anchor="ctr"/>
          <a:lstStyle/>
          <a:p>
            <a:pPr>
              <a:lnSpc>
                <a:spcPct val="90000"/>
              </a:lnSpc>
            </a:pPr>
            <a:r>
              <a:rPr lang="en-US" sz="3289" b="1" dirty="0">
                <a:solidFill>
                  <a:srgbClr val="D1D5DB"/>
                </a:solidFill>
                <a:latin typeface="阿里妈妈数黑体" pitchFamily="34" charset="0"/>
                <a:ea typeface="阿里妈妈数黑体" pitchFamily="34" charset="-122"/>
                <a:cs typeface="阿里妈妈数黑体" pitchFamily="34" charset="-120"/>
              </a:rPr>
              <a:t>集成学习的局限性</a:t>
            </a:r>
            <a:endParaRPr lang="en-US" sz="1600" dirty="0"/>
          </a:p>
        </p:txBody>
      </p:sp>
      <p:sp>
        <p:nvSpPr>
          <p:cNvPr id="4" name="Shape 2"/>
          <p:cNvSpPr/>
          <p:nvPr/>
        </p:nvSpPr>
        <p:spPr>
          <a:xfrm>
            <a:off x="464126" y="1438789"/>
            <a:ext cx="1113901" cy="46413"/>
          </a:xfrm>
          <a:custGeom>
            <a:avLst/>
            <a:gdLst/>
            <a:ahLst/>
            <a:cxnLst/>
            <a:rect l="l" t="t" r="r" b="b"/>
            <a:pathLst>
              <a:path w="1113901" h="46413">
                <a:moveTo>
                  <a:pt x="0" y="0"/>
                </a:moveTo>
                <a:lnTo>
                  <a:pt x="1113901" y="0"/>
                </a:lnTo>
                <a:lnTo>
                  <a:pt x="1113901" y="46413"/>
                </a:lnTo>
                <a:lnTo>
                  <a:pt x="0" y="46413"/>
                </a:lnTo>
                <a:lnTo>
                  <a:pt x="0" y="0"/>
                </a:lnTo>
                <a:close/>
              </a:path>
            </a:pathLst>
          </a:custGeom>
          <a:solidFill>
            <a:srgbClr val="4C7E9A"/>
          </a:solidFill>
          <a:ln/>
        </p:spPr>
      </p:sp>
      <p:sp>
        <p:nvSpPr>
          <p:cNvPr id="5" name="Shape 3"/>
          <p:cNvSpPr/>
          <p:nvPr/>
        </p:nvSpPr>
        <p:spPr>
          <a:xfrm>
            <a:off x="464126" y="1694059"/>
            <a:ext cx="4989350" cy="3689799"/>
          </a:xfrm>
          <a:custGeom>
            <a:avLst/>
            <a:gdLst/>
            <a:ahLst/>
            <a:cxnLst/>
            <a:rect l="l" t="t" r="r" b="b"/>
            <a:pathLst>
              <a:path w="4989350" h="3689799">
                <a:moveTo>
                  <a:pt x="46413" y="0"/>
                </a:moveTo>
                <a:lnTo>
                  <a:pt x="4942938" y="0"/>
                </a:lnTo>
                <a:cubicBezTo>
                  <a:pt x="4968571" y="0"/>
                  <a:pt x="4989350" y="20780"/>
                  <a:pt x="4989350" y="46413"/>
                </a:cubicBezTo>
                <a:lnTo>
                  <a:pt x="4989350" y="3596963"/>
                </a:lnTo>
                <a:cubicBezTo>
                  <a:pt x="4989350" y="3648235"/>
                  <a:pt x="4947787" y="3689799"/>
                  <a:pt x="4896515" y="3689799"/>
                </a:cubicBezTo>
                <a:lnTo>
                  <a:pt x="92835" y="3689799"/>
                </a:lnTo>
                <a:cubicBezTo>
                  <a:pt x="41564" y="3689799"/>
                  <a:pt x="0" y="3648235"/>
                  <a:pt x="0" y="3596963"/>
                </a:cubicBezTo>
                <a:lnTo>
                  <a:pt x="0" y="46413"/>
                </a:lnTo>
                <a:cubicBezTo>
                  <a:pt x="0" y="20797"/>
                  <a:pt x="20797" y="0"/>
                  <a:pt x="46413" y="0"/>
                </a:cubicBezTo>
                <a:close/>
              </a:path>
            </a:pathLst>
          </a:custGeom>
          <a:solidFill>
            <a:srgbClr val="3A5E78">
              <a:alpha val="20000"/>
            </a:srgbClr>
          </a:solidFill>
          <a:ln/>
        </p:spPr>
      </p:sp>
      <p:sp>
        <p:nvSpPr>
          <p:cNvPr id="6" name="Shape 4"/>
          <p:cNvSpPr/>
          <p:nvPr/>
        </p:nvSpPr>
        <p:spPr>
          <a:xfrm>
            <a:off x="464126" y="1694059"/>
            <a:ext cx="4989350" cy="46413"/>
          </a:xfrm>
          <a:custGeom>
            <a:avLst/>
            <a:gdLst/>
            <a:ahLst/>
            <a:cxnLst/>
            <a:rect l="l" t="t" r="r" b="b"/>
            <a:pathLst>
              <a:path w="4989350" h="46413">
                <a:moveTo>
                  <a:pt x="46413" y="0"/>
                </a:moveTo>
                <a:lnTo>
                  <a:pt x="4942938" y="0"/>
                </a:lnTo>
                <a:cubicBezTo>
                  <a:pt x="4968571" y="0"/>
                  <a:pt x="4989350" y="20780"/>
                  <a:pt x="4989350" y="46413"/>
                </a:cubicBezTo>
                <a:lnTo>
                  <a:pt x="4989350" y="46413"/>
                </a:lnTo>
                <a:lnTo>
                  <a:pt x="0" y="46413"/>
                </a:lnTo>
                <a:lnTo>
                  <a:pt x="0" y="46413"/>
                </a:lnTo>
                <a:cubicBezTo>
                  <a:pt x="0" y="20797"/>
                  <a:pt x="20797" y="0"/>
                  <a:pt x="46413" y="0"/>
                </a:cubicBezTo>
                <a:close/>
              </a:path>
            </a:pathLst>
          </a:custGeom>
          <a:solidFill>
            <a:srgbClr val="4C7E9A"/>
          </a:solidFill>
          <a:ln/>
        </p:spPr>
      </p:sp>
      <p:sp>
        <p:nvSpPr>
          <p:cNvPr id="7" name="Shape 5"/>
          <p:cNvSpPr/>
          <p:nvPr/>
        </p:nvSpPr>
        <p:spPr>
          <a:xfrm>
            <a:off x="696188" y="1902915"/>
            <a:ext cx="348094" cy="348094"/>
          </a:xfrm>
          <a:custGeom>
            <a:avLst/>
            <a:gdLst/>
            <a:ahLst/>
            <a:cxnLst/>
            <a:rect l="l" t="t" r="r" b="b"/>
            <a:pathLst>
              <a:path w="348094" h="348094">
                <a:moveTo>
                  <a:pt x="174047" y="0"/>
                </a:moveTo>
                <a:cubicBezTo>
                  <a:pt x="270106" y="0"/>
                  <a:pt x="348094" y="77988"/>
                  <a:pt x="348094" y="174047"/>
                </a:cubicBezTo>
                <a:cubicBezTo>
                  <a:pt x="348094" y="270106"/>
                  <a:pt x="270106" y="348094"/>
                  <a:pt x="174047" y="348094"/>
                </a:cubicBezTo>
                <a:cubicBezTo>
                  <a:pt x="77988" y="348094"/>
                  <a:pt x="0" y="270106"/>
                  <a:pt x="0" y="174047"/>
                </a:cubicBezTo>
                <a:cubicBezTo>
                  <a:pt x="0" y="77988"/>
                  <a:pt x="77988" y="0"/>
                  <a:pt x="174047" y="0"/>
                </a:cubicBezTo>
                <a:close/>
                <a:moveTo>
                  <a:pt x="157730" y="81585"/>
                </a:moveTo>
                <a:lnTo>
                  <a:pt x="157730" y="174047"/>
                </a:lnTo>
                <a:cubicBezTo>
                  <a:pt x="157730" y="179486"/>
                  <a:pt x="160450" y="184585"/>
                  <a:pt x="165005" y="187645"/>
                </a:cubicBezTo>
                <a:lnTo>
                  <a:pt x="230272" y="231156"/>
                </a:lnTo>
                <a:cubicBezTo>
                  <a:pt x="237751" y="236187"/>
                  <a:pt x="247881" y="234148"/>
                  <a:pt x="252912" y="226601"/>
                </a:cubicBezTo>
                <a:cubicBezTo>
                  <a:pt x="257943" y="219055"/>
                  <a:pt x="255904" y="208993"/>
                  <a:pt x="248357" y="203961"/>
                </a:cubicBezTo>
                <a:lnTo>
                  <a:pt x="190364" y="165345"/>
                </a:lnTo>
                <a:lnTo>
                  <a:pt x="190364" y="81585"/>
                </a:lnTo>
                <a:cubicBezTo>
                  <a:pt x="190364" y="72542"/>
                  <a:pt x="183089" y="65268"/>
                  <a:pt x="174047" y="65268"/>
                </a:cubicBezTo>
                <a:cubicBezTo>
                  <a:pt x="165005" y="65268"/>
                  <a:pt x="157730" y="72542"/>
                  <a:pt x="157730" y="81585"/>
                </a:cubicBezTo>
                <a:close/>
              </a:path>
            </a:pathLst>
          </a:custGeom>
          <a:solidFill>
            <a:srgbClr val="4C7E9A"/>
          </a:solidFill>
          <a:ln/>
        </p:spPr>
      </p:sp>
      <p:sp>
        <p:nvSpPr>
          <p:cNvPr id="8" name="Text 6"/>
          <p:cNvSpPr/>
          <p:nvPr/>
        </p:nvSpPr>
        <p:spPr>
          <a:xfrm>
            <a:off x="1224131" y="1914518"/>
            <a:ext cx="1508408" cy="324888"/>
          </a:xfrm>
          <a:prstGeom prst="rect">
            <a:avLst/>
          </a:prstGeom>
          <a:noFill/>
          <a:ln/>
        </p:spPr>
        <p:txBody>
          <a:bodyPr wrap="square" lIns="0" tIns="0" rIns="0" bIns="0" rtlCol="0" anchor="ctr"/>
          <a:lstStyle/>
          <a:p>
            <a:pPr>
              <a:lnSpc>
                <a:spcPct val="120000"/>
              </a:lnSpc>
            </a:pPr>
            <a:r>
              <a:rPr lang="en-US" sz="1827" b="1" dirty="0">
                <a:solidFill>
                  <a:srgbClr val="D1D5DB"/>
                </a:solidFill>
                <a:latin typeface="MiSans" pitchFamily="34" charset="0"/>
                <a:ea typeface="MiSans" pitchFamily="34" charset="-122"/>
                <a:cs typeface="MiSans" pitchFamily="34" charset="-120"/>
              </a:rPr>
              <a:t>计算成本较高</a:t>
            </a:r>
            <a:endParaRPr lang="en-US" sz="1600" dirty="0"/>
          </a:p>
        </p:txBody>
      </p:sp>
      <p:sp>
        <p:nvSpPr>
          <p:cNvPr id="9" name="Text 7"/>
          <p:cNvSpPr/>
          <p:nvPr/>
        </p:nvSpPr>
        <p:spPr>
          <a:xfrm>
            <a:off x="649776" y="2390247"/>
            <a:ext cx="4722478" cy="324888"/>
          </a:xfrm>
          <a:prstGeom prst="rect">
            <a:avLst/>
          </a:prstGeom>
          <a:noFill/>
          <a:ln/>
        </p:spPr>
        <p:txBody>
          <a:bodyPr wrap="square" lIns="0" tIns="0" rIns="0" bIns="0" rtlCol="0" anchor="ctr"/>
          <a:lstStyle/>
          <a:p>
            <a:pPr>
              <a:lnSpc>
                <a:spcPct val="130000"/>
              </a:lnSpc>
            </a:pPr>
            <a:r>
              <a:rPr lang="en-US" sz="1645" b="1" dirty="0">
                <a:solidFill>
                  <a:srgbClr val="4C7E9A"/>
                </a:solidFill>
                <a:latin typeface="MiSans" pitchFamily="34" charset="0"/>
                <a:ea typeface="MiSans" pitchFamily="34" charset="-122"/>
                <a:cs typeface="MiSans" pitchFamily="34" charset="-120"/>
              </a:rPr>
              <a:t>问题描述</a:t>
            </a:r>
            <a:endParaRPr lang="en-US" sz="1600" dirty="0"/>
          </a:p>
        </p:txBody>
      </p:sp>
      <p:sp>
        <p:nvSpPr>
          <p:cNvPr id="10" name="Text 8"/>
          <p:cNvSpPr/>
          <p:nvPr/>
        </p:nvSpPr>
        <p:spPr>
          <a:xfrm>
            <a:off x="649776" y="2761547"/>
            <a:ext cx="4710875" cy="905045"/>
          </a:xfrm>
          <a:prstGeom prst="rect">
            <a:avLst/>
          </a:prstGeom>
          <a:noFill/>
          <a:ln/>
        </p:spPr>
        <p:txBody>
          <a:bodyPr wrap="square" lIns="0" tIns="0" rIns="0" bIns="0" rtlCol="0" anchor="ctr"/>
          <a:lstStyle/>
          <a:p>
            <a:pPr>
              <a:lnSpc>
                <a:spcPct val="140000"/>
              </a:lnSpc>
            </a:pPr>
            <a:r>
              <a:rPr lang="en-US" sz="1462" dirty="0">
                <a:solidFill>
                  <a:srgbClr val="7E9AA8"/>
                </a:solidFill>
                <a:latin typeface="MiSans" pitchFamily="34" charset="0"/>
                <a:ea typeface="MiSans" pitchFamily="34" charset="-122"/>
                <a:cs typeface="MiSans" pitchFamily="34" charset="-120"/>
              </a:rPr>
              <a:t>由于需要训练多个基学习器，集成学习相比单一模型会消耗更多的计算资源。特别是在处理大规模数据集时，训练时间和预测时间都可能显著增加。</a:t>
            </a:r>
            <a:endParaRPr lang="en-US" sz="1600" dirty="0"/>
          </a:p>
        </p:txBody>
      </p:sp>
      <p:sp>
        <p:nvSpPr>
          <p:cNvPr id="11" name="Text 9"/>
          <p:cNvSpPr/>
          <p:nvPr/>
        </p:nvSpPr>
        <p:spPr>
          <a:xfrm>
            <a:off x="649776" y="3759418"/>
            <a:ext cx="4722478" cy="324888"/>
          </a:xfrm>
          <a:prstGeom prst="rect">
            <a:avLst/>
          </a:prstGeom>
          <a:noFill/>
          <a:ln/>
        </p:spPr>
        <p:txBody>
          <a:bodyPr wrap="square" lIns="0" tIns="0" rIns="0" bIns="0" rtlCol="0" anchor="ctr"/>
          <a:lstStyle/>
          <a:p>
            <a:pPr>
              <a:lnSpc>
                <a:spcPct val="130000"/>
              </a:lnSpc>
            </a:pPr>
            <a:r>
              <a:rPr lang="en-US" sz="1645" b="1" dirty="0">
                <a:solidFill>
                  <a:srgbClr val="4C7E9A"/>
                </a:solidFill>
                <a:latin typeface="MiSans" pitchFamily="34" charset="0"/>
                <a:ea typeface="MiSans" pitchFamily="34" charset="-122"/>
                <a:cs typeface="MiSans" pitchFamily="34" charset="-120"/>
              </a:rPr>
              <a:t>具体影响</a:t>
            </a:r>
            <a:endParaRPr lang="en-US" sz="1600" dirty="0"/>
          </a:p>
        </p:txBody>
      </p:sp>
      <p:sp>
        <p:nvSpPr>
          <p:cNvPr id="12" name="Text 10"/>
          <p:cNvSpPr/>
          <p:nvPr/>
        </p:nvSpPr>
        <p:spPr>
          <a:xfrm>
            <a:off x="649776" y="4130718"/>
            <a:ext cx="4699272" cy="232063"/>
          </a:xfrm>
          <a:prstGeom prst="rect">
            <a:avLst/>
          </a:prstGeom>
          <a:noFill/>
          <a:ln/>
        </p:spPr>
        <p:txBody>
          <a:bodyPr wrap="square" lIns="0" tIns="0" rIns="0" bIns="0" rtlCol="0" anchor="ctr"/>
          <a:lstStyle/>
          <a:p>
            <a:pPr>
              <a:lnSpc>
                <a:spcPct val="120000"/>
              </a:lnSpc>
            </a:pPr>
            <a:r>
              <a:rPr lang="en-US" sz="1279" dirty="0">
                <a:solidFill>
                  <a:srgbClr val="7E9AA8"/>
                </a:solidFill>
                <a:latin typeface="MiSans" pitchFamily="34" charset="0"/>
                <a:ea typeface="MiSans" pitchFamily="34" charset="-122"/>
                <a:cs typeface="MiSans" pitchFamily="34" charset="-120"/>
              </a:rPr>
              <a:t>• 训练时间成倍增加</a:t>
            </a:r>
            <a:endParaRPr lang="en-US" sz="1600" dirty="0"/>
          </a:p>
        </p:txBody>
      </p:sp>
      <p:sp>
        <p:nvSpPr>
          <p:cNvPr id="13" name="Text 11"/>
          <p:cNvSpPr/>
          <p:nvPr/>
        </p:nvSpPr>
        <p:spPr>
          <a:xfrm>
            <a:off x="649776" y="4409193"/>
            <a:ext cx="4699272" cy="232063"/>
          </a:xfrm>
          <a:prstGeom prst="rect">
            <a:avLst/>
          </a:prstGeom>
          <a:noFill/>
          <a:ln/>
        </p:spPr>
        <p:txBody>
          <a:bodyPr wrap="square" lIns="0" tIns="0" rIns="0" bIns="0" rtlCol="0" anchor="ctr"/>
          <a:lstStyle/>
          <a:p>
            <a:pPr>
              <a:lnSpc>
                <a:spcPct val="120000"/>
              </a:lnSpc>
            </a:pPr>
            <a:r>
              <a:rPr lang="en-US" sz="1279" dirty="0">
                <a:solidFill>
                  <a:srgbClr val="7E9AA8"/>
                </a:solidFill>
                <a:latin typeface="MiSans" pitchFamily="34" charset="0"/>
                <a:ea typeface="MiSans" pitchFamily="34" charset="-122"/>
                <a:cs typeface="MiSans" pitchFamily="34" charset="-120"/>
              </a:rPr>
              <a:t>• 预测延迟可能较高</a:t>
            </a:r>
            <a:endParaRPr lang="en-US" sz="1600" dirty="0"/>
          </a:p>
        </p:txBody>
      </p:sp>
      <p:sp>
        <p:nvSpPr>
          <p:cNvPr id="14" name="Text 12"/>
          <p:cNvSpPr/>
          <p:nvPr/>
        </p:nvSpPr>
        <p:spPr>
          <a:xfrm>
            <a:off x="649776" y="4687669"/>
            <a:ext cx="4699272" cy="232063"/>
          </a:xfrm>
          <a:prstGeom prst="rect">
            <a:avLst/>
          </a:prstGeom>
          <a:noFill/>
          <a:ln/>
        </p:spPr>
        <p:txBody>
          <a:bodyPr wrap="square" lIns="0" tIns="0" rIns="0" bIns="0" rtlCol="0" anchor="ctr"/>
          <a:lstStyle/>
          <a:p>
            <a:pPr>
              <a:lnSpc>
                <a:spcPct val="120000"/>
              </a:lnSpc>
            </a:pPr>
            <a:r>
              <a:rPr lang="en-US" sz="1279" dirty="0">
                <a:solidFill>
                  <a:srgbClr val="7E9AA8"/>
                </a:solidFill>
                <a:latin typeface="MiSans" pitchFamily="34" charset="0"/>
                <a:ea typeface="MiSans" pitchFamily="34" charset="-122"/>
                <a:cs typeface="MiSans" pitchFamily="34" charset="-120"/>
              </a:rPr>
              <a:t>• 硬件成本上升</a:t>
            </a:r>
            <a:endParaRPr lang="en-US" sz="1600" dirty="0"/>
          </a:p>
        </p:txBody>
      </p:sp>
      <p:sp>
        <p:nvSpPr>
          <p:cNvPr id="15" name="Text 13"/>
          <p:cNvSpPr/>
          <p:nvPr/>
        </p:nvSpPr>
        <p:spPr>
          <a:xfrm>
            <a:off x="649776" y="4966144"/>
            <a:ext cx="4699272" cy="232063"/>
          </a:xfrm>
          <a:prstGeom prst="rect">
            <a:avLst/>
          </a:prstGeom>
          <a:noFill/>
          <a:ln/>
        </p:spPr>
        <p:txBody>
          <a:bodyPr wrap="square" lIns="0" tIns="0" rIns="0" bIns="0" rtlCol="0" anchor="ctr"/>
          <a:lstStyle/>
          <a:p>
            <a:pPr>
              <a:lnSpc>
                <a:spcPct val="120000"/>
              </a:lnSpc>
            </a:pPr>
            <a:r>
              <a:rPr lang="en-US" sz="1279" dirty="0">
                <a:solidFill>
                  <a:srgbClr val="7E9AA8"/>
                </a:solidFill>
                <a:latin typeface="MiSans" pitchFamily="34" charset="0"/>
                <a:ea typeface="MiSans" pitchFamily="34" charset="-122"/>
                <a:cs typeface="MiSans" pitchFamily="34" charset="-120"/>
              </a:rPr>
              <a:t>• 开发效率受影响</a:t>
            </a:r>
            <a:endParaRPr lang="en-US" sz="1600" dirty="0"/>
          </a:p>
        </p:txBody>
      </p:sp>
      <p:sp>
        <p:nvSpPr>
          <p:cNvPr id="16" name="Shape 14"/>
          <p:cNvSpPr/>
          <p:nvPr/>
        </p:nvSpPr>
        <p:spPr>
          <a:xfrm>
            <a:off x="5634775" y="1694059"/>
            <a:ext cx="4989350" cy="3689799"/>
          </a:xfrm>
          <a:custGeom>
            <a:avLst/>
            <a:gdLst/>
            <a:ahLst/>
            <a:cxnLst/>
            <a:rect l="l" t="t" r="r" b="b"/>
            <a:pathLst>
              <a:path w="4989350" h="3689799">
                <a:moveTo>
                  <a:pt x="46413" y="0"/>
                </a:moveTo>
                <a:lnTo>
                  <a:pt x="4942938" y="0"/>
                </a:lnTo>
                <a:cubicBezTo>
                  <a:pt x="4968571" y="0"/>
                  <a:pt x="4989350" y="20780"/>
                  <a:pt x="4989350" y="46413"/>
                </a:cubicBezTo>
                <a:lnTo>
                  <a:pt x="4989350" y="3596963"/>
                </a:lnTo>
                <a:cubicBezTo>
                  <a:pt x="4989350" y="3648235"/>
                  <a:pt x="4947787" y="3689799"/>
                  <a:pt x="4896515" y="3689799"/>
                </a:cubicBezTo>
                <a:lnTo>
                  <a:pt x="92835" y="3689799"/>
                </a:lnTo>
                <a:cubicBezTo>
                  <a:pt x="41564" y="3689799"/>
                  <a:pt x="0" y="3648235"/>
                  <a:pt x="0" y="3596963"/>
                </a:cubicBezTo>
                <a:lnTo>
                  <a:pt x="0" y="46413"/>
                </a:lnTo>
                <a:cubicBezTo>
                  <a:pt x="0" y="20797"/>
                  <a:pt x="20797" y="0"/>
                  <a:pt x="46413" y="0"/>
                </a:cubicBezTo>
                <a:close/>
              </a:path>
            </a:pathLst>
          </a:custGeom>
          <a:solidFill>
            <a:srgbClr val="3A5E78">
              <a:alpha val="20000"/>
            </a:srgbClr>
          </a:solidFill>
          <a:ln/>
        </p:spPr>
      </p:sp>
      <p:sp>
        <p:nvSpPr>
          <p:cNvPr id="17" name="Shape 15"/>
          <p:cNvSpPr/>
          <p:nvPr/>
        </p:nvSpPr>
        <p:spPr>
          <a:xfrm>
            <a:off x="5634775" y="1694059"/>
            <a:ext cx="4989350" cy="46413"/>
          </a:xfrm>
          <a:custGeom>
            <a:avLst/>
            <a:gdLst/>
            <a:ahLst/>
            <a:cxnLst/>
            <a:rect l="l" t="t" r="r" b="b"/>
            <a:pathLst>
              <a:path w="4989350" h="46413">
                <a:moveTo>
                  <a:pt x="46413" y="0"/>
                </a:moveTo>
                <a:lnTo>
                  <a:pt x="4942938" y="0"/>
                </a:lnTo>
                <a:cubicBezTo>
                  <a:pt x="4968571" y="0"/>
                  <a:pt x="4989350" y="20780"/>
                  <a:pt x="4989350" y="46413"/>
                </a:cubicBezTo>
                <a:lnTo>
                  <a:pt x="4989350" y="46413"/>
                </a:lnTo>
                <a:lnTo>
                  <a:pt x="0" y="46413"/>
                </a:lnTo>
                <a:lnTo>
                  <a:pt x="0" y="46413"/>
                </a:lnTo>
                <a:cubicBezTo>
                  <a:pt x="0" y="20797"/>
                  <a:pt x="20797" y="0"/>
                  <a:pt x="46413" y="0"/>
                </a:cubicBezTo>
                <a:close/>
              </a:path>
            </a:pathLst>
          </a:custGeom>
          <a:solidFill>
            <a:srgbClr val="7E9AA8"/>
          </a:solidFill>
          <a:ln/>
        </p:spPr>
      </p:sp>
      <p:sp>
        <p:nvSpPr>
          <p:cNvPr id="18" name="Shape 16"/>
          <p:cNvSpPr/>
          <p:nvPr/>
        </p:nvSpPr>
        <p:spPr>
          <a:xfrm>
            <a:off x="5845082" y="1902915"/>
            <a:ext cx="391606" cy="348094"/>
          </a:xfrm>
          <a:custGeom>
            <a:avLst/>
            <a:gdLst/>
            <a:ahLst/>
            <a:cxnLst/>
            <a:rect l="l" t="t" r="r" b="b"/>
            <a:pathLst>
              <a:path w="391606" h="348094">
                <a:moveTo>
                  <a:pt x="27875" y="-16929"/>
                </a:moveTo>
                <a:cubicBezTo>
                  <a:pt x="21484" y="-23320"/>
                  <a:pt x="11150" y="-23320"/>
                  <a:pt x="4827" y="-16929"/>
                </a:cubicBezTo>
                <a:cubicBezTo>
                  <a:pt x="-1496" y="-10538"/>
                  <a:pt x="-1564" y="-204"/>
                  <a:pt x="4759" y="6187"/>
                </a:cubicBezTo>
                <a:lnTo>
                  <a:pt x="363731" y="365159"/>
                </a:lnTo>
                <a:cubicBezTo>
                  <a:pt x="370122" y="371550"/>
                  <a:pt x="380456" y="371550"/>
                  <a:pt x="386779" y="365159"/>
                </a:cubicBezTo>
                <a:cubicBezTo>
                  <a:pt x="393102" y="358768"/>
                  <a:pt x="393170" y="348434"/>
                  <a:pt x="386779" y="342111"/>
                </a:cubicBezTo>
                <a:lnTo>
                  <a:pt x="321239" y="276572"/>
                </a:lnTo>
                <a:cubicBezTo>
                  <a:pt x="323075" y="274940"/>
                  <a:pt x="324911" y="273308"/>
                  <a:pt x="326678" y="271677"/>
                </a:cubicBezTo>
                <a:cubicBezTo>
                  <a:pt x="358496" y="242102"/>
                  <a:pt x="379776" y="206817"/>
                  <a:pt x="389906" y="182546"/>
                </a:cubicBezTo>
                <a:cubicBezTo>
                  <a:pt x="392150" y="177175"/>
                  <a:pt x="392150" y="171192"/>
                  <a:pt x="389906" y="165821"/>
                </a:cubicBezTo>
                <a:cubicBezTo>
                  <a:pt x="379776" y="141549"/>
                  <a:pt x="358496" y="106196"/>
                  <a:pt x="326678" y="76690"/>
                </a:cubicBezTo>
                <a:cubicBezTo>
                  <a:pt x="294656" y="46979"/>
                  <a:pt x="250669" y="21892"/>
                  <a:pt x="195735" y="21892"/>
                </a:cubicBezTo>
                <a:cubicBezTo>
                  <a:pt x="157118" y="21892"/>
                  <a:pt x="123941" y="34266"/>
                  <a:pt x="96474" y="51942"/>
                </a:cubicBezTo>
                <a:lnTo>
                  <a:pt x="27875" y="-16929"/>
                </a:lnTo>
                <a:close/>
                <a:moveTo>
                  <a:pt x="139034" y="94298"/>
                </a:moveTo>
                <a:cubicBezTo>
                  <a:pt x="155011" y="82876"/>
                  <a:pt x="174659" y="76146"/>
                  <a:pt x="195803" y="76146"/>
                </a:cubicBezTo>
                <a:cubicBezTo>
                  <a:pt x="249853" y="76146"/>
                  <a:pt x="293704" y="119997"/>
                  <a:pt x="293704" y="174047"/>
                </a:cubicBezTo>
                <a:cubicBezTo>
                  <a:pt x="293704" y="195191"/>
                  <a:pt x="286974" y="214771"/>
                  <a:pt x="275552" y="230816"/>
                </a:cubicBezTo>
                <a:lnTo>
                  <a:pt x="251960" y="207225"/>
                </a:lnTo>
                <a:cubicBezTo>
                  <a:pt x="260595" y="192676"/>
                  <a:pt x="263518" y="174795"/>
                  <a:pt x="258827" y="157118"/>
                </a:cubicBezTo>
                <a:cubicBezTo>
                  <a:pt x="249513" y="122309"/>
                  <a:pt x="213684" y="101641"/>
                  <a:pt x="178874" y="110955"/>
                </a:cubicBezTo>
                <a:cubicBezTo>
                  <a:pt x="173027" y="112519"/>
                  <a:pt x="167520" y="114830"/>
                  <a:pt x="162557" y="117754"/>
                </a:cubicBezTo>
                <a:lnTo>
                  <a:pt x="138966" y="94162"/>
                </a:lnTo>
                <a:close/>
                <a:moveTo>
                  <a:pt x="221162" y="268617"/>
                </a:moveTo>
                <a:cubicBezTo>
                  <a:pt x="213072" y="270793"/>
                  <a:pt x="204573" y="271949"/>
                  <a:pt x="195803" y="271949"/>
                </a:cubicBezTo>
                <a:cubicBezTo>
                  <a:pt x="141753" y="271949"/>
                  <a:pt x="97901" y="228097"/>
                  <a:pt x="97901" y="174047"/>
                </a:cubicBezTo>
                <a:cubicBezTo>
                  <a:pt x="97901" y="165277"/>
                  <a:pt x="99057" y="156778"/>
                  <a:pt x="101233" y="148688"/>
                </a:cubicBezTo>
                <a:lnTo>
                  <a:pt x="47183" y="94638"/>
                </a:lnTo>
                <a:cubicBezTo>
                  <a:pt x="25019" y="119657"/>
                  <a:pt x="9790" y="146172"/>
                  <a:pt x="1700" y="165685"/>
                </a:cubicBezTo>
                <a:cubicBezTo>
                  <a:pt x="-544" y="171056"/>
                  <a:pt x="-544" y="177039"/>
                  <a:pt x="1700" y="182410"/>
                </a:cubicBezTo>
                <a:cubicBezTo>
                  <a:pt x="11830" y="206681"/>
                  <a:pt x="33110" y="242034"/>
                  <a:pt x="64928" y="271541"/>
                </a:cubicBezTo>
                <a:cubicBezTo>
                  <a:pt x="96950" y="301251"/>
                  <a:pt x="140937" y="326338"/>
                  <a:pt x="195871" y="326338"/>
                </a:cubicBezTo>
                <a:cubicBezTo>
                  <a:pt x="221230" y="326338"/>
                  <a:pt x="244278" y="320967"/>
                  <a:pt x="264878" y="312333"/>
                </a:cubicBezTo>
                <a:lnTo>
                  <a:pt x="221230" y="268685"/>
                </a:lnTo>
                <a:close/>
              </a:path>
            </a:pathLst>
          </a:custGeom>
          <a:solidFill>
            <a:srgbClr val="7E9AA8"/>
          </a:solidFill>
          <a:ln/>
        </p:spPr>
      </p:sp>
      <p:sp>
        <p:nvSpPr>
          <p:cNvPr id="19" name="Text 17"/>
          <p:cNvSpPr/>
          <p:nvPr/>
        </p:nvSpPr>
        <p:spPr>
          <a:xfrm>
            <a:off x="6394781" y="1914518"/>
            <a:ext cx="1508408" cy="324888"/>
          </a:xfrm>
          <a:prstGeom prst="rect">
            <a:avLst/>
          </a:prstGeom>
          <a:noFill/>
          <a:ln/>
        </p:spPr>
        <p:txBody>
          <a:bodyPr wrap="square" lIns="0" tIns="0" rIns="0" bIns="0" rtlCol="0" anchor="ctr"/>
          <a:lstStyle/>
          <a:p>
            <a:pPr>
              <a:lnSpc>
                <a:spcPct val="120000"/>
              </a:lnSpc>
            </a:pPr>
            <a:r>
              <a:rPr lang="en-US" sz="1827" b="1" dirty="0">
                <a:solidFill>
                  <a:srgbClr val="D1D5DB"/>
                </a:solidFill>
                <a:latin typeface="MiSans" pitchFamily="34" charset="0"/>
                <a:ea typeface="MiSans" pitchFamily="34" charset="-122"/>
                <a:cs typeface="MiSans" pitchFamily="34" charset="-120"/>
              </a:rPr>
              <a:t>可解释性挑战</a:t>
            </a:r>
            <a:endParaRPr lang="en-US" sz="1600" dirty="0"/>
          </a:p>
        </p:txBody>
      </p:sp>
      <p:sp>
        <p:nvSpPr>
          <p:cNvPr id="20" name="Text 18"/>
          <p:cNvSpPr/>
          <p:nvPr/>
        </p:nvSpPr>
        <p:spPr>
          <a:xfrm>
            <a:off x="5820425" y="2390247"/>
            <a:ext cx="4722478" cy="324888"/>
          </a:xfrm>
          <a:prstGeom prst="rect">
            <a:avLst/>
          </a:prstGeom>
          <a:noFill/>
          <a:ln/>
        </p:spPr>
        <p:txBody>
          <a:bodyPr wrap="square" lIns="0" tIns="0" rIns="0" bIns="0" rtlCol="0" anchor="ctr"/>
          <a:lstStyle/>
          <a:p>
            <a:pPr>
              <a:lnSpc>
                <a:spcPct val="130000"/>
              </a:lnSpc>
            </a:pPr>
            <a:r>
              <a:rPr lang="en-US" sz="1645" b="1" dirty="0">
                <a:solidFill>
                  <a:srgbClr val="4C7E9A"/>
                </a:solidFill>
                <a:latin typeface="MiSans" pitchFamily="34" charset="0"/>
                <a:ea typeface="MiSans" pitchFamily="34" charset="-122"/>
                <a:cs typeface="MiSans" pitchFamily="34" charset="-120"/>
              </a:rPr>
              <a:t>问题描述</a:t>
            </a:r>
            <a:endParaRPr lang="en-US" sz="1600" dirty="0"/>
          </a:p>
        </p:txBody>
      </p:sp>
      <p:sp>
        <p:nvSpPr>
          <p:cNvPr id="21" name="Text 19"/>
          <p:cNvSpPr/>
          <p:nvPr/>
        </p:nvSpPr>
        <p:spPr>
          <a:xfrm>
            <a:off x="5820425" y="2761547"/>
            <a:ext cx="4710875" cy="905045"/>
          </a:xfrm>
          <a:prstGeom prst="rect">
            <a:avLst/>
          </a:prstGeom>
          <a:noFill/>
          <a:ln/>
        </p:spPr>
        <p:txBody>
          <a:bodyPr wrap="square" lIns="0" tIns="0" rIns="0" bIns="0" rtlCol="0" anchor="ctr"/>
          <a:lstStyle/>
          <a:p>
            <a:pPr>
              <a:lnSpc>
                <a:spcPct val="140000"/>
              </a:lnSpc>
            </a:pPr>
            <a:r>
              <a:rPr lang="en-US" sz="1462" dirty="0">
                <a:solidFill>
                  <a:srgbClr val="7E9AA8"/>
                </a:solidFill>
                <a:latin typeface="MiSans" pitchFamily="34" charset="0"/>
                <a:ea typeface="MiSans" pitchFamily="34" charset="-122"/>
                <a:cs typeface="MiSans" pitchFamily="34" charset="-120"/>
              </a:rPr>
              <a:t>当多个模型被集成后，整个预测系统就像一个复杂的"黑盒"，很难清晰地解释为什么模型会做出特定的预测决策。</a:t>
            </a:r>
            <a:endParaRPr lang="en-US" sz="1600" dirty="0"/>
          </a:p>
        </p:txBody>
      </p:sp>
      <p:sp>
        <p:nvSpPr>
          <p:cNvPr id="22" name="Text 20"/>
          <p:cNvSpPr/>
          <p:nvPr/>
        </p:nvSpPr>
        <p:spPr>
          <a:xfrm>
            <a:off x="5820425" y="3759418"/>
            <a:ext cx="4722478" cy="324888"/>
          </a:xfrm>
          <a:prstGeom prst="rect">
            <a:avLst/>
          </a:prstGeom>
          <a:noFill/>
          <a:ln/>
        </p:spPr>
        <p:txBody>
          <a:bodyPr wrap="square" lIns="0" tIns="0" rIns="0" bIns="0" rtlCol="0" anchor="ctr"/>
          <a:lstStyle/>
          <a:p>
            <a:pPr>
              <a:lnSpc>
                <a:spcPct val="130000"/>
              </a:lnSpc>
            </a:pPr>
            <a:r>
              <a:rPr lang="en-US" sz="1645" b="1" dirty="0">
                <a:solidFill>
                  <a:srgbClr val="4C7E9A"/>
                </a:solidFill>
                <a:latin typeface="MiSans" pitchFamily="34" charset="0"/>
                <a:ea typeface="MiSans" pitchFamily="34" charset="-122"/>
                <a:cs typeface="MiSans" pitchFamily="34" charset="-120"/>
              </a:rPr>
              <a:t>具体影响</a:t>
            </a:r>
            <a:endParaRPr lang="en-US" sz="1600" dirty="0"/>
          </a:p>
        </p:txBody>
      </p:sp>
      <p:sp>
        <p:nvSpPr>
          <p:cNvPr id="23" name="Text 21"/>
          <p:cNvSpPr/>
          <p:nvPr/>
        </p:nvSpPr>
        <p:spPr>
          <a:xfrm>
            <a:off x="5820425" y="4130718"/>
            <a:ext cx="4699272" cy="232063"/>
          </a:xfrm>
          <a:prstGeom prst="rect">
            <a:avLst/>
          </a:prstGeom>
          <a:noFill/>
          <a:ln/>
        </p:spPr>
        <p:txBody>
          <a:bodyPr wrap="square" lIns="0" tIns="0" rIns="0" bIns="0" rtlCol="0" anchor="ctr"/>
          <a:lstStyle/>
          <a:p>
            <a:pPr>
              <a:lnSpc>
                <a:spcPct val="120000"/>
              </a:lnSpc>
            </a:pPr>
            <a:r>
              <a:rPr lang="en-US" sz="1279" dirty="0">
                <a:solidFill>
                  <a:srgbClr val="7E9AA8"/>
                </a:solidFill>
                <a:latin typeface="MiSans" pitchFamily="34" charset="0"/>
                <a:ea typeface="MiSans" pitchFamily="34" charset="-122"/>
                <a:cs typeface="MiSans" pitchFamily="34" charset="-120"/>
              </a:rPr>
              <a:t>• 模型调试和优化困难</a:t>
            </a:r>
            <a:endParaRPr lang="en-US" sz="1600" dirty="0"/>
          </a:p>
        </p:txBody>
      </p:sp>
      <p:sp>
        <p:nvSpPr>
          <p:cNvPr id="24" name="Text 22"/>
          <p:cNvSpPr/>
          <p:nvPr/>
        </p:nvSpPr>
        <p:spPr>
          <a:xfrm>
            <a:off x="5820425" y="4409193"/>
            <a:ext cx="4699272" cy="232063"/>
          </a:xfrm>
          <a:prstGeom prst="rect">
            <a:avLst/>
          </a:prstGeom>
          <a:noFill/>
          <a:ln/>
        </p:spPr>
        <p:txBody>
          <a:bodyPr wrap="square" lIns="0" tIns="0" rIns="0" bIns="0" rtlCol="0" anchor="ctr"/>
          <a:lstStyle/>
          <a:p>
            <a:pPr>
              <a:lnSpc>
                <a:spcPct val="120000"/>
              </a:lnSpc>
            </a:pPr>
            <a:r>
              <a:rPr lang="en-US" sz="1279" dirty="0">
                <a:solidFill>
                  <a:srgbClr val="7E9AA8"/>
                </a:solidFill>
                <a:latin typeface="MiSans" pitchFamily="34" charset="0"/>
                <a:ea typeface="MiSans" pitchFamily="34" charset="-122"/>
                <a:cs typeface="MiSans" pitchFamily="34" charset="-120"/>
              </a:rPr>
              <a:t>• 业务解释性降低</a:t>
            </a:r>
            <a:endParaRPr lang="en-US" sz="1600" dirty="0"/>
          </a:p>
        </p:txBody>
      </p:sp>
      <p:sp>
        <p:nvSpPr>
          <p:cNvPr id="25" name="Text 23"/>
          <p:cNvSpPr/>
          <p:nvPr/>
        </p:nvSpPr>
        <p:spPr>
          <a:xfrm>
            <a:off x="5820425" y="4687669"/>
            <a:ext cx="4699272" cy="232063"/>
          </a:xfrm>
          <a:prstGeom prst="rect">
            <a:avLst/>
          </a:prstGeom>
          <a:noFill/>
          <a:ln/>
        </p:spPr>
        <p:txBody>
          <a:bodyPr wrap="square" lIns="0" tIns="0" rIns="0" bIns="0" rtlCol="0" anchor="ctr"/>
          <a:lstStyle/>
          <a:p>
            <a:pPr>
              <a:lnSpc>
                <a:spcPct val="120000"/>
              </a:lnSpc>
            </a:pPr>
            <a:r>
              <a:rPr lang="en-US" sz="1279" dirty="0">
                <a:solidFill>
                  <a:srgbClr val="7E9AA8"/>
                </a:solidFill>
                <a:latin typeface="MiSans" pitchFamily="34" charset="0"/>
                <a:ea typeface="MiSans" pitchFamily="34" charset="-122"/>
                <a:cs typeface="MiSans" pitchFamily="34" charset="-120"/>
              </a:rPr>
              <a:t>• 在某些场景（医疗、金融）受限</a:t>
            </a:r>
            <a:endParaRPr lang="en-US" sz="1600" dirty="0"/>
          </a:p>
        </p:txBody>
      </p:sp>
      <p:sp>
        <p:nvSpPr>
          <p:cNvPr id="26" name="Text 24"/>
          <p:cNvSpPr/>
          <p:nvPr/>
        </p:nvSpPr>
        <p:spPr>
          <a:xfrm>
            <a:off x="5820425" y="4966144"/>
            <a:ext cx="4699272" cy="232063"/>
          </a:xfrm>
          <a:prstGeom prst="rect">
            <a:avLst/>
          </a:prstGeom>
          <a:noFill/>
          <a:ln/>
        </p:spPr>
        <p:txBody>
          <a:bodyPr wrap="square" lIns="0" tIns="0" rIns="0" bIns="0" rtlCol="0" anchor="ctr"/>
          <a:lstStyle/>
          <a:p>
            <a:pPr>
              <a:lnSpc>
                <a:spcPct val="120000"/>
              </a:lnSpc>
            </a:pPr>
            <a:r>
              <a:rPr lang="en-US" sz="1279" dirty="0">
                <a:solidFill>
                  <a:srgbClr val="7E9AA8"/>
                </a:solidFill>
                <a:latin typeface="MiSans" pitchFamily="34" charset="0"/>
                <a:ea typeface="MiSans" pitchFamily="34" charset="-122"/>
                <a:cs typeface="MiSans" pitchFamily="34" charset="-120"/>
              </a:rPr>
              <a:t>• 难以获得用户信任</a:t>
            </a:r>
            <a:endParaRPr lang="en-US" sz="1600" dirty="0"/>
          </a:p>
        </p:txBody>
      </p:sp>
      <p:sp>
        <p:nvSpPr>
          <p:cNvPr id="27" name="Shape 25"/>
          <p:cNvSpPr/>
          <p:nvPr/>
        </p:nvSpPr>
        <p:spPr>
          <a:xfrm>
            <a:off x="10805425" y="1694059"/>
            <a:ext cx="4989350" cy="3689799"/>
          </a:xfrm>
          <a:custGeom>
            <a:avLst/>
            <a:gdLst/>
            <a:ahLst/>
            <a:cxnLst/>
            <a:rect l="l" t="t" r="r" b="b"/>
            <a:pathLst>
              <a:path w="4989350" h="3689799">
                <a:moveTo>
                  <a:pt x="46413" y="0"/>
                </a:moveTo>
                <a:lnTo>
                  <a:pt x="4942938" y="0"/>
                </a:lnTo>
                <a:cubicBezTo>
                  <a:pt x="4968571" y="0"/>
                  <a:pt x="4989350" y="20780"/>
                  <a:pt x="4989350" y="46413"/>
                </a:cubicBezTo>
                <a:lnTo>
                  <a:pt x="4989350" y="3596963"/>
                </a:lnTo>
                <a:cubicBezTo>
                  <a:pt x="4989350" y="3648235"/>
                  <a:pt x="4947787" y="3689799"/>
                  <a:pt x="4896515" y="3689799"/>
                </a:cubicBezTo>
                <a:lnTo>
                  <a:pt x="92835" y="3689799"/>
                </a:lnTo>
                <a:cubicBezTo>
                  <a:pt x="41564" y="3689799"/>
                  <a:pt x="0" y="3648235"/>
                  <a:pt x="0" y="3596963"/>
                </a:cubicBezTo>
                <a:lnTo>
                  <a:pt x="0" y="46413"/>
                </a:lnTo>
                <a:cubicBezTo>
                  <a:pt x="0" y="20797"/>
                  <a:pt x="20797" y="0"/>
                  <a:pt x="46413" y="0"/>
                </a:cubicBezTo>
                <a:close/>
              </a:path>
            </a:pathLst>
          </a:custGeom>
          <a:solidFill>
            <a:srgbClr val="3A5E78">
              <a:alpha val="20000"/>
            </a:srgbClr>
          </a:solidFill>
          <a:ln/>
        </p:spPr>
      </p:sp>
      <p:sp>
        <p:nvSpPr>
          <p:cNvPr id="28" name="Shape 26"/>
          <p:cNvSpPr/>
          <p:nvPr/>
        </p:nvSpPr>
        <p:spPr>
          <a:xfrm>
            <a:off x="10805425" y="1694059"/>
            <a:ext cx="4989350" cy="46413"/>
          </a:xfrm>
          <a:custGeom>
            <a:avLst/>
            <a:gdLst/>
            <a:ahLst/>
            <a:cxnLst/>
            <a:rect l="l" t="t" r="r" b="b"/>
            <a:pathLst>
              <a:path w="4989350" h="46413">
                <a:moveTo>
                  <a:pt x="46413" y="0"/>
                </a:moveTo>
                <a:lnTo>
                  <a:pt x="4942938" y="0"/>
                </a:lnTo>
                <a:cubicBezTo>
                  <a:pt x="4968571" y="0"/>
                  <a:pt x="4989350" y="20780"/>
                  <a:pt x="4989350" y="46413"/>
                </a:cubicBezTo>
                <a:lnTo>
                  <a:pt x="4989350" y="46413"/>
                </a:lnTo>
                <a:lnTo>
                  <a:pt x="0" y="46413"/>
                </a:lnTo>
                <a:lnTo>
                  <a:pt x="0" y="46413"/>
                </a:lnTo>
                <a:cubicBezTo>
                  <a:pt x="0" y="20797"/>
                  <a:pt x="20797" y="0"/>
                  <a:pt x="46413" y="0"/>
                </a:cubicBezTo>
                <a:close/>
              </a:path>
            </a:pathLst>
          </a:custGeom>
          <a:solidFill>
            <a:srgbClr val="4C7E9A"/>
          </a:solidFill>
          <a:ln/>
        </p:spPr>
      </p:sp>
      <p:sp>
        <p:nvSpPr>
          <p:cNvPr id="29" name="Shape 27"/>
          <p:cNvSpPr/>
          <p:nvPr/>
        </p:nvSpPr>
        <p:spPr>
          <a:xfrm>
            <a:off x="11037488" y="1902915"/>
            <a:ext cx="348094" cy="348094"/>
          </a:xfrm>
          <a:custGeom>
            <a:avLst/>
            <a:gdLst/>
            <a:ahLst/>
            <a:cxnLst/>
            <a:rect l="l" t="t" r="r" b="b"/>
            <a:pathLst>
              <a:path w="348094" h="348094">
                <a:moveTo>
                  <a:pt x="43512" y="43512"/>
                </a:moveTo>
                <a:cubicBezTo>
                  <a:pt x="43512" y="31478"/>
                  <a:pt x="33790" y="21756"/>
                  <a:pt x="21756" y="21756"/>
                </a:cubicBezTo>
                <a:cubicBezTo>
                  <a:pt x="9722" y="21756"/>
                  <a:pt x="0" y="31478"/>
                  <a:pt x="0" y="43512"/>
                </a:cubicBezTo>
                <a:lnTo>
                  <a:pt x="0" y="271949"/>
                </a:lnTo>
                <a:cubicBezTo>
                  <a:pt x="0" y="301999"/>
                  <a:pt x="24339" y="326338"/>
                  <a:pt x="54390" y="326338"/>
                </a:cubicBezTo>
                <a:lnTo>
                  <a:pt x="326338" y="326338"/>
                </a:lnTo>
                <a:cubicBezTo>
                  <a:pt x="338372" y="326338"/>
                  <a:pt x="348094" y="316616"/>
                  <a:pt x="348094" y="304582"/>
                </a:cubicBezTo>
                <a:cubicBezTo>
                  <a:pt x="348094" y="292549"/>
                  <a:pt x="338372" y="282827"/>
                  <a:pt x="326338" y="282827"/>
                </a:cubicBezTo>
                <a:lnTo>
                  <a:pt x="54390" y="282827"/>
                </a:lnTo>
                <a:cubicBezTo>
                  <a:pt x="48407" y="282827"/>
                  <a:pt x="43512" y="277931"/>
                  <a:pt x="43512" y="271949"/>
                </a:cubicBezTo>
                <a:lnTo>
                  <a:pt x="43512" y="43512"/>
                </a:lnTo>
                <a:close/>
                <a:moveTo>
                  <a:pt x="319948" y="102389"/>
                </a:moveTo>
                <a:cubicBezTo>
                  <a:pt x="328446" y="93890"/>
                  <a:pt x="328446" y="80089"/>
                  <a:pt x="319948" y="71590"/>
                </a:cubicBezTo>
                <a:cubicBezTo>
                  <a:pt x="311449" y="63092"/>
                  <a:pt x="297648" y="63092"/>
                  <a:pt x="289149" y="71590"/>
                </a:cubicBezTo>
                <a:lnTo>
                  <a:pt x="217559" y="143249"/>
                </a:lnTo>
                <a:lnTo>
                  <a:pt x="178534" y="104292"/>
                </a:lnTo>
                <a:cubicBezTo>
                  <a:pt x="170036" y="95794"/>
                  <a:pt x="156234" y="95794"/>
                  <a:pt x="147736" y="104292"/>
                </a:cubicBezTo>
                <a:lnTo>
                  <a:pt x="82468" y="169560"/>
                </a:lnTo>
                <a:cubicBezTo>
                  <a:pt x="73970" y="178058"/>
                  <a:pt x="73970" y="191860"/>
                  <a:pt x="82468" y="200358"/>
                </a:cubicBezTo>
                <a:cubicBezTo>
                  <a:pt x="90967" y="208857"/>
                  <a:pt x="104768" y="208857"/>
                  <a:pt x="113267" y="200358"/>
                </a:cubicBezTo>
                <a:lnTo>
                  <a:pt x="163169" y="150456"/>
                </a:lnTo>
                <a:lnTo>
                  <a:pt x="202194" y="189480"/>
                </a:lnTo>
                <a:cubicBezTo>
                  <a:pt x="210692" y="197979"/>
                  <a:pt x="224494" y="197979"/>
                  <a:pt x="232992" y="189480"/>
                </a:cubicBezTo>
                <a:lnTo>
                  <a:pt x="320016" y="102457"/>
                </a:lnTo>
                <a:close/>
              </a:path>
            </a:pathLst>
          </a:custGeom>
          <a:solidFill>
            <a:srgbClr val="4C7E9A"/>
          </a:solidFill>
          <a:ln/>
        </p:spPr>
      </p:sp>
      <p:sp>
        <p:nvSpPr>
          <p:cNvPr id="30" name="Text 28"/>
          <p:cNvSpPr/>
          <p:nvPr/>
        </p:nvSpPr>
        <p:spPr>
          <a:xfrm>
            <a:off x="11565430" y="1914518"/>
            <a:ext cx="1276345" cy="324888"/>
          </a:xfrm>
          <a:prstGeom prst="rect">
            <a:avLst/>
          </a:prstGeom>
          <a:noFill/>
          <a:ln/>
        </p:spPr>
        <p:txBody>
          <a:bodyPr wrap="square" lIns="0" tIns="0" rIns="0" bIns="0" rtlCol="0" anchor="ctr"/>
          <a:lstStyle/>
          <a:p>
            <a:pPr>
              <a:lnSpc>
                <a:spcPct val="120000"/>
              </a:lnSpc>
            </a:pPr>
            <a:r>
              <a:rPr lang="en-US" sz="1827" b="1" dirty="0">
                <a:solidFill>
                  <a:srgbClr val="D1D5DB"/>
                </a:solidFill>
                <a:latin typeface="MiSans" pitchFamily="34" charset="0"/>
                <a:ea typeface="MiSans" pitchFamily="34" charset="-122"/>
                <a:cs typeface="MiSans" pitchFamily="34" charset="-120"/>
              </a:rPr>
              <a:t>过拟合风险</a:t>
            </a:r>
            <a:endParaRPr lang="en-US" sz="1600" dirty="0"/>
          </a:p>
        </p:txBody>
      </p:sp>
      <p:sp>
        <p:nvSpPr>
          <p:cNvPr id="31" name="Text 29"/>
          <p:cNvSpPr/>
          <p:nvPr/>
        </p:nvSpPr>
        <p:spPr>
          <a:xfrm>
            <a:off x="10991075" y="2390247"/>
            <a:ext cx="4722478" cy="324888"/>
          </a:xfrm>
          <a:prstGeom prst="rect">
            <a:avLst/>
          </a:prstGeom>
          <a:noFill/>
          <a:ln/>
        </p:spPr>
        <p:txBody>
          <a:bodyPr wrap="square" lIns="0" tIns="0" rIns="0" bIns="0" rtlCol="0" anchor="ctr"/>
          <a:lstStyle/>
          <a:p>
            <a:pPr>
              <a:lnSpc>
                <a:spcPct val="130000"/>
              </a:lnSpc>
            </a:pPr>
            <a:r>
              <a:rPr lang="en-US" sz="1645" b="1" dirty="0">
                <a:solidFill>
                  <a:srgbClr val="4C7E9A"/>
                </a:solidFill>
                <a:latin typeface="MiSans" pitchFamily="34" charset="0"/>
                <a:ea typeface="MiSans" pitchFamily="34" charset="-122"/>
                <a:cs typeface="MiSans" pitchFamily="34" charset="-120"/>
              </a:rPr>
              <a:t>问题描述</a:t>
            </a:r>
            <a:endParaRPr lang="en-US" sz="1600" dirty="0"/>
          </a:p>
        </p:txBody>
      </p:sp>
      <p:sp>
        <p:nvSpPr>
          <p:cNvPr id="32" name="Text 30"/>
          <p:cNvSpPr/>
          <p:nvPr/>
        </p:nvSpPr>
        <p:spPr>
          <a:xfrm>
            <a:off x="10991075" y="2761547"/>
            <a:ext cx="4710875" cy="905045"/>
          </a:xfrm>
          <a:prstGeom prst="rect">
            <a:avLst/>
          </a:prstGeom>
          <a:noFill/>
          <a:ln/>
        </p:spPr>
        <p:txBody>
          <a:bodyPr wrap="square" lIns="0" tIns="0" rIns="0" bIns="0" rtlCol="0" anchor="ctr"/>
          <a:lstStyle/>
          <a:p>
            <a:pPr>
              <a:lnSpc>
                <a:spcPct val="140000"/>
              </a:lnSpc>
            </a:pPr>
            <a:r>
              <a:rPr lang="en-US" sz="1462" dirty="0">
                <a:solidFill>
                  <a:srgbClr val="7E9AA8"/>
                </a:solidFill>
                <a:latin typeface="MiSans" pitchFamily="34" charset="0"/>
                <a:ea typeface="MiSans" pitchFamily="34" charset="-122"/>
                <a:cs typeface="MiSans" pitchFamily="34" charset="-120"/>
              </a:rPr>
              <a:t>尤其在Boosting方法中，由于核心思想是通过不断"纠错"来提升性能，如果训练数据中存在较多噪声，模型可能过度拟合这些噪声样本。</a:t>
            </a:r>
            <a:endParaRPr lang="en-US" sz="1600" dirty="0"/>
          </a:p>
        </p:txBody>
      </p:sp>
      <p:sp>
        <p:nvSpPr>
          <p:cNvPr id="33" name="Text 31"/>
          <p:cNvSpPr/>
          <p:nvPr/>
        </p:nvSpPr>
        <p:spPr>
          <a:xfrm>
            <a:off x="10991075" y="3759418"/>
            <a:ext cx="4722478" cy="324888"/>
          </a:xfrm>
          <a:prstGeom prst="rect">
            <a:avLst/>
          </a:prstGeom>
          <a:noFill/>
          <a:ln/>
        </p:spPr>
        <p:txBody>
          <a:bodyPr wrap="square" lIns="0" tIns="0" rIns="0" bIns="0" rtlCol="0" anchor="ctr"/>
          <a:lstStyle/>
          <a:p>
            <a:pPr>
              <a:lnSpc>
                <a:spcPct val="130000"/>
              </a:lnSpc>
            </a:pPr>
            <a:r>
              <a:rPr lang="en-US" sz="1645" b="1" dirty="0">
                <a:solidFill>
                  <a:srgbClr val="4C7E9A"/>
                </a:solidFill>
                <a:latin typeface="MiSans" pitchFamily="34" charset="0"/>
                <a:ea typeface="MiSans" pitchFamily="34" charset="-122"/>
                <a:cs typeface="MiSans" pitchFamily="34" charset="-120"/>
              </a:rPr>
              <a:t>具体影响</a:t>
            </a:r>
            <a:endParaRPr lang="en-US" sz="1600" dirty="0"/>
          </a:p>
        </p:txBody>
      </p:sp>
      <p:sp>
        <p:nvSpPr>
          <p:cNvPr id="34" name="Text 32"/>
          <p:cNvSpPr/>
          <p:nvPr/>
        </p:nvSpPr>
        <p:spPr>
          <a:xfrm>
            <a:off x="10991075" y="4130718"/>
            <a:ext cx="4699272" cy="232063"/>
          </a:xfrm>
          <a:prstGeom prst="rect">
            <a:avLst/>
          </a:prstGeom>
          <a:noFill/>
          <a:ln/>
        </p:spPr>
        <p:txBody>
          <a:bodyPr wrap="square" lIns="0" tIns="0" rIns="0" bIns="0" rtlCol="0" anchor="ctr"/>
          <a:lstStyle/>
          <a:p>
            <a:pPr>
              <a:lnSpc>
                <a:spcPct val="120000"/>
              </a:lnSpc>
            </a:pPr>
            <a:r>
              <a:rPr lang="en-US" sz="1279" dirty="0">
                <a:solidFill>
                  <a:srgbClr val="7E9AA8"/>
                </a:solidFill>
                <a:latin typeface="MiSans" pitchFamily="34" charset="0"/>
                <a:ea typeface="MiSans" pitchFamily="34" charset="-122"/>
                <a:cs typeface="MiSans" pitchFamily="34" charset="-120"/>
              </a:rPr>
              <a:t>• 泛化能力下降</a:t>
            </a:r>
            <a:endParaRPr lang="en-US" sz="1600" dirty="0"/>
          </a:p>
        </p:txBody>
      </p:sp>
      <p:sp>
        <p:nvSpPr>
          <p:cNvPr id="35" name="Text 33"/>
          <p:cNvSpPr/>
          <p:nvPr/>
        </p:nvSpPr>
        <p:spPr>
          <a:xfrm>
            <a:off x="10991075" y="4409193"/>
            <a:ext cx="4699272" cy="232063"/>
          </a:xfrm>
          <a:prstGeom prst="rect">
            <a:avLst/>
          </a:prstGeom>
          <a:noFill/>
          <a:ln/>
        </p:spPr>
        <p:txBody>
          <a:bodyPr wrap="square" lIns="0" tIns="0" rIns="0" bIns="0" rtlCol="0" anchor="ctr"/>
          <a:lstStyle/>
          <a:p>
            <a:pPr>
              <a:lnSpc>
                <a:spcPct val="120000"/>
              </a:lnSpc>
            </a:pPr>
            <a:r>
              <a:rPr lang="en-US" sz="1279" dirty="0">
                <a:solidFill>
                  <a:srgbClr val="7E9AA8"/>
                </a:solidFill>
                <a:latin typeface="MiSans" pitchFamily="34" charset="0"/>
                <a:ea typeface="MiSans" pitchFamily="34" charset="-122"/>
                <a:cs typeface="MiSans" pitchFamily="34" charset="-120"/>
              </a:rPr>
              <a:t>• 对噪声敏感</a:t>
            </a:r>
            <a:endParaRPr lang="en-US" sz="1600" dirty="0"/>
          </a:p>
        </p:txBody>
      </p:sp>
      <p:sp>
        <p:nvSpPr>
          <p:cNvPr id="36" name="Text 34"/>
          <p:cNvSpPr/>
          <p:nvPr/>
        </p:nvSpPr>
        <p:spPr>
          <a:xfrm>
            <a:off x="10991075" y="4687669"/>
            <a:ext cx="4699272" cy="232063"/>
          </a:xfrm>
          <a:prstGeom prst="rect">
            <a:avLst/>
          </a:prstGeom>
          <a:noFill/>
          <a:ln/>
        </p:spPr>
        <p:txBody>
          <a:bodyPr wrap="square" lIns="0" tIns="0" rIns="0" bIns="0" rtlCol="0" anchor="ctr"/>
          <a:lstStyle/>
          <a:p>
            <a:pPr>
              <a:lnSpc>
                <a:spcPct val="120000"/>
              </a:lnSpc>
            </a:pPr>
            <a:r>
              <a:rPr lang="en-US" sz="1279" dirty="0">
                <a:solidFill>
                  <a:srgbClr val="7E9AA8"/>
                </a:solidFill>
                <a:latin typeface="MiSans" pitchFamily="34" charset="0"/>
                <a:ea typeface="MiSans" pitchFamily="34" charset="-122"/>
                <a:cs typeface="MiSans" pitchFamily="34" charset="-120"/>
              </a:rPr>
              <a:t>• 在新数据上表现不佳</a:t>
            </a:r>
            <a:endParaRPr lang="en-US" sz="1600" dirty="0"/>
          </a:p>
        </p:txBody>
      </p:sp>
      <p:sp>
        <p:nvSpPr>
          <p:cNvPr id="37" name="Text 35"/>
          <p:cNvSpPr/>
          <p:nvPr/>
        </p:nvSpPr>
        <p:spPr>
          <a:xfrm>
            <a:off x="10991075" y="4966144"/>
            <a:ext cx="4699272" cy="232063"/>
          </a:xfrm>
          <a:prstGeom prst="rect">
            <a:avLst/>
          </a:prstGeom>
          <a:noFill/>
          <a:ln/>
        </p:spPr>
        <p:txBody>
          <a:bodyPr wrap="square" lIns="0" tIns="0" rIns="0" bIns="0" rtlCol="0" anchor="ctr"/>
          <a:lstStyle/>
          <a:p>
            <a:pPr>
              <a:lnSpc>
                <a:spcPct val="120000"/>
              </a:lnSpc>
            </a:pPr>
            <a:r>
              <a:rPr lang="en-US" sz="1279" dirty="0">
                <a:solidFill>
                  <a:srgbClr val="7E9AA8"/>
                </a:solidFill>
                <a:latin typeface="MiSans" pitchFamily="34" charset="0"/>
                <a:ea typeface="MiSans" pitchFamily="34" charset="-122"/>
                <a:cs typeface="MiSans" pitchFamily="34" charset="-120"/>
              </a:rPr>
              <a:t>• 需要仔细的早停策略</a:t>
            </a:r>
            <a:endParaRPr lang="en-US" sz="1600" dirty="0"/>
          </a:p>
        </p:txBody>
      </p:sp>
      <p:sp>
        <p:nvSpPr>
          <p:cNvPr id="38" name="Shape 36"/>
          <p:cNvSpPr/>
          <p:nvPr/>
        </p:nvSpPr>
        <p:spPr>
          <a:xfrm>
            <a:off x="487332" y="5569507"/>
            <a:ext cx="7542041" cy="3109642"/>
          </a:xfrm>
          <a:custGeom>
            <a:avLst/>
            <a:gdLst/>
            <a:ahLst/>
            <a:cxnLst/>
            <a:rect l="l" t="t" r="r" b="b"/>
            <a:pathLst>
              <a:path w="7542041" h="3109642">
                <a:moveTo>
                  <a:pt x="46413" y="0"/>
                </a:moveTo>
                <a:lnTo>
                  <a:pt x="7449219" y="0"/>
                </a:lnTo>
                <a:cubicBezTo>
                  <a:pt x="7500483" y="0"/>
                  <a:pt x="7542041" y="41558"/>
                  <a:pt x="7542041" y="92823"/>
                </a:cubicBezTo>
                <a:lnTo>
                  <a:pt x="7542041" y="3016819"/>
                </a:lnTo>
                <a:cubicBezTo>
                  <a:pt x="7542041" y="3068083"/>
                  <a:pt x="7500483" y="3109642"/>
                  <a:pt x="7449219" y="3109642"/>
                </a:cubicBezTo>
                <a:lnTo>
                  <a:pt x="46413" y="3109642"/>
                </a:lnTo>
                <a:cubicBezTo>
                  <a:pt x="20780" y="3109642"/>
                  <a:pt x="0" y="3088862"/>
                  <a:pt x="0" y="3063229"/>
                </a:cubicBezTo>
                <a:lnTo>
                  <a:pt x="0" y="46413"/>
                </a:lnTo>
                <a:cubicBezTo>
                  <a:pt x="0" y="20797"/>
                  <a:pt x="20797" y="0"/>
                  <a:pt x="46413" y="0"/>
                </a:cubicBezTo>
                <a:close/>
              </a:path>
            </a:pathLst>
          </a:custGeom>
          <a:solidFill>
            <a:srgbClr val="3A5E78">
              <a:alpha val="20000"/>
            </a:srgbClr>
          </a:solidFill>
          <a:ln/>
        </p:spPr>
      </p:sp>
      <p:sp>
        <p:nvSpPr>
          <p:cNvPr id="39" name="Shape 37"/>
          <p:cNvSpPr/>
          <p:nvPr/>
        </p:nvSpPr>
        <p:spPr>
          <a:xfrm>
            <a:off x="487332" y="5569507"/>
            <a:ext cx="46413" cy="3109642"/>
          </a:xfrm>
          <a:custGeom>
            <a:avLst/>
            <a:gdLst/>
            <a:ahLst/>
            <a:cxnLst/>
            <a:rect l="l" t="t" r="r" b="b"/>
            <a:pathLst>
              <a:path w="46413" h="3109642">
                <a:moveTo>
                  <a:pt x="46413" y="0"/>
                </a:moveTo>
                <a:lnTo>
                  <a:pt x="46413" y="0"/>
                </a:lnTo>
                <a:lnTo>
                  <a:pt x="46413" y="3109642"/>
                </a:lnTo>
                <a:lnTo>
                  <a:pt x="46413" y="3109642"/>
                </a:lnTo>
                <a:cubicBezTo>
                  <a:pt x="20780" y="3109642"/>
                  <a:pt x="0" y="3088862"/>
                  <a:pt x="0" y="3063229"/>
                </a:cubicBezTo>
                <a:lnTo>
                  <a:pt x="0" y="46413"/>
                </a:lnTo>
                <a:cubicBezTo>
                  <a:pt x="0" y="20797"/>
                  <a:pt x="20797" y="0"/>
                  <a:pt x="46413" y="0"/>
                </a:cubicBezTo>
                <a:close/>
              </a:path>
            </a:pathLst>
          </a:custGeom>
          <a:solidFill>
            <a:srgbClr val="4C7E9A"/>
          </a:solidFill>
          <a:ln/>
        </p:spPr>
      </p:sp>
      <p:sp>
        <p:nvSpPr>
          <p:cNvPr id="40" name="Text 38"/>
          <p:cNvSpPr/>
          <p:nvPr/>
        </p:nvSpPr>
        <p:spPr>
          <a:xfrm>
            <a:off x="696188" y="5755158"/>
            <a:ext cx="7286772" cy="371300"/>
          </a:xfrm>
          <a:prstGeom prst="rect">
            <a:avLst/>
          </a:prstGeom>
          <a:noFill/>
          <a:ln/>
        </p:spPr>
        <p:txBody>
          <a:bodyPr wrap="square" lIns="0" tIns="0" rIns="0" bIns="0" rtlCol="0" anchor="ctr"/>
          <a:lstStyle/>
          <a:p>
            <a:pPr>
              <a:lnSpc>
                <a:spcPct val="110000"/>
              </a:lnSpc>
            </a:pPr>
            <a:r>
              <a:rPr lang="en-US" sz="2193" b="1" dirty="0">
                <a:solidFill>
                  <a:srgbClr val="4C7E9A"/>
                </a:solidFill>
                <a:latin typeface="MiSans" pitchFamily="34" charset="0"/>
                <a:ea typeface="MiSans" pitchFamily="34" charset="-122"/>
                <a:cs typeface="MiSans" pitchFamily="34" charset="-120"/>
              </a:rPr>
              <a:t>其他挑战</a:t>
            </a:r>
            <a:endParaRPr lang="en-US" sz="1600" dirty="0"/>
          </a:p>
        </p:txBody>
      </p:sp>
      <p:sp>
        <p:nvSpPr>
          <p:cNvPr id="41" name="Shape 39"/>
          <p:cNvSpPr/>
          <p:nvPr/>
        </p:nvSpPr>
        <p:spPr>
          <a:xfrm>
            <a:off x="696188" y="6312108"/>
            <a:ext cx="290079" cy="232063"/>
          </a:xfrm>
          <a:custGeom>
            <a:avLst/>
            <a:gdLst/>
            <a:ahLst/>
            <a:cxnLst/>
            <a:rect l="l" t="t" r="r" b="b"/>
            <a:pathLst>
              <a:path w="290079" h="232063">
                <a:moveTo>
                  <a:pt x="188506" y="95409"/>
                </a:moveTo>
                <a:cubicBezTo>
                  <a:pt x="194035" y="93913"/>
                  <a:pt x="199837" y="96542"/>
                  <a:pt x="202330" y="101663"/>
                </a:cubicBezTo>
                <a:lnTo>
                  <a:pt x="210760" y="118706"/>
                </a:lnTo>
                <a:cubicBezTo>
                  <a:pt x="215429" y="119340"/>
                  <a:pt x="220006" y="120609"/>
                  <a:pt x="224312" y="122377"/>
                </a:cubicBezTo>
                <a:lnTo>
                  <a:pt x="240176" y="111816"/>
                </a:lnTo>
                <a:cubicBezTo>
                  <a:pt x="244935" y="108643"/>
                  <a:pt x="251235" y="109278"/>
                  <a:pt x="255269" y="113312"/>
                </a:cubicBezTo>
                <a:lnTo>
                  <a:pt x="263971" y="122014"/>
                </a:lnTo>
                <a:cubicBezTo>
                  <a:pt x="268005" y="126048"/>
                  <a:pt x="268640" y="132394"/>
                  <a:pt x="265467" y="137107"/>
                </a:cubicBezTo>
                <a:lnTo>
                  <a:pt x="254906" y="152926"/>
                </a:lnTo>
                <a:cubicBezTo>
                  <a:pt x="255768" y="155056"/>
                  <a:pt x="256538" y="157277"/>
                  <a:pt x="257173" y="159589"/>
                </a:cubicBezTo>
                <a:cubicBezTo>
                  <a:pt x="257807" y="161900"/>
                  <a:pt x="258215" y="164166"/>
                  <a:pt x="258532" y="166478"/>
                </a:cubicBezTo>
                <a:lnTo>
                  <a:pt x="275620" y="174908"/>
                </a:lnTo>
                <a:cubicBezTo>
                  <a:pt x="280742" y="177446"/>
                  <a:pt x="283370" y="183248"/>
                  <a:pt x="281875" y="188732"/>
                </a:cubicBezTo>
                <a:lnTo>
                  <a:pt x="278702" y="200607"/>
                </a:lnTo>
                <a:cubicBezTo>
                  <a:pt x="277206" y="206092"/>
                  <a:pt x="272085" y="209808"/>
                  <a:pt x="266374" y="209446"/>
                </a:cubicBezTo>
                <a:lnTo>
                  <a:pt x="247337" y="208222"/>
                </a:lnTo>
                <a:cubicBezTo>
                  <a:pt x="244482" y="211893"/>
                  <a:pt x="241173" y="215293"/>
                  <a:pt x="237411" y="218193"/>
                </a:cubicBezTo>
                <a:lnTo>
                  <a:pt x="238635" y="237185"/>
                </a:lnTo>
                <a:cubicBezTo>
                  <a:pt x="238998" y="242895"/>
                  <a:pt x="235281" y="248062"/>
                  <a:pt x="229797" y="249513"/>
                </a:cubicBezTo>
                <a:lnTo>
                  <a:pt x="217921" y="252686"/>
                </a:lnTo>
                <a:cubicBezTo>
                  <a:pt x="212392" y="254181"/>
                  <a:pt x="206636" y="251552"/>
                  <a:pt x="204097" y="246431"/>
                </a:cubicBezTo>
                <a:lnTo>
                  <a:pt x="195667" y="229389"/>
                </a:lnTo>
                <a:cubicBezTo>
                  <a:pt x="190999" y="228754"/>
                  <a:pt x="186421" y="227485"/>
                  <a:pt x="182115" y="225717"/>
                </a:cubicBezTo>
                <a:lnTo>
                  <a:pt x="166251" y="236278"/>
                </a:lnTo>
                <a:cubicBezTo>
                  <a:pt x="161492" y="239451"/>
                  <a:pt x="155192" y="238816"/>
                  <a:pt x="151158" y="234782"/>
                </a:cubicBezTo>
                <a:lnTo>
                  <a:pt x="142456" y="226080"/>
                </a:lnTo>
                <a:cubicBezTo>
                  <a:pt x="138422" y="222046"/>
                  <a:pt x="137787" y="215746"/>
                  <a:pt x="140960" y="210987"/>
                </a:cubicBezTo>
                <a:lnTo>
                  <a:pt x="151521" y="195123"/>
                </a:lnTo>
                <a:cubicBezTo>
                  <a:pt x="150660" y="192993"/>
                  <a:pt x="149889" y="190772"/>
                  <a:pt x="149254" y="188460"/>
                </a:cubicBezTo>
                <a:cubicBezTo>
                  <a:pt x="148620" y="186149"/>
                  <a:pt x="148212" y="183837"/>
                  <a:pt x="147895" y="181571"/>
                </a:cubicBezTo>
                <a:lnTo>
                  <a:pt x="130807" y="173141"/>
                </a:lnTo>
                <a:cubicBezTo>
                  <a:pt x="125686" y="170602"/>
                  <a:pt x="123102" y="164801"/>
                  <a:pt x="124552" y="159317"/>
                </a:cubicBezTo>
                <a:lnTo>
                  <a:pt x="127725" y="147441"/>
                </a:lnTo>
                <a:cubicBezTo>
                  <a:pt x="129221" y="141957"/>
                  <a:pt x="134343" y="138241"/>
                  <a:pt x="140054" y="138603"/>
                </a:cubicBezTo>
                <a:lnTo>
                  <a:pt x="159045" y="139827"/>
                </a:lnTo>
                <a:cubicBezTo>
                  <a:pt x="161900" y="136156"/>
                  <a:pt x="165209" y="132756"/>
                  <a:pt x="168971" y="129855"/>
                </a:cubicBezTo>
                <a:lnTo>
                  <a:pt x="167747" y="110910"/>
                </a:lnTo>
                <a:cubicBezTo>
                  <a:pt x="167384" y="105199"/>
                  <a:pt x="171101" y="100032"/>
                  <a:pt x="176585" y="98581"/>
                </a:cubicBezTo>
                <a:lnTo>
                  <a:pt x="188460" y="95409"/>
                </a:lnTo>
                <a:close/>
                <a:moveTo>
                  <a:pt x="203236" y="154104"/>
                </a:moveTo>
                <a:cubicBezTo>
                  <a:pt x="192229" y="154117"/>
                  <a:pt x="183304" y="163063"/>
                  <a:pt x="183316" y="174070"/>
                </a:cubicBezTo>
                <a:cubicBezTo>
                  <a:pt x="183329" y="185077"/>
                  <a:pt x="192275" y="194003"/>
                  <a:pt x="203282" y="193990"/>
                </a:cubicBezTo>
                <a:cubicBezTo>
                  <a:pt x="214288" y="193977"/>
                  <a:pt x="223214" y="185031"/>
                  <a:pt x="223202" y="174024"/>
                </a:cubicBezTo>
                <a:cubicBezTo>
                  <a:pt x="223189" y="163018"/>
                  <a:pt x="214243" y="154092"/>
                  <a:pt x="203236" y="154104"/>
                </a:cubicBezTo>
                <a:close/>
                <a:moveTo>
                  <a:pt x="101935" y="-20623"/>
                </a:moveTo>
                <a:lnTo>
                  <a:pt x="113810" y="-17450"/>
                </a:lnTo>
                <a:cubicBezTo>
                  <a:pt x="119295" y="-15954"/>
                  <a:pt x="123011" y="-10787"/>
                  <a:pt x="122649" y="-5122"/>
                </a:cubicBezTo>
                <a:lnTo>
                  <a:pt x="121425" y="13824"/>
                </a:lnTo>
                <a:cubicBezTo>
                  <a:pt x="125187" y="16725"/>
                  <a:pt x="128496" y="20079"/>
                  <a:pt x="131351" y="23796"/>
                </a:cubicBezTo>
                <a:lnTo>
                  <a:pt x="150388" y="22572"/>
                </a:lnTo>
                <a:cubicBezTo>
                  <a:pt x="156053" y="22209"/>
                  <a:pt x="161220" y="25926"/>
                  <a:pt x="162716" y="31410"/>
                </a:cubicBezTo>
                <a:lnTo>
                  <a:pt x="165889" y="43285"/>
                </a:lnTo>
                <a:cubicBezTo>
                  <a:pt x="167339" y="48769"/>
                  <a:pt x="164756" y="54571"/>
                  <a:pt x="159634" y="57109"/>
                </a:cubicBezTo>
                <a:lnTo>
                  <a:pt x="142546" y="65540"/>
                </a:lnTo>
                <a:cubicBezTo>
                  <a:pt x="142229" y="67851"/>
                  <a:pt x="141776" y="70163"/>
                  <a:pt x="141187" y="72429"/>
                </a:cubicBezTo>
                <a:cubicBezTo>
                  <a:pt x="140597" y="74695"/>
                  <a:pt x="139782" y="76961"/>
                  <a:pt x="138920" y="79092"/>
                </a:cubicBezTo>
                <a:lnTo>
                  <a:pt x="149481" y="94955"/>
                </a:lnTo>
                <a:cubicBezTo>
                  <a:pt x="152654" y="99714"/>
                  <a:pt x="152019" y="106015"/>
                  <a:pt x="147985" y="110049"/>
                </a:cubicBezTo>
                <a:lnTo>
                  <a:pt x="139283" y="118751"/>
                </a:lnTo>
                <a:cubicBezTo>
                  <a:pt x="135249" y="122785"/>
                  <a:pt x="128949" y="123419"/>
                  <a:pt x="124190" y="120247"/>
                </a:cubicBezTo>
                <a:lnTo>
                  <a:pt x="108326" y="109686"/>
                </a:lnTo>
                <a:cubicBezTo>
                  <a:pt x="104020" y="111454"/>
                  <a:pt x="99443" y="112723"/>
                  <a:pt x="94774" y="113357"/>
                </a:cubicBezTo>
                <a:lnTo>
                  <a:pt x="86344" y="130399"/>
                </a:lnTo>
                <a:cubicBezTo>
                  <a:pt x="83805" y="135521"/>
                  <a:pt x="78004" y="138105"/>
                  <a:pt x="72520" y="136654"/>
                </a:cubicBezTo>
                <a:lnTo>
                  <a:pt x="60645" y="133481"/>
                </a:lnTo>
                <a:cubicBezTo>
                  <a:pt x="55115" y="131986"/>
                  <a:pt x="51444" y="126819"/>
                  <a:pt x="51806" y="121153"/>
                </a:cubicBezTo>
                <a:lnTo>
                  <a:pt x="53030" y="102162"/>
                </a:lnTo>
                <a:cubicBezTo>
                  <a:pt x="49268" y="99261"/>
                  <a:pt x="45959" y="95907"/>
                  <a:pt x="43104" y="92191"/>
                </a:cubicBezTo>
                <a:lnTo>
                  <a:pt x="24067" y="93414"/>
                </a:lnTo>
                <a:cubicBezTo>
                  <a:pt x="18402" y="93777"/>
                  <a:pt x="13235" y="90060"/>
                  <a:pt x="11739" y="84576"/>
                </a:cubicBezTo>
                <a:lnTo>
                  <a:pt x="8566" y="72701"/>
                </a:lnTo>
                <a:cubicBezTo>
                  <a:pt x="7116" y="67217"/>
                  <a:pt x="9700" y="61415"/>
                  <a:pt x="14821" y="58877"/>
                </a:cubicBezTo>
                <a:lnTo>
                  <a:pt x="31909" y="50446"/>
                </a:lnTo>
                <a:cubicBezTo>
                  <a:pt x="32226" y="48135"/>
                  <a:pt x="32679" y="45869"/>
                  <a:pt x="33268" y="43557"/>
                </a:cubicBezTo>
                <a:cubicBezTo>
                  <a:pt x="33903" y="41246"/>
                  <a:pt x="34628" y="39025"/>
                  <a:pt x="35535" y="36894"/>
                </a:cubicBezTo>
                <a:lnTo>
                  <a:pt x="24974" y="21076"/>
                </a:lnTo>
                <a:cubicBezTo>
                  <a:pt x="21801" y="16317"/>
                  <a:pt x="22436" y="10017"/>
                  <a:pt x="26470" y="5983"/>
                </a:cubicBezTo>
                <a:lnTo>
                  <a:pt x="35172" y="-2719"/>
                </a:lnTo>
                <a:cubicBezTo>
                  <a:pt x="39206" y="-6753"/>
                  <a:pt x="45506" y="-7388"/>
                  <a:pt x="50265" y="-4215"/>
                </a:cubicBezTo>
                <a:lnTo>
                  <a:pt x="66129" y="6345"/>
                </a:lnTo>
                <a:cubicBezTo>
                  <a:pt x="70435" y="4578"/>
                  <a:pt x="75012" y="3309"/>
                  <a:pt x="79681" y="2674"/>
                </a:cubicBezTo>
                <a:lnTo>
                  <a:pt x="88111" y="-14368"/>
                </a:lnTo>
                <a:cubicBezTo>
                  <a:pt x="90650" y="-19490"/>
                  <a:pt x="96406" y="-22073"/>
                  <a:pt x="101935" y="-20623"/>
                </a:cubicBezTo>
                <a:close/>
                <a:moveTo>
                  <a:pt x="87205" y="38073"/>
                </a:moveTo>
                <a:cubicBezTo>
                  <a:pt x="76198" y="38073"/>
                  <a:pt x="67262" y="47009"/>
                  <a:pt x="67262" y="58016"/>
                </a:cubicBezTo>
                <a:cubicBezTo>
                  <a:pt x="67262" y="69022"/>
                  <a:pt x="76198" y="77959"/>
                  <a:pt x="87205" y="77959"/>
                </a:cubicBezTo>
                <a:cubicBezTo>
                  <a:pt x="98212" y="77959"/>
                  <a:pt x="107148" y="69022"/>
                  <a:pt x="107148" y="58016"/>
                </a:cubicBezTo>
                <a:cubicBezTo>
                  <a:pt x="107148" y="47009"/>
                  <a:pt x="98212" y="38073"/>
                  <a:pt x="87205" y="38073"/>
                </a:cubicBezTo>
                <a:close/>
              </a:path>
            </a:pathLst>
          </a:custGeom>
          <a:solidFill>
            <a:srgbClr val="4C7E9A"/>
          </a:solidFill>
          <a:ln/>
        </p:spPr>
      </p:sp>
      <p:sp>
        <p:nvSpPr>
          <p:cNvPr id="42" name="Text 40"/>
          <p:cNvSpPr/>
          <p:nvPr/>
        </p:nvSpPr>
        <p:spPr>
          <a:xfrm>
            <a:off x="1125505" y="6265696"/>
            <a:ext cx="2216200" cy="324888"/>
          </a:xfrm>
          <a:prstGeom prst="rect">
            <a:avLst/>
          </a:prstGeom>
          <a:noFill/>
          <a:ln/>
        </p:spPr>
        <p:txBody>
          <a:bodyPr wrap="square" lIns="0" tIns="0" rIns="0" bIns="0" rtlCol="0" anchor="ctr"/>
          <a:lstStyle/>
          <a:p>
            <a:pPr>
              <a:lnSpc>
                <a:spcPct val="130000"/>
              </a:lnSpc>
            </a:pPr>
            <a:r>
              <a:rPr lang="en-US" sz="1645" b="1" dirty="0">
                <a:solidFill>
                  <a:srgbClr val="D1D5DB"/>
                </a:solidFill>
                <a:latin typeface="MiSans" pitchFamily="34" charset="0"/>
                <a:ea typeface="MiSans" pitchFamily="34" charset="-122"/>
                <a:cs typeface="MiSans" pitchFamily="34" charset="-120"/>
              </a:rPr>
              <a:t>超参数调优复杂</a:t>
            </a:r>
            <a:endParaRPr lang="en-US" sz="1600" dirty="0"/>
          </a:p>
        </p:txBody>
      </p:sp>
      <p:sp>
        <p:nvSpPr>
          <p:cNvPr id="43" name="Text 41"/>
          <p:cNvSpPr/>
          <p:nvPr/>
        </p:nvSpPr>
        <p:spPr>
          <a:xfrm>
            <a:off x="1125505" y="6590584"/>
            <a:ext cx="2192994" cy="232063"/>
          </a:xfrm>
          <a:prstGeom prst="rect">
            <a:avLst/>
          </a:prstGeom>
          <a:noFill/>
          <a:ln/>
        </p:spPr>
        <p:txBody>
          <a:bodyPr wrap="square" lIns="0" tIns="0" rIns="0" bIns="0" rtlCol="0" anchor="ctr"/>
          <a:lstStyle/>
          <a:p>
            <a:pPr>
              <a:lnSpc>
                <a:spcPct val="120000"/>
              </a:lnSpc>
            </a:pPr>
            <a:r>
              <a:rPr lang="en-US" sz="1279" dirty="0">
                <a:solidFill>
                  <a:srgbClr val="7E9AA8"/>
                </a:solidFill>
                <a:latin typeface="MiSans" pitchFamily="34" charset="0"/>
                <a:ea typeface="MiSans" pitchFamily="34" charset="-122"/>
                <a:cs typeface="MiSans" pitchFamily="34" charset="-120"/>
              </a:rPr>
              <a:t>需要调优的参数数量大幅增加</a:t>
            </a:r>
            <a:endParaRPr lang="en-US" sz="1600" dirty="0"/>
          </a:p>
        </p:txBody>
      </p:sp>
      <p:sp>
        <p:nvSpPr>
          <p:cNvPr id="44" name="Shape 42"/>
          <p:cNvSpPr/>
          <p:nvPr/>
        </p:nvSpPr>
        <p:spPr>
          <a:xfrm>
            <a:off x="725196" y="6961884"/>
            <a:ext cx="232063" cy="232063"/>
          </a:xfrm>
          <a:custGeom>
            <a:avLst/>
            <a:gdLst/>
            <a:ahLst/>
            <a:cxnLst/>
            <a:rect l="l" t="t" r="r" b="b"/>
            <a:pathLst>
              <a:path w="232063" h="232063">
                <a:moveTo>
                  <a:pt x="29008" y="29008"/>
                </a:moveTo>
                <a:cubicBezTo>
                  <a:pt x="13008" y="29008"/>
                  <a:pt x="0" y="42016"/>
                  <a:pt x="0" y="58016"/>
                </a:cubicBezTo>
                <a:lnTo>
                  <a:pt x="0" y="61370"/>
                </a:lnTo>
                <a:cubicBezTo>
                  <a:pt x="0" y="64452"/>
                  <a:pt x="1994" y="67081"/>
                  <a:pt x="4578" y="68758"/>
                </a:cubicBezTo>
                <a:cubicBezTo>
                  <a:pt x="10561" y="72656"/>
                  <a:pt x="14504" y="79364"/>
                  <a:pt x="14504" y="87024"/>
                </a:cubicBezTo>
                <a:cubicBezTo>
                  <a:pt x="14504" y="94683"/>
                  <a:pt x="10561" y="101392"/>
                  <a:pt x="4578" y="105289"/>
                </a:cubicBezTo>
                <a:cubicBezTo>
                  <a:pt x="1994" y="106966"/>
                  <a:pt x="0" y="109595"/>
                  <a:pt x="0" y="112677"/>
                </a:cubicBezTo>
                <a:lnTo>
                  <a:pt x="0" y="137787"/>
                </a:lnTo>
                <a:lnTo>
                  <a:pt x="232063" y="137787"/>
                </a:lnTo>
                <a:lnTo>
                  <a:pt x="232063" y="112677"/>
                </a:lnTo>
                <a:cubicBezTo>
                  <a:pt x="232063" y="109595"/>
                  <a:pt x="230069" y="106966"/>
                  <a:pt x="227485" y="105289"/>
                </a:cubicBezTo>
                <a:cubicBezTo>
                  <a:pt x="221502" y="101392"/>
                  <a:pt x="217559" y="94683"/>
                  <a:pt x="217559" y="87024"/>
                </a:cubicBezTo>
                <a:cubicBezTo>
                  <a:pt x="217559" y="79364"/>
                  <a:pt x="221502" y="72656"/>
                  <a:pt x="227485" y="68758"/>
                </a:cubicBezTo>
                <a:cubicBezTo>
                  <a:pt x="230069" y="67081"/>
                  <a:pt x="232063" y="64452"/>
                  <a:pt x="232063" y="61370"/>
                </a:cubicBezTo>
                <a:lnTo>
                  <a:pt x="232063" y="58016"/>
                </a:lnTo>
                <a:cubicBezTo>
                  <a:pt x="232063" y="42016"/>
                  <a:pt x="219055" y="29008"/>
                  <a:pt x="203055" y="29008"/>
                </a:cubicBezTo>
                <a:lnTo>
                  <a:pt x="29008" y="29008"/>
                </a:lnTo>
                <a:close/>
                <a:moveTo>
                  <a:pt x="232063" y="188551"/>
                </a:moveTo>
                <a:lnTo>
                  <a:pt x="232063" y="159543"/>
                </a:lnTo>
                <a:lnTo>
                  <a:pt x="0" y="159543"/>
                </a:lnTo>
                <a:lnTo>
                  <a:pt x="0" y="188551"/>
                </a:lnTo>
                <a:cubicBezTo>
                  <a:pt x="0" y="196574"/>
                  <a:pt x="6481" y="203055"/>
                  <a:pt x="14504" y="203055"/>
                </a:cubicBezTo>
                <a:lnTo>
                  <a:pt x="43512" y="203055"/>
                </a:lnTo>
                <a:lnTo>
                  <a:pt x="43512" y="192177"/>
                </a:lnTo>
                <a:cubicBezTo>
                  <a:pt x="43512" y="186149"/>
                  <a:pt x="48362" y="181299"/>
                  <a:pt x="54390" y="181299"/>
                </a:cubicBezTo>
                <a:cubicBezTo>
                  <a:pt x="60418" y="181299"/>
                  <a:pt x="65268" y="186149"/>
                  <a:pt x="65268" y="192177"/>
                </a:cubicBezTo>
                <a:lnTo>
                  <a:pt x="65268" y="203055"/>
                </a:lnTo>
                <a:lnTo>
                  <a:pt x="105153" y="203055"/>
                </a:lnTo>
                <a:lnTo>
                  <a:pt x="105153" y="192177"/>
                </a:lnTo>
                <a:cubicBezTo>
                  <a:pt x="105153" y="186149"/>
                  <a:pt x="110003" y="181299"/>
                  <a:pt x="116031" y="181299"/>
                </a:cubicBezTo>
                <a:cubicBezTo>
                  <a:pt x="122060" y="181299"/>
                  <a:pt x="126909" y="186149"/>
                  <a:pt x="126909" y="192177"/>
                </a:cubicBezTo>
                <a:lnTo>
                  <a:pt x="126909" y="203055"/>
                </a:lnTo>
                <a:lnTo>
                  <a:pt x="166795" y="203055"/>
                </a:lnTo>
                <a:lnTo>
                  <a:pt x="166795" y="192177"/>
                </a:lnTo>
                <a:cubicBezTo>
                  <a:pt x="166795" y="186149"/>
                  <a:pt x="171645" y="181299"/>
                  <a:pt x="177673" y="181299"/>
                </a:cubicBezTo>
                <a:cubicBezTo>
                  <a:pt x="183701" y="181299"/>
                  <a:pt x="188551" y="186149"/>
                  <a:pt x="188551" y="192177"/>
                </a:cubicBezTo>
                <a:lnTo>
                  <a:pt x="188551" y="203055"/>
                </a:lnTo>
                <a:lnTo>
                  <a:pt x="217559" y="203055"/>
                </a:lnTo>
                <a:cubicBezTo>
                  <a:pt x="225581" y="203055"/>
                  <a:pt x="232063" y="196574"/>
                  <a:pt x="232063" y="188551"/>
                </a:cubicBezTo>
                <a:close/>
                <a:moveTo>
                  <a:pt x="72520" y="72520"/>
                </a:moveTo>
                <a:lnTo>
                  <a:pt x="72520" y="101527"/>
                </a:lnTo>
                <a:cubicBezTo>
                  <a:pt x="72520" y="109550"/>
                  <a:pt x="66038" y="116031"/>
                  <a:pt x="58016" y="116031"/>
                </a:cubicBezTo>
                <a:cubicBezTo>
                  <a:pt x="49993" y="116031"/>
                  <a:pt x="43512" y="109550"/>
                  <a:pt x="43512" y="101527"/>
                </a:cubicBezTo>
                <a:lnTo>
                  <a:pt x="43512" y="72520"/>
                </a:lnTo>
                <a:cubicBezTo>
                  <a:pt x="43512" y="64497"/>
                  <a:pt x="49993" y="58016"/>
                  <a:pt x="58016" y="58016"/>
                </a:cubicBezTo>
                <a:cubicBezTo>
                  <a:pt x="66038" y="58016"/>
                  <a:pt x="72520" y="64497"/>
                  <a:pt x="72520" y="72520"/>
                </a:cubicBezTo>
                <a:close/>
                <a:moveTo>
                  <a:pt x="130535" y="72520"/>
                </a:moveTo>
                <a:lnTo>
                  <a:pt x="130535" y="101527"/>
                </a:lnTo>
                <a:cubicBezTo>
                  <a:pt x="130535" y="109550"/>
                  <a:pt x="124054" y="116031"/>
                  <a:pt x="116031" y="116031"/>
                </a:cubicBezTo>
                <a:cubicBezTo>
                  <a:pt x="108009" y="116031"/>
                  <a:pt x="101527" y="109550"/>
                  <a:pt x="101527" y="101527"/>
                </a:cubicBezTo>
                <a:lnTo>
                  <a:pt x="101527" y="72520"/>
                </a:lnTo>
                <a:cubicBezTo>
                  <a:pt x="101527" y="64497"/>
                  <a:pt x="108009" y="58016"/>
                  <a:pt x="116031" y="58016"/>
                </a:cubicBezTo>
                <a:cubicBezTo>
                  <a:pt x="124054" y="58016"/>
                  <a:pt x="130535" y="64497"/>
                  <a:pt x="130535" y="72520"/>
                </a:cubicBezTo>
                <a:close/>
                <a:moveTo>
                  <a:pt x="188551" y="72520"/>
                </a:moveTo>
                <a:lnTo>
                  <a:pt x="188551" y="101527"/>
                </a:lnTo>
                <a:cubicBezTo>
                  <a:pt x="188551" y="109550"/>
                  <a:pt x="182070" y="116031"/>
                  <a:pt x="174047" y="116031"/>
                </a:cubicBezTo>
                <a:cubicBezTo>
                  <a:pt x="166025" y="116031"/>
                  <a:pt x="159543" y="109550"/>
                  <a:pt x="159543" y="101527"/>
                </a:cubicBezTo>
                <a:lnTo>
                  <a:pt x="159543" y="72520"/>
                </a:lnTo>
                <a:cubicBezTo>
                  <a:pt x="159543" y="64497"/>
                  <a:pt x="166025" y="58016"/>
                  <a:pt x="174047" y="58016"/>
                </a:cubicBezTo>
                <a:cubicBezTo>
                  <a:pt x="182070" y="58016"/>
                  <a:pt x="188551" y="64497"/>
                  <a:pt x="188551" y="72520"/>
                </a:cubicBezTo>
                <a:close/>
              </a:path>
            </a:pathLst>
          </a:custGeom>
          <a:solidFill>
            <a:srgbClr val="4C7E9A"/>
          </a:solidFill>
          <a:ln/>
        </p:spPr>
      </p:sp>
      <p:sp>
        <p:nvSpPr>
          <p:cNvPr id="45" name="Text 43"/>
          <p:cNvSpPr/>
          <p:nvPr/>
        </p:nvSpPr>
        <p:spPr>
          <a:xfrm>
            <a:off x="1125505" y="6915472"/>
            <a:ext cx="2378644" cy="324888"/>
          </a:xfrm>
          <a:prstGeom prst="rect">
            <a:avLst/>
          </a:prstGeom>
          <a:noFill/>
          <a:ln/>
        </p:spPr>
        <p:txBody>
          <a:bodyPr wrap="square" lIns="0" tIns="0" rIns="0" bIns="0" rtlCol="0" anchor="ctr"/>
          <a:lstStyle/>
          <a:p>
            <a:pPr>
              <a:lnSpc>
                <a:spcPct val="130000"/>
              </a:lnSpc>
            </a:pPr>
            <a:r>
              <a:rPr lang="en-US" sz="1645" b="1" dirty="0">
                <a:solidFill>
                  <a:srgbClr val="D1D5DB"/>
                </a:solidFill>
                <a:latin typeface="MiSans" pitchFamily="34" charset="0"/>
                <a:ea typeface="MiSans" pitchFamily="34" charset="-122"/>
                <a:cs typeface="MiSans" pitchFamily="34" charset="-120"/>
              </a:rPr>
              <a:t>内存占用高</a:t>
            </a:r>
            <a:endParaRPr lang="en-US" sz="1600" dirty="0"/>
          </a:p>
        </p:txBody>
      </p:sp>
      <p:sp>
        <p:nvSpPr>
          <p:cNvPr id="46" name="Text 44"/>
          <p:cNvSpPr/>
          <p:nvPr/>
        </p:nvSpPr>
        <p:spPr>
          <a:xfrm>
            <a:off x="1125505" y="7240360"/>
            <a:ext cx="2355438" cy="232063"/>
          </a:xfrm>
          <a:prstGeom prst="rect">
            <a:avLst/>
          </a:prstGeom>
          <a:noFill/>
          <a:ln/>
        </p:spPr>
        <p:txBody>
          <a:bodyPr wrap="square" lIns="0" tIns="0" rIns="0" bIns="0" rtlCol="0" anchor="ctr"/>
          <a:lstStyle/>
          <a:p>
            <a:pPr>
              <a:lnSpc>
                <a:spcPct val="120000"/>
              </a:lnSpc>
            </a:pPr>
            <a:r>
              <a:rPr lang="en-US" sz="1279" dirty="0">
                <a:solidFill>
                  <a:srgbClr val="7E9AA8"/>
                </a:solidFill>
                <a:latin typeface="MiSans" pitchFamily="34" charset="0"/>
                <a:ea typeface="MiSans" pitchFamily="34" charset="-122"/>
                <a:cs typeface="MiSans" pitchFamily="34" charset="-120"/>
              </a:rPr>
              <a:t>存储多个模型需要较大内存空间</a:t>
            </a:r>
            <a:endParaRPr lang="en-US" sz="1600" dirty="0"/>
          </a:p>
        </p:txBody>
      </p:sp>
      <p:sp>
        <p:nvSpPr>
          <p:cNvPr id="47" name="Shape 45"/>
          <p:cNvSpPr/>
          <p:nvPr/>
        </p:nvSpPr>
        <p:spPr>
          <a:xfrm>
            <a:off x="739700" y="7611660"/>
            <a:ext cx="203055" cy="232063"/>
          </a:xfrm>
          <a:custGeom>
            <a:avLst/>
            <a:gdLst/>
            <a:ahLst/>
            <a:cxnLst/>
            <a:rect l="l" t="t" r="r" b="b"/>
            <a:pathLst>
              <a:path w="203055" h="232063">
                <a:moveTo>
                  <a:pt x="36260" y="47138"/>
                </a:moveTo>
                <a:cubicBezTo>
                  <a:pt x="42264" y="47138"/>
                  <a:pt x="47138" y="42264"/>
                  <a:pt x="47138" y="36260"/>
                </a:cubicBezTo>
                <a:cubicBezTo>
                  <a:pt x="47138" y="30256"/>
                  <a:pt x="42264" y="25382"/>
                  <a:pt x="36260" y="25382"/>
                </a:cubicBezTo>
                <a:cubicBezTo>
                  <a:pt x="30256" y="25382"/>
                  <a:pt x="25382" y="30256"/>
                  <a:pt x="25382" y="36260"/>
                </a:cubicBezTo>
                <a:cubicBezTo>
                  <a:pt x="25382" y="42264"/>
                  <a:pt x="30256" y="47138"/>
                  <a:pt x="36260" y="47138"/>
                </a:cubicBezTo>
                <a:close/>
                <a:moveTo>
                  <a:pt x="72520" y="36260"/>
                </a:moveTo>
                <a:cubicBezTo>
                  <a:pt x="72520" y="51126"/>
                  <a:pt x="63591" y="63908"/>
                  <a:pt x="50764" y="69483"/>
                </a:cubicBezTo>
                <a:lnTo>
                  <a:pt x="50764" y="101527"/>
                </a:lnTo>
                <a:lnTo>
                  <a:pt x="130535" y="101527"/>
                </a:lnTo>
                <a:cubicBezTo>
                  <a:pt x="142546" y="101527"/>
                  <a:pt x="152291" y="91783"/>
                  <a:pt x="152291" y="79772"/>
                </a:cubicBezTo>
                <a:lnTo>
                  <a:pt x="152291" y="69483"/>
                </a:lnTo>
                <a:cubicBezTo>
                  <a:pt x="139464" y="63908"/>
                  <a:pt x="130535" y="51126"/>
                  <a:pt x="130535" y="36260"/>
                </a:cubicBezTo>
                <a:cubicBezTo>
                  <a:pt x="130535" y="16226"/>
                  <a:pt x="146762" y="0"/>
                  <a:pt x="166795" y="0"/>
                </a:cubicBezTo>
                <a:cubicBezTo>
                  <a:pt x="186829" y="0"/>
                  <a:pt x="203055" y="16226"/>
                  <a:pt x="203055" y="36260"/>
                </a:cubicBezTo>
                <a:cubicBezTo>
                  <a:pt x="203055" y="51126"/>
                  <a:pt x="194126" y="63908"/>
                  <a:pt x="181299" y="69483"/>
                </a:cubicBezTo>
                <a:lnTo>
                  <a:pt x="181299" y="79772"/>
                </a:lnTo>
                <a:cubicBezTo>
                  <a:pt x="181299" y="107828"/>
                  <a:pt x="158591" y="130535"/>
                  <a:pt x="130535" y="130535"/>
                </a:cubicBezTo>
                <a:lnTo>
                  <a:pt x="50764" y="130535"/>
                </a:lnTo>
                <a:lnTo>
                  <a:pt x="50764" y="162580"/>
                </a:lnTo>
                <a:cubicBezTo>
                  <a:pt x="63591" y="168155"/>
                  <a:pt x="72520" y="180936"/>
                  <a:pt x="72520" y="195803"/>
                </a:cubicBezTo>
                <a:cubicBezTo>
                  <a:pt x="72520" y="215837"/>
                  <a:pt x="56293" y="232063"/>
                  <a:pt x="36260" y="232063"/>
                </a:cubicBezTo>
                <a:cubicBezTo>
                  <a:pt x="16226" y="232063"/>
                  <a:pt x="0" y="215837"/>
                  <a:pt x="0" y="195803"/>
                </a:cubicBezTo>
                <a:cubicBezTo>
                  <a:pt x="0" y="180936"/>
                  <a:pt x="8929" y="168155"/>
                  <a:pt x="21756" y="162580"/>
                </a:cubicBezTo>
                <a:lnTo>
                  <a:pt x="21756" y="69528"/>
                </a:lnTo>
                <a:cubicBezTo>
                  <a:pt x="8929" y="63908"/>
                  <a:pt x="0" y="51126"/>
                  <a:pt x="0" y="36260"/>
                </a:cubicBezTo>
                <a:cubicBezTo>
                  <a:pt x="0" y="16226"/>
                  <a:pt x="16226" y="0"/>
                  <a:pt x="36260" y="0"/>
                </a:cubicBezTo>
                <a:cubicBezTo>
                  <a:pt x="56293" y="0"/>
                  <a:pt x="72520" y="16226"/>
                  <a:pt x="72520" y="36260"/>
                </a:cubicBezTo>
                <a:close/>
                <a:moveTo>
                  <a:pt x="177673" y="36260"/>
                </a:moveTo>
                <a:cubicBezTo>
                  <a:pt x="177673" y="30256"/>
                  <a:pt x="172799" y="25382"/>
                  <a:pt x="166795" y="25382"/>
                </a:cubicBezTo>
                <a:cubicBezTo>
                  <a:pt x="160791" y="25382"/>
                  <a:pt x="155917" y="30256"/>
                  <a:pt x="155917" y="36260"/>
                </a:cubicBezTo>
                <a:cubicBezTo>
                  <a:pt x="155917" y="42264"/>
                  <a:pt x="160791" y="47138"/>
                  <a:pt x="166795" y="47138"/>
                </a:cubicBezTo>
                <a:cubicBezTo>
                  <a:pt x="172799" y="47138"/>
                  <a:pt x="177673" y="42264"/>
                  <a:pt x="177673" y="36260"/>
                </a:cubicBezTo>
                <a:close/>
                <a:moveTo>
                  <a:pt x="36260" y="206681"/>
                </a:moveTo>
                <a:cubicBezTo>
                  <a:pt x="42264" y="206681"/>
                  <a:pt x="47138" y="201807"/>
                  <a:pt x="47138" y="195803"/>
                </a:cubicBezTo>
                <a:cubicBezTo>
                  <a:pt x="47138" y="189799"/>
                  <a:pt x="42264" y="184925"/>
                  <a:pt x="36260" y="184925"/>
                </a:cubicBezTo>
                <a:cubicBezTo>
                  <a:pt x="30256" y="184925"/>
                  <a:pt x="25382" y="189799"/>
                  <a:pt x="25382" y="195803"/>
                </a:cubicBezTo>
                <a:cubicBezTo>
                  <a:pt x="25382" y="201807"/>
                  <a:pt x="30256" y="206681"/>
                  <a:pt x="36260" y="206681"/>
                </a:cubicBezTo>
                <a:close/>
              </a:path>
            </a:pathLst>
          </a:custGeom>
          <a:solidFill>
            <a:srgbClr val="4C7E9A"/>
          </a:solidFill>
          <a:ln/>
        </p:spPr>
      </p:sp>
      <p:sp>
        <p:nvSpPr>
          <p:cNvPr id="48" name="Text 46"/>
          <p:cNvSpPr/>
          <p:nvPr/>
        </p:nvSpPr>
        <p:spPr>
          <a:xfrm>
            <a:off x="1125505" y="7565248"/>
            <a:ext cx="2053756" cy="324888"/>
          </a:xfrm>
          <a:prstGeom prst="rect">
            <a:avLst/>
          </a:prstGeom>
          <a:noFill/>
          <a:ln/>
        </p:spPr>
        <p:txBody>
          <a:bodyPr wrap="square" lIns="0" tIns="0" rIns="0" bIns="0" rtlCol="0" anchor="ctr"/>
          <a:lstStyle/>
          <a:p>
            <a:pPr>
              <a:lnSpc>
                <a:spcPct val="130000"/>
              </a:lnSpc>
            </a:pPr>
            <a:r>
              <a:rPr lang="en-US" sz="1645" b="1" dirty="0">
                <a:solidFill>
                  <a:srgbClr val="D1D5DB"/>
                </a:solidFill>
                <a:latin typeface="MiSans" pitchFamily="34" charset="0"/>
                <a:ea typeface="MiSans" pitchFamily="34" charset="-122"/>
                <a:cs typeface="MiSans" pitchFamily="34" charset="-120"/>
              </a:rPr>
              <a:t>部署复杂度高</a:t>
            </a:r>
            <a:endParaRPr lang="en-US" sz="1600" dirty="0"/>
          </a:p>
        </p:txBody>
      </p:sp>
      <p:sp>
        <p:nvSpPr>
          <p:cNvPr id="49" name="Text 47"/>
          <p:cNvSpPr/>
          <p:nvPr/>
        </p:nvSpPr>
        <p:spPr>
          <a:xfrm>
            <a:off x="1125505" y="7890136"/>
            <a:ext cx="2030550" cy="232063"/>
          </a:xfrm>
          <a:prstGeom prst="rect">
            <a:avLst/>
          </a:prstGeom>
          <a:noFill/>
          <a:ln/>
        </p:spPr>
        <p:txBody>
          <a:bodyPr wrap="square" lIns="0" tIns="0" rIns="0" bIns="0" rtlCol="0" anchor="ctr"/>
          <a:lstStyle/>
          <a:p>
            <a:pPr>
              <a:lnSpc>
                <a:spcPct val="120000"/>
              </a:lnSpc>
            </a:pPr>
            <a:r>
              <a:rPr lang="en-US" sz="1279" dirty="0">
                <a:solidFill>
                  <a:srgbClr val="7E9AA8"/>
                </a:solidFill>
                <a:latin typeface="MiSans" pitchFamily="34" charset="0"/>
                <a:ea typeface="MiSans" pitchFamily="34" charset="-122"/>
                <a:cs typeface="MiSans" pitchFamily="34" charset="-120"/>
              </a:rPr>
              <a:t>线上系统需要维护多个模型</a:t>
            </a:r>
            <a:endParaRPr lang="en-US" sz="1600" dirty="0"/>
          </a:p>
        </p:txBody>
      </p:sp>
      <p:sp>
        <p:nvSpPr>
          <p:cNvPr id="50" name="Shape 48"/>
          <p:cNvSpPr/>
          <p:nvPr/>
        </p:nvSpPr>
        <p:spPr>
          <a:xfrm>
            <a:off x="8243306" y="5569507"/>
            <a:ext cx="7542041" cy="3109642"/>
          </a:xfrm>
          <a:custGeom>
            <a:avLst/>
            <a:gdLst/>
            <a:ahLst/>
            <a:cxnLst/>
            <a:rect l="l" t="t" r="r" b="b"/>
            <a:pathLst>
              <a:path w="7542041" h="3109642">
                <a:moveTo>
                  <a:pt x="46413" y="0"/>
                </a:moveTo>
                <a:lnTo>
                  <a:pt x="7449219" y="0"/>
                </a:lnTo>
                <a:cubicBezTo>
                  <a:pt x="7500483" y="0"/>
                  <a:pt x="7542041" y="41558"/>
                  <a:pt x="7542041" y="92823"/>
                </a:cubicBezTo>
                <a:lnTo>
                  <a:pt x="7542041" y="3016819"/>
                </a:lnTo>
                <a:cubicBezTo>
                  <a:pt x="7542041" y="3068083"/>
                  <a:pt x="7500483" y="3109642"/>
                  <a:pt x="7449219" y="3109642"/>
                </a:cubicBezTo>
                <a:lnTo>
                  <a:pt x="46413" y="3109642"/>
                </a:lnTo>
                <a:cubicBezTo>
                  <a:pt x="20780" y="3109642"/>
                  <a:pt x="0" y="3088862"/>
                  <a:pt x="0" y="3063229"/>
                </a:cubicBezTo>
                <a:lnTo>
                  <a:pt x="0" y="46413"/>
                </a:lnTo>
                <a:cubicBezTo>
                  <a:pt x="0" y="20797"/>
                  <a:pt x="20797" y="0"/>
                  <a:pt x="46413" y="0"/>
                </a:cubicBezTo>
                <a:close/>
              </a:path>
            </a:pathLst>
          </a:custGeom>
          <a:solidFill>
            <a:srgbClr val="3A5E78">
              <a:alpha val="20000"/>
            </a:srgbClr>
          </a:solidFill>
          <a:ln/>
        </p:spPr>
      </p:sp>
      <p:sp>
        <p:nvSpPr>
          <p:cNvPr id="51" name="Shape 49"/>
          <p:cNvSpPr/>
          <p:nvPr/>
        </p:nvSpPr>
        <p:spPr>
          <a:xfrm>
            <a:off x="8243306" y="5569507"/>
            <a:ext cx="46413" cy="3109642"/>
          </a:xfrm>
          <a:custGeom>
            <a:avLst/>
            <a:gdLst/>
            <a:ahLst/>
            <a:cxnLst/>
            <a:rect l="l" t="t" r="r" b="b"/>
            <a:pathLst>
              <a:path w="46413" h="3109642">
                <a:moveTo>
                  <a:pt x="46413" y="0"/>
                </a:moveTo>
                <a:lnTo>
                  <a:pt x="46413" y="0"/>
                </a:lnTo>
                <a:lnTo>
                  <a:pt x="46413" y="3109642"/>
                </a:lnTo>
                <a:lnTo>
                  <a:pt x="46413" y="3109642"/>
                </a:lnTo>
                <a:cubicBezTo>
                  <a:pt x="20780" y="3109642"/>
                  <a:pt x="0" y="3088862"/>
                  <a:pt x="0" y="3063229"/>
                </a:cubicBezTo>
                <a:lnTo>
                  <a:pt x="0" y="46413"/>
                </a:lnTo>
                <a:cubicBezTo>
                  <a:pt x="0" y="20797"/>
                  <a:pt x="20797" y="0"/>
                  <a:pt x="46413" y="0"/>
                </a:cubicBezTo>
                <a:close/>
              </a:path>
            </a:pathLst>
          </a:custGeom>
          <a:solidFill>
            <a:srgbClr val="7E9AA8"/>
          </a:solidFill>
          <a:ln/>
        </p:spPr>
      </p:sp>
      <p:sp>
        <p:nvSpPr>
          <p:cNvPr id="52" name="Text 50"/>
          <p:cNvSpPr/>
          <p:nvPr/>
        </p:nvSpPr>
        <p:spPr>
          <a:xfrm>
            <a:off x="8452163" y="5755158"/>
            <a:ext cx="7286772" cy="371300"/>
          </a:xfrm>
          <a:prstGeom prst="rect">
            <a:avLst/>
          </a:prstGeom>
          <a:noFill/>
          <a:ln/>
        </p:spPr>
        <p:txBody>
          <a:bodyPr wrap="square" lIns="0" tIns="0" rIns="0" bIns="0" rtlCol="0" anchor="ctr"/>
          <a:lstStyle/>
          <a:p>
            <a:pPr>
              <a:lnSpc>
                <a:spcPct val="110000"/>
              </a:lnSpc>
            </a:pPr>
            <a:r>
              <a:rPr lang="en-US" sz="2193" b="1" dirty="0">
                <a:solidFill>
                  <a:srgbClr val="7E9AA8"/>
                </a:solidFill>
                <a:latin typeface="MiSans" pitchFamily="34" charset="0"/>
                <a:ea typeface="MiSans" pitchFamily="34" charset="-122"/>
                <a:cs typeface="MiSans" pitchFamily="34" charset="-120"/>
              </a:rPr>
              <a:t>权衡之道</a:t>
            </a:r>
            <a:endParaRPr lang="en-US" sz="1600" dirty="0"/>
          </a:p>
        </p:txBody>
      </p:sp>
      <p:sp>
        <p:nvSpPr>
          <p:cNvPr id="53" name="Text 51"/>
          <p:cNvSpPr/>
          <p:nvPr/>
        </p:nvSpPr>
        <p:spPr>
          <a:xfrm>
            <a:off x="8452163" y="6265696"/>
            <a:ext cx="7240360" cy="603363"/>
          </a:xfrm>
          <a:prstGeom prst="rect">
            <a:avLst/>
          </a:prstGeom>
          <a:noFill/>
          <a:ln/>
        </p:spPr>
        <p:txBody>
          <a:bodyPr wrap="square" lIns="0" tIns="0" rIns="0" bIns="0" rtlCol="0" anchor="ctr"/>
          <a:lstStyle/>
          <a:p>
            <a:pPr>
              <a:lnSpc>
                <a:spcPct val="140000"/>
              </a:lnSpc>
            </a:pPr>
            <a:r>
              <a:rPr lang="en-US" sz="1462" dirty="0">
                <a:solidFill>
                  <a:srgbClr val="D1D5DB"/>
                </a:solidFill>
                <a:latin typeface="MiSans" pitchFamily="34" charset="0"/>
                <a:ea typeface="MiSans" pitchFamily="34" charset="-122"/>
                <a:cs typeface="MiSans" pitchFamily="34" charset="-120"/>
              </a:rPr>
              <a:t>尽管存在这些局限性，集成学习仍然是提升模型性能的强大工具。关键在于理解这些挑战，并在实际应用中进行合理的权衡：</a:t>
            </a:r>
            <a:endParaRPr lang="en-US" sz="1600" dirty="0"/>
          </a:p>
        </p:txBody>
      </p:sp>
      <p:sp>
        <p:nvSpPr>
          <p:cNvPr id="54" name="Shape 52"/>
          <p:cNvSpPr/>
          <p:nvPr/>
        </p:nvSpPr>
        <p:spPr>
          <a:xfrm>
            <a:off x="8452163" y="7008297"/>
            <a:ext cx="7147535" cy="696188"/>
          </a:xfrm>
          <a:custGeom>
            <a:avLst/>
            <a:gdLst/>
            <a:ahLst/>
            <a:cxnLst/>
            <a:rect l="l" t="t" r="r" b="b"/>
            <a:pathLst>
              <a:path w="7147535" h="696188">
                <a:moveTo>
                  <a:pt x="46415" y="0"/>
                </a:moveTo>
                <a:lnTo>
                  <a:pt x="7101120" y="0"/>
                </a:lnTo>
                <a:cubicBezTo>
                  <a:pt x="7126754" y="0"/>
                  <a:pt x="7147535" y="20781"/>
                  <a:pt x="7147535" y="46415"/>
                </a:cubicBezTo>
                <a:lnTo>
                  <a:pt x="7147535" y="649774"/>
                </a:lnTo>
                <a:cubicBezTo>
                  <a:pt x="7147535" y="675408"/>
                  <a:pt x="7126754" y="696188"/>
                  <a:pt x="7101120" y="696188"/>
                </a:cubicBezTo>
                <a:lnTo>
                  <a:pt x="46415" y="696188"/>
                </a:lnTo>
                <a:cubicBezTo>
                  <a:pt x="20781" y="696188"/>
                  <a:pt x="0" y="675408"/>
                  <a:pt x="0" y="649774"/>
                </a:cubicBezTo>
                <a:lnTo>
                  <a:pt x="0" y="46415"/>
                </a:lnTo>
                <a:cubicBezTo>
                  <a:pt x="0" y="20781"/>
                  <a:pt x="20781" y="0"/>
                  <a:pt x="46415" y="0"/>
                </a:cubicBezTo>
                <a:close/>
              </a:path>
            </a:pathLst>
          </a:custGeom>
          <a:solidFill>
            <a:srgbClr val="181A1F">
              <a:alpha val="50196"/>
            </a:srgbClr>
          </a:solidFill>
          <a:ln/>
        </p:spPr>
      </p:sp>
      <p:sp>
        <p:nvSpPr>
          <p:cNvPr id="55" name="Text 53"/>
          <p:cNvSpPr/>
          <p:nvPr/>
        </p:nvSpPr>
        <p:spPr>
          <a:xfrm>
            <a:off x="8544988" y="7101122"/>
            <a:ext cx="7054709" cy="278475"/>
          </a:xfrm>
          <a:prstGeom prst="rect">
            <a:avLst/>
          </a:prstGeom>
          <a:noFill/>
          <a:ln/>
        </p:spPr>
        <p:txBody>
          <a:bodyPr wrap="square" lIns="0" tIns="0" rIns="0" bIns="0" rtlCol="0" anchor="ctr"/>
          <a:lstStyle/>
          <a:p>
            <a:pPr>
              <a:lnSpc>
                <a:spcPct val="120000"/>
              </a:lnSpc>
            </a:pPr>
            <a:r>
              <a:rPr lang="en-US" sz="1462" b="1" dirty="0">
                <a:solidFill>
                  <a:srgbClr val="D1D5DB"/>
                </a:solidFill>
                <a:latin typeface="MiSans" pitchFamily="34" charset="0"/>
                <a:ea typeface="MiSans" pitchFamily="34" charset="-122"/>
                <a:cs typeface="MiSans" pitchFamily="34" charset="-120"/>
              </a:rPr>
              <a:t>性能 vs 效率</a:t>
            </a:r>
            <a:endParaRPr lang="en-US" sz="1600" dirty="0"/>
          </a:p>
        </p:txBody>
      </p:sp>
      <p:sp>
        <p:nvSpPr>
          <p:cNvPr id="56" name="Text 54"/>
          <p:cNvSpPr/>
          <p:nvPr/>
        </p:nvSpPr>
        <p:spPr>
          <a:xfrm>
            <a:off x="8544988" y="7379597"/>
            <a:ext cx="7043106" cy="232063"/>
          </a:xfrm>
          <a:prstGeom prst="rect">
            <a:avLst/>
          </a:prstGeom>
          <a:noFill/>
          <a:ln/>
        </p:spPr>
        <p:txBody>
          <a:bodyPr wrap="square" lIns="0" tIns="0" rIns="0" bIns="0" rtlCol="0" anchor="ctr"/>
          <a:lstStyle/>
          <a:p>
            <a:pPr>
              <a:lnSpc>
                <a:spcPct val="120000"/>
              </a:lnSpc>
            </a:pPr>
            <a:r>
              <a:rPr lang="en-US" sz="1279" dirty="0">
                <a:solidFill>
                  <a:srgbClr val="7E9AA8"/>
                </a:solidFill>
                <a:latin typeface="MiSans" pitchFamily="34" charset="0"/>
                <a:ea typeface="MiSans" pitchFamily="34" charset="-122"/>
                <a:cs typeface="MiSans" pitchFamily="34" charset="-120"/>
              </a:rPr>
              <a:t>根据业务需求选择合适的平衡点</a:t>
            </a:r>
            <a:endParaRPr lang="en-US" sz="1600" dirty="0"/>
          </a:p>
        </p:txBody>
      </p:sp>
      <p:sp>
        <p:nvSpPr>
          <p:cNvPr id="57" name="Shape 55"/>
          <p:cNvSpPr/>
          <p:nvPr/>
        </p:nvSpPr>
        <p:spPr>
          <a:xfrm>
            <a:off x="8452163" y="7797310"/>
            <a:ext cx="7147535" cy="696188"/>
          </a:xfrm>
          <a:custGeom>
            <a:avLst/>
            <a:gdLst/>
            <a:ahLst/>
            <a:cxnLst/>
            <a:rect l="l" t="t" r="r" b="b"/>
            <a:pathLst>
              <a:path w="7147535" h="696188">
                <a:moveTo>
                  <a:pt x="46415" y="0"/>
                </a:moveTo>
                <a:lnTo>
                  <a:pt x="7101120" y="0"/>
                </a:lnTo>
                <a:cubicBezTo>
                  <a:pt x="7126754" y="0"/>
                  <a:pt x="7147535" y="20781"/>
                  <a:pt x="7147535" y="46415"/>
                </a:cubicBezTo>
                <a:lnTo>
                  <a:pt x="7147535" y="649774"/>
                </a:lnTo>
                <a:cubicBezTo>
                  <a:pt x="7147535" y="675408"/>
                  <a:pt x="7126754" y="696188"/>
                  <a:pt x="7101120" y="696188"/>
                </a:cubicBezTo>
                <a:lnTo>
                  <a:pt x="46415" y="696188"/>
                </a:lnTo>
                <a:cubicBezTo>
                  <a:pt x="20781" y="696188"/>
                  <a:pt x="0" y="675408"/>
                  <a:pt x="0" y="649774"/>
                </a:cubicBezTo>
                <a:lnTo>
                  <a:pt x="0" y="46415"/>
                </a:lnTo>
                <a:cubicBezTo>
                  <a:pt x="0" y="20781"/>
                  <a:pt x="20781" y="0"/>
                  <a:pt x="46415" y="0"/>
                </a:cubicBezTo>
                <a:close/>
              </a:path>
            </a:pathLst>
          </a:custGeom>
          <a:solidFill>
            <a:srgbClr val="181A1F">
              <a:alpha val="50196"/>
            </a:srgbClr>
          </a:solidFill>
          <a:ln/>
        </p:spPr>
      </p:sp>
      <p:sp>
        <p:nvSpPr>
          <p:cNvPr id="58" name="Text 56"/>
          <p:cNvSpPr/>
          <p:nvPr/>
        </p:nvSpPr>
        <p:spPr>
          <a:xfrm>
            <a:off x="8544988" y="7890136"/>
            <a:ext cx="7054709" cy="278475"/>
          </a:xfrm>
          <a:prstGeom prst="rect">
            <a:avLst/>
          </a:prstGeom>
          <a:noFill/>
          <a:ln/>
        </p:spPr>
        <p:txBody>
          <a:bodyPr wrap="square" lIns="0" tIns="0" rIns="0" bIns="0" rtlCol="0" anchor="ctr"/>
          <a:lstStyle/>
          <a:p>
            <a:pPr>
              <a:lnSpc>
                <a:spcPct val="120000"/>
              </a:lnSpc>
            </a:pPr>
            <a:r>
              <a:rPr lang="en-US" sz="1462" b="1" dirty="0">
                <a:solidFill>
                  <a:srgbClr val="D1D5DB"/>
                </a:solidFill>
                <a:latin typeface="MiSans" pitchFamily="34" charset="0"/>
                <a:ea typeface="MiSans" pitchFamily="34" charset="-122"/>
                <a:cs typeface="MiSans" pitchFamily="34" charset="-120"/>
              </a:rPr>
              <a:t>精度 vs 可解释性</a:t>
            </a:r>
            <a:endParaRPr lang="en-US" sz="1600" dirty="0"/>
          </a:p>
        </p:txBody>
      </p:sp>
      <p:sp>
        <p:nvSpPr>
          <p:cNvPr id="59" name="Text 57"/>
          <p:cNvSpPr/>
          <p:nvPr/>
        </p:nvSpPr>
        <p:spPr>
          <a:xfrm>
            <a:off x="8544988" y="8168611"/>
            <a:ext cx="7043106" cy="232063"/>
          </a:xfrm>
          <a:prstGeom prst="rect">
            <a:avLst/>
          </a:prstGeom>
          <a:noFill/>
          <a:ln/>
        </p:spPr>
        <p:txBody>
          <a:bodyPr wrap="square" lIns="0" tIns="0" rIns="0" bIns="0" rtlCol="0" anchor="ctr"/>
          <a:lstStyle/>
          <a:p>
            <a:pPr>
              <a:lnSpc>
                <a:spcPct val="120000"/>
              </a:lnSpc>
            </a:pPr>
            <a:r>
              <a:rPr lang="en-US" sz="1279" dirty="0">
                <a:solidFill>
                  <a:srgbClr val="7E9AA8"/>
                </a:solidFill>
                <a:latin typeface="MiSans" pitchFamily="34" charset="0"/>
                <a:ea typeface="MiSans" pitchFamily="34" charset="-122"/>
                <a:cs typeface="MiSans" pitchFamily="34" charset="-120"/>
              </a:rPr>
              <a:t>在关键决策场景中优先考虑可解释性</a:t>
            </a:r>
            <a:endParaRPr lang="en-US" sz="1600" dirty="0"/>
          </a:p>
        </p:txBody>
      </p:sp>
    </p:spTree>
  </p:cSld>
  <p:clrMapOvr>
    <a:masterClrMapping/>
  </p:clrMapOvr>
  <p:transition>
    <p:fade/>
    <p:spd val="med"/>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508000" y="508000"/>
            <a:ext cx="15341600" cy="304800"/>
          </a:xfrm>
          <a:prstGeom prst="rect">
            <a:avLst/>
          </a:prstGeom>
          <a:noFill/>
          <a:ln/>
        </p:spPr>
        <p:txBody>
          <a:bodyPr wrap="square" lIns="0" tIns="0" rIns="0" bIns="0" rtlCol="0" anchor="ctr"/>
          <a:lstStyle/>
          <a:p>
            <a:pPr>
              <a:lnSpc>
                <a:spcPct val="130000"/>
              </a:lnSpc>
            </a:pPr>
            <a:r>
              <a:rPr lang="en-US" sz="1600" b="1" spc="80" kern="0" dirty="0">
                <a:solidFill>
                  <a:srgbClr val="7E9AA8"/>
                </a:solidFill>
                <a:latin typeface="MiSans" pitchFamily="34" charset="0"/>
                <a:ea typeface="MiSans" pitchFamily="34" charset="-122"/>
                <a:cs typeface="MiSans" pitchFamily="34" charset="-120"/>
              </a:rPr>
              <a:t>LIMITATIONS &amp; SOLUTIONS</a:t>
            </a:r>
            <a:endParaRPr lang="en-US" sz="1600" dirty="0"/>
          </a:p>
        </p:txBody>
      </p:sp>
      <p:sp>
        <p:nvSpPr>
          <p:cNvPr id="3" name="Text 1"/>
          <p:cNvSpPr/>
          <p:nvPr/>
        </p:nvSpPr>
        <p:spPr>
          <a:xfrm>
            <a:off x="508000" y="914400"/>
            <a:ext cx="15468600" cy="508000"/>
          </a:xfrm>
          <a:prstGeom prst="rect">
            <a:avLst/>
          </a:prstGeom>
          <a:noFill/>
          <a:ln/>
        </p:spPr>
        <p:txBody>
          <a:bodyPr wrap="square" lIns="0" tIns="0" rIns="0" bIns="0" rtlCol="0" anchor="ctr"/>
          <a:lstStyle/>
          <a:p>
            <a:pPr>
              <a:lnSpc>
                <a:spcPct val="90000"/>
              </a:lnSpc>
            </a:pPr>
            <a:r>
              <a:rPr lang="en-US" sz="3600" b="1" dirty="0">
                <a:solidFill>
                  <a:srgbClr val="D1D5DB"/>
                </a:solidFill>
                <a:latin typeface="阿里妈妈数黑体" pitchFamily="34" charset="0"/>
                <a:ea typeface="阿里妈妈数黑体" pitchFamily="34" charset="-122"/>
                <a:cs typeface="阿里妈妈数黑体" pitchFamily="34" charset="-120"/>
              </a:rPr>
              <a:t>应对策略</a:t>
            </a:r>
            <a:endParaRPr lang="en-US" sz="1600" dirty="0"/>
          </a:p>
        </p:txBody>
      </p:sp>
      <p:sp>
        <p:nvSpPr>
          <p:cNvPr id="4" name="Shape 2"/>
          <p:cNvSpPr/>
          <p:nvPr/>
        </p:nvSpPr>
        <p:spPr>
          <a:xfrm>
            <a:off x="508000" y="1574800"/>
            <a:ext cx="1219200" cy="50800"/>
          </a:xfrm>
          <a:custGeom>
            <a:avLst/>
            <a:gdLst/>
            <a:ahLst/>
            <a:cxnLst/>
            <a:rect l="l" t="t" r="r" b="b"/>
            <a:pathLst>
              <a:path w="1219200" h="50800">
                <a:moveTo>
                  <a:pt x="0" y="0"/>
                </a:moveTo>
                <a:lnTo>
                  <a:pt x="1219200" y="0"/>
                </a:lnTo>
                <a:lnTo>
                  <a:pt x="1219200" y="50800"/>
                </a:lnTo>
                <a:lnTo>
                  <a:pt x="0" y="50800"/>
                </a:lnTo>
                <a:lnTo>
                  <a:pt x="0" y="0"/>
                </a:lnTo>
                <a:close/>
              </a:path>
            </a:pathLst>
          </a:custGeom>
          <a:solidFill>
            <a:srgbClr val="4C7E9A"/>
          </a:solidFill>
          <a:ln/>
        </p:spPr>
      </p:sp>
      <p:sp>
        <p:nvSpPr>
          <p:cNvPr id="5" name="Shape 3"/>
          <p:cNvSpPr/>
          <p:nvPr/>
        </p:nvSpPr>
        <p:spPr>
          <a:xfrm>
            <a:off x="533400" y="1828800"/>
            <a:ext cx="4914900" cy="4165600"/>
          </a:xfrm>
          <a:custGeom>
            <a:avLst/>
            <a:gdLst/>
            <a:ahLst/>
            <a:cxnLst/>
            <a:rect l="l" t="t" r="r" b="b"/>
            <a:pathLst>
              <a:path w="4914900" h="4165600">
                <a:moveTo>
                  <a:pt x="50800" y="0"/>
                </a:moveTo>
                <a:lnTo>
                  <a:pt x="4813301" y="0"/>
                </a:lnTo>
                <a:cubicBezTo>
                  <a:pt x="4869413" y="0"/>
                  <a:pt x="4914900" y="45487"/>
                  <a:pt x="4914900" y="101599"/>
                </a:cubicBezTo>
                <a:lnTo>
                  <a:pt x="4914900" y="4064001"/>
                </a:lnTo>
                <a:cubicBezTo>
                  <a:pt x="4914900" y="4120113"/>
                  <a:pt x="4869413" y="4165600"/>
                  <a:pt x="4813301" y="4165600"/>
                </a:cubicBezTo>
                <a:lnTo>
                  <a:pt x="50800" y="4165600"/>
                </a:lnTo>
                <a:cubicBezTo>
                  <a:pt x="22763" y="4165600"/>
                  <a:pt x="0" y="4142837"/>
                  <a:pt x="0" y="4114800"/>
                </a:cubicBezTo>
                <a:lnTo>
                  <a:pt x="0" y="50800"/>
                </a:lnTo>
                <a:cubicBezTo>
                  <a:pt x="0" y="22763"/>
                  <a:pt x="22763" y="0"/>
                  <a:pt x="50800" y="0"/>
                </a:cubicBezTo>
                <a:close/>
              </a:path>
            </a:pathLst>
          </a:custGeom>
          <a:solidFill>
            <a:srgbClr val="3A5E78">
              <a:alpha val="20000"/>
            </a:srgbClr>
          </a:solidFill>
          <a:ln/>
        </p:spPr>
      </p:sp>
      <p:sp>
        <p:nvSpPr>
          <p:cNvPr id="6" name="Shape 4"/>
          <p:cNvSpPr/>
          <p:nvPr/>
        </p:nvSpPr>
        <p:spPr>
          <a:xfrm>
            <a:off x="533400" y="1828800"/>
            <a:ext cx="50800" cy="4165600"/>
          </a:xfrm>
          <a:custGeom>
            <a:avLst/>
            <a:gdLst/>
            <a:ahLst/>
            <a:cxnLst/>
            <a:rect l="l" t="t" r="r" b="b"/>
            <a:pathLst>
              <a:path w="50800" h="4165600">
                <a:moveTo>
                  <a:pt x="50800" y="0"/>
                </a:moveTo>
                <a:lnTo>
                  <a:pt x="50800" y="0"/>
                </a:lnTo>
                <a:lnTo>
                  <a:pt x="50800" y="4165600"/>
                </a:lnTo>
                <a:lnTo>
                  <a:pt x="50800" y="4165600"/>
                </a:lnTo>
                <a:cubicBezTo>
                  <a:pt x="22763" y="4165600"/>
                  <a:pt x="0" y="4142837"/>
                  <a:pt x="0" y="4114800"/>
                </a:cubicBezTo>
                <a:lnTo>
                  <a:pt x="0" y="50800"/>
                </a:lnTo>
                <a:cubicBezTo>
                  <a:pt x="0" y="22763"/>
                  <a:pt x="22763" y="0"/>
                  <a:pt x="50800" y="0"/>
                </a:cubicBezTo>
                <a:close/>
              </a:path>
            </a:pathLst>
          </a:custGeom>
          <a:solidFill>
            <a:srgbClr val="4C7E9A"/>
          </a:solidFill>
          <a:ln/>
        </p:spPr>
      </p:sp>
      <p:sp>
        <p:nvSpPr>
          <p:cNvPr id="7" name="Shape 5"/>
          <p:cNvSpPr/>
          <p:nvPr/>
        </p:nvSpPr>
        <p:spPr>
          <a:xfrm>
            <a:off x="812800" y="2032000"/>
            <a:ext cx="381000" cy="381000"/>
          </a:xfrm>
          <a:custGeom>
            <a:avLst/>
            <a:gdLst/>
            <a:ahLst/>
            <a:cxnLst/>
            <a:rect l="l" t="t" r="r" b="b"/>
            <a:pathLst>
              <a:path w="381000" h="381000">
                <a:moveTo>
                  <a:pt x="130969" y="17859"/>
                </a:moveTo>
                <a:cubicBezTo>
                  <a:pt x="130969" y="7962"/>
                  <a:pt x="123006" y="0"/>
                  <a:pt x="113109" y="0"/>
                </a:cubicBezTo>
                <a:cubicBezTo>
                  <a:pt x="103212" y="0"/>
                  <a:pt x="95250" y="7962"/>
                  <a:pt x="95250" y="17859"/>
                </a:cubicBezTo>
                <a:lnTo>
                  <a:pt x="95250" y="47625"/>
                </a:lnTo>
                <a:cubicBezTo>
                  <a:pt x="68982" y="47625"/>
                  <a:pt x="47625" y="68982"/>
                  <a:pt x="47625" y="95250"/>
                </a:cubicBezTo>
                <a:lnTo>
                  <a:pt x="17859" y="95250"/>
                </a:lnTo>
                <a:cubicBezTo>
                  <a:pt x="7962" y="95250"/>
                  <a:pt x="0" y="103212"/>
                  <a:pt x="0" y="113109"/>
                </a:cubicBezTo>
                <a:cubicBezTo>
                  <a:pt x="0" y="123006"/>
                  <a:pt x="7962" y="130969"/>
                  <a:pt x="17859" y="130969"/>
                </a:cubicBezTo>
                <a:lnTo>
                  <a:pt x="47625" y="130969"/>
                </a:lnTo>
                <a:lnTo>
                  <a:pt x="47625" y="172641"/>
                </a:lnTo>
                <a:lnTo>
                  <a:pt x="17859" y="172641"/>
                </a:lnTo>
                <a:cubicBezTo>
                  <a:pt x="7962" y="172641"/>
                  <a:pt x="0" y="180603"/>
                  <a:pt x="0" y="190500"/>
                </a:cubicBezTo>
                <a:cubicBezTo>
                  <a:pt x="0" y="200397"/>
                  <a:pt x="7962" y="208359"/>
                  <a:pt x="17859" y="208359"/>
                </a:cubicBezTo>
                <a:lnTo>
                  <a:pt x="47625" y="208359"/>
                </a:lnTo>
                <a:lnTo>
                  <a:pt x="47625" y="250031"/>
                </a:lnTo>
                <a:lnTo>
                  <a:pt x="17859" y="250031"/>
                </a:lnTo>
                <a:cubicBezTo>
                  <a:pt x="7962" y="250031"/>
                  <a:pt x="0" y="257994"/>
                  <a:pt x="0" y="267891"/>
                </a:cubicBezTo>
                <a:cubicBezTo>
                  <a:pt x="0" y="277788"/>
                  <a:pt x="7962" y="285750"/>
                  <a:pt x="17859" y="285750"/>
                </a:cubicBezTo>
                <a:lnTo>
                  <a:pt x="47625" y="285750"/>
                </a:lnTo>
                <a:cubicBezTo>
                  <a:pt x="47625" y="312018"/>
                  <a:pt x="68982" y="333375"/>
                  <a:pt x="95250" y="333375"/>
                </a:cubicBezTo>
                <a:lnTo>
                  <a:pt x="95250" y="363141"/>
                </a:lnTo>
                <a:cubicBezTo>
                  <a:pt x="95250" y="373038"/>
                  <a:pt x="103212" y="381000"/>
                  <a:pt x="113109" y="381000"/>
                </a:cubicBezTo>
                <a:cubicBezTo>
                  <a:pt x="123006" y="381000"/>
                  <a:pt x="130969" y="373038"/>
                  <a:pt x="130969" y="363141"/>
                </a:cubicBezTo>
                <a:lnTo>
                  <a:pt x="130969" y="333375"/>
                </a:lnTo>
                <a:lnTo>
                  <a:pt x="172641" y="333375"/>
                </a:lnTo>
                <a:lnTo>
                  <a:pt x="172641" y="363141"/>
                </a:lnTo>
                <a:cubicBezTo>
                  <a:pt x="172641" y="373038"/>
                  <a:pt x="180603" y="381000"/>
                  <a:pt x="190500" y="381000"/>
                </a:cubicBezTo>
                <a:cubicBezTo>
                  <a:pt x="200397" y="381000"/>
                  <a:pt x="208359" y="373038"/>
                  <a:pt x="208359" y="363141"/>
                </a:cubicBezTo>
                <a:lnTo>
                  <a:pt x="208359" y="333375"/>
                </a:lnTo>
                <a:lnTo>
                  <a:pt x="250031" y="333375"/>
                </a:lnTo>
                <a:lnTo>
                  <a:pt x="250031" y="363141"/>
                </a:lnTo>
                <a:cubicBezTo>
                  <a:pt x="250031" y="373038"/>
                  <a:pt x="257994" y="381000"/>
                  <a:pt x="267891" y="381000"/>
                </a:cubicBezTo>
                <a:cubicBezTo>
                  <a:pt x="277788" y="381000"/>
                  <a:pt x="285750" y="373038"/>
                  <a:pt x="285750" y="363141"/>
                </a:cubicBezTo>
                <a:lnTo>
                  <a:pt x="285750" y="333375"/>
                </a:lnTo>
                <a:cubicBezTo>
                  <a:pt x="312018" y="333375"/>
                  <a:pt x="333375" y="312018"/>
                  <a:pt x="333375" y="285750"/>
                </a:cubicBezTo>
                <a:lnTo>
                  <a:pt x="363141" y="285750"/>
                </a:lnTo>
                <a:cubicBezTo>
                  <a:pt x="373038" y="285750"/>
                  <a:pt x="381000" y="277788"/>
                  <a:pt x="381000" y="267891"/>
                </a:cubicBezTo>
                <a:cubicBezTo>
                  <a:pt x="381000" y="257994"/>
                  <a:pt x="373038" y="250031"/>
                  <a:pt x="363141" y="250031"/>
                </a:cubicBezTo>
                <a:lnTo>
                  <a:pt x="333375" y="250031"/>
                </a:lnTo>
                <a:lnTo>
                  <a:pt x="333375" y="208359"/>
                </a:lnTo>
                <a:lnTo>
                  <a:pt x="363141" y="208359"/>
                </a:lnTo>
                <a:cubicBezTo>
                  <a:pt x="373038" y="208359"/>
                  <a:pt x="381000" y="200397"/>
                  <a:pt x="381000" y="190500"/>
                </a:cubicBezTo>
                <a:cubicBezTo>
                  <a:pt x="381000" y="180603"/>
                  <a:pt x="373038" y="172641"/>
                  <a:pt x="363141" y="172641"/>
                </a:cubicBezTo>
                <a:lnTo>
                  <a:pt x="333375" y="172641"/>
                </a:lnTo>
                <a:lnTo>
                  <a:pt x="333375" y="130969"/>
                </a:lnTo>
                <a:lnTo>
                  <a:pt x="363141" y="130969"/>
                </a:lnTo>
                <a:cubicBezTo>
                  <a:pt x="373038" y="130969"/>
                  <a:pt x="381000" y="123006"/>
                  <a:pt x="381000" y="113109"/>
                </a:cubicBezTo>
                <a:cubicBezTo>
                  <a:pt x="381000" y="103212"/>
                  <a:pt x="373038" y="95250"/>
                  <a:pt x="363141" y="95250"/>
                </a:cubicBezTo>
                <a:lnTo>
                  <a:pt x="333375" y="95250"/>
                </a:lnTo>
                <a:cubicBezTo>
                  <a:pt x="333375" y="68982"/>
                  <a:pt x="312018" y="47625"/>
                  <a:pt x="285750" y="47625"/>
                </a:cubicBezTo>
                <a:lnTo>
                  <a:pt x="285750" y="17859"/>
                </a:lnTo>
                <a:cubicBezTo>
                  <a:pt x="285750" y="7962"/>
                  <a:pt x="277788" y="0"/>
                  <a:pt x="267891" y="0"/>
                </a:cubicBezTo>
                <a:cubicBezTo>
                  <a:pt x="257994" y="0"/>
                  <a:pt x="250031" y="7962"/>
                  <a:pt x="250031" y="17859"/>
                </a:cubicBezTo>
                <a:lnTo>
                  <a:pt x="250031" y="47625"/>
                </a:lnTo>
                <a:lnTo>
                  <a:pt x="208359" y="47625"/>
                </a:lnTo>
                <a:lnTo>
                  <a:pt x="208359" y="17859"/>
                </a:lnTo>
                <a:cubicBezTo>
                  <a:pt x="208359" y="7962"/>
                  <a:pt x="200397" y="0"/>
                  <a:pt x="190500" y="0"/>
                </a:cubicBezTo>
                <a:cubicBezTo>
                  <a:pt x="180603" y="0"/>
                  <a:pt x="172641" y="7962"/>
                  <a:pt x="172641" y="17859"/>
                </a:cubicBezTo>
                <a:lnTo>
                  <a:pt x="172641" y="47625"/>
                </a:lnTo>
                <a:lnTo>
                  <a:pt x="130969" y="47625"/>
                </a:lnTo>
                <a:lnTo>
                  <a:pt x="130969" y="17859"/>
                </a:lnTo>
                <a:close/>
                <a:moveTo>
                  <a:pt x="119063" y="95250"/>
                </a:moveTo>
                <a:lnTo>
                  <a:pt x="261938" y="95250"/>
                </a:lnTo>
                <a:cubicBezTo>
                  <a:pt x="275109" y="95250"/>
                  <a:pt x="285750" y="105891"/>
                  <a:pt x="285750" y="119063"/>
                </a:cubicBezTo>
                <a:lnTo>
                  <a:pt x="285750" y="261938"/>
                </a:lnTo>
                <a:cubicBezTo>
                  <a:pt x="285750" y="275109"/>
                  <a:pt x="275109" y="285750"/>
                  <a:pt x="261938" y="285750"/>
                </a:cubicBezTo>
                <a:lnTo>
                  <a:pt x="119063" y="285750"/>
                </a:lnTo>
                <a:cubicBezTo>
                  <a:pt x="105891" y="285750"/>
                  <a:pt x="95250" y="275109"/>
                  <a:pt x="95250" y="261938"/>
                </a:cubicBezTo>
                <a:lnTo>
                  <a:pt x="95250" y="119063"/>
                </a:lnTo>
                <a:cubicBezTo>
                  <a:pt x="95250" y="105891"/>
                  <a:pt x="105891" y="95250"/>
                  <a:pt x="119063" y="95250"/>
                </a:cubicBezTo>
                <a:close/>
                <a:moveTo>
                  <a:pt x="130969" y="130969"/>
                </a:moveTo>
                <a:lnTo>
                  <a:pt x="130969" y="250031"/>
                </a:lnTo>
                <a:lnTo>
                  <a:pt x="250031" y="250031"/>
                </a:lnTo>
                <a:lnTo>
                  <a:pt x="250031" y="130969"/>
                </a:lnTo>
                <a:lnTo>
                  <a:pt x="130969" y="130969"/>
                </a:lnTo>
                <a:close/>
              </a:path>
            </a:pathLst>
          </a:custGeom>
          <a:solidFill>
            <a:srgbClr val="4C7E9A"/>
          </a:solidFill>
          <a:ln/>
        </p:spPr>
      </p:sp>
      <p:sp>
        <p:nvSpPr>
          <p:cNvPr id="8" name="Text 6"/>
          <p:cNvSpPr/>
          <p:nvPr/>
        </p:nvSpPr>
        <p:spPr>
          <a:xfrm>
            <a:off x="1390650" y="2044700"/>
            <a:ext cx="11430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资源优化</a:t>
            </a:r>
            <a:endParaRPr lang="en-US" sz="1600" dirty="0"/>
          </a:p>
        </p:txBody>
      </p:sp>
      <p:sp>
        <p:nvSpPr>
          <p:cNvPr id="9" name="Text 7"/>
          <p:cNvSpPr/>
          <p:nvPr/>
        </p:nvSpPr>
        <p:spPr>
          <a:xfrm>
            <a:off x="762000" y="2565400"/>
            <a:ext cx="4597400" cy="355600"/>
          </a:xfrm>
          <a:prstGeom prst="rect">
            <a:avLst/>
          </a:prstGeom>
          <a:noFill/>
          <a:ln/>
        </p:spPr>
        <p:txBody>
          <a:bodyPr wrap="square" lIns="0" tIns="0" rIns="0" bIns="0" rtlCol="0" anchor="ctr"/>
          <a:lstStyle/>
          <a:p>
            <a:pPr>
              <a:lnSpc>
                <a:spcPct val="130000"/>
              </a:lnSpc>
            </a:pPr>
            <a:r>
              <a:rPr lang="en-US" sz="1800" b="1" dirty="0">
                <a:solidFill>
                  <a:srgbClr val="4C7E9A"/>
                </a:solidFill>
                <a:latin typeface="MiSans" pitchFamily="34" charset="0"/>
                <a:ea typeface="MiSans" pitchFamily="34" charset="-122"/>
                <a:cs typeface="MiSans" pitchFamily="34" charset="-120"/>
              </a:rPr>
              <a:t>并行计算框架</a:t>
            </a:r>
            <a:endParaRPr lang="en-US" sz="1600" dirty="0"/>
          </a:p>
        </p:txBody>
      </p:sp>
      <p:sp>
        <p:nvSpPr>
          <p:cNvPr id="10" name="Text 8"/>
          <p:cNvSpPr/>
          <p:nvPr/>
        </p:nvSpPr>
        <p:spPr>
          <a:xfrm>
            <a:off x="762000" y="2971800"/>
            <a:ext cx="4584700" cy="990600"/>
          </a:xfrm>
          <a:prstGeom prst="rect">
            <a:avLst/>
          </a:prstGeom>
          <a:noFill/>
          <a:ln/>
        </p:spPr>
        <p:txBody>
          <a:bodyPr wrap="square" lIns="0" tIns="0" rIns="0" bIns="0" rtlCol="0" anchor="ctr"/>
          <a:lstStyle/>
          <a:p>
            <a:pPr>
              <a:lnSpc>
                <a:spcPct val="140000"/>
              </a:lnSpc>
            </a:pPr>
            <a:r>
              <a:rPr lang="en-US" sz="1600" dirty="0">
                <a:solidFill>
                  <a:srgbClr val="7E9AA8"/>
                </a:solidFill>
                <a:latin typeface="MiSans" pitchFamily="34" charset="0"/>
                <a:ea typeface="MiSans" pitchFamily="34" charset="-122"/>
                <a:cs typeface="MiSans" pitchFamily="34" charset="-120"/>
              </a:rPr>
              <a:t>采用现代并行计算框架如Spark MLlib或Dask来加速训练过程。这些框架能够充分利用多核处理器和分布式计算资源，显著减少集成学习的训练时间。</a:t>
            </a:r>
            <a:endParaRPr lang="en-US" sz="1600" dirty="0"/>
          </a:p>
        </p:txBody>
      </p:sp>
      <p:sp>
        <p:nvSpPr>
          <p:cNvPr id="11" name="Text 9"/>
          <p:cNvSpPr/>
          <p:nvPr/>
        </p:nvSpPr>
        <p:spPr>
          <a:xfrm>
            <a:off x="762000" y="4114800"/>
            <a:ext cx="4597400" cy="355600"/>
          </a:xfrm>
          <a:prstGeom prst="rect">
            <a:avLst/>
          </a:prstGeom>
          <a:noFill/>
          <a:ln/>
        </p:spPr>
        <p:txBody>
          <a:bodyPr wrap="square" lIns="0" tIns="0" rIns="0" bIns="0" rtlCol="0" anchor="ctr"/>
          <a:lstStyle/>
          <a:p>
            <a:pPr>
              <a:lnSpc>
                <a:spcPct val="130000"/>
              </a:lnSpc>
            </a:pPr>
            <a:r>
              <a:rPr lang="en-US" sz="1800" b="1" dirty="0">
                <a:solidFill>
                  <a:srgbClr val="4C7E9A"/>
                </a:solidFill>
                <a:latin typeface="MiSans" pitchFamily="34" charset="0"/>
                <a:ea typeface="MiSans" pitchFamily="34" charset="-122"/>
                <a:cs typeface="MiSans" pitchFamily="34" charset="-120"/>
              </a:rPr>
              <a:t>轻量级基学习器</a:t>
            </a:r>
            <a:endParaRPr lang="en-US" sz="1600" dirty="0"/>
          </a:p>
        </p:txBody>
      </p:sp>
      <p:sp>
        <p:nvSpPr>
          <p:cNvPr id="12" name="Text 10"/>
          <p:cNvSpPr/>
          <p:nvPr/>
        </p:nvSpPr>
        <p:spPr>
          <a:xfrm>
            <a:off x="762000" y="4521200"/>
            <a:ext cx="4584700" cy="660400"/>
          </a:xfrm>
          <a:prstGeom prst="rect">
            <a:avLst/>
          </a:prstGeom>
          <a:noFill/>
          <a:ln/>
        </p:spPr>
        <p:txBody>
          <a:bodyPr wrap="square" lIns="0" tIns="0" rIns="0" bIns="0" rtlCol="0" anchor="ctr"/>
          <a:lstStyle/>
          <a:p>
            <a:pPr>
              <a:lnSpc>
                <a:spcPct val="140000"/>
              </a:lnSpc>
            </a:pPr>
            <a:r>
              <a:rPr lang="en-US" sz="1600" dirty="0">
                <a:solidFill>
                  <a:srgbClr val="7E9AA8"/>
                </a:solidFill>
                <a:latin typeface="MiSans" pitchFamily="34" charset="0"/>
                <a:ea typeface="MiSans" pitchFamily="34" charset="-122"/>
                <a:cs typeface="MiSans" pitchFamily="34" charset="-120"/>
              </a:rPr>
              <a:t>选择轻量级基学习器如浅层决策树或逻辑回归模型，可以在保持集成效果的同时降低计算成本。</a:t>
            </a:r>
            <a:endParaRPr lang="en-US" sz="1600" dirty="0"/>
          </a:p>
        </p:txBody>
      </p:sp>
      <p:sp>
        <p:nvSpPr>
          <p:cNvPr id="13" name="Shape 11"/>
          <p:cNvSpPr/>
          <p:nvPr/>
        </p:nvSpPr>
        <p:spPr>
          <a:xfrm>
            <a:off x="762000" y="5334000"/>
            <a:ext cx="4483100" cy="457200"/>
          </a:xfrm>
          <a:custGeom>
            <a:avLst/>
            <a:gdLst/>
            <a:ahLst/>
            <a:cxnLst/>
            <a:rect l="l" t="t" r="r" b="b"/>
            <a:pathLst>
              <a:path w="4483100" h="457200">
                <a:moveTo>
                  <a:pt x="50799" y="0"/>
                </a:moveTo>
                <a:lnTo>
                  <a:pt x="4432301" y="0"/>
                </a:lnTo>
                <a:cubicBezTo>
                  <a:pt x="4460356" y="0"/>
                  <a:pt x="4483100" y="22744"/>
                  <a:pt x="4483100" y="50799"/>
                </a:cubicBezTo>
                <a:lnTo>
                  <a:pt x="4483100" y="406401"/>
                </a:lnTo>
                <a:cubicBezTo>
                  <a:pt x="4483100" y="434456"/>
                  <a:pt x="4460356" y="457200"/>
                  <a:pt x="4432301" y="457200"/>
                </a:cubicBezTo>
                <a:lnTo>
                  <a:pt x="50799" y="457200"/>
                </a:lnTo>
                <a:cubicBezTo>
                  <a:pt x="22744" y="457200"/>
                  <a:pt x="0" y="434456"/>
                  <a:pt x="0" y="406401"/>
                </a:cubicBezTo>
                <a:lnTo>
                  <a:pt x="0" y="50799"/>
                </a:lnTo>
                <a:cubicBezTo>
                  <a:pt x="0" y="22762"/>
                  <a:pt x="22762" y="0"/>
                  <a:pt x="50799" y="0"/>
                </a:cubicBezTo>
                <a:close/>
              </a:path>
            </a:pathLst>
          </a:custGeom>
          <a:solidFill>
            <a:srgbClr val="181A1F">
              <a:alpha val="50196"/>
            </a:srgbClr>
          </a:solidFill>
          <a:ln/>
        </p:spPr>
      </p:sp>
      <p:sp>
        <p:nvSpPr>
          <p:cNvPr id="14" name="Shape 12"/>
          <p:cNvSpPr/>
          <p:nvPr/>
        </p:nvSpPr>
        <p:spPr>
          <a:xfrm>
            <a:off x="911225" y="5473700"/>
            <a:ext cx="133350" cy="177800"/>
          </a:xfrm>
          <a:custGeom>
            <a:avLst/>
            <a:gdLst/>
            <a:ahLst/>
            <a:cxnLst/>
            <a:rect l="l" t="t" r="r" b="b"/>
            <a:pathLst>
              <a:path w="133350" h="177800">
                <a:moveTo>
                  <a:pt x="101714" y="133350"/>
                </a:moveTo>
                <a:cubicBezTo>
                  <a:pt x="104249" y="125606"/>
                  <a:pt x="109319" y="118591"/>
                  <a:pt x="115049" y="112549"/>
                </a:cubicBezTo>
                <a:cubicBezTo>
                  <a:pt x="126405" y="100603"/>
                  <a:pt x="133350" y="84455"/>
                  <a:pt x="133350" y="66675"/>
                </a:cubicBezTo>
                <a:cubicBezTo>
                  <a:pt x="133350" y="29865"/>
                  <a:pt x="103485" y="0"/>
                  <a:pt x="66675" y="0"/>
                </a:cubicBezTo>
                <a:cubicBezTo>
                  <a:pt x="29865" y="0"/>
                  <a:pt x="0" y="29865"/>
                  <a:pt x="0" y="66675"/>
                </a:cubicBezTo>
                <a:cubicBezTo>
                  <a:pt x="0" y="84455"/>
                  <a:pt x="6945" y="100603"/>
                  <a:pt x="18301" y="112549"/>
                </a:cubicBezTo>
                <a:cubicBezTo>
                  <a:pt x="24031" y="118591"/>
                  <a:pt x="29136" y="125606"/>
                  <a:pt x="31636" y="133350"/>
                </a:cubicBezTo>
                <a:lnTo>
                  <a:pt x="101679" y="133350"/>
                </a:lnTo>
                <a:close/>
                <a:moveTo>
                  <a:pt x="100013" y="150019"/>
                </a:moveTo>
                <a:lnTo>
                  <a:pt x="33337" y="150019"/>
                </a:lnTo>
                <a:lnTo>
                  <a:pt x="33337" y="155575"/>
                </a:lnTo>
                <a:cubicBezTo>
                  <a:pt x="33337" y="170924"/>
                  <a:pt x="45770" y="183356"/>
                  <a:pt x="61119" y="183356"/>
                </a:cubicBezTo>
                <a:lnTo>
                  <a:pt x="72231" y="183356"/>
                </a:lnTo>
                <a:cubicBezTo>
                  <a:pt x="87580" y="183356"/>
                  <a:pt x="100013" y="170924"/>
                  <a:pt x="100013" y="155575"/>
                </a:cubicBezTo>
                <a:lnTo>
                  <a:pt x="100013" y="150019"/>
                </a:lnTo>
                <a:close/>
                <a:moveTo>
                  <a:pt x="63897" y="38894"/>
                </a:moveTo>
                <a:cubicBezTo>
                  <a:pt x="50076" y="38894"/>
                  <a:pt x="38894" y="50076"/>
                  <a:pt x="38894" y="63897"/>
                </a:cubicBezTo>
                <a:cubicBezTo>
                  <a:pt x="38894" y="68516"/>
                  <a:pt x="35178" y="72231"/>
                  <a:pt x="30559" y="72231"/>
                </a:cubicBezTo>
                <a:cubicBezTo>
                  <a:pt x="25941" y="72231"/>
                  <a:pt x="22225" y="68516"/>
                  <a:pt x="22225" y="63897"/>
                </a:cubicBezTo>
                <a:cubicBezTo>
                  <a:pt x="22225" y="40873"/>
                  <a:pt x="40873" y="22225"/>
                  <a:pt x="63897" y="22225"/>
                </a:cubicBezTo>
                <a:cubicBezTo>
                  <a:pt x="68516" y="22225"/>
                  <a:pt x="72231" y="25941"/>
                  <a:pt x="72231" y="30559"/>
                </a:cubicBezTo>
                <a:cubicBezTo>
                  <a:pt x="72231" y="35178"/>
                  <a:pt x="68516" y="38894"/>
                  <a:pt x="63897" y="38894"/>
                </a:cubicBezTo>
                <a:close/>
              </a:path>
            </a:pathLst>
          </a:custGeom>
          <a:solidFill>
            <a:srgbClr val="4C7E9A"/>
          </a:solidFill>
          <a:ln/>
        </p:spPr>
      </p:sp>
      <p:sp>
        <p:nvSpPr>
          <p:cNvPr id="15" name="Text 13"/>
          <p:cNvSpPr/>
          <p:nvPr/>
        </p:nvSpPr>
        <p:spPr>
          <a:xfrm>
            <a:off x="1143000" y="5435600"/>
            <a:ext cx="4089400" cy="254000"/>
          </a:xfrm>
          <a:prstGeom prst="rect">
            <a:avLst/>
          </a:prstGeom>
          <a:noFill/>
          <a:ln/>
        </p:spPr>
        <p:txBody>
          <a:bodyPr wrap="square" lIns="0" tIns="0" rIns="0" bIns="0" rtlCol="0" anchor="ctr"/>
          <a:lstStyle/>
          <a:p>
            <a:pPr>
              <a:lnSpc>
                <a:spcPct val="120000"/>
              </a:lnSpc>
            </a:pPr>
            <a:r>
              <a:rPr lang="en-US" sz="1400" b="1" dirty="0">
                <a:solidFill>
                  <a:srgbClr val="D1D5DB"/>
                </a:solidFill>
                <a:latin typeface="MiSans" pitchFamily="34" charset="0"/>
                <a:ea typeface="MiSans" pitchFamily="34" charset="-122"/>
                <a:cs typeface="MiSans" pitchFamily="34" charset="-120"/>
              </a:rPr>
              <a:t>效果：</a:t>
            </a:r>
            <a:pPr>
              <a:lnSpc>
                <a:spcPct val="120000"/>
              </a:lnSpc>
            </a:pPr>
            <a:r>
              <a:rPr lang="en-US" sz="1400" dirty="0">
                <a:solidFill>
                  <a:srgbClr val="7E9AA8"/>
                </a:solidFill>
                <a:latin typeface="MiSans" pitchFamily="34" charset="0"/>
                <a:ea typeface="MiSans" pitchFamily="34" charset="-122"/>
                <a:cs typeface="MiSans" pitchFamily="34" charset="-120"/>
              </a:rPr>
              <a:t>训练时间减少50-80%</a:t>
            </a:r>
            <a:endParaRPr lang="en-US" sz="1600" dirty="0"/>
          </a:p>
        </p:txBody>
      </p:sp>
      <p:sp>
        <p:nvSpPr>
          <p:cNvPr id="16" name="Shape 14"/>
          <p:cNvSpPr/>
          <p:nvPr/>
        </p:nvSpPr>
        <p:spPr>
          <a:xfrm>
            <a:off x="5681067" y="1828800"/>
            <a:ext cx="4914900" cy="4165600"/>
          </a:xfrm>
          <a:custGeom>
            <a:avLst/>
            <a:gdLst/>
            <a:ahLst/>
            <a:cxnLst/>
            <a:rect l="l" t="t" r="r" b="b"/>
            <a:pathLst>
              <a:path w="4914900" h="4165600">
                <a:moveTo>
                  <a:pt x="50800" y="0"/>
                </a:moveTo>
                <a:lnTo>
                  <a:pt x="4813301" y="0"/>
                </a:lnTo>
                <a:cubicBezTo>
                  <a:pt x="4869413" y="0"/>
                  <a:pt x="4914900" y="45487"/>
                  <a:pt x="4914900" y="101599"/>
                </a:cubicBezTo>
                <a:lnTo>
                  <a:pt x="4914900" y="4064001"/>
                </a:lnTo>
                <a:cubicBezTo>
                  <a:pt x="4914900" y="4120113"/>
                  <a:pt x="4869413" y="4165600"/>
                  <a:pt x="4813301" y="4165600"/>
                </a:cubicBezTo>
                <a:lnTo>
                  <a:pt x="50800" y="4165600"/>
                </a:lnTo>
                <a:cubicBezTo>
                  <a:pt x="22763" y="4165600"/>
                  <a:pt x="0" y="4142837"/>
                  <a:pt x="0" y="4114800"/>
                </a:cubicBezTo>
                <a:lnTo>
                  <a:pt x="0" y="50800"/>
                </a:lnTo>
                <a:cubicBezTo>
                  <a:pt x="0" y="22763"/>
                  <a:pt x="22763" y="0"/>
                  <a:pt x="50800" y="0"/>
                </a:cubicBezTo>
                <a:close/>
              </a:path>
            </a:pathLst>
          </a:custGeom>
          <a:solidFill>
            <a:srgbClr val="3A5E78">
              <a:alpha val="20000"/>
            </a:srgbClr>
          </a:solidFill>
          <a:ln/>
        </p:spPr>
      </p:sp>
      <p:sp>
        <p:nvSpPr>
          <p:cNvPr id="17" name="Shape 15"/>
          <p:cNvSpPr/>
          <p:nvPr/>
        </p:nvSpPr>
        <p:spPr>
          <a:xfrm>
            <a:off x="5681067" y="1828800"/>
            <a:ext cx="50800" cy="4165600"/>
          </a:xfrm>
          <a:custGeom>
            <a:avLst/>
            <a:gdLst/>
            <a:ahLst/>
            <a:cxnLst/>
            <a:rect l="l" t="t" r="r" b="b"/>
            <a:pathLst>
              <a:path w="50800" h="4165600">
                <a:moveTo>
                  <a:pt x="50800" y="0"/>
                </a:moveTo>
                <a:lnTo>
                  <a:pt x="50800" y="0"/>
                </a:lnTo>
                <a:lnTo>
                  <a:pt x="50800" y="4165600"/>
                </a:lnTo>
                <a:lnTo>
                  <a:pt x="50800" y="4165600"/>
                </a:lnTo>
                <a:cubicBezTo>
                  <a:pt x="22763" y="4165600"/>
                  <a:pt x="0" y="4142837"/>
                  <a:pt x="0" y="4114800"/>
                </a:cubicBezTo>
                <a:lnTo>
                  <a:pt x="0" y="50800"/>
                </a:lnTo>
                <a:cubicBezTo>
                  <a:pt x="0" y="22763"/>
                  <a:pt x="22763" y="0"/>
                  <a:pt x="50800" y="0"/>
                </a:cubicBezTo>
                <a:close/>
              </a:path>
            </a:pathLst>
          </a:custGeom>
          <a:solidFill>
            <a:srgbClr val="7E9AA8"/>
          </a:solidFill>
          <a:ln/>
        </p:spPr>
      </p:sp>
      <p:sp>
        <p:nvSpPr>
          <p:cNvPr id="18" name="Shape 16"/>
          <p:cNvSpPr/>
          <p:nvPr/>
        </p:nvSpPr>
        <p:spPr>
          <a:xfrm>
            <a:off x="5960467" y="2032000"/>
            <a:ext cx="381000" cy="381000"/>
          </a:xfrm>
          <a:custGeom>
            <a:avLst/>
            <a:gdLst/>
            <a:ahLst/>
            <a:cxnLst/>
            <a:rect l="l" t="t" r="r" b="b"/>
            <a:pathLst>
              <a:path w="381000" h="381000">
                <a:moveTo>
                  <a:pt x="339328" y="166688"/>
                </a:moveTo>
                <a:lnTo>
                  <a:pt x="232172" y="166688"/>
                </a:lnTo>
                <a:cubicBezTo>
                  <a:pt x="222275" y="166688"/>
                  <a:pt x="214313" y="158725"/>
                  <a:pt x="214313" y="148828"/>
                </a:cubicBezTo>
                <a:lnTo>
                  <a:pt x="214313" y="41672"/>
                </a:lnTo>
                <a:cubicBezTo>
                  <a:pt x="214313" y="34454"/>
                  <a:pt x="218629" y="27905"/>
                  <a:pt x="225326" y="25152"/>
                </a:cubicBezTo>
                <a:cubicBezTo>
                  <a:pt x="232023" y="22399"/>
                  <a:pt x="239688" y="23961"/>
                  <a:pt x="244822" y="29021"/>
                </a:cubicBezTo>
                <a:lnTo>
                  <a:pt x="274588" y="58787"/>
                </a:lnTo>
                <a:lnTo>
                  <a:pt x="329208" y="4167"/>
                </a:lnTo>
                <a:cubicBezTo>
                  <a:pt x="331887" y="1488"/>
                  <a:pt x="335533" y="0"/>
                  <a:pt x="339328" y="0"/>
                </a:cubicBezTo>
                <a:cubicBezTo>
                  <a:pt x="343123" y="0"/>
                  <a:pt x="346770" y="1488"/>
                  <a:pt x="349523" y="4242"/>
                </a:cubicBezTo>
                <a:lnTo>
                  <a:pt x="376833" y="31552"/>
                </a:lnTo>
                <a:cubicBezTo>
                  <a:pt x="379512" y="34230"/>
                  <a:pt x="381000" y="37877"/>
                  <a:pt x="381000" y="41672"/>
                </a:cubicBezTo>
                <a:cubicBezTo>
                  <a:pt x="381000" y="45467"/>
                  <a:pt x="379512" y="49113"/>
                  <a:pt x="376758" y="51867"/>
                </a:cubicBezTo>
                <a:lnTo>
                  <a:pt x="322213" y="106412"/>
                </a:lnTo>
                <a:lnTo>
                  <a:pt x="351979" y="136178"/>
                </a:lnTo>
                <a:cubicBezTo>
                  <a:pt x="357113" y="141312"/>
                  <a:pt x="358601" y="148977"/>
                  <a:pt x="355848" y="155674"/>
                </a:cubicBezTo>
                <a:cubicBezTo>
                  <a:pt x="353095" y="162371"/>
                  <a:pt x="346546" y="166688"/>
                  <a:pt x="339328" y="166688"/>
                </a:cubicBezTo>
                <a:close/>
                <a:moveTo>
                  <a:pt x="339328" y="214313"/>
                </a:moveTo>
                <a:cubicBezTo>
                  <a:pt x="346546" y="214313"/>
                  <a:pt x="353095" y="218629"/>
                  <a:pt x="355848" y="225326"/>
                </a:cubicBezTo>
                <a:cubicBezTo>
                  <a:pt x="358601" y="232023"/>
                  <a:pt x="357113" y="239688"/>
                  <a:pt x="351979" y="244822"/>
                </a:cubicBezTo>
                <a:lnTo>
                  <a:pt x="322213" y="274588"/>
                </a:lnTo>
                <a:lnTo>
                  <a:pt x="376833" y="329208"/>
                </a:lnTo>
                <a:cubicBezTo>
                  <a:pt x="379512" y="331887"/>
                  <a:pt x="381074" y="335533"/>
                  <a:pt x="381074" y="339403"/>
                </a:cubicBezTo>
                <a:cubicBezTo>
                  <a:pt x="381074" y="343272"/>
                  <a:pt x="379586" y="346844"/>
                  <a:pt x="376833" y="349597"/>
                </a:cubicBezTo>
                <a:lnTo>
                  <a:pt x="349523" y="376907"/>
                </a:lnTo>
                <a:cubicBezTo>
                  <a:pt x="346770" y="379512"/>
                  <a:pt x="343123" y="381000"/>
                  <a:pt x="339328" y="381000"/>
                </a:cubicBezTo>
                <a:cubicBezTo>
                  <a:pt x="335533" y="381000"/>
                  <a:pt x="331887" y="379512"/>
                  <a:pt x="329133" y="376758"/>
                </a:cubicBezTo>
                <a:lnTo>
                  <a:pt x="274588" y="322213"/>
                </a:lnTo>
                <a:lnTo>
                  <a:pt x="244822" y="351979"/>
                </a:lnTo>
                <a:cubicBezTo>
                  <a:pt x="239688" y="357113"/>
                  <a:pt x="232023" y="358601"/>
                  <a:pt x="225326" y="355848"/>
                </a:cubicBezTo>
                <a:cubicBezTo>
                  <a:pt x="218629" y="353095"/>
                  <a:pt x="214313" y="346546"/>
                  <a:pt x="214313" y="339328"/>
                </a:cubicBezTo>
                <a:lnTo>
                  <a:pt x="214313" y="232172"/>
                </a:lnTo>
                <a:cubicBezTo>
                  <a:pt x="214313" y="222275"/>
                  <a:pt x="222275" y="214313"/>
                  <a:pt x="232172" y="214313"/>
                </a:cubicBezTo>
                <a:lnTo>
                  <a:pt x="339328" y="214313"/>
                </a:lnTo>
                <a:close/>
                <a:moveTo>
                  <a:pt x="148828" y="214313"/>
                </a:moveTo>
                <a:cubicBezTo>
                  <a:pt x="158725" y="214313"/>
                  <a:pt x="166688" y="222275"/>
                  <a:pt x="166688" y="232172"/>
                </a:cubicBezTo>
                <a:lnTo>
                  <a:pt x="166688" y="339328"/>
                </a:lnTo>
                <a:cubicBezTo>
                  <a:pt x="166688" y="346546"/>
                  <a:pt x="162371" y="353095"/>
                  <a:pt x="155674" y="355848"/>
                </a:cubicBezTo>
                <a:cubicBezTo>
                  <a:pt x="148977" y="358601"/>
                  <a:pt x="141312" y="357113"/>
                  <a:pt x="136178" y="351979"/>
                </a:cubicBezTo>
                <a:lnTo>
                  <a:pt x="106412" y="322213"/>
                </a:lnTo>
                <a:lnTo>
                  <a:pt x="51792" y="376833"/>
                </a:lnTo>
                <a:cubicBezTo>
                  <a:pt x="49113" y="379512"/>
                  <a:pt x="45467" y="381000"/>
                  <a:pt x="41672" y="381000"/>
                </a:cubicBezTo>
                <a:cubicBezTo>
                  <a:pt x="37877" y="381000"/>
                  <a:pt x="34230" y="379512"/>
                  <a:pt x="31477" y="376758"/>
                </a:cubicBezTo>
                <a:lnTo>
                  <a:pt x="4242" y="349523"/>
                </a:lnTo>
                <a:cubicBezTo>
                  <a:pt x="1488" y="346770"/>
                  <a:pt x="0" y="343123"/>
                  <a:pt x="0" y="339328"/>
                </a:cubicBezTo>
                <a:cubicBezTo>
                  <a:pt x="0" y="335533"/>
                  <a:pt x="1488" y="331887"/>
                  <a:pt x="4242" y="329133"/>
                </a:cubicBezTo>
                <a:lnTo>
                  <a:pt x="58787" y="274588"/>
                </a:lnTo>
                <a:lnTo>
                  <a:pt x="29021" y="244822"/>
                </a:lnTo>
                <a:cubicBezTo>
                  <a:pt x="23887" y="239688"/>
                  <a:pt x="22399" y="232023"/>
                  <a:pt x="25152" y="225326"/>
                </a:cubicBezTo>
                <a:cubicBezTo>
                  <a:pt x="27905" y="218629"/>
                  <a:pt x="34454" y="214313"/>
                  <a:pt x="41672" y="214313"/>
                </a:cubicBezTo>
                <a:lnTo>
                  <a:pt x="148828" y="214313"/>
                </a:lnTo>
                <a:close/>
                <a:moveTo>
                  <a:pt x="41672" y="166688"/>
                </a:moveTo>
                <a:cubicBezTo>
                  <a:pt x="34454" y="166688"/>
                  <a:pt x="27905" y="162371"/>
                  <a:pt x="25152" y="155674"/>
                </a:cubicBezTo>
                <a:cubicBezTo>
                  <a:pt x="22399" y="148977"/>
                  <a:pt x="23961" y="141312"/>
                  <a:pt x="29021" y="136178"/>
                </a:cubicBezTo>
                <a:lnTo>
                  <a:pt x="58787" y="106412"/>
                </a:lnTo>
                <a:lnTo>
                  <a:pt x="4242" y="51867"/>
                </a:lnTo>
                <a:cubicBezTo>
                  <a:pt x="1488" y="49113"/>
                  <a:pt x="0" y="45467"/>
                  <a:pt x="0" y="41672"/>
                </a:cubicBezTo>
                <a:cubicBezTo>
                  <a:pt x="0" y="37877"/>
                  <a:pt x="1488" y="34230"/>
                  <a:pt x="4242" y="31477"/>
                </a:cubicBezTo>
                <a:lnTo>
                  <a:pt x="31477" y="4242"/>
                </a:lnTo>
                <a:cubicBezTo>
                  <a:pt x="34230" y="1488"/>
                  <a:pt x="37877" y="0"/>
                  <a:pt x="41672" y="0"/>
                </a:cubicBezTo>
                <a:cubicBezTo>
                  <a:pt x="45467" y="0"/>
                  <a:pt x="49113" y="1488"/>
                  <a:pt x="51867" y="4242"/>
                </a:cubicBezTo>
                <a:lnTo>
                  <a:pt x="106412" y="58787"/>
                </a:lnTo>
                <a:lnTo>
                  <a:pt x="136178" y="29021"/>
                </a:lnTo>
                <a:cubicBezTo>
                  <a:pt x="141312" y="23887"/>
                  <a:pt x="148977" y="22399"/>
                  <a:pt x="155674" y="25152"/>
                </a:cubicBezTo>
                <a:cubicBezTo>
                  <a:pt x="162371" y="27905"/>
                  <a:pt x="166688" y="34454"/>
                  <a:pt x="166688" y="41672"/>
                </a:cubicBezTo>
                <a:lnTo>
                  <a:pt x="166688" y="148828"/>
                </a:lnTo>
                <a:cubicBezTo>
                  <a:pt x="166688" y="158725"/>
                  <a:pt x="158725" y="166688"/>
                  <a:pt x="148828" y="166688"/>
                </a:cubicBezTo>
                <a:lnTo>
                  <a:pt x="41672" y="166688"/>
                </a:lnTo>
                <a:close/>
              </a:path>
            </a:pathLst>
          </a:custGeom>
          <a:solidFill>
            <a:srgbClr val="7E9AA8"/>
          </a:solidFill>
          <a:ln/>
        </p:spPr>
      </p:sp>
      <p:sp>
        <p:nvSpPr>
          <p:cNvPr id="19" name="Text 17"/>
          <p:cNvSpPr/>
          <p:nvPr/>
        </p:nvSpPr>
        <p:spPr>
          <a:xfrm>
            <a:off x="6538317" y="2044700"/>
            <a:ext cx="11430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模型简化</a:t>
            </a:r>
            <a:endParaRPr lang="en-US" sz="1600" dirty="0"/>
          </a:p>
        </p:txBody>
      </p:sp>
      <p:sp>
        <p:nvSpPr>
          <p:cNvPr id="20" name="Text 18"/>
          <p:cNvSpPr/>
          <p:nvPr/>
        </p:nvSpPr>
        <p:spPr>
          <a:xfrm>
            <a:off x="5909667" y="2565400"/>
            <a:ext cx="4597400" cy="355600"/>
          </a:xfrm>
          <a:prstGeom prst="rect">
            <a:avLst/>
          </a:prstGeom>
          <a:noFill/>
          <a:ln/>
        </p:spPr>
        <p:txBody>
          <a:bodyPr wrap="square" lIns="0" tIns="0" rIns="0" bIns="0" rtlCol="0" anchor="ctr"/>
          <a:lstStyle/>
          <a:p>
            <a:pPr>
              <a:lnSpc>
                <a:spcPct val="130000"/>
              </a:lnSpc>
            </a:pPr>
            <a:r>
              <a:rPr lang="en-US" sz="1800" b="1" dirty="0">
                <a:solidFill>
                  <a:srgbClr val="4C7E9A"/>
                </a:solidFill>
                <a:latin typeface="MiSans" pitchFamily="34" charset="0"/>
                <a:ea typeface="MiSans" pitchFamily="34" charset="-122"/>
                <a:cs typeface="MiSans" pitchFamily="34" charset="-120"/>
              </a:rPr>
              <a:t>特征重要性分析</a:t>
            </a:r>
            <a:endParaRPr lang="en-US" sz="1600" dirty="0"/>
          </a:p>
        </p:txBody>
      </p:sp>
      <p:sp>
        <p:nvSpPr>
          <p:cNvPr id="21" name="Text 19"/>
          <p:cNvSpPr/>
          <p:nvPr/>
        </p:nvSpPr>
        <p:spPr>
          <a:xfrm>
            <a:off x="5909667" y="2971800"/>
            <a:ext cx="4584700" cy="990600"/>
          </a:xfrm>
          <a:prstGeom prst="rect">
            <a:avLst/>
          </a:prstGeom>
          <a:noFill/>
          <a:ln/>
        </p:spPr>
        <p:txBody>
          <a:bodyPr wrap="square" lIns="0" tIns="0" rIns="0" bIns="0" rtlCol="0" anchor="ctr"/>
          <a:lstStyle/>
          <a:p>
            <a:pPr>
              <a:lnSpc>
                <a:spcPct val="140000"/>
              </a:lnSpc>
            </a:pPr>
            <a:r>
              <a:rPr lang="en-US" sz="1600" dirty="0">
                <a:solidFill>
                  <a:srgbClr val="7E9AA8"/>
                </a:solidFill>
                <a:latin typeface="MiSans" pitchFamily="34" charset="0"/>
                <a:ea typeface="MiSans" pitchFamily="34" charset="-122"/>
                <a:cs typeface="MiSans" pitchFamily="34" charset="-120"/>
              </a:rPr>
              <a:t>通过特征重要性分析来识别和保留最具预测价值的特征，从而降低模型复杂度。这不仅能提高模型的可解释性，还能减少计算开销。</a:t>
            </a:r>
            <a:endParaRPr lang="en-US" sz="1600" dirty="0"/>
          </a:p>
        </p:txBody>
      </p:sp>
      <p:sp>
        <p:nvSpPr>
          <p:cNvPr id="22" name="Text 20"/>
          <p:cNvSpPr/>
          <p:nvPr/>
        </p:nvSpPr>
        <p:spPr>
          <a:xfrm>
            <a:off x="5909667" y="4114800"/>
            <a:ext cx="4597400" cy="355600"/>
          </a:xfrm>
          <a:prstGeom prst="rect">
            <a:avLst/>
          </a:prstGeom>
          <a:noFill/>
          <a:ln/>
        </p:spPr>
        <p:txBody>
          <a:bodyPr wrap="square" lIns="0" tIns="0" rIns="0" bIns="0" rtlCol="0" anchor="ctr"/>
          <a:lstStyle/>
          <a:p>
            <a:pPr>
              <a:lnSpc>
                <a:spcPct val="130000"/>
              </a:lnSpc>
            </a:pPr>
            <a:r>
              <a:rPr lang="en-US" sz="1800" b="1" dirty="0">
                <a:solidFill>
                  <a:srgbClr val="4C7E9A"/>
                </a:solidFill>
                <a:latin typeface="MiSans" pitchFamily="34" charset="0"/>
                <a:ea typeface="MiSans" pitchFamily="34" charset="-122"/>
                <a:cs typeface="MiSans" pitchFamily="34" charset="-120"/>
              </a:rPr>
              <a:t>模型剪枝</a:t>
            </a:r>
            <a:endParaRPr lang="en-US" sz="1600" dirty="0"/>
          </a:p>
        </p:txBody>
      </p:sp>
      <p:sp>
        <p:nvSpPr>
          <p:cNvPr id="23" name="Text 21"/>
          <p:cNvSpPr/>
          <p:nvPr/>
        </p:nvSpPr>
        <p:spPr>
          <a:xfrm>
            <a:off x="5909667" y="4521200"/>
            <a:ext cx="4584700" cy="660400"/>
          </a:xfrm>
          <a:prstGeom prst="rect">
            <a:avLst/>
          </a:prstGeom>
          <a:noFill/>
          <a:ln/>
        </p:spPr>
        <p:txBody>
          <a:bodyPr wrap="square" lIns="0" tIns="0" rIns="0" bIns="0" rtlCol="0" anchor="ctr"/>
          <a:lstStyle/>
          <a:p>
            <a:pPr>
              <a:lnSpc>
                <a:spcPct val="140000"/>
              </a:lnSpc>
            </a:pPr>
            <a:r>
              <a:rPr lang="en-US" sz="1600" dirty="0">
                <a:solidFill>
                  <a:srgbClr val="7E9AA8"/>
                </a:solidFill>
                <a:latin typeface="MiSans" pitchFamily="34" charset="0"/>
                <a:ea typeface="MiSans" pitchFamily="34" charset="-122"/>
                <a:cs typeface="MiSans" pitchFamily="34" charset="-120"/>
              </a:rPr>
              <a:t>使用模型剪枝技术去除对最终预测贡献较小的基学习器，提高整体模型的效率和可解释性。</a:t>
            </a:r>
            <a:endParaRPr lang="en-US" sz="1600" dirty="0"/>
          </a:p>
        </p:txBody>
      </p:sp>
      <p:sp>
        <p:nvSpPr>
          <p:cNvPr id="24" name="Shape 22"/>
          <p:cNvSpPr/>
          <p:nvPr/>
        </p:nvSpPr>
        <p:spPr>
          <a:xfrm>
            <a:off x="5909667" y="5334000"/>
            <a:ext cx="4483100" cy="457200"/>
          </a:xfrm>
          <a:custGeom>
            <a:avLst/>
            <a:gdLst/>
            <a:ahLst/>
            <a:cxnLst/>
            <a:rect l="l" t="t" r="r" b="b"/>
            <a:pathLst>
              <a:path w="4483100" h="457200">
                <a:moveTo>
                  <a:pt x="50799" y="0"/>
                </a:moveTo>
                <a:lnTo>
                  <a:pt x="4432301" y="0"/>
                </a:lnTo>
                <a:cubicBezTo>
                  <a:pt x="4460356" y="0"/>
                  <a:pt x="4483100" y="22744"/>
                  <a:pt x="4483100" y="50799"/>
                </a:cubicBezTo>
                <a:lnTo>
                  <a:pt x="4483100" y="406401"/>
                </a:lnTo>
                <a:cubicBezTo>
                  <a:pt x="4483100" y="434456"/>
                  <a:pt x="4460356" y="457200"/>
                  <a:pt x="4432301" y="457200"/>
                </a:cubicBezTo>
                <a:lnTo>
                  <a:pt x="50799" y="457200"/>
                </a:lnTo>
                <a:cubicBezTo>
                  <a:pt x="22744" y="457200"/>
                  <a:pt x="0" y="434456"/>
                  <a:pt x="0" y="406401"/>
                </a:cubicBezTo>
                <a:lnTo>
                  <a:pt x="0" y="50799"/>
                </a:lnTo>
                <a:cubicBezTo>
                  <a:pt x="0" y="22762"/>
                  <a:pt x="22762" y="0"/>
                  <a:pt x="50799" y="0"/>
                </a:cubicBezTo>
                <a:close/>
              </a:path>
            </a:pathLst>
          </a:custGeom>
          <a:solidFill>
            <a:srgbClr val="181A1F">
              <a:alpha val="50196"/>
            </a:srgbClr>
          </a:solidFill>
          <a:ln/>
        </p:spPr>
      </p:sp>
      <p:sp>
        <p:nvSpPr>
          <p:cNvPr id="25" name="Shape 23"/>
          <p:cNvSpPr/>
          <p:nvPr/>
        </p:nvSpPr>
        <p:spPr>
          <a:xfrm>
            <a:off x="6058892" y="5473700"/>
            <a:ext cx="133350" cy="177800"/>
          </a:xfrm>
          <a:custGeom>
            <a:avLst/>
            <a:gdLst/>
            <a:ahLst/>
            <a:cxnLst/>
            <a:rect l="l" t="t" r="r" b="b"/>
            <a:pathLst>
              <a:path w="133350" h="177800">
                <a:moveTo>
                  <a:pt x="101714" y="133350"/>
                </a:moveTo>
                <a:cubicBezTo>
                  <a:pt x="104249" y="125606"/>
                  <a:pt x="109319" y="118591"/>
                  <a:pt x="115049" y="112549"/>
                </a:cubicBezTo>
                <a:cubicBezTo>
                  <a:pt x="126405" y="100603"/>
                  <a:pt x="133350" y="84455"/>
                  <a:pt x="133350" y="66675"/>
                </a:cubicBezTo>
                <a:cubicBezTo>
                  <a:pt x="133350" y="29865"/>
                  <a:pt x="103485" y="0"/>
                  <a:pt x="66675" y="0"/>
                </a:cubicBezTo>
                <a:cubicBezTo>
                  <a:pt x="29865" y="0"/>
                  <a:pt x="0" y="29865"/>
                  <a:pt x="0" y="66675"/>
                </a:cubicBezTo>
                <a:cubicBezTo>
                  <a:pt x="0" y="84455"/>
                  <a:pt x="6945" y="100603"/>
                  <a:pt x="18301" y="112549"/>
                </a:cubicBezTo>
                <a:cubicBezTo>
                  <a:pt x="24031" y="118591"/>
                  <a:pt x="29136" y="125606"/>
                  <a:pt x="31636" y="133350"/>
                </a:cubicBezTo>
                <a:lnTo>
                  <a:pt x="101679" y="133350"/>
                </a:lnTo>
                <a:close/>
                <a:moveTo>
                  <a:pt x="100013" y="150019"/>
                </a:moveTo>
                <a:lnTo>
                  <a:pt x="33337" y="150019"/>
                </a:lnTo>
                <a:lnTo>
                  <a:pt x="33337" y="155575"/>
                </a:lnTo>
                <a:cubicBezTo>
                  <a:pt x="33337" y="170924"/>
                  <a:pt x="45770" y="183356"/>
                  <a:pt x="61119" y="183356"/>
                </a:cubicBezTo>
                <a:lnTo>
                  <a:pt x="72231" y="183356"/>
                </a:lnTo>
                <a:cubicBezTo>
                  <a:pt x="87580" y="183356"/>
                  <a:pt x="100013" y="170924"/>
                  <a:pt x="100013" y="155575"/>
                </a:cubicBezTo>
                <a:lnTo>
                  <a:pt x="100013" y="150019"/>
                </a:lnTo>
                <a:close/>
                <a:moveTo>
                  <a:pt x="63897" y="38894"/>
                </a:moveTo>
                <a:cubicBezTo>
                  <a:pt x="50076" y="38894"/>
                  <a:pt x="38894" y="50076"/>
                  <a:pt x="38894" y="63897"/>
                </a:cubicBezTo>
                <a:cubicBezTo>
                  <a:pt x="38894" y="68516"/>
                  <a:pt x="35178" y="72231"/>
                  <a:pt x="30559" y="72231"/>
                </a:cubicBezTo>
                <a:cubicBezTo>
                  <a:pt x="25941" y="72231"/>
                  <a:pt x="22225" y="68516"/>
                  <a:pt x="22225" y="63897"/>
                </a:cubicBezTo>
                <a:cubicBezTo>
                  <a:pt x="22225" y="40873"/>
                  <a:pt x="40873" y="22225"/>
                  <a:pt x="63897" y="22225"/>
                </a:cubicBezTo>
                <a:cubicBezTo>
                  <a:pt x="68516" y="22225"/>
                  <a:pt x="72231" y="25941"/>
                  <a:pt x="72231" y="30559"/>
                </a:cubicBezTo>
                <a:cubicBezTo>
                  <a:pt x="72231" y="35178"/>
                  <a:pt x="68516" y="38894"/>
                  <a:pt x="63897" y="38894"/>
                </a:cubicBezTo>
                <a:close/>
              </a:path>
            </a:pathLst>
          </a:custGeom>
          <a:solidFill>
            <a:srgbClr val="4C7E9A"/>
          </a:solidFill>
          <a:ln/>
        </p:spPr>
      </p:sp>
      <p:sp>
        <p:nvSpPr>
          <p:cNvPr id="26" name="Text 24"/>
          <p:cNvSpPr/>
          <p:nvPr/>
        </p:nvSpPr>
        <p:spPr>
          <a:xfrm>
            <a:off x="6290667" y="5435600"/>
            <a:ext cx="4089400" cy="254000"/>
          </a:xfrm>
          <a:prstGeom prst="rect">
            <a:avLst/>
          </a:prstGeom>
          <a:noFill/>
          <a:ln/>
        </p:spPr>
        <p:txBody>
          <a:bodyPr wrap="square" lIns="0" tIns="0" rIns="0" bIns="0" rtlCol="0" anchor="ctr"/>
          <a:lstStyle/>
          <a:p>
            <a:pPr>
              <a:lnSpc>
                <a:spcPct val="120000"/>
              </a:lnSpc>
            </a:pPr>
            <a:r>
              <a:rPr lang="en-US" sz="1400" b="1" dirty="0">
                <a:solidFill>
                  <a:srgbClr val="D1D5DB"/>
                </a:solidFill>
                <a:latin typeface="MiSans" pitchFamily="34" charset="0"/>
                <a:ea typeface="MiSans" pitchFamily="34" charset="-122"/>
                <a:cs typeface="MiSans" pitchFamily="34" charset="-120"/>
              </a:rPr>
              <a:t>效果：</a:t>
            </a:r>
            <a:pPr>
              <a:lnSpc>
                <a:spcPct val="120000"/>
              </a:lnSpc>
            </a:pPr>
            <a:r>
              <a:rPr lang="en-US" sz="1400" dirty="0">
                <a:solidFill>
                  <a:srgbClr val="7E9AA8"/>
                </a:solidFill>
                <a:latin typeface="MiSans" pitchFamily="34" charset="0"/>
                <a:ea typeface="MiSans" pitchFamily="34" charset="-122"/>
                <a:cs typeface="MiSans" pitchFamily="34" charset="-120"/>
              </a:rPr>
              <a:t>模型复杂度降低30-50%</a:t>
            </a:r>
            <a:endParaRPr lang="en-US" sz="1600" dirty="0"/>
          </a:p>
        </p:txBody>
      </p:sp>
      <p:sp>
        <p:nvSpPr>
          <p:cNvPr id="27" name="Shape 25"/>
          <p:cNvSpPr/>
          <p:nvPr/>
        </p:nvSpPr>
        <p:spPr>
          <a:xfrm>
            <a:off x="10828834" y="1828800"/>
            <a:ext cx="4914900" cy="4165600"/>
          </a:xfrm>
          <a:custGeom>
            <a:avLst/>
            <a:gdLst/>
            <a:ahLst/>
            <a:cxnLst/>
            <a:rect l="l" t="t" r="r" b="b"/>
            <a:pathLst>
              <a:path w="4914900" h="4165600">
                <a:moveTo>
                  <a:pt x="50800" y="0"/>
                </a:moveTo>
                <a:lnTo>
                  <a:pt x="4813301" y="0"/>
                </a:lnTo>
                <a:cubicBezTo>
                  <a:pt x="4869413" y="0"/>
                  <a:pt x="4914900" y="45487"/>
                  <a:pt x="4914900" y="101599"/>
                </a:cubicBezTo>
                <a:lnTo>
                  <a:pt x="4914900" y="4064001"/>
                </a:lnTo>
                <a:cubicBezTo>
                  <a:pt x="4914900" y="4120113"/>
                  <a:pt x="4869413" y="4165600"/>
                  <a:pt x="4813301" y="4165600"/>
                </a:cubicBezTo>
                <a:lnTo>
                  <a:pt x="50800" y="4165600"/>
                </a:lnTo>
                <a:cubicBezTo>
                  <a:pt x="22763" y="4165600"/>
                  <a:pt x="0" y="4142837"/>
                  <a:pt x="0" y="4114800"/>
                </a:cubicBezTo>
                <a:lnTo>
                  <a:pt x="0" y="50800"/>
                </a:lnTo>
                <a:cubicBezTo>
                  <a:pt x="0" y="22763"/>
                  <a:pt x="22763" y="0"/>
                  <a:pt x="50800" y="0"/>
                </a:cubicBezTo>
                <a:close/>
              </a:path>
            </a:pathLst>
          </a:custGeom>
          <a:solidFill>
            <a:srgbClr val="3A5E78">
              <a:alpha val="20000"/>
            </a:srgbClr>
          </a:solidFill>
          <a:ln/>
        </p:spPr>
      </p:sp>
      <p:sp>
        <p:nvSpPr>
          <p:cNvPr id="28" name="Shape 26"/>
          <p:cNvSpPr/>
          <p:nvPr/>
        </p:nvSpPr>
        <p:spPr>
          <a:xfrm>
            <a:off x="10828834" y="1828800"/>
            <a:ext cx="50800" cy="4165600"/>
          </a:xfrm>
          <a:custGeom>
            <a:avLst/>
            <a:gdLst/>
            <a:ahLst/>
            <a:cxnLst/>
            <a:rect l="l" t="t" r="r" b="b"/>
            <a:pathLst>
              <a:path w="50800" h="4165600">
                <a:moveTo>
                  <a:pt x="50800" y="0"/>
                </a:moveTo>
                <a:lnTo>
                  <a:pt x="50800" y="0"/>
                </a:lnTo>
                <a:lnTo>
                  <a:pt x="50800" y="4165600"/>
                </a:lnTo>
                <a:lnTo>
                  <a:pt x="50800" y="4165600"/>
                </a:lnTo>
                <a:cubicBezTo>
                  <a:pt x="22763" y="4165600"/>
                  <a:pt x="0" y="4142837"/>
                  <a:pt x="0" y="4114800"/>
                </a:cubicBezTo>
                <a:lnTo>
                  <a:pt x="0" y="50800"/>
                </a:lnTo>
                <a:cubicBezTo>
                  <a:pt x="0" y="22763"/>
                  <a:pt x="22763" y="0"/>
                  <a:pt x="50800" y="0"/>
                </a:cubicBezTo>
                <a:close/>
              </a:path>
            </a:pathLst>
          </a:custGeom>
          <a:solidFill>
            <a:srgbClr val="4C7E9A"/>
          </a:solidFill>
          <a:ln/>
        </p:spPr>
      </p:sp>
      <p:sp>
        <p:nvSpPr>
          <p:cNvPr id="29" name="Shape 27"/>
          <p:cNvSpPr/>
          <p:nvPr/>
        </p:nvSpPr>
        <p:spPr>
          <a:xfrm>
            <a:off x="11108234" y="2032000"/>
            <a:ext cx="381000" cy="381000"/>
          </a:xfrm>
          <a:custGeom>
            <a:avLst/>
            <a:gdLst/>
            <a:ahLst/>
            <a:cxnLst/>
            <a:rect l="l" t="t" r="r" b="b"/>
            <a:pathLst>
              <a:path w="381000" h="381000">
                <a:moveTo>
                  <a:pt x="190500" y="0"/>
                </a:moveTo>
                <a:cubicBezTo>
                  <a:pt x="193923" y="0"/>
                  <a:pt x="197346" y="744"/>
                  <a:pt x="200471" y="2158"/>
                </a:cubicBezTo>
                <a:lnTo>
                  <a:pt x="340668" y="61615"/>
                </a:lnTo>
                <a:cubicBezTo>
                  <a:pt x="357039" y="68535"/>
                  <a:pt x="369243" y="84683"/>
                  <a:pt x="369168" y="104180"/>
                </a:cubicBezTo>
                <a:cubicBezTo>
                  <a:pt x="368796" y="177998"/>
                  <a:pt x="338435" y="313060"/>
                  <a:pt x="210220" y="374452"/>
                </a:cubicBezTo>
                <a:cubicBezTo>
                  <a:pt x="197793" y="380405"/>
                  <a:pt x="183356" y="380405"/>
                  <a:pt x="170929" y="374452"/>
                </a:cubicBezTo>
                <a:cubicBezTo>
                  <a:pt x="42639" y="313060"/>
                  <a:pt x="12353" y="177998"/>
                  <a:pt x="11981" y="104180"/>
                </a:cubicBezTo>
                <a:cubicBezTo>
                  <a:pt x="11906" y="84683"/>
                  <a:pt x="24110" y="68535"/>
                  <a:pt x="40481" y="61615"/>
                </a:cubicBezTo>
                <a:lnTo>
                  <a:pt x="180603" y="2158"/>
                </a:lnTo>
                <a:cubicBezTo>
                  <a:pt x="183728" y="744"/>
                  <a:pt x="187077" y="0"/>
                  <a:pt x="190500" y="0"/>
                </a:cubicBezTo>
                <a:close/>
                <a:moveTo>
                  <a:pt x="190500" y="49709"/>
                </a:moveTo>
                <a:lnTo>
                  <a:pt x="190500" y="331068"/>
                </a:lnTo>
                <a:cubicBezTo>
                  <a:pt x="293191" y="281360"/>
                  <a:pt x="320799" y="171227"/>
                  <a:pt x="321469" y="105296"/>
                </a:cubicBezTo>
                <a:lnTo>
                  <a:pt x="190500" y="49783"/>
                </a:lnTo>
                <a:lnTo>
                  <a:pt x="190500" y="49783"/>
                </a:lnTo>
                <a:close/>
              </a:path>
            </a:pathLst>
          </a:custGeom>
          <a:solidFill>
            <a:srgbClr val="4C7E9A"/>
          </a:solidFill>
          <a:ln/>
        </p:spPr>
      </p:sp>
      <p:sp>
        <p:nvSpPr>
          <p:cNvPr id="30" name="Text 28"/>
          <p:cNvSpPr/>
          <p:nvPr/>
        </p:nvSpPr>
        <p:spPr>
          <a:xfrm>
            <a:off x="11686084" y="2044700"/>
            <a:ext cx="13970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鲁棒性增强</a:t>
            </a:r>
            <a:endParaRPr lang="en-US" sz="1600" dirty="0"/>
          </a:p>
        </p:txBody>
      </p:sp>
      <p:sp>
        <p:nvSpPr>
          <p:cNvPr id="31" name="Text 29"/>
          <p:cNvSpPr/>
          <p:nvPr/>
        </p:nvSpPr>
        <p:spPr>
          <a:xfrm>
            <a:off x="11057434" y="2565400"/>
            <a:ext cx="4597400" cy="355600"/>
          </a:xfrm>
          <a:prstGeom prst="rect">
            <a:avLst/>
          </a:prstGeom>
          <a:noFill/>
          <a:ln/>
        </p:spPr>
        <p:txBody>
          <a:bodyPr wrap="square" lIns="0" tIns="0" rIns="0" bIns="0" rtlCol="0" anchor="ctr"/>
          <a:lstStyle/>
          <a:p>
            <a:pPr>
              <a:lnSpc>
                <a:spcPct val="130000"/>
              </a:lnSpc>
            </a:pPr>
            <a:r>
              <a:rPr lang="en-US" sz="1800" b="1" dirty="0">
                <a:solidFill>
                  <a:srgbClr val="4C7E9A"/>
                </a:solidFill>
                <a:latin typeface="MiSans" pitchFamily="34" charset="0"/>
                <a:ea typeface="MiSans" pitchFamily="34" charset="-122"/>
                <a:cs typeface="MiSans" pitchFamily="34" charset="-120"/>
              </a:rPr>
              <a:t>样本权重截断</a:t>
            </a:r>
            <a:endParaRPr lang="en-US" sz="1600" dirty="0"/>
          </a:p>
        </p:txBody>
      </p:sp>
      <p:sp>
        <p:nvSpPr>
          <p:cNvPr id="32" name="Text 30"/>
          <p:cNvSpPr/>
          <p:nvPr/>
        </p:nvSpPr>
        <p:spPr>
          <a:xfrm>
            <a:off x="11057434" y="2971800"/>
            <a:ext cx="4584700" cy="990600"/>
          </a:xfrm>
          <a:prstGeom prst="rect">
            <a:avLst/>
          </a:prstGeom>
          <a:noFill/>
          <a:ln/>
        </p:spPr>
        <p:txBody>
          <a:bodyPr wrap="square" lIns="0" tIns="0" rIns="0" bIns="0" rtlCol="0" anchor="ctr"/>
          <a:lstStyle/>
          <a:p>
            <a:pPr>
              <a:lnSpc>
                <a:spcPct val="140000"/>
              </a:lnSpc>
            </a:pPr>
            <a:r>
              <a:rPr lang="en-US" sz="1600" dirty="0">
                <a:solidFill>
                  <a:srgbClr val="7E9AA8"/>
                </a:solidFill>
                <a:latin typeface="MiSans" pitchFamily="34" charset="0"/>
                <a:ea typeface="MiSans" pitchFamily="34" charset="-122"/>
                <a:cs typeface="MiSans" pitchFamily="34" charset="-120"/>
              </a:rPr>
              <a:t>在Boosting过程中对样本权重设置上限，防止异常样本获得过高的权重影响。这能有效降低模型对噪声的敏感性。</a:t>
            </a:r>
            <a:endParaRPr lang="en-US" sz="1600" dirty="0"/>
          </a:p>
        </p:txBody>
      </p:sp>
      <p:sp>
        <p:nvSpPr>
          <p:cNvPr id="33" name="Text 31"/>
          <p:cNvSpPr/>
          <p:nvPr/>
        </p:nvSpPr>
        <p:spPr>
          <a:xfrm>
            <a:off x="11057434" y="4114800"/>
            <a:ext cx="4597400" cy="355600"/>
          </a:xfrm>
          <a:prstGeom prst="rect">
            <a:avLst/>
          </a:prstGeom>
          <a:noFill/>
          <a:ln/>
        </p:spPr>
        <p:txBody>
          <a:bodyPr wrap="square" lIns="0" tIns="0" rIns="0" bIns="0" rtlCol="0" anchor="ctr"/>
          <a:lstStyle/>
          <a:p>
            <a:pPr>
              <a:lnSpc>
                <a:spcPct val="130000"/>
              </a:lnSpc>
            </a:pPr>
            <a:r>
              <a:rPr lang="en-US" sz="1800" b="1" dirty="0">
                <a:solidFill>
                  <a:srgbClr val="4C7E9A"/>
                </a:solidFill>
                <a:latin typeface="MiSans" pitchFamily="34" charset="0"/>
                <a:ea typeface="MiSans" pitchFamily="34" charset="-122"/>
                <a:cs typeface="MiSans" pitchFamily="34" charset="-120"/>
              </a:rPr>
              <a:t>早停法 (Early Stopping)</a:t>
            </a:r>
            <a:endParaRPr lang="en-US" sz="1600" dirty="0"/>
          </a:p>
        </p:txBody>
      </p:sp>
      <p:sp>
        <p:nvSpPr>
          <p:cNvPr id="34" name="Text 32"/>
          <p:cNvSpPr/>
          <p:nvPr/>
        </p:nvSpPr>
        <p:spPr>
          <a:xfrm>
            <a:off x="11057434" y="4521200"/>
            <a:ext cx="4584700" cy="660400"/>
          </a:xfrm>
          <a:prstGeom prst="rect">
            <a:avLst/>
          </a:prstGeom>
          <a:noFill/>
          <a:ln/>
        </p:spPr>
        <p:txBody>
          <a:bodyPr wrap="square" lIns="0" tIns="0" rIns="0" bIns="0" rtlCol="0" anchor="ctr"/>
          <a:lstStyle/>
          <a:p>
            <a:pPr>
              <a:lnSpc>
                <a:spcPct val="140000"/>
              </a:lnSpc>
            </a:pPr>
            <a:r>
              <a:rPr lang="en-US" sz="1600" dirty="0">
                <a:solidFill>
                  <a:srgbClr val="7E9AA8"/>
                </a:solidFill>
                <a:latin typeface="MiSans" pitchFamily="34" charset="0"/>
                <a:ea typeface="MiSans" pitchFamily="34" charset="-122"/>
                <a:cs typeface="MiSans" pitchFamily="34" charset="-120"/>
              </a:rPr>
              <a:t>通过监控验证集误差来自动确定最佳停止时机，有效防止过拟合现象的发生。</a:t>
            </a:r>
            <a:endParaRPr lang="en-US" sz="1600" dirty="0"/>
          </a:p>
        </p:txBody>
      </p:sp>
      <p:sp>
        <p:nvSpPr>
          <p:cNvPr id="35" name="Shape 33"/>
          <p:cNvSpPr/>
          <p:nvPr/>
        </p:nvSpPr>
        <p:spPr>
          <a:xfrm>
            <a:off x="11057434" y="5334000"/>
            <a:ext cx="4483100" cy="457200"/>
          </a:xfrm>
          <a:custGeom>
            <a:avLst/>
            <a:gdLst/>
            <a:ahLst/>
            <a:cxnLst/>
            <a:rect l="l" t="t" r="r" b="b"/>
            <a:pathLst>
              <a:path w="4483100" h="457200">
                <a:moveTo>
                  <a:pt x="50799" y="0"/>
                </a:moveTo>
                <a:lnTo>
                  <a:pt x="4432301" y="0"/>
                </a:lnTo>
                <a:cubicBezTo>
                  <a:pt x="4460356" y="0"/>
                  <a:pt x="4483100" y="22744"/>
                  <a:pt x="4483100" y="50799"/>
                </a:cubicBezTo>
                <a:lnTo>
                  <a:pt x="4483100" y="406401"/>
                </a:lnTo>
                <a:cubicBezTo>
                  <a:pt x="4483100" y="434456"/>
                  <a:pt x="4460356" y="457200"/>
                  <a:pt x="4432301" y="457200"/>
                </a:cubicBezTo>
                <a:lnTo>
                  <a:pt x="50799" y="457200"/>
                </a:lnTo>
                <a:cubicBezTo>
                  <a:pt x="22744" y="457200"/>
                  <a:pt x="0" y="434456"/>
                  <a:pt x="0" y="406401"/>
                </a:cubicBezTo>
                <a:lnTo>
                  <a:pt x="0" y="50799"/>
                </a:lnTo>
                <a:cubicBezTo>
                  <a:pt x="0" y="22762"/>
                  <a:pt x="22762" y="0"/>
                  <a:pt x="50799" y="0"/>
                </a:cubicBezTo>
                <a:close/>
              </a:path>
            </a:pathLst>
          </a:custGeom>
          <a:solidFill>
            <a:srgbClr val="181A1F">
              <a:alpha val="50196"/>
            </a:srgbClr>
          </a:solidFill>
          <a:ln/>
        </p:spPr>
      </p:sp>
      <p:sp>
        <p:nvSpPr>
          <p:cNvPr id="36" name="Shape 34"/>
          <p:cNvSpPr/>
          <p:nvPr/>
        </p:nvSpPr>
        <p:spPr>
          <a:xfrm>
            <a:off x="11206659" y="5473700"/>
            <a:ext cx="133350" cy="177800"/>
          </a:xfrm>
          <a:custGeom>
            <a:avLst/>
            <a:gdLst/>
            <a:ahLst/>
            <a:cxnLst/>
            <a:rect l="l" t="t" r="r" b="b"/>
            <a:pathLst>
              <a:path w="133350" h="177800">
                <a:moveTo>
                  <a:pt x="101714" y="133350"/>
                </a:moveTo>
                <a:cubicBezTo>
                  <a:pt x="104249" y="125606"/>
                  <a:pt x="109319" y="118591"/>
                  <a:pt x="115049" y="112549"/>
                </a:cubicBezTo>
                <a:cubicBezTo>
                  <a:pt x="126405" y="100603"/>
                  <a:pt x="133350" y="84455"/>
                  <a:pt x="133350" y="66675"/>
                </a:cubicBezTo>
                <a:cubicBezTo>
                  <a:pt x="133350" y="29865"/>
                  <a:pt x="103485" y="0"/>
                  <a:pt x="66675" y="0"/>
                </a:cubicBezTo>
                <a:cubicBezTo>
                  <a:pt x="29865" y="0"/>
                  <a:pt x="0" y="29865"/>
                  <a:pt x="0" y="66675"/>
                </a:cubicBezTo>
                <a:cubicBezTo>
                  <a:pt x="0" y="84455"/>
                  <a:pt x="6945" y="100603"/>
                  <a:pt x="18301" y="112549"/>
                </a:cubicBezTo>
                <a:cubicBezTo>
                  <a:pt x="24031" y="118591"/>
                  <a:pt x="29136" y="125606"/>
                  <a:pt x="31636" y="133350"/>
                </a:cubicBezTo>
                <a:lnTo>
                  <a:pt x="101679" y="133350"/>
                </a:lnTo>
                <a:close/>
                <a:moveTo>
                  <a:pt x="100013" y="150019"/>
                </a:moveTo>
                <a:lnTo>
                  <a:pt x="33337" y="150019"/>
                </a:lnTo>
                <a:lnTo>
                  <a:pt x="33337" y="155575"/>
                </a:lnTo>
                <a:cubicBezTo>
                  <a:pt x="33337" y="170924"/>
                  <a:pt x="45770" y="183356"/>
                  <a:pt x="61119" y="183356"/>
                </a:cubicBezTo>
                <a:lnTo>
                  <a:pt x="72231" y="183356"/>
                </a:lnTo>
                <a:cubicBezTo>
                  <a:pt x="87580" y="183356"/>
                  <a:pt x="100013" y="170924"/>
                  <a:pt x="100013" y="155575"/>
                </a:cubicBezTo>
                <a:lnTo>
                  <a:pt x="100013" y="150019"/>
                </a:lnTo>
                <a:close/>
                <a:moveTo>
                  <a:pt x="63897" y="38894"/>
                </a:moveTo>
                <a:cubicBezTo>
                  <a:pt x="50076" y="38894"/>
                  <a:pt x="38894" y="50076"/>
                  <a:pt x="38894" y="63897"/>
                </a:cubicBezTo>
                <a:cubicBezTo>
                  <a:pt x="38894" y="68516"/>
                  <a:pt x="35178" y="72231"/>
                  <a:pt x="30559" y="72231"/>
                </a:cubicBezTo>
                <a:cubicBezTo>
                  <a:pt x="25941" y="72231"/>
                  <a:pt x="22225" y="68516"/>
                  <a:pt x="22225" y="63897"/>
                </a:cubicBezTo>
                <a:cubicBezTo>
                  <a:pt x="22225" y="40873"/>
                  <a:pt x="40873" y="22225"/>
                  <a:pt x="63897" y="22225"/>
                </a:cubicBezTo>
                <a:cubicBezTo>
                  <a:pt x="68516" y="22225"/>
                  <a:pt x="72231" y="25941"/>
                  <a:pt x="72231" y="30559"/>
                </a:cubicBezTo>
                <a:cubicBezTo>
                  <a:pt x="72231" y="35178"/>
                  <a:pt x="68516" y="38894"/>
                  <a:pt x="63897" y="38894"/>
                </a:cubicBezTo>
                <a:close/>
              </a:path>
            </a:pathLst>
          </a:custGeom>
          <a:solidFill>
            <a:srgbClr val="4C7E9A"/>
          </a:solidFill>
          <a:ln/>
        </p:spPr>
      </p:sp>
      <p:sp>
        <p:nvSpPr>
          <p:cNvPr id="37" name="Text 35"/>
          <p:cNvSpPr/>
          <p:nvPr/>
        </p:nvSpPr>
        <p:spPr>
          <a:xfrm>
            <a:off x="11438434" y="5435600"/>
            <a:ext cx="4089400" cy="254000"/>
          </a:xfrm>
          <a:prstGeom prst="rect">
            <a:avLst/>
          </a:prstGeom>
          <a:noFill/>
          <a:ln/>
        </p:spPr>
        <p:txBody>
          <a:bodyPr wrap="square" lIns="0" tIns="0" rIns="0" bIns="0" rtlCol="0" anchor="ctr"/>
          <a:lstStyle/>
          <a:p>
            <a:pPr>
              <a:lnSpc>
                <a:spcPct val="120000"/>
              </a:lnSpc>
            </a:pPr>
            <a:r>
              <a:rPr lang="en-US" sz="1400" b="1" dirty="0">
                <a:solidFill>
                  <a:srgbClr val="D1D5DB"/>
                </a:solidFill>
                <a:latin typeface="MiSans" pitchFamily="34" charset="0"/>
                <a:ea typeface="MiSans" pitchFamily="34" charset="-122"/>
                <a:cs typeface="MiSans" pitchFamily="34" charset="-120"/>
              </a:rPr>
              <a:t>效果：</a:t>
            </a:r>
            <a:pPr>
              <a:lnSpc>
                <a:spcPct val="120000"/>
              </a:lnSpc>
            </a:pPr>
            <a:r>
              <a:rPr lang="en-US" sz="1400" dirty="0">
                <a:solidFill>
                  <a:srgbClr val="7E9AA8"/>
                </a:solidFill>
                <a:latin typeface="MiSans" pitchFamily="34" charset="0"/>
                <a:ea typeface="MiSans" pitchFamily="34" charset="-122"/>
                <a:cs typeface="MiSans" pitchFamily="34" charset="-120"/>
              </a:rPr>
              <a:t>泛化能力提升10-20%</a:t>
            </a:r>
            <a:endParaRPr lang="en-US" sz="1600" dirty="0"/>
          </a:p>
        </p:txBody>
      </p:sp>
      <p:sp>
        <p:nvSpPr>
          <p:cNvPr id="38" name="Shape 36"/>
          <p:cNvSpPr/>
          <p:nvPr/>
        </p:nvSpPr>
        <p:spPr>
          <a:xfrm>
            <a:off x="514350" y="6203950"/>
            <a:ext cx="15227300" cy="1638300"/>
          </a:xfrm>
          <a:custGeom>
            <a:avLst/>
            <a:gdLst/>
            <a:ahLst/>
            <a:cxnLst/>
            <a:rect l="l" t="t" r="r" b="b"/>
            <a:pathLst>
              <a:path w="15227300" h="1638300">
                <a:moveTo>
                  <a:pt x="101607" y="0"/>
                </a:moveTo>
                <a:lnTo>
                  <a:pt x="15125693" y="0"/>
                </a:lnTo>
                <a:cubicBezTo>
                  <a:pt x="15181809" y="0"/>
                  <a:pt x="15227300" y="45491"/>
                  <a:pt x="15227300" y="101607"/>
                </a:cubicBezTo>
                <a:lnTo>
                  <a:pt x="15227300" y="1536693"/>
                </a:lnTo>
                <a:cubicBezTo>
                  <a:pt x="15227300" y="1592809"/>
                  <a:pt x="15181809" y="1638300"/>
                  <a:pt x="15125693" y="1638300"/>
                </a:cubicBezTo>
                <a:lnTo>
                  <a:pt x="101607" y="1638300"/>
                </a:lnTo>
                <a:cubicBezTo>
                  <a:pt x="45491" y="1638300"/>
                  <a:pt x="0" y="1592809"/>
                  <a:pt x="0" y="1536693"/>
                </a:cubicBezTo>
                <a:lnTo>
                  <a:pt x="0" y="101607"/>
                </a:lnTo>
                <a:cubicBezTo>
                  <a:pt x="0" y="45491"/>
                  <a:pt x="45491" y="0"/>
                  <a:pt x="101607" y="0"/>
                </a:cubicBezTo>
                <a:close/>
              </a:path>
            </a:pathLst>
          </a:custGeom>
          <a:solidFill>
            <a:srgbClr val="4C7E9A">
              <a:alpha val="10196"/>
            </a:srgbClr>
          </a:solidFill>
          <a:ln w="12700">
            <a:solidFill>
              <a:srgbClr val="4C7E9A">
                <a:alpha val="30196"/>
              </a:srgbClr>
            </a:solidFill>
            <a:prstDash val="solid"/>
          </a:ln>
        </p:spPr>
      </p:sp>
      <p:sp>
        <p:nvSpPr>
          <p:cNvPr id="39" name="Shape 37"/>
          <p:cNvSpPr/>
          <p:nvPr/>
        </p:nvSpPr>
        <p:spPr>
          <a:xfrm>
            <a:off x="777875" y="6464300"/>
            <a:ext cx="476250" cy="381000"/>
          </a:xfrm>
          <a:custGeom>
            <a:avLst/>
            <a:gdLst/>
            <a:ahLst/>
            <a:cxnLst/>
            <a:rect l="l" t="t" r="r" b="b"/>
            <a:pathLst>
              <a:path w="476250" h="381000">
                <a:moveTo>
                  <a:pt x="285750" y="23812"/>
                </a:moveTo>
                <a:lnTo>
                  <a:pt x="381000" y="23812"/>
                </a:lnTo>
                <a:cubicBezTo>
                  <a:pt x="394171" y="23812"/>
                  <a:pt x="404813" y="34454"/>
                  <a:pt x="404813" y="47625"/>
                </a:cubicBezTo>
                <a:cubicBezTo>
                  <a:pt x="404813" y="60796"/>
                  <a:pt x="394171" y="71438"/>
                  <a:pt x="381000" y="71438"/>
                </a:cubicBezTo>
                <a:lnTo>
                  <a:pt x="296466" y="71438"/>
                </a:lnTo>
                <a:cubicBezTo>
                  <a:pt x="292596" y="90636"/>
                  <a:pt x="279425" y="106487"/>
                  <a:pt x="261938" y="114077"/>
                </a:cubicBezTo>
                <a:lnTo>
                  <a:pt x="261938" y="333375"/>
                </a:lnTo>
                <a:lnTo>
                  <a:pt x="381000" y="333375"/>
                </a:lnTo>
                <a:cubicBezTo>
                  <a:pt x="394171" y="333375"/>
                  <a:pt x="404813" y="344016"/>
                  <a:pt x="404813" y="357188"/>
                </a:cubicBezTo>
                <a:cubicBezTo>
                  <a:pt x="404813" y="370359"/>
                  <a:pt x="394171" y="381000"/>
                  <a:pt x="381000" y="381000"/>
                </a:cubicBezTo>
                <a:lnTo>
                  <a:pt x="95250" y="381000"/>
                </a:lnTo>
                <a:cubicBezTo>
                  <a:pt x="82079" y="381000"/>
                  <a:pt x="71438" y="370359"/>
                  <a:pt x="71438" y="357188"/>
                </a:cubicBezTo>
                <a:cubicBezTo>
                  <a:pt x="71438" y="344016"/>
                  <a:pt x="82079" y="333375"/>
                  <a:pt x="95250" y="333375"/>
                </a:cubicBezTo>
                <a:lnTo>
                  <a:pt x="214313" y="333375"/>
                </a:lnTo>
                <a:lnTo>
                  <a:pt x="214313" y="114077"/>
                </a:lnTo>
                <a:cubicBezTo>
                  <a:pt x="196825" y="106412"/>
                  <a:pt x="183654" y="90562"/>
                  <a:pt x="179784" y="71438"/>
                </a:cubicBezTo>
                <a:lnTo>
                  <a:pt x="95250" y="71438"/>
                </a:lnTo>
                <a:cubicBezTo>
                  <a:pt x="82079" y="71438"/>
                  <a:pt x="71438" y="60796"/>
                  <a:pt x="71438" y="47625"/>
                </a:cubicBezTo>
                <a:cubicBezTo>
                  <a:pt x="71438" y="34454"/>
                  <a:pt x="82079" y="23812"/>
                  <a:pt x="95250" y="23812"/>
                </a:cubicBezTo>
                <a:lnTo>
                  <a:pt x="190500" y="23812"/>
                </a:lnTo>
                <a:cubicBezTo>
                  <a:pt x="201364" y="9376"/>
                  <a:pt x="218629" y="0"/>
                  <a:pt x="238125" y="0"/>
                </a:cubicBezTo>
                <a:cubicBezTo>
                  <a:pt x="257621" y="0"/>
                  <a:pt x="274886" y="9376"/>
                  <a:pt x="285750" y="23812"/>
                </a:cubicBezTo>
                <a:close/>
                <a:moveTo>
                  <a:pt x="327124" y="238125"/>
                </a:moveTo>
                <a:lnTo>
                  <a:pt x="434876" y="238125"/>
                </a:lnTo>
                <a:lnTo>
                  <a:pt x="381000" y="145703"/>
                </a:lnTo>
                <a:lnTo>
                  <a:pt x="327124" y="238125"/>
                </a:lnTo>
                <a:close/>
                <a:moveTo>
                  <a:pt x="381000" y="309563"/>
                </a:moveTo>
                <a:cubicBezTo>
                  <a:pt x="334194" y="309563"/>
                  <a:pt x="295275" y="284262"/>
                  <a:pt x="287238" y="250850"/>
                </a:cubicBezTo>
                <a:cubicBezTo>
                  <a:pt x="285304" y="242664"/>
                  <a:pt x="287982" y="234255"/>
                  <a:pt x="292224" y="226963"/>
                </a:cubicBezTo>
                <a:lnTo>
                  <a:pt x="363066" y="105519"/>
                </a:lnTo>
                <a:cubicBezTo>
                  <a:pt x="366787" y="99120"/>
                  <a:pt x="373633" y="95250"/>
                  <a:pt x="381000" y="95250"/>
                </a:cubicBezTo>
                <a:cubicBezTo>
                  <a:pt x="388367" y="95250"/>
                  <a:pt x="395213" y="99194"/>
                  <a:pt x="398934" y="105519"/>
                </a:cubicBezTo>
                <a:lnTo>
                  <a:pt x="469776" y="226963"/>
                </a:lnTo>
                <a:cubicBezTo>
                  <a:pt x="474018" y="234255"/>
                  <a:pt x="476696" y="242664"/>
                  <a:pt x="474762" y="250850"/>
                </a:cubicBezTo>
                <a:cubicBezTo>
                  <a:pt x="466725" y="284187"/>
                  <a:pt x="427806" y="309563"/>
                  <a:pt x="381000" y="309563"/>
                </a:cubicBezTo>
                <a:close/>
                <a:moveTo>
                  <a:pt x="94357" y="145703"/>
                </a:moveTo>
                <a:lnTo>
                  <a:pt x="40481" y="238125"/>
                </a:lnTo>
                <a:lnTo>
                  <a:pt x="148307" y="238125"/>
                </a:lnTo>
                <a:lnTo>
                  <a:pt x="94357" y="145703"/>
                </a:lnTo>
                <a:close/>
                <a:moveTo>
                  <a:pt x="670" y="250850"/>
                </a:moveTo>
                <a:cubicBezTo>
                  <a:pt x="-1265" y="242664"/>
                  <a:pt x="1414" y="234255"/>
                  <a:pt x="5655" y="226963"/>
                </a:cubicBezTo>
                <a:lnTo>
                  <a:pt x="76498" y="105519"/>
                </a:lnTo>
                <a:cubicBezTo>
                  <a:pt x="80218" y="99120"/>
                  <a:pt x="87064" y="95250"/>
                  <a:pt x="94431" y="95250"/>
                </a:cubicBezTo>
                <a:cubicBezTo>
                  <a:pt x="101798" y="95250"/>
                  <a:pt x="108645" y="99194"/>
                  <a:pt x="112365" y="105519"/>
                </a:cubicBezTo>
                <a:lnTo>
                  <a:pt x="183207" y="226963"/>
                </a:lnTo>
                <a:cubicBezTo>
                  <a:pt x="187449" y="234255"/>
                  <a:pt x="190128" y="242664"/>
                  <a:pt x="188193" y="250850"/>
                </a:cubicBezTo>
                <a:cubicBezTo>
                  <a:pt x="180156" y="284187"/>
                  <a:pt x="141238" y="309563"/>
                  <a:pt x="94431" y="309563"/>
                </a:cubicBezTo>
                <a:cubicBezTo>
                  <a:pt x="47625" y="309563"/>
                  <a:pt x="8706" y="284262"/>
                  <a:pt x="670" y="250850"/>
                </a:cubicBezTo>
                <a:close/>
              </a:path>
            </a:pathLst>
          </a:custGeom>
          <a:solidFill>
            <a:srgbClr val="4C7E9A"/>
          </a:solidFill>
          <a:ln/>
        </p:spPr>
      </p:sp>
      <p:sp>
        <p:nvSpPr>
          <p:cNvPr id="40" name="Text 38"/>
          <p:cNvSpPr/>
          <p:nvPr/>
        </p:nvSpPr>
        <p:spPr>
          <a:xfrm>
            <a:off x="1454150" y="6464300"/>
            <a:ext cx="141605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综合策略：平衡性能与效率</a:t>
            </a:r>
            <a:endParaRPr lang="en-US" sz="1600" dirty="0"/>
          </a:p>
        </p:txBody>
      </p:sp>
      <p:sp>
        <p:nvSpPr>
          <p:cNvPr id="41" name="Text 39"/>
          <p:cNvSpPr/>
          <p:nvPr/>
        </p:nvSpPr>
        <p:spPr>
          <a:xfrm>
            <a:off x="1454150" y="6921500"/>
            <a:ext cx="14135100" cy="660400"/>
          </a:xfrm>
          <a:prstGeom prst="rect">
            <a:avLst/>
          </a:prstGeom>
          <a:noFill/>
          <a:ln/>
        </p:spPr>
        <p:txBody>
          <a:bodyPr wrap="square" lIns="0" tIns="0" rIns="0" bIns="0" rtlCol="0" anchor="ctr"/>
          <a:lstStyle/>
          <a:p>
            <a:pPr>
              <a:lnSpc>
                <a:spcPct val="140000"/>
              </a:lnSpc>
            </a:pPr>
            <a:r>
              <a:rPr lang="en-US" sz="1600" dirty="0">
                <a:solidFill>
                  <a:srgbClr val="7E9AA8"/>
                </a:solidFill>
                <a:latin typeface="MiSans" pitchFamily="34" charset="0"/>
                <a:ea typeface="MiSans" pitchFamily="34" charset="-122"/>
                <a:cs typeface="MiSans" pitchFamily="34" charset="-120"/>
              </a:rPr>
              <a:t>通过综合运用这些策略，我们可以在保证集成学习性能提升的同时，有效控制计算开销，提高模型的稳定性和可解释性，使集成学习技术更加适用于实际的机器学习项目。关键在于根据具体业务需求，在性能、效率、可解释性之间找到最佳平衡点。</a:t>
            </a:r>
            <a:endParaRPr lang="en-US" sz="1600" dirty="0"/>
          </a:p>
        </p:txBody>
      </p:sp>
    </p:spTree>
  </p:cSld>
  <p:clrMapOvr>
    <a:masterClrMapping/>
  </p:clrMapOvr>
  <p:transition>
    <p:fade/>
    <p:spd val="med"/>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81A1F"/>
        </a:solidFill>
      </p:bgPr>
    </p:bg>
    <p:spTree>
      <p:nvGrpSpPr>
        <p:cNvPr id="1" name=""/>
        <p:cNvGrpSpPr/>
        <p:nvPr/>
      </p:nvGrpSpPr>
      <p:grpSpPr>
        <a:xfrm>
          <a:off x="0" y="0"/>
          <a:ext cx="0" cy="0"/>
          <a:chOff x="0" y="0"/>
          <a:chExt cx="0" cy="0"/>
        </a:xfrm>
      </p:grpSpPr>
      <p:pic>
        <p:nvPicPr>
          <p:cNvPr id="2" name="Image 0" descr="https://kimi-web-img.moonshot.cn/img/www.burohappold.com/e3a7abb712f03ad2eee2da089ac9c9f495728be6.jpg">    </p:cNvPr>
          <p:cNvPicPr>
            <a:picLocks noChangeAspect="1"/>
          </p:cNvPicPr>
          <p:nvPr/>
        </p:nvPicPr>
        <p:blipFill>
          <a:blip r:embed="rId1">
            <a:alphaModFix amt="30000"/>
          </a:blip>
          <a:srcRect l="0" r="0" t="7865" b="7865"/>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rotWithShape="1" flip="none">
            <a:gsLst>
              <a:gs pos="0">
                <a:srgbClr val="181A1F"/>
              </a:gs>
              <a:gs pos="50000">
                <a:srgbClr val="181A1F">
                  <a:alpha val="95000"/>
                </a:srgbClr>
              </a:gs>
              <a:gs pos="100000">
                <a:srgbClr val="181A1F">
                  <a:alpha val="70000"/>
                </a:srgbClr>
              </a:gs>
            </a:gsLst>
            <a:lin ang="0" scaled="1"/>
          </a:gradFill>
          <a:ln/>
        </p:spPr>
      </p:sp>
      <p:sp>
        <p:nvSpPr>
          <p:cNvPr id="4" name="Shape 1"/>
          <p:cNvSpPr/>
          <p:nvPr/>
        </p:nvSpPr>
        <p:spPr>
          <a:xfrm>
            <a:off x="520700" y="1073150"/>
            <a:ext cx="2349500" cy="787400"/>
          </a:xfrm>
          <a:custGeom>
            <a:avLst/>
            <a:gdLst/>
            <a:ahLst/>
            <a:cxnLst/>
            <a:rect l="l" t="t" r="r" b="b"/>
            <a:pathLst>
              <a:path w="2349500" h="787400">
                <a:moveTo>
                  <a:pt x="101598" y="0"/>
                </a:moveTo>
                <a:lnTo>
                  <a:pt x="2247902" y="0"/>
                </a:lnTo>
                <a:cubicBezTo>
                  <a:pt x="2304013" y="0"/>
                  <a:pt x="2349500" y="45487"/>
                  <a:pt x="2349500" y="101598"/>
                </a:cubicBezTo>
                <a:lnTo>
                  <a:pt x="2349500" y="685802"/>
                </a:lnTo>
                <a:cubicBezTo>
                  <a:pt x="2349500" y="741913"/>
                  <a:pt x="2304013" y="787400"/>
                  <a:pt x="2247902" y="787400"/>
                </a:cubicBezTo>
                <a:lnTo>
                  <a:pt x="101598" y="787400"/>
                </a:lnTo>
                <a:cubicBezTo>
                  <a:pt x="45487" y="787400"/>
                  <a:pt x="0" y="741913"/>
                  <a:pt x="0" y="685802"/>
                </a:cubicBezTo>
                <a:lnTo>
                  <a:pt x="0" y="101598"/>
                </a:lnTo>
                <a:cubicBezTo>
                  <a:pt x="0" y="45525"/>
                  <a:pt x="45525" y="0"/>
                  <a:pt x="101598" y="0"/>
                </a:cubicBezTo>
                <a:close/>
              </a:path>
            </a:pathLst>
          </a:custGeom>
          <a:solidFill>
            <a:srgbClr val="4C7E9A">
              <a:alpha val="20000"/>
            </a:srgbClr>
          </a:solidFill>
          <a:ln w="25400">
            <a:solidFill>
              <a:srgbClr val="4C7E9A"/>
            </a:solidFill>
            <a:prstDash val="solid"/>
          </a:ln>
        </p:spPr>
      </p:sp>
      <p:sp>
        <p:nvSpPr>
          <p:cNvPr id="5" name="Text 2"/>
          <p:cNvSpPr/>
          <p:nvPr/>
        </p:nvSpPr>
        <p:spPr>
          <a:xfrm>
            <a:off x="838200" y="1238250"/>
            <a:ext cx="1905000" cy="457200"/>
          </a:xfrm>
          <a:prstGeom prst="rect">
            <a:avLst/>
          </a:prstGeom>
          <a:noFill/>
          <a:ln/>
        </p:spPr>
        <p:txBody>
          <a:bodyPr wrap="square" lIns="0" tIns="0" rIns="0" bIns="0" rtlCol="0" anchor="ctr"/>
          <a:lstStyle/>
          <a:p>
            <a:pPr>
              <a:lnSpc>
                <a:spcPct val="100000"/>
              </a:lnSpc>
            </a:pPr>
            <a:r>
              <a:rPr lang="en-US" sz="3000" b="1" dirty="0">
                <a:solidFill>
                  <a:srgbClr val="4C7E9A"/>
                </a:solidFill>
                <a:latin typeface="MiSans" pitchFamily="34" charset="0"/>
                <a:ea typeface="MiSans" pitchFamily="34" charset="-122"/>
                <a:cs typeface="MiSans" pitchFamily="34" charset="-120"/>
              </a:rPr>
              <a:t>CHAPTER</a:t>
            </a:r>
            <a:endParaRPr lang="en-US" sz="1600" dirty="0"/>
          </a:p>
        </p:txBody>
      </p:sp>
      <p:sp>
        <p:nvSpPr>
          <p:cNvPr id="6" name="Text 3"/>
          <p:cNvSpPr/>
          <p:nvPr/>
        </p:nvSpPr>
        <p:spPr>
          <a:xfrm>
            <a:off x="508000" y="2279650"/>
            <a:ext cx="6629400" cy="1219200"/>
          </a:xfrm>
          <a:prstGeom prst="rect">
            <a:avLst/>
          </a:prstGeom>
          <a:noFill/>
          <a:ln/>
        </p:spPr>
        <p:txBody>
          <a:bodyPr wrap="square" lIns="0" tIns="0" rIns="0" bIns="0" rtlCol="0" anchor="ctr"/>
          <a:lstStyle/>
          <a:p>
            <a:pPr>
              <a:lnSpc>
                <a:spcPct val="80000"/>
              </a:lnSpc>
            </a:pPr>
            <a:r>
              <a:rPr lang="en-US" sz="9600" b="1" dirty="0">
                <a:solidFill>
                  <a:srgbClr val="D1D5DB"/>
                </a:solidFill>
                <a:latin typeface="阿里妈妈数黑体" pitchFamily="34" charset="0"/>
                <a:ea typeface="阿里妈妈数黑体" pitchFamily="34" charset="-122"/>
                <a:cs typeface="阿里妈妈数黑体" pitchFamily="34" charset="-120"/>
              </a:rPr>
              <a:t>09</a:t>
            </a:r>
            <a:endParaRPr lang="en-US" sz="1600" dirty="0"/>
          </a:p>
        </p:txBody>
      </p:sp>
      <p:sp>
        <p:nvSpPr>
          <p:cNvPr id="7" name="Text 4"/>
          <p:cNvSpPr/>
          <p:nvPr/>
        </p:nvSpPr>
        <p:spPr>
          <a:xfrm>
            <a:off x="508000" y="3803650"/>
            <a:ext cx="6400800" cy="952500"/>
          </a:xfrm>
          <a:prstGeom prst="rect">
            <a:avLst/>
          </a:prstGeom>
          <a:noFill/>
          <a:ln/>
        </p:spPr>
        <p:txBody>
          <a:bodyPr wrap="square" lIns="0" tIns="0" rIns="0" bIns="0" rtlCol="0" anchor="ctr"/>
          <a:lstStyle/>
          <a:p>
            <a:pPr>
              <a:lnSpc>
                <a:spcPct val="100000"/>
              </a:lnSpc>
            </a:pPr>
            <a:r>
              <a:rPr lang="en-US" sz="6000" b="1" dirty="0">
                <a:solidFill>
                  <a:srgbClr val="4C7E9A"/>
                </a:solidFill>
                <a:latin typeface="阿里妈妈数黑体" pitchFamily="34" charset="0"/>
                <a:ea typeface="阿里妈妈数黑体" pitchFamily="34" charset="-122"/>
                <a:cs typeface="阿里妈妈数黑体" pitchFamily="34" charset="-120"/>
              </a:rPr>
              <a:t>实战案例</a:t>
            </a:r>
            <a:endParaRPr lang="en-US" sz="1600" dirty="0"/>
          </a:p>
        </p:txBody>
      </p:sp>
      <p:sp>
        <p:nvSpPr>
          <p:cNvPr id="8" name="Shape 5"/>
          <p:cNvSpPr/>
          <p:nvPr/>
        </p:nvSpPr>
        <p:spPr>
          <a:xfrm>
            <a:off x="508000" y="5162550"/>
            <a:ext cx="2438400" cy="101600"/>
          </a:xfrm>
          <a:custGeom>
            <a:avLst/>
            <a:gdLst/>
            <a:ahLst/>
            <a:cxnLst/>
            <a:rect l="l" t="t" r="r" b="b"/>
            <a:pathLst>
              <a:path w="2438400" h="101600">
                <a:moveTo>
                  <a:pt x="0" y="0"/>
                </a:moveTo>
                <a:lnTo>
                  <a:pt x="2438400" y="0"/>
                </a:lnTo>
                <a:lnTo>
                  <a:pt x="2438400" y="101600"/>
                </a:lnTo>
                <a:lnTo>
                  <a:pt x="0" y="101600"/>
                </a:lnTo>
                <a:lnTo>
                  <a:pt x="0" y="0"/>
                </a:lnTo>
                <a:close/>
              </a:path>
            </a:pathLst>
          </a:custGeom>
          <a:solidFill>
            <a:srgbClr val="4C7E9A"/>
          </a:solidFill>
          <a:ln/>
        </p:spPr>
      </p:sp>
      <p:sp>
        <p:nvSpPr>
          <p:cNvPr id="9" name="Text 6"/>
          <p:cNvSpPr/>
          <p:nvPr/>
        </p:nvSpPr>
        <p:spPr>
          <a:xfrm>
            <a:off x="508000" y="5568950"/>
            <a:ext cx="6248400" cy="508000"/>
          </a:xfrm>
          <a:prstGeom prst="rect">
            <a:avLst/>
          </a:prstGeom>
          <a:noFill/>
          <a:ln/>
        </p:spPr>
        <p:txBody>
          <a:bodyPr wrap="square" lIns="0" tIns="0" rIns="0" bIns="0" rtlCol="0" anchor="ctr"/>
          <a:lstStyle/>
          <a:p>
            <a:pPr>
              <a:lnSpc>
                <a:spcPct val="90000"/>
              </a:lnSpc>
            </a:pPr>
            <a:r>
              <a:rPr lang="en-US" sz="3600" dirty="0">
                <a:solidFill>
                  <a:srgbClr val="7E9AA8"/>
                </a:solidFill>
                <a:latin typeface="MiSans" pitchFamily="34" charset="0"/>
                <a:ea typeface="MiSans" pitchFamily="34" charset="-122"/>
                <a:cs typeface="MiSans" pitchFamily="34" charset="-120"/>
              </a:rPr>
              <a:t>Kaggle房价预测中的集成技巧</a:t>
            </a:r>
            <a:endParaRPr lang="en-US" sz="1600" dirty="0"/>
          </a:p>
        </p:txBody>
      </p:sp>
      <p:sp>
        <p:nvSpPr>
          <p:cNvPr id="10" name="Shape 7"/>
          <p:cNvSpPr/>
          <p:nvPr/>
        </p:nvSpPr>
        <p:spPr>
          <a:xfrm>
            <a:off x="508000" y="6686550"/>
            <a:ext cx="2908300" cy="1397000"/>
          </a:xfrm>
          <a:custGeom>
            <a:avLst/>
            <a:gdLst/>
            <a:ahLst/>
            <a:cxnLst/>
            <a:rect l="l" t="t" r="r" b="b"/>
            <a:pathLst>
              <a:path w="2908300" h="1397000">
                <a:moveTo>
                  <a:pt x="101604" y="0"/>
                </a:moveTo>
                <a:lnTo>
                  <a:pt x="2806696" y="0"/>
                </a:lnTo>
                <a:cubicBezTo>
                  <a:pt x="2862810" y="0"/>
                  <a:pt x="2908300" y="45490"/>
                  <a:pt x="2908300" y="101604"/>
                </a:cubicBezTo>
                <a:lnTo>
                  <a:pt x="2908300" y="1295396"/>
                </a:lnTo>
                <a:cubicBezTo>
                  <a:pt x="2908300" y="1351510"/>
                  <a:pt x="2862810" y="1397000"/>
                  <a:pt x="28066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1" name="Shape 8"/>
          <p:cNvSpPr/>
          <p:nvPr/>
        </p:nvSpPr>
        <p:spPr>
          <a:xfrm>
            <a:off x="812800" y="6940550"/>
            <a:ext cx="381000" cy="381000"/>
          </a:xfrm>
          <a:custGeom>
            <a:avLst/>
            <a:gdLst/>
            <a:ahLst/>
            <a:cxnLst/>
            <a:rect l="l" t="t" r="r" b="b"/>
            <a:pathLst>
              <a:path w="381000" h="381000">
                <a:moveTo>
                  <a:pt x="206722" y="6400"/>
                </a:moveTo>
                <a:cubicBezTo>
                  <a:pt x="197569" y="-2084"/>
                  <a:pt x="183431" y="-2084"/>
                  <a:pt x="174352" y="6400"/>
                </a:cubicBezTo>
                <a:lnTo>
                  <a:pt x="7665" y="161181"/>
                </a:lnTo>
                <a:cubicBezTo>
                  <a:pt x="521" y="167878"/>
                  <a:pt x="-1860" y="178222"/>
                  <a:pt x="1712" y="187300"/>
                </a:cubicBezTo>
                <a:cubicBezTo>
                  <a:pt x="5283" y="196379"/>
                  <a:pt x="13990" y="202406"/>
                  <a:pt x="23812" y="202406"/>
                </a:cubicBezTo>
                <a:lnTo>
                  <a:pt x="35719" y="202406"/>
                </a:lnTo>
                <a:lnTo>
                  <a:pt x="35719" y="333375"/>
                </a:lnTo>
                <a:cubicBezTo>
                  <a:pt x="35719" y="359643"/>
                  <a:pt x="57076" y="381000"/>
                  <a:pt x="83344" y="381000"/>
                </a:cubicBezTo>
                <a:lnTo>
                  <a:pt x="297656" y="381000"/>
                </a:lnTo>
                <a:cubicBezTo>
                  <a:pt x="323924" y="381000"/>
                  <a:pt x="345281" y="359643"/>
                  <a:pt x="345281" y="333375"/>
                </a:cubicBezTo>
                <a:lnTo>
                  <a:pt x="345281" y="202406"/>
                </a:lnTo>
                <a:lnTo>
                  <a:pt x="357188" y="202406"/>
                </a:lnTo>
                <a:cubicBezTo>
                  <a:pt x="367010" y="202406"/>
                  <a:pt x="375791" y="196379"/>
                  <a:pt x="379363" y="187300"/>
                </a:cubicBezTo>
                <a:cubicBezTo>
                  <a:pt x="382935" y="178222"/>
                  <a:pt x="380554" y="167804"/>
                  <a:pt x="373410" y="161181"/>
                </a:cubicBezTo>
                <a:lnTo>
                  <a:pt x="206722" y="6400"/>
                </a:lnTo>
                <a:close/>
                <a:moveTo>
                  <a:pt x="178594" y="238125"/>
                </a:moveTo>
                <a:lnTo>
                  <a:pt x="202406" y="238125"/>
                </a:lnTo>
                <a:cubicBezTo>
                  <a:pt x="222126" y="238125"/>
                  <a:pt x="238125" y="254124"/>
                  <a:pt x="238125" y="273844"/>
                </a:cubicBezTo>
                <a:lnTo>
                  <a:pt x="238125" y="345281"/>
                </a:lnTo>
                <a:lnTo>
                  <a:pt x="142875" y="345281"/>
                </a:lnTo>
                <a:lnTo>
                  <a:pt x="142875" y="273844"/>
                </a:lnTo>
                <a:cubicBezTo>
                  <a:pt x="142875" y="254124"/>
                  <a:pt x="158874" y="238125"/>
                  <a:pt x="178594" y="238125"/>
                </a:cubicBezTo>
                <a:close/>
              </a:path>
            </a:pathLst>
          </a:custGeom>
          <a:solidFill>
            <a:srgbClr val="4C7E9A"/>
          </a:solidFill>
          <a:ln/>
        </p:spPr>
      </p:sp>
      <p:sp>
        <p:nvSpPr>
          <p:cNvPr id="12" name="Text 9"/>
          <p:cNvSpPr/>
          <p:nvPr/>
        </p:nvSpPr>
        <p:spPr>
          <a:xfrm>
            <a:off x="762000" y="7473950"/>
            <a:ext cx="25273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房价预测</a:t>
            </a:r>
            <a:endParaRPr lang="en-US" sz="1600" dirty="0"/>
          </a:p>
        </p:txBody>
      </p:sp>
      <p:sp>
        <p:nvSpPr>
          <p:cNvPr id="13" name="Shape 10"/>
          <p:cNvSpPr/>
          <p:nvPr/>
        </p:nvSpPr>
        <p:spPr>
          <a:xfrm>
            <a:off x="3621187" y="6686550"/>
            <a:ext cx="2908300" cy="1397000"/>
          </a:xfrm>
          <a:custGeom>
            <a:avLst/>
            <a:gdLst/>
            <a:ahLst/>
            <a:cxnLst/>
            <a:rect l="l" t="t" r="r" b="b"/>
            <a:pathLst>
              <a:path w="2908300" h="1397000">
                <a:moveTo>
                  <a:pt x="101604" y="0"/>
                </a:moveTo>
                <a:lnTo>
                  <a:pt x="2806696" y="0"/>
                </a:lnTo>
                <a:cubicBezTo>
                  <a:pt x="2862810" y="0"/>
                  <a:pt x="2908300" y="45490"/>
                  <a:pt x="2908300" y="101604"/>
                </a:cubicBezTo>
                <a:lnTo>
                  <a:pt x="2908300" y="1295396"/>
                </a:lnTo>
                <a:cubicBezTo>
                  <a:pt x="2908300" y="1351510"/>
                  <a:pt x="2862810" y="1397000"/>
                  <a:pt x="28066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4" name="Shape 11"/>
          <p:cNvSpPr/>
          <p:nvPr/>
        </p:nvSpPr>
        <p:spPr>
          <a:xfrm>
            <a:off x="3925987" y="6940550"/>
            <a:ext cx="381000" cy="381000"/>
          </a:xfrm>
          <a:custGeom>
            <a:avLst/>
            <a:gdLst/>
            <a:ahLst/>
            <a:cxnLst/>
            <a:rect l="l" t="t" r="r" b="b"/>
            <a:pathLst>
              <a:path w="381000" h="381000">
                <a:moveTo>
                  <a:pt x="107379" y="0"/>
                </a:moveTo>
                <a:lnTo>
                  <a:pt x="274067" y="0"/>
                </a:lnTo>
                <a:cubicBezTo>
                  <a:pt x="293787" y="0"/>
                  <a:pt x="309860" y="16222"/>
                  <a:pt x="309116" y="35868"/>
                </a:cubicBezTo>
                <a:cubicBezTo>
                  <a:pt x="308967" y="39812"/>
                  <a:pt x="308818" y="43755"/>
                  <a:pt x="308595" y="47625"/>
                </a:cubicBezTo>
                <a:lnTo>
                  <a:pt x="345504" y="47625"/>
                </a:lnTo>
                <a:cubicBezTo>
                  <a:pt x="364927" y="47625"/>
                  <a:pt x="382042" y="63698"/>
                  <a:pt x="380554" y="84683"/>
                </a:cubicBezTo>
                <a:cubicBezTo>
                  <a:pt x="374972" y="161851"/>
                  <a:pt x="335533" y="204267"/>
                  <a:pt x="292745" y="226442"/>
                </a:cubicBezTo>
                <a:cubicBezTo>
                  <a:pt x="280988" y="232544"/>
                  <a:pt x="269007" y="237083"/>
                  <a:pt x="257621" y="240432"/>
                </a:cubicBezTo>
                <a:cubicBezTo>
                  <a:pt x="242590" y="261714"/>
                  <a:pt x="226963" y="272951"/>
                  <a:pt x="214536" y="278978"/>
                </a:cubicBezTo>
                <a:lnTo>
                  <a:pt x="214536" y="333375"/>
                </a:lnTo>
                <a:lnTo>
                  <a:pt x="262161" y="333375"/>
                </a:lnTo>
                <a:cubicBezTo>
                  <a:pt x="275332" y="333375"/>
                  <a:pt x="285973" y="344016"/>
                  <a:pt x="285973" y="357188"/>
                </a:cubicBezTo>
                <a:cubicBezTo>
                  <a:pt x="285973" y="370359"/>
                  <a:pt x="275332" y="381000"/>
                  <a:pt x="262161" y="381000"/>
                </a:cubicBezTo>
                <a:lnTo>
                  <a:pt x="119286" y="381000"/>
                </a:lnTo>
                <a:cubicBezTo>
                  <a:pt x="106114" y="381000"/>
                  <a:pt x="95473" y="370359"/>
                  <a:pt x="95473" y="357188"/>
                </a:cubicBezTo>
                <a:cubicBezTo>
                  <a:pt x="95473" y="344016"/>
                  <a:pt x="106114" y="333375"/>
                  <a:pt x="119286" y="333375"/>
                </a:cubicBezTo>
                <a:lnTo>
                  <a:pt x="166911" y="333375"/>
                </a:lnTo>
                <a:lnTo>
                  <a:pt x="166911" y="278978"/>
                </a:lnTo>
                <a:cubicBezTo>
                  <a:pt x="155004" y="273248"/>
                  <a:pt x="140196" y="262607"/>
                  <a:pt x="125760" y="243036"/>
                </a:cubicBezTo>
                <a:cubicBezTo>
                  <a:pt x="112068" y="239464"/>
                  <a:pt x="97185" y="234032"/>
                  <a:pt x="82674" y="225847"/>
                </a:cubicBezTo>
                <a:cubicBezTo>
                  <a:pt x="42416" y="203299"/>
                  <a:pt x="6102" y="160809"/>
                  <a:pt x="893" y="84534"/>
                </a:cubicBezTo>
                <a:cubicBezTo>
                  <a:pt x="-521" y="63624"/>
                  <a:pt x="16520" y="47551"/>
                  <a:pt x="35942" y="47551"/>
                </a:cubicBezTo>
                <a:lnTo>
                  <a:pt x="72851" y="47551"/>
                </a:lnTo>
                <a:cubicBezTo>
                  <a:pt x="72628" y="43681"/>
                  <a:pt x="72479" y="39812"/>
                  <a:pt x="72330" y="35793"/>
                </a:cubicBezTo>
                <a:cubicBezTo>
                  <a:pt x="71586" y="16073"/>
                  <a:pt x="87660" y="-74"/>
                  <a:pt x="107379" y="-74"/>
                </a:cubicBezTo>
                <a:close/>
                <a:moveTo>
                  <a:pt x="75530" y="83344"/>
                </a:moveTo>
                <a:lnTo>
                  <a:pt x="36537" y="83344"/>
                </a:lnTo>
                <a:cubicBezTo>
                  <a:pt x="41151" y="146372"/>
                  <a:pt x="70098" y="177924"/>
                  <a:pt x="99938" y="194667"/>
                </a:cubicBezTo>
                <a:cubicBezTo>
                  <a:pt x="89222" y="166911"/>
                  <a:pt x="80367" y="130671"/>
                  <a:pt x="75530" y="83344"/>
                </a:cubicBezTo>
                <a:close/>
                <a:moveTo>
                  <a:pt x="282773" y="191095"/>
                </a:moveTo>
                <a:cubicBezTo>
                  <a:pt x="312911" y="173385"/>
                  <a:pt x="340147" y="141908"/>
                  <a:pt x="344760" y="83344"/>
                </a:cubicBezTo>
                <a:lnTo>
                  <a:pt x="305842" y="83344"/>
                </a:lnTo>
                <a:cubicBezTo>
                  <a:pt x="301228" y="128662"/>
                  <a:pt x="292894" y="163860"/>
                  <a:pt x="282773" y="191095"/>
                </a:cubicBezTo>
                <a:close/>
              </a:path>
            </a:pathLst>
          </a:custGeom>
          <a:solidFill>
            <a:srgbClr val="4C7E9A"/>
          </a:solidFill>
          <a:ln/>
        </p:spPr>
      </p:sp>
      <p:sp>
        <p:nvSpPr>
          <p:cNvPr id="15" name="Text 12"/>
          <p:cNvSpPr/>
          <p:nvPr/>
        </p:nvSpPr>
        <p:spPr>
          <a:xfrm>
            <a:off x="3875187" y="7473950"/>
            <a:ext cx="25273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Kaggle实战</a:t>
            </a:r>
            <a:endParaRPr lang="en-US" sz="1600" dirty="0"/>
          </a:p>
        </p:txBody>
      </p:sp>
    </p:spTree>
  </p:cSld>
  <p:clrMapOvr>
    <a:masterClrMapping/>
  </p:clrMapOvr>
  <p:transition>
    <p:fade/>
    <p:spd val="med"/>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49371" y="449371"/>
            <a:ext cx="15447132" cy="269623"/>
          </a:xfrm>
          <a:prstGeom prst="rect">
            <a:avLst/>
          </a:prstGeom>
          <a:noFill/>
          <a:ln/>
        </p:spPr>
        <p:txBody>
          <a:bodyPr wrap="square" lIns="0" tIns="0" rIns="0" bIns="0" rtlCol="0" anchor="ctr"/>
          <a:lstStyle/>
          <a:p>
            <a:pPr>
              <a:lnSpc>
                <a:spcPct val="130000"/>
              </a:lnSpc>
            </a:pPr>
            <a:r>
              <a:rPr lang="en-US" sz="1415" b="1" spc="71" kern="0" dirty="0">
                <a:solidFill>
                  <a:srgbClr val="7E9AA8"/>
                </a:solidFill>
                <a:latin typeface="MiSans" pitchFamily="34" charset="0"/>
                <a:ea typeface="MiSans" pitchFamily="34" charset="-122"/>
                <a:cs typeface="MiSans" pitchFamily="34" charset="-120"/>
              </a:rPr>
              <a:t>CASE STUDY</a:t>
            </a:r>
            <a:endParaRPr lang="en-US" sz="1600" dirty="0"/>
          </a:p>
        </p:txBody>
      </p:sp>
      <p:sp>
        <p:nvSpPr>
          <p:cNvPr id="3" name="Text 1"/>
          <p:cNvSpPr/>
          <p:nvPr/>
        </p:nvSpPr>
        <p:spPr>
          <a:xfrm>
            <a:off x="449371" y="808868"/>
            <a:ext cx="15559475" cy="449371"/>
          </a:xfrm>
          <a:prstGeom prst="rect">
            <a:avLst/>
          </a:prstGeom>
          <a:noFill/>
          <a:ln/>
        </p:spPr>
        <p:txBody>
          <a:bodyPr wrap="square" lIns="0" tIns="0" rIns="0" bIns="0" rtlCol="0" anchor="ctr"/>
          <a:lstStyle/>
          <a:p>
            <a:pPr>
              <a:lnSpc>
                <a:spcPct val="90000"/>
              </a:lnSpc>
            </a:pPr>
            <a:r>
              <a:rPr lang="en-US" sz="3185" b="1" dirty="0">
                <a:solidFill>
                  <a:srgbClr val="D1D5DB"/>
                </a:solidFill>
                <a:latin typeface="阿里妈妈数黑体" pitchFamily="34" charset="0"/>
                <a:ea typeface="阿里妈妈数黑体" pitchFamily="34" charset="-122"/>
                <a:cs typeface="阿里妈妈数黑体" pitchFamily="34" charset="-120"/>
              </a:rPr>
              <a:t>任务背景与数据特点</a:t>
            </a:r>
            <a:endParaRPr lang="en-US" sz="1600" dirty="0"/>
          </a:p>
        </p:txBody>
      </p:sp>
      <p:sp>
        <p:nvSpPr>
          <p:cNvPr id="4" name="Shape 2"/>
          <p:cNvSpPr/>
          <p:nvPr/>
        </p:nvSpPr>
        <p:spPr>
          <a:xfrm>
            <a:off x="449371" y="1393050"/>
            <a:ext cx="1078491" cy="44937"/>
          </a:xfrm>
          <a:custGeom>
            <a:avLst/>
            <a:gdLst/>
            <a:ahLst/>
            <a:cxnLst/>
            <a:rect l="l" t="t" r="r" b="b"/>
            <a:pathLst>
              <a:path w="1078491" h="44937">
                <a:moveTo>
                  <a:pt x="0" y="0"/>
                </a:moveTo>
                <a:lnTo>
                  <a:pt x="1078491" y="0"/>
                </a:lnTo>
                <a:lnTo>
                  <a:pt x="1078491" y="44937"/>
                </a:lnTo>
                <a:lnTo>
                  <a:pt x="0" y="44937"/>
                </a:lnTo>
                <a:lnTo>
                  <a:pt x="0" y="0"/>
                </a:lnTo>
                <a:close/>
              </a:path>
            </a:pathLst>
          </a:custGeom>
          <a:solidFill>
            <a:srgbClr val="4C7E9A"/>
          </a:solidFill>
          <a:ln/>
        </p:spPr>
      </p:sp>
      <p:sp>
        <p:nvSpPr>
          <p:cNvPr id="5" name="Shape 3"/>
          <p:cNvSpPr/>
          <p:nvPr/>
        </p:nvSpPr>
        <p:spPr>
          <a:xfrm>
            <a:off x="471840" y="1617736"/>
            <a:ext cx="7549435" cy="2190684"/>
          </a:xfrm>
          <a:custGeom>
            <a:avLst/>
            <a:gdLst/>
            <a:ahLst/>
            <a:cxnLst/>
            <a:rect l="l" t="t" r="r" b="b"/>
            <a:pathLst>
              <a:path w="7549435" h="2190684">
                <a:moveTo>
                  <a:pt x="44937" y="0"/>
                </a:moveTo>
                <a:lnTo>
                  <a:pt x="7459551" y="0"/>
                </a:lnTo>
                <a:cubicBezTo>
                  <a:pt x="7509192" y="0"/>
                  <a:pt x="7549435" y="40242"/>
                  <a:pt x="7549435" y="89884"/>
                </a:cubicBezTo>
                <a:lnTo>
                  <a:pt x="7549435" y="2100800"/>
                </a:lnTo>
                <a:cubicBezTo>
                  <a:pt x="7549435" y="2150442"/>
                  <a:pt x="7509192" y="2190684"/>
                  <a:pt x="7459551" y="2190684"/>
                </a:cubicBezTo>
                <a:lnTo>
                  <a:pt x="44937" y="2190684"/>
                </a:lnTo>
                <a:cubicBezTo>
                  <a:pt x="20119" y="2190684"/>
                  <a:pt x="0" y="2170565"/>
                  <a:pt x="0" y="2145747"/>
                </a:cubicBezTo>
                <a:lnTo>
                  <a:pt x="0" y="44937"/>
                </a:lnTo>
                <a:cubicBezTo>
                  <a:pt x="0" y="20119"/>
                  <a:pt x="20119" y="0"/>
                  <a:pt x="44937" y="0"/>
                </a:cubicBezTo>
                <a:close/>
              </a:path>
            </a:pathLst>
          </a:custGeom>
          <a:solidFill>
            <a:srgbClr val="3A5E78">
              <a:alpha val="20000"/>
            </a:srgbClr>
          </a:solidFill>
          <a:ln/>
        </p:spPr>
      </p:sp>
      <p:sp>
        <p:nvSpPr>
          <p:cNvPr id="6" name="Shape 4"/>
          <p:cNvSpPr/>
          <p:nvPr/>
        </p:nvSpPr>
        <p:spPr>
          <a:xfrm>
            <a:off x="471840" y="1617736"/>
            <a:ext cx="44937" cy="2190684"/>
          </a:xfrm>
          <a:custGeom>
            <a:avLst/>
            <a:gdLst/>
            <a:ahLst/>
            <a:cxnLst/>
            <a:rect l="l" t="t" r="r" b="b"/>
            <a:pathLst>
              <a:path w="44937" h="2190684">
                <a:moveTo>
                  <a:pt x="44937" y="0"/>
                </a:moveTo>
                <a:lnTo>
                  <a:pt x="44937" y="0"/>
                </a:lnTo>
                <a:lnTo>
                  <a:pt x="44937" y="2190684"/>
                </a:lnTo>
                <a:lnTo>
                  <a:pt x="44937" y="2190684"/>
                </a:lnTo>
                <a:cubicBezTo>
                  <a:pt x="20119" y="2190684"/>
                  <a:pt x="0" y="2170565"/>
                  <a:pt x="0" y="2145747"/>
                </a:cubicBezTo>
                <a:lnTo>
                  <a:pt x="0" y="44937"/>
                </a:lnTo>
                <a:cubicBezTo>
                  <a:pt x="0" y="20119"/>
                  <a:pt x="20119" y="0"/>
                  <a:pt x="44937" y="0"/>
                </a:cubicBezTo>
                <a:close/>
              </a:path>
            </a:pathLst>
          </a:custGeom>
          <a:solidFill>
            <a:srgbClr val="4C7E9A"/>
          </a:solidFill>
          <a:ln/>
        </p:spPr>
      </p:sp>
      <p:sp>
        <p:nvSpPr>
          <p:cNvPr id="7" name="Text 5"/>
          <p:cNvSpPr/>
          <p:nvPr/>
        </p:nvSpPr>
        <p:spPr>
          <a:xfrm>
            <a:off x="674057" y="1797484"/>
            <a:ext cx="7302281" cy="359497"/>
          </a:xfrm>
          <a:prstGeom prst="rect">
            <a:avLst/>
          </a:prstGeom>
          <a:noFill/>
          <a:ln/>
        </p:spPr>
        <p:txBody>
          <a:bodyPr wrap="square" lIns="0" tIns="0" rIns="0" bIns="0" rtlCol="0" anchor="ctr"/>
          <a:lstStyle/>
          <a:p>
            <a:pPr>
              <a:lnSpc>
                <a:spcPct val="110000"/>
              </a:lnSpc>
            </a:pPr>
            <a:r>
              <a:rPr lang="en-US" sz="2123" b="1" dirty="0">
                <a:solidFill>
                  <a:srgbClr val="4C7E9A"/>
                </a:solidFill>
                <a:latin typeface="MiSans" pitchFamily="34" charset="0"/>
                <a:ea typeface="MiSans" pitchFamily="34" charset="-122"/>
                <a:cs typeface="MiSans" pitchFamily="34" charset="-120"/>
              </a:rPr>
              <a:t>任务目标</a:t>
            </a:r>
            <a:endParaRPr lang="en-US" sz="1600" dirty="0"/>
          </a:p>
        </p:txBody>
      </p:sp>
      <p:sp>
        <p:nvSpPr>
          <p:cNvPr id="8" name="Text 6"/>
          <p:cNvSpPr/>
          <p:nvPr/>
        </p:nvSpPr>
        <p:spPr>
          <a:xfrm>
            <a:off x="674057" y="2291793"/>
            <a:ext cx="7268578" cy="662822"/>
          </a:xfrm>
          <a:prstGeom prst="rect">
            <a:avLst/>
          </a:prstGeom>
          <a:noFill/>
          <a:ln/>
        </p:spPr>
        <p:txBody>
          <a:bodyPr wrap="square" lIns="0" tIns="0" rIns="0" bIns="0" rtlCol="0" anchor="ctr"/>
          <a:lstStyle/>
          <a:p>
            <a:pPr>
              <a:lnSpc>
                <a:spcPct val="140000"/>
              </a:lnSpc>
            </a:pPr>
            <a:r>
              <a:rPr lang="en-US" sz="1592" dirty="0">
                <a:solidFill>
                  <a:srgbClr val="D1D5DB"/>
                </a:solidFill>
                <a:latin typeface="MiSans" pitchFamily="34" charset="0"/>
                <a:ea typeface="MiSans" pitchFamily="34" charset="-122"/>
                <a:cs typeface="MiSans" pitchFamily="34" charset="-120"/>
              </a:rPr>
              <a:t>基于房屋的各种特征来预测其销售价格，这是一个典型的</a:t>
            </a:r>
            <a:pPr>
              <a:lnSpc>
                <a:spcPct val="140000"/>
              </a:lnSpc>
            </a:pPr>
            <a:r>
              <a:rPr lang="en-US" sz="1592" b="1" dirty="0">
                <a:solidFill>
                  <a:srgbClr val="4C7E9A"/>
                </a:solidFill>
                <a:latin typeface="MiSans" pitchFamily="34" charset="0"/>
                <a:ea typeface="MiSans" pitchFamily="34" charset="-122"/>
                <a:cs typeface="MiSans" pitchFamily="34" charset="-120"/>
              </a:rPr>
              <a:t>回归问题</a:t>
            </a:r>
            <a:pPr>
              <a:lnSpc>
                <a:spcPct val="140000"/>
              </a:lnSpc>
            </a:pPr>
            <a:r>
              <a:rPr lang="en-US" sz="1592" dirty="0">
                <a:solidFill>
                  <a:srgbClr val="D1D5DB"/>
                </a:solidFill>
                <a:latin typeface="MiSans" pitchFamily="34" charset="0"/>
                <a:ea typeface="MiSans" pitchFamily="34" charset="-122"/>
                <a:cs typeface="MiSans" pitchFamily="34" charset="-120"/>
              </a:rPr>
              <a:t>。房价预测在房地产行业具有重要的实际应用价值，能够帮助买卖双方进行合理的定价决策。</a:t>
            </a:r>
            <a:endParaRPr lang="en-US" sz="1600" dirty="0"/>
          </a:p>
        </p:txBody>
      </p:sp>
      <p:sp>
        <p:nvSpPr>
          <p:cNvPr id="9" name="Shape 7"/>
          <p:cNvSpPr/>
          <p:nvPr/>
        </p:nvSpPr>
        <p:spPr>
          <a:xfrm>
            <a:off x="674057" y="3083809"/>
            <a:ext cx="7167469" cy="539245"/>
          </a:xfrm>
          <a:custGeom>
            <a:avLst/>
            <a:gdLst/>
            <a:ahLst/>
            <a:cxnLst/>
            <a:rect l="l" t="t" r="r" b="b"/>
            <a:pathLst>
              <a:path w="7167469" h="539245">
                <a:moveTo>
                  <a:pt x="89876" y="0"/>
                </a:moveTo>
                <a:lnTo>
                  <a:pt x="7077593" y="0"/>
                </a:lnTo>
                <a:cubicBezTo>
                  <a:pt x="7127230" y="0"/>
                  <a:pt x="7167469" y="40239"/>
                  <a:pt x="7167469" y="89876"/>
                </a:cubicBezTo>
                <a:lnTo>
                  <a:pt x="7167469" y="449369"/>
                </a:lnTo>
                <a:cubicBezTo>
                  <a:pt x="7167469" y="499006"/>
                  <a:pt x="7127230" y="539245"/>
                  <a:pt x="7077593" y="539245"/>
                </a:cubicBezTo>
                <a:lnTo>
                  <a:pt x="89876" y="539245"/>
                </a:lnTo>
                <a:cubicBezTo>
                  <a:pt x="40239" y="539245"/>
                  <a:pt x="0" y="499006"/>
                  <a:pt x="0" y="449369"/>
                </a:cubicBezTo>
                <a:lnTo>
                  <a:pt x="0" y="89876"/>
                </a:lnTo>
                <a:cubicBezTo>
                  <a:pt x="0" y="40272"/>
                  <a:pt x="40272" y="0"/>
                  <a:pt x="89876" y="0"/>
                </a:cubicBezTo>
                <a:close/>
              </a:path>
            </a:pathLst>
          </a:custGeom>
          <a:solidFill>
            <a:srgbClr val="181A1F">
              <a:alpha val="50196"/>
            </a:srgbClr>
          </a:solidFill>
          <a:ln/>
        </p:spPr>
      </p:sp>
      <p:sp>
        <p:nvSpPr>
          <p:cNvPr id="10" name="Shape 8"/>
          <p:cNvSpPr/>
          <p:nvPr/>
        </p:nvSpPr>
        <p:spPr>
          <a:xfrm>
            <a:off x="831337" y="3269175"/>
            <a:ext cx="179748" cy="179748"/>
          </a:xfrm>
          <a:custGeom>
            <a:avLst/>
            <a:gdLst/>
            <a:ahLst/>
            <a:cxnLst/>
            <a:rect l="l" t="t" r="r" b="b"/>
            <a:pathLst>
              <a:path w="179748" h="179748">
                <a:moveTo>
                  <a:pt x="22469" y="22469"/>
                </a:moveTo>
                <a:cubicBezTo>
                  <a:pt x="22469" y="16255"/>
                  <a:pt x="17448" y="11234"/>
                  <a:pt x="11234" y="11234"/>
                </a:cubicBezTo>
                <a:cubicBezTo>
                  <a:pt x="5020" y="11234"/>
                  <a:pt x="0" y="16255"/>
                  <a:pt x="0" y="22469"/>
                </a:cubicBezTo>
                <a:lnTo>
                  <a:pt x="0" y="140428"/>
                </a:lnTo>
                <a:cubicBezTo>
                  <a:pt x="0" y="155946"/>
                  <a:pt x="12568" y="168514"/>
                  <a:pt x="28086" y="168514"/>
                </a:cubicBezTo>
                <a:lnTo>
                  <a:pt x="168514" y="168514"/>
                </a:lnTo>
                <a:cubicBezTo>
                  <a:pt x="174728" y="168514"/>
                  <a:pt x="179748" y="163494"/>
                  <a:pt x="179748" y="157280"/>
                </a:cubicBezTo>
                <a:cubicBezTo>
                  <a:pt x="179748" y="151066"/>
                  <a:pt x="174728" y="146046"/>
                  <a:pt x="168514" y="146046"/>
                </a:cubicBezTo>
                <a:lnTo>
                  <a:pt x="28086" y="146046"/>
                </a:lnTo>
                <a:cubicBezTo>
                  <a:pt x="24996" y="146046"/>
                  <a:pt x="22469" y="143518"/>
                  <a:pt x="22469" y="140428"/>
                </a:cubicBezTo>
                <a:lnTo>
                  <a:pt x="22469" y="22469"/>
                </a:lnTo>
                <a:close/>
                <a:moveTo>
                  <a:pt x="165214" y="52871"/>
                </a:moveTo>
                <a:cubicBezTo>
                  <a:pt x="169602" y="48483"/>
                  <a:pt x="169602" y="41356"/>
                  <a:pt x="165214" y="36968"/>
                </a:cubicBezTo>
                <a:cubicBezTo>
                  <a:pt x="160826" y="32579"/>
                  <a:pt x="153699" y="32579"/>
                  <a:pt x="149311" y="36968"/>
                </a:cubicBezTo>
                <a:lnTo>
                  <a:pt x="112343" y="73971"/>
                </a:lnTo>
                <a:lnTo>
                  <a:pt x="92191" y="53854"/>
                </a:lnTo>
                <a:cubicBezTo>
                  <a:pt x="87803" y="49466"/>
                  <a:pt x="80676" y="49466"/>
                  <a:pt x="76288" y="53854"/>
                </a:cubicBezTo>
                <a:lnTo>
                  <a:pt x="42585" y="87557"/>
                </a:lnTo>
                <a:cubicBezTo>
                  <a:pt x="38197" y="91946"/>
                  <a:pt x="38197" y="99072"/>
                  <a:pt x="42585" y="103461"/>
                </a:cubicBezTo>
                <a:cubicBezTo>
                  <a:pt x="46973" y="107849"/>
                  <a:pt x="54100" y="107849"/>
                  <a:pt x="58488" y="103461"/>
                </a:cubicBezTo>
                <a:lnTo>
                  <a:pt x="84257" y="77692"/>
                </a:lnTo>
                <a:lnTo>
                  <a:pt x="104409" y="97844"/>
                </a:lnTo>
                <a:cubicBezTo>
                  <a:pt x="108797" y="102232"/>
                  <a:pt x="115924" y="102232"/>
                  <a:pt x="120312" y="97844"/>
                </a:cubicBezTo>
                <a:lnTo>
                  <a:pt x="165249" y="52906"/>
                </a:lnTo>
                <a:close/>
              </a:path>
            </a:pathLst>
          </a:custGeom>
          <a:solidFill>
            <a:srgbClr val="4C7E9A"/>
          </a:solidFill>
          <a:ln/>
        </p:spPr>
      </p:sp>
      <p:sp>
        <p:nvSpPr>
          <p:cNvPr id="11" name="Text 9"/>
          <p:cNvSpPr/>
          <p:nvPr/>
        </p:nvSpPr>
        <p:spPr>
          <a:xfrm>
            <a:off x="1113055" y="3218621"/>
            <a:ext cx="6683534" cy="269623"/>
          </a:xfrm>
          <a:prstGeom prst="rect">
            <a:avLst/>
          </a:prstGeom>
          <a:noFill/>
          <a:ln/>
        </p:spPr>
        <p:txBody>
          <a:bodyPr wrap="square" lIns="0" tIns="0" rIns="0" bIns="0" rtlCol="0" anchor="ctr"/>
          <a:lstStyle/>
          <a:p>
            <a:pPr>
              <a:lnSpc>
                <a:spcPct val="130000"/>
              </a:lnSpc>
            </a:pPr>
            <a:r>
              <a:rPr lang="en-US" sz="1415" dirty="0">
                <a:solidFill>
                  <a:srgbClr val="7E9AA8"/>
                </a:solidFill>
                <a:latin typeface="MiSans" pitchFamily="34" charset="0"/>
                <a:ea typeface="MiSans" pitchFamily="34" charset="-122"/>
                <a:cs typeface="MiSans" pitchFamily="34" charset="-120"/>
              </a:rPr>
              <a:t>这是一个经典的机器学习回归任务，适合展示集成学习的强大能力</a:t>
            </a:r>
            <a:endParaRPr lang="en-US" sz="1600" dirty="0"/>
          </a:p>
        </p:txBody>
      </p:sp>
      <p:sp>
        <p:nvSpPr>
          <p:cNvPr id="12" name="Shape 10"/>
          <p:cNvSpPr/>
          <p:nvPr/>
        </p:nvSpPr>
        <p:spPr>
          <a:xfrm>
            <a:off x="471840" y="3982551"/>
            <a:ext cx="7549435" cy="3707312"/>
          </a:xfrm>
          <a:custGeom>
            <a:avLst/>
            <a:gdLst/>
            <a:ahLst/>
            <a:cxnLst/>
            <a:rect l="l" t="t" r="r" b="b"/>
            <a:pathLst>
              <a:path w="7549435" h="3707312">
                <a:moveTo>
                  <a:pt x="44937" y="0"/>
                </a:moveTo>
                <a:lnTo>
                  <a:pt x="7459569" y="0"/>
                </a:lnTo>
                <a:cubicBezTo>
                  <a:pt x="7509201" y="0"/>
                  <a:pt x="7549435" y="40234"/>
                  <a:pt x="7549435" y="89865"/>
                </a:cubicBezTo>
                <a:lnTo>
                  <a:pt x="7549435" y="3617446"/>
                </a:lnTo>
                <a:cubicBezTo>
                  <a:pt x="7549435" y="3667078"/>
                  <a:pt x="7509201" y="3707312"/>
                  <a:pt x="7459569" y="3707312"/>
                </a:cubicBezTo>
                <a:lnTo>
                  <a:pt x="44937" y="3707312"/>
                </a:lnTo>
                <a:cubicBezTo>
                  <a:pt x="20119" y="3707312"/>
                  <a:pt x="0" y="3687193"/>
                  <a:pt x="0" y="3662375"/>
                </a:cubicBezTo>
                <a:lnTo>
                  <a:pt x="0" y="44937"/>
                </a:lnTo>
                <a:cubicBezTo>
                  <a:pt x="0" y="20119"/>
                  <a:pt x="20119" y="0"/>
                  <a:pt x="44937" y="0"/>
                </a:cubicBezTo>
                <a:close/>
              </a:path>
            </a:pathLst>
          </a:custGeom>
          <a:solidFill>
            <a:srgbClr val="3A5E78">
              <a:alpha val="20000"/>
            </a:srgbClr>
          </a:solidFill>
          <a:ln/>
        </p:spPr>
      </p:sp>
      <p:sp>
        <p:nvSpPr>
          <p:cNvPr id="13" name="Shape 11"/>
          <p:cNvSpPr/>
          <p:nvPr/>
        </p:nvSpPr>
        <p:spPr>
          <a:xfrm>
            <a:off x="471840" y="3982551"/>
            <a:ext cx="44937" cy="3707312"/>
          </a:xfrm>
          <a:custGeom>
            <a:avLst/>
            <a:gdLst/>
            <a:ahLst/>
            <a:cxnLst/>
            <a:rect l="l" t="t" r="r" b="b"/>
            <a:pathLst>
              <a:path w="44937" h="3707312">
                <a:moveTo>
                  <a:pt x="44937" y="0"/>
                </a:moveTo>
                <a:lnTo>
                  <a:pt x="44937" y="0"/>
                </a:lnTo>
                <a:lnTo>
                  <a:pt x="44937" y="3707312"/>
                </a:lnTo>
                <a:lnTo>
                  <a:pt x="44937" y="3707312"/>
                </a:lnTo>
                <a:cubicBezTo>
                  <a:pt x="20119" y="3707312"/>
                  <a:pt x="0" y="3687193"/>
                  <a:pt x="0" y="3662375"/>
                </a:cubicBezTo>
                <a:lnTo>
                  <a:pt x="0" y="44937"/>
                </a:lnTo>
                <a:cubicBezTo>
                  <a:pt x="0" y="20119"/>
                  <a:pt x="20119" y="0"/>
                  <a:pt x="44937" y="0"/>
                </a:cubicBezTo>
                <a:close/>
              </a:path>
            </a:pathLst>
          </a:custGeom>
          <a:solidFill>
            <a:srgbClr val="7E9AA8"/>
          </a:solidFill>
          <a:ln/>
        </p:spPr>
      </p:sp>
      <p:sp>
        <p:nvSpPr>
          <p:cNvPr id="14" name="Text 12"/>
          <p:cNvSpPr/>
          <p:nvPr/>
        </p:nvSpPr>
        <p:spPr>
          <a:xfrm>
            <a:off x="674057" y="4162300"/>
            <a:ext cx="7302281" cy="359497"/>
          </a:xfrm>
          <a:prstGeom prst="rect">
            <a:avLst/>
          </a:prstGeom>
          <a:noFill/>
          <a:ln/>
        </p:spPr>
        <p:txBody>
          <a:bodyPr wrap="square" lIns="0" tIns="0" rIns="0" bIns="0" rtlCol="0" anchor="ctr"/>
          <a:lstStyle/>
          <a:p>
            <a:pPr>
              <a:lnSpc>
                <a:spcPct val="110000"/>
              </a:lnSpc>
            </a:pPr>
            <a:r>
              <a:rPr lang="en-US" sz="2123" b="1" dirty="0">
                <a:solidFill>
                  <a:srgbClr val="7E9AA8"/>
                </a:solidFill>
                <a:latin typeface="MiSans" pitchFamily="34" charset="0"/>
                <a:ea typeface="MiSans" pitchFamily="34" charset="-122"/>
                <a:cs typeface="MiSans" pitchFamily="34" charset="-120"/>
              </a:rPr>
              <a:t>数据特点</a:t>
            </a:r>
            <a:endParaRPr lang="en-US" sz="1600" dirty="0"/>
          </a:p>
        </p:txBody>
      </p:sp>
      <p:sp>
        <p:nvSpPr>
          <p:cNvPr id="15" name="Text 13"/>
          <p:cNvSpPr/>
          <p:nvPr/>
        </p:nvSpPr>
        <p:spPr>
          <a:xfrm>
            <a:off x="674057" y="4656608"/>
            <a:ext cx="7257343" cy="292091"/>
          </a:xfrm>
          <a:prstGeom prst="rect">
            <a:avLst/>
          </a:prstGeom>
          <a:noFill/>
          <a:ln/>
        </p:spPr>
        <p:txBody>
          <a:bodyPr wrap="square" lIns="0" tIns="0" rIns="0" bIns="0" rtlCol="0" anchor="ctr"/>
          <a:lstStyle/>
          <a:p>
            <a:pPr>
              <a:lnSpc>
                <a:spcPct val="140000"/>
              </a:lnSpc>
            </a:pPr>
            <a:r>
              <a:rPr lang="en-US" sz="1415" dirty="0">
                <a:solidFill>
                  <a:srgbClr val="D1D5DB"/>
                </a:solidFill>
                <a:latin typeface="MiSans" pitchFamily="34" charset="0"/>
                <a:ea typeface="MiSans" pitchFamily="34" charset="-122"/>
                <a:cs typeface="MiSans" pitchFamily="34" charset="-120"/>
              </a:rPr>
              <a:t>这个数据集展现了几种典型的机器学习挑战：</a:t>
            </a:r>
            <a:endParaRPr lang="en-US" sz="1600" dirty="0"/>
          </a:p>
        </p:txBody>
      </p:sp>
      <p:sp>
        <p:nvSpPr>
          <p:cNvPr id="16" name="Shape 14"/>
          <p:cNvSpPr/>
          <p:nvPr/>
        </p:nvSpPr>
        <p:spPr>
          <a:xfrm>
            <a:off x="702142" y="5128448"/>
            <a:ext cx="224686" cy="224686"/>
          </a:xfrm>
          <a:custGeom>
            <a:avLst/>
            <a:gdLst/>
            <a:ahLst/>
            <a:cxnLst/>
            <a:rect l="l" t="t" r="r" b="b"/>
            <a:pathLst>
              <a:path w="224686" h="224686">
                <a:moveTo>
                  <a:pt x="102030" y="2282"/>
                </a:moveTo>
                <a:cubicBezTo>
                  <a:pt x="108569" y="-746"/>
                  <a:pt x="116117" y="-746"/>
                  <a:pt x="122655" y="2282"/>
                </a:cubicBezTo>
                <a:lnTo>
                  <a:pt x="218586" y="46605"/>
                </a:lnTo>
                <a:cubicBezTo>
                  <a:pt x="222316" y="48316"/>
                  <a:pt x="224686" y="52046"/>
                  <a:pt x="224686" y="56171"/>
                </a:cubicBezTo>
                <a:cubicBezTo>
                  <a:pt x="224686" y="60296"/>
                  <a:pt x="222316" y="64027"/>
                  <a:pt x="218586" y="65738"/>
                </a:cubicBezTo>
                <a:lnTo>
                  <a:pt x="122655" y="110061"/>
                </a:lnTo>
                <a:cubicBezTo>
                  <a:pt x="116117" y="113089"/>
                  <a:pt x="108569" y="113089"/>
                  <a:pt x="102030" y="110061"/>
                </a:cubicBezTo>
                <a:lnTo>
                  <a:pt x="6100" y="65738"/>
                </a:lnTo>
                <a:cubicBezTo>
                  <a:pt x="2370" y="63983"/>
                  <a:pt x="0" y="60253"/>
                  <a:pt x="0" y="56171"/>
                </a:cubicBezTo>
                <a:cubicBezTo>
                  <a:pt x="0" y="52090"/>
                  <a:pt x="2370" y="48316"/>
                  <a:pt x="6100" y="46605"/>
                </a:cubicBezTo>
                <a:lnTo>
                  <a:pt x="102030" y="2282"/>
                </a:lnTo>
                <a:close/>
                <a:moveTo>
                  <a:pt x="21108" y="95842"/>
                </a:moveTo>
                <a:lnTo>
                  <a:pt x="93209" y="129150"/>
                </a:lnTo>
                <a:cubicBezTo>
                  <a:pt x="105365" y="134767"/>
                  <a:pt x="119364" y="134767"/>
                  <a:pt x="131520" y="129150"/>
                </a:cubicBezTo>
                <a:lnTo>
                  <a:pt x="203621" y="95842"/>
                </a:lnTo>
                <a:lnTo>
                  <a:pt x="218586" y="102776"/>
                </a:lnTo>
                <a:cubicBezTo>
                  <a:pt x="222316" y="104488"/>
                  <a:pt x="224686" y="108218"/>
                  <a:pt x="224686" y="112343"/>
                </a:cubicBezTo>
                <a:cubicBezTo>
                  <a:pt x="224686" y="116468"/>
                  <a:pt x="222316" y="120198"/>
                  <a:pt x="218586" y="121909"/>
                </a:cubicBezTo>
                <a:lnTo>
                  <a:pt x="122655" y="166232"/>
                </a:lnTo>
                <a:cubicBezTo>
                  <a:pt x="116117" y="169260"/>
                  <a:pt x="108569" y="169260"/>
                  <a:pt x="102030" y="166232"/>
                </a:cubicBezTo>
                <a:lnTo>
                  <a:pt x="6100" y="121909"/>
                </a:lnTo>
                <a:cubicBezTo>
                  <a:pt x="2370" y="120154"/>
                  <a:pt x="0" y="116424"/>
                  <a:pt x="0" y="112343"/>
                </a:cubicBezTo>
                <a:cubicBezTo>
                  <a:pt x="0" y="108262"/>
                  <a:pt x="2370" y="104488"/>
                  <a:pt x="6100" y="102776"/>
                </a:cubicBezTo>
                <a:lnTo>
                  <a:pt x="21064" y="95842"/>
                </a:lnTo>
                <a:close/>
                <a:moveTo>
                  <a:pt x="6100" y="158947"/>
                </a:moveTo>
                <a:lnTo>
                  <a:pt x="21064" y="152014"/>
                </a:lnTo>
                <a:lnTo>
                  <a:pt x="93166" y="185322"/>
                </a:lnTo>
                <a:cubicBezTo>
                  <a:pt x="105321" y="190939"/>
                  <a:pt x="119320" y="190939"/>
                  <a:pt x="131476" y="185322"/>
                </a:cubicBezTo>
                <a:lnTo>
                  <a:pt x="203577" y="152014"/>
                </a:lnTo>
                <a:lnTo>
                  <a:pt x="218542" y="158947"/>
                </a:lnTo>
                <a:cubicBezTo>
                  <a:pt x="222272" y="160659"/>
                  <a:pt x="224642" y="164389"/>
                  <a:pt x="224642" y="168514"/>
                </a:cubicBezTo>
                <a:cubicBezTo>
                  <a:pt x="224642" y="172639"/>
                  <a:pt x="222272" y="176369"/>
                  <a:pt x="218542" y="178081"/>
                </a:cubicBezTo>
                <a:lnTo>
                  <a:pt x="122612" y="222404"/>
                </a:lnTo>
                <a:cubicBezTo>
                  <a:pt x="116073" y="225432"/>
                  <a:pt x="108525" y="225432"/>
                  <a:pt x="101986" y="222404"/>
                </a:cubicBezTo>
                <a:lnTo>
                  <a:pt x="6100" y="178081"/>
                </a:lnTo>
                <a:cubicBezTo>
                  <a:pt x="2370" y="176326"/>
                  <a:pt x="0" y="172595"/>
                  <a:pt x="0" y="168514"/>
                </a:cubicBezTo>
                <a:cubicBezTo>
                  <a:pt x="0" y="164433"/>
                  <a:pt x="2370" y="160659"/>
                  <a:pt x="6100" y="158947"/>
                </a:cubicBezTo>
                <a:close/>
              </a:path>
            </a:pathLst>
          </a:custGeom>
          <a:solidFill>
            <a:srgbClr val="4C7E9A"/>
          </a:solidFill>
          <a:ln/>
        </p:spPr>
      </p:sp>
      <p:sp>
        <p:nvSpPr>
          <p:cNvPr id="17" name="Text 15"/>
          <p:cNvSpPr/>
          <p:nvPr/>
        </p:nvSpPr>
        <p:spPr>
          <a:xfrm>
            <a:off x="1089725" y="5083511"/>
            <a:ext cx="5448625" cy="314560"/>
          </a:xfrm>
          <a:prstGeom prst="rect">
            <a:avLst/>
          </a:prstGeom>
          <a:noFill/>
          <a:ln/>
        </p:spPr>
        <p:txBody>
          <a:bodyPr wrap="square" lIns="0" tIns="0" rIns="0" bIns="0" rtlCol="0" anchor="ctr"/>
          <a:lstStyle/>
          <a:p>
            <a:pPr>
              <a:lnSpc>
                <a:spcPct val="130000"/>
              </a:lnSpc>
            </a:pPr>
            <a:r>
              <a:rPr lang="en-US" sz="1592" b="1" dirty="0">
                <a:solidFill>
                  <a:srgbClr val="D1D5DB"/>
                </a:solidFill>
                <a:latin typeface="MiSans" pitchFamily="34" charset="0"/>
                <a:ea typeface="MiSans" pitchFamily="34" charset="-122"/>
                <a:cs typeface="MiSans" pitchFamily="34" charset="-120"/>
              </a:rPr>
              <a:t>混合数据类型</a:t>
            </a:r>
            <a:endParaRPr lang="en-US" sz="1600" dirty="0"/>
          </a:p>
        </p:txBody>
      </p:sp>
      <p:sp>
        <p:nvSpPr>
          <p:cNvPr id="18" name="Text 16"/>
          <p:cNvSpPr/>
          <p:nvPr/>
        </p:nvSpPr>
        <p:spPr>
          <a:xfrm>
            <a:off x="1089725" y="5398070"/>
            <a:ext cx="5426156" cy="224686"/>
          </a:xfrm>
          <a:prstGeom prst="rect">
            <a:avLst/>
          </a:prstGeom>
          <a:noFill/>
          <a:ln/>
        </p:spPr>
        <p:txBody>
          <a:bodyPr wrap="square" lIns="0" tIns="0" rIns="0" bIns="0" rtlCol="0" anchor="ctr"/>
          <a:lstStyle/>
          <a:p>
            <a:pPr>
              <a:lnSpc>
                <a:spcPct val="120000"/>
              </a:lnSpc>
            </a:pPr>
            <a:r>
              <a:rPr lang="en-US" sz="1238" dirty="0">
                <a:solidFill>
                  <a:srgbClr val="7E9AA8"/>
                </a:solidFill>
                <a:latin typeface="MiSans" pitchFamily="34" charset="0"/>
                <a:ea typeface="MiSans" pitchFamily="34" charset="-122"/>
                <a:cs typeface="MiSans" pitchFamily="34" charset="-120"/>
              </a:rPr>
              <a:t>既有数值型特征（面积、房间数），也有类别型特征（地理位置、建筑风格）</a:t>
            </a:r>
            <a:endParaRPr lang="en-US" sz="1600" dirty="0"/>
          </a:p>
        </p:txBody>
      </p:sp>
      <p:sp>
        <p:nvSpPr>
          <p:cNvPr id="19" name="Shape 17"/>
          <p:cNvSpPr/>
          <p:nvPr/>
        </p:nvSpPr>
        <p:spPr>
          <a:xfrm>
            <a:off x="702142" y="5757567"/>
            <a:ext cx="224686" cy="224686"/>
          </a:xfrm>
          <a:custGeom>
            <a:avLst/>
            <a:gdLst/>
            <a:ahLst/>
            <a:cxnLst/>
            <a:rect l="l" t="t" r="r" b="b"/>
            <a:pathLst>
              <a:path w="224686" h="224686">
                <a:moveTo>
                  <a:pt x="112343" y="224686"/>
                </a:moveTo>
                <a:cubicBezTo>
                  <a:pt x="174346" y="224686"/>
                  <a:pt x="224686" y="174346"/>
                  <a:pt x="224686" y="112343"/>
                </a:cubicBezTo>
                <a:cubicBezTo>
                  <a:pt x="224686" y="50339"/>
                  <a:pt x="174346" y="0"/>
                  <a:pt x="112343" y="0"/>
                </a:cubicBezTo>
                <a:cubicBezTo>
                  <a:pt x="50339" y="0"/>
                  <a:pt x="0" y="50339"/>
                  <a:pt x="0" y="112343"/>
                </a:cubicBezTo>
                <a:cubicBezTo>
                  <a:pt x="0" y="174346"/>
                  <a:pt x="50339" y="224686"/>
                  <a:pt x="112343" y="224686"/>
                </a:cubicBezTo>
                <a:close/>
                <a:moveTo>
                  <a:pt x="112343" y="77236"/>
                </a:moveTo>
                <a:cubicBezTo>
                  <a:pt x="104575" y="77236"/>
                  <a:pt x="98300" y="83511"/>
                  <a:pt x="98300" y="91279"/>
                </a:cubicBezTo>
                <a:cubicBezTo>
                  <a:pt x="98300" y="97115"/>
                  <a:pt x="93604" y="101811"/>
                  <a:pt x="87768" y="101811"/>
                </a:cubicBezTo>
                <a:cubicBezTo>
                  <a:pt x="81931" y="101811"/>
                  <a:pt x="77236" y="97115"/>
                  <a:pt x="77236" y="91279"/>
                </a:cubicBezTo>
                <a:cubicBezTo>
                  <a:pt x="77236" y="71882"/>
                  <a:pt x="92946" y="56171"/>
                  <a:pt x="112343" y="56171"/>
                </a:cubicBezTo>
                <a:cubicBezTo>
                  <a:pt x="131739" y="56171"/>
                  <a:pt x="147450" y="71882"/>
                  <a:pt x="147450" y="91279"/>
                </a:cubicBezTo>
                <a:cubicBezTo>
                  <a:pt x="147450" y="111992"/>
                  <a:pt x="131652" y="120768"/>
                  <a:pt x="122875" y="123972"/>
                </a:cubicBezTo>
                <a:lnTo>
                  <a:pt x="122875" y="125640"/>
                </a:lnTo>
                <a:cubicBezTo>
                  <a:pt x="122875" y="131476"/>
                  <a:pt x="118179" y="136172"/>
                  <a:pt x="112343" y="136172"/>
                </a:cubicBezTo>
                <a:cubicBezTo>
                  <a:pt x="106506" y="136172"/>
                  <a:pt x="101811" y="131476"/>
                  <a:pt x="101811" y="125640"/>
                </a:cubicBezTo>
                <a:lnTo>
                  <a:pt x="101811" y="122085"/>
                </a:lnTo>
                <a:cubicBezTo>
                  <a:pt x="101811" y="113089"/>
                  <a:pt x="108305" y="106638"/>
                  <a:pt x="115020" y="104444"/>
                </a:cubicBezTo>
                <a:cubicBezTo>
                  <a:pt x="117828" y="103522"/>
                  <a:pt x="120812" y="102030"/>
                  <a:pt x="123007" y="99924"/>
                </a:cubicBezTo>
                <a:cubicBezTo>
                  <a:pt x="124894" y="98081"/>
                  <a:pt x="126386" y="95535"/>
                  <a:pt x="126386" y="91322"/>
                </a:cubicBezTo>
                <a:cubicBezTo>
                  <a:pt x="126386" y="83555"/>
                  <a:pt x="120110" y="77280"/>
                  <a:pt x="112343" y="77280"/>
                </a:cubicBezTo>
                <a:close/>
                <a:moveTo>
                  <a:pt x="98300" y="161493"/>
                </a:moveTo>
                <a:cubicBezTo>
                  <a:pt x="98300" y="153742"/>
                  <a:pt x="104592" y="147450"/>
                  <a:pt x="112343" y="147450"/>
                </a:cubicBezTo>
                <a:cubicBezTo>
                  <a:pt x="120093" y="147450"/>
                  <a:pt x="126386" y="153742"/>
                  <a:pt x="126386" y="161493"/>
                </a:cubicBezTo>
                <a:cubicBezTo>
                  <a:pt x="126386" y="169243"/>
                  <a:pt x="120093" y="175536"/>
                  <a:pt x="112343" y="175536"/>
                </a:cubicBezTo>
                <a:cubicBezTo>
                  <a:pt x="104592" y="175536"/>
                  <a:pt x="98300" y="169243"/>
                  <a:pt x="98300" y="161493"/>
                </a:cubicBezTo>
                <a:close/>
              </a:path>
            </a:pathLst>
          </a:custGeom>
          <a:solidFill>
            <a:srgbClr val="4C7E9A"/>
          </a:solidFill>
          <a:ln/>
        </p:spPr>
      </p:sp>
      <p:sp>
        <p:nvSpPr>
          <p:cNvPr id="20" name="Text 18"/>
          <p:cNvSpPr/>
          <p:nvPr/>
        </p:nvSpPr>
        <p:spPr>
          <a:xfrm>
            <a:off x="1089725" y="5712630"/>
            <a:ext cx="3875826" cy="314560"/>
          </a:xfrm>
          <a:prstGeom prst="rect">
            <a:avLst/>
          </a:prstGeom>
          <a:noFill/>
          <a:ln/>
        </p:spPr>
        <p:txBody>
          <a:bodyPr wrap="square" lIns="0" tIns="0" rIns="0" bIns="0" rtlCol="0" anchor="ctr"/>
          <a:lstStyle/>
          <a:p>
            <a:pPr>
              <a:lnSpc>
                <a:spcPct val="130000"/>
              </a:lnSpc>
            </a:pPr>
            <a:r>
              <a:rPr lang="en-US" sz="1592" b="1" dirty="0">
                <a:solidFill>
                  <a:srgbClr val="D1D5DB"/>
                </a:solidFill>
                <a:latin typeface="MiSans" pitchFamily="34" charset="0"/>
                <a:ea typeface="MiSans" pitchFamily="34" charset="-122"/>
                <a:cs typeface="MiSans" pitchFamily="34" charset="-120"/>
              </a:rPr>
              <a:t>缺失值问题</a:t>
            </a:r>
            <a:endParaRPr lang="en-US" sz="1600" dirty="0"/>
          </a:p>
        </p:txBody>
      </p:sp>
      <p:sp>
        <p:nvSpPr>
          <p:cNvPr id="21" name="Text 19"/>
          <p:cNvSpPr/>
          <p:nvPr/>
        </p:nvSpPr>
        <p:spPr>
          <a:xfrm>
            <a:off x="1089725" y="6027190"/>
            <a:ext cx="3853357" cy="224686"/>
          </a:xfrm>
          <a:prstGeom prst="rect">
            <a:avLst/>
          </a:prstGeom>
          <a:noFill/>
          <a:ln/>
        </p:spPr>
        <p:txBody>
          <a:bodyPr wrap="square" lIns="0" tIns="0" rIns="0" bIns="0" rtlCol="0" anchor="ctr"/>
          <a:lstStyle/>
          <a:p>
            <a:pPr>
              <a:lnSpc>
                <a:spcPct val="120000"/>
              </a:lnSpc>
            </a:pPr>
            <a:r>
              <a:rPr lang="en-US" sz="1238" dirty="0">
                <a:solidFill>
                  <a:srgbClr val="7E9AA8"/>
                </a:solidFill>
                <a:latin typeface="MiSans" pitchFamily="34" charset="0"/>
                <a:ea typeface="MiSans" pitchFamily="34" charset="-122"/>
                <a:cs typeface="MiSans" pitchFamily="34" charset="-120"/>
              </a:rPr>
              <a:t>部分特征信息未被完整记录（建造年份、车库容量等）</a:t>
            </a:r>
            <a:endParaRPr lang="en-US" sz="1600" dirty="0"/>
          </a:p>
        </p:txBody>
      </p:sp>
      <p:sp>
        <p:nvSpPr>
          <p:cNvPr id="22" name="Shape 20"/>
          <p:cNvSpPr/>
          <p:nvPr/>
        </p:nvSpPr>
        <p:spPr>
          <a:xfrm>
            <a:off x="702142" y="6386687"/>
            <a:ext cx="224686" cy="224686"/>
          </a:xfrm>
          <a:custGeom>
            <a:avLst/>
            <a:gdLst/>
            <a:ahLst/>
            <a:cxnLst/>
            <a:rect l="l" t="t" r="r" b="b"/>
            <a:pathLst>
              <a:path w="224686" h="224686">
                <a:moveTo>
                  <a:pt x="112343" y="0"/>
                </a:moveTo>
                <a:cubicBezTo>
                  <a:pt x="118794" y="0"/>
                  <a:pt x="124718" y="3555"/>
                  <a:pt x="127790" y="9216"/>
                </a:cubicBezTo>
                <a:lnTo>
                  <a:pt x="222579" y="184751"/>
                </a:lnTo>
                <a:cubicBezTo>
                  <a:pt x="225519" y="190193"/>
                  <a:pt x="225388" y="196775"/>
                  <a:pt x="222228" y="202085"/>
                </a:cubicBezTo>
                <a:cubicBezTo>
                  <a:pt x="219068" y="207395"/>
                  <a:pt x="213320" y="210643"/>
                  <a:pt x="207132" y="210643"/>
                </a:cubicBezTo>
                <a:lnTo>
                  <a:pt x="17554" y="210643"/>
                </a:lnTo>
                <a:cubicBezTo>
                  <a:pt x="11366" y="210643"/>
                  <a:pt x="5661" y="207395"/>
                  <a:pt x="2457" y="202085"/>
                </a:cubicBezTo>
                <a:cubicBezTo>
                  <a:pt x="-746" y="196775"/>
                  <a:pt x="-834" y="190193"/>
                  <a:pt x="2106" y="184751"/>
                </a:cubicBezTo>
                <a:lnTo>
                  <a:pt x="96896" y="9216"/>
                </a:lnTo>
                <a:cubicBezTo>
                  <a:pt x="99968" y="3555"/>
                  <a:pt x="105892" y="0"/>
                  <a:pt x="112343" y="0"/>
                </a:cubicBezTo>
                <a:close/>
                <a:moveTo>
                  <a:pt x="112343" y="73725"/>
                </a:moveTo>
                <a:cubicBezTo>
                  <a:pt x="106506" y="73725"/>
                  <a:pt x="101811" y="78421"/>
                  <a:pt x="101811" y="84257"/>
                </a:cubicBezTo>
                <a:lnTo>
                  <a:pt x="101811" y="133407"/>
                </a:lnTo>
                <a:cubicBezTo>
                  <a:pt x="101811" y="139244"/>
                  <a:pt x="106506" y="143939"/>
                  <a:pt x="112343" y="143939"/>
                </a:cubicBezTo>
                <a:cubicBezTo>
                  <a:pt x="118179" y="143939"/>
                  <a:pt x="122875" y="139244"/>
                  <a:pt x="122875" y="133407"/>
                </a:cubicBezTo>
                <a:lnTo>
                  <a:pt x="122875" y="84257"/>
                </a:lnTo>
                <a:cubicBezTo>
                  <a:pt x="122875" y="78421"/>
                  <a:pt x="118179" y="73725"/>
                  <a:pt x="112343" y="73725"/>
                </a:cubicBezTo>
                <a:close/>
                <a:moveTo>
                  <a:pt x="124060" y="168514"/>
                </a:moveTo>
                <a:cubicBezTo>
                  <a:pt x="124326" y="164165"/>
                  <a:pt x="122157" y="160027"/>
                  <a:pt x="118429" y="157772"/>
                </a:cubicBezTo>
                <a:cubicBezTo>
                  <a:pt x="114701" y="155517"/>
                  <a:pt x="110029" y="155517"/>
                  <a:pt x="106300" y="157772"/>
                </a:cubicBezTo>
                <a:cubicBezTo>
                  <a:pt x="102572" y="160027"/>
                  <a:pt x="100403" y="164165"/>
                  <a:pt x="100670" y="168514"/>
                </a:cubicBezTo>
                <a:cubicBezTo>
                  <a:pt x="100403" y="172863"/>
                  <a:pt x="102572" y="177001"/>
                  <a:pt x="106300" y="179256"/>
                </a:cubicBezTo>
                <a:cubicBezTo>
                  <a:pt x="110029" y="181512"/>
                  <a:pt x="114701" y="181512"/>
                  <a:pt x="118429" y="179256"/>
                </a:cubicBezTo>
                <a:cubicBezTo>
                  <a:pt x="122157" y="177001"/>
                  <a:pt x="124326" y="172863"/>
                  <a:pt x="124060" y="168514"/>
                </a:cubicBezTo>
                <a:close/>
              </a:path>
            </a:pathLst>
          </a:custGeom>
          <a:solidFill>
            <a:srgbClr val="4C7E9A"/>
          </a:solidFill>
          <a:ln/>
        </p:spPr>
      </p:sp>
      <p:sp>
        <p:nvSpPr>
          <p:cNvPr id="23" name="Text 21"/>
          <p:cNvSpPr/>
          <p:nvPr/>
        </p:nvSpPr>
        <p:spPr>
          <a:xfrm>
            <a:off x="1089725" y="6341750"/>
            <a:ext cx="4033106" cy="314560"/>
          </a:xfrm>
          <a:prstGeom prst="rect">
            <a:avLst/>
          </a:prstGeom>
          <a:noFill/>
          <a:ln/>
        </p:spPr>
        <p:txBody>
          <a:bodyPr wrap="square" lIns="0" tIns="0" rIns="0" bIns="0" rtlCol="0" anchor="ctr"/>
          <a:lstStyle/>
          <a:p>
            <a:pPr>
              <a:lnSpc>
                <a:spcPct val="130000"/>
              </a:lnSpc>
            </a:pPr>
            <a:r>
              <a:rPr lang="en-US" sz="1592" b="1" dirty="0">
                <a:solidFill>
                  <a:srgbClr val="D1D5DB"/>
                </a:solidFill>
                <a:latin typeface="MiSans" pitchFamily="34" charset="0"/>
                <a:ea typeface="MiSans" pitchFamily="34" charset="-122"/>
                <a:cs typeface="MiSans" pitchFamily="34" charset="-120"/>
              </a:rPr>
              <a:t>噪声和异常值</a:t>
            </a:r>
            <a:endParaRPr lang="en-US" sz="1600" dirty="0"/>
          </a:p>
        </p:txBody>
      </p:sp>
      <p:sp>
        <p:nvSpPr>
          <p:cNvPr id="24" name="Text 22"/>
          <p:cNvSpPr/>
          <p:nvPr/>
        </p:nvSpPr>
        <p:spPr>
          <a:xfrm>
            <a:off x="1089725" y="6656310"/>
            <a:ext cx="4010637" cy="224686"/>
          </a:xfrm>
          <a:prstGeom prst="rect">
            <a:avLst/>
          </a:prstGeom>
          <a:noFill/>
          <a:ln/>
        </p:spPr>
        <p:txBody>
          <a:bodyPr wrap="square" lIns="0" tIns="0" rIns="0" bIns="0" rtlCol="0" anchor="ctr"/>
          <a:lstStyle/>
          <a:p>
            <a:pPr>
              <a:lnSpc>
                <a:spcPct val="120000"/>
              </a:lnSpc>
            </a:pPr>
            <a:r>
              <a:rPr lang="en-US" sz="1238" dirty="0">
                <a:solidFill>
                  <a:srgbClr val="7E9AA8"/>
                </a:solidFill>
                <a:latin typeface="MiSans" pitchFamily="34" charset="0"/>
                <a:ea typeface="MiSans" pitchFamily="34" charset="-122"/>
                <a:cs typeface="MiSans" pitchFamily="34" charset="-120"/>
              </a:rPr>
              <a:t>由于测量误差、记录错误或特殊情况导致的数据质量问题</a:t>
            </a:r>
            <a:endParaRPr lang="en-US" sz="1600" dirty="0"/>
          </a:p>
        </p:txBody>
      </p:sp>
      <p:sp>
        <p:nvSpPr>
          <p:cNvPr id="25" name="Shape 23"/>
          <p:cNvSpPr/>
          <p:nvPr/>
        </p:nvSpPr>
        <p:spPr>
          <a:xfrm>
            <a:off x="702142" y="7015806"/>
            <a:ext cx="224686" cy="224686"/>
          </a:xfrm>
          <a:custGeom>
            <a:avLst/>
            <a:gdLst/>
            <a:ahLst/>
            <a:cxnLst/>
            <a:rect l="l" t="t" r="r" b="b"/>
            <a:pathLst>
              <a:path w="224686" h="224686">
                <a:moveTo>
                  <a:pt x="14043" y="14043"/>
                </a:moveTo>
                <a:cubicBezTo>
                  <a:pt x="21810" y="14043"/>
                  <a:pt x="28086" y="20318"/>
                  <a:pt x="28086" y="28086"/>
                </a:cubicBezTo>
                <a:lnTo>
                  <a:pt x="28086" y="175536"/>
                </a:lnTo>
                <a:cubicBezTo>
                  <a:pt x="28086" y="179397"/>
                  <a:pt x="31245" y="182557"/>
                  <a:pt x="35107" y="182557"/>
                </a:cubicBezTo>
                <a:lnTo>
                  <a:pt x="210643" y="182557"/>
                </a:lnTo>
                <a:cubicBezTo>
                  <a:pt x="218410" y="182557"/>
                  <a:pt x="224686" y="188832"/>
                  <a:pt x="224686" y="196600"/>
                </a:cubicBezTo>
                <a:cubicBezTo>
                  <a:pt x="224686" y="204367"/>
                  <a:pt x="218410" y="210643"/>
                  <a:pt x="210643" y="210643"/>
                </a:cubicBezTo>
                <a:lnTo>
                  <a:pt x="35107" y="210643"/>
                </a:lnTo>
                <a:cubicBezTo>
                  <a:pt x="15710" y="210643"/>
                  <a:pt x="0" y="194932"/>
                  <a:pt x="0" y="175536"/>
                </a:cubicBezTo>
                <a:lnTo>
                  <a:pt x="0" y="28086"/>
                </a:lnTo>
                <a:cubicBezTo>
                  <a:pt x="0" y="20318"/>
                  <a:pt x="6275" y="14043"/>
                  <a:pt x="14043" y="14043"/>
                </a:cubicBezTo>
                <a:close/>
                <a:moveTo>
                  <a:pt x="105321" y="42129"/>
                </a:moveTo>
                <a:cubicBezTo>
                  <a:pt x="108262" y="42129"/>
                  <a:pt x="111070" y="43357"/>
                  <a:pt x="113089" y="45551"/>
                </a:cubicBezTo>
                <a:lnTo>
                  <a:pt x="144290" y="79562"/>
                </a:lnTo>
                <a:lnTo>
                  <a:pt x="164565" y="59243"/>
                </a:lnTo>
                <a:cubicBezTo>
                  <a:pt x="168690" y="55118"/>
                  <a:pt x="175360" y="55118"/>
                  <a:pt x="179441" y="59243"/>
                </a:cubicBezTo>
                <a:lnTo>
                  <a:pt x="207527" y="87329"/>
                </a:lnTo>
                <a:cubicBezTo>
                  <a:pt x="209502" y="89304"/>
                  <a:pt x="210599" y="91981"/>
                  <a:pt x="210599" y="94789"/>
                </a:cubicBezTo>
                <a:lnTo>
                  <a:pt x="210599" y="143939"/>
                </a:lnTo>
                <a:cubicBezTo>
                  <a:pt x="210599" y="149776"/>
                  <a:pt x="205903" y="154471"/>
                  <a:pt x="200067" y="154471"/>
                </a:cubicBezTo>
                <a:lnTo>
                  <a:pt x="66660" y="154471"/>
                </a:lnTo>
                <a:cubicBezTo>
                  <a:pt x="60823" y="154471"/>
                  <a:pt x="56128" y="149776"/>
                  <a:pt x="56128" y="143939"/>
                </a:cubicBezTo>
                <a:lnTo>
                  <a:pt x="56128" y="94789"/>
                </a:lnTo>
                <a:cubicBezTo>
                  <a:pt x="56128" y="92156"/>
                  <a:pt x="57137" y="89611"/>
                  <a:pt x="58892" y="87680"/>
                </a:cubicBezTo>
                <a:lnTo>
                  <a:pt x="97510" y="45551"/>
                </a:lnTo>
                <a:cubicBezTo>
                  <a:pt x="99485" y="43357"/>
                  <a:pt x="102337" y="42129"/>
                  <a:pt x="105277" y="42129"/>
                </a:cubicBezTo>
                <a:close/>
              </a:path>
            </a:pathLst>
          </a:custGeom>
          <a:solidFill>
            <a:srgbClr val="4C7E9A"/>
          </a:solidFill>
          <a:ln/>
        </p:spPr>
      </p:sp>
      <p:sp>
        <p:nvSpPr>
          <p:cNvPr id="26" name="Text 24"/>
          <p:cNvSpPr/>
          <p:nvPr/>
        </p:nvSpPr>
        <p:spPr>
          <a:xfrm>
            <a:off x="1089725" y="6970869"/>
            <a:ext cx="3875826" cy="314560"/>
          </a:xfrm>
          <a:prstGeom prst="rect">
            <a:avLst/>
          </a:prstGeom>
          <a:noFill/>
          <a:ln/>
        </p:spPr>
        <p:txBody>
          <a:bodyPr wrap="square" lIns="0" tIns="0" rIns="0" bIns="0" rtlCol="0" anchor="ctr"/>
          <a:lstStyle/>
          <a:p>
            <a:pPr>
              <a:lnSpc>
                <a:spcPct val="130000"/>
              </a:lnSpc>
            </a:pPr>
            <a:r>
              <a:rPr lang="en-US" sz="1592" b="1" dirty="0">
                <a:solidFill>
                  <a:srgbClr val="D1D5DB"/>
                </a:solidFill>
                <a:latin typeface="MiSans" pitchFamily="34" charset="0"/>
                <a:ea typeface="MiSans" pitchFamily="34" charset="-122"/>
                <a:cs typeface="MiSans" pitchFamily="34" charset="-120"/>
              </a:rPr>
              <a:t>价格右偏分布</a:t>
            </a:r>
            <a:endParaRPr lang="en-US" sz="1600" dirty="0"/>
          </a:p>
        </p:txBody>
      </p:sp>
      <p:sp>
        <p:nvSpPr>
          <p:cNvPr id="27" name="Text 25"/>
          <p:cNvSpPr/>
          <p:nvPr/>
        </p:nvSpPr>
        <p:spPr>
          <a:xfrm>
            <a:off x="1089725" y="7285429"/>
            <a:ext cx="3853357" cy="224686"/>
          </a:xfrm>
          <a:prstGeom prst="rect">
            <a:avLst/>
          </a:prstGeom>
          <a:noFill/>
          <a:ln/>
        </p:spPr>
        <p:txBody>
          <a:bodyPr wrap="square" lIns="0" tIns="0" rIns="0" bIns="0" rtlCol="0" anchor="ctr"/>
          <a:lstStyle/>
          <a:p>
            <a:pPr>
              <a:lnSpc>
                <a:spcPct val="120000"/>
              </a:lnSpc>
            </a:pPr>
            <a:r>
              <a:rPr lang="en-US" sz="1238" dirty="0">
                <a:solidFill>
                  <a:srgbClr val="7E9AA8"/>
                </a:solidFill>
                <a:latin typeface="MiSans" pitchFamily="34" charset="0"/>
                <a:ea typeface="MiSans" pitchFamily="34" charset="-122"/>
                <a:cs typeface="MiSans" pitchFamily="34" charset="-120"/>
              </a:rPr>
              <a:t>少数高价房产会拉高整体价格分布，需要进行对数变换</a:t>
            </a:r>
            <a:endParaRPr lang="en-US" sz="1600" dirty="0"/>
          </a:p>
        </p:txBody>
      </p:sp>
      <p:sp>
        <p:nvSpPr>
          <p:cNvPr id="28" name="Shape 26"/>
          <p:cNvSpPr/>
          <p:nvPr/>
        </p:nvSpPr>
        <p:spPr>
          <a:xfrm>
            <a:off x="8246574" y="1623353"/>
            <a:ext cx="7560669" cy="2168216"/>
          </a:xfrm>
          <a:custGeom>
            <a:avLst/>
            <a:gdLst/>
            <a:ahLst/>
            <a:cxnLst/>
            <a:rect l="l" t="t" r="r" b="b"/>
            <a:pathLst>
              <a:path w="7560669" h="2168216">
                <a:moveTo>
                  <a:pt x="89873" y="0"/>
                </a:moveTo>
                <a:lnTo>
                  <a:pt x="7470796" y="0"/>
                </a:lnTo>
                <a:cubicBezTo>
                  <a:pt x="7520432" y="0"/>
                  <a:pt x="7560669" y="40237"/>
                  <a:pt x="7560669" y="89873"/>
                </a:cubicBezTo>
                <a:lnTo>
                  <a:pt x="7560669" y="2078343"/>
                </a:lnTo>
                <a:cubicBezTo>
                  <a:pt x="7560669" y="2127978"/>
                  <a:pt x="7520432" y="2168216"/>
                  <a:pt x="7470796" y="2168216"/>
                </a:cubicBezTo>
                <a:lnTo>
                  <a:pt x="89873" y="2168216"/>
                </a:lnTo>
                <a:cubicBezTo>
                  <a:pt x="40237" y="2168216"/>
                  <a:pt x="0" y="2127978"/>
                  <a:pt x="0" y="2078343"/>
                </a:cubicBezTo>
                <a:lnTo>
                  <a:pt x="0" y="89873"/>
                </a:lnTo>
                <a:cubicBezTo>
                  <a:pt x="0" y="40271"/>
                  <a:pt x="40271" y="0"/>
                  <a:pt x="89873" y="0"/>
                </a:cubicBezTo>
                <a:close/>
              </a:path>
            </a:pathLst>
          </a:custGeom>
          <a:solidFill>
            <a:srgbClr val="3A5E78">
              <a:alpha val="20000"/>
            </a:srgbClr>
          </a:solidFill>
          <a:ln w="12700">
            <a:solidFill>
              <a:srgbClr val="4C7E9A">
                <a:alpha val="50196"/>
              </a:srgbClr>
            </a:solidFill>
            <a:prstDash val="solid"/>
          </a:ln>
        </p:spPr>
      </p:sp>
      <p:sp>
        <p:nvSpPr>
          <p:cNvPr id="29" name="Text 27"/>
          <p:cNvSpPr/>
          <p:nvPr/>
        </p:nvSpPr>
        <p:spPr>
          <a:xfrm>
            <a:off x="8431940" y="1808719"/>
            <a:ext cx="7324749" cy="359497"/>
          </a:xfrm>
          <a:prstGeom prst="rect">
            <a:avLst/>
          </a:prstGeom>
          <a:noFill/>
          <a:ln/>
        </p:spPr>
        <p:txBody>
          <a:bodyPr wrap="square" lIns="0" tIns="0" rIns="0" bIns="0" rtlCol="0" anchor="ctr"/>
          <a:lstStyle/>
          <a:p>
            <a:pPr>
              <a:lnSpc>
                <a:spcPct val="110000"/>
              </a:lnSpc>
            </a:pPr>
            <a:r>
              <a:rPr lang="en-US" sz="2123" b="1" dirty="0">
                <a:solidFill>
                  <a:srgbClr val="4C7E9A"/>
                </a:solidFill>
                <a:latin typeface="MiSans" pitchFamily="34" charset="0"/>
                <a:ea typeface="MiSans" pitchFamily="34" charset="-122"/>
                <a:cs typeface="MiSans" pitchFamily="34" charset="-120"/>
              </a:rPr>
              <a:t>典型特征示例</a:t>
            </a:r>
            <a:endParaRPr lang="en-US" sz="1600" dirty="0"/>
          </a:p>
        </p:txBody>
      </p:sp>
      <p:sp>
        <p:nvSpPr>
          <p:cNvPr id="30" name="Shape 28"/>
          <p:cNvSpPr/>
          <p:nvPr/>
        </p:nvSpPr>
        <p:spPr>
          <a:xfrm>
            <a:off x="8431940" y="2303027"/>
            <a:ext cx="3550032" cy="1303176"/>
          </a:xfrm>
          <a:custGeom>
            <a:avLst/>
            <a:gdLst/>
            <a:ahLst/>
            <a:cxnLst/>
            <a:rect l="l" t="t" r="r" b="b"/>
            <a:pathLst>
              <a:path w="3550032" h="1303176">
                <a:moveTo>
                  <a:pt x="44934" y="0"/>
                </a:moveTo>
                <a:lnTo>
                  <a:pt x="3505098" y="0"/>
                </a:lnTo>
                <a:cubicBezTo>
                  <a:pt x="3529914" y="0"/>
                  <a:pt x="3550032" y="20117"/>
                  <a:pt x="3550032" y="44934"/>
                </a:cubicBezTo>
                <a:lnTo>
                  <a:pt x="3550032" y="1258243"/>
                </a:lnTo>
                <a:cubicBezTo>
                  <a:pt x="3550032" y="1283059"/>
                  <a:pt x="3529914" y="1303176"/>
                  <a:pt x="3505098" y="1303176"/>
                </a:cubicBezTo>
                <a:lnTo>
                  <a:pt x="44934" y="1303176"/>
                </a:lnTo>
                <a:cubicBezTo>
                  <a:pt x="20117" y="1303176"/>
                  <a:pt x="0" y="1283059"/>
                  <a:pt x="0" y="1258243"/>
                </a:cubicBezTo>
                <a:lnTo>
                  <a:pt x="0" y="44934"/>
                </a:lnTo>
                <a:cubicBezTo>
                  <a:pt x="0" y="20134"/>
                  <a:pt x="20134" y="0"/>
                  <a:pt x="44934" y="0"/>
                </a:cubicBezTo>
                <a:close/>
              </a:path>
            </a:pathLst>
          </a:custGeom>
          <a:solidFill>
            <a:srgbClr val="181A1F">
              <a:alpha val="50196"/>
            </a:srgbClr>
          </a:solidFill>
          <a:ln/>
        </p:spPr>
      </p:sp>
      <p:sp>
        <p:nvSpPr>
          <p:cNvPr id="31" name="Text 29"/>
          <p:cNvSpPr/>
          <p:nvPr/>
        </p:nvSpPr>
        <p:spPr>
          <a:xfrm>
            <a:off x="8521814" y="2392901"/>
            <a:ext cx="3448923" cy="224686"/>
          </a:xfrm>
          <a:prstGeom prst="rect">
            <a:avLst/>
          </a:prstGeom>
          <a:noFill/>
          <a:ln/>
        </p:spPr>
        <p:txBody>
          <a:bodyPr wrap="square" lIns="0" tIns="0" rIns="0" bIns="0" rtlCol="0" anchor="ctr"/>
          <a:lstStyle/>
          <a:p>
            <a:pPr>
              <a:lnSpc>
                <a:spcPct val="120000"/>
              </a:lnSpc>
            </a:pPr>
            <a:r>
              <a:rPr lang="en-US" sz="1238" b="1" dirty="0">
                <a:solidFill>
                  <a:srgbClr val="D1D5DB"/>
                </a:solidFill>
                <a:latin typeface="MiSans" pitchFamily="34" charset="0"/>
                <a:ea typeface="MiSans" pitchFamily="34" charset="-122"/>
                <a:cs typeface="MiSans" pitchFamily="34" charset="-120"/>
              </a:rPr>
              <a:t>数值型特征</a:t>
            </a:r>
            <a:endParaRPr lang="en-US" sz="1600" dirty="0"/>
          </a:p>
        </p:txBody>
      </p:sp>
      <p:sp>
        <p:nvSpPr>
          <p:cNvPr id="32" name="Text 30"/>
          <p:cNvSpPr/>
          <p:nvPr/>
        </p:nvSpPr>
        <p:spPr>
          <a:xfrm>
            <a:off x="8521814" y="2662524"/>
            <a:ext cx="3437689" cy="179748"/>
          </a:xfrm>
          <a:prstGeom prst="rect">
            <a:avLst/>
          </a:prstGeom>
          <a:noFill/>
          <a:ln/>
        </p:spPr>
        <p:txBody>
          <a:bodyPr wrap="square" lIns="0" tIns="0" rIns="0" bIns="0" rtlCol="0" anchor="ctr"/>
          <a:lstStyle/>
          <a:p>
            <a:pPr>
              <a:lnSpc>
                <a:spcPct val="110000"/>
              </a:lnSpc>
            </a:pPr>
            <a:r>
              <a:rPr lang="en-US" sz="1062" dirty="0">
                <a:solidFill>
                  <a:srgbClr val="7E9AA8"/>
                </a:solidFill>
                <a:latin typeface="MiSans" pitchFamily="34" charset="0"/>
                <a:ea typeface="MiSans" pitchFamily="34" charset="-122"/>
                <a:cs typeface="MiSans" pitchFamily="34" charset="-120"/>
              </a:rPr>
              <a:t>• 房屋面积 (GrLivArea)</a:t>
            </a:r>
            <a:endParaRPr lang="en-US" sz="1600" dirty="0"/>
          </a:p>
        </p:txBody>
      </p:sp>
      <p:sp>
        <p:nvSpPr>
          <p:cNvPr id="33" name="Text 31"/>
          <p:cNvSpPr/>
          <p:nvPr/>
        </p:nvSpPr>
        <p:spPr>
          <a:xfrm>
            <a:off x="8521814" y="2887209"/>
            <a:ext cx="3437689" cy="179748"/>
          </a:xfrm>
          <a:prstGeom prst="rect">
            <a:avLst/>
          </a:prstGeom>
          <a:noFill/>
          <a:ln/>
        </p:spPr>
        <p:txBody>
          <a:bodyPr wrap="square" lIns="0" tIns="0" rIns="0" bIns="0" rtlCol="0" anchor="ctr"/>
          <a:lstStyle/>
          <a:p>
            <a:pPr>
              <a:lnSpc>
                <a:spcPct val="110000"/>
              </a:lnSpc>
            </a:pPr>
            <a:r>
              <a:rPr lang="en-US" sz="1062" dirty="0">
                <a:solidFill>
                  <a:srgbClr val="7E9AA8"/>
                </a:solidFill>
                <a:latin typeface="MiSans" pitchFamily="34" charset="0"/>
                <a:ea typeface="MiSans" pitchFamily="34" charset="-122"/>
                <a:cs typeface="MiSans" pitchFamily="34" charset="-120"/>
              </a:rPr>
              <a:t>• 房间数量 (TotRmsAbvGrd)</a:t>
            </a:r>
            <a:endParaRPr lang="en-US" sz="1600" dirty="0"/>
          </a:p>
        </p:txBody>
      </p:sp>
      <p:sp>
        <p:nvSpPr>
          <p:cNvPr id="34" name="Text 32"/>
          <p:cNvSpPr/>
          <p:nvPr/>
        </p:nvSpPr>
        <p:spPr>
          <a:xfrm>
            <a:off x="8521814" y="3111895"/>
            <a:ext cx="3437689" cy="179748"/>
          </a:xfrm>
          <a:prstGeom prst="rect">
            <a:avLst/>
          </a:prstGeom>
          <a:noFill/>
          <a:ln/>
        </p:spPr>
        <p:txBody>
          <a:bodyPr wrap="square" lIns="0" tIns="0" rIns="0" bIns="0" rtlCol="0" anchor="ctr"/>
          <a:lstStyle/>
          <a:p>
            <a:pPr>
              <a:lnSpc>
                <a:spcPct val="110000"/>
              </a:lnSpc>
            </a:pPr>
            <a:r>
              <a:rPr lang="en-US" sz="1062" dirty="0">
                <a:solidFill>
                  <a:srgbClr val="7E9AA8"/>
                </a:solidFill>
                <a:latin typeface="MiSans" pitchFamily="34" charset="0"/>
                <a:ea typeface="MiSans" pitchFamily="34" charset="-122"/>
                <a:cs typeface="MiSans" pitchFamily="34" charset="-120"/>
              </a:rPr>
              <a:t>• 建造年份 (YearBuilt)</a:t>
            </a:r>
            <a:endParaRPr lang="en-US" sz="1600" dirty="0"/>
          </a:p>
        </p:txBody>
      </p:sp>
      <p:sp>
        <p:nvSpPr>
          <p:cNvPr id="35" name="Text 33"/>
          <p:cNvSpPr/>
          <p:nvPr/>
        </p:nvSpPr>
        <p:spPr>
          <a:xfrm>
            <a:off x="8521814" y="3336581"/>
            <a:ext cx="3437689" cy="179748"/>
          </a:xfrm>
          <a:prstGeom prst="rect">
            <a:avLst/>
          </a:prstGeom>
          <a:noFill/>
          <a:ln/>
        </p:spPr>
        <p:txBody>
          <a:bodyPr wrap="square" lIns="0" tIns="0" rIns="0" bIns="0" rtlCol="0" anchor="ctr"/>
          <a:lstStyle/>
          <a:p>
            <a:pPr>
              <a:lnSpc>
                <a:spcPct val="110000"/>
              </a:lnSpc>
            </a:pPr>
            <a:r>
              <a:rPr lang="en-US" sz="1062" dirty="0">
                <a:solidFill>
                  <a:srgbClr val="7E9AA8"/>
                </a:solidFill>
                <a:latin typeface="MiSans" pitchFamily="34" charset="0"/>
                <a:ea typeface="MiSans" pitchFamily="34" charset="-122"/>
                <a:cs typeface="MiSans" pitchFamily="34" charset="-120"/>
              </a:rPr>
              <a:t>• 车库容量 (GarageCars)</a:t>
            </a:r>
            <a:endParaRPr lang="en-US" sz="1600" dirty="0"/>
          </a:p>
        </p:txBody>
      </p:sp>
      <p:sp>
        <p:nvSpPr>
          <p:cNvPr id="36" name="Shape 34"/>
          <p:cNvSpPr/>
          <p:nvPr/>
        </p:nvSpPr>
        <p:spPr>
          <a:xfrm>
            <a:off x="12069301" y="2303027"/>
            <a:ext cx="3550032" cy="1303176"/>
          </a:xfrm>
          <a:custGeom>
            <a:avLst/>
            <a:gdLst/>
            <a:ahLst/>
            <a:cxnLst/>
            <a:rect l="l" t="t" r="r" b="b"/>
            <a:pathLst>
              <a:path w="3550032" h="1303176">
                <a:moveTo>
                  <a:pt x="44934" y="0"/>
                </a:moveTo>
                <a:lnTo>
                  <a:pt x="3505098" y="0"/>
                </a:lnTo>
                <a:cubicBezTo>
                  <a:pt x="3529914" y="0"/>
                  <a:pt x="3550032" y="20117"/>
                  <a:pt x="3550032" y="44934"/>
                </a:cubicBezTo>
                <a:lnTo>
                  <a:pt x="3550032" y="1258243"/>
                </a:lnTo>
                <a:cubicBezTo>
                  <a:pt x="3550032" y="1283059"/>
                  <a:pt x="3529914" y="1303176"/>
                  <a:pt x="3505098" y="1303176"/>
                </a:cubicBezTo>
                <a:lnTo>
                  <a:pt x="44934" y="1303176"/>
                </a:lnTo>
                <a:cubicBezTo>
                  <a:pt x="20117" y="1303176"/>
                  <a:pt x="0" y="1283059"/>
                  <a:pt x="0" y="1258243"/>
                </a:cubicBezTo>
                <a:lnTo>
                  <a:pt x="0" y="44934"/>
                </a:lnTo>
                <a:cubicBezTo>
                  <a:pt x="0" y="20134"/>
                  <a:pt x="20134" y="0"/>
                  <a:pt x="44934" y="0"/>
                </a:cubicBezTo>
                <a:close/>
              </a:path>
            </a:pathLst>
          </a:custGeom>
          <a:solidFill>
            <a:srgbClr val="181A1F">
              <a:alpha val="50196"/>
            </a:srgbClr>
          </a:solidFill>
          <a:ln/>
        </p:spPr>
      </p:sp>
      <p:sp>
        <p:nvSpPr>
          <p:cNvPr id="37" name="Text 35"/>
          <p:cNvSpPr/>
          <p:nvPr/>
        </p:nvSpPr>
        <p:spPr>
          <a:xfrm>
            <a:off x="12159175" y="2392901"/>
            <a:ext cx="3448923" cy="224686"/>
          </a:xfrm>
          <a:prstGeom prst="rect">
            <a:avLst/>
          </a:prstGeom>
          <a:noFill/>
          <a:ln/>
        </p:spPr>
        <p:txBody>
          <a:bodyPr wrap="square" lIns="0" tIns="0" rIns="0" bIns="0" rtlCol="0" anchor="ctr"/>
          <a:lstStyle/>
          <a:p>
            <a:pPr>
              <a:lnSpc>
                <a:spcPct val="120000"/>
              </a:lnSpc>
            </a:pPr>
            <a:r>
              <a:rPr lang="en-US" sz="1238" b="1" dirty="0">
                <a:solidFill>
                  <a:srgbClr val="D1D5DB"/>
                </a:solidFill>
                <a:latin typeface="MiSans" pitchFamily="34" charset="0"/>
                <a:ea typeface="MiSans" pitchFamily="34" charset="-122"/>
                <a:cs typeface="MiSans" pitchFamily="34" charset="-120"/>
              </a:rPr>
              <a:t>类别型特征</a:t>
            </a:r>
            <a:endParaRPr lang="en-US" sz="1600" dirty="0"/>
          </a:p>
        </p:txBody>
      </p:sp>
      <p:sp>
        <p:nvSpPr>
          <p:cNvPr id="38" name="Text 36"/>
          <p:cNvSpPr/>
          <p:nvPr/>
        </p:nvSpPr>
        <p:spPr>
          <a:xfrm>
            <a:off x="12159175" y="2662524"/>
            <a:ext cx="3437689" cy="179748"/>
          </a:xfrm>
          <a:prstGeom prst="rect">
            <a:avLst/>
          </a:prstGeom>
          <a:noFill/>
          <a:ln/>
        </p:spPr>
        <p:txBody>
          <a:bodyPr wrap="square" lIns="0" tIns="0" rIns="0" bIns="0" rtlCol="0" anchor="ctr"/>
          <a:lstStyle/>
          <a:p>
            <a:pPr>
              <a:lnSpc>
                <a:spcPct val="110000"/>
              </a:lnSpc>
            </a:pPr>
            <a:r>
              <a:rPr lang="en-US" sz="1062" dirty="0">
                <a:solidFill>
                  <a:srgbClr val="7E9AA8"/>
                </a:solidFill>
                <a:latin typeface="MiSans" pitchFamily="34" charset="0"/>
                <a:ea typeface="MiSans" pitchFamily="34" charset="-122"/>
                <a:cs typeface="MiSans" pitchFamily="34" charset="-120"/>
              </a:rPr>
              <a:t>• 地理位置 (Neighborhood)</a:t>
            </a:r>
            <a:endParaRPr lang="en-US" sz="1600" dirty="0"/>
          </a:p>
        </p:txBody>
      </p:sp>
      <p:sp>
        <p:nvSpPr>
          <p:cNvPr id="39" name="Text 37"/>
          <p:cNvSpPr/>
          <p:nvPr/>
        </p:nvSpPr>
        <p:spPr>
          <a:xfrm>
            <a:off x="12159175" y="2887209"/>
            <a:ext cx="3437689" cy="179748"/>
          </a:xfrm>
          <a:prstGeom prst="rect">
            <a:avLst/>
          </a:prstGeom>
          <a:noFill/>
          <a:ln/>
        </p:spPr>
        <p:txBody>
          <a:bodyPr wrap="square" lIns="0" tIns="0" rIns="0" bIns="0" rtlCol="0" anchor="ctr"/>
          <a:lstStyle/>
          <a:p>
            <a:pPr>
              <a:lnSpc>
                <a:spcPct val="110000"/>
              </a:lnSpc>
            </a:pPr>
            <a:r>
              <a:rPr lang="en-US" sz="1062" dirty="0">
                <a:solidFill>
                  <a:srgbClr val="7E9AA8"/>
                </a:solidFill>
                <a:latin typeface="MiSans" pitchFamily="34" charset="0"/>
                <a:ea typeface="MiSans" pitchFamily="34" charset="-122"/>
                <a:cs typeface="MiSans" pitchFamily="34" charset="-120"/>
              </a:rPr>
              <a:t>• 建筑风格 (HouseStyle)</a:t>
            </a:r>
            <a:endParaRPr lang="en-US" sz="1600" dirty="0"/>
          </a:p>
        </p:txBody>
      </p:sp>
      <p:sp>
        <p:nvSpPr>
          <p:cNvPr id="40" name="Text 38"/>
          <p:cNvSpPr/>
          <p:nvPr/>
        </p:nvSpPr>
        <p:spPr>
          <a:xfrm>
            <a:off x="12159175" y="3111895"/>
            <a:ext cx="3437689" cy="179748"/>
          </a:xfrm>
          <a:prstGeom prst="rect">
            <a:avLst/>
          </a:prstGeom>
          <a:noFill/>
          <a:ln/>
        </p:spPr>
        <p:txBody>
          <a:bodyPr wrap="square" lIns="0" tIns="0" rIns="0" bIns="0" rtlCol="0" anchor="ctr"/>
          <a:lstStyle/>
          <a:p>
            <a:pPr>
              <a:lnSpc>
                <a:spcPct val="110000"/>
              </a:lnSpc>
            </a:pPr>
            <a:r>
              <a:rPr lang="en-US" sz="1062" dirty="0">
                <a:solidFill>
                  <a:srgbClr val="7E9AA8"/>
                </a:solidFill>
                <a:latin typeface="MiSans" pitchFamily="34" charset="0"/>
                <a:ea typeface="MiSans" pitchFamily="34" charset="-122"/>
                <a:cs typeface="MiSans" pitchFamily="34" charset="-120"/>
              </a:rPr>
              <a:t>• 装修质量 (OverallQual)</a:t>
            </a:r>
            <a:endParaRPr lang="en-US" sz="1600" dirty="0"/>
          </a:p>
        </p:txBody>
      </p:sp>
      <p:sp>
        <p:nvSpPr>
          <p:cNvPr id="41" name="Text 39"/>
          <p:cNvSpPr/>
          <p:nvPr/>
        </p:nvSpPr>
        <p:spPr>
          <a:xfrm>
            <a:off x="12159175" y="3336581"/>
            <a:ext cx="3437689" cy="179748"/>
          </a:xfrm>
          <a:prstGeom prst="rect">
            <a:avLst/>
          </a:prstGeom>
          <a:noFill/>
          <a:ln/>
        </p:spPr>
        <p:txBody>
          <a:bodyPr wrap="square" lIns="0" tIns="0" rIns="0" bIns="0" rtlCol="0" anchor="ctr"/>
          <a:lstStyle/>
          <a:p>
            <a:pPr>
              <a:lnSpc>
                <a:spcPct val="110000"/>
              </a:lnSpc>
            </a:pPr>
            <a:r>
              <a:rPr lang="en-US" sz="1062" dirty="0">
                <a:solidFill>
                  <a:srgbClr val="7E9AA8"/>
                </a:solidFill>
                <a:latin typeface="MiSans" pitchFamily="34" charset="0"/>
                <a:ea typeface="MiSans" pitchFamily="34" charset="-122"/>
                <a:cs typeface="MiSans" pitchFamily="34" charset="-120"/>
              </a:rPr>
              <a:t>• 销售条件 (SaleCondition)</a:t>
            </a:r>
            <a:endParaRPr lang="en-US" sz="1600" dirty="0"/>
          </a:p>
        </p:txBody>
      </p:sp>
      <p:sp>
        <p:nvSpPr>
          <p:cNvPr id="42" name="Shape 40"/>
          <p:cNvSpPr/>
          <p:nvPr/>
        </p:nvSpPr>
        <p:spPr>
          <a:xfrm>
            <a:off x="8246574" y="3982551"/>
            <a:ext cx="7560669" cy="3696077"/>
          </a:xfrm>
          <a:custGeom>
            <a:avLst/>
            <a:gdLst/>
            <a:ahLst/>
            <a:cxnLst/>
            <a:rect l="l" t="t" r="r" b="b"/>
            <a:pathLst>
              <a:path w="7560669" h="3696077">
                <a:moveTo>
                  <a:pt x="89889" y="0"/>
                </a:moveTo>
                <a:lnTo>
                  <a:pt x="7470780" y="0"/>
                </a:lnTo>
                <a:cubicBezTo>
                  <a:pt x="7520424" y="0"/>
                  <a:pt x="7560669" y="40244"/>
                  <a:pt x="7560669" y="89889"/>
                </a:cubicBezTo>
                <a:lnTo>
                  <a:pt x="7560669" y="3606189"/>
                </a:lnTo>
                <a:cubicBezTo>
                  <a:pt x="7560669" y="3655833"/>
                  <a:pt x="7520424" y="3696077"/>
                  <a:pt x="7470780" y="3696077"/>
                </a:cubicBezTo>
                <a:lnTo>
                  <a:pt x="89889" y="3696077"/>
                </a:lnTo>
                <a:cubicBezTo>
                  <a:pt x="40244" y="3696077"/>
                  <a:pt x="0" y="3655833"/>
                  <a:pt x="0" y="3606189"/>
                </a:cubicBezTo>
                <a:lnTo>
                  <a:pt x="0" y="89889"/>
                </a:lnTo>
                <a:cubicBezTo>
                  <a:pt x="0" y="40278"/>
                  <a:pt x="40278" y="0"/>
                  <a:pt x="89889" y="0"/>
                </a:cubicBezTo>
                <a:close/>
              </a:path>
            </a:pathLst>
          </a:custGeom>
          <a:solidFill>
            <a:srgbClr val="3A5E78">
              <a:alpha val="20000"/>
            </a:srgbClr>
          </a:solidFill>
          <a:ln w="12700">
            <a:solidFill>
              <a:srgbClr val="4C7E9A">
                <a:alpha val="50196"/>
              </a:srgbClr>
            </a:solidFill>
            <a:prstDash val="solid"/>
          </a:ln>
        </p:spPr>
      </p:sp>
      <p:sp>
        <p:nvSpPr>
          <p:cNvPr id="43" name="Text 41"/>
          <p:cNvSpPr/>
          <p:nvPr/>
        </p:nvSpPr>
        <p:spPr>
          <a:xfrm>
            <a:off x="8431940" y="4167917"/>
            <a:ext cx="7324749" cy="359497"/>
          </a:xfrm>
          <a:prstGeom prst="rect">
            <a:avLst/>
          </a:prstGeom>
          <a:noFill/>
          <a:ln/>
        </p:spPr>
        <p:txBody>
          <a:bodyPr wrap="square" lIns="0" tIns="0" rIns="0" bIns="0" rtlCol="0" anchor="ctr"/>
          <a:lstStyle/>
          <a:p>
            <a:pPr>
              <a:lnSpc>
                <a:spcPct val="110000"/>
              </a:lnSpc>
            </a:pPr>
            <a:r>
              <a:rPr lang="en-US" sz="2123" b="1" dirty="0">
                <a:solidFill>
                  <a:srgbClr val="4C7E9A"/>
                </a:solidFill>
                <a:latin typeface="MiSans" pitchFamily="34" charset="0"/>
                <a:ea typeface="MiSans" pitchFamily="34" charset="-122"/>
                <a:cs typeface="MiSans" pitchFamily="34" charset="-120"/>
              </a:rPr>
              <a:t>评估指标</a:t>
            </a:r>
            <a:endParaRPr lang="en-US" sz="1600" dirty="0"/>
          </a:p>
        </p:txBody>
      </p:sp>
      <p:sp>
        <p:nvSpPr>
          <p:cNvPr id="44" name="Shape 42"/>
          <p:cNvSpPr/>
          <p:nvPr/>
        </p:nvSpPr>
        <p:spPr>
          <a:xfrm>
            <a:off x="8431940" y="4662225"/>
            <a:ext cx="7189938" cy="1348113"/>
          </a:xfrm>
          <a:custGeom>
            <a:avLst/>
            <a:gdLst/>
            <a:ahLst/>
            <a:cxnLst/>
            <a:rect l="l" t="t" r="r" b="b"/>
            <a:pathLst>
              <a:path w="7189938" h="1348113">
                <a:moveTo>
                  <a:pt x="44933" y="0"/>
                </a:moveTo>
                <a:lnTo>
                  <a:pt x="7145005" y="0"/>
                </a:lnTo>
                <a:cubicBezTo>
                  <a:pt x="7169821" y="0"/>
                  <a:pt x="7189938" y="20117"/>
                  <a:pt x="7189938" y="44933"/>
                </a:cubicBezTo>
                <a:lnTo>
                  <a:pt x="7189938" y="1303181"/>
                </a:lnTo>
                <a:cubicBezTo>
                  <a:pt x="7189938" y="1327996"/>
                  <a:pt x="7169821" y="1348113"/>
                  <a:pt x="7145005" y="1348113"/>
                </a:cubicBezTo>
                <a:lnTo>
                  <a:pt x="44933" y="1348113"/>
                </a:lnTo>
                <a:cubicBezTo>
                  <a:pt x="20117" y="1348113"/>
                  <a:pt x="0" y="1327996"/>
                  <a:pt x="0" y="1303181"/>
                </a:cubicBezTo>
                <a:lnTo>
                  <a:pt x="0" y="44933"/>
                </a:lnTo>
                <a:cubicBezTo>
                  <a:pt x="0" y="20117"/>
                  <a:pt x="20117" y="0"/>
                  <a:pt x="44933" y="0"/>
                </a:cubicBezTo>
                <a:close/>
              </a:path>
            </a:pathLst>
          </a:custGeom>
          <a:solidFill>
            <a:srgbClr val="181A1F">
              <a:alpha val="50196"/>
            </a:srgbClr>
          </a:solidFill>
          <a:ln/>
        </p:spPr>
      </p:sp>
      <p:sp>
        <p:nvSpPr>
          <p:cNvPr id="45" name="Text 43"/>
          <p:cNvSpPr/>
          <p:nvPr/>
        </p:nvSpPr>
        <p:spPr>
          <a:xfrm>
            <a:off x="8566751" y="4797037"/>
            <a:ext cx="7021424" cy="314560"/>
          </a:xfrm>
          <a:prstGeom prst="rect">
            <a:avLst/>
          </a:prstGeom>
          <a:noFill/>
          <a:ln/>
        </p:spPr>
        <p:txBody>
          <a:bodyPr wrap="square" lIns="0" tIns="0" rIns="0" bIns="0" rtlCol="0" anchor="ctr"/>
          <a:lstStyle/>
          <a:p>
            <a:pPr>
              <a:lnSpc>
                <a:spcPct val="130000"/>
              </a:lnSpc>
            </a:pPr>
            <a:r>
              <a:rPr lang="en-US" sz="1592" b="1" dirty="0">
                <a:solidFill>
                  <a:srgbClr val="D1D5DB"/>
                </a:solidFill>
                <a:latin typeface="MiSans" pitchFamily="34" charset="0"/>
                <a:ea typeface="MiSans" pitchFamily="34" charset="-122"/>
                <a:cs typeface="MiSans" pitchFamily="34" charset="-120"/>
              </a:rPr>
              <a:t>主要指标：RMSLE</a:t>
            </a:r>
            <a:endParaRPr lang="en-US" sz="1600" dirty="0"/>
          </a:p>
        </p:txBody>
      </p:sp>
      <p:sp>
        <p:nvSpPr>
          <p:cNvPr id="46" name="Text 44"/>
          <p:cNvSpPr/>
          <p:nvPr/>
        </p:nvSpPr>
        <p:spPr>
          <a:xfrm>
            <a:off x="8566751" y="5156534"/>
            <a:ext cx="6998955" cy="224686"/>
          </a:xfrm>
          <a:prstGeom prst="rect">
            <a:avLst/>
          </a:prstGeom>
          <a:noFill/>
          <a:ln/>
        </p:spPr>
        <p:txBody>
          <a:bodyPr wrap="square" lIns="0" tIns="0" rIns="0" bIns="0" rtlCol="0" anchor="ctr"/>
          <a:lstStyle/>
          <a:p>
            <a:pPr>
              <a:lnSpc>
                <a:spcPct val="120000"/>
              </a:lnSpc>
            </a:pPr>
            <a:r>
              <a:rPr lang="en-US" sz="1238" dirty="0">
                <a:solidFill>
                  <a:srgbClr val="7E9AA8"/>
                </a:solidFill>
                <a:latin typeface="MiSans" pitchFamily="34" charset="0"/>
                <a:ea typeface="MiSans" pitchFamily="34" charset="-122"/>
                <a:cs typeface="MiSans" pitchFamily="34" charset="-120"/>
              </a:rPr>
              <a:t>Root Mean Squared Logarithmic Error（对数均方根误差）</a:t>
            </a:r>
            <a:endParaRPr lang="en-US" sz="1600" dirty="0"/>
          </a:p>
        </p:txBody>
      </p:sp>
      <p:sp>
        <p:nvSpPr>
          <p:cNvPr id="47" name="Shape 45"/>
          <p:cNvSpPr/>
          <p:nvPr/>
        </p:nvSpPr>
        <p:spPr>
          <a:xfrm>
            <a:off x="8566751" y="5471093"/>
            <a:ext cx="6920315" cy="404434"/>
          </a:xfrm>
          <a:custGeom>
            <a:avLst/>
            <a:gdLst/>
            <a:ahLst/>
            <a:cxnLst/>
            <a:rect l="l" t="t" r="r" b="b"/>
            <a:pathLst>
              <a:path w="6920315" h="404434">
                <a:moveTo>
                  <a:pt x="44937" y="0"/>
                </a:moveTo>
                <a:lnTo>
                  <a:pt x="6875378" y="0"/>
                </a:lnTo>
                <a:cubicBezTo>
                  <a:pt x="6900196" y="0"/>
                  <a:pt x="6920315" y="20119"/>
                  <a:pt x="6920315" y="44937"/>
                </a:cubicBezTo>
                <a:lnTo>
                  <a:pt x="6920315" y="359497"/>
                </a:lnTo>
                <a:cubicBezTo>
                  <a:pt x="6920315" y="384315"/>
                  <a:pt x="6900196" y="404434"/>
                  <a:pt x="6875378" y="404434"/>
                </a:cubicBezTo>
                <a:lnTo>
                  <a:pt x="44937" y="404434"/>
                </a:lnTo>
                <a:cubicBezTo>
                  <a:pt x="20119" y="404434"/>
                  <a:pt x="0" y="384315"/>
                  <a:pt x="0" y="359497"/>
                </a:cubicBezTo>
                <a:lnTo>
                  <a:pt x="0" y="44937"/>
                </a:lnTo>
                <a:cubicBezTo>
                  <a:pt x="0" y="20135"/>
                  <a:pt x="20135" y="0"/>
                  <a:pt x="44937" y="0"/>
                </a:cubicBezTo>
                <a:close/>
              </a:path>
            </a:pathLst>
          </a:custGeom>
          <a:solidFill>
            <a:srgbClr val="181A1F"/>
          </a:solidFill>
          <a:ln/>
        </p:spPr>
      </p:sp>
      <p:sp>
        <p:nvSpPr>
          <p:cNvPr id="48" name="Text 46"/>
          <p:cNvSpPr/>
          <p:nvPr/>
        </p:nvSpPr>
        <p:spPr>
          <a:xfrm>
            <a:off x="8617305" y="5560968"/>
            <a:ext cx="6819207" cy="224686"/>
          </a:xfrm>
          <a:prstGeom prst="rect">
            <a:avLst/>
          </a:prstGeom>
          <a:noFill/>
          <a:ln/>
        </p:spPr>
        <p:txBody>
          <a:bodyPr wrap="square" lIns="0" tIns="0" rIns="0" bIns="0" rtlCol="0" anchor="ctr"/>
          <a:lstStyle/>
          <a:p>
            <a:pPr algn="ctr">
              <a:lnSpc>
                <a:spcPct val="120000"/>
              </a:lnSpc>
            </a:pPr>
            <a:r>
              <a:rPr lang="en-US" sz="1238" dirty="0">
                <a:solidFill>
                  <a:srgbClr val="7E9AA8"/>
                </a:solidFill>
                <a:latin typeface="MiSans" pitchFamily="34" charset="0"/>
                <a:ea typeface="MiSans" pitchFamily="34" charset="-122"/>
                <a:cs typeface="MiSans" pitchFamily="34" charset="-120"/>
              </a:rPr>
              <a:t>RMSLE = √[∑(log(1+y_i) - log(1+ŷ_i))²/n]</a:t>
            </a:r>
            <a:endParaRPr lang="en-US" sz="1600" dirty="0"/>
          </a:p>
        </p:txBody>
      </p:sp>
      <p:sp>
        <p:nvSpPr>
          <p:cNvPr id="49" name="Shape 47"/>
          <p:cNvSpPr/>
          <p:nvPr/>
        </p:nvSpPr>
        <p:spPr>
          <a:xfrm>
            <a:off x="8431940" y="6100213"/>
            <a:ext cx="7189938" cy="1393050"/>
          </a:xfrm>
          <a:custGeom>
            <a:avLst/>
            <a:gdLst/>
            <a:ahLst/>
            <a:cxnLst/>
            <a:rect l="l" t="t" r="r" b="b"/>
            <a:pathLst>
              <a:path w="7189938" h="1393050">
                <a:moveTo>
                  <a:pt x="44940" y="0"/>
                </a:moveTo>
                <a:lnTo>
                  <a:pt x="7144998" y="0"/>
                </a:lnTo>
                <a:cubicBezTo>
                  <a:pt x="7169818" y="0"/>
                  <a:pt x="7189938" y="20120"/>
                  <a:pt x="7189938" y="44940"/>
                </a:cubicBezTo>
                <a:lnTo>
                  <a:pt x="7189938" y="1348111"/>
                </a:lnTo>
                <a:cubicBezTo>
                  <a:pt x="7189938" y="1372930"/>
                  <a:pt x="7169818" y="1393050"/>
                  <a:pt x="7144998" y="1393050"/>
                </a:cubicBezTo>
                <a:lnTo>
                  <a:pt x="44940" y="1393050"/>
                </a:lnTo>
                <a:cubicBezTo>
                  <a:pt x="20120" y="1393050"/>
                  <a:pt x="0" y="1372930"/>
                  <a:pt x="0" y="1348111"/>
                </a:cubicBezTo>
                <a:lnTo>
                  <a:pt x="0" y="44940"/>
                </a:lnTo>
                <a:cubicBezTo>
                  <a:pt x="0" y="20137"/>
                  <a:pt x="20137" y="0"/>
                  <a:pt x="44940" y="0"/>
                </a:cubicBezTo>
                <a:close/>
              </a:path>
            </a:pathLst>
          </a:custGeom>
          <a:solidFill>
            <a:srgbClr val="181A1F">
              <a:alpha val="50196"/>
            </a:srgbClr>
          </a:solidFill>
          <a:ln/>
        </p:spPr>
      </p:sp>
      <p:sp>
        <p:nvSpPr>
          <p:cNvPr id="50" name="Text 48"/>
          <p:cNvSpPr/>
          <p:nvPr/>
        </p:nvSpPr>
        <p:spPr>
          <a:xfrm>
            <a:off x="8566751" y="6235024"/>
            <a:ext cx="7021424" cy="314560"/>
          </a:xfrm>
          <a:prstGeom prst="rect">
            <a:avLst/>
          </a:prstGeom>
          <a:noFill/>
          <a:ln/>
        </p:spPr>
        <p:txBody>
          <a:bodyPr wrap="square" lIns="0" tIns="0" rIns="0" bIns="0" rtlCol="0" anchor="ctr"/>
          <a:lstStyle/>
          <a:p>
            <a:pPr>
              <a:lnSpc>
                <a:spcPct val="130000"/>
              </a:lnSpc>
            </a:pPr>
            <a:r>
              <a:rPr lang="en-US" sz="1592" b="1" dirty="0">
                <a:solidFill>
                  <a:srgbClr val="D1D5DB"/>
                </a:solidFill>
                <a:latin typeface="MiSans" pitchFamily="34" charset="0"/>
                <a:ea typeface="MiSans" pitchFamily="34" charset="-122"/>
                <a:cs typeface="MiSans" pitchFamily="34" charset="-120"/>
              </a:rPr>
              <a:t>补充指标</a:t>
            </a:r>
            <a:endParaRPr lang="en-US" sz="1600" dirty="0"/>
          </a:p>
        </p:txBody>
      </p:sp>
      <p:sp>
        <p:nvSpPr>
          <p:cNvPr id="51" name="Text 49"/>
          <p:cNvSpPr/>
          <p:nvPr/>
        </p:nvSpPr>
        <p:spPr>
          <a:xfrm>
            <a:off x="8566751" y="6594521"/>
            <a:ext cx="6998955" cy="224686"/>
          </a:xfrm>
          <a:prstGeom prst="rect">
            <a:avLst/>
          </a:prstGeom>
          <a:noFill/>
          <a:ln/>
        </p:spPr>
        <p:txBody>
          <a:bodyPr wrap="square" lIns="0" tIns="0" rIns="0" bIns="0" rtlCol="0" anchor="ctr"/>
          <a:lstStyle/>
          <a:p>
            <a:pPr>
              <a:lnSpc>
                <a:spcPct val="120000"/>
              </a:lnSpc>
            </a:pPr>
            <a:r>
              <a:rPr lang="en-US" sz="1238" dirty="0">
                <a:solidFill>
                  <a:srgbClr val="7E9AA8"/>
                </a:solidFill>
                <a:latin typeface="MiSans" pitchFamily="34" charset="0"/>
                <a:ea typeface="MiSans" pitchFamily="34" charset="-122"/>
                <a:cs typeface="MiSans" pitchFamily="34" charset="-120"/>
              </a:rPr>
              <a:t>• RMSE（均方根误差）</a:t>
            </a:r>
            <a:endParaRPr lang="en-US" sz="1600" dirty="0"/>
          </a:p>
        </p:txBody>
      </p:sp>
      <p:sp>
        <p:nvSpPr>
          <p:cNvPr id="52" name="Text 50"/>
          <p:cNvSpPr/>
          <p:nvPr/>
        </p:nvSpPr>
        <p:spPr>
          <a:xfrm>
            <a:off x="8566751" y="6864144"/>
            <a:ext cx="6998955" cy="224686"/>
          </a:xfrm>
          <a:prstGeom prst="rect">
            <a:avLst/>
          </a:prstGeom>
          <a:noFill/>
          <a:ln/>
        </p:spPr>
        <p:txBody>
          <a:bodyPr wrap="square" lIns="0" tIns="0" rIns="0" bIns="0" rtlCol="0" anchor="ctr"/>
          <a:lstStyle/>
          <a:p>
            <a:pPr>
              <a:lnSpc>
                <a:spcPct val="120000"/>
              </a:lnSpc>
            </a:pPr>
            <a:r>
              <a:rPr lang="en-US" sz="1238" dirty="0">
                <a:solidFill>
                  <a:srgbClr val="7E9AA8"/>
                </a:solidFill>
                <a:latin typeface="MiSans" pitchFamily="34" charset="0"/>
                <a:ea typeface="MiSans" pitchFamily="34" charset="-122"/>
                <a:cs typeface="MiSans" pitchFamily="34" charset="-120"/>
              </a:rPr>
              <a:t>• R²（决定系数）</a:t>
            </a:r>
            <a:endParaRPr lang="en-US" sz="1600" dirty="0"/>
          </a:p>
        </p:txBody>
      </p:sp>
      <p:sp>
        <p:nvSpPr>
          <p:cNvPr id="53" name="Text 51"/>
          <p:cNvSpPr/>
          <p:nvPr/>
        </p:nvSpPr>
        <p:spPr>
          <a:xfrm>
            <a:off x="8566751" y="7133766"/>
            <a:ext cx="6998955" cy="224686"/>
          </a:xfrm>
          <a:prstGeom prst="rect">
            <a:avLst/>
          </a:prstGeom>
          <a:noFill/>
          <a:ln/>
        </p:spPr>
        <p:txBody>
          <a:bodyPr wrap="square" lIns="0" tIns="0" rIns="0" bIns="0" rtlCol="0" anchor="ctr"/>
          <a:lstStyle/>
          <a:p>
            <a:pPr>
              <a:lnSpc>
                <a:spcPct val="120000"/>
              </a:lnSpc>
            </a:pPr>
            <a:r>
              <a:rPr lang="en-US" sz="1238" dirty="0">
                <a:solidFill>
                  <a:srgbClr val="7E9AA8"/>
                </a:solidFill>
                <a:latin typeface="MiSans" pitchFamily="34" charset="0"/>
                <a:ea typeface="MiSans" pitchFamily="34" charset="-122"/>
                <a:cs typeface="MiSans" pitchFamily="34" charset="-120"/>
              </a:rPr>
              <a:t>• MAE（平均绝对误差）</a:t>
            </a:r>
            <a:endParaRPr lang="en-US" sz="1600" dirty="0"/>
          </a:p>
        </p:txBody>
      </p:sp>
      <p:sp>
        <p:nvSpPr>
          <p:cNvPr id="54" name="Shape 52"/>
          <p:cNvSpPr/>
          <p:nvPr/>
        </p:nvSpPr>
        <p:spPr>
          <a:xfrm>
            <a:off x="8246574" y="7869612"/>
            <a:ext cx="7560669" cy="820102"/>
          </a:xfrm>
          <a:custGeom>
            <a:avLst/>
            <a:gdLst/>
            <a:ahLst/>
            <a:cxnLst/>
            <a:rect l="l" t="t" r="r" b="b"/>
            <a:pathLst>
              <a:path w="7560669" h="820102">
                <a:moveTo>
                  <a:pt x="89875" y="0"/>
                </a:moveTo>
                <a:lnTo>
                  <a:pt x="7470794" y="0"/>
                </a:lnTo>
                <a:cubicBezTo>
                  <a:pt x="7520431" y="0"/>
                  <a:pt x="7560669" y="40238"/>
                  <a:pt x="7560669" y="89875"/>
                </a:cubicBezTo>
                <a:lnTo>
                  <a:pt x="7560669" y="730227"/>
                </a:lnTo>
                <a:cubicBezTo>
                  <a:pt x="7560669" y="779864"/>
                  <a:pt x="7520431" y="820102"/>
                  <a:pt x="7470794" y="820102"/>
                </a:cubicBezTo>
                <a:lnTo>
                  <a:pt x="89875" y="820102"/>
                </a:lnTo>
                <a:cubicBezTo>
                  <a:pt x="40238" y="820102"/>
                  <a:pt x="0" y="779864"/>
                  <a:pt x="0" y="730227"/>
                </a:cubicBezTo>
                <a:lnTo>
                  <a:pt x="0" y="89875"/>
                </a:lnTo>
                <a:cubicBezTo>
                  <a:pt x="0" y="40238"/>
                  <a:pt x="40238" y="0"/>
                  <a:pt x="89875" y="0"/>
                </a:cubicBezTo>
                <a:close/>
              </a:path>
            </a:pathLst>
          </a:custGeom>
          <a:solidFill>
            <a:srgbClr val="4C7E9A">
              <a:alpha val="10196"/>
            </a:srgbClr>
          </a:solidFill>
          <a:ln w="12700">
            <a:solidFill>
              <a:srgbClr val="4C7E9A">
                <a:alpha val="30196"/>
              </a:srgbClr>
            </a:solidFill>
            <a:prstDash val="solid"/>
          </a:ln>
        </p:spPr>
      </p:sp>
      <p:sp>
        <p:nvSpPr>
          <p:cNvPr id="55" name="Shape 53"/>
          <p:cNvSpPr/>
          <p:nvPr/>
        </p:nvSpPr>
        <p:spPr>
          <a:xfrm>
            <a:off x="8409471" y="8060594"/>
            <a:ext cx="179748" cy="179748"/>
          </a:xfrm>
          <a:custGeom>
            <a:avLst/>
            <a:gdLst/>
            <a:ahLst/>
            <a:cxnLst/>
            <a:rect l="l" t="t" r="r" b="b"/>
            <a:pathLst>
              <a:path w="179748" h="179748">
                <a:moveTo>
                  <a:pt x="89874" y="179748"/>
                </a:moveTo>
                <a:cubicBezTo>
                  <a:pt x="139477" y="179748"/>
                  <a:pt x="179748" y="139477"/>
                  <a:pt x="179748" y="89874"/>
                </a:cubicBezTo>
                <a:cubicBezTo>
                  <a:pt x="179748" y="40271"/>
                  <a:pt x="139477" y="0"/>
                  <a:pt x="89874" y="0"/>
                </a:cubicBezTo>
                <a:cubicBezTo>
                  <a:pt x="40271" y="0"/>
                  <a:pt x="0" y="40271"/>
                  <a:pt x="0" y="89874"/>
                </a:cubicBezTo>
                <a:cubicBezTo>
                  <a:pt x="0" y="139477"/>
                  <a:pt x="40271" y="179748"/>
                  <a:pt x="89874" y="179748"/>
                </a:cubicBezTo>
                <a:close/>
                <a:moveTo>
                  <a:pt x="78640" y="56171"/>
                </a:moveTo>
                <a:cubicBezTo>
                  <a:pt x="78640" y="49971"/>
                  <a:pt x="83674" y="44937"/>
                  <a:pt x="89874" y="44937"/>
                </a:cubicBezTo>
                <a:cubicBezTo>
                  <a:pt x="96075" y="44937"/>
                  <a:pt x="101109" y="49971"/>
                  <a:pt x="101109" y="56171"/>
                </a:cubicBezTo>
                <a:cubicBezTo>
                  <a:pt x="101109" y="62372"/>
                  <a:pt x="96075" y="67406"/>
                  <a:pt x="89874" y="67406"/>
                </a:cubicBezTo>
                <a:cubicBezTo>
                  <a:pt x="83674" y="67406"/>
                  <a:pt x="78640" y="62372"/>
                  <a:pt x="78640" y="56171"/>
                </a:cubicBezTo>
                <a:close/>
                <a:moveTo>
                  <a:pt x="75831" y="78640"/>
                </a:moveTo>
                <a:lnTo>
                  <a:pt x="92683" y="78640"/>
                </a:lnTo>
                <a:cubicBezTo>
                  <a:pt x="97352" y="78640"/>
                  <a:pt x="101109" y="82396"/>
                  <a:pt x="101109" y="87066"/>
                </a:cubicBezTo>
                <a:lnTo>
                  <a:pt x="101109" y="117960"/>
                </a:lnTo>
                <a:lnTo>
                  <a:pt x="103917" y="117960"/>
                </a:lnTo>
                <a:cubicBezTo>
                  <a:pt x="108586" y="117960"/>
                  <a:pt x="112343" y="121716"/>
                  <a:pt x="112343" y="126386"/>
                </a:cubicBezTo>
                <a:cubicBezTo>
                  <a:pt x="112343" y="131055"/>
                  <a:pt x="108586" y="134811"/>
                  <a:pt x="103917" y="134811"/>
                </a:cubicBezTo>
                <a:lnTo>
                  <a:pt x="75831" y="134811"/>
                </a:lnTo>
                <a:cubicBezTo>
                  <a:pt x="71162" y="134811"/>
                  <a:pt x="67406" y="131055"/>
                  <a:pt x="67406" y="126386"/>
                </a:cubicBezTo>
                <a:cubicBezTo>
                  <a:pt x="67406" y="121716"/>
                  <a:pt x="71162" y="117960"/>
                  <a:pt x="75831" y="117960"/>
                </a:cubicBezTo>
                <a:lnTo>
                  <a:pt x="84257" y="117960"/>
                </a:lnTo>
                <a:lnTo>
                  <a:pt x="84257" y="95491"/>
                </a:lnTo>
                <a:lnTo>
                  <a:pt x="75831" y="95491"/>
                </a:lnTo>
                <a:cubicBezTo>
                  <a:pt x="71162" y="95491"/>
                  <a:pt x="67406" y="91735"/>
                  <a:pt x="67406" y="87066"/>
                </a:cubicBezTo>
                <a:cubicBezTo>
                  <a:pt x="67406" y="82396"/>
                  <a:pt x="71162" y="78640"/>
                  <a:pt x="75831" y="78640"/>
                </a:cubicBezTo>
                <a:close/>
              </a:path>
            </a:pathLst>
          </a:custGeom>
          <a:solidFill>
            <a:srgbClr val="4C7E9A"/>
          </a:solidFill>
          <a:ln/>
        </p:spPr>
      </p:sp>
      <p:sp>
        <p:nvSpPr>
          <p:cNvPr id="56" name="Text 54"/>
          <p:cNvSpPr/>
          <p:nvPr/>
        </p:nvSpPr>
        <p:spPr>
          <a:xfrm>
            <a:off x="8691190" y="8010040"/>
            <a:ext cx="7065499" cy="539245"/>
          </a:xfrm>
          <a:prstGeom prst="rect">
            <a:avLst/>
          </a:prstGeom>
          <a:noFill/>
          <a:ln/>
        </p:spPr>
        <p:txBody>
          <a:bodyPr wrap="square" lIns="0" tIns="0" rIns="0" bIns="0" rtlCol="0" anchor="ctr"/>
          <a:lstStyle/>
          <a:p>
            <a:pPr>
              <a:lnSpc>
                <a:spcPct val="130000"/>
              </a:lnSpc>
            </a:pPr>
            <a:r>
              <a:rPr lang="en-US" sz="1415" b="1" dirty="0">
                <a:solidFill>
                  <a:srgbClr val="4C7E9A"/>
                </a:solidFill>
                <a:latin typeface="MiSans" pitchFamily="34" charset="0"/>
                <a:ea typeface="MiSans" pitchFamily="34" charset="-122"/>
                <a:cs typeface="MiSans" pitchFamily="34" charset="-120"/>
              </a:rPr>
              <a:t>为什么选择RMSLE？</a:t>
            </a:r>
            <a:pPr>
              <a:lnSpc>
                <a:spcPct val="130000"/>
              </a:lnSpc>
            </a:pPr>
            <a:r>
              <a:rPr lang="en-US" sz="1415" dirty="0">
                <a:solidFill>
                  <a:srgbClr val="D1D5DB"/>
                </a:solidFill>
                <a:latin typeface="MiSans" pitchFamily="34" charset="0"/>
                <a:ea typeface="MiSans" pitchFamily="34" charset="-122"/>
                <a:cs typeface="MiSans" pitchFamily="34" charset="-120"/>
              </a:rPr>
              <a:t>对数变换能够处理价格的右偏分布，使大误差和小误差的惩罚更加平衡</a:t>
            </a:r>
            <a:endParaRPr lang="en-US" sz="1600" dirty="0"/>
          </a:p>
        </p:txBody>
      </p:sp>
    </p:spTree>
  </p:cSld>
  <p:clrMapOvr>
    <a:masterClrMapping/>
  </p:clrMapOvr>
  <p:transition>
    <p:fade/>
    <p:spd val="med"/>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508000" y="508000"/>
            <a:ext cx="15341600" cy="304800"/>
          </a:xfrm>
          <a:prstGeom prst="rect">
            <a:avLst/>
          </a:prstGeom>
          <a:noFill/>
          <a:ln/>
        </p:spPr>
        <p:txBody>
          <a:bodyPr wrap="square" lIns="0" tIns="0" rIns="0" bIns="0" rtlCol="0" anchor="ctr"/>
          <a:lstStyle/>
          <a:p>
            <a:pPr>
              <a:lnSpc>
                <a:spcPct val="130000"/>
              </a:lnSpc>
            </a:pPr>
            <a:r>
              <a:rPr lang="en-US" sz="1600" b="1" spc="80" kern="0" dirty="0">
                <a:solidFill>
                  <a:srgbClr val="7E9AA8"/>
                </a:solidFill>
                <a:latin typeface="MiSans" pitchFamily="34" charset="0"/>
                <a:ea typeface="MiSans" pitchFamily="34" charset="-122"/>
                <a:cs typeface="MiSans" pitchFamily="34" charset="-120"/>
              </a:rPr>
              <a:t>CASE STUDY</a:t>
            </a:r>
            <a:endParaRPr lang="en-US" sz="1600" dirty="0"/>
          </a:p>
        </p:txBody>
      </p:sp>
      <p:sp>
        <p:nvSpPr>
          <p:cNvPr id="3" name="Text 1"/>
          <p:cNvSpPr/>
          <p:nvPr/>
        </p:nvSpPr>
        <p:spPr>
          <a:xfrm>
            <a:off x="508000" y="914400"/>
            <a:ext cx="15468600" cy="508000"/>
          </a:xfrm>
          <a:prstGeom prst="rect">
            <a:avLst/>
          </a:prstGeom>
          <a:noFill/>
          <a:ln/>
        </p:spPr>
        <p:txBody>
          <a:bodyPr wrap="square" lIns="0" tIns="0" rIns="0" bIns="0" rtlCol="0" anchor="ctr"/>
          <a:lstStyle/>
          <a:p>
            <a:pPr>
              <a:lnSpc>
                <a:spcPct val="90000"/>
              </a:lnSpc>
            </a:pPr>
            <a:r>
              <a:rPr lang="en-US" sz="3600" b="1" dirty="0">
                <a:solidFill>
                  <a:srgbClr val="D1D5DB"/>
                </a:solidFill>
                <a:latin typeface="阿里妈妈数黑体" pitchFamily="34" charset="0"/>
                <a:ea typeface="阿里妈妈数黑体" pitchFamily="34" charset="-122"/>
                <a:cs typeface="阿里妈妈数黑体" pitchFamily="34" charset="-120"/>
              </a:rPr>
              <a:t>基模型选择策略</a:t>
            </a:r>
            <a:endParaRPr lang="en-US" sz="1600" dirty="0"/>
          </a:p>
        </p:txBody>
      </p:sp>
      <p:sp>
        <p:nvSpPr>
          <p:cNvPr id="4" name="Shape 2"/>
          <p:cNvSpPr/>
          <p:nvPr/>
        </p:nvSpPr>
        <p:spPr>
          <a:xfrm>
            <a:off x="508000" y="1574800"/>
            <a:ext cx="1219200" cy="50800"/>
          </a:xfrm>
          <a:custGeom>
            <a:avLst/>
            <a:gdLst/>
            <a:ahLst/>
            <a:cxnLst/>
            <a:rect l="l" t="t" r="r" b="b"/>
            <a:pathLst>
              <a:path w="1219200" h="50800">
                <a:moveTo>
                  <a:pt x="0" y="0"/>
                </a:moveTo>
                <a:lnTo>
                  <a:pt x="1219200" y="0"/>
                </a:lnTo>
                <a:lnTo>
                  <a:pt x="1219200" y="50800"/>
                </a:lnTo>
                <a:lnTo>
                  <a:pt x="0" y="50800"/>
                </a:lnTo>
                <a:lnTo>
                  <a:pt x="0" y="0"/>
                </a:lnTo>
                <a:close/>
              </a:path>
            </a:pathLst>
          </a:custGeom>
          <a:solidFill>
            <a:srgbClr val="4C7E9A"/>
          </a:solidFill>
          <a:ln/>
        </p:spPr>
      </p:sp>
      <p:sp>
        <p:nvSpPr>
          <p:cNvPr id="5" name="Shape 3"/>
          <p:cNvSpPr/>
          <p:nvPr/>
        </p:nvSpPr>
        <p:spPr>
          <a:xfrm>
            <a:off x="508000" y="1854200"/>
            <a:ext cx="4940300" cy="4546600"/>
          </a:xfrm>
          <a:custGeom>
            <a:avLst/>
            <a:gdLst/>
            <a:ahLst/>
            <a:cxnLst/>
            <a:rect l="l" t="t" r="r" b="b"/>
            <a:pathLst>
              <a:path w="4940300" h="4546600">
                <a:moveTo>
                  <a:pt x="50800" y="0"/>
                </a:moveTo>
                <a:lnTo>
                  <a:pt x="4889500" y="0"/>
                </a:lnTo>
                <a:cubicBezTo>
                  <a:pt x="4917537" y="0"/>
                  <a:pt x="4940300" y="22763"/>
                  <a:pt x="4940300" y="50800"/>
                </a:cubicBezTo>
                <a:lnTo>
                  <a:pt x="4940300" y="4444983"/>
                </a:lnTo>
                <a:cubicBezTo>
                  <a:pt x="4940300" y="4501105"/>
                  <a:pt x="4894805" y="4546600"/>
                  <a:pt x="4838683" y="4546600"/>
                </a:cubicBezTo>
                <a:lnTo>
                  <a:pt x="101617" y="4546600"/>
                </a:lnTo>
                <a:cubicBezTo>
                  <a:pt x="45495" y="4546600"/>
                  <a:pt x="0" y="4501105"/>
                  <a:pt x="0" y="4444983"/>
                </a:cubicBezTo>
                <a:lnTo>
                  <a:pt x="0" y="50800"/>
                </a:lnTo>
                <a:cubicBezTo>
                  <a:pt x="0" y="22763"/>
                  <a:pt x="22763" y="0"/>
                  <a:pt x="50800" y="0"/>
                </a:cubicBezTo>
                <a:close/>
              </a:path>
            </a:pathLst>
          </a:custGeom>
          <a:solidFill>
            <a:srgbClr val="3A5E78">
              <a:alpha val="20000"/>
            </a:srgbClr>
          </a:solidFill>
          <a:ln/>
        </p:spPr>
      </p:sp>
      <p:sp>
        <p:nvSpPr>
          <p:cNvPr id="6" name="Shape 4"/>
          <p:cNvSpPr/>
          <p:nvPr/>
        </p:nvSpPr>
        <p:spPr>
          <a:xfrm>
            <a:off x="508000" y="1854200"/>
            <a:ext cx="4940300" cy="50800"/>
          </a:xfrm>
          <a:custGeom>
            <a:avLst/>
            <a:gdLst/>
            <a:ahLst/>
            <a:cxnLst/>
            <a:rect l="l" t="t" r="r" b="b"/>
            <a:pathLst>
              <a:path w="4940300" h="50800">
                <a:moveTo>
                  <a:pt x="50800" y="0"/>
                </a:moveTo>
                <a:lnTo>
                  <a:pt x="4889500" y="0"/>
                </a:lnTo>
                <a:cubicBezTo>
                  <a:pt x="4917537" y="0"/>
                  <a:pt x="4940300" y="22763"/>
                  <a:pt x="4940300" y="50800"/>
                </a:cubicBezTo>
                <a:lnTo>
                  <a:pt x="4940300" y="50800"/>
                </a:lnTo>
                <a:lnTo>
                  <a:pt x="0" y="50800"/>
                </a:lnTo>
                <a:lnTo>
                  <a:pt x="0" y="50800"/>
                </a:lnTo>
                <a:cubicBezTo>
                  <a:pt x="0" y="22763"/>
                  <a:pt x="22763" y="0"/>
                  <a:pt x="50800" y="0"/>
                </a:cubicBezTo>
                <a:close/>
              </a:path>
            </a:pathLst>
          </a:custGeom>
          <a:solidFill>
            <a:srgbClr val="4C7E9A"/>
          </a:solidFill>
          <a:ln/>
        </p:spPr>
      </p:sp>
      <p:sp>
        <p:nvSpPr>
          <p:cNvPr id="7" name="Shape 5"/>
          <p:cNvSpPr/>
          <p:nvPr/>
        </p:nvSpPr>
        <p:spPr>
          <a:xfrm>
            <a:off x="785813" y="2082800"/>
            <a:ext cx="333375" cy="381000"/>
          </a:xfrm>
          <a:custGeom>
            <a:avLst/>
            <a:gdLst/>
            <a:ahLst/>
            <a:cxnLst/>
            <a:rect l="l" t="t" r="r" b="b"/>
            <a:pathLst>
              <a:path w="333375" h="381000">
                <a:moveTo>
                  <a:pt x="252115" y="-7367"/>
                </a:moveTo>
                <a:cubicBezTo>
                  <a:pt x="260970" y="-967"/>
                  <a:pt x="264244" y="10641"/>
                  <a:pt x="260226" y="20762"/>
                </a:cubicBezTo>
                <a:lnTo>
                  <a:pt x="201885" y="166688"/>
                </a:lnTo>
                <a:lnTo>
                  <a:pt x="309563" y="166688"/>
                </a:lnTo>
                <a:cubicBezTo>
                  <a:pt x="319608" y="166688"/>
                  <a:pt x="328538" y="172938"/>
                  <a:pt x="331961" y="182389"/>
                </a:cubicBezTo>
                <a:cubicBezTo>
                  <a:pt x="335384" y="191839"/>
                  <a:pt x="332482" y="202406"/>
                  <a:pt x="324817" y="208806"/>
                </a:cubicBezTo>
                <a:lnTo>
                  <a:pt x="110505" y="387400"/>
                </a:lnTo>
                <a:cubicBezTo>
                  <a:pt x="102096" y="394395"/>
                  <a:pt x="90115" y="394767"/>
                  <a:pt x="81260" y="388367"/>
                </a:cubicBezTo>
                <a:cubicBezTo>
                  <a:pt x="72405" y="381967"/>
                  <a:pt x="69131" y="370359"/>
                  <a:pt x="73149" y="360238"/>
                </a:cubicBezTo>
                <a:lnTo>
                  <a:pt x="131490" y="214313"/>
                </a:lnTo>
                <a:lnTo>
                  <a:pt x="23812" y="214313"/>
                </a:lnTo>
                <a:cubicBezTo>
                  <a:pt x="13767" y="214313"/>
                  <a:pt x="4837" y="208062"/>
                  <a:pt x="1414" y="198611"/>
                </a:cubicBezTo>
                <a:cubicBezTo>
                  <a:pt x="-2009" y="189161"/>
                  <a:pt x="893" y="178594"/>
                  <a:pt x="8558" y="172194"/>
                </a:cubicBezTo>
                <a:lnTo>
                  <a:pt x="222870" y="-6400"/>
                </a:lnTo>
                <a:cubicBezTo>
                  <a:pt x="231279" y="-13395"/>
                  <a:pt x="243260" y="-13767"/>
                  <a:pt x="252115" y="-7367"/>
                </a:cubicBezTo>
                <a:close/>
              </a:path>
            </a:pathLst>
          </a:custGeom>
          <a:solidFill>
            <a:srgbClr val="4C7E9A"/>
          </a:solidFill>
          <a:ln/>
        </p:spPr>
      </p:sp>
      <p:sp>
        <p:nvSpPr>
          <p:cNvPr id="8" name="Text 6"/>
          <p:cNvSpPr/>
          <p:nvPr/>
        </p:nvSpPr>
        <p:spPr>
          <a:xfrm>
            <a:off x="1339850" y="2095500"/>
            <a:ext cx="12954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LightGBM</a:t>
            </a:r>
            <a:endParaRPr lang="en-US" sz="1600" dirty="0"/>
          </a:p>
        </p:txBody>
      </p:sp>
      <p:sp>
        <p:nvSpPr>
          <p:cNvPr id="9" name="Text 7"/>
          <p:cNvSpPr/>
          <p:nvPr/>
        </p:nvSpPr>
        <p:spPr>
          <a:xfrm>
            <a:off x="711200" y="2616200"/>
            <a:ext cx="4648200" cy="355600"/>
          </a:xfrm>
          <a:prstGeom prst="rect">
            <a:avLst/>
          </a:prstGeom>
          <a:noFill/>
          <a:ln/>
        </p:spPr>
        <p:txBody>
          <a:bodyPr wrap="square" lIns="0" tIns="0" rIns="0" bIns="0" rtlCol="0" anchor="ctr"/>
          <a:lstStyle/>
          <a:p>
            <a:pPr>
              <a:lnSpc>
                <a:spcPct val="130000"/>
              </a:lnSpc>
            </a:pPr>
            <a:r>
              <a:rPr lang="en-US" sz="1800" b="1" dirty="0">
                <a:solidFill>
                  <a:srgbClr val="4C7E9A"/>
                </a:solidFill>
                <a:latin typeface="MiSans" pitchFamily="34" charset="0"/>
                <a:ea typeface="MiSans" pitchFamily="34" charset="-122"/>
                <a:cs typeface="MiSans" pitchFamily="34" charset="-120"/>
              </a:rPr>
              <a:t>主要优势</a:t>
            </a:r>
            <a:endParaRPr lang="en-US" sz="1600" dirty="0"/>
          </a:p>
        </p:txBody>
      </p:sp>
      <p:sp>
        <p:nvSpPr>
          <p:cNvPr id="10" name="Text 8"/>
          <p:cNvSpPr/>
          <p:nvPr/>
        </p:nvSpPr>
        <p:spPr>
          <a:xfrm>
            <a:off x="711200" y="3022600"/>
            <a:ext cx="4635500" cy="660400"/>
          </a:xfrm>
          <a:prstGeom prst="rect">
            <a:avLst/>
          </a:prstGeom>
          <a:noFill/>
          <a:ln/>
        </p:spPr>
        <p:txBody>
          <a:bodyPr wrap="square" lIns="0" tIns="0" rIns="0" bIns="0" rtlCol="0" anchor="ctr"/>
          <a:lstStyle/>
          <a:p>
            <a:pPr>
              <a:lnSpc>
                <a:spcPct val="140000"/>
              </a:lnSpc>
            </a:pPr>
            <a:r>
              <a:rPr lang="en-US" sz="1600" dirty="0">
                <a:solidFill>
                  <a:srgbClr val="7E9AA8"/>
                </a:solidFill>
                <a:latin typeface="MiSans" pitchFamily="34" charset="0"/>
                <a:ea typeface="MiSans" pitchFamily="34" charset="-122"/>
                <a:cs typeface="MiSans" pitchFamily="34" charset="-120"/>
              </a:rPr>
              <a:t>高效处理类别特征，采用直方图算法将连续特征离散化，大大减少了内存消耗和计算时间。</a:t>
            </a:r>
            <a:endParaRPr lang="en-US" sz="1600" dirty="0"/>
          </a:p>
        </p:txBody>
      </p:sp>
      <p:sp>
        <p:nvSpPr>
          <p:cNvPr id="11" name="Text 9"/>
          <p:cNvSpPr/>
          <p:nvPr/>
        </p:nvSpPr>
        <p:spPr>
          <a:xfrm>
            <a:off x="711200" y="3784600"/>
            <a:ext cx="4648200" cy="355600"/>
          </a:xfrm>
          <a:prstGeom prst="rect">
            <a:avLst/>
          </a:prstGeom>
          <a:noFill/>
          <a:ln/>
        </p:spPr>
        <p:txBody>
          <a:bodyPr wrap="square" lIns="0" tIns="0" rIns="0" bIns="0" rtlCol="0" anchor="ctr"/>
          <a:lstStyle/>
          <a:p>
            <a:pPr>
              <a:lnSpc>
                <a:spcPct val="130000"/>
              </a:lnSpc>
            </a:pPr>
            <a:r>
              <a:rPr lang="en-US" sz="1800" b="1" dirty="0">
                <a:solidFill>
                  <a:srgbClr val="4C7E9A"/>
                </a:solidFill>
                <a:latin typeface="MiSans" pitchFamily="34" charset="0"/>
                <a:ea typeface="MiSans" pitchFamily="34" charset="-122"/>
                <a:cs typeface="MiSans" pitchFamily="34" charset="-120"/>
              </a:rPr>
              <a:t>核心技术</a:t>
            </a:r>
            <a:endParaRPr lang="en-US" sz="1600" dirty="0"/>
          </a:p>
        </p:txBody>
      </p:sp>
      <p:sp>
        <p:nvSpPr>
          <p:cNvPr id="12" name="Text 10"/>
          <p:cNvSpPr/>
          <p:nvPr/>
        </p:nvSpPr>
        <p:spPr>
          <a:xfrm>
            <a:off x="711200" y="4191000"/>
            <a:ext cx="4622800" cy="254000"/>
          </a:xfrm>
          <a:prstGeom prst="rect">
            <a:avLst/>
          </a:prstGeom>
          <a:noFill/>
          <a:ln/>
        </p:spPr>
        <p:txBody>
          <a:bodyPr wrap="square" lIns="0" tIns="0" rIns="0" bIns="0" rtlCol="0" anchor="ctr"/>
          <a:lstStyle/>
          <a:p>
            <a:pPr>
              <a:lnSpc>
                <a:spcPct val="120000"/>
              </a:lnSpc>
            </a:pPr>
            <a:r>
              <a:rPr lang="en-US" sz="1400" dirty="0">
                <a:solidFill>
                  <a:srgbClr val="7E9AA8"/>
                </a:solidFill>
                <a:latin typeface="MiSans" pitchFamily="34" charset="0"/>
                <a:ea typeface="MiSans" pitchFamily="34" charset="-122"/>
                <a:cs typeface="MiSans" pitchFamily="34" charset="-120"/>
              </a:rPr>
              <a:t>• GOSS采样技术</a:t>
            </a:r>
            <a:endParaRPr lang="en-US" sz="1600" dirty="0"/>
          </a:p>
        </p:txBody>
      </p:sp>
      <p:sp>
        <p:nvSpPr>
          <p:cNvPr id="13" name="Text 11"/>
          <p:cNvSpPr/>
          <p:nvPr/>
        </p:nvSpPr>
        <p:spPr>
          <a:xfrm>
            <a:off x="711200" y="4495800"/>
            <a:ext cx="4622800" cy="254000"/>
          </a:xfrm>
          <a:prstGeom prst="rect">
            <a:avLst/>
          </a:prstGeom>
          <a:noFill/>
          <a:ln/>
        </p:spPr>
        <p:txBody>
          <a:bodyPr wrap="square" lIns="0" tIns="0" rIns="0" bIns="0" rtlCol="0" anchor="ctr"/>
          <a:lstStyle/>
          <a:p>
            <a:pPr>
              <a:lnSpc>
                <a:spcPct val="120000"/>
              </a:lnSpc>
            </a:pPr>
            <a:r>
              <a:rPr lang="en-US" sz="1400" dirty="0">
                <a:solidFill>
                  <a:srgbClr val="7E9AA8"/>
                </a:solidFill>
                <a:latin typeface="MiSans" pitchFamily="34" charset="0"/>
                <a:ea typeface="MiSans" pitchFamily="34" charset="-122"/>
                <a:cs typeface="MiSans" pitchFamily="34" charset="-120"/>
              </a:rPr>
              <a:t>• EFB特征捆绑</a:t>
            </a:r>
            <a:endParaRPr lang="en-US" sz="1600" dirty="0"/>
          </a:p>
        </p:txBody>
      </p:sp>
      <p:sp>
        <p:nvSpPr>
          <p:cNvPr id="14" name="Text 12"/>
          <p:cNvSpPr/>
          <p:nvPr/>
        </p:nvSpPr>
        <p:spPr>
          <a:xfrm>
            <a:off x="711200" y="4800600"/>
            <a:ext cx="4622800" cy="254000"/>
          </a:xfrm>
          <a:prstGeom prst="rect">
            <a:avLst/>
          </a:prstGeom>
          <a:noFill/>
          <a:ln/>
        </p:spPr>
        <p:txBody>
          <a:bodyPr wrap="square" lIns="0" tIns="0" rIns="0" bIns="0" rtlCol="0" anchor="ctr"/>
          <a:lstStyle/>
          <a:p>
            <a:pPr>
              <a:lnSpc>
                <a:spcPct val="120000"/>
              </a:lnSpc>
            </a:pPr>
            <a:r>
              <a:rPr lang="en-US" sz="1400" dirty="0">
                <a:solidFill>
                  <a:srgbClr val="7E9AA8"/>
                </a:solidFill>
                <a:latin typeface="MiSans" pitchFamily="34" charset="0"/>
                <a:ea typeface="MiSans" pitchFamily="34" charset="-122"/>
                <a:cs typeface="MiSans" pitchFamily="34" charset="-120"/>
              </a:rPr>
              <a:t>• 直方图算法</a:t>
            </a:r>
            <a:endParaRPr lang="en-US" sz="1600" dirty="0"/>
          </a:p>
        </p:txBody>
      </p:sp>
      <p:sp>
        <p:nvSpPr>
          <p:cNvPr id="15" name="Text 13"/>
          <p:cNvSpPr/>
          <p:nvPr/>
        </p:nvSpPr>
        <p:spPr>
          <a:xfrm>
            <a:off x="711200" y="5156200"/>
            <a:ext cx="4648200" cy="355600"/>
          </a:xfrm>
          <a:prstGeom prst="rect">
            <a:avLst/>
          </a:prstGeom>
          <a:noFill/>
          <a:ln/>
        </p:spPr>
        <p:txBody>
          <a:bodyPr wrap="square" lIns="0" tIns="0" rIns="0" bIns="0" rtlCol="0" anchor="ctr"/>
          <a:lstStyle/>
          <a:p>
            <a:pPr>
              <a:lnSpc>
                <a:spcPct val="130000"/>
              </a:lnSpc>
            </a:pPr>
            <a:r>
              <a:rPr lang="en-US" sz="1800" b="1" dirty="0">
                <a:solidFill>
                  <a:srgbClr val="4C7E9A"/>
                </a:solidFill>
                <a:latin typeface="MiSans" pitchFamily="34" charset="0"/>
                <a:ea typeface="MiSans" pitchFamily="34" charset="-122"/>
                <a:cs typeface="MiSans" pitchFamily="34" charset="-120"/>
              </a:rPr>
              <a:t>适用场景</a:t>
            </a:r>
            <a:endParaRPr lang="en-US" sz="1600" dirty="0"/>
          </a:p>
        </p:txBody>
      </p:sp>
      <p:sp>
        <p:nvSpPr>
          <p:cNvPr id="16" name="Text 14"/>
          <p:cNvSpPr/>
          <p:nvPr/>
        </p:nvSpPr>
        <p:spPr>
          <a:xfrm>
            <a:off x="711200" y="5562600"/>
            <a:ext cx="4635500" cy="304800"/>
          </a:xfrm>
          <a:prstGeom prst="rect">
            <a:avLst/>
          </a:prstGeom>
          <a:noFill/>
          <a:ln/>
        </p:spPr>
        <p:txBody>
          <a:bodyPr wrap="square" lIns="0" tIns="0" rIns="0" bIns="0" rtlCol="0" anchor="ctr"/>
          <a:lstStyle/>
          <a:p>
            <a:pPr>
              <a:lnSpc>
                <a:spcPct val="130000"/>
              </a:lnSpc>
            </a:pPr>
            <a:r>
              <a:rPr lang="en-US" sz="1600" dirty="0">
                <a:solidFill>
                  <a:srgbClr val="7E9AA8"/>
                </a:solidFill>
                <a:latin typeface="MiSans" pitchFamily="34" charset="0"/>
                <a:ea typeface="MiSans" pitchFamily="34" charset="-122"/>
                <a:cs typeface="MiSans" pitchFamily="34" charset="-120"/>
              </a:rPr>
              <a:t>包含大量类别特征的场景，能够快速进行多轮迭代</a:t>
            </a:r>
            <a:endParaRPr lang="en-US" sz="1600" dirty="0"/>
          </a:p>
        </p:txBody>
      </p:sp>
      <p:sp>
        <p:nvSpPr>
          <p:cNvPr id="17" name="Shape 15"/>
          <p:cNvSpPr/>
          <p:nvPr/>
        </p:nvSpPr>
        <p:spPr>
          <a:xfrm>
            <a:off x="5655667" y="1854200"/>
            <a:ext cx="4940300" cy="4546600"/>
          </a:xfrm>
          <a:custGeom>
            <a:avLst/>
            <a:gdLst/>
            <a:ahLst/>
            <a:cxnLst/>
            <a:rect l="l" t="t" r="r" b="b"/>
            <a:pathLst>
              <a:path w="4940300" h="4546600">
                <a:moveTo>
                  <a:pt x="50800" y="0"/>
                </a:moveTo>
                <a:lnTo>
                  <a:pt x="4889500" y="0"/>
                </a:lnTo>
                <a:cubicBezTo>
                  <a:pt x="4917537" y="0"/>
                  <a:pt x="4940300" y="22763"/>
                  <a:pt x="4940300" y="50800"/>
                </a:cubicBezTo>
                <a:lnTo>
                  <a:pt x="4940300" y="4444983"/>
                </a:lnTo>
                <a:cubicBezTo>
                  <a:pt x="4940300" y="4501105"/>
                  <a:pt x="4894805" y="4546600"/>
                  <a:pt x="4838683" y="4546600"/>
                </a:cubicBezTo>
                <a:lnTo>
                  <a:pt x="101617" y="4546600"/>
                </a:lnTo>
                <a:cubicBezTo>
                  <a:pt x="45495" y="4546600"/>
                  <a:pt x="0" y="4501105"/>
                  <a:pt x="0" y="4444983"/>
                </a:cubicBezTo>
                <a:lnTo>
                  <a:pt x="0" y="50800"/>
                </a:lnTo>
                <a:cubicBezTo>
                  <a:pt x="0" y="22763"/>
                  <a:pt x="22763" y="0"/>
                  <a:pt x="50800" y="0"/>
                </a:cubicBezTo>
                <a:close/>
              </a:path>
            </a:pathLst>
          </a:custGeom>
          <a:solidFill>
            <a:srgbClr val="3A5E78">
              <a:alpha val="20000"/>
            </a:srgbClr>
          </a:solidFill>
          <a:ln/>
        </p:spPr>
      </p:sp>
      <p:sp>
        <p:nvSpPr>
          <p:cNvPr id="18" name="Shape 16"/>
          <p:cNvSpPr/>
          <p:nvPr/>
        </p:nvSpPr>
        <p:spPr>
          <a:xfrm>
            <a:off x="5655667" y="1854200"/>
            <a:ext cx="4940300" cy="50800"/>
          </a:xfrm>
          <a:custGeom>
            <a:avLst/>
            <a:gdLst/>
            <a:ahLst/>
            <a:cxnLst/>
            <a:rect l="l" t="t" r="r" b="b"/>
            <a:pathLst>
              <a:path w="4940300" h="50800">
                <a:moveTo>
                  <a:pt x="50800" y="0"/>
                </a:moveTo>
                <a:lnTo>
                  <a:pt x="4889500" y="0"/>
                </a:lnTo>
                <a:cubicBezTo>
                  <a:pt x="4917537" y="0"/>
                  <a:pt x="4940300" y="22763"/>
                  <a:pt x="4940300" y="50800"/>
                </a:cubicBezTo>
                <a:lnTo>
                  <a:pt x="4940300" y="50800"/>
                </a:lnTo>
                <a:lnTo>
                  <a:pt x="0" y="50800"/>
                </a:lnTo>
                <a:lnTo>
                  <a:pt x="0" y="50800"/>
                </a:lnTo>
                <a:cubicBezTo>
                  <a:pt x="0" y="22763"/>
                  <a:pt x="22763" y="0"/>
                  <a:pt x="50800" y="0"/>
                </a:cubicBezTo>
                <a:close/>
              </a:path>
            </a:pathLst>
          </a:custGeom>
          <a:solidFill>
            <a:srgbClr val="7E9AA8"/>
          </a:solidFill>
          <a:ln/>
        </p:spPr>
      </p:sp>
      <p:sp>
        <p:nvSpPr>
          <p:cNvPr id="19" name="Shape 17"/>
          <p:cNvSpPr/>
          <p:nvPr/>
        </p:nvSpPr>
        <p:spPr>
          <a:xfrm>
            <a:off x="5909667" y="2082800"/>
            <a:ext cx="381000" cy="381000"/>
          </a:xfrm>
          <a:custGeom>
            <a:avLst/>
            <a:gdLst/>
            <a:ahLst/>
            <a:cxnLst/>
            <a:rect l="l" t="t" r="r" b="b"/>
            <a:pathLst>
              <a:path w="381000" h="381000">
                <a:moveTo>
                  <a:pt x="47625" y="47625"/>
                </a:moveTo>
                <a:cubicBezTo>
                  <a:pt x="47625" y="34454"/>
                  <a:pt x="36984" y="23812"/>
                  <a:pt x="23812" y="23812"/>
                </a:cubicBezTo>
                <a:cubicBezTo>
                  <a:pt x="10641" y="23812"/>
                  <a:pt x="0" y="34454"/>
                  <a:pt x="0" y="47625"/>
                </a:cubicBezTo>
                <a:lnTo>
                  <a:pt x="0" y="297656"/>
                </a:lnTo>
                <a:cubicBezTo>
                  <a:pt x="0" y="330547"/>
                  <a:pt x="26640" y="357188"/>
                  <a:pt x="59531" y="357188"/>
                </a:cubicBezTo>
                <a:lnTo>
                  <a:pt x="357188" y="357188"/>
                </a:lnTo>
                <a:cubicBezTo>
                  <a:pt x="370359" y="357188"/>
                  <a:pt x="381000" y="346546"/>
                  <a:pt x="381000" y="333375"/>
                </a:cubicBezTo>
                <a:cubicBezTo>
                  <a:pt x="381000" y="320204"/>
                  <a:pt x="370359" y="309563"/>
                  <a:pt x="357188" y="309563"/>
                </a:cubicBezTo>
                <a:lnTo>
                  <a:pt x="59531" y="309563"/>
                </a:lnTo>
                <a:cubicBezTo>
                  <a:pt x="52983" y="309563"/>
                  <a:pt x="47625" y="304205"/>
                  <a:pt x="47625" y="297656"/>
                </a:cubicBezTo>
                <a:lnTo>
                  <a:pt x="47625" y="47625"/>
                </a:lnTo>
                <a:close/>
                <a:moveTo>
                  <a:pt x="350193" y="112068"/>
                </a:moveTo>
                <a:cubicBezTo>
                  <a:pt x="359494" y="102766"/>
                  <a:pt x="359494" y="87660"/>
                  <a:pt x="350193" y="78358"/>
                </a:cubicBezTo>
                <a:cubicBezTo>
                  <a:pt x="340891" y="69056"/>
                  <a:pt x="325785" y="69056"/>
                  <a:pt x="316483" y="78358"/>
                </a:cubicBezTo>
                <a:lnTo>
                  <a:pt x="238125" y="156790"/>
                </a:lnTo>
                <a:lnTo>
                  <a:pt x="195411" y="114151"/>
                </a:lnTo>
                <a:cubicBezTo>
                  <a:pt x="186110" y="104849"/>
                  <a:pt x="171004" y="104849"/>
                  <a:pt x="161702" y="114151"/>
                </a:cubicBezTo>
                <a:lnTo>
                  <a:pt x="90264" y="185589"/>
                </a:lnTo>
                <a:cubicBezTo>
                  <a:pt x="80963" y="194890"/>
                  <a:pt x="80963" y="209996"/>
                  <a:pt x="90264" y="219298"/>
                </a:cubicBezTo>
                <a:cubicBezTo>
                  <a:pt x="99566" y="228600"/>
                  <a:pt x="114672" y="228600"/>
                  <a:pt x="123974" y="219298"/>
                </a:cubicBezTo>
                <a:lnTo>
                  <a:pt x="178594" y="164678"/>
                </a:lnTo>
                <a:lnTo>
                  <a:pt x="221307" y="207392"/>
                </a:lnTo>
                <a:cubicBezTo>
                  <a:pt x="230609" y="216694"/>
                  <a:pt x="245715" y="216694"/>
                  <a:pt x="255017" y="207392"/>
                </a:cubicBezTo>
                <a:lnTo>
                  <a:pt x="350267" y="112142"/>
                </a:lnTo>
                <a:close/>
              </a:path>
            </a:pathLst>
          </a:custGeom>
          <a:solidFill>
            <a:srgbClr val="7E9AA8"/>
          </a:solidFill>
          <a:ln/>
        </p:spPr>
      </p:sp>
      <p:sp>
        <p:nvSpPr>
          <p:cNvPr id="20" name="Text 18"/>
          <p:cNvSpPr/>
          <p:nvPr/>
        </p:nvSpPr>
        <p:spPr>
          <a:xfrm>
            <a:off x="6487517" y="2095500"/>
            <a:ext cx="11430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XGBoost</a:t>
            </a:r>
            <a:endParaRPr lang="en-US" sz="1600" dirty="0"/>
          </a:p>
        </p:txBody>
      </p:sp>
      <p:sp>
        <p:nvSpPr>
          <p:cNvPr id="21" name="Text 19"/>
          <p:cNvSpPr/>
          <p:nvPr/>
        </p:nvSpPr>
        <p:spPr>
          <a:xfrm>
            <a:off x="5858867" y="2616200"/>
            <a:ext cx="4648200" cy="355600"/>
          </a:xfrm>
          <a:prstGeom prst="rect">
            <a:avLst/>
          </a:prstGeom>
          <a:noFill/>
          <a:ln/>
        </p:spPr>
        <p:txBody>
          <a:bodyPr wrap="square" lIns="0" tIns="0" rIns="0" bIns="0" rtlCol="0" anchor="ctr"/>
          <a:lstStyle/>
          <a:p>
            <a:pPr>
              <a:lnSpc>
                <a:spcPct val="130000"/>
              </a:lnSpc>
            </a:pPr>
            <a:r>
              <a:rPr lang="en-US" sz="1800" b="1" dirty="0">
                <a:solidFill>
                  <a:srgbClr val="4C7E9A"/>
                </a:solidFill>
                <a:latin typeface="MiSans" pitchFamily="34" charset="0"/>
                <a:ea typeface="MiSans" pitchFamily="34" charset="-122"/>
                <a:cs typeface="MiSans" pitchFamily="34" charset="-120"/>
              </a:rPr>
              <a:t>主要优势</a:t>
            </a:r>
            <a:endParaRPr lang="en-US" sz="1600" dirty="0"/>
          </a:p>
        </p:txBody>
      </p:sp>
      <p:sp>
        <p:nvSpPr>
          <p:cNvPr id="22" name="Text 20"/>
          <p:cNvSpPr/>
          <p:nvPr/>
        </p:nvSpPr>
        <p:spPr>
          <a:xfrm>
            <a:off x="5858867" y="3022600"/>
            <a:ext cx="4635500" cy="660400"/>
          </a:xfrm>
          <a:prstGeom prst="rect">
            <a:avLst/>
          </a:prstGeom>
          <a:noFill/>
          <a:ln/>
        </p:spPr>
        <p:txBody>
          <a:bodyPr wrap="square" lIns="0" tIns="0" rIns="0" bIns="0" rtlCol="0" anchor="ctr"/>
          <a:lstStyle/>
          <a:p>
            <a:pPr>
              <a:lnSpc>
                <a:spcPct val="140000"/>
              </a:lnSpc>
            </a:pPr>
            <a:r>
              <a:rPr lang="en-US" sz="1600" dirty="0">
                <a:solidFill>
                  <a:srgbClr val="7E9AA8"/>
                </a:solidFill>
                <a:latin typeface="MiSans" pitchFamily="34" charset="0"/>
                <a:ea typeface="MiSans" pitchFamily="34" charset="-122"/>
                <a:cs typeface="MiSans" pitchFamily="34" charset="-120"/>
              </a:rPr>
              <a:t>以其强大的鲁棒性和高准确性著称，通过二阶泰勒展开更精确地逼近损失函数。</a:t>
            </a:r>
            <a:endParaRPr lang="en-US" sz="1600" dirty="0"/>
          </a:p>
        </p:txBody>
      </p:sp>
      <p:sp>
        <p:nvSpPr>
          <p:cNvPr id="23" name="Text 21"/>
          <p:cNvSpPr/>
          <p:nvPr/>
        </p:nvSpPr>
        <p:spPr>
          <a:xfrm>
            <a:off x="5858867" y="3784600"/>
            <a:ext cx="4648200" cy="355600"/>
          </a:xfrm>
          <a:prstGeom prst="rect">
            <a:avLst/>
          </a:prstGeom>
          <a:noFill/>
          <a:ln/>
        </p:spPr>
        <p:txBody>
          <a:bodyPr wrap="square" lIns="0" tIns="0" rIns="0" bIns="0" rtlCol="0" anchor="ctr"/>
          <a:lstStyle/>
          <a:p>
            <a:pPr>
              <a:lnSpc>
                <a:spcPct val="130000"/>
              </a:lnSpc>
            </a:pPr>
            <a:r>
              <a:rPr lang="en-US" sz="1800" b="1" dirty="0">
                <a:solidFill>
                  <a:srgbClr val="4C7E9A"/>
                </a:solidFill>
                <a:latin typeface="MiSans" pitchFamily="34" charset="0"/>
                <a:ea typeface="MiSans" pitchFamily="34" charset="-122"/>
                <a:cs typeface="MiSans" pitchFamily="34" charset="-120"/>
              </a:rPr>
              <a:t>核心技术</a:t>
            </a:r>
            <a:endParaRPr lang="en-US" sz="1600" dirty="0"/>
          </a:p>
        </p:txBody>
      </p:sp>
      <p:sp>
        <p:nvSpPr>
          <p:cNvPr id="24" name="Text 22"/>
          <p:cNvSpPr/>
          <p:nvPr/>
        </p:nvSpPr>
        <p:spPr>
          <a:xfrm>
            <a:off x="5858867" y="4191000"/>
            <a:ext cx="4622800" cy="254000"/>
          </a:xfrm>
          <a:prstGeom prst="rect">
            <a:avLst/>
          </a:prstGeom>
          <a:noFill/>
          <a:ln/>
        </p:spPr>
        <p:txBody>
          <a:bodyPr wrap="square" lIns="0" tIns="0" rIns="0" bIns="0" rtlCol="0" anchor="ctr"/>
          <a:lstStyle/>
          <a:p>
            <a:pPr>
              <a:lnSpc>
                <a:spcPct val="120000"/>
              </a:lnSpc>
            </a:pPr>
            <a:r>
              <a:rPr lang="en-US" sz="1400" dirty="0">
                <a:solidFill>
                  <a:srgbClr val="7E9AA8"/>
                </a:solidFill>
                <a:latin typeface="MiSans" pitchFamily="34" charset="0"/>
                <a:ea typeface="MiSans" pitchFamily="34" charset="-122"/>
                <a:cs typeface="MiSans" pitchFamily="34" charset="-120"/>
              </a:rPr>
              <a:t>• 二阶泰勒展开</a:t>
            </a:r>
            <a:endParaRPr lang="en-US" sz="1600" dirty="0"/>
          </a:p>
        </p:txBody>
      </p:sp>
      <p:sp>
        <p:nvSpPr>
          <p:cNvPr id="25" name="Text 23"/>
          <p:cNvSpPr/>
          <p:nvPr/>
        </p:nvSpPr>
        <p:spPr>
          <a:xfrm>
            <a:off x="5858867" y="4495800"/>
            <a:ext cx="4622800" cy="254000"/>
          </a:xfrm>
          <a:prstGeom prst="rect">
            <a:avLst/>
          </a:prstGeom>
          <a:noFill/>
          <a:ln/>
        </p:spPr>
        <p:txBody>
          <a:bodyPr wrap="square" lIns="0" tIns="0" rIns="0" bIns="0" rtlCol="0" anchor="ctr"/>
          <a:lstStyle/>
          <a:p>
            <a:pPr>
              <a:lnSpc>
                <a:spcPct val="120000"/>
              </a:lnSpc>
            </a:pPr>
            <a:r>
              <a:rPr lang="en-US" sz="1400" dirty="0">
                <a:solidFill>
                  <a:srgbClr val="7E9AA8"/>
                </a:solidFill>
                <a:latin typeface="MiSans" pitchFamily="34" charset="0"/>
                <a:ea typeface="MiSans" pitchFamily="34" charset="-122"/>
                <a:cs typeface="MiSans" pitchFamily="34" charset="-120"/>
              </a:rPr>
              <a:t>• L1/L2正则化</a:t>
            </a:r>
            <a:endParaRPr lang="en-US" sz="1600" dirty="0"/>
          </a:p>
        </p:txBody>
      </p:sp>
      <p:sp>
        <p:nvSpPr>
          <p:cNvPr id="26" name="Text 24"/>
          <p:cNvSpPr/>
          <p:nvPr/>
        </p:nvSpPr>
        <p:spPr>
          <a:xfrm>
            <a:off x="5858867" y="4800600"/>
            <a:ext cx="4622800" cy="254000"/>
          </a:xfrm>
          <a:prstGeom prst="rect">
            <a:avLst/>
          </a:prstGeom>
          <a:noFill/>
          <a:ln/>
        </p:spPr>
        <p:txBody>
          <a:bodyPr wrap="square" lIns="0" tIns="0" rIns="0" bIns="0" rtlCol="0" anchor="ctr"/>
          <a:lstStyle/>
          <a:p>
            <a:pPr>
              <a:lnSpc>
                <a:spcPct val="120000"/>
              </a:lnSpc>
            </a:pPr>
            <a:r>
              <a:rPr lang="en-US" sz="1400" dirty="0">
                <a:solidFill>
                  <a:srgbClr val="7E9AA8"/>
                </a:solidFill>
                <a:latin typeface="MiSans" pitchFamily="34" charset="0"/>
                <a:ea typeface="MiSans" pitchFamily="34" charset="-122"/>
                <a:cs typeface="MiSans" pitchFamily="34" charset="-120"/>
              </a:rPr>
              <a:t>• 列抽样技术</a:t>
            </a:r>
            <a:endParaRPr lang="en-US" sz="1600" dirty="0"/>
          </a:p>
        </p:txBody>
      </p:sp>
      <p:sp>
        <p:nvSpPr>
          <p:cNvPr id="27" name="Text 25"/>
          <p:cNvSpPr/>
          <p:nvPr/>
        </p:nvSpPr>
        <p:spPr>
          <a:xfrm>
            <a:off x="5858867" y="5156200"/>
            <a:ext cx="4648200" cy="355600"/>
          </a:xfrm>
          <a:prstGeom prst="rect">
            <a:avLst/>
          </a:prstGeom>
          <a:noFill/>
          <a:ln/>
        </p:spPr>
        <p:txBody>
          <a:bodyPr wrap="square" lIns="0" tIns="0" rIns="0" bIns="0" rtlCol="0" anchor="ctr"/>
          <a:lstStyle/>
          <a:p>
            <a:pPr>
              <a:lnSpc>
                <a:spcPct val="130000"/>
              </a:lnSpc>
            </a:pPr>
            <a:r>
              <a:rPr lang="en-US" sz="1800" b="1" dirty="0">
                <a:solidFill>
                  <a:srgbClr val="4C7E9A"/>
                </a:solidFill>
                <a:latin typeface="MiSans" pitchFamily="34" charset="0"/>
                <a:ea typeface="MiSans" pitchFamily="34" charset="-122"/>
                <a:cs typeface="MiSans" pitchFamily="34" charset="-120"/>
              </a:rPr>
              <a:t>适用场景</a:t>
            </a:r>
            <a:endParaRPr lang="en-US" sz="1600" dirty="0"/>
          </a:p>
        </p:txBody>
      </p:sp>
      <p:sp>
        <p:nvSpPr>
          <p:cNvPr id="28" name="Text 26"/>
          <p:cNvSpPr/>
          <p:nvPr/>
        </p:nvSpPr>
        <p:spPr>
          <a:xfrm>
            <a:off x="5858867" y="5562600"/>
            <a:ext cx="4635500" cy="304800"/>
          </a:xfrm>
          <a:prstGeom prst="rect">
            <a:avLst/>
          </a:prstGeom>
          <a:noFill/>
          <a:ln/>
        </p:spPr>
        <p:txBody>
          <a:bodyPr wrap="square" lIns="0" tIns="0" rIns="0" bIns="0" rtlCol="0" anchor="ctr"/>
          <a:lstStyle/>
          <a:p>
            <a:pPr>
              <a:lnSpc>
                <a:spcPct val="130000"/>
              </a:lnSpc>
            </a:pPr>
            <a:r>
              <a:rPr lang="en-US" sz="1600" dirty="0">
                <a:solidFill>
                  <a:srgbClr val="7E9AA8"/>
                </a:solidFill>
                <a:latin typeface="MiSans" pitchFamily="34" charset="0"/>
                <a:ea typeface="MiSans" pitchFamily="34" charset="-122"/>
                <a:cs typeface="MiSans" pitchFamily="34" charset="-120"/>
              </a:rPr>
              <a:t>以数值特征为主、需要高精度预测的任务</a:t>
            </a:r>
            <a:endParaRPr lang="en-US" sz="1600" dirty="0"/>
          </a:p>
        </p:txBody>
      </p:sp>
      <p:sp>
        <p:nvSpPr>
          <p:cNvPr id="29" name="Shape 27"/>
          <p:cNvSpPr/>
          <p:nvPr/>
        </p:nvSpPr>
        <p:spPr>
          <a:xfrm>
            <a:off x="10803434" y="1854200"/>
            <a:ext cx="4940300" cy="4546600"/>
          </a:xfrm>
          <a:custGeom>
            <a:avLst/>
            <a:gdLst/>
            <a:ahLst/>
            <a:cxnLst/>
            <a:rect l="l" t="t" r="r" b="b"/>
            <a:pathLst>
              <a:path w="4940300" h="4546600">
                <a:moveTo>
                  <a:pt x="50800" y="0"/>
                </a:moveTo>
                <a:lnTo>
                  <a:pt x="4889500" y="0"/>
                </a:lnTo>
                <a:cubicBezTo>
                  <a:pt x="4917537" y="0"/>
                  <a:pt x="4940300" y="22763"/>
                  <a:pt x="4940300" y="50800"/>
                </a:cubicBezTo>
                <a:lnTo>
                  <a:pt x="4940300" y="4444983"/>
                </a:lnTo>
                <a:cubicBezTo>
                  <a:pt x="4940300" y="4501105"/>
                  <a:pt x="4894805" y="4546600"/>
                  <a:pt x="4838683" y="4546600"/>
                </a:cubicBezTo>
                <a:lnTo>
                  <a:pt x="101617" y="4546600"/>
                </a:lnTo>
                <a:cubicBezTo>
                  <a:pt x="45495" y="4546600"/>
                  <a:pt x="0" y="4501105"/>
                  <a:pt x="0" y="4444983"/>
                </a:cubicBezTo>
                <a:lnTo>
                  <a:pt x="0" y="50800"/>
                </a:lnTo>
                <a:cubicBezTo>
                  <a:pt x="0" y="22763"/>
                  <a:pt x="22763" y="0"/>
                  <a:pt x="50800" y="0"/>
                </a:cubicBezTo>
                <a:close/>
              </a:path>
            </a:pathLst>
          </a:custGeom>
          <a:solidFill>
            <a:srgbClr val="3A5E78">
              <a:alpha val="20000"/>
            </a:srgbClr>
          </a:solidFill>
          <a:ln/>
        </p:spPr>
      </p:sp>
      <p:sp>
        <p:nvSpPr>
          <p:cNvPr id="30" name="Shape 28"/>
          <p:cNvSpPr/>
          <p:nvPr/>
        </p:nvSpPr>
        <p:spPr>
          <a:xfrm>
            <a:off x="10803434" y="1854200"/>
            <a:ext cx="4940300" cy="50800"/>
          </a:xfrm>
          <a:custGeom>
            <a:avLst/>
            <a:gdLst/>
            <a:ahLst/>
            <a:cxnLst/>
            <a:rect l="l" t="t" r="r" b="b"/>
            <a:pathLst>
              <a:path w="4940300" h="50800">
                <a:moveTo>
                  <a:pt x="50800" y="0"/>
                </a:moveTo>
                <a:lnTo>
                  <a:pt x="4889500" y="0"/>
                </a:lnTo>
                <a:cubicBezTo>
                  <a:pt x="4917537" y="0"/>
                  <a:pt x="4940300" y="22763"/>
                  <a:pt x="4940300" y="50800"/>
                </a:cubicBezTo>
                <a:lnTo>
                  <a:pt x="4940300" y="50800"/>
                </a:lnTo>
                <a:lnTo>
                  <a:pt x="0" y="50800"/>
                </a:lnTo>
                <a:lnTo>
                  <a:pt x="0" y="50800"/>
                </a:lnTo>
                <a:cubicBezTo>
                  <a:pt x="0" y="22763"/>
                  <a:pt x="22763" y="0"/>
                  <a:pt x="50800" y="0"/>
                </a:cubicBezTo>
                <a:close/>
              </a:path>
            </a:pathLst>
          </a:custGeom>
          <a:solidFill>
            <a:srgbClr val="4C7E9A"/>
          </a:solidFill>
          <a:ln/>
        </p:spPr>
      </p:sp>
      <p:sp>
        <p:nvSpPr>
          <p:cNvPr id="31" name="Shape 29"/>
          <p:cNvSpPr/>
          <p:nvPr/>
        </p:nvSpPr>
        <p:spPr>
          <a:xfrm>
            <a:off x="11081246" y="2082800"/>
            <a:ext cx="333375" cy="381000"/>
          </a:xfrm>
          <a:custGeom>
            <a:avLst/>
            <a:gdLst/>
            <a:ahLst/>
            <a:cxnLst/>
            <a:rect l="l" t="t" r="r" b="b"/>
            <a:pathLst>
              <a:path w="333375" h="381000">
                <a:moveTo>
                  <a:pt x="166688" y="-23812"/>
                </a:moveTo>
                <a:cubicBezTo>
                  <a:pt x="171896" y="-23812"/>
                  <a:pt x="176882" y="-21506"/>
                  <a:pt x="180305" y="-17487"/>
                </a:cubicBezTo>
                <a:lnTo>
                  <a:pt x="281508" y="101575"/>
                </a:lnTo>
                <a:cubicBezTo>
                  <a:pt x="286048" y="106859"/>
                  <a:pt x="287015" y="114300"/>
                  <a:pt x="284113" y="120625"/>
                </a:cubicBezTo>
                <a:cubicBezTo>
                  <a:pt x="281211" y="126950"/>
                  <a:pt x="274886" y="130969"/>
                  <a:pt x="267891" y="130969"/>
                </a:cubicBezTo>
                <a:lnTo>
                  <a:pt x="249362" y="130969"/>
                </a:lnTo>
                <a:lnTo>
                  <a:pt x="305321" y="196825"/>
                </a:lnTo>
                <a:cubicBezTo>
                  <a:pt x="309860" y="202109"/>
                  <a:pt x="310828" y="209550"/>
                  <a:pt x="307925" y="215875"/>
                </a:cubicBezTo>
                <a:cubicBezTo>
                  <a:pt x="305023" y="222200"/>
                  <a:pt x="298698" y="226219"/>
                  <a:pt x="291703" y="226219"/>
                </a:cubicBezTo>
                <a:lnTo>
                  <a:pt x="263054" y="226219"/>
                </a:lnTo>
                <a:lnTo>
                  <a:pt x="329133" y="303981"/>
                </a:lnTo>
                <a:cubicBezTo>
                  <a:pt x="333673" y="309265"/>
                  <a:pt x="334640" y="316706"/>
                  <a:pt x="331738" y="323031"/>
                </a:cubicBezTo>
                <a:cubicBezTo>
                  <a:pt x="328836" y="329357"/>
                  <a:pt x="322511" y="333375"/>
                  <a:pt x="315516" y="333375"/>
                </a:cubicBezTo>
                <a:lnTo>
                  <a:pt x="190500" y="333375"/>
                </a:lnTo>
                <a:lnTo>
                  <a:pt x="190500" y="381000"/>
                </a:lnTo>
                <a:cubicBezTo>
                  <a:pt x="190500" y="394171"/>
                  <a:pt x="179859" y="404813"/>
                  <a:pt x="166688" y="404813"/>
                </a:cubicBezTo>
                <a:cubicBezTo>
                  <a:pt x="153516" y="404813"/>
                  <a:pt x="142875" y="394171"/>
                  <a:pt x="142875" y="381000"/>
                </a:cubicBezTo>
                <a:lnTo>
                  <a:pt x="142875" y="333375"/>
                </a:lnTo>
                <a:lnTo>
                  <a:pt x="17859" y="333375"/>
                </a:lnTo>
                <a:cubicBezTo>
                  <a:pt x="10864" y="333375"/>
                  <a:pt x="4539" y="329357"/>
                  <a:pt x="1637" y="323031"/>
                </a:cubicBezTo>
                <a:cubicBezTo>
                  <a:pt x="-1265" y="316706"/>
                  <a:pt x="-298" y="309265"/>
                  <a:pt x="4242" y="303981"/>
                </a:cubicBezTo>
                <a:lnTo>
                  <a:pt x="70321" y="226219"/>
                </a:lnTo>
                <a:lnTo>
                  <a:pt x="41672" y="226219"/>
                </a:lnTo>
                <a:cubicBezTo>
                  <a:pt x="34677" y="226219"/>
                  <a:pt x="28352" y="222200"/>
                  <a:pt x="25450" y="215875"/>
                </a:cubicBezTo>
                <a:cubicBezTo>
                  <a:pt x="22547" y="209550"/>
                  <a:pt x="23515" y="202109"/>
                  <a:pt x="28054" y="196825"/>
                </a:cubicBezTo>
                <a:lnTo>
                  <a:pt x="84013" y="130969"/>
                </a:lnTo>
                <a:lnTo>
                  <a:pt x="65484" y="130969"/>
                </a:lnTo>
                <a:cubicBezTo>
                  <a:pt x="58489" y="130969"/>
                  <a:pt x="52164" y="126950"/>
                  <a:pt x="49262" y="120625"/>
                </a:cubicBezTo>
                <a:cubicBezTo>
                  <a:pt x="46360" y="114300"/>
                  <a:pt x="47327" y="106859"/>
                  <a:pt x="51867" y="101575"/>
                </a:cubicBezTo>
                <a:lnTo>
                  <a:pt x="153070" y="-17487"/>
                </a:lnTo>
                <a:cubicBezTo>
                  <a:pt x="156493" y="-21506"/>
                  <a:pt x="161479" y="-23812"/>
                  <a:pt x="166688" y="-23812"/>
                </a:cubicBezTo>
                <a:close/>
              </a:path>
            </a:pathLst>
          </a:custGeom>
          <a:solidFill>
            <a:srgbClr val="4C7E9A"/>
          </a:solidFill>
          <a:ln/>
        </p:spPr>
      </p:sp>
      <p:sp>
        <p:nvSpPr>
          <p:cNvPr id="32" name="Text 30"/>
          <p:cNvSpPr/>
          <p:nvPr/>
        </p:nvSpPr>
        <p:spPr>
          <a:xfrm>
            <a:off x="11635284" y="2095500"/>
            <a:ext cx="11430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随机森林</a:t>
            </a:r>
            <a:endParaRPr lang="en-US" sz="1600" dirty="0"/>
          </a:p>
        </p:txBody>
      </p:sp>
      <p:sp>
        <p:nvSpPr>
          <p:cNvPr id="33" name="Text 31"/>
          <p:cNvSpPr/>
          <p:nvPr/>
        </p:nvSpPr>
        <p:spPr>
          <a:xfrm>
            <a:off x="11006634" y="2616200"/>
            <a:ext cx="4648200" cy="355600"/>
          </a:xfrm>
          <a:prstGeom prst="rect">
            <a:avLst/>
          </a:prstGeom>
          <a:noFill/>
          <a:ln/>
        </p:spPr>
        <p:txBody>
          <a:bodyPr wrap="square" lIns="0" tIns="0" rIns="0" bIns="0" rtlCol="0" anchor="ctr"/>
          <a:lstStyle/>
          <a:p>
            <a:pPr>
              <a:lnSpc>
                <a:spcPct val="130000"/>
              </a:lnSpc>
            </a:pPr>
            <a:r>
              <a:rPr lang="en-US" sz="1800" b="1" dirty="0">
                <a:solidFill>
                  <a:srgbClr val="4C7E9A"/>
                </a:solidFill>
                <a:latin typeface="MiSans" pitchFamily="34" charset="0"/>
                <a:ea typeface="MiSans" pitchFamily="34" charset="-122"/>
                <a:cs typeface="MiSans" pitchFamily="34" charset="-120"/>
              </a:rPr>
              <a:t>主要优势</a:t>
            </a:r>
            <a:endParaRPr lang="en-US" sz="1600" dirty="0"/>
          </a:p>
        </p:txBody>
      </p:sp>
      <p:sp>
        <p:nvSpPr>
          <p:cNvPr id="34" name="Text 32"/>
          <p:cNvSpPr/>
          <p:nvPr/>
        </p:nvSpPr>
        <p:spPr>
          <a:xfrm>
            <a:off x="11006634" y="3022600"/>
            <a:ext cx="4635500" cy="990600"/>
          </a:xfrm>
          <a:prstGeom prst="rect">
            <a:avLst/>
          </a:prstGeom>
          <a:noFill/>
          <a:ln/>
        </p:spPr>
        <p:txBody>
          <a:bodyPr wrap="square" lIns="0" tIns="0" rIns="0" bIns="0" rtlCol="0" anchor="ctr"/>
          <a:lstStyle/>
          <a:p>
            <a:pPr>
              <a:lnSpc>
                <a:spcPct val="140000"/>
              </a:lnSpc>
            </a:pPr>
            <a:r>
              <a:rPr lang="en-US" sz="1600" dirty="0">
                <a:solidFill>
                  <a:srgbClr val="7E9AA8"/>
                </a:solidFill>
                <a:latin typeface="MiSans" pitchFamily="34" charset="0"/>
                <a:ea typeface="MiSans" pitchFamily="34" charset="-122"/>
                <a:cs typeface="MiSans" pitchFamily="34" charset="-120"/>
              </a:rPr>
              <a:t>能够捕捉特征间的复杂非线性关系，通过Bootstrap采样和特征随机选择构建差异化决策树。</a:t>
            </a:r>
            <a:endParaRPr lang="en-US" sz="1600" dirty="0"/>
          </a:p>
        </p:txBody>
      </p:sp>
      <p:sp>
        <p:nvSpPr>
          <p:cNvPr id="35" name="Text 33"/>
          <p:cNvSpPr/>
          <p:nvPr/>
        </p:nvSpPr>
        <p:spPr>
          <a:xfrm>
            <a:off x="11006634" y="4114800"/>
            <a:ext cx="4648200" cy="355600"/>
          </a:xfrm>
          <a:prstGeom prst="rect">
            <a:avLst/>
          </a:prstGeom>
          <a:noFill/>
          <a:ln/>
        </p:spPr>
        <p:txBody>
          <a:bodyPr wrap="square" lIns="0" tIns="0" rIns="0" bIns="0" rtlCol="0" anchor="ctr"/>
          <a:lstStyle/>
          <a:p>
            <a:pPr>
              <a:lnSpc>
                <a:spcPct val="130000"/>
              </a:lnSpc>
            </a:pPr>
            <a:r>
              <a:rPr lang="en-US" sz="1800" b="1" dirty="0">
                <a:solidFill>
                  <a:srgbClr val="4C7E9A"/>
                </a:solidFill>
                <a:latin typeface="MiSans" pitchFamily="34" charset="0"/>
                <a:ea typeface="MiSans" pitchFamily="34" charset="-122"/>
                <a:cs typeface="MiSans" pitchFamily="34" charset="-120"/>
              </a:rPr>
              <a:t>核心技术</a:t>
            </a:r>
            <a:endParaRPr lang="en-US" sz="1600" dirty="0"/>
          </a:p>
        </p:txBody>
      </p:sp>
      <p:sp>
        <p:nvSpPr>
          <p:cNvPr id="36" name="Text 34"/>
          <p:cNvSpPr/>
          <p:nvPr/>
        </p:nvSpPr>
        <p:spPr>
          <a:xfrm>
            <a:off x="11006634" y="4521200"/>
            <a:ext cx="4622800" cy="254000"/>
          </a:xfrm>
          <a:prstGeom prst="rect">
            <a:avLst/>
          </a:prstGeom>
          <a:noFill/>
          <a:ln/>
        </p:spPr>
        <p:txBody>
          <a:bodyPr wrap="square" lIns="0" tIns="0" rIns="0" bIns="0" rtlCol="0" anchor="ctr"/>
          <a:lstStyle/>
          <a:p>
            <a:pPr>
              <a:lnSpc>
                <a:spcPct val="120000"/>
              </a:lnSpc>
            </a:pPr>
            <a:r>
              <a:rPr lang="en-US" sz="1400" dirty="0">
                <a:solidFill>
                  <a:srgbClr val="7E9AA8"/>
                </a:solidFill>
                <a:latin typeface="MiSans" pitchFamily="34" charset="0"/>
                <a:ea typeface="MiSans" pitchFamily="34" charset="-122"/>
                <a:cs typeface="MiSans" pitchFamily="34" charset="-120"/>
              </a:rPr>
              <a:t>• Bootstrap采样</a:t>
            </a:r>
            <a:endParaRPr lang="en-US" sz="1600" dirty="0"/>
          </a:p>
        </p:txBody>
      </p:sp>
      <p:sp>
        <p:nvSpPr>
          <p:cNvPr id="37" name="Text 35"/>
          <p:cNvSpPr/>
          <p:nvPr/>
        </p:nvSpPr>
        <p:spPr>
          <a:xfrm>
            <a:off x="11006634" y="4826000"/>
            <a:ext cx="4622800" cy="254000"/>
          </a:xfrm>
          <a:prstGeom prst="rect">
            <a:avLst/>
          </a:prstGeom>
          <a:noFill/>
          <a:ln/>
        </p:spPr>
        <p:txBody>
          <a:bodyPr wrap="square" lIns="0" tIns="0" rIns="0" bIns="0" rtlCol="0" anchor="ctr"/>
          <a:lstStyle/>
          <a:p>
            <a:pPr>
              <a:lnSpc>
                <a:spcPct val="120000"/>
              </a:lnSpc>
            </a:pPr>
            <a:r>
              <a:rPr lang="en-US" sz="1400" dirty="0">
                <a:solidFill>
                  <a:srgbClr val="7E9AA8"/>
                </a:solidFill>
                <a:latin typeface="MiSans" pitchFamily="34" charset="0"/>
                <a:ea typeface="MiSans" pitchFamily="34" charset="-122"/>
                <a:cs typeface="MiSans" pitchFamily="34" charset="-120"/>
              </a:rPr>
              <a:t>• 特征随机选择</a:t>
            </a:r>
            <a:endParaRPr lang="en-US" sz="1600" dirty="0"/>
          </a:p>
        </p:txBody>
      </p:sp>
      <p:sp>
        <p:nvSpPr>
          <p:cNvPr id="38" name="Text 36"/>
          <p:cNvSpPr/>
          <p:nvPr/>
        </p:nvSpPr>
        <p:spPr>
          <a:xfrm>
            <a:off x="11006634" y="5130800"/>
            <a:ext cx="4622800" cy="254000"/>
          </a:xfrm>
          <a:prstGeom prst="rect">
            <a:avLst/>
          </a:prstGeom>
          <a:noFill/>
          <a:ln/>
        </p:spPr>
        <p:txBody>
          <a:bodyPr wrap="square" lIns="0" tIns="0" rIns="0" bIns="0" rtlCol="0" anchor="ctr"/>
          <a:lstStyle/>
          <a:p>
            <a:pPr>
              <a:lnSpc>
                <a:spcPct val="120000"/>
              </a:lnSpc>
            </a:pPr>
            <a:r>
              <a:rPr lang="en-US" sz="1400" dirty="0">
                <a:solidFill>
                  <a:srgbClr val="7E9AA8"/>
                </a:solidFill>
                <a:latin typeface="MiSans" pitchFamily="34" charset="0"/>
                <a:ea typeface="MiSans" pitchFamily="34" charset="-122"/>
                <a:cs typeface="MiSans" pitchFamily="34" charset="-120"/>
              </a:rPr>
              <a:t>• 投票机制集成</a:t>
            </a:r>
            <a:endParaRPr lang="en-US" sz="1600" dirty="0"/>
          </a:p>
        </p:txBody>
      </p:sp>
      <p:sp>
        <p:nvSpPr>
          <p:cNvPr id="39" name="Text 37"/>
          <p:cNvSpPr/>
          <p:nvPr/>
        </p:nvSpPr>
        <p:spPr>
          <a:xfrm>
            <a:off x="11006634" y="5486400"/>
            <a:ext cx="4648200" cy="355600"/>
          </a:xfrm>
          <a:prstGeom prst="rect">
            <a:avLst/>
          </a:prstGeom>
          <a:noFill/>
          <a:ln/>
        </p:spPr>
        <p:txBody>
          <a:bodyPr wrap="square" lIns="0" tIns="0" rIns="0" bIns="0" rtlCol="0" anchor="ctr"/>
          <a:lstStyle/>
          <a:p>
            <a:pPr>
              <a:lnSpc>
                <a:spcPct val="130000"/>
              </a:lnSpc>
            </a:pPr>
            <a:r>
              <a:rPr lang="en-US" sz="1800" b="1" dirty="0">
                <a:solidFill>
                  <a:srgbClr val="4C7E9A"/>
                </a:solidFill>
                <a:latin typeface="MiSans" pitchFamily="34" charset="0"/>
                <a:ea typeface="MiSans" pitchFamily="34" charset="-122"/>
                <a:cs typeface="MiSans" pitchFamily="34" charset="-120"/>
              </a:rPr>
              <a:t>适用场景</a:t>
            </a:r>
            <a:endParaRPr lang="en-US" sz="1600" dirty="0"/>
          </a:p>
        </p:txBody>
      </p:sp>
      <p:sp>
        <p:nvSpPr>
          <p:cNvPr id="40" name="Text 38"/>
          <p:cNvSpPr/>
          <p:nvPr/>
        </p:nvSpPr>
        <p:spPr>
          <a:xfrm>
            <a:off x="11006634" y="5892800"/>
            <a:ext cx="4635500" cy="304800"/>
          </a:xfrm>
          <a:prstGeom prst="rect">
            <a:avLst/>
          </a:prstGeom>
          <a:noFill/>
          <a:ln/>
        </p:spPr>
        <p:txBody>
          <a:bodyPr wrap="square" lIns="0" tIns="0" rIns="0" bIns="0" rtlCol="0" anchor="ctr"/>
          <a:lstStyle/>
          <a:p>
            <a:pPr>
              <a:lnSpc>
                <a:spcPct val="130000"/>
              </a:lnSpc>
            </a:pPr>
            <a:r>
              <a:rPr lang="en-US" sz="1600" dirty="0">
                <a:solidFill>
                  <a:srgbClr val="7E9AA8"/>
                </a:solidFill>
                <a:latin typeface="MiSans" pitchFamily="34" charset="0"/>
                <a:ea typeface="MiSans" pitchFamily="34" charset="-122"/>
                <a:cs typeface="MiSans" pitchFamily="34" charset="-120"/>
              </a:rPr>
              <a:t>数据质量不稳定、特征间存在复杂交互作用的场景</a:t>
            </a:r>
            <a:endParaRPr lang="en-US" sz="1600" dirty="0"/>
          </a:p>
        </p:txBody>
      </p:sp>
      <p:sp>
        <p:nvSpPr>
          <p:cNvPr id="41" name="Shape 39"/>
          <p:cNvSpPr/>
          <p:nvPr/>
        </p:nvSpPr>
        <p:spPr>
          <a:xfrm>
            <a:off x="514350" y="6610350"/>
            <a:ext cx="15227300" cy="1536700"/>
          </a:xfrm>
          <a:custGeom>
            <a:avLst/>
            <a:gdLst/>
            <a:ahLst/>
            <a:cxnLst/>
            <a:rect l="l" t="t" r="r" b="b"/>
            <a:pathLst>
              <a:path w="15227300" h="1536700">
                <a:moveTo>
                  <a:pt x="101607" y="0"/>
                </a:moveTo>
                <a:lnTo>
                  <a:pt x="15125693" y="0"/>
                </a:lnTo>
                <a:cubicBezTo>
                  <a:pt x="15181809" y="0"/>
                  <a:pt x="15227300" y="45491"/>
                  <a:pt x="15227300" y="101607"/>
                </a:cubicBezTo>
                <a:lnTo>
                  <a:pt x="15227300" y="1435093"/>
                </a:lnTo>
                <a:cubicBezTo>
                  <a:pt x="15227300" y="1491209"/>
                  <a:pt x="15181809" y="1536700"/>
                  <a:pt x="15125693" y="1536700"/>
                </a:cubicBezTo>
                <a:lnTo>
                  <a:pt x="101607" y="1536700"/>
                </a:lnTo>
                <a:cubicBezTo>
                  <a:pt x="45491" y="1536700"/>
                  <a:pt x="0" y="1491209"/>
                  <a:pt x="0" y="1435093"/>
                </a:cubicBezTo>
                <a:lnTo>
                  <a:pt x="0" y="101607"/>
                </a:lnTo>
                <a:cubicBezTo>
                  <a:pt x="0" y="45528"/>
                  <a:pt x="45528" y="0"/>
                  <a:pt x="101607" y="0"/>
                </a:cubicBezTo>
                <a:close/>
              </a:path>
            </a:pathLst>
          </a:custGeom>
          <a:solidFill>
            <a:srgbClr val="4C7E9A">
              <a:alpha val="10196"/>
            </a:srgbClr>
          </a:solidFill>
          <a:ln w="12700">
            <a:solidFill>
              <a:srgbClr val="4C7E9A">
                <a:alpha val="30196"/>
              </a:srgbClr>
            </a:solidFill>
            <a:prstDash val="solid"/>
          </a:ln>
        </p:spPr>
      </p:sp>
      <p:sp>
        <p:nvSpPr>
          <p:cNvPr id="42" name="Shape 40"/>
          <p:cNvSpPr/>
          <p:nvPr/>
        </p:nvSpPr>
        <p:spPr>
          <a:xfrm>
            <a:off x="822325" y="6819900"/>
            <a:ext cx="285750" cy="381000"/>
          </a:xfrm>
          <a:custGeom>
            <a:avLst/>
            <a:gdLst/>
            <a:ahLst/>
            <a:cxnLst/>
            <a:rect l="l" t="t" r="r" b="b"/>
            <a:pathLst>
              <a:path w="285750" h="381000">
                <a:moveTo>
                  <a:pt x="217959" y="285750"/>
                </a:moveTo>
                <a:cubicBezTo>
                  <a:pt x="223391" y="269156"/>
                  <a:pt x="234255" y="254124"/>
                  <a:pt x="246534" y="241176"/>
                </a:cubicBezTo>
                <a:cubicBezTo>
                  <a:pt x="270867" y="215578"/>
                  <a:pt x="285750" y="180975"/>
                  <a:pt x="285750" y="142875"/>
                </a:cubicBezTo>
                <a:cubicBezTo>
                  <a:pt x="285750" y="63996"/>
                  <a:pt x="221754" y="0"/>
                  <a:pt x="142875" y="0"/>
                </a:cubicBezTo>
                <a:cubicBezTo>
                  <a:pt x="63996" y="0"/>
                  <a:pt x="0" y="63996"/>
                  <a:pt x="0" y="142875"/>
                </a:cubicBezTo>
                <a:cubicBezTo>
                  <a:pt x="0" y="180975"/>
                  <a:pt x="14883" y="215578"/>
                  <a:pt x="39216" y="241176"/>
                </a:cubicBezTo>
                <a:cubicBezTo>
                  <a:pt x="51495" y="254124"/>
                  <a:pt x="62433" y="269156"/>
                  <a:pt x="67791" y="285750"/>
                </a:cubicBezTo>
                <a:lnTo>
                  <a:pt x="217884" y="285750"/>
                </a:lnTo>
                <a:close/>
                <a:moveTo>
                  <a:pt x="214313" y="321469"/>
                </a:moveTo>
                <a:lnTo>
                  <a:pt x="71438" y="321469"/>
                </a:lnTo>
                <a:lnTo>
                  <a:pt x="71438" y="333375"/>
                </a:lnTo>
                <a:cubicBezTo>
                  <a:pt x="71438" y="366266"/>
                  <a:pt x="98078" y="392906"/>
                  <a:pt x="130969" y="392906"/>
                </a:cubicBezTo>
                <a:lnTo>
                  <a:pt x="154781" y="392906"/>
                </a:lnTo>
                <a:cubicBezTo>
                  <a:pt x="187672" y="392906"/>
                  <a:pt x="214313" y="366266"/>
                  <a:pt x="214313" y="333375"/>
                </a:cubicBezTo>
                <a:lnTo>
                  <a:pt x="214313" y="321469"/>
                </a:lnTo>
                <a:close/>
                <a:moveTo>
                  <a:pt x="136922" y="83344"/>
                </a:moveTo>
                <a:cubicBezTo>
                  <a:pt x="107305" y="83344"/>
                  <a:pt x="83344" y="107305"/>
                  <a:pt x="83344" y="136922"/>
                </a:cubicBezTo>
                <a:cubicBezTo>
                  <a:pt x="83344" y="146819"/>
                  <a:pt x="75381" y="154781"/>
                  <a:pt x="65484" y="154781"/>
                </a:cubicBezTo>
                <a:cubicBezTo>
                  <a:pt x="55587" y="154781"/>
                  <a:pt x="47625" y="146819"/>
                  <a:pt x="47625" y="136922"/>
                </a:cubicBezTo>
                <a:cubicBezTo>
                  <a:pt x="47625" y="87585"/>
                  <a:pt x="87585" y="47625"/>
                  <a:pt x="136922" y="47625"/>
                </a:cubicBezTo>
                <a:cubicBezTo>
                  <a:pt x="146819" y="47625"/>
                  <a:pt x="154781" y="55587"/>
                  <a:pt x="154781" y="65484"/>
                </a:cubicBezTo>
                <a:cubicBezTo>
                  <a:pt x="154781" y="75381"/>
                  <a:pt x="146819" y="83344"/>
                  <a:pt x="136922" y="83344"/>
                </a:cubicBezTo>
                <a:close/>
              </a:path>
            </a:pathLst>
          </a:custGeom>
          <a:solidFill>
            <a:srgbClr val="4C7E9A"/>
          </a:solidFill>
          <a:ln/>
        </p:spPr>
      </p:sp>
      <p:sp>
        <p:nvSpPr>
          <p:cNvPr id="43" name="Text 41"/>
          <p:cNvSpPr/>
          <p:nvPr/>
        </p:nvSpPr>
        <p:spPr>
          <a:xfrm>
            <a:off x="1403350" y="6819900"/>
            <a:ext cx="142621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选择原则：多样性与互补性</a:t>
            </a:r>
            <a:endParaRPr lang="en-US" sz="1600" dirty="0"/>
          </a:p>
        </p:txBody>
      </p:sp>
      <p:sp>
        <p:nvSpPr>
          <p:cNvPr id="44" name="Text 42"/>
          <p:cNvSpPr/>
          <p:nvPr/>
        </p:nvSpPr>
        <p:spPr>
          <a:xfrm>
            <a:off x="1403350" y="7277100"/>
            <a:ext cx="14236700" cy="660400"/>
          </a:xfrm>
          <a:prstGeom prst="rect">
            <a:avLst/>
          </a:prstGeom>
          <a:noFill/>
          <a:ln/>
        </p:spPr>
        <p:txBody>
          <a:bodyPr wrap="square" lIns="0" tIns="0" rIns="0" bIns="0" rtlCol="0" anchor="ctr"/>
          <a:lstStyle/>
          <a:p>
            <a:pPr>
              <a:lnSpc>
                <a:spcPct val="140000"/>
              </a:lnSpc>
            </a:pPr>
            <a:r>
              <a:rPr lang="en-US" sz="1600" dirty="0">
                <a:solidFill>
                  <a:srgbClr val="7E9AA8"/>
                </a:solidFill>
                <a:latin typeface="MiSans" pitchFamily="34" charset="0"/>
                <a:ea typeface="MiSans" pitchFamily="34" charset="-122"/>
                <a:cs typeface="MiSans" pitchFamily="34" charset="-120"/>
              </a:rPr>
              <a:t>精心挑选三种各具特色且能够形成互补的模型组合。这种选择基于一个重要原则：</a:t>
            </a:r>
            <a:pPr>
              <a:lnSpc>
                <a:spcPct val="140000"/>
              </a:lnSpc>
            </a:pPr>
            <a:r>
              <a:rPr lang="en-US" sz="1600" b="1" dirty="0">
                <a:solidFill>
                  <a:srgbClr val="4C7E9A"/>
                </a:solidFill>
                <a:latin typeface="MiSans" pitchFamily="34" charset="0"/>
                <a:ea typeface="MiSans" pitchFamily="34" charset="-122"/>
                <a:cs typeface="MiSans" pitchFamily="34" charset="-120"/>
              </a:rPr>
              <a:t>好的集成需要基模型既有一定的准确性，又要有足够的多样性。</a:t>
            </a:r>
            <a:pPr>
              <a:lnSpc>
                <a:spcPct val="140000"/>
              </a:lnSpc>
            </a:pPr>
            <a:r>
              <a:rPr lang="en-US" sz="1600" dirty="0">
                <a:solidFill>
                  <a:srgbClr val="7E9AA8"/>
                </a:solidFill>
                <a:latin typeface="MiSans" pitchFamily="34" charset="0"/>
                <a:ea typeface="MiSans" pitchFamily="34" charset="-122"/>
                <a:cs typeface="MiSans" pitchFamily="34" charset="-120"/>
              </a:rPr>
              <a:t>LightGBM擅长处理类别特征，XGBoost提供高精度预测，随机森林捕捉复杂非线性关系，三者形成完美互补。</a:t>
            </a:r>
            <a:endParaRPr lang="en-US" sz="1600" dirty="0"/>
          </a:p>
        </p:txBody>
      </p:sp>
    </p:spTree>
  </p:cSld>
  <p:clrMapOvr>
    <a:masterClrMapping/>
  </p:clrMapOvr>
  <p:transition>
    <p:fade/>
    <p:spd val="med"/>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CASE STUDY</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融合方式设计</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24000"/>
            <a:ext cx="7577667" cy="5810250"/>
          </a:xfrm>
          <a:custGeom>
            <a:avLst/>
            <a:gdLst/>
            <a:ahLst/>
            <a:cxnLst/>
            <a:rect l="l" t="t" r="r" b="b"/>
            <a:pathLst>
              <a:path w="7577667" h="5810250">
                <a:moveTo>
                  <a:pt x="42333" y="0"/>
                </a:moveTo>
                <a:lnTo>
                  <a:pt x="7493011" y="0"/>
                </a:lnTo>
                <a:cubicBezTo>
                  <a:pt x="7539765" y="0"/>
                  <a:pt x="7577667" y="37901"/>
                  <a:pt x="7577667" y="84655"/>
                </a:cubicBezTo>
                <a:lnTo>
                  <a:pt x="7577667" y="5725595"/>
                </a:lnTo>
                <a:cubicBezTo>
                  <a:pt x="7577667" y="5772349"/>
                  <a:pt x="7539765" y="5810250"/>
                  <a:pt x="7493011" y="5810250"/>
                </a:cubicBezTo>
                <a:lnTo>
                  <a:pt x="42333" y="5810250"/>
                </a:lnTo>
                <a:cubicBezTo>
                  <a:pt x="18953" y="5810250"/>
                  <a:pt x="0" y="5791297"/>
                  <a:pt x="0" y="5767917"/>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24000"/>
            <a:ext cx="42333" cy="5810250"/>
          </a:xfrm>
          <a:custGeom>
            <a:avLst/>
            <a:gdLst/>
            <a:ahLst/>
            <a:cxnLst/>
            <a:rect l="l" t="t" r="r" b="b"/>
            <a:pathLst>
              <a:path w="42333" h="5810250">
                <a:moveTo>
                  <a:pt x="42333" y="0"/>
                </a:moveTo>
                <a:lnTo>
                  <a:pt x="42333" y="0"/>
                </a:lnTo>
                <a:lnTo>
                  <a:pt x="42333" y="5810250"/>
                </a:lnTo>
                <a:lnTo>
                  <a:pt x="42333" y="5810250"/>
                </a:lnTo>
                <a:cubicBezTo>
                  <a:pt x="18953" y="5810250"/>
                  <a:pt x="0" y="5791297"/>
                  <a:pt x="0" y="5767917"/>
                </a:cubicBezTo>
                <a:lnTo>
                  <a:pt x="0" y="42333"/>
                </a:lnTo>
                <a:cubicBezTo>
                  <a:pt x="0" y="18953"/>
                  <a:pt x="18953" y="0"/>
                  <a:pt x="42333" y="0"/>
                </a:cubicBezTo>
                <a:close/>
              </a:path>
            </a:pathLst>
          </a:custGeom>
          <a:solidFill>
            <a:srgbClr val="4C7E9A"/>
          </a:solidFill>
          <a:ln/>
        </p:spPr>
      </p:sp>
      <p:sp>
        <p:nvSpPr>
          <p:cNvPr id="7" name="Text 5"/>
          <p:cNvSpPr/>
          <p:nvPr/>
        </p:nvSpPr>
        <p:spPr>
          <a:xfrm>
            <a:off x="677333" y="1735667"/>
            <a:ext cx="7260167"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方案一：加权平均</a:t>
            </a:r>
            <a:endParaRPr lang="en-US" sz="1600" dirty="0"/>
          </a:p>
        </p:txBody>
      </p:sp>
      <p:sp>
        <p:nvSpPr>
          <p:cNvPr id="8" name="Text 6"/>
          <p:cNvSpPr/>
          <p:nvPr/>
        </p:nvSpPr>
        <p:spPr>
          <a:xfrm>
            <a:off x="677333" y="2243667"/>
            <a:ext cx="7228417" cy="306917"/>
          </a:xfrm>
          <a:prstGeom prst="rect">
            <a:avLst/>
          </a:prstGeom>
          <a:noFill/>
          <a:ln/>
        </p:spPr>
        <p:txBody>
          <a:bodyPr wrap="square" lIns="0" tIns="0" rIns="0" bIns="0" rtlCol="0" anchor="ctr"/>
          <a:lstStyle/>
          <a:p>
            <a:pPr>
              <a:lnSpc>
                <a:spcPct val="140000"/>
              </a:lnSpc>
            </a:pPr>
            <a:r>
              <a:rPr lang="en-US" sz="1500" dirty="0">
                <a:solidFill>
                  <a:srgbClr val="D1D5DB"/>
                </a:solidFill>
                <a:latin typeface="MiSans" pitchFamily="34" charset="0"/>
                <a:ea typeface="MiSans" pitchFamily="34" charset="-122"/>
                <a:cs typeface="MiSans" pitchFamily="34" charset="-120"/>
              </a:rPr>
              <a:t>一种简单而有效的融合策略。根据各模型在验证集上的相对性能来分配权重。</a:t>
            </a:r>
            <a:endParaRPr lang="en-US" sz="1600" dirty="0"/>
          </a:p>
        </p:txBody>
      </p:sp>
      <p:sp>
        <p:nvSpPr>
          <p:cNvPr id="9" name="Shape 7"/>
          <p:cNvSpPr/>
          <p:nvPr/>
        </p:nvSpPr>
        <p:spPr>
          <a:xfrm>
            <a:off x="677333" y="2722563"/>
            <a:ext cx="7133167" cy="1693333"/>
          </a:xfrm>
          <a:custGeom>
            <a:avLst/>
            <a:gdLst/>
            <a:ahLst/>
            <a:cxnLst/>
            <a:rect l="l" t="t" r="r" b="b"/>
            <a:pathLst>
              <a:path w="7133167" h="1693333">
                <a:moveTo>
                  <a:pt x="42333" y="0"/>
                </a:moveTo>
                <a:lnTo>
                  <a:pt x="7090833" y="0"/>
                </a:lnTo>
                <a:cubicBezTo>
                  <a:pt x="7114213" y="0"/>
                  <a:pt x="7133167" y="18953"/>
                  <a:pt x="7133167" y="42333"/>
                </a:cubicBezTo>
                <a:lnTo>
                  <a:pt x="7133167" y="1651000"/>
                </a:lnTo>
                <a:cubicBezTo>
                  <a:pt x="7133167" y="1674380"/>
                  <a:pt x="7114213" y="1693333"/>
                  <a:pt x="7090833" y="1693333"/>
                </a:cubicBezTo>
                <a:lnTo>
                  <a:pt x="42333" y="1693333"/>
                </a:lnTo>
                <a:cubicBezTo>
                  <a:pt x="18953" y="1693333"/>
                  <a:pt x="0" y="1674380"/>
                  <a:pt x="0" y="1651000"/>
                </a:cubicBezTo>
                <a:lnTo>
                  <a:pt x="0" y="42333"/>
                </a:lnTo>
                <a:cubicBezTo>
                  <a:pt x="0" y="18953"/>
                  <a:pt x="18953" y="0"/>
                  <a:pt x="42333" y="0"/>
                </a:cubicBezTo>
                <a:close/>
              </a:path>
            </a:pathLst>
          </a:custGeom>
          <a:solidFill>
            <a:srgbClr val="181A1F">
              <a:alpha val="50196"/>
            </a:srgbClr>
          </a:solidFill>
          <a:ln/>
        </p:spPr>
      </p:sp>
      <p:sp>
        <p:nvSpPr>
          <p:cNvPr id="10" name="Text 8"/>
          <p:cNvSpPr/>
          <p:nvPr/>
        </p:nvSpPr>
        <p:spPr>
          <a:xfrm>
            <a:off x="804333" y="2849563"/>
            <a:ext cx="6974417"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权重分配示例</a:t>
            </a:r>
            <a:endParaRPr lang="en-US" sz="1600" dirty="0"/>
          </a:p>
        </p:txBody>
      </p:sp>
      <p:sp>
        <p:nvSpPr>
          <p:cNvPr id="11" name="Text 9"/>
          <p:cNvSpPr/>
          <p:nvPr/>
        </p:nvSpPr>
        <p:spPr>
          <a:xfrm>
            <a:off x="804333" y="3251729"/>
            <a:ext cx="857250"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LightGBM</a:t>
            </a:r>
            <a:endParaRPr lang="en-US" sz="1600" dirty="0"/>
          </a:p>
        </p:txBody>
      </p:sp>
      <p:sp>
        <p:nvSpPr>
          <p:cNvPr id="12" name="Text 10"/>
          <p:cNvSpPr/>
          <p:nvPr/>
        </p:nvSpPr>
        <p:spPr>
          <a:xfrm>
            <a:off x="7400148" y="3230563"/>
            <a:ext cx="381000"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0.5</a:t>
            </a:r>
            <a:endParaRPr lang="en-US" sz="1600" dirty="0"/>
          </a:p>
        </p:txBody>
      </p:sp>
      <p:sp>
        <p:nvSpPr>
          <p:cNvPr id="13" name="Text 11"/>
          <p:cNvSpPr/>
          <p:nvPr/>
        </p:nvSpPr>
        <p:spPr>
          <a:xfrm>
            <a:off x="804333" y="3632729"/>
            <a:ext cx="762000"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XGBoost</a:t>
            </a:r>
            <a:endParaRPr lang="en-US" sz="1600" dirty="0"/>
          </a:p>
        </p:txBody>
      </p:sp>
      <p:sp>
        <p:nvSpPr>
          <p:cNvPr id="14" name="Text 12"/>
          <p:cNvSpPr/>
          <p:nvPr/>
        </p:nvSpPr>
        <p:spPr>
          <a:xfrm>
            <a:off x="7401884" y="3611563"/>
            <a:ext cx="381000"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0.3</a:t>
            </a:r>
            <a:endParaRPr lang="en-US" sz="1600" dirty="0"/>
          </a:p>
        </p:txBody>
      </p:sp>
      <p:sp>
        <p:nvSpPr>
          <p:cNvPr id="15" name="Text 13"/>
          <p:cNvSpPr/>
          <p:nvPr/>
        </p:nvSpPr>
        <p:spPr>
          <a:xfrm>
            <a:off x="804333" y="4013729"/>
            <a:ext cx="762000"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随机森林</a:t>
            </a:r>
            <a:endParaRPr lang="en-US" sz="1600" dirty="0"/>
          </a:p>
        </p:txBody>
      </p:sp>
      <p:sp>
        <p:nvSpPr>
          <p:cNvPr id="16" name="Text 14"/>
          <p:cNvSpPr/>
          <p:nvPr/>
        </p:nvSpPr>
        <p:spPr>
          <a:xfrm>
            <a:off x="7406845" y="3992563"/>
            <a:ext cx="37041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0.2</a:t>
            </a:r>
            <a:endParaRPr lang="en-US" sz="1600" dirty="0"/>
          </a:p>
        </p:txBody>
      </p:sp>
      <p:sp>
        <p:nvSpPr>
          <p:cNvPr id="17" name="Shape 15"/>
          <p:cNvSpPr/>
          <p:nvPr/>
        </p:nvSpPr>
        <p:spPr>
          <a:xfrm>
            <a:off x="677333" y="4542896"/>
            <a:ext cx="7133167" cy="1354667"/>
          </a:xfrm>
          <a:custGeom>
            <a:avLst/>
            <a:gdLst/>
            <a:ahLst/>
            <a:cxnLst/>
            <a:rect l="l" t="t" r="r" b="b"/>
            <a:pathLst>
              <a:path w="7133167" h="1354667">
                <a:moveTo>
                  <a:pt x="42333" y="0"/>
                </a:moveTo>
                <a:lnTo>
                  <a:pt x="7090833" y="0"/>
                </a:lnTo>
                <a:cubicBezTo>
                  <a:pt x="7114213" y="0"/>
                  <a:pt x="7133167" y="18953"/>
                  <a:pt x="7133167" y="42333"/>
                </a:cubicBezTo>
                <a:lnTo>
                  <a:pt x="7133167" y="1312333"/>
                </a:lnTo>
                <a:cubicBezTo>
                  <a:pt x="7133167" y="1335713"/>
                  <a:pt x="7114213" y="1354667"/>
                  <a:pt x="7090833" y="1354667"/>
                </a:cubicBezTo>
                <a:lnTo>
                  <a:pt x="42333" y="1354667"/>
                </a:lnTo>
                <a:cubicBezTo>
                  <a:pt x="18953" y="1354667"/>
                  <a:pt x="0" y="1335713"/>
                  <a:pt x="0" y="1312333"/>
                </a:cubicBezTo>
                <a:lnTo>
                  <a:pt x="0" y="42333"/>
                </a:lnTo>
                <a:cubicBezTo>
                  <a:pt x="0" y="18953"/>
                  <a:pt x="18953" y="0"/>
                  <a:pt x="42333" y="0"/>
                </a:cubicBezTo>
                <a:close/>
              </a:path>
            </a:pathLst>
          </a:custGeom>
          <a:solidFill>
            <a:srgbClr val="181A1F">
              <a:alpha val="50196"/>
            </a:srgbClr>
          </a:solidFill>
          <a:ln/>
        </p:spPr>
      </p:sp>
      <p:sp>
        <p:nvSpPr>
          <p:cNvPr id="18" name="Text 16"/>
          <p:cNvSpPr/>
          <p:nvPr/>
        </p:nvSpPr>
        <p:spPr>
          <a:xfrm>
            <a:off x="804333" y="4669896"/>
            <a:ext cx="6974417"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优势</a:t>
            </a:r>
            <a:endParaRPr lang="en-US" sz="1600" dirty="0"/>
          </a:p>
        </p:txBody>
      </p:sp>
      <p:sp>
        <p:nvSpPr>
          <p:cNvPr id="19" name="Shape 17"/>
          <p:cNvSpPr/>
          <p:nvPr/>
        </p:nvSpPr>
        <p:spPr>
          <a:xfrm>
            <a:off x="834760" y="5082646"/>
            <a:ext cx="129646" cy="148167"/>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4C7E9A"/>
          </a:solidFill>
          <a:ln/>
        </p:spPr>
      </p:sp>
      <p:sp>
        <p:nvSpPr>
          <p:cNvPr id="20" name="Text 18"/>
          <p:cNvSpPr/>
          <p:nvPr/>
        </p:nvSpPr>
        <p:spPr>
          <a:xfrm>
            <a:off x="1065389" y="5050896"/>
            <a:ext cx="6692194"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计算开销小</a:t>
            </a:r>
            <a:endParaRPr lang="en-US" sz="1600" dirty="0"/>
          </a:p>
        </p:txBody>
      </p:sp>
      <p:sp>
        <p:nvSpPr>
          <p:cNvPr id="21" name="Shape 19"/>
          <p:cNvSpPr/>
          <p:nvPr/>
        </p:nvSpPr>
        <p:spPr>
          <a:xfrm>
            <a:off x="834760" y="5336646"/>
            <a:ext cx="129646" cy="148167"/>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4C7E9A"/>
          </a:solidFill>
          <a:ln/>
        </p:spPr>
      </p:sp>
      <p:sp>
        <p:nvSpPr>
          <p:cNvPr id="22" name="Text 20"/>
          <p:cNvSpPr/>
          <p:nvPr/>
        </p:nvSpPr>
        <p:spPr>
          <a:xfrm>
            <a:off x="1065389" y="5304896"/>
            <a:ext cx="6692194"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易于实现和解释</a:t>
            </a:r>
            <a:endParaRPr lang="en-US" sz="1600" dirty="0"/>
          </a:p>
        </p:txBody>
      </p:sp>
      <p:sp>
        <p:nvSpPr>
          <p:cNvPr id="23" name="Shape 21"/>
          <p:cNvSpPr/>
          <p:nvPr/>
        </p:nvSpPr>
        <p:spPr>
          <a:xfrm>
            <a:off x="834760" y="5590646"/>
            <a:ext cx="129646" cy="148167"/>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4C7E9A"/>
          </a:solidFill>
          <a:ln/>
        </p:spPr>
      </p:sp>
      <p:sp>
        <p:nvSpPr>
          <p:cNvPr id="24" name="Text 22"/>
          <p:cNvSpPr/>
          <p:nvPr/>
        </p:nvSpPr>
        <p:spPr>
          <a:xfrm>
            <a:off x="1065389" y="5558896"/>
            <a:ext cx="6692194"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有效结合不同模型优势</a:t>
            </a:r>
            <a:endParaRPr lang="en-US" sz="1600" dirty="0"/>
          </a:p>
        </p:txBody>
      </p:sp>
      <p:sp>
        <p:nvSpPr>
          <p:cNvPr id="25" name="Shape 23"/>
          <p:cNvSpPr/>
          <p:nvPr/>
        </p:nvSpPr>
        <p:spPr>
          <a:xfrm>
            <a:off x="677333" y="6024563"/>
            <a:ext cx="7133167" cy="1100667"/>
          </a:xfrm>
          <a:custGeom>
            <a:avLst/>
            <a:gdLst/>
            <a:ahLst/>
            <a:cxnLst/>
            <a:rect l="l" t="t" r="r" b="b"/>
            <a:pathLst>
              <a:path w="7133167" h="1100667">
                <a:moveTo>
                  <a:pt x="42332" y="0"/>
                </a:moveTo>
                <a:lnTo>
                  <a:pt x="7090835" y="0"/>
                </a:lnTo>
                <a:cubicBezTo>
                  <a:pt x="7114214" y="0"/>
                  <a:pt x="7133167" y="18953"/>
                  <a:pt x="7133167" y="42332"/>
                </a:cubicBezTo>
                <a:lnTo>
                  <a:pt x="7133167" y="1058335"/>
                </a:lnTo>
                <a:cubicBezTo>
                  <a:pt x="7133167" y="1081714"/>
                  <a:pt x="7114214" y="1100667"/>
                  <a:pt x="7090835" y="1100667"/>
                </a:cubicBezTo>
                <a:lnTo>
                  <a:pt x="42332" y="1100667"/>
                </a:lnTo>
                <a:cubicBezTo>
                  <a:pt x="18953" y="1100667"/>
                  <a:pt x="0" y="1081714"/>
                  <a:pt x="0" y="1058335"/>
                </a:cubicBezTo>
                <a:lnTo>
                  <a:pt x="0" y="42332"/>
                </a:lnTo>
                <a:cubicBezTo>
                  <a:pt x="0" y="18968"/>
                  <a:pt x="18968" y="0"/>
                  <a:pt x="42332" y="0"/>
                </a:cubicBezTo>
                <a:close/>
              </a:path>
            </a:pathLst>
          </a:custGeom>
          <a:solidFill>
            <a:srgbClr val="181A1F">
              <a:alpha val="50196"/>
            </a:srgbClr>
          </a:solidFill>
          <a:ln/>
        </p:spPr>
      </p:sp>
      <p:sp>
        <p:nvSpPr>
          <p:cNvPr id="26" name="Text 24"/>
          <p:cNvSpPr/>
          <p:nvPr/>
        </p:nvSpPr>
        <p:spPr>
          <a:xfrm>
            <a:off x="804333" y="6151563"/>
            <a:ext cx="6974417"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数学表达</a:t>
            </a:r>
            <a:endParaRPr lang="en-US" sz="1600" dirty="0"/>
          </a:p>
        </p:txBody>
      </p:sp>
      <p:sp>
        <p:nvSpPr>
          <p:cNvPr id="27" name="Shape 25"/>
          <p:cNvSpPr/>
          <p:nvPr/>
        </p:nvSpPr>
        <p:spPr>
          <a:xfrm>
            <a:off x="804333" y="6532563"/>
            <a:ext cx="6879167" cy="465667"/>
          </a:xfrm>
          <a:custGeom>
            <a:avLst/>
            <a:gdLst/>
            <a:ahLst/>
            <a:cxnLst/>
            <a:rect l="l" t="t" r="r" b="b"/>
            <a:pathLst>
              <a:path w="6879167" h="465667">
                <a:moveTo>
                  <a:pt x="42334" y="0"/>
                </a:moveTo>
                <a:lnTo>
                  <a:pt x="6836833" y="0"/>
                </a:lnTo>
                <a:cubicBezTo>
                  <a:pt x="6860213" y="0"/>
                  <a:pt x="6879167" y="18953"/>
                  <a:pt x="6879167" y="42334"/>
                </a:cubicBezTo>
                <a:lnTo>
                  <a:pt x="6879167" y="423333"/>
                </a:lnTo>
                <a:cubicBezTo>
                  <a:pt x="6879167" y="446713"/>
                  <a:pt x="6860213" y="465667"/>
                  <a:pt x="6836833" y="465667"/>
                </a:cubicBezTo>
                <a:lnTo>
                  <a:pt x="42334" y="465667"/>
                </a:lnTo>
                <a:cubicBezTo>
                  <a:pt x="18953" y="465667"/>
                  <a:pt x="0" y="446713"/>
                  <a:pt x="0" y="423333"/>
                </a:cubicBezTo>
                <a:lnTo>
                  <a:pt x="0" y="42334"/>
                </a:lnTo>
                <a:cubicBezTo>
                  <a:pt x="0" y="18953"/>
                  <a:pt x="18953" y="0"/>
                  <a:pt x="42334" y="0"/>
                </a:cubicBezTo>
                <a:close/>
              </a:path>
            </a:pathLst>
          </a:custGeom>
          <a:solidFill>
            <a:srgbClr val="181A1F"/>
          </a:solidFill>
          <a:ln/>
        </p:spPr>
      </p:sp>
      <p:sp>
        <p:nvSpPr>
          <p:cNvPr id="28" name="Text 26"/>
          <p:cNvSpPr/>
          <p:nvPr/>
        </p:nvSpPr>
        <p:spPr>
          <a:xfrm>
            <a:off x="841375" y="6617229"/>
            <a:ext cx="6805083" cy="296333"/>
          </a:xfrm>
          <a:prstGeom prst="rect">
            <a:avLst/>
          </a:prstGeom>
          <a:noFill/>
          <a:ln/>
        </p:spPr>
        <p:txBody>
          <a:bodyPr wrap="square" lIns="0" tIns="0" rIns="0" bIns="0" rtlCol="0" anchor="ctr"/>
          <a:lstStyle/>
          <a:p>
            <a:pPr algn="ctr">
              <a:lnSpc>
                <a:spcPct val="130000"/>
              </a:lnSpc>
            </a:pPr>
            <a:r>
              <a:rPr lang="en-US" sz="1500" dirty="0">
                <a:solidFill>
                  <a:srgbClr val="7E9AA8"/>
                </a:solidFill>
                <a:latin typeface="MiSans" pitchFamily="34" charset="0"/>
                <a:ea typeface="MiSans" pitchFamily="34" charset="-122"/>
                <a:cs typeface="MiSans" pitchFamily="34" charset="-120"/>
              </a:rPr>
              <a:t>y = 0.5×y_LGB + 0.3×y_XGB + 0.2×y_RF</a:t>
            </a:r>
            <a:endParaRPr lang="en-US" sz="1600" dirty="0"/>
          </a:p>
        </p:txBody>
      </p:sp>
      <p:sp>
        <p:nvSpPr>
          <p:cNvPr id="29" name="Shape 27"/>
          <p:cNvSpPr/>
          <p:nvPr/>
        </p:nvSpPr>
        <p:spPr>
          <a:xfrm>
            <a:off x="8255000" y="1524000"/>
            <a:ext cx="7577667" cy="5810250"/>
          </a:xfrm>
          <a:custGeom>
            <a:avLst/>
            <a:gdLst/>
            <a:ahLst/>
            <a:cxnLst/>
            <a:rect l="l" t="t" r="r" b="b"/>
            <a:pathLst>
              <a:path w="7577667" h="5810250">
                <a:moveTo>
                  <a:pt x="42333" y="0"/>
                </a:moveTo>
                <a:lnTo>
                  <a:pt x="7493011" y="0"/>
                </a:lnTo>
                <a:cubicBezTo>
                  <a:pt x="7539765" y="0"/>
                  <a:pt x="7577667" y="37901"/>
                  <a:pt x="7577667" y="84655"/>
                </a:cubicBezTo>
                <a:lnTo>
                  <a:pt x="7577667" y="5725595"/>
                </a:lnTo>
                <a:cubicBezTo>
                  <a:pt x="7577667" y="5772349"/>
                  <a:pt x="7539765" y="5810250"/>
                  <a:pt x="7493011" y="5810250"/>
                </a:cubicBezTo>
                <a:lnTo>
                  <a:pt x="42333" y="5810250"/>
                </a:lnTo>
                <a:cubicBezTo>
                  <a:pt x="18953" y="5810250"/>
                  <a:pt x="0" y="5791297"/>
                  <a:pt x="0" y="5767917"/>
                </a:cubicBezTo>
                <a:lnTo>
                  <a:pt x="0" y="42333"/>
                </a:lnTo>
                <a:cubicBezTo>
                  <a:pt x="0" y="18953"/>
                  <a:pt x="18953" y="0"/>
                  <a:pt x="42333" y="0"/>
                </a:cubicBezTo>
                <a:close/>
              </a:path>
            </a:pathLst>
          </a:custGeom>
          <a:solidFill>
            <a:srgbClr val="3A5E78">
              <a:alpha val="20000"/>
            </a:srgbClr>
          </a:solidFill>
          <a:ln/>
        </p:spPr>
      </p:sp>
      <p:sp>
        <p:nvSpPr>
          <p:cNvPr id="30" name="Shape 28"/>
          <p:cNvSpPr/>
          <p:nvPr/>
        </p:nvSpPr>
        <p:spPr>
          <a:xfrm>
            <a:off x="8255000" y="1524000"/>
            <a:ext cx="42333" cy="5810250"/>
          </a:xfrm>
          <a:custGeom>
            <a:avLst/>
            <a:gdLst/>
            <a:ahLst/>
            <a:cxnLst/>
            <a:rect l="l" t="t" r="r" b="b"/>
            <a:pathLst>
              <a:path w="42333" h="5810250">
                <a:moveTo>
                  <a:pt x="42333" y="0"/>
                </a:moveTo>
                <a:lnTo>
                  <a:pt x="42333" y="0"/>
                </a:lnTo>
                <a:lnTo>
                  <a:pt x="42333" y="5810250"/>
                </a:lnTo>
                <a:lnTo>
                  <a:pt x="42333" y="5810250"/>
                </a:lnTo>
                <a:cubicBezTo>
                  <a:pt x="18953" y="5810250"/>
                  <a:pt x="0" y="5791297"/>
                  <a:pt x="0" y="5767917"/>
                </a:cubicBezTo>
                <a:lnTo>
                  <a:pt x="0" y="42333"/>
                </a:lnTo>
                <a:cubicBezTo>
                  <a:pt x="0" y="18953"/>
                  <a:pt x="18953" y="0"/>
                  <a:pt x="42333" y="0"/>
                </a:cubicBezTo>
                <a:close/>
              </a:path>
            </a:pathLst>
          </a:custGeom>
          <a:solidFill>
            <a:srgbClr val="7E9AA8"/>
          </a:solidFill>
          <a:ln/>
        </p:spPr>
      </p:sp>
      <p:sp>
        <p:nvSpPr>
          <p:cNvPr id="31" name="Text 29"/>
          <p:cNvSpPr/>
          <p:nvPr/>
        </p:nvSpPr>
        <p:spPr>
          <a:xfrm>
            <a:off x="8487833" y="1735667"/>
            <a:ext cx="7260167"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方案二：Stacking</a:t>
            </a:r>
            <a:endParaRPr lang="en-US" sz="1600" dirty="0"/>
          </a:p>
        </p:txBody>
      </p:sp>
      <p:sp>
        <p:nvSpPr>
          <p:cNvPr id="32" name="Text 30"/>
          <p:cNvSpPr/>
          <p:nvPr/>
        </p:nvSpPr>
        <p:spPr>
          <a:xfrm>
            <a:off x="8487833" y="2243667"/>
            <a:ext cx="7228417" cy="306917"/>
          </a:xfrm>
          <a:prstGeom prst="rect">
            <a:avLst/>
          </a:prstGeom>
          <a:noFill/>
          <a:ln/>
        </p:spPr>
        <p:txBody>
          <a:bodyPr wrap="square" lIns="0" tIns="0" rIns="0" bIns="0" rtlCol="0" anchor="ctr"/>
          <a:lstStyle/>
          <a:p>
            <a:pPr>
              <a:lnSpc>
                <a:spcPct val="140000"/>
              </a:lnSpc>
            </a:pPr>
            <a:r>
              <a:rPr lang="en-US" sz="1500" dirty="0">
                <a:solidFill>
                  <a:srgbClr val="D1D5DB"/>
                </a:solidFill>
                <a:latin typeface="MiSans" pitchFamily="34" charset="0"/>
                <a:ea typeface="MiSans" pitchFamily="34" charset="-122"/>
                <a:cs typeface="MiSans" pitchFamily="34" charset="-120"/>
              </a:rPr>
              <a:t>一种更高级的融合技术，能够挖掘基模型预测结果之间的互补信息。</a:t>
            </a:r>
            <a:endParaRPr lang="en-US" sz="1600" dirty="0"/>
          </a:p>
        </p:txBody>
      </p:sp>
      <p:sp>
        <p:nvSpPr>
          <p:cNvPr id="33" name="Shape 31"/>
          <p:cNvSpPr/>
          <p:nvPr/>
        </p:nvSpPr>
        <p:spPr>
          <a:xfrm>
            <a:off x="8487833" y="2722563"/>
            <a:ext cx="7133167" cy="1566333"/>
          </a:xfrm>
          <a:custGeom>
            <a:avLst/>
            <a:gdLst/>
            <a:ahLst/>
            <a:cxnLst/>
            <a:rect l="l" t="t" r="r" b="b"/>
            <a:pathLst>
              <a:path w="7133167" h="1566333">
                <a:moveTo>
                  <a:pt x="42338" y="0"/>
                </a:moveTo>
                <a:lnTo>
                  <a:pt x="7090829" y="0"/>
                </a:lnTo>
                <a:cubicBezTo>
                  <a:pt x="7114211" y="0"/>
                  <a:pt x="7133167" y="18955"/>
                  <a:pt x="7133167" y="42338"/>
                </a:cubicBezTo>
                <a:lnTo>
                  <a:pt x="7133167" y="1523995"/>
                </a:lnTo>
                <a:cubicBezTo>
                  <a:pt x="7133167" y="1547378"/>
                  <a:pt x="7114211" y="1566333"/>
                  <a:pt x="7090829" y="1566333"/>
                </a:cubicBezTo>
                <a:lnTo>
                  <a:pt x="42338" y="1566333"/>
                </a:lnTo>
                <a:cubicBezTo>
                  <a:pt x="18955" y="1566333"/>
                  <a:pt x="0" y="1547378"/>
                  <a:pt x="0" y="1523995"/>
                </a:cubicBezTo>
                <a:lnTo>
                  <a:pt x="0" y="42338"/>
                </a:lnTo>
                <a:cubicBezTo>
                  <a:pt x="0" y="18971"/>
                  <a:pt x="18971" y="0"/>
                  <a:pt x="42338" y="0"/>
                </a:cubicBezTo>
                <a:close/>
              </a:path>
            </a:pathLst>
          </a:custGeom>
          <a:solidFill>
            <a:srgbClr val="181A1F">
              <a:alpha val="50196"/>
            </a:srgbClr>
          </a:solidFill>
          <a:ln/>
        </p:spPr>
      </p:sp>
      <p:sp>
        <p:nvSpPr>
          <p:cNvPr id="34" name="Text 32"/>
          <p:cNvSpPr/>
          <p:nvPr/>
        </p:nvSpPr>
        <p:spPr>
          <a:xfrm>
            <a:off x="8614833" y="2849563"/>
            <a:ext cx="6974417"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实现步骤</a:t>
            </a:r>
            <a:endParaRPr lang="en-US" sz="1600" dirty="0"/>
          </a:p>
        </p:txBody>
      </p:sp>
      <p:sp>
        <p:nvSpPr>
          <p:cNvPr id="35" name="Shape 33"/>
          <p:cNvSpPr/>
          <p:nvPr/>
        </p:nvSpPr>
        <p:spPr>
          <a:xfrm>
            <a:off x="8614833" y="3230563"/>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4C7E9A"/>
          </a:solidFill>
          <a:ln/>
        </p:spPr>
      </p:sp>
      <p:sp>
        <p:nvSpPr>
          <p:cNvPr id="36" name="Text 34"/>
          <p:cNvSpPr/>
          <p:nvPr/>
        </p:nvSpPr>
        <p:spPr>
          <a:xfrm>
            <a:off x="8577792" y="3230563"/>
            <a:ext cx="328083" cy="254000"/>
          </a:xfrm>
          <a:prstGeom prst="rect">
            <a:avLst/>
          </a:prstGeom>
          <a:noFill/>
          <a:ln/>
        </p:spPr>
        <p:txBody>
          <a:bodyPr wrap="square" lIns="0" tIns="0" rIns="0" bIns="0" rtlCol="0" anchor="ctr"/>
          <a:lstStyle/>
          <a:p>
            <a:pPr algn="ctr">
              <a:lnSpc>
                <a:spcPct val="120000"/>
              </a:lnSpc>
            </a:pPr>
            <a:r>
              <a:rPr lang="en-US" sz="1167" b="1" dirty="0">
                <a:solidFill>
                  <a:srgbClr val="181A1F"/>
                </a:solidFill>
                <a:latin typeface="MiSans" pitchFamily="34" charset="0"/>
                <a:ea typeface="MiSans" pitchFamily="34" charset="-122"/>
                <a:cs typeface="MiSans" pitchFamily="34" charset="-120"/>
              </a:rPr>
              <a:t>1</a:t>
            </a:r>
            <a:endParaRPr lang="en-US" sz="1600" dirty="0"/>
          </a:p>
        </p:txBody>
      </p:sp>
      <p:sp>
        <p:nvSpPr>
          <p:cNvPr id="37" name="Text 35"/>
          <p:cNvSpPr/>
          <p:nvPr/>
        </p:nvSpPr>
        <p:spPr>
          <a:xfrm>
            <a:off x="8953500" y="3230563"/>
            <a:ext cx="194733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使用K折交叉验证生成元特征</a:t>
            </a:r>
            <a:endParaRPr lang="en-US" sz="1600" dirty="0"/>
          </a:p>
        </p:txBody>
      </p:sp>
      <p:sp>
        <p:nvSpPr>
          <p:cNvPr id="38" name="Shape 36"/>
          <p:cNvSpPr/>
          <p:nvPr/>
        </p:nvSpPr>
        <p:spPr>
          <a:xfrm>
            <a:off x="8614833" y="3569229"/>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4C7E9A"/>
          </a:solidFill>
          <a:ln/>
        </p:spPr>
      </p:sp>
      <p:sp>
        <p:nvSpPr>
          <p:cNvPr id="39" name="Text 37"/>
          <p:cNvSpPr/>
          <p:nvPr/>
        </p:nvSpPr>
        <p:spPr>
          <a:xfrm>
            <a:off x="8577792" y="3569229"/>
            <a:ext cx="328083" cy="254000"/>
          </a:xfrm>
          <a:prstGeom prst="rect">
            <a:avLst/>
          </a:prstGeom>
          <a:noFill/>
          <a:ln/>
        </p:spPr>
        <p:txBody>
          <a:bodyPr wrap="square" lIns="0" tIns="0" rIns="0" bIns="0" rtlCol="0" anchor="ctr"/>
          <a:lstStyle/>
          <a:p>
            <a:pPr algn="ctr">
              <a:lnSpc>
                <a:spcPct val="120000"/>
              </a:lnSpc>
            </a:pPr>
            <a:r>
              <a:rPr lang="en-US" sz="1167" b="1" dirty="0">
                <a:solidFill>
                  <a:srgbClr val="181A1F"/>
                </a:solidFill>
                <a:latin typeface="MiSans" pitchFamily="34" charset="0"/>
                <a:ea typeface="MiSans" pitchFamily="34" charset="-122"/>
                <a:cs typeface="MiSans" pitchFamily="34" charset="-120"/>
              </a:rPr>
              <a:t>2</a:t>
            </a:r>
            <a:endParaRPr lang="en-US" sz="1600" dirty="0"/>
          </a:p>
        </p:txBody>
      </p:sp>
      <p:sp>
        <p:nvSpPr>
          <p:cNvPr id="40" name="Text 38"/>
          <p:cNvSpPr/>
          <p:nvPr/>
        </p:nvSpPr>
        <p:spPr>
          <a:xfrm>
            <a:off x="8953500" y="3569229"/>
            <a:ext cx="15557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选择岭回归作为元模型</a:t>
            </a:r>
            <a:endParaRPr lang="en-US" sz="1600" dirty="0"/>
          </a:p>
        </p:txBody>
      </p:sp>
      <p:sp>
        <p:nvSpPr>
          <p:cNvPr id="41" name="Shape 39"/>
          <p:cNvSpPr/>
          <p:nvPr/>
        </p:nvSpPr>
        <p:spPr>
          <a:xfrm>
            <a:off x="8614833" y="3907896"/>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4C7E9A"/>
          </a:solidFill>
          <a:ln/>
        </p:spPr>
      </p:sp>
      <p:sp>
        <p:nvSpPr>
          <p:cNvPr id="42" name="Text 40"/>
          <p:cNvSpPr/>
          <p:nvPr/>
        </p:nvSpPr>
        <p:spPr>
          <a:xfrm>
            <a:off x="8577792" y="3907896"/>
            <a:ext cx="328083" cy="254000"/>
          </a:xfrm>
          <a:prstGeom prst="rect">
            <a:avLst/>
          </a:prstGeom>
          <a:noFill/>
          <a:ln/>
        </p:spPr>
        <p:txBody>
          <a:bodyPr wrap="square" lIns="0" tIns="0" rIns="0" bIns="0" rtlCol="0" anchor="ctr"/>
          <a:lstStyle/>
          <a:p>
            <a:pPr algn="ctr">
              <a:lnSpc>
                <a:spcPct val="120000"/>
              </a:lnSpc>
            </a:pPr>
            <a:r>
              <a:rPr lang="en-US" sz="1167" b="1" dirty="0">
                <a:solidFill>
                  <a:srgbClr val="181A1F"/>
                </a:solidFill>
                <a:latin typeface="MiSans" pitchFamily="34" charset="0"/>
                <a:ea typeface="MiSans" pitchFamily="34" charset="-122"/>
                <a:cs typeface="MiSans" pitchFamily="34" charset="-120"/>
              </a:rPr>
              <a:t>3</a:t>
            </a:r>
            <a:endParaRPr lang="en-US" sz="1600" dirty="0"/>
          </a:p>
        </p:txBody>
      </p:sp>
      <p:sp>
        <p:nvSpPr>
          <p:cNvPr id="43" name="Text 41"/>
          <p:cNvSpPr/>
          <p:nvPr/>
        </p:nvSpPr>
        <p:spPr>
          <a:xfrm>
            <a:off x="8953500" y="3907896"/>
            <a:ext cx="1852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学习基模型预测的互补信息</a:t>
            </a:r>
            <a:endParaRPr lang="en-US" sz="1600" dirty="0"/>
          </a:p>
        </p:txBody>
      </p:sp>
      <p:sp>
        <p:nvSpPr>
          <p:cNvPr id="44" name="Shape 42"/>
          <p:cNvSpPr/>
          <p:nvPr/>
        </p:nvSpPr>
        <p:spPr>
          <a:xfrm>
            <a:off x="8487833" y="4415896"/>
            <a:ext cx="7133167" cy="1354667"/>
          </a:xfrm>
          <a:custGeom>
            <a:avLst/>
            <a:gdLst/>
            <a:ahLst/>
            <a:cxnLst/>
            <a:rect l="l" t="t" r="r" b="b"/>
            <a:pathLst>
              <a:path w="7133167" h="1354667">
                <a:moveTo>
                  <a:pt x="42333" y="0"/>
                </a:moveTo>
                <a:lnTo>
                  <a:pt x="7090833" y="0"/>
                </a:lnTo>
                <a:cubicBezTo>
                  <a:pt x="7114213" y="0"/>
                  <a:pt x="7133167" y="18953"/>
                  <a:pt x="7133167" y="42333"/>
                </a:cubicBezTo>
                <a:lnTo>
                  <a:pt x="7133167" y="1312333"/>
                </a:lnTo>
                <a:cubicBezTo>
                  <a:pt x="7133167" y="1335713"/>
                  <a:pt x="7114213" y="1354667"/>
                  <a:pt x="7090833" y="1354667"/>
                </a:cubicBezTo>
                <a:lnTo>
                  <a:pt x="42333" y="1354667"/>
                </a:lnTo>
                <a:cubicBezTo>
                  <a:pt x="18953" y="1354667"/>
                  <a:pt x="0" y="1335713"/>
                  <a:pt x="0" y="1312333"/>
                </a:cubicBezTo>
                <a:lnTo>
                  <a:pt x="0" y="42333"/>
                </a:lnTo>
                <a:cubicBezTo>
                  <a:pt x="0" y="18953"/>
                  <a:pt x="18953" y="0"/>
                  <a:pt x="42333" y="0"/>
                </a:cubicBezTo>
                <a:close/>
              </a:path>
            </a:pathLst>
          </a:custGeom>
          <a:solidFill>
            <a:srgbClr val="181A1F">
              <a:alpha val="50196"/>
            </a:srgbClr>
          </a:solidFill>
          <a:ln/>
        </p:spPr>
      </p:sp>
      <p:sp>
        <p:nvSpPr>
          <p:cNvPr id="45" name="Text 43"/>
          <p:cNvSpPr/>
          <p:nvPr/>
        </p:nvSpPr>
        <p:spPr>
          <a:xfrm>
            <a:off x="8614833" y="4542896"/>
            <a:ext cx="6974417"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优势</a:t>
            </a:r>
            <a:endParaRPr lang="en-US" sz="1600" dirty="0"/>
          </a:p>
        </p:txBody>
      </p:sp>
      <p:sp>
        <p:nvSpPr>
          <p:cNvPr id="46" name="Shape 44"/>
          <p:cNvSpPr/>
          <p:nvPr/>
        </p:nvSpPr>
        <p:spPr>
          <a:xfrm>
            <a:off x="8645260" y="4955646"/>
            <a:ext cx="129646" cy="148167"/>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4C7E9A"/>
          </a:solidFill>
          <a:ln/>
        </p:spPr>
      </p:sp>
      <p:sp>
        <p:nvSpPr>
          <p:cNvPr id="47" name="Text 45"/>
          <p:cNvSpPr/>
          <p:nvPr/>
        </p:nvSpPr>
        <p:spPr>
          <a:xfrm>
            <a:off x="8875889" y="4923896"/>
            <a:ext cx="6692194"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挖掘互补信息</a:t>
            </a:r>
            <a:endParaRPr lang="en-US" sz="1600" dirty="0"/>
          </a:p>
        </p:txBody>
      </p:sp>
      <p:sp>
        <p:nvSpPr>
          <p:cNvPr id="48" name="Shape 46"/>
          <p:cNvSpPr/>
          <p:nvPr/>
        </p:nvSpPr>
        <p:spPr>
          <a:xfrm>
            <a:off x="8645260" y="5209646"/>
            <a:ext cx="129646" cy="148167"/>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4C7E9A"/>
          </a:solidFill>
          <a:ln/>
        </p:spPr>
      </p:sp>
      <p:sp>
        <p:nvSpPr>
          <p:cNvPr id="49" name="Text 47"/>
          <p:cNvSpPr/>
          <p:nvPr/>
        </p:nvSpPr>
        <p:spPr>
          <a:xfrm>
            <a:off x="8875889" y="5177896"/>
            <a:ext cx="6692194"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元学习自适应权重</a:t>
            </a:r>
            <a:endParaRPr lang="en-US" sz="1600" dirty="0"/>
          </a:p>
        </p:txBody>
      </p:sp>
      <p:sp>
        <p:nvSpPr>
          <p:cNvPr id="50" name="Shape 48"/>
          <p:cNvSpPr/>
          <p:nvPr/>
        </p:nvSpPr>
        <p:spPr>
          <a:xfrm>
            <a:off x="8645260" y="5463646"/>
            <a:ext cx="129646" cy="148167"/>
          </a:xfrm>
          <a:custGeom>
            <a:avLst/>
            <a:gdLst/>
            <a:ahLst/>
            <a:cxnLst/>
            <a:rect l="l" t="t" r="r" b="b"/>
            <a:pathLst>
              <a:path w="129646" h="148167">
                <a:moveTo>
                  <a:pt x="125826" y="20286"/>
                </a:moveTo>
                <a:cubicBezTo>
                  <a:pt x="129964" y="23296"/>
                  <a:pt x="130890" y="29083"/>
                  <a:pt x="127881" y="33222"/>
                </a:cubicBezTo>
                <a:lnTo>
                  <a:pt x="53797" y="135086"/>
                </a:lnTo>
                <a:cubicBezTo>
                  <a:pt x="52206" y="137286"/>
                  <a:pt x="49746" y="138646"/>
                  <a:pt x="47026" y="138877"/>
                </a:cubicBezTo>
                <a:cubicBezTo>
                  <a:pt x="44305" y="139109"/>
                  <a:pt x="41672" y="138096"/>
                  <a:pt x="39762" y="136186"/>
                </a:cubicBezTo>
                <a:lnTo>
                  <a:pt x="2720" y="99144"/>
                </a:lnTo>
                <a:cubicBezTo>
                  <a:pt x="-897" y="95527"/>
                  <a:pt x="-897" y="89652"/>
                  <a:pt x="2720" y="86035"/>
                </a:cubicBezTo>
                <a:cubicBezTo>
                  <a:pt x="6338" y="82418"/>
                  <a:pt x="12212" y="82418"/>
                  <a:pt x="15830" y="86035"/>
                </a:cubicBezTo>
                <a:lnTo>
                  <a:pt x="45202" y="115408"/>
                </a:lnTo>
                <a:lnTo>
                  <a:pt x="112919" y="22312"/>
                </a:lnTo>
                <a:cubicBezTo>
                  <a:pt x="115929" y="18174"/>
                  <a:pt x="121717" y="17248"/>
                  <a:pt x="125855" y="20257"/>
                </a:cubicBezTo>
                <a:close/>
              </a:path>
            </a:pathLst>
          </a:custGeom>
          <a:solidFill>
            <a:srgbClr val="4C7E9A"/>
          </a:solidFill>
          <a:ln/>
        </p:spPr>
      </p:sp>
      <p:sp>
        <p:nvSpPr>
          <p:cNvPr id="51" name="Text 49"/>
          <p:cNvSpPr/>
          <p:nvPr/>
        </p:nvSpPr>
        <p:spPr>
          <a:xfrm>
            <a:off x="8875889" y="5431896"/>
            <a:ext cx="6692194"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进一步提升性能</a:t>
            </a:r>
            <a:endParaRPr lang="en-US" sz="1600" dirty="0"/>
          </a:p>
        </p:txBody>
      </p:sp>
      <p:sp>
        <p:nvSpPr>
          <p:cNvPr id="52" name="Shape 50"/>
          <p:cNvSpPr/>
          <p:nvPr/>
        </p:nvSpPr>
        <p:spPr>
          <a:xfrm>
            <a:off x="8487833" y="5897563"/>
            <a:ext cx="7133167" cy="846667"/>
          </a:xfrm>
          <a:custGeom>
            <a:avLst/>
            <a:gdLst/>
            <a:ahLst/>
            <a:cxnLst/>
            <a:rect l="l" t="t" r="r" b="b"/>
            <a:pathLst>
              <a:path w="7133167" h="846667">
                <a:moveTo>
                  <a:pt x="42333" y="0"/>
                </a:moveTo>
                <a:lnTo>
                  <a:pt x="7090833" y="0"/>
                </a:lnTo>
                <a:cubicBezTo>
                  <a:pt x="7114213" y="0"/>
                  <a:pt x="7133167" y="18953"/>
                  <a:pt x="7133167" y="42333"/>
                </a:cubicBezTo>
                <a:lnTo>
                  <a:pt x="7133167" y="804333"/>
                </a:lnTo>
                <a:cubicBezTo>
                  <a:pt x="7133167" y="827713"/>
                  <a:pt x="7114213" y="846667"/>
                  <a:pt x="7090833" y="846667"/>
                </a:cubicBezTo>
                <a:lnTo>
                  <a:pt x="42333" y="846667"/>
                </a:lnTo>
                <a:cubicBezTo>
                  <a:pt x="18953" y="846667"/>
                  <a:pt x="0" y="827713"/>
                  <a:pt x="0" y="804333"/>
                </a:cubicBezTo>
                <a:lnTo>
                  <a:pt x="0" y="42333"/>
                </a:lnTo>
                <a:cubicBezTo>
                  <a:pt x="0" y="18953"/>
                  <a:pt x="18953" y="0"/>
                  <a:pt x="42333" y="0"/>
                </a:cubicBezTo>
                <a:close/>
              </a:path>
            </a:pathLst>
          </a:custGeom>
          <a:solidFill>
            <a:srgbClr val="181A1F">
              <a:alpha val="50196"/>
            </a:srgbClr>
          </a:solidFill>
          <a:ln/>
        </p:spPr>
      </p:sp>
      <p:sp>
        <p:nvSpPr>
          <p:cNvPr id="53" name="Text 51"/>
          <p:cNvSpPr/>
          <p:nvPr/>
        </p:nvSpPr>
        <p:spPr>
          <a:xfrm>
            <a:off x="8614833" y="6024563"/>
            <a:ext cx="6974417"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为什么选择岭回归？</a:t>
            </a:r>
            <a:endParaRPr lang="en-US" sz="1600" dirty="0"/>
          </a:p>
        </p:txBody>
      </p:sp>
      <p:sp>
        <p:nvSpPr>
          <p:cNvPr id="54" name="Text 52"/>
          <p:cNvSpPr/>
          <p:nvPr/>
        </p:nvSpPr>
        <p:spPr>
          <a:xfrm>
            <a:off x="8614833" y="6405563"/>
            <a:ext cx="69532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能够有效处理多重共线性问题，当基模型预测之间存在高度相关性时表现更好</a:t>
            </a:r>
            <a:endParaRPr lang="en-US" sz="1600" dirty="0"/>
          </a:p>
        </p:txBody>
      </p:sp>
      <p:sp>
        <p:nvSpPr>
          <p:cNvPr id="55" name="Shape 53"/>
          <p:cNvSpPr/>
          <p:nvPr/>
        </p:nvSpPr>
        <p:spPr>
          <a:xfrm>
            <a:off x="428625" y="7511521"/>
            <a:ext cx="15398750" cy="1322917"/>
          </a:xfrm>
          <a:custGeom>
            <a:avLst/>
            <a:gdLst/>
            <a:ahLst/>
            <a:cxnLst/>
            <a:rect l="l" t="t" r="r" b="b"/>
            <a:pathLst>
              <a:path w="15398750" h="1322917">
                <a:moveTo>
                  <a:pt x="84667" y="0"/>
                </a:moveTo>
                <a:lnTo>
                  <a:pt x="15314083" y="0"/>
                </a:lnTo>
                <a:cubicBezTo>
                  <a:pt x="15360843" y="0"/>
                  <a:pt x="15398750" y="37907"/>
                  <a:pt x="15398750" y="84667"/>
                </a:cubicBezTo>
                <a:lnTo>
                  <a:pt x="15398750" y="1238250"/>
                </a:lnTo>
                <a:cubicBezTo>
                  <a:pt x="15398750" y="1285010"/>
                  <a:pt x="15360843" y="1322917"/>
                  <a:pt x="15314083" y="1322917"/>
                </a:cubicBezTo>
                <a:lnTo>
                  <a:pt x="84667" y="1322917"/>
                </a:lnTo>
                <a:cubicBezTo>
                  <a:pt x="37907" y="1322917"/>
                  <a:pt x="0" y="1285010"/>
                  <a:pt x="0" y="1238250"/>
                </a:cubicBezTo>
                <a:lnTo>
                  <a:pt x="0" y="84667"/>
                </a:lnTo>
                <a:cubicBezTo>
                  <a:pt x="0" y="37907"/>
                  <a:pt x="37907" y="0"/>
                  <a:pt x="84667" y="0"/>
                </a:cubicBezTo>
                <a:close/>
              </a:path>
            </a:pathLst>
          </a:custGeom>
          <a:solidFill>
            <a:srgbClr val="4C7E9A">
              <a:alpha val="10196"/>
            </a:srgbClr>
          </a:solidFill>
          <a:ln w="12700">
            <a:solidFill>
              <a:srgbClr val="4C7E9A">
                <a:alpha val="30196"/>
              </a:srgbClr>
            </a:solidFill>
            <a:prstDash val="solid"/>
          </a:ln>
        </p:spPr>
      </p:sp>
      <p:sp>
        <p:nvSpPr>
          <p:cNvPr id="56" name="Shape 54"/>
          <p:cNvSpPr/>
          <p:nvPr/>
        </p:nvSpPr>
        <p:spPr>
          <a:xfrm>
            <a:off x="605896" y="7686146"/>
            <a:ext cx="396875" cy="317500"/>
          </a:xfrm>
          <a:custGeom>
            <a:avLst/>
            <a:gdLst/>
            <a:ahLst/>
            <a:cxnLst/>
            <a:rect l="l" t="t" r="r" b="b"/>
            <a:pathLst>
              <a:path w="396875" h="317500">
                <a:moveTo>
                  <a:pt x="238125" y="19844"/>
                </a:moveTo>
                <a:lnTo>
                  <a:pt x="317500" y="19844"/>
                </a:lnTo>
                <a:cubicBezTo>
                  <a:pt x="328476" y="19844"/>
                  <a:pt x="337344" y="28711"/>
                  <a:pt x="337344" y="39688"/>
                </a:cubicBezTo>
                <a:cubicBezTo>
                  <a:pt x="337344" y="50664"/>
                  <a:pt x="328476" y="59531"/>
                  <a:pt x="317500" y="59531"/>
                </a:cubicBezTo>
                <a:lnTo>
                  <a:pt x="247055" y="59531"/>
                </a:lnTo>
                <a:cubicBezTo>
                  <a:pt x="243830" y="75530"/>
                  <a:pt x="232854" y="88739"/>
                  <a:pt x="218281" y="95064"/>
                </a:cubicBezTo>
                <a:lnTo>
                  <a:pt x="218281" y="277813"/>
                </a:lnTo>
                <a:lnTo>
                  <a:pt x="317500" y="277813"/>
                </a:lnTo>
                <a:cubicBezTo>
                  <a:pt x="328476" y="277813"/>
                  <a:pt x="337344" y="286680"/>
                  <a:pt x="337344" y="297656"/>
                </a:cubicBezTo>
                <a:cubicBezTo>
                  <a:pt x="337344" y="308632"/>
                  <a:pt x="328476" y="317500"/>
                  <a:pt x="317500" y="317500"/>
                </a:cubicBezTo>
                <a:lnTo>
                  <a:pt x="79375" y="317500"/>
                </a:lnTo>
                <a:cubicBezTo>
                  <a:pt x="68399" y="317500"/>
                  <a:pt x="59531" y="308632"/>
                  <a:pt x="59531" y="297656"/>
                </a:cubicBezTo>
                <a:cubicBezTo>
                  <a:pt x="59531" y="286680"/>
                  <a:pt x="68399" y="277813"/>
                  <a:pt x="79375" y="277813"/>
                </a:cubicBezTo>
                <a:lnTo>
                  <a:pt x="178594" y="277813"/>
                </a:lnTo>
                <a:lnTo>
                  <a:pt x="178594" y="95064"/>
                </a:lnTo>
                <a:cubicBezTo>
                  <a:pt x="164021" y="88677"/>
                  <a:pt x="153045" y="75468"/>
                  <a:pt x="149820" y="59531"/>
                </a:cubicBezTo>
                <a:lnTo>
                  <a:pt x="79375" y="59531"/>
                </a:lnTo>
                <a:cubicBezTo>
                  <a:pt x="68399" y="59531"/>
                  <a:pt x="59531" y="50664"/>
                  <a:pt x="59531" y="39688"/>
                </a:cubicBezTo>
                <a:cubicBezTo>
                  <a:pt x="59531" y="28711"/>
                  <a:pt x="68399" y="19844"/>
                  <a:pt x="79375" y="19844"/>
                </a:cubicBezTo>
                <a:lnTo>
                  <a:pt x="158750" y="19844"/>
                </a:lnTo>
                <a:cubicBezTo>
                  <a:pt x="167804" y="7813"/>
                  <a:pt x="182190" y="0"/>
                  <a:pt x="198438" y="0"/>
                </a:cubicBezTo>
                <a:cubicBezTo>
                  <a:pt x="214685" y="0"/>
                  <a:pt x="229071" y="7813"/>
                  <a:pt x="238125" y="19844"/>
                </a:cubicBezTo>
                <a:close/>
                <a:moveTo>
                  <a:pt x="272604" y="198438"/>
                </a:moveTo>
                <a:lnTo>
                  <a:pt x="362396" y="198438"/>
                </a:lnTo>
                <a:lnTo>
                  <a:pt x="317500" y="121419"/>
                </a:lnTo>
                <a:lnTo>
                  <a:pt x="272604" y="198438"/>
                </a:lnTo>
                <a:close/>
                <a:moveTo>
                  <a:pt x="317500" y="257969"/>
                </a:moveTo>
                <a:cubicBezTo>
                  <a:pt x="278495" y="257969"/>
                  <a:pt x="246063" y="236885"/>
                  <a:pt x="239365" y="209042"/>
                </a:cubicBezTo>
                <a:cubicBezTo>
                  <a:pt x="237753" y="202220"/>
                  <a:pt x="239985" y="195213"/>
                  <a:pt x="243520" y="189136"/>
                </a:cubicBezTo>
                <a:lnTo>
                  <a:pt x="302555" y="87933"/>
                </a:lnTo>
                <a:cubicBezTo>
                  <a:pt x="305656" y="82600"/>
                  <a:pt x="311361" y="79375"/>
                  <a:pt x="317500" y="79375"/>
                </a:cubicBezTo>
                <a:cubicBezTo>
                  <a:pt x="323639" y="79375"/>
                  <a:pt x="329344" y="82662"/>
                  <a:pt x="332445" y="87933"/>
                </a:cubicBezTo>
                <a:lnTo>
                  <a:pt x="391480" y="189136"/>
                </a:lnTo>
                <a:cubicBezTo>
                  <a:pt x="395015" y="195213"/>
                  <a:pt x="397247" y="202220"/>
                  <a:pt x="395635" y="209042"/>
                </a:cubicBezTo>
                <a:cubicBezTo>
                  <a:pt x="388938" y="236823"/>
                  <a:pt x="356505" y="257969"/>
                  <a:pt x="317500" y="257969"/>
                </a:cubicBezTo>
                <a:close/>
                <a:moveTo>
                  <a:pt x="78631" y="121419"/>
                </a:moveTo>
                <a:lnTo>
                  <a:pt x="33734" y="198438"/>
                </a:lnTo>
                <a:lnTo>
                  <a:pt x="123589" y="198438"/>
                </a:lnTo>
                <a:lnTo>
                  <a:pt x="78631" y="121419"/>
                </a:lnTo>
                <a:close/>
                <a:moveTo>
                  <a:pt x="558" y="209042"/>
                </a:moveTo>
                <a:cubicBezTo>
                  <a:pt x="-1054" y="202220"/>
                  <a:pt x="1178" y="195213"/>
                  <a:pt x="4713" y="189136"/>
                </a:cubicBezTo>
                <a:lnTo>
                  <a:pt x="63748" y="87933"/>
                </a:lnTo>
                <a:cubicBezTo>
                  <a:pt x="66849" y="82600"/>
                  <a:pt x="72554" y="79375"/>
                  <a:pt x="78693" y="79375"/>
                </a:cubicBezTo>
                <a:cubicBezTo>
                  <a:pt x="84832" y="79375"/>
                  <a:pt x="90537" y="82662"/>
                  <a:pt x="93638" y="87933"/>
                </a:cubicBezTo>
                <a:lnTo>
                  <a:pt x="152673" y="189136"/>
                </a:lnTo>
                <a:cubicBezTo>
                  <a:pt x="156208" y="195213"/>
                  <a:pt x="158440" y="202220"/>
                  <a:pt x="156828" y="209042"/>
                </a:cubicBezTo>
                <a:cubicBezTo>
                  <a:pt x="150130" y="236823"/>
                  <a:pt x="117698" y="257969"/>
                  <a:pt x="78693" y="257969"/>
                </a:cubicBezTo>
                <a:cubicBezTo>
                  <a:pt x="39687" y="257969"/>
                  <a:pt x="7255" y="236885"/>
                  <a:pt x="558" y="209042"/>
                </a:cubicBezTo>
                <a:close/>
              </a:path>
            </a:pathLst>
          </a:custGeom>
          <a:solidFill>
            <a:srgbClr val="4C7E9A"/>
          </a:solidFill>
          <a:ln/>
        </p:spPr>
      </p:sp>
      <p:sp>
        <p:nvSpPr>
          <p:cNvPr id="57" name="Text 55"/>
          <p:cNvSpPr/>
          <p:nvPr/>
        </p:nvSpPr>
        <p:spPr>
          <a:xfrm>
            <a:off x="1169458" y="7686146"/>
            <a:ext cx="14594417"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两种方案的对比</a:t>
            </a:r>
            <a:endParaRPr lang="en-US" sz="1600" dirty="0"/>
          </a:p>
        </p:txBody>
      </p:sp>
      <p:sp>
        <p:nvSpPr>
          <p:cNvPr id="58" name="Text 56"/>
          <p:cNvSpPr/>
          <p:nvPr/>
        </p:nvSpPr>
        <p:spPr>
          <a:xfrm>
            <a:off x="1169458" y="8067146"/>
            <a:ext cx="7249583"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加权平均</a:t>
            </a:r>
            <a:endParaRPr lang="en-US" sz="1600" dirty="0"/>
          </a:p>
        </p:txBody>
      </p:sp>
      <p:sp>
        <p:nvSpPr>
          <p:cNvPr id="59" name="Text 57"/>
          <p:cNvSpPr/>
          <p:nvPr/>
        </p:nvSpPr>
        <p:spPr>
          <a:xfrm>
            <a:off x="1169458" y="8405813"/>
            <a:ext cx="7239000"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简单高效，适合快速实现和需要可解释性的场景</a:t>
            </a:r>
            <a:endParaRPr lang="en-US" sz="1600" dirty="0"/>
          </a:p>
        </p:txBody>
      </p:sp>
      <p:sp>
        <p:nvSpPr>
          <p:cNvPr id="60" name="Text 58"/>
          <p:cNvSpPr/>
          <p:nvPr/>
        </p:nvSpPr>
        <p:spPr>
          <a:xfrm>
            <a:off x="8495771" y="8067146"/>
            <a:ext cx="7249583"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Stacking</a:t>
            </a:r>
            <a:endParaRPr lang="en-US" sz="1600" dirty="0"/>
          </a:p>
        </p:txBody>
      </p:sp>
      <p:sp>
        <p:nvSpPr>
          <p:cNvPr id="61" name="Text 59"/>
          <p:cNvSpPr/>
          <p:nvPr/>
        </p:nvSpPr>
        <p:spPr>
          <a:xfrm>
            <a:off x="8495771" y="8405813"/>
            <a:ext cx="7239000"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性能更优，但复杂度高，适合对精度有极致要求的场景</a:t>
            </a:r>
            <a:endParaRPr lang="en-US" sz="1600" dirty="0"/>
          </a:p>
        </p:txBody>
      </p:sp>
    </p:spTree>
  </p:cSld>
  <p:clrMapOvr>
    <a:masterClrMapping/>
  </p:clrMapOvr>
  <p:transition>
    <p:fade/>
    <p:spd val="med"/>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CASE STUDY</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关键技术实现</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24000"/>
            <a:ext cx="7577667" cy="4720167"/>
          </a:xfrm>
          <a:custGeom>
            <a:avLst/>
            <a:gdLst/>
            <a:ahLst/>
            <a:cxnLst/>
            <a:rect l="l" t="t" r="r" b="b"/>
            <a:pathLst>
              <a:path w="7577667" h="4720167">
                <a:moveTo>
                  <a:pt x="42333" y="0"/>
                </a:moveTo>
                <a:lnTo>
                  <a:pt x="7492987" y="0"/>
                </a:lnTo>
                <a:cubicBezTo>
                  <a:pt x="7539754" y="0"/>
                  <a:pt x="7577667" y="37912"/>
                  <a:pt x="7577667" y="84680"/>
                </a:cubicBezTo>
                <a:lnTo>
                  <a:pt x="7577667" y="4635487"/>
                </a:lnTo>
                <a:cubicBezTo>
                  <a:pt x="7577667" y="4682254"/>
                  <a:pt x="7539754" y="4720167"/>
                  <a:pt x="7492987" y="4720167"/>
                </a:cubicBezTo>
                <a:lnTo>
                  <a:pt x="42333" y="4720167"/>
                </a:lnTo>
                <a:cubicBezTo>
                  <a:pt x="18953" y="4720167"/>
                  <a:pt x="0" y="4701213"/>
                  <a:pt x="0" y="4677833"/>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24000"/>
            <a:ext cx="42333" cy="4720167"/>
          </a:xfrm>
          <a:custGeom>
            <a:avLst/>
            <a:gdLst/>
            <a:ahLst/>
            <a:cxnLst/>
            <a:rect l="l" t="t" r="r" b="b"/>
            <a:pathLst>
              <a:path w="42333" h="4720167">
                <a:moveTo>
                  <a:pt x="42333" y="0"/>
                </a:moveTo>
                <a:lnTo>
                  <a:pt x="42333" y="0"/>
                </a:lnTo>
                <a:lnTo>
                  <a:pt x="42333" y="4720167"/>
                </a:lnTo>
                <a:lnTo>
                  <a:pt x="42333" y="4720167"/>
                </a:lnTo>
                <a:cubicBezTo>
                  <a:pt x="18953" y="4720167"/>
                  <a:pt x="0" y="4701213"/>
                  <a:pt x="0" y="4677833"/>
                </a:cubicBezTo>
                <a:lnTo>
                  <a:pt x="0" y="42333"/>
                </a:lnTo>
                <a:cubicBezTo>
                  <a:pt x="0" y="18953"/>
                  <a:pt x="18953" y="0"/>
                  <a:pt x="42333" y="0"/>
                </a:cubicBezTo>
                <a:close/>
              </a:path>
            </a:pathLst>
          </a:custGeom>
          <a:solidFill>
            <a:srgbClr val="4C7E9A"/>
          </a:solidFill>
          <a:ln/>
        </p:spPr>
      </p:sp>
      <p:sp>
        <p:nvSpPr>
          <p:cNvPr id="7" name="Text 5"/>
          <p:cNvSpPr/>
          <p:nvPr/>
        </p:nvSpPr>
        <p:spPr>
          <a:xfrm>
            <a:off x="635000" y="1693333"/>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数据预处理关键点</a:t>
            </a:r>
            <a:endParaRPr lang="en-US" sz="1600" dirty="0"/>
          </a:p>
        </p:txBody>
      </p:sp>
      <p:sp>
        <p:nvSpPr>
          <p:cNvPr id="8" name="Shape 6"/>
          <p:cNvSpPr/>
          <p:nvPr/>
        </p:nvSpPr>
        <p:spPr>
          <a:xfrm>
            <a:off x="635000" y="2159000"/>
            <a:ext cx="7217833" cy="1545167"/>
          </a:xfrm>
          <a:custGeom>
            <a:avLst/>
            <a:gdLst/>
            <a:ahLst/>
            <a:cxnLst/>
            <a:rect l="l" t="t" r="r" b="b"/>
            <a:pathLst>
              <a:path w="7217833" h="1545167">
                <a:moveTo>
                  <a:pt x="42338" y="0"/>
                </a:moveTo>
                <a:lnTo>
                  <a:pt x="7175496" y="0"/>
                </a:lnTo>
                <a:cubicBezTo>
                  <a:pt x="7198878" y="0"/>
                  <a:pt x="7217833" y="18955"/>
                  <a:pt x="7217833" y="42338"/>
                </a:cubicBezTo>
                <a:lnTo>
                  <a:pt x="7217833" y="1502829"/>
                </a:lnTo>
                <a:cubicBezTo>
                  <a:pt x="7217833" y="1526211"/>
                  <a:pt x="7198878" y="1545167"/>
                  <a:pt x="7175496" y="1545167"/>
                </a:cubicBezTo>
                <a:lnTo>
                  <a:pt x="42338" y="1545167"/>
                </a:lnTo>
                <a:cubicBezTo>
                  <a:pt x="18955" y="1545167"/>
                  <a:pt x="0" y="1526211"/>
                  <a:pt x="0" y="1502829"/>
                </a:cubicBezTo>
                <a:lnTo>
                  <a:pt x="0" y="42338"/>
                </a:lnTo>
                <a:cubicBezTo>
                  <a:pt x="0" y="18971"/>
                  <a:pt x="18971" y="0"/>
                  <a:pt x="42338" y="0"/>
                </a:cubicBezTo>
                <a:close/>
              </a:path>
            </a:pathLst>
          </a:custGeom>
          <a:solidFill>
            <a:srgbClr val="181A1F">
              <a:alpha val="50196"/>
            </a:srgbClr>
          </a:solidFill>
          <a:ln/>
        </p:spPr>
      </p:sp>
      <p:sp>
        <p:nvSpPr>
          <p:cNvPr id="9" name="Shape 7"/>
          <p:cNvSpPr/>
          <p:nvPr/>
        </p:nvSpPr>
        <p:spPr>
          <a:xfrm>
            <a:off x="788458" y="2344208"/>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4C7E9A"/>
          </a:solidFill>
          <a:ln/>
        </p:spPr>
      </p:sp>
      <p:sp>
        <p:nvSpPr>
          <p:cNvPr id="10" name="Text 8"/>
          <p:cNvSpPr/>
          <p:nvPr/>
        </p:nvSpPr>
        <p:spPr>
          <a:xfrm>
            <a:off x="1075972" y="2286000"/>
            <a:ext cx="6745111"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目标变量对数变换</a:t>
            </a:r>
            <a:endParaRPr lang="en-US" sz="1600" dirty="0"/>
          </a:p>
        </p:txBody>
      </p:sp>
      <p:sp>
        <p:nvSpPr>
          <p:cNvPr id="11" name="Text 9"/>
          <p:cNvSpPr/>
          <p:nvPr/>
        </p:nvSpPr>
        <p:spPr>
          <a:xfrm>
            <a:off x="762000" y="2624667"/>
            <a:ext cx="7037917" cy="486833"/>
          </a:xfrm>
          <a:prstGeom prst="rect">
            <a:avLst/>
          </a:prstGeom>
          <a:noFill/>
          <a:ln/>
        </p:spPr>
        <p:txBody>
          <a:bodyPr wrap="square" lIns="0" tIns="0" rIns="0" bIns="0" rtlCol="0" anchor="ctr"/>
          <a:lstStyle/>
          <a:p>
            <a:pPr>
              <a:lnSpc>
                <a:spcPct val="140000"/>
              </a:lnSpc>
            </a:pPr>
            <a:r>
              <a:rPr lang="en-US" sz="1167" dirty="0">
                <a:solidFill>
                  <a:srgbClr val="7E9AA8"/>
                </a:solidFill>
                <a:latin typeface="MiSans" pitchFamily="34" charset="0"/>
                <a:ea typeface="MiSans" pitchFamily="34" charset="-122"/>
                <a:cs typeface="MiSans" pitchFamily="34" charset="-120"/>
              </a:rPr>
              <a:t>由于房价呈现右偏分布，直接使用原始价格会导致模型偏向于拟合高价样本。使用log(1+x)变换处理偏态分布。</a:t>
            </a:r>
            <a:endParaRPr lang="en-US" sz="1600" dirty="0"/>
          </a:p>
        </p:txBody>
      </p:sp>
      <p:sp>
        <p:nvSpPr>
          <p:cNvPr id="12" name="Shape 10"/>
          <p:cNvSpPr/>
          <p:nvPr/>
        </p:nvSpPr>
        <p:spPr>
          <a:xfrm>
            <a:off x="762000" y="3190875"/>
            <a:ext cx="6963833" cy="381000"/>
          </a:xfrm>
          <a:custGeom>
            <a:avLst/>
            <a:gdLst/>
            <a:ahLst/>
            <a:cxnLst/>
            <a:rect l="l" t="t" r="r" b="b"/>
            <a:pathLst>
              <a:path w="6963833" h="381000">
                <a:moveTo>
                  <a:pt x="42333" y="0"/>
                </a:moveTo>
                <a:lnTo>
                  <a:pt x="6921500" y="0"/>
                </a:lnTo>
                <a:cubicBezTo>
                  <a:pt x="6944880" y="0"/>
                  <a:pt x="6963833" y="18953"/>
                  <a:pt x="6963833" y="42333"/>
                </a:cubicBezTo>
                <a:lnTo>
                  <a:pt x="6963833" y="338667"/>
                </a:lnTo>
                <a:cubicBezTo>
                  <a:pt x="6963833" y="362047"/>
                  <a:pt x="6944880" y="381000"/>
                  <a:pt x="6921500" y="381000"/>
                </a:cubicBezTo>
                <a:lnTo>
                  <a:pt x="42333" y="381000"/>
                </a:lnTo>
                <a:cubicBezTo>
                  <a:pt x="18953" y="381000"/>
                  <a:pt x="0" y="362047"/>
                  <a:pt x="0" y="338667"/>
                </a:cubicBezTo>
                <a:lnTo>
                  <a:pt x="0" y="42333"/>
                </a:lnTo>
                <a:cubicBezTo>
                  <a:pt x="0" y="18969"/>
                  <a:pt x="18969" y="0"/>
                  <a:pt x="42333" y="0"/>
                </a:cubicBezTo>
                <a:close/>
              </a:path>
            </a:pathLst>
          </a:custGeom>
          <a:solidFill>
            <a:srgbClr val="181A1F"/>
          </a:solidFill>
          <a:ln/>
        </p:spPr>
      </p:sp>
      <p:sp>
        <p:nvSpPr>
          <p:cNvPr id="13" name="Text 11"/>
          <p:cNvSpPr/>
          <p:nvPr/>
        </p:nvSpPr>
        <p:spPr>
          <a:xfrm>
            <a:off x="809625" y="3275542"/>
            <a:ext cx="6868583" cy="211667"/>
          </a:xfrm>
          <a:prstGeom prst="rect">
            <a:avLst/>
          </a:prstGeom>
          <a:noFill/>
          <a:ln/>
        </p:spPr>
        <p:txBody>
          <a:bodyPr wrap="square" lIns="0" tIns="0" rIns="0" bIns="0" rtlCol="0" anchor="ctr"/>
          <a:lstStyle/>
          <a:p>
            <a:pPr algn="ctr">
              <a:lnSpc>
                <a:spcPct val="120000"/>
              </a:lnSpc>
            </a:pPr>
            <a:r>
              <a:rPr lang="en-US" sz="1167" dirty="0">
                <a:solidFill>
                  <a:srgbClr val="7E9AA8"/>
                </a:solidFill>
                <a:latin typeface="MiSans" pitchFamily="34" charset="0"/>
                <a:ea typeface="MiSans" pitchFamily="34" charset="-122"/>
                <a:cs typeface="MiSans" pitchFamily="34" charset="-120"/>
              </a:rPr>
              <a:t>y_log = log(1 + price)</a:t>
            </a:r>
            <a:endParaRPr lang="en-US" sz="1600" dirty="0"/>
          </a:p>
        </p:txBody>
      </p:sp>
      <p:sp>
        <p:nvSpPr>
          <p:cNvPr id="14" name="Shape 12"/>
          <p:cNvSpPr/>
          <p:nvPr/>
        </p:nvSpPr>
        <p:spPr>
          <a:xfrm>
            <a:off x="635000" y="3825875"/>
            <a:ext cx="7217833" cy="1058333"/>
          </a:xfrm>
          <a:custGeom>
            <a:avLst/>
            <a:gdLst/>
            <a:ahLst/>
            <a:cxnLst/>
            <a:rect l="l" t="t" r="r" b="b"/>
            <a:pathLst>
              <a:path w="7217833" h="1058333">
                <a:moveTo>
                  <a:pt x="42333" y="0"/>
                </a:moveTo>
                <a:lnTo>
                  <a:pt x="7175500" y="0"/>
                </a:lnTo>
                <a:cubicBezTo>
                  <a:pt x="7198880" y="0"/>
                  <a:pt x="7217833" y="18953"/>
                  <a:pt x="7217833" y="42333"/>
                </a:cubicBezTo>
                <a:lnTo>
                  <a:pt x="7217833" y="1016000"/>
                </a:lnTo>
                <a:cubicBezTo>
                  <a:pt x="7217833" y="1039380"/>
                  <a:pt x="7198880" y="1058333"/>
                  <a:pt x="7175500" y="1058333"/>
                </a:cubicBezTo>
                <a:lnTo>
                  <a:pt x="42333" y="1058333"/>
                </a:lnTo>
                <a:cubicBezTo>
                  <a:pt x="18953" y="1058333"/>
                  <a:pt x="0" y="1039380"/>
                  <a:pt x="0" y="1016000"/>
                </a:cubicBezTo>
                <a:lnTo>
                  <a:pt x="0" y="42333"/>
                </a:lnTo>
                <a:cubicBezTo>
                  <a:pt x="0" y="18953"/>
                  <a:pt x="18953" y="0"/>
                  <a:pt x="42333" y="0"/>
                </a:cubicBezTo>
                <a:close/>
              </a:path>
            </a:pathLst>
          </a:custGeom>
          <a:solidFill>
            <a:srgbClr val="181A1F">
              <a:alpha val="50196"/>
            </a:srgbClr>
          </a:solidFill>
          <a:ln/>
        </p:spPr>
      </p:sp>
      <p:sp>
        <p:nvSpPr>
          <p:cNvPr id="15" name="Shape 13"/>
          <p:cNvSpPr/>
          <p:nvPr/>
        </p:nvSpPr>
        <p:spPr>
          <a:xfrm>
            <a:off x="788458" y="4011083"/>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95250" y="65484"/>
                </a:moveTo>
                <a:cubicBezTo>
                  <a:pt x="88664" y="65484"/>
                  <a:pt x="83344" y="70805"/>
                  <a:pt x="83344" y="77391"/>
                </a:cubicBezTo>
                <a:cubicBezTo>
                  <a:pt x="83344" y="82339"/>
                  <a:pt x="79363" y="86320"/>
                  <a:pt x="74414" y="86320"/>
                </a:cubicBezTo>
                <a:cubicBezTo>
                  <a:pt x="69466" y="86320"/>
                  <a:pt x="65484" y="82339"/>
                  <a:pt x="65484" y="77391"/>
                </a:cubicBezTo>
                <a:cubicBezTo>
                  <a:pt x="65484" y="60945"/>
                  <a:pt x="78804" y="47625"/>
                  <a:pt x="95250" y="47625"/>
                </a:cubicBezTo>
                <a:cubicBezTo>
                  <a:pt x="111696" y="47625"/>
                  <a:pt x="125016" y="60945"/>
                  <a:pt x="125016" y="77391"/>
                </a:cubicBezTo>
                <a:cubicBezTo>
                  <a:pt x="125016" y="94952"/>
                  <a:pt x="111621" y="102394"/>
                  <a:pt x="104180" y="105110"/>
                </a:cubicBezTo>
                <a:lnTo>
                  <a:pt x="104180" y="106524"/>
                </a:lnTo>
                <a:cubicBezTo>
                  <a:pt x="104180" y="111472"/>
                  <a:pt x="100199" y="115453"/>
                  <a:pt x="95250" y="115453"/>
                </a:cubicBezTo>
                <a:cubicBezTo>
                  <a:pt x="90301" y="115453"/>
                  <a:pt x="86320" y="111472"/>
                  <a:pt x="86320" y="106524"/>
                </a:cubicBezTo>
                <a:lnTo>
                  <a:pt x="86320" y="103510"/>
                </a:lnTo>
                <a:cubicBezTo>
                  <a:pt x="86320" y="95883"/>
                  <a:pt x="91827" y="90413"/>
                  <a:pt x="97520" y="88553"/>
                </a:cubicBezTo>
                <a:cubicBezTo>
                  <a:pt x="99901" y="87771"/>
                  <a:pt x="102431" y="86506"/>
                  <a:pt x="104291" y="84720"/>
                </a:cubicBezTo>
                <a:cubicBezTo>
                  <a:pt x="105891" y="83158"/>
                  <a:pt x="107156" y="81000"/>
                  <a:pt x="107156" y="77428"/>
                </a:cubicBezTo>
                <a:cubicBezTo>
                  <a:pt x="107156" y="70842"/>
                  <a:pt x="101836" y="65522"/>
                  <a:pt x="95250" y="65522"/>
                </a:cubicBezTo>
                <a:close/>
                <a:moveTo>
                  <a:pt x="83344" y="136922"/>
                </a:moveTo>
                <a:cubicBezTo>
                  <a:pt x="83344" y="130351"/>
                  <a:pt x="88679" y="125016"/>
                  <a:pt x="95250" y="125016"/>
                </a:cubicBezTo>
                <a:cubicBezTo>
                  <a:pt x="101821" y="125016"/>
                  <a:pt x="107156" y="130351"/>
                  <a:pt x="107156" y="136922"/>
                </a:cubicBezTo>
                <a:cubicBezTo>
                  <a:pt x="107156" y="143493"/>
                  <a:pt x="101821" y="148828"/>
                  <a:pt x="95250" y="148828"/>
                </a:cubicBezTo>
                <a:cubicBezTo>
                  <a:pt x="88679" y="148828"/>
                  <a:pt x="83344" y="143493"/>
                  <a:pt x="83344" y="136922"/>
                </a:cubicBezTo>
                <a:close/>
              </a:path>
            </a:pathLst>
          </a:custGeom>
          <a:solidFill>
            <a:srgbClr val="4C7E9A"/>
          </a:solidFill>
          <a:ln/>
        </p:spPr>
      </p:sp>
      <p:sp>
        <p:nvSpPr>
          <p:cNvPr id="16" name="Text 14"/>
          <p:cNvSpPr/>
          <p:nvPr/>
        </p:nvSpPr>
        <p:spPr>
          <a:xfrm>
            <a:off x="1075972" y="3952875"/>
            <a:ext cx="6745111"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缺失值处理</a:t>
            </a:r>
            <a:endParaRPr lang="en-US" sz="1600" dirty="0"/>
          </a:p>
        </p:txBody>
      </p:sp>
      <p:sp>
        <p:nvSpPr>
          <p:cNvPr id="17" name="Text 15"/>
          <p:cNvSpPr/>
          <p:nvPr/>
        </p:nvSpPr>
        <p:spPr>
          <a:xfrm>
            <a:off x="762000" y="4291542"/>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数值型特征：中位数填充</a:t>
            </a:r>
            <a:endParaRPr lang="en-US" sz="1600" dirty="0"/>
          </a:p>
        </p:txBody>
      </p:sp>
      <p:sp>
        <p:nvSpPr>
          <p:cNvPr id="18" name="Text 16"/>
          <p:cNvSpPr/>
          <p:nvPr/>
        </p:nvSpPr>
        <p:spPr>
          <a:xfrm>
            <a:off x="762000" y="4545542"/>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类别型特征：常量填充（如"Unknown"）</a:t>
            </a:r>
            <a:endParaRPr lang="en-US" sz="1600" dirty="0"/>
          </a:p>
        </p:txBody>
      </p:sp>
      <p:sp>
        <p:nvSpPr>
          <p:cNvPr id="19" name="Shape 17"/>
          <p:cNvSpPr/>
          <p:nvPr/>
        </p:nvSpPr>
        <p:spPr>
          <a:xfrm>
            <a:off x="635000" y="5011208"/>
            <a:ext cx="7217833" cy="1058333"/>
          </a:xfrm>
          <a:custGeom>
            <a:avLst/>
            <a:gdLst/>
            <a:ahLst/>
            <a:cxnLst/>
            <a:rect l="l" t="t" r="r" b="b"/>
            <a:pathLst>
              <a:path w="7217833" h="1058333">
                <a:moveTo>
                  <a:pt x="42333" y="0"/>
                </a:moveTo>
                <a:lnTo>
                  <a:pt x="7175500" y="0"/>
                </a:lnTo>
                <a:cubicBezTo>
                  <a:pt x="7198880" y="0"/>
                  <a:pt x="7217833" y="18953"/>
                  <a:pt x="7217833" y="42333"/>
                </a:cubicBezTo>
                <a:lnTo>
                  <a:pt x="7217833" y="1016000"/>
                </a:lnTo>
                <a:cubicBezTo>
                  <a:pt x="7217833" y="1039380"/>
                  <a:pt x="7198880" y="1058333"/>
                  <a:pt x="7175500" y="1058333"/>
                </a:cubicBezTo>
                <a:lnTo>
                  <a:pt x="42333" y="1058333"/>
                </a:lnTo>
                <a:cubicBezTo>
                  <a:pt x="18953" y="1058333"/>
                  <a:pt x="0" y="1039380"/>
                  <a:pt x="0" y="1016000"/>
                </a:cubicBezTo>
                <a:lnTo>
                  <a:pt x="0" y="42333"/>
                </a:lnTo>
                <a:cubicBezTo>
                  <a:pt x="0" y="18953"/>
                  <a:pt x="18953" y="0"/>
                  <a:pt x="42333" y="0"/>
                </a:cubicBezTo>
                <a:close/>
              </a:path>
            </a:pathLst>
          </a:custGeom>
          <a:solidFill>
            <a:srgbClr val="181A1F">
              <a:alpha val="50196"/>
            </a:srgbClr>
          </a:solidFill>
          <a:ln/>
        </p:spPr>
      </p:sp>
      <p:sp>
        <p:nvSpPr>
          <p:cNvPr id="20" name="Shape 18"/>
          <p:cNvSpPr/>
          <p:nvPr/>
        </p:nvSpPr>
        <p:spPr>
          <a:xfrm>
            <a:off x="776552" y="5196417"/>
            <a:ext cx="214313" cy="190500"/>
          </a:xfrm>
          <a:custGeom>
            <a:avLst/>
            <a:gdLst/>
            <a:ahLst/>
            <a:cxnLst/>
            <a:rect l="l" t="t" r="r" b="b"/>
            <a:pathLst>
              <a:path w="214313" h="190500">
                <a:moveTo>
                  <a:pt x="134243" y="446"/>
                </a:moveTo>
                <a:cubicBezTo>
                  <a:pt x="127918" y="-1377"/>
                  <a:pt x="121332" y="2307"/>
                  <a:pt x="119509" y="8632"/>
                </a:cubicBezTo>
                <a:lnTo>
                  <a:pt x="71884" y="175320"/>
                </a:lnTo>
                <a:cubicBezTo>
                  <a:pt x="70061" y="181645"/>
                  <a:pt x="73744" y="188230"/>
                  <a:pt x="80070" y="190054"/>
                </a:cubicBezTo>
                <a:cubicBezTo>
                  <a:pt x="86395" y="191877"/>
                  <a:pt x="92980" y="188193"/>
                  <a:pt x="94804" y="181868"/>
                </a:cubicBezTo>
                <a:lnTo>
                  <a:pt x="142429" y="15180"/>
                </a:lnTo>
                <a:cubicBezTo>
                  <a:pt x="144252" y="8855"/>
                  <a:pt x="140568" y="2270"/>
                  <a:pt x="134243" y="446"/>
                </a:cubicBezTo>
                <a:close/>
                <a:moveTo>
                  <a:pt x="158279" y="51085"/>
                </a:moveTo>
                <a:cubicBezTo>
                  <a:pt x="153628" y="55736"/>
                  <a:pt x="153628" y="63289"/>
                  <a:pt x="158279" y="67940"/>
                </a:cubicBezTo>
                <a:lnTo>
                  <a:pt x="185589" y="95250"/>
                </a:lnTo>
                <a:lnTo>
                  <a:pt x="158279" y="122560"/>
                </a:lnTo>
                <a:cubicBezTo>
                  <a:pt x="153628" y="127211"/>
                  <a:pt x="153628" y="134764"/>
                  <a:pt x="158279" y="139415"/>
                </a:cubicBezTo>
                <a:cubicBezTo>
                  <a:pt x="162930" y="144066"/>
                  <a:pt x="170483" y="144066"/>
                  <a:pt x="175133" y="139415"/>
                </a:cubicBezTo>
                <a:lnTo>
                  <a:pt x="210852" y="103696"/>
                </a:lnTo>
                <a:cubicBezTo>
                  <a:pt x="215503" y="99045"/>
                  <a:pt x="215503" y="91492"/>
                  <a:pt x="210852" y="86841"/>
                </a:cubicBezTo>
                <a:lnTo>
                  <a:pt x="175133" y="51122"/>
                </a:lnTo>
                <a:cubicBezTo>
                  <a:pt x="170483" y="46472"/>
                  <a:pt x="162930" y="46472"/>
                  <a:pt x="158279" y="51122"/>
                </a:cubicBezTo>
                <a:close/>
                <a:moveTo>
                  <a:pt x="56071" y="51085"/>
                </a:moveTo>
                <a:cubicBezTo>
                  <a:pt x="51420" y="46434"/>
                  <a:pt x="43867" y="46434"/>
                  <a:pt x="39216" y="51085"/>
                </a:cubicBezTo>
                <a:lnTo>
                  <a:pt x="3497" y="86804"/>
                </a:lnTo>
                <a:cubicBezTo>
                  <a:pt x="-1153" y="91455"/>
                  <a:pt x="-1153" y="99008"/>
                  <a:pt x="3497" y="103659"/>
                </a:cubicBezTo>
                <a:lnTo>
                  <a:pt x="39216" y="139378"/>
                </a:lnTo>
                <a:cubicBezTo>
                  <a:pt x="43867" y="144028"/>
                  <a:pt x="51420" y="144028"/>
                  <a:pt x="56071" y="139378"/>
                </a:cubicBezTo>
                <a:cubicBezTo>
                  <a:pt x="60722" y="134727"/>
                  <a:pt x="60722" y="127174"/>
                  <a:pt x="56071" y="122523"/>
                </a:cubicBezTo>
                <a:lnTo>
                  <a:pt x="28761" y="95250"/>
                </a:lnTo>
                <a:lnTo>
                  <a:pt x="56034" y="67940"/>
                </a:lnTo>
                <a:cubicBezTo>
                  <a:pt x="60685" y="63289"/>
                  <a:pt x="60685" y="55736"/>
                  <a:pt x="56034" y="51085"/>
                </a:cubicBezTo>
                <a:close/>
              </a:path>
            </a:pathLst>
          </a:custGeom>
          <a:solidFill>
            <a:srgbClr val="4C7E9A"/>
          </a:solidFill>
          <a:ln/>
        </p:spPr>
      </p:sp>
      <p:sp>
        <p:nvSpPr>
          <p:cNvPr id="21" name="Text 19"/>
          <p:cNvSpPr/>
          <p:nvPr/>
        </p:nvSpPr>
        <p:spPr>
          <a:xfrm>
            <a:off x="1075972" y="5138208"/>
            <a:ext cx="6745111"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特征编码</a:t>
            </a:r>
            <a:endParaRPr lang="en-US" sz="1600" dirty="0"/>
          </a:p>
        </p:txBody>
      </p:sp>
      <p:sp>
        <p:nvSpPr>
          <p:cNvPr id="22" name="Text 20"/>
          <p:cNvSpPr/>
          <p:nvPr/>
        </p:nvSpPr>
        <p:spPr>
          <a:xfrm>
            <a:off x="762000" y="5476875"/>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数值特征：标准化处理</a:t>
            </a:r>
            <a:endParaRPr lang="en-US" sz="1600" dirty="0"/>
          </a:p>
        </p:txBody>
      </p:sp>
      <p:sp>
        <p:nvSpPr>
          <p:cNvPr id="23" name="Text 21"/>
          <p:cNvSpPr/>
          <p:nvPr/>
        </p:nvSpPr>
        <p:spPr>
          <a:xfrm>
            <a:off x="762000" y="5730875"/>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类别特征：独热编码</a:t>
            </a:r>
            <a:endParaRPr lang="en-US" sz="1600" dirty="0"/>
          </a:p>
        </p:txBody>
      </p:sp>
      <p:sp>
        <p:nvSpPr>
          <p:cNvPr id="24" name="Shape 22"/>
          <p:cNvSpPr/>
          <p:nvPr/>
        </p:nvSpPr>
        <p:spPr>
          <a:xfrm>
            <a:off x="8255000" y="1524000"/>
            <a:ext cx="7577667" cy="3122083"/>
          </a:xfrm>
          <a:custGeom>
            <a:avLst/>
            <a:gdLst/>
            <a:ahLst/>
            <a:cxnLst/>
            <a:rect l="l" t="t" r="r" b="b"/>
            <a:pathLst>
              <a:path w="7577667" h="3122083">
                <a:moveTo>
                  <a:pt x="42333" y="0"/>
                </a:moveTo>
                <a:lnTo>
                  <a:pt x="7492996" y="0"/>
                </a:lnTo>
                <a:cubicBezTo>
                  <a:pt x="7539758" y="0"/>
                  <a:pt x="7577667" y="37908"/>
                  <a:pt x="7577667" y="84671"/>
                </a:cubicBezTo>
                <a:lnTo>
                  <a:pt x="7577667" y="3037412"/>
                </a:lnTo>
                <a:cubicBezTo>
                  <a:pt x="7577667" y="3084175"/>
                  <a:pt x="7539758" y="3122083"/>
                  <a:pt x="7492996" y="3122083"/>
                </a:cubicBezTo>
                <a:lnTo>
                  <a:pt x="42333" y="3122083"/>
                </a:lnTo>
                <a:cubicBezTo>
                  <a:pt x="18953" y="3122083"/>
                  <a:pt x="0" y="3103130"/>
                  <a:pt x="0" y="3079750"/>
                </a:cubicBezTo>
                <a:lnTo>
                  <a:pt x="0" y="42333"/>
                </a:lnTo>
                <a:cubicBezTo>
                  <a:pt x="0" y="18953"/>
                  <a:pt x="18953" y="0"/>
                  <a:pt x="42333" y="0"/>
                </a:cubicBezTo>
                <a:close/>
              </a:path>
            </a:pathLst>
          </a:custGeom>
          <a:solidFill>
            <a:srgbClr val="3A5E78">
              <a:alpha val="20000"/>
            </a:srgbClr>
          </a:solidFill>
          <a:ln/>
        </p:spPr>
      </p:sp>
      <p:sp>
        <p:nvSpPr>
          <p:cNvPr id="25" name="Shape 23"/>
          <p:cNvSpPr/>
          <p:nvPr/>
        </p:nvSpPr>
        <p:spPr>
          <a:xfrm>
            <a:off x="8255000" y="1524000"/>
            <a:ext cx="42333" cy="3122083"/>
          </a:xfrm>
          <a:custGeom>
            <a:avLst/>
            <a:gdLst/>
            <a:ahLst/>
            <a:cxnLst/>
            <a:rect l="l" t="t" r="r" b="b"/>
            <a:pathLst>
              <a:path w="42333" h="3122083">
                <a:moveTo>
                  <a:pt x="42333" y="0"/>
                </a:moveTo>
                <a:lnTo>
                  <a:pt x="42333" y="0"/>
                </a:lnTo>
                <a:lnTo>
                  <a:pt x="42333" y="3122083"/>
                </a:lnTo>
                <a:lnTo>
                  <a:pt x="42333" y="3122083"/>
                </a:lnTo>
                <a:cubicBezTo>
                  <a:pt x="18953" y="3122083"/>
                  <a:pt x="0" y="3103130"/>
                  <a:pt x="0" y="3079750"/>
                </a:cubicBezTo>
                <a:lnTo>
                  <a:pt x="0" y="42333"/>
                </a:lnTo>
                <a:cubicBezTo>
                  <a:pt x="0" y="18953"/>
                  <a:pt x="18953" y="0"/>
                  <a:pt x="42333" y="0"/>
                </a:cubicBezTo>
                <a:close/>
              </a:path>
            </a:pathLst>
          </a:custGeom>
          <a:solidFill>
            <a:srgbClr val="7E9AA8"/>
          </a:solidFill>
          <a:ln/>
        </p:spPr>
      </p:sp>
      <p:sp>
        <p:nvSpPr>
          <p:cNvPr id="26" name="Text 24"/>
          <p:cNvSpPr/>
          <p:nvPr/>
        </p:nvSpPr>
        <p:spPr>
          <a:xfrm>
            <a:off x="8445500" y="1693333"/>
            <a:ext cx="7344833"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避免数据泄露</a:t>
            </a:r>
            <a:endParaRPr lang="en-US" sz="1600" dirty="0"/>
          </a:p>
        </p:txBody>
      </p:sp>
      <p:sp>
        <p:nvSpPr>
          <p:cNvPr id="27" name="Text 25"/>
          <p:cNvSpPr/>
          <p:nvPr/>
        </p:nvSpPr>
        <p:spPr>
          <a:xfrm>
            <a:off x="8445500" y="2159000"/>
            <a:ext cx="7313083" cy="624417"/>
          </a:xfrm>
          <a:prstGeom prst="rect">
            <a:avLst/>
          </a:prstGeom>
          <a:noFill/>
          <a:ln/>
        </p:spPr>
        <p:txBody>
          <a:bodyPr wrap="square" lIns="0" tIns="0" rIns="0" bIns="0" rtlCol="0" anchor="ctr"/>
          <a:lstStyle/>
          <a:p>
            <a:pPr>
              <a:lnSpc>
                <a:spcPct val="140000"/>
              </a:lnSpc>
            </a:pPr>
            <a:r>
              <a:rPr lang="en-US" sz="1500" dirty="0">
                <a:solidFill>
                  <a:srgbClr val="D1D5DB"/>
                </a:solidFill>
                <a:latin typeface="MiSans" pitchFamily="34" charset="0"/>
                <a:ea typeface="MiSans" pitchFamily="34" charset="-122"/>
                <a:cs typeface="MiSans" pitchFamily="34" charset="-120"/>
              </a:rPr>
              <a:t>在生成元特征的过程中，</a:t>
            </a:r>
            <a:pPr>
              <a:lnSpc>
                <a:spcPct val="140000"/>
              </a:lnSpc>
            </a:pPr>
            <a:r>
              <a:rPr lang="en-US" sz="1500" b="1" dirty="0">
                <a:solidFill>
                  <a:srgbClr val="4C7E9A"/>
                </a:solidFill>
                <a:latin typeface="MiSans" pitchFamily="34" charset="0"/>
                <a:ea typeface="MiSans" pitchFamily="34" charset="-122"/>
                <a:cs typeface="MiSans" pitchFamily="34" charset="-120"/>
              </a:rPr>
              <a:t>避免数据泄露</a:t>
            </a:r>
            <a:pPr>
              <a:lnSpc>
                <a:spcPct val="140000"/>
              </a:lnSpc>
            </a:pPr>
            <a:r>
              <a:rPr lang="en-US" sz="1500" dirty="0">
                <a:solidFill>
                  <a:srgbClr val="D1D5DB"/>
                </a:solidFill>
                <a:latin typeface="MiSans" pitchFamily="34" charset="0"/>
                <a:ea typeface="MiSans" pitchFamily="34" charset="-122"/>
                <a:cs typeface="MiSans" pitchFamily="34" charset="-120"/>
              </a:rPr>
              <a:t>是至关重要的。采用K折交叉验证技术确保每个样本的预测都是在未见过的数据上生成的。</a:t>
            </a:r>
            <a:endParaRPr lang="en-US" sz="1600" dirty="0"/>
          </a:p>
        </p:txBody>
      </p:sp>
      <p:sp>
        <p:nvSpPr>
          <p:cNvPr id="28" name="Shape 26"/>
          <p:cNvSpPr/>
          <p:nvPr/>
        </p:nvSpPr>
        <p:spPr>
          <a:xfrm>
            <a:off x="8445500" y="2905125"/>
            <a:ext cx="7217833" cy="1566333"/>
          </a:xfrm>
          <a:custGeom>
            <a:avLst/>
            <a:gdLst/>
            <a:ahLst/>
            <a:cxnLst/>
            <a:rect l="l" t="t" r="r" b="b"/>
            <a:pathLst>
              <a:path w="7217833" h="1566333">
                <a:moveTo>
                  <a:pt x="42338" y="0"/>
                </a:moveTo>
                <a:lnTo>
                  <a:pt x="7175495" y="0"/>
                </a:lnTo>
                <a:cubicBezTo>
                  <a:pt x="7198878" y="0"/>
                  <a:pt x="7217833" y="18955"/>
                  <a:pt x="7217833" y="42338"/>
                </a:cubicBezTo>
                <a:lnTo>
                  <a:pt x="7217833" y="1523995"/>
                </a:lnTo>
                <a:cubicBezTo>
                  <a:pt x="7217833" y="1547378"/>
                  <a:pt x="7198878" y="1566333"/>
                  <a:pt x="7175495" y="1566333"/>
                </a:cubicBezTo>
                <a:lnTo>
                  <a:pt x="42338" y="1566333"/>
                </a:lnTo>
                <a:cubicBezTo>
                  <a:pt x="18955" y="1566333"/>
                  <a:pt x="0" y="1547378"/>
                  <a:pt x="0" y="1523995"/>
                </a:cubicBezTo>
                <a:lnTo>
                  <a:pt x="0" y="42338"/>
                </a:lnTo>
                <a:cubicBezTo>
                  <a:pt x="0" y="18971"/>
                  <a:pt x="18971" y="0"/>
                  <a:pt x="42338" y="0"/>
                </a:cubicBezTo>
                <a:close/>
              </a:path>
            </a:pathLst>
          </a:custGeom>
          <a:solidFill>
            <a:srgbClr val="181A1F">
              <a:alpha val="50196"/>
            </a:srgbClr>
          </a:solidFill>
          <a:ln/>
        </p:spPr>
      </p:sp>
      <p:sp>
        <p:nvSpPr>
          <p:cNvPr id="29" name="Text 27"/>
          <p:cNvSpPr/>
          <p:nvPr/>
        </p:nvSpPr>
        <p:spPr>
          <a:xfrm>
            <a:off x="8572500" y="3032125"/>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5折交叉验证流程</a:t>
            </a:r>
            <a:endParaRPr lang="en-US" sz="1600" dirty="0"/>
          </a:p>
        </p:txBody>
      </p:sp>
      <p:sp>
        <p:nvSpPr>
          <p:cNvPr id="30" name="Text 28"/>
          <p:cNvSpPr/>
          <p:nvPr/>
        </p:nvSpPr>
        <p:spPr>
          <a:xfrm>
            <a:off x="8572500" y="3370792"/>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1. 将训练集均匀分为5个折（fold）</a:t>
            </a:r>
            <a:endParaRPr lang="en-US" sz="1600" dirty="0"/>
          </a:p>
        </p:txBody>
      </p:sp>
      <p:sp>
        <p:nvSpPr>
          <p:cNvPr id="31" name="Text 29"/>
          <p:cNvSpPr/>
          <p:nvPr/>
        </p:nvSpPr>
        <p:spPr>
          <a:xfrm>
            <a:off x="8572500" y="3624792"/>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2. 每次使用4折训练，预测剩余1折</a:t>
            </a:r>
            <a:endParaRPr lang="en-US" sz="1600" dirty="0"/>
          </a:p>
        </p:txBody>
      </p:sp>
      <p:sp>
        <p:nvSpPr>
          <p:cNvPr id="32" name="Text 30"/>
          <p:cNvSpPr/>
          <p:nvPr/>
        </p:nvSpPr>
        <p:spPr>
          <a:xfrm>
            <a:off x="8572500" y="3878792"/>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3. 重复5次，确保每个样本都被预测</a:t>
            </a:r>
            <a:endParaRPr lang="en-US" sz="1600" dirty="0"/>
          </a:p>
        </p:txBody>
      </p:sp>
      <p:sp>
        <p:nvSpPr>
          <p:cNvPr id="33" name="Text 31"/>
          <p:cNvSpPr/>
          <p:nvPr/>
        </p:nvSpPr>
        <p:spPr>
          <a:xfrm>
            <a:off x="8572500" y="4132792"/>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4. 拼接所有预测结果形成元特征</a:t>
            </a:r>
            <a:endParaRPr lang="en-US" sz="1600" dirty="0"/>
          </a:p>
        </p:txBody>
      </p:sp>
      <p:sp>
        <p:nvSpPr>
          <p:cNvPr id="34" name="Shape 32"/>
          <p:cNvSpPr/>
          <p:nvPr/>
        </p:nvSpPr>
        <p:spPr>
          <a:xfrm>
            <a:off x="8255000" y="4810125"/>
            <a:ext cx="7577667" cy="3513667"/>
          </a:xfrm>
          <a:custGeom>
            <a:avLst/>
            <a:gdLst/>
            <a:ahLst/>
            <a:cxnLst/>
            <a:rect l="l" t="t" r="r" b="b"/>
            <a:pathLst>
              <a:path w="7577667" h="3513667">
                <a:moveTo>
                  <a:pt x="42333" y="0"/>
                </a:moveTo>
                <a:lnTo>
                  <a:pt x="7492987" y="0"/>
                </a:lnTo>
                <a:cubicBezTo>
                  <a:pt x="7539754" y="0"/>
                  <a:pt x="7577667" y="37912"/>
                  <a:pt x="7577667" y="84679"/>
                </a:cubicBezTo>
                <a:lnTo>
                  <a:pt x="7577667" y="3428987"/>
                </a:lnTo>
                <a:cubicBezTo>
                  <a:pt x="7577667" y="3475754"/>
                  <a:pt x="7539754" y="3513667"/>
                  <a:pt x="7492987" y="3513667"/>
                </a:cubicBezTo>
                <a:lnTo>
                  <a:pt x="42333" y="3513667"/>
                </a:lnTo>
                <a:cubicBezTo>
                  <a:pt x="18953" y="3513667"/>
                  <a:pt x="0" y="3494713"/>
                  <a:pt x="0" y="3471333"/>
                </a:cubicBezTo>
                <a:lnTo>
                  <a:pt x="0" y="42333"/>
                </a:lnTo>
                <a:cubicBezTo>
                  <a:pt x="0" y="18953"/>
                  <a:pt x="18953" y="0"/>
                  <a:pt x="42333" y="0"/>
                </a:cubicBezTo>
                <a:close/>
              </a:path>
            </a:pathLst>
          </a:custGeom>
          <a:solidFill>
            <a:srgbClr val="3A5E78">
              <a:alpha val="20000"/>
            </a:srgbClr>
          </a:solidFill>
          <a:ln/>
        </p:spPr>
      </p:sp>
      <p:sp>
        <p:nvSpPr>
          <p:cNvPr id="35" name="Shape 33"/>
          <p:cNvSpPr/>
          <p:nvPr/>
        </p:nvSpPr>
        <p:spPr>
          <a:xfrm>
            <a:off x="8255000" y="4810125"/>
            <a:ext cx="42333" cy="3513667"/>
          </a:xfrm>
          <a:custGeom>
            <a:avLst/>
            <a:gdLst/>
            <a:ahLst/>
            <a:cxnLst/>
            <a:rect l="l" t="t" r="r" b="b"/>
            <a:pathLst>
              <a:path w="42333" h="3513667">
                <a:moveTo>
                  <a:pt x="42333" y="0"/>
                </a:moveTo>
                <a:lnTo>
                  <a:pt x="42333" y="0"/>
                </a:lnTo>
                <a:lnTo>
                  <a:pt x="42333" y="3513667"/>
                </a:lnTo>
                <a:lnTo>
                  <a:pt x="42333" y="3513667"/>
                </a:lnTo>
                <a:cubicBezTo>
                  <a:pt x="18953" y="3513667"/>
                  <a:pt x="0" y="3494713"/>
                  <a:pt x="0" y="3471333"/>
                </a:cubicBezTo>
                <a:lnTo>
                  <a:pt x="0" y="42333"/>
                </a:lnTo>
                <a:cubicBezTo>
                  <a:pt x="0" y="18953"/>
                  <a:pt x="18953" y="0"/>
                  <a:pt x="42333" y="0"/>
                </a:cubicBezTo>
                <a:close/>
              </a:path>
            </a:pathLst>
          </a:custGeom>
          <a:solidFill>
            <a:srgbClr val="4C7E9A"/>
          </a:solidFill>
          <a:ln/>
        </p:spPr>
      </p:sp>
      <p:sp>
        <p:nvSpPr>
          <p:cNvPr id="36" name="Text 34"/>
          <p:cNvSpPr/>
          <p:nvPr/>
        </p:nvSpPr>
        <p:spPr>
          <a:xfrm>
            <a:off x="8445500" y="4979458"/>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模型评估策略</a:t>
            </a:r>
            <a:endParaRPr lang="en-US" sz="1600" dirty="0"/>
          </a:p>
        </p:txBody>
      </p:sp>
      <p:sp>
        <p:nvSpPr>
          <p:cNvPr id="37" name="Shape 35"/>
          <p:cNvSpPr/>
          <p:nvPr/>
        </p:nvSpPr>
        <p:spPr>
          <a:xfrm>
            <a:off x="8445500" y="5445125"/>
            <a:ext cx="7217833" cy="1270000"/>
          </a:xfrm>
          <a:custGeom>
            <a:avLst/>
            <a:gdLst/>
            <a:ahLst/>
            <a:cxnLst/>
            <a:rect l="l" t="t" r="r" b="b"/>
            <a:pathLst>
              <a:path w="7217833" h="1270000">
                <a:moveTo>
                  <a:pt x="42329" y="0"/>
                </a:moveTo>
                <a:lnTo>
                  <a:pt x="7175504" y="0"/>
                </a:lnTo>
                <a:cubicBezTo>
                  <a:pt x="7198882" y="0"/>
                  <a:pt x="7217833" y="18951"/>
                  <a:pt x="7217833" y="42329"/>
                </a:cubicBezTo>
                <a:lnTo>
                  <a:pt x="7217833" y="1227671"/>
                </a:lnTo>
                <a:cubicBezTo>
                  <a:pt x="7217833" y="1251049"/>
                  <a:pt x="7198882" y="1270000"/>
                  <a:pt x="7175504" y="1270000"/>
                </a:cubicBezTo>
                <a:lnTo>
                  <a:pt x="42329" y="1270000"/>
                </a:lnTo>
                <a:cubicBezTo>
                  <a:pt x="18951" y="1270000"/>
                  <a:pt x="0" y="1251049"/>
                  <a:pt x="0" y="1227671"/>
                </a:cubicBezTo>
                <a:lnTo>
                  <a:pt x="0" y="42329"/>
                </a:lnTo>
                <a:cubicBezTo>
                  <a:pt x="0" y="18951"/>
                  <a:pt x="18951" y="0"/>
                  <a:pt x="42329" y="0"/>
                </a:cubicBezTo>
                <a:close/>
              </a:path>
            </a:pathLst>
          </a:custGeom>
          <a:solidFill>
            <a:srgbClr val="181A1F">
              <a:alpha val="50196"/>
            </a:srgbClr>
          </a:solidFill>
          <a:ln/>
        </p:spPr>
      </p:sp>
      <p:sp>
        <p:nvSpPr>
          <p:cNvPr id="38" name="Text 36"/>
          <p:cNvSpPr/>
          <p:nvPr/>
        </p:nvSpPr>
        <p:spPr>
          <a:xfrm>
            <a:off x="8572500" y="5572125"/>
            <a:ext cx="70590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主要评估指标：RMSLE</a:t>
            </a:r>
            <a:endParaRPr lang="en-US" sz="1600" dirty="0"/>
          </a:p>
        </p:txBody>
      </p:sp>
      <p:sp>
        <p:nvSpPr>
          <p:cNvPr id="39" name="Text 37"/>
          <p:cNvSpPr/>
          <p:nvPr/>
        </p:nvSpPr>
        <p:spPr>
          <a:xfrm>
            <a:off x="8572500" y="5910792"/>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在log(1+Price)尺度上进行交叉验证，以RMSLE作为模型选择指标</a:t>
            </a:r>
            <a:endParaRPr lang="en-US" sz="1600" dirty="0"/>
          </a:p>
        </p:txBody>
      </p:sp>
      <p:sp>
        <p:nvSpPr>
          <p:cNvPr id="40" name="Shape 38"/>
          <p:cNvSpPr/>
          <p:nvPr/>
        </p:nvSpPr>
        <p:spPr>
          <a:xfrm>
            <a:off x="8572500" y="6207125"/>
            <a:ext cx="6963833" cy="381000"/>
          </a:xfrm>
          <a:custGeom>
            <a:avLst/>
            <a:gdLst/>
            <a:ahLst/>
            <a:cxnLst/>
            <a:rect l="l" t="t" r="r" b="b"/>
            <a:pathLst>
              <a:path w="6963833" h="381000">
                <a:moveTo>
                  <a:pt x="42333" y="0"/>
                </a:moveTo>
                <a:lnTo>
                  <a:pt x="6921500" y="0"/>
                </a:lnTo>
                <a:cubicBezTo>
                  <a:pt x="6944880" y="0"/>
                  <a:pt x="6963833" y="18953"/>
                  <a:pt x="6963833" y="42333"/>
                </a:cubicBezTo>
                <a:lnTo>
                  <a:pt x="6963833" y="338667"/>
                </a:lnTo>
                <a:cubicBezTo>
                  <a:pt x="6963833" y="362047"/>
                  <a:pt x="6944880" y="381000"/>
                  <a:pt x="6921500" y="381000"/>
                </a:cubicBezTo>
                <a:lnTo>
                  <a:pt x="42333" y="381000"/>
                </a:lnTo>
                <a:cubicBezTo>
                  <a:pt x="18953" y="381000"/>
                  <a:pt x="0" y="362047"/>
                  <a:pt x="0" y="338667"/>
                </a:cubicBezTo>
                <a:lnTo>
                  <a:pt x="0" y="42333"/>
                </a:lnTo>
                <a:cubicBezTo>
                  <a:pt x="0" y="18969"/>
                  <a:pt x="18969" y="0"/>
                  <a:pt x="42333" y="0"/>
                </a:cubicBezTo>
                <a:close/>
              </a:path>
            </a:pathLst>
          </a:custGeom>
          <a:solidFill>
            <a:srgbClr val="181A1F"/>
          </a:solidFill>
          <a:ln/>
        </p:spPr>
      </p:sp>
      <p:sp>
        <p:nvSpPr>
          <p:cNvPr id="41" name="Text 39"/>
          <p:cNvSpPr/>
          <p:nvPr/>
        </p:nvSpPr>
        <p:spPr>
          <a:xfrm>
            <a:off x="8620125" y="6291792"/>
            <a:ext cx="6868583" cy="211667"/>
          </a:xfrm>
          <a:prstGeom prst="rect">
            <a:avLst/>
          </a:prstGeom>
          <a:noFill/>
          <a:ln/>
        </p:spPr>
        <p:txBody>
          <a:bodyPr wrap="square" lIns="0" tIns="0" rIns="0" bIns="0" rtlCol="0" anchor="ctr"/>
          <a:lstStyle/>
          <a:p>
            <a:pPr algn="ctr">
              <a:lnSpc>
                <a:spcPct val="120000"/>
              </a:lnSpc>
            </a:pPr>
            <a:r>
              <a:rPr lang="en-US" sz="1167" dirty="0">
                <a:solidFill>
                  <a:srgbClr val="7E9AA8"/>
                </a:solidFill>
                <a:latin typeface="MiSans" pitchFamily="34" charset="0"/>
                <a:ea typeface="MiSans" pitchFamily="34" charset="-122"/>
                <a:cs typeface="MiSans" pitchFamily="34" charset="-120"/>
              </a:rPr>
              <a:t>RMSLE = √[∑(log(1+y_i) - log(1+ŷ_i))²/n]</a:t>
            </a:r>
            <a:endParaRPr lang="en-US" sz="1600" dirty="0"/>
          </a:p>
        </p:txBody>
      </p:sp>
      <p:sp>
        <p:nvSpPr>
          <p:cNvPr id="42" name="Shape 40"/>
          <p:cNvSpPr/>
          <p:nvPr/>
        </p:nvSpPr>
        <p:spPr>
          <a:xfrm>
            <a:off x="8445500" y="6842125"/>
            <a:ext cx="7217833" cy="1312333"/>
          </a:xfrm>
          <a:custGeom>
            <a:avLst/>
            <a:gdLst/>
            <a:ahLst/>
            <a:cxnLst/>
            <a:rect l="l" t="t" r="r" b="b"/>
            <a:pathLst>
              <a:path w="7217833" h="1312333">
                <a:moveTo>
                  <a:pt x="42336" y="0"/>
                </a:moveTo>
                <a:lnTo>
                  <a:pt x="7175497" y="0"/>
                </a:lnTo>
                <a:cubicBezTo>
                  <a:pt x="7198879" y="0"/>
                  <a:pt x="7217833" y="18954"/>
                  <a:pt x="7217833" y="42336"/>
                </a:cubicBezTo>
                <a:lnTo>
                  <a:pt x="7217833" y="1269997"/>
                </a:lnTo>
                <a:cubicBezTo>
                  <a:pt x="7217833" y="1293379"/>
                  <a:pt x="7198879" y="1312333"/>
                  <a:pt x="7175497" y="1312333"/>
                </a:cubicBezTo>
                <a:lnTo>
                  <a:pt x="42336" y="1312333"/>
                </a:lnTo>
                <a:cubicBezTo>
                  <a:pt x="18954" y="1312333"/>
                  <a:pt x="0" y="1293379"/>
                  <a:pt x="0" y="1269997"/>
                </a:cubicBezTo>
                <a:lnTo>
                  <a:pt x="0" y="42336"/>
                </a:lnTo>
                <a:cubicBezTo>
                  <a:pt x="0" y="18954"/>
                  <a:pt x="18954" y="0"/>
                  <a:pt x="42336" y="0"/>
                </a:cubicBezTo>
                <a:close/>
              </a:path>
            </a:pathLst>
          </a:custGeom>
          <a:solidFill>
            <a:srgbClr val="181A1F">
              <a:alpha val="50196"/>
            </a:srgbClr>
          </a:solidFill>
          <a:ln/>
        </p:spPr>
      </p:sp>
      <p:sp>
        <p:nvSpPr>
          <p:cNvPr id="43" name="Text 41"/>
          <p:cNvSpPr/>
          <p:nvPr/>
        </p:nvSpPr>
        <p:spPr>
          <a:xfrm>
            <a:off x="8572500" y="6969125"/>
            <a:ext cx="70590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补充展示指标</a:t>
            </a:r>
            <a:endParaRPr lang="en-US" sz="1600" dirty="0"/>
          </a:p>
        </p:txBody>
      </p:sp>
      <p:sp>
        <p:nvSpPr>
          <p:cNvPr id="44" name="Text 42"/>
          <p:cNvSpPr/>
          <p:nvPr/>
        </p:nvSpPr>
        <p:spPr>
          <a:xfrm>
            <a:off x="8572500" y="7307792"/>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原始尺度RMSE（便于业务理解）</a:t>
            </a:r>
            <a:endParaRPr lang="en-US" sz="1600" dirty="0"/>
          </a:p>
        </p:txBody>
      </p:sp>
      <p:sp>
        <p:nvSpPr>
          <p:cNvPr id="45" name="Text 43"/>
          <p:cNvSpPr/>
          <p:nvPr/>
        </p:nvSpPr>
        <p:spPr>
          <a:xfrm>
            <a:off x="8572500" y="7561792"/>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R²（决定系数，衡量解释能力）</a:t>
            </a:r>
            <a:endParaRPr lang="en-US" sz="1600" dirty="0"/>
          </a:p>
        </p:txBody>
      </p:sp>
      <p:sp>
        <p:nvSpPr>
          <p:cNvPr id="46" name="Text 44"/>
          <p:cNvSpPr/>
          <p:nvPr/>
        </p:nvSpPr>
        <p:spPr>
          <a:xfrm>
            <a:off x="8572500" y="7815792"/>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相对最佳基模型的提升百分比</a:t>
            </a:r>
            <a:endParaRPr lang="en-US" sz="1600" dirty="0"/>
          </a:p>
        </p:txBody>
      </p:sp>
      <p:sp>
        <p:nvSpPr>
          <p:cNvPr id="47" name="Shape 45"/>
          <p:cNvSpPr/>
          <p:nvPr/>
        </p:nvSpPr>
        <p:spPr>
          <a:xfrm>
            <a:off x="428625" y="8498417"/>
            <a:ext cx="15398750" cy="1322917"/>
          </a:xfrm>
          <a:custGeom>
            <a:avLst/>
            <a:gdLst/>
            <a:ahLst/>
            <a:cxnLst/>
            <a:rect l="l" t="t" r="r" b="b"/>
            <a:pathLst>
              <a:path w="15398750" h="1322917">
                <a:moveTo>
                  <a:pt x="84667" y="0"/>
                </a:moveTo>
                <a:lnTo>
                  <a:pt x="15314083" y="0"/>
                </a:lnTo>
                <a:cubicBezTo>
                  <a:pt x="15360843" y="0"/>
                  <a:pt x="15398750" y="37907"/>
                  <a:pt x="15398750" y="84667"/>
                </a:cubicBezTo>
                <a:lnTo>
                  <a:pt x="15398750" y="1238250"/>
                </a:lnTo>
                <a:cubicBezTo>
                  <a:pt x="15398750" y="1285010"/>
                  <a:pt x="15360843" y="1322917"/>
                  <a:pt x="15314083" y="1322917"/>
                </a:cubicBezTo>
                <a:lnTo>
                  <a:pt x="84667" y="1322917"/>
                </a:lnTo>
                <a:cubicBezTo>
                  <a:pt x="37907" y="1322917"/>
                  <a:pt x="0" y="1285010"/>
                  <a:pt x="0" y="1238250"/>
                </a:cubicBezTo>
                <a:lnTo>
                  <a:pt x="0" y="84667"/>
                </a:lnTo>
                <a:cubicBezTo>
                  <a:pt x="0" y="37907"/>
                  <a:pt x="37907" y="0"/>
                  <a:pt x="84667" y="0"/>
                </a:cubicBezTo>
                <a:close/>
              </a:path>
            </a:pathLst>
          </a:custGeom>
          <a:solidFill>
            <a:srgbClr val="4C7E9A">
              <a:alpha val="10196"/>
            </a:srgbClr>
          </a:solidFill>
          <a:ln w="12700">
            <a:solidFill>
              <a:srgbClr val="4C7E9A">
                <a:alpha val="30196"/>
              </a:srgbClr>
            </a:solidFill>
            <a:prstDash val="solid"/>
          </a:ln>
        </p:spPr>
      </p:sp>
      <p:sp>
        <p:nvSpPr>
          <p:cNvPr id="48" name="Shape 46"/>
          <p:cNvSpPr/>
          <p:nvPr/>
        </p:nvSpPr>
        <p:spPr>
          <a:xfrm>
            <a:off x="625740" y="8673042"/>
            <a:ext cx="357188" cy="317500"/>
          </a:xfrm>
          <a:custGeom>
            <a:avLst/>
            <a:gdLst/>
            <a:ahLst/>
            <a:cxnLst/>
            <a:rect l="l" t="t" r="r" b="b"/>
            <a:pathLst>
              <a:path w="357188" h="317500">
                <a:moveTo>
                  <a:pt x="223738" y="744"/>
                </a:moveTo>
                <a:cubicBezTo>
                  <a:pt x="213196" y="-2294"/>
                  <a:pt x="202220" y="3845"/>
                  <a:pt x="199182" y="14387"/>
                </a:cubicBezTo>
                <a:lnTo>
                  <a:pt x="119807" y="292199"/>
                </a:lnTo>
                <a:cubicBezTo>
                  <a:pt x="116768" y="302741"/>
                  <a:pt x="122907" y="313717"/>
                  <a:pt x="133449" y="316756"/>
                </a:cubicBezTo>
                <a:cubicBezTo>
                  <a:pt x="143991" y="319794"/>
                  <a:pt x="154967" y="313655"/>
                  <a:pt x="158006" y="303113"/>
                </a:cubicBezTo>
                <a:lnTo>
                  <a:pt x="237381" y="25301"/>
                </a:lnTo>
                <a:cubicBezTo>
                  <a:pt x="240419" y="14759"/>
                  <a:pt x="234280" y="3783"/>
                  <a:pt x="223738" y="744"/>
                </a:cubicBezTo>
                <a:close/>
                <a:moveTo>
                  <a:pt x="263798" y="85142"/>
                </a:moveTo>
                <a:cubicBezTo>
                  <a:pt x="256046" y="92894"/>
                  <a:pt x="256046" y="105482"/>
                  <a:pt x="263798" y="113233"/>
                </a:cubicBezTo>
                <a:lnTo>
                  <a:pt x="309314" y="158750"/>
                </a:lnTo>
                <a:lnTo>
                  <a:pt x="263798" y="204267"/>
                </a:lnTo>
                <a:cubicBezTo>
                  <a:pt x="256046" y="212018"/>
                  <a:pt x="256046" y="224606"/>
                  <a:pt x="263798" y="232358"/>
                </a:cubicBezTo>
                <a:cubicBezTo>
                  <a:pt x="271549" y="240109"/>
                  <a:pt x="284138" y="240109"/>
                  <a:pt x="291889" y="232358"/>
                </a:cubicBezTo>
                <a:lnTo>
                  <a:pt x="351420" y="172827"/>
                </a:lnTo>
                <a:cubicBezTo>
                  <a:pt x="359172" y="165075"/>
                  <a:pt x="359172" y="152487"/>
                  <a:pt x="351420" y="144735"/>
                </a:cubicBezTo>
                <a:lnTo>
                  <a:pt x="291889" y="85204"/>
                </a:lnTo>
                <a:cubicBezTo>
                  <a:pt x="284138" y="77453"/>
                  <a:pt x="271549" y="77453"/>
                  <a:pt x="263798" y="85204"/>
                </a:cubicBezTo>
                <a:close/>
                <a:moveTo>
                  <a:pt x="93452" y="85142"/>
                </a:moveTo>
                <a:cubicBezTo>
                  <a:pt x="85700" y="77391"/>
                  <a:pt x="73112" y="77391"/>
                  <a:pt x="65360" y="85142"/>
                </a:cubicBezTo>
                <a:lnTo>
                  <a:pt x="5829" y="144673"/>
                </a:lnTo>
                <a:cubicBezTo>
                  <a:pt x="-1922" y="152425"/>
                  <a:pt x="-1922" y="165013"/>
                  <a:pt x="5829" y="172765"/>
                </a:cubicBezTo>
                <a:lnTo>
                  <a:pt x="65360" y="232296"/>
                </a:lnTo>
                <a:cubicBezTo>
                  <a:pt x="73112" y="240047"/>
                  <a:pt x="85700" y="240047"/>
                  <a:pt x="93452" y="232296"/>
                </a:cubicBezTo>
                <a:cubicBezTo>
                  <a:pt x="101203" y="224544"/>
                  <a:pt x="101203" y="211956"/>
                  <a:pt x="93452" y="204205"/>
                </a:cubicBezTo>
                <a:lnTo>
                  <a:pt x="47935" y="158750"/>
                </a:lnTo>
                <a:lnTo>
                  <a:pt x="93390" y="113233"/>
                </a:lnTo>
                <a:cubicBezTo>
                  <a:pt x="101141" y="105482"/>
                  <a:pt x="101141" y="92894"/>
                  <a:pt x="93390" y="85142"/>
                </a:cubicBezTo>
                <a:close/>
              </a:path>
            </a:pathLst>
          </a:custGeom>
          <a:solidFill>
            <a:srgbClr val="4C7E9A"/>
          </a:solidFill>
          <a:ln/>
        </p:spPr>
      </p:sp>
      <p:sp>
        <p:nvSpPr>
          <p:cNvPr id="49" name="Text 47"/>
          <p:cNvSpPr/>
          <p:nvPr/>
        </p:nvSpPr>
        <p:spPr>
          <a:xfrm>
            <a:off x="1169458" y="8673042"/>
            <a:ext cx="14594417"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关键实现要点</a:t>
            </a:r>
            <a:endParaRPr lang="en-US" sz="1600" dirty="0"/>
          </a:p>
        </p:txBody>
      </p:sp>
      <p:sp>
        <p:nvSpPr>
          <p:cNvPr id="50" name="Text 48"/>
          <p:cNvSpPr/>
          <p:nvPr/>
        </p:nvSpPr>
        <p:spPr>
          <a:xfrm>
            <a:off x="1169458" y="9054042"/>
            <a:ext cx="481541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数据预处理</a:t>
            </a:r>
            <a:endParaRPr lang="en-US" sz="1600" dirty="0"/>
          </a:p>
        </p:txBody>
      </p:sp>
      <p:sp>
        <p:nvSpPr>
          <p:cNvPr id="51" name="Text 49"/>
          <p:cNvSpPr/>
          <p:nvPr/>
        </p:nvSpPr>
        <p:spPr>
          <a:xfrm>
            <a:off x="1169458" y="9392708"/>
            <a:ext cx="4804833"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对数变换、缺失值处理、特征编码</a:t>
            </a:r>
            <a:endParaRPr lang="en-US" sz="1600" dirty="0"/>
          </a:p>
        </p:txBody>
      </p:sp>
      <p:sp>
        <p:nvSpPr>
          <p:cNvPr id="52" name="Text 50"/>
          <p:cNvSpPr/>
          <p:nvPr/>
        </p:nvSpPr>
        <p:spPr>
          <a:xfrm>
            <a:off x="6053667" y="9054042"/>
            <a:ext cx="481541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防数据泄露</a:t>
            </a:r>
            <a:endParaRPr lang="en-US" sz="1600" dirty="0"/>
          </a:p>
        </p:txBody>
      </p:sp>
      <p:sp>
        <p:nvSpPr>
          <p:cNvPr id="53" name="Text 51"/>
          <p:cNvSpPr/>
          <p:nvPr/>
        </p:nvSpPr>
        <p:spPr>
          <a:xfrm>
            <a:off x="6053667" y="9392708"/>
            <a:ext cx="4804833"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K折交叉验证生成元特征</a:t>
            </a:r>
            <a:endParaRPr lang="en-US" sz="1600" dirty="0"/>
          </a:p>
        </p:txBody>
      </p:sp>
      <p:sp>
        <p:nvSpPr>
          <p:cNvPr id="54" name="Text 52"/>
          <p:cNvSpPr/>
          <p:nvPr/>
        </p:nvSpPr>
        <p:spPr>
          <a:xfrm>
            <a:off x="10937875" y="9054042"/>
            <a:ext cx="481541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多指标评估</a:t>
            </a:r>
            <a:endParaRPr lang="en-US" sz="1600" dirty="0"/>
          </a:p>
        </p:txBody>
      </p:sp>
      <p:sp>
        <p:nvSpPr>
          <p:cNvPr id="55" name="Text 53"/>
          <p:cNvSpPr/>
          <p:nvPr/>
        </p:nvSpPr>
        <p:spPr>
          <a:xfrm>
            <a:off x="10937875" y="9392708"/>
            <a:ext cx="4804833"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RMSLE、RMSE、R²综合评估</a:t>
            </a:r>
            <a:endParaRPr lang="en-US" sz="1600" dirty="0"/>
          </a:p>
        </p:txBody>
      </p:sp>
    </p:spTree>
  </p:cSld>
  <p:clrMapOvr>
    <a:masterClrMapping/>
  </p:clrMapOvr>
  <p:transition>
    <p:fade/>
    <p:spd val="med"/>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CASE STUDY</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实战效果与启示</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pic>
        <p:nvPicPr>
          <p:cNvPr id="5" name="Image 0" descr="https://kimi-img.moonshot.cn/pub/slides/26-01-07-11:57:47-d5etjeq5hvlpt4mb9ttg.png">    </p:cNvPr>
          <p:cNvPicPr>
            <a:picLocks noChangeAspect="1"/>
          </p:cNvPicPr>
          <p:nvPr/>
        </p:nvPicPr>
        <p:blipFill>
          <a:blip r:embed="rId1"/>
          <a:srcRect l="0" r="0" t="0" b="0"/>
          <a:stretch/>
        </p:blipFill>
        <p:spPr>
          <a:xfrm>
            <a:off x="423333" y="1524000"/>
            <a:ext cx="6244167" cy="3386667"/>
          </a:xfrm>
          <a:prstGeom prst="roundRect">
            <a:avLst>
              <a:gd name="adj" fmla="val 0"/>
            </a:avLst>
          </a:prstGeom>
        </p:spPr>
      </p:pic>
      <p:sp>
        <p:nvSpPr>
          <p:cNvPr id="6" name="Shape 3"/>
          <p:cNvSpPr/>
          <p:nvPr/>
        </p:nvSpPr>
        <p:spPr>
          <a:xfrm>
            <a:off x="428625" y="5085292"/>
            <a:ext cx="7588250" cy="3058583"/>
          </a:xfrm>
          <a:custGeom>
            <a:avLst/>
            <a:gdLst/>
            <a:ahLst/>
            <a:cxnLst/>
            <a:rect l="l" t="t" r="r" b="b"/>
            <a:pathLst>
              <a:path w="7588250" h="3058583">
                <a:moveTo>
                  <a:pt x="84662" y="0"/>
                </a:moveTo>
                <a:lnTo>
                  <a:pt x="7503588" y="0"/>
                </a:lnTo>
                <a:cubicBezTo>
                  <a:pt x="7550346" y="0"/>
                  <a:pt x="7588250" y="37904"/>
                  <a:pt x="7588250" y="84662"/>
                </a:cubicBezTo>
                <a:lnTo>
                  <a:pt x="7588250" y="2973922"/>
                </a:lnTo>
                <a:cubicBezTo>
                  <a:pt x="7588250" y="3020679"/>
                  <a:pt x="7550346" y="3058583"/>
                  <a:pt x="7503588" y="3058583"/>
                </a:cubicBezTo>
                <a:lnTo>
                  <a:pt x="84662" y="3058583"/>
                </a:lnTo>
                <a:cubicBezTo>
                  <a:pt x="37904" y="3058583"/>
                  <a:pt x="0" y="3020679"/>
                  <a:pt x="0" y="2973922"/>
                </a:cubicBezTo>
                <a:lnTo>
                  <a:pt x="0" y="84662"/>
                </a:lnTo>
                <a:cubicBezTo>
                  <a:pt x="0" y="37936"/>
                  <a:pt x="37936" y="0"/>
                  <a:pt x="84662" y="0"/>
                </a:cubicBezTo>
                <a:close/>
              </a:path>
            </a:pathLst>
          </a:custGeom>
          <a:solidFill>
            <a:srgbClr val="3A5E78">
              <a:alpha val="20000"/>
            </a:srgbClr>
          </a:solidFill>
          <a:ln w="12700">
            <a:solidFill>
              <a:srgbClr val="4C7E9A">
                <a:alpha val="50196"/>
              </a:srgbClr>
            </a:solidFill>
            <a:prstDash val="solid"/>
          </a:ln>
        </p:spPr>
      </p:sp>
      <p:sp>
        <p:nvSpPr>
          <p:cNvPr id="7" name="Text 4"/>
          <p:cNvSpPr/>
          <p:nvPr/>
        </p:nvSpPr>
        <p:spPr>
          <a:xfrm>
            <a:off x="603250" y="5259917"/>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性能提升</a:t>
            </a:r>
            <a:endParaRPr lang="en-US" sz="1600" dirty="0"/>
          </a:p>
        </p:txBody>
      </p:sp>
      <p:sp>
        <p:nvSpPr>
          <p:cNvPr id="8" name="Text 5"/>
          <p:cNvSpPr/>
          <p:nvPr/>
        </p:nvSpPr>
        <p:spPr>
          <a:xfrm>
            <a:off x="603250" y="5725583"/>
            <a:ext cx="7323667" cy="550333"/>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集成模型在各项指标上都</a:t>
            </a:r>
            <a:pPr>
              <a:lnSpc>
                <a:spcPct val="140000"/>
              </a:lnSpc>
            </a:pPr>
            <a:r>
              <a:rPr lang="en-US" sz="1333" b="1" dirty="0">
                <a:solidFill>
                  <a:srgbClr val="4C7E9A"/>
                </a:solidFill>
                <a:latin typeface="MiSans" pitchFamily="34" charset="0"/>
                <a:ea typeface="MiSans" pitchFamily="34" charset="-122"/>
                <a:cs typeface="MiSans" pitchFamily="34" charset="-120"/>
              </a:rPr>
              <a:t>稳定优于</a:t>
            </a:r>
            <a:pPr>
              <a:lnSpc>
                <a:spcPct val="140000"/>
              </a:lnSpc>
            </a:pPr>
            <a:r>
              <a:rPr lang="en-US" sz="1333" dirty="0">
                <a:solidFill>
                  <a:srgbClr val="D1D5DB"/>
                </a:solidFill>
                <a:latin typeface="MiSans" pitchFamily="34" charset="0"/>
                <a:ea typeface="MiSans" pitchFamily="34" charset="-122"/>
                <a:cs typeface="MiSans" pitchFamily="34" charset="-120"/>
              </a:rPr>
              <a:t>单个基模型，证明了通过合理组合不同模型确实能够获得更好的预测效果。</a:t>
            </a:r>
            <a:endParaRPr lang="en-US" sz="1600" dirty="0"/>
          </a:p>
        </p:txBody>
      </p:sp>
      <p:sp>
        <p:nvSpPr>
          <p:cNvPr id="9" name="Shape 6"/>
          <p:cNvSpPr/>
          <p:nvPr/>
        </p:nvSpPr>
        <p:spPr>
          <a:xfrm>
            <a:off x="603250" y="6402917"/>
            <a:ext cx="3556000" cy="1016000"/>
          </a:xfrm>
          <a:custGeom>
            <a:avLst/>
            <a:gdLst/>
            <a:ahLst/>
            <a:cxnLst/>
            <a:rect l="l" t="t" r="r" b="b"/>
            <a:pathLst>
              <a:path w="3556000" h="1016000">
                <a:moveTo>
                  <a:pt x="42337" y="0"/>
                </a:moveTo>
                <a:lnTo>
                  <a:pt x="3513663" y="0"/>
                </a:lnTo>
                <a:cubicBezTo>
                  <a:pt x="3537045" y="0"/>
                  <a:pt x="3556000" y="18955"/>
                  <a:pt x="3556000" y="42337"/>
                </a:cubicBezTo>
                <a:lnTo>
                  <a:pt x="3556000" y="973663"/>
                </a:lnTo>
                <a:cubicBezTo>
                  <a:pt x="3556000" y="997045"/>
                  <a:pt x="3537045" y="1016000"/>
                  <a:pt x="3513663" y="1016000"/>
                </a:cubicBezTo>
                <a:lnTo>
                  <a:pt x="42337" y="1016000"/>
                </a:lnTo>
                <a:cubicBezTo>
                  <a:pt x="18955" y="1016000"/>
                  <a:pt x="0" y="997045"/>
                  <a:pt x="0" y="973663"/>
                </a:cubicBezTo>
                <a:lnTo>
                  <a:pt x="0" y="42337"/>
                </a:lnTo>
                <a:cubicBezTo>
                  <a:pt x="0" y="18955"/>
                  <a:pt x="18955" y="0"/>
                  <a:pt x="42337" y="0"/>
                </a:cubicBezTo>
                <a:close/>
              </a:path>
            </a:pathLst>
          </a:custGeom>
          <a:solidFill>
            <a:srgbClr val="181A1F">
              <a:alpha val="50196"/>
            </a:srgbClr>
          </a:solidFill>
          <a:ln/>
        </p:spPr>
      </p:sp>
      <p:sp>
        <p:nvSpPr>
          <p:cNvPr id="10" name="Text 7"/>
          <p:cNvSpPr/>
          <p:nvPr/>
        </p:nvSpPr>
        <p:spPr>
          <a:xfrm>
            <a:off x="693208" y="6529917"/>
            <a:ext cx="3376083" cy="211667"/>
          </a:xfrm>
          <a:prstGeom prst="rect">
            <a:avLst/>
          </a:prstGeom>
          <a:noFill/>
          <a:ln/>
        </p:spPr>
        <p:txBody>
          <a:bodyPr wrap="square" lIns="0" tIns="0" rIns="0" bIns="0" rtlCol="0" anchor="ctr"/>
          <a:lstStyle/>
          <a:p>
            <a:pPr algn="ctr">
              <a:lnSpc>
                <a:spcPct val="120000"/>
              </a:lnSpc>
            </a:pPr>
            <a:r>
              <a:rPr lang="en-US" sz="1167" dirty="0">
                <a:solidFill>
                  <a:srgbClr val="7E9AA8"/>
                </a:solidFill>
                <a:latin typeface="MiSans" pitchFamily="34" charset="0"/>
                <a:ea typeface="MiSans" pitchFamily="34" charset="-122"/>
                <a:cs typeface="MiSans" pitchFamily="34" charset="-120"/>
              </a:rPr>
              <a:t>最佳单模型</a:t>
            </a:r>
            <a:endParaRPr lang="en-US" sz="1600" dirty="0"/>
          </a:p>
        </p:txBody>
      </p:sp>
      <p:sp>
        <p:nvSpPr>
          <p:cNvPr id="11" name="Text 8"/>
          <p:cNvSpPr/>
          <p:nvPr/>
        </p:nvSpPr>
        <p:spPr>
          <a:xfrm>
            <a:off x="666750" y="6783917"/>
            <a:ext cx="3429000" cy="338667"/>
          </a:xfrm>
          <a:prstGeom prst="rect">
            <a:avLst/>
          </a:prstGeom>
          <a:noFill/>
          <a:ln/>
        </p:spPr>
        <p:txBody>
          <a:bodyPr wrap="square" lIns="0" tIns="0" rIns="0" bIns="0" rtlCol="0" anchor="ctr"/>
          <a:lstStyle/>
          <a:p>
            <a:pPr algn="ctr">
              <a:lnSpc>
                <a:spcPct val="110000"/>
              </a:lnSpc>
            </a:pPr>
            <a:r>
              <a:rPr lang="en-US" sz="2000" b="1" dirty="0">
                <a:solidFill>
                  <a:srgbClr val="D1D5DB"/>
                </a:solidFill>
                <a:latin typeface="MiSans" pitchFamily="34" charset="0"/>
                <a:ea typeface="MiSans" pitchFamily="34" charset="-122"/>
                <a:cs typeface="MiSans" pitchFamily="34" charset="-120"/>
              </a:rPr>
              <a:t>0.135</a:t>
            </a:r>
            <a:endParaRPr lang="en-US" sz="1600" dirty="0"/>
          </a:p>
        </p:txBody>
      </p:sp>
      <p:sp>
        <p:nvSpPr>
          <p:cNvPr id="12" name="Text 9"/>
          <p:cNvSpPr/>
          <p:nvPr/>
        </p:nvSpPr>
        <p:spPr>
          <a:xfrm>
            <a:off x="698500" y="7122583"/>
            <a:ext cx="3365500" cy="169333"/>
          </a:xfrm>
          <a:prstGeom prst="rect">
            <a:avLst/>
          </a:prstGeom>
          <a:noFill/>
          <a:ln/>
        </p:spPr>
        <p:txBody>
          <a:bodyPr wrap="square" lIns="0" tIns="0" rIns="0" bIns="0" rtlCol="0" anchor="ctr"/>
          <a:lstStyle/>
          <a:p>
            <a:pPr algn="ctr">
              <a:lnSpc>
                <a:spcPct val="110000"/>
              </a:lnSpc>
            </a:pPr>
            <a:r>
              <a:rPr lang="en-US" sz="1000" dirty="0">
                <a:solidFill>
                  <a:srgbClr val="7E9AA8"/>
                </a:solidFill>
                <a:latin typeface="MiSans" pitchFamily="34" charset="0"/>
                <a:ea typeface="MiSans" pitchFamily="34" charset="-122"/>
                <a:cs typeface="MiSans" pitchFamily="34" charset="-120"/>
              </a:rPr>
              <a:t>RMSLE</a:t>
            </a:r>
            <a:endParaRPr lang="en-US" sz="1600" dirty="0"/>
          </a:p>
        </p:txBody>
      </p:sp>
      <p:sp>
        <p:nvSpPr>
          <p:cNvPr id="13" name="Shape 10"/>
          <p:cNvSpPr/>
          <p:nvPr/>
        </p:nvSpPr>
        <p:spPr>
          <a:xfrm>
            <a:off x="4286250" y="6402917"/>
            <a:ext cx="3556000" cy="1016000"/>
          </a:xfrm>
          <a:custGeom>
            <a:avLst/>
            <a:gdLst/>
            <a:ahLst/>
            <a:cxnLst/>
            <a:rect l="l" t="t" r="r" b="b"/>
            <a:pathLst>
              <a:path w="3556000" h="1016000">
                <a:moveTo>
                  <a:pt x="42337" y="0"/>
                </a:moveTo>
                <a:lnTo>
                  <a:pt x="3513663" y="0"/>
                </a:lnTo>
                <a:cubicBezTo>
                  <a:pt x="3537045" y="0"/>
                  <a:pt x="3556000" y="18955"/>
                  <a:pt x="3556000" y="42337"/>
                </a:cubicBezTo>
                <a:lnTo>
                  <a:pt x="3556000" y="973663"/>
                </a:lnTo>
                <a:cubicBezTo>
                  <a:pt x="3556000" y="997045"/>
                  <a:pt x="3537045" y="1016000"/>
                  <a:pt x="3513663" y="1016000"/>
                </a:cubicBezTo>
                <a:lnTo>
                  <a:pt x="42337" y="1016000"/>
                </a:lnTo>
                <a:cubicBezTo>
                  <a:pt x="18955" y="1016000"/>
                  <a:pt x="0" y="997045"/>
                  <a:pt x="0" y="973663"/>
                </a:cubicBezTo>
                <a:lnTo>
                  <a:pt x="0" y="42337"/>
                </a:lnTo>
                <a:cubicBezTo>
                  <a:pt x="0" y="18955"/>
                  <a:pt x="18955" y="0"/>
                  <a:pt x="42337" y="0"/>
                </a:cubicBezTo>
                <a:close/>
              </a:path>
            </a:pathLst>
          </a:custGeom>
          <a:solidFill>
            <a:srgbClr val="181A1F">
              <a:alpha val="50196"/>
            </a:srgbClr>
          </a:solidFill>
          <a:ln/>
        </p:spPr>
      </p:sp>
      <p:sp>
        <p:nvSpPr>
          <p:cNvPr id="14" name="Text 11"/>
          <p:cNvSpPr/>
          <p:nvPr/>
        </p:nvSpPr>
        <p:spPr>
          <a:xfrm>
            <a:off x="4376208" y="6529917"/>
            <a:ext cx="3376083" cy="211667"/>
          </a:xfrm>
          <a:prstGeom prst="rect">
            <a:avLst/>
          </a:prstGeom>
          <a:noFill/>
          <a:ln/>
        </p:spPr>
        <p:txBody>
          <a:bodyPr wrap="square" lIns="0" tIns="0" rIns="0" bIns="0" rtlCol="0" anchor="ctr"/>
          <a:lstStyle/>
          <a:p>
            <a:pPr algn="ctr">
              <a:lnSpc>
                <a:spcPct val="120000"/>
              </a:lnSpc>
            </a:pPr>
            <a:r>
              <a:rPr lang="en-US" sz="1167" dirty="0">
                <a:solidFill>
                  <a:srgbClr val="7E9AA8"/>
                </a:solidFill>
                <a:latin typeface="MiSans" pitchFamily="34" charset="0"/>
                <a:ea typeface="MiSans" pitchFamily="34" charset="-122"/>
                <a:cs typeface="MiSans" pitchFamily="34" charset="-120"/>
              </a:rPr>
              <a:t>集成模型</a:t>
            </a:r>
            <a:endParaRPr lang="en-US" sz="1600" dirty="0"/>
          </a:p>
        </p:txBody>
      </p:sp>
      <p:sp>
        <p:nvSpPr>
          <p:cNvPr id="15" name="Text 12"/>
          <p:cNvSpPr/>
          <p:nvPr/>
        </p:nvSpPr>
        <p:spPr>
          <a:xfrm>
            <a:off x="4349750" y="6783917"/>
            <a:ext cx="3429000" cy="338667"/>
          </a:xfrm>
          <a:prstGeom prst="rect">
            <a:avLst/>
          </a:prstGeom>
          <a:noFill/>
          <a:ln/>
        </p:spPr>
        <p:txBody>
          <a:bodyPr wrap="square" lIns="0" tIns="0" rIns="0" bIns="0" rtlCol="0" anchor="ctr"/>
          <a:lstStyle/>
          <a:p>
            <a:pPr algn="ctr">
              <a:lnSpc>
                <a:spcPct val="110000"/>
              </a:lnSpc>
            </a:pPr>
            <a:r>
              <a:rPr lang="en-US" sz="2000" b="1" dirty="0">
                <a:solidFill>
                  <a:srgbClr val="4C7E9A"/>
                </a:solidFill>
                <a:latin typeface="MiSans" pitchFamily="34" charset="0"/>
                <a:ea typeface="MiSans" pitchFamily="34" charset="-122"/>
                <a:cs typeface="MiSans" pitchFamily="34" charset="-120"/>
              </a:rPr>
              <a:t>0.118</a:t>
            </a:r>
            <a:endParaRPr lang="en-US" sz="1600" dirty="0"/>
          </a:p>
        </p:txBody>
      </p:sp>
      <p:sp>
        <p:nvSpPr>
          <p:cNvPr id="16" name="Text 13"/>
          <p:cNvSpPr/>
          <p:nvPr/>
        </p:nvSpPr>
        <p:spPr>
          <a:xfrm>
            <a:off x="4381500" y="7122583"/>
            <a:ext cx="3365500" cy="169333"/>
          </a:xfrm>
          <a:prstGeom prst="rect">
            <a:avLst/>
          </a:prstGeom>
          <a:noFill/>
          <a:ln/>
        </p:spPr>
        <p:txBody>
          <a:bodyPr wrap="square" lIns="0" tIns="0" rIns="0" bIns="0" rtlCol="0" anchor="ctr"/>
          <a:lstStyle/>
          <a:p>
            <a:pPr algn="ctr">
              <a:lnSpc>
                <a:spcPct val="110000"/>
              </a:lnSpc>
            </a:pPr>
            <a:r>
              <a:rPr lang="en-US" sz="1000" dirty="0">
                <a:solidFill>
                  <a:srgbClr val="7E9AA8"/>
                </a:solidFill>
                <a:latin typeface="MiSans" pitchFamily="34" charset="0"/>
                <a:ea typeface="MiSans" pitchFamily="34" charset="-122"/>
                <a:cs typeface="MiSans" pitchFamily="34" charset="-120"/>
              </a:rPr>
              <a:t>RMSLE</a:t>
            </a:r>
            <a:endParaRPr lang="en-US" sz="1600" dirty="0"/>
          </a:p>
        </p:txBody>
      </p:sp>
      <p:sp>
        <p:nvSpPr>
          <p:cNvPr id="17" name="Shape 14"/>
          <p:cNvSpPr/>
          <p:nvPr/>
        </p:nvSpPr>
        <p:spPr>
          <a:xfrm>
            <a:off x="603250" y="7545917"/>
            <a:ext cx="7239000" cy="423333"/>
          </a:xfrm>
          <a:custGeom>
            <a:avLst/>
            <a:gdLst/>
            <a:ahLst/>
            <a:cxnLst/>
            <a:rect l="l" t="t" r="r" b="b"/>
            <a:pathLst>
              <a:path w="7239000" h="423333">
                <a:moveTo>
                  <a:pt x="42333" y="0"/>
                </a:moveTo>
                <a:lnTo>
                  <a:pt x="7196667" y="0"/>
                </a:lnTo>
                <a:cubicBezTo>
                  <a:pt x="7220047" y="0"/>
                  <a:pt x="7239000" y="18953"/>
                  <a:pt x="7239000" y="42333"/>
                </a:cubicBezTo>
                <a:lnTo>
                  <a:pt x="7239000" y="381000"/>
                </a:lnTo>
                <a:cubicBezTo>
                  <a:pt x="7239000" y="404380"/>
                  <a:pt x="7220047" y="423333"/>
                  <a:pt x="7196667" y="423333"/>
                </a:cubicBezTo>
                <a:lnTo>
                  <a:pt x="42333" y="423333"/>
                </a:lnTo>
                <a:cubicBezTo>
                  <a:pt x="18953" y="423333"/>
                  <a:pt x="0" y="404380"/>
                  <a:pt x="0" y="381000"/>
                </a:cubicBezTo>
                <a:lnTo>
                  <a:pt x="0" y="42333"/>
                </a:lnTo>
                <a:cubicBezTo>
                  <a:pt x="0" y="18953"/>
                  <a:pt x="18953" y="0"/>
                  <a:pt x="42333" y="0"/>
                </a:cubicBezTo>
                <a:close/>
              </a:path>
            </a:pathLst>
          </a:custGeom>
          <a:solidFill>
            <a:srgbClr val="4C7E9A">
              <a:alpha val="10196"/>
            </a:srgbClr>
          </a:solidFill>
          <a:ln/>
        </p:spPr>
      </p:sp>
      <p:sp>
        <p:nvSpPr>
          <p:cNvPr id="18" name="Text 15"/>
          <p:cNvSpPr/>
          <p:nvPr/>
        </p:nvSpPr>
        <p:spPr>
          <a:xfrm>
            <a:off x="645583" y="7630583"/>
            <a:ext cx="7154333" cy="254000"/>
          </a:xfrm>
          <a:prstGeom prst="rect">
            <a:avLst/>
          </a:prstGeom>
          <a:noFill/>
          <a:ln/>
        </p:spPr>
        <p:txBody>
          <a:bodyPr wrap="square" lIns="0" tIns="0" rIns="0" bIns="0" rtlCol="0" anchor="ctr"/>
          <a:lstStyle/>
          <a:p>
            <a:pPr algn="ctr">
              <a:lnSpc>
                <a:spcPct val="130000"/>
              </a:lnSpc>
            </a:pPr>
            <a:r>
              <a:rPr lang="en-US" sz="1333" b="1" dirty="0">
                <a:solidFill>
                  <a:srgbClr val="4C7E9A"/>
                </a:solidFill>
                <a:latin typeface="MiSans" pitchFamily="34" charset="0"/>
                <a:ea typeface="MiSans" pitchFamily="34" charset="-122"/>
                <a:cs typeface="MiSans" pitchFamily="34" charset="-120"/>
              </a:rPr>
              <a:t>性能提升：</a:t>
            </a:r>
            <a:pPr algn="ctr">
              <a:lnSpc>
                <a:spcPct val="130000"/>
              </a:lnSpc>
            </a:pPr>
            <a:r>
              <a:rPr lang="en-US" sz="1333" dirty="0">
                <a:solidFill>
                  <a:srgbClr val="D1D5DB"/>
                </a:solidFill>
                <a:latin typeface="MiSans" pitchFamily="34" charset="0"/>
                <a:ea typeface="MiSans" pitchFamily="34" charset="-122"/>
                <a:cs typeface="MiSans" pitchFamily="34" charset="-120"/>
              </a:rPr>
              <a:t>相对最佳单模型</a:t>
            </a:r>
            <a:pPr algn="ctr">
              <a:lnSpc>
                <a:spcPct val="130000"/>
              </a:lnSpc>
            </a:pPr>
            <a:r>
              <a:rPr lang="en-US" sz="1333" b="1" dirty="0">
                <a:solidFill>
                  <a:srgbClr val="4C7E9A"/>
                </a:solidFill>
                <a:latin typeface="MiSans" pitchFamily="34" charset="0"/>
                <a:ea typeface="MiSans" pitchFamily="34" charset="-122"/>
                <a:cs typeface="MiSans" pitchFamily="34" charset="-120"/>
              </a:rPr>
              <a:t>提升12.6%</a:t>
            </a:r>
            <a:endParaRPr lang="en-US" sz="1600" dirty="0"/>
          </a:p>
        </p:txBody>
      </p:sp>
      <p:sp>
        <p:nvSpPr>
          <p:cNvPr id="19" name="Shape 16"/>
          <p:cNvSpPr/>
          <p:nvPr/>
        </p:nvSpPr>
        <p:spPr>
          <a:xfrm>
            <a:off x="8255000" y="1524000"/>
            <a:ext cx="7577667" cy="2815167"/>
          </a:xfrm>
          <a:custGeom>
            <a:avLst/>
            <a:gdLst/>
            <a:ahLst/>
            <a:cxnLst/>
            <a:rect l="l" t="t" r="r" b="b"/>
            <a:pathLst>
              <a:path w="7577667" h="2815167">
                <a:moveTo>
                  <a:pt x="42333" y="0"/>
                </a:moveTo>
                <a:lnTo>
                  <a:pt x="7492986" y="0"/>
                </a:lnTo>
                <a:cubicBezTo>
                  <a:pt x="7539754" y="0"/>
                  <a:pt x="7577667" y="37913"/>
                  <a:pt x="7577667" y="84680"/>
                </a:cubicBezTo>
                <a:lnTo>
                  <a:pt x="7577667" y="2730486"/>
                </a:lnTo>
                <a:cubicBezTo>
                  <a:pt x="7577667" y="2777254"/>
                  <a:pt x="7539754" y="2815167"/>
                  <a:pt x="7492986" y="2815167"/>
                </a:cubicBezTo>
                <a:lnTo>
                  <a:pt x="42333" y="2815167"/>
                </a:lnTo>
                <a:cubicBezTo>
                  <a:pt x="18953" y="2815167"/>
                  <a:pt x="0" y="2796213"/>
                  <a:pt x="0" y="2772833"/>
                </a:cubicBezTo>
                <a:lnTo>
                  <a:pt x="0" y="42333"/>
                </a:lnTo>
                <a:cubicBezTo>
                  <a:pt x="0" y="18953"/>
                  <a:pt x="18953" y="0"/>
                  <a:pt x="42333" y="0"/>
                </a:cubicBezTo>
                <a:close/>
              </a:path>
            </a:pathLst>
          </a:custGeom>
          <a:solidFill>
            <a:srgbClr val="3A5E78">
              <a:alpha val="20000"/>
            </a:srgbClr>
          </a:solidFill>
          <a:ln/>
        </p:spPr>
      </p:sp>
      <p:sp>
        <p:nvSpPr>
          <p:cNvPr id="20" name="Shape 17"/>
          <p:cNvSpPr/>
          <p:nvPr/>
        </p:nvSpPr>
        <p:spPr>
          <a:xfrm>
            <a:off x="8255000" y="1524000"/>
            <a:ext cx="42333" cy="2815167"/>
          </a:xfrm>
          <a:custGeom>
            <a:avLst/>
            <a:gdLst/>
            <a:ahLst/>
            <a:cxnLst/>
            <a:rect l="l" t="t" r="r" b="b"/>
            <a:pathLst>
              <a:path w="42333" h="2815167">
                <a:moveTo>
                  <a:pt x="42333" y="0"/>
                </a:moveTo>
                <a:lnTo>
                  <a:pt x="42333" y="0"/>
                </a:lnTo>
                <a:lnTo>
                  <a:pt x="42333" y="2815167"/>
                </a:lnTo>
                <a:lnTo>
                  <a:pt x="42333" y="2815167"/>
                </a:lnTo>
                <a:cubicBezTo>
                  <a:pt x="18953" y="2815167"/>
                  <a:pt x="0" y="2796213"/>
                  <a:pt x="0" y="2772833"/>
                </a:cubicBezTo>
                <a:lnTo>
                  <a:pt x="0" y="42333"/>
                </a:lnTo>
                <a:cubicBezTo>
                  <a:pt x="0" y="18953"/>
                  <a:pt x="18953" y="0"/>
                  <a:pt x="42333" y="0"/>
                </a:cubicBezTo>
                <a:close/>
              </a:path>
            </a:pathLst>
          </a:custGeom>
          <a:solidFill>
            <a:srgbClr val="4C7E9A"/>
          </a:solidFill>
          <a:ln/>
        </p:spPr>
      </p:sp>
      <p:sp>
        <p:nvSpPr>
          <p:cNvPr id="21" name="Text 18"/>
          <p:cNvSpPr/>
          <p:nvPr/>
        </p:nvSpPr>
        <p:spPr>
          <a:xfrm>
            <a:off x="8445500" y="1693333"/>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稳定性增强</a:t>
            </a:r>
            <a:endParaRPr lang="en-US" sz="1600" dirty="0"/>
          </a:p>
        </p:txBody>
      </p:sp>
      <p:sp>
        <p:nvSpPr>
          <p:cNvPr id="22" name="Text 19"/>
          <p:cNvSpPr/>
          <p:nvPr/>
        </p:nvSpPr>
        <p:spPr>
          <a:xfrm>
            <a:off x="8445500" y="2159000"/>
            <a:ext cx="7302500" cy="275167"/>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通过模型组合，有效地降低了预测方差，使模型在不同数据子集上的表现更加一致。</a:t>
            </a:r>
            <a:endParaRPr lang="en-US" sz="1600" dirty="0"/>
          </a:p>
        </p:txBody>
      </p:sp>
      <p:sp>
        <p:nvSpPr>
          <p:cNvPr id="23" name="Shape 20"/>
          <p:cNvSpPr/>
          <p:nvPr/>
        </p:nvSpPr>
        <p:spPr>
          <a:xfrm>
            <a:off x="8445500" y="2561167"/>
            <a:ext cx="7217833" cy="762000"/>
          </a:xfrm>
          <a:custGeom>
            <a:avLst/>
            <a:gdLst/>
            <a:ahLst/>
            <a:cxnLst/>
            <a:rect l="l" t="t" r="r" b="b"/>
            <a:pathLst>
              <a:path w="7217833" h="762000">
                <a:moveTo>
                  <a:pt x="42337" y="0"/>
                </a:moveTo>
                <a:lnTo>
                  <a:pt x="7175497" y="0"/>
                </a:lnTo>
                <a:cubicBezTo>
                  <a:pt x="7198879" y="0"/>
                  <a:pt x="7217833" y="18955"/>
                  <a:pt x="7217833" y="42337"/>
                </a:cubicBezTo>
                <a:lnTo>
                  <a:pt x="7217833" y="719663"/>
                </a:lnTo>
                <a:cubicBezTo>
                  <a:pt x="7217833" y="743045"/>
                  <a:pt x="7198879" y="762000"/>
                  <a:pt x="7175497" y="762000"/>
                </a:cubicBezTo>
                <a:lnTo>
                  <a:pt x="42337" y="762000"/>
                </a:lnTo>
                <a:cubicBezTo>
                  <a:pt x="18955" y="762000"/>
                  <a:pt x="0" y="743045"/>
                  <a:pt x="0" y="719663"/>
                </a:cubicBezTo>
                <a:lnTo>
                  <a:pt x="0" y="42337"/>
                </a:lnTo>
                <a:cubicBezTo>
                  <a:pt x="0" y="18955"/>
                  <a:pt x="18955" y="0"/>
                  <a:pt x="42337" y="0"/>
                </a:cubicBezTo>
                <a:close/>
              </a:path>
            </a:pathLst>
          </a:custGeom>
          <a:solidFill>
            <a:srgbClr val="181A1F">
              <a:alpha val="50196"/>
            </a:srgbClr>
          </a:solidFill>
          <a:ln/>
        </p:spPr>
      </p:sp>
      <p:sp>
        <p:nvSpPr>
          <p:cNvPr id="24" name="Text 21"/>
          <p:cNvSpPr/>
          <p:nvPr/>
        </p:nvSpPr>
        <p:spPr>
          <a:xfrm>
            <a:off x="8572500" y="2688167"/>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方差降低</a:t>
            </a:r>
            <a:endParaRPr lang="en-US" sz="1600" dirty="0"/>
          </a:p>
        </p:txBody>
      </p:sp>
      <p:sp>
        <p:nvSpPr>
          <p:cNvPr id="25" name="Text 22"/>
          <p:cNvSpPr/>
          <p:nvPr/>
        </p:nvSpPr>
        <p:spPr>
          <a:xfrm>
            <a:off x="8572500" y="2984500"/>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集成模型的预测方差比单模型降低约30%，在不同交叉验证折上的表现更加稳定</a:t>
            </a:r>
            <a:endParaRPr lang="en-US" sz="1600" dirty="0"/>
          </a:p>
        </p:txBody>
      </p:sp>
      <p:sp>
        <p:nvSpPr>
          <p:cNvPr id="26" name="Shape 23"/>
          <p:cNvSpPr/>
          <p:nvPr/>
        </p:nvSpPr>
        <p:spPr>
          <a:xfrm>
            <a:off x="8445500" y="3407833"/>
            <a:ext cx="7217833" cy="762000"/>
          </a:xfrm>
          <a:custGeom>
            <a:avLst/>
            <a:gdLst/>
            <a:ahLst/>
            <a:cxnLst/>
            <a:rect l="l" t="t" r="r" b="b"/>
            <a:pathLst>
              <a:path w="7217833" h="762000">
                <a:moveTo>
                  <a:pt x="42337" y="0"/>
                </a:moveTo>
                <a:lnTo>
                  <a:pt x="7175497" y="0"/>
                </a:lnTo>
                <a:cubicBezTo>
                  <a:pt x="7198879" y="0"/>
                  <a:pt x="7217833" y="18955"/>
                  <a:pt x="7217833" y="42337"/>
                </a:cubicBezTo>
                <a:lnTo>
                  <a:pt x="7217833" y="719663"/>
                </a:lnTo>
                <a:cubicBezTo>
                  <a:pt x="7217833" y="743045"/>
                  <a:pt x="7198879" y="762000"/>
                  <a:pt x="7175497" y="762000"/>
                </a:cubicBezTo>
                <a:lnTo>
                  <a:pt x="42337" y="762000"/>
                </a:lnTo>
                <a:cubicBezTo>
                  <a:pt x="18955" y="762000"/>
                  <a:pt x="0" y="743045"/>
                  <a:pt x="0" y="719663"/>
                </a:cubicBezTo>
                <a:lnTo>
                  <a:pt x="0" y="42337"/>
                </a:lnTo>
                <a:cubicBezTo>
                  <a:pt x="0" y="18955"/>
                  <a:pt x="18955" y="0"/>
                  <a:pt x="42337" y="0"/>
                </a:cubicBezTo>
                <a:close/>
              </a:path>
            </a:pathLst>
          </a:custGeom>
          <a:solidFill>
            <a:srgbClr val="181A1F">
              <a:alpha val="50196"/>
            </a:srgbClr>
          </a:solidFill>
          <a:ln/>
        </p:spPr>
      </p:sp>
      <p:sp>
        <p:nvSpPr>
          <p:cNvPr id="27" name="Text 24"/>
          <p:cNvSpPr/>
          <p:nvPr/>
        </p:nvSpPr>
        <p:spPr>
          <a:xfrm>
            <a:off x="8572500" y="3534833"/>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重要性</a:t>
            </a:r>
            <a:endParaRPr lang="en-US" sz="1600" dirty="0"/>
          </a:p>
        </p:txBody>
      </p:sp>
      <p:sp>
        <p:nvSpPr>
          <p:cNvPr id="28" name="Text 25"/>
          <p:cNvSpPr/>
          <p:nvPr/>
        </p:nvSpPr>
        <p:spPr>
          <a:xfrm>
            <a:off x="8572500" y="3831167"/>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这种稳定性对于实际应用非常重要，意味着模型部署后会有更可靠的表现</a:t>
            </a:r>
            <a:endParaRPr lang="en-US" sz="1600" dirty="0"/>
          </a:p>
        </p:txBody>
      </p:sp>
      <p:sp>
        <p:nvSpPr>
          <p:cNvPr id="29" name="Shape 26"/>
          <p:cNvSpPr/>
          <p:nvPr/>
        </p:nvSpPr>
        <p:spPr>
          <a:xfrm>
            <a:off x="8255000" y="4508500"/>
            <a:ext cx="7577667" cy="3302000"/>
          </a:xfrm>
          <a:custGeom>
            <a:avLst/>
            <a:gdLst/>
            <a:ahLst/>
            <a:cxnLst/>
            <a:rect l="l" t="t" r="r" b="b"/>
            <a:pathLst>
              <a:path w="7577667" h="3302000">
                <a:moveTo>
                  <a:pt x="42333" y="0"/>
                </a:moveTo>
                <a:lnTo>
                  <a:pt x="7493003" y="0"/>
                </a:lnTo>
                <a:cubicBezTo>
                  <a:pt x="7539762" y="0"/>
                  <a:pt x="7577667" y="37905"/>
                  <a:pt x="7577667" y="84663"/>
                </a:cubicBezTo>
                <a:lnTo>
                  <a:pt x="7577667" y="3217337"/>
                </a:lnTo>
                <a:cubicBezTo>
                  <a:pt x="7577667" y="3264095"/>
                  <a:pt x="7539762" y="3302000"/>
                  <a:pt x="7493003" y="3302000"/>
                </a:cubicBezTo>
                <a:lnTo>
                  <a:pt x="42333" y="3302000"/>
                </a:lnTo>
                <a:cubicBezTo>
                  <a:pt x="18953" y="3302000"/>
                  <a:pt x="0" y="3283047"/>
                  <a:pt x="0" y="3259667"/>
                </a:cubicBezTo>
                <a:lnTo>
                  <a:pt x="0" y="42333"/>
                </a:lnTo>
                <a:cubicBezTo>
                  <a:pt x="0" y="18953"/>
                  <a:pt x="18953" y="0"/>
                  <a:pt x="42333" y="0"/>
                </a:cubicBezTo>
                <a:close/>
              </a:path>
            </a:pathLst>
          </a:custGeom>
          <a:solidFill>
            <a:srgbClr val="3A5E78">
              <a:alpha val="20000"/>
            </a:srgbClr>
          </a:solidFill>
          <a:ln/>
        </p:spPr>
      </p:sp>
      <p:sp>
        <p:nvSpPr>
          <p:cNvPr id="30" name="Shape 27"/>
          <p:cNvSpPr/>
          <p:nvPr/>
        </p:nvSpPr>
        <p:spPr>
          <a:xfrm>
            <a:off x="8255000" y="4508500"/>
            <a:ext cx="42333" cy="3302000"/>
          </a:xfrm>
          <a:custGeom>
            <a:avLst/>
            <a:gdLst/>
            <a:ahLst/>
            <a:cxnLst/>
            <a:rect l="l" t="t" r="r" b="b"/>
            <a:pathLst>
              <a:path w="42333" h="3302000">
                <a:moveTo>
                  <a:pt x="42333" y="0"/>
                </a:moveTo>
                <a:lnTo>
                  <a:pt x="42333" y="0"/>
                </a:lnTo>
                <a:lnTo>
                  <a:pt x="42333" y="3302000"/>
                </a:lnTo>
                <a:lnTo>
                  <a:pt x="42333" y="3302000"/>
                </a:lnTo>
                <a:cubicBezTo>
                  <a:pt x="18953" y="3302000"/>
                  <a:pt x="0" y="3283047"/>
                  <a:pt x="0" y="3259667"/>
                </a:cubicBezTo>
                <a:lnTo>
                  <a:pt x="0" y="42333"/>
                </a:lnTo>
                <a:cubicBezTo>
                  <a:pt x="0" y="18953"/>
                  <a:pt x="18953" y="0"/>
                  <a:pt x="42333" y="0"/>
                </a:cubicBezTo>
                <a:close/>
              </a:path>
            </a:pathLst>
          </a:custGeom>
          <a:solidFill>
            <a:srgbClr val="7E9AA8"/>
          </a:solidFill>
          <a:ln/>
        </p:spPr>
      </p:sp>
      <p:sp>
        <p:nvSpPr>
          <p:cNvPr id="31" name="Text 28"/>
          <p:cNvSpPr/>
          <p:nvPr/>
        </p:nvSpPr>
        <p:spPr>
          <a:xfrm>
            <a:off x="8445500" y="4677833"/>
            <a:ext cx="7344833"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鲁棒性改善</a:t>
            </a:r>
            <a:endParaRPr lang="en-US" sz="1600" dirty="0"/>
          </a:p>
        </p:txBody>
      </p:sp>
      <p:sp>
        <p:nvSpPr>
          <p:cNvPr id="32" name="Text 29"/>
          <p:cNvSpPr/>
          <p:nvPr/>
        </p:nvSpPr>
        <p:spPr>
          <a:xfrm>
            <a:off x="8445500" y="5143500"/>
            <a:ext cx="7302500" cy="550333"/>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集成模型对不同数据特点的适应能力更强，无论是数值特征为主还是类别特征丰富的情况都能保持良好的性能。</a:t>
            </a:r>
            <a:endParaRPr lang="en-US" sz="1600" dirty="0"/>
          </a:p>
        </p:txBody>
      </p:sp>
      <p:sp>
        <p:nvSpPr>
          <p:cNvPr id="33" name="Shape 30"/>
          <p:cNvSpPr/>
          <p:nvPr/>
        </p:nvSpPr>
        <p:spPr>
          <a:xfrm>
            <a:off x="8445500" y="5820833"/>
            <a:ext cx="7217833" cy="973667"/>
          </a:xfrm>
          <a:custGeom>
            <a:avLst/>
            <a:gdLst/>
            <a:ahLst/>
            <a:cxnLst/>
            <a:rect l="l" t="t" r="r" b="b"/>
            <a:pathLst>
              <a:path w="7217833" h="973667">
                <a:moveTo>
                  <a:pt x="42335" y="0"/>
                </a:moveTo>
                <a:lnTo>
                  <a:pt x="7175498" y="0"/>
                </a:lnTo>
                <a:cubicBezTo>
                  <a:pt x="7198879" y="0"/>
                  <a:pt x="7217833" y="18954"/>
                  <a:pt x="7217833" y="42335"/>
                </a:cubicBezTo>
                <a:lnTo>
                  <a:pt x="7217833" y="931332"/>
                </a:lnTo>
                <a:cubicBezTo>
                  <a:pt x="7217833" y="954713"/>
                  <a:pt x="7198879" y="973667"/>
                  <a:pt x="7175498" y="973667"/>
                </a:cubicBezTo>
                <a:lnTo>
                  <a:pt x="42335" y="973667"/>
                </a:lnTo>
                <a:cubicBezTo>
                  <a:pt x="18954" y="973667"/>
                  <a:pt x="0" y="954713"/>
                  <a:pt x="0" y="931332"/>
                </a:cubicBezTo>
                <a:lnTo>
                  <a:pt x="0" y="42335"/>
                </a:lnTo>
                <a:cubicBezTo>
                  <a:pt x="0" y="18970"/>
                  <a:pt x="18970" y="0"/>
                  <a:pt x="42335" y="0"/>
                </a:cubicBezTo>
                <a:close/>
              </a:path>
            </a:pathLst>
          </a:custGeom>
          <a:solidFill>
            <a:srgbClr val="181A1F">
              <a:alpha val="50196"/>
            </a:srgbClr>
          </a:solidFill>
          <a:ln/>
        </p:spPr>
      </p:sp>
      <p:sp>
        <p:nvSpPr>
          <p:cNvPr id="34" name="Text 31"/>
          <p:cNvSpPr/>
          <p:nvPr/>
        </p:nvSpPr>
        <p:spPr>
          <a:xfrm>
            <a:off x="8572500" y="5947833"/>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适应能力</a:t>
            </a:r>
            <a:endParaRPr lang="en-US" sz="1600" dirty="0"/>
          </a:p>
        </p:txBody>
      </p:sp>
      <p:sp>
        <p:nvSpPr>
          <p:cNvPr id="35" name="Text 32"/>
          <p:cNvSpPr/>
          <p:nvPr/>
        </p:nvSpPr>
        <p:spPr>
          <a:xfrm>
            <a:off x="8572500" y="6244167"/>
            <a:ext cx="7037917" cy="423333"/>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通过组合擅长不同场景的模型（LightGBM-类别特征、XGBoost-数值特征、RF-非线性），集成模型具有更强的泛化能力</a:t>
            </a:r>
            <a:endParaRPr lang="en-US" sz="1600" dirty="0"/>
          </a:p>
        </p:txBody>
      </p:sp>
      <p:sp>
        <p:nvSpPr>
          <p:cNvPr id="36" name="Shape 33"/>
          <p:cNvSpPr/>
          <p:nvPr/>
        </p:nvSpPr>
        <p:spPr>
          <a:xfrm>
            <a:off x="8445500" y="6879167"/>
            <a:ext cx="7217833" cy="762000"/>
          </a:xfrm>
          <a:custGeom>
            <a:avLst/>
            <a:gdLst/>
            <a:ahLst/>
            <a:cxnLst/>
            <a:rect l="l" t="t" r="r" b="b"/>
            <a:pathLst>
              <a:path w="7217833" h="762000">
                <a:moveTo>
                  <a:pt x="42337" y="0"/>
                </a:moveTo>
                <a:lnTo>
                  <a:pt x="7175497" y="0"/>
                </a:lnTo>
                <a:cubicBezTo>
                  <a:pt x="7198879" y="0"/>
                  <a:pt x="7217833" y="18955"/>
                  <a:pt x="7217833" y="42337"/>
                </a:cubicBezTo>
                <a:lnTo>
                  <a:pt x="7217833" y="719663"/>
                </a:lnTo>
                <a:cubicBezTo>
                  <a:pt x="7217833" y="743045"/>
                  <a:pt x="7198879" y="762000"/>
                  <a:pt x="7175497" y="762000"/>
                </a:cubicBezTo>
                <a:lnTo>
                  <a:pt x="42337" y="762000"/>
                </a:lnTo>
                <a:cubicBezTo>
                  <a:pt x="18955" y="762000"/>
                  <a:pt x="0" y="743045"/>
                  <a:pt x="0" y="719663"/>
                </a:cubicBezTo>
                <a:lnTo>
                  <a:pt x="0" y="42337"/>
                </a:lnTo>
                <a:cubicBezTo>
                  <a:pt x="0" y="18955"/>
                  <a:pt x="18955" y="0"/>
                  <a:pt x="42337" y="0"/>
                </a:cubicBezTo>
                <a:close/>
              </a:path>
            </a:pathLst>
          </a:custGeom>
          <a:solidFill>
            <a:srgbClr val="181A1F">
              <a:alpha val="50196"/>
            </a:srgbClr>
          </a:solidFill>
          <a:ln/>
        </p:spPr>
      </p:sp>
      <p:sp>
        <p:nvSpPr>
          <p:cNvPr id="37" name="Text 34"/>
          <p:cNvSpPr/>
          <p:nvPr/>
        </p:nvSpPr>
        <p:spPr>
          <a:xfrm>
            <a:off x="8572500" y="7006167"/>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实际价值</a:t>
            </a:r>
            <a:endParaRPr lang="en-US" sz="1600" dirty="0"/>
          </a:p>
        </p:txBody>
      </p:sp>
      <p:sp>
        <p:nvSpPr>
          <p:cNvPr id="38" name="Text 35"/>
          <p:cNvSpPr/>
          <p:nvPr/>
        </p:nvSpPr>
        <p:spPr>
          <a:xfrm>
            <a:off x="8572500" y="7302500"/>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这种鲁棒性使得集成学习成为处理复杂现实问题的有力工具</a:t>
            </a:r>
            <a:endParaRPr lang="en-US" sz="1600" dirty="0"/>
          </a:p>
        </p:txBody>
      </p:sp>
      <p:sp>
        <p:nvSpPr>
          <p:cNvPr id="39" name="Shape 36"/>
          <p:cNvSpPr/>
          <p:nvPr/>
        </p:nvSpPr>
        <p:spPr>
          <a:xfrm>
            <a:off x="428625" y="8323792"/>
            <a:ext cx="15398750" cy="1407583"/>
          </a:xfrm>
          <a:custGeom>
            <a:avLst/>
            <a:gdLst/>
            <a:ahLst/>
            <a:cxnLst/>
            <a:rect l="l" t="t" r="r" b="b"/>
            <a:pathLst>
              <a:path w="15398750" h="1407583">
                <a:moveTo>
                  <a:pt x="84666" y="0"/>
                </a:moveTo>
                <a:lnTo>
                  <a:pt x="15314084" y="0"/>
                </a:lnTo>
                <a:cubicBezTo>
                  <a:pt x="15360844" y="0"/>
                  <a:pt x="15398750" y="37906"/>
                  <a:pt x="15398750" y="84666"/>
                </a:cubicBezTo>
                <a:lnTo>
                  <a:pt x="15398750" y="1322917"/>
                </a:lnTo>
                <a:cubicBezTo>
                  <a:pt x="15398750" y="1369677"/>
                  <a:pt x="15360844" y="1407583"/>
                  <a:pt x="15314084" y="1407583"/>
                </a:cubicBezTo>
                <a:lnTo>
                  <a:pt x="84666" y="1407583"/>
                </a:lnTo>
                <a:cubicBezTo>
                  <a:pt x="37906" y="1407583"/>
                  <a:pt x="0" y="1369677"/>
                  <a:pt x="0" y="1322917"/>
                </a:cubicBezTo>
                <a:lnTo>
                  <a:pt x="0" y="84666"/>
                </a:lnTo>
                <a:cubicBezTo>
                  <a:pt x="0" y="37938"/>
                  <a:pt x="37938" y="0"/>
                  <a:pt x="84666" y="0"/>
                </a:cubicBezTo>
                <a:close/>
              </a:path>
            </a:pathLst>
          </a:custGeom>
          <a:solidFill>
            <a:srgbClr val="4C7E9A">
              <a:alpha val="10196"/>
            </a:srgbClr>
          </a:solidFill>
          <a:ln w="12700">
            <a:solidFill>
              <a:srgbClr val="4C7E9A">
                <a:alpha val="30196"/>
              </a:srgbClr>
            </a:solidFill>
            <a:prstDash val="solid"/>
          </a:ln>
        </p:spPr>
      </p:sp>
      <p:sp>
        <p:nvSpPr>
          <p:cNvPr id="40" name="Shape 37"/>
          <p:cNvSpPr/>
          <p:nvPr/>
        </p:nvSpPr>
        <p:spPr>
          <a:xfrm>
            <a:off x="687917" y="8540750"/>
            <a:ext cx="317500" cy="317500"/>
          </a:xfrm>
          <a:custGeom>
            <a:avLst/>
            <a:gdLst/>
            <a:ahLst/>
            <a:cxnLst/>
            <a:rect l="l" t="t" r="r" b="b"/>
            <a:pathLst>
              <a:path w="317500" h="317500">
                <a:moveTo>
                  <a:pt x="89483" y="0"/>
                </a:moveTo>
                <a:lnTo>
                  <a:pt x="228389" y="0"/>
                </a:lnTo>
                <a:cubicBezTo>
                  <a:pt x="244822" y="0"/>
                  <a:pt x="258217" y="13519"/>
                  <a:pt x="257597" y="29890"/>
                </a:cubicBezTo>
                <a:cubicBezTo>
                  <a:pt x="257473" y="33176"/>
                  <a:pt x="257349" y="36463"/>
                  <a:pt x="257163" y="39688"/>
                </a:cubicBezTo>
                <a:lnTo>
                  <a:pt x="287920" y="39688"/>
                </a:lnTo>
                <a:cubicBezTo>
                  <a:pt x="304105" y="39688"/>
                  <a:pt x="318368" y="53082"/>
                  <a:pt x="317128" y="70569"/>
                </a:cubicBezTo>
                <a:cubicBezTo>
                  <a:pt x="312477" y="134875"/>
                  <a:pt x="279611" y="170222"/>
                  <a:pt x="243954" y="188702"/>
                </a:cubicBezTo>
                <a:cubicBezTo>
                  <a:pt x="234156" y="193787"/>
                  <a:pt x="224172" y="197569"/>
                  <a:pt x="214685" y="200360"/>
                </a:cubicBezTo>
                <a:cubicBezTo>
                  <a:pt x="202158" y="218095"/>
                  <a:pt x="189136" y="227459"/>
                  <a:pt x="178780" y="232482"/>
                </a:cubicBezTo>
                <a:lnTo>
                  <a:pt x="178780" y="277813"/>
                </a:lnTo>
                <a:lnTo>
                  <a:pt x="218467" y="277813"/>
                </a:lnTo>
                <a:cubicBezTo>
                  <a:pt x="229443" y="277813"/>
                  <a:pt x="238311" y="286680"/>
                  <a:pt x="238311" y="297656"/>
                </a:cubicBezTo>
                <a:cubicBezTo>
                  <a:pt x="238311" y="308632"/>
                  <a:pt x="229443" y="317500"/>
                  <a:pt x="218467" y="317500"/>
                </a:cubicBezTo>
                <a:lnTo>
                  <a:pt x="99405" y="317500"/>
                </a:lnTo>
                <a:cubicBezTo>
                  <a:pt x="88429" y="317500"/>
                  <a:pt x="79561" y="308632"/>
                  <a:pt x="79561" y="297656"/>
                </a:cubicBezTo>
                <a:cubicBezTo>
                  <a:pt x="79561" y="286680"/>
                  <a:pt x="88429" y="277813"/>
                  <a:pt x="99405" y="277813"/>
                </a:cubicBezTo>
                <a:lnTo>
                  <a:pt x="139092" y="277813"/>
                </a:lnTo>
                <a:lnTo>
                  <a:pt x="139092" y="232482"/>
                </a:lnTo>
                <a:cubicBezTo>
                  <a:pt x="129170" y="227707"/>
                  <a:pt x="116830" y="218839"/>
                  <a:pt x="104800" y="202530"/>
                </a:cubicBezTo>
                <a:cubicBezTo>
                  <a:pt x="93390" y="199554"/>
                  <a:pt x="80987" y="195027"/>
                  <a:pt x="68895" y="188206"/>
                </a:cubicBezTo>
                <a:cubicBezTo>
                  <a:pt x="35347" y="169416"/>
                  <a:pt x="5085" y="134007"/>
                  <a:pt x="744" y="70445"/>
                </a:cubicBezTo>
                <a:cubicBezTo>
                  <a:pt x="-434" y="53020"/>
                  <a:pt x="13767" y="39625"/>
                  <a:pt x="29952" y="39625"/>
                </a:cubicBezTo>
                <a:lnTo>
                  <a:pt x="60709" y="39625"/>
                </a:lnTo>
                <a:cubicBezTo>
                  <a:pt x="60523" y="36401"/>
                  <a:pt x="60399" y="33176"/>
                  <a:pt x="60275" y="29828"/>
                </a:cubicBezTo>
                <a:cubicBezTo>
                  <a:pt x="59655" y="13395"/>
                  <a:pt x="73050" y="-62"/>
                  <a:pt x="89483" y="-62"/>
                </a:cubicBezTo>
                <a:close/>
                <a:moveTo>
                  <a:pt x="62942" y="69453"/>
                </a:moveTo>
                <a:lnTo>
                  <a:pt x="30448" y="69453"/>
                </a:lnTo>
                <a:cubicBezTo>
                  <a:pt x="34292" y="121977"/>
                  <a:pt x="58415" y="148270"/>
                  <a:pt x="83282" y="162223"/>
                </a:cubicBezTo>
                <a:cubicBezTo>
                  <a:pt x="74352" y="139092"/>
                  <a:pt x="66973" y="108893"/>
                  <a:pt x="62942" y="69453"/>
                </a:cubicBezTo>
                <a:close/>
                <a:moveTo>
                  <a:pt x="235645" y="159246"/>
                </a:moveTo>
                <a:cubicBezTo>
                  <a:pt x="260759" y="144487"/>
                  <a:pt x="283456" y="118256"/>
                  <a:pt x="287300" y="69453"/>
                </a:cubicBezTo>
                <a:lnTo>
                  <a:pt x="254868" y="69453"/>
                </a:lnTo>
                <a:cubicBezTo>
                  <a:pt x="251023" y="107218"/>
                  <a:pt x="244078" y="136550"/>
                  <a:pt x="235645" y="159246"/>
                </a:cubicBezTo>
                <a:close/>
              </a:path>
            </a:pathLst>
          </a:custGeom>
          <a:solidFill>
            <a:srgbClr val="4C7E9A"/>
          </a:solidFill>
          <a:ln/>
        </p:spPr>
      </p:sp>
      <p:sp>
        <p:nvSpPr>
          <p:cNvPr id="41" name="Text 38"/>
          <p:cNvSpPr/>
          <p:nvPr/>
        </p:nvSpPr>
        <p:spPr>
          <a:xfrm>
            <a:off x="1211792" y="8540750"/>
            <a:ext cx="14509750"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实战启示</a:t>
            </a:r>
            <a:endParaRPr lang="en-US" sz="1600" dirty="0"/>
          </a:p>
        </p:txBody>
      </p:sp>
      <p:sp>
        <p:nvSpPr>
          <p:cNvPr id="42" name="Text 39"/>
          <p:cNvSpPr/>
          <p:nvPr/>
        </p:nvSpPr>
        <p:spPr>
          <a:xfrm>
            <a:off x="1211792" y="8921750"/>
            <a:ext cx="478366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性能提升</a:t>
            </a:r>
            <a:endParaRPr lang="en-US" sz="1600" dirty="0"/>
          </a:p>
        </p:txBody>
      </p:sp>
      <p:sp>
        <p:nvSpPr>
          <p:cNvPr id="43" name="Text 40"/>
          <p:cNvSpPr/>
          <p:nvPr/>
        </p:nvSpPr>
        <p:spPr>
          <a:xfrm>
            <a:off x="1211792" y="9260417"/>
            <a:ext cx="4773083"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合理组合模型可获得显著性能提升</a:t>
            </a:r>
            <a:endParaRPr lang="en-US" sz="1600" dirty="0"/>
          </a:p>
        </p:txBody>
      </p:sp>
      <p:sp>
        <p:nvSpPr>
          <p:cNvPr id="44" name="Text 41"/>
          <p:cNvSpPr/>
          <p:nvPr/>
        </p:nvSpPr>
        <p:spPr>
          <a:xfrm>
            <a:off x="6067723" y="8921750"/>
            <a:ext cx="478366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稳定性</a:t>
            </a:r>
            <a:endParaRPr lang="en-US" sz="1600" dirty="0"/>
          </a:p>
        </p:txBody>
      </p:sp>
      <p:sp>
        <p:nvSpPr>
          <p:cNvPr id="45" name="Text 42"/>
          <p:cNvSpPr/>
          <p:nvPr/>
        </p:nvSpPr>
        <p:spPr>
          <a:xfrm>
            <a:off x="6067723" y="9260417"/>
            <a:ext cx="4773083"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降低方差，提高模型可靠性</a:t>
            </a:r>
            <a:endParaRPr lang="en-US" sz="1600" dirty="0"/>
          </a:p>
        </p:txBody>
      </p:sp>
      <p:sp>
        <p:nvSpPr>
          <p:cNvPr id="46" name="Text 43"/>
          <p:cNvSpPr/>
          <p:nvPr/>
        </p:nvSpPr>
        <p:spPr>
          <a:xfrm>
            <a:off x="10923736" y="8921750"/>
            <a:ext cx="478366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鲁棒性</a:t>
            </a:r>
            <a:endParaRPr lang="en-US" sz="1600" dirty="0"/>
          </a:p>
        </p:txBody>
      </p:sp>
      <p:sp>
        <p:nvSpPr>
          <p:cNvPr id="47" name="Text 44"/>
          <p:cNvSpPr/>
          <p:nvPr/>
        </p:nvSpPr>
        <p:spPr>
          <a:xfrm>
            <a:off x="10923736" y="9260417"/>
            <a:ext cx="4773083"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增强对不同数据特点的适应能力</a:t>
            </a:r>
            <a:endParaRPr lang="en-US" sz="1600" dirty="0"/>
          </a:p>
        </p:txBody>
      </p:sp>
    </p:spTree>
  </p:cSld>
  <p:clrMapOvr>
    <a:masterClrMapping/>
  </p:clrMapOvr>
  <p:transition>
    <p:fade/>
    <p:spd val="med"/>
  </p:transition>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45065" y="445065"/>
            <a:ext cx="15454883" cy="267039"/>
          </a:xfrm>
          <a:prstGeom prst="rect">
            <a:avLst/>
          </a:prstGeom>
          <a:noFill/>
          <a:ln/>
        </p:spPr>
        <p:txBody>
          <a:bodyPr wrap="square" lIns="0" tIns="0" rIns="0" bIns="0" rtlCol="0" anchor="ctr"/>
          <a:lstStyle/>
          <a:p>
            <a:pPr>
              <a:lnSpc>
                <a:spcPct val="130000"/>
              </a:lnSpc>
            </a:pPr>
            <a:r>
              <a:rPr lang="en-US" sz="1402" b="1" spc="70" kern="0" dirty="0">
                <a:solidFill>
                  <a:srgbClr val="7E9AA8"/>
                </a:solidFill>
                <a:latin typeface="MiSans" pitchFamily="34" charset="0"/>
                <a:ea typeface="MiSans" pitchFamily="34" charset="-122"/>
                <a:cs typeface="MiSans" pitchFamily="34" charset="-120"/>
              </a:rPr>
              <a:t>PRACTICAL GUIDE</a:t>
            </a:r>
            <a:endParaRPr lang="en-US" sz="1600" dirty="0"/>
          </a:p>
        </p:txBody>
      </p:sp>
      <p:sp>
        <p:nvSpPr>
          <p:cNvPr id="3" name="Text 1"/>
          <p:cNvSpPr/>
          <p:nvPr/>
        </p:nvSpPr>
        <p:spPr>
          <a:xfrm>
            <a:off x="445065" y="801117"/>
            <a:ext cx="15566149" cy="445065"/>
          </a:xfrm>
          <a:prstGeom prst="rect">
            <a:avLst/>
          </a:prstGeom>
          <a:noFill/>
          <a:ln/>
        </p:spPr>
        <p:txBody>
          <a:bodyPr wrap="square" lIns="0" tIns="0" rIns="0" bIns="0" rtlCol="0" anchor="ctr"/>
          <a:lstStyle/>
          <a:p>
            <a:pPr>
              <a:lnSpc>
                <a:spcPct val="90000"/>
              </a:lnSpc>
            </a:pPr>
            <a:r>
              <a:rPr lang="en-US" sz="3154" b="1" dirty="0">
                <a:solidFill>
                  <a:srgbClr val="D1D5DB"/>
                </a:solidFill>
                <a:latin typeface="阿里妈妈数黑体" pitchFamily="34" charset="0"/>
                <a:ea typeface="阿里妈妈数黑体" pitchFamily="34" charset="-122"/>
                <a:cs typeface="阿里妈妈数黑体" pitchFamily="34" charset="-120"/>
              </a:rPr>
              <a:t>算法选择指南</a:t>
            </a:r>
            <a:endParaRPr lang="en-US" sz="1600" dirty="0"/>
          </a:p>
        </p:txBody>
      </p:sp>
      <p:sp>
        <p:nvSpPr>
          <p:cNvPr id="4" name="Shape 2"/>
          <p:cNvSpPr/>
          <p:nvPr/>
        </p:nvSpPr>
        <p:spPr>
          <a:xfrm>
            <a:off x="445065" y="1379702"/>
            <a:ext cx="1068156" cy="44507"/>
          </a:xfrm>
          <a:custGeom>
            <a:avLst/>
            <a:gdLst/>
            <a:ahLst/>
            <a:cxnLst/>
            <a:rect l="l" t="t" r="r" b="b"/>
            <a:pathLst>
              <a:path w="1068156" h="44507">
                <a:moveTo>
                  <a:pt x="0" y="0"/>
                </a:moveTo>
                <a:lnTo>
                  <a:pt x="1068156" y="0"/>
                </a:lnTo>
                <a:lnTo>
                  <a:pt x="1068156" y="44507"/>
                </a:lnTo>
                <a:lnTo>
                  <a:pt x="0" y="44507"/>
                </a:lnTo>
                <a:lnTo>
                  <a:pt x="0" y="0"/>
                </a:lnTo>
                <a:close/>
              </a:path>
            </a:pathLst>
          </a:custGeom>
          <a:solidFill>
            <a:srgbClr val="4C7E9A"/>
          </a:solidFill>
          <a:ln/>
        </p:spPr>
      </p:sp>
      <p:sp>
        <p:nvSpPr>
          <p:cNvPr id="5" name="Shape 3"/>
          <p:cNvSpPr/>
          <p:nvPr/>
        </p:nvSpPr>
        <p:spPr>
          <a:xfrm>
            <a:off x="450628" y="1607797"/>
            <a:ext cx="15354743" cy="4840082"/>
          </a:xfrm>
          <a:custGeom>
            <a:avLst/>
            <a:gdLst/>
            <a:ahLst/>
            <a:cxnLst/>
            <a:rect l="l" t="t" r="r" b="b"/>
            <a:pathLst>
              <a:path w="15354743" h="4840082">
                <a:moveTo>
                  <a:pt x="89009" y="0"/>
                </a:moveTo>
                <a:lnTo>
                  <a:pt x="15265734" y="0"/>
                </a:lnTo>
                <a:cubicBezTo>
                  <a:pt x="15314893" y="0"/>
                  <a:pt x="15354743" y="39851"/>
                  <a:pt x="15354743" y="89009"/>
                </a:cubicBezTo>
                <a:lnTo>
                  <a:pt x="15354743" y="4751073"/>
                </a:lnTo>
                <a:cubicBezTo>
                  <a:pt x="15354743" y="4800231"/>
                  <a:pt x="15314893" y="4840082"/>
                  <a:pt x="15265734" y="4840082"/>
                </a:cubicBezTo>
                <a:lnTo>
                  <a:pt x="89009" y="4840082"/>
                </a:lnTo>
                <a:cubicBezTo>
                  <a:pt x="39851" y="4840082"/>
                  <a:pt x="0" y="4800231"/>
                  <a:pt x="0" y="4751073"/>
                </a:cubicBezTo>
                <a:lnTo>
                  <a:pt x="0" y="89009"/>
                </a:lnTo>
                <a:cubicBezTo>
                  <a:pt x="0" y="39851"/>
                  <a:pt x="39851" y="0"/>
                  <a:pt x="89009" y="0"/>
                </a:cubicBezTo>
                <a:close/>
              </a:path>
            </a:pathLst>
          </a:custGeom>
          <a:solidFill>
            <a:srgbClr val="3A5E78">
              <a:alpha val="20000"/>
            </a:srgbClr>
          </a:solidFill>
          <a:ln w="12700">
            <a:solidFill>
              <a:srgbClr val="4C7E9A">
                <a:alpha val="50196"/>
              </a:srgbClr>
            </a:solidFill>
            <a:prstDash val="solid"/>
          </a:ln>
        </p:spPr>
      </p:sp>
      <p:sp>
        <p:nvSpPr>
          <p:cNvPr id="6" name="Text 4"/>
          <p:cNvSpPr/>
          <p:nvPr/>
        </p:nvSpPr>
        <p:spPr>
          <a:xfrm>
            <a:off x="678724" y="1835893"/>
            <a:ext cx="15032071" cy="356052"/>
          </a:xfrm>
          <a:prstGeom prst="rect">
            <a:avLst/>
          </a:prstGeom>
          <a:noFill/>
          <a:ln/>
        </p:spPr>
        <p:txBody>
          <a:bodyPr wrap="square" lIns="0" tIns="0" rIns="0" bIns="0" rtlCol="0" anchor="ctr"/>
          <a:lstStyle/>
          <a:p>
            <a:pPr>
              <a:lnSpc>
                <a:spcPct val="110000"/>
              </a:lnSpc>
            </a:pPr>
            <a:r>
              <a:rPr lang="en-US" sz="2103" b="1" dirty="0">
                <a:solidFill>
                  <a:srgbClr val="4C7E9A"/>
                </a:solidFill>
                <a:latin typeface="MiSans" pitchFamily="34" charset="0"/>
                <a:ea typeface="MiSans" pitchFamily="34" charset="-122"/>
                <a:cs typeface="MiSans" pitchFamily="34" charset="-120"/>
              </a:rPr>
              <a:t>集成学习方法选择矩阵</a:t>
            </a:r>
            <a:endParaRPr lang="en-US" sz="1600" dirty="0"/>
          </a:p>
        </p:txBody>
      </p:sp>
      <p:sp>
        <p:nvSpPr>
          <p:cNvPr id="7" name="Text 5"/>
          <p:cNvSpPr/>
          <p:nvPr/>
        </p:nvSpPr>
        <p:spPr>
          <a:xfrm>
            <a:off x="678724" y="2369971"/>
            <a:ext cx="14987565" cy="289292"/>
          </a:xfrm>
          <a:prstGeom prst="rect">
            <a:avLst/>
          </a:prstGeom>
          <a:noFill/>
          <a:ln/>
        </p:spPr>
        <p:txBody>
          <a:bodyPr wrap="square" lIns="0" tIns="0" rIns="0" bIns="0" rtlCol="0" anchor="ctr"/>
          <a:lstStyle/>
          <a:p>
            <a:pPr>
              <a:lnSpc>
                <a:spcPct val="140000"/>
              </a:lnSpc>
            </a:pPr>
            <a:r>
              <a:rPr lang="en-US" sz="1402" dirty="0">
                <a:solidFill>
                  <a:srgbClr val="D1D5DB"/>
                </a:solidFill>
                <a:latin typeface="MiSans" pitchFamily="34" charset="0"/>
                <a:ea typeface="MiSans" pitchFamily="34" charset="-122"/>
                <a:cs typeface="MiSans" pitchFamily="34" charset="-120"/>
              </a:rPr>
              <a:t>面对众多的集成学习方法，选择的关键在于理解不同方法的特点和适用场景。下表为基于常见实践的经验性选型建议，便于快速决策，具体仍应以交叉验证结果为准。</a:t>
            </a:r>
            <a:endParaRPr lang="en-US" sz="1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678724" y="2837290"/>
          <a:ext cx="14898552" cy="3382494"/>
        </p:xfrm>
        <a:graphic>
          <a:graphicData uri="http://schemas.openxmlformats.org/drawingml/2006/table">
            <a:tbl>
              <a:tblPr/>
              <a:tblGrid>
                <a:gridCol w="3035302"/>
                <a:gridCol w="3502271"/>
                <a:gridCol w="3824703"/>
                <a:gridCol w="2290374"/>
                <a:gridCol w="2245901"/>
              </a:tblGrid>
              <a:tr h="676499">
                <a:tc>
                  <a:txBody>
                    <a:bodyPr/>
                    <a:lstStyle/>
                    <a:p>
                      <a:pPr algn="l"/>
                      <a:r>
                        <a:rPr lang="en-US" sz="1200" b="1" u="none" dirty="0">
                          <a:solidFill>
                            <a:srgbClr val="181A1F"/>
                          </a:solidFill>
                          <a:latin typeface="微软雅黑" pitchFamily="34" charset="0"/>
                          <a:ea typeface="微软雅黑" pitchFamily="34" charset="-122"/>
                          <a:cs typeface="微软雅黑" pitchFamily="34" charset="-120"/>
                        </a:rPr>
                        <a:t>适用场景</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4C7E9A"/>
                    </a:solidFill>
                  </a:tcPr>
                </a:tc>
                <a:tc>
                  <a:txBody>
                    <a:bodyPr/>
                    <a:lstStyle/>
                    <a:p>
                      <a:pPr algn="l"/>
                      <a:r>
                        <a:rPr lang="en-US" sz="1200" b="1" u="none" dirty="0">
                          <a:solidFill>
                            <a:srgbClr val="181A1F"/>
                          </a:solidFill>
                          <a:latin typeface="微软雅黑" pitchFamily="34" charset="0"/>
                          <a:ea typeface="微软雅黑" pitchFamily="34" charset="-122"/>
                          <a:cs typeface="微软雅黑" pitchFamily="34" charset="-120"/>
                        </a:rPr>
                        <a:t>推荐方法</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4C7E9A"/>
                    </a:solidFill>
                  </a:tcPr>
                </a:tc>
                <a:tc>
                  <a:txBody>
                    <a:bodyPr/>
                    <a:lstStyle/>
                    <a:p>
                      <a:pPr algn="l"/>
                      <a:r>
                        <a:rPr lang="en-US" sz="1200" b="1" u="none" dirty="0">
                          <a:solidFill>
                            <a:srgbClr val="181A1F"/>
                          </a:solidFill>
                          <a:latin typeface="微软雅黑" pitchFamily="34" charset="0"/>
                          <a:ea typeface="微软雅黑" pitchFamily="34" charset="-122"/>
                          <a:cs typeface="微软雅黑" pitchFamily="34" charset="-120"/>
                        </a:rPr>
                        <a:t>核心优势</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4C7E9A"/>
                    </a:solidFill>
                  </a:tcPr>
                </a:tc>
                <a:tc>
                  <a:txBody>
                    <a:bodyPr/>
                    <a:lstStyle/>
                    <a:p>
                      <a:pPr algn="l"/>
                      <a:r>
                        <a:rPr lang="en-US" sz="1200" b="1" u="none" dirty="0">
                          <a:solidFill>
                            <a:srgbClr val="181A1F"/>
                          </a:solidFill>
                          <a:latin typeface="微软雅黑" pitchFamily="34" charset="0"/>
                          <a:ea typeface="微软雅黑" pitchFamily="34" charset="-122"/>
                          <a:cs typeface="微软雅黑" pitchFamily="34" charset="-120"/>
                        </a:rPr>
                        <a:t>数据需求</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4C7E9A"/>
                    </a:solidFill>
                  </a:tcPr>
                </a:tc>
                <a:tc>
                  <a:txBody>
                    <a:bodyPr/>
                    <a:lstStyle/>
                    <a:p>
                      <a:pPr algn="l"/>
                      <a:r>
                        <a:rPr lang="en-US" sz="1200" b="1" u="none" dirty="0">
                          <a:solidFill>
                            <a:srgbClr val="181A1F"/>
                          </a:solidFill>
                          <a:latin typeface="微软雅黑" pitchFamily="34" charset="0"/>
                          <a:ea typeface="微软雅黑" pitchFamily="34" charset="-122"/>
                          <a:cs typeface="微软雅黑" pitchFamily="34" charset="-120"/>
                        </a:rPr>
                        <a:t>可解释性</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4C7E9A"/>
                    </a:solidFill>
                  </a:tcPr>
                </a:tc>
              </a:tr>
              <a:tr h="676499">
                <a:tc>
                  <a:txBody>
                    <a:bodyPr/>
                    <a:lstStyle/>
                    <a:p>
                      <a:r>
                        <a:rPr lang="en-US" sz="1200" u="none" dirty="0">
                          <a:solidFill>
                            <a:srgbClr val="D1D5DB"/>
                          </a:solidFill>
                          <a:latin typeface="微软雅黑" pitchFamily="34" charset="0"/>
                          <a:ea typeface="微软雅黑" pitchFamily="34" charset="-122"/>
                          <a:cs typeface="微软雅黑" pitchFamily="34" charset="-120"/>
                        </a:rPr>
                        <a:t>高方差模型(如深度树)</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A5E78"/>
                      </a:solidFill>
                      <a:prstDash val="solid"/>
                      <a:round/>
                      <a:headEnd type="none" w="med" len="med"/>
                      <a:tailEnd type="none" w="med" len="med"/>
                    </a:lnB>
                    <a:solidFill>
                      <a:srgbClr val="FFFFFF">
                        <a:alpha val="0"/>
                      </a:srgbClr>
                    </a:solidFill>
                  </a:tcPr>
                </a:tc>
                <a:tc>
                  <a:txBody>
                    <a:bodyPr/>
                    <a:lstStyle/>
                    <a:p>
                      <a:r>
                        <a:rPr lang="en-US" sz="1200" b="1" u="none" dirty="0">
                          <a:solidFill>
                            <a:srgbClr val="4C7E9A"/>
                          </a:solidFill>
                          <a:latin typeface="微软雅黑" pitchFamily="34" charset="0"/>
                          <a:ea typeface="微软雅黑" pitchFamily="34" charset="-122"/>
                          <a:cs typeface="微软雅黑" pitchFamily="34" charset="-120"/>
                        </a:rPr>
                        <a:t>Bagging(随机森林)</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A5E78"/>
                      </a:solidFill>
                      <a:prstDash val="solid"/>
                      <a:round/>
                      <a:headEnd type="none" w="med" len="med"/>
                      <a:tailEnd type="none" w="med" len="med"/>
                    </a:lnB>
                    <a:solidFill>
                      <a:srgbClr val="FFFFFF">
                        <a:alpha val="0"/>
                      </a:srgbClr>
                    </a:solidFill>
                  </a:tcPr>
                </a:tc>
                <a:tc>
                  <a:txBody>
                    <a:bodyPr/>
                    <a:lstStyle/>
                    <a:p>
                      <a:r>
                        <a:rPr lang="en-US" sz="1200" u="none" dirty="0">
                          <a:solidFill>
                            <a:srgbClr val="7E9AA8"/>
                          </a:solidFill>
                          <a:latin typeface="微软雅黑" pitchFamily="34" charset="0"/>
                          <a:ea typeface="微软雅黑" pitchFamily="34" charset="-122"/>
                          <a:cs typeface="微软雅黑" pitchFamily="34" charset="-120"/>
                        </a:rPr>
                        <a:t>通过降低方差提升稳定性</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A5E78"/>
                      </a:solidFill>
                      <a:prstDash val="solid"/>
                      <a:round/>
                      <a:headEnd type="none" w="med" len="med"/>
                      <a:tailEnd type="none" w="med" len="med"/>
                    </a:lnB>
                    <a:solidFill>
                      <a:srgbClr val="FFFFFF">
                        <a:alpha val="0"/>
                      </a:srgbClr>
                    </a:solidFill>
                  </a:tcPr>
                </a:tc>
                <a:tc>
                  <a:txBody>
                    <a:bodyPr/>
                    <a:lstStyle/>
                    <a:p>
                      <a:r>
                        <a:rPr lang="en-US" sz="1200" u="none" dirty="0">
                          <a:solidFill>
                            <a:srgbClr val="7E9AA8"/>
                          </a:solidFill>
                          <a:latin typeface="微软雅黑" pitchFamily="34" charset="0"/>
                          <a:ea typeface="微软雅黑" pitchFamily="34" charset="-122"/>
                          <a:cs typeface="微软雅黑" pitchFamily="34" charset="-120"/>
                        </a:rPr>
                        <a:t>适中 ~ 大</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A5E78"/>
                      </a:solidFill>
                      <a:prstDash val="solid"/>
                      <a:round/>
                      <a:headEnd type="none" w="med" len="med"/>
                      <a:tailEnd type="none" w="med" len="med"/>
                    </a:lnB>
                    <a:solidFill>
                      <a:srgbClr val="FFFFFF">
                        <a:alpha val="0"/>
                      </a:srgbClr>
                    </a:solidFill>
                  </a:tcPr>
                </a:tc>
                <a:tc>
                  <a:txBody>
                    <a:bodyPr/>
                    <a:lstStyle/>
                    <a:p>
                      <a:r>
                        <a:rPr lang="en-US" sz="1200" u="none" dirty="0">
                          <a:solidFill>
                            <a:srgbClr val="D1D5DB"/>
                          </a:solidFill>
                          <a:latin typeface="微软雅黑" pitchFamily="34" charset="0"/>
                          <a:ea typeface="微软雅黑" pitchFamily="34" charset="-122"/>
                          <a:cs typeface="微软雅黑" pitchFamily="34" charset="-120"/>
                        </a:rPr>
                        <a:t>高</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A5E78"/>
                      </a:solidFill>
                      <a:prstDash val="solid"/>
                      <a:round/>
                      <a:headEnd type="none" w="med" len="med"/>
                      <a:tailEnd type="none" w="med" len="med"/>
                    </a:lnB>
                    <a:solidFill>
                      <a:srgbClr val="FFFFFF">
                        <a:alpha val="0"/>
                      </a:srgbClr>
                    </a:solidFill>
                  </a:tcPr>
                </a:tc>
              </a:tr>
              <a:tr h="676499">
                <a:tc>
                  <a:txBody>
                    <a:bodyPr/>
                    <a:lstStyle/>
                    <a:p>
                      <a:r>
                        <a:rPr lang="en-US" sz="1200" u="none" dirty="0">
                          <a:solidFill>
                            <a:srgbClr val="D1D5DB"/>
                          </a:solidFill>
                          <a:latin typeface="微软雅黑" pitchFamily="34" charset="0"/>
                          <a:ea typeface="微软雅黑" pitchFamily="34" charset="-122"/>
                          <a:cs typeface="微软雅黑" pitchFamily="34" charset="-120"/>
                        </a:rPr>
                        <a:t>高偏差模型(如线性回归)</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A5E78"/>
                      </a:solidFill>
                      <a:prstDash val="solid"/>
                      <a:round/>
                      <a:headEnd type="none" w="med" len="med"/>
                      <a:tailEnd type="none" w="med" len="med"/>
                    </a:lnB>
                    <a:solidFill>
                      <a:srgbClr val="FFFFFF">
                        <a:alpha val="0"/>
                      </a:srgbClr>
                    </a:solidFill>
                  </a:tcPr>
                </a:tc>
                <a:tc>
                  <a:txBody>
                    <a:bodyPr/>
                    <a:lstStyle/>
                    <a:p>
                      <a:r>
                        <a:rPr lang="en-US" sz="1200" b="1" u="none" dirty="0">
                          <a:solidFill>
                            <a:srgbClr val="4C7E9A"/>
                          </a:solidFill>
                          <a:latin typeface="微软雅黑" pitchFamily="34" charset="0"/>
                          <a:ea typeface="微软雅黑" pitchFamily="34" charset="-122"/>
                          <a:cs typeface="微软雅黑" pitchFamily="34" charset="-120"/>
                        </a:rPr>
                        <a:t>Boosting(XGBoost)</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A5E78"/>
                      </a:solidFill>
                      <a:prstDash val="solid"/>
                      <a:round/>
                      <a:headEnd type="none" w="med" len="med"/>
                      <a:tailEnd type="none" w="med" len="med"/>
                    </a:lnB>
                    <a:solidFill>
                      <a:srgbClr val="FFFFFF">
                        <a:alpha val="0"/>
                      </a:srgbClr>
                    </a:solidFill>
                  </a:tcPr>
                </a:tc>
                <a:tc>
                  <a:txBody>
                    <a:bodyPr/>
                    <a:lstStyle/>
                    <a:p>
                      <a:r>
                        <a:rPr lang="en-US" sz="1200" u="none" dirty="0">
                          <a:solidFill>
                            <a:srgbClr val="7E9AA8"/>
                          </a:solidFill>
                          <a:latin typeface="微软雅黑" pitchFamily="34" charset="0"/>
                          <a:ea typeface="微软雅黑" pitchFamily="34" charset="-122"/>
                          <a:cs typeface="微软雅黑" pitchFamily="34" charset="-120"/>
                        </a:rPr>
                        <a:t>通过逐步优化残差降低偏差</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A5E78"/>
                      </a:solidFill>
                      <a:prstDash val="solid"/>
                      <a:round/>
                      <a:headEnd type="none" w="med" len="med"/>
                      <a:tailEnd type="none" w="med" len="med"/>
                    </a:lnB>
                    <a:solidFill>
                      <a:srgbClr val="FFFFFF">
                        <a:alpha val="0"/>
                      </a:srgbClr>
                    </a:solidFill>
                  </a:tcPr>
                </a:tc>
                <a:tc>
                  <a:txBody>
                    <a:bodyPr/>
                    <a:lstStyle/>
                    <a:p>
                      <a:r>
                        <a:rPr lang="en-US" sz="1200" u="none" dirty="0">
                          <a:solidFill>
                            <a:srgbClr val="7E9AA8"/>
                          </a:solidFill>
                          <a:latin typeface="微软雅黑" pitchFamily="34" charset="0"/>
                          <a:ea typeface="微软雅黑" pitchFamily="34" charset="-122"/>
                          <a:cs typeface="微软雅黑" pitchFamily="34" charset="-120"/>
                        </a:rPr>
                        <a:t>大</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A5E78"/>
                      </a:solidFill>
                      <a:prstDash val="solid"/>
                      <a:round/>
                      <a:headEnd type="none" w="med" len="med"/>
                      <a:tailEnd type="none" w="med" len="med"/>
                    </a:lnB>
                    <a:solidFill>
                      <a:srgbClr val="FFFFFF">
                        <a:alpha val="0"/>
                      </a:srgbClr>
                    </a:solidFill>
                  </a:tcPr>
                </a:tc>
                <a:tc>
                  <a:txBody>
                    <a:bodyPr/>
                    <a:lstStyle/>
                    <a:p>
                      <a:r>
                        <a:rPr lang="en-US" sz="1200" u="none" dirty="0">
                          <a:solidFill>
                            <a:srgbClr val="D1D5DB"/>
                          </a:solidFill>
                          <a:latin typeface="微软雅黑" pitchFamily="34" charset="0"/>
                          <a:ea typeface="微软雅黑" pitchFamily="34" charset="-122"/>
                          <a:cs typeface="微软雅黑" pitchFamily="34" charset="-120"/>
                        </a:rPr>
                        <a:t>中等</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A5E78"/>
                      </a:solidFill>
                      <a:prstDash val="solid"/>
                      <a:round/>
                      <a:headEnd type="none" w="med" len="med"/>
                      <a:tailEnd type="none" w="med" len="med"/>
                    </a:lnB>
                    <a:solidFill>
                      <a:srgbClr val="FFFFFF">
                        <a:alpha val="0"/>
                      </a:srgbClr>
                    </a:solidFill>
                  </a:tcPr>
                </a:tc>
              </a:tr>
              <a:tr h="676499">
                <a:tc>
                  <a:txBody>
                    <a:bodyPr/>
                    <a:lstStyle/>
                    <a:p>
                      <a:r>
                        <a:rPr lang="en-US" sz="1200" u="none" dirty="0">
                          <a:solidFill>
                            <a:srgbClr val="D1D5DB"/>
                          </a:solidFill>
                          <a:latin typeface="微软雅黑" pitchFamily="34" charset="0"/>
                          <a:ea typeface="微软雅黑" pitchFamily="34" charset="-122"/>
                          <a:cs typeface="微软雅黑" pitchFamily="34" charset="-120"/>
                        </a:rPr>
                        <a:t>多模态数据(图像+文本)</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A5E78"/>
                      </a:solidFill>
                      <a:prstDash val="solid"/>
                      <a:round/>
                      <a:headEnd type="none" w="med" len="med"/>
                      <a:tailEnd type="none" w="med" len="med"/>
                    </a:lnB>
                    <a:solidFill>
                      <a:srgbClr val="FFFFFF">
                        <a:alpha val="0"/>
                      </a:srgbClr>
                    </a:solidFill>
                  </a:tcPr>
                </a:tc>
                <a:tc>
                  <a:txBody>
                    <a:bodyPr/>
                    <a:lstStyle/>
                    <a:p>
                      <a:r>
                        <a:rPr lang="en-US" sz="1200" b="1" u="none" dirty="0">
                          <a:solidFill>
                            <a:srgbClr val="4C7E9A"/>
                          </a:solidFill>
                          <a:latin typeface="微软雅黑" pitchFamily="34" charset="0"/>
                          <a:ea typeface="微软雅黑" pitchFamily="34" charset="-122"/>
                          <a:cs typeface="微软雅黑" pitchFamily="34" charset="-120"/>
                        </a:rPr>
                        <a:t>Stacking(深度学习+传统)</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A5E78"/>
                      </a:solidFill>
                      <a:prstDash val="solid"/>
                      <a:round/>
                      <a:headEnd type="none" w="med" len="med"/>
                      <a:tailEnd type="none" w="med" len="med"/>
                    </a:lnB>
                    <a:solidFill>
                      <a:srgbClr val="FFFFFF">
                        <a:alpha val="0"/>
                      </a:srgbClr>
                    </a:solidFill>
                  </a:tcPr>
                </a:tc>
                <a:tc>
                  <a:txBody>
                    <a:bodyPr/>
                    <a:lstStyle/>
                    <a:p>
                      <a:r>
                        <a:rPr lang="en-US" sz="1200" u="none" dirty="0">
                          <a:solidFill>
                            <a:srgbClr val="7E9AA8"/>
                          </a:solidFill>
                          <a:latin typeface="微软雅黑" pitchFamily="34" charset="0"/>
                          <a:ea typeface="微软雅黑" pitchFamily="34" charset="-122"/>
                          <a:cs typeface="微软雅黑" pitchFamily="34" charset="-120"/>
                        </a:rPr>
                        <a:t>结合不同模型优势捕捉复杂特征</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A5E78"/>
                      </a:solidFill>
                      <a:prstDash val="solid"/>
                      <a:round/>
                      <a:headEnd type="none" w="med" len="med"/>
                      <a:tailEnd type="none" w="med" len="med"/>
                    </a:lnB>
                    <a:solidFill>
                      <a:srgbClr val="FFFFFF">
                        <a:alpha val="0"/>
                      </a:srgbClr>
                    </a:solidFill>
                  </a:tcPr>
                </a:tc>
                <a:tc>
                  <a:txBody>
                    <a:bodyPr/>
                    <a:lstStyle/>
                    <a:p>
                      <a:r>
                        <a:rPr lang="en-US" sz="1200" u="none" dirty="0">
                          <a:solidFill>
                            <a:srgbClr val="7E9AA8"/>
                          </a:solidFill>
                          <a:latin typeface="微软雅黑" pitchFamily="34" charset="0"/>
                          <a:ea typeface="微软雅黑" pitchFamily="34" charset="-122"/>
                          <a:cs typeface="微软雅黑" pitchFamily="34" charset="-120"/>
                        </a:rPr>
                        <a:t>大</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A5E78"/>
                      </a:solidFill>
                      <a:prstDash val="solid"/>
                      <a:round/>
                      <a:headEnd type="none" w="med" len="med"/>
                      <a:tailEnd type="none" w="med" len="med"/>
                    </a:lnB>
                    <a:solidFill>
                      <a:srgbClr val="FFFFFF">
                        <a:alpha val="0"/>
                      </a:srgbClr>
                    </a:solidFill>
                  </a:tcPr>
                </a:tc>
                <a:tc>
                  <a:txBody>
                    <a:bodyPr/>
                    <a:lstStyle/>
                    <a:p>
                      <a:r>
                        <a:rPr lang="en-US" sz="1200" u="none" dirty="0">
                          <a:solidFill>
                            <a:srgbClr val="D1D5DB"/>
                          </a:solidFill>
                          <a:latin typeface="微软雅黑" pitchFamily="34" charset="0"/>
                          <a:ea typeface="微软雅黑" pitchFamily="34" charset="-122"/>
                          <a:cs typeface="微软雅黑" pitchFamily="34" charset="-120"/>
                        </a:rPr>
                        <a:t>低</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A5E78"/>
                      </a:solidFill>
                      <a:prstDash val="solid"/>
                      <a:round/>
                      <a:headEnd type="none" w="med" len="med"/>
                      <a:tailEnd type="none" w="med" len="med"/>
                    </a:lnB>
                    <a:solidFill>
                      <a:srgbClr val="FFFFFF">
                        <a:alpha val="0"/>
                      </a:srgbClr>
                    </a:solidFill>
                  </a:tcPr>
                </a:tc>
              </a:tr>
              <a:tr h="676499">
                <a:tc>
                  <a:txBody>
                    <a:bodyPr/>
                    <a:lstStyle/>
                    <a:p>
                      <a:r>
                        <a:rPr lang="en-US" sz="1200" u="none" dirty="0">
                          <a:solidFill>
                            <a:srgbClr val="D1D5DB"/>
                          </a:solidFill>
                          <a:latin typeface="微软雅黑" pitchFamily="34" charset="0"/>
                          <a:ea typeface="微软雅黑" pitchFamily="34" charset="-122"/>
                          <a:cs typeface="微软雅黑" pitchFamily="34" charset="-120"/>
                        </a:rPr>
                        <a:t>实时预测需求</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A5E78"/>
                      </a:solidFill>
                      <a:prstDash val="solid"/>
                      <a:round/>
                      <a:headEnd type="none" w="med" len="med"/>
                      <a:tailEnd type="none" w="med" len="med"/>
                    </a:lnB>
                    <a:solidFill>
                      <a:srgbClr val="FFFFFF">
                        <a:alpha val="0"/>
                      </a:srgbClr>
                    </a:solidFill>
                  </a:tcPr>
                </a:tc>
                <a:tc>
                  <a:txBody>
                    <a:bodyPr/>
                    <a:lstStyle/>
                    <a:p>
                      <a:r>
                        <a:rPr lang="en-US" sz="1200" b="1" u="none" dirty="0">
                          <a:solidFill>
                            <a:srgbClr val="4C7E9A"/>
                          </a:solidFill>
                          <a:latin typeface="微软雅黑" pitchFamily="34" charset="0"/>
                          <a:ea typeface="微软雅黑" pitchFamily="34" charset="-122"/>
                          <a:cs typeface="微软雅黑" pitchFamily="34" charset="-120"/>
                        </a:rPr>
                        <a:t>LightGBM低深度XGBoost</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A5E78"/>
                      </a:solidFill>
                      <a:prstDash val="solid"/>
                      <a:round/>
                      <a:headEnd type="none" w="med" len="med"/>
                      <a:tailEnd type="none" w="med" len="med"/>
                    </a:lnB>
                    <a:solidFill>
                      <a:srgbClr val="FFFFFF">
                        <a:alpha val="0"/>
                      </a:srgbClr>
                    </a:solidFill>
                  </a:tcPr>
                </a:tc>
                <a:tc>
                  <a:txBody>
                    <a:bodyPr/>
                    <a:lstStyle/>
                    <a:p>
                      <a:r>
                        <a:rPr lang="en-US" sz="1200" u="none" dirty="0">
                          <a:solidFill>
                            <a:srgbClr val="7E9AA8"/>
                          </a:solidFill>
                          <a:latin typeface="微软雅黑" pitchFamily="34" charset="0"/>
                          <a:ea typeface="微软雅黑" pitchFamily="34" charset="-122"/>
                          <a:cs typeface="微软雅黑" pitchFamily="34" charset="-120"/>
                        </a:rPr>
                        <a:t>计算开销小平衡性能和速度</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A5E78"/>
                      </a:solidFill>
                      <a:prstDash val="solid"/>
                      <a:round/>
                      <a:headEnd type="none" w="med" len="med"/>
                      <a:tailEnd type="none" w="med" len="med"/>
                    </a:lnB>
                    <a:solidFill>
                      <a:srgbClr val="FFFFFF">
                        <a:alpha val="0"/>
                      </a:srgbClr>
                    </a:solidFill>
                  </a:tcPr>
                </a:tc>
                <a:tc>
                  <a:txBody>
                    <a:bodyPr/>
                    <a:lstStyle/>
                    <a:p>
                      <a:r>
                        <a:rPr lang="en-US" sz="1200" u="none" dirty="0">
                          <a:solidFill>
                            <a:srgbClr val="7E9AA8"/>
                          </a:solidFill>
                          <a:latin typeface="微软雅黑" pitchFamily="34" charset="0"/>
                          <a:ea typeface="微软雅黑" pitchFamily="34" charset="-122"/>
                          <a:cs typeface="微软雅黑" pitchFamily="34" charset="-120"/>
                        </a:rPr>
                        <a:t>适中 ~ 大</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A5E78"/>
                      </a:solidFill>
                      <a:prstDash val="solid"/>
                      <a:round/>
                      <a:headEnd type="none" w="med" len="med"/>
                      <a:tailEnd type="none" w="med" len="med"/>
                    </a:lnB>
                    <a:solidFill>
                      <a:srgbClr val="FFFFFF">
                        <a:alpha val="0"/>
                      </a:srgbClr>
                    </a:solidFill>
                  </a:tcPr>
                </a:tc>
                <a:tc>
                  <a:txBody>
                    <a:bodyPr/>
                    <a:lstStyle/>
                    <a:p>
                      <a:r>
                        <a:rPr lang="en-US" sz="1200" u="none" dirty="0">
                          <a:solidFill>
                            <a:srgbClr val="D1D5DB"/>
                          </a:solidFill>
                          <a:latin typeface="微软雅黑" pitchFamily="34" charset="0"/>
                          <a:ea typeface="微软雅黑" pitchFamily="34" charset="-122"/>
                          <a:cs typeface="微软雅黑" pitchFamily="34" charset="-120"/>
                        </a:rPr>
                        <a:t>中等</a:t>
                      </a:r>
                      <a:endParaRPr lang="en-US" sz="1200" dirty="0">
                        <a:latin typeface="微软雅黑" charset="0"/>
                        <a:ea typeface="微软雅黑" charset="0"/>
                        <a:cs typeface="微软雅黑"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3A5E78"/>
                      </a:solidFill>
                      <a:prstDash val="solid"/>
                      <a:round/>
                      <a:headEnd type="none" w="med" len="med"/>
                      <a:tailEnd type="none" w="med" len="med"/>
                    </a:lnB>
                    <a:solidFill>
                      <a:srgbClr val="FFFFFF">
                        <a:alpha val="0"/>
                      </a:srgbClr>
                    </a:solidFill>
                  </a:tcPr>
                </a:tc>
              </a:tr>
            </a:tbl>
          </a:graphicData>
        </a:graphic>
      </p:graphicFrame>
      <p:sp>
        <p:nvSpPr>
          <p:cNvPr id="9" name="Shape 6"/>
          <p:cNvSpPr/>
          <p:nvPr/>
        </p:nvSpPr>
        <p:spPr>
          <a:xfrm>
            <a:off x="445065" y="6631469"/>
            <a:ext cx="5006982" cy="1780260"/>
          </a:xfrm>
          <a:custGeom>
            <a:avLst/>
            <a:gdLst/>
            <a:ahLst/>
            <a:cxnLst/>
            <a:rect l="l" t="t" r="r" b="b"/>
            <a:pathLst>
              <a:path w="5006982" h="1780260">
                <a:moveTo>
                  <a:pt x="89013" y="0"/>
                </a:moveTo>
                <a:lnTo>
                  <a:pt x="4917969" y="0"/>
                </a:lnTo>
                <a:cubicBezTo>
                  <a:pt x="4967129" y="0"/>
                  <a:pt x="5006982" y="39852"/>
                  <a:pt x="5006982" y="89013"/>
                </a:cubicBezTo>
                <a:lnTo>
                  <a:pt x="5006982" y="1691247"/>
                </a:lnTo>
                <a:cubicBezTo>
                  <a:pt x="5006982" y="1740408"/>
                  <a:pt x="4967129" y="1780260"/>
                  <a:pt x="4917969" y="1780260"/>
                </a:cubicBezTo>
                <a:lnTo>
                  <a:pt x="89013" y="1780260"/>
                </a:lnTo>
                <a:cubicBezTo>
                  <a:pt x="39885" y="1780260"/>
                  <a:pt x="0" y="1740375"/>
                  <a:pt x="0" y="1691247"/>
                </a:cubicBezTo>
                <a:lnTo>
                  <a:pt x="0" y="89013"/>
                </a:lnTo>
                <a:cubicBezTo>
                  <a:pt x="0" y="39885"/>
                  <a:pt x="39885" y="0"/>
                  <a:pt x="89013" y="0"/>
                </a:cubicBezTo>
                <a:close/>
              </a:path>
            </a:pathLst>
          </a:custGeom>
          <a:solidFill>
            <a:srgbClr val="3A5E78">
              <a:alpha val="20000"/>
            </a:srgbClr>
          </a:solidFill>
          <a:ln/>
        </p:spPr>
      </p:sp>
      <p:sp>
        <p:nvSpPr>
          <p:cNvPr id="10" name="Text 7"/>
          <p:cNvSpPr/>
          <p:nvPr/>
        </p:nvSpPr>
        <p:spPr>
          <a:xfrm>
            <a:off x="623091" y="6809495"/>
            <a:ext cx="4751069" cy="311546"/>
          </a:xfrm>
          <a:prstGeom prst="rect">
            <a:avLst/>
          </a:prstGeom>
          <a:noFill/>
          <a:ln/>
        </p:spPr>
        <p:txBody>
          <a:bodyPr wrap="square" lIns="0" tIns="0" rIns="0" bIns="0" rtlCol="0" anchor="ctr"/>
          <a:lstStyle/>
          <a:p>
            <a:pPr>
              <a:lnSpc>
                <a:spcPct val="130000"/>
              </a:lnSpc>
            </a:pPr>
            <a:r>
              <a:rPr lang="en-US" sz="1577" b="1" dirty="0">
                <a:solidFill>
                  <a:srgbClr val="4C7E9A"/>
                </a:solidFill>
                <a:latin typeface="MiSans" pitchFamily="34" charset="0"/>
                <a:ea typeface="MiSans" pitchFamily="34" charset="-122"/>
                <a:cs typeface="MiSans" pitchFamily="34" charset="-120"/>
              </a:rPr>
              <a:t>选择建议</a:t>
            </a:r>
            <a:endParaRPr lang="en-US" sz="1600" dirty="0"/>
          </a:p>
        </p:txBody>
      </p:sp>
      <p:sp>
        <p:nvSpPr>
          <p:cNvPr id="11" name="Text 8"/>
          <p:cNvSpPr/>
          <p:nvPr/>
        </p:nvSpPr>
        <p:spPr>
          <a:xfrm>
            <a:off x="623091" y="7210053"/>
            <a:ext cx="4728816" cy="222533"/>
          </a:xfrm>
          <a:prstGeom prst="rect">
            <a:avLst/>
          </a:prstGeom>
          <a:noFill/>
          <a:ln/>
        </p:spPr>
        <p:txBody>
          <a:bodyPr wrap="square" lIns="0" tIns="0" rIns="0" bIns="0" rtlCol="0" anchor="ctr"/>
          <a:lstStyle/>
          <a:p>
            <a:pPr>
              <a:lnSpc>
                <a:spcPct val="120000"/>
              </a:lnSpc>
            </a:pPr>
            <a:r>
              <a:rPr lang="en-US" sz="1227" dirty="0">
                <a:solidFill>
                  <a:srgbClr val="7E9AA8"/>
                </a:solidFill>
                <a:latin typeface="MiSans" pitchFamily="34" charset="0"/>
                <a:ea typeface="MiSans" pitchFamily="34" charset="-122"/>
                <a:cs typeface="MiSans" pitchFamily="34" charset="-120"/>
              </a:rPr>
              <a:t>1. 分析数据特点和问题类型</a:t>
            </a:r>
            <a:endParaRPr lang="en-US" sz="1600" dirty="0"/>
          </a:p>
        </p:txBody>
      </p:sp>
      <p:sp>
        <p:nvSpPr>
          <p:cNvPr id="12" name="Text 9"/>
          <p:cNvSpPr/>
          <p:nvPr/>
        </p:nvSpPr>
        <p:spPr>
          <a:xfrm>
            <a:off x="623091" y="7477092"/>
            <a:ext cx="4728816" cy="222533"/>
          </a:xfrm>
          <a:prstGeom prst="rect">
            <a:avLst/>
          </a:prstGeom>
          <a:noFill/>
          <a:ln/>
        </p:spPr>
        <p:txBody>
          <a:bodyPr wrap="square" lIns="0" tIns="0" rIns="0" bIns="0" rtlCol="0" anchor="ctr"/>
          <a:lstStyle/>
          <a:p>
            <a:pPr>
              <a:lnSpc>
                <a:spcPct val="120000"/>
              </a:lnSpc>
            </a:pPr>
            <a:r>
              <a:rPr lang="en-US" sz="1227" dirty="0">
                <a:solidFill>
                  <a:srgbClr val="7E9AA8"/>
                </a:solidFill>
                <a:latin typeface="MiSans" pitchFamily="34" charset="0"/>
                <a:ea typeface="MiSans" pitchFamily="34" charset="-122"/>
                <a:cs typeface="MiSans" pitchFamily="34" charset="-120"/>
              </a:rPr>
              <a:t>2. 识别模型的主要问题（高偏差/高方差）</a:t>
            </a:r>
            <a:endParaRPr lang="en-US" sz="1600" dirty="0"/>
          </a:p>
        </p:txBody>
      </p:sp>
      <p:sp>
        <p:nvSpPr>
          <p:cNvPr id="13" name="Text 10"/>
          <p:cNvSpPr/>
          <p:nvPr/>
        </p:nvSpPr>
        <p:spPr>
          <a:xfrm>
            <a:off x="623091" y="7744131"/>
            <a:ext cx="4728816" cy="222533"/>
          </a:xfrm>
          <a:prstGeom prst="rect">
            <a:avLst/>
          </a:prstGeom>
          <a:noFill/>
          <a:ln/>
        </p:spPr>
        <p:txBody>
          <a:bodyPr wrap="square" lIns="0" tIns="0" rIns="0" bIns="0" rtlCol="0" anchor="ctr"/>
          <a:lstStyle/>
          <a:p>
            <a:pPr>
              <a:lnSpc>
                <a:spcPct val="120000"/>
              </a:lnSpc>
            </a:pPr>
            <a:r>
              <a:rPr lang="en-US" sz="1227" dirty="0">
                <a:solidFill>
                  <a:srgbClr val="7E9AA8"/>
                </a:solidFill>
                <a:latin typeface="MiSans" pitchFamily="34" charset="0"/>
                <a:ea typeface="MiSans" pitchFamily="34" charset="-122"/>
                <a:cs typeface="MiSans" pitchFamily="34" charset="-120"/>
              </a:rPr>
              <a:t>3. 参考上表选择合适方法</a:t>
            </a:r>
            <a:endParaRPr lang="en-US" sz="1600" dirty="0"/>
          </a:p>
        </p:txBody>
      </p:sp>
      <p:sp>
        <p:nvSpPr>
          <p:cNvPr id="14" name="Text 11"/>
          <p:cNvSpPr/>
          <p:nvPr/>
        </p:nvSpPr>
        <p:spPr>
          <a:xfrm>
            <a:off x="623091" y="8011170"/>
            <a:ext cx="4728816" cy="222533"/>
          </a:xfrm>
          <a:prstGeom prst="rect">
            <a:avLst/>
          </a:prstGeom>
          <a:noFill/>
          <a:ln/>
        </p:spPr>
        <p:txBody>
          <a:bodyPr wrap="square" lIns="0" tIns="0" rIns="0" bIns="0" rtlCol="0" anchor="ctr"/>
          <a:lstStyle/>
          <a:p>
            <a:pPr>
              <a:lnSpc>
                <a:spcPct val="120000"/>
              </a:lnSpc>
            </a:pPr>
            <a:r>
              <a:rPr lang="en-US" sz="1227" dirty="0">
                <a:solidFill>
                  <a:srgbClr val="7E9AA8"/>
                </a:solidFill>
                <a:latin typeface="MiSans" pitchFamily="34" charset="0"/>
                <a:ea typeface="MiSans" pitchFamily="34" charset="-122"/>
                <a:cs typeface="MiSans" pitchFamily="34" charset="-120"/>
              </a:rPr>
              <a:t>4. 通过交叉验证验证选择</a:t>
            </a:r>
            <a:endParaRPr lang="en-US" sz="1600" dirty="0"/>
          </a:p>
        </p:txBody>
      </p:sp>
      <p:sp>
        <p:nvSpPr>
          <p:cNvPr id="15" name="Shape 12"/>
          <p:cNvSpPr/>
          <p:nvPr/>
        </p:nvSpPr>
        <p:spPr>
          <a:xfrm>
            <a:off x="5627552" y="6631469"/>
            <a:ext cx="5006982" cy="1780260"/>
          </a:xfrm>
          <a:custGeom>
            <a:avLst/>
            <a:gdLst/>
            <a:ahLst/>
            <a:cxnLst/>
            <a:rect l="l" t="t" r="r" b="b"/>
            <a:pathLst>
              <a:path w="5006982" h="1780260">
                <a:moveTo>
                  <a:pt x="89013" y="0"/>
                </a:moveTo>
                <a:lnTo>
                  <a:pt x="4917969" y="0"/>
                </a:lnTo>
                <a:cubicBezTo>
                  <a:pt x="4967129" y="0"/>
                  <a:pt x="5006982" y="39852"/>
                  <a:pt x="5006982" y="89013"/>
                </a:cubicBezTo>
                <a:lnTo>
                  <a:pt x="5006982" y="1691247"/>
                </a:lnTo>
                <a:cubicBezTo>
                  <a:pt x="5006982" y="1740408"/>
                  <a:pt x="4967129" y="1780260"/>
                  <a:pt x="4917969" y="1780260"/>
                </a:cubicBezTo>
                <a:lnTo>
                  <a:pt x="89013" y="1780260"/>
                </a:lnTo>
                <a:cubicBezTo>
                  <a:pt x="39885" y="1780260"/>
                  <a:pt x="0" y="1740375"/>
                  <a:pt x="0" y="1691247"/>
                </a:cubicBezTo>
                <a:lnTo>
                  <a:pt x="0" y="89013"/>
                </a:lnTo>
                <a:cubicBezTo>
                  <a:pt x="0" y="39885"/>
                  <a:pt x="39885" y="0"/>
                  <a:pt x="89013" y="0"/>
                </a:cubicBezTo>
                <a:close/>
              </a:path>
            </a:pathLst>
          </a:custGeom>
          <a:solidFill>
            <a:srgbClr val="3A5E78">
              <a:alpha val="20000"/>
            </a:srgbClr>
          </a:solidFill>
          <a:ln/>
        </p:spPr>
      </p:sp>
      <p:sp>
        <p:nvSpPr>
          <p:cNvPr id="16" name="Text 13"/>
          <p:cNvSpPr/>
          <p:nvPr/>
        </p:nvSpPr>
        <p:spPr>
          <a:xfrm>
            <a:off x="5805578" y="6809495"/>
            <a:ext cx="4751069" cy="311546"/>
          </a:xfrm>
          <a:prstGeom prst="rect">
            <a:avLst/>
          </a:prstGeom>
          <a:noFill/>
          <a:ln/>
        </p:spPr>
        <p:txBody>
          <a:bodyPr wrap="square" lIns="0" tIns="0" rIns="0" bIns="0" rtlCol="0" anchor="ctr"/>
          <a:lstStyle/>
          <a:p>
            <a:pPr>
              <a:lnSpc>
                <a:spcPct val="130000"/>
              </a:lnSpc>
            </a:pPr>
            <a:r>
              <a:rPr lang="en-US" sz="1577" b="1" dirty="0">
                <a:solidFill>
                  <a:srgbClr val="4C7E9A"/>
                </a:solidFill>
                <a:latin typeface="MiSans" pitchFamily="34" charset="0"/>
                <a:ea typeface="MiSans" pitchFamily="34" charset="-122"/>
                <a:cs typeface="MiSans" pitchFamily="34" charset="-120"/>
              </a:rPr>
              <a:t>经验法则</a:t>
            </a:r>
            <a:endParaRPr lang="en-US" sz="1600" dirty="0"/>
          </a:p>
        </p:txBody>
      </p:sp>
      <p:sp>
        <p:nvSpPr>
          <p:cNvPr id="17" name="Text 14"/>
          <p:cNvSpPr/>
          <p:nvPr/>
        </p:nvSpPr>
        <p:spPr>
          <a:xfrm>
            <a:off x="5805578" y="7210053"/>
            <a:ext cx="4728816" cy="222533"/>
          </a:xfrm>
          <a:prstGeom prst="rect">
            <a:avLst/>
          </a:prstGeom>
          <a:noFill/>
          <a:ln/>
        </p:spPr>
        <p:txBody>
          <a:bodyPr wrap="square" lIns="0" tIns="0" rIns="0" bIns="0" rtlCol="0" anchor="ctr"/>
          <a:lstStyle/>
          <a:p>
            <a:pPr>
              <a:lnSpc>
                <a:spcPct val="120000"/>
              </a:lnSpc>
            </a:pPr>
            <a:r>
              <a:rPr lang="en-US" sz="1227" dirty="0">
                <a:solidFill>
                  <a:srgbClr val="7E9AA8"/>
                </a:solidFill>
                <a:latin typeface="MiSans" pitchFamily="34" charset="0"/>
                <a:ea typeface="MiSans" pitchFamily="34" charset="-122"/>
                <a:cs typeface="MiSans" pitchFamily="34" charset="-120"/>
              </a:rPr>
              <a:t>• 数据量小：优先考虑Bagging</a:t>
            </a:r>
            <a:endParaRPr lang="en-US" sz="1600" dirty="0"/>
          </a:p>
        </p:txBody>
      </p:sp>
      <p:sp>
        <p:nvSpPr>
          <p:cNvPr id="18" name="Text 15"/>
          <p:cNvSpPr/>
          <p:nvPr/>
        </p:nvSpPr>
        <p:spPr>
          <a:xfrm>
            <a:off x="5805578" y="7477092"/>
            <a:ext cx="4728816" cy="222533"/>
          </a:xfrm>
          <a:prstGeom prst="rect">
            <a:avLst/>
          </a:prstGeom>
          <a:noFill/>
          <a:ln/>
        </p:spPr>
        <p:txBody>
          <a:bodyPr wrap="square" lIns="0" tIns="0" rIns="0" bIns="0" rtlCol="0" anchor="ctr"/>
          <a:lstStyle/>
          <a:p>
            <a:pPr>
              <a:lnSpc>
                <a:spcPct val="120000"/>
              </a:lnSpc>
            </a:pPr>
            <a:r>
              <a:rPr lang="en-US" sz="1227" dirty="0">
                <a:solidFill>
                  <a:srgbClr val="7E9AA8"/>
                </a:solidFill>
                <a:latin typeface="MiSans" pitchFamily="34" charset="0"/>
                <a:ea typeface="MiSans" pitchFamily="34" charset="-122"/>
                <a:cs typeface="MiSans" pitchFamily="34" charset="-120"/>
              </a:rPr>
              <a:t>• 数据量大：优先考虑Boosting</a:t>
            </a:r>
            <a:endParaRPr lang="en-US" sz="1600" dirty="0"/>
          </a:p>
        </p:txBody>
      </p:sp>
      <p:sp>
        <p:nvSpPr>
          <p:cNvPr id="19" name="Text 16"/>
          <p:cNvSpPr/>
          <p:nvPr/>
        </p:nvSpPr>
        <p:spPr>
          <a:xfrm>
            <a:off x="5805578" y="7744131"/>
            <a:ext cx="4728816" cy="222533"/>
          </a:xfrm>
          <a:prstGeom prst="rect">
            <a:avLst/>
          </a:prstGeom>
          <a:noFill/>
          <a:ln/>
        </p:spPr>
        <p:txBody>
          <a:bodyPr wrap="square" lIns="0" tIns="0" rIns="0" bIns="0" rtlCol="0" anchor="ctr"/>
          <a:lstStyle/>
          <a:p>
            <a:pPr>
              <a:lnSpc>
                <a:spcPct val="120000"/>
              </a:lnSpc>
            </a:pPr>
            <a:r>
              <a:rPr lang="en-US" sz="1227" dirty="0">
                <a:solidFill>
                  <a:srgbClr val="7E9AA8"/>
                </a:solidFill>
                <a:latin typeface="MiSans" pitchFamily="34" charset="0"/>
                <a:ea typeface="MiSans" pitchFamily="34" charset="-122"/>
                <a:cs typeface="MiSans" pitchFamily="34" charset="-120"/>
              </a:rPr>
              <a:t>• 多模态数据：考虑Stacking</a:t>
            </a:r>
            <a:endParaRPr lang="en-US" sz="1600" dirty="0"/>
          </a:p>
        </p:txBody>
      </p:sp>
      <p:sp>
        <p:nvSpPr>
          <p:cNvPr id="20" name="Text 17"/>
          <p:cNvSpPr/>
          <p:nvPr/>
        </p:nvSpPr>
        <p:spPr>
          <a:xfrm>
            <a:off x="5805578" y="8011170"/>
            <a:ext cx="4728816" cy="222533"/>
          </a:xfrm>
          <a:prstGeom prst="rect">
            <a:avLst/>
          </a:prstGeom>
          <a:noFill/>
          <a:ln/>
        </p:spPr>
        <p:txBody>
          <a:bodyPr wrap="square" lIns="0" tIns="0" rIns="0" bIns="0" rtlCol="0" anchor="ctr"/>
          <a:lstStyle/>
          <a:p>
            <a:pPr>
              <a:lnSpc>
                <a:spcPct val="120000"/>
              </a:lnSpc>
            </a:pPr>
            <a:r>
              <a:rPr lang="en-US" sz="1227" dirty="0">
                <a:solidFill>
                  <a:srgbClr val="7E9AA8"/>
                </a:solidFill>
                <a:latin typeface="MiSans" pitchFamily="34" charset="0"/>
                <a:ea typeface="MiSans" pitchFamily="34" charset="-122"/>
                <a:cs typeface="MiSans" pitchFamily="34" charset="-120"/>
              </a:rPr>
              <a:t>• 实时需求：LightGBM</a:t>
            </a:r>
            <a:endParaRPr lang="en-US" sz="1600" dirty="0"/>
          </a:p>
        </p:txBody>
      </p:sp>
      <p:sp>
        <p:nvSpPr>
          <p:cNvPr id="21" name="Shape 18"/>
          <p:cNvSpPr/>
          <p:nvPr/>
        </p:nvSpPr>
        <p:spPr>
          <a:xfrm>
            <a:off x="10810038" y="6631469"/>
            <a:ext cx="5006982" cy="1780260"/>
          </a:xfrm>
          <a:custGeom>
            <a:avLst/>
            <a:gdLst/>
            <a:ahLst/>
            <a:cxnLst/>
            <a:rect l="l" t="t" r="r" b="b"/>
            <a:pathLst>
              <a:path w="5006982" h="1780260">
                <a:moveTo>
                  <a:pt x="89013" y="0"/>
                </a:moveTo>
                <a:lnTo>
                  <a:pt x="4917969" y="0"/>
                </a:lnTo>
                <a:cubicBezTo>
                  <a:pt x="4967129" y="0"/>
                  <a:pt x="5006982" y="39852"/>
                  <a:pt x="5006982" y="89013"/>
                </a:cubicBezTo>
                <a:lnTo>
                  <a:pt x="5006982" y="1691247"/>
                </a:lnTo>
                <a:cubicBezTo>
                  <a:pt x="5006982" y="1740408"/>
                  <a:pt x="4967129" y="1780260"/>
                  <a:pt x="4917969" y="1780260"/>
                </a:cubicBezTo>
                <a:lnTo>
                  <a:pt x="89013" y="1780260"/>
                </a:lnTo>
                <a:cubicBezTo>
                  <a:pt x="39885" y="1780260"/>
                  <a:pt x="0" y="1740375"/>
                  <a:pt x="0" y="1691247"/>
                </a:cubicBezTo>
                <a:lnTo>
                  <a:pt x="0" y="89013"/>
                </a:lnTo>
                <a:cubicBezTo>
                  <a:pt x="0" y="39885"/>
                  <a:pt x="39885" y="0"/>
                  <a:pt x="89013" y="0"/>
                </a:cubicBezTo>
                <a:close/>
              </a:path>
            </a:pathLst>
          </a:custGeom>
          <a:solidFill>
            <a:srgbClr val="3A5E78">
              <a:alpha val="20000"/>
            </a:srgbClr>
          </a:solidFill>
          <a:ln/>
        </p:spPr>
      </p:sp>
      <p:sp>
        <p:nvSpPr>
          <p:cNvPr id="22" name="Text 19"/>
          <p:cNvSpPr/>
          <p:nvPr/>
        </p:nvSpPr>
        <p:spPr>
          <a:xfrm>
            <a:off x="10988064" y="6809495"/>
            <a:ext cx="4751069" cy="311546"/>
          </a:xfrm>
          <a:prstGeom prst="rect">
            <a:avLst/>
          </a:prstGeom>
          <a:noFill/>
          <a:ln/>
        </p:spPr>
        <p:txBody>
          <a:bodyPr wrap="square" lIns="0" tIns="0" rIns="0" bIns="0" rtlCol="0" anchor="ctr"/>
          <a:lstStyle/>
          <a:p>
            <a:pPr>
              <a:lnSpc>
                <a:spcPct val="130000"/>
              </a:lnSpc>
            </a:pPr>
            <a:r>
              <a:rPr lang="en-US" sz="1577" b="1" dirty="0">
                <a:solidFill>
                  <a:srgbClr val="4C7E9A"/>
                </a:solidFill>
                <a:latin typeface="MiSans" pitchFamily="34" charset="0"/>
                <a:ea typeface="MiSans" pitchFamily="34" charset="-122"/>
                <a:cs typeface="MiSans" pitchFamily="34" charset="-120"/>
              </a:rPr>
              <a:t>实践提醒</a:t>
            </a:r>
            <a:endParaRPr lang="en-US" sz="1600" dirty="0"/>
          </a:p>
        </p:txBody>
      </p:sp>
      <p:sp>
        <p:nvSpPr>
          <p:cNvPr id="23" name="Text 20"/>
          <p:cNvSpPr/>
          <p:nvPr/>
        </p:nvSpPr>
        <p:spPr>
          <a:xfrm>
            <a:off x="10988064" y="7210053"/>
            <a:ext cx="4728816" cy="222533"/>
          </a:xfrm>
          <a:prstGeom prst="rect">
            <a:avLst/>
          </a:prstGeom>
          <a:noFill/>
          <a:ln/>
        </p:spPr>
        <p:txBody>
          <a:bodyPr wrap="square" lIns="0" tIns="0" rIns="0" bIns="0" rtlCol="0" anchor="ctr"/>
          <a:lstStyle/>
          <a:p>
            <a:pPr>
              <a:lnSpc>
                <a:spcPct val="120000"/>
              </a:lnSpc>
            </a:pPr>
            <a:r>
              <a:rPr lang="en-US" sz="1227" dirty="0">
                <a:solidFill>
                  <a:srgbClr val="7E9AA8"/>
                </a:solidFill>
                <a:latin typeface="MiSans" pitchFamily="34" charset="0"/>
                <a:ea typeface="MiSans" pitchFamily="34" charset="-122"/>
                <a:cs typeface="MiSans" pitchFamily="34" charset="-120"/>
              </a:rPr>
              <a:t>• 没有万能算法，需具体问题具体分析</a:t>
            </a:r>
            <a:endParaRPr lang="en-US" sz="1600" dirty="0"/>
          </a:p>
        </p:txBody>
      </p:sp>
      <p:sp>
        <p:nvSpPr>
          <p:cNvPr id="24" name="Text 21"/>
          <p:cNvSpPr/>
          <p:nvPr/>
        </p:nvSpPr>
        <p:spPr>
          <a:xfrm>
            <a:off x="10988064" y="7477092"/>
            <a:ext cx="4728816" cy="222533"/>
          </a:xfrm>
          <a:prstGeom prst="rect">
            <a:avLst/>
          </a:prstGeom>
          <a:noFill/>
          <a:ln/>
        </p:spPr>
        <p:txBody>
          <a:bodyPr wrap="square" lIns="0" tIns="0" rIns="0" bIns="0" rtlCol="0" anchor="ctr"/>
          <a:lstStyle/>
          <a:p>
            <a:pPr>
              <a:lnSpc>
                <a:spcPct val="120000"/>
              </a:lnSpc>
            </a:pPr>
            <a:r>
              <a:rPr lang="en-US" sz="1227" dirty="0">
                <a:solidFill>
                  <a:srgbClr val="7E9AA8"/>
                </a:solidFill>
                <a:latin typeface="MiSans" pitchFamily="34" charset="0"/>
                <a:ea typeface="MiSans" pitchFamily="34" charset="-122"/>
                <a:cs typeface="MiSans" pitchFamily="34" charset="-120"/>
              </a:rPr>
              <a:t>• 集成学习通常优于单模型</a:t>
            </a:r>
            <a:endParaRPr lang="en-US" sz="1600" dirty="0"/>
          </a:p>
        </p:txBody>
      </p:sp>
      <p:sp>
        <p:nvSpPr>
          <p:cNvPr id="25" name="Text 22"/>
          <p:cNvSpPr/>
          <p:nvPr/>
        </p:nvSpPr>
        <p:spPr>
          <a:xfrm>
            <a:off x="10988064" y="7744131"/>
            <a:ext cx="4728816" cy="222533"/>
          </a:xfrm>
          <a:prstGeom prst="rect">
            <a:avLst/>
          </a:prstGeom>
          <a:noFill/>
          <a:ln/>
        </p:spPr>
        <p:txBody>
          <a:bodyPr wrap="square" lIns="0" tIns="0" rIns="0" bIns="0" rtlCol="0" anchor="ctr"/>
          <a:lstStyle/>
          <a:p>
            <a:pPr>
              <a:lnSpc>
                <a:spcPct val="120000"/>
              </a:lnSpc>
            </a:pPr>
            <a:r>
              <a:rPr lang="en-US" sz="1227" dirty="0">
                <a:solidFill>
                  <a:srgbClr val="7E9AA8"/>
                </a:solidFill>
                <a:latin typeface="MiSans" pitchFamily="34" charset="0"/>
                <a:ea typeface="MiSans" pitchFamily="34" charset="-122"/>
                <a:cs typeface="MiSans" pitchFamily="34" charset="-120"/>
              </a:rPr>
              <a:t>• 计算成本和性能需权衡</a:t>
            </a:r>
            <a:endParaRPr lang="en-US" sz="1600" dirty="0"/>
          </a:p>
        </p:txBody>
      </p:sp>
      <p:sp>
        <p:nvSpPr>
          <p:cNvPr id="26" name="Text 23"/>
          <p:cNvSpPr/>
          <p:nvPr/>
        </p:nvSpPr>
        <p:spPr>
          <a:xfrm>
            <a:off x="10988064" y="8011170"/>
            <a:ext cx="4728816" cy="222533"/>
          </a:xfrm>
          <a:prstGeom prst="rect">
            <a:avLst/>
          </a:prstGeom>
          <a:noFill/>
          <a:ln/>
        </p:spPr>
        <p:txBody>
          <a:bodyPr wrap="square" lIns="0" tIns="0" rIns="0" bIns="0" rtlCol="0" anchor="ctr"/>
          <a:lstStyle/>
          <a:p>
            <a:pPr>
              <a:lnSpc>
                <a:spcPct val="120000"/>
              </a:lnSpc>
            </a:pPr>
            <a:r>
              <a:rPr lang="en-US" sz="1227" dirty="0">
                <a:solidFill>
                  <a:srgbClr val="7E9AA8"/>
                </a:solidFill>
                <a:latin typeface="MiSans" pitchFamily="34" charset="0"/>
                <a:ea typeface="MiSans" pitchFamily="34" charset="-122"/>
                <a:cs typeface="MiSans" pitchFamily="34" charset="-120"/>
              </a:rPr>
              <a:t>• 可解释性在某些场景很重要</a:t>
            </a:r>
            <a:endParaRPr lang="en-US" sz="1600" dirty="0"/>
          </a:p>
        </p:txBody>
      </p:sp>
    </p:spTree>
  </p:cSld>
  <p:clrMapOvr>
    <a:masterClrMapping/>
  </p:clrMapOvr>
  <p:transition>
    <p:fade/>
    <p:spd val="med"/>
  </p:transition>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81A1F"/>
        </a:solidFill>
      </p:bgPr>
    </p:bg>
    <p:spTree>
      <p:nvGrpSpPr>
        <p:cNvPr id="1" name=""/>
        <p:cNvGrpSpPr/>
        <p:nvPr/>
      </p:nvGrpSpPr>
      <p:grpSpPr>
        <a:xfrm>
          <a:off x="0" y="0"/>
          <a:ext cx="0" cy="0"/>
          <a:chOff x="0" y="0"/>
          <a:chExt cx="0" cy="0"/>
        </a:xfrm>
      </p:grpSpPr>
      <p:pic>
        <p:nvPicPr>
          <p:cNvPr id="2" name="Image 0" descr="https://kimi-web-img.moonshot.cn/img/img.freepik.com/29534106026b0a34d6d6b91e863ea54ef163599d.jpg">    </p:cNvPr>
          <p:cNvPicPr>
            <a:picLocks noChangeAspect="1"/>
          </p:cNvPicPr>
          <p:nvPr/>
        </p:nvPicPr>
        <p:blipFill>
          <a:blip r:embed="rId1">
            <a:alphaModFix amt="30000"/>
          </a:blip>
          <a:srcRect l="178" r="178" t="0" b="0"/>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rotWithShape="1" flip="none">
            <a:gsLst>
              <a:gs pos="0">
                <a:srgbClr val="181A1F"/>
              </a:gs>
              <a:gs pos="50000">
                <a:srgbClr val="181A1F">
                  <a:alpha val="95000"/>
                </a:srgbClr>
              </a:gs>
              <a:gs pos="100000">
                <a:srgbClr val="181A1F">
                  <a:alpha val="70000"/>
                </a:srgbClr>
              </a:gs>
            </a:gsLst>
            <a:lin ang="0" scaled="1"/>
          </a:gradFill>
          <a:ln/>
        </p:spPr>
      </p:sp>
      <p:sp>
        <p:nvSpPr>
          <p:cNvPr id="4" name="Shape 1"/>
          <p:cNvSpPr/>
          <p:nvPr/>
        </p:nvSpPr>
        <p:spPr>
          <a:xfrm>
            <a:off x="520700" y="1752600"/>
            <a:ext cx="1778000" cy="787400"/>
          </a:xfrm>
          <a:custGeom>
            <a:avLst/>
            <a:gdLst/>
            <a:ahLst/>
            <a:cxnLst/>
            <a:rect l="l" t="t" r="r" b="b"/>
            <a:pathLst>
              <a:path w="1778000" h="787400">
                <a:moveTo>
                  <a:pt x="101598" y="0"/>
                </a:moveTo>
                <a:lnTo>
                  <a:pt x="1676402" y="0"/>
                </a:lnTo>
                <a:cubicBezTo>
                  <a:pt x="1732513" y="0"/>
                  <a:pt x="1778000" y="45487"/>
                  <a:pt x="1778000" y="101598"/>
                </a:cubicBezTo>
                <a:lnTo>
                  <a:pt x="1778000" y="685802"/>
                </a:lnTo>
                <a:cubicBezTo>
                  <a:pt x="1778000" y="741913"/>
                  <a:pt x="1732513" y="787400"/>
                  <a:pt x="1676402" y="787400"/>
                </a:cubicBezTo>
                <a:lnTo>
                  <a:pt x="101598" y="787400"/>
                </a:lnTo>
                <a:cubicBezTo>
                  <a:pt x="45487" y="787400"/>
                  <a:pt x="0" y="741913"/>
                  <a:pt x="0" y="685802"/>
                </a:cubicBezTo>
                <a:lnTo>
                  <a:pt x="0" y="101598"/>
                </a:lnTo>
                <a:cubicBezTo>
                  <a:pt x="0" y="45525"/>
                  <a:pt x="45525" y="0"/>
                  <a:pt x="101598" y="0"/>
                </a:cubicBezTo>
                <a:close/>
              </a:path>
            </a:pathLst>
          </a:custGeom>
          <a:solidFill>
            <a:srgbClr val="4C7E9A">
              <a:alpha val="20000"/>
            </a:srgbClr>
          </a:solidFill>
          <a:ln w="25400">
            <a:solidFill>
              <a:srgbClr val="4C7E9A"/>
            </a:solidFill>
            <a:prstDash val="solid"/>
          </a:ln>
        </p:spPr>
      </p:sp>
      <p:sp>
        <p:nvSpPr>
          <p:cNvPr id="5" name="Text 2"/>
          <p:cNvSpPr/>
          <p:nvPr/>
        </p:nvSpPr>
        <p:spPr>
          <a:xfrm>
            <a:off x="838200" y="1917700"/>
            <a:ext cx="1333500" cy="457200"/>
          </a:xfrm>
          <a:prstGeom prst="rect">
            <a:avLst/>
          </a:prstGeom>
          <a:noFill/>
          <a:ln/>
        </p:spPr>
        <p:txBody>
          <a:bodyPr wrap="square" lIns="0" tIns="0" rIns="0" bIns="0" rtlCol="0" anchor="ctr"/>
          <a:lstStyle/>
          <a:p>
            <a:pPr>
              <a:lnSpc>
                <a:spcPct val="100000"/>
              </a:lnSpc>
            </a:pPr>
            <a:r>
              <a:rPr lang="en-US" sz="3000" b="1" dirty="0">
                <a:solidFill>
                  <a:srgbClr val="4C7E9A"/>
                </a:solidFill>
                <a:latin typeface="MiSans" pitchFamily="34" charset="0"/>
                <a:ea typeface="MiSans" pitchFamily="34" charset="-122"/>
                <a:cs typeface="MiSans" pitchFamily="34" charset="-120"/>
              </a:rPr>
              <a:t>专题一</a:t>
            </a:r>
            <a:endParaRPr lang="en-US" sz="1600" dirty="0"/>
          </a:p>
        </p:txBody>
      </p:sp>
      <p:sp>
        <p:nvSpPr>
          <p:cNvPr id="6" name="Text 3"/>
          <p:cNvSpPr/>
          <p:nvPr/>
        </p:nvSpPr>
        <p:spPr>
          <a:xfrm>
            <a:off x="508000" y="2959100"/>
            <a:ext cx="7924800" cy="1219200"/>
          </a:xfrm>
          <a:prstGeom prst="rect">
            <a:avLst/>
          </a:prstGeom>
          <a:noFill/>
          <a:ln/>
        </p:spPr>
        <p:txBody>
          <a:bodyPr wrap="square" lIns="0" tIns="0" rIns="0" bIns="0" rtlCol="0" anchor="ctr"/>
          <a:lstStyle/>
          <a:p>
            <a:pPr>
              <a:lnSpc>
                <a:spcPct val="80000"/>
              </a:lnSpc>
            </a:pPr>
            <a:r>
              <a:rPr lang="en-US" sz="9600" b="1" dirty="0">
                <a:solidFill>
                  <a:srgbClr val="D1D5DB"/>
                </a:solidFill>
                <a:latin typeface="阿里妈妈数黑体" pitchFamily="34" charset="0"/>
                <a:ea typeface="阿里妈妈数黑体" pitchFamily="34" charset="-122"/>
                <a:cs typeface="阿里妈妈数黑体" pitchFamily="34" charset="-120"/>
              </a:rPr>
              <a:t>随机森林算法</a:t>
            </a:r>
            <a:endParaRPr lang="en-US" sz="1600" dirty="0"/>
          </a:p>
        </p:txBody>
      </p:sp>
      <p:sp>
        <p:nvSpPr>
          <p:cNvPr id="7" name="Shape 4"/>
          <p:cNvSpPr/>
          <p:nvPr/>
        </p:nvSpPr>
        <p:spPr>
          <a:xfrm>
            <a:off x="508000" y="4483100"/>
            <a:ext cx="2438400" cy="101600"/>
          </a:xfrm>
          <a:custGeom>
            <a:avLst/>
            <a:gdLst/>
            <a:ahLst/>
            <a:cxnLst/>
            <a:rect l="l" t="t" r="r" b="b"/>
            <a:pathLst>
              <a:path w="2438400" h="101600">
                <a:moveTo>
                  <a:pt x="0" y="0"/>
                </a:moveTo>
                <a:lnTo>
                  <a:pt x="2438400" y="0"/>
                </a:lnTo>
                <a:lnTo>
                  <a:pt x="2438400" y="101600"/>
                </a:lnTo>
                <a:lnTo>
                  <a:pt x="0" y="101600"/>
                </a:lnTo>
                <a:lnTo>
                  <a:pt x="0" y="0"/>
                </a:lnTo>
                <a:close/>
              </a:path>
            </a:pathLst>
          </a:custGeom>
          <a:solidFill>
            <a:srgbClr val="4C7E9A"/>
          </a:solidFill>
          <a:ln/>
        </p:spPr>
      </p:sp>
      <p:sp>
        <p:nvSpPr>
          <p:cNvPr id="8" name="Text 5"/>
          <p:cNvSpPr/>
          <p:nvPr/>
        </p:nvSpPr>
        <p:spPr>
          <a:xfrm>
            <a:off x="508000" y="4889500"/>
            <a:ext cx="7543800" cy="508000"/>
          </a:xfrm>
          <a:prstGeom prst="rect">
            <a:avLst/>
          </a:prstGeom>
          <a:noFill/>
          <a:ln/>
        </p:spPr>
        <p:txBody>
          <a:bodyPr wrap="square" lIns="0" tIns="0" rIns="0" bIns="0" rtlCol="0" anchor="ctr"/>
          <a:lstStyle/>
          <a:p>
            <a:pPr>
              <a:lnSpc>
                <a:spcPct val="90000"/>
              </a:lnSpc>
            </a:pPr>
            <a:r>
              <a:rPr lang="en-US" sz="3600" dirty="0">
                <a:solidFill>
                  <a:srgbClr val="7E9AA8"/>
                </a:solidFill>
                <a:latin typeface="MiSans" pitchFamily="34" charset="0"/>
                <a:ea typeface="MiSans" pitchFamily="34" charset="-122"/>
                <a:cs typeface="MiSans" pitchFamily="34" charset="-120"/>
              </a:rPr>
              <a:t>Bagging的经典实现</a:t>
            </a:r>
            <a:endParaRPr lang="en-US" sz="1600" dirty="0"/>
          </a:p>
        </p:txBody>
      </p:sp>
      <p:sp>
        <p:nvSpPr>
          <p:cNvPr id="9" name="Shape 6"/>
          <p:cNvSpPr/>
          <p:nvPr/>
        </p:nvSpPr>
        <p:spPr>
          <a:xfrm>
            <a:off x="508000" y="6007100"/>
            <a:ext cx="3149600" cy="1397000"/>
          </a:xfrm>
          <a:custGeom>
            <a:avLst/>
            <a:gdLst/>
            <a:ahLst/>
            <a:cxnLst/>
            <a:rect l="l" t="t" r="r" b="b"/>
            <a:pathLst>
              <a:path w="3149600" h="1397000">
                <a:moveTo>
                  <a:pt x="101604" y="0"/>
                </a:moveTo>
                <a:lnTo>
                  <a:pt x="3047996" y="0"/>
                </a:lnTo>
                <a:cubicBezTo>
                  <a:pt x="3104110" y="0"/>
                  <a:pt x="3149600" y="45490"/>
                  <a:pt x="3149600" y="101604"/>
                </a:cubicBezTo>
                <a:lnTo>
                  <a:pt x="3149600" y="1295396"/>
                </a:lnTo>
                <a:cubicBezTo>
                  <a:pt x="3149600" y="1351510"/>
                  <a:pt x="3104110" y="1397000"/>
                  <a:pt x="30479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0" name="Shape 7"/>
          <p:cNvSpPr/>
          <p:nvPr/>
        </p:nvSpPr>
        <p:spPr>
          <a:xfrm>
            <a:off x="836613" y="6261100"/>
            <a:ext cx="333375" cy="381000"/>
          </a:xfrm>
          <a:custGeom>
            <a:avLst/>
            <a:gdLst/>
            <a:ahLst/>
            <a:cxnLst/>
            <a:rect l="l" t="t" r="r" b="b"/>
            <a:pathLst>
              <a:path w="333375" h="381000">
                <a:moveTo>
                  <a:pt x="166688" y="-23812"/>
                </a:moveTo>
                <a:cubicBezTo>
                  <a:pt x="171896" y="-23812"/>
                  <a:pt x="176882" y="-21506"/>
                  <a:pt x="180305" y="-17487"/>
                </a:cubicBezTo>
                <a:lnTo>
                  <a:pt x="281508" y="101575"/>
                </a:lnTo>
                <a:cubicBezTo>
                  <a:pt x="286048" y="106859"/>
                  <a:pt x="287015" y="114300"/>
                  <a:pt x="284113" y="120625"/>
                </a:cubicBezTo>
                <a:cubicBezTo>
                  <a:pt x="281211" y="126950"/>
                  <a:pt x="274886" y="130969"/>
                  <a:pt x="267891" y="130969"/>
                </a:cubicBezTo>
                <a:lnTo>
                  <a:pt x="249362" y="130969"/>
                </a:lnTo>
                <a:lnTo>
                  <a:pt x="305321" y="196825"/>
                </a:lnTo>
                <a:cubicBezTo>
                  <a:pt x="309860" y="202109"/>
                  <a:pt x="310828" y="209550"/>
                  <a:pt x="307925" y="215875"/>
                </a:cubicBezTo>
                <a:cubicBezTo>
                  <a:pt x="305023" y="222200"/>
                  <a:pt x="298698" y="226219"/>
                  <a:pt x="291703" y="226219"/>
                </a:cubicBezTo>
                <a:lnTo>
                  <a:pt x="263054" y="226219"/>
                </a:lnTo>
                <a:lnTo>
                  <a:pt x="329133" y="303981"/>
                </a:lnTo>
                <a:cubicBezTo>
                  <a:pt x="333673" y="309265"/>
                  <a:pt x="334640" y="316706"/>
                  <a:pt x="331738" y="323031"/>
                </a:cubicBezTo>
                <a:cubicBezTo>
                  <a:pt x="328836" y="329357"/>
                  <a:pt x="322511" y="333375"/>
                  <a:pt x="315516" y="333375"/>
                </a:cubicBezTo>
                <a:lnTo>
                  <a:pt x="190500" y="333375"/>
                </a:lnTo>
                <a:lnTo>
                  <a:pt x="190500" y="381000"/>
                </a:lnTo>
                <a:cubicBezTo>
                  <a:pt x="190500" y="394171"/>
                  <a:pt x="179859" y="404813"/>
                  <a:pt x="166688" y="404813"/>
                </a:cubicBezTo>
                <a:cubicBezTo>
                  <a:pt x="153516" y="404813"/>
                  <a:pt x="142875" y="394171"/>
                  <a:pt x="142875" y="381000"/>
                </a:cubicBezTo>
                <a:lnTo>
                  <a:pt x="142875" y="333375"/>
                </a:lnTo>
                <a:lnTo>
                  <a:pt x="17859" y="333375"/>
                </a:lnTo>
                <a:cubicBezTo>
                  <a:pt x="10864" y="333375"/>
                  <a:pt x="4539" y="329357"/>
                  <a:pt x="1637" y="323031"/>
                </a:cubicBezTo>
                <a:cubicBezTo>
                  <a:pt x="-1265" y="316706"/>
                  <a:pt x="-298" y="309265"/>
                  <a:pt x="4242" y="303981"/>
                </a:cubicBezTo>
                <a:lnTo>
                  <a:pt x="70321" y="226219"/>
                </a:lnTo>
                <a:lnTo>
                  <a:pt x="41672" y="226219"/>
                </a:lnTo>
                <a:cubicBezTo>
                  <a:pt x="34677" y="226219"/>
                  <a:pt x="28352" y="222200"/>
                  <a:pt x="25450" y="215875"/>
                </a:cubicBezTo>
                <a:cubicBezTo>
                  <a:pt x="22547" y="209550"/>
                  <a:pt x="23515" y="202109"/>
                  <a:pt x="28054" y="196825"/>
                </a:cubicBezTo>
                <a:lnTo>
                  <a:pt x="84013" y="130969"/>
                </a:lnTo>
                <a:lnTo>
                  <a:pt x="65484" y="130969"/>
                </a:lnTo>
                <a:cubicBezTo>
                  <a:pt x="58489" y="130969"/>
                  <a:pt x="52164" y="126950"/>
                  <a:pt x="49262" y="120625"/>
                </a:cubicBezTo>
                <a:cubicBezTo>
                  <a:pt x="46360" y="114300"/>
                  <a:pt x="47327" y="106859"/>
                  <a:pt x="51867" y="101575"/>
                </a:cubicBezTo>
                <a:lnTo>
                  <a:pt x="153070" y="-17487"/>
                </a:lnTo>
                <a:cubicBezTo>
                  <a:pt x="156493" y="-21506"/>
                  <a:pt x="161479" y="-23812"/>
                  <a:pt x="166688" y="-23812"/>
                </a:cubicBezTo>
                <a:close/>
              </a:path>
            </a:pathLst>
          </a:custGeom>
          <a:solidFill>
            <a:srgbClr val="4C7E9A"/>
          </a:solidFill>
          <a:ln/>
        </p:spPr>
      </p:sp>
      <p:sp>
        <p:nvSpPr>
          <p:cNvPr id="11" name="Text 8"/>
          <p:cNvSpPr/>
          <p:nvPr/>
        </p:nvSpPr>
        <p:spPr>
          <a:xfrm>
            <a:off x="762000" y="6794500"/>
            <a:ext cx="27686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算法定义</a:t>
            </a:r>
            <a:endParaRPr lang="en-US" sz="1600" dirty="0"/>
          </a:p>
        </p:txBody>
      </p:sp>
      <p:sp>
        <p:nvSpPr>
          <p:cNvPr id="12" name="Shape 9"/>
          <p:cNvSpPr/>
          <p:nvPr/>
        </p:nvSpPr>
        <p:spPr>
          <a:xfrm>
            <a:off x="3860800" y="6007100"/>
            <a:ext cx="3149600" cy="1397000"/>
          </a:xfrm>
          <a:custGeom>
            <a:avLst/>
            <a:gdLst/>
            <a:ahLst/>
            <a:cxnLst/>
            <a:rect l="l" t="t" r="r" b="b"/>
            <a:pathLst>
              <a:path w="3149600" h="1397000">
                <a:moveTo>
                  <a:pt x="101604" y="0"/>
                </a:moveTo>
                <a:lnTo>
                  <a:pt x="3047996" y="0"/>
                </a:lnTo>
                <a:cubicBezTo>
                  <a:pt x="3104110" y="0"/>
                  <a:pt x="3149600" y="45490"/>
                  <a:pt x="3149600" y="101604"/>
                </a:cubicBezTo>
                <a:lnTo>
                  <a:pt x="3149600" y="1295396"/>
                </a:lnTo>
                <a:cubicBezTo>
                  <a:pt x="3149600" y="1351510"/>
                  <a:pt x="3104110" y="1397000"/>
                  <a:pt x="30479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3" name="Shape 10"/>
          <p:cNvSpPr/>
          <p:nvPr/>
        </p:nvSpPr>
        <p:spPr>
          <a:xfrm>
            <a:off x="4141788" y="6261100"/>
            <a:ext cx="428625" cy="381000"/>
          </a:xfrm>
          <a:custGeom>
            <a:avLst/>
            <a:gdLst/>
            <a:ahLst/>
            <a:cxnLst/>
            <a:rect l="l" t="t" r="r" b="b"/>
            <a:pathLst>
              <a:path w="428625" h="381000">
                <a:moveTo>
                  <a:pt x="268486" y="893"/>
                </a:moveTo>
                <a:cubicBezTo>
                  <a:pt x="255836" y="-2753"/>
                  <a:pt x="242664" y="4614"/>
                  <a:pt x="239018" y="17264"/>
                </a:cubicBezTo>
                <a:lnTo>
                  <a:pt x="143768" y="350639"/>
                </a:lnTo>
                <a:cubicBezTo>
                  <a:pt x="140122" y="363289"/>
                  <a:pt x="147489" y="376461"/>
                  <a:pt x="160139" y="380107"/>
                </a:cubicBezTo>
                <a:cubicBezTo>
                  <a:pt x="172789" y="383753"/>
                  <a:pt x="185961" y="376386"/>
                  <a:pt x="189607" y="363736"/>
                </a:cubicBezTo>
                <a:lnTo>
                  <a:pt x="284857" y="30361"/>
                </a:lnTo>
                <a:cubicBezTo>
                  <a:pt x="288503" y="17711"/>
                  <a:pt x="281136" y="4539"/>
                  <a:pt x="268486" y="893"/>
                </a:cubicBezTo>
                <a:close/>
                <a:moveTo>
                  <a:pt x="316557" y="102171"/>
                </a:moveTo>
                <a:cubicBezTo>
                  <a:pt x="307256" y="111472"/>
                  <a:pt x="307256" y="126578"/>
                  <a:pt x="316557" y="135880"/>
                </a:cubicBezTo>
                <a:lnTo>
                  <a:pt x="371177" y="190500"/>
                </a:lnTo>
                <a:lnTo>
                  <a:pt x="316557" y="245120"/>
                </a:lnTo>
                <a:cubicBezTo>
                  <a:pt x="307256" y="254422"/>
                  <a:pt x="307256" y="269528"/>
                  <a:pt x="316557" y="278829"/>
                </a:cubicBezTo>
                <a:cubicBezTo>
                  <a:pt x="325859" y="288131"/>
                  <a:pt x="340965" y="288131"/>
                  <a:pt x="350267" y="278829"/>
                </a:cubicBezTo>
                <a:lnTo>
                  <a:pt x="421704" y="207392"/>
                </a:lnTo>
                <a:cubicBezTo>
                  <a:pt x="431006" y="198090"/>
                  <a:pt x="431006" y="182984"/>
                  <a:pt x="421704" y="173682"/>
                </a:cubicBezTo>
                <a:lnTo>
                  <a:pt x="350267" y="102245"/>
                </a:lnTo>
                <a:cubicBezTo>
                  <a:pt x="340965" y="92943"/>
                  <a:pt x="325859" y="92943"/>
                  <a:pt x="316557" y="102245"/>
                </a:cubicBezTo>
                <a:close/>
                <a:moveTo>
                  <a:pt x="112142" y="102171"/>
                </a:moveTo>
                <a:cubicBezTo>
                  <a:pt x="102840" y="92869"/>
                  <a:pt x="87734" y="92869"/>
                  <a:pt x="78432" y="102171"/>
                </a:cubicBezTo>
                <a:lnTo>
                  <a:pt x="6995" y="173608"/>
                </a:lnTo>
                <a:cubicBezTo>
                  <a:pt x="-2307" y="182910"/>
                  <a:pt x="-2307" y="198016"/>
                  <a:pt x="6995" y="207318"/>
                </a:cubicBezTo>
                <a:lnTo>
                  <a:pt x="78432" y="278755"/>
                </a:lnTo>
                <a:cubicBezTo>
                  <a:pt x="87734" y="288057"/>
                  <a:pt x="102840" y="288057"/>
                  <a:pt x="112142" y="278755"/>
                </a:cubicBezTo>
                <a:cubicBezTo>
                  <a:pt x="121444" y="269453"/>
                  <a:pt x="121444" y="254347"/>
                  <a:pt x="112142" y="245046"/>
                </a:cubicBezTo>
                <a:lnTo>
                  <a:pt x="57522" y="190500"/>
                </a:lnTo>
                <a:lnTo>
                  <a:pt x="112068" y="135880"/>
                </a:lnTo>
                <a:cubicBezTo>
                  <a:pt x="121369" y="126578"/>
                  <a:pt x="121369" y="111472"/>
                  <a:pt x="112068" y="102171"/>
                </a:cubicBezTo>
                <a:close/>
              </a:path>
            </a:pathLst>
          </a:custGeom>
          <a:solidFill>
            <a:srgbClr val="4C7E9A"/>
          </a:solidFill>
          <a:ln/>
        </p:spPr>
      </p:sp>
      <p:sp>
        <p:nvSpPr>
          <p:cNvPr id="14" name="Text 11"/>
          <p:cNvSpPr/>
          <p:nvPr/>
        </p:nvSpPr>
        <p:spPr>
          <a:xfrm>
            <a:off x="4114800" y="6794500"/>
            <a:ext cx="27686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实战示例</a:t>
            </a:r>
            <a:endParaRPr lang="en-US" sz="1600" dirty="0"/>
          </a:p>
        </p:txBody>
      </p:sp>
    </p:spTree>
  </p:cSld>
  <p:clrMapOvr>
    <a:masterClrMapping/>
  </p:clrMapOvr>
  <p:transition>
    <p:fade/>
    <p:spd val="med"/>
  </p:transition>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86343" y="486343"/>
            <a:ext cx="15380583" cy="291806"/>
          </a:xfrm>
          <a:prstGeom prst="rect">
            <a:avLst/>
          </a:prstGeom>
          <a:noFill/>
          <a:ln/>
        </p:spPr>
        <p:txBody>
          <a:bodyPr wrap="square" lIns="0" tIns="0" rIns="0" bIns="0" rtlCol="0" anchor="ctr"/>
          <a:lstStyle/>
          <a:p>
            <a:pPr>
              <a:lnSpc>
                <a:spcPct val="130000"/>
              </a:lnSpc>
            </a:pPr>
            <a:r>
              <a:rPr lang="en-US" sz="1532" b="1" spc="77" kern="0" dirty="0">
                <a:solidFill>
                  <a:srgbClr val="7E9AA8"/>
                </a:solidFill>
                <a:latin typeface="MiSans" pitchFamily="34" charset="0"/>
                <a:ea typeface="MiSans" pitchFamily="34" charset="-122"/>
                <a:cs typeface="MiSans" pitchFamily="34" charset="-120"/>
              </a:rPr>
              <a:t>RANDOM FOREST</a:t>
            </a:r>
            <a:endParaRPr lang="en-US" sz="1600" dirty="0"/>
          </a:p>
        </p:txBody>
      </p:sp>
      <p:sp>
        <p:nvSpPr>
          <p:cNvPr id="3" name="Text 1"/>
          <p:cNvSpPr/>
          <p:nvPr/>
        </p:nvSpPr>
        <p:spPr>
          <a:xfrm>
            <a:off x="486343" y="875417"/>
            <a:ext cx="15502169" cy="486343"/>
          </a:xfrm>
          <a:prstGeom prst="rect">
            <a:avLst/>
          </a:prstGeom>
          <a:noFill/>
          <a:ln/>
        </p:spPr>
        <p:txBody>
          <a:bodyPr wrap="square" lIns="0" tIns="0" rIns="0" bIns="0" rtlCol="0" anchor="ctr"/>
          <a:lstStyle/>
          <a:p>
            <a:pPr>
              <a:lnSpc>
                <a:spcPct val="90000"/>
              </a:lnSpc>
            </a:pPr>
            <a:r>
              <a:rPr lang="en-US" sz="3447" b="1" dirty="0">
                <a:solidFill>
                  <a:srgbClr val="D1D5DB"/>
                </a:solidFill>
                <a:latin typeface="阿里妈妈数黑体" pitchFamily="34" charset="0"/>
                <a:ea typeface="阿里妈妈数黑体" pitchFamily="34" charset="-122"/>
                <a:cs typeface="阿里妈妈数黑体" pitchFamily="34" charset="-120"/>
              </a:rPr>
              <a:t>随机森林算法定义</a:t>
            </a:r>
            <a:endParaRPr lang="en-US" sz="1600" dirty="0"/>
          </a:p>
        </p:txBody>
      </p:sp>
      <p:sp>
        <p:nvSpPr>
          <p:cNvPr id="4" name="Shape 2"/>
          <p:cNvSpPr/>
          <p:nvPr/>
        </p:nvSpPr>
        <p:spPr>
          <a:xfrm>
            <a:off x="486343" y="1507662"/>
            <a:ext cx="1167222" cy="48634"/>
          </a:xfrm>
          <a:custGeom>
            <a:avLst/>
            <a:gdLst/>
            <a:ahLst/>
            <a:cxnLst/>
            <a:rect l="l" t="t" r="r" b="b"/>
            <a:pathLst>
              <a:path w="1167222" h="48634">
                <a:moveTo>
                  <a:pt x="0" y="0"/>
                </a:moveTo>
                <a:lnTo>
                  <a:pt x="1167222" y="0"/>
                </a:lnTo>
                <a:lnTo>
                  <a:pt x="1167222" y="48634"/>
                </a:lnTo>
                <a:lnTo>
                  <a:pt x="0" y="48634"/>
                </a:lnTo>
                <a:lnTo>
                  <a:pt x="0" y="0"/>
                </a:lnTo>
                <a:close/>
              </a:path>
            </a:pathLst>
          </a:custGeom>
          <a:solidFill>
            <a:srgbClr val="4C7E9A"/>
          </a:solidFill>
          <a:ln/>
        </p:spPr>
      </p:sp>
      <p:sp>
        <p:nvSpPr>
          <p:cNvPr id="5" name="Shape 3"/>
          <p:cNvSpPr/>
          <p:nvPr/>
        </p:nvSpPr>
        <p:spPr>
          <a:xfrm>
            <a:off x="510660" y="1750833"/>
            <a:ext cx="7489675" cy="2662726"/>
          </a:xfrm>
          <a:custGeom>
            <a:avLst/>
            <a:gdLst/>
            <a:ahLst/>
            <a:cxnLst/>
            <a:rect l="l" t="t" r="r" b="b"/>
            <a:pathLst>
              <a:path w="7489675" h="2662726">
                <a:moveTo>
                  <a:pt x="48634" y="0"/>
                </a:moveTo>
                <a:lnTo>
                  <a:pt x="7392406" y="0"/>
                </a:lnTo>
                <a:cubicBezTo>
                  <a:pt x="7446126" y="0"/>
                  <a:pt x="7489675" y="43549"/>
                  <a:pt x="7489675" y="97269"/>
                </a:cubicBezTo>
                <a:lnTo>
                  <a:pt x="7489675" y="2565456"/>
                </a:lnTo>
                <a:cubicBezTo>
                  <a:pt x="7489675" y="2619177"/>
                  <a:pt x="7446126" y="2662726"/>
                  <a:pt x="7392406" y="2662726"/>
                </a:cubicBezTo>
                <a:lnTo>
                  <a:pt x="48634" y="2662726"/>
                </a:lnTo>
                <a:cubicBezTo>
                  <a:pt x="21774" y="2662726"/>
                  <a:pt x="0" y="2640951"/>
                  <a:pt x="0" y="2614091"/>
                </a:cubicBezTo>
                <a:lnTo>
                  <a:pt x="0" y="48634"/>
                </a:lnTo>
                <a:cubicBezTo>
                  <a:pt x="0" y="21792"/>
                  <a:pt x="21792" y="0"/>
                  <a:pt x="48634" y="0"/>
                </a:cubicBezTo>
                <a:close/>
              </a:path>
            </a:pathLst>
          </a:custGeom>
          <a:solidFill>
            <a:srgbClr val="3A5E78">
              <a:alpha val="20000"/>
            </a:srgbClr>
          </a:solidFill>
          <a:ln/>
        </p:spPr>
      </p:sp>
      <p:sp>
        <p:nvSpPr>
          <p:cNvPr id="6" name="Shape 4"/>
          <p:cNvSpPr/>
          <p:nvPr/>
        </p:nvSpPr>
        <p:spPr>
          <a:xfrm>
            <a:off x="510660" y="1750833"/>
            <a:ext cx="48634" cy="2662726"/>
          </a:xfrm>
          <a:custGeom>
            <a:avLst/>
            <a:gdLst/>
            <a:ahLst/>
            <a:cxnLst/>
            <a:rect l="l" t="t" r="r" b="b"/>
            <a:pathLst>
              <a:path w="48634" h="2662726">
                <a:moveTo>
                  <a:pt x="48634" y="0"/>
                </a:moveTo>
                <a:lnTo>
                  <a:pt x="48634" y="0"/>
                </a:lnTo>
                <a:lnTo>
                  <a:pt x="48634" y="2662726"/>
                </a:lnTo>
                <a:lnTo>
                  <a:pt x="48634" y="2662726"/>
                </a:lnTo>
                <a:cubicBezTo>
                  <a:pt x="21774" y="2662726"/>
                  <a:pt x="0" y="2640951"/>
                  <a:pt x="0" y="2614091"/>
                </a:cubicBezTo>
                <a:lnTo>
                  <a:pt x="0" y="48634"/>
                </a:lnTo>
                <a:cubicBezTo>
                  <a:pt x="0" y="21792"/>
                  <a:pt x="21792" y="0"/>
                  <a:pt x="48634" y="0"/>
                </a:cubicBezTo>
                <a:close/>
              </a:path>
            </a:pathLst>
          </a:custGeom>
          <a:solidFill>
            <a:srgbClr val="4C7E9A"/>
          </a:solidFill>
          <a:ln/>
        </p:spPr>
      </p:sp>
      <p:sp>
        <p:nvSpPr>
          <p:cNvPr id="7" name="Text 5"/>
          <p:cNvSpPr/>
          <p:nvPr/>
        </p:nvSpPr>
        <p:spPr>
          <a:xfrm>
            <a:off x="729514" y="1945370"/>
            <a:ext cx="7222187" cy="389074"/>
          </a:xfrm>
          <a:prstGeom prst="rect">
            <a:avLst/>
          </a:prstGeom>
          <a:noFill/>
          <a:ln/>
        </p:spPr>
        <p:txBody>
          <a:bodyPr wrap="square" lIns="0" tIns="0" rIns="0" bIns="0" rtlCol="0" anchor="ctr"/>
          <a:lstStyle/>
          <a:p>
            <a:pPr>
              <a:lnSpc>
                <a:spcPct val="110000"/>
              </a:lnSpc>
            </a:pPr>
            <a:r>
              <a:rPr lang="en-US" sz="2298" b="1" dirty="0">
                <a:solidFill>
                  <a:srgbClr val="4C7E9A"/>
                </a:solidFill>
                <a:latin typeface="MiSans" pitchFamily="34" charset="0"/>
                <a:ea typeface="MiSans" pitchFamily="34" charset="-122"/>
                <a:cs typeface="MiSans" pitchFamily="34" charset="-120"/>
              </a:rPr>
              <a:t>核心定义</a:t>
            </a:r>
            <a:endParaRPr lang="en-US" sz="1600" dirty="0"/>
          </a:p>
        </p:txBody>
      </p:sp>
      <p:sp>
        <p:nvSpPr>
          <p:cNvPr id="8" name="Text 6"/>
          <p:cNvSpPr/>
          <p:nvPr/>
        </p:nvSpPr>
        <p:spPr>
          <a:xfrm>
            <a:off x="729514" y="2480347"/>
            <a:ext cx="7185711" cy="717355"/>
          </a:xfrm>
          <a:prstGeom prst="rect">
            <a:avLst/>
          </a:prstGeom>
          <a:noFill/>
          <a:ln/>
        </p:spPr>
        <p:txBody>
          <a:bodyPr wrap="square" lIns="0" tIns="0" rIns="0" bIns="0" rtlCol="0" anchor="ctr"/>
          <a:lstStyle/>
          <a:p>
            <a:pPr>
              <a:lnSpc>
                <a:spcPct val="140000"/>
              </a:lnSpc>
            </a:pPr>
            <a:r>
              <a:rPr lang="en-US" sz="1723" dirty="0">
                <a:solidFill>
                  <a:srgbClr val="D1D5DB"/>
                </a:solidFill>
                <a:latin typeface="MiSans" pitchFamily="34" charset="0"/>
                <a:ea typeface="MiSans" pitchFamily="34" charset="-122"/>
                <a:cs typeface="MiSans" pitchFamily="34" charset="-120"/>
              </a:rPr>
              <a:t>随机森林（Random Forest）是一种集成学习方法，通过</a:t>
            </a:r>
            <a:pPr>
              <a:lnSpc>
                <a:spcPct val="140000"/>
              </a:lnSpc>
            </a:pPr>
            <a:r>
              <a:rPr lang="en-US" sz="1723" b="1" dirty="0">
                <a:solidFill>
                  <a:srgbClr val="4C7E9A"/>
                </a:solidFill>
                <a:latin typeface="MiSans" pitchFamily="34" charset="0"/>
                <a:ea typeface="MiSans" pitchFamily="34" charset="-122"/>
                <a:cs typeface="MiSans" pitchFamily="34" charset="-120"/>
              </a:rPr>
              <a:t>构建多个决策树并整合其结果</a:t>
            </a:r>
            <a:pPr>
              <a:lnSpc>
                <a:spcPct val="140000"/>
              </a:lnSpc>
            </a:pPr>
            <a:r>
              <a:rPr lang="en-US" sz="1723" dirty="0">
                <a:solidFill>
                  <a:srgbClr val="D1D5DB"/>
                </a:solidFill>
                <a:latin typeface="MiSans" pitchFamily="34" charset="0"/>
                <a:ea typeface="MiSans" pitchFamily="34" charset="-122"/>
                <a:cs typeface="MiSans" pitchFamily="34" charset="-120"/>
              </a:rPr>
              <a:t>，利用降低方差的策略提高泛化能力、减少过拟合风险。</a:t>
            </a:r>
            <a:endParaRPr lang="en-US" sz="1600" dirty="0"/>
          </a:p>
        </p:txBody>
      </p:sp>
      <p:sp>
        <p:nvSpPr>
          <p:cNvPr id="9" name="Shape 7"/>
          <p:cNvSpPr/>
          <p:nvPr/>
        </p:nvSpPr>
        <p:spPr>
          <a:xfrm>
            <a:off x="729514" y="3337526"/>
            <a:ext cx="7076284" cy="875417"/>
          </a:xfrm>
          <a:custGeom>
            <a:avLst/>
            <a:gdLst/>
            <a:ahLst/>
            <a:cxnLst/>
            <a:rect l="l" t="t" r="r" b="b"/>
            <a:pathLst>
              <a:path w="7076284" h="875417">
                <a:moveTo>
                  <a:pt x="97268" y="0"/>
                </a:moveTo>
                <a:lnTo>
                  <a:pt x="6979017" y="0"/>
                </a:lnTo>
                <a:cubicBezTo>
                  <a:pt x="7032736" y="0"/>
                  <a:pt x="7076284" y="43548"/>
                  <a:pt x="7076284" y="97268"/>
                </a:cubicBezTo>
                <a:lnTo>
                  <a:pt x="7076284" y="778149"/>
                </a:lnTo>
                <a:cubicBezTo>
                  <a:pt x="7076284" y="831868"/>
                  <a:pt x="7032736" y="875417"/>
                  <a:pt x="6979017" y="875417"/>
                </a:cubicBezTo>
                <a:lnTo>
                  <a:pt x="97268" y="875417"/>
                </a:lnTo>
                <a:cubicBezTo>
                  <a:pt x="43548" y="875417"/>
                  <a:pt x="0" y="831868"/>
                  <a:pt x="0" y="778149"/>
                </a:cubicBezTo>
                <a:lnTo>
                  <a:pt x="0" y="97268"/>
                </a:lnTo>
                <a:cubicBezTo>
                  <a:pt x="0" y="43584"/>
                  <a:pt x="43584" y="0"/>
                  <a:pt x="97268" y="0"/>
                </a:cubicBezTo>
                <a:close/>
              </a:path>
            </a:pathLst>
          </a:custGeom>
          <a:solidFill>
            <a:srgbClr val="181A1F">
              <a:alpha val="50196"/>
            </a:srgbClr>
          </a:solidFill>
          <a:ln/>
        </p:spPr>
      </p:sp>
      <p:sp>
        <p:nvSpPr>
          <p:cNvPr id="10" name="Shape 8"/>
          <p:cNvSpPr/>
          <p:nvPr/>
        </p:nvSpPr>
        <p:spPr>
          <a:xfrm>
            <a:off x="911892" y="3538142"/>
            <a:ext cx="170220" cy="194537"/>
          </a:xfrm>
          <a:custGeom>
            <a:avLst/>
            <a:gdLst/>
            <a:ahLst/>
            <a:cxnLst/>
            <a:rect l="l" t="t" r="r" b="b"/>
            <a:pathLst>
              <a:path w="170220" h="194537">
                <a:moveTo>
                  <a:pt x="0" y="82070"/>
                </a:moveTo>
                <a:cubicBezTo>
                  <a:pt x="0" y="56879"/>
                  <a:pt x="20404" y="36476"/>
                  <a:pt x="45595" y="36476"/>
                </a:cubicBezTo>
                <a:lnTo>
                  <a:pt x="48634" y="36476"/>
                </a:lnTo>
                <a:cubicBezTo>
                  <a:pt x="55359" y="36476"/>
                  <a:pt x="60793" y="41909"/>
                  <a:pt x="60793" y="48634"/>
                </a:cubicBezTo>
                <a:cubicBezTo>
                  <a:pt x="60793" y="55359"/>
                  <a:pt x="55359" y="60793"/>
                  <a:pt x="48634" y="60793"/>
                </a:cubicBezTo>
                <a:lnTo>
                  <a:pt x="45595" y="60793"/>
                </a:lnTo>
                <a:cubicBezTo>
                  <a:pt x="33854" y="60793"/>
                  <a:pt x="24317" y="70330"/>
                  <a:pt x="24317" y="82070"/>
                </a:cubicBezTo>
                <a:lnTo>
                  <a:pt x="24317" y="85110"/>
                </a:lnTo>
                <a:lnTo>
                  <a:pt x="48634" y="85110"/>
                </a:lnTo>
                <a:cubicBezTo>
                  <a:pt x="62047" y="85110"/>
                  <a:pt x="72951" y="96015"/>
                  <a:pt x="72951" y="109427"/>
                </a:cubicBezTo>
                <a:lnTo>
                  <a:pt x="72951" y="133744"/>
                </a:lnTo>
                <a:cubicBezTo>
                  <a:pt x="72951" y="147157"/>
                  <a:pt x="62047" y="158061"/>
                  <a:pt x="48634" y="158061"/>
                </a:cubicBezTo>
                <a:lnTo>
                  <a:pt x="24317" y="158061"/>
                </a:lnTo>
                <a:cubicBezTo>
                  <a:pt x="10905" y="158061"/>
                  <a:pt x="0" y="147157"/>
                  <a:pt x="0" y="133744"/>
                </a:cubicBezTo>
                <a:lnTo>
                  <a:pt x="0" y="82070"/>
                </a:lnTo>
                <a:close/>
                <a:moveTo>
                  <a:pt x="97269" y="82070"/>
                </a:moveTo>
                <a:cubicBezTo>
                  <a:pt x="97269" y="56879"/>
                  <a:pt x="117672" y="36476"/>
                  <a:pt x="142863" y="36476"/>
                </a:cubicBezTo>
                <a:lnTo>
                  <a:pt x="145903" y="36476"/>
                </a:lnTo>
                <a:cubicBezTo>
                  <a:pt x="152628" y="36476"/>
                  <a:pt x="158061" y="41909"/>
                  <a:pt x="158061" y="48634"/>
                </a:cubicBezTo>
                <a:cubicBezTo>
                  <a:pt x="158061" y="55359"/>
                  <a:pt x="152628" y="60793"/>
                  <a:pt x="145903" y="60793"/>
                </a:cubicBezTo>
                <a:lnTo>
                  <a:pt x="142863" y="60793"/>
                </a:lnTo>
                <a:cubicBezTo>
                  <a:pt x="131123" y="60793"/>
                  <a:pt x="121586" y="70330"/>
                  <a:pt x="121586" y="82070"/>
                </a:cubicBezTo>
                <a:lnTo>
                  <a:pt x="121586" y="85110"/>
                </a:lnTo>
                <a:lnTo>
                  <a:pt x="145903" y="85110"/>
                </a:lnTo>
                <a:cubicBezTo>
                  <a:pt x="159315" y="85110"/>
                  <a:pt x="170220" y="96015"/>
                  <a:pt x="170220" y="109427"/>
                </a:cubicBezTo>
                <a:lnTo>
                  <a:pt x="170220" y="133744"/>
                </a:lnTo>
                <a:cubicBezTo>
                  <a:pt x="170220" y="147157"/>
                  <a:pt x="159315" y="158061"/>
                  <a:pt x="145903" y="158061"/>
                </a:cubicBezTo>
                <a:lnTo>
                  <a:pt x="121586" y="158061"/>
                </a:lnTo>
                <a:cubicBezTo>
                  <a:pt x="108173" y="158061"/>
                  <a:pt x="97269" y="147157"/>
                  <a:pt x="97269" y="133744"/>
                </a:cubicBezTo>
                <a:lnTo>
                  <a:pt x="97269" y="82070"/>
                </a:lnTo>
                <a:close/>
              </a:path>
            </a:pathLst>
          </a:custGeom>
          <a:solidFill>
            <a:srgbClr val="4C7E9A"/>
          </a:solidFill>
          <a:ln/>
        </p:spPr>
      </p:sp>
      <p:sp>
        <p:nvSpPr>
          <p:cNvPr id="11" name="Text 9"/>
          <p:cNvSpPr/>
          <p:nvPr/>
        </p:nvSpPr>
        <p:spPr>
          <a:xfrm>
            <a:off x="1211710" y="3483429"/>
            <a:ext cx="6545454" cy="583611"/>
          </a:xfrm>
          <a:prstGeom prst="rect">
            <a:avLst/>
          </a:prstGeom>
          <a:noFill/>
          <a:ln/>
        </p:spPr>
        <p:txBody>
          <a:bodyPr wrap="square" lIns="0" tIns="0" rIns="0" bIns="0" rtlCol="0" anchor="ctr"/>
          <a:lstStyle/>
          <a:p>
            <a:pPr>
              <a:lnSpc>
                <a:spcPct val="130000"/>
              </a:lnSpc>
            </a:pPr>
            <a:r>
              <a:rPr lang="en-US" sz="1532" dirty="0">
                <a:solidFill>
                  <a:srgbClr val="7E9AA8"/>
                </a:solidFill>
                <a:latin typeface="MiSans" pitchFamily="34" charset="0"/>
                <a:ea typeface="MiSans" pitchFamily="34" charset="-122"/>
                <a:cs typeface="MiSans" pitchFamily="34" charset="-120"/>
              </a:rPr>
              <a:t>核心思想：通过"双重随机"机制（样本随机+特征随机）构建多样化的决策树</a:t>
            </a:r>
            <a:endParaRPr lang="en-US" sz="1600" dirty="0"/>
          </a:p>
        </p:txBody>
      </p:sp>
      <p:sp>
        <p:nvSpPr>
          <p:cNvPr id="12" name="Shape 10"/>
          <p:cNvSpPr/>
          <p:nvPr/>
        </p:nvSpPr>
        <p:spPr>
          <a:xfrm>
            <a:off x="510660" y="4602016"/>
            <a:ext cx="7489675" cy="3550301"/>
          </a:xfrm>
          <a:custGeom>
            <a:avLst/>
            <a:gdLst/>
            <a:ahLst/>
            <a:cxnLst/>
            <a:rect l="l" t="t" r="r" b="b"/>
            <a:pathLst>
              <a:path w="7489675" h="3550301">
                <a:moveTo>
                  <a:pt x="48634" y="0"/>
                </a:moveTo>
                <a:lnTo>
                  <a:pt x="7392397" y="0"/>
                </a:lnTo>
                <a:cubicBezTo>
                  <a:pt x="7446122" y="0"/>
                  <a:pt x="7489675" y="43553"/>
                  <a:pt x="7489675" y="97278"/>
                </a:cubicBezTo>
                <a:lnTo>
                  <a:pt x="7489675" y="3453022"/>
                </a:lnTo>
                <a:cubicBezTo>
                  <a:pt x="7489675" y="3506748"/>
                  <a:pt x="7446122" y="3550301"/>
                  <a:pt x="7392397" y="3550301"/>
                </a:cubicBezTo>
                <a:lnTo>
                  <a:pt x="48634" y="3550301"/>
                </a:lnTo>
                <a:cubicBezTo>
                  <a:pt x="21774" y="3550301"/>
                  <a:pt x="0" y="3528526"/>
                  <a:pt x="0" y="3501666"/>
                </a:cubicBezTo>
                <a:lnTo>
                  <a:pt x="0" y="48634"/>
                </a:lnTo>
                <a:cubicBezTo>
                  <a:pt x="0" y="21792"/>
                  <a:pt x="21792" y="0"/>
                  <a:pt x="48634" y="0"/>
                </a:cubicBezTo>
                <a:close/>
              </a:path>
            </a:pathLst>
          </a:custGeom>
          <a:solidFill>
            <a:srgbClr val="3A5E78">
              <a:alpha val="20000"/>
            </a:srgbClr>
          </a:solidFill>
          <a:ln/>
        </p:spPr>
      </p:sp>
      <p:sp>
        <p:nvSpPr>
          <p:cNvPr id="13" name="Shape 11"/>
          <p:cNvSpPr/>
          <p:nvPr/>
        </p:nvSpPr>
        <p:spPr>
          <a:xfrm>
            <a:off x="510660" y="4602016"/>
            <a:ext cx="48634" cy="3550301"/>
          </a:xfrm>
          <a:custGeom>
            <a:avLst/>
            <a:gdLst/>
            <a:ahLst/>
            <a:cxnLst/>
            <a:rect l="l" t="t" r="r" b="b"/>
            <a:pathLst>
              <a:path w="48634" h="3550301">
                <a:moveTo>
                  <a:pt x="48634" y="0"/>
                </a:moveTo>
                <a:lnTo>
                  <a:pt x="48634" y="0"/>
                </a:lnTo>
                <a:lnTo>
                  <a:pt x="48634" y="3550301"/>
                </a:lnTo>
                <a:lnTo>
                  <a:pt x="48634" y="3550301"/>
                </a:lnTo>
                <a:cubicBezTo>
                  <a:pt x="21774" y="3550301"/>
                  <a:pt x="0" y="3528526"/>
                  <a:pt x="0" y="3501666"/>
                </a:cubicBezTo>
                <a:lnTo>
                  <a:pt x="0" y="48634"/>
                </a:lnTo>
                <a:cubicBezTo>
                  <a:pt x="0" y="21792"/>
                  <a:pt x="21792" y="0"/>
                  <a:pt x="48634" y="0"/>
                </a:cubicBezTo>
                <a:close/>
              </a:path>
            </a:pathLst>
          </a:custGeom>
          <a:solidFill>
            <a:srgbClr val="7E9AA8"/>
          </a:solidFill>
          <a:ln/>
        </p:spPr>
      </p:sp>
      <p:sp>
        <p:nvSpPr>
          <p:cNvPr id="14" name="Text 12"/>
          <p:cNvSpPr/>
          <p:nvPr/>
        </p:nvSpPr>
        <p:spPr>
          <a:xfrm>
            <a:off x="729514" y="4796553"/>
            <a:ext cx="7222187" cy="389074"/>
          </a:xfrm>
          <a:prstGeom prst="rect">
            <a:avLst/>
          </a:prstGeom>
          <a:noFill/>
          <a:ln/>
        </p:spPr>
        <p:txBody>
          <a:bodyPr wrap="square" lIns="0" tIns="0" rIns="0" bIns="0" rtlCol="0" anchor="ctr"/>
          <a:lstStyle/>
          <a:p>
            <a:pPr>
              <a:lnSpc>
                <a:spcPct val="110000"/>
              </a:lnSpc>
            </a:pPr>
            <a:r>
              <a:rPr lang="en-US" sz="2298" b="1" dirty="0">
                <a:solidFill>
                  <a:srgbClr val="7E9AA8"/>
                </a:solidFill>
                <a:latin typeface="MiSans" pitchFamily="34" charset="0"/>
                <a:ea typeface="MiSans" pitchFamily="34" charset="-122"/>
                <a:cs typeface="MiSans" pitchFamily="34" charset="-120"/>
              </a:rPr>
              <a:t>主要特点</a:t>
            </a:r>
            <a:endParaRPr lang="en-US" sz="1600" dirty="0"/>
          </a:p>
        </p:txBody>
      </p:sp>
      <p:sp>
        <p:nvSpPr>
          <p:cNvPr id="15" name="Shape 13"/>
          <p:cNvSpPr/>
          <p:nvPr/>
        </p:nvSpPr>
        <p:spPr>
          <a:xfrm>
            <a:off x="759910" y="5380165"/>
            <a:ext cx="243171" cy="243171"/>
          </a:xfrm>
          <a:custGeom>
            <a:avLst/>
            <a:gdLst/>
            <a:ahLst/>
            <a:cxnLst/>
            <a:rect l="l" t="t" r="r" b="b"/>
            <a:pathLst>
              <a:path w="243171" h="243171">
                <a:moveTo>
                  <a:pt x="191782" y="16338"/>
                </a:moveTo>
                <a:cubicBezTo>
                  <a:pt x="197482" y="13963"/>
                  <a:pt x="203988" y="15293"/>
                  <a:pt x="208358" y="19615"/>
                </a:cubicBezTo>
                <a:lnTo>
                  <a:pt x="238754" y="50012"/>
                </a:lnTo>
                <a:cubicBezTo>
                  <a:pt x="241604" y="52861"/>
                  <a:pt x="243219" y="56708"/>
                  <a:pt x="243219" y="60745"/>
                </a:cubicBezTo>
                <a:cubicBezTo>
                  <a:pt x="243219" y="64782"/>
                  <a:pt x="241604" y="68629"/>
                  <a:pt x="238754" y="71479"/>
                </a:cubicBezTo>
                <a:lnTo>
                  <a:pt x="208358" y="101875"/>
                </a:lnTo>
                <a:cubicBezTo>
                  <a:pt x="203988" y="106245"/>
                  <a:pt x="197482" y="107527"/>
                  <a:pt x="191782" y="105153"/>
                </a:cubicBezTo>
                <a:cubicBezTo>
                  <a:pt x="186083" y="102778"/>
                  <a:pt x="182378" y="97316"/>
                  <a:pt x="182378" y="91189"/>
                </a:cubicBezTo>
                <a:lnTo>
                  <a:pt x="182378" y="75991"/>
                </a:lnTo>
                <a:lnTo>
                  <a:pt x="167180" y="75991"/>
                </a:lnTo>
                <a:cubicBezTo>
                  <a:pt x="162383" y="75991"/>
                  <a:pt x="157871" y="78223"/>
                  <a:pt x="155022" y="82070"/>
                </a:cubicBezTo>
                <a:lnTo>
                  <a:pt x="139634" y="102588"/>
                </a:lnTo>
                <a:lnTo>
                  <a:pt x="120636" y="77273"/>
                </a:lnTo>
                <a:lnTo>
                  <a:pt x="130705" y="63832"/>
                </a:lnTo>
                <a:cubicBezTo>
                  <a:pt x="139301" y="52339"/>
                  <a:pt x="152837" y="45595"/>
                  <a:pt x="167180" y="45595"/>
                </a:cubicBezTo>
                <a:lnTo>
                  <a:pt x="182378" y="45595"/>
                </a:lnTo>
                <a:lnTo>
                  <a:pt x="182378" y="30396"/>
                </a:lnTo>
                <a:cubicBezTo>
                  <a:pt x="182378" y="24270"/>
                  <a:pt x="186083" y="18713"/>
                  <a:pt x="191782" y="16338"/>
                </a:cubicBezTo>
                <a:close/>
                <a:moveTo>
                  <a:pt x="73141" y="140583"/>
                </a:moveTo>
                <a:lnTo>
                  <a:pt x="92139" y="165898"/>
                </a:lnTo>
                <a:lnTo>
                  <a:pt x="82070" y="179339"/>
                </a:lnTo>
                <a:cubicBezTo>
                  <a:pt x="73474" y="190832"/>
                  <a:pt x="59938" y="197577"/>
                  <a:pt x="45595" y="197577"/>
                </a:cubicBezTo>
                <a:lnTo>
                  <a:pt x="15198" y="197577"/>
                </a:lnTo>
                <a:cubicBezTo>
                  <a:pt x="6792" y="197577"/>
                  <a:pt x="0" y="190785"/>
                  <a:pt x="0" y="182378"/>
                </a:cubicBezTo>
                <a:cubicBezTo>
                  <a:pt x="0" y="173972"/>
                  <a:pt x="6792" y="167180"/>
                  <a:pt x="15198" y="167180"/>
                </a:cubicBezTo>
                <a:lnTo>
                  <a:pt x="45595" y="167180"/>
                </a:lnTo>
                <a:cubicBezTo>
                  <a:pt x="50392" y="167180"/>
                  <a:pt x="54904" y="164948"/>
                  <a:pt x="57753" y="161101"/>
                </a:cubicBezTo>
                <a:lnTo>
                  <a:pt x="73141" y="140583"/>
                </a:lnTo>
                <a:close/>
                <a:moveTo>
                  <a:pt x="208310" y="223509"/>
                </a:moveTo>
                <a:cubicBezTo>
                  <a:pt x="203941" y="227878"/>
                  <a:pt x="197434" y="229160"/>
                  <a:pt x="191735" y="226786"/>
                </a:cubicBezTo>
                <a:cubicBezTo>
                  <a:pt x="186036" y="224411"/>
                  <a:pt x="182378" y="218902"/>
                  <a:pt x="182378" y="212775"/>
                </a:cubicBezTo>
                <a:lnTo>
                  <a:pt x="182378" y="197577"/>
                </a:lnTo>
                <a:lnTo>
                  <a:pt x="167180" y="197577"/>
                </a:lnTo>
                <a:cubicBezTo>
                  <a:pt x="152837" y="197577"/>
                  <a:pt x="139301" y="190832"/>
                  <a:pt x="130705" y="179339"/>
                </a:cubicBezTo>
                <a:lnTo>
                  <a:pt x="57753" y="82070"/>
                </a:lnTo>
                <a:cubicBezTo>
                  <a:pt x="54904" y="78223"/>
                  <a:pt x="50392" y="75991"/>
                  <a:pt x="45595" y="75991"/>
                </a:cubicBezTo>
                <a:lnTo>
                  <a:pt x="15198" y="75991"/>
                </a:lnTo>
                <a:cubicBezTo>
                  <a:pt x="6792" y="75991"/>
                  <a:pt x="0" y="69199"/>
                  <a:pt x="0" y="60793"/>
                </a:cubicBezTo>
                <a:cubicBezTo>
                  <a:pt x="0" y="52386"/>
                  <a:pt x="6792" y="45595"/>
                  <a:pt x="15198" y="45595"/>
                </a:cubicBezTo>
                <a:lnTo>
                  <a:pt x="45595" y="45595"/>
                </a:lnTo>
                <a:cubicBezTo>
                  <a:pt x="59938" y="45595"/>
                  <a:pt x="73474" y="52339"/>
                  <a:pt x="82070" y="63832"/>
                </a:cubicBezTo>
                <a:lnTo>
                  <a:pt x="155022" y="161101"/>
                </a:lnTo>
                <a:cubicBezTo>
                  <a:pt x="157871" y="164948"/>
                  <a:pt x="162383" y="167180"/>
                  <a:pt x="167180" y="167180"/>
                </a:cubicBezTo>
                <a:lnTo>
                  <a:pt x="182378" y="167180"/>
                </a:lnTo>
                <a:lnTo>
                  <a:pt x="182378" y="151982"/>
                </a:lnTo>
                <a:cubicBezTo>
                  <a:pt x="182378" y="145855"/>
                  <a:pt x="186083" y="140298"/>
                  <a:pt x="191782" y="137924"/>
                </a:cubicBezTo>
                <a:cubicBezTo>
                  <a:pt x="197482" y="135549"/>
                  <a:pt x="203988" y="136879"/>
                  <a:pt x="208358" y="141201"/>
                </a:cubicBezTo>
                <a:lnTo>
                  <a:pt x="238754" y="171597"/>
                </a:lnTo>
                <a:cubicBezTo>
                  <a:pt x="241604" y="174447"/>
                  <a:pt x="243219" y="178294"/>
                  <a:pt x="243219" y="182331"/>
                </a:cubicBezTo>
                <a:cubicBezTo>
                  <a:pt x="243219" y="186368"/>
                  <a:pt x="241604" y="190215"/>
                  <a:pt x="238754" y="193065"/>
                </a:cubicBezTo>
                <a:lnTo>
                  <a:pt x="208358" y="223461"/>
                </a:lnTo>
                <a:close/>
              </a:path>
            </a:pathLst>
          </a:custGeom>
          <a:solidFill>
            <a:srgbClr val="4C7E9A"/>
          </a:solidFill>
          <a:ln/>
        </p:spPr>
      </p:sp>
      <p:sp>
        <p:nvSpPr>
          <p:cNvPr id="16" name="Text 14"/>
          <p:cNvSpPr/>
          <p:nvPr/>
        </p:nvSpPr>
        <p:spPr>
          <a:xfrm>
            <a:off x="1179381" y="5331530"/>
            <a:ext cx="2431713" cy="340440"/>
          </a:xfrm>
          <a:prstGeom prst="rect">
            <a:avLst/>
          </a:prstGeom>
          <a:noFill/>
          <a:ln/>
        </p:spPr>
        <p:txBody>
          <a:bodyPr wrap="square" lIns="0" tIns="0" rIns="0" bIns="0" rtlCol="0" anchor="ctr"/>
          <a:lstStyle/>
          <a:p>
            <a:pPr>
              <a:lnSpc>
                <a:spcPct val="130000"/>
              </a:lnSpc>
            </a:pPr>
            <a:r>
              <a:rPr lang="en-US" sz="1723" b="1" dirty="0">
                <a:solidFill>
                  <a:srgbClr val="D1D5DB"/>
                </a:solidFill>
                <a:latin typeface="MiSans" pitchFamily="34" charset="0"/>
                <a:ea typeface="MiSans" pitchFamily="34" charset="-122"/>
                <a:cs typeface="MiSans" pitchFamily="34" charset="-120"/>
              </a:rPr>
              <a:t>双重随机性</a:t>
            </a:r>
            <a:endParaRPr lang="en-US" sz="1600" dirty="0"/>
          </a:p>
        </p:txBody>
      </p:sp>
      <p:sp>
        <p:nvSpPr>
          <p:cNvPr id="17" name="Text 15"/>
          <p:cNvSpPr/>
          <p:nvPr/>
        </p:nvSpPr>
        <p:spPr>
          <a:xfrm>
            <a:off x="1179381" y="5671970"/>
            <a:ext cx="2407396" cy="243171"/>
          </a:xfrm>
          <a:prstGeom prst="rect">
            <a:avLst/>
          </a:prstGeom>
          <a:noFill/>
          <a:ln/>
        </p:spPr>
        <p:txBody>
          <a:bodyPr wrap="square" lIns="0" tIns="0" rIns="0" bIns="0" rtlCol="0" anchor="ctr"/>
          <a:lstStyle/>
          <a:p>
            <a:pPr>
              <a:lnSpc>
                <a:spcPct val="120000"/>
              </a:lnSpc>
            </a:pPr>
            <a:r>
              <a:rPr lang="en-US" sz="1340" dirty="0">
                <a:solidFill>
                  <a:srgbClr val="7E9AA8"/>
                </a:solidFill>
                <a:latin typeface="MiSans" pitchFamily="34" charset="0"/>
                <a:ea typeface="MiSans" pitchFamily="34" charset="-122"/>
                <a:cs typeface="MiSans" pitchFamily="34" charset="-120"/>
              </a:rPr>
              <a:t>Bootstrap采样 + 特征随机选择</a:t>
            </a:r>
            <a:endParaRPr lang="en-US" sz="1600" dirty="0"/>
          </a:p>
        </p:txBody>
      </p:sp>
      <p:sp>
        <p:nvSpPr>
          <p:cNvPr id="18" name="Shape 16"/>
          <p:cNvSpPr/>
          <p:nvPr/>
        </p:nvSpPr>
        <p:spPr>
          <a:xfrm>
            <a:off x="759910" y="6061044"/>
            <a:ext cx="243171" cy="243171"/>
          </a:xfrm>
          <a:custGeom>
            <a:avLst/>
            <a:gdLst/>
            <a:ahLst/>
            <a:cxnLst/>
            <a:rect l="l" t="t" r="r" b="b"/>
            <a:pathLst>
              <a:path w="243171" h="243171">
                <a:moveTo>
                  <a:pt x="15198" y="15198"/>
                </a:moveTo>
                <a:cubicBezTo>
                  <a:pt x="23605" y="15198"/>
                  <a:pt x="30396" y="21990"/>
                  <a:pt x="30396" y="30396"/>
                </a:cubicBezTo>
                <a:lnTo>
                  <a:pt x="30396" y="189978"/>
                </a:lnTo>
                <a:cubicBezTo>
                  <a:pt x="30396" y="194157"/>
                  <a:pt x="33816" y="197577"/>
                  <a:pt x="37996" y="197577"/>
                </a:cubicBezTo>
                <a:lnTo>
                  <a:pt x="227973" y="197577"/>
                </a:lnTo>
                <a:cubicBezTo>
                  <a:pt x="236380" y="197577"/>
                  <a:pt x="243171" y="204368"/>
                  <a:pt x="243171" y="212775"/>
                </a:cubicBezTo>
                <a:cubicBezTo>
                  <a:pt x="243171" y="221181"/>
                  <a:pt x="236380" y="227973"/>
                  <a:pt x="227973" y="227973"/>
                </a:cubicBezTo>
                <a:lnTo>
                  <a:pt x="37996" y="227973"/>
                </a:lnTo>
                <a:cubicBezTo>
                  <a:pt x="17003" y="227973"/>
                  <a:pt x="0" y="210970"/>
                  <a:pt x="0" y="189978"/>
                </a:cubicBezTo>
                <a:lnTo>
                  <a:pt x="0" y="30396"/>
                </a:lnTo>
                <a:cubicBezTo>
                  <a:pt x="0" y="21990"/>
                  <a:pt x="6792" y="15198"/>
                  <a:pt x="15198" y="15198"/>
                </a:cubicBezTo>
                <a:close/>
                <a:moveTo>
                  <a:pt x="60793" y="45595"/>
                </a:moveTo>
                <a:cubicBezTo>
                  <a:pt x="60793" y="37188"/>
                  <a:pt x="67585" y="30396"/>
                  <a:pt x="75991" y="30396"/>
                </a:cubicBezTo>
                <a:lnTo>
                  <a:pt x="167180" y="30396"/>
                </a:lnTo>
                <a:cubicBezTo>
                  <a:pt x="175587" y="30396"/>
                  <a:pt x="182378" y="37188"/>
                  <a:pt x="182378" y="45595"/>
                </a:cubicBezTo>
                <a:cubicBezTo>
                  <a:pt x="182378" y="54001"/>
                  <a:pt x="175587" y="60793"/>
                  <a:pt x="167180" y="60793"/>
                </a:cubicBezTo>
                <a:lnTo>
                  <a:pt x="75991" y="60793"/>
                </a:lnTo>
                <a:cubicBezTo>
                  <a:pt x="67585" y="60793"/>
                  <a:pt x="60793" y="54001"/>
                  <a:pt x="60793" y="45595"/>
                </a:cubicBezTo>
                <a:close/>
                <a:moveTo>
                  <a:pt x="75991" y="83590"/>
                </a:moveTo>
                <a:lnTo>
                  <a:pt x="136784" y="83590"/>
                </a:lnTo>
                <a:cubicBezTo>
                  <a:pt x="145190" y="83590"/>
                  <a:pt x="151982" y="90382"/>
                  <a:pt x="151982" y="98788"/>
                </a:cubicBezTo>
                <a:cubicBezTo>
                  <a:pt x="151982" y="107195"/>
                  <a:pt x="145190" y="113987"/>
                  <a:pt x="136784" y="113987"/>
                </a:cubicBezTo>
                <a:lnTo>
                  <a:pt x="75991" y="113987"/>
                </a:lnTo>
                <a:cubicBezTo>
                  <a:pt x="67585" y="113987"/>
                  <a:pt x="60793" y="107195"/>
                  <a:pt x="60793" y="98788"/>
                </a:cubicBezTo>
                <a:cubicBezTo>
                  <a:pt x="60793" y="90382"/>
                  <a:pt x="67585" y="83590"/>
                  <a:pt x="75991" y="83590"/>
                </a:cubicBezTo>
                <a:close/>
                <a:moveTo>
                  <a:pt x="75991" y="136784"/>
                </a:moveTo>
                <a:lnTo>
                  <a:pt x="197577" y="136784"/>
                </a:lnTo>
                <a:cubicBezTo>
                  <a:pt x="205983" y="136784"/>
                  <a:pt x="212775" y="143576"/>
                  <a:pt x="212775" y="151982"/>
                </a:cubicBezTo>
                <a:cubicBezTo>
                  <a:pt x="212775" y="160389"/>
                  <a:pt x="205983" y="167180"/>
                  <a:pt x="197577" y="167180"/>
                </a:cubicBezTo>
                <a:lnTo>
                  <a:pt x="75991" y="167180"/>
                </a:lnTo>
                <a:cubicBezTo>
                  <a:pt x="67585" y="167180"/>
                  <a:pt x="60793" y="160389"/>
                  <a:pt x="60793" y="151982"/>
                </a:cubicBezTo>
                <a:cubicBezTo>
                  <a:pt x="60793" y="143576"/>
                  <a:pt x="67585" y="136784"/>
                  <a:pt x="75991" y="136784"/>
                </a:cubicBezTo>
                <a:close/>
              </a:path>
            </a:pathLst>
          </a:custGeom>
          <a:solidFill>
            <a:srgbClr val="4C7E9A"/>
          </a:solidFill>
          <a:ln/>
        </p:spPr>
      </p:sp>
      <p:sp>
        <p:nvSpPr>
          <p:cNvPr id="19" name="Text 17"/>
          <p:cNvSpPr/>
          <p:nvPr/>
        </p:nvSpPr>
        <p:spPr>
          <a:xfrm>
            <a:off x="1179381" y="6012410"/>
            <a:ext cx="2152066" cy="340440"/>
          </a:xfrm>
          <a:prstGeom prst="rect">
            <a:avLst/>
          </a:prstGeom>
          <a:noFill/>
          <a:ln/>
        </p:spPr>
        <p:txBody>
          <a:bodyPr wrap="square" lIns="0" tIns="0" rIns="0" bIns="0" rtlCol="0" anchor="ctr"/>
          <a:lstStyle/>
          <a:p>
            <a:pPr>
              <a:lnSpc>
                <a:spcPct val="130000"/>
              </a:lnSpc>
            </a:pPr>
            <a:r>
              <a:rPr lang="en-US" sz="1723" b="1" dirty="0">
                <a:solidFill>
                  <a:srgbClr val="D1D5DB"/>
                </a:solidFill>
                <a:latin typeface="MiSans" pitchFamily="34" charset="0"/>
                <a:ea typeface="MiSans" pitchFamily="34" charset="-122"/>
                <a:cs typeface="MiSans" pitchFamily="34" charset="-120"/>
              </a:rPr>
              <a:t>多任务支持</a:t>
            </a:r>
            <a:endParaRPr lang="en-US" sz="1600" dirty="0"/>
          </a:p>
        </p:txBody>
      </p:sp>
      <p:sp>
        <p:nvSpPr>
          <p:cNvPr id="20" name="Text 18"/>
          <p:cNvSpPr/>
          <p:nvPr/>
        </p:nvSpPr>
        <p:spPr>
          <a:xfrm>
            <a:off x="1179381" y="6352850"/>
            <a:ext cx="2127749" cy="243171"/>
          </a:xfrm>
          <a:prstGeom prst="rect">
            <a:avLst/>
          </a:prstGeom>
          <a:noFill/>
          <a:ln/>
        </p:spPr>
        <p:txBody>
          <a:bodyPr wrap="square" lIns="0" tIns="0" rIns="0" bIns="0" rtlCol="0" anchor="ctr"/>
          <a:lstStyle/>
          <a:p>
            <a:pPr>
              <a:lnSpc>
                <a:spcPct val="120000"/>
              </a:lnSpc>
            </a:pPr>
            <a:r>
              <a:rPr lang="en-US" sz="1340" dirty="0">
                <a:solidFill>
                  <a:srgbClr val="7E9AA8"/>
                </a:solidFill>
                <a:latin typeface="MiSans" pitchFamily="34" charset="0"/>
                <a:ea typeface="MiSans" pitchFamily="34" charset="-122"/>
                <a:cs typeface="MiSans" pitchFamily="34" charset="-120"/>
              </a:rPr>
              <a:t>既可用于分类也可用于回归</a:t>
            </a:r>
            <a:endParaRPr lang="en-US" sz="1600" dirty="0"/>
          </a:p>
        </p:txBody>
      </p:sp>
      <p:sp>
        <p:nvSpPr>
          <p:cNvPr id="21" name="Shape 19"/>
          <p:cNvSpPr/>
          <p:nvPr/>
        </p:nvSpPr>
        <p:spPr>
          <a:xfrm>
            <a:off x="729514" y="6741924"/>
            <a:ext cx="303964" cy="243171"/>
          </a:xfrm>
          <a:custGeom>
            <a:avLst/>
            <a:gdLst/>
            <a:ahLst/>
            <a:cxnLst/>
            <a:rect l="l" t="t" r="r" b="b"/>
            <a:pathLst>
              <a:path w="303964" h="243171">
                <a:moveTo>
                  <a:pt x="197529" y="99976"/>
                </a:moveTo>
                <a:cubicBezTo>
                  <a:pt x="203323" y="98408"/>
                  <a:pt x="209403" y="101163"/>
                  <a:pt x="212015" y="106530"/>
                </a:cubicBezTo>
                <a:lnTo>
                  <a:pt x="220849" y="124388"/>
                </a:lnTo>
                <a:cubicBezTo>
                  <a:pt x="225741" y="125053"/>
                  <a:pt x="230538" y="126383"/>
                  <a:pt x="235050" y="128235"/>
                </a:cubicBezTo>
                <a:lnTo>
                  <a:pt x="251673" y="117169"/>
                </a:lnTo>
                <a:cubicBezTo>
                  <a:pt x="256660" y="113844"/>
                  <a:pt x="263261" y="114509"/>
                  <a:pt x="267488" y="118736"/>
                </a:cubicBezTo>
                <a:lnTo>
                  <a:pt x="276607" y="127855"/>
                </a:lnTo>
                <a:cubicBezTo>
                  <a:pt x="280834" y="132082"/>
                  <a:pt x="281499" y="138731"/>
                  <a:pt x="278175" y="143671"/>
                </a:cubicBezTo>
                <a:lnTo>
                  <a:pt x="267108" y="160246"/>
                </a:lnTo>
                <a:cubicBezTo>
                  <a:pt x="268011" y="162478"/>
                  <a:pt x="268818" y="164806"/>
                  <a:pt x="269483" y="167228"/>
                </a:cubicBezTo>
                <a:cubicBezTo>
                  <a:pt x="270148" y="169650"/>
                  <a:pt x="270576" y="172025"/>
                  <a:pt x="270908" y="174447"/>
                </a:cubicBezTo>
                <a:lnTo>
                  <a:pt x="288813" y="183281"/>
                </a:lnTo>
                <a:cubicBezTo>
                  <a:pt x="294180" y="185941"/>
                  <a:pt x="296935" y="192020"/>
                  <a:pt x="295368" y="197767"/>
                </a:cubicBezTo>
                <a:lnTo>
                  <a:pt x="292043" y="210210"/>
                </a:lnTo>
                <a:cubicBezTo>
                  <a:pt x="290476" y="215957"/>
                  <a:pt x="285109" y="219852"/>
                  <a:pt x="279125" y="219472"/>
                </a:cubicBezTo>
                <a:lnTo>
                  <a:pt x="259177" y="218189"/>
                </a:lnTo>
                <a:cubicBezTo>
                  <a:pt x="256185" y="222036"/>
                  <a:pt x="252718" y="225598"/>
                  <a:pt x="248776" y="228638"/>
                </a:cubicBezTo>
                <a:lnTo>
                  <a:pt x="250058" y="248538"/>
                </a:lnTo>
                <a:cubicBezTo>
                  <a:pt x="250438" y="254522"/>
                  <a:pt x="246543" y="259937"/>
                  <a:pt x="240797" y="261457"/>
                </a:cubicBezTo>
                <a:lnTo>
                  <a:pt x="228353" y="264781"/>
                </a:lnTo>
                <a:cubicBezTo>
                  <a:pt x="222559" y="266349"/>
                  <a:pt x="216527" y="263594"/>
                  <a:pt x="213867" y="258227"/>
                </a:cubicBezTo>
                <a:lnTo>
                  <a:pt x="205033" y="240369"/>
                </a:lnTo>
                <a:cubicBezTo>
                  <a:pt x="200141" y="239704"/>
                  <a:pt x="195344" y="238374"/>
                  <a:pt x="190832" y="236522"/>
                </a:cubicBezTo>
                <a:lnTo>
                  <a:pt x="174209" y="247588"/>
                </a:lnTo>
                <a:cubicBezTo>
                  <a:pt x="169223" y="250913"/>
                  <a:pt x="162621" y="250248"/>
                  <a:pt x="158394" y="246021"/>
                </a:cubicBezTo>
                <a:lnTo>
                  <a:pt x="149275" y="236902"/>
                </a:lnTo>
                <a:cubicBezTo>
                  <a:pt x="145048" y="232675"/>
                  <a:pt x="144383" y="226073"/>
                  <a:pt x="147708" y="221086"/>
                </a:cubicBezTo>
                <a:lnTo>
                  <a:pt x="158774" y="204463"/>
                </a:lnTo>
                <a:cubicBezTo>
                  <a:pt x="157871" y="202231"/>
                  <a:pt x="157064" y="199904"/>
                  <a:pt x="156399" y="197482"/>
                </a:cubicBezTo>
                <a:cubicBezTo>
                  <a:pt x="155734" y="195059"/>
                  <a:pt x="155307" y="192637"/>
                  <a:pt x="154974" y="190263"/>
                </a:cubicBezTo>
                <a:lnTo>
                  <a:pt x="137069" y="181429"/>
                </a:lnTo>
                <a:cubicBezTo>
                  <a:pt x="131702" y="178769"/>
                  <a:pt x="128995" y="172690"/>
                  <a:pt x="130515" y="166943"/>
                </a:cubicBezTo>
                <a:lnTo>
                  <a:pt x="133839" y="154499"/>
                </a:lnTo>
                <a:cubicBezTo>
                  <a:pt x="135407" y="148752"/>
                  <a:pt x="140773" y="144858"/>
                  <a:pt x="146758" y="145238"/>
                </a:cubicBezTo>
                <a:lnTo>
                  <a:pt x="166658" y="146520"/>
                </a:lnTo>
                <a:cubicBezTo>
                  <a:pt x="169650" y="142673"/>
                  <a:pt x="173117" y="139111"/>
                  <a:pt x="177059" y="136071"/>
                </a:cubicBezTo>
                <a:lnTo>
                  <a:pt x="175777" y="116219"/>
                </a:lnTo>
                <a:cubicBezTo>
                  <a:pt x="175397" y="110234"/>
                  <a:pt x="179291" y="104820"/>
                  <a:pt x="185038" y="103300"/>
                </a:cubicBezTo>
                <a:lnTo>
                  <a:pt x="197482" y="99976"/>
                </a:lnTo>
                <a:close/>
                <a:moveTo>
                  <a:pt x="212965" y="161481"/>
                </a:moveTo>
                <a:cubicBezTo>
                  <a:pt x="201431" y="161494"/>
                  <a:pt x="192078" y="170869"/>
                  <a:pt x="192091" y="182402"/>
                </a:cubicBezTo>
                <a:cubicBezTo>
                  <a:pt x="192104" y="193936"/>
                  <a:pt x="201479" y="203289"/>
                  <a:pt x="213012" y="203276"/>
                </a:cubicBezTo>
                <a:cubicBezTo>
                  <a:pt x="224546" y="203263"/>
                  <a:pt x="233899" y="193888"/>
                  <a:pt x="233886" y="182355"/>
                </a:cubicBezTo>
                <a:cubicBezTo>
                  <a:pt x="233873" y="170821"/>
                  <a:pt x="224499" y="161468"/>
                  <a:pt x="212965" y="161481"/>
                </a:cubicBezTo>
                <a:close/>
                <a:moveTo>
                  <a:pt x="106815" y="-21610"/>
                </a:moveTo>
                <a:lnTo>
                  <a:pt x="119258" y="-18285"/>
                </a:lnTo>
                <a:cubicBezTo>
                  <a:pt x="125005" y="-16718"/>
                  <a:pt x="128900" y="-11304"/>
                  <a:pt x="128520" y="-5367"/>
                </a:cubicBezTo>
                <a:lnTo>
                  <a:pt x="127237" y="14486"/>
                </a:lnTo>
                <a:cubicBezTo>
                  <a:pt x="131180" y="17525"/>
                  <a:pt x="134647" y="21040"/>
                  <a:pt x="137639" y="24935"/>
                </a:cubicBezTo>
                <a:lnTo>
                  <a:pt x="157586" y="23652"/>
                </a:lnTo>
                <a:cubicBezTo>
                  <a:pt x="163523" y="23272"/>
                  <a:pt x="168938" y="27167"/>
                  <a:pt x="170505" y="32914"/>
                </a:cubicBezTo>
                <a:lnTo>
                  <a:pt x="173829" y="45357"/>
                </a:lnTo>
                <a:cubicBezTo>
                  <a:pt x="175349" y="51104"/>
                  <a:pt x="172642" y="57183"/>
                  <a:pt x="167275" y="59843"/>
                </a:cubicBezTo>
                <a:lnTo>
                  <a:pt x="149370" y="68677"/>
                </a:lnTo>
                <a:cubicBezTo>
                  <a:pt x="149037" y="71099"/>
                  <a:pt x="148562" y="73521"/>
                  <a:pt x="147945" y="75896"/>
                </a:cubicBezTo>
                <a:cubicBezTo>
                  <a:pt x="147328" y="78271"/>
                  <a:pt x="146473" y="80645"/>
                  <a:pt x="145570" y="82878"/>
                </a:cubicBezTo>
                <a:lnTo>
                  <a:pt x="156636" y="99501"/>
                </a:lnTo>
                <a:cubicBezTo>
                  <a:pt x="159961" y="104488"/>
                  <a:pt x="159296" y="111089"/>
                  <a:pt x="155069" y="115316"/>
                </a:cubicBezTo>
                <a:lnTo>
                  <a:pt x="145950" y="124435"/>
                </a:lnTo>
                <a:cubicBezTo>
                  <a:pt x="141723" y="128662"/>
                  <a:pt x="135122" y="129327"/>
                  <a:pt x="130135" y="126003"/>
                </a:cubicBezTo>
                <a:lnTo>
                  <a:pt x="113512" y="114936"/>
                </a:lnTo>
                <a:cubicBezTo>
                  <a:pt x="109000" y="116789"/>
                  <a:pt x="104203" y="118119"/>
                  <a:pt x="99311" y="118783"/>
                </a:cubicBezTo>
                <a:lnTo>
                  <a:pt x="90477" y="136641"/>
                </a:lnTo>
                <a:cubicBezTo>
                  <a:pt x="87817" y="142008"/>
                  <a:pt x="81738" y="144715"/>
                  <a:pt x="75991" y="143196"/>
                </a:cubicBezTo>
                <a:lnTo>
                  <a:pt x="63547" y="139871"/>
                </a:lnTo>
                <a:cubicBezTo>
                  <a:pt x="57753" y="138304"/>
                  <a:pt x="53906" y="132889"/>
                  <a:pt x="54286" y="126953"/>
                </a:cubicBezTo>
                <a:lnTo>
                  <a:pt x="55568" y="107052"/>
                </a:lnTo>
                <a:cubicBezTo>
                  <a:pt x="51626" y="104013"/>
                  <a:pt x="48159" y="100498"/>
                  <a:pt x="45167" y="96604"/>
                </a:cubicBezTo>
                <a:lnTo>
                  <a:pt x="25220" y="97886"/>
                </a:lnTo>
                <a:cubicBezTo>
                  <a:pt x="19283" y="98266"/>
                  <a:pt x="13868" y="94371"/>
                  <a:pt x="12301" y="88625"/>
                </a:cubicBezTo>
                <a:lnTo>
                  <a:pt x="8976" y="76181"/>
                </a:lnTo>
                <a:cubicBezTo>
                  <a:pt x="7457" y="70434"/>
                  <a:pt x="10164" y="64355"/>
                  <a:pt x="15531" y="61695"/>
                </a:cubicBezTo>
                <a:lnTo>
                  <a:pt x="33436" y="52861"/>
                </a:lnTo>
                <a:cubicBezTo>
                  <a:pt x="33769" y="50439"/>
                  <a:pt x="34243" y="48064"/>
                  <a:pt x="34861" y="45642"/>
                </a:cubicBezTo>
                <a:cubicBezTo>
                  <a:pt x="35526" y="43220"/>
                  <a:pt x="36286" y="40893"/>
                  <a:pt x="37236" y="38660"/>
                </a:cubicBezTo>
                <a:lnTo>
                  <a:pt x="26169" y="22085"/>
                </a:lnTo>
                <a:cubicBezTo>
                  <a:pt x="22845" y="17098"/>
                  <a:pt x="23510" y="10496"/>
                  <a:pt x="27737" y="6269"/>
                </a:cubicBezTo>
                <a:lnTo>
                  <a:pt x="36856" y="-2850"/>
                </a:lnTo>
                <a:cubicBezTo>
                  <a:pt x="41083" y="-7077"/>
                  <a:pt x="47684" y="-7742"/>
                  <a:pt x="52671" y="-4417"/>
                </a:cubicBezTo>
                <a:lnTo>
                  <a:pt x="69294" y="6649"/>
                </a:lnTo>
                <a:cubicBezTo>
                  <a:pt x="73806" y="4797"/>
                  <a:pt x="78603" y="3467"/>
                  <a:pt x="83495" y="2802"/>
                </a:cubicBezTo>
                <a:lnTo>
                  <a:pt x="92329" y="-15056"/>
                </a:lnTo>
                <a:cubicBezTo>
                  <a:pt x="94989" y="-20423"/>
                  <a:pt x="101021" y="-23130"/>
                  <a:pt x="106815" y="-21610"/>
                </a:cubicBezTo>
                <a:close/>
                <a:moveTo>
                  <a:pt x="91379" y="39895"/>
                </a:moveTo>
                <a:cubicBezTo>
                  <a:pt x="79846" y="39895"/>
                  <a:pt x="70482" y="49259"/>
                  <a:pt x="70482" y="60793"/>
                </a:cubicBezTo>
                <a:cubicBezTo>
                  <a:pt x="70482" y="72326"/>
                  <a:pt x="79846" y="81690"/>
                  <a:pt x="91379" y="81690"/>
                </a:cubicBezTo>
                <a:cubicBezTo>
                  <a:pt x="102913" y="81690"/>
                  <a:pt x="112277" y="72326"/>
                  <a:pt x="112277" y="60793"/>
                </a:cubicBezTo>
                <a:cubicBezTo>
                  <a:pt x="112277" y="49259"/>
                  <a:pt x="102913" y="39895"/>
                  <a:pt x="91379" y="39895"/>
                </a:cubicBezTo>
                <a:close/>
              </a:path>
            </a:pathLst>
          </a:custGeom>
          <a:solidFill>
            <a:srgbClr val="4C7E9A"/>
          </a:solidFill>
          <a:ln/>
        </p:spPr>
      </p:sp>
      <p:sp>
        <p:nvSpPr>
          <p:cNvPr id="22" name="Text 20"/>
          <p:cNvSpPr/>
          <p:nvPr/>
        </p:nvSpPr>
        <p:spPr>
          <a:xfrm>
            <a:off x="1179381" y="6693289"/>
            <a:ext cx="2152066" cy="340440"/>
          </a:xfrm>
          <a:prstGeom prst="rect">
            <a:avLst/>
          </a:prstGeom>
          <a:noFill/>
          <a:ln/>
        </p:spPr>
        <p:txBody>
          <a:bodyPr wrap="square" lIns="0" tIns="0" rIns="0" bIns="0" rtlCol="0" anchor="ctr"/>
          <a:lstStyle/>
          <a:p>
            <a:pPr>
              <a:lnSpc>
                <a:spcPct val="130000"/>
              </a:lnSpc>
            </a:pPr>
            <a:r>
              <a:rPr lang="en-US" sz="1723" b="1" dirty="0">
                <a:solidFill>
                  <a:srgbClr val="D1D5DB"/>
                </a:solidFill>
                <a:latin typeface="MiSans" pitchFamily="34" charset="0"/>
                <a:ea typeface="MiSans" pitchFamily="34" charset="-122"/>
                <a:cs typeface="MiSans" pitchFamily="34" charset="-120"/>
              </a:rPr>
              <a:t>高维数据处理</a:t>
            </a:r>
            <a:endParaRPr lang="en-US" sz="1600" dirty="0"/>
          </a:p>
        </p:txBody>
      </p:sp>
      <p:sp>
        <p:nvSpPr>
          <p:cNvPr id="23" name="Text 21"/>
          <p:cNvSpPr/>
          <p:nvPr/>
        </p:nvSpPr>
        <p:spPr>
          <a:xfrm>
            <a:off x="1179381" y="7033729"/>
            <a:ext cx="2127749" cy="243171"/>
          </a:xfrm>
          <a:prstGeom prst="rect">
            <a:avLst/>
          </a:prstGeom>
          <a:noFill/>
          <a:ln/>
        </p:spPr>
        <p:txBody>
          <a:bodyPr wrap="square" lIns="0" tIns="0" rIns="0" bIns="0" rtlCol="0" anchor="ctr"/>
          <a:lstStyle/>
          <a:p>
            <a:pPr>
              <a:lnSpc>
                <a:spcPct val="120000"/>
              </a:lnSpc>
            </a:pPr>
            <a:r>
              <a:rPr lang="en-US" sz="1340" dirty="0">
                <a:solidFill>
                  <a:srgbClr val="7E9AA8"/>
                </a:solidFill>
                <a:latin typeface="MiSans" pitchFamily="34" charset="0"/>
                <a:ea typeface="MiSans" pitchFamily="34" charset="-122"/>
                <a:cs typeface="MiSans" pitchFamily="34" charset="-120"/>
              </a:rPr>
              <a:t>能处理高维数据和大量特征</a:t>
            </a:r>
            <a:endParaRPr lang="en-US" sz="1600" dirty="0"/>
          </a:p>
        </p:txBody>
      </p:sp>
      <p:sp>
        <p:nvSpPr>
          <p:cNvPr id="24" name="Shape 22"/>
          <p:cNvSpPr/>
          <p:nvPr/>
        </p:nvSpPr>
        <p:spPr>
          <a:xfrm>
            <a:off x="744712" y="7422803"/>
            <a:ext cx="273568" cy="243171"/>
          </a:xfrm>
          <a:custGeom>
            <a:avLst/>
            <a:gdLst/>
            <a:ahLst/>
            <a:cxnLst/>
            <a:rect l="l" t="t" r="r" b="b"/>
            <a:pathLst>
              <a:path w="273568" h="243171">
                <a:moveTo>
                  <a:pt x="136784" y="15198"/>
                </a:moveTo>
                <a:cubicBezTo>
                  <a:pt x="98408" y="15198"/>
                  <a:pt x="67680" y="32676"/>
                  <a:pt x="45310" y="53479"/>
                </a:cubicBezTo>
                <a:cubicBezTo>
                  <a:pt x="23082" y="74139"/>
                  <a:pt x="8217" y="98788"/>
                  <a:pt x="1140" y="115744"/>
                </a:cubicBezTo>
                <a:cubicBezTo>
                  <a:pt x="-427" y="119496"/>
                  <a:pt x="-427" y="123675"/>
                  <a:pt x="1140" y="127427"/>
                </a:cubicBezTo>
                <a:cubicBezTo>
                  <a:pt x="8217" y="144383"/>
                  <a:pt x="23082" y="169080"/>
                  <a:pt x="45310" y="189693"/>
                </a:cubicBezTo>
                <a:cubicBezTo>
                  <a:pt x="67680" y="210448"/>
                  <a:pt x="98408" y="227973"/>
                  <a:pt x="136784" y="227973"/>
                </a:cubicBezTo>
                <a:cubicBezTo>
                  <a:pt x="175159" y="227973"/>
                  <a:pt x="205888" y="210495"/>
                  <a:pt x="228258" y="189693"/>
                </a:cubicBezTo>
                <a:cubicBezTo>
                  <a:pt x="250485" y="169033"/>
                  <a:pt x="265351" y="144383"/>
                  <a:pt x="272428" y="127427"/>
                </a:cubicBezTo>
                <a:cubicBezTo>
                  <a:pt x="273995" y="123675"/>
                  <a:pt x="273995" y="119496"/>
                  <a:pt x="272428" y="115744"/>
                </a:cubicBezTo>
                <a:cubicBezTo>
                  <a:pt x="265351" y="98788"/>
                  <a:pt x="250485" y="74091"/>
                  <a:pt x="228258" y="53479"/>
                </a:cubicBezTo>
                <a:cubicBezTo>
                  <a:pt x="205888" y="32724"/>
                  <a:pt x="175159" y="15198"/>
                  <a:pt x="136784" y="15198"/>
                </a:cubicBezTo>
                <a:close/>
                <a:moveTo>
                  <a:pt x="68392" y="121586"/>
                </a:moveTo>
                <a:cubicBezTo>
                  <a:pt x="68392" y="83839"/>
                  <a:pt x="99037" y="53194"/>
                  <a:pt x="136784" y="53194"/>
                </a:cubicBezTo>
                <a:cubicBezTo>
                  <a:pt x="174530" y="53194"/>
                  <a:pt x="205176" y="83839"/>
                  <a:pt x="205176" y="121586"/>
                </a:cubicBezTo>
                <a:cubicBezTo>
                  <a:pt x="205176" y="159332"/>
                  <a:pt x="174530" y="189978"/>
                  <a:pt x="136784" y="189978"/>
                </a:cubicBezTo>
                <a:cubicBezTo>
                  <a:pt x="99037" y="189978"/>
                  <a:pt x="68392" y="159332"/>
                  <a:pt x="68392" y="121586"/>
                </a:cubicBezTo>
                <a:close/>
                <a:moveTo>
                  <a:pt x="136784" y="91189"/>
                </a:moveTo>
                <a:cubicBezTo>
                  <a:pt x="136784" y="107955"/>
                  <a:pt x="123153" y="121586"/>
                  <a:pt x="106387" y="121586"/>
                </a:cubicBezTo>
                <a:cubicBezTo>
                  <a:pt x="100926" y="121586"/>
                  <a:pt x="95796" y="120161"/>
                  <a:pt x="91332" y="117596"/>
                </a:cubicBezTo>
                <a:cubicBezTo>
                  <a:pt x="90857" y="122773"/>
                  <a:pt x="91284" y="128092"/>
                  <a:pt x="92709" y="133364"/>
                </a:cubicBezTo>
                <a:cubicBezTo>
                  <a:pt x="99216" y="157681"/>
                  <a:pt x="124245" y="172120"/>
                  <a:pt x="148562" y="165613"/>
                </a:cubicBezTo>
                <a:cubicBezTo>
                  <a:pt x="172880" y="159106"/>
                  <a:pt x="187318" y="134077"/>
                  <a:pt x="180811" y="109760"/>
                </a:cubicBezTo>
                <a:cubicBezTo>
                  <a:pt x="175017" y="88055"/>
                  <a:pt x="154452" y="74234"/>
                  <a:pt x="132794" y="76134"/>
                </a:cubicBezTo>
                <a:cubicBezTo>
                  <a:pt x="135312" y="80550"/>
                  <a:pt x="136784" y="85680"/>
                  <a:pt x="136784" y="91189"/>
                </a:cubicBezTo>
                <a:close/>
              </a:path>
            </a:pathLst>
          </a:custGeom>
          <a:solidFill>
            <a:srgbClr val="4C7E9A"/>
          </a:solidFill>
          <a:ln/>
        </p:spPr>
      </p:sp>
      <p:sp>
        <p:nvSpPr>
          <p:cNvPr id="25" name="Text 23"/>
          <p:cNvSpPr/>
          <p:nvPr/>
        </p:nvSpPr>
        <p:spPr>
          <a:xfrm>
            <a:off x="1179381" y="7374169"/>
            <a:ext cx="1471186" cy="340440"/>
          </a:xfrm>
          <a:prstGeom prst="rect">
            <a:avLst/>
          </a:prstGeom>
          <a:noFill/>
          <a:ln/>
        </p:spPr>
        <p:txBody>
          <a:bodyPr wrap="square" lIns="0" tIns="0" rIns="0" bIns="0" rtlCol="0" anchor="ctr"/>
          <a:lstStyle/>
          <a:p>
            <a:pPr>
              <a:lnSpc>
                <a:spcPct val="130000"/>
              </a:lnSpc>
            </a:pPr>
            <a:r>
              <a:rPr lang="en-US" sz="1723" b="1" dirty="0">
                <a:solidFill>
                  <a:srgbClr val="D1D5DB"/>
                </a:solidFill>
                <a:latin typeface="MiSans" pitchFamily="34" charset="0"/>
                <a:ea typeface="MiSans" pitchFamily="34" charset="-122"/>
                <a:cs typeface="MiSans" pitchFamily="34" charset="-120"/>
              </a:rPr>
              <a:t>特征重要性</a:t>
            </a:r>
            <a:endParaRPr lang="en-US" sz="1600" dirty="0"/>
          </a:p>
        </p:txBody>
      </p:sp>
      <p:sp>
        <p:nvSpPr>
          <p:cNvPr id="26" name="Text 24"/>
          <p:cNvSpPr/>
          <p:nvPr/>
        </p:nvSpPr>
        <p:spPr>
          <a:xfrm>
            <a:off x="1179381" y="7714609"/>
            <a:ext cx="1446869" cy="243171"/>
          </a:xfrm>
          <a:prstGeom prst="rect">
            <a:avLst/>
          </a:prstGeom>
          <a:noFill/>
          <a:ln/>
        </p:spPr>
        <p:txBody>
          <a:bodyPr wrap="square" lIns="0" tIns="0" rIns="0" bIns="0" rtlCol="0" anchor="ctr"/>
          <a:lstStyle/>
          <a:p>
            <a:pPr>
              <a:lnSpc>
                <a:spcPct val="120000"/>
              </a:lnSpc>
            </a:pPr>
            <a:r>
              <a:rPr lang="en-US" sz="1340" dirty="0">
                <a:solidFill>
                  <a:srgbClr val="7E9AA8"/>
                </a:solidFill>
                <a:latin typeface="MiSans" pitchFamily="34" charset="0"/>
                <a:ea typeface="MiSans" pitchFamily="34" charset="-122"/>
                <a:cs typeface="MiSans" pitchFamily="34" charset="-120"/>
              </a:rPr>
              <a:t>自动筛选重要特征</a:t>
            </a:r>
            <a:endParaRPr lang="en-US" sz="1600" dirty="0"/>
          </a:p>
        </p:txBody>
      </p:sp>
      <p:sp>
        <p:nvSpPr>
          <p:cNvPr id="27" name="Shape 25"/>
          <p:cNvSpPr/>
          <p:nvPr/>
        </p:nvSpPr>
        <p:spPr>
          <a:xfrm>
            <a:off x="8254905" y="1756912"/>
            <a:ext cx="7501834" cy="3708362"/>
          </a:xfrm>
          <a:custGeom>
            <a:avLst/>
            <a:gdLst/>
            <a:ahLst/>
            <a:cxnLst/>
            <a:rect l="l" t="t" r="r" b="b"/>
            <a:pathLst>
              <a:path w="7501834" h="3708362">
                <a:moveTo>
                  <a:pt x="97270" y="0"/>
                </a:moveTo>
                <a:lnTo>
                  <a:pt x="7404564" y="0"/>
                </a:lnTo>
                <a:cubicBezTo>
                  <a:pt x="7458285" y="0"/>
                  <a:pt x="7501834" y="43549"/>
                  <a:pt x="7501834" y="97270"/>
                </a:cubicBezTo>
                <a:lnTo>
                  <a:pt x="7501834" y="3611092"/>
                </a:lnTo>
                <a:cubicBezTo>
                  <a:pt x="7501834" y="3664813"/>
                  <a:pt x="7458285" y="3708362"/>
                  <a:pt x="7404564" y="3708362"/>
                </a:cubicBezTo>
                <a:lnTo>
                  <a:pt x="97270" y="3708362"/>
                </a:lnTo>
                <a:cubicBezTo>
                  <a:pt x="43549" y="3708362"/>
                  <a:pt x="0" y="3664813"/>
                  <a:pt x="0" y="3611092"/>
                </a:cubicBezTo>
                <a:lnTo>
                  <a:pt x="0" y="97270"/>
                </a:lnTo>
                <a:cubicBezTo>
                  <a:pt x="0" y="43549"/>
                  <a:pt x="43549" y="0"/>
                  <a:pt x="97270" y="0"/>
                </a:cubicBezTo>
                <a:close/>
              </a:path>
            </a:pathLst>
          </a:custGeom>
          <a:solidFill>
            <a:srgbClr val="3A5E78">
              <a:alpha val="20000"/>
            </a:srgbClr>
          </a:solidFill>
          <a:ln w="12700">
            <a:solidFill>
              <a:srgbClr val="4C7E9A">
                <a:alpha val="50196"/>
              </a:srgbClr>
            </a:solidFill>
            <a:prstDash val="solid"/>
          </a:ln>
        </p:spPr>
      </p:sp>
      <p:sp>
        <p:nvSpPr>
          <p:cNvPr id="28" name="Text 26"/>
          <p:cNvSpPr/>
          <p:nvPr/>
        </p:nvSpPr>
        <p:spPr>
          <a:xfrm>
            <a:off x="8455521" y="1957529"/>
            <a:ext cx="7246504" cy="389074"/>
          </a:xfrm>
          <a:prstGeom prst="rect">
            <a:avLst/>
          </a:prstGeom>
          <a:noFill/>
          <a:ln/>
        </p:spPr>
        <p:txBody>
          <a:bodyPr wrap="square" lIns="0" tIns="0" rIns="0" bIns="0" rtlCol="0" anchor="ctr"/>
          <a:lstStyle/>
          <a:p>
            <a:pPr>
              <a:lnSpc>
                <a:spcPct val="110000"/>
              </a:lnSpc>
            </a:pPr>
            <a:r>
              <a:rPr lang="en-US" sz="2298" b="1" dirty="0">
                <a:solidFill>
                  <a:srgbClr val="4C7E9A"/>
                </a:solidFill>
                <a:latin typeface="MiSans" pitchFamily="34" charset="0"/>
                <a:ea typeface="MiSans" pitchFamily="34" charset="-122"/>
                <a:cs typeface="MiSans" pitchFamily="34" charset="-120"/>
              </a:rPr>
              <a:t>算法流程</a:t>
            </a:r>
            <a:endParaRPr lang="en-US" sz="1600" dirty="0"/>
          </a:p>
        </p:txBody>
      </p:sp>
      <p:sp>
        <p:nvSpPr>
          <p:cNvPr id="29" name="Shape 27"/>
          <p:cNvSpPr/>
          <p:nvPr/>
        </p:nvSpPr>
        <p:spPr>
          <a:xfrm>
            <a:off x="8455521" y="2492506"/>
            <a:ext cx="389074" cy="389074"/>
          </a:xfrm>
          <a:custGeom>
            <a:avLst/>
            <a:gdLst/>
            <a:ahLst/>
            <a:cxnLst/>
            <a:rect l="l" t="t" r="r" b="b"/>
            <a:pathLst>
              <a:path w="389074" h="389074">
                <a:moveTo>
                  <a:pt x="194537" y="0"/>
                </a:moveTo>
                <a:lnTo>
                  <a:pt x="194537" y="0"/>
                </a:lnTo>
                <a:cubicBezTo>
                  <a:pt x="301905" y="0"/>
                  <a:pt x="389074" y="87169"/>
                  <a:pt x="389074" y="194537"/>
                </a:cubicBezTo>
                <a:lnTo>
                  <a:pt x="389074" y="194537"/>
                </a:lnTo>
                <a:cubicBezTo>
                  <a:pt x="389074" y="301905"/>
                  <a:pt x="301905" y="389074"/>
                  <a:pt x="194537" y="389074"/>
                </a:cubicBezTo>
                <a:lnTo>
                  <a:pt x="194537" y="389074"/>
                </a:lnTo>
                <a:cubicBezTo>
                  <a:pt x="87169" y="389074"/>
                  <a:pt x="0" y="301905"/>
                  <a:pt x="0" y="194537"/>
                </a:cubicBezTo>
                <a:lnTo>
                  <a:pt x="0" y="194537"/>
                </a:lnTo>
                <a:cubicBezTo>
                  <a:pt x="0" y="87169"/>
                  <a:pt x="87169" y="0"/>
                  <a:pt x="194537" y="0"/>
                </a:cubicBezTo>
                <a:close/>
              </a:path>
            </a:pathLst>
          </a:custGeom>
          <a:solidFill>
            <a:srgbClr val="4C7E9A"/>
          </a:solidFill>
          <a:ln/>
        </p:spPr>
      </p:sp>
      <p:sp>
        <p:nvSpPr>
          <p:cNvPr id="30" name="Text 28"/>
          <p:cNvSpPr/>
          <p:nvPr/>
        </p:nvSpPr>
        <p:spPr>
          <a:xfrm>
            <a:off x="8406887" y="2492506"/>
            <a:ext cx="486343" cy="389074"/>
          </a:xfrm>
          <a:prstGeom prst="rect">
            <a:avLst/>
          </a:prstGeom>
          <a:noFill/>
          <a:ln/>
        </p:spPr>
        <p:txBody>
          <a:bodyPr wrap="square" lIns="0" tIns="0" rIns="0" bIns="0" rtlCol="0" anchor="ctr"/>
          <a:lstStyle/>
          <a:p>
            <a:pPr algn="ctr">
              <a:lnSpc>
                <a:spcPct val="130000"/>
              </a:lnSpc>
            </a:pPr>
            <a:r>
              <a:rPr lang="en-US" sz="1532" b="1" dirty="0">
                <a:solidFill>
                  <a:srgbClr val="181A1F"/>
                </a:solidFill>
                <a:latin typeface="MiSans" pitchFamily="34" charset="0"/>
                <a:ea typeface="MiSans" pitchFamily="34" charset="-122"/>
                <a:cs typeface="MiSans" pitchFamily="34" charset="-120"/>
              </a:rPr>
              <a:t>1</a:t>
            </a:r>
            <a:endParaRPr lang="en-US" sz="1600" dirty="0"/>
          </a:p>
        </p:txBody>
      </p:sp>
      <p:sp>
        <p:nvSpPr>
          <p:cNvPr id="31" name="Text 29"/>
          <p:cNvSpPr/>
          <p:nvPr/>
        </p:nvSpPr>
        <p:spPr>
          <a:xfrm>
            <a:off x="8990498" y="2492506"/>
            <a:ext cx="6675052" cy="340440"/>
          </a:xfrm>
          <a:prstGeom prst="rect">
            <a:avLst/>
          </a:prstGeom>
          <a:noFill/>
          <a:ln/>
        </p:spPr>
        <p:txBody>
          <a:bodyPr wrap="square" lIns="0" tIns="0" rIns="0" bIns="0" rtlCol="0" anchor="ctr"/>
          <a:lstStyle/>
          <a:p>
            <a:pPr>
              <a:lnSpc>
                <a:spcPct val="130000"/>
              </a:lnSpc>
            </a:pPr>
            <a:r>
              <a:rPr lang="en-US" sz="1723" b="1" dirty="0">
                <a:solidFill>
                  <a:srgbClr val="D1D5DB"/>
                </a:solidFill>
                <a:latin typeface="MiSans" pitchFamily="34" charset="0"/>
                <a:ea typeface="MiSans" pitchFamily="34" charset="-122"/>
                <a:cs typeface="MiSans" pitchFamily="34" charset="-120"/>
              </a:rPr>
              <a:t>Bootstrap采样</a:t>
            </a:r>
            <a:endParaRPr lang="en-US" sz="1600" dirty="0"/>
          </a:p>
        </p:txBody>
      </p:sp>
      <p:sp>
        <p:nvSpPr>
          <p:cNvPr id="32" name="Text 30"/>
          <p:cNvSpPr/>
          <p:nvPr/>
        </p:nvSpPr>
        <p:spPr>
          <a:xfrm>
            <a:off x="8990498" y="2832945"/>
            <a:ext cx="6650734" cy="243171"/>
          </a:xfrm>
          <a:prstGeom prst="rect">
            <a:avLst/>
          </a:prstGeom>
          <a:noFill/>
          <a:ln/>
        </p:spPr>
        <p:txBody>
          <a:bodyPr wrap="square" lIns="0" tIns="0" rIns="0" bIns="0" rtlCol="0" anchor="ctr"/>
          <a:lstStyle/>
          <a:p>
            <a:pPr>
              <a:lnSpc>
                <a:spcPct val="120000"/>
              </a:lnSpc>
            </a:pPr>
            <a:r>
              <a:rPr lang="en-US" sz="1340" dirty="0">
                <a:solidFill>
                  <a:srgbClr val="7E9AA8"/>
                </a:solidFill>
                <a:latin typeface="MiSans" pitchFamily="34" charset="0"/>
                <a:ea typeface="MiSans" pitchFamily="34" charset="-122"/>
                <a:cs typeface="MiSans" pitchFamily="34" charset="-120"/>
              </a:rPr>
              <a:t>从原始训练集中有放回地抽取样本构建训练子集</a:t>
            </a:r>
            <a:endParaRPr lang="en-US" sz="1600" dirty="0"/>
          </a:p>
        </p:txBody>
      </p:sp>
      <p:sp>
        <p:nvSpPr>
          <p:cNvPr id="33" name="Shape 31"/>
          <p:cNvSpPr/>
          <p:nvPr/>
        </p:nvSpPr>
        <p:spPr>
          <a:xfrm>
            <a:off x="8455521" y="3222019"/>
            <a:ext cx="389074" cy="389074"/>
          </a:xfrm>
          <a:custGeom>
            <a:avLst/>
            <a:gdLst/>
            <a:ahLst/>
            <a:cxnLst/>
            <a:rect l="l" t="t" r="r" b="b"/>
            <a:pathLst>
              <a:path w="389074" h="389074">
                <a:moveTo>
                  <a:pt x="194537" y="0"/>
                </a:moveTo>
                <a:lnTo>
                  <a:pt x="194537" y="0"/>
                </a:lnTo>
                <a:cubicBezTo>
                  <a:pt x="301905" y="0"/>
                  <a:pt x="389074" y="87169"/>
                  <a:pt x="389074" y="194537"/>
                </a:cubicBezTo>
                <a:lnTo>
                  <a:pt x="389074" y="194537"/>
                </a:lnTo>
                <a:cubicBezTo>
                  <a:pt x="389074" y="301905"/>
                  <a:pt x="301905" y="389074"/>
                  <a:pt x="194537" y="389074"/>
                </a:cubicBezTo>
                <a:lnTo>
                  <a:pt x="194537" y="389074"/>
                </a:lnTo>
                <a:cubicBezTo>
                  <a:pt x="87169" y="389074"/>
                  <a:pt x="0" y="301905"/>
                  <a:pt x="0" y="194537"/>
                </a:cubicBezTo>
                <a:lnTo>
                  <a:pt x="0" y="194537"/>
                </a:lnTo>
                <a:cubicBezTo>
                  <a:pt x="0" y="87169"/>
                  <a:pt x="87169" y="0"/>
                  <a:pt x="194537" y="0"/>
                </a:cubicBezTo>
                <a:close/>
              </a:path>
            </a:pathLst>
          </a:custGeom>
          <a:solidFill>
            <a:srgbClr val="4C7E9A"/>
          </a:solidFill>
          <a:ln/>
        </p:spPr>
      </p:sp>
      <p:sp>
        <p:nvSpPr>
          <p:cNvPr id="34" name="Text 32"/>
          <p:cNvSpPr/>
          <p:nvPr/>
        </p:nvSpPr>
        <p:spPr>
          <a:xfrm>
            <a:off x="8406887" y="3222019"/>
            <a:ext cx="486343" cy="389074"/>
          </a:xfrm>
          <a:prstGeom prst="rect">
            <a:avLst/>
          </a:prstGeom>
          <a:noFill/>
          <a:ln/>
        </p:spPr>
        <p:txBody>
          <a:bodyPr wrap="square" lIns="0" tIns="0" rIns="0" bIns="0" rtlCol="0" anchor="ctr"/>
          <a:lstStyle/>
          <a:p>
            <a:pPr algn="ctr">
              <a:lnSpc>
                <a:spcPct val="130000"/>
              </a:lnSpc>
            </a:pPr>
            <a:r>
              <a:rPr lang="en-US" sz="1532" b="1" dirty="0">
                <a:solidFill>
                  <a:srgbClr val="181A1F"/>
                </a:solidFill>
                <a:latin typeface="MiSans" pitchFamily="34" charset="0"/>
                <a:ea typeface="MiSans" pitchFamily="34" charset="-122"/>
                <a:cs typeface="MiSans" pitchFamily="34" charset="-120"/>
              </a:rPr>
              <a:t>2</a:t>
            </a:r>
            <a:endParaRPr lang="en-US" sz="1600" dirty="0"/>
          </a:p>
        </p:txBody>
      </p:sp>
      <p:sp>
        <p:nvSpPr>
          <p:cNvPr id="35" name="Text 33"/>
          <p:cNvSpPr/>
          <p:nvPr/>
        </p:nvSpPr>
        <p:spPr>
          <a:xfrm>
            <a:off x="8990498" y="3222019"/>
            <a:ext cx="6675052" cy="340440"/>
          </a:xfrm>
          <a:prstGeom prst="rect">
            <a:avLst/>
          </a:prstGeom>
          <a:noFill/>
          <a:ln/>
        </p:spPr>
        <p:txBody>
          <a:bodyPr wrap="square" lIns="0" tIns="0" rIns="0" bIns="0" rtlCol="0" anchor="ctr"/>
          <a:lstStyle/>
          <a:p>
            <a:pPr>
              <a:lnSpc>
                <a:spcPct val="130000"/>
              </a:lnSpc>
            </a:pPr>
            <a:r>
              <a:rPr lang="en-US" sz="1723" b="1" dirty="0">
                <a:solidFill>
                  <a:srgbClr val="D1D5DB"/>
                </a:solidFill>
                <a:latin typeface="MiSans" pitchFamily="34" charset="0"/>
                <a:ea typeface="MiSans" pitchFamily="34" charset="-122"/>
                <a:cs typeface="MiSans" pitchFamily="34" charset="-120"/>
              </a:rPr>
              <a:t>特征随机选择</a:t>
            </a:r>
            <a:endParaRPr lang="en-US" sz="1600" dirty="0"/>
          </a:p>
        </p:txBody>
      </p:sp>
      <p:sp>
        <p:nvSpPr>
          <p:cNvPr id="36" name="Text 34"/>
          <p:cNvSpPr/>
          <p:nvPr/>
        </p:nvSpPr>
        <p:spPr>
          <a:xfrm>
            <a:off x="8990498" y="3562459"/>
            <a:ext cx="6650734" cy="243171"/>
          </a:xfrm>
          <a:prstGeom prst="rect">
            <a:avLst/>
          </a:prstGeom>
          <a:noFill/>
          <a:ln/>
        </p:spPr>
        <p:txBody>
          <a:bodyPr wrap="square" lIns="0" tIns="0" rIns="0" bIns="0" rtlCol="0" anchor="ctr"/>
          <a:lstStyle/>
          <a:p>
            <a:pPr>
              <a:lnSpc>
                <a:spcPct val="120000"/>
              </a:lnSpc>
            </a:pPr>
            <a:r>
              <a:rPr lang="en-US" sz="1340" dirty="0">
                <a:solidFill>
                  <a:srgbClr val="7E9AA8"/>
                </a:solidFill>
                <a:latin typeface="MiSans" pitchFamily="34" charset="0"/>
                <a:ea typeface="MiSans" pitchFamily="34" charset="-122"/>
                <a:cs typeface="MiSans" pitchFamily="34" charset="-120"/>
              </a:rPr>
              <a:t>每个节点分裂时从全部特征中随机选择子集</a:t>
            </a:r>
            <a:endParaRPr lang="en-US" sz="1600" dirty="0"/>
          </a:p>
        </p:txBody>
      </p:sp>
      <p:sp>
        <p:nvSpPr>
          <p:cNvPr id="37" name="Shape 35"/>
          <p:cNvSpPr/>
          <p:nvPr/>
        </p:nvSpPr>
        <p:spPr>
          <a:xfrm>
            <a:off x="8455521" y="3951533"/>
            <a:ext cx="389074" cy="389074"/>
          </a:xfrm>
          <a:custGeom>
            <a:avLst/>
            <a:gdLst/>
            <a:ahLst/>
            <a:cxnLst/>
            <a:rect l="l" t="t" r="r" b="b"/>
            <a:pathLst>
              <a:path w="389074" h="389074">
                <a:moveTo>
                  <a:pt x="194537" y="0"/>
                </a:moveTo>
                <a:lnTo>
                  <a:pt x="194537" y="0"/>
                </a:lnTo>
                <a:cubicBezTo>
                  <a:pt x="301905" y="0"/>
                  <a:pt x="389074" y="87169"/>
                  <a:pt x="389074" y="194537"/>
                </a:cubicBezTo>
                <a:lnTo>
                  <a:pt x="389074" y="194537"/>
                </a:lnTo>
                <a:cubicBezTo>
                  <a:pt x="389074" y="301905"/>
                  <a:pt x="301905" y="389074"/>
                  <a:pt x="194537" y="389074"/>
                </a:cubicBezTo>
                <a:lnTo>
                  <a:pt x="194537" y="389074"/>
                </a:lnTo>
                <a:cubicBezTo>
                  <a:pt x="87169" y="389074"/>
                  <a:pt x="0" y="301905"/>
                  <a:pt x="0" y="194537"/>
                </a:cubicBezTo>
                <a:lnTo>
                  <a:pt x="0" y="194537"/>
                </a:lnTo>
                <a:cubicBezTo>
                  <a:pt x="0" y="87169"/>
                  <a:pt x="87169" y="0"/>
                  <a:pt x="194537" y="0"/>
                </a:cubicBezTo>
                <a:close/>
              </a:path>
            </a:pathLst>
          </a:custGeom>
          <a:solidFill>
            <a:srgbClr val="4C7E9A"/>
          </a:solidFill>
          <a:ln/>
        </p:spPr>
      </p:sp>
      <p:sp>
        <p:nvSpPr>
          <p:cNvPr id="38" name="Text 36"/>
          <p:cNvSpPr/>
          <p:nvPr/>
        </p:nvSpPr>
        <p:spPr>
          <a:xfrm>
            <a:off x="8406887" y="3951533"/>
            <a:ext cx="486343" cy="389074"/>
          </a:xfrm>
          <a:prstGeom prst="rect">
            <a:avLst/>
          </a:prstGeom>
          <a:noFill/>
          <a:ln/>
        </p:spPr>
        <p:txBody>
          <a:bodyPr wrap="square" lIns="0" tIns="0" rIns="0" bIns="0" rtlCol="0" anchor="ctr"/>
          <a:lstStyle/>
          <a:p>
            <a:pPr algn="ctr">
              <a:lnSpc>
                <a:spcPct val="130000"/>
              </a:lnSpc>
            </a:pPr>
            <a:r>
              <a:rPr lang="en-US" sz="1532" b="1" dirty="0">
                <a:solidFill>
                  <a:srgbClr val="181A1F"/>
                </a:solidFill>
                <a:latin typeface="MiSans" pitchFamily="34" charset="0"/>
                <a:ea typeface="MiSans" pitchFamily="34" charset="-122"/>
                <a:cs typeface="MiSans" pitchFamily="34" charset="-120"/>
              </a:rPr>
              <a:t>3</a:t>
            </a:r>
            <a:endParaRPr lang="en-US" sz="1600" dirty="0"/>
          </a:p>
        </p:txBody>
      </p:sp>
      <p:sp>
        <p:nvSpPr>
          <p:cNvPr id="39" name="Text 37"/>
          <p:cNvSpPr/>
          <p:nvPr/>
        </p:nvSpPr>
        <p:spPr>
          <a:xfrm>
            <a:off x="8990498" y="3951533"/>
            <a:ext cx="6675052" cy="340440"/>
          </a:xfrm>
          <a:prstGeom prst="rect">
            <a:avLst/>
          </a:prstGeom>
          <a:noFill/>
          <a:ln/>
        </p:spPr>
        <p:txBody>
          <a:bodyPr wrap="square" lIns="0" tIns="0" rIns="0" bIns="0" rtlCol="0" anchor="ctr"/>
          <a:lstStyle/>
          <a:p>
            <a:pPr>
              <a:lnSpc>
                <a:spcPct val="130000"/>
              </a:lnSpc>
            </a:pPr>
            <a:r>
              <a:rPr lang="en-US" sz="1723" b="1" dirty="0">
                <a:solidFill>
                  <a:srgbClr val="D1D5DB"/>
                </a:solidFill>
                <a:latin typeface="MiSans" pitchFamily="34" charset="0"/>
                <a:ea typeface="MiSans" pitchFamily="34" charset="-122"/>
                <a:cs typeface="MiSans" pitchFamily="34" charset="-120"/>
              </a:rPr>
              <a:t>决策树生长</a:t>
            </a:r>
            <a:endParaRPr lang="en-US" sz="1600" dirty="0"/>
          </a:p>
        </p:txBody>
      </p:sp>
      <p:sp>
        <p:nvSpPr>
          <p:cNvPr id="40" name="Text 38"/>
          <p:cNvSpPr/>
          <p:nvPr/>
        </p:nvSpPr>
        <p:spPr>
          <a:xfrm>
            <a:off x="8990498" y="4291973"/>
            <a:ext cx="6650734" cy="243171"/>
          </a:xfrm>
          <a:prstGeom prst="rect">
            <a:avLst/>
          </a:prstGeom>
          <a:noFill/>
          <a:ln/>
        </p:spPr>
        <p:txBody>
          <a:bodyPr wrap="square" lIns="0" tIns="0" rIns="0" bIns="0" rtlCol="0" anchor="ctr"/>
          <a:lstStyle/>
          <a:p>
            <a:pPr>
              <a:lnSpc>
                <a:spcPct val="120000"/>
              </a:lnSpc>
            </a:pPr>
            <a:r>
              <a:rPr lang="en-US" sz="1340" dirty="0">
                <a:solidFill>
                  <a:srgbClr val="7E9AA8"/>
                </a:solidFill>
                <a:latin typeface="MiSans" pitchFamily="34" charset="0"/>
                <a:ea typeface="MiSans" pitchFamily="34" charset="-122"/>
                <a:cs typeface="MiSans" pitchFamily="34" charset="-120"/>
              </a:rPr>
              <a:t>基于选定的样本和特征构建决策树，直到满足停止条件</a:t>
            </a:r>
            <a:endParaRPr lang="en-US" sz="1600" dirty="0"/>
          </a:p>
        </p:txBody>
      </p:sp>
      <p:sp>
        <p:nvSpPr>
          <p:cNvPr id="41" name="Shape 39"/>
          <p:cNvSpPr/>
          <p:nvPr/>
        </p:nvSpPr>
        <p:spPr>
          <a:xfrm>
            <a:off x="8455521" y="4681047"/>
            <a:ext cx="389074" cy="389074"/>
          </a:xfrm>
          <a:custGeom>
            <a:avLst/>
            <a:gdLst/>
            <a:ahLst/>
            <a:cxnLst/>
            <a:rect l="l" t="t" r="r" b="b"/>
            <a:pathLst>
              <a:path w="389074" h="389074">
                <a:moveTo>
                  <a:pt x="194537" y="0"/>
                </a:moveTo>
                <a:lnTo>
                  <a:pt x="194537" y="0"/>
                </a:lnTo>
                <a:cubicBezTo>
                  <a:pt x="301905" y="0"/>
                  <a:pt x="389074" y="87169"/>
                  <a:pt x="389074" y="194537"/>
                </a:cubicBezTo>
                <a:lnTo>
                  <a:pt x="389074" y="194537"/>
                </a:lnTo>
                <a:cubicBezTo>
                  <a:pt x="389074" y="301905"/>
                  <a:pt x="301905" y="389074"/>
                  <a:pt x="194537" y="389074"/>
                </a:cubicBezTo>
                <a:lnTo>
                  <a:pt x="194537" y="389074"/>
                </a:lnTo>
                <a:cubicBezTo>
                  <a:pt x="87169" y="389074"/>
                  <a:pt x="0" y="301905"/>
                  <a:pt x="0" y="194537"/>
                </a:cubicBezTo>
                <a:lnTo>
                  <a:pt x="0" y="194537"/>
                </a:lnTo>
                <a:cubicBezTo>
                  <a:pt x="0" y="87169"/>
                  <a:pt x="87169" y="0"/>
                  <a:pt x="194537" y="0"/>
                </a:cubicBezTo>
                <a:close/>
              </a:path>
            </a:pathLst>
          </a:custGeom>
          <a:solidFill>
            <a:srgbClr val="4C7E9A"/>
          </a:solidFill>
          <a:ln/>
        </p:spPr>
      </p:sp>
      <p:sp>
        <p:nvSpPr>
          <p:cNvPr id="42" name="Text 40"/>
          <p:cNvSpPr/>
          <p:nvPr/>
        </p:nvSpPr>
        <p:spPr>
          <a:xfrm>
            <a:off x="8406887" y="4681047"/>
            <a:ext cx="486343" cy="389074"/>
          </a:xfrm>
          <a:prstGeom prst="rect">
            <a:avLst/>
          </a:prstGeom>
          <a:noFill/>
          <a:ln/>
        </p:spPr>
        <p:txBody>
          <a:bodyPr wrap="square" lIns="0" tIns="0" rIns="0" bIns="0" rtlCol="0" anchor="ctr"/>
          <a:lstStyle/>
          <a:p>
            <a:pPr algn="ctr">
              <a:lnSpc>
                <a:spcPct val="130000"/>
              </a:lnSpc>
            </a:pPr>
            <a:r>
              <a:rPr lang="en-US" sz="1532" b="1" dirty="0">
                <a:solidFill>
                  <a:srgbClr val="181A1F"/>
                </a:solidFill>
                <a:latin typeface="MiSans" pitchFamily="34" charset="0"/>
                <a:ea typeface="MiSans" pitchFamily="34" charset="-122"/>
                <a:cs typeface="MiSans" pitchFamily="34" charset="-120"/>
              </a:rPr>
              <a:t>4</a:t>
            </a:r>
            <a:endParaRPr lang="en-US" sz="1600" dirty="0"/>
          </a:p>
        </p:txBody>
      </p:sp>
      <p:sp>
        <p:nvSpPr>
          <p:cNvPr id="43" name="Text 41"/>
          <p:cNvSpPr/>
          <p:nvPr/>
        </p:nvSpPr>
        <p:spPr>
          <a:xfrm>
            <a:off x="8990498" y="4681047"/>
            <a:ext cx="6675052" cy="340440"/>
          </a:xfrm>
          <a:prstGeom prst="rect">
            <a:avLst/>
          </a:prstGeom>
          <a:noFill/>
          <a:ln/>
        </p:spPr>
        <p:txBody>
          <a:bodyPr wrap="square" lIns="0" tIns="0" rIns="0" bIns="0" rtlCol="0" anchor="ctr"/>
          <a:lstStyle/>
          <a:p>
            <a:pPr>
              <a:lnSpc>
                <a:spcPct val="130000"/>
              </a:lnSpc>
            </a:pPr>
            <a:r>
              <a:rPr lang="en-US" sz="1723" b="1" dirty="0">
                <a:solidFill>
                  <a:srgbClr val="D1D5DB"/>
                </a:solidFill>
                <a:latin typeface="MiSans" pitchFamily="34" charset="0"/>
                <a:ea typeface="MiSans" pitchFamily="34" charset="-122"/>
                <a:cs typeface="MiSans" pitchFamily="34" charset="-120"/>
              </a:rPr>
              <a:t>集成预测</a:t>
            </a:r>
            <a:endParaRPr lang="en-US" sz="1600" dirty="0"/>
          </a:p>
        </p:txBody>
      </p:sp>
      <p:sp>
        <p:nvSpPr>
          <p:cNvPr id="44" name="Text 42"/>
          <p:cNvSpPr/>
          <p:nvPr/>
        </p:nvSpPr>
        <p:spPr>
          <a:xfrm>
            <a:off x="8990498" y="5021487"/>
            <a:ext cx="6650734" cy="243171"/>
          </a:xfrm>
          <a:prstGeom prst="rect">
            <a:avLst/>
          </a:prstGeom>
          <a:noFill/>
          <a:ln/>
        </p:spPr>
        <p:txBody>
          <a:bodyPr wrap="square" lIns="0" tIns="0" rIns="0" bIns="0" rtlCol="0" anchor="ctr"/>
          <a:lstStyle/>
          <a:p>
            <a:pPr>
              <a:lnSpc>
                <a:spcPct val="120000"/>
              </a:lnSpc>
            </a:pPr>
            <a:r>
              <a:rPr lang="en-US" sz="1340" dirty="0">
                <a:solidFill>
                  <a:srgbClr val="7E9AA8"/>
                </a:solidFill>
                <a:latin typeface="MiSans" pitchFamily="34" charset="0"/>
                <a:ea typeface="MiSans" pitchFamily="34" charset="-122"/>
                <a:cs typeface="MiSans" pitchFamily="34" charset="-120"/>
              </a:rPr>
              <a:t>分类：多数投票；回归：简单平均</a:t>
            </a:r>
            <a:endParaRPr lang="en-US" sz="1600" dirty="0"/>
          </a:p>
        </p:txBody>
      </p:sp>
      <p:sp>
        <p:nvSpPr>
          <p:cNvPr id="45" name="Shape 43"/>
          <p:cNvSpPr/>
          <p:nvPr/>
        </p:nvSpPr>
        <p:spPr>
          <a:xfrm>
            <a:off x="8254905" y="5671970"/>
            <a:ext cx="7501834" cy="2978848"/>
          </a:xfrm>
          <a:custGeom>
            <a:avLst/>
            <a:gdLst/>
            <a:ahLst/>
            <a:cxnLst/>
            <a:rect l="l" t="t" r="r" b="b"/>
            <a:pathLst>
              <a:path w="7501834" h="2978848">
                <a:moveTo>
                  <a:pt x="97259" y="0"/>
                </a:moveTo>
                <a:lnTo>
                  <a:pt x="7404575" y="0"/>
                </a:lnTo>
                <a:cubicBezTo>
                  <a:pt x="7458289" y="0"/>
                  <a:pt x="7501834" y="43545"/>
                  <a:pt x="7501834" y="97259"/>
                </a:cubicBezTo>
                <a:lnTo>
                  <a:pt x="7501834" y="2881589"/>
                </a:lnTo>
                <a:cubicBezTo>
                  <a:pt x="7501834" y="2935304"/>
                  <a:pt x="7458289" y="2978848"/>
                  <a:pt x="7404575" y="2978848"/>
                </a:cubicBezTo>
                <a:lnTo>
                  <a:pt x="97259" y="2978848"/>
                </a:lnTo>
                <a:cubicBezTo>
                  <a:pt x="43545" y="2978848"/>
                  <a:pt x="0" y="2935304"/>
                  <a:pt x="0" y="2881589"/>
                </a:cubicBezTo>
                <a:lnTo>
                  <a:pt x="0" y="97259"/>
                </a:lnTo>
                <a:cubicBezTo>
                  <a:pt x="0" y="43580"/>
                  <a:pt x="43580" y="0"/>
                  <a:pt x="97259" y="0"/>
                </a:cubicBezTo>
                <a:close/>
              </a:path>
            </a:pathLst>
          </a:custGeom>
          <a:solidFill>
            <a:srgbClr val="3A5E78">
              <a:alpha val="20000"/>
            </a:srgbClr>
          </a:solidFill>
          <a:ln w="12700">
            <a:solidFill>
              <a:srgbClr val="4C7E9A">
                <a:alpha val="50196"/>
              </a:srgbClr>
            </a:solidFill>
            <a:prstDash val="solid"/>
          </a:ln>
        </p:spPr>
      </p:sp>
      <p:sp>
        <p:nvSpPr>
          <p:cNvPr id="46" name="Text 44"/>
          <p:cNvSpPr/>
          <p:nvPr/>
        </p:nvSpPr>
        <p:spPr>
          <a:xfrm>
            <a:off x="8455521" y="5872586"/>
            <a:ext cx="7246504" cy="389074"/>
          </a:xfrm>
          <a:prstGeom prst="rect">
            <a:avLst/>
          </a:prstGeom>
          <a:noFill/>
          <a:ln/>
        </p:spPr>
        <p:txBody>
          <a:bodyPr wrap="square" lIns="0" tIns="0" rIns="0" bIns="0" rtlCol="0" anchor="ctr"/>
          <a:lstStyle/>
          <a:p>
            <a:pPr>
              <a:lnSpc>
                <a:spcPct val="110000"/>
              </a:lnSpc>
            </a:pPr>
            <a:r>
              <a:rPr lang="en-US" sz="2298" b="1" dirty="0">
                <a:solidFill>
                  <a:srgbClr val="4C7E9A"/>
                </a:solidFill>
                <a:latin typeface="MiSans" pitchFamily="34" charset="0"/>
                <a:ea typeface="MiSans" pitchFamily="34" charset="-122"/>
                <a:cs typeface="MiSans" pitchFamily="34" charset="-120"/>
              </a:rPr>
              <a:t>数学表达</a:t>
            </a:r>
            <a:endParaRPr lang="en-US" sz="1600" dirty="0"/>
          </a:p>
        </p:txBody>
      </p:sp>
      <p:sp>
        <p:nvSpPr>
          <p:cNvPr id="47" name="Shape 45"/>
          <p:cNvSpPr/>
          <p:nvPr/>
        </p:nvSpPr>
        <p:spPr>
          <a:xfrm>
            <a:off x="8455521" y="6407563"/>
            <a:ext cx="7100601" cy="972685"/>
          </a:xfrm>
          <a:custGeom>
            <a:avLst/>
            <a:gdLst/>
            <a:ahLst/>
            <a:cxnLst/>
            <a:rect l="l" t="t" r="r" b="b"/>
            <a:pathLst>
              <a:path w="7100601" h="972685">
                <a:moveTo>
                  <a:pt x="48634" y="0"/>
                </a:moveTo>
                <a:lnTo>
                  <a:pt x="7051967" y="0"/>
                </a:lnTo>
                <a:cubicBezTo>
                  <a:pt x="7078827" y="0"/>
                  <a:pt x="7100601" y="21774"/>
                  <a:pt x="7100601" y="48634"/>
                </a:cubicBezTo>
                <a:lnTo>
                  <a:pt x="7100601" y="924051"/>
                </a:lnTo>
                <a:cubicBezTo>
                  <a:pt x="7100601" y="950911"/>
                  <a:pt x="7078827" y="972685"/>
                  <a:pt x="7051967" y="972685"/>
                </a:cubicBezTo>
                <a:lnTo>
                  <a:pt x="48634" y="972685"/>
                </a:lnTo>
                <a:cubicBezTo>
                  <a:pt x="21774" y="972685"/>
                  <a:pt x="0" y="950911"/>
                  <a:pt x="0" y="924051"/>
                </a:cubicBezTo>
                <a:lnTo>
                  <a:pt x="0" y="48634"/>
                </a:lnTo>
                <a:cubicBezTo>
                  <a:pt x="0" y="21792"/>
                  <a:pt x="21792" y="0"/>
                  <a:pt x="48634" y="0"/>
                </a:cubicBezTo>
                <a:close/>
              </a:path>
            </a:pathLst>
          </a:custGeom>
          <a:solidFill>
            <a:srgbClr val="181A1F">
              <a:alpha val="50196"/>
            </a:srgbClr>
          </a:solidFill>
          <a:ln/>
        </p:spPr>
      </p:sp>
      <p:sp>
        <p:nvSpPr>
          <p:cNvPr id="48" name="Text 46"/>
          <p:cNvSpPr/>
          <p:nvPr/>
        </p:nvSpPr>
        <p:spPr>
          <a:xfrm>
            <a:off x="8552790" y="6504832"/>
            <a:ext cx="7003333" cy="291806"/>
          </a:xfrm>
          <a:prstGeom prst="rect">
            <a:avLst/>
          </a:prstGeom>
          <a:noFill/>
          <a:ln/>
        </p:spPr>
        <p:txBody>
          <a:bodyPr wrap="square" lIns="0" tIns="0" rIns="0" bIns="0" rtlCol="0" anchor="ctr"/>
          <a:lstStyle/>
          <a:p>
            <a:pPr>
              <a:lnSpc>
                <a:spcPct val="130000"/>
              </a:lnSpc>
            </a:pPr>
            <a:r>
              <a:rPr lang="en-US" sz="1532" b="1" dirty="0">
                <a:solidFill>
                  <a:srgbClr val="D1D5DB"/>
                </a:solidFill>
                <a:latin typeface="MiSans" pitchFamily="34" charset="0"/>
                <a:ea typeface="MiSans" pitchFamily="34" charset="-122"/>
                <a:cs typeface="MiSans" pitchFamily="34" charset="-120"/>
              </a:rPr>
              <a:t>分类任务</a:t>
            </a:r>
            <a:endParaRPr lang="en-US" sz="1600" dirty="0"/>
          </a:p>
        </p:txBody>
      </p:sp>
      <p:sp>
        <p:nvSpPr>
          <p:cNvPr id="49" name="Shape 47"/>
          <p:cNvSpPr/>
          <p:nvPr/>
        </p:nvSpPr>
        <p:spPr>
          <a:xfrm>
            <a:off x="8552790" y="6845272"/>
            <a:ext cx="6906064" cy="437708"/>
          </a:xfrm>
          <a:custGeom>
            <a:avLst/>
            <a:gdLst/>
            <a:ahLst/>
            <a:cxnLst/>
            <a:rect l="l" t="t" r="r" b="b"/>
            <a:pathLst>
              <a:path w="6906064" h="437708">
                <a:moveTo>
                  <a:pt x="48634" y="0"/>
                </a:moveTo>
                <a:lnTo>
                  <a:pt x="6857431" y="0"/>
                </a:lnTo>
                <a:cubicBezTo>
                  <a:pt x="6884290" y="0"/>
                  <a:pt x="6906064" y="21774"/>
                  <a:pt x="6906064" y="48634"/>
                </a:cubicBezTo>
                <a:lnTo>
                  <a:pt x="6906064" y="389075"/>
                </a:lnTo>
                <a:cubicBezTo>
                  <a:pt x="6906064" y="415934"/>
                  <a:pt x="6884290" y="437708"/>
                  <a:pt x="6857431" y="437708"/>
                </a:cubicBezTo>
                <a:lnTo>
                  <a:pt x="48634" y="437708"/>
                </a:lnTo>
                <a:cubicBezTo>
                  <a:pt x="21774" y="437708"/>
                  <a:pt x="0" y="415934"/>
                  <a:pt x="0" y="389075"/>
                </a:cubicBezTo>
                <a:lnTo>
                  <a:pt x="0" y="48634"/>
                </a:lnTo>
                <a:cubicBezTo>
                  <a:pt x="0" y="21792"/>
                  <a:pt x="21792" y="0"/>
                  <a:pt x="48634" y="0"/>
                </a:cubicBezTo>
                <a:close/>
              </a:path>
            </a:pathLst>
          </a:custGeom>
          <a:solidFill>
            <a:srgbClr val="181A1F"/>
          </a:solidFill>
          <a:ln/>
        </p:spPr>
      </p:sp>
      <p:sp>
        <p:nvSpPr>
          <p:cNvPr id="50" name="Text 48"/>
          <p:cNvSpPr/>
          <p:nvPr/>
        </p:nvSpPr>
        <p:spPr>
          <a:xfrm>
            <a:off x="8607503" y="6942540"/>
            <a:ext cx="6796637" cy="243171"/>
          </a:xfrm>
          <a:prstGeom prst="rect">
            <a:avLst/>
          </a:prstGeom>
          <a:noFill/>
          <a:ln/>
        </p:spPr>
        <p:txBody>
          <a:bodyPr wrap="square" lIns="0" tIns="0" rIns="0" bIns="0" rtlCol="0" anchor="ctr"/>
          <a:lstStyle/>
          <a:p>
            <a:pPr algn="ctr">
              <a:lnSpc>
                <a:spcPct val="120000"/>
              </a:lnSpc>
            </a:pPr>
            <a:r>
              <a:rPr lang="en-US" sz="1340" dirty="0">
                <a:solidFill>
                  <a:srgbClr val="7E9AA8"/>
                </a:solidFill>
                <a:latin typeface="MiSans" pitchFamily="34" charset="0"/>
                <a:ea typeface="MiSans" pitchFamily="34" charset="-122"/>
                <a:cs typeface="MiSans" pitchFamily="34" charset="-120"/>
              </a:rPr>
              <a:t>H(x) = argmax_c ∑ I(h_i(x) = c)</a:t>
            </a:r>
            <a:endParaRPr lang="en-US" sz="1600" dirty="0"/>
          </a:p>
        </p:txBody>
      </p:sp>
      <p:sp>
        <p:nvSpPr>
          <p:cNvPr id="51" name="Shape 49"/>
          <p:cNvSpPr/>
          <p:nvPr/>
        </p:nvSpPr>
        <p:spPr>
          <a:xfrm>
            <a:off x="8455521" y="7477517"/>
            <a:ext cx="7100601" cy="972685"/>
          </a:xfrm>
          <a:custGeom>
            <a:avLst/>
            <a:gdLst/>
            <a:ahLst/>
            <a:cxnLst/>
            <a:rect l="l" t="t" r="r" b="b"/>
            <a:pathLst>
              <a:path w="7100601" h="972685">
                <a:moveTo>
                  <a:pt x="48634" y="0"/>
                </a:moveTo>
                <a:lnTo>
                  <a:pt x="7051967" y="0"/>
                </a:lnTo>
                <a:cubicBezTo>
                  <a:pt x="7078827" y="0"/>
                  <a:pt x="7100601" y="21774"/>
                  <a:pt x="7100601" y="48634"/>
                </a:cubicBezTo>
                <a:lnTo>
                  <a:pt x="7100601" y="924051"/>
                </a:lnTo>
                <a:cubicBezTo>
                  <a:pt x="7100601" y="950911"/>
                  <a:pt x="7078827" y="972685"/>
                  <a:pt x="7051967" y="972685"/>
                </a:cubicBezTo>
                <a:lnTo>
                  <a:pt x="48634" y="972685"/>
                </a:lnTo>
                <a:cubicBezTo>
                  <a:pt x="21774" y="972685"/>
                  <a:pt x="0" y="950911"/>
                  <a:pt x="0" y="924051"/>
                </a:cubicBezTo>
                <a:lnTo>
                  <a:pt x="0" y="48634"/>
                </a:lnTo>
                <a:cubicBezTo>
                  <a:pt x="0" y="21792"/>
                  <a:pt x="21792" y="0"/>
                  <a:pt x="48634" y="0"/>
                </a:cubicBezTo>
                <a:close/>
              </a:path>
            </a:pathLst>
          </a:custGeom>
          <a:solidFill>
            <a:srgbClr val="181A1F">
              <a:alpha val="50196"/>
            </a:srgbClr>
          </a:solidFill>
          <a:ln/>
        </p:spPr>
      </p:sp>
      <p:sp>
        <p:nvSpPr>
          <p:cNvPr id="52" name="Text 50"/>
          <p:cNvSpPr/>
          <p:nvPr/>
        </p:nvSpPr>
        <p:spPr>
          <a:xfrm>
            <a:off x="8552790" y="7574785"/>
            <a:ext cx="7003333" cy="291806"/>
          </a:xfrm>
          <a:prstGeom prst="rect">
            <a:avLst/>
          </a:prstGeom>
          <a:noFill/>
          <a:ln/>
        </p:spPr>
        <p:txBody>
          <a:bodyPr wrap="square" lIns="0" tIns="0" rIns="0" bIns="0" rtlCol="0" anchor="ctr"/>
          <a:lstStyle/>
          <a:p>
            <a:pPr>
              <a:lnSpc>
                <a:spcPct val="130000"/>
              </a:lnSpc>
            </a:pPr>
            <a:r>
              <a:rPr lang="en-US" sz="1532" b="1" dirty="0">
                <a:solidFill>
                  <a:srgbClr val="D1D5DB"/>
                </a:solidFill>
                <a:latin typeface="MiSans" pitchFamily="34" charset="0"/>
                <a:ea typeface="MiSans" pitchFamily="34" charset="-122"/>
                <a:cs typeface="MiSans" pitchFamily="34" charset="-120"/>
              </a:rPr>
              <a:t>回归任务</a:t>
            </a:r>
            <a:endParaRPr lang="en-US" sz="1600" dirty="0"/>
          </a:p>
        </p:txBody>
      </p:sp>
      <p:sp>
        <p:nvSpPr>
          <p:cNvPr id="53" name="Shape 51"/>
          <p:cNvSpPr/>
          <p:nvPr/>
        </p:nvSpPr>
        <p:spPr>
          <a:xfrm>
            <a:off x="8552790" y="7915225"/>
            <a:ext cx="6906064" cy="437708"/>
          </a:xfrm>
          <a:custGeom>
            <a:avLst/>
            <a:gdLst/>
            <a:ahLst/>
            <a:cxnLst/>
            <a:rect l="l" t="t" r="r" b="b"/>
            <a:pathLst>
              <a:path w="6906064" h="437708">
                <a:moveTo>
                  <a:pt x="48634" y="0"/>
                </a:moveTo>
                <a:lnTo>
                  <a:pt x="6857431" y="0"/>
                </a:lnTo>
                <a:cubicBezTo>
                  <a:pt x="6884290" y="0"/>
                  <a:pt x="6906064" y="21774"/>
                  <a:pt x="6906064" y="48634"/>
                </a:cubicBezTo>
                <a:lnTo>
                  <a:pt x="6906064" y="389075"/>
                </a:lnTo>
                <a:cubicBezTo>
                  <a:pt x="6906064" y="415934"/>
                  <a:pt x="6884290" y="437708"/>
                  <a:pt x="6857431" y="437708"/>
                </a:cubicBezTo>
                <a:lnTo>
                  <a:pt x="48634" y="437708"/>
                </a:lnTo>
                <a:cubicBezTo>
                  <a:pt x="21774" y="437708"/>
                  <a:pt x="0" y="415934"/>
                  <a:pt x="0" y="389075"/>
                </a:cubicBezTo>
                <a:lnTo>
                  <a:pt x="0" y="48634"/>
                </a:lnTo>
                <a:cubicBezTo>
                  <a:pt x="0" y="21792"/>
                  <a:pt x="21792" y="0"/>
                  <a:pt x="48634" y="0"/>
                </a:cubicBezTo>
                <a:close/>
              </a:path>
            </a:pathLst>
          </a:custGeom>
          <a:solidFill>
            <a:srgbClr val="181A1F"/>
          </a:solidFill>
          <a:ln/>
        </p:spPr>
      </p:sp>
      <p:sp>
        <p:nvSpPr>
          <p:cNvPr id="54" name="Text 52"/>
          <p:cNvSpPr/>
          <p:nvPr/>
        </p:nvSpPr>
        <p:spPr>
          <a:xfrm>
            <a:off x="8607503" y="8012494"/>
            <a:ext cx="6796637" cy="243171"/>
          </a:xfrm>
          <a:prstGeom prst="rect">
            <a:avLst/>
          </a:prstGeom>
          <a:noFill/>
          <a:ln/>
        </p:spPr>
        <p:txBody>
          <a:bodyPr wrap="square" lIns="0" tIns="0" rIns="0" bIns="0" rtlCol="0" anchor="ctr"/>
          <a:lstStyle/>
          <a:p>
            <a:pPr algn="ctr">
              <a:lnSpc>
                <a:spcPct val="120000"/>
              </a:lnSpc>
            </a:pPr>
            <a:r>
              <a:rPr lang="en-US" sz="1340" dirty="0">
                <a:solidFill>
                  <a:srgbClr val="7E9AA8"/>
                </a:solidFill>
                <a:latin typeface="MiSans" pitchFamily="34" charset="0"/>
                <a:ea typeface="MiSans" pitchFamily="34" charset="-122"/>
                <a:cs typeface="MiSans" pitchFamily="34" charset="-120"/>
              </a:rPr>
              <a:t>f(x) = (1/T) ∑ f_t(x)</a:t>
            </a:r>
            <a:endParaRPr lang="en-US" sz="1600" dirty="0"/>
          </a:p>
        </p:txBody>
      </p:sp>
    </p:spTree>
  </p:cSld>
  <p:clrMapOvr>
    <a:masterClrMapping/>
  </p:clrMapOvr>
  <p:transition>
    <p:fade/>
    <p:spd val="med"/>
  </p:transition>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63134" y="463134"/>
            <a:ext cx="15422359" cy="277880"/>
          </a:xfrm>
          <a:prstGeom prst="rect">
            <a:avLst/>
          </a:prstGeom>
          <a:noFill/>
          <a:ln/>
        </p:spPr>
        <p:txBody>
          <a:bodyPr wrap="square" lIns="0" tIns="0" rIns="0" bIns="0" rtlCol="0" anchor="ctr"/>
          <a:lstStyle/>
          <a:p>
            <a:pPr>
              <a:lnSpc>
                <a:spcPct val="130000"/>
              </a:lnSpc>
            </a:pPr>
            <a:r>
              <a:rPr lang="en-US" sz="1459" b="1" spc="73" kern="0" dirty="0">
                <a:solidFill>
                  <a:srgbClr val="7E9AA8"/>
                </a:solidFill>
                <a:latin typeface="MiSans" pitchFamily="34" charset="0"/>
                <a:ea typeface="MiSans" pitchFamily="34" charset="-122"/>
                <a:cs typeface="MiSans" pitchFamily="34" charset="-120"/>
              </a:rPr>
              <a:t>RANDOM FOREST</a:t>
            </a:r>
            <a:endParaRPr lang="en-US" sz="1600" dirty="0"/>
          </a:p>
        </p:txBody>
      </p:sp>
      <p:sp>
        <p:nvSpPr>
          <p:cNvPr id="3" name="Text 1"/>
          <p:cNvSpPr/>
          <p:nvPr/>
        </p:nvSpPr>
        <p:spPr>
          <a:xfrm>
            <a:off x="463134" y="833641"/>
            <a:ext cx="15538142" cy="463134"/>
          </a:xfrm>
          <a:prstGeom prst="rect">
            <a:avLst/>
          </a:prstGeom>
          <a:noFill/>
          <a:ln/>
        </p:spPr>
        <p:txBody>
          <a:bodyPr wrap="square" lIns="0" tIns="0" rIns="0" bIns="0" rtlCol="0" anchor="ctr"/>
          <a:lstStyle/>
          <a:p>
            <a:pPr>
              <a:lnSpc>
                <a:spcPct val="90000"/>
              </a:lnSpc>
            </a:pPr>
            <a:r>
              <a:rPr lang="en-US" sz="3282" b="1" dirty="0">
                <a:solidFill>
                  <a:srgbClr val="D1D5DB"/>
                </a:solidFill>
                <a:latin typeface="阿里妈妈数黑体" pitchFamily="34" charset="0"/>
                <a:ea typeface="阿里妈妈数黑体" pitchFamily="34" charset="-122"/>
                <a:cs typeface="阿里妈妈数黑体" pitchFamily="34" charset="-120"/>
              </a:rPr>
              <a:t>随机森林的优缺点</a:t>
            </a:r>
            <a:endParaRPr lang="en-US" sz="1600" dirty="0"/>
          </a:p>
        </p:txBody>
      </p:sp>
      <p:sp>
        <p:nvSpPr>
          <p:cNvPr id="4" name="Shape 2"/>
          <p:cNvSpPr/>
          <p:nvPr/>
        </p:nvSpPr>
        <p:spPr>
          <a:xfrm>
            <a:off x="463134" y="1435715"/>
            <a:ext cx="1111521" cy="46313"/>
          </a:xfrm>
          <a:custGeom>
            <a:avLst/>
            <a:gdLst/>
            <a:ahLst/>
            <a:cxnLst/>
            <a:rect l="l" t="t" r="r" b="b"/>
            <a:pathLst>
              <a:path w="1111521" h="46313">
                <a:moveTo>
                  <a:pt x="0" y="0"/>
                </a:moveTo>
                <a:lnTo>
                  <a:pt x="1111521" y="0"/>
                </a:lnTo>
                <a:lnTo>
                  <a:pt x="1111521" y="46313"/>
                </a:lnTo>
                <a:lnTo>
                  <a:pt x="0" y="46313"/>
                </a:lnTo>
                <a:lnTo>
                  <a:pt x="0" y="0"/>
                </a:lnTo>
                <a:close/>
              </a:path>
            </a:pathLst>
          </a:custGeom>
          <a:solidFill>
            <a:srgbClr val="4C7E9A"/>
          </a:solidFill>
          <a:ln/>
        </p:spPr>
      </p:sp>
      <p:sp>
        <p:nvSpPr>
          <p:cNvPr id="5" name="Shape 3"/>
          <p:cNvSpPr/>
          <p:nvPr/>
        </p:nvSpPr>
        <p:spPr>
          <a:xfrm>
            <a:off x="486291" y="1667282"/>
            <a:ext cx="7525926" cy="5372353"/>
          </a:xfrm>
          <a:custGeom>
            <a:avLst/>
            <a:gdLst/>
            <a:ahLst/>
            <a:cxnLst/>
            <a:rect l="l" t="t" r="r" b="b"/>
            <a:pathLst>
              <a:path w="7525926" h="5372353">
                <a:moveTo>
                  <a:pt x="46313" y="0"/>
                </a:moveTo>
                <a:lnTo>
                  <a:pt x="7433307" y="0"/>
                </a:lnTo>
                <a:cubicBezTo>
                  <a:pt x="7484459" y="0"/>
                  <a:pt x="7525926" y="41467"/>
                  <a:pt x="7525926" y="92619"/>
                </a:cubicBezTo>
                <a:lnTo>
                  <a:pt x="7525926" y="5279734"/>
                </a:lnTo>
                <a:cubicBezTo>
                  <a:pt x="7525926" y="5330886"/>
                  <a:pt x="7484459" y="5372353"/>
                  <a:pt x="7433307" y="5372353"/>
                </a:cubicBezTo>
                <a:lnTo>
                  <a:pt x="46313" y="5372353"/>
                </a:lnTo>
                <a:cubicBezTo>
                  <a:pt x="20735" y="5372353"/>
                  <a:pt x="0" y="5351618"/>
                  <a:pt x="0" y="5326040"/>
                </a:cubicBezTo>
                <a:lnTo>
                  <a:pt x="0" y="46313"/>
                </a:lnTo>
                <a:cubicBezTo>
                  <a:pt x="0" y="20752"/>
                  <a:pt x="20752" y="0"/>
                  <a:pt x="46313" y="0"/>
                </a:cubicBezTo>
                <a:close/>
              </a:path>
            </a:pathLst>
          </a:custGeom>
          <a:solidFill>
            <a:srgbClr val="3A5E78">
              <a:alpha val="20000"/>
            </a:srgbClr>
          </a:solidFill>
          <a:ln/>
        </p:spPr>
      </p:sp>
      <p:sp>
        <p:nvSpPr>
          <p:cNvPr id="6" name="Shape 4"/>
          <p:cNvSpPr/>
          <p:nvPr/>
        </p:nvSpPr>
        <p:spPr>
          <a:xfrm>
            <a:off x="486291" y="1667282"/>
            <a:ext cx="46313" cy="5372353"/>
          </a:xfrm>
          <a:custGeom>
            <a:avLst/>
            <a:gdLst/>
            <a:ahLst/>
            <a:cxnLst/>
            <a:rect l="l" t="t" r="r" b="b"/>
            <a:pathLst>
              <a:path w="46313" h="5372353">
                <a:moveTo>
                  <a:pt x="46313" y="0"/>
                </a:moveTo>
                <a:lnTo>
                  <a:pt x="46313" y="0"/>
                </a:lnTo>
                <a:lnTo>
                  <a:pt x="46313" y="5372353"/>
                </a:lnTo>
                <a:lnTo>
                  <a:pt x="46313" y="5372353"/>
                </a:lnTo>
                <a:cubicBezTo>
                  <a:pt x="20735" y="5372353"/>
                  <a:pt x="0" y="5351618"/>
                  <a:pt x="0" y="5326040"/>
                </a:cubicBezTo>
                <a:lnTo>
                  <a:pt x="0" y="46313"/>
                </a:lnTo>
                <a:cubicBezTo>
                  <a:pt x="0" y="20752"/>
                  <a:pt x="20752" y="0"/>
                  <a:pt x="46313" y="0"/>
                </a:cubicBezTo>
                <a:close/>
              </a:path>
            </a:pathLst>
          </a:custGeom>
          <a:solidFill>
            <a:srgbClr val="4C7E9A"/>
          </a:solidFill>
          <a:ln/>
        </p:spPr>
      </p:sp>
      <p:sp>
        <p:nvSpPr>
          <p:cNvPr id="7" name="Shape 5"/>
          <p:cNvSpPr/>
          <p:nvPr/>
        </p:nvSpPr>
        <p:spPr>
          <a:xfrm>
            <a:off x="787328" y="1933584"/>
            <a:ext cx="347350" cy="347350"/>
          </a:xfrm>
          <a:custGeom>
            <a:avLst/>
            <a:gdLst/>
            <a:ahLst/>
            <a:cxnLst/>
            <a:rect l="l" t="t" r="r" b="b"/>
            <a:pathLst>
              <a:path w="347350" h="347350">
                <a:moveTo>
                  <a:pt x="54274" y="108547"/>
                </a:moveTo>
                <a:cubicBezTo>
                  <a:pt x="66282" y="108547"/>
                  <a:pt x="75983" y="118248"/>
                  <a:pt x="75983" y="130256"/>
                </a:cubicBezTo>
                <a:lnTo>
                  <a:pt x="75983" y="303932"/>
                </a:lnTo>
                <a:cubicBezTo>
                  <a:pt x="75983" y="315940"/>
                  <a:pt x="66282" y="325641"/>
                  <a:pt x="54274" y="325641"/>
                </a:cubicBezTo>
                <a:lnTo>
                  <a:pt x="21709" y="325641"/>
                </a:lnTo>
                <a:cubicBezTo>
                  <a:pt x="9701" y="325641"/>
                  <a:pt x="0" y="315940"/>
                  <a:pt x="0" y="303932"/>
                </a:cubicBezTo>
                <a:lnTo>
                  <a:pt x="0" y="130256"/>
                </a:lnTo>
                <a:cubicBezTo>
                  <a:pt x="0" y="118248"/>
                  <a:pt x="9701" y="108547"/>
                  <a:pt x="21709" y="108547"/>
                </a:cubicBezTo>
                <a:lnTo>
                  <a:pt x="54274" y="108547"/>
                </a:lnTo>
                <a:close/>
                <a:moveTo>
                  <a:pt x="183580" y="10855"/>
                </a:moveTo>
                <a:cubicBezTo>
                  <a:pt x="202101" y="10855"/>
                  <a:pt x="217094" y="25848"/>
                  <a:pt x="217094" y="44369"/>
                </a:cubicBezTo>
                <a:lnTo>
                  <a:pt x="217094" y="47218"/>
                </a:lnTo>
                <a:cubicBezTo>
                  <a:pt x="217094" y="51831"/>
                  <a:pt x="216212" y="56444"/>
                  <a:pt x="214516" y="60718"/>
                </a:cubicBezTo>
                <a:lnTo>
                  <a:pt x="195385" y="108547"/>
                </a:lnTo>
                <a:lnTo>
                  <a:pt x="303932" y="108547"/>
                </a:lnTo>
                <a:cubicBezTo>
                  <a:pt x="321910" y="108547"/>
                  <a:pt x="336496" y="123133"/>
                  <a:pt x="336496" y="141111"/>
                </a:cubicBezTo>
                <a:cubicBezTo>
                  <a:pt x="336496" y="154476"/>
                  <a:pt x="328423" y="165941"/>
                  <a:pt x="316889" y="170962"/>
                </a:cubicBezTo>
                <a:cubicBezTo>
                  <a:pt x="328423" y="175982"/>
                  <a:pt x="336496" y="187447"/>
                  <a:pt x="336496" y="200812"/>
                </a:cubicBezTo>
                <a:cubicBezTo>
                  <a:pt x="336496" y="216687"/>
                  <a:pt x="325098" y="229916"/>
                  <a:pt x="310037" y="232765"/>
                </a:cubicBezTo>
                <a:cubicBezTo>
                  <a:pt x="313022" y="237718"/>
                  <a:pt x="314786" y="243485"/>
                  <a:pt x="314786" y="249658"/>
                </a:cubicBezTo>
                <a:cubicBezTo>
                  <a:pt x="314786" y="264719"/>
                  <a:pt x="304610" y="277338"/>
                  <a:pt x="290770" y="281069"/>
                </a:cubicBezTo>
                <a:cubicBezTo>
                  <a:pt x="292263" y="284800"/>
                  <a:pt x="293077" y="288871"/>
                  <a:pt x="293077" y="293077"/>
                </a:cubicBezTo>
                <a:cubicBezTo>
                  <a:pt x="293077" y="311055"/>
                  <a:pt x="278491" y="325641"/>
                  <a:pt x="260513" y="325641"/>
                </a:cubicBezTo>
                <a:lnTo>
                  <a:pt x="200880" y="325641"/>
                </a:lnTo>
                <a:cubicBezTo>
                  <a:pt x="176253" y="325641"/>
                  <a:pt x="152305" y="317229"/>
                  <a:pt x="133106" y="301829"/>
                </a:cubicBezTo>
                <a:lnTo>
                  <a:pt x="124829" y="295248"/>
                </a:lnTo>
                <a:cubicBezTo>
                  <a:pt x="114517" y="287039"/>
                  <a:pt x="108547" y="274556"/>
                  <a:pt x="108547" y="261327"/>
                </a:cubicBezTo>
                <a:lnTo>
                  <a:pt x="108547" y="134734"/>
                </a:lnTo>
                <a:cubicBezTo>
                  <a:pt x="108547" y="124626"/>
                  <a:pt x="110921" y="114653"/>
                  <a:pt x="115399" y="105630"/>
                </a:cubicBezTo>
                <a:lnTo>
                  <a:pt x="153526" y="29376"/>
                </a:lnTo>
                <a:cubicBezTo>
                  <a:pt x="159225" y="18046"/>
                  <a:pt x="170826" y="10855"/>
                  <a:pt x="183580" y="10855"/>
                </a:cubicBezTo>
                <a:close/>
              </a:path>
            </a:pathLst>
          </a:custGeom>
          <a:solidFill>
            <a:srgbClr val="4C7E9A"/>
          </a:solidFill>
          <a:ln/>
        </p:spPr>
      </p:sp>
      <p:sp>
        <p:nvSpPr>
          <p:cNvPr id="8" name="Text 6"/>
          <p:cNvSpPr/>
          <p:nvPr/>
        </p:nvSpPr>
        <p:spPr>
          <a:xfrm>
            <a:off x="1314142" y="1898849"/>
            <a:ext cx="868376" cy="416821"/>
          </a:xfrm>
          <a:prstGeom prst="rect">
            <a:avLst/>
          </a:prstGeom>
          <a:noFill/>
          <a:ln/>
        </p:spPr>
        <p:txBody>
          <a:bodyPr wrap="square" lIns="0" tIns="0" rIns="0" bIns="0" rtlCol="0" anchor="ctr"/>
          <a:lstStyle/>
          <a:p>
            <a:pPr>
              <a:lnSpc>
                <a:spcPct val="100000"/>
              </a:lnSpc>
            </a:pPr>
            <a:r>
              <a:rPr lang="en-US" sz="2735" b="1" dirty="0">
                <a:solidFill>
                  <a:srgbClr val="D1D5DB"/>
                </a:solidFill>
                <a:latin typeface="MiSans" pitchFamily="34" charset="0"/>
                <a:ea typeface="MiSans" pitchFamily="34" charset="-122"/>
                <a:cs typeface="MiSans" pitchFamily="34" charset="-120"/>
              </a:rPr>
              <a:t>优点</a:t>
            </a:r>
            <a:endParaRPr lang="en-US" sz="1600" dirty="0"/>
          </a:p>
        </p:txBody>
      </p:sp>
      <p:sp>
        <p:nvSpPr>
          <p:cNvPr id="9" name="Shape 7"/>
          <p:cNvSpPr/>
          <p:nvPr/>
        </p:nvSpPr>
        <p:spPr>
          <a:xfrm>
            <a:off x="769960" y="2547236"/>
            <a:ext cx="231567" cy="231567"/>
          </a:xfrm>
          <a:custGeom>
            <a:avLst/>
            <a:gdLst/>
            <a:ahLst/>
            <a:cxnLst/>
            <a:rect l="l" t="t" r="r" b="b"/>
            <a:pathLst>
              <a:path w="231567" h="231567">
                <a:moveTo>
                  <a:pt x="14473" y="14473"/>
                </a:moveTo>
                <a:cubicBezTo>
                  <a:pt x="22478" y="14473"/>
                  <a:pt x="28946" y="20941"/>
                  <a:pt x="28946" y="28946"/>
                </a:cubicBezTo>
                <a:lnTo>
                  <a:pt x="28946" y="180912"/>
                </a:lnTo>
                <a:cubicBezTo>
                  <a:pt x="28946" y="184892"/>
                  <a:pt x="32202" y="188148"/>
                  <a:pt x="36182" y="188148"/>
                </a:cubicBezTo>
                <a:lnTo>
                  <a:pt x="217094" y="188148"/>
                </a:lnTo>
                <a:cubicBezTo>
                  <a:pt x="225099" y="188148"/>
                  <a:pt x="231567" y="194616"/>
                  <a:pt x="231567" y="202621"/>
                </a:cubicBezTo>
                <a:cubicBezTo>
                  <a:pt x="231567" y="210626"/>
                  <a:pt x="225099" y="217094"/>
                  <a:pt x="217094" y="217094"/>
                </a:cubicBezTo>
                <a:lnTo>
                  <a:pt x="36182" y="217094"/>
                </a:lnTo>
                <a:cubicBezTo>
                  <a:pt x="16192" y="217094"/>
                  <a:pt x="0" y="200902"/>
                  <a:pt x="0" y="180912"/>
                </a:cubicBezTo>
                <a:lnTo>
                  <a:pt x="0" y="28946"/>
                </a:lnTo>
                <a:cubicBezTo>
                  <a:pt x="0" y="20941"/>
                  <a:pt x="6468" y="14473"/>
                  <a:pt x="14473" y="14473"/>
                </a:cubicBezTo>
                <a:close/>
                <a:moveTo>
                  <a:pt x="57892" y="43419"/>
                </a:moveTo>
                <a:cubicBezTo>
                  <a:pt x="57892" y="35413"/>
                  <a:pt x="64359" y="28946"/>
                  <a:pt x="72365" y="28946"/>
                </a:cubicBezTo>
                <a:lnTo>
                  <a:pt x="159202" y="28946"/>
                </a:lnTo>
                <a:cubicBezTo>
                  <a:pt x="167208" y="28946"/>
                  <a:pt x="173675" y="35413"/>
                  <a:pt x="173675" y="43419"/>
                </a:cubicBezTo>
                <a:cubicBezTo>
                  <a:pt x="173675" y="51424"/>
                  <a:pt x="167208" y="57892"/>
                  <a:pt x="159202" y="57892"/>
                </a:cubicBezTo>
                <a:lnTo>
                  <a:pt x="72365" y="57892"/>
                </a:lnTo>
                <a:cubicBezTo>
                  <a:pt x="64359" y="57892"/>
                  <a:pt x="57892" y="51424"/>
                  <a:pt x="57892" y="43419"/>
                </a:cubicBezTo>
                <a:close/>
                <a:moveTo>
                  <a:pt x="72365" y="79601"/>
                </a:moveTo>
                <a:lnTo>
                  <a:pt x="130256" y="79601"/>
                </a:lnTo>
                <a:cubicBezTo>
                  <a:pt x="138262" y="79601"/>
                  <a:pt x="144729" y="86069"/>
                  <a:pt x="144729" y="94074"/>
                </a:cubicBezTo>
                <a:cubicBezTo>
                  <a:pt x="144729" y="102079"/>
                  <a:pt x="138262" y="108547"/>
                  <a:pt x="130256" y="108547"/>
                </a:cubicBezTo>
                <a:lnTo>
                  <a:pt x="72365" y="108547"/>
                </a:lnTo>
                <a:cubicBezTo>
                  <a:pt x="64359" y="108547"/>
                  <a:pt x="57892" y="102079"/>
                  <a:pt x="57892" y="94074"/>
                </a:cubicBezTo>
                <a:cubicBezTo>
                  <a:pt x="57892" y="86069"/>
                  <a:pt x="64359" y="79601"/>
                  <a:pt x="72365" y="79601"/>
                </a:cubicBezTo>
                <a:close/>
                <a:moveTo>
                  <a:pt x="72365" y="130256"/>
                </a:moveTo>
                <a:lnTo>
                  <a:pt x="188148" y="130256"/>
                </a:lnTo>
                <a:cubicBezTo>
                  <a:pt x="196153" y="130256"/>
                  <a:pt x="202621" y="136724"/>
                  <a:pt x="202621" y="144729"/>
                </a:cubicBezTo>
                <a:cubicBezTo>
                  <a:pt x="202621" y="152735"/>
                  <a:pt x="196153" y="159202"/>
                  <a:pt x="188148" y="159202"/>
                </a:cubicBezTo>
                <a:lnTo>
                  <a:pt x="72365" y="159202"/>
                </a:lnTo>
                <a:cubicBezTo>
                  <a:pt x="64359" y="159202"/>
                  <a:pt x="57892" y="152735"/>
                  <a:pt x="57892" y="144729"/>
                </a:cubicBezTo>
                <a:cubicBezTo>
                  <a:pt x="57892" y="136724"/>
                  <a:pt x="64359" y="130256"/>
                  <a:pt x="72365" y="130256"/>
                </a:cubicBezTo>
                <a:close/>
              </a:path>
            </a:pathLst>
          </a:custGeom>
          <a:solidFill>
            <a:srgbClr val="4C7E9A"/>
          </a:solidFill>
          <a:ln/>
        </p:spPr>
      </p:sp>
      <p:sp>
        <p:nvSpPr>
          <p:cNvPr id="10" name="Text 8"/>
          <p:cNvSpPr/>
          <p:nvPr/>
        </p:nvSpPr>
        <p:spPr>
          <a:xfrm>
            <a:off x="1169413" y="2500923"/>
            <a:ext cx="2883009"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高准确性</a:t>
            </a:r>
            <a:endParaRPr lang="en-US" sz="1600" dirty="0"/>
          </a:p>
        </p:txBody>
      </p:sp>
      <p:sp>
        <p:nvSpPr>
          <p:cNvPr id="11" name="Text 9"/>
          <p:cNvSpPr/>
          <p:nvPr/>
        </p:nvSpPr>
        <p:spPr>
          <a:xfrm>
            <a:off x="1169413" y="2825117"/>
            <a:ext cx="2871430" cy="277880"/>
          </a:xfrm>
          <a:prstGeom prst="rect">
            <a:avLst/>
          </a:prstGeom>
          <a:noFill/>
          <a:ln/>
        </p:spPr>
        <p:txBody>
          <a:bodyPr wrap="square" lIns="0" tIns="0" rIns="0" bIns="0" rtlCol="0" anchor="ctr"/>
          <a:lstStyle/>
          <a:p>
            <a:pPr>
              <a:lnSpc>
                <a:spcPct val="130000"/>
              </a:lnSpc>
            </a:pPr>
            <a:r>
              <a:rPr lang="en-US" sz="1459" dirty="0">
                <a:solidFill>
                  <a:srgbClr val="7E9AA8"/>
                </a:solidFill>
                <a:latin typeface="MiSans" pitchFamily="34" charset="0"/>
                <a:ea typeface="MiSans" pitchFamily="34" charset="-122"/>
                <a:cs typeface="MiSans" pitchFamily="34" charset="-120"/>
              </a:rPr>
              <a:t>集成多棵决策树显著提高整体性能</a:t>
            </a:r>
            <a:endParaRPr lang="en-US" sz="1600" dirty="0"/>
          </a:p>
        </p:txBody>
      </p:sp>
      <p:sp>
        <p:nvSpPr>
          <p:cNvPr id="12" name="Shape 10"/>
          <p:cNvSpPr/>
          <p:nvPr/>
        </p:nvSpPr>
        <p:spPr>
          <a:xfrm>
            <a:off x="769960" y="3288251"/>
            <a:ext cx="231567" cy="231567"/>
          </a:xfrm>
          <a:custGeom>
            <a:avLst/>
            <a:gdLst/>
            <a:ahLst/>
            <a:cxnLst/>
            <a:rect l="l" t="t" r="r" b="b"/>
            <a:pathLst>
              <a:path w="231567" h="231567">
                <a:moveTo>
                  <a:pt x="115783" y="0"/>
                </a:moveTo>
                <a:cubicBezTo>
                  <a:pt x="117864" y="0"/>
                  <a:pt x="119944" y="452"/>
                  <a:pt x="121844" y="1312"/>
                </a:cubicBezTo>
                <a:lnTo>
                  <a:pt x="207053" y="37449"/>
                </a:lnTo>
                <a:cubicBezTo>
                  <a:pt x="217004" y="41655"/>
                  <a:pt x="224421" y="51469"/>
                  <a:pt x="224376" y="63319"/>
                </a:cubicBezTo>
                <a:cubicBezTo>
                  <a:pt x="224150" y="108185"/>
                  <a:pt x="205697" y="190274"/>
                  <a:pt x="127769" y="227587"/>
                </a:cubicBezTo>
                <a:cubicBezTo>
                  <a:pt x="120216" y="231205"/>
                  <a:pt x="111442" y="231205"/>
                  <a:pt x="103889" y="227587"/>
                </a:cubicBezTo>
                <a:cubicBezTo>
                  <a:pt x="25916" y="190274"/>
                  <a:pt x="7508" y="108185"/>
                  <a:pt x="7282" y="63319"/>
                </a:cubicBezTo>
                <a:cubicBezTo>
                  <a:pt x="7236" y="51469"/>
                  <a:pt x="14654" y="41655"/>
                  <a:pt x="24604" y="37449"/>
                </a:cubicBezTo>
                <a:lnTo>
                  <a:pt x="109768" y="1312"/>
                </a:lnTo>
                <a:cubicBezTo>
                  <a:pt x="111668" y="452"/>
                  <a:pt x="113703" y="0"/>
                  <a:pt x="115783" y="0"/>
                </a:cubicBezTo>
                <a:close/>
                <a:moveTo>
                  <a:pt x="115783" y="30212"/>
                </a:moveTo>
                <a:lnTo>
                  <a:pt x="115783" y="201219"/>
                </a:lnTo>
                <a:cubicBezTo>
                  <a:pt x="178198" y="171007"/>
                  <a:pt x="194978" y="104069"/>
                  <a:pt x="195385" y="63998"/>
                </a:cubicBezTo>
                <a:lnTo>
                  <a:pt x="115783" y="30257"/>
                </a:lnTo>
                <a:lnTo>
                  <a:pt x="115783" y="30257"/>
                </a:lnTo>
                <a:close/>
              </a:path>
            </a:pathLst>
          </a:custGeom>
          <a:solidFill>
            <a:srgbClr val="4C7E9A"/>
          </a:solidFill>
          <a:ln/>
        </p:spPr>
      </p:sp>
      <p:sp>
        <p:nvSpPr>
          <p:cNvPr id="13" name="Text 11"/>
          <p:cNvSpPr/>
          <p:nvPr/>
        </p:nvSpPr>
        <p:spPr>
          <a:xfrm>
            <a:off x="1169413" y="3241937"/>
            <a:ext cx="3438769"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抗过拟合</a:t>
            </a:r>
            <a:endParaRPr lang="en-US" sz="1600" dirty="0"/>
          </a:p>
        </p:txBody>
      </p:sp>
      <p:sp>
        <p:nvSpPr>
          <p:cNvPr id="14" name="Text 12"/>
          <p:cNvSpPr/>
          <p:nvPr/>
        </p:nvSpPr>
        <p:spPr>
          <a:xfrm>
            <a:off x="1169413" y="3566131"/>
            <a:ext cx="3427191" cy="277880"/>
          </a:xfrm>
          <a:prstGeom prst="rect">
            <a:avLst/>
          </a:prstGeom>
          <a:noFill/>
          <a:ln/>
        </p:spPr>
        <p:txBody>
          <a:bodyPr wrap="square" lIns="0" tIns="0" rIns="0" bIns="0" rtlCol="0" anchor="ctr"/>
          <a:lstStyle/>
          <a:p>
            <a:pPr>
              <a:lnSpc>
                <a:spcPct val="130000"/>
              </a:lnSpc>
            </a:pPr>
            <a:r>
              <a:rPr lang="en-US" sz="1459" dirty="0">
                <a:solidFill>
                  <a:srgbClr val="7E9AA8"/>
                </a:solidFill>
                <a:latin typeface="MiSans" pitchFamily="34" charset="0"/>
                <a:ea typeface="MiSans" pitchFamily="34" charset="-122"/>
                <a:cs typeface="MiSans" pitchFamily="34" charset="-120"/>
              </a:rPr>
              <a:t>随机采样样本和特征降低对噪声的敏感性</a:t>
            </a:r>
            <a:endParaRPr lang="en-US" sz="1600" dirty="0"/>
          </a:p>
        </p:txBody>
      </p:sp>
      <p:sp>
        <p:nvSpPr>
          <p:cNvPr id="15" name="Shape 13"/>
          <p:cNvSpPr/>
          <p:nvPr/>
        </p:nvSpPr>
        <p:spPr>
          <a:xfrm>
            <a:off x="741014" y="4029265"/>
            <a:ext cx="289459" cy="231567"/>
          </a:xfrm>
          <a:custGeom>
            <a:avLst/>
            <a:gdLst/>
            <a:ahLst/>
            <a:cxnLst/>
            <a:rect l="l" t="t" r="r" b="b"/>
            <a:pathLst>
              <a:path w="289459" h="231567">
                <a:moveTo>
                  <a:pt x="188103" y="95205"/>
                </a:moveTo>
                <a:cubicBezTo>
                  <a:pt x="193621" y="93712"/>
                  <a:pt x="199410" y="96335"/>
                  <a:pt x="201897" y="101446"/>
                </a:cubicBezTo>
                <a:lnTo>
                  <a:pt x="210310" y="118452"/>
                </a:lnTo>
                <a:cubicBezTo>
                  <a:pt x="214968" y="119085"/>
                  <a:pt x="219536" y="120351"/>
                  <a:pt x="223833" y="122115"/>
                </a:cubicBezTo>
                <a:lnTo>
                  <a:pt x="239663" y="111577"/>
                </a:lnTo>
                <a:cubicBezTo>
                  <a:pt x="244412" y="108411"/>
                  <a:pt x="250698" y="109045"/>
                  <a:pt x="254724" y="113070"/>
                </a:cubicBezTo>
                <a:lnTo>
                  <a:pt x="263407" y="121754"/>
                </a:lnTo>
                <a:cubicBezTo>
                  <a:pt x="267433" y="125779"/>
                  <a:pt x="268066" y="132111"/>
                  <a:pt x="264900" y="136814"/>
                </a:cubicBezTo>
                <a:lnTo>
                  <a:pt x="254362" y="152599"/>
                </a:lnTo>
                <a:cubicBezTo>
                  <a:pt x="255221" y="154725"/>
                  <a:pt x="255990" y="156941"/>
                  <a:pt x="256623" y="159248"/>
                </a:cubicBezTo>
                <a:cubicBezTo>
                  <a:pt x="257256" y="161554"/>
                  <a:pt x="257663" y="163816"/>
                  <a:pt x="257980" y="166122"/>
                </a:cubicBezTo>
                <a:lnTo>
                  <a:pt x="275031" y="174535"/>
                </a:lnTo>
                <a:cubicBezTo>
                  <a:pt x="280142" y="177067"/>
                  <a:pt x="282765" y="182856"/>
                  <a:pt x="281272" y="188329"/>
                </a:cubicBezTo>
                <a:lnTo>
                  <a:pt x="278106" y="200179"/>
                </a:lnTo>
                <a:cubicBezTo>
                  <a:pt x="276614" y="205651"/>
                  <a:pt x="271503" y="209360"/>
                  <a:pt x="265804" y="208998"/>
                </a:cubicBezTo>
                <a:lnTo>
                  <a:pt x="246809" y="207777"/>
                </a:lnTo>
                <a:cubicBezTo>
                  <a:pt x="243959" y="211441"/>
                  <a:pt x="240658" y="214833"/>
                  <a:pt x="236904" y="217727"/>
                </a:cubicBezTo>
                <a:lnTo>
                  <a:pt x="238125" y="236678"/>
                </a:lnTo>
                <a:cubicBezTo>
                  <a:pt x="238487" y="242376"/>
                  <a:pt x="234778" y="247532"/>
                  <a:pt x="229306" y="248980"/>
                </a:cubicBezTo>
                <a:lnTo>
                  <a:pt x="217456" y="252146"/>
                </a:lnTo>
                <a:cubicBezTo>
                  <a:pt x="211938" y="253638"/>
                  <a:pt x="206194" y="251015"/>
                  <a:pt x="203661" y="245904"/>
                </a:cubicBezTo>
                <a:lnTo>
                  <a:pt x="195249" y="228899"/>
                </a:lnTo>
                <a:cubicBezTo>
                  <a:pt x="190590" y="228265"/>
                  <a:pt x="186022" y="226999"/>
                  <a:pt x="181726" y="225235"/>
                </a:cubicBezTo>
                <a:lnTo>
                  <a:pt x="165896" y="235773"/>
                </a:lnTo>
                <a:cubicBezTo>
                  <a:pt x="161147" y="238939"/>
                  <a:pt x="154860" y="238306"/>
                  <a:pt x="150835" y="234281"/>
                </a:cubicBezTo>
                <a:lnTo>
                  <a:pt x="142151" y="225597"/>
                </a:lnTo>
                <a:cubicBezTo>
                  <a:pt x="138126" y="221572"/>
                  <a:pt x="137493" y="215285"/>
                  <a:pt x="140659" y="210536"/>
                </a:cubicBezTo>
                <a:lnTo>
                  <a:pt x="151197" y="194706"/>
                </a:lnTo>
                <a:cubicBezTo>
                  <a:pt x="150338" y="192580"/>
                  <a:pt x="149569" y="190364"/>
                  <a:pt x="148936" y="188058"/>
                </a:cubicBezTo>
                <a:cubicBezTo>
                  <a:pt x="148302" y="185751"/>
                  <a:pt x="147895" y="183444"/>
                  <a:pt x="147579" y="181183"/>
                </a:cubicBezTo>
                <a:lnTo>
                  <a:pt x="130528" y="172771"/>
                </a:lnTo>
                <a:cubicBezTo>
                  <a:pt x="125417" y="170238"/>
                  <a:pt x="122839" y="164449"/>
                  <a:pt x="124286" y="158976"/>
                </a:cubicBezTo>
                <a:lnTo>
                  <a:pt x="127452" y="147126"/>
                </a:lnTo>
                <a:cubicBezTo>
                  <a:pt x="128945" y="141654"/>
                  <a:pt x="134056" y="137945"/>
                  <a:pt x="139754" y="138307"/>
                </a:cubicBezTo>
                <a:lnTo>
                  <a:pt x="158705" y="139528"/>
                </a:lnTo>
                <a:cubicBezTo>
                  <a:pt x="161554" y="135865"/>
                  <a:pt x="164856" y="132473"/>
                  <a:pt x="168610" y="129578"/>
                </a:cubicBezTo>
                <a:lnTo>
                  <a:pt x="167389" y="110673"/>
                </a:lnTo>
                <a:cubicBezTo>
                  <a:pt x="167027" y="104974"/>
                  <a:pt x="170735" y="99818"/>
                  <a:pt x="176208" y="98371"/>
                </a:cubicBezTo>
                <a:lnTo>
                  <a:pt x="188058" y="95205"/>
                </a:lnTo>
                <a:close/>
                <a:moveTo>
                  <a:pt x="202802" y="153775"/>
                </a:moveTo>
                <a:cubicBezTo>
                  <a:pt x="191819" y="153787"/>
                  <a:pt x="182912" y="162715"/>
                  <a:pt x="182924" y="173698"/>
                </a:cubicBezTo>
                <a:cubicBezTo>
                  <a:pt x="182937" y="184681"/>
                  <a:pt x="191864" y="193588"/>
                  <a:pt x="202847" y="193575"/>
                </a:cubicBezTo>
                <a:cubicBezTo>
                  <a:pt x="213830" y="193563"/>
                  <a:pt x="222737" y="184636"/>
                  <a:pt x="222725" y="173653"/>
                </a:cubicBezTo>
                <a:cubicBezTo>
                  <a:pt x="222712" y="162669"/>
                  <a:pt x="213785" y="153762"/>
                  <a:pt x="202802" y="153775"/>
                </a:cubicBezTo>
                <a:close/>
                <a:moveTo>
                  <a:pt x="101718" y="-20579"/>
                </a:moveTo>
                <a:lnTo>
                  <a:pt x="113567" y="-17413"/>
                </a:lnTo>
                <a:cubicBezTo>
                  <a:pt x="119040" y="-15920"/>
                  <a:pt x="122749" y="-10764"/>
                  <a:pt x="122387" y="-5111"/>
                </a:cubicBezTo>
                <a:lnTo>
                  <a:pt x="121166" y="13795"/>
                </a:lnTo>
                <a:cubicBezTo>
                  <a:pt x="124920" y="16689"/>
                  <a:pt x="128221" y="20036"/>
                  <a:pt x="131071" y="23745"/>
                </a:cubicBezTo>
                <a:lnTo>
                  <a:pt x="150066" y="22524"/>
                </a:lnTo>
                <a:cubicBezTo>
                  <a:pt x="155720" y="22162"/>
                  <a:pt x="160876" y="25870"/>
                  <a:pt x="162368" y="31343"/>
                </a:cubicBezTo>
                <a:lnTo>
                  <a:pt x="165534" y="43193"/>
                </a:lnTo>
                <a:cubicBezTo>
                  <a:pt x="166981" y="48665"/>
                  <a:pt x="164403" y="54454"/>
                  <a:pt x="159293" y="56987"/>
                </a:cubicBezTo>
                <a:lnTo>
                  <a:pt x="142242" y="65400"/>
                </a:lnTo>
                <a:cubicBezTo>
                  <a:pt x="141925" y="67706"/>
                  <a:pt x="141473" y="70013"/>
                  <a:pt x="140885" y="72274"/>
                </a:cubicBezTo>
                <a:cubicBezTo>
                  <a:pt x="140297" y="74536"/>
                  <a:pt x="139483" y="76797"/>
                  <a:pt x="138624" y="78923"/>
                </a:cubicBezTo>
                <a:lnTo>
                  <a:pt x="149162" y="94752"/>
                </a:lnTo>
                <a:cubicBezTo>
                  <a:pt x="152328" y="99501"/>
                  <a:pt x="151694" y="105788"/>
                  <a:pt x="147669" y="109813"/>
                </a:cubicBezTo>
                <a:lnTo>
                  <a:pt x="138985" y="118497"/>
                </a:lnTo>
                <a:cubicBezTo>
                  <a:pt x="134960" y="122522"/>
                  <a:pt x="128673" y="123156"/>
                  <a:pt x="123925" y="119990"/>
                </a:cubicBezTo>
                <a:lnTo>
                  <a:pt x="108095" y="109452"/>
                </a:lnTo>
                <a:cubicBezTo>
                  <a:pt x="103798" y="111215"/>
                  <a:pt x="99230" y="112482"/>
                  <a:pt x="94572" y="113115"/>
                </a:cubicBezTo>
                <a:lnTo>
                  <a:pt x="86159" y="130121"/>
                </a:lnTo>
                <a:cubicBezTo>
                  <a:pt x="83626" y="135231"/>
                  <a:pt x="77837" y="137809"/>
                  <a:pt x="72365" y="136362"/>
                </a:cubicBezTo>
                <a:lnTo>
                  <a:pt x="60515" y="133196"/>
                </a:lnTo>
                <a:cubicBezTo>
                  <a:pt x="54997" y="131704"/>
                  <a:pt x="51334" y="126548"/>
                  <a:pt x="51696" y="120894"/>
                </a:cubicBezTo>
                <a:lnTo>
                  <a:pt x="52917" y="101944"/>
                </a:lnTo>
                <a:cubicBezTo>
                  <a:pt x="49163" y="99049"/>
                  <a:pt x="45861" y="95702"/>
                  <a:pt x="43012" y="91994"/>
                </a:cubicBezTo>
                <a:lnTo>
                  <a:pt x="24016" y="93215"/>
                </a:lnTo>
                <a:cubicBezTo>
                  <a:pt x="18363" y="93577"/>
                  <a:pt x="13207" y="89868"/>
                  <a:pt x="11714" y="84395"/>
                </a:cubicBezTo>
                <a:lnTo>
                  <a:pt x="8548" y="72546"/>
                </a:lnTo>
                <a:cubicBezTo>
                  <a:pt x="7101" y="67073"/>
                  <a:pt x="9679" y="61284"/>
                  <a:pt x="14790" y="58751"/>
                </a:cubicBezTo>
                <a:lnTo>
                  <a:pt x="31840" y="50339"/>
                </a:lnTo>
                <a:cubicBezTo>
                  <a:pt x="32157" y="48032"/>
                  <a:pt x="32609" y="45771"/>
                  <a:pt x="33197" y="43464"/>
                </a:cubicBezTo>
                <a:cubicBezTo>
                  <a:pt x="33830" y="41157"/>
                  <a:pt x="34554" y="38941"/>
                  <a:pt x="35459" y="36816"/>
                </a:cubicBezTo>
                <a:lnTo>
                  <a:pt x="24921" y="21031"/>
                </a:lnTo>
                <a:cubicBezTo>
                  <a:pt x="21755" y="16282"/>
                  <a:pt x="22388" y="9995"/>
                  <a:pt x="26413" y="5970"/>
                </a:cubicBezTo>
                <a:lnTo>
                  <a:pt x="35097" y="-2714"/>
                </a:lnTo>
                <a:cubicBezTo>
                  <a:pt x="39122" y="-6739"/>
                  <a:pt x="45409" y="-7372"/>
                  <a:pt x="50158" y="-4206"/>
                </a:cubicBezTo>
                <a:lnTo>
                  <a:pt x="65988" y="6332"/>
                </a:lnTo>
                <a:cubicBezTo>
                  <a:pt x="70284" y="4568"/>
                  <a:pt x="74852" y="3302"/>
                  <a:pt x="79511" y="2668"/>
                </a:cubicBezTo>
                <a:lnTo>
                  <a:pt x="87923" y="-14337"/>
                </a:lnTo>
                <a:cubicBezTo>
                  <a:pt x="90456" y="-19448"/>
                  <a:pt x="96200" y="-22026"/>
                  <a:pt x="101718" y="-20579"/>
                </a:cubicBezTo>
                <a:close/>
                <a:moveTo>
                  <a:pt x="87019" y="37991"/>
                </a:moveTo>
                <a:cubicBezTo>
                  <a:pt x="76035" y="37991"/>
                  <a:pt x="67118" y="46908"/>
                  <a:pt x="67118" y="57892"/>
                </a:cubicBezTo>
                <a:cubicBezTo>
                  <a:pt x="67118" y="68875"/>
                  <a:pt x="76035" y="77792"/>
                  <a:pt x="87019" y="77792"/>
                </a:cubicBezTo>
                <a:cubicBezTo>
                  <a:pt x="98002" y="77792"/>
                  <a:pt x="106919" y="68875"/>
                  <a:pt x="106919" y="57892"/>
                </a:cubicBezTo>
                <a:cubicBezTo>
                  <a:pt x="106919" y="46908"/>
                  <a:pt x="98002" y="37991"/>
                  <a:pt x="87019" y="37991"/>
                </a:cubicBezTo>
                <a:close/>
              </a:path>
            </a:pathLst>
          </a:custGeom>
          <a:solidFill>
            <a:srgbClr val="4C7E9A"/>
          </a:solidFill>
          <a:ln/>
        </p:spPr>
      </p:sp>
      <p:sp>
        <p:nvSpPr>
          <p:cNvPr id="16" name="Text 14"/>
          <p:cNvSpPr/>
          <p:nvPr/>
        </p:nvSpPr>
        <p:spPr>
          <a:xfrm>
            <a:off x="1169413" y="3982952"/>
            <a:ext cx="3068262"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处理高维数据</a:t>
            </a:r>
            <a:endParaRPr lang="en-US" sz="1600" dirty="0"/>
          </a:p>
        </p:txBody>
      </p:sp>
      <p:sp>
        <p:nvSpPr>
          <p:cNvPr id="17" name="Text 15"/>
          <p:cNvSpPr/>
          <p:nvPr/>
        </p:nvSpPr>
        <p:spPr>
          <a:xfrm>
            <a:off x="1169413" y="4307145"/>
            <a:ext cx="3056684" cy="277880"/>
          </a:xfrm>
          <a:prstGeom prst="rect">
            <a:avLst/>
          </a:prstGeom>
          <a:noFill/>
          <a:ln/>
        </p:spPr>
        <p:txBody>
          <a:bodyPr wrap="square" lIns="0" tIns="0" rIns="0" bIns="0" rtlCol="0" anchor="ctr"/>
          <a:lstStyle/>
          <a:p>
            <a:pPr>
              <a:lnSpc>
                <a:spcPct val="130000"/>
              </a:lnSpc>
            </a:pPr>
            <a:r>
              <a:rPr lang="en-US" sz="1459" dirty="0">
                <a:solidFill>
                  <a:srgbClr val="7E9AA8"/>
                </a:solidFill>
                <a:latin typeface="MiSans" pitchFamily="34" charset="0"/>
                <a:ea typeface="MiSans" pitchFamily="34" charset="-122"/>
                <a:cs typeface="MiSans" pitchFamily="34" charset="-120"/>
              </a:rPr>
              <a:t>自动进行特征选择，能处理大量特征</a:t>
            </a:r>
            <a:endParaRPr lang="en-US" sz="1600" dirty="0"/>
          </a:p>
        </p:txBody>
      </p:sp>
      <p:sp>
        <p:nvSpPr>
          <p:cNvPr id="18" name="Shape 16"/>
          <p:cNvSpPr/>
          <p:nvPr/>
        </p:nvSpPr>
        <p:spPr>
          <a:xfrm>
            <a:off x="769960" y="4770279"/>
            <a:ext cx="231567" cy="231567"/>
          </a:xfrm>
          <a:custGeom>
            <a:avLst/>
            <a:gdLst/>
            <a:ahLst/>
            <a:cxnLst/>
            <a:rect l="l" t="t" r="r" b="b"/>
            <a:pathLst>
              <a:path w="231567" h="231567">
                <a:moveTo>
                  <a:pt x="60515" y="16418"/>
                </a:moveTo>
                <a:cubicBezTo>
                  <a:pt x="65445" y="19855"/>
                  <a:pt x="66621" y="26639"/>
                  <a:pt x="63183" y="31524"/>
                </a:cubicBezTo>
                <a:lnTo>
                  <a:pt x="37856" y="67706"/>
                </a:lnTo>
                <a:cubicBezTo>
                  <a:pt x="36001" y="70329"/>
                  <a:pt x="33107" y="72003"/>
                  <a:pt x="29896" y="72274"/>
                </a:cubicBezTo>
                <a:cubicBezTo>
                  <a:pt x="26684" y="72546"/>
                  <a:pt x="23519" y="71460"/>
                  <a:pt x="21257" y="69199"/>
                </a:cubicBezTo>
                <a:lnTo>
                  <a:pt x="3166" y="51108"/>
                </a:lnTo>
                <a:cubicBezTo>
                  <a:pt x="-1040" y="46856"/>
                  <a:pt x="-1040" y="39981"/>
                  <a:pt x="3166" y="35730"/>
                </a:cubicBezTo>
                <a:cubicBezTo>
                  <a:pt x="7372" y="31479"/>
                  <a:pt x="14292" y="31524"/>
                  <a:pt x="18543" y="35730"/>
                </a:cubicBezTo>
                <a:lnTo>
                  <a:pt x="27499" y="44685"/>
                </a:lnTo>
                <a:lnTo>
                  <a:pt x="45409" y="19086"/>
                </a:lnTo>
                <a:cubicBezTo>
                  <a:pt x="48846" y="14156"/>
                  <a:pt x="55630" y="12980"/>
                  <a:pt x="60515" y="16418"/>
                </a:cubicBezTo>
                <a:close/>
                <a:moveTo>
                  <a:pt x="60515" y="88782"/>
                </a:moveTo>
                <a:cubicBezTo>
                  <a:pt x="65445" y="92220"/>
                  <a:pt x="66621" y="99004"/>
                  <a:pt x="63183" y="103889"/>
                </a:cubicBezTo>
                <a:lnTo>
                  <a:pt x="37856" y="140071"/>
                </a:lnTo>
                <a:cubicBezTo>
                  <a:pt x="36001" y="142694"/>
                  <a:pt x="33107" y="144368"/>
                  <a:pt x="29896" y="144639"/>
                </a:cubicBezTo>
                <a:cubicBezTo>
                  <a:pt x="26684" y="144910"/>
                  <a:pt x="23519" y="143825"/>
                  <a:pt x="21257" y="141563"/>
                </a:cubicBezTo>
                <a:lnTo>
                  <a:pt x="3166" y="123472"/>
                </a:lnTo>
                <a:cubicBezTo>
                  <a:pt x="-1085" y="119221"/>
                  <a:pt x="-1085" y="112346"/>
                  <a:pt x="3166" y="108140"/>
                </a:cubicBezTo>
                <a:cubicBezTo>
                  <a:pt x="7417" y="103934"/>
                  <a:pt x="14292" y="103889"/>
                  <a:pt x="18498" y="108140"/>
                </a:cubicBezTo>
                <a:lnTo>
                  <a:pt x="27453" y="117095"/>
                </a:lnTo>
                <a:lnTo>
                  <a:pt x="45364" y="91496"/>
                </a:lnTo>
                <a:cubicBezTo>
                  <a:pt x="48801" y="86566"/>
                  <a:pt x="55585" y="85390"/>
                  <a:pt x="60470" y="88828"/>
                </a:cubicBezTo>
                <a:close/>
                <a:moveTo>
                  <a:pt x="101311" y="43419"/>
                </a:moveTo>
                <a:cubicBezTo>
                  <a:pt x="101311" y="35413"/>
                  <a:pt x="107778" y="28946"/>
                  <a:pt x="115783" y="28946"/>
                </a:cubicBezTo>
                <a:lnTo>
                  <a:pt x="217094" y="28946"/>
                </a:lnTo>
                <a:cubicBezTo>
                  <a:pt x="225099" y="28946"/>
                  <a:pt x="231567" y="35413"/>
                  <a:pt x="231567" y="43419"/>
                </a:cubicBezTo>
                <a:cubicBezTo>
                  <a:pt x="231567" y="51424"/>
                  <a:pt x="225099" y="57892"/>
                  <a:pt x="217094" y="57892"/>
                </a:cubicBezTo>
                <a:lnTo>
                  <a:pt x="115783" y="57892"/>
                </a:lnTo>
                <a:cubicBezTo>
                  <a:pt x="107778" y="57892"/>
                  <a:pt x="101311" y="51424"/>
                  <a:pt x="101311" y="43419"/>
                </a:cubicBezTo>
                <a:close/>
                <a:moveTo>
                  <a:pt x="101311" y="115783"/>
                </a:moveTo>
                <a:cubicBezTo>
                  <a:pt x="101311" y="107778"/>
                  <a:pt x="107778" y="101311"/>
                  <a:pt x="115783" y="101311"/>
                </a:cubicBezTo>
                <a:lnTo>
                  <a:pt x="217094" y="101311"/>
                </a:lnTo>
                <a:cubicBezTo>
                  <a:pt x="225099" y="101311"/>
                  <a:pt x="231567" y="107778"/>
                  <a:pt x="231567" y="115783"/>
                </a:cubicBezTo>
                <a:cubicBezTo>
                  <a:pt x="231567" y="123789"/>
                  <a:pt x="225099" y="130256"/>
                  <a:pt x="217094" y="130256"/>
                </a:cubicBezTo>
                <a:lnTo>
                  <a:pt x="115783" y="130256"/>
                </a:lnTo>
                <a:cubicBezTo>
                  <a:pt x="107778" y="130256"/>
                  <a:pt x="101311" y="123789"/>
                  <a:pt x="101311" y="115783"/>
                </a:cubicBezTo>
                <a:close/>
                <a:moveTo>
                  <a:pt x="72365" y="188148"/>
                </a:moveTo>
                <a:cubicBezTo>
                  <a:pt x="72365" y="180143"/>
                  <a:pt x="78832" y="173675"/>
                  <a:pt x="86838" y="173675"/>
                </a:cubicBezTo>
                <a:lnTo>
                  <a:pt x="217094" y="173675"/>
                </a:lnTo>
                <a:cubicBezTo>
                  <a:pt x="225099" y="173675"/>
                  <a:pt x="231567" y="180143"/>
                  <a:pt x="231567" y="188148"/>
                </a:cubicBezTo>
                <a:cubicBezTo>
                  <a:pt x="231567" y="196153"/>
                  <a:pt x="225099" y="202621"/>
                  <a:pt x="217094" y="202621"/>
                </a:cubicBezTo>
                <a:lnTo>
                  <a:pt x="86838" y="202621"/>
                </a:lnTo>
                <a:cubicBezTo>
                  <a:pt x="78832" y="202621"/>
                  <a:pt x="72365" y="196153"/>
                  <a:pt x="72365" y="188148"/>
                </a:cubicBezTo>
                <a:close/>
                <a:moveTo>
                  <a:pt x="28946" y="170057"/>
                </a:moveTo>
                <a:cubicBezTo>
                  <a:pt x="38931" y="170057"/>
                  <a:pt x="47037" y="178163"/>
                  <a:pt x="47037" y="188148"/>
                </a:cubicBezTo>
                <a:cubicBezTo>
                  <a:pt x="47037" y="198133"/>
                  <a:pt x="38931" y="206239"/>
                  <a:pt x="28946" y="206239"/>
                </a:cubicBezTo>
                <a:cubicBezTo>
                  <a:pt x="18961" y="206239"/>
                  <a:pt x="10855" y="198133"/>
                  <a:pt x="10855" y="188148"/>
                </a:cubicBezTo>
                <a:cubicBezTo>
                  <a:pt x="10855" y="178163"/>
                  <a:pt x="18961" y="170057"/>
                  <a:pt x="28946" y="170057"/>
                </a:cubicBezTo>
                <a:close/>
              </a:path>
            </a:pathLst>
          </a:custGeom>
          <a:solidFill>
            <a:srgbClr val="4C7E9A"/>
          </a:solidFill>
          <a:ln/>
        </p:spPr>
      </p:sp>
      <p:sp>
        <p:nvSpPr>
          <p:cNvPr id="19" name="Text 17"/>
          <p:cNvSpPr/>
          <p:nvPr/>
        </p:nvSpPr>
        <p:spPr>
          <a:xfrm>
            <a:off x="1169413" y="4723966"/>
            <a:ext cx="3068262"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支持多种任务</a:t>
            </a:r>
            <a:endParaRPr lang="en-US" sz="1600" dirty="0"/>
          </a:p>
        </p:txBody>
      </p:sp>
      <p:sp>
        <p:nvSpPr>
          <p:cNvPr id="20" name="Text 18"/>
          <p:cNvSpPr/>
          <p:nvPr/>
        </p:nvSpPr>
        <p:spPr>
          <a:xfrm>
            <a:off x="1169413" y="5048160"/>
            <a:ext cx="3056684" cy="277880"/>
          </a:xfrm>
          <a:prstGeom prst="rect">
            <a:avLst/>
          </a:prstGeom>
          <a:noFill/>
          <a:ln/>
        </p:spPr>
        <p:txBody>
          <a:bodyPr wrap="square" lIns="0" tIns="0" rIns="0" bIns="0" rtlCol="0" anchor="ctr"/>
          <a:lstStyle/>
          <a:p>
            <a:pPr>
              <a:lnSpc>
                <a:spcPct val="130000"/>
              </a:lnSpc>
            </a:pPr>
            <a:r>
              <a:rPr lang="en-US" sz="1459" dirty="0">
                <a:solidFill>
                  <a:srgbClr val="7E9AA8"/>
                </a:solidFill>
                <a:latin typeface="MiSans" pitchFamily="34" charset="0"/>
                <a:ea typeface="MiSans" pitchFamily="34" charset="-122"/>
                <a:cs typeface="MiSans" pitchFamily="34" charset="-120"/>
              </a:rPr>
              <a:t>适用于分类和回归，无需复杂预处理</a:t>
            </a:r>
            <a:endParaRPr lang="en-US" sz="1600" dirty="0"/>
          </a:p>
        </p:txBody>
      </p:sp>
      <p:sp>
        <p:nvSpPr>
          <p:cNvPr id="21" name="Shape 19"/>
          <p:cNvSpPr/>
          <p:nvPr/>
        </p:nvSpPr>
        <p:spPr>
          <a:xfrm>
            <a:off x="755487" y="5511293"/>
            <a:ext cx="260513" cy="231567"/>
          </a:xfrm>
          <a:custGeom>
            <a:avLst/>
            <a:gdLst/>
            <a:ahLst/>
            <a:cxnLst/>
            <a:rect l="l" t="t" r="r" b="b"/>
            <a:pathLst>
              <a:path w="260513" h="231567">
                <a:moveTo>
                  <a:pt x="130256" y="14473"/>
                </a:moveTo>
                <a:cubicBezTo>
                  <a:pt x="93712" y="14473"/>
                  <a:pt x="64450" y="31117"/>
                  <a:pt x="43147" y="50927"/>
                </a:cubicBezTo>
                <a:cubicBezTo>
                  <a:pt x="21981" y="70601"/>
                  <a:pt x="7824" y="94074"/>
                  <a:pt x="1085" y="110220"/>
                </a:cubicBezTo>
                <a:cubicBezTo>
                  <a:pt x="-407" y="113793"/>
                  <a:pt x="-407" y="117774"/>
                  <a:pt x="1085" y="121347"/>
                </a:cubicBezTo>
                <a:cubicBezTo>
                  <a:pt x="7824" y="137493"/>
                  <a:pt x="21981" y="161011"/>
                  <a:pt x="43147" y="180640"/>
                </a:cubicBezTo>
                <a:cubicBezTo>
                  <a:pt x="64450" y="200405"/>
                  <a:pt x="93712" y="217094"/>
                  <a:pt x="130256" y="217094"/>
                </a:cubicBezTo>
                <a:cubicBezTo>
                  <a:pt x="166801" y="217094"/>
                  <a:pt x="196063" y="200450"/>
                  <a:pt x="217365" y="180640"/>
                </a:cubicBezTo>
                <a:cubicBezTo>
                  <a:pt x="238532" y="160966"/>
                  <a:pt x="252688" y="137493"/>
                  <a:pt x="259427" y="121347"/>
                </a:cubicBezTo>
                <a:cubicBezTo>
                  <a:pt x="260920" y="117774"/>
                  <a:pt x="260920" y="113793"/>
                  <a:pt x="259427" y="110220"/>
                </a:cubicBezTo>
                <a:cubicBezTo>
                  <a:pt x="252688" y="94074"/>
                  <a:pt x="238532" y="70556"/>
                  <a:pt x="217365" y="50927"/>
                </a:cubicBezTo>
                <a:cubicBezTo>
                  <a:pt x="196063" y="31162"/>
                  <a:pt x="166801" y="14473"/>
                  <a:pt x="130256" y="14473"/>
                </a:cubicBezTo>
                <a:close/>
                <a:moveTo>
                  <a:pt x="65128" y="115783"/>
                </a:moveTo>
                <a:cubicBezTo>
                  <a:pt x="65128" y="79838"/>
                  <a:pt x="94311" y="50655"/>
                  <a:pt x="130256" y="50655"/>
                </a:cubicBezTo>
                <a:cubicBezTo>
                  <a:pt x="166202" y="50655"/>
                  <a:pt x="195385" y="79838"/>
                  <a:pt x="195385" y="115783"/>
                </a:cubicBezTo>
                <a:cubicBezTo>
                  <a:pt x="195385" y="151729"/>
                  <a:pt x="166202" y="180912"/>
                  <a:pt x="130256" y="180912"/>
                </a:cubicBezTo>
                <a:cubicBezTo>
                  <a:pt x="94311" y="180912"/>
                  <a:pt x="65128" y="151729"/>
                  <a:pt x="65128" y="115783"/>
                </a:cubicBezTo>
                <a:close/>
                <a:moveTo>
                  <a:pt x="130256" y="86838"/>
                </a:moveTo>
                <a:cubicBezTo>
                  <a:pt x="130256" y="102803"/>
                  <a:pt x="117276" y="115783"/>
                  <a:pt x="101311" y="115783"/>
                </a:cubicBezTo>
                <a:cubicBezTo>
                  <a:pt x="96109" y="115783"/>
                  <a:pt x="91225" y="114427"/>
                  <a:pt x="86973" y="111984"/>
                </a:cubicBezTo>
                <a:cubicBezTo>
                  <a:pt x="86521" y="116914"/>
                  <a:pt x="86928" y="121980"/>
                  <a:pt x="88285" y="127000"/>
                </a:cubicBezTo>
                <a:cubicBezTo>
                  <a:pt x="94481" y="150157"/>
                  <a:pt x="118316" y="163906"/>
                  <a:pt x="141473" y="157710"/>
                </a:cubicBezTo>
                <a:cubicBezTo>
                  <a:pt x="164630" y="151514"/>
                  <a:pt x="178379" y="127678"/>
                  <a:pt x="172183" y="104522"/>
                </a:cubicBezTo>
                <a:cubicBezTo>
                  <a:pt x="166665" y="83853"/>
                  <a:pt x="147081" y="70691"/>
                  <a:pt x="126457" y="72500"/>
                </a:cubicBezTo>
                <a:cubicBezTo>
                  <a:pt x="128854" y="76707"/>
                  <a:pt x="130256" y="81591"/>
                  <a:pt x="130256" y="86838"/>
                </a:cubicBezTo>
                <a:close/>
              </a:path>
            </a:pathLst>
          </a:custGeom>
          <a:solidFill>
            <a:srgbClr val="4C7E9A"/>
          </a:solidFill>
          <a:ln/>
        </p:spPr>
      </p:sp>
      <p:sp>
        <p:nvSpPr>
          <p:cNvPr id="22" name="Text 20"/>
          <p:cNvSpPr/>
          <p:nvPr/>
        </p:nvSpPr>
        <p:spPr>
          <a:xfrm>
            <a:off x="1169413" y="5464980"/>
            <a:ext cx="3068262"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特征重要性分析</a:t>
            </a:r>
            <a:endParaRPr lang="en-US" sz="1600" dirty="0"/>
          </a:p>
        </p:txBody>
      </p:sp>
      <p:sp>
        <p:nvSpPr>
          <p:cNvPr id="23" name="Text 21"/>
          <p:cNvSpPr/>
          <p:nvPr/>
        </p:nvSpPr>
        <p:spPr>
          <a:xfrm>
            <a:off x="1169413" y="5789174"/>
            <a:ext cx="3056684" cy="277880"/>
          </a:xfrm>
          <a:prstGeom prst="rect">
            <a:avLst/>
          </a:prstGeom>
          <a:noFill/>
          <a:ln/>
        </p:spPr>
        <p:txBody>
          <a:bodyPr wrap="square" lIns="0" tIns="0" rIns="0" bIns="0" rtlCol="0" anchor="ctr"/>
          <a:lstStyle/>
          <a:p>
            <a:pPr>
              <a:lnSpc>
                <a:spcPct val="130000"/>
              </a:lnSpc>
            </a:pPr>
            <a:r>
              <a:rPr lang="en-US" sz="1459" dirty="0">
                <a:solidFill>
                  <a:srgbClr val="7E9AA8"/>
                </a:solidFill>
                <a:latin typeface="MiSans" pitchFamily="34" charset="0"/>
                <a:ea typeface="MiSans" pitchFamily="34" charset="-122"/>
                <a:cs typeface="MiSans" pitchFamily="34" charset="-120"/>
              </a:rPr>
              <a:t>提供特征重要性排序，增强可解释性</a:t>
            </a:r>
            <a:endParaRPr lang="en-US" sz="1600" dirty="0"/>
          </a:p>
        </p:txBody>
      </p:sp>
      <p:sp>
        <p:nvSpPr>
          <p:cNvPr id="24" name="Shape 22"/>
          <p:cNvSpPr/>
          <p:nvPr/>
        </p:nvSpPr>
        <p:spPr>
          <a:xfrm>
            <a:off x="784433" y="6252308"/>
            <a:ext cx="202621" cy="231567"/>
          </a:xfrm>
          <a:custGeom>
            <a:avLst/>
            <a:gdLst/>
            <a:ahLst/>
            <a:cxnLst/>
            <a:rect l="l" t="t" r="r" b="b"/>
            <a:pathLst>
              <a:path w="202621" h="231567">
                <a:moveTo>
                  <a:pt x="202621" y="93079"/>
                </a:moveTo>
                <a:cubicBezTo>
                  <a:pt x="195927" y="97511"/>
                  <a:pt x="188239" y="101084"/>
                  <a:pt x="180233" y="103934"/>
                </a:cubicBezTo>
                <a:cubicBezTo>
                  <a:pt x="158976" y="111532"/>
                  <a:pt x="131071" y="115783"/>
                  <a:pt x="101311" y="115783"/>
                </a:cubicBezTo>
                <a:cubicBezTo>
                  <a:pt x="71551" y="115783"/>
                  <a:pt x="43600" y="111487"/>
                  <a:pt x="22388" y="103934"/>
                </a:cubicBezTo>
                <a:cubicBezTo>
                  <a:pt x="14428" y="101084"/>
                  <a:pt x="6694" y="97511"/>
                  <a:pt x="0" y="93079"/>
                </a:cubicBezTo>
                <a:lnTo>
                  <a:pt x="0" y="130256"/>
                </a:lnTo>
                <a:cubicBezTo>
                  <a:pt x="0" y="150247"/>
                  <a:pt x="45364" y="166439"/>
                  <a:pt x="101311" y="166439"/>
                </a:cubicBezTo>
                <a:cubicBezTo>
                  <a:pt x="157257" y="166439"/>
                  <a:pt x="202621" y="150247"/>
                  <a:pt x="202621" y="130256"/>
                </a:cubicBezTo>
                <a:lnTo>
                  <a:pt x="202621" y="93079"/>
                </a:lnTo>
                <a:close/>
                <a:moveTo>
                  <a:pt x="202621" y="57892"/>
                </a:moveTo>
                <a:lnTo>
                  <a:pt x="202621" y="36182"/>
                </a:lnTo>
                <a:cubicBezTo>
                  <a:pt x="202621" y="16192"/>
                  <a:pt x="157257" y="0"/>
                  <a:pt x="101311" y="0"/>
                </a:cubicBezTo>
                <a:cubicBezTo>
                  <a:pt x="45364" y="0"/>
                  <a:pt x="0" y="16192"/>
                  <a:pt x="0" y="36182"/>
                </a:cubicBezTo>
                <a:lnTo>
                  <a:pt x="0" y="57892"/>
                </a:lnTo>
                <a:cubicBezTo>
                  <a:pt x="0" y="77882"/>
                  <a:pt x="45364" y="94074"/>
                  <a:pt x="101311" y="94074"/>
                </a:cubicBezTo>
                <a:cubicBezTo>
                  <a:pt x="157257" y="94074"/>
                  <a:pt x="202621" y="77882"/>
                  <a:pt x="202621" y="57892"/>
                </a:cubicBezTo>
                <a:close/>
                <a:moveTo>
                  <a:pt x="180233" y="176298"/>
                </a:moveTo>
                <a:cubicBezTo>
                  <a:pt x="159021" y="183851"/>
                  <a:pt x="131116" y="188148"/>
                  <a:pt x="101311" y="188148"/>
                </a:cubicBezTo>
                <a:cubicBezTo>
                  <a:pt x="71505" y="188148"/>
                  <a:pt x="43600" y="183851"/>
                  <a:pt x="22388" y="176298"/>
                </a:cubicBezTo>
                <a:cubicBezTo>
                  <a:pt x="14428" y="173449"/>
                  <a:pt x="6694" y="169876"/>
                  <a:pt x="0" y="165444"/>
                </a:cubicBezTo>
                <a:lnTo>
                  <a:pt x="0" y="195385"/>
                </a:lnTo>
                <a:cubicBezTo>
                  <a:pt x="0" y="215375"/>
                  <a:pt x="45364" y="231567"/>
                  <a:pt x="101311" y="231567"/>
                </a:cubicBezTo>
                <a:cubicBezTo>
                  <a:pt x="157257" y="231567"/>
                  <a:pt x="202621" y="215375"/>
                  <a:pt x="202621" y="195385"/>
                </a:cubicBezTo>
                <a:lnTo>
                  <a:pt x="202621" y="165444"/>
                </a:lnTo>
                <a:cubicBezTo>
                  <a:pt x="195927" y="169876"/>
                  <a:pt x="188239" y="173449"/>
                  <a:pt x="180233" y="176298"/>
                </a:cubicBezTo>
                <a:close/>
              </a:path>
            </a:pathLst>
          </a:custGeom>
          <a:solidFill>
            <a:srgbClr val="4C7E9A"/>
          </a:solidFill>
          <a:ln/>
        </p:spPr>
      </p:sp>
      <p:sp>
        <p:nvSpPr>
          <p:cNvPr id="25" name="Text 23"/>
          <p:cNvSpPr/>
          <p:nvPr/>
        </p:nvSpPr>
        <p:spPr>
          <a:xfrm>
            <a:off x="1169413" y="6205994"/>
            <a:ext cx="2327248"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处理缺失值</a:t>
            </a:r>
            <a:endParaRPr lang="en-US" sz="1600" dirty="0"/>
          </a:p>
        </p:txBody>
      </p:sp>
      <p:sp>
        <p:nvSpPr>
          <p:cNvPr id="26" name="Text 24"/>
          <p:cNvSpPr/>
          <p:nvPr/>
        </p:nvSpPr>
        <p:spPr>
          <a:xfrm>
            <a:off x="1169413" y="6530188"/>
            <a:ext cx="2315670" cy="277880"/>
          </a:xfrm>
          <a:prstGeom prst="rect">
            <a:avLst/>
          </a:prstGeom>
          <a:noFill/>
          <a:ln/>
        </p:spPr>
        <p:txBody>
          <a:bodyPr wrap="square" lIns="0" tIns="0" rIns="0" bIns="0" rtlCol="0" anchor="ctr"/>
          <a:lstStyle/>
          <a:p>
            <a:pPr>
              <a:lnSpc>
                <a:spcPct val="130000"/>
              </a:lnSpc>
            </a:pPr>
            <a:r>
              <a:rPr lang="en-US" sz="1459" dirty="0">
                <a:solidFill>
                  <a:srgbClr val="7E9AA8"/>
                </a:solidFill>
                <a:latin typeface="MiSans" pitchFamily="34" charset="0"/>
                <a:ea typeface="MiSans" pitchFamily="34" charset="-122"/>
                <a:cs typeface="MiSans" pitchFamily="34" charset="-120"/>
              </a:rPr>
              <a:t>能够处理包含缺失值的数据</a:t>
            </a:r>
            <a:endParaRPr lang="en-US" sz="1600" dirty="0"/>
          </a:p>
        </p:txBody>
      </p:sp>
      <p:sp>
        <p:nvSpPr>
          <p:cNvPr id="27" name="Shape 25"/>
          <p:cNvSpPr/>
          <p:nvPr/>
        </p:nvSpPr>
        <p:spPr>
          <a:xfrm>
            <a:off x="8269473" y="1667282"/>
            <a:ext cx="7525926" cy="5372353"/>
          </a:xfrm>
          <a:custGeom>
            <a:avLst/>
            <a:gdLst/>
            <a:ahLst/>
            <a:cxnLst/>
            <a:rect l="l" t="t" r="r" b="b"/>
            <a:pathLst>
              <a:path w="7525926" h="5372353">
                <a:moveTo>
                  <a:pt x="46313" y="0"/>
                </a:moveTo>
                <a:lnTo>
                  <a:pt x="7433307" y="0"/>
                </a:lnTo>
                <a:cubicBezTo>
                  <a:pt x="7484459" y="0"/>
                  <a:pt x="7525926" y="41467"/>
                  <a:pt x="7525926" y="92619"/>
                </a:cubicBezTo>
                <a:lnTo>
                  <a:pt x="7525926" y="5279734"/>
                </a:lnTo>
                <a:cubicBezTo>
                  <a:pt x="7525926" y="5330886"/>
                  <a:pt x="7484459" y="5372353"/>
                  <a:pt x="7433307" y="5372353"/>
                </a:cubicBezTo>
                <a:lnTo>
                  <a:pt x="46313" y="5372353"/>
                </a:lnTo>
                <a:cubicBezTo>
                  <a:pt x="20735" y="5372353"/>
                  <a:pt x="0" y="5351618"/>
                  <a:pt x="0" y="5326040"/>
                </a:cubicBezTo>
                <a:lnTo>
                  <a:pt x="0" y="46313"/>
                </a:lnTo>
                <a:cubicBezTo>
                  <a:pt x="0" y="20752"/>
                  <a:pt x="20752" y="0"/>
                  <a:pt x="46313" y="0"/>
                </a:cubicBezTo>
                <a:close/>
              </a:path>
            </a:pathLst>
          </a:custGeom>
          <a:solidFill>
            <a:srgbClr val="3A5E78">
              <a:alpha val="20000"/>
            </a:srgbClr>
          </a:solidFill>
          <a:ln/>
        </p:spPr>
      </p:sp>
      <p:sp>
        <p:nvSpPr>
          <p:cNvPr id="28" name="Shape 26"/>
          <p:cNvSpPr/>
          <p:nvPr/>
        </p:nvSpPr>
        <p:spPr>
          <a:xfrm>
            <a:off x="8269473" y="1667282"/>
            <a:ext cx="46313" cy="5372353"/>
          </a:xfrm>
          <a:custGeom>
            <a:avLst/>
            <a:gdLst/>
            <a:ahLst/>
            <a:cxnLst/>
            <a:rect l="l" t="t" r="r" b="b"/>
            <a:pathLst>
              <a:path w="46313" h="5372353">
                <a:moveTo>
                  <a:pt x="46313" y="0"/>
                </a:moveTo>
                <a:lnTo>
                  <a:pt x="46313" y="0"/>
                </a:lnTo>
                <a:lnTo>
                  <a:pt x="46313" y="5372353"/>
                </a:lnTo>
                <a:lnTo>
                  <a:pt x="46313" y="5372353"/>
                </a:lnTo>
                <a:cubicBezTo>
                  <a:pt x="20735" y="5372353"/>
                  <a:pt x="0" y="5351618"/>
                  <a:pt x="0" y="5326040"/>
                </a:cubicBezTo>
                <a:lnTo>
                  <a:pt x="0" y="46313"/>
                </a:lnTo>
                <a:cubicBezTo>
                  <a:pt x="0" y="20752"/>
                  <a:pt x="20752" y="0"/>
                  <a:pt x="46313" y="0"/>
                </a:cubicBezTo>
                <a:close/>
              </a:path>
            </a:pathLst>
          </a:custGeom>
          <a:solidFill>
            <a:srgbClr val="7E9AA8"/>
          </a:solidFill>
          <a:ln/>
        </p:spPr>
      </p:sp>
      <p:sp>
        <p:nvSpPr>
          <p:cNvPr id="29" name="Shape 27"/>
          <p:cNvSpPr/>
          <p:nvPr/>
        </p:nvSpPr>
        <p:spPr>
          <a:xfrm>
            <a:off x="8570510" y="1933584"/>
            <a:ext cx="347350" cy="347350"/>
          </a:xfrm>
          <a:custGeom>
            <a:avLst/>
            <a:gdLst/>
            <a:ahLst/>
            <a:cxnLst/>
            <a:rect l="l" t="t" r="r" b="b"/>
            <a:pathLst>
              <a:path w="347350" h="347350">
                <a:moveTo>
                  <a:pt x="260513" y="21709"/>
                </a:moveTo>
                <a:cubicBezTo>
                  <a:pt x="278491" y="21709"/>
                  <a:pt x="293077" y="36295"/>
                  <a:pt x="293077" y="54274"/>
                </a:cubicBezTo>
                <a:cubicBezTo>
                  <a:pt x="293077" y="58548"/>
                  <a:pt x="292195" y="62550"/>
                  <a:pt x="290770" y="66282"/>
                </a:cubicBezTo>
                <a:cubicBezTo>
                  <a:pt x="304610" y="70013"/>
                  <a:pt x="314786" y="82631"/>
                  <a:pt x="314786" y="97692"/>
                </a:cubicBezTo>
                <a:cubicBezTo>
                  <a:pt x="314786" y="103866"/>
                  <a:pt x="313022" y="109632"/>
                  <a:pt x="310037" y="114585"/>
                </a:cubicBezTo>
                <a:cubicBezTo>
                  <a:pt x="325098" y="117434"/>
                  <a:pt x="336496" y="130663"/>
                  <a:pt x="336496" y="146538"/>
                </a:cubicBezTo>
                <a:cubicBezTo>
                  <a:pt x="336496" y="159903"/>
                  <a:pt x="328423" y="171369"/>
                  <a:pt x="316889" y="176389"/>
                </a:cubicBezTo>
                <a:cubicBezTo>
                  <a:pt x="328423" y="181409"/>
                  <a:pt x="336496" y="192874"/>
                  <a:pt x="336496" y="206239"/>
                </a:cubicBezTo>
                <a:cubicBezTo>
                  <a:pt x="336496" y="224217"/>
                  <a:pt x="321910" y="238803"/>
                  <a:pt x="303932" y="238803"/>
                </a:cubicBezTo>
                <a:lnTo>
                  <a:pt x="195385" y="238803"/>
                </a:lnTo>
                <a:lnTo>
                  <a:pt x="214516" y="286564"/>
                </a:lnTo>
                <a:cubicBezTo>
                  <a:pt x="216212" y="290838"/>
                  <a:pt x="217094" y="295451"/>
                  <a:pt x="217094" y="300065"/>
                </a:cubicBezTo>
                <a:lnTo>
                  <a:pt x="217094" y="302914"/>
                </a:lnTo>
                <a:cubicBezTo>
                  <a:pt x="217094" y="321435"/>
                  <a:pt x="202101" y="336428"/>
                  <a:pt x="183580" y="336428"/>
                </a:cubicBezTo>
                <a:cubicBezTo>
                  <a:pt x="170894" y="336428"/>
                  <a:pt x="159293" y="329237"/>
                  <a:pt x="153594" y="317907"/>
                </a:cubicBezTo>
                <a:lnTo>
                  <a:pt x="115399" y="241721"/>
                </a:lnTo>
                <a:cubicBezTo>
                  <a:pt x="110854" y="232698"/>
                  <a:pt x="108547" y="222725"/>
                  <a:pt x="108547" y="212616"/>
                </a:cubicBezTo>
                <a:lnTo>
                  <a:pt x="108547" y="86024"/>
                </a:lnTo>
                <a:cubicBezTo>
                  <a:pt x="108547" y="72862"/>
                  <a:pt x="114585" y="60379"/>
                  <a:pt x="124829" y="52103"/>
                </a:cubicBezTo>
                <a:lnTo>
                  <a:pt x="133106" y="45522"/>
                </a:lnTo>
                <a:cubicBezTo>
                  <a:pt x="152373" y="30122"/>
                  <a:pt x="176253" y="21709"/>
                  <a:pt x="200880" y="21709"/>
                </a:cubicBezTo>
                <a:lnTo>
                  <a:pt x="260513" y="21709"/>
                </a:lnTo>
                <a:close/>
                <a:moveTo>
                  <a:pt x="54274" y="65128"/>
                </a:moveTo>
                <a:cubicBezTo>
                  <a:pt x="66282" y="65128"/>
                  <a:pt x="75983" y="74830"/>
                  <a:pt x="75983" y="86838"/>
                </a:cubicBezTo>
                <a:lnTo>
                  <a:pt x="75983" y="260513"/>
                </a:lnTo>
                <a:cubicBezTo>
                  <a:pt x="75983" y="272521"/>
                  <a:pt x="66282" y="282222"/>
                  <a:pt x="54274" y="282222"/>
                </a:cubicBezTo>
                <a:lnTo>
                  <a:pt x="21709" y="282222"/>
                </a:lnTo>
                <a:cubicBezTo>
                  <a:pt x="9701" y="282222"/>
                  <a:pt x="0" y="272521"/>
                  <a:pt x="0" y="260513"/>
                </a:cubicBezTo>
                <a:lnTo>
                  <a:pt x="0" y="86838"/>
                </a:lnTo>
                <a:cubicBezTo>
                  <a:pt x="0" y="74830"/>
                  <a:pt x="9701" y="65128"/>
                  <a:pt x="21709" y="65128"/>
                </a:cubicBezTo>
                <a:lnTo>
                  <a:pt x="54274" y="65128"/>
                </a:lnTo>
                <a:close/>
              </a:path>
            </a:pathLst>
          </a:custGeom>
          <a:solidFill>
            <a:srgbClr val="7E9AA8"/>
          </a:solidFill>
          <a:ln/>
        </p:spPr>
      </p:sp>
      <p:sp>
        <p:nvSpPr>
          <p:cNvPr id="30" name="Text 28"/>
          <p:cNvSpPr/>
          <p:nvPr/>
        </p:nvSpPr>
        <p:spPr>
          <a:xfrm>
            <a:off x="9097325" y="1898849"/>
            <a:ext cx="868376" cy="416821"/>
          </a:xfrm>
          <a:prstGeom prst="rect">
            <a:avLst/>
          </a:prstGeom>
          <a:noFill/>
          <a:ln/>
        </p:spPr>
        <p:txBody>
          <a:bodyPr wrap="square" lIns="0" tIns="0" rIns="0" bIns="0" rtlCol="0" anchor="ctr"/>
          <a:lstStyle/>
          <a:p>
            <a:pPr>
              <a:lnSpc>
                <a:spcPct val="100000"/>
              </a:lnSpc>
            </a:pPr>
            <a:r>
              <a:rPr lang="en-US" sz="2735" b="1" dirty="0">
                <a:solidFill>
                  <a:srgbClr val="D1D5DB"/>
                </a:solidFill>
                <a:latin typeface="MiSans" pitchFamily="34" charset="0"/>
                <a:ea typeface="MiSans" pitchFamily="34" charset="-122"/>
                <a:cs typeface="MiSans" pitchFamily="34" charset="-120"/>
              </a:rPr>
              <a:t>缺点</a:t>
            </a:r>
            <a:endParaRPr lang="en-US" sz="1600" dirty="0"/>
          </a:p>
        </p:txBody>
      </p:sp>
      <p:sp>
        <p:nvSpPr>
          <p:cNvPr id="31" name="Shape 29"/>
          <p:cNvSpPr/>
          <p:nvPr/>
        </p:nvSpPr>
        <p:spPr>
          <a:xfrm>
            <a:off x="8553142" y="2547236"/>
            <a:ext cx="231567" cy="231567"/>
          </a:xfrm>
          <a:custGeom>
            <a:avLst/>
            <a:gdLst/>
            <a:ahLst/>
            <a:cxnLst/>
            <a:rect l="l" t="t" r="r" b="b"/>
            <a:pathLst>
              <a:path w="231567" h="231567">
                <a:moveTo>
                  <a:pt x="115783" y="0"/>
                </a:moveTo>
                <a:cubicBezTo>
                  <a:pt x="179686" y="0"/>
                  <a:pt x="231567" y="51881"/>
                  <a:pt x="231567" y="115783"/>
                </a:cubicBezTo>
                <a:cubicBezTo>
                  <a:pt x="231567" y="179686"/>
                  <a:pt x="179686" y="231567"/>
                  <a:pt x="115783" y="231567"/>
                </a:cubicBezTo>
                <a:cubicBezTo>
                  <a:pt x="51881" y="231567"/>
                  <a:pt x="0" y="179686"/>
                  <a:pt x="0" y="115783"/>
                </a:cubicBezTo>
                <a:cubicBezTo>
                  <a:pt x="0" y="51881"/>
                  <a:pt x="51881" y="0"/>
                  <a:pt x="115783" y="0"/>
                </a:cubicBezTo>
                <a:close/>
                <a:moveTo>
                  <a:pt x="104929" y="54274"/>
                </a:moveTo>
                <a:lnTo>
                  <a:pt x="104929" y="115783"/>
                </a:lnTo>
                <a:cubicBezTo>
                  <a:pt x="104929" y="119402"/>
                  <a:pt x="106738" y="122794"/>
                  <a:pt x="109768" y="124829"/>
                </a:cubicBezTo>
                <a:lnTo>
                  <a:pt x="153187" y="153775"/>
                </a:lnTo>
                <a:cubicBezTo>
                  <a:pt x="158162" y="157122"/>
                  <a:pt x="164901" y="155765"/>
                  <a:pt x="168248" y="150745"/>
                </a:cubicBezTo>
                <a:cubicBezTo>
                  <a:pt x="171595" y="145724"/>
                  <a:pt x="170238" y="139031"/>
                  <a:pt x="165218" y="135684"/>
                </a:cubicBezTo>
                <a:lnTo>
                  <a:pt x="126638" y="109994"/>
                </a:lnTo>
                <a:lnTo>
                  <a:pt x="126638" y="54274"/>
                </a:lnTo>
                <a:cubicBezTo>
                  <a:pt x="126638" y="48258"/>
                  <a:pt x="121799" y="43419"/>
                  <a:pt x="115783" y="43419"/>
                </a:cubicBezTo>
                <a:cubicBezTo>
                  <a:pt x="109768" y="43419"/>
                  <a:pt x="104929" y="48258"/>
                  <a:pt x="104929" y="54274"/>
                </a:cubicBezTo>
                <a:close/>
              </a:path>
            </a:pathLst>
          </a:custGeom>
          <a:solidFill>
            <a:srgbClr val="7E9AA8"/>
          </a:solidFill>
          <a:ln/>
        </p:spPr>
      </p:sp>
      <p:sp>
        <p:nvSpPr>
          <p:cNvPr id="32" name="Text 30"/>
          <p:cNvSpPr/>
          <p:nvPr/>
        </p:nvSpPr>
        <p:spPr>
          <a:xfrm>
            <a:off x="8952595" y="2500923"/>
            <a:ext cx="2697755"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训练时间较长</a:t>
            </a:r>
            <a:endParaRPr lang="en-US" sz="1600" dirty="0"/>
          </a:p>
        </p:txBody>
      </p:sp>
      <p:sp>
        <p:nvSpPr>
          <p:cNvPr id="33" name="Text 31"/>
          <p:cNvSpPr/>
          <p:nvPr/>
        </p:nvSpPr>
        <p:spPr>
          <a:xfrm>
            <a:off x="8952595" y="2825117"/>
            <a:ext cx="2686177" cy="277880"/>
          </a:xfrm>
          <a:prstGeom prst="rect">
            <a:avLst/>
          </a:prstGeom>
          <a:noFill/>
          <a:ln/>
        </p:spPr>
        <p:txBody>
          <a:bodyPr wrap="square" lIns="0" tIns="0" rIns="0" bIns="0" rtlCol="0" anchor="ctr"/>
          <a:lstStyle/>
          <a:p>
            <a:pPr>
              <a:lnSpc>
                <a:spcPct val="130000"/>
              </a:lnSpc>
            </a:pPr>
            <a:r>
              <a:rPr lang="en-US" sz="1459" dirty="0">
                <a:solidFill>
                  <a:srgbClr val="7E9AA8"/>
                </a:solidFill>
                <a:latin typeface="MiSans" pitchFamily="34" charset="0"/>
                <a:ea typeface="MiSans" pitchFamily="34" charset="-122"/>
                <a:cs typeface="MiSans" pitchFamily="34" charset="-120"/>
              </a:rPr>
              <a:t>树的数量增加时计算资源消耗大</a:t>
            </a:r>
            <a:endParaRPr lang="en-US" sz="1600" dirty="0"/>
          </a:p>
        </p:txBody>
      </p:sp>
      <p:sp>
        <p:nvSpPr>
          <p:cNvPr id="34" name="Shape 32"/>
          <p:cNvSpPr/>
          <p:nvPr/>
        </p:nvSpPr>
        <p:spPr>
          <a:xfrm>
            <a:off x="8538670" y="3288251"/>
            <a:ext cx="260513" cy="231567"/>
          </a:xfrm>
          <a:custGeom>
            <a:avLst/>
            <a:gdLst/>
            <a:ahLst/>
            <a:cxnLst/>
            <a:rect l="l" t="t" r="r" b="b"/>
            <a:pathLst>
              <a:path w="260513" h="231567">
                <a:moveTo>
                  <a:pt x="18543" y="-11262"/>
                </a:moveTo>
                <a:cubicBezTo>
                  <a:pt x="14292" y="-15513"/>
                  <a:pt x="7417" y="-15513"/>
                  <a:pt x="3211" y="-11262"/>
                </a:cubicBezTo>
                <a:cubicBezTo>
                  <a:pt x="-995" y="-7010"/>
                  <a:pt x="-1040" y="-136"/>
                  <a:pt x="3166" y="4116"/>
                </a:cubicBezTo>
                <a:lnTo>
                  <a:pt x="241969" y="242919"/>
                </a:lnTo>
                <a:cubicBezTo>
                  <a:pt x="246221" y="247171"/>
                  <a:pt x="253095" y="247171"/>
                  <a:pt x="257302" y="242919"/>
                </a:cubicBezTo>
                <a:cubicBezTo>
                  <a:pt x="261508" y="238668"/>
                  <a:pt x="261553" y="231793"/>
                  <a:pt x="257302" y="227587"/>
                </a:cubicBezTo>
                <a:lnTo>
                  <a:pt x="213702" y="183987"/>
                </a:lnTo>
                <a:cubicBezTo>
                  <a:pt x="214923" y="182902"/>
                  <a:pt x="216144" y="181816"/>
                  <a:pt x="217320" y="180731"/>
                </a:cubicBezTo>
                <a:cubicBezTo>
                  <a:pt x="238487" y="161057"/>
                  <a:pt x="252643" y="137583"/>
                  <a:pt x="259382" y="121437"/>
                </a:cubicBezTo>
                <a:cubicBezTo>
                  <a:pt x="260875" y="117864"/>
                  <a:pt x="260875" y="113884"/>
                  <a:pt x="259382" y="110311"/>
                </a:cubicBezTo>
                <a:cubicBezTo>
                  <a:pt x="252643" y="94165"/>
                  <a:pt x="238487" y="70646"/>
                  <a:pt x="217320" y="51017"/>
                </a:cubicBezTo>
                <a:cubicBezTo>
                  <a:pt x="196018" y="31252"/>
                  <a:pt x="166755" y="14563"/>
                  <a:pt x="130211" y="14563"/>
                </a:cubicBezTo>
                <a:cubicBezTo>
                  <a:pt x="104522" y="14563"/>
                  <a:pt x="82450" y="22795"/>
                  <a:pt x="64178" y="34554"/>
                </a:cubicBezTo>
                <a:lnTo>
                  <a:pt x="18543" y="-11262"/>
                </a:lnTo>
                <a:close/>
                <a:moveTo>
                  <a:pt x="92491" y="62731"/>
                </a:moveTo>
                <a:cubicBezTo>
                  <a:pt x="103120" y="55133"/>
                  <a:pt x="116191" y="50655"/>
                  <a:pt x="130256" y="50655"/>
                </a:cubicBezTo>
                <a:cubicBezTo>
                  <a:pt x="166213" y="50655"/>
                  <a:pt x="195385" y="79827"/>
                  <a:pt x="195385" y="115783"/>
                </a:cubicBezTo>
                <a:cubicBezTo>
                  <a:pt x="195385" y="129849"/>
                  <a:pt x="190907" y="142875"/>
                  <a:pt x="183309" y="153549"/>
                </a:cubicBezTo>
                <a:lnTo>
                  <a:pt x="167615" y="137855"/>
                </a:lnTo>
                <a:cubicBezTo>
                  <a:pt x="173359" y="128176"/>
                  <a:pt x="175303" y="116281"/>
                  <a:pt x="172183" y="104522"/>
                </a:cubicBezTo>
                <a:cubicBezTo>
                  <a:pt x="165986" y="81365"/>
                  <a:pt x="142151" y="67616"/>
                  <a:pt x="118995" y="73812"/>
                </a:cubicBezTo>
                <a:cubicBezTo>
                  <a:pt x="115105" y="74852"/>
                  <a:pt x="111442" y="76390"/>
                  <a:pt x="108140" y="78335"/>
                </a:cubicBezTo>
                <a:lnTo>
                  <a:pt x="92446" y="62641"/>
                </a:lnTo>
                <a:close/>
                <a:moveTo>
                  <a:pt x="147126" y="178696"/>
                </a:moveTo>
                <a:cubicBezTo>
                  <a:pt x="141744" y="180143"/>
                  <a:pt x="136091" y="180912"/>
                  <a:pt x="130256" y="180912"/>
                </a:cubicBezTo>
                <a:cubicBezTo>
                  <a:pt x="94300" y="180912"/>
                  <a:pt x="65128" y="151740"/>
                  <a:pt x="65128" y="115783"/>
                </a:cubicBezTo>
                <a:cubicBezTo>
                  <a:pt x="65128" y="109949"/>
                  <a:pt x="65897" y="104296"/>
                  <a:pt x="67344" y="98913"/>
                </a:cubicBezTo>
                <a:lnTo>
                  <a:pt x="31388" y="62957"/>
                </a:lnTo>
                <a:cubicBezTo>
                  <a:pt x="16644" y="79601"/>
                  <a:pt x="6513" y="97240"/>
                  <a:pt x="1131" y="110220"/>
                </a:cubicBezTo>
                <a:cubicBezTo>
                  <a:pt x="-362" y="113793"/>
                  <a:pt x="-362" y="117774"/>
                  <a:pt x="1131" y="121347"/>
                </a:cubicBezTo>
                <a:cubicBezTo>
                  <a:pt x="7870" y="137493"/>
                  <a:pt x="22026" y="161011"/>
                  <a:pt x="43193" y="180640"/>
                </a:cubicBezTo>
                <a:cubicBezTo>
                  <a:pt x="64495" y="200405"/>
                  <a:pt x="93757" y="217094"/>
                  <a:pt x="130302" y="217094"/>
                </a:cubicBezTo>
                <a:cubicBezTo>
                  <a:pt x="147172" y="217094"/>
                  <a:pt x="162504" y="213521"/>
                  <a:pt x="176208" y="207777"/>
                </a:cubicBezTo>
                <a:lnTo>
                  <a:pt x="147172" y="178741"/>
                </a:lnTo>
                <a:close/>
              </a:path>
            </a:pathLst>
          </a:custGeom>
          <a:solidFill>
            <a:srgbClr val="7E9AA8"/>
          </a:solidFill>
          <a:ln/>
        </p:spPr>
      </p:sp>
      <p:sp>
        <p:nvSpPr>
          <p:cNvPr id="35" name="Text 33"/>
          <p:cNvSpPr/>
          <p:nvPr/>
        </p:nvSpPr>
        <p:spPr>
          <a:xfrm>
            <a:off x="8952595" y="3241937"/>
            <a:ext cx="2697755"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可解释性差</a:t>
            </a:r>
            <a:endParaRPr lang="en-US" sz="1600" dirty="0"/>
          </a:p>
        </p:txBody>
      </p:sp>
      <p:sp>
        <p:nvSpPr>
          <p:cNvPr id="36" name="Text 34"/>
          <p:cNvSpPr/>
          <p:nvPr/>
        </p:nvSpPr>
        <p:spPr>
          <a:xfrm>
            <a:off x="8952595" y="3566131"/>
            <a:ext cx="2686177" cy="277880"/>
          </a:xfrm>
          <a:prstGeom prst="rect">
            <a:avLst/>
          </a:prstGeom>
          <a:noFill/>
          <a:ln/>
        </p:spPr>
        <p:txBody>
          <a:bodyPr wrap="square" lIns="0" tIns="0" rIns="0" bIns="0" rtlCol="0" anchor="ctr"/>
          <a:lstStyle/>
          <a:p>
            <a:pPr>
              <a:lnSpc>
                <a:spcPct val="130000"/>
              </a:lnSpc>
            </a:pPr>
            <a:r>
              <a:rPr lang="en-US" sz="1459" dirty="0">
                <a:solidFill>
                  <a:srgbClr val="7E9AA8"/>
                </a:solidFill>
                <a:latin typeface="MiSans" pitchFamily="34" charset="0"/>
                <a:ea typeface="MiSans" pitchFamily="34" charset="-122"/>
                <a:cs typeface="MiSans" pitchFamily="34" charset="-120"/>
              </a:rPr>
              <a:t>相比单一决策树预测逻辑更复杂</a:t>
            </a:r>
            <a:endParaRPr lang="en-US" sz="1600" dirty="0"/>
          </a:p>
        </p:txBody>
      </p:sp>
      <p:sp>
        <p:nvSpPr>
          <p:cNvPr id="37" name="Shape 35"/>
          <p:cNvSpPr/>
          <p:nvPr/>
        </p:nvSpPr>
        <p:spPr>
          <a:xfrm>
            <a:off x="8553142" y="4029265"/>
            <a:ext cx="231567" cy="231567"/>
          </a:xfrm>
          <a:custGeom>
            <a:avLst/>
            <a:gdLst/>
            <a:ahLst/>
            <a:cxnLst/>
            <a:rect l="l" t="t" r="r" b="b"/>
            <a:pathLst>
              <a:path w="231567" h="231567">
                <a:moveTo>
                  <a:pt x="28946" y="28946"/>
                </a:moveTo>
                <a:cubicBezTo>
                  <a:pt x="12980" y="28946"/>
                  <a:pt x="0" y="41926"/>
                  <a:pt x="0" y="57892"/>
                </a:cubicBezTo>
                <a:lnTo>
                  <a:pt x="0" y="61239"/>
                </a:lnTo>
                <a:cubicBezTo>
                  <a:pt x="0" y="64314"/>
                  <a:pt x="1990" y="66937"/>
                  <a:pt x="4568" y="68611"/>
                </a:cubicBezTo>
                <a:cubicBezTo>
                  <a:pt x="10538" y="72500"/>
                  <a:pt x="14473" y="79194"/>
                  <a:pt x="14473" y="86838"/>
                </a:cubicBezTo>
                <a:cubicBezTo>
                  <a:pt x="14473" y="94481"/>
                  <a:pt x="10538" y="101175"/>
                  <a:pt x="4568" y="105064"/>
                </a:cubicBezTo>
                <a:cubicBezTo>
                  <a:pt x="1990" y="106738"/>
                  <a:pt x="0" y="109361"/>
                  <a:pt x="0" y="112437"/>
                </a:cubicBezTo>
                <a:lnTo>
                  <a:pt x="0" y="137493"/>
                </a:lnTo>
                <a:lnTo>
                  <a:pt x="231567" y="137493"/>
                </a:lnTo>
                <a:lnTo>
                  <a:pt x="231567" y="112437"/>
                </a:lnTo>
                <a:cubicBezTo>
                  <a:pt x="231567" y="109361"/>
                  <a:pt x="229577" y="106738"/>
                  <a:pt x="226999" y="105064"/>
                </a:cubicBezTo>
                <a:cubicBezTo>
                  <a:pt x="221029" y="101175"/>
                  <a:pt x="217094" y="94481"/>
                  <a:pt x="217094" y="86838"/>
                </a:cubicBezTo>
                <a:cubicBezTo>
                  <a:pt x="217094" y="79194"/>
                  <a:pt x="221029" y="72500"/>
                  <a:pt x="226999" y="68611"/>
                </a:cubicBezTo>
                <a:cubicBezTo>
                  <a:pt x="229577" y="66937"/>
                  <a:pt x="231567" y="64314"/>
                  <a:pt x="231567" y="61239"/>
                </a:cubicBezTo>
                <a:lnTo>
                  <a:pt x="231567" y="57892"/>
                </a:lnTo>
                <a:cubicBezTo>
                  <a:pt x="231567" y="41926"/>
                  <a:pt x="218587" y="28946"/>
                  <a:pt x="202621" y="28946"/>
                </a:cubicBezTo>
                <a:lnTo>
                  <a:pt x="28946" y="28946"/>
                </a:lnTo>
                <a:close/>
                <a:moveTo>
                  <a:pt x="231567" y="188148"/>
                </a:moveTo>
                <a:lnTo>
                  <a:pt x="231567" y="159202"/>
                </a:lnTo>
                <a:lnTo>
                  <a:pt x="0" y="159202"/>
                </a:lnTo>
                <a:lnTo>
                  <a:pt x="0" y="188148"/>
                </a:lnTo>
                <a:cubicBezTo>
                  <a:pt x="0" y="196153"/>
                  <a:pt x="6468" y="202621"/>
                  <a:pt x="14473" y="202621"/>
                </a:cubicBezTo>
                <a:lnTo>
                  <a:pt x="43419" y="202621"/>
                </a:lnTo>
                <a:lnTo>
                  <a:pt x="43419" y="191766"/>
                </a:lnTo>
                <a:cubicBezTo>
                  <a:pt x="43419" y="185751"/>
                  <a:pt x="48258" y="180912"/>
                  <a:pt x="54274" y="180912"/>
                </a:cubicBezTo>
                <a:cubicBezTo>
                  <a:pt x="60289" y="180912"/>
                  <a:pt x="65128" y="185751"/>
                  <a:pt x="65128" y="191766"/>
                </a:cubicBezTo>
                <a:lnTo>
                  <a:pt x="65128" y="202621"/>
                </a:lnTo>
                <a:lnTo>
                  <a:pt x="104929" y="202621"/>
                </a:lnTo>
                <a:lnTo>
                  <a:pt x="104929" y="191766"/>
                </a:lnTo>
                <a:cubicBezTo>
                  <a:pt x="104929" y="185751"/>
                  <a:pt x="109768" y="180912"/>
                  <a:pt x="115783" y="180912"/>
                </a:cubicBezTo>
                <a:cubicBezTo>
                  <a:pt x="121799" y="180912"/>
                  <a:pt x="126638" y="185751"/>
                  <a:pt x="126638" y="191766"/>
                </a:cubicBezTo>
                <a:lnTo>
                  <a:pt x="126638" y="202621"/>
                </a:lnTo>
                <a:lnTo>
                  <a:pt x="166439" y="202621"/>
                </a:lnTo>
                <a:lnTo>
                  <a:pt x="166439" y="191766"/>
                </a:lnTo>
                <a:cubicBezTo>
                  <a:pt x="166439" y="185751"/>
                  <a:pt x="171278" y="180912"/>
                  <a:pt x="177293" y="180912"/>
                </a:cubicBezTo>
                <a:cubicBezTo>
                  <a:pt x="183309" y="180912"/>
                  <a:pt x="188148" y="185751"/>
                  <a:pt x="188148" y="191766"/>
                </a:cubicBezTo>
                <a:lnTo>
                  <a:pt x="188148" y="202621"/>
                </a:lnTo>
                <a:lnTo>
                  <a:pt x="217094" y="202621"/>
                </a:lnTo>
                <a:cubicBezTo>
                  <a:pt x="225099" y="202621"/>
                  <a:pt x="231567" y="196153"/>
                  <a:pt x="231567" y="188148"/>
                </a:cubicBezTo>
                <a:close/>
                <a:moveTo>
                  <a:pt x="72365" y="72365"/>
                </a:moveTo>
                <a:lnTo>
                  <a:pt x="72365" y="101311"/>
                </a:lnTo>
                <a:cubicBezTo>
                  <a:pt x="72365" y="109316"/>
                  <a:pt x="65897" y="115783"/>
                  <a:pt x="57892" y="115783"/>
                </a:cubicBezTo>
                <a:cubicBezTo>
                  <a:pt x="49886" y="115783"/>
                  <a:pt x="43419" y="109316"/>
                  <a:pt x="43419" y="101311"/>
                </a:cubicBezTo>
                <a:lnTo>
                  <a:pt x="43419" y="72365"/>
                </a:lnTo>
                <a:cubicBezTo>
                  <a:pt x="43419" y="64359"/>
                  <a:pt x="49886" y="57892"/>
                  <a:pt x="57892" y="57892"/>
                </a:cubicBezTo>
                <a:cubicBezTo>
                  <a:pt x="65897" y="57892"/>
                  <a:pt x="72365" y="64359"/>
                  <a:pt x="72365" y="72365"/>
                </a:cubicBezTo>
                <a:close/>
                <a:moveTo>
                  <a:pt x="130256" y="72365"/>
                </a:moveTo>
                <a:lnTo>
                  <a:pt x="130256" y="101311"/>
                </a:lnTo>
                <a:cubicBezTo>
                  <a:pt x="130256" y="109316"/>
                  <a:pt x="123789" y="115783"/>
                  <a:pt x="115783" y="115783"/>
                </a:cubicBezTo>
                <a:cubicBezTo>
                  <a:pt x="107778" y="115783"/>
                  <a:pt x="101311" y="109316"/>
                  <a:pt x="101311" y="101311"/>
                </a:cubicBezTo>
                <a:lnTo>
                  <a:pt x="101311" y="72365"/>
                </a:lnTo>
                <a:cubicBezTo>
                  <a:pt x="101311" y="64359"/>
                  <a:pt x="107778" y="57892"/>
                  <a:pt x="115783" y="57892"/>
                </a:cubicBezTo>
                <a:cubicBezTo>
                  <a:pt x="123789" y="57892"/>
                  <a:pt x="130256" y="64359"/>
                  <a:pt x="130256" y="72365"/>
                </a:cubicBezTo>
                <a:close/>
                <a:moveTo>
                  <a:pt x="188148" y="72365"/>
                </a:moveTo>
                <a:lnTo>
                  <a:pt x="188148" y="101311"/>
                </a:lnTo>
                <a:cubicBezTo>
                  <a:pt x="188148" y="109316"/>
                  <a:pt x="181681" y="115783"/>
                  <a:pt x="173675" y="115783"/>
                </a:cubicBezTo>
                <a:cubicBezTo>
                  <a:pt x="165670" y="115783"/>
                  <a:pt x="159202" y="109316"/>
                  <a:pt x="159202" y="101311"/>
                </a:cubicBezTo>
                <a:lnTo>
                  <a:pt x="159202" y="72365"/>
                </a:lnTo>
                <a:cubicBezTo>
                  <a:pt x="159202" y="64359"/>
                  <a:pt x="165670" y="57892"/>
                  <a:pt x="173675" y="57892"/>
                </a:cubicBezTo>
                <a:cubicBezTo>
                  <a:pt x="181681" y="57892"/>
                  <a:pt x="188148" y="64359"/>
                  <a:pt x="188148" y="72365"/>
                </a:cubicBezTo>
                <a:close/>
              </a:path>
            </a:pathLst>
          </a:custGeom>
          <a:solidFill>
            <a:srgbClr val="7E9AA8"/>
          </a:solidFill>
          <a:ln/>
        </p:spPr>
      </p:sp>
      <p:sp>
        <p:nvSpPr>
          <p:cNvPr id="38" name="Text 36"/>
          <p:cNvSpPr/>
          <p:nvPr/>
        </p:nvSpPr>
        <p:spPr>
          <a:xfrm>
            <a:off x="8952595" y="3982952"/>
            <a:ext cx="2883009"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内存占用高</a:t>
            </a:r>
            <a:endParaRPr lang="en-US" sz="1600" dirty="0"/>
          </a:p>
        </p:txBody>
      </p:sp>
      <p:sp>
        <p:nvSpPr>
          <p:cNvPr id="39" name="Text 37"/>
          <p:cNvSpPr/>
          <p:nvPr/>
        </p:nvSpPr>
        <p:spPr>
          <a:xfrm>
            <a:off x="8952595" y="4307145"/>
            <a:ext cx="2871430" cy="277880"/>
          </a:xfrm>
          <a:prstGeom prst="rect">
            <a:avLst/>
          </a:prstGeom>
          <a:noFill/>
          <a:ln/>
        </p:spPr>
        <p:txBody>
          <a:bodyPr wrap="square" lIns="0" tIns="0" rIns="0" bIns="0" rtlCol="0" anchor="ctr"/>
          <a:lstStyle/>
          <a:p>
            <a:pPr>
              <a:lnSpc>
                <a:spcPct val="130000"/>
              </a:lnSpc>
            </a:pPr>
            <a:r>
              <a:rPr lang="en-US" sz="1459" dirty="0">
                <a:solidFill>
                  <a:srgbClr val="7E9AA8"/>
                </a:solidFill>
                <a:latin typeface="MiSans" pitchFamily="34" charset="0"/>
                <a:ea typeface="MiSans" pitchFamily="34" charset="-122"/>
                <a:cs typeface="MiSans" pitchFamily="34" charset="-120"/>
              </a:rPr>
              <a:t>存储多棵决策树需要较大内存空间</a:t>
            </a:r>
            <a:endParaRPr lang="en-US" sz="1600" dirty="0"/>
          </a:p>
        </p:txBody>
      </p:sp>
      <p:sp>
        <p:nvSpPr>
          <p:cNvPr id="40" name="Shape 38"/>
          <p:cNvSpPr/>
          <p:nvPr/>
        </p:nvSpPr>
        <p:spPr>
          <a:xfrm>
            <a:off x="8553142" y="4770279"/>
            <a:ext cx="231567" cy="231567"/>
          </a:xfrm>
          <a:custGeom>
            <a:avLst/>
            <a:gdLst/>
            <a:ahLst/>
            <a:cxnLst/>
            <a:rect l="l" t="t" r="r" b="b"/>
            <a:pathLst>
              <a:path w="231567" h="231567">
                <a:moveTo>
                  <a:pt x="28946" y="28946"/>
                </a:moveTo>
                <a:cubicBezTo>
                  <a:pt x="28946" y="20941"/>
                  <a:pt x="22478" y="14473"/>
                  <a:pt x="14473" y="14473"/>
                </a:cubicBezTo>
                <a:cubicBezTo>
                  <a:pt x="6468" y="14473"/>
                  <a:pt x="0" y="20941"/>
                  <a:pt x="0" y="28946"/>
                </a:cubicBezTo>
                <a:lnTo>
                  <a:pt x="0" y="180912"/>
                </a:lnTo>
                <a:cubicBezTo>
                  <a:pt x="0" y="200902"/>
                  <a:pt x="16192" y="217094"/>
                  <a:pt x="36182" y="217094"/>
                </a:cubicBezTo>
                <a:lnTo>
                  <a:pt x="217094" y="217094"/>
                </a:lnTo>
                <a:cubicBezTo>
                  <a:pt x="225099" y="217094"/>
                  <a:pt x="231567" y="210626"/>
                  <a:pt x="231567" y="202621"/>
                </a:cubicBezTo>
                <a:cubicBezTo>
                  <a:pt x="231567" y="194616"/>
                  <a:pt x="225099" y="188148"/>
                  <a:pt x="217094" y="188148"/>
                </a:cubicBezTo>
                <a:lnTo>
                  <a:pt x="36182" y="188148"/>
                </a:lnTo>
                <a:cubicBezTo>
                  <a:pt x="32202" y="188148"/>
                  <a:pt x="28946" y="184892"/>
                  <a:pt x="28946" y="180912"/>
                </a:cubicBezTo>
                <a:lnTo>
                  <a:pt x="28946" y="28946"/>
                </a:lnTo>
                <a:close/>
                <a:moveTo>
                  <a:pt x="212843" y="68113"/>
                </a:moveTo>
                <a:cubicBezTo>
                  <a:pt x="218496" y="62460"/>
                  <a:pt x="218496" y="53278"/>
                  <a:pt x="212843" y="47625"/>
                </a:cubicBezTo>
                <a:cubicBezTo>
                  <a:pt x="207189" y="41972"/>
                  <a:pt x="198008" y="41972"/>
                  <a:pt x="192354" y="47625"/>
                </a:cubicBezTo>
                <a:lnTo>
                  <a:pt x="144729" y="95295"/>
                </a:lnTo>
                <a:lnTo>
                  <a:pt x="118769" y="69380"/>
                </a:lnTo>
                <a:cubicBezTo>
                  <a:pt x="113115" y="63726"/>
                  <a:pt x="103934" y="63726"/>
                  <a:pt x="98280" y="69380"/>
                </a:cubicBezTo>
                <a:lnTo>
                  <a:pt x="54861" y="112798"/>
                </a:lnTo>
                <a:cubicBezTo>
                  <a:pt x="49208" y="118452"/>
                  <a:pt x="49208" y="127633"/>
                  <a:pt x="54861" y="133287"/>
                </a:cubicBezTo>
                <a:cubicBezTo>
                  <a:pt x="60515" y="138940"/>
                  <a:pt x="69696" y="138940"/>
                  <a:pt x="75350" y="133287"/>
                </a:cubicBezTo>
                <a:lnTo>
                  <a:pt x="108547" y="100089"/>
                </a:lnTo>
                <a:lnTo>
                  <a:pt x="134508" y="126050"/>
                </a:lnTo>
                <a:cubicBezTo>
                  <a:pt x="140161" y="131704"/>
                  <a:pt x="149343" y="131704"/>
                  <a:pt x="154996" y="126050"/>
                </a:cubicBezTo>
                <a:lnTo>
                  <a:pt x="212888" y="68158"/>
                </a:lnTo>
                <a:close/>
              </a:path>
            </a:pathLst>
          </a:custGeom>
          <a:solidFill>
            <a:srgbClr val="7E9AA8"/>
          </a:solidFill>
          <a:ln/>
        </p:spPr>
      </p:sp>
      <p:sp>
        <p:nvSpPr>
          <p:cNvPr id="41" name="Text 39"/>
          <p:cNvSpPr/>
          <p:nvPr/>
        </p:nvSpPr>
        <p:spPr>
          <a:xfrm>
            <a:off x="8952595" y="4723966"/>
            <a:ext cx="3253516"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外推能力有限</a:t>
            </a:r>
            <a:endParaRPr lang="en-US" sz="1600" dirty="0"/>
          </a:p>
        </p:txBody>
      </p:sp>
      <p:sp>
        <p:nvSpPr>
          <p:cNvPr id="42" name="Text 40"/>
          <p:cNvSpPr/>
          <p:nvPr/>
        </p:nvSpPr>
        <p:spPr>
          <a:xfrm>
            <a:off x="8952595" y="5048160"/>
            <a:ext cx="3241937" cy="277880"/>
          </a:xfrm>
          <a:prstGeom prst="rect">
            <a:avLst/>
          </a:prstGeom>
          <a:noFill/>
          <a:ln/>
        </p:spPr>
        <p:txBody>
          <a:bodyPr wrap="square" lIns="0" tIns="0" rIns="0" bIns="0" rtlCol="0" anchor="ctr"/>
          <a:lstStyle/>
          <a:p>
            <a:pPr>
              <a:lnSpc>
                <a:spcPct val="130000"/>
              </a:lnSpc>
            </a:pPr>
            <a:r>
              <a:rPr lang="en-US" sz="1459" dirty="0">
                <a:solidFill>
                  <a:srgbClr val="7E9AA8"/>
                </a:solidFill>
                <a:latin typeface="MiSans" pitchFamily="34" charset="0"/>
                <a:ea typeface="MiSans" pitchFamily="34" charset="-122"/>
                <a:cs typeface="MiSans" pitchFamily="34" charset="-120"/>
              </a:rPr>
              <a:t>回归任务中对新样本的预测可能不准确</a:t>
            </a:r>
            <a:endParaRPr lang="en-US" sz="1600" dirty="0"/>
          </a:p>
        </p:txBody>
      </p:sp>
      <p:sp>
        <p:nvSpPr>
          <p:cNvPr id="43" name="Shape 41"/>
          <p:cNvSpPr/>
          <p:nvPr/>
        </p:nvSpPr>
        <p:spPr>
          <a:xfrm>
            <a:off x="468923" y="7230678"/>
            <a:ext cx="15318154" cy="1447293"/>
          </a:xfrm>
          <a:custGeom>
            <a:avLst/>
            <a:gdLst/>
            <a:ahLst/>
            <a:cxnLst/>
            <a:rect l="l" t="t" r="r" b="b"/>
            <a:pathLst>
              <a:path w="15318154" h="1447293">
                <a:moveTo>
                  <a:pt x="92627" y="0"/>
                </a:moveTo>
                <a:lnTo>
                  <a:pt x="15225527" y="0"/>
                </a:lnTo>
                <a:cubicBezTo>
                  <a:pt x="15276683" y="0"/>
                  <a:pt x="15318154" y="41470"/>
                  <a:pt x="15318154" y="92627"/>
                </a:cubicBezTo>
                <a:lnTo>
                  <a:pt x="15318154" y="1354667"/>
                </a:lnTo>
                <a:cubicBezTo>
                  <a:pt x="15318154" y="1405823"/>
                  <a:pt x="15276683" y="1447293"/>
                  <a:pt x="15225527" y="1447293"/>
                </a:cubicBezTo>
                <a:lnTo>
                  <a:pt x="92627" y="1447293"/>
                </a:lnTo>
                <a:cubicBezTo>
                  <a:pt x="41470" y="1447293"/>
                  <a:pt x="0" y="1405823"/>
                  <a:pt x="0" y="1354667"/>
                </a:cubicBezTo>
                <a:lnTo>
                  <a:pt x="0" y="92627"/>
                </a:lnTo>
                <a:cubicBezTo>
                  <a:pt x="0" y="41505"/>
                  <a:pt x="41505" y="0"/>
                  <a:pt x="92627" y="0"/>
                </a:cubicBezTo>
                <a:close/>
              </a:path>
            </a:pathLst>
          </a:custGeom>
          <a:solidFill>
            <a:srgbClr val="4C7E9A">
              <a:alpha val="10196"/>
            </a:srgbClr>
          </a:solidFill>
          <a:ln w="12700">
            <a:solidFill>
              <a:srgbClr val="4C7E9A">
                <a:alpha val="30196"/>
              </a:srgbClr>
            </a:solidFill>
            <a:prstDash val="solid"/>
          </a:ln>
        </p:spPr>
      </p:sp>
      <p:sp>
        <p:nvSpPr>
          <p:cNvPr id="44" name="Shape 42"/>
          <p:cNvSpPr/>
          <p:nvPr/>
        </p:nvSpPr>
        <p:spPr>
          <a:xfrm>
            <a:off x="749698" y="7421721"/>
            <a:ext cx="260513" cy="347350"/>
          </a:xfrm>
          <a:custGeom>
            <a:avLst/>
            <a:gdLst/>
            <a:ahLst/>
            <a:cxnLst/>
            <a:rect l="l" t="t" r="r" b="b"/>
            <a:pathLst>
              <a:path w="260513" h="347350">
                <a:moveTo>
                  <a:pt x="198709" y="260513"/>
                </a:moveTo>
                <a:cubicBezTo>
                  <a:pt x="203661" y="245384"/>
                  <a:pt x="213566" y="231680"/>
                  <a:pt x="224760" y="219876"/>
                </a:cubicBezTo>
                <a:cubicBezTo>
                  <a:pt x="246944" y="196538"/>
                  <a:pt x="260513" y="164991"/>
                  <a:pt x="260513" y="130256"/>
                </a:cubicBezTo>
                <a:cubicBezTo>
                  <a:pt x="260513" y="58344"/>
                  <a:pt x="202169" y="0"/>
                  <a:pt x="130256" y="0"/>
                </a:cubicBezTo>
                <a:cubicBezTo>
                  <a:pt x="58344" y="0"/>
                  <a:pt x="0" y="58344"/>
                  <a:pt x="0" y="130256"/>
                </a:cubicBezTo>
                <a:cubicBezTo>
                  <a:pt x="0" y="164991"/>
                  <a:pt x="13568" y="196538"/>
                  <a:pt x="35753" y="219876"/>
                </a:cubicBezTo>
                <a:cubicBezTo>
                  <a:pt x="46947" y="231680"/>
                  <a:pt x="56919" y="245384"/>
                  <a:pt x="61804" y="260513"/>
                </a:cubicBezTo>
                <a:lnTo>
                  <a:pt x="198641" y="260513"/>
                </a:lnTo>
                <a:close/>
                <a:moveTo>
                  <a:pt x="195385" y="293077"/>
                </a:moveTo>
                <a:lnTo>
                  <a:pt x="65128" y="293077"/>
                </a:lnTo>
                <a:lnTo>
                  <a:pt x="65128" y="303932"/>
                </a:lnTo>
                <a:cubicBezTo>
                  <a:pt x="65128" y="333918"/>
                  <a:pt x="89416" y="358205"/>
                  <a:pt x="119402" y="358205"/>
                </a:cubicBezTo>
                <a:lnTo>
                  <a:pt x="141111" y="358205"/>
                </a:lnTo>
                <a:cubicBezTo>
                  <a:pt x="171097" y="358205"/>
                  <a:pt x="195385" y="333918"/>
                  <a:pt x="195385" y="303932"/>
                </a:cubicBezTo>
                <a:lnTo>
                  <a:pt x="195385" y="293077"/>
                </a:lnTo>
                <a:close/>
                <a:moveTo>
                  <a:pt x="124829" y="75983"/>
                </a:moveTo>
                <a:cubicBezTo>
                  <a:pt x="97828" y="75983"/>
                  <a:pt x="75983" y="97828"/>
                  <a:pt x="75983" y="124829"/>
                </a:cubicBezTo>
                <a:cubicBezTo>
                  <a:pt x="75983" y="133852"/>
                  <a:pt x="68724" y="141111"/>
                  <a:pt x="59701" y="141111"/>
                </a:cubicBezTo>
                <a:cubicBezTo>
                  <a:pt x="50678" y="141111"/>
                  <a:pt x="43419" y="133852"/>
                  <a:pt x="43419" y="124829"/>
                </a:cubicBezTo>
                <a:cubicBezTo>
                  <a:pt x="43419" y="79850"/>
                  <a:pt x="79850" y="43419"/>
                  <a:pt x="124829" y="43419"/>
                </a:cubicBezTo>
                <a:cubicBezTo>
                  <a:pt x="133852" y="43419"/>
                  <a:pt x="141111" y="50678"/>
                  <a:pt x="141111" y="59701"/>
                </a:cubicBezTo>
                <a:cubicBezTo>
                  <a:pt x="141111" y="68724"/>
                  <a:pt x="133852" y="75983"/>
                  <a:pt x="124829" y="75983"/>
                </a:cubicBezTo>
                <a:close/>
              </a:path>
            </a:pathLst>
          </a:custGeom>
          <a:solidFill>
            <a:srgbClr val="4C7E9A"/>
          </a:solidFill>
          <a:ln/>
        </p:spPr>
      </p:sp>
      <p:sp>
        <p:nvSpPr>
          <p:cNvPr id="45" name="Text 43"/>
          <p:cNvSpPr/>
          <p:nvPr/>
        </p:nvSpPr>
        <p:spPr>
          <a:xfrm>
            <a:off x="1279407" y="7421721"/>
            <a:ext cx="14438199" cy="324194"/>
          </a:xfrm>
          <a:prstGeom prst="rect">
            <a:avLst/>
          </a:prstGeom>
          <a:noFill/>
          <a:ln/>
        </p:spPr>
        <p:txBody>
          <a:bodyPr wrap="square" lIns="0" tIns="0" rIns="0" bIns="0" rtlCol="0" anchor="ctr"/>
          <a:lstStyle/>
          <a:p>
            <a:pPr>
              <a:lnSpc>
                <a:spcPct val="120000"/>
              </a:lnSpc>
            </a:pPr>
            <a:r>
              <a:rPr lang="en-US" sz="1823" b="1" dirty="0">
                <a:solidFill>
                  <a:srgbClr val="D1D5DB"/>
                </a:solidFill>
                <a:latin typeface="MiSans" pitchFamily="34" charset="0"/>
                <a:ea typeface="MiSans" pitchFamily="34" charset="-122"/>
                <a:cs typeface="MiSans" pitchFamily="34" charset="-120"/>
              </a:rPr>
              <a:t>使用建议</a:t>
            </a:r>
            <a:endParaRPr lang="en-US" sz="1600" dirty="0"/>
          </a:p>
        </p:txBody>
      </p:sp>
      <p:sp>
        <p:nvSpPr>
          <p:cNvPr id="46" name="Text 44"/>
          <p:cNvSpPr/>
          <p:nvPr/>
        </p:nvSpPr>
        <p:spPr>
          <a:xfrm>
            <a:off x="1279407" y="7838541"/>
            <a:ext cx="4758701" cy="324194"/>
          </a:xfrm>
          <a:prstGeom prst="rect">
            <a:avLst/>
          </a:prstGeom>
          <a:noFill/>
          <a:ln/>
        </p:spPr>
        <p:txBody>
          <a:bodyPr wrap="square" lIns="0" tIns="0" rIns="0" bIns="0" rtlCol="0" anchor="ctr"/>
          <a:lstStyle/>
          <a:p>
            <a:pPr>
              <a:lnSpc>
                <a:spcPct val="130000"/>
              </a:lnSpc>
            </a:pPr>
            <a:r>
              <a:rPr lang="en-US" sz="1641" b="1" dirty="0">
                <a:solidFill>
                  <a:srgbClr val="4C7E9A"/>
                </a:solidFill>
                <a:latin typeface="MiSans" pitchFamily="34" charset="0"/>
                <a:ea typeface="MiSans" pitchFamily="34" charset="-122"/>
                <a:cs typeface="MiSans" pitchFamily="34" charset="-120"/>
              </a:rPr>
              <a:t>适用场景</a:t>
            </a:r>
            <a:endParaRPr lang="en-US" sz="1600" dirty="0"/>
          </a:p>
        </p:txBody>
      </p:sp>
      <p:sp>
        <p:nvSpPr>
          <p:cNvPr id="47" name="Text 45"/>
          <p:cNvSpPr/>
          <p:nvPr/>
        </p:nvSpPr>
        <p:spPr>
          <a:xfrm>
            <a:off x="1279407" y="8209048"/>
            <a:ext cx="4747123" cy="277880"/>
          </a:xfrm>
          <a:prstGeom prst="rect">
            <a:avLst/>
          </a:prstGeom>
          <a:noFill/>
          <a:ln/>
        </p:spPr>
        <p:txBody>
          <a:bodyPr wrap="square" lIns="0" tIns="0" rIns="0" bIns="0" rtlCol="0" anchor="ctr"/>
          <a:lstStyle/>
          <a:p>
            <a:pPr>
              <a:lnSpc>
                <a:spcPct val="130000"/>
              </a:lnSpc>
            </a:pPr>
            <a:r>
              <a:rPr lang="en-US" sz="1459" dirty="0">
                <a:solidFill>
                  <a:srgbClr val="7E9AA8"/>
                </a:solidFill>
                <a:latin typeface="MiSans" pitchFamily="34" charset="0"/>
                <a:ea typeface="MiSans" pitchFamily="34" charset="-122"/>
                <a:cs typeface="MiSans" pitchFamily="34" charset="-120"/>
              </a:rPr>
              <a:t>高方差模型、数据含噪声、需要特征重要性分析</a:t>
            </a:r>
            <a:endParaRPr lang="en-US" sz="1600" dirty="0"/>
          </a:p>
        </p:txBody>
      </p:sp>
      <p:sp>
        <p:nvSpPr>
          <p:cNvPr id="48" name="Text 46"/>
          <p:cNvSpPr/>
          <p:nvPr/>
        </p:nvSpPr>
        <p:spPr>
          <a:xfrm>
            <a:off x="6114996" y="7838541"/>
            <a:ext cx="4758701" cy="324194"/>
          </a:xfrm>
          <a:prstGeom prst="rect">
            <a:avLst/>
          </a:prstGeom>
          <a:noFill/>
          <a:ln/>
        </p:spPr>
        <p:txBody>
          <a:bodyPr wrap="square" lIns="0" tIns="0" rIns="0" bIns="0" rtlCol="0" anchor="ctr"/>
          <a:lstStyle/>
          <a:p>
            <a:pPr>
              <a:lnSpc>
                <a:spcPct val="130000"/>
              </a:lnSpc>
            </a:pPr>
            <a:r>
              <a:rPr lang="en-US" sz="1641" b="1" dirty="0">
                <a:solidFill>
                  <a:srgbClr val="4C7E9A"/>
                </a:solidFill>
                <a:latin typeface="MiSans" pitchFamily="34" charset="0"/>
                <a:ea typeface="MiSans" pitchFamily="34" charset="-122"/>
                <a:cs typeface="MiSans" pitchFamily="34" charset="-120"/>
              </a:rPr>
              <a:t>参数调优</a:t>
            </a:r>
            <a:endParaRPr lang="en-US" sz="1600" dirty="0"/>
          </a:p>
        </p:txBody>
      </p:sp>
      <p:sp>
        <p:nvSpPr>
          <p:cNvPr id="49" name="Text 47"/>
          <p:cNvSpPr/>
          <p:nvPr/>
        </p:nvSpPr>
        <p:spPr>
          <a:xfrm>
            <a:off x="6114996" y="8209048"/>
            <a:ext cx="4747123" cy="277880"/>
          </a:xfrm>
          <a:prstGeom prst="rect">
            <a:avLst/>
          </a:prstGeom>
          <a:noFill/>
          <a:ln/>
        </p:spPr>
        <p:txBody>
          <a:bodyPr wrap="square" lIns="0" tIns="0" rIns="0" bIns="0" rtlCol="0" anchor="ctr"/>
          <a:lstStyle/>
          <a:p>
            <a:pPr>
              <a:lnSpc>
                <a:spcPct val="130000"/>
              </a:lnSpc>
            </a:pPr>
            <a:r>
              <a:rPr lang="en-US" sz="1459" dirty="0">
                <a:solidFill>
                  <a:srgbClr val="7E9AA8"/>
                </a:solidFill>
                <a:latin typeface="MiSans" pitchFamily="34" charset="0"/>
                <a:ea typeface="MiSans" pitchFamily="34" charset="-122"/>
                <a:cs typeface="MiSans" pitchFamily="34" charset="-120"/>
              </a:rPr>
              <a:t>树的数量（n_estimators）和特征子集大小是关键</a:t>
            </a:r>
            <a:endParaRPr lang="en-US" sz="1600" dirty="0"/>
          </a:p>
        </p:txBody>
      </p:sp>
      <p:sp>
        <p:nvSpPr>
          <p:cNvPr id="50" name="Text 48"/>
          <p:cNvSpPr/>
          <p:nvPr/>
        </p:nvSpPr>
        <p:spPr>
          <a:xfrm>
            <a:off x="10950675" y="7838541"/>
            <a:ext cx="4758701" cy="324194"/>
          </a:xfrm>
          <a:prstGeom prst="rect">
            <a:avLst/>
          </a:prstGeom>
          <a:noFill/>
          <a:ln/>
        </p:spPr>
        <p:txBody>
          <a:bodyPr wrap="square" lIns="0" tIns="0" rIns="0" bIns="0" rtlCol="0" anchor="ctr"/>
          <a:lstStyle/>
          <a:p>
            <a:pPr>
              <a:lnSpc>
                <a:spcPct val="130000"/>
              </a:lnSpc>
            </a:pPr>
            <a:r>
              <a:rPr lang="en-US" sz="1641" b="1" dirty="0">
                <a:solidFill>
                  <a:srgbClr val="4C7E9A"/>
                </a:solidFill>
                <a:latin typeface="MiSans" pitchFamily="34" charset="0"/>
                <a:ea typeface="MiSans" pitchFamily="34" charset="-122"/>
                <a:cs typeface="MiSans" pitchFamily="34" charset="-120"/>
              </a:rPr>
              <a:t>权衡考虑</a:t>
            </a:r>
            <a:endParaRPr lang="en-US" sz="1600" dirty="0"/>
          </a:p>
        </p:txBody>
      </p:sp>
      <p:sp>
        <p:nvSpPr>
          <p:cNvPr id="51" name="Text 49"/>
          <p:cNvSpPr/>
          <p:nvPr/>
        </p:nvSpPr>
        <p:spPr>
          <a:xfrm>
            <a:off x="10950675" y="8209048"/>
            <a:ext cx="4747123" cy="277880"/>
          </a:xfrm>
          <a:prstGeom prst="rect">
            <a:avLst/>
          </a:prstGeom>
          <a:noFill/>
          <a:ln/>
        </p:spPr>
        <p:txBody>
          <a:bodyPr wrap="square" lIns="0" tIns="0" rIns="0" bIns="0" rtlCol="0" anchor="ctr"/>
          <a:lstStyle/>
          <a:p>
            <a:pPr>
              <a:lnSpc>
                <a:spcPct val="130000"/>
              </a:lnSpc>
            </a:pPr>
            <a:r>
              <a:rPr lang="en-US" sz="1459" dirty="0">
                <a:solidFill>
                  <a:srgbClr val="7E9AA8"/>
                </a:solidFill>
                <a:latin typeface="MiSans" pitchFamily="34" charset="0"/>
                <a:ea typeface="MiSans" pitchFamily="34" charset="-122"/>
                <a:cs typeface="MiSans" pitchFamily="34" charset="-120"/>
              </a:rPr>
              <a:t>在准确性、训练时间和内存占用之间找到平衡</a:t>
            </a:r>
            <a:endParaRPr lang="en-US" sz="1600" dirty="0"/>
          </a:p>
        </p:txBody>
      </p:sp>
    </p:spTree>
  </p:cSld>
  <p:clrMapOvr>
    <a:masterClrMapping/>
  </p:clrMapOvr>
  <p:transition>
    <p:fade/>
    <p:spd val="med"/>
  </p:transition>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63134" y="463134"/>
            <a:ext cx="15422359" cy="277880"/>
          </a:xfrm>
          <a:prstGeom prst="rect">
            <a:avLst/>
          </a:prstGeom>
          <a:noFill/>
          <a:ln/>
        </p:spPr>
        <p:txBody>
          <a:bodyPr wrap="square" lIns="0" tIns="0" rIns="0" bIns="0" rtlCol="0" anchor="ctr"/>
          <a:lstStyle/>
          <a:p>
            <a:pPr>
              <a:lnSpc>
                <a:spcPct val="130000"/>
              </a:lnSpc>
            </a:pPr>
            <a:r>
              <a:rPr lang="en-US" sz="1459" b="1" spc="73" kern="0" dirty="0">
                <a:solidFill>
                  <a:srgbClr val="7E9AA8"/>
                </a:solidFill>
                <a:latin typeface="MiSans" pitchFamily="34" charset="0"/>
                <a:ea typeface="MiSans" pitchFamily="34" charset="-122"/>
                <a:cs typeface="MiSans" pitchFamily="34" charset="-120"/>
              </a:rPr>
              <a:t>RANDOM FOREST</a:t>
            </a:r>
            <a:endParaRPr lang="en-US" sz="1600" dirty="0"/>
          </a:p>
        </p:txBody>
      </p:sp>
      <p:sp>
        <p:nvSpPr>
          <p:cNvPr id="3" name="Text 1"/>
          <p:cNvSpPr/>
          <p:nvPr/>
        </p:nvSpPr>
        <p:spPr>
          <a:xfrm>
            <a:off x="463134" y="833641"/>
            <a:ext cx="15538142" cy="463134"/>
          </a:xfrm>
          <a:prstGeom prst="rect">
            <a:avLst/>
          </a:prstGeom>
          <a:noFill/>
          <a:ln/>
        </p:spPr>
        <p:txBody>
          <a:bodyPr wrap="square" lIns="0" tIns="0" rIns="0" bIns="0" rtlCol="0" anchor="ctr"/>
          <a:lstStyle/>
          <a:p>
            <a:pPr>
              <a:lnSpc>
                <a:spcPct val="90000"/>
              </a:lnSpc>
            </a:pPr>
            <a:r>
              <a:rPr lang="en-US" sz="3282" b="1" dirty="0">
                <a:solidFill>
                  <a:srgbClr val="D1D5DB"/>
                </a:solidFill>
                <a:latin typeface="阿里妈妈数黑体" pitchFamily="34" charset="0"/>
                <a:ea typeface="阿里妈妈数黑体" pitchFamily="34" charset="-122"/>
                <a:cs typeface="阿里妈妈数黑体" pitchFamily="34" charset="-120"/>
              </a:rPr>
              <a:t>随机森林的数学原理</a:t>
            </a:r>
            <a:endParaRPr lang="en-US" sz="1600" dirty="0"/>
          </a:p>
        </p:txBody>
      </p:sp>
      <p:sp>
        <p:nvSpPr>
          <p:cNvPr id="4" name="Shape 2"/>
          <p:cNvSpPr/>
          <p:nvPr/>
        </p:nvSpPr>
        <p:spPr>
          <a:xfrm>
            <a:off x="463134" y="1435715"/>
            <a:ext cx="1111521" cy="46313"/>
          </a:xfrm>
          <a:custGeom>
            <a:avLst/>
            <a:gdLst/>
            <a:ahLst/>
            <a:cxnLst/>
            <a:rect l="l" t="t" r="r" b="b"/>
            <a:pathLst>
              <a:path w="1111521" h="46313">
                <a:moveTo>
                  <a:pt x="0" y="0"/>
                </a:moveTo>
                <a:lnTo>
                  <a:pt x="1111521" y="0"/>
                </a:lnTo>
                <a:lnTo>
                  <a:pt x="1111521" y="46313"/>
                </a:lnTo>
                <a:lnTo>
                  <a:pt x="0" y="46313"/>
                </a:lnTo>
                <a:lnTo>
                  <a:pt x="0" y="0"/>
                </a:lnTo>
                <a:close/>
              </a:path>
            </a:pathLst>
          </a:custGeom>
          <a:solidFill>
            <a:srgbClr val="4C7E9A"/>
          </a:solidFill>
          <a:ln/>
        </p:spPr>
      </p:sp>
      <p:sp>
        <p:nvSpPr>
          <p:cNvPr id="5" name="Shape 3"/>
          <p:cNvSpPr/>
          <p:nvPr/>
        </p:nvSpPr>
        <p:spPr>
          <a:xfrm>
            <a:off x="486291" y="1667282"/>
            <a:ext cx="7525926" cy="4735544"/>
          </a:xfrm>
          <a:custGeom>
            <a:avLst/>
            <a:gdLst/>
            <a:ahLst/>
            <a:cxnLst/>
            <a:rect l="l" t="t" r="r" b="b"/>
            <a:pathLst>
              <a:path w="7525926" h="4735544">
                <a:moveTo>
                  <a:pt x="46313" y="0"/>
                </a:moveTo>
                <a:lnTo>
                  <a:pt x="7433299" y="0"/>
                </a:lnTo>
                <a:cubicBezTo>
                  <a:pt x="7484455" y="0"/>
                  <a:pt x="7525926" y="41471"/>
                  <a:pt x="7525926" y="92627"/>
                </a:cubicBezTo>
                <a:lnTo>
                  <a:pt x="7525926" y="4642917"/>
                </a:lnTo>
                <a:cubicBezTo>
                  <a:pt x="7525926" y="4694074"/>
                  <a:pt x="7484455" y="4735544"/>
                  <a:pt x="7433299" y="4735544"/>
                </a:cubicBezTo>
                <a:lnTo>
                  <a:pt x="46313" y="4735544"/>
                </a:lnTo>
                <a:cubicBezTo>
                  <a:pt x="20735" y="4735544"/>
                  <a:pt x="0" y="4714809"/>
                  <a:pt x="0" y="4689231"/>
                </a:cubicBezTo>
                <a:lnTo>
                  <a:pt x="0" y="46313"/>
                </a:lnTo>
                <a:cubicBezTo>
                  <a:pt x="0" y="20752"/>
                  <a:pt x="20752" y="0"/>
                  <a:pt x="46313" y="0"/>
                </a:cubicBezTo>
                <a:close/>
              </a:path>
            </a:pathLst>
          </a:custGeom>
          <a:solidFill>
            <a:srgbClr val="3A5E78">
              <a:alpha val="20000"/>
            </a:srgbClr>
          </a:solidFill>
          <a:ln/>
        </p:spPr>
      </p:sp>
      <p:sp>
        <p:nvSpPr>
          <p:cNvPr id="6" name="Shape 4"/>
          <p:cNvSpPr/>
          <p:nvPr/>
        </p:nvSpPr>
        <p:spPr>
          <a:xfrm>
            <a:off x="486291" y="1667282"/>
            <a:ext cx="46313" cy="4735544"/>
          </a:xfrm>
          <a:custGeom>
            <a:avLst/>
            <a:gdLst/>
            <a:ahLst/>
            <a:cxnLst/>
            <a:rect l="l" t="t" r="r" b="b"/>
            <a:pathLst>
              <a:path w="46313" h="4735544">
                <a:moveTo>
                  <a:pt x="46313" y="0"/>
                </a:moveTo>
                <a:lnTo>
                  <a:pt x="46313" y="0"/>
                </a:lnTo>
                <a:lnTo>
                  <a:pt x="46313" y="4735544"/>
                </a:lnTo>
                <a:lnTo>
                  <a:pt x="46313" y="4735544"/>
                </a:lnTo>
                <a:cubicBezTo>
                  <a:pt x="20735" y="4735544"/>
                  <a:pt x="0" y="4714809"/>
                  <a:pt x="0" y="4689231"/>
                </a:cubicBezTo>
                <a:lnTo>
                  <a:pt x="0" y="46313"/>
                </a:lnTo>
                <a:cubicBezTo>
                  <a:pt x="0" y="20752"/>
                  <a:pt x="20752" y="0"/>
                  <a:pt x="46313" y="0"/>
                </a:cubicBezTo>
                <a:close/>
              </a:path>
            </a:pathLst>
          </a:custGeom>
          <a:solidFill>
            <a:srgbClr val="4C7E9A"/>
          </a:solidFill>
          <a:ln/>
        </p:spPr>
      </p:sp>
      <p:sp>
        <p:nvSpPr>
          <p:cNvPr id="7" name="Text 5"/>
          <p:cNvSpPr/>
          <p:nvPr/>
        </p:nvSpPr>
        <p:spPr>
          <a:xfrm>
            <a:off x="694701" y="1852536"/>
            <a:ext cx="7271202" cy="370507"/>
          </a:xfrm>
          <a:prstGeom prst="rect">
            <a:avLst/>
          </a:prstGeom>
          <a:noFill/>
          <a:ln/>
        </p:spPr>
        <p:txBody>
          <a:bodyPr wrap="square" lIns="0" tIns="0" rIns="0" bIns="0" rtlCol="0" anchor="ctr"/>
          <a:lstStyle/>
          <a:p>
            <a:pPr>
              <a:lnSpc>
                <a:spcPct val="110000"/>
              </a:lnSpc>
            </a:pPr>
            <a:r>
              <a:rPr lang="en-US" sz="2188" b="1" dirty="0">
                <a:solidFill>
                  <a:srgbClr val="4C7E9A"/>
                </a:solidFill>
                <a:latin typeface="MiSans" pitchFamily="34" charset="0"/>
                <a:ea typeface="MiSans" pitchFamily="34" charset="-122"/>
                <a:cs typeface="MiSans" pitchFamily="34" charset="-120"/>
              </a:rPr>
              <a:t>决策树构建</a:t>
            </a:r>
            <a:endParaRPr lang="en-US" sz="1600" dirty="0"/>
          </a:p>
        </p:txBody>
      </p:sp>
      <p:sp>
        <p:nvSpPr>
          <p:cNvPr id="8" name="Text 6"/>
          <p:cNvSpPr/>
          <p:nvPr/>
        </p:nvSpPr>
        <p:spPr>
          <a:xfrm>
            <a:off x="694701" y="2361983"/>
            <a:ext cx="7236467" cy="335772"/>
          </a:xfrm>
          <a:prstGeom prst="rect">
            <a:avLst/>
          </a:prstGeom>
          <a:noFill/>
          <a:ln/>
        </p:spPr>
        <p:txBody>
          <a:bodyPr wrap="square" lIns="0" tIns="0" rIns="0" bIns="0" rtlCol="0" anchor="ctr"/>
          <a:lstStyle/>
          <a:p>
            <a:pPr>
              <a:lnSpc>
                <a:spcPct val="140000"/>
              </a:lnSpc>
            </a:pPr>
            <a:r>
              <a:rPr lang="en-US" sz="1641" dirty="0">
                <a:solidFill>
                  <a:srgbClr val="D1D5DB"/>
                </a:solidFill>
                <a:latin typeface="MiSans" pitchFamily="34" charset="0"/>
                <a:ea typeface="MiSans" pitchFamily="34" charset="-122"/>
                <a:cs typeface="MiSans" pitchFamily="34" charset="-120"/>
              </a:rPr>
              <a:t>随机森林的核心在于</a:t>
            </a:r>
            <a:pPr>
              <a:lnSpc>
                <a:spcPct val="140000"/>
              </a:lnSpc>
            </a:pPr>
            <a:r>
              <a:rPr lang="en-US" sz="1641" b="1" dirty="0">
                <a:solidFill>
                  <a:srgbClr val="4C7E9A"/>
                </a:solidFill>
                <a:latin typeface="MiSans" pitchFamily="34" charset="0"/>
                <a:ea typeface="MiSans" pitchFamily="34" charset="-122"/>
                <a:cs typeface="MiSans" pitchFamily="34" charset="-120"/>
              </a:rPr>
              <a:t>选择最优特征和分裂点</a:t>
            </a:r>
            <a:pPr>
              <a:lnSpc>
                <a:spcPct val="140000"/>
              </a:lnSpc>
            </a:pPr>
            <a:r>
              <a:rPr lang="en-US" sz="1641" dirty="0">
                <a:solidFill>
                  <a:srgbClr val="D1D5DB"/>
                </a:solidFill>
                <a:latin typeface="MiSans" pitchFamily="34" charset="0"/>
                <a:ea typeface="MiSans" pitchFamily="34" charset="-122"/>
                <a:cs typeface="MiSans" pitchFamily="34" charset="-120"/>
              </a:rPr>
              <a:t>，使数据纯度尽可能高。</a:t>
            </a:r>
            <a:endParaRPr lang="en-US" sz="1600" dirty="0"/>
          </a:p>
        </p:txBody>
      </p:sp>
      <p:sp>
        <p:nvSpPr>
          <p:cNvPr id="9" name="Shape 7"/>
          <p:cNvSpPr/>
          <p:nvPr/>
        </p:nvSpPr>
        <p:spPr>
          <a:xfrm>
            <a:off x="694701" y="2839590"/>
            <a:ext cx="7132262" cy="1620969"/>
          </a:xfrm>
          <a:custGeom>
            <a:avLst/>
            <a:gdLst/>
            <a:ahLst/>
            <a:cxnLst/>
            <a:rect l="l" t="t" r="r" b="b"/>
            <a:pathLst>
              <a:path w="7132262" h="1620969">
                <a:moveTo>
                  <a:pt x="46311" y="0"/>
                </a:moveTo>
                <a:lnTo>
                  <a:pt x="7085951" y="0"/>
                </a:lnTo>
                <a:cubicBezTo>
                  <a:pt x="7111528" y="0"/>
                  <a:pt x="7132262" y="20734"/>
                  <a:pt x="7132262" y="46311"/>
                </a:cubicBezTo>
                <a:lnTo>
                  <a:pt x="7132262" y="1574658"/>
                </a:lnTo>
                <a:cubicBezTo>
                  <a:pt x="7132262" y="1600234"/>
                  <a:pt x="7111528" y="1620969"/>
                  <a:pt x="7085951" y="1620969"/>
                </a:cubicBezTo>
                <a:lnTo>
                  <a:pt x="46311" y="1620969"/>
                </a:lnTo>
                <a:cubicBezTo>
                  <a:pt x="20734" y="1620969"/>
                  <a:pt x="0" y="1600234"/>
                  <a:pt x="0" y="1574658"/>
                </a:cubicBezTo>
                <a:lnTo>
                  <a:pt x="0" y="46311"/>
                </a:lnTo>
                <a:cubicBezTo>
                  <a:pt x="0" y="20734"/>
                  <a:pt x="20734" y="0"/>
                  <a:pt x="46311" y="0"/>
                </a:cubicBezTo>
                <a:close/>
              </a:path>
            </a:pathLst>
          </a:custGeom>
          <a:solidFill>
            <a:srgbClr val="181A1F">
              <a:alpha val="50196"/>
            </a:srgbClr>
          </a:solidFill>
          <a:ln/>
        </p:spPr>
      </p:sp>
      <p:sp>
        <p:nvSpPr>
          <p:cNvPr id="10" name="Text 8"/>
          <p:cNvSpPr/>
          <p:nvPr/>
        </p:nvSpPr>
        <p:spPr>
          <a:xfrm>
            <a:off x="833641" y="2978530"/>
            <a:ext cx="6958587"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基尼不纯度 (Gini Impurity)</a:t>
            </a:r>
            <a:endParaRPr lang="en-US" sz="1600" dirty="0"/>
          </a:p>
        </p:txBody>
      </p:sp>
      <p:sp>
        <p:nvSpPr>
          <p:cNvPr id="11" name="Text 9"/>
          <p:cNvSpPr/>
          <p:nvPr/>
        </p:nvSpPr>
        <p:spPr>
          <a:xfrm>
            <a:off x="833641" y="3349037"/>
            <a:ext cx="6935430" cy="231567"/>
          </a:xfrm>
          <a:prstGeom prst="rect">
            <a:avLst/>
          </a:prstGeom>
          <a:noFill/>
          <a:ln/>
        </p:spPr>
        <p:txBody>
          <a:bodyPr wrap="square" lIns="0" tIns="0" rIns="0" bIns="0" rtlCol="0" anchor="ctr"/>
          <a:lstStyle/>
          <a:p>
            <a:pPr>
              <a:lnSpc>
                <a:spcPct val="120000"/>
              </a:lnSpc>
            </a:pPr>
            <a:r>
              <a:rPr lang="en-US" sz="1276" dirty="0">
                <a:solidFill>
                  <a:srgbClr val="7E9AA8"/>
                </a:solidFill>
                <a:latin typeface="MiSans" pitchFamily="34" charset="0"/>
                <a:ea typeface="MiSans" pitchFamily="34" charset="-122"/>
                <a:cs typeface="MiSans" pitchFamily="34" charset="-120"/>
              </a:rPr>
              <a:t>衡量数据集的混乱程度，值越小纯度越高</a:t>
            </a:r>
            <a:endParaRPr lang="en-US" sz="1600" dirty="0"/>
          </a:p>
        </p:txBody>
      </p:sp>
      <p:sp>
        <p:nvSpPr>
          <p:cNvPr id="12" name="Shape 10"/>
          <p:cNvSpPr/>
          <p:nvPr/>
        </p:nvSpPr>
        <p:spPr>
          <a:xfrm>
            <a:off x="833641" y="3673231"/>
            <a:ext cx="6854382" cy="416821"/>
          </a:xfrm>
          <a:custGeom>
            <a:avLst/>
            <a:gdLst/>
            <a:ahLst/>
            <a:cxnLst/>
            <a:rect l="l" t="t" r="r" b="b"/>
            <a:pathLst>
              <a:path w="6854382" h="416821">
                <a:moveTo>
                  <a:pt x="46313" y="0"/>
                </a:moveTo>
                <a:lnTo>
                  <a:pt x="6808069" y="0"/>
                </a:lnTo>
                <a:cubicBezTo>
                  <a:pt x="6833647" y="0"/>
                  <a:pt x="6854382" y="20735"/>
                  <a:pt x="6854382" y="46313"/>
                </a:cubicBezTo>
                <a:lnTo>
                  <a:pt x="6854382" y="370508"/>
                </a:lnTo>
                <a:cubicBezTo>
                  <a:pt x="6854382" y="396086"/>
                  <a:pt x="6833647" y="416821"/>
                  <a:pt x="6808069" y="416821"/>
                </a:cubicBezTo>
                <a:lnTo>
                  <a:pt x="46313" y="416821"/>
                </a:lnTo>
                <a:cubicBezTo>
                  <a:pt x="20735" y="416821"/>
                  <a:pt x="0" y="396086"/>
                  <a:pt x="0" y="370508"/>
                </a:cubicBezTo>
                <a:lnTo>
                  <a:pt x="0" y="46313"/>
                </a:lnTo>
                <a:cubicBezTo>
                  <a:pt x="0" y="20735"/>
                  <a:pt x="20735" y="0"/>
                  <a:pt x="46313" y="0"/>
                </a:cubicBezTo>
                <a:close/>
              </a:path>
            </a:pathLst>
          </a:custGeom>
          <a:solidFill>
            <a:srgbClr val="181A1F"/>
          </a:solidFill>
          <a:ln/>
        </p:spPr>
      </p:sp>
      <p:sp>
        <p:nvSpPr>
          <p:cNvPr id="13" name="Text 11"/>
          <p:cNvSpPr/>
          <p:nvPr/>
        </p:nvSpPr>
        <p:spPr>
          <a:xfrm>
            <a:off x="885744" y="3765858"/>
            <a:ext cx="6750177" cy="231567"/>
          </a:xfrm>
          <a:prstGeom prst="rect">
            <a:avLst/>
          </a:prstGeom>
          <a:noFill/>
          <a:ln/>
        </p:spPr>
        <p:txBody>
          <a:bodyPr wrap="square" lIns="0" tIns="0" rIns="0" bIns="0" rtlCol="0" anchor="ctr"/>
          <a:lstStyle/>
          <a:p>
            <a:pPr algn="ctr">
              <a:lnSpc>
                <a:spcPct val="120000"/>
              </a:lnSpc>
            </a:pPr>
            <a:r>
              <a:rPr lang="en-US" sz="1276" dirty="0">
                <a:solidFill>
                  <a:srgbClr val="7E9AA8"/>
                </a:solidFill>
                <a:latin typeface="MiSans" pitchFamily="34" charset="0"/>
                <a:ea typeface="MiSans" pitchFamily="34" charset="-122"/>
                <a:cs typeface="MiSans" pitchFamily="34" charset="-120"/>
              </a:rPr>
              <a:t>Gini(D) = 1 - ∑ p_k²</a:t>
            </a:r>
            <a:endParaRPr lang="en-US" sz="1600" dirty="0"/>
          </a:p>
        </p:txBody>
      </p:sp>
      <p:sp>
        <p:nvSpPr>
          <p:cNvPr id="14" name="Text 12"/>
          <p:cNvSpPr/>
          <p:nvPr/>
        </p:nvSpPr>
        <p:spPr>
          <a:xfrm>
            <a:off x="833641" y="4136365"/>
            <a:ext cx="6923852" cy="185254"/>
          </a:xfrm>
          <a:prstGeom prst="rect">
            <a:avLst/>
          </a:prstGeom>
          <a:noFill/>
          <a:ln/>
        </p:spPr>
        <p:txBody>
          <a:bodyPr wrap="square" lIns="0" tIns="0" rIns="0" bIns="0" rtlCol="0" anchor="ctr"/>
          <a:lstStyle/>
          <a:p>
            <a:pPr>
              <a:lnSpc>
                <a:spcPct val="110000"/>
              </a:lnSpc>
            </a:pPr>
            <a:r>
              <a:rPr lang="en-US" sz="1094" dirty="0">
                <a:solidFill>
                  <a:srgbClr val="7E9AA8"/>
                </a:solidFill>
                <a:latin typeface="MiSans" pitchFamily="34" charset="0"/>
                <a:ea typeface="MiSans" pitchFamily="34" charset="-122"/>
                <a:cs typeface="MiSans" pitchFamily="34" charset="-120"/>
              </a:rPr>
              <a:t>p_k：类别k在数据集D中的比例</a:t>
            </a:r>
            <a:endParaRPr lang="en-US" sz="1600" dirty="0"/>
          </a:p>
        </p:txBody>
      </p:sp>
      <p:sp>
        <p:nvSpPr>
          <p:cNvPr id="15" name="Shape 13"/>
          <p:cNvSpPr/>
          <p:nvPr/>
        </p:nvSpPr>
        <p:spPr>
          <a:xfrm>
            <a:off x="694701" y="4599499"/>
            <a:ext cx="7132262" cy="1620969"/>
          </a:xfrm>
          <a:custGeom>
            <a:avLst/>
            <a:gdLst/>
            <a:ahLst/>
            <a:cxnLst/>
            <a:rect l="l" t="t" r="r" b="b"/>
            <a:pathLst>
              <a:path w="7132262" h="1620969">
                <a:moveTo>
                  <a:pt x="46311" y="0"/>
                </a:moveTo>
                <a:lnTo>
                  <a:pt x="7085951" y="0"/>
                </a:lnTo>
                <a:cubicBezTo>
                  <a:pt x="7111528" y="0"/>
                  <a:pt x="7132262" y="20734"/>
                  <a:pt x="7132262" y="46311"/>
                </a:cubicBezTo>
                <a:lnTo>
                  <a:pt x="7132262" y="1574658"/>
                </a:lnTo>
                <a:cubicBezTo>
                  <a:pt x="7132262" y="1600234"/>
                  <a:pt x="7111528" y="1620969"/>
                  <a:pt x="7085951" y="1620969"/>
                </a:cubicBezTo>
                <a:lnTo>
                  <a:pt x="46311" y="1620969"/>
                </a:lnTo>
                <a:cubicBezTo>
                  <a:pt x="20734" y="1620969"/>
                  <a:pt x="0" y="1600234"/>
                  <a:pt x="0" y="1574658"/>
                </a:cubicBezTo>
                <a:lnTo>
                  <a:pt x="0" y="46311"/>
                </a:lnTo>
                <a:cubicBezTo>
                  <a:pt x="0" y="20734"/>
                  <a:pt x="20734" y="0"/>
                  <a:pt x="46311" y="0"/>
                </a:cubicBezTo>
                <a:close/>
              </a:path>
            </a:pathLst>
          </a:custGeom>
          <a:solidFill>
            <a:srgbClr val="181A1F">
              <a:alpha val="50196"/>
            </a:srgbClr>
          </a:solidFill>
          <a:ln/>
        </p:spPr>
      </p:sp>
      <p:sp>
        <p:nvSpPr>
          <p:cNvPr id="16" name="Text 14"/>
          <p:cNvSpPr/>
          <p:nvPr/>
        </p:nvSpPr>
        <p:spPr>
          <a:xfrm>
            <a:off x="833641" y="4738439"/>
            <a:ext cx="6958587"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信息增益 (Information Gain)</a:t>
            </a:r>
            <a:endParaRPr lang="en-US" sz="1600" dirty="0"/>
          </a:p>
        </p:txBody>
      </p:sp>
      <p:sp>
        <p:nvSpPr>
          <p:cNvPr id="17" name="Text 15"/>
          <p:cNvSpPr/>
          <p:nvPr/>
        </p:nvSpPr>
        <p:spPr>
          <a:xfrm>
            <a:off x="833641" y="5108946"/>
            <a:ext cx="6935430" cy="231567"/>
          </a:xfrm>
          <a:prstGeom prst="rect">
            <a:avLst/>
          </a:prstGeom>
          <a:noFill/>
          <a:ln/>
        </p:spPr>
        <p:txBody>
          <a:bodyPr wrap="square" lIns="0" tIns="0" rIns="0" bIns="0" rtlCol="0" anchor="ctr"/>
          <a:lstStyle/>
          <a:p>
            <a:pPr>
              <a:lnSpc>
                <a:spcPct val="120000"/>
              </a:lnSpc>
            </a:pPr>
            <a:r>
              <a:rPr lang="en-US" sz="1276" dirty="0">
                <a:solidFill>
                  <a:srgbClr val="7E9AA8"/>
                </a:solidFill>
                <a:latin typeface="MiSans" pitchFamily="34" charset="0"/>
                <a:ea typeface="MiSans" pitchFamily="34" charset="-122"/>
                <a:cs typeface="MiSans" pitchFamily="34" charset="-120"/>
              </a:rPr>
              <a:t>基于信息熵概念，增益越大纯度提升越多</a:t>
            </a:r>
            <a:endParaRPr lang="en-US" sz="1600" dirty="0"/>
          </a:p>
        </p:txBody>
      </p:sp>
      <p:sp>
        <p:nvSpPr>
          <p:cNvPr id="18" name="Shape 16"/>
          <p:cNvSpPr/>
          <p:nvPr/>
        </p:nvSpPr>
        <p:spPr>
          <a:xfrm>
            <a:off x="833641" y="5433140"/>
            <a:ext cx="6854382" cy="416821"/>
          </a:xfrm>
          <a:custGeom>
            <a:avLst/>
            <a:gdLst/>
            <a:ahLst/>
            <a:cxnLst/>
            <a:rect l="l" t="t" r="r" b="b"/>
            <a:pathLst>
              <a:path w="6854382" h="416821">
                <a:moveTo>
                  <a:pt x="46313" y="0"/>
                </a:moveTo>
                <a:lnTo>
                  <a:pt x="6808069" y="0"/>
                </a:lnTo>
                <a:cubicBezTo>
                  <a:pt x="6833647" y="0"/>
                  <a:pt x="6854382" y="20735"/>
                  <a:pt x="6854382" y="46313"/>
                </a:cubicBezTo>
                <a:lnTo>
                  <a:pt x="6854382" y="370508"/>
                </a:lnTo>
                <a:cubicBezTo>
                  <a:pt x="6854382" y="396086"/>
                  <a:pt x="6833647" y="416821"/>
                  <a:pt x="6808069" y="416821"/>
                </a:cubicBezTo>
                <a:lnTo>
                  <a:pt x="46313" y="416821"/>
                </a:lnTo>
                <a:cubicBezTo>
                  <a:pt x="20735" y="416821"/>
                  <a:pt x="0" y="396086"/>
                  <a:pt x="0" y="370508"/>
                </a:cubicBezTo>
                <a:lnTo>
                  <a:pt x="0" y="46313"/>
                </a:lnTo>
                <a:cubicBezTo>
                  <a:pt x="0" y="20735"/>
                  <a:pt x="20735" y="0"/>
                  <a:pt x="46313" y="0"/>
                </a:cubicBezTo>
                <a:close/>
              </a:path>
            </a:pathLst>
          </a:custGeom>
          <a:solidFill>
            <a:srgbClr val="181A1F"/>
          </a:solidFill>
          <a:ln/>
        </p:spPr>
      </p:sp>
      <p:sp>
        <p:nvSpPr>
          <p:cNvPr id="19" name="Text 17"/>
          <p:cNvSpPr/>
          <p:nvPr/>
        </p:nvSpPr>
        <p:spPr>
          <a:xfrm>
            <a:off x="885744" y="5525766"/>
            <a:ext cx="6750177" cy="231567"/>
          </a:xfrm>
          <a:prstGeom prst="rect">
            <a:avLst/>
          </a:prstGeom>
          <a:noFill/>
          <a:ln/>
        </p:spPr>
        <p:txBody>
          <a:bodyPr wrap="square" lIns="0" tIns="0" rIns="0" bIns="0" rtlCol="0" anchor="ctr"/>
          <a:lstStyle/>
          <a:p>
            <a:pPr algn="ctr">
              <a:lnSpc>
                <a:spcPct val="120000"/>
              </a:lnSpc>
            </a:pPr>
            <a:r>
              <a:rPr lang="en-US" sz="1276" dirty="0">
                <a:solidFill>
                  <a:srgbClr val="7E9AA8"/>
                </a:solidFill>
                <a:latin typeface="MiSans" pitchFamily="34" charset="0"/>
                <a:ea typeface="MiSans" pitchFamily="34" charset="-122"/>
                <a:cs typeface="MiSans" pitchFamily="34" charset="-120"/>
              </a:rPr>
              <a:t>IG(D,A) = Ent(D) - ∑ |D_v|/|D| Ent(D_v)</a:t>
            </a:r>
            <a:endParaRPr lang="en-US" sz="1600" dirty="0"/>
          </a:p>
        </p:txBody>
      </p:sp>
      <p:sp>
        <p:nvSpPr>
          <p:cNvPr id="20" name="Text 18"/>
          <p:cNvSpPr/>
          <p:nvPr/>
        </p:nvSpPr>
        <p:spPr>
          <a:xfrm>
            <a:off x="833641" y="5896274"/>
            <a:ext cx="6923852" cy="185254"/>
          </a:xfrm>
          <a:prstGeom prst="rect">
            <a:avLst/>
          </a:prstGeom>
          <a:noFill/>
          <a:ln/>
        </p:spPr>
        <p:txBody>
          <a:bodyPr wrap="square" lIns="0" tIns="0" rIns="0" bIns="0" rtlCol="0" anchor="ctr"/>
          <a:lstStyle/>
          <a:p>
            <a:pPr>
              <a:lnSpc>
                <a:spcPct val="110000"/>
              </a:lnSpc>
            </a:pPr>
            <a:r>
              <a:rPr lang="en-US" sz="1094" dirty="0">
                <a:solidFill>
                  <a:srgbClr val="7E9AA8"/>
                </a:solidFill>
                <a:latin typeface="MiSans" pitchFamily="34" charset="0"/>
                <a:ea typeface="MiSans" pitchFamily="34" charset="-122"/>
                <a:cs typeface="MiSans" pitchFamily="34" charset="-120"/>
              </a:rPr>
              <a:t>Ent(D)：数据集D的熵</a:t>
            </a:r>
            <a:endParaRPr lang="en-US" sz="1600" dirty="0"/>
          </a:p>
        </p:txBody>
      </p:sp>
      <p:sp>
        <p:nvSpPr>
          <p:cNvPr id="21" name="Shape 19"/>
          <p:cNvSpPr/>
          <p:nvPr/>
        </p:nvSpPr>
        <p:spPr>
          <a:xfrm>
            <a:off x="8269473" y="1667282"/>
            <a:ext cx="7525926" cy="3519818"/>
          </a:xfrm>
          <a:custGeom>
            <a:avLst/>
            <a:gdLst/>
            <a:ahLst/>
            <a:cxnLst/>
            <a:rect l="l" t="t" r="r" b="b"/>
            <a:pathLst>
              <a:path w="7525926" h="3519818">
                <a:moveTo>
                  <a:pt x="46313" y="0"/>
                </a:moveTo>
                <a:lnTo>
                  <a:pt x="7433284" y="0"/>
                </a:lnTo>
                <a:cubicBezTo>
                  <a:pt x="7484449" y="0"/>
                  <a:pt x="7525926" y="41477"/>
                  <a:pt x="7525926" y="92642"/>
                </a:cubicBezTo>
                <a:lnTo>
                  <a:pt x="7525926" y="3427176"/>
                </a:lnTo>
                <a:cubicBezTo>
                  <a:pt x="7525926" y="3478341"/>
                  <a:pt x="7484449" y="3519818"/>
                  <a:pt x="7433284" y="3519818"/>
                </a:cubicBezTo>
                <a:lnTo>
                  <a:pt x="46313" y="3519818"/>
                </a:lnTo>
                <a:cubicBezTo>
                  <a:pt x="20735" y="3519818"/>
                  <a:pt x="0" y="3499082"/>
                  <a:pt x="0" y="3473504"/>
                </a:cubicBezTo>
                <a:lnTo>
                  <a:pt x="0" y="46313"/>
                </a:lnTo>
                <a:cubicBezTo>
                  <a:pt x="0" y="20752"/>
                  <a:pt x="20752" y="0"/>
                  <a:pt x="46313" y="0"/>
                </a:cubicBezTo>
                <a:close/>
              </a:path>
            </a:pathLst>
          </a:custGeom>
          <a:solidFill>
            <a:srgbClr val="3A5E78">
              <a:alpha val="20000"/>
            </a:srgbClr>
          </a:solidFill>
          <a:ln/>
        </p:spPr>
      </p:sp>
      <p:sp>
        <p:nvSpPr>
          <p:cNvPr id="22" name="Shape 20"/>
          <p:cNvSpPr/>
          <p:nvPr/>
        </p:nvSpPr>
        <p:spPr>
          <a:xfrm>
            <a:off x="8269473" y="1667282"/>
            <a:ext cx="46313" cy="3519818"/>
          </a:xfrm>
          <a:custGeom>
            <a:avLst/>
            <a:gdLst/>
            <a:ahLst/>
            <a:cxnLst/>
            <a:rect l="l" t="t" r="r" b="b"/>
            <a:pathLst>
              <a:path w="46313" h="3519818">
                <a:moveTo>
                  <a:pt x="46313" y="0"/>
                </a:moveTo>
                <a:lnTo>
                  <a:pt x="46313" y="0"/>
                </a:lnTo>
                <a:lnTo>
                  <a:pt x="46313" y="3519818"/>
                </a:lnTo>
                <a:lnTo>
                  <a:pt x="46313" y="3519818"/>
                </a:lnTo>
                <a:cubicBezTo>
                  <a:pt x="20735" y="3519818"/>
                  <a:pt x="0" y="3499082"/>
                  <a:pt x="0" y="3473504"/>
                </a:cubicBezTo>
                <a:lnTo>
                  <a:pt x="0" y="46313"/>
                </a:lnTo>
                <a:cubicBezTo>
                  <a:pt x="0" y="20752"/>
                  <a:pt x="20752" y="0"/>
                  <a:pt x="46313" y="0"/>
                </a:cubicBezTo>
                <a:close/>
              </a:path>
            </a:pathLst>
          </a:custGeom>
          <a:solidFill>
            <a:srgbClr val="7E9AA8"/>
          </a:solidFill>
          <a:ln/>
        </p:spPr>
      </p:sp>
      <p:sp>
        <p:nvSpPr>
          <p:cNvPr id="23" name="Text 21"/>
          <p:cNvSpPr/>
          <p:nvPr/>
        </p:nvSpPr>
        <p:spPr>
          <a:xfrm>
            <a:off x="8477883" y="1852536"/>
            <a:ext cx="7271202" cy="370507"/>
          </a:xfrm>
          <a:prstGeom prst="rect">
            <a:avLst/>
          </a:prstGeom>
          <a:noFill/>
          <a:ln/>
        </p:spPr>
        <p:txBody>
          <a:bodyPr wrap="square" lIns="0" tIns="0" rIns="0" bIns="0" rtlCol="0" anchor="ctr"/>
          <a:lstStyle/>
          <a:p>
            <a:pPr>
              <a:lnSpc>
                <a:spcPct val="110000"/>
              </a:lnSpc>
            </a:pPr>
            <a:r>
              <a:rPr lang="en-US" sz="2188" b="1" dirty="0">
                <a:solidFill>
                  <a:srgbClr val="7E9AA8"/>
                </a:solidFill>
                <a:latin typeface="MiSans" pitchFamily="34" charset="0"/>
                <a:ea typeface="MiSans" pitchFamily="34" charset="-122"/>
                <a:cs typeface="MiSans" pitchFamily="34" charset="-120"/>
              </a:rPr>
              <a:t>训练过程详解</a:t>
            </a:r>
            <a:endParaRPr lang="en-US" sz="1600" dirty="0"/>
          </a:p>
        </p:txBody>
      </p:sp>
      <p:sp>
        <p:nvSpPr>
          <p:cNvPr id="24" name="Shape 22"/>
          <p:cNvSpPr/>
          <p:nvPr/>
        </p:nvSpPr>
        <p:spPr>
          <a:xfrm>
            <a:off x="8477883" y="2361983"/>
            <a:ext cx="370507" cy="370507"/>
          </a:xfrm>
          <a:custGeom>
            <a:avLst/>
            <a:gdLst/>
            <a:ahLst/>
            <a:cxnLst/>
            <a:rect l="l" t="t" r="r" b="b"/>
            <a:pathLst>
              <a:path w="370507" h="370507">
                <a:moveTo>
                  <a:pt x="185254" y="0"/>
                </a:moveTo>
                <a:lnTo>
                  <a:pt x="185254" y="0"/>
                </a:lnTo>
                <a:cubicBezTo>
                  <a:pt x="287498" y="0"/>
                  <a:pt x="370507" y="83009"/>
                  <a:pt x="370507" y="185254"/>
                </a:cubicBezTo>
                <a:lnTo>
                  <a:pt x="370507" y="185254"/>
                </a:lnTo>
                <a:cubicBezTo>
                  <a:pt x="370507" y="287498"/>
                  <a:pt x="287498" y="370507"/>
                  <a:pt x="185254" y="370507"/>
                </a:cubicBezTo>
                <a:lnTo>
                  <a:pt x="185254" y="370507"/>
                </a:lnTo>
                <a:cubicBezTo>
                  <a:pt x="83009" y="370507"/>
                  <a:pt x="0" y="287498"/>
                  <a:pt x="0" y="185254"/>
                </a:cubicBezTo>
                <a:lnTo>
                  <a:pt x="0" y="185254"/>
                </a:lnTo>
                <a:cubicBezTo>
                  <a:pt x="0" y="83009"/>
                  <a:pt x="83009" y="0"/>
                  <a:pt x="185254" y="0"/>
                </a:cubicBezTo>
                <a:close/>
              </a:path>
            </a:pathLst>
          </a:custGeom>
          <a:solidFill>
            <a:srgbClr val="4C7E9A"/>
          </a:solidFill>
          <a:ln/>
        </p:spPr>
      </p:sp>
      <p:sp>
        <p:nvSpPr>
          <p:cNvPr id="25" name="Text 23"/>
          <p:cNvSpPr/>
          <p:nvPr/>
        </p:nvSpPr>
        <p:spPr>
          <a:xfrm>
            <a:off x="8431570" y="2361983"/>
            <a:ext cx="463134" cy="370507"/>
          </a:xfrm>
          <a:prstGeom prst="rect">
            <a:avLst/>
          </a:prstGeom>
          <a:noFill/>
          <a:ln/>
        </p:spPr>
        <p:txBody>
          <a:bodyPr wrap="square" lIns="0" tIns="0" rIns="0" bIns="0" rtlCol="0" anchor="ctr"/>
          <a:lstStyle/>
          <a:p>
            <a:pPr algn="ctr">
              <a:lnSpc>
                <a:spcPct val="130000"/>
              </a:lnSpc>
            </a:pPr>
            <a:r>
              <a:rPr lang="en-US" sz="1459" b="1" dirty="0">
                <a:solidFill>
                  <a:srgbClr val="181A1F"/>
                </a:solidFill>
                <a:latin typeface="MiSans" pitchFamily="34" charset="0"/>
                <a:ea typeface="MiSans" pitchFamily="34" charset="-122"/>
                <a:cs typeface="MiSans" pitchFamily="34" charset="-120"/>
              </a:rPr>
              <a:t>1</a:t>
            </a:r>
            <a:endParaRPr lang="en-US" sz="1600" dirty="0"/>
          </a:p>
        </p:txBody>
      </p:sp>
      <p:sp>
        <p:nvSpPr>
          <p:cNvPr id="26" name="Text 24"/>
          <p:cNvSpPr/>
          <p:nvPr/>
        </p:nvSpPr>
        <p:spPr>
          <a:xfrm>
            <a:off x="8987330" y="2361983"/>
            <a:ext cx="3531396"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Bootstrap采样</a:t>
            </a:r>
            <a:endParaRPr lang="en-US" sz="1600" dirty="0"/>
          </a:p>
        </p:txBody>
      </p:sp>
      <p:sp>
        <p:nvSpPr>
          <p:cNvPr id="27" name="Text 25"/>
          <p:cNvSpPr/>
          <p:nvPr/>
        </p:nvSpPr>
        <p:spPr>
          <a:xfrm>
            <a:off x="8987330" y="2686177"/>
            <a:ext cx="3508239" cy="231567"/>
          </a:xfrm>
          <a:prstGeom prst="rect">
            <a:avLst/>
          </a:prstGeom>
          <a:noFill/>
          <a:ln/>
        </p:spPr>
        <p:txBody>
          <a:bodyPr wrap="square" lIns="0" tIns="0" rIns="0" bIns="0" rtlCol="0" anchor="ctr"/>
          <a:lstStyle/>
          <a:p>
            <a:pPr>
              <a:lnSpc>
                <a:spcPct val="120000"/>
              </a:lnSpc>
            </a:pPr>
            <a:r>
              <a:rPr lang="en-US" sz="1276" dirty="0">
                <a:solidFill>
                  <a:srgbClr val="7E9AA8"/>
                </a:solidFill>
                <a:latin typeface="MiSans" pitchFamily="34" charset="0"/>
                <a:ea typeface="MiSans" pitchFamily="34" charset="-122"/>
                <a:cs typeface="MiSans" pitchFamily="34" charset="-120"/>
              </a:rPr>
              <a:t>有放回地构造训练子集，约36.8%样本成为OOB</a:t>
            </a:r>
            <a:endParaRPr lang="en-US" sz="1600" dirty="0"/>
          </a:p>
        </p:txBody>
      </p:sp>
      <p:sp>
        <p:nvSpPr>
          <p:cNvPr id="28" name="Shape 26"/>
          <p:cNvSpPr/>
          <p:nvPr/>
        </p:nvSpPr>
        <p:spPr>
          <a:xfrm>
            <a:off x="8477883" y="3056684"/>
            <a:ext cx="370507" cy="370507"/>
          </a:xfrm>
          <a:custGeom>
            <a:avLst/>
            <a:gdLst/>
            <a:ahLst/>
            <a:cxnLst/>
            <a:rect l="l" t="t" r="r" b="b"/>
            <a:pathLst>
              <a:path w="370507" h="370507">
                <a:moveTo>
                  <a:pt x="185254" y="0"/>
                </a:moveTo>
                <a:lnTo>
                  <a:pt x="185254" y="0"/>
                </a:lnTo>
                <a:cubicBezTo>
                  <a:pt x="287498" y="0"/>
                  <a:pt x="370507" y="83009"/>
                  <a:pt x="370507" y="185254"/>
                </a:cubicBezTo>
                <a:lnTo>
                  <a:pt x="370507" y="185254"/>
                </a:lnTo>
                <a:cubicBezTo>
                  <a:pt x="370507" y="287498"/>
                  <a:pt x="287498" y="370507"/>
                  <a:pt x="185254" y="370507"/>
                </a:cubicBezTo>
                <a:lnTo>
                  <a:pt x="185254" y="370507"/>
                </a:lnTo>
                <a:cubicBezTo>
                  <a:pt x="83009" y="370507"/>
                  <a:pt x="0" y="287498"/>
                  <a:pt x="0" y="185254"/>
                </a:cubicBezTo>
                <a:lnTo>
                  <a:pt x="0" y="185254"/>
                </a:lnTo>
                <a:cubicBezTo>
                  <a:pt x="0" y="83009"/>
                  <a:pt x="83009" y="0"/>
                  <a:pt x="185254" y="0"/>
                </a:cubicBezTo>
                <a:close/>
              </a:path>
            </a:pathLst>
          </a:custGeom>
          <a:solidFill>
            <a:srgbClr val="4C7E9A"/>
          </a:solidFill>
          <a:ln/>
        </p:spPr>
      </p:sp>
      <p:sp>
        <p:nvSpPr>
          <p:cNvPr id="29" name="Text 27"/>
          <p:cNvSpPr/>
          <p:nvPr/>
        </p:nvSpPr>
        <p:spPr>
          <a:xfrm>
            <a:off x="8431570" y="3056684"/>
            <a:ext cx="463134" cy="370507"/>
          </a:xfrm>
          <a:prstGeom prst="rect">
            <a:avLst/>
          </a:prstGeom>
          <a:noFill/>
          <a:ln/>
        </p:spPr>
        <p:txBody>
          <a:bodyPr wrap="square" lIns="0" tIns="0" rIns="0" bIns="0" rtlCol="0" anchor="ctr"/>
          <a:lstStyle/>
          <a:p>
            <a:pPr algn="ctr">
              <a:lnSpc>
                <a:spcPct val="130000"/>
              </a:lnSpc>
            </a:pPr>
            <a:r>
              <a:rPr lang="en-US" sz="1459" b="1" dirty="0">
                <a:solidFill>
                  <a:srgbClr val="181A1F"/>
                </a:solidFill>
                <a:latin typeface="MiSans" pitchFamily="34" charset="0"/>
                <a:ea typeface="MiSans" pitchFamily="34" charset="-122"/>
                <a:cs typeface="MiSans" pitchFamily="34" charset="-120"/>
              </a:rPr>
              <a:t>2</a:t>
            </a:r>
            <a:endParaRPr lang="en-US" sz="1600" dirty="0"/>
          </a:p>
        </p:txBody>
      </p:sp>
      <p:sp>
        <p:nvSpPr>
          <p:cNvPr id="30" name="Text 28"/>
          <p:cNvSpPr/>
          <p:nvPr/>
        </p:nvSpPr>
        <p:spPr>
          <a:xfrm>
            <a:off x="8987330" y="3056684"/>
            <a:ext cx="3705071"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随机特征选择</a:t>
            </a:r>
            <a:endParaRPr lang="en-US" sz="1600" dirty="0"/>
          </a:p>
        </p:txBody>
      </p:sp>
      <p:sp>
        <p:nvSpPr>
          <p:cNvPr id="31" name="Text 29"/>
          <p:cNvSpPr/>
          <p:nvPr/>
        </p:nvSpPr>
        <p:spPr>
          <a:xfrm>
            <a:off x="8987330" y="3380877"/>
            <a:ext cx="3681915" cy="231567"/>
          </a:xfrm>
          <a:prstGeom prst="rect">
            <a:avLst/>
          </a:prstGeom>
          <a:noFill/>
          <a:ln/>
        </p:spPr>
        <p:txBody>
          <a:bodyPr wrap="square" lIns="0" tIns="0" rIns="0" bIns="0" rtlCol="0" anchor="ctr"/>
          <a:lstStyle/>
          <a:p>
            <a:pPr>
              <a:lnSpc>
                <a:spcPct val="120000"/>
              </a:lnSpc>
            </a:pPr>
            <a:r>
              <a:rPr lang="en-US" sz="1276" dirty="0">
                <a:solidFill>
                  <a:srgbClr val="7E9AA8"/>
                </a:solidFill>
                <a:latin typeface="MiSans" pitchFamily="34" charset="0"/>
                <a:ea typeface="MiSans" pitchFamily="34" charset="-122"/>
                <a:cs typeface="MiSans" pitchFamily="34" charset="-120"/>
              </a:rPr>
              <a:t>每个节点分裂时随机选择特征子集（分类常用√p）</a:t>
            </a:r>
            <a:endParaRPr lang="en-US" sz="1600" dirty="0"/>
          </a:p>
        </p:txBody>
      </p:sp>
      <p:sp>
        <p:nvSpPr>
          <p:cNvPr id="32" name="Shape 30"/>
          <p:cNvSpPr/>
          <p:nvPr/>
        </p:nvSpPr>
        <p:spPr>
          <a:xfrm>
            <a:off x="8477883" y="3751385"/>
            <a:ext cx="370507" cy="370507"/>
          </a:xfrm>
          <a:custGeom>
            <a:avLst/>
            <a:gdLst/>
            <a:ahLst/>
            <a:cxnLst/>
            <a:rect l="l" t="t" r="r" b="b"/>
            <a:pathLst>
              <a:path w="370507" h="370507">
                <a:moveTo>
                  <a:pt x="185254" y="0"/>
                </a:moveTo>
                <a:lnTo>
                  <a:pt x="185254" y="0"/>
                </a:lnTo>
                <a:cubicBezTo>
                  <a:pt x="287498" y="0"/>
                  <a:pt x="370507" y="83009"/>
                  <a:pt x="370507" y="185254"/>
                </a:cubicBezTo>
                <a:lnTo>
                  <a:pt x="370507" y="185254"/>
                </a:lnTo>
                <a:cubicBezTo>
                  <a:pt x="370507" y="287498"/>
                  <a:pt x="287498" y="370507"/>
                  <a:pt x="185254" y="370507"/>
                </a:cubicBezTo>
                <a:lnTo>
                  <a:pt x="185254" y="370507"/>
                </a:lnTo>
                <a:cubicBezTo>
                  <a:pt x="83009" y="370507"/>
                  <a:pt x="0" y="287498"/>
                  <a:pt x="0" y="185254"/>
                </a:cubicBezTo>
                <a:lnTo>
                  <a:pt x="0" y="185254"/>
                </a:lnTo>
                <a:cubicBezTo>
                  <a:pt x="0" y="83009"/>
                  <a:pt x="83009" y="0"/>
                  <a:pt x="185254" y="0"/>
                </a:cubicBezTo>
                <a:close/>
              </a:path>
            </a:pathLst>
          </a:custGeom>
          <a:solidFill>
            <a:srgbClr val="4C7E9A"/>
          </a:solidFill>
          <a:ln/>
        </p:spPr>
      </p:sp>
      <p:sp>
        <p:nvSpPr>
          <p:cNvPr id="33" name="Text 31"/>
          <p:cNvSpPr/>
          <p:nvPr/>
        </p:nvSpPr>
        <p:spPr>
          <a:xfrm>
            <a:off x="8431570" y="3751385"/>
            <a:ext cx="463134" cy="370507"/>
          </a:xfrm>
          <a:prstGeom prst="rect">
            <a:avLst/>
          </a:prstGeom>
          <a:noFill/>
          <a:ln/>
        </p:spPr>
        <p:txBody>
          <a:bodyPr wrap="square" lIns="0" tIns="0" rIns="0" bIns="0" rtlCol="0" anchor="ctr"/>
          <a:lstStyle/>
          <a:p>
            <a:pPr algn="ctr">
              <a:lnSpc>
                <a:spcPct val="130000"/>
              </a:lnSpc>
            </a:pPr>
            <a:r>
              <a:rPr lang="en-US" sz="1459" b="1" dirty="0">
                <a:solidFill>
                  <a:srgbClr val="181A1F"/>
                </a:solidFill>
                <a:latin typeface="MiSans" pitchFamily="34" charset="0"/>
                <a:ea typeface="MiSans" pitchFamily="34" charset="-122"/>
                <a:cs typeface="MiSans" pitchFamily="34" charset="-120"/>
              </a:rPr>
              <a:t>3</a:t>
            </a:r>
            <a:endParaRPr lang="en-US" sz="1600" dirty="0"/>
          </a:p>
        </p:txBody>
      </p:sp>
      <p:sp>
        <p:nvSpPr>
          <p:cNvPr id="34" name="Text 32"/>
          <p:cNvSpPr/>
          <p:nvPr/>
        </p:nvSpPr>
        <p:spPr>
          <a:xfrm>
            <a:off x="8987330" y="3751385"/>
            <a:ext cx="3670336"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树生长</a:t>
            </a:r>
            <a:endParaRPr lang="en-US" sz="1600" dirty="0"/>
          </a:p>
        </p:txBody>
      </p:sp>
      <p:sp>
        <p:nvSpPr>
          <p:cNvPr id="35" name="Text 33"/>
          <p:cNvSpPr/>
          <p:nvPr/>
        </p:nvSpPr>
        <p:spPr>
          <a:xfrm>
            <a:off x="8987330" y="4075578"/>
            <a:ext cx="3647179" cy="231567"/>
          </a:xfrm>
          <a:prstGeom prst="rect">
            <a:avLst/>
          </a:prstGeom>
          <a:noFill/>
          <a:ln/>
        </p:spPr>
        <p:txBody>
          <a:bodyPr wrap="square" lIns="0" tIns="0" rIns="0" bIns="0" rtlCol="0" anchor="ctr"/>
          <a:lstStyle/>
          <a:p>
            <a:pPr>
              <a:lnSpc>
                <a:spcPct val="120000"/>
              </a:lnSpc>
            </a:pPr>
            <a:r>
              <a:rPr lang="en-US" sz="1276" dirty="0">
                <a:solidFill>
                  <a:srgbClr val="7E9AA8"/>
                </a:solidFill>
                <a:latin typeface="MiSans" pitchFamily="34" charset="0"/>
                <a:ea typeface="MiSans" pitchFamily="34" charset="-122"/>
                <a:cs typeface="MiSans" pitchFamily="34" charset="-120"/>
              </a:rPr>
              <a:t>基于选定的样本和特征构建决策树，直到满足条件</a:t>
            </a:r>
            <a:endParaRPr lang="en-US" sz="1600" dirty="0"/>
          </a:p>
        </p:txBody>
      </p:sp>
      <p:sp>
        <p:nvSpPr>
          <p:cNvPr id="36" name="Shape 34"/>
          <p:cNvSpPr/>
          <p:nvPr/>
        </p:nvSpPr>
        <p:spPr>
          <a:xfrm>
            <a:off x="8477883" y="4446085"/>
            <a:ext cx="370507" cy="370507"/>
          </a:xfrm>
          <a:custGeom>
            <a:avLst/>
            <a:gdLst/>
            <a:ahLst/>
            <a:cxnLst/>
            <a:rect l="l" t="t" r="r" b="b"/>
            <a:pathLst>
              <a:path w="370507" h="370507">
                <a:moveTo>
                  <a:pt x="185254" y="0"/>
                </a:moveTo>
                <a:lnTo>
                  <a:pt x="185254" y="0"/>
                </a:lnTo>
                <a:cubicBezTo>
                  <a:pt x="287498" y="0"/>
                  <a:pt x="370507" y="83009"/>
                  <a:pt x="370507" y="185254"/>
                </a:cubicBezTo>
                <a:lnTo>
                  <a:pt x="370507" y="185254"/>
                </a:lnTo>
                <a:cubicBezTo>
                  <a:pt x="370507" y="287498"/>
                  <a:pt x="287498" y="370507"/>
                  <a:pt x="185254" y="370507"/>
                </a:cubicBezTo>
                <a:lnTo>
                  <a:pt x="185254" y="370507"/>
                </a:lnTo>
                <a:cubicBezTo>
                  <a:pt x="83009" y="370507"/>
                  <a:pt x="0" y="287498"/>
                  <a:pt x="0" y="185254"/>
                </a:cubicBezTo>
                <a:lnTo>
                  <a:pt x="0" y="185254"/>
                </a:lnTo>
                <a:cubicBezTo>
                  <a:pt x="0" y="83009"/>
                  <a:pt x="83009" y="0"/>
                  <a:pt x="185254" y="0"/>
                </a:cubicBezTo>
                <a:close/>
              </a:path>
            </a:pathLst>
          </a:custGeom>
          <a:solidFill>
            <a:srgbClr val="4C7E9A"/>
          </a:solidFill>
          <a:ln/>
        </p:spPr>
      </p:sp>
      <p:sp>
        <p:nvSpPr>
          <p:cNvPr id="37" name="Text 35"/>
          <p:cNvSpPr/>
          <p:nvPr/>
        </p:nvSpPr>
        <p:spPr>
          <a:xfrm>
            <a:off x="8431570" y="4446085"/>
            <a:ext cx="463134" cy="370507"/>
          </a:xfrm>
          <a:prstGeom prst="rect">
            <a:avLst/>
          </a:prstGeom>
          <a:noFill/>
          <a:ln/>
        </p:spPr>
        <p:txBody>
          <a:bodyPr wrap="square" lIns="0" tIns="0" rIns="0" bIns="0" rtlCol="0" anchor="ctr"/>
          <a:lstStyle/>
          <a:p>
            <a:pPr algn="ctr">
              <a:lnSpc>
                <a:spcPct val="130000"/>
              </a:lnSpc>
            </a:pPr>
            <a:r>
              <a:rPr lang="en-US" sz="1459" b="1" dirty="0">
                <a:solidFill>
                  <a:srgbClr val="181A1F"/>
                </a:solidFill>
                <a:latin typeface="MiSans" pitchFamily="34" charset="0"/>
                <a:ea typeface="MiSans" pitchFamily="34" charset="-122"/>
                <a:cs typeface="MiSans" pitchFamily="34" charset="-120"/>
              </a:rPr>
              <a:t>4</a:t>
            </a:r>
            <a:endParaRPr lang="en-US" sz="1600" dirty="0"/>
          </a:p>
        </p:txBody>
      </p:sp>
      <p:sp>
        <p:nvSpPr>
          <p:cNvPr id="38" name="Text 36"/>
          <p:cNvSpPr/>
          <p:nvPr/>
        </p:nvSpPr>
        <p:spPr>
          <a:xfrm>
            <a:off x="8987330" y="4446085"/>
            <a:ext cx="2535658"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集成预测</a:t>
            </a:r>
            <a:endParaRPr lang="en-US" sz="1600" dirty="0"/>
          </a:p>
        </p:txBody>
      </p:sp>
      <p:sp>
        <p:nvSpPr>
          <p:cNvPr id="39" name="Text 37"/>
          <p:cNvSpPr/>
          <p:nvPr/>
        </p:nvSpPr>
        <p:spPr>
          <a:xfrm>
            <a:off x="8987330" y="4770279"/>
            <a:ext cx="2512501" cy="231567"/>
          </a:xfrm>
          <a:prstGeom prst="rect">
            <a:avLst/>
          </a:prstGeom>
          <a:noFill/>
          <a:ln/>
        </p:spPr>
        <p:txBody>
          <a:bodyPr wrap="square" lIns="0" tIns="0" rIns="0" bIns="0" rtlCol="0" anchor="ctr"/>
          <a:lstStyle/>
          <a:p>
            <a:pPr>
              <a:lnSpc>
                <a:spcPct val="120000"/>
              </a:lnSpc>
            </a:pPr>
            <a:r>
              <a:rPr lang="en-US" sz="1276" dirty="0">
                <a:solidFill>
                  <a:srgbClr val="7E9AA8"/>
                </a:solidFill>
                <a:latin typeface="MiSans" pitchFamily="34" charset="0"/>
                <a:ea typeface="MiSans" pitchFamily="34" charset="-122"/>
                <a:cs typeface="MiSans" pitchFamily="34" charset="-120"/>
              </a:rPr>
              <a:t>分类：多数投票；回归：简单平均</a:t>
            </a:r>
            <a:endParaRPr lang="en-US" sz="1600" dirty="0"/>
          </a:p>
        </p:txBody>
      </p:sp>
      <p:sp>
        <p:nvSpPr>
          <p:cNvPr id="40" name="Shape 38"/>
          <p:cNvSpPr/>
          <p:nvPr/>
        </p:nvSpPr>
        <p:spPr>
          <a:xfrm>
            <a:off x="8252105" y="5378142"/>
            <a:ext cx="7537504" cy="3299829"/>
          </a:xfrm>
          <a:custGeom>
            <a:avLst/>
            <a:gdLst/>
            <a:ahLst/>
            <a:cxnLst/>
            <a:rect l="l" t="t" r="r" b="b"/>
            <a:pathLst>
              <a:path w="7537504" h="3299829">
                <a:moveTo>
                  <a:pt x="92626" y="0"/>
                </a:moveTo>
                <a:lnTo>
                  <a:pt x="7444878" y="0"/>
                </a:lnTo>
                <a:cubicBezTo>
                  <a:pt x="7496034" y="0"/>
                  <a:pt x="7537504" y="41470"/>
                  <a:pt x="7537504" y="92626"/>
                </a:cubicBezTo>
                <a:lnTo>
                  <a:pt x="7537504" y="3207203"/>
                </a:lnTo>
                <a:cubicBezTo>
                  <a:pt x="7537504" y="3258359"/>
                  <a:pt x="7496034" y="3299829"/>
                  <a:pt x="7444878" y="3299829"/>
                </a:cubicBezTo>
                <a:lnTo>
                  <a:pt x="92626" y="3299829"/>
                </a:lnTo>
                <a:cubicBezTo>
                  <a:pt x="41470" y="3299829"/>
                  <a:pt x="0" y="3258359"/>
                  <a:pt x="0" y="3207203"/>
                </a:cubicBezTo>
                <a:lnTo>
                  <a:pt x="0" y="92626"/>
                </a:lnTo>
                <a:cubicBezTo>
                  <a:pt x="0" y="41470"/>
                  <a:pt x="41470" y="0"/>
                  <a:pt x="92626" y="0"/>
                </a:cubicBezTo>
                <a:close/>
              </a:path>
            </a:pathLst>
          </a:custGeom>
          <a:solidFill>
            <a:srgbClr val="3A5E78">
              <a:alpha val="20000"/>
            </a:srgbClr>
          </a:solidFill>
          <a:ln w="12700">
            <a:solidFill>
              <a:srgbClr val="4C7E9A">
                <a:alpha val="50196"/>
              </a:srgbClr>
            </a:solidFill>
            <a:prstDash val="solid"/>
          </a:ln>
        </p:spPr>
      </p:sp>
      <p:sp>
        <p:nvSpPr>
          <p:cNvPr id="41" name="Text 39"/>
          <p:cNvSpPr/>
          <p:nvPr/>
        </p:nvSpPr>
        <p:spPr>
          <a:xfrm>
            <a:off x="8443148" y="5569185"/>
            <a:ext cx="7294359" cy="370507"/>
          </a:xfrm>
          <a:prstGeom prst="rect">
            <a:avLst/>
          </a:prstGeom>
          <a:noFill/>
          <a:ln/>
        </p:spPr>
        <p:txBody>
          <a:bodyPr wrap="square" lIns="0" tIns="0" rIns="0" bIns="0" rtlCol="0" anchor="ctr"/>
          <a:lstStyle/>
          <a:p>
            <a:pPr>
              <a:lnSpc>
                <a:spcPct val="110000"/>
              </a:lnSpc>
            </a:pPr>
            <a:r>
              <a:rPr lang="en-US" sz="2188" b="1" dirty="0">
                <a:solidFill>
                  <a:srgbClr val="4C7E9A"/>
                </a:solidFill>
                <a:latin typeface="MiSans" pitchFamily="34" charset="0"/>
                <a:ea typeface="MiSans" pitchFamily="34" charset="-122"/>
                <a:cs typeface="MiSans" pitchFamily="34" charset="-120"/>
              </a:rPr>
              <a:t>关键超参数</a:t>
            </a:r>
            <a:endParaRPr lang="en-US" sz="1600" dirty="0"/>
          </a:p>
        </p:txBody>
      </p:sp>
      <p:sp>
        <p:nvSpPr>
          <p:cNvPr id="42" name="Shape 40"/>
          <p:cNvSpPr/>
          <p:nvPr/>
        </p:nvSpPr>
        <p:spPr>
          <a:xfrm>
            <a:off x="8443148" y="6078632"/>
            <a:ext cx="7155419" cy="741014"/>
          </a:xfrm>
          <a:custGeom>
            <a:avLst/>
            <a:gdLst/>
            <a:ahLst/>
            <a:cxnLst/>
            <a:rect l="l" t="t" r="r" b="b"/>
            <a:pathLst>
              <a:path w="7155419" h="741014">
                <a:moveTo>
                  <a:pt x="46313" y="0"/>
                </a:moveTo>
                <a:lnTo>
                  <a:pt x="7109105" y="0"/>
                </a:lnTo>
                <a:cubicBezTo>
                  <a:pt x="7134684" y="0"/>
                  <a:pt x="7155419" y="20735"/>
                  <a:pt x="7155419" y="46313"/>
                </a:cubicBezTo>
                <a:lnTo>
                  <a:pt x="7155419" y="694701"/>
                </a:lnTo>
                <a:cubicBezTo>
                  <a:pt x="7155419" y="720279"/>
                  <a:pt x="7134684" y="741014"/>
                  <a:pt x="7109105" y="741014"/>
                </a:cubicBezTo>
                <a:lnTo>
                  <a:pt x="46313" y="741014"/>
                </a:lnTo>
                <a:cubicBezTo>
                  <a:pt x="20735" y="741014"/>
                  <a:pt x="0" y="720279"/>
                  <a:pt x="0" y="694701"/>
                </a:cubicBezTo>
                <a:lnTo>
                  <a:pt x="0" y="46313"/>
                </a:lnTo>
                <a:cubicBezTo>
                  <a:pt x="0" y="20752"/>
                  <a:pt x="20752" y="0"/>
                  <a:pt x="46313" y="0"/>
                </a:cubicBezTo>
                <a:close/>
              </a:path>
            </a:pathLst>
          </a:custGeom>
          <a:solidFill>
            <a:srgbClr val="181A1F">
              <a:alpha val="50196"/>
            </a:srgbClr>
          </a:solidFill>
          <a:ln/>
        </p:spPr>
      </p:sp>
      <p:sp>
        <p:nvSpPr>
          <p:cNvPr id="43" name="Text 41"/>
          <p:cNvSpPr/>
          <p:nvPr/>
        </p:nvSpPr>
        <p:spPr>
          <a:xfrm>
            <a:off x="8535775" y="6171259"/>
            <a:ext cx="7062792" cy="277880"/>
          </a:xfrm>
          <a:prstGeom prst="rect">
            <a:avLst/>
          </a:prstGeom>
          <a:noFill/>
          <a:ln/>
        </p:spPr>
        <p:txBody>
          <a:bodyPr wrap="square" lIns="0" tIns="0" rIns="0" bIns="0" rtlCol="0" anchor="ctr"/>
          <a:lstStyle/>
          <a:p>
            <a:pPr>
              <a:lnSpc>
                <a:spcPct val="130000"/>
              </a:lnSpc>
            </a:pPr>
            <a:r>
              <a:rPr lang="en-US" sz="1459" b="1" dirty="0">
                <a:solidFill>
                  <a:srgbClr val="D1D5DB"/>
                </a:solidFill>
                <a:latin typeface="MiSans" pitchFamily="34" charset="0"/>
                <a:ea typeface="MiSans" pitchFamily="34" charset="-122"/>
                <a:cs typeface="MiSans" pitchFamily="34" charset="-120"/>
              </a:rPr>
              <a:t>n_estimators：树的数量</a:t>
            </a:r>
            <a:endParaRPr lang="en-US" sz="1600" dirty="0"/>
          </a:p>
        </p:txBody>
      </p:sp>
      <p:sp>
        <p:nvSpPr>
          <p:cNvPr id="44" name="Text 42"/>
          <p:cNvSpPr/>
          <p:nvPr/>
        </p:nvSpPr>
        <p:spPr>
          <a:xfrm>
            <a:off x="8535775" y="6495453"/>
            <a:ext cx="7051214" cy="231567"/>
          </a:xfrm>
          <a:prstGeom prst="rect">
            <a:avLst/>
          </a:prstGeom>
          <a:noFill/>
          <a:ln/>
        </p:spPr>
        <p:txBody>
          <a:bodyPr wrap="square" lIns="0" tIns="0" rIns="0" bIns="0" rtlCol="0" anchor="ctr"/>
          <a:lstStyle/>
          <a:p>
            <a:pPr>
              <a:lnSpc>
                <a:spcPct val="120000"/>
              </a:lnSpc>
            </a:pPr>
            <a:r>
              <a:rPr lang="en-US" sz="1276" dirty="0">
                <a:solidFill>
                  <a:srgbClr val="7E9AA8"/>
                </a:solidFill>
                <a:latin typeface="MiSans" pitchFamily="34" charset="0"/>
                <a:ea typeface="MiSans" pitchFamily="34" charset="-122"/>
                <a:cs typeface="MiSans" pitchFamily="34" charset="-120"/>
              </a:rPr>
              <a:t>通常100-500棵，越多越稳定但计算成本增加</a:t>
            </a:r>
            <a:endParaRPr lang="en-US" sz="1600" dirty="0"/>
          </a:p>
        </p:txBody>
      </p:sp>
      <p:sp>
        <p:nvSpPr>
          <p:cNvPr id="45" name="Shape 43"/>
          <p:cNvSpPr/>
          <p:nvPr/>
        </p:nvSpPr>
        <p:spPr>
          <a:xfrm>
            <a:off x="8443148" y="6912274"/>
            <a:ext cx="7155419" cy="741014"/>
          </a:xfrm>
          <a:custGeom>
            <a:avLst/>
            <a:gdLst/>
            <a:ahLst/>
            <a:cxnLst/>
            <a:rect l="l" t="t" r="r" b="b"/>
            <a:pathLst>
              <a:path w="7155419" h="741014">
                <a:moveTo>
                  <a:pt x="46313" y="0"/>
                </a:moveTo>
                <a:lnTo>
                  <a:pt x="7109105" y="0"/>
                </a:lnTo>
                <a:cubicBezTo>
                  <a:pt x="7134684" y="0"/>
                  <a:pt x="7155419" y="20735"/>
                  <a:pt x="7155419" y="46313"/>
                </a:cubicBezTo>
                <a:lnTo>
                  <a:pt x="7155419" y="694701"/>
                </a:lnTo>
                <a:cubicBezTo>
                  <a:pt x="7155419" y="720279"/>
                  <a:pt x="7134684" y="741014"/>
                  <a:pt x="7109105" y="741014"/>
                </a:cubicBezTo>
                <a:lnTo>
                  <a:pt x="46313" y="741014"/>
                </a:lnTo>
                <a:cubicBezTo>
                  <a:pt x="20735" y="741014"/>
                  <a:pt x="0" y="720279"/>
                  <a:pt x="0" y="694701"/>
                </a:cubicBezTo>
                <a:lnTo>
                  <a:pt x="0" y="46313"/>
                </a:lnTo>
                <a:cubicBezTo>
                  <a:pt x="0" y="20752"/>
                  <a:pt x="20752" y="0"/>
                  <a:pt x="46313" y="0"/>
                </a:cubicBezTo>
                <a:close/>
              </a:path>
            </a:pathLst>
          </a:custGeom>
          <a:solidFill>
            <a:srgbClr val="181A1F">
              <a:alpha val="50196"/>
            </a:srgbClr>
          </a:solidFill>
          <a:ln/>
        </p:spPr>
      </p:sp>
      <p:sp>
        <p:nvSpPr>
          <p:cNvPr id="46" name="Text 44"/>
          <p:cNvSpPr/>
          <p:nvPr/>
        </p:nvSpPr>
        <p:spPr>
          <a:xfrm>
            <a:off x="8535775" y="7004900"/>
            <a:ext cx="7062792" cy="277880"/>
          </a:xfrm>
          <a:prstGeom prst="rect">
            <a:avLst/>
          </a:prstGeom>
          <a:noFill/>
          <a:ln/>
        </p:spPr>
        <p:txBody>
          <a:bodyPr wrap="square" lIns="0" tIns="0" rIns="0" bIns="0" rtlCol="0" anchor="ctr"/>
          <a:lstStyle/>
          <a:p>
            <a:pPr>
              <a:lnSpc>
                <a:spcPct val="130000"/>
              </a:lnSpc>
            </a:pPr>
            <a:r>
              <a:rPr lang="en-US" sz="1459" b="1" dirty="0">
                <a:solidFill>
                  <a:srgbClr val="D1D5DB"/>
                </a:solidFill>
                <a:latin typeface="MiSans" pitchFamily="34" charset="0"/>
                <a:ea typeface="MiSans" pitchFamily="34" charset="-122"/>
                <a:cs typeface="MiSans" pitchFamily="34" charset="-120"/>
              </a:rPr>
              <a:t>max_features：特征子集大小</a:t>
            </a:r>
            <a:endParaRPr lang="en-US" sz="1600" dirty="0"/>
          </a:p>
        </p:txBody>
      </p:sp>
      <p:sp>
        <p:nvSpPr>
          <p:cNvPr id="47" name="Text 45"/>
          <p:cNvSpPr/>
          <p:nvPr/>
        </p:nvSpPr>
        <p:spPr>
          <a:xfrm>
            <a:off x="8535775" y="7329094"/>
            <a:ext cx="7051214" cy="231567"/>
          </a:xfrm>
          <a:prstGeom prst="rect">
            <a:avLst/>
          </a:prstGeom>
          <a:noFill/>
          <a:ln/>
        </p:spPr>
        <p:txBody>
          <a:bodyPr wrap="square" lIns="0" tIns="0" rIns="0" bIns="0" rtlCol="0" anchor="ctr"/>
          <a:lstStyle/>
          <a:p>
            <a:pPr>
              <a:lnSpc>
                <a:spcPct val="120000"/>
              </a:lnSpc>
            </a:pPr>
            <a:r>
              <a:rPr lang="en-US" sz="1276" dirty="0">
                <a:solidFill>
                  <a:srgbClr val="7E9AA8"/>
                </a:solidFill>
                <a:latin typeface="MiSans" pitchFamily="34" charset="0"/>
                <a:ea typeface="MiSans" pitchFamily="34" charset="-122"/>
                <a:cs typeface="MiSans" pitchFamily="34" charset="-120"/>
              </a:rPr>
              <a:t>分类：√p；回归：p/3；关键参数控制偏差-方差平衡</a:t>
            </a:r>
            <a:endParaRPr lang="en-US" sz="1600" dirty="0"/>
          </a:p>
        </p:txBody>
      </p:sp>
      <p:sp>
        <p:nvSpPr>
          <p:cNvPr id="48" name="Shape 46"/>
          <p:cNvSpPr/>
          <p:nvPr/>
        </p:nvSpPr>
        <p:spPr>
          <a:xfrm>
            <a:off x="8443148" y="7745915"/>
            <a:ext cx="7155419" cy="741014"/>
          </a:xfrm>
          <a:custGeom>
            <a:avLst/>
            <a:gdLst/>
            <a:ahLst/>
            <a:cxnLst/>
            <a:rect l="l" t="t" r="r" b="b"/>
            <a:pathLst>
              <a:path w="7155419" h="741014">
                <a:moveTo>
                  <a:pt x="46313" y="0"/>
                </a:moveTo>
                <a:lnTo>
                  <a:pt x="7109105" y="0"/>
                </a:lnTo>
                <a:cubicBezTo>
                  <a:pt x="7134684" y="0"/>
                  <a:pt x="7155419" y="20735"/>
                  <a:pt x="7155419" y="46313"/>
                </a:cubicBezTo>
                <a:lnTo>
                  <a:pt x="7155419" y="694701"/>
                </a:lnTo>
                <a:cubicBezTo>
                  <a:pt x="7155419" y="720279"/>
                  <a:pt x="7134684" y="741014"/>
                  <a:pt x="7109105" y="741014"/>
                </a:cubicBezTo>
                <a:lnTo>
                  <a:pt x="46313" y="741014"/>
                </a:lnTo>
                <a:cubicBezTo>
                  <a:pt x="20735" y="741014"/>
                  <a:pt x="0" y="720279"/>
                  <a:pt x="0" y="694701"/>
                </a:cubicBezTo>
                <a:lnTo>
                  <a:pt x="0" y="46313"/>
                </a:lnTo>
                <a:cubicBezTo>
                  <a:pt x="0" y="20752"/>
                  <a:pt x="20752" y="0"/>
                  <a:pt x="46313" y="0"/>
                </a:cubicBezTo>
                <a:close/>
              </a:path>
            </a:pathLst>
          </a:custGeom>
          <a:solidFill>
            <a:srgbClr val="181A1F">
              <a:alpha val="50196"/>
            </a:srgbClr>
          </a:solidFill>
          <a:ln/>
        </p:spPr>
      </p:sp>
      <p:sp>
        <p:nvSpPr>
          <p:cNvPr id="49" name="Text 47"/>
          <p:cNvSpPr/>
          <p:nvPr/>
        </p:nvSpPr>
        <p:spPr>
          <a:xfrm>
            <a:off x="8535775" y="7838541"/>
            <a:ext cx="7062792" cy="277880"/>
          </a:xfrm>
          <a:prstGeom prst="rect">
            <a:avLst/>
          </a:prstGeom>
          <a:noFill/>
          <a:ln/>
        </p:spPr>
        <p:txBody>
          <a:bodyPr wrap="square" lIns="0" tIns="0" rIns="0" bIns="0" rtlCol="0" anchor="ctr"/>
          <a:lstStyle/>
          <a:p>
            <a:pPr>
              <a:lnSpc>
                <a:spcPct val="130000"/>
              </a:lnSpc>
            </a:pPr>
            <a:r>
              <a:rPr lang="en-US" sz="1459" b="1" dirty="0">
                <a:solidFill>
                  <a:srgbClr val="D1D5DB"/>
                </a:solidFill>
                <a:latin typeface="MiSans" pitchFamily="34" charset="0"/>
                <a:ea typeface="MiSans" pitchFamily="34" charset="-122"/>
                <a:cs typeface="MiSans" pitchFamily="34" charset="-120"/>
              </a:rPr>
              <a:t>max_depth：树的最大深度</a:t>
            </a:r>
            <a:endParaRPr lang="en-US" sz="1600" dirty="0"/>
          </a:p>
        </p:txBody>
      </p:sp>
      <p:sp>
        <p:nvSpPr>
          <p:cNvPr id="50" name="Text 48"/>
          <p:cNvSpPr/>
          <p:nvPr/>
        </p:nvSpPr>
        <p:spPr>
          <a:xfrm>
            <a:off x="8535775" y="8162735"/>
            <a:ext cx="7051214" cy="231567"/>
          </a:xfrm>
          <a:prstGeom prst="rect">
            <a:avLst/>
          </a:prstGeom>
          <a:noFill/>
          <a:ln/>
        </p:spPr>
        <p:txBody>
          <a:bodyPr wrap="square" lIns="0" tIns="0" rIns="0" bIns="0" rtlCol="0" anchor="ctr"/>
          <a:lstStyle/>
          <a:p>
            <a:pPr>
              <a:lnSpc>
                <a:spcPct val="120000"/>
              </a:lnSpc>
            </a:pPr>
            <a:r>
              <a:rPr lang="en-US" sz="1276" dirty="0">
                <a:solidFill>
                  <a:srgbClr val="7E9AA8"/>
                </a:solidFill>
                <a:latin typeface="MiSans" pitchFamily="34" charset="0"/>
                <a:ea typeface="MiSans" pitchFamily="34" charset="-122"/>
                <a:cs typeface="MiSans" pitchFamily="34" charset="-120"/>
              </a:rPr>
              <a:t>控制单棵树的复杂度，防止过拟合</a:t>
            </a:r>
            <a:endParaRPr lang="en-US" sz="1600" dirty="0"/>
          </a:p>
        </p:txBody>
      </p:sp>
    </p:spTree>
  </p:cSld>
  <p:clrMapOvr>
    <a:masterClrMapping/>
  </p:clrMapOvr>
  <p:transition>
    <p:fade/>
    <p:spd val="med"/>
  </p:transition>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RANDOM FOREST</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随机森林实战示例</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24000"/>
            <a:ext cx="7577667" cy="2921000"/>
          </a:xfrm>
          <a:custGeom>
            <a:avLst/>
            <a:gdLst/>
            <a:ahLst/>
            <a:cxnLst/>
            <a:rect l="l" t="t" r="r" b="b"/>
            <a:pathLst>
              <a:path w="7577667" h="2921000">
                <a:moveTo>
                  <a:pt x="42333" y="0"/>
                </a:moveTo>
                <a:lnTo>
                  <a:pt x="7492987" y="0"/>
                </a:lnTo>
                <a:cubicBezTo>
                  <a:pt x="7539754" y="0"/>
                  <a:pt x="7577667" y="37912"/>
                  <a:pt x="7577667" y="84680"/>
                </a:cubicBezTo>
                <a:lnTo>
                  <a:pt x="7577667" y="2836320"/>
                </a:lnTo>
                <a:cubicBezTo>
                  <a:pt x="7577667" y="2883088"/>
                  <a:pt x="7539754" y="2921000"/>
                  <a:pt x="7492987" y="2921000"/>
                </a:cubicBezTo>
                <a:lnTo>
                  <a:pt x="42333" y="2921000"/>
                </a:lnTo>
                <a:cubicBezTo>
                  <a:pt x="18953" y="2921000"/>
                  <a:pt x="0" y="2902047"/>
                  <a:pt x="0" y="2878667"/>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24000"/>
            <a:ext cx="42333" cy="2921000"/>
          </a:xfrm>
          <a:custGeom>
            <a:avLst/>
            <a:gdLst/>
            <a:ahLst/>
            <a:cxnLst/>
            <a:rect l="l" t="t" r="r" b="b"/>
            <a:pathLst>
              <a:path w="42333" h="2921000">
                <a:moveTo>
                  <a:pt x="42333" y="0"/>
                </a:moveTo>
                <a:lnTo>
                  <a:pt x="42333" y="0"/>
                </a:lnTo>
                <a:lnTo>
                  <a:pt x="42333" y="2921000"/>
                </a:lnTo>
                <a:lnTo>
                  <a:pt x="42333" y="2921000"/>
                </a:lnTo>
                <a:cubicBezTo>
                  <a:pt x="18953" y="2921000"/>
                  <a:pt x="0" y="2902047"/>
                  <a:pt x="0" y="2878667"/>
                </a:cubicBezTo>
                <a:lnTo>
                  <a:pt x="0" y="42333"/>
                </a:lnTo>
                <a:cubicBezTo>
                  <a:pt x="0" y="18953"/>
                  <a:pt x="18953" y="0"/>
                  <a:pt x="42333" y="0"/>
                </a:cubicBezTo>
                <a:close/>
              </a:path>
            </a:pathLst>
          </a:custGeom>
          <a:solidFill>
            <a:srgbClr val="4C7E9A"/>
          </a:solidFill>
          <a:ln/>
        </p:spPr>
      </p:sp>
      <p:sp>
        <p:nvSpPr>
          <p:cNvPr id="7" name="Text 5"/>
          <p:cNvSpPr/>
          <p:nvPr/>
        </p:nvSpPr>
        <p:spPr>
          <a:xfrm>
            <a:off x="635000" y="1693333"/>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鸢尾花数据集</a:t>
            </a:r>
            <a:endParaRPr lang="en-US" sz="1600" dirty="0"/>
          </a:p>
        </p:txBody>
      </p:sp>
      <p:sp>
        <p:nvSpPr>
          <p:cNvPr id="8" name="Text 6"/>
          <p:cNvSpPr/>
          <p:nvPr/>
        </p:nvSpPr>
        <p:spPr>
          <a:xfrm>
            <a:off x="635000" y="2159000"/>
            <a:ext cx="7302500" cy="550333"/>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使用经典的鸢尾花数据集（Iris Dataset）进行随机森林分类实战。这是一个多分类问题，包含3个类别。</a:t>
            </a:r>
            <a:endParaRPr lang="en-US" sz="1600" dirty="0"/>
          </a:p>
        </p:txBody>
      </p:sp>
      <p:sp>
        <p:nvSpPr>
          <p:cNvPr id="9" name="Shape 7"/>
          <p:cNvSpPr/>
          <p:nvPr/>
        </p:nvSpPr>
        <p:spPr>
          <a:xfrm>
            <a:off x="635000" y="2836333"/>
            <a:ext cx="7217833" cy="1439333"/>
          </a:xfrm>
          <a:custGeom>
            <a:avLst/>
            <a:gdLst/>
            <a:ahLst/>
            <a:cxnLst/>
            <a:rect l="l" t="t" r="r" b="b"/>
            <a:pathLst>
              <a:path w="7217833" h="1439333">
                <a:moveTo>
                  <a:pt x="42331" y="0"/>
                </a:moveTo>
                <a:lnTo>
                  <a:pt x="7175503" y="0"/>
                </a:lnTo>
                <a:cubicBezTo>
                  <a:pt x="7198881" y="0"/>
                  <a:pt x="7217833" y="18952"/>
                  <a:pt x="7217833" y="42331"/>
                </a:cubicBezTo>
                <a:lnTo>
                  <a:pt x="7217833" y="1397003"/>
                </a:lnTo>
                <a:cubicBezTo>
                  <a:pt x="7217833" y="1420381"/>
                  <a:pt x="7198881" y="1439333"/>
                  <a:pt x="7175503" y="1439333"/>
                </a:cubicBezTo>
                <a:lnTo>
                  <a:pt x="42331" y="1439333"/>
                </a:lnTo>
                <a:cubicBezTo>
                  <a:pt x="18952" y="1439333"/>
                  <a:pt x="0" y="1420381"/>
                  <a:pt x="0" y="1397003"/>
                </a:cubicBezTo>
                <a:lnTo>
                  <a:pt x="0" y="42331"/>
                </a:lnTo>
                <a:cubicBezTo>
                  <a:pt x="0" y="18952"/>
                  <a:pt x="18952" y="0"/>
                  <a:pt x="42331" y="0"/>
                </a:cubicBezTo>
                <a:close/>
              </a:path>
            </a:pathLst>
          </a:custGeom>
          <a:solidFill>
            <a:srgbClr val="181A1F">
              <a:alpha val="50196"/>
            </a:srgbClr>
          </a:solidFill>
          <a:ln/>
        </p:spPr>
      </p:sp>
      <p:sp>
        <p:nvSpPr>
          <p:cNvPr id="10" name="Text 8"/>
          <p:cNvSpPr/>
          <p:nvPr/>
        </p:nvSpPr>
        <p:spPr>
          <a:xfrm>
            <a:off x="719667" y="2921000"/>
            <a:ext cx="7133167"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数据集信息</a:t>
            </a:r>
            <a:endParaRPr lang="en-US" sz="1600" dirty="0"/>
          </a:p>
        </p:txBody>
      </p:sp>
      <p:sp>
        <p:nvSpPr>
          <p:cNvPr id="11" name="Text 9"/>
          <p:cNvSpPr/>
          <p:nvPr/>
        </p:nvSpPr>
        <p:spPr>
          <a:xfrm>
            <a:off x="719667" y="3217333"/>
            <a:ext cx="7122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样本数量：150个</a:t>
            </a:r>
            <a:endParaRPr lang="en-US" sz="1600" dirty="0"/>
          </a:p>
        </p:txBody>
      </p:sp>
      <p:sp>
        <p:nvSpPr>
          <p:cNvPr id="12" name="Text 10"/>
          <p:cNvSpPr/>
          <p:nvPr/>
        </p:nvSpPr>
        <p:spPr>
          <a:xfrm>
            <a:off x="719667" y="3471333"/>
            <a:ext cx="7122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特征数量：4个（数值型）</a:t>
            </a:r>
            <a:endParaRPr lang="en-US" sz="1600" dirty="0"/>
          </a:p>
        </p:txBody>
      </p:sp>
      <p:sp>
        <p:nvSpPr>
          <p:cNvPr id="13" name="Text 11"/>
          <p:cNvSpPr/>
          <p:nvPr/>
        </p:nvSpPr>
        <p:spPr>
          <a:xfrm>
            <a:off x="719667" y="3725333"/>
            <a:ext cx="7122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类别数量：3个</a:t>
            </a:r>
            <a:endParaRPr lang="en-US" sz="1600" dirty="0"/>
          </a:p>
        </p:txBody>
      </p:sp>
      <p:sp>
        <p:nvSpPr>
          <p:cNvPr id="14" name="Text 12"/>
          <p:cNvSpPr/>
          <p:nvPr/>
        </p:nvSpPr>
        <p:spPr>
          <a:xfrm>
            <a:off x="719667" y="3979333"/>
            <a:ext cx="7122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特征类型：花萼长宽、花瓣长宽</a:t>
            </a:r>
            <a:endParaRPr lang="en-US" sz="1600" dirty="0"/>
          </a:p>
        </p:txBody>
      </p:sp>
      <p:sp>
        <p:nvSpPr>
          <p:cNvPr id="15" name="Shape 13"/>
          <p:cNvSpPr/>
          <p:nvPr/>
        </p:nvSpPr>
        <p:spPr>
          <a:xfrm>
            <a:off x="444500" y="4614333"/>
            <a:ext cx="7577667" cy="2243667"/>
          </a:xfrm>
          <a:custGeom>
            <a:avLst/>
            <a:gdLst/>
            <a:ahLst/>
            <a:cxnLst/>
            <a:rect l="l" t="t" r="r" b="b"/>
            <a:pathLst>
              <a:path w="7577667" h="2243667">
                <a:moveTo>
                  <a:pt x="42333" y="0"/>
                </a:moveTo>
                <a:lnTo>
                  <a:pt x="7492991" y="0"/>
                </a:lnTo>
                <a:cubicBezTo>
                  <a:pt x="7539756" y="0"/>
                  <a:pt x="7577667" y="37911"/>
                  <a:pt x="7577667" y="84676"/>
                </a:cubicBezTo>
                <a:lnTo>
                  <a:pt x="7577667" y="2158991"/>
                </a:lnTo>
                <a:cubicBezTo>
                  <a:pt x="7577667" y="2205756"/>
                  <a:pt x="7539756" y="2243667"/>
                  <a:pt x="7492991" y="2243667"/>
                </a:cubicBezTo>
                <a:lnTo>
                  <a:pt x="42333" y="2243667"/>
                </a:lnTo>
                <a:cubicBezTo>
                  <a:pt x="18953" y="2243667"/>
                  <a:pt x="0" y="2224713"/>
                  <a:pt x="0" y="2201333"/>
                </a:cubicBezTo>
                <a:lnTo>
                  <a:pt x="0" y="42333"/>
                </a:lnTo>
                <a:cubicBezTo>
                  <a:pt x="0" y="18969"/>
                  <a:pt x="18969" y="0"/>
                  <a:pt x="42333" y="0"/>
                </a:cubicBezTo>
                <a:close/>
              </a:path>
            </a:pathLst>
          </a:custGeom>
          <a:solidFill>
            <a:srgbClr val="3A5E78">
              <a:alpha val="20000"/>
            </a:srgbClr>
          </a:solidFill>
          <a:ln/>
        </p:spPr>
      </p:sp>
      <p:sp>
        <p:nvSpPr>
          <p:cNvPr id="16" name="Shape 14"/>
          <p:cNvSpPr/>
          <p:nvPr/>
        </p:nvSpPr>
        <p:spPr>
          <a:xfrm>
            <a:off x="444500" y="4614333"/>
            <a:ext cx="42333" cy="2243667"/>
          </a:xfrm>
          <a:custGeom>
            <a:avLst/>
            <a:gdLst/>
            <a:ahLst/>
            <a:cxnLst/>
            <a:rect l="l" t="t" r="r" b="b"/>
            <a:pathLst>
              <a:path w="42333" h="2243667">
                <a:moveTo>
                  <a:pt x="42333" y="0"/>
                </a:moveTo>
                <a:lnTo>
                  <a:pt x="42333" y="0"/>
                </a:lnTo>
                <a:lnTo>
                  <a:pt x="42333" y="2243667"/>
                </a:lnTo>
                <a:lnTo>
                  <a:pt x="42333" y="2243667"/>
                </a:lnTo>
                <a:cubicBezTo>
                  <a:pt x="18953" y="2243667"/>
                  <a:pt x="0" y="2224713"/>
                  <a:pt x="0" y="2201333"/>
                </a:cubicBezTo>
                <a:lnTo>
                  <a:pt x="0" y="42333"/>
                </a:lnTo>
                <a:cubicBezTo>
                  <a:pt x="0" y="18953"/>
                  <a:pt x="18953" y="0"/>
                  <a:pt x="42333" y="0"/>
                </a:cubicBezTo>
                <a:close/>
              </a:path>
            </a:pathLst>
          </a:custGeom>
          <a:solidFill>
            <a:srgbClr val="7E9AA8"/>
          </a:solidFill>
          <a:ln/>
        </p:spPr>
      </p:sp>
      <p:sp>
        <p:nvSpPr>
          <p:cNvPr id="17" name="Text 15"/>
          <p:cNvSpPr/>
          <p:nvPr/>
        </p:nvSpPr>
        <p:spPr>
          <a:xfrm>
            <a:off x="635000" y="4783667"/>
            <a:ext cx="7344833"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数据预处理</a:t>
            </a:r>
            <a:endParaRPr lang="en-US" sz="1600" dirty="0"/>
          </a:p>
        </p:txBody>
      </p:sp>
      <p:sp>
        <p:nvSpPr>
          <p:cNvPr id="18" name="Shape 16"/>
          <p:cNvSpPr/>
          <p:nvPr/>
        </p:nvSpPr>
        <p:spPr>
          <a:xfrm>
            <a:off x="635000" y="5249333"/>
            <a:ext cx="7217833" cy="677333"/>
          </a:xfrm>
          <a:custGeom>
            <a:avLst/>
            <a:gdLst/>
            <a:ahLst/>
            <a:cxnLst/>
            <a:rect l="l" t="t" r="r" b="b"/>
            <a:pathLst>
              <a:path w="7217833" h="677333">
                <a:moveTo>
                  <a:pt x="42333" y="0"/>
                </a:moveTo>
                <a:lnTo>
                  <a:pt x="7175500" y="0"/>
                </a:lnTo>
                <a:cubicBezTo>
                  <a:pt x="7198880" y="0"/>
                  <a:pt x="7217833" y="18953"/>
                  <a:pt x="7217833" y="42333"/>
                </a:cubicBezTo>
                <a:lnTo>
                  <a:pt x="7217833" y="635000"/>
                </a:lnTo>
                <a:cubicBezTo>
                  <a:pt x="7217833" y="658380"/>
                  <a:pt x="7198880" y="677333"/>
                  <a:pt x="7175500"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alpha val="50196"/>
            </a:srgbClr>
          </a:solidFill>
          <a:ln/>
        </p:spPr>
      </p:sp>
      <p:sp>
        <p:nvSpPr>
          <p:cNvPr id="19" name="Text 17"/>
          <p:cNvSpPr/>
          <p:nvPr/>
        </p:nvSpPr>
        <p:spPr>
          <a:xfrm>
            <a:off x="719667" y="5334000"/>
            <a:ext cx="7133167"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划分训练集和测试集</a:t>
            </a:r>
            <a:endParaRPr lang="en-US" sz="1600" dirty="0"/>
          </a:p>
        </p:txBody>
      </p:sp>
      <p:sp>
        <p:nvSpPr>
          <p:cNvPr id="20" name="Text 18"/>
          <p:cNvSpPr/>
          <p:nvPr/>
        </p:nvSpPr>
        <p:spPr>
          <a:xfrm>
            <a:off x="719667" y="5630333"/>
            <a:ext cx="7122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使用80%的数据作为训练集，20%作为测试集</a:t>
            </a:r>
            <a:endParaRPr lang="en-US" sz="1600" dirty="0"/>
          </a:p>
        </p:txBody>
      </p:sp>
      <p:sp>
        <p:nvSpPr>
          <p:cNvPr id="21" name="Shape 19"/>
          <p:cNvSpPr/>
          <p:nvPr/>
        </p:nvSpPr>
        <p:spPr>
          <a:xfrm>
            <a:off x="635000" y="6011333"/>
            <a:ext cx="7217833" cy="677333"/>
          </a:xfrm>
          <a:custGeom>
            <a:avLst/>
            <a:gdLst/>
            <a:ahLst/>
            <a:cxnLst/>
            <a:rect l="l" t="t" r="r" b="b"/>
            <a:pathLst>
              <a:path w="7217833" h="677333">
                <a:moveTo>
                  <a:pt x="42333" y="0"/>
                </a:moveTo>
                <a:lnTo>
                  <a:pt x="7175500" y="0"/>
                </a:lnTo>
                <a:cubicBezTo>
                  <a:pt x="7198880" y="0"/>
                  <a:pt x="7217833" y="18953"/>
                  <a:pt x="7217833" y="42333"/>
                </a:cubicBezTo>
                <a:lnTo>
                  <a:pt x="7217833" y="635000"/>
                </a:lnTo>
                <a:cubicBezTo>
                  <a:pt x="7217833" y="658380"/>
                  <a:pt x="7198880" y="677333"/>
                  <a:pt x="7175500"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alpha val="50196"/>
            </a:srgbClr>
          </a:solidFill>
          <a:ln/>
        </p:spPr>
      </p:sp>
      <p:sp>
        <p:nvSpPr>
          <p:cNvPr id="22" name="Text 20"/>
          <p:cNvSpPr/>
          <p:nvPr/>
        </p:nvSpPr>
        <p:spPr>
          <a:xfrm>
            <a:off x="719667" y="6096000"/>
            <a:ext cx="7133167"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特征标准化</a:t>
            </a:r>
            <a:endParaRPr lang="en-US" sz="1600" dirty="0"/>
          </a:p>
        </p:txBody>
      </p:sp>
      <p:sp>
        <p:nvSpPr>
          <p:cNvPr id="23" name="Text 21"/>
          <p:cNvSpPr/>
          <p:nvPr/>
        </p:nvSpPr>
        <p:spPr>
          <a:xfrm>
            <a:off x="719667" y="6392333"/>
            <a:ext cx="7122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使每个特征均值为0、标准差为1，确保不同特征在同一尺度上</a:t>
            </a:r>
            <a:endParaRPr lang="en-US" sz="1600" dirty="0"/>
          </a:p>
        </p:txBody>
      </p:sp>
      <p:sp>
        <p:nvSpPr>
          <p:cNvPr id="24" name="Shape 22"/>
          <p:cNvSpPr/>
          <p:nvPr/>
        </p:nvSpPr>
        <p:spPr>
          <a:xfrm>
            <a:off x="8255000" y="1524000"/>
            <a:ext cx="7577667" cy="3513667"/>
          </a:xfrm>
          <a:custGeom>
            <a:avLst/>
            <a:gdLst/>
            <a:ahLst/>
            <a:cxnLst/>
            <a:rect l="l" t="t" r="r" b="b"/>
            <a:pathLst>
              <a:path w="7577667" h="3513667">
                <a:moveTo>
                  <a:pt x="42333" y="0"/>
                </a:moveTo>
                <a:lnTo>
                  <a:pt x="7492987" y="0"/>
                </a:lnTo>
                <a:cubicBezTo>
                  <a:pt x="7539754" y="0"/>
                  <a:pt x="7577667" y="37912"/>
                  <a:pt x="7577667" y="84679"/>
                </a:cubicBezTo>
                <a:lnTo>
                  <a:pt x="7577667" y="3428987"/>
                </a:lnTo>
                <a:cubicBezTo>
                  <a:pt x="7577667" y="3475754"/>
                  <a:pt x="7539754" y="3513667"/>
                  <a:pt x="7492987" y="3513667"/>
                </a:cubicBezTo>
                <a:lnTo>
                  <a:pt x="42333" y="3513667"/>
                </a:lnTo>
                <a:cubicBezTo>
                  <a:pt x="18953" y="3513667"/>
                  <a:pt x="0" y="3494713"/>
                  <a:pt x="0" y="3471333"/>
                </a:cubicBezTo>
                <a:lnTo>
                  <a:pt x="0" y="42333"/>
                </a:lnTo>
                <a:cubicBezTo>
                  <a:pt x="0" y="18953"/>
                  <a:pt x="18953" y="0"/>
                  <a:pt x="42333" y="0"/>
                </a:cubicBezTo>
                <a:close/>
              </a:path>
            </a:pathLst>
          </a:custGeom>
          <a:solidFill>
            <a:srgbClr val="3A5E78">
              <a:alpha val="20000"/>
            </a:srgbClr>
          </a:solidFill>
          <a:ln/>
        </p:spPr>
      </p:sp>
      <p:sp>
        <p:nvSpPr>
          <p:cNvPr id="25" name="Shape 23"/>
          <p:cNvSpPr/>
          <p:nvPr/>
        </p:nvSpPr>
        <p:spPr>
          <a:xfrm>
            <a:off x="8255000" y="1524000"/>
            <a:ext cx="42333" cy="3513667"/>
          </a:xfrm>
          <a:custGeom>
            <a:avLst/>
            <a:gdLst/>
            <a:ahLst/>
            <a:cxnLst/>
            <a:rect l="l" t="t" r="r" b="b"/>
            <a:pathLst>
              <a:path w="42333" h="3513667">
                <a:moveTo>
                  <a:pt x="42333" y="0"/>
                </a:moveTo>
                <a:lnTo>
                  <a:pt x="42333" y="0"/>
                </a:lnTo>
                <a:lnTo>
                  <a:pt x="42333" y="3513667"/>
                </a:lnTo>
                <a:lnTo>
                  <a:pt x="42333" y="3513667"/>
                </a:lnTo>
                <a:cubicBezTo>
                  <a:pt x="18953" y="3513667"/>
                  <a:pt x="0" y="3494713"/>
                  <a:pt x="0" y="3471333"/>
                </a:cubicBezTo>
                <a:lnTo>
                  <a:pt x="0" y="42333"/>
                </a:lnTo>
                <a:cubicBezTo>
                  <a:pt x="0" y="18953"/>
                  <a:pt x="18953" y="0"/>
                  <a:pt x="42333" y="0"/>
                </a:cubicBezTo>
                <a:close/>
              </a:path>
            </a:pathLst>
          </a:custGeom>
          <a:solidFill>
            <a:srgbClr val="4C7E9A"/>
          </a:solidFill>
          <a:ln/>
        </p:spPr>
      </p:sp>
      <p:sp>
        <p:nvSpPr>
          <p:cNvPr id="26" name="Text 24"/>
          <p:cNvSpPr/>
          <p:nvPr/>
        </p:nvSpPr>
        <p:spPr>
          <a:xfrm>
            <a:off x="8445500" y="1693333"/>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模型训练与评估</a:t>
            </a:r>
            <a:endParaRPr lang="en-US" sz="1600" dirty="0"/>
          </a:p>
        </p:txBody>
      </p:sp>
      <p:sp>
        <p:nvSpPr>
          <p:cNvPr id="27" name="Shape 25"/>
          <p:cNvSpPr/>
          <p:nvPr/>
        </p:nvSpPr>
        <p:spPr>
          <a:xfrm>
            <a:off x="8445500" y="2159000"/>
            <a:ext cx="7217833" cy="1312333"/>
          </a:xfrm>
          <a:custGeom>
            <a:avLst/>
            <a:gdLst/>
            <a:ahLst/>
            <a:cxnLst/>
            <a:rect l="l" t="t" r="r" b="b"/>
            <a:pathLst>
              <a:path w="7217833" h="1312333">
                <a:moveTo>
                  <a:pt x="42336" y="0"/>
                </a:moveTo>
                <a:lnTo>
                  <a:pt x="7175497" y="0"/>
                </a:lnTo>
                <a:cubicBezTo>
                  <a:pt x="7198879" y="0"/>
                  <a:pt x="7217833" y="18954"/>
                  <a:pt x="7217833" y="42336"/>
                </a:cubicBezTo>
                <a:lnTo>
                  <a:pt x="7217833" y="1269997"/>
                </a:lnTo>
                <a:cubicBezTo>
                  <a:pt x="7217833" y="1293379"/>
                  <a:pt x="7198879" y="1312333"/>
                  <a:pt x="7175497" y="1312333"/>
                </a:cubicBezTo>
                <a:lnTo>
                  <a:pt x="42336" y="1312333"/>
                </a:lnTo>
                <a:cubicBezTo>
                  <a:pt x="18954" y="1312333"/>
                  <a:pt x="0" y="1293379"/>
                  <a:pt x="0" y="1269997"/>
                </a:cubicBezTo>
                <a:lnTo>
                  <a:pt x="0" y="42336"/>
                </a:lnTo>
                <a:cubicBezTo>
                  <a:pt x="0" y="18954"/>
                  <a:pt x="18954" y="0"/>
                  <a:pt x="42336" y="0"/>
                </a:cubicBezTo>
                <a:close/>
              </a:path>
            </a:pathLst>
          </a:custGeom>
          <a:solidFill>
            <a:srgbClr val="181A1F">
              <a:alpha val="50196"/>
            </a:srgbClr>
          </a:solidFill>
          <a:ln/>
        </p:spPr>
      </p:sp>
      <p:sp>
        <p:nvSpPr>
          <p:cNvPr id="28" name="Text 26"/>
          <p:cNvSpPr/>
          <p:nvPr/>
        </p:nvSpPr>
        <p:spPr>
          <a:xfrm>
            <a:off x="8572500" y="2286000"/>
            <a:ext cx="70590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模型配置</a:t>
            </a:r>
            <a:endParaRPr lang="en-US" sz="1600" dirty="0"/>
          </a:p>
        </p:txBody>
      </p:sp>
      <p:sp>
        <p:nvSpPr>
          <p:cNvPr id="29" name="Text 27"/>
          <p:cNvSpPr/>
          <p:nvPr/>
        </p:nvSpPr>
        <p:spPr>
          <a:xfrm>
            <a:off x="8572500" y="2624667"/>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n_estimators=100（100棵树）</a:t>
            </a:r>
            <a:endParaRPr lang="en-US" sz="1600" dirty="0"/>
          </a:p>
        </p:txBody>
      </p:sp>
      <p:sp>
        <p:nvSpPr>
          <p:cNvPr id="30" name="Text 28"/>
          <p:cNvSpPr/>
          <p:nvPr/>
        </p:nvSpPr>
        <p:spPr>
          <a:xfrm>
            <a:off x="8572500" y="2878667"/>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oob_score=True（计算袋外分数）</a:t>
            </a:r>
            <a:endParaRPr lang="en-US" sz="1600" dirty="0"/>
          </a:p>
        </p:txBody>
      </p:sp>
      <p:sp>
        <p:nvSpPr>
          <p:cNvPr id="31" name="Text 29"/>
          <p:cNvSpPr/>
          <p:nvPr/>
        </p:nvSpPr>
        <p:spPr>
          <a:xfrm>
            <a:off x="8572500" y="3132667"/>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random_state=42（随机种子）</a:t>
            </a:r>
            <a:endParaRPr lang="en-US" sz="1600" dirty="0"/>
          </a:p>
        </p:txBody>
      </p:sp>
      <p:sp>
        <p:nvSpPr>
          <p:cNvPr id="32" name="Shape 30"/>
          <p:cNvSpPr/>
          <p:nvPr/>
        </p:nvSpPr>
        <p:spPr>
          <a:xfrm>
            <a:off x="8445500" y="3598333"/>
            <a:ext cx="7217833" cy="1270000"/>
          </a:xfrm>
          <a:custGeom>
            <a:avLst/>
            <a:gdLst/>
            <a:ahLst/>
            <a:cxnLst/>
            <a:rect l="l" t="t" r="r" b="b"/>
            <a:pathLst>
              <a:path w="7217833" h="1270000">
                <a:moveTo>
                  <a:pt x="42329" y="0"/>
                </a:moveTo>
                <a:lnTo>
                  <a:pt x="7175504" y="0"/>
                </a:lnTo>
                <a:cubicBezTo>
                  <a:pt x="7198882" y="0"/>
                  <a:pt x="7217833" y="18951"/>
                  <a:pt x="7217833" y="42329"/>
                </a:cubicBezTo>
                <a:lnTo>
                  <a:pt x="7217833" y="1227671"/>
                </a:lnTo>
                <a:cubicBezTo>
                  <a:pt x="7217833" y="1251049"/>
                  <a:pt x="7198882" y="1270000"/>
                  <a:pt x="7175504" y="1270000"/>
                </a:cubicBezTo>
                <a:lnTo>
                  <a:pt x="42329" y="1270000"/>
                </a:lnTo>
                <a:cubicBezTo>
                  <a:pt x="18951" y="1270000"/>
                  <a:pt x="0" y="1251049"/>
                  <a:pt x="0" y="1227671"/>
                </a:cubicBezTo>
                <a:lnTo>
                  <a:pt x="0" y="42329"/>
                </a:lnTo>
                <a:cubicBezTo>
                  <a:pt x="0" y="18951"/>
                  <a:pt x="18951" y="0"/>
                  <a:pt x="42329" y="0"/>
                </a:cubicBezTo>
                <a:close/>
              </a:path>
            </a:pathLst>
          </a:custGeom>
          <a:solidFill>
            <a:srgbClr val="181A1F">
              <a:alpha val="50196"/>
            </a:srgbClr>
          </a:solidFill>
          <a:ln/>
        </p:spPr>
      </p:sp>
      <p:sp>
        <p:nvSpPr>
          <p:cNvPr id="33" name="Text 31"/>
          <p:cNvSpPr/>
          <p:nvPr/>
        </p:nvSpPr>
        <p:spPr>
          <a:xfrm>
            <a:off x="8572500" y="3725333"/>
            <a:ext cx="70590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模型评估指标</a:t>
            </a:r>
            <a:endParaRPr lang="en-US" sz="1600" dirty="0"/>
          </a:p>
        </p:txBody>
      </p:sp>
      <p:sp>
        <p:nvSpPr>
          <p:cNvPr id="34" name="Shape 32"/>
          <p:cNvSpPr/>
          <p:nvPr/>
        </p:nvSpPr>
        <p:spPr>
          <a:xfrm>
            <a:off x="8572500" y="4064000"/>
            <a:ext cx="3439583" cy="677333"/>
          </a:xfrm>
          <a:custGeom>
            <a:avLst/>
            <a:gdLst/>
            <a:ahLst/>
            <a:cxnLst/>
            <a:rect l="l" t="t" r="r" b="b"/>
            <a:pathLst>
              <a:path w="3439583" h="677333">
                <a:moveTo>
                  <a:pt x="42333" y="0"/>
                </a:moveTo>
                <a:lnTo>
                  <a:pt x="3397250" y="0"/>
                </a:lnTo>
                <a:cubicBezTo>
                  <a:pt x="3420630" y="0"/>
                  <a:pt x="3439583" y="18953"/>
                  <a:pt x="3439583" y="42333"/>
                </a:cubicBezTo>
                <a:lnTo>
                  <a:pt x="3439583" y="635000"/>
                </a:lnTo>
                <a:cubicBezTo>
                  <a:pt x="3439583" y="658380"/>
                  <a:pt x="3420630" y="677333"/>
                  <a:pt x="3397250"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solidFill>
          <a:ln/>
        </p:spPr>
      </p:sp>
      <p:sp>
        <p:nvSpPr>
          <p:cNvPr id="35" name="Text 33"/>
          <p:cNvSpPr/>
          <p:nvPr/>
        </p:nvSpPr>
        <p:spPr>
          <a:xfrm>
            <a:off x="8620125" y="4148667"/>
            <a:ext cx="3344333" cy="211667"/>
          </a:xfrm>
          <a:prstGeom prst="rect">
            <a:avLst/>
          </a:prstGeom>
          <a:noFill/>
          <a:ln/>
        </p:spPr>
        <p:txBody>
          <a:bodyPr wrap="square" lIns="0" tIns="0" rIns="0" bIns="0" rtlCol="0" anchor="ctr"/>
          <a:lstStyle/>
          <a:p>
            <a:pPr algn="ctr">
              <a:lnSpc>
                <a:spcPct val="120000"/>
              </a:lnSpc>
            </a:pPr>
            <a:r>
              <a:rPr lang="en-US" sz="1167" dirty="0">
                <a:solidFill>
                  <a:srgbClr val="7E9AA8"/>
                </a:solidFill>
                <a:latin typeface="MiSans" pitchFamily="34" charset="0"/>
                <a:ea typeface="MiSans" pitchFamily="34" charset="-122"/>
                <a:cs typeface="MiSans" pitchFamily="34" charset="-120"/>
              </a:rPr>
              <a:t>准确率</a:t>
            </a:r>
            <a:endParaRPr lang="en-US" sz="1600" dirty="0"/>
          </a:p>
        </p:txBody>
      </p:sp>
      <p:sp>
        <p:nvSpPr>
          <p:cNvPr id="36" name="Text 34"/>
          <p:cNvSpPr/>
          <p:nvPr/>
        </p:nvSpPr>
        <p:spPr>
          <a:xfrm>
            <a:off x="8604250" y="4360333"/>
            <a:ext cx="3376083" cy="296333"/>
          </a:xfrm>
          <a:prstGeom prst="rect">
            <a:avLst/>
          </a:prstGeom>
          <a:noFill/>
          <a:ln/>
        </p:spPr>
        <p:txBody>
          <a:bodyPr wrap="square" lIns="0" tIns="0" rIns="0" bIns="0" rtlCol="0" anchor="ctr"/>
          <a:lstStyle/>
          <a:p>
            <a:pPr algn="ctr">
              <a:lnSpc>
                <a:spcPct val="120000"/>
              </a:lnSpc>
            </a:pPr>
            <a:r>
              <a:rPr lang="en-US" sz="1667" b="1" dirty="0">
                <a:solidFill>
                  <a:srgbClr val="D1D5DB"/>
                </a:solidFill>
                <a:latin typeface="MiSans" pitchFamily="34" charset="0"/>
                <a:ea typeface="MiSans" pitchFamily="34" charset="-122"/>
                <a:cs typeface="MiSans" pitchFamily="34" charset="-120"/>
              </a:rPr>
              <a:t>96.7%</a:t>
            </a:r>
            <a:endParaRPr lang="en-US" sz="1600" dirty="0"/>
          </a:p>
        </p:txBody>
      </p:sp>
      <p:sp>
        <p:nvSpPr>
          <p:cNvPr id="37" name="Shape 35"/>
          <p:cNvSpPr/>
          <p:nvPr/>
        </p:nvSpPr>
        <p:spPr>
          <a:xfrm>
            <a:off x="12096750" y="4064000"/>
            <a:ext cx="3439583" cy="677333"/>
          </a:xfrm>
          <a:custGeom>
            <a:avLst/>
            <a:gdLst/>
            <a:ahLst/>
            <a:cxnLst/>
            <a:rect l="l" t="t" r="r" b="b"/>
            <a:pathLst>
              <a:path w="3439583" h="677333">
                <a:moveTo>
                  <a:pt x="42333" y="0"/>
                </a:moveTo>
                <a:lnTo>
                  <a:pt x="3397250" y="0"/>
                </a:lnTo>
                <a:cubicBezTo>
                  <a:pt x="3420630" y="0"/>
                  <a:pt x="3439583" y="18953"/>
                  <a:pt x="3439583" y="42333"/>
                </a:cubicBezTo>
                <a:lnTo>
                  <a:pt x="3439583" y="635000"/>
                </a:lnTo>
                <a:cubicBezTo>
                  <a:pt x="3439583" y="658380"/>
                  <a:pt x="3420630" y="677333"/>
                  <a:pt x="3397250"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solidFill>
          <a:ln/>
        </p:spPr>
      </p:sp>
      <p:sp>
        <p:nvSpPr>
          <p:cNvPr id="38" name="Text 36"/>
          <p:cNvSpPr/>
          <p:nvPr/>
        </p:nvSpPr>
        <p:spPr>
          <a:xfrm>
            <a:off x="12144375" y="4148667"/>
            <a:ext cx="3344333" cy="211667"/>
          </a:xfrm>
          <a:prstGeom prst="rect">
            <a:avLst/>
          </a:prstGeom>
          <a:noFill/>
          <a:ln/>
        </p:spPr>
        <p:txBody>
          <a:bodyPr wrap="square" lIns="0" tIns="0" rIns="0" bIns="0" rtlCol="0" anchor="ctr"/>
          <a:lstStyle/>
          <a:p>
            <a:pPr algn="ctr">
              <a:lnSpc>
                <a:spcPct val="120000"/>
              </a:lnSpc>
            </a:pPr>
            <a:r>
              <a:rPr lang="en-US" sz="1167" dirty="0">
                <a:solidFill>
                  <a:srgbClr val="7E9AA8"/>
                </a:solidFill>
                <a:latin typeface="MiSans" pitchFamily="34" charset="0"/>
                <a:ea typeface="MiSans" pitchFamily="34" charset="-122"/>
                <a:cs typeface="MiSans" pitchFamily="34" charset="-120"/>
              </a:rPr>
              <a:t>OOB Score</a:t>
            </a:r>
            <a:endParaRPr lang="en-US" sz="1600" dirty="0"/>
          </a:p>
        </p:txBody>
      </p:sp>
      <p:sp>
        <p:nvSpPr>
          <p:cNvPr id="39" name="Text 37"/>
          <p:cNvSpPr/>
          <p:nvPr/>
        </p:nvSpPr>
        <p:spPr>
          <a:xfrm>
            <a:off x="12128500" y="4360333"/>
            <a:ext cx="3376083" cy="296333"/>
          </a:xfrm>
          <a:prstGeom prst="rect">
            <a:avLst/>
          </a:prstGeom>
          <a:noFill/>
          <a:ln/>
        </p:spPr>
        <p:txBody>
          <a:bodyPr wrap="square" lIns="0" tIns="0" rIns="0" bIns="0" rtlCol="0" anchor="ctr"/>
          <a:lstStyle/>
          <a:p>
            <a:pPr algn="ctr">
              <a:lnSpc>
                <a:spcPct val="120000"/>
              </a:lnSpc>
            </a:pPr>
            <a:r>
              <a:rPr lang="en-US" sz="1667" b="1" dirty="0">
                <a:solidFill>
                  <a:srgbClr val="D1D5DB"/>
                </a:solidFill>
                <a:latin typeface="MiSans" pitchFamily="34" charset="0"/>
                <a:ea typeface="MiSans" pitchFamily="34" charset="-122"/>
                <a:cs typeface="MiSans" pitchFamily="34" charset="-120"/>
              </a:rPr>
              <a:t>94.0%</a:t>
            </a:r>
            <a:endParaRPr lang="en-US" sz="1600" dirty="0"/>
          </a:p>
        </p:txBody>
      </p:sp>
      <p:sp>
        <p:nvSpPr>
          <p:cNvPr id="40" name="Shape 38"/>
          <p:cNvSpPr/>
          <p:nvPr/>
        </p:nvSpPr>
        <p:spPr>
          <a:xfrm>
            <a:off x="8239125" y="5212292"/>
            <a:ext cx="7588250" cy="2084917"/>
          </a:xfrm>
          <a:custGeom>
            <a:avLst/>
            <a:gdLst/>
            <a:ahLst/>
            <a:cxnLst/>
            <a:rect l="l" t="t" r="r" b="b"/>
            <a:pathLst>
              <a:path w="7588250" h="2084917">
                <a:moveTo>
                  <a:pt x="84668" y="0"/>
                </a:moveTo>
                <a:lnTo>
                  <a:pt x="7503582" y="0"/>
                </a:lnTo>
                <a:cubicBezTo>
                  <a:pt x="7550343" y="0"/>
                  <a:pt x="7588250" y="37907"/>
                  <a:pt x="7588250" y="84668"/>
                </a:cubicBezTo>
                <a:lnTo>
                  <a:pt x="7588250" y="2000248"/>
                </a:lnTo>
                <a:cubicBezTo>
                  <a:pt x="7588250" y="2047009"/>
                  <a:pt x="7550343" y="2084917"/>
                  <a:pt x="7503582" y="2084917"/>
                </a:cubicBezTo>
                <a:lnTo>
                  <a:pt x="84668" y="2084917"/>
                </a:lnTo>
                <a:cubicBezTo>
                  <a:pt x="37907" y="2084917"/>
                  <a:pt x="0" y="2047009"/>
                  <a:pt x="0" y="2000248"/>
                </a:cubicBezTo>
                <a:lnTo>
                  <a:pt x="0" y="84668"/>
                </a:lnTo>
                <a:cubicBezTo>
                  <a:pt x="0" y="37939"/>
                  <a:pt x="37939" y="0"/>
                  <a:pt x="84668" y="0"/>
                </a:cubicBezTo>
                <a:close/>
              </a:path>
            </a:pathLst>
          </a:custGeom>
          <a:solidFill>
            <a:srgbClr val="3A5E78">
              <a:alpha val="20000"/>
            </a:srgbClr>
          </a:solidFill>
          <a:ln w="12700">
            <a:solidFill>
              <a:srgbClr val="4C7E9A">
                <a:alpha val="50196"/>
              </a:srgbClr>
            </a:solidFill>
            <a:prstDash val="solid"/>
          </a:ln>
        </p:spPr>
      </p:sp>
      <p:sp>
        <p:nvSpPr>
          <p:cNvPr id="41" name="Text 39"/>
          <p:cNvSpPr/>
          <p:nvPr/>
        </p:nvSpPr>
        <p:spPr>
          <a:xfrm>
            <a:off x="8413750" y="5386917"/>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特征重要性可视化</a:t>
            </a:r>
            <a:endParaRPr lang="en-US" sz="1600" dirty="0"/>
          </a:p>
        </p:txBody>
      </p:sp>
      <p:sp>
        <p:nvSpPr>
          <p:cNvPr id="42" name="Text 40"/>
          <p:cNvSpPr/>
          <p:nvPr/>
        </p:nvSpPr>
        <p:spPr>
          <a:xfrm>
            <a:off x="8413750" y="5852583"/>
            <a:ext cx="7323667"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分析哪些特征对预测结果贡献最大：</a:t>
            </a:r>
            <a:endParaRPr lang="en-US" sz="1600" dirty="0"/>
          </a:p>
        </p:txBody>
      </p:sp>
      <p:sp>
        <p:nvSpPr>
          <p:cNvPr id="43" name="Shape 41"/>
          <p:cNvSpPr/>
          <p:nvPr/>
        </p:nvSpPr>
        <p:spPr>
          <a:xfrm>
            <a:off x="8413750" y="6191250"/>
            <a:ext cx="7239000" cy="254000"/>
          </a:xfrm>
          <a:custGeom>
            <a:avLst/>
            <a:gdLst/>
            <a:ahLst/>
            <a:cxnLst/>
            <a:rect l="l" t="t" r="r" b="b"/>
            <a:pathLst>
              <a:path w="7239000" h="254000">
                <a:moveTo>
                  <a:pt x="42334" y="0"/>
                </a:moveTo>
                <a:lnTo>
                  <a:pt x="7196666" y="0"/>
                </a:lnTo>
                <a:cubicBezTo>
                  <a:pt x="7220046" y="0"/>
                  <a:pt x="7239000" y="18954"/>
                  <a:pt x="7239000" y="42334"/>
                </a:cubicBezTo>
                <a:lnTo>
                  <a:pt x="7239000" y="211666"/>
                </a:lnTo>
                <a:cubicBezTo>
                  <a:pt x="7239000" y="235046"/>
                  <a:pt x="7220046" y="254000"/>
                  <a:pt x="7196666" y="254000"/>
                </a:cubicBezTo>
                <a:lnTo>
                  <a:pt x="42334" y="254000"/>
                </a:lnTo>
                <a:cubicBezTo>
                  <a:pt x="18954" y="254000"/>
                  <a:pt x="0" y="235046"/>
                  <a:pt x="0" y="211666"/>
                </a:cubicBezTo>
                <a:lnTo>
                  <a:pt x="0" y="42334"/>
                </a:lnTo>
                <a:cubicBezTo>
                  <a:pt x="0" y="18969"/>
                  <a:pt x="18969" y="0"/>
                  <a:pt x="42334" y="0"/>
                </a:cubicBezTo>
                <a:close/>
              </a:path>
            </a:pathLst>
          </a:custGeom>
          <a:solidFill>
            <a:srgbClr val="181A1F"/>
          </a:solidFill>
          <a:ln/>
        </p:spPr>
      </p:sp>
      <p:sp>
        <p:nvSpPr>
          <p:cNvPr id="44" name="Text 42"/>
          <p:cNvSpPr/>
          <p:nvPr/>
        </p:nvSpPr>
        <p:spPr>
          <a:xfrm>
            <a:off x="8498417" y="6233583"/>
            <a:ext cx="1047750" cy="169333"/>
          </a:xfrm>
          <a:prstGeom prst="rect">
            <a:avLst/>
          </a:prstGeom>
          <a:noFill/>
          <a:ln/>
        </p:spPr>
        <p:txBody>
          <a:bodyPr wrap="square" lIns="0" tIns="0" rIns="0" bIns="0" rtlCol="0" anchor="ctr"/>
          <a:lstStyle/>
          <a:p>
            <a:pPr>
              <a:lnSpc>
                <a:spcPct val="110000"/>
              </a:lnSpc>
            </a:pPr>
            <a:r>
              <a:rPr lang="en-US" sz="1000" dirty="0">
                <a:solidFill>
                  <a:srgbClr val="D1D5DB"/>
                </a:solidFill>
                <a:latin typeface="MiSans" pitchFamily="34" charset="0"/>
                <a:ea typeface="MiSans" pitchFamily="34" charset="-122"/>
                <a:cs typeface="MiSans" pitchFamily="34" charset="-120"/>
              </a:rPr>
              <a:t>花瓣长度 (66.6%)</a:t>
            </a:r>
            <a:endParaRPr lang="en-US" sz="1600" dirty="0"/>
          </a:p>
        </p:txBody>
      </p:sp>
      <p:sp>
        <p:nvSpPr>
          <p:cNvPr id="45" name="Shape 43"/>
          <p:cNvSpPr/>
          <p:nvPr/>
        </p:nvSpPr>
        <p:spPr>
          <a:xfrm>
            <a:off x="8413750" y="6529917"/>
            <a:ext cx="7239000" cy="254000"/>
          </a:xfrm>
          <a:custGeom>
            <a:avLst/>
            <a:gdLst/>
            <a:ahLst/>
            <a:cxnLst/>
            <a:rect l="l" t="t" r="r" b="b"/>
            <a:pathLst>
              <a:path w="7239000" h="254000">
                <a:moveTo>
                  <a:pt x="42334" y="0"/>
                </a:moveTo>
                <a:lnTo>
                  <a:pt x="7196666" y="0"/>
                </a:lnTo>
                <a:cubicBezTo>
                  <a:pt x="7220046" y="0"/>
                  <a:pt x="7239000" y="18954"/>
                  <a:pt x="7239000" y="42334"/>
                </a:cubicBezTo>
                <a:lnTo>
                  <a:pt x="7239000" y="211666"/>
                </a:lnTo>
                <a:cubicBezTo>
                  <a:pt x="7239000" y="235046"/>
                  <a:pt x="7220046" y="254000"/>
                  <a:pt x="7196666" y="254000"/>
                </a:cubicBezTo>
                <a:lnTo>
                  <a:pt x="42334" y="254000"/>
                </a:lnTo>
                <a:cubicBezTo>
                  <a:pt x="18954" y="254000"/>
                  <a:pt x="0" y="235046"/>
                  <a:pt x="0" y="211666"/>
                </a:cubicBezTo>
                <a:lnTo>
                  <a:pt x="0" y="42334"/>
                </a:lnTo>
                <a:cubicBezTo>
                  <a:pt x="0" y="18969"/>
                  <a:pt x="18969" y="0"/>
                  <a:pt x="42334" y="0"/>
                </a:cubicBezTo>
                <a:close/>
              </a:path>
            </a:pathLst>
          </a:custGeom>
          <a:solidFill>
            <a:srgbClr val="181A1F"/>
          </a:solidFill>
          <a:ln/>
        </p:spPr>
      </p:sp>
      <p:sp>
        <p:nvSpPr>
          <p:cNvPr id="46" name="Text 44"/>
          <p:cNvSpPr/>
          <p:nvPr/>
        </p:nvSpPr>
        <p:spPr>
          <a:xfrm>
            <a:off x="8498417" y="6572250"/>
            <a:ext cx="1026583" cy="169333"/>
          </a:xfrm>
          <a:prstGeom prst="rect">
            <a:avLst/>
          </a:prstGeom>
          <a:noFill/>
          <a:ln/>
        </p:spPr>
        <p:txBody>
          <a:bodyPr wrap="square" lIns="0" tIns="0" rIns="0" bIns="0" rtlCol="0" anchor="ctr"/>
          <a:lstStyle/>
          <a:p>
            <a:pPr>
              <a:lnSpc>
                <a:spcPct val="110000"/>
              </a:lnSpc>
            </a:pPr>
            <a:r>
              <a:rPr lang="en-US" sz="1000" dirty="0">
                <a:solidFill>
                  <a:srgbClr val="D1D5DB"/>
                </a:solidFill>
                <a:latin typeface="MiSans" pitchFamily="34" charset="0"/>
                <a:ea typeface="MiSans" pitchFamily="34" charset="-122"/>
                <a:cs typeface="MiSans" pitchFamily="34" charset="-120"/>
              </a:rPr>
              <a:t>花瓣宽度 (31.8%)</a:t>
            </a:r>
            <a:endParaRPr lang="en-US" sz="1600" dirty="0"/>
          </a:p>
        </p:txBody>
      </p:sp>
      <p:sp>
        <p:nvSpPr>
          <p:cNvPr id="47" name="Shape 45"/>
          <p:cNvSpPr/>
          <p:nvPr/>
        </p:nvSpPr>
        <p:spPr>
          <a:xfrm>
            <a:off x="8413750" y="6868583"/>
            <a:ext cx="1809750" cy="254000"/>
          </a:xfrm>
          <a:custGeom>
            <a:avLst/>
            <a:gdLst/>
            <a:ahLst/>
            <a:cxnLst/>
            <a:rect l="l" t="t" r="r" b="b"/>
            <a:pathLst>
              <a:path w="1809750" h="254000">
                <a:moveTo>
                  <a:pt x="42334" y="0"/>
                </a:moveTo>
                <a:lnTo>
                  <a:pt x="1767416" y="0"/>
                </a:lnTo>
                <a:cubicBezTo>
                  <a:pt x="1790796" y="0"/>
                  <a:pt x="1809750" y="18954"/>
                  <a:pt x="1809750" y="42334"/>
                </a:cubicBezTo>
                <a:lnTo>
                  <a:pt x="1809750" y="211666"/>
                </a:lnTo>
                <a:cubicBezTo>
                  <a:pt x="1809750" y="235046"/>
                  <a:pt x="1790796" y="254000"/>
                  <a:pt x="1767416" y="254000"/>
                </a:cubicBezTo>
                <a:lnTo>
                  <a:pt x="42334" y="254000"/>
                </a:lnTo>
                <a:cubicBezTo>
                  <a:pt x="18954" y="254000"/>
                  <a:pt x="0" y="235046"/>
                  <a:pt x="0" y="211666"/>
                </a:cubicBezTo>
                <a:lnTo>
                  <a:pt x="0" y="42334"/>
                </a:lnTo>
                <a:cubicBezTo>
                  <a:pt x="0" y="18969"/>
                  <a:pt x="18969" y="0"/>
                  <a:pt x="42334" y="0"/>
                </a:cubicBezTo>
                <a:close/>
              </a:path>
            </a:pathLst>
          </a:custGeom>
          <a:solidFill>
            <a:srgbClr val="181A1F"/>
          </a:solidFill>
          <a:ln/>
        </p:spPr>
      </p:sp>
      <p:sp>
        <p:nvSpPr>
          <p:cNvPr id="48" name="Text 46"/>
          <p:cNvSpPr/>
          <p:nvPr/>
        </p:nvSpPr>
        <p:spPr>
          <a:xfrm>
            <a:off x="8498417" y="6910917"/>
            <a:ext cx="698500" cy="169333"/>
          </a:xfrm>
          <a:prstGeom prst="rect">
            <a:avLst/>
          </a:prstGeom>
          <a:noFill/>
          <a:ln/>
        </p:spPr>
        <p:txBody>
          <a:bodyPr wrap="square" lIns="0" tIns="0" rIns="0" bIns="0" rtlCol="0" anchor="ctr"/>
          <a:lstStyle/>
          <a:p>
            <a:pPr>
              <a:lnSpc>
                <a:spcPct val="110000"/>
              </a:lnSpc>
            </a:pPr>
            <a:r>
              <a:rPr lang="en-US" sz="1000" dirty="0">
                <a:solidFill>
                  <a:srgbClr val="D1D5DB"/>
                </a:solidFill>
                <a:latin typeface="MiSans" pitchFamily="34" charset="0"/>
                <a:ea typeface="MiSans" pitchFamily="34" charset="-122"/>
                <a:cs typeface="MiSans" pitchFamily="34" charset="-120"/>
              </a:rPr>
              <a:t>其他 (1.6%)</a:t>
            </a:r>
            <a:endParaRPr lang="en-US" sz="1600" dirty="0"/>
          </a:p>
        </p:txBody>
      </p:sp>
      <p:sp>
        <p:nvSpPr>
          <p:cNvPr id="49" name="Shape 47"/>
          <p:cNvSpPr/>
          <p:nvPr/>
        </p:nvSpPr>
        <p:spPr>
          <a:xfrm>
            <a:off x="428625" y="7477125"/>
            <a:ext cx="15398750" cy="1576917"/>
          </a:xfrm>
          <a:custGeom>
            <a:avLst/>
            <a:gdLst/>
            <a:ahLst/>
            <a:cxnLst/>
            <a:rect l="l" t="t" r="r" b="b"/>
            <a:pathLst>
              <a:path w="15398750" h="1576917">
                <a:moveTo>
                  <a:pt x="84665" y="0"/>
                </a:moveTo>
                <a:lnTo>
                  <a:pt x="15314085" y="0"/>
                </a:lnTo>
                <a:cubicBezTo>
                  <a:pt x="15360844" y="0"/>
                  <a:pt x="15398750" y="37906"/>
                  <a:pt x="15398750" y="84665"/>
                </a:cubicBezTo>
                <a:lnTo>
                  <a:pt x="15398750" y="1492252"/>
                </a:lnTo>
                <a:cubicBezTo>
                  <a:pt x="15398750" y="1539011"/>
                  <a:pt x="15360844" y="1576917"/>
                  <a:pt x="15314085" y="1576917"/>
                </a:cubicBezTo>
                <a:lnTo>
                  <a:pt x="84665" y="1576917"/>
                </a:lnTo>
                <a:cubicBezTo>
                  <a:pt x="37906" y="1576917"/>
                  <a:pt x="0" y="1539011"/>
                  <a:pt x="0" y="1492252"/>
                </a:cubicBezTo>
                <a:lnTo>
                  <a:pt x="0" y="84665"/>
                </a:lnTo>
                <a:cubicBezTo>
                  <a:pt x="0" y="37937"/>
                  <a:pt x="37937" y="0"/>
                  <a:pt x="84665" y="0"/>
                </a:cubicBezTo>
                <a:close/>
              </a:path>
            </a:pathLst>
          </a:custGeom>
          <a:solidFill>
            <a:srgbClr val="4C7E9A">
              <a:alpha val="10196"/>
            </a:srgbClr>
          </a:solidFill>
          <a:ln w="12700">
            <a:solidFill>
              <a:srgbClr val="4C7E9A">
                <a:alpha val="30196"/>
              </a:srgbClr>
            </a:solidFill>
            <a:prstDash val="solid"/>
          </a:ln>
        </p:spPr>
      </p:sp>
      <p:sp>
        <p:nvSpPr>
          <p:cNvPr id="50" name="Shape 48"/>
          <p:cNvSpPr/>
          <p:nvPr/>
        </p:nvSpPr>
        <p:spPr>
          <a:xfrm>
            <a:off x="625740" y="7651750"/>
            <a:ext cx="357188" cy="317500"/>
          </a:xfrm>
          <a:custGeom>
            <a:avLst/>
            <a:gdLst/>
            <a:ahLst/>
            <a:cxnLst/>
            <a:rect l="l" t="t" r="r" b="b"/>
            <a:pathLst>
              <a:path w="357188" h="317500">
                <a:moveTo>
                  <a:pt x="223738" y="744"/>
                </a:moveTo>
                <a:cubicBezTo>
                  <a:pt x="213196" y="-2294"/>
                  <a:pt x="202220" y="3845"/>
                  <a:pt x="199182" y="14387"/>
                </a:cubicBezTo>
                <a:lnTo>
                  <a:pt x="119807" y="292199"/>
                </a:lnTo>
                <a:cubicBezTo>
                  <a:pt x="116768" y="302741"/>
                  <a:pt x="122907" y="313717"/>
                  <a:pt x="133449" y="316756"/>
                </a:cubicBezTo>
                <a:cubicBezTo>
                  <a:pt x="143991" y="319794"/>
                  <a:pt x="154967" y="313655"/>
                  <a:pt x="158006" y="303113"/>
                </a:cubicBezTo>
                <a:lnTo>
                  <a:pt x="237381" y="25301"/>
                </a:lnTo>
                <a:cubicBezTo>
                  <a:pt x="240419" y="14759"/>
                  <a:pt x="234280" y="3783"/>
                  <a:pt x="223738" y="744"/>
                </a:cubicBezTo>
                <a:close/>
                <a:moveTo>
                  <a:pt x="263798" y="85142"/>
                </a:moveTo>
                <a:cubicBezTo>
                  <a:pt x="256046" y="92894"/>
                  <a:pt x="256046" y="105482"/>
                  <a:pt x="263798" y="113233"/>
                </a:cubicBezTo>
                <a:lnTo>
                  <a:pt x="309314" y="158750"/>
                </a:lnTo>
                <a:lnTo>
                  <a:pt x="263798" y="204267"/>
                </a:lnTo>
                <a:cubicBezTo>
                  <a:pt x="256046" y="212018"/>
                  <a:pt x="256046" y="224606"/>
                  <a:pt x="263798" y="232358"/>
                </a:cubicBezTo>
                <a:cubicBezTo>
                  <a:pt x="271549" y="240109"/>
                  <a:pt x="284138" y="240109"/>
                  <a:pt x="291889" y="232358"/>
                </a:cubicBezTo>
                <a:lnTo>
                  <a:pt x="351420" y="172827"/>
                </a:lnTo>
                <a:cubicBezTo>
                  <a:pt x="359172" y="165075"/>
                  <a:pt x="359172" y="152487"/>
                  <a:pt x="351420" y="144735"/>
                </a:cubicBezTo>
                <a:lnTo>
                  <a:pt x="291889" y="85204"/>
                </a:lnTo>
                <a:cubicBezTo>
                  <a:pt x="284138" y="77453"/>
                  <a:pt x="271549" y="77453"/>
                  <a:pt x="263798" y="85204"/>
                </a:cubicBezTo>
                <a:close/>
                <a:moveTo>
                  <a:pt x="93452" y="85142"/>
                </a:moveTo>
                <a:cubicBezTo>
                  <a:pt x="85700" y="77391"/>
                  <a:pt x="73112" y="77391"/>
                  <a:pt x="65360" y="85142"/>
                </a:cubicBezTo>
                <a:lnTo>
                  <a:pt x="5829" y="144673"/>
                </a:lnTo>
                <a:cubicBezTo>
                  <a:pt x="-1922" y="152425"/>
                  <a:pt x="-1922" y="165013"/>
                  <a:pt x="5829" y="172765"/>
                </a:cubicBezTo>
                <a:lnTo>
                  <a:pt x="65360" y="232296"/>
                </a:lnTo>
                <a:cubicBezTo>
                  <a:pt x="73112" y="240047"/>
                  <a:pt x="85700" y="240047"/>
                  <a:pt x="93452" y="232296"/>
                </a:cubicBezTo>
                <a:cubicBezTo>
                  <a:pt x="101203" y="224544"/>
                  <a:pt x="101203" y="211956"/>
                  <a:pt x="93452" y="204205"/>
                </a:cubicBezTo>
                <a:lnTo>
                  <a:pt x="47935" y="158750"/>
                </a:lnTo>
                <a:lnTo>
                  <a:pt x="93390" y="113233"/>
                </a:lnTo>
                <a:cubicBezTo>
                  <a:pt x="101141" y="105482"/>
                  <a:pt x="101141" y="92894"/>
                  <a:pt x="93390" y="85142"/>
                </a:cubicBezTo>
                <a:close/>
              </a:path>
            </a:pathLst>
          </a:custGeom>
          <a:solidFill>
            <a:srgbClr val="4C7E9A"/>
          </a:solidFill>
          <a:ln/>
        </p:spPr>
      </p:sp>
      <p:sp>
        <p:nvSpPr>
          <p:cNvPr id="51" name="Text 49"/>
          <p:cNvSpPr/>
          <p:nvPr/>
        </p:nvSpPr>
        <p:spPr>
          <a:xfrm>
            <a:off x="1169458" y="7651750"/>
            <a:ext cx="14594417"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模型优化建议</a:t>
            </a:r>
            <a:endParaRPr lang="en-US" sz="1600" dirty="0"/>
          </a:p>
        </p:txBody>
      </p:sp>
      <p:sp>
        <p:nvSpPr>
          <p:cNvPr id="52" name="Text 50"/>
          <p:cNvSpPr/>
          <p:nvPr/>
        </p:nvSpPr>
        <p:spPr>
          <a:xfrm>
            <a:off x="1169458" y="8032750"/>
            <a:ext cx="481541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超参数调优</a:t>
            </a:r>
            <a:endParaRPr lang="en-US" sz="1600" dirty="0"/>
          </a:p>
        </p:txBody>
      </p:sp>
      <p:sp>
        <p:nvSpPr>
          <p:cNvPr id="53" name="Text 51"/>
          <p:cNvSpPr/>
          <p:nvPr/>
        </p:nvSpPr>
        <p:spPr>
          <a:xfrm>
            <a:off x="1169458" y="8371417"/>
            <a:ext cx="4804833" cy="508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使用网格搜索或随机搜索优化n_estimators、max_depth等参数</a:t>
            </a:r>
            <a:endParaRPr lang="en-US" sz="1600" dirty="0"/>
          </a:p>
        </p:txBody>
      </p:sp>
      <p:sp>
        <p:nvSpPr>
          <p:cNvPr id="54" name="Text 52"/>
          <p:cNvSpPr/>
          <p:nvPr/>
        </p:nvSpPr>
        <p:spPr>
          <a:xfrm>
            <a:off x="6053667" y="8032750"/>
            <a:ext cx="481541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特征工程</a:t>
            </a:r>
            <a:endParaRPr lang="en-US" sz="1600" dirty="0"/>
          </a:p>
        </p:txBody>
      </p:sp>
      <p:sp>
        <p:nvSpPr>
          <p:cNvPr id="55" name="Text 53"/>
          <p:cNvSpPr/>
          <p:nvPr/>
        </p:nvSpPr>
        <p:spPr>
          <a:xfrm>
            <a:off x="6053667" y="8371417"/>
            <a:ext cx="4804833"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创建新的特征组合，提升模型表达能力</a:t>
            </a:r>
            <a:endParaRPr lang="en-US" sz="1600" dirty="0"/>
          </a:p>
        </p:txBody>
      </p:sp>
      <p:sp>
        <p:nvSpPr>
          <p:cNvPr id="56" name="Text 54"/>
          <p:cNvSpPr/>
          <p:nvPr/>
        </p:nvSpPr>
        <p:spPr>
          <a:xfrm>
            <a:off x="10937875" y="8032750"/>
            <a:ext cx="481541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交叉验证</a:t>
            </a:r>
            <a:endParaRPr lang="en-US" sz="1600" dirty="0"/>
          </a:p>
        </p:txBody>
      </p:sp>
      <p:sp>
        <p:nvSpPr>
          <p:cNvPr id="57" name="Text 55"/>
          <p:cNvSpPr/>
          <p:nvPr/>
        </p:nvSpPr>
        <p:spPr>
          <a:xfrm>
            <a:off x="10937875" y="8371417"/>
            <a:ext cx="4804833"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使用交叉验证获得更稳健的性能评估</a:t>
            </a:r>
            <a:endParaRPr lang="en-US" sz="1600" dirty="0"/>
          </a:p>
        </p:txBody>
      </p:sp>
    </p:spTree>
  </p:cSld>
  <p:clrMapOvr>
    <a:masterClrMapping/>
  </p:clrMapOvr>
  <p:transition>
    <p:fade/>
    <p:spd val="med"/>
  </p:transition>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63134" y="463134"/>
            <a:ext cx="15422359" cy="277880"/>
          </a:xfrm>
          <a:prstGeom prst="rect">
            <a:avLst/>
          </a:prstGeom>
          <a:noFill/>
          <a:ln/>
        </p:spPr>
        <p:txBody>
          <a:bodyPr wrap="square" lIns="0" tIns="0" rIns="0" bIns="0" rtlCol="0" anchor="ctr"/>
          <a:lstStyle/>
          <a:p>
            <a:pPr>
              <a:lnSpc>
                <a:spcPct val="130000"/>
              </a:lnSpc>
            </a:pPr>
            <a:r>
              <a:rPr lang="en-US" sz="1459" b="1" spc="73" kern="0" dirty="0">
                <a:solidFill>
                  <a:srgbClr val="7E9AA8"/>
                </a:solidFill>
                <a:latin typeface="MiSans" pitchFamily="34" charset="0"/>
                <a:ea typeface="MiSans" pitchFamily="34" charset="-122"/>
                <a:cs typeface="MiSans" pitchFamily="34" charset="-120"/>
              </a:rPr>
              <a:t>RANDOM FOREST</a:t>
            </a:r>
            <a:endParaRPr lang="en-US" sz="1600" dirty="0"/>
          </a:p>
        </p:txBody>
      </p:sp>
      <p:sp>
        <p:nvSpPr>
          <p:cNvPr id="3" name="Text 1"/>
          <p:cNvSpPr/>
          <p:nvPr/>
        </p:nvSpPr>
        <p:spPr>
          <a:xfrm>
            <a:off x="463134" y="833641"/>
            <a:ext cx="15538142" cy="463134"/>
          </a:xfrm>
          <a:prstGeom prst="rect">
            <a:avLst/>
          </a:prstGeom>
          <a:noFill/>
          <a:ln/>
        </p:spPr>
        <p:txBody>
          <a:bodyPr wrap="square" lIns="0" tIns="0" rIns="0" bIns="0" rtlCol="0" anchor="ctr"/>
          <a:lstStyle/>
          <a:p>
            <a:pPr>
              <a:lnSpc>
                <a:spcPct val="90000"/>
              </a:lnSpc>
            </a:pPr>
            <a:r>
              <a:rPr lang="en-US" sz="3282" b="1" dirty="0">
                <a:solidFill>
                  <a:srgbClr val="D1D5DB"/>
                </a:solidFill>
                <a:latin typeface="阿里妈妈数黑体" pitchFamily="34" charset="0"/>
                <a:ea typeface="阿里妈妈数黑体" pitchFamily="34" charset="-122"/>
                <a:cs typeface="阿里妈妈数黑体" pitchFamily="34" charset="-120"/>
              </a:rPr>
              <a:t>OOB误差计算公式</a:t>
            </a:r>
            <a:endParaRPr lang="en-US" sz="1600" dirty="0"/>
          </a:p>
        </p:txBody>
      </p:sp>
      <p:sp>
        <p:nvSpPr>
          <p:cNvPr id="4" name="Shape 2"/>
          <p:cNvSpPr/>
          <p:nvPr/>
        </p:nvSpPr>
        <p:spPr>
          <a:xfrm>
            <a:off x="463134" y="1435715"/>
            <a:ext cx="1111521" cy="46313"/>
          </a:xfrm>
          <a:custGeom>
            <a:avLst/>
            <a:gdLst/>
            <a:ahLst/>
            <a:cxnLst/>
            <a:rect l="l" t="t" r="r" b="b"/>
            <a:pathLst>
              <a:path w="1111521" h="46313">
                <a:moveTo>
                  <a:pt x="0" y="0"/>
                </a:moveTo>
                <a:lnTo>
                  <a:pt x="1111521" y="0"/>
                </a:lnTo>
                <a:lnTo>
                  <a:pt x="1111521" y="46313"/>
                </a:lnTo>
                <a:lnTo>
                  <a:pt x="0" y="46313"/>
                </a:lnTo>
                <a:lnTo>
                  <a:pt x="0" y="0"/>
                </a:lnTo>
                <a:close/>
              </a:path>
            </a:pathLst>
          </a:custGeom>
          <a:solidFill>
            <a:srgbClr val="4C7E9A"/>
          </a:solidFill>
          <a:ln/>
        </p:spPr>
      </p:sp>
      <p:sp>
        <p:nvSpPr>
          <p:cNvPr id="5" name="Shape 3"/>
          <p:cNvSpPr/>
          <p:nvPr/>
        </p:nvSpPr>
        <p:spPr>
          <a:xfrm>
            <a:off x="486291" y="1667282"/>
            <a:ext cx="7525926" cy="2257778"/>
          </a:xfrm>
          <a:custGeom>
            <a:avLst/>
            <a:gdLst/>
            <a:ahLst/>
            <a:cxnLst/>
            <a:rect l="l" t="t" r="r" b="b"/>
            <a:pathLst>
              <a:path w="7525926" h="2257778">
                <a:moveTo>
                  <a:pt x="46313" y="0"/>
                </a:moveTo>
                <a:lnTo>
                  <a:pt x="7433289" y="0"/>
                </a:lnTo>
                <a:cubicBezTo>
                  <a:pt x="7484451" y="0"/>
                  <a:pt x="7525926" y="41475"/>
                  <a:pt x="7525926" y="92637"/>
                </a:cubicBezTo>
                <a:lnTo>
                  <a:pt x="7525926" y="2165141"/>
                </a:lnTo>
                <a:cubicBezTo>
                  <a:pt x="7525926" y="2216303"/>
                  <a:pt x="7484451" y="2257778"/>
                  <a:pt x="7433289" y="2257778"/>
                </a:cubicBezTo>
                <a:lnTo>
                  <a:pt x="46313" y="2257778"/>
                </a:lnTo>
                <a:cubicBezTo>
                  <a:pt x="20735" y="2257778"/>
                  <a:pt x="0" y="2237043"/>
                  <a:pt x="0" y="2211464"/>
                </a:cubicBezTo>
                <a:lnTo>
                  <a:pt x="0" y="46313"/>
                </a:lnTo>
                <a:cubicBezTo>
                  <a:pt x="0" y="20752"/>
                  <a:pt x="20752" y="0"/>
                  <a:pt x="46313" y="0"/>
                </a:cubicBezTo>
                <a:close/>
              </a:path>
            </a:pathLst>
          </a:custGeom>
          <a:solidFill>
            <a:srgbClr val="3A5E78">
              <a:alpha val="20000"/>
            </a:srgbClr>
          </a:solidFill>
          <a:ln/>
        </p:spPr>
      </p:sp>
      <p:sp>
        <p:nvSpPr>
          <p:cNvPr id="6" name="Shape 4"/>
          <p:cNvSpPr/>
          <p:nvPr/>
        </p:nvSpPr>
        <p:spPr>
          <a:xfrm>
            <a:off x="486291" y="1667282"/>
            <a:ext cx="46313" cy="2257778"/>
          </a:xfrm>
          <a:custGeom>
            <a:avLst/>
            <a:gdLst/>
            <a:ahLst/>
            <a:cxnLst/>
            <a:rect l="l" t="t" r="r" b="b"/>
            <a:pathLst>
              <a:path w="46313" h="2257778">
                <a:moveTo>
                  <a:pt x="46313" y="0"/>
                </a:moveTo>
                <a:lnTo>
                  <a:pt x="46313" y="0"/>
                </a:lnTo>
                <a:lnTo>
                  <a:pt x="46313" y="2257778"/>
                </a:lnTo>
                <a:lnTo>
                  <a:pt x="46313" y="2257778"/>
                </a:lnTo>
                <a:cubicBezTo>
                  <a:pt x="20735" y="2257778"/>
                  <a:pt x="0" y="2237043"/>
                  <a:pt x="0" y="2211464"/>
                </a:cubicBezTo>
                <a:lnTo>
                  <a:pt x="0" y="46313"/>
                </a:lnTo>
                <a:cubicBezTo>
                  <a:pt x="0" y="20752"/>
                  <a:pt x="20752" y="0"/>
                  <a:pt x="46313" y="0"/>
                </a:cubicBezTo>
                <a:close/>
              </a:path>
            </a:pathLst>
          </a:custGeom>
          <a:solidFill>
            <a:srgbClr val="4C7E9A"/>
          </a:solidFill>
          <a:ln/>
        </p:spPr>
      </p:sp>
      <p:sp>
        <p:nvSpPr>
          <p:cNvPr id="7" name="Text 5"/>
          <p:cNvSpPr/>
          <p:nvPr/>
        </p:nvSpPr>
        <p:spPr>
          <a:xfrm>
            <a:off x="694701" y="1852536"/>
            <a:ext cx="7271202" cy="370507"/>
          </a:xfrm>
          <a:prstGeom prst="rect">
            <a:avLst/>
          </a:prstGeom>
          <a:noFill/>
          <a:ln/>
        </p:spPr>
        <p:txBody>
          <a:bodyPr wrap="square" lIns="0" tIns="0" rIns="0" bIns="0" rtlCol="0" anchor="ctr"/>
          <a:lstStyle/>
          <a:p>
            <a:pPr>
              <a:lnSpc>
                <a:spcPct val="110000"/>
              </a:lnSpc>
            </a:pPr>
            <a:r>
              <a:rPr lang="en-US" sz="2188" b="1" dirty="0">
                <a:solidFill>
                  <a:srgbClr val="4C7E9A"/>
                </a:solidFill>
                <a:latin typeface="MiSans" pitchFamily="34" charset="0"/>
                <a:ea typeface="MiSans" pitchFamily="34" charset="-122"/>
                <a:cs typeface="MiSans" pitchFamily="34" charset="-120"/>
              </a:rPr>
              <a:t>OOB样本概念</a:t>
            </a:r>
            <a:endParaRPr lang="en-US" sz="1600" dirty="0"/>
          </a:p>
        </p:txBody>
      </p:sp>
      <p:sp>
        <p:nvSpPr>
          <p:cNvPr id="8" name="Text 6"/>
          <p:cNvSpPr/>
          <p:nvPr/>
        </p:nvSpPr>
        <p:spPr>
          <a:xfrm>
            <a:off x="694701" y="2361983"/>
            <a:ext cx="7236467" cy="683123"/>
          </a:xfrm>
          <a:prstGeom prst="rect">
            <a:avLst/>
          </a:prstGeom>
          <a:noFill/>
          <a:ln/>
        </p:spPr>
        <p:txBody>
          <a:bodyPr wrap="square" lIns="0" tIns="0" rIns="0" bIns="0" rtlCol="0" anchor="ctr"/>
          <a:lstStyle/>
          <a:p>
            <a:pPr>
              <a:lnSpc>
                <a:spcPct val="140000"/>
              </a:lnSpc>
            </a:pPr>
            <a:r>
              <a:rPr lang="en-US" sz="1641" dirty="0">
                <a:solidFill>
                  <a:srgbClr val="D1D5DB"/>
                </a:solidFill>
                <a:latin typeface="MiSans" pitchFamily="34" charset="0"/>
                <a:ea typeface="MiSans" pitchFamily="34" charset="-122"/>
                <a:cs typeface="MiSans" pitchFamily="34" charset="-120"/>
              </a:rPr>
              <a:t>袋外误差（Out-of-Bag Error）利用Bootstrap采样过程中</a:t>
            </a:r>
            <a:pPr>
              <a:lnSpc>
                <a:spcPct val="140000"/>
              </a:lnSpc>
            </a:pPr>
            <a:r>
              <a:rPr lang="en-US" sz="1641" b="1" dirty="0">
                <a:solidFill>
                  <a:srgbClr val="4C7E9A"/>
                </a:solidFill>
                <a:latin typeface="MiSans" pitchFamily="34" charset="0"/>
                <a:ea typeface="MiSans" pitchFamily="34" charset="-122"/>
                <a:cs typeface="MiSans" pitchFamily="34" charset="-120"/>
              </a:rPr>
              <a:t>未被选中的样本</a:t>
            </a:r>
            <a:pPr>
              <a:lnSpc>
                <a:spcPct val="140000"/>
              </a:lnSpc>
            </a:pPr>
            <a:r>
              <a:rPr lang="en-US" sz="1641" dirty="0">
                <a:solidFill>
                  <a:srgbClr val="D1D5DB"/>
                </a:solidFill>
                <a:latin typeface="MiSans" pitchFamily="34" charset="0"/>
                <a:ea typeface="MiSans" pitchFamily="34" charset="-122"/>
                <a:cs typeface="MiSans" pitchFamily="34" charset="-120"/>
              </a:rPr>
              <a:t>来评估模型性能，无需额外验证集。</a:t>
            </a:r>
            <a:endParaRPr lang="en-US" sz="1600" dirty="0"/>
          </a:p>
        </p:txBody>
      </p:sp>
      <p:sp>
        <p:nvSpPr>
          <p:cNvPr id="9" name="Shape 7"/>
          <p:cNvSpPr/>
          <p:nvPr/>
        </p:nvSpPr>
        <p:spPr>
          <a:xfrm>
            <a:off x="694701" y="3178256"/>
            <a:ext cx="7132262" cy="555761"/>
          </a:xfrm>
          <a:custGeom>
            <a:avLst/>
            <a:gdLst/>
            <a:ahLst/>
            <a:cxnLst/>
            <a:rect l="l" t="t" r="r" b="b"/>
            <a:pathLst>
              <a:path w="7132262" h="555761">
                <a:moveTo>
                  <a:pt x="92629" y="0"/>
                </a:moveTo>
                <a:lnTo>
                  <a:pt x="7039633" y="0"/>
                </a:lnTo>
                <a:cubicBezTo>
                  <a:pt x="7090791" y="0"/>
                  <a:pt x="7132262" y="41471"/>
                  <a:pt x="7132262" y="92629"/>
                </a:cubicBezTo>
                <a:lnTo>
                  <a:pt x="7132262" y="463132"/>
                </a:lnTo>
                <a:cubicBezTo>
                  <a:pt x="7132262" y="514289"/>
                  <a:pt x="7090791" y="555761"/>
                  <a:pt x="7039633" y="555761"/>
                </a:cubicBezTo>
                <a:lnTo>
                  <a:pt x="92629" y="555761"/>
                </a:lnTo>
                <a:cubicBezTo>
                  <a:pt x="41471" y="555761"/>
                  <a:pt x="0" y="514289"/>
                  <a:pt x="0" y="463132"/>
                </a:cubicBezTo>
                <a:lnTo>
                  <a:pt x="0" y="92629"/>
                </a:lnTo>
                <a:cubicBezTo>
                  <a:pt x="0" y="41505"/>
                  <a:pt x="41505" y="0"/>
                  <a:pt x="92629" y="0"/>
                </a:cubicBezTo>
                <a:close/>
              </a:path>
            </a:pathLst>
          </a:custGeom>
          <a:solidFill>
            <a:srgbClr val="181A1F">
              <a:alpha val="50196"/>
            </a:srgbClr>
          </a:solidFill>
          <a:ln/>
        </p:spPr>
      </p:sp>
      <p:sp>
        <p:nvSpPr>
          <p:cNvPr id="10" name="Shape 8"/>
          <p:cNvSpPr/>
          <p:nvPr/>
        </p:nvSpPr>
        <p:spPr>
          <a:xfrm>
            <a:off x="879954" y="3369299"/>
            <a:ext cx="138940" cy="185254"/>
          </a:xfrm>
          <a:custGeom>
            <a:avLst/>
            <a:gdLst/>
            <a:ahLst/>
            <a:cxnLst/>
            <a:rect l="l" t="t" r="r" b="b"/>
            <a:pathLst>
              <a:path w="138940" h="185254">
                <a:moveTo>
                  <a:pt x="105978" y="138940"/>
                </a:moveTo>
                <a:cubicBezTo>
                  <a:pt x="108619" y="130872"/>
                  <a:pt x="113902" y="123563"/>
                  <a:pt x="119872" y="117267"/>
                </a:cubicBezTo>
                <a:cubicBezTo>
                  <a:pt x="131704" y="104820"/>
                  <a:pt x="138940" y="87995"/>
                  <a:pt x="138940" y="69470"/>
                </a:cubicBezTo>
                <a:cubicBezTo>
                  <a:pt x="138940" y="31117"/>
                  <a:pt x="107823" y="0"/>
                  <a:pt x="69470" y="0"/>
                </a:cubicBezTo>
                <a:cubicBezTo>
                  <a:pt x="31117" y="0"/>
                  <a:pt x="0" y="31117"/>
                  <a:pt x="0" y="69470"/>
                </a:cubicBezTo>
                <a:cubicBezTo>
                  <a:pt x="0" y="87995"/>
                  <a:pt x="7236" y="104820"/>
                  <a:pt x="19068" y="117267"/>
                </a:cubicBezTo>
                <a:cubicBezTo>
                  <a:pt x="25038" y="123563"/>
                  <a:pt x="30357" y="130872"/>
                  <a:pt x="32962" y="138940"/>
                </a:cubicBezTo>
                <a:lnTo>
                  <a:pt x="105942" y="138940"/>
                </a:lnTo>
                <a:close/>
                <a:moveTo>
                  <a:pt x="104205" y="156308"/>
                </a:moveTo>
                <a:lnTo>
                  <a:pt x="34735" y="156308"/>
                </a:lnTo>
                <a:lnTo>
                  <a:pt x="34735" y="162097"/>
                </a:lnTo>
                <a:cubicBezTo>
                  <a:pt x="34735" y="178089"/>
                  <a:pt x="47688" y="191043"/>
                  <a:pt x="63681" y="191043"/>
                </a:cubicBezTo>
                <a:lnTo>
                  <a:pt x="75259" y="191043"/>
                </a:lnTo>
                <a:cubicBezTo>
                  <a:pt x="91252" y="191043"/>
                  <a:pt x="104205" y="178089"/>
                  <a:pt x="104205" y="162097"/>
                </a:cubicBezTo>
                <a:lnTo>
                  <a:pt x="104205" y="156308"/>
                </a:lnTo>
                <a:close/>
                <a:moveTo>
                  <a:pt x="66575" y="40524"/>
                </a:moveTo>
                <a:cubicBezTo>
                  <a:pt x="52175" y="40524"/>
                  <a:pt x="40524" y="52175"/>
                  <a:pt x="40524" y="66575"/>
                </a:cubicBezTo>
                <a:cubicBezTo>
                  <a:pt x="40524" y="71388"/>
                  <a:pt x="36653" y="75259"/>
                  <a:pt x="31840" y="75259"/>
                </a:cubicBezTo>
                <a:cubicBezTo>
                  <a:pt x="27028" y="75259"/>
                  <a:pt x="23157" y="71388"/>
                  <a:pt x="23157" y="66575"/>
                </a:cubicBezTo>
                <a:cubicBezTo>
                  <a:pt x="23157" y="42587"/>
                  <a:pt x="42587" y="23157"/>
                  <a:pt x="66575" y="23157"/>
                </a:cubicBezTo>
                <a:cubicBezTo>
                  <a:pt x="71388" y="23157"/>
                  <a:pt x="75259" y="27028"/>
                  <a:pt x="75259" y="31840"/>
                </a:cubicBezTo>
                <a:cubicBezTo>
                  <a:pt x="75259" y="36653"/>
                  <a:pt x="71388" y="40524"/>
                  <a:pt x="66575" y="40524"/>
                </a:cubicBezTo>
                <a:close/>
              </a:path>
            </a:pathLst>
          </a:custGeom>
          <a:solidFill>
            <a:srgbClr val="4C7E9A"/>
          </a:solidFill>
          <a:ln/>
        </p:spPr>
      </p:sp>
      <p:sp>
        <p:nvSpPr>
          <p:cNvPr id="11" name="Text 9"/>
          <p:cNvSpPr/>
          <p:nvPr/>
        </p:nvSpPr>
        <p:spPr>
          <a:xfrm>
            <a:off x="1149654" y="3317197"/>
            <a:ext cx="6630996" cy="277880"/>
          </a:xfrm>
          <a:prstGeom prst="rect">
            <a:avLst/>
          </a:prstGeom>
          <a:noFill/>
          <a:ln/>
        </p:spPr>
        <p:txBody>
          <a:bodyPr wrap="square" lIns="0" tIns="0" rIns="0" bIns="0" rtlCol="0" anchor="ctr"/>
          <a:lstStyle/>
          <a:p>
            <a:pPr>
              <a:lnSpc>
                <a:spcPct val="130000"/>
              </a:lnSpc>
            </a:pPr>
            <a:r>
              <a:rPr lang="en-US" sz="1459" dirty="0">
                <a:solidFill>
                  <a:srgbClr val="7E9AA8"/>
                </a:solidFill>
                <a:latin typeface="MiSans" pitchFamily="34" charset="0"/>
                <a:ea typeface="MiSans" pitchFamily="34" charset="-122"/>
                <a:cs typeface="MiSans" pitchFamily="34" charset="-120"/>
              </a:rPr>
              <a:t>约36.8%的样本成为OOB样本，是天然的验证集</a:t>
            </a:r>
            <a:endParaRPr lang="en-US" sz="1600" dirty="0"/>
          </a:p>
        </p:txBody>
      </p:sp>
      <p:sp>
        <p:nvSpPr>
          <p:cNvPr id="12" name="Shape 10"/>
          <p:cNvSpPr/>
          <p:nvPr/>
        </p:nvSpPr>
        <p:spPr>
          <a:xfrm>
            <a:off x="486291" y="4104524"/>
            <a:ext cx="7525926" cy="2500923"/>
          </a:xfrm>
          <a:custGeom>
            <a:avLst/>
            <a:gdLst/>
            <a:ahLst/>
            <a:cxnLst/>
            <a:rect l="l" t="t" r="r" b="b"/>
            <a:pathLst>
              <a:path w="7525926" h="2500923">
                <a:moveTo>
                  <a:pt x="46313" y="0"/>
                </a:moveTo>
                <a:lnTo>
                  <a:pt x="7433292" y="0"/>
                </a:lnTo>
                <a:cubicBezTo>
                  <a:pt x="7484452" y="0"/>
                  <a:pt x="7525926" y="41474"/>
                  <a:pt x="7525926" y="92634"/>
                </a:cubicBezTo>
                <a:lnTo>
                  <a:pt x="7525926" y="2408289"/>
                </a:lnTo>
                <a:cubicBezTo>
                  <a:pt x="7525926" y="2459449"/>
                  <a:pt x="7484452" y="2500923"/>
                  <a:pt x="7433292" y="2500923"/>
                </a:cubicBezTo>
                <a:lnTo>
                  <a:pt x="46313" y="2500923"/>
                </a:lnTo>
                <a:cubicBezTo>
                  <a:pt x="20735" y="2500923"/>
                  <a:pt x="0" y="2480188"/>
                  <a:pt x="0" y="2454610"/>
                </a:cubicBezTo>
                <a:lnTo>
                  <a:pt x="0" y="46313"/>
                </a:lnTo>
                <a:cubicBezTo>
                  <a:pt x="0" y="20752"/>
                  <a:pt x="20752" y="0"/>
                  <a:pt x="46313" y="0"/>
                </a:cubicBezTo>
                <a:close/>
              </a:path>
            </a:pathLst>
          </a:custGeom>
          <a:solidFill>
            <a:srgbClr val="3A5E78">
              <a:alpha val="20000"/>
            </a:srgbClr>
          </a:solidFill>
          <a:ln/>
        </p:spPr>
      </p:sp>
      <p:sp>
        <p:nvSpPr>
          <p:cNvPr id="13" name="Shape 11"/>
          <p:cNvSpPr/>
          <p:nvPr/>
        </p:nvSpPr>
        <p:spPr>
          <a:xfrm>
            <a:off x="486291" y="4104524"/>
            <a:ext cx="46313" cy="2500923"/>
          </a:xfrm>
          <a:custGeom>
            <a:avLst/>
            <a:gdLst/>
            <a:ahLst/>
            <a:cxnLst/>
            <a:rect l="l" t="t" r="r" b="b"/>
            <a:pathLst>
              <a:path w="46313" h="2500923">
                <a:moveTo>
                  <a:pt x="46313" y="0"/>
                </a:moveTo>
                <a:lnTo>
                  <a:pt x="46313" y="0"/>
                </a:lnTo>
                <a:lnTo>
                  <a:pt x="46313" y="2500923"/>
                </a:lnTo>
                <a:lnTo>
                  <a:pt x="46313" y="2500923"/>
                </a:lnTo>
                <a:cubicBezTo>
                  <a:pt x="20735" y="2500923"/>
                  <a:pt x="0" y="2480188"/>
                  <a:pt x="0" y="2454610"/>
                </a:cubicBezTo>
                <a:lnTo>
                  <a:pt x="0" y="46313"/>
                </a:lnTo>
                <a:cubicBezTo>
                  <a:pt x="0" y="20752"/>
                  <a:pt x="20752" y="0"/>
                  <a:pt x="46313" y="0"/>
                </a:cubicBezTo>
                <a:close/>
              </a:path>
            </a:pathLst>
          </a:custGeom>
          <a:solidFill>
            <a:srgbClr val="7E9AA8"/>
          </a:solidFill>
          <a:ln/>
        </p:spPr>
      </p:sp>
      <p:sp>
        <p:nvSpPr>
          <p:cNvPr id="14" name="Text 12"/>
          <p:cNvSpPr/>
          <p:nvPr/>
        </p:nvSpPr>
        <p:spPr>
          <a:xfrm>
            <a:off x="694701" y="4289778"/>
            <a:ext cx="7271202" cy="370507"/>
          </a:xfrm>
          <a:prstGeom prst="rect">
            <a:avLst/>
          </a:prstGeom>
          <a:noFill/>
          <a:ln/>
        </p:spPr>
        <p:txBody>
          <a:bodyPr wrap="square" lIns="0" tIns="0" rIns="0" bIns="0" rtlCol="0" anchor="ctr"/>
          <a:lstStyle/>
          <a:p>
            <a:pPr>
              <a:lnSpc>
                <a:spcPct val="110000"/>
              </a:lnSpc>
            </a:pPr>
            <a:r>
              <a:rPr lang="en-US" sz="2188" b="1" dirty="0">
                <a:solidFill>
                  <a:srgbClr val="7E9AA8"/>
                </a:solidFill>
                <a:latin typeface="MiSans" pitchFamily="34" charset="0"/>
                <a:ea typeface="MiSans" pitchFamily="34" charset="-122"/>
                <a:cs typeface="MiSans" pitchFamily="34" charset="-120"/>
              </a:rPr>
              <a:t>分类任务OOB误差</a:t>
            </a:r>
            <a:endParaRPr lang="en-US" sz="1600" dirty="0"/>
          </a:p>
        </p:txBody>
      </p:sp>
      <p:sp>
        <p:nvSpPr>
          <p:cNvPr id="15" name="Text 13"/>
          <p:cNvSpPr/>
          <p:nvPr/>
        </p:nvSpPr>
        <p:spPr>
          <a:xfrm>
            <a:off x="694701" y="4799225"/>
            <a:ext cx="7224889" cy="602074"/>
          </a:xfrm>
          <a:prstGeom prst="rect">
            <a:avLst/>
          </a:prstGeom>
          <a:noFill/>
          <a:ln/>
        </p:spPr>
        <p:txBody>
          <a:bodyPr wrap="square" lIns="0" tIns="0" rIns="0" bIns="0" rtlCol="0" anchor="ctr"/>
          <a:lstStyle/>
          <a:p>
            <a:pPr>
              <a:lnSpc>
                <a:spcPct val="140000"/>
              </a:lnSpc>
            </a:pPr>
            <a:r>
              <a:rPr lang="en-US" sz="1459" dirty="0">
                <a:solidFill>
                  <a:srgbClr val="D1D5DB"/>
                </a:solidFill>
                <a:latin typeface="MiSans" pitchFamily="34" charset="0"/>
                <a:ea typeface="MiSans" pitchFamily="34" charset="-122"/>
                <a:cs typeface="MiSans" pitchFamily="34" charset="-120"/>
              </a:rPr>
              <a:t>OOB Error是所有样本的误分类率平均值。对每个样本用未包含它的树预测结果，计算整体误差。</a:t>
            </a:r>
            <a:endParaRPr lang="en-US" sz="1600" dirty="0"/>
          </a:p>
        </p:txBody>
      </p:sp>
      <p:sp>
        <p:nvSpPr>
          <p:cNvPr id="16" name="Shape 14"/>
          <p:cNvSpPr/>
          <p:nvPr/>
        </p:nvSpPr>
        <p:spPr>
          <a:xfrm>
            <a:off x="694701" y="5540239"/>
            <a:ext cx="7132262" cy="555761"/>
          </a:xfrm>
          <a:custGeom>
            <a:avLst/>
            <a:gdLst/>
            <a:ahLst/>
            <a:cxnLst/>
            <a:rect l="l" t="t" r="r" b="b"/>
            <a:pathLst>
              <a:path w="7132262" h="555761">
                <a:moveTo>
                  <a:pt x="46312" y="0"/>
                </a:moveTo>
                <a:lnTo>
                  <a:pt x="7085951" y="0"/>
                </a:lnTo>
                <a:cubicBezTo>
                  <a:pt x="7111528" y="0"/>
                  <a:pt x="7132262" y="20734"/>
                  <a:pt x="7132262" y="46312"/>
                </a:cubicBezTo>
                <a:lnTo>
                  <a:pt x="7132262" y="509449"/>
                </a:lnTo>
                <a:cubicBezTo>
                  <a:pt x="7132262" y="535026"/>
                  <a:pt x="7111528" y="555761"/>
                  <a:pt x="7085951" y="555761"/>
                </a:cubicBezTo>
                <a:lnTo>
                  <a:pt x="46312" y="555761"/>
                </a:lnTo>
                <a:cubicBezTo>
                  <a:pt x="20734" y="555761"/>
                  <a:pt x="0" y="535026"/>
                  <a:pt x="0" y="509449"/>
                </a:cubicBezTo>
                <a:lnTo>
                  <a:pt x="0" y="46312"/>
                </a:lnTo>
                <a:cubicBezTo>
                  <a:pt x="0" y="20752"/>
                  <a:pt x="20752" y="0"/>
                  <a:pt x="46312" y="0"/>
                </a:cubicBezTo>
                <a:close/>
              </a:path>
            </a:pathLst>
          </a:custGeom>
          <a:solidFill>
            <a:srgbClr val="181A1F"/>
          </a:solidFill>
          <a:ln/>
        </p:spPr>
      </p:sp>
      <p:sp>
        <p:nvSpPr>
          <p:cNvPr id="17" name="Text 15"/>
          <p:cNvSpPr/>
          <p:nvPr/>
        </p:nvSpPr>
        <p:spPr>
          <a:xfrm>
            <a:off x="787328" y="5679179"/>
            <a:ext cx="6947009" cy="277880"/>
          </a:xfrm>
          <a:prstGeom prst="rect">
            <a:avLst/>
          </a:prstGeom>
          <a:noFill/>
          <a:ln/>
        </p:spPr>
        <p:txBody>
          <a:bodyPr wrap="square" lIns="0" tIns="0" rIns="0" bIns="0" rtlCol="0" anchor="ctr"/>
          <a:lstStyle/>
          <a:p>
            <a:pPr algn="ctr">
              <a:lnSpc>
                <a:spcPct val="130000"/>
              </a:lnSpc>
            </a:pPr>
            <a:r>
              <a:rPr lang="en-US" sz="1459" dirty="0">
                <a:solidFill>
                  <a:srgbClr val="7E9AA8"/>
                </a:solidFill>
                <a:latin typeface="MiSans" pitchFamily="34" charset="0"/>
                <a:ea typeface="MiSans" pitchFamily="34" charset="-122"/>
                <a:cs typeface="MiSans" pitchFamily="34" charset="-120"/>
              </a:rPr>
              <a:t>OOB Error = (1/n) ∑ I(y_i ≠ ŷ_i)</a:t>
            </a:r>
            <a:endParaRPr lang="en-US" sz="1600" dirty="0"/>
          </a:p>
        </p:txBody>
      </p:sp>
      <p:sp>
        <p:nvSpPr>
          <p:cNvPr id="18" name="Text 16"/>
          <p:cNvSpPr/>
          <p:nvPr/>
        </p:nvSpPr>
        <p:spPr>
          <a:xfrm>
            <a:off x="694701" y="6188627"/>
            <a:ext cx="7213311" cy="231567"/>
          </a:xfrm>
          <a:prstGeom prst="rect">
            <a:avLst/>
          </a:prstGeom>
          <a:noFill/>
          <a:ln/>
        </p:spPr>
        <p:txBody>
          <a:bodyPr wrap="square" lIns="0" tIns="0" rIns="0" bIns="0" rtlCol="0" anchor="ctr"/>
          <a:lstStyle/>
          <a:p>
            <a:pPr>
              <a:lnSpc>
                <a:spcPct val="120000"/>
              </a:lnSpc>
            </a:pPr>
            <a:r>
              <a:rPr lang="en-US" sz="1276" b="1" dirty="0">
                <a:solidFill>
                  <a:srgbClr val="D1D5DB"/>
                </a:solidFill>
                <a:latin typeface="MiSans" pitchFamily="34" charset="0"/>
                <a:ea typeface="MiSans" pitchFamily="34" charset="-122"/>
                <a:cs typeface="MiSans" pitchFamily="34" charset="-120"/>
              </a:rPr>
              <a:t>其中：</a:t>
            </a:r>
            <a:pPr>
              <a:lnSpc>
                <a:spcPct val="120000"/>
              </a:lnSpc>
            </a:pPr>
            <a:r>
              <a:rPr lang="en-US" sz="1276" dirty="0">
                <a:solidFill>
                  <a:srgbClr val="7E9AA8"/>
                </a:solidFill>
                <a:latin typeface="MiSans" pitchFamily="34" charset="0"/>
                <a:ea typeface="MiSans" pitchFamily="34" charset="-122"/>
                <a:cs typeface="MiSans" pitchFamily="34" charset="-120"/>
              </a:rPr>
              <a:t>ŷ_i是样本x_i的OOB预测（仅使用未包含x_i的树）</a:t>
            </a:r>
            <a:endParaRPr lang="en-US" sz="1600" dirty="0"/>
          </a:p>
        </p:txBody>
      </p:sp>
      <p:sp>
        <p:nvSpPr>
          <p:cNvPr id="19" name="Shape 17"/>
          <p:cNvSpPr/>
          <p:nvPr/>
        </p:nvSpPr>
        <p:spPr>
          <a:xfrm>
            <a:off x="8269473" y="1667282"/>
            <a:ext cx="7525926" cy="2500923"/>
          </a:xfrm>
          <a:custGeom>
            <a:avLst/>
            <a:gdLst/>
            <a:ahLst/>
            <a:cxnLst/>
            <a:rect l="l" t="t" r="r" b="b"/>
            <a:pathLst>
              <a:path w="7525926" h="2500923">
                <a:moveTo>
                  <a:pt x="46313" y="0"/>
                </a:moveTo>
                <a:lnTo>
                  <a:pt x="7433292" y="0"/>
                </a:lnTo>
                <a:cubicBezTo>
                  <a:pt x="7484452" y="0"/>
                  <a:pt x="7525926" y="41474"/>
                  <a:pt x="7525926" y="92634"/>
                </a:cubicBezTo>
                <a:lnTo>
                  <a:pt x="7525926" y="2408289"/>
                </a:lnTo>
                <a:cubicBezTo>
                  <a:pt x="7525926" y="2459449"/>
                  <a:pt x="7484452" y="2500923"/>
                  <a:pt x="7433292" y="2500923"/>
                </a:cubicBezTo>
                <a:lnTo>
                  <a:pt x="46313" y="2500923"/>
                </a:lnTo>
                <a:cubicBezTo>
                  <a:pt x="20735" y="2500923"/>
                  <a:pt x="0" y="2480188"/>
                  <a:pt x="0" y="2454610"/>
                </a:cubicBezTo>
                <a:lnTo>
                  <a:pt x="0" y="46313"/>
                </a:lnTo>
                <a:cubicBezTo>
                  <a:pt x="0" y="20752"/>
                  <a:pt x="20752" y="0"/>
                  <a:pt x="46313" y="0"/>
                </a:cubicBezTo>
                <a:close/>
              </a:path>
            </a:pathLst>
          </a:custGeom>
          <a:solidFill>
            <a:srgbClr val="3A5E78">
              <a:alpha val="20000"/>
            </a:srgbClr>
          </a:solidFill>
          <a:ln/>
        </p:spPr>
      </p:sp>
      <p:sp>
        <p:nvSpPr>
          <p:cNvPr id="20" name="Shape 18"/>
          <p:cNvSpPr/>
          <p:nvPr/>
        </p:nvSpPr>
        <p:spPr>
          <a:xfrm>
            <a:off x="8269473" y="1667282"/>
            <a:ext cx="46313" cy="2500923"/>
          </a:xfrm>
          <a:custGeom>
            <a:avLst/>
            <a:gdLst/>
            <a:ahLst/>
            <a:cxnLst/>
            <a:rect l="l" t="t" r="r" b="b"/>
            <a:pathLst>
              <a:path w="46313" h="2500923">
                <a:moveTo>
                  <a:pt x="46313" y="0"/>
                </a:moveTo>
                <a:lnTo>
                  <a:pt x="46313" y="0"/>
                </a:lnTo>
                <a:lnTo>
                  <a:pt x="46313" y="2500923"/>
                </a:lnTo>
                <a:lnTo>
                  <a:pt x="46313" y="2500923"/>
                </a:lnTo>
                <a:cubicBezTo>
                  <a:pt x="20735" y="2500923"/>
                  <a:pt x="0" y="2480188"/>
                  <a:pt x="0" y="2454610"/>
                </a:cubicBezTo>
                <a:lnTo>
                  <a:pt x="0" y="46313"/>
                </a:lnTo>
                <a:cubicBezTo>
                  <a:pt x="0" y="20752"/>
                  <a:pt x="20752" y="0"/>
                  <a:pt x="46313" y="0"/>
                </a:cubicBezTo>
                <a:close/>
              </a:path>
            </a:pathLst>
          </a:custGeom>
          <a:solidFill>
            <a:srgbClr val="4C7E9A"/>
          </a:solidFill>
          <a:ln/>
        </p:spPr>
      </p:sp>
      <p:sp>
        <p:nvSpPr>
          <p:cNvPr id="21" name="Text 19"/>
          <p:cNvSpPr/>
          <p:nvPr/>
        </p:nvSpPr>
        <p:spPr>
          <a:xfrm>
            <a:off x="8477883" y="1852536"/>
            <a:ext cx="7271202" cy="370507"/>
          </a:xfrm>
          <a:prstGeom prst="rect">
            <a:avLst/>
          </a:prstGeom>
          <a:noFill/>
          <a:ln/>
        </p:spPr>
        <p:txBody>
          <a:bodyPr wrap="square" lIns="0" tIns="0" rIns="0" bIns="0" rtlCol="0" anchor="ctr"/>
          <a:lstStyle/>
          <a:p>
            <a:pPr>
              <a:lnSpc>
                <a:spcPct val="110000"/>
              </a:lnSpc>
            </a:pPr>
            <a:r>
              <a:rPr lang="en-US" sz="2188" b="1" dirty="0">
                <a:solidFill>
                  <a:srgbClr val="4C7E9A"/>
                </a:solidFill>
                <a:latin typeface="MiSans" pitchFamily="34" charset="0"/>
                <a:ea typeface="MiSans" pitchFamily="34" charset="-122"/>
                <a:cs typeface="MiSans" pitchFamily="34" charset="-120"/>
              </a:rPr>
              <a:t>回归任务OOB误差</a:t>
            </a:r>
            <a:endParaRPr lang="en-US" sz="1600" dirty="0"/>
          </a:p>
        </p:txBody>
      </p:sp>
      <p:sp>
        <p:nvSpPr>
          <p:cNvPr id="22" name="Text 20"/>
          <p:cNvSpPr/>
          <p:nvPr/>
        </p:nvSpPr>
        <p:spPr>
          <a:xfrm>
            <a:off x="8477883" y="2361983"/>
            <a:ext cx="7224889" cy="602074"/>
          </a:xfrm>
          <a:prstGeom prst="rect">
            <a:avLst/>
          </a:prstGeom>
          <a:noFill/>
          <a:ln/>
        </p:spPr>
        <p:txBody>
          <a:bodyPr wrap="square" lIns="0" tIns="0" rIns="0" bIns="0" rtlCol="0" anchor="ctr"/>
          <a:lstStyle/>
          <a:p>
            <a:pPr>
              <a:lnSpc>
                <a:spcPct val="140000"/>
              </a:lnSpc>
            </a:pPr>
            <a:r>
              <a:rPr lang="en-US" sz="1459" dirty="0">
                <a:solidFill>
                  <a:srgbClr val="D1D5DB"/>
                </a:solidFill>
                <a:latin typeface="MiSans" pitchFamily="34" charset="0"/>
                <a:ea typeface="MiSans" pitchFamily="34" charset="-122"/>
                <a:cs typeface="MiSans" pitchFamily="34" charset="-120"/>
              </a:rPr>
              <a:t>使用均方误差（MSE）计算。对每个样本用未包含它的树预测，计算与真实值的平方误差。</a:t>
            </a:r>
            <a:endParaRPr lang="en-US" sz="1600" dirty="0"/>
          </a:p>
        </p:txBody>
      </p:sp>
      <p:sp>
        <p:nvSpPr>
          <p:cNvPr id="23" name="Shape 21"/>
          <p:cNvSpPr/>
          <p:nvPr/>
        </p:nvSpPr>
        <p:spPr>
          <a:xfrm>
            <a:off x="8477883" y="3102997"/>
            <a:ext cx="7132262" cy="555761"/>
          </a:xfrm>
          <a:custGeom>
            <a:avLst/>
            <a:gdLst/>
            <a:ahLst/>
            <a:cxnLst/>
            <a:rect l="l" t="t" r="r" b="b"/>
            <a:pathLst>
              <a:path w="7132262" h="555761">
                <a:moveTo>
                  <a:pt x="46312" y="0"/>
                </a:moveTo>
                <a:lnTo>
                  <a:pt x="7085951" y="0"/>
                </a:lnTo>
                <a:cubicBezTo>
                  <a:pt x="7111528" y="0"/>
                  <a:pt x="7132262" y="20734"/>
                  <a:pt x="7132262" y="46312"/>
                </a:cubicBezTo>
                <a:lnTo>
                  <a:pt x="7132262" y="509449"/>
                </a:lnTo>
                <a:cubicBezTo>
                  <a:pt x="7132262" y="535026"/>
                  <a:pt x="7111528" y="555761"/>
                  <a:pt x="7085951" y="555761"/>
                </a:cubicBezTo>
                <a:lnTo>
                  <a:pt x="46312" y="555761"/>
                </a:lnTo>
                <a:cubicBezTo>
                  <a:pt x="20734" y="555761"/>
                  <a:pt x="0" y="535026"/>
                  <a:pt x="0" y="509449"/>
                </a:cubicBezTo>
                <a:lnTo>
                  <a:pt x="0" y="46312"/>
                </a:lnTo>
                <a:cubicBezTo>
                  <a:pt x="0" y="20752"/>
                  <a:pt x="20752" y="0"/>
                  <a:pt x="46312" y="0"/>
                </a:cubicBezTo>
                <a:close/>
              </a:path>
            </a:pathLst>
          </a:custGeom>
          <a:solidFill>
            <a:srgbClr val="181A1F"/>
          </a:solidFill>
          <a:ln/>
        </p:spPr>
      </p:sp>
      <p:sp>
        <p:nvSpPr>
          <p:cNvPr id="24" name="Text 22"/>
          <p:cNvSpPr/>
          <p:nvPr/>
        </p:nvSpPr>
        <p:spPr>
          <a:xfrm>
            <a:off x="8570510" y="3241937"/>
            <a:ext cx="6947009" cy="277880"/>
          </a:xfrm>
          <a:prstGeom prst="rect">
            <a:avLst/>
          </a:prstGeom>
          <a:noFill/>
          <a:ln/>
        </p:spPr>
        <p:txBody>
          <a:bodyPr wrap="square" lIns="0" tIns="0" rIns="0" bIns="0" rtlCol="0" anchor="ctr"/>
          <a:lstStyle/>
          <a:p>
            <a:pPr algn="ctr">
              <a:lnSpc>
                <a:spcPct val="130000"/>
              </a:lnSpc>
            </a:pPr>
            <a:r>
              <a:rPr lang="en-US" sz="1459" dirty="0">
                <a:solidFill>
                  <a:srgbClr val="7E9AA8"/>
                </a:solidFill>
                <a:latin typeface="MiSans" pitchFamily="34" charset="0"/>
                <a:ea typeface="MiSans" pitchFamily="34" charset="-122"/>
                <a:cs typeface="MiSans" pitchFamily="34" charset="-120"/>
              </a:rPr>
              <a:t>OOB MSE = (1/n) ∑ (y_i - ŷ_i)²</a:t>
            </a:r>
            <a:endParaRPr lang="en-US" sz="1600" dirty="0"/>
          </a:p>
        </p:txBody>
      </p:sp>
      <p:sp>
        <p:nvSpPr>
          <p:cNvPr id="25" name="Text 23"/>
          <p:cNvSpPr/>
          <p:nvPr/>
        </p:nvSpPr>
        <p:spPr>
          <a:xfrm>
            <a:off x="8477883" y="3751385"/>
            <a:ext cx="7213311" cy="231567"/>
          </a:xfrm>
          <a:prstGeom prst="rect">
            <a:avLst/>
          </a:prstGeom>
          <a:noFill/>
          <a:ln/>
        </p:spPr>
        <p:txBody>
          <a:bodyPr wrap="square" lIns="0" tIns="0" rIns="0" bIns="0" rtlCol="0" anchor="ctr"/>
          <a:lstStyle/>
          <a:p>
            <a:pPr>
              <a:lnSpc>
                <a:spcPct val="120000"/>
              </a:lnSpc>
            </a:pPr>
            <a:r>
              <a:rPr lang="en-US" sz="1276" b="1" dirty="0">
                <a:solidFill>
                  <a:srgbClr val="D1D5DB"/>
                </a:solidFill>
                <a:latin typeface="MiSans" pitchFamily="34" charset="0"/>
                <a:ea typeface="MiSans" pitchFamily="34" charset="-122"/>
                <a:cs typeface="MiSans" pitchFamily="34" charset="-120"/>
              </a:rPr>
              <a:t>其中：</a:t>
            </a:r>
            <a:pPr>
              <a:lnSpc>
                <a:spcPct val="120000"/>
              </a:lnSpc>
            </a:pPr>
            <a:r>
              <a:rPr lang="en-US" sz="1276" dirty="0">
                <a:solidFill>
                  <a:srgbClr val="7E9AA8"/>
                </a:solidFill>
                <a:latin typeface="MiSans" pitchFamily="34" charset="0"/>
                <a:ea typeface="MiSans" pitchFamily="34" charset="-122"/>
                <a:cs typeface="MiSans" pitchFamily="34" charset="-120"/>
              </a:rPr>
              <a:t>ŷ_i是样本x_i的OOB预测值</a:t>
            </a:r>
            <a:endParaRPr lang="en-US" sz="1600" dirty="0"/>
          </a:p>
        </p:txBody>
      </p:sp>
      <p:sp>
        <p:nvSpPr>
          <p:cNvPr id="26" name="Shape 24"/>
          <p:cNvSpPr/>
          <p:nvPr/>
        </p:nvSpPr>
        <p:spPr>
          <a:xfrm>
            <a:off x="8269473" y="4353459"/>
            <a:ext cx="7525926" cy="2732490"/>
          </a:xfrm>
          <a:custGeom>
            <a:avLst/>
            <a:gdLst/>
            <a:ahLst/>
            <a:cxnLst/>
            <a:rect l="l" t="t" r="r" b="b"/>
            <a:pathLst>
              <a:path w="7525926" h="2732490">
                <a:moveTo>
                  <a:pt x="46313" y="0"/>
                </a:moveTo>
                <a:lnTo>
                  <a:pt x="7433295" y="0"/>
                </a:lnTo>
                <a:cubicBezTo>
                  <a:pt x="7484453" y="0"/>
                  <a:pt x="7525926" y="41472"/>
                  <a:pt x="7525926" y="92631"/>
                </a:cubicBezTo>
                <a:lnTo>
                  <a:pt x="7525926" y="2639859"/>
                </a:lnTo>
                <a:cubicBezTo>
                  <a:pt x="7525926" y="2691018"/>
                  <a:pt x="7484453" y="2732490"/>
                  <a:pt x="7433295" y="2732490"/>
                </a:cubicBezTo>
                <a:lnTo>
                  <a:pt x="46313" y="2732490"/>
                </a:lnTo>
                <a:cubicBezTo>
                  <a:pt x="20735" y="2732490"/>
                  <a:pt x="0" y="2711755"/>
                  <a:pt x="0" y="2686177"/>
                </a:cubicBezTo>
                <a:lnTo>
                  <a:pt x="0" y="46313"/>
                </a:lnTo>
                <a:cubicBezTo>
                  <a:pt x="0" y="20752"/>
                  <a:pt x="20752" y="0"/>
                  <a:pt x="46313" y="0"/>
                </a:cubicBezTo>
                <a:close/>
              </a:path>
            </a:pathLst>
          </a:custGeom>
          <a:solidFill>
            <a:srgbClr val="3A5E78">
              <a:alpha val="20000"/>
            </a:srgbClr>
          </a:solidFill>
          <a:ln/>
        </p:spPr>
      </p:sp>
      <p:sp>
        <p:nvSpPr>
          <p:cNvPr id="27" name="Shape 25"/>
          <p:cNvSpPr/>
          <p:nvPr/>
        </p:nvSpPr>
        <p:spPr>
          <a:xfrm>
            <a:off x="8269473" y="4353459"/>
            <a:ext cx="46313" cy="2732490"/>
          </a:xfrm>
          <a:custGeom>
            <a:avLst/>
            <a:gdLst/>
            <a:ahLst/>
            <a:cxnLst/>
            <a:rect l="l" t="t" r="r" b="b"/>
            <a:pathLst>
              <a:path w="46313" h="2732490">
                <a:moveTo>
                  <a:pt x="46313" y="0"/>
                </a:moveTo>
                <a:lnTo>
                  <a:pt x="46313" y="0"/>
                </a:lnTo>
                <a:lnTo>
                  <a:pt x="46313" y="2732490"/>
                </a:lnTo>
                <a:lnTo>
                  <a:pt x="46313" y="2732490"/>
                </a:lnTo>
                <a:cubicBezTo>
                  <a:pt x="20735" y="2732490"/>
                  <a:pt x="0" y="2711755"/>
                  <a:pt x="0" y="2686177"/>
                </a:cubicBezTo>
                <a:lnTo>
                  <a:pt x="0" y="46313"/>
                </a:lnTo>
                <a:cubicBezTo>
                  <a:pt x="0" y="20752"/>
                  <a:pt x="20752" y="0"/>
                  <a:pt x="46313" y="0"/>
                </a:cubicBezTo>
                <a:close/>
              </a:path>
            </a:pathLst>
          </a:custGeom>
          <a:solidFill>
            <a:srgbClr val="7E9AA8"/>
          </a:solidFill>
          <a:ln/>
        </p:spPr>
      </p:sp>
      <p:sp>
        <p:nvSpPr>
          <p:cNvPr id="28" name="Text 26"/>
          <p:cNvSpPr/>
          <p:nvPr/>
        </p:nvSpPr>
        <p:spPr>
          <a:xfrm>
            <a:off x="8477883" y="4538712"/>
            <a:ext cx="7271202" cy="370507"/>
          </a:xfrm>
          <a:prstGeom prst="rect">
            <a:avLst/>
          </a:prstGeom>
          <a:noFill/>
          <a:ln/>
        </p:spPr>
        <p:txBody>
          <a:bodyPr wrap="square" lIns="0" tIns="0" rIns="0" bIns="0" rtlCol="0" anchor="ctr"/>
          <a:lstStyle/>
          <a:p>
            <a:pPr>
              <a:lnSpc>
                <a:spcPct val="110000"/>
              </a:lnSpc>
            </a:pPr>
            <a:r>
              <a:rPr lang="en-US" sz="2188" b="1" dirty="0">
                <a:solidFill>
                  <a:srgbClr val="7E9AA8"/>
                </a:solidFill>
                <a:latin typeface="MiSans" pitchFamily="34" charset="0"/>
                <a:ea typeface="MiSans" pitchFamily="34" charset="-122"/>
                <a:cs typeface="MiSans" pitchFamily="34" charset="-120"/>
              </a:rPr>
              <a:t>OOB优势</a:t>
            </a:r>
            <a:endParaRPr lang="en-US" sz="1600" dirty="0"/>
          </a:p>
        </p:txBody>
      </p:sp>
      <p:sp>
        <p:nvSpPr>
          <p:cNvPr id="29" name="Shape 27"/>
          <p:cNvSpPr/>
          <p:nvPr/>
        </p:nvSpPr>
        <p:spPr>
          <a:xfrm>
            <a:off x="8521302" y="5094473"/>
            <a:ext cx="202621" cy="231567"/>
          </a:xfrm>
          <a:custGeom>
            <a:avLst/>
            <a:gdLst/>
            <a:ahLst/>
            <a:cxnLst/>
            <a:rect l="l" t="t" r="r" b="b"/>
            <a:pathLst>
              <a:path w="202621" h="231567">
                <a:moveTo>
                  <a:pt x="196651" y="31705"/>
                </a:moveTo>
                <a:cubicBezTo>
                  <a:pt x="203119" y="36408"/>
                  <a:pt x="204566" y="45454"/>
                  <a:pt x="199862" y="51922"/>
                </a:cubicBezTo>
                <a:lnTo>
                  <a:pt x="84079" y="211124"/>
                </a:lnTo>
                <a:cubicBezTo>
                  <a:pt x="81591" y="214561"/>
                  <a:pt x="77747" y="216687"/>
                  <a:pt x="73495" y="217049"/>
                </a:cubicBezTo>
                <a:cubicBezTo>
                  <a:pt x="69244" y="217411"/>
                  <a:pt x="65128" y="215828"/>
                  <a:pt x="62143" y="212843"/>
                </a:cubicBezTo>
                <a:lnTo>
                  <a:pt x="4251" y="154951"/>
                </a:lnTo>
                <a:cubicBezTo>
                  <a:pt x="-1402" y="149297"/>
                  <a:pt x="-1402" y="140116"/>
                  <a:pt x="4251" y="134463"/>
                </a:cubicBezTo>
                <a:cubicBezTo>
                  <a:pt x="9905" y="128809"/>
                  <a:pt x="19086" y="128809"/>
                  <a:pt x="24740" y="134463"/>
                </a:cubicBezTo>
                <a:lnTo>
                  <a:pt x="70646" y="180369"/>
                </a:lnTo>
                <a:lnTo>
                  <a:pt x="176479" y="34871"/>
                </a:lnTo>
                <a:cubicBezTo>
                  <a:pt x="181183" y="28403"/>
                  <a:pt x="190229" y="26956"/>
                  <a:pt x="196696" y="31660"/>
                </a:cubicBezTo>
                <a:close/>
              </a:path>
            </a:pathLst>
          </a:custGeom>
          <a:solidFill>
            <a:srgbClr val="4C7E9A"/>
          </a:solidFill>
          <a:ln/>
        </p:spPr>
      </p:sp>
      <p:sp>
        <p:nvSpPr>
          <p:cNvPr id="30" name="Text 28"/>
          <p:cNvSpPr/>
          <p:nvPr/>
        </p:nvSpPr>
        <p:spPr>
          <a:xfrm>
            <a:off x="8906282" y="5048160"/>
            <a:ext cx="1563077"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无需额外验证集</a:t>
            </a:r>
            <a:endParaRPr lang="en-US" sz="1600" dirty="0"/>
          </a:p>
        </p:txBody>
      </p:sp>
      <p:sp>
        <p:nvSpPr>
          <p:cNvPr id="31" name="Text 29"/>
          <p:cNvSpPr/>
          <p:nvPr/>
        </p:nvSpPr>
        <p:spPr>
          <a:xfrm>
            <a:off x="8906282" y="5372353"/>
            <a:ext cx="1539920" cy="231567"/>
          </a:xfrm>
          <a:prstGeom prst="rect">
            <a:avLst/>
          </a:prstGeom>
          <a:noFill/>
          <a:ln/>
        </p:spPr>
        <p:txBody>
          <a:bodyPr wrap="square" lIns="0" tIns="0" rIns="0" bIns="0" rtlCol="0" anchor="ctr"/>
          <a:lstStyle/>
          <a:p>
            <a:pPr>
              <a:lnSpc>
                <a:spcPct val="120000"/>
              </a:lnSpc>
            </a:pPr>
            <a:r>
              <a:rPr lang="en-US" sz="1276" dirty="0">
                <a:solidFill>
                  <a:srgbClr val="7E9AA8"/>
                </a:solidFill>
                <a:latin typeface="MiSans" pitchFamily="34" charset="0"/>
                <a:ea typeface="MiSans" pitchFamily="34" charset="-122"/>
                <a:cs typeface="MiSans" pitchFamily="34" charset="-120"/>
              </a:rPr>
              <a:t>提高数据利用效率</a:t>
            </a:r>
            <a:endParaRPr lang="en-US" sz="1600" dirty="0"/>
          </a:p>
        </p:txBody>
      </p:sp>
      <p:sp>
        <p:nvSpPr>
          <p:cNvPr id="32" name="Shape 30"/>
          <p:cNvSpPr/>
          <p:nvPr/>
        </p:nvSpPr>
        <p:spPr>
          <a:xfrm>
            <a:off x="8506829" y="5742860"/>
            <a:ext cx="231567" cy="231567"/>
          </a:xfrm>
          <a:custGeom>
            <a:avLst/>
            <a:gdLst/>
            <a:ahLst/>
            <a:cxnLst/>
            <a:rect l="l" t="t" r="r" b="b"/>
            <a:pathLst>
              <a:path w="231567" h="231567">
                <a:moveTo>
                  <a:pt x="217139" y="86838"/>
                </a:moveTo>
                <a:lnTo>
                  <a:pt x="220712" y="86838"/>
                </a:lnTo>
                <a:cubicBezTo>
                  <a:pt x="226728" y="86838"/>
                  <a:pt x="231567" y="81998"/>
                  <a:pt x="231567" y="75983"/>
                </a:cubicBezTo>
                <a:lnTo>
                  <a:pt x="231567" y="10855"/>
                </a:lnTo>
                <a:cubicBezTo>
                  <a:pt x="231567" y="6468"/>
                  <a:pt x="228944" y="2488"/>
                  <a:pt x="224873" y="814"/>
                </a:cubicBezTo>
                <a:cubicBezTo>
                  <a:pt x="220803" y="-859"/>
                  <a:pt x="216144" y="90"/>
                  <a:pt x="213024" y="3166"/>
                </a:cubicBezTo>
                <a:lnTo>
                  <a:pt x="189641" y="26594"/>
                </a:lnTo>
                <a:cubicBezTo>
                  <a:pt x="169605" y="9995"/>
                  <a:pt x="143825" y="0"/>
                  <a:pt x="115783" y="0"/>
                </a:cubicBezTo>
                <a:cubicBezTo>
                  <a:pt x="57439" y="0"/>
                  <a:pt x="9181" y="43147"/>
                  <a:pt x="1176" y="99275"/>
                </a:cubicBezTo>
                <a:cubicBezTo>
                  <a:pt x="45" y="107190"/>
                  <a:pt x="5518" y="114517"/>
                  <a:pt x="13433" y="115648"/>
                </a:cubicBezTo>
                <a:cubicBezTo>
                  <a:pt x="21348" y="116778"/>
                  <a:pt x="28675" y="111261"/>
                  <a:pt x="29805" y="103391"/>
                </a:cubicBezTo>
                <a:cubicBezTo>
                  <a:pt x="35821" y="61284"/>
                  <a:pt x="72048" y="28946"/>
                  <a:pt x="115783" y="28946"/>
                </a:cubicBezTo>
                <a:cubicBezTo>
                  <a:pt x="135865" y="28946"/>
                  <a:pt x="154318" y="35730"/>
                  <a:pt x="169017" y="47173"/>
                </a:cubicBezTo>
                <a:lnTo>
                  <a:pt x="147895" y="68294"/>
                </a:lnTo>
                <a:cubicBezTo>
                  <a:pt x="144775" y="71415"/>
                  <a:pt x="143870" y="76073"/>
                  <a:pt x="145543" y="80144"/>
                </a:cubicBezTo>
                <a:cubicBezTo>
                  <a:pt x="147217" y="84214"/>
                  <a:pt x="151197" y="86838"/>
                  <a:pt x="155584" y="86838"/>
                </a:cubicBezTo>
                <a:lnTo>
                  <a:pt x="217139" y="86838"/>
                </a:lnTo>
                <a:close/>
                <a:moveTo>
                  <a:pt x="230436" y="132292"/>
                </a:moveTo>
                <a:cubicBezTo>
                  <a:pt x="231567" y="124377"/>
                  <a:pt x="226049" y="117050"/>
                  <a:pt x="218179" y="115919"/>
                </a:cubicBezTo>
                <a:cubicBezTo>
                  <a:pt x="210310" y="114788"/>
                  <a:pt x="202938" y="120306"/>
                  <a:pt x="201807" y="128176"/>
                </a:cubicBezTo>
                <a:cubicBezTo>
                  <a:pt x="195792" y="170238"/>
                  <a:pt x="159564" y="202576"/>
                  <a:pt x="115829" y="202576"/>
                </a:cubicBezTo>
                <a:cubicBezTo>
                  <a:pt x="95748" y="202576"/>
                  <a:pt x="77295" y="195792"/>
                  <a:pt x="62595" y="184349"/>
                </a:cubicBezTo>
                <a:lnTo>
                  <a:pt x="83672" y="163273"/>
                </a:lnTo>
                <a:cubicBezTo>
                  <a:pt x="86792" y="160152"/>
                  <a:pt x="87697" y="155494"/>
                  <a:pt x="86024" y="151423"/>
                </a:cubicBezTo>
                <a:cubicBezTo>
                  <a:pt x="84350" y="147353"/>
                  <a:pt x="80370" y="144729"/>
                  <a:pt x="75983" y="144729"/>
                </a:cubicBezTo>
                <a:lnTo>
                  <a:pt x="10855" y="144729"/>
                </a:lnTo>
                <a:cubicBezTo>
                  <a:pt x="4839" y="144729"/>
                  <a:pt x="0" y="149569"/>
                  <a:pt x="0" y="155584"/>
                </a:cubicBezTo>
                <a:lnTo>
                  <a:pt x="0" y="220712"/>
                </a:lnTo>
                <a:cubicBezTo>
                  <a:pt x="0" y="225099"/>
                  <a:pt x="2623" y="229079"/>
                  <a:pt x="6694" y="230753"/>
                </a:cubicBezTo>
                <a:cubicBezTo>
                  <a:pt x="10764" y="232426"/>
                  <a:pt x="15423" y="231476"/>
                  <a:pt x="18543" y="228401"/>
                </a:cubicBezTo>
                <a:lnTo>
                  <a:pt x="41972" y="204973"/>
                </a:lnTo>
                <a:cubicBezTo>
                  <a:pt x="61962" y="221572"/>
                  <a:pt x="87742" y="231567"/>
                  <a:pt x="115783" y="231567"/>
                </a:cubicBezTo>
                <a:cubicBezTo>
                  <a:pt x="174127" y="231567"/>
                  <a:pt x="222386" y="188420"/>
                  <a:pt x="230391" y="132292"/>
                </a:cubicBezTo>
                <a:close/>
              </a:path>
            </a:pathLst>
          </a:custGeom>
          <a:solidFill>
            <a:srgbClr val="4C7E9A"/>
          </a:solidFill>
          <a:ln/>
        </p:spPr>
      </p:sp>
      <p:sp>
        <p:nvSpPr>
          <p:cNvPr id="33" name="Text 31"/>
          <p:cNvSpPr/>
          <p:nvPr/>
        </p:nvSpPr>
        <p:spPr>
          <a:xfrm>
            <a:off x="8906282" y="5696547"/>
            <a:ext cx="2535658"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训练过程评估</a:t>
            </a:r>
            <a:endParaRPr lang="en-US" sz="1600" dirty="0"/>
          </a:p>
        </p:txBody>
      </p:sp>
      <p:sp>
        <p:nvSpPr>
          <p:cNvPr id="34" name="Text 32"/>
          <p:cNvSpPr/>
          <p:nvPr/>
        </p:nvSpPr>
        <p:spPr>
          <a:xfrm>
            <a:off x="8906282" y="6020741"/>
            <a:ext cx="2512501" cy="231567"/>
          </a:xfrm>
          <a:prstGeom prst="rect">
            <a:avLst/>
          </a:prstGeom>
          <a:noFill/>
          <a:ln/>
        </p:spPr>
        <p:txBody>
          <a:bodyPr wrap="square" lIns="0" tIns="0" rIns="0" bIns="0" rtlCol="0" anchor="ctr"/>
          <a:lstStyle/>
          <a:p>
            <a:pPr>
              <a:lnSpc>
                <a:spcPct val="120000"/>
              </a:lnSpc>
            </a:pPr>
            <a:r>
              <a:rPr lang="en-US" sz="1276" dirty="0">
                <a:solidFill>
                  <a:srgbClr val="7E9AA8"/>
                </a:solidFill>
                <a:latin typeface="MiSans" pitchFamily="34" charset="0"/>
                <a:ea typeface="MiSans" pitchFamily="34" charset="-122"/>
                <a:cs typeface="MiSans" pitchFamily="34" charset="-120"/>
              </a:rPr>
              <a:t>可在训练过程中同时进行性能评估</a:t>
            </a:r>
            <a:endParaRPr lang="en-US" sz="1600" dirty="0"/>
          </a:p>
        </p:txBody>
      </p:sp>
      <p:sp>
        <p:nvSpPr>
          <p:cNvPr id="35" name="Shape 33"/>
          <p:cNvSpPr/>
          <p:nvPr/>
        </p:nvSpPr>
        <p:spPr>
          <a:xfrm>
            <a:off x="8477883" y="6391248"/>
            <a:ext cx="289459" cy="231567"/>
          </a:xfrm>
          <a:custGeom>
            <a:avLst/>
            <a:gdLst/>
            <a:ahLst/>
            <a:cxnLst/>
            <a:rect l="l" t="t" r="r" b="b"/>
            <a:pathLst>
              <a:path w="289459" h="231567">
                <a:moveTo>
                  <a:pt x="173675" y="14473"/>
                </a:moveTo>
                <a:lnTo>
                  <a:pt x="231567" y="14473"/>
                </a:lnTo>
                <a:cubicBezTo>
                  <a:pt x="239572" y="14473"/>
                  <a:pt x="246040" y="20941"/>
                  <a:pt x="246040" y="28946"/>
                </a:cubicBezTo>
                <a:cubicBezTo>
                  <a:pt x="246040" y="36951"/>
                  <a:pt x="239572" y="43419"/>
                  <a:pt x="231567" y="43419"/>
                </a:cubicBezTo>
                <a:lnTo>
                  <a:pt x="180188" y="43419"/>
                </a:lnTo>
                <a:cubicBezTo>
                  <a:pt x="177836" y="55088"/>
                  <a:pt x="169831" y="64721"/>
                  <a:pt x="159202" y="69334"/>
                </a:cubicBezTo>
                <a:lnTo>
                  <a:pt x="159202" y="202621"/>
                </a:lnTo>
                <a:lnTo>
                  <a:pt x="231567" y="202621"/>
                </a:lnTo>
                <a:cubicBezTo>
                  <a:pt x="239572" y="202621"/>
                  <a:pt x="246040" y="209089"/>
                  <a:pt x="246040" y="217094"/>
                </a:cubicBezTo>
                <a:cubicBezTo>
                  <a:pt x="246040" y="225099"/>
                  <a:pt x="239572" y="231567"/>
                  <a:pt x="231567" y="231567"/>
                </a:cubicBezTo>
                <a:lnTo>
                  <a:pt x="57892" y="231567"/>
                </a:lnTo>
                <a:cubicBezTo>
                  <a:pt x="49886" y="231567"/>
                  <a:pt x="43419" y="225099"/>
                  <a:pt x="43419" y="217094"/>
                </a:cubicBezTo>
                <a:cubicBezTo>
                  <a:pt x="43419" y="209089"/>
                  <a:pt x="49886" y="202621"/>
                  <a:pt x="57892" y="202621"/>
                </a:cubicBezTo>
                <a:lnTo>
                  <a:pt x="130256" y="202621"/>
                </a:lnTo>
                <a:lnTo>
                  <a:pt x="130256" y="69334"/>
                </a:lnTo>
                <a:cubicBezTo>
                  <a:pt x="119628" y="64676"/>
                  <a:pt x="111623" y="55042"/>
                  <a:pt x="109271" y="43419"/>
                </a:cubicBezTo>
                <a:lnTo>
                  <a:pt x="57892" y="43419"/>
                </a:lnTo>
                <a:cubicBezTo>
                  <a:pt x="49886" y="43419"/>
                  <a:pt x="43419" y="36951"/>
                  <a:pt x="43419" y="28946"/>
                </a:cubicBezTo>
                <a:cubicBezTo>
                  <a:pt x="43419" y="20941"/>
                  <a:pt x="49886" y="14473"/>
                  <a:pt x="57892" y="14473"/>
                </a:cubicBezTo>
                <a:lnTo>
                  <a:pt x="115783" y="14473"/>
                </a:lnTo>
                <a:cubicBezTo>
                  <a:pt x="122387" y="5699"/>
                  <a:pt x="132880" y="0"/>
                  <a:pt x="144729" y="0"/>
                </a:cubicBezTo>
                <a:cubicBezTo>
                  <a:pt x="156579" y="0"/>
                  <a:pt x="167072" y="5699"/>
                  <a:pt x="173675" y="14473"/>
                </a:cubicBezTo>
                <a:close/>
                <a:moveTo>
                  <a:pt x="198822" y="144729"/>
                </a:moveTo>
                <a:lnTo>
                  <a:pt x="264312" y="144729"/>
                </a:lnTo>
                <a:lnTo>
                  <a:pt x="231567" y="88556"/>
                </a:lnTo>
                <a:lnTo>
                  <a:pt x="198822" y="144729"/>
                </a:lnTo>
                <a:close/>
                <a:moveTo>
                  <a:pt x="231567" y="188148"/>
                </a:moveTo>
                <a:cubicBezTo>
                  <a:pt x="203119" y="188148"/>
                  <a:pt x="179464" y="172771"/>
                  <a:pt x="174580" y="152463"/>
                </a:cubicBezTo>
                <a:cubicBezTo>
                  <a:pt x="173404" y="147488"/>
                  <a:pt x="175032" y="142377"/>
                  <a:pt x="177610" y="137945"/>
                </a:cubicBezTo>
                <a:lnTo>
                  <a:pt x="220667" y="64133"/>
                </a:lnTo>
                <a:cubicBezTo>
                  <a:pt x="222928" y="60244"/>
                  <a:pt x="227089" y="57892"/>
                  <a:pt x="231567" y="57892"/>
                </a:cubicBezTo>
                <a:cubicBezTo>
                  <a:pt x="236045" y="57892"/>
                  <a:pt x="240205" y="60289"/>
                  <a:pt x="242467" y="64133"/>
                </a:cubicBezTo>
                <a:lnTo>
                  <a:pt x="285524" y="137945"/>
                </a:lnTo>
                <a:cubicBezTo>
                  <a:pt x="288102" y="142377"/>
                  <a:pt x="289730" y="147488"/>
                  <a:pt x="288554" y="152463"/>
                </a:cubicBezTo>
                <a:cubicBezTo>
                  <a:pt x="283670" y="172725"/>
                  <a:pt x="260015" y="188148"/>
                  <a:pt x="231567" y="188148"/>
                </a:cubicBezTo>
                <a:close/>
                <a:moveTo>
                  <a:pt x="57349" y="88556"/>
                </a:moveTo>
                <a:lnTo>
                  <a:pt x="24604" y="144729"/>
                </a:lnTo>
                <a:lnTo>
                  <a:pt x="90139" y="144729"/>
                </a:lnTo>
                <a:lnTo>
                  <a:pt x="57349" y="88556"/>
                </a:lnTo>
                <a:close/>
                <a:moveTo>
                  <a:pt x="407" y="152463"/>
                </a:moveTo>
                <a:cubicBezTo>
                  <a:pt x="-769" y="147488"/>
                  <a:pt x="859" y="142377"/>
                  <a:pt x="3437" y="137945"/>
                </a:cubicBezTo>
                <a:lnTo>
                  <a:pt x="46494" y="64133"/>
                </a:lnTo>
                <a:cubicBezTo>
                  <a:pt x="48756" y="60244"/>
                  <a:pt x="52917" y="57892"/>
                  <a:pt x="57394" y="57892"/>
                </a:cubicBezTo>
                <a:cubicBezTo>
                  <a:pt x="61872" y="57892"/>
                  <a:pt x="66033" y="60289"/>
                  <a:pt x="68294" y="64133"/>
                </a:cubicBezTo>
                <a:lnTo>
                  <a:pt x="111351" y="137945"/>
                </a:lnTo>
                <a:cubicBezTo>
                  <a:pt x="113929" y="142377"/>
                  <a:pt x="115557" y="147488"/>
                  <a:pt x="114381" y="152463"/>
                </a:cubicBezTo>
                <a:cubicBezTo>
                  <a:pt x="109497" y="172725"/>
                  <a:pt x="85843" y="188148"/>
                  <a:pt x="57394" y="188148"/>
                </a:cubicBezTo>
                <a:cubicBezTo>
                  <a:pt x="28946" y="188148"/>
                  <a:pt x="5292" y="172771"/>
                  <a:pt x="407" y="152463"/>
                </a:cubicBezTo>
                <a:close/>
              </a:path>
            </a:pathLst>
          </a:custGeom>
          <a:solidFill>
            <a:srgbClr val="4C7E9A"/>
          </a:solidFill>
          <a:ln/>
        </p:spPr>
      </p:sp>
      <p:sp>
        <p:nvSpPr>
          <p:cNvPr id="36" name="Text 34"/>
          <p:cNvSpPr/>
          <p:nvPr/>
        </p:nvSpPr>
        <p:spPr>
          <a:xfrm>
            <a:off x="8906282" y="6344934"/>
            <a:ext cx="2049368" cy="324194"/>
          </a:xfrm>
          <a:prstGeom prst="rect">
            <a:avLst/>
          </a:prstGeom>
          <a:noFill/>
          <a:ln/>
        </p:spPr>
        <p:txBody>
          <a:bodyPr wrap="square" lIns="0" tIns="0" rIns="0" bIns="0" rtlCol="0" anchor="ctr"/>
          <a:lstStyle/>
          <a:p>
            <a:pPr>
              <a:lnSpc>
                <a:spcPct val="130000"/>
              </a:lnSpc>
            </a:pPr>
            <a:r>
              <a:rPr lang="en-US" sz="1641" b="1" dirty="0">
                <a:solidFill>
                  <a:srgbClr val="D1D5DB"/>
                </a:solidFill>
                <a:latin typeface="MiSans" pitchFamily="34" charset="0"/>
                <a:ea typeface="MiSans" pitchFamily="34" charset="-122"/>
                <a:cs typeface="MiSans" pitchFamily="34" charset="-120"/>
              </a:rPr>
              <a:t>无偏估计</a:t>
            </a:r>
            <a:endParaRPr lang="en-US" sz="1600" dirty="0"/>
          </a:p>
        </p:txBody>
      </p:sp>
      <p:sp>
        <p:nvSpPr>
          <p:cNvPr id="37" name="Text 35"/>
          <p:cNvSpPr/>
          <p:nvPr/>
        </p:nvSpPr>
        <p:spPr>
          <a:xfrm>
            <a:off x="8906282" y="6669128"/>
            <a:ext cx="2026211" cy="231567"/>
          </a:xfrm>
          <a:prstGeom prst="rect">
            <a:avLst/>
          </a:prstGeom>
          <a:noFill/>
          <a:ln/>
        </p:spPr>
        <p:txBody>
          <a:bodyPr wrap="square" lIns="0" tIns="0" rIns="0" bIns="0" rtlCol="0" anchor="ctr"/>
          <a:lstStyle/>
          <a:p>
            <a:pPr>
              <a:lnSpc>
                <a:spcPct val="120000"/>
              </a:lnSpc>
            </a:pPr>
            <a:r>
              <a:rPr lang="en-US" sz="1276" dirty="0">
                <a:solidFill>
                  <a:srgbClr val="7E9AA8"/>
                </a:solidFill>
                <a:latin typeface="MiSans" pitchFamily="34" charset="0"/>
                <a:ea typeface="MiSans" pitchFamily="34" charset="-122"/>
                <a:cs typeface="MiSans" pitchFamily="34" charset="-120"/>
              </a:rPr>
              <a:t>提供对泛化误差的无偏估计</a:t>
            </a:r>
            <a:endParaRPr lang="en-US" sz="1600" dirty="0"/>
          </a:p>
        </p:txBody>
      </p:sp>
      <p:sp>
        <p:nvSpPr>
          <p:cNvPr id="38" name="Shape 36"/>
          <p:cNvSpPr/>
          <p:nvPr/>
        </p:nvSpPr>
        <p:spPr>
          <a:xfrm>
            <a:off x="468923" y="7276991"/>
            <a:ext cx="15318154" cy="1400980"/>
          </a:xfrm>
          <a:custGeom>
            <a:avLst/>
            <a:gdLst/>
            <a:ahLst/>
            <a:cxnLst/>
            <a:rect l="l" t="t" r="r" b="b"/>
            <a:pathLst>
              <a:path w="15318154" h="1400980">
                <a:moveTo>
                  <a:pt x="92633" y="0"/>
                </a:moveTo>
                <a:lnTo>
                  <a:pt x="15225521" y="0"/>
                </a:lnTo>
                <a:cubicBezTo>
                  <a:pt x="15276681" y="0"/>
                  <a:pt x="15318154" y="41473"/>
                  <a:pt x="15318154" y="92633"/>
                </a:cubicBezTo>
                <a:lnTo>
                  <a:pt x="15318154" y="1308347"/>
                </a:lnTo>
                <a:cubicBezTo>
                  <a:pt x="15318154" y="1359507"/>
                  <a:pt x="15276681" y="1400980"/>
                  <a:pt x="15225521" y="1400980"/>
                </a:cubicBezTo>
                <a:lnTo>
                  <a:pt x="92633" y="1400980"/>
                </a:lnTo>
                <a:cubicBezTo>
                  <a:pt x="41473" y="1400980"/>
                  <a:pt x="0" y="1359507"/>
                  <a:pt x="0" y="1308347"/>
                </a:cubicBezTo>
                <a:lnTo>
                  <a:pt x="0" y="92633"/>
                </a:lnTo>
                <a:cubicBezTo>
                  <a:pt x="0" y="41507"/>
                  <a:pt x="41507" y="0"/>
                  <a:pt x="92633" y="0"/>
                </a:cubicBezTo>
                <a:close/>
              </a:path>
            </a:pathLst>
          </a:custGeom>
          <a:solidFill>
            <a:srgbClr val="4C7E9A">
              <a:alpha val="10196"/>
            </a:srgbClr>
          </a:solidFill>
          <a:ln w="12700">
            <a:solidFill>
              <a:srgbClr val="4C7E9A">
                <a:alpha val="30196"/>
              </a:srgbClr>
            </a:solidFill>
            <a:prstDash val="solid"/>
          </a:ln>
        </p:spPr>
      </p:sp>
      <p:sp>
        <p:nvSpPr>
          <p:cNvPr id="39" name="Shape 37"/>
          <p:cNvSpPr/>
          <p:nvPr/>
        </p:nvSpPr>
        <p:spPr>
          <a:xfrm>
            <a:off x="684570" y="7468034"/>
            <a:ext cx="390769" cy="347350"/>
          </a:xfrm>
          <a:custGeom>
            <a:avLst/>
            <a:gdLst/>
            <a:ahLst/>
            <a:cxnLst/>
            <a:rect l="l" t="t" r="r" b="b"/>
            <a:pathLst>
              <a:path w="390769" h="347350">
                <a:moveTo>
                  <a:pt x="209971" y="-12822"/>
                </a:moveTo>
                <a:cubicBezTo>
                  <a:pt x="207189" y="-18249"/>
                  <a:pt x="201558" y="-21709"/>
                  <a:pt x="195452" y="-21709"/>
                </a:cubicBezTo>
                <a:cubicBezTo>
                  <a:pt x="189347" y="-21709"/>
                  <a:pt x="183716" y="-18249"/>
                  <a:pt x="180934" y="-12822"/>
                </a:cubicBezTo>
                <a:lnTo>
                  <a:pt x="131003" y="85006"/>
                </a:lnTo>
                <a:lnTo>
                  <a:pt x="22524" y="102238"/>
                </a:lnTo>
                <a:cubicBezTo>
                  <a:pt x="16486" y="103187"/>
                  <a:pt x="11465" y="107462"/>
                  <a:pt x="9566" y="113296"/>
                </a:cubicBezTo>
                <a:cubicBezTo>
                  <a:pt x="7666" y="119130"/>
                  <a:pt x="9226" y="125507"/>
                  <a:pt x="13501" y="129849"/>
                </a:cubicBezTo>
                <a:lnTo>
                  <a:pt x="91112" y="207528"/>
                </a:lnTo>
                <a:lnTo>
                  <a:pt x="74015" y="316007"/>
                </a:lnTo>
                <a:cubicBezTo>
                  <a:pt x="73066" y="322045"/>
                  <a:pt x="75576" y="328151"/>
                  <a:pt x="80528" y="331747"/>
                </a:cubicBezTo>
                <a:cubicBezTo>
                  <a:pt x="85481" y="335342"/>
                  <a:pt x="91994" y="335885"/>
                  <a:pt x="97489" y="333104"/>
                </a:cubicBezTo>
                <a:lnTo>
                  <a:pt x="195452" y="283308"/>
                </a:lnTo>
                <a:lnTo>
                  <a:pt x="293348" y="333104"/>
                </a:lnTo>
                <a:cubicBezTo>
                  <a:pt x="298776" y="335885"/>
                  <a:pt x="305356" y="335342"/>
                  <a:pt x="310309" y="331747"/>
                </a:cubicBezTo>
                <a:cubicBezTo>
                  <a:pt x="315261" y="328151"/>
                  <a:pt x="317771" y="322113"/>
                  <a:pt x="316822" y="316007"/>
                </a:cubicBezTo>
                <a:lnTo>
                  <a:pt x="299658" y="207528"/>
                </a:lnTo>
                <a:lnTo>
                  <a:pt x="377269" y="129849"/>
                </a:lnTo>
                <a:cubicBezTo>
                  <a:pt x="381611" y="125507"/>
                  <a:pt x="383103" y="119130"/>
                  <a:pt x="381204" y="113296"/>
                </a:cubicBezTo>
                <a:cubicBezTo>
                  <a:pt x="379304" y="107462"/>
                  <a:pt x="374351" y="103187"/>
                  <a:pt x="368246" y="102238"/>
                </a:cubicBezTo>
                <a:lnTo>
                  <a:pt x="259834" y="85006"/>
                </a:lnTo>
                <a:lnTo>
                  <a:pt x="209971" y="-12822"/>
                </a:lnTo>
                <a:close/>
              </a:path>
            </a:pathLst>
          </a:custGeom>
          <a:solidFill>
            <a:srgbClr val="4C7E9A"/>
          </a:solidFill>
          <a:ln/>
        </p:spPr>
      </p:sp>
      <p:sp>
        <p:nvSpPr>
          <p:cNvPr id="40" name="Text 38"/>
          <p:cNvSpPr/>
          <p:nvPr/>
        </p:nvSpPr>
        <p:spPr>
          <a:xfrm>
            <a:off x="1279407" y="7468034"/>
            <a:ext cx="14438199" cy="324194"/>
          </a:xfrm>
          <a:prstGeom prst="rect">
            <a:avLst/>
          </a:prstGeom>
          <a:noFill/>
          <a:ln/>
        </p:spPr>
        <p:txBody>
          <a:bodyPr wrap="square" lIns="0" tIns="0" rIns="0" bIns="0" rtlCol="0" anchor="ctr"/>
          <a:lstStyle/>
          <a:p>
            <a:pPr>
              <a:lnSpc>
                <a:spcPct val="120000"/>
              </a:lnSpc>
            </a:pPr>
            <a:r>
              <a:rPr lang="en-US" sz="1823" b="1" dirty="0">
                <a:solidFill>
                  <a:srgbClr val="D1D5DB"/>
                </a:solidFill>
                <a:latin typeface="MiSans" pitchFamily="34" charset="0"/>
                <a:ea typeface="MiSans" pitchFamily="34" charset="-122"/>
                <a:cs typeface="MiSans" pitchFamily="34" charset="-120"/>
              </a:rPr>
              <a:t>OOB误差的优势</a:t>
            </a:r>
            <a:endParaRPr lang="en-US" sz="1600" dirty="0"/>
          </a:p>
        </p:txBody>
      </p:sp>
      <p:sp>
        <p:nvSpPr>
          <p:cNvPr id="41" name="Text 39"/>
          <p:cNvSpPr/>
          <p:nvPr/>
        </p:nvSpPr>
        <p:spPr>
          <a:xfrm>
            <a:off x="1279407" y="7884855"/>
            <a:ext cx="14415043" cy="602074"/>
          </a:xfrm>
          <a:prstGeom prst="rect">
            <a:avLst/>
          </a:prstGeom>
          <a:noFill/>
          <a:ln/>
        </p:spPr>
        <p:txBody>
          <a:bodyPr wrap="square" lIns="0" tIns="0" rIns="0" bIns="0" rtlCol="0" anchor="ctr"/>
          <a:lstStyle/>
          <a:p>
            <a:pPr>
              <a:lnSpc>
                <a:spcPct val="140000"/>
              </a:lnSpc>
            </a:pPr>
            <a:r>
              <a:rPr lang="en-US" sz="1459" dirty="0">
                <a:solidFill>
                  <a:srgbClr val="7E9AA8"/>
                </a:solidFill>
                <a:latin typeface="MiSans" pitchFamily="34" charset="0"/>
                <a:ea typeface="MiSans" pitchFamily="34" charset="-122"/>
                <a:cs typeface="MiSans" pitchFamily="34" charset="-120"/>
              </a:rPr>
              <a:t>OOB误差提供了一种方便且有效的模型评估方法，无需额外的验证集，大大提高了数据利用效率。在实际应用中，OOB误差通常与交叉验证结果高度一致，是评估随机森林性能的重要指标。</a:t>
            </a:r>
            <a:endParaRPr lang="en-US" sz="1600" dirty="0"/>
          </a:p>
        </p:txBody>
      </p:sp>
    </p:spTree>
  </p:cSld>
  <p:clrMapOvr>
    <a:masterClrMapping/>
  </p:clrMapOvr>
  <p:transition>
    <p:fade/>
    <p:spd val="med"/>
  </p:transition>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81A1F"/>
        </a:solidFill>
      </p:bgPr>
    </p:bg>
    <p:spTree>
      <p:nvGrpSpPr>
        <p:cNvPr id="1" name=""/>
        <p:cNvGrpSpPr/>
        <p:nvPr/>
      </p:nvGrpSpPr>
      <p:grpSpPr>
        <a:xfrm>
          <a:off x="0" y="0"/>
          <a:ext cx="0" cy="0"/>
          <a:chOff x="0" y="0"/>
          <a:chExt cx="0" cy="0"/>
        </a:xfrm>
      </p:grpSpPr>
      <p:pic>
        <p:nvPicPr>
          <p:cNvPr id="2" name="Image 0" descr="https://kimi-web-img.moonshot.cn/img/images.stockcake.com/40e8bf0b0eb4c40f60a5f66b1b99a268bf43c178.jpg">    </p:cNvPr>
          <p:cNvPicPr>
            <a:picLocks noChangeAspect="1"/>
          </p:cNvPicPr>
          <p:nvPr/>
        </p:nvPicPr>
        <p:blipFill>
          <a:blip r:embed="rId1">
            <a:alphaModFix amt="30000"/>
          </a:blip>
          <a:srcRect l="0" r="0" t="34238" b="34238"/>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rotWithShape="1" flip="none">
            <a:gsLst>
              <a:gs pos="0">
                <a:srgbClr val="181A1F"/>
              </a:gs>
              <a:gs pos="50000">
                <a:srgbClr val="181A1F">
                  <a:alpha val="95000"/>
                </a:srgbClr>
              </a:gs>
              <a:gs pos="100000">
                <a:srgbClr val="181A1F">
                  <a:alpha val="70000"/>
                </a:srgbClr>
              </a:gs>
            </a:gsLst>
            <a:lin ang="0" scaled="1"/>
          </a:gradFill>
          <a:ln/>
        </p:spPr>
      </p:sp>
      <p:sp>
        <p:nvSpPr>
          <p:cNvPr id="4" name="Shape 1"/>
          <p:cNvSpPr/>
          <p:nvPr/>
        </p:nvSpPr>
        <p:spPr>
          <a:xfrm>
            <a:off x="520700" y="1752600"/>
            <a:ext cx="1778000" cy="787400"/>
          </a:xfrm>
          <a:custGeom>
            <a:avLst/>
            <a:gdLst/>
            <a:ahLst/>
            <a:cxnLst/>
            <a:rect l="l" t="t" r="r" b="b"/>
            <a:pathLst>
              <a:path w="1778000" h="787400">
                <a:moveTo>
                  <a:pt x="101598" y="0"/>
                </a:moveTo>
                <a:lnTo>
                  <a:pt x="1676402" y="0"/>
                </a:lnTo>
                <a:cubicBezTo>
                  <a:pt x="1732513" y="0"/>
                  <a:pt x="1778000" y="45487"/>
                  <a:pt x="1778000" y="101598"/>
                </a:cubicBezTo>
                <a:lnTo>
                  <a:pt x="1778000" y="685802"/>
                </a:lnTo>
                <a:cubicBezTo>
                  <a:pt x="1778000" y="741913"/>
                  <a:pt x="1732513" y="787400"/>
                  <a:pt x="1676402" y="787400"/>
                </a:cubicBezTo>
                <a:lnTo>
                  <a:pt x="101598" y="787400"/>
                </a:lnTo>
                <a:cubicBezTo>
                  <a:pt x="45487" y="787400"/>
                  <a:pt x="0" y="741913"/>
                  <a:pt x="0" y="685802"/>
                </a:cubicBezTo>
                <a:lnTo>
                  <a:pt x="0" y="101598"/>
                </a:lnTo>
                <a:cubicBezTo>
                  <a:pt x="0" y="45525"/>
                  <a:pt x="45525" y="0"/>
                  <a:pt x="101598" y="0"/>
                </a:cubicBezTo>
                <a:close/>
              </a:path>
            </a:pathLst>
          </a:custGeom>
          <a:solidFill>
            <a:srgbClr val="4C7E9A">
              <a:alpha val="20000"/>
            </a:srgbClr>
          </a:solidFill>
          <a:ln w="25400">
            <a:solidFill>
              <a:srgbClr val="4C7E9A"/>
            </a:solidFill>
            <a:prstDash val="solid"/>
          </a:ln>
        </p:spPr>
      </p:sp>
      <p:sp>
        <p:nvSpPr>
          <p:cNvPr id="5" name="Text 2"/>
          <p:cNvSpPr/>
          <p:nvPr/>
        </p:nvSpPr>
        <p:spPr>
          <a:xfrm>
            <a:off x="838200" y="1917700"/>
            <a:ext cx="1333500" cy="457200"/>
          </a:xfrm>
          <a:prstGeom prst="rect">
            <a:avLst/>
          </a:prstGeom>
          <a:noFill/>
          <a:ln/>
        </p:spPr>
        <p:txBody>
          <a:bodyPr wrap="square" lIns="0" tIns="0" rIns="0" bIns="0" rtlCol="0" anchor="ctr"/>
          <a:lstStyle/>
          <a:p>
            <a:pPr>
              <a:lnSpc>
                <a:spcPct val="100000"/>
              </a:lnSpc>
            </a:pPr>
            <a:r>
              <a:rPr lang="en-US" sz="3000" b="1" dirty="0">
                <a:solidFill>
                  <a:srgbClr val="4C7E9A"/>
                </a:solidFill>
                <a:latin typeface="MiSans" pitchFamily="34" charset="0"/>
                <a:ea typeface="MiSans" pitchFamily="34" charset="-122"/>
                <a:cs typeface="MiSans" pitchFamily="34" charset="-120"/>
              </a:rPr>
              <a:t>专题二</a:t>
            </a:r>
            <a:endParaRPr lang="en-US" sz="1600" dirty="0"/>
          </a:p>
        </p:txBody>
      </p:sp>
      <p:sp>
        <p:nvSpPr>
          <p:cNvPr id="6" name="Text 3"/>
          <p:cNvSpPr/>
          <p:nvPr/>
        </p:nvSpPr>
        <p:spPr>
          <a:xfrm>
            <a:off x="508000" y="2959100"/>
            <a:ext cx="8826500" cy="1219200"/>
          </a:xfrm>
          <a:prstGeom prst="rect">
            <a:avLst/>
          </a:prstGeom>
          <a:noFill/>
          <a:ln/>
        </p:spPr>
        <p:txBody>
          <a:bodyPr wrap="square" lIns="0" tIns="0" rIns="0" bIns="0" rtlCol="0" anchor="ctr"/>
          <a:lstStyle/>
          <a:p>
            <a:pPr>
              <a:lnSpc>
                <a:spcPct val="80000"/>
              </a:lnSpc>
            </a:pPr>
            <a:r>
              <a:rPr lang="en-US" sz="9600" b="1" dirty="0">
                <a:solidFill>
                  <a:srgbClr val="D1D5DB"/>
                </a:solidFill>
                <a:latin typeface="阿里妈妈数黑体" pitchFamily="34" charset="0"/>
                <a:ea typeface="阿里妈妈数黑体" pitchFamily="34" charset="-122"/>
                <a:cs typeface="阿里妈妈数黑体" pitchFamily="34" charset="-120"/>
              </a:rPr>
              <a:t>AdaBoost算法</a:t>
            </a:r>
            <a:endParaRPr lang="en-US" sz="1600" dirty="0"/>
          </a:p>
        </p:txBody>
      </p:sp>
      <p:sp>
        <p:nvSpPr>
          <p:cNvPr id="7" name="Shape 4"/>
          <p:cNvSpPr/>
          <p:nvPr/>
        </p:nvSpPr>
        <p:spPr>
          <a:xfrm>
            <a:off x="508000" y="4483100"/>
            <a:ext cx="2438400" cy="101600"/>
          </a:xfrm>
          <a:custGeom>
            <a:avLst/>
            <a:gdLst/>
            <a:ahLst/>
            <a:cxnLst/>
            <a:rect l="l" t="t" r="r" b="b"/>
            <a:pathLst>
              <a:path w="2438400" h="101600">
                <a:moveTo>
                  <a:pt x="0" y="0"/>
                </a:moveTo>
                <a:lnTo>
                  <a:pt x="2438400" y="0"/>
                </a:lnTo>
                <a:lnTo>
                  <a:pt x="2438400" y="101600"/>
                </a:lnTo>
                <a:lnTo>
                  <a:pt x="0" y="101600"/>
                </a:lnTo>
                <a:lnTo>
                  <a:pt x="0" y="0"/>
                </a:lnTo>
                <a:close/>
              </a:path>
            </a:pathLst>
          </a:custGeom>
          <a:solidFill>
            <a:srgbClr val="4C7E9A"/>
          </a:solidFill>
          <a:ln/>
        </p:spPr>
      </p:sp>
      <p:sp>
        <p:nvSpPr>
          <p:cNvPr id="8" name="Text 5"/>
          <p:cNvSpPr/>
          <p:nvPr/>
        </p:nvSpPr>
        <p:spPr>
          <a:xfrm>
            <a:off x="508000" y="4889500"/>
            <a:ext cx="8445500" cy="508000"/>
          </a:xfrm>
          <a:prstGeom prst="rect">
            <a:avLst/>
          </a:prstGeom>
          <a:noFill/>
          <a:ln/>
        </p:spPr>
        <p:txBody>
          <a:bodyPr wrap="square" lIns="0" tIns="0" rIns="0" bIns="0" rtlCol="0" anchor="ctr"/>
          <a:lstStyle/>
          <a:p>
            <a:pPr>
              <a:lnSpc>
                <a:spcPct val="90000"/>
              </a:lnSpc>
            </a:pPr>
            <a:r>
              <a:rPr lang="en-US" sz="3600" dirty="0">
                <a:solidFill>
                  <a:srgbClr val="7E9AA8"/>
                </a:solidFill>
                <a:latin typeface="MiSans" pitchFamily="34" charset="0"/>
                <a:ea typeface="MiSans" pitchFamily="34" charset="-122"/>
                <a:cs typeface="MiSans" pitchFamily="34" charset="-120"/>
              </a:rPr>
              <a:t>自适应提升的迭代过程</a:t>
            </a:r>
            <a:endParaRPr lang="en-US" sz="1600" dirty="0"/>
          </a:p>
        </p:txBody>
      </p:sp>
      <p:sp>
        <p:nvSpPr>
          <p:cNvPr id="9" name="Shape 6"/>
          <p:cNvSpPr/>
          <p:nvPr/>
        </p:nvSpPr>
        <p:spPr>
          <a:xfrm>
            <a:off x="508000" y="6007100"/>
            <a:ext cx="3149600" cy="1397000"/>
          </a:xfrm>
          <a:custGeom>
            <a:avLst/>
            <a:gdLst/>
            <a:ahLst/>
            <a:cxnLst/>
            <a:rect l="l" t="t" r="r" b="b"/>
            <a:pathLst>
              <a:path w="3149600" h="1397000">
                <a:moveTo>
                  <a:pt x="101604" y="0"/>
                </a:moveTo>
                <a:lnTo>
                  <a:pt x="3047996" y="0"/>
                </a:lnTo>
                <a:cubicBezTo>
                  <a:pt x="3104110" y="0"/>
                  <a:pt x="3149600" y="45490"/>
                  <a:pt x="3149600" y="101604"/>
                </a:cubicBezTo>
                <a:lnTo>
                  <a:pt x="3149600" y="1295396"/>
                </a:lnTo>
                <a:cubicBezTo>
                  <a:pt x="3149600" y="1351510"/>
                  <a:pt x="3104110" y="1397000"/>
                  <a:pt x="30479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0" name="Shape 7"/>
          <p:cNvSpPr/>
          <p:nvPr/>
        </p:nvSpPr>
        <p:spPr>
          <a:xfrm>
            <a:off x="860425" y="6261100"/>
            <a:ext cx="285750" cy="381000"/>
          </a:xfrm>
          <a:custGeom>
            <a:avLst/>
            <a:gdLst/>
            <a:ahLst/>
            <a:cxnLst/>
            <a:rect l="l" t="t" r="r" b="b"/>
            <a:pathLst>
              <a:path w="285750" h="381000">
                <a:moveTo>
                  <a:pt x="47625" y="0"/>
                </a:moveTo>
                <a:cubicBezTo>
                  <a:pt x="21357" y="0"/>
                  <a:pt x="0" y="21357"/>
                  <a:pt x="0" y="47625"/>
                </a:cubicBezTo>
                <a:lnTo>
                  <a:pt x="0" y="333375"/>
                </a:lnTo>
                <a:cubicBezTo>
                  <a:pt x="0" y="359643"/>
                  <a:pt x="21357" y="381000"/>
                  <a:pt x="47625" y="381000"/>
                </a:cubicBezTo>
                <a:lnTo>
                  <a:pt x="238125" y="381000"/>
                </a:lnTo>
                <a:cubicBezTo>
                  <a:pt x="264393" y="381000"/>
                  <a:pt x="285750" y="359643"/>
                  <a:pt x="285750" y="333375"/>
                </a:cubicBezTo>
                <a:lnTo>
                  <a:pt x="285750" y="47625"/>
                </a:lnTo>
                <a:cubicBezTo>
                  <a:pt x="285750" y="21357"/>
                  <a:pt x="264393" y="0"/>
                  <a:pt x="238125" y="0"/>
                </a:cubicBezTo>
                <a:lnTo>
                  <a:pt x="47625" y="0"/>
                </a:lnTo>
                <a:close/>
                <a:moveTo>
                  <a:pt x="71438" y="47625"/>
                </a:moveTo>
                <a:lnTo>
                  <a:pt x="214313" y="47625"/>
                </a:lnTo>
                <a:cubicBezTo>
                  <a:pt x="227484" y="47625"/>
                  <a:pt x="238125" y="58266"/>
                  <a:pt x="238125" y="71438"/>
                </a:cubicBezTo>
                <a:lnTo>
                  <a:pt x="238125" y="95250"/>
                </a:lnTo>
                <a:cubicBezTo>
                  <a:pt x="238125" y="108421"/>
                  <a:pt x="227484" y="119063"/>
                  <a:pt x="214313" y="119063"/>
                </a:cubicBezTo>
                <a:lnTo>
                  <a:pt x="71438" y="119063"/>
                </a:lnTo>
                <a:cubicBezTo>
                  <a:pt x="58266" y="119063"/>
                  <a:pt x="47625" y="108421"/>
                  <a:pt x="47625" y="95250"/>
                </a:cubicBezTo>
                <a:lnTo>
                  <a:pt x="47625" y="71438"/>
                </a:lnTo>
                <a:cubicBezTo>
                  <a:pt x="47625" y="58266"/>
                  <a:pt x="58266" y="47625"/>
                  <a:pt x="71438" y="47625"/>
                </a:cubicBezTo>
                <a:close/>
                <a:moveTo>
                  <a:pt x="83344" y="172641"/>
                </a:moveTo>
                <a:cubicBezTo>
                  <a:pt x="83344" y="182497"/>
                  <a:pt x="75341" y="190500"/>
                  <a:pt x="65484" y="190500"/>
                </a:cubicBezTo>
                <a:cubicBezTo>
                  <a:pt x="55628" y="190500"/>
                  <a:pt x="47625" y="182497"/>
                  <a:pt x="47625" y="172641"/>
                </a:cubicBezTo>
                <a:cubicBezTo>
                  <a:pt x="47625" y="162784"/>
                  <a:pt x="55628" y="154781"/>
                  <a:pt x="65484" y="154781"/>
                </a:cubicBezTo>
                <a:cubicBezTo>
                  <a:pt x="75341" y="154781"/>
                  <a:pt x="83344" y="162784"/>
                  <a:pt x="83344" y="172641"/>
                </a:cubicBezTo>
                <a:close/>
                <a:moveTo>
                  <a:pt x="142875" y="190500"/>
                </a:moveTo>
                <a:cubicBezTo>
                  <a:pt x="133018" y="190500"/>
                  <a:pt x="125016" y="182497"/>
                  <a:pt x="125016" y="172641"/>
                </a:cubicBezTo>
                <a:cubicBezTo>
                  <a:pt x="125016" y="162784"/>
                  <a:pt x="133018" y="154781"/>
                  <a:pt x="142875" y="154781"/>
                </a:cubicBezTo>
                <a:cubicBezTo>
                  <a:pt x="152732" y="154781"/>
                  <a:pt x="160734" y="162784"/>
                  <a:pt x="160734" y="172641"/>
                </a:cubicBezTo>
                <a:cubicBezTo>
                  <a:pt x="160734" y="182497"/>
                  <a:pt x="152732" y="190500"/>
                  <a:pt x="142875" y="190500"/>
                </a:cubicBezTo>
                <a:close/>
                <a:moveTo>
                  <a:pt x="238125" y="172641"/>
                </a:moveTo>
                <a:cubicBezTo>
                  <a:pt x="238125" y="182497"/>
                  <a:pt x="230122" y="190500"/>
                  <a:pt x="220266" y="190500"/>
                </a:cubicBezTo>
                <a:cubicBezTo>
                  <a:pt x="210409" y="190500"/>
                  <a:pt x="202406" y="182497"/>
                  <a:pt x="202406" y="172641"/>
                </a:cubicBezTo>
                <a:cubicBezTo>
                  <a:pt x="202406" y="162784"/>
                  <a:pt x="210409" y="154781"/>
                  <a:pt x="220266" y="154781"/>
                </a:cubicBezTo>
                <a:cubicBezTo>
                  <a:pt x="230122" y="154781"/>
                  <a:pt x="238125" y="162784"/>
                  <a:pt x="238125" y="172641"/>
                </a:cubicBezTo>
                <a:close/>
                <a:moveTo>
                  <a:pt x="65484" y="261938"/>
                </a:moveTo>
                <a:cubicBezTo>
                  <a:pt x="55628" y="261938"/>
                  <a:pt x="47625" y="253935"/>
                  <a:pt x="47625" y="244078"/>
                </a:cubicBezTo>
                <a:cubicBezTo>
                  <a:pt x="47625" y="234221"/>
                  <a:pt x="55628" y="226219"/>
                  <a:pt x="65484" y="226219"/>
                </a:cubicBezTo>
                <a:cubicBezTo>
                  <a:pt x="75341" y="226219"/>
                  <a:pt x="83344" y="234221"/>
                  <a:pt x="83344" y="244078"/>
                </a:cubicBezTo>
                <a:cubicBezTo>
                  <a:pt x="83344" y="253935"/>
                  <a:pt x="75341" y="261938"/>
                  <a:pt x="65484" y="261938"/>
                </a:cubicBezTo>
                <a:close/>
                <a:moveTo>
                  <a:pt x="160734" y="244078"/>
                </a:moveTo>
                <a:cubicBezTo>
                  <a:pt x="160734" y="253935"/>
                  <a:pt x="152732" y="261938"/>
                  <a:pt x="142875" y="261938"/>
                </a:cubicBezTo>
                <a:cubicBezTo>
                  <a:pt x="133018" y="261938"/>
                  <a:pt x="125016" y="253935"/>
                  <a:pt x="125016" y="244078"/>
                </a:cubicBezTo>
                <a:cubicBezTo>
                  <a:pt x="125016" y="234221"/>
                  <a:pt x="133018" y="226219"/>
                  <a:pt x="142875" y="226219"/>
                </a:cubicBezTo>
                <a:cubicBezTo>
                  <a:pt x="152732" y="226219"/>
                  <a:pt x="160734" y="234221"/>
                  <a:pt x="160734" y="244078"/>
                </a:cubicBezTo>
                <a:close/>
                <a:moveTo>
                  <a:pt x="220266" y="261938"/>
                </a:moveTo>
                <a:cubicBezTo>
                  <a:pt x="210409" y="261938"/>
                  <a:pt x="202406" y="253935"/>
                  <a:pt x="202406" y="244078"/>
                </a:cubicBezTo>
                <a:cubicBezTo>
                  <a:pt x="202406" y="234221"/>
                  <a:pt x="210409" y="226219"/>
                  <a:pt x="220266" y="226219"/>
                </a:cubicBezTo>
                <a:cubicBezTo>
                  <a:pt x="230122" y="226219"/>
                  <a:pt x="238125" y="234221"/>
                  <a:pt x="238125" y="244078"/>
                </a:cubicBezTo>
                <a:cubicBezTo>
                  <a:pt x="238125" y="253935"/>
                  <a:pt x="230122" y="261938"/>
                  <a:pt x="220266" y="261938"/>
                </a:cubicBezTo>
                <a:close/>
                <a:moveTo>
                  <a:pt x="47625" y="315516"/>
                </a:moveTo>
                <a:cubicBezTo>
                  <a:pt x="47625" y="305619"/>
                  <a:pt x="55587" y="297656"/>
                  <a:pt x="65484" y="297656"/>
                </a:cubicBezTo>
                <a:lnTo>
                  <a:pt x="148828" y="297656"/>
                </a:lnTo>
                <a:cubicBezTo>
                  <a:pt x="158725" y="297656"/>
                  <a:pt x="166688" y="305619"/>
                  <a:pt x="166688" y="315516"/>
                </a:cubicBezTo>
                <a:cubicBezTo>
                  <a:pt x="166688" y="325413"/>
                  <a:pt x="158725" y="333375"/>
                  <a:pt x="148828" y="333375"/>
                </a:cubicBezTo>
                <a:lnTo>
                  <a:pt x="65484" y="333375"/>
                </a:lnTo>
                <a:cubicBezTo>
                  <a:pt x="55587" y="333375"/>
                  <a:pt x="47625" y="325413"/>
                  <a:pt x="47625" y="315516"/>
                </a:cubicBezTo>
                <a:close/>
                <a:moveTo>
                  <a:pt x="220266" y="297656"/>
                </a:moveTo>
                <a:cubicBezTo>
                  <a:pt x="230163" y="297656"/>
                  <a:pt x="238125" y="305619"/>
                  <a:pt x="238125" y="315516"/>
                </a:cubicBezTo>
                <a:cubicBezTo>
                  <a:pt x="238125" y="325413"/>
                  <a:pt x="230163" y="333375"/>
                  <a:pt x="220266" y="333375"/>
                </a:cubicBezTo>
                <a:cubicBezTo>
                  <a:pt x="210369" y="333375"/>
                  <a:pt x="202406" y="325413"/>
                  <a:pt x="202406" y="315516"/>
                </a:cubicBezTo>
                <a:cubicBezTo>
                  <a:pt x="202406" y="305619"/>
                  <a:pt x="210369" y="297656"/>
                  <a:pt x="220266" y="297656"/>
                </a:cubicBezTo>
                <a:close/>
              </a:path>
            </a:pathLst>
          </a:custGeom>
          <a:solidFill>
            <a:srgbClr val="4C7E9A"/>
          </a:solidFill>
          <a:ln/>
        </p:spPr>
      </p:sp>
      <p:sp>
        <p:nvSpPr>
          <p:cNvPr id="11" name="Text 8"/>
          <p:cNvSpPr/>
          <p:nvPr/>
        </p:nvSpPr>
        <p:spPr>
          <a:xfrm>
            <a:off x="762000" y="6794500"/>
            <a:ext cx="27686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手工推导</a:t>
            </a:r>
            <a:endParaRPr lang="en-US" sz="1600" dirty="0"/>
          </a:p>
        </p:txBody>
      </p:sp>
      <p:sp>
        <p:nvSpPr>
          <p:cNvPr id="12" name="Shape 9"/>
          <p:cNvSpPr/>
          <p:nvPr/>
        </p:nvSpPr>
        <p:spPr>
          <a:xfrm>
            <a:off x="3860800" y="6007100"/>
            <a:ext cx="3149600" cy="1397000"/>
          </a:xfrm>
          <a:custGeom>
            <a:avLst/>
            <a:gdLst/>
            <a:ahLst/>
            <a:cxnLst/>
            <a:rect l="l" t="t" r="r" b="b"/>
            <a:pathLst>
              <a:path w="3149600" h="1397000">
                <a:moveTo>
                  <a:pt x="101604" y="0"/>
                </a:moveTo>
                <a:lnTo>
                  <a:pt x="3047996" y="0"/>
                </a:lnTo>
                <a:cubicBezTo>
                  <a:pt x="3104110" y="0"/>
                  <a:pt x="3149600" y="45490"/>
                  <a:pt x="3149600" y="101604"/>
                </a:cubicBezTo>
                <a:lnTo>
                  <a:pt x="3149600" y="1295396"/>
                </a:lnTo>
                <a:cubicBezTo>
                  <a:pt x="3149600" y="1351510"/>
                  <a:pt x="3104110" y="1397000"/>
                  <a:pt x="30479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3" name="Shape 10"/>
          <p:cNvSpPr/>
          <p:nvPr/>
        </p:nvSpPr>
        <p:spPr>
          <a:xfrm>
            <a:off x="4165600" y="6261100"/>
            <a:ext cx="381000" cy="381000"/>
          </a:xfrm>
          <a:custGeom>
            <a:avLst/>
            <a:gdLst/>
            <a:ahLst/>
            <a:cxnLst/>
            <a:rect l="l" t="t" r="r" b="b"/>
            <a:pathLst>
              <a:path w="381000" h="381000">
                <a:moveTo>
                  <a:pt x="357262" y="142875"/>
                </a:moveTo>
                <a:lnTo>
                  <a:pt x="363141" y="142875"/>
                </a:lnTo>
                <a:cubicBezTo>
                  <a:pt x="373038" y="142875"/>
                  <a:pt x="381000" y="134913"/>
                  <a:pt x="381000" y="125016"/>
                </a:cubicBezTo>
                <a:lnTo>
                  <a:pt x="381000" y="17859"/>
                </a:lnTo>
                <a:cubicBezTo>
                  <a:pt x="381000" y="10641"/>
                  <a:pt x="376684" y="4093"/>
                  <a:pt x="369987" y="1339"/>
                </a:cubicBezTo>
                <a:cubicBezTo>
                  <a:pt x="363289" y="-1414"/>
                  <a:pt x="355625" y="149"/>
                  <a:pt x="350490" y="5209"/>
                </a:cubicBezTo>
                <a:lnTo>
                  <a:pt x="312018" y="43755"/>
                </a:lnTo>
                <a:cubicBezTo>
                  <a:pt x="279053" y="16446"/>
                  <a:pt x="236637" y="0"/>
                  <a:pt x="190500" y="0"/>
                </a:cubicBezTo>
                <a:cubicBezTo>
                  <a:pt x="94506" y="0"/>
                  <a:pt x="15106" y="70991"/>
                  <a:pt x="1935" y="163339"/>
                </a:cubicBezTo>
                <a:cubicBezTo>
                  <a:pt x="74" y="176361"/>
                  <a:pt x="9079" y="188416"/>
                  <a:pt x="22101" y="190277"/>
                </a:cubicBezTo>
                <a:cubicBezTo>
                  <a:pt x="35123" y="192137"/>
                  <a:pt x="47179" y="183059"/>
                  <a:pt x="49039" y="170111"/>
                </a:cubicBezTo>
                <a:cubicBezTo>
                  <a:pt x="58936" y="100831"/>
                  <a:pt x="118542" y="47625"/>
                  <a:pt x="190500" y="47625"/>
                </a:cubicBezTo>
                <a:cubicBezTo>
                  <a:pt x="223540" y="47625"/>
                  <a:pt x="253901" y="58787"/>
                  <a:pt x="278085" y="77614"/>
                </a:cubicBezTo>
                <a:lnTo>
                  <a:pt x="243334" y="112365"/>
                </a:lnTo>
                <a:cubicBezTo>
                  <a:pt x="238199" y="117500"/>
                  <a:pt x="236711" y="125164"/>
                  <a:pt x="239464" y="131862"/>
                </a:cubicBezTo>
                <a:cubicBezTo>
                  <a:pt x="242218" y="138559"/>
                  <a:pt x="248766" y="142875"/>
                  <a:pt x="255984" y="142875"/>
                </a:cubicBezTo>
                <a:lnTo>
                  <a:pt x="357262" y="142875"/>
                </a:lnTo>
                <a:close/>
                <a:moveTo>
                  <a:pt x="379140" y="217661"/>
                </a:moveTo>
                <a:cubicBezTo>
                  <a:pt x="381000" y="204639"/>
                  <a:pt x="371921" y="192584"/>
                  <a:pt x="358973" y="190723"/>
                </a:cubicBezTo>
                <a:cubicBezTo>
                  <a:pt x="346025" y="188863"/>
                  <a:pt x="333896" y="197941"/>
                  <a:pt x="332036" y="210889"/>
                </a:cubicBezTo>
                <a:cubicBezTo>
                  <a:pt x="322138" y="280095"/>
                  <a:pt x="262533" y="333301"/>
                  <a:pt x="190574" y="333301"/>
                </a:cubicBezTo>
                <a:cubicBezTo>
                  <a:pt x="157535" y="333301"/>
                  <a:pt x="127174" y="322138"/>
                  <a:pt x="102989" y="303312"/>
                </a:cubicBezTo>
                <a:lnTo>
                  <a:pt x="137666" y="268635"/>
                </a:lnTo>
                <a:cubicBezTo>
                  <a:pt x="142801" y="263500"/>
                  <a:pt x="144289" y="255836"/>
                  <a:pt x="141536" y="249138"/>
                </a:cubicBezTo>
                <a:cubicBezTo>
                  <a:pt x="138782" y="242441"/>
                  <a:pt x="132234" y="238125"/>
                  <a:pt x="125016" y="238125"/>
                </a:cubicBezTo>
                <a:lnTo>
                  <a:pt x="17859" y="238125"/>
                </a:lnTo>
                <a:cubicBezTo>
                  <a:pt x="7962" y="238125"/>
                  <a:pt x="0" y="246087"/>
                  <a:pt x="0" y="255984"/>
                </a:cubicBezTo>
                <a:lnTo>
                  <a:pt x="0" y="363141"/>
                </a:lnTo>
                <a:cubicBezTo>
                  <a:pt x="0" y="370359"/>
                  <a:pt x="4316" y="376907"/>
                  <a:pt x="11013" y="379661"/>
                </a:cubicBezTo>
                <a:cubicBezTo>
                  <a:pt x="17711" y="382414"/>
                  <a:pt x="25375" y="380851"/>
                  <a:pt x="30510" y="375791"/>
                </a:cubicBezTo>
                <a:lnTo>
                  <a:pt x="69056" y="337245"/>
                </a:lnTo>
                <a:cubicBezTo>
                  <a:pt x="101947" y="364554"/>
                  <a:pt x="144363" y="381000"/>
                  <a:pt x="190500" y="381000"/>
                </a:cubicBezTo>
                <a:cubicBezTo>
                  <a:pt x="286494" y="381000"/>
                  <a:pt x="365894" y="310009"/>
                  <a:pt x="379065" y="217661"/>
                </a:cubicBezTo>
                <a:close/>
              </a:path>
            </a:pathLst>
          </a:custGeom>
          <a:solidFill>
            <a:srgbClr val="4C7E9A"/>
          </a:solidFill>
          <a:ln/>
        </p:spPr>
      </p:sp>
      <p:sp>
        <p:nvSpPr>
          <p:cNvPr id="14" name="Text 11"/>
          <p:cNvSpPr/>
          <p:nvPr/>
        </p:nvSpPr>
        <p:spPr>
          <a:xfrm>
            <a:off x="4114800" y="6794500"/>
            <a:ext cx="27686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迭代过程</a:t>
            </a:r>
            <a:endParaRPr lang="en-US" sz="1600" dirty="0"/>
          </a:p>
        </p:txBody>
      </p:sp>
    </p:spTree>
  </p:cSld>
  <p:clrMapOvr>
    <a:masterClrMapping/>
  </p:clrMapOvr>
  <p:transition>
    <p:fade/>
    <p:spd val="med"/>
  </p:transition>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ADABOOST</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AdaBoost示例题目</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24000"/>
            <a:ext cx="7577667" cy="2296583"/>
          </a:xfrm>
          <a:custGeom>
            <a:avLst/>
            <a:gdLst/>
            <a:ahLst/>
            <a:cxnLst/>
            <a:rect l="l" t="t" r="r" b="b"/>
            <a:pathLst>
              <a:path w="7577667" h="2296583">
                <a:moveTo>
                  <a:pt x="42333" y="0"/>
                </a:moveTo>
                <a:lnTo>
                  <a:pt x="7492992" y="0"/>
                </a:lnTo>
                <a:cubicBezTo>
                  <a:pt x="7539756" y="0"/>
                  <a:pt x="7577667" y="37910"/>
                  <a:pt x="7577667" y="84675"/>
                </a:cubicBezTo>
                <a:lnTo>
                  <a:pt x="7577667" y="2211908"/>
                </a:lnTo>
                <a:cubicBezTo>
                  <a:pt x="7577667" y="2258673"/>
                  <a:pt x="7539756" y="2296583"/>
                  <a:pt x="7492992" y="2296583"/>
                </a:cubicBezTo>
                <a:lnTo>
                  <a:pt x="42333" y="2296583"/>
                </a:lnTo>
                <a:cubicBezTo>
                  <a:pt x="18953" y="2296583"/>
                  <a:pt x="0" y="2277630"/>
                  <a:pt x="0" y="2254250"/>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24000"/>
            <a:ext cx="42333" cy="2296583"/>
          </a:xfrm>
          <a:custGeom>
            <a:avLst/>
            <a:gdLst/>
            <a:ahLst/>
            <a:cxnLst/>
            <a:rect l="l" t="t" r="r" b="b"/>
            <a:pathLst>
              <a:path w="42333" h="2296583">
                <a:moveTo>
                  <a:pt x="42333" y="0"/>
                </a:moveTo>
                <a:lnTo>
                  <a:pt x="42333" y="0"/>
                </a:lnTo>
                <a:lnTo>
                  <a:pt x="42333" y="2296583"/>
                </a:lnTo>
                <a:lnTo>
                  <a:pt x="42333" y="2296583"/>
                </a:lnTo>
                <a:cubicBezTo>
                  <a:pt x="18953" y="2296583"/>
                  <a:pt x="0" y="2277630"/>
                  <a:pt x="0" y="2254250"/>
                </a:cubicBezTo>
                <a:lnTo>
                  <a:pt x="0" y="42333"/>
                </a:lnTo>
                <a:cubicBezTo>
                  <a:pt x="0" y="18953"/>
                  <a:pt x="18953" y="0"/>
                  <a:pt x="42333" y="0"/>
                </a:cubicBezTo>
                <a:close/>
              </a:path>
            </a:pathLst>
          </a:custGeom>
          <a:solidFill>
            <a:srgbClr val="4C7E9A"/>
          </a:solidFill>
          <a:ln/>
        </p:spPr>
      </p:sp>
      <p:sp>
        <p:nvSpPr>
          <p:cNvPr id="7" name="Text 5"/>
          <p:cNvSpPr/>
          <p:nvPr/>
        </p:nvSpPr>
        <p:spPr>
          <a:xfrm>
            <a:off x="635000" y="1693333"/>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问题定义</a:t>
            </a:r>
            <a:endParaRPr lang="en-US" sz="1600" dirty="0"/>
          </a:p>
        </p:txBody>
      </p:sp>
      <p:sp>
        <p:nvSpPr>
          <p:cNvPr id="8" name="Text 6"/>
          <p:cNvSpPr/>
          <p:nvPr/>
        </p:nvSpPr>
        <p:spPr>
          <a:xfrm>
            <a:off x="635000" y="2159000"/>
            <a:ext cx="7313083" cy="306917"/>
          </a:xfrm>
          <a:prstGeom prst="rect">
            <a:avLst/>
          </a:prstGeom>
          <a:noFill/>
          <a:ln/>
        </p:spPr>
        <p:txBody>
          <a:bodyPr wrap="square" lIns="0" tIns="0" rIns="0" bIns="0" rtlCol="0" anchor="ctr"/>
          <a:lstStyle/>
          <a:p>
            <a:pPr>
              <a:lnSpc>
                <a:spcPct val="140000"/>
              </a:lnSpc>
            </a:pPr>
            <a:r>
              <a:rPr lang="en-US" sz="1500" dirty="0">
                <a:solidFill>
                  <a:srgbClr val="D1D5DB"/>
                </a:solidFill>
                <a:latin typeface="MiSans" pitchFamily="34" charset="0"/>
                <a:ea typeface="MiSans" pitchFamily="34" charset="-122"/>
                <a:cs typeface="MiSans" pitchFamily="34" charset="-120"/>
              </a:rPr>
              <a:t>定义包含</a:t>
            </a:r>
            <a:pPr>
              <a:lnSpc>
                <a:spcPct val="140000"/>
              </a:lnSpc>
            </a:pPr>
            <a:r>
              <a:rPr lang="en-US" sz="1500" b="1" dirty="0">
                <a:solidFill>
                  <a:srgbClr val="4C7E9A"/>
                </a:solidFill>
                <a:latin typeface="MiSans" pitchFamily="34" charset="0"/>
                <a:ea typeface="MiSans" pitchFamily="34" charset="-122"/>
                <a:cs typeface="MiSans" pitchFamily="34" charset="-120"/>
              </a:rPr>
              <a:t>10个样本</a:t>
            </a:r>
            <a:pPr>
              <a:lnSpc>
                <a:spcPct val="140000"/>
              </a:lnSpc>
            </a:pPr>
            <a:r>
              <a:rPr lang="en-US" sz="1500" dirty="0">
                <a:solidFill>
                  <a:srgbClr val="D1D5DB"/>
                </a:solidFill>
                <a:latin typeface="MiSans" pitchFamily="34" charset="0"/>
                <a:ea typeface="MiSans" pitchFamily="34" charset="-122"/>
                <a:cs typeface="MiSans" pitchFamily="34" charset="-120"/>
              </a:rPr>
              <a:t>的数据集，模拟AdaBoost进行3轮迭代。</a:t>
            </a:r>
            <a:endParaRPr lang="en-US" sz="1600" dirty="0"/>
          </a:p>
        </p:txBody>
      </p:sp>
      <p:sp>
        <p:nvSpPr>
          <p:cNvPr id="9" name="Shape 7"/>
          <p:cNvSpPr/>
          <p:nvPr/>
        </p:nvSpPr>
        <p:spPr>
          <a:xfrm>
            <a:off x="635000" y="2595563"/>
            <a:ext cx="7217833" cy="1058333"/>
          </a:xfrm>
          <a:custGeom>
            <a:avLst/>
            <a:gdLst/>
            <a:ahLst/>
            <a:cxnLst/>
            <a:rect l="l" t="t" r="r" b="b"/>
            <a:pathLst>
              <a:path w="7217833" h="1058333">
                <a:moveTo>
                  <a:pt x="84667" y="0"/>
                </a:moveTo>
                <a:lnTo>
                  <a:pt x="7133167" y="0"/>
                </a:lnTo>
                <a:cubicBezTo>
                  <a:pt x="7179927" y="0"/>
                  <a:pt x="7217833" y="37907"/>
                  <a:pt x="7217833" y="84667"/>
                </a:cubicBezTo>
                <a:lnTo>
                  <a:pt x="7217833" y="973667"/>
                </a:lnTo>
                <a:cubicBezTo>
                  <a:pt x="7217833" y="1020427"/>
                  <a:pt x="7179927" y="1058333"/>
                  <a:pt x="7133167" y="1058333"/>
                </a:cubicBezTo>
                <a:lnTo>
                  <a:pt x="84667" y="1058333"/>
                </a:lnTo>
                <a:cubicBezTo>
                  <a:pt x="37907" y="1058333"/>
                  <a:pt x="0" y="1020427"/>
                  <a:pt x="0" y="973667"/>
                </a:cubicBezTo>
                <a:lnTo>
                  <a:pt x="0" y="84667"/>
                </a:lnTo>
                <a:cubicBezTo>
                  <a:pt x="0" y="37907"/>
                  <a:pt x="37907" y="0"/>
                  <a:pt x="84667" y="0"/>
                </a:cubicBezTo>
                <a:close/>
              </a:path>
            </a:pathLst>
          </a:custGeom>
          <a:solidFill>
            <a:srgbClr val="181A1F">
              <a:alpha val="50196"/>
            </a:srgbClr>
          </a:solidFill>
          <a:ln/>
        </p:spPr>
      </p:sp>
      <p:sp>
        <p:nvSpPr>
          <p:cNvPr id="10" name="Text 8"/>
          <p:cNvSpPr/>
          <p:nvPr/>
        </p:nvSpPr>
        <p:spPr>
          <a:xfrm>
            <a:off x="762000" y="2722563"/>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样本数据</a:t>
            </a:r>
            <a:endParaRPr lang="en-US" sz="1600" dirty="0"/>
          </a:p>
        </p:txBody>
      </p:sp>
      <p:sp>
        <p:nvSpPr>
          <p:cNvPr id="11" name="Text 9"/>
          <p:cNvSpPr/>
          <p:nvPr/>
        </p:nvSpPr>
        <p:spPr>
          <a:xfrm>
            <a:off x="762000" y="3061229"/>
            <a:ext cx="7037917" cy="211667"/>
          </a:xfrm>
          <a:prstGeom prst="rect">
            <a:avLst/>
          </a:prstGeom>
          <a:noFill/>
          <a:ln/>
        </p:spPr>
        <p:txBody>
          <a:bodyPr wrap="square" lIns="0" tIns="0" rIns="0" bIns="0" rtlCol="0" anchor="ctr"/>
          <a:lstStyle/>
          <a:p>
            <a:pPr>
              <a:lnSpc>
                <a:spcPct val="120000"/>
              </a:lnSpc>
            </a:pPr>
            <a:r>
              <a:rPr lang="en-US" sz="1167" b="1" dirty="0">
                <a:solidFill>
                  <a:srgbClr val="D1D5DB"/>
                </a:solidFill>
                <a:latin typeface="MiSans" pitchFamily="34" charset="0"/>
                <a:ea typeface="MiSans" pitchFamily="34" charset="-122"/>
                <a:cs typeface="MiSans" pitchFamily="34" charset="-120"/>
              </a:rPr>
              <a:t>x：</a:t>
            </a:r>
            <a:pPr>
              <a:lnSpc>
                <a:spcPct val="120000"/>
              </a:lnSpc>
            </a:pPr>
            <a:r>
              <a:rPr lang="en-US" sz="1167" dirty="0">
                <a:solidFill>
                  <a:srgbClr val="7E9AA8"/>
                </a:solidFill>
                <a:latin typeface="MiSans" pitchFamily="34" charset="0"/>
                <a:ea typeface="MiSans" pitchFamily="34" charset="-122"/>
                <a:cs typeface="MiSans" pitchFamily="34" charset="-120"/>
              </a:rPr>
              <a:t>[0, 1, 2, 3, 4, 5, 6, 7, 8, 9]</a:t>
            </a:r>
            <a:endParaRPr lang="en-US" sz="1600" dirty="0"/>
          </a:p>
        </p:txBody>
      </p:sp>
      <p:sp>
        <p:nvSpPr>
          <p:cNvPr id="12" name="Text 10"/>
          <p:cNvSpPr/>
          <p:nvPr/>
        </p:nvSpPr>
        <p:spPr>
          <a:xfrm>
            <a:off x="762000" y="3315229"/>
            <a:ext cx="7037917" cy="211667"/>
          </a:xfrm>
          <a:prstGeom prst="rect">
            <a:avLst/>
          </a:prstGeom>
          <a:noFill/>
          <a:ln/>
        </p:spPr>
        <p:txBody>
          <a:bodyPr wrap="square" lIns="0" tIns="0" rIns="0" bIns="0" rtlCol="0" anchor="ctr"/>
          <a:lstStyle/>
          <a:p>
            <a:pPr>
              <a:lnSpc>
                <a:spcPct val="120000"/>
              </a:lnSpc>
            </a:pPr>
            <a:r>
              <a:rPr lang="en-US" sz="1167" b="1" dirty="0">
                <a:solidFill>
                  <a:srgbClr val="D1D5DB"/>
                </a:solidFill>
                <a:latin typeface="MiSans" pitchFamily="34" charset="0"/>
                <a:ea typeface="MiSans" pitchFamily="34" charset="-122"/>
                <a:cs typeface="MiSans" pitchFamily="34" charset="-120"/>
              </a:rPr>
              <a:t>y：</a:t>
            </a:r>
            <a:pPr>
              <a:lnSpc>
                <a:spcPct val="120000"/>
              </a:lnSpc>
            </a:pPr>
            <a:r>
              <a:rPr lang="en-US" sz="1167" dirty="0">
                <a:solidFill>
                  <a:srgbClr val="7E9AA8"/>
                </a:solidFill>
                <a:latin typeface="MiSans" pitchFamily="34" charset="0"/>
                <a:ea typeface="MiSans" pitchFamily="34" charset="-122"/>
                <a:cs typeface="MiSans" pitchFamily="34" charset="-120"/>
              </a:rPr>
              <a:t>[1, 1, 1, -1, -1, -1, 1, 1, 1, -1]</a:t>
            </a:r>
            <a:endParaRPr lang="en-US" sz="1600" dirty="0"/>
          </a:p>
        </p:txBody>
      </p:sp>
      <p:sp>
        <p:nvSpPr>
          <p:cNvPr id="13" name="Shape 11"/>
          <p:cNvSpPr/>
          <p:nvPr/>
        </p:nvSpPr>
        <p:spPr>
          <a:xfrm>
            <a:off x="444500" y="3992563"/>
            <a:ext cx="7577667" cy="3407833"/>
          </a:xfrm>
          <a:custGeom>
            <a:avLst/>
            <a:gdLst/>
            <a:ahLst/>
            <a:cxnLst/>
            <a:rect l="l" t="t" r="r" b="b"/>
            <a:pathLst>
              <a:path w="7577667" h="3407833">
                <a:moveTo>
                  <a:pt x="42333" y="0"/>
                </a:moveTo>
                <a:lnTo>
                  <a:pt x="7493016" y="0"/>
                </a:lnTo>
                <a:cubicBezTo>
                  <a:pt x="7539767" y="0"/>
                  <a:pt x="7577667" y="37899"/>
                  <a:pt x="7577667" y="84651"/>
                </a:cubicBezTo>
                <a:lnTo>
                  <a:pt x="7577667" y="3323183"/>
                </a:lnTo>
                <a:cubicBezTo>
                  <a:pt x="7577667" y="3369934"/>
                  <a:pt x="7539767" y="3407833"/>
                  <a:pt x="7493016" y="3407833"/>
                </a:cubicBezTo>
                <a:lnTo>
                  <a:pt x="42333" y="3407833"/>
                </a:lnTo>
                <a:cubicBezTo>
                  <a:pt x="18953" y="3407833"/>
                  <a:pt x="0" y="3388880"/>
                  <a:pt x="0" y="3365500"/>
                </a:cubicBezTo>
                <a:lnTo>
                  <a:pt x="0" y="42333"/>
                </a:lnTo>
                <a:cubicBezTo>
                  <a:pt x="0" y="18969"/>
                  <a:pt x="18969" y="0"/>
                  <a:pt x="42333" y="0"/>
                </a:cubicBezTo>
                <a:close/>
              </a:path>
            </a:pathLst>
          </a:custGeom>
          <a:solidFill>
            <a:srgbClr val="3A5E78">
              <a:alpha val="20000"/>
            </a:srgbClr>
          </a:solidFill>
          <a:ln/>
        </p:spPr>
      </p:sp>
      <p:sp>
        <p:nvSpPr>
          <p:cNvPr id="14" name="Shape 12"/>
          <p:cNvSpPr/>
          <p:nvPr/>
        </p:nvSpPr>
        <p:spPr>
          <a:xfrm>
            <a:off x="444500" y="3992563"/>
            <a:ext cx="42333" cy="3407833"/>
          </a:xfrm>
          <a:custGeom>
            <a:avLst/>
            <a:gdLst/>
            <a:ahLst/>
            <a:cxnLst/>
            <a:rect l="l" t="t" r="r" b="b"/>
            <a:pathLst>
              <a:path w="42333" h="3407833">
                <a:moveTo>
                  <a:pt x="42333" y="0"/>
                </a:moveTo>
                <a:lnTo>
                  <a:pt x="42333" y="0"/>
                </a:lnTo>
                <a:lnTo>
                  <a:pt x="42333" y="3407833"/>
                </a:lnTo>
                <a:lnTo>
                  <a:pt x="42333" y="3407833"/>
                </a:lnTo>
                <a:cubicBezTo>
                  <a:pt x="18953" y="3407833"/>
                  <a:pt x="0" y="3388880"/>
                  <a:pt x="0" y="3365500"/>
                </a:cubicBezTo>
                <a:lnTo>
                  <a:pt x="0" y="42333"/>
                </a:lnTo>
                <a:cubicBezTo>
                  <a:pt x="0" y="18953"/>
                  <a:pt x="18953" y="0"/>
                  <a:pt x="42333" y="0"/>
                </a:cubicBezTo>
                <a:close/>
              </a:path>
            </a:pathLst>
          </a:custGeom>
          <a:solidFill>
            <a:srgbClr val="7E9AA8"/>
          </a:solidFill>
          <a:ln/>
        </p:spPr>
      </p:sp>
      <p:sp>
        <p:nvSpPr>
          <p:cNvPr id="15" name="Text 13"/>
          <p:cNvSpPr/>
          <p:nvPr/>
        </p:nvSpPr>
        <p:spPr>
          <a:xfrm>
            <a:off x="635000" y="4161896"/>
            <a:ext cx="7344833"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候选弱分类器</a:t>
            </a:r>
            <a:endParaRPr lang="en-US" sz="1600" dirty="0"/>
          </a:p>
        </p:txBody>
      </p:sp>
      <p:sp>
        <p:nvSpPr>
          <p:cNvPr id="16" name="Text 14"/>
          <p:cNvSpPr/>
          <p:nvPr/>
        </p:nvSpPr>
        <p:spPr>
          <a:xfrm>
            <a:off x="635000" y="4627563"/>
            <a:ext cx="7302500" cy="275167"/>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定义3个候选弱分类器，每轮从中选择加权分类误差最小的：</a:t>
            </a:r>
            <a:endParaRPr lang="en-US" sz="1600" dirty="0"/>
          </a:p>
        </p:txBody>
      </p:sp>
      <p:sp>
        <p:nvSpPr>
          <p:cNvPr id="17" name="Shape 15"/>
          <p:cNvSpPr/>
          <p:nvPr/>
        </p:nvSpPr>
        <p:spPr>
          <a:xfrm>
            <a:off x="635000" y="5029729"/>
            <a:ext cx="7217833" cy="677333"/>
          </a:xfrm>
          <a:custGeom>
            <a:avLst/>
            <a:gdLst/>
            <a:ahLst/>
            <a:cxnLst/>
            <a:rect l="l" t="t" r="r" b="b"/>
            <a:pathLst>
              <a:path w="7217833" h="677333">
                <a:moveTo>
                  <a:pt x="42333" y="0"/>
                </a:moveTo>
                <a:lnTo>
                  <a:pt x="7175500" y="0"/>
                </a:lnTo>
                <a:cubicBezTo>
                  <a:pt x="7198880" y="0"/>
                  <a:pt x="7217833" y="18953"/>
                  <a:pt x="7217833" y="42333"/>
                </a:cubicBezTo>
                <a:lnTo>
                  <a:pt x="7217833" y="635000"/>
                </a:lnTo>
                <a:cubicBezTo>
                  <a:pt x="7217833" y="658380"/>
                  <a:pt x="7198880" y="677333"/>
                  <a:pt x="7175500"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alpha val="50196"/>
            </a:srgbClr>
          </a:solidFill>
          <a:ln/>
        </p:spPr>
      </p:sp>
      <p:sp>
        <p:nvSpPr>
          <p:cNvPr id="18" name="Text 16"/>
          <p:cNvSpPr/>
          <p:nvPr/>
        </p:nvSpPr>
        <p:spPr>
          <a:xfrm>
            <a:off x="719667" y="5114396"/>
            <a:ext cx="7133167"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G₁(x) = 1 (x &lt; 2.5) else -1</a:t>
            </a:r>
            <a:endParaRPr lang="en-US" sz="1600" dirty="0"/>
          </a:p>
        </p:txBody>
      </p:sp>
      <p:sp>
        <p:nvSpPr>
          <p:cNvPr id="19" name="Text 17"/>
          <p:cNvSpPr/>
          <p:nvPr/>
        </p:nvSpPr>
        <p:spPr>
          <a:xfrm>
            <a:off x="719667" y="5410729"/>
            <a:ext cx="7122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阈值在2.5的决策桩</a:t>
            </a:r>
            <a:endParaRPr lang="en-US" sz="1600" dirty="0"/>
          </a:p>
        </p:txBody>
      </p:sp>
      <p:sp>
        <p:nvSpPr>
          <p:cNvPr id="20" name="Shape 18"/>
          <p:cNvSpPr/>
          <p:nvPr/>
        </p:nvSpPr>
        <p:spPr>
          <a:xfrm>
            <a:off x="635000" y="5791729"/>
            <a:ext cx="7217833" cy="677333"/>
          </a:xfrm>
          <a:custGeom>
            <a:avLst/>
            <a:gdLst/>
            <a:ahLst/>
            <a:cxnLst/>
            <a:rect l="l" t="t" r="r" b="b"/>
            <a:pathLst>
              <a:path w="7217833" h="677333">
                <a:moveTo>
                  <a:pt x="42333" y="0"/>
                </a:moveTo>
                <a:lnTo>
                  <a:pt x="7175500" y="0"/>
                </a:lnTo>
                <a:cubicBezTo>
                  <a:pt x="7198880" y="0"/>
                  <a:pt x="7217833" y="18953"/>
                  <a:pt x="7217833" y="42333"/>
                </a:cubicBezTo>
                <a:lnTo>
                  <a:pt x="7217833" y="635000"/>
                </a:lnTo>
                <a:cubicBezTo>
                  <a:pt x="7217833" y="658380"/>
                  <a:pt x="7198880" y="677333"/>
                  <a:pt x="7175500"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alpha val="50196"/>
            </a:srgbClr>
          </a:solidFill>
          <a:ln/>
        </p:spPr>
      </p:sp>
      <p:sp>
        <p:nvSpPr>
          <p:cNvPr id="21" name="Text 19"/>
          <p:cNvSpPr/>
          <p:nvPr/>
        </p:nvSpPr>
        <p:spPr>
          <a:xfrm>
            <a:off x="719667" y="5876396"/>
            <a:ext cx="7133167"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G₂(x) = 1 (x &lt; 8.5) else -1</a:t>
            </a:r>
            <a:endParaRPr lang="en-US" sz="1600" dirty="0"/>
          </a:p>
        </p:txBody>
      </p:sp>
      <p:sp>
        <p:nvSpPr>
          <p:cNvPr id="22" name="Text 20"/>
          <p:cNvSpPr/>
          <p:nvPr/>
        </p:nvSpPr>
        <p:spPr>
          <a:xfrm>
            <a:off x="719667" y="6172729"/>
            <a:ext cx="7122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阈值在8.5的决策桩</a:t>
            </a:r>
            <a:endParaRPr lang="en-US" sz="1600" dirty="0"/>
          </a:p>
        </p:txBody>
      </p:sp>
      <p:sp>
        <p:nvSpPr>
          <p:cNvPr id="23" name="Shape 21"/>
          <p:cNvSpPr/>
          <p:nvPr/>
        </p:nvSpPr>
        <p:spPr>
          <a:xfrm>
            <a:off x="635000" y="6553729"/>
            <a:ext cx="7217833" cy="677333"/>
          </a:xfrm>
          <a:custGeom>
            <a:avLst/>
            <a:gdLst/>
            <a:ahLst/>
            <a:cxnLst/>
            <a:rect l="l" t="t" r="r" b="b"/>
            <a:pathLst>
              <a:path w="7217833" h="677333">
                <a:moveTo>
                  <a:pt x="42333" y="0"/>
                </a:moveTo>
                <a:lnTo>
                  <a:pt x="7175500" y="0"/>
                </a:lnTo>
                <a:cubicBezTo>
                  <a:pt x="7198880" y="0"/>
                  <a:pt x="7217833" y="18953"/>
                  <a:pt x="7217833" y="42333"/>
                </a:cubicBezTo>
                <a:lnTo>
                  <a:pt x="7217833" y="635000"/>
                </a:lnTo>
                <a:cubicBezTo>
                  <a:pt x="7217833" y="658380"/>
                  <a:pt x="7198880" y="677333"/>
                  <a:pt x="7175500"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alpha val="50196"/>
            </a:srgbClr>
          </a:solidFill>
          <a:ln/>
        </p:spPr>
      </p:sp>
      <p:sp>
        <p:nvSpPr>
          <p:cNvPr id="24" name="Text 22"/>
          <p:cNvSpPr/>
          <p:nvPr/>
        </p:nvSpPr>
        <p:spPr>
          <a:xfrm>
            <a:off x="719667" y="6638396"/>
            <a:ext cx="7133167"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G₃(x) = 1 (x ≥ 5.5) else -1</a:t>
            </a:r>
            <a:endParaRPr lang="en-US" sz="1600" dirty="0"/>
          </a:p>
        </p:txBody>
      </p:sp>
      <p:sp>
        <p:nvSpPr>
          <p:cNvPr id="25" name="Text 23"/>
          <p:cNvSpPr/>
          <p:nvPr/>
        </p:nvSpPr>
        <p:spPr>
          <a:xfrm>
            <a:off x="719667" y="6934729"/>
            <a:ext cx="7122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反向阈值在5.5的决策桩</a:t>
            </a:r>
            <a:endParaRPr lang="en-US" sz="1600" dirty="0"/>
          </a:p>
        </p:txBody>
      </p:sp>
      <p:sp>
        <p:nvSpPr>
          <p:cNvPr id="26" name="Shape 24"/>
          <p:cNvSpPr/>
          <p:nvPr/>
        </p:nvSpPr>
        <p:spPr>
          <a:xfrm>
            <a:off x="8239125" y="1529292"/>
            <a:ext cx="7588250" cy="4116917"/>
          </a:xfrm>
          <a:custGeom>
            <a:avLst/>
            <a:gdLst/>
            <a:ahLst/>
            <a:cxnLst/>
            <a:rect l="l" t="t" r="r" b="b"/>
            <a:pathLst>
              <a:path w="7588250" h="4116917">
                <a:moveTo>
                  <a:pt x="84685" y="0"/>
                </a:moveTo>
                <a:lnTo>
                  <a:pt x="7503565" y="0"/>
                </a:lnTo>
                <a:cubicBezTo>
                  <a:pt x="7550335" y="0"/>
                  <a:pt x="7588250" y="37915"/>
                  <a:pt x="7588250" y="84685"/>
                </a:cubicBezTo>
                <a:lnTo>
                  <a:pt x="7588250" y="4032232"/>
                </a:lnTo>
                <a:cubicBezTo>
                  <a:pt x="7588250" y="4079002"/>
                  <a:pt x="7550335" y="4116917"/>
                  <a:pt x="7503565" y="4116917"/>
                </a:cubicBezTo>
                <a:lnTo>
                  <a:pt x="84685" y="4116917"/>
                </a:lnTo>
                <a:cubicBezTo>
                  <a:pt x="37915" y="4116917"/>
                  <a:pt x="0" y="4079002"/>
                  <a:pt x="0" y="4032232"/>
                </a:cubicBezTo>
                <a:lnTo>
                  <a:pt x="0" y="84685"/>
                </a:lnTo>
                <a:cubicBezTo>
                  <a:pt x="0" y="37946"/>
                  <a:pt x="37946" y="0"/>
                  <a:pt x="84685" y="0"/>
                </a:cubicBezTo>
                <a:close/>
              </a:path>
            </a:pathLst>
          </a:custGeom>
          <a:solidFill>
            <a:srgbClr val="3A5E78">
              <a:alpha val="20000"/>
            </a:srgbClr>
          </a:solidFill>
          <a:ln w="12700">
            <a:solidFill>
              <a:srgbClr val="4C7E9A">
                <a:alpha val="50196"/>
              </a:srgbClr>
            </a:solidFill>
            <a:prstDash val="solid"/>
          </a:ln>
        </p:spPr>
      </p:sp>
      <p:sp>
        <p:nvSpPr>
          <p:cNvPr id="27" name="Text 25"/>
          <p:cNvSpPr/>
          <p:nvPr/>
        </p:nvSpPr>
        <p:spPr>
          <a:xfrm>
            <a:off x="8413750" y="1703917"/>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任务目标</a:t>
            </a:r>
            <a:endParaRPr lang="en-US" sz="1600" dirty="0"/>
          </a:p>
        </p:txBody>
      </p:sp>
      <p:sp>
        <p:nvSpPr>
          <p:cNvPr id="28" name="Text 26"/>
          <p:cNvSpPr/>
          <p:nvPr/>
        </p:nvSpPr>
        <p:spPr>
          <a:xfrm>
            <a:off x="8413750" y="2169583"/>
            <a:ext cx="7323667" cy="550333"/>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模拟AdaBoost进行3轮迭代，每轮从候选集中选择加权分类误差最小的弱分类器，并更新样本权重。</a:t>
            </a:r>
            <a:endParaRPr lang="en-US" sz="1600" dirty="0"/>
          </a:p>
        </p:txBody>
      </p:sp>
      <p:sp>
        <p:nvSpPr>
          <p:cNvPr id="29" name="Shape 27"/>
          <p:cNvSpPr/>
          <p:nvPr/>
        </p:nvSpPr>
        <p:spPr>
          <a:xfrm>
            <a:off x="8413750" y="2846917"/>
            <a:ext cx="7239000" cy="1566333"/>
          </a:xfrm>
          <a:custGeom>
            <a:avLst/>
            <a:gdLst/>
            <a:ahLst/>
            <a:cxnLst/>
            <a:rect l="l" t="t" r="r" b="b"/>
            <a:pathLst>
              <a:path w="7239000" h="1566333">
                <a:moveTo>
                  <a:pt x="42338" y="0"/>
                </a:moveTo>
                <a:lnTo>
                  <a:pt x="7196662" y="0"/>
                </a:lnTo>
                <a:cubicBezTo>
                  <a:pt x="7220045" y="0"/>
                  <a:pt x="7239000" y="18955"/>
                  <a:pt x="7239000" y="42338"/>
                </a:cubicBezTo>
                <a:lnTo>
                  <a:pt x="7239000" y="1523995"/>
                </a:lnTo>
                <a:cubicBezTo>
                  <a:pt x="7239000" y="1547378"/>
                  <a:pt x="7220045" y="1566333"/>
                  <a:pt x="7196662" y="1566333"/>
                </a:cubicBezTo>
                <a:lnTo>
                  <a:pt x="42338" y="1566333"/>
                </a:lnTo>
                <a:cubicBezTo>
                  <a:pt x="18955" y="1566333"/>
                  <a:pt x="0" y="1547378"/>
                  <a:pt x="0" y="1523995"/>
                </a:cubicBezTo>
                <a:lnTo>
                  <a:pt x="0" y="42338"/>
                </a:lnTo>
                <a:cubicBezTo>
                  <a:pt x="0" y="18971"/>
                  <a:pt x="18971" y="0"/>
                  <a:pt x="42338" y="0"/>
                </a:cubicBezTo>
                <a:close/>
              </a:path>
            </a:pathLst>
          </a:custGeom>
          <a:solidFill>
            <a:srgbClr val="181A1F">
              <a:alpha val="50196"/>
            </a:srgbClr>
          </a:solidFill>
          <a:ln/>
        </p:spPr>
      </p:sp>
      <p:sp>
        <p:nvSpPr>
          <p:cNvPr id="30" name="Text 28"/>
          <p:cNvSpPr/>
          <p:nvPr/>
        </p:nvSpPr>
        <p:spPr>
          <a:xfrm>
            <a:off x="8540750" y="2973917"/>
            <a:ext cx="7080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核心机制</a:t>
            </a:r>
            <a:endParaRPr lang="en-US" sz="1600" dirty="0"/>
          </a:p>
        </p:txBody>
      </p:sp>
      <p:sp>
        <p:nvSpPr>
          <p:cNvPr id="31" name="Text 29"/>
          <p:cNvSpPr/>
          <p:nvPr/>
        </p:nvSpPr>
        <p:spPr>
          <a:xfrm>
            <a:off x="8540750" y="3312583"/>
            <a:ext cx="7059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计算各分类器的加权错误率 ε_t</a:t>
            </a:r>
            <a:endParaRPr lang="en-US" sz="1600" dirty="0"/>
          </a:p>
        </p:txBody>
      </p:sp>
      <p:sp>
        <p:nvSpPr>
          <p:cNvPr id="32" name="Text 30"/>
          <p:cNvSpPr/>
          <p:nvPr/>
        </p:nvSpPr>
        <p:spPr>
          <a:xfrm>
            <a:off x="8540750" y="3566583"/>
            <a:ext cx="7059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计算投票权重 α_t = ½ ln((1-ε_t)/ε_t)</a:t>
            </a:r>
            <a:endParaRPr lang="en-US" sz="1600" dirty="0"/>
          </a:p>
        </p:txBody>
      </p:sp>
      <p:sp>
        <p:nvSpPr>
          <p:cNvPr id="33" name="Text 31"/>
          <p:cNvSpPr/>
          <p:nvPr/>
        </p:nvSpPr>
        <p:spPr>
          <a:xfrm>
            <a:off x="8540750" y="3820583"/>
            <a:ext cx="7059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更新样本权重 w_i ← w_i × exp(α_t × I(y_i ≠ G_t(x_i)))</a:t>
            </a:r>
            <a:endParaRPr lang="en-US" sz="1600" dirty="0"/>
          </a:p>
        </p:txBody>
      </p:sp>
      <p:sp>
        <p:nvSpPr>
          <p:cNvPr id="34" name="Text 32"/>
          <p:cNvSpPr/>
          <p:nvPr/>
        </p:nvSpPr>
        <p:spPr>
          <a:xfrm>
            <a:off x="8540750" y="4074583"/>
            <a:ext cx="7059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归一化权重使其和为1</a:t>
            </a:r>
            <a:endParaRPr lang="en-US" sz="1600" dirty="0"/>
          </a:p>
        </p:txBody>
      </p:sp>
      <p:sp>
        <p:nvSpPr>
          <p:cNvPr id="35" name="Shape 33"/>
          <p:cNvSpPr/>
          <p:nvPr/>
        </p:nvSpPr>
        <p:spPr>
          <a:xfrm>
            <a:off x="8413750" y="4497917"/>
            <a:ext cx="7239000" cy="973667"/>
          </a:xfrm>
          <a:custGeom>
            <a:avLst/>
            <a:gdLst/>
            <a:ahLst/>
            <a:cxnLst/>
            <a:rect l="l" t="t" r="r" b="b"/>
            <a:pathLst>
              <a:path w="7239000" h="973667">
                <a:moveTo>
                  <a:pt x="42335" y="0"/>
                </a:moveTo>
                <a:lnTo>
                  <a:pt x="7196665" y="0"/>
                </a:lnTo>
                <a:cubicBezTo>
                  <a:pt x="7220046" y="0"/>
                  <a:pt x="7239000" y="18954"/>
                  <a:pt x="7239000" y="42335"/>
                </a:cubicBezTo>
                <a:lnTo>
                  <a:pt x="7239000" y="931332"/>
                </a:lnTo>
                <a:cubicBezTo>
                  <a:pt x="7239000" y="954713"/>
                  <a:pt x="7220046" y="973667"/>
                  <a:pt x="7196665" y="973667"/>
                </a:cubicBezTo>
                <a:lnTo>
                  <a:pt x="42335" y="973667"/>
                </a:lnTo>
                <a:cubicBezTo>
                  <a:pt x="18954" y="973667"/>
                  <a:pt x="0" y="954713"/>
                  <a:pt x="0" y="931332"/>
                </a:cubicBezTo>
                <a:lnTo>
                  <a:pt x="0" y="42335"/>
                </a:lnTo>
                <a:cubicBezTo>
                  <a:pt x="0" y="18970"/>
                  <a:pt x="18970" y="0"/>
                  <a:pt x="42335" y="0"/>
                </a:cubicBezTo>
                <a:close/>
              </a:path>
            </a:pathLst>
          </a:custGeom>
          <a:solidFill>
            <a:srgbClr val="181A1F">
              <a:alpha val="50196"/>
            </a:srgbClr>
          </a:solidFill>
          <a:ln/>
        </p:spPr>
      </p:sp>
      <p:sp>
        <p:nvSpPr>
          <p:cNvPr id="36" name="Text 34"/>
          <p:cNvSpPr/>
          <p:nvPr/>
        </p:nvSpPr>
        <p:spPr>
          <a:xfrm>
            <a:off x="8540750" y="4624917"/>
            <a:ext cx="7080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最终模型</a:t>
            </a:r>
            <a:endParaRPr lang="en-US" sz="1600" dirty="0"/>
          </a:p>
        </p:txBody>
      </p:sp>
      <p:sp>
        <p:nvSpPr>
          <p:cNvPr id="37" name="Shape 35"/>
          <p:cNvSpPr/>
          <p:nvPr/>
        </p:nvSpPr>
        <p:spPr>
          <a:xfrm>
            <a:off x="8540750" y="4963583"/>
            <a:ext cx="6985000" cy="381000"/>
          </a:xfrm>
          <a:custGeom>
            <a:avLst/>
            <a:gdLst/>
            <a:ahLst/>
            <a:cxnLst/>
            <a:rect l="l" t="t" r="r" b="b"/>
            <a:pathLst>
              <a:path w="6985000" h="381000">
                <a:moveTo>
                  <a:pt x="42333" y="0"/>
                </a:moveTo>
                <a:lnTo>
                  <a:pt x="6942667" y="0"/>
                </a:lnTo>
                <a:cubicBezTo>
                  <a:pt x="6966047" y="0"/>
                  <a:pt x="6985000" y="18953"/>
                  <a:pt x="6985000" y="42333"/>
                </a:cubicBezTo>
                <a:lnTo>
                  <a:pt x="6985000" y="338667"/>
                </a:lnTo>
                <a:cubicBezTo>
                  <a:pt x="6985000" y="362047"/>
                  <a:pt x="6966047" y="381000"/>
                  <a:pt x="6942667" y="381000"/>
                </a:cubicBezTo>
                <a:lnTo>
                  <a:pt x="42333" y="381000"/>
                </a:lnTo>
                <a:cubicBezTo>
                  <a:pt x="18953" y="381000"/>
                  <a:pt x="0" y="362047"/>
                  <a:pt x="0" y="338667"/>
                </a:cubicBezTo>
                <a:lnTo>
                  <a:pt x="0" y="42333"/>
                </a:lnTo>
                <a:cubicBezTo>
                  <a:pt x="0" y="18969"/>
                  <a:pt x="18969" y="0"/>
                  <a:pt x="42333" y="0"/>
                </a:cubicBezTo>
                <a:close/>
              </a:path>
            </a:pathLst>
          </a:custGeom>
          <a:solidFill>
            <a:srgbClr val="181A1F"/>
          </a:solidFill>
          <a:ln/>
        </p:spPr>
      </p:sp>
      <p:sp>
        <p:nvSpPr>
          <p:cNvPr id="38" name="Text 36"/>
          <p:cNvSpPr/>
          <p:nvPr/>
        </p:nvSpPr>
        <p:spPr>
          <a:xfrm>
            <a:off x="8588375" y="5048250"/>
            <a:ext cx="6889750" cy="211667"/>
          </a:xfrm>
          <a:prstGeom prst="rect">
            <a:avLst/>
          </a:prstGeom>
          <a:noFill/>
          <a:ln/>
        </p:spPr>
        <p:txBody>
          <a:bodyPr wrap="square" lIns="0" tIns="0" rIns="0" bIns="0" rtlCol="0" anchor="ctr"/>
          <a:lstStyle/>
          <a:p>
            <a:pPr algn="ctr">
              <a:lnSpc>
                <a:spcPct val="120000"/>
              </a:lnSpc>
            </a:pPr>
            <a:r>
              <a:rPr lang="en-US" sz="1167" dirty="0">
                <a:solidFill>
                  <a:srgbClr val="7E9AA8"/>
                </a:solidFill>
                <a:latin typeface="MiSans" pitchFamily="34" charset="0"/>
                <a:ea typeface="MiSans" pitchFamily="34" charset="-122"/>
                <a:cs typeface="MiSans" pitchFamily="34" charset="-120"/>
              </a:rPr>
              <a:t>F(x) = sign(∑ α_t G_t(x))</a:t>
            </a:r>
            <a:endParaRPr lang="en-US" sz="1600" dirty="0"/>
          </a:p>
        </p:txBody>
      </p:sp>
      <p:sp>
        <p:nvSpPr>
          <p:cNvPr id="39" name="Shape 37"/>
          <p:cNvSpPr/>
          <p:nvPr/>
        </p:nvSpPr>
        <p:spPr>
          <a:xfrm>
            <a:off x="8239125" y="5826125"/>
            <a:ext cx="7588250" cy="3016250"/>
          </a:xfrm>
          <a:custGeom>
            <a:avLst/>
            <a:gdLst/>
            <a:ahLst/>
            <a:cxnLst/>
            <a:rect l="l" t="t" r="r" b="b"/>
            <a:pathLst>
              <a:path w="7588250" h="3016250">
                <a:moveTo>
                  <a:pt x="84666" y="0"/>
                </a:moveTo>
                <a:lnTo>
                  <a:pt x="7503584" y="0"/>
                </a:lnTo>
                <a:cubicBezTo>
                  <a:pt x="7550344" y="0"/>
                  <a:pt x="7588250" y="37906"/>
                  <a:pt x="7588250" y="84666"/>
                </a:cubicBezTo>
                <a:lnTo>
                  <a:pt x="7588250" y="2931584"/>
                </a:lnTo>
                <a:cubicBezTo>
                  <a:pt x="7588250" y="2978344"/>
                  <a:pt x="7550344" y="3016250"/>
                  <a:pt x="7503584" y="3016250"/>
                </a:cubicBezTo>
                <a:lnTo>
                  <a:pt x="84666" y="3016250"/>
                </a:lnTo>
                <a:cubicBezTo>
                  <a:pt x="37906" y="3016250"/>
                  <a:pt x="0" y="2978344"/>
                  <a:pt x="0" y="2931584"/>
                </a:cubicBezTo>
                <a:lnTo>
                  <a:pt x="0" y="84666"/>
                </a:lnTo>
                <a:cubicBezTo>
                  <a:pt x="0" y="37938"/>
                  <a:pt x="37938" y="0"/>
                  <a:pt x="84666" y="0"/>
                </a:cubicBezTo>
                <a:close/>
              </a:path>
            </a:pathLst>
          </a:custGeom>
          <a:solidFill>
            <a:srgbClr val="3A5E78">
              <a:alpha val="20000"/>
            </a:srgbClr>
          </a:solidFill>
          <a:ln w="12700">
            <a:solidFill>
              <a:srgbClr val="4C7E9A">
                <a:alpha val="50196"/>
              </a:srgbClr>
            </a:solidFill>
            <a:prstDash val="solid"/>
          </a:ln>
        </p:spPr>
      </p:sp>
      <p:sp>
        <p:nvSpPr>
          <p:cNvPr id="40" name="Text 38"/>
          <p:cNvSpPr/>
          <p:nvPr/>
        </p:nvSpPr>
        <p:spPr>
          <a:xfrm>
            <a:off x="8413750" y="6000750"/>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关键洞察</a:t>
            </a:r>
            <a:endParaRPr lang="en-US" sz="1600" dirty="0"/>
          </a:p>
        </p:txBody>
      </p:sp>
      <p:sp>
        <p:nvSpPr>
          <p:cNvPr id="41" name="Shape 39"/>
          <p:cNvSpPr/>
          <p:nvPr/>
        </p:nvSpPr>
        <p:spPr>
          <a:xfrm>
            <a:off x="8413750" y="6466417"/>
            <a:ext cx="7239000" cy="677333"/>
          </a:xfrm>
          <a:custGeom>
            <a:avLst/>
            <a:gdLst/>
            <a:ahLst/>
            <a:cxnLst/>
            <a:rect l="l" t="t" r="r" b="b"/>
            <a:pathLst>
              <a:path w="7239000" h="677333">
                <a:moveTo>
                  <a:pt x="42333" y="0"/>
                </a:moveTo>
                <a:lnTo>
                  <a:pt x="7196667" y="0"/>
                </a:lnTo>
                <a:cubicBezTo>
                  <a:pt x="7220047" y="0"/>
                  <a:pt x="7239000" y="18953"/>
                  <a:pt x="7239000" y="42333"/>
                </a:cubicBezTo>
                <a:lnTo>
                  <a:pt x="7239000" y="635000"/>
                </a:lnTo>
                <a:cubicBezTo>
                  <a:pt x="7239000" y="658380"/>
                  <a:pt x="7220047" y="677333"/>
                  <a:pt x="7196667"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alpha val="50196"/>
            </a:srgbClr>
          </a:solidFill>
          <a:ln/>
        </p:spPr>
      </p:sp>
      <p:sp>
        <p:nvSpPr>
          <p:cNvPr id="42" name="Text 40"/>
          <p:cNvSpPr/>
          <p:nvPr/>
        </p:nvSpPr>
        <p:spPr>
          <a:xfrm>
            <a:off x="8498417" y="6551083"/>
            <a:ext cx="7154333"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权重演化</a:t>
            </a:r>
            <a:endParaRPr lang="en-US" sz="1600" dirty="0"/>
          </a:p>
        </p:txBody>
      </p:sp>
      <p:sp>
        <p:nvSpPr>
          <p:cNvPr id="43" name="Text 41"/>
          <p:cNvSpPr/>
          <p:nvPr/>
        </p:nvSpPr>
        <p:spPr>
          <a:xfrm>
            <a:off x="8498417" y="6847417"/>
            <a:ext cx="71437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被错误分类的样本权重会逐渐增大</a:t>
            </a:r>
            <a:endParaRPr lang="en-US" sz="1600" dirty="0"/>
          </a:p>
        </p:txBody>
      </p:sp>
      <p:sp>
        <p:nvSpPr>
          <p:cNvPr id="44" name="Shape 42"/>
          <p:cNvSpPr/>
          <p:nvPr/>
        </p:nvSpPr>
        <p:spPr>
          <a:xfrm>
            <a:off x="8413750" y="7228417"/>
            <a:ext cx="7239000" cy="677333"/>
          </a:xfrm>
          <a:custGeom>
            <a:avLst/>
            <a:gdLst/>
            <a:ahLst/>
            <a:cxnLst/>
            <a:rect l="l" t="t" r="r" b="b"/>
            <a:pathLst>
              <a:path w="7239000" h="677333">
                <a:moveTo>
                  <a:pt x="42333" y="0"/>
                </a:moveTo>
                <a:lnTo>
                  <a:pt x="7196667" y="0"/>
                </a:lnTo>
                <a:cubicBezTo>
                  <a:pt x="7220047" y="0"/>
                  <a:pt x="7239000" y="18953"/>
                  <a:pt x="7239000" y="42333"/>
                </a:cubicBezTo>
                <a:lnTo>
                  <a:pt x="7239000" y="635000"/>
                </a:lnTo>
                <a:cubicBezTo>
                  <a:pt x="7239000" y="658380"/>
                  <a:pt x="7220047" y="677333"/>
                  <a:pt x="7196667"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alpha val="50196"/>
            </a:srgbClr>
          </a:solidFill>
          <a:ln/>
        </p:spPr>
      </p:sp>
      <p:sp>
        <p:nvSpPr>
          <p:cNvPr id="45" name="Text 43"/>
          <p:cNvSpPr/>
          <p:nvPr/>
        </p:nvSpPr>
        <p:spPr>
          <a:xfrm>
            <a:off x="8498417" y="7313083"/>
            <a:ext cx="7154333"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投票权重</a:t>
            </a:r>
            <a:endParaRPr lang="en-US" sz="1600" dirty="0"/>
          </a:p>
        </p:txBody>
      </p:sp>
      <p:sp>
        <p:nvSpPr>
          <p:cNvPr id="46" name="Text 44"/>
          <p:cNvSpPr/>
          <p:nvPr/>
        </p:nvSpPr>
        <p:spPr>
          <a:xfrm>
            <a:off x="8498417" y="7609417"/>
            <a:ext cx="71437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表现好的分类器获得更高的投票权重</a:t>
            </a:r>
            <a:endParaRPr lang="en-US" sz="1600" dirty="0"/>
          </a:p>
        </p:txBody>
      </p:sp>
      <p:sp>
        <p:nvSpPr>
          <p:cNvPr id="47" name="Shape 45"/>
          <p:cNvSpPr/>
          <p:nvPr/>
        </p:nvSpPr>
        <p:spPr>
          <a:xfrm>
            <a:off x="8413750" y="7990417"/>
            <a:ext cx="7239000" cy="677333"/>
          </a:xfrm>
          <a:custGeom>
            <a:avLst/>
            <a:gdLst/>
            <a:ahLst/>
            <a:cxnLst/>
            <a:rect l="l" t="t" r="r" b="b"/>
            <a:pathLst>
              <a:path w="7239000" h="677333">
                <a:moveTo>
                  <a:pt x="42333" y="0"/>
                </a:moveTo>
                <a:lnTo>
                  <a:pt x="7196667" y="0"/>
                </a:lnTo>
                <a:cubicBezTo>
                  <a:pt x="7220047" y="0"/>
                  <a:pt x="7239000" y="18953"/>
                  <a:pt x="7239000" y="42333"/>
                </a:cubicBezTo>
                <a:lnTo>
                  <a:pt x="7239000" y="635000"/>
                </a:lnTo>
                <a:cubicBezTo>
                  <a:pt x="7239000" y="658380"/>
                  <a:pt x="7220047" y="677333"/>
                  <a:pt x="7196667"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alpha val="50196"/>
            </a:srgbClr>
          </a:solidFill>
          <a:ln/>
        </p:spPr>
      </p:sp>
      <p:sp>
        <p:nvSpPr>
          <p:cNvPr id="48" name="Text 46"/>
          <p:cNvSpPr/>
          <p:nvPr/>
        </p:nvSpPr>
        <p:spPr>
          <a:xfrm>
            <a:off x="8498417" y="8075083"/>
            <a:ext cx="7154333"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化弱为强</a:t>
            </a:r>
            <a:endParaRPr lang="en-US" sz="1600" dirty="0"/>
          </a:p>
        </p:txBody>
      </p:sp>
      <p:sp>
        <p:nvSpPr>
          <p:cNvPr id="49" name="Text 47"/>
          <p:cNvSpPr/>
          <p:nvPr/>
        </p:nvSpPr>
        <p:spPr>
          <a:xfrm>
            <a:off x="8498417" y="8371417"/>
            <a:ext cx="71437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将多个弱分类器组合成强分类器</a:t>
            </a:r>
            <a:endParaRPr lang="en-US" sz="1600" dirty="0"/>
          </a:p>
        </p:txBody>
      </p:sp>
    </p:spTree>
  </p:cSld>
  <p:clrMapOvr>
    <a:masterClrMapping/>
  </p:clrMapOvr>
  <p:transition>
    <p:fade/>
    <p:spd val="med"/>
  </p:transition>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508000" y="508000"/>
            <a:ext cx="15341600" cy="304800"/>
          </a:xfrm>
          <a:prstGeom prst="rect">
            <a:avLst/>
          </a:prstGeom>
          <a:noFill/>
          <a:ln/>
        </p:spPr>
        <p:txBody>
          <a:bodyPr wrap="square" lIns="0" tIns="0" rIns="0" bIns="0" rtlCol="0" anchor="ctr"/>
          <a:lstStyle/>
          <a:p>
            <a:pPr>
              <a:lnSpc>
                <a:spcPct val="130000"/>
              </a:lnSpc>
            </a:pPr>
            <a:r>
              <a:rPr lang="en-US" sz="1600" b="1" spc="80" kern="0" dirty="0">
                <a:solidFill>
                  <a:srgbClr val="7E9AA8"/>
                </a:solidFill>
                <a:latin typeface="MiSans" pitchFamily="34" charset="0"/>
                <a:ea typeface="MiSans" pitchFamily="34" charset="-122"/>
                <a:cs typeface="MiSans" pitchFamily="34" charset="-120"/>
              </a:rPr>
              <a:t>ADABOOST</a:t>
            </a:r>
            <a:endParaRPr lang="en-US" sz="1600" dirty="0"/>
          </a:p>
        </p:txBody>
      </p:sp>
      <p:sp>
        <p:nvSpPr>
          <p:cNvPr id="3" name="Text 1"/>
          <p:cNvSpPr/>
          <p:nvPr/>
        </p:nvSpPr>
        <p:spPr>
          <a:xfrm>
            <a:off x="508000" y="914400"/>
            <a:ext cx="15468600" cy="508000"/>
          </a:xfrm>
          <a:prstGeom prst="rect">
            <a:avLst/>
          </a:prstGeom>
          <a:noFill/>
          <a:ln/>
        </p:spPr>
        <p:txBody>
          <a:bodyPr wrap="square" lIns="0" tIns="0" rIns="0" bIns="0" rtlCol="0" anchor="ctr"/>
          <a:lstStyle/>
          <a:p>
            <a:pPr>
              <a:lnSpc>
                <a:spcPct val="90000"/>
              </a:lnSpc>
            </a:pPr>
            <a:r>
              <a:rPr lang="en-US" sz="3600" b="1" dirty="0">
                <a:solidFill>
                  <a:srgbClr val="D1D5DB"/>
                </a:solidFill>
                <a:latin typeface="阿里妈妈数黑体" pitchFamily="34" charset="0"/>
                <a:ea typeface="阿里妈妈数黑体" pitchFamily="34" charset="-122"/>
                <a:cs typeface="阿里妈妈数黑体" pitchFamily="34" charset="-120"/>
              </a:rPr>
              <a:t>AdaBoost手工推导过程</a:t>
            </a:r>
            <a:endParaRPr lang="en-US" sz="1600" dirty="0"/>
          </a:p>
        </p:txBody>
      </p:sp>
      <p:sp>
        <p:nvSpPr>
          <p:cNvPr id="4" name="Shape 2"/>
          <p:cNvSpPr/>
          <p:nvPr/>
        </p:nvSpPr>
        <p:spPr>
          <a:xfrm>
            <a:off x="508000" y="1574800"/>
            <a:ext cx="1219200" cy="50800"/>
          </a:xfrm>
          <a:custGeom>
            <a:avLst/>
            <a:gdLst/>
            <a:ahLst/>
            <a:cxnLst/>
            <a:rect l="l" t="t" r="r" b="b"/>
            <a:pathLst>
              <a:path w="1219200" h="50800">
                <a:moveTo>
                  <a:pt x="0" y="0"/>
                </a:moveTo>
                <a:lnTo>
                  <a:pt x="1219200" y="0"/>
                </a:lnTo>
                <a:lnTo>
                  <a:pt x="1219200" y="50800"/>
                </a:lnTo>
                <a:lnTo>
                  <a:pt x="0" y="50800"/>
                </a:lnTo>
                <a:lnTo>
                  <a:pt x="0" y="0"/>
                </a:lnTo>
                <a:close/>
              </a:path>
            </a:pathLst>
          </a:custGeom>
          <a:solidFill>
            <a:srgbClr val="4C7E9A"/>
          </a:solidFill>
          <a:ln/>
        </p:spPr>
      </p:sp>
      <p:sp>
        <p:nvSpPr>
          <p:cNvPr id="5" name="Shape 3"/>
          <p:cNvSpPr/>
          <p:nvPr/>
        </p:nvSpPr>
        <p:spPr>
          <a:xfrm>
            <a:off x="533400" y="1828800"/>
            <a:ext cx="4914900" cy="4826000"/>
          </a:xfrm>
          <a:custGeom>
            <a:avLst/>
            <a:gdLst/>
            <a:ahLst/>
            <a:cxnLst/>
            <a:rect l="l" t="t" r="r" b="b"/>
            <a:pathLst>
              <a:path w="4914900" h="4826000">
                <a:moveTo>
                  <a:pt x="50800" y="0"/>
                </a:moveTo>
                <a:lnTo>
                  <a:pt x="4813313" y="0"/>
                </a:lnTo>
                <a:cubicBezTo>
                  <a:pt x="4869418" y="0"/>
                  <a:pt x="4914900" y="45482"/>
                  <a:pt x="4914900" y="101587"/>
                </a:cubicBezTo>
                <a:lnTo>
                  <a:pt x="4914900" y="4724413"/>
                </a:lnTo>
                <a:cubicBezTo>
                  <a:pt x="4914900" y="4780518"/>
                  <a:pt x="4869418" y="4826000"/>
                  <a:pt x="4813313" y="4826000"/>
                </a:cubicBezTo>
                <a:lnTo>
                  <a:pt x="50800" y="4826000"/>
                </a:lnTo>
                <a:cubicBezTo>
                  <a:pt x="22744" y="4826000"/>
                  <a:pt x="0" y="4803256"/>
                  <a:pt x="0" y="4775200"/>
                </a:cubicBezTo>
                <a:lnTo>
                  <a:pt x="0" y="50800"/>
                </a:lnTo>
                <a:cubicBezTo>
                  <a:pt x="0" y="22763"/>
                  <a:pt x="22763" y="0"/>
                  <a:pt x="50800" y="0"/>
                </a:cubicBezTo>
                <a:close/>
              </a:path>
            </a:pathLst>
          </a:custGeom>
          <a:solidFill>
            <a:srgbClr val="3A5E78">
              <a:alpha val="20000"/>
            </a:srgbClr>
          </a:solidFill>
          <a:ln/>
        </p:spPr>
      </p:sp>
      <p:sp>
        <p:nvSpPr>
          <p:cNvPr id="6" name="Shape 4"/>
          <p:cNvSpPr/>
          <p:nvPr/>
        </p:nvSpPr>
        <p:spPr>
          <a:xfrm>
            <a:off x="533400" y="1828800"/>
            <a:ext cx="50800" cy="4826000"/>
          </a:xfrm>
          <a:custGeom>
            <a:avLst/>
            <a:gdLst/>
            <a:ahLst/>
            <a:cxnLst/>
            <a:rect l="l" t="t" r="r" b="b"/>
            <a:pathLst>
              <a:path w="50800" h="4826000">
                <a:moveTo>
                  <a:pt x="50800" y="0"/>
                </a:moveTo>
                <a:lnTo>
                  <a:pt x="50800" y="0"/>
                </a:lnTo>
                <a:lnTo>
                  <a:pt x="50800" y="4826000"/>
                </a:lnTo>
                <a:lnTo>
                  <a:pt x="50800" y="4826000"/>
                </a:lnTo>
                <a:cubicBezTo>
                  <a:pt x="22763" y="4826000"/>
                  <a:pt x="0" y="4803237"/>
                  <a:pt x="0" y="4775200"/>
                </a:cubicBezTo>
                <a:lnTo>
                  <a:pt x="0" y="50800"/>
                </a:lnTo>
                <a:cubicBezTo>
                  <a:pt x="0" y="22763"/>
                  <a:pt x="22763" y="0"/>
                  <a:pt x="50800" y="0"/>
                </a:cubicBezTo>
                <a:close/>
              </a:path>
            </a:pathLst>
          </a:custGeom>
          <a:solidFill>
            <a:srgbClr val="4C7E9A"/>
          </a:solidFill>
          <a:ln/>
        </p:spPr>
      </p:sp>
      <p:sp>
        <p:nvSpPr>
          <p:cNvPr id="7" name="Shape 5"/>
          <p:cNvSpPr/>
          <p:nvPr/>
        </p:nvSpPr>
        <p:spPr>
          <a:xfrm>
            <a:off x="762000" y="203200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4C7E9A"/>
          </a:solidFill>
          <a:ln/>
        </p:spPr>
      </p:sp>
      <p:sp>
        <p:nvSpPr>
          <p:cNvPr id="8" name="Text 6"/>
          <p:cNvSpPr/>
          <p:nvPr/>
        </p:nvSpPr>
        <p:spPr>
          <a:xfrm>
            <a:off x="704850" y="2032000"/>
            <a:ext cx="622300" cy="508000"/>
          </a:xfrm>
          <a:prstGeom prst="rect">
            <a:avLst/>
          </a:prstGeom>
          <a:noFill/>
          <a:ln/>
        </p:spPr>
        <p:txBody>
          <a:bodyPr wrap="square" lIns="0" tIns="0" rIns="0" bIns="0" rtlCol="0" anchor="ctr"/>
          <a:lstStyle/>
          <a:p>
            <a:pPr algn="ctr">
              <a:lnSpc>
                <a:spcPct val="130000"/>
              </a:lnSpc>
            </a:pPr>
            <a:r>
              <a:rPr lang="en-US" sz="1800" b="1" dirty="0">
                <a:solidFill>
                  <a:srgbClr val="181A1F"/>
                </a:solidFill>
                <a:latin typeface="MiSans" pitchFamily="34" charset="0"/>
                <a:ea typeface="MiSans" pitchFamily="34" charset="-122"/>
                <a:cs typeface="MiSans" pitchFamily="34" charset="-120"/>
              </a:rPr>
              <a:t>1</a:t>
            </a:r>
            <a:endParaRPr lang="en-US" sz="1600" dirty="0"/>
          </a:p>
        </p:txBody>
      </p:sp>
      <p:sp>
        <p:nvSpPr>
          <p:cNvPr id="9" name="Text 7"/>
          <p:cNvSpPr/>
          <p:nvPr/>
        </p:nvSpPr>
        <p:spPr>
          <a:xfrm>
            <a:off x="1422400" y="2108200"/>
            <a:ext cx="12446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第1轮迭代</a:t>
            </a:r>
            <a:endParaRPr lang="en-US" sz="1600" dirty="0"/>
          </a:p>
        </p:txBody>
      </p:sp>
      <p:sp>
        <p:nvSpPr>
          <p:cNvPr id="10" name="Shape 8"/>
          <p:cNvSpPr/>
          <p:nvPr/>
        </p:nvSpPr>
        <p:spPr>
          <a:xfrm>
            <a:off x="762000" y="2692400"/>
            <a:ext cx="4483100" cy="711200"/>
          </a:xfrm>
          <a:custGeom>
            <a:avLst/>
            <a:gdLst/>
            <a:ahLst/>
            <a:cxnLst/>
            <a:rect l="l" t="t" r="r" b="b"/>
            <a:pathLst>
              <a:path w="4483100" h="711200">
                <a:moveTo>
                  <a:pt x="50801" y="0"/>
                </a:moveTo>
                <a:lnTo>
                  <a:pt x="4432299" y="0"/>
                </a:lnTo>
                <a:cubicBezTo>
                  <a:pt x="4460356" y="0"/>
                  <a:pt x="4483100" y="22744"/>
                  <a:pt x="4483100" y="50801"/>
                </a:cubicBezTo>
                <a:lnTo>
                  <a:pt x="4483100" y="660399"/>
                </a:lnTo>
                <a:cubicBezTo>
                  <a:pt x="4483100" y="688456"/>
                  <a:pt x="4460356" y="711200"/>
                  <a:pt x="4432299" y="711200"/>
                </a:cubicBezTo>
                <a:lnTo>
                  <a:pt x="50801" y="711200"/>
                </a:lnTo>
                <a:cubicBezTo>
                  <a:pt x="22744" y="711200"/>
                  <a:pt x="0" y="688456"/>
                  <a:pt x="0" y="660399"/>
                </a:cubicBezTo>
                <a:lnTo>
                  <a:pt x="0" y="50801"/>
                </a:lnTo>
                <a:cubicBezTo>
                  <a:pt x="0" y="22763"/>
                  <a:pt x="22763" y="0"/>
                  <a:pt x="50801" y="0"/>
                </a:cubicBezTo>
                <a:close/>
              </a:path>
            </a:pathLst>
          </a:custGeom>
          <a:solidFill>
            <a:srgbClr val="181A1F">
              <a:alpha val="50196"/>
            </a:srgbClr>
          </a:solidFill>
          <a:ln/>
        </p:spPr>
      </p:sp>
      <p:sp>
        <p:nvSpPr>
          <p:cNvPr id="11" name="Text 9"/>
          <p:cNvSpPr/>
          <p:nvPr/>
        </p:nvSpPr>
        <p:spPr>
          <a:xfrm>
            <a:off x="863600" y="2794000"/>
            <a:ext cx="4368800" cy="254000"/>
          </a:xfrm>
          <a:prstGeom prst="rect">
            <a:avLst/>
          </a:prstGeom>
          <a:noFill/>
          <a:ln/>
        </p:spPr>
        <p:txBody>
          <a:bodyPr wrap="square" lIns="0" tIns="0" rIns="0" bIns="0" rtlCol="0" anchor="ctr"/>
          <a:lstStyle/>
          <a:p>
            <a:pPr>
              <a:lnSpc>
                <a:spcPct val="120000"/>
              </a:lnSpc>
            </a:pPr>
            <a:r>
              <a:rPr lang="en-US" sz="1400" b="1" dirty="0">
                <a:solidFill>
                  <a:srgbClr val="D1D5DB"/>
                </a:solidFill>
                <a:latin typeface="MiSans" pitchFamily="34" charset="0"/>
                <a:ea typeface="MiSans" pitchFamily="34" charset="-122"/>
                <a:cs typeface="MiSans" pitchFamily="34" charset="-120"/>
              </a:rPr>
              <a:t>初始权重</a:t>
            </a:r>
            <a:endParaRPr lang="en-US" sz="1600" dirty="0"/>
          </a:p>
        </p:txBody>
      </p:sp>
      <p:sp>
        <p:nvSpPr>
          <p:cNvPr id="12" name="Text 10"/>
          <p:cNvSpPr/>
          <p:nvPr/>
        </p:nvSpPr>
        <p:spPr>
          <a:xfrm>
            <a:off x="863600" y="3098800"/>
            <a:ext cx="4356100" cy="203200"/>
          </a:xfrm>
          <a:prstGeom prst="rect">
            <a:avLst/>
          </a:prstGeom>
          <a:noFill/>
          <a:ln/>
        </p:spPr>
        <p:txBody>
          <a:bodyPr wrap="square" lIns="0" tIns="0" rIns="0" bIns="0" rtlCol="0" anchor="ctr"/>
          <a:lstStyle/>
          <a:p>
            <a:pPr>
              <a:lnSpc>
                <a:spcPct val="110000"/>
              </a:lnSpc>
            </a:pPr>
            <a:r>
              <a:rPr lang="en-US" sz="1200" dirty="0">
                <a:solidFill>
                  <a:srgbClr val="7E9AA8"/>
                </a:solidFill>
                <a:latin typeface="MiSans" pitchFamily="34" charset="0"/>
                <a:ea typeface="MiSans" pitchFamily="34" charset="-122"/>
                <a:cs typeface="MiSans" pitchFamily="34" charset="-120"/>
              </a:rPr>
              <a:t>D₁: 均匀分布，w_i = 0.1</a:t>
            </a:r>
            <a:endParaRPr lang="en-US" sz="1600" dirty="0"/>
          </a:p>
        </p:txBody>
      </p:sp>
      <p:sp>
        <p:nvSpPr>
          <p:cNvPr id="13" name="Shape 11"/>
          <p:cNvSpPr/>
          <p:nvPr/>
        </p:nvSpPr>
        <p:spPr>
          <a:xfrm>
            <a:off x="762000" y="3505200"/>
            <a:ext cx="4483100" cy="914400"/>
          </a:xfrm>
          <a:custGeom>
            <a:avLst/>
            <a:gdLst/>
            <a:ahLst/>
            <a:cxnLst/>
            <a:rect l="l" t="t" r="r" b="b"/>
            <a:pathLst>
              <a:path w="4483100" h="914400">
                <a:moveTo>
                  <a:pt x="50804" y="0"/>
                </a:moveTo>
                <a:lnTo>
                  <a:pt x="4432296" y="0"/>
                </a:lnTo>
                <a:cubicBezTo>
                  <a:pt x="4460354" y="0"/>
                  <a:pt x="4483100" y="22746"/>
                  <a:pt x="4483100" y="50804"/>
                </a:cubicBezTo>
                <a:lnTo>
                  <a:pt x="4483100" y="863596"/>
                </a:lnTo>
                <a:cubicBezTo>
                  <a:pt x="4483100" y="891654"/>
                  <a:pt x="4460354" y="914400"/>
                  <a:pt x="4432296" y="914400"/>
                </a:cubicBezTo>
                <a:lnTo>
                  <a:pt x="50804" y="914400"/>
                </a:lnTo>
                <a:cubicBezTo>
                  <a:pt x="22746" y="914400"/>
                  <a:pt x="0" y="891654"/>
                  <a:pt x="0" y="863596"/>
                </a:cubicBezTo>
                <a:lnTo>
                  <a:pt x="0" y="50804"/>
                </a:lnTo>
                <a:cubicBezTo>
                  <a:pt x="0" y="22765"/>
                  <a:pt x="22765" y="0"/>
                  <a:pt x="50804" y="0"/>
                </a:cubicBezTo>
                <a:close/>
              </a:path>
            </a:pathLst>
          </a:custGeom>
          <a:solidFill>
            <a:srgbClr val="181A1F">
              <a:alpha val="50196"/>
            </a:srgbClr>
          </a:solidFill>
          <a:ln/>
        </p:spPr>
      </p:sp>
      <p:sp>
        <p:nvSpPr>
          <p:cNvPr id="14" name="Text 12"/>
          <p:cNvSpPr/>
          <p:nvPr/>
        </p:nvSpPr>
        <p:spPr>
          <a:xfrm>
            <a:off x="863600" y="3606800"/>
            <a:ext cx="4368800" cy="254000"/>
          </a:xfrm>
          <a:prstGeom prst="rect">
            <a:avLst/>
          </a:prstGeom>
          <a:noFill/>
          <a:ln/>
        </p:spPr>
        <p:txBody>
          <a:bodyPr wrap="square" lIns="0" tIns="0" rIns="0" bIns="0" rtlCol="0" anchor="ctr"/>
          <a:lstStyle/>
          <a:p>
            <a:pPr>
              <a:lnSpc>
                <a:spcPct val="120000"/>
              </a:lnSpc>
            </a:pPr>
            <a:r>
              <a:rPr lang="en-US" sz="1400" b="1" dirty="0">
                <a:solidFill>
                  <a:srgbClr val="D1D5DB"/>
                </a:solidFill>
                <a:latin typeface="MiSans" pitchFamily="34" charset="0"/>
                <a:ea typeface="MiSans" pitchFamily="34" charset="-122"/>
                <a:cs typeface="MiSans" pitchFamily="34" charset="-120"/>
              </a:rPr>
              <a:t>选择最优分类器</a:t>
            </a:r>
            <a:endParaRPr lang="en-US" sz="1600" dirty="0"/>
          </a:p>
        </p:txBody>
      </p:sp>
      <p:sp>
        <p:nvSpPr>
          <p:cNvPr id="15" name="Text 13"/>
          <p:cNvSpPr/>
          <p:nvPr/>
        </p:nvSpPr>
        <p:spPr>
          <a:xfrm>
            <a:off x="863600" y="3911600"/>
            <a:ext cx="4356100" cy="406400"/>
          </a:xfrm>
          <a:prstGeom prst="rect">
            <a:avLst/>
          </a:prstGeom>
          <a:noFill/>
          <a:ln/>
        </p:spPr>
        <p:txBody>
          <a:bodyPr wrap="square" lIns="0" tIns="0" rIns="0" bIns="0" rtlCol="0" anchor="ctr"/>
          <a:lstStyle/>
          <a:p>
            <a:pPr>
              <a:lnSpc>
                <a:spcPct val="110000"/>
              </a:lnSpc>
            </a:pPr>
            <a:r>
              <a:rPr lang="en-US" sz="1200" dirty="0">
                <a:solidFill>
                  <a:srgbClr val="7E9AA8"/>
                </a:solidFill>
                <a:latin typeface="MiSans" pitchFamily="34" charset="0"/>
                <a:ea typeface="MiSans" pitchFamily="34" charset="-122"/>
                <a:cs typeface="MiSans" pitchFamily="34" charset="-120"/>
              </a:rPr>
              <a:t>G₁和G₂并列最优</a:t>
            </a:r>
            <a:endParaRPr lang="en-US" sz="1600" dirty="0"/>
          </a:p>
          <a:p>
            <a:pPr>
              <a:lnSpc>
                <a:spcPct val="110000"/>
              </a:lnSpc>
            </a:pPr>
            <a:r>
              <a:rPr lang="en-US" sz="1200" dirty="0">
                <a:solidFill>
                  <a:srgbClr val="7E9AA8"/>
                </a:solidFill>
                <a:latin typeface="MiSans" pitchFamily="34" charset="0"/>
                <a:ea typeface="MiSans" pitchFamily="34" charset="-122"/>
                <a:cs typeface="MiSans" pitchFamily="34" charset="-120"/>
              </a:rPr>
              <a:t>误差ε₁ = 0.3</a:t>
            </a:r>
            <a:endParaRPr lang="en-US" sz="1600" dirty="0"/>
          </a:p>
        </p:txBody>
      </p:sp>
      <p:sp>
        <p:nvSpPr>
          <p:cNvPr id="16" name="Shape 14"/>
          <p:cNvSpPr/>
          <p:nvPr/>
        </p:nvSpPr>
        <p:spPr>
          <a:xfrm>
            <a:off x="762000" y="4521200"/>
            <a:ext cx="4483100" cy="914400"/>
          </a:xfrm>
          <a:custGeom>
            <a:avLst/>
            <a:gdLst/>
            <a:ahLst/>
            <a:cxnLst/>
            <a:rect l="l" t="t" r="r" b="b"/>
            <a:pathLst>
              <a:path w="4483100" h="914400">
                <a:moveTo>
                  <a:pt x="50804" y="0"/>
                </a:moveTo>
                <a:lnTo>
                  <a:pt x="4432296" y="0"/>
                </a:lnTo>
                <a:cubicBezTo>
                  <a:pt x="4460354" y="0"/>
                  <a:pt x="4483100" y="22746"/>
                  <a:pt x="4483100" y="50804"/>
                </a:cubicBezTo>
                <a:lnTo>
                  <a:pt x="4483100" y="863596"/>
                </a:lnTo>
                <a:cubicBezTo>
                  <a:pt x="4483100" y="891654"/>
                  <a:pt x="4460354" y="914400"/>
                  <a:pt x="4432296" y="914400"/>
                </a:cubicBezTo>
                <a:lnTo>
                  <a:pt x="50804" y="914400"/>
                </a:lnTo>
                <a:cubicBezTo>
                  <a:pt x="22746" y="914400"/>
                  <a:pt x="0" y="891654"/>
                  <a:pt x="0" y="863596"/>
                </a:cubicBezTo>
                <a:lnTo>
                  <a:pt x="0" y="50804"/>
                </a:lnTo>
                <a:cubicBezTo>
                  <a:pt x="0" y="22765"/>
                  <a:pt x="22765" y="0"/>
                  <a:pt x="50804" y="0"/>
                </a:cubicBezTo>
                <a:close/>
              </a:path>
            </a:pathLst>
          </a:custGeom>
          <a:solidFill>
            <a:srgbClr val="181A1F">
              <a:alpha val="50196"/>
            </a:srgbClr>
          </a:solidFill>
          <a:ln/>
        </p:spPr>
      </p:sp>
      <p:sp>
        <p:nvSpPr>
          <p:cNvPr id="17" name="Text 15"/>
          <p:cNvSpPr/>
          <p:nvPr/>
        </p:nvSpPr>
        <p:spPr>
          <a:xfrm>
            <a:off x="863600" y="4622800"/>
            <a:ext cx="4368800" cy="254000"/>
          </a:xfrm>
          <a:prstGeom prst="rect">
            <a:avLst/>
          </a:prstGeom>
          <a:noFill/>
          <a:ln/>
        </p:spPr>
        <p:txBody>
          <a:bodyPr wrap="square" lIns="0" tIns="0" rIns="0" bIns="0" rtlCol="0" anchor="ctr"/>
          <a:lstStyle/>
          <a:p>
            <a:pPr>
              <a:lnSpc>
                <a:spcPct val="120000"/>
              </a:lnSpc>
            </a:pPr>
            <a:r>
              <a:rPr lang="en-US" sz="1400" b="1" dirty="0">
                <a:solidFill>
                  <a:srgbClr val="D1D5DB"/>
                </a:solidFill>
                <a:latin typeface="MiSans" pitchFamily="34" charset="0"/>
                <a:ea typeface="MiSans" pitchFamily="34" charset="-122"/>
                <a:cs typeface="MiSans" pitchFamily="34" charset="-120"/>
              </a:rPr>
              <a:t>计算α₁</a:t>
            </a:r>
            <a:endParaRPr lang="en-US" sz="1600" dirty="0"/>
          </a:p>
        </p:txBody>
      </p:sp>
      <p:sp>
        <p:nvSpPr>
          <p:cNvPr id="18" name="Text 16"/>
          <p:cNvSpPr/>
          <p:nvPr/>
        </p:nvSpPr>
        <p:spPr>
          <a:xfrm>
            <a:off x="863600" y="4927600"/>
            <a:ext cx="4356100" cy="406400"/>
          </a:xfrm>
          <a:prstGeom prst="rect">
            <a:avLst/>
          </a:prstGeom>
          <a:noFill/>
          <a:ln/>
        </p:spPr>
        <p:txBody>
          <a:bodyPr wrap="square" lIns="0" tIns="0" rIns="0" bIns="0" rtlCol="0" anchor="ctr"/>
          <a:lstStyle/>
          <a:p>
            <a:pPr>
              <a:lnSpc>
                <a:spcPct val="110000"/>
              </a:lnSpc>
            </a:pPr>
            <a:r>
              <a:rPr lang="en-US" sz="1200" dirty="0">
                <a:solidFill>
                  <a:srgbClr val="7E9AA8"/>
                </a:solidFill>
                <a:latin typeface="MiSans" pitchFamily="34" charset="0"/>
                <a:ea typeface="MiSans" pitchFamily="34" charset="-122"/>
                <a:cs typeface="MiSans" pitchFamily="34" charset="-120"/>
              </a:rPr>
              <a:t>α₁ = ½ ln(0.7/0.3)</a:t>
            </a:r>
            <a:endParaRPr lang="en-US" sz="1600" dirty="0"/>
          </a:p>
          <a:p>
            <a:pPr>
              <a:lnSpc>
                <a:spcPct val="110000"/>
              </a:lnSpc>
            </a:pPr>
            <a:r>
              <a:rPr lang="en-US" sz="1200" dirty="0">
                <a:solidFill>
                  <a:srgbClr val="7E9AA8"/>
                </a:solidFill>
                <a:latin typeface="MiSans" pitchFamily="34" charset="0"/>
                <a:ea typeface="MiSans" pitchFamily="34" charset="-122"/>
                <a:cs typeface="MiSans" pitchFamily="34" charset="-120"/>
              </a:rPr>
              <a:t>= 0.4236</a:t>
            </a:r>
            <a:endParaRPr lang="en-US" sz="1600" dirty="0"/>
          </a:p>
        </p:txBody>
      </p:sp>
      <p:sp>
        <p:nvSpPr>
          <p:cNvPr id="19" name="Shape 17"/>
          <p:cNvSpPr/>
          <p:nvPr/>
        </p:nvSpPr>
        <p:spPr>
          <a:xfrm>
            <a:off x="762000" y="5537200"/>
            <a:ext cx="4483100" cy="914400"/>
          </a:xfrm>
          <a:custGeom>
            <a:avLst/>
            <a:gdLst/>
            <a:ahLst/>
            <a:cxnLst/>
            <a:rect l="l" t="t" r="r" b="b"/>
            <a:pathLst>
              <a:path w="4483100" h="914400">
                <a:moveTo>
                  <a:pt x="50804" y="0"/>
                </a:moveTo>
                <a:lnTo>
                  <a:pt x="4432296" y="0"/>
                </a:lnTo>
                <a:cubicBezTo>
                  <a:pt x="4460354" y="0"/>
                  <a:pt x="4483100" y="22746"/>
                  <a:pt x="4483100" y="50804"/>
                </a:cubicBezTo>
                <a:lnTo>
                  <a:pt x="4483100" y="863596"/>
                </a:lnTo>
                <a:cubicBezTo>
                  <a:pt x="4483100" y="891654"/>
                  <a:pt x="4460354" y="914400"/>
                  <a:pt x="4432296" y="914400"/>
                </a:cubicBezTo>
                <a:lnTo>
                  <a:pt x="50804" y="914400"/>
                </a:lnTo>
                <a:cubicBezTo>
                  <a:pt x="22746" y="914400"/>
                  <a:pt x="0" y="891654"/>
                  <a:pt x="0" y="863596"/>
                </a:cubicBezTo>
                <a:lnTo>
                  <a:pt x="0" y="50804"/>
                </a:lnTo>
                <a:cubicBezTo>
                  <a:pt x="0" y="22765"/>
                  <a:pt x="22765" y="0"/>
                  <a:pt x="50804" y="0"/>
                </a:cubicBezTo>
                <a:close/>
              </a:path>
            </a:pathLst>
          </a:custGeom>
          <a:solidFill>
            <a:srgbClr val="181A1F">
              <a:alpha val="50196"/>
            </a:srgbClr>
          </a:solidFill>
          <a:ln/>
        </p:spPr>
      </p:sp>
      <p:sp>
        <p:nvSpPr>
          <p:cNvPr id="20" name="Text 18"/>
          <p:cNvSpPr/>
          <p:nvPr/>
        </p:nvSpPr>
        <p:spPr>
          <a:xfrm>
            <a:off x="863600" y="5638800"/>
            <a:ext cx="4368800" cy="254000"/>
          </a:xfrm>
          <a:prstGeom prst="rect">
            <a:avLst/>
          </a:prstGeom>
          <a:noFill/>
          <a:ln/>
        </p:spPr>
        <p:txBody>
          <a:bodyPr wrap="square" lIns="0" tIns="0" rIns="0" bIns="0" rtlCol="0" anchor="ctr"/>
          <a:lstStyle/>
          <a:p>
            <a:pPr>
              <a:lnSpc>
                <a:spcPct val="120000"/>
              </a:lnSpc>
            </a:pPr>
            <a:r>
              <a:rPr lang="en-US" sz="1400" b="1" dirty="0">
                <a:solidFill>
                  <a:srgbClr val="D1D5DB"/>
                </a:solidFill>
                <a:latin typeface="MiSans" pitchFamily="34" charset="0"/>
                <a:ea typeface="MiSans" pitchFamily="34" charset="-122"/>
                <a:cs typeface="MiSans" pitchFamily="34" charset="-120"/>
              </a:rPr>
              <a:t>更新权重</a:t>
            </a:r>
            <a:endParaRPr lang="en-US" sz="1600" dirty="0"/>
          </a:p>
        </p:txBody>
      </p:sp>
      <p:sp>
        <p:nvSpPr>
          <p:cNvPr id="21" name="Text 19"/>
          <p:cNvSpPr/>
          <p:nvPr/>
        </p:nvSpPr>
        <p:spPr>
          <a:xfrm>
            <a:off x="863600" y="5943600"/>
            <a:ext cx="4356100" cy="406400"/>
          </a:xfrm>
          <a:prstGeom prst="rect">
            <a:avLst/>
          </a:prstGeom>
          <a:noFill/>
          <a:ln/>
        </p:spPr>
        <p:txBody>
          <a:bodyPr wrap="square" lIns="0" tIns="0" rIns="0" bIns="0" rtlCol="0" anchor="ctr"/>
          <a:lstStyle/>
          <a:p>
            <a:pPr>
              <a:lnSpc>
                <a:spcPct val="110000"/>
              </a:lnSpc>
            </a:pPr>
            <a:r>
              <a:rPr lang="en-US" sz="1200" dirty="0">
                <a:solidFill>
                  <a:srgbClr val="7E9AA8"/>
                </a:solidFill>
                <a:latin typeface="MiSans" pitchFamily="34" charset="0"/>
                <a:ea typeface="MiSans" pitchFamily="34" charset="-122"/>
                <a:cs typeface="MiSans" pitchFamily="34" charset="-120"/>
              </a:rPr>
              <a:t>错误样本(x=6,7,8)</a:t>
            </a:r>
            <a:endParaRPr lang="en-US" sz="1600" dirty="0"/>
          </a:p>
          <a:p>
            <a:pPr>
              <a:lnSpc>
                <a:spcPct val="110000"/>
              </a:lnSpc>
            </a:pPr>
            <a:r>
              <a:rPr lang="en-US" sz="1200" dirty="0">
                <a:solidFill>
                  <a:srgbClr val="7E9AA8"/>
                </a:solidFill>
                <a:latin typeface="MiSans" pitchFamily="34" charset="0"/>
                <a:ea typeface="MiSans" pitchFamily="34" charset="-122"/>
                <a:cs typeface="MiSans" pitchFamily="34" charset="-120"/>
              </a:rPr>
              <a:t>权重放大</a:t>
            </a:r>
            <a:endParaRPr lang="en-US" sz="1600" dirty="0"/>
          </a:p>
        </p:txBody>
      </p:sp>
      <p:sp>
        <p:nvSpPr>
          <p:cNvPr id="22" name="Shape 20"/>
          <p:cNvSpPr/>
          <p:nvPr/>
        </p:nvSpPr>
        <p:spPr>
          <a:xfrm>
            <a:off x="5681067" y="1828800"/>
            <a:ext cx="4914900" cy="4826000"/>
          </a:xfrm>
          <a:custGeom>
            <a:avLst/>
            <a:gdLst/>
            <a:ahLst/>
            <a:cxnLst/>
            <a:rect l="l" t="t" r="r" b="b"/>
            <a:pathLst>
              <a:path w="4914900" h="4826000">
                <a:moveTo>
                  <a:pt x="50800" y="0"/>
                </a:moveTo>
                <a:lnTo>
                  <a:pt x="4813313" y="0"/>
                </a:lnTo>
                <a:cubicBezTo>
                  <a:pt x="4869418" y="0"/>
                  <a:pt x="4914900" y="45482"/>
                  <a:pt x="4914900" y="101587"/>
                </a:cubicBezTo>
                <a:lnTo>
                  <a:pt x="4914900" y="4724413"/>
                </a:lnTo>
                <a:cubicBezTo>
                  <a:pt x="4914900" y="4780518"/>
                  <a:pt x="4869418" y="4826000"/>
                  <a:pt x="4813313" y="4826000"/>
                </a:cubicBezTo>
                <a:lnTo>
                  <a:pt x="50800" y="4826000"/>
                </a:lnTo>
                <a:cubicBezTo>
                  <a:pt x="22744" y="4826000"/>
                  <a:pt x="0" y="4803256"/>
                  <a:pt x="0" y="4775200"/>
                </a:cubicBezTo>
                <a:lnTo>
                  <a:pt x="0" y="50800"/>
                </a:lnTo>
                <a:cubicBezTo>
                  <a:pt x="0" y="22763"/>
                  <a:pt x="22763" y="0"/>
                  <a:pt x="50800" y="0"/>
                </a:cubicBezTo>
                <a:close/>
              </a:path>
            </a:pathLst>
          </a:custGeom>
          <a:solidFill>
            <a:srgbClr val="3A5E78">
              <a:alpha val="20000"/>
            </a:srgbClr>
          </a:solidFill>
          <a:ln/>
        </p:spPr>
      </p:sp>
      <p:sp>
        <p:nvSpPr>
          <p:cNvPr id="23" name="Shape 21"/>
          <p:cNvSpPr/>
          <p:nvPr/>
        </p:nvSpPr>
        <p:spPr>
          <a:xfrm>
            <a:off x="5681067" y="1828800"/>
            <a:ext cx="50800" cy="4826000"/>
          </a:xfrm>
          <a:custGeom>
            <a:avLst/>
            <a:gdLst/>
            <a:ahLst/>
            <a:cxnLst/>
            <a:rect l="l" t="t" r="r" b="b"/>
            <a:pathLst>
              <a:path w="50800" h="4826000">
                <a:moveTo>
                  <a:pt x="50800" y="0"/>
                </a:moveTo>
                <a:lnTo>
                  <a:pt x="50800" y="0"/>
                </a:lnTo>
                <a:lnTo>
                  <a:pt x="50800" y="4826000"/>
                </a:lnTo>
                <a:lnTo>
                  <a:pt x="50800" y="4826000"/>
                </a:lnTo>
                <a:cubicBezTo>
                  <a:pt x="22763" y="4826000"/>
                  <a:pt x="0" y="4803237"/>
                  <a:pt x="0" y="4775200"/>
                </a:cubicBezTo>
                <a:lnTo>
                  <a:pt x="0" y="50800"/>
                </a:lnTo>
                <a:cubicBezTo>
                  <a:pt x="0" y="22763"/>
                  <a:pt x="22763" y="0"/>
                  <a:pt x="50800" y="0"/>
                </a:cubicBezTo>
                <a:close/>
              </a:path>
            </a:pathLst>
          </a:custGeom>
          <a:solidFill>
            <a:srgbClr val="7E9AA8"/>
          </a:solidFill>
          <a:ln/>
        </p:spPr>
      </p:sp>
      <p:sp>
        <p:nvSpPr>
          <p:cNvPr id="24" name="Shape 22"/>
          <p:cNvSpPr/>
          <p:nvPr/>
        </p:nvSpPr>
        <p:spPr>
          <a:xfrm>
            <a:off x="5909667" y="203200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7E9AA8"/>
          </a:solidFill>
          <a:ln/>
        </p:spPr>
      </p:sp>
      <p:sp>
        <p:nvSpPr>
          <p:cNvPr id="25" name="Text 23"/>
          <p:cNvSpPr/>
          <p:nvPr/>
        </p:nvSpPr>
        <p:spPr>
          <a:xfrm>
            <a:off x="5852517" y="2032000"/>
            <a:ext cx="622300" cy="508000"/>
          </a:xfrm>
          <a:prstGeom prst="rect">
            <a:avLst/>
          </a:prstGeom>
          <a:noFill/>
          <a:ln/>
        </p:spPr>
        <p:txBody>
          <a:bodyPr wrap="square" lIns="0" tIns="0" rIns="0" bIns="0" rtlCol="0" anchor="ctr"/>
          <a:lstStyle/>
          <a:p>
            <a:pPr algn="ctr">
              <a:lnSpc>
                <a:spcPct val="130000"/>
              </a:lnSpc>
            </a:pPr>
            <a:r>
              <a:rPr lang="en-US" sz="1800" b="1" dirty="0">
                <a:solidFill>
                  <a:srgbClr val="181A1F"/>
                </a:solidFill>
                <a:latin typeface="MiSans" pitchFamily="34" charset="0"/>
                <a:ea typeface="MiSans" pitchFamily="34" charset="-122"/>
                <a:cs typeface="MiSans" pitchFamily="34" charset="-120"/>
              </a:rPr>
              <a:t>2</a:t>
            </a:r>
            <a:endParaRPr lang="en-US" sz="1600" dirty="0"/>
          </a:p>
        </p:txBody>
      </p:sp>
      <p:sp>
        <p:nvSpPr>
          <p:cNvPr id="26" name="Text 24"/>
          <p:cNvSpPr/>
          <p:nvPr/>
        </p:nvSpPr>
        <p:spPr>
          <a:xfrm>
            <a:off x="6570067" y="2108200"/>
            <a:ext cx="12827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第2轮迭代</a:t>
            </a:r>
            <a:endParaRPr lang="en-US" sz="1600" dirty="0"/>
          </a:p>
        </p:txBody>
      </p:sp>
      <p:sp>
        <p:nvSpPr>
          <p:cNvPr id="27" name="Shape 25"/>
          <p:cNvSpPr/>
          <p:nvPr/>
        </p:nvSpPr>
        <p:spPr>
          <a:xfrm>
            <a:off x="5909667" y="2692400"/>
            <a:ext cx="4483100" cy="711200"/>
          </a:xfrm>
          <a:custGeom>
            <a:avLst/>
            <a:gdLst/>
            <a:ahLst/>
            <a:cxnLst/>
            <a:rect l="l" t="t" r="r" b="b"/>
            <a:pathLst>
              <a:path w="4483100" h="711200">
                <a:moveTo>
                  <a:pt x="50801" y="0"/>
                </a:moveTo>
                <a:lnTo>
                  <a:pt x="4432299" y="0"/>
                </a:lnTo>
                <a:cubicBezTo>
                  <a:pt x="4460356" y="0"/>
                  <a:pt x="4483100" y="22744"/>
                  <a:pt x="4483100" y="50801"/>
                </a:cubicBezTo>
                <a:lnTo>
                  <a:pt x="4483100" y="660399"/>
                </a:lnTo>
                <a:cubicBezTo>
                  <a:pt x="4483100" y="688456"/>
                  <a:pt x="4460356" y="711200"/>
                  <a:pt x="4432299" y="711200"/>
                </a:cubicBezTo>
                <a:lnTo>
                  <a:pt x="50801" y="711200"/>
                </a:lnTo>
                <a:cubicBezTo>
                  <a:pt x="22744" y="711200"/>
                  <a:pt x="0" y="688456"/>
                  <a:pt x="0" y="660399"/>
                </a:cubicBezTo>
                <a:lnTo>
                  <a:pt x="0" y="50801"/>
                </a:lnTo>
                <a:cubicBezTo>
                  <a:pt x="0" y="22763"/>
                  <a:pt x="22763" y="0"/>
                  <a:pt x="50801" y="0"/>
                </a:cubicBezTo>
                <a:close/>
              </a:path>
            </a:pathLst>
          </a:custGeom>
          <a:solidFill>
            <a:srgbClr val="181A1F">
              <a:alpha val="50196"/>
            </a:srgbClr>
          </a:solidFill>
          <a:ln/>
        </p:spPr>
      </p:sp>
      <p:sp>
        <p:nvSpPr>
          <p:cNvPr id="28" name="Text 26"/>
          <p:cNvSpPr/>
          <p:nvPr/>
        </p:nvSpPr>
        <p:spPr>
          <a:xfrm>
            <a:off x="6011267" y="2794000"/>
            <a:ext cx="4368800" cy="254000"/>
          </a:xfrm>
          <a:prstGeom prst="rect">
            <a:avLst/>
          </a:prstGeom>
          <a:noFill/>
          <a:ln/>
        </p:spPr>
        <p:txBody>
          <a:bodyPr wrap="square" lIns="0" tIns="0" rIns="0" bIns="0" rtlCol="0" anchor="ctr"/>
          <a:lstStyle/>
          <a:p>
            <a:pPr>
              <a:lnSpc>
                <a:spcPct val="120000"/>
              </a:lnSpc>
            </a:pPr>
            <a:r>
              <a:rPr lang="en-US" sz="1400" b="1" dirty="0">
                <a:solidFill>
                  <a:srgbClr val="D1D5DB"/>
                </a:solidFill>
                <a:latin typeface="MiSans" pitchFamily="34" charset="0"/>
                <a:ea typeface="MiSans" pitchFamily="34" charset="-122"/>
                <a:cs typeface="MiSans" pitchFamily="34" charset="-120"/>
              </a:rPr>
              <a:t>权重分布D₂</a:t>
            </a:r>
            <a:endParaRPr lang="en-US" sz="1600" dirty="0"/>
          </a:p>
        </p:txBody>
      </p:sp>
      <p:sp>
        <p:nvSpPr>
          <p:cNvPr id="29" name="Text 27"/>
          <p:cNvSpPr/>
          <p:nvPr/>
        </p:nvSpPr>
        <p:spPr>
          <a:xfrm>
            <a:off x="6011267" y="3098800"/>
            <a:ext cx="4356100" cy="203200"/>
          </a:xfrm>
          <a:prstGeom prst="rect">
            <a:avLst/>
          </a:prstGeom>
          <a:noFill/>
          <a:ln/>
        </p:spPr>
        <p:txBody>
          <a:bodyPr wrap="square" lIns="0" tIns="0" rIns="0" bIns="0" rtlCol="0" anchor="ctr"/>
          <a:lstStyle/>
          <a:p>
            <a:pPr>
              <a:lnSpc>
                <a:spcPct val="110000"/>
              </a:lnSpc>
            </a:pPr>
            <a:r>
              <a:rPr lang="en-US" sz="1200" dirty="0">
                <a:solidFill>
                  <a:srgbClr val="7E9AA8"/>
                </a:solidFill>
                <a:latin typeface="MiSans" pitchFamily="34" charset="0"/>
                <a:ea typeface="MiSans" pitchFamily="34" charset="-122"/>
                <a:cs typeface="MiSans" pitchFamily="34" charset="-120"/>
              </a:rPr>
              <a:t>错误样本权重增大</a:t>
            </a:r>
            <a:endParaRPr lang="en-US" sz="1600" dirty="0"/>
          </a:p>
        </p:txBody>
      </p:sp>
      <p:sp>
        <p:nvSpPr>
          <p:cNvPr id="30" name="Shape 28"/>
          <p:cNvSpPr/>
          <p:nvPr/>
        </p:nvSpPr>
        <p:spPr>
          <a:xfrm>
            <a:off x="5909667" y="3505200"/>
            <a:ext cx="4483100" cy="914400"/>
          </a:xfrm>
          <a:custGeom>
            <a:avLst/>
            <a:gdLst/>
            <a:ahLst/>
            <a:cxnLst/>
            <a:rect l="l" t="t" r="r" b="b"/>
            <a:pathLst>
              <a:path w="4483100" h="914400">
                <a:moveTo>
                  <a:pt x="50804" y="0"/>
                </a:moveTo>
                <a:lnTo>
                  <a:pt x="4432296" y="0"/>
                </a:lnTo>
                <a:cubicBezTo>
                  <a:pt x="4460354" y="0"/>
                  <a:pt x="4483100" y="22746"/>
                  <a:pt x="4483100" y="50804"/>
                </a:cubicBezTo>
                <a:lnTo>
                  <a:pt x="4483100" y="863596"/>
                </a:lnTo>
                <a:cubicBezTo>
                  <a:pt x="4483100" y="891654"/>
                  <a:pt x="4460354" y="914400"/>
                  <a:pt x="4432296" y="914400"/>
                </a:cubicBezTo>
                <a:lnTo>
                  <a:pt x="50804" y="914400"/>
                </a:lnTo>
                <a:cubicBezTo>
                  <a:pt x="22746" y="914400"/>
                  <a:pt x="0" y="891654"/>
                  <a:pt x="0" y="863596"/>
                </a:cubicBezTo>
                <a:lnTo>
                  <a:pt x="0" y="50804"/>
                </a:lnTo>
                <a:cubicBezTo>
                  <a:pt x="0" y="22765"/>
                  <a:pt x="22765" y="0"/>
                  <a:pt x="50804" y="0"/>
                </a:cubicBezTo>
                <a:close/>
              </a:path>
            </a:pathLst>
          </a:custGeom>
          <a:solidFill>
            <a:srgbClr val="181A1F">
              <a:alpha val="50196"/>
            </a:srgbClr>
          </a:solidFill>
          <a:ln/>
        </p:spPr>
      </p:sp>
      <p:sp>
        <p:nvSpPr>
          <p:cNvPr id="31" name="Text 29"/>
          <p:cNvSpPr/>
          <p:nvPr/>
        </p:nvSpPr>
        <p:spPr>
          <a:xfrm>
            <a:off x="6011267" y="3606800"/>
            <a:ext cx="4368800" cy="254000"/>
          </a:xfrm>
          <a:prstGeom prst="rect">
            <a:avLst/>
          </a:prstGeom>
          <a:noFill/>
          <a:ln/>
        </p:spPr>
        <p:txBody>
          <a:bodyPr wrap="square" lIns="0" tIns="0" rIns="0" bIns="0" rtlCol="0" anchor="ctr"/>
          <a:lstStyle/>
          <a:p>
            <a:pPr>
              <a:lnSpc>
                <a:spcPct val="120000"/>
              </a:lnSpc>
            </a:pPr>
            <a:r>
              <a:rPr lang="en-US" sz="1400" b="1" dirty="0">
                <a:solidFill>
                  <a:srgbClr val="D1D5DB"/>
                </a:solidFill>
                <a:latin typeface="MiSans" pitchFamily="34" charset="0"/>
                <a:ea typeface="MiSans" pitchFamily="34" charset="-122"/>
                <a:cs typeface="MiSans" pitchFamily="34" charset="-120"/>
              </a:rPr>
              <a:t>选择最优分类器</a:t>
            </a:r>
            <a:endParaRPr lang="en-US" sz="1600" dirty="0"/>
          </a:p>
        </p:txBody>
      </p:sp>
      <p:sp>
        <p:nvSpPr>
          <p:cNvPr id="32" name="Text 30"/>
          <p:cNvSpPr/>
          <p:nvPr/>
        </p:nvSpPr>
        <p:spPr>
          <a:xfrm>
            <a:off x="6011267" y="3911600"/>
            <a:ext cx="4356100" cy="406400"/>
          </a:xfrm>
          <a:prstGeom prst="rect">
            <a:avLst/>
          </a:prstGeom>
          <a:noFill/>
          <a:ln/>
        </p:spPr>
        <p:txBody>
          <a:bodyPr wrap="square" lIns="0" tIns="0" rIns="0" bIns="0" rtlCol="0" anchor="ctr"/>
          <a:lstStyle/>
          <a:p>
            <a:pPr>
              <a:lnSpc>
                <a:spcPct val="110000"/>
              </a:lnSpc>
            </a:pPr>
            <a:r>
              <a:rPr lang="en-US" sz="1200" dirty="0">
                <a:solidFill>
                  <a:srgbClr val="7E9AA8"/>
                </a:solidFill>
                <a:latin typeface="MiSans" pitchFamily="34" charset="0"/>
                <a:ea typeface="MiSans" pitchFamily="34" charset="-122"/>
                <a:cs typeface="MiSans" pitchFamily="34" charset="-120"/>
              </a:rPr>
              <a:t>G₂最优</a:t>
            </a:r>
            <a:endParaRPr lang="en-US" sz="1600" dirty="0"/>
          </a:p>
          <a:p>
            <a:pPr>
              <a:lnSpc>
                <a:spcPct val="110000"/>
              </a:lnSpc>
            </a:pPr>
            <a:r>
              <a:rPr lang="en-US" sz="1200" dirty="0">
                <a:solidFill>
                  <a:srgbClr val="7E9AA8"/>
                </a:solidFill>
                <a:latin typeface="MiSans" pitchFamily="34" charset="0"/>
                <a:ea typeface="MiSans" pitchFamily="34" charset="-122"/>
                <a:cs typeface="MiSans" pitchFamily="34" charset="-120"/>
              </a:rPr>
              <a:t>误差ε₂ = 0.2143</a:t>
            </a:r>
            <a:endParaRPr lang="en-US" sz="1600" dirty="0"/>
          </a:p>
        </p:txBody>
      </p:sp>
      <p:sp>
        <p:nvSpPr>
          <p:cNvPr id="33" name="Shape 31"/>
          <p:cNvSpPr/>
          <p:nvPr/>
        </p:nvSpPr>
        <p:spPr>
          <a:xfrm>
            <a:off x="5909667" y="4521200"/>
            <a:ext cx="4483100" cy="914400"/>
          </a:xfrm>
          <a:custGeom>
            <a:avLst/>
            <a:gdLst/>
            <a:ahLst/>
            <a:cxnLst/>
            <a:rect l="l" t="t" r="r" b="b"/>
            <a:pathLst>
              <a:path w="4483100" h="914400">
                <a:moveTo>
                  <a:pt x="50804" y="0"/>
                </a:moveTo>
                <a:lnTo>
                  <a:pt x="4432296" y="0"/>
                </a:lnTo>
                <a:cubicBezTo>
                  <a:pt x="4460354" y="0"/>
                  <a:pt x="4483100" y="22746"/>
                  <a:pt x="4483100" y="50804"/>
                </a:cubicBezTo>
                <a:lnTo>
                  <a:pt x="4483100" y="863596"/>
                </a:lnTo>
                <a:cubicBezTo>
                  <a:pt x="4483100" y="891654"/>
                  <a:pt x="4460354" y="914400"/>
                  <a:pt x="4432296" y="914400"/>
                </a:cubicBezTo>
                <a:lnTo>
                  <a:pt x="50804" y="914400"/>
                </a:lnTo>
                <a:cubicBezTo>
                  <a:pt x="22746" y="914400"/>
                  <a:pt x="0" y="891654"/>
                  <a:pt x="0" y="863596"/>
                </a:cubicBezTo>
                <a:lnTo>
                  <a:pt x="0" y="50804"/>
                </a:lnTo>
                <a:cubicBezTo>
                  <a:pt x="0" y="22765"/>
                  <a:pt x="22765" y="0"/>
                  <a:pt x="50804" y="0"/>
                </a:cubicBezTo>
                <a:close/>
              </a:path>
            </a:pathLst>
          </a:custGeom>
          <a:solidFill>
            <a:srgbClr val="181A1F">
              <a:alpha val="50196"/>
            </a:srgbClr>
          </a:solidFill>
          <a:ln/>
        </p:spPr>
      </p:sp>
      <p:sp>
        <p:nvSpPr>
          <p:cNvPr id="34" name="Text 32"/>
          <p:cNvSpPr/>
          <p:nvPr/>
        </p:nvSpPr>
        <p:spPr>
          <a:xfrm>
            <a:off x="6011267" y="4622800"/>
            <a:ext cx="4368800" cy="254000"/>
          </a:xfrm>
          <a:prstGeom prst="rect">
            <a:avLst/>
          </a:prstGeom>
          <a:noFill/>
          <a:ln/>
        </p:spPr>
        <p:txBody>
          <a:bodyPr wrap="square" lIns="0" tIns="0" rIns="0" bIns="0" rtlCol="0" anchor="ctr"/>
          <a:lstStyle/>
          <a:p>
            <a:pPr>
              <a:lnSpc>
                <a:spcPct val="120000"/>
              </a:lnSpc>
            </a:pPr>
            <a:r>
              <a:rPr lang="en-US" sz="1400" b="1" dirty="0">
                <a:solidFill>
                  <a:srgbClr val="D1D5DB"/>
                </a:solidFill>
                <a:latin typeface="MiSans" pitchFamily="34" charset="0"/>
                <a:ea typeface="MiSans" pitchFamily="34" charset="-122"/>
                <a:cs typeface="MiSans" pitchFamily="34" charset="-120"/>
              </a:rPr>
              <a:t>计算α₂</a:t>
            </a:r>
            <a:endParaRPr lang="en-US" sz="1600" dirty="0"/>
          </a:p>
        </p:txBody>
      </p:sp>
      <p:sp>
        <p:nvSpPr>
          <p:cNvPr id="35" name="Text 33"/>
          <p:cNvSpPr/>
          <p:nvPr/>
        </p:nvSpPr>
        <p:spPr>
          <a:xfrm>
            <a:off x="6011267" y="4927600"/>
            <a:ext cx="4356100" cy="406400"/>
          </a:xfrm>
          <a:prstGeom prst="rect">
            <a:avLst/>
          </a:prstGeom>
          <a:noFill/>
          <a:ln/>
        </p:spPr>
        <p:txBody>
          <a:bodyPr wrap="square" lIns="0" tIns="0" rIns="0" bIns="0" rtlCol="0" anchor="ctr"/>
          <a:lstStyle/>
          <a:p>
            <a:pPr>
              <a:lnSpc>
                <a:spcPct val="110000"/>
              </a:lnSpc>
            </a:pPr>
            <a:r>
              <a:rPr lang="en-US" sz="1200" dirty="0">
                <a:solidFill>
                  <a:srgbClr val="7E9AA8"/>
                </a:solidFill>
                <a:latin typeface="MiSans" pitchFamily="34" charset="0"/>
                <a:ea typeface="MiSans" pitchFamily="34" charset="-122"/>
                <a:cs typeface="MiSans" pitchFamily="34" charset="-120"/>
              </a:rPr>
              <a:t>α₂ = ½ ln(0.7857/0.2143)</a:t>
            </a:r>
            <a:endParaRPr lang="en-US" sz="1600" dirty="0"/>
          </a:p>
          <a:p>
            <a:pPr>
              <a:lnSpc>
                <a:spcPct val="110000"/>
              </a:lnSpc>
            </a:pPr>
            <a:r>
              <a:rPr lang="en-US" sz="1200" dirty="0">
                <a:solidFill>
                  <a:srgbClr val="7E9AA8"/>
                </a:solidFill>
                <a:latin typeface="MiSans" pitchFamily="34" charset="0"/>
                <a:ea typeface="MiSans" pitchFamily="34" charset="-122"/>
                <a:cs typeface="MiSans" pitchFamily="34" charset="-120"/>
              </a:rPr>
              <a:t>= 0.6496</a:t>
            </a:r>
            <a:endParaRPr lang="en-US" sz="1600" dirty="0"/>
          </a:p>
        </p:txBody>
      </p:sp>
      <p:sp>
        <p:nvSpPr>
          <p:cNvPr id="36" name="Shape 34"/>
          <p:cNvSpPr/>
          <p:nvPr/>
        </p:nvSpPr>
        <p:spPr>
          <a:xfrm>
            <a:off x="5909667" y="5537200"/>
            <a:ext cx="4483100" cy="914400"/>
          </a:xfrm>
          <a:custGeom>
            <a:avLst/>
            <a:gdLst/>
            <a:ahLst/>
            <a:cxnLst/>
            <a:rect l="l" t="t" r="r" b="b"/>
            <a:pathLst>
              <a:path w="4483100" h="914400">
                <a:moveTo>
                  <a:pt x="50804" y="0"/>
                </a:moveTo>
                <a:lnTo>
                  <a:pt x="4432296" y="0"/>
                </a:lnTo>
                <a:cubicBezTo>
                  <a:pt x="4460354" y="0"/>
                  <a:pt x="4483100" y="22746"/>
                  <a:pt x="4483100" y="50804"/>
                </a:cubicBezTo>
                <a:lnTo>
                  <a:pt x="4483100" y="863596"/>
                </a:lnTo>
                <a:cubicBezTo>
                  <a:pt x="4483100" y="891654"/>
                  <a:pt x="4460354" y="914400"/>
                  <a:pt x="4432296" y="914400"/>
                </a:cubicBezTo>
                <a:lnTo>
                  <a:pt x="50804" y="914400"/>
                </a:lnTo>
                <a:cubicBezTo>
                  <a:pt x="22746" y="914400"/>
                  <a:pt x="0" y="891654"/>
                  <a:pt x="0" y="863596"/>
                </a:cubicBezTo>
                <a:lnTo>
                  <a:pt x="0" y="50804"/>
                </a:lnTo>
                <a:cubicBezTo>
                  <a:pt x="0" y="22765"/>
                  <a:pt x="22765" y="0"/>
                  <a:pt x="50804" y="0"/>
                </a:cubicBezTo>
                <a:close/>
              </a:path>
            </a:pathLst>
          </a:custGeom>
          <a:solidFill>
            <a:srgbClr val="181A1F">
              <a:alpha val="50196"/>
            </a:srgbClr>
          </a:solidFill>
          <a:ln/>
        </p:spPr>
      </p:sp>
      <p:sp>
        <p:nvSpPr>
          <p:cNvPr id="37" name="Text 35"/>
          <p:cNvSpPr/>
          <p:nvPr/>
        </p:nvSpPr>
        <p:spPr>
          <a:xfrm>
            <a:off x="6011267" y="5638800"/>
            <a:ext cx="4368800" cy="254000"/>
          </a:xfrm>
          <a:prstGeom prst="rect">
            <a:avLst/>
          </a:prstGeom>
          <a:noFill/>
          <a:ln/>
        </p:spPr>
        <p:txBody>
          <a:bodyPr wrap="square" lIns="0" tIns="0" rIns="0" bIns="0" rtlCol="0" anchor="ctr"/>
          <a:lstStyle/>
          <a:p>
            <a:pPr>
              <a:lnSpc>
                <a:spcPct val="120000"/>
              </a:lnSpc>
            </a:pPr>
            <a:r>
              <a:rPr lang="en-US" sz="1400" b="1" dirty="0">
                <a:solidFill>
                  <a:srgbClr val="D1D5DB"/>
                </a:solidFill>
                <a:latin typeface="MiSans" pitchFamily="34" charset="0"/>
                <a:ea typeface="MiSans" pitchFamily="34" charset="-122"/>
                <a:cs typeface="MiSans" pitchFamily="34" charset="-120"/>
              </a:rPr>
              <a:t>更新权重</a:t>
            </a:r>
            <a:endParaRPr lang="en-US" sz="1600" dirty="0"/>
          </a:p>
        </p:txBody>
      </p:sp>
      <p:sp>
        <p:nvSpPr>
          <p:cNvPr id="38" name="Text 36"/>
          <p:cNvSpPr/>
          <p:nvPr/>
        </p:nvSpPr>
        <p:spPr>
          <a:xfrm>
            <a:off x="6011267" y="5943600"/>
            <a:ext cx="4356100" cy="406400"/>
          </a:xfrm>
          <a:prstGeom prst="rect">
            <a:avLst/>
          </a:prstGeom>
          <a:noFill/>
          <a:ln/>
        </p:spPr>
        <p:txBody>
          <a:bodyPr wrap="square" lIns="0" tIns="0" rIns="0" bIns="0" rtlCol="0" anchor="ctr"/>
          <a:lstStyle/>
          <a:p>
            <a:pPr>
              <a:lnSpc>
                <a:spcPct val="110000"/>
              </a:lnSpc>
            </a:pPr>
            <a:r>
              <a:rPr lang="en-US" sz="1200" dirty="0">
                <a:solidFill>
                  <a:srgbClr val="7E9AA8"/>
                </a:solidFill>
                <a:latin typeface="MiSans" pitchFamily="34" charset="0"/>
                <a:ea typeface="MiSans" pitchFamily="34" charset="-122"/>
                <a:cs typeface="MiSans" pitchFamily="34" charset="-120"/>
              </a:rPr>
              <a:t>错误样本(x=3,4,5)</a:t>
            </a:r>
            <a:endParaRPr lang="en-US" sz="1600" dirty="0"/>
          </a:p>
          <a:p>
            <a:pPr>
              <a:lnSpc>
                <a:spcPct val="110000"/>
              </a:lnSpc>
            </a:pPr>
            <a:r>
              <a:rPr lang="en-US" sz="1200" dirty="0">
                <a:solidFill>
                  <a:srgbClr val="7E9AA8"/>
                </a:solidFill>
                <a:latin typeface="MiSans" pitchFamily="34" charset="0"/>
                <a:ea typeface="MiSans" pitchFamily="34" charset="-122"/>
                <a:cs typeface="MiSans" pitchFamily="34" charset="-120"/>
              </a:rPr>
              <a:t>权重放大</a:t>
            </a:r>
            <a:endParaRPr lang="en-US" sz="1600" dirty="0"/>
          </a:p>
        </p:txBody>
      </p:sp>
      <p:sp>
        <p:nvSpPr>
          <p:cNvPr id="39" name="Shape 37"/>
          <p:cNvSpPr/>
          <p:nvPr/>
        </p:nvSpPr>
        <p:spPr>
          <a:xfrm>
            <a:off x="10828834" y="1828800"/>
            <a:ext cx="4914900" cy="4826000"/>
          </a:xfrm>
          <a:custGeom>
            <a:avLst/>
            <a:gdLst/>
            <a:ahLst/>
            <a:cxnLst/>
            <a:rect l="l" t="t" r="r" b="b"/>
            <a:pathLst>
              <a:path w="4914900" h="4826000">
                <a:moveTo>
                  <a:pt x="50800" y="0"/>
                </a:moveTo>
                <a:lnTo>
                  <a:pt x="4813313" y="0"/>
                </a:lnTo>
                <a:cubicBezTo>
                  <a:pt x="4869418" y="0"/>
                  <a:pt x="4914900" y="45482"/>
                  <a:pt x="4914900" y="101587"/>
                </a:cubicBezTo>
                <a:lnTo>
                  <a:pt x="4914900" y="4724413"/>
                </a:lnTo>
                <a:cubicBezTo>
                  <a:pt x="4914900" y="4780518"/>
                  <a:pt x="4869418" y="4826000"/>
                  <a:pt x="4813313" y="4826000"/>
                </a:cubicBezTo>
                <a:lnTo>
                  <a:pt x="50800" y="4826000"/>
                </a:lnTo>
                <a:cubicBezTo>
                  <a:pt x="22744" y="4826000"/>
                  <a:pt x="0" y="4803256"/>
                  <a:pt x="0" y="4775200"/>
                </a:cubicBezTo>
                <a:lnTo>
                  <a:pt x="0" y="50800"/>
                </a:lnTo>
                <a:cubicBezTo>
                  <a:pt x="0" y="22763"/>
                  <a:pt x="22763" y="0"/>
                  <a:pt x="50800" y="0"/>
                </a:cubicBezTo>
                <a:close/>
              </a:path>
            </a:pathLst>
          </a:custGeom>
          <a:solidFill>
            <a:srgbClr val="3A5E78">
              <a:alpha val="20000"/>
            </a:srgbClr>
          </a:solidFill>
          <a:ln/>
        </p:spPr>
      </p:sp>
      <p:sp>
        <p:nvSpPr>
          <p:cNvPr id="40" name="Shape 38"/>
          <p:cNvSpPr/>
          <p:nvPr/>
        </p:nvSpPr>
        <p:spPr>
          <a:xfrm>
            <a:off x="10828834" y="1828800"/>
            <a:ext cx="50800" cy="4826000"/>
          </a:xfrm>
          <a:custGeom>
            <a:avLst/>
            <a:gdLst/>
            <a:ahLst/>
            <a:cxnLst/>
            <a:rect l="l" t="t" r="r" b="b"/>
            <a:pathLst>
              <a:path w="50800" h="4826000">
                <a:moveTo>
                  <a:pt x="50800" y="0"/>
                </a:moveTo>
                <a:lnTo>
                  <a:pt x="50800" y="0"/>
                </a:lnTo>
                <a:lnTo>
                  <a:pt x="50800" y="4826000"/>
                </a:lnTo>
                <a:lnTo>
                  <a:pt x="50800" y="4826000"/>
                </a:lnTo>
                <a:cubicBezTo>
                  <a:pt x="22763" y="4826000"/>
                  <a:pt x="0" y="4803237"/>
                  <a:pt x="0" y="4775200"/>
                </a:cubicBezTo>
                <a:lnTo>
                  <a:pt x="0" y="50800"/>
                </a:lnTo>
                <a:cubicBezTo>
                  <a:pt x="0" y="22763"/>
                  <a:pt x="22763" y="0"/>
                  <a:pt x="50800" y="0"/>
                </a:cubicBezTo>
                <a:close/>
              </a:path>
            </a:pathLst>
          </a:custGeom>
          <a:solidFill>
            <a:srgbClr val="4C7E9A"/>
          </a:solidFill>
          <a:ln/>
        </p:spPr>
      </p:sp>
      <p:sp>
        <p:nvSpPr>
          <p:cNvPr id="41" name="Shape 39"/>
          <p:cNvSpPr/>
          <p:nvPr/>
        </p:nvSpPr>
        <p:spPr>
          <a:xfrm>
            <a:off x="11057434" y="203200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4C7E9A"/>
          </a:solidFill>
          <a:ln/>
        </p:spPr>
      </p:sp>
      <p:sp>
        <p:nvSpPr>
          <p:cNvPr id="42" name="Text 40"/>
          <p:cNvSpPr/>
          <p:nvPr/>
        </p:nvSpPr>
        <p:spPr>
          <a:xfrm>
            <a:off x="11000284" y="2032000"/>
            <a:ext cx="622300" cy="508000"/>
          </a:xfrm>
          <a:prstGeom prst="rect">
            <a:avLst/>
          </a:prstGeom>
          <a:noFill/>
          <a:ln/>
        </p:spPr>
        <p:txBody>
          <a:bodyPr wrap="square" lIns="0" tIns="0" rIns="0" bIns="0" rtlCol="0" anchor="ctr"/>
          <a:lstStyle/>
          <a:p>
            <a:pPr algn="ctr">
              <a:lnSpc>
                <a:spcPct val="130000"/>
              </a:lnSpc>
            </a:pPr>
            <a:r>
              <a:rPr lang="en-US" sz="1800" b="1" dirty="0">
                <a:solidFill>
                  <a:srgbClr val="181A1F"/>
                </a:solidFill>
                <a:latin typeface="MiSans" pitchFamily="34" charset="0"/>
                <a:ea typeface="MiSans" pitchFamily="34" charset="-122"/>
                <a:cs typeface="MiSans" pitchFamily="34" charset="-120"/>
              </a:rPr>
              <a:t>3</a:t>
            </a:r>
            <a:endParaRPr lang="en-US" sz="1600" dirty="0"/>
          </a:p>
        </p:txBody>
      </p:sp>
      <p:sp>
        <p:nvSpPr>
          <p:cNvPr id="43" name="Text 41"/>
          <p:cNvSpPr/>
          <p:nvPr/>
        </p:nvSpPr>
        <p:spPr>
          <a:xfrm>
            <a:off x="11717834" y="2108200"/>
            <a:ext cx="12954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第3轮迭代</a:t>
            </a:r>
            <a:endParaRPr lang="en-US" sz="1600" dirty="0"/>
          </a:p>
        </p:txBody>
      </p:sp>
      <p:sp>
        <p:nvSpPr>
          <p:cNvPr id="44" name="Shape 42"/>
          <p:cNvSpPr/>
          <p:nvPr/>
        </p:nvSpPr>
        <p:spPr>
          <a:xfrm>
            <a:off x="11057434" y="2692400"/>
            <a:ext cx="4483100" cy="711200"/>
          </a:xfrm>
          <a:custGeom>
            <a:avLst/>
            <a:gdLst/>
            <a:ahLst/>
            <a:cxnLst/>
            <a:rect l="l" t="t" r="r" b="b"/>
            <a:pathLst>
              <a:path w="4483100" h="711200">
                <a:moveTo>
                  <a:pt x="50801" y="0"/>
                </a:moveTo>
                <a:lnTo>
                  <a:pt x="4432299" y="0"/>
                </a:lnTo>
                <a:cubicBezTo>
                  <a:pt x="4460356" y="0"/>
                  <a:pt x="4483100" y="22744"/>
                  <a:pt x="4483100" y="50801"/>
                </a:cubicBezTo>
                <a:lnTo>
                  <a:pt x="4483100" y="660399"/>
                </a:lnTo>
                <a:cubicBezTo>
                  <a:pt x="4483100" y="688456"/>
                  <a:pt x="4460356" y="711200"/>
                  <a:pt x="4432299" y="711200"/>
                </a:cubicBezTo>
                <a:lnTo>
                  <a:pt x="50801" y="711200"/>
                </a:lnTo>
                <a:cubicBezTo>
                  <a:pt x="22744" y="711200"/>
                  <a:pt x="0" y="688456"/>
                  <a:pt x="0" y="660399"/>
                </a:cubicBezTo>
                <a:lnTo>
                  <a:pt x="0" y="50801"/>
                </a:lnTo>
                <a:cubicBezTo>
                  <a:pt x="0" y="22763"/>
                  <a:pt x="22763" y="0"/>
                  <a:pt x="50801" y="0"/>
                </a:cubicBezTo>
                <a:close/>
              </a:path>
            </a:pathLst>
          </a:custGeom>
          <a:solidFill>
            <a:srgbClr val="181A1F">
              <a:alpha val="50196"/>
            </a:srgbClr>
          </a:solidFill>
          <a:ln/>
        </p:spPr>
      </p:sp>
      <p:sp>
        <p:nvSpPr>
          <p:cNvPr id="45" name="Text 43"/>
          <p:cNvSpPr/>
          <p:nvPr/>
        </p:nvSpPr>
        <p:spPr>
          <a:xfrm>
            <a:off x="11159034" y="2794000"/>
            <a:ext cx="4368800" cy="254000"/>
          </a:xfrm>
          <a:prstGeom prst="rect">
            <a:avLst/>
          </a:prstGeom>
          <a:noFill/>
          <a:ln/>
        </p:spPr>
        <p:txBody>
          <a:bodyPr wrap="square" lIns="0" tIns="0" rIns="0" bIns="0" rtlCol="0" anchor="ctr"/>
          <a:lstStyle/>
          <a:p>
            <a:pPr>
              <a:lnSpc>
                <a:spcPct val="120000"/>
              </a:lnSpc>
            </a:pPr>
            <a:r>
              <a:rPr lang="en-US" sz="1400" b="1" dirty="0">
                <a:solidFill>
                  <a:srgbClr val="D1D5DB"/>
                </a:solidFill>
                <a:latin typeface="MiSans" pitchFamily="34" charset="0"/>
                <a:ea typeface="MiSans" pitchFamily="34" charset="-122"/>
                <a:cs typeface="MiSans" pitchFamily="34" charset="-120"/>
              </a:rPr>
              <a:t>权重分布D₃</a:t>
            </a:r>
            <a:endParaRPr lang="en-US" sz="1600" dirty="0"/>
          </a:p>
        </p:txBody>
      </p:sp>
      <p:sp>
        <p:nvSpPr>
          <p:cNvPr id="46" name="Text 44"/>
          <p:cNvSpPr/>
          <p:nvPr/>
        </p:nvSpPr>
        <p:spPr>
          <a:xfrm>
            <a:off x="11159034" y="3098800"/>
            <a:ext cx="4356100" cy="203200"/>
          </a:xfrm>
          <a:prstGeom prst="rect">
            <a:avLst/>
          </a:prstGeom>
          <a:noFill/>
          <a:ln/>
        </p:spPr>
        <p:txBody>
          <a:bodyPr wrap="square" lIns="0" tIns="0" rIns="0" bIns="0" rtlCol="0" anchor="ctr"/>
          <a:lstStyle/>
          <a:p>
            <a:pPr>
              <a:lnSpc>
                <a:spcPct val="110000"/>
              </a:lnSpc>
            </a:pPr>
            <a:r>
              <a:rPr lang="en-US" sz="1200" dirty="0">
                <a:solidFill>
                  <a:srgbClr val="7E9AA8"/>
                </a:solidFill>
                <a:latin typeface="MiSans" pitchFamily="34" charset="0"/>
                <a:ea typeface="MiSans" pitchFamily="34" charset="-122"/>
                <a:cs typeface="MiSans" pitchFamily="34" charset="-120"/>
              </a:rPr>
              <a:t>进一步调整</a:t>
            </a:r>
            <a:endParaRPr lang="en-US" sz="1600" dirty="0"/>
          </a:p>
        </p:txBody>
      </p:sp>
      <p:sp>
        <p:nvSpPr>
          <p:cNvPr id="47" name="Shape 45"/>
          <p:cNvSpPr/>
          <p:nvPr/>
        </p:nvSpPr>
        <p:spPr>
          <a:xfrm>
            <a:off x="11057434" y="3505200"/>
            <a:ext cx="4483100" cy="914400"/>
          </a:xfrm>
          <a:custGeom>
            <a:avLst/>
            <a:gdLst/>
            <a:ahLst/>
            <a:cxnLst/>
            <a:rect l="l" t="t" r="r" b="b"/>
            <a:pathLst>
              <a:path w="4483100" h="914400">
                <a:moveTo>
                  <a:pt x="50804" y="0"/>
                </a:moveTo>
                <a:lnTo>
                  <a:pt x="4432296" y="0"/>
                </a:lnTo>
                <a:cubicBezTo>
                  <a:pt x="4460354" y="0"/>
                  <a:pt x="4483100" y="22746"/>
                  <a:pt x="4483100" y="50804"/>
                </a:cubicBezTo>
                <a:lnTo>
                  <a:pt x="4483100" y="863596"/>
                </a:lnTo>
                <a:cubicBezTo>
                  <a:pt x="4483100" y="891654"/>
                  <a:pt x="4460354" y="914400"/>
                  <a:pt x="4432296" y="914400"/>
                </a:cubicBezTo>
                <a:lnTo>
                  <a:pt x="50804" y="914400"/>
                </a:lnTo>
                <a:cubicBezTo>
                  <a:pt x="22746" y="914400"/>
                  <a:pt x="0" y="891654"/>
                  <a:pt x="0" y="863596"/>
                </a:cubicBezTo>
                <a:lnTo>
                  <a:pt x="0" y="50804"/>
                </a:lnTo>
                <a:cubicBezTo>
                  <a:pt x="0" y="22765"/>
                  <a:pt x="22765" y="0"/>
                  <a:pt x="50804" y="0"/>
                </a:cubicBezTo>
                <a:close/>
              </a:path>
            </a:pathLst>
          </a:custGeom>
          <a:solidFill>
            <a:srgbClr val="181A1F">
              <a:alpha val="50196"/>
            </a:srgbClr>
          </a:solidFill>
          <a:ln/>
        </p:spPr>
      </p:sp>
      <p:sp>
        <p:nvSpPr>
          <p:cNvPr id="48" name="Text 46"/>
          <p:cNvSpPr/>
          <p:nvPr/>
        </p:nvSpPr>
        <p:spPr>
          <a:xfrm>
            <a:off x="11159034" y="3606800"/>
            <a:ext cx="4368800" cy="254000"/>
          </a:xfrm>
          <a:prstGeom prst="rect">
            <a:avLst/>
          </a:prstGeom>
          <a:noFill/>
          <a:ln/>
        </p:spPr>
        <p:txBody>
          <a:bodyPr wrap="square" lIns="0" tIns="0" rIns="0" bIns="0" rtlCol="0" anchor="ctr"/>
          <a:lstStyle/>
          <a:p>
            <a:pPr>
              <a:lnSpc>
                <a:spcPct val="120000"/>
              </a:lnSpc>
            </a:pPr>
            <a:r>
              <a:rPr lang="en-US" sz="1400" b="1" dirty="0">
                <a:solidFill>
                  <a:srgbClr val="D1D5DB"/>
                </a:solidFill>
                <a:latin typeface="MiSans" pitchFamily="34" charset="0"/>
                <a:ea typeface="MiSans" pitchFamily="34" charset="-122"/>
                <a:cs typeface="MiSans" pitchFamily="34" charset="-120"/>
              </a:rPr>
              <a:t>选择最优分类器</a:t>
            </a:r>
            <a:endParaRPr lang="en-US" sz="1600" dirty="0"/>
          </a:p>
        </p:txBody>
      </p:sp>
      <p:sp>
        <p:nvSpPr>
          <p:cNvPr id="49" name="Text 47"/>
          <p:cNvSpPr/>
          <p:nvPr/>
        </p:nvSpPr>
        <p:spPr>
          <a:xfrm>
            <a:off x="11159034" y="3911600"/>
            <a:ext cx="4356100" cy="406400"/>
          </a:xfrm>
          <a:prstGeom prst="rect">
            <a:avLst/>
          </a:prstGeom>
          <a:noFill/>
          <a:ln/>
        </p:spPr>
        <p:txBody>
          <a:bodyPr wrap="square" lIns="0" tIns="0" rIns="0" bIns="0" rtlCol="0" anchor="ctr"/>
          <a:lstStyle/>
          <a:p>
            <a:pPr>
              <a:lnSpc>
                <a:spcPct val="110000"/>
              </a:lnSpc>
            </a:pPr>
            <a:r>
              <a:rPr lang="en-US" sz="1200" dirty="0">
                <a:solidFill>
                  <a:srgbClr val="7E9AA8"/>
                </a:solidFill>
                <a:latin typeface="MiSans" pitchFamily="34" charset="0"/>
                <a:ea typeface="MiSans" pitchFamily="34" charset="-122"/>
                <a:cs typeface="MiSans" pitchFamily="34" charset="-120"/>
              </a:rPr>
              <a:t>G₃最优</a:t>
            </a:r>
            <a:endParaRPr lang="en-US" sz="1600" dirty="0"/>
          </a:p>
          <a:p>
            <a:pPr>
              <a:lnSpc>
                <a:spcPct val="110000"/>
              </a:lnSpc>
            </a:pPr>
            <a:r>
              <a:rPr lang="en-US" sz="1200" dirty="0">
                <a:solidFill>
                  <a:srgbClr val="7E9AA8"/>
                </a:solidFill>
                <a:latin typeface="MiSans" pitchFamily="34" charset="0"/>
                <a:ea typeface="MiSans" pitchFamily="34" charset="-122"/>
                <a:cs typeface="MiSans" pitchFamily="34" charset="-120"/>
              </a:rPr>
              <a:t>误差ε₃ = 0.1818</a:t>
            </a:r>
            <a:endParaRPr lang="en-US" sz="1600" dirty="0"/>
          </a:p>
        </p:txBody>
      </p:sp>
      <p:sp>
        <p:nvSpPr>
          <p:cNvPr id="50" name="Shape 48"/>
          <p:cNvSpPr/>
          <p:nvPr/>
        </p:nvSpPr>
        <p:spPr>
          <a:xfrm>
            <a:off x="11057434" y="4521200"/>
            <a:ext cx="4483100" cy="914400"/>
          </a:xfrm>
          <a:custGeom>
            <a:avLst/>
            <a:gdLst/>
            <a:ahLst/>
            <a:cxnLst/>
            <a:rect l="l" t="t" r="r" b="b"/>
            <a:pathLst>
              <a:path w="4483100" h="914400">
                <a:moveTo>
                  <a:pt x="50804" y="0"/>
                </a:moveTo>
                <a:lnTo>
                  <a:pt x="4432296" y="0"/>
                </a:lnTo>
                <a:cubicBezTo>
                  <a:pt x="4460354" y="0"/>
                  <a:pt x="4483100" y="22746"/>
                  <a:pt x="4483100" y="50804"/>
                </a:cubicBezTo>
                <a:lnTo>
                  <a:pt x="4483100" y="863596"/>
                </a:lnTo>
                <a:cubicBezTo>
                  <a:pt x="4483100" y="891654"/>
                  <a:pt x="4460354" y="914400"/>
                  <a:pt x="4432296" y="914400"/>
                </a:cubicBezTo>
                <a:lnTo>
                  <a:pt x="50804" y="914400"/>
                </a:lnTo>
                <a:cubicBezTo>
                  <a:pt x="22746" y="914400"/>
                  <a:pt x="0" y="891654"/>
                  <a:pt x="0" y="863596"/>
                </a:cubicBezTo>
                <a:lnTo>
                  <a:pt x="0" y="50804"/>
                </a:lnTo>
                <a:cubicBezTo>
                  <a:pt x="0" y="22765"/>
                  <a:pt x="22765" y="0"/>
                  <a:pt x="50804" y="0"/>
                </a:cubicBezTo>
                <a:close/>
              </a:path>
            </a:pathLst>
          </a:custGeom>
          <a:solidFill>
            <a:srgbClr val="181A1F">
              <a:alpha val="50196"/>
            </a:srgbClr>
          </a:solidFill>
          <a:ln/>
        </p:spPr>
      </p:sp>
      <p:sp>
        <p:nvSpPr>
          <p:cNvPr id="51" name="Text 49"/>
          <p:cNvSpPr/>
          <p:nvPr/>
        </p:nvSpPr>
        <p:spPr>
          <a:xfrm>
            <a:off x="11159034" y="4622800"/>
            <a:ext cx="4368800" cy="254000"/>
          </a:xfrm>
          <a:prstGeom prst="rect">
            <a:avLst/>
          </a:prstGeom>
          <a:noFill/>
          <a:ln/>
        </p:spPr>
        <p:txBody>
          <a:bodyPr wrap="square" lIns="0" tIns="0" rIns="0" bIns="0" rtlCol="0" anchor="ctr"/>
          <a:lstStyle/>
          <a:p>
            <a:pPr>
              <a:lnSpc>
                <a:spcPct val="120000"/>
              </a:lnSpc>
            </a:pPr>
            <a:r>
              <a:rPr lang="en-US" sz="1400" b="1" dirty="0">
                <a:solidFill>
                  <a:srgbClr val="D1D5DB"/>
                </a:solidFill>
                <a:latin typeface="MiSans" pitchFamily="34" charset="0"/>
                <a:ea typeface="MiSans" pitchFamily="34" charset="-122"/>
                <a:cs typeface="MiSans" pitchFamily="34" charset="-120"/>
              </a:rPr>
              <a:t>计算α₃</a:t>
            </a:r>
            <a:endParaRPr lang="en-US" sz="1600" dirty="0"/>
          </a:p>
        </p:txBody>
      </p:sp>
      <p:sp>
        <p:nvSpPr>
          <p:cNvPr id="52" name="Text 50"/>
          <p:cNvSpPr/>
          <p:nvPr/>
        </p:nvSpPr>
        <p:spPr>
          <a:xfrm>
            <a:off x="11159034" y="4927600"/>
            <a:ext cx="4356100" cy="406400"/>
          </a:xfrm>
          <a:prstGeom prst="rect">
            <a:avLst/>
          </a:prstGeom>
          <a:noFill/>
          <a:ln/>
        </p:spPr>
        <p:txBody>
          <a:bodyPr wrap="square" lIns="0" tIns="0" rIns="0" bIns="0" rtlCol="0" anchor="ctr"/>
          <a:lstStyle/>
          <a:p>
            <a:pPr>
              <a:lnSpc>
                <a:spcPct val="110000"/>
              </a:lnSpc>
            </a:pPr>
            <a:r>
              <a:rPr lang="en-US" sz="1200" dirty="0">
                <a:solidFill>
                  <a:srgbClr val="7E9AA8"/>
                </a:solidFill>
                <a:latin typeface="MiSans" pitchFamily="34" charset="0"/>
                <a:ea typeface="MiSans" pitchFamily="34" charset="-122"/>
                <a:cs typeface="MiSans" pitchFamily="34" charset="-120"/>
              </a:rPr>
              <a:t>α₃ = ½ ln(0.8182/0.1818)</a:t>
            </a:r>
            <a:endParaRPr lang="en-US" sz="1600" dirty="0"/>
          </a:p>
          <a:p>
            <a:pPr>
              <a:lnSpc>
                <a:spcPct val="110000"/>
              </a:lnSpc>
            </a:pPr>
            <a:r>
              <a:rPr lang="en-US" sz="1200" dirty="0">
                <a:solidFill>
                  <a:srgbClr val="7E9AA8"/>
                </a:solidFill>
                <a:latin typeface="MiSans" pitchFamily="34" charset="0"/>
                <a:ea typeface="MiSans" pitchFamily="34" charset="-122"/>
                <a:cs typeface="MiSans" pitchFamily="34" charset="-120"/>
              </a:rPr>
              <a:t>= 0.7520</a:t>
            </a:r>
            <a:endParaRPr lang="en-US" sz="1600" dirty="0"/>
          </a:p>
        </p:txBody>
      </p:sp>
      <p:sp>
        <p:nvSpPr>
          <p:cNvPr id="53" name="Shape 51"/>
          <p:cNvSpPr/>
          <p:nvPr/>
        </p:nvSpPr>
        <p:spPr>
          <a:xfrm>
            <a:off x="11057434" y="5537200"/>
            <a:ext cx="4483100" cy="914400"/>
          </a:xfrm>
          <a:custGeom>
            <a:avLst/>
            <a:gdLst/>
            <a:ahLst/>
            <a:cxnLst/>
            <a:rect l="l" t="t" r="r" b="b"/>
            <a:pathLst>
              <a:path w="4483100" h="914400">
                <a:moveTo>
                  <a:pt x="50804" y="0"/>
                </a:moveTo>
                <a:lnTo>
                  <a:pt x="4432296" y="0"/>
                </a:lnTo>
                <a:cubicBezTo>
                  <a:pt x="4460354" y="0"/>
                  <a:pt x="4483100" y="22746"/>
                  <a:pt x="4483100" y="50804"/>
                </a:cubicBezTo>
                <a:lnTo>
                  <a:pt x="4483100" y="863596"/>
                </a:lnTo>
                <a:cubicBezTo>
                  <a:pt x="4483100" y="891654"/>
                  <a:pt x="4460354" y="914400"/>
                  <a:pt x="4432296" y="914400"/>
                </a:cubicBezTo>
                <a:lnTo>
                  <a:pt x="50804" y="914400"/>
                </a:lnTo>
                <a:cubicBezTo>
                  <a:pt x="22746" y="914400"/>
                  <a:pt x="0" y="891654"/>
                  <a:pt x="0" y="863596"/>
                </a:cubicBezTo>
                <a:lnTo>
                  <a:pt x="0" y="50804"/>
                </a:lnTo>
                <a:cubicBezTo>
                  <a:pt x="0" y="22765"/>
                  <a:pt x="22765" y="0"/>
                  <a:pt x="50804" y="0"/>
                </a:cubicBezTo>
                <a:close/>
              </a:path>
            </a:pathLst>
          </a:custGeom>
          <a:solidFill>
            <a:srgbClr val="181A1F">
              <a:alpha val="50196"/>
            </a:srgbClr>
          </a:solidFill>
          <a:ln/>
        </p:spPr>
      </p:sp>
      <p:sp>
        <p:nvSpPr>
          <p:cNvPr id="54" name="Text 52"/>
          <p:cNvSpPr/>
          <p:nvPr/>
        </p:nvSpPr>
        <p:spPr>
          <a:xfrm>
            <a:off x="11159034" y="5638800"/>
            <a:ext cx="4368800" cy="254000"/>
          </a:xfrm>
          <a:prstGeom prst="rect">
            <a:avLst/>
          </a:prstGeom>
          <a:noFill/>
          <a:ln/>
        </p:spPr>
        <p:txBody>
          <a:bodyPr wrap="square" lIns="0" tIns="0" rIns="0" bIns="0" rtlCol="0" anchor="ctr"/>
          <a:lstStyle/>
          <a:p>
            <a:pPr>
              <a:lnSpc>
                <a:spcPct val="120000"/>
              </a:lnSpc>
            </a:pPr>
            <a:r>
              <a:rPr lang="en-US" sz="1400" b="1" dirty="0">
                <a:solidFill>
                  <a:srgbClr val="D1D5DB"/>
                </a:solidFill>
                <a:latin typeface="MiSans" pitchFamily="34" charset="0"/>
                <a:ea typeface="MiSans" pitchFamily="34" charset="-122"/>
                <a:cs typeface="MiSans" pitchFamily="34" charset="-120"/>
              </a:rPr>
              <a:t>最终模型</a:t>
            </a:r>
            <a:endParaRPr lang="en-US" sz="1600" dirty="0"/>
          </a:p>
        </p:txBody>
      </p:sp>
      <p:sp>
        <p:nvSpPr>
          <p:cNvPr id="55" name="Text 53"/>
          <p:cNvSpPr/>
          <p:nvPr/>
        </p:nvSpPr>
        <p:spPr>
          <a:xfrm>
            <a:off x="11159034" y="5943600"/>
            <a:ext cx="4356100" cy="406400"/>
          </a:xfrm>
          <a:prstGeom prst="rect">
            <a:avLst/>
          </a:prstGeom>
          <a:noFill/>
          <a:ln/>
        </p:spPr>
        <p:txBody>
          <a:bodyPr wrap="square" lIns="0" tIns="0" rIns="0" bIns="0" rtlCol="0" anchor="ctr"/>
          <a:lstStyle/>
          <a:p>
            <a:pPr>
              <a:lnSpc>
                <a:spcPct val="110000"/>
              </a:lnSpc>
            </a:pPr>
            <a:r>
              <a:rPr lang="en-US" sz="1200" dirty="0">
                <a:solidFill>
                  <a:srgbClr val="7E9AA8"/>
                </a:solidFill>
                <a:latin typeface="MiSans" pitchFamily="34" charset="0"/>
                <a:ea typeface="MiSans" pitchFamily="34" charset="-122"/>
                <a:cs typeface="MiSans" pitchFamily="34" charset="-120"/>
              </a:rPr>
              <a:t>F(x) = sign(0.4236G₁</a:t>
            </a:r>
            <a:endParaRPr lang="en-US" sz="1600" dirty="0"/>
          </a:p>
          <a:p>
            <a:pPr>
              <a:lnSpc>
                <a:spcPct val="110000"/>
              </a:lnSpc>
            </a:pPr>
            <a:r>
              <a:rPr lang="en-US" sz="1200" dirty="0">
                <a:solidFill>
                  <a:srgbClr val="7E9AA8"/>
                </a:solidFill>
                <a:latin typeface="MiSans" pitchFamily="34" charset="0"/>
                <a:ea typeface="MiSans" pitchFamily="34" charset="-122"/>
                <a:cs typeface="MiSans" pitchFamily="34" charset="-120"/>
              </a:rPr>
              <a:t>+ 0.6496G₂ + 0.7520G₃)</a:t>
            </a:r>
            <a:endParaRPr lang="en-US" sz="1600" dirty="0"/>
          </a:p>
        </p:txBody>
      </p:sp>
      <p:sp>
        <p:nvSpPr>
          <p:cNvPr id="56" name="Shape 54"/>
          <p:cNvSpPr/>
          <p:nvPr/>
        </p:nvSpPr>
        <p:spPr>
          <a:xfrm>
            <a:off x="514350" y="6864350"/>
            <a:ext cx="15227300" cy="1536700"/>
          </a:xfrm>
          <a:custGeom>
            <a:avLst/>
            <a:gdLst/>
            <a:ahLst/>
            <a:cxnLst/>
            <a:rect l="l" t="t" r="r" b="b"/>
            <a:pathLst>
              <a:path w="15227300" h="1536700">
                <a:moveTo>
                  <a:pt x="101607" y="0"/>
                </a:moveTo>
                <a:lnTo>
                  <a:pt x="15125693" y="0"/>
                </a:lnTo>
                <a:cubicBezTo>
                  <a:pt x="15181809" y="0"/>
                  <a:pt x="15227300" y="45491"/>
                  <a:pt x="15227300" y="101607"/>
                </a:cubicBezTo>
                <a:lnTo>
                  <a:pt x="15227300" y="1435093"/>
                </a:lnTo>
                <a:cubicBezTo>
                  <a:pt x="15227300" y="1491209"/>
                  <a:pt x="15181809" y="1536700"/>
                  <a:pt x="15125693" y="1536700"/>
                </a:cubicBezTo>
                <a:lnTo>
                  <a:pt x="101607" y="1536700"/>
                </a:lnTo>
                <a:cubicBezTo>
                  <a:pt x="45491" y="1536700"/>
                  <a:pt x="0" y="1491209"/>
                  <a:pt x="0" y="1435093"/>
                </a:cubicBezTo>
                <a:lnTo>
                  <a:pt x="0" y="101607"/>
                </a:lnTo>
                <a:cubicBezTo>
                  <a:pt x="0" y="45528"/>
                  <a:pt x="45528" y="0"/>
                  <a:pt x="101607" y="0"/>
                </a:cubicBezTo>
                <a:close/>
              </a:path>
            </a:pathLst>
          </a:custGeom>
          <a:solidFill>
            <a:srgbClr val="4C7E9A">
              <a:alpha val="10196"/>
            </a:srgbClr>
          </a:solidFill>
          <a:ln w="12700">
            <a:solidFill>
              <a:srgbClr val="4C7E9A">
                <a:alpha val="30196"/>
              </a:srgbClr>
            </a:solidFill>
            <a:prstDash val="solid"/>
          </a:ln>
        </p:spPr>
      </p:sp>
      <p:sp>
        <p:nvSpPr>
          <p:cNvPr id="57" name="Shape 55"/>
          <p:cNvSpPr/>
          <p:nvPr/>
        </p:nvSpPr>
        <p:spPr>
          <a:xfrm>
            <a:off x="774700" y="7073900"/>
            <a:ext cx="381000" cy="381000"/>
          </a:xfrm>
          <a:custGeom>
            <a:avLst/>
            <a:gdLst/>
            <a:ahLst/>
            <a:cxnLst/>
            <a:rect l="l" t="t" r="r" b="b"/>
            <a:pathLst>
              <a:path w="381000" h="381000">
                <a:moveTo>
                  <a:pt x="190500" y="381000"/>
                </a:moveTo>
                <a:cubicBezTo>
                  <a:pt x="295640" y="381000"/>
                  <a:pt x="381000" y="295640"/>
                  <a:pt x="381000" y="190500"/>
                </a:cubicBezTo>
                <a:cubicBezTo>
                  <a:pt x="381000" y="85360"/>
                  <a:pt x="295640" y="0"/>
                  <a:pt x="190500" y="0"/>
                </a:cubicBezTo>
                <a:cubicBezTo>
                  <a:pt x="85360" y="0"/>
                  <a:pt x="0" y="85360"/>
                  <a:pt x="0" y="190500"/>
                </a:cubicBezTo>
                <a:cubicBezTo>
                  <a:pt x="0" y="295640"/>
                  <a:pt x="85360" y="381000"/>
                  <a:pt x="190500" y="381000"/>
                </a:cubicBezTo>
                <a:close/>
                <a:moveTo>
                  <a:pt x="253305" y="158279"/>
                </a:moveTo>
                <a:lnTo>
                  <a:pt x="193774" y="253529"/>
                </a:lnTo>
                <a:cubicBezTo>
                  <a:pt x="190649" y="258514"/>
                  <a:pt x="185291" y="261640"/>
                  <a:pt x="179412" y="261938"/>
                </a:cubicBezTo>
                <a:cubicBezTo>
                  <a:pt x="173534" y="262235"/>
                  <a:pt x="167878" y="259556"/>
                  <a:pt x="164381" y="254794"/>
                </a:cubicBezTo>
                <a:lnTo>
                  <a:pt x="128662" y="207169"/>
                </a:lnTo>
                <a:cubicBezTo>
                  <a:pt x="122709" y="199281"/>
                  <a:pt x="124346" y="188119"/>
                  <a:pt x="132234" y="182166"/>
                </a:cubicBezTo>
                <a:cubicBezTo>
                  <a:pt x="140122" y="176212"/>
                  <a:pt x="151284" y="177850"/>
                  <a:pt x="157237" y="185738"/>
                </a:cubicBezTo>
                <a:lnTo>
                  <a:pt x="177329" y="212527"/>
                </a:lnTo>
                <a:lnTo>
                  <a:pt x="223019" y="139378"/>
                </a:lnTo>
                <a:cubicBezTo>
                  <a:pt x="228228" y="131043"/>
                  <a:pt x="239241" y="128439"/>
                  <a:pt x="247650" y="133722"/>
                </a:cubicBezTo>
                <a:cubicBezTo>
                  <a:pt x="256059" y="139005"/>
                  <a:pt x="258589" y="149944"/>
                  <a:pt x="253305" y="158353"/>
                </a:cubicBezTo>
                <a:close/>
              </a:path>
            </a:pathLst>
          </a:custGeom>
          <a:solidFill>
            <a:srgbClr val="4C7E9A"/>
          </a:solidFill>
          <a:ln/>
        </p:spPr>
      </p:sp>
      <p:sp>
        <p:nvSpPr>
          <p:cNvPr id="58" name="Text 56"/>
          <p:cNvSpPr/>
          <p:nvPr/>
        </p:nvSpPr>
        <p:spPr>
          <a:xfrm>
            <a:off x="1403350" y="7073900"/>
            <a:ext cx="142621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结果验证</a:t>
            </a:r>
            <a:endParaRPr lang="en-US" sz="1600" dirty="0"/>
          </a:p>
        </p:txBody>
      </p:sp>
      <p:sp>
        <p:nvSpPr>
          <p:cNvPr id="59" name="Text 57"/>
          <p:cNvSpPr/>
          <p:nvPr/>
        </p:nvSpPr>
        <p:spPr>
          <a:xfrm>
            <a:off x="1403350" y="7531100"/>
            <a:ext cx="14236700" cy="660400"/>
          </a:xfrm>
          <a:prstGeom prst="rect">
            <a:avLst/>
          </a:prstGeom>
          <a:noFill/>
          <a:ln/>
        </p:spPr>
        <p:txBody>
          <a:bodyPr wrap="square" lIns="0" tIns="0" rIns="0" bIns="0" rtlCol="0" anchor="ctr"/>
          <a:lstStyle/>
          <a:p>
            <a:pPr>
              <a:lnSpc>
                <a:spcPct val="140000"/>
              </a:lnSpc>
            </a:pPr>
            <a:r>
              <a:rPr lang="en-US" sz="1600" dirty="0">
                <a:solidFill>
                  <a:srgbClr val="7E9AA8"/>
                </a:solidFill>
                <a:latin typeface="MiSans" pitchFamily="34" charset="0"/>
                <a:ea typeface="MiSans" pitchFamily="34" charset="-122"/>
                <a:cs typeface="MiSans" pitchFamily="34" charset="-120"/>
              </a:rPr>
              <a:t>经过3轮迭代，最终强分类器在训练集上分类误差为0，完美拟合了所有样本。这体现了AdaBoost</a:t>
            </a:r>
            <a:pPr>
              <a:lnSpc>
                <a:spcPct val="140000"/>
              </a:lnSpc>
            </a:pPr>
            <a:r>
              <a:rPr lang="en-US" sz="1600" b="1" dirty="0">
                <a:solidFill>
                  <a:srgbClr val="4C7E9A"/>
                </a:solidFill>
                <a:latin typeface="MiSans" pitchFamily="34" charset="0"/>
                <a:ea typeface="MiSans" pitchFamily="34" charset="-122"/>
                <a:cs typeface="MiSans" pitchFamily="34" charset="-120"/>
              </a:rPr>
              <a:t>"化弱为强"</a:t>
            </a:r>
            <a:pPr>
              <a:lnSpc>
                <a:spcPct val="140000"/>
              </a:lnSpc>
            </a:pPr>
            <a:r>
              <a:rPr lang="en-US" sz="1600" dirty="0">
                <a:solidFill>
                  <a:srgbClr val="7E9AA8"/>
                </a:solidFill>
                <a:latin typeface="MiSans" pitchFamily="34" charset="0"/>
                <a:ea typeface="MiSans" pitchFamily="34" charset="-122"/>
                <a:cs typeface="MiSans" pitchFamily="34" charset="-120"/>
              </a:rPr>
              <a:t>的核心思想：通过迭代调整样本权重，迫使算法关注"难样本"，将多个简单的弱分类器组合成一个强大的强分类器。</a:t>
            </a:r>
            <a:endParaRPr lang="en-US" sz="1600" dirty="0"/>
          </a:p>
        </p:txBody>
      </p:sp>
    </p:spTree>
  </p:cSld>
  <p:clrMapOvr>
    <a:masterClrMapping/>
  </p:clrMapOvr>
  <p:transition>
    <p:fade/>
    <p:spd val="med"/>
  </p:transition>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58238" y="458238"/>
            <a:ext cx="15431171" cy="274943"/>
          </a:xfrm>
          <a:prstGeom prst="rect">
            <a:avLst/>
          </a:prstGeom>
          <a:noFill/>
          <a:ln/>
        </p:spPr>
        <p:txBody>
          <a:bodyPr wrap="square" lIns="0" tIns="0" rIns="0" bIns="0" rtlCol="0" anchor="ctr"/>
          <a:lstStyle/>
          <a:p>
            <a:pPr>
              <a:lnSpc>
                <a:spcPct val="130000"/>
              </a:lnSpc>
            </a:pPr>
            <a:r>
              <a:rPr lang="en-US" sz="1443" b="1" spc="72" kern="0" dirty="0">
                <a:solidFill>
                  <a:srgbClr val="7E9AA8"/>
                </a:solidFill>
                <a:latin typeface="MiSans" pitchFamily="34" charset="0"/>
                <a:ea typeface="MiSans" pitchFamily="34" charset="-122"/>
                <a:cs typeface="MiSans" pitchFamily="34" charset="-120"/>
              </a:rPr>
              <a:t>ADABOOST</a:t>
            </a:r>
            <a:endParaRPr lang="en-US" sz="1600" dirty="0"/>
          </a:p>
        </p:txBody>
      </p:sp>
      <p:sp>
        <p:nvSpPr>
          <p:cNvPr id="3" name="Text 1"/>
          <p:cNvSpPr/>
          <p:nvPr/>
        </p:nvSpPr>
        <p:spPr>
          <a:xfrm>
            <a:off x="458238" y="824829"/>
            <a:ext cx="15545731" cy="458238"/>
          </a:xfrm>
          <a:prstGeom prst="rect">
            <a:avLst/>
          </a:prstGeom>
          <a:noFill/>
          <a:ln/>
        </p:spPr>
        <p:txBody>
          <a:bodyPr wrap="square" lIns="0" tIns="0" rIns="0" bIns="0" rtlCol="0" anchor="ctr"/>
          <a:lstStyle/>
          <a:p>
            <a:pPr>
              <a:lnSpc>
                <a:spcPct val="90000"/>
              </a:lnSpc>
            </a:pPr>
            <a:r>
              <a:rPr lang="en-US" sz="3247" b="1" dirty="0">
                <a:solidFill>
                  <a:srgbClr val="D1D5DB"/>
                </a:solidFill>
                <a:latin typeface="阿里妈妈数黑体" pitchFamily="34" charset="0"/>
                <a:ea typeface="阿里妈妈数黑体" pitchFamily="34" charset="-122"/>
                <a:cs typeface="阿里妈妈数黑体" pitchFamily="34" charset="-120"/>
              </a:rPr>
              <a:t>AdaBoost核心机制总结</a:t>
            </a:r>
            <a:endParaRPr lang="en-US" sz="1600" dirty="0"/>
          </a:p>
        </p:txBody>
      </p:sp>
      <p:sp>
        <p:nvSpPr>
          <p:cNvPr id="4" name="Shape 2"/>
          <p:cNvSpPr/>
          <p:nvPr/>
        </p:nvSpPr>
        <p:spPr>
          <a:xfrm>
            <a:off x="458238" y="1420538"/>
            <a:ext cx="1099772" cy="45824"/>
          </a:xfrm>
          <a:custGeom>
            <a:avLst/>
            <a:gdLst/>
            <a:ahLst/>
            <a:cxnLst/>
            <a:rect l="l" t="t" r="r" b="b"/>
            <a:pathLst>
              <a:path w="1099772" h="45824">
                <a:moveTo>
                  <a:pt x="0" y="0"/>
                </a:moveTo>
                <a:lnTo>
                  <a:pt x="1099772" y="0"/>
                </a:lnTo>
                <a:lnTo>
                  <a:pt x="1099772" y="45824"/>
                </a:lnTo>
                <a:lnTo>
                  <a:pt x="0" y="45824"/>
                </a:lnTo>
                <a:lnTo>
                  <a:pt x="0" y="0"/>
                </a:lnTo>
                <a:close/>
              </a:path>
            </a:pathLst>
          </a:custGeom>
          <a:solidFill>
            <a:srgbClr val="4C7E9A"/>
          </a:solidFill>
          <a:ln/>
        </p:spPr>
      </p:sp>
      <p:sp>
        <p:nvSpPr>
          <p:cNvPr id="5" name="Shape 3"/>
          <p:cNvSpPr/>
          <p:nvPr/>
        </p:nvSpPr>
        <p:spPr>
          <a:xfrm>
            <a:off x="481150" y="1649658"/>
            <a:ext cx="7526562" cy="3425331"/>
          </a:xfrm>
          <a:custGeom>
            <a:avLst/>
            <a:gdLst/>
            <a:ahLst/>
            <a:cxnLst/>
            <a:rect l="l" t="t" r="r" b="b"/>
            <a:pathLst>
              <a:path w="7526562" h="3425331">
                <a:moveTo>
                  <a:pt x="45824" y="0"/>
                </a:moveTo>
                <a:lnTo>
                  <a:pt x="7434901" y="0"/>
                </a:lnTo>
                <a:cubicBezTo>
                  <a:pt x="7485524" y="0"/>
                  <a:pt x="7526562" y="41038"/>
                  <a:pt x="7526562" y="91662"/>
                </a:cubicBezTo>
                <a:lnTo>
                  <a:pt x="7526562" y="3333669"/>
                </a:lnTo>
                <a:cubicBezTo>
                  <a:pt x="7526562" y="3384292"/>
                  <a:pt x="7485524" y="3425331"/>
                  <a:pt x="7434901" y="3425331"/>
                </a:cubicBezTo>
                <a:lnTo>
                  <a:pt x="45824" y="3425331"/>
                </a:lnTo>
                <a:cubicBezTo>
                  <a:pt x="20516" y="3425331"/>
                  <a:pt x="0" y="3404814"/>
                  <a:pt x="0" y="3379507"/>
                </a:cubicBezTo>
                <a:lnTo>
                  <a:pt x="0" y="45824"/>
                </a:lnTo>
                <a:cubicBezTo>
                  <a:pt x="0" y="20533"/>
                  <a:pt x="20533" y="0"/>
                  <a:pt x="45824" y="0"/>
                </a:cubicBezTo>
                <a:close/>
              </a:path>
            </a:pathLst>
          </a:custGeom>
          <a:solidFill>
            <a:srgbClr val="3A5E78">
              <a:alpha val="20000"/>
            </a:srgbClr>
          </a:solidFill>
          <a:ln/>
        </p:spPr>
      </p:sp>
      <p:sp>
        <p:nvSpPr>
          <p:cNvPr id="6" name="Shape 4"/>
          <p:cNvSpPr/>
          <p:nvPr/>
        </p:nvSpPr>
        <p:spPr>
          <a:xfrm>
            <a:off x="481150" y="1649658"/>
            <a:ext cx="45824" cy="3425331"/>
          </a:xfrm>
          <a:custGeom>
            <a:avLst/>
            <a:gdLst/>
            <a:ahLst/>
            <a:cxnLst/>
            <a:rect l="l" t="t" r="r" b="b"/>
            <a:pathLst>
              <a:path w="45824" h="3425331">
                <a:moveTo>
                  <a:pt x="45824" y="0"/>
                </a:moveTo>
                <a:lnTo>
                  <a:pt x="45824" y="0"/>
                </a:lnTo>
                <a:lnTo>
                  <a:pt x="45824" y="3425331"/>
                </a:lnTo>
                <a:lnTo>
                  <a:pt x="45824" y="3425331"/>
                </a:lnTo>
                <a:cubicBezTo>
                  <a:pt x="20516" y="3425331"/>
                  <a:pt x="0" y="3404814"/>
                  <a:pt x="0" y="3379507"/>
                </a:cubicBezTo>
                <a:lnTo>
                  <a:pt x="0" y="45824"/>
                </a:lnTo>
                <a:cubicBezTo>
                  <a:pt x="0" y="20533"/>
                  <a:pt x="20533" y="0"/>
                  <a:pt x="45824" y="0"/>
                </a:cubicBezTo>
                <a:close/>
              </a:path>
            </a:pathLst>
          </a:custGeom>
          <a:solidFill>
            <a:srgbClr val="4C7E9A"/>
          </a:solidFill>
          <a:ln/>
        </p:spPr>
      </p:sp>
      <p:sp>
        <p:nvSpPr>
          <p:cNvPr id="7" name="Text 5"/>
          <p:cNvSpPr/>
          <p:nvPr/>
        </p:nvSpPr>
        <p:spPr>
          <a:xfrm>
            <a:off x="687357" y="1832953"/>
            <a:ext cx="7274531" cy="366591"/>
          </a:xfrm>
          <a:prstGeom prst="rect">
            <a:avLst/>
          </a:prstGeom>
          <a:noFill/>
          <a:ln/>
        </p:spPr>
        <p:txBody>
          <a:bodyPr wrap="square" lIns="0" tIns="0" rIns="0" bIns="0" rtlCol="0" anchor="ctr"/>
          <a:lstStyle/>
          <a:p>
            <a:pPr>
              <a:lnSpc>
                <a:spcPct val="110000"/>
              </a:lnSpc>
            </a:pPr>
            <a:r>
              <a:rPr lang="en-US" sz="2165" b="1" dirty="0">
                <a:solidFill>
                  <a:srgbClr val="4C7E9A"/>
                </a:solidFill>
                <a:latin typeface="MiSans" pitchFamily="34" charset="0"/>
                <a:ea typeface="MiSans" pitchFamily="34" charset="-122"/>
                <a:cs typeface="MiSans" pitchFamily="34" charset="-120"/>
              </a:rPr>
              <a:t>权重演化机制</a:t>
            </a:r>
            <a:endParaRPr lang="en-US" sz="1600" dirty="0"/>
          </a:p>
        </p:txBody>
      </p:sp>
      <p:sp>
        <p:nvSpPr>
          <p:cNvPr id="8" name="Text 6"/>
          <p:cNvSpPr/>
          <p:nvPr/>
        </p:nvSpPr>
        <p:spPr>
          <a:xfrm>
            <a:off x="687357" y="2337015"/>
            <a:ext cx="7240163" cy="675901"/>
          </a:xfrm>
          <a:prstGeom prst="rect">
            <a:avLst/>
          </a:prstGeom>
          <a:noFill/>
          <a:ln/>
        </p:spPr>
        <p:txBody>
          <a:bodyPr wrap="square" lIns="0" tIns="0" rIns="0" bIns="0" rtlCol="0" anchor="ctr"/>
          <a:lstStyle/>
          <a:p>
            <a:pPr>
              <a:lnSpc>
                <a:spcPct val="140000"/>
              </a:lnSpc>
            </a:pPr>
            <a:r>
              <a:rPr lang="en-US" sz="1624" dirty="0">
                <a:solidFill>
                  <a:srgbClr val="D1D5DB"/>
                </a:solidFill>
                <a:latin typeface="MiSans" pitchFamily="34" charset="0"/>
                <a:ea typeface="MiSans" pitchFamily="34" charset="-122"/>
                <a:cs typeface="MiSans" pitchFamily="34" charset="-120"/>
              </a:rPr>
              <a:t>通过迭代调整样本权重，迫使算法在每一轮中关注上一轮被错误分类的</a:t>
            </a:r>
            <a:pPr>
              <a:lnSpc>
                <a:spcPct val="140000"/>
              </a:lnSpc>
            </a:pPr>
            <a:r>
              <a:rPr lang="en-US" sz="1624" b="1" dirty="0">
                <a:solidFill>
                  <a:srgbClr val="4C7E9A"/>
                </a:solidFill>
                <a:latin typeface="MiSans" pitchFamily="34" charset="0"/>
                <a:ea typeface="MiSans" pitchFamily="34" charset="-122"/>
                <a:cs typeface="MiSans" pitchFamily="34" charset="-120"/>
              </a:rPr>
              <a:t>"难样本"</a:t>
            </a:r>
            <a:pPr>
              <a:lnSpc>
                <a:spcPct val="140000"/>
              </a:lnSpc>
            </a:pPr>
            <a:r>
              <a:rPr lang="en-US" sz="1624" dirty="0">
                <a:solidFill>
                  <a:srgbClr val="D1D5DB"/>
                </a:solidFill>
                <a:latin typeface="MiSans" pitchFamily="34" charset="0"/>
                <a:ea typeface="MiSans" pitchFamily="34" charset="-122"/>
                <a:cs typeface="MiSans" pitchFamily="34" charset="-120"/>
              </a:rPr>
              <a:t>。</a:t>
            </a:r>
            <a:endParaRPr lang="en-US" sz="1600" dirty="0"/>
          </a:p>
        </p:txBody>
      </p:sp>
      <p:sp>
        <p:nvSpPr>
          <p:cNvPr id="9" name="Shape 7"/>
          <p:cNvSpPr/>
          <p:nvPr/>
        </p:nvSpPr>
        <p:spPr>
          <a:xfrm>
            <a:off x="687357" y="3144660"/>
            <a:ext cx="7137060" cy="824829"/>
          </a:xfrm>
          <a:custGeom>
            <a:avLst/>
            <a:gdLst/>
            <a:ahLst/>
            <a:cxnLst/>
            <a:rect l="l" t="t" r="r" b="b"/>
            <a:pathLst>
              <a:path w="7137060" h="824829">
                <a:moveTo>
                  <a:pt x="45827" y="0"/>
                </a:moveTo>
                <a:lnTo>
                  <a:pt x="7091232" y="0"/>
                </a:lnTo>
                <a:cubicBezTo>
                  <a:pt x="7116542" y="0"/>
                  <a:pt x="7137060" y="20518"/>
                  <a:pt x="7137060" y="45827"/>
                </a:cubicBezTo>
                <a:lnTo>
                  <a:pt x="7137060" y="779001"/>
                </a:lnTo>
                <a:cubicBezTo>
                  <a:pt x="7137060" y="804311"/>
                  <a:pt x="7116542" y="824829"/>
                  <a:pt x="7091232" y="824829"/>
                </a:cubicBezTo>
                <a:lnTo>
                  <a:pt x="45827" y="824829"/>
                </a:lnTo>
                <a:cubicBezTo>
                  <a:pt x="20518" y="824829"/>
                  <a:pt x="0" y="804311"/>
                  <a:pt x="0" y="779001"/>
                </a:cubicBezTo>
                <a:lnTo>
                  <a:pt x="0" y="45827"/>
                </a:lnTo>
                <a:cubicBezTo>
                  <a:pt x="0" y="20518"/>
                  <a:pt x="20518" y="0"/>
                  <a:pt x="45827" y="0"/>
                </a:cubicBezTo>
                <a:close/>
              </a:path>
            </a:pathLst>
          </a:custGeom>
          <a:solidFill>
            <a:srgbClr val="181A1F">
              <a:alpha val="50196"/>
            </a:srgbClr>
          </a:solidFill>
          <a:ln/>
        </p:spPr>
      </p:sp>
      <p:sp>
        <p:nvSpPr>
          <p:cNvPr id="10" name="Text 8"/>
          <p:cNvSpPr/>
          <p:nvPr/>
        </p:nvSpPr>
        <p:spPr>
          <a:xfrm>
            <a:off x="824829" y="3282131"/>
            <a:ext cx="6953765" cy="274943"/>
          </a:xfrm>
          <a:prstGeom prst="rect">
            <a:avLst/>
          </a:prstGeom>
          <a:noFill/>
          <a:ln/>
        </p:spPr>
        <p:txBody>
          <a:bodyPr wrap="square" lIns="0" tIns="0" rIns="0" bIns="0" rtlCol="0" anchor="ctr"/>
          <a:lstStyle/>
          <a:p>
            <a:pPr>
              <a:lnSpc>
                <a:spcPct val="130000"/>
              </a:lnSpc>
            </a:pPr>
            <a:r>
              <a:rPr lang="en-US" sz="1443" b="1" dirty="0">
                <a:solidFill>
                  <a:srgbClr val="D1D5DB"/>
                </a:solidFill>
                <a:latin typeface="MiSans" pitchFamily="34" charset="0"/>
                <a:ea typeface="MiSans" pitchFamily="34" charset="-122"/>
                <a:cs typeface="MiSans" pitchFamily="34" charset="-120"/>
              </a:rPr>
              <a:t>权重分布演变</a:t>
            </a:r>
            <a:endParaRPr lang="en-US" sz="1600" dirty="0"/>
          </a:p>
        </p:txBody>
      </p:sp>
      <p:sp>
        <p:nvSpPr>
          <p:cNvPr id="11" name="Text 9"/>
          <p:cNvSpPr/>
          <p:nvPr/>
        </p:nvSpPr>
        <p:spPr>
          <a:xfrm>
            <a:off x="824829" y="3602898"/>
            <a:ext cx="6942309" cy="229119"/>
          </a:xfrm>
          <a:prstGeom prst="rect">
            <a:avLst/>
          </a:prstGeom>
          <a:noFill/>
          <a:ln/>
        </p:spPr>
        <p:txBody>
          <a:bodyPr wrap="square" lIns="0" tIns="0" rIns="0" bIns="0" rtlCol="0" anchor="ctr"/>
          <a:lstStyle/>
          <a:p>
            <a:pPr>
              <a:lnSpc>
                <a:spcPct val="120000"/>
              </a:lnSpc>
            </a:pPr>
            <a:r>
              <a:rPr lang="en-US" sz="1263" dirty="0">
                <a:solidFill>
                  <a:srgbClr val="7E9AA8"/>
                </a:solidFill>
                <a:latin typeface="MiSans" pitchFamily="34" charset="0"/>
                <a:ea typeface="MiSans" pitchFamily="34" charset="-122"/>
                <a:cs typeface="MiSans" pitchFamily="34" charset="-120"/>
              </a:rPr>
              <a:t>权重分布D_t逐渐向分类错误的边界样本集中</a:t>
            </a:r>
            <a:endParaRPr lang="en-US" sz="1600" dirty="0"/>
          </a:p>
        </p:txBody>
      </p:sp>
      <p:sp>
        <p:nvSpPr>
          <p:cNvPr id="12" name="Shape 10"/>
          <p:cNvSpPr/>
          <p:nvPr/>
        </p:nvSpPr>
        <p:spPr>
          <a:xfrm>
            <a:off x="687357" y="4061136"/>
            <a:ext cx="7137060" cy="824829"/>
          </a:xfrm>
          <a:custGeom>
            <a:avLst/>
            <a:gdLst/>
            <a:ahLst/>
            <a:cxnLst/>
            <a:rect l="l" t="t" r="r" b="b"/>
            <a:pathLst>
              <a:path w="7137060" h="824829">
                <a:moveTo>
                  <a:pt x="45827" y="0"/>
                </a:moveTo>
                <a:lnTo>
                  <a:pt x="7091232" y="0"/>
                </a:lnTo>
                <a:cubicBezTo>
                  <a:pt x="7116542" y="0"/>
                  <a:pt x="7137060" y="20518"/>
                  <a:pt x="7137060" y="45827"/>
                </a:cubicBezTo>
                <a:lnTo>
                  <a:pt x="7137060" y="779001"/>
                </a:lnTo>
                <a:cubicBezTo>
                  <a:pt x="7137060" y="804311"/>
                  <a:pt x="7116542" y="824829"/>
                  <a:pt x="7091232" y="824829"/>
                </a:cubicBezTo>
                <a:lnTo>
                  <a:pt x="45827" y="824829"/>
                </a:lnTo>
                <a:cubicBezTo>
                  <a:pt x="20518" y="824829"/>
                  <a:pt x="0" y="804311"/>
                  <a:pt x="0" y="779001"/>
                </a:cubicBezTo>
                <a:lnTo>
                  <a:pt x="0" y="45827"/>
                </a:lnTo>
                <a:cubicBezTo>
                  <a:pt x="0" y="20518"/>
                  <a:pt x="20518" y="0"/>
                  <a:pt x="45827" y="0"/>
                </a:cubicBezTo>
                <a:close/>
              </a:path>
            </a:pathLst>
          </a:custGeom>
          <a:solidFill>
            <a:srgbClr val="181A1F">
              <a:alpha val="50196"/>
            </a:srgbClr>
          </a:solidFill>
          <a:ln/>
        </p:spPr>
      </p:sp>
      <p:sp>
        <p:nvSpPr>
          <p:cNvPr id="13" name="Text 11"/>
          <p:cNvSpPr/>
          <p:nvPr/>
        </p:nvSpPr>
        <p:spPr>
          <a:xfrm>
            <a:off x="824829" y="4198607"/>
            <a:ext cx="6953765" cy="274943"/>
          </a:xfrm>
          <a:prstGeom prst="rect">
            <a:avLst/>
          </a:prstGeom>
          <a:noFill/>
          <a:ln/>
        </p:spPr>
        <p:txBody>
          <a:bodyPr wrap="square" lIns="0" tIns="0" rIns="0" bIns="0" rtlCol="0" anchor="ctr"/>
          <a:lstStyle/>
          <a:p>
            <a:pPr>
              <a:lnSpc>
                <a:spcPct val="130000"/>
              </a:lnSpc>
            </a:pPr>
            <a:r>
              <a:rPr lang="en-US" sz="1443" b="1" dirty="0">
                <a:solidFill>
                  <a:srgbClr val="D1D5DB"/>
                </a:solidFill>
                <a:latin typeface="MiSans" pitchFamily="34" charset="0"/>
                <a:ea typeface="MiSans" pitchFamily="34" charset="-122"/>
                <a:cs typeface="MiSans" pitchFamily="34" charset="-120"/>
              </a:rPr>
              <a:t>引导后续学习</a:t>
            </a:r>
            <a:endParaRPr lang="en-US" sz="1600" dirty="0"/>
          </a:p>
        </p:txBody>
      </p:sp>
      <p:sp>
        <p:nvSpPr>
          <p:cNvPr id="14" name="Text 12"/>
          <p:cNvSpPr/>
          <p:nvPr/>
        </p:nvSpPr>
        <p:spPr>
          <a:xfrm>
            <a:off x="824829" y="4519374"/>
            <a:ext cx="6942309" cy="229119"/>
          </a:xfrm>
          <a:prstGeom prst="rect">
            <a:avLst/>
          </a:prstGeom>
          <a:noFill/>
          <a:ln/>
        </p:spPr>
        <p:txBody>
          <a:bodyPr wrap="square" lIns="0" tIns="0" rIns="0" bIns="0" rtlCol="0" anchor="ctr"/>
          <a:lstStyle/>
          <a:p>
            <a:pPr>
              <a:lnSpc>
                <a:spcPct val="120000"/>
              </a:lnSpc>
            </a:pPr>
            <a:r>
              <a:rPr lang="en-US" sz="1263" dirty="0">
                <a:solidFill>
                  <a:srgbClr val="7E9AA8"/>
                </a:solidFill>
                <a:latin typeface="MiSans" pitchFamily="34" charset="0"/>
                <a:ea typeface="MiSans" pitchFamily="34" charset="-122"/>
                <a:cs typeface="MiSans" pitchFamily="34" charset="-120"/>
              </a:rPr>
              <a:t>引导后续弱分类器去修补之前的错误</a:t>
            </a:r>
            <a:endParaRPr lang="en-US" sz="1600" dirty="0"/>
          </a:p>
        </p:txBody>
      </p:sp>
      <p:sp>
        <p:nvSpPr>
          <p:cNvPr id="15" name="Shape 13"/>
          <p:cNvSpPr/>
          <p:nvPr/>
        </p:nvSpPr>
        <p:spPr>
          <a:xfrm>
            <a:off x="481150" y="5252555"/>
            <a:ext cx="7526562" cy="3242035"/>
          </a:xfrm>
          <a:custGeom>
            <a:avLst/>
            <a:gdLst/>
            <a:ahLst/>
            <a:cxnLst/>
            <a:rect l="l" t="t" r="r" b="b"/>
            <a:pathLst>
              <a:path w="7526562" h="3242035">
                <a:moveTo>
                  <a:pt x="45824" y="0"/>
                </a:moveTo>
                <a:lnTo>
                  <a:pt x="7434910" y="0"/>
                </a:lnTo>
                <a:cubicBezTo>
                  <a:pt x="7485528" y="0"/>
                  <a:pt x="7526562" y="41034"/>
                  <a:pt x="7526562" y="91652"/>
                </a:cubicBezTo>
                <a:lnTo>
                  <a:pt x="7526562" y="3150383"/>
                </a:lnTo>
                <a:cubicBezTo>
                  <a:pt x="7526562" y="3201001"/>
                  <a:pt x="7485528" y="3242035"/>
                  <a:pt x="7434910" y="3242035"/>
                </a:cubicBezTo>
                <a:lnTo>
                  <a:pt x="45824" y="3242035"/>
                </a:lnTo>
                <a:cubicBezTo>
                  <a:pt x="20516" y="3242035"/>
                  <a:pt x="0" y="3221519"/>
                  <a:pt x="0" y="3196211"/>
                </a:cubicBezTo>
                <a:lnTo>
                  <a:pt x="0" y="45824"/>
                </a:lnTo>
                <a:cubicBezTo>
                  <a:pt x="0" y="20533"/>
                  <a:pt x="20533" y="0"/>
                  <a:pt x="45824" y="0"/>
                </a:cubicBezTo>
                <a:close/>
              </a:path>
            </a:pathLst>
          </a:custGeom>
          <a:solidFill>
            <a:srgbClr val="3A5E78">
              <a:alpha val="20000"/>
            </a:srgbClr>
          </a:solidFill>
          <a:ln/>
        </p:spPr>
      </p:sp>
      <p:sp>
        <p:nvSpPr>
          <p:cNvPr id="16" name="Shape 14"/>
          <p:cNvSpPr/>
          <p:nvPr/>
        </p:nvSpPr>
        <p:spPr>
          <a:xfrm>
            <a:off x="481150" y="5252555"/>
            <a:ext cx="45824" cy="3242035"/>
          </a:xfrm>
          <a:custGeom>
            <a:avLst/>
            <a:gdLst/>
            <a:ahLst/>
            <a:cxnLst/>
            <a:rect l="l" t="t" r="r" b="b"/>
            <a:pathLst>
              <a:path w="45824" h="3242035">
                <a:moveTo>
                  <a:pt x="45824" y="0"/>
                </a:moveTo>
                <a:lnTo>
                  <a:pt x="45824" y="0"/>
                </a:lnTo>
                <a:lnTo>
                  <a:pt x="45824" y="3242035"/>
                </a:lnTo>
                <a:lnTo>
                  <a:pt x="45824" y="3242035"/>
                </a:lnTo>
                <a:cubicBezTo>
                  <a:pt x="20516" y="3242035"/>
                  <a:pt x="0" y="3221519"/>
                  <a:pt x="0" y="3196211"/>
                </a:cubicBezTo>
                <a:lnTo>
                  <a:pt x="0" y="45824"/>
                </a:lnTo>
                <a:cubicBezTo>
                  <a:pt x="0" y="20533"/>
                  <a:pt x="20533" y="0"/>
                  <a:pt x="45824" y="0"/>
                </a:cubicBezTo>
                <a:close/>
              </a:path>
            </a:pathLst>
          </a:custGeom>
          <a:solidFill>
            <a:srgbClr val="7E9AA8"/>
          </a:solidFill>
          <a:ln/>
        </p:spPr>
      </p:sp>
      <p:sp>
        <p:nvSpPr>
          <p:cNvPr id="17" name="Text 15"/>
          <p:cNvSpPr/>
          <p:nvPr/>
        </p:nvSpPr>
        <p:spPr>
          <a:xfrm>
            <a:off x="687357" y="5435851"/>
            <a:ext cx="7274531" cy="366591"/>
          </a:xfrm>
          <a:prstGeom prst="rect">
            <a:avLst/>
          </a:prstGeom>
          <a:noFill/>
          <a:ln/>
        </p:spPr>
        <p:txBody>
          <a:bodyPr wrap="square" lIns="0" tIns="0" rIns="0" bIns="0" rtlCol="0" anchor="ctr"/>
          <a:lstStyle/>
          <a:p>
            <a:pPr>
              <a:lnSpc>
                <a:spcPct val="110000"/>
              </a:lnSpc>
            </a:pPr>
            <a:r>
              <a:rPr lang="en-US" sz="2165" b="1" dirty="0">
                <a:solidFill>
                  <a:srgbClr val="7E9AA8"/>
                </a:solidFill>
                <a:latin typeface="MiSans" pitchFamily="34" charset="0"/>
                <a:ea typeface="MiSans" pitchFamily="34" charset="-122"/>
                <a:cs typeface="MiSans" pitchFamily="34" charset="-120"/>
              </a:rPr>
              <a:t>化弱为强的艺术</a:t>
            </a:r>
            <a:endParaRPr lang="en-US" sz="1600" dirty="0"/>
          </a:p>
        </p:txBody>
      </p:sp>
      <p:sp>
        <p:nvSpPr>
          <p:cNvPr id="18" name="Text 16"/>
          <p:cNvSpPr/>
          <p:nvPr/>
        </p:nvSpPr>
        <p:spPr>
          <a:xfrm>
            <a:off x="687357" y="5939913"/>
            <a:ext cx="7240163" cy="675901"/>
          </a:xfrm>
          <a:prstGeom prst="rect">
            <a:avLst/>
          </a:prstGeom>
          <a:noFill/>
          <a:ln/>
        </p:spPr>
        <p:txBody>
          <a:bodyPr wrap="square" lIns="0" tIns="0" rIns="0" bIns="0" rtlCol="0" anchor="ctr"/>
          <a:lstStyle/>
          <a:p>
            <a:pPr>
              <a:lnSpc>
                <a:spcPct val="140000"/>
              </a:lnSpc>
            </a:pPr>
            <a:r>
              <a:rPr lang="en-US" sz="1624" dirty="0">
                <a:solidFill>
                  <a:srgbClr val="D1D5DB"/>
                </a:solidFill>
                <a:latin typeface="MiSans" pitchFamily="34" charset="0"/>
                <a:ea typeface="MiSans" pitchFamily="34" charset="-122"/>
                <a:cs typeface="MiSans" pitchFamily="34" charset="-120"/>
              </a:rPr>
              <a:t>将多个简单的弱分类器组合成一个强大的强分类器，体现了</a:t>
            </a:r>
            <a:pPr>
              <a:lnSpc>
                <a:spcPct val="140000"/>
              </a:lnSpc>
            </a:pPr>
            <a:r>
              <a:rPr lang="en-US" sz="1624" b="1" dirty="0">
                <a:solidFill>
                  <a:srgbClr val="4C7E9A"/>
                </a:solidFill>
                <a:latin typeface="MiSans" pitchFamily="34" charset="0"/>
                <a:ea typeface="MiSans" pitchFamily="34" charset="-122"/>
                <a:cs typeface="MiSans" pitchFamily="34" charset="-120"/>
              </a:rPr>
              <a:t>"化弱为强"</a:t>
            </a:r>
            <a:pPr>
              <a:lnSpc>
                <a:spcPct val="140000"/>
              </a:lnSpc>
            </a:pPr>
            <a:r>
              <a:rPr lang="en-US" sz="1624" dirty="0">
                <a:solidFill>
                  <a:srgbClr val="D1D5DB"/>
                </a:solidFill>
                <a:latin typeface="MiSans" pitchFamily="34" charset="0"/>
                <a:ea typeface="MiSans" pitchFamily="34" charset="-122"/>
                <a:cs typeface="MiSans" pitchFamily="34" charset="-120"/>
              </a:rPr>
              <a:t>的核心思想。</a:t>
            </a:r>
            <a:endParaRPr lang="en-US" sz="1600" dirty="0"/>
          </a:p>
        </p:txBody>
      </p:sp>
      <p:sp>
        <p:nvSpPr>
          <p:cNvPr id="19" name="Shape 17"/>
          <p:cNvSpPr/>
          <p:nvPr/>
        </p:nvSpPr>
        <p:spPr>
          <a:xfrm>
            <a:off x="687357" y="6747557"/>
            <a:ext cx="7137060" cy="733181"/>
          </a:xfrm>
          <a:custGeom>
            <a:avLst/>
            <a:gdLst/>
            <a:ahLst/>
            <a:cxnLst/>
            <a:rect l="l" t="t" r="r" b="b"/>
            <a:pathLst>
              <a:path w="7137060" h="733181">
                <a:moveTo>
                  <a:pt x="45824" y="0"/>
                </a:moveTo>
                <a:lnTo>
                  <a:pt x="7091236" y="0"/>
                </a:lnTo>
                <a:cubicBezTo>
                  <a:pt x="7116544" y="0"/>
                  <a:pt x="7137060" y="20516"/>
                  <a:pt x="7137060" y="45824"/>
                </a:cubicBezTo>
                <a:lnTo>
                  <a:pt x="7137060" y="687357"/>
                </a:lnTo>
                <a:cubicBezTo>
                  <a:pt x="7137060" y="712665"/>
                  <a:pt x="7116544" y="733181"/>
                  <a:pt x="7091236" y="733181"/>
                </a:cubicBezTo>
                <a:lnTo>
                  <a:pt x="45824" y="733181"/>
                </a:lnTo>
                <a:cubicBezTo>
                  <a:pt x="20533" y="733181"/>
                  <a:pt x="0" y="712648"/>
                  <a:pt x="0" y="687357"/>
                </a:cubicBezTo>
                <a:lnTo>
                  <a:pt x="0" y="45824"/>
                </a:lnTo>
                <a:cubicBezTo>
                  <a:pt x="0" y="20533"/>
                  <a:pt x="20533" y="0"/>
                  <a:pt x="45824" y="0"/>
                </a:cubicBezTo>
                <a:close/>
              </a:path>
            </a:pathLst>
          </a:custGeom>
          <a:solidFill>
            <a:srgbClr val="181A1F">
              <a:alpha val="50196"/>
            </a:srgbClr>
          </a:solidFill>
          <a:ln/>
        </p:spPr>
      </p:sp>
      <p:sp>
        <p:nvSpPr>
          <p:cNvPr id="20" name="Text 18"/>
          <p:cNvSpPr/>
          <p:nvPr/>
        </p:nvSpPr>
        <p:spPr>
          <a:xfrm>
            <a:off x="779005" y="6839205"/>
            <a:ext cx="7045412" cy="274943"/>
          </a:xfrm>
          <a:prstGeom prst="rect">
            <a:avLst/>
          </a:prstGeom>
          <a:noFill/>
          <a:ln/>
        </p:spPr>
        <p:txBody>
          <a:bodyPr wrap="square" lIns="0" tIns="0" rIns="0" bIns="0" rtlCol="0" anchor="ctr"/>
          <a:lstStyle/>
          <a:p>
            <a:pPr>
              <a:lnSpc>
                <a:spcPct val="130000"/>
              </a:lnSpc>
            </a:pPr>
            <a:r>
              <a:rPr lang="en-US" sz="1443" b="1" dirty="0">
                <a:solidFill>
                  <a:srgbClr val="D1D5DB"/>
                </a:solidFill>
                <a:latin typeface="MiSans" pitchFamily="34" charset="0"/>
                <a:ea typeface="MiSans" pitchFamily="34" charset="-122"/>
                <a:cs typeface="MiSans" pitchFamily="34" charset="-120"/>
              </a:rPr>
              <a:t>自适应调整</a:t>
            </a:r>
            <a:endParaRPr lang="en-US" sz="1600" dirty="0"/>
          </a:p>
        </p:txBody>
      </p:sp>
      <p:sp>
        <p:nvSpPr>
          <p:cNvPr id="21" name="Text 19"/>
          <p:cNvSpPr/>
          <p:nvPr/>
        </p:nvSpPr>
        <p:spPr>
          <a:xfrm>
            <a:off x="779005" y="7159972"/>
            <a:ext cx="7033956" cy="229119"/>
          </a:xfrm>
          <a:prstGeom prst="rect">
            <a:avLst/>
          </a:prstGeom>
          <a:noFill/>
          <a:ln/>
        </p:spPr>
        <p:txBody>
          <a:bodyPr wrap="square" lIns="0" tIns="0" rIns="0" bIns="0" rtlCol="0" anchor="ctr"/>
          <a:lstStyle/>
          <a:p>
            <a:pPr>
              <a:lnSpc>
                <a:spcPct val="120000"/>
              </a:lnSpc>
            </a:pPr>
            <a:r>
              <a:rPr lang="en-US" sz="1263" dirty="0">
                <a:solidFill>
                  <a:srgbClr val="7E9AA8"/>
                </a:solidFill>
                <a:latin typeface="MiSans" pitchFamily="34" charset="0"/>
                <a:ea typeface="MiSans" pitchFamily="34" charset="-122"/>
                <a:cs typeface="MiSans" pitchFamily="34" charset="-120"/>
              </a:rPr>
              <a:t>根据预测误差自适应调整样本权重</a:t>
            </a:r>
            <a:endParaRPr lang="en-US" sz="1600" dirty="0"/>
          </a:p>
        </p:txBody>
      </p:sp>
      <p:sp>
        <p:nvSpPr>
          <p:cNvPr id="22" name="Shape 20"/>
          <p:cNvSpPr/>
          <p:nvPr/>
        </p:nvSpPr>
        <p:spPr>
          <a:xfrm>
            <a:off x="687357" y="7572386"/>
            <a:ext cx="7137060" cy="733181"/>
          </a:xfrm>
          <a:custGeom>
            <a:avLst/>
            <a:gdLst/>
            <a:ahLst/>
            <a:cxnLst/>
            <a:rect l="l" t="t" r="r" b="b"/>
            <a:pathLst>
              <a:path w="7137060" h="733181">
                <a:moveTo>
                  <a:pt x="45824" y="0"/>
                </a:moveTo>
                <a:lnTo>
                  <a:pt x="7091236" y="0"/>
                </a:lnTo>
                <a:cubicBezTo>
                  <a:pt x="7116544" y="0"/>
                  <a:pt x="7137060" y="20516"/>
                  <a:pt x="7137060" y="45824"/>
                </a:cubicBezTo>
                <a:lnTo>
                  <a:pt x="7137060" y="687357"/>
                </a:lnTo>
                <a:cubicBezTo>
                  <a:pt x="7137060" y="712665"/>
                  <a:pt x="7116544" y="733181"/>
                  <a:pt x="7091236" y="733181"/>
                </a:cubicBezTo>
                <a:lnTo>
                  <a:pt x="45824" y="733181"/>
                </a:lnTo>
                <a:cubicBezTo>
                  <a:pt x="20533" y="733181"/>
                  <a:pt x="0" y="712648"/>
                  <a:pt x="0" y="687357"/>
                </a:cubicBezTo>
                <a:lnTo>
                  <a:pt x="0" y="45824"/>
                </a:lnTo>
                <a:cubicBezTo>
                  <a:pt x="0" y="20533"/>
                  <a:pt x="20533" y="0"/>
                  <a:pt x="45824" y="0"/>
                </a:cubicBezTo>
                <a:close/>
              </a:path>
            </a:pathLst>
          </a:custGeom>
          <a:solidFill>
            <a:srgbClr val="181A1F">
              <a:alpha val="50196"/>
            </a:srgbClr>
          </a:solidFill>
          <a:ln/>
        </p:spPr>
      </p:sp>
      <p:sp>
        <p:nvSpPr>
          <p:cNvPr id="23" name="Text 21"/>
          <p:cNvSpPr/>
          <p:nvPr/>
        </p:nvSpPr>
        <p:spPr>
          <a:xfrm>
            <a:off x="779005" y="7664034"/>
            <a:ext cx="7045412" cy="274943"/>
          </a:xfrm>
          <a:prstGeom prst="rect">
            <a:avLst/>
          </a:prstGeom>
          <a:noFill/>
          <a:ln/>
        </p:spPr>
        <p:txBody>
          <a:bodyPr wrap="square" lIns="0" tIns="0" rIns="0" bIns="0" rtlCol="0" anchor="ctr"/>
          <a:lstStyle/>
          <a:p>
            <a:pPr>
              <a:lnSpc>
                <a:spcPct val="130000"/>
              </a:lnSpc>
            </a:pPr>
            <a:r>
              <a:rPr lang="en-US" sz="1443" b="1" dirty="0">
                <a:solidFill>
                  <a:srgbClr val="D1D5DB"/>
                </a:solidFill>
                <a:latin typeface="MiSans" pitchFamily="34" charset="0"/>
                <a:ea typeface="MiSans" pitchFamily="34" charset="-122"/>
                <a:cs typeface="MiSans" pitchFamily="34" charset="-120"/>
              </a:rPr>
              <a:t>加权投票</a:t>
            </a:r>
            <a:endParaRPr lang="en-US" sz="1600" dirty="0"/>
          </a:p>
        </p:txBody>
      </p:sp>
      <p:sp>
        <p:nvSpPr>
          <p:cNvPr id="24" name="Text 22"/>
          <p:cNvSpPr/>
          <p:nvPr/>
        </p:nvSpPr>
        <p:spPr>
          <a:xfrm>
            <a:off x="779005" y="7984801"/>
            <a:ext cx="7033956" cy="229119"/>
          </a:xfrm>
          <a:prstGeom prst="rect">
            <a:avLst/>
          </a:prstGeom>
          <a:noFill/>
          <a:ln/>
        </p:spPr>
        <p:txBody>
          <a:bodyPr wrap="square" lIns="0" tIns="0" rIns="0" bIns="0" rtlCol="0" anchor="ctr"/>
          <a:lstStyle/>
          <a:p>
            <a:pPr>
              <a:lnSpc>
                <a:spcPct val="120000"/>
              </a:lnSpc>
            </a:pPr>
            <a:r>
              <a:rPr lang="en-US" sz="1263" dirty="0">
                <a:solidFill>
                  <a:srgbClr val="7E9AA8"/>
                </a:solidFill>
                <a:latin typeface="MiSans" pitchFamily="34" charset="0"/>
                <a:ea typeface="MiSans" pitchFamily="34" charset="-122"/>
                <a:cs typeface="MiSans" pitchFamily="34" charset="-120"/>
              </a:rPr>
              <a:t>根据基学习器表现赋予不同的投票权重</a:t>
            </a:r>
            <a:endParaRPr lang="en-US" sz="1600" dirty="0"/>
          </a:p>
        </p:txBody>
      </p:sp>
      <p:sp>
        <p:nvSpPr>
          <p:cNvPr id="25" name="Shape 23"/>
          <p:cNvSpPr/>
          <p:nvPr/>
        </p:nvSpPr>
        <p:spPr>
          <a:xfrm>
            <a:off x="8246319" y="1655385"/>
            <a:ext cx="7538018" cy="3356595"/>
          </a:xfrm>
          <a:custGeom>
            <a:avLst/>
            <a:gdLst/>
            <a:ahLst/>
            <a:cxnLst/>
            <a:rect l="l" t="t" r="r" b="b"/>
            <a:pathLst>
              <a:path w="7538018" h="3356595">
                <a:moveTo>
                  <a:pt x="91635" y="0"/>
                </a:moveTo>
                <a:lnTo>
                  <a:pt x="7446383" y="0"/>
                </a:lnTo>
                <a:cubicBezTo>
                  <a:pt x="7496992" y="0"/>
                  <a:pt x="7538018" y="41026"/>
                  <a:pt x="7538018" y="91635"/>
                </a:cubicBezTo>
                <a:lnTo>
                  <a:pt x="7538018" y="3264960"/>
                </a:lnTo>
                <a:cubicBezTo>
                  <a:pt x="7538018" y="3315568"/>
                  <a:pt x="7496992" y="3356595"/>
                  <a:pt x="7446383" y="3356595"/>
                </a:cubicBezTo>
                <a:lnTo>
                  <a:pt x="91635" y="3356595"/>
                </a:lnTo>
                <a:cubicBezTo>
                  <a:pt x="41026" y="3356595"/>
                  <a:pt x="0" y="3315568"/>
                  <a:pt x="0" y="3264960"/>
                </a:cubicBezTo>
                <a:lnTo>
                  <a:pt x="0" y="91635"/>
                </a:lnTo>
                <a:cubicBezTo>
                  <a:pt x="0" y="41060"/>
                  <a:pt x="41060" y="0"/>
                  <a:pt x="91635" y="0"/>
                </a:cubicBezTo>
                <a:close/>
              </a:path>
            </a:pathLst>
          </a:custGeom>
          <a:solidFill>
            <a:srgbClr val="3A5E78">
              <a:alpha val="20000"/>
            </a:srgbClr>
          </a:solidFill>
          <a:ln w="12700">
            <a:solidFill>
              <a:srgbClr val="4C7E9A">
                <a:alpha val="50196"/>
              </a:srgbClr>
            </a:solidFill>
            <a:prstDash val="solid"/>
          </a:ln>
        </p:spPr>
      </p:sp>
      <p:sp>
        <p:nvSpPr>
          <p:cNvPr id="26" name="Text 24"/>
          <p:cNvSpPr/>
          <p:nvPr/>
        </p:nvSpPr>
        <p:spPr>
          <a:xfrm>
            <a:off x="8435342" y="1844409"/>
            <a:ext cx="7297443" cy="366591"/>
          </a:xfrm>
          <a:prstGeom prst="rect">
            <a:avLst/>
          </a:prstGeom>
          <a:noFill/>
          <a:ln/>
        </p:spPr>
        <p:txBody>
          <a:bodyPr wrap="square" lIns="0" tIns="0" rIns="0" bIns="0" rtlCol="0" anchor="ctr"/>
          <a:lstStyle/>
          <a:p>
            <a:pPr>
              <a:lnSpc>
                <a:spcPct val="110000"/>
              </a:lnSpc>
            </a:pPr>
            <a:r>
              <a:rPr lang="en-US" sz="2165" b="1" dirty="0">
                <a:solidFill>
                  <a:srgbClr val="4C7E9A"/>
                </a:solidFill>
                <a:latin typeface="MiSans" pitchFamily="34" charset="0"/>
                <a:ea typeface="MiSans" pitchFamily="34" charset="-122"/>
                <a:cs typeface="MiSans" pitchFamily="34" charset="-120"/>
              </a:rPr>
              <a:t>核心优势</a:t>
            </a:r>
            <a:endParaRPr lang="en-US" sz="1600" dirty="0"/>
          </a:p>
        </p:txBody>
      </p:sp>
      <p:sp>
        <p:nvSpPr>
          <p:cNvPr id="27" name="Shape 25"/>
          <p:cNvSpPr/>
          <p:nvPr/>
        </p:nvSpPr>
        <p:spPr>
          <a:xfrm>
            <a:off x="8463982" y="2394295"/>
            <a:ext cx="229119" cy="229119"/>
          </a:xfrm>
          <a:custGeom>
            <a:avLst/>
            <a:gdLst/>
            <a:ahLst/>
            <a:cxnLst/>
            <a:rect l="l" t="t" r="r" b="b"/>
            <a:pathLst>
              <a:path w="229119" h="229119">
                <a:moveTo>
                  <a:pt x="214844" y="85920"/>
                </a:moveTo>
                <a:lnTo>
                  <a:pt x="218379" y="85920"/>
                </a:lnTo>
                <a:cubicBezTo>
                  <a:pt x="224331" y="85920"/>
                  <a:pt x="229119" y="81131"/>
                  <a:pt x="229119" y="75180"/>
                </a:cubicBezTo>
                <a:lnTo>
                  <a:pt x="229119" y="10740"/>
                </a:lnTo>
                <a:cubicBezTo>
                  <a:pt x="229119" y="6399"/>
                  <a:pt x="226524" y="2461"/>
                  <a:pt x="222496" y="805"/>
                </a:cubicBezTo>
                <a:cubicBezTo>
                  <a:pt x="218469" y="-850"/>
                  <a:pt x="213859" y="89"/>
                  <a:pt x="210772" y="3132"/>
                </a:cubicBezTo>
                <a:lnTo>
                  <a:pt x="187636" y="26313"/>
                </a:lnTo>
                <a:cubicBezTo>
                  <a:pt x="167812" y="9890"/>
                  <a:pt x="142304" y="0"/>
                  <a:pt x="114560" y="0"/>
                </a:cubicBezTo>
                <a:cubicBezTo>
                  <a:pt x="56832" y="0"/>
                  <a:pt x="9084" y="42691"/>
                  <a:pt x="1163" y="98226"/>
                </a:cubicBezTo>
                <a:cubicBezTo>
                  <a:pt x="45" y="106057"/>
                  <a:pt x="5459" y="113307"/>
                  <a:pt x="13291" y="114425"/>
                </a:cubicBezTo>
                <a:cubicBezTo>
                  <a:pt x="21122" y="115544"/>
                  <a:pt x="28371" y="110085"/>
                  <a:pt x="29490" y="102298"/>
                </a:cubicBezTo>
                <a:cubicBezTo>
                  <a:pt x="35442" y="60636"/>
                  <a:pt x="71286" y="28640"/>
                  <a:pt x="114560" y="28640"/>
                </a:cubicBezTo>
                <a:cubicBezTo>
                  <a:pt x="134428" y="28640"/>
                  <a:pt x="152686" y="35352"/>
                  <a:pt x="167230" y="46674"/>
                </a:cubicBezTo>
                <a:lnTo>
                  <a:pt x="146332" y="67572"/>
                </a:lnTo>
                <a:cubicBezTo>
                  <a:pt x="143244" y="70660"/>
                  <a:pt x="142349" y="75269"/>
                  <a:pt x="144005" y="79297"/>
                </a:cubicBezTo>
                <a:cubicBezTo>
                  <a:pt x="145661" y="83324"/>
                  <a:pt x="149599" y="85920"/>
                  <a:pt x="153939" y="85920"/>
                </a:cubicBezTo>
                <a:lnTo>
                  <a:pt x="214844" y="85920"/>
                </a:lnTo>
                <a:close/>
                <a:moveTo>
                  <a:pt x="228000" y="130893"/>
                </a:moveTo>
                <a:cubicBezTo>
                  <a:pt x="229119" y="123062"/>
                  <a:pt x="223660" y="115813"/>
                  <a:pt x="215873" y="114694"/>
                </a:cubicBezTo>
                <a:cubicBezTo>
                  <a:pt x="208087" y="113575"/>
                  <a:pt x="200792" y="119035"/>
                  <a:pt x="199674" y="126821"/>
                </a:cubicBezTo>
                <a:cubicBezTo>
                  <a:pt x="193722" y="168438"/>
                  <a:pt x="157877" y="200434"/>
                  <a:pt x="114604" y="200434"/>
                </a:cubicBezTo>
                <a:cubicBezTo>
                  <a:pt x="94735" y="200434"/>
                  <a:pt x="76477" y="193722"/>
                  <a:pt x="61934" y="182400"/>
                </a:cubicBezTo>
                <a:lnTo>
                  <a:pt x="82787" y="161547"/>
                </a:lnTo>
                <a:cubicBezTo>
                  <a:pt x="85875" y="158459"/>
                  <a:pt x="86770" y="153850"/>
                  <a:pt x="85114" y="149822"/>
                </a:cubicBezTo>
                <a:cubicBezTo>
                  <a:pt x="83458" y="145795"/>
                  <a:pt x="79520" y="143199"/>
                  <a:pt x="75180" y="143199"/>
                </a:cubicBezTo>
                <a:lnTo>
                  <a:pt x="10740" y="143199"/>
                </a:lnTo>
                <a:cubicBezTo>
                  <a:pt x="4788" y="143199"/>
                  <a:pt x="0" y="147988"/>
                  <a:pt x="0" y="153939"/>
                </a:cubicBezTo>
                <a:lnTo>
                  <a:pt x="0" y="218379"/>
                </a:lnTo>
                <a:cubicBezTo>
                  <a:pt x="0" y="222720"/>
                  <a:pt x="2595" y="226658"/>
                  <a:pt x="6623" y="228314"/>
                </a:cubicBezTo>
                <a:cubicBezTo>
                  <a:pt x="10650" y="229969"/>
                  <a:pt x="15260" y="229030"/>
                  <a:pt x="18347" y="225987"/>
                </a:cubicBezTo>
                <a:lnTo>
                  <a:pt x="41528" y="202806"/>
                </a:lnTo>
                <a:cubicBezTo>
                  <a:pt x="61307" y="219229"/>
                  <a:pt x="86815" y="229119"/>
                  <a:pt x="114560" y="229119"/>
                </a:cubicBezTo>
                <a:cubicBezTo>
                  <a:pt x="172287" y="229119"/>
                  <a:pt x="220035" y="186428"/>
                  <a:pt x="227956" y="130893"/>
                </a:cubicBezTo>
                <a:close/>
              </a:path>
            </a:pathLst>
          </a:custGeom>
          <a:solidFill>
            <a:srgbClr val="4C7E9A"/>
          </a:solidFill>
          <a:ln/>
        </p:spPr>
      </p:sp>
      <p:sp>
        <p:nvSpPr>
          <p:cNvPr id="28" name="Text 26"/>
          <p:cNvSpPr/>
          <p:nvPr/>
        </p:nvSpPr>
        <p:spPr>
          <a:xfrm>
            <a:off x="8859212" y="2348471"/>
            <a:ext cx="2990004" cy="320767"/>
          </a:xfrm>
          <a:prstGeom prst="rect">
            <a:avLst/>
          </a:prstGeom>
          <a:noFill/>
          <a:ln/>
        </p:spPr>
        <p:txBody>
          <a:bodyPr wrap="square" lIns="0" tIns="0" rIns="0" bIns="0" rtlCol="0" anchor="ctr"/>
          <a:lstStyle/>
          <a:p>
            <a:pPr>
              <a:lnSpc>
                <a:spcPct val="130000"/>
              </a:lnSpc>
            </a:pPr>
            <a:r>
              <a:rPr lang="en-US" sz="1624" b="1" dirty="0">
                <a:solidFill>
                  <a:srgbClr val="D1D5DB"/>
                </a:solidFill>
                <a:latin typeface="MiSans" pitchFamily="34" charset="0"/>
                <a:ea typeface="MiSans" pitchFamily="34" charset="-122"/>
                <a:cs typeface="MiSans" pitchFamily="34" charset="-120"/>
              </a:rPr>
              <a:t>自适应性</a:t>
            </a:r>
            <a:endParaRPr lang="en-US" sz="1600" dirty="0"/>
          </a:p>
        </p:txBody>
      </p:sp>
      <p:sp>
        <p:nvSpPr>
          <p:cNvPr id="29" name="Text 27"/>
          <p:cNvSpPr/>
          <p:nvPr/>
        </p:nvSpPr>
        <p:spPr>
          <a:xfrm>
            <a:off x="8859212" y="2669237"/>
            <a:ext cx="2967092" cy="229119"/>
          </a:xfrm>
          <a:prstGeom prst="rect">
            <a:avLst/>
          </a:prstGeom>
          <a:noFill/>
          <a:ln/>
        </p:spPr>
        <p:txBody>
          <a:bodyPr wrap="square" lIns="0" tIns="0" rIns="0" bIns="0" rtlCol="0" anchor="ctr"/>
          <a:lstStyle/>
          <a:p>
            <a:pPr>
              <a:lnSpc>
                <a:spcPct val="120000"/>
              </a:lnSpc>
            </a:pPr>
            <a:r>
              <a:rPr lang="en-US" sz="1263" dirty="0">
                <a:solidFill>
                  <a:srgbClr val="7E9AA8"/>
                </a:solidFill>
                <a:latin typeface="MiSans" pitchFamily="34" charset="0"/>
                <a:ea typeface="MiSans" pitchFamily="34" charset="-122"/>
                <a:cs typeface="MiSans" pitchFamily="34" charset="-120"/>
              </a:rPr>
              <a:t>前序分类器分错的样本会被后续重点关注</a:t>
            </a:r>
            <a:endParaRPr lang="en-US" sz="1600" dirty="0"/>
          </a:p>
        </p:txBody>
      </p:sp>
      <p:sp>
        <p:nvSpPr>
          <p:cNvPr id="30" name="Shape 28"/>
          <p:cNvSpPr/>
          <p:nvPr/>
        </p:nvSpPr>
        <p:spPr>
          <a:xfrm>
            <a:off x="8435342" y="3035828"/>
            <a:ext cx="286399" cy="229119"/>
          </a:xfrm>
          <a:custGeom>
            <a:avLst/>
            <a:gdLst/>
            <a:ahLst/>
            <a:cxnLst/>
            <a:rect l="l" t="t" r="r" b="b"/>
            <a:pathLst>
              <a:path w="286399" h="229119">
                <a:moveTo>
                  <a:pt x="186115" y="94198"/>
                </a:moveTo>
                <a:cubicBezTo>
                  <a:pt x="191574" y="92722"/>
                  <a:pt x="197302" y="95317"/>
                  <a:pt x="199763" y="100374"/>
                </a:cubicBezTo>
                <a:lnTo>
                  <a:pt x="208087" y="117200"/>
                </a:lnTo>
                <a:cubicBezTo>
                  <a:pt x="212696" y="117826"/>
                  <a:pt x="217216" y="119079"/>
                  <a:pt x="221467" y="120825"/>
                </a:cubicBezTo>
                <a:lnTo>
                  <a:pt x="237129" y="110398"/>
                </a:lnTo>
                <a:cubicBezTo>
                  <a:pt x="241828" y="107265"/>
                  <a:pt x="248048" y="107892"/>
                  <a:pt x="252031" y="111875"/>
                </a:cubicBezTo>
                <a:lnTo>
                  <a:pt x="260623" y="120467"/>
                </a:lnTo>
                <a:cubicBezTo>
                  <a:pt x="264606" y="124449"/>
                  <a:pt x="265232" y="130714"/>
                  <a:pt x="262100" y="135368"/>
                </a:cubicBezTo>
                <a:lnTo>
                  <a:pt x="251673" y="150986"/>
                </a:lnTo>
                <a:cubicBezTo>
                  <a:pt x="252523" y="153089"/>
                  <a:pt x="253284" y="155282"/>
                  <a:pt x="253911" y="157564"/>
                </a:cubicBezTo>
                <a:cubicBezTo>
                  <a:pt x="254537" y="159846"/>
                  <a:pt x="254940" y="162084"/>
                  <a:pt x="255253" y="164366"/>
                </a:cubicBezTo>
                <a:lnTo>
                  <a:pt x="272124" y="172690"/>
                </a:lnTo>
                <a:cubicBezTo>
                  <a:pt x="277180" y="175196"/>
                  <a:pt x="279776" y="180924"/>
                  <a:pt x="278299" y="186338"/>
                </a:cubicBezTo>
                <a:lnTo>
                  <a:pt x="275167" y="198063"/>
                </a:lnTo>
                <a:cubicBezTo>
                  <a:pt x="273690" y="203477"/>
                  <a:pt x="268633" y="207147"/>
                  <a:pt x="262995" y="206789"/>
                </a:cubicBezTo>
                <a:lnTo>
                  <a:pt x="244200" y="205581"/>
                </a:lnTo>
                <a:cubicBezTo>
                  <a:pt x="241381" y="209205"/>
                  <a:pt x="238114" y="212562"/>
                  <a:pt x="234400" y="215426"/>
                </a:cubicBezTo>
                <a:lnTo>
                  <a:pt x="235608" y="234176"/>
                </a:lnTo>
                <a:cubicBezTo>
                  <a:pt x="235966" y="239814"/>
                  <a:pt x="232296" y="244916"/>
                  <a:pt x="226882" y="246348"/>
                </a:cubicBezTo>
                <a:lnTo>
                  <a:pt x="215157" y="249480"/>
                </a:lnTo>
                <a:cubicBezTo>
                  <a:pt x="209698" y="250957"/>
                  <a:pt x="204014" y="248362"/>
                  <a:pt x="201508" y="243305"/>
                </a:cubicBezTo>
                <a:lnTo>
                  <a:pt x="193185" y="226479"/>
                </a:lnTo>
                <a:cubicBezTo>
                  <a:pt x="188576" y="225852"/>
                  <a:pt x="184056" y="224599"/>
                  <a:pt x="179805" y="222854"/>
                </a:cubicBezTo>
                <a:lnTo>
                  <a:pt x="164142" y="233281"/>
                </a:lnTo>
                <a:cubicBezTo>
                  <a:pt x="159444" y="236413"/>
                  <a:pt x="153223" y="235787"/>
                  <a:pt x="149241" y="231804"/>
                </a:cubicBezTo>
                <a:lnTo>
                  <a:pt x="140649" y="223212"/>
                </a:lnTo>
                <a:cubicBezTo>
                  <a:pt x="136666" y="219229"/>
                  <a:pt x="136039" y="213009"/>
                  <a:pt x="139172" y="208310"/>
                </a:cubicBezTo>
                <a:lnTo>
                  <a:pt x="149599" y="192648"/>
                </a:lnTo>
                <a:cubicBezTo>
                  <a:pt x="148748" y="190545"/>
                  <a:pt x="147988" y="188352"/>
                  <a:pt x="147361" y="186070"/>
                </a:cubicBezTo>
                <a:cubicBezTo>
                  <a:pt x="146735" y="183788"/>
                  <a:pt x="146332" y="181505"/>
                  <a:pt x="146019" y="179268"/>
                </a:cubicBezTo>
                <a:lnTo>
                  <a:pt x="129148" y="170944"/>
                </a:lnTo>
                <a:cubicBezTo>
                  <a:pt x="124091" y="168438"/>
                  <a:pt x="121541" y="162710"/>
                  <a:pt x="122973" y="157296"/>
                </a:cubicBezTo>
                <a:lnTo>
                  <a:pt x="126105" y="145571"/>
                </a:lnTo>
                <a:cubicBezTo>
                  <a:pt x="127582" y="140156"/>
                  <a:pt x="132638" y="136487"/>
                  <a:pt x="138277" y="136845"/>
                </a:cubicBezTo>
                <a:lnTo>
                  <a:pt x="157027" y="138053"/>
                </a:lnTo>
                <a:cubicBezTo>
                  <a:pt x="159846" y="134428"/>
                  <a:pt x="163113" y="131072"/>
                  <a:pt x="166827" y="128208"/>
                </a:cubicBezTo>
                <a:lnTo>
                  <a:pt x="165619" y="109503"/>
                </a:lnTo>
                <a:cubicBezTo>
                  <a:pt x="165261" y="103864"/>
                  <a:pt x="168931" y="98763"/>
                  <a:pt x="174345" y="97331"/>
                </a:cubicBezTo>
                <a:lnTo>
                  <a:pt x="186070" y="94198"/>
                </a:lnTo>
                <a:close/>
                <a:moveTo>
                  <a:pt x="200658" y="152149"/>
                </a:moveTo>
                <a:cubicBezTo>
                  <a:pt x="189791" y="152162"/>
                  <a:pt x="180978" y="160995"/>
                  <a:pt x="180991" y="171862"/>
                </a:cubicBezTo>
                <a:cubicBezTo>
                  <a:pt x="181003" y="182729"/>
                  <a:pt x="189836" y="191542"/>
                  <a:pt x="200703" y="191529"/>
                </a:cubicBezTo>
                <a:cubicBezTo>
                  <a:pt x="211570" y="191517"/>
                  <a:pt x="220383" y="182684"/>
                  <a:pt x="220371" y="171817"/>
                </a:cubicBezTo>
                <a:cubicBezTo>
                  <a:pt x="220358" y="160950"/>
                  <a:pt x="211525" y="152137"/>
                  <a:pt x="200658" y="152149"/>
                </a:cubicBezTo>
                <a:close/>
                <a:moveTo>
                  <a:pt x="100642" y="-20361"/>
                </a:moveTo>
                <a:lnTo>
                  <a:pt x="112367" y="-17229"/>
                </a:lnTo>
                <a:cubicBezTo>
                  <a:pt x="117782" y="-15752"/>
                  <a:pt x="121451" y="-10650"/>
                  <a:pt x="121093" y="-5057"/>
                </a:cubicBezTo>
                <a:lnTo>
                  <a:pt x="119885" y="13649"/>
                </a:lnTo>
                <a:cubicBezTo>
                  <a:pt x="123599" y="16513"/>
                  <a:pt x="126866" y="19824"/>
                  <a:pt x="129685" y="23494"/>
                </a:cubicBezTo>
                <a:lnTo>
                  <a:pt x="148480" y="22285"/>
                </a:lnTo>
                <a:cubicBezTo>
                  <a:pt x="154074" y="21927"/>
                  <a:pt x="159175" y="25597"/>
                  <a:pt x="160652" y="31012"/>
                </a:cubicBezTo>
                <a:lnTo>
                  <a:pt x="163784" y="42736"/>
                </a:lnTo>
                <a:cubicBezTo>
                  <a:pt x="165216" y="48151"/>
                  <a:pt x="162666" y="53879"/>
                  <a:pt x="157609" y="56385"/>
                </a:cubicBezTo>
                <a:lnTo>
                  <a:pt x="140738" y="64708"/>
                </a:lnTo>
                <a:cubicBezTo>
                  <a:pt x="140425" y="66990"/>
                  <a:pt x="139977" y="69273"/>
                  <a:pt x="139396" y="71510"/>
                </a:cubicBezTo>
                <a:cubicBezTo>
                  <a:pt x="138814" y="73748"/>
                  <a:pt x="138008" y="75985"/>
                  <a:pt x="137158" y="78088"/>
                </a:cubicBezTo>
                <a:lnTo>
                  <a:pt x="147585" y="93751"/>
                </a:lnTo>
                <a:cubicBezTo>
                  <a:pt x="150717" y="98450"/>
                  <a:pt x="150091" y="104670"/>
                  <a:pt x="146108" y="108653"/>
                </a:cubicBezTo>
                <a:lnTo>
                  <a:pt x="137516" y="117245"/>
                </a:lnTo>
                <a:cubicBezTo>
                  <a:pt x="133533" y="121227"/>
                  <a:pt x="127313" y="121854"/>
                  <a:pt x="122615" y="118721"/>
                </a:cubicBezTo>
                <a:lnTo>
                  <a:pt x="106952" y="108295"/>
                </a:lnTo>
                <a:cubicBezTo>
                  <a:pt x="102701" y="110040"/>
                  <a:pt x="98181" y="111293"/>
                  <a:pt x="93572" y="111919"/>
                </a:cubicBezTo>
                <a:lnTo>
                  <a:pt x="85248" y="128745"/>
                </a:lnTo>
                <a:cubicBezTo>
                  <a:pt x="82742" y="133802"/>
                  <a:pt x="77014" y="136353"/>
                  <a:pt x="71600" y="134921"/>
                </a:cubicBezTo>
                <a:lnTo>
                  <a:pt x="59875" y="131788"/>
                </a:lnTo>
                <a:cubicBezTo>
                  <a:pt x="54416" y="130311"/>
                  <a:pt x="50791" y="125210"/>
                  <a:pt x="51149" y="119616"/>
                </a:cubicBezTo>
                <a:lnTo>
                  <a:pt x="52357" y="100866"/>
                </a:lnTo>
                <a:cubicBezTo>
                  <a:pt x="48643" y="98002"/>
                  <a:pt x="45376" y="94691"/>
                  <a:pt x="42557" y="91021"/>
                </a:cubicBezTo>
                <a:lnTo>
                  <a:pt x="23762" y="92229"/>
                </a:lnTo>
                <a:cubicBezTo>
                  <a:pt x="18168" y="92587"/>
                  <a:pt x="13067" y="88918"/>
                  <a:pt x="11590" y="83503"/>
                </a:cubicBezTo>
                <a:lnTo>
                  <a:pt x="8458" y="71779"/>
                </a:lnTo>
                <a:cubicBezTo>
                  <a:pt x="7026" y="66364"/>
                  <a:pt x="9576" y="60636"/>
                  <a:pt x="14633" y="58130"/>
                </a:cubicBezTo>
                <a:lnTo>
                  <a:pt x="31504" y="49807"/>
                </a:lnTo>
                <a:cubicBezTo>
                  <a:pt x="31817" y="47524"/>
                  <a:pt x="32265" y="45287"/>
                  <a:pt x="32846" y="43005"/>
                </a:cubicBezTo>
                <a:cubicBezTo>
                  <a:pt x="33473" y="40722"/>
                  <a:pt x="34189" y="38530"/>
                  <a:pt x="35084" y="36426"/>
                </a:cubicBezTo>
                <a:lnTo>
                  <a:pt x="24657" y="20809"/>
                </a:lnTo>
                <a:cubicBezTo>
                  <a:pt x="21525" y="16110"/>
                  <a:pt x="22151" y="9890"/>
                  <a:pt x="26134" y="5907"/>
                </a:cubicBezTo>
                <a:lnTo>
                  <a:pt x="34726" y="-2685"/>
                </a:lnTo>
                <a:cubicBezTo>
                  <a:pt x="38709" y="-6668"/>
                  <a:pt x="44929" y="-7294"/>
                  <a:pt x="49628" y="-4162"/>
                </a:cubicBezTo>
                <a:lnTo>
                  <a:pt x="65290" y="6265"/>
                </a:lnTo>
                <a:cubicBezTo>
                  <a:pt x="69541" y="4520"/>
                  <a:pt x="74061" y="3267"/>
                  <a:pt x="78670" y="2640"/>
                </a:cubicBezTo>
                <a:lnTo>
                  <a:pt x="86994" y="-14186"/>
                </a:lnTo>
                <a:cubicBezTo>
                  <a:pt x="89500" y="-19242"/>
                  <a:pt x="95183" y="-21793"/>
                  <a:pt x="100642" y="-20361"/>
                </a:cubicBezTo>
                <a:close/>
                <a:moveTo>
                  <a:pt x="86099" y="37590"/>
                </a:moveTo>
                <a:cubicBezTo>
                  <a:pt x="75231" y="37590"/>
                  <a:pt x="66409" y="46413"/>
                  <a:pt x="66409" y="57280"/>
                </a:cubicBezTo>
                <a:cubicBezTo>
                  <a:pt x="66409" y="68147"/>
                  <a:pt x="75231" y="76970"/>
                  <a:pt x="86099" y="76970"/>
                </a:cubicBezTo>
                <a:cubicBezTo>
                  <a:pt x="96966" y="76970"/>
                  <a:pt x="105789" y="68147"/>
                  <a:pt x="105789" y="57280"/>
                </a:cubicBezTo>
                <a:cubicBezTo>
                  <a:pt x="105789" y="46413"/>
                  <a:pt x="96966" y="37590"/>
                  <a:pt x="86099" y="37590"/>
                </a:cubicBezTo>
                <a:close/>
              </a:path>
            </a:pathLst>
          </a:custGeom>
          <a:solidFill>
            <a:srgbClr val="4C7E9A"/>
          </a:solidFill>
          <a:ln/>
        </p:spPr>
      </p:sp>
      <p:sp>
        <p:nvSpPr>
          <p:cNvPr id="31" name="Text 29"/>
          <p:cNvSpPr/>
          <p:nvPr/>
        </p:nvSpPr>
        <p:spPr>
          <a:xfrm>
            <a:off x="8859212" y="2990004"/>
            <a:ext cx="3952304" cy="320767"/>
          </a:xfrm>
          <a:prstGeom prst="rect">
            <a:avLst/>
          </a:prstGeom>
          <a:noFill/>
          <a:ln/>
        </p:spPr>
        <p:txBody>
          <a:bodyPr wrap="square" lIns="0" tIns="0" rIns="0" bIns="0" rtlCol="0" anchor="ctr"/>
          <a:lstStyle/>
          <a:p>
            <a:pPr>
              <a:lnSpc>
                <a:spcPct val="130000"/>
              </a:lnSpc>
            </a:pPr>
            <a:r>
              <a:rPr lang="en-US" sz="1624" b="1" dirty="0">
                <a:solidFill>
                  <a:srgbClr val="D1D5DB"/>
                </a:solidFill>
                <a:latin typeface="MiSans" pitchFamily="34" charset="0"/>
                <a:ea typeface="MiSans" pitchFamily="34" charset="-122"/>
                <a:cs typeface="MiSans" pitchFamily="34" charset="-120"/>
              </a:rPr>
              <a:t>灵活性</a:t>
            </a:r>
            <a:endParaRPr lang="en-US" sz="1600" dirty="0"/>
          </a:p>
        </p:txBody>
      </p:sp>
      <p:sp>
        <p:nvSpPr>
          <p:cNvPr id="32" name="Text 30"/>
          <p:cNvSpPr/>
          <p:nvPr/>
        </p:nvSpPr>
        <p:spPr>
          <a:xfrm>
            <a:off x="8859212" y="3310771"/>
            <a:ext cx="3929393" cy="229119"/>
          </a:xfrm>
          <a:prstGeom prst="rect">
            <a:avLst/>
          </a:prstGeom>
          <a:noFill/>
          <a:ln/>
        </p:spPr>
        <p:txBody>
          <a:bodyPr wrap="square" lIns="0" tIns="0" rIns="0" bIns="0" rtlCol="0" anchor="ctr"/>
          <a:lstStyle/>
          <a:p>
            <a:pPr>
              <a:lnSpc>
                <a:spcPct val="120000"/>
              </a:lnSpc>
            </a:pPr>
            <a:r>
              <a:rPr lang="en-US" sz="1263" dirty="0">
                <a:solidFill>
                  <a:srgbClr val="7E9AA8"/>
                </a:solidFill>
                <a:latin typeface="MiSans" pitchFamily="34" charset="0"/>
                <a:ea typeface="MiSans" pitchFamily="34" charset="-122"/>
                <a:cs typeface="MiSans" pitchFamily="34" charset="-120"/>
              </a:rPr>
              <a:t>不局限于特定基学习器，支持样本权重的分类算法均可</a:t>
            </a:r>
            <a:endParaRPr lang="en-US" sz="1600" dirty="0"/>
          </a:p>
        </p:txBody>
      </p:sp>
      <p:sp>
        <p:nvSpPr>
          <p:cNvPr id="33" name="Shape 31"/>
          <p:cNvSpPr/>
          <p:nvPr/>
        </p:nvSpPr>
        <p:spPr>
          <a:xfrm>
            <a:off x="8478302" y="3677362"/>
            <a:ext cx="200479" cy="229119"/>
          </a:xfrm>
          <a:custGeom>
            <a:avLst/>
            <a:gdLst/>
            <a:ahLst/>
            <a:cxnLst/>
            <a:rect l="l" t="t" r="r" b="b"/>
            <a:pathLst>
              <a:path w="200479" h="229119">
                <a:moveTo>
                  <a:pt x="151612" y="-4430"/>
                </a:moveTo>
                <a:cubicBezTo>
                  <a:pt x="156938" y="-582"/>
                  <a:pt x="158907" y="6399"/>
                  <a:pt x="156490" y="12485"/>
                </a:cubicBezTo>
                <a:lnTo>
                  <a:pt x="121406" y="100240"/>
                </a:lnTo>
                <a:lnTo>
                  <a:pt x="186159" y="100240"/>
                </a:lnTo>
                <a:cubicBezTo>
                  <a:pt x="192200" y="100240"/>
                  <a:pt x="197570" y="103999"/>
                  <a:pt x="199629" y="109682"/>
                </a:cubicBezTo>
                <a:cubicBezTo>
                  <a:pt x="201687" y="115365"/>
                  <a:pt x="199942" y="121720"/>
                  <a:pt x="195333" y="125568"/>
                </a:cubicBezTo>
                <a:lnTo>
                  <a:pt x="66453" y="232968"/>
                </a:lnTo>
                <a:cubicBezTo>
                  <a:pt x="61397" y="237174"/>
                  <a:pt x="54192" y="237398"/>
                  <a:pt x="48867" y="233549"/>
                </a:cubicBezTo>
                <a:cubicBezTo>
                  <a:pt x="43542" y="229701"/>
                  <a:pt x="41573" y="222720"/>
                  <a:pt x="43989" y="216634"/>
                </a:cubicBezTo>
                <a:lnTo>
                  <a:pt x="79073" y="128879"/>
                </a:lnTo>
                <a:lnTo>
                  <a:pt x="14320" y="128879"/>
                </a:lnTo>
                <a:cubicBezTo>
                  <a:pt x="8279" y="128879"/>
                  <a:pt x="2909" y="125121"/>
                  <a:pt x="850" y="119437"/>
                </a:cubicBezTo>
                <a:cubicBezTo>
                  <a:pt x="-1208" y="113754"/>
                  <a:pt x="537" y="107400"/>
                  <a:pt x="5146" y="103551"/>
                </a:cubicBezTo>
                <a:lnTo>
                  <a:pt x="134026" y="-3848"/>
                </a:lnTo>
                <a:cubicBezTo>
                  <a:pt x="139082" y="-8055"/>
                  <a:pt x="146287" y="-8279"/>
                  <a:pt x="151612" y="-4430"/>
                </a:cubicBezTo>
                <a:close/>
              </a:path>
            </a:pathLst>
          </a:custGeom>
          <a:solidFill>
            <a:srgbClr val="4C7E9A"/>
          </a:solidFill>
          <a:ln/>
        </p:spPr>
      </p:sp>
      <p:sp>
        <p:nvSpPr>
          <p:cNvPr id="34" name="Text 32"/>
          <p:cNvSpPr/>
          <p:nvPr/>
        </p:nvSpPr>
        <p:spPr>
          <a:xfrm>
            <a:off x="8859212" y="3631538"/>
            <a:ext cx="1867321" cy="320767"/>
          </a:xfrm>
          <a:prstGeom prst="rect">
            <a:avLst/>
          </a:prstGeom>
          <a:noFill/>
          <a:ln/>
        </p:spPr>
        <p:txBody>
          <a:bodyPr wrap="square" lIns="0" tIns="0" rIns="0" bIns="0" rtlCol="0" anchor="ctr"/>
          <a:lstStyle/>
          <a:p>
            <a:pPr>
              <a:lnSpc>
                <a:spcPct val="130000"/>
              </a:lnSpc>
            </a:pPr>
            <a:r>
              <a:rPr lang="en-US" sz="1624" b="1" dirty="0">
                <a:solidFill>
                  <a:srgbClr val="D1D5DB"/>
                </a:solidFill>
                <a:latin typeface="MiSans" pitchFamily="34" charset="0"/>
                <a:ea typeface="MiSans" pitchFamily="34" charset="-122"/>
                <a:cs typeface="MiSans" pitchFamily="34" charset="-120"/>
              </a:rPr>
              <a:t>快速收敛</a:t>
            </a:r>
            <a:endParaRPr lang="en-US" sz="1600" dirty="0"/>
          </a:p>
        </p:txBody>
      </p:sp>
      <p:sp>
        <p:nvSpPr>
          <p:cNvPr id="35" name="Text 33"/>
          <p:cNvSpPr/>
          <p:nvPr/>
        </p:nvSpPr>
        <p:spPr>
          <a:xfrm>
            <a:off x="8859212" y="3952304"/>
            <a:ext cx="1844409" cy="229119"/>
          </a:xfrm>
          <a:prstGeom prst="rect">
            <a:avLst/>
          </a:prstGeom>
          <a:noFill/>
          <a:ln/>
        </p:spPr>
        <p:txBody>
          <a:bodyPr wrap="square" lIns="0" tIns="0" rIns="0" bIns="0" rtlCol="0" anchor="ctr"/>
          <a:lstStyle/>
          <a:p>
            <a:pPr>
              <a:lnSpc>
                <a:spcPct val="120000"/>
              </a:lnSpc>
            </a:pPr>
            <a:r>
              <a:rPr lang="en-US" sz="1263" dirty="0">
                <a:solidFill>
                  <a:srgbClr val="7E9AA8"/>
                </a:solidFill>
                <a:latin typeface="MiSans" pitchFamily="34" charset="0"/>
                <a:ea typeface="MiSans" pitchFamily="34" charset="-122"/>
                <a:cs typeface="MiSans" pitchFamily="34" charset="-120"/>
              </a:rPr>
              <a:t>以指数速率减小训练误差</a:t>
            </a:r>
            <a:endParaRPr lang="en-US" sz="1600" dirty="0"/>
          </a:p>
        </p:txBody>
      </p:sp>
      <p:sp>
        <p:nvSpPr>
          <p:cNvPr id="36" name="Shape 34"/>
          <p:cNvSpPr/>
          <p:nvPr/>
        </p:nvSpPr>
        <p:spPr>
          <a:xfrm>
            <a:off x="8463982" y="4318895"/>
            <a:ext cx="229119" cy="229119"/>
          </a:xfrm>
          <a:custGeom>
            <a:avLst/>
            <a:gdLst/>
            <a:ahLst/>
            <a:cxnLst/>
            <a:rect l="l" t="t" r="r" b="b"/>
            <a:pathLst>
              <a:path w="229119" h="229119">
                <a:moveTo>
                  <a:pt x="114560" y="0"/>
                </a:moveTo>
                <a:cubicBezTo>
                  <a:pt x="116618" y="0"/>
                  <a:pt x="118677" y="447"/>
                  <a:pt x="120556" y="1298"/>
                </a:cubicBezTo>
                <a:lnTo>
                  <a:pt x="204865" y="37053"/>
                </a:lnTo>
                <a:cubicBezTo>
                  <a:pt x="214710" y="41215"/>
                  <a:pt x="222049" y="50925"/>
                  <a:pt x="222004" y="62650"/>
                </a:cubicBezTo>
                <a:cubicBezTo>
                  <a:pt x="221780" y="107042"/>
                  <a:pt x="203522" y="188263"/>
                  <a:pt x="126418" y="225181"/>
                </a:cubicBezTo>
                <a:cubicBezTo>
                  <a:pt x="118945" y="228761"/>
                  <a:pt x="110264" y="228761"/>
                  <a:pt x="102790" y="225181"/>
                </a:cubicBezTo>
                <a:cubicBezTo>
                  <a:pt x="25642" y="188263"/>
                  <a:pt x="7428" y="107042"/>
                  <a:pt x="7205" y="62650"/>
                </a:cubicBezTo>
                <a:cubicBezTo>
                  <a:pt x="7160" y="50925"/>
                  <a:pt x="14499" y="41215"/>
                  <a:pt x="24344" y="37053"/>
                </a:cubicBezTo>
                <a:lnTo>
                  <a:pt x="108608" y="1298"/>
                </a:lnTo>
                <a:cubicBezTo>
                  <a:pt x="110487" y="447"/>
                  <a:pt x="112501" y="0"/>
                  <a:pt x="114560" y="0"/>
                </a:cubicBezTo>
                <a:close/>
                <a:moveTo>
                  <a:pt x="114560" y="29893"/>
                </a:moveTo>
                <a:lnTo>
                  <a:pt x="114560" y="199092"/>
                </a:lnTo>
                <a:cubicBezTo>
                  <a:pt x="176314" y="169199"/>
                  <a:pt x="192916" y="102969"/>
                  <a:pt x="193319" y="63321"/>
                </a:cubicBezTo>
                <a:lnTo>
                  <a:pt x="114560" y="29938"/>
                </a:lnTo>
                <a:lnTo>
                  <a:pt x="114560" y="29938"/>
                </a:lnTo>
                <a:close/>
              </a:path>
            </a:pathLst>
          </a:custGeom>
          <a:solidFill>
            <a:srgbClr val="4C7E9A"/>
          </a:solidFill>
          <a:ln/>
        </p:spPr>
      </p:sp>
      <p:sp>
        <p:nvSpPr>
          <p:cNvPr id="37" name="Text 35"/>
          <p:cNvSpPr/>
          <p:nvPr/>
        </p:nvSpPr>
        <p:spPr>
          <a:xfrm>
            <a:off x="8859212" y="4273071"/>
            <a:ext cx="1867321" cy="320767"/>
          </a:xfrm>
          <a:prstGeom prst="rect">
            <a:avLst/>
          </a:prstGeom>
          <a:noFill/>
          <a:ln/>
        </p:spPr>
        <p:txBody>
          <a:bodyPr wrap="square" lIns="0" tIns="0" rIns="0" bIns="0" rtlCol="0" anchor="ctr"/>
          <a:lstStyle/>
          <a:p>
            <a:pPr>
              <a:lnSpc>
                <a:spcPct val="130000"/>
              </a:lnSpc>
            </a:pPr>
            <a:r>
              <a:rPr lang="en-US" sz="1624" b="1" dirty="0">
                <a:solidFill>
                  <a:srgbClr val="D1D5DB"/>
                </a:solidFill>
                <a:latin typeface="MiSans" pitchFamily="34" charset="0"/>
                <a:ea typeface="MiSans" pitchFamily="34" charset="-122"/>
                <a:cs typeface="MiSans" pitchFamily="34" charset="-120"/>
              </a:rPr>
              <a:t>不易过拟合</a:t>
            </a:r>
            <a:endParaRPr lang="en-US" sz="1600" dirty="0"/>
          </a:p>
        </p:txBody>
      </p:sp>
      <p:sp>
        <p:nvSpPr>
          <p:cNvPr id="38" name="Text 36"/>
          <p:cNvSpPr/>
          <p:nvPr/>
        </p:nvSpPr>
        <p:spPr>
          <a:xfrm>
            <a:off x="8859212" y="4593838"/>
            <a:ext cx="1844409" cy="229119"/>
          </a:xfrm>
          <a:prstGeom prst="rect">
            <a:avLst/>
          </a:prstGeom>
          <a:noFill/>
          <a:ln/>
        </p:spPr>
        <p:txBody>
          <a:bodyPr wrap="square" lIns="0" tIns="0" rIns="0" bIns="0" rtlCol="0" anchor="ctr"/>
          <a:lstStyle/>
          <a:p>
            <a:pPr>
              <a:lnSpc>
                <a:spcPct val="120000"/>
              </a:lnSpc>
            </a:pPr>
            <a:r>
              <a:rPr lang="en-US" sz="1263" dirty="0">
                <a:solidFill>
                  <a:srgbClr val="7E9AA8"/>
                </a:solidFill>
                <a:latin typeface="MiSans" pitchFamily="34" charset="0"/>
                <a:ea typeface="MiSans" pitchFamily="34" charset="-122"/>
                <a:cs typeface="MiSans" pitchFamily="34" charset="-120"/>
              </a:rPr>
              <a:t>在实践中通常不会过拟合</a:t>
            </a:r>
            <a:endParaRPr lang="en-US" sz="1600" dirty="0"/>
          </a:p>
        </p:txBody>
      </p:sp>
      <p:sp>
        <p:nvSpPr>
          <p:cNvPr id="39" name="Shape 37"/>
          <p:cNvSpPr/>
          <p:nvPr/>
        </p:nvSpPr>
        <p:spPr>
          <a:xfrm>
            <a:off x="8246319" y="5206732"/>
            <a:ext cx="7538018" cy="2440118"/>
          </a:xfrm>
          <a:custGeom>
            <a:avLst/>
            <a:gdLst/>
            <a:ahLst/>
            <a:cxnLst/>
            <a:rect l="l" t="t" r="r" b="b"/>
            <a:pathLst>
              <a:path w="7538018" h="2440118">
                <a:moveTo>
                  <a:pt x="91651" y="0"/>
                </a:moveTo>
                <a:lnTo>
                  <a:pt x="7446367" y="0"/>
                </a:lnTo>
                <a:cubicBezTo>
                  <a:pt x="7496985" y="0"/>
                  <a:pt x="7538018" y="41033"/>
                  <a:pt x="7538018" y="91651"/>
                </a:cubicBezTo>
                <a:lnTo>
                  <a:pt x="7538018" y="2348468"/>
                </a:lnTo>
                <a:cubicBezTo>
                  <a:pt x="7538018" y="2399085"/>
                  <a:pt x="7496985" y="2440118"/>
                  <a:pt x="7446367" y="2440118"/>
                </a:cubicBezTo>
                <a:lnTo>
                  <a:pt x="91651" y="2440118"/>
                </a:lnTo>
                <a:cubicBezTo>
                  <a:pt x="41033" y="2440118"/>
                  <a:pt x="0" y="2399085"/>
                  <a:pt x="0" y="2348468"/>
                </a:cubicBezTo>
                <a:lnTo>
                  <a:pt x="0" y="91651"/>
                </a:lnTo>
                <a:cubicBezTo>
                  <a:pt x="0" y="41067"/>
                  <a:pt x="41067" y="0"/>
                  <a:pt x="91651" y="0"/>
                </a:cubicBezTo>
                <a:close/>
              </a:path>
            </a:pathLst>
          </a:custGeom>
          <a:solidFill>
            <a:srgbClr val="3A5E78">
              <a:alpha val="20000"/>
            </a:srgbClr>
          </a:solidFill>
          <a:ln w="12700">
            <a:solidFill>
              <a:srgbClr val="4C7E9A">
                <a:alpha val="50196"/>
              </a:srgbClr>
            </a:solidFill>
            <a:prstDash val="solid"/>
          </a:ln>
        </p:spPr>
      </p:sp>
      <p:sp>
        <p:nvSpPr>
          <p:cNvPr id="40" name="Text 38"/>
          <p:cNvSpPr/>
          <p:nvPr/>
        </p:nvSpPr>
        <p:spPr>
          <a:xfrm>
            <a:off x="8435342" y="5395755"/>
            <a:ext cx="7297443" cy="366591"/>
          </a:xfrm>
          <a:prstGeom prst="rect">
            <a:avLst/>
          </a:prstGeom>
          <a:noFill/>
          <a:ln/>
        </p:spPr>
        <p:txBody>
          <a:bodyPr wrap="square" lIns="0" tIns="0" rIns="0" bIns="0" rtlCol="0" anchor="ctr"/>
          <a:lstStyle/>
          <a:p>
            <a:pPr>
              <a:lnSpc>
                <a:spcPct val="110000"/>
              </a:lnSpc>
            </a:pPr>
            <a:r>
              <a:rPr lang="en-US" sz="2165" b="1" dirty="0">
                <a:solidFill>
                  <a:srgbClr val="4C7E9A"/>
                </a:solidFill>
                <a:latin typeface="MiSans" pitchFamily="34" charset="0"/>
                <a:ea typeface="MiSans" pitchFamily="34" charset="-122"/>
                <a:cs typeface="MiSans" pitchFamily="34" charset="-120"/>
              </a:rPr>
              <a:t>局限性</a:t>
            </a:r>
            <a:endParaRPr lang="en-US" sz="1600" dirty="0"/>
          </a:p>
        </p:txBody>
      </p:sp>
      <p:sp>
        <p:nvSpPr>
          <p:cNvPr id="41" name="Shape 39"/>
          <p:cNvSpPr/>
          <p:nvPr/>
        </p:nvSpPr>
        <p:spPr>
          <a:xfrm>
            <a:off x="8435342" y="5899817"/>
            <a:ext cx="7159972" cy="733181"/>
          </a:xfrm>
          <a:custGeom>
            <a:avLst/>
            <a:gdLst/>
            <a:ahLst/>
            <a:cxnLst/>
            <a:rect l="l" t="t" r="r" b="b"/>
            <a:pathLst>
              <a:path w="7159972" h="733181">
                <a:moveTo>
                  <a:pt x="45824" y="0"/>
                </a:moveTo>
                <a:lnTo>
                  <a:pt x="7114148" y="0"/>
                </a:lnTo>
                <a:cubicBezTo>
                  <a:pt x="7139456" y="0"/>
                  <a:pt x="7159972" y="20516"/>
                  <a:pt x="7159972" y="45824"/>
                </a:cubicBezTo>
                <a:lnTo>
                  <a:pt x="7159972" y="687357"/>
                </a:lnTo>
                <a:cubicBezTo>
                  <a:pt x="7159972" y="712665"/>
                  <a:pt x="7139456" y="733181"/>
                  <a:pt x="7114148" y="733181"/>
                </a:cubicBezTo>
                <a:lnTo>
                  <a:pt x="45824" y="733181"/>
                </a:lnTo>
                <a:cubicBezTo>
                  <a:pt x="20533" y="733181"/>
                  <a:pt x="0" y="712648"/>
                  <a:pt x="0" y="687357"/>
                </a:cubicBezTo>
                <a:lnTo>
                  <a:pt x="0" y="45824"/>
                </a:lnTo>
                <a:cubicBezTo>
                  <a:pt x="0" y="20533"/>
                  <a:pt x="20533" y="0"/>
                  <a:pt x="45824" y="0"/>
                </a:cubicBezTo>
                <a:close/>
              </a:path>
            </a:pathLst>
          </a:custGeom>
          <a:solidFill>
            <a:srgbClr val="181A1F">
              <a:alpha val="50196"/>
            </a:srgbClr>
          </a:solidFill>
          <a:ln/>
        </p:spPr>
      </p:sp>
      <p:sp>
        <p:nvSpPr>
          <p:cNvPr id="42" name="Text 40"/>
          <p:cNvSpPr/>
          <p:nvPr/>
        </p:nvSpPr>
        <p:spPr>
          <a:xfrm>
            <a:off x="8526989" y="5991464"/>
            <a:ext cx="7068324" cy="274943"/>
          </a:xfrm>
          <a:prstGeom prst="rect">
            <a:avLst/>
          </a:prstGeom>
          <a:noFill/>
          <a:ln/>
        </p:spPr>
        <p:txBody>
          <a:bodyPr wrap="square" lIns="0" tIns="0" rIns="0" bIns="0" rtlCol="0" anchor="ctr"/>
          <a:lstStyle/>
          <a:p>
            <a:pPr>
              <a:lnSpc>
                <a:spcPct val="130000"/>
              </a:lnSpc>
            </a:pPr>
            <a:r>
              <a:rPr lang="en-US" sz="1443" b="1" dirty="0">
                <a:solidFill>
                  <a:srgbClr val="D1D5DB"/>
                </a:solidFill>
                <a:latin typeface="MiSans" pitchFamily="34" charset="0"/>
                <a:ea typeface="MiSans" pitchFamily="34" charset="-122"/>
                <a:cs typeface="MiSans" pitchFamily="34" charset="-120"/>
              </a:rPr>
              <a:t>对异常值敏感</a:t>
            </a:r>
            <a:endParaRPr lang="en-US" sz="1600" dirty="0"/>
          </a:p>
        </p:txBody>
      </p:sp>
      <p:sp>
        <p:nvSpPr>
          <p:cNvPr id="43" name="Text 41"/>
          <p:cNvSpPr/>
          <p:nvPr/>
        </p:nvSpPr>
        <p:spPr>
          <a:xfrm>
            <a:off x="8526989" y="6312231"/>
            <a:ext cx="7056868" cy="229119"/>
          </a:xfrm>
          <a:prstGeom prst="rect">
            <a:avLst/>
          </a:prstGeom>
          <a:noFill/>
          <a:ln/>
        </p:spPr>
        <p:txBody>
          <a:bodyPr wrap="square" lIns="0" tIns="0" rIns="0" bIns="0" rtlCol="0" anchor="ctr"/>
          <a:lstStyle/>
          <a:p>
            <a:pPr>
              <a:lnSpc>
                <a:spcPct val="120000"/>
              </a:lnSpc>
            </a:pPr>
            <a:r>
              <a:rPr lang="en-US" sz="1263" dirty="0">
                <a:solidFill>
                  <a:srgbClr val="7E9AA8"/>
                </a:solidFill>
                <a:latin typeface="MiSans" pitchFamily="34" charset="0"/>
                <a:ea typeface="MiSans" pitchFamily="34" charset="-122"/>
                <a:cs typeface="MiSans" pitchFamily="34" charset="-120"/>
              </a:rPr>
              <a:t>噪声样本可能被错误地赋予过高权重</a:t>
            </a:r>
            <a:endParaRPr lang="en-US" sz="1600" dirty="0"/>
          </a:p>
        </p:txBody>
      </p:sp>
      <p:sp>
        <p:nvSpPr>
          <p:cNvPr id="44" name="Shape 42"/>
          <p:cNvSpPr/>
          <p:nvPr/>
        </p:nvSpPr>
        <p:spPr>
          <a:xfrm>
            <a:off x="8435342" y="6724646"/>
            <a:ext cx="7159972" cy="733181"/>
          </a:xfrm>
          <a:custGeom>
            <a:avLst/>
            <a:gdLst/>
            <a:ahLst/>
            <a:cxnLst/>
            <a:rect l="l" t="t" r="r" b="b"/>
            <a:pathLst>
              <a:path w="7159972" h="733181">
                <a:moveTo>
                  <a:pt x="45824" y="0"/>
                </a:moveTo>
                <a:lnTo>
                  <a:pt x="7114148" y="0"/>
                </a:lnTo>
                <a:cubicBezTo>
                  <a:pt x="7139456" y="0"/>
                  <a:pt x="7159972" y="20516"/>
                  <a:pt x="7159972" y="45824"/>
                </a:cubicBezTo>
                <a:lnTo>
                  <a:pt x="7159972" y="687357"/>
                </a:lnTo>
                <a:cubicBezTo>
                  <a:pt x="7159972" y="712665"/>
                  <a:pt x="7139456" y="733181"/>
                  <a:pt x="7114148" y="733181"/>
                </a:cubicBezTo>
                <a:lnTo>
                  <a:pt x="45824" y="733181"/>
                </a:lnTo>
                <a:cubicBezTo>
                  <a:pt x="20533" y="733181"/>
                  <a:pt x="0" y="712648"/>
                  <a:pt x="0" y="687357"/>
                </a:cubicBezTo>
                <a:lnTo>
                  <a:pt x="0" y="45824"/>
                </a:lnTo>
                <a:cubicBezTo>
                  <a:pt x="0" y="20533"/>
                  <a:pt x="20533" y="0"/>
                  <a:pt x="45824" y="0"/>
                </a:cubicBezTo>
                <a:close/>
              </a:path>
            </a:pathLst>
          </a:custGeom>
          <a:solidFill>
            <a:srgbClr val="181A1F">
              <a:alpha val="50196"/>
            </a:srgbClr>
          </a:solidFill>
          <a:ln/>
        </p:spPr>
      </p:sp>
      <p:sp>
        <p:nvSpPr>
          <p:cNvPr id="45" name="Text 43"/>
          <p:cNvSpPr/>
          <p:nvPr/>
        </p:nvSpPr>
        <p:spPr>
          <a:xfrm>
            <a:off x="8526989" y="6816293"/>
            <a:ext cx="7068324" cy="274943"/>
          </a:xfrm>
          <a:prstGeom prst="rect">
            <a:avLst/>
          </a:prstGeom>
          <a:noFill/>
          <a:ln/>
        </p:spPr>
        <p:txBody>
          <a:bodyPr wrap="square" lIns="0" tIns="0" rIns="0" bIns="0" rtlCol="0" anchor="ctr"/>
          <a:lstStyle/>
          <a:p>
            <a:pPr>
              <a:lnSpc>
                <a:spcPct val="130000"/>
              </a:lnSpc>
            </a:pPr>
            <a:r>
              <a:rPr lang="en-US" sz="1443" b="1" dirty="0">
                <a:solidFill>
                  <a:srgbClr val="D1D5DB"/>
                </a:solidFill>
                <a:latin typeface="MiSans" pitchFamily="34" charset="0"/>
                <a:ea typeface="MiSans" pitchFamily="34" charset="-122"/>
                <a:cs typeface="MiSans" pitchFamily="34" charset="-120"/>
              </a:rPr>
              <a:t>需要仔细调参</a:t>
            </a:r>
            <a:endParaRPr lang="en-US" sz="1600" dirty="0"/>
          </a:p>
        </p:txBody>
      </p:sp>
      <p:sp>
        <p:nvSpPr>
          <p:cNvPr id="46" name="Text 44"/>
          <p:cNvSpPr/>
          <p:nvPr/>
        </p:nvSpPr>
        <p:spPr>
          <a:xfrm>
            <a:off x="8526989" y="7137060"/>
            <a:ext cx="7056868" cy="229119"/>
          </a:xfrm>
          <a:prstGeom prst="rect">
            <a:avLst/>
          </a:prstGeom>
          <a:noFill/>
          <a:ln/>
        </p:spPr>
        <p:txBody>
          <a:bodyPr wrap="square" lIns="0" tIns="0" rIns="0" bIns="0" rtlCol="0" anchor="ctr"/>
          <a:lstStyle/>
          <a:p>
            <a:pPr>
              <a:lnSpc>
                <a:spcPct val="120000"/>
              </a:lnSpc>
            </a:pPr>
            <a:r>
              <a:rPr lang="en-US" sz="1263" dirty="0">
                <a:solidFill>
                  <a:srgbClr val="7E9AA8"/>
                </a:solidFill>
                <a:latin typeface="MiSans" pitchFamily="34" charset="0"/>
                <a:ea typeface="MiSans" pitchFamily="34" charset="-122"/>
                <a:cs typeface="MiSans" pitchFamily="34" charset="-120"/>
              </a:rPr>
              <a:t>迭代次数需要合理控制以避免过拟合</a:t>
            </a:r>
            <a:endParaRPr lang="en-US" sz="1600" dirty="0"/>
          </a:p>
        </p:txBody>
      </p:sp>
      <p:sp>
        <p:nvSpPr>
          <p:cNvPr id="47" name="Shape 45"/>
          <p:cNvSpPr/>
          <p:nvPr/>
        </p:nvSpPr>
        <p:spPr>
          <a:xfrm>
            <a:off x="8246319" y="7841601"/>
            <a:ext cx="7538018" cy="561342"/>
          </a:xfrm>
          <a:custGeom>
            <a:avLst/>
            <a:gdLst/>
            <a:ahLst/>
            <a:cxnLst/>
            <a:rect l="l" t="t" r="r" b="b"/>
            <a:pathLst>
              <a:path w="7538018" h="561342">
                <a:moveTo>
                  <a:pt x="91650" y="0"/>
                </a:moveTo>
                <a:lnTo>
                  <a:pt x="7446368" y="0"/>
                </a:lnTo>
                <a:cubicBezTo>
                  <a:pt x="7496985" y="0"/>
                  <a:pt x="7538018" y="41033"/>
                  <a:pt x="7538018" y="91650"/>
                </a:cubicBezTo>
                <a:lnTo>
                  <a:pt x="7538018" y="469692"/>
                </a:lnTo>
                <a:cubicBezTo>
                  <a:pt x="7538018" y="520309"/>
                  <a:pt x="7496985" y="561342"/>
                  <a:pt x="7446368" y="561342"/>
                </a:cubicBezTo>
                <a:lnTo>
                  <a:pt x="91650" y="561342"/>
                </a:lnTo>
                <a:cubicBezTo>
                  <a:pt x="41033" y="561342"/>
                  <a:pt x="0" y="520309"/>
                  <a:pt x="0" y="469692"/>
                </a:cubicBezTo>
                <a:lnTo>
                  <a:pt x="0" y="91650"/>
                </a:lnTo>
                <a:cubicBezTo>
                  <a:pt x="0" y="41067"/>
                  <a:pt x="41067" y="0"/>
                  <a:pt x="91650" y="0"/>
                </a:cubicBezTo>
                <a:close/>
              </a:path>
            </a:pathLst>
          </a:custGeom>
          <a:solidFill>
            <a:srgbClr val="4C7E9A">
              <a:alpha val="10196"/>
            </a:srgbClr>
          </a:solidFill>
          <a:ln w="12700">
            <a:solidFill>
              <a:srgbClr val="4C7E9A">
                <a:alpha val="30196"/>
              </a:srgbClr>
            </a:solidFill>
            <a:prstDash val="solid"/>
          </a:ln>
        </p:spPr>
      </p:sp>
      <p:sp>
        <p:nvSpPr>
          <p:cNvPr id="48" name="Shape 46"/>
          <p:cNvSpPr/>
          <p:nvPr/>
        </p:nvSpPr>
        <p:spPr>
          <a:xfrm>
            <a:off x="8400974" y="8036352"/>
            <a:ext cx="206207" cy="183295"/>
          </a:xfrm>
          <a:custGeom>
            <a:avLst/>
            <a:gdLst/>
            <a:ahLst/>
            <a:cxnLst/>
            <a:rect l="l" t="t" r="r" b="b"/>
            <a:pathLst>
              <a:path w="206207" h="183295">
                <a:moveTo>
                  <a:pt x="129166" y="430"/>
                </a:moveTo>
                <a:cubicBezTo>
                  <a:pt x="123080" y="-1325"/>
                  <a:pt x="116743" y="2220"/>
                  <a:pt x="114989" y="8306"/>
                </a:cubicBezTo>
                <a:lnTo>
                  <a:pt x="69165" y="168689"/>
                </a:lnTo>
                <a:cubicBezTo>
                  <a:pt x="67411" y="174775"/>
                  <a:pt x="70955" y="181111"/>
                  <a:pt x="77041" y="182866"/>
                </a:cubicBezTo>
                <a:cubicBezTo>
                  <a:pt x="83127" y="184620"/>
                  <a:pt x="89464" y="181076"/>
                  <a:pt x="91218" y="174990"/>
                </a:cubicBezTo>
                <a:lnTo>
                  <a:pt x="137042" y="14606"/>
                </a:lnTo>
                <a:cubicBezTo>
                  <a:pt x="138796" y="8520"/>
                  <a:pt x="135252" y="2184"/>
                  <a:pt x="129166" y="430"/>
                </a:cubicBezTo>
                <a:close/>
                <a:moveTo>
                  <a:pt x="152293" y="49153"/>
                </a:moveTo>
                <a:cubicBezTo>
                  <a:pt x="147818" y="53628"/>
                  <a:pt x="147818" y="60896"/>
                  <a:pt x="152293" y="65371"/>
                </a:cubicBezTo>
                <a:lnTo>
                  <a:pt x="178570" y="91648"/>
                </a:lnTo>
                <a:lnTo>
                  <a:pt x="152293" y="117925"/>
                </a:lnTo>
                <a:cubicBezTo>
                  <a:pt x="147818" y="122400"/>
                  <a:pt x="147818" y="129667"/>
                  <a:pt x="152293" y="134142"/>
                </a:cubicBezTo>
                <a:cubicBezTo>
                  <a:pt x="156768" y="138617"/>
                  <a:pt x="164035" y="138617"/>
                  <a:pt x="168510" y="134142"/>
                </a:cubicBezTo>
                <a:lnTo>
                  <a:pt x="202878" y="99774"/>
                </a:lnTo>
                <a:cubicBezTo>
                  <a:pt x="207353" y="95299"/>
                  <a:pt x="207353" y="88032"/>
                  <a:pt x="202878" y="83557"/>
                </a:cubicBezTo>
                <a:lnTo>
                  <a:pt x="168510" y="49189"/>
                </a:lnTo>
                <a:cubicBezTo>
                  <a:pt x="164035" y="44714"/>
                  <a:pt x="156768" y="44714"/>
                  <a:pt x="152293" y="49189"/>
                </a:cubicBezTo>
                <a:close/>
                <a:moveTo>
                  <a:pt x="53950" y="49153"/>
                </a:moveTo>
                <a:cubicBezTo>
                  <a:pt x="49475" y="44678"/>
                  <a:pt x="42208" y="44678"/>
                  <a:pt x="37733" y="49153"/>
                </a:cubicBezTo>
                <a:lnTo>
                  <a:pt x="3365" y="83521"/>
                </a:lnTo>
                <a:cubicBezTo>
                  <a:pt x="-1110" y="87996"/>
                  <a:pt x="-1110" y="95263"/>
                  <a:pt x="3365" y="99738"/>
                </a:cubicBezTo>
                <a:lnTo>
                  <a:pt x="37733" y="134106"/>
                </a:lnTo>
                <a:cubicBezTo>
                  <a:pt x="42208" y="138581"/>
                  <a:pt x="49475" y="138581"/>
                  <a:pt x="53950" y="134106"/>
                </a:cubicBezTo>
                <a:cubicBezTo>
                  <a:pt x="58425" y="129631"/>
                  <a:pt x="58425" y="122364"/>
                  <a:pt x="53950" y="117889"/>
                </a:cubicBezTo>
                <a:lnTo>
                  <a:pt x="27673" y="91648"/>
                </a:lnTo>
                <a:lnTo>
                  <a:pt x="53915" y="65371"/>
                </a:lnTo>
                <a:cubicBezTo>
                  <a:pt x="58390" y="60896"/>
                  <a:pt x="58390" y="53628"/>
                  <a:pt x="53915" y="49153"/>
                </a:cubicBezTo>
                <a:close/>
              </a:path>
            </a:pathLst>
          </a:custGeom>
          <a:solidFill>
            <a:srgbClr val="4C7E9A"/>
          </a:solidFill>
          <a:ln/>
        </p:spPr>
      </p:sp>
      <p:sp>
        <p:nvSpPr>
          <p:cNvPr id="49" name="Text 47"/>
          <p:cNvSpPr/>
          <p:nvPr/>
        </p:nvSpPr>
        <p:spPr>
          <a:xfrm>
            <a:off x="8701307" y="7984801"/>
            <a:ext cx="7031478" cy="274943"/>
          </a:xfrm>
          <a:prstGeom prst="rect">
            <a:avLst/>
          </a:prstGeom>
          <a:noFill/>
          <a:ln/>
        </p:spPr>
        <p:txBody>
          <a:bodyPr wrap="square" lIns="0" tIns="0" rIns="0" bIns="0" rtlCol="0" anchor="ctr"/>
          <a:lstStyle/>
          <a:p>
            <a:pPr>
              <a:lnSpc>
                <a:spcPct val="130000"/>
              </a:lnSpc>
            </a:pPr>
            <a:r>
              <a:rPr lang="en-US" sz="1443" b="1" dirty="0">
                <a:solidFill>
                  <a:srgbClr val="4C7E9A"/>
                </a:solidFill>
                <a:latin typeface="MiSans" pitchFamily="34" charset="0"/>
                <a:ea typeface="MiSans" pitchFamily="34" charset="-122"/>
                <a:cs typeface="MiSans" pitchFamily="34" charset="-120"/>
              </a:rPr>
              <a:t>Python验证：</a:t>
            </a:r>
            <a:pPr>
              <a:lnSpc>
                <a:spcPct val="130000"/>
              </a:lnSpc>
            </a:pPr>
            <a:r>
              <a:rPr lang="en-US" sz="1443" dirty="0">
                <a:solidFill>
                  <a:srgbClr val="D1D5DB"/>
                </a:solidFill>
                <a:latin typeface="MiSans" pitchFamily="34" charset="0"/>
                <a:ea typeface="MiSans" pitchFamily="34" charset="-122"/>
                <a:cs typeface="MiSans" pitchFamily="34" charset="-120"/>
              </a:rPr>
              <a:t>通过sklearn实现验证了手算结果的正确性，确保理论与实践的一致性</a:t>
            </a:r>
            <a:endParaRPr lang="en-US" sz="1600" dirty="0"/>
          </a:p>
        </p:txBody>
      </p:sp>
    </p:spTree>
  </p:cSld>
  <p:clrMapOvr>
    <a:masterClrMapping/>
  </p:clrMapOvr>
  <p:transition>
    <p:fade/>
    <p:spd val="med"/>
  </p:transition>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81A1F"/>
        </a:solidFill>
      </p:bgPr>
    </p:bg>
    <p:spTree>
      <p:nvGrpSpPr>
        <p:cNvPr id="1" name=""/>
        <p:cNvGrpSpPr/>
        <p:nvPr/>
      </p:nvGrpSpPr>
      <p:grpSpPr>
        <a:xfrm>
          <a:off x="0" y="0"/>
          <a:ext cx="0" cy="0"/>
          <a:chOff x="0" y="0"/>
          <a:chExt cx="0" cy="0"/>
        </a:xfrm>
      </p:grpSpPr>
      <p:pic>
        <p:nvPicPr>
          <p:cNvPr id="2" name="Image 0" descr="https://kimi-web-img.moonshot.cn/img/images.stockcake.com/6f485e75bafc7e19c540f81670dcdfb0eecc1d23.jpg">    </p:cNvPr>
          <p:cNvPicPr>
            <a:picLocks noChangeAspect="1"/>
          </p:cNvPicPr>
          <p:nvPr/>
        </p:nvPicPr>
        <p:blipFill>
          <a:blip r:embed="rId1">
            <a:alphaModFix amt="30000"/>
          </a:blip>
          <a:srcRect l="0" r="0" t="21875" b="21875"/>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rotWithShape="1" flip="none">
            <a:gsLst>
              <a:gs pos="0">
                <a:srgbClr val="181A1F"/>
              </a:gs>
              <a:gs pos="50000">
                <a:srgbClr val="181A1F">
                  <a:alpha val="95000"/>
                </a:srgbClr>
              </a:gs>
              <a:gs pos="100000">
                <a:srgbClr val="181A1F">
                  <a:alpha val="70000"/>
                </a:srgbClr>
              </a:gs>
            </a:gsLst>
            <a:lin ang="0" scaled="1"/>
          </a:gradFill>
          <a:ln/>
        </p:spPr>
      </p:sp>
      <p:sp>
        <p:nvSpPr>
          <p:cNvPr id="4" name="Shape 1"/>
          <p:cNvSpPr/>
          <p:nvPr/>
        </p:nvSpPr>
        <p:spPr>
          <a:xfrm>
            <a:off x="520700" y="1752600"/>
            <a:ext cx="1778000" cy="787400"/>
          </a:xfrm>
          <a:custGeom>
            <a:avLst/>
            <a:gdLst/>
            <a:ahLst/>
            <a:cxnLst/>
            <a:rect l="l" t="t" r="r" b="b"/>
            <a:pathLst>
              <a:path w="1778000" h="787400">
                <a:moveTo>
                  <a:pt x="101598" y="0"/>
                </a:moveTo>
                <a:lnTo>
                  <a:pt x="1676402" y="0"/>
                </a:lnTo>
                <a:cubicBezTo>
                  <a:pt x="1732513" y="0"/>
                  <a:pt x="1778000" y="45487"/>
                  <a:pt x="1778000" y="101598"/>
                </a:cubicBezTo>
                <a:lnTo>
                  <a:pt x="1778000" y="685802"/>
                </a:lnTo>
                <a:cubicBezTo>
                  <a:pt x="1778000" y="741913"/>
                  <a:pt x="1732513" y="787400"/>
                  <a:pt x="1676402" y="787400"/>
                </a:cubicBezTo>
                <a:lnTo>
                  <a:pt x="101598" y="787400"/>
                </a:lnTo>
                <a:cubicBezTo>
                  <a:pt x="45487" y="787400"/>
                  <a:pt x="0" y="741913"/>
                  <a:pt x="0" y="685802"/>
                </a:cubicBezTo>
                <a:lnTo>
                  <a:pt x="0" y="101598"/>
                </a:lnTo>
                <a:cubicBezTo>
                  <a:pt x="0" y="45525"/>
                  <a:pt x="45525" y="0"/>
                  <a:pt x="101598" y="0"/>
                </a:cubicBezTo>
                <a:close/>
              </a:path>
            </a:pathLst>
          </a:custGeom>
          <a:solidFill>
            <a:srgbClr val="4C7E9A">
              <a:alpha val="20000"/>
            </a:srgbClr>
          </a:solidFill>
          <a:ln w="25400">
            <a:solidFill>
              <a:srgbClr val="4C7E9A"/>
            </a:solidFill>
            <a:prstDash val="solid"/>
          </a:ln>
        </p:spPr>
      </p:sp>
      <p:sp>
        <p:nvSpPr>
          <p:cNvPr id="5" name="Text 2"/>
          <p:cNvSpPr/>
          <p:nvPr/>
        </p:nvSpPr>
        <p:spPr>
          <a:xfrm>
            <a:off x="838200" y="1917700"/>
            <a:ext cx="1333500" cy="457200"/>
          </a:xfrm>
          <a:prstGeom prst="rect">
            <a:avLst/>
          </a:prstGeom>
          <a:noFill/>
          <a:ln/>
        </p:spPr>
        <p:txBody>
          <a:bodyPr wrap="square" lIns="0" tIns="0" rIns="0" bIns="0" rtlCol="0" anchor="ctr"/>
          <a:lstStyle/>
          <a:p>
            <a:pPr>
              <a:lnSpc>
                <a:spcPct val="100000"/>
              </a:lnSpc>
            </a:pPr>
            <a:r>
              <a:rPr lang="en-US" sz="3000" b="1" dirty="0">
                <a:solidFill>
                  <a:srgbClr val="4C7E9A"/>
                </a:solidFill>
                <a:latin typeface="MiSans" pitchFamily="34" charset="0"/>
                <a:ea typeface="MiSans" pitchFamily="34" charset="-122"/>
                <a:cs typeface="MiSans" pitchFamily="34" charset="-120"/>
              </a:rPr>
              <a:t>专题三</a:t>
            </a:r>
            <a:endParaRPr lang="en-US" sz="1600" dirty="0"/>
          </a:p>
        </p:txBody>
      </p:sp>
      <p:sp>
        <p:nvSpPr>
          <p:cNvPr id="6" name="Text 3"/>
          <p:cNvSpPr/>
          <p:nvPr/>
        </p:nvSpPr>
        <p:spPr>
          <a:xfrm>
            <a:off x="508000" y="2959100"/>
            <a:ext cx="6273800" cy="1219200"/>
          </a:xfrm>
          <a:prstGeom prst="rect">
            <a:avLst/>
          </a:prstGeom>
          <a:noFill/>
          <a:ln/>
        </p:spPr>
        <p:txBody>
          <a:bodyPr wrap="square" lIns="0" tIns="0" rIns="0" bIns="0" rtlCol="0" anchor="ctr"/>
          <a:lstStyle/>
          <a:p>
            <a:pPr>
              <a:lnSpc>
                <a:spcPct val="80000"/>
              </a:lnSpc>
            </a:pPr>
            <a:r>
              <a:rPr lang="en-US" sz="9600" b="1" dirty="0">
                <a:solidFill>
                  <a:srgbClr val="D1D5DB"/>
                </a:solidFill>
                <a:latin typeface="阿里妈妈数黑体" pitchFamily="34" charset="0"/>
                <a:ea typeface="阿里妈妈数黑体" pitchFamily="34" charset="-122"/>
                <a:cs typeface="阿里妈妈数黑体" pitchFamily="34" charset="-120"/>
              </a:rPr>
              <a:t>GBDT算法</a:t>
            </a:r>
            <a:endParaRPr lang="en-US" sz="1600" dirty="0"/>
          </a:p>
        </p:txBody>
      </p:sp>
      <p:sp>
        <p:nvSpPr>
          <p:cNvPr id="7" name="Shape 4"/>
          <p:cNvSpPr/>
          <p:nvPr/>
        </p:nvSpPr>
        <p:spPr>
          <a:xfrm>
            <a:off x="508000" y="4483100"/>
            <a:ext cx="2438400" cy="101600"/>
          </a:xfrm>
          <a:custGeom>
            <a:avLst/>
            <a:gdLst/>
            <a:ahLst/>
            <a:cxnLst/>
            <a:rect l="l" t="t" r="r" b="b"/>
            <a:pathLst>
              <a:path w="2438400" h="101600">
                <a:moveTo>
                  <a:pt x="0" y="0"/>
                </a:moveTo>
                <a:lnTo>
                  <a:pt x="2438400" y="0"/>
                </a:lnTo>
                <a:lnTo>
                  <a:pt x="2438400" y="101600"/>
                </a:lnTo>
                <a:lnTo>
                  <a:pt x="0" y="101600"/>
                </a:lnTo>
                <a:lnTo>
                  <a:pt x="0" y="0"/>
                </a:lnTo>
                <a:close/>
              </a:path>
            </a:pathLst>
          </a:custGeom>
          <a:solidFill>
            <a:srgbClr val="4C7E9A"/>
          </a:solidFill>
          <a:ln/>
        </p:spPr>
      </p:sp>
      <p:sp>
        <p:nvSpPr>
          <p:cNvPr id="8" name="Text 5"/>
          <p:cNvSpPr/>
          <p:nvPr/>
        </p:nvSpPr>
        <p:spPr>
          <a:xfrm>
            <a:off x="508000" y="4889500"/>
            <a:ext cx="5892800" cy="508000"/>
          </a:xfrm>
          <a:prstGeom prst="rect">
            <a:avLst/>
          </a:prstGeom>
          <a:noFill/>
          <a:ln/>
        </p:spPr>
        <p:txBody>
          <a:bodyPr wrap="square" lIns="0" tIns="0" rIns="0" bIns="0" rtlCol="0" anchor="ctr"/>
          <a:lstStyle/>
          <a:p>
            <a:pPr>
              <a:lnSpc>
                <a:spcPct val="90000"/>
              </a:lnSpc>
            </a:pPr>
            <a:r>
              <a:rPr lang="en-US" sz="3600" dirty="0">
                <a:solidFill>
                  <a:srgbClr val="7E9AA8"/>
                </a:solidFill>
                <a:latin typeface="MiSans" pitchFamily="34" charset="0"/>
                <a:ea typeface="MiSans" pitchFamily="34" charset="-122"/>
                <a:cs typeface="MiSans" pitchFamily="34" charset="-120"/>
              </a:rPr>
              <a:t>梯度提升决策树</a:t>
            </a:r>
            <a:endParaRPr lang="en-US" sz="1600" dirty="0"/>
          </a:p>
        </p:txBody>
      </p:sp>
      <p:sp>
        <p:nvSpPr>
          <p:cNvPr id="9" name="Shape 6"/>
          <p:cNvSpPr/>
          <p:nvPr/>
        </p:nvSpPr>
        <p:spPr>
          <a:xfrm>
            <a:off x="508000" y="6007100"/>
            <a:ext cx="2730500" cy="1397000"/>
          </a:xfrm>
          <a:custGeom>
            <a:avLst/>
            <a:gdLst/>
            <a:ahLst/>
            <a:cxnLst/>
            <a:rect l="l" t="t" r="r" b="b"/>
            <a:pathLst>
              <a:path w="2730500" h="1397000">
                <a:moveTo>
                  <a:pt x="101604" y="0"/>
                </a:moveTo>
                <a:lnTo>
                  <a:pt x="2628896" y="0"/>
                </a:lnTo>
                <a:cubicBezTo>
                  <a:pt x="2685010" y="0"/>
                  <a:pt x="2730500" y="45490"/>
                  <a:pt x="2730500" y="101604"/>
                </a:cubicBezTo>
                <a:lnTo>
                  <a:pt x="2730500" y="1295396"/>
                </a:lnTo>
                <a:cubicBezTo>
                  <a:pt x="2730500" y="1351510"/>
                  <a:pt x="2685010" y="1397000"/>
                  <a:pt x="26288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0" name="Shape 7"/>
          <p:cNvSpPr/>
          <p:nvPr/>
        </p:nvSpPr>
        <p:spPr>
          <a:xfrm>
            <a:off x="812800" y="6261100"/>
            <a:ext cx="381000" cy="381000"/>
          </a:xfrm>
          <a:custGeom>
            <a:avLst/>
            <a:gdLst/>
            <a:ahLst/>
            <a:cxnLst/>
            <a:rect l="l" t="t" r="r" b="b"/>
            <a:pathLst>
              <a:path w="381000" h="381000">
                <a:moveTo>
                  <a:pt x="47625" y="47625"/>
                </a:moveTo>
                <a:cubicBezTo>
                  <a:pt x="47625" y="34454"/>
                  <a:pt x="36984" y="23812"/>
                  <a:pt x="23812" y="23812"/>
                </a:cubicBezTo>
                <a:cubicBezTo>
                  <a:pt x="10641" y="23812"/>
                  <a:pt x="0" y="34454"/>
                  <a:pt x="0" y="47625"/>
                </a:cubicBezTo>
                <a:lnTo>
                  <a:pt x="0" y="297656"/>
                </a:lnTo>
                <a:cubicBezTo>
                  <a:pt x="0" y="330547"/>
                  <a:pt x="26640" y="357188"/>
                  <a:pt x="59531" y="357188"/>
                </a:cubicBezTo>
                <a:lnTo>
                  <a:pt x="357188" y="357188"/>
                </a:lnTo>
                <a:cubicBezTo>
                  <a:pt x="370359" y="357188"/>
                  <a:pt x="381000" y="346546"/>
                  <a:pt x="381000" y="333375"/>
                </a:cubicBezTo>
                <a:cubicBezTo>
                  <a:pt x="381000" y="320204"/>
                  <a:pt x="370359" y="309563"/>
                  <a:pt x="357188" y="309563"/>
                </a:cubicBezTo>
                <a:lnTo>
                  <a:pt x="59531" y="309563"/>
                </a:lnTo>
                <a:cubicBezTo>
                  <a:pt x="52983" y="309563"/>
                  <a:pt x="47625" y="304205"/>
                  <a:pt x="47625" y="297656"/>
                </a:cubicBezTo>
                <a:lnTo>
                  <a:pt x="47625" y="47625"/>
                </a:lnTo>
                <a:close/>
                <a:moveTo>
                  <a:pt x="350193" y="112068"/>
                </a:moveTo>
                <a:cubicBezTo>
                  <a:pt x="359494" y="102766"/>
                  <a:pt x="359494" y="87660"/>
                  <a:pt x="350193" y="78358"/>
                </a:cubicBezTo>
                <a:cubicBezTo>
                  <a:pt x="340891" y="69056"/>
                  <a:pt x="325785" y="69056"/>
                  <a:pt x="316483" y="78358"/>
                </a:cubicBezTo>
                <a:lnTo>
                  <a:pt x="238125" y="156790"/>
                </a:lnTo>
                <a:lnTo>
                  <a:pt x="195411" y="114151"/>
                </a:lnTo>
                <a:cubicBezTo>
                  <a:pt x="186110" y="104849"/>
                  <a:pt x="171004" y="104849"/>
                  <a:pt x="161702" y="114151"/>
                </a:cubicBezTo>
                <a:lnTo>
                  <a:pt x="90264" y="185589"/>
                </a:lnTo>
                <a:cubicBezTo>
                  <a:pt x="80963" y="194890"/>
                  <a:pt x="80963" y="209996"/>
                  <a:pt x="90264" y="219298"/>
                </a:cubicBezTo>
                <a:cubicBezTo>
                  <a:pt x="99566" y="228600"/>
                  <a:pt x="114672" y="228600"/>
                  <a:pt x="123974" y="219298"/>
                </a:cubicBezTo>
                <a:lnTo>
                  <a:pt x="178594" y="164678"/>
                </a:lnTo>
                <a:lnTo>
                  <a:pt x="221307" y="207392"/>
                </a:lnTo>
                <a:cubicBezTo>
                  <a:pt x="230609" y="216694"/>
                  <a:pt x="245715" y="216694"/>
                  <a:pt x="255017" y="207392"/>
                </a:cubicBezTo>
                <a:lnTo>
                  <a:pt x="350267" y="112142"/>
                </a:lnTo>
                <a:close/>
              </a:path>
            </a:pathLst>
          </a:custGeom>
          <a:solidFill>
            <a:srgbClr val="4C7E9A"/>
          </a:solidFill>
          <a:ln/>
        </p:spPr>
      </p:sp>
      <p:sp>
        <p:nvSpPr>
          <p:cNvPr id="11" name="Text 8"/>
          <p:cNvSpPr/>
          <p:nvPr/>
        </p:nvSpPr>
        <p:spPr>
          <a:xfrm>
            <a:off x="762000" y="6794500"/>
            <a:ext cx="23495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梯度提升</a:t>
            </a:r>
            <a:endParaRPr lang="en-US" sz="1600" dirty="0"/>
          </a:p>
        </p:txBody>
      </p:sp>
      <p:sp>
        <p:nvSpPr>
          <p:cNvPr id="12" name="Shape 9"/>
          <p:cNvSpPr/>
          <p:nvPr/>
        </p:nvSpPr>
        <p:spPr>
          <a:xfrm>
            <a:off x="3438723" y="6007100"/>
            <a:ext cx="2730500" cy="1397000"/>
          </a:xfrm>
          <a:custGeom>
            <a:avLst/>
            <a:gdLst/>
            <a:ahLst/>
            <a:cxnLst/>
            <a:rect l="l" t="t" r="r" b="b"/>
            <a:pathLst>
              <a:path w="2730500" h="1397000">
                <a:moveTo>
                  <a:pt x="101604" y="0"/>
                </a:moveTo>
                <a:lnTo>
                  <a:pt x="2628896" y="0"/>
                </a:lnTo>
                <a:cubicBezTo>
                  <a:pt x="2685010" y="0"/>
                  <a:pt x="2730500" y="45490"/>
                  <a:pt x="2730500" y="101604"/>
                </a:cubicBezTo>
                <a:lnTo>
                  <a:pt x="2730500" y="1295396"/>
                </a:lnTo>
                <a:cubicBezTo>
                  <a:pt x="2730500" y="1351510"/>
                  <a:pt x="2685010" y="1397000"/>
                  <a:pt x="26288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3" name="Shape 10"/>
          <p:cNvSpPr/>
          <p:nvPr/>
        </p:nvSpPr>
        <p:spPr>
          <a:xfrm>
            <a:off x="3719711" y="6261100"/>
            <a:ext cx="428625" cy="381000"/>
          </a:xfrm>
          <a:custGeom>
            <a:avLst/>
            <a:gdLst/>
            <a:ahLst/>
            <a:cxnLst/>
            <a:rect l="l" t="t" r="r" b="b"/>
            <a:pathLst>
              <a:path w="428625" h="381000">
                <a:moveTo>
                  <a:pt x="268486" y="893"/>
                </a:moveTo>
                <a:cubicBezTo>
                  <a:pt x="255836" y="-2753"/>
                  <a:pt x="242664" y="4614"/>
                  <a:pt x="239018" y="17264"/>
                </a:cubicBezTo>
                <a:lnTo>
                  <a:pt x="143768" y="350639"/>
                </a:lnTo>
                <a:cubicBezTo>
                  <a:pt x="140122" y="363289"/>
                  <a:pt x="147489" y="376461"/>
                  <a:pt x="160139" y="380107"/>
                </a:cubicBezTo>
                <a:cubicBezTo>
                  <a:pt x="172789" y="383753"/>
                  <a:pt x="185961" y="376386"/>
                  <a:pt x="189607" y="363736"/>
                </a:cubicBezTo>
                <a:lnTo>
                  <a:pt x="284857" y="30361"/>
                </a:lnTo>
                <a:cubicBezTo>
                  <a:pt x="288503" y="17711"/>
                  <a:pt x="281136" y="4539"/>
                  <a:pt x="268486" y="893"/>
                </a:cubicBezTo>
                <a:close/>
                <a:moveTo>
                  <a:pt x="316557" y="102171"/>
                </a:moveTo>
                <a:cubicBezTo>
                  <a:pt x="307256" y="111472"/>
                  <a:pt x="307256" y="126578"/>
                  <a:pt x="316557" y="135880"/>
                </a:cubicBezTo>
                <a:lnTo>
                  <a:pt x="371177" y="190500"/>
                </a:lnTo>
                <a:lnTo>
                  <a:pt x="316557" y="245120"/>
                </a:lnTo>
                <a:cubicBezTo>
                  <a:pt x="307256" y="254422"/>
                  <a:pt x="307256" y="269528"/>
                  <a:pt x="316557" y="278829"/>
                </a:cubicBezTo>
                <a:cubicBezTo>
                  <a:pt x="325859" y="288131"/>
                  <a:pt x="340965" y="288131"/>
                  <a:pt x="350267" y="278829"/>
                </a:cubicBezTo>
                <a:lnTo>
                  <a:pt x="421704" y="207392"/>
                </a:lnTo>
                <a:cubicBezTo>
                  <a:pt x="431006" y="198090"/>
                  <a:pt x="431006" y="182984"/>
                  <a:pt x="421704" y="173682"/>
                </a:cubicBezTo>
                <a:lnTo>
                  <a:pt x="350267" y="102245"/>
                </a:lnTo>
                <a:cubicBezTo>
                  <a:pt x="340965" y="92943"/>
                  <a:pt x="325859" y="92943"/>
                  <a:pt x="316557" y="102245"/>
                </a:cubicBezTo>
                <a:close/>
                <a:moveTo>
                  <a:pt x="112142" y="102171"/>
                </a:moveTo>
                <a:cubicBezTo>
                  <a:pt x="102840" y="92869"/>
                  <a:pt x="87734" y="92869"/>
                  <a:pt x="78432" y="102171"/>
                </a:cubicBezTo>
                <a:lnTo>
                  <a:pt x="6995" y="173608"/>
                </a:lnTo>
                <a:cubicBezTo>
                  <a:pt x="-2307" y="182910"/>
                  <a:pt x="-2307" y="198016"/>
                  <a:pt x="6995" y="207318"/>
                </a:cubicBezTo>
                <a:lnTo>
                  <a:pt x="78432" y="278755"/>
                </a:lnTo>
                <a:cubicBezTo>
                  <a:pt x="87734" y="288057"/>
                  <a:pt x="102840" y="288057"/>
                  <a:pt x="112142" y="278755"/>
                </a:cubicBezTo>
                <a:cubicBezTo>
                  <a:pt x="121444" y="269453"/>
                  <a:pt x="121444" y="254347"/>
                  <a:pt x="112142" y="245046"/>
                </a:cubicBezTo>
                <a:lnTo>
                  <a:pt x="57522" y="190500"/>
                </a:lnTo>
                <a:lnTo>
                  <a:pt x="112068" y="135880"/>
                </a:lnTo>
                <a:cubicBezTo>
                  <a:pt x="121369" y="126578"/>
                  <a:pt x="121369" y="111472"/>
                  <a:pt x="112068" y="102171"/>
                </a:cubicBezTo>
                <a:close/>
              </a:path>
            </a:pathLst>
          </a:custGeom>
          <a:solidFill>
            <a:srgbClr val="4C7E9A"/>
          </a:solidFill>
          <a:ln/>
        </p:spPr>
      </p:sp>
      <p:sp>
        <p:nvSpPr>
          <p:cNvPr id="14" name="Text 11"/>
          <p:cNvSpPr/>
          <p:nvPr/>
        </p:nvSpPr>
        <p:spPr>
          <a:xfrm>
            <a:off x="3692723" y="6794500"/>
            <a:ext cx="23495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实战代码</a:t>
            </a:r>
            <a:endParaRPr lang="en-US" sz="1600" dirty="0"/>
          </a:p>
        </p:txBody>
      </p:sp>
    </p:spTree>
  </p:cSld>
  <p:clrMapOvr>
    <a:masterClrMapping/>
  </p:clrMapOvr>
  <p:transition>
    <p:fade/>
    <p:spd val="med"/>
  </p:transition>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53129" y="453129"/>
            <a:ext cx="15440368" cy="271877"/>
          </a:xfrm>
          <a:prstGeom prst="rect">
            <a:avLst/>
          </a:prstGeom>
          <a:noFill/>
          <a:ln/>
        </p:spPr>
        <p:txBody>
          <a:bodyPr wrap="square" lIns="0" tIns="0" rIns="0" bIns="0" rtlCol="0" anchor="ctr"/>
          <a:lstStyle/>
          <a:p>
            <a:pPr>
              <a:lnSpc>
                <a:spcPct val="130000"/>
              </a:lnSpc>
            </a:pPr>
            <a:r>
              <a:rPr lang="en-US" sz="1427" b="1" spc="71" kern="0" dirty="0">
                <a:solidFill>
                  <a:srgbClr val="7E9AA8"/>
                </a:solidFill>
                <a:latin typeface="MiSans" pitchFamily="34" charset="0"/>
                <a:ea typeface="MiSans" pitchFamily="34" charset="-122"/>
                <a:cs typeface="MiSans" pitchFamily="34" charset="-120"/>
              </a:rPr>
              <a:t>GBDT</a:t>
            </a:r>
            <a:endParaRPr lang="en-US" sz="1600" dirty="0"/>
          </a:p>
        </p:txBody>
      </p:sp>
      <p:sp>
        <p:nvSpPr>
          <p:cNvPr id="3" name="Text 1"/>
          <p:cNvSpPr/>
          <p:nvPr/>
        </p:nvSpPr>
        <p:spPr>
          <a:xfrm>
            <a:off x="453129" y="815632"/>
            <a:ext cx="15553650" cy="453129"/>
          </a:xfrm>
          <a:prstGeom prst="rect">
            <a:avLst/>
          </a:prstGeom>
          <a:noFill/>
          <a:ln/>
        </p:spPr>
        <p:txBody>
          <a:bodyPr wrap="square" lIns="0" tIns="0" rIns="0" bIns="0" rtlCol="0" anchor="ctr"/>
          <a:lstStyle/>
          <a:p>
            <a:pPr>
              <a:lnSpc>
                <a:spcPct val="90000"/>
              </a:lnSpc>
            </a:pPr>
            <a:r>
              <a:rPr lang="en-US" sz="3211" b="1" dirty="0">
                <a:solidFill>
                  <a:srgbClr val="D1D5DB"/>
                </a:solidFill>
                <a:latin typeface="阿里妈妈数黑体" pitchFamily="34" charset="0"/>
                <a:ea typeface="阿里妈妈数黑体" pitchFamily="34" charset="-122"/>
                <a:cs typeface="阿里妈妈数黑体" pitchFamily="34" charset="-120"/>
              </a:rPr>
              <a:t>GBDT核心定义</a:t>
            </a:r>
            <a:endParaRPr lang="en-US" sz="1600" dirty="0"/>
          </a:p>
        </p:txBody>
      </p:sp>
      <p:sp>
        <p:nvSpPr>
          <p:cNvPr id="4" name="Shape 2"/>
          <p:cNvSpPr/>
          <p:nvPr/>
        </p:nvSpPr>
        <p:spPr>
          <a:xfrm>
            <a:off x="453129" y="1404700"/>
            <a:ext cx="1087509" cy="45313"/>
          </a:xfrm>
          <a:custGeom>
            <a:avLst/>
            <a:gdLst/>
            <a:ahLst/>
            <a:cxnLst/>
            <a:rect l="l" t="t" r="r" b="b"/>
            <a:pathLst>
              <a:path w="1087509" h="45313">
                <a:moveTo>
                  <a:pt x="0" y="0"/>
                </a:moveTo>
                <a:lnTo>
                  <a:pt x="1087509" y="0"/>
                </a:lnTo>
                <a:lnTo>
                  <a:pt x="1087509" y="45313"/>
                </a:lnTo>
                <a:lnTo>
                  <a:pt x="0" y="45313"/>
                </a:lnTo>
                <a:lnTo>
                  <a:pt x="0" y="0"/>
                </a:lnTo>
                <a:close/>
              </a:path>
            </a:pathLst>
          </a:custGeom>
          <a:solidFill>
            <a:srgbClr val="4C7E9A"/>
          </a:solidFill>
          <a:ln/>
        </p:spPr>
      </p:sp>
      <p:sp>
        <p:nvSpPr>
          <p:cNvPr id="5" name="Shape 3"/>
          <p:cNvSpPr/>
          <p:nvPr/>
        </p:nvSpPr>
        <p:spPr>
          <a:xfrm>
            <a:off x="475785" y="1631264"/>
            <a:ext cx="7533268" cy="2209003"/>
          </a:xfrm>
          <a:custGeom>
            <a:avLst/>
            <a:gdLst/>
            <a:ahLst/>
            <a:cxnLst/>
            <a:rect l="l" t="t" r="r" b="b"/>
            <a:pathLst>
              <a:path w="7533268" h="2209003">
                <a:moveTo>
                  <a:pt x="45313" y="0"/>
                </a:moveTo>
                <a:lnTo>
                  <a:pt x="7442633" y="0"/>
                </a:lnTo>
                <a:cubicBezTo>
                  <a:pt x="7492689" y="0"/>
                  <a:pt x="7533268" y="40579"/>
                  <a:pt x="7533268" y="90635"/>
                </a:cubicBezTo>
                <a:lnTo>
                  <a:pt x="7533268" y="2118368"/>
                </a:lnTo>
                <a:cubicBezTo>
                  <a:pt x="7533268" y="2168425"/>
                  <a:pt x="7492689" y="2209003"/>
                  <a:pt x="7442633" y="2209003"/>
                </a:cubicBezTo>
                <a:lnTo>
                  <a:pt x="45313" y="2209003"/>
                </a:lnTo>
                <a:cubicBezTo>
                  <a:pt x="20304" y="2209003"/>
                  <a:pt x="0" y="2188699"/>
                  <a:pt x="0" y="2163691"/>
                </a:cubicBezTo>
                <a:lnTo>
                  <a:pt x="0" y="45313"/>
                </a:lnTo>
                <a:cubicBezTo>
                  <a:pt x="0" y="20304"/>
                  <a:pt x="20304" y="0"/>
                  <a:pt x="45313" y="0"/>
                </a:cubicBezTo>
                <a:close/>
              </a:path>
            </a:pathLst>
          </a:custGeom>
          <a:solidFill>
            <a:srgbClr val="3A5E78">
              <a:alpha val="20000"/>
            </a:srgbClr>
          </a:solidFill>
          <a:ln/>
        </p:spPr>
      </p:sp>
      <p:sp>
        <p:nvSpPr>
          <p:cNvPr id="6" name="Shape 4"/>
          <p:cNvSpPr/>
          <p:nvPr/>
        </p:nvSpPr>
        <p:spPr>
          <a:xfrm>
            <a:off x="475785" y="1631264"/>
            <a:ext cx="45313" cy="2209003"/>
          </a:xfrm>
          <a:custGeom>
            <a:avLst/>
            <a:gdLst/>
            <a:ahLst/>
            <a:cxnLst/>
            <a:rect l="l" t="t" r="r" b="b"/>
            <a:pathLst>
              <a:path w="45313" h="2209003">
                <a:moveTo>
                  <a:pt x="45313" y="0"/>
                </a:moveTo>
                <a:lnTo>
                  <a:pt x="45313" y="0"/>
                </a:lnTo>
                <a:lnTo>
                  <a:pt x="45313" y="2209003"/>
                </a:lnTo>
                <a:lnTo>
                  <a:pt x="45313" y="2209003"/>
                </a:lnTo>
                <a:cubicBezTo>
                  <a:pt x="20304" y="2209003"/>
                  <a:pt x="0" y="2188699"/>
                  <a:pt x="0" y="2163691"/>
                </a:cubicBezTo>
                <a:lnTo>
                  <a:pt x="0" y="45313"/>
                </a:lnTo>
                <a:cubicBezTo>
                  <a:pt x="0" y="20304"/>
                  <a:pt x="20304" y="0"/>
                  <a:pt x="45313" y="0"/>
                </a:cubicBezTo>
                <a:close/>
              </a:path>
            </a:pathLst>
          </a:custGeom>
          <a:solidFill>
            <a:srgbClr val="4C7E9A"/>
          </a:solidFill>
          <a:ln/>
        </p:spPr>
      </p:sp>
      <p:sp>
        <p:nvSpPr>
          <p:cNvPr id="7" name="Text 5"/>
          <p:cNvSpPr/>
          <p:nvPr/>
        </p:nvSpPr>
        <p:spPr>
          <a:xfrm>
            <a:off x="679693" y="1812516"/>
            <a:ext cx="7284047" cy="362503"/>
          </a:xfrm>
          <a:prstGeom prst="rect">
            <a:avLst/>
          </a:prstGeom>
          <a:noFill/>
          <a:ln/>
        </p:spPr>
        <p:txBody>
          <a:bodyPr wrap="square" lIns="0" tIns="0" rIns="0" bIns="0" rtlCol="0" anchor="ctr"/>
          <a:lstStyle/>
          <a:p>
            <a:pPr>
              <a:lnSpc>
                <a:spcPct val="110000"/>
              </a:lnSpc>
            </a:pPr>
            <a:r>
              <a:rPr lang="en-US" sz="2141" b="1" dirty="0">
                <a:solidFill>
                  <a:srgbClr val="4C7E9A"/>
                </a:solidFill>
                <a:latin typeface="MiSans" pitchFamily="34" charset="0"/>
                <a:ea typeface="MiSans" pitchFamily="34" charset="-122"/>
                <a:cs typeface="MiSans" pitchFamily="34" charset="-120"/>
              </a:rPr>
              <a:t>算法定义</a:t>
            </a:r>
            <a:endParaRPr lang="en-US" sz="1600" dirty="0"/>
          </a:p>
        </p:txBody>
      </p:sp>
      <p:sp>
        <p:nvSpPr>
          <p:cNvPr id="8" name="Text 6"/>
          <p:cNvSpPr/>
          <p:nvPr/>
        </p:nvSpPr>
        <p:spPr>
          <a:xfrm>
            <a:off x="679693" y="2310957"/>
            <a:ext cx="7250063" cy="668365"/>
          </a:xfrm>
          <a:prstGeom prst="rect">
            <a:avLst/>
          </a:prstGeom>
          <a:noFill/>
          <a:ln/>
        </p:spPr>
        <p:txBody>
          <a:bodyPr wrap="square" lIns="0" tIns="0" rIns="0" bIns="0" rtlCol="0" anchor="ctr"/>
          <a:lstStyle/>
          <a:p>
            <a:pPr>
              <a:lnSpc>
                <a:spcPct val="140000"/>
              </a:lnSpc>
            </a:pPr>
            <a:r>
              <a:rPr lang="en-US" sz="1606" dirty="0">
                <a:solidFill>
                  <a:srgbClr val="D1D5DB"/>
                </a:solidFill>
                <a:latin typeface="MiSans" pitchFamily="34" charset="0"/>
                <a:ea typeface="MiSans" pitchFamily="34" charset="-122"/>
                <a:cs typeface="MiSans" pitchFamily="34" charset="-120"/>
              </a:rPr>
              <a:t>GBDT（Gradient Boosting Decision Tree）是基于Boosting集成思想的</a:t>
            </a:r>
            <a:pPr>
              <a:lnSpc>
                <a:spcPct val="140000"/>
              </a:lnSpc>
            </a:pPr>
            <a:r>
              <a:rPr lang="en-US" sz="1606" b="1" dirty="0">
                <a:solidFill>
                  <a:srgbClr val="4C7E9A"/>
                </a:solidFill>
                <a:latin typeface="MiSans" pitchFamily="34" charset="0"/>
                <a:ea typeface="MiSans" pitchFamily="34" charset="-122"/>
                <a:cs typeface="MiSans" pitchFamily="34" charset="-120"/>
              </a:rPr>
              <a:t>加法模型</a:t>
            </a:r>
            <a:pPr>
              <a:lnSpc>
                <a:spcPct val="140000"/>
              </a:lnSpc>
            </a:pPr>
            <a:r>
              <a:rPr lang="en-US" sz="1606" dirty="0">
                <a:solidFill>
                  <a:srgbClr val="D1D5DB"/>
                </a:solidFill>
                <a:latin typeface="MiSans" pitchFamily="34" charset="0"/>
                <a:ea typeface="MiSans" pitchFamily="34" charset="-122"/>
                <a:cs typeface="MiSans" pitchFamily="34" charset="-120"/>
              </a:rPr>
              <a:t>。通过构建多个决策树逐步修正之前模型的错误，提升整体预测性能。</a:t>
            </a:r>
            <a:endParaRPr lang="en-US" sz="1600" dirty="0"/>
          </a:p>
        </p:txBody>
      </p:sp>
      <p:sp>
        <p:nvSpPr>
          <p:cNvPr id="9" name="Shape 7"/>
          <p:cNvSpPr/>
          <p:nvPr/>
        </p:nvSpPr>
        <p:spPr>
          <a:xfrm>
            <a:off x="679693" y="3109597"/>
            <a:ext cx="7148109" cy="543755"/>
          </a:xfrm>
          <a:custGeom>
            <a:avLst/>
            <a:gdLst/>
            <a:ahLst/>
            <a:cxnLst/>
            <a:rect l="l" t="t" r="r" b="b"/>
            <a:pathLst>
              <a:path w="7148109" h="543755">
                <a:moveTo>
                  <a:pt x="90628" y="0"/>
                </a:moveTo>
                <a:lnTo>
                  <a:pt x="7057481" y="0"/>
                </a:lnTo>
                <a:cubicBezTo>
                  <a:pt x="7107533" y="0"/>
                  <a:pt x="7148109" y="40575"/>
                  <a:pt x="7148109" y="90628"/>
                </a:cubicBezTo>
                <a:lnTo>
                  <a:pt x="7148109" y="453127"/>
                </a:lnTo>
                <a:cubicBezTo>
                  <a:pt x="7148109" y="503179"/>
                  <a:pt x="7107533" y="543755"/>
                  <a:pt x="7057481" y="543755"/>
                </a:cubicBezTo>
                <a:lnTo>
                  <a:pt x="90628" y="543755"/>
                </a:lnTo>
                <a:cubicBezTo>
                  <a:pt x="40575" y="543755"/>
                  <a:pt x="0" y="503179"/>
                  <a:pt x="0" y="453127"/>
                </a:cubicBezTo>
                <a:lnTo>
                  <a:pt x="0" y="90628"/>
                </a:lnTo>
                <a:cubicBezTo>
                  <a:pt x="0" y="40609"/>
                  <a:pt x="40609" y="0"/>
                  <a:pt x="90628" y="0"/>
                </a:cubicBezTo>
                <a:close/>
              </a:path>
            </a:pathLst>
          </a:custGeom>
          <a:solidFill>
            <a:srgbClr val="181A1F">
              <a:alpha val="50196"/>
            </a:srgbClr>
          </a:solidFill>
          <a:ln/>
        </p:spPr>
      </p:sp>
      <p:sp>
        <p:nvSpPr>
          <p:cNvPr id="10" name="Shape 8"/>
          <p:cNvSpPr/>
          <p:nvPr/>
        </p:nvSpPr>
        <p:spPr>
          <a:xfrm>
            <a:off x="860945" y="3296513"/>
            <a:ext cx="135939" cy="181252"/>
          </a:xfrm>
          <a:custGeom>
            <a:avLst/>
            <a:gdLst/>
            <a:ahLst/>
            <a:cxnLst/>
            <a:rect l="l" t="t" r="r" b="b"/>
            <a:pathLst>
              <a:path w="135939" h="181252">
                <a:moveTo>
                  <a:pt x="103689" y="135939"/>
                </a:moveTo>
                <a:cubicBezTo>
                  <a:pt x="106273" y="128044"/>
                  <a:pt x="111441" y="120893"/>
                  <a:pt x="117283" y="114734"/>
                </a:cubicBezTo>
                <a:cubicBezTo>
                  <a:pt x="128859" y="102556"/>
                  <a:pt x="135939" y="86094"/>
                  <a:pt x="135939" y="67969"/>
                </a:cubicBezTo>
                <a:cubicBezTo>
                  <a:pt x="135939" y="30445"/>
                  <a:pt x="105494" y="0"/>
                  <a:pt x="67969" y="0"/>
                </a:cubicBezTo>
                <a:cubicBezTo>
                  <a:pt x="30445" y="0"/>
                  <a:pt x="0" y="30445"/>
                  <a:pt x="0" y="67969"/>
                </a:cubicBezTo>
                <a:cubicBezTo>
                  <a:pt x="0" y="86094"/>
                  <a:pt x="7080" y="102556"/>
                  <a:pt x="18656" y="114734"/>
                </a:cubicBezTo>
                <a:cubicBezTo>
                  <a:pt x="24497" y="120893"/>
                  <a:pt x="29701" y="128044"/>
                  <a:pt x="32250" y="135939"/>
                </a:cubicBezTo>
                <a:lnTo>
                  <a:pt x="103653" y="135939"/>
                </a:lnTo>
                <a:close/>
                <a:moveTo>
                  <a:pt x="101954" y="152931"/>
                </a:moveTo>
                <a:lnTo>
                  <a:pt x="33985" y="152931"/>
                </a:lnTo>
                <a:lnTo>
                  <a:pt x="33985" y="158595"/>
                </a:lnTo>
                <a:cubicBezTo>
                  <a:pt x="33985" y="174242"/>
                  <a:pt x="46658" y="186916"/>
                  <a:pt x="62305" y="186916"/>
                </a:cubicBezTo>
                <a:lnTo>
                  <a:pt x="73633" y="186916"/>
                </a:lnTo>
                <a:cubicBezTo>
                  <a:pt x="89281" y="186916"/>
                  <a:pt x="101954" y="174242"/>
                  <a:pt x="101954" y="158595"/>
                </a:cubicBezTo>
                <a:lnTo>
                  <a:pt x="101954" y="152931"/>
                </a:lnTo>
                <a:close/>
                <a:moveTo>
                  <a:pt x="65137" y="39649"/>
                </a:moveTo>
                <a:cubicBezTo>
                  <a:pt x="51048" y="39649"/>
                  <a:pt x="39649" y="51048"/>
                  <a:pt x="39649" y="65137"/>
                </a:cubicBezTo>
                <a:cubicBezTo>
                  <a:pt x="39649" y="69846"/>
                  <a:pt x="35861" y="73633"/>
                  <a:pt x="31153" y="73633"/>
                </a:cubicBezTo>
                <a:cubicBezTo>
                  <a:pt x="26444" y="73633"/>
                  <a:pt x="22656" y="69846"/>
                  <a:pt x="22656" y="65137"/>
                </a:cubicBezTo>
                <a:cubicBezTo>
                  <a:pt x="22656" y="41667"/>
                  <a:pt x="41667" y="22656"/>
                  <a:pt x="65137" y="22656"/>
                </a:cubicBezTo>
                <a:cubicBezTo>
                  <a:pt x="69846" y="22656"/>
                  <a:pt x="73633" y="26444"/>
                  <a:pt x="73633" y="31153"/>
                </a:cubicBezTo>
                <a:cubicBezTo>
                  <a:pt x="73633" y="35861"/>
                  <a:pt x="69846" y="39649"/>
                  <a:pt x="65137" y="39649"/>
                </a:cubicBezTo>
                <a:close/>
              </a:path>
            </a:pathLst>
          </a:custGeom>
          <a:solidFill>
            <a:srgbClr val="4C7E9A"/>
          </a:solidFill>
          <a:ln/>
        </p:spPr>
      </p:sp>
      <p:sp>
        <p:nvSpPr>
          <p:cNvPr id="11" name="Text 9"/>
          <p:cNvSpPr/>
          <p:nvPr/>
        </p:nvSpPr>
        <p:spPr>
          <a:xfrm>
            <a:off x="1123033" y="3245536"/>
            <a:ext cx="6659456" cy="271877"/>
          </a:xfrm>
          <a:prstGeom prst="rect">
            <a:avLst/>
          </a:prstGeom>
          <a:noFill/>
          <a:ln/>
        </p:spPr>
        <p:txBody>
          <a:bodyPr wrap="square" lIns="0" tIns="0" rIns="0" bIns="0" rtlCol="0" anchor="ctr"/>
          <a:lstStyle/>
          <a:p>
            <a:pPr>
              <a:lnSpc>
                <a:spcPct val="130000"/>
              </a:lnSpc>
            </a:pPr>
            <a:r>
              <a:rPr lang="en-US" sz="1427" dirty="0">
                <a:solidFill>
                  <a:srgbClr val="7E9AA8"/>
                </a:solidFill>
                <a:latin typeface="MiSans" pitchFamily="34" charset="0"/>
                <a:ea typeface="MiSans" pitchFamily="34" charset="-122"/>
                <a:cs typeface="MiSans" pitchFamily="34" charset="-120"/>
              </a:rPr>
              <a:t>核心思想：通过拟合残差来逐步优化模型</a:t>
            </a:r>
            <a:endParaRPr lang="en-US" sz="1600" dirty="0"/>
          </a:p>
        </p:txBody>
      </p:sp>
      <p:sp>
        <p:nvSpPr>
          <p:cNvPr id="12" name="Shape 10"/>
          <p:cNvSpPr/>
          <p:nvPr/>
        </p:nvSpPr>
        <p:spPr>
          <a:xfrm>
            <a:off x="475785" y="4015855"/>
            <a:ext cx="7533268" cy="4032847"/>
          </a:xfrm>
          <a:custGeom>
            <a:avLst/>
            <a:gdLst/>
            <a:ahLst/>
            <a:cxnLst/>
            <a:rect l="l" t="t" r="r" b="b"/>
            <a:pathLst>
              <a:path w="7533268" h="4032847">
                <a:moveTo>
                  <a:pt x="45313" y="0"/>
                </a:moveTo>
                <a:lnTo>
                  <a:pt x="7442650" y="0"/>
                </a:lnTo>
                <a:cubicBezTo>
                  <a:pt x="7492697" y="0"/>
                  <a:pt x="7533268" y="40571"/>
                  <a:pt x="7533268" y="90618"/>
                </a:cubicBezTo>
                <a:lnTo>
                  <a:pt x="7533268" y="3942229"/>
                </a:lnTo>
                <a:cubicBezTo>
                  <a:pt x="7533268" y="3992276"/>
                  <a:pt x="7492697" y="4032847"/>
                  <a:pt x="7442650" y="4032847"/>
                </a:cubicBezTo>
                <a:lnTo>
                  <a:pt x="45313" y="4032847"/>
                </a:lnTo>
                <a:cubicBezTo>
                  <a:pt x="20287" y="4032847"/>
                  <a:pt x="0" y="4012560"/>
                  <a:pt x="0" y="3987534"/>
                </a:cubicBezTo>
                <a:lnTo>
                  <a:pt x="0" y="45313"/>
                </a:lnTo>
                <a:cubicBezTo>
                  <a:pt x="0" y="20304"/>
                  <a:pt x="20304" y="0"/>
                  <a:pt x="45313" y="0"/>
                </a:cubicBezTo>
                <a:close/>
              </a:path>
            </a:pathLst>
          </a:custGeom>
          <a:solidFill>
            <a:srgbClr val="3A5E78">
              <a:alpha val="20000"/>
            </a:srgbClr>
          </a:solidFill>
          <a:ln/>
        </p:spPr>
      </p:sp>
      <p:sp>
        <p:nvSpPr>
          <p:cNvPr id="13" name="Shape 11"/>
          <p:cNvSpPr/>
          <p:nvPr/>
        </p:nvSpPr>
        <p:spPr>
          <a:xfrm>
            <a:off x="475785" y="4015855"/>
            <a:ext cx="45313" cy="4032847"/>
          </a:xfrm>
          <a:custGeom>
            <a:avLst/>
            <a:gdLst/>
            <a:ahLst/>
            <a:cxnLst/>
            <a:rect l="l" t="t" r="r" b="b"/>
            <a:pathLst>
              <a:path w="45313" h="4032847">
                <a:moveTo>
                  <a:pt x="45313" y="0"/>
                </a:moveTo>
                <a:lnTo>
                  <a:pt x="45313" y="0"/>
                </a:lnTo>
                <a:lnTo>
                  <a:pt x="45313" y="4032847"/>
                </a:lnTo>
                <a:lnTo>
                  <a:pt x="45313" y="4032847"/>
                </a:lnTo>
                <a:cubicBezTo>
                  <a:pt x="20287" y="4032847"/>
                  <a:pt x="0" y="4012560"/>
                  <a:pt x="0" y="3987534"/>
                </a:cubicBezTo>
                <a:lnTo>
                  <a:pt x="0" y="45313"/>
                </a:lnTo>
                <a:cubicBezTo>
                  <a:pt x="0" y="20304"/>
                  <a:pt x="20304" y="0"/>
                  <a:pt x="45313" y="0"/>
                </a:cubicBezTo>
                <a:close/>
              </a:path>
            </a:pathLst>
          </a:custGeom>
          <a:solidFill>
            <a:srgbClr val="7E9AA8"/>
          </a:solidFill>
          <a:ln/>
        </p:spPr>
      </p:sp>
      <p:sp>
        <p:nvSpPr>
          <p:cNvPr id="14" name="Text 12"/>
          <p:cNvSpPr/>
          <p:nvPr/>
        </p:nvSpPr>
        <p:spPr>
          <a:xfrm>
            <a:off x="679693" y="4197107"/>
            <a:ext cx="7284047" cy="362503"/>
          </a:xfrm>
          <a:prstGeom prst="rect">
            <a:avLst/>
          </a:prstGeom>
          <a:noFill/>
          <a:ln/>
        </p:spPr>
        <p:txBody>
          <a:bodyPr wrap="square" lIns="0" tIns="0" rIns="0" bIns="0" rtlCol="0" anchor="ctr"/>
          <a:lstStyle/>
          <a:p>
            <a:pPr>
              <a:lnSpc>
                <a:spcPct val="110000"/>
              </a:lnSpc>
            </a:pPr>
            <a:r>
              <a:rPr lang="en-US" sz="2141" b="1" dirty="0">
                <a:solidFill>
                  <a:srgbClr val="7E9AA8"/>
                </a:solidFill>
                <a:latin typeface="MiSans" pitchFamily="34" charset="0"/>
                <a:ea typeface="MiSans" pitchFamily="34" charset="-122"/>
                <a:cs typeface="MiSans" pitchFamily="34" charset="-120"/>
              </a:rPr>
              <a:t>数学原理</a:t>
            </a:r>
            <a:endParaRPr lang="en-US" sz="1600" dirty="0"/>
          </a:p>
        </p:txBody>
      </p:sp>
      <p:sp>
        <p:nvSpPr>
          <p:cNvPr id="15" name="Shape 13"/>
          <p:cNvSpPr/>
          <p:nvPr/>
        </p:nvSpPr>
        <p:spPr>
          <a:xfrm>
            <a:off x="679693" y="4695548"/>
            <a:ext cx="7148109" cy="1359387"/>
          </a:xfrm>
          <a:custGeom>
            <a:avLst/>
            <a:gdLst/>
            <a:ahLst/>
            <a:cxnLst/>
            <a:rect l="l" t="t" r="r" b="b"/>
            <a:pathLst>
              <a:path w="7148109" h="1359387">
                <a:moveTo>
                  <a:pt x="45308" y="0"/>
                </a:moveTo>
                <a:lnTo>
                  <a:pt x="7102800" y="0"/>
                </a:lnTo>
                <a:cubicBezTo>
                  <a:pt x="7127823" y="0"/>
                  <a:pt x="7148109" y="20285"/>
                  <a:pt x="7148109" y="45308"/>
                </a:cubicBezTo>
                <a:lnTo>
                  <a:pt x="7148109" y="1314078"/>
                </a:lnTo>
                <a:cubicBezTo>
                  <a:pt x="7148109" y="1339102"/>
                  <a:pt x="7127823" y="1359387"/>
                  <a:pt x="7102800" y="1359387"/>
                </a:cubicBezTo>
                <a:lnTo>
                  <a:pt x="45308" y="1359387"/>
                </a:lnTo>
                <a:cubicBezTo>
                  <a:pt x="20285" y="1359387"/>
                  <a:pt x="0" y="1339102"/>
                  <a:pt x="0" y="1314078"/>
                </a:cubicBezTo>
                <a:lnTo>
                  <a:pt x="0" y="45308"/>
                </a:lnTo>
                <a:cubicBezTo>
                  <a:pt x="0" y="20302"/>
                  <a:pt x="20302" y="0"/>
                  <a:pt x="45308" y="0"/>
                </a:cubicBezTo>
                <a:close/>
              </a:path>
            </a:pathLst>
          </a:custGeom>
          <a:solidFill>
            <a:srgbClr val="181A1F">
              <a:alpha val="50196"/>
            </a:srgbClr>
          </a:solidFill>
          <a:ln/>
        </p:spPr>
      </p:sp>
      <p:sp>
        <p:nvSpPr>
          <p:cNvPr id="16" name="Text 14"/>
          <p:cNvSpPr/>
          <p:nvPr/>
        </p:nvSpPr>
        <p:spPr>
          <a:xfrm>
            <a:off x="815632" y="4831487"/>
            <a:ext cx="6978185" cy="317190"/>
          </a:xfrm>
          <a:prstGeom prst="rect">
            <a:avLst/>
          </a:prstGeom>
          <a:noFill/>
          <a:ln/>
        </p:spPr>
        <p:txBody>
          <a:bodyPr wrap="square" lIns="0" tIns="0" rIns="0" bIns="0" rtlCol="0" anchor="ctr"/>
          <a:lstStyle/>
          <a:p>
            <a:pPr>
              <a:lnSpc>
                <a:spcPct val="130000"/>
              </a:lnSpc>
            </a:pPr>
            <a:r>
              <a:rPr lang="en-US" sz="1606" b="1" dirty="0">
                <a:solidFill>
                  <a:srgbClr val="D1D5DB"/>
                </a:solidFill>
                <a:latin typeface="MiSans" pitchFamily="34" charset="0"/>
                <a:ea typeface="MiSans" pitchFamily="34" charset="-122"/>
                <a:cs typeface="MiSans" pitchFamily="34" charset="-120"/>
              </a:rPr>
              <a:t>初始化模型</a:t>
            </a:r>
            <a:endParaRPr lang="en-US" sz="1600" dirty="0"/>
          </a:p>
        </p:txBody>
      </p:sp>
      <p:sp>
        <p:nvSpPr>
          <p:cNvPr id="17" name="Text 15"/>
          <p:cNvSpPr/>
          <p:nvPr/>
        </p:nvSpPr>
        <p:spPr>
          <a:xfrm>
            <a:off x="815632" y="5193990"/>
            <a:ext cx="6955529" cy="226564"/>
          </a:xfrm>
          <a:prstGeom prst="rect">
            <a:avLst/>
          </a:prstGeom>
          <a:noFill/>
          <a:ln/>
        </p:spPr>
        <p:txBody>
          <a:bodyPr wrap="square" lIns="0" tIns="0" rIns="0" bIns="0" rtlCol="0" anchor="ctr"/>
          <a:lstStyle/>
          <a:p>
            <a:pPr>
              <a:lnSpc>
                <a:spcPct val="120000"/>
              </a:lnSpc>
            </a:pPr>
            <a:r>
              <a:rPr lang="en-US" sz="1249" dirty="0">
                <a:solidFill>
                  <a:srgbClr val="7E9AA8"/>
                </a:solidFill>
                <a:latin typeface="MiSans" pitchFamily="34" charset="0"/>
                <a:ea typeface="MiSans" pitchFamily="34" charset="-122"/>
                <a:cs typeface="MiSans" pitchFamily="34" charset="-120"/>
              </a:rPr>
              <a:t>使用损失函数最小化确定常数起点</a:t>
            </a:r>
            <a:endParaRPr lang="en-US" sz="1600" dirty="0"/>
          </a:p>
        </p:txBody>
      </p:sp>
      <p:sp>
        <p:nvSpPr>
          <p:cNvPr id="18" name="Shape 16"/>
          <p:cNvSpPr/>
          <p:nvPr/>
        </p:nvSpPr>
        <p:spPr>
          <a:xfrm>
            <a:off x="815632" y="5511180"/>
            <a:ext cx="6876231" cy="407816"/>
          </a:xfrm>
          <a:custGeom>
            <a:avLst/>
            <a:gdLst/>
            <a:ahLst/>
            <a:cxnLst/>
            <a:rect l="l" t="t" r="r" b="b"/>
            <a:pathLst>
              <a:path w="6876231" h="407816">
                <a:moveTo>
                  <a:pt x="45312" y="0"/>
                </a:moveTo>
                <a:lnTo>
                  <a:pt x="6830919" y="0"/>
                </a:lnTo>
                <a:cubicBezTo>
                  <a:pt x="6855944" y="0"/>
                  <a:pt x="6876231" y="20287"/>
                  <a:pt x="6876231" y="45312"/>
                </a:cubicBezTo>
                <a:lnTo>
                  <a:pt x="6876231" y="362504"/>
                </a:lnTo>
                <a:cubicBezTo>
                  <a:pt x="6876231" y="387529"/>
                  <a:pt x="6855944" y="407816"/>
                  <a:pt x="6830919" y="407816"/>
                </a:cubicBezTo>
                <a:lnTo>
                  <a:pt x="45312" y="407816"/>
                </a:lnTo>
                <a:cubicBezTo>
                  <a:pt x="20287" y="407816"/>
                  <a:pt x="0" y="387529"/>
                  <a:pt x="0" y="362504"/>
                </a:cubicBezTo>
                <a:lnTo>
                  <a:pt x="0" y="45312"/>
                </a:lnTo>
                <a:cubicBezTo>
                  <a:pt x="0" y="20304"/>
                  <a:pt x="20304" y="0"/>
                  <a:pt x="45312" y="0"/>
                </a:cubicBezTo>
                <a:close/>
              </a:path>
            </a:pathLst>
          </a:custGeom>
          <a:solidFill>
            <a:srgbClr val="181A1F"/>
          </a:solidFill>
          <a:ln/>
        </p:spPr>
      </p:sp>
      <p:sp>
        <p:nvSpPr>
          <p:cNvPr id="19" name="Text 17"/>
          <p:cNvSpPr/>
          <p:nvPr/>
        </p:nvSpPr>
        <p:spPr>
          <a:xfrm>
            <a:off x="866609" y="5601806"/>
            <a:ext cx="6774277" cy="226564"/>
          </a:xfrm>
          <a:prstGeom prst="rect">
            <a:avLst/>
          </a:prstGeom>
          <a:noFill/>
          <a:ln/>
        </p:spPr>
        <p:txBody>
          <a:bodyPr wrap="square" lIns="0" tIns="0" rIns="0" bIns="0" rtlCol="0" anchor="ctr"/>
          <a:lstStyle/>
          <a:p>
            <a:pPr algn="ctr">
              <a:lnSpc>
                <a:spcPct val="120000"/>
              </a:lnSpc>
            </a:pPr>
            <a:r>
              <a:rPr lang="en-US" sz="1249" dirty="0">
                <a:solidFill>
                  <a:srgbClr val="7E9AA8"/>
                </a:solidFill>
                <a:latin typeface="MiSans" pitchFamily="34" charset="0"/>
                <a:ea typeface="MiSans" pitchFamily="34" charset="-122"/>
                <a:cs typeface="MiSans" pitchFamily="34" charset="-120"/>
              </a:rPr>
              <a:t>F₀(x) = argmin_c ∑ L(y_i, c)</a:t>
            </a:r>
            <a:endParaRPr lang="en-US" sz="1600" dirty="0"/>
          </a:p>
        </p:txBody>
      </p:sp>
      <p:sp>
        <p:nvSpPr>
          <p:cNvPr id="20" name="Shape 18"/>
          <p:cNvSpPr/>
          <p:nvPr/>
        </p:nvSpPr>
        <p:spPr>
          <a:xfrm>
            <a:off x="679693" y="6190874"/>
            <a:ext cx="7148109" cy="1676577"/>
          </a:xfrm>
          <a:custGeom>
            <a:avLst/>
            <a:gdLst/>
            <a:ahLst/>
            <a:cxnLst/>
            <a:rect l="l" t="t" r="r" b="b"/>
            <a:pathLst>
              <a:path w="7148109" h="1676577">
                <a:moveTo>
                  <a:pt x="45318" y="0"/>
                </a:moveTo>
                <a:lnTo>
                  <a:pt x="7102791" y="0"/>
                </a:lnTo>
                <a:cubicBezTo>
                  <a:pt x="7127819" y="0"/>
                  <a:pt x="7148109" y="20290"/>
                  <a:pt x="7148109" y="45318"/>
                </a:cubicBezTo>
                <a:lnTo>
                  <a:pt x="7148109" y="1631259"/>
                </a:lnTo>
                <a:cubicBezTo>
                  <a:pt x="7148109" y="1656287"/>
                  <a:pt x="7127819" y="1676577"/>
                  <a:pt x="7102791" y="1676577"/>
                </a:cubicBezTo>
                <a:lnTo>
                  <a:pt x="45318" y="1676577"/>
                </a:lnTo>
                <a:cubicBezTo>
                  <a:pt x="20290" y="1676577"/>
                  <a:pt x="0" y="1656287"/>
                  <a:pt x="0" y="1631259"/>
                </a:cubicBezTo>
                <a:lnTo>
                  <a:pt x="0" y="45318"/>
                </a:lnTo>
                <a:cubicBezTo>
                  <a:pt x="0" y="20290"/>
                  <a:pt x="20290" y="0"/>
                  <a:pt x="45318" y="0"/>
                </a:cubicBezTo>
                <a:close/>
              </a:path>
            </a:pathLst>
          </a:custGeom>
          <a:solidFill>
            <a:srgbClr val="181A1F">
              <a:alpha val="50196"/>
            </a:srgbClr>
          </a:solidFill>
          <a:ln/>
        </p:spPr>
      </p:sp>
      <p:sp>
        <p:nvSpPr>
          <p:cNvPr id="21" name="Text 19"/>
          <p:cNvSpPr/>
          <p:nvPr/>
        </p:nvSpPr>
        <p:spPr>
          <a:xfrm>
            <a:off x="815632" y="6326813"/>
            <a:ext cx="6978185" cy="317190"/>
          </a:xfrm>
          <a:prstGeom prst="rect">
            <a:avLst/>
          </a:prstGeom>
          <a:noFill/>
          <a:ln/>
        </p:spPr>
        <p:txBody>
          <a:bodyPr wrap="square" lIns="0" tIns="0" rIns="0" bIns="0" rtlCol="0" anchor="ctr"/>
          <a:lstStyle/>
          <a:p>
            <a:pPr>
              <a:lnSpc>
                <a:spcPct val="130000"/>
              </a:lnSpc>
            </a:pPr>
            <a:r>
              <a:rPr lang="en-US" sz="1606" b="1" dirty="0">
                <a:solidFill>
                  <a:srgbClr val="D1D5DB"/>
                </a:solidFill>
                <a:latin typeface="MiSans" pitchFamily="34" charset="0"/>
                <a:ea typeface="MiSans" pitchFamily="34" charset="-122"/>
                <a:cs typeface="MiSans" pitchFamily="34" charset="-120"/>
              </a:rPr>
              <a:t>迭代过程</a:t>
            </a:r>
            <a:endParaRPr lang="en-US" sz="1600" dirty="0"/>
          </a:p>
        </p:txBody>
      </p:sp>
      <p:sp>
        <p:nvSpPr>
          <p:cNvPr id="22" name="Text 20"/>
          <p:cNvSpPr/>
          <p:nvPr/>
        </p:nvSpPr>
        <p:spPr>
          <a:xfrm>
            <a:off x="815632" y="6689316"/>
            <a:ext cx="6955529" cy="226564"/>
          </a:xfrm>
          <a:prstGeom prst="rect">
            <a:avLst/>
          </a:prstGeom>
          <a:noFill/>
          <a:ln/>
        </p:spPr>
        <p:txBody>
          <a:bodyPr wrap="square" lIns="0" tIns="0" rIns="0" bIns="0" rtlCol="0" anchor="ctr"/>
          <a:lstStyle/>
          <a:p>
            <a:pPr>
              <a:lnSpc>
                <a:spcPct val="120000"/>
              </a:lnSpc>
            </a:pPr>
            <a:r>
              <a:rPr lang="en-US" sz="1249" dirty="0">
                <a:solidFill>
                  <a:srgbClr val="7E9AA8"/>
                </a:solidFill>
                <a:latin typeface="MiSans" pitchFamily="34" charset="0"/>
                <a:ea typeface="MiSans" pitchFamily="34" charset="-122"/>
                <a:cs typeface="MiSans" pitchFamily="34" charset="-120"/>
              </a:rPr>
              <a:t>• 拟合残差：训练决策树拟合当前残差</a:t>
            </a:r>
            <a:endParaRPr lang="en-US" sz="1600" dirty="0"/>
          </a:p>
        </p:txBody>
      </p:sp>
      <p:sp>
        <p:nvSpPr>
          <p:cNvPr id="23" name="Text 21"/>
          <p:cNvSpPr/>
          <p:nvPr/>
        </p:nvSpPr>
        <p:spPr>
          <a:xfrm>
            <a:off x="815632" y="6961193"/>
            <a:ext cx="6955529" cy="226564"/>
          </a:xfrm>
          <a:prstGeom prst="rect">
            <a:avLst/>
          </a:prstGeom>
          <a:noFill/>
          <a:ln/>
        </p:spPr>
        <p:txBody>
          <a:bodyPr wrap="square" lIns="0" tIns="0" rIns="0" bIns="0" rtlCol="0" anchor="ctr"/>
          <a:lstStyle/>
          <a:p>
            <a:pPr>
              <a:lnSpc>
                <a:spcPct val="120000"/>
              </a:lnSpc>
            </a:pPr>
            <a:r>
              <a:rPr lang="en-US" sz="1249" dirty="0">
                <a:solidFill>
                  <a:srgbClr val="7E9AA8"/>
                </a:solidFill>
                <a:latin typeface="MiSans" pitchFamily="34" charset="0"/>
                <a:ea typeface="MiSans" pitchFamily="34" charset="-122"/>
                <a:cs typeface="MiSans" pitchFamily="34" charset="-120"/>
              </a:rPr>
              <a:t>• 计算步长：通过线搜索确定最优步长</a:t>
            </a:r>
            <a:endParaRPr lang="en-US" sz="1600" dirty="0"/>
          </a:p>
        </p:txBody>
      </p:sp>
      <p:sp>
        <p:nvSpPr>
          <p:cNvPr id="24" name="Text 22"/>
          <p:cNvSpPr/>
          <p:nvPr/>
        </p:nvSpPr>
        <p:spPr>
          <a:xfrm>
            <a:off x="815632" y="7233070"/>
            <a:ext cx="6955529" cy="226564"/>
          </a:xfrm>
          <a:prstGeom prst="rect">
            <a:avLst/>
          </a:prstGeom>
          <a:noFill/>
          <a:ln/>
        </p:spPr>
        <p:txBody>
          <a:bodyPr wrap="square" lIns="0" tIns="0" rIns="0" bIns="0" rtlCol="0" anchor="ctr"/>
          <a:lstStyle/>
          <a:p>
            <a:pPr>
              <a:lnSpc>
                <a:spcPct val="120000"/>
              </a:lnSpc>
            </a:pPr>
            <a:r>
              <a:rPr lang="en-US" sz="1249" dirty="0">
                <a:solidFill>
                  <a:srgbClr val="7E9AA8"/>
                </a:solidFill>
                <a:latin typeface="MiSans" pitchFamily="34" charset="0"/>
                <a:ea typeface="MiSans" pitchFamily="34" charset="-122"/>
                <a:cs typeface="MiSans" pitchFamily="34" charset="-120"/>
              </a:rPr>
              <a:t>• 更新预测：F_t = F_{t-1} + ν × γ_t × h_t</a:t>
            </a:r>
            <a:endParaRPr lang="en-US" sz="1600" dirty="0"/>
          </a:p>
        </p:txBody>
      </p:sp>
      <p:sp>
        <p:nvSpPr>
          <p:cNvPr id="25" name="Text 23"/>
          <p:cNvSpPr/>
          <p:nvPr/>
        </p:nvSpPr>
        <p:spPr>
          <a:xfrm>
            <a:off x="815632" y="7504948"/>
            <a:ext cx="6955529" cy="226564"/>
          </a:xfrm>
          <a:prstGeom prst="rect">
            <a:avLst/>
          </a:prstGeom>
          <a:noFill/>
          <a:ln/>
        </p:spPr>
        <p:txBody>
          <a:bodyPr wrap="square" lIns="0" tIns="0" rIns="0" bIns="0" rtlCol="0" anchor="ctr"/>
          <a:lstStyle/>
          <a:p>
            <a:pPr>
              <a:lnSpc>
                <a:spcPct val="120000"/>
              </a:lnSpc>
            </a:pPr>
            <a:r>
              <a:rPr lang="en-US" sz="1249" dirty="0">
                <a:solidFill>
                  <a:srgbClr val="7E9AA8"/>
                </a:solidFill>
                <a:latin typeface="MiSans" pitchFamily="34" charset="0"/>
                <a:ea typeface="MiSans" pitchFamily="34" charset="-122"/>
                <a:cs typeface="MiSans" pitchFamily="34" charset="-120"/>
              </a:rPr>
              <a:t>• 计算新残差：r_t = y - F_t(x)</a:t>
            </a:r>
            <a:endParaRPr lang="en-US" sz="1600" dirty="0"/>
          </a:p>
        </p:txBody>
      </p:sp>
      <p:sp>
        <p:nvSpPr>
          <p:cNvPr id="26" name="Shape 24"/>
          <p:cNvSpPr/>
          <p:nvPr/>
        </p:nvSpPr>
        <p:spPr>
          <a:xfrm>
            <a:off x="8261992" y="1631264"/>
            <a:ext cx="7533268" cy="4180114"/>
          </a:xfrm>
          <a:custGeom>
            <a:avLst/>
            <a:gdLst/>
            <a:ahLst/>
            <a:cxnLst/>
            <a:rect l="l" t="t" r="r" b="b"/>
            <a:pathLst>
              <a:path w="7533268" h="4180114">
                <a:moveTo>
                  <a:pt x="45313" y="0"/>
                </a:moveTo>
                <a:lnTo>
                  <a:pt x="7442643" y="0"/>
                </a:lnTo>
                <a:cubicBezTo>
                  <a:pt x="7492694" y="0"/>
                  <a:pt x="7533268" y="40574"/>
                  <a:pt x="7533268" y="90625"/>
                </a:cubicBezTo>
                <a:lnTo>
                  <a:pt x="7533268" y="4089489"/>
                </a:lnTo>
                <a:cubicBezTo>
                  <a:pt x="7533268" y="4139540"/>
                  <a:pt x="7492694" y="4180114"/>
                  <a:pt x="7442643" y="4180114"/>
                </a:cubicBezTo>
                <a:lnTo>
                  <a:pt x="45313" y="4180114"/>
                </a:lnTo>
                <a:cubicBezTo>
                  <a:pt x="20287" y="4180114"/>
                  <a:pt x="0" y="4159827"/>
                  <a:pt x="0" y="4134801"/>
                </a:cubicBezTo>
                <a:lnTo>
                  <a:pt x="0" y="45313"/>
                </a:lnTo>
                <a:cubicBezTo>
                  <a:pt x="0" y="20304"/>
                  <a:pt x="20304" y="0"/>
                  <a:pt x="45313" y="0"/>
                </a:cubicBezTo>
                <a:close/>
              </a:path>
            </a:pathLst>
          </a:custGeom>
          <a:solidFill>
            <a:srgbClr val="3A5E78">
              <a:alpha val="20000"/>
            </a:srgbClr>
          </a:solidFill>
          <a:ln/>
        </p:spPr>
      </p:sp>
      <p:sp>
        <p:nvSpPr>
          <p:cNvPr id="27" name="Shape 25"/>
          <p:cNvSpPr/>
          <p:nvPr/>
        </p:nvSpPr>
        <p:spPr>
          <a:xfrm>
            <a:off x="8261992" y="1631264"/>
            <a:ext cx="45313" cy="4180114"/>
          </a:xfrm>
          <a:custGeom>
            <a:avLst/>
            <a:gdLst/>
            <a:ahLst/>
            <a:cxnLst/>
            <a:rect l="l" t="t" r="r" b="b"/>
            <a:pathLst>
              <a:path w="45313" h="4180114">
                <a:moveTo>
                  <a:pt x="45313" y="0"/>
                </a:moveTo>
                <a:lnTo>
                  <a:pt x="45313" y="0"/>
                </a:lnTo>
                <a:lnTo>
                  <a:pt x="45313" y="4180114"/>
                </a:lnTo>
                <a:lnTo>
                  <a:pt x="45313" y="4180114"/>
                </a:lnTo>
                <a:cubicBezTo>
                  <a:pt x="20287" y="4180114"/>
                  <a:pt x="0" y="4159827"/>
                  <a:pt x="0" y="4134801"/>
                </a:cubicBezTo>
                <a:lnTo>
                  <a:pt x="0" y="45313"/>
                </a:lnTo>
                <a:cubicBezTo>
                  <a:pt x="0" y="20304"/>
                  <a:pt x="20304" y="0"/>
                  <a:pt x="45313" y="0"/>
                </a:cubicBezTo>
                <a:close/>
              </a:path>
            </a:pathLst>
          </a:custGeom>
          <a:solidFill>
            <a:srgbClr val="4C7E9A"/>
          </a:solidFill>
          <a:ln/>
        </p:spPr>
      </p:sp>
      <p:sp>
        <p:nvSpPr>
          <p:cNvPr id="28" name="Text 26"/>
          <p:cNvSpPr/>
          <p:nvPr/>
        </p:nvSpPr>
        <p:spPr>
          <a:xfrm>
            <a:off x="8465900" y="1812516"/>
            <a:ext cx="7284047" cy="362503"/>
          </a:xfrm>
          <a:prstGeom prst="rect">
            <a:avLst/>
          </a:prstGeom>
          <a:noFill/>
          <a:ln/>
        </p:spPr>
        <p:txBody>
          <a:bodyPr wrap="square" lIns="0" tIns="0" rIns="0" bIns="0" rtlCol="0" anchor="ctr"/>
          <a:lstStyle/>
          <a:p>
            <a:pPr>
              <a:lnSpc>
                <a:spcPct val="110000"/>
              </a:lnSpc>
            </a:pPr>
            <a:r>
              <a:rPr lang="en-US" sz="2141" b="1" dirty="0">
                <a:solidFill>
                  <a:srgbClr val="4C7E9A"/>
                </a:solidFill>
                <a:latin typeface="MiSans" pitchFamily="34" charset="0"/>
                <a:ea typeface="MiSans" pitchFamily="34" charset="-122"/>
                <a:cs typeface="MiSans" pitchFamily="34" charset="-120"/>
              </a:rPr>
              <a:t>负梯度指导</a:t>
            </a:r>
            <a:endParaRPr lang="en-US" sz="1600" dirty="0"/>
          </a:p>
        </p:txBody>
      </p:sp>
      <p:sp>
        <p:nvSpPr>
          <p:cNvPr id="29" name="Text 27"/>
          <p:cNvSpPr/>
          <p:nvPr/>
        </p:nvSpPr>
        <p:spPr>
          <a:xfrm>
            <a:off x="8465900" y="2310957"/>
            <a:ext cx="7250063" cy="328518"/>
          </a:xfrm>
          <a:prstGeom prst="rect">
            <a:avLst/>
          </a:prstGeom>
          <a:noFill/>
          <a:ln/>
        </p:spPr>
        <p:txBody>
          <a:bodyPr wrap="square" lIns="0" tIns="0" rIns="0" bIns="0" rtlCol="0" anchor="ctr"/>
          <a:lstStyle/>
          <a:p>
            <a:pPr>
              <a:lnSpc>
                <a:spcPct val="140000"/>
              </a:lnSpc>
            </a:pPr>
            <a:r>
              <a:rPr lang="en-US" sz="1606" dirty="0">
                <a:solidFill>
                  <a:srgbClr val="D1D5DB"/>
                </a:solidFill>
                <a:latin typeface="MiSans" pitchFamily="34" charset="0"/>
                <a:ea typeface="MiSans" pitchFamily="34" charset="-122"/>
                <a:cs typeface="MiSans" pitchFamily="34" charset="-120"/>
              </a:rPr>
              <a:t>负梯度指明了模型预测值应该调整的方向和幅度。</a:t>
            </a:r>
            <a:endParaRPr lang="en-US" sz="1600" dirty="0"/>
          </a:p>
        </p:txBody>
      </p:sp>
      <p:sp>
        <p:nvSpPr>
          <p:cNvPr id="30" name="Shape 28"/>
          <p:cNvSpPr/>
          <p:nvPr/>
        </p:nvSpPr>
        <p:spPr>
          <a:xfrm>
            <a:off x="8465900" y="2778247"/>
            <a:ext cx="7148109" cy="1359387"/>
          </a:xfrm>
          <a:custGeom>
            <a:avLst/>
            <a:gdLst/>
            <a:ahLst/>
            <a:cxnLst/>
            <a:rect l="l" t="t" r="r" b="b"/>
            <a:pathLst>
              <a:path w="7148109" h="1359387">
                <a:moveTo>
                  <a:pt x="45308" y="0"/>
                </a:moveTo>
                <a:lnTo>
                  <a:pt x="7102800" y="0"/>
                </a:lnTo>
                <a:cubicBezTo>
                  <a:pt x="7127823" y="0"/>
                  <a:pt x="7148109" y="20285"/>
                  <a:pt x="7148109" y="45308"/>
                </a:cubicBezTo>
                <a:lnTo>
                  <a:pt x="7148109" y="1314078"/>
                </a:lnTo>
                <a:cubicBezTo>
                  <a:pt x="7148109" y="1339102"/>
                  <a:pt x="7127823" y="1359387"/>
                  <a:pt x="7102800" y="1359387"/>
                </a:cubicBezTo>
                <a:lnTo>
                  <a:pt x="45308" y="1359387"/>
                </a:lnTo>
                <a:cubicBezTo>
                  <a:pt x="20285" y="1359387"/>
                  <a:pt x="0" y="1339102"/>
                  <a:pt x="0" y="1314078"/>
                </a:cubicBezTo>
                <a:lnTo>
                  <a:pt x="0" y="45308"/>
                </a:lnTo>
                <a:cubicBezTo>
                  <a:pt x="0" y="20302"/>
                  <a:pt x="20302" y="0"/>
                  <a:pt x="45308" y="0"/>
                </a:cubicBezTo>
                <a:close/>
              </a:path>
            </a:pathLst>
          </a:custGeom>
          <a:solidFill>
            <a:srgbClr val="181A1F">
              <a:alpha val="50196"/>
            </a:srgbClr>
          </a:solidFill>
          <a:ln/>
        </p:spPr>
      </p:sp>
      <p:sp>
        <p:nvSpPr>
          <p:cNvPr id="31" name="Text 29"/>
          <p:cNvSpPr/>
          <p:nvPr/>
        </p:nvSpPr>
        <p:spPr>
          <a:xfrm>
            <a:off x="8601838" y="2914185"/>
            <a:ext cx="6978185" cy="317190"/>
          </a:xfrm>
          <a:prstGeom prst="rect">
            <a:avLst/>
          </a:prstGeom>
          <a:noFill/>
          <a:ln/>
        </p:spPr>
        <p:txBody>
          <a:bodyPr wrap="square" lIns="0" tIns="0" rIns="0" bIns="0" rtlCol="0" anchor="ctr"/>
          <a:lstStyle/>
          <a:p>
            <a:pPr>
              <a:lnSpc>
                <a:spcPct val="130000"/>
              </a:lnSpc>
            </a:pPr>
            <a:r>
              <a:rPr lang="en-US" sz="1606" b="1" dirty="0">
                <a:solidFill>
                  <a:srgbClr val="D1D5DB"/>
                </a:solidFill>
                <a:latin typeface="MiSans" pitchFamily="34" charset="0"/>
                <a:ea typeface="MiSans" pitchFamily="34" charset="-122"/>
                <a:cs typeface="MiSans" pitchFamily="34" charset="-120"/>
              </a:rPr>
              <a:t>平方损失 (L2)</a:t>
            </a:r>
            <a:endParaRPr lang="en-US" sz="1600" dirty="0"/>
          </a:p>
        </p:txBody>
      </p:sp>
      <p:sp>
        <p:nvSpPr>
          <p:cNvPr id="32" name="Text 30"/>
          <p:cNvSpPr/>
          <p:nvPr/>
        </p:nvSpPr>
        <p:spPr>
          <a:xfrm>
            <a:off x="8601838" y="3276689"/>
            <a:ext cx="6955529" cy="226564"/>
          </a:xfrm>
          <a:prstGeom prst="rect">
            <a:avLst/>
          </a:prstGeom>
          <a:noFill/>
          <a:ln/>
        </p:spPr>
        <p:txBody>
          <a:bodyPr wrap="square" lIns="0" tIns="0" rIns="0" bIns="0" rtlCol="0" anchor="ctr"/>
          <a:lstStyle/>
          <a:p>
            <a:pPr>
              <a:lnSpc>
                <a:spcPct val="120000"/>
              </a:lnSpc>
            </a:pPr>
            <a:r>
              <a:rPr lang="en-US" sz="1249" dirty="0">
                <a:solidFill>
                  <a:srgbClr val="7E9AA8"/>
                </a:solidFill>
                <a:latin typeface="MiSans" pitchFamily="34" charset="0"/>
                <a:ea typeface="MiSans" pitchFamily="34" charset="-122"/>
                <a:cs typeface="MiSans" pitchFamily="34" charset="-120"/>
              </a:rPr>
              <a:t>残差 r = y - F(x)</a:t>
            </a:r>
            <a:endParaRPr lang="en-US" sz="1600" dirty="0"/>
          </a:p>
        </p:txBody>
      </p:sp>
      <p:sp>
        <p:nvSpPr>
          <p:cNvPr id="33" name="Shape 31"/>
          <p:cNvSpPr/>
          <p:nvPr/>
        </p:nvSpPr>
        <p:spPr>
          <a:xfrm>
            <a:off x="8601838" y="3593879"/>
            <a:ext cx="6876231" cy="407816"/>
          </a:xfrm>
          <a:custGeom>
            <a:avLst/>
            <a:gdLst/>
            <a:ahLst/>
            <a:cxnLst/>
            <a:rect l="l" t="t" r="r" b="b"/>
            <a:pathLst>
              <a:path w="6876231" h="407816">
                <a:moveTo>
                  <a:pt x="45312" y="0"/>
                </a:moveTo>
                <a:lnTo>
                  <a:pt x="6830919" y="0"/>
                </a:lnTo>
                <a:cubicBezTo>
                  <a:pt x="6855944" y="0"/>
                  <a:pt x="6876231" y="20287"/>
                  <a:pt x="6876231" y="45312"/>
                </a:cubicBezTo>
                <a:lnTo>
                  <a:pt x="6876231" y="362504"/>
                </a:lnTo>
                <a:cubicBezTo>
                  <a:pt x="6876231" y="387529"/>
                  <a:pt x="6855944" y="407816"/>
                  <a:pt x="6830919" y="407816"/>
                </a:cubicBezTo>
                <a:lnTo>
                  <a:pt x="45312" y="407816"/>
                </a:lnTo>
                <a:cubicBezTo>
                  <a:pt x="20287" y="407816"/>
                  <a:pt x="0" y="387529"/>
                  <a:pt x="0" y="362504"/>
                </a:cubicBezTo>
                <a:lnTo>
                  <a:pt x="0" y="45312"/>
                </a:lnTo>
                <a:cubicBezTo>
                  <a:pt x="0" y="20304"/>
                  <a:pt x="20304" y="0"/>
                  <a:pt x="45312" y="0"/>
                </a:cubicBezTo>
                <a:close/>
              </a:path>
            </a:pathLst>
          </a:custGeom>
          <a:solidFill>
            <a:srgbClr val="181A1F"/>
          </a:solidFill>
          <a:ln/>
        </p:spPr>
      </p:sp>
      <p:sp>
        <p:nvSpPr>
          <p:cNvPr id="34" name="Text 32"/>
          <p:cNvSpPr/>
          <p:nvPr/>
        </p:nvSpPr>
        <p:spPr>
          <a:xfrm>
            <a:off x="8652815" y="3684505"/>
            <a:ext cx="6774277" cy="226564"/>
          </a:xfrm>
          <a:prstGeom prst="rect">
            <a:avLst/>
          </a:prstGeom>
          <a:noFill/>
          <a:ln/>
        </p:spPr>
        <p:txBody>
          <a:bodyPr wrap="square" lIns="0" tIns="0" rIns="0" bIns="0" rtlCol="0" anchor="ctr"/>
          <a:lstStyle/>
          <a:p>
            <a:pPr algn="ctr">
              <a:lnSpc>
                <a:spcPct val="120000"/>
              </a:lnSpc>
            </a:pPr>
            <a:r>
              <a:rPr lang="en-US" sz="1249" dirty="0">
                <a:solidFill>
                  <a:srgbClr val="7E9AA8"/>
                </a:solidFill>
                <a:latin typeface="MiSans" pitchFamily="34" charset="0"/>
                <a:ea typeface="MiSans" pitchFamily="34" charset="-122"/>
                <a:cs typeface="MiSans" pitchFamily="34" charset="-120"/>
              </a:rPr>
              <a:t>r = -∂L/∂F = y - F(x)</a:t>
            </a:r>
            <a:endParaRPr lang="en-US" sz="1600" dirty="0"/>
          </a:p>
        </p:txBody>
      </p:sp>
      <p:sp>
        <p:nvSpPr>
          <p:cNvPr id="35" name="Shape 33"/>
          <p:cNvSpPr/>
          <p:nvPr/>
        </p:nvSpPr>
        <p:spPr>
          <a:xfrm>
            <a:off x="8465900" y="4273572"/>
            <a:ext cx="7148109" cy="1359387"/>
          </a:xfrm>
          <a:custGeom>
            <a:avLst/>
            <a:gdLst/>
            <a:ahLst/>
            <a:cxnLst/>
            <a:rect l="l" t="t" r="r" b="b"/>
            <a:pathLst>
              <a:path w="7148109" h="1359387">
                <a:moveTo>
                  <a:pt x="45308" y="0"/>
                </a:moveTo>
                <a:lnTo>
                  <a:pt x="7102800" y="0"/>
                </a:lnTo>
                <a:cubicBezTo>
                  <a:pt x="7127823" y="0"/>
                  <a:pt x="7148109" y="20285"/>
                  <a:pt x="7148109" y="45308"/>
                </a:cubicBezTo>
                <a:lnTo>
                  <a:pt x="7148109" y="1314078"/>
                </a:lnTo>
                <a:cubicBezTo>
                  <a:pt x="7148109" y="1339102"/>
                  <a:pt x="7127823" y="1359387"/>
                  <a:pt x="7102800" y="1359387"/>
                </a:cubicBezTo>
                <a:lnTo>
                  <a:pt x="45308" y="1359387"/>
                </a:lnTo>
                <a:cubicBezTo>
                  <a:pt x="20285" y="1359387"/>
                  <a:pt x="0" y="1339102"/>
                  <a:pt x="0" y="1314078"/>
                </a:cubicBezTo>
                <a:lnTo>
                  <a:pt x="0" y="45308"/>
                </a:lnTo>
                <a:cubicBezTo>
                  <a:pt x="0" y="20302"/>
                  <a:pt x="20302" y="0"/>
                  <a:pt x="45308" y="0"/>
                </a:cubicBezTo>
                <a:close/>
              </a:path>
            </a:pathLst>
          </a:custGeom>
          <a:solidFill>
            <a:srgbClr val="181A1F">
              <a:alpha val="50196"/>
            </a:srgbClr>
          </a:solidFill>
          <a:ln/>
        </p:spPr>
      </p:sp>
      <p:sp>
        <p:nvSpPr>
          <p:cNvPr id="36" name="Text 34"/>
          <p:cNvSpPr/>
          <p:nvPr/>
        </p:nvSpPr>
        <p:spPr>
          <a:xfrm>
            <a:off x="8601838" y="4409511"/>
            <a:ext cx="6978185" cy="317190"/>
          </a:xfrm>
          <a:prstGeom prst="rect">
            <a:avLst/>
          </a:prstGeom>
          <a:noFill/>
          <a:ln/>
        </p:spPr>
        <p:txBody>
          <a:bodyPr wrap="square" lIns="0" tIns="0" rIns="0" bIns="0" rtlCol="0" anchor="ctr"/>
          <a:lstStyle/>
          <a:p>
            <a:pPr>
              <a:lnSpc>
                <a:spcPct val="130000"/>
              </a:lnSpc>
            </a:pPr>
            <a:r>
              <a:rPr lang="en-US" sz="1606" b="1" dirty="0">
                <a:solidFill>
                  <a:srgbClr val="D1D5DB"/>
                </a:solidFill>
                <a:latin typeface="MiSans" pitchFamily="34" charset="0"/>
                <a:ea typeface="MiSans" pitchFamily="34" charset="-122"/>
                <a:cs typeface="MiSans" pitchFamily="34" charset="-120"/>
              </a:rPr>
              <a:t>绝对损失 (L1)</a:t>
            </a:r>
            <a:endParaRPr lang="en-US" sz="1600" dirty="0"/>
          </a:p>
        </p:txBody>
      </p:sp>
      <p:sp>
        <p:nvSpPr>
          <p:cNvPr id="37" name="Text 35"/>
          <p:cNvSpPr/>
          <p:nvPr/>
        </p:nvSpPr>
        <p:spPr>
          <a:xfrm>
            <a:off x="8601838" y="4772014"/>
            <a:ext cx="6955529" cy="226564"/>
          </a:xfrm>
          <a:prstGeom prst="rect">
            <a:avLst/>
          </a:prstGeom>
          <a:noFill/>
          <a:ln/>
        </p:spPr>
        <p:txBody>
          <a:bodyPr wrap="square" lIns="0" tIns="0" rIns="0" bIns="0" rtlCol="0" anchor="ctr"/>
          <a:lstStyle/>
          <a:p>
            <a:pPr>
              <a:lnSpc>
                <a:spcPct val="120000"/>
              </a:lnSpc>
            </a:pPr>
            <a:r>
              <a:rPr lang="en-US" sz="1249" dirty="0">
                <a:solidFill>
                  <a:srgbClr val="7E9AA8"/>
                </a:solidFill>
                <a:latin typeface="MiSans" pitchFamily="34" charset="0"/>
                <a:ea typeface="MiSans" pitchFamily="34" charset="-122"/>
                <a:cs typeface="MiSans" pitchFamily="34" charset="-120"/>
              </a:rPr>
              <a:t>对异常值更鲁棒</a:t>
            </a:r>
            <a:endParaRPr lang="en-US" sz="1600" dirty="0"/>
          </a:p>
        </p:txBody>
      </p:sp>
      <p:sp>
        <p:nvSpPr>
          <p:cNvPr id="38" name="Shape 36"/>
          <p:cNvSpPr/>
          <p:nvPr/>
        </p:nvSpPr>
        <p:spPr>
          <a:xfrm>
            <a:off x="8601838" y="5089204"/>
            <a:ext cx="6876231" cy="407816"/>
          </a:xfrm>
          <a:custGeom>
            <a:avLst/>
            <a:gdLst/>
            <a:ahLst/>
            <a:cxnLst/>
            <a:rect l="l" t="t" r="r" b="b"/>
            <a:pathLst>
              <a:path w="6876231" h="407816">
                <a:moveTo>
                  <a:pt x="45312" y="0"/>
                </a:moveTo>
                <a:lnTo>
                  <a:pt x="6830919" y="0"/>
                </a:lnTo>
                <a:cubicBezTo>
                  <a:pt x="6855944" y="0"/>
                  <a:pt x="6876231" y="20287"/>
                  <a:pt x="6876231" y="45312"/>
                </a:cubicBezTo>
                <a:lnTo>
                  <a:pt x="6876231" y="362504"/>
                </a:lnTo>
                <a:cubicBezTo>
                  <a:pt x="6876231" y="387529"/>
                  <a:pt x="6855944" y="407816"/>
                  <a:pt x="6830919" y="407816"/>
                </a:cubicBezTo>
                <a:lnTo>
                  <a:pt x="45312" y="407816"/>
                </a:lnTo>
                <a:cubicBezTo>
                  <a:pt x="20287" y="407816"/>
                  <a:pt x="0" y="387529"/>
                  <a:pt x="0" y="362504"/>
                </a:cubicBezTo>
                <a:lnTo>
                  <a:pt x="0" y="45312"/>
                </a:lnTo>
                <a:cubicBezTo>
                  <a:pt x="0" y="20304"/>
                  <a:pt x="20304" y="0"/>
                  <a:pt x="45312" y="0"/>
                </a:cubicBezTo>
                <a:close/>
              </a:path>
            </a:pathLst>
          </a:custGeom>
          <a:solidFill>
            <a:srgbClr val="181A1F"/>
          </a:solidFill>
          <a:ln/>
        </p:spPr>
      </p:sp>
      <p:sp>
        <p:nvSpPr>
          <p:cNvPr id="39" name="Text 37"/>
          <p:cNvSpPr/>
          <p:nvPr/>
        </p:nvSpPr>
        <p:spPr>
          <a:xfrm>
            <a:off x="8652815" y="5179830"/>
            <a:ext cx="6774277" cy="226564"/>
          </a:xfrm>
          <a:prstGeom prst="rect">
            <a:avLst/>
          </a:prstGeom>
          <a:noFill/>
          <a:ln/>
        </p:spPr>
        <p:txBody>
          <a:bodyPr wrap="square" lIns="0" tIns="0" rIns="0" bIns="0" rtlCol="0" anchor="ctr"/>
          <a:lstStyle/>
          <a:p>
            <a:pPr algn="ctr">
              <a:lnSpc>
                <a:spcPct val="120000"/>
              </a:lnSpc>
            </a:pPr>
            <a:r>
              <a:rPr lang="en-US" sz="1249" dirty="0">
                <a:solidFill>
                  <a:srgbClr val="7E9AA8"/>
                </a:solidFill>
                <a:latin typeface="MiSans" pitchFamily="34" charset="0"/>
                <a:ea typeface="MiSans" pitchFamily="34" charset="-122"/>
                <a:cs typeface="MiSans" pitchFamily="34" charset="-120"/>
              </a:rPr>
              <a:t>r = sign(y - F(x))</a:t>
            </a:r>
            <a:endParaRPr lang="en-US" sz="1600" dirty="0"/>
          </a:p>
        </p:txBody>
      </p:sp>
      <p:sp>
        <p:nvSpPr>
          <p:cNvPr id="40" name="Shape 38"/>
          <p:cNvSpPr/>
          <p:nvPr/>
        </p:nvSpPr>
        <p:spPr>
          <a:xfrm>
            <a:off x="8244999" y="6001126"/>
            <a:ext cx="7544597" cy="2684789"/>
          </a:xfrm>
          <a:custGeom>
            <a:avLst/>
            <a:gdLst/>
            <a:ahLst/>
            <a:cxnLst/>
            <a:rect l="l" t="t" r="r" b="b"/>
            <a:pathLst>
              <a:path w="7544597" h="2684789">
                <a:moveTo>
                  <a:pt x="90638" y="0"/>
                </a:moveTo>
                <a:lnTo>
                  <a:pt x="7453958" y="0"/>
                </a:lnTo>
                <a:cubicBezTo>
                  <a:pt x="7504016" y="0"/>
                  <a:pt x="7544597" y="40580"/>
                  <a:pt x="7544597" y="90638"/>
                </a:cubicBezTo>
                <a:lnTo>
                  <a:pt x="7544597" y="2594150"/>
                </a:lnTo>
                <a:cubicBezTo>
                  <a:pt x="7544597" y="2644209"/>
                  <a:pt x="7504016" y="2684789"/>
                  <a:pt x="7453958" y="2684789"/>
                </a:cubicBezTo>
                <a:lnTo>
                  <a:pt x="90638" y="2684789"/>
                </a:lnTo>
                <a:cubicBezTo>
                  <a:pt x="40580" y="2684789"/>
                  <a:pt x="0" y="2644209"/>
                  <a:pt x="0" y="2594150"/>
                </a:cubicBezTo>
                <a:lnTo>
                  <a:pt x="0" y="90638"/>
                </a:lnTo>
                <a:cubicBezTo>
                  <a:pt x="0" y="40580"/>
                  <a:pt x="40580" y="0"/>
                  <a:pt x="90638" y="0"/>
                </a:cubicBezTo>
                <a:close/>
              </a:path>
            </a:pathLst>
          </a:custGeom>
          <a:solidFill>
            <a:srgbClr val="3A5E78">
              <a:alpha val="20000"/>
            </a:srgbClr>
          </a:solidFill>
          <a:ln w="12700">
            <a:solidFill>
              <a:srgbClr val="4C7E9A">
                <a:alpha val="50196"/>
              </a:srgbClr>
            </a:solidFill>
            <a:prstDash val="solid"/>
          </a:ln>
        </p:spPr>
      </p:sp>
      <p:sp>
        <p:nvSpPr>
          <p:cNvPr id="41" name="Text 39"/>
          <p:cNvSpPr/>
          <p:nvPr/>
        </p:nvSpPr>
        <p:spPr>
          <a:xfrm>
            <a:off x="8431915" y="6188042"/>
            <a:ext cx="7306704" cy="362503"/>
          </a:xfrm>
          <a:prstGeom prst="rect">
            <a:avLst/>
          </a:prstGeom>
          <a:noFill/>
          <a:ln/>
        </p:spPr>
        <p:txBody>
          <a:bodyPr wrap="square" lIns="0" tIns="0" rIns="0" bIns="0" rtlCol="0" anchor="ctr"/>
          <a:lstStyle/>
          <a:p>
            <a:pPr>
              <a:lnSpc>
                <a:spcPct val="110000"/>
              </a:lnSpc>
            </a:pPr>
            <a:r>
              <a:rPr lang="en-US" sz="2141" b="1" dirty="0">
                <a:solidFill>
                  <a:srgbClr val="4C7E9A"/>
                </a:solidFill>
                <a:latin typeface="MiSans" pitchFamily="34" charset="0"/>
                <a:ea typeface="MiSans" pitchFamily="34" charset="-122"/>
                <a:cs typeface="MiSans" pitchFamily="34" charset="-120"/>
              </a:rPr>
              <a:t>停止条件</a:t>
            </a:r>
            <a:endParaRPr lang="en-US" sz="1600" dirty="0"/>
          </a:p>
        </p:txBody>
      </p:sp>
      <p:sp>
        <p:nvSpPr>
          <p:cNvPr id="42" name="Shape 40"/>
          <p:cNvSpPr/>
          <p:nvPr/>
        </p:nvSpPr>
        <p:spPr>
          <a:xfrm>
            <a:off x="8474396" y="6731797"/>
            <a:ext cx="198244" cy="226564"/>
          </a:xfrm>
          <a:custGeom>
            <a:avLst/>
            <a:gdLst/>
            <a:ahLst/>
            <a:cxnLst/>
            <a:rect l="l" t="t" r="r" b="b"/>
            <a:pathLst>
              <a:path w="198244" h="226564">
                <a:moveTo>
                  <a:pt x="28321" y="14160"/>
                </a:moveTo>
                <a:lnTo>
                  <a:pt x="169923" y="14160"/>
                </a:lnTo>
                <a:cubicBezTo>
                  <a:pt x="185544" y="14160"/>
                  <a:pt x="198244" y="26860"/>
                  <a:pt x="198244" y="42481"/>
                </a:cubicBezTo>
                <a:lnTo>
                  <a:pt x="198244" y="184084"/>
                </a:lnTo>
                <a:cubicBezTo>
                  <a:pt x="198244" y="199704"/>
                  <a:pt x="185544" y="212404"/>
                  <a:pt x="169923" y="212404"/>
                </a:cubicBezTo>
                <a:lnTo>
                  <a:pt x="28321" y="212404"/>
                </a:lnTo>
                <a:cubicBezTo>
                  <a:pt x="12700" y="212404"/>
                  <a:pt x="0" y="199704"/>
                  <a:pt x="0" y="184084"/>
                </a:cubicBezTo>
                <a:lnTo>
                  <a:pt x="0" y="42481"/>
                </a:lnTo>
                <a:cubicBezTo>
                  <a:pt x="0" y="26860"/>
                  <a:pt x="12700" y="14160"/>
                  <a:pt x="28321" y="14160"/>
                </a:cubicBezTo>
                <a:close/>
              </a:path>
            </a:pathLst>
          </a:custGeom>
          <a:solidFill>
            <a:srgbClr val="4C7E9A"/>
          </a:solidFill>
          <a:ln/>
        </p:spPr>
      </p:sp>
      <p:sp>
        <p:nvSpPr>
          <p:cNvPr id="43" name="Text 41"/>
          <p:cNvSpPr/>
          <p:nvPr/>
        </p:nvSpPr>
        <p:spPr>
          <a:xfrm>
            <a:off x="8851059" y="6686484"/>
            <a:ext cx="1733218" cy="317190"/>
          </a:xfrm>
          <a:prstGeom prst="rect">
            <a:avLst/>
          </a:prstGeom>
          <a:noFill/>
          <a:ln/>
        </p:spPr>
        <p:txBody>
          <a:bodyPr wrap="square" lIns="0" tIns="0" rIns="0" bIns="0" rtlCol="0" anchor="ctr"/>
          <a:lstStyle/>
          <a:p>
            <a:pPr>
              <a:lnSpc>
                <a:spcPct val="130000"/>
              </a:lnSpc>
            </a:pPr>
            <a:r>
              <a:rPr lang="en-US" sz="1606" b="1" dirty="0">
                <a:solidFill>
                  <a:srgbClr val="D1D5DB"/>
                </a:solidFill>
                <a:latin typeface="MiSans" pitchFamily="34" charset="0"/>
                <a:ea typeface="MiSans" pitchFamily="34" charset="-122"/>
                <a:cs typeface="MiSans" pitchFamily="34" charset="-120"/>
              </a:rPr>
              <a:t>达到预定迭代次数</a:t>
            </a:r>
            <a:endParaRPr lang="en-US" sz="1600" dirty="0"/>
          </a:p>
        </p:txBody>
      </p:sp>
      <p:sp>
        <p:nvSpPr>
          <p:cNvPr id="44" name="Text 42"/>
          <p:cNvSpPr/>
          <p:nvPr/>
        </p:nvSpPr>
        <p:spPr>
          <a:xfrm>
            <a:off x="8851059" y="7003674"/>
            <a:ext cx="1710562" cy="226564"/>
          </a:xfrm>
          <a:prstGeom prst="rect">
            <a:avLst/>
          </a:prstGeom>
          <a:noFill/>
          <a:ln/>
        </p:spPr>
        <p:txBody>
          <a:bodyPr wrap="square" lIns="0" tIns="0" rIns="0" bIns="0" rtlCol="0" anchor="ctr"/>
          <a:lstStyle/>
          <a:p>
            <a:pPr>
              <a:lnSpc>
                <a:spcPct val="120000"/>
              </a:lnSpc>
            </a:pPr>
            <a:r>
              <a:rPr lang="en-US" sz="1249" dirty="0">
                <a:solidFill>
                  <a:srgbClr val="7E9AA8"/>
                </a:solidFill>
                <a:latin typeface="MiSans" pitchFamily="34" charset="0"/>
                <a:ea typeface="MiSans" pitchFamily="34" charset="-122"/>
                <a:cs typeface="MiSans" pitchFamily="34" charset="-120"/>
              </a:rPr>
              <a:t>通常100-500轮</a:t>
            </a:r>
            <a:endParaRPr lang="en-US" sz="1600" dirty="0"/>
          </a:p>
        </p:txBody>
      </p:sp>
      <p:sp>
        <p:nvSpPr>
          <p:cNvPr id="45" name="Shape 43"/>
          <p:cNvSpPr/>
          <p:nvPr/>
        </p:nvSpPr>
        <p:spPr>
          <a:xfrm>
            <a:off x="8460236" y="7366177"/>
            <a:ext cx="226564" cy="226564"/>
          </a:xfrm>
          <a:custGeom>
            <a:avLst/>
            <a:gdLst/>
            <a:ahLst/>
            <a:cxnLst/>
            <a:rect l="l" t="t" r="r" b="b"/>
            <a:pathLst>
              <a:path w="226564" h="226564">
                <a:moveTo>
                  <a:pt x="28321" y="28321"/>
                </a:moveTo>
                <a:cubicBezTo>
                  <a:pt x="28321" y="20488"/>
                  <a:pt x="21993" y="14160"/>
                  <a:pt x="14160" y="14160"/>
                </a:cubicBezTo>
                <a:cubicBezTo>
                  <a:pt x="6328" y="14160"/>
                  <a:pt x="0" y="20488"/>
                  <a:pt x="0" y="28321"/>
                </a:cubicBezTo>
                <a:lnTo>
                  <a:pt x="0" y="177003"/>
                </a:lnTo>
                <a:cubicBezTo>
                  <a:pt x="0" y="196562"/>
                  <a:pt x="15842" y="212404"/>
                  <a:pt x="35401" y="212404"/>
                </a:cubicBezTo>
                <a:lnTo>
                  <a:pt x="212404" y="212404"/>
                </a:lnTo>
                <a:cubicBezTo>
                  <a:pt x="220237" y="212404"/>
                  <a:pt x="226564" y="206076"/>
                  <a:pt x="226564" y="198244"/>
                </a:cubicBezTo>
                <a:cubicBezTo>
                  <a:pt x="226564" y="190411"/>
                  <a:pt x="220237" y="184084"/>
                  <a:pt x="212404" y="184084"/>
                </a:cubicBezTo>
                <a:lnTo>
                  <a:pt x="35401" y="184084"/>
                </a:lnTo>
                <a:cubicBezTo>
                  <a:pt x="31507" y="184084"/>
                  <a:pt x="28321" y="180898"/>
                  <a:pt x="28321" y="177003"/>
                </a:cubicBezTo>
                <a:lnTo>
                  <a:pt x="28321" y="28321"/>
                </a:lnTo>
                <a:close/>
                <a:moveTo>
                  <a:pt x="208245" y="66642"/>
                </a:moveTo>
                <a:cubicBezTo>
                  <a:pt x="213776" y="61110"/>
                  <a:pt x="213776" y="52128"/>
                  <a:pt x="208245" y="46596"/>
                </a:cubicBezTo>
                <a:cubicBezTo>
                  <a:pt x="202713" y="41065"/>
                  <a:pt x="193730" y="41065"/>
                  <a:pt x="188199" y="46596"/>
                </a:cubicBezTo>
                <a:lnTo>
                  <a:pt x="141603" y="93237"/>
                </a:lnTo>
                <a:lnTo>
                  <a:pt x="116203" y="67881"/>
                </a:lnTo>
                <a:cubicBezTo>
                  <a:pt x="110671" y="62349"/>
                  <a:pt x="101689" y="62349"/>
                  <a:pt x="96157" y="67881"/>
                </a:cubicBezTo>
                <a:lnTo>
                  <a:pt x="53676" y="110362"/>
                </a:lnTo>
                <a:cubicBezTo>
                  <a:pt x="48145" y="115893"/>
                  <a:pt x="48145" y="124876"/>
                  <a:pt x="53676" y="130407"/>
                </a:cubicBezTo>
                <a:cubicBezTo>
                  <a:pt x="59208" y="135939"/>
                  <a:pt x="68191" y="135939"/>
                  <a:pt x="73722" y="130407"/>
                </a:cubicBezTo>
                <a:lnTo>
                  <a:pt x="106202" y="97927"/>
                </a:lnTo>
                <a:lnTo>
                  <a:pt x="131602" y="123327"/>
                </a:lnTo>
                <a:cubicBezTo>
                  <a:pt x="137133" y="128859"/>
                  <a:pt x="146116" y="128859"/>
                  <a:pt x="151648" y="123327"/>
                </a:cubicBezTo>
                <a:lnTo>
                  <a:pt x="208289" y="66686"/>
                </a:lnTo>
                <a:close/>
              </a:path>
            </a:pathLst>
          </a:custGeom>
          <a:solidFill>
            <a:srgbClr val="4C7E9A"/>
          </a:solidFill>
          <a:ln/>
        </p:spPr>
      </p:sp>
      <p:sp>
        <p:nvSpPr>
          <p:cNvPr id="46" name="Text 44"/>
          <p:cNvSpPr/>
          <p:nvPr/>
        </p:nvSpPr>
        <p:spPr>
          <a:xfrm>
            <a:off x="8851059" y="7320864"/>
            <a:ext cx="1733218" cy="317190"/>
          </a:xfrm>
          <a:prstGeom prst="rect">
            <a:avLst/>
          </a:prstGeom>
          <a:noFill/>
          <a:ln/>
        </p:spPr>
        <p:txBody>
          <a:bodyPr wrap="square" lIns="0" tIns="0" rIns="0" bIns="0" rtlCol="0" anchor="ctr"/>
          <a:lstStyle/>
          <a:p>
            <a:pPr>
              <a:lnSpc>
                <a:spcPct val="130000"/>
              </a:lnSpc>
            </a:pPr>
            <a:r>
              <a:rPr lang="en-US" sz="1606" b="1" dirty="0">
                <a:solidFill>
                  <a:srgbClr val="D1D5DB"/>
                </a:solidFill>
                <a:latin typeface="MiSans" pitchFamily="34" charset="0"/>
                <a:ea typeface="MiSans" pitchFamily="34" charset="-122"/>
                <a:cs typeface="MiSans" pitchFamily="34" charset="-120"/>
              </a:rPr>
              <a:t>残差变化小于阈值</a:t>
            </a:r>
            <a:endParaRPr lang="en-US" sz="1600" dirty="0"/>
          </a:p>
        </p:txBody>
      </p:sp>
      <p:sp>
        <p:nvSpPr>
          <p:cNvPr id="47" name="Text 45"/>
          <p:cNvSpPr/>
          <p:nvPr/>
        </p:nvSpPr>
        <p:spPr>
          <a:xfrm>
            <a:off x="8851059" y="7638054"/>
            <a:ext cx="1710562" cy="226564"/>
          </a:xfrm>
          <a:prstGeom prst="rect">
            <a:avLst/>
          </a:prstGeom>
          <a:noFill/>
          <a:ln/>
        </p:spPr>
        <p:txBody>
          <a:bodyPr wrap="square" lIns="0" tIns="0" rIns="0" bIns="0" rtlCol="0" anchor="ctr"/>
          <a:lstStyle/>
          <a:p>
            <a:pPr>
              <a:lnSpc>
                <a:spcPct val="120000"/>
              </a:lnSpc>
            </a:pPr>
            <a:r>
              <a:rPr lang="en-US" sz="1249" dirty="0">
                <a:solidFill>
                  <a:srgbClr val="7E9AA8"/>
                </a:solidFill>
                <a:latin typeface="MiSans" pitchFamily="34" charset="0"/>
                <a:ea typeface="MiSans" pitchFamily="34" charset="-122"/>
                <a:cs typeface="MiSans" pitchFamily="34" charset="-120"/>
              </a:rPr>
              <a:t>改进幅度很小</a:t>
            </a:r>
            <a:endParaRPr lang="en-US" sz="1600" dirty="0"/>
          </a:p>
        </p:txBody>
      </p:sp>
      <p:sp>
        <p:nvSpPr>
          <p:cNvPr id="48" name="Shape 46"/>
          <p:cNvSpPr/>
          <p:nvPr/>
        </p:nvSpPr>
        <p:spPr>
          <a:xfrm>
            <a:off x="8460236" y="8000557"/>
            <a:ext cx="226564" cy="226564"/>
          </a:xfrm>
          <a:custGeom>
            <a:avLst/>
            <a:gdLst/>
            <a:ahLst/>
            <a:cxnLst/>
            <a:rect l="l" t="t" r="r" b="b"/>
            <a:pathLst>
              <a:path w="226564" h="226564">
                <a:moveTo>
                  <a:pt x="113282" y="0"/>
                </a:moveTo>
                <a:cubicBezTo>
                  <a:pt x="119787" y="0"/>
                  <a:pt x="125761" y="3584"/>
                  <a:pt x="128859" y="9293"/>
                </a:cubicBezTo>
                <a:lnTo>
                  <a:pt x="224440" y="186296"/>
                </a:lnTo>
                <a:cubicBezTo>
                  <a:pt x="227405" y="191783"/>
                  <a:pt x="227272" y="198421"/>
                  <a:pt x="224086" y="203775"/>
                </a:cubicBezTo>
                <a:cubicBezTo>
                  <a:pt x="220900" y="209130"/>
                  <a:pt x="215103" y="212404"/>
                  <a:pt x="208864" y="212404"/>
                </a:cubicBezTo>
                <a:lnTo>
                  <a:pt x="17700" y="212404"/>
                </a:lnTo>
                <a:cubicBezTo>
                  <a:pt x="11461" y="212404"/>
                  <a:pt x="5708" y="209130"/>
                  <a:pt x="2478" y="203775"/>
                </a:cubicBezTo>
                <a:cubicBezTo>
                  <a:pt x="-752" y="198421"/>
                  <a:pt x="-841" y="191783"/>
                  <a:pt x="2124" y="186296"/>
                </a:cubicBezTo>
                <a:lnTo>
                  <a:pt x="97706" y="9293"/>
                </a:lnTo>
                <a:cubicBezTo>
                  <a:pt x="100803" y="3584"/>
                  <a:pt x="106777" y="0"/>
                  <a:pt x="113282" y="0"/>
                </a:cubicBezTo>
                <a:close/>
                <a:moveTo>
                  <a:pt x="113282" y="74341"/>
                </a:moveTo>
                <a:cubicBezTo>
                  <a:pt x="107397" y="74341"/>
                  <a:pt x="102662" y="79076"/>
                  <a:pt x="102662" y="84962"/>
                </a:cubicBezTo>
                <a:lnTo>
                  <a:pt x="102662" y="134523"/>
                </a:lnTo>
                <a:cubicBezTo>
                  <a:pt x="102662" y="140408"/>
                  <a:pt x="107397" y="145143"/>
                  <a:pt x="113282" y="145143"/>
                </a:cubicBezTo>
                <a:cubicBezTo>
                  <a:pt x="119168" y="145143"/>
                  <a:pt x="123902" y="140408"/>
                  <a:pt x="123902" y="134523"/>
                </a:cubicBezTo>
                <a:lnTo>
                  <a:pt x="123902" y="84962"/>
                </a:lnTo>
                <a:cubicBezTo>
                  <a:pt x="123902" y="79076"/>
                  <a:pt x="119168" y="74341"/>
                  <a:pt x="113282" y="74341"/>
                </a:cubicBezTo>
                <a:close/>
                <a:moveTo>
                  <a:pt x="125097" y="169923"/>
                </a:moveTo>
                <a:cubicBezTo>
                  <a:pt x="125366" y="165538"/>
                  <a:pt x="123179" y="161365"/>
                  <a:pt x="119419" y="159091"/>
                </a:cubicBezTo>
                <a:cubicBezTo>
                  <a:pt x="115660" y="156817"/>
                  <a:pt x="110949" y="156817"/>
                  <a:pt x="107189" y="159091"/>
                </a:cubicBezTo>
                <a:cubicBezTo>
                  <a:pt x="103430" y="161365"/>
                  <a:pt x="101243" y="165538"/>
                  <a:pt x="101511" y="169923"/>
                </a:cubicBezTo>
                <a:cubicBezTo>
                  <a:pt x="101243" y="174309"/>
                  <a:pt x="103430" y="178481"/>
                  <a:pt x="107189" y="180755"/>
                </a:cubicBezTo>
                <a:cubicBezTo>
                  <a:pt x="110949" y="183030"/>
                  <a:pt x="115660" y="183030"/>
                  <a:pt x="119419" y="180755"/>
                </a:cubicBezTo>
                <a:cubicBezTo>
                  <a:pt x="123179" y="178481"/>
                  <a:pt x="125366" y="174309"/>
                  <a:pt x="125097" y="169923"/>
                </a:cubicBezTo>
                <a:close/>
              </a:path>
            </a:pathLst>
          </a:custGeom>
          <a:solidFill>
            <a:srgbClr val="4C7E9A"/>
          </a:solidFill>
          <a:ln/>
        </p:spPr>
      </p:sp>
      <p:sp>
        <p:nvSpPr>
          <p:cNvPr id="49" name="Text 47"/>
          <p:cNvSpPr/>
          <p:nvPr/>
        </p:nvSpPr>
        <p:spPr>
          <a:xfrm>
            <a:off x="8851059" y="7955245"/>
            <a:ext cx="1529310" cy="317190"/>
          </a:xfrm>
          <a:prstGeom prst="rect">
            <a:avLst/>
          </a:prstGeom>
          <a:noFill/>
          <a:ln/>
        </p:spPr>
        <p:txBody>
          <a:bodyPr wrap="square" lIns="0" tIns="0" rIns="0" bIns="0" rtlCol="0" anchor="ctr"/>
          <a:lstStyle/>
          <a:p>
            <a:pPr>
              <a:lnSpc>
                <a:spcPct val="130000"/>
              </a:lnSpc>
            </a:pPr>
            <a:r>
              <a:rPr lang="en-US" sz="1606" b="1" dirty="0">
                <a:solidFill>
                  <a:srgbClr val="D1D5DB"/>
                </a:solidFill>
                <a:latin typeface="MiSans" pitchFamily="34" charset="0"/>
                <a:ea typeface="MiSans" pitchFamily="34" charset="-122"/>
                <a:cs typeface="MiSans" pitchFamily="34" charset="-120"/>
              </a:rPr>
              <a:t>验证集性能下降</a:t>
            </a:r>
            <a:endParaRPr lang="en-US" sz="1600" dirty="0"/>
          </a:p>
        </p:txBody>
      </p:sp>
      <p:sp>
        <p:nvSpPr>
          <p:cNvPr id="50" name="Text 48"/>
          <p:cNvSpPr/>
          <p:nvPr/>
        </p:nvSpPr>
        <p:spPr>
          <a:xfrm>
            <a:off x="8851059" y="8272435"/>
            <a:ext cx="1506654" cy="226564"/>
          </a:xfrm>
          <a:prstGeom prst="rect">
            <a:avLst/>
          </a:prstGeom>
          <a:noFill/>
          <a:ln/>
        </p:spPr>
        <p:txBody>
          <a:bodyPr wrap="square" lIns="0" tIns="0" rIns="0" bIns="0" rtlCol="0" anchor="ctr"/>
          <a:lstStyle/>
          <a:p>
            <a:pPr>
              <a:lnSpc>
                <a:spcPct val="120000"/>
              </a:lnSpc>
            </a:pPr>
            <a:r>
              <a:rPr lang="en-US" sz="1249" dirty="0">
                <a:solidFill>
                  <a:srgbClr val="7E9AA8"/>
                </a:solidFill>
                <a:latin typeface="MiSans" pitchFamily="34" charset="0"/>
                <a:ea typeface="MiSans" pitchFamily="34" charset="-122"/>
                <a:cs typeface="MiSans" pitchFamily="34" charset="-120"/>
              </a:rPr>
              <a:t>早停防止过拟合</a:t>
            </a:r>
            <a:endParaRPr lang="en-US" sz="1600" dirty="0"/>
          </a:p>
        </p:txBody>
      </p:sp>
    </p:spTree>
  </p:cSld>
  <p:clrMapOvr>
    <a:masterClrMapping/>
  </p:clrMapOvr>
  <p:transition>
    <p:fade/>
    <p:spd val="med"/>
  </p:transition>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GBDT</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GBDT示例推导</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24000"/>
            <a:ext cx="7577667" cy="2296583"/>
          </a:xfrm>
          <a:custGeom>
            <a:avLst/>
            <a:gdLst/>
            <a:ahLst/>
            <a:cxnLst/>
            <a:rect l="l" t="t" r="r" b="b"/>
            <a:pathLst>
              <a:path w="7577667" h="2296583">
                <a:moveTo>
                  <a:pt x="42333" y="0"/>
                </a:moveTo>
                <a:lnTo>
                  <a:pt x="7492992" y="0"/>
                </a:lnTo>
                <a:cubicBezTo>
                  <a:pt x="7539756" y="0"/>
                  <a:pt x="7577667" y="37910"/>
                  <a:pt x="7577667" y="84675"/>
                </a:cubicBezTo>
                <a:lnTo>
                  <a:pt x="7577667" y="2211908"/>
                </a:lnTo>
                <a:cubicBezTo>
                  <a:pt x="7577667" y="2258673"/>
                  <a:pt x="7539756" y="2296583"/>
                  <a:pt x="7492992" y="2296583"/>
                </a:cubicBezTo>
                <a:lnTo>
                  <a:pt x="42333" y="2296583"/>
                </a:lnTo>
                <a:cubicBezTo>
                  <a:pt x="18953" y="2296583"/>
                  <a:pt x="0" y="2277630"/>
                  <a:pt x="0" y="2254250"/>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24000"/>
            <a:ext cx="42333" cy="2296583"/>
          </a:xfrm>
          <a:custGeom>
            <a:avLst/>
            <a:gdLst/>
            <a:ahLst/>
            <a:cxnLst/>
            <a:rect l="l" t="t" r="r" b="b"/>
            <a:pathLst>
              <a:path w="42333" h="2296583">
                <a:moveTo>
                  <a:pt x="42333" y="0"/>
                </a:moveTo>
                <a:lnTo>
                  <a:pt x="42333" y="0"/>
                </a:lnTo>
                <a:lnTo>
                  <a:pt x="42333" y="2296583"/>
                </a:lnTo>
                <a:lnTo>
                  <a:pt x="42333" y="2296583"/>
                </a:lnTo>
                <a:cubicBezTo>
                  <a:pt x="18953" y="2296583"/>
                  <a:pt x="0" y="2277630"/>
                  <a:pt x="0" y="2254250"/>
                </a:cubicBezTo>
                <a:lnTo>
                  <a:pt x="0" y="42333"/>
                </a:lnTo>
                <a:cubicBezTo>
                  <a:pt x="0" y="18953"/>
                  <a:pt x="18953" y="0"/>
                  <a:pt x="42333" y="0"/>
                </a:cubicBezTo>
                <a:close/>
              </a:path>
            </a:pathLst>
          </a:custGeom>
          <a:solidFill>
            <a:srgbClr val="4C7E9A"/>
          </a:solidFill>
          <a:ln/>
        </p:spPr>
      </p:sp>
      <p:sp>
        <p:nvSpPr>
          <p:cNvPr id="7" name="Text 5"/>
          <p:cNvSpPr/>
          <p:nvPr/>
        </p:nvSpPr>
        <p:spPr>
          <a:xfrm>
            <a:off x="635000" y="1693333"/>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简单回归问题</a:t>
            </a:r>
            <a:endParaRPr lang="en-US" sz="1600" dirty="0"/>
          </a:p>
        </p:txBody>
      </p:sp>
      <p:sp>
        <p:nvSpPr>
          <p:cNvPr id="8" name="Text 6"/>
          <p:cNvSpPr/>
          <p:nvPr/>
        </p:nvSpPr>
        <p:spPr>
          <a:xfrm>
            <a:off x="635000" y="2159000"/>
            <a:ext cx="7313083" cy="306917"/>
          </a:xfrm>
          <a:prstGeom prst="rect">
            <a:avLst/>
          </a:prstGeom>
          <a:noFill/>
          <a:ln/>
        </p:spPr>
        <p:txBody>
          <a:bodyPr wrap="square" lIns="0" tIns="0" rIns="0" bIns="0" rtlCol="0" anchor="ctr"/>
          <a:lstStyle/>
          <a:p>
            <a:pPr>
              <a:lnSpc>
                <a:spcPct val="140000"/>
              </a:lnSpc>
            </a:pPr>
            <a:r>
              <a:rPr lang="en-US" sz="1500" dirty="0">
                <a:solidFill>
                  <a:srgbClr val="D1D5DB"/>
                </a:solidFill>
                <a:latin typeface="MiSans" pitchFamily="34" charset="0"/>
                <a:ea typeface="MiSans" pitchFamily="34" charset="-122"/>
                <a:cs typeface="MiSans" pitchFamily="34" charset="-120"/>
              </a:rPr>
              <a:t>使用简单的回归问题数据集（4个样本）进行GBDT推导。</a:t>
            </a:r>
            <a:endParaRPr lang="en-US" sz="1600" dirty="0"/>
          </a:p>
        </p:txBody>
      </p:sp>
      <p:sp>
        <p:nvSpPr>
          <p:cNvPr id="9" name="Shape 7"/>
          <p:cNvSpPr/>
          <p:nvPr/>
        </p:nvSpPr>
        <p:spPr>
          <a:xfrm>
            <a:off x="635000" y="2595563"/>
            <a:ext cx="7217833" cy="1058333"/>
          </a:xfrm>
          <a:custGeom>
            <a:avLst/>
            <a:gdLst/>
            <a:ahLst/>
            <a:cxnLst/>
            <a:rect l="l" t="t" r="r" b="b"/>
            <a:pathLst>
              <a:path w="7217833" h="1058333">
                <a:moveTo>
                  <a:pt x="84667" y="0"/>
                </a:moveTo>
                <a:lnTo>
                  <a:pt x="7133167" y="0"/>
                </a:lnTo>
                <a:cubicBezTo>
                  <a:pt x="7179927" y="0"/>
                  <a:pt x="7217833" y="37907"/>
                  <a:pt x="7217833" y="84667"/>
                </a:cubicBezTo>
                <a:lnTo>
                  <a:pt x="7217833" y="973667"/>
                </a:lnTo>
                <a:cubicBezTo>
                  <a:pt x="7217833" y="1020427"/>
                  <a:pt x="7179927" y="1058333"/>
                  <a:pt x="7133167" y="1058333"/>
                </a:cubicBezTo>
                <a:lnTo>
                  <a:pt x="84667" y="1058333"/>
                </a:lnTo>
                <a:cubicBezTo>
                  <a:pt x="37907" y="1058333"/>
                  <a:pt x="0" y="1020427"/>
                  <a:pt x="0" y="973667"/>
                </a:cubicBezTo>
                <a:lnTo>
                  <a:pt x="0" y="84667"/>
                </a:lnTo>
                <a:cubicBezTo>
                  <a:pt x="0" y="37907"/>
                  <a:pt x="37907" y="0"/>
                  <a:pt x="84667" y="0"/>
                </a:cubicBezTo>
                <a:close/>
              </a:path>
            </a:pathLst>
          </a:custGeom>
          <a:solidFill>
            <a:srgbClr val="181A1F">
              <a:alpha val="50196"/>
            </a:srgbClr>
          </a:solidFill>
          <a:ln/>
        </p:spPr>
      </p:sp>
      <p:sp>
        <p:nvSpPr>
          <p:cNvPr id="10" name="Text 8"/>
          <p:cNvSpPr/>
          <p:nvPr/>
        </p:nvSpPr>
        <p:spPr>
          <a:xfrm>
            <a:off x="762000" y="2722563"/>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数据示例</a:t>
            </a:r>
            <a:endParaRPr lang="en-US" sz="1600" dirty="0"/>
          </a:p>
        </p:txBody>
      </p:sp>
      <p:sp>
        <p:nvSpPr>
          <p:cNvPr id="11" name="Text 9"/>
          <p:cNvSpPr/>
          <p:nvPr/>
        </p:nvSpPr>
        <p:spPr>
          <a:xfrm>
            <a:off x="762000" y="3061229"/>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x: [1, 2, 3, 4]</a:t>
            </a:r>
            <a:endParaRPr lang="en-US" sz="1600" dirty="0"/>
          </a:p>
        </p:txBody>
      </p:sp>
      <p:sp>
        <p:nvSpPr>
          <p:cNvPr id="12" name="Text 10"/>
          <p:cNvSpPr/>
          <p:nvPr/>
        </p:nvSpPr>
        <p:spPr>
          <a:xfrm>
            <a:off x="762000" y="3315229"/>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y: [14, 16, 24, 26]</a:t>
            </a:r>
            <a:endParaRPr lang="en-US" sz="1600" dirty="0"/>
          </a:p>
        </p:txBody>
      </p:sp>
      <p:sp>
        <p:nvSpPr>
          <p:cNvPr id="13" name="Shape 11"/>
          <p:cNvSpPr/>
          <p:nvPr/>
        </p:nvSpPr>
        <p:spPr>
          <a:xfrm>
            <a:off x="444500" y="3992563"/>
            <a:ext cx="7577667" cy="2053167"/>
          </a:xfrm>
          <a:custGeom>
            <a:avLst/>
            <a:gdLst/>
            <a:ahLst/>
            <a:cxnLst/>
            <a:rect l="l" t="t" r="r" b="b"/>
            <a:pathLst>
              <a:path w="7577667" h="2053167">
                <a:moveTo>
                  <a:pt x="42333" y="0"/>
                </a:moveTo>
                <a:lnTo>
                  <a:pt x="7492994" y="0"/>
                </a:lnTo>
                <a:cubicBezTo>
                  <a:pt x="7539757" y="0"/>
                  <a:pt x="7577667" y="37909"/>
                  <a:pt x="7577667" y="84673"/>
                </a:cubicBezTo>
                <a:lnTo>
                  <a:pt x="7577667" y="1968494"/>
                </a:lnTo>
                <a:cubicBezTo>
                  <a:pt x="7577667" y="2015257"/>
                  <a:pt x="7539757" y="2053167"/>
                  <a:pt x="7492994" y="2053167"/>
                </a:cubicBezTo>
                <a:lnTo>
                  <a:pt x="42333" y="2053167"/>
                </a:lnTo>
                <a:cubicBezTo>
                  <a:pt x="18953" y="2053167"/>
                  <a:pt x="0" y="2034213"/>
                  <a:pt x="0" y="2010833"/>
                </a:cubicBezTo>
                <a:lnTo>
                  <a:pt x="0" y="42333"/>
                </a:lnTo>
                <a:cubicBezTo>
                  <a:pt x="0" y="18953"/>
                  <a:pt x="18953" y="0"/>
                  <a:pt x="42333" y="0"/>
                </a:cubicBezTo>
                <a:close/>
              </a:path>
            </a:pathLst>
          </a:custGeom>
          <a:solidFill>
            <a:srgbClr val="3A5E78">
              <a:alpha val="20000"/>
            </a:srgbClr>
          </a:solidFill>
          <a:ln/>
        </p:spPr>
      </p:sp>
      <p:sp>
        <p:nvSpPr>
          <p:cNvPr id="14" name="Shape 12"/>
          <p:cNvSpPr/>
          <p:nvPr/>
        </p:nvSpPr>
        <p:spPr>
          <a:xfrm>
            <a:off x="444500" y="3992563"/>
            <a:ext cx="42333" cy="2053167"/>
          </a:xfrm>
          <a:custGeom>
            <a:avLst/>
            <a:gdLst/>
            <a:ahLst/>
            <a:cxnLst/>
            <a:rect l="l" t="t" r="r" b="b"/>
            <a:pathLst>
              <a:path w="42333" h="2053167">
                <a:moveTo>
                  <a:pt x="42333" y="0"/>
                </a:moveTo>
                <a:lnTo>
                  <a:pt x="42333" y="0"/>
                </a:lnTo>
                <a:lnTo>
                  <a:pt x="42333" y="2053167"/>
                </a:lnTo>
                <a:lnTo>
                  <a:pt x="42333" y="2053167"/>
                </a:lnTo>
                <a:cubicBezTo>
                  <a:pt x="18953" y="2053167"/>
                  <a:pt x="0" y="2034213"/>
                  <a:pt x="0" y="2010833"/>
                </a:cubicBezTo>
                <a:lnTo>
                  <a:pt x="0" y="42333"/>
                </a:lnTo>
                <a:cubicBezTo>
                  <a:pt x="0" y="18953"/>
                  <a:pt x="18953" y="0"/>
                  <a:pt x="42333" y="0"/>
                </a:cubicBezTo>
                <a:close/>
              </a:path>
            </a:pathLst>
          </a:custGeom>
          <a:solidFill>
            <a:srgbClr val="7E9AA8"/>
          </a:solidFill>
          <a:ln/>
        </p:spPr>
      </p:sp>
      <p:sp>
        <p:nvSpPr>
          <p:cNvPr id="15" name="Text 13"/>
          <p:cNvSpPr/>
          <p:nvPr/>
        </p:nvSpPr>
        <p:spPr>
          <a:xfrm>
            <a:off x="635000" y="4161896"/>
            <a:ext cx="7344833"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初始化 F₀(x)</a:t>
            </a:r>
            <a:endParaRPr lang="en-US" sz="1600" dirty="0"/>
          </a:p>
        </p:txBody>
      </p:sp>
      <p:sp>
        <p:nvSpPr>
          <p:cNvPr id="16" name="Text 14"/>
          <p:cNvSpPr/>
          <p:nvPr/>
        </p:nvSpPr>
        <p:spPr>
          <a:xfrm>
            <a:off x="635000" y="4627563"/>
            <a:ext cx="7302500" cy="275167"/>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使用目标值的平均值作为初始预测：</a:t>
            </a:r>
            <a:endParaRPr lang="en-US" sz="1600" dirty="0"/>
          </a:p>
        </p:txBody>
      </p:sp>
      <p:sp>
        <p:nvSpPr>
          <p:cNvPr id="17" name="Shape 15"/>
          <p:cNvSpPr/>
          <p:nvPr/>
        </p:nvSpPr>
        <p:spPr>
          <a:xfrm>
            <a:off x="635000" y="5029729"/>
            <a:ext cx="7217833" cy="550333"/>
          </a:xfrm>
          <a:custGeom>
            <a:avLst/>
            <a:gdLst/>
            <a:ahLst/>
            <a:cxnLst/>
            <a:rect l="l" t="t" r="r" b="b"/>
            <a:pathLst>
              <a:path w="7217833" h="550333">
                <a:moveTo>
                  <a:pt x="42332" y="0"/>
                </a:moveTo>
                <a:lnTo>
                  <a:pt x="7175502" y="0"/>
                </a:lnTo>
                <a:cubicBezTo>
                  <a:pt x="7198881" y="0"/>
                  <a:pt x="7217833" y="18953"/>
                  <a:pt x="7217833" y="42332"/>
                </a:cubicBezTo>
                <a:lnTo>
                  <a:pt x="7217833" y="508002"/>
                </a:lnTo>
                <a:cubicBezTo>
                  <a:pt x="7217833" y="531381"/>
                  <a:pt x="7198881" y="550333"/>
                  <a:pt x="7175502" y="550333"/>
                </a:cubicBezTo>
                <a:lnTo>
                  <a:pt x="42332" y="550333"/>
                </a:lnTo>
                <a:cubicBezTo>
                  <a:pt x="18953" y="550333"/>
                  <a:pt x="0" y="531381"/>
                  <a:pt x="0" y="508002"/>
                </a:cubicBezTo>
                <a:lnTo>
                  <a:pt x="0" y="42332"/>
                </a:lnTo>
                <a:cubicBezTo>
                  <a:pt x="0" y="18968"/>
                  <a:pt x="18968" y="0"/>
                  <a:pt x="42332" y="0"/>
                </a:cubicBezTo>
                <a:close/>
              </a:path>
            </a:pathLst>
          </a:custGeom>
          <a:solidFill>
            <a:srgbClr val="181A1F"/>
          </a:solidFill>
          <a:ln/>
        </p:spPr>
      </p:sp>
      <p:sp>
        <p:nvSpPr>
          <p:cNvPr id="18" name="Text 16"/>
          <p:cNvSpPr/>
          <p:nvPr/>
        </p:nvSpPr>
        <p:spPr>
          <a:xfrm>
            <a:off x="714375" y="5156729"/>
            <a:ext cx="7059083" cy="296333"/>
          </a:xfrm>
          <a:prstGeom prst="rect">
            <a:avLst/>
          </a:prstGeom>
          <a:noFill/>
          <a:ln/>
        </p:spPr>
        <p:txBody>
          <a:bodyPr wrap="square" lIns="0" tIns="0" rIns="0" bIns="0" rtlCol="0" anchor="ctr"/>
          <a:lstStyle/>
          <a:p>
            <a:pPr algn="ctr">
              <a:lnSpc>
                <a:spcPct val="130000"/>
              </a:lnSpc>
            </a:pPr>
            <a:r>
              <a:rPr lang="en-US" sz="1500" dirty="0">
                <a:solidFill>
                  <a:srgbClr val="7E9AA8"/>
                </a:solidFill>
                <a:latin typeface="MiSans" pitchFamily="34" charset="0"/>
                <a:ea typeface="MiSans" pitchFamily="34" charset="-122"/>
                <a:cs typeface="MiSans" pitchFamily="34" charset="-120"/>
              </a:rPr>
              <a:t>F₀(x) = 20</a:t>
            </a:r>
            <a:endParaRPr lang="en-US" sz="1600" dirty="0"/>
          </a:p>
        </p:txBody>
      </p:sp>
      <p:sp>
        <p:nvSpPr>
          <p:cNvPr id="19" name="Text 17"/>
          <p:cNvSpPr/>
          <p:nvPr/>
        </p:nvSpPr>
        <p:spPr>
          <a:xfrm>
            <a:off x="635000" y="5664729"/>
            <a:ext cx="7291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初始残差：r₁ = [-6, -4, 4, 6]</a:t>
            </a:r>
            <a:endParaRPr lang="en-US" sz="1600" dirty="0"/>
          </a:p>
        </p:txBody>
      </p:sp>
      <p:sp>
        <p:nvSpPr>
          <p:cNvPr id="20" name="Shape 18"/>
          <p:cNvSpPr/>
          <p:nvPr/>
        </p:nvSpPr>
        <p:spPr>
          <a:xfrm>
            <a:off x="444500" y="6215063"/>
            <a:ext cx="7577667" cy="2921000"/>
          </a:xfrm>
          <a:custGeom>
            <a:avLst/>
            <a:gdLst/>
            <a:ahLst/>
            <a:cxnLst/>
            <a:rect l="l" t="t" r="r" b="b"/>
            <a:pathLst>
              <a:path w="7577667" h="2921000">
                <a:moveTo>
                  <a:pt x="42333" y="0"/>
                </a:moveTo>
                <a:lnTo>
                  <a:pt x="7492987" y="0"/>
                </a:lnTo>
                <a:cubicBezTo>
                  <a:pt x="7539754" y="0"/>
                  <a:pt x="7577667" y="37912"/>
                  <a:pt x="7577667" y="84680"/>
                </a:cubicBezTo>
                <a:lnTo>
                  <a:pt x="7577667" y="2836320"/>
                </a:lnTo>
                <a:cubicBezTo>
                  <a:pt x="7577667" y="2883088"/>
                  <a:pt x="7539754" y="2921000"/>
                  <a:pt x="7492987" y="2921000"/>
                </a:cubicBezTo>
                <a:lnTo>
                  <a:pt x="42333" y="2921000"/>
                </a:lnTo>
                <a:cubicBezTo>
                  <a:pt x="18953" y="2921000"/>
                  <a:pt x="0" y="2902047"/>
                  <a:pt x="0" y="2878667"/>
                </a:cubicBezTo>
                <a:lnTo>
                  <a:pt x="0" y="42333"/>
                </a:lnTo>
                <a:cubicBezTo>
                  <a:pt x="0" y="18953"/>
                  <a:pt x="18953" y="0"/>
                  <a:pt x="42333" y="0"/>
                </a:cubicBezTo>
                <a:close/>
              </a:path>
            </a:pathLst>
          </a:custGeom>
          <a:solidFill>
            <a:srgbClr val="3A5E78">
              <a:alpha val="20000"/>
            </a:srgbClr>
          </a:solidFill>
          <a:ln/>
        </p:spPr>
      </p:sp>
      <p:sp>
        <p:nvSpPr>
          <p:cNvPr id="21" name="Shape 19"/>
          <p:cNvSpPr/>
          <p:nvPr/>
        </p:nvSpPr>
        <p:spPr>
          <a:xfrm>
            <a:off x="444500" y="6215063"/>
            <a:ext cx="42333" cy="2921000"/>
          </a:xfrm>
          <a:custGeom>
            <a:avLst/>
            <a:gdLst/>
            <a:ahLst/>
            <a:cxnLst/>
            <a:rect l="l" t="t" r="r" b="b"/>
            <a:pathLst>
              <a:path w="42333" h="2921000">
                <a:moveTo>
                  <a:pt x="42333" y="0"/>
                </a:moveTo>
                <a:lnTo>
                  <a:pt x="42333" y="0"/>
                </a:lnTo>
                <a:lnTo>
                  <a:pt x="42333" y="2921000"/>
                </a:lnTo>
                <a:lnTo>
                  <a:pt x="42333" y="2921000"/>
                </a:lnTo>
                <a:cubicBezTo>
                  <a:pt x="18953" y="2921000"/>
                  <a:pt x="0" y="2902047"/>
                  <a:pt x="0" y="2878667"/>
                </a:cubicBezTo>
                <a:lnTo>
                  <a:pt x="0" y="42333"/>
                </a:lnTo>
                <a:cubicBezTo>
                  <a:pt x="0" y="18953"/>
                  <a:pt x="18953" y="0"/>
                  <a:pt x="42333" y="0"/>
                </a:cubicBezTo>
                <a:close/>
              </a:path>
            </a:pathLst>
          </a:custGeom>
          <a:solidFill>
            <a:srgbClr val="4C7E9A"/>
          </a:solidFill>
          <a:ln/>
        </p:spPr>
      </p:sp>
      <p:sp>
        <p:nvSpPr>
          <p:cNvPr id="22" name="Text 20"/>
          <p:cNvSpPr/>
          <p:nvPr/>
        </p:nvSpPr>
        <p:spPr>
          <a:xfrm>
            <a:off x="635000" y="6384396"/>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迭代1：拟合残差</a:t>
            </a:r>
            <a:endParaRPr lang="en-US" sz="1600" dirty="0"/>
          </a:p>
        </p:txBody>
      </p:sp>
      <p:sp>
        <p:nvSpPr>
          <p:cNvPr id="23" name="Shape 21"/>
          <p:cNvSpPr/>
          <p:nvPr/>
        </p:nvSpPr>
        <p:spPr>
          <a:xfrm>
            <a:off x="635000" y="6850063"/>
            <a:ext cx="7217833" cy="762000"/>
          </a:xfrm>
          <a:custGeom>
            <a:avLst/>
            <a:gdLst/>
            <a:ahLst/>
            <a:cxnLst/>
            <a:rect l="l" t="t" r="r" b="b"/>
            <a:pathLst>
              <a:path w="7217833" h="762000">
                <a:moveTo>
                  <a:pt x="42337" y="0"/>
                </a:moveTo>
                <a:lnTo>
                  <a:pt x="7175497" y="0"/>
                </a:lnTo>
                <a:cubicBezTo>
                  <a:pt x="7198879" y="0"/>
                  <a:pt x="7217833" y="18955"/>
                  <a:pt x="7217833" y="42337"/>
                </a:cubicBezTo>
                <a:lnTo>
                  <a:pt x="7217833" y="719663"/>
                </a:lnTo>
                <a:cubicBezTo>
                  <a:pt x="7217833" y="743045"/>
                  <a:pt x="7198879" y="762000"/>
                  <a:pt x="7175497" y="762000"/>
                </a:cubicBezTo>
                <a:lnTo>
                  <a:pt x="42337" y="762000"/>
                </a:lnTo>
                <a:cubicBezTo>
                  <a:pt x="18955" y="762000"/>
                  <a:pt x="0" y="743045"/>
                  <a:pt x="0" y="719663"/>
                </a:cubicBezTo>
                <a:lnTo>
                  <a:pt x="0" y="42337"/>
                </a:lnTo>
                <a:cubicBezTo>
                  <a:pt x="0" y="18955"/>
                  <a:pt x="18955" y="0"/>
                  <a:pt x="42337" y="0"/>
                </a:cubicBezTo>
                <a:close/>
              </a:path>
            </a:pathLst>
          </a:custGeom>
          <a:solidFill>
            <a:srgbClr val="181A1F">
              <a:alpha val="50196"/>
            </a:srgbClr>
          </a:solidFill>
          <a:ln/>
        </p:spPr>
      </p:sp>
      <p:sp>
        <p:nvSpPr>
          <p:cNvPr id="24" name="Text 22"/>
          <p:cNvSpPr/>
          <p:nvPr/>
        </p:nvSpPr>
        <p:spPr>
          <a:xfrm>
            <a:off x="719667" y="6934729"/>
            <a:ext cx="7122583" cy="211667"/>
          </a:xfrm>
          <a:prstGeom prst="rect">
            <a:avLst/>
          </a:prstGeom>
          <a:noFill/>
          <a:ln/>
        </p:spPr>
        <p:txBody>
          <a:bodyPr wrap="square" lIns="0" tIns="0" rIns="0" bIns="0" rtlCol="0" anchor="ctr"/>
          <a:lstStyle/>
          <a:p>
            <a:pPr>
              <a:lnSpc>
                <a:spcPct val="120000"/>
              </a:lnSpc>
            </a:pPr>
            <a:r>
              <a:rPr lang="en-US" sz="1167" b="1" dirty="0">
                <a:solidFill>
                  <a:srgbClr val="D1D5DB"/>
                </a:solidFill>
                <a:latin typeface="MiSans" pitchFamily="34" charset="0"/>
                <a:ea typeface="MiSans" pitchFamily="34" charset="-122"/>
                <a:cs typeface="MiSans" pitchFamily="34" charset="-120"/>
              </a:rPr>
              <a:t>训练h₁(x)</a:t>
            </a:r>
            <a:endParaRPr lang="en-US" sz="1600" dirty="0"/>
          </a:p>
        </p:txBody>
      </p:sp>
      <p:sp>
        <p:nvSpPr>
          <p:cNvPr id="25" name="Text 23"/>
          <p:cNvSpPr/>
          <p:nvPr/>
        </p:nvSpPr>
        <p:spPr>
          <a:xfrm>
            <a:off x="719667" y="7188729"/>
            <a:ext cx="7112000" cy="338667"/>
          </a:xfrm>
          <a:prstGeom prst="rect">
            <a:avLst/>
          </a:prstGeom>
          <a:noFill/>
          <a:ln/>
        </p:spPr>
        <p:txBody>
          <a:bodyPr wrap="square" lIns="0" tIns="0" rIns="0" bIns="0" rtlCol="0" anchor="ctr"/>
          <a:lstStyle/>
          <a:p>
            <a:pPr>
              <a:lnSpc>
                <a:spcPct val="110000"/>
              </a:lnSpc>
            </a:pPr>
            <a:r>
              <a:rPr lang="en-US" sz="1000" dirty="0">
                <a:solidFill>
                  <a:srgbClr val="7E9AA8"/>
                </a:solidFill>
                <a:latin typeface="MiSans" pitchFamily="34" charset="0"/>
                <a:ea typeface="MiSans" pitchFamily="34" charset="-122"/>
                <a:cs typeface="MiSans" pitchFamily="34" charset="-120"/>
              </a:rPr>
              <a:t>x ≤ 2.5时 h₁ = -5</a:t>
            </a:r>
            <a:endParaRPr lang="en-US" sz="1600" dirty="0"/>
          </a:p>
          <a:p>
            <a:pPr>
              <a:lnSpc>
                <a:spcPct val="110000"/>
              </a:lnSpc>
            </a:pPr>
            <a:r>
              <a:rPr lang="en-US" sz="1000" dirty="0">
                <a:solidFill>
                  <a:srgbClr val="7E9AA8"/>
                </a:solidFill>
                <a:latin typeface="MiSans" pitchFamily="34" charset="0"/>
                <a:ea typeface="MiSans" pitchFamily="34" charset="-122"/>
                <a:cs typeface="MiSans" pitchFamily="34" charset="-120"/>
              </a:rPr>
              <a:t>x &gt; 2.5时 h₁ = 5</a:t>
            </a:r>
            <a:endParaRPr lang="en-US" sz="1600" dirty="0"/>
          </a:p>
        </p:txBody>
      </p:sp>
      <p:sp>
        <p:nvSpPr>
          <p:cNvPr id="26" name="Shape 24"/>
          <p:cNvSpPr/>
          <p:nvPr/>
        </p:nvSpPr>
        <p:spPr>
          <a:xfrm>
            <a:off x="635000" y="7696729"/>
            <a:ext cx="7217833" cy="592667"/>
          </a:xfrm>
          <a:custGeom>
            <a:avLst/>
            <a:gdLst/>
            <a:ahLst/>
            <a:cxnLst/>
            <a:rect l="l" t="t" r="r" b="b"/>
            <a:pathLst>
              <a:path w="7217833" h="592667">
                <a:moveTo>
                  <a:pt x="42334" y="0"/>
                </a:moveTo>
                <a:lnTo>
                  <a:pt x="7175499" y="0"/>
                </a:lnTo>
                <a:cubicBezTo>
                  <a:pt x="7198880" y="0"/>
                  <a:pt x="7217833" y="18954"/>
                  <a:pt x="7217833" y="42334"/>
                </a:cubicBezTo>
                <a:lnTo>
                  <a:pt x="7217833" y="550332"/>
                </a:lnTo>
                <a:cubicBezTo>
                  <a:pt x="7217833" y="573713"/>
                  <a:pt x="7198880" y="592667"/>
                  <a:pt x="7175499" y="592667"/>
                </a:cubicBezTo>
                <a:lnTo>
                  <a:pt x="42334" y="592667"/>
                </a:lnTo>
                <a:cubicBezTo>
                  <a:pt x="18954" y="592667"/>
                  <a:pt x="0" y="573713"/>
                  <a:pt x="0" y="550332"/>
                </a:cubicBezTo>
                <a:lnTo>
                  <a:pt x="0" y="42334"/>
                </a:lnTo>
                <a:cubicBezTo>
                  <a:pt x="0" y="18969"/>
                  <a:pt x="18969" y="0"/>
                  <a:pt x="42334" y="0"/>
                </a:cubicBezTo>
                <a:close/>
              </a:path>
            </a:pathLst>
          </a:custGeom>
          <a:solidFill>
            <a:srgbClr val="181A1F">
              <a:alpha val="50196"/>
            </a:srgbClr>
          </a:solidFill>
          <a:ln/>
        </p:spPr>
      </p:sp>
      <p:sp>
        <p:nvSpPr>
          <p:cNvPr id="27" name="Text 25"/>
          <p:cNvSpPr/>
          <p:nvPr/>
        </p:nvSpPr>
        <p:spPr>
          <a:xfrm>
            <a:off x="719667" y="7781396"/>
            <a:ext cx="7122583" cy="211667"/>
          </a:xfrm>
          <a:prstGeom prst="rect">
            <a:avLst/>
          </a:prstGeom>
          <a:noFill/>
          <a:ln/>
        </p:spPr>
        <p:txBody>
          <a:bodyPr wrap="square" lIns="0" tIns="0" rIns="0" bIns="0" rtlCol="0" anchor="ctr"/>
          <a:lstStyle/>
          <a:p>
            <a:pPr>
              <a:lnSpc>
                <a:spcPct val="120000"/>
              </a:lnSpc>
            </a:pPr>
            <a:r>
              <a:rPr lang="en-US" sz="1167" b="1" dirty="0">
                <a:solidFill>
                  <a:srgbClr val="D1D5DB"/>
                </a:solidFill>
                <a:latin typeface="MiSans" pitchFamily="34" charset="0"/>
                <a:ea typeface="MiSans" pitchFamily="34" charset="-122"/>
                <a:cs typeface="MiSans" pitchFamily="34" charset="-120"/>
              </a:rPr>
              <a:t>确定步长</a:t>
            </a:r>
            <a:endParaRPr lang="en-US" sz="1600" dirty="0"/>
          </a:p>
        </p:txBody>
      </p:sp>
      <p:sp>
        <p:nvSpPr>
          <p:cNvPr id="28" name="Text 26"/>
          <p:cNvSpPr/>
          <p:nvPr/>
        </p:nvSpPr>
        <p:spPr>
          <a:xfrm>
            <a:off x="719667" y="8035396"/>
            <a:ext cx="7112000" cy="169333"/>
          </a:xfrm>
          <a:prstGeom prst="rect">
            <a:avLst/>
          </a:prstGeom>
          <a:noFill/>
          <a:ln/>
        </p:spPr>
        <p:txBody>
          <a:bodyPr wrap="square" lIns="0" tIns="0" rIns="0" bIns="0" rtlCol="0" anchor="ctr"/>
          <a:lstStyle/>
          <a:p>
            <a:pPr>
              <a:lnSpc>
                <a:spcPct val="110000"/>
              </a:lnSpc>
            </a:pPr>
            <a:r>
              <a:rPr lang="en-US" sz="1000" dirty="0">
                <a:solidFill>
                  <a:srgbClr val="7E9AA8"/>
                </a:solidFill>
                <a:latin typeface="MiSans" pitchFamily="34" charset="0"/>
                <a:ea typeface="MiSans" pitchFamily="34" charset="-122"/>
                <a:cs typeface="MiSans" pitchFamily="34" charset="-120"/>
              </a:rPr>
              <a:t>α₁ = 1</a:t>
            </a:r>
            <a:endParaRPr lang="en-US" sz="1600" dirty="0"/>
          </a:p>
        </p:txBody>
      </p:sp>
      <p:sp>
        <p:nvSpPr>
          <p:cNvPr id="29" name="Shape 27"/>
          <p:cNvSpPr/>
          <p:nvPr/>
        </p:nvSpPr>
        <p:spPr>
          <a:xfrm>
            <a:off x="635000" y="8374063"/>
            <a:ext cx="7217833" cy="592667"/>
          </a:xfrm>
          <a:custGeom>
            <a:avLst/>
            <a:gdLst/>
            <a:ahLst/>
            <a:cxnLst/>
            <a:rect l="l" t="t" r="r" b="b"/>
            <a:pathLst>
              <a:path w="7217833" h="592667">
                <a:moveTo>
                  <a:pt x="42334" y="0"/>
                </a:moveTo>
                <a:lnTo>
                  <a:pt x="7175499" y="0"/>
                </a:lnTo>
                <a:cubicBezTo>
                  <a:pt x="7198880" y="0"/>
                  <a:pt x="7217833" y="18954"/>
                  <a:pt x="7217833" y="42334"/>
                </a:cubicBezTo>
                <a:lnTo>
                  <a:pt x="7217833" y="550332"/>
                </a:lnTo>
                <a:cubicBezTo>
                  <a:pt x="7217833" y="573713"/>
                  <a:pt x="7198880" y="592667"/>
                  <a:pt x="7175499" y="592667"/>
                </a:cubicBezTo>
                <a:lnTo>
                  <a:pt x="42334" y="592667"/>
                </a:lnTo>
                <a:cubicBezTo>
                  <a:pt x="18954" y="592667"/>
                  <a:pt x="0" y="573713"/>
                  <a:pt x="0" y="550332"/>
                </a:cubicBezTo>
                <a:lnTo>
                  <a:pt x="0" y="42334"/>
                </a:lnTo>
                <a:cubicBezTo>
                  <a:pt x="0" y="18969"/>
                  <a:pt x="18969" y="0"/>
                  <a:pt x="42334" y="0"/>
                </a:cubicBezTo>
                <a:close/>
              </a:path>
            </a:pathLst>
          </a:custGeom>
          <a:solidFill>
            <a:srgbClr val="181A1F">
              <a:alpha val="50196"/>
            </a:srgbClr>
          </a:solidFill>
          <a:ln/>
        </p:spPr>
      </p:sp>
      <p:sp>
        <p:nvSpPr>
          <p:cNvPr id="30" name="Text 28"/>
          <p:cNvSpPr/>
          <p:nvPr/>
        </p:nvSpPr>
        <p:spPr>
          <a:xfrm>
            <a:off x="719667" y="8458729"/>
            <a:ext cx="7122583" cy="211667"/>
          </a:xfrm>
          <a:prstGeom prst="rect">
            <a:avLst/>
          </a:prstGeom>
          <a:noFill/>
          <a:ln/>
        </p:spPr>
        <p:txBody>
          <a:bodyPr wrap="square" lIns="0" tIns="0" rIns="0" bIns="0" rtlCol="0" anchor="ctr"/>
          <a:lstStyle/>
          <a:p>
            <a:pPr>
              <a:lnSpc>
                <a:spcPct val="120000"/>
              </a:lnSpc>
            </a:pPr>
            <a:r>
              <a:rPr lang="en-US" sz="1167" b="1" dirty="0">
                <a:solidFill>
                  <a:srgbClr val="D1D5DB"/>
                </a:solidFill>
                <a:latin typeface="MiSans" pitchFamily="34" charset="0"/>
                <a:ea typeface="MiSans" pitchFamily="34" charset="-122"/>
                <a:cs typeface="MiSans" pitchFamily="34" charset="-120"/>
              </a:rPr>
              <a:t>更新预测</a:t>
            </a:r>
            <a:endParaRPr lang="en-US" sz="1600" dirty="0"/>
          </a:p>
        </p:txBody>
      </p:sp>
      <p:sp>
        <p:nvSpPr>
          <p:cNvPr id="31" name="Text 29"/>
          <p:cNvSpPr/>
          <p:nvPr/>
        </p:nvSpPr>
        <p:spPr>
          <a:xfrm>
            <a:off x="719667" y="8712729"/>
            <a:ext cx="7112000" cy="169333"/>
          </a:xfrm>
          <a:prstGeom prst="rect">
            <a:avLst/>
          </a:prstGeom>
          <a:noFill/>
          <a:ln/>
        </p:spPr>
        <p:txBody>
          <a:bodyPr wrap="square" lIns="0" tIns="0" rIns="0" bIns="0" rtlCol="0" anchor="ctr"/>
          <a:lstStyle/>
          <a:p>
            <a:pPr>
              <a:lnSpc>
                <a:spcPct val="110000"/>
              </a:lnSpc>
            </a:pPr>
            <a:r>
              <a:rPr lang="en-US" sz="1000" dirty="0">
                <a:solidFill>
                  <a:srgbClr val="7E9AA8"/>
                </a:solidFill>
                <a:latin typeface="MiSans" pitchFamily="34" charset="0"/>
                <a:ea typeface="MiSans" pitchFamily="34" charset="-122"/>
                <a:cs typeface="MiSans" pitchFamily="34" charset="-120"/>
              </a:rPr>
              <a:t>F₁ = [15, 15, 25, 25]</a:t>
            </a:r>
            <a:endParaRPr lang="en-US" sz="1600" dirty="0"/>
          </a:p>
        </p:txBody>
      </p:sp>
      <p:sp>
        <p:nvSpPr>
          <p:cNvPr id="32" name="Shape 30"/>
          <p:cNvSpPr/>
          <p:nvPr/>
        </p:nvSpPr>
        <p:spPr>
          <a:xfrm>
            <a:off x="8255000" y="1524000"/>
            <a:ext cx="7577667" cy="3598333"/>
          </a:xfrm>
          <a:custGeom>
            <a:avLst/>
            <a:gdLst/>
            <a:ahLst/>
            <a:cxnLst/>
            <a:rect l="l" t="t" r="r" b="b"/>
            <a:pathLst>
              <a:path w="7577667" h="3598333">
                <a:moveTo>
                  <a:pt x="42333" y="0"/>
                </a:moveTo>
                <a:lnTo>
                  <a:pt x="7492998" y="0"/>
                </a:lnTo>
                <a:cubicBezTo>
                  <a:pt x="7539759" y="0"/>
                  <a:pt x="7577667" y="37908"/>
                  <a:pt x="7577667" y="84669"/>
                </a:cubicBezTo>
                <a:lnTo>
                  <a:pt x="7577667" y="3513665"/>
                </a:lnTo>
                <a:cubicBezTo>
                  <a:pt x="7577667" y="3560426"/>
                  <a:pt x="7539759" y="3598333"/>
                  <a:pt x="7492998" y="3598333"/>
                </a:cubicBezTo>
                <a:lnTo>
                  <a:pt x="42333" y="3598333"/>
                </a:lnTo>
                <a:cubicBezTo>
                  <a:pt x="18953" y="3598333"/>
                  <a:pt x="0" y="3579380"/>
                  <a:pt x="0" y="3556000"/>
                </a:cubicBezTo>
                <a:lnTo>
                  <a:pt x="0" y="42333"/>
                </a:lnTo>
                <a:cubicBezTo>
                  <a:pt x="0" y="18953"/>
                  <a:pt x="18953" y="0"/>
                  <a:pt x="42333" y="0"/>
                </a:cubicBezTo>
                <a:close/>
              </a:path>
            </a:pathLst>
          </a:custGeom>
          <a:solidFill>
            <a:srgbClr val="3A5E78">
              <a:alpha val="20000"/>
            </a:srgbClr>
          </a:solidFill>
          <a:ln/>
        </p:spPr>
      </p:sp>
      <p:sp>
        <p:nvSpPr>
          <p:cNvPr id="33" name="Shape 31"/>
          <p:cNvSpPr/>
          <p:nvPr/>
        </p:nvSpPr>
        <p:spPr>
          <a:xfrm>
            <a:off x="8255000" y="1524000"/>
            <a:ext cx="42333" cy="3598333"/>
          </a:xfrm>
          <a:custGeom>
            <a:avLst/>
            <a:gdLst/>
            <a:ahLst/>
            <a:cxnLst/>
            <a:rect l="l" t="t" r="r" b="b"/>
            <a:pathLst>
              <a:path w="42333" h="3598333">
                <a:moveTo>
                  <a:pt x="42333" y="0"/>
                </a:moveTo>
                <a:lnTo>
                  <a:pt x="42333" y="0"/>
                </a:lnTo>
                <a:lnTo>
                  <a:pt x="42333" y="3598333"/>
                </a:lnTo>
                <a:lnTo>
                  <a:pt x="42333" y="3598333"/>
                </a:lnTo>
                <a:cubicBezTo>
                  <a:pt x="18953" y="3598333"/>
                  <a:pt x="0" y="3579380"/>
                  <a:pt x="0" y="3556000"/>
                </a:cubicBezTo>
                <a:lnTo>
                  <a:pt x="0" y="42333"/>
                </a:lnTo>
                <a:cubicBezTo>
                  <a:pt x="0" y="18953"/>
                  <a:pt x="18953" y="0"/>
                  <a:pt x="42333" y="0"/>
                </a:cubicBezTo>
                <a:close/>
              </a:path>
            </a:pathLst>
          </a:custGeom>
          <a:solidFill>
            <a:srgbClr val="7E9AA8"/>
          </a:solidFill>
          <a:ln/>
        </p:spPr>
      </p:sp>
      <p:sp>
        <p:nvSpPr>
          <p:cNvPr id="34" name="Text 32"/>
          <p:cNvSpPr/>
          <p:nvPr/>
        </p:nvSpPr>
        <p:spPr>
          <a:xfrm>
            <a:off x="8445500" y="1693333"/>
            <a:ext cx="7344833"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迭代2：继续优化</a:t>
            </a:r>
            <a:endParaRPr lang="en-US" sz="1600" dirty="0"/>
          </a:p>
        </p:txBody>
      </p:sp>
      <p:sp>
        <p:nvSpPr>
          <p:cNvPr id="35" name="Shape 33"/>
          <p:cNvSpPr/>
          <p:nvPr/>
        </p:nvSpPr>
        <p:spPr>
          <a:xfrm>
            <a:off x="8445500" y="2159000"/>
            <a:ext cx="7217833" cy="592667"/>
          </a:xfrm>
          <a:custGeom>
            <a:avLst/>
            <a:gdLst/>
            <a:ahLst/>
            <a:cxnLst/>
            <a:rect l="l" t="t" r="r" b="b"/>
            <a:pathLst>
              <a:path w="7217833" h="592667">
                <a:moveTo>
                  <a:pt x="42334" y="0"/>
                </a:moveTo>
                <a:lnTo>
                  <a:pt x="7175499" y="0"/>
                </a:lnTo>
                <a:cubicBezTo>
                  <a:pt x="7198880" y="0"/>
                  <a:pt x="7217833" y="18954"/>
                  <a:pt x="7217833" y="42334"/>
                </a:cubicBezTo>
                <a:lnTo>
                  <a:pt x="7217833" y="550332"/>
                </a:lnTo>
                <a:cubicBezTo>
                  <a:pt x="7217833" y="573713"/>
                  <a:pt x="7198880" y="592667"/>
                  <a:pt x="7175499" y="592667"/>
                </a:cubicBezTo>
                <a:lnTo>
                  <a:pt x="42334" y="592667"/>
                </a:lnTo>
                <a:cubicBezTo>
                  <a:pt x="18954" y="592667"/>
                  <a:pt x="0" y="573713"/>
                  <a:pt x="0" y="550332"/>
                </a:cubicBezTo>
                <a:lnTo>
                  <a:pt x="0" y="42334"/>
                </a:lnTo>
                <a:cubicBezTo>
                  <a:pt x="0" y="18969"/>
                  <a:pt x="18969" y="0"/>
                  <a:pt x="42334" y="0"/>
                </a:cubicBezTo>
                <a:close/>
              </a:path>
            </a:pathLst>
          </a:custGeom>
          <a:solidFill>
            <a:srgbClr val="181A1F">
              <a:alpha val="50196"/>
            </a:srgbClr>
          </a:solidFill>
          <a:ln/>
        </p:spPr>
      </p:sp>
      <p:sp>
        <p:nvSpPr>
          <p:cNvPr id="36" name="Text 34"/>
          <p:cNvSpPr/>
          <p:nvPr/>
        </p:nvSpPr>
        <p:spPr>
          <a:xfrm>
            <a:off x="8530167" y="2243667"/>
            <a:ext cx="7122583" cy="211667"/>
          </a:xfrm>
          <a:prstGeom prst="rect">
            <a:avLst/>
          </a:prstGeom>
          <a:noFill/>
          <a:ln/>
        </p:spPr>
        <p:txBody>
          <a:bodyPr wrap="square" lIns="0" tIns="0" rIns="0" bIns="0" rtlCol="0" anchor="ctr"/>
          <a:lstStyle/>
          <a:p>
            <a:pPr>
              <a:lnSpc>
                <a:spcPct val="120000"/>
              </a:lnSpc>
            </a:pPr>
            <a:r>
              <a:rPr lang="en-US" sz="1167" b="1" dirty="0">
                <a:solidFill>
                  <a:srgbClr val="D1D5DB"/>
                </a:solidFill>
                <a:latin typeface="MiSans" pitchFamily="34" charset="0"/>
                <a:ea typeface="MiSans" pitchFamily="34" charset="-122"/>
                <a:cs typeface="MiSans" pitchFamily="34" charset="-120"/>
              </a:rPr>
              <a:t>计算新残差</a:t>
            </a:r>
            <a:endParaRPr lang="en-US" sz="1600" dirty="0"/>
          </a:p>
        </p:txBody>
      </p:sp>
      <p:sp>
        <p:nvSpPr>
          <p:cNvPr id="37" name="Text 35"/>
          <p:cNvSpPr/>
          <p:nvPr/>
        </p:nvSpPr>
        <p:spPr>
          <a:xfrm>
            <a:off x="8530167" y="2497667"/>
            <a:ext cx="7112000" cy="169333"/>
          </a:xfrm>
          <a:prstGeom prst="rect">
            <a:avLst/>
          </a:prstGeom>
          <a:noFill/>
          <a:ln/>
        </p:spPr>
        <p:txBody>
          <a:bodyPr wrap="square" lIns="0" tIns="0" rIns="0" bIns="0" rtlCol="0" anchor="ctr"/>
          <a:lstStyle/>
          <a:p>
            <a:pPr>
              <a:lnSpc>
                <a:spcPct val="110000"/>
              </a:lnSpc>
            </a:pPr>
            <a:r>
              <a:rPr lang="en-US" sz="1000" dirty="0">
                <a:solidFill>
                  <a:srgbClr val="7E9AA8"/>
                </a:solidFill>
                <a:latin typeface="MiSans" pitchFamily="34" charset="0"/>
                <a:ea typeface="MiSans" pitchFamily="34" charset="-122"/>
                <a:cs typeface="MiSans" pitchFamily="34" charset="-120"/>
              </a:rPr>
              <a:t>r₂ = [-1, 1, -1, 1]</a:t>
            </a:r>
            <a:endParaRPr lang="en-US" sz="1600" dirty="0"/>
          </a:p>
        </p:txBody>
      </p:sp>
      <p:sp>
        <p:nvSpPr>
          <p:cNvPr id="38" name="Shape 36"/>
          <p:cNvSpPr/>
          <p:nvPr/>
        </p:nvSpPr>
        <p:spPr>
          <a:xfrm>
            <a:off x="8445500" y="2836333"/>
            <a:ext cx="7217833" cy="762000"/>
          </a:xfrm>
          <a:custGeom>
            <a:avLst/>
            <a:gdLst/>
            <a:ahLst/>
            <a:cxnLst/>
            <a:rect l="l" t="t" r="r" b="b"/>
            <a:pathLst>
              <a:path w="7217833" h="762000">
                <a:moveTo>
                  <a:pt x="42337" y="0"/>
                </a:moveTo>
                <a:lnTo>
                  <a:pt x="7175497" y="0"/>
                </a:lnTo>
                <a:cubicBezTo>
                  <a:pt x="7198879" y="0"/>
                  <a:pt x="7217833" y="18955"/>
                  <a:pt x="7217833" y="42337"/>
                </a:cubicBezTo>
                <a:lnTo>
                  <a:pt x="7217833" y="719663"/>
                </a:lnTo>
                <a:cubicBezTo>
                  <a:pt x="7217833" y="743045"/>
                  <a:pt x="7198879" y="762000"/>
                  <a:pt x="7175497" y="762000"/>
                </a:cubicBezTo>
                <a:lnTo>
                  <a:pt x="42337" y="762000"/>
                </a:lnTo>
                <a:cubicBezTo>
                  <a:pt x="18955" y="762000"/>
                  <a:pt x="0" y="743045"/>
                  <a:pt x="0" y="719663"/>
                </a:cubicBezTo>
                <a:lnTo>
                  <a:pt x="0" y="42337"/>
                </a:lnTo>
                <a:cubicBezTo>
                  <a:pt x="0" y="18955"/>
                  <a:pt x="18955" y="0"/>
                  <a:pt x="42337" y="0"/>
                </a:cubicBezTo>
                <a:close/>
              </a:path>
            </a:pathLst>
          </a:custGeom>
          <a:solidFill>
            <a:srgbClr val="181A1F">
              <a:alpha val="50196"/>
            </a:srgbClr>
          </a:solidFill>
          <a:ln/>
        </p:spPr>
      </p:sp>
      <p:sp>
        <p:nvSpPr>
          <p:cNvPr id="39" name="Text 37"/>
          <p:cNvSpPr/>
          <p:nvPr/>
        </p:nvSpPr>
        <p:spPr>
          <a:xfrm>
            <a:off x="8530167" y="2921000"/>
            <a:ext cx="7122583" cy="211667"/>
          </a:xfrm>
          <a:prstGeom prst="rect">
            <a:avLst/>
          </a:prstGeom>
          <a:noFill/>
          <a:ln/>
        </p:spPr>
        <p:txBody>
          <a:bodyPr wrap="square" lIns="0" tIns="0" rIns="0" bIns="0" rtlCol="0" anchor="ctr"/>
          <a:lstStyle/>
          <a:p>
            <a:pPr>
              <a:lnSpc>
                <a:spcPct val="120000"/>
              </a:lnSpc>
            </a:pPr>
            <a:r>
              <a:rPr lang="en-US" sz="1167" b="1" dirty="0">
                <a:solidFill>
                  <a:srgbClr val="D1D5DB"/>
                </a:solidFill>
                <a:latin typeface="MiSans" pitchFamily="34" charset="0"/>
                <a:ea typeface="MiSans" pitchFamily="34" charset="-122"/>
                <a:cs typeface="MiSans" pitchFamily="34" charset="-120"/>
              </a:rPr>
              <a:t>训练h₂(x)</a:t>
            </a:r>
            <a:endParaRPr lang="en-US" sz="1600" dirty="0"/>
          </a:p>
        </p:txBody>
      </p:sp>
      <p:sp>
        <p:nvSpPr>
          <p:cNvPr id="40" name="Text 38"/>
          <p:cNvSpPr/>
          <p:nvPr/>
        </p:nvSpPr>
        <p:spPr>
          <a:xfrm>
            <a:off x="8530167" y="3175000"/>
            <a:ext cx="7112000" cy="338667"/>
          </a:xfrm>
          <a:prstGeom prst="rect">
            <a:avLst/>
          </a:prstGeom>
          <a:noFill/>
          <a:ln/>
        </p:spPr>
        <p:txBody>
          <a:bodyPr wrap="square" lIns="0" tIns="0" rIns="0" bIns="0" rtlCol="0" anchor="ctr"/>
          <a:lstStyle/>
          <a:p>
            <a:pPr>
              <a:lnSpc>
                <a:spcPct val="110000"/>
              </a:lnSpc>
            </a:pPr>
            <a:r>
              <a:rPr lang="en-US" sz="1000" dirty="0">
                <a:solidFill>
                  <a:srgbClr val="7E9AA8"/>
                </a:solidFill>
                <a:latin typeface="MiSans" pitchFamily="34" charset="0"/>
                <a:ea typeface="MiSans" pitchFamily="34" charset="-122"/>
                <a:cs typeface="MiSans" pitchFamily="34" charset="-120"/>
              </a:rPr>
              <a:t>x ≤ 2.5时 h₂ = -1</a:t>
            </a:r>
            <a:endParaRPr lang="en-US" sz="1600" dirty="0"/>
          </a:p>
          <a:p>
            <a:pPr>
              <a:lnSpc>
                <a:spcPct val="110000"/>
              </a:lnSpc>
            </a:pPr>
            <a:r>
              <a:rPr lang="en-US" sz="1000" dirty="0">
                <a:solidFill>
                  <a:srgbClr val="7E9AA8"/>
                </a:solidFill>
                <a:latin typeface="MiSans" pitchFamily="34" charset="0"/>
                <a:ea typeface="MiSans" pitchFamily="34" charset="-122"/>
                <a:cs typeface="MiSans" pitchFamily="34" charset="-120"/>
              </a:rPr>
              <a:t>x &gt; 2.5时 h₂ = 1</a:t>
            </a:r>
            <a:endParaRPr lang="en-US" sz="1600" dirty="0"/>
          </a:p>
        </p:txBody>
      </p:sp>
      <p:sp>
        <p:nvSpPr>
          <p:cNvPr id="41" name="Shape 39"/>
          <p:cNvSpPr/>
          <p:nvPr/>
        </p:nvSpPr>
        <p:spPr>
          <a:xfrm>
            <a:off x="8445500" y="3683000"/>
            <a:ext cx="7217833" cy="592667"/>
          </a:xfrm>
          <a:custGeom>
            <a:avLst/>
            <a:gdLst/>
            <a:ahLst/>
            <a:cxnLst/>
            <a:rect l="l" t="t" r="r" b="b"/>
            <a:pathLst>
              <a:path w="7217833" h="592667">
                <a:moveTo>
                  <a:pt x="42334" y="0"/>
                </a:moveTo>
                <a:lnTo>
                  <a:pt x="7175499" y="0"/>
                </a:lnTo>
                <a:cubicBezTo>
                  <a:pt x="7198880" y="0"/>
                  <a:pt x="7217833" y="18954"/>
                  <a:pt x="7217833" y="42334"/>
                </a:cubicBezTo>
                <a:lnTo>
                  <a:pt x="7217833" y="550332"/>
                </a:lnTo>
                <a:cubicBezTo>
                  <a:pt x="7217833" y="573713"/>
                  <a:pt x="7198880" y="592667"/>
                  <a:pt x="7175499" y="592667"/>
                </a:cubicBezTo>
                <a:lnTo>
                  <a:pt x="42334" y="592667"/>
                </a:lnTo>
                <a:cubicBezTo>
                  <a:pt x="18954" y="592667"/>
                  <a:pt x="0" y="573713"/>
                  <a:pt x="0" y="550332"/>
                </a:cubicBezTo>
                <a:lnTo>
                  <a:pt x="0" y="42334"/>
                </a:lnTo>
                <a:cubicBezTo>
                  <a:pt x="0" y="18969"/>
                  <a:pt x="18969" y="0"/>
                  <a:pt x="42334" y="0"/>
                </a:cubicBezTo>
                <a:close/>
              </a:path>
            </a:pathLst>
          </a:custGeom>
          <a:solidFill>
            <a:srgbClr val="181A1F">
              <a:alpha val="50196"/>
            </a:srgbClr>
          </a:solidFill>
          <a:ln/>
        </p:spPr>
      </p:sp>
      <p:sp>
        <p:nvSpPr>
          <p:cNvPr id="42" name="Text 40"/>
          <p:cNvSpPr/>
          <p:nvPr/>
        </p:nvSpPr>
        <p:spPr>
          <a:xfrm>
            <a:off x="8530167" y="3767667"/>
            <a:ext cx="7122583" cy="211667"/>
          </a:xfrm>
          <a:prstGeom prst="rect">
            <a:avLst/>
          </a:prstGeom>
          <a:noFill/>
          <a:ln/>
        </p:spPr>
        <p:txBody>
          <a:bodyPr wrap="square" lIns="0" tIns="0" rIns="0" bIns="0" rtlCol="0" anchor="ctr"/>
          <a:lstStyle/>
          <a:p>
            <a:pPr>
              <a:lnSpc>
                <a:spcPct val="120000"/>
              </a:lnSpc>
            </a:pPr>
            <a:r>
              <a:rPr lang="en-US" sz="1167" b="1" dirty="0">
                <a:solidFill>
                  <a:srgbClr val="D1D5DB"/>
                </a:solidFill>
                <a:latin typeface="MiSans" pitchFamily="34" charset="0"/>
                <a:ea typeface="MiSans" pitchFamily="34" charset="-122"/>
                <a:cs typeface="MiSans" pitchFamily="34" charset="-120"/>
              </a:rPr>
              <a:t>确定步长</a:t>
            </a:r>
            <a:endParaRPr lang="en-US" sz="1600" dirty="0"/>
          </a:p>
        </p:txBody>
      </p:sp>
      <p:sp>
        <p:nvSpPr>
          <p:cNvPr id="43" name="Text 41"/>
          <p:cNvSpPr/>
          <p:nvPr/>
        </p:nvSpPr>
        <p:spPr>
          <a:xfrm>
            <a:off x="8530167" y="4021667"/>
            <a:ext cx="7112000" cy="169333"/>
          </a:xfrm>
          <a:prstGeom prst="rect">
            <a:avLst/>
          </a:prstGeom>
          <a:noFill/>
          <a:ln/>
        </p:spPr>
        <p:txBody>
          <a:bodyPr wrap="square" lIns="0" tIns="0" rIns="0" bIns="0" rtlCol="0" anchor="ctr"/>
          <a:lstStyle/>
          <a:p>
            <a:pPr>
              <a:lnSpc>
                <a:spcPct val="110000"/>
              </a:lnSpc>
            </a:pPr>
            <a:r>
              <a:rPr lang="en-US" sz="1000" dirty="0">
                <a:solidFill>
                  <a:srgbClr val="7E9AA8"/>
                </a:solidFill>
                <a:latin typeface="MiSans" pitchFamily="34" charset="0"/>
                <a:ea typeface="MiSans" pitchFamily="34" charset="-122"/>
                <a:cs typeface="MiSans" pitchFamily="34" charset="-120"/>
              </a:rPr>
              <a:t>α₂ = 1</a:t>
            </a:r>
            <a:endParaRPr lang="en-US" sz="1600" dirty="0"/>
          </a:p>
        </p:txBody>
      </p:sp>
      <p:sp>
        <p:nvSpPr>
          <p:cNvPr id="44" name="Shape 42"/>
          <p:cNvSpPr/>
          <p:nvPr/>
        </p:nvSpPr>
        <p:spPr>
          <a:xfrm>
            <a:off x="8445500" y="4360333"/>
            <a:ext cx="7217833" cy="592667"/>
          </a:xfrm>
          <a:custGeom>
            <a:avLst/>
            <a:gdLst/>
            <a:ahLst/>
            <a:cxnLst/>
            <a:rect l="l" t="t" r="r" b="b"/>
            <a:pathLst>
              <a:path w="7217833" h="592667">
                <a:moveTo>
                  <a:pt x="42334" y="0"/>
                </a:moveTo>
                <a:lnTo>
                  <a:pt x="7175499" y="0"/>
                </a:lnTo>
                <a:cubicBezTo>
                  <a:pt x="7198880" y="0"/>
                  <a:pt x="7217833" y="18954"/>
                  <a:pt x="7217833" y="42334"/>
                </a:cubicBezTo>
                <a:lnTo>
                  <a:pt x="7217833" y="550332"/>
                </a:lnTo>
                <a:cubicBezTo>
                  <a:pt x="7217833" y="573713"/>
                  <a:pt x="7198880" y="592667"/>
                  <a:pt x="7175499" y="592667"/>
                </a:cubicBezTo>
                <a:lnTo>
                  <a:pt x="42334" y="592667"/>
                </a:lnTo>
                <a:cubicBezTo>
                  <a:pt x="18954" y="592667"/>
                  <a:pt x="0" y="573713"/>
                  <a:pt x="0" y="550332"/>
                </a:cubicBezTo>
                <a:lnTo>
                  <a:pt x="0" y="42334"/>
                </a:lnTo>
                <a:cubicBezTo>
                  <a:pt x="0" y="18969"/>
                  <a:pt x="18969" y="0"/>
                  <a:pt x="42334" y="0"/>
                </a:cubicBezTo>
                <a:close/>
              </a:path>
            </a:pathLst>
          </a:custGeom>
          <a:solidFill>
            <a:srgbClr val="181A1F">
              <a:alpha val="50196"/>
            </a:srgbClr>
          </a:solidFill>
          <a:ln/>
        </p:spPr>
      </p:sp>
      <p:sp>
        <p:nvSpPr>
          <p:cNvPr id="45" name="Text 43"/>
          <p:cNvSpPr/>
          <p:nvPr/>
        </p:nvSpPr>
        <p:spPr>
          <a:xfrm>
            <a:off x="8530167" y="4445000"/>
            <a:ext cx="7122583" cy="211667"/>
          </a:xfrm>
          <a:prstGeom prst="rect">
            <a:avLst/>
          </a:prstGeom>
          <a:noFill/>
          <a:ln/>
        </p:spPr>
        <p:txBody>
          <a:bodyPr wrap="square" lIns="0" tIns="0" rIns="0" bIns="0" rtlCol="0" anchor="ctr"/>
          <a:lstStyle/>
          <a:p>
            <a:pPr>
              <a:lnSpc>
                <a:spcPct val="120000"/>
              </a:lnSpc>
            </a:pPr>
            <a:r>
              <a:rPr lang="en-US" sz="1167" b="1" dirty="0">
                <a:solidFill>
                  <a:srgbClr val="D1D5DB"/>
                </a:solidFill>
                <a:latin typeface="MiSans" pitchFamily="34" charset="0"/>
                <a:ea typeface="MiSans" pitchFamily="34" charset="-122"/>
                <a:cs typeface="MiSans" pitchFamily="34" charset="-120"/>
              </a:rPr>
              <a:t>更新预测</a:t>
            </a:r>
            <a:endParaRPr lang="en-US" sz="1600" dirty="0"/>
          </a:p>
        </p:txBody>
      </p:sp>
      <p:sp>
        <p:nvSpPr>
          <p:cNvPr id="46" name="Text 44"/>
          <p:cNvSpPr/>
          <p:nvPr/>
        </p:nvSpPr>
        <p:spPr>
          <a:xfrm>
            <a:off x="8530167" y="4699000"/>
            <a:ext cx="7112000" cy="169333"/>
          </a:xfrm>
          <a:prstGeom prst="rect">
            <a:avLst/>
          </a:prstGeom>
          <a:noFill/>
          <a:ln/>
        </p:spPr>
        <p:txBody>
          <a:bodyPr wrap="square" lIns="0" tIns="0" rIns="0" bIns="0" rtlCol="0" anchor="ctr"/>
          <a:lstStyle/>
          <a:p>
            <a:pPr>
              <a:lnSpc>
                <a:spcPct val="110000"/>
              </a:lnSpc>
            </a:pPr>
            <a:r>
              <a:rPr lang="en-US" sz="1000" dirty="0">
                <a:solidFill>
                  <a:srgbClr val="7E9AA8"/>
                </a:solidFill>
                <a:latin typeface="MiSans" pitchFamily="34" charset="0"/>
                <a:ea typeface="MiSans" pitchFamily="34" charset="-122"/>
                <a:cs typeface="MiSans" pitchFamily="34" charset="-120"/>
              </a:rPr>
              <a:t>F₂ = [14, 16, 24, 26]</a:t>
            </a:r>
            <a:endParaRPr lang="en-US" sz="1600" dirty="0"/>
          </a:p>
        </p:txBody>
      </p:sp>
      <p:sp>
        <p:nvSpPr>
          <p:cNvPr id="47" name="Shape 45"/>
          <p:cNvSpPr/>
          <p:nvPr/>
        </p:nvSpPr>
        <p:spPr>
          <a:xfrm>
            <a:off x="8239125" y="5296958"/>
            <a:ext cx="7588250" cy="3185583"/>
          </a:xfrm>
          <a:custGeom>
            <a:avLst/>
            <a:gdLst/>
            <a:ahLst/>
            <a:cxnLst/>
            <a:rect l="l" t="t" r="r" b="b"/>
            <a:pathLst>
              <a:path w="7588250" h="3185583">
                <a:moveTo>
                  <a:pt x="84673" y="0"/>
                </a:moveTo>
                <a:lnTo>
                  <a:pt x="7503577" y="0"/>
                </a:lnTo>
                <a:cubicBezTo>
                  <a:pt x="7550341" y="0"/>
                  <a:pt x="7588250" y="37909"/>
                  <a:pt x="7588250" y="84673"/>
                </a:cubicBezTo>
                <a:lnTo>
                  <a:pt x="7588250" y="3100911"/>
                </a:lnTo>
                <a:cubicBezTo>
                  <a:pt x="7588250" y="3147674"/>
                  <a:pt x="7550341" y="3185583"/>
                  <a:pt x="7503577" y="3185583"/>
                </a:cubicBezTo>
                <a:lnTo>
                  <a:pt x="84673" y="3185583"/>
                </a:lnTo>
                <a:cubicBezTo>
                  <a:pt x="37909" y="3185583"/>
                  <a:pt x="0" y="3147674"/>
                  <a:pt x="0" y="3100911"/>
                </a:cubicBezTo>
                <a:lnTo>
                  <a:pt x="0" y="84673"/>
                </a:lnTo>
                <a:cubicBezTo>
                  <a:pt x="0" y="37941"/>
                  <a:pt x="37941" y="0"/>
                  <a:pt x="84673" y="0"/>
                </a:cubicBezTo>
                <a:close/>
              </a:path>
            </a:pathLst>
          </a:custGeom>
          <a:solidFill>
            <a:srgbClr val="3A5E78">
              <a:alpha val="20000"/>
            </a:srgbClr>
          </a:solidFill>
          <a:ln w="12700">
            <a:solidFill>
              <a:srgbClr val="4C7E9A">
                <a:alpha val="50196"/>
              </a:srgbClr>
            </a:solidFill>
            <a:prstDash val="solid"/>
          </a:ln>
        </p:spPr>
      </p:sp>
      <p:sp>
        <p:nvSpPr>
          <p:cNvPr id="48" name="Text 46"/>
          <p:cNvSpPr/>
          <p:nvPr/>
        </p:nvSpPr>
        <p:spPr>
          <a:xfrm>
            <a:off x="8413750" y="5471583"/>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最终结果</a:t>
            </a:r>
            <a:endParaRPr lang="en-US" sz="1600" dirty="0"/>
          </a:p>
        </p:txBody>
      </p:sp>
      <p:sp>
        <p:nvSpPr>
          <p:cNvPr id="49" name="Shape 47"/>
          <p:cNvSpPr/>
          <p:nvPr/>
        </p:nvSpPr>
        <p:spPr>
          <a:xfrm>
            <a:off x="8413750" y="5937250"/>
            <a:ext cx="7239000" cy="1270000"/>
          </a:xfrm>
          <a:custGeom>
            <a:avLst/>
            <a:gdLst/>
            <a:ahLst/>
            <a:cxnLst/>
            <a:rect l="l" t="t" r="r" b="b"/>
            <a:pathLst>
              <a:path w="7239000" h="1270000">
                <a:moveTo>
                  <a:pt x="42329" y="0"/>
                </a:moveTo>
                <a:lnTo>
                  <a:pt x="7196671" y="0"/>
                </a:lnTo>
                <a:cubicBezTo>
                  <a:pt x="7220049" y="0"/>
                  <a:pt x="7239000" y="18951"/>
                  <a:pt x="7239000" y="42329"/>
                </a:cubicBezTo>
                <a:lnTo>
                  <a:pt x="7239000" y="1227671"/>
                </a:lnTo>
                <a:cubicBezTo>
                  <a:pt x="7239000" y="1251049"/>
                  <a:pt x="7220049" y="1270000"/>
                  <a:pt x="7196671" y="1270000"/>
                </a:cubicBezTo>
                <a:lnTo>
                  <a:pt x="42329" y="1270000"/>
                </a:lnTo>
                <a:cubicBezTo>
                  <a:pt x="18951" y="1270000"/>
                  <a:pt x="0" y="1251049"/>
                  <a:pt x="0" y="1227671"/>
                </a:cubicBezTo>
                <a:lnTo>
                  <a:pt x="0" y="42329"/>
                </a:lnTo>
                <a:cubicBezTo>
                  <a:pt x="0" y="18951"/>
                  <a:pt x="18951" y="0"/>
                  <a:pt x="42329" y="0"/>
                </a:cubicBezTo>
                <a:close/>
              </a:path>
            </a:pathLst>
          </a:custGeom>
          <a:solidFill>
            <a:srgbClr val="181A1F">
              <a:alpha val="50196"/>
            </a:srgbClr>
          </a:solidFill>
          <a:ln/>
        </p:spPr>
      </p:sp>
      <p:sp>
        <p:nvSpPr>
          <p:cNvPr id="50" name="Text 48"/>
          <p:cNvSpPr/>
          <p:nvPr/>
        </p:nvSpPr>
        <p:spPr>
          <a:xfrm>
            <a:off x="8540750" y="6064250"/>
            <a:ext cx="7080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最终模型</a:t>
            </a:r>
            <a:endParaRPr lang="en-US" sz="1600" dirty="0"/>
          </a:p>
        </p:txBody>
      </p:sp>
      <p:sp>
        <p:nvSpPr>
          <p:cNvPr id="51" name="Shape 49"/>
          <p:cNvSpPr/>
          <p:nvPr/>
        </p:nvSpPr>
        <p:spPr>
          <a:xfrm>
            <a:off x="8540750" y="6402917"/>
            <a:ext cx="6985000" cy="381000"/>
          </a:xfrm>
          <a:custGeom>
            <a:avLst/>
            <a:gdLst/>
            <a:ahLst/>
            <a:cxnLst/>
            <a:rect l="l" t="t" r="r" b="b"/>
            <a:pathLst>
              <a:path w="6985000" h="381000">
                <a:moveTo>
                  <a:pt x="42333" y="0"/>
                </a:moveTo>
                <a:lnTo>
                  <a:pt x="6942667" y="0"/>
                </a:lnTo>
                <a:cubicBezTo>
                  <a:pt x="6966047" y="0"/>
                  <a:pt x="6985000" y="18953"/>
                  <a:pt x="6985000" y="42333"/>
                </a:cubicBezTo>
                <a:lnTo>
                  <a:pt x="6985000" y="338667"/>
                </a:lnTo>
                <a:cubicBezTo>
                  <a:pt x="6985000" y="362047"/>
                  <a:pt x="6966047" y="381000"/>
                  <a:pt x="6942667" y="381000"/>
                </a:cubicBezTo>
                <a:lnTo>
                  <a:pt x="42333" y="381000"/>
                </a:lnTo>
                <a:cubicBezTo>
                  <a:pt x="18953" y="381000"/>
                  <a:pt x="0" y="362047"/>
                  <a:pt x="0" y="338667"/>
                </a:cubicBezTo>
                <a:lnTo>
                  <a:pt x="0" y="42333"/>
                </a:lnTo>
                <a:cubicBezTo>
                  <a:pt x="0" y="18969"/>
                  <a:pt x="18969" y="0"/>
                  <a:pt x="42333" y="0"/>
                </a:cubicBezTo>
                <a:close/>
              </a:path>
            </a:pathLst>
          </a:custGeom>
          <a:solidFill>
            <a:srgbClr val="181A1F"/>
          </a:solidFill>
          <a:ln/>
        </p:spPr>
      </p:sp>
      <p:sp>
        <p:nvSpPr>
          <p:cNvPr id="52" name="Text 50"/>
          <p:cNvSpPr/>
          <p:nvPr/>
        </p:nvSpPr>
        <p:spPr>
          <a:xfrm>
            <a:off x="8588375" y="6487583"/>
            <a:ext cx="6889750" cy="211667"/>
          </a:xfrm>
          <a:prstGeom prst="rect">
            <a:avLst/>
          </a:prstGeom>
          <a:noFill/>
          <a:ln/>
        </p:spPr>
        <p:txBody>
          <a:bodyPr wrap="square" lIns="0" tIns="0" rIns="0" bIns="0" rtlCol="0" anchor="ctr"/>
          <a:lstStyle/>
          <a:p>
            <a:pPr algn="ctr">
              <a:lnSpc>
                <a:spcPct val="120000"/>
              </a:lnSpc>
            </a:pPr>
            <a:r>
              <a:rPr lang="en-US" sz="1167" dirty="0">
                <a:solidFill>
                  <a:srgbClr val="7E9AA8"/>
                </a:solidFill>
                <a:latin typeface="MiSans" pitchFamily="34" charset="0"/>
                <a:ea typeface="MiSans" pitchFamily="34" charset="-122"/>
                <a:cs typeface="MiSans" pitchFamily="34" charset="-120"/>
              </a:rPr>
              <a:t>F(x) = 20 + h₁(x) + h₂(x)</a:t>
            </a:r>
            <a:endParaRPr lang="en-US" sz="1600" dirty="0"/>
          </a:p>
        </p:txBody>
      </p:sp>
      <p:sp>
        <p:nvSpPr>
          <p:cNvPr id="53" name="Text 51"/>
          <p:cNvSpPr/>
          <p:nvPr/>
        </p:nvSpPr>
        <p:spPr>
          <a:xfrm>
            <a:off x="8540750" y="6868583"/>
            <a:ext cx="7059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完美拟合所有样本</a:t>
            </a:r>
            <a:endParaRPr lang="en-US" sz="1600" dirty="0"/>
          </a:p>
        </p:txBody>
      </p:sp>
      <p:sp>
        <p:nvSpPr>
          <p:cNvPr id="54" name="Shape 52"/>
          <p:cNvSpPr/>
          <p:nvPr/>
        </p:nvSpPr>
        <p:spPr>
          <a:xfrm>
            <a:off x="8413750" y="7291917"/>
            <a:ext cx="7239000" cy="1016000"/>
          </a:xfrm>
          <a:custGeom>
            <a:avLst/>
            <a:gdLst/>
            <a:ahLst/>
            <a:cxnLst/>
            <a:rect l="l" t="t" r="r" b="b"/>
            <a:pathLst>
              <a:path w="7239000" h="1016000">
                <a:moveTo>
                  <a:pt x="42337" y="0"/>
                </a:moveTo>
                <a:lnTo>
                  <a:pt x="7196663" y="0"/>
                </a:lnTo>
                <a:cubicBezTo>
                  <a:pt x="7220045" y="0"/>
                  <a:pt x="7239000" y="18955"/>
                  <a:pt x="7239000" y="42337"/>
                </a:cubicBezTo>
                <a:lnTo>
                  <a:pt x="7239000" y="973663"/>
                </a:lnTo>
                <a:cubicBezTo>
                  <a:pt x="7239000" y="997045"/>
                  <a:pt x="7220045" y="1016000"/>
                  <a:pt x="7196663" y="1016000"/>
                </a:cubicBezTo>
                <a:lnTo>
                  <a:pt x="42337" y="1016000"/>
                </a:lnTo>
                <a:cubicBezTo>
                  <a:pt x="18955" y="1016000"/>
                  <a:pt x="0" y="997045"/>
                  <a:pt x="0" y="973663"/>
                </a:cubicBezTo>
                <a:lnTo>
                  <a:pt x="0" y="42337"/>
                </a:lnTo>
                <a:cubicBezTo>
                  <a:pt x="0" y="18955"/>
                  <a:pt x="18955" y="0"/>
                  <a:pt x="42337" y="0"/>
                </a:cubicBezTo>
                <a:close/>
              </a:path>
            </a:pathLst>
          </a:custGeom>
          <a:solidFill>
            <a:srgbClr val="181A1F">
              <a:alpha val="50196"/>
            </a:srgbClr>
          </a:solidFill>
          <a:ln/>
        </p:spPr>
      </p:sp>
      <p:sp>
        <p:nvSpPr>
          <p:cNvPr id="55" name="Text 53"/>
          <p:cNvSpPr/>
          <p:nvPr/>
        </p:nvSpPr>
        <p:spPr>
          <a:xfrm>
            <a:off x="8540750" y="7418917"/>
            <a:ext cx="70802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关键洞察</a:t>
            </a:r>
            <a:endParaRPr lang="en-US" sz="1600" dirty="0"/>
          </a:p>
        </p:txBody>
      </p:sp>
      <p:sp>
        <p:nvSpPr>
          <p:cNvPr id="56" name="Text 54"/>
          <p:cNvSpPr/>
          <p:nvPr/>
        </p:nvSpPr>
        <p:spPr>
          <a:xfrm>
            <a:off x="8540750" y="7757583"/>
            <a:ext cx="7059083" cy="423333"/>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GBDT通过逐步拟合残差，每一棵树都在修正前一棵树的错误，最终达到完美拟合。这种加法模型框架是梯度提升的核心。</a:t>
            </a:r>
            <a:endParaRPr lang="en-US" sz="1600" dirty="0"/>
          </a:p>
        </p:txBody>
      </p:sp>
    </p:spTree>
  </p:cSld>
  <p:clrMapOvr>
    <a:masterClrMapping/>
  </p:clrMapOvr>
  <p:transition>
    <p:fade/>
    <p:spd val="med"/>
  </p:transition>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GBDT</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GBDT实战代码</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24000"/>
            <a:ext cx="7577667" cy="7556500"/>
          </a:xfrm>
          <a:custGeom>
            <a:avLst/>
            <a:gdLst/>
            <a:ahLst/>
            <a:cxnLst/>
            <a:rect l="l" t="t" r="r" b="b"/>
            <a:pathLst>
              <a:path w="7577667" h="7556500">
                <a:moveTo>
                  <a:pt x="42333" y="0"/>
                </a:moveTo>
                <a:lnTo>
                  <a:pt x="7493034" y="0"/>
                </a:lnTo>
                <a:cubicBezTo>
                  <a:pt x="7539775" y="0"/>
                  <a:pt x="7577667" y="37891"/>
                  <a:pt x="7577667" y="84633"/>
                </a:cubicBezTo>
                <a:lnTo>
                  <a:pt x="7577667" y="7471867"/>
                </a:lnTo>
                <a:cubicBezTo>
                  <a:pt x="7577667" y="7518609"/>
                  <a:pt x="7539775" y="7556500"/>
                  <a:pt x="7493034" y="7556500"/>
                </a:cubicBezTo>
                <a:lnTo>
                  <a:pt x="42333" y="7556500"/>
                </a:lnTo>
                <a:cubicBezTo>
                  <a:pt x="18953" y="7556500"/>
                  <a:pt x="0" y="7537547"/>
                  <a:pt x="0" y="7514167"/>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24000"/>
            <a:ext cx="42333" cy="7556500"/>
          </a:xfrm>
          <a:custGeom>
            <a:avLst/>
            <a:gdLst/>
            <a:ahLst/>
            <a:cxnLst/>
            <a:rect l="l" t="t" r="r" b="b"/>
            <a:pathLst>
              <a:path w="42333" h="7556500">
                <a:moveTo>
                  <a:pt x="42333" y="0"/>
                </a:moveTo>
                <a:lnTo>
                  <a:pt x="42333" y="0"/>
                </a:lnTo>
                <a:lnTo>
                  <a:pt x="42333" y="7556500"/>
                </a:lnTo>
                <a:lnTo>
                  <a:pt x="42333" y="7556500"/>
                </a:lnTo>
                <a:cubicBezTo>
                  <a:pt x="18953" y="7556500"/>
                  <a:pt x="0" y="7537547"/>
                  <a:pt x="0" y="7514167"/>
                </a:cubicBezTo>
                <a:lnTo>
                  <a:pt x="0" y="42333"/>
                </a:lnTo>
                <a:cubicBezTo>
                  <a:pt x="0" y="18953"/>
                  <a:pt x="18953" y="0"/>
                  <a:pt x="42333" y="0"/>
                </a:cubicBezTo>
                <a:close/>
              </a:path>
            </a:pathLst>
          </a:custGeom>
          <a:solidFill>
            <a:srgbClr val="4C7E9A"/>
          </a:solidFill>
          <a:ln/>
        </p:spPr>
      </p:sp>
      <p:sp>
        <p:nvSpPr>
          <p:cNvPr id="7" name="Text 5"/>
          <p:cNvSpPr/>
          <p:nvPr/>
        </p:nvSpPr>
        <p:spPr>
          <a:xfrm>
            <a:off x="635000" y="1693333"/>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使用Iris数据集</a:t>
            </a:r>
            <a:endParaRPr lang="en-US" sz="1600" dirty="0"/>
          </a:p>
        </p:txBody>
      </p:sp>
      <p:sp>
        <p:nvSpPr>
          <p:cNvPr id="8" name="Text 6"/>
          <p:cNvSpPr/>
          <p:nvPr/>
        </p:nvSpPr>
        <p:spPr>
          <a:xfrm>
            <a:off x="635000" y="2159000"/>
            <a:ext cx="7302500" cy="275167"/>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使用sklearn的GradientBoostingClassifier实现GBDT分类器。</a:t>
            </a:r>
            <a:endParaRPr lang="en-US" sz="1600" dirty="0"/>
          </a:p>
        </p:txBody>
      </p:sp>
      <p:sp>
        <p:nvSpPr>
          <p:cNvPr id="9" name="Shape 7"/>
          <p:cNvSpPr/>
          <p:nvPr/>
        </p:nvSpPr>
        <p:spPr>
          <a:xfrm>
            <a:off x="635000" y="2561167"/>
            <a:ext cx="7217833" cy="1270000"/>
          </a:xfrm>
          <a:custGeom>
            <a:avLst/>
            <a:gdLst/>
            <a:ahLst/>
            <a:cxnLst/>
            <a:rect l="l" t="t" r="r" b="b"/>
            <a:pathLst>
              <a:path w="7217833" h="1270000">
                <a:moveTo>
                  <a:pt x="42329" y="0"/>
                </a:moveTo>
                <a:lnTo>
                  <a:pt x="7175504" y="0"/>
                </a:lnTo>
                <a:cubicBezTo>
                  <a:pt x="7198882" y="0"/>
                  <a:pt x="7217833" y="18951"/>
                  <a:pt x="7217833" y="42329"/>
                </a:cubicBezTo>
                <a:lnTo>
                  <a:pt x="7217833" y="1227671"/>
                </a:lnTo>
                <a:cubicBezTo>
                  <a:pt x="7217833" y="1251049"/>
                  <a:pt x="7198882" y="1270000"/>
                  <a:pt x="7175504" y="1270000"/>
                </a:cubicBezTo>
                <a:lnTo>
                  <a:pt x="42329" y="1270000"/>
                </a:lnTo>
                <a:cubicBezTo>
                  <a:pt x="18951" y="1270000"/>
                  <a:pt x="0" y="1251049"/>
                  <a:pt x="0" y="1227671"/>
                </a:cubicBezTo>
                <a:lnTo>
                  <a:pt x="0" y="42329"/>
                </a:lnTo>
                <a:cubicBezTo>
                  <a:pt x="0" y="18951"/>
                  <a:pt x="18951" y="0"/>
                  <a:pt x="42329" y="0"/>
                </a:cubicBezTo>
                <a:close/>
              </a:path>
            </a:pathLst>
          </a:custGeom>
          <a:solidFill>
            <a:srgbClr val="181A1F">
              <a:alpha val="50196"/>
            </a:srgbClr>
          </a:solidFill>
          <a:ln/>
        </p:spPr>
      </p:sp>
      <p:sp>
        <p:nvSpPr>
          <p:cNvPr id="10" name="Text 8"/>
          <p:cNvSpPr/>
          <p:nvPr/>
        </p:nvSpPr>
        <p:spPr>
          <a:xfrm>
            <a:off x="762000" y="2688167"/>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数据集信息</a:t>
            </a:r>
            <a:endParaRPr lang="en-US" sz="1600" dirty="0"/>
          </a:p>
        </p:txBody>
      </p:sp>
      <p:sp>
        <p:nvSpPr>
          <p:cNvPr id="11" name="Text 9"/>
          <p:cNvSpPr/>
          <p:nvPr/>
        </p:nvSpPr>
        <p:spPr>
          <a:xfrm>
            <a:off x="762000" y="2984500"/>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样本数量：150个</a:t>
            </a:r>
            <a:endParaRPr lang="en-US" sz="1600" dirty="0"/>
          </a:p>
        </p:txBody>
      </p:sp>
      <p:sp>
        <p:nvSpPr>
          <p:cNvPr id="12" name="Text 10"/>
          <p:cNvSpPr/>
          <p:nvPr/>
        </p:nvSpPr>
        <p:spPr>
          <a:xfrm>
            <a:off x="762000" y="3238500"/>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特征数量：4个</a:t>
            </a:r>
            <a:endParaRPr lang="en-US" sz="1600" dirty="0"/>
          </a:p>
        </p:txBody>
      </p:sp>
      <p:sp>
        <p:nvSpPr>
          <p:cNvPr id="13" name="Text 11"/>
          <p:cNvSpPr/>
          <p:nvPr/>
        </p:nvSpPr>
        <p:spPr>
          <a:xfrm>
            <a:off x="762000" y="3492500"/>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目标类别：3个品种</a:t>
            </a:r>
            <a:endParaRPr lang="en-US" sz="1600" dirty="0"/>
          </a:p>
        </p:txBody>
      </p:sp>
      <p:sp>
        <p:nvSpPr>
          <p:cNvPr id="14" name="Shape 12"/>
          <p:cNvSpPr/>
          <p:nvPr/>
        </p:nvSpPr>
        <p:spPr>
          <a:xfrm>
            <a:off x="635000" y="3958167"/>
            <a:ext cx="7217833" cy="762000"/>
          </a:xfrm>
          <a:custGeom>
            <a:avLst/>
            <a:gdLst/>
            <a:ahLst/>
            <a:cxnLst/>
            <a:rect l="l" t="t" r="r" b="b"/>
            <a:pathLst>
              <a:path w="7217833" h="762000">
                <a:moveTo>
                  <a:pt x="42337" y="0"/>
                </a:moveTo>
                <a:lnTo>
                  <a:pt x="7175497" y="0"/>
                </a:lnTo>
                <a:cubicBezTo>
                  <a:pt x="7198879" y="0"/>
                  <a:pt x="7217833" y="18955"/>
                  <a:pt x="7217833" y="42337"/>
                </a:cubicBezTo>
                <a:lnTo>
                  <a:pt x="7217833" y="719663"/>
                </a:lnTo>
                <a:cubicBezTo>
                  <a:pt x="7217833" y="743045"/>
                  <a:pt x="7198879" y="762000"/>
                  <a:pt x="7175497" y="762000"/>
                </a:cubicBezTo>
                <a:lnTo>
                  <a:pt x="42337" y="762000"/>
                </a:lnTo>
                <a:cubicBezTo>
                  <a:pt x="18955" y="762000"/>
                  <a:pt x="0" y="743045"/>
                  <a:pt x="0" y="719663"/>
                </a:cubicBezTo>
                <a:lnTo>
                  <a:pt x="0" y="42337"/>
                </a:lnTo>
                <a:cubicBezTo>
                  <a:pt x="0" y="18955"/>
                  <a:pt x="18955" y="0"/>
                  <a:pt x="42337" y="0"/>
                </a:cubicBezTo>
                <a:close/>
              </a:path>
            </a:pathLst>
          </a:custGeom>
          <a:solidFill>
            <a:srgbClr val="181A1F">
              <a:alpha val="50196"/>
            </a:srgbClr>
          </a:solidFill>
          <a:ln/>
        </p:spPr>
      </p:sp>
      <p:sp>
        <p:nvSpPr>
          <p:cNvPr id="15" name="Text 13"/>
          <p:cNvSpPr/>
          <p:nvPr/>
        </p:nvSpPr>
        <p:spPr>
          <a:xfrm>
            <a:off x="762000" y="4085167"/>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数据划分</a:t>
            </a:r>
            <a:endParaRPr lang="en-US" sz="1600" dirty="0"/>
          </a:p>
        </p:txBody>
      </p:sp>
      <p:sp>
        <p:nvSpPr>
          <p:cNvPr id="16" name="Text 14"/>
          <p:cNvSpPr/>
          <p:nvPr/>
        </p:nvSpPr>
        <p:spPr>
          <a:xfrm>
            <a:off x="762000" y="4381500"/>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训练集80%，测试集20%</a:t>
            </a:r>
            <a:endParaRPr lang="en-US" sz="1600" dirty="0"/>
          </a:p>
        </p:txBody>
      </p:sp>
      <p:sp>
        <p:nvSpPr>
          <p:cNvPr id="17" name="Shape 15"/>
          <p:cNvSpPr/>
          <p:nvPr/>
        </p:nvSpPr>
        <p:spPr>
          <a:xfrm>
            <a:off x="635000" y="4847167"/>
            <a:ext cx="7217833" cy="1270000"/>
          </a:xfrm>
          <a:custGeom>
            <a:avLst/>
            <a:gdLst/>
            <a:ahLst/>
            <a:cxnLst/>
            <a:rect l="l" t="t" r="r" b="b"/>
            <a:pathLst>
              <a:path w="7217833" h="1270000">
                <a:moveTo>
                  <a:pt x="42329" y="0"/>
                </a:moveTo>
                <a:lnTo>
                  <a:pt x="7175504" y="0"/>
                </a:lnTo>
                <a:cubicBezTo>
                  <a:pt x="7198882" y="0"/>
                  <a:pt x="7217833" y="18951"/>
                  <a:pt x="7217833" y="42329"/>
                </a:cubicBezTo>
                <a:lnTo>
                  <a:pt x="7217833" y="1227671"/>
                </a:lnTo>
                <a:cubicBezTo>
                  <a:pt x="7217833" y="1251049"/>
                  <a:pt x="7198882" y="1270000"/>
                  <a:pt x="7175504" y="1270000"/>
                </a:cubicBezTo>
                <a:lnTo>
                  <a:pt x="42329" y="1270000"/>
                </a:lnTo>
                <a:cubicBezTo>
                  <a:pt x="18951" y="1270000"/>
                  <a:pt x="0" y="1251049"/>
                  <a:pt x="0" y="1227671"/>
                </a:cubicBezTo>
                <a:lnTo>
                  <a:pt x="0" y="42329"/>
                </a:lnTo>
                <a:cubicBezTo>
                  <a:pt x="0" y="18951"/>
                  <a:pt x="18951" y="0"/>
                  <a:pt x="42329" y="0"/>
                </a:cubicBezTo>
                <a:close/>
              </a:path>
            </a:pathLst>
          </a:custGeom>
          <a:solidFill>
            <a:srgbClr val="181A1F">
              <a:alpha val="50196"/>
            </a:srgbClr>
          </a:solidFill>
          <a:ln/>
        </p:spPr>
      </p:sp>
      <p:sp>
        <p:nvSpPr>
          <p:cNvPr id="18" name="Text 16"/>
          <p:cNvSpPr/>
          <p:nvPr/>
        </p:nvSpPr>
        <p:spPr>
          <a:xfrm>
            <a:off x="762000" y="4974167"/>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模型配置</a:t>
            </a:r>
            <a:endParaRPr lang="en-US" sz="1600" dirty="0"/>
          </a:p>
        </p:txBody>
      </p:sp>
      <p:sp>
        <p:nvSpPr>
          <p:cNvPr id="19" name="Text 17"/>
          <p:cNvSpPr/>
          <p:nvPr/>
        </p:nvSpPr>
        <p:spPr>
          <a:xfrm>
            <a:off x="762000" y="5270500"/>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n_estimators=100（迭代次数）</a:t>
            </a:r>
            <a:endParaRPr lang="en-US" sz="1600" dirty="0"/>
          </a:p>
        </p:txBody>
      </p:sp>
      <p:sp>
        <p:nvSpPr>
          <p:cNvPr id="20" name="Text 18"/>
          <p:cNvSpPr/>
          <p:nvPr/>
        </p:nvSpPr>
        <p:spPr>
          <a:xfrm>
            <a:off x="762000" y="5524500"/>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learning_rate=0.1（学习率）</a:t>
            </a:r>
            <a:endParaRPr lang="en-US" sz="1600" dirty="0"/>
          </a:p>
        </p:txBody>
      </p:sp>
      <p:sp>
        <p:nvSpPr>
          <p:cNvPr id="21" name="Text 19"/>
          <p:cNvSpPr/>
          <p:nvPr/>
        </p:nvSpPr>
        <p:spPr>
          <a:xfrm>
            <a:off x="762000" y="5778500"/>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max_depth=3（树的最大深度）</a:t>
            </a:r>
            <a:endParaRPr lang="en-US" sz="1600" dirty="0"/>
          </a:p>
        </p:txBody>
      </p:sp>
      <p:sp>
        <p:nvSpPr>
          <p:cNvPr id="22" name="Shape 20"/>
          <p:cNvSpPr/>
          <p:nvPr/>
        </p:nvSpPr>
        <p:spPr>
          <a:xfrm>
            <a:off x="8255000" y="1524000"/>
            <a:ext cx="7577667" cy="4360333"/>
          </a:xfrm>
          <a:custGeom>
            <a:avLst/>
            <a:gdLst/>
            <a:ahLst/>
            <a:cxnLst/>
            <a:rect l="l" t="t" r="r" b="b"/>
            <a:pathLst>
              <a:path w="7577667" h="4360333">
                <a:moveTo>
                  <a:pt x="42333" y="0"/>
                </a:moveTo>
                <a:lnTo>
                  <a:pt x="7492989" y="0"/>
                </a:lnTo>
                <a:cubicBezTo>
                  <a:pt x="7539755" y="0"/>
                  <a:pt x="7577667" y="37911"/>
                  <a:pt x="7577667" y="84678"/>
                </a:cubicBezTo>
                <a:lnTo>
                  <a:pt x="7577667" y="4275656"/>
                </a:lnTo>
                <a:cubicBezTo>
                  <a:pt x="7577667" y="4322422"/>
                  <a:pt x="7539755" y="4360333"/>
                  <a:pt x="7492989" y="4360333"/>
                </a:cubicBezTo>
                <a:lnTo>
                  <a:pt x="42333" y="4360333"/>
                </a:lnTo>
                <a:cubicBezTo>
                  <a:pt x="18953" y="4360333"/>
                  <a:pt x="0" y="4341380"/>
                  <a:pt x="0" y="4318000"/>
                </a:cubicBezTo>
                <a:lnTo>
                  <a:pt x="0" y="42333"/>
                </a:lnTo>
                <a:cubicBezTo>
                  <a:pt x="0" y="18953"/>
                  <a:pt x="18953" y="0"/>
                  <a:pt x="42333" y="0"/>
                </a:cubicBezTo>
                <a:close/>
              </a:path>
            </a:pathLst>
          </a:custGeom>
          <a:solidFill>
            <a:srgbClr val="3A5E78">
              <a:alpha val="20000"/>
            </a:srgbClr>
          </a:solidFill>
          <a:ln/>
        </p:spPr>
      </p:sp>
      <p:sp>
        <p:nvSpPr>
          <p:cNvPr id="23" name="Shape 21"/>
          <p:cNvSpPr/>
          <p:nvPr/>
        </p:nvSpPr>
        <p:spPr>
          <a:xfrm>
            <a:off x="8255000" y="1524000"/>
            <a:ext cx="42333" cy="4360333"/>
          </a:xfrm>
          <a:custGeom>
            <a:avLst/>
            <a:gdLst/>
            <a:ahLst/>
            <a:cxnLst/>
            <a:rect l="l" t="t" r="r" b="b"/>
            <a:pathLst>
              <a:path w="42333" h="4360333">
                <a:moveTo>
                  <a:pt x="42333" y="0"/>
                </a:moveTo>
                <a:lnTo>
                  <a:pt x="42333" y="0"/>
                </a:lnTo>
                <a:lnTo>
                  <a:pt x="42333" y="4360333"/>
                </a:lnTo>
                <a:lnTo>
                  <a:pt x="42333" y="4360333"/>
                </a:lnTo>
                <a:cubicBezTo>
                  <a:pt x="18953" y="4360333"/>
                  <a:pt x="0" y="4341380"/>
                  <a:pt x="0" y="4318000"/>
                </a:cubicBezTo>
                <a:lnTo>
                  <a:pt x="0" y="42333"/>
                </a:lnTo>
                <a:cubicBezTo>
                  <a:pt x="0" y="18953"/>
                  <a:pt x="18953" y="0"/>
                  <a:pt x="42333" y="0"/>
                </a:cubicBezTo>
                <a:close/>
              </a:path>
            </a:pathLst>
          </a:custGeom>
          <a:solidFill>
            <a:srgbClr val="7E9AA8"/>
          </a:solidFill>
          <a:ln/>
        </p:spPr>
      </p:sp>
      <p:sp>
        <p:nvSpPr>
          <p:cNvPr id="24" name="Text 22"/>
          <p:cNvSpPr/>
          <p:nvPr/>
        </p:nvSpPr>
        <p:spPr>
          <a:xfrm>
            <a:off x="8445500" y="1693333"/>
            <a:ext cx="7344833"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模型训练与评估</a:t>
            </a:r>
            <a:endParaRPr lang="en-US" sz="1600" dirty="0"/>
          </a:p>
        </p:txBody>
      </p:sp>
      <p:sp>
        <p:nvSpPr>
          <p:cNvPr id="25" name="Shape 23"/>
          <p:cNvSpPr/>
          <p:nvPr/>
        </p:nvSpPr>
        <p:spPr>
          <a:xfrm>
            <a:off x="8445500" y="2159000"/>
            <a:ext cx="7217833" cy="762000"/>
          </a:xfrm>
          <a:custGeom>
            <a:avLst/>
            <a:gdLst/>
            <a:ahLst/>
            <a:cxnLst/>
            <a:rect l="l" t="t" r="r" b="b"/>
            <a:pathLst>
              <a:path w="7217833" h="762000">
                <a:moveTo>
                  <a:pt x="42337" y="0"/>
                </a:moveTo>
                <a:lnTo>
                  <a:pt x="7175497" y="0"/>
                </a:lnTo>
                <a:cubicBezTo>
                  <a:pt x="7198879" y="0"/>
                  <a:pt x="7217833" y="18955"/>
                  <a:pt x="7217833" y="42337"/>
                </a:cubicBezTo>
                <a:lnTo>
                  <a:pt x="7217833" y="719663"/>
                </a:lnTo>
                <a:cubicBezTo>
                  <a:pt x="7217833" y="743045"/>
                  <a:pt x="7198879" y="762000"/>
                  <a:pt x="7175497" y="762000"/>
                </a:cubicBezTo>
                <a:lnTo>
                  <a:pt x="42337" y="762000"/>
                </a:lnTo>
                <a:cubicBezTo>
                  <a:pt x="18955" y="762000"/>
                  <a:pt x="0" y="743045"/>
                  <a:pt x="0" y="719663"/>
                </a:cubicBezTo>
                <a:lnTo>
                  <a:pt x="0" y="42337"/>
                </a:lnTo>
                <a:cubicBezTo>
                  <a:pt x="0" y="18955"/>
                  <a:pt x="18955" y="0"/>
                  <a:pt x="42337" y="0"/>
                </a:cubicBezTo>
                <a:close/>
              </a:path>
            </a:pathLst>
          </a:custGeom>
          <a:solidFill>
            <a:srgbClr val="181A1F">
              <a:alpha val="50196"/>
            </a:srgbClr>
          </a:solidFill>
          <a:ln/>
        </p:spPr>
      </p:sp>
      <p:sp>
        <p:nvSpPr>
          <p:cNvPr id="26" name="Text 24"/>
          <p:cNvSpPr/>
          <p:nvPr/>
        </p:nvSpPr>
        <p:spPr>
          <a:xfrm>
            <a:off x="8572500" y="2286000"/>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训练过程</a:t>
            </a:r>
            <a:endParaRPr lang="en-US" sz="1600" dirty="0"/>
          </a:p>
        </p:txBody>
      </p:sp>
      <p:sp>
        <p:nvSpPr>
          <p:cNvPr id="27" name="Text 25"/>
          <p:cNvSpPr/>
          <p:nvPr/>
        </p:nvSpPr>
        <p:spPr>
          <a:xfrm>
            <a:off x="8572500" y="2582333"/>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拟合模型并预测测试集</a:t>
            </a:r>
            <a:endParaRPr lang="en-US" sz="1600" dirty="0"/>
          </a:p>
        </p:txBody>
      </p:sp>
      <p:sp>
        <p:nvSpPr>
          <p:cNvPr id="28" name="Shape 26"/>
          <p:cNvSpPr/>
          <p:nvPr/>
        </p:nvSpPr>
        <p:spPr>
          <a:xfrm>
            <a:off x="8445500" y="3048000"/>
            <a:ext cx="7217833" cy="1270000"/>
          </a:xfrm>
          <a:custGeom>
            <a:avLst/>
            <a:gdLst/>
            <a:ahLst/>
            <a:cxnLst/>
            <a:rect l="l" t="t" r="r" b="b"/>
            <a:pathLst>
              <a:path w="7217833" h="1270000">
                <a:moveTo>
                  <a:pt x="42329" y="0"/>
                </a:moveTo>
                <a:lnTo>
                  <a:pt x="7175504" y="0"/>
                </a:lnTo>
                <a:cubicBezTo>
                  <a:pt x="7198882" y="0"/>
                  <a:pt x="7217833" y="18951"/>
                  <a:pt x="7217833" y="42329"/>
                </a:cubicBezTo>
                <a:lnTo>
                  <a:pt x="7217833" y="1227671"/>
                </a:lnTo>
                <a:cubicBezTo>
                  <a:pt x="7217833" y="1251049"/>
                  <a:pt x="7198882" y="1270000"/>
                  <a:pt x="7175504" y="1270000"/>
                </a:cubicBezTo>
                <a:lnTo>
                  <a:pt x="42329" y="1270000"/>
                </a:lnTo>
                <a:cubicBezTo>
                  <a:pt x="18951" y="1270000"/>
                  <a:pt x="0" y="1251049"/>
                  <a:pt x="0" y="1227671"/>
                </a:cubicBezTo>
                <a:lnTo>
                  <a:pt x="0" y="42329"/>
                </a:lnTo>
                <a:cubicBezTo>
                  <a:pt x="0" y="18951"/>
                  <a:pt x="18951" y="0"/>
                  <a:pt x="42329" y="0"/>
                </a:cubicBezTo>
                <a:close/>
              </a:path>
            </a:pathLst>
          </a:custGeom>
          <a:solidFill>
            <a:srgbClr val="181A1F">
              <a:alpha val="50196"/>
            </a:srgbClr>
          </a:solidFill>
          <a:ln/>
        </p:spPr>
      </p:sp>
      <p:sp>
        <p:nvSpPr>
          <p:cNvPr id="29" name="Text 27"/>
          <p:cNvSpPr/>
          <p:nvPr/>
        </p:nvSpPr>
        <p:spPr>
          <a:xfrm>
            <a:off x="8572500" y="3175000"/>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模型评估</a:t>
            </a:r>
            <a:endParaRPr lang="en-US" sz="1600" dirty="0"/>
          </a:p>
        </p:txBody>
      </p:sp>
      <p:sp>
        <p:nvSpPr>
          <p:cNvPr id="30" name="Shape 28"/>
          <p:cNvSpPr/>
          <p:nvPr/>
        </p:nvSpPr>
        <p:spPr>
          <a:xfrm>
            <a:off x="8572500" y="3471333"/>
            <a:ext cx="3439583" cy="719667"/>
          </a:xfrm>
          <a:custGeom>
            <a:avLst/>
            <a:gdLst/>
            <a:ahLst/>
            <a:cxnLst/>
            <a:rect l="l" t="t" r="r" b="b"/>
            <a:pathLst>
              <a:path w="3439583" h="719667">
                <a:moveTo>
                  <a:pt x="42331" y="0"/>
                </a:moveTo>
                <a:lnTo>
                  <a:pt x="3397253" y="0"/>
                </a:lnTo>
                <a:cubicBezTo>
                  <a:pt x="3420631" y="0"/>
                  <a:pt x="3439583" y="18952"/>
                  <a:pt x="3439583" y="42331"/>
                </a:cubicBezTo>
                <a:lnTo>
                  <a:pt x="3439583" y="677336"/>
                </a:lnTo>
                <a:cubicBezTo>
                  <a:pt x="3439583" y="700715"/>
                  <a:pt x="3420631" y="719667"/>
                  <a:pt x="3397253" y="719667"/>
                </a:cubicBezTo>
                <a:lnTo>
                  <a:pt x="42331" y="719667"/>
                </a:lnTo>
                <a:cubicBezTo>
                  <a:pt x="18952" y="719667"/>
                  <a:pt x="0" y="700715"/>
                  <a:pt x="0" y="677336"/>
                </a:cubicBezTo>
                <a:lnTo>
                  <a:pt x="0" y="42331"/>
                </a:lnTo>
                <a:cubicBezTo>
                  <a:pt x="0" y="18952"/>
                  <a:pt x="18952" y="0"/>
                  <a:pt x="42331" y="0"/>
                </a:cubicBezTo>
                <a:close/>
              </a:path>
            </a:pathLst>
          </a:custGeom>
          <a:solidFill>
            <a:srgbClr val="181A1F"/>
          </a:solidFill>
          <a:ln/>
        </p:spPr>
      </p:sp>
      <p:sp>
        <p:nvSpPr>
          <p:cNvPr id="31" name="Text 29"/>
          <p:cNvSpPr/>
          <p:nvPr/>
        </p:nvSpPr>
        <p:spPr>
          <a:xfrm>
            <a:off x="8620125" y="3556000"/>
            <a:ext cx="3344333" cy="211667"/>
          </a:xfrm>
          <a:prstGeom prst="rect">
            <a:avLst/>
          </a:prstGeom>
          <a:noFill/>
          <a:ln/>
        </p:spPr>
        <p:txBody>
          <a:bodyPr wrap="square" lIns="0" tIns="0" rIns="0" bIns="0" rtlCol="0" anchor="ctr"/>
          <a:lstStyle/>
          <a:p>
            <a:pPr algn="ctr">
              <a:lnSpc>
                <a:spcPct val="120000"/>
              </a:lnSpc>
            </a:pPr>
            <a:r>
              <a:rPr lang="en-US" sz="1167" dirty="0">
                <a:solidFill>
                  <a:srgbClr val="7E9AA8"/>
                </a:solidFill>
                <a:latin typeface="MiSans" pitchFamily="34" charset="0"/>
                <a:ea typeface="MiSans" pitchFamily="34" charset="-122"/>
                <a:cs typeface="MiSans" pitchFamily="34" charset="-120"/>
              </a:rPr>
              <a:t>准确率</a:t>
            </a:r>
            <a:endParaRPr lang="en-US" sz="1600" dirty="0"/>
          </a:p>
        </p:txBody>
      </p:sp>
      <p:sp>
        <p:nvSpPr>
          <p:cNvPr id="32" name="Text 30"/>
          <p:cNvSpPr/>
          <p:nvPr/>
        </p:nvSpPr>
        <p:spPr>
          <a:xfrm>
            <a:off x="8593667" y="3767667"/>
            <a:ext cx="3397250" cy="338667"/>
          </a:xfrm>
          <a:prstGeom prst="rect">
            <a:avLst/>
          </a:prstGeom>
          <a:noFill/>
          <a:ln/>
        </p:spPr>
        <p:txBody>
          <a:bodyPr wrap="square" lIns="0" tIns="0" rIns="0" bIns="0" rtlCol="0" anchor="ctr"/>
          <a:lstStyle/>
          <a:p>
            <a:pPr algn="ctr">
              <a:lnSpc>
                <a:spcPct val="110000"/>
              </a:lnSpc>
            </a:pPr>
            <a:r>
              <a:rPr lang="en-US" sz="2000" b="1" dirty="0">
                <a:solidFill>
                  <a:srgbClr val="D1D5DB"/>
                </a:solidFill>
                <a:latin typeface="MiSans" pitchFamily="34" charset="0"/>
                <a:ea typeface="MiSans" pitchFamily="34" charset="-122"/>
                <a:cs typeface="MiSans" pitchFamily="34" charset="-120"/>
              </a:rPr>
              <a:t>1.0000</a:t>
            </a:r>
            <a:endParaRPr lang="en-US" sz="1600" dirty="0"/>
          </a:p>
        </p:txBody>
      </p:sp>
      <p:sp>
        <p:nvSpPr>
          <p:cNvPr id="33" name="Shape 31"/>
          <p:cNvSpPr/>
          <p:nvPr/>
        </p:nvSpPr>
        <p:spPr>
          <a:xfrm>
            <a:off x="12096750" y="3471333"/>
            <a:ext cx="3439583" cy="719667"/>
          </a:xfrm>
          <a:custGeom>
            <a:avLst/>
            <a:gdLst/>
            <a:ahLst/>
            <a:cxnLst/>
            <a:rect l="l" t="t" r="r" b="b"/>
            <a:pathLst>
              <a:path w="3439583" h="719667">
                <a:moveTo>
                  <a:pt x="42331" y="0"/>
                </a:moveTo>
                <a:lnTo>
                  <a:pt x="3397253" y="0"/>
                </a:lnTo>
                <a:cubicBezTo>
                  <a:pt x="3420631" y="0"/>
                  <a:pt x="3439583" y="18952"/>
                  <a:pt x="3439583" y="42331"/>
                </a:cubicBezTo>
                <a:lnTo>
                  <a:pt x="3439583" y="677336"/>
                </a:lnTo>
                <a:cubicBezTo>
                  <a:pt x="3439583" y="700715"/>
                  <a:pt x="3420631" y="719667"/>
                  <a:pt x="3397253" y="719667"/>
                </a:cubicBezTo>
                <a:lnTo>
                  <a:pt x="42331" y="719667"/>
                </a:lnTo>
                <a:cubicBezTo>
                  <a:pt x="18952" y="719667"/>
                  <a:pt x="0" y="700715"/>
                  <a:pt x="0" y="677336"/>
                </a:cubicBezTo>
                <a:lnTo>
                  <a:pt x="0" y="42331"/>
                </a:lnTo>
                <a:cubicBezTo>
                  <a:pt x="0" y="18952"/>
                  <a:pt x="18952" y="0"/>
                  <a:pt x="42331" y="0"/>
                </a:cubicBezTo>
                <a:close/>
              </a:path>
            </a:pathLst>
          </a:custGeom>
          <a:solidFill>
            <a:srgbClr val="181A1F"/>
          </a:solidFill>
          <a:ln/>
        </p:spPr>
      </p:sp>
      <p:sp>
        <p:nvSpPr>
          <p:cNvPr id="34" name="Text 32"/>
          <p:cNvSpPr/>
          <p:nvPr/>
        </p:nvSpPr>
        <p:spPr>
          <a:xfrm>
            <a:off x="12144375" y="3556000"/>
            <a:ext cx="3344333" cy="211667"/>
          </a:xfrm>
          <a:prstGeom prst="rect">
            <a:avLst/>
          </a:prstGeom>
          <a:noFill/>
          <a:ln/>
        </p:spPr>
        <p:txBody>
          <a:bodyPr wrap="square" lIns="0" tIns="0" rIns="0" bIns="0" rtlCol="0" anchor="ctr"/>
          <a:lstStyle/>
          <a:p>
            <a:pPr algn="ctr">
              <a:lnSpc>
                <a:spcPct val="120000"/>
              </a:lnSpc>
            </a:pPr>
            <a:r>
              <a:rPr lang="en-US" sz="1167" dirty="0">
                <a:solidFill>
                  <a:srgbClr val="7E9AA8"/>
                </a:solidFill>
                <a:latin typeface="MiSans" pitchFamily="34" charset="0"/>
                <a:ea typeface="MiSans" pitchFamily="34" charset="-122"/>
                <a:cs typeface="MiSans" pitchFamily="34" charset="-120"/>
              </a:rPr>
              <a:t>完美拟合</a:t>
            </a:r>
            <a:endParaRPr lang="en-US" sz="1600" dirty="0"/>
          </a:p>
        </p:txBody>
      </p:sp>
      <p:sp>
        <p:nvSpPr>
          <p:cNvPr id="35" name="Text 33"/>
          <p:cNvSpPr/>
          <p:nvPr/>
        </p:nvSpPr>
        <p:spPr>
          <a:xfrm>
            <a:off x="12133792" y="3767667"/>
            <a:ext cx="3365500" cy="296333"/>
          </a:xfrm>
          <a:prstGeom prst="rect">
            <a:avLst/>
          </a:prstGeom>
          <a:noFill/>
          <a:ln/>
        </p:spPr>
        <p:txBody>
          <a:bodyPr wrap="square" lIns="0" tIns="0" rIns="0" bIns="0" rtlCol="0" anchor="ctr"/>
          <a:lstStyle/>
          <a:p>
            <a:pPr algn="ctr">
              <a:lnSpc>
                <a:spcPct val="130000"/>
              </a:lnSpc>
            </a:pPr>
            <a:r>
              <a:rPr lang="en-US" sz="1500" b="1" dirty="0">
                <a:solidFill>
                  <a:srgbClr val="4C7E9A"/>
                </a:solidFill>
                <a:latin typeface="MiSans" pitchFamily="34" charset="0"/>
                <a:ea typeface="MiSans" pitchFamily="34" charset="-122"/>
                <a:cs typeface="MiSans" pitchFamily="34" charset="-120"/>
              </a:rPr>
              <a:t>100%</a:t>
            </a:r>
            <a:endParaRPr lang="en-US" sz="1600" dirty="0"/>
          </a:p>
        </p:txBody>
      </p:sp>
      <p:sp>
        <p:nvSpPr>
          <p:cNvPr id="36" name="Shape 34"/>
          <p:cNvSpPr/>
          <p:nvPr/>
        </p:nvSpPr>
        <p:spPr>
          <a:xfrm>
            <a:off x="8445500" y="4445000"/>
            <a:ext cx="7217833" cy="1270000"/>
          </a:xfrm>
          <a:custGeom>
            <a:avLst/>
            <a:gdLst/>
            <a:ahLst/>
            <a:cxnLst/>
            <a:rect l="l" t="t" r="r" b="b"/>
            <a:pathLst>
              <a:path w="7217833" h="1270000">
                <a:moveTo>
                  <a:pt x="42329" y="0"/>
                </a:moveTo>
                <a:lnTo>
                  <a:pt x="7175504" y="0"/>
                </a:lnTo>
                <a:cubicBezTo>
                  <a:pt x="7198882" y="0"/>
                  <a:pt x="7217833" y="18951"/>
                  <a:pt x="7217833" y="42329"/>
                </a:cubicBezTo>
                <a:lnTo>
                  <a:pt x="7217833" y="1227671"/>
                </a:lnTo>
                <a:cubicBezTo>
                  <a:pt x="7217833" y="1251049"/>
                  <a:pt x="7198882" y="1270000"/>
                  <a:pt x="7175504" y="1270000"/>
                </a:cubicBezTo>
                <a:lnTo>
                  <a:pt x="42329" y="1270000"/>
                </a:lnTo>
                <a:cubicBezTo>
                  <a:pt x="18951" y="1270000"/>
                  <a:pt x="0" y="1251049"/>
                  <a:pt x="0" y="1227671"/>
                </a:cubicBezTo>
                <a:lnTo>
                  <a:pt x="0" y="42329"/>
                </a:lnTo>
                <a:cubicBezTo>
                  <a:pt x="0" y="18951"/>
                  <a:pt x="18951" y="0"/>
                  <a:pt x="42329" y="0"/>
                </a:cubicBezTo>
                <a:close/>
              </a:path>
            </a:pathLst>
          </a:custGeom>
          <a:solidFill>
            <a:srgbClr val="181A1F">
              <a:alpha val="50196"/>
            </a:srgbClr>
          </a:solidFill>
          <a:ln/>
        </p:spPr>
      </p:sp>
      <p:sp>
        <p:nvSpPr>
          <p:cNvPr id="37" name="Text 35"/>
          <p:cNvSpPr/>
          <p:nvPr/>
        </p:nvSpPr>
        <p:spPr>
          <a:xfrm>
            <a:off x="8572500" y="4572000"/>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特征重要性</a:t>
            </a:r>
            <a:endParaRPr lang="en-US" sz="1600" dirty="0"/>
          </a:p>
        </p:txBody>
      </p:sp>
      <p:sp>
        <p:nvSpPr>
          <p:cNvPr id="38" name="Text 36"/>
          <p:cNvSpPr/>
          <p:nvPr/>
        </p:nvSpPr>
        <p:spPr>
          <a:xfrm>
            <a:off x="8572500" y="4868333"/>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花瓣长度 (66.6%)</a:t>
            </a:r>
            <a:endParaRPr lang="en-US" sz="1600" dirty="0"/>
          </a:p>
        </p:txBody>
      </p:sp>
      <p:sp>
        <p:nvSpPr>
          <p:cNvPr id="39" name="Text 37"/>
          <p:cNvSpPr/>
          <p:nvPr/>
        </p:nvSpPr>
        <p:spPr>
          <a:xfrm>
            <a:off x="8572500" y="5122333"/>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花瓣宽度 (31.8%)</a:t>
            </a:r>
            <a:endParaRPr lang="en-US" sz="1600" dirty="0"/>
          </a:p>
        </p:txBody>
      </p:sp>
      <p:sp>
        <p:nvSpPr>
          <p:cNvPr id="40" name="Text 38"/>
          <p:cNvSpPr/>
          <p:nvPr/>
        </p:nvSpPr>
        <p:spPr>
          <a:xfrm>
            <a:off x="8572500" y="5376333"/>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其他特征 (1.6%)</a:t>
            </a:r>
            <a:endParaRPr lang="en-US" sz="1600" dirty="0"/>
          </a:p>
        </p:txBody>
      </p:sp>
      <p:sp>
        <p:nvSpPr>
          <p:cNvPr id="41" name="Shape 39"/>
          <p:cNvSpPr/>
          <p:nvPr/>
        </p:nvSpPr>
        <p:spPr>
          <a:xfrm>
            <a:off x="8239125" y="6058958"/>
            <a:ext cx="7588250" cy="3016250"/>
          </a:xfrm>
          <a:custGeom>
            <a:avLst/>
            <a:gdLst/>
            <a:ahLst/>
            <a:cxnLst/>
            <a:rect l="l" t="t" r="r" b="b"/>
            <a:pathLst>
              <a:path w="7588250" h="3016250">
                <a:moveTo>
                  <a:pt x="84666" y="0"/>
                </a:moveTo>
                <a:lnTo>
                  <a:pt x="7503584" y="0"/>
                </a:lnTo>
                <a:cubicBezTo>
                  <a:pt x="7550344" y="0"/>
                  <a:pt x="7588250" y="37906"/>
                  <a:pt x="7588250" y="84666"/>
                </a:cubicBezTo>
                <a:lnTo>
                  <a:pt x="7588250" y="2931584"/>
                </a:lnTo>
                <a:cubicBezTo>
                  <a:pt x="7588250" y="2978344"/>
                  <a:pt x="7550344" y="3016250"/>
                  <a:pt x="7503584" y="3016250"/>
                </a:cubicBezTo>
                <a:lnTo>
                  <a:pt x="84666" y="3016250"/>
                </a:lnTo>
                <a:cubicBezTo>
                  <a:pt x="37906" y="3016250"/>
                  <a:pt x="0" y="2978344"/>
                  <a:pt x="0" y="2931584"/>
                </a:cubicBezTo>
                <a:lnTo>
                  <a:pt x="0" y="84666"/>
                </a:lnTo>
                <a:cubicBezTo>
                  <a:pt x="0" y="37938"/>
                  <a:pt x="37938" y="0"/>
                  <a:pt x="84666" y="0"/>
                </a:cubicBezTo>
                <a:close/>
              </a:path>
            </a:pathLst>
          </a:custGeom>
          <a:solidFill>
            <a:srgbClr val="3A5E78">
              <a:alpha val="20000"/>
            </a:srgbClr>
          </a:solidFill>
          <a:ln w="12700">
            <a:solidFill>
              <a:srgbClr val="4C7E9A">
                <a:alpha val="50196"/>
              </a:srgbClr>
            </a:solidFill>
            <a:prstDash val="solid"/>
          </a:ln>
        </p:spPr>
      </p:sp>
      <p:sp>
        <p:nvSpPr>
          <p:cNvPr id="42" name="Text 40"/>
          <p:cNvSpPr/>
          <p:nvPr/>
        </p:nvSpPr>
        <p:spPr>
          <a:xfrm>
            <a:off x="8413750" y="6233583"/>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关键参数说明</a:t>
            </a:r>
            <a:endParaRPr lang="en-US" sz="1600" dirty="0"/>
          </a:p>
        </p:txBody>
      </p:sp>
      <p:sp>
        <p:nvSpPr>
          <p:cNvPr id="43" name="Shape 41"/>
          <p:cNvSpPr/>
          <p:nvPr/>
        </p:nvSpPr>
        <p:spPr>
          <a:xfrm>
            <a:off x="8413750" y="6699250"/>
            <a:ext cx="7239000" cy="677333"/>
          </a:xfrm>
          <a:custGeom>
            <a:avLst/>
            <a:gdLst/>
            <a:ahLst/>
            <a:cxnLst/>
            <a:rect l="l" t="t" r="r" b="b"/>
            <a:pathLst>
              <a:path w="7239000" h="677333">
                <a:moveTo>
                  <a:pt x="42333" y="0"/>
                </a:moveTo>
                <a:lnTo>
                  <a:pt x="7196667" y="0"/>
                </a:lnTo>
                <a:cubicBezTo>
                  <a:pt x="7220047" y="0"/>
                  <a:pt x="7239000" y="18953"/>
                  <a:pt x="7239000" y="42333"/>
                </a:cubicBezTo>
                <a:lnTo>
                  <a:pt x="7239000" y="635000"/>
                </a:lnTo>
                <a:cubicBezTo>
                  <a:pt x="7239000" y="658380"/>
                  <a:pt x="7220047" y="677333"/>
                  <a:pt x="7196667"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alpha val="50196"/>
            </a:srgbClr>
          </a:solidFill>
          <a:ln/>
        </p:spPr>
      </p:sp>
      <p:sp>
        <p:nvSpPr>
          <p:cNvPr id="44" name="Text 42"/>
          <p:cNvSpPr/>
          <p:nvPr/>
        </p:nvSpPr>
        <p:spPr>
          <a:xfrm>
            <a:off x="8498417" y="6783917"/>
            <a:ext cx="7154333"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n_estimators</a:t>
            </a:r>
            <a:endParaRPr lang="en-US" sz="1600" dirty="0"/>
          </a:p>
        </p:txBody>
      </p:sp>
      <p:sp>
        <p:nvSpPr>
          <p:cNvPr id="45" name="Text 43"/>
          <p:cNvSpPr/>
          <p:nvPr/>
        </p:nvSpPr>
        <p:spPr>
          <a:xfrm>
            <a:off x="8498417" y="7080250"/>
            <a:ext cx="71437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树的数量，相当于迭代次数</a:t>
            </a:r>
            <a:endParaRPr lang="en-US" sz="1600" dirty="0"/>
          </a:p>
        </p:txBody>
      </p:sp>
      <p:sp>
        <p:nvSpPr>
          <p:cNvPr id="46" name="Shape 44"/>
          <p:cNvSpPr/>
          <p:nvPr/>
        </p:nvSpPr>
        <p:spPr>
          <a:xfrm>
            <a:off x="8413750" y="7461250"/>
            <a:ext cx="7239000" cy="677333"/>
          </a:xfrm>
          <a:custGeom>
            <a:avLst/>
            <a:gdLst/>
            <a:ahLst/>
            <a:cxnLst/>
            <a:rect l="l" t="t" r="r" b="b"/>
            <a:pathLst>
              <a:path w="7239000" h="677333">
                <a:moveTo>
                  <a:pt x="42333" y="0"/>
                </a:moveTo>
                <a:lnTo>
                  <a:pt x="7196667" y="0"/>
                </a:lnTo>
                <a:cubicBezTo>
                  <a:pt x="7220047" y="0"/>
                  <a:pt x="7239000" y="18953"/>
                  <a:pt x="7239000" y="42333"/>
                </a:cubicBezTo>
                <a:lnTo>
                  <a:pt x="7239000" y="635000"/>
                </a:lnTo>
                <a:cubicBezTo>
                  <a:pt x="7239000" y="658380"/>
                  <a:pt x="7220047" y="677333"/>
                  <a:pt x="7196667"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alpha val="50196"/>
            </a:srgbClr>
          </a:solidFill>
          <a:ln/>
        </p:spPr>
      </p:sp>
      <p:sp>
        <p:nvSpPr>
          <p:cNvPr id="47" name="Text 45"/>
          <p:cNvSpPr/>
          <p:nvPr/>
        </p:nvSpPr>
        <p:spPr>
          <a:xfrm>
            <a:off x="8498417" y="7545917"/>
            <a:ext cx="7154333"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learning_rate</a:t>
            </a:r>
            <a:endParaRPr lang="en-US" sz="1600" dirty="0"/>
          </a:p>
        </p:txBody>
      </p:sp>
      <p:sp>
        <p:nvSpPr>
          <p:cNvPr id="48" name="Text 46"/>
          <p:cNvSpPr/>
          <p:nvPr/>
        </p:nvSpPr>
        <p:spPr>
          <a:xfrm>
            <a:off x="8498417" y="7842250"/>
            <a:ext cx="71437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学习率/收缩步长，防止过拟合</a:t>
            </a:r>
            <a:endParaRPr lang="en-US" sz="1600" dirty="0"/>
          </a:p>
        </p:txBody>
      </p:sp>
      <p:sp>
        <p:nvSpPr>
          <p:cNvPr id="49" name="Shape 47"/>
          <p:cNvSpPr/>
          <p:nvPr/>
        </p:nvSpPr>
        <p:spPr>
          <a:xfrm>
            <a:off x="8413750" y="8223250"/>
            <a:ext cx="7239000" cy="677333"/>
          </a:xfrm>
          <a:custGeom>
            <a:avLst/>
            <a:gdLst/>
            <a:ahLst/>
            <a:cxnLst/>
            <a:rect l="l" t="t" r="r" b="b"/>
            <a:pathLst>
              <a:path w="7239000" h="677333">
                <a:moveTo>
                  <a:pt x="42333" y="0"/>
                </a:moveTo>
                <a:lnTo>
                  <a:pt x="7196667" y="0"/>
                </a:lnTo>
                <a:cubicBezTo>
                  <a:pt x="7220047" y="0"/>
                  <a:pt x="7239000" y="18953"/>
                  <a:pt x="7239000" y="42333"/>
                </a:cubicBezTo>
                <a:lnTo>
                  <a:pt x="7239000" y="635000"/>
                </a:lnTo>
                <a:cubicBezTo>
                  <a:pt x="7239000" y="658380"/>
                  <a:pt x="7220047" y="677333"/>
                  <a:pt x="7196667"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alpha val="50196"/>
            </a:srgbClr>
          </a:solidFill>
          <a:ln/>
        </p:spPr>
      </p:sp>
      <p:sp>
        <p:nvSpPr>
          <p:cNvPr id="50" name="Text 48"/>
          <p:cNvSpPr/>
          <p:nvPr/>
        </p:nvSpPr>
        <p:spPr>
          <a:xfrm>
            <a:off x="8498417" y="8307917"/>
            <a:ext cx="7154333"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max_depth</a:t>
            </a:r>
            <a:endParaRPr lang="en-US" sz="1600" dirty="0"/>
          </a:p>
        </p:txBody>
      </p:sp>
      <p:sp>
        <p:nvSpPr>
          <p:cNvPr id="51" name="Text 49"/>
          <p:cNvSpPr/>
          <p:nvPr/>
        </p:nvSpPr>
        <p:spPr>
          <a:xfrm>
            <a:off x="8498417" y="8604250"/>
            <a:ext cx="71437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每棵树的最大深度，控制基学习器复杂度</a:t>
            </a:r>
            <a:endParaRPr lang="en-US" sz="1600" dirty="0"/>
          </a:p>
        </p:txBody>
      </p:sp>
      <p:sp>
        <p:nvSpPr>
          <p:cNvPr id="52" name="Shape 50"/>
          <p:cNvSpPr/>
          <p:nvPr/>
        </p:nvSpPr>
        <p:spPr>
          <a:xfrm>
            <a:off x="428625" y="9255125"/>
            <a:ext cx="15398750" cy="1322917"/>
          </a:xfrm>
          <a:custGeom>
            <a:avLst/>
            <a:gdLst/>
            <a:ahLst/>
            <a:cxnLst/>
            <a:rect l="l" t="t" r="r" b="b"/>
            <a:pathLst>
              <a:path w="15398750" h="1322917">
                <a:moveTo>
                  <a:pt x="84667" y="0"/>
                </a:moveTo>
                <a:lnTo>
                  <a:pt x="15314083" y="0"/>
                </a:lnTo>
                <a:cubicBezTo>
                  <a:pt x="15360843" y="0"/>
                  <a:pt x="15398750" y="37907"/>
                  <a:pt x="15398750" y="84667"/>
                </a:cubicBezTo>
                <a:lnTo>
                  <a:pt x="15398750" y="1238250"/>
                </a:lnTo>
                <a:cubicBezTo>
                  <a:pt x="15398750" y="1285010"/>
                  <a:pt x="15360843" y="1322917"/>
                  <a:pt x="15314083" y="1322917"/>
                </a:cubicBezTo>
                <a:lnTo>
                  <a:pt x="84667" y="1322917"/>
                </a:lnTo>
                <a:cubicBezTo>
                  <a:pt x="37907" y="1322917"/>
                  <a:pt x="0" y="1285010"/>
                  <a:pt x="0" y="1238250"/>
                </a:cubicBezTo>
                <a:lnTo>
                  <a:pt x="0" y="84667"/>
                </a:lnTo>
                <a:cubicBezTo>
                  <a:pt x="0" y="37907"/>
                  <a:pt x="37907" y="0"/>
                  <a:pt x="84667" y="0"/>
                </a:cubicBezTo>
                <a:close/>
              </a:path>
            </a:pathLst>
          </a:custGeom>
          <a:solidFill>
            <a:srgbClr val="4C7E9A">
              <a:alpha val="10196"/>
            </a:srgbClr>
          </a:solidFill>
          <a:ln w="12700">
            <a:solidFill>
              <a:srgbClr val="4C7E9A">
                <a:alpha val="30196"/>
              </a:srgbClr>
            </a:solidFill>
            <a:prstDash val="solid"/>
          </a:ln>
        </p:spPr>
      </p:sp>
      <p:sp>
        <p:nvSpPr>
          <p:cNvPr id="53" name="Shape 51"/>
          <p:cNvSpPr/>
          <p:nvPr/>
        </p:nvSpPr>
        <p:spPr>
          <a:xfrm>
            <a:off x="685271" y="9429750"/>
            <a:ext cx="238125" cy="317500"/>
          </a:xfrm>
          <a:custGeom>
            <a:avLst/>
            <a:gdLst/>
            <a:ahLst/>
            <a:cxnLst/>
            <a:rect l="l" t="t" r="r" b="b"/>
            <a:pathLst>
              <a:path w="238125" h="317500">
                <a:moveTo>
                  <a:pt x="181632" y="238125"/>
                </a:moveTo>
                <a:cubicBezTo>
                  <a:pt x="186159" y="224296"/>
                  <a:pt x="195213" y="211770"/>
                  <a:pt x="205445" y="200980"/>
                </a:cubicBezTo>
                <a:cubicBezTo>
                  <a:pt x="225723" y="179648"/>
                  <a:pt x="238125" y="150813"/>
                  <a:pt x="238125" y="119063"/>
                </a:cubicBezTo>
                <a:cubicBezTo>
                  <a:pt x="238125" y="53330"/>
                  <a:pt x="184795" y="0"/>
                  <a:pt x="119062" y="0"/>
                </a:cubicBezTo>
                <a:cubicBezTo>
                  <a:pt x="53330" y="0"/>
                  <a:pt x="0" y="53330"/>
                  <a:pt x="0" y="119062"/>
                </a:cubicBezTo>
                <a:cubicBezTo>
                  <a:pt x="0" y="150813"/>
                  <a:pt x="12402" y="179648"/>
                  <a:pt x="32680" y="200980"/>
                </a:cubicBezTo>
                <a:cubicBezTo>
                  <a:pt x="42912" y="211770"/>
                  <a:pt x="52028" y="224296"/>
                  <a:pt x="56493" y="238125"/>
                </a:cubicBezTo>
                <a:lnTo>
                  <a:pt x="181570" y="238125"/>
                </a:lnTo>
                <a:close/>
                <a:moveTo>
                  <a:pt x="178594" y="267891"/>
                </a:moveTo>
                <a:lnTo>
                  <a:pt x="59531" y="267891"/>
                </a:lnTo>
                <a:lnTo>
                  <a:pt x="59531" y="277813"/>
                </a:lnTo>
                <a:cubicBezTo>
                  <a:pt x="59531" y="305222"/>
                  <a:pt x="81731" y="327422"/>
                  <a:pt x="109141" y="327422"/>
                </a:cubicBezTo>
                <a:lnTo>
                  <a:pt x="128984" y="327422"/>
                </a:lnTo>
                <a:cubicBezTo>
                  <a:pt x="156394" y="327422"/>
                  <a:pt x="178594" y="305222"/>
                  <a:pt x="178594" y="277813"/>
                </a:cubicBezTo>
                <a:lnTo>
                  <a:pt x="178594" y="267891"/>
                </a:lnTo>
                <a:close/>
                <a:moveTo>
                  <a:pt x="114102" y="69453"/>
                </a:moveTo>
                <a:cubicBezTo>
                  <a:pt x="89421" y="69453"/>
                  <a:pt x="69453" y="89421"/>
                  <a:pt x="69453" y="114102"/>
                </a:cubicBezTo>
                <a:cubicBezTo>
                  <a:pt x="69453" y="122349"/>
                  <a:pt x="62818" y="128984"/>
                  <a:pt x="54570" y="128984"/>
                </a:cubicBezTo>
                <a:cubicBezTo>
                  <a:pt x="46323" y="128984"/>
                  <a:pt x="39688" y="122349"/>
                  <a:pt x="39688" y="114102"/>
                </a:cubicBezTo>
                <a:cubicBezTo>
                  <a:pt x="39688" y="72988"/>
                  <a:pt x="72988" y="39688"/>
                  <a:pt x="114102" y="39688"/>
                </a:cubicBezTo>
                <a:cubicBezTo>
                  <a:pt x="122349" y="39688"/>
                  <a:pt x="128984" y="46323"/>
                  <a:pt x="128984" y="54570"/>
                </a:cubicBezTo>
                <a:cubicBezTo>
                  <a:pt x="128984" y="62818"/>
                  <a:pt x="122349" y="69453"/>
                  <a:pt x="114102" y="69453"/>
                </a:cubicBezTo>
                <a:close/>
              </a:path>
            </a:pathLst>
          </a:custGeom>
          <a:solidFill>
            <a:srgbClr val="4C7E9A"/>
          </a:solidFill>
          <a:ln/>
        </p:spPr>
      </p:sp>
      <p:sp>
        <p:nvSpPr>
          <p:cNvPr id="54" name="Text 52"/>
          <p:cNvSpPr/>
          <p:nvPr/>
        </p:nvSpPr>
        <p:spPr>
          <a:xfrm>
            <a:off x="1169458" y="9429750"/>
            <a:ext cx="14594417"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GBDT vs AdaBoost</a:t>
            </a:r>
            <a:endParaRPr lang="en-US" sz="1600" dirty="0"/>
          </a:p>
        </p:txBody>
      </p:sp>
      <p:sp>
        <p:nvSpPr>
          <p:cNvPr id="55" name="Text 53"/>
          <p:cNvSpPr/>
          <p:nvPr/>
        </p:nvSpPr>
        <p:spPr>
          <a:xfrm>
            <a:off x="1169458" y="9810750"/>
            <a:ext cx="7249583"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AdaBoost</a:t>
            </a:r>
            <a:endParaRPr lang="en-US" sz="1600" dirty="0"/>
          </a:p>
        </p:txBody>
      </p:sp>
      <p:sp>
        <p:nvSpPr>
          <p:cNvPr id="56" name="Text 54"/>
          <p:cNvSpPr/>
          <p:nvPr/>
        </p:nvSpPr>
        <p:spPr>
          <a:xfrm>
            <a:off x="1169458" y="10149417"/>
            <a:ext cx="7239000"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加权投票的分类Boosting，调整样本权重</a:t>
            </a:r>
            <a:endParaRPr lang="en-US" sz="1600" dirty="0"/>
          </a:p>
        </p:txBody>
      </p:sp>
      <p:sp>
        <p:nvSpPr>
          <p:cNvPr id="57" name="Text 55"/>
          <p:cNvSpPr/>
          <p:nvPr/>
        </p:nvSpPr>
        <p:spPr>
          <a:xfrm>
            <a:off x="8495771" y="9810750"/>
            <a:ext cx="7249583"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GBDT</a:t>
            </a:r>
            <a:endParaRPr lang="en-US" sz="1600" dirty="0"/>
          </a:p>
        </p:txBody>
      </p:sp>
      <p:sp>
        <p:nvSpPr>
          <p:cNvPr id="58" name="Text 56"/>
          <p:cNvSpPr/>
          <p:nvPr/>
        </p:nvSpPr>
        <p:spPr>
          <a:xfrm>
            <a:off x="8495771" y="10149417"/>
            <a:ext cx="7239000"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加法模型框架，拟合残差，属于梯度提升</a:t>
            </a:r>
            <a:endParaRPr lang="en-US" sz="1600" dirty="0"/>
          </a:p>
        </p:txBody>
      </p:sp>
    </p:spTree>
  </p:cSld>
  <p:clrMapOvr>
    <a:masterClrMapping/>
  </p:clrMapOvr>
  <p:transition>
    <p:fade/>
    <p:spd val="med"/>
  </p:transition>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81A1F"/>
        </a:solidFill>
      </p:bgPr>
    </p:bg>
    <p:spTree>
      <p:nvGrpSpPr>
        <p:cNvPr id="1" name=""/>
        <p:cNvGrpSpPr/>
        <p:nvPr/>
      </p:nvGrpSpPr>
      <p:grpSpPr>
        <a:xfrm>
          <a:off x="0" y="0"/>
          <a:ext cx="0" cy="0"/>
          <a:chOff x="0" y="0"/>
          <a:chExt cx="0" cy="0"/>
        </a:xfrm>
      </p:grpSpPr>
      <p:pic>
        <p:nvPicPr>
          <p:cNvPr id="2" name="Image 0" descr="https://kimi-web-img.moonshot.cn/img/img.freepik.com/7eb9fc4f96833e75be9049f0199c1111c514a38e.jpg">    </p:cNvPr>
          <p:cNvPicPr>
            <a:picLocks noChangeAspect="1"/>
          </p:cNvPicPr>
          <p:nvPr/>
        </p:nvPicPr>
        <p:blipFill>
          <a:blip r:embed="rId1">
            <a:alphaModFix amt="30000"/>
          </a:blip>
          <a:srcRect l="0" r="0" t="7779" b="7779"/>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rotWithShape="1" flip="none">
            <a:gsLst>
              <a:gs pos="0">
                <a:srgbClr val="181A1F"/>
              </a:gs>
              <a:gs pos="50000">
                <a:srgbClr val="181A1F">
                  <a:alpha val="95000"/>
                </a:srgbClr>
              </a:gs>
              <a:gs pos="100000">
                <a:srgbClr val="181A1F">
                  <a:alpha val="70000"/>
                </a:srgbClr>
              </a:gs>
            </a:gsLst>
            <a:lin ang="0" scaled="1"/>
          </a:gradFill>
          <a:ln/>
        </p:spPr>
      </p:sp>
      <p:sp>
        <p:nvSpPr>
          <p:cNvPr id="4" name="Shape 1"/>
          <p:cNvSpPr/>
          <p:nvPr/>
        </p:nvSpPr>
        <p:spPr>
          <a:xfrm>
            <a:off x="520700" y="1143000"/>
            <a:ext cx="1778000" cy="787400"/>
          </a:xfrm>
          <a:custGeom>
            <a:avLst/>
            <a:gdLst/>
            <a:ahLst/>
            <a:cxnLst/>
            <a:rect l="l" t="t" r="r" b="b"/>
            <a:pathLst>
              <a:path w="1778000" h="787400">
                <a:moveTo>
                  <a:pt x="101598" y="0"/>
                </a:moveTo>
                <a:lnTo>
                  <a:pt x="1676402" y="0"/>
                </a:lnTo>
                <a:cubicBezTo>
                  <a:pt x="1732513" y="0"/>
                  <a:pt x="1778000" y="45487"/>
                  <a:pt x="1778000" y="101598"/>
                </a:cubicBezTo>
                <a:lnTo>
                  <a:pt x="1778000" y="685802"/>
                </a:lnTo>
                <a:cubicBezTo>
                  <a:pt x="1778000" y="741913"/>
                  <a:pt x="1732513" y="787400"/>
                  <a:pt x="1676402" y="787400"/>
                </a:cubicBezTo>
                <a:lnTo>
                  <a:pt x="101598" y="787400"/>
                </a:lnTo>
                <a:cubicBezTo>
                  <a:pt x="45487" y="787400"/>
                  <a:pt x="0" y="741913"/>
                  <a:pt x="0" y="685802"/>
                </a:cubicBezTo>
                <a:lnTo>
                  <a:pt x="0" y="101598"/>
                </a:lnTo>
                <a:cubicBezTo>
                  <a:pt x="0" y="45525"/>
                  <a:pt x="45525" y="0"/>
                  <a:pt x="101598" y="0"/>
                </a:cubicBezTo>
                <a:close/>
              </a:path>
            </a:pathLst>
          </a:custGeom>
          <a:solidFill>
            <a:srgbClr val="4C7E9A">
              <a:alpha val="20000"/>
            </a:srgbClr>
          </a:solidFill>
          <a:ln w="25400">
            <a:solidFill>
              <a:srgbClr val="4C7E9A"/>
            </a:solidFill>
            <a:prstDash val="solid"/>
          </a:ln>
        </p:spPr>
      </p:sp>
      <p:sp>
        <p:nvSpPr>
          <p:cNvPr id="5" name="Text 2"/>
          <p:cNvSpPr/>
          <p:nvPr/>
        </p:nvSpPr>
        <p:spPr>
          <a:xfrm>
            <a:off x="838200" y="1308100"/>
            <a:ext cx="1333500" cy="457200"/>
          </a:xfrm>
          <a:prstGeom prst="rect">
            <a:avLst/>
          </a:prstGeom>
          <a:noFill/>
          <a:ln/>
        </p:spPr>
        <p:txBody>
          <a:bodyPr wrap="square" lIns="0" tIns="0" rIns="0" bIns="0" rtlCol="0" anchor="ctr"/>
          <a:lstStyle/>
          <a:p>
            <a:pPr>
              <a:lnSpc>
                <a:spcPct val="100000"/>
              </a:lnSpc>
            </a:pPr>
            <a:r>
              <a:rPr lang="en-US" sz="3000" b="1" dirty="0">
                <a:solidFill>
                  <a:srgbClr val="4C7E9A"/>
                </a:solidFill>
                <a:latin typeface="MiSans" pitchFamily="34" charset="0"/>
                <a:ea typeface="MiSans" pitchFamily="34" charset="-122"/>
                <a:cs typeface="MiSans" pitchFamily="34" charset="-120"/>
              </a:rPr>
              <a:t>专题四</a:t>
            </a:r>
            <a:endParaRPr lang="en-US" sz="1600" dirty="0"/>
          </a:p>
        </p:txBody>
      </p:sp>
      <p:sp>
        <p:nvSpPr>
          <p:cNvPr id="6" name="Text 3"/>
          <p:cNvSpPr/>
          <p:nvPr/>
        </p:nvSpPr>
        <p:spPr>
          <a:xfrm>
            <a:off x="508000" y="2349500"/>
            <a:ext cx="10363200" cy="2438400"/>
          </a:xfrm>
          <a:prstGeom prst="rect">
            <a:avLst/>
          </a:prstGeom>
          <a:noFill/>
          <a:ln/>
        </p:spPr>
        <p:txBody>
          <a:bodyPr wrap="square" lIns="0" tIns="0" rIns="0" bIns="0" rtlCol="0" anchor="ctr"/>
          <a:lstStyle/>
          <a:p>
            <a:pPr>
              <a:lnSpc>
                <a:spcPct val="80000"/>
              </a:lnSpc>
            </a:pPr>
            <a:r>
              <a:rPr lang="en-US" sz="9600" b="1" dirty="0">
                <a:solidFill>
                  <a:srgbClr val="D1D5DB"/>
                </a:solidFill>
                <a:latin typeface="阿里妈妈数黑体" pitchFamily="34" charset="0"/>
                <a:ea typeface="阿里妈妈数黑体" pitchFamily="34" charset="-122"/>
                <a:cs typeface="阿里妈妈数黑体" pitchFamily="34" charset="-120"/>
              </a:rPr>
              <a:t>Stacking算法实战</a:t>
            </a:r>
            <a:endParaRPr lang="en-US" sz="1600" dirty="0"/>
          </a:p>
        </p:txBody>
      </p:sp>
      <p:sp>
        <p:nvSpPr>
          <p:cNvPr id="7" name="Shape 4"/>
          <p:cNvSpPr/>
          <p:nvPr/>
        </p:nvSpPr>
        <p:spPr>
          <a:xfrm>
            <a:off x="508000" y="5092700"/>
            <a:ext cx="2438400" cy="101600"/>
          </a:xfrm>
          <a:custGeom>
            <a:avLst/>
            <a:gdLst/>
            <a:ahLst/>
            <a:cxnLst/>
            <a:rect l="l" t="t" r="r" b="b"/>
            <a:pathLst>
              <a:path w="2438400" h="101600">
                <a:moveTo>
                  <a:pt x="0" y="0"/>
                </a:moveTo>
                <a:lnTo>
                  <a:pt x="2438400" y="0"/>
                </a:lnTo>
                <a:lnTo>
                  <a:pt x="2438400" y="101600"/>
                </a:lnTo>
                <a:lnTo>
                  <a:pt x="0" y="101600"/>
                </a:lnTo>
                <a:lnTo>
                  <a:pt x="0" y="0"/>
                </a:lnTo>
                <a:close/>
              </a:path>
            </a:pathLst>
          </a:custGeom>
          <a:solidFill>
            <a:srgbClr val="4C7E9A"/>
          </a:solidFill>
          <a:ln/>
        </p:spPr>
      </p:sp>
      <p:sp>
        <p:nvSpPr>
          <p:cNvPr id="8" name="Text 5"/>
          <p:cNvSpPr/>
          <p:nvPr/>
        </p:nvSpPr>
        <p:spPr>
          <a:xfrm>
            <a:off x="508000" y="5499100"/>
            <a:ext cx="9982200" cy="508000"/>
          </a:xfrm>
          <a:prstGeom prst="rect">
            <a:avLst/>
          </a:prstGeom>
          <a:noFill/>
          <a:ln/>
        </p:spPr>
        <p:txBody>
          <a:bodyPr wrap="square" lIns="0" tIns="0" rIns="0" bIns="0" rtlCol="0" anchor="ctr"/>
          <a:lstStyle/>
          <a:p>
            <a:pPr>
              <a:lnSpc>
                <a:spcPct val="90000"/>
              </a:lnSpc>
            </a:pPr>
            <a:r>
              <a:rPr lang="en-US" sz="3600" dirty="0">
                <a:solidFill>
                  <a:srgbClr val="7E9AA8"/>
                </a:solidFill>
                <a:latin typeface="MiSans" pitchFamily="34" charset="0"/>
                <a:ea typeface="MiSans" pitchFamily="34" charset="-122"/>
                <a:cs typeface="MiSans" pitchFamily="34" charset="-120"/>
              </a:rPr>
              <a:t>层级集成的工程实现</a:t>
            </a:r>
            <a:endParaRPr lang="en-US" sz="1600" dirty="0"/>
          </a:p>
        </p:txBody>
      </p:sp>
      <p:sp>
        <p:nvSpPr>
          <p:cNvPr id="9" name="Shape 6"/>
          <p:cNvSpPr/>
          <p:nvPr/>
        </p:nvSpPr>
        <p:spPr>
          <a:xfrm>
            <a:off x="508000" y="6616700"/>
            <a:ext cx="3149600" cy="1397000"/>
          </a:xfrm>
          <a:custGeom>
            <a:avLst/>
            <a:gdLst/>
            <a:ahLst/>
            <a:cxnLst/>
            <a:rect l="l" t="t" r="r" b="b"/>
            <a:pathLst>
              <a:path w="3149600" h="1397000">
                <a:moveTo>
                  <a:pt x="101604" y="0"/>
                </a:moveTo>
                <a:lnTo>
                  <a:pt x="3047996" y="0"/>
                </a:lnTo>
                <a:cubicBezTo>
                  <a:pt x="3104110" y="0"/>
                  <a:pt x="3149600" y="45490"/>
                  <a:pt x="3149600" y="101604"/>
                </a:cubicBezTo>
                <a:lnTo>
                  <a:pt x="3149600" y="1295396"/>
                </a:lnTo>
                <a:cubicBezTo>
                  <a:pt x="3149600" y="1351510"/>
                  <a:pt x="3104110" y="1397000"/>
                  <a:pt x="30479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0" name="Shape 7"/>
          <p:cNvSpPr/>
          <p:nvPr/>
        </p:nvSpPr>
        <p:spPr>
          <a:xfrm>
            <a:off x="812800" y="6870700"/>
            <a:ext cx="381000" cy="381000"/>
          </a:xfrm>
          <a:custGeom>
            <a:avLst/>
            <a:gdLst/>
            <a:ahLst/>
            <a:cxnLst/>
            <a:rect l="l" t="t" r="r" b="b"/>
            <a:pathLst>
              <a:path w="381000" h="381000">
                <a:moveTo>
                  <a:pt x="173013" y="3870"/>
                </a:moveTo>
                <a:cubicBezTo>
                  <a:pt x="184100" y="-1265"/>
                  <a:pt x="196900" y="-1265"/>
                  <a:pt x="207987" y="3870"/>
                </a:cubicBezTo>
                <a:lnTo>
                  <a:pt x="370656" y="79028"/>
                </a:lnTo>
                <a:cubicBezTo>
                  <a:pt x="376982" y="81930"/>
                  <a:pt x="381000" y="88255"/>
                  <a:pt x="381000" y="95250"/>
                </a:cubicBezTo>
                <a:cubicBezTo>
                  <a:pt x="381000" y="102245"/>
                  <a:pt x="376982" y="108570"/>
                  <a:pt x="370656" y="111472"/>
                </a:cubicBezTo>
                <a:lnTo>
                  <a:pt x="207987" y="186630"/>
                </a:lnTo>
                <a:cubicBezTo>
                  <a:pt x="196900" y="191765"/>
                  <a:pt x="184100" y="191765"/>
                  <a:pt x="173013" y="186630"/>
                </a:cubicBezTo>
                <a:lnTo>
                  <a:pt x="10344" y="111472"/>
                </a:lnTo>
                <a:cubicBezTo>
                  <a:pt x="4018" y="108496"/>
                  <a:pt x="0" y="102171"/>
                  <a:pt x="0" y="95250"/>
                </a:cubicBezTo>
                <a:cubicBezTo>
                  <a:pt x="0" y="88329"/>
                  <a:pt x="4018" y="81930"/>
                  <a:pt x="10344" y="79028"/>
                </a:cubicBezTo>
                <a:lnTo>
                  <a:pt x="173013" y="3870"/>
                </a:lnTo>
                <a:close/>
                <a:moveTo>
                  <a:pt x="35793" y="162520"/>
                </a:moveTo>
                <a:lnTo>
                  <a:pt x="158055" y="219001"/>
                </a:lnTo>
                <a:cubicBezTo>
                  <a:pt x="178668" y="228526"/>
                  <a:pt x="202406" y="228526"/>
                  <a:pt x="223019" y="219001"/>
                </a:cubicBezTo>
                <a:lnTo>
                  <a:pt x="345281" y="162520"/>
                </a:lnTo>
                <a:lnTo>
                  <a:pt x="370656" y="174278"/>
                </a:lnTo>
                <a:cubicBezTo>
                  <a:pt x="376982" y="177180"/>
                  <a:pt x="381000" y="183505"/>
                  <a:pt x="381000" y="190500"/>
                </a:cubicBezTo>
                <a:cubicBezTo>
                  <a:pt x="381000" y="197495"/>
                  <a:pt x="376982" y="203820"/>
                  <a:pt x="370656" y="206722"/>
                </a:cubicBezTo>
                <a:lnTo>
                  <a:pt x="207987" y="281880"/>
                </a:lnTo>
                <a:cubicBezTo>
                  <a:pt x="196900" y="287015"/>
                  <a:pt x="184100" y="287015"/>
                  <a:pt x="173013" y="281880"/>
                </a:cubicBezTo>
                <a:lnTo>
                  <a:pt x="10344" y="206722"/>
                </a:lnTo>
                <a:cubicBezTo>
                  <a:pt x="4018" y="203746"/>
                  <a:pt x="0" y="197421"/>
                  <a:pt x="0" y="190500"/>
                </a:cubicBezTo>
                <a:cubicBezTo>
                  <a:pt x="0" y="183579"/>
                  <a:pt x="4018" y="177180"/>
                  <a:pt x="10344" y="174278"/>
                </a:cubicBezTo>
                <a:lnTo>
                  <a:pt x="35719" y="162520"/>
                </a:lnTo>
                <a:close/>
                <a:moveTo>
                  <a:pt x="10344" y="269528"/>
                </a:moveTo>
                <a:lnTo>
                  <a:pt x="35719" y="257770"/>
                </a:lnTo>
                <a:lnTo>
                  <a:pt x="157981" y="314251"/>
                </a:lnTo>
                <a:cubicBezTo>
                  <a:pt x="178594" y="323776"/>
                  <a:pt x="202332" y="323776"/>
                  <a:pt x="222945" y="314251"/>
                </a:cubicBezTo>
                <a:lnTo>
                  <a:pt x="345207" y="257770"/>
                </a:lnTo>
                <a:lnTo>
                  <a:pt x="370582" y="269528"/>
                </a:lnTo>
                <a:cubicBezTo>
                  <a:pt x="376907" y="272430"/>
                  <a:pt x="380926" y="278755"/>
                  <a:pt x="380926" y="285750"/>
                </a:cubicBezTo>
                <a:cubicBezTo>
                  <a:pt x="380926" y="292745"/>
                  <a:pt x="376907" y="299070"/>
                  <a:pt x="370582" y="301972"/>
                </a:cubicBezTo>
                <a:lnTo>
                  <a:pt x="207913" y="377130"/>
                </a:lnTo>
                <a:cubicBezTo>
                  <a:pt x="196825" y="382265"/>
                  <a:pt x="184026" y="382265"/>
                  <a:pt x="172938" y="377130"/>
                </a:cubicBezTo>
                <a:lnTo>
                  <a:pt x="10344" y="301972"/>
                </a:lnTo>
                <a:cubicBezTo>
                  <a:pt x="4018" y="298996"/>
                  <a:pt x="0" y="292671"/>
                  <a:pt x="0" y="285750"/>
                </a:cubicBezTo>
                <a:cubicBezTo>
                  <a:pt x="0" y="278829"/>
                  <a:pt x="4018" y="272430"/>
                  <a:pt x="10344" y="269528"/>
                </a:cubicBezTo>
                <a:close/>
              </a:path>
            </a:pathLst>
          </a:custGeom>
          <a:solidFill>
            <a:srgbClr val="4C7E9A"/>
          </a:solidFill>
          <a:ln/>
        </p:spPr>
      </p:sp>
      <p:sp>
        <p:nvSpPr>
          <p:cNvPr id="11" name="Text 8"/>
          <p:cNvSpPr/>
          <p:nvPr/>
        </p:nvSpPr>
        <p:spPr>
          <a:xfrm>
            <a:off x="762000" y="7404100"/>
            <a:ext cx="27686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交叉验证机制</a:t>
            </a:r>
            <a:endParaRPr lang="en-US" sz="1600" dirty="0"/>
          </a:p>
        </p:txBody>
      </p:sp>
      <p:sp>
        <p:nvSpPr>
          <p:cNvPr id="12" name="Shape 9"/>
          <p:cNvSpPr/>
          <p:nvPr/>
        </p:nvSpPr>
        <p:spPr>
          <a:xfrm>
            <a:off x="3860800" y="6616700"/>
            <a:ext cx="3149600" cy="1397000"/>
          </a:xfrm>
          <a:custGeom>
            <a:avLst/>
            <a:gdLst/>
            <a:ahLst/>
            <a:cxnLst/>
            <a:rect l="l" t="t" r="r" b="b"/>
            <a:pathLst>
              <a:path w="3149600" h="1397000">
                <a:moveTo>
                  <a:pt x="101604" y="0"/>
                </a:moveTo>
                <a:lnTo>
                  <a:pt x="3047996" y="0"/>
                </a:lnTo>
                <a:cubicBezTo>
                  <a:pt x="3104110" y="0"/>
                  <a:pt x="3149600" y="45490"/>
                  <a:pt x="3149600" y="101604"/>
                </a:cubicBezTo>
                <a:lnTo>
                  <a:pt x="3149600" y="1295396"/>
                </a:lnTo>
                <a:cubicBezTo>
                  <a:pt x="3149600" y="1351510"/>
                  <a:pt x="3104110" y="1397000"/>
                  <a:pt x="3047996" y="1397000"/>
                </a:cubicBezTo>
                <a:lnTo>
                  <a:pt x="101604" y="1397000"/>
                </a:lnTo>
                <a:cubicBezTo>
                  <a:pt x="45490" y="1397000"/>
                  <a:pt x="0" y="1351510"/>
                  <a:pt x="0" y="1295396"/>
                </a:cubicBezTo>
                <a:lnTo>
                  <a:pt x="0" y="101604"/>
                </a:lnTo>
                <a:cubicBezTo>
                  <a:pt x="0" y="45527"/>
                  <a:pt x="45527" y="0"/>
                  <a:pt x="101604" y="0"/>
                </a:cubicBezTo>
                <a:close/>
              </a:path>
            </a:pathLst>
          </a:custGeom>
          <a:solidFill>
            <a:srgbClr val="3A5E78">
              <a:alpha val="30196"/>
            </a:srgbClr>
          </a:solidFill>
          <a:ln/>
        </p:spPr>
      </p:sp>
      <p:sp>
        <p:nvSpPr>
          <p:cNvPr id="13" name="Shape 10"/>
          <p:cNvSpPr/>
          <p:nvPr/>
        </p:nvSpPr>
        <p:spPr>
          <a:xfrm>
            <a:off x="4141788" y="6870700"/>
            <a:ext cx="428625" cy="381000"/>
          </a:xfrm>
          <a:custGeom>
            <a:avLst/>
            <a:gdLst/>
            <a:ahLst/>
            <a:cxnLst/>
            <a:rect l="l" t="t" r="r" b="b"/>
            <a:pathLst>
              <a:path w="428625" h="381000">
                <a:moveTo>
                  <a:pt x="268486" y="893"/>
                </a:moveTo>
                <a:cubicBezTo>
                  <a:pt x="255836" y="-2753"/>
                  <a:pt x="242664" y="4614"/>
                  <a:pt x="239018" y="17264"/>
                </a:cubicBezTo>
                <a:lnTo>
                  <a:pt x="143768" y="350639"/>
                </a:lnTo>
                <a:cubicBezTo>
                  <a:pt x="140122" y="363289"/>
                  <a:pt x="147489" y="376461"/>
                  <a:pt x="160139" y="380107"/>
                </a:cubicBezTo>
                <a:cubicBezTo>
                  <a:pt x="172789" y="383753"/>
                  <a:pt x="185961" y="376386"/>
                  <a:pt x="189607" y="363736"/>
                </a:cubicBezTo>
                <a:lnTo>
                  <a:pt x="284857" y="30361"/>
                </a:lnTo>
                <a:cubicBezTo>
                  <a:pt x="288503" y="17711"/>
                  <a:pt x="281136" y="4539"/>
                  <a:pt x="268486" y="893"/>
                </a:cubicBezTo>
                <a:close/>
                <a:moveTo>
                  <a:pt x="316557" y="102171"/>
                </a:moveTo>
                <a:cubicBezTo>
                  <a:pt x="307256" y="111472"/>
                  <a:pt x="307256" y="126578"/>
                  <a:pt x="316557" y="135880"/>
                </a:cubicBezTo>
                <a:lnTo>
                  <a:pt x="371177" y="190500"/>
                </a:lnTo>
                <a:lnTo>
                  <a:pt x="316557" y="245120"/>
                </a:lnTo>
                <a:cubicBezTo>
                  <a:pt x="307256" y="254422"/>
                  <a:pt x="307256" y="269528"/>
                  <a:pt x="316557" y="278829"/>
                </a:cubicBezTo>
                <a:cubicBezTo>
                  <a:pt x="325859" y="288131"/>
                  <a:pt x="340965" y="288131"/>
                  <a:pt x="350267" y="278829"/>
                </a:cubicBezTo>
                <a:lnTo>
                  <a:pt x="421704" y="207392"/>
                </a:lnTo>
                <a:cubicBezTo>
                  <a:pt x="431006" y="198090"/>
                  <a:pt x="431006" y="182984"/>
                  <a:pt x="421704" y="173682"/>
                </a:cubicBezTo>
                <a:lnTo>
                  <a:pt x="350267" y="102245"/>
                </a:lnTo>
                <a:cubicBezTo>
                  <a:pt x="340965" y="92943"/>
                  <a:pt x="325859" y="92943"/>
                  <a:pt x="316557" y="102245"/>
                </a:cubicBezTo>
                <a:close/>
                <a:moveTo>
                  <a:pt x="112142" y="102171"/>
                </a:moveTo>
                <a:cubicBezTo>
                  <a:pt x="102840" y="92869"/>
                  <a:pt x="87734" y="92869"/>
                  <a:pt x="78432" y="102171"/>
                </a:cubicBezTo>
                <a:lnTo>
                  <a:pt x="6995" y="173608"/>
                </a:lnTo>
                <a:cubicBezTo>
                  <a:pt x="-2307" y="182910"/>
                  <a:pt x="-2307" y="198016"/>
                  <a:pt x="6995" y="207318"/>
                </a:cubicBezTo>
                <a:lnTo>
                  <a:pt x="78432" y="278755"/>
                </a:lnTo>
                <a:cubicBezTo>
                  <a:pt x="87734" y="288057"/>
                  <a:pt x="102840" y="288057"/>
                  <a:pt x="112142" y="278755"/>
                </a:cubicBezTo>
                <a:cubicBezTo>
                  <a:pt x="121444" y="269453"/>
                  <a:pt x="121444" y="254347"/>
                  <a:pt x="112142" y="245046"/>
                </a:cubicBezTo>
                <a:lnTo>
                  <a:pt x="57522" y="190500"/>
                </a:lnTo>
                <a:lnTo>
                  <a:pt x="112068" y="135880"/>
                </a:lnTo>
                <a:cubicBezTo>
                  <a:pt x="121369" y="126578"/>
                  <a:pt x="121369" y="111472"/>
                  <a:pt x="112068" y="102171"/>
                </a:cubicBezTo>
                <a:close/>
              </a:path>
            </a:pathLst>
          </a:custGeom>
          <a:solidFill>
            <a:srgbClr val="4C7E9A"/>
          </a:solidFill>
          <a:ln/>
        </p:spPr>
      </p:sp>
      <p:sp>
        <p:nvSpPr>
          <p:cNvPr id="14" name="Text 11"/>
          <p:cNvSpPr/>
          <p:nvPr/>
        </p:nvSpPr>
        <p:spPr>
          <a:xfrm>
            <a:off x="4114800" y="7404100"/>
            <a:ext cx="27686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实战案例</a:t>
            </a:r>
            <a:endParaRPr lang="en-US" sz="1600" dirty="0"/>
          </a:p>
        </p:txBody>
      </p:sp>
    </p:spTree>
  </p:cSld>
  <p:clrMapOvr>
    <a:masterClrMapping/>
  </p:clrMapOvr>
  <p:transition>
    <p:fade/>
    <p:spd val="med"/>
  </p:transition>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STACKING</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Stacking工程机制解析</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24000"/>
            <a:ext cx="7577667" cy="2063750"/>
          </a:xfrm>
          <a:custGeom>
            <a:avLst/>
            <a:gdLst/>
            <a:ahLst/>
            <a:cxnLst/>
            <a:rect l="l" t="t" r="r" b="b"/>
            <a:pathLst>
              <a:path w="7577667" h="2063750">
                <a:moveTo>
                  <a:pt x="42333" y="0"/>
                </a:moveTo>
                <a:lnTo>
                  <a:pt x="7492991" y="0"/>
                </a:lnTo>
                <a:cubicBezTo>
                  <a:pt x="7539756" y="0"/>
                  <a:pt x="7577667" y="37911"/>
                  <a:pt x="7577667" y="84676"/>
                </a:cubicBezTo>
                <a:lnTo>
                  <a:pt x="7577667" y="1979074"/>
                </a:lnTo>
                <a:cubicBezTo>
                  <a:pt x="7577667" y="2025839"/>
                  <a:pt x="7539756" y="2063750"/>
                  <a:pt x="7492991" y="2063750"/>
                </a:cubicBezTo>
                <a:lnTo>
                  <a:pt x="42333" y="2063750"/>
                </a:lnTo>
                <a:cubicBezTo>
                  <a:pt x="18953" y="2063750"/>
                  <a:pt x="0" y="2044797"/>
                  <a:pt x="0" y="2021417"/>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24000"/>
            <a:ext cx="42333" cy="2063750"/>
          </a:xfrm>
          <a:custGeom>
            <a:avLst/>
            <a:gdLst/>
            <a:ahLst/>
            <a:cxnLst/>
            <a:rect l="l" t="t" r="r" b="b"/>
            <a:pathLst>
              <a:path w="42333" h="2063750">
                <a:moveTo>
                  <a:pt x="42333" y="0"/>
                </a:moveTo>
                <a:lnTo>
                  <a:pt x="42333" y="0"/>
                </a:lnTo>
                <a:lnTo>
                  <a:pt x="42333" y="2063750"/>
                </a:lnTo>
                <a:lnTo>
                  <a:pt x="42333" y="2063750"/>
                </a:lnTo>
                <a:cubicBezTo>
                  <a:pt x="18953" y="2063750"/>
                  <a:pt x="0" y="2044797"/>
                  <a:pt x="0" y="2021417"/>
                </a:cubicBezTo>
                <a:lnTo>
                  <a:pt x="0" y="42333"/>
                </a:lnTo>
                <a:cubicBezTo>
                  <a:pt x="0" y="18953"/>
                  <a:pt x="18953" y="0"/>
                  <a:pt x="42333" y="0"/>
                </a:cubicBezTo>
                <a:close/>
              </a:path>
            </a:pathLst>
          </a:custGeom>
          <a:solidFill>
            <a:srgbClr val="4C7E9A"/>
          </a:solidFill>
          <a:ln/>
        </p:spPr>
      </p:sp>
      <p:sp>
        <p:nvSpPr>
          <p:cNvPr id="7" name="Text 5"/>
          <p:cNvSpPr/>
          <p:nvPr/>
        </p:nvSpPr>
        <p:spPr>
          <a:xfrm>
            <a:off x="635000" y="1693333"/>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核心问题：数据泄露</a:t>
            </a:r>
            <a:endParaRPr lang="en-US" sz="1600" dirty="0"/>
          </a:p>
        </p:txBody>
      </p:sp>
      <p:sp>
        <p:nvSpPr>
          <p:cNvPr id="8" name="Text 6"/>
          <p:cNvSpPr/>
          <p:nvPr/>
        </p:nvSpPr>
        <p:spPr>
          <a:xfrm>
            <a:off x="635000" y="2159000"/>
            <a:ext cx="7313083" cy="624417"/>
          </a:xfrm>
          <a:prstGeom prst="rect">
            <a:avLst/>
          </a:prstGeom>
          <a:noFill/>
          <a:ln/>
        </p:spPr>
        <p:txBody>
          <a:bodyPr wrap="square" lIns="0" tIns="0" rIns="0" bIns="0" rtlCol="0" anchor="ctr"/>
          <a:lstStyle/>
          <a:p>
            <a:pPr>
              <a:lnSpc>
                <a:spcPct val="140000"/>
              </a:lnSpc>
            </a:pPr>
            <a:r>
              <a:rPr lang="en-US" sz="1500" dirty="0">
                <a:solidFill>
                  <a:srgbClr val="D1D5DB"/>
                </a:solidFill>
                <a:latin typeface="MiSans" pitchFamily="34" charset="0"/>
                <a:ea typeface="MiSans" pitchFamily="34" charset="-122"/>
                <a:cs typeface="MiSans" pitchFamily="34" charset="-120"/>
              </a:rPr>
              <a:t>Stacking的本质是学习</a:t>
            </a:r>
            <a:pPr>
              <a:lnSpc>
                <a:spcPct val="140000"/>
              </a:lnSpc>
            </a:pPr>
            <a:r>
              <a:rPr lang="en-US" sz="1500" b="1" dirty="0">
                <a:solidFill>
                  <a:srgbClr val="4C7E9A"/>
                </a:solidFill>
                <a:latin typeface="MiSans" pitchFamily="34" charset="0"/>
                <a:ea typeface="MiSans" pitchFamily="34" charset="-122"/>
                <a:cs typeface="MiSans" pitchFamily="34" charset="-120"/>
              </a:rPr>
              <a:t>"如何利用基模型的预测值"</a:t>
            </a:r>
            <a:pPr>
              <a:lnSpc>
                <a:spcPct val="140000"/>
              </a:lnSpc>
            </a:pPr>
            <a:r>
              <a:rPr lang="en-US" sz="1500" dirty="0">
                <a:solidFill>
                  <a:srgbClr val="D1D5DB"/>
                </a:solidFill>
                <a:latin typeface="MiSans" pitchFamily="34" charset="0"/>
                <a:ea typeface="MiSans" pitchFamily="34" charset="-122"/>
                <a:cs typeface="MiSans" pitchFamily="34" charset="-120"/>
              </a:rPr>
              <a:t>。关键问题：不能直接使用基模型在训练集上的预测结果（通常是过拟合的）。</a:t>
            </a:r>
            <a:endParaRPr lang="en-US" sz="1600" dirty="0"/>
          </a:p>
        </p:txBody>
      </p:sp>
      <p:sp>
        <p:nvSpPr>
          <p:cNvPr id="9" name="Shape 7"/>
          <p:cNvSpPr/>
          <p:nvPr/>
        </p:nvSpPr>
        <p:spPr>
          <a:xfrm>
            <a:off x="635000" y="2905125"/>
            <a:ext cx="7217833" cy="508000"/>
          </a:xfrm>
          <a:custGeom>
            <a:avLst/>
            <a:gdLst/>
            <a:ahLst/>
            <a:cxnLst/>
            <a:rect l="l" t="t" r="r" b="b"/>
            <a:pathLst>
              <a:path w="7217833" h="508000">
                <a:moveTo>
                  <a:pt x="84668" y="0"/>
                </a:moveTo>
                <a:lnTo>
                  <a:pt x="7133165" y="0"/>
                </a:lnTo>
                <a:cubicBezTo>
                  <a:pt x="7179926" y="0"/>
                  <a:pt x="7217833" y="37907"/>
                  <a:pt x="7217833" y="84668"/>
                </a:cubicBezTo>
                <a:lnTo>
                  <a:pt x="7217833" y="423332"/>
                </a:lnTo>
                <a:cubicBezTo>
                  <a:pt x="7217833" y="470093"/>
                  <a:pt x="7179926" y="508000"/>
                  <a:pt x="7133165" y="508000"/>
                </a:cubicBezTo>
                <a:lnTo>
                  <a:pt x="84668" y="508000"/>
                </a:lnTo>
                <a:cubicBezTo>
                  <a:pt x="37907" y="508000"/>
                  <a:pt x="0" y="470093"/>
                  <a:pt x="0" y="423332"/>
                </a:cubicBezTo>
                <a:lnTo>
                  <a:pt x="0" y="84668"/>
                </a:lnTo>
                <a:cubicBezTo>
                  <a:pt x="0" y="37939"/>
                  <a:pt x="37939" y="0"/>
                  <a:pt x="84668" y="0"/>
                </a:cubicBezTo>
                <a:close/>
              </a:path>
            </a:pathLst>
          </a:custGeom>
          <a:solidFill>
            <a:srgbClr val="181A1F">
              <a:alpha val="50196"/>
            </a:srgbClr>
          </a:solidFill>
          <a:ln/>
        </p:spPr>
      </p:sp>
      <p:sp>
        <p:nvSpPr>
          <p:cNvPr id="10" name="Shape 8"/>
          <p:cNvSpPr/>
          <p:nvPr/>
        </p:nvSpPr>
        <p:spPr>
          <a:xfrm>
            <a:off x="783167" y="3079750"/>
            <a:ext cx="169333" cy="169333"/>
          </a:xfrm>
          <a:custGeom>
            <a:avLst/>
            <a:gdLst/>
            <a:ahLst/>
            <a:cxnLst/>
            <a:rect l="l" t="t" r="r" b="b"/>
            <a:pathLst>
              <a:path w="169333" h="169333">
                <a:moveTo>
                  <a:pt x="84667" y="0"/>
                </a:moveTo>
                <a:cubicBezTo>
                  <a:pt x="89528" y="0"/>
                  <a:pt x="93993" y="2679"/>
                  <a:pt x="96308" y="6945"/>
                </a:cubicBezTo>
                <a:lnTo>
                  <a:pt x="167746" y="139237"/>
                </a:lnTo>
                <a:cubicBezTo>
                  <a:pt x="169962" y="143338"/>
                  <a:pt x="169863" y="148299"/>
                  <a:pt x="167481" y="152301"/>
                </a:cubicBezTo>
                <a:cubicBezTo>
                  <a:pt x="165100" y="156303"/>
                  <a:pt x="160767" y="158750"/>
                  <a:pt x="156104" y="158750"/>
                </a:cubicBezTo>
                <a:lnTo>
                  <a:pt x="13229" y="158750"/>
                </a:lnTo>
                <a:cubicBezTo>
                  <a:pt x="8566" y="158750"/>
                  <a:pt x="4266" y="156303"/>
                  <a:pt x="1852" y="152301"/>
                </a:cubicBezTo>
                <a:cubicBezTo>
                  <a:pt x="-562" y="148299"/>
                  <a:pt x="-628" y="143338"/>
                  <a:pt x="1588" y="139237"/>
                </a:cubicBezTo>
                <a:lnTo>
                  <a:pt x="73025" y="6945"/>
                </a:lnTo>
                <a:cubicBezTo>
                  <a:pt x="75340" y="2679"/>
                  <a:pt x="79805" y="0"/>
                  <a:pt x="84667" y="0"/>
                </a:cubicBezTo>
                <a:close/>
                <a:moveTo>
                  <a:pt x="84667" y="55563"/>
                </a:moveTo>
                <a:cubicBezTo>
                  <a:pt x="80268" y="55563"/>
                  <a:pt x="76729" y="59101"/>
                  <a:pt x="76729" y="63500"/>
                </a:cubicBezTo>
                <a:lnTo>
                  <a:pt x="76729" y="100542"/>
                </a:lnTo>
                <a:cubicBezTo>
                  <a:pt x="76729" y="104940"/>
                  <a:pt x="80268" y="108479"/>
                  <a:pt x="84667" y="108479"/>
                </a:cubicBezTo>
                <a:cubicBezTo>
                  <a:pt x="89065" y="108479"/>
                  <a:pt x="92604" y="104940"/>
                  <a:pt x="92604" y="100542"/>
                </a:cubicBezTo>
                <a:lnTo>
                  <a:pt x="92604" y="63500"/>
                </a:lnTo>
                <a:cubicBezTo>
                  <a:pt x="92604" y="59101"/>
                  <a:pt x="89065" y="55563"/>
                  <a:pt x="84667" y="55563"/>
                </a:cubicBezTo>
                <a:close/>
                <a:moveTo>
                  <a:pt x="93497" y="127000"/>
                </a:moveTo>
                <a:cubicBezTo>
                  <a:pt x="93698" y="123722"/>
                  <a:pt x="92063" y="120604"/>
                  <a:pt x="89254" y="118904"/>
                </a:cubicBezTo>
                <a:cubicBezTo>
                  <a:pt x="86444" y="117204"/>
                  <a:pt x="82923" y="117204"/>
                  <a:pt x="80113" y="118904"/>
                </a:cubicBezTo>
                <a:cubicBezTo>
                  <a:pt x="77303" y="120604"/>
                  <a:pt x="75668" y="123722"/>
                  <a:pt x="75869" y="127000"/>
                </a:cubicBezTo>
                <a:cubicBezTo>
                  <a:pt x="75668" y="130278"/>
                  <a:pt x="77303" y="133396"/>
                  <a:pt x="80113" y="135096"/>
                </a:cubicBezTo>
                <a:cubicBezTo>
                  <a:pt x="82923" y="136796"/>
                  <a:pt x="86444" y="136796"/>
                  <a:pt x="89254" y="135096"/>
                </a:cubicBezTo>
                <a:cubicBezTo>
                  <a:pt x="92063" y="133396"/>
                  <a:pt x="93698" y="130278"/>
                  <a:pt x="93497" y="127000"/>
                </a:cubicBezTo>
                <a:close/>
              </a:path>
            </a:pathLst>
          </a:custGeom>
          <a:solidFill>
            <a:srgbClr val="4C7E9A"/>
          </a:solidFill>
          <a:ln/>
        </p:spPr>
      </p:sp>
      <p:sp>
        <p:nvSpPr>
          <p:cNvPr id="11" name="Text 9"/>
          <p:cNvSpPr/>
          <p:nvPr/>
        </p:nvSpPr>
        <p:spPr>
          <a:xfrm>
            <a:off x="1044222" y="3032125"/>
            <a:ext cx="6766278"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这会导致严重的</a:t>
            </a:r>
            <a:pPr>
              <a:lnSpc>
                <a:spcPct val="130000"/>
              </a:lnSpc>
            </a:pPr>
            <a:r>
              <a:rPr lang="en-US" sz="1333" b="1" dirty="0">
                <a:solidFill>
                  <a:srgbClr val="D1D5DB"/>
                </a:solidFill>
                <a:latin typeface="MiSans" pitchFamily="34" charset="0"/>
                <a:ea typeface="MiSans" pitchFamily="34" charset="-122"/>
                <a:cs typeface="MiSans" pitchFamily="34" charset="-120"/>
              </a:rPr>
              <a:t>数据泄露（Data Leakage）</a:t>
            </a:r>
            <a:endParaRPr lang="en-US" sz="1600" dirty="0"/>
          </a:p>
        </p:txBody>
      </p:sp>
      <p:sp>
        <p:nvSpPr>
          <p:cNvPr id="12" name="Shape 10"/>
          <p:cNvSpPr/>
          <p:nvPr/>
        </p:nvSpPr>
        <p:spPr>
          <a:xfrm>
            <a:off x="444500" y="3751792"/>
            <a:ext cx="7577667" cy="3524250"/>
          </a:xfrm>
          <a:custGeom>
            <a:avLst/>
            <a:gdLst/>
            <a:ahLst/>
            <a:cxnLst/>
            <a:rect l="l" t="t" r="r" b="b"/>
            <a:pathLst>
              <a:path w="7577667" h="3524250">
                <a:moveTo>
                  <a:pt x="42333" y="0"/>
                </a:moveTo>
                <a:lnTo>
                  <a:pt x="7493014" y="0"/>
                </a:lnTo>
                <a:cubicBezTo>
                  <a:pt x="7539766" y="0"/>
                  <a:pt x="7577667" y="37900"/>
                  <a:pt x="7577667" y="84652"/>
                </a:cubicBezTo>
                <a:lnTo>
                  <a:pt x="7577667" y="3439598"/>
                </a:lnTo>
                <a:cubicBezTo>
                  <a:pt x="7577667" y="3486350"/>
                  <a:pt x="7539766" y="3524250"/>
                  <a:pt x="7493014" y="3524250"/>
                </a:cubicBezTo>
                <a:lnTo>
                  <a:pt x="42333" y="3524250"/>
                </a:lnTo>
                <a:cubicBezTo>
                  <a:pt x="18953" y="3524250"/>
                  <a:pt x="0" y="3505297"/>
                  <a:pt x="0" y="3481917"/>
                </a:cubicBezTo>
                <a:lnTo>
                  <a:pt x="0" y="42333"/>
                </a:lnTo>
                <a:cubicBezTo>
                  <a:pt x="0" y="18953"/>
                  <a:pt x="18953" y="0"/>
                  <a:pt x="42333" y="0"/>
                </a:cubicBezTo>
                <a:close/>
              </a:path>
            </a:pathLst>
          </a:custGeom>
          <a:solidFill>
            <a:srgbClr val="3A5E78">
              <a:alpha val="20000"/>
            </a:srgbClr>
          </a:solidFill>
          <a:ln/>
        </p:spPr>
      </p:sp>
      <p:sp>
        <p:nvSpPr>
          <p:cNvPr id="13" name="Shape 11"/>
          <p:cNvSpPr/>
          <p:nvPr/>
        </p:nvSpPr>
        <p:spPr>
          <a:xfrm>
            <a:off x="444500" y="3751792"/>
            <a:ext cx="42333" cy="3524250"/>
          </a:xfrm>
          <a:custGeom>
            <a:avLst/>
            <a:gdLst/>
            <a:ahLst/>
            <a:cxnLst/>
            <a:rect l="l" t="t" r="r" b="b"/>
            <a:pathLst>
              <a:path w="42333" h="3524250">
                <a:moveTo>
                  <a:pt x="42333" y="0"/>
                </a:moveTo>
                <a:lnTo>
                  <a:pt x="42333" y="0"/>
                </a:lnTo>
                <a:lnTo>
                  <a:pt x="42333" y="3524250"/>
                </a:lnTo>
                <a:lnTo>
                  <a:pt x="42333" y="3524250"/>
                </a:lnTo>
                <a:cubicBezTo>
                  <a:pt x="18953" y="3524250"/>
                  <a:pt x="0" y="3505297"/>
                  <a:pt x="0" y="3481917"/>
                </a:cubicBezTo>
                <a:lnTo>
                  <a:pt x="0" y="42333"/>
                </a:lnTo>
                <a:cubicBezTo>
                  <a:pt x="0" y="18953"/>
                  <a:pt x="18953" y="0"/>
                  <a:pt x="42333" y="0"/>
                </a:cubicBezTo>
                <a:close/>
              </a:path>
            </a:pathLst>
          </a:custGeom>
          <a:solidFill>
            <a:srgbClr val="7E9AA8"/>
          </a:solidFill>
          <a:ln/>
        </p:spPr>
      </p:sp>
      <p:sp>
        <p:nvSpPr>
          <p:cNvPr id="14" name="Text 12"/>
          <p:cNvSpPr/>
          <p:nvPr/>
        </p:nvSpPr>
        <p:spPr>
          <a:xfrm>
            <a:off x="635000" y="3921125"/>
            <a:ext cx="7344833"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解决方案：K折交叉验证</a:t>
            </a:r>
            <a:endParaRPr lang="en-US" sz="1600" dirty="0"/>
          </a:p>
        </p:txBody>
      </p:sp>
      <p:sp>
        <p:nvSpPr>
          <p:cNvPr id="15" name="Text 13"/>
          <p:cNvSpPr/>
          <p:nvPr/>
        </p:nvSpPr>
        <p:spPr>
          <a:xfrm>
            <a:off x="635000" y="4386792"/>
            <a:ext cx="7313083" cy="306917"/>
          </a:xfrm>
          <a:prstGeom prst="rect">
            <a:avLst/>
          </a:prstGeom>
          <a:noFill/>
          <a:ln/>
        </p:spPr>
        <p:txBody>
          <a:bodyPr wrap="square" lIns="0" tIns="0" rIns="0" bIns="0" rtlCol="0" anchor="ctr"/>
          <a:lstStyle/>
          <a:p>
            <a:pPr>
              <a:lnSpc>
                <a:spcPct val="140000"/>
              </a:lnSpc>
            </a:pPr>
            <a:r>
              <a:rPr lang="en-US" sz="1500" dirty="0">
                <a:solidFill>
                  <a:srgbClr val="D1D5DB"/>
                </a:solidFill>
                <a:latin typeface="MiSans" pitchFamily="34" charset="0"/>
                <a:ea typeface="MiSans" pitchFamily="34" charset="-122"/>
                <a:cs typeface="MiSans" pitchFamily="34" charset="-120"/>
              </a:rPr>
              <a:t>采用</a:t>
            </a:r>
            <a:pPr>
              <a:lnSpc>
                <a:spcPct val="140000"/>
              </a:lnSpc>
            </a:pPr>
            <a:r>
              <a:rPr lang="en-US" sz="1500" b="1" dirty="0">
                <a:solidFill>
                  <a:srgbClr val="4C7E9A"/>
                </a:solidFill>
                <a:latin typeface="MiSans" pitchFamily="34" charset="0"/>
                <a:ea typeface="MiSans" pitchFamily="34" charset="-122"/>
                <a:cs typeface="MiSans" pitchFamily="34" charset="-120"/>
              </a:rPr>
              <a:t>K折交叉验证</a:t>
            </a:r>
            <a:pPr>
              <a:lnSpc>
                <a:spcPct val="140000"/>
              </a:lnSpc>
            </a:pPr>
            <a:r>
              <a:rPr lang="en-US" sz="1500" dirty="0">
                <a:solidFill>
                  <a:srgbClr val="D1D5DB"/>
                </a:solidFill>
                <a:latin typeface="MiSans" pitchFamily="34" charset="0"/>
                <a:ea typeface="MiSans" pitchFamily="34" charset="-122"/>
                <a:cs typeface="MiSans" pitchFamily="34" charset="-120"/>
              </a:rPr>
              <a:t>策略生成"干净"的预测特征：</a:t>
            </a:r>
            <a:endParaRPr lang="en-US" sz="1600" dirty="0"/>
          </a:p>
        </p:txBody>
      </p:sp>
      <p:sp>
        <p:nvSpPr>
          <p:cNvPr id="16" name="Shape 14"/>
          <p:cNvSpPr/>
          <p:nvPr/>
        </p:nvSpPr>
        <p:spPr>
          <a:xfrm>
            <a:off x="635000" y="4823354"/>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17" name="Text 15"/>
          <p:cNvSpPr/>
          <p:nvPr/>
        </p:nvSpPr>
        <p:spPr>
          <a:xfrm>
            <a:off x="592667" y="4823354"/>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1</a:t>
            </a:r>
            <a:endParaRPr lang="en-US" sz="1600" dirty="0"/>
          </a:p>
        </p:txBody>
      </p:sp>
      <p:sp>
        <p:nvSpPr>
          <p:cNvPr id="18" name="Text 16"/>
          <p:cNvSpPr/>
          <p:nvPr/>
        </p:nvSpPr>
        <p:spPr>
          <a:xfrm>
            <a:off x="1100667" y="4823354"/>
            <a:ext cx="194733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划分数据</a:t>
            </a:r>
            <a:endParaRPr lang="en-US" sz="1600" dirty="0"/>
          </a:p>
        </p:txBody>
      </p:sp>
      <p:sp>
        <p:nvSpPr>
          <p:cNvPr id="19" name="Text 17"/>
          <p:cNvSpPr/>
          <p:nvPr/>
        </p:nvSpPr>
        <p:spPr>
          <a:xfrm>
            <a:off x="1100667" y="5119688"/>
            <a:ext cx="192616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将训练集分为K份（如K=5）</a:t>
            </a:r>
            <a:endParaRPr lang="en-US" sz="1600" dirty="0"/>
          </a:p>
        </p:txBody>
      </p:sp>
      <p:sp>
        <p:nvSpPr>
          <p:cNvPr id="20" name="Shape 18"/>
          <p:cNvSpPr/>
          <p:nvPr/>
        </p:nvSpPr>
        <p:spPr>
          <a:xfrm>
            <a:off x="635000" y="5416021"/>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21" name="Text 19"/>
          <p:cNvSpPr/>
          <p:nvPr/>
        </p:nvSpPr>
        <p:spPr>
          <a:xfrm>
            <a:off x="592667" y="5416021"/>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2</a:t>
            </a:r>
            <a:endParaRPr lang="en-US" sz="1600" dirty="0"/>
          </a:p>
        </p:txBody>
      </p:sp>
      <p:sp>
        <p:nvSpPr>
          <p:cNvPr id="22" name="Text 20"/>
          <p:cNvSpPr/>
          <p:nvPr/>
        </p:nvSpPr>
        <p:spPr>
          <a:xfrm>
            <a:off x="1100667" y="5416021"/>
            <a:ext cx="2148417"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循环预测</a:t>
            </a:r>
            <a:endParaRPr lang="en-US" sz="1600" dirty="0"/>
          </a:p>
        </p:txBody>
      </p:sp>
      <p:sp>
        <p:nvSpPr>
          <p:cNvPr id="23" name="Text 21"/>
          <p:cNvSpPr/>
          <p:nvPr/>
        </p:nvSpPr>
        <p:spPr>
          <a:xfrm>
            <a:off x="1100667" y="5712354"/>
            <a:ext cx="21272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每次取K-1份训练，预测剩余1份</a:t>
            </a:r>
            <a:endParaRPr lang="en-US" sz="1600" dirty="0"/>
          </a:p>
        </p:txBody>
      </p:sp>
      <p:sp>
        <p:nvSpPr>
          <p:cNvPr id="24" name="Shape 22"/>
          <p:cNvSpPr/>
          <p:nvPr/>
        </p:nvSpPr>
        <p:spPr>
          <a:xfrm>
            <a:off x="635000" y="6008688"/>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25" name="Text 23"/>
          <p:cNvSpPr/>
          <p:nvPr/>
        </p:nvSpPr>
        <p:spPr>
          <a:xfrm>
            <a:off x="592667" y="6008688"/>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3</a:t>
            </a:r>
            <a:endParaRPr lang="en-US" sz="1600" dirty="0"/>
          </a:p>
        </p:txBody>
      </p:sp>
      <p:sp>
        <p:nvSpPr>
          <p:cNvPr id="26" name="Text 24"/>
          <p:cNvSpPr/>
          <p:nvPr/>
        </p:nvSpPr>
        <p:spPr>
          <a:xfrm>
            <a:off x="1100667" y="6008688"/>
            <a:ext cx="241300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拼接特征</a:t>
            </a:r>
            <a:endParaRPr lang="en-US" sz="1600" dirty="0"/>
          </a:p>
        </p:txBody>
      </p:sp>
      <p:sp>
        <p:nvSpPr>
          <p:cNvPr id="27" name="Text 25"/>
          <p:cNvSpPr/>
          <p:nvPr/>
        </p:nvSpPr>
        <p:spPr>
          <a:xfrm>
            <a:off x="1100667" y="6305021"/>
            <a:ext cx="239183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将K次预测结果拼接形成元特征矩阵</a:t>
            </a:r>
            <a:endParaRPr lang="en-US" sz="1600" dirty="0"/>
          </a:p>
        </p:txBody>
      </p:sp>
      <p:sp>
        <p:nvSpPr>
          <p:cNvPr id="28" name="Shape 26"/>
          <p:cNvSpPr/>
          <p:nvPr/>
        </p:nvSpPr>
        <p:spPr>
          <a:xfrm>
            <a:off x="635000" y="6601354"/>
            <a:ext cx="338667" cy="338667"/>
          </a:xfrm>
          <a:custGeom>
            <a:avLst/>
            <a:gdLst/>
            <a:ahLst/>
            <a:cxnLst/>
            <a:rect l="l" t="t" r="r" b="b"/>
            <a:pathLst>
              <a:path w="338667" h="338667">
                <a:moveTo>
                  <a:pt x="169333" y="0"/>
                </a:moveTo>
                <a:lnTo>
                  <a:pt x="169333" y="0"/>
                </a:lnTo>
                <a:cubicBezTo>
                  <a:pt x="262854" y="0"/>
                  <a:pt x="338667" y="75813"/>
                  <a:pt x="338667" y="169333"/>
                </a:cubicBezTo>
                <a:lnTo>
                  <a:pt x="338667" y="169333"/>
                </a:lnTo>
                <a:cubicBezTo>
                  <a:pt x="338667" y="262854"/>
                  <a:pt x="262854" y="338667"/>
                  <a:pt x="169333" y="338667"/>
                </a:cubicBezTo>
                <a:lnTo>
                  <a:pt x="169333" y="338667"/>
                </a:lnTo>
                <a:cubicBezTo>
                  <a:pt x="75813" y="338667"/>
                  <a:pt x="0" y="262854"/>
                  <a:pt x="0" y="169333"/>
                </a:cubicBezTo>
                <a:lnTo>
                  <a:pt x="0" y="169333"/>
                </a:lnTo>
                <a:cubicBezTo>
                  <a:pt x="0" y="75813"/>
                  <a:pt x="75813" y="0"/>
                  <a:pt x="169333" y="0"/>
                </a:cubicBezTo>
                <a:close/>
              </a:path>
            </a:pathLst>
          </a:custGeom>
          <a:solidFill>
            <a:srgbClr val="4C7E9A"/>
          </a:solidFill>
          <a:ln/>
        </p:spPr>
      </p:sp>
      <p:sp>
        <p:nvSpPr>
          <p:cNvPr id="29" name="Text 27"/>
          <p:cNvSpPr/>
          <p:nvPr/>
        </p:nvSpPr>
        <p:spPr>
          <a:xfrm>
            <a:off x="592667" y="6601354"/>
            <a:ext cx="423333" cy="338667"/>
          </a:xfrm>
          <a:prstGeom prst="rect">
            <a:avLst/>
          </a:prstGeom>
          <a:noFill/>
          <a:ln/>
        </p:spPr>
        <p:txBody>
          <a:bodyPr wrap="square" lIns="0" tIns="0" rIns="0" bIns="0" rtlCol="0" anchor="ctr"/>
          <a:lstStyle/>
          <a:p>
            <a:pPr algn="ctr">
              <a:lnSpc>
                <a:spcPct val="130000"/>
              </a:lnSpc>
            </a:pPr>
            <a:r>
              <a:rPr lang="en-US" sz="1333" b="1" dirty="0">
                <a:solidFill>
                  <a:srgbClr val="181A1F"/>
                </a:solidFill>
                <a:latin typeface="MiSans" pitchFamily="34" charset="0"/>
                <a:ea typeface="MiSans" pitchFamily="34" charset="-122"/>
                <a:cs typeface="MiSans" pitchFamily="34" charset="-120"/>
              </a:rPr>
              <a:t>4</a:t>
            </a:r>
            <a:endParaRPr lang="en-US" sz="1600" dirty="0"/>
          </a:p>
        </p:txBody>
      </p:sp>
      <p:sp>
        <p:nvSpPr>
          <p:cNvPr id="30" name="Text 28"/>
          <p:cNvSpPr/>
          <p:nvPr/>
        </p:nvSpPr>
        <p:spPr>
          <a:xfrm>
            <a:off x="1100667" y="6601354"/>
            <a:ext cx="2317750"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训练元模型</a:t>
            </a:r>
            <a:endParaRPr lang="en-US" sz="1600" dirty="0"/>
          </a:p>
        </p:txBody>
      </p:sp>
      <p:sp>
        <p:nvSpPr>
          <p:cNvPr id="31" name="Text 29"/>
          <p:cNvSpPr/>
          <p:nvPr/>
        </p:nvSpPr>
        <p:spPr>
          <a:xfrm>
            <a:off x="1100667" y="6897688"/>
            <a:ext cx="2296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使用元特征训练第二级的元学习器</a:t>
            </a:r>
            <a:endParaRPr lang="en-US" sz="1600" dirty="0"/>
          </a:p>
        </p:txBody>
      </p:sp>
      <p:sp>
        <p:nvSpPr>
          <p:cNvPr id="32" name="Shape 30"/>
          <p:cNvSpPr/>
          <p:nvPr/>
        </p:nvSpPr>
        <p:spPr>
          <a:xfrm>
            <a:off x="8239125" y="1529292"/>
            <a:ext cx="7588250" cy="2254250"/>
          </a:xfrm>
          <a:custGeom>
            <a:avLst/>
            <a:gdLst/>
            <a:ahLst/>
            <a:cxnLst/>
            <a:rect l="l" t="t" r="r" b="b"/>
            <a:pathLst>
              <a:path w="7588250" h="2254250">
                <a:moveTo>
                  <a:pt x="84670" y="0"/>
                </a:moveTo>
                <a:lnTo>
                  <a:pt x="7503580" y="0"/>
                </a:lnTo>
                <a:cubicBezTo>
                  <a:pt x="7550342" y="0"/>
                  <a:pt x="7588250" y="37908"/>
                  <a:pt x="7588250" y="84670"/>
                </a:cubicBezTo>
                <a:lnTo>
                  <a:pt x="7588250" y="2169580"/>
                </a:lnTo>
                <a:cubicBezTo>
                  <a:pt x="7588250" y="2216342"/>
                  <a:pt x="7550342" y="2254250"/>
                  <a:pt x="7503580" y="2254250"/>
                </a:cubicBezTo>
                <a:lnTo>
                  <a:pt x="84670" y="2254250"/>
                </a:lnTo>
                <a:cubicBezTo>
                  <a:pt x="37908" y="2254250"/>
                  <a:pt x="0" y="2216342"/>
                  <a:pt x="0" y="2169580"/>
                </a:cubicBezTo>
                <a:lnTo>
                  <a:pt x="0" y="84670"/>
                </a:lnTo>
                <a:cubicBezTo>
                  <a:pt x="0" y="37939"/>
                  <a:pt x="37939" y="0"/>
                  <a:pt x="84670" y="0"/>
                </a:cubicBezTo>
                <a:close/>
              </a:path>
            </a:pathLst>
          </a:custGeom>
          <a:solidFill>
            <a:srgbClr val="3A5E78">
              <a:alpha val="20000"/>
            </a:srgbClr>
          </a:solidFill>
          <a:ln w="12700">
            <a:solidFill>
              <a:srgbClr val="4C7E9A">
                <a:alpha val="50196"/>
              </a:srgbClr>
            </a:solidFill>
            <a:prstDash val="solid"/>
          </a:ln>
        </p:spPr>
      </p:sp>
      <p:sp>
        <p:nvSpPr>
          <p:cNvPr id="33" name="Text 31"/>
          <p:cNvSpPr/>
          <p:nvPr/>
        </p:nvSpPr>
        <p:spPr>
          <a:xfrm>
            <a:off x="8413750" y="1703917"/>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预测阶段的处理</a:t>
            </a:r>
            <a:endParaRPr lang="en-US" sz="1600" dirty="0"/>
          </a:p>
        </p:txBody>
      </p:sp>
      <p:sp>
        <p:nvSpPr>
          <p:cNvPr id="34" name="Text 32"/>
          <p:cNvSpPr/>
          <p:nvPr/>
        </p:nvSpPr>
        <p:spPr>
          <a:xfrm>
            <a:off x="8413750" y="2169583"/>
            <a:ext cx="7323667" cy="550333"/>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为了给测试集构造元特征，需要对每个基学习器在K折训练中得到的K个模型分别预测测试集，然后取平均或概率均值。</a:t>
            </a:r>
            <a:endParaRPr lang="en-US" sz="1600" dirty="0"/>
          </a:p>
        </p:txBody>
      </p:sp>
      <p:sp>
        <p:nvSpPr>
          <p:cNvPr id="35" name="Shape 33"/>
          <p:cNvSpPr/>
          <p:nvPr/>
        </p:nvSpPr>
        <p:spPr>
          <a:xfrm>
            <a:off x="8413750" y="2846917"/>
            <a:ext cx="7239000" cy="762000"/>
          </a:xfrm>
          <a:custGeom>
            <a:avLst/>
            <a:gdLst/>
            <a:ahLst/>
            <a:cxnLst/>
            <a:rect l="l" t="t" r="r" b="b"/>
            <a:pathLst>
              <a:path w="7239000" h="762000">
                <a:moveTo>
                  <a:pt x="42337" y="0"/>
                </a:moveTo>
                <a:lnTo>
                  <a:pt x="7196663" y="0"/>
                </a:lnTo>
                <a:cubicBezTo>
                  <a:pt x="7220045" y="0"/>
                  <a:pt x="7239000" y="18955"/>
                  <a:pt x="7239000" y="42337"/>
                </a:cubicBezTo>
                <a:lnTo>
                  <a:pt x="7239000" y="719663"/>
                </a:lnTo>
                <a:cubicBezTo>
                  <a:pt x="7239000" y="743045"/>
                  <a:pt x="7220045" y="762000"/>
                  <a:pt x="7196663" y="762000"/>
                </a:cubicBezTo>
                <a:lnTo>
                  <a:pt x="42337" y="762000"/>
                </a:lnTo>
                <a:cubicBezTo>
                  <a:pt x="18955" y="762000"/>
                  <a:pt x="0" y="743045"/>
                  <a:pt x="0" y="719663"/>
                </a:cubicBezTo>
                <a:lnTo>
                  <a:pt x="0" y="42337"/>
                </a:lnTo>
                <a:cubicBezTo>
                  <a:pt x="0" y="18955"/>
                  <a:pt x="18955" y="0"/>
                  <a:pt x="42337" y="0"/>
                </a:cubicBezTo>
                <a:close/>
              </a:path>
            </a:pathLst>
          </a:custGeom>
          <a:solidFill>
            <a:srgbClr val="181A1F">
              <a:alpha val="50196"/>
            </a:srgbClr>
          </a:solidFill>
          <a:ln/>
        </p:spPr>
      </p:sp>
      <p:sp>
        <p:nvSpPr>
          <p:cNvPr id="36" name="Text 34"/>
          <p:cNvSpPr/>
          <p:nvPr/>
        </p:nvSpPr>
        <p:spPr>
          <a:xfrm>
            <a:off x="8540750" y="2973917"/>
            <a:ext cx="7069667"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为什么这样做？</a:t>
            </a:r>
            <a:endParaRPr lang="en-US" sz="1600" dirty="0"/>
          </a:p>
        </p:txBody>
      </p:sp>
      <p:sp>
        <p:nvSpPr>
          <p:cNvPr id="37" name="Text 35"/>
          <p:cNvSpPr/>
          <p:nvPr/>
        </p:nvSpPr>
        <p:spPr>
          <a:xfrm>
            <a:off x="8540750" y="3270250"/>
            <a:ext cx="7059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确保测试集的元特征生成方式与训练集保持一致，避免数据泄露</a:t>
            </a:r>
            <a:endParaRPr lang="en-US" sz="1600" dirty="0"/>
          </a:p>
        </p:txBody>
      </p:sp>
      <p:sp>
        <p:nvSpPr>
          <p:cNvPr id="38" name="Shape 36"/>
          <p:cNvSpPr/>
          <p:nvPr/>
        </p:nvSpPr>
        <p:spPr>
          <a:xfrm>
            <a:off x="8239125" y="3963458"/>
            <a:ext cx="7588250" cy="2741083"/>
          </a:xfrm>
          <a:custGeom>
            <a:avLst/>
            <a:gdLst/>
            <a:ahLst/>
            <a:cxnLst/>
            <a:rect l="l" t="t" r="r" b="b"/>
            <a:pathLst>
              <a:path w="7588250" h="2741083">
                <a:moveTo>
                  <a:pt x="84672" y="0"/>
                </a:moveTo>
                <a:lnTo>
                  <a:pt x="7503578" y="0"/>
                </a:lnTo>
                <a:cubicBezTo>
                  <a:pt x="7550341" y="0"/>
                  <a:pt x="7588250" y="37909"/>
                  <a:pt x="7588250" y="84672"/>
                </a:cubicBezTo>
                <a:lnTo>
                  <a:pt x="7588250" y="2656411"/>
                </a:lnTo>
                <a:cubicBezTo>
                  <a:pt x="7588250" y="2703174"/>
                  <a:pt x="7550341" y="2741083"/>
                  <a:pt x="7503578" y="2741083"/>
                </a:cubicBezTo>
                <a:lnTo>
                  <a:pt x="84672" y="2741083"/>
                </a:lnTo>
                <a:cubicBezTo>
                  <a:pt x="37909" y="2741083"/>
                  <a:pt x="0" y="2703174"/>
                  <a:pt x="0" y="2656411"/>
                </a:cubicBezTo>
                <a:lnTo>
                  <a:pt x="0" y="84672"/>
                </a:lnTo>
                <a:cubicBezTo>
                  <a:pt x="0" y="37940"/>
                  <a:pt x="37940" y="0"/>
                  <a:pt x="84672" y="0"/>
                </a:cubicBezTo>
                <a:close/>
              </a:path>
            </a:pathLst>
          </a:custGeom>
          <a:solidFill>
            <a:srgbClr val="3A5E78">
              <a:alpha val="20000"/>
            </a:srgbClr>
          </a:solidFill>
          <a:ln w="12700">
            <a:solidFill>
              <a:srgbClr val="4C7E9A">
                <a:alpha val="50196"/>
              </a:srgbClr>
            </a:solidFill>
            <a:prstDash val="solid"/>
          </a:ln>
        </p:spPr>
      </p:sp>
      <p:sp>
        <p:nvSpPr>
          <p:cNvPr id="39" name="Text 37"/>
          <p:cNvSpPr/>
          <p:nvPr/>
        </p:nvSpPr>
        <p:spPr>
          <a:xfrm>
            <a:off x="8413750" y="4138083"/>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mlxtend库支持</a:t>
            </a:r>
            <a:endParaRPr lang="en-US" sz="1600" dirty="0"/>
          </a:p>
        </p:txBody>
      </p:sp>
      <p:sp>
        <p:nvSpPr>
          <p:cNvPr id="40" name="Text 38"/>
          <p:cNvSpPr/>
          <p:nvPr/>
        </p:nvSpPr>
        <p:spPr>
          <a:xfrm>
            <a:off x="8413750" y="4603750"/>
            <a:ext cx="7323667" cy="275167"/>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mlxtend库的StackingClassifier内部自动封装了这一过程，确保了数据流转的正确性。</a:t>
            </a:r>
            <a:endParaRPr lang="en-US" sz="1600" dirty="0"/>
          </a:p>
        </p:txBody>
      </p:sp>
      <p:sp>
        <p:nvSpPr>
          <p:cNvPr id="41" name="Shape 39"/>
          <p:cNvSpPr/>
          <p:nvPr/>
        </p:nvSpPr>
        <p:spPr>
          <a:xfrm>
            <a:off x="8413750" y="5005917"/>
            <a:ext cx="7239000" cy="1524000"/>
          </a:xfrm>
          <a:custGeom>
            <a:avLst/>
            <a:gdLst/>
            <a:ahLst/>
            <a:cxnLst/>
            <a:rect l="l" t="t" r="r" b="b"/>
            <a:pathLst>
              <a:path w="7239000" h="1524000">
                <a:moveTo>
                  <a:pt x="42337" y="0"/>
                </a:moveTo>
                <a:lnTo>
                  <a:pt x="7196663" y="0"/>
                </a:lnTo>
                <a:cubicBezTo>
                  <a:pt x="7220045" y="0"/>
                  <a:pt x="7239000" y="18955"/>
                  <a:pt x="7239000" y="42337"/>
                </a:cubicBezTo>
                <a:lnTo>
                  <a:pt x="7239000" y="1481663"/>
                </a:lnTo>
                <a:cubicBezTo>
                  <a:pt x="7239000" y="1505045"/>
                  <a:pt x="7220045" y="1524000"/>
                  <a:pt x="7196663" y="1524000"/>
                </a:cubicBezTo>
                <a:lnTo>
                  <a:pt x="42337" y="1524000"/>
                </a:lnTo>
                <a:cubicBezTo>
                  <a:pt x="18955" y="1524000"/>
                  <a:pt x="0" y="1505045"/>
                  <a:pt x="0" y="1481663"/>
                </a:cubicBezTo>
                <a:lnTo>
                  <a:pt x="0" y="42337"/>
                </a:lnTo>
                <a:cubicBezTo>
                  <a:pt x="0" y="18955"/>
                  <a:pt x="18955" y="0"/>
                  <a:pt x="42337" y="0"/>
                </a:cubicBezTo>
                <a:close/>
              </a:path>
            </a:pathLst>
          </a:custGeom>
          <a:solidFill>
            <a:srgbClr val="181A1F">
              <a:alpha val="50196"/>
            </a:srgbClr>
          </a:solidFill>
          <a:ln/>
        </p:spPr>
      </p:sp>
      <p:sp>
        <p:nvSpPr>
          <p:cNvPr id="42" name="Text 40"/>
          <p:cNvSpPr/>
          <p:nvPr/>
        </p:nvSpPr>
        <p:spPr>
          <a:xfrm>
            <a:off x="8540750" y="5132917"/>
            <a:ext cx="7069667"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优势</a:t>
            </a:r>
            <a:endParaRPr lang="en-US" sz="1600" dirty="0"/>
          </a:p>
        </p:txBody>
      </p:sp>
      <p:sp>
        <p:nvSpPr>
          <p:cNvPr id="43" name="Text 41"/>
          <p:cNvSpPr/>
          <p:nvPr/>
        </p:nvSpPr>
        <p:spPr>
          <a:xfrm>
            <a:off x="8540750" y="5429250"/>
            <a:ext cx="7059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自动处理交叉验证</a:t>
            </a:r>
            <a:endParaRPr lang="en-US" sz="1600" dirty="0"/>
          </a:p>
        </p:txBody>
      </p:sp>
      <p:sp>
        <p:nvSpPr>
          <p:cNvPr id="44" name="Text 42"/>
          <p:cNvSpPr/>
          <p:nvPr/>
        </p:nvSpPr>
        <p:spPr>
          <a:xfrm>
            <a:off x="8540750" y="5683250"/>
            <a:ext cx="7059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防止数据泄露</a:t>
            </a:r>
            <a:endParaRPr lang="en-US" sz="1600" dirty="0"/>
          </a:p>
        </p:txBody>
      </p:sp>
      <p:sp>
        <p:nvSpPr>
          <p:cNvPr id="45" name="Text 43"/>
          <p:cNvSpPr/>
          <p:nvPr/>
        </p:nvSpPr>
        <p:spPr>
          <a:xfrm>
            <a:off x="8540750" y="5937250"/>
            <a:ext cx="7059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简化代码实现</a:t>
            </a:r>
            <a:endParaRPr lang="en-US" sz="1600" dirty="0"/>
          </a:p>
        </p:txBody>
      </p:sp>
      <p:sp>
        <p:nvSpPr>
          <p:cNvPr id="46" name="Text 44"/>
          <p:cNvSpPr/>
          <p:nvPr/>
        </p:nvSpPr>
        <p:spPr>
          <a:xfrm>
            <a:off x="8540750" y="6191250"/>
            <a:ext cx="70590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提高开发效率</a:t>
            </a:r>
            <a:endParaRPr lang="en-US" sz="1600" dirty="0"/>
          </a:p>
        </p:txBody>
      </p:sp>
      <p:sp>
        <p:nvSpPr>
          <p:cNvPr id="47" name="Shape 45"/>
          <p:cNvSpPr/>
          <p:nvPr/>
        </p:nvSpPr>
        <p:spPr>
          <a:xfrm>
            <a:off x="428625" y="7453312"/>
            <a:ext cx="15398750" cy="1322917"/>
          </a:xfrm>
          <a:custGeom>
            <a:avLst/>
            <a:gdLst/>
            <a:ahLst/>
            <a:cxnLst/>
            <a:rect l="l" t="t" r="r" b="b"/>
            <a:pathLst>
              <a:path w="15398750" h="1322917">
                <a:moveTo>
                  <a:pt x="84667" y="0"/>
                </a:moveTo>
                <a:lnTo>
                  <a:pt x="15314083" y="0"/>
                </a:lnTo>
                <a:cubicBezTo>
                  <a:pt x="15360843" y="0"/>
                  <a:pt x="15398750" y="37907"/>
                  <a:pt x="15398750" y="84667"/>
                </a:cubicBezTo>
                <a:lnTo>
                  <a:pt x="15398750" y="1238250"/>
                </a:lnTo>
                <a:cubicBezTo>
                  <a:pt x="15398750" y="1285010"/>
                  <a:pt x="15360843" y="1322917"/>
                  <a:pt x="15314083" y="1322917"/>
                </a:cubicBezTo>
                <a:lnTo>
                  <a:pt x="84667" y="1322917"/>
                </a:lnTo>
                <a:cubicBezTo>
                  <a:pt x="37907" y="1322917"/>
                  <a:pt x="0" y="1285010"/>
                  <a:pt x="0" y="1238250"/>
                </a:cubicBezTo>
                <a:lnTo>
                  <a:pt x="0" y="84667"/>
                </a:lnTo>
                <a:cubicBezTo>
                  <a:pt x="0" y="37907"/>
                  <a:pt x="37907" y="0"/>
                  <a:pt x="84667" y="0"/>
                </a:cubicBezTo>
                <a:close/>
              </a:path>
            </a:pathLst>
          </a:custGeom>
          <a:solidFill>
            <a:srgbClr val="4C7E9A">
              <a:alpha val="10196"/>
            </a:srgbClr>
          </a:solidFill>
          <a:ln w="12700">
            <a:solidFill>
              <a:srgbClr val="4C7E9A">
                <a:alpha val="30196"/>
              </a:srgbClr>
            </a:solidFill>
            <a:prstDash val="solid"/>
          </a:ln>
        </p:spPr>
      </p:sp>
      <p:sp>
        <p:nvSpPr>
          <p:cNvPr id="48" name="Shape 46"/>
          <p:cNvSpPr/>
          <p:nvPr/>
        </p:nvSpPr>
        <p:spPr>
          <a:xfrm>
            <a:off x="645583" y="7627938"/>
            <a:ext cx="317500" cy="317500"/>
          </a:xfrm>
          <a:custGeom>
            <a:avLst/>
            <a:gdLst/>
            <a:ahLst/>
            <a:cxnLst/>
            <a:rect l="l" t="t" r="r" b="b"/>
            <a:pathLst>
              <a:path w="317500" h="317500">
                <a:moveTo>
                  <a:pt x="208359" y="218281"/>
                </a:moveTo>
                <a:cubicBezTo>
                  <a:pt x="268635" y="218281"/>
                  <a:pt x="317500" y="169416"/>
                  <a:pt x="317500" y="109141"/>
                </a:cubicBezTo>
                <a:cubicBezTo>
                  <a:pt x="317500" y="48865"/>
                  <a:pt x="268635" y="0"/>
                  <a:pt x="208359" y="0"/>
                </a:cubicBezTo>
                <a:cubicBezTo>
                  <a:pt x="148084" y="0"/>
                  <a:pt x="99219" y="48865"/>
                  <a:pt x="99219" y="109141"/>
                </a:cubicBezTo>
                <a:cubicBezTo>
                  <a:pt x="99219" y="120737"/>
                  <a:pt x="101017" y="131961"/>
                  <a:pt x="104366" y="142441"/>
                </a:cubicBezTo>
                <a:lnTo>
                  <a:pt x="4341" y="242466"/>
                </a:lnTo>
                <a:cubicBezTo>
                  <a:pt x="1550" y="245256"/>
                  <a:pt x="0" y="249039"/>
                  <a:pt x="0" y="253008"/>
                </a:cubicBezTo>
                <a:lnTo>
                  <a:pt x="0" y="302617"/>
                </a:lnTo>
                <a:cubicBezTo>
                  <a:pt x="0" y="310865"/>
                  <a:pt x="6635" y="317500"/>
                  <a:pt x="14883" y="317500"/>
                </a:cubicBezTo>
                <a:lnTo>
                  <a:pt x="64492" y="317500"/>
                </a:lnTo>
                <a:cubicBezTo>
                  <a:pt x="72740" y="317500"/>
                  <a:pt x="79375" y="310865"/>
                  <a:pt x="79375" y="302617"/>
                </a:cubicBezTo>
                <a:lnTo>
                  <a:pt x="79375" y="277813"/>
                </a:lnTo>
                <a:lnTo>
                  <a:pt x="104180" y="277813"/>
                </a:lnTo>
                <a:cubicBezTo>
                  <a:pt x="112427" y="277813"/>
                  <a:pt x="119062" y="271177"/>
                  <a:pt x="119062" y="262930"/>
                </a:cubicBezTo>
                <a:lnTo>
                  <a:pt x="119062" y="238125"/>
                </a:lnTo>
                <a:lnTo>
                  <a:pt x="143867" y="238125"/>
                </a:lnTo>
                <a:cubicBezTo>
                  <a:pt x="147836" y="238125"/>
                  <a:pt x="151619" y="236575"/>
                  <a:pt x="154409" y="233784"/>
                </a:cubicBezTo>
                <a:lnTo>
                  <a:pt x="175059" y="213134"/>
                </a:lnTo>
                <a:cubicBezTo>
                  <a:pt x="185539" y="216483"/>
                  <a:pt x="196763" y="218281"/>
                  <a:pt x="208359" y="218281"/>
                </a:cubicBezTo>
                <a:close/>
                <a:moveTo>
                  <a:pt x="233164" y="59531"/>
                </a:moveTo>
                <a:cubicBezTo>
                  <a:pt x="246854" y="59531"/>
                  <a:pt x="257969" y="70646"/>
                  <a:pt x="257969" y="84336"/>
                </a:cubicBezTo>
                <a:cubicBezTo>
                  <a:pt x="257969" y="98026"/>
                  <a:pt x="246854" y="109141"/>
                  <a:pt x="233164" y="109141"/>
                </a:cubicBezTo>
                <a:cubicBezTo>
                  <a:pt x="219474" y="109141"/>
                  <a:pt x="208359" y="98026"/>
                  <a:pt x="208359" y="84336"/>
                </a:cubicBezTo>
                <a:cubicBezTo>
                  <a:pt x="208359" y="70646"/>
                  <a:pt x="219474" y="59531"/>
                  <a:pt x="233164" y="59531"/>
                </a:cubicBezTo>
                <a:close/>
              </a:path>
            </a:pathLst>
          </a:custGeom>
          <a:solidFill>
            <a:srgbClr val="4C7E9A"/>
          </a:solidFill>
          <a:ln/>
        </p:spPr>
      </p:sp>
      <p:sp>
        <p:nvSpPr>
          <p:cNvPr id="49" name="Text 47"/>
          <p:cNvSpPr/>
          <p:nvPr/>
        </p:nvSpPr>
        <p:spPr>
          <a:xfrm>
            <a:off x="1169458" y="7627938"/>
            <a:ext cx="14594417"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关键要点</a:t>
            </a:r>
            <a:endParaRPr lang="en-US" sz="1600" dirty="0"/>
          </a:p>
        </p:txBody>
      </p:sp>
      <p:sp>
        <p:nvSpPr>
          <p:cNvPr id="50" name="Text 48"/>
          <p:cNvSpPr/>
          <p:nvPr/>
        </p:nvSpPr>
        <p:spPr>
          <a:xfrm>
            <a:off x="1169458" y="8008938"/>
            <a:ext cx="481541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交叉验证</a:t>
            </a:r>
            <a:endParaRPr lang="en-US" sz="1600" dirty="0"/>
          </a:p>
        </p:txBody>
      </p:sp>
      <p:sp>
        <p:nvSpPr>
          <p:cNvPr id="51" name="Text 49"/>
          <p:cNvSpPr/>
          <p:nvPr/>
        </p:nvSpPr>
        <p:spPr>
          <a:xfrm>
            <a:off x="1169458" y="8347604"/>
            <a:ext cx="4804833"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必须使用K折CV生成元特征</a:t>
            </a:r>
            <a:endParaRPr lang="en-US" sz="1600" dirty="0"/>
          </a:p>
        </p:txBody>
      </p:sp>
      <p:sp>
        <p:nvSpPr>
          <p:cNvPr id="52" name="Text 50"/>
          <p:cNvSpPr/>
          <p:nvPr/>
        </p:nvSpPr>
        <p:spPr>
          <a:xfrm>
            <a:off x="6053667" y="8008938"/>
            <a:ext cx="481541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数据一致性</a:t>
            </a:r>
            <a:endParaRPr lang="en-US" sz="1600" dirty="0"/>
          </a:p>
        </p:txBody>
      </p:sp>
      <p:sp>
        <p:nvSpPr>
          <p:cNvPr id="53" name="Text 51"/>
          <p:cNvSpPr/>
          <p:nvPr/>
        </p:nvSpPr>
        <p:spPr>
          <a:xfrm>
            <a:off x="6053667" y="8347604"/>
            <a:ext cx="4804833"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训练和测试阶段处理方式一致</a:t>
            </a:r>
            <a:endParaRPr lang="en-US" sz="1600" dirty="0"/>
          </a:p>
        </p:txBody>
      </p:sp>
      <p:sp>
        <p:nvSpPr>
          <p:cNvPr id="54" name="Text 52"/>
          <p:cNvSpPr/>
          <p:nvPr/>
        </p:nvSpPr>
        <p:spPr>
          <a:xfrm>
            <a:off x="10937875" y="8008938"/>
            <a:ext cx="4815417" cy="296333"/>
          </a:xfrm>
          <a:prstGeom prst="rect">
            <a:avLst/>
          </a:prstGeom>
          <a:noFill/>
          <a:ln/>
        </p:spPr>
        <p:txBody>
          <a:bodyPr wrap="square" lIns="0" tIns="0" rIns="0" bIns="0" rtlCol="0" anchor="ctr"/>
          <a:lstStyle/>
          <a:p>
            <a:pPr>
              <a:lnSpc>
                <a:spcPct val="130000"/>
              </a:lnSpc>
            </a:pPr>
            <a:r>
              <a:rPr lang="en-US" sz="1500" b="1" dirty="0">
                <a:solidFill>
                  <a:srgbClr val="4C7E9A"/>
                </a:solidFill>
                <a:latin typeface="MiSans" pitchFamily="34" charset="0"/>
                <a:ea typeface="MiSans" pitchFamily="34" charset="-122"/>
                <a:cs typeface="MiSans" pitchFamily="34" charset="-120"/>
              </a:rPr>
              <a:t>工具支持</a:t>
            </a:r>
            <a:endParaRPr lang="en-US" sz="1600" dirty="0"/>
          </a:p>
        </p:txBody>
      </p:sp>
      <p:sp>
        <p:nvSpPr>
          <p:cNvPr id="55" name="Text 53"/>
          <p:cNvSpPr/>
          <p:nvPr/>
        </p:nvSpPr>
        <p:spPr>
          <a:xfrm>
            <a:off x="10937875" y="8347604"/>
            <a:ext cx="4804833" cy="254000"/>
          </a:xfrm>
          <a:prstGeom prst="rect">
            <a:avLst/>
          </a:prstGeom>
          <a:noFill/>
          <a:ln/>
        </p:spPr>
        <p:txBody>
          <a:bodyPr wrap="square" lIns="0" tIns="0" rIns="0" bIns="0" rtlCol="0" anchor="ctr"/>
          <a:lstStyle/>
          <a:p>
            <a:pPr>
              <a:lnSpc>
                <a:spcPct val="130000"/>
              </a:lnSpc>
            </a:pPr>
            <a:r>
              <a:rPr lang="en-US" sz="1333" dirty="0">
                <a:solidFill>
                  <a:srgbClr val="7E9AA8"/>
                </a:solidFill>
                <a:latin typeface="MiSans" pitchFamily="34" charset="0"/>
                <a:ea typeface="MiSans" pitchFamily="34" charset="-122"/>
                <a:cs typeface="MiSans" pitchFamily="34" charset="-120"/>
              </a:rPr>
              <a:t>mlxtend库简化实现</a:t>
            </a:r>
            <a:endParaRPr lang="en-US" sz="1600" dirty="0"/>
          </a:p>
        </p:txBody>
      </p:sp>
    </p:spTree>
  </p:cSld>
  <p:clrMapOvr>
    <a:masterClrMapping/>
  </p:clrMapOvr>
  <p:transition>
    <p:fade/>
    <p:spd val="med"/>
  </p:transition>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STACKING</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实战案例一：鸢尾花分类</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24000"/>
            <a:ext cx="7577667" cy="3439583"/>
          </a:xfrm>
          <a:custGeom>
            <a:avLst/>
            <a:gdLst/>
            <a:ahLst/>
            <a:cxnLst/>
            <a:rect l="l" t="t" r="r" b="b"/>
            <a:pathLst>
              <a:path w="7577667" h="3439583">
                <a:moveTo>
                  <a:pt x="42333" y="0"/>
                </a:moveTo>
                <a:lnTo>
                  <a:pt x="7492984" y="0"/>
                </a:lnTo>
                <a:cubicBezTo>
                  <a:pt x="7539753" y="0"/>
                  <a:pt x="7577667" y="37914"/>
                  <a:pt x="7577667" y="84683"/>
                </a:cubicBezTo>
                <a:lnTo>
                  <a:pt x="7577667" y="3354901"/>
                </a:lnTo>
                <a:cubicBezTo>
                  <a:pt x="7577667" y="3401670"/>
                  <a:pt x="7539753" y="3439583"/>
                  <a:pt x="7492984" y="3439583"/>
                </a:cubicBezTo>
                <a:lnTo>
                  <a:pt x="42333" y="3439583"/>
                </a:lnTo>
                <a:cubicBezTo>
                  <a:pt x="18953" y="3439583"/>
                  <a:pt x="0" y="3420630"/>
                  <a:pt x="0" y="3397250"/>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24000"/>
            <a:ext cx="42333" cy="3439583"/>
          </a:xfrm>
          <a:custGeom>
            <a:avLst/>
            <a:gdLst/>
            <a:ahLst/>
            <a:cxnLst/>
            <a:rect l="l" t="t" r="r" b="b"/>
            <a:pathLst>
              <a:path w="42333" h="3439583">
                <a:moveTo>
                  <a:pt x="42333" y="0"/>
                </a:moveTo>
                <a:lnTo>
                  <a:pt x="42333" y="0"/>
                </a:lnTo>
                <a:lnTo>
                  <a:pt x="42333" y="3439583"/>
                </a:lnTo>
                <a:lnTo>
                  <a:pt x="42333" y="3439583"/>
                </a:lnTo>
                <a:cubicBezTo>
                  <a:pt x="18953" y="3439583"/>
                  <a:pt x="0" y="3420630"/>
                  <a:pt x="0" y="3397250"/>
                </a:cubicBezTo>
                <a:lnTo>
                  <a:pt x="0" y="42333"/>
                </a:lnTo>
                <a:cubicBezTo>
                  <a:pt x="0" y="18953"/>
                  <a:pt x="18953" y="0"/>
                  <a:pt x="42333" y="0"/>
                </a:cubicBezTo>
                <a:close/>
              </a:path>
            </a:pathLst>
          </a:custGeom>
          <a:solidFill>
            <a:srgbClr val="4C7E9A"/>
          </a:solidFill>
          <a:ln/>
        </p:spPr>
      </p:sp>
      <p:sp>
        <p:nvSpPr>
          <p:cNvPr id="7" name="Text 5"/>
          <p:cNvSpPr/>
          <p:nvPr/>
        </p:nvSpPr>
        <p:spPr>
          <a:xfrm>
            <a:off x="635000" y="1693333"/>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模型组合策略</a:t>
            </a:r>
            <a:endParaRPr lang="en-US" sz="1600" dirty="0"/>
          </a:p>
        </p:txBody>
      </p:sp>
      <p:sp>
        <p:nvSpPr>
          <p:cNvPr id="8" name="Text 6"/>
          <p:cNvSpPr/>
          <p:nvPr/>
        </p:nvSpPr>
        <p:spPr>
          <a:xfrm>
            <a:off x="635000" y="2159000"/>
            <a:ext cx="7313083" cy="306917"/>
          </a:xfrm>
          <a:prstGeom prst="rect">
            <a:avLst/>
          </a:prstGeom>
          <a:noFill/>
          <a:ln/>
        </p:spPr>
        <p:txBody>
          <a:bodyPr wrap="square" lIns="0" tIns="0" rIns="0" bIns="0" rtlCol="0" anchor="ctr"/>
          <a:lstStyle/>
          <a:p>
            <a:pPr>
              <a:lnSpc>
                <a:spcPct val="140000"/>
              </a:lnSpc>
            </a:pPr>
            <a:r>
              <a:rPr lang="en-US" sz="1500" dirty="0">
                <a:solidFill>
                  <a:srgbClr val="D1D5DB"/>
                </a:solidFill>
                <a:latin typeface="MiSans" pitchFamily="34" charset="0"/>
                <a:ea typeface="MiSans" pitchFamily="34" charset="-122"/>
                <a:cs typeface="MiSans" pitchFamily="34" charset="-120"/>
              </a:rPr>
              <a:t>结合</a:t>
            </a:r>
            <a:pPr>
              <a:lnSpc>
                <a:spcPct val="140000"/>
              </a:lnSpc>
            </a:pPr>
            <a:r>
              <a:rPr lang="en-US" sz="1500" b="1" dirty="0">
                <a:solidFill>
                  <a:srgbClr val="4C7E9A"/>
                </a:solidFill>
                <a:latin typeface="MiSans" pitchFamily="34" charset="0"/>
                <a:ea typeface="MiSans" pitchFamily="34" charset="-122"/>
                <a:cs typeface="MiSans" pitchFamily="34" charset="-120"/>
              </a:rPr>
              <a:t>KNN、随机森林和朴素贝叶斯</a:t>
            </a:r>
            <a:pPr>
              <a:lnSpc>
                <a:spcPct val="140000"/>
              </a:lnSpc>
            </a:pPr>
            <a:r>
              <a:rPr lang="en-US" sz="1500" dirty="0">
                <a:solidFill>
                  <a:srgbClr val="D1D5DB"/>
                </a:solidFill>
                <a:latin typeface="MiSans" pitchFamily="34" charset="0"/>
                <a:ea typeface="MiSans" pitchFamily="34" charset="-122"/>
                <a:cs typeface="MiSans" pitchFamily="34" charset="-120"/>
              </a:rPr>
              <a:t>三个差异较大的基学习器构建Stacking分类器。</a:t>
            </a:r>
            <a:endParaRPr lang="en-US" sz="1600" dirty="0"/>
          </a:p>
        </p:txBody>
      </p:sp>
      <p:sp>
        <p:nvSpPr>
          <p:cNvPr id="9" name="Shape 7"/>
          <p:cNvSpPr/>
          <p:nvPr/>
        </p:nvSpPr>
        <p:spPr>
          <a:xfrm>
            <a:off x="635000" y="2595563"/>
            <a:ext cx="7217833" cy="677333"/>
          </a:xfrm>
          <a:custGeom>
            <a:avLst/>
            <a:gdLst/>
            <a:ahLst/>
            <a:cxnLst/>
            <a:rect l="l" t="t" r="r" b="b"/>
            <a:pathLst>
              <a:path w="7217833" h="677333">
                <a:moveTo>
                  <a:pt x="42333" y="0"/>
                </a:moveTo>
                <a:lnTo>
                  <a:pt x="7175500" y="0"/>
                </a:lnTo>
                <a:cubicBezTo>
                  <a:pt x="7198880" y="0"/>
                  <a:pt x="7217833" y="18953"/>
                  <a:pt x="7217833" y="42333"/>
                </a:cubicBezTo>
                <a:lnTo>
                  <a:pt x="7217833" y="635000"/>
                </a:lnTo>
                <a:cubicBezTo>
                  <a:pt x="7217833" y="658380"/>
                  <a:pt x="7198880" y="677333"/>
                  <a:pt x="7175500"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alpha val="50196"/>
            </a:srgbClr>
          </a:solidFill>
          <a:ln/>
        </p:spPr>
      </p:sp>
      <p:sp>
        <p:nvSpPr>
          <p:cNvPr id="10" name="Text 8"/>
          <p:cNvSpPr/>
          <p:nvPr/>
        </p:nvSpPr>
        <p:spPr>
          <a:xfrm>
            <a:off x="719667" y="2680229"/>
            <a:ext cx="7133167"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KNeighborsClassifier(n_neighbors=3)</a:t>
            </a:r>
            <a:endParaRPr lang="en-US" sz="1600" dirty="0"/>
          </a:p>
        </p:txBody>
      </p:sp>
      <p:sp>
        <p:nvSpPr>
          <p:cNvPr id="11" name="Text 9"/>
          <p:cNvSpPr/>
          <p:nvPr/>
        </p:nvSpPr>
        <p:spPr>
          <a:xfrm>
            <a:off x="719667" y="2976563"/>
            <a:ext cx="7122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基于距离的算法，对特征尺度敏感</a:t>
            </a:r>
            <a:endParaRPr lang="en-US" sz="1600" dirty="0"/>
          </a:p>
        </p:txBody>
      </p:sp>
      <p:sp>
        <p:nvSpPr>
          <p:cNvPr id="12" name="Shape 10"/>
          <p:cNvSpPr/>
          <p:nvPr/>
        </p:nvSpPr>
        <p:spPr>
          <a:xfrm>
            <a:off x="635000" y="3357563"/>
            <a:ext cx="7217833" cy="677333"/>
          </a:xfrm>
          <a:custGeom>
            <a:avLst/>
            <a:gdLst/>
            <a:ahLst/>
            <a:cxnLst/>
            <a:rect l="l" t="t" r="r" b="b"/>
            <a:pathLst>
              <a:path w="7217833" h="677333">
                <a:moveTo>
                  <a:pt x="42333" y="0"/>
                </a:moveTo>
                <a:lnTo>
                  <a:pt x="7175500" y="0"/>
                </a:lnTo>
                <a:cubicBezTo>
                  <a:pt x="7198880" y="0"/>
                  <a:pt x="7217833" y="18953"/>
                  <a:pt x="7217833" y="42333"/>
                </a:cubicBezTo>
                <a:lnTo>
                  <a:pt x="7217833" y="635000"/>
                </a:lnTo>
                <a:cubicBezTo>
                  <a:pt x="7217833" y="658380"/>
                  <a:pt x="7198880" y="677333"/>
                  <a:pt x="7175500"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alpha val="50196"/>
            </a:srgbClr>
          </a:solidFill>
          <a:ln/>
        </p:spPr>
      </p:sp>
      <p:sp>
        <p:nvSpPr>
          <p:cNvPr id="13" name="Text 11"/>
          <p:cNvSpPr/>
          <p:nvPr/>
        </p:nvSpPr>
        <p:spPr>
          <a:xfrm>
            <a:off x="719667" y="3442229"/>
            <a:ext cx="7133167"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RandomForestClassifier(n_estimators=100)</a:t>
            </a:r>
            <a:endParaRPr lang="en-US" sz="1600" dirty="0"/>
          </a:p>
        </p:txBody>
      </p:sp>
      <p:sp>
        <p:nvSpPr>
          <p:cNvPr id="14" name="Text 12"/>
          <p:cNvSpPr/>
          <p:nvPr/>
        </p:nvSpPr>
        <p:spPr>
          <a:xfrm>
            <a:off x="719667" y="3738563"/>
            <a:ext cx="7122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基于树的算法，对特征尺度不敏感</a:t>
            </a:r>
            <a:endParaRPr lang="en-US" sz="1600" dirty="0"/>
          </a:p>
        </p:txBody>
      </p:sp>
      <p:sp>
        <p:nvSpPr>
          <p:cNvPr id="15" name="Shape 13"/>
          <p:cNvSpPr/>
          <p:nvPr/>
        </p:nvSpPr>
        <p:spPr>
          <a:xfrm>
            <a:off x="635000" y="4119562"/>
            <a:ext cx="7217833" cy="677333"/>
          </a:xfrm>
          <a:custGeom>
            <a:avLst/>
            <a:gdLst/>
            <a:ahLst/>
            <a:cxnLst/>
            <a:rect l="l" t="t" r="r" b="b"/>
            <a:pathLst>
              <a:path w="7217833" h="677333">
                <a:moveTo>
                  <a:pt x="42333" y="0"/>
                </a:moveTo>
                <a:lnTo>
                  <a:pt x="7175500" y="0"/>
                </a:lnTo>
                <a:cubicBezTo>
                  <a:pt x="7198880" y="0"/>
                  <a:pt x="7217833" y="18953"/>
                  <a:pt x="7217833" y="42333"/>
                </a:cubicBezTo>
                <a:lnTo>
                  <a:pt x="7217833" y="635000"/>
                </a:lnTo>
                <a:cubicBezTo>
                  <a:pt x="7217833" y="658380"/>
                  <a:pt x="7198880" y="677333"/>
                  <a:pt x="7175500"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alpha val="50196"/>
            </a:srgbClr>
          </a:solidFill>
          <a:ln/>
        </p:spPr>
      </p:sp>
      <p:sp>
        <p:nvSpPr>
          <p:cNvPr id="16" name="Text 14"/>
          <p:cNvSpPr/>
          <p:nvPr/>
        </p:nvSpPr>
        <p:spPr>
          <a:xfrm>
            <a:off x="719667" y="4204229"/>
            <a:ext cx="7133167"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GaussianNB()</a:t>
            </a:r>
            <a:endParaRPr lang="en-US" sz="1600" dirty="0"/>
          </a:p>
        </p:txBody>
      </p:sp>
      <p:sp>
        <p:nvSpPr>
          <p:cNvPr id="17" name="Text 15"/>
          <p:cNvSpPr/>
          <p:nvPr/>
        </p:nvSpPr>
        <p:spPr>
          <a:xfrm>
            <a:off x="719667" y="4500563"/>
            <a:ext cx="7122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基于概率的算法，假设特征独立</a:t>
            </a:r>
            <a:endParaRPr lang="en-US" sz="1600" dirty="0"/>
          </a:p>
        </p:txBody>
      </p:sp>
      <p:sp>
        <p:nvSpPr>
          <p:cNvPr id="18" name="Shape 16"/>
          <p:cNvSpPr/>
          <p:nvPr/>
        </p:nvSpPr>
        <p:spPr>
          <a:xfrm>
            <a:off x="444500" y="5135563"/>
            <a:ext cx="7577667" cy="1905000"/>
          </a:xfrm>
          <a:custGeom>
            <a:avLst/>
            <a:gdLst/>
            <a:ahLst/>
            <a:cxnLst/>
            <a:rect l="l" t="t" r="r" b="b"/>
            <a:pathLst>
              <a:path w="7577667" h="1905000">
                <a:moveTo>
                  <a:pt x="42333" y="0"/>
                </a:moveTo>
                <a:lnTo>
                  <a:pt x="7493008" y="0"/>
                </a:lnTo>
                <a:cubicBezTo>
                  <a:pt x="7539764" y="0"/>
                  <a:pt x="7577667" y="37903"/>
                  <a:pt x="7577667" y="84658"/>
                </a:cubicBezTo>
                <a:lnTo>
                  <a:pt x="7577667" y="1820342"/>
                </a:lnTo>
                <a:cubicBezTo>
                  <a:pt x="7577667" y="1867097"/>
                  <a:pt x="7539764" y="1905000"/>
                  <a:pt x="7493008" y="1905000"/>
                </a:cubicBezTo>
                <a:lnTo>
                  <a:pt x="42333" y="1905000"/>
                </a:lnTo>
                <a:cubicBezTo>
                  <a:pt x="18953" y="1905000"/>
                  <a:pt x="0" y="1886047"/>
                  <a:pt x="0" y="1862667"/>
                </a:cubicBezTo>
                <a:lnTo>
                  <a:pt x="0" y="42333"/>
                </a:lnTo>
                <a:cubicBezTo>
                  <a:pt x="0" y="18953"/>
                  <a:pt x="18953" y="0"/>
                  <a:pt x="42333" y="0"/>
                </a:cubicBezTo>
                <a:close/>
              </a:path>
            </a:pathLst>
          </a:custGeom>
          <a:solidFill>
            <a:srgbClr val="3A5E78">
              <a:alpha val="20000"/>
            </a:srgbClr>
          </a:solidFill>
          <a:ln/>
        </p:spPr>
      </p:sp>
      <p:sp>
        <p:nvSpPr>
          <p:cNvPr id="19" name="Shape 17"/>
          <p:cNvSpPr/>
          <p:nvPr/>
        </p:nvSpPr>
        <p:spPr>
          <a:xfrm>
            <a:off x="444500" y="5135563"/>
            <a:ext cx="42333" cy="1905000"/>
          </a:xfrm>
          <a:custGeom>
            <a:avLst/>
            <a:gdLst/>
            <a:ahLst/>
            <a:cxnLst/>
            <a:rect l="l" t="t" r="r" b="b"/>
            <a:pathLst>
              <a:path w="42333" h="1905000">
                <a:moveTo>
                  <a:pt x="42333" y="0"/>
                </a:moveTo>
                <a:lnTo>
                  <a:pt x="42333" y="0"/>
                </a:lnTo>
                <a:lnTo>
                  <a:pt x="42333" y="1905000"/>
                </a:lnTo>
                <a:lnTo>
                  <a:pt x="42333" y="1905000"/>
                </a:lnTo>
                <a:cubicBezTo>
                  <a:pt x="18953" y="1905000"/>
                  <a:pt x="0" y="1886047"/>
                  <a:pt x="0" y="1862667"/>
                </a:cubicBezTo>
                <a:lnTo>
                  <a:pt x="0" y="42333"/>
                </a:lnTo>
                <a:cubicBezTo>
                  <a:pt x="0" y="18953"/>
                  <a:pt x="18953" y="0"/>
                  <a:pt x="42333" y="0"/>
                </a:cubicBezTo>
                <a:close/>
              </a:path>
            </a:pathLst>
          </a:custGeom>
          <a:solidFill>
            <a:srgbClr val="7E9AA8"/>
          </a:solidFill>
          <a:ln/>
        </p:spPr>
      </p:sp>
      <p:sp>
        <p:nvSpPr>
          <p:cNvPr id="20" name="Text 18"/>
          <p:cNvSpPr/>
          <p:nvPr/>
        </p:nvSpPr>
        <p:spPr>
          <a:xfrm>
            <a:off x="635000" y="5304896"/>
            <a:ext cx="7344833"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元学习器选择</a:t>
            </a:r>
            <a:endParaRPr lang="en-US" sz="1600" dirty="0"/>
          </a:p>
        </p:txBody>
      </p:sp>
      <p:sp>
        <p:nvSpPr>
          <p:cNvPr id="21" name="Shape 19"/>
          <p:cNvSpPr/>
          <p:nvPr/>
        </p:nvSpPr>
        <p:spPr>
          <a:xfrm>
            <a:off x="635000" y="5770563"/>
            <a:ext cx="7217833" cy="1100667"/>
          </a:xfrm>
          <a:custGeom>
            <a:avLst/>
            <a:gdLst/>
            <a:ahLst/>
            <a:cxnLst/>
            <a:rect l="l" t="t" r="r" b="b"/>
            <a:pathLst>
              <a:path w="7217833" h="1100667">
                <a:moveTo>
                  <a:pt x="42332" y="0"/>
                </a:moveTo>
                <a:lnTo>
                  <a:pt x="7175502" y="0"/>
                </a:lnTo>
                <a:cubicBezTo>
                  <a:pt x="7198881" y="0"/>
                  <a:pt x="7217833" y="18953"/>
                  <a:pt x="7217833" y="42332"/>
                </a:cubicBezTo>
                <a:lnTo>
                  <a:pt x="7217833" y="1058335"/>
                </a:lnTo>
                <a:cubicBezTo>
                  <a:pt x="7217833" y="1081714"/>
                  <a:pt x="7198881" y="1100667"/>
                  <a:pt x="7175502" y="1100667"/>
                </a:cubicBezTo>
                <a:lnTo>
                  <a:pt x="42332" y="1100667"/>
                </a:lnTo>
                <a:cubicBezTo>
                  <a:pt x="18953" y="1100667"/>
                  <a:pt x="0" y="1081714"/>
                  <a:pt x="0" y="1058335"/>
                </a:cubicBezTo>
                <a:lnTo>
                  <a:pt x="0" y="42332"/>
                </a:lnTo>
                <a:cubicBezTo>
                  <a:pt x="0" y="18968"/>
                  <a:pt x="18968" y="0"/>
                  <a:pt x="42332" y="0"/>
                </a:cubicBezTo>
                <a:close/>
              </a:path>
            </a:pathLst>
          </a:custGeom>
          <a:solidFill>
            <a:srgbClr val="181A1F">
              <a:alpha val="50196"/>
            </a:srgbClr>
          </a:solidFill>
          <a:ln/>
        </p:spPr>
      </p:sp>
      <p:sp>
        <p:nvSpPr>
          <p:cNvPr id="22" name="Text 20"/>
          <p:cNvSpPr/>
          <p:nvPr/>
        </p:nvSpPr>
        <p:spPr>
          <a:xfrm>
            <a:off x="762000" y="5897563"/>
            <a:ext cx="7059083" cy="296333"/>
          </a:xfrm>
          <a:prstGeom prst="rect">
            <a:avLst/>
          </a:prstGeom>
          <a:noFill/>
          <a:ln/>
        </p:spPr>
        <p:txBody>
          <a:bodyPr wrap="square" lIns="0" tIns="0" rIns="0" bIns="0" rtlCol="0" anchor="ctr"/>
          <a:lstStyle/>
          <a:p>
            <a:pPr>
              <a:lnSpc>
                <a:spcPct val="130000"/>
              </a:lnSpc>
            </a:pPr>
            <a:r>
              <a:rPr lang="en-US" sz="1500" b="1" dirty="0">
                <a:solidFill>
                  <a:srgbClr val="D1D5DB"/>
                </a:solidFill>
                <a:latin typeface="MiSans" pitchFamily="34" charset="0"/>
                <a:ea typeface="MiSans" pitchFamily="34" charset="-122"/>
                <a:cs typeface="MiSans" pitchFamily="34" charset="-120"/>
              </a:rPr>
              <a:t>LogisticRegression()</a:t>
            </a:r>
            <a:endParaRPr lang="en-US" sz="1600" dirty="0"/>
          </a:p>
        </p:txBody>
      </p:sp>
      <p:sp>
        <p:nvSpPr>
          <p:cNvPr id="23" name="Text 21"/>
          <p:cNvSpPr/>
          <p:nvPr/>
        </p:nvSpPr>
        <p:spPr>
          <a:xfrm>
            <a:off x="762000" y="6236229"/>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选择简单的线性模型作为元学习器，避免过拟合</a:t>
            </a:r>
            <a:endParaRPr lang="en-US" sz="1600" dirty="0"/>
          </a:p>
        </p:txBody>
      </p:sp>
      <p:sp>
        <p:nvSpPr>
          <p:cNvPr id="24" name="Shape 22"/>
          <p:cNvSpPr/>
          <p:nvPr/>
        </p:nvSpPr>
        <p:spPr>
          <a:xfrm>
            <a:off x="801688" y="6564313"/>
            <a:ext cx="111125" cy="148167"/>
          </a:xfrm>
          <a:custGeom>
            <a:avLst/>
            <a:gdLst/>
            <a:ahLst/>
            <a:cxnLst/>
            <a:rect l="l" t="t" r="r" b="b"/>
            <a:pathLst>
              <a:path w="111125" h="148167">
                <a:moveTo>
                  <a:pt x="84762" y="111125"/>
                </a:moveTo>
                <a:cubicBezTo>
                  <a:pt x="86874" y="104672"/>
                  <a:pt x="91099" y="98826"/>
                  <a:pt x="95874" y="93791"/>
                </a:cubicBezTo>
                <a:cubicBezTo>
                  <a:pt x="105337" y="83836"/>
                  <a:pt x="111125" y="70379"/>
                  <a:pt x="111125" y="55563"/>
                </a:cubicBezTo>
                <a:cubicBezTo>
                  <a:pt x="111125" y="24887"/>
                  <a:pt x="86238" y="0"/>
                  <a:pt x="55562" y="0"/>
                </a:cubicBezTo>
                <a:cubicBezTo>
                  <a:pt x="24887" y="0"/>
                  <a:pt x="0" y="24887"/>
                  <a:pt x="0" y="55562"/>
                </a:cubicBezTo>
                <a:cubicBezTo>
                  <a:pt x="0" y="70379"/>
                  <a:pt x="5788" y="83836"/>
                  <a:pt x="15251" y="93791"/>
                </a:cubicBezTo>
                <a:cubicBezTo>
                  <a:pt x="20026" y="98826"/>
                  <a:pt x="24280" y="104672"/>
                  <a:pt x="26363" y="111125"/>
                </a:cubicBezTo>
                <a:lnTo>
                  <a:pt x="84733" y="111125"/>
                </a:lnTo>
                <a:close/>
                <a:moveTo>
                  <a:pt x="83344" y="125016"/>
                </a:moveTo>
                <a:lnTo>
                  <a:pt x="27781" y="125016"/>
                </a:lnTo>
                <a:lnTo>
                  <a:pt x="27781" y="129646"/>
                </a:lnTo>
                <a:cubicBezTo>
                  <a:pt x="27781" y="142437"/>
                  <a:pt x="38141" y="152797"/>
                  <a:pt x="50932" y="152797"/>
                </a:cubicBezTo>
                <a:lnTo>
                  <a:pt x="60193" y="152797"/>
                </a:lnTo>
                <a:cubicBezTo>
                  <a:pt x="72984" y="152797"/>
                  <a:pt x="83344" y="142437"/>
                  <a:pt x="83344" y="129646"/>
                </a:cubicBezTo>
                <a:lnTo>
                  <a:pt x="83344" y="125016"/>
                </a:lnTo>
                <a:close/>
                <a:moveTo>
                  <a:pt x="53247" y="32411"/>
                </a:moveTo>
                <a:cubicBezTo>
                  <a:pt x="41730" y="32411"/>
                  <a:pt x="32411" y="41730"/>
                  <a:pt x="32411" y="53247"/>
                </a:cubicBezTo>
                <a:cubicBezTo>
                  <a:pt x="32411" y="57096"/>
                  <a:pt x="29315" y="60193"/>
                  <a:pt x="25466" y="60193"/>
                </a:cubicBezTo>
                <a:cubicBezTo>
                  <a:pt x="21617" y="60193"/>
                  <a:pt x="18521" y="57096"/>
                  <a:pt x="18521" y="53247"/>
                </a:cubicBezTo>
                <a:cubicBezTo>
                  <a:pt x="18521" y="34061"/>
                  <a:pt x="34061" y="18521"/>
                  <a:pt x="53247" y="18521"/>
                </a:cubicBezTo>
                <a:cubicBezTo>
                  <a:pt x="57096" y="18521"/>
                  <a:pt x="60193" y="21617"/>
                  <a:pt x="60193" y="25466"/>
                </a:cubicBezTo>
                <a:cubicBezTo>
                  <a:pt x="60193" y="29315"/>
                  <a:pt x="57096" y="32411"/>
                  <a:pt x="53247" y="32411"/>
                </a:cubicBezTo>
                <a:close/>
              </a:path>
            </a:pathLst>
          </a:custGeom>
          <a:solidFill>
            <a:srgbClr val="4C7E9A"/>
          </a:solidFill>
          <a:ln/>
        </p:spPr>
      </p:sp>
      <p:sp>
        <p:nvSpPr>
          <p:cNvPr id="25" name="Text 23"/>
          <p:cNvSpPr/>
          <p:nvPr/>
        </p:nvSpPr>
        <p:spPr>
          <a:xfrm>
            <a:off x="987778" y="6532563"/>
            <a:ext cx="6812139"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第一级预测值已具有高抽象度，简单线性组合足以提取互补信息</a:t>
            </a:r>
            <a:endParaRPr lang="en-US" sz="1600" dirty="0"/>
          </a:p>
        </p:txBody>
      </p:sp>
      <p:sp>
        <p:nvSpPr>
          <p:cNvPr id="26" name="Shape 24"/>
          <p:cNvSpPr/>
          <p:nvPr/>
        </p:nvSpPr>
        <p:spPr>
          <a:xfrm>
            <a:off x="8255000" y="1524000"/>
            <a:ext cx="7577667" cy="3217333"/>
          </a:xfrm>
          <a:custGeom>
            <a:avLst/>
            <a:gdLst/>
            <a:ahLst/>
            <a:cxnLst/>
            <a:rect l="l" t="t" r="r" b="b"/>
            <a:pathLst>
              <a:path w="7577667" h="3217333">
                <a:moveTo>
                  <a:pt x="42333" y="0"/>
                </a:moveTo>
                <a:lnTo>
                  <a:pt x="7492986" y="0"/>
                </a:lnTo>
                <a:cubicBezTo>
                  <a:pt x="7539754" y="0"/>
                  <a:pt x="7577667" y="37913"/>
                  <a:pt x="7577667" y="84680"/>
                </a:cubicBezTo>
                <a:lnTo>
                  <a:pt x="7577667" y="3132653"/>
                </a:lnTo>
                <a:cubicBezTo>
                  <a:pt x="7577667" y="3179421"/>
                  <a:pt x="7539754" y="3217333"/>
                  <a:pt x="7492986" y="3217333"/>
                </a:cubicBezTo>
                <a:lnTo>
                  <a:pt x="42333" y="3217333"/>
                </a:lnTo>
                <a:cubicBezTo>
                  <a:pt x="18953" y="3217333"/>
                  <a:pt x="0" y="3198380"/>
                  <a:pt x="0" y="3175000"/>
                </a:cubicBezTo>
                <a:lnTo>
                  <a:pt x="0" y="42333"/>
                </a:lnTo>
                <a:cubicBezTo>
                  <a:pt x="0" y="18953"/>
                  <a:pt x="18953" y="0"/>
                  <a:pt x="42333" y="0"/>
                </a:cubicBezTo>
                <a:close/>
              </a:path>
            </a:pathLst>
          </a:custGeom>
          <a:solidFill>
            <a:srgbClr val="3A5E78">
              <a:alpha val="20000"/>
            </a:srgbClr>
          </a:solidFill>
          <a:ln/>
        </p:spPr>
      </p:sp>
      <p:sp>
        <p:nvSpPr>
          <p:cNvPr id="27" name="Shape 25"/>
          <p:cNvSpPr/>
          <p:nvPr/>
        </p:nvSpPr>
        <p:spPr>
          <a:xfrm>
            <a:off x="8255000" y="1524000"/>
            <a:ext cx="42333" cy="3217333"/>
          </a:xfrm>
          <a:custGeom>
            <a:avLst/>
            <a:gdLst/>
            <a:ahLst/>
            <a:cxnLst/>
            <a:rect l="l" t="t" r="r" b="b"/>
            <a:pathLst>
              <a:path w="42333" h="3217333">
                <a:moveTo>
                  <a:pt x="42333" y="0"/>
                </a:moveTo>
                <a:lnTo>
                  <a:pt x="42333" y="0"/>
                </a:lnTo>
                <a:lnTo>
                  <a:pt x="42333" y="3217333"/>
                </a:lnTo>
                <a:lnTo>
                  <a:pt x="42333" y="3217333"/>
                </a:lnTo>
                <a:cubicBezTo>
                  <a:pt x="18953" y="3217333"/>
                  <a:pt x="0" y="3198380"/>
                  <a:pt x="0" y="3175000"/>
                </a:cubicBezTo>
                <a:lnTo>
                  <a:pt x="0" y="42333"/>
                </a:lnTo>
                <a:cubicBezTo>
                  <a:pt x="0" y="18953"/>
                  <a:pt x="18953" y="0"/>
                  <a:pt x="42333" y="0"/>
                </a:cubicBezTo>
                <a:close/>
              </a:path>
            </a:pathLst>
          </a:custGeom>
          <a:solidFill>
            <a:srgbClr val="4C7E9A"/>
          </a:solidFill>
          <a:ln/>
        </p:spPr>
      </p:sp>
      <p:sp>
        <p:nvSpPr>
          <p:cNvPr id="28" name="Text 26"/>
          <p:cNvSpPr/>
          <p:nvPr/>
        </p:nvSpPr>
        <p:spPr>
          <a:xfrm>
            <a:off x="8445500" y="1693333"/>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构建StackingClassifier</a:t>
            </a:r>
            <a:endParaRPr lang="en-US" sz="1600" dirty="0"/>
          </a:p>
        </p:txBody>
      </p:sp>
      <p:sp>
        <p:nvSpPr>
          <p:cNvPr id="29" name="Shape 27"/>
          <p:cNvSpPr/>
          <p:nvPr/>
        </p:nvSpPr>
        <p:spPr>
          <a:xfrm>
            <a:off x="8445500" y="2159000"/>
            <a:ext cx="7217833" cy="1524000"/>
          </a:xfrm>
          <a:custGeom>
            <a:avLst/>
            <a:gdLst/>
            <a:ahLst/>
            <a:cxnLst/>
            <a:rect l="l" t="t" r="r" b="b"/>
            <a:pathLst>
              <a:path w="7217833" h="1524000">
                <a:moveTo>
                  <a:pt x="42337" y="0"/>
                </a:moveTo>
                <a:lnTo>
                  <a:pt x="7175497" y="0"/>
                </a:lnTo>
                <a:cubicBezTo>
                  <a:pt x="7198879" y="0"/>
                  <a:pt x="7217833" y="18955"/>
                  <a:pt x="7217833" y="42337"/>
                </a:cubicBezTo>
                <a:lnTo>
                  <a:pt x="7217833" y="1481663"/>
                </a:lnTo>
                <a:cubicBezTo>
                  <a:pt x="7217833" y="1505045"/>
                  <a:pt x="7198879" y="1524000"/>
                  <a:pt x="7175497" y="1524000"/>
                </a:cubicBezTo>
                <a:lnTo>
                  <a:pt x="42337" y="1524000"/>
                </a:lnTo>
                <a:cubicBezTo>
                  <a:pt x="18955" y="1524000"/>
                  <a:pt x="0" y="1505045"/>
                  <a:pt x="0" y="1481663"/>
                </a:cubicBezTo>
                <a:lnTo>
                  <a:pt x="0" y="42337"/>
                </a:lnTo>
                <a:cubicBezTo>
                  <a:pt x="0" y="18955"/>
                  <a:pt x="18955" y="0"/>
                  <a:pt x="42337" y="0"/>
                </a:cubicBezTo>
                <a:close/>
              </a:path>
            </a:pathLst>
          </a:custGeom>
          <a:solidFill>
            <a:srgbClr val="181A1F">
              <a:alpha val="50196"/>
            </a:srgbClr>
          </a:solidFill>
          <a:ln/>
        </p:spPr>
      </p:sp>
      <p:sp>
        <p:nvSpPr>
          <p:cNvPr id="30" name="Text 28"/>
          <p:cNvSpPr/>
          <p:nvPr/>
        </p:nvSpPr>
        <p:spPr>
          <a:xfrm>
            <a:off x="8572500" y="2286000"/>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参数配置</a:t>
            </a:r>
            <a:endParaRPr lang="en-US" sz="1600" dirty="0"/>
          </a:p>
        </p:txBody>
      </p:sp>
      <p:sp>
        <p:nvSpPr>
          <p:cNvPr id="31" name="Text 29"/>
          <p:cNvSpPr/>
          <p:nvPr/>
        </p:nvSpPr>
        <p:spPr>
          <a:xfrm>
            <a:off x="8572500" y="2582333"/>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classifiers: 指定第一层基学习器</a:t>
            </a:r>
            <a:endParaRPr lang="en-US" sz="1600" dirty="0"/>
          </a:p>
        </p:txBody>
      </p:sp>
      <p:sp>
        <p:nvSpPr>
          <p:cNvPr id="32" name="Text 30"/>
          <p:cNvSpPr/>
          <p:nvPr/>
        </p:nvSpPr>
        <p:spPr>
          <a:xfrm>
            <a:off x="8572500" y="2836333"/>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meta_classifier: 指定第二层元学习器</a:t>
            </a:r>
            <a:endParaRPr lang="en-US" sz="1600" dirty="0"/>
          </a:p>
        </p:txBody>
      </p:sp>
      <p:sp>
        <p:nvSpPr>
          <p:cNvPr id="33" name="Text 31"/>
          <p:cNvSpPr/>
          <p:nvPr/>
        </p:nvSpPr>
        <p:spPr>
          <a:xfrm>
            <a:off x="8572500" y="3090333"/>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cv: 交叉验证折数（默认5折）</a:t>
            </a:r>
            <a:endParaRPr lang="en-US" sz="1600" dirty="0"/>
          </a:p>
        </p:txBody>
      </p:sp>
      <p:sp>
        <p:nvSpPr>
          <p:cNvPr id="34" name="Text 32"/>
          <p:cNvSpPr/>
          <p:nvPr/>
        </p:nvSpPr>
        <p:spPr>
          <a:xfrm>
            <a:off x="8572500" y="3344333"/>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use_probas: 是否使用概率预测</a:t>
            </a:r>
            <a:endParaRPr lang="en-US" sz="1600" dirty="0"/>
          </a:p>
        </p:txBody>
      </p:sp>
      <p:sp>
        <p:nvSpPr>
          <p:cNvPr id="35" name="Shape 33"/>
          <p:cNvSpPr/>
          <p:nvPr/>
        </p:nvSpPr>
        <p:spPr>
          <a:xfrm>
            <a:off x="8445500" y="3810000"/>
            <a:ext cx="7217833" cy="762000"/>
          </a:xfrm>
          <a:custGeom>
            <a:avLst/>
            <a:gdLst/>
            <a:ahLst/>
            <a:cxnLst/>
            <a:rect l="l" t="t" r="r" b="b"/>
            <a:pathLst>
              <a:path w="7217833" h="762000">
                <a:moveTo>
                  <a:pt x="42337" y="0"/>
                </a:moveTo>
                <a:lnTo>
                  <a:pt x="7175497" y="0"/>
                </a:lnTo>
                <a:cubicBezTo>
                  <a:pt x="7198879" y="0"/>
                  <a:pt x="7217833" y="18955"/>
                  <a:pt x="7217833" y="42337"/>
                </a:cubicBezTo>
                <a:lnTo>
                  <a:pt x="7217833" y="719663"/>
                </a:lnTo>
                <a:cubicBezTo>
                  <a:pt x="7217833" y="743045"/>
                  <a:pt x="7198879" y="762000"/>
                  <a:pt x="7175497" y="762000"/>
                </a:cubicBezTo>
                <a:lnTo>
                  <a:pt x="42337" y="762000"/>
                </a:lnTo>
                <a:cubicBezTo>
                  <a:pt x="18955" y="762000"/>
                  <a:pt x="0" y="743045"/>
                  <a:pt x="0" y="719663"/>
                </a:cubicBezTo>
                <a:lnTo>
                  <a:pt x="0" y="42337"/>
                </a:lnTo>
                <a:cubicBezTo>
                  <a:pt x="0" y="18955"/>
                  <a:pt x="18955" y="0"/>
                  <a:pt x="42337" y="0"/>
                </a:cubicBezTo>
                <a:close/>
              </a:path>
            </a:pathLst>
          </a:custGeom>
          <a:solidFill>
            <a:srgbClr val="181A1F">
              <a:alpha val="50196"/>
            </a:srgbClr>
          </a:solidFill>
          <a:ln/>
        </p:spPr>
      </p:sp>
      <p:sp>
        <p:nvSpPr>
          <p:cNvPr id="36" name="Text 34"/>
          <p:cNvSpPr/>
          <p:nvPr/>
        </p:nvSpPr>
        <p:spPr>
          <a:xfrm>
            <a:off x="8572500" y="3937000"/>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内部机制</a:t>
            </a:r>
            <a:endParaRPr lang="en-US" sz="1600" dirty="0"/>
          </a:p>
        </p:txBody>
      </p:sp>
      <p:sp>
        <p:nvSpPr>
          <p:cNvPr id="37" name="Text 35"/>
          <p:cNvSpPr/>
          <p:nvPr/>
        </p:nvSpPr>
        <p:spPr>
          <a:xfrm>
            <a:off x="8572500" y="4233333"/>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内部默认使用交叉验证生成元特征，有效防止数据泄露</a:t>
            </a:r>
            <a:endParaRPr lang="en-US" sz="1600" dirty="0"/>
          </a:p>
        </p:txBody>
      </p:sp>
      <p:sp>
        <p:nvSpPr>
          <p:cNvPr id="38" name="Shape 36"/>
          <p:cNvSpPr/>
          <p:nvPr/>
        </p:nvSpPr>
        <p:spPr>
          <a:xfrm>
            <a:off x="8239125" y="4915958"/>
            <a:ext cx="7588250" cy="2952750"/>
          </a:xfrm>
          <a:custGeom>
            <a:avLst/>
            <a:gdLst/>
            <a:ahLst/>
            <a:cxnLst/>
            <a:rect l="l" t="t" r="r" b="b"/>
            <a:pathLst>
              <a:path w="7588250" h="2952750">
                <a:moveTo>
                  <a:pt x="84655" y="0"/>
                </a:moveTo>
                <a:lnTo>
                  <a:pt x="7503595" y="0"/>
                </a:lnTo>
                <a:cubicBezTo>
                  <a:pt x="7550349" y="0"/>
                  <a:pt x="7588250" y="37901"/>
                  <a:pt x="7588250" y="84655"/>
                </a:cubicBezTo>
                <a:lnTo>
                  <a:pt x="7588250" y="2868095"/>
                </a:lnTo>
                <a:cubicBezTo>
                  <a:pt x="7588250" y="2914849"/>
                  <a:pt x="7550349" y="2952750"/>
                  <a:pt x="7503595" y="2952750"/>
                </a:cubicBezTo>
                <a:lnTo>
                  <a:pt x="84655" y="2952750"/>
                </a:lnTo>
                <a:cubicBezTo>
                  <a:pt x="37901" y="2952750"/>
                  <a:pt x="0" y="2914849"/>
                  <a:pt x="0" y="2868095"/>
                </a:cubicBezTo>
                <a:lnTo>
                  <a:pt x="0" y="84655"/>
                </a:lnTo>
                <a:cubicBezTo>
                  <a:pt x="0" y="37901"/>
                  <a:pt x="37901" y="0"/>
                  <a:pt x="84655" y="0"/>
                </a:cubicBezTo>
                <a:close/>
              </a:path>
            </a:pathLst>
          </a:custGeom>
          <a:solidFill>
            <a:srgbClr val="3A5E78">
              <a:alpha val="20000"/>
            </a:srgbClr>
          </a:solidFill>
          <a:ln w="12700">
            <a:solidFill>
              <a:srgbClr val="4C7E9A">
                <a:alpha val="50196"/>
              </a:srgbClr>
            </a:solidFill>
            <a:prstDash val="solid"/>
          </a:ln>
        </p:spPr>
      </p:sp>
      <p:sp>
        <p:nvSpPr>
          <p:cNvPr id="39" name="Text 37"/>
          <p:cNvSpPr/>
          <p:nvPr/>
        </p:nvSpPr>
        <p:spPr>
          <a:xfrm>
            <a:off x="8413750" y="5090583"/>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性能对比</a:t>
            </a:r>
            <a:endParaRPr lang="en-US" sz="1600" dirty="0"/>
          </a:p>
        </p:txBody>
      </p:sp>
      <p:sp>
        <p:nvSpPr>
          <p:cNvPr id="40" name="Shape 38"/>
          <p:cNvSpPr/>
          <p:nvPr/>
        </p:nvSpPr>
        <p:spPr>
          <a:xfrm>
            <a:off x="8413750" y="5556250"/>
            <a:ext cx="7239000" cy="465667"/>
          </a:xfrm>
          <a:custGeom>
            <a:avLst/>
            <a:gdLst/>
            <a:ahLst/>
            <a:cxnLst/>
            <a:rect l="l" t="t" r="r" b="b"/>
            <a:pathLst>
              <a:path w="7239000" h="465667">
                <a:moveTo>
                  <a:pt x="42334" y="0"/>
                </a:moveTo>
                <a:lnTo>
                  <a:pt x="7196666" y="0"/>
                </a:lnTo>
                <a:cubicBezTo>
                  <a:pt x="7220047" y="0"/>
                  <a:pt x="7239000" y="18953"/>
                  <a:pt x="7239000" y="42334"/>
                </a:cubicBezTo>
                <a:lnTo>
                  <a:pt x="7239000" y="423333"/>
                </a:lnTo>
                <a:cubicBezTo>
                  <a:pt x="7239000" y="446713"/>
                  <a:pt x="7220047" y="465667"/>
                  <a:pt x="7196666" y="465667"/>
                </a:cubicBezTo>
                <a:lnTo>
                  <a:pt x="42334" y="465667"/>
                </a:lnTo>
                <a:cubicBezTo>
                  <a:pt x="18953" y="465667"/>
                  <a:pt x="0" y="446713"/>
                  <a:pt x="0" y="423333"/>
                </a:cubicBezTo>
                <a:lnTo>
                  <a:pt x="0" y="42334"/>
                </a:lnTo>
                <a:cubicBezTo>
                  <a:pt x="0" y="18953"/>
                  <a:pt x="18953" y="0"/>
                  <a:pt x="42334" y="0"/>
                </a:cubicBezTo>
                <a:close/>
              </a:path>
            </a:pathLst>
          </a:custGeom>
          <a:solidFill>
            <a:srgbClr val="181A1F">
              <a:alpha val="50196"/>
            </a:srgbClr>
          </a:solidFill>
          <a:ln/>
        </p:spPr>
      </p:sp>
      <p:sp>
        <p:nvSpPr>
          <p:cNvPr id="41" name="Text 39"/>
          <p:cNvSpPr/>
          <p:nvPr/>
        </p:nvSpPr>
        <p:spPr>
          <a:xfrm>
            <a:off x="8498417" y="5662083"/>
            <a:ext cx="444500" cy="254000"/>
          </a:xfrm>
          <a:prstGeom prst="rect">
            <a:avLst/>
          </a:prstGeom>
          <a:noFill/>
          <a:ln/>
        </p:spPr>
        <p:txBody>
          <a:bodyPr wrap="square" lIns="0" tIns="0" rIns="0" bIns="0" rtlCol="0" anchor="ctr"/>
          <a:lstStyle/>
          <a:p>
            <a:pPr>
              <a:lnSpc>
                <a:spcPct val="130000"/>
              </a:lnSpc>
            </a:pPr>
            <a:r>
              <a:rPr lang="en-US" sz="1333" dirty="0">
                <a:solidFill>
                  <a:srgbClr val="D1D5DB"/>
                </a:solidFill>
                <a:latin typeface="MiSans" pitchFamily="34" charset="0"/>
                <a:ea typeface="MiSans" pitchFamily="34" charset="-122"/>
                <a:cs typeface="MiSans" pitchFamily="34" charset="-120"/>
              </a:rPr>
              <a:t>KNN</a:t>
            </a:r>
            <a:endParaRPr lang="en-US" sz="1600" dirty="0"/>
          </a:p>
        </p:txBody>
      </p:sp>
      <p:sp>
        <p:nvSpPr>
          <p:cNvPr id="42" name="Text 40"/>
          <p:cNvSpPr/>
          <p:nvPr/>
        </p:nvSpPr>
        <p:spPr>
          <a:xfrm>
            <a:off x="15009482" y="5640917"/>
            <a:ext cx="656167" cy="296333"/>
          </a:xfrm>
          <a:prstGeom prst="rect">
            <a:avLst/>
          </a:prstGeom>
          <a:noFill/>
          <a:ln/>
        </p:spPr>
        <p:txBody>
          <a:bodyPr wrap="square" lIns="0" tIns="0" rIns="0" bIns="0" rtlCol="0" anchor="ctr"/>
          <a:lstStyle/>
          <a:p>
            <a:pPr>
              <a:lnSpc>
                <a:spcPct val="130000"/>
              </a:lnSpc>
            </a:pPr>
            <a:r>
              <a:rPr lang="en-US" sz="1500" b="1" dirty="0">
                <a:solidFill>
                  <a:srgbClr val="7E9AA8"/>
                </a:solidFill>
                <a:latin typeface="MiSans" pitchFamily="34" charset="0"/>
                <a:ea typeface="MiSans" pitchFamily="34" charset="-122"/>
                <a:cs typeface="MiSans" pitchFamily="34" charset="-120"/>
              </a:rPr>
              <a:t>90.0%</a:t>
            </a:r>
            <a:endParaRPr lang="en-US" sz="1600" dirty="0"/>
          </a:p>
        </p:txBody>
      </p:sp>
      <p:sp>
        <p:nvSpPr>
          <p:cNvPr id="43" name="Shape 41"/>
          <p:cNvSpPr/>
          <p:nvPr/>
        </p:nvSpPr>
        <p:spPr>
          <a:xfrm>
            <a:off x="8413750" y="6106583"/>
            <a:ext cx="7239000" cy="465667"/>
          </a:xfrm>
          <a:custGeom>
            <a:avLst/>
            <a:gdLst/>
            <a:ahLst/>
            <a:cxnLst/>
            <a:rect l="l" t="t" r="r" b="b"/>
            <a:pathLst>
              <a:path w="7239000" h="465667">
                <a:moveTo>
                  <a:pt x="42334" y="0"/>
                </a:moveTo>
                <a:lnTo>
                  <a:pt x="7196666" y="0"/>
                </a:lnTo>
                <a:cubicBezTo>
                  <a:pt x="7220047" y="0"/>
                  <a:pt x="7239000" y="18953"/>
                  <a:pt x="7239000" y="42334"/>
                </a:cubicBezTo>
                <a:lnTo>
                  <a:pt x="7239000" y="423333"/>
                </a:lnTo>
                <a:cubicBezTo>
                  <a:pt x="7239000" y="446713"/>
                  <a:pt x="7220047" y="465667"/>
                  <a:pt x="7196666" y="465667"/>
                </a:cubicBezTo>
                <a:lnTo>
                  <a:pt x="42334" y="465667"/>
                </a:lnTo>
                <a:cubicBezTo>
                  <a:pt x="18953" y="465667"/>
                  <a:pt x="0" y="446713"/>
                  <a:pt x="0" y="423333"/>
                </a:cubicBezTo>
                <a:lnTo>
                  <a:pt x="0" y="42334"/>
                </a:lnTo>
                <a:cubicBezTo>
                  <a:pt x="0" y="18953"/>
                  <a:pt x="18953" y="0"/>
                  <a:pt x="42334" y="0"/>
                </a:cubicBezTo>
                <a:close/>
              </a:path>
            </a:pathLst>
          </a:custGeom>
          <a:solidFill>
            <a:srgbClr val="181A1F">
              <a:alpha val="50196"/>
            </a:srgbClr>
          </a:solidFill>
          <a:ln/>
        </p:spPr>
      </p:sp>
      <p:sp>
        <p:nvSpPr>
          <p:cNvPr id="44" name="Text 42"/>
          <p:cNvSpPr/>
          <p:nvPr/>
        </p:nvSpPr>
        <p:spPr>
          <a:xfrm>
            <a:off x="8498417" y="6212417"/>
            <a:ext cx="762000" cy="254000"/>
          </a:xfrm>
          <a:prstGeom prst="rect">
            <a:avLst/>
          </a:prstGeom>
          <a:noFill/>
          <a:ln/>
        </p:spPr>
        <p:txBody>
          <a:bodyPr wrap="square" lIns="0" tIns="0" rIns="0" bIns="0" rtlCol="0" anchor="ctr"/>
          <a:lstStyle/>
          <a:p>
            <a:pPr>
              <a:lnSpc>
                <a:spcPct val="130000"/>
              </a:lnSpc>
            </a:pPr>
            <a:r>
              <a:rPr lang="en-US" sz="1333" dirty="0">
                <a:solidFill>
                  <a:srgbClr val="D1D5DB"/>
                </a:solidFill>
                <a:latin typeface="MiSans" pitchFamily="34" charset="0"/>
                <a:ea typeface="MiSans" pitchFamily="34" charset="-122"/>
                <a:cs typeface="MiSans" pitchFamily="34" charset="-120"/>
              </a:rPr>
              <a:t>随机森林</a:t>
            </a:r>
            <a:endParaRPr lang="en-US" sz="1600" dirty="0"/>
          </a:p>
        </p:txBody>
      </p:sp>
      <p:sp>
        <p:nvSpPr>
          <p:cNvPr id="45" name="Text 43"/>
          <p:cNvSpPr/>
          <p:nvPr/>
        </p:nvSpPr>
        <p:spPr>
          <a:xfrm>
            <a:off x="15024365" y="6191250"/>
            <a:ext cx="635000" cy="296333"/>
          </a:xfrm>
          <a:prstGeom prst="rect">
            <a:avLst/>
          </a:prstGeom>
          <a:noFill/>
          <a:ln/>
        </p:spPr>
        <p:txBody>
          <a:bodyPr wrap="square" lIns="0" tIns="0" rIns="0" bIns="0" rtlCol="0" anchor="ctr"/>
          <a:lstStyle/>
          <a:p>
            <a:pPr>
              <a:lnSpc>
                <a:spcPct val="130000"/>
              </a:lnSpc>
            </a:pPr>
            <a:r>
              <a:rPr lang="en-US" sz="1500" b="1" dirty="0">
                <a:solidFill>
                  <a:srgbClr val="7E9AA8"/>
                </a:solidFill>
                <a:latin typeface="MiSans" pitchFamily="34" charset="0"/>
                <a:ea typeface="MiSans" pitchFamily="34" charset="-122"/>
                <a:cs typeface="MiSans" pitchFamily="34" charset="-120"/>
              </a:rPr>
              <a:t>93.3%</a:t>
            </a:r>
            <a:endParaRPr lang="en-US" sz="1600" dirty="0"/>
          </a:p>
        </p:txBody>
      </p:sp>
      <p:sp>
        <p:nvSpPr>
          <p:cNvPr id="46" name="Shape 44"/>
          <p:cNvSpPr/>
          <p:nvPr/>
        </p:nvSpPr>
        <p:spPr>
          <a:xfrm>
            <a:off x="8413750" y="6656917"/>
            <a:ext cx="7239000" cy="465667"/>
          </a:xfrm>
          <a:custGeom>
            <a:avLst/>
            <a:gdLst/>
            <a:ahLst/>
            <a:cxnLst/>
            <a:rect l="l" t="t" r="r" b="b"/>
            <a:pathLst>
              <a:path w="7239000" h="465667">
                <a:moveTo>
                  <a:pt x="42334" y="0"/>
                </a:moveTo>
                <a:lnTo>
                  <a:pt x="7196666" y="0"/>
                </a:lnTo>
                <a:cubicBezTo>
                  <a:pt x="7220047" y="0"/>
                  <a:pt x="7239000" y="18953"/>
                  <a:pt x="7239000" y="42334"/>
                </a:cubicBezTo>
                <a:lnTo>
                  <a:pt x="7239000" y="423333"/>
                </a:lnTo>
                <a:cubicBezTo>
                  <a:pt x="7239000" y="446713"/>
                  <a:pt x="7220047" y="465667"/>
                  <a:pt x="7196666" y="465667"/>
                </a:cubicBezTo>
                <a:lnTo>
                  <a:pt x="42334" y="465667"/>
                </a:lnTo>
                <a:cubicBezTo>
                  <a:pt x="18953" y="465667"/>
                  <a:pt x="0" y="446713"/>
                  <a:pt x="0" y="423333"/>
                </a:cubicBezTo>
                <a:lnTo>
                  <a:pt x="0" y="42334"/>
                </a:lnTo>
                <a:cubicBezTo>
                  <a:pt x="0" y="18953"/>
                  <a:pt x="18953" y="0"/>
                  <a:pt x="42334" y="0"/>
                </a:cubicBezTo>
                <a:close/>
              </a:path>
            </a:pathLst>
          </a:custGeom>
          <a:solidFill>
            <a:srgbClr val="181A1F">
              <a:alpha val="50196"/>
            </a:srgbClr>
          </a:solidFill>
          <a:ln/>
        </p:spPr>
      </p:sp>
      <p:sp>
        <p:nvSpPr>
          <p:cNvPr id="47" name="Text 45"/>
          <p:cNvSpPr/>
          <p:nvPr/>
        </p:nvSpPr>
        <p:spPr>
          <a:xfrm>
            <a:off x="8498417" y="6762750"/>
            <a:ext cx="931333" cy="254000"/>
          </a:xfrm>
          <a:prstGeom prst="rect">
            <a:avLst/>
          </a:prstGeom>
          <a:noFill/>
          <a:ln/>
        </p:spPr>
        <p:txBody>
          <a:bodyPr wrap="square" lIns="0" tIns="0" rIns="0" bIns="0" rtlCol="0" anchor="ctr"/>
          <a:lstStyle/>
          <a:p>
            <a:pPr>
              <a:lnSpc>
                <a:spcPct val="130000"/>
              </a:lnSpc>
            </a:pPr>
            <a:r>
              <a:rPr lang="en-US" sz="1333" dirty="0">
                <a:solidFill>
                  <a:srgbClr val="D1D5DB"/>
                </a:solidFill>
                <a:latin typeface="MiSans" pitchFamily="34" charset="0"/>
                <a:ea typeface="MiSans" pitchFamily="34" charset="-122"/>
                <a:cs typeface="MiSans" pitchFamily="34" charset="-120"/>
              </a:rPr>
              <a:t>朴素贝叶斯</a:t>
            </a:r>
            <a:endParaRPr lang="en-US" sz="1600" dirty="0"/>
          </a:p>
        </p:txBody>
      </p:sp>
      <p:sp>
        <p:nvSpPr>
          <p:cNvPr id="48" name="Text 46"/>
          <p:cNvSpPr/>
          <p:nvPr/>
        </p:nvSpPr>
        <p:spPr>
          <a:xfrm>
            <a:off x="15029904" y="6741583"/>
            <a:ext cx="635000" cy="296333"/>
          </a:xfrm>
          <a:prstGeom prst="rect">
            <a:avLst/>
          </a:prstGeom>
          <a:noFill/>
          <a:ln/>
        </p:spPr>
        <p:txBody>
          <a:bodyPr wrap="square" lIns="0" tIns="0" rIns="0" bIns="0" rtlCol="0" anchor="ctr"/>
          <a:lstStyle/>
          <a:p>
            <a:pPr>
              <a:lnSpc>
                <a:spcPct val="130000"/>
              </a:lnSpc>
            </a:pPr>
            <a:r>
              <a:rPr lang="en-US" sz="1500" b="1" dirty="0">
                <a:solidFill>
                  <a:srgbClr val="7E9AA8"/>
                </a:solidFill>
                <a:latin typeface="MiSans" pitchFamily="34" charset="0"/>
                <a:ea typeface="MiSans" pitchFamily="34" charset="-122"/>
                <a:cs typeface="MiSans" pitchFamily="34" charset="-120"/>
              </a:rPr>
              <a:t>86.7%</a:t>
            </a:r>
            <a:endParaRPr lang="en-US" sz="1600" dirty="0"/>
          </a:p>
        </p:txBody>
      </p:sp>
      <p:sp>
        <p:nvSpPr>
          <p:cNvPr id="49" name="Shape 47"/>
          <p:cNvSpPr/>
          <p:nvPr/>
        </p:nvSpPr>
        <p:spPr>
          <a:xfrm>
            <a:off x="8419042" y="7212542"/>
            <a:ext cx="7228417" cy="476250"/>
          </a:xfrm>
          <a:custGeom>
            <a:avLst/>
            <a:gdLst/>
            <a:ahLst/>
            <a:cxnLst/>
            <a:rect l="l" t="t" r="r" b="b"/>
            <a:pathLst>
              <a:path w="7228417" h="476250">
                <a:moveTo>
                  <a:pt x="42334" y="0"/>
                </a:moveTo>
                <a:lnTo>
                  <a:pt x="7186083" y="0"/>
                </a:lnTo>
                <a:cubicBezTo>
                  <a:pt x="7209463" y="0"/>
                  <a:pt x="7228417" y="18954"/>
                  <a:pt x="7228417" y="42334"/>
                </a:cubicBezTo>
                <a:lnTo>
                  <a:pt x="7228417" y="433916"/>
                </a:lnTo>
                <a:cubicBezTo>
                  <a:pt x="7228417" y="457296"/>
                  <a:pt x="7209463" y="476250"/>
                  <a:pt x="7186083" y="476250"/>
                </a:cubicBezTo>
                <a:lnTo>
                  <a:pt x="42334" y="476250"/>
                </a:lnTo>
                <a:cubicBezTo>
                  <a:pt x="18954" y="476250"/>
                  <a:pt x="0" y="457296"/>
                  <a:pt x="0" y="433916"/>
                </a:cubicBezTo>
                <a:lnTo>
                  <a:pt x="0" y="42334"/>
                </a:lnTo>
                <a:cubicBezTo>
                  <a:pt x="0" y="18969"/>
                  <a:pt x="18969" y="0"/>
                  <a:pt x="42334" y="0"/>
                </a:cubicBezTo>
                <a:close/>
              </a:path>
            </a:pathLst>
          </a:custGeom>
          <a:solidFill>
            <a:srgbClr val="4C7E9A">
              <a:alpha val="20000"/>
            </a:srgbClr>
          </a:solidFill>
          <a:ln w="12700">
            <a:solidFill>
              <a:srgbClr val="4C7E9A"/>
            </a:solidFill>
            <a:prstDash val="solid"/>
          </a:ln>
        </p:spPr>
      </p:sp>
      <p:sp>
        <p:nvSpPr>
          <p:cNvPr id="50" name="Text 48"/>
          <p:cNvSpPr/>
          <p:nvPr/>
        </p:nvSpPr>
        <p:spPr>
          <a:xfrm>
            <a:off x="8509000" y="7323667"/>
            <a:ext cx="751417"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Stacking</a:t>
            </a:r>
            <a:endParaRPr lang="en-US" sz="1600" dirty="0"/>
          </a:p>
        </p:txBody>
      </p:sp>
      <p:sp>
        <p:nvSpPr>
          <p:cNvPr id="51" name="Text 49"/>
          <p:cNvSpPr/>
          <p:nvPr/>
        </p:nvSpPr>
        <p:spPr>
          <a:xfrm>
            <a:off x="14965412" y="7302500"/>
            <a:ext cx="698500" cy="296333"/>
          </a:xfrm>
          <a:prstGeom prst="rect">
            <a:avLst/>
          </a:prstGeom>
          <a:noFill/>
          <a:ln/>
        </p:spPr>
        <p:txBody>
          <a:bodyPr wrap="square" lIns="0" tIns="0" rIns="0" bIns="0" rtlCol="0" anchor="ctr"/>
          <a:lstStyle/>
          <a:p>
            <a:pPr>
              <a:lnSpc>
                <a:spcPct val="120000"/>
              </a:lnSpc>
            </a:pPr>
            <a:r>
              <a:rPr lang="en-US" sz="1667" b="1" dirty="0">
                <a:solidFill>
                  <a:srgbClr val="4C7E9A"/>
                </a:solidFill>
                <a:latin typeface="MiSans" pitchFamily="34" charset="0"/>
                <a:ea typeface="MiSans" pitchFamily="34" charset="-122"/>
                <a:cs typeface="MiSans" pitchFamily="34" charset="-120"/>
              </a:rPr>
              <a:t>96.7%</a:t>
            </a:r>
            <a:endParaRPr lang="en-US" sz="1600" dirty="0"/>
          </a:p>
        </p:txBody>
      </p:sp>
      <p:sp>
        <p:nvSpPr>
          <p:cNvPr id="52" name="Shape 50"/>
          <p:cNvSpPr/>
          <p:nvPr/>
        </p:nvSpPr>
        <p:spPr>
          <a:xfrm>
            <a:off x="428625" y="8048625"/>
            <a:ext cx="15398750" cy="1280583"/>
          </a:xfrm>
          <a:custGeom>
            <a:avLst/>
            <a:gdLst/>
            <a:ahLst/>
            <a:cxnLst/>
            <a:rect l="l" t="t" r="r" b="b"/>
            <a:pathLst>
              <a:path w="15398750" h="1280583">
                <a:moveTo>
                  <a:pt x="84672" y="0"/>
                </a:moveTo>
                <a:lnTo>
                  <a:pt x="15314078" y="0"/>
                </a:lnTo>
                <a:cubicBezTo>
                  <a:pt x="15360841" y="0"/>
                  <a:pt x="15398750" y="37909"/>
                  <a:pt x="15398750" y="84672"/>
                </a:cubicBezTo>
                <a:lnTo>
                  <a:pt x="15398750" y="1195911"/>
                </a:lnTo>
                <a:cubicBezTo>
                  <a:pt x="15398750" y="1242674"/>
                  <a:pt x="15360841" y="1280583"/>
                  <a:pt x="15314078" y="1280583"/>
                </a:cubicBezTo>
                <a:lnTo>
                  <a:pt x="84672" y="1280583"/>
                </a:lnTo>
                <a:cubicBezTo>
                  <a:pt x="37909" y="1280583"/>
                  <a:pt x="0" y="1242674"/>
                  <a:pt x="0" y="1195911"/>
                </a:cubicBezTo>
                <a:lnTo>
                  <a:pt x="0" y="84672"/>
                </a:lnTo>
                <a:cubicBezTo>
                  <a:pt x="0" y="37940"/>
                  <a:pt x="37940" y="0"/>
                  <a:pt x="84672" y="0"/>
                </a:cubicBezTo>
                <a:close/>
              </a:path>
            </a:pathLst>
          </a:custGeom>
          <a:solidFill>
            <a:srgbClr val="4C7E9A">
              <a:alpha val="10196"/>
            </a:srgbClr>
          </a:solidFill>
          <a:ln w="12700">
            <a:solidFill>
              <a:srgbClr val="4C7E9A">
                <a:alpha val="30196"/>
              </a:srgbClr>
            </a:solidFill>
            <a:prstDash val="solid"/>
          </a:ln>
        </p:spPr>
      </p:sp>
      <p:sp>
        <p:nvSpPr>
          <p:cNvPr id="53" name="Shape 51"/>
          <p:cNvSpPr/>
          <p:nvPr/>
        </p:nvSpPr>
        <p:spPr>
          <a:xfrm>
            <a:off x="645583" y="8223250"/>
            <a:ext cx="317500" cy="317500"/>
          </a:xfrm>
          <a:custGeom>
            <a:avLst/>
            <a:gdLst/>
            <a:ahLst/>
            <a:cxnLst/>
            <a:rect l="l" t="t" r="r" b="b"/>
            <a:pathLst>
              <a:path w="317500" h="317500">
                <a:moveTo>
                  <a:pt x="39688" y="39688"/>
                </a:moveTo>
                <a:cubicBezTo>
                  <a:pt x="39688" y="28711"/>
                  <a:pt x="30820" y="19844"/>
                  <a:pt x="19844" y="19844"/>
                </a:cubicBezTo>
                <a:cubicBezTo>
                  <a:pt x="8868" y="19844"/>
                  <a:pt x="0" y="28711"/>
                  <a:pt x="0" y="39688"/>
                </a:cubicBezTo>
                <a:lnTo>
                  <a:pt x="0" y="248047"/>
                </a:lnTo>
                <a:cubicBezTo>
                  <a:pt x="0" y="275456"/>
                  <a:pt x="22200" y="297656"/>
                  <a:pt x="49609" y="297656"/>
                </a:cubicBezTo>
                <a:lnTo>
                  <a:pt x="297656" y="297656"/>
                </a:lnTo>
                <a:cubicBezTo>
                  <a:pt x="308632" y="297656"/>
                  <a:pt x="317500" y="288789"/>
                  <a:pt x="317500" y="277813"/>
                </a:cubicBezTo>
                <a:cubicBezTo>
                  <a:pt x="317500" y="266836"/>
                  <a:pt x="308632" y="257969"/>
                  <a:pt x="297656" y="257969"/>
                </a:cubicBezTo>
                <a:lnTo>
                  <a:pt x="49609" y="257969"/>
                </a:lnTo>
                <a:cubicBezTo>
                  <a:pt x="44152" y="257969"/>
                  <a:pt x="39688" y="253504"/>
                  <a:pt x="39688" y="248047"/>
                </a:cubicBezTo>
                <a:lnTo>
                  <a:pt x="39688" y="39688"/>
                </a:lnTo>
                <a:close/>
                <a:moveTo>
                  <a:pt x="291827" y="93390"/>
                </a:moveTo>
                <a:cubicBezTo>
                  <a:pt x="299579" y="85638"/>
                  <a:pt x="299579" y="73050"/>
                  <a:pt x="291827" y="65298"/>
                </a:cubicBezTo>
                <a:cubicBezTo>
                  <a:pt x="284076" y="57547"/>
                  <a:pt x="271487" y="57547"/>
                  <a:pt x="263736" y="65298"/>
                </a:cubicBezTo>
                <a:lnTo>
                  <a:pt x="198438" y="130659"/>
                </a:lnTo>
                <a:lnTo>
                  <a:pt x="162843" y="95126"/>
                </a:lnTo>
                <a:cubicBezTo>
                  <a:pt x="155091" y="87375"/>
                  <a:pt x="142503" y="87375"/>
                  <a:pt x="134751" y="95126"/>
                </a:cubicBezTo>
                <a:lnTo>
                  <a:pt x="75220" y="154657"/>
                </a:lnTo>
                <a:cubicBezTo>
                  <a:pt x="67469" y="162409"/>
                  <a:pt x="67469" y="174997"/>
                  <a:pt x="75220" y="182749"/>
                </a:cubicBezTo>
                <a:cubicBezTo>
                  <a:pt x="82972" y="190500"/>
                  <a:pt x="95560" y="190500"/>
                  <a:pt x="103312" y="182749"/>
                </a:cubicBezTo>
                <a:lnTo>
                  <a:pt x="148828" y="137232"/>
                </a:lnTo>
                <a:lnTo>
                  <a:pt x="184423" y="172827"/>
                </a:lnTo>
                <a:cubicBezTo>
                  <a:pt x="192174" y="180578"/>
                  <a:pt x="204763" y="180578"/>
                  <a:pt x="212514" y="172827"/>
                </a:cubicBezTo>
                <a:lnTo>
                  <a:pt x="291889" y="93452"/>
                </a:lnTo>
                <a:close/>
              </a:path>
            </a:pathLst>
          </a:custGeom>
          <a:solidFill>
            <a:srgbClr val="4C7E9A"/>
          </a:solidFill>
          <a:ln/>
        </p:spPr>
      </p:sp>
      <p:sp>
        <p:nvSpPr>
          <p:cNvPr id="54" name="Text 52"/>
          <p:cNvSpPr/>
          <p:nvPr/>
        </p:nvSpPr>
        <p:spPr>
          <a:xfrm>
            <a:off x="1169458" y="8223250"/>
            <a:ext cx="14594417"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性能提升分析</a:t>
            </a:r>
            <a:endParaRPr lang="en-US" sz="1600" dirty="0"/>
          </a:p>
        </p:txBody>
      </p:sp>
      <p:sp>
        <p:nvSpPr>
          <p:cNvPr id="55" name="Text 53"/>
          <p:cNvSpPr/>
          <p:nvPr/>
        </p:nvSpPr>
        <p:spPr>
          <a:xfrm>
            <a:off x="1169458" y="8604250"/>
            <a:ext cx="14573250" cy="550333"/>
          </a:xfrm>
          <a:prstGeom prst="rect">
            <a:avLst/>
          </a:prstGeom>
          <a:noFill/>
          <a:ln/>
        </p:spPr>
        <p:txBody>
          <a:bodyPr wrap="square" lIns="0" tIns="0" rIns="0" bIns="0" rtlCol="0" anchor="ctr"/>
          <a:lstStyle/>
          <a:p>
            <a:pPr>
              <a:lnSpc>
                <a:spcPct val="140000"/>
              </a:lnSpc>
            </a:pPr>
            <a:r>
              <a:rPr lang="en-US" sz="1333" dirty="0">
                <a:solidFill>
                  <a:srgbClr val="7E9AA8"/>
                </a:solidFill>
                <a:latin typeface="MiSans" pitchFamily="34" charset="0"/>
                <a:ea typeface="MiSans" pitchFamily="34" charset="-122"/>
                <a:cs typeface="MiSans" pitchFamily="34" charset="-120"/>
              </a:rPr>
              <a:t>通过交叉验证对比单模型与集成模型性能，Stacking分类器准确率</a:t>
            </a:r>
            <a:pPr>
              <a:lnSpc>
                <a:spcPct val="140000"/>
              </a:lnSpc>
            </a:pPr>
            <a:r>
              <a:rPr lang="en-US" sz="1333" b="1" dirty="0">
                <a:solidFill>
                  <a:srgbClr val="4C7E9A"/>
                </a:solidFill>
                <a:latin typeface="MiSans" pitchFamily="34" charset="0"/>
                <a:ea typeface="MiSans" pitchFamily="34" charset="-122"/>
                <a:cs typeface="MiSans" pitchFamily="34" charset="-120"/>
              </a:rPr>
              <a:t>显著高于</a:t>
            </a:r>
            <a:pPr>
              <a:lnSpc>
                <a:spcPct val="140000"/>
              </a:lnSpc>
            </a:pPr>
            <a:r>
              <a:rPr lang="en-US" sz="1333" dirty="0">
                <a:solidFill>
                  <a:srgbClr val="7E9AA8"/>
                </a:solidFill>
                <a:latin typeface="MiSans" pitchFamily="34" charset="0"/>
                <a:ea typeface="MiSans" pitchFamily="34" charset="-122"/>
                <a:cs typeface="MiSans" pitchFamily="34" charset="-120"/>
              </a:rPr>
              <a:t>任何单一基模型。决策边界可视化显示Stacking如何融合不同模型的决策边界形成更复杂的分类面，从而提升整体性能。</a:t>
            </a:r>
            <a:endParaRPr lang="en-US" sz="1600" dirty="0"/>
          </a:p>
        </p:txBody>
      </p:sp>
    </p:spTree>
  </p:cSld>
  <p:clrMapOvr>
    <a:masterClrMapping/>
  </p:clrMapOvr>
  <p:transition>
    <p:fade/>
    <p:spd val="med"/>
  </p:transition>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23333" y="423333"/>
            <a:ext cx="15494000" cy="254000"/>
          </a:xfrm>
          <a:prstGeom prst="rect">
            <a:avLst/>
          </a:prstGeom>
          <a:noFill/>
          <a:ln/>
        </p:spPr>
        <p:txBody>
          <a:bodyPr wrap="square" lIns="0" tIns="0" rIns="0" bIns="0" rtlCol="0" anchor="ctr"/>
          <a:lstStyle/>
          <a:p>
            <a:pPr>
              <a:lnSpc>
                <a:spcPct val="130000"/>
              </a:lnSpc>
            </a:pPr>
            <a:r>
              <a:rPr lang="en-US" sz="1333" b="1" spc="67" kern="0" dirty="0">
                <a:solidFill>
                  <a:srgbClr val="7E9AA8"/>
                </a:solidFill>
                <a:latin typeface="MiSans" pitchFamily="34" charset="0"/>
                <a:ea typeface="MiSans" pitchFamily="34" charset="-122"/>
                <a:cs typeface="MiSans" pitchFamily="34" charset="-120"/>
              </a:rPr>
              <a:t>STACKING</a:t>
            </a:r>
            <a:endParaRPr lang="en-US" sz="1600" dirty="0"/>
          </a:p>
        </p:txBody>
      </p:sp>
      <p:sp>
        <p:nvSpPr>
          <p:cNvPr id="3" name="Text 1"/>
          <p:cNvSpPr/>
          <p:nvPr/>
        </p:nvSpPr>
        <p:spPr>
          <a:xfrm>
            <a:off x="423333" y="762000"/>
            <a:ext cx="15599833" cy="423333"/>
          </a:xfrm>
          <a:prstGeom prst="rect">
            <a:avLst/>
          </a:prstGeom>
          <a:noFill/>
          <a:ln/>
        </p:spPr>
        <p:txBody>
          <a:bodyPr wrap="square" lIns="0" tIns="0" rIns="0" bIns="0" rtlCol="0" anchor="ctr"/>
          <a:lstStyle/>
          <a:p>
            <a:pPr>
              <a:lnSpc>
                <a:spcPct val="90000"/>
              </a:lnSpc>
            </a:pPr>
            <a:r>
              <a:rPr lang="en-US" sz="3000" b="1" dirty="0">
                <a:solidFill>
                  <a:srgbClr val="D1D5DB"/>
                </a:solidFill>
                <a:latin typeface="阿里妈妈数黑体" pitchFamily="34" charset="0"/>
                <a:ea typeface="阿里妈妈数黑体" pitchFamily="34" charset="-122"/>
                <a:cs typeface="阿里妈妈数黑体" pitchFamily="34" charset="-120"/>
              </a:rPr>
              <a:t>实战案例二：心脏病预测</a:t>
            </a:r>
            <a:endParaRPr lang="en-US" sz="1600" dirty="0"/>
          </a:p>
        </p:txBody>
      </p:sp>
      <p:sp>
        <p:nvSpPr>
          <p:cNvPr id="4" name="Shape 2"/>
          <p:cNvSpPr/>
          <p:nvPr/>
        </p:nvSpPr>
        <p:spPr>
          <a:xfrm>
            <a:off x="423333" y="1312333"/>
            <a:ext cx="1016000" cy="42333"/>
          </a:xfrm>
          <a:custGeom>
            <a:avLst/>
            <a:gdLst/>
            <a:ahLst/>
            <a:cxnLst/>
            <a:rect l="l" t="t" r="r" b="b"/>
            <a:pathLst>
              <a:path w="1016000" h="42333">
                <a:moveTo>
                  <a:pt x="0" y="0"/>
                </a:moveTo>
                <a:lnTo>
                  <a:pt x="1016000" y="0"/>
                </a:lnTo>
                <a:lnTo>
                  <a:pt x="1016000" y="42333"/>
                </a:lnTo>
                <a:lnTo>
                  <a:pt x="0" y="42333"/>
                </a:lnTo>
                <a:lnTo>
                  <a:pt x="0" y="0"/>
                </a:lnTo>
                <a:close/>
              </a:path>
            </a:pathLst>
          </a:custGeom>
          <a:solidFill>
            <a:srgbClr val="4C7E9A"/>
          </a:solidFill>
          <a:ln/>
        </p:spPr>
      </p:sp>
      <p:sp>
        <p:nvSpPr>
          <p:cNvPr id="5" name="Shape 3"/>
          <p:cNvSpPr/>
          <p:nvPr/>
        </p:nvSpPr>
        <p:spPr>
          <a:xfrm>
            <a:off x="444500" y="1524000"/>
            <a:ext cx="7577667" cy="2868083"/>
          </a:xfrm>
          <a:custGeom>
            <a:avLst/>
            <a:gdLst/>
            <a:ahLst/>
            <a:cxnLst/>
            <a:rect l="l" t="t" r="r" b="b"/>
            <a:pathLst>
              <a:path w="7577667" h="2868083">
                <a:moveTo>
                  <a:pt x="42333" y="0"/>
                </a:moveTo>
                <a:lnTo>
                  <a:pt x="7493001" y="0"/>
                </a:lnTo>
                <a:cubicBezTo>
                  <a:pt x="7539760" y="0"/>
                  <a:pt x="7577667" y="37906"/>
                  <a:pt x="7577667" y="84666"/>
                </a:cubicBezTo>
                <a:lnTo>
                  <a:pt x="7577667" y="2783418"/>
                </a:lnTo>
                <a:cubicBezTo>
                  <a:pt x="7577667" y="2830177"/>
                  <a:pt x="7539760" y="2868083"/>
                  <a:pt x="7493001" y="2868083"/>
                </a:cubicBezTo>
                <a:lnTo>
                  <a:pt x="42333" y="2868083"/>
                </a:lnTo>
                <a:cubicBezTo>
                  <a:pt x="18953" y="2868083"/>
                  <a:pt x="0" y="2849130"/>
                  <a:pt x="0" y="2825750"/>
                </a:cubicBezTo>
                <a:lnTo>
                  <a:pt x="0" y="42333"/>
                </a:lnTo>
                <a:cubicBezTo>
                  <a:pt x="0" y="18953"/>
                  <a:pt x="18953" y="0"/>
                  <a:pt x="42333" y="0"/>
                </a:cubicBezTo>
                <a:close/>
              </a:path>
            </a:pathLst>
          </a:custGeom>
          <a:solidFill>
            <a:srgbClr val="3A5E78">
              <a:alpha val="20000"/>
            </a:srgbClr>
          </a:solidFill>
          <a:ln/>
        </p:spPr>
      </p:sp>
      <p:sp>
        <p:nvSpPr>
          <p:cNvPr id="6" name="Shape 4"/>
          <p:cNvSpPr/>
          <p:nvPr/>
        </p:nvSpPr>
        <p:spPr>
          <a:xfrm>
            <a:off x="444500" y="1524000"/>
            <a:ext cx="42333" cy="2868083"/>
          </a:xfrm>
          <a:custGeom>
            <a:avLst/>
            <a:gdLst/>
            <a:ahLst/>
            <a:cxnLst/>
            <a:rect l="l" t="t" r="r" b="b"/>
            <a:pathLst>
              <a:path w="42333" h="2868083">
                <a:moveTo>
                  <a:pt x="42333" y="0"/>
                </a:moveTo>
                <a:lnTo>
                  <a:pt x="42333" y="0"/>
                </a:lnTo>
                <a:lnTo>
                  <a:pt x="42333" y="2868083"/>
                </a:lnTo>
                <a:lnTo>
                  <a:pt x="42333" y="2868083"/>
                </a:lnTo>
                <a:cubicBezTo>
                  <a:pt x="18953" y="2868083"/>
                  <a:pt x="0" y="2849130"/>
                  <a:pt x="0" y="2825750"/>
                </a:cubicBezTo>
                <a:lnTo>
                  <a:pt x="0" y="42333"/>
                </a:lnTo>
                <a:cubicBezTo>
                  <a:pt x="0" y="18953"/>
                  <a:pt x="18953" y="0"/>
                  <a:pt x="42333" y="0"/>
                </a:cubicBezTo>
                <a:close/>
              </a:path>
            </a:pathLst>
          </a:custGeom>
          <a:solidFill>
            <a:srgbClr val="4C7E9A"/>
          </a:solidFill>
          <a:ln/>
        </p:spPr>
      </p:sp>
      <p:sp>
        <p:nvSpPr>
          <p:cNvPr id="7" name="Text 5"/>
          <p:cNvSpPr/>
          <p:nvPr/>
        </p:nvSpPr>
        <p:spPr>
          <a:xfrm>
            <a:off x="635000" y="1693333"/>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真实医疗数据集</a:t>
            </a:r>
            <a:endParaRPr lang="en-US" sz="1600" dirty="0"/>
          </a:p>
        </p:txBody>
      </p:sp>
      <p:sp>
        <p:nvSpPr>
          <p:cNvPr id="8" name="Text 6"/>
          <p:cNvSpPr/>
          <p:nvPr/>
        </p:nvSpPr>
        <p:spPr>
          <a:xfrm>
            <a:off x="635000" y="2159000"/>
            <a:ext cx="7313083" cy="624417"/>
          </a:xfrm>
          <a:prstGeom prst="rect">
            <a:avLst/>
          </a:prstGeom>
          <a:noFill/>
          <a:ln/>
        </p:spPr>
        <p:txBody>
          <a:bodyPr wrap="square" lIns="0" tIns="0" rIns="0" bIns="0" rtlCol="0" anchor="ctr"/>
          <a:lstStyle/>
          <a:p>
            <a:pPr>
              <a:lnSpc>
                <a:spcPct val="140000"/>
              </a:lnSpc>
            </a:pPr>
            <a:r>
              <a:rPr lang="en-US" sz="1500" dirty="0">
                <a:solidFill>
                  <a:srgbClr val="D1D5DB"/>
                </a:solidFill>
                <a:latin typeface="MiSans" pitchFamily="34" charset="0"/>
                <a:ea typeface="MiSans" pitchFamily="34" charset="-122"/>
                <a:cs typeface="MiSans" pitchFamily="34" charset="-120"/>
              </a:rPr>
              <a:t>在真实医疗数据集中应用Stacking提升预测性能。这是一个二分类问题，预测患者是否患有心脏病。</a:t>
            </a:r>
            <a:endParaRPr lang="en-US" sz="1600" dirty="0"/>
          </a:p>
        </p:txBody>
      </p:sp>
      <p:sp>
        <p:nvSpPr>
          <p:cNvPr id="9" name="Shape 7"/>
          <p:cNvSpPr/>
          <p:nvPr/>
        </p:nvSpPr>
        <p:spPr>
          <a:xfrm>
            <a:off x="635000" y="2905125"/>
            <a:ext cx="7217833" cy="1312333"/>
          </a:xfrm>
          <a:custGeom>
            <a:avLst/>
            <a:gdLst/>
            <a:ahLst/>
            <a:cxnLst/>
            <a:rect l="l" t="t" r="r" b="b"/>
            <a:pathLst>
              <a:path w="7217833" h="1312333">
                <a:moveTo>
                  <a:pt x="84672" y="0"/>
                </a:moveTo>
                <a:lnTo>
                  <a:pt x="7133162" y="0"/>
                </a:lnTo>
                <a:cubicBezTo>
                  <a:pt x="7179925" y="0"/>
                  <a:pt x="7217833" y="37909"/>
                  <a:pt x="7217833" y="84672"/>
                </a:cubicBezTo>
                <a:lnTo>
                  <a:pt x="7217833" y="1227662"/>
                </a:lnTo>
                <a:cubicBezTo>
                  <a:pt x="7217833" y="1274425"/>
                  <a:pt x="7179925" y="1312333"/>
                  <a:pt x="7133162" y="1312333"/>
                </a:cubicBezTo>
                <a:lnTo>
                  <a:pt x="84672" y="1312333"/>
                </a:lnTo>
                <a:cubicBezTo>
                  <a:pt x="37909" y="1312333"/>
                  <a:pt x="0" y="1274425"/>
                  <a:pt x="0" y="1227662"/>
                </a:cubicBezTo>
                <a:lnTo>
                  <a:pt x="0" y="84672"/>
                </a:lnTo>
                <a:cubicBezTo>
                  <a:pt x="0" y="37909"/>
                  <a:pt x="37909" y="0"/>
                  <a:pt x="84672" y="0"/>
                </a:cubicBezTo>
                <a:close/>
              </a:path>
            </a:pathLst>
          </a:custGeom>
          <a:solidFill>
            <a:srgbClr val="181A1F">
              <a:alpha val="50196"/>
            </a:srgbClr>
          </a:solidFill>
          <a:ln/>
        </p:spPr>
      </p:sp>
      <p:sp>
        <p:nvSpPr>
          <p:cNvPr id="10" name="Text 8"/>
          <p:cNvSpPr/>
          <p:nvPr/>
        </p:nvSpPr>
        <p:spPr>
          <a:xfrm>
            <a:off x="762000" y="3032125"/>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应用场景</a:t>
            </a:r>
            <a:endParaRPr lang="en-US" sz="1600" dirty="0"/>
          </a:p>
        </p:txBody>
      </p:sp>
      <p:sp>
        <p:nvSpPr>
          <p:cNvPr id="11" name="Text 9"/>
          <p:cNvSpPr/>
          <p:nvPr/>
        </p:nvSpPr>
        <p:spPr>
          <a:xfrm>
            <a:off x="762000" y="3370792"/>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医疗诊断辅助</a:t>
            </a:r>
            <a:endParaRPr lang="en-US" sz="1600" dirty="0"/>
          </a:p>
        </p:txBody>
      </p:sp>
      <p:sp>
        <p:nvSpPr>
          <p:cNvPr id="12" name="Text 10"/>
          <p:cNvSpPr/>
          <p:nvPr/>
        </p:nvSpPr>
        <p:spPr>
          <a:xfrm>
            <a:off x="762000" y="3624792"/>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风险预测评估</a:t>
            </a:r>
            <a:endParaRPr lang="en-US" sz="1600" dirty="0"/>
          </a:p>
        </p:txBody>
      </p:sp>
      <p:sp>
        <p:nvSpPr>
          <p:cNvPr id="13" name="Text 11"/>
          <p:cNvSpPr/>
          <p:nvPr/>
        </p:nvSpPr>
        <p:spPr>
          <a:xfrm>
            <a:off x="762000" y="3878792"/>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早期预警系统</a:t>
            </a:r>
            <a:endParaRPr lang="en-US" sz="1600" dirty="0"/>
          </a:p>
        </p:txBody>
      </p:sp>
      <p:sp>
        <p:nvSpPr>
          <p:cNvPr id="14" name="Shape 12"/>
          <p:cNvSpPr/>
          <p:nvPr/>
        </p:nvSpPr>
        <p:spPr>
          <a:xfrm>
            <a:off x="444500" y="4556125"/>
            <a:ext cx="7577667" cy="3661833"/>
          </a:xfrm>
          <a:custGeom>
            <a:avLst/>
            <a:gdLst/>
            <a:ahLst/>
            <a:cxnLst/>
            <a:rect l="l" t="t" r="r" b="b"/>
            <a:pathLst>
              <a:path w="7577667" h="3661833">
                <a:moveTo>
                  <a:pt x="42333" y="0"/>
                </a:moveTo>
                <a:lnTo>
                  <a:pt x="7493005" y="0"/>
                </a:lnTo>
                <a:cubicBezTo>
                  <a:pt x="7539762" y="0"/>
                  <a:pt x="7577667" y="37904"/>
                  <a:pt x="7577667" y="84662"/>
                </a:cubicBezTo>
                <a:lnTo>
                  <a:pt x="7577667" y="3577172"/>
                </a:lnTo>
                <a:cubicBezTo>
                  <a:pt x="7577667" y="3623929"/>
                  <a:pt x="7539762" y="3661833"/>
                  <a:pt x="7493005" y="3661833"/>
                </a:cubicBezTo>
                <a:lnTo>
                  <a:pt x="42333" y="3661833"/>
                </a:lnTo>
                <a:cubicBezTo>
                  <a:pt x="18953" y="3661833"/>
                  <a:pt x="0" y="3642880"/>
                  <a:pt x="0" y="3619500"/>
                </a:cubicBezTo>
                <a:lnTo>
                  <a:pt x="0" y="42333"/>
                </a:lnTo>
                <a:cubicBezTo>
                  <a:pt x="0" y="18953"/>
                  <a:pt x="18953" y="0"/>
                  <a:pt x="42333" y="0"/>
                </a:cubicBezTo>
                <a:close/>
              </a:path>
            </a:pathLst>
          </a:custGeom>
          <a:solidFill>
            <a:srgbClr val="3A5E78">
              <a:alpha val="20000"/>
            </a:srgbClr>
          </a:solidFill>
          <a:ln/>
        </p:spPr>
      </p:sp>
      <p:sp>
        <p:nvSpPr>
          <p:cNvPr id="15" name="Shape 13"/>
          <p:cNvSpPr/>
          <p:nvPr/>
        </p:nvSpPr>
        <p:spPr>
          <a:xfrm>
            <a:off x="444500" y="4556125"/>
            <a:ext cx="42333" cy="3661833"/>
          </a:xfrm>
          <a:custGeom>
            <a:avLst/>
            <a:gdLst/>
            <a:ahLst/>
            <a:cxnLst/>
            <a:rect l="l" t="t" r="r" b="b"/>
            <a:pathLst>
              <a:path w="42333" h="3661833">
                <a:moveTo>
                  <a:pt x="42333" y="0"/>
                </a:moveTo>
                <a:lnTo>
                  <a:pt x="42333" y="0"/>
                </a:lnTo>
                <a:lnTo>
                  <a:pt x="42333" y="3661833"/>
                </a:lnTo>
                <a:lnTo>
                  <a:pt x="42333" y="3661833"/>
                </a:lnTo>
                <a:cubicBezTo>
                  <a:pt x="18953" y="3661833"/>
                  <a:pt x="0" y="3642880"/>
                  <a:pt x="0" y="3619500"/>
                </a:cubicBezTo>
                <a:lnTo>
                  <a:pt x="0" y="42333"/>
                </a:lnTo>
                <a:cubicBezTo>
                  <a:pt x="0" y="18953"/>
                  <a:pt x="18953" y="0"/>
                  <a:pt x="42333" y="0"/>
                </a:cubicBezTo>
                <a:close/>
              </a:path>
            </a:pathLst>
          </a:custGeom>
          <a:solidFill>
            <a:srgbClr val="7E9AA8"/>
          </a:solidFill>
          <a:ln/>
        </p:spPr>
      </p:sp>
      <p:sp>
        <p:nvSpPr>
          <p:cNvPr id="16" name="Text 14"/>
          <p:cNvSpPr/>
          <p:nvPr/>
        </p:nvSpPr>
        <p:spPr>
          <a:xfrm>
            <a:off x="635000" y="4725458"/>
            <a:ext cx="7344833" cy="338667"/>
          </a:xfrm>
          <a:prstGeom prst="rect">
            <a:avLst/>
          </a:prstGeom>
          <a:noFill/>
          <a:ln/>
        </p:spPr>
        <p:txBody>
          <a:bodyPr wrap="square" lIns="0" tIns="0" rIns="0" bIns="0" rtlCol="0" anchor="ctr"/>
          <a:lstStyle/>
          <a:p>
            <a:pPr>
              <a:lnSpc>
                <a:spcPct val="110000"/>
              </a:lnSpc>
            </a:pPr>
            <a:r>
              <a:rPr lang="en-US" sz="2000" b="1" dirty="0">
                <a:solidFill>
                  <a:srgbClr val="7E9AA8"/>
                </a:solidFill>
                <a:latin typeface="MiSans" pitchFamily="34" charset="0"/>
                <a:ea typeface="MiSans" pitchFamily="34" charset="-122"/>
                <a:cs typeface="MiSans" pitchFamily="34" charset="-120"/>
              </a:rPr>
              <a:t>数据预处理的重要性</a:t>
            </a:r>
            <a:endParaRPr lang="en-US" sz="1600" dirty="0"/>
          </a:p>
        </p:txBody>
      </p:sp>
      <p:sp>
        <p:nvSpPr>
          <p:cNvPr id="17" name="Text 15"/>
          <p:cNvSpPr/>
          <p:nvPr/>
        </p:nvSpPr>
        <p:spPr>
          <a:xfrm>
            <a:off x="635000" y="5191125"/>
            <a:ext cx="7302500" cy="275167"/>
          </a:xfrm>
          <a:prstGeom prst="rect">
            <a:avLst/>
          </a:prstGeom>
          <a:noFill/>
          <a:ln/>
        </p:spPr>
        <p:txBody>
          <a:bodyPr wrap="square" lIns="0" tIns="0" rIns="0" bIns="0" rtlCol="0" anchor="ctr"/>
          <a:lstStyle/>
          <a:p>
            <a:pPr>
              <a:lnSpc>
                <a:spcPct val="140000"/>
              </a:lnSpc>
            </a:pPr>
            <a:r>
              <a:rPr lang="en-US" sz="1333" dirty="0">
                <a:solidFill>
                  <a:srgbClr val="D1D5DB"/>
                </a:solidFill>
                <a:latin typeface="MiSans" pitchFamily="34" charset="0"/>
                <a:ea typeface="MiSans" pitchFamily="34" charset="-122"/>
                <a:cs typeface="MiSans" pitchFamily="34" charset="-120"/>
              </a:rPr>
              <a:t>对于KNN等距离敏感模型，特征标准化至关重要。</a:t>
            </a:r>
            <a:endParaRPr lang="en-US" sz="1600" dirty="0"/>
          </a:p>
        </p:txBody>
      </p:sp>
      <p:sp>
        <p:nvSpPr>
          <p:cNvPr id="18" name="Shape 16"/>
          <p:cNvSpPr/>
          <p:nvPr/>
        </p:nvSpPr>
        <p:spPr>
          <a:xfrm>
            <a:off x="635000" y="5593292"/>
            <a:ext cx="7217833" cy="1693333"/>
          </a:xfrm>
          <a:custGeom>
            <a:avLst/>
            <a:gdLst/>
            <a:ahLst/>
            <a:cxnLst/>
            <a:rect l="l" t="t" r="r" b="b"/>
            <a:pathLst>
              <a:path w="7217833" h="1693333">
                <a:moveTo>
                  <a:pt x="42333" y="0"/>
                </a:moveTo>
                <a:lnTo>
                  <a:pt x="7175500" y="0"/>
                </a:lnTo>
                <a:cubicBezTo>
                  <a:pt x="7198880" y="0"/>
                  <a:pt x="7217833" y="18953"/>
                  <a:pt x="7217833" y="42333"/>
                </a:cubicBezTo>
                <a:lnTo>
                  <a:pt x="7217833" y="1651000"/>
                </a:lnTo>
                <a:cubicBezTo>
                  <a:pt x="7217833" y="1674380"/>
                  <a:pt x="7198880" y="1693333"/>
                  <a:pt x="7175500" y="1693333"/>
                </a:cubicBezTo>
                <a:lnTo>
                  <a:pt x="42333" y="1693333"/>
                </a:lnTo>
                <a:cubicBezTo>
                  <a:pt x="18953" y="1693333"/>
                  <a:pt x="0" y="1674380"/>
                  <a:pt x="0" y="1651000"/>
                </a:cubicBezTo>
                <a:lnTo>
                  <a:pt x="0" y="42333"/>
                </a:lnTo>
                <a:cubicBezTo>
                  <a:pt x="0" y="18953"/>
                  <a:pt x="18953" y="0"/>
                  <a:pt x="42333" y="0"/>
                </a:cubicBezTo>
                <a:close/>
              </a:path>
            </a:pathLst>
          </a:custGeom>
          <a:solidFill>
            <a:srgbClr val="181A1F">
              <a:alpha val="50196"/>
            </a:srgbClr>
          </a:solidFill>
          <a:ln/>
        </p:spPr>
      </p:sp>
      <p:sp>
        <p:nvSpPr>
          <p:cNvPr id="19" name="Text 17"/>
          <p:cNvSpPr/>
          <p:nvPr/>
        </p:nvSpPr>
        <p:spPr>
          <a:xfrm>
            <a:off x="719667" y="5677958"/>
            <a:ext cx="7133167"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标准化特征</a:t>
            </a:r>
            <a:endParaRPr lang="en-US" sz="1600" dirty="0"/>
          </a:p>
        </p:txBody>
      </p:sp>
      <p:sp>
        <p:nvSpPr>
          <p:cNvPr id="20" name="Text 18"/>
          <p:cNvSpPr/>
          <p:nvPr/>
        </p:nvSpPr>
        <p:spPr>
          <a:xfrm>
            <a:off x="719667" y="5974292"/>
            <a:ext cx="7122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thalach（最大心率）</a:t>
            </a:r>
            <a:endParaRPr lang="en-US" sz="1600" dirty="0"/>
          </a:p>
        </p:txBody>
      </p:sp>
      <p:sp>
        <p:nvSpPr>
          <p:cNvPr id="21" name="Text 19"/>
          <p:cNvSpPr/>
          <p:nvPr/>
        </p:nvSpPr>
        <p:spPr>
          <a:xfrm>
            <a:off x="719667" y="6228292"/>
            <a:ext cx="7122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age（年龄）</a:t>
            </a:r>
            <a:endParaRPr lang="en-US" sz="1600" dirty="0"/>
          </a:p>
        </p:txBody>
      </p:sp>
      <p:sp>
        <p:nvSpPr>
          <p:cNvPr id="22" name="Text 20"/>
          <p:cNvSpPr/>
          <p:nvPr/>
        </p:nvSpPr>
        <p:spPr>
          <a:xfrm>
            <a:off x="719667" y="6482292"/>
            <a:ext cx="7122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trestbps（静息血压）</a:t>
            </a:r>
            <a:endParaRPr lang="en-US" sz="1600" dirty="0"/>
          </a:p>
        </p:txBody>
      </p:sp>
      <p:sp>
        <p:nvSpPr>
          <p:cNvPr id="23" name="Text 21"/>
          <p:cNvSpPr/>
          <p:nvPr/>
        </p:nvSpPr>
        <p:spPr>
          <a:xfrm>
            <a:off x="719667" y="6736292"/>
            <a:ext cx="7122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oldpeak（ST段压低）</a:t>
            </a:r>
            <a:endParaRPr lang="en-US" sz="1600" dirty="0"/>
          </a:p>
        </p:txBody>
      </p:sp>
      <p:sp>
        <p:nvSpPr>
          <p:cNvPr id="24" name="Text 22"/>
          <p:cNvSpPr/>
          <p:nvPr/>
        </p:nvSpPr>
        <p:spPr>
          <a:xfrm>
            <a:off x="719667" y="6990292"/>
            <a:ext cx="7122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chol（胆固醇）</a:t>
            </a:r>
            <a:endParaRPr lang="en-US" sz="1600" dirty="0"/>
          </a:p>
        </p:txBody>
      </p:sp>
      <p:sp>
        <p:nvSpPr>
          <p:cNvPr id="25" name="Shape 23"/>
          <p:cNvSpPr/>
          <p:nvPr/>
        </p:nvSpPr>
        <p:spPr>
          <a:xfrm>
            <a:off x="635000" y="7371292"/>
            <a:ext cx="7217833" cy="677333"/>
          </a:xfrm>
          <a:custGeom>
            <a:avLst/>
            <a:gdLst/>
            <a:ahLst/>
            <a:cxnLst/>
            <a:rect l="l" t="t" r="r" b="b"/>
            <a:pathLst>
              <a:path w="7217833" h="677333">
                <a:moveTo>
                  <a:pt x="42333" y="0"/>
                </a:moveTo>
                <a:lnTo>
                  <a:pt x="7175500" y="0"/>
                </a:lnTo>
                <a:cubicBezTo>
                  <a:pt x="7198880" y="0"/>
                  <a:pt x="7217833" y="18953"/>
                  <a:pt x="7217833" y="42333"/>
                </a:cubicBezTo>
                <a:lnTo>
                  <a:pt x="7217833" y="635000"/>
                </a:lnTo>
                <a:cubicBezTo>
                  <a:pt x="7217833" y="658380"/>
                  <a:pt x="7198880" y="677333"/>
                  <a:pt x="7175500"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alpha val="50196"/>
            </a:srgbClr>
          </a:solidFill>
          <a:ln/>
        </p:spPr>
      </p:sp>
      <p:sp>
        <p:nvSpPr>
          <p:cNvPr id="26" name="Text 24"/>
          <p:cNvSpPr/>
          <p:nvPr/>
        </p:nvSpPr>
        <p:spPr>
          <a:xfrm>
            <a:off x="719667" y="7455958"/>
            <a:ext cx="7133167"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使用StandardScaler</a:t>
            </a:r>
            <a:endParaRPr lang="en-US" sz="1600" dirty="0"/>
          </a:p>
        </p:txBody>
      </p:sp>
      <p:sp>
        <p:nvSpPr>
          <p:cNvPr id="27" name="Text 25"/>
          <p:cNvSpPr/>
          <p:nvPr/>
        </p:nvSpPr>
        <p:spPr>
          <a:xfrm>
            <a:off x="719667" y="7752292"/>
            <a:ext cx="7122583"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确保每个特征均值为0，标准差为1</a:t>
            </a:r>
            <a:endParaRPr lang="en-US" sz="1600" dirty="0"/>
          </a:p>
        </p:txBody>
      </p:sp>
      <p:sp>
        <p:nvSpPr>
          <p:cNvPr id="28" name="Shape 26"/>
          <p:cNvSpPr/>
          <p:nvPr/>
        </p:nvSpPr>
        <p:spPr>
          <a:xfrm>
            <a:off x="8255000" y="1524000"/>
            <a:ext cx="7577667" cy="4847167"/>
          </a:xfrm>
          <a:custGeom>
            <a:avLst/>
            <a:gdLst/>
            <a:ahLst/>
            <a:cxnLst/>
            <a:rect l="l" t="t" r="r" b="b"/>
            <a:pathLst>
              <a:path w="7577667" h="4847167">
                <a:moveTo>
                  <a:pt x="42333" y="0"/>
                </a:moveTo>
                <a:lnTo>
                  <a:pt x="7492987" y="0"/>
                </a:lnTo>
                <a:cubicBezTo>
                  <a:pt x="7539754" y="0"/>
                  <a:pt x="7577667" y="37913"/>
                  <a:pt x="7577667" y="84680"/>
                </a:cubicBezTo>
                <a:lnTo>
                  <a:pt x="7577667" y="4762487"/>
                </a:lnTo>
                <a:cubicBezTo>
                  <a:pt x="7577667" y="4809254"/>
                  <a:pt x="7539754" y="4847167"/>
                  <a:pt x="7492987" y="4847167"/>
                </a:cubicBezTo>
                <a:lnTo>
                  <a:pt x="42333" y="4847167"/>
                </a:lnTo>
                <a:cubicBezTo>
                  <a:pt x="18953" y="4847167"/>
                  <a:pt x="0" y="4828213"/>
                  <a:pt x="0" y="4804833"/>
                </a:cubicBezTo>
                <a:lnTo>
                  <a:pt x="0" y="42333"/>
                </a:lnTo>
                <a:cubicBezTo>
                  <a:pt x="0" y="18953"/>
                  <a:pt x="18953" y="0"/>
                  <a:pt x="42333" y="0"/>
                </a:cubicBezTo>
                <a:close/>
              </a:path>
            </a:pathLst>
          </a:custGeom>
          <a:solidFill>
            <a:srgbClr val="3A5E78">
              <a:alpha val="20000"/>
            </a:srgbClr>
          </a:solidFill>
          <a:ln/>
        </p:spPr>
      </p:sp>
      <p:sp>
        <p:nvSpPr>
          <p:cNvPr id="29" name="Shape 27"/>
          <p:cNvSpPr/>
          <p:nvPr/>
        </p:nvSpPr>
        <p:spPr>
          <a:xfrm>
            <a:off x="8255000" y="1524000"/>
            <a:ext cx="42333" cy="4847167"/>
          </a:xfrm>
          <a:custGeom>
            <a:avLst/>
            <a:gdLst/>
            <a:ahLst/>
            <a:cxnLst/>
            <a:rect l="l" t="t" r="r" b="b"/>
            <a:pathLst>
              <a:path w="42333" h="4847167">
                <a:moveTo>
                  <a:pt x="42333" y="0"/>
                </a:moveTo>
                <a:lnTo>
                  <a:pt x="42333" y="0"/>
                </a:lnTo>
                <a:lnTo>
                  <a:pt x="42333" y="4847167"/>
                </a:lnTo>
                <a:lnTo>
                  <a:pt x="42333" y="4847167"/>
                </a:lnTo>
                <a:cubicBezTo>
                  <a:pt x="18953" y="4847167"/>
                  <a:pt x="0" y="4828213"/>
                  <a:pt x="0" y="4804833"/>
                </a:cubicBezTo>
                <a:lnTo>
                  <a:pt x="0" y="42333"/>
                </a:lnTo>
                <a:cubicBezTo>
                  <a:pt x="0" y="18953"/>
                  <a:pt x="18953" y="0"/>
                  <a:pt x="42333" y="0"/>
                </a:cubicBezTo>
                <a:close/>
              </a:path>
            </a:pathLst>
          </a:custGeom>
          <a:solidFill>
            <a:srgbClr val="4C7E9A"/>
          </a:solidFill>
          <a:ln/>
        </p:spPr>
      </p:sp>
      <p:sp>
        <p:nvSpPr>
          <p:cNvPr id="30" name="Text 28"/>
          <p:cNvSpPr/>
          <p:nvPr/>
        </p:nvSpPr>
        <p:spPr>
          <a:xfrm>
            <a:off x="8445500" y="1693333"/>
            <a:ext cx="7344833"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构建Stacking模型</a:t>
            </a:r>
            <a:endParaRPr lang="en-US" sz="1600" dirty="0"/>
          </a:p>
        </p:txBody>
      </p:sp>
      <p:sp>
        <p:nvSpPr>
          <p:cNvPr id="31" name="Shape 29"/>
          <p:cNvSpPr/>
          <p:nvPr/>
        </p:nvSpPr>
        <p:spPr>
          <a:xfrm>
            <a:off x="8445500" y="2159000"/>
            <a:ext cx="7217833" cy="1016000"/>
          </a:xfrm>
          <a:custGeom>
            <a:avLst/>
            <a:gdLst/>
            <a:ahLst/>
            <a:cxnLst/>
            <a:rect l="l" t="t" r="r" b="b"/>
            <a:pathLst>
              <a:path w="7217833" h="1016000">
                <a:moveTo>
                  <a:pt x="42337" y="0"/>
                </a:moveTo>
                <a:lnTo>
                  <a:pt x="7175497" y="0"/>
                </a:lnTo>
                <a:cubicBezTo>
                  <a:pt x="7198879" y="0"/>
                  <a:pt x="7217833" y="18955"/>
                  <a:pt x="7217833" y="42337"/>
                </a:cubicBezTo>
                <a:lnTo>
                  <a:pt x="7217833" y="973663"/>
                </a:lnTo>
                <a:cubicBezTo>
                  <a:pt x="7217833" y="997045"/>
                  <a:pt x="7198879" y="1016000"/>
                  <a:pt x="7175497" y="1016000"/>
                </a:cubicBezTo>
                <a:lnTo>
                  <a:pt x="42337" y="1016000"/>
                </a:lnTo>
                <a:cubicBezTo>
                  <a:pt x="18955" y="1016000"/>
                  <a:pt x="0" y="997045"/>
                  <a:pt x="0" y="973663"/>
                </a:cubicBezTo>
                <a:lnTo>
                  <a:pt x="0" y="42337"/>
                </a:lnTo>
                <a:cubicBezTo>
                  <a:pt x="0" y="18955"/>
                  <a:pt x="18955" y="0"/>
                  <a:pt x="42337" y="0"/>
                </a:cubicBezTo>
                <a:close/>
              </a:path>
            </a:pathLst>
          </a:custGeom>
          <a:solidFill>
            <a:srgbClr val="181A1F">
              <a:alpha val="50196"/>
            </a:srgbClr>
          </a:solidFill>
          <a:ln/>
        </p:spPr>
      </p:sp>
      <p:sp>
        <p:nvSpPr>
          <p:cNvPr id="32" name="Text 30"/>
          <p:cNvSpPr/>
          <p:nvPr/>
        </p:nvSpPr>
        <p:spPr>
          <a:xfrm>
            <a:off x="8572500" y="2286000"/>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基学习器</a:t>
            </a:r>
            <a:endParaRPr lang="en-US" sz="1600" dirty="0"/>
          </a:p>
        </p:txBody>
      </p:sp>
      <p:sp>
        <p:nvSpPr>
          <p:cNvPr id="33" name="Text 31"/>
          <p:cNvSpPr/>
          <p:nvPr/>
        </p:nvSpPr>
        <p:spPr>
          <a:xfrm>
            <a:off x="8572500" y="2582333"/>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KNeighborsClassifier（K近邻）</a:t>
            </a:r>
            <a:endParaRPr lang="en-US" sz="1600" dirty="0"/>
          </a:p>
        </p:txBody>
      </p:sp>
      <p:sp>
        <p:nvSpPr>
          <p:cNvPr id="34" name="Text 32"/>
          <p:cNvSpPr/>
          <p:nvPr/>
        </p:nvSpPr>
        <p:spPr>
          <a:xfrm>
            <a:off x="8572500" y="2836333"/>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 GaussianNB（高斯朴素贝叶斯）</a:t>
            </a:r>
            <a:endParaRPr lang="en-US" sz="1600" dirty="0"/>
          </a:p>
        </p:txBody>
      </p:sp>
      <p:sp>
        <p:nvSpPr>
          <p:cNvPr id="35" name="Shape 33"/>
          <p:cNvSpPr/>
          <p:nvPr/>
        </p:nvSpPr>
        <p:spPr>
          <a:xfrm>
            <a:off x="8445500" y="3302000"/>
            <a:ext cx="7217833" cy="762000"/>
          </a:xfrm>
          <a:custGeom>
            <a:avLst/>
            <a:gdLst/>
            <a:ahLst/>
            <a:cxnLst/>
            <a:rect l="l" t="t" r="r" b="b"/>
            <a:pathLst>
              <a:path w="7217833" h="762000">
                <a:moveTo>
                  <a:pt x="42337" y="0"/>
                </a:moveTo>
                <a:lnTo>
                  <a:pt x="7175497" y="0"/>
                </a:lnTo>
                <a:cubicBezTo>
                  <a:pt x="7198879" y="0"/>
                  <a:pt x="7217833" y="18955"/>
                  <a:pt x="7217833" y="42337"/>
                </a:cubicBezTo>
                <a:lnTo>
                  <a:pt x="7217833" y="719663"/>
                </a:lnTo>
                <a:cubicBezTo>
                  <a:pt x="7217833" y="743045"/>
                  <a:pt x="7198879" y="762000"/>
                  <a:pt x="7175497" y="762000"/>
                </a:cubicBezTo>
                <a:lnTo>
                  <a:pt x="42337" y="762000"/>
                </a:lnTo>
                <a:cubicBezTo>
                  <a:pt x="18955" y="762000"/>
                  <a:pt x="0" y="743045"/>
                  <a:pt x="0" y="719663"/>
                </a:cubicBezTo>
                <a:lnTo>
                  <a:pt x="0" y="42337"/>
                </a:lnTo>
                <a:cubicBezTo>
                  <a:pt x="0" y="18955"/>
                  <a:pt x="18955" y="0"/>
                  <a:pt x="42337" y="0"/>
                </a:cubicBezTo>
                <a:close/>
              </a:path>
            </a:pathLst>
          </a:custGeom>
          <a:solidFill>
            <a:srgbClr val="181A1F">
              <a:alpha val="50196"/>
            </a:srgbClr>
          </a:solidFill>
          <a:ln/>
        </p:spPr>
      </p:sp>
      <p:sp>
        <p:nvSpPr>
          <p:cNvPr id="36" name="Text 34"/>
          <p:cNvSpPr/>
          <p:nvPr/>
        </p:nvSpPr>
        <p:spPr>
          <a:xfrm>
            <a:off x="8572500" y="3429000"/>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元学习器</a:t>
            </a:r>
            <a:endParaRPr lang="en-US" sz="1600" dirty="0"/>
          </a:p>
        </p:txBody>
      </p:sp>
      <p:sp>
        <p:nvSpPr>
          <p:cNvPr id="37" name="Text 35"/>
          <p:cNvSpPr/>
          <p:nvPr/>
        </p:nvSpPr>
        <p:spPr>
          <a:xfrm>
            <a:off x="8572500" y="3725333"/>
            <a:ext cx="7037917"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LogisticRegression（逻辑回归）</a:t>
            </a:r>
            <a:endParaRPr lang="en-US" sz="1600" dirty="0"/>
          </a:p>
        </p:txBody>
      </p:sp>
      <p:sp>
        <p:nvSpPr>
          <p:cNvPr id="38" name="Shape 36"/>
          <p:cNvSpPr/>
          <p:nvPr/>
        </p:nvSpPr>
        <p:spPr>
          <a:xfrm>
            <a:off x="8445500" y="4191000"/>
            <a:ext cx="7217833" cy="2010833"/>
          </a:xfrm>
          <a:custGeom>
            <a:avLst/>
            <a:gdLst/>
            <a:ahLst/>
            <a:cxnLst/>
            <a:rect l="l" t="t" r="r" b="b"/>
            <a:pathLst>
              <a:path w="7217833" h="2010833">
                <a:moveTo>
                  <a:pt x="42328" y="0"/>
                </a:moveTo>
                <a:lnTo>
                  <a:pt x="7175505" y="0"/>
                </a:lnTo>
                <a:cubicBezTo>
                  <a:pt x="7198882" y="0"/>
                  <a:pt x="7217833" y="18951"/>
                  <a:pt x="7217833" y="42328"/>
                </a:cubicBezTo>
                <a:lnTo>
                  <a:pt x="7217833" y="1968505"/>
                </a:lnTo>
                <a:cubicBezTo>
                  <a:pt x="7217833" y="1991882"/>
                  <a:pt x="7198882" y="2010833"/>
                  <a:pt x="7175505" y="2010833"/>
                </a:cubicBezTo>
                <a:lnTo>
                  <a:pt x="42328" y="2010833"/>
                </a:lnTo>
                <a:cubicBezTo>
                  <a:pt x="18951" y="2010833"/>
                  <a:pt x="0" y="1991882"/>
                  <a:pt x="0" y="1968505"/>
                </a:cubicBezTo>
                <a:lnTo>
                  <a:pt x="0" y="42328"/>
                </a:lnTo>
                <a:cubicBezTo>
                  <a:pt x="0" y="18967"/>
                  <a:pt x="18967" y="0"/>
                  <a:pt x="42328" y="0"/>
                </a:cubicBezTo>
                <a:close/>
              </a:path>
            </a:pathLst>
          </a:custGeom>
          <a:solidFill>
            <a:srgbClr val="181A1F">
              <a:alpha val="50196"/>
            </a:srgbClr>
          </a:solidFill>
          <a:ln/>
        </p:spPr>
      </p:sp>
      <p:sp>
        <p:nvSpPr>
          <p:cNvPr id="39" name="Text 37"/>
          <p:cNvSpPr/>
          <p:nvPr/>
        </p:nvSpPr>
        <p:spPr>
          <a:xfrm>
            <a:off x="8572500" y="4318000"/>
            <a:ext cx="7048500"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性能结果</a:t>
            </a:r>
            <a:endParaRPr lang="en-US" sz="1600" dirty="0"/>
          </a:p>
        </p:txBody>
      </p:sp>
      <p:sp>
        <p:nvSpPr>
          <p:cNvPr id="40" name="Shape 38"/>
          <p:cNvSpPr/>
          <p:nvPr/>
        </p:nvSpPr>
        <p:spPr>
          <a:xfrm>
            <a:off x="8572500" y="4614333"/>
            <a:ext cx="3439583" cy="677333"/>
          </a:xfrm>
          <a:custGeom>
            <a:avLst/>
            <a:gdLst/>
            <a:ahLst/>
            <a:cxnLst/>
            <a:rect l="l" t="t" r="r" b="b"/>
            <a:pathLst>
              <a:path w="3439583" h="677333">
                <a:moveTo>
                  <a:pt x="42333" y="0"/>
                </a:moveTo>
                <a:lnTo>
                  <a:pt x="3397250" y="0"/>
                </a:lnTo>
                <a:cubicBezTo>
                  <a:pt x="3420630" y="0"/>
                  <a:pt x="3439583" y="18953"/>
                  <a:pt x="3439583" y="42333"/>
                </a:cubicBezTo>
                <a:lnTo>
                  <a:pt x="3439583" y="635000"/>
                </a:lnTo>
                <a:cubicBezTo>
                  <a:pt x="3439583" y="658380"/>
                  <a:pt x="3420630" y="677333"/>
                  <a:pt x="3397250"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solidFill>
          <a:ln/>
        </p:spPr>
      </p:sp>
      <p:sp>
        <p:nvSpPr>
          <p:cNvPr id="41" name="Text 39"/>
          <p:cNvSpPr/>
          <p:nvPr/>
        </p:nvSpPr>
        <p:spPr>
          <a:xfrm>
            <a:off x="8620125" y="4699000"/>
            <a:ext cx="3344333" cy="211667"/>
          </a:xfrm>
          <a:prstGeom prst="rect">
            <a:avLst/>
          </a:prstGeom>
          <a:noFill/>
          <a:ln/>
        </p:spPr>
        <p:txBody>
          <a:bodyPr wrap="square" lIns="0" tIns="0" rIns="0" bIns="0" rtlCol="0" anchor="ctr"/>
          <a:lstStyle/>
          <a:p>
            <a:pPr algn="ctr">
              <a:lnSpc>
                <a:spcPct val="120000"/>
              </a:lnSpc>
            </a:pPr>
            <a:r>
              <a:rPr lang="en-US" sz="1167" dirty="0">
                <a:solidFill>
                  <a:srgbClr val="7E9AA8"/>
                </a:solidFill>
                <a:latin typeface="MiSans" pitchFamily="34" charset="0"/>
                <a:ea typeface="MiSans" pitchFamily="34" charset="-122"/>
                <a:cs typeface="MiSans" pitchFamily="34" charset="-120"/>
              </a:rPr>
              <a:t>KNN</a:t>
            </a:r>
            <a:endParaRPr lang="en-US" sz="1600" dirty="0"/>
          </a:p>
        </p:txBody>
      </p:sp>
      <p:sp>
        <p:nvSpPr>
          <p:cNvPr id="42" name="Text 40"/>
          <p:cNvSpPr/>
          <p:nvPr/>
        </p:nvSpPr>
        <p:spPr>
          <a:xfrm>
            <a:off x="8609542" y="4910667"/>
            <a:ext cx="3365500" cy="296333"/>
          </a:xfrm>
          <a:prstGeom prst="rect">
            <a:avLst/>
          </a:prstGeom>
          <a:noFill/>
          <a:ln/>
        </p:spPr>
        <p:txBody>
          <a:bodyPr wrap="square" lIns="0" tIns="0" rIns="0" bIns="0" rtlCol="0" anchor="ctr"/>
          <a:lstStyle/>
          <a:p>
            <a:pPr algn="ctr">
              <a:lnSpc>
                <a:spcPct val="130000"/>
              </a:lnSpc>
            </a:pPr>
            <a:r>
              <a:rPr lang="en-US" sz="1500" b="1" dirty="0">
                <a:solidFill>
                  <a:srgbClr val="D1D5DB"/>
                </a:solidFill>
                <a:latin typeface="MiSans" pitchFamily="34" charset="0"/>
                <a:ea typeface="MiSans" pitchFamily="34" charset="-122"/>
                <a:cs typeface="MiSans" pitchFamily="34" charset="-120"/>
              </a:rPr>
              <a:t>85%</a:t>
            </a:r>
            <a:endParaRPr lang="en-US" sz="1600" dirty="0"/>
          </a:p>
        </p:txBody>
      </p:sp>
      <p:sp>
        <p:nvSpPr>
          <p:cNvPr id="43" name="Shape 41"/>
          <p:cNvSpPr/>
          <p:nvPr/>
        </p:nvSpPr>
        <p:spPr>
          <a:xfrm>
            <a:off x="12096750" y="4614333"/>
            <a:ext cx="3439583" cy="677333"/>
          </a:xfrm>
          <a:custGeom>
            <a:avLst/>
            <a:gdLst/>
            <a:ahLst/>
            <a:cxnLst/>
            <a:rect l="l" t="t" r="r" b="b"/>
            <a:pathLst>
              <a:path w="3439583" h="677333">
                <a:moveTo>
                  <a:pt x="42333" y="0"/>
                </a:moveTo>
                <a:lnTo>
                  <a:pt x="3397250" y="0"/>
                </a:lnTo>
                <a:cubicBezTo>
                  <a:pt x="3420630" y="0"/>
                  <a:pt x="3439583" y="18953"/>
                  <a:pt x="3439583" y="42333"/>
                </a:cubicBezTo>
                <a:lnTo>
                  <a:pt x="3439583" y="635000"/>
                </a:lnTo>
                <a:cubicBezTo>
                  <a:pt x="3439583" y="658380"/>
                  <a:pt x="3420630" y="677333"/>
                  <a:pt x="3397250"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solidFill>
          <a:ln/>
        </p:spPr>
      </p:sp>
      <p:sp>
        <p:nvSpPr>
          <p:cNvPr id="44" name="Text 42"/>
          <p:cNvSpPr/>
          <p:nvPr/>
        </p:nvSpPr>
        <p:spPr>
          <a:xfrm>
            <a:off x="12144375" y="4699000"/>
            <a:ext cx="3344333" cy="211667"/>
          </a:xfrm>
          <a:prstGeom prst="rect">
            <a:avLst/>
          </a:prstGeom>
          <a:noFill/>
          <a:ln/>
        </p:spPr>
        <p:txBody>
          <a:bodyPr wrap="square" lIns="0" tIns="0" rIns="0" bIns="0" rtlCol="0" anchor="ctr"/>
          <a:lstStyle/>
          <a:p>
            <a:pPr algn="ctr">
              <a:lnSpc>
                <a:spcPct val="120000"/>
              </a:lnSpc>
            </a:pPr>
            <a:r>
              <a:rPr lang="en-US" sz="1167" dirty="0">
                <a:solidFill>
                  <a:srgbClr val="7E9AA8"/>
                </a:solidFill>
                <a:latin typeface="MiSans" pitchFamily="34" charset="0"/>
                <a:ea typeface="MiSans" pitchFamily="34" charset="-122"/>
                <a:cs typeface="MiSans" pitchFamily="34" charset="-120"/>
              </a:rPr>
              <a:t>朴素贝叶斯</a:t>
            </a:r>
            <a:endParaRPr lang="en-US" sz="1600" dirty="0"/>
          </a:p>
        </p:txBody>
      </p:sp>
      <p:sp>
        <p:nvSpPr>
          <p:cNvPr id="45" name="Text 43"/>
          <p:cNvSpPr/>
          <p:nvPr/>
        </p:nvSpPr>
        <p:spPr>
          <a:xfrm>
            <a:off x="12133792" y="4910667"/>
            <a:ext cx="3365500" cy="296333"/>
          </a:xfrm>
          <a:prstGeom prst="rect">
            <a:avLst/>
          </a:prstGeom>
          <a:noFill/>
          <a:ln/>
        </p:spPr>
        <p:txBody>
          <a:bodyPr wrap="square" lIns="0" tIns="0" rIns="0" bIns="0" rtlCol="0" anchor="ctr"/>
          <a:lstStyle/>
          <a:p>
            <a:pPr algn="ctr">
              <a:lnSpc>
                <a:spcPct val="130000"/>
              </a:lnSpc>
            </a:pPr>
            <a:r>
              <a:rPr lang="en-US" sz="1500" b="1" dirty="0">
                <a:solidFill>
                  <a:srgbClr val="D1D5DB"/>
                </a:solidFill>
                <a:latin typeface="MiSans" pitchFamily="34" charset="0"/>
                <a:ea typeface="MiSans" pitchFamily="34" charset="-122"/>
                <a:cs typeface="MiSans" pitchFamily="34" charset="-120"/>
              </a:rPr>
              <a:t>82%</a:t>
            </a:r>
            <a:endParaRPr lang="en-US" sz="1600" dirty="0"/>
          </a:p>
        </p:txBody>
      </p:sp>
      <p:sp>
        <p:nvSpPr>
          <p:cNvPr id="46" name="Shape 44"/>
          <p:cNvSpPr/>
          <p:nvPr/>
        </p:nvSpPr>
        <p:spPr>
          <a:xfrm>
            <a:off x="8577792" y="5381625"/>
            <a:ext cx="6953250" cy="687917"/>
          </a:xfrm>
          <a:custGeom>
            <a:avLst/>
            <a:gdLst/>
            <a:ahLst/>
            <a:cxnLst/>
            <a:rect l="l" t="t" r="r" b="b"/>
            <a:pathLst>
              <a:path w="6953250" h="687917">
                <a:moveTo>
                  <a:pt x="42334" y="0"/>
                </a:moveTo>
                <a:lnTo>
                  <a:pt x="6910916" y="0"/>
                </a:lnTo>
                <a:cubicBezTo>
                  <a:pt x="6934296" y="0"/>
                  <a:pt x="6953250" y="18954"/>
                  <a:pt x="6953250" y="42334"/>
                </a:cubicBezTo>
                <a:lnTo>
                  <a:pt x="6953250" y="645582"/>
                </a:lnTo>
                <a:cubicBezTo>
                  <a:pt x="6953250" y="668963"/>
                  <a:pt x="6934296" y="687917"/>
                  <a:pt x="6910916" y="687917"/>
                </a:cubicBezTo>
                <a:lnTo>
                  <a:pt x="42334" y="687917"/>
                </a:lnTo>
                <a:cubicBezTo>
                  <a:pt x="18954" y="687917"/>
                  <a:pt x="0" y="668963"/>
                  <a:pt x="0" y="645582"/>
                </a:cubicBezTo>
                <a:lnTo>
                  <a:pt x="0" y="42334"/>
                </a:lnTo>
                <a:cubicBezTo>
                  <a:pt x="0" y="18969"/>
                  <a:pt x="18969" y="0"/>
                  <a:pt x="42334" y="0"/>
                </a:cubicBezTo>
                <a:close/>
              </a:path>
            </a:pathLst>
          </a:custGeom>
          <a:solidFill>
            <a:srgbClr val="4C7E9A">
              <a:alpha val="20000"/>
            </a:srgbClr>
          </a:solidFill>
          <a:ln w="12700">
            <a:solidFill>
              <a:srgbClr val="4C7E9A"/>
            </a:solidFill>
            <a:prstDash val="solid"/>
          </a:ln>
        </p:spPr>
      </p:sp>
      <p:sp>
        <p:nvSpPr>
          <p:cNvPr id="47" name="Text 45"/>
          <p:cNvSpPr/>
          <p:nvPr/>
        </p:nvSpPr>
        <p:spPr>
          <a:xfrm>
            <a:off x="8630708" y="5471583"/>
            <a:ext cx="6847417" cy="211667"/>
          </a:xfrm>
          <a:prstGeom prst="rect">
            <a:avLst/>
          </a:prstGeom>
          <a:noFill/>
          <a:ln/>
        </p:spPr>
        <p:txBody>
          <a:bodyPr wrap="square" lIns="0" tIns="0" rIns="0" bIns="0" rtlCol="0" anchor="ctr"/>
          <a:lstStyle/>
          <a:p>
            <a:pPr algn="ctr">
              <a:lnSpc>
                <a:spcPct val="120000"/>
              </a:lnSpc>
            </a:pPr>
            <a:r>
              <a:rPr lang="en-US" sz="1167" dirty="0">
                <a:solidFill>
                  <a:srgbClr val="7E9AA8"/>
                </a:solidFill>
                <a:latin typeface="MiSans" pitchFamily="34" charset="0"/>
                <a:ea typeface="MiSans" pitchFamily="34" charset="-122"/>
                <a:cs typeface="MiSans" pitchFamily="34" charset="-120"/>
              </a:rPr>
              <a:t>Stacking</a:t>
            </a:r>
            <a:endParaRPr lang="en-US" sz="1600" dirty="0"/>
          </a:p>
        </p:txBody>
      </p:sp>
      <p:sp>
        <p:nvSpPr>
          <p:cNvPr id="48" name="Text 46"/>
          <p:cNvSpPr/>
          <p:nvPr/>
        </p:nvSpPr>
        <p:spPr>
          <a:xfrm>
            <a:off x="8614833" y="5683250"/>
            <a:ext cx="6879167" cy="296333"/>
          </a:xfrm>
          <a:prstGeom prst="rect">
            <a:avLst/>
          </a:prstGeom>
          <a:noFill/>
          <a:ln/>
        </p:spPr>
        <p:txBody>
          <a:bodyPr wrap="square" lIns="0" tIns="0" rIns="0" bIns="0" rtlCol="0" anchor="ctr"/>
          <a:lstStyle/>
          <a:p>
            <a:pPr algn="ctr">
              <a:lnSpc>
                <a:spcPct val="120000"/>
              </a:lnSpc>
            </a:pPr>
            <a:r>
              <a:rPr lang="en-US" sz="1667" b="1" dirty="0">
                <a:solidFill>
                  <a:srgbClr val="4C7E9A"/>
                </a:solidFill>
                <a:latin typeface="MiSans" pitchFamily="34" charset="0"/>
                <a:ea typeface="MiSans" pitchFamily="34" charset="-122"/>
                <a:cs typeface="MiSans" pitchFamily="34" charset="-120"/>
              </a:rPr>
              <a:t>89%</a:t>
            </a:r>
            <a:endParaRPr lang="en-US" sz="1600" dirty="0"/>
          </a:p>
        </p:txBody>
      </p:sp>
      <p:sp>
        <p:nvSpPr>
          <p:cNvPr id="49" name="Shape 47"/>
          <p:cNvSpPr/>
          <p:nvPr/>
        </p:nvSpPr>
        <p:spPr>
          <a:xfrm>
            <a:off x="8239125" y="6545792"/>
            <a:ext cx="7588250" cy="3016250"/>
          </a:xfrm>
          <a:custGeom>
            <a:avLst/>
            <a:gdLst/>
            <a:ahLst/>
            <a:cxnLst/>
            <a:rect l="l" t="t" r="r" b="b"/>
            <a:pathLst>
              <a:path w="7588250" h="3016250">
                <a:moveTo>
                  <a:pt x="84666" y="0"/>
                </a:moveTo>
                <a:lnTo>
                  <a:pt x="7503584" y="0"/>
                </a:lnTo>
                <a:cubicBezTo>
                  <a:pt x="7550344" y="0"/>
                  <a:pt x="7588250" y="37906"/>
                  <a:pt x="7588250" y="84666"/>
                </a:cubicBezTo>
                <a:lnTo>
                  <a:pt x="7588250" y="2931584"/>
                </a:lnTo>
                <a:cubicBezTo>
                  <a:pt x="7588250" y="2978344"/>
                  <a:pt x="7550344" y="3016250"/>
                  <a:pt x="7503584" y="3016250"/>
                </a:cubicBezTo>
                <a:lnTo>
                  <a:pt x="84666" y="3016250"/>
                </a:lnTo>
                <a:cubicBezTo>
                  <a:pt x="37906" y="3016250"/>
                  <a:pt x="0" y="2978344"/>
                  <a:pt x="0" y="2931584"/>
                </a:cubicBezTo>
                <a:lnTo>
                  <a:pt x="0" y="84666"/>
                </a:lnTo>
                <a:cubicBezTo>
                  <a:pt x="0" y="37938"/>
                  <a:pt x="37938" y="0"/>
                  <a:pt x="84666" y="0"/>
                </a:cubicBezTo>
                <a:close/>
              </a:path>
            </a:pathLst>
          </a:custGeom>
          <a:solidFill>
            <a:srgbClr val="3A5E78">
              <a:alpha val="20000"/>
            </a:srgbClr>
          </a:solidFill>
          <a:ln w="12700">
            <a:solidFill>
              <a:srgbClr val="4C7E9A">
                <a:alpha val="50196"/>
              </a:srgbClr>
            </a:solidFill>
            <a:prstDash val="solid"/>
          </a:ln>
        </p:spPr>
      </p:sp>
      <p:sp>
        <p:nvSpPr>
          <p:cNvPr id="50" name="Text 48"/>
          <p:cNvSpPr/>
          <p:nvPr/>
        </p:nvSpPr>
        <p:spPr>
          <a:xfrm>
            <a:off x="8413750" y="6720417"/>
            <a:ext cx="7366000" cy="338667"/>
          </a:xfrm>
          <a:prstGeom prst="rect">
            <a:avLst/>
          </a:prstGeom>
          <a:noFill/>
          <a:ln/>
        </p:spPr>
        <p:txBody>
          <a:bodyPr wrap="square" lIns="0" tIns="0" rIns="0" bIns="0" rtlCol="0" anchor="ctr"/>
          <a:lstStyle/>
          <a:p>
            <a:pPr>
              <a:lnSpc>
                <a:spcPct val="110000"/>
              </a:lnSpc>
            </a:pPr>
            <a:r>
              <a:rPr lang="en-US" sz="2000" b="1" dirty="0">
                <a:solidFill>
                  <a:srgbClr val="4C7E9A"/>
                </a:solidFill>
                <a:latin typeface="MiSans" pitchFamily="34" charset="0"/>
                <a:ea typeface="MiSans" pitchFamily="34" charset="-122"/>
                <a:cs typeface="MiSans" pitchFamily="34" charset="-120"/>
              </a:rPr>
              <a:t>案例启示</a:t>
            </a:r>
            <a:endParaRPr lang="en-US" sz="1600" dirty="0"/>
          </a:p>
        </p:txBody>
      </p:sp>
      <p:sp>
        <p:nvSpPr>
          <p:cNvPr id="51" name="Shape 49"/>
          <p:cNvSpPr/>
          <p:nvPr/>
        </p:nvSpPr>
        <p:spPr>
          <a:xfrm>
            <a:off x="8413750" y="7186083"/>
            <a:ext cx="7239000" cy="677333"/>
          </a:xfrm>
          <a:custGeom>
            <a:avLst/>
            <a:gdLst/>
            <a:ahLst/>
            <a:cxnLst/>
            <a:rect l="l" t="t" r="r" b="b"/>
            <a:pathLst>
              <a:path w="7239000" h="677333">
                <a:moveTo>
                  <a:pt x="42333" y="0"/>
                </a:moveTo>
                <a:lnTo>
                  <a:pt x="7196667" y="0"/>
                </a:lnTo>
                <a:cubicBezTo>
                  <a:pt x="7220047" y="0"/>
                  <a:pt x="7239000" y="18953"/>
                  <a:pt x="7239000" y="42333"/>
                </a:cubicBezTo>
                <a:lnTo>
                  <a:pt x="7239000" y="635000"/>
                </a:lnTo>
                <a:cubicBezTo>
                  <a:pt x="7239000" y="658380"/>
                  <a:pt x="7220047" y="677333"/>
                  <a:pt x="7196667"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alpha val="50196"/>
            </a:srgbClr>
          </a:solidFill>
          <a:ln/>
        </p:spPr>
      </p:sp>
      <p:sp>
        <p:nvSpPr>
          <p:cNvPr id="52" name="Text 50"/>
          <p:cNvSpPr/>
          <p:nvPr/>
        </p:nvSpPr>
        <p:spPr>
          <a:xfrm>
            <a:off x="8498417" y="7270750"/>
            <a:ext cx="7154333"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数据预处理的重要性</a:t>
            </a:r>
            <a:endParaRPr lang="en-US" sz="1600" dirty="0"/>
          </a:p>
        </p:txBody>
      </p:sp>
      <p:sp>
        <p:nvSpPr>
          <p:cNvPr id="53" name="Text 51"/>
          <p:cNvSpPr/>
          <p:nvPr/>
        </p:nvSpPr>
        <p:spPr>
          <a:xfrm>
            <a:off x="8498417" y="7567083"/>
            <a:ext cx="71437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距离敏感模型必须进行特征标准化</a:t>
            </a:r>
            <a:endParaRPr lang="en-US" sz="1600" dirty="0"/>
          </a:p>
        </p:txBody>
      </p:sp>
      <p:sp>
        <p:nvSpPr>
          <p:cNvPr id="54" name="Shape 52"/>
          <p:cNvSpPr/>
          <p:nvPr/>
        </p:nvSpPr>
        <p:spPr>
          <a:xfrm>
            <a:off x="8413750" y="7948083"/>
            <a:ext cx="7239000" cy="677333"/>
          </a:xfrm>
          <a:custGeom>
            <a:avLst/>
            <a:gdLst/>
            <a:ahLst/>
            <a:cxnLst/>
            <a:rect l="l" t="t" r="r" b="b"/>
            <a:pathLst>
              <a:path w="7239000" h="677333">
                <a:moveTo>
                  <a:pt x="42333" y="0"/>
                </a:moveTo>
                <a:lnTo>
                  <a:pt x="7196667" y="0"/>
                </a:lnTo>
                <a:cubicBezTo>
                  <a:pt x="7220047" y="0"/>
                  <a:pt x="7239000" y="18953"/>
                  <a:pt x="7239000" y="42333"/>
                </a:cubicBezTo>
                <a:lnTo>
                  <a:pt x="7239000" y="635000"/>
                </a:lnTo>
                <a:cubicBezTo>
                  <a:pt x="7239000" y="658380"/>
                  <a:pt x="7220047" y="677333"/>
                  <a:pt x="7196667"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alpha val="50196"/>
            </a:srgbClr>
          </a:solidFill>
          <a:ln/>
        </p:spPr>
      </p:sp>
      <p:sp>
        <p:nvSpPr>
          <p:cNvPr id="55" name="Text 53"/>
          <p:cNvSpPr/>
          <p:nvPr/>
        </p:nvSpPr>
        <p:spPr>
          <a:xfrm>
            <a:off x="8498417" y="8032750"/>
            <a:ext cx="7154333"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模型互补性</a:t>
            </a:r>
            <a:endParaRPr lang="en-US" sz="1600" dirty="0"/>
          </a:p>
        </p:txBody>
      </p:sp>
      <p:sp>
        <p:nvSpPr>
          <p:cNvPr id="56" name="Text 54"/>
          <p:cNvSpPr/>
          <p:nvPr/>
        </p:nvSpPr>
        <p:spPr>
          <a:xfrm>
            <a:off x="8498417" y="8329083"/>
            <a:ext cx="71437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不同算法的组合能够提升整体性能</a:t>
            </a:r>
            <a:endParaRPr lang="en-US" sz="1600" dirty="0"/>
          </a:p>
        </p:txBody>
      </p:sp>
      <p:sp>
        <p:nvSpPr>
          <p:cNvPr id="57" name="Shape 55"/>
          <p:cNvSpPr/>
          <p:nvPr/>
        </p:nvSpPr>
        <p:spPr>
          <a:xfrm>
            <a:off x="8413750" y="8710083"/>
            <a:ext cx="7239000" cy="677333"/>
          </a:xfrm>
          <a:custGeom>
            <a:avLst/>
            <a:gdLst/>
            <a:ahLst/>
            <a:cxnLst/>
            <a:rect l="l" t="t" r="r" b="b"/>
            <a:pathLst>
              <a:path w="7239000" h="677333">
                <a:moveTo>
                  <a:pt x="42333" y="0"/>
                </a:moveTo>
                <a:lnTo>
                  <a:pt x="7196667" y="0"/>
                </a:lnTo>
                <a:cubicBezTo>
                  <a:pt x="7220047" y="0"/>
                  <a:pt x="7239000" y="18953"/>
                  <a:pt x="7239000" y="42333"/>
                </a:cubicBezTo>
                <a:lnTo>
                  <a:pt x="7239000" y="635000"/>
                </a:lnTo>
                <a:cubicBezTo>
                  <a:pt x="7239000" y="658380"/>
                  <a:pt x="7220047" y="677333"/>
                  <a:pt x="7196667" y="677333"/>
                </a:cubicBezTo>
                <a:lnTo>
                  <a:pt x="42333" y="677333"/>
                </a:lnTo>
                <a:cubicBezTo>
                  <a:pt x="18953" y="677333"/>
                  <a:pt x="0" y="658380"/>
                  <a:pt x="0" y="635000"/>
                </a:cubicBezTo>
                <a:lnTo>
                  <a:pt x="0" y="42333"/>
                </a:lnTo>
                <a:cubicBezTo>
                  <a:pt x="0" y="18953"/>
                  <a:pt x="18953" y="0"/>
                  <a:pt x="42333" y="0"/>
                </a:cubicBezTo>
                <a:close/>
              </a:path>
            </a:pathLst>
          </a:custGeom>
          <a:solidFill>
            <a:srgbClr val="181A1F">
              <a:alpha val="50196"/>
            </a:srgbClr>
          </a:solidFill>
          <a:ln/>
        </p:spPr>
      </p:sp>
      <p:sp>
        <p:nvSpPr>
          <p:cNvPr id="58" name="Text 56"/>
          <p:cNvSpPr/>
          <p:nvPr/>
        </p:nvSpPr>
        <p:spPr>
          <a:xfrm>
            <a:off x="8498417" y="8794750"/>
            <a:ext cx="7154333" cy="254000"/>
          </a:xfrm>
          <a:prstGeom prst="rect">
            <a:avLst/>
          </a:prstGeom>
          <a:noFill/>
          <a:ln/>
        </p:spPr>
        <p:txBody>
          <a:bodyPr wrap="square" lIns="0" tIns="0" rIns="0" bIns="0" rtlCol="0" anchor="ctr"/>
          <a:lstStyle/>
          <a:p>
            <a:pPr>
              <a:lnSpc>
                <a:spcPct val="130000"/>
              </a:lnSpc>
            </a:pPr>
            <a:r>
              <a:rPr lang="en-US" sz="1333" b="1" dirty="0">
                <a:solidFill>
                  <a:srgbClr val="D1D5DB"/>
                </a:solidFill>
                <a:latin typeface="MiSans" pitchFamily="34" charset="0"/>
                <a:ea typeface="MiSans" pitchFamily="34" charset="-122"/>
                <a:cs typeface="MiSans" pitchFamily="34" charset="-120"/>
              </a:rPr>
              <a:t>Stacking优势</a:t>
            </a:r>
            <a:endParaRPr lang="en-US" sz="1600" dirty="0"/>
          </a:p>
        </p:txBody>
      </p:sp>
      <p:sp>
        <p:nvSpPr>
          <p:cNvPr id="59" name="Text 57"/>
          <p:cNvSpPr/>
          <p:nvPr/>
        </p:nvSpPr>
        <p:spPr>
          <a:xfrm>
            <a:off x="8498417" y="9091083"/>
            <a:ext cx="7143750" cy="211667"/>
          </a:xfrm>
          <a:prstGeom prst="rect">
            <a:avLst/>
          </a:prstGeom>
          <a:noFill/>
          <a:ln/>
        </p:spPr>
        <p:txBody>
          <a:bodyPr wrap="square" lIns="0" tIns="0" rIns="0" bIns="0" rtlCol="0" anchor="ctr"/>
          <a:lstStyle/>
          <a:p>
            <a:pPr>
              <a:lnSpc>
                <a:spcPct val="120000"/>
              </a:lnSpc>
            </a:pPr>
            <a:r>
              <a:rPr lang="en-US" sz="1167" dirty="0">
                <a:solidFill>
                  <a:srgbClr val="7E9AA8"/>
                </a:solidFill>
                <a:latin typeface="MiSans" pitchFamily="34" charset="0"/>
                <a:ea typeface="MiSans" pitchFamily="34" charset="-122"/>
                <a:cs typeface="MiSans" pitchFamily="34" charset="-120"/>
              </a:rPr>
              <a:t>在真实业务场景中表现优异</a:t>
            </a:r>
            <a:endParaRPr lang="en-US" sz="1600" dirty="0"/>
          </a:p>
        </p:txBody>
      </p:sp>
      <p:sp>
        <p:nvSpPr>
          <p:cNvPr id="60" name="Shape 58"/>
          <p:cNvSpPr/>
          <p:nvPr/>
        </p:nvSpPr>
        <p:spPr>
          <a:xfrm>
            <a:off x="428625" y="9741958"/>
            <a:ext cx="15398750" cy="1005417"/>
          </a:xfrm>
          <a:custGeom>
            <a:avLst/>
            <a:gdLst/>
            <a:ahLst/>
            <a:cxnLst/>
            <a:rect l="l" t="t" r="r" b="b"/>
            <a:pathLst>
              <a:path w="15398750" h="1005417">
                <a:moveTo>
                  <a:pt x="84666" y="0"/>
                </a:moveTo>
                <a:lnTo>
                  <a:pt x="15314084" y="0"/>
                </a:lnTo>
                <a:cubicBezTo>
                  <a:pt x="15360844" y="0"/>
                  <a:pt x="15398750" y="37906"/>
                  <a:pt x="15398750" y="84666"/>
                </a:cubicBezTo>
                <a:lnTo>
                  <a:pt x="15398750" y="920751"/>
                </a:lnTo>
                <a:cubicBezTo>
                  <a:pt x="15398750" y="967510"/>
                  <a:pt x="15360844" y="1005417"/>
                  <a:pt x="15314084" y="1005417"/>
                </a:cubicBezTo>
                <a:lnTo>
                  <a:pt x="84666" y="1005417"/>
                </a:lnTo>
                <a:cubicBezTo>
                  <a:pt x="37906" y="1005417"/>
                  <a:pt x="0" y="967510"/>
                  <a:pt x="0" y="920751"/>
                </a:cubicBezTo>
                <a:lnTo>
                  <a:pt x="0" y="84666"/>
                </a:lnTo>
                <a:cubicBezTo>
                  <a:pt x="0" y="37938"/>
                  <a:pt x="37938" y="0"/>
                  <a:pt x="84666" y="0"/>
                </a:cubicBezTo>
                <a:close/>
              </a:path>
            </a:pathLst>
          </a:custGeom>
          <a:solidFill>
            <a:srgbClr val="4C7E9A">
              <a:alpha val="10196"/>
            </a:srgbClr>
          </a:solidFill>
          <a:ln w="12700">
            <a:solidFill>
              <a:srgbClr val="4C7E9A">
                <a:alpha val="30196"/>
              </a:srgbClr>
            </a:solidFill>
            <a:prstDash val="solid"/>
          </a:ln>
        </p:spPr>
      </p:sp>
      <p:sp>
        <p:nvSpPr>
          <p:cNvPr id="61" name="Shape 59"/>
          <p:cNvSpPr/>
          <p:nvPr/>
        </p:nvSpPr>
        <p:spPr>
          <a:xfrm>
            <a:off x="645583" y="9916583"/>
            <a:ext cx="317500" cy="317500"/>
          </a:xfrm>
          <a:custGeom>
            <a:avLst/>
            <a:gdLst/>
            <a:ahLst/>
            <a:cxnLst/>
            <a:rect l="l" t="t" r="r" b="b"/>
            <a:pathLst>
              <a:path w="317500" h="317500">
                <a:moveTo>
                  <a:pt x="158750" y="66911"/>
                </a:moveTo>
                <a:lnTo>
                  <a:pt x="149448" y="54012"/>
                </a:lnTo>
                <a:cubicBezTo>
                  <a:pt x="133945" y="32556"/>
                  <a:pt x="109079" y="19844"/>
                  <a:pt x="82538" y="19844"/>
                </a:cubicBezTo>
                <a:cubicBezTo>
                  <a:pt x="36959" y="19844"/>
                  <a:pt x="0" y="56803"/>
                  <a:pt x="0" y="102381"/>
                </a:cubicBezTo>
                <a:lnTo>
                  <a:pt x="0" y="103994"/>
                </a:lnTo>
                <a:cubicBezTo>
                  <a:pt x="0" y="118628"/>
                  <a:pt x="3845" y="133759"/>
                  <a:pt x="10294" y="148828"/>
                </a:cubicBezTo>
                <a:lnTo>
                  <a:pt x="76026" y="148828"/>
                </a:lnTo>
                <a:cubicBezTo>
                  <a:pt x="78011" y="148828"/>
                  <a:pt x="79809" y="147650"/>
                  <a:pt x="80615" y="145790"/>
                </a:cubicBezTo>
                <a:lnTo>
                  <a:pt x="100335" y="98475"/>
                </a:lnTo>
                <a:cubicBezTo>
                  <a:pt x="102629" y="93018"/>
                  <a:pt x="107962" y="89421"/>
                  <a:pt x="113854" y="89297"/>
                </a:cubicBezTo>
                <a:cubicBezTo>
                  <a:pt x="119745" y="89173"/>
                  <a:pt x="125202" y="92646"/>
                  <a:pt x="127620" y="98041"/>
                </a:cubicBezTo>
                <a:lnTo>
                  <a:pt x="159432" y="168672"/>
                </a:lnTo>
                <a:lnTo>
                  <a:pt x="185105" y="117326"/>
                </a:lnTo>
                <a:cubicBezTo>
                  <a:pt x="187647" y="112303"/>
                  <a:pt x="192794" y="109079"/>
                  <a:pt x="198438" y="109079"/>
                </a:cubicBezTo>
                <a:cubicBezTo>
                  <a:pt x="204081" y="109079"/>
                  <a:pt x="209228" y="112241"/>
                  <a:pt x="211770" y="117326"/>
                </a:cubicBezTo>
                <a:lnTo>
                  <a:pt x="226157" y="146038"/>
                </a:lnTo>
                <a:cubicBezTo>
                  <a:pt x="227025" y="147712"/>
                  <a:pt x="228699" y="148766"/>
                  <a:pt x="230622" y="148766"/>
                </a:cubicBezTo>
                <a:lnTo>
                  <a:pt x="307268" y="148766"/>
                </a:lnTo>
                <a:cubicBezTo>
                  <a:pt x="313779" y="133697"/>
                  <a:pt x="317562" y="118566"/>
                  <a:pt x="317562" y="103932"/>
                </a:cubicBezTo>
                <a:lnTo>
                  <a:pt x="317562" y="102319"/>
                </a:lnTo>
                <a:cubicBezTo>
                  <a:pt x="317500" y="56803"/>
                  <a:pt x="280541" y="19844"/>
                  <a:pt x="234962" y="19844"/>
                </a:cubicBezTo>
                <a:cubicBezTo>
                  <a:pt x="208483" y="19844"/>
                  <a:pt x="183555" y="32556"/>
                  <a:pt x="168052" y="54012"/>
                </a:cubicBezTo>
                <a:lnTo>
                  <a:pt x="158750" y="66849"/>
                </a:lnTo>
                <a:close/>
                <a:moveTo>
                  <a:pt x="291207" y="178594"/>
                </a:moveTo>
                <a:lnTo>
                  <a:pt x="230560" y="178594"/>
                </a:lnTo>
                <a:cubicBezTo>
                  <a:pt x="217413" y="178594"/>
                  <a:pt x="205383" y="171152"/>
                  <a:pt x="199492" y="159370"/>
                </a:cubicBezTo>
                <a:lnTo>
                  <a:pt x="198438" y="157262"/>
                </a:lnTo>
                <a:lnTo>
                  <a:pt x="172083" y="210034"/>
                </a:lnTo>
                <a:cubicBezTo>
                  <a:pt x="169540" y="215181"/>
                  <a:pt x="164207" y="218405"/>
                  <a:pt x="158440" y="218281"/>
                </a:cubicBezTo>
                <a:cubicBezTo>
                  <a:pt x="152673" y="218157"/>
                  <a:pt x="147526" y="214747"/>
                  <a:pt x="145169" y="209538"/>
                </a:cubicBezTo>
                <a:lnTo>
                  <a:pt x="114598" y="141635"/>
                </a:lnTo>
                <a:lnTo>
                  <a:pt x="108086" y="157262"/>
                </a:lnTo>
                <a:cubicBezTo>
                  <a:pt x="102691" y="170222"/>
                  <a:pt x="90041" y="178656"/>
                  <a:pt x="76026" y="178656"/>
                </a:cubicBezTo>
                <a:lnTo>
                  <a:pt x="26293" y="178656"/>
                </a:lnTo>
                <a:cubicBezTo>
                  <a:pt x="55563" y="224420"/>
                  <a:pt x="102567" y="266526"/>
                  <a:pt x="131961" y="288975"/>
                </a:cubicBezTo>
                <a:cubicBezTo>
                  <a:pt x="139650" y="294804"/>
                  <a:pt x="149076" y="297718"/>
                  <a:pt x="158688" y="297718"/>
                </a:cubicBezTo>
                <a:cubicBezTo>
                  <a:pt x="168300" y="297718"/>
                  <a:pt x="177788" y="294866"/>
                  <a:pt x="185415" y="288975"/>
                </a:cubicBezTo>
                <a:cubicBezTo>
                  <a:pt x="214933" y="266464"/>
                  <a:pt x="261937" y="224358"/>
                  <a:pt x="291207" y="178594"/>
                </a:cubicBezTo>
                <a:close/>
              </a:path>
            </a:pathLst>
          </a:custGeom>
          <a:solidFill>
            <a:srgbClr val="4C7E9A"/>
          </a:solidFill>
          <a:ln/>
        </p:spPr>
      </p:sp>
      <p:sp>
        <p:nvSpPr>
          <p:cNvPr id="62" name="Text 60"/>
          <p:cNvSpPr/>
          <p:nvPr/>
        </p:nvSpPr>
        <p:spPr>
          <a:xfrm>
            <a:off x="1169458" y="9916583"/>
            <a:ext cx="14594417" cy="296333"/>
          </a:xfrm>
          <a:prstGeom prst="rect">
            <a:avLst/>
          </a:prstGeom>
          <a:noFill/>
          <a:ln/>
        </p:spPr>
        <p:txBody>
          <a:bodyPr wrap="square" lIns="0" tIns="0" rIns="0" bIns="0" rtlCol="0" anchor="ctr"/>
          <a:lstStyle/>
          <a:p>
            <a:pPr>
              <a:lnSpc>
                <a:spcPct val="120000"/>
              </a:lnSpc>
            </a:pPr>
            <a:r>
              <a:rPr lang="en-US" sz="1667" b="1" dirty="0">
                <a:solidFill>
                  <a:srgbClr val="D1D5DB"/>
                </a:solidFill>
                <a:latin typeface="MiSans" pitchFamily="34" charset="0"/>
                <a:ea typeface="MiSans" pitchFamily="34" charset="-122"/>
                <a:cs typeface="MiSans" pitchFamily="34" charset="-120"/>
              </a:rPr>
              <a:t>医疗AI的应用价值</a:t>
            </a:r>
            <a:endParaRPr lang="en-US" sz="1600" dirty="0"/>
          </a:p>
        </p:txBody>
      </p:sp>
      <p:sp>
        <p:nvSpPr>
          <p:cNvPr id="63" name="Text 61"/>
          <p:cNvSpPr/>
          <p:nvPr/>
        </p:nvSpPr>
        <p:spPr>
          <a:xfrm>
            <a:off x="1169458" y="10297583"/>
            <a:ext cx="14573250" cy="275167"/>
          </a:xfrm>
          <a:prstGeom prst="rect">
            <a:avLst/>
          </a:prstGeom>
          <a:noFill/>
          <a:ln/>
        </p:spPr>
        <p:txBody>
          <a:bodyPr wrap="square" lIns="0" tIns="0" rIns="0" bIns="0" rtlCol="0" anchor="ctr"/>
          <a:lstStyle/>
          <a:p>
            <a:pPr>
              <a:lnSpc>
                <a:spcPct val="140000"/>
              </a:lnSpc>
            </a:pPr>
            <a:r>
              <a:rPr lang="en-US" sz="1333" dirty="0">
                <a:solidFill>
                  <a:srgbClr val="7E9AA8"/>
                </a:solidFill>
                <a:latin typeface="MiSans" pitchFamily="34" charset="0"/>
                <a:ea typeface="MiSans" pitchFamily="34" charset="-122"/>
                <a:cs typeface="MiSans" pitchFamily="34" charset="-120"/>
              </a:rPr>
              <a:t>这个案例展示了在真实业务场景中，如何结合数据预处理与Stacking提升预测性能。在医疗AI领域，模型的准确性和鲁棒性至关重要，集成学习技术能够帮助构建更可靠的诊断辅助系统。</a:t>
            </a:r>
            <a:endParaRPr lang="en-US" sz="1600" dirty="0"/>
          </a:p>
        </p:txBody>
      </p:sp>
    </p:spTree>
  </p:cSld>
  <p:clrMapOvr>
    <a:masterClrMapping/>
  </p:clrMapOvr>
  <p:transition>
    <p:fade/>
    <p:spd val="med"/>
  </p:transition>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478118" y="478118"/>
            <a:ext cx="15395388" cy="286871"/>
          </a:xfrm>
          <a:prstGeom prst="rect">
            <a:avLst/>
          </a:prstGeom>
          <a:noFill/>
          <a:ln/>
        </p:spPr>
        <p:txBody>
          <a:bodyPr wrap="square" lIns="0" tIns="0" rIns="0" bIns="0" rtlCol="0" anchor="ctr"/>
          <a:lstStyle/>
          <a:p>
            <a:pPr>
              <a:lnSpc>
                <a:spcPct val="130000"/>
              </a:lnSpc>
            </a:pPr>
            <a:r>
              <a:rPr lang="en-US" sz="1506" b="1" spc="75" kern="0" dirty="0">
                <a:solidFill>
                  <a:srgbClr val="7E9AA8"/>
                </a:solidFill>
                <a:latin typeface="MiSans" pitchFamily="34" charset="0"/>
                <a:ea typeface="MiSans" pitchFamily="34" charset="-122"/>
                <a:cs typeface="MiSans" pitchFamily="34" charset="-120"/>
              </a:rPr>
              <a:t>STACKING</a:t>
            </a:r>
            <a:endParaRPr lang="en-US" sz="1600" dirty="0"/>
          </a:p>
        </p:txBody>
      </p:sp>
      <p:sp>
        <p:nvSpPr>
          <p:cNvPr id="3" name="Text 1"/>
          <p:cNvSpPr/>
          <p:nvPr/>
        </p:nvSpPr>
        <p:spPr>
          <a:xfrm>
            <a:off x="478118" y="860612"/>
            <a:ext cx="15514918" cy="478118"/>
          </a:xfrm>
          <a:prstGeom prst="rect">
            <a:avLst/>
          </a:prstGeom>
          <a:noFill/>
          <a:ln/>
        </p:spPr>
        <p:txBody>
          <a:bodyPr wrap="square" lIns="0" tIns="0" rIns="0" bIns="0" rtlCol="0" anchor="ctr"/>
          <a:lstStyle/>
          <a:p>
            <a:pPr>
              <a:lnSpc>
                <a:spcPct val="90000"/>
              </a:lnSpc>
            </a:pPr>
            <a:r>
              <a:rPr lang="en-US" sz="3388" b="1" dirty="0">
                <a:solidFill>
                  <a:srgbClr val="D1D5DB"/>
                </a:solidFill>
                <a:latin typeface="阿里妈妈数黑体" pitchFamily="34" charset="0"/>
                <a:ea typeface="阿里妈妈数黑体" pitchFamily="34" charset="-122"/>
                <a:cs typeface="阿里妈妈数黑体" pitchFamily="34" charset="-120"/>
              </a:rPr>
              <a:t>Stacking核心要点总结</a:t>
            </a:r>
            <a:endParaRPr lang="en-US" sz="1600" dirty="0"/>
          </a:p>
        </p:txBody>
      </p:sp>
      <p:sp>
        <p:nvSpPr>
          <p:cNvPr id="4" name="Shape 2"/>
          <p:cNvSpPr/>
          <p:nvPr/>
        </p:nvSpPr>
        <p:spPr>
          <a:xfrm>
            <a:off x="478118" y="1482165"/>
            <a:ext cx="1147482" cy="47812"/>
          </a:xfrm>
          <a:custGeom>
            <a:avLst/>
            <a:gdLst/>
            <a:ahLst/>
            <a:cxnLst/>
            <a:rect l="l" t="t" r="r" b="b"/>
            <a:pathLst>
              <a:path w="1147482" h="47812">
                <a:moveTo>
                  <a:pt x="0" y="0"/>
                </a:moveTo>
                <a:lnTo>
                  <a:pt x="1147482" y="0"/>
                </a:lnTo>
                <a:lnTo>
                  <a:pt x="1147482" y="47812"/>
                </a:lnTo>
                <a:lnTo>
                  <a:pt x="0" y="47812"/>
                </a:lnTo>
                <a:lnTo>
                  <a:pt x="0" y="0"/>
                </a:lnTo>
                <a:close/>
              </a:path>
            </a:pathLst>
          </a:custGeom>
          <a:solidFill>
            <a:srgbClr val="4C7E9A"/>
          </a:solidFill>
          <a:ln/>
        </p:spPr>
      </p:sp>
      <p:sp>
        <p:nvSpPr>
          <p:cNvPr id="5" name="Shape 3"/>
          <p:cNvSpPr/>
          <p:nvPr/>
        </p:nvSpPr>
        <p:spPr>
          <a:xfrm>
            <a:off x="502024" y="1721224"/>
            <a:ext cx="7506447" cy="2330824"/>
          </a:xfrm>
          <a:custGeom>
            <a:avLst/>
            <a:gdLst/>
            <a:ahLst/>
            <a:cxnLst/>
            <a:rect l="l" t="t" r="r" b="b"/>
            <a:pathLst>
              <a:path w="7506447" h="2330824">
                <a:moveTo>
                  <a:pt x="47812" y="0"/>
                </a:moveTo>
                <a:lnTo>
                  <a:pt x="7410813" y="0"/>
                </a:lnTo>
                <a:cubicBezTo>
                  <a:pt x="7463595" y="0"/>
                  <a:pt x="7506447" y="42852"/>
                  <a:pt x="7506447" y="95634"/>
                </a:cubicBezTo>
                <a:lnTo>
                  <a:pt x="7506447" y="2235190"/>
                </a:lnTo>
                <a:cubicBezTo>
                  <a:pt x="7506447" y="2287972"/>
                  <a:pt x="7463595" y="2330824"/>
                  <a:pt x="7410813" y="2330824"/>
                </a:cubicBezTo>
                <a:lnTo>
                  <a:pt x="47812" y="2330824"/>
                </a:lnTo>
                <a:cubicBezTo>
                  <a:pt x="21406" y="2330824"/>
                  <a:pt x="0" y="2309417"/>
                  <a:pt x="0" y="2283012"/>
                </a:cubicBezTo>
                <a:lnTo>
                  <a:pt x="0" y="47812"/>
                </a:lnTo>
                <a:cubicBezTo>
                  <a:pt x="0" y="21406"/>
                  <a:pt x="21406" y="0"/>
                  <a:pt x="47812" y="0"/>
                </a:cubicBezTo>
                <a:close/>
              </a:path>
            </a:pathLst>
          </a:custGeom>
          <a:solidFill>
            <a:srgbClr val="3A5E78">
              <a:alpha val="20000"/>
            </a:srgbClr>
          </a:solidFill>
          <a:ln/>
        </p:spPr>
      </p:sp>
      <p:sp>
        <p:nvSpPr>
          <p:cNvPr id="6" name="Shape 4"/>
          <p:cNvSpPr/>
          <p:nvPr/>
        </p:nvSpPr>
        <p:spPr>
          <a:xfrm>
            <a:off x="502024" y="1721224"/>
            <a:ext cx="47812" cy="2330824"/>
          </a:xfrm>
          <a:custGeom>
            <a:avLst/>
            <a:gdLst/>
            <a:ahLst/>
            <a:cxnLst/>
            <a:rect l="l" t="t" r="r" b="b"/>
            <a:pathLst>
              <a:path w="47812" h="2330824">
                <a:moveTo>
                  <a:pt x="47812" y="0"/>
                </a:moveTo>
                <a:lnTo>
                  <a:pt x="47812" y="0"/>
                </a:lnTo>
                <a:lnTo>
                  <a:pt x="47812" y="2330824"/>
                </a:lnTo>
                <a:lnTo>
                  <a:pt x="47812" y="2330824"/>
                </a:lnTo>
                <a:cubicBezTo>
                  <a:pt x="21406" y="2330824"/>
                  <a:pt x="0" y="2309417"/>
                  <a:pt x="0" y="2283012"/>
                </a:cubicBezTo>
                <a:lnTo>
                  <a:pt x="0" y="47812"/>
                </a:lnTo>
                <a:cubicBezTo>
                  <a:pt x="0" y="21406"/>
                  <a:pt x="21406" y="0"/>
                  <a:pt x="47812" y="0"/>
                </a:cubicBezTo>
                <a:close/>
              </a:path>
            </a:pathLst>
          </a:custGeom>
          <a:solidFill>
            <a:srgbClr val="4C7E9A"/>
          </a:solidFill>
          <a:ln/>
        </p:spPr>
      </p:sp>
      <p:sp>
        <p:nvSpPr>
          <p:cNvPr id="7" name="Text 5"/>
          <p:cNvSpPr/>
          <p:nvPr/>
        </p:nvSpPr>
        <p:spPr>
          <a:xfrm>
            <a:off x="717176" y="1912471"/>
            <a:ext cx="7243482" cy="382494"/>
          </a:xfrm>
          <a:prstGeom prst="rect">
            <a:avLst/>
          </a:prstGeom>
          <a:noFill/>
          <a:ln/>
        </p:spPr>
        <p:txBody>
          <a:bodyPr wrap="square" lIns="0" tIns="0" rIns="0" bIns="0" rtlCol="0" anchor="ctr"/>
          <a:lstStyle/>
          <a:p>
            <a:pPr>
              <a:lnSpc>
                <a:spcPct val="110000"/>
              </a:lnSpc>
            </a:pPr>
            <a:r>
              <a:rPr lang="en-US" sz="2259" b="1" dirty="0">
                <a:solidFill>
                  <a:srgbClr val="4C7E9A"/>
                </a:solidFill>
                <a:latin typeface="MiSans" pitchFamily="34" charset="0"/>
                <a:ea typeface="MiSans" pitchFamily="34" charset="-122"/>
                <a:cs typeface="MiSans" pitchFamily="34" charset="-120"/>
              </a:rPr>
              <a:t>多样性（Diversity）</a:t>
            </a:r>
            <a:endParaRPr lang="en-US" sz="1600" dirty="0"/>
          </a:p>
        </p:txBody>
      </p:sp>
      <p:sp>
        <p:nvSpPr>
          <p:cNvPr id="8" name="Text 6"/>
          <p:cNvSpPr/>
          <p:nvPr/>
        </p:nvSpPr>
        <p:spPr>
          <a:xfrm>
            <a:off x="717176" y="2438400"/>
            <a:ext cx="7207624" cy="705224"/>
          </a:xfrm>
          <a:prstGeom prst="rect">
            <a:avLst/>
          </a:prstGeom>
          <a:noFill/>
          <a:ln/>
        </p:spPr>
        <p:txBody>
          <a:bodyPr wrap="square" lIns="0" tIns="0" rIns="0" bIns="0" rtlCol="0" anchor="ctr"/>
          <a:lstStyle/>
          <a:p>
            <a:pPr>
              <a:lnSpc>
                <a:spcPct val="140000"/>
              </a:lnSpc>
            </a:pPr>
            <a:r>
              <a:rPr lang="en-US" sz="1694" dirty="0">
                <a:solidFill>
                  <a:srgbClr val="D1D5DB"/>
                </a:solidFill>
                <a:latin typeface="MiSans" pitchFamily="34" charset="0"/>
                <a:ea typeface="MiSans" pitchFamily="34" charset="-122"/>
                <a:cs typeface="MiSans" pitchFamily="34" charset="-120"/>
              </a:rPr>
              <a:t>Stacking效果依赖于</a:t>
            </a:r>
            <a:pPr>
              <a:lnSpc>
                <a:spcPct val="140000"/>
              </a:lnSpc>
            </a:pPr>
            <a:r>
              <a:rPr lang="en-US" sz="1694" b="1" dirty="0">
                <a:solidFill>
                  <a:srgbClr val="4C7E9A"/>
                </a:solidFill>
                <a:latin typeface="MiSans" pitchFamily="34" charset="0"/>
                <a:ea typeface="MiSans" pitchFamily="34" charset="-122"/>
                <a:cs typeface="MiSans" pitchFamily="34" charset="-120"/>
              </a:rPr>
              <a:t>基学习器的差异性</a:t>
            </a:r>
            <a:pPr>
              <a:lnSpc>
                <a:spcPct val="140000"/>
              </a:lnSpc>
            </a:pPr>
            <a:r>
              <a:rPr lang="en-US" sz="1694" dirty="0">
                <a:solidFill>
                  <a:srgbClr val="D1D5DB"/>
                </a:solidFill>
                <a:latin typeface="MiSans" pitchFamily="34" charset="0"/>
                <a:ea typeface="MiSans" pitchFamily="34" charset="-122"/>
                <a:cs typeface="MiSans" pitchFamily="34" charset="-120"/>
              </a:rPr>
              <a:t>。混合基于距离、基于树和基于概率的模型。</a:t>
            </a:r>
            <a:endParaRPr lang="en-US" sz="1600" dirty="0"/>
          </a:p>
        </p:txBody>
      </p:sp>
      <p:sp>
        <p:nvSpPr>
          <p:cNvPr id="9" name="Shape 7"/>
          <p:cNvSpPr/>
          <p:nvPr/>
        </p:nvSpPr>
        <p:spPr>
          <a:xfrm>
            <a:off x="717176" y="3281082"/>
            <a:ext cx="7100047" cy="573741"/>
          </a:xfrm>
          <a:custGeom>
            <a:avLst/>
            <a:gdLst/>
            <a:ahLst/>
            <a:cxnLst/>
            <a:rect l="l" t="t" r="r" b="b"/>
            <a:pathLst>
              <a:path w="7100047" h="573741">
                <a:moveTo>
                  <a:pt x="95625" y="0"/>
                </a:moveTo>
                <a:lnTo>
                  <a:pt x="7004422" y="0"/>
                </a:lnTo>
                <a:cubicBezTo>
                  <a:pt x="7057234" y="0"/>
                  <a:pt x="7100047" y="42813"/>
                  <a:pt x="7100047" y="95625"/>
                </a:cubicBezTo>
                <a:lnTo>
                  <a:pt x="7100047" y="478116"/>
                </a:lnTo>
                <a:cubicBezTo>
                  <a:pt x="7100047" y="530928"/>
                  <a:pt x="7057234" y="573741"/>
                  <a:pt x="7004422" y="573741"/>
                </a:cubicBezTo>
                <a:lnTo>
                  <a:pt x="95625" y="573741"/>
                </a:lnTo>
                <a:cubicBezTo>
                  <a:pt x="42848" y="573741"/>
                  <a:pt x="0" y="530893"/>
                  <a:pt x="0" y="478116"/>
                </a:cubicBezTo>
                <a:lnTo>
                  <a:pt x="0" y="95625"/>
                </a:lnTo>
                <a:cubicBezTo>
                  <a:pt x="0" y="42848"/>
                  <a:pt x="42848" y="0"/>
                  <a:pt x="95625" y="0"/>
                </a:cubicBezTo>
                <a:close/>
              </a:path>
            </a:pathLst>
          </a:custGeom>
          <a:solidFill>
            <a:srgbClr val="181A1F">
              <a:alpha val="50196"/>
            </a:srgbClr>
          </a:solidFill>
          <a:ln/>
        </p:spPr>
      </p:sp>
      <p:sp>
        <p:nvSpPr>
          <p:cNvPr id="10" name="Shape 8"/>
          <p:cNvSpPr/>
          <p:nvPr/>
        </p:nvSpPr>
        <p:spPr>
          <a:xfrm>
            <a:off x="908424" y="3478306"/>
            <a:ext cx="143435" cy="191247"/>
          </a:xfrm>
          <a:custGeom>
            <a:avLst/>
            <a:gdLst/>
            <a:ahLst/>
            <a:cxnLst/>
            <a:rect l="l" t="t" r="r" b="b"/>
            <a:pathLst>
              <a:path w="143435" h="191247">
                <a:moveTo>
                  <a:pt x="109407" y="143435"/>
                </a:moveTo>
                <a:cubicBezTo>
                  <a:pt x="112134" y="135106"/>
                  <a:pt x="117587" y="127560"/>
                  <a:pt x="123750" y="121061"/>
                </a:cubicBezTo>
                <a:cubicBezTo>
                  <a:pt x="135965" y="108211"/>
                  <a:pt x="143435" y="90842"/>
                  <a:pt x="143435" y="71718"/>
                </a:cubicBezTo>
                <a:cubicBezTo>
                  <a:pt x="143435" y="32124"/>
                  <a:pt x="111312" y="0"/>
                  <a:pt x="71718" y="0"/>
                </a:cubicBezTo>
                <a:cubicBezTo>
                  <a:pt x="32124" y="0"/>
                  <a:pt x="0" y="32124"/>
                  <a:pt x="0" y="71718"/>
                </a:cubicBezTo>
                <a:cubicBezTo>
                  <a:pt x="0" y="90842"/>
                  <a:pt x="7471" y="108211"/>
                  <a:pt x="19685" y="121061"/>
                </a:cubicBezTo>
                <a:cubicBezTo>
                  <a:pt x="25848" y="127560"/>
                  <a:pt x="31339" y="135106"/>
                  <a:pt x="34029" y="143435"/>
                </a:cubicBezTo>
                <a:lnTo>
                  <a:pt x="109369" y="143435"/>
                </a:lnTo>
                <a:close/>
                <a:moveTo>
                  <a:pt x="107576" y="161365"/>
                </a:moveTo>
                <a:lnTo>
                  <a:pt x="35859" y="161365"/>
                </a:lnTo>
                <a:lnTo>
                  <a:pt x="35859" y="167341"/>
                </a:lnTo>
                <a:cubicBezTo>
                  <a:pt x="35859" y="183851"/>
                  <a:pt x="49231" y="197224"/>
                  <a:pt x="65741" y="197224"/>
                </a:cubicBezTo>
                <a:lnTo>
                  <a:pt x="77694" y="197224"/>
                </a:lnTo>
                <a:cubicBezTo>
                  <a:pt x="94204" y="197224"/>
                  <a:pt x="107576" y="183851"/>
                  <a:pt x="107576" y="167341"/>
                </a:cubicBezTo>
                <a:lnTo>
                  <a:pt x="107576" y="161365"/>
                </a:lnTo>
                <a:close/>
                <a:moveTo>
                  <a:pt x="68729" y="41835"/>
                </a:moveTo>
                <a:cubicBezTo>
                  <a:pt x="53863" y="41835"/>
                  <a:pt x="41835" y="53863"/>
                  <a:pt x="41835" y="68729"/>
                </a:cubicBezTo>
                <a:cubicBezTo>
                  <a:pt x="41835" y="73697"/>
                  <a:pt x="37839" y="77694"/>
                  <a:pt x="32871" y="77694"/>
                </a:cubicBezTo>
                <a:cubicBezTo>
                  <a:pt x="27903" y="77694"/>
                  <a:pt x="23906" y="73697"/>
                  <a:pt x="23906" y="68729"/>
                </a:cubicBezTo>
                <a:cubicBezTo>
                  <a:pt x="23906" y="43964"/>
                  <a:pt x="43964" y="23906"/>
                  <a:pt x="68729" y="23906"/>
                </a:cubicBezTo>
                <a:cubicBezTo>
                  <a:pt x="73697" y="23906"/>
                  <a:pt x="77694" y="27903"/>
                  <a:pt x="77694" y="32871"/>
                </a:cubicBezTo>
                <a:cubicBezTo>
                  <a:pt x="77694" y="37839"/>
                  <a:pt x="73697" y="41835"/>
                  <a:pt x="68729" y="41835"/>
                </a:cubicBezTo>
                <a:close/>
              </a:path>
            </a:pathLst>
          </a:custGeom>
          <a:solidFill>
            <a:srgbClr val="4C7E9A"/>
          </a:solidFill>
          <a:ln/>
        </p:spPr>
      </p:sp>
      <p:sp>
        <p:nvSpPr>
          <p:cNvPr id="11" name="Text 9"/>
          <p:cNvSpPr/>
          <p:nvPr/>
        </p:nvSpPr>
        <p:spPr>
          <a:xfrm>
            <a:off x="1189669" y="3424518"/>
            <a:ext cx="6579743" cy="286871"/>
          </a:xfrm>
          <a:prstGeom prst="rect">
            <a:avLst/>
          </a:prstGeom>
          <a:noFill/>
          <a:ln/>
        </p:spPr>
        <p:txBody>
          <a:bodyPr wrap="square" lIns="0" tIns="0" rIns="0" bIns="0" rtlCol="0" anchor="ctr"/>
          <a:lstStyle/>
          <a:p>
            <a:pPr>
              <a:lnSpc>
                <a:spcPct val="130000"/>
              </a:lnSpc>
            </a:pPr>
            <a:r>
              <a:rPr lang="en-US" sz="1506" dirty="0">
                <a:solidFill>
                  <a:srgbClr val="7E9AA8"/>
                </a:solidFill>
                <a:latin typeface="MiSans" pitchFamily="34" charset="0"/>
                <a:ea typeface="MiSans" pitchFamily="34" charset="-122"/>
                <a:cs typeface="MiSans" pitchFamily="34" charset="-120"/>
              </a:rPr>
              <a:t>相关性越低的基学习器，能够提供的互补信息就越多</a:t>
            </a:r>
            <a:endParaRPr lang="en-US" sz="1600" dirty="0"/>
          </a:p>
        </p:txBody>
      </p:sp>
      <p:sp>
        <p:nvSpPr>
          <p:cNvPr id="12" name="Shape 10"/>
          <p:cNvSpPr/>
          <p:nvPr/>
        </p:nvSpPr>
        <p:spPr>
          <a:xfrm>
            <a:off x="502024" y="4237318"/>
            <a:ext cx="7506447" cy="1972235"/>
          </a:xfrm>
          <a:custGeom>
            <a:avLst/>
            <a:gdLst/>
            <a:ahLst/>
            <a:cxnLst/>
            <a:rect l="l" t="t" r="r" b="b"/>
            <a:pathLst>
              <a:path w="7506447" h="1972235">
                <a:moveTo>
                  <a:pt x="47812" y="0"/>
                </a:moveTo>
                <a:lnTo>
                  <a:pt x="7410833" y="0"/>
                </a:lnTo>
                <a:cubicBezTo>
                  <a:pt x="7463639" y="0"/>
                  <a:pt x="7506447" y="42808"/>
                  <a:pt x="7506447" y="95614"/>
                </a:cubicBezTo>
                <a:lnTo>
                  <a:pt x="7506447" y="1876621"/>
                </a:lnTo>
                <a:cubicBezTo>
                  <a:pt x="7506447" y="1929427"/>
                  <a:pt x="7463639" y="1972235"/>
                  <a:pt x="7410833" y="1972235"/>
                </a:cubicBezTo>
                <a:lnTo>
                  <a:pt x="47812" y="1972235"/>
                </a:lnTo>
                <a:cubicBezTo>
                  <a:pt x="21406" y="1972235"/>
                  <a:pt x="0" y="1950829"/>
                  <a:pt x="0" y="1924424"/>
                </a:cubicBezTo>
                <a:lnTo>
                  <a:pt x="0" y="47812"/>
                </a:lnTo>
                <a:cubicBezTo>
                  <a:pt x="0" y="21424"/>
                  <a:pt x="21424" y="0"/>
                  <a:pt x="47812" y="0"/>
                </a:cubicBezTo>
                <a:close/>
              </a:path>
            </a:pathLst>
          </a:custGeom>
          <a:solidFill>
            <a:srgbClr val="3A5E78">
              <a:alpha val="20000"/>
            </a:srgbClr>
          </a:solidFill>
          <a:ln/>
        </p:spPr>
      </p:sp>
      <p:sp>
        <p:nvSpPr>
          <p:cNvPr id="13" name="Shape 11"/>
          <p:cNvSpPr/>
          <p:nvPr/>
        </p:nvSpPr>
        <p:spPr>
          <a:xfrm>
            <a:off x="502024" y="4237318"/>
            <a:ext cx="47812" cy="1972235"/>
          </a:xfrm>
          <a:custGeom>
            <a:avLst/>
            <a:gdLst/>
            <a:ahLst/>
            <a:cxnLst/>
            <a:rect l="l" t="t" r="r" b="b"/>
            <a:pathLst>
              <a:path w="47812" h="1972235">
                <a:moveTo>
                  <a:pt x="47812" y="0"/>
                </a:moveTo>
                <a:lnTo>
                  <a:pt x="47812" y="0"/>
                </a:lnTo>
                <a:lnTo>
                  <a:pt x="47812" y="1972235"/>
                </a:lnTo>
                <a:lnTo>
                  <a:pt x="47812" y="1972235"/>
                </a:lnTo>
                <a:cubicBezTo>
                  <a:pt x="21406" y="1972235"/>
                  <a:pt x="0" y="1950829"/>
                  <a:pt x="0" y="1924424"/>
                </a:cubicBezTo>
                <a:lnTo>
                  <a:pt x="0" y="47812"/>
                </a:lnTo>
                <a:cubicBezTo>
                  <a:pt x="0" y="21406"/>
                  <a:pt x="21406" y="0"/>
                  <a:pt x="47812" y="0"/>
                </a:cubicBezTo>
                <a:close/>
              </a:path>
            </a:pathLst>
          </a:custGeom>
          <a:solidFill>
            <a:srgbClr val="7E9AA8"/>
          </a:solidFill>
          <a:ln/>
        </p:spPr>
      </p:sp>
      <p:sp>
        <p:nvSpPr>
          <p:cNvPr id="14" name="Text 12"/>
          <p:cNvSpPr/>
          <p:nvPr/>
        </p:nvSpPr>
        <p:spPr>
          <a:xfrm>
            <a:off x="717176" y="4428565"/>
            <a:ext cx="7243482" cy="382494"/>
          </a:xfrm>
          <a:prstGeom prst="rect">
            <a:avLst/>
          </a:prstGeom>
          <a:noFill/>
          <a:ln/>
        </p:spPr>
        <p:txBody>
          <a:bodyPr wrap="square" lIns="0" tIns="0" rIns="0" bIns="0" rtlCol="0" anchor="ctr"/>
          <a:lstStyle/>
          <a:p>
            <a:pPr>
              <a:lnSpc>
                <a:spcPct val="110000"/>
              </a:lnSpc>
            </a:pPr>
            <a:r>
              <a:rPr lang="en-US" sz="2259" b="1" dirty="0">
                <a:solidFill>
                  <a:srgbClr val="7E9AA8"/>
                </a:solidFill>
                <a:latin typeface="MiSans" pitchFamily="34" charset="0"/>
                <a:ea typeface="MiSans" pitchFamily="34" charset="-122"/>
                <a:cs typeface="MiSans" pitchFamily="34" charset="-120"/>
              </a:rPr>
              <a:t>元学习器选择</a:t>
            </a:r>
            <a:endParaRPr lang="en-US" sz="1600" dirty="0"/>
          </a:p>
        </p:txBody>
      </p:sp>
      <p:sp>
        <p:nvSpPr>
          <p:cNvPr id="15" name="Text 13"/>
          <p:cNvSpPr/>
          <p:nvPr/>
        </p:nvSpPr>
        <p:spPr>
          <a:xfrm>
            <a:off x="717176" y="4954494"/>
            <a:ext cx="7207624" cy="346635"/>
          </a:xfrm>
          <a:prstGeom prst="rect">
            <a:avLst/>
          </a:prstGeom>
          <a:noFill/>
          <a:ln/>
        </p:spPr>
        <p:txBody>
          <a:bodyPr wrap="square" lIns="0" tIns="0" rIns="0" bIns="0" rtlCol="0" anchor="ctr"/>
          <a:lstStyle/>
          <a:p>
            <a:pPr>
              <a:lnSpc>
                <a:spcPct val="140000"/>
              </a:lnSpc>
            </a:pPr>
            <a:r>
              <a:rPr lang="en-US" sz="1694" dirty="0">
                <a:solidFill>
                  <a:srgbClr val="D1D5DB"/>
                </a:solidFill>
                <a:latin typeface="MiSans" pitchFamily="34" charset="0"/>
                <a:ea typeface="MiSans" pitchFamily="34" charset="-122"/>
                <a:cs typeface="MiSans" pitchFamily="34" charset="-120"/>
              </a:rPr>
              <a:t>第二层模型通常选择</a:t>
            </a:r>
            <a:pPr>
              <a:lnSpc>
                <a:spcPct val="140000"/>
              </a:lnSpc>
            </a:pPr>
            <a:r>
              <a:rPr lang="en-US" sz="1694" b="1" dirty="0">
                <a:solidFill>
                  <a:srgbClr val="4C7E9A"/>
                </a:solidFill>
                <a:latin typeface="MiSans" pitchFamily="34" charset="0"/>
                <a:ea typeface="MiSans" pitchFamily="34" charset="-122"/>
                <a:cs typeface="MiSans" pitchFamily="34" charset="-120"/>
              </a:rPr>
              <a:t>简单的线性模型</a:t>
            </a:r>
            <a:pPr>
              <a:lnSpc>
                <a:spcPct val="140000"/>
              </a:lnSpc>
            </a:pPr>
            <a:r>
              <a:rPr lang="en-US" sz="1694" dirty="0">
                <a:solidFill>
                  <a:srgbClr val="D1D5DB"/>
                </a:solidFill>
                <a:latin typeface="MiSans" pitchFamily="34" charset="0"/>
                <a:ea typeface="MiSans" pitchFamily="34" charset="-122"/>
                <a:cs typeface="MiSans" pitchFamily="34" charset="-120"/>
              </a:rPr>
              <a:t>（如逻辑回归）以避免过拟合。</a:t>
            </a:r>
            <a:endParaRPr lang="en-US" sz="1600" dirty="0"/>
          </a:p>
        </p:txBody>
      </p:sp>
      <p:sp>
        <p:nvSpPr>
          <p:cNvPr id="16" name="Shape 14"/>
          <p:cNvSpPr/>
          <p:nvPr/>
        </p:nvSpPr>
        <p:spPr>
          <a:xfrm>
            <a:off x="717176" y="5447553"/>
            <a:ext cx="7100047" cy="573741"/>
          </a:xfrm>
          <a:custGeom>
            <a:avLst/>
            <a:gdLst/>
            <a:ahLst/>
            <a:cxnLst/>
            <a:rect l="l" t="t" r="r" b="b"/>
            <a:pathLst>
              <a:path w="7100047" h="573741">
                <a:moveTo>
                  <a:pt x="95625" y="0"/>
                </a:moveTo>
                <a:lnTo>
                  <a:pt x="7004422" y="0"/>
                </a:lnTo>
                <a:cubicBezTo>
                  <a:pt x="7057234" y="0"/>
                  <a:pt x="7100047" y="42813"/>
                  <a:pt x="7100047" y="95625"/>
                </a:cubicBezTo>
                <a:lnTo>
                  <a:pt x="7100047" y="478116"/>
                </a:lnTo>
                <a:cubicBezTo>
                  <a:pt x="7100047" y="530928"/>
                  <a:pt x="7057234" y="573741"/>
                  <a:pt x="7004422" y="573741"/>
                </a:cubicBezTo>
                <a:lnTo>
                  <a:pt x="95625" y="573741"/>
                </a:lnTo>
                <a:cubicBezTo>
                  <a:pt x="42848" y="573741"/>
                  <a:pt x="0" y="530893"/>
                  <a:pt x="0" y="478116"/>
                </a:cubicBezTo>
                <a:lnTo>
                  <a:pt x="0" y="95625"/>
                </a:lnTo>
                <a:cubicBezTo>
                  <a:pt x="0" y="42848"/>
                  <a:pt x="42848" y="0"/>
                  <a:pt x="95625" y="0"/>
                </a:cubicBezTo>
                <a:close/>
              </a:path>
            </a:pathLst>
          </a:custGeom>
          <a:solidFill>
            <a:srgbClr val="181A1F">
              <a:alpha val="50196"/>
            </a:srgbClr>
          </a:solidFill>
          <a:ln/>
        </p:spPr>
      </p:sp>
      <p:sp>
        <p:nvSpPr>
          <p:cNvPr id="17" name="Text 15"/>
          <p:cNvSpPr/>
          <p:nvPr/>
        </p:nvSpPr>
        <p:spPr>
          <a:xfrm>
            <a:off x="860612" y="5590988"/>
            <a:ext cx="6908800" cy="286871"/>
          </a:xfrm>
          <a:prstGeom prst="rect">
            <a:avLst/>
          </a:prstGeom>
          <a:noFill/>
          <a:ln/>
        </p:spPr>
        <p:txBody>
          <a:bodyPr wrap="square" lIns="0" tIns="0" rIns="0" bIns="0" rtlCol="0" anchor="ctr"/>
          <a:lstStyle/>
          <a:p>
            <a:pPr>
              <a:lnSpc>
                <a:spcPct val="130000"/>
              </a:lnSpc>
            </a:pPr>
            <a:r>
              <a:rPr lang="en-US" sz="1506" dirty="0">
                <a:solidFill>
                  <a:srgbClr val="7E9AA8"/>
                </a:solidFill>
                <a:latin typeface="MiSans" pitchFamily="34" charset="0"/>
                <a:ea typeface="MiSans" pitchFamily="34" charset="-122"/>
                <a:cs typeface="MiSans" pitchFamily="34" charset="-120"/>
              </a:rPr>
              <a:t>第一级预测值已具有高抽象度，简单线性组合足以提取互补信息且不易过拟合</a:t>
            </a:r>
            <a:endParaRPr lang="en-US" sz="1600" dirty="0"/>
          </a:p>
        </p:txBody>
      </p:sp>
      <p:sp>
        <p:nvSpPr>
          <p:cNvPr id="18" name="Shape 16"/>
          <p:cNvSpPr/>
          <p:nvPr/>
        </p:nvSpPr>
        <p:spPr>
          <a:xfrm>
            <a:off x="502024" y="6403788"/>
            <a:ext cx="7506447" cy="1972235"/>
          </a:xfrm>
          <a:custGeom>
            <a:avLst/>
            <a:gdLst/>
            <a:ahLst/>
            <a:cxnLst/>
            <a:rect l="l" t="t" r="r" b="b"/>
            <a:pathLst>
              <a:path w="7506447" h="1972235">
                <a:moveTo>
                  <a:pt x="47812" y="0"/>
                </a:moveTo>
                <a:lnTo>
                  <a:pt x="7410833" y="0"/>
                </a:lnTo>
                <a:cubicBezTo>
                  <a:pt x="7463639" y="0"/>
                  <a:pt x="7506447" y="42808"/>
                  <a:pt x="7506447" y="95614"/>
                </a:cubicBezTo>
                <a:lnTo>
                  <a:pt x="7506447" y="1876621"/>
                </a:lnTo>
                <a:cubicBezTo>
                  <a:pt x="7506447" y="1929427"/>
                  <a:pt x="7463639" y="1972235"/>
                  <a:pt x="7410833" y="1972235"/>
                </a:cubicBezTo>
                <a:lnTo>
                  <a:pt x="47812" y="1972235"/>
                </a:lnTo>
                <a:cubicBezTo>
                  <a:pt x="21406" y="1972235"/>
                  <a:pt x="0" y="1950829"/>
                  <a:pt x="0" y="1924424"/>
                </a:cubicBezTo>
                <a:lnTo>
                  <a:pt x="0" y="47812"/>
                </a:lnTo>
                <a:cubicBezTo>
                  <a:pt x="0" y="21424"/>
                  <a:pt x="21424" y="0"/>
                  <a:pt x="47812" y="0"/>
                </a:cubicBezTo>
                <a:close/>
              </a:path>
            </a:pathLst>
          </a:custGeom>
          <a:solidFill>
            <a:srgbClr val="3A5E78">
              <a:alpha val="20000"/>
            </a:srgbClr>
          </a:solidFill>
          <a:ln/>
        </p:spPr>
      </p:sp>
      <p:sp>
        <p:nvSpPr>
          <p:cNvPr id="19" name="Shape 17"/>
          <p:cNvSpPr/>
          <p:nvPr/>
        </p:nvSpPr>
        <p:spPr>
          <a:xfrm>
            <a:off x="502024" y="6403788"/>
            <a:ext cx="47812" cy="1972235"/>
          </a:xfrm>
          <a:custGeom>
            <a:avLst/>
            <a:gdLst/>
            <a:ahLst/>
            <a:cxnLst/>
            <a:rect l="l" t="t" r="r" b="b"/>
            <a:pathLst>
              <a:path w="47812" h="1972235">
                <a:moveTo>
                  <a:pt x="47812" y="0"/>
                </a:moveTo>
                <a:lnTo>
                  <a:pt x="47812" y="0"/>
                </a:lnTo>
                <a:lnTo>
                  <a:pt x="47812" y="1972235"/>
                </a:lnTo>
                <a:lnTo>
                  <a:pt x="47812" y="1972235"/>
                </a:lnTo>
                <a:cubicBezTo>
                  <a:pt x="21406" y="1972235"/>
                  <a:pt x="0" y="1950829"/>
                  <a:pt x="0" y="1924424"/>
                </a:cubicBezTo>
                <a:lnTo>
                  <a:pt x="0" y="47812"/>
                </a:lnTo>
                <a:cubicBezTo>
                  <a:pt x="0" y="21406"/>
                  <a:pt x="21406" y="0"/>
                  <a:pt x="47812" y="0"/>
                </a:cubicBezTo>
                <a:close/>
              </a:path>
            </a:pathLst>
          </a:custGeom>
          <a:solidFill>
            <a:srgbClr val="4C7E9A"/>
          </a:solidFill>
          <a:ln/>
        </p:spPr>
      </p:sp>
      <p:sp>
        <p:nvSpPr>
          <p:cNvPr id="20" name="Text 18"/>
          <p:cNvSpPr/>
          <p:nvPr/>
        </p:nvSpPr>
        <p:spPr>
          <a:xfrm>
            <a:off x="717176" y="6595035"/>
            <a:ext cx="7243482" cy="382494"/>
          </a:xfrm>
          <a:prstGeom prst="rect">
            <a:avLst/>
          </a:prstGeom>
          <a:noFill/>
          <a:ln/>
        </p:spPr>
        <p:txBody>
          <a:bodyPr wrap="square" lIns="0" tIns="0" rIns="0" bIns="0" rtlCol="0" anchor="ctr"/>
          <a:lstStyle/>
          <a:p>
            <a:pPr>
              <a:lnSpc>
                <a:spcPct val="110000"/>
              </a:lnSpc>
            </a:pPr>
            <a:r>
              <a:rPr lang="en-US" sz="2259" b="1" dirty="0">
                <a:solidFill>
                  <a:srgbClr val="4C7E9A"/>
                </a:solidFill>
                <a:latin typeface="MiSans" pitchFamily="34" charset="0"/>
                <a:ea typeface="MiSans" pitchFamily="34" charset="-122"/>
                <a:cs typeface="MiSans" pitchFamily="34" charset="-120"/>
              </a:rPr>
              <a:t>交叉验证机制</a:t>
            </a:r>
            <a:endParaRPr lang="en-US" sz="1600" dirty="0"/>
          </a:p>
        </p:txBody>
      </p:sp>
      <p:sp>
        <p:nvSpPr>
          <p:cNvPr id="21" name="Text 19"/>
          <p:cNvSpPr/>
          <p:nvPr/>
        </p:nvSpPr>
        <p:spPr>
          <a:xfrm>
            <a:off x="717176" y="7120965"/>
            <a:ext cx="7207624" cy="346635"/>
          </a:xfrm>
          <a:prstGeom prst="rect">
            <a:avLst/>
          </a:prstGeom>
          <a:noFill/>
          <a:ln/>
        </p:spPr>
        <p:txBody>
          <a:bodyPr wrap="square" lIns="0" tIns="0" rIns="0" bIns="0" rtlCol="0" anchor="ctr"/>
          <a:lstStyle/>
          <a:p>
            <a:pPr>
              <a:lnSpc>
                <a:spcPct val="140000"/>
              </a:lnSpc>
            </a:pPr>
            <a:r>
              <a:rPr lang="en-US" sz="1694" dirty="0">
                <a:solidFill>
                  <a:srgbClr val="D1D5DB"/>
                </a:solidFill>
                <a:latin typeface="MiSans" pitchFamily="34" charset="0"/>
                <a:ea typeface="MiSans" pitchFamily="34" charset="-122"/>
                <a:cs typeface="MiSans" pitchFamily="34" charset="-120"/>
              </a:rPr>
              <a:t>内部默认使用</a:t>
            </a:r>
            <a:pPr>
              <a:lnSpc>
                <a:spcPct val="140000"/>
              </a:lnSpc>
            </a:pPr>
            <a:r>
              <a:rPr lang="en-US" sz="1694" b="1" dirty="0">
                <a:solidFill>
                  <a:srgbClr val="4C7E9A"/>
                </a:solidFill>
                <a:latin typeface="MiSans" pitchFamily="34" charset="0"/>
                <a:ea typeface="MiSans" pitchFamily="34" charset="-122"/>
                <a:cs typeface="MiSans" pitchFamily="34" charset="-120"/>
              </a:rPr>
              <a:t>交叉验证</a:t>
            </a:r>
            <a:pPr>
              <a:lnSpc>
                <a:spcPct val="140000"/>
              </a:lnSpc>
            </a:pPr>
            <a:r>
              <a:rPr lang="en-US" sz="1694" dirty="0">
                <a:solidFill>
                  <a:srgbClr val="D1D5DB"/>
                </a:solidFill>
                <a:latin typeface="MiSans" pitchFamily="34" charset="0"/>
                <a:ea typeface="MiSans" pitchFamily="34" charset="-122"/>
                <a:cs typeface="MiSans" pitchFamily="34" charset="-120"/>
              </a:rPr>
              <a:t>生成元特征，有效防止数据泄露。</a:t>
            </a:r>
            <a:endParaRPr lang="en-US" sz="1600" dirty="0"/>
          </a:p>
        </p:txBody>
      </p:sp>
      <p:sp>
        <p:nvSpPr>
          <p:cNvPr id="22" name="Shape 20"/>
          <p:cNvSpPr/>
          <p:nvPr/>
        </p:nvSpPr>
        <p:spPr>
          <a:xfrm>
            <a:off x="717176" y="7614024"/>
            <a:ext cx="7100047" cy="573741"/>
          </a:xfrm>
          <a:custGeom>
            <a:avLst/>
            <a:gdLst/>
            <a:ahLst/>
            <a:cxnLst/>
            <a:rect l="l" t="t" r="r" b="b"/>
            <a:pathLst>
              <a:path w="7100047" h="573741">
                <a:moveTo>
                  <a:pt x="95625" y="0"/>
                </a:moveTo>
                <a:lnTo>
                  <a:pt x="7004422" y="0"/>
                </a:lnTo>
                <a:cubicBezTo>
                  <a:pt x="7057234" y="0"/>
                  <a:pt x="7100047" y="42813"/>
                  <a:pt x="7100047" y="95625"/>
                </a:cubicBezTo>
                <a:lnTo>
                  <a:pt x="7100047" y="478116"/>
                </a:lnTo>
                <a:cubicBezTo>
                  <a:pt x="7100047" y="530928"/>
                  <a:pt x="7057234" y="573741"/>
                  <a:pt x="7004422" y="573741"/>
                </a:cubicBezTo>
                <a:lnTo>
                  <a:pt x="95625" y="573741"/>
                </a:lnTo>
                <a:cubicBezTo>
                  <a:pt x="42848" y="573741"/>
                  <a:pt x="0" y="530893"/>
                  <a:pt x="0" y="478116"/>
                </a:cubicBezTo>
                <a:lnTo>
                  <a:pt x="0" y="95625"/>
                </a:lnTo>
                <a:cubicBezTo>
                  <a:pt x="0" y="42848"/>
                  <a:pt x="42848" y="0"/>
                  <a:pt x="95625" y="0"/>
                </a:cubicBezTo>
                <a:close/>
              </a:path>
            </a:pathLst>
          </a:custGeom>
          <a:solidFill>
            <a:srgbClr val="181A1F">
              <a:alpha val="50196"/>
            </a:srgbClr>
          </a:solidFill>
          <a:ln/>
        </p:spPr>
      </p:sp>
      <p:sp>
        <p:nvSpPr>
          <p:cNvPr id="23" name="Text 21"/>
          <p:cNvSpPr/>
          <p:nvPr/>
        </p:nvSpPr>
        <p:spPr>
          <a:xfrm>
            <a:off x="860612" y="7757459"/>
            <a:ext cx="6908800" cy="286871"/>
          </a:xfrm>
          <a:prstGeom prst="rect">
            <a:avLst/>
          </a:prstGeom>
          <a:noFill/>
          <a:ln/>
        </p:spPr>
        <p:txBody>
          <a:bodyPr wrap="square" lIns="0" tIns="0" rIns="0" bIns="0" rtlCol="0" anchor="ctr"/>
          <a:lstStyle/>
          <a:p>
            <a:pPr>
              <a:lnSpc>
                <a:spcPct val="130000"/>
              </a:lnSpc>
            </a:pPr>
            <a:r>
              <a:rPr lang="en-US" sz="1506" dirty="0">
                <a:solidFill>
                  <a:srgbClr val="7E9AA8"/>
                </a:solidFill>
                <a:latin typeface="MiSans" pitchFamily="34" charset="0"/>
                <a:ea typeface="MiSans" pitchFamily="34" charset="-122"/>
                <a:cs typeface="MiSans" pitchFamily="34" charset="-120"/>
              </a:rPr>
              <a:t>这是手动实现时最容易出错的地方，mlxtend库提供了很好的封装</a:t>
            </a:r>
            <a:endParaRPr lang="en-US" sz="1600" dirty="0"/>
          </a:p>
        </p:txBody>
      </p:sp>
      <p:sp>
        <p:nvSpPr>
          <p:cNvPr id="24" name="Shape 22"/>
          <p:cNvSpPr/>
          <p:nvPr/>
        </p:nvSpPr>
        <p:spPr>
          <a:xfrm>
            <a:off x="8271435" y="1721224"/>
            <a:ext cx="7506447" cy="1972235"/>
          </a:xfrm>
          <a:custGeom>
            <a:avLst/>
            <a:gdLst/>
            <a:ahLst/>
            <a:cxnLst/>
            <a:rect l="l" t="t" r="r" b="b"/>
            <a:pathLst>
              <a:path w="7506447" h="1972235">
                <a:moveTo>
                  <a:pt x="47812" y="0"/>
                </a:moveTo>
                <a:lnTo>
                  <a:pt x="7410833" y="0"/>
                </a:lnTo>
                <a:cubicBezTo>
                  <a:pt x="7463639" y="0"/>
                  <a:pt x="7506447" y="42808"/>
                  <a:pt x="7506447" y="95614"/>
                </a:cubicBezTo>
                <a:lnTo>
                  <a:pt x="7506447" y="1876621"/>
                </a:lnTo>
                <a:cubicBezTo>
                  <a:pt x="7506447" y="1929427"/>
                  <a:pt x="7463639" y="1972235"/>
                  <a:pt x="7410833" y="1972235"/>
                </a:cubicBezTo>
                <a:lnTo>
                  <a:pt x="47812" y="1972235"/>
                </a:lnTo>
                <a:cubicBezTo>
                  <a:pt x="21406" y="1972235"/>
                  <a:pt x="0" y="1950829"/>
                  <a:pt x="0" y="1924424"/>
                </a:cubicBezTo>
                <a:lnTo>
                  <a:pt x="0" y="47812"/>
                </a:lnTo>
                <a:cubicBezTo>
                  <a:pt x="0" y="21424"/>
                  <a:pt x="21424" y="0"/>
                  <a:pt x="47812" y="0"/>
                </a:cubicBezTo>
                <a:close/>
              </a:path>
            </a:pathLst>
          </a:custGeom>
          <a:solidFill>
            <a:srgbClr val="3A5E78">
              <a:alpha val="20000"/>
            </a:srgbClr>
          </a:solidFill>
          <a:ln/>
        </p:spPr>
      </p:sp>
      <p:sp>
        <p:nvSpPr>
          <p:cNvPr id="25" name="Shape 23"/>
          <p:cNvSpPr/>
          <p:nvPr/>
        </p:nvSpPr>
        <p:spPr>
          <a:xfrm>
            <a:off x="8271435" y="1721224"/>
            <a:ext cx="47812" cy="1972235"/>
          </a:xfrm>
          <a:custGeom>
            <a:avLst/>
            <a:gdLst/>
            <a:ahLst/>
            <a:cxnLst/>
            <a:rect l="l" t="t" r="r" b="b"/>
            <a:pathLst>
              <a:path w="47812" h="1972235">
                <a:moveTo>
                  <a:pt x="47812" y="0"/>
                </a:moveTo>
                <a:lnTo>
                  <a:pt x="47812" y="0"/>
                </a:lnTo>
                <a:lnTo>
                  <a:pt x="47812" y="1972235"/>
                </a:lnTo>
                <a:lnTo>
                  <a:pt x="47812" y="1972235"/>
                </a:lnTo>
                <a:cubicBezTo>
                  <a:pt x="21406" y="1972235"/>
                  <a:pt x="0" y="1950829"/>
                  <a:pt x="0" y="1924424"/>
                </a:cubicBezTo>
                <a:lnTo>
                  <a:pt x="0" y="47812"/>
                </a:lnTo>
                <a:cubicBezTo>
                  <a:pt x="0" y="21406"/>
                  <a:pt x="21406" y="0"/>
                  <a:pt x="47812" y="0"/>
                </a:cubicBezTo>
                <a:close/>
              </a:path>
            </a:pathLst>
          </a:custGeom>
          <a:solidFill>
            <a:srgbClr val="7E9AA8"/>
          </a:solidFill>
          <a:ln/>
        </p:spPr>
      </p:sp>
      <p:sp>
        <p:nvSpPr>
          <p:cNvPr id="26" name="Text 24"/>
          <p:cNvSpPr/>
          <p:nvPr/>
        </p:nvSpPr>
        <p:spPr>
          <a:xfrm>
            <a:off x="8486588" y="1912471"/>
            <a:ext cx="7243482" cy="382494"/>
          </a:xfrm>
          <a:prstGeom prst="rect">
            <a:avLst/>
          </a:prstGeom>
          <a:noFill/>
          <a:ln/>
        </p:spPr>
        <p:txBody>
          <a:bodyPr wrap="square" lIns="0" tIns="0" rIns="0" bIns="0" rtlCol="0" anchor="ctr"/>
          <a:lstStyle/>
          <a:p>
            <a:pPr>
              <a:lnSpc>
                <a:spcPct val="110000"/>
              </a:lnSpc>
            </a:pPr>
            <a:r>
              <a:rPr lang="en-US" sz="2259" b="1" dirty="0">
                <a:solidFill>
                  <a:srgbClr val="7E9AA8"/>
                </a:solidFill>
                <a:latin typeface="MiSans" pitchFamily="34" charset="0"/>
                <a:ea typeface="MiSans" pitchFamily="34" charset="-122"/>
                <a:cs typeface="MiSans" pitchFamily="34" charset="-120"/>
              </a:rPr>
              <a:t>计算代价</a:t>
            </a:r>
            <a:endParaRPr lang="en-US" sz="1600" dirty="0"/>
          </a:p>
        </p:txBody>
      </p:sp>
      <p:sp>
        <p:nvSpPr>
          <p:cNvPr id="27" name="Text 25"/>
          <p:cNvSpPr/>
          <p:nvPr/>
        </p:nvSpPr>
        <p:spPr>
          <a:xfrm>
            <a:off x="8486588" y="2438400"/>
            <a:ext cx="7207624" cy="346635"/>
          </a:xfrm>
          <a:prstGeom prst="rect">
            <a:avLst/>
          </a:prstGeom>
          <a:noFill/>
          <a:ln/>
        </p:spPr>
        <p:txBody>
          <a:bodyPr wrap="square" lIns="0" tIns="0" rIns="0" bIns="0" rtlCol="0" anchor="ctr"/>
          <a:lstStyle/>
          <a:p>
            <a:pPr>
              <a:lnSpc>
                <a:spcPct val="140000"/>
              </a:lnSpc>
            </a:pPr>
            <a:r>
              <a:rPr lang="en-US" sz="1694" dirty="0">
                <a:solidFill>
                  <a:srgbClr val="D1D5DB"/>
                </a:solidFill>
                <a:latin typeface="MiSans" pitchFamily="34" charset="0"/>
                <a:ea typeface="MiSans" pitchFamily="34" charset="-122"/>
                <a:cs typeface="MiSans" pitchFamily="34" charset="-120"/>
              </a:rPr>
              <a:t>需要训练多个基模型且涉及交叉验证，训练时间通常是单模型的K倍。</a:t>
            </a:r>
            <a:endParaRPr lang="en-US" sz="1600" dirty="0"/>
          </a:p>
        </p:txBody>
      </p:sp>
      <p:sp>
        <p:nvSpPr>
          <p:cNvPr id="28" name="Shape 26"/>
          <p:cNvSpPr/>
          <p:nvPr/>
        </p:nvSpPr>
        <p:spPr>
          <a:xfrm>
            <a:off x="8486588" y="2931459"/>
            <a:ext cx="7100047" cy="573741"/>
          </a:xfrm>
          <a:custGeom>
            <a:avLst/>
            <a:gdLst/>
            <a:ahLst/>
            <a:cxnLst/>
            <a:rect l="l" t="t" r="r" b="b"/>
            <a:pathLst>
              <a:path w="7100047" h="573741">
                <a:moveTo>
                  <a:pt x="95625" y="0"/>
                </a:moveTo>
                <a:lnTo>
                  <a:pt x="7004422" y="0"/>
                </a:lnTo>
                <a:cubicBezTo>
                  <a:pt x="7057234" y="0"/>
                  <a:pt x="7100047" y="42813"/>
                  <a:pt x="7100047" y="95625"/>
                </a:cubicBezTo>
                <a:lnTo>
                  <a:pt x="7100047" y="478116"/>
                </a:lnTo>
                <a:cubicBezTo>
                  <a:pt x="7100047" y="530928"/>
                  <a:pt x="7057234" y="573741"/>
                  <a:pt x="7004422" y="573741"/>
                </a:cubicBezTo>
                <a:lnTo>
                  <a:pt x="95625" y="573741"/>
                </a:lnTo>
                <a:cubicBezTo>
                  <a:pt x="42848" y="573741"/>
                  <a:pt x="0" y="530893"/>
                  <a:pt x="0" y="478116"/>
                </a:cubicBezTo>
                <a:lnTo>
                  <a:pt x="0" y="95625"/>
                </a:lnTo>
                <a:cubicBezTo>
                  <a:pt x="0" y="42848"/>
                  <a:pt x="42848" y="0"/>
                  <a:pt x="95625" y="0"/>
                </a:cubicBezTo>
                <a:close/>
              </a:path>
            </a:pathLst>
          </a:custGeom>
          <a:solidFill>
            <a:srgbClr val="181A1F">
              <a:alpha val="50196"/>
            </a:srgbClr>
          </a:solidFill>
          <a:ln/>
        </p:spPr>
      </p:sp>
      <p:sp>
        <p:nvSpPr>
          <p:cNvPr id="29" name="Shape 27"/>
          <p:cNvSpPr/>
          <p:nvPr/>
        </p:nvSpPr>
        <p:spPr>
          <a:xfrm>
            <a:off x="8630024" y="3128682"/>
            <a:ext cx="239059" cy="191247"/>
          </a:xfrm>
          <a:custGeom>
            <a:avLst/>
            <a:gdLst/>
            <a:ahLst/>
            <a:cxnLst/>
            <a:rect l="l" t="t" r="r" b="b"/>
            <a:pathLst>
              <a:path w="239059" h="191247">
                <a:moveTo>
                  <a:pt x="143435" y="11953"/>
                </a:moveTo>
                <a:lnTo>
                  <a:pt x="191247" y="11953"/>
                </a:lnTo>
                <a:cubicBezTo>
                  <a:pt x="197859" y="11953"/>
                  <a:pt x="203200" y="17294"/>
                  <a:pt x="203200" y="23906"/>
                </a:cubicBezTo>
                <a:cubicBezTo>
                  <a:pt x="203200" y="30517"/>
                  <a:pt x="197859" y="35859"/>
                  <a:pt x="191247" y="35859"/>
                </a:cubicBezTo>
                <a:lnTo>
                  <a:pt x="148814" y="35859"/>
                </a:lnTo>
                <a:cubicBezTo>
                  <a:pt x="146872" y="45496"/>
                  <a:pt x="140260" y="53452"/>
                  <a:pt x="131482" y="57262"/>
                </a:cubicBezTo>
                <a:lnTo>
                  <a:pt x="131482" y="167341"/>
                </a:lnTo>
                <a:lnTo>
                  <a:pt x="191247" y="167341"/>
                </a:lnTo>
                <a:cubicBezTo>
                  <a:pt x="197859" y="167341"/>
                  <a:pt x="203200" y="172683"/>
                  <a:pt x="203200" y="179294"/>
                </a:cubicBezTo>
                <a:cubicBezTo>
                  <a:pt x="203200" y="185906"/>
                  <a:pt x="197859" y="191247"/>
                  <a:pt x="191247" y="191247"/>
                </a:cubicBezTo>
                <a:lnTo>
                  <a:pt x="47812" y="191247"/>
                </a:lnTo>
                <a:cubicBezTo>
                  <a:pt x="41200" y="191247"/>
                  <a:pt x="35859" y="185906"/>
                  <a:pt x="35859" y="179294"/>
                </a:cubicBezTo>
                <a:cubicBezTo>
                  <a:pt x="35859" y="172683"/>
                  <a:pt x="41200" y="167341"/>
                  <a:pt x="47812" y="167341"/>
                </a:cubicBezTo>
                <a:lnTo>
                  <a:pt x="107576" y="167341"/>
                </a:lnTo>
                <a:lnTo>
                  <a:pt x="107576" y="57262"/>
                </a:lnTo>
                <a:cubicBezTo>
                  <a:pt x="98799" y="53415"/>
                  <a:pt x="92187" y="45459"/>
                  <a:pt x="90245" y="35859"/>
                </a:cubicBezTo>
                <a:lnTo>
                  <a:pt x="47812" y="35859"/>
                </a:lnTo>
                <a:cubicBezTo>
                  <a:pt x="41200" y="35859"/>
                  <a:pt x="35859" y="30517"/>
                  <a:pt x="35859" y="23906"/>
                </a:cubicBezTo>
                <a:cubicBezTo>
                  <a:pt x="35859" y="17294"/>
                  <a:pt x="41200" y="11953"/>
                  <a:pt x="47812" y="11953"/>
                </a:cubicBezTo>
                <a:lnTo>
                  <a:pt x="95624" y="11953"/>
                </a:lnTo>
                <a:cubicBezTo>
                  <a:pt x="101077" y="4706"/>
                  <a:pt x="109743" y="0"/>
                  <a:pt x="119529" y="0"/>
                </a:cubicBezTo>
                <a:cubicBezTo>
                  <a:pt x="129316" y="0"/>
                  <a:pt x="137982" y="4706"/>
                  <a:pt x="143435" y="11953"/>
                </a:cubicBezTo>
                <a:close/>
                <a:moveTo>
                  <a:pt x="164204" y="119529"/>
                </a:moveTo>
                <a:lnTo>
                  <a:pt x="218291" y="119529"/>
                </a:lnTo>
                <a:lnTo>
                  <a:pt x="191247" y="73137"/>
                </a:lnTo>
                <a:lnTo>
                  <a:pt x="164204" y="119529"/>
                </a:lnTo>
                <a:close/>
                <a:moveTo>
                  <a:pt x="191247" y="155388"/>
                </a:moveTo>
                <a:cubicBezTo>
                  <a:pt x="167752" y="155388"/>
                  <a:pt x="148216" y="142688"/>
                  <a:pt x="144182" y="125917"/>
                </a:cubicBezTo>
                <a:cubicBezTo>
                  <a:pt x="143211" y="121808"/>
                  <a:pt x="144556" y="117587"/>
                  <a:pt x="146685" y="113926"/>
                </a:cubicBezTo>
                <a:lnTo>
                  <a:pt x="182245" y="52966"/>
                </a:lnTo>
                <a:cubicBezTo>
                  <a:pt x="184113" y="49754"/>
                  <a:pt x="187549" y="47812"/>
                  <a:pt x="191247" y="47812"/>
                </a:cubicBezTo>
                <a:cubicBezTo>
                  <a:pt x="194945" y="47812"/>
                  <a:pt x="198381" y="49791"/>
                  <a:pt x="200249" y="52966"/>
                </a:cubicBezTo>
                <a:lnTo>
                  <a:pt x="235809" y="113926"/>
                </a:lnTo>
                <a:cubicBezTo>
                  <a:pt x="237938" y="117587"/>
                  <a:pt x="239283" y="121808"/>
                  <a:pt x="238312" y="125917"/>
                </a:cubicBezTo>
                <a:cubicBezTo>
                  <a:pt x="234278" y="142651"/>
                  <a:pt x="214742" y="155388"/>
                  <a:pt x="191247" y="155388"/>
                </a:cubicBezTo>
                <a:close/>
                <a:moveTo>
                  <a:pt x="47364" y="73137"/>
                </a:moveTo>
                <a:lnTo>
                  <a:pt x="20320" y="119529"/>
                </a:lnTo>
                <a:lnTo>
                  <a:pt x="74444" y="119529"/>
                </a:lnTo>
                <a:lnTo>
                  <a:pt x="47364" y="73137"/>
                </a:lnTo>
                <a:close/>
                <a:moveTo>
                  <a:pt x="336" y="125917"/>
                </a:moveTo>
                <a:cubicBezTo>
                  <a:pt x="-635" y="121808"/>
                  <a:pt x="710" y="117587"/>
                  <a:pt x="2839" y="113926"/>
                </a:cubicBezTo>
                <a:lnTo>
                  <a:pt x="38399" y="52966"/>
                </a:lnTo>
                <a:cubicBezTo>
                  <a:pt x="40266" y="49754"/>
                  <a:pt x="43703" y="47812"/>
                  <a:pt x="47401" y="47812"/>
                </a:cubicBezTo>
                <a:cubicBezTo>
                  <a:pt x="51099" y="47812"/>
                  <a:pt x="54535" y="49791"/>
                  <a:pt x="56403" y="52966"/>
                </a:cubicBezTo>
                <a:lnTo>
                  <a:pt x="91963" y="113926"/>
                </a:lnTo>
                <a:cubicBezTo>
                  <a:pt x="94092" y="117587"/>
                  <a:pt x="95437" y="121808"/>
                  <a:pt x="94466" y="125917"/>
                </a:cubicBezTo>
                <a:cubicBezTo>
                  <a:pt x="90431" y="142651"/>
                  <a:pt x="70896" y="155388"/>
                  <a:pt x="47401" y="155388"/>
                </a:cubicBezTo>
                <a:cubicBezTo>
                  <a:pt x="23906" y="155388"/>
                  <a:pt x="4370" y="142688"/>
                  <a:pt x="336" y="125917"/>
                </a:cubicBezTo>
                <a:close/>
              </a:path>
            </a:pathLst>
          </a:custGeom>
          <a:solidFill>
            <a:srgbClr val="4C7E9A"/>
          </a:solidFill>
          <a:ln/>
        </p:spPr>
      </p:sp>
      <p:sp>
        <p:nvSpPr>
          <p:cNvPr id="30" name="Text 28"/>
          <p:cNvSpPr/>
          <p:nvPr/>
        </p:nvSpPr>
        <p:spPr>
          <a:xfrm>
            <a:off x="8959081" y="3074894"/>
            <a:ext cx="6579743" cy="286871"/>
          </a:xfrm>
          <a:prstGeom prst="rect">
            <a:avLst/>
          </a:prstGeom>
          <a:noFill/>
          <a:ln/>
        </p:spPr>
        <p:txBody>
          <a:bodyPr wrap="square" lIns="0" tIns="0" rIns="0" bIns="0" rtlCol="0" anchor="ctr"/>
          <a:lstStyle/>
          <a:p>
            <a:pPr>
              <a:lnSpc>
                <a:spcPct val="130000"/>
              </a:lnSpc>
            </a:pPr>
            <a:r>
              <a:rPr lang="en-US" sz="1506" dirty="0">
                <a:solidFill>
                  <a:srgbClr val="7E9AA8"/>
                </a:solidFill>
                <a:latin typeface="MiSans" pitchFamily="34" charset="0"/>
                <a:ea typeface="MiSans" pitchFamily="34" charset="-122"/>
                <a:cs typeface="MiSans" pitchFamily="34" charset="-120"/>
              </a:rPr>
              <a:t>工程落地时需要权衡精度提升与计算成本</a:t>
            </a:r>
            <a:endParaRPr lang="en-US" sz="1600" dirty="0"/>
          </a:p>
        </p:txBody>
      </p:sp>
      <p:sp>
        <p:nvSpPr>
          <p:cNvPr id="31" name="Shape 29"/>
          <p:cNvSpPr/>
          <p:nvPr/>
        </p:nvSpPr>
        <p:spPr>
          <a:xfrm>
            <a:off x="8253506" y="3893671"/>
            <a:ext cx="7518400" cy="2832847"/>
          </a:xfrm>
          <a:custGeom>
            <a:avLst/>
            <a:gdLst/>
            <a:ahLst/>
            <a:cxnLst/>
            <a:rect l="l" t="t" r="r" b="b"/>
            <a:pathLst>
              <a:path w="7518400" h="2832847">
                <a:moveTo>
                  <a:pt x="95637" y="0"/>
                </a:moveTo>
                <a:lnTo>
                  <a:pt x="7422763" y="0"/>
                </a:lnTo>
                <a:cubicBezTo>
                  <a:pt x="7475582" y="0"/>
                  <a:pt x="7518400" y="42818"/>
                  <a:pt x="7518400" y="95637"/>
                </a:cubicBezTo>
                <a:lnTo>
                  <a:pt x="7518400" y="2737210"/>
                </a:lnTo>
                <a:cubicBezTo>
                  <a:pt x="7518400" y="2790029"/>
                  <a:pt x="7475582" y="2832847"/>
                  <a:pt x="7422763" y="2832847"/>
                </a:cubicBezTo>
                <a:lnTo>
                  <a:pt x="95637" y="2832847"/>
                </a:lnTo>
                <a:cubicBezTo>
                  <a:pt x="42818" y="2832847"/>
                  <a:pt x="0" y="2790029"/>
                  <a:pt x="0" y="2737210"/>
                </a:cubicBezTo>
                <a:lnTo>
                  <a:pt x="0" y="95637"/>
                </a:lnTo>
                <a:cubicBezTo>
                  <a:pt x="0" y="42853"/>
                  <a:pt x="42853" y="0"/>
                  <a:pt x="95637" y="0"/>
                </a:cubicBezTo>
                <a:close/>
              </a:path>
            </a:pathLst>
          </a:custGeom>
          <a:solidFill>
            <a:srgbClr val="3A5E78">
              <a:alpha val="20000"/>
            </a:srgbClr>
          </a:solidFill>
          <a:ln w="12700">
            <a:solidFill>
              <a:srgbClr val="4C7E9A">
                <a:alpha val="50196"/>
              </a:srgbClr>
            </a:solidFill>
            <a:prstDash val="solid"/>
          </a:ln>
        </p:spPr>
      </p:sp>
      <p:sp>
        <p:nvSpPr>
          <p:cNvPr id="32" name="Text 30"/>
          <p:cNvSpPr/>
          <p:nvPr/>
        </p:nvSpPr>
        <p:spPr>
          <a:xfrm>
            <a:off x="8450729" y="4090894"/>
            <a:ext cx="7267388" cy="382494"/>
          </a:xfrm>
          <a:prstGeom prst="rect">
            <a:avLst/>
          </a:prstGeom>
          <a:noFill/>
          <a:ln/>
        </p:spPr>
        <p:txBody>
          <a:bodyPr wrap="square" lIns="0" tIns="0" rIns="0" bIns="0" rtlCol="0" anchor="ctr"/>
          <a:lstStyle/>
          <a:p>
            <a:pPr>
              <a:lnSpc>
                <a:spcPct val="110000"/>
              </a:lnSpc>
            </a:pPr>
            <a:r>
              <a:rPr lang="en-US" sz="2259" b="1" dirty="0">
                <a:solidFill>
                  <a:srgbClr val="4C7E9A"/>
                </a:solidFill>
                <a:latin typeface="MiSans" pitchFamily="34" charset="0"/>
                <a:ea typeface="MiSans" pitchFamily="34" charset="-122"/>
                <a:cs typeface="MiSans" pitchFamily="34" charset="-120"/>
              </a:rPr>
              <a:t>适用场景</a:t>
            </a:r>
            <a:endParaRPr lang="en-US" sz="1600" dirty="0"/>
          </a:p>
        </p:txBody>
      </p:sp>
      <p:sp>
        <p:nvSpPr>
          <p:cNvPr id="33" name="Shape 31"/>
          <p:cNvSpPr/>
          <p:nvPr/>
        </p:nvSpPr>
        <p:spPr>
          <a:xfrm>
            <a:off x="8495553" y="4664635"/>
            <a:ext cx="209176" cy="239059"/>
          </a:xfrm>
          <a:custGeom>
            <a:avLst/>
            <a:gdLst/>
            <a:ahLst/>
            <a:cxnLst/>
            <a:rect l="l" t="t" r="r" b="b"/>
            <a:pathLst>
              <a:path w="209176" h="239059">
                <a:moveTo>
                  <a:pt x="203013" y="32731"/>
                </a:moveTo>
                <a:cubicBezTo>
                  <a:pt x="209690" y="37586"/>
                  <a:pt x="211184" y="46925"/>
                  <a:pt x="206328" y="53601"/>
                </a:cubicBezTo>
                <a:lnTo>
                  <a:pt x="86799" y="217954"/>
                </a:lnTo>
                <a:cubicBezTo>
                  <a:pt x="84231" y="221503"/>
                  <a:pt x="80262" y="223697"/>
                  <a:pt x="75873" y="224071"/>
                </a:cubicBezTo>
                <a:cubicBezTo>
                  <a:pt x="71484" y="224444"/>
                  <a:pt x="67235" y="222810"/>
                  <a:pt x="64154" y="219729"/>
                </a:cubicBezTo>
                <a:lnTo>
                  <a:pt x="4389" y="159964"/>
                </a:lnTo>
                <a:cubicBezTo>
                  <a:pt x="-1447" y="154128"/>
                  <a:pt x="-1447" y="144649"/>
                  <a:pt x="4389" y="138813"/>
                </a:cubicBezTo>
                <a:cubicBezTo>
                  <a:pt x="10225" y="132976"/>
                  <a:pt x="19704" y="132976"/>
                  <a:pt x="25540" y="138813"/>
                </a:cubicBezTo>
                <a:lnTo>
                  <a:pt x="72932" y="186204"/>
                </a:lnTo>
                <a:lnTo>
                  <a:pt x="182189" y="35999"/>
                </a:lnTo>
                <a:cubicBezTo>
                  <a:pt x="187045" y="29322"/>
                  <a:pt x="196383" y="27828"/>
                  <a:pt x="203060" y="32684"/>
                </a:cubicBezTo>
                <a:close/>
              </a:path>
            </a:pathLst>
          </a:custGeom>
          <a:solidFill>
            <a:srgbClr val="4C7E9A"/>
          </a:solidFill>
          <a:ln/>
        </p:spPr>
      </p:sp>
      <p:sp>
        <p:nvSpPr>
          <p:cNvPr id="34" name="Text 32"/>
          <p:cNvSpPr/>
          <p:nvPr/>
        </p:nvSpPr>
        <p:spPr>
          <a:xfrm>
            <a:off x="8892988" y="4616824"/>
            <a:ext cx="1446306" cy="334682"/>
          </a:xfrm>
          <a:prstGeom prst="rect">
            <a:avLst/>
          </a:prstGeom>
          <a:noFill/>
          <a:ln/>
        </p:spPr>
        <p:txBody>
          <a:bodyPr wrap="square" lIns="0" tIns="0" rIns="0" bIns="0" rtlCol="0" anchor="ctr"/>
          <a:lstStyle/>
          <a:p>
            <a:pPr>
              <a:lnSpc>
                <a:spcPct val="130000"/>
              </a:lnSpc>
            </a:pPr>
            <a:r>
              <a:rPr lang="en-US" sz="1694" b="1" dirty="0">
                <a:solidFill>
                  <a:srgbClr val="D1D5DB"/>
                </a:solidFill>
                <a:latin typeface="MiSans" pitchFamily="34" charset="0"/>
                <a:ea typeface="MiSans" pitchFamily="34" charset="-122"/>
                <a:cs typeface="MiSans" pitchFamily="34" charset="-120"/>
              </a:rPr>
              <a:t>复杂问题场景</a:t>
            </a:r>
            <a:endParaRPr lang="en-US" sz="1600" dirty="0"/>
          </a:p>
        </p:txBody>
      </p:sp>
      <p:sp>
        <p:nvSpPr>
          <p:cNvPr id="35" name="Text 33"/>
          <p:cNvSpPr/>
          <p:nvPr/>
        </p:nvSpPr>
        <p:spPr>
          <a:xfrm>
            <a:off x="8892988" y="4951506"/>
            <a:ext cx="1422400" cy="239059"/>
          </a:xfrm>
          <a:prstGeom prst="rect">
            <a:avLst/>
          </a:prstGeom>
          <a:noFill/>
          <a:ln/>
        </p:spPr>
        <p:txBody>
          <a:bodyPr wrap="square" lIns="0" tIns="0" rIns="0" bIns="0" rtlCol="0" anchor="ctr"/>
          <a:lstStyle/>
          <a:p>
            <a:pPr>
              <a:lnSpc>
                <a:spcPct val="120000"/>
              </a:lnSpc>
            </a:pPr>
            <a:r>
              <a:rPr lang="en-US" sz="1318" dirty="0">
                <a:solidFill>
                  <a:srgbClr val="7E9AA8"/>
                </a:solidFill>
                <a:latin typeface="MiSans" pitchFamily="34" charset="0"/>
                <a:ea typeface="MiSans" pitchFamily="34" charset="-122"/>
                <a:cs typeface="MiSans" pitchFamily="34" charset="-120"/>
              </a:rPr>
              <a:t>需要多种算法互补</a:t>
            </a:r>
            <a:endParaRPr lang="en-US" sz="1600" dirty="0"/>
          </a:p>
        </p:txBody>
      </p:sp>
      <p:sp>
        <p:nvSpPr>
          <p:cNvPr id="36" name="Shape 34"/>
          <p:cNvSpPr/>
          <p:nvPr/>
        </p:nvSpPr>
        <p:spPr>
          <a:xfrm>
            <a:off x="8495553" y="5334000"/>
            <a:ext cx="209176" cy="239059"/>
          </a:xfrm>
          <a:custGeom>
            <a:avLst/>
            <a:gdLst/>
            <a:ahLst/>
            <a:cxnLst/>
            <a:rect l="l" t="t" r="r" b="b"/>
            <a:pathLst>
              <a:path w="209176" h="239059">
                <a:moveTo>
                  <a:pt x="203013" y="32731"/>
                </a:moveTo>
                <a:cubicBezTo>
                  <a:pt x="209690" y="37586"/>
                  <a:pt x="211184" y="46925"/>
                  <a:pt x="206328" y="53601"/>
                </a:cubicBezTo>
                <a:lnTo>
                  <a:pt x="86799" y="217954"/>
                </a:lnTo>
                <a:cubicBezTo>
                  <a:pt x="84231" y="221503"/>
                  <a:pt x="80262" y="223697"/>
                  <a:pt x="75873" y="224071"/>
                </a:cubicBezTo>
                <a:cubicBezTo>
                  <a:pt x="71484" y="224444"/>
                  <a:pt x="67235" y="222810"/>
                  <a:pt x="64154" y="219729"/>
                </a:cubicBezTo>
                <a:lnTo>
                  <a:pt x="4389" y="159964"/>
                </a:lnTo>
                <a:cubicBezTo>
                  <a:pt x="-1447" y="154128"/>
                  <a:pt x="-1447" y="144649"/>
                  <a:pt x="4389" y="138813"/>
                </a:cubicBezTo>
                <a:cubicBezTo>
                  <a:pt x="10225" y="132976"/>
                  <a:pt x="19704" y="132976"/>
                  <a:pt x="25540" y="138813"/>
                </a:cubicBezTo>
                <a:lnTo>
                  <a:pt x="72932" y="186204"/>
                </a:lnTo>
                <a:lnTo>
                  <a:pt x="182189" y="35999"/>
                </a:lnTo>
                <a:cubicBezTo>
                  <a:pt x="187045" y="29322"/>
                  <a:pt x="196383" y="27828"/>
                  <a:pt x="203060" y="32684"/>
                </a:cubicBezTo>
                <a:close/>
              </a:path>
            </a:pathLst>
          </a:custGeom>
          <a:solidFill>
            <a:srgbClr val="4C7E9A"/>
          </a:solidFill>
          <a:ln/>
        </p:spPr>
      </p:sp>
      <p:sp>
        <p:nvSpPr>
          <p:cNvPr id="37" name="Text 35"/>
          <p:cNvSpPr/>
          <p:nvPr/>
        </p:nvSpPr>
        <p:spPr>
          <a:xfrm>
            <a:off x="8892988" y="5286188"/>
            <a:ext cx="1482165" cy="334682"/>
          </a:xfrm>
          <a:prstGeom prst="rect">
            <a:avLst/>
          </a:prstGeom>
          <a:noFill/>
          <a:ln/>
        </p:spPr>
        <p:txBody>
          <a:bodyPr wrap="square" lIns="0" tIns="0" rIns="0" bIns="0" rtlCol="0" anchor="ctr"/>
          <a:lstStyle/>
          <a:p>
            <a:pPr>
              <a:lnSpc>
                <a:spcPct val="130000"/>
              </a:lnSpc>
            </a:pPr>
            <a:r>
              <a:rPr lang="en-US" sz="1694" b="1" dirty="0">
                <a:solidFill>
                  <a:srgbClr val="D1D5DB"/>
                </a:solidFill>
                <a:latin typeface="MiSans" pitchFamily="34" charset="0"/>
                <a:ea typeface="MiSans" pitchFamily="34" charset="-122"/>
                <a:cs typeface="MiSans" pitchFamily="34" charset="-120"/>
              </a:rPr>
              <a:t>多模态数据</a:t>
            </a:r>
            <a:endParaRPr lang="en-US" sz="1600" dirty="0"/>
          </a:p>
        </p:txBody>
      </p:sp>
      <p:sp>
        <p:nvSpPr>
          <p:cNvPr id="38" name="Text 36"/>
          <p:cNvSpPr/>
          <p:nvPr/>
        </p:nvSpPr>
        <p:spPr>
          <a:xfrm>
            <a:off x="8892988" y="5620871"/>
            <a:ext cx="1458259" cy="239059"/>
          </a:xfrm>
          <a:prstGeom prst="rect">
            <a:avLst/>
          </a:prstGeom>
          <a:noFill/>
          <a:ln/>
        </p:spPr>
        <p:txBody>
          <a:bodyPr wrap="square" lIns="0" tIns="0" rIns="0" bIns="0" rtlCol="0" anchor="ctr"/>
          <a:lstStyle/>
          <a:p>
            <a:pPr>
              <a:lnSpc>
                <a:spcPct val="120000"/>
              </a:lnSpc>
            </a:pPr>
            <a:r>
              <a:rPr lang="en-US" sz="1318" dirty="0">
                <a:solidFill>
                  <a:srgbClr val="7E9AA8"/>
                </a:solidFill>
                <a:latin typeface="MiSans" pitchFamily="34" charset="0"/>
                <a:ea typeface="MiSans" pitchFamily="34" charset="-122"/>
                <a:cs typeface="MiSans" pitchFamily="34" charset="-120"/>
              </a:rPr>
              <a:t>如图像+文本+数值</a:t>
            </a:r>
            <a:endParaRPr lang="en-US" sz="1600" dirty="0"/>
          </a:p>
        </p:txBody>
      </p:sp>
      <p:sp>
        <p:nvSpPr>
          <p:cNvPr id="39" name="Shape 37"/>
          <p:cNvSpPr/>
          <p:nvPr/>
        </p:nvSpPr>
        <p:spPr>
          <a:xfrm>
            <a:off x="8495553" y="6003365"/>
            <a:ext cx="209176" cy="239059"/>
          </a:xfrm>
          <a:custGeom>
            <a:avLst/>
            <a:gdLst/>
            <a:ahLst/>
            <a:cxnLst/>
            <a:rect l="l" t="t" r="r" b="b"/>
            <a:pathLst>
              <a:path w="209176" h="239059">
                <a:moveTo>
                  <a:pt x="203013" y="32731"/>
                </a:moveTo>
                <a:cubicBezTo>
                  <a:pt x="209690" y="37586"/>
                  <a:pt x="211184" y="46925"/>
                  <a:pt x="206328" y="53601"/>
                </a:cubicBezTo>
                <a:lnTo>
                  <a:pt x="86799" y="217954"/>
                </a:lnTo>
                <a:cubicBezTo>
                  <a:pt x="84231" y="221503"/>
                  <a:pt x="80262" y="223697"/>
                  <a:pt x="75873" y="224071"/>
                </a:cubicBezTo>
                <a:cubicBezTo>
                  <a:pt x="71484" y="224444"/>
                  <a:pt x="67235" y="222810"/>
                  <a:pt x="64154" y="219729"/>
                </a:cubicBezTo>
                <a:lnTo>
                  <a:pt x="4389" y="159964"/>
                </a:lnTo>
                <a:cubicBezTo>
                  <a:pt x="-1447" y="154128"/>
                  <a:pt x="-1447" y="144649"/>
                  <a:pt x="4389" y="138813"/>
                </a:cubicBezTo>
                <a:cubicBezTo>
                  <a:pt x="10225" y="132976"/>
                  <a:pt x="19704" y="132976"/>
                  <a:pt x="25540" y="138813"/>
                </a:cubicBezTo>
                <a:lnTo>
                  <a:pt x="72932" y="186204"/>
                </a:lnTo>
                <a:lnTo>
                  <a:pt x="182189" y="35999"/>
                </a:lnTo>
                <a:cubicBezTo>
                  <a:pt x="187045" y="29322"/>
                  <a:pt x="196383" y="27828"/>
                  <a:pt x="203060" y="32684"/>
                </a:cubicBezTo>
                <a:close/>
              </a:path>
            </a:pathLst>
          </a:custGeom>
          <a:solidFill>
            <a:srgbClr val="4C7E9A"/>
          </a:solidFill>
          <a:ln/>
        </p:spPr>
      </p:sp>
      <p:sp>
        <p:nvSpPr>
          <p:cNvPr id="40" name="Text 38"/>
          <p:cNvSpPr/>
          <p:nvPr/>
        </p:nvSpPr>
        <p:spPr>
          <a:xfrm>
            <a:off x="8892988" y="5955553"/>
            <a:ext cx="1613647" cy="334682"/>
          </a:xfrm>
          <a:prstGeom prst="rect">
            <a:avLst/>
          </a:prstGeom>
          <a:noFill/>
          <a:ln/>
        </p:spPr>
        <p:txBody>
          <a:bodyPr wrap="square" lIns="0" tIns="0" rIns="0" bIns="0" rtlCol="0" anchor="ctr"/>
          <a:lstStyle/>
          <a:p>
            <a:pPr>
              <a:lnSpc>
                <a:spcPct val="130000"/>
              </a:lnSpc>
            </a:pPr>
            <a:r>
              <a:rPr lang="en-US" sz="1694" b="1" dirty="0">
                <a:solidFill>
                  <a:srgbClr val="D1D5DB"/>
                </a:solidFill>
                <a:latin typeface="MiSans" pitchFamily="34" charset="0"/>
                <a:ea typeface="MiSans" pitchFamily="34" charset="-122"/>
                <a:cs typeface="MiSans" pitchFamily="34" charset="-120"/>
              </a:rPr>
              <a:t>极致精度要求</a:t>
            </a:r>
            <a:endParaRPr lang="en-US" sz="1600" dirty="0"/>
          </a:p>
        </p:txBody>
      </p:sp>
      <p:sp>
        <p:nvSpPr>
          <p:cNvPr id="41" name="Text 39"/>
          <p:cNvSpPr/>
          <p:nvPr/>
        </p:nvSpPr>
        <p:spPr>
          <a:xfrm>
            <a:off x="8892988" y="6290235"/>
            <a:ext cx="1589741" cy="239059"/>
          </a:xfrm>
          <a:prstGeom prst="rect">
            <a:avLst/>
          </a:prstGeom>
          <a:noFill/>
          <a:ln/>
        </p:spPr>
        <p:txBody>
          <a:bodyPr wrap="square" lIns="0" tIns="0" rIns="0" bIns="0" rtlCol="0" anchor="ctr"/>
          <a:lstStyle/>
          <a:p>
            <a:pPr>
              <a:lnSpc>
                <a:spcPct val="120000"/>
              </a:lnSpc>
            </a:pPr>
            <a:r>
              <a:rPr lang="en-US" sz="1318" dirty="0">
                <a:solidFill>
                  <a:srgbClr val="7E9AA8"/>
                </a:solidFill>
                <a:latin typeface="MiSans" pitchFamily="34" charset="0"/>
                <a:ea typeface="MiSans" pitchFamily="34" charset="-122"/>
                <a:cs typeface="MiSans" pitchFamily="34" charset="-120"/>
              </a:rPr>
              <a:t>竞赛或关键业务场景</a:t>
            </a:r>
            <a:endParaRPr lang="en-US" sz="1600" dirty="0"/>
          </a:p>
        </p:txBody>
      </p:sp>
      <p:sp>
        <p:nvSpPr>
          <p:cNvPr id="42" name="Shape 40"/>
          <p:cNvSpPr/>
          <p:nvPr/>
        </p:nvSpPr>
        <p:spPr>
          <a:xfrm>
            <a:off x="8253506" y="6929718"/>
            <a:ext cx="7518400" cy="1255059"/>
          </a:xfrm>
          <a:custGeom>
            <a:avLst/>
            <a:gdLst/>
            <a:ahLst/>
            <a:cxnLst/>
            <a:rect l="l" t="t" r="r" b="b"/>
            <a:pathLst>
              <a:path w="7518400" h="1255059">
                <a:moveTo>
                  <a:pt x="95623" y="0"/>
                </a:moveTo>
                <a:lnTo>
                  <a:pt x="7422777" y="0"/>
                </a:lnTo>
                <a:cubicBezTo>
                  <a:pt x="7475588" y="0"/>
                  <a:pt x="7518400" y="42812"/>
                  <a:pt x="7518400" y="95623"/>
                </a:cubicBezTo>
                <a:lnTo>
                  <a:pt x="7518400" y="1159436"/>
                </a:lnTo>
                <a:cubicBezTo>
                  <a:pt x="7518400" y="1212247"/>
                  <a:pt x="7475588" y="1255059"/>
                  <a:pt x="7422777" y="1255059"/>
                </a:cubicBezTo>
                <a:lnTo>
                  <a:pt x="95623" y="1255059"/>
                </a:lnTo>
                <a:cubicBezTo>
                  <a:pt x="42812" y="1255059"/>
                  <a:pt x="0" y="1212247"/>
                  <a:pt x="0" y="1159436"/>
                </a:cubicBezTo>
                <a:lnTo>
                  <a:pt x="0" y="95623"/>
                </a:lnTo>
                <a:cubicBezTo>
                  <a:pt x="0" y="42847"/>
                  <a:pt x="42847" y="0"/>
                  <a:pt x="95623" y="0"/>
                </a:cubicBezTo>
                <a:close/>
              </a:path>
            </a:pathLst>
          </a:custGeom>
          <a:solidFill>
            <a:srgbClr val="4C7E9A">
              <a:alpha val="10196"/>
            </a:srgbClr>
          </a:solidFill>
          <a:ln w="12700">
            <a:solidFill>
              <a:srgbClr val="4C7E9A">
                <a:alpha val="30196"/>
              </a:srgbClr>
            </a:solidFill>
            <a:prstDash val="solid"/>
          </a:ln>
        </p:spPr>
      </p:sp>
      <p:sp>
        <p:nvSpPr>
          <p:cNvPr id="43" name="Shape 41"/>
          <p:cNvSpPr/>
          <p:nvPr/>
        </p:nvSpPr>
        <p:spPr>
          <a:xfrm>
            <a:off x="8462682" y="7180729"/>
            <a:ext cx="215153" cy="191247"/>
          </a:xfrm>
          <a:custGeom>
            <a:avLst/>
            <a:gdLst/>
            <a:ahLst/>
            <a:cxnLst/>
            <a:rect l="l" t="t" r="r" b="b"/>
            <a:pathLst>
              <a:path w="215153" h="191247">
                <a:moveTo>
                  <a:pt x="115607" y="-7060"/>
                </a:moveTo>
                <a:cubicBezTo>
                  <a:pt x="114076" y="-10048"/>
                  <a:pt x="110976" y="-11953"/>
                  <a:pt x="107614" y="-11953"/>
                </a:cubicBezTo>
                <a:cubicBezTo>
                  <a:pt x="104252" y="-11953"/>
                  <a:pt x="101152" y="-10048"/>
                  <a:pt x="99620" y="-7060"/>
                </a:cubicBezTo>
                <a:lnTo>
                  <a:pt x="72129" y="46803"/>
                </a:lnTo>
                <a:lnTo>
                  <a:pt x="12401" y="56291"/>
                </a:lnTo>
                <a:cubicBezTo>
                  <a:pt x="9077" y="56814"/>
                  <a:pt x="6313" y="59167"/>
                  <a:pt x="5267" y="62379"/>
                </a:cubicBezTo>
                <a:cubicBezTo>
                  <a:pt x="4221" y="65592"/>
                  <a:pt x="5080" y="69103"/>
                  <a:pt x="7433" y="71494"/>
                </a:cubicBezTo>
                <a:lnTo>
                  <a:pt x="50165" y="114263"/>
                </a:lnTo>
                <a:lnTo>
                  <a:pt x="40752" y="173990"/>
                </a:lnTo>
                <a:cubicBezTo>
                  <a:pt x="40229" y="177314"/>
                  <a:pt x="41611" y="180676"/>
                  <a:pt x="44338" y="182656"/>
                </a:cubicBezTo>
                <a:cubicBezTo>
                  <a:pt x="47065" y="184636"/>
                  <a:pt x="50651" y="184934"/>
                  <a:pt x="53676" y="183403"/>
                </a:cubicBezTo>
                <a:lnTo>
                  <a:pt x="107614" y="155986"/>
                </a:lnTo>
                <a:lnTo>
                  <a:pt x="161514" y="183403"/>
                </a:lnTo>
                <a:cubicBezTo>
                  <a:pt x="164502" y="184934"/>
                  <a:pt x="168126" y="184636"/>
                  <a:pt x="170852" y="182656"/>
                </a:cubicBezTo>
                <a:cubicBezTo>
                  <a:pt x="173579" y="180676"/>
                  <a:pt x="174961" y="177352"/>
                  <a:pt x="174438" y="173990"/>
                </a:cubicBezTo>
                <a:lnTo>
                  <a:pt x="164988" y="114263"/>
                </a:lnTo>
                <a:lnTo>
                  <a:pt x="207720" y="71494"/>
                </a:lnTo>
                <a:cubicBezTo>
                  <a:pt x="210110" y="69103"/>
                  <a:pt x="210932" y="65592"/>
                  <a:pt x="209886" y="62379"/>
                </a:cubicBezTo>
                <a:cubicBezTo>
                  <a:pt x="208840" y="59167"/>
                  <a:pt x="206114" y="56814"/>
                  <a:pt x="202752" y="56291"/>
                </a:cubicBezTo>
                <a:lnTo>
                  <a:pt x="143062" y="46803"/>
                </a:lnTo>
                <a:lnTo>
                  <a:pt x="115607" y="-7060"/>
                </a:lnTo>
                <a:close/>
              </a:path>
            </a:pathLst>
          </a:custGeom>
          <a:solidFill>
            <a:srgbClr val="4C7E9A"/>
          </a:solidFill>
          <a:ln/>
        </p:spPr>
      </p:sp>
      <p:sp>
        <p:nvSpPr>
          <p:cNvPr id="44" name="Text 42"/>
          <p:cNvSpPr/>
          <p:nvPr/>
        </p:nvSpPr>
        <p:spPr>
          <a:xfrm>
            <a:off x="8779787" y="7126941"/>
            <a:ext cx="6890519" cy="860612"/>
          </a:xfrm>
          <a:prstGeom prst="rect">
            <a:avLst/>
          </a:prstGeom>
          <a:noFill/>
          <a:ln/>
        </p:spPr>
        <p:txBody>
          <a:bodyPr wrap="square" lIns="0" tIns="0" rIns="0" bIns="0" rtlCol="0" anchor="ctr"/>
          <a:lstStyle/>
          <a:p>
            <a:pPr>
              <a:lnSpc>
                <a:spcPct val="130000"/>
              </a:lnSpc>
            </a:pPr>
            <a:r>
              <a:rPr lang="en-US" sz="1506" b="1" dirty="0">
                <a:solidFill>
                  <a:srgbClr val="4C7E9A"/>
                </a:solidFill>
                <a:latin typeface="MiSans" pitchFamily="34" charset="0"/>
                <a:ea typeface="MiSans" pitchFamily="34" charset="-122"/>
                <a:cs typeface="MiSans" pitchFamily="34" charset="-120"/>
              </a:rPr>
              <a:t>总结：</a:t>
            </a:r>
            <a:pPr>
              <a:lnSpc>
                <a:spcPct val="130000"/>
              </a:lnSpc>
            </a:pPr>
            <a:r>
              <a:rPr lang="en-US" sz="1506" dirty="0">
                <a:solidFill>
                  <a:srgbClr val="D1D5DB"/>
                </a:solidFill>
                <a:latin typeface="MiSans" pitchFamily="34" charset="0"/>
                <a:ea typeface="MiSans" pitchFamily="34" charset="-122"/>
                <a:cs typeface="MiSans" pitchFamily="34" charset="-120"/>
              </a:rPr>
              <a:t>Stacking是灵活且强大的集成策略，能够充分利用不同算法的优势提升最终预测性能。通过合理选择基学习器和元学习器，并正确处理数据流转，可以实现"1+1&gt;2"的集成效果。</a:t>
            </a:r>
            <a:endParaRPr lang="en-US" sz="1600" dirty="0"/>
          </a:p>
        </p:txBody>
      </p:sp>
    </p:spTree>
  </p:cSld>
  <p:clrMapOvr>
    <a:masterClrMapping/>
  </p:clrMapOvr>
  <p:transition>
    <p:fade/>
    <p:spd val="med"/>
  </p:transition>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81A1F"/>
        </a:solidFill>
      </p:bgPr>
    </p:bg>
    <p:spTree>
      <p:nvGrpSpPr>
        <p:cNvPr id="1" name=""/>
        <p:cNvGrpSpPr/>
        <p:nvPr/>
      </p:nvGrpSpPr>
      <p:grpSpPr>
        <a:xfrm>
          <a:off x="0" y="0"/>
          <a:ext cx="0" cy="0"/>
          <a:chOff x="0" y="0"/>
          <a:chExt cx="0" cy="0"/>
        </a:xfrm>
      </p:grpSpPr>
      <p:sp>
        <p:nvSpPr>
          <p:cNvPr id="2" name="Text 0"/>
          <p:cNvSpPr/>
          <p:nvPr/>
        </p:nvSpPr>
        <p:spPr>
          <a:xfrm>
            <a:off x="508000" y="508000"/>
            <a:ext cx="15341600" cy="304800"/>
          </a:xfrm>
          <a:prstGeom prst="rect">
            <a:avLst/>
          </a:prstGeom>
          <a:noFill/>
          <a:ln/>
        </p:spPr>
        <p:txBody>
          <a:bodyPr wrap="square" lIns="0" tIns="0" rIns="0" bIns="0" rtlCol="0" anchor="ctr"/>
          <a:lstStyle/>
          <a:p>
            <a:pPr>
              <a:lnSpc>
                <a:spcPct val="130000"/>
              </a:lnSpc>
            </a:pPr>
            <a:r>
              <a:rPr lang="en-US" sz="1600" b="1" spc="80" kern="0" dirty="0">
                <a:solidFill>
                  <a:srgbClr val="7E9AA8"/>
                </a:solidFill>
                <a:latin typeface="MiSans" pitchFamily="34" charset="0"/>
                <a:ea typeface="MiSans" pitchFamily="34" charset="-122"/>
                <a:cs typeface="MiSans" pitchFamily="34" charset="-120"/>
              </a:rPr>
              <a:t>SUMMARY</a:t>
            </a:r>
            <a:endParaRPr lang="en-US" sz="1600" dirty="0"/>
          </a:p>
        </p:txBody>
      </p:sp>
      <p:sp>
        <p:nvSpPr>
          <p:cNvPr id="3" name="Text 1"/>
          <p:cNvSpPr/>
          <p:nvPr/>
        </p:nvSpPr>
        <p:spPr>
          <a:xfrm>
            <a:off x="508000" y="914400"/>
            <a:ext cx="15468600" cy="508000"/>
          </a:xfrm>
          <a:prstGeom prst="rect">
            <a:avLst/>
          </a:prstGeom>
          <a:noFill/>
          <a:ln/>
        </p:spPr>
        <p:txBody>
          <a:bodyPr wrap="square" lIns="0" tIns="0" rIns="0" bIns="0" rtlCol="0" anchor="ctr"/>
          <a:lstStyle/>
          <a:p>
            <a:pPr>
              <a:lnSpc>
                <a:spcPct val="90000"/>
              </a:lnSpc>
            </a:pPr>
            <a:r>
              <a:rPr lang="en-US" sz="3600" b="1" dirty="0">
                <a:solidFill>
                  <a:srgbClr val="D1D5DB"/>
                </a:solidFill>
                <a:latin typeface="阿里妈妈数黑体" pitchFamily="34" charset="0"/>
                <a:ea typeface="阿里妈妈数黑体" pitchFamily="34" charset="-122"/>
                <a:cs typeface="阿里妈妈数黑体" pitchFamily="34" charset="-120"/>
              </a:rPr>
              <a:t>集成学习全景回顾</a:t>
            </a:r>
            <a:endParaRPr lang="en-US" sz="1600" dirty="0"/>
          </a:p>
        </p:txBody>
      </p:sp>
      <p:sp>
        <p:nvSpPr>
          <p:cNvPr id="4" name="Shape 2"/>
          <p:cNvSpPr/>
          <p:nvPr/>
        </p:nvSpPr>
        <p:spPr>
          <a:xfrm>
            <a:off x="508000" y="1574800"/>
            <a:ext cx="1219200" cy="50800"/>
          </a:xfrm>
          <a:custGeom>
            <a:avLst/>
            <a:gdLst/>
            <a:ahLst/>
            <a:cxnLst/>
            <a:rect l="l" t="t" r="r" b="b"/>
            <a:pathLst>
              <a:path w="1219200" h="50800">
                <a:moveTo>
                  <a:pt x="0" y="0"/>
                </a:moveTo>
                <a:lnTo>
                  <a:pt x="1219200" y="0"/>
                </a:lnTo>
                <a:lnTo>
                  <a:pt x="1219200" y="50800"/>
                </a:lnTo>
                <a:lnTo>
                  <a:pt x="0" y="50800"/>
                </a:lnTo>
                <a:lnTo>
                  <a:pt x="0" y="0"/>
                </a:lnTo>
                <a:close/>
              </a:path>
            </a:pathLst>
          </a:custGeom>
          <a:solidFill>
            <a:srgbClr val="4C7E9A"/>
          </a:solidFill>
          <a:ln/>
        </p:spPr>
      </p:sp>
      <p:sp>
        <p:nvSpPr>
          <p:cNvPr id="5" name="Shape 3"/>
          <p:cNvSpPr/>
          <p:nvPr/>
        </p:nvSpPr>
        <p:spPr>
          <a:xfrm>
            <a:off x="508000" y="1905000"/>
            <a:ext cx="4940300" cy="2489200"/>
          </a:xfrm>
          <a:custGeom>
            <a:avLst/>
            <a:gdLst/>
            <a:ahLst/>
            <a:cxnLst/>
            <a:rect l="l" t="t" r="r" b="b"/>
            <a:pathLst>
              <a:path w="4940300" h="2489200">
                <a:moveTo>
                  <a:pt x="50800" y="0"/>
                </a:moveTo>
                <a:lnTo>
                  <a:pt x="4889500" y="0"/>
                </a:lnTo>
                <a:cubicBezTo>
                  <a:pt x="4917556" y="0"/>
                  <a:pt x="4940300" y="22744"/>
                  <a:pt x="4940300" y="50800"/>
                </a:cubicBezTo>
                <a:lnTo>
                  <a:pt x="4940300" y="2387591"/>
                </a:lnTo>
                <a:cubicBezTo>
                  <a:pt x="4940300" y="2443708"/>
                  <a:pt x="4894808" y="2489200"/>
                  <a:pt x="4838691" y="2489200"/>
                </a:cubicBezTo>
                <a:lnTo>
                  <a:pt x="101609" y="2489200"/>
                </a:lnTo>
                <a:cubicBezTo>
                  <a:pt x="45492" y="2489200"/>
                  <a:pt x="0" y="2443708"/>
                  <a:pt x="0" y="2387591"/>
                </a:cubicBezTo>
                <a:lnTo>
                  <a:pt x="0" y="50800"/>
                </a:lnTo>
                <a:cubicBezTo>
                  <a:pt x="0" y="22763"/>
                  <a:pt x="22763" y="0"/>
                  <a:pt x="50800" y="0"/>
                </a:cubicBezTo>
                <a:close/>
              </a:path>
            </a:pathLst>
          </a:custGeom>
          <a:solidFill>
            <a:srgbClr val="3A5E78">
              <a:alpha val="20000"/>
            </a:srgbClr>
          </a:solidFill>
          <a:ln/>
        </p:spPr>
      </p:sp>
      <p:sp>
        <p:nvSpPr>
          <p:cNvPr id="6" name="Shape 4"/>
          <p:cNvSpPr/>
          <p:nvPr/>
        </p:nvSpPr>
        <p:spPr>
          <a:xfrm>
            <a:off x="508000" y="1905000"/>
            <a:ext cx="4940300" cy="50800"/>
          </a:xfrm>
          <a:custGeom>
            <a:avLst/>
            <a:gdLst/>
            <a:ahLst/>
            <a:cxnLst/>
            <a:rect l="l" t="t" r="r" b="b"/>
            <a:pathLst>
              <a:path w="4940300" h="50800">
                <a:moveTo>
                  <a:pt x="50800" y="0"/>
                </a:moveTo>
                <a:lnTo>
                  <a:pt x="4889500" y="0"/>
                </a:lnTo>
                <a:cubicBezTo>
                  <a:pt x="4917537" y="0"/>
                  <a:pt x="4940300" y="22763"/>
                  <a:pt x="4940300" y="50800"/>
                </a:cubicBezTo>
                <a:lnTo>
                  <a:pt x="4940300" y="50800"/>
                </a:lnTo>
                <a:lnTo>
                  <a:pt x="0" y="50800"/>
                </a:lnTo>
                <a:lnTo>
                  <a:pt x="0" y="50800"/>
                </a:lnTo>
                <a:cubicBezTo>
                  <a:pt x="0" y="22763"/>
                  <a:pt x="22763" y="0"/>
                  <a:pt x="50800" y="0"/>
                </a:cubicBezTo>
                <a:close/>
              </a:path>
            </a:pathLst>
          </a:custGeom>
          <a:solidFill>
            <a:srgbClr val="4C7E9A"/>
          </a:solidFill>
          <a:ln/>
        </p:spPr>
      </p:sp>
      <p:sp>
        <p:nvSpPr>
          <p:cNvPr id="7" name="Shape 5"/>
          <p:cNvSpPr/>
          <p:nvPr/>
        </p:nvSpPr>
        <p:spPr>
          <a:xfrm>
            <a:off x="762000" y="2133600"/>
            <a:ext cx="381000" cy="381000"/>
          </a:xfrm>
          <a:custGeom>
            <a:avLst/>
            <a:gdLst/>
            <a:ahLst/>
            <a:cxnLst/>
            <a:rect l="l" t="t" r="r" b="b"/>
            <a:pathLst>
              <a:path w="381000" h="381000">
                <a:moveTo>
                  <a:pt x="142875" y="47625"/>
                </a:moveTo>
                <a:cubicBezTo>
                  <a:pt x="142875" y="34454"/>
                  <a:pt x="153516" y="23812"/>
                  <a:pt x="166688" y="23812"/>
                </a:cubicBezTo>
                <a:lnTo>
                  <a:pt x="214313" y="23812"/>
                </a:lnTo>
                <a:cubicBezTo>
                  <a:pt x="227484" y="23812"/>
                  <a:pt x="238125" y="34454"/>
                  <a:pt x="238125" y="47625"/>
                </a:cubicBezTo>
                <a:lnTo>
                  <a:pt x="238125" y="95250"/>
                </a:lnTo>
                <a:cubicBezTo>
                  <a:pt x="238125" y="108421"/>
                  <a:pt x="227484" y="119063"/>
                  <a:pt x="214313" y="119063"/>
                </a:cubicBezTo>
                <a:lnTo>
                  <a:pt x="208359" y="119063"/>
                </a:lnTo>
                <a:lnTo>
                  <a:pt x="208359" y="166688"/>
                </a:lnTo>
                <a:lnTo>
                  <a:pt x="297656" y="166688"/>
                </a:lnTo>
                <a:cubicBezTo>
                  <a:pt x="327273" y="166688"/>
                  <a:pt x="351234" y="190649"/>
                  <a:pt x="351234" y="220266"/>
                </a:cubicBezTo>
                <a:lnTo>
                  <a:pt x="351234" y="261938"/>
                </a:lnTo>
                <a:lnTo>
                  <a:pt x="357188" y="261938"/>
                </a:lnTo>
                <a:cubicBezTo>
                  <a:pt x="370359" y="261938"/>
                  <a:pt x="381000" y="272579"/>
                  <a:pt x="381000" y="285750"/>
                </a:cubicBezTo>
                <a:lnTo>
                  <a:pt x="381000" y="333375"/>
                </a:lnTo>
                <a:cubicBezTo>
                  <a:pt x="381000" y="346546"/>
                  <a:pt x="370359" y="357188"/>
                  <a:pt x="357188" y="357188"/>
                </a:cubicBezTo>
                <a:lnTo>
                  <a:pt x="309563" y="357188"/>
                </a:lnTo>
                <a:cubicBezTo>
                  <a:pt x="296391" y="357188"/>
                  <a:pt x="285750" y="346546"/>
                  <a:pt x="285750" y="333375"/>
                </a:cubicBezTo>
                <a:lnTo>
                  <a:pt x="285750" y="285750"/>
                </a:lnTo>
                <a:cubicBezTo>
                  <a:pt x="285750" y="272579"/>
                  <a:pt x="296391" y="261938"/>
                  <a:pt x="309563" y="261938"/>
                </a:cubicBezTo>
                <a:lnTo>
                  <a:pt x="315516" y="261938"/>
                </a:lnTo>
                <a:lnTo>
                  <a:pt x="315516" y="220266"/>
                </a:lnTo>
                <a:cubicBezTo>
                  <a:pt x="315516" y="210369"/>
                  <a:pt x="307553" y="202406"/>
                  <a:pt x="297656" y="202406"/>
                </a:cubicBezTo>
                <a:lnTo>
                  <a:pt x="208359" y="202406"/>
                </a:lnTo>
                <a:lnTo>
                  <a:pt x="208359" y="261938"/>
                </a:lnTo>
                <a:lnTo>
                  <a:pt x="214313" y="261938"/>
                </a:lnTo>
                <a:cubicBezTo>
                  <a:pt x="227484" y="261938"/>
                  <a:pt x="238125" y="272579"/>
                  <a:pt x="238125" y="285750"/>
                </a:cubicBezTo>
                <a:lnTo>
                  <a:pt x="238125" y="333375"/>
                </a:lnTo>
                <a:cubicBezTo>
                  <a:pt x="238125" y="346546"/>
                  <a:pt x="227484" y="357188"/>
                  <a:pt x="214313" y="357188"/>
                </a:cubicBezTo>
                <a:lnTo>
                  <a:pt x="166688" y="357188"/>
                </a:lnTo>
                <a:cubicBezTo>
                  <a:pt x="153516" y="357188"/>
                  <a:pt x="142875" y="346546"/>
                  <a:pt x="142875" y="333375"/>
                </a:cubicBezTo>
                <a:lnTo>
                  <a:pt x="142875" y="285750"/>
                </a:lnTo>
                <a:cubicBezTo>
                  <a:pt x="142875" y="272579"/>
                  <a:pt x="153516" y="261938"/>
                  <a:pt x="166688" y="261938"/>
                </a:cubicBezTo>
                <a:lnTo>
                  <a:pt x="172641" y="261938"/>
                </a:lnTo>
                <a:lnTo>
                  <a:pt x="172641" y="202406"/>
                </a:lnTo>
                <a:lnTo>
                  <a:pt x="83344" y="202406"/>
                </a:lnTo>
                <a:cubicBezTo>
                  <a:pt x="73447" y="202406"/>
                  <a:pt x="65484" y="210369"/>
                  <a:pt x="65484" y="220266"/>
                </a:cubicBezTo>
                <a:lnTo>
                  <a:pt x="65484" y="261938"/>
                </a:lnTo>
                <a:lnTo>
                  <a:pt x="71438" y="261938"/>
                </a:lnTo>
                <a:cubicBezTo>
                  <a:pt x="84609" y="261938"/>
                  <a:pt x="95250" y="272579"/>
                  <a:pt x="95250" y="285750"/>
                </a:cubicBezTo>
                <a:lnTo>
                  <a:pt x="95250" y="333375"/>
                </a:lnTo>
                <a:cubicBezTo>
                  <a:pt x="95250" y="346546"/>
                  <a:pt x="84609" y="357188"/>
                  <a:pt x="71438" y="357188"/>
                </a:cubicBezTo>
                <a:lnTo>
                  <a:pt x="23812" y="357188"/>
                </a:lnTo>
                <a:cubicBezTo>
                  <a:pt x="10641" y="357188"/>
                  <a:pt x="0" y="346546"/>
                  <a:pt x="0" y="333375"/>
                </a:cubicBezTo>
                <a:lnTo>
                  <a:pt x="0" y="285750"/>
                </a:lnTo>
                <a:cubicBezTo>
                  <a:pt x="0" y="272579"/>
                  <a:pt x="10641" y="261938"/>
                  <a:pt x="23812" y="261938"/>
                </a:cubicBezTo>
                <a:lnTo>
                  <a:pt x="29766" y="261938"/>
                </a:lnTo>
                <a:lnTo>
                  <a:pt x="29766" y="220266"/>
                </a:lnTo>
                <a:cubicBezTo>
                  <a:pt x="29766" y="190649"/>
                  <a:pt x="53727" y="166688"/>
                  <a:pt x="83344" y="166688"/>
                </a:cubicBezTo>
                <a:lnTo>
                  <a:pt x="172641" y="166688"/>
                </a:lnTo>
                <a:lnTo>
                  <a:pt x="172641" y="119063"/>
                </a:lnTo>
                <a:lnTo>
                  <a:pt x="166688" y="119063"/>
                </a:lnTo>
                <a:cubicBezTo>
                  <a:pt x="153516" y="119063"/>
                  <a:pt x="142875" y="108421"/>
                  <a:pt x="142875" y="95250"/>
                </a:cubicBezTo>
                <a:lnTo>
                  <a:pt x="142875" y="47625"/>
                </a:lnTo>
                <a:close/>
              </a:path>
            </a:pathLst>
          </a:custGeom>
          <a:solidFill>
            <a:srgbClr val="4C7E9A"/>
          </a:solidFill>
          <a:ln/>
        </p:spPr>
      </p:sp>
      <p:sp>
        <p:nvSpPr>
          <p:cNvPr id="8" name="Text 6"/>
          <p:cNvSpPr/>
          <p:nvPr/>
        </p:nvSpPr>
        <p:spPr>
          <a:xfrm>
            <a:off x="1339850" y="2146300"/>
            <a:ext cx="10922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Bagging</a:t>
            </a:r>
            <a:endParaRPr lang="en-US" sz="1600" dirty="0"/>
          </a:p>
        </p:txBody>
      </p:sp>
      <p:sp>
        <p:nvSpPr>
          <p:cNvPr id="9" name="Text 7"/>
          <p:cNvSpPr/>
          <p:nvPr/>
        </p:nvSpPr>
        <p:spPr>
          <a:xfrm>
            <a:off x="711200" y="2667000"/>
            <a:ext cx="4635500" cy="304800"/>
          </a:xfrm>
          <a:prstGeom prst="rect">
            <a:avLst/>
          </a:prstGeom>
          <a:noFill/>
          <a:ln/>
        </p:spPr>
        <p:txBody>
          <a:bodyPr wrap="square" lIns="0" tIns="0" rIns="0" bIns="0" rtlCol="0" anchor="ctr"/>
          <a:lstStyle/>
          <a:p>
            <a:pPr>
              <a:lnSpc>
                <a:spcPct val="130000"/>
              </a:lnSpc>
            </a:pPr>
            <a:r>
              <a:rPr lang="en-US" sz="1600" b="1" dirty="0">
                <a:solidFill>
                  <a:srgbClr val="D1D5DB"/>
                </a:solidFill>
                <a:latin typeface="MiSans" pitchFamily="34" charset="0"/>
                <a:ea typeface="MiSans" pitchFamily="34" charset="-122"/>
                <a:cs typeface="MiSans" pitchFamily="34" charset="-120"/>
              </a:rPr>
              <a:t>核心：</a:t>
            </a:r>
            <a:pPr>
              <a:lnSpc>
                <a:spcPct val="130000"/>
              </a:lnSpc>
            </a:pPr>
            <a:r>
              <a:rPr lang="en-US" sz="1600" dirty="0">
                <a:solidFill>
                  <a:srgbClr val="7E9AA8"/>
                </a:solidFill>
                <a:latin typeface="MiSans" pitchFamily="34" charset="0"/>
                <a:ea typeface="MiSans" pitchFamily="34" charset="-122"/>
                <a:cs typeface="MiSans" pitchFamily="34" charset="-120"/>
              </a:rPr>
              <a:t>并行集成，降低方差</a:t>
            </a:r>
            <a:endParaRPr lang="en-US" sz="1600" dirty="0"/>
          </a:p>
        </p:txBody>
      </p:sp>
      <p:sp>
        <p:nvSpPr>
          <p:cNvPr id="10" name="Text 8"/>
          <p:cNvSpPr/>
          <p:nvPr/>
        </p:nvSpPr>
        <p:spPr>
          <a:xfrm>
            <a:off x="711200" y="3073400"/>
            <a:ext cx="4635500" cy="304800"/>
          </a:xfrm>
          <a:prstGeom prst="rect">
            <a:avLst/>
          </a:prstGeom>
          <a:noFill/>
          <a:ln/>
        </p:spPr>
        <p:txBody>
          <a:bodyPr wrap="square" lIns="0" tIns="0" rIns="0" bIns="0" rtlCol="0" anchor="ctr"/>
          <a:lstStyle/>
          <a:p>
            <a:pPr>
              <a:lnSpc>
                <a:spcPct val="130000"/>
              </a:lnSpc>
            </a:pPr>
            <a:r>
              <a:rPr lang="en-US" sz="1600" b="1" dirty="0">
                <a:solidFill>
                  <a:srgbClr val="D1D5DB"/>
                </a:solidFill>
                <a:latin typeface="MiSans" pitchFamily="34" charset="0"/>
                <a:ea typeface="MiSans" pitchFamily="34" charset="-122"/>
                <a:cs typeface="MiSans" pitchFamily="34" charset="-120"/>
              </a:rPr>
              <a:t>代表：</a:t>
            </a:r>
            <a:pPr>
              <a:lnSpc>
                <a:spcPct val="130000"/>
              </a:lnSpc>
            </a:pPr>
            <a:r>
              <a:rPr lang="en-US" sz="1600" dirty="0">
                <a:solidFill>
                  <a:srgbClr val="7E9AA8"/>
                </a:solidFill>
                <a:latin typeface="MiSans" pitchFamily="34" charset="0"/>
                <a:ea typeface="MiSans" pitchFamily="34" charset="-122"/>
                <a:cs typeface="MiSans" pitchFamily="34" charset="-120"/>
              </a:rPr>
              <a:t>随机森林</a:t>
            </a:r>
            <a:endParaRPr lang="en-US" sz="1600" dirty="0"/>
          </a:p>
        </p:txBody>
      </p:sp>
      <p:sp>
        <p:nvSpPr>
          <p:cNvPr id="11" name="Text 9"/>
          <p:cNvSpPr/>
          <p:nvPr/>
        </p:nvSpPr>
        <p:spPr>
          <a:xfrm>
            <a:off x="711200" y="3479800"/>
            <a:ext cx="4635500" cy="304800"/>
          </a:xfrm>
          <a:prstGeom prst="rect">
            <a:avLst/>
          </a:prstGeom>
          <a:noFill/>
          <a:ln/>
        </p:spPr>
        <p:txBody>
          <a:bodyPr wrap="square" lIns="0" tIns="0" rIns="0" bIns="0" rtlCol="0" anchor="ctr"/>
          <a:lstStyle/>
          <a:p>
            <a:pPr>
              <a:lnSpc>
                <a:spcPct val="130000"/>
              </a:lnSpc>
            </a:pPr>
            <a:r>
              <a:rPr lang="en-US" sz="1600" b="1" dirty="0">
                <a:solidFill>
                  <a:srgbClr val="D1D5DB"/>
                </a:solidFill>
                <a:latin typeface="MiSans" pitchFamily="34" charset="0"/>
                <a:ea typeface="MiSans" pitchFamily="34" charset="-122"/>
                <a:cs typeface="MiSans" pitchFamily="34" charset="-120"/>
              </a:rPr>
              <a:t>适用：</a:t>
            </a:r>
            <a:pPr>
              <a:lnSpc>
                <a:spcPct val="130000"/>
              </a:lnSpc>
            </a:pPr>
            <a:r>
              <a:rPr lang="en-US" sz="1600" dirty="0">
                <a:solidFill>
                  <a:srgbClr val="7E9AA8"/>
                </a:solidFill>
                <a:latin typeface="MiSans" pitchFamily="34" charset="0"/>
                <a:ea typeface="MiSans" pitchFamily="34" charset="-122"/>
                <a:cs typeface="MiSans" pitchFamily="34" charset="-120"/>
              </a:rPr>
              <a:t>高方差模型</a:t>
            </a:r>
            <a:endParaRPr lang="en-US" sz="1600" dirty="0"/>
          </a:p>
        </p:txBody>
      </p:sp>
      <p:sp>
        <p:nvSpPr>
          <p:cNvPr id="12" name="Text 10"/>
          <p:cNvSpPr/>
          <p:nvPr/>
        </p:nvSpPr>
        <p:spPr>
          <a:xfrm>
            <a:off x="711200" y="3886200"/>
            <a:ext cx="4635500" cy="304800"/>
          </a:xfrm>
          <a:prstGeom prst="rect">
            <a:avLst/>
          </a:prstGeom>
          <a:noFill/>
          <a:ln/>
        </p:spPr>
        <p:txBody>
          <a:bodyPr wrap="square" lIns="0" tIns="0" rIns="0" bIns="0" rtlCol="0" anchor="ctr"/>
          <a:lstStyle/>
          <a:p>
            <a:pPr>
              <a:lnSpc>
                <a:spcPct val="130000"/>
              </a:lnSpc>
            </a:pPr>
            <a:r>
              <a:rPr lang="en-US" sz="1600" b="1" dirty="0">
                <a:solidFill>
                  <a:srgbClr val="D1D5DB"/>
                </a:solidFill>
                <a:latin typeface="MiSans" pitchFamily="34" charset="0"/>
                <a:ea typeface="MiSans" pitchFamily="34" charset="-122"/>
                <a:cs typeface="MiSans" pitchFamily="34" charset="-120"/>
              </a:rPr>
              <a:t>优势：</a:t>
            </a:r>
            <a:pPr>
              <a:lnSpc>
                <a:spcPct val="130000"/>
              </a:lnSpc>
            </a:pPr>
            <a:r>
              <a:rPr lang="en-US" sz="1600" dirty="0">
                <a:solidFill>
                  <a:srgbClr val="7E9AA8"/>
                </a:solidFill>
                <a:latin typeface="MiSans" pitchFamily="34" charset="0"/>
                <a:ea typeface="MiSans" pitchFamily="34" charset="-122"/>
                <a:cs typeface="MiSans" pitchFamily="34" charset="-120"/>
              </a:rPr>
              <a:t>简单高效，抗过拟合</a:t>
            </a:r>
            <a:endParaRPr lang="en-US" sz="1600" dirty="0"/>
          </a:p>
        </p:txBody>
      </p:sp>
      <p:sp>
        <p:nvSpPr>
          <p:cNvPr id="13" name="Shape 11"/>
          <p:cNvSpPr/>
          <p:nvPr/>
        </p:nvSpPr>
        <p:spPr>
          <a:xfrm>
            <a:off x="5655667" y="1905000"/>
            <a:ext cx="4940300" cy="2489200"/>
          </a:xfrm>
          <a:custGeom>
            <a:avLst/>
            <a:gdLst/>
            <a:ahLst/>
            <a:cxnLst/>
            <a:rect l="l" t="t" r="r" b="b"/>
            <a:pathLst>
              <a:path w="4940300" h="2489200">
                <a:moveTo>
                  <a:pt x="50800" y="0"/>
                </a:moveTo>
                <a:lnTo>
                  <a:pt x="4889500" y="0"/>
                </a:lnTo>
                <a:cubicBezTo>
                  <a:pt x="4917556" y="0"/>
                  <a:pt x="4940300" y="22744"/>
                  <a:pt x="4940300" y="50800"/>
                </a:cubicBezTo>
                <a:lnTo>
                  <a:pt x="4940300" y="2387591"/>
                </a:lnTo>
                <a:cubicBezTo>
                  <a:pt x="4940300" y="2443708"/>
                  <a:pt x="4894808" y="2489200"/>
                  <a:pt x="4838691" y="2489200"/>
                </a:cubicBezTo>
                <a:lnTo>
                  <a:pt x="101609" y="2489200"/>
                </a:lnTo>
                <a:cubicBezTo>
                  <a:pt x="45492" y="2489200"/>
                  <a:pt x="0" y="2443708"/>
                  <a:pt x="0" y="2387591"/>
                </a:cubicBezTo>
                <a:lnTo>
                  <a:pt x="0" y="50800"/>
                </a:lnTo>
                <a:cubicBezTo>
                  <a:pt x="0" y="22763"/>
                  <a:pt x="22763" y="0"/>
                  <a:pt x="50800" y="0"/>
                </a:cubicBezTo>
                <a:close/>
              </a:path>
            </a:pathLst>
          </a:custGeom>
          <a:solidFill>
            <a:srgbClr val="3A5E78">
              <a:alpha val="20000"/>
            </a:srgbClr>
          </a:solidFill>
          <a:ln/>
        </p:spPr>
      </p:sp>
      <p:sp>
        <p:nvSpPr>
          <p:cNvPr id="14" name="Shape 12"/>
          <p:cNvSpPr/>
          <p:nvPr/>
        </p:nvSpPr>
        <p:spPr>
          <a:xfrm>
            <a:off x="5655667" y="1905000"/>
            <a:ext cx="4940300" cy="50800"/>
          </a:xfrm>
          <a:custGeom>
            <a:avLst/>
            <a:gdLst/>
            <a:ahLst/>
            <a:cxnLst/>
            <a:rect l="l" t="t" r="r" b="b"/>
            <a:pathLst>
              <a:path w="4940300" h="50800">
                <a:moveTo>
                  <a:pt x="50800" y="0"/>
                </a:moveTo>
                <a:lnTo>
                  <a:pt x="4889500" y="0"/>
                </a:lnTo>
                <a:cubicBezTo>
                  <a:pt x="4917537" y="0"/>
                  <a:pt x="4940300" y="22763"/>
                  <a:pt x="4940300" y="50800"/>
                </a:cubicBezTo>
                <a:lnTo>
                  <a:pt x="4940300" y="50800"/>
                </a:lnTo>
                <a:lnTo>
                  <a:pt x="0" y="50800"/>
                </a:lnTo>
                <a:lnTo>
                  <a:pt x="0" y="50800"/>
                </a:lnTo>
                <a:cubicBezTo>
                  <a:pt x="0" y="22763"/>
                  <a:pt x="22763" y="0"/>
                  <a:pt x="50800" y="0"/>
                </a:cubicBezTo>
                <a:close/>
              </a:path>
            </a:pathLst>
          </a:custGeom>
          <a:solidFill>
            <a:srgbClr val="7E9AA8"/>
          </a:solidFill>
          <a:ln/>
        </p:spPr>
      </p:sp>
      <p:sp>
        <p:nvSpPr>
          <p:cNvPr id="15" name="Shape 13"/>
          <p:cNvSpPr/>
          <p:nvPr/>
        </p:nvSpPr>
        <p:spPr>
          <a:xfrm>
            <a:off x="5909667" y="2133600"/>
            <a:ext cx="381000" cy="381000"/>
          </a:xfrm>
          <a:custGeom>
            <a:avLst/>
            <a:gdLst/>
            <a:ahLst/>
            <a:cxnLst/>
            <a:rect l="l" t="t" r="r" b="b"/>
            <a:pathLst>
              <a:path w="381000" h="381000">
                <a:moveTo>
                  <a:pt x="47625" y="47625"/>
                </a:moveTo>
                <a:cubicBezTo>
                  <a:pt x="47625" y="34454"/>
                  <a:pt x="36984" y="23812"/>
                  <a:pt x="23812" y="23812"/>
                </a:cubicBezTo>
                <a:cubicBezTo>
                  <a:pt x="10641" y="23812"/>
                  <a:pt x="0" y="34454"/>
                  <a:pt x="0" y="47625"/>
                </a:cubicBezTo>
                <a:lnTo>
                  <a:pt x="0" y="297656"/>
                </a:lnTo>
                <a:cubicBezTo>
                  <a:pt x="0" y="330547"/>
                  <a:pt x="26640" y="357188"/>
                  <a:pt x="59531" y="357188"/>
                </a:cubicBezTo>
                <a:lnTo>
                  <a:pt x="357188" y="357188"/>
                </a:lnTo>
                <a:cubicBezTo>
                  <a:pt x="370359" y="357188"/>
                  <a:pt x="381000" y="346546"/>
                  <a:pt x="381000" y="333375"/>
                </a:cubicBezTo>
                <a:cubicBezTo>
                  <a:pt x="381000" y="320204"/>
                  <a:pt x="370359" y="309563"/>
                  <a:pt x="357188" y="309563"/>
                </a:cubicBezTo>
                <a:lnTo>
                  <a:pt x="59531" y="309563"/>
                </a:lnTo>
                <a:cubicBezTo>
                  <a:pt x="52983" y="309563"/>
                  <a:pt x="47625" y="304205"/>
                  <a:pt x="47625" y="297656"/>
                </a:cubicBezTo>
                <a:lnTo>
                  <a:pt x="47625" y="47625"/>
                </a:lnTo>
                <a:close/>
                <a:moveTo>
                  <a:pt x="350193" y="112068"/>
                </a:moveTo>
                <a:cubicBezTo>
                  <a:pt x="359494" y="102766"/>
                  <a:pt x="359494" y="87660"/>
                  <a:pt x="350193" y="78358"/>
                </a:cubicBezTo>
                <a:cubicBezTo>
                  <a:pt x="340891" y="69056"/>
                  <a:pt x="325785" y="69056"/>
                  <a:pt x="316483" y="78358"/>
                </a:cubicBezTo>
                <a:lnTo>
                  <a:pt x="238125" y="156790"/>
                </a:lnTo>
                <a:lnTo>
                  <a:pt x="195411" y="114151"/>
                </a:lnTo>
                <a:cubicBezTo>
                  <a:pt x="186110" y="104849"/>
                  <a:pt x="171004" y="104849"/>
                  <a:pt x="161702" y="114151"/>
                </a:cubicBezTo>
                <a:lnTo>
                  <a:pt x="90264" y="185589"/>
                </a:lnTo>
                <a:cubicBezTo>
                  <a:pt x="80963" y="194890"/>
                  <a:pt x="80963" y="209996"/>
                  <a:pt x="90264" y="219298"/>
                </a:cubicBezTo>
                <a:cubicBezTo>
                  <a:pt x="99566" y="228600"/>
                  <a:pt x="114672" y="228600"/>
                  <a:pt x="123974" y="219298"/>
                </a:cubicBezTo>
                <a:lnTo>
                  <a:pt x="178594" y="164678"/>
                </a:lnTo>
                <a:lnTo>
                  <a:pt x="221307" y="207392"/>
                </a:lnTo>
                <a:cubicBezTo>
                  <a:pt x="230609" y="216694"/>
                  <a:pt x="245715" y="216694"/>
                  <a:pt x="255017" y="207392"/>
                </a:cubicBezTo>
                <a:lnTo>
                  <a:pt x="350267" y="112142"/>
                </a:lnTo>
                <a:close/>
              </a:path>
            </a:pathLst>
          </a:custGeom>
          <a:solidFill>
            <a:srgbClr val="7E9AA8"/>
          </a:solidFill>
          <a:ln/>
        </p:spPr>
      </p:sp>
      <p:sp>
        <p:nvSpPr>
          <p:cNvPr id="16" name="Text 14"/>
          <p:cNvSpPr/>
          <p:nvPr/>
        </p:nvSpPr>
        <p:spPr>
          <a:xfrm>
            <a:off x="6487517" y="2146300"/>
            <a:ext cx="11557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Boosting</a:t>
            </a:r>
            <a:endParaRPr lang="en-US" sz="1600" dirty="0"/>
          </a:p>
        </p:txBody>
      </p:sp>
      <p:sp>
        <p:nvSpPr>
          <p:cNvPr id="17" name="Text 15"/>
          <p:cNvSpPr/>
          <p:nvPr/>
        </p:nvSpPr>
        <p:spPr>
          <a:xfrm>
            <a:off x="5858867" y="2667000"/>
            <a:ext cx="4635500" cy="304800"/>
          </a:xfrm>
          <a:prstGeom prst="rect">
            <a:avLst/>
          </a:prstGeom>
          <a:noFill/>
          <a:ln/>
        </p:spPr>
        <p:txBody>
          <a:bodyPr wrap="square" lIns="0" tIns="0" rIns="0" bIns="0" rtlCol="0" anchor="ctr"/>
          <a:lstStyle/>
          <a:p>
            <a:pPr>
              <a:lnSpc>
                <a:spcPct val="130000"/>
              </a:lnSpc>
            </a:pPr>
            <a:r>
              <a:rPr lang="en-US" sz="1600" b="1" dirty="0">
                <a:solidFill>
                  <a:srgbClr val="D1D5DB"/>
                </a:solidFill>
                <a:latin typeface="MiSans" pitchFamily="34" charset="0"/>
                <a:ea typeface="MiSans" pitchFamily="34" charset="-122"/>
                <a:cs typeface="MiSans" pitchFamily="34" charset="-120"/>
              </a:rPr>
              <a:t>核心：</a:t>
            </a:r>
            <a:pPr>
              <a:lnSpc>
                <a:spcPct val="130000"/>
              </a:lnSpc>
            </a:pPr>
            <a:r>
              <a:rPr lang="en-US" sz="1600" dirty="0">
                <a:solidFill>
                  <a:srgbClr val="7E9AA8"/>
                </a:solidFill>
                <a:latin typeface="MiSans" pitchFamily="34" charset="0"/>
                <a:ea typeface="MiSans" pitchFamily="34" charset="-122"/>
                <a:cs typeface="MiSans" pitchFamily="34" charset="-120"/>
              </a:rPr>
              <a:t>串行优化，降低偏差</a:t>
            </a:r>
            <a:endParaRPr lang="en-US" sz="1600" dirty="0"/>
          </a:p>
        </p:txBody>
      </p:sp>
      <p:sp>
        <p:nvSpPr>
          <p:cNvPr id="18" name="Text 16"/>
          <p:cNvSpPr/>
          <p:nvPr/>
        </p:nvSpPr>
        <p:spPr>
          <a:xfrm>
            <a:off x="5858867" y="3073400"/>
            <a:ext cx="4635500" cy="304800"/>
          </a:xfrm>
          <a:prstGeom prst="rect">
            <a:avLst/>
          </a:prstGeom>
          <a:noFill/>
          <a:ln/>
        </p:spPr>
        <p:txBody>
          <a:bodyPr wrap="square" lIns="0" tIns="0" rIns="0" bIns="0" rtlCol="0" anchor="ctr"/>
          <a:lstStyle/>
          <a:p>
            <a:pPr>
              <a:lnSpc>
                <a:spcPct val="130000"/>
              </a:lnSpc>
            </a:pPr>
            <a:r>
              <a:rPr lang="en-US" sz="1600" b="1" dirty="0">
                <a:solidFill>
                  <a:srgbClr val="D1D5DB"/>
                </a:solidFill>
                <a:latin typeface="MiSans" pitchFamily="34" charset="0"/>
                <a:ea typeface="MiSans" pitchFamily="34" charset="-122"/>
                <a:cs typeface="MiSans" pitchFamily="34" charset="-120"/>
              </a:rPr>
              <a:t>代表：</a:t>
            </a:r>
            <a:pPr>
              <a:lnSpc>
                <a:spcPct val="130000"/>
              </a:lnSpc>
            </a:pPr>
            <a:r>
              <a:rPr lang="en-US" sz="1600" dirty="0">
                <a:solidFill>
                  <a:srgbClr val="7E9AA8"/>
                </a:solidFill>
                <a:latin typeface="MiSans" pitchFamily="34" charset="0"/>
                <a:ea typeface="MiSans" pitchFamily="34" charset="-122"/>
                <a:cs typeface="MiSans" pitchFamily="34" charset="-120"/>
              </a:rPr>
              <a:t>AdaBoost, GBDT, XGBoost</a:t>
            </a:r>
            <a:endParaRPr lang="en-US" sz="1600" dirty="0"/>
          </a:p>
        </p:txBody>
      </p:sp>
      <p:sp>
        <p:nvSpPr>
          <p:cNvPr id="19" name="Text 17"/>
          <p:cNvSpPr/>
          <p:nvPr/>
        </p:nvSpPr>
        <p:spPr>
          <a:xfrm>
            <a:off x="5858867" y="3479800"/>
            <a:ext cx="4635500" cy="304800"/>
          </a:xfrm>
          <a:prstGeom prst="rect">
            <a:avLst/>
          </a:prstGeom>
          <a:noFill/>
          <a:ln/>
        </p:spPr>
        <p:txBody>
          <a:bodyPr wrap="square" lIns="0" tIns="0" rIns="0" bIns="0" rtlCol="0" anchor="ctr"/>
          <a:lstStyle/>
          <a:p>
            <a:pPr>
              <a:lnSpc>
                <a:spcPct val="130000"/>
              </a:lnSpc>
            </a:pPr>
            <a:r>
              <a:rPr lang="en-US" sz="1600" b="1" dirty="0">
                <a:solidFill>
                  <a:srgbClr val="D1D5DB"/>
                </a:solidFill>
                <a:latin typeface="MiSans" pitchFamily="34" charset="0"/>
                <a:ea typeface="MiSans" pitchFamily="34" charset="-122"/>
                <a:cs typeface="MiSans" pitchFamily="34" charset="-120"/>
              </a:rPr>
              <a:t>适用：</a:t>
            </a:r>
            <a:pPr>
              <a:lnSpc>
                <a:spcPct val="130000"/>
              </a:lnSpc>
            </a:pPr>
            <a:r>
              <a:rPr lang="en-US" sz="1600" dirty="0">
                <a:solidFill>
                  <a:srgbClr val="7E9AA8"/>
                </a:solidFill>
                <a:latin typeface="MiSans" pitchFamily="34" charset="0"/>
                <a:ea typeface="MiSans" pitchFamily="34" charset="-122"/>
                <a:cs typeface="MiSans" pitchFamily="34" charset="-120"/>
              </a:rPr>
              <a:t>高偏差模型</a:t>
            </a:r>
            <a:endParaRPr lang="en-US" sz="1600" dirty="0"/>
          </a:p>
        </p:txBody>
      </p:sp>
      <p:sp>
        <p:nvSpPr>
          <p:cNvPr id="20" name="Text 18"/>
          <p:cNvSpPr/>
          <p:nvPr/>
        </p:nvSpPr>
        <p:spPr>
          <a:xfrm>
            <a:off x="5858867" y="3886200"/>
            <a:ext cx="4635500" cy="304800"/>
          </a:xfrm>
          <a:prstGeom prst="rect">
            <a:avLst/>
          </a:prstGeom>
          <a:noFill/>
          <a:ln/>
        </p:spPr>
        <p:txBody>
          <a:bodyPr wrap="square" lIns="0" tIns="0" rIns="0" bIns="0" rtlCol="0" anchor="ctr"/>
          <a:lstStyle/>
          <a:p>
            <a:pPr>
              <a:lnSpc>
                <a:spcPct val="130000"/>
              </a:lnSpc>
            </a:pPr>
            <a:r>
              <a:rPr lang="en-US" sz="1600" b="1" dirty="0">
                <a:solidFill>
                  <a:srgbClr val="D1D5DB"/>
                </a:solidFill>
                <a:latin typeface="MiSans" pitchFamily="34" charset="0"/>
                <a:ea typeface="MiSans" pitchFamily="34" charset="-122"/>
                <a:cs typeface="MiSans" pitchFamily="34" charset="-120"/>
              </a:rPr>
              <a:t>优势：</a:t>
            </a:r>
            <a:pPr>
              <a:lnSpc>
                <a:spcPct val="130000"/>
              </a:lnSpc>
            </a:pPr>
            <a:r>
              <a:rPr lang="en-US" sz="1600" dirty="0">
                <a:solidFill>
                  <a:srgbClr val="7E9AA8"/>
                </a:solidFill>
                <a:latin typeface="MiSans" pitchFamily="34" charset="0"/>
                <a:ea typeface="MiSans" pitchFamily="34" charset="-122"/>
                <a:cs typeface="MiSans" pitchFamily="34" charset="-120"/>
              </a:rPr>
              <a:t>高精度，化弱为强</a:t>
            </a:r>
            <a:endParaRPr lang="en-US" sz="1600" dirty="0"/>
          </a:p>
        </p:txBody>
      </p:sp>
      <p:sp>
        <p:nvSpPr>
          <p:cNvPr id="21" name="Shape 19"/>
          <p:cNvSpPr/>
          <p:nvPr/>
        </p:nvSpPr>
        <p:spPr>
          <a:xfrm>
            <a:off x="10803434" y="1905000"/>
            <a:ext cx="4940300" cy="2489200"/>
          </a:xfrm>
          <a:custGeom>
            <a:avLst/>
            <a:gdLst/>
            <a:ahLst/>
            <a:cxnLst/>
            <a:rect l="l" t="t" r="r" b="b"/>
            <a:pathLst>
              <a:path w="4940300" h="2489200">
                <a:moveTo>
                  <a:pt x="50800" y="0"/>
                </a:moveTo>
                <a:lnTo>
                  <a:pt x="4889500" y="0"/>
                </a:lnTo>
                <a:cubicBezTo>
                  <a:pt x="4917556" y="0"/>
                  <a:pt x="4940300" y="22744"/>
                  <a:pt x="4940300" y="50800"/>
                </a:cubicBezTo>
                <a:lnTo>
                  <a:pt x="4940300" y="2387591"/>
                </a:lnTo>
                <a:cubicBezTo>
                  <a:pt x="4940300" y="2443708"/>
                  <a:pt x="4894808" y="2489200"/>
                  <a:pt x="4838691" y="2489200"/>
                </a:cubicBezTo>
                <a:lnTo>
                  <a:pt x="101609" y="2489200"/>
                </a:lnTo>
                <a:cubicBezTo>
                  <a:pt x="45492" y="2489200"/>
                  <a:pt x="0" y="2443708"/>
                  <a:pt x="0" y="2387591"/>
                </a:cubicBezTo>
                <a:lnTo>
                  <a:pt x="0" y="50800"/>
                </a:lnTo>
                <a:cubicBezTo>
                  <a:pt x="0" y="22763"/>
                  <a:pt x="22763" y="0"/>
                  <a:pt x="50800" y="0"/>
                </a:cubicBezTo>
                <a:close/>
              </a:path>
            </a:pathLst>
          </a:custGeom>
          <a:solidFill>
            <a:srgbClr val="3A5E78">
              <a:alpha val="20000"/>
            </a:srgbClr>
          </a:solidFill>
          <a:ln/>
        </p:spPr>
      </p:sp>
      <p:sp>
        <p:nvSpPr>
          <p:cNvPr id="22" name="Shape 20"/>
          <p:cNvSpPr/>
          <p:nvPr/>
        </p:nvSpPr>
        <p:spPr>
          <a:xfrm>
            <a:off x="10803434" y="1905000"/>
            <a:ext cx="4940300" cy="50800"/>
          </a:xfrm>
          <a:custGeom>
            <a:avLst/>
            <a:gdLst/>
            <a:ahLst/>
            <a:cxnLst/>
            <a:rect l="l" t="t" r="r" b="b"/>
            <a:pathLst>
              <a:path w="4940300" h="50800">
                <a:moveTo>
                  <a:pt x="50800" y="0"/>
                </a:moveTo>
                <a:lnTo>
                  <a:pt x="4889500" y="0"/>
                </a:lnTo>
                <a:cubicBezTo>
                  <a:pt x="4917537" y="0"/>
                  <a:pt x="4940300" y="22763"/>
                  <a:pt x="4940300" y="50800"/>
                </a:cubicBezTo>
                <a:lnTo>
                  <a:pt x="4940300" y="50800"/>
                </a:lnTo>
                <a:lnTo>
                  <a:pt x="0" y="50800"/>
                </a:lnTo>
                <a:lnTo>
                  <a:pt x="0" y="50800"/>
                </a:lnTo>
                <a:cubicBezTo>
                  <a:pt x="0" y="22763"/>
                  <a:pt x="22763" y="0"/>
                  <a:pt x="50800" y="0"/>
                </a:cubicBezTo>
                <a:close/>
              </a:path>
            </a:pathLst>
          </a:custGeom>
          <a:solidFill>
            <a:srgbClr val="4C7E9A"/>
          </a:solidFill>
          <a:ln/>
        </p:spPr>
      </p:sp>
      <p:sp>
        <p:nvSpPr>
          <p:cNvPr id="23" name="Shape 21"/>
          <p:cNvSpPr/>
          <p:nvPr/>
        </p:nvSpPr>
        <p:spPr>
          <a:xfrm>
            <a:off x="11057434" y="2133600"/>
            <a:ext cx="381000" cy="381000"/>
          </a:xfrm>
          <a:custGeom>
            <a:avLst/>
            <a:gdLst/>
            <a:ahLst/>
            <a:cxnLst/>
            <a:rect l="l" t="t" r="r" b="b"/>
            <a:pathLst>
              <a:path w="381000" h="381000">
                <a:moveTo>
                  <a:pt x="173013" y="3870"/>
                </a:moveTo>
                <a:cubicBezTo>
                  <a:pt x="184100" y="-1265"/>
                  <a:pt x="196900" y="-1265"/>
                  <a:pt x="207987" y="3870"/>
                </a:cubicBezTo>
                <a:lnTo>
                  <a:pt x="370656" y="79028"/>
                </a:lnTo>
                <a:cubicBezTo>
                  <a:pt x="376982" y="81930"/>
                  <a:pt x="381000" y="88255"/>
                  <a:pt x="381000" y="95250"/>
                </a:cubicBezTo>
                <a:cubicBezTo>
                  <a:pt x="381000" y="102245"/>
                  <a:pt x="376982" y="108570"/>
                  <a:pt x="370656" y="111472"/>
                </a:cubicBezTo>
                <a:lnTo>
                  <a:pt x="207987" y="186630"/>
                </a:lnTo>
                <a:cubicBezTo>
                  <a:pt x="196900" y="191765"/>
                  <a:pt x="184100" y="191765"/>
                  <a:pt x="173013" y="186630"/>
                </a:cubicBezTo>
                <a:lnTo>
                  <a:pt x="10344" y="111472"/>
                </a:lnTo>
                <a:cubicBezTo>
                  <a:pt x="4018" y="108496"/>
                  <a:pt x="0" y="102171"/>
                  <a:pt x="0" y="95250"/>
                </a:cubicBezTo>
                <a:cubicBezTo>
                  <a:pt x="0" y="88329"/>
                  <a:pt x="4018" y="81930"/>
                  <a:pt x="10344" y="79028"/>
                </a:cubicBezTo>
                <a:lnTo>
                  <a:pt x="173013" y="3870"/>
                </a:lnTo>
                <a:close/>
                <a:moveTo>
                  <a:pt x="35793" y="162520"/>
                </a:moveTo>
                <a:lnTo>
                  <a:pt x="158055" y="219001"/>
                </a:lnTo>
                <a:cubicBezTo>
                  <a:pt x="178668" y="228526"/>
                  <a:pt x="202406" y="228526"/>
                  <a:pt x="223019" y="219001"/>
                </a:cubicBezTo>
                <a:lnTo>
                  <a:pt x="345281" y="162520"/>
                </a:lnTo>
                <a:lnTo>
                  <a:pt x="370656" y="174278"/>
                </a:lnTo>
                <a:cubicBezTo>
                  <a:pt x="376982" y="177180"/>
                  <a:pt x="381000" y="183505"/>
                  <a:pt x="381000" y="190500"/>
                </a:cubicBezTo>
                <a:cubicBezTo>
                  <a:pt x="381000" y="197495"/>
                  <a:pt x="376982" y="203820"/>
                  <a:pt x="370656" y="206722"/>
                </a:cubicBezTo>
                <a:lnTo>
                  <a:pt x="207987" y="281880"/>
                </a:lnTo>
                <a:cubicBezTo>
                  <a:pt x="196900" y="287015"/>
                  <a:pt x="184100" y="287015"/>
                  <a:pt x="173013" y="281880"/>
                </a:cubicBezTo>
                <a:lnTo>
                  <a:pt x="10344" y="206722"/>
                </a:lnTo>
                <a:cubicBezTo>
                  <a:pt x="4018" y="203746"/>
                  <a:pt x="0" y="197421"/>
                  <a:pt x="0" y="190500"/>
                </a:cubicBezTo>
                <a:cubicBezTo>
                  <a:pt x="0" y="183579"/>
                  <a:pt x="4018" y="177180"/>
                  <a:pt x="10344" y="174278"/>
                </a:cubicBezTo>
                <a:lnTo>
                  <a:pt x="35719" y="162520"/>
                </a:lnTo>
                <a:close/>
                <a:moveTo>
                  <a:pt x="10344" y="269528"/>
                </a:moveTo>
                <a:lnTo>
                  <a:pt x="35719" y="257770"/>
                </a:lnTo>
                <a:lnTo>
                  <a:pt x="157981" y="314251"/>
                </a:lnTo>
                <a:cubicBezTo>
                  <a:pt x="178594" y="323776"/>
                  <a:pt x="202332" y="323776"/>
                  <a:pt x="222945" y="314251"/>
                </a:cubicBezTo>
                <a:lnTo>
                  <a:pt x="345207" y="257770"/>
                </a:lnTo>
                <a:lnTo>
                  <a:pt x="370582" y="269528"/>
                </a:lnTo>
                <a:cubicBezTo>
                  <a:pt x="376907" y="272430"/>
                  <a:pt x="380926" y="278755"/>
                  <a:pt x="380926" y="285750"/>
                </a:cubicBezTo>
                <a:cubicBezTo>
                  <a:pt x="380926" y="292745"/>
                  <a:pt x="376907" y="299070"/>
                  <a:pt x="370582" y="301972"/>
                </a:cubicBezTo>
                <a:lnTo>
                  <a:pt x="207913" y="377130"/>
                </a:lnTo>
                <a:cubicBezTo>
                  <a:pt x="196825" y="382265"/>
                  <a:pt x="184026" y="382265"/>
                  <a:pt x="172938" y="377130"/>
                </a:cubicBezTo>
                <a:lnTo>
                  <a:pt x="10344" y="301972"/>
                </a:lnTo>
                <a:cubicBezTo>
                  <a:pt x="4018" y="298996"/>
                  <a:pt x="0" y="292671"/>
                  <a:pt x="0" y="285750"/>
                </a:cubicBezTo>
                <a:cubicBezTo>
                  <a:pt x="0" y="278829"/>
                  <a:pt x="4018" y="272430"/>
                  <a:pt x="10344" y="269528"/>
                </a:cubicBezTo>
                <a:close/>
              </a:path>
            </a:pathLst>
          </a:custGeom>
          <a:solidFill>
            <a:srgbClr val="4C7E9A"/>
          </a:solidFill>
          <a:ln/>
        </p:spPr>
      </p:sp>
      <p:sp>
        <p:nvSpPr>
          <p:cNvPr id="24" name="Text 22"/>
          <p:cNvSpPr/>
          <p:nvPr/>
        </p:nvSpPr>
        <p:spPr>
          <a:xfrm>
            <a:off x="11635284" y="2146300"/>
            <a:ext cx="11303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Stacking</a:t>
            </a:r>
            <a:endParaRPr lang="en-US" sz="1600" dirty="0"/>
          </a:p>
        </p:txBody>
      </p:sp>
      <p:sp>
        <p:nvSpPr>
          <p:cNvPr id="25" name="Text 23"/>
          <p:cNvSpPr/>
          <p:nvPr/>
        </p:nvSpPr>
        <p:spPr>
          <a:xfrm>
            <a:off x="11006634" y="2667000"/>
            <a:ext cx="4635500" cy="304800"/>
          </a:xfrm>
          <a:prstGeom prst="rect">
            <a:avLst/>
          </a:prstGeom>
          <a:noFill/>
          <a:ln/>
        </p:spPr>
        <p:txBody>
          <a:bodyPr wrap="square" lIns="0" tIns="0" rIns="0" bIns="0" rtlCol="0" anchor="ctr"/>
          <a:lstStyle/>
          <a:p>
            <a:pPr>
              <a:lnSpc>
                <a:spcPct val="130000"/>
              </a:lnSpc>
            </a:pPr>
            <a:r>
              <a:rPr lang="en-US" sz="1600" b="1" dirty="0">
                <a:solidFill>
                  <a:srgbClr val="D1D5DB"/>
                </a:solidFill>
                <a:latin typeface="MiSans" pitchFamily="34" charset="0"/>
                <a:ea typeface="MiSans" pitchFamily="34" charset="-122"/>
                <a:cs typeface="MiSans" pitchFamily="34" charset="-120"/>
              </a:rPr>
              <a:t>核心：</a:t>
            </a:r>
            <a:pPr>
              <a:lnSpc>
                <a:spcPct val="130000"/>
              </a:lnSpc>
            </a:pPr>
            <a:r>
              <a:rPr lang="en-US" sz="1600" dirty="0">
                <a:solidFill>
                  <a:srgbClr val="7E9AA8"/>
                </a:solidFill>
                <a:latin typeface="MiSans" pitchFamily="34" charset="0"/>
                <a:ea typeface="MiSans" pitchFamily="34" charset="-122"/>
                <a:cs typeface="MiSans" pitchFamily="34" charset="-120"/>
              </a:rPr>
              <a:t>层级融合，元学习</a:t>
            </a:r>
            <a:endParaRPr lang="en-US" sz="1600" dirty="0"/>
          </a:p>
        </p:txBody>
      </p:sp>
      <p:sp>
        <p:nvSpPr>
          <p:cNvPr id="26" name="Text 24"/>
          <p:cNvSpPr/>
          <p:nvPr/>
        </p:nvSpPr>
        <p:spPr>
          <a:xfrm>
            <a:off x="11006634" y="3073400"/>
            <a:ext cx="4635500" cy="304800"/>
          </a:xfrm>
          <a:prstGeom prst="rect">
            <a:avLst/>
          </a:prstGeom>
          <a:noFill/>
          <a:ln/>
        </p:spPr>
        <p:txBody>
          <a:bodyPr wrap="square" lIns="0" tIns="0" rIns="0" bIns="0" rtlCol="0" anchor="ctr"/>
          <a:lstStyle/>
          <a:p>
            <a:pPr>
              <a:lnSpc>
                <a:spcPct val="130000"/>
              </a:lnSpc>
            </a:pPr>
            <a:r>
              <a:rPr lang="en-US" sz="1600" b="1" dirty="0">
                <a:solidFill>
                  <a:srgbClr val="D1D5DB"/>
                </a:solidFill>
                <a:latin typeface="MiSans" pitchFamily="34" charset="0"/>
                <a:ea typeface="MiSans" pitchFamily="34" charset="-122"/>
                <a:cs typeface="MiSans" pitchFamily="34" charset="-120"/>
              </a:rPr>
              <a:t>代表：</a:t>
            </a:r>
            <a:pPr>
              <a:lnSpc>
                <a:spcPct val="130000"/>
              </a:lnSpc>
            </a:pPr>
            <a:r>
              <a:rPr lang="en-US" sz="1600" dirty="0">
                <a:solidFill>
                  <a:srgbClr val="7E9AA8"/>
                </a:solidFill>
                <a:latin typeface="MiSans" pitchFamily="34" charset="0"/>
                <a:ea typeface="MiSans" pitchFamily="34" charset="-122"/>
                <a:cs typeface="MiSans" pitchFamily="34" charset="-120"/>
              </a:rPr>
              <a:t>多层模型集成</a:t>
            </a:r>
            <a:endParaRPr lang="en-US" sz="1600" dirty="0"/>
          </a:p>
        </p:txBody>
      </p:sp>
      <p:sp>
        <p:nvSpPr>
          <p:cNvPr id="27" name="Text 25"/>
          <p:cNvSpPr/>
          <p:nvPr/>
        </p:nvSpPr>
        <p:spPr>
          <a:xfrm>
            <a:off x="11006634" y="3479800"/>
            <a:ext cx="4635500" cy="304800"/>
          </a:xfrm>
          <a:prstGeom prst="rect">
            <a:avLst/>
          </a:prstGeom>
          <a:noFill/>
          <a:ln/>
        </p:spPr>
        <p:txBody>
          <a:bodyPr wrap="square" lIns="0" tIns="0" rIns="0" bIns="0" rtlCol="0" anchor="ctr"/>
          <a:lstStyle/>
          <a:p>
            <a:pPr>
              <a:lnSpc>
                <a:spcPct val="130000"/>
              </a:lnSpc>
            </a:pPr>
            <a:r>
              <a:rPr lang="en-US" sz="1600" b="1" dirty="0">
                <a:solidFill>
                  <a:srgbClr val="D1D5DB"/>
                </a:solidFill>
                <a:latin typeface="MiSans" pitchFamily="34" charset="0"/>
                <a:ea typeface="MiSans" pitchFamily="34" charset="-122"/>
                <a:cs typeface="MiSans" pitchFamily="34" charset="-120"/>
              </a:rPr>
              <a:t>适用：</a:t>
            </a:r>
            <a:pPr>
              <a:lnSpc>
                <a:spcPct val="130000"/>
              </a:lnSpc>
            </a:pPr>
            <a:r>
              <a:rPr lang="en-US" sz="1600" dirty="0">
                <a:solidFill>
                  <a:srgbClr val="7E9AA8"/>
                </a:solidFill>
                <a:latin typeface="MiSans" pitchFamily="34" charset="0"/>
                <a:ea typeface="MiSans" pitchFamily="34" charset="-122"/>
                <a:cs typeface="MiSans" pitchFamily="34" charset="-120"/>
              </a:rPr>
              <a:t>复杂问题，多模态</a:t>
            </a:r>
            <a:endParaRPr lang="en-US" sz="1600" dirty="0"/>
          </a:p>
        </p:txBody>
      </p:sp>
      <p:sp>
        <p:nvSpPr>
          <p:cNvPr id="28" name="Text 26"/>
          <p:cNvSpPr/>
          <p:nvPr/>
        </p:nvSpPr>
        <p:spPr>
          <a:xfrm>
            <a:off x="11006634" y="3886200"/>
            <a:ext cx="4635500" cy="304800"/>
          </a:xfrm>
          <a:prstGeom prst="rect">
            <a:avLst/>
          </a:prstGeom>
          <a:noFill/>
          <a:ln/>
        </p:spPr>
        <p:txBody>
          <a:bodyPr wrap="square" lIns="0" tIns="0" rIns="0" bIns="0" rtlCol="0" anchor="ctr"/>
          <a:lstStyle/>
          <a:p>
            <a:pPr>
              <a:lnSpc>
                <a:spcPct val="130000"/>
              </a:lnSpc>
            </a:pPr>
            <a:r>
              <a:rPr lang="en-US" sz="1600" b="1" dirty="0">
                <a:solidFill>
                  <a:srgbClr val="D1D5DB"/>
                </a:solidFill>
                <a:latin typeface="MiSans" pitchFamily="34" charset="0"/>
                <a:ea typeface="MiSans" pitchFamily="34" charset="-122"/>
                <a:cs typeface="MiSans" pitchFamily="34" charset="-120"/>
              </a:rPr>
              <a:t>优势：</a:t>
            </a:r>
            <a:pPr>
              <a:lnSpc>
                <a:spcPct val="130000"/>
              </a:lnSpc>
            </a:pPr>
            <a:r>
              <a:rPr lang="en-US" sz="1600" dirty="0">
                <a:solidFill>
                  <a:srgbClr val="7E9AA8"/>
                </a:solidFill>
                <a:latin typeface="MiSans" pitchFamily="34" charset="0"/>
                <a:ea typeface="MiSans" pitchFamily="34" charset="-122"/>
                <a:cs typeface="MiSans" pitchFamily="34" charset="-120"/>
              </a:rPr>
              <a:t>1+1&gt;2效应</a:t>
            </a:r>
            <a:endParaRPr lang="en-US" sz="1600" dirty="0"/>
          </a:p>
        </p:txBody>
      </p:sp>
      <p:sp>
        <p:nvSpPr>
          <p:cNvPr id="29" name="Shape 27"/>
          <p:cNvSpPr/>
          <p:nvPr/>
        </p:nvSpPr>
        <p:spPr>
          <a:xfrm>
            <a:off x="533400" y="4597400"/>
            <a:ext cx="7467600" cy="2082800"/>
          </a:xfrm>
          <a:custGeom>
            <a:avLst/>
            <a:gdLst/>
            <a:ahLst/>
            <a:cxnLst/>
            <a:rect l="l" t="t" r="r" b="b"/>
            <a:pathLst>
              <a:path w="7467600" h="2082800">
                <a:moveTo>
                  <a:pt x="50800" y="0"/>
                </a:moveTo>
                <a:lnTo>
                  <a:pt x="7366001" y="0"/>
                </a:lnTo>
                <a:cubicBezTo>
                  <a:pt x="7422113" y="0"/>
                  <a:pt x="7467600" y="45487"/>
                  <a:pt x="7467600" y="101599"/>
                </a:cubicBezTo>
                <a:lnTo>
                  <a:pt x="7467600" y="1981201"/>
                </a:lnTo>
                <a:cubicBezTo>
                  <a:pt x="7467600" y="2037313"/>
                  <a:pt x="7422113" y="2082800"/>
                  <a:pt x="7366001" y="2082800"/>
                </a:cubicBezTo>
                <a:lnTo>
                  <a:pt x="50800" y="2082800"/>
                </a:lnTo>
                <a:cubicBezTo>
                  <a:pt x="22763" y="2082800"/>
                  <a:pt x="0" y="2060037"/>
                  <a:pt x="0" y="2032000"/>
                </a:cubicBezTo>
                <a:lnTo>
                  <a:pt x="0" y="50800"/>
                </a:lnTo>
                <a:cubicBezTo>
                  <a:pt x="0" y="22763"/>
                  <a:pt x="22763" y="0"/>
                  <a:pt x="50800" y="0"/>
                </a:cubicBezTo>
                <a:close/>
              </a:path>
            </a:pathLst>
          </a:custGeom>
          <a:solidFill>
            <a:srgbClr val="3A5E78">
              <a:alpha val="20000"/>
            </a:srgbClr>
          </a:solidFill>
          <a:ln/>
        </p:spPr>
      </p:sp>
      <p:sp>
        <p:nvSpPr>
          <p:cNvPr id="30" name="Shape 28"/>
          <p:cNvSpPr/>
          <p:nvPr/>
        </p:nvSpPr>
        <p:spPr>
          <a:xfrm>
            <a:off x="533400" y="4597400"/>
            <a:ext cx="50800" cy="2082800"/>
          </a:xfrm>
          <a:custGeom>
            <a:avLst/>
            <a:gdLst/>
            <a:ahLst/>
            <a:cxnLst/>
            <a:rect l="l" t="t" r="r" b="b"/>
            <a:pathLst>
              <a:path w="50800" h="2082800">
                <a:moveTo>
                  <a:pt x="50800" y="0"/>
                </a:moveTo>
                <a:lnTo>
                  <a:pt x="50800" y="0"/>
                </a:lnTo>
                <a:lnTo>
                  <a:pt x="50800" y="2082800"/>
                </a:lnTo>
                <a:lnTo>
                  <a:pt x="50800" y="2082800"/>
                </a:lnTo>
                <a:cubicBezTo>
                  <a:pt x="22763" y="2082800"/>
                  <a:pt x="0" y="2060037"/>
                  <a:pt x="0" y="2032000"/>
                </a:cubicBezTo>
                <a:lnTo>
                  <a:pt x="0" y="50800"/>
                </a:lnTo>
                <a:cubicBezTo>
                  <a:pt x="0" y="22763"/>
                  <a:pt x="22763" y="0"/>
                  <a:pt x="50800" y="0"/>
                </a:cubicBezTo>
                <a:close/>
              </a:path>
            </a:pathLst>
          </a:custGeom>
          <a:solidFill>
            <a:srgbClr val="4C7E9A"/>
          </a:solidFill>
          <a:ln/>
        </p:spPr>
      </p:sp>
      <p:sp>
        <p:nvSpPr>
          <p:cNvPr id="31" name="Text 29"/>
          <p:cNvSpPr/>
          <p:nvPr/>
        </p:nvSpPr>
        <p:spPr>
          <a:xfrm>
            <a:off x="762000" y="4800600"/>
            <a:ext cx="7188200" cy="406400"/>
          </a:xfrm>
          <a:prstGeom prst="rect">
            <a:avLst/>
          </a:prstGeom>
          <a:noFill/>
          <a:ln/>
        </p:spPr>
        <p:txBody>
          <a:bodyPr wrap="square" lIns="0" tIns="0" rIns="0" bIns="0" rtlCol="0" anchor="ctr"/>
          <a:lstStyle/>
          <a:p>
            <a:pPr>
              <a:lnSpc>
                <a:spcPct val="110000"/>
              </a:lnSpc>
            </a:pPr>
            <a:r>
              <a:rPr lang="en-US" sz="2400" b="1" dirty="0">
                <a:solidFill>
                  <a:srgbClr val="4C7E9A"/>
                </a:solidFill>
                <a:latin typeface="MiSans" pitchFamily="34" charset="0"/>
                <a:ea typeface="MiSans" pitchFamily="34" charset="-122"/>
                <a:cs typeface="MiSans" pitchFamily="34" charset="-120"/>
              </a:rPr>
              <a:t>核心思想</a:t>
            </a:r>
            <a:endParaRPr lang="en-US" sz="1600" dirty="0"/>
          </a:p>
        </p:txBody>
      </p:sp>
      <p:sp>
        <p:nvSpPr>
          <p:cNvPr id="32" name="Shape 30"/>
          <p:cNvSpPr/>
          <p:nvPr/>
        </p:nvSpPr>
        <p:spPr>
          <a:xfrm>
            <a:off x="762000" y="5410200"/>
            <a:ext cx="317500" cy="254000"/>
          </a:xfrm>
          <a:custGeom>
            <a:avLst/>
            <a:gdLst/>
            <a:ahLst/>
            <a:cxnLst/>
            <a:rect l="l" t="t" r="r" b="b"/>
            <a:pathLst>
              <a:path w="317500" h="254000">
                <a:moveTo>
                  <a:pt x="158750" y="7938"/>
                </a:moveTo>
                <a:cubicBezTo>
                  <a:pt x="187225" y="7938"/>
                  <a:pt x="210344" y="31056"/>
                  <a:pt x="210344" y="59531"/>
                </a:cubicBezTo>
                <a:cubicBezTo>
                  <a:pt x="210344" y="88007"/>
                  <a:pt x="187225" y="111125"/>
                  <a:pt x="158750" y="111125"/>
                </a:cubicBezTo>
                <a:cubicBezTo>
                  <a:pt x="130275" y="111125"/>
                  <a:pt x="107156" y="88007"/>
                  <a:pt x="107156" y="59531"/>
                </a:cubicBezTo>
                <a:cubicBezTo>
                  <a:pt x="107156" y="31056"/>
                  <a:pt x="130275" y="7938"/>
                  <a:pt x="158750" y="7938"/>
                </a:cubicBezTo>
                <a:close/>
                <a:moveTo>
                  <a:pt x="47625" y="43656"/>
                </a:moveTo>
                <a:cubicBezTo>
                  <a:pt x="67339" y="43656"/>
                  <a:pt x="83344" y="59661"/>
                  <a:pt x="83344" y="79375"/>
                </a:cubicBezTo>
                <a:cubicBezTo>
                  <a:pt x="83344" y="99089"/>
                  <a:pt x="67339" y="115094"/>
                  <a:pt x="47625" y="115094"/>
                </a:cubicBezTo>
                <a:cubicBezTo>
                  <a:pt x="27911" y="115094"/>
                  <a:pt x="11906" y="99089"/>
                  <a:pt x="11906" y="79375"/>
                </a:cubicBezTo>
                <a:cubicBezTo>
                  <a:pt x="11906" y="59661"/>
                  <a:pt x="27911" y="43656"/>
                  <a:pt x="47625" y="43656"/>
                </a:cubicBezTo>
                <a:close/>
                <a:moveTo>
                  <a:pt x="0" y="206375"/>
                </a:moveTo>
                <a:cubicBezTo>
                  <a:pt x="0" y="171301"/>
                  <a:pt x="28426" y="142875"/>
                  <a:pt x="63500" y="142875"/>
                </a:cubicBezTo>
                <a:cubicBezTo>
                  <a:pt x="69850" y="142875"/>
                  <a:pt x="76002" y="143818"/>
                  <a:pt x="81806" y="145554"/>
                </a:cubicBezTo>
                <a:cubicBezTo>
                  <a:pt x="65484" y="163810"/>
                  <a:pt x="55563" y="187920"/>
                  <a:pt x="55563" y="214313"/>
                </a:cubicBezTo>
                <a:lnTo>
                  <a:pt x="55563" y="222250"/>
                </a:lnTo>
                <a:cubicBezTo>
                  <a:pt x="55563" y="227905"/>
                  <a:pt x="56753" y="233263"/>
                  <a:pt x="58886" y="238125"/>
                </a:cubicBezTo>
                <a:lnTo>
                  <a:pt x="15875" y="238125"/>
                </a:lnTo>
                <a:cubicBezTo>
                  <a:pt x="7094" y="238125"/>
                  <a:pt x="0" y="231031"/>
                  <a:pt x="0" y="222250"/>
                </a:cubicBezTo>
                <a:lnTo>
                  <a:pt x="0" y="206375"/>
                </a:lnTo>
                <a:close/>
                <a:moveTo>
                  <a:pt x="258614" y="238125"/>
                </a:moveTo>
                <a:cubicBezTo>
                  <a:pt x="260747" y="233263"/>
                  <a:pt x="261937" y="227905"/>
                  <a:pt x="261937" y="222250"/>
                </a:cubicBezTo>
                <a:lnTo>
                  <a:pt x="261937" y="214313"/>
                </a:lnTo>
                <a:cubicBezTo>
                  <a:pt x="261937" y="187920"/>
                  <a:pt x="252016" y="163810"/>
                  <a:pt x="235694" y="145554"/>
                </a:cubicBezTo>
                <a:cubicBezTo>
                  <a:pt x="241498" y="143818"/>
                  <a:pt x="247650" y="142875"/>
                  <a:pt x="254000" y="142875"/>
                </a:cubicBezTo>
                <a:cubicBezTo>
                  <a:pt x="289074" y="142875"/>
                  <a:pt x="317500" y="171301"/>
                  <a:pt x="317500" y="206375"/>
                </a:cubicBezTo>
                <a:lnTo>
                  <a:pt x="317500" y="222250"/>
                </a:lnTo>
                <a:cubicBezTo>
                  <a:pt x="317500" y="231031"/>
                  <a:pt x="310406" y="238125"/>
                  <a:pt x="301625" y="238125"/>
                </a:cubicBezTo>
                <a:lnTo>
                  <a:pt x="258614" y="238125"/>
                </a:lnTo>
                <a:close/>
                <a:moveTo>
                  <a:pt x="234156" y="79375"/>
                </a:moveTo>
                <a:cubicBezTo>
                  <a:pt x="234156" y="59661"/>
                  <a:pt x="250161" y="43656"/>
                  <a:pt x="269875" y="43656"/>
                </a:cubicBezTo>
                <a:cubicBezTo>
                  <a:pt x="289589" y="43656"/>
                  <a:pt x="305594" y="59661"/>
                  <a:pt x="305594" y="79375"/>
                </a:cubicBezTo>
                <a:cubicBezTo>
                  <a:pt x="305594" y="99089"/>
                  <a:pt x="289589" y="115094"/>
                  <a:pt x="269875" y="115094"/>
                </a:cubicBezTo>
                <a:cubicBezTo>
                  <a:pt x="250161" y="115094"/>
                  <a:pt x="234156" y="99089"/>
                  <a:pt x="234156" y="79375"/>
                </a:cubicBezTo>
                <a:close/>
                <a:moveTo>
                  <a:pt x="79375" y="214313"/>
                </a:moveTo>
                <a:cubicBezTo>
                  <a:pt x="79375" y="170458"/>
                  <a:pt x="114895" y="134938"/>
                  <a:pt x="158750" y="134938"/>
                </a:cubicBezTo>
                <a:cubicBezTo>
                  <a:pt x="202605" y="134938"/>
                  <a:pt x="238125" y="170458"/>
                  <a:pt x="238125" y="214313"/>
                </a:cubicBezTo>
                <a:lnTo>
                  <a:pt x="238125" y="222250"/>
                </a:lnTo>
                <a:cubicBezTo>
                  <a:pt x="238125" y="231031"/>
                  <a:pt x="231031" y="238125"/>
                  <a:pt x="222250" y="238125"/>
                </a:cubicBezTo>
                <a:lnTo>
                  <a:pt x="95250" y="238125"/>
                </a:lnTo>
                <a:cubicBezTo>
                  <a:pt x="86469" y="238125"/>
                  <a:pt x="79375" y="231031"/>
                  <a:pt x="79375" y="222250"/>
                </a:cubicBezTo>
                <a:lnTo>
                  <a:pt x="79375" y="214313"/>
                </a:lnTo>
                <a:close/>
              </a:path>
            </a:pathLst>
          </a:custGeom>
          <a:solidFill>
            <a:srgbClr val="4C7E9A"/>
          </a:solidFill>
          <a:ln/>
        </p:spPr>
      </p:sp>
      <p:sp>
        <p:nvSpPr>
          <p:cNvPr id="33" name="Text 31"/>
          <p:cNvSpPr/>
          <p:nvPr/>
        </p:nvSpPr>
        <p:spPr>
          <a:xfrm>
            <a:off x="1231900" y="5359400"/>
            <a:ext cx="3759200" cy="304800"/>
          </a:xfrm>
          <a:prstGeom prst="rect">
            <a:avLst/>
          </a:prstGeom>
          <a:noFill/>
          <a:ln/>
        </p:spPr>
        <p:txBody>
          <a:bodyPr wrap="square" lIns="0" tIns="0" rIns="0" bIns="0" rtlCol="0" anchor="ctr"/>
          <a:lstStyle/>
          <a:p>
            <a:pPr>
              <a:lnSpc>
                <a:spcPct val="130000"/>
              </a:lnSpc>
            </a:pPr>
            <a:r>
              <a:rPr lang="en-US" sz="1600" b="1" dirty="0">
                <a:solidFill>
                  <a:srgbClr val="4C7E9A"/>
                </a:solidFill>
                <a:latin typeface="MiSans" pitchFamily="34" charset="0"/>
                <a:ea typeface="MiSans" pitchFamily="34" charset="-122"/>
                <a:cs typeface="MiSans" pitchFamily="34" charset="-120"/>
              </a:rPr>
              <a:t>集体智慧：</a:t>
            </a:r>
            <a:pPr>
              <a:lnSpc>
                <a:spcPct val="130000"/>
              </a:lnSpc>
            </a:pPr>
            <a:r>
              <a:rPr lang="en-US" sz="1600" dirty="0">
                <a:solidFill>
                  <a:srgbClr val="D1D5DB"/>
                </a:solidFill>
                <a:latin typeface="MiSans" pitchFamily="34" charset="0"/>
                <a:ea typeface="MiSans" pitchFamily="34" charset="-122"/>
                <a:cs typeface="MiSans" pitchFamily="34" charset="-120"/>
              </a:rPr>
              <a:t>多个模型的组合优于单一模型</a:t>
            </a:r>
            <a:endParaRPr lang="en-US" sz="1600" dirty="0"/>
          </a:p>
        </p:txBody>
      </p:sp>
      <p:sp>
        <p:nvSpPr>
          <p:cNvPr id="34" name="Shape 32"/>
          <p:cNvSpPr/>
          <p:nvPr/>
        </p:nvSpPr>
        <p:spPr>
          <a:xfrm>
            <a:off x="762000" y="5816600"/>
            <a:ext cx="317500" cy="254000"/>
          </a:xfrm>
          <a:custGeom>
            <a:avLst/>
            <a:gdLst/>
            <a:ahLst/>
            <a:cxnLst/>
            <a:rect l="l" t="t" r="r" b="b"/>
            <a:pathLst>
              <a:path w="317500" h="254000">
                <a:moveTo>
                  <a:pt x="190500" y="15875"/>
                </a:moveTo>
                <a:lnTo>
                  <a:pt x="254000" y="15875"/>
                </a:lnTo>
                <a:cubicBezTo>
                  <a:pt x="262781" y="15875"/>
                  <a:pt x="269875" y="22969"/>
                  <a:pt x="269875" y="31750"/>
                </a:cubicBezTo>
                <a:cubicBezTo>
                  <a:pt x="269875" y="40531"/>
                  <a:pt x="262781" y="47625"/>
                  <a:pt x="254000" y="47625"/>
                </a:cubicBezTo>
                <a:lnTo>
                  <a:pt x="197644" y="47625"/>
                </a:lnTo>
                <a:cubicBezTo>
                  <a:pt x="195064" y="60424"/>
                  <a:pt x="186283" y="70991"/>
                  <a:pt x="174625" y="76051"/>
                </a:cubicBezTo>
                <a:lnTo>
                  <a:pt x="174625" y="222250"/>
                </a:lnTo>
                <a:lnTo>
                  <a:pt x="254000" y="222250"/>
                </a:lnTo>
                <a:cubicBezTo>
                  <a:pt x="262781" y="222250"/>
                  <a:pt x="269875" y="229344"/>
                  <a:pt x="269875" y="238125"/>
                </a:cubicBezTo>
                <a:cubicBezTo>
                  <a:pt x="269875" y="246906"/>
                  <a:pt x="262781" y="254000"/>
                  <a:pt x="254000" y="254000"/>
                </a:cubicBezTo>
                <a:lnTo>
                  <a:pt x="63500" y="254000"/>
                </a:lnTo>
                <a:cubicBezTo>
                  <a:pt x="54719" y="254000"/>
                  <a:pt x="47625" y="246906"/>
                  <a:pt x="47625" y="238125"/>
                </a:cubicBezTo>
                <a:cubicBezTo>
                  <a:pt x="47625" y="229344"/>
                  <a:pt x="54719" y="222250"/>
                  <a:pt x="63500" y="222250"/>
                </a:cubicBezTo>
                <a:lnTo>
                  <a:pt x="142875" y="222250"/>
                </a:lnTo>
                <a:lnTo>
                  <a:pt x="142875" y="76051"/>
                </a:lnTo>
                <a:cubicBezTo>
                  <a:pt x="131217" y="70941"/>
                  <a:pt x="122436" y="60375"/>
                  <a:pt x="119856" y="47625"/>
                </a:cubicBezTo>
                <a:lnTo>
                  <a:pt x="63500" y="47625"/>
                </a:lnTo>
                <a:cubicBezTo>
                  <a:pt x="54719" y="47625"/>
                  <a:pt x="47625" y="40531"/>
                  <a:pt x="47625" y="31750"/>
                </a:cubicBezTo>
                <a:cubicBezTo>
                  <a:pt x="47625" y="22969"/>
                  <a:pt x="54719" y="15875"/>
                  <a:pt x="63500" y="15875"/>
                </a:cubicBezTo>
                <a:lnTo>
                  <a:pt x="127000" y="15875"/>
                </a:lnTo>
                <a:cubicBezTo>
                  <a:pt x="134243" y="6251"/>
                  <a:pt x="145752" y="0"/>
                  <a:pt x="158750" y="0"/>
                </a:cubicBezTo>
                <a:cubicBezTo>
                  <a:pt x="171748" y="0"/>
                  <a:pt x="183257" y="6251"/>
                  <a:pt x="190500" y="15875"/>
                </a:cubicBezTo>
                <a:close/>
                <a:moveTo>
                  <a:pt x="218083" y="158750"/>
                </a:moveTo>
                <a:lnTo>
                  <a:pt x="289917" y="158750"/>
                </a:lnTo>
                <a:lnTo>
                  <a:pt x="254000" y="97135"/>
                </a:lnTo>
                <a:lnTo>
                  <a:pt x="218083" y="158750"/>
                </a:lnTo>
                <a:close/>
                <a:moveTo>
                  <a:pt x="254000" y="206375"/>
                </a:moveTo>
                <a:cubicBezTo>
                  <a:pt x="222796" y="206375"/>
                  <a:pt x="196850" y="189508"/>
                  <a:pt x="191492" y="167233"/>
                </a:cubicBezTo>
                <a:cubicBezTo>
                  <a:pt x="190202" y="161776"/>
                  <a:pt x="191988" y="156170"/>
                  <a:pt x="194816" y="151309"/>
                </a:cubicBezTo>
                <a:lnTo>
                  <a:pt x="242044" y="70346"/>
                </a:lnTo>
                <a:cubicBezTo>
                  <a:pt x="244525" y="66080"/>
                  <a:pt x="249089" y="63500"/>
                  <a:pt x="254000" y="63500"/>
                </a:cubicBezTo>
                <a:cubicBezTo>
                  <a:pt x="258911" y="63500"/>
                  <a:pt x="263475" y="66129"/>
                  <a:pt x="265956" y="70346"/>
                </a:cubicBezTo>
                <a:lnTo>
                  <a:pt x="313184" y="151309"/>
                </a:lnTo>
                <a:cubicBezTo>
                  <a:pt x="316012" y="156170"/>
                  <a:pt x="317798" y="161776"/>
                  <a:pt x="316508" y="167233"/>
                </a:cubicBezTo>
                <a:cubicBezTo>
                  <a:pt x="311150" y="189458"/>
                  <a:pt x="285204" y="206375"/>
                  <a:pt x="254000" y="206375"/>
                </a:cubicBezTo>
                <a:close/>
                <a:moveTo>
                  <a:pt x="62905" y="97135"/>
                </a:moveTo>
                <a:lnTo>
                  <a:pt x="26988" y="158750"/>
                </a:lnTo>
                <a:lnTo>
                  <a:pt x="98871" y="158750"/>
                </a:lnTo>
                <a:lnTo>
                  <a:pt x="62905" y="97135"/>
                </a:lnTo>
                <a:close/>
                <a:moveTo>
                  <a:pt x="446" y="167233"/>
                </a:moveTo>
                <a:cubicBezTo>
                  <a:pt x="-843" y="161776"/>
                  <a:pt x="943" y="156170"/>
                  <a:pt x="3770" y="151309"/>
                </a:cubicBezTo>
                <a:lnTo>
                  <a:pt x="50998" y="70346"/>
                </a:lnTo>
                <a:cubicBezTo>
                  <a:pt x="53479" y="66080"/>
                  <a:pt x="58043" y="63500"/>
                  <a:pt x="62954" y="63500"/>
                </a:cubicBezTo>
                <a:cubicBezTo>
                  <a:pt x="67866" y="63500"/>
                  <a:pt x="72430" y="66129"/>
                  <a:pt x="74910" y="70346"/>
                </a:cubicBezTo>
                <a:lnTo>
                  <a:pt x="122138" y="151309"/>
                </a:lnTo>
                <a:cubicBezTo>
                  <a:pt x="124966" y="156170"/>
                  <a:pt x="126752" y="161776"/>
                  <a:pt x="125462" y="167233"/>
                </a:cubicBezTo>
                <a:cubicBezTo>
                  <a:pt x="120104" y="189458"/>
                  <a:pt x="94159" y="206375"/>
                  <a:pt x="62954" y="206375"/>
                </a:cubicBezTo>
                <a:cubicBezTo>
                  <a:pt x="31750" y="206375"/>
                  <a:pt x="5804" y="189508"/>
                  <a:pt x="446" y="167233"/>
                </a:cubicBezTo>
                <a:close/>
              </a:path>
            </a:pathLst>
          </a:custGeom>
          <a:solidFill>
            <a:srgbClr val="4C7E9A"/>
          </a:solidFill>
          <a:ln/>
        </p:spPr>
      </p:sp>
      <p:sp>
        <p:nvSpPr>
          <p:cNvPr id="35" name="Text 33"/>
          <p:cNvSpPr/>
          <p:nvPr/>
        </p:nvSpPr>
        <p:spPr>
          <a:xfrm>
            <a:off x="1231900" y="5765800"/>
            <a:ext cx="3441700" cy="304800"/>
          </a:xfrm>
          <a:prstGeom prst="rect">
            <a:avLst/>
          </a:prstGeom>
          <a:noFill/>
          <a:ln/>
        </p:spPr>
        <p:txBody>
          <a:bodyPr wrap="square" lIns="0" tIns="0" rIns="0" bIns="0" rtlCol="0" anchor="ctr"/>
          <a:lstStyle/>
          <a:p>
            <a:pPr>
              <a:lnSpc>
                <a:spcPct val="130000"/>
              </a:lnSpc>
            </a:pPr>
            <a:r>
              <a:rPr lang="en-US" sz="1600" b="1" dirty="0">
                <a:solidFill>
                  <a:srgbClr val="4C7E9A"/>
                </a:solidFill>
                <a:latin typeface="MiSans" pitchFamily="34" charset="0"/>
                <a:ea typeface="MiSans" pitchFamily="34" charset="-122"/>
                <a:cs typeface="MiSans" pitchFamily="34" charset="-120"/>
              </a:rPr>
              <a:t>偏差-方差权衡：</a:t>
            </a:r>
            <a:pPr>
              <a:lnSpc>
                <a:spcPct val="130000"/>
              </a:lnSpc>
            </a:pPr>
            <a:r>
              <a:rPr lang="en-US" sz="1600" dirty="0">
                <a:solidFill>
                  <a:srgbClr val="D1D5DB"/>
                </a:solidFill>
                <a:latin typeface="MiSans" pitchFamily="34" charset="0"/>
                <a:ea typeface="MiSans" pitchFamily="34" charset="-122"/>
                <a:cs typeface="MiSans" pitchFamily="34" charset="-120"/>
              </a:rPr>
              <a:t>不同方法针对性优化</a:t>
            </a:r>
            <a:endParaRPr lang="en-US" sz="1600" dirty="0"/>
          </a:p>
        </p:txBody>
      </p:sp>
      <p:sp>
        <p:nvSpPr>
          <p:cNvPr id="36" name="Shape 34"/>
          <p:cNvSpPr/>
          <p:nvPr/>
        </p:nvSpPr>
        <p:spPr>
          <a:xfrm>
            <a:off x="793750" y="6223000"/>
            <a:ext cx="254000" cy="254000"/>
          </a:xfrm>
          <a:custGeom>
            <a:avLst/>
            <a:gdLst/>
            <a:ahLst/>
            <a:cxnLst/>
            <a:rect l="l" t="t" r="r" b="b"/>
            <a:pathLst>
              <a:path w="254000" h="254000">
                <a:moveTo>
                  <a:pt x="111125" y="0"/>
                </a:moveTo>
                <a:cubicBezTo>
                  <a:pt x="128637" y="0"/>
                  <a:pt x="142875" y="10666"/>
                  <a:pt x="142875" y="23812"/>
                </a:cubicBezTo>
                <a:cubicBezTo>
                  <a:pt x="142875" y="28972"/>
                  <a:pt x="140692" y="33734"/>
                  <a:pt x="136922" y="37654"/>
                </a:cubicBezTo>
                <a:cubicBezTo>
                  <a:pt x="133648" y="41077"/>
                  <a:pt x="130969" y="45244"/>
                  <a:pt x="130969" y="50006"/>
                </a:cubicBezTo>
                <a:cubicBezTo>
                  <a:pt x="130969" y="57448"/>
                  <a:pt x="137021" y="63500"/>
                  <a:pt x="144463" y="63500"/>
                </a:cubicBezTo>
                <a:lnTo>
                  <a:pt x="166688" y="63500"/>
                </a:lnTo>
                <a:cubicBezTo>
                  <a:pt x="179834" y="63500"/>
                  <a:pt x="190500" y="74166"/>
                  <a:pt x="190500" y="87313"/>
                </a:cubicBezTo>
                <a:lnTo>
                  <a:pt x="190500" y="109538"/>
                </a:lnTo>
                <a:cubicBezTo>
                  <a:pt x="190500" y="116979"/>
                  <a:pt x="196552" y="123031"/>
                  <a:pt x="203994" y="123031"/>
                </a:cubicBezTo>
                <a:cubicBezTo>
                  <a:pt x="208707" y="123031"/>
                  <a:pt x="212923" y="120352"/>
                  <a:pt x="216346" y="117078"/>
                </a:cubicBezTo>
                <a:cubicBezTo>
                  <a:pt x="220266" y="113357"/>
                  <a:pt x="225028" y="111125"/>
                  <a:pt x="230188" y="111125"/>
                </a:cubicBezTo>
                <a:cubicBezTo>
                  <a:pt x="243334" y="111125"/>
                  <a:pt x="254000" y="125363"/>
                  <a:pt x="254000" y="142875"/>
                </a:cubicBezTo>
                <a:cubicBezTo>
                  <a:pt x="254000" y="160387"/>
                  <a:pt x="243334" y="174625"/>
                  <a:pt x="230188" y="174625"/>
                </a:cubicBezTo>
                <a:cubicBezTo>
                  <a:pt x="225028" y="174625"/>
                  <a:pt x="220216" y="172442"/>
                  <a:pt x="216346" y="168672"/>
                </a:cubicBezTo>
                <a:cubicBezTo>
                  <a:pt x="212923" y="165398"/>
                  <a:pt x="208756" y="162719"/>
                  <a:pt x="203994" y="162719"/>
                </a:cubicBezTo>
                <a:cubicBezTo>
                  <a:pt x="196552" y="162719"/>
                  <a:pt x="190500" y="168771"/>
                  <a:pt x="190500" y="176213"/>
                </a:cubicBezTo>
                <a:lnTo>
                  <a:pt x="190500" y="230188"/>
                </a:lnTo>
                <a:cubicBezTo>
                  <a:pt x="190500" y="243334"/>
                  <a:pt x="179834" y="254000"/>
                  <a:pt x="166688" y="254000"/>
                </a:cubicBezTo>
                <a:lnTo>
                  <a:pt x="138509" y="254000"/>
                </a:lnTo>
                <a:cubicBezTo>
                  <a:pt x="132159" y="254000"/>
                  <a:pt x="127000" y="248841"/>
                  <a:pt x="127000" y="242491"/>
                </a:cubicBezTo>
                <a:cubicBezTo>
                  <a:pt x="127000" y="237927"/>
                  <a:pt x="129877" y="233908"/>
                  <a:pt x="133548" y="231180"/>
                </a:cubicBezTo>
                <a:cubicBezTo>
                  <a:pt x="139303" y="226864"/>
                  <a:pt x="142875" y="220911"/>
                  <a:pt x="142875" y="214313"/>
                </a:cubicBezTo>
                <a:cubicBezTo>
                  <a:pt x="142875" y="201166"/>
                  <a:pt x="128637" y="190500"/>
                  <a:pt x="111125" y="190500"/>
                </a:cubicBezTo>
                <a:cubicBezTo>
                  <a:pt x="93613" y="190500"/>
                  <a:pt x="79375" y="201166"/>
                  <a:pt x="79375" y="214313"/>
                </a:cubicBezTo>
                <a:cubicBezTo>
                  <a:pt x="79375" y="220911"/>
                  <a:pt x="82947" y="226864"/>
                  <a:pt x="88702" y="231180"/>
                </a:cubicBezTo>
                <a:cubicBezTo>
                  <a:pt x="92373" y="233908"/>
                  <a:pt x="95250" y="237877"/>
                  <a:pt x="95250" y="242491"/>
                </a:cubicBezTo>
                <a:cubicBezTo>
                  <a:pt x="95250" y="248841"/>
                  <a:pt x="90091" y="254000"/>
                  <a:pt x="83741" y="254000"/>
                </a:cubicBezTo>
                <a:lnTo>
                  <a:pt x="23812" y="254000"/>
                </a:lnTo>
                <a:cubicBezTo>
                  <a:pt x="10666" y="254000"/>
                  <a:pt x="0" y="243334"/>
                  <a:pt x="0" y="230188"/>
                </a:cubicBezTo>
                <a:lnTo>
                  <a:pt x="0" y="170259"/>
                </a:lnTo>
                <a:cubicBezTo>
                  <a:pt x="0" y="163909"/>
                  <a:pt x="5159" y="158750"/>
                  <a:pt x="11509" y="158750"/>
                </a:cubicBezTo>
                <a:cubicBezTo>
                  <a:pt x="16073" y="158750"/>
                  <a:pt x="20092" y="161627"/>
                  <a:pt x="22820" y="165298"/>
                </a:cubicBezTo>
                <a:cubicBezTo>
                  <a:pt x="27136" y="171053"/>
                  <a:pt x="33089" y="174625"/>
                  <a:pt x="39688" y="174625"/>
                </a:cubicBezTo>
                <a:cubicBezTo>
                  <a:pt x="52834" y="174625"/>
                  <a:pt x="63500" y="160387"/>
                  <a:pt x="63500" y="142875"/>
                </a:cubicBezTo>
                <a:cubicBezTo>
                  <a:pt x="63500" y="125363"/>
                  <a:pt x="52834" y="111125"/>
                  <a:pt x="39688" y="111125"/>
                </a:cubicBezTo>
                <a:cubicBezTo>
                  <a:pt x="33089" y="111125"/>
                  <a:pt x="27136" y="114697"/>
                  <a:pt x="22820" y="120452"/>
                </a:cubicBezTo>
                <a:cubicBezTo>
                  <a:pt x="20092" y="124123"/>
                  <a:pt x="16123" y="127000"/>
                  <a:pt x="11509" y="127000"/>
                </a:cubicBezTo>
                <a:cubicBezTo>
                  <a:pt x="5159" y="127000"/>
                  <a:pt x="0" y="121841"/>
                  <a:pt x="0" y="115491"/>
                </a:cubicBezTo>
                <a:lnTo>
                  <a:pt x="0" y="87313"/>
                </a:lnTo>
                <a:cubicBezTo>
                  <a:pt x="0" y="74166"/>
                  <a:pt x="10666" y="63500"/>
                  <a:pt x="23812" y="63500"/>
                </a:cubicBezTo>
                <a:lnTo>
                  <a:pt x="77788" y="63500"/>
                </a:lnTo>
                <a:cubicBezTo>
                  <a:pt x="85229" y="63500"/>
                  <a:pt x="91281" y="57448"/>
                  <a:pt x="91281" y="50006"/>
                </a:cubicBezTo>
                <a:cubicBezTo>
                  <a:pt x="91281" y="45293"/>
                  <a:pt x="88602" y="41077"/>
                  <a:pt x="85328" y="37654"/>
                </a:cubicBezTo>
                <a:cubicBezTo>
                  <a:pt x="81607" y="33734"/>
                  <a:pt x="79375" y="28972"/>
                  <a:pt x="79375" y="23813"/>
                </a:cubicBezTo>
                <a:cubicBezTo>
                  <a:pt x="79375" y="10666"/>
                  <a:pt x="93613" y="0"/>
                  <a:pt x="111125" y="0"/>
                </a:cubicBezTo>
                <a:close/>
              </a:path>
            </a:pathLst>
          </a:custGeom>
          <a:solidFill>
            <a:srgbClr val="4C7E9A"/>
          </a:solidFill>
          <a:ln/>
        </p:spPr>
      </p:sp>
      <p:sp>
        <p:nvSpPr>
          <p:cNvPr id="37" name="Text 35"/>
          <p:cNvSpPr/>
          <p:nvPr/>
        </p:nvSpPr>
        <p:spPr>
          <a:xfrm>
            <a:off x="1231900" y="6172200"/>
            <a:ext cx="3149600" cy="304800"/>
          </a:xfrm>
          <a:prstGeom prst="rect">
            <a:avLst/>
          </a:prstGeom>
          <a:noFill/>
          <a:ln/>
        </p:spPr>
        <p:txBody>
          <a:bodyPr wrap="square" lIns="0" tIns="0" rIns="0" bIns="0" rtlCol="0" anchor="ctr"/>
          <a:lstStyle/>
          <a:p>
            <a:pPr>
              <a:lnSpc>
                <a:spcPct val="130000"/>
              </a:lnSpc>
            </a:pPr>
            <a:r>
              <a:rPr lang="en-US" sz="1600" b="1" dirty="0">
                <a:solidFill>
                  <a:srgbClr val="4C7E9A"/>
                </a:solidFill>
                <a:latin typeface="MiSans" pitchFamily="34" charset="0"/>
                <a:ea typeface="MiSans" pitchFamily="34" charset="-122"/>
                <a:cs typeface="MiSans" pitchFamily="34" charset="-120"/>
              </a:rPr>
              <a:t>多样性：</a:t>
            </a:r>
            <a:pPr>
              <a:lnSpc>
                <a:spcPct val="130000"/>
              </a:lnSpc>
            </a:pPr>
            <a:r>
              <a:rPr lang="en-US" sz="1600" dirty="0">
                <a:solidFill>
                  <a:srgbClr val="D1D5DB"/>
                </a:solidFill>
                <a:latin typeface="MiSans" pitchFamily="34" charset="0"/>
                <a:ea typeface="MiSans" pitchFamily="34" charset="-122"/>
                <a:cs typeface="MiSans" pitchFamily="34" charset="-120"/>
              </a:rPr>
              <a:t>基模型间相关性越低越好</a:t>
            </a:r>
            <a:endParaRPr lang="en-US" sz="1600" dirty="0"/>
          </a:p>
        </p:txBody>
      </p:sp>
      <p:sp>
        <p:nvSpPr>
          <p:cNvPr id="38" name="Shape 36"/>
          <p:cNvSpPr/>
          <p:nvPr/>
        </p:nvSpPr>
        <p:spPr>
          <a:xfrm>
            <a:off x="8280400" y="4597400"/>
            <a:ext cx="7467600" cy="2082800"/>
          </a:xfrm>
          <a:custGeom>
            <a:avLst/>
            <a:gdLst/>
            <a:ahLst/>
            <a:cxnLst/>
            <a:rect l="l" t="t" r="r" b="b"/>
            <a:pathLst>
              <a:path w="7467600" h="2082800">
                <a:moveTo>
                  <a:pt x="50800" y="0"/>
                </a:moveTo>
                <a:lnTo>
                  <a:pt x="7366001" y="0"/>
                </a:lnTo>
                <a:cubicBezTo>
                  <a:pt x="7422113" y="0"/>
                  <a:pt x="7467600" y="45487"/>
                  <a:pt x="7467600" y="101599"/>
                </a:cubicBezTo>
                <a:lnTo>
                  <a:pt x="7467600" y="1981201"/>
                </a:lnTo>
                <a:cubicBezTo>
                  <a:pt x="7467600" y="2037313"/>
                  <a:pt x="7422113" y="2082800"/>
                  <a:pt x="7366001" y="2082800"/>
                </a:cubicBezTo>
                <a:lnTo>
                  <a:pt x="50800" y="2082800"/>
                </a:lnTo>
                <a:cubicBezTo>
                  <a:pt x="22763" y="2082800"/>
                  <a:pt x="0" y="2060037"/>
                  <a:pt x="0" y="2032000"/>
                </a:cubicBezTo>
                <a:lnTo>
                  <a:pt x="0" y="50800"/>
                </a:lnTo>
                <a:cubicBezTo>
                  <a:pt x="0" y="22763"/>
                  <a:pt x="22763" y="0"/>
                  <a:pt x="50800" y="0"/>
                </a:cubicBezTo>
                <a:close/>
              </a:path>
            </a:pathLst>
          </a:custGeom>
          <a:solidFill>
            <a:srgbClr val="3A5E78">
              <a:alpha val="20000"/>
            </a:srgbClr>
          </a:solidFill>
          <a:ln/>
        </p:spPr>
      </p:sp>
      <p:sp>
        <p:nvSpPr>
          <p:cNvPr id="39" name="Shape 37"/>
          <p:cNvSpPr/>
          <p:nvPr/>
        </p:nvSpPr>
        <p:spPr>
          <a:xfrm>
            <a:off x="8280400" y="4597400"/>
            <a:ext cx="50800" cy="2082800"/>
          </a:xfrm>
          <a:custGeom>
            <a:avLst/>
            <a:gdLst/>
            <a:ahLst/>
            <a:cxnLst/>
            <a:rect l="l" t="t" r="r" b="b"/>
            <a:pathLst>
              <a:path w="50800" h="2082800">
                <a:moveTo>
                  <a:pt x="50800" y="0"/>
                </a:moveTo>
                <a:lnTo>
                  <a:pt x="50800" y="0"/>
                </a:lnTo>
                <a:lnTo>
                  <a:pt x="50800" y="2082800"/>
                </a:lnTo>
                <a:lnTo>
                  <a:pt x="50800" y="2082800"/>
                </a:lnTo>
                <a:cubicBezTo>
                  <a:pt x="22763" y="2082800"/>
                  <a:pt x="0" y="2060037"/>
                  <a:pt x="0" y="2032000"/>
                </a:cubicBezTo>
                <a:lnTo>
                  <a:pt x="0" y="50800"/>
                </a:lnTo>
                <a:cubicBezTo>
                  <a:pt x="0" y="22763"/>
                  <a:pt x="22763" y="0"/>
                  <a:pt x="50800" y="0"/>
                </a:cubicBezTo>
                <a:close/>
              </a:path>
            </a:pathLst>
          </a:custGeom>
          <a:solidFill>
            <a:srgbClr val="7E9AA8"/>
          </a:solidFill>
          <a:ln/>
        </p:spPr>
      </p:sp>
      <p:sp>
        <p:nvSpPr>
          <p:cNvPr id="40" name="Text 38"/>
          <p:cNvSpPr/>
          <p:nvPr/>
        </p:nvSpPr>
        <p:spPr>
          <a:xfrm>
            <a:off x="8509000" y="4800600"/>
            <a:ext cx="7188200" cy="406400"/>
          </a:xfrm>
          <a:prstGeom prst="rect">
            <a:avLst/>
          </a:prstGeom>
          <a:noFill/>
          <a:ln/>
        </p:spPr>
        <p:txBody>
          <a:bodyPr wrap="square" lIns="0" tIns="0" rIns="0" bIns="0" rtlCol="0" anchor="ctr"/>
          <a:lstStyle/>
          <a:p>
            <a:pPr>
              <a:lnSpc>
                <a:spcPct val="110000"/>
              </a:lnSpc>
            </a:pPr>
            <a:r>
              <a:rPr lang="en-US" sz="2400" b="1" dirty="0">
                <a:solidFill>
                  <a:srgbClr val="7E9AA8"/>
                </a:solidFill>
                <a:latin typeface="MiSans" pitchFamily="34" charset="0"/>
                <a:ea typeface="MiSans" pitchFamily="34" charset="-122"/>
                <a:cs typeface="MiSans" pitchFamily="34" charset="-120"/>
              </a:rPr>
              <a:t>实践价值</a:t>
            </a:r>
            <a:endParaRPr lang="en-US" sz="1600" dirty="0"/>
          </a:p>
        </p:txBody>
      </p:sp>
      <p:sp>
        <p:nvSpPr>
          <p:cNvPr id="41" name="Shape 39"/>
          <p:cNvSpPr/>
          <p:nvPr/>
        </p:nvSpPr>
        <p:spPr>
          <a:xfrm>
            <a:off x="8540750" y="5410200"/>
            <a:ext cx="254000" cy="254000"/>
          </a:xfrm>
          <a:custGeom>
            <a:avLst/>
            <a:gdLst/>
            <a:ahLst/>
            <a:cxnLst/>
            <a:rect l="l" t="t" r="r" b="b"/>
            <a:pathLst>
              <a:path w="254000" h="254000">
                <a:moveTo>
                  <a:pt x="71586" y="0"/>
                </a:moveTo>
                <a:lnTo>
                  <a:pt x="182711" y="0"/>
                </a:lnTo>
                <a:cubicBezTo>
                  <a:pt x="195858" y="0"/>
                  <a:pt x="206573" y="10815"/>
                  <a:pt x="206077" y="23912"/>
                </a:cubicBezTo>
                <a:cubicBezTo>
                  <a:pt x="205978" y="26541"/>
                  <a:pt x="205879" y="29170"/>
                  <a:pt x="205730" y="31750"/>
                </a:cubicBezTo>
                <a:lnTo>
                  <a:pt x="230336" y="31750"/>
                </a:lnTo>
                <a:cubicBezTo>
                  <a:pt x="243284" y="31750"/>
                  <a:pt x="254695" y="42466"/>
                  <a:pt x="253702" y="56455"/>
                </a:cubicBezTo>
                <a:cubicBezTo>
                  <a:pt x="249982" y="107900"/>
                  <a:pt x="223689" y="136178"/>
                  <a:pt x="195163" y="150961"/>
                </a:cubicBezTo>
                <a:cubicBezTo>
                  <a:pt x="187325" y="155029"/>
                  <a:pt x="179338" y="158055"/>
                  <a:pt x="171748" y="160288"/>
                </a:cubicBezTo>
                <a:cubicBezTo>
                  <a:pt x="161727" y="174476"/>
                  <a:pt x="151309" y="181967"/>
                  <a:pt x="143024" y="185986"/>
                </a:cubicBezTo>
                <a:lnTo>
                  <a:pt x="143024" y="222250"/>
                </a:lnTo>
                <a:lnTo>
                  <a:pt x="174774" y="222250"/>
                </a:lnTo>
                <a:cubicBezTo>
                  <a:pt x="183555" y="222250"/>
                  <a:pt x="190649" y="229344"/>
                  <a:pt x="190649" y="238125"/>
                </a:cubicBezTo>
                <a:cubicBezTo>
                  <a:pt x="190649" y="246906"/>
                  <a:pt x="183555" y="254000"/>
                  <a:pt x="174774" y="254000"/>
                </a:cubicBezTo>
                <a:lnTo>
                  <a:pt x="79524" y="254000"/>
                </a:lnTo>
                <a:cubicBezTo>
                  <a:pt x="70743" y="254000"/>
                  <a:pt x="63649" y="246906"/>
                  <a:pt x="63649" y="238125"/>
                </a:cubicBezTo>
                <a:cubicBezTo>
                  <a:pt x="63649" y="229344"/>
                  <a:pt x="70743" y="222250"/>
                  <a:pt x="79524" y="222250"/>
                </a:cubicBezTo>
                <a:lnTo>
                  <a:pt x="111274" y="222250"/>
                </a:lnTo>
                <a:lnTo>
                  <a:pt x="111274" y="185986"/>
                </a:lnTo>
                <a:cubicBezTo>
                  <a:pt x="103336" y="182166"/>
                  <a:pt x="93464" y="175071"/>
                  <a:pt x="83840" y="162024"/>
                </a:cubicBezTo>
                <a:cubicBezTo>
                  <a:pt x="74712" y="159643"/>
                  <a:pt x="64790" y="156021"/>
                  <a:pt x="55116" y="150564"/>
                </a:cubicBezTo>
                <a:cubicBezTo>
                  <a:pt x="28277" y="135533"/>
                  <a:pt x="4068" y="107206"/>
                  <a:pt x="595" y="56356"/>
                </a:cubicBezTo>
                <a:cubicBezTo>
                  <a:pt x="-347" y="42416"/>
                  <a:pt x="11013" y="31700"/>
                  <a:pt x="23961" y="31700"/>
                </a:cubicBezTo>
                <a:lnTo>
                  <a:pt x="48568" y="31700"/>
                </a:lnTo>
                <a:cubicBezTo>
                  <a:pt x="48419" y="29121"/>
                  <a:pt x="48320" y="26541"/>
                  <a:pt x="48220" y="23862"/>
                </a:cubicBezTo>
                <a:cubicBezTo>
                  <a:pt x="47724" y="10716"/>
                  <a:pt x="58440" y="-50"/>
                  <a:pt x="71586" y="-50"/>
                </a:cubicBezTo>
                <a:close/>
                <a:moveTo>
                  <a:pt x="50354" y="55563"/>
                </a:moveTo>
                <a:lnTo>
                  <a:pt x="24358" y="55563"/>
                </a:lnTo>
                <a:cubicBezTo>
                  <a:pt x="27434" y="97582"/>
                  <a:pt x="46732" y="118616"/>
                  <a:pt x="66625" y="129778"/>
                </a:cubicBezTo>
                <a:cubicBezTo>
                  <a:pt x="59482" y="111274"/>
                  <a:pt x="53578" y="87114"/>
                  <a:pt x="50354" y="55563"/>
                </a:cubicBezTo>
                <a:close/>
                <a:moveTo>
                  <a:pt x="188516" y="127397"/>
                </a:moveTo>
                <a:cubicBezTo>
                  <a:pt x="208607" y="115590"/>
                  <a:pt x="226764" y="94605"/>
                  <a:pt x="229840" y="55563"/>
                </a:cubicBezTo>
                <a:lnTo>
                  <a:pt x="203895" y="55563"/>
                </a:lnTo>
                <a:cubicBezTo>
                  <a:pt x="200819" y="85775"/>
                  <a:pt x="195263" y="109240"/>
                  <a:pt x="188516" y="127397"/>
                </a:cubicBezTo>
                <a:close/>
              </a:path>
            </a:pathLst>
          </a:custGeom>
          <a:solidFill>
            <a:srgbClr val="7E9AA8"/>
          </a:solidFill>
          <a:ln/>
        </p:spPr>
      </p:sp>
      <p:sp>
        <p:nvSpPr>
          <p:cNvPr id="42" name="Text 40"/>
          <p:cNvSpPr/>
          <p:nvPr/>
        </p:nvSpPr>
        <p:spPr>
          <a:xfrm>
            <a:off x="8978900" y="5359400"/>
            <a:ext cx="3187700" cy="304800"/>
          </a:xfrm>
          <a:prstGeom prst="rect">
            <a:avLst/>
          </a:prstGeom>
          <a:noFill/>
          <a:ln/>
        </p:spPr>
        <p:txBody>
          <a:bodyPr wrap="square" lIns="0" tIns="0" rIns="0" bIns="0" rtlCol="0" anchor="ctr"/>
          <a:lstStyle/>
          <a:p>
            <a:pPr>
              <a:lnSpc>
                <a:spcPct val="130000"/>
              </a:lnSpc>
            </a:pPr>
            <a:r>
              <a:rPr lang="en-US" sz="1600" b="1" dirty="0">
                <a:solidFill>
                  <a:srgbClr val="7E9AA8"/>
                </a:solidFill>
                <a:latin typeface="MiSans" pitchFamily="34" charset="0"/>
                <a:ea typeface="MiSans" pitchFamily="34" charset="-122"/>
                <a:cs typeface="MiSans" pitchFamily="34" charset="-120"/>
              </a:rPr>
              <a:t>竞赛利器：</a:t>
            </a:r>
            <a:pPr>
              <a:lnSpc>
                <a:spcPct val="130000"/>
              </a:lnSpc>
            </a:pPr>
            <a:r>
              <a:rPr lang="en-US" sz="1600" dirty="0">
                <a:solidFill>
                  <a:srgbClr val="D1D5DB"/>
                </a:solidFill>
                <a:latin typeface="MiSans" pitchFamily="34" charset="0"/>
                <a:ea typeface="MiSans" pitchFamily="34" charset="-122"/>
                <a:cs typeface="MiSans" pitchFamily="34" charset="-120"/>
              </a:rPr>
              <a:t>Kaggle等比赛标配技术</a:t>
            </a:r>
            <a:endParaRPr lang="en-US" sz="1600" dirty="0"/>
          </a:p>
        </p:txBody>
      </p:sp>
      <p:sp>
        <p:nvSpPr>
          <p:cNvPr id="43" name="Shape 41"/>
          <p:cNvSpPr/>
          <p:nvPr/>
        </p:nvSpPr>
        <p:spPr>
          <a:xfrm>
            <a:off x="8540750" y="5816600"/>
            <a:ext cx="254000" cy="254000"/>
          </a:xfrm>
          <a:custGeom>
            <a:avLst/>
            <a:gdLst/>
            <a:ahLst/>
            <a:cxnLst/>
            <a:rect l="l" t="t" r="r" b="b"/>
            <a:pathLst>
              <a:path w="254000" h="254000">
                <a:moveTo>
                  <a:pt x="15875" y="15875"/>
                </a:moveTo>
                <a:cubicBezTo>
                  <a:pt x="7094" y="15875"/>
                  <a:pt x="0" y="22969"/>
                  <a:pt x="0" y="31750"/>
                </a:cubicBezTo>
                <a:lnTo>
                  <a:pt x="0" y="214313"/>
                </a:lnTo>
                <a:cubicBezTo>
                  <a:pt x="0" y="227459"/>
                  <a:pt x="10666" y="238125"/>
                  <a:pt x="23812" y="238125"/>
                </a:cubicBezTo>
                <a:lnTo>
                  <a:pt x="230188" y="238125"/>
                </a:lnTo>
                <a:cubicBezTo>
                  <a:pt x="243334" y="238125"/>
                  <a:pt x="254000" y="227459"/>
                  <a:pt x="254000" y="214313"/>
                </a:cubicBezTo>
                <a:lnTo>
                  <a:pt x="254000" y="75505"/>
                </a:lnTo>
                <a:cubicBezTo>
                  <a:pt x="254000" y="66477"/>
                  <a:pt x="244376" y="60771"/>
                  <a:pt x="236438" y="65038"/>
                </a:cubicBezTo>
                <a:lnTo>
                  <a:pt x="158750" y="106859"/>
                </a:lnTo>
                <a:lnTo>
                  <a:pt x="158750" y="75505"/>
                </a:lnTo>
                <a:cubicBezTo>
                  <a:pt x="158750" y="66477"/>
                  <a:pt x="149126" y="60771"/>
                  <a:pt x="141188" y="65038"/>
                </a:cubicBezTo>
                <a:lnTo>
                  <a:pt x="63500" y="106859"/>
                </a:lnTo>
                <a:lnTo>
                  <a:pt x="63500" y="31750"/>
                </a:lnTo>
                <a:cubicBezTo>
                  <a:pt x="63500" y="22969"/>
                  <a:pt x="56406" y="15875"/>
                  <a:pt x="47625" y="15875"/>
                </a:cubicBezTo>
                <a:lnTo>
                  <a:pt x="15875" y="15875"/>
                </a:lnTo>
                <a:close/>
              </a:path>
            </a:pathLst>
          </a:custGeom>
          <a:solidFill>
            <a:srgbClr val="7E9AA8"/>
          </a:solidFill>
          <a:ln/>
        </p:spPr>
      </p:sp>
      <p:sp>
        <p:nvSpPr>
          <p:cNvPr id="44" name="Text 42"/>
          <p:cNvSpPr/>
          <p:nvPr/>
        </p:nvSpPr>
        <p:spPr>
          <a:xfrm>
            <a:off x="8978900" y="5765800"/>
            <a:ext cx="3962400" cy="304800"/>
          </a:xfrm>
          <a:prstGeom prst="rect">
            <a:avLst/>
          </a:prstGeom>
          <a:noFill/>
          <a:ln/>
        </p:spPr>
        <p:txBody>
          <a:bodyPr wrap="square" lIns="0" tIns="0" rIns="0" bIns="0" rtlCol="0" anchor="ctr"/>
          <a:lstStyle/>
          <a:p>
            <a:pPr>
              <a:lnSpc>
                <a:spcPct val="130000"/>
              </a:lnSpc>
            </a:pPr>
            <a:r>
              <a:rPr lang="en-US" sz="1600" b="1" dirty="0">
                <a:solidFill>
                  <a:srgbClr val="7E9AA8"/>
                </a:solidFill>
                <a:latin typeface="MiSans" pitchFamily="34" charset="0"/>
                <a:ea typeface="MiSans" pitchFamily="34" charset="-122"/>
                <a:cs typeface="MiSans" pitchFamily="34" charset="-120"/>
              </a:rPr>
              <a:t>工业应用：</a:t>
            </a:r>
            <a:pPr>
              <a:lnSpc>
                <a:spcPct val="130000"/>
              </a:lnSpc>
            </a:pPr>
            <a:r>
              <a:rPr lang="en-US" sz="1600" dirty="0">
                <a:solidFill>
                  <a:srgbClr val="D1D5DB"/>
                </a:solidFill>
                <a:latin typeface="MiSans" pitchFamily="34" charset="0"/>
                <a:ea typeface="MiSans" pitchFamily="34" charset="-122"/>
                <a:cs typeface="MiSans" pitchFamily="34" charset="-120"/>
              </a:rPr>
              <a:t>广泛应用于金融、医疗、推荐等</a:t>
            </a:r>
            <a:endParaRPr lang="en-US" sz="1600" dirty="0"/>
          </a:p>
        </p:txBody>
      </p:sp>
      <p:sp>
        <p:nvSpPr>
          <p:cNvPr id="45" name="Shape 43"/>
          <p:cNvSpPr/>
          <p:nvPr/>
        </p:nvSpPr>
        <p:spPr>
          <a:xfrm>
            <a:off x="8540750" y="6223000"/>
            <a:ext cx="254000" cy="254000"/>
          </a:xfrm>
          <a:custGeom>
            <a:avLst/>
            <a:gdLst/>
            <a:ahLst/>
            <a:cxnLst/>
            <a:rect l="l" t="t" r="r" b="b"/>
            <a:pathLst>
              <a:path w="254000" h="254000">
                <a:moveTo>
                  <a:pt x="31750" y="31750"/>
                </a:moveTo>
                <a:cubicBezTo>
                  <a:pt x="31750" y="22969"/>
                  <a:pt x="24656" y="15875"/>
                  <a:pt x="15875" y="15875"/>
                </a:cubicBezTo>
                <a:cubicBezTo>
                  <a:pt x="7094" y="15875"/>
                  <a:pt x="0" y="22969"/>
                  <a:pt x="0" y="31750"/>
                </a:cubicBezTo>
                <a:lnTo>
                  <a:pt x="0" y="198438"/>
                </a:lnTo>
                <a:cubicBezTo>
                  <a:pt x="0" y="220365"/>
                  <a:pt x="17760" y="238125"/>
                  <a:pt x="39688" y="238125"/>
                </a:cubicBezTo>
                <a:lnTo>
                  <a:pt x="238125" y="238125"/>
                </a:lnTo>
                <a:cubicBezTo>
                  <a:pt x="246906" y="238125"/>
                  <a:pt x="254000" y="231031"/>
                  <a:pt x="254000" y="222250"/>
                </a:cubicBezTo>
                <a:cubicBezTo>
                  <a:pt x="254000" y="213469"/>
                  <a:pt x="246906" y="206375"/>
                  <a:pt x="238125" y="206375"/>
                </a:cubicBezTo>
                <a:lnTo>
                  <a:pt x="39688" y="206375"/>
                </a:lnTo>
                <a:cubicBezTo>
                  <a:pt x="35322" y="206375"/>
                  <a:pt x="31750" y="202803"/>
                  <a:pt x="31750" y="198438"/>
                </a:cubicBezTo>
                <a:lnTo>
                  <a:pt x="31750" y="31750"/>
                </a:lnTo>
                <a:close/>
                <a:moveTo>
                  <a:pt x="233462" y="74712"/>
                </a:moveTo>
                <a:cubicBezTo>
                  <a:pt x="239663" y="68511"/>
                  <a:pt x="239663" y="58440"/>
                  <a:pt x="233462" y="52239"/>
                </a:cubicBezTo>
                <a:cubicBezTo>
                  <a:pt x="227261" y="46037"/>
                  <a:pt x="217190" y="46037"/>
                  <a:pt x="210989" y="52239"/>
                </a:cubicBezTo>
                <a:lnTo>
                  <a:pt x="158750" y="104527"/>
                </a:lnTo>
                <a:lnTo>
                  <a:pt x="130274" y="76101"/>
                </a:lnTo>
                <a:cubicBezTo>
                  <a:pt x="124073" y="69900"/>
                  <a:pt x="114002" y="69900"/>
                  <a:pt x="107801" y="76101"/>
                </a:cubicBezTo>
                <a:lnTo>
                  <a:pt x="60176" y="123726"/>
                </a:lnTo>
                <a:cubicBezTo>
                  <a:pt x="53975" y="129927"/>
                  <a:pt x="53975" y="139998"/>
                  <a:pt x="60176" y="146199"/>
                </a:cubicBezTo>
                <a:cubicBezTo>
                  <a:pt x="66377" y="152400"/>
                  <a:pt x="76448" y="152400"/>
                  <a:pt x="82649" y="146199"/>
                </a:cubicBezTo>
                <a:lnTo>
                  <a:pt x="119063" y="109786"/>
                </a:lnTo>
                <a:lnTo>
                  <a:pt x="147538" y="138261"/>
                </a:lnTo>
                <a:cubicBezTo>
                  <a:pt x="153739" y="144463"/>
                  <a:pt x="163810" y="144463"/>
                  <a:pt x="170011" y="138261"/>
                </a:cubicBezTo>
                <a:lnTo>
                  <a:pt x="233511" y="74761"/>
                </a:lnTo>
                <a:close/>
              </a:path>
            </a:pathLst>
          </a:custGeom>
          <a:solidFill>
            <a:srgbClr val="7E9AA8"/>
          </a:solidFill>
          <a:ln/>
        </p:spPr>
      </p:sp>
      <p:sp>
        <p:nvSpPr>
          <p:cNvPr id="46" name="Text 44"/>
          <p:cNvSpPr/>
          <p:nvPr/>
        </p:nvSpPr>
        <p:spPr>
          <a:xfrm>
            <a:off x="8978900" y="6172200"/>
            <a:ext cx="4064000" cy="304800"/>
          </a:xfrm>
          <a:prstGeom prst="rect">
            <a:avLst/>
          </a:prstGeom>
          <a:noFill/>
          <a:ln/>
        </p:spPr>
        <p:txBody>
          <a:bodyPr wrap="square" lIns="0" tIns="0" rIns="0" bIns="0" rtlCol="0" anchor="ctr"/>
          <a:lstStyle/>
          <a:p>
            <a:pPr>
              <a:lnSpc>
                <a:spcPct val="130000"/>
              </a:lnSpc>
            </a:pPr>
            <a:r>
              <a:rPr lang="en-US" sz="1600" b="1" dirty="0">
                <a:solidFill>
                  <a:srgbClr val="7E9AA8"/>
                </a:solidFill>
                <a:latin typeface="MiSans" pitchFamily="34" charset="0"/>
                <a:ea typeface="MiSans" pitchFamily="34" charset="-122"/>
                <a:cs typeface="MiSans" pitchFamily="34" charset="-120"/>
              </a:rPr>
              <a:t>性能提升：</a:t>
            </a:r>
            <a:pPr>
              <a:lnSpc>
                <a:spcPct val="130000"/>
              </a:lnSpc>
            </a:pPr>
            <a:r>
              <a:rPr lang="en-US" sz="1600" dirty="0">
                <a:solidFill>
                  <a:srgbClr val="D1D5DB"/>
                </a:solidFill>
                <a:latin typeface="MiSans" pitchFamily="34" charset="0"/>
                <a:ea typeface="MiSans" pitchFamily="34" charset="-122"/>
                <a:cs typeface="MiSans" pitchFamily="34" charset="-120"/>
              </a:rPr>
              <a:t>通常能获得10-30%的准确率提升</a:t>
            </a:r>
            <a:endParaRPr lang="en-US" sz="1600" dirty="0"/>
          </a:p>
        </p:txBody>
      </p:sp>
      <p:sp>
        <p:nvSpPr>
          <p:cNvPr id="47" name="Shape 45"/>
          <p:cNvSpPr/>
          <p:nvPr/>
        </p:nvSpPr>
        <p:spPr>
          <a:xfrm>
            <a:off x="514350" y="6889750"/>
            <a:ext cx="15227300" cy="1689100"/>
          </a:xfrm>
          <a:custGeom>
            <a:avLst/>
            <a:gdLst/>
            <a:ahLst/>
            <a:cxnLst/>
            <a:rect l="l" t="t" r="r" b="b"/>
            <a:pathLst>
              <a:path w="15227300" h="1689100">
                <a:moveTo>
                  <a:pt x="101599" y="0"/>
                </a:moveTo>
                <a:lnTo>
                  <a:pt x="15125701" y="0"/>
                </a:lnTo>
                <a:cubicBezTo>
                  <a:pt x="15181812" y="0"/>
                  <a:pt x="15227300" y="45488"/>
                  <a:pt x="15227300" y="101599"/>
                </a:cubicBezTo>
                <a:lnTo>
                  <a:pt x="15227300" y="1587501"/>
                </a:lnTo>
                <a:cubicBezTo>
                  <a:pt x="15227300" y="1643612"/>
                  <a:pt x="15181812" y="1689100"/>
                  <a:pt x="15125701" y="1689100"/>
                </a:cubicBezTo>
                <a:lnTo>
                  <a:pt x="101599" y="1689100"/>
                </a:lnTo>
                <a:cubicBezTo>
                  <a:pt x="45488" y="1689100"/>
                  <a:pt x="0" y="1643612"/>
                  <a:pt x="0" y="1587501"/>
                </a:cubicBezTo>
                <a:lnTo>
                  <a:pt x="0" y="101599"/>
                </a:lnTo>
                <a:cubicBezTo>
                  <a:pt x="0" y="45488"/>
                  <a:pt x="45488" y="0"/>
                  <a:pt x="101599" y="0"/>
                </a:cubicBezTo>
                <a:close/>
              </a:path>
            </a:pathLst>
          </a:custGeom>
          <a:solidFill>
            <a:srgbClr val="4C7E9A">
              <a:alpha val="10196"/>
            </a:srgbClr>
          </a:solidFill>
          <a:ln w="12700">
            <a:solidFill>
              <a:srgbClr val="4C7E9A">
                <a:alpha val="30196"/>
              </a:srgbClr>
            </a:solidFill>
            <a:prstDash val="solid"/>
          </a:ln>
        </p:spPr>
      </p:sp>
      <p:sp>
        <p:nvSpPr>
          <p:cNvPr id="48" name="Shape 46"/>
          <p:cNvSpPr/>
          <p:nvPr/>
        </p:nvSpPr>
        <p:spPr>
          <a:xfrm>
            <a:off x="801688" y="7150100"/>
            <a:ext cx="428625" cy="381000"/>
          </a:xfrm>
          <a:custGeom>
            <a:avLst/>
            <a:gdLst/>
            <a:ahLst/>
            <a:cxnLst/>
            <a:rect l="l" t="t" r="r" b="b"/>
            <a:pathLst>
              <a:path w="428625" h="381000">
                <a:moveTo>
                  <a:pt x="35719" y="145703"/>
                </a:moveTo>
                <a:lnTo>
                  <a:pt x="191393" y="209773"/>
                </a:lnTo>
                <a:cubicBezTo>
                  <a:pt x="198686" y="212750"/>
                  <a:pt x="206425" y="214313"/>
                  <a:pt x="214313" y="214313"/>
                </a:cubicBezTo>
                <a:cubicBezTo>
                  <a:pt x="222200" y="214313"/>
                  <a:pt x="229939" y="212750"/>
                  <a:pt x="237232" y="209773"/>
                </a:cubicBezTo>
                <a:lnTo>
                  <a:pt x="417612" y="135508"/>
                </a:lnTo>
                <a:cubicBezTo>
                  <a:pt x="424309" y="132755"/>
                  <a:pt x="428625" y="126281"/>
                  <a:pt x="428625" y="119062"/>
                </a:cubicBezTo>
                <a:cubicBezTo>
                  <a:pt x="428625" y="111844"/>
                  <a:pt x="424309" y="105370"/>
                  <a:pt x="417612" y="102617"/>
                </a:cubicBezTo>
                <a:lnTo>
                  <a:pt x="237232" y="28352"/>
                </a:lnTo>
                <a:cubicBezTo>
                  <a:pt x="229939" y="25375"/>
                  <a:pt x="222200" y="23812"/>
                  <a:pt x="214313" y="23812"/>
                </a:cubicBezTo>
                <a:cubicBezTo>
                  <a:pt x="206425" y="23812"/>
                  <a:pt x="198686" y="25375"/>
                  <a:pt x="191393" y="28352"/>
                </a:cubicBezTo>
                <a:lnTo>
                  <a:pt x="11013" y="102617"/>
                </a:lnTo>
                <a:cubicBezTo>
                  <a:pt x="4316" y="105370"/>
                  <a:pt x="0" y="111844"/>
                  <a:pt x="0" y="119063"/>
                </a:cubicBezTo>
                <a:lnTo>
                  <a:pt x="0" y="339328"/>
                </a:lnTo>
                <a:cubicBezTo>
                  <a:pt x="0" y="349225"/>
                  <a:pt x="7962" y="357188"/>
                  <a:pt x="17859" y="357188"/>
                </a:cubicBezTo>
                <a:cubicBezTo>
                  <a:pt x="27756" y="357188"/>
                  <a:pt x="35719" y="349225"/>
                  <a:pt x="35719" y="339328"/>
                </a:cubicBezTo>
                <a:lnTo>
                  <a:pt x="35719" y="145703"/>
                </a:lnTo>
                <a:close/>
                <a:moveTo>
                  <a:pt x="71438" y="199058"/>
                </a:moveTo>
                <a:lnTo>
                  <a:pt x="71438" y="285750"/>
                </a:lnTo>
                <a:cubicBezTo>
                  <a:pt x="71438" y="325189"/>
                  <a:pt x="135434" y="357188"/>
                  <a:pt x="214313" y="357188"/>
                </a:cubicBezTo>
                <a:cubicBezTo>
                  <a:pt x="293191" y="357188"/>
                  <a:pt x="357188" y="325189"/>
                  <a:pt x="357188" y="285750"/>
                </a:cubicBezTo>
                <a:lnTo>
                  <a:pt x="357188" y="198983"/>
                </a:lnTo>
                <a:lnTo>
                  <a:pt x="250850" y="242813"/>
                </a:lnTo>
                <a:cubicBezTo>
                  <a:pt x="239241" y="247576"/>
                  <a:pt x="226888" y="250031"/>
                  <a:pt x="214313" y="250031"/>
                </a:cubicBezTo>
                <a:cubicBezTo>
                  <a:pt x="201737" y="250031"/>
                  <a:pt x="189384" y="247576"/>
                  <a:pt x="177775" y="242813"/>
                </a:cubicBezTo>
                <a:lnTo>
                  <a:pt x="71438" y="198983"/>
                </a:lnTo>
                <a:close/>
              </a:path>
            </a:pathLst>
          </a:custGeom>
          <a:solidFill>
            <a:srgbClr val="4C7E9A"/>
          </a:solidFill>
          <a:ln/>
        </p:spPr>
      </p:sp>
      <p:sp>
        <p:nvSpPr>
          <p:cNvPr id="49" name="Text 47"/>
          <p:cNvSpPr/>
          <p:nvPr/>
        </p:nvSpPr>
        <p:spPr>
          <a:xfrm>
            <a:off x="1454150" y="7150100"/>
            <a:ext cx="14160500" cy="355600"/>
          </a:xfrm>
          <a:prstGeom prst="rect">
            <a:avLst/>
          </a:prstGeom>
          <a:noFill/>
          <a:ln/>
        </p:spPr>
        <p:txBody>
          <a:bodyPr wrap="square" lIns="0" tIns="0" rIns="0" bIns="0" rtlCol="0" anchor="ctr"/>
          <a:lstStyle/>
          <a:p>
            <a:pPr>
              <a:lnSpc>
                <a:spcPct val="120000"/>
              </a:lnSpc>
            </a:pPr>
            <a:r>
              <a:rPr lang="en-US" sz="2000" b="1" dirty="0">
                <a:solidFill>
                  <a:srgbClr val="D1D5DB"/>
                </a:solidFill>
                <a:latin typeface="MiSans" pitchFamily="34" charset="0"/>
                <a:ea typeface="MiSans" pitchFamily="34" charset="-122"/>
                <a:cs typeface="MiSans" pitchFamily="34" charset="-120"/>
              </a:rPr>
              <a:t>学习路径建议</a:t>
            </a:r>
            <a:endParaRPr lang="en-US" sz="1600" dirty="0"/>
          </a:p>
        </p:txBody>
      </p:sp>
      <p:sp>
        <p:nvSpPr>
          <p:cNvPr id="50" name="Text 48"/>
          <p:cNvSpPr/>
          <p:nvPr/>
        </p:nvSpPr>
        <p:spPr>
          <a:xfrm>
            <a:off x="1454150" y="7607300"/>
            <a:ext cx="4660900" cy="355600"/>
          </a:xfrm>
          <a:prstGeom prst="rect">
            <a:avLst/>
          </a:prstGeom>
          <a:noFill/>
          <a:ln/>
        </p:spPr>
        <p:txBody>
          <a:bodyPr wrap="square" lIns="0" tIns="0" rIns="0" bIns="0" rtlCol="0" anchor="ctr"/>
          <a:lstStyle/>
          <a:p>
            <a:pPr>
              <a:lnSpc>
                <a:spcPct val="130000"/>
              </a:lnSpc>
            </a:pPr>
            <a:r>
              <a:rPr lang="en-US" sz="1800" b="1" dirty="0">
                <a:solidFill>
                  <a:srgbClr val="4C7E9A"/>
                </a:solidFill>
                <a:latin typeface="MiSans" pitchFamily="34" charset="0"/>
                <a:ea typeface="MiSans" pitchFamily="34" charset="-122"/>
                <a:cs typeface="MiSans" pitchFamily="34" charset="-120"/>
              </a:rPr>
              <a:t>入门</a:t>
            </a:r>
            <a:endParaRPr lang="en-US" sz="1600" dirty="0"/>
          </a:p>
        </p:txBody>
      </p:sp>
      <p:sp>
        <p:nvSpPr>
          <p:cNvPr id="51" name="Text 49"/>
          <p:cNvSpPr/>
          <p:nvPr/>
        </p:nvSpPr>
        <p:spPr>
          <a:xfrm>
            <a:off x="1454150" y="8013700"/>
            <a:ext cx="4648200" cy="304800"/>
          </a:xfrm>
          <a:prstGeom prst="rect">
            <a:avLst/>
          </a:prstGeom>
          <a:noFill/>
          <a:ln/>
        </p:spPr>
        <p:txBody>
          <a:bodyPr wrap="square" lIns="0" tIns="0" rIns="0" bIns="0" rtlCol="0" anchor="ctr"/>
          <a:lstStyle/>
          <a:p>
            <a:pPr>
              <a:lnSpc>
                <a:spcPct val="130000"/>
              </a:lnSpc>
            </a:pPr>
            <a:r>
              <a:rPr lang="en-US" sz="1600" dirty="0">
                <a:solidFill>
                  <a:srgbClr val="7E9AA8"/>
                </a:solidFill>
                <a:latin typeface="MiSans" pitchFamily="34" charset="0"/>
                <a:ea typeface="MiSans" pitchFamily="34" charset="-122"/>
                <a:cs typeface="MiSans" pitchFamily="34" charset="-120"/>
              </a:rPr>
              <a:t>从随机森林开始，理解Bagging思想</a:t>
            </a:r>
            <a:endParaRPr lang="en-US" sz="1600" dirty="0"/>
          </a:p>
        </p:txBody>
      </p:sp>
      <p:sp>
        <p:nvSpPr>
          <p:cNvPr id="52" name="Text 50"/>
          <p:cNvSpPr/>
          <p:nvPr/>
        </p:nvSpPr>
        <p:spPr>
          <a:xfrm>
            <a:off x="6197600" y="7607300"/>
            <a:ext cx="4660900" cy="355600"/>
          </a:xfrm>
          <a:prstGeom prst="rect">
            <a:avLst/>
          </a:prstGeom>
          <a:noFill/>
          <a:ln/>
        </p:spPr>
        <p:txBody>
          <a:bodyPr wrap="square" lIns="0" tIns="0" rIns="0" bIns="0" rtlCol="0" anchor="ctr"/>
          <a:lstStyle/>
          <a:p>
            <a:pPr>
              <a:lnSpc>
                <a:spcPct val="130000"/>
              </a:lnSpc>
            </a:pPr>
            <a:r>
              <a:rPr lang="en-US" sz="1800" b="1" dirty="0">
                <a:solidFill>
                  <a:srgbClr val="4C7E9A"/>
                </a:solidFill>
                <a:latin typeface="MiSans" pitchFamily="34" charset="0"/>
                <a:ea typeface="MiSans" pitchFamily="34" charset="-122"/>
                <a:cs typeface="MiSans" pitchFamily="34" charset="-120"/>
              </a:rPr>
              <a:t>进阶</a:t>
            </a:r>
            <a:endParaRPr lang="en-US" sz="1600" dirty="0"/>
          </a:p>
        </p:txBody>
      </p:sp>
      <p:sp>
        <p:nvSpPr>
          <p:cNvPr id="53" name="Text 51"/>
          <p:cNvSpPr/>
          <p:nvPr/>
        </p:nvSpPr>
        <p:spPr>
          <a:xfrm>
            <a:off x="6197600" y="8013700"/>
            <a:ext cx="4648200" cy="304800"/>
          </a:xfrm>
          <a:prstGeom prst="rect">
            <a:avLst/>
          </a:prstGeom>
          <a:noFill/>
          <a:ln/>
        </p:spPr>
        <p:txBody>
          <a:bodyPr wrap="square" lIns="0" tIns="0" rIns="0" bIns="0" rtlCol="0" anchor="ctr"/>
          <a:lstStyle/>
          <a:p>
            <a:pPr>
              <a:lnSpc>
                <a:spcPct val="130000"/>
              </a:lnSpc>
            </a:pPr>
            <a:r>
              <a:rPr lang="en-US" sz="1600" dirty="0">
                <a:solidFill>
                  <a:srgbClr val="7E9AA8"/>
                </a:solidFill>
                <a:latin typeface="MiSans" pitchFamily="34" charset="0"/>
                <a:ea typeface="MiSans" pitchFamily="34" charset="-122"/>
                <a:cs typeface="MiSans" pitchFamily="34" charset="-120"/>
              </a:rPr>
              <a:t>掌握XGBoost/LightGBM，理解Boosting机制</a:t>
            </a:r>
            <a:endParaRPr lang="en-US" sz="1600" dirty="0"/>
          </a:p>
        </p:txBody>
      </p:sp>
      <p:sp>
        <p:nvSpPr>
          <p:cNvPr id="54" name="Text 52"/>
          <p:cNvSpPr/>
          <p:nvPr/>
        </p:nvSpPr>
        <p:spPr>
          <a:xfrm>
            <a:off x="10941050" y="7607300"/>
            <a:ext cx="4660900" cy="355600"/>
          </a:xfrm>
          <a:prstGeom prst="rect">
            <a:avLst/>
          </a:prstGeom>
          <a:noFill/>
          <a:ln/>
        </p:spPr>
        <p:txBody>
          <a:bodyPr wrap="square" lIns="0" tIns="0" rIns="0" bIns="0" rtlCol="0" anchor="ctr"/>
          <a:lstStyle/>
          <a:p>
            <a:pPr>
              <a:lnSpc>
                <a:spcPct val="130000"/>
              </a:lnSpc>
            </a:pPr>
            <a:r>
              <a:rPr lang="en-US" sz="1800" b="1" dirty="0">
                <a:solidFill>
                  <a:srgbClr val="4C7E9A"/>
                </a:solidFill>
                <a:latin typeface="MiSans" pitchFamily="34" charset="0"/>
                <a:ea typeface="MiSans" pitchFamily="34" charset="-122"/>
                <a:cs typeface="MiSans" pitchFamily="34" charset="-120"/>
              </a:rPr>
              <a:t>精通</a:t>
            </a:r>
            <a:endParaRPr lang="en-US" sz="1600" dirty="0"/>
          </a:p>
        </p:txBody>
      </p:sp>
      <p:sp>
        <p:nvSpPr>
          <p:cNvPr id="55" name="Text 53"/>
          <p:cNvSpPr/>
          <p:nvPr/>
        </p:nvSpPr>
        <p:spPr>
          <a:xfrm>
            <a:off x="10941050" y="8013700"/>
            <a:ext cx="4648200" cy="304800"/>
          </a:xfrm>
          <a:prstGeom prst="rect">
            <a:avLst/>
          </a:prstGeom>
          <a:noFill/>
          <a:ln/>
        </p:spPr>
        <p:txBody>
          <a:bodyPr wrap="square" lIns="0" tIns="0" rIns="0" bIns="0" rtlCol="0" anchor="ctr"/>
          <a:lstStyle/>
          <a:p>
            <a:pPr>
              <a:lnSpc>
                <a:spcPct val="130000"/>
              </a:lnSpc>
            </a:pPr>
            <a:r>
              <a:rPr lang="en-US" sz="1600" dirty="0">
                <a:solidFill>
                  <a:srgbClr val="7E9AA8"/>
                </a:solidFill>
                <a:latin typeface="MiSans" pitchFamily="34" charset="0"/>
                <a:ea typeface="MiSans" pitchFamily="34" charset="-122"/>
                <a:cs typeface="MiSans" pitchFamily="34" charset="-120"/>
              </a:rPr>
              <a:t>学习Stacking，构建复杂集成系统</a:t>
            </a:r>
            <a:endParaRPr lang="en-US" sz="1600" dirty="0"/>
          </a:p>
        </p:txBody>
      </p:sp>
    </p:spTree>
  </p:cSld>
  <p:clrMapOvr>
    <a:masterClrMapping/>
  </p:clrMapOvr>
  <p:transition>
    <p:fade/>
    <p:spd val="med"/>
  </p:transition>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81A1F"/>
        </a:solidFill>
      </p:bgPr>
    </p:bg>
    <p:spTree>
      <p:nvGrpSpPr>
        <p:cNvPr id="1" name=""/>
        <p:cNvGrpSpPr/>
        <p:nvPr/>
      </p:nvGrpSpPr>
      <p:grpSpPr>
        <a:xfrm>
          <a:off x="0" y="0"/>
          <a:ext cx="0" cy="0"/>
          <a:chOff x="0" y="0"/>
          <a:chExt cx="0" cy="0"/>
        </a:xfrm>
      </p:grpSpPr>
      <p:pic>
        <p:nvPicPr>
          <p:cNvPr id="2" name="Image 0" descr="https://kimi-web-img.moonshot.cn/img/static.vecteezy.com/60a6d54597b5224fc8783cfc135c416523ade08b.jpg">    </p:cNvPr>
          <p:cNvPicPr>
            <a:picLocks noChangeAspect="1"/>
          </p:cNvPicPr>
          <p:nvPr/>
        </p:nvPicPr>
        <p:blipFill>
          <a:blip r:embed="rId1">
            <a:alphaModFix amt="30000"/>
          </a:blip>
          <a:srcRect l="810" r="810" t="0" b="0"/>
          <a:stretch/>
        </p:blipFill>
        <p:spPr>
          <a:xfrm>
            <a:off x="0" y="0"/>
            <a:ext cx="16256000" cy="9256889"/>
          </a:xfrm>
          <a:prstGeom prst="roundRect">
            <a:avLst>
              <a:gd name="adj" fmla="val 0"/>
            </a:avLst>
          </a:prstGeom>
        </p:spPr>
      </p:pic>
      <p:sp>
        <p:nvSpPr>
          <p:cNvPr id="3" name="Shape 0"/>
          <p:cNvSpPr/>
          <p:nvPr/>
        </p:nvSpPr>
        <p:spPr>
          <a:xfrm>
            <a:off x="0" y="0"/>
            <a:ext cx="16256000" cy="9256889"/>
          </a:xfrm>
          <a:custGeom>
            <a:avLst/>
            <a:gdLst/>
            <a:ahLst/>
            <a:cxnLst/>
            <a:rect l="l" t="t" r="r" b="b"/>
            <a:pathLst>
              <a:path w="16256000" h="9256889">
                <a:moveTo>
                  <a:pt x="0" y="0"/>
                </a:moveTo>
                <a:lnTo>
                  <a:pt x="16256000" y="0"/>
                </a:lnTo>
                <a:lnTo>
                  <a:pt x="16256000" y="9256889"/>
                </a:lnTo>
                <a:lnTo>
                  <a:pt x="0" y="9256889"/>
                </a:lnTo>
                <a:lnTo>
                  <a:pt x="0" y="0"/>
                </a:lnTo>
                <a:close/>
              </a:path>
            </a:pathLst>
          </a:custGeom>
          <a:gradFill rotWithShape="1" flip="none">
            <a:gsLst>
              <a:gs pos="0">
                <a:srgbClr val="181A1F">
                  <a:alpha val="95000"/>
                </a:srgbClr>
              </a:gs>
              <a:gs pos="50000">
                <a:srgbClr val="181A1F">
                  <a:alpha val="90000"/>
                </a:srgbClr>
              </a:gs>
              <a:gs pos="100000">
                <a:srgbClr val="4C7E9A">
                  <a:alpha val="40000"/>
                </a:srgbClr>
              </a:gs>
            </a:gsLst>
            <a:lin ang="2700000" scaled="1"/>
          </a:gradFill>
          <a:ln/>
        </p:spPr>
      </p:sp>
      <p:sp>
        <p:nvSpPr>
          <p:cNvPr id="4" name="Shape 1"/>
          <p:cNvSpPr/>
          <p:nvPr/>
        </p:nvSpPr>
        <p:spPr>
          <a:xfrm>
            <a:off x="6952662" y="19501"/>
            <a:ext cx="2345580" cy="727506"/>
          </a:xfrm>
          <a:custGeom>
            <a:avLst/>
            <a:gdLst/>
            <a:ahLst/>
            <a:cxnLst/>
            <a:rect l="l" t="t" r="r" b="b"/>
            <a:pathLst>
              <a:path w="2345580" h="727506">
                <a:moveTo>
                  <a:pt x="100345" y="0"/>
                </a:moveTo>
                <a:lnTo>
                  <a:pt x="2245235" y="0"/>
                </a:lnTo>
                <a:cubicBezTo>
                  <a:pt x="2300654" y="0"/>
                  <a:pt x="2345580" y="44926"/>
                  <a:pt x="2345580" y="100345"/>
                </a:cubicBezTo>
                <a:lnTo>
                  <a:pt x="2345580" y="627161"/>
                </a:lnTo>
                <a:cubicBezTo>
                  <a:pt x="2345580" y="682580"/>
                  <a:pt x="2300654" y="727506"/>
                  <a:pt x="2245235" y="727506"/>
                </a:cubicBezTo>
                <a:lnTo>
                  <a:pt x="100345" y="727506"/>
                </a:lnTo>
                <a:cubicBezTo>
                  <a:pt x="44963" y="727506"/>
                  <a:pt x="0" y="682543"/>
                  <a:pt x="0" y="627161"/>
                </a:cubicBezTo>
                <a:lnTo>
                  <a:pt x="0" y="100345"/>
                </a:lnTo>
                <a:cubicBezTo>
                  <a:pt x="0" y="44963"/>
                  <a:pt x="44963" y="0"/>
                  <a:pt x="100345" y="0"/>
                </a:cubicBezTo>
                <a:close/>
              </a:path>
            </a:pathLst>
          </a:custGeom>
          <a:solidFill>
            <a:srgbClr val="4C7E9A">
              <a:alpha val="20000"/>
            </a:srgbClr>
          </a:solidFill>
          <a:ln w="25400">
            <a:solidFill>
              <a:srgbClr val="4C7E9A"/>
            </a:solidFill>
            <a:prstDash val="solid"/>
          </a:ln>
        </p:spPr>
      </p:sp>
      <p:sp>
        <p:nvSpPr>
          <p:cNvPr id="5" name="Text 2"/>
          <p:cNvSpPr/>
          <p:nvPr/>
        </p:nvSpPr>
        <p:spPr>
          <a:xfrm>
            <a:off x="7190983" y="182563"/>
            <a:ext cx="1868938" cy="401383"/>
          </a:xfrm>
          <a:prstGeom prst="rect">
            <a:avLst/>
          </a:prstGeom>
          <a:noFill/>
          <a:ln/>
        </p:spPr>
        <p:txBody>
          <a:bodyPr wrap="square" lIns="0" tIns="0" rIns="0" bIns="0" rtlCol="0" anchor="ctr"/>
          <a:lstStyle/>
          <a:p>
            <a:pPr algn="ctr">
              <a:lnSpc>
                <a:spcPct val="110000"/>
              </a:lnSpc>
            </a:pPr>
            <a:r>
              <a:rPr lang="en-US" sz="2370" b="1" dirty="0">
                <a:solidFill>
                  <a:srgbClr val="4C7E9A"/>
                </a:solidFill>
                <a:latin typeface="MiSans" pitchFamily="34" charset="0"/>
                <a:ea typeface="MiSans" pitchFamily="34" charset="-122"/>
                <a:cs typeface="MiSans" pitchFamily="34" charset="-120"/>
              </a:rPr>
              <a:t>THANK YOU</a:t>
            </a:r>
            <a:endParaRPr lang="en-US" sz="1600" dirty="0"/>
          </a:p>
        </p:txBody>
      </p:sp>
      <p:sp>
        <p:nvSpPr>
          <p:cNvPr id="6" name="Text 3"/>
          <p:cNvSpPr/>
          <p:nvPr/>
        </p:nvSpPr>
        <p:spPr>
          <a:xfrm>
            <a:off x="6096000" y="1160933"/>
            <a:ext cx="4064000" cy="1128889"/>
          </a:xfrm>
          <a:prstGeom prst="rect">
            <a:avLst/>
          </a:prstGeom>
          <a:noFill/>
          <a:ln/>
        </p:spPr>
        <p:txBody>
          <a:bodyPr wrap="square" lIns="0" tIns="0" rIns="0" bIns="0" rtlCol="0" anchor="ctr"/>
          <a:lstStyle/>
          <a:p>
            <a:pPr algn="ctr">
              <a:lnSpc>
                <a:spcPct val="100000"/>
              </a:lnSpc>
            </a:pPr>
            <a:r>
              <a:rPr lang="en-US" sz="7111" b="1" dirty="0">
                <a:solidFill>
                  <a:srgbClr val="D1D5DB"/>
                </a:solidFill>
                <a:latin typeface="阿里妈妈数黑体" pitchFamily="34" charset="0"/>
                <a:ea typeface="阿里妈妈数黑体" pitchFamily="34" charset="-122"/>
                <a:cs typeface="阿里妈妈数黑体" pitchFamily="34" charset="-120"/>
              </a:rPr>
              <a:t>集成学习</a:t>
            </a:r>
            <a:endParaRPr lang="en-US" sz="1600" dirty="0"/>
          </a:p>
        </p:txBody>
      </p:sp>
      <p:sp>
        <p:nvSpPr>
          <p:cNvPr id="7" name="Text 4"/>
          <p:cNvSpPr/>
          <p:nvPr/>
        </p:nvSpPr>
        <p:spPr>
          <a:xfrm>
            <a:off x="5268148" y="2590859"/>
            <a:ext cx="5719704" cy="752593"/>
          </a:xfrm>
          <a:prstGeom prst="rect">
            <a:avLst/>
          </a:prstGeom>
          <a:noFill/>
          <a:ln/>
        </p:spPr>
        <p:txBody>
          <a:bodyPr wrap="square" lIns="0" tIns="0" rIns="0" bIns="0" rtlCol="0" anchor="ctr"/>
          <a:lstStyle/>
          <a:p>
            <a:pPr algn="ctr">
              <a:lnSpc>
                <a:spcPct val="100000"/>
              </a:lnSpc>
            </a:pPr>
            <a:r>
              <a:rPr lang="en-US" sz="4741" b="1" dirty="0">
                <a:solidFill>
                  <a:srgbClr val="4C7E9A"/>
                </a:solidFill>
                <a:latin typeface="阿里妈妈数黑体" pitchFamily="34" charset="0"/>
                <a:ea typeface="阿里妈妈数黑体" pitchFamily="34" charset="-122"/>
                <a:cs typeface="阿里妈妈数黑体" pitchFamily="34" charset="-120"/>
              </a:rPr>
              <a:t>集体智慧的强大力量</a:t>
            </a:r>
            <a:endParaRPr lang="en-US" sz="1600" dirty="0"/>
          </a:p>
        </p:txBody>
      </p:sp>
      <p:sp>
        <p:nvSpPr>
          <p:cNvPr id="8" name="Shape 5"/>
          <p:cNvSpPr/>
          <p:nvPr/>
        </p:nvSpPr>
        <p:spPr>
          <a:xfrm>
            <a:off x="6923852" y="3744834"/>
            <a:ext cx="2408296" cy="0"/>
          </a:xfrm>
          <a:custGeom>
            <a:avLst/>
            <a:gdLst/>
            <a:ahLst/>
            <a:cxnLst/>
            <a:rect l="l" t="t" r="r" b="b"/>
            <a:pathLst>
              <a:path w="2408296" h="0">
                <a:moveTo>
                  <a:pt x="0" y="0"/>
                </a:moveTo>
                <a:lnTo>
                  <a:pt x="2408296" y="0"/>
                </a:lnTo>
                <a:lnTo>
                  <a:pt x="2408296" y="0"/>
                </a:lnTo>
                <a:lnTo>
                  <a:pt x="0" y="0"/>
                </a:lnTo>
                <a:lnTo>
                  <a:pt x="0" y="0"/>
                </a:lnTo>
                <a:close/>
              </a:path>
            </a:pathLst>
          </a:custGeom>
          <a:solidFill>
            <a:srgbClr val="4C7E9A"/>
          </a:solidFill>
          <a:ln/>
        </p:spPr>
      </p:sp>
      <p:sp>
        <p:nvSpPr>
          <p:cNvPr id="9" name="Text 6"/>
          <p:cNvSpPr/>
          <p:nvPr/>
        </p:nvSpPr>
        <p:spPr>
          <a:xfrm>
            <a:off x="5588000" y="4146217"/>
            <a:ext cx="5080000" cy="451556"/>
          </a:xfrm>
          <a:prstGeom prst="rect">
            <a:avLst/>
          </a:prstGeom>
          <a:noFill/>
          <a:ln/>
        </p:spPr>
        <p:txBody>
          <a:bodyPr wrap="square" lIns="0" tIns="0" rIns="0" bIns="0" rtlCol="0" anchor="ctr"/>
          <a:lstStyle/>
          <a:p>
            <a:pPr algn="ctr">
              <a:lnSpc>
                <a:spcPct val="100000"/>
              </a:lnSpc>
            </a:pPr>
            <a:r>
              <a:rPr lang="en-US" sz="2963" dirty="0">
                <a:solidFill>
                  <a:srgbClr val="7E9AA8"/>
                </a:solidFill>
                <a:latin typeface="MiSans" pitchFamily="34" charset="0"/>
                <a:ea typeface="MiSans" pitchFamily="34" charset="-122"/>
                <a:cs typeface="MiSans" pitchFamily="34" charset="-120"/>
              </a:rPr>
              <a:t>从理论到实践，掌握核心技术</a:t>
            </a:r>
            <a:endParaRPr lang="en-US" sz="1600" dirty="0"/>
          </a:p>
        </p:txBody>
      </p:sp>
      <p:sp>
        <p:nvSpPr>
          <p:cNvPr id="10" name="Shape 7"/>
          <p:cNvSpPr/>
          <p:nvPr/>
        </p:nvSpPr>
        <p:spPr>
          <a:xfrm>
            <a:off x="4214519" y="5199846"/>
            <a:ext cx="2408296" cy="2006914"/>
          </a:xfrm>
          <a:custGeom>
            <a:avLst/>
            <a:gdLst/>
            <a:ahLst/>
            <a:cxnLst/>
            <a:rect l="l" t="t" r="r" b="b"/>
            <a:pathLst>
              <a:path w="2408296" h="2006914">
                <a:moveTo>
                  <a:pt x="100346" y="0"/>
                </a:moveTo>
                <a:lnTo>
                  <a:pt x="2307951" y="0"/>
                </a:lnTo>
                <a:cubicBezTo>
                  <a:pt x="2363370" y="0"/>
                  <a:pt x="2408296" y="44926"/>
                  <a:pt x="2408296" y="100346"/>
                </a:cubicBezTo>
                <a:lnTo>
                  <a:pt x="2408296" y="1906568"/>
                </a:lnTo>
                <a:cubicBezTo>
                  <a:pt x="2408296" y="1961987"/>
                  <a:pt x="2363370" y="2006914"/>
                  <a:pt x="2307951" y="2006914"/>
                </a:cubicBezTo>
                <a:lnTo>
                  <a:pt x="100346" y="2006914"/>
                </a:lnTo>
                <a:cubicBezTo>
                  <a:pt x="44926" y="2006914"/>
                  <a:pt x="0" y="1961987"/>
                  <a:pt x="0" y="1906568"/>
                </a:cubicBezTo>
                <a:lnTo>
                  <a:pt x="0" y="100346"/>
                </a:lnTo>
                <a:cubicBezTo>
                  <a:pt x="0" y="44963"/>
                  <a:pt x="44963" y="0"/>
                  <a:pt x="100346" y="0"/>
                </a:cubicBezTo>
                <a:close/>
              </a:path>
            </a:pathLst>
          </a:custGeom>
          <a:solidFill>
            <a:srgbClr val="3A5E78">
              <a:alpha val="30196"/>
            </a:srgbClr>
          </a:solidFill>
          <a:ln/>
        </p:spPr>
      </p:sp>
      <p:sp>
        <p:nvSpPr>
          <p:cNvPr id="11" name="Shape 8"/>
          <p:cNvSpPr/>
          <p:nvPr/>
        </p:nvSpPr>
        <p:spPr>
          <a:xfrm>
            <a:off x="5192889" y="5500883"/>
            <a:ext cx="451556" cy="451556"/>
          </a:xfrm>
          <a:custGeom>
            <a:avLst/>
            <a:gdLst/>
            <a:ahLst/>
            <a:cxnLst/>
            <a:rect l="l" t="t" r="r" b="b"/>
            <a:pathLst>
              <a:path w="451556" h="451556">
                <a:moveTo>
                  <a:pt x="169333" y="56444"/>
                </a:moveTo>
                <a:cubicBezTo>
                  <a:pt x="169333" y="40834"/>
                  <a:pt x="181945" y="28222"/>
                  <a:pt x="197556" y="28222"/>
                </a:cubicBezTo>
                <a:lnTo>
                  <a:pt x="254000" y="28222"/>
                </a:lnTo>
                <a:cubicBezTo>
                  <a:pt x="269610" y="28222"/>
                  <a:pt x="282222" y="40834"/>
                  <a:pt x="282222" y="56444"/>
                </a:cubicBezTo>
                <a:lnTo>
                  <a:pt x="282222" y="112889"/>
                </a:lnTo>
                <a:cubicBezTo>
                  <a:pt x="282222" y="128499"/>
                  <a:pt x="269610" y="141111"/>
                  <a:pt x="254000" y="141111"/>
                </a:cubicBezTo>
                <a:lnTo>
                  <a:pt x="246944" y="141111"/>
                </a:lnTo>
                <a:lnTo>
                  <a:pt x="246944" y="197556"/>
                </a:lnTo>
                <a:lnTo>
                  <a:pt x="352778" y="197556"/>
                </a:lnTo>
                <a:cubicBezTo>
                  <a:pt x="387879" y="197556"/>
                  <a:pt x="416278" y="225954"/>
                  <a:pt x="416278" y="261056"/>
                </a:cubicBezTo>
                <a:lnTo>
                  <a:pt x="416278" y="310444"/>
                </a:lnTo>
                <a:lnTo>
                  <a:pt x="423333" y="310444"/>
                </a:lnTo>
                <a:cubicBezTo>
                  <a:pt x="438944" y="310444"/>
                  <a:pt x="451556" y="323056"/>
                  <a:pt x="451556" y="338667"/>
                </a:cubicBezTo>
                <a:lnTo>
                  <a:pt x="451556" y="395111"/>
                </a:lnTo>
                <a:cubicBezTo>
                  <a:pt x="451556" y="410722"/>
                  <a:pt x="438944" y="423333"/>
                  <a:pt x="423333" y="423333"/>
                </a:cubicBezTo>
                <a:lnTo>
                  <a:pt x="366889" y="423333"/>
                </a:lnTo>
                <a:cubicBezTo>
                  <a:pt x="351278" y="423333"/>
                  <a:pt x="338667" y="410722"/>
                  <a:pt x="338667" y="395111"/>
                </a:cubicBezTo>
                <a:lnTo>
                  <a:pt x="338667" y="338667"/>
                </a:lnTo>
                <a:cubicBezTo>
                  <a:pt x="338667" y="323056"/>
                  <a:pt x="351278" y="310444"/>
                  <a:pt x="366889" y="310444"/>
                </a:cubicBezTo>
                <a:lnTo>
                  <a:pt x="373944" y="310444"/>
                </a:lnTo>
                <a:lnTo>
                  <a:pt x="373944" y="261056"/>
                </a:lnTo>
                <a:cubicBezTo>
                  <a:pt x="373944" y="249326"/>
                  <a:pt x="364508" y="239889"/>
                  <a:pt x="352778" y="239889"/>
                </a:cubicBezTo>
                <a:lnTo>
                  <a:pt x="246944" y="239889"/>
                </a:lnTo>
                <a:lnTo>
                  <a:pt x="246944" y="310444"/>
                </a:lnTo>
                <a:lnTo>
                  <a:pt x="254000" y="310444"/>
                </a:lnTo>
                <a:cubicBezTo>
                  <a:pt x="269610" y="310444"/>
                  <a:pt x="282222" y="323056"/>
                  <a:pt x="282222" y="338667"/>
                </a:cubicBezTo>
                <a:lnTo>
                  <a:pt x="282222" y="395111"/>
                </a:lnTo>
                <a:cubicBezTo>
                  <a:pt x="282222" y="410722"/>
                  <a:pt x="269610" y="423333"/>
                  <a:pt x="254000" y="423333"/>
                </a:cubicBezTo>
                <a:lnTo>
                  <a:pt x="197556" y="423333"/>
                </a:lnTo>
                <a:cubicBezTo>
                  <a:pt x="181945" y="423333"/>
                  <a:pt x="169333" y="410722"/>
                  <a:pt x="169333" y="395111"/>
                </a:cubicBezTo>
                <a:lnTo>
                  <a:pt x="169333" y="338667"/>
                </a:lnTo>
                <a:cubicBezTo>
                  <a:pt x="169333" y="323056"/>
                  <a:pt x="181945" y="310444"/>
                  <a:pt x="197556" y="310444"/>
                </a:cubicBezTo>
                <a:lnTo>
                  <a:pt x="204611" y="310444"/>
                </a:lnTo>
                <a:lnTo>
                  <a:pt x="204611" y="239889"/>
                </a:lnTo>
                <a:lnTo>
                  <a:pt x="98778" y="239889"/>
                </a:lnTo>
                <a:cubicBezTo>
                  <a:pt x="87048" y="239889"/>
                  <a:pt x="77611" y="249326"/>
                  <a:pt x="77611" y="261056"/>
                </a:cubicBezTo>
                <a:lnTo>
                  <a:pt x="77611" y="310444"/>
                </a:lnTo>
                <a:lnTo>
                  <a:pt x="84667" y="310444"/>
                </a:lnTo>
                <a:cubicBezTo>
                  <a:pt x="100277" y="310444"/>
                  <a:pt x="112889" y="323056"/>
                  <a:pt x="112889" y="338667"/>
                </a:cubicBezTo>
                <a:lnTo>
                  <a:pt x="112889" y="395111"/>
                </a:lnTo>
                <a:cubicBezTo>
                  <a:pt x="112889" y="410722"/>
                  <a:pt x="100277" y="423333"/>
                  <a:pt x="84667" y="423333"/>
                </a:cubicBezTo>
                <a:lnTo>
                  <a:pt x="28222" y="423333"/>
                </a:lnTo>
                <a:cubicBezTo>
                  <a:pt x="12612" y="423333"/>
                  <a:pt x="0" y="410722"/>
                  <a:pt x="0" y="395111"/>
                </a:cubicBezTo>
                <a:lnTo>
                  <a:pt x="0" y="338667"/>
                </a:lnTo>
                <a:cubicBezTo>
                  <a:pt x="0" y="323056"/>
                  <a:pt x="12612" y="310444"/>
                  <a:pt x="28222" y="310444"/>
                </a:cubicBezTo>
                <a:lnTo>
                  <a:pt x="35278" y="310444"/>
                </a:lnTo>
                <a:lnTo>
                  <a:pt x="35278" y="261056"/>
                </a:lnTo>
                <a:cubicBezTo>
                  <a:pt x="35278" y="225954"/>
                  <a:pt x="63676" y="197556"/>
                  <a:pt x="98778" y="197556"/>
                </a:cubicBezTo>
                <a:lnTo>
                  <a:pt x="204611" y="197556"/>
                </a:lnTo>
                <a:lnTo>
                  <a:pt x="204611" y="141111"/>
                </a:lnTo>
                <a:lnTo>
                  <a:pt x="197556" y="141111"/>
                </a:lnTo>
                <a:cubicBezTo>
                  <a:pt x="181945" y="141111"/>
                  <a:pt x="169333" y="128499"/>
                  <a:pt x="169333" y="112889"/>
                </a:cubicBezTo>
                <a:lnTo>
                  <a:pt x="169333" y="56444"/>
                </a:lnTo>
                <a:close/>
              </a:path>
            </a:pathLst>
          </a:custGeom>
          <a:solidFill>
            <a:srgbClr val="4C7E9A"/>
          </a:solidFill>
          <a:ln/>
        </p:spPr>
      </p:sp>
      <p:sp>
        <p:nvSpPr>
          <p:cNvPr id="12" name="Text 9"/>
          <p:cNvSpPr/>
          <p:nvPr/>
        </p:nvSpPr>
        <p:spPr>
          <a:xfrm>
            <a:off x="4452840" y="6153130"/>
            <a:ext cx="1931654" cy="351210"/>
          </a:xfrm>
          <a:prstGeom prst="rect">
            <a:avLst/>
          </a:prstGeom>
          <a:noFill/>
          <a:ln/>
        </p:spPr>
        <p:txBody>
          <a:bodyPr wrap="square" lIns="0" tIns="0" rIns="0" bIns="0" rtlCol="0" anchor="ctr"/>
          <a:lstStyle/>
          <a:p>
            <a:pPr algn="ctr">
              <a:lnSpc>
                <a:spcPct val="120000"/>
              </a:lnSpc>
            </a:pPr>
            <a:r>
              <a:rPr lang="en-US" sz="1975" b="1" dirty="0">
                <a:solidFill>
                  <a:srgbClr val="D1D5DB"/>
                </a:solidFill>
                <a:latin typeface="MiSans" pitchFamily="34" charset="0"/>
                <a:ea typeface="MiSans" pitchFamily="34" charset="-122"/>
                <a:cs typeface="MiSans" pitchFamily="34" charset="-120"/>
              </a:rPr>
              <a:t>Bagging</a:t>
            </a:r>
            <a:endParaRPr lang="en-US" sz="1600" dirty="0"/>
          </a:p>
        </p:txBody>
      </p:sp>
      <p:sp>
        <p:nvSpPr>
          <p:cNvPr id="13" name="Text 10"/>
          <p:cNvSpPr/>
          <p:nvPr/>
        </p:nvSpPr>
        <p:spPr>
          <a:xfrm>
            <a:off x="4465383" y="6604686"/>
            <a:ext cx="1906568" cy="301037"/>
          </a:xfrm>
          <a:prstGeom prst="rect">
            <a:avLst/>
          </a:prstGeom>
          <a:noFill/>
          <a:ln/>
        </p:spPr>
        <p:txBody>
          <a:bodyPr wrap="square" lIns="0" tIns="0" rIns="0" bIns="0" rtlCol="0" anchor="ctr"/>
          <a:lstStyle/>
          <a:p>
            <a:pPr algn="ctr">
              <a:lnSpc>
                <a:spcPct val="130000"/>
              </a:lnSpc>
            </a:pPr>
            <a:r>
              <a:rPr lang="en-US" sz="1580" dirty="0">
                <a:solidFill>
                  <a:srgbClr val="7E9AA8"/>
                </a:solidFill>
                <a:latin typeface="MiSans" pitchFamily="34" charset="0"/>
                <a:ea typeface="MiSans" pitchFamily="34" charset="-122"/>
                <a:cs typeface="MiSans" pitchFamily="34" charset="-120"/>
              </a:rPr>
              <a:t>并行集成，降低方差</a:t>
            </a:r>
            <a:endParaRPr lang="en-US" sz="1600" dirty="0"/>
          </a:p>
        </p:txBody>
      </p:sp>
      <p:sp>
        <p:nvSpPr>
          <p:cNvPr id="14" name="Shape 11"/>
          <p:cNvSpPr/>
          <p:nvPr/>
        </p:nvSpPr>
        <p:spPr>
          <a:xfrm>
            <a:off x="6923852" y="5199846"/>
            <a:ext cx="2408296" cy="2006914"/>
          </a:xfrm>
          <a:custGeom>
            <a:avLst/>
            <a:gdLst/>
            <a:ahLst/>
            <a:cxnLst/>
            <a:rect l="l" t="t" r="r" b="b"/>
            <a:pathLst>
              <a:path w="2408296" h="2006914">
                <a:moveTo>
                  <a:pt x="100346" y="0"/>
                </a:moveTo>
                <a:lnTo>
                  <a:pt x="2307951" y="0"/>
                </a:lnTo>
                <a:cubicBezTo>
                  <a:pt x="2363370" y="0"/>
                  <a:pt x="2408296" y="44926"/>
                  <a:pt x="2408296" y="100346"/>
                </a:cubicBezTo>
                <a:lnTo>
                  <a:pt x="2408296" y="1906568"/>
                </a:lnTo>
                <a:cubicBezTo>
                  <a:pt x="2408296" y="1961987"/>
                  <a:pt x="2363370" y="2006914"/>
                  <a:pt x="2307951" y="2006914"/>
                </a:cubicBezTo>
                <a:lnTo>
                  <a:pt x="100346" y="2006914"/>
                </a:lnTo>
                <a:cubicBezTo>
                  <a:pt x="44926" y="2006914"/>
                  <a:pt x="0" y="1961987"/>
                  <a:pt x="0" y="1906568"/>
                </a:cubicBezTo>
                <a:lnTo>
                  <a:pt x="0" y="100346"/>
                </a:lnTo>
                <a:cubicBezTo>
                  <a:pt x="0" y="44963"/>
                  <a:pt x="44963" y="0"/>
                  <a:pt x="100346" y="0"/>
                </a:cubicBezTo>
                <a:close/>
              </a:path>
            </a:pathLst>
          </a:custGeom>
          <a:solidFill>
            <a:srgbClr val="3A5E78">
              <a:alpha val="30196"/>
            </a:srgbClr>
          </a:solidFill>
          <a:ln/>
        </p:spPr>
      </p:sp>
      <p:sp>
        <p:nvSpPr>
          <p:cNvPr id="15" name="Shape 12"/>
          <p:cNvSpPr/>
          <p:nvPr/>
        </p:nvSpPr>
        <p:spPr>
          <a:xfrm>
            <a:off x="7902222" y="5500883"/>
            <a:ext cx="451556" cy="451556"/>
          </a:xfrm>
          <a:custGeom>
            <a:avLst/>
            <a:gdLst/>
            <a:ahLst/>
            <a:cxnLst/>
            <a:rect l="l" t="t" r="r" b="b"/>
            <a:pathLst>
              <a:path w="451556" h="451556">
                <a:moveTo>
                  <a:pt x="56444" y="56444"/>
                </a:moveTo>
                <a:cubicBezTo>
                  <a:pt x="56444" y="40834"/>
                  <a:pt x="43833" y="28222"/>
                  <a:pt x="28222" y="28222"/>
                </a:cubicBezTo>
                <a:cubicBezTo>
                  <a:pt x="12612" y="28222"/>
                  <a:pt x="0" y="40834"/>
                  <a:pt x="0" y="56444"/>
                </a:cubicBezTo>
                <a:lnTo>
                  <a:pt x="0" y="352778"/>
                </a:lnTo>
                <a:cubicBezTo>
                  <a:pt x="0" y="391760"/>
                  <a:pt x="31574" y="423333"/>
                  <a:pt x="70556" y="423333"/>
                </a:cubicBezTo>
                <a:lnTo>
                  <a:pt x="423333" y="423333"/>
                </a:lnTo>
                <a:cubicBezTo>
                  <a:pt x="438944" y="423333"/>
                  <a:pt x="451556" y="410722"/>
                  <a:pt x="451556" y="395111"/>
                </a:cubicBezTo>
                <a:cubicBezTo>
                  <a:pt x="451556" y="379501"/>
                  <a:pt x="438944" y="366889"/>
                  <a:pt x="423333" y="366889"/>
                </a:cubicBezTo>
                <a:lnTo>
                  <a:pt x="70556" y="366889"/>
                </a:lnTo>
                <a:cubicBezTo>
                  <a:pt x="62794" y="366889"/>
                  <a:pt x="56444" y="360539"/>
                  <a:pt x="56444" y="352778"/>
                </a:cubicBezTo>
                <a:lnTo>
                  <a:pt x="56444" y="56444"/>
                </a:lnTo>
                <a:close/>
                <a:moveTo>
                  <a:pt x="415043" y="132821"/>
                </a:moveTo>
                <a:cubicBezTo>
                  <a:pt x="426067" y="121797"/>
                  <a:pt x="426067" y="103893"/>
                  <a:pt x="415043" y="92869"/>
                </a:cubicBezTo>
                <a:cubicBezTo>
                  <a:pt x="404019" y="81844"/>
                  <a:pt x="386115" y="81844"/>
                  <a:pt x="375091" y="92869"/>
                </a:cubicBezTo>
                <a:lnTo>
                  <a:pt x="282222" y="185826"/>
                </a:lnTo>
                <a:lnTo>
                  <a:pt x="231599" y="135290"/>
                </a:lnTo>
                <a:cubicBezTo>
                  <a:pt x="220574" y="124266"/>
                  <a:pt x="202671" y="124266"/>
                  <a:pt x="191647" y="135290"/>
                </a:cubicBezTo>
                <a:lnTo>
                  <a:pt x="106980" y="219957"/>
                </a:lnTo>
                <a:cubicBezTo>
                  <a:pt x="95956" y="230981"/>
                  <a:pt x="95956" y="248885"/>
                  <a:pt x="106980" y="259909"/>
                </a:cubicBezTo>
                <a:cubicBezTo>
                  <a:pt x="118004" y="270933"/>
                  <a:pt x="135908" y="270933"/>
                  <a:pt x="146932" y="259909"/>
                </a:cubicBezTo>
                <a:lnTo>
                  <a:pt x="211667" y="195174"/>
                </a:lnTo>
                <a:lnTo>
                  <a:pt x="262290" y="245798"/>
                </a:lnTo>
                <a:cubicBezTo>
                  <a:pt x="273315" y="256822"/>
                  <a:pt x="291218" y="256822"/>
                  <a:pt x="302242" y="245798"/>
                </a:cubicBezTo>
                <a:lnTo>
                  <a:pt x="415131" y="132909"/>
                </a:lnTo>
                <a:close/>
              </a:path>
            </a:pathLst>
          </a:custGeom>
          <a:solidFill>
            <a:srgbClr val="4C7E9A"/>
          </a:solidFill>
          <a:ln/>
        </p:spPr>
      </p:sp>
      <p:sp>
        <p:nvSpPr>
          <p:cNvPr id="16" name="Text 13"/>
          <p:cNvSpPr/>
          <p:nvPr/>
        </p:nvSpPr>
        <p:spPr>
          <a:xfrm>
            <a:off x="7162173" y="6153130"/>
            <a:ext cx="1931654" cy="351210"/>
          </a:xfrm>
          <a:prstGeom prst="rect">
            <a:avLst/>
          </a:prstGeom>
          <a:noFill/>
          <a:ln/>
        </p:spPr>
        <p:txBody>
          <a:bodyPr wrap="square" lIns="0" tIns="0" rIns="0" bIns="0" rtlCol="0" anchor="ctr"/>
          <a:lstStyle/>
          <a:p>
            <a:pPr algn="ctr">
              <a:lnSpc>
                <a:spcPct val="120000"/>
              </a:lnSpc>
            </a:pPr>
            <a:r>
              <a:rPr lang="en-US" sz="1975" b="1" dirty="0">
                <a:solidFill>
                  <a:srgbClr val="D1D5DB"/>
                </a:solidFill>
                <a:latin typeface="MiSans" pitchFamily="34" charset="0"/>
                <a:ea typeface="MiSans" pitchFamily="34" charset="-122"/>
                <a:cs typeface="MiSans" pitchFamily="34" charset="-120"/>
              </a:rPr>
              <a:t>Boosting</a:t>
            </a:r>
            <a:endParaRPr lang="en-US" sz="1600" dirty="0"/>
          </a:p>
        </p:txBody>
      </p:sp>
      <p:sp>
        <p:nvSpPr>
          <p:cNvPr id="17" name="Text 14"/>
          <p:cNvSpPr/>
          <p:nvPr/>
        </p:nvSpPr>
        <p:spPr>
          <a:xfrm>
            <a:off x="7174716" y="6604686"/>
            <a:ext cx="1906568" cy="301037"/>
          </a:xfrm>
          <a:prstGeom prst="rect">
            <a:avLst/>
          </a:prstGeom>
          <a:noFill/>
          <a:ln/>
        </p:spPr>
        <p:txBody>
          <a:bodyPr wrap="square" lIns="0" tIns="0" rIns="0" bIns="0" rtlCol="0" anchor="ctr"/>
          <a:lstStyle/>
          <a:p>
            <a:pPr algn="ctr">
              <a:lnSpc>
                <a:spcPct val="130000"/>
              </a:lnSpc>
            </a:pPr>
            <a:r>
              <a:rPr lang="en-US" sz="1580" dirty="0">
                <a:solidFill>
                  <a:srgbClr val="7E9AA8"/>
                </a:solidFill>
                <a:latin typeface="MiSans" pitchFamily="34" charset="0"/>
                <a:ea typeface="MiSans" pitchFamily="34" charset="-122"/>
                <a:cs typeface="MiSans" pitchFamily="34" charset="-120"/>
              </a:rPr>
              <a:t>串行优化，降低偏差</a:t>
            </a:r>
            <a:endParaRPr lang="en-US" sz="1600" dirty="0"/>
          </a:p>
        </p:txBody>
      </p:sp>
      <p:sp>
        <p:nvSpPr>
          <p:cNvPr id="18" name="Shape 15"/>
          <p:cNvSpPr/>
          <p:nvPr/>
        </p:nvSpPr>
        <p:spPr>
          <a:xfrm>
            <a:off x="9633185" y="5199846"/>
            <a:ext cx="2408296" cy="2006914"/>
          </a:xfrm>
          <a:custGeom>
            <a:avLst/>
            <a:gdLst/>
            <a:ahLst/>
            <a:cxnLst/>
            <a:rect l="l" t="t" r="r" b="b"/>
            <a:pathLst>
              <a:path w="2408296" h="2006914">
                <a:moveTo>
                  <a:pt x="100346" y="0"/>
                </a:moveTo>
                <a:lnTo>
                  <a:pt x="2307951" y="0"/>
                </a:lnTo>
                <a:cubicBezTo>
                  <a:pt x="2363370" y="0"/>
                  <a:pt x="2408296" y="44926"/>
                  <a:pt x="2408296" y="100346"/>
                </a:cubicBezTo>
                <a:lnTo>
                  <a:pt x="2408296" y="1906568"/>
                </a:lnTo>
                <a:cubicBezTo>
                  <a:pt x="2408296" y="1961987"/>
                  <a:pt x="2363370" y="2006914"/>
                  <a:pt x="2307951" y="2006914"/>
                </a:cubicBezTo>
                <a:lnTo>
                  <a:pt x="100346" y="2006914"/>
                </a:lnTo>
                <a:cubicBezTo>
                  <a:pt x="44926" y="2006914"/>
                  <a:pt x="0" y="1961987"/>
                  <a:pt x="0" y="1906568"/>
                </a:cubicBezTo>
                <a:lnTo>
                  <a:pt x="0" y="100346"/>
                </a:lnTo>
                <a:cubicBezTo>
                  <a:pt x="0" y="44963"/>
                  <a:pt x="44963" y="0"/>
                  <a:pt x="100346" y="0"/>
                </a:cubicBezTo>
                <a:close/>
              </a:path>
            </a:pathLst>
          </a:custGeom>
          <a:solidFill>
            <a:srgbClr val="3A5E78">
              <a:alpha val="30196"/>
            </a:srgbClr>
          </a:solidFill>
          <a:ln/>
        </p:spPr>
      </p:sp>
      <p:sp>
        <p:nvSpPr>
          <p:cNvPr id="19" name="Shape 16"/>
          <p:cNvSpPr/>
          <p:nvPr/>
        </p:nvSpPr>
        <p:spPr>
          <a:xfrm>
            <a:off x="10611556" y="5500883"/>
            <a:ext cx="451556" cy="451556"/>
          </a:xfrm>
          <a:custGeom>
            <a:avLst/>
            <a:gdLst/>
            <a:ahLst/>
            <a:cxnLst/>
            <a:rect l="l" t="t" r="r" b="b"/>
            <a:pathLst>
              <a:path w="451556" h="451556">
                <a:moveTo>
                  <a:pt x="205052" y="4586"/>
                </a:moveTo>
                <a:cubicBezTo>
                  <a:pt x="218193" y="-1499"/>
                  <a:pt x="233363" y="-1499"/>
                  <a:pt x="246503" y="4586"/>
                </a:cubicBezTo>
                <a:lnTo>
                  <a:pt x="439297" y="93663"/>
                </a:lnTo>
                <a:cubicBezTo>
                  <a:pt x="446793" y="97102"/>
                  <a:pt x="451556" y="104599"/>
                  <a:pt x="451556" y="112889"/>
                </a:cubicBezTo>
                <a:cubicBezTo>
                  <a:pt x="451556" y="121179"/>
                  <a:pt x="446793" y="128676"/>
                  <a:pt x="439297" y="132115"/>
                </a:cubicBezTo>
                <a:lnTo>
                  <a:pt x="246503" y="221192"/>
                </a:lnTo>
                <a:cubicBezTo>
                  <a:pt x="233363" y="227277"/>
                  <a:pt x="218193" y="227277"/>
                  <a:pt x="205052" y="221192"/>
                </a:cubicBezTo>
                <a:lnTo>
                  <a:pt x="12259" y="132115"/>
                </a:lnTo>
                <a:cubicBezTo>
                  <a:pt x="4763" y="128588"/>
                  <a:pt x="0" y="121091"/>
                  <a:pt x="0" y="112889"/>
                </a:cubicBezTo>
                <a:cubicBezTo>
                  <a:pt x="0" y="104687"/>
                  <a:pt x="4763" y="97102"/>
                  <a:pt x="12259" y="93663"/>
                </a:cubicBezTo>
                <a:lnTo>
                  <a:pt x="205052" y="4586"/>
                </a:lnTo>
                <a:close/>
                <a:moveTo>
                  <a:pt x="42422" y="192617"/>
                </a:moveTo>
                <a:lnTo>
                  <a:pt x="187325" y="259556"/>
                </a:lnTo>
                <a:cubicBezTo>
                  <a:pt x="211755" y="270845"/>
                  <a:pt x="239889" y="270845"/>
                  <a:pt x="264319" y="259556"/>
                </a:cubicBezTo>
                <a:lnTo>
                  <a:pt x="409222" y="192617"/>
                </a:lnTo>
                <a:lnTo>
                  <a:pt x="439297" y="206551"/>
                </a:lnTo>
                <a:cubicBezTo>
                  <a:pt x="446793" y="209991"/>
                  <a:pt x="451556" y="217488"/>
                  <a:pt x="451556" y="225778"/>
                </a:cubicBezTo>
                <a:cubicBezTo>
                  <a:pt x="451556" y="234068"/>
                  <a:pt x="446793" y="241565"/>
                  <a:pt x="439297" y="245004"/>
                </a:cubicBezTo>
                <a:lnTo>
                  <a:pt x="246503" y="334081"/>
                </a:lnTo>
                <a:cubicBezTo>
                  <a:pt x="233363" y="340166"/>
                  <a:pt x="218193" y="340166"/>
                  <a:pt x="205052" y="334081"/>
                </a:cubicBezTo>
                <a:lnTo>
                  <a:pt x="12259" y="245004"/>
                </a:lnTo>
                <a:cubicBezTo>
                  <a:pt x="4763" y="241476"/>
                  <a:pt x="0" y="233980"/>
                  <a:pt x="0" y="225778"/>
                </a:cubicBezTo>
                <a:cubicBezTo>
                  <a:pt x="0" y="217576"/>
                  <a:pt x="4763" y="209991"/>
                  <a:pt x="12259" y="206551"/>
                </a:cubicBezTo>
                <a:lnTo>
                  <a:pt x="42333" y="192617"/>
                </a:lnTo>
                <a:close/>
                <a:moveTo>
                  <a:pt x="12259" y="319440"/>
                </a:moveTo>
                <a:lnTo>
                  <a:pt x="42333" y="305506"/>
                </a:lnTo>
                <a:lnTo>
                  <a:pt x="187237" y="372445"/>
                </a:lnTo>
                <a:cubicBezTo>
                  <a:pt x="211667" y="383734"/>
                  <a:pt x="239801" y="383734"/>
                  <a:pt x="264231" y="372445"/>
                </a:cubicBezTo>
                <a:lnTo>
                  <a:pt x="409134" y="305506"/>
                </a:lnTo>
                <a:lnTo>
                  <a:pt x="439208" y="319440"/>
                </a:lnTo>
                <a:cubicBezTo>
                  <a:pt x="446705" y="322880"/>
                  <a:pt x="451467" y="330376"/>
                  <a:pt x="451467" y="338667"/>
                </a:cubicBezTo>
                <a:cubicBezTo>
                  <a:pt x="451467" y="346957"/>
                  <a:pt x="446705" y="354453"/>
                  <a:pt x="439208" y="357893"/>
                </a:cubicBezTo>
                <a:lnTo>
                  <a:pt x="246415" y="446969"/>
                </a:lnTo>
                <a:cubicBezTo>
                  <a:pt x="233274" y="453055"/>
                  <a:pt x="218105" y="453055"/>
                  <a:pt x="204964" y="446969"/>
                </a:cubicBezTo>
                <a:lnTo>
                  <a:pt x="12259" y="357893"/>
                </a:lnTo>
                <a:cubicBezTo>
                  <a:pt x="4763" y="354365"/>
                  <a:pt x="0" y="346869"/>
                  <a:pt x="0" y="338667"/>
                </a:cubicBezTo>
                <a:cubicBezTo>
                  <a:pt x="0" y="330465"/>
                  <a:pt x="4763" y="322880"/>
                  <a:pt x="12259" y="319440"/>
                </a:cubicBezTo>
                <a:close/>
              </a:path>
            </a:pathLst>
          </a:custGeom>
          <a:solidFill>
            <a:srgbClr val="4C7E9A"/>
          </a:solidFill>
          <a:ln/>
        </p:spPr>
      </p:sp>
      <p:sp>
        <p:nvSpPr>
          <p:cNvPr id="20" name="Text 17"/>
          <p:cNvSpPr/>
          <p:nvPr/>
        </p:nvSpPr>
        <p:spPr>
          <a:xfrm>
            <a:off x="9871506" y="6153130"/>
            <a:ext cx="1931654" cy="351210"/>
          </a:xfrm>
          <a:prstGeom prst="rect">
            <a:avLst/>
          </a:prstGeom>
          <a:noFill/>
          <a:ln/>
        </p:spPr>
        <p:txBody>
          <a:bodyPr wrap="square" lIns="0" tIns="0" rIns="0" bIns="0" rtlCol="0" anchor="ctr"/>
          <a:lstStyle/>
          <a:p>
            <a:pPr algn="ctr">
              <a:lnSpc>
                <a:spcPct val="120000"/>
              </a:lnSpc>
            </a:pPr>
            <a:r>
              <a:rPr lang="en-US" sz="1975" b="1" dirty="0">
                <a:solidFill>
                  <a:srgbClr val="D1D5DB"/>
                </a:solidFill>
                <a:latin typeface="MiSans" pitchFamily="34" charset="0"/>
                <a:ea typeface="MiSans" pitchFamily="34" charset="-122"/>
                <a:cs typeface="MiSans" pitchFamily="34" charset="-120"/>
              </a:rPr>
              <a:t>Stacking</a:t>
            </a:r>
            <a:endParaRPr lang="en-US" sz="1600" dirty="0"/>
          </a:p>
        </p:txBody>
      </p:sp>
      <p:sp>
        <p:nvSpPr>
          <p:cNvPr id="21" name="Text 18"/>
          <p:cNvSpPr/>
          <p:nvPr/>
        </p:nvSpPr>
        <p:spPr>
          <a:xfrm>
            <a:off x="9884049" y="6604686"/>
            <a:ext cx="1906568" cy="301037"/>
          </a:xfrm>
          <a:prstGeom prst="rect">
            <a:avLst/>
          </a:prstGeom>
          <a:noFill/>
          <a:ln/>
        </p:spPr>
        <p:txBody>
          <a:bodyPr wrap="square" lIns="0" tIns="0" rIns="0" bIns="0" rtlCol="0" anchor="ctr"/>
          <a:lstStyle/>
          <a:p>
            <a:pPr algn="ctr">
              <a:lnSpc>
                <a:spcPct val="130000"/>
              </a:lnSpc>
            </a:pPr>
            <a:r>
              <a:rPr lang="en-US" sz="1580" dirty="0">
                <a:solidFill>
                  <a:srgbClr val="7E9AA8"/>
                </a:solidFill>
                <a:latin typeface="MiSans" pitchFamily="34" charset="0"/>
                <a:ea typeface="MiSans" pitchFamily="34" charset="-122"/>
                <a:cs typeface="MiSans" pitchFamily="34" charset="-120"/>
              </a:rPr>
              <a:t>层级融合，元学习</a:t>
            </a:r>
            <a:endParaRPr lang="en-US" sz="1600" dirty="0"/>
          </a:p>
        </p:txBody>
      </p:sp>
      <p:sp>
        <p:nvSpPr>
          <p:cNvPr id="22" name="Shape 19"/>
          <p:cNvSpPr/>
          <p:nvPr/>
        </p:nvSpPr>
        <p:spPr>
          <a:xfrm>
            <a:off x="3317679" y="7815106"/>
            <a:ext cx="9620642" cy="1429926"/>
          </a:xfrm>
          <a:custGeom>
            <a:avLst/>
            <a:gdLst/>
            <a:ahLst/>
            <a:cxnLst/>
            <a:rect l="l" t="t" r="r" b="b"/>
            <a:pathLst>
              <a:path w="9620642" h="1429926">
                <a:moveTo>
                  <a:pt x="100352" y="0"/>
                </a:moveTo>
                <a:lnTo>
                  <a:pt x="9520290" y="0"/>
                </a:lnTo>
                <a:cubicBezTo>
                  <a:pt x="9575713" y="0"/>
                  <a:pt x="9620642" y="44929"/>
                  <a:pt x="9620642" y="100352"/>
                </a:cubicBezTo>
                <a:lnTo>
                  <a:pt x="9620642" y="1329574"/>
                </a:lnTo>
                <a:cubicBezTo>
                  <a:pt x="9620642" y="1384997"/>
                  <a:pt x="9575713" y="1429926"/>
                  <a:pt x="9520290" y="1429926"/>
                </a:cubicBezTo>
                <a:lnTo>
                  <a:pt x="100352" y="1429926"/>
                </a:lnTo>
                <a:cubicBezTo>
                  <a:pt x="44929" y="1429926"/>
                  <a:pt x="0" y="1384997"/>
                  <a:pt x="0" y="1329574"/>
                </a:cubicBezTo>
                <a:lnTo>
                  <a:pt x="0" y="100352"/>
                </a:lnTo>
                <a:cubicBezTo>
                  <a:pt x="0" y="44966"/>
                  <a:pt x="44966" y="0"/>
                  <a:pt x="100352" y="0"/>
                </a:cubicBezTo>
                <a:close/>
              </a:path>
            </a:pathLst>
          </a:custGeom>
          <a:solidFill>
            <a:srgbClr val="4C7E9A">
              <a:alpha val="10196"/>
            </a:srgbClr>
          </a:solidFill>
          <a:ln w="12700">
            <a:solidFill>
              <a:srgbClr val="4C7E9A">
                <a:alpha val="30196"/>
              </a:srgbClr>
            </a:solidFill>
            <a:prstDash val="solid"/>
          </a:ln>
        </p:spPr>
      </p:sp>
      <p:sp>
        <p:nvSpPr>
          <p:cNvPr id="23" name="Shape 20"/>
          <p:cNvSpPr/>
          <p:nvPr/>
        </p:nvSpPr>
        <p:spPr>
          <a:xfrm>
            <a:off x="3834400" y="8210217"/>
            <a:ext cx="219506" cy="250864"/>
          </a:xfrm>
          <a:custGeom>
            <a:avLst/>
            <a:gdLst/>
            <a:ahLst/>
            <a:cxnLst/>
            <a:rect l="l" t="t" r="r" b="b"/>
            <a:pathLst>
              <a:path w="219506" h="250864">
                <a:moveTo>
                  <a:pt x="0" y="105833"/>
                </a:moveTo>
                <a:cubicBezTo>
                  <a:pt x="0" y="73348"/>
                  <a:pt x="26311" y="47037"/>
                  <a:pt x="58796" y="47037"/>
                </a:cubicBezTo>
                <a:lnTo>
                  <a:pt x="62716" y="47037"/>
                </a:lnTo>
                <a:cubicBezTo>
                  <a:pt x="71389" y="47037"/>
                  <a:pt x="78395" y="54044"/>
                  <a:pt x="78395" y="62716"/>
                </a:cubicBezTo>
                <a:cubicBezTo>
                  <a:pt x="78395" y="71389"/>
                  <a:pt x="71389" y="78395"/>
                  <a:pt x="62716" y="78395"/>
                </a:cubicBezTo>
                <a:lnTo>
                  <a:pt x="58796" y="78395"/>
                </a:lnTo>
                <a:cubicBezTo>
                  <a:pt x="43656" y="78395"/>
                  <a:pt x="31358" y="90693"/>
                  <a:pt x="31358" y="105833"/>
                </a:cubicBezTo>
                <a:lnTo>
                  <a:pt x="31358" y="109753"/>
                </a:lnTo>
                <a:lnTo>
                  <a:pt x="62716" y="109753"/>
                </a:lnTo>
                <a:cubicBezTo>
                  <a:pt x="80012" y="109753"/>
                  <a:pt x="94074" y="123815"/>
                  <a:pt x="94074" y="141111"/>
                </a:cubicBezTo>
                <a:lnTo>
                  <a:pt x="94074" y="172469"/>
                </a:lnTo>
                <a:cubicBezTo>
                  <a:pt x="94074" y="189765"/>
                  <a:pt x="80012" y="203827"/>
                  <a:pt x="62716" y="203827"/>
                </a:cubicBezTo>
                <a:lnTo>
                  <a:pt x="31358" y="203827"/>
                </a:lnTo>
                <a:cubicBezTo>
                  <a:pt x="14062" y="203827"/>
                  <a:pt x="0" y="189765"/>
                  <a:pt x="0" y="172469"/>
                </a:cubicBezTo>
                <a:lnTo>
                  <a:pt x="0" y="105833"/>
                </a:lnTo>
                <a:close/>
                <a:moveTo>
                  <a:pt x="125432" y="105833"/>
                </a:moveTo>
                <a:cubicBezTo>
                  <a:pt x="125432" y="73348"/>
                  <a:pt x="151743" y="47037"/>
                  <a:pt x="184228" y="47037"/>
                </a:cubicBezTo>
                <a:lnTo>
                  <a:pt x="188148" y="47037"/>
                </a:lnTo>
                <a:cubicBezTo>
                  <a:pt x="196821" y="47037"/>
                  <a:pt x="203827" y="54044"/>
                  <a:pt x="203827" y="62716"/>
                </a:cubicBezTo>
                <a:cubicBezTo>
                  <a:pt x="203827" y="71389"/>
                  <a:pt x="196821" y="78395"/>
                  <a:pt x="188148" y="78395"/>
                </a:cubicBezTo>
                <a:lnTo>
                  <a:pt x="184228" y="78395"/>
                </a:lnTo>
                <a:cubicBezTo>
                  <a:pt x="169088" y="78395"/>
                  <a:pt x="156790" y="90693"/>
                  <a:pt x="156790" y="105833"/>
                </a:cubicBezTo>
                <a:lnTo>
                  <a:pt x="156790" y="109753"/>
                </a:lnTo>
                <a:lnTo>
                  <a:pt x="188148" y="109753"/>
                </a:lnTo>
                <a:cubicBezTo>
                  <a:pt x="205444" y="109753"/>
                  <a:pt x="219506" y="123815"/>
                  <a:pt x="219506" y="141111"/>
                </a:cubicBezTo>
                <a:lnTo>
                  <a:pt x="219506" y="172469"/>
                </a:lnTo>
                <a:cubicBezTo>
                  <a:pt x="219506" y="189765"/>
                  <a:pt x="205444" y="203827"/>
                  <a:pt x="188148" y="203827"/>
                </a:cubicBezTo>
                <a:lnTo>
                  <a:pt x="156790" y="203827"/>
                </a:lnTo>
                <a:cubicBezTo>
                  <a:pt x="139494" y="203827"/>
                  <a:pt x="125432" y="189765"/>
                  <a:pt x="125432" y="172469"/>
                </a:cubicBezTo>
                <a:lnTo>
                  <a:pt x="125432" y="105833"/>
                </a:lnTo>
                <a:close/>
              </a:path>
            </a:pathLst>
          </a:custGeom>
          <a:solidFill>
            <a:srgbClr val="4C7E9A"/>
          </a:solidFill>
          <a:ln/>
        </p:spPr>
      </p:sp>
      <p:sp>
        <p:nvSpPr>
          <p:cNvPr id="24" name="Text 21"/>
          <p:cNvSpPr/>
          <p:nvPr/>
        </p:nvSpPr>
        <p:spPr>
          <a:xfrm>
            <a:off x="4075304" y="8122414"/>
            <a:ext cx="8518078" cy="815309"/>
          </a:xfrm>
          <a:prstGeom prst="rect">
            <a:avLst/>
          </a:prstGeom>
          <a:noFill/>
          <a:ln/>
        </p:spPr>
        <p:txBody>
          <a:bodyPr wrap="square" lIns="0" tIns="0" rIns="0" bIns="0" rtlCol="0" anchor="ctr"/>
          <a:lstStyle/>
          <a:p>
            <a:pPr algn="ctr">
              <a:lnSpc>
                <a:spcPct val="140000"/>
              </a:lnSpc>
            </a:pPr>
            <a:r>
              <a:rPr lang="en-US" sz="1975" dirty="0">
                <a:solidFill>
                  <a:srgbClr val="D1D5DB"/>
                </a:solidFill>
                <a:latin typeface="MiSans" pitchFamily="34" charset="0"/>
                <a:ea typeface="MiSans" pitchFamily="34" charset="-122"/>
                <a:cs typeface="MiSans" pitchFamily="34" charset="-120"/>
              </a:rPr>
              <a:t>集成学习通过组合多个基学习器，实现了"集体智慧优于个体决策"的核心理念。掌握这些技术，将帮助你在机器学习领域走得更远。</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集成学习：从理论到实践</dc:title>
  <dc:subject>集成学习：从理论到实践</dc:subject>
  <dc:creator>Kimi</dc:creator>
  <cp:lastModifiedBy>Kimi</cp:lastModifiedBy>
  <cp:revision>1</cp:revision>
  <dcterms:created xsi:type="dcterms:W3CDTF">2026-01-07T03:57:51Z</dcterms:created>
  <dcterms:modified xsi:type="dcterms:W3CDTF">2026-01-07T03:57:51Z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集成学习：从理论到实践","ContentProducer":"001191110108MACG2KBH8F10000","ProduceID":"19b96819-3012-8ca3-8000-0000877d99f9","ReservedCode1":"","ContentPropagator":"001191110108MACG2KBH8F20000","PropagateID":"19b96819-3012-8ca3-8000-0000877d99f9","ReservedCode2":""}</vt:lpwstr>
  </property>
</Properties>
</file>